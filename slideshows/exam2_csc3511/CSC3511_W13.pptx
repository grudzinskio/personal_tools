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505" r:id="rId2"/>
    <p:sldId id="1448" r:id="rId3"/>
    <p:sldId id="257" r:id="rId4"/>
    <p:sldId id="1449" r:id="rId5"/>
    <p:sldId id="259" r:id="rId6"/>
    <p:sldId id="260" r:id="rId7"/>
    <p:sldId id="261" r:id="rId8"/>
    <p:sldId id="1450" r:id="rId9"/>
    <p:sldId id="1453" r:id="rId10"/>
    <p:sldId id="262" r:id="rId11"/>
    <p:sldId id="263" r:id="rId12"/>
    <p:sldId id="264" r:id="rId13"/>
    <p:sldId id="266" r:id="rId14"/>
    <p:sldId id="267" r:id="rId15"/>
    <p:sldId id="268" r:id="rId16"/>
    <p:sldId id="1452" r:id="rId17"/>
    <p:sldId id="269" r:id="rId18"/>
    <p:sldId id="1454" r:id="rId19"/>
    <p:sldId id="1459" r:id="rId20"/>
    <p:sldId id="1455" r:id="rId21"/>
    <p:sldId id="1460" r:id="rId22"/>
    <p:sldId id="1456" r:id="rId23"/>
    <p:sldId id="1461" r:id="rId24"/>
    <p:sldId id="1457" r:id="rId25"/>
    <p:sldId id="1458" r:id="rId26"/>
    <p:sldId id="275" r:id="rId27"/>
    <p:sldId id="293" r:id="rId28"/>
    <p:sldId id="294" r:id="rId29"/>
    <p:sldId id="276" r:id="rId30"/>
    <p:sldId id="292" r:id="rId31"/>
    <p:sldId id="1451" r:id="rId32"/>
    <p:sldId id="280" r:id="rId33"/>
    <p:sldId id="277" r:id="rId34"/>
    <p:sldId id="295" r:id="rId35"/>
    <p:sldId id="281" r:id="rId36"/>
    <p:sldId id="282" r:id="rId37"/>
    <p:sldId id="283" r:id="rId38"/>
    <p:sldId id="1463" r:id="rId39"/>
    <p:sldId id="1462" r:id="rId40"/>
    <p:sldId id="1464" r:id="rId41"/>
    <p:sldId id="287" r:id="rId42"/>
    <p:sldId id="288" r:id="rId43"/>
    <p:sldId id="1465" r:id="rId44"/>
    <p:sldId id="1466" r:id="rId45"/>
    <p:sldId id="1467" r:id="rId46"/>
    <p:sldId id="296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A9FB"/>
    <a:srgbClr val="D9EAD3"/>
    <a:srgbClr val="FCE5CD"/>
    <a:srgbClr val="F4CCCC"/>
    <a:srgbClr val="FFAB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55" autoAdjust="0"/>
    <p:restoredTop sz="78150" autoAdjust="0"/>
  </p:normalViewPr>
  <p:slideViewPr>
    <p:cSldViewPr snapToGrid="0">
      <p:cViewPr varScale="1">
        <p:scale>
          <a:sx n="95" d="100"/>
          <a:sy n="95" d="100"/>
        </p:scale>
        <p:origin x="1142" y="77"/>
      </p:cViewPr>
      <p:guideLst/>
    </p:cSldViewPr>
  </p:slideViewPr>
  <p:notesTextViewPr>
    <p:cViewPr>
      <p:scale>
        <a:sx n="150" d="100"/>
        <a:sy n="150" d="100"/>
      </p:scale>
      <p:origin x="0" y="-158"/>
    </p:cViewPr>
  </p:notesTextViewPr>
  <p:sorterViewPr>
    <p:cViewPr>
      <p:scale>
        <a:sx n="60" d="100"/>
        <a:sy n="6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9EA63-885E-4EB8-879A-527FAB291539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35AAC-7370-4508-BC8A-A8FB0FFDB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27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The identity of the source and/or destination are concealed (if encryption is enabled)</a:t>
            </a:r>
          </a:p>
          <a:p>
            <a:endParaRPr lang="en-US" dirty="0"/>
          </a:p>
          <a:p>
            <a:r>
              <a:rPr lang="en-US" dirty="0"/>
              <a:t>Proxy example scenarios: Configuring Chrome to use a proxy to access region-restricted content on one website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76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proxy = just the protocol going through the proxy (http/https or </a:t>
            </a:r>
            <a:r>
              <a:rPr lang="en-US" dirty="0" err="1"/>
              <a:t>dns</a:t>
            </a:r>
            <a:r>
              <a:rPr lang="en-US" dirty="0"/>
              <a:t> or smtp or …) 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VPN = all traffic ….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570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Before circuit creation, Alice already knows the public keys of all relays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These are distributed through Tor directory services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This prevents MITM attacks by relays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real process: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First, Alice establishes TLS with Relay 1 (entry node) - this is normal TLS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To extend to Relay 2: 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Alice creates a symmetric key K2 for use with Relay 2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Encrypts K2 with Relay 2's public key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Sends this through the TLS connection with Relay 1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For Relay 3, repeats with K3</a:t>
            </a:r>
          </a:p>
          <a:p>
            <a:endParaRPr lang="en-US" dirty="0"/>
          </a:p>
          <a:p>
            <a:r>
              <a:rPr lang="en-US" dirty="0"/>
              <a:t>So, the actual structure is: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Layer 3 (outer): TLS between Alice-Relay1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Layer 2: Symmetric encryption with K2 for Alice-Relay2 traffic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Layer 1 (inner): Symmetric encryption with K3 for Alice-Relay3 traffic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775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03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German law enforcement has been identified as having a capability to deanonymize Tor users through methods like a timing attack, which involves secretly recording traffic entering and leaving Tor nodes in Germany to correlate user activity.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383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server needs to publish how to contact the server: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The server chooses a set of nodes to be introduction points and forms a Tor circuit to each of them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For example: The server forms a full Tor circuit relay with I1 and I2, which are its introduction points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The server publishes its public key and its introduction points to a </a:t>
            </a:r>
            <a:r>
              <a:rPr lang="en-US" b="1" dirty="0"/>
              <a:t>publicly available directory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In the distributed hash table, there’s information regarding the server’s public key and its set of introduction points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566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/>
              <a:t>The server connects to the </a:t>
            </a:r>
            <a:r>
              <a:rPr lang="en-US" sz="1200" b="0" i="0" dirty="0">
                <a:solidFill>
                  <a:srgbClr val="C00000"/>
                </a:solidFill>
              </a:rPr>
              <a:t>rendezvous point through the introduction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724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C89AA-7597-27E6-4B3B-165FD3811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A250F-C38B-8C9E-643A-C388525BB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440C6-A366-34E5-0395-C5FC04FAA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F092B-0D35-CF9C-BFD1-3C0A42427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54963-FAD9-7042-D3F6-1D4BFA6DD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8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F38FB-4672-84D6-9ECF-2582DAE6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6A606-632B-0D99-676A-75C746528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1C205-B633-6210-6B52-CF27907E7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5BA43-1D84-ECFF-F89C-11FF7AFF6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C79E1-62C4-76DF-524D-8AFF3321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2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A5D0-102E-A4AB-E12C-D0EF80064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1E2F9-7F11-DA53-9500-714C9CD5C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1758D-FDCC-1CBC-A227-8C629BDD7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B4290-B339-3A27-B1A2-360BA5435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E67AE-D729-DFD1-9FCC-D33799697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89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01D9D-86AA-1DA0-6F52-CE87D96BE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10483-B2C1-19A3-C03D-41171D726A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B85F0-0D4F-659B-B6E8-07E9ED34A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6A22F-64C6-7444-0C21-99A54DB9E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4B0F6-B65C-5EF3-2CE5-CF72001DF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24BF5-7203-64E6-7BB9-0B183F33E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53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F6B1-44FB-BE0C-62B6-DF2C89F1C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74C3B-3EAC-2D57-6B7D-C428083FE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ED756-5EC1-9E6E-2BC5-3BD2EF615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6FB6D-80D4-9AFB-52E5-49F352291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8248CB-1C8C-92EB-376F-3A8B02393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5DB157-3765-A591-B7E4-81438D2B3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63FA94-EC48-6267-BCB9-CE7CCD348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E7736C-66C9-366B-DBBA-FED46BA3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93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4F6F1-C4B2-D0B2-7AFB-9F4D5554F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785612-43F3-6319-EA18-DBF8D841F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904F2A-69D3-2069-9FD6-109D75C7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843D0-3C88-8FF5-00FC-63CCF3E59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808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CD0ED8-2BC1-E058-3233-2CB55A610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0DD15B-52EA-8639-D650-17638EDA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C276E-2FF3-F7DF-E56A-D8557FF85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85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F77B-DF7F-1039-2FDE-3CAA47CFC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EC513-2670-001B-1398-A757B74AD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87C18-8AFD-76F8-5A13-D63EF126C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F9F44-C0C9-762C-D3B7-8E9A4E675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93F5E-A0F4-990A-3099-D31971ED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DAA0A-0BFF-05A3-C830-DE2AA6976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92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6785E-4CD0-1356-B10D-89EB55A9B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77B4AD-E4CD-FB43-7A4B-5DAD73EB1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929ED-DDDC-9046-162C-D396D5127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C0AC9-AF9C-496B-BFCB-2E47C55E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6D13E-3922-C306-EBBA-33294AEAF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149A6-CDA4-763B-5509-DA48E0C17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9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BC605-88D4-0F9C-4F60-310EE2E37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DE074-2B08-5145-AF9B-B16BFC605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BF8A8-94C3-7EA4-D45D-28A79090D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1A773-C714-281A-5613-9B053EDD7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27342-3B72-1BDA-2FAE-1B9F8EE35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78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B36272-B555-A18A-4E91-55A0DA4CE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FAACA-DE2A-45E4-D950-C827C61CE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C5816-E40E-64C9-39E4-531EA142D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02264-0757-4D19-477B-631B634BA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4A300-0194-C143-7967-600097FE7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75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A8022-576D-E637-28F0-3184AB871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BE467-9BFE-6AAE-001A-754EE5BD4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78178-8C14-256C-5E72-2D76BBCB6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CACD41-E2C3-4974-BF21-7012DD283AB9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2F6E3-A01E-6FEB-F4E0-DC31DE4F98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900C8-10FC-D739-7E8D-A2939CC9D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9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Anonymity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.torproject.org/relay/governance/policies-and-proposals/directory-authority/" TargetMode="External"/><Relationship Id="rId2" Type="http://schemas.openxmlformats.org/officeDocument/2006/relationships/hyperlink" Target="https://www.torproject.org/download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pec.torproject.org/tor-spec/create-created-cells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ustice.gov/usao-ma/pr/harvard-student-charged-making-hoax-bomb-threat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cketlabs.net/posts/german-authorities-claim-to-de-anonymize-tor-users-via-timing-analysi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://pwoah7foa6au2pul.onion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A64E1-5610-7CF5-A8AC-8AACF97CA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448" y="1122363"/>
            <a:ext cx="11119104" cy="2133599"/>
          </a:xfrm>
        </p:spPr>
        <p:txBody>
          <a:bodyPr/>
          <a:lstStyle/>
          <a:p>
            <a:r>
              <a:rPr lang="en-US" dirty="0"/>
              <a:t>CSC 3511 Security and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E7C23-6E8B-EC33-B311-21148E5DB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0325" y="3602039"/>
            <a:ext cx="9711350" cy="165576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Week 13, Lecture 1: Anonymity and Tor</a:t>
            </a:r>
          </a:p>
        </p:txBody>
      </p:sp>
    </p:spTree>
    <p:extLst>
      <p:ext uri="{BB962C8B-B14F-4D97-AF65-F5344CB8AC3E}">
        <p14:creationId xmlns:p14="http://schemas.microsoft.com/office/powerpoint/2010/main" val="129138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F5334-4EE9-0533-E65D-8230C01F6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44D22-1CA5-81CD-B3FC-95F84409D583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F021A76-9B75-7EC4-8E47-7A3D5AE5660F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Anonymity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Proxies and VPNs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zh-CN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Tor 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zh-CN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Tor Onion Services</a:t>
            </a: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475" indent="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  <a:buNone/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591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3F862A7-BF6A-CCDA-AA13-99B7BD3AF8E1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15825"/>
            <a:ext cx="10515600" cy="801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dirty="0"/>
              <a:t>Anonymity</a:t>
            </a:r>
            <a:endParaRPr lang="en-US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3921AE-DF00-4BD2-73E1-1DDC5863AF91}"/>
              </a:ext>
            </a:extLst>
          </p:cNvPr>
          <p:cNvSpPr txBox="1"/>
          <p:nvPr/>
        </p:nvSpPr>
        <p:spPr>
          <a:xfrm>
            <a:off x="780344" y="1329367"/>
            <a:ext cx="1063131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600" b="1" i="1" dirty="0">
                <a:solidFill>
                  <a:srgbClr val="C00000"/>
                </a:solidFill>
              </a:rPr>
              <a:t>Anonymity: Concealing your identity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1" dirty="0">
                <a:hlinkClick r:id="rId2"/>
              </a:rPr>
              <a:t>Wikipedia</a:t>
            </a:r>
            <a:r>
              <a:rPr lang="en-US" sz="2400" i="1" dirty="0"/>
              <a:t>: “Anonymity describes situations in which the acting person's identity is unknown”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Anonymous communication on the Internet: The identity of the source and/or destination are concealed</a:t>
            </a:r>
          </a:p>
          <a:p>
            <a:pPr>
              <a:spcAft>
                <a:spcPts val="600"/>
              </a:spcAft>
            </a:pPr>
            <a:endParaRPr lang="en-US" sz="500" dirty="0"/>
          </a:p>
          <a:p>
            <a:pPr>
              <a:spcAft>
                <a:spcPts val="600"/>
              </a:spcAft>
            </a:pPr>
            <a:r>
              <a:rPr lang="en-US" sz="2400" dirty="0"/>
              <a:t>Anonymity is not confidentiality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Confidentiality hides the </a:t>
            </a:r>
            <a:r>
              <a:rPr lang="en-US" sz="2400" dirty="0">
                <a:solidFill>
                  <a:srgbClr val="C00000"/>
                </a:solidFill>
              </a:rPr>
              <a:t>contents</a:t>
            </a:r>
            <a:r>
              <a:rPr lang="en-US" sz="2400" dirty="0"/>
              <a:t> of the communication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Anonymity hides the </a:t>
            </a:r>
            <a:r>
              <a:rPr lang="en-US" sz="2400" b="1" i="1" dirty="0">
                <a:solidFill>
                  <a:srgbClr val="C00000"/>
                </a:solidFill>
              </a:rPr>
              <a:t>identities</a:t>
            </a:r>
            <a:r>
              <a:rPr lang="en-US" sz="2400" dirty="0"/>
              <a:t> of who is communicating with whom</a:t>
            </a:r>
          </a:p>
          <a:p>
            <a:pPr>
              <a:spcAft>
                <a:spcPts val="600"/>
              </a:spcAft>
            </a:pPr>
            <a:endParaRPr lang="en-US" sz="500" dirty="0"/>
          </a:p>
          <a:p>
            <a:pPr>
              <a:spcAft>
                <a:spcPts val="600"/>
              </a:spcAft>
            </a:pPr>
            <a:r>
              <a:rPr lang="en-US" sz="2400" dirty="0"/>
              <a:t>Anonymity on the Internet is hard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Packets contain the source IP address and destination IP address</a:t>
            </a:r>
          </a:p>
          <a:p>
            <a:pPr>
              <a:spcAft>
                <a:spcPts val="600"/>
              </a:spcAft>
            </a:pPr>
            <a:endParaRPr lang="en-US" sz="500" dirty="0"/>
          </a:p>
          <a:p>
            <a:pPr>
              <a:spcAft>
                <a:spcPts val="600"/>
              </a:spcAft>
            </a:pPr>
            <a:r>
              <a:rPr lang="en-US" sz="2400" dirty="0"/>
              <a:t>Main strategy for anonymity: </a:t>
            </a:r>
            <a:r>
              <a:rPr lang="en-US" sz="2400" b="1" dirty="0">
                <a:solidFill>
                  <a:srgbClr val="C00000"/>
                </a:solidFill>
              </a:rPr>
              <a:t>Ask someone else to send messages for you</a:t>
            </a:r>
          </a:p>
        </p:txBody>
      </p:sp>
    </p:spTree>
    <p:extLst>
      <p:ext uri="{BB962C8B-B14F-4D97-AF65-F5344CB8AC3E}">
        <p14:creationId xmlns:p14="http://schemas.microsoft.com/office/powerpoint/2010/main" val="250660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41AAA-026E-05CA-033B-48B8AC255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9A23A-EF96-C713-4D1F-712CB0EE7CEC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84D1694-6E83-8BC7-7798-C77A39120E38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Anonymity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Proxies and VPNs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zh-CN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Tor 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zh-CN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Tor Onion Services</a:t>
            </a: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475" indent="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  <a:buNone/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51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CD44F-D20F-30CB-53C8-6633B3307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123"/>
            <a:ext cx="10515600" cy="786667"/>
          </a:xfrm>
        </p:spPr>
        <p:txBody>
          <a:bodyPr/>
          <a:lstStyle/>
          <a:p>
            <a:r>
              <a:rPr lang="en" dirty="0"/>
              <a:t>Proxies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2A9C36A-CD08-CCDF-8E19-191456CD1153}"/>
              </a:ext>
            </a:extLst>
          </p:cNvPr>
          <p:cNvGrpSpPr/>
          <p:nvPr/>
        </p:nvGrpSpPr>
        <p:grpSpPr>
          <a:xfrm>
            <a:off x="1066567" y="4926992"/>
            <a:ext cx="10058866" cy="1742885"/>
            <a:chOff x="2247223" y="5018400"/>
            <a:chExt cx="7715650" cy="1189800"/>
          </a:xfrm>
        </p:grpSpPr>
        <p:sp>
          <p:nvSpPr>
            <p:cNvPr id="5" name="Google Shape;114;p22">
              <a:extLst>
                <a:ext uri="{FF2B5EF4-FFF2-40B4-BE49-F238E27FC236}">
                  <a16:creationId xmlns:a16="http://schemas.microsoft.com/office/drawing/2014/main" id="{173CDE82-4F33-EB49-9595-69E8FE5446D6}"/>
                </a:ext>
              </a:extLst>
            </p:cNvPr>
            <p:cNvSpPr/>
            <p:nvPr/>
          </p:nvSpPr>
          <p:spPr>
            <a:xfrm>
              <a:off x="2247223" y="5018400"/>
              <a:ext cx="965100" cy="1189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/>
                <a:t>Alice</a:t>
              </a:r>
              <a:endParaRPr sz="2400" b="1" dirty="0"/>
            </a:p>
          </p:txBody>
        </p:sp>
        <p:sp>
          <p:nvSpPr>
            <p:cNvPr id="6" name="Google Shape;115;p22">
              <a:extLst>
                <a:ext uri="{FF2B5EF4-FFF2-40B4-BE49-F238E27FC236}">
                  <a16:creationId xmlns:a16="http://schemas.microsoft.com/office/drawing/2014/main" id="{08BCF805-F279-5A71-7001-70D7D6578E86}"/>
                </a:ext>
              </a:extLst>
            </p:cNvPr>
            <p:cNvSpPr/>
            <p:nvPr/>
          </p:nvSpPr>
          <p:spPr>
            <a:xfrm>
              <a:off x="5622498" y="5018400"/>
              <a:ext cx="965100" cy="1189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/>
                <a:t>Proxy</a:t>
              </a:r>
              <a:endParaRPr sz="2400" b="1" dirty="0"/>
            </a:p>
          </p:txBody>
        </p:sp>
        <p:sp>
          <p:nvSpPr>
            <p:cNvPr id="7" name="Google Shape;116;p22">
              <a:extLst>
                <a:ext uri="{FF2B5EF4-FFF2-40B4-BE49-F238E27FC236}">
                  <a16:creationId xmlns:a16="http://schemas.microsoft.com/office/drawing/2014/main" id="{802EB0BC-B8E7-F619-69CA-CB6A667694DB}"/>
                </a:ext>
              </a:extLst>
            </p:cNvPr>
            <p:cNvSpPr/>
            <p:nvPr/>
          </p:nvSpPr>
          <p:spPr>
            <a:xfrm>
              <a:off x="8997773" y="5018400"/>
              <a:ext cx="965100" cy="1189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/>
                <a:t>Bob</a:t>
              </a:r>
              <a:endParaRPr sz="2400" b="1" dirty="0"/>
            </a:p>
          </p:txBody>
        </p:sp>
        <p:cxnSp>
          <p:nvCxnSpPr>
            <p:cNvPr id="8" name="Google Shape;117;p22">
              <a:extLst>
                <a:ext uri="{FF2B5EF4-FFF2-40B4-BE49-F238E27FC236}">
                  <a16:creationId xmlns:a16="http://schemas.microsoft.com/office/drawing/2014/main" id="{6DAF12FC-19AC-A2DD-6FA2-0B7DFC2EE157}"/>
                </a:ext>
              </a:extLst>
            </p:cNvPr>
            <p:cNvCxnSpPr/>
            <p:nvPr/>
          </p:nvCxnSpPr>
          <p:spPr>
            <a:xfrm>
              <a:off x="3212323" y="6036200"/>
              <a:ext cx="24102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" name="Google Shape;118;p22">
              <a:extLst>
                <a:ext uri="{FF2B5EF4-FFF2-40B4-BE49-F238E27FC236}">
                  <a16:creationId xmlns:a16="http://schemas.microsoft.com/office/drawing/2014/main" id="{5E04FD27-1C33-730E-2956-DF9A8B1D7956}"/>
                </a:ext>
              </a:extLst>
            </p:cNvPr>
            <p:cNvCxnSpPr/>
            <p:nvPr/>
          </p:nvCxnSpPr>
          <p:spPr>
            <a:xfrm>
              <a:off x="6587598" y="6036200"/>
              <a:ext cx="24102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aphicFrame>
          <p:nvGraphicFramePr>
            <p:cNvPr id="10" name="Google Shape;119;p22">
              <a:extLst>
                <a:ext uri="{FF2B5EF4-FFF2-40B4-BE49-F238E27FC236}">
                  <a16:creationId xmlns:a16="http://schemas.microsoft.com/office/drawing/2014/main" id="{3CD0E244-61D1-C5F0-8B7F-5EC260DB647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228812049"/>
                </p:ext>
              </p:extLst>
            </p:nvPr>
          </p:nvGraphicFramePr>
          <p:xfrm>
            <a:off x="3367031" y="5143679"/>
            <a:ext cx="1960100" cy="810364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1295477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259898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593533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600" dirty="0"/>
                          <a:t>From: Alice</a:t>
                        </a:r>
                        <a:endParaRPr sz="1600" dirty="0"/>
                      </a:p>
                    </a:txBody>
                    <a:tcPr marL="91425" marR="91425" marT="91425" marB="91425"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600" dirty="0"/>
                          <a:t>To: Proxy</a:t>
                        </a:r>
                        <a:endParaRPr sz="1600" dirty="0"/>
                      </a:p>
                    </a:txBody>
                    <a:tcPr marL="91425" marR="91425" marT="91425" marB="91425"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93533">
                  <a:tc gridSpan="2"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600" b="1" kern="1200" dirty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rPr>
                          <a:t>{</a:t>
                        </a:r>
                        <a:r>
                          <a:rPr lang="en" sz="16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Message, Bob</a:t>
                        </a:r>
                        <a:r>
                          <a:rPr lang="en" sz="1600" b="1" kern="1200" dirty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rPr>
                          <a:t>}Kproxy</a:t>
                        </a:r>
                        <a:endParaRPr sz="1600" b="1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 marL="91425" marR="91425" marT="91425" marB="91425">
                      <a:solidFill>
                        <a:schemeClr val="l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graphicFrame>
          <p:nvGraphicFramePr>
            <p:cNvPr id="11" name="Google Shape;120;p22">
              <a:extLst>
                <a:ext uri="{FF2B5EF4-FFF2-40B4-BE49-F238E27FC236}">
                  <a16:creationId xmlns:a16="http://schemas.microsoft.com/office/drawing/2014/main" id="{1A358070-1271-6792-303F-7801F825D56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929759515"/>
                </p:ext>
              </p:extLst>
            </p:nvPr>
          </p:nvGraphicFramePr>
          <p:xfrm>
            <a:off x="6724079" y="5143680"/>
            <a:ext cx="1994089" cy="810363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1317941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28174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593532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600" dirty="0"/>
                          <a:t>From: Proxy</a:t>
                        </a:r>
                        <a:endParaRPr sz="1600" dirty="0"/>
                      </a:p>
                    </a:txBody>
                    <a:tcPr marL="91425" marR="91425" marT="91425" marB="91425"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600"/>
                          <a:t>To: Bob</a:t>
                        </a:r>
                        <a:endParaRPr sz="1600"/>
                      </a:p>
                    </a:txBody>
                    <a:tcPr marL="91425" marR="91425" marT="91425" marB="91425"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93532">
                  <a:tc gridSpan="2"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600" dirty="0"/>
                          <a:t>Message</a:t>
                        </a:r>
                        <a:endParaRPr sz="1600" dirty="0"/>
                      </a:p>
                    </a:txBody>
                    <a:tcPr marL="91425" marR="91425" marT="91425" marB="91425">
                      <a:solidFill>
                        <a:schemeClr val="l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CE3F0CA-623D-FEF9-6C42-C74EAA492F66}"/>
              </a:ext>
            </a:extLst>
          </p:cNvPr>
          <p:cNvSpPr txBox="1"/>
          <p:nvPr/>
        </p:nvSpPr>
        <p:spPr>
          <a:xfrm>
            <a:off x="586154" y="1081723"/>
            <a:ext cx="11019692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Alice wants to send a message to Bob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Bob shouldn’t know the message is from Alice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An eavesdropper (Eve) cannot deduce that Alice is talking to Bob</a:t>
            </a:r>
          </a:p>
          <a:p>
            <a:pPr lvl="1"/>
            <a:endParaRPr lang="en-US" sz="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i="1" dirty="0">
                <a:solidFill>
                  <a:srgbClr val="C00000"/>
                </a:solidFill>
              </a:rPr>
              <a:t>Proxy: </a:t>
            </a:r>
            <a:r>
              <a:rPr lang="en-US" sz="2200" dirty="0"/>
              <a:t>A third party that relays our Internet traffic, e.g., HTTP, DNS, 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Alice sends the message to the proxy, and the proxy forwards the message to Bob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The recipient’s name (and optionally the message) is encrypted (optional,</a:t>
            </a:r>
            <a:r>
              <a:rPr lang="zh-CN" altLang="en-US" sz="2200" dirty="0"/>
              <a:t> </a:t>
            </a:r>
            <a:r>
              <a:rPr lang="en-US" altLang="zh-CN" sz="2200" dirty="0"/>
              <a:t>not</a:t>
            </a:r>
            <a:r>
              <a:rPr lang="zh-CN" altLang="en-US" sz="2200" dirty="0"/>
              <a:t> </a:t>
            </a:r>
            <a:r>
              <a:rPr lang="en-US" altLang="zh-CN" sz="2200" dirty="0"/>
              <a:t>mandatory</a:t>
            </a:r>
            <a:r>
              <a:rPr lang="en-US" sz="2200" dirty="0"/>
              <a:t>), so an eavesdropper does not see a packet with both Alice and Bob’s identities in plaintext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Bob receives the message from the proxy, with </a:t>
            </a:r>
            <a:r>
              <a:rPr lang="en-US" sz="2200" dirty="0">
                <a:solidFill>
                  <a:srgbClr val="C00000"/>
                </a:solidFill>
              </a:rPr>
              <a:t>no indication </a:t>
            </a:r>
            <a:r>
              <a:rPr lang="en-US" sz="2200" dirty="0"/>
              <a:t>it came from Alice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Mask the original IP address</a:t>
            </a:r>
          </a:p>
        </p:txBody>
      </p:sp>
    </p:spTree>
    <p:extLst>
      <p:ext uri="{BB962C8B-B14F-4D97-AF65-F5344CB8AC3E}">
        <p14:creationId xmlns:p14="http://schemas.microsoft.com/office/powerpoint/2010/main" val="357723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3F96E-49D0-1EF5-E6E9-B6DEE34A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86477"/>
            <a:ext cx="10515600" cy="759727"/>
          </a:xfrm>
        </p:spPr>
        <p:txBody>
          <a:bodyPr/>
          <a:lstStyle/>
          <a:p>
            <a:r>
              <a:rPr lang="en" dirty="0"/>
              <a:t>Virtual Private Networks (VPNs)</a:t>
            </a:r>
            <a:endParaRPr lang="en-US" dirty="0"/>
          </a:p>
        </p:txBody>
      </p:sp>
      <p:sp>
        <p:nvSpPr>
          <p:cNvPr id="4" name="Google Shape;126;p23">
            <a:extLst>
              <a:ext uri="{FF2B5EF4-FFF2-40B4-BE49-F238E27FC236}">
                <a16:creationId xmlns:a16="http://schemas.microsoft.com/office/drawing/2014/main" id="{D3F85A95-AA26-E648-B2C1-FA2FAD17BBF3}"/>
              </a:ext>
            </a:extLst>
          </p:cNvPr>
          <p:cNvSpPr txBox="1">
            <a:spLocks/>
          </p:cNvSpPr>
          <p:nvPr/>
        </p:nvSpPr>
        <p:spPr>
          <a:xfrm>
            <a:off x="289969" y="1244464"/>
            <a:ext cx="11533121" cy="320933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dirty="0"/>
              <a:t>VPNs: A virtual, encrypted, point-to-point tunnel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</a:pPr>
            <a:r>
              <a:rPr lang="en-US" sz="2200" dirty="0"/>
              <a:t>Creates an </a:t>
            </a:r>
            <a:r>
              <a:rPr lang="en-US" sz="2200" b="1" dirty="0">
                <a:solidFill>
                  <a:srgbClr val="C00000"/>
                </a:solidFill>
              </a:rPr>
              <a:t>encrypted</a:t>
            </a:r>
            <a:r>
              <a:rPr lang="en-US" sz="2200" dirty="0"/>
              <a:t> tunnel between your </a:t>
            </a:r>
            <a:r>
              <a:rPr lang="en-US" sz="2200" i="1" dirty="0">
                <a:solidFill>
                  <a:srgbClr val="C00000"/>
                </a:solidFill>
              </a:rPr>
              <a:t>device</a:t>
            </a:r>
            <a:r>
              <a:rPr lang="en-US" sz="2200" dirty="0"/>
              <a:t> and a </a:t>
            </a:r>
            <a:r>
              <a:rPr lang="en-US" sz="2200" i="1" dirty="0">
                <a:solidFill>
                  <a:srgbClr val="C00000"/>
                </a:solidFill>
              </a:rPr>
              <a:t>remote VPN server</a:t>
            </a:r>
            <a:r>
              <a:rPr lang="en-US" sz="2200" dirty="0"/>
              <a:t>, which acts as an intermediary for your internet traffic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</a:pPr>
            <a:r>
              <a:rPr lang="en-US" sz="2200" dirty="0"/>
              <a:t>Creates an alternative use case: 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</a:pPr>
            <a:r>
              <a:rPr lang="en-US" sz="2200" dirty="0"/>
              <a:t>Appear as though you are coming from the virtually connected network instead of your real network!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</a:pPr>
            <a:r>
              <a:rPr lang="en-US" sz="2200" dirty="0"/>
              <a:t>E.g., a remote worker using a corporate VPN to securely access company resources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</a:pPr>
            <a:r>
              <a:rPr lang="en-US" sz="2200" dirty="0"/>
              <a:t>Proxies operate at the </a:t>
            </a:r>
            <a:r>
              <a:rPr lang="en-US" sz="2200" i="1" dirty="0"/>
              <a:t>application layer</a:t>
            </a:r>
            <a:r>
              <a:rPr lang="en-US" sz="2200" dirty="0"/>
              <a:t>, while VPNs operate at the </a:t>
            </a:r>
            <a:r>
              <a:rPr lang="en-US" sz="2200" i="1" dirty="0"/>
              <a:t>network layer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E25A513-DE70-51AE-43B1-17012C746595}"/>
              </a:ext>
            </a:extLst>
          </p:cNvPr>
          <p:cNvGrpSpPr/>
          <p:nvPr/>
        </p:nvGrpSpPr>
        <p:grpSpPr>
          <a:xfrm>
            <a:off x="492370" y="4830480"/>
            <a:ext cx="11131062" cy="1841043"/>
            <a:chOff x="470975" y="3756899"/>
            <a:chExt cx="7715650" cy="1189801"/>
          </a:xfrm>
        </p:grpSpPr>
        <p:sp>
          <p:nvSpPr>
            <p:cNvPr id="5" name="Google Shape;128;p23">
              <a:extLst>
                <a:ext uri="{FF2B5EF4-FFF2-40B4-BE49-F238E27FC236}">
                  <a16:creationId xmlns:a16="http://schemas.microsoft.com/office/drawing/2014/main" id="{2E5EF40D-3DF9-404B-D8F2-518D94B2C80F}"/>
                </a:ext>
              </a:extLst>
            </p:cNvPr>
            <p:cNvSpPr/>
            <p:nvPr/>
          </p:nvSpPr>
          <p:spPr>
            <a:xfrm>
              <a:off x="470975" y="3756900"/>
              <a:ext cx="965100" cy="1189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/>
                <a:t>Alice</a:t>
              </a:r>
              <a:endParaRPr sz="2400" b="1" dirty="0"/>
            </a:p>
          </p:txBody>
        </p:sp>
        <p:sp>
          <p:nvSpPr>
            <p:cNvPr id="6" name="Google Shape;129;p23">
              <a:extLst>
                <a:ext uri="{FF2B5EF4-FFF2-40B4-BE49-F238E27FC236}">
                  <a16:creationId xmlns:a16="http://schemas.microsoft.com/office/drawing/2014/main" id="{BB1F6BD3-D38C-7115-5872-963227FD34A1}"/>
                </a:ext>
              </a:extLst>
            </p:cNvPr>
            <p:cNvSpPr/>
            <p:nvPr/>
          </p:nvSpPr>
          <p:spPr>
            <a:xfrm>
              <a:off x="3846250" y="3756900"/>
              <a:ext cx="965100" cy="1189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/>
                <a:t>VPN</a:t>
              </a:r>
              <a:endParaRPr sz="2400" b="1" dirty="0"/>
            </a:p>
          </p:txBody>
        </p:sp>
        <p:sp>
          <p:nvSpPr>
            <p:cNvPr id="7" name="Google Shape;130;p23">
              <a:extLst>
                <a:ext uri="{FF2B5EF4-FFF2-40B4-BE49-F238E27FC236}">
                  <a16:creationId xmlns:a16="http://schemas.microsoft.com/office/drawing/2014/main" id="{FA362170-BB9A-42C3-9457-7AC5D0D5A623}"/>
                </a:ext>
              </a:extLst>
            </p:cNvPr>
            <p:cNvSpPr/>
            <p:nvPr/>
          </p:nvSpPr>
          <p:spPr>
            <a:xfrm>
              <a:off x="7221525" y="3756900"/>
              <a:ext cx="965100" cy="1189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/>
                <a:t>Bob</a:t>
              </a:r>
              <a:endParaRPr sz="2400" b="1" dirty="0"/>
            </a:p>
          </p:txBody>
        </p:sp>
        <p:cxnSp>
          <p:nvCxnSpPr>
            <p:cNvPr id="8" name="Google Shape;131;p23">
              <a:extLst>
                <a:ext uri="{FF2B5EF4-FFF2-40B4-BE49-F238E27FC236}">
                  <a16:creationId xmlns:a16="http://schemas.microsoft.com/office/drawing/2014/main" id="{2F1D2C9C-57D1-9689-57CE-CDFF6EC397FC}"/>
                </a:ext>
              </a:extLst>
            </p:cNvPr>
            <p:cNvCxnSpPr/>
            <p:nvPr/>
          </p:nvCxnSpPr>
          <p:spPr>
            <a:xfrm>
              <a:off x="1436063" y="4695275"/>
              <a:ext cx="24102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132;p23">
              <a:extLst>
                <a:ext uri="{FF2B5EF4-FFF2-40B4-BE49-F238E27FC236}">
                  <a16:creationId xmlns:a16="http://schemas.microsoft.com/office/drawing/2014/main" id="{761D49D7-2412-FC50-22DA-CC3D674C523A}"/>
                </a:ext>
              </a:extLst>
            </p:cNvPr>
            <p:cNvCxnSpPr/>
            <p:nvPr/>
          </p:nvCxnSpPr>
          <p:spPr>
            <a:xfrm>
              <a:off x="1434200" y="4774700"/>
              <a:ext cx="57873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" name="Google Shape;133;p23">
              <a:extLst>
                <a:ext uri="{FF2B5EF4-FFF2-40B4-BE49-F238E27FC236}">
                  <a16:creationId xmlns:a16="http://schemas.microsoft.com/office/drawing/2014/main" id="{FA99ABFB-1123-27E2-D516-E164EEF25A57}"/>
                </a:ext>
              </a:extLst>
            </p:cNvPr>
            <p:cNvSpPr/>
            <p:nvPr/>
          </p:nvSpPr>
          <p:spPr>
            <a:xfrm>
              <a:off x="1516749" y="3756899"/>
              <a:ext cx="2248800" cy="892725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aphicFrame>
          <p:nvGraphicFramePr>
            <p:cNvPr id="11" name="Google Shape;134;p23">
              <a:extLst>
                <a:ext uri="{FF2B5EF4-FFF2-40B4-BE49-F238E27FC236}">
                  <a16:creationId xmlns:a16="http://schemas.microsoft.com/office/drawing/2014/main" id="{0B9AB173-A631-8071-0010-9E75D01E247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968179874"/>
                </p:ext>
              </p:extLst>
            </p:nvPr>
          </p:nvGraphicFramePr>
          <p:xfrm>
            <a:off x="1716742" y="3805613"/>
            <a:ext cx="1753889" cy="741952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1282748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247518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690892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 dirty="0"/>
                          <a:t>From: VPN</a:t>
                        </a:r>
                        <a:endParaRPr sz="1800" dirty="0"/>
                      </a:p>
                    </a:txBody>
                    <a:tcPr marL="91425" marR="91425" marT="91425" marB="91425"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/>
                          <a:t>To: </a:t>
                        </a:r>
                        <a:r>
                          <a:rPr lang="en" sz="1800">
                            <a:solidFill>
                              <a:schemeClr val="dk1"/>
                            </a:solidFill>
                          </a:rPr>
                          <a:t>Bob</a:t>
                        </a:r>
                        <a:endParaRPr sz="1800"/>
                      </a:p>
                    </a:txBody>
                    <a:tcPr marL="91425" marR="91425" marT="91425" marB="91425"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25154">
                  <a:tc gridSpan="2"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 dirty="0"/>
                          <a:t>Message</a:t>
                        </a:r>
                        <a:endParaRPr sz="1800" dirty="0"/>
                      </a:p>
                    </a:txBody>
                    <a:tcPr marL="91425" marR="91425" marT="91425" marB="91425">
                      <a:solidFill>
                        <a:schemeClr val="l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graphicFrame>
          <p:nvGraphicFramePr>
            <p:cNvPr id="12" name="Google Shape;135;p23">
              <a:extLst>
                <a:ext uri="{FF2B5EF4-FFF2-40B4-BE49-F238E27FC236}">
                  <a16:creationId xmlns:a16="http://schemas.microsoft.com/office/drawing/2014/main" id="{C3869D5C-7F89-3439-6C61-8E1E8E46267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673014192"/>
                </p:ext>
              </p:extLst>
            </p:nvPr>
          </p:nvGraphicFramePr>
          <p:xfrm>
            <a:off x="4970176" y="3848629"/>
            <a:ext cx="2092496" cy="590906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153039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48836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2585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/>
                          <a:t>From: </a:t>
                        </a:r>
                        <a:r>
                          <a:rPr lang="en" sz="1800">
                            <a:solidFill>
                              <a:schemeClr val="dk1"/>
                            </a:solidFill>
                          </a:rPr>
                          <a:t>VPN</a:t>
                        </a:r>
                        <a:endParaRPr sz="1800"/>
                      </a:p>
                    </a:txBody>
                    <a:tcPr marL="91425" marR="91425" marT="91425" marB="91425"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/>
                          <a:t>To: Bob</a:t>
                        </a:r>
                        <a:endParaRPr sz="1800"/>
                      </a:p>
                    </a:txBody>
                    <a:tcPr marL="91425" marR="91425" marT="91425" marB="91425"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71700">
                  <a:tc gridSpan="2"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 dirty="0"/>
                          <a:t>Message</a:t>
                        </a:r>
                        <a:endParaRPr sz="1800" dirty="0"/>
                      </a:p>
                    </a:txBody>
                    <a:tcPr marL="91425" marR="91425" marT="91425" marB="91425">
                      <a:solidFill>
                        <a:schemeClr val="l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cxnSp>
          <p:nvCxnSpPr>
            <p:cNvPr id="13" name="Google Shape;136;p23">
              <a:extLst>
                <a:ext uri="{FF2B5EF4-FFF2-40B4-BE49-F238E27FC236}">
                  <a16:creationId xmlns:a16="http://schemas.microsoft.com/office/drawing/2014/main" id="{8CC780B2-26C0-A38D-1E7A-A3140F33278A}"/>
                </a:ext>
              </a:extLst>
            </p:cNvPr>
            <p:cNvCxnSpPr/>
            <p:nvPr/>
          </p:nvCxnSpPr>
          <p:spPr>
            <a:xfrm>
              <a:off x="1436063" y="4860025"/>
              <a:ext cx="24102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34040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BD661-E6E9-8F0C-46B9-6F2B2BE30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371"/>
            <a:ext cx="10515600" cy="797277"/>
          </a:xfrm>
        </p:spPr>
        <p:txBody>
          <a:bodyPr/>
          <a:lstStyle/>
          <a:p>
            <a:r>
              <a:rPr lang="en" dirty="0"/>
              <a:t>Proxies and VPNs: Issues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DABB00-9A6A-22F0-E420-2D87BA338576}"/>
              </a:ext>
            </a:extLst>
          </p:cNvPr>
          <p:cNvSpPr txBox="1"/>
          <p:nvPr/>
        </p:nvSpPr>
        <p:spPr>
          <a:xfrm>
            <a:off x="838200" y="1764842"/>
            <a:ext cx="1051559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Performance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Sending a packet requires additional hops across the network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Cost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VPNs can cost $80 to $200 per year</a:t>
            </a:r>
          </a:p>
          <a:p>
            <a:pPr lvl="1">
              <a:spcAft>
                <a:spcPts val="600"/>
              </a:spcAft>
            </a:pPr>
            <a:endParaRPr lang="en-US" sz="24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C00000"/>
                </a:solidFill>
              </a:rPr>
              <a:t>Trusting the proxy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proxy can see the sender and recipient’s identities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Attackers might convince the proxy to tell them about your identity</a:t>
            </a:r>
          </a:p>
          <a:p>
            <a:pPr>
              <a:spcAft>
                <a:spcPts val="600"/>
              </a:spcAf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86825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78433-9FBB-52EF-1D17-B197DD106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B18D9-AC21-468E-000C-7807F000F107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E130917-03F8-D53A-BC56-9B904D7493D2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Anonymity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Proxies and VPNs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zh-CN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Tor 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zh-CN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Tor Onion Services</a:t>
            </a: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475" indent="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  <a:buNone/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072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AB7CD-C43A-8C07-B16B-7755036B4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D9D4A-EB05-DAB7-2EC7-DA2C739A1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987"/>
            <a:ext cx="10515600" cy="729762"/>
          </a:xfrm>
        </p:spPr>
        <p:txBody>
          <a:bodyPr>
            <a:normAutofit/>
          </a:bodyPr>
          <a:lstStyle/>
          <a:p>
            <a:r>
              <a:rPr lang="en-US" dirty="0"/>
              <a:t>The Onion Router (</a:t>
            </a:r>
            <a:r>
              <a:rPr lang="en" dirty="0"/>
              <a:t>Tor)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D126F55-2723-5F5B-D9BA-E45A757B4247}"/>
              </a:ext>
            </a:extLst>
          </p:cNvPr>
          <p:cNvGrpSpPr/>
          <p:nvPr/>
        </p:nvGrpSpPr>
        <p:grpSpPr>
          <a:xfrm>
            <a:off x="1462643" y="4311973"/>
            <a:ext cx="9266712" cy="1424151"/>
            <a:chOff x="968725" y="4327250"/>
            <a:chExt cx="7206550" cy="572700"/>
          </a:xfrm>
        </p:grpSpPr>
        <p:sp>
          <p:nvSpPr>
            <p:cNvPr id="5" name="Google Shape;157;p26">
              <a:extLst>
                <a:ext uri="{FF2B5EF4-FFF2-40B4-BE49-F238E27FC236}">
                  <a16:creationId xmlns:a16="http://schemas.microsoft.com/office/drawing/2014/main" id="{0B5A4123-CAC4-CD14-16A8-41BDDE4E6D32}"/>
                </a:ext>
              </a:extLst>
            </p:cNvPr>
            <p:cNvSpPr/>
            <p:nvPr/>
          </p:nvSpPr>
          <p:spPr>
            <a:xfrm>
              <a:off x="968725" y="4327250"/>
              <a:ext cx="1065600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Tor Browser</a:t>
              </a:r>
              <a:endParaRPr dirty="0"/>
            </a:p>
          </p:txBody>
        </p:sp>
        <p:sp>
          <p:nvSpPr>
            <p:cNvPr id="6" name="Google Shape;158;p26">
              <a:extLst>
                <a:ext uri="{FF2B5EF4-FFF2-40B4-BE49-F238E27FC236}">
                  <a16:creationId xmlns:a16="http://schemas.microsoft.com/office/drawing/2014/main" id="{F4B80C01-5136-213B-3EF8-1334F01F7575}"/>
                </a:ext>
              </a:extLst>
            </p:cNvPr>
            <p:cNvSpPr/>
            <p:nvPr/>
          </p:nvSpPr>
          <p:spPr>
            <a:xfrm>
              <a:off x="2704475" y="4416800"/>
              <a:ext cx="73200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Relay</a:t>
              </a:r>
              <a:endParaRPr/>
            </a:p>
          </p:txBody>
        </p:sp>
        <p:sp>
          <p:nvSpPr>
            <p:cNvPr id="7" name="Google Shape;159;p26">
              <a:extLst>
                <a:ext uri="{FF2B5EF4-FFF2-40B4-BE49-F238E27FC236}">
                  <a16:creationId xmlns:a16="http://schemas.microsoft.com/office/drawing/2014/main" id="{CFDA631F-53A5-9C8C-1D66-AC8AF2F1C910}"/>
                </a:ext>
              </a:extLst>
            </p:cNvPr>
            <p:cNvSpPr/>
            <p:nvPr/>
          </p:nvSpPr>
          <p:spPr>
            <a:xfrm>
              <a:off x="4206000" y="4416800"/>
              <a:ext cx="73200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Relay</a:t>
              </a:r>
              <a:endParaRPr/>
            </a:p>
          </p:txBody>
        </p:sp>
        <p:sp>
          <p:nvSpPr>
            <p:cNvPr id="8" name="Google Shape;160;p26">
              <a:extLst>
                <a:ext uri="{FF2B5EF4-FFF2-40B4-BE49-F238E27FC236}">
                  <a16:creationId xmlns:a16="http://schemas.microsoft.com/office/drawing/2014/main" id="{E9A63E7F-C817-19AE-C4CC-C40125D87F38}"/>
                </a:ext>
              </a:extLst>
            </p:cNvPr>
            <p:cNvSpPr/>
            <p:nvPr/>
          </p:nvSpPr>
          <p:spPr>
            <a:xfrm>
              <a:off x="5707525" y="4416800"/>
              <a:ext cx="73200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Relay</a:t>
              </a:r>
              <a:endParaRPr/>
            </a:p>
          </p:txBody>
        </p:sp>
        <p:sp>
          <p:nvSpPr>
            <p:cNvPr id="9" name="Google Shape;161;p26">
              <a:extLst>
                <a:ext uri="{FF2B5EF4-FFF2-40B4-BE49-F238E27FC236}">
                  <a16:creationId xmlns:a16="http://schemas.microsoft.com/office/drawing/2014/main" id="{4ACC61E2-541C-675A-85B3-B68A7C0B526A}"/>
                </a:ext>
              </a:extLst>
            </p:cNvPr>
            <p:cNvSpPr/>
            <p:nvPr/>
          </p:nvSpPr>
          <p:spPr>
            <a:xfrm>
              <a:off x="7109675" y="4327250"/>
              <a:ext cx="1065600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Website</a:t>
              </a:r>
              <a:endParaRPr/>
            </a:p>
          </p:txBody>
        </p:sp>
        <p:cxnSp>
          <p:nvCxnSpPr>
            <p:cNvPr id="10" name="Google Shape;162;p26">
              <a:extLst>
                <a:ext uri="{FF2B5EF4-FFF2-40B4-BE49-F238E27FC236}">
                  <a16:creationId xmlns:a16="http://schemas.microsoft.com/office/drawing/2014/main" id="{AA4B237C-7AFC-2DFE-B857-A1C052B3AA20}"/>
                </a:ext>
              </a:extLst>
            </p:cNvPr>
            <p:cNvCxnSpPr>
              <a:endCxn id="6" idx="1"/>
            </p:cNvCxnSpPr>
            <p:nvPr/>
          </p:nvCxnSpPr>
          <p:spPr>
            <a:xfrm>
              <a:off x="2034275" y="4613600"/>
              <a:ext cx="670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" name="Google Shape;163;p26">
              <a:extLst>
                <a:ext uri="{FF2B5EF4-FFF2-40B4-BE49-F238E27FC236}">
                  <a16:creationId xmlns:a16="http://schemas.microsoft.com/office/drawing/2014/main" id="{BF07AFA2-FEF6-3692-7D73-F9957345A139}"/>
                </a:ext>
              </a:extLst>
            </p:cNvPr>
            <p:cNvCxnSpPr>
              <a:stCxn id="6" idx="3"/>
              <a:endCxn id="7" idx="1"/>
            </p:cNvCxnSpPr>
            <p:nvPr/>
          </p:nvCxnSpPr>
          <p:spPr>
            <a:xfrm>
              <a:off x="3436475" y="4613600"/>
              <a:ext cx="7695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" name="Google Shape;164;p26">
              <a:extLst>
                <a:ext uri="{FF2B5EF4-FFF2-40B4-BE49-F238E27FC236}">
                  <a16:creationId xmlns:a16="http://schemas.microsoft.com/office/drawing/2014/main" id="{6B0BCB6F-3339-BD68-CE37-91382C3C760C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>
              <a:off x="4938000" y="4613600"/>
              <a:ext cx="7695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" name="Google Shape;165;p26">
              <a:extLst>
                <a:ext uri="{FF2B5EF4-FFF2-40B4-BE49-F238E27FC236}">
                  <a16:creationId xmlns:a16="http://schemas.microsoft.com/office/drawing/2014/main" id="{AAF99A54-F831-7EE3-22E0-4F9C260271F2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6439525" y="4613600"/>
              <a:ext cx="670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30707B1-5EEB-0016-D9CC-E25C5638F632}"/>
              </a:ext>
            </a:extLst>
          </p:cNvPr>
          <p:cNvSpPr txBox="1"/>
          <p:nvPr/>
        </p:nvSpPr>
        <p:spPr>
          <a:xfrm>
            <a:off x="523822" y="1939919"/>
            <a:ext cx="1114435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i="1" dirty="0"/>
              <a:t>Idea: </a:t>
            </a:r>
            <a:r>
              <a:rPr lang="en-US" sz="2200" dirty="0"/>
              <a:t>Send the packet through multiple proxies instead of just one proxy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i="1" dirty="0">
                <a:solidFill>
                  <a:srgbClr val="C00000"/>
                </a:solidFill>
              </a:rPr>
              <a:t>Tor: </a:t>
            </a:r>
            <a:r>
              <a:rPr lang="en-US" sz="2200" dirty="0"/>
              <a:t>A network that uses </a:t>
            </a:r>
            <a:r>
              <a:rPr lang="en-US" sz="2200" dirty="0">
                <a:solidFill>
                  <a:srgbClr val="C00000"/>
                </a:solidFill>
              </a:rPr>
              <a:t>multiple proxies </a:t>
            </a:r>
            <a:r>
              <a:rPr lang="en-US" sz="2200" dirty="0"/>
              <a:t>(relays) to enable anonymous communications</a:t>
            </a:r>
          </a:p>
          <a:p>
            <a:pPr>
              <a:spcAft>
                <a:spcPts val="600"/>
              </a:spcAft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08654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C06E8-75CA-22CC-BF66-9BB284DA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987"/>
            <a:ext cx="10515600" cy="729762"/>
          </a:xfrm>
        </p:spPr>
        <p:txBody>
          <a:bodyPr>
            <a:normAutofit/>
          </a:bodyPr>
          <a:lstStyle/>
          <a:p>
            <a:r>
              <a:rPr lang="en-US" dirty="0"/>
              <a:t>The Onion Router (</a:t>
            </a:r>
            <a:r>
              <a:rPr lang="en" dirty="0"/>
              <a:t>Tor)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30FA2C-2788-9632-4B80-C604F7554C7E}"/>
              </a:ext>
            </a:extLst>
          </p:cNvPr>
          <p:cNvSpPr txBox="1"/>
          <p:nvPr/>
        </p:nvSpPr>
        <p:spPr>
          <a:xfrm>
            <a:off x="523824" y="1122070"/>
            <a:ext cx="11144352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dirty="0"/>
              <a:t>Components of Tor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hlinkClick r:id="rId2"/>
              </a:rPr>
              <a:t>Tor Browser</a:t>
            </a:r>
            <a:r>
              <a:rPr lang="en-US" sz="2000" dirty="0"/>
              <a:t>: A web browser configured to connect to the Tor network (based on Firefox)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Tor network: A network of many </a:t>
            </a:r>
            <a:r>
              <a:rPr lang="en-US" sz="2000" i="1" dirty="0">
                <a:solidFill>
                  <a:srgbClr val="C00000"/>
                </a:solidFill>
              </a:rPr>
              <a:t>Tor relays (proxies) </a:t>
            </a:r>
            <a:r>
              <a:rPr lang="en-US" sz="2000" dirty="0"/>
              <a:t>for forwarding packets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Directory server: </a:t>
            </a:r>
            <a:r>
              <a:rPr lang="en-US" altLang="zh-CN" sz="2000" dirty="0"/>
              <a:t>A </a:t>
            </a:r>
            <a:r>
              <a:rPr lang="en-US" sz="2000" dirty="0"/>
              <a:t>server that holds and distributes a list of all active Tor relays (and their public keys </a:t>
            </a:r>
            <a:r>
              <a:rPr lang="en-US" sz="2000" dirty="0">
                <a:sym typeface="Wingdings" panose="05000000000000000000" pitchFamily="2" charset="2"/>
              </a:rPr>
              <a:t> why? MITM attacks!</a:t>
            </a:r>
            <a:r>
              <a:rPr lang="en-US" sz="2000" dirty="0"/>
              <a:t>); also known as </a:t>
            </a:r>
            <a:r>
              <a:rPr lang="en-US" sz="2000" dirty="0">
                <a:hlinkClick r:id="rId3"/>
              </a:rPr>
              <a:t>Directory Authorities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Tor onion services: Servers that can only be reached through the Tor network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Tor bridges: Tor relays that try to hide the fact that a user is connecting to the Tor network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0FC494-8A71-E43A-00E0-B89C4EB20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492" y="3784337"/>
            <a:ext cx="4149893" cy="30469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C733C50-60AA-1962-9687-6DB5B53756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152" y="3859468"/>
            <a:ext cx="4805170" cy="297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788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7E57-E78B-C891-659E-6A7CF3C1C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486"/>
            <a:ext cx="10515600" cy="830629"/>
          </a:xfrm>
        </p:spPr>
        <p:txBody>
          <a:bodyPr/>
          <a:lstStyle/>
          <a:p>
            <a:r>
              <a:rPr lang="en" dirty="0"/>
              <a:t>The Goals of Tor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571D4-4188-C600-B337-A24AE6A4BD13}"/>
              </a:ext>
            </a:extLst>
          </p:cNvPr>
          <p:cNvSpPr txBox="1"/>
          <p:nvPr/>
        </p:nvSpPr>
        <p:spPr>
          <a:xfrm>
            <a:off x="90651" y="1572275"/>
            <a:ext cx="7281699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Security: Client anonymity and censorship resistance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Optional: Server anonymity with onion services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Performance: Low latency; communication should be fast.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Tor preserves anonymity against local adversaries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Example: An on-path attacker sees Alice send a message to a Tor relay, but not the final destination of the message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Example: The server should not know the identity of the client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D4C261-1013-13D2-3594-F8E227187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767" y="1733692"/>
            <a:ext cx="5282233" cy="387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204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C01006B-C156-3208-EDF8-6B972F251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706" y="499439"/>
            <a:ext cx="6345347" cy="363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DD297C-1688-1993-223F-3453B2D0B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347"/>
            <a:ext cx="10515600" cy="854075"/>
          </a:xfrm>
        </p:spPr>
        <p:txBody>
          <a:bodyPr/>
          <a:lstStyle/>
          <a:p>
            <a:r>
              <a:rPr lang="en" dirty="0"/>
              <a:t>Tor Circuits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33150B-B92A-6F78-C85E-82E654BC4E15}"/>
              </a:ext>
            </a:extLst>
          </p:cNvPr>
          <p:cNvSpPr txBox="1"/>
          <p:nvPr/>
        </p:nvSpPr>
        <p:spPr>
          <a:xfrm>
            <a:off x="-1" y="3202261"/>
            <a:ext cx="11650133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Query the directory server for a list of relays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Directory server: Lists all Tor relays and their public keys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Choose 3 relays to form a Tor circuit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Connect to </a:t>
            </a:r>
            <a:r>
              <a:rPr lang="en-US" sz="2200" i="1" dirty="0">
                <a:solidFill>
                  <a:srgbClr val="C00000"/>
                </a:solidFill>
              </a:rPr>
              <a:t>the first relay</a:t>
            </a:r>
            <a:r>
              <a:rPr lang="en-US" sz="2200" dirty="0"/>
              <a:t>, forming an end-to-end TLS connection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Connect to the second relay </a:t>
            </a:r>
            <a:r>
              <a:rPr lang="en-US" sz="2200" i="1" dirty="0">
                <a:solidFill>
                  <a:srgbClr val="C00000"/>
                </a:solidFill>
              </a:rPr>
              <a:t>through the first relay</a:t>
            </a:r>
            <a:r>
              <a:rPr lang="en-US" sz="2200" dirty="0"/>
              <a:t>, forming an end-to-end TLS connection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Connect to the third relay </a:t>
            </a:r>
            <a:r>
              <a:rPr lang="en-US" sz="2200" i="1" dirty="0">
                <a:solidFill>
                  <a:srgbClr val="C00000"/>
                </a:solidFill>
              </a:rPr>
              <a:t>through the second relay</a:t>
            </a:r>
            <a:r>
              <a:rPr lang="en-US" sz="2200" dirty="0"/>
              <a:t>, forming an end-to-end TLS connection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Connect to the web server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the web server is using HTTPS, then an end-to-end TLS connection will be formed through the third relay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71B0DB-29C6-043F-F880-C4FD4B3A2DCE}"/>
              </a:ext>
            </a:extLst>
          </p:cNvPr>
          <p:cNvSpPr txBox="1"/>
          <p:nvPr/>
        </p:nvSpPr>
        <p:spPr>
          <a:xfrm>
            <a:off x="65033" y="1280977"/>
            <a:ext cx="61367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To communicate anonymously with a server, the Tor client forms a circuit consisting of 3 relays (by default)</a:t>
            </a:r>
          </a:p>
        </p:txBody>
      </p:sp>
    </p:spTree>
    <p:extLst>
      <p:ext uri="{BB962C8B-B14F-4D97-AF65-F5344CB8AC3E}">
        <p14:creationId xmlns:p14="http://schemas.microsoft.com/office/powerpoint/2010/main" val="953888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196;p29">
            <a:extLst>
              <a:ext uri="{FF2B5EF4-FFF2-40B4-BE49-F238E27FC236}">
                <a16:creationId xmlns:a16="http://schemas.microsoft.com/office/drawing/2014/main" id="{ECDA684C-33CC-6025-3E7D-69924E2E5285}"/>
              </a:ext>
            </a:extLst>
          </p:cNvPr>
          <p:cNvSpPr txBox="1"/>
          <p:nvPr/>
        </p:nvSpPr>
        <p:spPr>
          <a:xfrm>
            <a:off x="312681" y="4889701"/>
            <a:ext cx="5187475" cy="461635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Suppose Alice wants to talk to Bob anonymously.</a:t>
            </a:r>
            <a:endParaRPr dirty="0"/>
          </a:p>
        </p:txBody>
      </p:sp>
      <p:sp>
        <p:nvSpPr>
          <p:cNvPr id="36" name="Google Shape;197;p29">
            <a:extLst>
              <a:ext uri="{FF2B5EF4-FFF2-40B4-BE49-F238E27FC236}">
                <a16:creationId xmlns:a16="http://schemas.microsoft.com/office/drawing/2014/main" id="{BD87649E-AAC0-6B7E-E0A7-2AA9F9DCB85F}"/>
              </a:ext>
            </a:extLst>
          </p:cNvPr>
          <p:cNvSpPr txBox="1"/>
          <p:nvPr/>
        </p:nvSpPr>
        <p:spPr>
          <a:xfrm>
            <a:off x="312681" y="5761897"/>
            <a:ext cx="3381900" cy="738633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Alice queries the </a:t>
            </a:r>
            <a:r>
              <a:rPr lang="en" b="1" dirty="0"/>
              <a:t>directory server </a:t>
            </a:r>
            <a:r>
              <a:rPr lang="en" dirty="0"/>
              <a:t>and chooses 3 relays</a:t>
            </a:r>
            <a:endParaRPr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957794E-9A84-AA33-CA79-908D1D069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347"/>
            <a:ext cx="10515600" cy="854075"/>
          </a:xfrm>
        </p:spPr>
        <p:txBody>
          <a:bodyPr/>
          <a:lstStyle/>
          <a:p>
            <a:r>
              <a:rPr lang="en" dirty="0"/>
              <a:t>Tor Circuits</a:t>
            </a:r>
            <a:endParaRPr lang="en-US" dirty="0"/>
          </a:p>
        </p:txBody>
      </p:sp>
      <p:sp>
        <p:nvSpPr>
          <p:cNvPr id="2" name="Google Shape;195;p29">
            <a:extLst>
              <a:ext uri="{FF2B5EF4-FFF2-40B4-BE49-F238E27FC236}">
                <a16:creationId xmlns:a16="http://schemas.microsoft.com/office/drawing/2014/main" id="{A0D81256-449C-78B5-301D-2E5B60485446}"/>
              </a:ext>
            </a:extLst>
          </p:cNvPr>
          <p:cNvSpPr/>
          <p:nvPr/>
        </p:nvSpPr>
        <p:spPr>
          <a:xfrm>
            <a:off x="10312975" y="2898283"/>
            <a:ext cx="1536192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Bob</a:t>
            </a:r>
            <a:endParaRPr sz="2200"/>
          </a:p>
        </p:txBody>
      </p:sp>
      <p:sp>
        <p:nvSpPr>
          <p:cNvPr id="3" name="Google Shape;186;p29">
            <a:extLst>
              <a:ext uri="{FF2B5EF4-FFF2-40B4-BE49-F238E27FC236}">
                <a16:creationId xmlns:a16="http://schemas.microsoft.com/office/drawing/2014/main" id="{79CF5A13-0C6A-60E3-FB01-7F8A5FE04AE9}"/>
              </a:ext>
            </a:extLst>
          </p:cNvPr>
          <p:cNvSpPr/>
          <p:nvPr/>
        </p:nvSpPr>
        <p:spPr>
          <a:xfrm>
            <a:off x="129811" y="2975793"/>
            <a:ext cx="1536192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Alice</a:t>
            </a:r>
            <a:endParaRPr sz="22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5765FA5-C9E6-A80D-B0EE-FB1B0F4A38D4}"/>
              </a:ext>
            </a:extLst>
          </p:cNvPr>
          <p:cNvGrpSpPr/>
          <p:nvPr/>
        </p:nvGrpSpPr>
        <p:grpSpPr>
          <a:xfrm>
            <a:off x="1886364" y="1647051"/>
            <a:ext cx="7188361" cy="3075129"/>
            <a:chOff x="2053238" y="1700236"/>
            <a:chExt cx="7188361" cy="3075129"/>
          </a:xfrm>
        </p:grpSpPr>
        <p:sp>
          <p:nvSpPr>
            <p:cNvPr id="14" name="Google Shape;187;p29">
              <a:extLst>
                <a:ext uri="{FF2B5EF4-FFF2-40B4-BE49-F238E27FC236}">
                  <a16:creationId xmlns:a16="http://schemas.microsoft.com/office/drawing/2014/main" id="{7F1ADEC1-6928-5D33-4480-2BEC4755D70C}"/>
                </a:ext>
              </a:extLst>
            </p:cNvPr>
            <p:cNvSpPr/>
            <p:nvPr/>
          </p:nvSpPr>
          <p:spPr>
            <a:xfrm>
              <a:off x="3495327" y="2405991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19" name="Google Shape;188;p29">
              <a:extLst>
                <a:ext uri="{FF2B5EF4-FFF2-40B4-BE49-F238E27FC236}">
                  <a16:creationId xmlns:a16="http://schemas.microsoft.com/office/drawing/2014/main" id="{A512F694-4249-620D-EBC9-F4FE32378269}"/>
                </a:ext>
              </a:extLst>
            </p:cNvPr>
            <p:cNvSpPr/>
            <p:nvPr/>
          </p:nvSpPr>
          <p:spPr>
            <a:xfrm>
              <a:off x="3120077" y="3839234"/>
              <a:ext cx="1188720" cy="393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Relay</a:t>
              </a:r>
              <a:endParaRPr sz="2200" dirty="0"/>
            </a:p>
          </p:txBody>
        </p:sp>
        <p:sp>
          <p:nvSpPr>
            <p:cNvPr id="20" name="Google Shape;189;p29">
              <a:extLst>
                <a:ext uri="{FF2B5EF4-FFF2-40B4-BE49-F238E27FC236}">
                  <a16:creationId xmlns:a16="http://schemas.microsoft.com/office/drawing/2014/main" id="{92025BB1-AF9E-E4B1-23BA-E1FD9D6F947D}"/>
                </a:ext>
              </a:extLst>
            </p:cNvPr>
            <p:cNvSpPr/>
            <p:nvPr/>
          </p:nvSpPr>
          <p:spPr>
            <a:xfrm>
              <a:off x="5150354" y="2549497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21" name="Google Shape;190;p29">
              <a:extLst>
                <a:ext uri="{FF2B5EF4-FFF2-40B4-BE49-F238E27FC236}">
                  <a16:creationId xmlns:a16="http://schemas.microsoft.com/office/drawing/2014/main" id="{03F43D39-E611-7C93-4A4B-F1F444A6F0A7}"/>
                </a:ext>
              </a:extLst>
            </p:cNvPr>
            <p:cNvSpPr/>
            <p:nvPr/>
          </p:nvSpPr>
          <p:spPr>
            <a:xfrm>
              <a:off x="5808722" y="3213817"/>
              <a:ext cx="1188720" cy="3936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Relay</a:t>
              </a:r>
              <a:endParaRPr sz="2200" dirty="0"/>
            </a:p>
          </p:txBody>
        </p:sp>
        <p:sp>
          <p:nvSpPr>
            <p:cNvPr id="22" name="Google Shape;191;p29">
              <a:extLst>
                <a:ext uri="{FF2B5EF4-FFF2-40B4-BE49-F238E27FC236}">
                  <a16:creationId xmlns:a16="http://schemas.microsoft.com/office/drawing/2014/main" id="{E9363E95-A1EF-FEB2-07C5-632A5AB425BD}"/>
                </a:ext>
              </a:extLst>
            </p:cNvPr>
            <p:cNvSpPr/>
            <p:nvPr/>
          </p:nvSpPr>
          <p:spPr>
            <a:xfrm>
              <a:off x="6544321" y="2149154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23" name="Google Shape;192;p29">
              <a:extLst>
                <a:ext uri="{FF2B5EF4-FFF2-40B4-BE49-F238E27FC236}">
                  <a16:creationId xmlns:a16="http://schemas.microsoft.com/office/drawing/2014/main" id="{095412F5-E659-8938-DCCE-8EB5755E51CC}"/>
                </a:ext>
              </a:extLst>
            </p:cNvPr>
            <p:cNvSpPr/>
            <p:nvPr/>
          </p:nvSpPr>
          <p:spPr>
            <a:xfrm>
              <a:off x="8052879" y="4381765"/>
              <a:ext cx="1188720" cy="3936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Relay</a:t>
              </a:r>
              <a:endParaRPr sz="2200" dirty="0"/>
            </a:p>
          </p:txBody>
        </p:sp>
        <p:sp>
          <p:nvSpPr>
            <p:cNvPr id="24" name="Google Shape;193;p29">
              <a:extLst>
                <a:ext uri="{FF2B5EF4-FFF2-40B4-BE49-F238E27FC236}">
                  <a16:creationId xmlns:a16="http://schemas.microsoft.com/office/drawing/2014/main" id="{B133F08F-8D13-4FF3-FBC5-AA251E8E0E98}"/>
                </a:ext>
              </a:extLst>
            </p:cNvPr>
            <p:cNvSpPr/>
            <p:nvPr/>
          </p:nvSpPr>
          <p:spPr>
            <a:xfrm>
              <a:off x="8052879" y="3062841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25" name="Google Shape;194;p29">
              <a:extLst>
                <a:ext uri="{FF2B5EF4-FFF2-40B4-BE49-F238E27FC236}">
                  <a16:creationId xmlns:a16="http://schemas.microsoft.com/office/drawing/2014/main" id="{586DAD65-9310-CC7C-9A4A-E02C4F5F35DE}"/>
                </a:ext>
              </a:extLst>
            </p:cNvPr>
            <p:cNvSpPr/>
            <p:nvPr/>
          </p:nvSpPr>
          <p:spPr>
            <a:xfrm>
              <a:off x="8052879" y="1700236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26" name="Google Shape;198;p29">
              <a:extLst>
                <a:ext uri="{FF2B5EF4-FFF2-40B4-BE49-F238E27FC236}">
                  <a16:creationId xmlns:a16="http://schemas.microsoft.com/office/drawing/2014/main" id="{CDDDF833-2A2D-1319-7CEA-4C6E35BB6FF1}"/>
                </a:ext>
              </a:extLst>
            </p:cNvPr>
            <p:cNvSpPr/>
            <p:nvPr/>
          </p:nvSpPr>
          <p:spPr>
            <a:xfrm>
              <a:off x="2053238" y="1912091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Relay</a:t>
              </a:r>
              <a:endParaRPr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01596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215;p30">
            <a:extLst>
              <a:ext uri="{FF2B5EF4-FFF2-40B4-BE49-F238E27FC236}">
                <a16:creationId xmlns:a16="http://schemas.microsoft.com/office/drawing/2014/main" id="{8A14DE9F-2EF2-63F5-189D-EC834C41CACE}"/>
              </a:ext>
            </a:extLst>
          </p:cNvPr>
          <p:cNvGrpSpPr/>
          <p:nvPr/>
        </p:nvGrpSpPr>
        <p:grpSpPr>
          <a:xfrm>
            <a:off x="994384" y="3160631"/>
            <a:ext cx="2080700" cy="1096698"/>
            <a:chOff x="718625" y="2578227"/>
            <a:chExt cx="1705857" cy="816673"/>
          </a:xfrm>
        </p:grpSpPr>
        <p:cxnSp>
          <p:nvCxnSpPr>
            <p:cNvPr id="18" name="Google Shape;216;p30">
              <a:extLst>
                <a:ext uri="{FF2B5EF4-FFF2-40B4-BE49-F238E27FC236}">
                  <a16:creationId xmlns:a16="http://schemas.microsoft.com/office/drawing/2014/main" id="{8C9926D1-9DC1-D06B-7AD7-B60A91F1B116}"/>
                </a:ext>
              </a:extLst>
            </p:cNvPr>
            <p:cNvCxnSpPr/>
            <p:nvPr/>
          </p:nvCxnSpPr>
          <p:spPr>
            <a:xfrm>
              <a:off x="718625" y="2882800"/>
              <a:ext cx="1577700" cy="5121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217;p30">
              <a:extLst>
                <a:ext uri="{FF2B5EF4-FFF2-40B4-BE49-F238E27FC236}">
                  <a16:creationId xmlns:a16="http://schemas.microsoft.com/office/drawing/2014/main" id="{87955AFA-A8C8-1283-E637-23AB9F7EFC26}"/>
                </a:ext>
              </a:extLst>
            </p:cNvPr>
            <p:cNvCxnSpPr>
              <a:cxnSpLocks/>
            </p:cNvCxnSpPr>
            <p:nvPr/>
          </p:nvCxnSpPr>
          <p:spPr>
            <a:xfrm>
              <a:off x="1302888" y="2578227"/>
              <a:ext cx="1121594" cy="387698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" name="Google Shape;218;p30">
            <a:extLst>
              <a:ext uri="{FF2B5EF4-FFF2-40B4-BE49-F238E27FC236}">
                <a16:creationId xmlns:a16="http://schemas.microsoft.com/office/drawing/2014/main" id="{C530CB63-5409-3EF4-C10D-5CE02F637394}"/>
              </a:ext>
            </a:extLst>
          </p:cNvPr>
          <p:cNvGrpSpPr/>
          <p:nvPr/>
        </p:nvGrpSpPr>
        <p:grpSpPr>
          <a:xfrm>
            <a:off x="747565" y="3063497"/>
            <a:ext cx="4944433" cy="1298616"/>
            <a:chOff x="698612" y="2712408"/>
            <a:chExt cx="4007801" cy="1130627"/>
          </a:xfrm>
        </p:grpSpPr>
        <p:sp>
          <p:nvSpPr>
            <p:cNvPr id="21" name="Google Shape;219;p30">
              <a:extLst>
                <a:ext uri="{FF2B5EF4-FFF2-40B4-BE49-F238E27FC236}">
                  <a16:creationId xmlns:a16="http://schemas.microsoft.com/office/drawing/2014/main" id="{8904CC54-0CE0-5E63-924D-21CCA3756F26}"/>
                </a:ext>
              </a:extLst>
            </p:cNvPr>
            <p:cNvSpPr/>
            <p:nvPr/>
          </p:nvSpPr>
          <p:spPr>
            <a:xfrm>
              <a:off x="1405171" y="2712408"/>
              <a:ext cx="3301242" cy="648172"/>
            </a:xfrm>
            <a:custGeom>
              <a:avLst/>
              <a:gdLst/>
              <a:ahLst/>
              <a:cxnLst/>
              <a:rect l="l" t="t" r="r" b="b"/>
              <a:pathLst>
                <a:path w="100113" h="14226" extrusionOk="0">
                  <a:moveTo>
                    <a:pt x="0" y="2974"/>
                  </a:moveTo>
                  <a:cubicBezTo>
                    <a:pt x="7875" y="4846"/>
                    <a:pt x="30563" y="14704"/>
                    <a:pt x="47248" y="14208"/>
                  </a:cubicBezTo>
                  <a:cubicBezTo>
                    <a:pt x="63934" y="13712"/>
                    <a:pt x="91302" y="2368"/>
                    <a:pt x="100113" y="0"/>
                  </a:cubicBezTo>
                </a:path>
              </a:pathLst>
            </a:cu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Google Shape;220;p30">
              <a:extLst>
                <a:ext uri="{FF2B5EF4-FFF2-40B4-BE49-F238E27FC236}">
                  <a16:creationId xmlns:a16="http://schemas.microsoft.com/office/drawing/2014/main" id="{C9D6CFCF-FA22-E2C6-C299-ACD9F9550715}"/>
                </a:ext>
              </a:extLst>
            </p:cNvPr>
            <p:cNvSpPr/>
            <p:nvPr/>
          </p:nvSpPr>
          <p:spPr>
            <a:xfrm>
              <a:off x="698612" y="2950929"/>
              <a:ext cx="3967532" cy="892106"/>
            </a:xfrm>
            <a:custGeom>
              <a:avLst/>
              <a:gdLst/>
              <a:ahLst/>
              <a:cxnLst/>
              <a:rect l="l" t="t" r="r" b="b"/>
              <a:pathLst>
                <a:path w="124894" h="21877" extrusionOk="0">
                  <a:moveTo>
                    <a:pt x="0" y="0"/>
                  </a:moveTo>
                  <a:cubicBezTo>
                    <a:pt x="12445" y="3635"/>
                    <a:pt x="53856" y="20651"/>
                    <a:pt x="74672" y="21807"/>
                  </a:cubicBezTo>
                  <a:cubicBezTo>
                    <a:pt x="95488" y="22964"/>
                    <a:pt x="116524" y="9417"/>
                    <a:pt x="124894" y="6939"/>
                  </a:cubicBezTo>
                </a:path>
              </a:pathLst>
            </a:cu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3" name="Google Shape;221;p30">
            <a:extLst>
              <a:ext uri="{FF2B5EF4-FFF2-40B4-BE49-F238E27FC236}">
                <a16:creationId xmlns:a16="http://schemas.microsoft.com/office/drawing/2014/main" id="{79AC0255-B0DC-CBBB-A694-D23B86214098}"/>
              </a:ext>
            </a:extLst>
          </p:cNvPr>
          <p:cNvGrpSpPr/>
          <p:nvPr/>
        </p:nvGrpSpPr>
        <p:grpSpPr>
          <a:xfrm>
            <a:off x="1196340" y="3063496"/>
            <a:ext cx="7088759" cy="1735647"/>
            <a:chOff x="827345" y="2448975"/>
            <a:chExt cx="6237846" cy="1685086"/>
          </a:xfrm>
        </p:grpSpPr>
        <p:sp>
          <p:nvSpPr>
            <p:cNvPr id="24" name="Google Shape;222;p30">
              <a:extLst>
                <a:ext uri="{FF2B5EF4-FFF2-40B4-BE49-F238E27FC236}">
                  <a16:creationId xmlns:a16="http://schemas.microsoft.com/office/drawing/2014/main" id="{27D19BD2-7F2C-7CBB-260B-0DA35B01ACAD}"/>
                </a:ext>
              </a:extLst>
            </p:cNvPr>
            <p:cNvSpPr/>
            <p:nvPr/>
          </p:nvSpPr>
          <p:spPr>
            <a:xfrm>
              <a:off x="1253402" y="2448975"/>
              <a:ext cx="5811789" cy="1260785"/>
            </a:xfrm>
            <a:custGeom>
              <a:avLst/>
              <a:gdLst/>
              <a:ahLst/>
              <a:cxnLst/>
              <a:rect l="l" t="t" r="r" b="b"/>
              <a:pathLst>
                <a:path w="162229" h="25189" extrusionOk="0">
                  <a:moveTo>
                    <a:pt x="0" y="5034"/>
                  </a:moveTo>
                  <a:cubicBezTo>
                    <a:pt x="8480" y="7017"/>
                    <a:pt x="31719" y="17755"/>
                    <a:pt x="50882" y="16929"/>
                  </a:cubicBezTo>
                  <a:cubicBezTo>
                    <a:pt x="70046" y="16103"/>
                    <a:pt x="96423" y="-1299"/>
                    <a:pt x="114981" y="78"/>
                  </a:cubicBezTo>
                  <a:cubicBezTo>
                    <a:pt x="133539" y="1455"/>
                    <a:pt x="154354" y="21004"/>
                    <a:pt x="162229" y="25189"/>
                  </a:cubicBezTo>
                </a:path>
              </a:pathLst>
            </a:cu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Google Shape;223;p30">
              <a:extLst>
                <a:ext uri="{FF2B5EF4-FFF2-40B4-BE49-F238E27FC236}">
                  <a16:creationId xmlns:a16="http://schemas.microsoft.com/office/drawing/2014/main" id="{A526AEE8-3A22-D531-FC16-A7062FB23153}"/>
                </a:ext>
              </a:extLst>
            </p:cNvPr>
            <p:cNvSpPr/>
            <p:nvPr/>
          </p:nvSpPr>
          <p:spPr>
            <a:xfrm>
              <a:off x="827345" y="2772935"/>
              <a:ext cx="5842941" cy="1361126"/>
            </a:xfrm>
            <a:custGeom>
              <a:avLst/>
              <a:gdLst/>
              <a:ahLst/>
              <a:cxnLst/>
              <a:rect l="l" t="t" r="r" b="b"/>
              <a:pathLst>
                <a:path w="180072" h="31388" extrusionOk="0">
                  <a:moveTo>
                    <a:pt x="0" y="0"/>
                  </a:moveTo>
                  <a:cubicBezTo>
                    <a:pt x="11619" y="3139"/>
                    <a:pt x="48074" y="18227"/>
                    <a:pt x="69716" y="18833"/>
                  </a:cubicBezTo>
                  <a:cubicBezTo>
                    <a:pt x="91358" y="19439"/>
                    <a:pt x="111457" y="1542"/>
                    <a:pt x="129850" y="3634"/>
                  </a:cubicBezTo>
                  <a:cubicBezTo>
                    <a:pt x="148243" y="5727"/>
                    <a:pt x="171702" y="26762"/>
                    <a:pt x="180072" y="31388"/>
                  </a:cubicBezTo>
                </a:path>
              </a:pathLst>
            </a:cu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Google Shape;224;p30">
            <a:extLst>
              <a:ext uri="{FF2B5EF4-FFF2-40B4-BE49-F238E27FC236}">
                <a16:creationId xmlns:a16="http://schemas.microsoft.com/office/drawing/2014/main" id="{C3F12250-14F8-43AB-A3FA-B8380434D5F9}"/>
              </a:ext>
            </a:extLst>
          </p:cNvPr>
          <p:cNvSpPr/>
          <p:nvPr/>
        </p:nvSpPr>
        <p:spPr>
          <a:xfrm>
            <a:off x="1504950" y="3215374"/>
            <a:ext cx="8808025" cy="1373117"/>
          </a:xfrm>
          <a:custGeom>
            <a:avLst/>
            <a:gdLst/>
            <a:ahLst/>
            <a:cxnLst/>
            <a:rect l="l" t="t" r="r" b="b"/>
            <a:pathLst>
              <a:path w="241527" h="32390" extrusionOk="0">
                <a:moveTo>
                  <a:pt x="0" y="3634"/>
                </a:moveTo>
                <a:cubicBezTo>
                  <a:pt x="9747" y="6332"/>
                  <a:pt x="37997" y="19824"/>
                  <a:pt x="58482" y="19824"/>
                </a:cubicBezTo>
                <a:cubicBezTo>
                  <a:pt x="78967" y="19824"/>
                  <a:pt x="101820" y="1541"/>
                  <a:pt x="122911" y="3634"/>
                </a:cubicBezTo>
                <a:cubicBezTo>
                  <a:pt x="144002" y="5727"/>
                  <a:pt x="165259" y="32986"/>
                  <a:pt x="185028" y="32380"/>
                </a:cubicBezTo>
                <a:cubicBezTo>
                  <a:pt x="204797" y="31774"/>
                  <a:pt x="232111" y="5397"/>
                  <a:pt x="241527" y="0"/>
                </a:cubicBezTo>
              </a:path>
            </a:pathLst>
          </a:custGeom>
          <a:noFill/>
          <a:ln w="38100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oogle Shape;225;p30">
            <a:extLst>
              <a:ext uri="{FF2B5EF4-FFF2-40B4-BE49-F238E27FC236}">
                <a16:creationId xmlns:a16="http://schemas.microsoft.com/office/drawing/2014/main" id="{4078F70E-4CB4-FF53-6D3E-AF9A96DB6877}"/>
              </a:ext>
            </a:extLst>
          </p:cNvPr>
          <p:cNvSpPr txBox="1"/>
          <p:nvPr/>
        </p:nvSpPr>
        <p:spPr>
          <a:xfrm>
            <a:off x="61734" y="5003796"/>
            <a:ext cx="2465000" cy="1015632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Alice forms a TLS connection with the entry node</a:t>
            </a:r>
            <a:endParaRPr dirty="0"/>
          </a:p>
        </p:txBody>
      </p:sp>
      <p:sp>
        <p:nvSpPr>
          <p:cNvPr id="31" name="Google Shape;226;p30">
            <a:extLst>
              <a:ext uri="{FF2B5EF4-FFF2-40B4-BE49-F238E27FC236}">
                <a16:creationId xmlns:a16="http://schemas.microsoft.com/office/drawing/2014/main" id="{CE677F37-92CE-A3A1-7D0E-6DD84CA5A7B2}"/>
              </a:ext>
            </a:extLst>
          </p:cNvPr>
          <p:cNvSpPr txBox="1"/>
          <p:nvPr/>
        </p:nvSpPr>
        <p:spPr>
          <a:xfrm>
            <a:off x="3366485" y="4357480"/>
            <a:ext cx="3393963" cy="1292631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" dirty="0"/>
              <a:t>Then she forms a TLS connection with the second node (</a:t>
            </a:r>
            <a:r>
              <a:rPr lang="en-US" b="1" dirty="0">
                <a:solidFill>
                  <a:srgbClr val="C00000"/>
                </a:solidFill>
                <a:hlinkClick r:id="rId3"/>
              </a:rPr>
              <a:t>Tor EXTEND protocol</a:t>
            </a:r>
            <a:r>
              <a:rPr lang="en" dirty="0"/>
              <a:t>), through the first node</a:t>
            </a:r>
            <a:endParaRPr dirty="0"/>
          </a:p>
        </p:txBody>
      </p:sp>
      <p:sp>
        <p:nvSpPr>
          <p:cNvPr id="32" name="Google Shape;227;p30">
            <a:extLst>
              <a:ext uri="{FF2B5EF4-FFF2-40B4-BE49-F238E27FC236}">
                <a16:creationId xmlns:a16="http://schemas.microsoft.com/office/drawing/2014/main" id="{5563EF86-E02E-FA7E-3E04-80271F0F2402}"/>
              </a:ext>
            </a:extLst>
          </p:cNvPr>
          <p:cNvSpPr txBox="1"/>
          <p:nvPr/>
        </p:nvSpPr>
        <p:spPr>
          <a:xfrm>
            <a:off x="3495327" y="5729600"/>
            <a:ext cx="3769733" cy="1015632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Notice: Relay 1 is only relaying TLS packets. It doesn’t know the contents of the packets!</a:t>
            </a:r>
            <a:endParaRPr/>
          </a:p>
        </p:txBody>
      </p:sp>
      <p:sp>
        <p:nvSpPr>
          <p:cNvPr id="33" name="Google Shape;228;p30">
            <a:extLst>
              <a:ext uri="{FF2B5EF4-FFF2-40B4-BE49-F238E27FC236}">
                <a16:creationId xmlns:a16="http://schemas.microsoft.com/office/drawing/2014/main" id="{286ED4B7-01C1-131E-2960-D40F5B1FDA99}"/>
              </a:ext>
            </a:extLst>
          </p:cNvPr>
          <p:cNvSpPr txBox="1"/>
          <p:nvPr/>
        </p:nvSpPr>
        <p:spPr>
          <a:xfrm>
            <a:off x="9143217" y="4259828"/>
            <a:ext cx="3005316" cy="1292631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Then she forms a TLS connection with the exit node (3</a:t>
            </a:r>
            <a:r>
              <a:rPr lang="en" baseline="30000" dirty="0"/>
              <a:t>rd</a:t>
            </a:r>
            <a:r>
              <a:rPr lang="en" dirty="0"/>
              <a:t> relay), through the second node</a:t>
            </a:r>
            <a:endParaRPr dirty="0"/>
          </a:p>
        </p:txBody>
      </p:sp>
      <p:sp>
        <p:nvSpPr>
          <p:cNvPr id="34" name="Google Shape;229;p30">
            <a:extLst>
              <a:ext uri="{FF2B5EF4-FFF2-40B4-BE49-F238E27FC236}">
                <a16:creationId xmlns:a16="http://schemas.microsoft.com/office/drawing/2014/main" id="{62ED36CD-EB97-FFC5-72ED-185A038DCD30}"/>
              </a:ext>
            </a:extLst>
          </p:cNvPr>
          <p:cNvSpPr txBox="1"/>
          <p:nvPr/>
        </p:nvSpPr>
        <p:spPr>
          <a:xfrm>
            <a:off x="8285099" y="5603777"/>
            <a:ext cx="3581080" cy="1015632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Finally, she connects to Bob (optionally forming a TLS connection with Bob)</a:t>
            </a:r>
            <a:endParaRPr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39794EE-D826-37CB-3EE7-90442BA4A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347"/>
            <a:ext cx="10515600" cy="854075"/>
          </a:xfrm>
        </p:spPr>
        <p:txBody>
          <a:bodyPr/>
          <a:lstStyle/>
          <a:p>
            <a:r>
              <a:rPr lang="en" dirty="0"/>
              <a:t>Tor Circuits</a:t>
            </a:r>
            <a:endParaRPr lang="en-US" dirty="0"/>
          </a:p>
        </p:txBody>
      </p:sp>
      <p:sp>
        <p:nvSpPr>
          <p:cNvPr id="3" name="Google Shape;187;p29">
            <a:extLst>
              <a:ext uri="{FF2B5EF4-FFF2-40B4-BE49-F238E27FC236}">
                <a16:creationId xmlns:a16="http://schemas.microsoft.com/office/drawing/2014/main" id="{A56B1D35-CDA4-5617-5E1E-5878C9F6D355}"/>
              </a:ext>
            </a:extLst>
          </p:cNvPr>
          <p:cNvSpPr/>
          <p:nvPr/>
        </p:nvSpPr>
        <p:spPr>
          <a:xfrm>
            <a:off x="3328453" y="2352806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14" name="Google Shape;188;p29">
            <a:extLst>
              <a:ext uri="{FF2B5EF4-FFF2-40B4-BE49-F238E27FC236}">
                <a16:creationId xmlns:a16="http://schemas.microsoft.com/office/drawing/2014/main" id="{E36F3D87-E267-C136-F93E-904A201F09EA}"/>
              </a:ext>
            </a:extLst>
          </p:cNvPr>
          <p:cNvSpPr/>
          <p:nvPr/>
        </p:nvSpPr>
        <p:spPr>
          <a:xfrm>
            <a:off x="2953203" y="3786049"/>
            <a:ext cx="1188720" cy="3936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27" name="Google Shape;189;p29">
            <a:extLst>
              <a:ext uri="{FF2B5EF4-FFF2-40B4-BE49-F238E27FC236}">
                <a16:creationId xmlns:a16="http://schemas.microsoft.com/office/drawing/2014/main" id="{6B44D52E-7C85-84A8-E4A0-3884D633CFD3}"/>
              </a:ext>
            </a:extLst>
          </p:cNvPr>
          <p:cNvSpPr/>
          <p:nvPr/>
        </p:nvSpPr>
        <p:spPr>
          <a:xfrm>
            <a:off x="4982807" y="2498604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28" name="Google Shape;190;p29">
            <a:extLst>
              <a:ext uri="{FF2B5EF4-FFF2-40B4-BE49-F238E27FC236}">
                <a16:creationId xmlns:a16="http://schemas.microsoft.com/office/drawing/2014/main" id="{883B285A-4098-40A9-7AA6-1265350994FE}"/>
              </a:ext>
            </a:extLst>
          </p:cNvPr>
          <p:cNvSpPr/>
          <p:nvPr/>
        </p:nvSpPr>
        <p:spPr>
          <a:xfrm>
            <a:off x="5642318" y="3160631"/>
            <a:ext cx="1188720" cy="393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29" name="Google Shape;191;p29">
            <a:extLst>
              <a:ext uri="{FF2B5EF4-FFF2-40B4-BE49-F238E27FC236}">
                <a16:creationId xmlns:a16="http://schemas.microsoft.com/office/drawing/2014/main" id="{390CF8E2-0C9F-7E3A-735D-AE0428BB89FF}"/>
              </a:ext>
            </a:extLst>
          </p:cNvPr>
          <p:cNvSpPr/>
          <p:nvPr/>
        </p:nvSpPr>
        <p:spPr>
          <a:xfrm>
            <a:off x="6377447" y="2095969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Relay</a:t>
            </a:r>
            <a:endParaRPr sz="2200"/>
          </a:p>
        </p:txBody>
      </p:sp>
      <p:sp>
        <p:nvSpPr>
          <p:cNvPr id="35" name="Google Shape;192;p29">
            <a:extLst>
              <a:ext uri="{FF2B5EF4-FFF2-40B4-BE49-F238E27FC236}">
                <a16:creationId xmlns:a16="http://schemas.microsoft.com/office/drawing/2014/main" id="{9BF4987E-E2AA-5F74-A46C-4DCCCC53535E}"/>
              </a:ext>
            </a:extLst>
          </p:cNvPr>
          <p:cNvSpPr/>
          <p:nvPr/>
        </p:nvSpPr>
        <p:spPr>
          <a:xfrm>
            <a:off x="7886005" y="4328580"/>
            <a:ext cx="1188720" cy="393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6" name="Google Shape;193;p29">
            <a:extLst>
              <a:ext uri="{FF2B5EF4-FFF2-40B4-BE49-F238E27FC236}">
                <a16:creationId xmlns:a16="http://schemas.microsoft.com/office/drawing/2014/main" id="{24F9578F-041C-7703-5BE6-DDF92A31F6E5}"/>
              </a:ext>
            </a:extLst>
          </p:cNvPr>
          <p:cNvSpPr/>
          <p:nvPr/>
        </p:nvSpPr>
        <p:spPr>
          <a:xfrm>
            <a:off x="7886005" y="3009656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Relay</a:t>
            </a:r>
            <a:endParaRPr sz="2200"/>
          </a:p>
        </p:txBody>
      </p:sp>
      <p:sp>
        <p:nvSpPr>
          <p:cNvPr id="37" name="Google Shape;194;p29">
            <a:extLst>
              <a:ext uri="{FF2B5EF4-FFF2-40B4-BE49-F238E27FC236}">
                <a16:creationId xmlns:a16="http://schemas.microsoft.com/office/drawing/2014/main" id="{8CF28EAA-E676-5E48-F933-5FD970026F8F}"/>
              </a:ext>
            </a:extLst>
          </p:cNvPr>
          <p:cNvSpPr/>
          <p:nvPr/>
        </p:nvSpPr>
        <p:spPr>
          <a:xfrm>
            <a:off x="7886005" y="1647051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Relay</a:t>
            </a:r>
            <a:endParaRPr sz="2200"/>
          </a:p>
        </p:txBody>
      </p:sp>
      <p:sp>
        <p:nvSpPr>
          <p:cNvPr id="38" name="Google Shape;198;p29">
            <a:extLst>
              <a:ext uri="{FF2B5EF4-FFF2-40B4-BE49-F238E27FC236}">
                <a16:creationId xmlns:a16="http://schemas.microsoft.com/office/drawing/2014/main" id="{AB5676C4-099F-C78C-1984-A2D5BE16ED52}"/>
              </a:ext>
            </a:extLst>
          </p:cNvPr>
          <p:cNvSpPr/>
          <p:nvPr/>
        </p:nvSpPr>
        <p:spPr>
          <a:xfrm>
            <a:off x="1886364" y="1858906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41" name="Google Shape;195;p29">
            <a:extLst>
              <a:ext uri="{FF2B5EF4-FFF2-40B4-BE49-F238E27FC236}">
                <a16:creationId xmlns:a16="http://schemas.microsoft.com/office/drawing/2014/main" id="{A64B9067-DAEE-68B3-4EFB-96C54E815BFF}"/>
              </a:ext>
            </a:extLst>
          </p:cNvPr>
          <p:cNvSpPr/>
          <p:nvPr/>
        </p:nvSpPr>
        <p:spPr>
          <a:xfrm>
            <a:off x="10312975" y="2898283"/>
            <a:ext cx="1536192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Bob</a:t>
            </a:r>
            <a:endParaRPr sz="2200"/>
          </a:p>
        </p:txBody>
      </p:sp>
      <p:sp>
        <p:nvSpPr>
          <p:cNvPr id="42" name="Google Shape;186;p29">
            <a:extLst>
              <a:ext uri="{FF2B5EF4-FFF2-40B4-BE49-F238E27FC236}">
                <a16:creationId xmlns:a16="http://schemas.microsoft.com/office/drawing/2014/main" id="{E86763C0-35A3-B5E4-117A-117A47B93DFD}"/>
              </a:ext>
            </a:extLst>
          </p:cNvPr>
          <p:cNvSpPr/>
          <p:nvPr/>
        </p:nvSpPr>
        <p:spPr>
          <a:xfrm>
            <a:off x="129811" y="2975793"/>
            <a:ext cx="1536192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Alice</a:t>
            </a: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2268085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DC0E77-64AF-BB3F-FA19-B7F7D8957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347"/>
            <a:ext cx="10515600" cy="854075"/>
          </a:xfrm>
        </p:spPr>
        <p:txBody>
          <a:bodyPr/>
          <a:lstStyle/>
          <a:p>
            <a:r>
              <a:rPr lang="en-US" dirty="0"/>
              <a:t>What a Relay Does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FD758D-0C70-22B0-489E-A4C409E5D3EF}"/>
              </a:ext>
            </a:extLst>
          </p:cNvPr>
          <p:cNvSpPr txBox="1"/>
          <p:nvPr/>
        </p:nvSpPr>
        <p:spPr>
          <a:xfrm>
            <a:off x="552450" y="2027188"/>
            <a:ext cx="1108710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i="1" dirty="0"/>
              <a:t>Function of the relays:</a:t>
            </a:r>
          </a:p>
          <a:p>
            <a:pPr>
              <a:spcAft>
                <a:spcPts val="600"/>
              </a:spcAft>
            </a:pPr>
            <a:endParaRPr lang="en-US" sz="2400" b="1" i="1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Listen for someone to initiate a TLS connection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When receiving a packet, decrypt using the key obtained through TLS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If the destination of the packet is another relay, forward the packet to the next relay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If the destination of the packet is an external server, forward the packet to that server</a:t>
            </a:r>
          </a:p>
        </p:txBody>
      </p:sp>
    </p:spTree>
    <p:extLst>
      <p:ext uri="{BB962C8B-B14F-4D97-AF65-F5344CB8AC3E}">
        <p14:creationId xmlns:p14="http://schemas.microsoft.com/office/powerpoint/2010/main" val="3692793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2FD19-1948-9996-C653-E3AE8CB62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BD02AFB1-551D-083D-5FC6-F984DE79E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347"/>
            <a:ext cx="10515600" cy="854075"/>
          </a:xfrm>
        </p:spPr>
        <p:txBody>
          <a:bodyPr/>
          <a:lstStyle/>
          <a:p>
            <a:r>
              <a:rPr lang="en" dirty="0"/>
              <a:t>Tor Packet Construction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EE8DDA-3132-A905-D201-D939276DAC09}"/>
              </a:ext>
            </a:extLst>
          </p:cNvPr>
          <p:cNvSpPr txBox="1"/>
          <p:nvPr/>
        </p:nvSpPr>
        <p:spPr>
          <a:xfrm>
            <a:off x="744996" y="1256937"/>
            <a:ext cx="80692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Wrap the packets via encryption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For example, the packet sent to Bob is encrypted under K</a:t>
            </a:r>
            <a:r>
              <a:rPr lang="en-US" sz="2200" baseline="-25000" dirty="0"/>
              <a:t>3</a:t>
            </a:r>
            <a:r>
              <a:rPr lang="en-US" sz="2200" dirty="0"/>
              <a:t> since Relay 3 is the one to forward that information to Bob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Ensures that no one can read or tamper with the messages, since these are all sent over TLS connections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FFFFC92-119F-BCD6-CD0A-7E3BDC0B3B66}"/>
              </a:ext>
            </a:extLst>
          </p:cNvPr>
          <p:cNvGrpSpPr/>
          <p:nvPr/>
        </p:nvGrpSpPr>
        <p:grpSpPr>
          <a:xfrm>
            <a:off x="8907464" y="1395461"/>
            <a:ext cx="2752015" cy="4681501"/>
            <a:chOff x="9856800" y="1913925"/>
            <a:chExt cx="1497000" cy="3467650"/>
          </a:xfrm>
        </p:grpSpPr>
        <p:sp>
          <p:nvSpPr>
            <p:cNvPr id="34" name="Google Shape;284;p33">
              <a:extLst>
                <a:ext uri="{FF2B5EF4-FFF2-40B4-BE49-F238E27FC236}">
                  <a16:creationId xmlns:a16="http://schemas.microsoft.com/office/drawing/2014/main" id="{184E9317-1EB4-EC37-91D1-1DDF97F1F645}"/>
                </a:ext>
              </a:extLst>
            </p:cNvPr>
            <p:cNvSpPr/>
            <p:nvPr/>
          </p:nvSpPr>
          <p:spPr>
            <a:xfrm>
              <a:off x="10072500" y="1913925"/>
              <a:ext cx="1065600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Alice</a:t>
              </a:r>
              <a:endParaRPr/>
            </a:p>
          </p:txBody>
        </p:sp>
        <p:sp>
          <p:nvSpPr>
            <p:cNvPr id="35" name="Google Shape;285;p33">
              <a:extLst>
                <a:ext uri="{FF2B5EF4-FFF2-40B4-BE49-F238E27FC236}">
                  <a16:creationId xmlns:a16="http://schemas.microsoft.com/office/drawing/2014/main" id="{B72FBD0A-64AB-4846-E60E-C67C79BCCE34}"/>
                </a:ext>
              </a:extLst>
            </p:cNvPr>
            <p:cNvSpPr/>
            <p:nvPr/>
          </p:nvSpPr>
          <p:spPr>
            <a:xfrm>
              <a:off x="10072500" y="4808875"/>
              <a:ext cx="1065600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Bob</a:t>
              </a:r>
              <a:endParaRPr sz="900" i="1">
                <a:solidFill>
                  <a:srgbClr val="1155CC"/>
                </a:solidFill>
              </a:endParaRPr>
            </a:p>
          </p:txBody>
        </p:sp>
        <p:sp>
          <p:nvSpPr>
            <p:cNvPr id="36" name="Google Shape;286;p33">
              <a:extLst>
                <a:ext uri="{FF2B5EF4-FFF2-40B4-BE49-F238E27FC236}">
                  <a16:creationId xmlns:a16="http://schemas.microsoft.com/office/drawing/2014/main" id="{F48772A6-C3F3-5CFC-11FF-70058B0A5FFC}"/>
                </a:ext>
              </a:extLst>
            </p:cNvPr>
            <p:cNvSpPr/>
            <p:nvPr/>
          </p:nvSpPr>
          <p:spPr>
            <a:xfrm>
              <a:off x="9856800" y="2869512"/>
              <a:ext cx="1497000" cy="393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Relay 1: </a:t>
              </a:r>
              <a:r>
                <a:rPr lang="en" i="1">
                  <a:solidFill>
                    <a:srgbClr val="CC0000"/>
                  </a:solidFill>
                </a:rPr>
                <a:t>K</a:t>
              </a:r>
              <a:r>
                <a:rPr lang="en" sz="900" i="1">
                  <a:solidFill>
                    <a:srgbClr val="CC0000"/>
                  </a:solidFill>
                </a:rPr>
                <a:t>1</a:t>
              </a:r>
              <a:endParaRPr sz="900" i="1">
                <a:solidFill>
                  <a:srgbClr val="CC0000"/>
                </a:solidFill>
              </a:endParaRPr>
            </a:p>
          </p:txBody>
        </p:sp>
        <p:sp>
          <p:nvSpPr>
            <p:cNvPr id="37" name="Google Shape;287;p33">
              <a:extLst>
                <a:ext uri="{FF2B5EF4-FFF2-40B4-BE49-F238E27FC236}">
                  <a16:creationId xmlns:a16="http://schemas.microsoft.com/office/drawing/2014/main" id="{303EE417-7EF0-70B4-DDBC-E0E4ADAC9E05}"/>
                </a:ext>
              </a:extLst>
            </p:cNvPr>
            <p:cNvSpPr/>
            <p:nvPr/>
          </p:nvSpPr>
          <p:spPr>
            <a:xfrm>
              <a:off x="9856800" y="3463262"/>
              <a:ext cx="1497000" cy="3936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Relay 2: </a:t>
              </a:r>
              <a:r>
                <a:rPr lang="en" i="1" dirty="0">
                  <a:solidFill>
                    <a:srgbClr val="BF9000"/>
                  </a:solidFill>
                </a:rPr>
                <a:t>K</a:t>
              </a:r>
              <a:r>
                <a:rPr lang="en" sz="900" i="1" dirty="0">
                  <a:solidFill>
                    <a:srgbClr val="BF9000"/>
                  </a:solidFill>
                </a:rPr>
                <a:t>2</a:t>
              </a:r>
              <a:endParaRPr sz="900" i="1" dirty="0">
                <a:solidFill>
                  <a:srgbClr val="BF9000"/>
                </a:solidFill>
              </a:endParaRPr>
            </a:p>
          </p:txBody>
        </p:sp>
        <p:sp>
          <p:nvSpPr>
            <p:cNvPr id="38" name="Google Shape;288;p33">
              <a:extLst>
                <a:ext uri="{FF2B5EF4-FFF2-40B4-BE49-F238E27FC236}">
                  <a16:creationId xmlns:a16="http://schemas.microsoft.com/office/drawing/2014/main" id="{33466695-4367-F52E-2AA0-C8E690C8E07C}"/>
                </a:ext>
              </a:extLst>
            </p:cNvPr>
            <p:cNvSpPr/>
            <p:nvPr/>
          </p:nvSpPr>
          <p:spPr>
            <a:xfrm>
              <a:off x="9856800" y="4057012"/>
              <a:ext cx="1497000" cy="3690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Relay: </a:t>
              </a:r>
              <a:r>
                <a:rPr lang="en" i="1">
                  <a:solidFill>
                    <a:srgbClr val="38761D"/>
                  </a:solidFill>
                </a:rPr>
                <a:t>K</a:t>
              </a:r>
              <a:r>
                <a:rPr lang="en" sz="900" i="1">
                  <a:solidFill>
                    <a:srgbClr val="38761D"/>
                  </a:solidFill>
                </a:rPr>
                <a:t>3</a:t>
              </a:r>
              <a:endParaRPr sz="900" i="1">
                <a:solidFill>
                  <a:srgbClr val="38761D"/>
                </a:solidFill>
              </a:endParaRPr>
            </a:p>
          </p:txBody>
        </p:sp>
        <p:cxnSp>
          <p:nvCxnSpPr>
            <p:cNvPr id="39" name="Google Shape;289;p33">
              <a:extLst>
                <a:ext uri="{FF2B5EF4-FFF2-40B4-BE49-F238E27FC236}">
                  <a16:creationId xmlns:a16="http://schemas.microsoft.com/office/drawing/2014/main" id="{2F8932FB-17FD-C4E5-9426-B111323ADBF3}"/>
                </a:ext>
              </a:extLst>
            </p:cNvPr>
            <p:cNvCxnSpPr>
              <a:stCxn id="34" idx="2"/>
              <a:endCxn id="36" idx="0"/>
            </p:cNvCxnSpPr>
            <p:nvPr/>
          </p:nvCxnSpPr>
          <p:spPr>
            <a:xfrm>
              <a:off x="10605300" y="2486625"/>
              <a:ext cx="0" cy="382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" name="Google Shape;290;p33">
              <a:extLst>
                <a:ext uri="{FF2B5EF4-FFF2-40B4-BE49-F238E27FC236}">
                  <a16:creationId xmlns:a16="http://schemas.microsoft.com/office/drawing/2014/main" id="{8C4A845E-656A-AD30-55B0-A8A3ECD6CB31}"/>
                </a:ext>
              </a:extLst>
            </p:cNvPr>
            <p:cNvCxnSpPr>
              <a:stCxn id="36" idx="2"/>
              <a:endCxn id="37" idx="0"/>
            </p:cNvCxnSpPr>
            <p:nvPr/>
          </p:nvCxnSpPr>
          <p:spPr>
            <a:xfrm>
              <a:off x="10605300" y="3263112"/>
              <a:ext cx="0" cy="200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" name="Google Shape;291;p33">
              <a:extLst>
                <a:ext uri="{FF2B5EF4-FFF2-40B4-BE49-F238E27FC236}">
                  <a16:creationId xmlns:a16="http://schemas.microsoft.com/office/drawing/2014/main" id="{19AA0214-8178-CBAC-083C-28E145EC436B}"/>
                </a:ext>
              </a:extLst>
            </p:cNvPr>
            <p:cNvCxnSpPr>
              <a:stCxn id="37" idx="2"/>
              <a:endCxn id="38" idx="0"/>
            </p:cNvCxnSpPr>
            <p:nvPr/>
          </p:nvCxnSpPr>
          <p:spPr>
            <a:xfrm>
              <a:off x="10605300" y="3856862"/>
              <a:ext cx="0" cy="200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" name="Google Shape;292;p33">
              <a:extLst>
                <a:ext uri="{FF2B5EF4-FFF2-40B4-BE49-F238E27FC236}">
                  <a16:creationId xmlns:a16="http://schemas.microsoft.com/office/drawing/2014/main" id="{D3903F72-0F1A-C4B5-DB66-E2B26B4F7A0F}"/>
                </a:ext>
              </a:extLst>
            </p:cNvPr>
            <p:cNvCxnSpPr>
              <a:stCxn id="38" idx="2"/>
              <a:endCxn id="35" idx="0"/>
            </p:cNvCxnSpPr>
            <p:nvPr/>
          </p:nvCxnSpPr>
          <p:spPr>
            <a:xfrm>
              <a:off x="10605300" y="4426012"/>
              <a:ext cx="0" cy="382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3" name="Google Shape;293;p33">
            <a:extLst>
              <a:ext uri="{FF2B5EF4-FFF2-40B4-BE49-F238E27FC236}">
                <a16:creationId xmlns:a16="http://schemas.microsoft.com/office/drawing/2014/main" id="{2320479F-623A-C4B8-C35C-B8382618122D}"/>
              </a:ext>
            </a:extLst>
          </p:cNvPr>
          <p:cNvSpPr/>
          <p:nvPr/>
        </p:nvSpPr>
        <p:spPr>
          <a:xfrm>
            <a:off x="1161874" y="3813139"/>
            <a:ext cx="3057695" cy="2673834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Relay 1</a:t>
            </a:r>
            <a:endParaRPr dirty="0"/>
          </a:p>
        </p:txBody>
      </p:sp>
      <p:sp>
        <p:nvSpPr>
          <p:cNvPr id="44" name="Google Shape;294;p33">
            <a:extLst>
              <a:ext uri="{FF2B5EF4-FFF2-40B4-BE49-F238E27FC236}">
                <a16:creationId xmlns:a16="http://schemas.microsoft.com/office/drawing/2014/main" id="{21DE2EA0-0EF8-5B9D-7819-21E32EDCFD6B}"/>
              </a:ext>
            </a:extLst>
          </p:cNvPr>
          <p:cNvSpPr/>
          <p:nvPr/>
        </p:nvSpPr>
        <p:spPr>
          <a:xfrm>
            <a:off x="1286599" y="4466973"/>
            <a:ext cx="2583669" cy="184885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Relay 2</a:t>
            </a:r>
            <a:endParaRPr dirty="0"/>
          </a:p>
        </p:txBody>
      </p:sp>
      <p:sp>
        <p:nvSpPr>
          <p:cNvPr id="45" name="Google Shape;295;p33">
            <a:extLst>
              <a:ext uri="{FF2B5EF4-FFF2-40B4-BE49-F238E27FC236}">
                <a16:creationId xmlns:a16="http://schemas.microsoft.com/office/drawing/2014/main" id="{2ACC5C9C-58E7-F387-2C95-C4345E50C590}"/>
              </a:ext>
            </a:extLst>
          </p:cNvPr>
          <p:cNvSpPr/>
          <p:nvPr/>
        </p:nvSpPr>
        <p:spPr>
          <a:xfrm>
            <a:off x="1414649" y="4934386"/>
            <a:ext cx="2138175" cy="1251362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Relay 3</a:t>
            </a:r>
            <a:endParaRPr dirty="0"/>
          </a:p>
        </p:txBody>
      </p:sp>
      <p:sp>
        <p:nvSpPr>
          <p:cNvPr id="46" name="Google Shape;296;p33">
            <a:extLst>
              <a:ext uri="{FF2B5EF4-FFF2-40B4-BE49-F238E27FC236}">
                <a16:creationId xmlns:a16="http://schemas.microsoft.com/office/drawing/2014/main" id="{3FFCD563-CC17-F507-5AC4-93530EBF3B15}"/>
              </a:ext>
            </a:extLst>
          </p:cNvPr>
          <p:cNvSpPr/>
          <p:nvPr/>
        </p:nvSpPr>
        <p:spPr>
          <a:xfrm>
            <a:off x="1510949" y="5359723"/>
            <a:ext cx="1692573" cy="7038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Bob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Hello world</a:t>
            </a:r>
            <a:endParaRPr dirty="0"/>
          </a:p>
        </p:txBody>
      </p:sp>
      <p:grpSp>
        <p:nvGrpSpPr>
          <p:cNvPr id="47" name="Google Shape;297;p33">
            <a:extLst>
              <a:ext uri="{FF2B5EF4-FFF2-40B4-BE49-F238E27FC236}">
                <a16:creationId xmlns:a16="http://schemas.microsoft.com/office/drawing/2014/main" id="{EAC945E7-8A43-662A-5419-077DC9C417DA}"/>
              </a:ext>
            </a:extLst>
          </p:cNvPr>
          <p:cNvGrpSpPr/>
          <p:nvPr/>
        </p:nvGrpSpPr>
        <p:grpSpPr>
          <a:xfrm>
            <a:off x="3584268" y="5036135"/>
            <a:ext cx="4026395" cy="730638"/>
            <a:chOff x="4617049" y="2716949"/>
            <a:chExt cx="4026395" cy="730638"/>
          </a:xfrm>
        </p:grpSpPr>
        <p:cxnSp>
          <p:nvCxnSpPr>
            <p:cNvPr id="48" name="Google Shape;298;p33">
              <a:extLst>
                <a:ext uri="{FF2B5EF4-FFF2-40B4-BE49-F238E27FC236}">
                  <a16:creationId xmlns:a16="http://schemas.microsoft.com/office/drawing/2014/main" id="{945BADB6-D9FD-2328-8136-98CC98CA428F}"/>
                </a:ext>
              </a:extLst>
            </p:cNvPr>
            <p:cNvCxnSpPr>
              <a:cxnSpLocks/>
              <a:stCxn id="49" idx="1"/>
            </p:cNvCxnSpPr>
            <p:nvPr/>
          </p:nvCxnSpPr>
          <p:spPr>
            <a:xfrm flipH="1">
              <a:off x="4617049" y="2953937"/>
              <a:ext cx="1407450" cy="493650"/>
            </a:xfrm>
            <a:prstGeom prst="straightConnector1">
              <a:avLst/>
            </a:prstGeom>
            <a:noFill/>
            <a:ln w="9525" cap="flat" cmpd="sng">
              <a:solidFill>
                <a:srgbClr val="BF9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9" name="Google Shape;299;p33">
              <a:extLst>
                <a:ext uri="{FF2B5EF4-FFF2-40B4-BE49-F238E27FC236}">
                  <a16:creationId xmlns:a16="http://schemas.microsoft.com/office/drawing/2014/main" id="{13C99066-DF78-3F52-5F2F-7C9F69A353B9}"/>
                </a:ext>
              </a:extLst>
            </p:cNvPr>
            <p:cNvSpPr/>
            <p:nvPr/>
          </p:nvSpPr>
          <p:spPr>
            <a:xfrm>
              <a:off x="6024499" y="2716949"/>
              <a:ext cx="2618945" cy="473975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Encrypted with </a:t>
              </a:r>
              <a:r>
                <a:rPr lang="en" i="1" dirty="0">
                  <a:solidFill>
                    <a:srgbClr val="BF9000"/>
                  </a:solidFill>
                </a:rPr>
                <a:t>K</a:t>
              </a:r>
              <a:r>
                <a:rPr lang="en" sz="900" i="1" dirty="0">
                  <a:solidFill>
                    <a:srgbClr val="BF9000"/>
                  </a:solidFill>
                </a:rPr>
                <a:t>2</a:t>
              </a:r>
              <a:endParaRPr sz="900" i="1" dirty="0">
                <a:solidFill>
                  <a:srgbClr val="BF9000"/>
                </a:solidFill>
              </a:endParaRPr>
            </a:p>
          </p:txBody>
        </p:sp>
      </p:grpSp>
      <p:grpSp>
        <p:nvGrpSpPr>
          <p:cNvPr id="50" name="Google Shape;300;p33">
            <a:extLst>
              <a:ext uri="{FF2B5EF4-FFF2-40B4-BE49-F238E27FC236}">
                <a16:creationId xmlns:a16="http://schemas.microsoft.com/office/drawing/2014/main" id="{C0D47881-193B-2181-0241-9A4111361D20}"/>
              </a:ext>
            </a:extLst>
          </p:cNvPr>
          <p:cNvGrpSpPr/>
          <p:nvPr/>
        </p:nvGrpSpPr>
        <p:grpSpPr>
          <a:xfrm>
            <a:off x="3902126" y="4318235"/>
            <a:ext cx="3708485" cy="1138775"/>
            <a:chOff x="4934807" y="1999049"/>
            <a:chExt cx="3708485" cy="1138775"/>
          </a:xfrm>
        </p:grpSpPr>
        <p:cxnSp>
          <p:nvCxnSpPr>
            <p:cNvPr id="51" name="Google Shape;301;p33">
              <a:extLst>
                <a:ext uri="{FF2B5EF4-FFF2-40B4-BE49-F238E27FC236}">
                  <a16:creationId xmlns:a16="http://schemas.microsoft.com/office/drawing/2014/main" id="{9F76100D-D334-51E0-4E50-8F2E0E849736}"/>
                </a:ext>
              </a:extLst>
            </p:cNvPr>
            <p:cNvCxnSpPr>
              <a:cxnSpLocks/>
              <a:stCxn id="52" idx="1"/>
            </p:cNvCxnSpPr>
            <p:nvPr/>
          </p:nvCxnSpPr>
          <p:spPr>
            <a:xfrm flipH="1">
              <a:off x="4934807" y="2236037"/>
              <a:ext cx="1089542" cy="901787"/>
            </a:xfrm>
            <a:prstGeom prst="straightConnector1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2" name="Google Shape;302;p33">
              <a:extLst>
                <a:ext uri="{FF2B5EF4-FFF2-40B4-BE49-F238E27FC236}">
                  <a16:creationId xmlns:a16="http://schemas.microsoft.com/office/drawing/2014/main" id="{48596F48-4FA3-A3B2-19F7-82842EA29F41}"/>
                </a:ext>
              </a:extLst>
            </p:cNvPr>
            <p:cNvSpPr/>
            <p:nvPr/>
          </p:nvSpPr>
          <p:spPr>
            <a:xfrm>
              <a:off x="6024349" y="1999049"/>
              <a:ext cx="2618943" cy="473975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Encrypted with </a:t>
              </a:r>
              <a:r>
                <a:rPr lang="en" i="1" dirty="0">
                  <a:solidFill>
                    <a:srgbClr val="CC0000"/>
                  </a:solidFill>
                </a:rPr>
                <a:t>K</a:t>
              </a:r>
              <a:r>
                <a:rPr lang="en" sz="900" i="1" dirty="0">
                  <a:solidFill>
                    <a:srgbClr val="CC0000"/>
                  </a:solidFill>
                </a:rPr>
                <a:t>1</a:t>
              </a:r>
              <a:endParaRPr sz="900" i="1" dirty="0">
                <a:solidFill>
                  <a:srgbClr val="CC0000"/>
                </a:solidFill>
              </a:endParaRPr>
            </a:p>
          </p:txBody>
        </p:sp>
      </p:grpSp>
      <p:grpSp>
        <p:nvGrpSpPr>
          <p:cNvPr id="53" name="Google Shape;303;p33">
            <a:extLst>
              <a:ext uri="{FF2B5EF4-FFF2-40B4-BE49-F238E27FC236}">
                <a16:creationId xmlns:a16="http://schemas.microsoft.com/office/drawing/2014/main" id="{761B9889-5DE1-A1A3-9C43-BB99E4D98416}"/>
              </a:ext>
            </a:extLst>
          </p:cNvPr>
          <p:cNvGrpSpPr/>
          <p:nvPr/>
        </p:nvGrpSpPr>
        <p:grpSpPr>
          <a:xfrm>
            <a:off x="3203522" y="5700935"/>
            <a:ext cx="4407147" cy="473975"/>
            <a:chOff x="4236153" y="3434849"/>
            <a:chExt cx="4407147" cy="473975"/>
          </a:xfrm>
        </p:grpSpPr>
        <p:cxnSp>
          <p:nvCxnSpPr>
            <p:cNvPr id="54" name="Google Shape;304;p33">
              <a:extLst>
                <a:ext uri="{FF2B5EF4-FFF2-40B4-BE49-F238E27FC236}">
                  <a16:creationId xmlns:a16="http://schemas.microsoft.com/office/drawing/2014/main" id="{F1109828-4E1F-5245-5F5E-89B4DD20C015}"/>
                </a:ext>
              </a:extLst>
            </p:cNvPr>
            <p:cNvCxnSpPr>
              <a:cxnSpLocks/>
              <a:stCxn id="55" idx="1"/>
            </p:cNvCxnSpPr>
            <p:nvPr/>
          </p:nvCxnSpPr>
          <p:spPr>
            <a:xfrm flipH="1">
              <a:off x="4236153" y="3671837"/>
              <a:ext cx="1788197" cy="19675"/>
            </a:xfrm>
            <a:prstGeom prst="straightConnector1">
              <a:avLst/>
            </a:prstGeom>
            <a:noFill/>
            <a:ln w="9525" cap="flat" cmpd="sng">
              <a:solidFill>
                <a:srgbClr val="38761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5" name="Google Shape;305;p33">
              <a:extLst>
                <a:ext uri="{FF2B5EF4-FFF2-40B4-BE49-F238E27FC236}">
                  <a16:creationId xmlns:a16="http://schemas.microsoft.com/office/drawing/2014/main" id="{7E8484F1-F6A4-9B30-C162-978B6A25AE20}"/>
                </a:ext>
              </a:extLst>
            </p:cNvPr>
            <p:cNvSpPr/>
            <p:nvPr/>
          </p:nvSpPr>
          <p:spPr>
            <a:xfrm>
              <a:off x="6024350" y="3434849"/>
              <a:ext cx="2618950" cy="473975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Encrypted with </a:t>
              </a:r>
              <a:r>
                <a:rPr lang="en" i="1" dirty="0">
                  <a:solidFill>
                    <a:srgbClr val="38761D"/>
                  </a:solidFill>
                </a:rPr>
                <a:t>K</a:t>
              </a:r>
              <a:r>
                <a:rPr lang="en" sz="900" i="1" dirty="0">
                  <a:solidFill>
                    <a:srgbClr val="38761D"/>
                  </a:solidFill>
                </a:rPr>
                <a:t>3</a:t>
              </a:r>
              <a:endParaRPr sz="900" i="1" dirty="0">
                <a:solidFill>
                  <a:srgbClr val="38761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3775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50;p32">
            <a:extLst>
              <a:ext uri="{FF2B5EF4-FFF2-40B4-BE49-F238E27FC236}">
                <a16:creationId xmlns:a16="http://schemas.microsoft.com/office/drawing/2014/main" id="{8202E76E-CE4E-E91D-BD3D-8F06F817DB48}"/>
              </a:ext>
            </a:extLst>
          </p:cNvPr>
          <p:cNvSpPr/>
          <p:nvPr/>
        </p:nvSpPr>
        <p:spPr>
          <a:xfrm>
            <a:off x="10631548" y="2782031"/>
            <a:ext cx="1444503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Bob</a:t>
            </a:r>
            <a:endParaRPr sz="2400" i="1" dirty="0">
              <a:solidFill>
                <a:srgbClr val="1155CC"/>
              </a:solidFill>
            </a:endParaRPr>
          </a:p>
        </p:txBody>
      </p:sp>
      <p:sp>
        <p:nvSpPr>
          <p:cNvPr id="11" name="Google Shape;251;p32">
            <a:extLst>
              <a:ext uri="{FF2B5EF4-FFF2-40B4-BE49-F238E27FC236}">
                <a16:creationId xmlns:a16="http://schemas.microsoft.com/office/drawing/2014/main" id="{4B192FE5-D5A2-6624-A99A-D62B6FAEE1D0}"/>
              </a:ext>
            </a:extLst>
          </p:cNvPr>
          <p:cNvSpPr/>
          <p:nvPr/>
        </p:nvSpPr>
        <p:spPr>
          <a:xfrm>
            <a:off x="3318039" y="3255911"/>
            <a:ext cx="1280160" cy="128016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Relay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CC0000"/>
                </a:solidFill>
              </a:rPr>
              <a:t>K1</a:t>
            </a:r>
            <a:endParaRPr sz="2400" i="1" dirty="0">
              <a:solidFill>
                <a:srgbClr val="CC0000"/>
              </a:solidFill>
            </a:endParaRPr>
          </a:p>
        </p:txBody>
      </p:sp>
      <p:sp>
        <p:nvSpPr>
          <p:cNvPr id="12" name="Google Shape;252;p32">
            <a:extLst>
              <a:ext uri="{FF2B5EF4-FFF2-40B4-BE49-F238E27FC236}">
                <a16:creationId xmlns:a16="http://schemas.microsoft.com/office/drawing/2014/main" id="{9C8A6383-B3D6-38CA-93F2-A6E2186DA670}"/>
              </a:ext>
            </a:extLst>
          </p:cNvPr>
          <p:cNvSpPr/>
          <p:nvPr/>
        </p:nvSpPr>
        <p:spPr>
          <a:xfrm>
            <a:off x="6526709" y="2791628"/>
            <a:ext cx="1280160" cy="128016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Relay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BF9000"/>
                </a:solidFill>
              </a:rPr>
              <a:t>K</a:t>
            </a:r>
            <a:r>
              <a:rPr lang="en" sz="2400" i="1" baseline="-25000" dirty="0">
                <a:solidFill>
                  <a:srgbClr val="BF9000"/>
                </a:solidFill>
              </a:rPr>
              <a:t>2</a:t>
            </a:r>
            <a:endParaRPr sz="2400" i="1" baseline="-25000" dirty="0">
              <a:solidFill>
                <a:srgbClr val="BF9000"/>
              </a:solidFill>
            </a:endParaRPr>
          </a:p>
        </p:txBody>
      </p:sp>
      <p:sp>
        <p:nvSpPr>
          <p:cNvPr id="13" name="Google Shape;253;p32">
            <a:extLst>
              <a:ext uri="{FF2B5EF4-FFF2-40B4-BE49-F238E27FC236}">
                <a16:creationId xmlns:a16="http://schemas.microsoft.com/office/drawing/2014/main" id="{A47D886A-ECE7-19A2-5790-3537B162CA24}"/>
              </a:ext>
            </a:extLst>
          </p:cNvPr>
          <p:cNvSpPr/>
          <p:nvPr/>
        </p:nvSpPr>
        <p:spPr>
          <a:xfrm>
            <a:off x="8631677" y="3677511"/>
            <a:ext cx="1280160" cy="128016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Relay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38761D"/>
                </a:solidFill>
              </a:rPr>
              <a:t>K</a:t>
            </a:r>
            <a:r>
              <a:rPr lang="en" sz="2400" i="1" baseline="-25000" dirty="0">
                <a:solidFill>
                  <a:srgbClr val="38761D"/>
                </a:solidFill>
              </a:rPr>
              <a:t>3</a:t>
            </a:r>
            <a:endParaRPr sz="2400" i="1" baseline="-25000" dirty="0">
              <a:solidFill>
                <a:srgbClr val="38761D"/>
              </a:solidFill>
            </a:endParaRPr>
          </a:p>
        </p:txBody>
      </p:sp>
      <p:grpSp>
        <p:nvGrpSpPr>
          <p:cNvPr id="14" name="Google Shape;254;p32">
            <a:extLst>
              <a:ext uri="{FF2B5EF4-FFF2-40B4-BE49-F238E27FC236}">
                <a16:creationId xmlns:a16="http://schemas.microsoft.com/office/drawing/2014/main" id="{CC9A4A92-5EA4-8E3B-98DB-3ACF7F88C46F}"/>
              </a:ext>
            </a:extLst>
          </p:cNvPr>
          <p:cNvGrpSpPr/>
          <p:nvPr/>
        </p:nvGrpSpPr>
        <p:grpSpPr>
          <a:xfrm>
            <a:off x="1143000" y="2875916"/>
            <a:ext cx="2194549" cy="1242414"/>
            <a:chOff x="718625" y="2758900"/>
            <a:chExt cx="1577700" cy="636000"/>
          </a:xfrm>
        </p:grpSpPr>
        <p:cxnSp>
          <p:nvCxnSpPr>
            <p:cNvPr id="15" name="Google Shape;255;p32">
              <a:extLst>
                <a:ext uri="{FF2B5EF4-FFF2-40B4-BE49-F238E27FC236}">
                  <a16:creationId xmlns:a16="http://schemas.microsoft.com/office/drawing/2014/main" id="{457823C9-6AAE-CC2A-E60F-7B7784C7C672}"/>
                </a:ext>
              </a:extLst>
            </p:cNvPr>
            <p:cNvCxnSpPr/>
            <p:nvPr/>
          </p:nvCxnSpPr>
          <p:spPr>
            <a:xfrm>
              <a:off x="718625" y="2882800"/>
              <a:ext cx="1577700" cy="5121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256;p32">
              <a:extLst>
                <a:ext uri="{FF2B5EF4-FFF2-40B4-BE49-F238E27FC236}">
                  <a16:creationId xmlns:a16="http://schemas.microsoft.com/office/drawing/2014/main" id="{4388184F-F9D4-23FE-AE12-01F0E73B735B}"/>
                </a:ext>
              </a:extLst>
            </p:cNvPr>
            <p:cNvCxnSpPr/>
            <p:nvPr/>
          </p:nvCxnSpPr>
          <p:spPr>
            <a:xfrm>
              <a:off x="1519875" y="2758900"/>
              <a:ext cx="768300" cy="2478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" name="Google Shape;257;p32">
            <a:extLst>
              <a:ext uri="{FF2B5EF4-FFF2-40B4-BE49-F238E27FC236}">
                <a16:creationId xmlns:a16="http://schemas.microsoft.com/office/drawing/2014/main" id="{E94926D6-B437-AEED-EE9A-137F87DBF28D}"/>
              </a:ext>
            </a:extLst>
          </p:cNvPr>
          <p:cNvGrpSpPr/>
          <p:nvPr/>
        </p:nvGrpSpPr>
        <p:grpSpPr>
          <a:xfrm>
            <a:off x="1619250" y="2996458"/>
            <a:ext cx="4907459" cy="1360018"/>
            <a:chOff x="883825" y="2750625"/>
            <a:chExt cx="3122350" cy="662575"/>
          </a:xfrm>
        </p:grpSpPr>
        <p:sp>
          <p:nvSpPr>
            <p:cNvPr id="18" name="Google Shape;258;p32">
              <a:extLst>
                <a:ext uri="{FF2B5EF4-FFF2-40B4-BE49-F238E27FC236}">
                  <a16:creationId xmlns:a16="http://schemas.microsoft.com/office/drawing/2014/main" id="{A67FE982-C2A5-8E6C-80D8-82C032E1FB6E}"/>
                </a:ext>
              </a:extLst>
            </p:cNvPr>
            <p:cNvSpPr/>
            <p:nvPr/>
          </p:nvSpPr>
          <p:spPr>
            <a:xfrm>
              <a:off x="1495100" y="2750625"/>
              <a:ext cx="2502825" cy="355650"/>
            </a:xfrm>
            <a:custGeom>
              <a:avLst/>
              <a:gdLst/>
              <a:ahLst/>
              <a:cxnLst/>
              <a:rect l="l" t="t" r="r" b="b"/>
              <a:pathLst>
                <a:path w="100113" h="14226" extrusionOk="0">
                  <a:moveTo>
                    <a:pt x="0" y="2974"/>
                  </a:moveTo>
                  <a:cubicBezTo>
                    <a:pt x="7875" y="4846"/>
                    <a:pt x="30563" y="14704"/>
                    <a:pt x="47248" y="14208"/>
                  </a:cubicBezTo>
                  <a:cubicBezTo>
                    <a:pt x="63934" y="13712"/>
                    <a:pt x="91302" y="2368"/>
                    <a:pt x="100113" y="0"/>
                  </a:cubicBezTo>
                </a:path>
              </a:pathLst>
            </a:cu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Google Shape;259;p32">
              <a:extLst>
                <a:ext uri="{FF2B5EF4-FFF2-40B4-BE49-F238E27FC236}">
                  <a16:creationId xmlns:a16="http://schemas.microsoft.com/office/drawing/2014/main" id="{E1FDE46F-6A3B-3806-4690-F0F9F8F9E372}"/>
                </a:ext>
              </a:extLst>
            </p:cNvPr>
            <p:cNvSpPr/>
            <p:nvPr/>
          </p:nvSpPr>
          <p:spPr>
            <a:xfrm>
              <a:off x="883825" y="2866275"/>
              <a:ext cx="3122350" cy="546925"/>
            </a:xfrm>
            <a:custGeom>
              <a:avLst/>
              <a:gdLst/>
              <a:ahLst/>
              <a:cxnLst/>
              <a:rect l="l" t="t" r="r" b="b"/>
              <a:pathLst>
                <a:path w="124894" h="21877" extrusionOk="0">
                  <a:moveTo>
                    <a:pt x="0" y="0"/>
                  </a:moveTo>
                  <a:cubicBezTo>
                    <a:pt x="12445" y="3635"/>
                    <a:pt x="53856" y="20651"/>
                    <a:pt x="74672" y="21807"/>
                  </a:cubicBezTo>
                  <a:cubicBezTo>
                    <a:pt x="95488" y="22964"/>
                    <a:pt x="116524" y="9417"/>
                    <a:pt x="124894" y="6939"/>
                  </a:cubicBezTo>
                </a:path>
              </a:pathLst>
            </a:cu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oogle Shape;260;p32">
            <a:extLst>
              <a:ext uri="{FF2B5EF4-FFF2-40B4-BE49-F238E27FC236}">
                <a16:creationId xmlns:a16="http://schemas.microsoft.com/office/drawing/2014/main" id="{1AD0B768-2B78-CD64-BB3E-8EDE8D6FB36D}"/>
              </a:ext>
            </a:extLst>
          </p:cNvPr>
          <p:cNvGrpSpPr/>
          <p:nvPr/>
        </p:nvGrpSpPr>
        <p:grpSpPr>
          <a:xfrm>
            <a:off x="2199370" y="3224343"/>
            <a:ext cx="6432307" cy="1241721"/>
            <a:chOff x="1065550" y="2748687"/>
            <a:chExt cx="4501800" cy="918813"/>
          </a:xfrm>
        </p:grpSpPr>
        <p:sp>
          <p:nvSpPr>
            <p:cNvPr id="21" name="Google Shape;261;p32">
              <a:extLst>
                <a:ext uri="{FF2B5EF4-FFF2-40B4-BE49-F238E27FC236}">
                  <a16:creationId xmlns:a16="http://schemas.microsoft.com/office/drawing/2014/main" id="{54ECACD1-42A4-6D86-3081-46554364FFD4}"/>
                </a:ext>
              </a:extLst>
            </p:cNvPr>
            <p:cNvSpPr/>
            <p:nvPr/>
          </p:nvSpPr>
          <p:spPr>
            <a:xfrm>
              <a:off x="1495100" y="2748687"/>
              <a:ext cx="4055725" cy="629725"/>
            </a:xfrm>
            <a:custGeom>
              <a:avLst/>
              <a:gdLst/>
              <a:ahLst/>
              <a:cxnLst/>
              <a:rect l="l" t="t" r="r" b="b"/>
              <a:pathLst>
                <a:path w="162229" h="25189" extrusionOk="0">
                  <a:moveTo>
                    <a:pt x="0" y="5034"/>
                  </a:moveTo>
                  <a:cubicBezTo>
                    <a:pt x="8480" y="7017"/>
                    <a:pt x="31719" y="17755"/>
                    <a:pt x="50882" y="16929"/>
                  </a:cubicBezTo>
                  <a:cubicBezTo>
                    <a:pt x="70046" y="16103"/>
                    <a:pt x="96423" y="-1299"/>
                    <a:pt x="114981" y="78"/>
                  </a:cubicBezTo>
                  <a:cubicBezTo>
                    <a:pt x="133539" y="1455"/>
                    <a:pt x="154354" y="21004"/>
                    <a:pt x="162229" y="25189"/>
                  </a:cubicBezTo>
                </a:path>
              </a:pathLst>
            </a:cu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Google Shape;262;p32">
              <a:extLst>
                <a:ext uri="{FF2B5EF4-FFF2-40B4-BE49-F238E27FC236}">
                  <a16:creationId xmlns:a16="http://schemas.microsoft.com/office/drawing/2014/main" id="{32749862-8C81-629A-6C89-B9D0AC7CBFEF}"/>
                </a:ext>
              </a:extLst>
            </p:cNvPr>
            <p:cNvSpPr/>
            <p:nvPr/>
          </p:nvSpPr>
          <p:spPr>
            <a:xfrm>
              <a:off x="1065550" y="2882800"/>
              <a:ext cx="4501800" cy="784700"/>
            </a:xfrm>
            <a:custGeom>
              <a:avLst/>
              <a:gdLst/>
              <a:ahLst/>
              <a:cxnLst/>
              <a:rect l="l" t="t" r="r" b="b"/>
              <a:pathLst>
                <a:path w="180072" h="31388" extrusionOk="0">
                  <a:moveTo>
                    <a:pt x="0" y="0"/>
                  </a:moveTo>
                  <a:cubicBezTo>
                    <a:pt x="11619" y="3139"/>
                    <a:pt x="48074" y="18227"/>
                    <a:pt x="69716" y="18833"/>
                  </a:cubicBezTo>
                  <a:cubicBezTo>
                    <a:pt x="91358" y="19439"/>
                    <a:pt x="111457" y="1542"/>
                    <a:pt x="129850" y="3634"/>
                  </a:cubicBezTo>
                  <a:cubicBezTo>
                    <a:pt x="148243" y="5727"/>
                    <a:pt x="171702" y="26762"/>
                    <a:pt x="180072" y="31388"/>
                  </a:cubicBezTo>
                </a:path>
              </a:pathLst>
            </a:cu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Google Shape;263;p32">
            <a:extLst>
              <a:ext uri="{FF2B5EF4-FFF2-40B4-BE49-F238E27FC236}">
                <a16:creationId xmlns:a16="http://schemas.microsoft.com/office/drawing/2014/main" id="{77C96C9E-BEBF-36A1-F1DD-FD55A7ED0A9C}"/>
              </a:ext>
            </a:extLst>
          </p:cNvPr>
          <p:cNvSpPr/>
          <p:nvPr/>
        </p:nvSpPr>
        <p:spPr>
          <a:xfrm>
            <a:off x="2406608" y="3245971"/>
            <a:ext cx="9023392" cy="1094642"/>
          </a:xfrm>
          <a:custGeom>
            <a:avLst/>
            <a:gdLst/>
            <a:ahLst/>
            <a:cxnLst/>
            <a:rect l="l" t="t" r="r" b="b"/>
            <a:pathLst>
              <a:path w="241527" h="32390" extrusionOk="0">
                <a:moveTo>
                  <a:pt x="0" y="3634"/>
                </a:moveTo>
                <a:cubicBezTo>
                  <a:pt x="9747" y="6332"/>
                  <a:pt x="37997" y="19824"/>
                  <a:pt x="58482" y="19824"/>
                </a:cubicBezTo>
                <a:cubicBezTo>
                  <a:pt x="78967" y="19824"/>
                  <a:pt x="101820" y="1541"/>
                  <a:pt x="122911" y="3634"/>
                </a:cubicBezTo>
                <a:cubicBezTo>
                  <a:pt x="144002" y="5727"/>
                  <a:pt x="165259" y="32986"/>
                  <a:pt x="185028" y="32380"/>
                </a:cubicBezTo>
                <a:cubicBezTo>
                  <a:pt x="204797" y="31774"/>
                  <a:pt x="232111" y="5397"/>
                  <a:pt x="241527" y="0"/>
                </a:cubicBezTo>
              </a:path>
            </a:pathLst>
          </a:custGeom>
          <a:noFill/>
          <a:ln w="38100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oogle Shape;264;p32">
            <a:extLst>
              <a:ext uri="{FF2B5EF4-FFF2-40B4-BE49-F238E27FC236}">
                <a16:creationId xmlns:a16="http://schemas.microsoft.com/office/drawing/2014/main" id="{21ADF50D-6D38-082A-ADF4-E27E97A12F8C}"/>
              </a:ext>
            </a:extLst>
          </p:cNvPr>
          <p:cNvSpPr/>
          <p:nvPr/>
        </p:nvSpPr>
        <p:spPr>
          <a:xfrm>
            <a:off x="200052" y="3861542"/>
            <a:ext cx="2114755" cy="2397061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Relay 1</a:t>
            </a:r>
            <a:endParaRPr dirty="0"/>
          </a:p>
        </p:txBody>
      </p:sp>
      <p:sp>
        <p:nvSpPr>
          <p:cNvPr id="25" name="Google Shape;265;p32">
            <a:extLst>
              <a:ext uri="{FF2B5EF4-FFF2-40B4-BE49-F238E27FC236}">
                <a16:creationId xmlns:a16="http://schemas.microsoft.com/office/drawing/2014/main" id="{8F8CD45C-4F0C-130C-A25E-05727BF037D0}"/>
              </a:ext>
            </a:extLst>
          </p:cNvPr>
          <p:cNvSpPr/>
          <p:nvPr/>
        </p:nvSpPr>
        <p:spPr>
          <a:xfrm>
            <a:off x="270252" y="4258826"/>
            <a:ext cx="1929118" cy="190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Relay 2</a:t>
            </a:r>
            <a:endParaRPr dirty="0"/>
          </a:p>
        </p:txBody>
      </p:sp>
      <p:sp>
        <p:nvSpPr>
          <p:cNvPr id="26" name="Google Shape;266;p32">
            <a:extLst>
              <a:ext uri="{FF2B5EF4-FFF2-40B4-BE49-F238E27FC236}">
                <a16:creationId xmlns:a16="http://schemas.microsoft.com/office/drawing/2014/main" id="{F9EE7A6C-7EA2-3D66-C498-0B432640D948}"/>
              </a:ext>
            </a:extLst>
          </p:cNvPr>
          <p:cNvSpPr/>
          <p:nvPr/>
        </p:nvSpPr>
        <p:spPr>
          <a:xfrm>
            <a:off x="340451" y="4726531"/>
            <a:ext cx="1696993" cy="1322993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Relay 3</a:t>
            </a:r>
            <a:endParaRPr dirty="0"/>
          </a:p>
        </p:txBody>
      </p:sp>
      <p:sp>
        <p:nvSpPr>
          <p:cNvPr id="27" name="Google Shape;267;p32">
            <a:extLst>
              <a:ext uri="{FF2B5EF4-FFF2-40B4-BE49-F238E27FC236}">
                <a16:creationId xmlns:a16="http://schemas.microsoft.com/office/drawing/2014/main" id="{9ADE400C-6545-AF9B-D022-0B9A09CC9858}"/>
              </a:ext>
            </a:extLst>
          </p:cNvPr>
          <p:cNvSpPr/>
          <p:nvPr/>
        </p:nvSpPr>
        <p:spPr>
          <a:xfrm>
            <a:off x="460450" y="5191094"/>
            <a:ext cx="1456993" cy="743266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Bob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Hello world</a:t>
            </a:r>
            <a:endParaRPr dirty="0"/>
          </a:p>
        </p:txBody>
      </p:sp>
      <p:sp>
        <p:nvSpPr>
          <p:cNvPr id="28" name="Google Shape;268;p32">
            <a:extLst>
              <a:ext uri="{FF2B5EF4-FFF2-40B4-BE49-F238E27FC236}">
                <a16:creationId xmlns:a16="http://schemas.microsoft.com/office/drawing/2014/main" id="{6F536C36-D2F0-D687-794E-CE4110B01233}"/>
              </a:ext>
            </a:extLst>
          </p:cNvPr>
          <p:cNvSpPr/>
          <p:nvPr/>
        </p:nvSpPr>
        <p:spPr>
          <a:xfrm>
            <a:off x="1744674" y="1563494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BBF0CB76-12E0-6B38-890B-82B526E6A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347"/>
            <a:ext cx="10515600" cy="854075"/>
          </a:xfrm>
        </p:spPr>
        <p:txBody>
          <a:bodyPr/>
          <a:lstStyle/>
          <a:p>
            <a:r>
              <a:rPr lang="en" dirty="0"/>
              <a:t>Tor Circuits</a:t>
            </a:r>
            <a:endParaRPr lang="en-US" dirty="0"/>
          </a:p>
        </p:txBody>
      </p:sp>
      <p:sp>
        <p:nvSpPr>
          <p:cNvPr id="32" name="Google Shape;268;p32">
            <a:extLst>
              <a:ext uri="{FF2B5EF4-FFF2-40B4-BE49-F238E27FC236}">
                <a16:creationId xmlns:a16="http://schemas.microsoft.com/office/drawing/2014/main" id="{09551FF1-72BC-4145-27D3-7FC3C342F814}"/>
              </a:ext>
            </a:extLst>
          </p:cNvPr>
          <p:cNvSpPr/>
          <p:nvPr/>
        </p:nvSpPr>
        <p:spPr>
          <a:xfrm>
            <a:off x="3528797" y="1825013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3" name="Google Shape;268;p32">
            <a:extLst>
              <a:ext uri="{FF2B5EF4-FFF2-40B4-BE49-F238E27FC236}">
                <a16:creationId xmlns:a16="http://schemas.microsoft.com/office/drawing/2014/main" id="{0D5B2AE6-F2F0-B064-20DE-E3997F4B6955}"/>
              </a:ext>
            </a:extLst>
          </p:cNvPr>
          <p:cNvSpPr/>
          <p:nvPr/>
        </p:nvSpPr>
        <p:spPr>
          <a:xfrm>
            <a:off x="5180919" y="2218775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4" name="Google Shape;268;p32">
            <a:extLst>
              <a:ext uri="{FF2B5EF4-FFF2-40B4-BE49-F238E27FC236}">
                <a16:creationId xmlns:a16="http://schemas.microsoft.com/office/drawing/2014/main" id="{99A0A6D7-CDD2-BBC8-1B29-033A3960CB97}"/>
              </a:ext>
            </a:extLst>
          </p:cNvPr>
          <p:cNvSpPr/>
          <p:nvPr/>
        </p:nvSpPr>
        <p:spPr>
          <a:xfrm>
            <a:off x="5611628" y="995372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5" name="Google Shape;268;p32">
            <a:extLst>
              <a:ext uri="{FF2B5EF4-FFF2-40B4-BE49-F238E27FC236}">
                <a16:creationId xmlns:a16="http://schemas.microsoft.com/office/drawing/2014/main" id="{3160F74C-D5E3-89F1-E7B7-AD6B19026D83}"/>
              </a:ext>
            </a:extLst>
          </p:cNvPr>
          <p:cNvSpPr/>
          <p:nvPr/>
        </p:nvSpPr>
        <p:spPr>
          <a:xfrm>
            <a:off x="7667606" y="2185664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6" name="Google Shape;268;p32">
            <a:extLst>
              <a:ext uri="{FF2B5EF4-FFF2-40B4-BE49-F238E27FC236}">
                <a16:creationId xmlns:a16="http://schemas.microsoft.com/office/drawing/2014/main" id="{CAA08535-62EA-3E27-6FF2-7E7EF7B4DF83}"/>
              </a:ext>
            </a:extLst>
          </p:cNvPr>
          <p:cNvSpPr/>
          <p:nvPr/>
        </p:nvSpPr>
        <p:spPr>
          <a:xfrm>
            <a:off x="8482714" y="1348002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4" name="Google Shape;244;p32">
            <a:extLst>
              <a:ext uri="{FF2B5EF4-FFF2-40B4-BE49-F238E27FC236}">
                <a16:creationId xmlns:a16="http://schemas.microsoft.com/office/drawing/2014/main" id="{291C04C8-3428-A6BB-FDBD-2BD8006276FB}"/>
              </a:ext>
            </a:extLst>
          </p:cNvPr>
          <p:cNvSpPr/>
          <p:nvPr/>
        </p:nvSpPr>
        <p:spPr>
          <a:xfrm>
            <a:off x="807631" y="2496457"/>
            <a:ext cx="1685675" cy="778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Alice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CC0000"/>
                </a:solidFill>
              </a:rPr>
              <a:t>K</a:t>
            </a:r>
            <a:r>
              <a:rPr lang="en" sz="2400" i="1" baseline="-25000" dirty="0">
                <a:solidFill>
                  <a:srgbClr val="CC0000"/>
                </a:solidFill>
              </a:rPr>
              <a:t>1</a:t>
            </a:r>
            <a:r>
              <a:rPr lang="en" sz="2400" i="1" dirty="0"/>
              <a:t>, </a:t>
            </a:r>
            <a:r>
              <a:rPr lang="en" sz="2400" i="1" dirty="0">
                <a:solidFill>
                  <a:srgbClr val="BF9000"/>
                </a:solidFill>
              </a:rPr>
              <a:t>K</a:t>
            </a:r>
            <a:r>
              <a:rPr lang="en" sz="2400" i="1" baseline="-25000" dirty="0">
                <a:solidFill>
                  <a:srgbClr val="BF9000"/>
                </a:solidFill>
              </a:rPr>
              <a:t>2</a:t>
            </a:r>
            <a:r>
              <a:rPr lang="en" sz="2400" i="1" dirty="0"/>
              <a:t>, </a:t>
            </a:r>
            <a:r>
              <a:rPr lang="en" sz="2400" i="1" dirty="0">
                <a:solidFill>
                  <a:srgbClr val="38761D"/>
                </a:solidFill>
              </a:rPr>
              <a:t>K</a:t>
            </a:r>
            <a:r>
              <a:rPr lang="en" sz="2400" i="1" baseline="-25000" dirty="0">
                <a:solidFill>
                  <a:srgbClr val="38761D"/>
                </a:solidFill>
              </a:rPr>
              <a:t>3</a:t>
            </a:r>
            <a:endParaRPr sz="2400" i="1" baseline="-25000" dirty="0">
              <a:solidFill>
                <a:srgbClr val="38761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99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1B83B-D628-9C27-F363-B84B95AF9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50;p32">
            <a:extLst>
              <a:ext uri="{FF2B5EF4-FFF2-40B4-BE49-F238E27FC236}">
                <a16:creationId xmlns:a16="http://schemas.microsoft.com/office/drawing/2014/main" id="{2A05D5EB-6FC5-0745-9529-8F545DF633E1}"/>
              </a:ext>
            </a:extLst>
          </p:cNvPr>
          <p:cNvSpPr/>
          <p:nvPr/>
        </p:nvSpPr>
        <p:spPr>
          <a:xfrm>
            <a:off x="10631548" y="2782031"/>
            <a:ext cx="1444503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Bob</a:t>
            </a:r>
            <a:endParaRPr sz="2400" i="1" dirty="0">
              <a:solidFill>
                <a:srgbClr val="1155CC"/>
              </a:solidFill>
            </a:endParaRPr>
          </a:p>
        </p:txBody>
      </p:sp>
      <p:sp>
        <p:nvSpPr>
          <p:cNvPr id="11" name="Google Shape;251;p32">
            <a:extLst>
              <a:ext uri="{FF2B5EF4-FFF2-40B4-BE49-F238E27FC236}">
                <a16:creationId xmlns:a16="http://schemas.microsoft.com/office/drawing/2014/main" id="{81EDFE9D-BE5E-C132-2A08-4587B0D345EB}"/>
              </a:ext>
            </a:extLst>
          </p:cNvPr>
          <p:cNvSpPr/>
          <p:nvPr/>
        </p:nvSpPr>
        <p:spPr>
          <a:xfrm>
            <a:off x="3318039" y="3255911"/>
            <a:ext cx="1280160" cy="128016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Relay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CC0000"/>
                </a:solidFill>
              </a:rPr>
              <a:t>K1</a:t>
            </a:r>
            <a:endParaRPr sz="2400" i="1" dirty="0">
              <a:solidFill>
                <a:srgbClr val="CC0000"/>
              </a:solidFill>
            </a:endParaRPr>
          </a:p>
        </p:txBody>
      </p:sp>
      <p:sp>
        <p:nvSpPr>
          <p:cNvPr id="12" name="Google Shape;252;p32">
            <a:extLst>
              <a:ext uri="{FF2B5EF4-FFF2-40B4-BE49-F238E27FC236}">
                <a16:creationId xmlns:a16="http://schemas.microsoft.com/office/drawing/2014/main" id="{364D5FE0-F7C1-9DA6-167B-9A37953E8151}"/>
              </a:ext>
            </a:extLst>
          </p:cNvPr>
          <p:cNvSpPr/>
          <p:nvPr/>
        </p:nvSpPr>
        <p:spPr>
          <a:xfrm>
            <a:off x="6526709" y="2791628"/>
            <a:ext cx="1280160" cy="128016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Relay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BF9000"/>
                </a:solidFill>
              </a:rPr>
              <a:t>K</a:t>
            </a:r>
            <a:r>
              <a:rPr lang="en" sz="2400" i="1" baseline="-25000" dirty="0">
                <a:solidFill>
                  <a:srgbClr val="BF9000"/>
                </a:solidFill>
              </a:rPr>
              <a:t>2</a:t>
            </a:r>
            <a:endParaRPr sz="2400" i="1" baseline="-25000" dirty="0">
              <a:solidFill>
                <a:srgbClr val="BF9000"/>
              </a:solidFill>
            </a:endParaRPr>
          </a:p>
        </p:txBody>
      </p:sp>
      <p:sp>
        <p:nvSpPr>
          <p:cNvPr id="13" name="Google Shape;253;p32">
            <a:extLst>
              <a:ext uri="{FF2B5EF4-FFF2-40B4-BE49-F238E27FC236}">
                <a16:creationId xmlns:a16="http://schemas.microsoft.com/office/drawing/2014/main" id="{83A95C68-986B-4160-6711-CE7787A12D87}"/>
              </a:ext>
            </a:extLst>
          </p:cNvPr>
          <p:cNvSpPr/>
          <p:nvPr/>
        </p:nvSpPr>
        <p:spPr>
          <a:xfrm>
            <a:off x="8631677" y="3677511"/>
            <a:ext cx="1280160" cy="128016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Relay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38761D"/>
                </a:solidFill>
              </a:rPr>
              <a:t>K</a:t>
            </a:r>
            <a:r>
              <a:rPr lang="en" sz="2400" i="1" baseline="-25000" dirty="0">
                <a:solidFill>
                  <a:srgbClr val="38761D"/>
                </a:solidFill>
              </a:rPr>
              <a:t>3</a:t>
            </a:r>
            <a:endParaRPr sz="2400" i="1" baseline="-25000" dirty="0">
              <a:solidFill>
                <a:srgbClr val="38761D"/>
              </a:solidFill>
            </a:endParaRPr>
          </a:p>
        </p:txBody>
      </p:sp>
      <p:grpSp>
        <p:nvGrpSpPr>
          <p:cNvPr id="14" name="Google Shape;254;p32">
            <a:extLst>
              <a:ext uri="{FF2B5EF4-FFF2-40B4-BE49-F238E27FC236}">
                <a16:creationId xmlns:a16="http://schemas.microsoft.com/office/drawing/2014/main" id="{4DF3CAA9-AEA7-EF06-DB72-206705899DAB}"/>
              </a:ext>
            </a:extLst>
          </p:cNvPr>
          <p:cNvGrpSpPr/>
          <p:nvPr/>
        </p:nvGrpSpPr>
        <p:grpSpPr>
          <a:xfrm>
            <a:off x="1143000" y="2875916"/>
            <a:ext cx="2194549" cy="1242414"/>
            <a:chOff x="718625" y="2758900"/>
            <a:chExt cx="1577700" cy="636000"/>
          </a:xfrm>
        </p:grpSpPr>
        <p:cxnSp>
          <p:nvCxnSpPr>
            <p:cNvPr id="15" name="Google Shape;255;p32">
              <a:extLst>
                <a:ext uri="{FF2B5EF4-FFF2-40B4-BE49-F238E27FC236}">
                  <a16:creationId xmlns:a16="http://schemas.microsoft.com/office/drawing/2014/main" id="{4A2B713F-0447-8368-BCA9-D2D6F8A2A026}"/>
                </a:ext>
              </a:extLst>
            </p:cNvPr>
            <p:cNvCxnSpPr/>
            <p:nvPr/>
          </p:nvCxnSpPr>
          <p:spPr>
            <a:xfrm>
              <a:off x="718625" y="2882800"/>
              <a:ext cx="1577700" cy="5121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256;p32">
              <a:extLst>
                <a:ext uri="{FF2B5EF4-FFF2-40B4-BE49-F238E27FC236}">
                  <a16:creationId xmlns:a16="http://schemas.microsoft.com/office/drawing/2014/main" id="{E9588EE3-4DE2-5EE8-9B04-15183FC2A927}"/>
                </a:ext>
              </a:extLst>
            </p:cNvPr>
            <p:cNvCxnSpPr/>
            <p:nvPr/>
          </p:nvCxnSpPr>
          <p:spPr>
            <a:xfrm>
              <a:off x="1519875" y="2758900"/>
              <a:ext cx="768300" cy="2478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" name="Google Shape;257;p32">
            <a:extLst>
              <a:ext uri="{FF2B5EF4-FFF2-40B4-BE49-F238E27FC236}">
                <a16:creationId xmlns:a16="http://schemas.microsoft.com/office/drawing/2014/main" id="{941CBFE3-DE4D-69B9-AF3B-92BCB68E1A75}"/>
              </a:ext>
            </a:extLst>
          </p:cNvPr>
          <p:cNvGrpSpPr/>
          <p:nvPr/>
        </p:nvGrpSpPr>
        <p:grpSpPr>
          <a:xfrm>
            <a:off x="1619250" y="2996458"/>
            <a:ext cx="4907459" cy="1360018"/>
            <a:chOff x="883825" y="2750625"/>
            <a:chExt cx="3122350" cy="662575"/>
          </a:xfrm>
        </p:grpSpPr>
        <p:sp>
          <p:nvSpPr>
            <p:cNvPr id="18" name="Google Shape;258;p32">
              <a:extLst>
                <a:ext uri="{FF2B5EF4-FFF2-40B4-BE49-F238E27FC236}">
                  <a16:creationId xmlns:a16="http://schemas.microsoft.com/office/drawing/2014/main" id="{7AAFF111-2742-FA9A-AF0B-16D39A110400}"/>
                </a:ext>
              </a:extLst>
            </p:cNvPr>
            <p:cNvSpPr/>
            <p:nvPr/>
          </p:nvSpPr>
          <p:spPr>
            <a:xfrm>
              <a:off x="1495100" y="2750625"/>
              <a:ext cx="2502825" cy="355650"/>
            </a:xfrm>
            <a:custGeom>
              <a:avLst/>
              <a:gdLst/>
              <a:ahLst/>
              <a:cxnLst/>
              <a:rect l="l" t="t" r="r" b="b"/>
              <a:pathLst>
                <a:path w="100113" h="14226" extrusionOk="0">
                  <a:moveTo>
                    <a:pt x="0" y="2974"/>
                  </a:moveTo>
                  <a:cubicBezTo>
                    <a:pt x="7875" y="4846"/>
                    <a:pt x="30563" y="14704"/>
                    <a:pt x="47248" y="14208"/>
                  </a:cubicBezTo>
                  <a:cubicBezTo>
                    <a:pt x="63934" y="13712"/>
                    <a:pt x="91302" y="2368"/>
                    <a:pt x="100113" y="0"/>
                  </a:cubicBezTo>
                </a:path>
              </a:pathLst>
            </a:cu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Google Shape;259;p32">
              <a:extLst>
                <a:ext uri="{FF2B5EF4-FFF2-40B4-BE49-F238E27FC236}">
                  <a16:creationId xmlns:a16="http://schemas.microsoft.com/office/drawing/2014/main" id="{9399F740-5809-11F4-BC44-F2E780EC56E7}"/>
                </a:ext>
              </a:extLst>
            </p:cNvPr>
            <p:cNvSpPr/>
            <p:nvPr/>
          </p:nvSpPr>
          <p:spPr>
            <a:xfrm>
              <a:off x="883825" y="2866275"/>
              <a:ext cx="3122350" cy="546925"/>
            </a:xfrm>
            <a:custGeom>
              <a:avLst/>
              <a:gdLst/>
              <a:ahLst/>
              <a:cxnLst/>
              <a:rect l="l" t="t" r="r" b="b"/>
              <a:pathLst>
                <a:path w="124894" h="21877" extrusionOk="0">
                  <a:moveTo>
                    <a:pt x="0" y="0"/>
                  </a:moveTo>
                  <a:cubicBezTo>
                    <a:pt x="12445" y="3635"/>
                    <a:pt x="53856" y="20651"/>
                    <a:pt x="74672" y="21807"/>
                  </a:cubicBezTo>
                  <a:cubicBezTo>
                    <a:pt x="95488" y="22964"/>
                    <a:pt x="116524" y="9417"/>
                    <a:pt x="124894" y="6939"/>
                  </a:cubicBezTo>
                </a:path>
              </a:pathLst>
            </a:cu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oogle Shape;260;p32">
            <a:extLst>
              <a:ext uri="{FF2B5EF4-FFF2-40B4-BE49-F238E27FC236}">
                <a16:creationId xmlns:a16="http://schemas.microsoft.com/office/drawing/2014/main" id="{D1A1F691-BEF4-CB1C-CFAA-F4B0E8E6E7C4}"/>
              </a:ext>
            </a:extLst>
          </p:cNvPr>
          <p:cNvGrpSpPr/>
          <p:nvPr/>
        </p:nvGrpSpPr>
        <p:grpSpPr>
          <a:xfrm>
            <a:off x="2199370" y="3224343"/>
            <a:ext cx="6432307" cy="1241721"/>
            <a:chOff x="1065550" y="2748687"/>
            <a:chExt cx="4501800" cy="918813"/>
          </a:xfrm>
        </p:grpSpPr>
        <p:sp>
          <p:nvSpPr>
            <p:cNvPr id="21" name="Google Shape;261;p32">
              <a:extLst>
                <a:ext uri="{FF2B5EF4-FFF2-40B4-BE49-F238E27FC236}">
                  <a16:creationId xmlns:a16="http://schemas.microsoft.com/office/drawing/2014/main" id="{E5287D5F-9C9D-2C73-33E1-DA06AE183A0A}"/>
                </a:ext>
              </a:extLst>
            </p:cNvPr>
            <p:cNvSpPr/>
            <p:nvPr/>
          </p:nvSpPr>
          <p:spPr>
            <a:xfrm>
              <a:off x="1495100" y="2748687"/>
              <a:ext cx="4055725" cy="629725"/>
            </a:xfrm>
            <a:custGeom>
              <a:avLst/>
              <a:gdLst/>
              <a:ahLst/>
              <a:cxnLst/>
              <a:rect l="l" t="t" r="r" b="b"/>
              <a:pathLst>
                <a:path w="162229" h="25189" extrusionOk="0">
                  <a:moveTo>
                    <a:pt x="0" y="5034"/>
                  </a:moveTo>
                  <a:cubicBezTo>
                    <a:pt x="8480" y="7017"/>
                    <a:pt x="31719" y="17755"/>
                    <a:pt x="50882" y="16929"/>
                  </a:cubicBezTo>
                  <a:cubicBezTo>
                    <a:pt x="70046" y="16103"/>
                    <a:pt x="96423" y="-1299"/>
                    <a:pt x="114981" y="78"/>
                  </a:cubicBezTo>
                  <a:cubicBezTo>
                    <a:pt x="133539" y="1455"/>
                    <a:pt x="154354" y="21004"/>
                    <a:pt x="162229" y="25189"/>
                  </a:cubicBezTo>
                </a:path>
              </a:pathLst>
            </a:cu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Google Shape;262;p32">
              <a:extLst>
                <a:ext uri="{FF2B5EF4-FFF2-40B4-BE49-F238E27FC236}">
                  <a16:creationId xmlns:a16="http://schemas.microsoft.com/office/drawing/2014/main" id="{4C301C25-CBE4-EA3F-112F-8A9DE73BB56A}"/>
                </a:ext>
              </a:extLst>
            </p:cNvPr>
            <p:cNvSpPr/>
            <p:nvPr/>
          </p:nvSpPr>
          <p:spPr>
            <a:xfrm>
              <a:off x="1065550" y="2882800"/>
              <a:ext cx="4501800" cy="784700"/>
            </a:xfrm>
            <a:custGeom>
              <a:avLst/>
              <a:gdLst/>
              <a:ahLst/>
              <a:cxnLst/>
              <a:rect l="l" t="t" r="r" b="b"/>
              <a:pathLst>
                <a:path w="180072" h="31388" extrusionOk="0">
                  <a:moveTo>
                    <a:pt x="0" y="0"/>
                  </a:moveTo>
                  <a:cubicBezTo>
                    <a:pt x="11619" y="3139"/>
                    <a:pt x="48074" y="18227"/>
                    <a:pt x="69716" y="18833"/>
                  </a:cubicBezTo>
                  <a:cubicBezTo>
                    <a:pt x="91358" y="19439"/>
                    <a:pt x="111457" y="1542"/>
                    <a:pt x="129850" y="3634"/>
                  </a:cubicBezTo>
                  <a:cubicBezTo>
                    <a:pt x="148243" y="5727"/>
                    <a:pt x="171702" y="26762"/>
                    <a:pt x="180072" y="31388"/>
                  </a:cubicBezTo>
                </a:path>
              </a:pathLst>
            </a:cu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Google Shape;263;p32">
            <a:extLst>
              <a:ext uri="{FF2B5EF4-FFF2-40B4-BE49-F238E27FC236}">
                <a16:creationId xmlns:a16="http://schemas.microsoft.com/office/drawing/2014/main" id="{AAE23AAE-3A64-5CFC-7196-E810648BF5EE}"/>
              </a:ext>
            </a:extLst>
          </p:cNvPr>
          <p:cNvSpPr/>
          <p:nvPr/>
        </p:nvSpPr>
        <p:spPr>
          <a:xfrm>
            <a:off x="2406608" y="3245971"/>
            <a:ext cx="9023392" cy="1094642"/>
          </a:xfrm>
          <a:custGeom>
            <a:avLst/>
            <a:gdLst/>
            <a:ahLst/>
            <a:cxnLst/>
            <a:rect l="l" t="t" r="r" b="b"/>
            <a:pathLst>
              <a:path w="241527" h="32390" extrusionOk="0">
                <a:moveTo>
                  <a:pt x="0" y="3634"/>
                </a:moveTo>
                <a:cubicBezTo>
                  <a:pt x="9747" y="6332"/>
                  <a:pt x="37997" y="19824"/>
                  <a:pt x="58482" y="19824"/>
                </a:cubicBezTo>
                <a:cubicBezTo>
                  <a:pt x="78967" y="19824"/>
                  <a:pt x="101820" y="1541"/>
                  <a:pt x="122911" y="3634"/>
                </a:cubicBezTo>
                <a:cubicBezTo>
                  <a:pt x="144002" y="5727"/>
                  <a:pt x="165259" y="32986"/>
                  <a:pt x="185028" y="32380"/>
                </a:cubicBezTo>
                <a:cubicBezTo>
                  <a:pt x="204797" y="31774"/>
                  <a:pt x="232111" y="5397"/>
                  <a:pt x="241527" y="0"/>
                </a:cubicBezTo>
              </a:path>
            </a:pathLst>
          </a:custGeom>
          <a:noFill/>
          <a:ln w="38100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oogle Shape;264;p32">
            <a:extLst>
              <a:ext uri="{FF2B5EF4-FFF2-40B4-BE49-F238E27FC236}">
                <a16:creationId xmlns:a16="http://schemas.microsoft.com/office/drawing/2014/main" id="{6EAF4278-83E2-4016-8CD4-3B6AA33F51C2}"/>
              </a:ext>
            </a:extLst>
          </p:cNvPr>
          <p:cNvSpPr/>
          <p:nvPr/>
        </p:nvSpPr>
        <p:spPr>
          <a:xfrm>
            <a:off x="4659490" y="4397712"/>
            <a:ext cx="2114755" cy="2397061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Relay 1</a:t>
            </a:r>
            <a:endParaRPr dirty="0"/>
          </a:p>
        </p:txBody>
      </p:sp>
      <p:sp>
        <p:nvSpPr>
          <p:cNvPr id="25" name="Google Shape;265;p32">
            <a:extLst>
              <a:ext uri="{FF2B5EF4-FFF2-40B4-BE49-F238E27FC236}">
                <a16:creationId xmlns:a16="http://schemas.microsoft.com/office/drawing/2014/main" id="{7546475A-3CC7-8F6E-5A0D-E516FD0DBAC4}"/>
              </a:ext>
            </a:extLst>
          </p:cNvPr>
          <p:cNvSpPr/>
          <p:nvPr/>
        </p:nvSpPr>
        <p:spPr>
          <a:xfrm>
            <a:off x="4729690" y="4794996"/>
            <a:ext cx="1929118" cy="190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Relay 2</a:t>
            </a:r>
            <a:endParaRPr dirty="0"/>
          </a:p>
        </p:txBody>
      </p:sp>
      <p:sp>
        <p:nvSpPr>
          <p:cNvPr id="26" name="Google Shape;266;p32">
            <a:extLst>
              <a:ext uri="{FF2B5EF4-FFF2-40B4-BE49-F238E27FC236}">
                <a16:creationId xmlns:a16="http://schemas.microsoft.com/office/drawing/2014/main" id="{CB1F4054-3310-9E25-351E-27F593B1131C}"/>
              </a:ext>
            </a:extLst>
          </p:cNvPr>
          <p:cNvSpPr/>
          <p:nvPr/>
        </p:nvSpPr>
        <p:spPr>
          <a:xfrm>
            <a:off x="4799889" y="5262701"/>
            <a:ext cx="1696993" cy="1322993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Relay 3</a:t>
            </a:r>
            <a:endParaRPr dirty="0"/>
          </a:p>
        </p:txBody>
      </p:sp>
      <p:sp>
        <p:nvSpPr>
          <p:cNvPr id="27" name="Google Shape;267;p32">
            <a:extLst>
              <a:ext uri="{FF2B5EF4-FFF2-40B4-BE49-F238E27FC236}">
                <a16:creationId xmlns:a16="http://schemas.microsoft.com/office/drawing/2014/main" id="{CC16D800-AB45-D0A5-C1F6-EB370E304691}"/>
              </a:ext>
            </a:extLst>
          </p:cNvPr>
          <p:cNvSpPr/>
          <p:nvPr/>
        </p:nvSpPr>
        <p:spPr>
          <a:xfrm>
            <a:off x="4919888" y="5727264"/>
            <a:ext cx="1456993" cy="743266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Bob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Hello world</a:t>
            </a:r>
            <a:endParaRPr dirty="0"/>
          </a:p>
        </p:txBody>
      </p:sp>
      <p:sp>
        <p:nvSpPr>
          <p:cNvPr id="28" name="Google Shape;268;p32">
            <a:extLst>
              <a:ext uri="{FF2B5EF4-FFF2-40B4-BE49-F238E27FC236}">
                <a16:creationId xmlns:a16="http://schemas.microsoft.com/office/drawing/2014/main" id="{C479B9E8-1886-B7A9-5C4B-6FAA5B85A7F1}"/>
              </a:ext>
            </a:extLst>
          </p:cNvPr>
          <p:cNvSpPr/>
          <p:nvPr/>
        </p:nvSpPr>
        <p:spPr>
          <a:xfrm>
            <a:off x="1744674" y="1563494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6B4CB425-512C-9019-F4BC-C22B8553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347"/>
            <a:ext cx="10515600" cy="854075"/>
          </a:xfrm>
        </p:spPr>
        <p:txBody>
          <a:bodyPr/>
          <a:lstStyle/>
          <a:p>
            <a:r>
              <a:rPr lang="en" dirty="0"/>
              <a:t>Tor Circuits</a:t>
            </a:r>
            <a:endParaRPr lang="en-US" dirty="0"/>
          </a:p>
        </p:txBody>
      </p:sp>
      <p:sp>
        <p:nvSpPr>
          <p:cNvPr id="32" name="Google Shape;268;p32">
            <a:extLst>
              <a:ext uri="{FF2B5EF4-FFF2-40B4-BE49-F238E27FC236}">
                <a16:creationId xmlns:a16="http://schemas.microsoft.com/office/drawing/2014/main" id="{721CF079-48CE-32A3-EC88-F21ADB01D51D}"/>
              </a:ext>
            </a:extLst>
          </p:cNvPr>
          <p:cNvSpPr/>
          <p:nvPr/>
        </p:nvSpPr>
        <p:spPr>
          <a:xfrm>
            <a:off x="3528797" y="1825013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3" name="Google Shape;268;p32">
            <a:extLst>
              <a:ext uri="{FF2B5EF4-FFF2-40B4-BE49-F238E27FC236}">
                <a16:creationId xmlns:a16="http://schemas.microsoft.com/office/drawing/2014/main" id="{02753AB7-1143-D3D5-6767-E51263A498FA}"/>
              </a:ext>
            </a:extLst>
          </p:cNvPr>
          <p:cNvSpPr/>
          <p:nvPr/>
        </p:nvSpPr>
        <p:spPr>
          <a:xfrm>
            <a:off x="5180919" y="2218775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4" name="Google Shape;268;p32">
            <a:extLst>
              <a:ext uri="{FF2B5EF4-FFF2-40B4-BE49-F238E27FC236}">
                <a16:creationId xmlns:a16="http://schemas.microsoft.com/office/drawing/2014/main" id="{E35219B5-009E-B1F1-85D5-C235E39E621A}"/>
              </a:ext>
            </a:extLst>
          </p:cNvPr>
          <p:cNvSpPr/>
          <p:nvPr/>
        </p:nvSpPr>
        <p:spPr>
          <a:xfrm>
            <a:off x="5611628" y="995372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5" name="Google Shape;268;p32">
            <a:extLst>
              <a:ext uri="{FF2B5EF4-FFF2-40B4-BE49-F238E27FC236}">
                <a16:creationId xmlns:a16="http://schemas.microsoft.com/office/drawing/2014/main" id="{109D6D75-6AEB-6A4F-4D0A-3450E1B7FA19}"/>
              </a:ext>
            </a:extLst>
          </p:cNvPr>
          <p:cNvSpPr/>
          <p:nvPr/>
        </p:nvSpPr>
        <p:spPr>
          <a:xfrm>
            <a:off x="7667606" y="2185664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6" name="Google Shape;268;p32">
            <a:extLst>
              <a:ext uri="{FF2B5EF4-FFF2-40B4-BE49-F238E27FC236}">
                <a16:creationId xmlns:a16="http://schemas.microsoft.com/office/drawing/2014/main" id="{FA1F51A6-66F7-B90E-E3AC-C5ACD7348A05}"/>
              </a:ext>
            </a:extLst>
          </p:cNvPr>
          <p:cNvSpPr/>
          <p:nvPr/>
        </p:nvSpPr>
        <p:spPr>
          <a:xfrm>
            <a:off x="8482714" y="1348002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4" name="Google Shape;244;p32">
            <a:extLst>
              <a:ext uri="{FF2B5EF4-FFF2-40B4-BE49-F238E27FC236}">
                <a16:creationId xmlns:a16="http://schemas.microsoft.com/office/drawing/2014/main" id="{211BCF3A-4807-6DF0-E139-98C77CB9987B}"/>
              </a:ext>
            </a:extLst>
          </p:cNvPr>
          <p:cNvSpPr/>
          <p:nvPr/>
        </p:nvSpPr>
        <p:spPr>
          <a:xfrm>
            <a:off x="807631" y="2496457"/>
            <a:ext cx="1685675" cy="778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Alice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CC0000"/>
                </a:solidFill>
              </a:rPr>
              <a:t>K</a:t>
            </a:r>
            <a:r>
              <a:rPr lang="en" sz="2400" i="1" baseline="-25000" dirty="0">
                <a:solidFill>
                  <a:srgbClr val="CC0000"/>
                </a:solidFill>
              </a:rPr>
              <a:t>1</a:t>
            </a:r>
            <a:r>
              <a:rPr lang="en" sz="2400" i="1" dirty="0"/>
              <a:t>, </a:t>
            </a:r>
            <a:r>
              <a:rPr lang="en" sz="2400" i="1" dirty="0">
                <a:solidFill>
                  <a:srgbClr val="BF9000"/>
                </a:solidFill>
              </a:rPr>
              <a:t>K</a:t>
            </a:r>
            <a:r>
              <a:rPr lang="en" sz="2400" i="1" baseline="-25000" dirty="0">
                <a:solidFill>
                  <a:srgbClr val="BF9000"/>
                </a:solidFill>
              </a:rPr>
              <a:t>2</a:t>
            </a:r>
            <a:r>
              <a:rPr lang="en" sz="2400" i="1" dirty="0"/>
              <a:t>, </a:t>
            </a:r>
            <a:r>
              <a:rPr lang="en" sz="2400" i="1" dirty="0">
                <a:solidFill>
                  <a:srgbClr val="38761D"/>
                </a:solidFill>
              </a:rPr>
              <a:t>K</a:t>
            </a:r>
            <a:r>
              <a:rPr lang="en" sz="2400" i="1" baseline="-25000" dirty="0">
                <a:solidFill>
                  <a:srgbClr val="38761D"/>
                </a:solidFill>
              </a:rPr>
              <a:t>3</a:t>
            </a:r>
            <a:endParaRPr sz="2400" i="1" baseline="-25000" dirty="0">
              <a:solidFill>
                <a:srgbClr val="38761D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527C-247C-5FAE-7137-32D1BC602C12}"/>
              </a:ext>
            </a:extLst>
          </p:cNvPr>
          <p:cNvSpPr txBox="1"/>
          <p:nvPr/>
        </p:nvSpPr>
        <p:spPr>
          <a:xfrm>
            <a:off x="70199" y="5195360"/>
            <a:ext cx="4567764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dirty="0"/>
              <a:t>Relay 1 peels off the first layer;</a:t>
            </a:r>
          </a:p>
          <a:p>
            <a:pPr>
              <a:spcAft>
                <a:spcPts val="600"/>
              </a:spcAft>
            </a:pPr>
            <a:r>
              <a:rPr lang="en-US" sz="2200" dirty="0"/>
              <a:t>Can’t read what the contents for Relay 2 is for, since it’s encrypted! </a:t>
            </a:r>
          </a:p>
        </p:txBody>
      </p:sp>
    </p:spTree>
    <p:extLst>
      <p:ext uri="{BB962C8B-B14F-4D97-AF65-F5344CB8AC3E}">
        <p14:creationId xmlns:p14="http://schemas.microsoft.com/office/powerpoint/2010/main" val="3529178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85A9D-D93C-8884-47B1-72ED191323D1}"/>
              </a:ext>
            </a:extLst>
          </p:cNvPr>
          <p:cNvSpPr txBox="1">
            <a:spLocks/>
          </p:cNvSpPr>
          <p:nvPr/>
        </p:nvSpPr>
        <p:spPr>
          <a:xfrm>
            <a:off x="838200" y="143347"/>
            <a:ext cx="10515600" cy="854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dirty="0"/>
              <a:t>Tor </a:t>
            </a:r>
            <a:r>
              <a:rPr lang="en-US" dirty="0"/>
              <a:t>Packet Construction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C21B09-0B97-015A-307F-998B2ABC8B08}"/>
              </a:ext>
            </a:extLst>
          </p:cNvPr>
          <p:cNvGrpSpPr/>
          <p:nvPr/>
        </p:nvGrpSpPr>
        <p:grpSpPr>
          <a:xfrm>
            <a:off x="8907464" y="1395461"/>
            <a:ext cx="2752015" cy="4681501"/>
            <a:chOff x="9856800" y="1913925"/>
            <a:chExt cx="1497000" cy="3467650"/>
          </a:xfrm>
        </p:grpSpPr>
        <p:sp>
          <p:nvSpPr>
            <p:cNvPr id="4" name="Google Shape;284;p33">
              <a:extLst>
                <a:ext uri="{FF2B5EF4-FFF2-40B4-BE49-F238E27FC236}">
                  <a16:creationId xmlns:a16="http://schemas.microsoft.com/office/drawing/2014/main" id="{EF14C12B-C74F-0F71-F871-1F2D4DBFB79C}"/>
                </a:ext>
              </a:extLst>
            </p:cNvPr>
            <p:cNvSpPr/>
            <p:nvPr/>
          </p:nvSpPr>
          <p:spPr>
            <a:xfrm>
              <a:off x="10072500" y="1913925"/>
              <a:ext cx="1065600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Alice</a:t>
              </a:r>
              <a:endParaRPr/>
            </a:p>
          </p:txBody>
        </p:sp>
        <p:sp>
          <p:nvSpPr>
            <p:cNvPr id="5" name="Google Shape;285;p33">
              <a:extLst>
                <a:ext uri="{FF2B5EF4-FFF2-40B4-BE49-F238E27FC236}">
                  <a16:creationId xmlns:a16="http://schemas.microsoft.com/office/drawing/2014/main" id="{FD5D434A-B840-571B-CC83-D0A3C977B8CC}"/>
                </a:ext>
              </a:extLst>
            </p:cNvPr>
            <p:cNvSpPr/>
            <p:nvPr/>
          </p:nvSpPr>
          <p:spPr>
            <a:xfrm>
              <a:off x="10072500" y="4808875"/>
              <a:ext cx="1065600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Bob</a:t>
              </a:r>
              <a:endParaRPr sz="900" i="1">
                <a:solidFill>
                  <a:srgbClr val="1155CC"/>
                </a:solidFill>
              </a:endParaRPr>
            </a:p>
          </p:txBody>
        </p:sp>
        <p:sp>
          <p:nvSpPr>
            <p:cNvPr id="6" name="Google Shape;286;p33">
              <a:extLst>
                <a:ext uri="{FF2B5EF4-FFF2-40B4-BE49-F238E27FC236}">
                  <a16:creationId xmlns:a16="http://schemas.microsoft.com/office/drawing/2014/main" id="{225338E5-D482-FEBF-42DC-C54F50070F80}"/>
                </a:ext>
              </a:extLst>
            </p:cNvPr>
            <p:cNvSpPr/>
            <p:nvPr/>
          </p:nvSpPr>
          <p:spPr>
            <a:xfrm>
              <a:off x="9856800" y="2869512"/>
              <a:ext cx="1497000" cy="393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Relay 1: </a:t>
              </a:r>
              <a:r>
                <a:rPr lang="en" i="1">
                  <a:solidFill>
                    <a:srgbClr val="CC0000"/>
                  </a:solidFill>
                </a:rPr>
                <a:t>K</a:t>
              </a:r>
              <a:r>
                <a:rPr lang="en" sz="900" i="1">
                  <a:solidFill>
                    <a:srgbClr val="CC0000"/>
                  </a:solidFill>
                </a:rPr>
                <a:t>1</a:t>
              </a:r>
              <a:endParaRPr sz="900" i="1">
                <a:solidFill>
                  <a:srgbClr val="CC0000"/>
                </a:solidFill>
              </a:endParaRPr>
            </a:p>
          </p:txBody>
        </p:sp>
        <p:sp>
          <p:nvSpPr>
            <p:cNvPr id="7" name="Google Shape;287;p33">
              <a:extLst>
                <a:ext uri="{FF2B5EF4-FFF2-40B4-BE49-F238E27FC236}">
                  <a16:creationId xmlns:a16="http://schemas.microsoft.com/office/drawing/2014/main" id="{E89B5F81-E9AD-F8A0-D79C-7649392D503A}"/>
                </a:ext>
              </a:extLst>
            </p:cNvPr>
            <p:cNvSpPr/>
            <p:nvPr/>
          </p:nvSpPr>
          <p:spPr>
            <a:xfrm>
              <a:off x="9856800" y="3463262"/>
              <a:ext cx="1497000" cy="3936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Relay 2: </a:t>
              </a:r>
              <a:r>
                <a:rPr lang="en" i="1" dirty="0">
                  <a:solidFill>
                    <a:srgbClr val="BF9000"/>
                  </a:solidFill>
                </a:rPr>
                <a:t>K</a:t>
              </a:r>
              <a:r>
                <a:rPr lang="en" sz="900" i="1" dirty="0">
                  <a:solidFill>
                    <a:srgbClr val="BF9000"/>
                  </a:solidFill>
                </a:rPr>
                <a:t>2</a:t>
              </a:r>
              <a:endParaRPr sz="900" i="1" dirty="0">
                <a:solidFill>
                  <a:srgbClr val="BF9000"/>
                </a:solidFill>
              </a:endParaRPr>
            </a:p>
          </p:txBody>
        </p:sp>
        <p:sp>
          <p:nvSpPr>
            <p:cNvPr id="8" name="Google Shape;288;p33">
              <a:extLst>
                <a:ext uri="{FF2B5EF4-FFF2-40B4-BE49-F238E27FC236}">
                  <a16:creationId xmlns:a16="http://schemas.microsoft.com/office/drawing/2014/main" id="{A39F826B-8E2F-AE7B-D55E-D2A892423B6E}"/>
                </a:ext>
              </a:extLst>
            </p:cNvPr>
            <p:cNvSpPr/>
            <p:nvPr/>
          </p:nvSpPr>
          <p:spPr>
            <a:xfrm>
              <a:off x="9856800" y="4057012"/>
              <a:ext cx="1497000" cy="3690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Relay: </a:t>
              </a:r>
              <a:r>
                <a:rPr lang="en" i="1">
                  <a:solidFill>
                    <a:srgbClr val="38761D"/>
                  </a:solidFill>
                </a:rPr>
                <a:t>K</a:t>
              </a:r>
              <a:r>
                <a:rPr lang="en" sz="900" i="1">
                  <a:solidFill>
                    <a:srgbClr val="38761D"/>
                  </a:solidFill>
                </a:rPr>
                <a:t>3</a:t>
              </a:r>
              <a:endParaRPr sz="900" i="1">
                <a:solidFill>
                  <a:srgbClr val="38761D"/>
                </a:solidFill>
              </a:endParaRPr>
            </a:p>
          </p:txBody>
        </p:sp>
        <p:cxnSp>
          <p:nvCxnSpPr>
            <p:cNvPr id="9" name="Google Shape;289;p33">
              <a:extLst>
                <a:ext uri="{FF2B5EF4-FFF2-40B4-BE49-F238E27FC236}">
                  <a16:creationId xmlns:a16="http://schemas.microsoft.com/office/drawing/2014/main" id="{EEF4C085-6588-F654-E830-1498CA657177}"/>
                </a:ext>
              </a:extLst>
            </p:cNvPr>
            <p:cNvCxnSpPr>
              <a:stCxn id="4" idx="2"/>
              <a:endCxn id="6" idx="0"/>
            </p:cNvCxnSpPr>
            <p:nvPr/>
          </p:nvCxnSpPr>
          <p:spPr>
            <a:xfrm>
              <a:off x="10605300" y="2486625"/>
              <a:ext cx="0" cy="382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" name="Google Shape;290;p33">
              <a:extLst>
                <a:ext uri="{FF2B5EF4-FFF2-40B4-BE49-F238E27FC236}">
                  <a16:creationId xmlns:a16="http://schemas.microsoft.com/office/drawing/2014/main" id="{002E3281-E19D-4F37-618E-4E067A6F1E50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>
              <a:off x="10605300" y="3263112"/>
              <a:ext cx="0" cy="200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" name="Google Shape;291;p33">
              <a:extLst>
                <a:ext uri="{FF2B5EF4-FFF2-40B4-BE49-F238E27FC236}">
                  <a16:creationId xmlns:a16="http://schemas.microsoft.com/office/drawing/2014/main" id="{15898958-8D7C-482B-0D9C-FE88C533918D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10605300" y="3856862"/>
              <a:ext cx="0" cy="200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" name="Google Shape;292;p33">
              <a:extLst>
                <a:ext uri="{FF2B5EF4-FFF2-40B4-BE49-F238E27FC236}">
                  <a16:creationId xmlns:a16="http://schemas.microsoft.com/office/drawing/2014/main" id="{1C04972E-68C7-4022-754E-A8E52982FDC0}"/>
                </a:ext>
              </a:extLst>
            </p:cNvPr>
            <p:cNvCxnSpPr>
              <a:stCxn id="8" idx="2"/>
              <a:endCxn id="5" idx="0"/>
            </p:cNvCxnSpPr>
            <p:nvPr/>
          </p:nvCxnSpPr>
          <p:spPr>
            <a:xfrm>
              <a:off x="10605300" y="4426012"/>
              <a:ext cx="0" cy="382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3" name="Google Shape;293;p33">
            <a:extLst>
              <a:ext uri="{FF2B5EF4-FFF2-40B4-BE49-F238E27FC236}">
                <a16:creationId xmlns:a16="http://schemas.microsoft.com/office/drawing/2014/main" id="{FE10E7BA-4A12-CC31-9898-C7EE56883659}"/>
              </a:ext>
            </a:extLst>
          </p:cNvPr>
          <p:cNvSpPr/>
          <p:nvPr/>
        </p:nvSpPr>
        <p:spPr>
          <a:xfrm>
            <a:off x="941035" y="2168635"/>
            <a:ext cx="3057695" cy="2673834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Relay 1, From: Alice</a:t>
            </a:r>
            <a:endParaRPr dirty="0"/>
          </a:p>
        </p:txBody>
      </p:sp>
      <p:sp>
        <p:nvSpPr>
          <p:cNvPr id="14" name="Google Shape;294;p33">
            <a:extLst>
              <a:ext uri="{FF2B5EF4-FFF2-40B4-BE49-F238E27FC236}">
                <a16:creationId xmlns:a16="http://schemas.microsoft.com/office/drawing/2014/main" id="{BCAE553B-B93A-DCF6-30EA-9D1FC005EEBC}"/>
              </a:ext>
            </a:extLst>
          </p:cNvPr>
          <p:cNvSpPr/>
          <p:nvPr/>
        </p:nvSpPr>
        <p:spPr>
          <a:xfrm>
            <a:off x="1065760" y="2822469"/>
            <a:ext cx="2583669" cy="184885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Relay 2, From: R1</a:t>
            </a:r>
            <a:endParaRPr dirty="0"/>
          </a:p>
        </p:txBody>
      </p:sp>
      <p:sp>
        <p:nvSpPr>
          <p:cNvPr id="15" name="Google Shape;295;p33">
            <a:extLst>
              <a:ext uri="{FF2B5EF4-FFF2-40B4-BE49-F238E27FC236}">
                <a16:creationId xmlns:a16="http://schemas.microsoft.com/office/drawing/2014/main" id="{066B7F70-EF9A-6055-725F-436A7FAAEE9B}"/>
              </a:ext>
            </a:extLst>
          </p:cNvPr>
          <p:cNvSpPr/>
          <p:nvPr/>
        </p:nvSpPr>
        <p:spPr>
          <a:xfrm>
            <a:off x="1193810" y="3289882"/>
            <a:ext cx="2138175" cy="12513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???</a:t>
            </a:r>
            <a:endParaRPr dirty="0"/>
          </a:p>
        </p:txBody>
      </p:sp>
      <p:grpSp>
        <p:nvGrpSpPr>
          <p:cNvPr id="17" name="Google Shape;297;p33">
            <a:extLst>
              <a:ext uri="{FF2B5EF4-FFF2-40B4-BE49-F238E27FC236}">
                <a16:creationId xmlns:a16="http://schemas.microsoft.com/office/drawing/2014/main" id="{CE2A6E84-2BA6-0B90-4EF5-B5A4FA88890C}"/>
              </a:ext>
            </a:extLst>
          </p:cNvPr>
          <p:cNvGrpSpPr/>
          <p:nvPr/>
        </p:nvGrpSpPr>
        <p:grpSpPr>
          <a:xfrm>
            <a:off x="3363429" y="3391631"/>
            <a:ext cx="4026395" cy="730638"/>
            <a:chOff x="4617049" y="2716949"/>
            <a:chExt cx="4026395" cy="730638"/>
          </a:xfrm>
        </p:grpSpPr>
        <p:cxnSp>
          <p:nvCxnSpPr>
            <p:cNvPr id="18" name="Google Shape;298;p33">
              <a:extLst>
                <a:ext uri="{FF2B5EF4-FFF2-40B4-BE49-F238E27FC236}">
                  <a16:creationId xmlns:a16="http://schemas.microsoft.com/office/drawing/2014/main" id="{E0A6BE88-6E57-2A6F-76E1-260A51EFEA67}"/>
                </a:ext>
              </a:extLst>
            </p:cNvPr>
            <p:cNvCxnSpPr>
              <a:cxnSpLocks/>
              <a:stCxn id="19" idx="1"/>
            </p:cNvCxnSpPr>
            <p:nvPr/>
          </p:nvCxnSpPr>
          <p:spPr>
            <a:xfrm flipH="1">
              <a:off x="4617049" y="2953937"/>
              <a:ext cx="1407450" cy="493650"/>
            </a:xfrm>
            <a:prstGeom prst="straightConnector1">
              <a:avLst/>
            </a:prstGeom>
            <a:noFill/>
            <a:ln w="9525" cap="flat" cmpd="sng">
              <a:solidFill>
                <a:srgbClr val="BF9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" name="Google Shape;299;p33">
              <a:extLst>
                <a:ext uri="{FF2B5EF4-FFF2-40B4-BE49-F238E27FC236}">
                  <a16:creationId xmlns:a16="http://schemas.microsoft.com/office/drawing/2014/main" id="{71383B7C-6C5B-F6B0-77EB-F23FC96B68E0}"/>
                </a:ext>
              </a:extLst>
            </p:cNvPr>
            <p:cNvSpPr/>
            <p:nvPr/>
          </p:nvSpPr>
          <p:spPr>
            <a:xfrm>
              <a:off x="6024499" y="2716949"/>
              <a:ext cx="2618945" cy="473975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Encrypted with </a:t>
              </a:r>
              <a:r>
                <a:rPr lang="en" i="1" dirty="0">
                  <a:solidFill>
                    <a:srgbClr val="BF9000"/>
                  </a:solidFill>
                </a:rPr>
                <a:t>K</a:t>
              </a:r>
              <a:r>
                <a:rPr lang="en" sz="900" i="1" dirty="0">
                  <a:solidFill>
                    <a:srgbClr val="BF9000"/>
                  </a:solidFill>
                </a:rPr>
                <a:t>2</a:t>
              </a:r>
              <a:endParaRPr sz="900" i="1" dirty="0">
                <a:solidFill>
                  <a:srgbClr val="BF9000"/>
                </a:solidFill>
              </a:endParaRPr>
            </a:p>
          </p:txBody>
        </p:sp>
      </p:grpSp>
      <p:grpSp>
        <p:nvGrpSpPr>
          <p:cNvPr id="20" name="Google Shape;300;p33">
            <a:extLst>
              <a:ext uri="{FF2B5EF4-FFF2-40B4-BE49-F238E27FC236}">
                <a16:creationId xmlns:a16="http://schemas.microsoft.com/office/drawing/2014/main" id="{824D27E5-B2FC-B38E-D467-6060E2787008}"/>
              </a:ext>
            </a:extLst>
          </p:cNvPr>
          <p:cNvGrpSpPr/>
          <p:nvPr/>
        </p:nvGrpSpPr>
        <p:grpSpPr>
          <a:xfrm>
            <a:off x="3681287" y="2673731"/>
            <a:ext cx="3708485" cy="1138775"/>
            <a:chOff x="4934807" y="1999049"/>
            <a:chExt cx="3708485" cy="1138775"/>
          </a:xfrm>
        </p:grpSpPr>
        <p:cxnSp>
          <p:nvCxnSpPr>
            <p:cNvPr id="21" name="Google Shape;301;p33">
              <a:extLst>
                <a:ext uri="{FF2B5EF4-FFF2-40B4-BE49-F238E27FC236}">
                  <a16:creationId xmlns:a16="http://schemas.microsoft.com/office/drawing/2014/main" id="{F6AA51A9-AE34-25AA-48E2-74C25209948D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 flipH="1">
              <a:off x="4934807" y="2236037"/>
              <a:ext cx="1089542" cy="901787"/>
            </a:xfrm>
            <a:prstGeom prst="straightConnector1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" name="Google Shape;302;p33">
              <a:extLst>
                <a:ext uri="{FF2B5EF4-FFF2-40B4-BE49-F238E27FC236}">
                  <a16:creationId xmlns:a16="http://schemas.microsoft.com/office/drawing/2014/main" id="{1701E94C-9E3E-934E-99CE-FB3A12C677F1}"/>
                </a:ext>
              </a:extLst>
            </p:cNvPr>
            <p:cNvSpPr/>
            <p:nvPr/>
          </p:nvSpPr>
          <p:spPr>
            <a:xfrm>
              <a:off x="6024349" y="1999049"/>
              <a:ext cx="2618943" cy="473975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Encrypted with </a:t>
              </a:r>
              <a:r>
                <a:rPr lang="en" i="1" dirty="0">
                  <a:solidFill>
                    <a:srgbClr val="CC0000"/>
                  </a:solidFill>
                </a:rPr>
                <a:t>K</a:t>
              </a:r>
              <a:r>
                <a:rPr lang="en" sz="900" i="1" dirty="0">
                  <a:solidFill>
                    <a:srgbClr val="CC0000"/>
                  </a:solidFill>
                </a:rPr>
                <a:t>1</a:t>
              </a:r>
              <a:endParaRPr sz="900" i="1" dirty="0">
                <a:solidFill>
                  <a:srgbClr val="CC0000"/>
                </a:solidFill>
              </a:endParaRPr>
            </a:p>
          </p:txBody>
        </p:sp>
      </p:grpSp>
      <p:sp>
        <p:nvSpPr>
          <p:cNvPr id="27" name="Google Shape;365;p35">
            <a:extLst>
              <a:ext uri="{FF2B5EF4-FFF2-40B4-BE49-F238E27FC236}">
                <a16:creationId xmlns:a16="http://schemas.microsoft.com/office/drawing/2014/main" id="{567CB7DA-E014-3A76-5A3D-1EF1490DAB73}"/>
              </a:ext>
            </a:extLst>
          </p:cNvPr>
          <p:cNvSpPr txBox="1"/>
          <p:nvPr/>
        </p:nvSpPr>
        <p:spPr>
          <a:xfrm>
            <a:off x="974805" y="5138732"/>
            <a:ext cx="6262122" cy="1292631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All Relay 1 knows is the message came from Alice and is going to Relay 2. They don’t know Alice is talking to Bob!</a:t>
            </a:r>
            <a:endParaRPr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0FFD2F-0828-DA55-CFE9-B045A64DFF4D}"/>
              </a:ext>
            </a:extLst>
          </p:cNvPr>
          <p:cNvSpPr txBox="1"/>
          <p:nvPr/>
        </p:nvSpPr>
        <p:spPr>
          <a:xfrm>
            <a:off x="941035" y="123400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 does Relay 1 see?</a:t>
            </a:r>
          </a:p>
        </p:txBody>
      </p:sp>
    </p:spTree>
    <p:extLst>
      <p:ext uri="{BB962C8B-B14F-4D97-AF65-F5344CB8AC3E}">
        <p14:creationId xmlns:p14="http://schemas.microsoft.com/office/powerpoint/2010/main" val="1123294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EC495-02A3-EA3C-51FB-7171353F0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50;p32">
            <a:extLst>
              <a:ext uri="{FF2B5EF4-FFF2-40B4-BE49-F238E27FC236}">
                <a16:creationId xmlns:a16="http://schemas.microsoft.com/office/drawing/2014/main" id="{A0F17CE7-6A3B-C467-BC2D-1D3D7BBE5E17}"/>
              </a:ext>
            </a:extLst>
          </p:cNvPr>
          <p:cNvSpPr/>
          <p:nvPr/>
        </p:nvSpPr>
        <p:spPr>
          <a:xfrm>
            <a:off x="10631548" y="2782031"/>
            <a:ext cx="1444503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Bob</a:t>
            </a:r>
            <a:endParaRPr sz="2400" i="1" dirty="0">
              <a:solidFill>
                <a:srgbClr val="1155CC"/>
              </a:solidFill>
            </a:endParaRPr>
          </a:p>
        </p:txBody>
      </p:sp>
      <p:sp>
        <p:nvSpPr>
          <p:cNvPr id="11" name="Google Shape;251;p32">
            <a:extLst>
              <a:ext uri="{FF2B5EF4-FFF2-40B4-BE49-F238E27FC236}">
                <a16:creationId xmlns:a16="http://schemas.microsoft.com/office/drawing/2014/main" id="{97FACB61-7813-B082-6A66-EDB947FE7EC0}"/>
              </a:ext>
            </a:extLst>
          </p:cNvPr>
          <p:cNvSpPr/>
          <p:nvPr/>
        </p:nvSpPr>
        <p:spPr>
          <a:xfrm>
            <a:off x="3318039" y="3255911"/>
            <a:ext cx="1280160" cy="128016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Relay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CC0000"/>
                </a:solidFill>
              </a:rPr>
              <a:t>K1</a:t>
            </a:r>
            <a:endParaRPr sz="2400" i="1" dirty="0">
              <a:solidFill>
                <a:srgbClr val="CC0000"/>
              </a:solidFill>
            </a:endParaRPr>
          </a:p>
        </p:txBody>
      </p:sp>
      <p:sp>
        <p:nvSpPr>
          <p:cNvPr id="12" name="Google Shape;252;p32">
            <a:extLst>
              <a:ext uri="{FF2B5EF4-FFF2-40B4-BE49-F238E27FC236}">
                <a16:creationId xmlns:a16="http://schemas.microsoft.com/office/drawing/2014/main" id="{742D11C1-904D-7C62-3579-E6531B1CBBAA}"/>
              </a:ext>
            </a:extLst>
          </p:cNvPr>
          <p:cNvSpPr/>
          <p:nvPr/>
        </p:nvSpPr>
        <p:spPr>
          <a:xfrm>
            <a:off x="6526709" y="2791628"/>
            <a:ext cx="1280160" cy="128016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Relay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BF9000"/>
                </a:solidFill>
              </a:rPr>
              <a:t>K</a:t>
            </a:r>
            <a:r>
              <a:rPr lang="en" sz="2400" i="1" baseline="-25000" dirty="0">
                <a:solidFill>
                  <a:srgbClr val="BF9000"/>
                </a:solidFill>
              </a:rPr>
              <a:t>2</a:t>
            </a:r>
            <a:endParaRPr sz="2400" i="1" baseline="-25000" dirty="0">
              <a:solidFill>
                <a:srgbClr val="BF9000"/>
              </a:solidFill>
            </a:endParaRPr>
          </a:p>
        </p:txBody>
      </p:sp>
      <p:sp>
        <p:nvSpPr>
          <p:cNvPr id="13" name="Google Shape;253;p32">
            <a:extLst>
              <a:ext uri="{FF2B5EF4-FFF2-40B4-BE49-F238E27FC236}">
                <a16:creationId xmlns:a16="http://schemas.microsoft.com/office/drawing/2014/main" id="{12AC3409-DBAC-A9F2-C360-119AAE1C2561}"/>
              </a:ext>
            </a:extLst>
          </p:cNvPr>
          <p:cNvSpPr/>
          <p:nvPr/>
        </p:nvSpPr>
        <p:spPr>
          <a:xfrm>
            <a:off x="8631677" y="3677511"/>
            <a:ext cx="1280160" cy="128016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Relay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38761D"/>
                </a:solidFill>
              </a:rPr>
              <a:t>K</a:t>
            </a:r>
            <a:r>
              <a:rPr lang="en" sz="2400" i="1" baseline="-25000" dirty="0">
                <a:solidFill>
                  <a:srgbClr val="38761D"/>
                </a:solidFill>
              </a:rPr>
              <a:t>3</a:t>
            </a:r>
            <a:endParaRPr sz="2400" i="1" baseline="-25000" dirty="0">
              <a:solidFill>
                <a:srgbClr val="38761D"/>
              </a:solidFill>
            </a:endParaRPr>
          </a:p>
        </p:txBody>
      </p:sp>
      <p:grpSp>
        <p:nvGrpSpPr>
          <p:cNvPr id="14" name="Google Shape;254;p32">
            <a:extLst>
              <a:ext uri="{FF2B5EF4-FFF2-40B4-BE49-F238E27FC236}">
                <a16:creationId xmlns:a16="http://schemas.microsoft.com/office/drawing/2014/main" id="{4687D5ED-61FB-EDD9-464B-0B549F47F68E}"/>
              </a:ext>
            </a:extLst>
          </p:cNvPr>
          <p:cNvGrpSpPr/>
          <p:nvPr/>
        </p:nvGrpSpPr>
        <p:grpSpPr>
          <a:xfrm>
            <a:off x="1143000" y="2875916"/>
            <a:ext cx="2194549" cy="1242414"/>
            <a:chOff x="718625" y="2758900"/>
            <a:chExt cx="1577700" cy="636000"/>
          </a:xfrm>
        </p:grpSpPr>
        <p:cxnSp>
          <p:nvCxnSpPr>
            <p:cNvPr id="15" name="Google Shape;255;p32">
              <a:extLst>
                <a:ext uri="{FF2B5EF4-FFF2-40B4-BE49-F238E27FC236}">
                  <a16:creationId xmlns:a16="http://schemas.microsoft.com/office/drawing/2014/main" id="{0E87A47A-BD79-5EC7-F521-9945DBFB9326}"/>
                </a:ext>
              </a:extLst>
            </p:cNvPr>
            <p:cNvCxnSpPr/>
            <p:nvPr/>
          </p:nvCxnSpPr>
          <p:spPr>
            <a:xfrm>
              <a:off x="718625" y="2882800"/>
              <a:ext cx="1577700" cy="5121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256;p32">
              <a:extLst>
                <a:ext uri="{FF2B5EF4-FFF2-40B4-BE49-F238E27FC236}">
                  <a16:creationId xmlns:a16="http://schemas.microsoft.com/office/drawing/2014/main" id="{7400543D-15DC-B404-E746-7A0029EE5B7F}"/>
                </a:ext>
              </a:extLst>
            </p:cNvPr>
            <p:cNvCxnSpPr/>
            <p:nvPr/>
          </p:nvCxnSpPr>
          <p:spPr>
            <a:xfrm>
              <a:off x="1519875" y="2758900"/>
              <a:ext cx="768300" cy="2478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" name="Google Shape;257;p32">
            <a:extLst>
              <a:ext uri="{FF2B5EF4-FFF2-40B4-BE49-F238E27FC236}">
                <a16:creationId xmlns:a16="http://schemas.microsoft.com/office/drawing/2014/main" id="{C42AD059-0B61-E23E-E3E7-FF4FFC67C47E}"/>
              </a:ext>
            </a:extLst>
          </p:cNvPr>
          <p:cNvGrpSpPr/>
          <p:nvPr/>
        </p:nvGrpSpPr>
        <p:grpSpPr>
          <a:xfrm>
            <a:off x="1619250" y="2996458"/>
            <a:ext cx="4907459" cy="1360018"/>
            <a:chOff x="883825" y="2750625"/>
            <a:chExt cx="3122350" cy="662575"/>
          </a:xfrm>
        </p:grpSpPr>
        <p:sp>
          <p:nvSpPr>
            <p:cNvPr id="18" name="Google Shape;258;p32">
              <a:extLst>
                <a:ext uri="{FF2B5EF4-FFF2-40B4-BE49-F238E27FC236}">
                  <a16:creationId xmlns:a16="http://schemas.microsoft.com/office/drawing/2014/main" id="{31027CD3-BDD4-E756-CBFA-AEF407AEC3F6}"/>
                </a:ext>
              </a:extLst>
            </p:cNvPr>
            <p:cNvSpPr/>
            <p:nvPr/>
          </p:nvSpPr>
          <p:spPr>
            <a:xfrm>
              <a:off x="1495100" y="2750625"/>
              <a:ext cx="2502825" cy="355650"/>
            </a:xfrm>
            <a:custGeom>
              <a:avLst/>
              <a:gdLst/>
              <a:ahLst/>
              <a:cxnLst/>
              <a:rect l="l" t="t" r="r" b="b"/>
              <a:pathLst>
                <a:path w="100113" h="14226" extrusionOk="0">
                  <a:moveTo>
                    <a:pt x="0" y="2974"/>
                  </a:moveTo>
                  <a:cubicBezTo>
                    <a:pt x="7875" y="4846"/>
                    <a:pt x="30563" y="14704"/>
                    <a:pt x="47248" y="14208"/>
                  </a:cubicBezTo>
                  <a:cubicBezTo>
                    <a:pt x="63934" y="13712"/>
                    <a:pt x="91302" y="2368"/>
                    <a:pt x="100113" y="0"/>
                  </a:cubicBezTo>
                </a:path>
              </a:pathLst>
            </a:cu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Google Shape;259;p32">
              <a:extLst>
                <a:ext uri="{FF2B5EF4-FFF2-40B4-BE49-F238E27FC236}">
                  <a16:creationId xmlns:a16="http://schemas.microsoft.com/office/drawing/2014/main" id="{AD8021AD-C948-3238-B370-386FFA5E3786}"/>
                </a:ext>
              </a:extLst>
            </p:cNvPr>
            <p:cNvSpPr/>
            <p:nvPr/>
          </p:nvSpPr>
          <p:spPr>
            <a:xfrm>
              <a:off x="883825" y="2866275"/>
              <a:ext cx="3122350" cy="546925"/>
            </a:xfrm>
            <a:custGeom>
              <a:avLst/>
              <a:gdLst/>
              <a:ahLst/>
              <a:cxnLst/>
              <a:rect l="l" t="t" r="r" b="b"/>
              <a:pathLst>
                <a:path w="124894" h="21877" extrusionOk="0">
                  <a:moveTo>
                    <a:pt x="0" y="0"/>
                  </a:moveTo>
                  <a:cubicBezTo>
                    <a:pt x="12445" y="3635"/>
                    <a:pt x="53856" y="20651"/>
                    <a:pt x="74672" y="21807"/>
                  </a:cubicBezTo>
                  <a:cubicBezTo>
                    <a:pt x="95488" y="22964"/>
                    <a:pt x="116524" y="9417"/>
                    <a:pt x="124894" y="6939"/>
                  </a:cubicBezTo>
                </a:path>
              </a:pathLst>
            </a:cu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oogle Shape;260;p32">
            <a:extLst>
              <a:ext uri="{FF2B5EF4-FFF2-40B4-BE49-F238E27FC236}">
                <a16:creationId xmlns:a16="http://schemas.microsoft.com/office/drawing/2014/main" id="{7A7D956D-046D-8405-93D9-8D8FBF41BE94}"/>
              </a:ext>
            </a:extLst>
          </p:cNvPr>
          <p:cNvGrpSpPr/>
          <p:nvPr/>
        </p:nvGrpSpPr>
        <p:grpSpPr>
          <a:xfrm>
            <a:off x="2199370" y="3224343"/>
            <a:ext cx="6432307" cy="1241721"/>
            <a:chOff x="1065550" y="2748687"/>
            <a:chExt cx="4501800" cy="918813"/>
          </a:xfrm>
        </p:grpSpPr>
        <p:sp>
          <p:nvSpPr>
            <p:cNvPr id="21" name="Google Shape;261;p32">
              <a:extLst>
                <a:ext uri="{FF2B5EF4-FFF2-40B4-BE49-F238E27FC236}">
                  <a16:creationId xmlns:a16="http://schemas.microsoft.com/office/drawing/2014/main" id="{1E332A11-2C2E-EDE8-3692-569B234B6518}"/>
                </a:ext>
              </a:extLst>
            </p:cNvPr>
            <p:cNvSpPr/>
            <p:nvPr/>
          </p:nvSpPr>
          <p:spPr>
            <a:xfrm>
              <a:off x="1495100" y="2748687"/>
              <a:ext cx="4055725" cy="629725"/>
            </a:xfrm>
            <a:custGeom>
              <a:avLst/>
              <a:gdLst/>
              <a:ahLst/>
              <a:cxnLst/>
              <a:rect l="l" t="t" r="r" b="b"/>
              <a:pathLst>
                <a:path w="162229" h="25189" extrusionOk="0">
                  <a:moveTo>
                    <a:pt x="0" y="5034"/>
                  </a:moveTo>
                  <a:cubicBezTo>
                    <a:pt x="8480" y="7017"/>
                    <a:pt x="31719" y="17755"/>
                    <a:pt x="50882" y="16929"/>
                  </a:cubicBezTo>
                  <a:cubicBezTo>
                    <a:pt x="70046" y="16103"/>
                    <a:pt x="96423" y="-1299"/>
                    <a:pt x="114981" y="78"/>
                  </a:cubicBezTo>
                  <a:cubicBezTo>
                    <a:pt x="133539" y="1455"/>
                    <a:pt x="154354" y="21004"/>
                    <a:pt x="162229" y="25189"/>
                  </a:cubicBezTo>
                </a:path>
              </a:pathLst>
            </a:cu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Google Shape;262;p32">
              <a:extLst>
                <a:ext uri="{FF2B5EF4-FFF2-40B4-BE49-F238E27FC236}">
                  <a16:creationId xmlns:a16="http://schemas.microsoft.com/office/drawing/2014/main" id="{B577DA9D-C2C1-E38F-4FCB-12CA00970DA3}"/>
                </a:ext>
              </a:extLst>
            </p:cNvPr>
            <p:cNvSpPr/>
            <p:nvPr/>
          </p:nvSpPr>
          <p:spPr>
            <a:xfrm>
              <a:off x="1065550" y="2882800"/>
              <a:ext cx="4501800" cy="784700"/>
            </a:xfrm>
            <a:custGeom>
              <a:avLst/>
              <a:gdLst/>
              <a:ahLst/>
              <a:cxnLst/>
              <a:rect l="l" t="t" r="r" b="b"/>
              <a:pathLst>
                <a:path w="180072" h="31388" extrusionOk="0">
                  <a:moveTo>
                    <a:pt x="0" y="0"/>
                  </a:moveTo>
                  <a:cubicBezTo>
                    <a:pt x="11619" y="3139"/>
                    <a:pt x="48074" y="18227"/>
                    <a:pt x="69716" y="18833"/>
                  </a:cubicBezTo>
                  <a:cubicBezTo>
                    <a:pt x="91358" y="19439"/>
                    <a:pt x="111457" y="1542"/>
                    <a:pt x="129850" y="3634"/>
                  </a:cubicBezTo>
                  <a:cubicBezTo>
                    <a:pt x="148243" y="5727"/>
                    <a:pt x="171702" y="26762"/>
                    <a:pt x="180072" y="31388"/>
                  </a:cubicBezTo>
                </a:path>
              </a:pathLst>
            </a:cu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Google Shape;263;p32">
            <a:extLst>
              <a:ext uri="{FF2B5EF4-FFF2-40B4-BE49-F238E27FC236}">
                <a16:creationId xmlns:a16="http://schemas.microsoft.com/office/drawing/2014/main" id="{E9888553-F08F-DBD4-968B-35731BC99FDD}"/>
              </a:ext>
            </a:extLst>
          </p:cNvPr>
          <p:cNvSpPr/>
          <p:nvPr/>
        </p:nvSpPr>
        <p:spPr>
          <a:xfrm>
            <a:off x="2406608" y="3245971"/>
            <a:ext cx="9023392" cy="1094642"/>
          </a:xfrm>
          <a:custGeom>
            <a:avLst/>
            <a:gdLst/>
            <a:ahLst/>
            <a:cxnLst/>
            <a:rect l="l" t="t" r="r" b="b"/>
            <a:pathLst>
              <a:path w="241527" h="32390" extrusionOk="0">
                <a:moveTo>
                  <a:pt x="0" y="3634"/>
                </a:moveTo>
                <a:cubicBezTo>
                  <a:pt x="9747" y="6332"/>
                  <a:pt x="37997" y="19824"/>
                  <a:pt x="58482" y="19824"/>
                </a:cubicBezTo>
                <a:cubicBezTo>
                  <a:pt x="78967" y="19824"/>
                  <a:pt x="101820" y="1541"/>
                  <a:pt x="122911" y="3634"/>
                </a:cubicBezTo>
                <a:cubicBezTo>
                  <a:pt x="144002" y="5727"/>
                  <a:pt x="165259" y="32986"/>
                  <a:pt x="185028" y="32380"/>
                </a:cubicBezTo>
                <a:cubicBezTo>
                  <a:pt x="204797" y="31774"/>
                  <a:pt x="232111" y="5397"/>
                  <a:pt x="241527" y="0"/>
                </a:cubicBezTo>
              </a:path>
            </a:pathLst>
          </a:custGeom>
          <a:noFill/>
          <a:ln w="38100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oogle Shape;265;p32">
            <a:extLst>
              <a:ext uri="{FF2B5EF4-FFF2-40B4-BE49-F238E27FC236}">
                <a16:creationId xmlns:a16="http://schemas.microsoft.com/office/drawing/2014/main" id="{B9C4887D-13D2-B420-BBAA-FD79589CCD7E}"/>
              </a:ext>
            </a:extLst>
          </p:cNvPr>
          <p:cNvSpPr/>
          <p:nvPr/>
        </p:nvSpPr>
        <p:spPr>
          <a:xfrm>
            <a:off x="6148955" y="4221466"/>
            <a:ext cx="1929118" cy="190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Relay 2</a:t>
            </a:r>
            <a:endParaRPr dirty="0"/>
          </a:p>
        </p:txBody>
      </p:sp>
      <p:sp>
        <p:nvSpPr>
          <p:cNvPr id="26" name="Google Shape;266;p32">
            <a:extLst>
              <a:ext uri="{FF2B5EF4-FFF2-40B4-BE49-F238E27FC236}">
                <a16:creationId xmlns:a16="http://schemas.microsoft.com/office/drawing/2014/main" id="{EDB7551D-40D0-C11F-4A9D-85A85D6655ED}"/>
              </a:ext>
            </a:extLst>
          </p:cNvPr>
          <p:cNvSpPr/>
          <p:nvPr/>
        </p:nvSpPr>
        <p:spPr>
          <a:xfrm>
            <a:off x="6219154" y="4689171"/>
            <a:ext cx="1696993" cy="1322993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Relay 3</a:t>
            </a:r>
            <a:endParaRPr dirty="0"/>
          </a:p>
        </p:txBody>
      </p:sp>
      <p:sp>
        <p:nvSpPr>
          <p:cNvPr id="27" name="Google Shape;267;p32">
            <a:extLst>
              <a:ext uri="{FF2B5EF4-FFF2-40B4-BE49-F238E27FC236}">
                <a16:creationId xmlns:a16="http://schemas.microsoft.com/office/drawing/2014/main" id="{93265370-7343-D75D-8BE8-9A094CD0FD39}"/>
              </a:ext>
            </a:extLst>
          </p:cNvPr>
          <p:cNvSpPr/>
          <p:nvPr/>
        </p:nvSpPr>
        <p:spPr>
          <a:xfrm>
            <a:off x="6339153" y="5153734"/>
            <a:ext cx="1456993" cy="743266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Bob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Hello world</a:t>
            </a:r>
            <a:endParaRPr dirty="0"/>
          </a:p>
        </p:txBody>
      </p:sp>
      <p:sp>
        <p:nvSpPr>
          <p:cNvPr id="28" name="Google Shape;268;p32">
            <a:extLst>
              <a:ext uri="{FF2B5EF4-FFF2-40B4-BE49-F238E27FC236}">
                <a16:creationId xmlns:a16="http://schemas.microsoft.com/office/drawing/2014/main" id="{87C652C5-4620-E568-3AD9-9D281F87A6D1}"/>
              </a:ext>
            </a:extLst>
          </p:cNvPr>
          <p:cNvSpPr/>
          <p:nvPr/>
        </p:nvSpPr>
        <p:spPr>
          <a:xfrm>
            <a:off x="1744674" y="1563494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877A935C-FA92-07F8-AC76-1193EB611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347"/>
            <a:ext cx="10515600" cy="854075"/>
          </a:xfrm>
        </p:spPr>
        <p:txBody>
          <a:bodyPr/>
          <a:lstStyle/>
          <a:p>
            <a:r>
              <a:rPr lang="en" dirty="0"/>
              <a:t>Tor Circuits</a:t>
            </a:r>
            <a:endParaRPr lang="en-US" dirty="0"/>
          </a:p>
        </p:txBody>
      </p:sp>
      <p:sp>
        <p:nvSpPr>
          <p:cNvPr id="32" name="Google Shape;268;p32">
            <a:extLst>
              <a:ext uri="{FF2B5EF4-FFF2-40B4-BE49-F238E27FC236}">
                <a16:creationId xmlns:a16="http://schemas.microsoft.com/office/drawing/2014/main" id="{DC214A5F-606A-E304-5B21-C59CDDE67FDB}"/>
              </a:ext>
            </a:extLst>
          </p:cNvPr>
          <p:cNvSpPr/>
          <p:nvPr/>
        </p:nvSpPr>
        <p:spPr>
          <a:xfrm>
            <a:off x="3528797" y="1825013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3" name="Google Shape;268;p32">
            <a:extLst>
              <a:ext uri="{FF2B5EF4-FFF2-40B4-BE49-F238E27FC236}">
                <a16:creationId xmlns:a16="http://schemas.microsoft.com/office/drawing/2014/main" id="{144BF99F-8210-18AB-5DA7-5B059D004A3C}"/>
              </a:ext>
            </a:extLst>
          </p:cNvPr>
          <p:cNvSpPr/>
          <p:nvPr/>
        </p:nvSpPr>
        <p:spPr>
          <a:xfrm>
            <a:off x="5180919" y="2218775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4" name="Google Shape;268;p32">
            <a:extLst>
              <a:ext uri="{FF2B5EF4-FFF2-40B4-BE49-F238E27FC236}">
                <a16:creationId xmlns:a16="http://schemas.microsoft.com/office/drawing/2014/main" id="{4C79ACAC-E451-4C70-B68D-35F3DA0F7B50}"/>
              </a:ext>
            </a:extLst>
          </p:cNvPr>
          <p:cNvSpPr/>
          <p:nvPr/>
        </p:nvSpPr>
        <p:spPr>
          <a:xfrm>
            <a:off x="5611628" y="995372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5" name="Google Shape;268;p32">
            <a:extLst>
              <a:ext uri="{FF2B5EF4-FFF2-40B4-BE49-F238E27FC236}">
                <a16:creationId xmlns:a16="http://schemas.microsoft.com/office/drawing/2014/main" id="{2ED3BF48-5308-BB40-25B2-B59E2BD67C51}"/>
              </a:ext>
            </a:extLst>
          </p:cNvPr>
          <p:cNvSpPr/>
          <p:nvPr/>
        </p:nvSpPr>
        <p:spPr>
          <a:xfrm>
            <a:off x="7667606" y="2185664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6" name="Google Shape;268;p32">
            <a:extLst>
              <a:ext uri="{FF2B5EF4-FFF2-40B4-BE49-F238E27FC236}">
                <a16:creationId xmlns:a16="http://schemas.microsoft.com/office/drawing/2014/main" id="{663B0DD0-B9D0-6265-262B-A2A3FBA3B188}"/>
              </a:ext>
            </a:extLst>
          </p:cNvPr>
          <p:cNvSpPr/>
          <p:nvPr/>
        </p:nvSpPr>
        <p:spPr>
          <a:xfrm>
            <a:off x="8482714" y="1348002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4" name="Google Shape;244;p32">
            <a:extLst>
              <a:ext uri="{FF2B5EF4-FFF2-40B4-BE49-F238E27FC236}">
                <a16:creationId xmlns:a16="http://schemas.microsoft.com/office/drawing/2014/main" id="{65F67C72-C330-3938-F94C-543F5FDBABD8}"/>
              </a:ext>
            </a:extLst>
          </p:cNvPr>
          <p:cNvSpPr/>
          <p:nvPr/>
        </p:nvSpPr>
        <p:spPr>
          <a:xfrm>
            <a:off x="807631" y="2496457"/>
            <a:ext cx="1685675" cy="778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Alice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CC0000"/>
                </a:solidFill>
              </a:rPr>
              <a:t>K</a:t>
            </a:r>
            <a:r>
              <a:rPr lang="en" sz="2400" i="1" baseline="-25000" dirty="0">
                <a:solidFill>
                  <a:srgbClr val="CC0000"/>
                </a:solidFill>
              </a:rPr>
              <a:t>1</a:t>
            </a:r>
            <a:r>
              <a:rPr lang="en" sz="2400" i="1" dirty="0"/>
              <a:t>, </a:t>
            </a:r>
            <a:r>
              <a:rPr lang="en" sz="2400" i="1" dirty="0">
                <a:solidFill>
                  <a:srgbClr val="BF9000"/>
                </a:solidFill>
              </a:rPr>
              <a:t>K</a:t>
            </a:r>
            <a:r>
              <a:rPr lang="en" sz="2400" i="1" baseline="-25000" dirty="0">
                <a:solidFill>
                  <a:srgbClr val="BF9000"/>
                </a:solidFill>
              </a:rPr>
              <a:t>2</a:t>
            </a:r>
            <a:r>
              <a:rPr lang="en" sz="2400" i="1" dirty="0"/>
              <a:t>, </a:t>
            </a:r>
            <a:r>
              <a:rPr lang="en" sz="2400" i="1" dirty="0">
                <a:solidFill>
                  <a:srgbClr val="38761D"/>
                </a:solidFill>
              </a:rPr>
              <a:t>K</a:t>
            </a:r>
            <a:r>
              <a:rPr lang="en" sz="2400" i="1" baseline="-25000" dirty="0">
                <a:solidFill>
                  <a:srgbClr val="38761D"/>
                </a:solidFill>
              </a:rPr>
              <a:t>3</a:t>
            </a:r>
            <a:endParaRPr sz="2400" i="1" baseline="-25000" dirty="0">
              <a:solidFill>
                <a:srgbClr val="38761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285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6C412-AF57-FAE9-A760-0494265EE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C1098-D95A-6171-044B-71BC9EC56DCC}"/>
              </a:ext>
            </a:extLst>
          </p:cNvPr>
          <p:cNvSpPr txBox="1">
            <a:spLocks/>
          </p:cNvSpPr>
          <p:nvPr/>
        </p:nvSpPr>
        <p:spPr>
          <a:xfrm>
            <a:off x="838200" y="143347"/>
            <a:ext cx="10515600" cy="854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dirty="0"/>
              <a:t>Tor </a:t>
            </a:r>
            <a:r>
              <a:rPr lang="en-US" dirty="0"/>
              <a:t>Packet Construction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0504DDC-6CC3-F44E-B48A-23C687E76338}"/>
              </a:ext>
            </a:extLst>
          </p:cNvPr>
          <p:cNvGrpSpPr/>
          <p:nvPr/>
        </p:nvGrpSpPr>
        <p:grpSpPr>
          <a:xfrm>
            <a:off x="8907464" y="1395461"/>
            <a:ext cx="2752015" cy="4681501"/>
            <a:chOff x="9856800" y="1913925"/>
            <a:chExt cx="1497000" cy="3467650"/>
          </a:xfrm>
        </p:grpSpPr>
        <p:sp>
          <p:nvSpPr>
            <p:cNvPr id="4" name="Google Shape;284;p33">
              <a:extLst>
                <a:ext uri="{FF2B5EF4-FFF2-40B4-BE49-F238E27FC236}">
                  <a16:creationId xmlns:a16="http://schemas.microsoft.com/office/drawing/2014/main" id="{7B5D08CB-A6F6-34BD-8743-F41BAC5C2876}"/>
                </a:ext>
              </a:extLst>
            </p:cNvPr>
            <p:cNvSpPr/>
            <p:nvPr/>
          </p:nvSpPr>
          <p:spPr>
            <a:xfrm>
              <a:off x="10072500" y="1913925"/>
              <a:ext cx="1065600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Alice</a:t>
              </a:r>
              <a:endParaRPr/>
            </a:p>
          </p:txBody>
        </p:sp>
        <p:sp>
          <p:nvSpPr>
            <p:cNvPr id="5" name="Google Shape;285;p33">
              <a:extLst>
                <a:ext uri="{FF2B5EF4-FFF2-40B4-BE49-F238E27FC236}">
                  <a16:creationId xmlns:a16="http://schemas.microsoft.com/office/drawing/2014/main" id="{F77E8A45-734B-5821-40BE-7C05D565516D}"/>
                </a:ext>
              </a:extLst>
            </p:cNvPr>
            <p:cNvSpPr/>
            <p:nvPr/>
          </p:nvSpPr>
          <p:spPr>
            <a:xfrm>
              <a:off x="10072500" y="4808875"/>
              <a:ext cx="1065600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Bob</a:t>
              </a:r>
              <a:endParaRPr sz="900" i="1">
                <a:solidFill>
                  <a:srgbClr val="1155CC"/>
                </a:solidFill>
              </a:endParaRPr>
            </a:p>
          </p:txBody>
        </p:sp>
        <p:sp>
          <p:nvSpPr>
            <p:cNvPr id="6" name="Google Shape;286;p33">
              <a:extLst>
                <a:ext uri="{FF2B5EF4-FFF2-40B4-BE49-F238E27FC236}">
                  <a16:creationId xmlns:a16="http://schemas.microsoft.com/office/drawing/2014/main" id="{65AF53E6-E633-DC52-0F5D-22CF9D660B9D}"/>
                </a:ext>
              </a:extLst>
            </p:cNvPr>
            <p:cNvSpPr/>
            <p:nvPr/>
          </p:nvSpPr>
          <p:spPr>
            <a:xfrm>
              <a:off x="9856800" y="2869512"/>
              <a:ext cx="1497000" cy="393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Relay 1: </a:t>
              </a:r>
              <a:r>
                <a:rPr lang="en" i="1">
                  <a:solidFill>
                    <a:srgbClr val="CC0000"/>
                  </a:solidFill>
                </a:rPr>
                <a:t>K</a:t>
              </a:r>
              <a:r>
                <a:rPr lang="en" sz="900" i="1">
                  <a:solidFill>
                    <a:srgbClr val="CC0000"/>
                  </a:solidFill>
                </a:rPr>
                <a:t>1</a:t>
              </a:r>
              <a:endParaRPr sz="900" i="1">
                <a:solidFill>
                  <a:srgbClr val="CC0000"/>
                </a:solidFill>
              </a:endParaRPr>
            </a:p>
          </p:txBody>
        </p:sp>
        <p:sp>
          <p:nvSpPr>
            <p:cNvPr id="7" name="Google Shape;287;p33">
              <a:extLst>
                <a:ext uri="{FF2B5EF4-FFF2-40B4-BE49-F238E27FC236}">
                  <a16:creationId xmlns:a16="http://schemas.microsoft.com/office/drawing/2014/main" id="{BF98B300-E873-1EDF-C5EF-D85E5B9B28BF}"/>
                </a:ext>
              </a:extLst>
            </p:cNvPr>
            <p:cNvSpPr/>
            <p:nvPr/>
          </p:nvSpPr>
          <p:spPr>
            <a:xfrm>
              <a:off x="9856800" y="3463262"/>
              <a:ext cx="1497000" cy="3936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Relay 2: </a:t>
              </a:r>
              <a:r>
                <a:rPr lang="en" i="1" dirty="0">
                  <a:solidFill>
                    <a:srgbClr val="BF9000"/>
                  </a:solidFill>
                </a:rPr>
                <a:t>K</a:t>
              </a:r>
              <a:r>
                <a:rPr lang="en" sz="900" i="1" dirty="0">
                  <a:solidFill>
                    <a:srgbClr val="BF9000"/>
                  </a:solidFill>
                </a:rPr>
                <a:t>2</a:t>
              </a:r>
              <a:endParaRPr sz="900" i="1" dirty="0">
                <a:solidFill>
                  <a:srgbClr val="BF9000"/>
                </a:solidFill>
              </a:endParaRPr>
            </a:p>
          </p:txBody>
        </p:sp>
        <p:sp>
          <p:nvSpPr>
            <p:cNvPr id="8" name="Google Shape;288;p33">
              <a:extLst>
                <a:ext uri="{FF2B5EF4-FFF2-40B4-BE49-F238E27FC236}">
                  <a16:creationId xmlns:a16="http://schemas.microsoft.com/office/drawing/2014/main" id="{0F6A8ABB-D844-352F-79DB-6482E64EDBC5}"/>
                </a:ext>
              </a:extLst>
            </p:cNvPr>
            <p:cNvSpPr/>
            <p:nvPr/>
          </p:nvSpPr>
          <p:spPr>
            <a:xfrm>
              <a:off x="9856800" y="4057012"/>
              <a:ext cx="1497000" cy="3690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Relay: </a:t>
              </a:r>
              <a:r>
                <a:rPr lang="en" i="1">
                  <a:solidFill>
                    <a:srgbClr val="38761D"/>
                  </a:solidFill>
                </a:rPr>
                <a:t>K</a:t>
              </a:r>
              <a:r>
                <a:rPr lang="en" sz="900" i="1">
                  <a:solidFill>
                    <a:srgbClr val="38761D"/>
                  </a:solidFill>
                </a:rPr>
                <a:t>3</a:t>
              </a:r>
              <a:endParaRPr sz="900" i="1">
                <a:solidFill>
                  <a:srgbClr val="38761D"/>
                </a:solidFill>
              </a:endParaRPr>
            </a:p>
          </p:txBody>
        </p:sp>
        <p:cxnSp>
          <p:nvCxnSpPr>
            <p:cNvPr id="9" name="Google Shape;289;p33">
              <a:extLst>
                <a:ext uri="{FF2B5EF4-FFF2-40B4-BE49-F238E27FC236}">
                  <a16:creationId xmlns:a16="http://schemas.microsoft.com/office/drawing/2014/main" id="{C1DDBAA1-1110-8822-7C4C-D104D407DF6F}"/>
                </a:ext>
              </a:extLst>
            </p:cNvPr>
            <p:cNvCxnSpPr>
              <a:stCxn id="4" idx="2"/>
              <a:endCxn id="6" idx="0"/>
            </p:cNvCxnSpPr>
            <p:nvPr/>
          </p:nvCxnSpPr>
          <p:spPr>
            <a:xfrm>
              <a:off x="10605300" y="2486625"/>
              <a:ext cx="0" cy="382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" name="Google Shape;290;p33">
              <a:extLst>
                <a:ext uri="{FF2B5EF4-FFF2-40B4-BE49-F238E27FC236}">
                  <a16:creationId xmlns:a16="http://schemas.microsoft.com/office/drawing/2014/main" id="{4EAB8F5F-B0A7-CF1C-4E4E-EB8D927A0758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>
              <a:off x="10605300" y="3263112"/>
              <a:ext cx="0" cy="200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" name="Google Shape;291;p33">
              <a:extLst>
                <a:ext uri="{FF2B5EF4-FFF2-40B4-BE49-F238E27FC236}">
                  <a16:creationId xmlns:a16="http://schemas.microsoft.com/office/drawing/2014/main" id="{8379E03F-5EEB-B09E-D3CD-B69785E1AC91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10605300" y="3856862"/>
              <a:ext cx="0" cy="200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" name="Google Shape;292;p33">
              <a:extLst>
                <a:ext uri="{FF2B5EF4-FFF2-40B4-BE49-F238E27FC236}">
                  <a16:creationId xmlns:a16="http://schemas.microsoft.com/office/drawing/2014/main" id="{F1047661-A795-7B71-616B-276C1ED6CDB0}"/>
                </a:ext>
              </a:extLst>
            </p:cNvPr>
            <p:cNvCxnSpPr>
              <a:stCxn id="8" idx="2"/>
              <a:endCxn id="5" idx="0"/>
            </p:cNvCxnSpPr>
            <p:nvPr/>
          </p:nvCxnSpPr>
          <p:spPr>
            <a:xfrm>
              <a:off x="10605300" y="4426012"/>
              <a:ext cx="0" cy="382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7" name="Google Shape;365;p35">
            <a:extLst>
              <a:ext uri="{FF2B5EF4-FFF2-40B4-BE49-F238E27FC236}">
                <a16:creationId xmlns:a16="http://schemas.microsoft.com/office/drawing/2014/main" id="{BC1623C5-504F-1DCC-22FD-A7C8FAAA601B}"/>
              </a:ext>
            </a:extLst>
          </p:cNvPr>
          <p:cNvSpPr txBox="1"/>
          <p:nvPr/>
        </p:nvSpPr>
        <p:spPr>
          <a:xfrm>
            <a:off x="974805" y="5138732"/>
            <a:ext cx="6262122" cy="1292631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2400" dirty="0"/>
              <a:t>All Relay 2 knows is the message came from Relay 1 and is going to Relay 3. They know nothing about Alice and Bob!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7B847E-4DE7-4A9F-2627-19E795DFB498}"/>
              </a:ext>
            </a:extLst>
          </p:cNvPr>
          <p:cNvSpPr txBox="1"/>
          <p:nvPr/>
        </p:nvSpPr>
        <p:spPr>
          <a:xfrm>
            <a:off x="941035" y="123400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 does Relay 2 see?</a:t>
            </a:r>
          </a:p>
        </p:txBody>
      </p:sp>
      <p:sp>
        <p:nvSpPr>
          <p:cNvPr id="23" name="Google Shape;294;p33">
            <a:extLst>
              <a:ext uri="{FF2B5EF4-FFF2-40B4-BE49-F238E27FC236}">
                <a16:creationId xmlns:a16="http://schemas.microsoft.com/office/drawing/2014/main" id="{B39C0A24-8A10-3EEF-39C6-BAFBA44C4349}"/>
              </a:ext>
            </a:extLst>
          </p:cNvPr>
          <p:cNvSpPr/>
          <p:nvPr/>
        </p:nvSpPr>
        <p:spPr>
          <a:xfrm>
            <a:off x="1099530" y="2734116"/>
            <a:ext cx="2583669" cy="184885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Relay 2, From: R1</a:t>
            </a:r>
            <a:endParaRPr dirty="0"/>
          </a:p>
        </p:txBody>
      </p:sp>
      <p:sp>
        <p:nvSpPr>
          <p:cNvPr id="24" name="Google Shape;295;p33">
            <a:extLst>
              <a:ext uri="{FF2B5EF4-FFF2-40B4-BE49-F238E27FC236}">
                <a16:creationId xmlns:a16="http://schemas.microsoft.com/office/drawing/2014/main" id="{C446FCCF-B0B4-225D-1F49-8340A788F10D}"/>
              </a:ext>
            </a:extLst>
          </p:cNvPr>
          <p:cNvSpPr/>
          <p:nvPr/>
        </p:nvSpPr>
        <p:spPr>
          <a:xfrm>
            <a:off x="1227580" y="3201529"/>
            <a:ext cx="2300711" cy="1251362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Relay 3, From: R2</a:t>
            </a:r>
            <a:endParaRPr dirty="0"/>
          </a:p>
        </p:txBody>
      </p:sp>
      <p:sp>
        <p:nvSpPr>
          <p:cNvPr id="25" name="Google Shape;296;p33">
            <a:extLst>
              <a:ext uri="{FF2B5EF4-FFF2-40B4-BE49-F238E27FC236}">
                <a16:creationId xmlns:a16="http://schemas.microsoft.com/office/drawing/2014/main" id="{7110D6FC-98C3-3974-8B84-6C2DB6A3CD65}"/>
              </a:ext>
            </a:extLst>
          </p:cNvPr>
          <p:cNvSpPr/>
          <p:nvPr/>
        </p:nvSpPr>
        <p:spPr>
          <a:xfrm>
            <a:off x="1323880" y="3626866"/>
            <a:ext cx="1692573" cy="7038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??????</a:t>
            </a:r>
            <a:endParaRPr dirty="0"/>
          </a:p>
        </p:txBody>
      </p:sp>
      <p:grpSp>
        <p:nvGrpSpPr>
          <p:cNvPr id="26" name="Google Shape;297;p33">
            <a:extLst>
              <a:ext uri="{FF2B5EF4-FFF2-40B4-BE49-F238E27FC236}">
                <a16:creationId xmlns:a16="http://schemas.microsoft.com/office/drawing/2014/main" id="{6FBB7237-8F7D-5701-A5AD-7CF9E952FF1A}"/>
              </a:ext>
            </a:extLst>
          </p:cNvPr>
          <p:cNvGrpSpPr/>
          <p:nvPr/>
        </p:nvGrpSpPr>
        <p:grpSpPr>
          <a:xfrm>
            <a:off x="3528291" y="3303278"/>
            <a:ext cx="3895303" cy="664800"/>
            <a:chOff x="4748141" y="2716949"/>
            <a:chExt cx="3895303" cy="664800"/>
          </a:xfrm>
        </p:grpSpPr>
        <p:cxnSp>
          <p:nvCxnSpPr>
            <p:cNvPr id="28" name="Google Shape;298;p33">
              <a:extLst>
                <a:ext uri="{FF2B5EF4-FFF2-40B4-BE49-F238E27FC236}">
                  <a16:creationId xmlns:a16="http://schemas.microsoft.com/office/drawing/2014/main" id="{8370F0F9-30DB-B8E8-6C86-D4ABB34060EA}"/>
                </a:ext>
              </a:extLst>
            </p:cNvPr>
            <p:cNvCxnSpPr>
              <a:cxnSpLocks/>
              <a:stCxn id="30" idx="1"/>
            </p:cNvCxnSpPr>
            <p:nvPr/>
          </p:nvCxnSpPr>
          <p:spPr>
            <a:xfrm flipH="1">
              <a:off x="4748141" y="2953937"/>
              <a:ext cx="1276358" cy="427812"/>
            </a:xfrm>
            <a:prstGeom prst="straightConnector1">
              <a:avLst/>
            </a:prstGeom>
            <a:noFill/>
            <a:ln w="9525" cap="flat" cmpd="sng">
              <a:solidFill>
                <a:srgbClr val="BF9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0" name="Google Shape;299;p33">
              <a:extLst>
                <a:ext uri="{FF2B5EF4-FFF2-40B4-BE49-F238E27FC236}">
                  <a16:creationId xmlns:a16="http://schemas.microsoft.com/office/drawing/2014/main" id="{8435CD0F-A8BE-B0DC-8FE6-AF0361A5B1B3}"/>
                </a:ext>
              </a:extLst>
            </p:cNvPr>
            <p:cNvSpPr/>
            <p:nvPr/>
          </p:nvSpPr>
          <p:spPr>
            <a:xfrm>
              <a:off x="6024499" y="2716949"/>
              <a:ext cx="2618945" cy="473975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Encrypted with </a:t>
              </a:r>
              <a:r>
                <a:rPr lang="en" i="1" dirty="0">
                  <a:solidFill>
                    <a:srgbClr val="BF9000"/>
                  </a:solidFill>
                </a:rPr>
                <a:t>K</a:t>
              </a:r>
              <a:r>
                <a:rPr lang="en" sz="900" i="1" dirty="0">
                  <a:solidFill>
                    <a:srgbClr val="BF9000"/>
                  </a:solidFill>
                </a:rPr>
                <a:t>2</a:t>
              </a:r>
              <a:endParaRPr sz="900" i="1" dirty="0">
                <a:solidFill>
                  <a:srgbClr val="BF9000"/>
                </a:solidFill>
              </a:endParaRPr>
            </a:p>
          </p:txBody>
        </p:sp>
      </p:grpSp>
      <p:grpSp>
        <p:nvGrpSpPr>
          <p:cNvPr id="34" name="Google Shape;303;p33">
            <a:extLst>
              <a:ext uri="{FF2B5EF4-FFF2-40B4-BE49-F238E27FC236}">
                <a16:creationId xmlns:a16="http://schemas.microsoft.com/office/drawing/2014/main" id="{244C2A67-34A0-6E5C-C425-3343CFC368FD}"/>
              </a:ext>
            </a:extLst>
          </p:cNvPr>
          <p:cNvGrpSpPr/>
          <p:nvPr/>
        </p:nvGrpSpPr>
        <p:grpSpPr>
          <a:xfrm>
            <a:off x="3016453" y="3968078"/>
            <a:ext cx="4407147" cy="473975"/>
            <a:chOff x="4236153" y="3434849"/>
            <a:chExt cx="4407147" cy="473975"/>
          </a:xfrm>
        </p:grpSpPr>
        <p:cxnSp>
          <p:nvCxnSpPr>
            <p:cNvPr id="35" name="Google Shape;304;p33">
              <a:extLst>
                <a:ext uri="{FF2B5EF4-FFF2-40B4-BE49-F238E27FC236}">
                  <a16:creationId xmlns:a16="http://schemas.microsoft.com/office/drawing/2014/main" id="{758601A6-8262-160C-4601-713642081978}"/>
                </a:ext>
              </a:extLst>
            </p:cNvPr>
            <p:cNvCxnSpPr>
              <a:cxnSpLocks/>
              <a:stCxn id="36" idx="1"/>
            </p:cNvCxnSpPr>
            <p:nvPr/>
          </p:nvCxnSpPr>
          <p:spPr>
            <a:xfrm flipH="1">
              <a:off x="4236153" y="3671837"/>
              <a:ext cx="1788197" cy="19675"/>
            </a:xfrm>
            <a:prstGeom prst="straightConnector1">
              <a:avLst/>
            </a:prstGeom>
            <a:noFill/>
            <a:ln w="9525" cap="flat" cmpd="sng">
              <a:solidFill>
                <a:srgbClr val="38761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6" name="Google Shape;305;p33">
              <a:extLst>
                <a:ext uri="{FF2B5EF4-FFF2-40B4-BE49-F238E27FC236}">
                  <a16:creationId xmlns:a16="http://schemas.microsoft.com/office/drawing/2014/main" id="{052C39A8-478A-AF77-A20B-ABC321725896}"/>
                </a:ext>
              </a:extLst>
            </p:cNvPr>
            <p:cNvSpPr/>
            <p:nvPr/>
          </p:nvSpPr>
          <p:spPr>
            <a:xfrm>
              <a:off x="6024350" y="3434849"/>
              <a:ext cx="2618950" cy="473975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Encrypted with </a:t>
              </a:r>
              <a:r>
                <a:rPr lang="en" i="1" dirty="0">
                  <a:solidFill>
                    <a:srgbClr val="38761D"/>
                  </a:solidFill>
                </a:rPr>
                <a:t>K</a:t>
              </a:r>
              <a:r>
                <a:rPr lang="en" sz="900" i="1" dirty="0">
                  <a:solidFill>
                    <a:srgbClr val="38761D"/>
                  </a:solidFill>
                </a:rPr>
                <a:t>3</a:t>
              </a:r>
              <a:endParaRPr sz="900" i="1" dirty="0">
                <a:solidFill>
                  <a:srgbClr val="38761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6063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4CA30-D2A0-80D7-CBF2-77EF9F0EC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50;p32">
            <a:extLst>
              <a:ext uri="{FF2B5EF4-FFF2-40B4-BE49-F238E27FC236}">
                <a16:creationId xmlns:a16="http://schemas.microsoft.com/office/drawing/2014/main" id="{28EF42FC-120C-FB88-F4A5-DF50084D54FB}"/>
              </a:ext>
            </a:extLst>
          </p:cNvPr>
          <p:cNvSpPr/>
          <p:nvPr/>
        </p:nvSpPr>
        <p:spPr>
          <a:xfrm>
            <a:off x="10631548" y="2782031"/>
            <a:ext cx="1444503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Bob</a:t>
            </a:r>
            <a:endParaRPr sz="2400" i="1" dirty="0">
              <a:solidFill>
                <a:srgbClr val="1155CC"/>
              </a:solidFill>
            </a:endParaRPr>
          </a:p>
        </p:txBody>
      </p:sp>
      <p:sp>
        <p:nvSpPr>
          <p:cNvPr id="11" name="Google Shape;251;p32">
            <a:extLst>
              <a:ext uri="{FF2B5EF4-FFF2-40B4-BE49-F238E27FC236}">
                <a16:creationId xmlns:a16="http://schemas.microsoft.com/office/drawing/2014/main" id="{2F37D94B-356A-C895-BBAC-0A1FD4813571}"/>
              </a:ext>
            </a:extLst>
          </p:cNvPr>
          <p:cNvSpPr/>
          <p:nvPr/>
        </p:nvSpPr>
        <p:spPr>
          <a:xfrm>
            <a:off x="3318039" y="3255911"/>
            <a:ext cx="1280160" cy="128016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Relay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CC0000"/>
                </a:solidFill>
              </a:rPr>
              <a:t>K1</a:t>
            </a:r>
            <a:endParaRPr sz="2400" i="1" dirty="0">
              <a:solidFill>
                <a:srgbClr val="CC0000"/>
              </a:solidFill>
            </a:endParaRPr>
          </a:p>
        </p:txBody>
      </p:sp>
      <p:sp>
        <p:nvSpPr>
          <p:cNvPr id="12" name="Google Shape;252;p32">
            <a:extLst>
              <a:ext uri="{FF2B5EF4-FFF2-40B4-BE49-F238E27FC236}">
                <a16:creationId xmlns:a16="http://schemas.microsoft.com/office/drawing/2014/main" id="{4E80F4FA-D73E-4C41-1B37-F33C560974B0}"/>
              </a:ext>
            </a:extLst>
          </p:cNvPr>
          <p:cNvSpPr/>
          <p:nvPr/>
        </p:nvSpPr>
        <p:spPr>
          <a:xfrm>
            <a:off x="6526709" y="2791628"/>
            <a:ext cx="1280160" cy="128016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Relay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BF9000"/>
                </a:solidFill>
              </a:rPr>
              <a:t>K</a:t>
            </a:r>
            <a:r>
              <a:rPr lang="en" sz="2400" i="1" baseline="-25000" dirty="0">
                <a:solidFill>
                  <a:srgbClr val="BF9000"/>
                </a:solidFill>
              </a:rPr>
              <a:t>2</a:t>
            </a:r>
            <a:endParaRPr sz="2400" i="1" baseline="-25000" dirty="0">
              <a:solidFill>
                <a:srgbClr val="BF9000"/>
              </a:solidFill>
            </a:endParaRPr>
          </a:p>
        </p:txBody>
      </p:sp>
      <p:sp>
        <p:nvSpPr>
          <p:cNvPr id="13" name="Google Shape;253;p32">
            <a:extLst>
              <a:ext uri="{FF2B5EF4-FFF2-40B4-BE49-F238E27FC236}">
                <a16:creationId xmlns:a16="http://schemas.microsoft.com/office/drawing/2014/main" id="{483E12F1-D6CD-B640-D4E6-CECFD682F85E}"/>
              </a:ext>
            </a:extLst>
          </p:cNvPr>
          <p:cNvSpPr/>
          <p:nvPr/>
        </p:nvSpPr>
        <p:spPr>
          <a:xfrm>
            <a:off x="8631677" y="3677511"/>
            <a:ext cx="1280160" cy="128016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Relay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38761D"/>
                </a:solidFill>
              </a:rPr>
              <a:t>K</a:t>
            </a:r>
            <a:r>
              <a:rPr lang="en" sz="2400" i="1" baseline="-25000" dirty="0">
                <a:solidFill>
                  <a:srgbClr val="38761D"/>
                </a:solidFill>
              </a:rPr>
              <a:t>3</a:t>
            </a:r>
            <a:endParaRPr sz="2400" i="1" baseline="-25000" dirty="0">
              <a:solidFill>
                <a:srgbClr val="38761D"/>
              </a:solidFill>
            </a:endParaRPr>
          </a:p>
        </p:txBody>
      </p:sp>
      <p:grpSp>
        <p:nvGrpSpPr>
          <p:cNvPr id="14" name="Google Shape;254;p32">
            <a:extLst>
              <a:ext uri="{FF2B5EF4-FFF2-40B4-BE49-F238E27FC236}">
                <a16:creationId xmlns:a16="http://schemas.microsoft.com/office/drawing/2014/main" id="{3F567967-7426-61DE-A743-9C15351FB323}"/>
              </a:ext>
            </a:extLst>
          </p:cNvPr>
          <p:cNvGrpSpPr/>
          <p:nvPr/>
        </p:nvGrpSpPr>
        <p:grpSpPr>
          <a:xfrm>
            <a:off x="1143000" y="2875916"/>
            <a:ext cx="2194549" cy="1242414"/>
            <a:chOff x="718625" y="2758900"/>
            <a:chExt cx="1577700" cy="636000"/>
          </a:xfrm>
        </p:grpSpPr>
        <p:cxnSp>
          <p:nvCxnSpPr>
            <p:cNvPr id="15" name="Google Shape;255;p32">
              <a:extLst>
                <a:ext uri="{FF2B5EF4-FFF2-40B4-BE49-F238E27FC236}">
                  <a16:creationId xmlns:a16="http://schemas.microsoft.com/office/drawing/2014/main" id="{0AE0BD06-24E4-785C-B565-675E21C9A162}"/>
                </a:ext>
              </a:extLst>
            </p:cNvPr>
            <p:cNvCxnSpPr/>
            <p:nvPr/>
          </p:nvCxnSpPr>
          <p:spPr>
            <a:xfrm>
              <a:off x="718625" y="2882800"/>
              <a:ext cx="1577700" cy="5121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256;p32">
              <a:extLst>
                <a:ext uri="{FF2B5EF4-FFF2-40B4-BE49-F238E27FC236}">
                  <a16:creationId xmlns:a16="http://schemas.microsoft.com/office/drawing/2014/main" id="{99BEB872-04D7-93E6-A2D5-863BD1F53695}"/>
                </a:ext>
              </a:extLst>
            </p:cNvPr>
            <p:cNvCxnSpPr/>
            <p:nvPr/>
          </p:nvCxnSpPr>
          <p:spPr>
            <a:xfrm>
              <a:off x="1519875" y="2758900"/>
              <a:ext cx="768300" cy="2478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" name="Google Shape;257;p32">
            <a:extLst>
              <a:ext uri="{FF2B5EF4-FFF2-40B4-BE49-F238E27FC236}">
                <a16:creationId xmlns:a16="http://schemas.microsoft.com/office/drawing/2014/main" id="{08E74F90-0553-BC6C-2369-859F914313A5}"/>
              </a:ext>
            </a:extLst>
          </p:cNvPr>
          <p:cNvGrpSpPr/>
          <p:nvPr/>
        </p:nvGrpSpPr>
        <p:grpSpPr>
          <a:xfrm>
            <a:off x="1619250" y="2996458"/>
            <a:ext cx="4907459" cy="1360018"/>
            <a:chOff x="883825" y="2750625"/>
            <a:chExt cx="3122350" cy="662575"/>
          </a:xfrm>
        </p:grpSpPr>
        <p:sp>
          <p:nvSpPr>
            <p:cNvPr id="18" name="Google Shape;258;p32">
              <a:extLst>
                <a:ext uri="{FF2B5EF4-FFF2-40B4-BE49-F238E27FC236}">
                  <a16:creationId xmlns:a16="http://schemas.microsoft.com/office/drawing/2014/main" id="{E57DBBF4-FB9D-F2B1-39B8-D1AAA04EA3D2}"/>
                </a:ext>
              </a:extLst>
            </p:cNvPr>
            <p:cNvSpPr/>
            <p:nvPr/>
          </p:nvSpPr>
          <p:spPr>
            <a:xfrm>
              <a:off x="1495100" y="2750625"/>
              <a:ext cx="2502825" cy="355650"/>
            </a:xfrm>
            <a:custGeom>
              <a:avLst/>
              <a:gdLst/>
              <a:ahLst/>
              <a:cxnLst/>
              <a:rect l="l" t="t" r="r" b="b"/>
              <a:pathLst>
                <a:path w="100113" h="14226" extrusionOk="0">
                  <a:moveTo>
                    <a:pt x="0" y="2974"/>
                  </a:moveTo>
                  <a:cubicBezTo>
                    <a:pt x="7875" y="4846"/>
                    <a:pt x="30563" y="14704"/>
                    <a:pt x="47248" y="14208"/>
                  </a:cubicBezTo>
                  <a:cubicBezTo>
                    <a:pt x="63934" y="13712"/>
                    <a:pt x="91302" y="2368"/>
                    <a:pt x="100113" y="0"/>
                  </a:cubicBezTo>
                </a:path>
              </a:pathLst>
            </a:cu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Google Shape;259;p32">
              <a:extLst>
                <a:ext uri="{FF2B5EF4-FFF2-40B4-BE49-F238E27FC236}">
                  <a16:creationId xmlns:a16="http://schemas.microsoft.com/office/drawing/2014/main" id="{ACAF922C-5A29-06D3-4563-698D15F2062C}"/>
                </a:ext>
              </a:extLst>
            </p:cNvPr>
            <p:cNvSpPr/>
            <p:nvPr/>
          </p:nvSpPr>
          <p:spPr>
            <a:xfrm>
              <a:off x="883825" y="2866275"/>
              <a:ext cx="3122350" cy="546925"/>
            </a:xfrm>
            <a:custGeom>
              <a:avLst/>
              <a:gdLst/>
              <a:ahLst/>
              <a:cxnLst/>
              <a:rect l="l" t="t" r="r" b="b"/>
              <a:pathLst>
                <a:path w="124894" h="21877" extrusionOk="0">
                  <a:moveTo>
                    <a:pt x="0" y="0"/>
                  </a:moveTo>
                  <a:cubicBezTo>
                    <a:pt x="12445" y="3635"/>
                    <a:pt x="53856" y="20651"/>
                    <a:pt x="74672" y="21807"/>
                  </a:cubicBezTo>
                  <a:cubicBezTo>
                    <a:pt x="95488" y="22964"/>
                    <a:pt x="116524" y="9417"/>
                    <a:pt x="124894" y="6939"/>
                  </a:cubicBezTo>
                </a:path>
              </a:pathLst>
            </a:cu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oogle Shape;260;p32">
            <a:extLst>
              <a:ext uri="{FF2B5EF4-FFF2-40B4-BE49-F238E27FC236}">
                <a16:creationId xmlns:a16="http://schemas.microsoft.com/office/drawing/2014/main" id="{ECF0FDB5-C310-06B5-7DC1-E4CB5D8B2F02}"/>
              </a:ext>
            </a:extLst>
          </p:cNvPr>
          <p:cNvGrpSpPr/>
          <p:nvPr/>
        </p:nvGrpSpPr>
        <p:grpSpPr>
          <a:xfrm>
            <a:off x="2199370" y="3224343"/>
            <a:ext cx="6432307" cy="1241721"/>
            <a:chOff x="1065550" y="2748687"/>
            <a:chExt cx="4501800" cy="918813"/>
          </a:xfrm>
        </p:grpSpPr>
        <p:sp>
          <p:nvSpPr>
            <p:cNvPr id="21" name="Google Shape;261;p32">
              <a:extLst>
                <a:ext uri="{FF2B5EF4-FFF2-40B4-BE49-F238E27FC236}">
                  <a16:creationId xmlns:a16="http://schemas.microsoft.com/office/drawing/2014/main" id="{D232B17E-A81F-4E0E-DAB8-428883C0DC08}"/>
                </a:ext>
              </a:extLst>
            </p:cNvPr>
            <p:cNvSpPr/>
            <p:nvPr/>
          </p:nvSpPr>
          <p:spPr>
            <a:xfrm>
              <a:off x="1495100" y="2748687"/>
              <a:ext cx="4055725" cy="629725"/>
            </a:xfrm>
            <a:custGeom>
              <a:avLst/>
              <a:gdLst/>
              <a:ahLst/>
              <a:cxnLst/>
              <a:rect l="l" t="t" r="r" b="b"/>
              <a:pathLst>
                <a:path w="162229" h="25189" extrusionOk="0">
                  <a:moveTo>
                    <a:pt x="0" y="5034"/>
                  </a:moveTo>
                  <a:cubicBezTo>
                    <a:pt x="8480" y="7017"/>
                    <a:pt x="31719" y="17755"/>
                    <a:pt x="50882" y="16929"/>
                  </a:cubicBezTo>
                  <a:cubicBezTo>
                    <a:pt x="70046" y="16103"/>
                    <a:pt x="96423" y="-1299"/>
                    <a:pt x="114981" y="78"/>
                  </a:cubicBezTo>
                  <a:cubicBezTo>
                    <a:pt x="133539" y="1455"/>
                    <a:pt x="154354" y="21004"/>
                    <a:pt x="162229" y="25189"/>
                  </a:cubicBezTo>
                </a:path>
              </a:pathLst>
            </a:cu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Google Shape;262;p32">
              <a:extLst>
                <a:ext uri="{FF2B5EF4-FFF2-40B4-BE49-F238E27FC236}">
                  <a16:creationId xmlns:a16="http://schemas.microsoft.com/office/drawing/2014/main" id="{85CC3861-9C67-344A-2B13-58F1A0132924}"/>
                </a:ext>
              </a:extLst>
            </p:cNvPr>
            <p:cNvSpPr/>
            <p:nvPr/>
          </p:nvSpPr>
          <p:spPr>
            <a:xfrm>
              <a:off x="1065550" y="2882800"/>
              <a:ext cx="4501800" cy="784700"/>
            </a:xfrm>
            <a:custGeom>
              <a:avLst/>
              <a:gdLst/>
              <a:ahLst/>
              <a:cxnLst/>
              <a:rect l="l" t="t" r="r" b="b"/>
              <a:pathLst>
                <a:path w="180072" h="31388" extrusionOk="0">
                  <a:moveTo>
                    <a:pt x="0" y="0"/>
                  </a:moveTo>
                  <a:cubicBezTo>
                    <a:pt x="11619" y="3139"/>
                    <a:pt x="48074" y="18227"/>
                    <a:pt x="69716" y="18833"/>
                  </a:cubicBezTo>
                  <a:cubicBezTo>
                    <a:pt x="91358" y="19439"/>
                    <a:pt x="111457" y="1542"/>
                    <a:pt x="129850" y="3634"/>
                  </a:cubicBezTo>
                  <a:cubicBezTo>
                    <a:pt x="148243" y="5727"/>
                    <a:pt x="171702" y="26762"/>
                    <a:pt x="180072" y="31388"/>
                  </a:cubicBezTo>
                </a:path>
              </a:pathLst>
            </a:cu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Google Shape;263;p32">
            <a:extLst>
              <a:ext uri="{FF2B5EF4-FFF2-40B4-BE49-F238E27FC236}">
                <a16:creationId xmlns:a16="http://schemas.microsoft.com/office/drawing/2014/main" id="{94424D04-FC4D-ECF8-F016-B4B74EA06208}"/>
              </a:ext>
            </a:extLst>
          </p:cNvPr>
          <p:cNvSpPr/>
          <p:nvPr/>
        </p:nvSpPr>
        <p:spPr>
          <a:xfrm>
            <a:off x="2406608" y="3245971"/>
            <a:ext cx="9023392" cy="1094642"/>
          </a:xfrm>
          <a:custGeom>
            <a:avLst/>
            <a:gdLst/>
            <a:ahLst/>
            <a:cxnLst/>
            <a:rect l="l" t="t" r="r" b="b"/>
            <a:pathLst>
              <a:path w="241527" h="32390" extrusionOk="0">
                <a:moveTo>
                  <a:pt x="0" y="3634"/>
                </a:moveTo>
                <a:cubicBezTo>
                  <a:pt x="9747" y="6332"/>
                  <a:pt x="37997" y="19824"/>
                  <a:pt x="58482" y="19824"/>
                </a:cubicBezTo>
                <a:cubicBezTo>
                  <a:pt x="78967" y="19824"/>
                  <a:pt x="101820" y="1541"/>
                  <a:pt x="122911" y="3634"/>
                </a:cubicBezTo>
                <a:cubicBezTo>
                  <a:pt x="144002" y="5727"/>
                  <a:pt x="165259" y="32986"/>
                  <a:pt x="185028" y="32380"/>
                </a:cubicBezTo>
                <a:cubicBezTo>
                  <a:pt x="204797" y="31774"/>
                  <a:pt x="232111" y="5397"/>
                  <a:pt x="241527" y="0"/>
                </a:cubicBezTo>
              </a:path>
            </a:pathLst>
          </a:custGeom>
          <a:noFill/>
          <a:ln w="38100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oogle Shape;266;p32">
            <a:extLst>
              <a:ext uri="{FF2B5EF4-FFF2-40B4-BE49-F238E27FC236}">
                <a16:creationId xmlns:a16="http://schemas.microsoft.com/office/drawing/2014/main" id="{24D33076-B51F-91A9-B261-01A6367F26A1}"/>
              </a:ext>
            </a:extLst>
          </p:cNvPr>
          <p:cNvSpPr/>
          <p:nvPr/>
        </p:nvSpPr>
        <p:spPr>
          <a:xfrm>
            <a:off x="8482714" y="5183485"/>
            <a:ext cx="1696993" cy="1322993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Relay 3</a:t>
            </a:r>
            <a:endParaRPr dirty="0"/>
          </a:p>
        </p:txBody>
      </p:sp>
      <p:sp>
        <p:nvSpPr>
          <p:cNvPr id="27" name="Google Shape;267;p32">
            <a:extLst>
              <a:ext uri="{FF2B5EF4-FFF2-40B4-BE49-F238E27FC236}">
                <a16:creationId xmlns:a16="http://schemas.microsoft.com/office/drawing/2014/main" id="{56899BBC-0492-7109-F30D-350C57A9D3F7}"/>
              </a:ext>
            </a:extLst>
          </p:cNvPr>
          <p:cNvSpPr/>
          <p:nvPr/>
        </p:nvSpPr>
        <p:spPr>
          <a:xfrm>
            <a:off x="8602713" y="5648048"/>
            <a:ext cx="1456993" cy="743266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Bob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Hello world</a:t>
            </a:r>
            <a:endParaRPr dirty="0"/>
          </a:p>
        </p:txBody>
      </p:sp>
      <p:sp>
        <p:nvSpPr>
          <p:cNvPr id="28" name="Google Shape;268;p32">
            <a:extLst>
              <a:ext uri="{FF2B5EF4-FFF2-40B4-BE49-F238E27FC236}">
                <a16:creationId xmlns:a16="http://schemas.microsoft.com/office/drawing/2014/main" id="{73A33779-9B7B-C6C1-0C83-0B4B07E15DFD}"/>
              </a:ext>
            </a:extLst>
          </p:cNvPr>
          <p:cNvSpPr/>
          <p:nvPr/>
        </p:nvSpPr>
        <p:spPr>
          <a:xfrm>
            <a:off x="1744674" y="1563494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F1B04A98-AEE7-8F64-901B-DBEBCF116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347"/>
            <a:ext cx="10515600" cy="854075"/>
          </a:xfrm>
        </p:spPr>
        <p:txBody>
          <a:bodyPr/>
          <a:lstStyle/>
          <a:p>
            <a:r>
              <a:rPr lang="en" dirty="0"/>
              <a:t>Tor Circuits</a:t>
            </a:r>
            <a:endParaRPr lang="en-US" dirty="0"/>
          </a:p>
        </p:txBody>
      </p:sp>
      <p:sp>
        <p:nvSpPr>
          <p:cNvPr id="32" name="Google Shape;268;p32">
            <a:extLst>
              <a:ext uri="{FF2B5EF4-FFF2-40B4-BE49-F238E27FC236}">
                <a16:creationId xmlns:a16="http://schemas.microsoft.com/office/drawing/2014/main" id="{5DA0FDED-AB16-071E-FCEF-DA86CD647B5F}"/>
              </a:ext>
            </a:extLst>
          </p:cNvPr>
          <p:cNvSpPr/>
          <p:nvPr/>
        </p:nvSpPr>
        <p:spPr>
          <a:xfrm>
            <a:off x="3528797" y="1825013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3" name="Google Shape;268;p32">
            <a:extLst>
              <a:ext uri="{FF2B5EF4-FFF2-40B4-BE49-F238E27FC236}">
                <a16:creationId xmlns:a16="http://schemas.microsoft.com/office/drawing/2014/main" id="{DCFB15FE-60DC-361D-C6FF-671F8C2E9EB6}"/>
              </a:ext>
            </a:extLst>
          </p:cNvPr>
          <p:cNvSpPr/>
          <p:nvPr/>
        </p:nvSpPr>
        <p:spPr>
          <a:xfrm>
            <a:off x="5180919" y="2218775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4" name="Google Shape;268;p32">
            <a:extLst>
              <a:ext uri="{FF2B5EF4-FFF2-40B4-BE49-F238E27FC236}">
                <a16:creationId xmlns:a16="http://schemas.microsoft.com/office/drawing/2014/main" id="{897E17E1-6EC7-0452-2BE1-BA28B3647A6F}"/>
              </a:ext>
            </a:extLst>
          </p:cNvPr>
          <p:cNvSpPr/>
          <p:nvPr/>
        </p:nvSpPr>
        <p:spPr>
          <a:xfrm>
            <a:off x="5611628" y="995372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5" name="Google Shape;268;p32">
            <a:extLst>
              <a:ext uri="{FF2B5EF4-FFF2-40B4-BE49-F238E27FC236}">
                <a16:creationId xmlns:a16="http://schemas.microsoft.com/office/drawing/2014/main" id="{7CB17307-BB33-0724-36BD-A2083147FC39}"/>
              </a:ext>
            </a:extLst>
          </p:cNvPr>
          <p:cNvSpPr/>
          <p:nvPr/>
        </p:nvSpPr>
        <p:spPr>
          <a:xfrm>
            <a:off x="7667606" y="2185664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6" name="Google Shape;268;p32">
            <a:extLst>
              <a:ext uri="{FF2B5EF4-FFF2-40B4-BE49-F238E27FC236}">
                <a16:creationId xmlns:a16="http://schemas.microsoft.com/office/drawing/2014/main" id="{F79BA07D-AA97-C845-71B4-4DC6333BB59B}"/>
              </a:ext>
            </a:extLst>
          </p:cNvPr>
          <p:cNvSpPr/>
          <p:nvPr/>
        </p:nvSpPr>
        <p:spPr>
          <a:xfrm>
            <a:off x="8482714" y="1348002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4" name="Google Shape;244;p32">
            <a:extLst>
              <a:ext uri="{FF2B5EF4-FFF2-40B4-BE49-F238E27FC236}">
                <a16:creationId xmlns:a16="http://schemas.microsoft.com/office/drawing/2014/main" id="{64D4D796-7589-8BF0-DDA8-C4ECA40A185C}"/>
              </a:ext>
            </a:extLst>
          </p:cNvPr>
          <p:cNvSpPr/>
          <p:nvPr/>
        </p:nvSpPr>
        <p:spPr>
          <a:xfrm>
            <a:off x="807631" y="2496457"/>
            <a:ext cx="1685675" cy="778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Alice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CC0000"/>
                </a:solidFill>
              </a:rPr>
              <a:t>K</a:t>
            </a:r>
            <a:r>
              <a:rPr lang="en" sz="2400" i="1" baseline="-25000" dirty="0">
                <a:solidFill>
                  <a:srgbClr val="CC0000"/>
                </a:solidFill>
              </a:rPr>
              <a:t>1</a:t>
            </a:r>
            <a:r>
              <a:rPr lang="en" sz="2400" i="1" dirty="0"/>
              <a:t>, </a:t>
            </a:r>
            <a:r>
              <a:rPr lang="en" sz="2400" i="1" dirty="0">
                <a:solidFill>
                  <a:srgbClr val="BF9000"/>
                </a:solidFill>
              </a:rPr>
              <a:t>K</a:t>
            </a:r>
            <a:r>
              <a:rPr lang="en" sz="2400" i="1" baseline="-25000" dirty="0">
                <a:solidFill>
                  <a:srgbClr val="BF9000"/>
                </a:solidFill>
              </a:rPr>
              <a:t>2</a:t>
            </a:r>
            <a:r>
              <a:rPr lang="en" sz="2400" i="1" dirty="0"/>
              <a:t>, </a:t>
            </a:r>
            <a:r>
              <a:rPr lang="en" sz="2400" i="1" dirty="0">
                <a:solidFill>
                  <a:srgbClr val="38761D"/>
                </a:solidFill>
              </a:rPr>
              <a:t>K</a:t>
            </a:r>
            <a:r>
              <a:rPr lang="en" sz="2400" i="1" baseline="-25000" dirty="0">
                <a:solidFill>
                  <a:srgbClr val="38761D"/>
                </a:solidFill>
              </a:rPr>
              <a:t>3</a:t>
            </a:r>
            <a:endParaRPr sz="2400" i="1" baseline="-25000" dirty="0">
              <a:solidFill>
                <a:srgbClr val="38761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349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4B39A-13E1-C80C-E0C3-3AB2598EE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6DBAE-C5BF-BA73-A56A-5E59E148FDA3}"/>
              </a:ext>
            </a:extLst>
          </p:cNvPr>
          <p:cNvSpPr txBox="1">
            <a:spLocks/>
          </p:cNvSpPr>
          <p:nvPr/>
        </p:nvSpPr>
        <p:spPr>
          <a:xfrm>
            <a:off x="838200" y="143347"/>
            <a:ext cx="10515600" cy="854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dirty="0"/>
              <a:t>Tor </a:t>
            </a:r>
            <a:r>
              <a:rPr lang="en-US" dirty="0"/>
              <a:t>Packet Construction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ECF715-D419-9BA3-99AC-506C6BB22BE8}"/>
              </a:ext>
            </a:extLst>
          </p:cNvPr>
          <p:cNvGrpSpPr/>
          <p:nvPr/>
        </p:nvGrpSpPr>
        <p:grpSpPr>
          <a:xfrm>
            <a:off x="8907464" y="1395461"/>
            <a:ext cx="2752015" cy="4681501"/>
            <a:chOff x="9856800" y="1913925"/>
            <a:chExt cx="1497000" cy="3467650"/>
          </a:xfrm>
        </p:grpSpPr>
        <p:sp>
          <p:nvSpPr>
            <p:cNvPr id="4" name="Google Shape;284;p33">
              <a:extLst>
                <a:ext uri="{FF2B5EF4-FFF2-40B4-BE49-F238E27FC236}">
                  <a16:creationId xmlns:a16="http://schemas.microsoft.com/office/drawing/2014/main" id="{FFB21533-8E11-C4ED-B36E-AB82EA0B2631}"/>
                </a:ext>
              </a:extLst>
            </p:cNvPr>
            <p:cNvSpPr/>
            <p:nvPr/>
          </p:nvSpPr>
          <p:spPr>
            <a:xfrm>
              <a:off x="10072500" y="1913925"/>
              <a:ext cx="1065600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Alice</a:t>
              </a:r>
              <a:endParaRPr/>
            </a:p>
          </p:txBody>
        </p:sp>
        <p:sp>
          <p:nvSpPr>
            <p:cNvPr id="5" name="Google Shape;285;p33">
              <a:extLst>
                <a:ext uri="{FF2B5EF4-FFF2-40B4-BE49-F238E27FC236}">
                  <a16:creationId xmlns:a16="http://schemas.microsoft.com/office/drawing/2014/main" id="{98DAB992-D07F-35DC-5BF2-850DE2EB9B0C}"/>
                </a:ext>
              </a:extLst>
            </p:cNvPr>
            <p:cNvSpPr/>
            <p:nvPr/>
          </p:nvSpPr>
          <p:spPr>
            <a:xfrm>
              <a:off x="10072500" y="4808875"/>
              <a:ext cx="1065600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Bob</a:t>
              </a:r>
              <a:endParaRPr sz="900" i="1">
                <a:solidFill>
                  <a:srgbClr val="1155CC"/>
                </a:solidFill>
              </a:endParaRPr>
            </a:p>
          </p:txBody>
        </p:sp>
        <p:sp>
          <p:nvSpPr>
            <p:cNvPr id="6" name="Google Shape;286;p33">
              <a:extLst>
                <a:ext uri="{FF2B5EF4-FFF2-40B4-BE49-F238E27FC236}">
                  <a16:creationId xmlns:a16="http://schemas.microsoft.com/office/drawing/2014/main" id="{8DAC9930-291F-2C72-EE10-8CC801600DB6}"/>
                </a:ext>
              </a:extLst>
            </p:cNvPr>
            <p:cNvSpPr/>
            <p:nvPr/>
          </p:nvSpPr>
          <p:spPr>
            <a:xfrm>
              <a:off x="9856800" y="2869512"/>
              <a:ext cx="1497000" cy="393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Relay 1: </a:t>
              </a:r>
              <a:r>
                <a:rPr lang="en" i="1">
                  <a:solidFill>
                    <a:srgbClr val="CC0000"/>
                  </a:solidFill>
                </a:rPr>
                <a:t>K</a:t>
              </a:r>
              <a:r>
                <a:rPr lang="en" sz="900" i="1">
                  <a:solidFill>
                    <a:srgbClr val="CC0000"/>
                  </a:solidFill>
                </a:rPr>
                <a:t>1</a:t>
              </a:r>
              <a:endParaRPr sz="900" i="1">
                <a:solidFill>
                  <a:srgbClr val="CC0000"/>
                </a:solidFill>
              </a:endParaRPr>
            </a:p>
          </p:txBody>
        </p:sp>
        <p:sp>
          <p:nvSpPr>
            <p:cNvPr id="7" name="Google Shape;287;p33">
              <a:extLst>
                <a:ext uri="{FF2B5EF4-FFF2-40B4-BE49-F238E27FC236}">
                  <a16:creationId xmlns:a16="http://schemas.microsoft.com/office/drawing/2014/main" id="{270F45C0-35E8-C0D1-CAD3-25BC545175D0}"/>
                </a:ext>
              </a:extLst>
            </p:cNvPr>
            <p:cNvSpPr/>
            <p:nvPr/>
          </p:nvSpPr>
          <p:spPr>
            <a:xfrm>
              <a:off x="9856800" y="3463262"/>
              <a:ext cx="1497000" cy="3936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Relay 2: </a:t>
              </a:r>
              <a:r>
                <a:rPr lang="en" i="1" dirty="0">
                  <a:solidFill>
                    <a:srgbClr val="BF9000"/>
                  </a:solidFill>
                </a:rPr>
                <a:t>K</a:t>
              </a:r>
              <a:r>
                <a:rPr lang="en" sz="900" i="1" dirty="0">
                  <a:solidFill>
                    <a:srgbClr val="BF9000"/>
                  </a:solidFill>
                </a:rPr>
                <a:t>2</a:t>
              </a:r>
              <a:endParaRPr sz="900" i="1" dirty="0">
                <a:solidFill>
                  <a:srgbClr val="BF9000"/>
                </a:solidFill>
              </a:endParaRPr>
            </a:p>
          </p:txBody>
        </p:sp>
        <p:sp>
          <p:nvSpPr>
            <p:cNvPr id="8" name="Google Shape;288;p33">
              <a:extLst>
                <a:ext uri="{FF2B5EF4-FFF2-40B4-BE49-F238E27FC236}">
                  <a16:creationId xmlns:a16="http://schemas.microsoft.com/office/drawing/2014/main" id="{4818A4EB-7A0A-E1E8-1B4B-59AFA3640572}"/>
                </a:ext>
              </a:extLst>
            </p:cNvPr>
            <p:cNvSpPr/>
            <p:nvPr/>
          </p:nvSpPr>
          <p:spPr>
            <a:xfrm>
              <a:off x="9856800" y="4057012"/>
              <a:ext cx="1497000" cy="3690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Relay: </a:t>
              </a:r>
              <a:r>
                <a:rPr lang="en" i="1">
                  <a:solidFill>
                    <a:srgbClr val="38761D"/>
                  </a:solidFill>
                </a:rPr>
                <a:t>K</a:t>
              </a:r>
              <a:r>
                <a:rPr lang="en" sz="900" i="1">
                  <a:solidFill>
                    <a:srgbClr val="38761D"/>
                  </a:solidFill>
                </a:rPr>
                <a:t>3</a:t>
              </a:r>
              <a:endParaRPr sz="900" i="1">
                <a:solidFill>
                  <a:srgbClr val="38761D"/>
                </a:solidFill>
              </a:endParaRPr>
            </a:p>
          </p:txBody>
        </p:sp>
        <p:cxnSp>
          <p:nvCxnSpPr>
            <p:cNvPr id="9" name="Google Shape;289;p33">
              <a:extLst>
                <a:ext uri="{FF2B5EF4-FFF2-40B4-BE49-F238E27FC236}">
                  <a16:creationId xmlns:a16="http://schemas.microsoft.com/office/drawing/2014/main" id="{E09085C5-5DA3-B53B-C88A-CB574486A039}"/>
                </a:ext>
              </a:extLst>
            </p:cNvPr>
            <p:cNvCxnSpPr>
              <a:stCxn id="4" idx="2"/>
              <a:endCxn id="6" idx="0"/>
            </p:cNvCxnSpPr>
            <p:nvPr/>
          </p:nvCxnSpPr>
          <p:spPr>
            <a:xfrm>
              <a:off x="10605300" y="2486625"/>
              <a:ext cx="0" cy="382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" name="Google Shape;290;p33">
              <a:extLst>
                <a:ext uri="{FF2B5EF4-FFF2-40B4-BE49-F238E27FC236}">
                  <a16:creationId xmlns:a16="http://schemas.microsoft.com/office/drawing/2014/main" id="{2DF89232-209C-448C-4004-C15B79D807C0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>
              <a:off x="10605300" y="3263112"/>
              <a:ext cx="0" cy="200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" name="Google Shape;291;p33">
              <a:extLst>
                <a:ext uri="{FF2B5EF4-FFF2-40B4-BE49-F238E27FC236}">
                  <a16:creationId xmlns:a16="http://schemas.microsoft.com/office/drawing/2014/main" id="{69BC6F9C-8C67-2353-002F-72A5118C5770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10605300" y="3856862"/>
              <a:ext cx="0" cy="200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" name="Google Shape;292;p33">
              <a:extLst>
                <a:ext uri="{FF2B5EF4-FFF2-40B4-BE49-F238E27FC236}">
                  <a16:creationId xmlns:a16="http://schemas.microsoft.com/office/drawing/2014/main" id="{64E5AB08-0197-99D5-BBC1-50371E74DA2D}"/>
                </a:ext>
              </a:extLst>
            </p:cNvPr>
            <p:cNvCxnSpPr>
              <a:stCxn id="8" idx="2"/>
              <a:endCxn id="5" idx="0"/>
            </p:cNvCxnSpPr>
            <p:nvPr/>
          </p:nvCxnSpPr>
          <p:spPr>
            <a:xfrm>
              <a:off x="10605300" y="4426012"/>
              <a:ext cx="0" cy="382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7" name="Google Shape;365;p35">
            <a:extLst>
              <a:ext uri="{FF2B5EF4-FFF2-40B4-BE49-F238E27FC236}">
                <a16:creationId xmlns:a16="http://schemas.microsoft.com/office/drawing/2014/main" id="{0F7F011E-0F0B-7C26-962E-D2761E543810}"/>
              </a:ext>
            </a:extLst>
          </p:cNvPr>
          <p:cNvSpPr txBox="1"/>
          <p:nvPr/>
        </p:nvSpPr>
        <p:spPr>
          <a:xfrm>
            <a:off x="974805" y="5138732"/>
            <a:ext cx="6262122" cy="1292631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2400" dirty="0"/>
              <a:t>All Relay 3 knows is the message came from Relay 2 and is going to Bob. They don’t know Alice sent the message!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F3639B-DF6F-A411-0DBD-2048987529FA}"/>
              </a:ext>
            </a:extLst>
          </p:cNvPr>
          <p:cNvSpPr txBox="1"/>
          <p:nvPr/>
        </p:nvSpPr>
        <p:spPr>
          <a:xfrm>
            <a:off x="941035" y="123400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 does Relay 3 see?</a:t>
            </a:r>
          </a:p>
        </p:txBody>
      </p:sp>
      <p:sp>
        <p:nvSpPr>
          <p:cNvPr id="24" name="Google Shape;295;p33">
            <a:extLst>
              <a:ext uri="{FF2B5EF4-FFF2-40B4-BE49-F238E27FC236}">
                <a16:creationId xmlns:a16="http://schemas.microsoft.com/office/drawing/2014/main" id="{A7C9A197-B1CA-9935-ECB0-41416042B1EB}"/>
              </a:ext>
            </a:extLst>
          </p:cNvPr>
          <p:cNvSpPr/>
          <p:nvPr/>
        </p:nvSpPr>
        <p:spPr>
          <a:xfrm>
            <a:off x="1227580" y="3201529"/>
            <a:ext cx="2300711" cy="1251362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Relay 3, From: R2</a:t>
            </a:r>
            <a:endParaRPr dirty="0"/>
          </a:p>
        </p:txBody>
      </p:sp>
      <p:sp>
        <p:nvSpPr>
          <p:cNvPr id="25" name="Google Shape;296;p33">
            <a:extLst>
              <a:ext uri="{FF2B5EF4-FFF2-40B4-BE49-F238E27FC236}">
                <a16:creationId xmlns:a16="http://schemas.microsoft.com/office/drawing/2014/main" id="{47787F54-6C1A-CCCE-326C-BF63C755BB3A}"/>
              </a:ext>
            </a:extLst>
          </p:cNvPr>
          <p:cNvSpPr/>
          <p:nvPr/>
        </p:nvSpPr>
        <p:spPr>
          <a:xfrm>
            <a:off x="1323880" y="3626866"/>
            <a:ext cx="1692573" cy="7038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To: Bob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Hello world</a:t>
            </a:r>
          </a:p>
        </p:txBody>
      </p:sp>
      <p:grpSp>
        <p:nvGrpSpPr>
          <p:cNvPr id="34" name="Google Shape;303;p33">
            <a:extLst>
              <a:ext uri="{FF2B5EF4-FFF2-40B4-BE49-F238E27FC236}">
                <a16:creationId xmlns:a16="http://schemas.microsoft.com/office/drawing/2014/main" id="{9B1E37C8-ACD6-FC0A-4919-6CA23A92E3A7}"/>
              </a:ext>
            </a:extLst>
          </p:cNvPr>
          <p:cNvGrpSpPr/>
          <p:nvPr/>
        </p:nvGrpSpPr>
        <p:grpSpPr>
          <a:xfrm>
            <a:off x="3016453" y="3968078"/>
            <a:ext cx="4407147" cy="473975"/>
            <a:chOff x="4236153" y="3434849"/>
            <a:chExt cx="4407147" cy="473975"/>
          </a:xfrm>
        </p:grpSpPr>
        <p:cxnSp>
          <p:nvCxnSpPr>
            <p:cNvPr id="35" name="Google Shape;304;p33">
              <a:extLst>
                <a:ext uri="{FF2B5EF4-FFF2-40B4-BE49-F238E27FC236}">
                  <a16:creationId xmlns:a16="http://schemas.microsoft.com/office/drawing/2014/main" id="{786D6F5C-5928-091A-5D4D-9F8792955F81}"/>
                </a:ext>
              </a:extLst>
            </p:cNvPr>
            <p:cNvCxnSpPr>
              <a:cxnSpLocks/>
              <a:stCxn id="36" idx="1"/>
            </p:cNvCxnSpPr>
            <p:nvPr/>
          </p:nvCxnSpPr>
          <p:spPr>
            <a:xfrm flipH="1">
              <a:off x="4236153" y="3671837"/>
              <a:ext cx="1788197" cy="19675"/>
            </a:xfrm>
            <a:prstGeom prst="straightConnector1">
              <a:avLst/>
            </a:prstGeom>
            <a:noFill/>
            <a:ln w="9525" cap="flat" cmpd="sng">
              <a:solidFill>
                <a:srgbClr val="38761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6" name="Google Shape;305;p33">
              <a:extLst>
                <a:ext uri="{FF2B5EF4-FFF2-40B4-BE49-F238E27FC236}">
                  <a16:creationId xmlns:a16="http://schemas.microsoft.com/office/drawing/2014/main" id="{560FE616-8C52-D962-CE63-C1F53055C3E5}"/>
                </a:ext>
              </a:extLst>
            </p:cNvPr>
            <p:cNvSpPr/>
            <p:nvPr/>
          </p:nvSpPr>
          <p:spPr>
            <a:xfrm>
              <a:off x="6024350" y="3434849"/>
              <a:ext cx="2618950" cy="473975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Encrypted with </a:t>
              </a:r>
              <a:r>
                <a:rPr lang="en" i="1" dirty="0">
                  <a:solidFill>
                    <a:srgbClr val="38761D"/>
                  </a:solidFill>
                </a:rPr>
                <a:t>K</a:t>
              </a:r>
              <a:r>
                <a:rPr lang="en" sz="900" i="1" dirty="0">
                  <a:solidFill>
                    <a:srgbClr val="38761D"/>
                  </a:solidFill>
                </a:rPr>
                <a:t>3</a:t>
              </a:r>
              <a:endParaRPr sz="900" i="1" dirty="0">
                <a:solidFill>
                  <a:srgbClr val="38761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53967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30EEF-A9AB-E792-81CE-3BB967E67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50;p32">
            <a:extLst>
              <a:ext uri="{FF2B5EF4-FFF2-40B4-BE49-F238E27FC236}">
                <a16:creationId xmlns:a16="http://schemas.microsoft.com/office/drawing/2014/main" id="{07D67EE0-5AAC-A354-D15E-0358870F711C}"/>
              </a:ext>
            </a:extLst>
          </p:cNvPr>
          <p:cNvSpPr/>
          <p:nvPr/>
        </p:nvSpPr>
        <p:spPr>
          <a:xfrm>
            <a:off x="10631548" y="2782031"/>
            <a:ext cx="1444503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Bob</a:t>
            </a:r>
            <a:endParaRPr sz="2400" i="1" dirty="0">
              <a:solidFill>
                <a:srgbClr val="1155CC"/>
              </a:solidFill>
            </a:endParaRPr>
          </a:p>
        </p:txBody>
      </p:sp>
      <p:sp>
        <p:nvSpPr>
          <p:cNvPr id="11" name="Google Shape;251;p32">
            <a:extLst>
              <a:ext uri="{FF2B5EF4-FFF2-40B4-BE49-F238E27FC236}">
                <a16:creationId xmlns:a16="http://schemas.microsoft.com/office/drawing/2014/main" id="{0294271B-F8ED-DED4-2641-9125CDF5DBB4}"/>
              </a:ext>
            </a:extLst>
          </p:cNvPr>
          <p:cNvSpPr/>
          <p:nvPr/>
        </p:nvSpPr>
        <p:spPr>
          <a:xfrm>
            <a:off x="3318039" y="3255911"/>
            <a:ext cx="1280160" cy="128016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Relay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CC0000"/>
                </a:solidFill>
              </a:rPr>
              <a:t>K1</a:t>
            </a:r>
            <a:endParaRPr sz="2400" i="1" dirty="0">
              <a:solidFill>
                <a:srgbClr val="CC0000"/>
              </a:solidFill>
            </a:endParaRPr>
          </a:p>
        </p:txBody>
      </p:sp>
      <p:sp>
        <p:nvSpPr>
          <p:cNvPr id="12" name="Google Shape;252;p32">
            <a:extLst>
              <a:ext uri="{FF2B5EF4-FFF2-40B4-BE49-F238E27FC236}">
                <a16:creationId xmlns:a16="http://schemas.microsoft.com/office/drawing/2014/main" id="{7D6E3D3A-50D4-2486-B44D-55D2BDA1939E}"/>
              </a:ext>
            </a:extLst>
          </p:cNvPr>
          <p:cNvSpPr/>
          <p:nvPr/>
        </p:nvSpPr>
        <p:spPr>
          <a:xfrm>
            <a:off x="6526709" y="2791628"/>
            <a:ext cx="1280160" cy="128016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Relay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BF9000"/>
                </a:solidFill>
              </a:rPr>
              <a:t>K</a:t>
            </a:r>
            <a:r>
              <a:rPr lang="en" sz="2400" i="1" baseline="-25000" dirty="0">
                <a:solidFill>
                  <a:srgbClr val="BF9000"/>
                </a:solidFill>
              </a:rPr>
              <a:t>2</a:t>
            </a:r>
            <a:endParaRPr sz="2400" i="1" baseline="-25000" dirty="0">
              <a:solidFill>
                <a:srgbClr val="BF9000"/>
              </a:solidFill>
            </a:endParaRPr>
          </a:p>
        </p:txBody>
      </p:sp>
      <p:sp>
        <p:nvSpPr>
          <p:cNvPr id="13" name="Google Shape;253;p32">
            <a:extLst>
              <a:ext uri="{FF2B5EF4-FFF2-40B4-BE49-F238E27FC236}">
                <a16:creationId xmlns:a16="http://schemas.microsoft.com/office/drawing/2014/main" id="{A7FE29F4-185C-2648-50A1-B1875611C9D7}"/>
              </a:ext>
            </a:extLst>
          </p:cNvPr>
          <p:cNvSpPr/>
          <p:nvPr/>
        </p:nvSpPr>
        <p:spPr>
          <a:xfrm>
            <a:off x="8631677" y="3677511"/>
            <a:ext cx="1280160" cy="128016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Relay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38761D"/>
                </a:solidFill>
              </a:rPr>
              <a:t>K</a:t>
            </a:r>
            <a:r>
              <a:rPr lang="en" sz="2400" i="1" baseline="-25000" dirty="0">
                <a:solidFill>
                  <a:srgbClr val="38761D"/>
                </a:solidFill>
              </a:rPr>
              <a:t>3</a:t>
            </a:r>
            <a:endParaRPr sz="2400" i="1" baseline="-25000" dirty="0">
              <a:solidFill>
                <a:srgbClr val="38761D"/>
              </a:solidFill>
            </a:endParaRPr>
          </a:p>
        </p:txBody>
      </p:sp>
      <p:grpSp>
        <p:nvGrpSpPr>
          <p:cNvPr id="14" name="Google Shape;254;p32">
            <a:extLst>
              <a:ext uri="{FF2B5EF4-FFF2-40B4-BE49-F238E27FC236}">
                <a16:creationId xmlns:a16="http://schemas.microsoft.com/office/drawing/2014/main" id="{B52B0374-9601-6565-3695-842FA107F3CA}"/>
              </a:ext>
            </a:extLst>
          </p:cNvPr>
          <p:cNvGrpSpPr/>
          <p:nvPr/>
        </p:nvGrpSpPr>
        <p:grpSpPr>
          <a:xfrm>
            <a:off x="1143000" y="2875916"/>
            <a:ext cx="2194549" cy="1242414"/>
            <a:chOff x="718625" y="2758900"/>
            <a:chExt cx="1577700" cy="636000"/>
          </a:xfrm>
        </p:grpSpPr>
        <p:cxnSp>
          <p:nvCxnSpPr>
            <p:cNvPr id="15" name="Google Shape;255;p32">
              <a:extLst>
                <a:ext uri="{FF2B5EF4-FFF2-40B4-BE49-F238E27FC236}">
                  <a16:creationId xmlns:a16="http://schemas.microsoft.com/office/drawing/2014/main" id="{CD945523-0006-21D6-618C-A8EEE4FA10F3}"/>
                </a:ext>
              </a:extLst>
            </p:cNvPr>
            <p:cNvCxnSpPr/>
            <p:nvPr/>
          </p:nvCxnSpPr>
          <p:spPr>
            <a:xfrm>
              <a:off x="718625" y="2882800"/>
              <a:ext cx="1577700" cy="5121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256;p32">
              <a:extLst>
                <a:ext uri="{FF2B5EF4-FFF2-40B4-BE49-F238E27FC236}">
                  <a16:creationId xmlns:a16="http://schemas.microsoft.com/office/drawing/2014/main" id="{BDFF2C63-F753-8F65-77F8-C8CF7CC181C4}"/>
                </a:ext>
              </a:extLst>
            </p:cNvPr>
            <p:cNvCxnSpPr/>
            <p:nvPr/>
          </p:nvCxnSpPr>
          <p:spPr>
            <a:xfrm>
              <a:off x="1519875" y="2758900"/>
              <a:ext cx="768300" cy="2478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" name="Google Shape;257;p32">
            <a:extLst>
              <a:ext uri="{FF2B5EF4-FFF2-40B4-BE49-F238E27FC236}">
                <a16:creationId xmlns:a16="http://schemas.microsoft.com/office/drawing/2014/main" id="{35648852-6B0F-0862-3CC9-8933915B22A8}"/>
              </a:ext>
            </a:extLst>
          </p:cNvPr>
          <p:cNvGrpSpPr/>
          <p:nvPr/>
        </p:nvGrpSpPr>
        <p:grpSpPr>
          <a:xfrm>
            <a:off x="1619250" y="2996458"/>
            <a:ext cx="4907459" cy="1360018"/>
            <a:chOff x="883825" y="2750625"/>
            <a:chExt cx="3122350" cy="662575"/>
          </a:xfrm>
        </p:grpSpPr>
        <p:sp>
          <p:nvSpPr>
            <p:cNvPr id="18" name="Google Shape;258;p32">
              <a:extLst>
                <a:ext uri="{FF2B5EF4-FFF2-40B4-BE49-F238E27FC236}">
                  <a16:creationId xmlns:a16="http://schemas.microsoft.com/office/drawing/2014/main" id="{1DC33880-B2C8-5E1C-351A-8173FFD24348}"/>
                </a:ext>
              </a:extLst>
            </p:cNvPr>
            <p:cNvSpPr/>
            <p:nvPr/>
          </p:nvSpPr>
          <p:spPr>
            <a:xfrm>
              <a:off x="1495100" y="2750625"/>
              <a:ext cx="2502825" cy="355650"/>
            </a:xfrm>
            <a:custGeom>
              <a:avLst/>
              <a:gdLst/>
              <a:ahLst/>
              <a:cxnLst/>
              <a:rect l="l" t="t" r="r" b="b"/>
              <a:pathLst>
                <a:path w="100113" h="14226" extrusionOk="0">
                  <a:moveTo>
                    <a:pt x="0" y="2974"/>
                  </a:moveTo>
                  <a:cubicBezTo>
                    <a:pt x="7875" y="4846"/>
                    <a:pt x="30563" y="14704"/>
                    <a:pt x="47248" y="14208"/>
                  </a:cubicBezTo>
                  <a:cubicBezTo>
                    <a:pt x="63934" y="13712"/>
                    <a:pt x="91302" y="2368"/>
                    <a:pt x="100113" y="0"/>
                  </a:cubicBezTo>
                </a:path>
              </a:pathLst>
            </a:cu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Google Shape;259;p32">
              <a:extLst>
                <a:ext uri="{FF2B5EF4-FFF2-40B4-BE49-F238E27FC236}">
                  <a16:creationId xmlns:a16="http://schemas.microsoft.com/office/drawing/2014/main" id="{9BAE0FED-5ECF-AE36-81C8-2970251F8C4D}"/>
                </a:ext>
              </a:extLst>
            </p:cNvPr>
            <p:cNvSpPr/>
            <p:nvPr/>
          </p:nvSpPr>
          <p:spPr>
            <a:xfrm>
              <a:off x="883825" y="2866275"/>
              <a:ext cx="3122350" cy="546925"/>
            </a:xfrm>
            <a:custGeom>
              <a:avLst/>
              <a:gdLst/>
              <a:ahLst/>
              <a:cxnLst/>
              <a:rect l="l" t="t" r="r" b="b"/>
              <a:pathLst>
                <a:path w="124894" h="21877" extrusionOk="0">
                  <a:moveTo>
                    <a:pt x="0" y="0"/>
                  </a:moveTo>
                  <a:cubicBezTo>
                    <a:pt x="12445" y="3635"/>
                    <a:pt x="53856" y="20651"/>
                    <a:pt x="74672" y="21807"/>
                  </a:cubicBezTo>
                  <a:cubicBezTo>
                    <a:pt x="95488" y="22964"/>
                    <a:pt x="116524" y="9417"/>
                    <a:pt x="124894" y="6939"/>
                  </a:cubicBezTo>
                </a:path>
              </a:pathLst>
            </a:cu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oogle Shape;260;p32">
            <a:extLst>
              <a:ext uri="{FF2B5EF4-FFF2-40B4-BE49-F238E27FC236}">
                <a16:creationId xmlns:a16="http://schemas.microsoft.com/office/drawing/2014/main" id="{744F1A96-CB2E-6A1B-22A9-FE6031817F0C}"/>
              </a:ext>
            </a:extLst>
          </p:cNvPr>
          <p:cNvGrpSpPr/>
          <p:nvPr/>
        </p:nvGrpSpPr>
        <p:grpSpPr>
          <a:xfrm>
            <a:off x="2199370" y="3224343"/>
            <a:ext cx="6432307" cy="1241721"/>
            <a:chOff x="1065550" y="2748687"/>
            <a:chExt cx="4501800" cy="918813"/>
          </a:xfrm>
        </p:grpSpPr>
        <p:sp>
          <p:nvSpPr>
            <p:cNvPr id="21" name="Google Shape;261;p32">
              <a:extLst>
                <a:ext uri="{FF2B5EF4-FFF2-40B4-BE49-F238E27FC236}">
                  <a16:creationId xmlns:a16="http://schemas.microsoft.com/office/drawing/2014/main" id="{5B5A0610-6AA8-C770-6003-A5C497DF2CF0}"/>
                </a:ext>
              </a:extLst>
            </p:cNvPr>
            <p:cNvSpPr/>
            <p:nvPr/>
          </p:nvSpPr>
          <p:spPr>
            <a:xfrm>
              <a:off x="1495100" y="2748687"/>
              <a:ext cx="4055725" cy="629725"/>
            </a:xfrm>
            <a:custGeom>
              <a:avLst/>
              <a:gdLst/>
              <a:ahLst/>
              <a:cxnLst/>
              <a:rect l="l" t="t" r="r" b="b"/>
              <a:pathLst>
                <a:path w="162229" h="25189" extrusionOk="0">
                  <a:moveTo>
                    <a:pt x="0" y="5034"/>
                  </a:moveTo>
                  <a:cubicBezTo>
                    <a:pt x="8480" y="7017"/>
                    <a:pt x="31719" y="17755"/>
                    <a:pt x="50882" y="16929"/>
                  </a:cubicBezTo>
                  <a:cubicBezTo>
                    <a:pt x="70046" y="16103"/>
                    <a:pt x="96423" y="-1299"/>
                    <a:pt x="114981" y="78"/>
                  </a:cubicBezTo>
                  <a:cubicBezTo>
                    <a:pt x="133539" y="1455"/>
                    <a:pt x="154354" y="21004"/>
                    <a:pt x="162229" y="25189"/>
                  </a:cubicBezTo>
                </a:path>
              </a:pathLst>
            </a:cu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Google Shape;262;p32">
              <a:extLst>
                <a:ext uri="{FF2B5EF4-FFF2-40B4-BE49-F238E27FC236}">
                  <a16:creationId xmlns:a16="http://schemas.microsoft.com/office/drawing/2014/main" id="{4BA3678E-5A3D-4FA4-9D85-6B26448914C6}"/>
                </a:ext>
              </a:extLst>
            </p:cNvPr>
            <p:cNvSpPr/>
            <p:nvPr/>
          </p:nvSpPr>
          <p:spPr>
            <a:xfrm>
              <a:off x="1065550" y="2882800"/>
              <a:ext cx="4501800" cy="784700"/>
            </a:xfrm>
            <a:custGeom>
              <a:avLst/>
              <a:gdLst/>
              <a:ahLst/>
              <a:cxnLst/>
              <a:rect l="l" t="t" r="r" b="b"/>
              <a:pathLst>
                <a:path w="180072" h="31388" extrusionOk="0">
                  <a:moveTo>
                    <a:pt x="0" y="0"/>
                  </a:moveTo>
                  <a:cubicBezTo>
                    <a:pt x="11619" y="3139"/>
                    <a:pt x="48074" y="18227"/>
                    <a:pt x="69716" y="18833"/>
                  </a:cubicBezTo>
                  <a:cubicBezTo>
                    <a:pt x="91358" y="19439"/>
                    <a:pt x="111457" y="1542"/>
                    <a:pt x="129850" y="3634"/>
                  </a:cubicBezTo>
                  <a:cubicBezTo>
                    <a:pt x="148243" y="5727"/>
                    <a:pt x="171702" y="26762"/>
                    <a:pt x="180072" y="31388"/>
                  </a:cubicBezTo>
                </a:path>
              </a:pathLst>
            </a:cu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Google Shape;263;p32">
            <a:extLst>
              <a:ext uri="{FF2B5EF4-FFF2-40B4-BE49-F238E27FC236}">
                <a16:creationId xmlns:a16="http://schemas.microsoft.com/office/drawing/2014/main" id="{F224070E-D736-69BD-3F8E-16E39B61FCCC}"/>
              </a:ext>
            </a:extLst>
          </p:cNvPr>
          <p:cNvSpPr/>
          <p:nvPr/>
        </p:nvSpPr>
        <p:spPr>
          <a:xfrm>
            <a:off x="2406608" y="3245971"/>
            <a:ext cx="9023392" cy="1094642"/>
          </a:xfrm>
          <a:custGeom>
            <a:avLst/>
            <a:gdLst/>
            <a:ahLst/>
            <a:cxnLst/>
            <a:rect l="l" t="t" r="r" b="b"/>
            <a:pathLst>
              <a:path w="241527" h="32390" extrusionOk="0">
                <a:moveTo>
                  <a:pt x="0" y="3634"/>
                </a:moveTo>
                <a:cubicBezTo>
                  <a:pt x="9747" y="6332"/>
                  <a:pt x="37997" y="19824"/>
                  <a:pt x="58482" y="19824"/>
                </a:cubicBezTo>
                <a:cubicBezTo>
                  <a:pt x="78967" y="19824"/>
                  <a:pt x="101820" y="1541"/>
                  <a:pt x="122911" y="3634"/>
                </a:cubicBezTo>
                <a:cubicBezTo>
                  <a:pt x="144002" y="5727"/>
                  <a:pt x="165259" y="32986"/>
                  <a:pt x="185028" y="32380"/>
                </a:cubicBezTo>
                <a:cubicBezTo>
                  <a:pt x="204797" y="31774"/>
                  <a:pt x="232111" y="5397"/>
                  <a:pt x="241527" y="0"/>
                </a:cubicBezTo>
              </a:path>
            </a:pathLst>
          </a:custGeom>
          <a:noFill/>
          <a:ln w="38100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oogle Shape;267;p32">
            <a:extLst>
              <a:ext uri="{FF2B5EF4-FFF2-40B4-BE49-F238E27FC236}">
                <a16:creationId xmlns:a16="http://schemas.microsoft.com/office/drawing/2014/main" id="{46F8FE00-6DC8-923C-D1BF-6E77D538A0F1}"/>
              </a:ext>
            </a:extLst>
          </p:cNvPr>
          <p:cNvSpPr/>
          <p:nvPr/>
        </p:nvSpPr>
        <p:spPr>
          <a:xfrm>
            <a:off x="10667195" y="3818671"/>
            <a:ext cx="1456993" cy="743266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To: Bob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Hello world</a:t>
            </a:r>
            <a:endParaRPr dirty="0"/>
          </a:p>
        </p:txBody>
      </p:sp>
      <p:sp>
        <p:nvSpPr>
          <p:cNvPr id="28" name="Google Shape;268;p32">
            <a:extLst>
              <a:ext uri="{FF2B5EF4-FFF2-40B4-BE49-F238E27FC236}">
                <a16:creationId xmlns:a16="http://schemas.microsoft.com/office/drawing/2014/main" id="{C3822D34-43F9-066A-7B65-D2EB1864C84B}"/>
              </a:ext>
            </a:extLst>
          </p:cNvPr>
          <p:cNvSpPr/>
          <p:nvPr/>
        </p:nvSpPr>
        <p:spPr>
          <a:xfrm>
            <a:off x="1744674" y="1563494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C8DD19BD-D766-B235-D948-9571036E0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347"/>
            <a:ext cx="10515600" cy="854075"/>
          </a:xfrm>
        </p:spPr>
        <p:txBody>
          <a:bodyPr/>
          <a:lstStyle/>
          <a:p>
            <a:r>
              <a:rPr lang="en" dirty="0"/>
              <a:t>Tor Circuits</a:t>
            </a:r>
            <a:endParaRPr lang="en-US" dirty="0"/>
          </a:p>
        </p:txBody>
      </p:sp>
      <p:sp>
        <p:nvSpPr>
          <p:cNvPr id="32" name="Google Shape;268;p32">
            <a:extLst>
              <a:ext uri="{FF2B5EF4-FFF2-40B4-BE49-F238E27FC236}">
                <a16:creationId xmlns:a16="http://schemas.microsoft.com/office/drawing/2014/main" id="{A26DD5A7-6D14-2A3C-0C36-F559C9DA94CF}"/>
              </a:ext>
            </a:extLst>
          </p:cNvPr>
          <p:cNvSpPr/>
          <p:nvPr/>
        </p:nvSpPr>
        <p:spPr>
          <a:xfrm>
            <a:off x="3528797" y="1825013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3" name="Google Shape;268;p32">
            <a:extLst>
              <a:ext uri="{FF2B5EF4-FFF2-40B4-BE49-F238E27FC236}">
                <a16:creationId xmlns:a16="http://schemas.microsoft.com/office/drawing/2014/main" id="{C08E163A-9DEC-8C91-7B67-0BE0995C6764}"/>
              </a:ext>
            </a:extLst>
          </p:cNvPr>
          <p:cNvSpPr/>
          <p:nvPr/>
        </p:nvSpPr>
        <p:spPr>
          <a:xfrm>
            <a:off x="5180919" y="2218775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4" name="Google Shape;268;p32">
            <a:extLst>
              <a:ext uri="{FF2B5EF4-FFF2-40B4-BE49-F238E27FC236}">
                <a16:creationId xmlns:a16="http://schemas.microsoft.com/office/drawing/2014/main" id="{95570843-D0B4-80D7-324C-E66E3BBCD82B}"/>
              </a:ext>
            </a:extLst>
          </p:cNvPr>
          <p:cNvSpPr/>
          <p:nvPr/>
        </p:nvSpPr>
        <p:spPr>
          <a:xfrm>
            <a:off x="5611628" y="995372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5" name="Google Shape;268;p32">
            <a:extLst>
              <a:ext uri="{FF2B5EF4-FFF2-40B4-BE49-F238E27FC236}">
                <a16:creationId xmlns:a16="http://schemas.microsoft.com/office/drawing/2014/main" id="{9BA2D56C-CC1C-5638-58DF-C15F82B0F15E}"/>
              </a:ext>
            </a:extLst>
          </p:cNvPr>
          <p:cNvSpPr/>
          <p:nvPr/>
        </p:nvSpPr>
        <p:spPr>
          <a:xfrm>
            <a:off x="7667606" y="2185664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6" name="Google Shape;268;p32">
            <a:extLst>
              <a:ext uri="{FF2B5EF4-FFF2-40B4-BE49-F238E27FC236}">
                <a16:creationId xmlns:a16="http://schemas.microsoft.com/office/drawing/2014/main" id="{7A3B1805-BB16-EBA1-0860-9663EF0F8CB6}"/>
              </a:ext>
            </a:extLst>
          </p:cNvPr>
          <p:cNvSpPr/>
          <p:nvPr/>
        </p:nvSpPr>
        <p:spPr>
          <a:xfrm>
            <a:off x="8482714" y="1348002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4" name="Google Shape;244;p32">
            <a:extLst>
              <a:ext uri="{FF2B5EF4-FFF2-40B4-BE49-F238E27FC236}">
                <a16:creationId xmlns:a16="http://schemas.microsoft.com/office/drawing/2014/main" id="{37A1E364-4BB4-2AF7-BCC6-A7725B0C15B3}"/>
              </a:ext>
            </a:extLst>
          </p:cNvPr>
          <p:cNvSpPr/>
          <p:nvPr/>
        </p:nvSpPr>
        <p:spPr>
          <a:xfrm>
            <a:off x="807631" y="2496457"/>
            <a:ext cx="1685675" cy="778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Alice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CC0000"/>
                </a:solidFill>
              </a:rPr>
              <a:t>K</a:t>
            </a:r>
            <a:r>
              <a:rPr lang="en" sz="2400" i="1" baseline="-25000" dirty="0">
                <a:solidFill>
                  <a:srgbClr val="CC0000"/>
                </a:solidFill>
              </a:rPr>
              <a:t>1</a:t>
            </a:r>
            <a:r>
              <a:rPr lang="en" sz="2400" i="1" dirty="0"/>
              <a:t>, </a:t>
            </a:r>
            <a:r>
              <a:rPr lang="en" sz="2400" i="1" dirty="0">
                <a:solidFill>
                  <a:srgbClr val="BF9000"/>
                </a:solidFill>
              </a:rPr>
              <a:t>K</a:t>
            </a:r>
            <a:r>
              <a:rPr lang="en" sz="2400" i="1" baseline="-25000" dirty="0">
                <a:solidFill>
                  <a:srgbClr val="BF9000"/>
                </a:solidFill>
              </a:rPr>
              <a:t>2</a:t>
            </a:r>
            <a:r>
              <a:rPr lang="en" sz="2400" i="1" dirty="0"/>
              <a:t>, </a:t>
            </a:r>
            <a:r>
              <a:rPr lang="en" sz="2400" i="1" dirty="0">
                <a:solidFill>
                  <a:srgbClr val="38761D"/>
                </a:solidFill>
              </a:rPr>
              <a:t>K</a:t>
            </a:r>
            <a:r>
              <a:rPr lang="en" sz="2400" i="1" baseline="-25000" dirty="0">
                <a:solidFill>
                  <a:srgbClr val="38761D"/>
                </a:solidFill>
              </a:rPr>
              <a:t>3</a:t>
            </a:r>
            <a:endParaRPr sz="2400" i="1" baseline="-25000" dirty="0">
              <a:solidFill>
                <a:srgbClr val="38761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706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1B0F7-D399-BE4B-1040-C620D4C8B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50;p32">
            <a:extLst>
              <a:ext uri="{FF2B5EF4-FFF2-40B4-BE49-F238E27FC236}">
                <a16:creationId xmlns:a16="http://schemas.microsoft.com/office/drawing/2014/main" id="{FE205FAC-4D6A-8477-61B3-B795E1E0E1D9}"/>
              </a:ext>
            </a:extLst>
          </p:cNvPr>
          <p:cNvSpPr/>
          <p:nvPr/>
        </p:nvSpPr>
        <p:spPr>
          <a:xfrm>
            <a:off x="10631548" y="2782031"/>
            <a:ext cx="1444503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Bob</a:t>
            </a:r>
            <a:endParaRPr sz="2400" i="1" dirty="0">
              <a:solidFill>
                <a:srgbClr val="1155CC"/>
              </a:solidFill>
            </a:endParaRPr>
          </a:p>
        </p:txBody>
      </p:sp>
      <p:sp>
        <p:nvSpPr>
          <p:cNvPr id="11" name="Google Shape;251;p32">
            <a:extLst>
              <a:ext uri="{FF2B5EF4-FFF2-40B4-BE49-F238E27FC236}">
                <a16:creationId xmlns:a16="http://schemas.microsoft.com/office/drawing/2014/main" id="{9DFCBDE9-3964-A183-FAF8-CCAC7DDEC4E3}"/>
              </a:ext>
            </a:extLst>
          </p:cNvPr>
          <p:cNvSpPr/>
          <p:nvPr/>
        </p:nvSpPr>
        <p:spPr>
          <a:xfrm>
            <a:off x="3318039" y="3255911"/>
            <a:ext cx="1280160" cy="128016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Relay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CC0000"/>
                </a:solidFill>
              </a:rPr>
              <a:t>K1</a:t>
            </a:r>
            <a:endParaRPr sz="2400" i="1" dirty="0">
              <a:solidFill>
                <a:srgbClr val="CC0000"/>
              </a:solidFill>
            </a:endParaRPr>
          </a:p>
        </p:txBody>
      </p:sp>
      <p:sp>
        <p:nvSpPr>
          <p:cNvPr id="12" name="Google Shape;252;p32">
            <a:extLst>
              <a:ext uri="{FF2B5EF4-FFF2-40B4-BE49-F238E27FC236}">
                <a16:creationId xmlns:a16="http://schemas.microsoft.com/office/drawing/2014/main" id="{D40CAC55-5CDB-10A0-97A2-C09B3673B18C}"/>
              </a:ext>
            </a:extLst>
          </p:cNvPr>
          <p:cNvSpPr/>
          <p:nvPr/>
        </p:nvSpPr>
        <p:spPr>
          <a:xfrm>
            <a:off x="6526709" y="2791628"/>
            <a:ext cx="1280160" cy="128016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Relay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BF9000"/>
                </a:solidFill>
              </a:rPr>
              <a:t>K</a:t>
            </a:r>
            <a:r>
              <a:rPr lang="en" sz="2400" i="1" baseline="-25000" dirty="0">
                <a:solidFill>
                  <a:srgbClr val="BF9000"/>
                </a:solidFill>
              </a:rPr>
              <a:t>2</a:t>
            </a:r>
            <a:endParaRPr sz="2400" i="1" baseline="-25000" dirty="0">
              <a:solidFill>
                <a:srgbClr val="BF9000"/>
              </a:solidFill>
            </a:endParaRPr>
          </a:p>
        </p:txBody>
      </p:sp>
      <p:sp>
        <p:nvSpPr>
          <p:cNvPr id="13" name="Google Shape;253;p32">
            <a:extLst>
              <a:ext uri="{FF2B5EF4-FFF2-40B4-BE49-F238E27FC236}">
                <a16:creationId xmlns:a16="http://schemas.microsoft.com/office/drawing/2014/main" id="{ECB24DE4-75A7-39FA-9085-907550BC9A5C}"/>
              </a:ext>
            </a:extLst>
          </p:cNvPr>
          <p:cNvSpPr/>
          <p:nvPr/>
        </p:nvSpPr>
        <p:spPr>
          <a:xfrm>
            <a:off x="8631677" y="3677511"/>
            <a:ext cx="1280160" cy="128016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Relay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38761D"/>
                </a:solidFill>
              </a:rPr>
              <a:t>K</a:t>
            </a:r>
            <a:r>
              <a:rPr lang="en" sz="2400" i="1" baseline="-25000" dirty="0">
                <a:solidFill>
                  <a:srgbClr val="38761D"/>
                </a:solidFill>
              </a:rPr>
              <a:t>3</a:t>
            </a:r>
            <a:endParaRPr sz="2400" i="1" baseline="-25000" dirty="0">
              <a:solidFill>
                <a:srgbClr val="38761D"/>
              </a:solidFill>
            </a:endParaRPr>
          </a:p>
        </p:txBody>
      </p:sp>
      <p:grpSp>
        <p:nvGrpSpPr>
          <p:cNvPr id="14" name="Google Shape;254;p32">
            <a:extLst>
              <a:ext uri="{FF2B5EF4-FFF2-40B4-BE49-F238E27FC236}">
                <a16:creationId xmlns:a16="http://schemas.microsoft.com/office/drawing/2014/main" id="{D5C6356C-03C5-6E4F-4B8C-4B7A0FF638C9}"/>
              </a:ext>
            </a:extLst>
          </p:cNvPr>
          <p:cNvGrpSpPr/>
          <p:nvPr/>
        </p:nvGrpSpPr>
        <p:grpSpPr>
          <a:xfrm>
            <a:off x="1143000" y="2875916"/>
            <a:ext cx="2194549" cy="1242414"/>
            <a:chOff x="718625" y="2758900"/>
            <a:chExt cx="1577700" cy="636000"/>
          </a:xfrm>
        </p:grpSpPr>
        <p:cxnSp>
          <p:nvCxnSpPr>
            <p:cNvPr id="15" name="Google Shape;255;p32">
              <a:extLst>
                <a:ext uri="{FF2B5EF4-FFF2-40B4-BE49-F238E27FC236}">
                  <a16:creationId xmlns:a16="http://schemas.microsoft.com/office/drawing/2014/main" id="{1787088E-E1EF-779E-F8B4-947FB3BCF176}"/>
                </a:ext>
              </a:extLst>
            </p:cNvPr>
            <p:cNvCxnSpPr/>
            <p:nvPr/>
          </p:nvCxnSpPr>
          <p:spPr>
            <a:xfrm>
              <a:off x="718625" y="2882800"/>
              <a:ext cx="1577700" cy="5121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256;p32">
              <a:extLst>
                <a:ext uri="{FF2B5EF4-FFF2-40B4-BE49-F238E27FC236}">
                  <a16:creationId xmlns:a16="http://schemas.microsoft.com/office/drawing/2014/main" id="{FC58676F-2CBC-F1B0-68A6-6D3E2FF16AB8}"/>
                </a:ext>
              </a:extLst>
            </p:cNvPr>
            <p:cNvCxnSpPr/>
            <p:nvPr/>
          </p:nvCxnSpPr>
          <p:spPr>
            <a:xfrm>
              <a:off x="1519875" y="2758900"/>
              <a:ext cx="768300" cy="2478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" name="Google Shape;257;p32">
            <a:extLst>
              <a:ext uri="{FF2B5EF4-FFF2-40B4-BE49-F238E27FC236}">
                <a16:creationId xmlns:a16="http://schemas.microsoft.com/office/drawing/2014/main" id="{56D2F6C4-4FCF-D765-5C3E-E0DA8157ED56}"/>
              </a:ext>
            </a:extLst>
          </p:cNvPr>
          <p:cNvGrpSpPr/>
          <p:nvPr/>
        </p:nvGrpSpPr>
        <p:grpSpPr>
          <a:xfrm>
            <a:off x="1619250" y="2996458"/>
            <a:ext cx="4907459" cy="1360018"/>
            <a:chOff x="883825" y="2750625"/>
            <a:chExt cx="3122350" cy="662575"/>
          </a:xfrm>
        </p:grpSpPr>
        <p:sp>
          <p:nvSpPr>
            <p:cNvPr id="18" name="Google Shape;258;p32">
              <a:extLst>
                <a:ext uri="{FF2B5EF4-FFF2-40B4-BE49-F238E27FC236}">
                  <a16:creationId xmlns:a16="http://schemas.microsoft.com/office/drawing/2014/main" id="{31BCDF37-D619-577A-23FF-D15121C754FE}"/>
                </a:ext>
              </a:extLst>
            </p:cNvPr>
            <p:cNvSpPr/>
            <p:nvPr/>
          </p:nvSpPr>
          <p:spPr>
            <a:xfrm>
              <a:off x="1495100" y="2750625"/>
              <a:ext cx="2502825" cy="355650"/>
            </a:xfrm>
            <a:custGeom>
              <a:avLst/>
              <a:gdLst/>
              <a:ahLst/>
              <a:cxnLst/>
              <a:rect l="l" t="t" r="r" b="b"/>
              <a:pathLst>
                <a:path w="100113" h="14226" extrusionOk="0">
                  <a:moveTo>
                    <a:pt x="0" y="2974"/>
                  </a:moveTo>
                  <a:cubicBezTo>
                    <a:pt x="7875" y="4846"/>
                    <a:pt x="30563" y="14704"/>
                    <a:pt x="47248" y="14208"/>
                  </a:cubicBezTo>
                  <a:cubicBezTo>
                    <a:pt x="63934" y="13712"/>
                    <a:pt x="91302" y="2368"/>
                    <a:pt x="100113" y="0"/>
                  </a:cubicBezTo>
                </a:path>
              </a:pathLst>
            </a:cu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Google Shape;259;p32">
              <a:extLst>
                <a:ext uri="{FF2B5EF4-FFF2-40B4-BE49-F238E27FC236}">
                  <a16:creationId xmlns:a16="http://schemas.microsoft.com/office/drawing/2014/main" id="{57C34E24-5AAA-DCBD-1D52-1F209E2F127B}"/>
                </a:ext>
              </a:extLst>
            </p:cNvPr>
            <p:cNvSpPr/>
            <p:nvPr/>
          </p:nvSpPr>
          <p:spPr>
            <a:xfrm>
              <a:off x="883825" y="2866275"/>
              <a:ext cx="3122350" cy="546925"/>
            </a:xfrm>
            <a:custGeom>
              <a:avLst/>
              <a:gdLst/>
              <a:ahLst/>
              <a:cxnLst/>
              <a:rect l="l" t="t" r="r" b="b"/>
              <a:pathLst>
                <a:path w="124894" h="21877" extrusionOk="0">
                  <a:moveTo>
                    <a:pt x="0" y="0"/>
                  </a:moveTo>
                  <a:cubicBezTo>
                    <a:pt x="12445" y="3635"/>
                    <a:pt x="53856" y="20651"/>
                    <a:pt x="74672" y="21807"/>
                  </a:cubicBezTo>
                  <a:cubicBezTo>
                    <a:pt x="95488" y="22964"/>
                    <a:pt x="116524" y="9417"/>
                    <a:pt x="124894" y="6939"/>
                  </a:cubicBezTo>
                </a:path>
              </a:pathLst>
            </a:cu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oogle Shape;260;p32">
            <a:extLst>
              <a:ext uri="{FF2B5EF4-FFF2-40B4-BE49-F238E27FC236}">
                <a16:creationId xmlns:a16="http://schemas.microsoft.com/office/drawing/2014/main" id="{29A29872-B65C-29CE-B4C3-5AA110529565}"/>
              </a:ext>
            </a:extLst>
          </p:cNvPr>
          <p:cNvGrpSpPr/>
          <p:nvPr/>
        </p:nvGrpSpPr>
        <p:grpSpPr>
          <a:xfrm>
            <a:off x="2199370" y="3224343"/>
            <a:ext cx="6432307" cy="1241721"/>
            <a:chOff x="1065550" y="2748687"/>
            <a:chExt cx="4501800" cy="918813"/>
          </a:xfrm>
        </p:grpSpPr>
        <p:sp>
          <p:nvSpPr>
            <p:cNvPr id="21" name="Google Shape;261;p32">
              <a:extLst>
                <a:ext uri="{FF2B5EF4-FFF2-40B4-BE49-F238E27FC236}">
                  <a16:creationId xmlns:a16="http://schemas.microsoft.com/office/drawing/2014/main" id="{E3CCA48E-8100-D563-007A-2BDD6E3AF2DE}"/>
                </a:ext>
              </a:extLst>
            </p:cNvPr>
            <p:cNvSpPr/>
            <p:nvPr/>
          </p:nvSpPr>
          <p:spPr>
            <a:xfrm>
              <a:off x="1495100" y="2748687"/>
              <a:ext cx="4055725" cy="629725"/>
            </a:xfrm>
            <a:custGeom>
              <a:avLst/>
              <a:gdLst/>
              <a:ahLst/>
              <a:cxnLst/>
              <a:rect l="l" t="t" r="r" b="b"/>
              <a:pathLst>
                <a:path w="162229" h="25189" extrusionOk="0">
                  <a:moveTo>
                    <a:pt x="0" y="5034"/>
                  </a:moveTo>
                  <a:cubicBezTo>
                    <a:pt x="8480" y="7017"/>
                    <a:pt x="31719" y="17755"/>
                    <a:pt x="50882" y="16929"/>
                  </a:cubicBezTo>
                  <a:cubicBezTo>
                    <a:pt x="70046" y="16103"/>
                    <a:pt x="96423" y="-1299"/>
                    <a:pt x="114981" y="78"/>
                  </a:cubicBezTo>
                  <a:cubicBezTo>
                    <a:pt x="133539" y="1455"/>
                    <a:pt x="154354" y="21004"/>
                    <a:pt x="162229" y="25189"/>
                  </a:cubicBezTo>
                </a:path>
              </a:pathLst>
            </a:cu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Google Shape;262;p32">
              <a:extLst>
                <a:ext uri="{FF2B5EF4-FFF2-40B4-BE49-F238E27FC236}">
                  <a16:creationId xmlns:a16="http://schemas.microsoft.com/office/drawing/2014/main" id="{F5D10EAC-292C-ACFC-79AD-BF7FE0D979D2}"/>
                </a:ext>
              </a:extLst>
            </p:cNvPr>
            <p:cNvSpPr/>
            <p:nvPr/>
          </p:nvSpPr>
          <p:spPr>
            <a:xfrm>
              <a:off x="1065550" y="2882800"/>
              <a:ext cx="4501800" cy="784700"/>
            </a:xfrm>
            <a:custGeom>
              <a:avLst/>
              <a:gdLst/>
              <a:ahLst/>
              <a:cxnLst/>
              <a:rect l="l" t="t" r="r" b="b"/>
              <a:pathLst>
                <a:path w="180072" h="31388" extrusionOk="0">
                  <a:moveTo>
                    <a:pt x="0" y="0"/>
                  </a:moveTo>
                  <a:cubicBezTo>
                    <a:pt x="11619" y="3139"/>
                    <a:pt x="48074" y="18227"/>
                    <a:pt x="69716" y="18833"/>
                  </a:cubicBezTo>
                  <a:cubicBezTo>
                    <a:pt x="91358" y="19439"/>
                    <a:pt x="111457" y="1542"/>
                    <a:pt x="129850" y="3634"/>
                  </a:cubicBezTo>
                  <a:cubicBezTo>
                    <a:pt x="148243" y="5727"/>
                    <a:pt x="171702" y="26762"/>
                    <a:pt x="180072" y="31388"/>
                  </a:cubicBezTo>
                </a:path>
              </a:pathLst>
            </a:cu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Google Shape;263;p32">
            <a:extLst>
              <a:ext uri="{FF2B5EF4-FFF2-40B4-BE49-F238E27FC236}">
                <a16:creationId xmlns:a16="http://schemas.microsoft.com/office/drawing/2014/main" id="{42CE5845-C35A-682F-3E6F-3B3A68297BFF}"/>
              </a:ext>
            </a:extLst>
          </p:cNvPr>
          <p:cNvSpPr/>
          <p:nvPr/>
        </p:nvSpPr>
        <p:spPr>
          <a:xfrm>
            <a:off x="2406608" y="3245971"/>
            <a:ext cx="9023392" cy="1094642"/>
          </a:xfrm>
          <a:custGeom>
            <a:avLst/>
            <a:gdLst/>
            <a:ahLst/>
            <a:cxnLst/>
            <a:rect l="l" t="t" r="r" b="b"/>
            <a:pathLst>
              <a:path w="241527" h="32390" extrusionOk="0">
                <a:moveTo>
                  <a:pt x="0" y="3634"/>
                </a:moveTo>
                <a:cubicBezTo>
                  <a:pt x="9747" y="6332"/>
                  <a:pt x="37997" y="19824"/>
                  <a:pt x="58482" y="19824"/>
                </a:cubicBezTo>
                <a:cubicBezTo>
                  <a:pt x="78967" y="19824"/>
                  <a:pt x="101820" y="1541"/>
                  <a:pt x="122911" y="3634"/>
                </a:cubicBezTo>
                <a:cubicBezTo>
                  <a:pt x="144002" y="5727"/>
                  <a:pt x="165259" y="32986"/>
                  <a:pt x="185028" y="32380"/>
                </a:cubicBezTo>
                <a:cubicBezTo>
                  <a:pt x="204797" y="31774"/>
                  <a:pt x="232111" y="5397"/>
                  <a:pt x="241527" y="0"/>
                </a:cubicBezTo>
              </a:path>
            </a:pathLst>
          </a:custGeom>
          <a:noFill/>
          <a:ln w="38100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oogle Shape;268;p32">
            <a:extLst>
              <a:ext uri="{FF2B5EF4-FFF2-40B4-BE49-F238E27FC236}">
                <a16:creationId xmlns:a16="http://schemas.microsoft.com/office/drawing/2014/main" id="{E0B7E383-6077-F7FA-AC1F-21F59130095F}"/>
              </a:ext>
            </a:extLst>
          </p:cNvPr>
          <p:cNvSpPr/>
          <p:nvPr/>
        </p:nvSpPr>
        <p:spPr>
          <a:xfrm>
            <a:off x="1744674" y="1563494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259D4079-6999-B9CA-1D56-8362F15D5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347"/>
            <a:ext cx="10515600" cy="854075"/>
          </a:xfrm>
        </p:spPr>
        <p:txBody>
          <a:bodyPr/>
          <a:lstStyle/>
          <a:p>
            <a:r>
              <a:rPr lang="en" dirty="0"/>
              <a:t>Tor Circuits</a:t>
            </a:r>
            <a:endParaRPr lang="en-US" dirty="0"/>
          </a:p>
        </p:txBody>
      </p:sp>
      <p:sp>
        <p:nvSpPr>
          <p:cNvPr id="32" name="Google Shape;268;p32">
            <a:extLst>
              <a:ext uri="{FF2B5EF4-FFF2-40B4-BE49-F238E27FC236}">
                <a16:creationId xmlns:a16="http://schemas.microsoft.com/office/drawing/2014/main" id="{F2B48481-54F0-203D-0134-A54FEE7E0BDE}"/>
              </a:ext>
            </a:extLst>
          </p:cNvPr>
          <p:cNvSpPr/>
          <p:nvPr/>
        </p:nvSpPr>
        <p:spPr>
          <a:xfrm>
            <a:off x="3528797" y="1825013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3" name="Google Shape;268;p32">
            <a:extLst>
              <a:ext uri="{FF2B5EF4-FFF2-40B4-BE49-F238E27FC236}">
                <a16:creationId xmlns:a16="http://schemas.microsoft.com/office/drawing/2014/main" id="{824813E6-7734-2E59-64BD-1ABD4831B94C}"/>
              </a:ext>
            </a:extLst>
          </p:cNvPr>
          <p:cNvSpPr/>
          <p:nvPr/>
        </p:nvSpPr>
        <p:spPr>
          <a:xfrm>
            <a:off x="5180919" y="2218775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4" name="Google Shape;268;p32">
            <a:extLst>
              <a:ext uri="{FF2B5EF4-FFF2-40B4-BE49-F238E27FC236}">
                <a16:creationId xmlns:a16="http://schemas.microsoft.com/office/drawing/2014/main" id="{998B4958-E908-3838-683D-DD178C82569F}"/>
              </a:ext>
            </a:extLst>
          </p:cNvPr>
          <p:cNvSpPr/>
          <p:nvPr/>
        </p:nvSpPr>
        <p:spPr>
          <a:xfrm>
            <a:off x="5611628" y="995372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5" name="Google Shape;268;p32">
            <a:extLst>
              <a:ext uri="{FF2B5EF4-FFF2-40B4-BE49-F238E27FC236}">
                <a16:creationId xmlns:a16="http://schemas.microsoft.com/office/drawing/2014/main" id="{6CB1A58D-F30F-7B8E-F0A0-00CC0A3DE853}"/>
              </a:ext>
            </a:extLst>
          </p:cNvPr>
          <p:cNvSpPr/>
          <p:nvPr/>
        </p:nvSpPr>
        <p:spPr>
          <a:xfrm>
            <a:off x="7667606" y="2185664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36" name="Google Shape;268;p32">
            <a:extLst>
              <a:ext uri="{FF2B5EF4-FFF2-40B4-BE49-F238E27FC236}">
                <a16:creationId xmlns:a16="http://schemas.microsoft.com/office/drawing/2014/main" id="{16858EBD-C675-3871-B8A3-F03D4A97AA42}"/>
              </a:ext>
            </a:extLst>
          </p:cNvPr>
          <p:cNvSpPr/>
          <p:nvPr/>
        </p:nvSpPr>
        <p:spPr>
          <a:xfrm>
            <a:off x="8482714" y="1348002"/>
            <a:ext cx="915081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4" name="Google Shape;244;p32">
            <a:extLst>
              <a:ext uri="{FF2B5EF4-FFF2-40B4-BE49-F238E27FC236}">
                <a16:creationId xmlns:a16="http://schemas.microsoft.com/office/drawing/2014/main" id="{806FCC8D-3EAB-F2A3-61C3-0DA0AE9B9641}"/>
              </a:ext>
            </a:extLst>
          </p:cNvPr>
          <p:cNvSpPr/>
          <p:nvPr/>
        </p:nvSpPr>
        <p:spPr>
          <a:xfrm>
            <a:off x="807631" y="2496457"/>
            <a:ext cx="1685675" cy="778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Alice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solidFill>
                  <a:srgbClr val="CC0000"/>
                </a:solidFill>
              </a:rPr>
              <a:t>K</a:t>
            </a:r>
            <a:r>
              <a:rPr lang="en" sz="2400" i="1" baseline="-25000" dirty="0">
                <a:solidFill>
                  <a:srgbClr val="CC0000"/>
                </a:solidFill>
              </a:rPr>
              <a:t>1</a:t>
            </a:r>
            <a:r>
              <a:rPr lang="en" sz="2400" i="1" dirty="0"/>
              <a:t>, </a:t>
            </a:r>
            <a:r>
              <a:rPr lang="en" sz="2400" i="1" dirty="0">
                <a:solidFill>
                  <a:srgbClr val="BF9000"/>
                </a:solidFill>
              </a:rPr>
              <a:t>K</a:t>
            </a:r>
            <a:r>
              <a:rPr lang="en" sz="2400" i="1" baseline="-25000" dirty="0">
                <a:solidFill>
                  <a:srgbClr val="BF9000"/>
                </a:solidFill>
              </a:rPr>
              <a:t>2</a:t>
            </a:r>
            <a:r>
              <a:rPr lang="en" sz="2400" i="1" dirty="0"/>
              <a:t>, </a:t>
            </a:r>
            <a:r>
              <a:rPr lang="en" sz="2400" i="1" dirty="0">
                <a:solidFill>
                  <a:srgbClr val="38761D"/>
                </a:solidFill>
              </a:rPr>
              <a:t>K</a:t>
            </a:r>
            <a:r>
              <a:rPr lang="en" sz="2400" i="1" baseline="-25000" dirty="0">
                <a:solidFill>
                  <a:srgbClr val="38761D"/>
                </a:solidFill>
              </a:rPr>
              <a:t>3</a:t>
            </a:r>
            <a:endParaRPr sz="2400" i="1" baseline="-25000" dirty="0">
              <a:solidFill>
                <a:srgbClr val="38761D"/>
              </a:solidFill>
            </a:endParaRPr>
          </a:p>
        </p:txBody>
      </p:sp>
      <p:grpSp>
        <p:nvGrpSpPr>
          <p:cNvPr id="2" name="Google Shape;413;p37">
            <a:extLst>
              <a:ext uri="{FF2B5EF4-FFF2-40B4-BE49-F238E27FC236}">
                <a16:creationId xmlns:a16="http://schemas.microsoft.com/office/drawing/2014/main" id="{5DC70C40-012D-5D4A-EDED-8771B7E0D560}"/>
              </a:ext>
            </a:extLst>
          </p:cNvPr>
          <p:cNvGrpSpPr/>
          <p:nvPr/>
        </p:nvGrpSpPr>
        <p:grpSpPr>
          <a:xfrm>
            <a:off x="859299" y="4347969"/>
            <a:ext cx="2680141" cy="1660032"/>
            <a:chOff x="-210266" y="3436100"/>
            <a:chExt cx="2680141" cy="1660032"/>
          </a:xfrm>
        </p:grpSpPr>
        <p:sp>
          <p:nvSpPr>
            <p:cNvPr id="3" name="Google Shape;414;p37">
              <a:extLst>
                <a:ext uri="{FF2B5EF4-FFF2-40B4-BE49-F238E27FC236}">
                  <a16:creationId xmlns:a16="http://schemas.microsoft.com/office/drawing/2014/main" id="{602C5D08-1D80-97F5-FF60-8106A060574E}"/>
                </a:ext>
              </a:extLst>
            </p:cNvPr>
            <p:cNvSpPr txBox="1"/>
            <p:nvPr/>
          </p:nvSpPr>
          <p:spPr>
            <a:xfrm>
              <a:off x="-210266" y="4080500"/>
              <a:ext cx="2680141" cy="1015632"/>
            </a:xfrm>
            <a:prstGeom prst="rect">
              <a:avLst/>
            </a:prstGeom>
            <a:solidFill>
              <a:srgbClr val="FFAB40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</a:rPr>
                <a:t>Relay 1 knows that Alice is using Tor but </a:t>
              </a:r>
              <a:r>
                <a:rPr lang="en" i="1" dirty="0">
                  <a:solidFill>
                    <a:schemeClr val="dk1"/>
                  </a:solidFill>
                </a:rPr>
                <a:t>not</a:t>
              </a:r>
              <a:r>
                <a:rPr lang="en" dirty="0">
                  <a:solidFill>
                    <a:schemeClr val="dk1"/>
                  </a:solidFill>
                </a:rPr>
                <a:t> who Alice is talking to</a:t>
              </a:r>
              <a:endParaRPr dirty="0">
                <a:solidFill>
                  <a:schemeClr val="dk1"/>
                </a:solidFill>
              </a:endParaRPr>
            </a:p>
          </p:txBody>
        </p:sp>
        <p:cxnSp>
          <p:nvCxnSpPr>
            <p:cNvPr id="5" name="Google Shape;415;p37">
              <a:extLst>
                <a:ext uri="{FF2B5EF4-FFF2-40B4-BE49-F238E27FC236}">
                  <a16:creationId xmlns:a16="http://schemas.microsoft.com/office/drawing/2014/main" id="{A22733AD-7E9B-119B-5E32-EF4EF1501296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 flipV="1">
              <a:off x="1129805" y="3436100"/>
              <a:ext cx="910470" cy="644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6" name="Google Shape;416;p37">
            <a:extLst>
              <a:ext uri="{FF2B5EF4-FFF2-40B4-BE49-F238E27FC236}">
                <a16:creationId xmlns:a16="http://schemas.microsoft.com/office/drawing/2014/main" id="{F0319F0D-63DA-0D5C-2337-684B9FB829B4}"/>
              </a:ext>
            </a:extLst>
          </p:cNvPr>
          <p:cNvGrpSpPr/>
          <p:nvPr/>
        </p:nvGrpSpPr>
        <p:grpSpPr>
          <a:xfrm>
            <a:off x="9271757" y="5016907"/>
            <a:ext cx="2439552" cy="1461732"/>
            <a:chOff x="6283975" y="3634400"/>
            <a:chExt cx="2439552" cy="1461732"/>
          </a:xfrm>
        </p:grpSpPr>
        <p:sp>
          <p:nvSpPr>
            <p:cNvPr id="7" name="Google Shape;417;p37">
              <a:extLst>
                <a:ext uri="{FF2B5EF4-FFF2-40B4-BE49-F238E27FC236}">
                  <a16:creationId xmlns:a16="http://schemas.microsoft.com/office/drawing/2014/main" id="{F69EEB69-0581-D333-FBC5-2139C87D021F}"/>
                </a:ext>
              </a:extLst>
            </p:cNvPr>
            <p:cNvSpPr txBox="1"/>
            <p:nvPr/>
          </p:nvSpPr>
          <p:spPr>
            <a:xfrm>
              <a:off x="6283975" y="4080500"/>
              <a:ext cx="2439552" cy="1015632"/>
            </a:xfrm>
            <a:prstGeom prst="rect">
              <a:avLst/>
            </a:prstGeom>
            <a:solidFill>
              <a:srgbClr val="FFAB40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</a:rPr>
                <a:t>Relay 3 knows that someone is talking to Bob, but not who</a:t>
              </a:r>
              <a:endParaRPr dirty="0">
                <a:solidFill>
                  <a:schemeClr val="dk1"/>
                </a:solidFill>
              </a:endParaRPr>
            </a:p>
          </p:txBody>
        </p:sp>
        <p:cxnSp>
          <p:nvCxnSpPr>
            <p:cNvPr id="8" name="Google Shape;418;p37">
              <a:extLst>
                <a:ext uri="{FF2B5EF4-FFF2-40B4-BE49-F238E27FC236}">
                  <a16:creationId xmlns:a16="http://schemas.microsoft.com/office/drawing/2014/main" id="{3DE576F7-7D34-6FCF-C979-4301729E081E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H="1" flipV="1">
              <a:off x="6459475" y="3634400"/>
              <a:ext cx="1044276" cy="446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9" name="Google Shape;419;p37">
            <a:extLst>
              <a:ext uri="{FF2B5EF4-FFF2-40B4-BE49-F238E27FC236}">
                <a16:creationId xmlns:a16="http://schemas.microsoft.com/office/drawing/2014/main" id="{A0CD09DA-3A63-2A08-4015-78CAB6218546}"/>
              </a:ext>
            </a:extLst>
          </p:cNvPr>
          <p:cNvGrpSpPr/>
          <p:nvPr/>
        </p:nvGrpSpPr>
        <p:grpSpPr>
          <a:xfrm>
            <a:off x="5448509" y="4168575"/>
            <a:ext cx="2507400" cy="1804932"/>
            <a:chOff x="3059950" y="3436225"/>
            <a:chExt cx="2507400" cy="1804932"/>
          </a:xfrm>
        </p:grpSpPr>
        <p:sp>
          <p:nvSpPr>
            <p:cNvPr id="24" name="Google Shape;420;p37">
              <a:extLst>
                <a:ext uri="{FF2B5EF4-FFF2-40B4-BE49-F238E27FC236}">
                  <a16:creationId xmlns:a16="http://schemas.microsoft.com/office/drawing/2014/main" id="{57E48E03-05A5-3061-BAE1-338EECE2B82C}"/>
                </a:ext>
              </a:extLst>
            </p:cNvPr>
            <p:cNvSpPr txBox="1"/>
            <p:nvPr/>
          </p:nvSpPr>
          <p:spPr>
            <a:xfrm>
              <a:off x="3059950" y="4225525"/>
              <a:ext cx="2507400" cy="1015632"/>
            </a:xfrm>
            <a:prstGeom prst="rect">
              <a:avLst/>
            </a:prstGeom>
            <a:solidFill>
              <a:srgbClr val="FFAB40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</a:rPr>
                <a:t>Relay 2 knows nothing (other than that someone is using Tor)</a:t>
              </a:r>
              <a:endParaRPr dirty="0">
                <a:solidFill>
                  <a:schemeClr val="dk1"/>
                </a:solidFill>
              </a:endParaRPr>
            </a:p>
          </p:txBody>
        </p:sp>
        <p:cxnSp>
          <p:nvCxnSpPr>
            <p:cNvPr id="25" name="Google Shape;421;p37">
              <a:extLst>
                <a:ext uri="{FF2B5EF4-FFF2-40B4-BE49-F238E27FC236}">
                  <a16:creationId xmlns:a16="http://schemas.microsoft.com/office/drawing/2014/main" id="{08BF6531-E84C-5415-2F5C-A5373E3B2C77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V="1">
              <a:off x="4313650" y="3436225"/>
              <a:ext cx="56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66392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7;p38">
            <a:extLst>
              <a:ext uri="{FF2B5EF4-FFF2-40B4-BE49-F238E27FC236}">
                <a16:creationId xmlns:a16="http://schemas.microsoft.com/office/drawing/2014/main" id="{4E14480B-2691-8E2D-EEF5-9A3F51EAF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90945"/>
            <a:ext cx="10515600" cy="7801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Tor Exit Nodes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3E8810-1AEB-6C53-58C8-43B69FCB499F}"/>
              </a:ext>
            </a:extLst>
          </p:cNvPr>
          <p:cNvSpPr txBox="1"/>
          <p:nvPr/>
        </p:nvSpPr>
        <p:spPr>
          <a:xfrm>
            <a:off x="830137" y="1168322"/>
            <a:ext cx="1051560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Notice: The exit node (e.g., Relay 3) can see the message and the recipient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Without collusion, the exit node doesn’t know the sender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spcAft>
                <a:spcPts val="600"/>
              </a:spcAft>
            </a:pPr>
            <a:r>
              <a:rPr lang="en-US" sz="2400" dirty="0"/>
              <a:t>The exit node is a man-in-the-middle attacker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If the user is not using TLS to connect to the end host (using HTTP), the exit node can see and modify the traffic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If the user is using TLS (using HTTPS), the exit node cannot see or tamper with the traffic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031DE1A-3C68-C0C7-A874-72181C6149E8}"/>
              </a:ext>
            </a:extLst>
          </p:cNvPr>
          <p:cNvGrpSpPr/>
          <p:nvPr/>
        </p:nvGrpSpPr>
        <p:grpSpPr>
          <a:xfrm>
            <a:off x="1121243" y="4592961"/>
            <a:ext cx="9949513" cy="2020697"/>
            <a:chOff x="1404287" y="2754668"/>
            <a:chExt cx="9949513" cy="2020697"/>
          </a:xfrm>
        </p:grpSpPr>
        <p:sp>
          <p:nvSpPr>
            <p:cNvPr id="5" name="Google Shape;186;p29">
              <a:extLst>
                <a:ext uri="{FF2B5EF4-FFF2-40B4-BE49-F238E27FC236}">
                  <a16:creationId xmlns:a16="http://schemas.microsoft.com/office/drawing/2014/main" id="{62099933-E057-FD3D-7CF9-48E704E9A5BE}"/>
                </a:ext>
              </a:extLst>
            </p:cNvPr>
            <p:cNvSpPr/>
            <p:nvPr/>
          </p:nvSpPr>
          <p:spPr>
            <a:xfrm>
              <a:off x="1404287" y="2986551"/>
              <a:ext cx="1065600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Alice</a:t>
              </a:r>
              <a:endParaRPr dirty="0"/>
            </a:p>
          </p:txBody>
        </p:sp>
        <p:sp>
          <p:nvSpPr>
            <p:cNvPr id="7" name="Google Shape;188;p29">
              <a:extLst>
                <a:ext uri="{FF2B5EF4-FFF2-40B4-BE49-F238E27FC236}">
                  <a16:creationId xmlns:a16="http://schemas.microsoft.com/office/drawing/2014/main" id="{724A6A67-F3E8-79A2-2A45-439B4F0F6BA7}"/>
                </a:ext>
              </a:extLst>
            </p:cNvPr>
            <p:cNvSpPr/>
            <p:nvPr/>
          </p:nvSpPr>
          <p:spPr>
            <a:xfrm>
              <a:off x="3284013" y="3716223"/>
              <a:ext cx="732000" cy="393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Relay</a:t>
              </a:r>
              <a:endParaRPr dirty="0"/>
            </a:p>
          </p:txBody>
        </p:sp>
        <p:sp>
          <p:nvSpPr>
            <p:cNvPr id="8" name="Google Shape;189;p29">
              <a:extLst>
                <a:ext uri="{FF2B5EF4-FFF2-40B4-BE49-F238E27FC236}">
                  <a16:creationId xmlns:a16="http://schemas.microsoft.com/office/drawing/2014/main" id="{1FDE1C07-F966-0056-917D-0D298773D827}"/>
                </a:ext>
              </a:extLst>
            </p:cNvPr>
            <p:cNvSpPr/>
            <p:nvPr/>
          </p:nvSpPr>
          <p:spPr>
            <a:xfrm>
              <a:off x="5039797" y="2754668"/>
              <a:ext cx="73200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Relay</a:t>
              </a:r>
              <a:endParaRPr/>
            </a:p>
          </p:txBody>
        </p:sp>
        <p:sp>
          <p:nvSpPr>
            <p:cNvPr id="9" name="Google Shape;190;p29">
              <a:extLst>
                <a:ext uri="{FF2B5EF4-FFF2-40B4-BE49-F238E27FC236}">
                  <a16:creationId xmlns:a16="http://schemas.microsoft.com/office/drawing/2014/main" id="{7CB3231B-6912-9002-A35C-44D299518577}"/>
                </a:ext>
              </a:extLst>
            </p:cNvPr>
            <p:cNvSpPr/>
            <p:nvPr/>
          </p:nvSpPr>
          <p:spPr>
            <a:xfrm>
              <a:off x="5638981" y="3573803"/>
              <a:ext cx="732000" cy="3936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Relay</a:t>
              </a:r>
              <a:endParaRPr dirty="0"/>
            </a:p>
          </p:txBody>
        </p:sp>
        <p:sp>
          <p:nvSpPr>
            <p:cNvPr id="10" name="Google Shape;192;p29">
              <a:extLst>
                <a:ext uri="{FF2B5EF4-FFF2-40B4-BE49-F238E27FC236}">
                  <a16:creationId xmlns:a16="http://schemas.microsoft.com/office/drawing/2014/main" id="{F64A1905-115F-28BE-435F-E82EE45C4CF7}"/>
                </a:ext>
              </a:extLst>
            </p:cNvPr>
            <p:cNvSpPr/>
            <p:nvPr/>
          </p:nvSpPr>
          <p:spPr>
            <a:xfrm>
              <a:off x="8052879" y="4381765"/>
              <a:ext cx="732000" cy="3936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Relay</a:t>
              </a:r>
              <a:endParaRPr dirty="0"/>
            </a:p>
          </p:txBody>
        </p:sp>
        <p:sp>
          <p:nvSpPr>
            <p:cNvPr id="11" name="Google Shape;193;p29">
              <a:extLst>
                <a:ext uri="{FF2B5EF4-FFF2-40B4-BE49-F238E27FC236}">
                  <a16:creationId xmlns:a16="http://schemas.microsoft.com/office/drawing/2014/main" id="{8FFFC7ED-5115-DD5A-1EBD-36F4C0D49F26}"/>
                </a:ext>
              </a:extLst>
            </p:cNvPr>
            <p:cNvSpPr/>
            <p:nvPr/>
          </p:nvSpPr>
          <p:spPr>
            <a:xfrm>
              <a:off x="8052879" y="3062841"/>
              <a:ext cx="73200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Relay</a:t>
              </a:r>
              <a:endParaRPr/>
            </a:p>
          </p:txBody>
        </p:sp>
        <p:sp>
          <p:nvSpPr>
            <p:cNvPr id="12" name="Google Shape;195;p29">
              <a:extLst>
                <a:ext uri="{FF2B5EF4-FFF2-40B4-BE49-F238E27FC236}">
                  <a16:creationId xmlns:a16="http://schemas.microsoft.com/office/drawing/2014/main" id="{466F038A-A5FA-0720-C516-90E22D4C4AE5}"/>
                </a:ext>
              </a:extLst>
            </p:cNvPr>
            <p:cNvSpPr/>
            <p:nvPr/>
          </p:nvSpPr>
          <p:spPr>
            <a:xfrm>
              <a:off x="10288200" y="2894587"/>
              <a:ext cx="1065600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Bob</a:t>
              </a:r>
              <a:endParaRPr/>
            </a:p>
          </p:txBody>
        </p:sp>
        <p:grpSp>
          <p:nvGrpSpPr>
            <p:cNvPr id="13" name="Google Shape;215;p30">
              <a:extLst>
                <a:ext uri="{FF2B5EF4-FFF2-40B4-BE49-F238E27FC236}">
                  <a16:creationId xmlns:a16="http://schemas.microsoft.com/office/drawing/2014/main" id="{0B531DB5-1B7E-324C-88D6-5742B07E26A9}"/>
                </a:ext>
              </a:extLst>
            </p:cNvPr>
            <p:cNvGrpSpPr/>
            <p:nvPr/>
          </p:nvGrpSpPr>
          <p:grpSpPr>
            <a:xfrm>
              <a:off x="1706313" y="3455522"/>
              <a:ext cx="1577700" cy="636000"/>
              <a:chOff x="718625" y="2758900"/>
              <a:chExt cx="1577700" cy="636000"/>
            </a:xfrm>
          </p:grpSpPr>
          <p:cxnSp>
            <p:nvCxnSpPr>
              <p:cNvPr id="14" name="Google Shape;216;p30">
                <a:extLst>
                  <a:ext uri="{FF2B5EF4-FFF2-40B4-BE49-F238E27FC236}">
                    <a16:creationId xmlns:a16="http://schemas.microsoft.com/office/drawing/2014/main" id="{E7770D8C-B7C6-8996-3337-76FEB0D5A407}"/>
                  </a:ext>
                </a:extLst>
              </p:cNvPr>
              <p:cNvCxnSpPr/>
              <p:nvPr/>
            </p:nvCxnSpPr>
            <p:spPr>
              <a:xfrm>
                <a:off x="718625" y="2882800"/>
                <a:ext cx="1577700" cy="512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" name="Google Shape;217;p30">
                <a:extLst>
                  <a:ext uri="{FF2B5EF4-FFF2-40B4-BE49-F238E27FC236}">
                    <a16:creationId xmlns:a16="http://schemas.microsoft.com/office/drawing/2014/main" id="{91B9AFAB-DB3F-811E-CE1B-B09AD3C66BA7}"/>
                  </a:ext>
                </a:extLst>
              </p:cNvPr>
              <p:cNvCxnSpPr/>
              <p:nvPr/>
            </p:nvCxnSpPr>
            <p:spPr>
              <a:xfrm>
                <a:off x="1519875" y="2758900"/>
                <a:ext cx="768300" cy="2478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" name="Google Shape;218;p30">
              <a:extLst>
                <a:ext uri="{FF2B5EF4-FFF2-40B4-BE49-F238E27FC236}">
                  <a16:creationId xmlns:a16="http://schemas.microsoft.com/office/drawing/2014/main" id="{AFFC3C71-B546-D669-E032-ACA642BACCBF}"/>
                </a:ext>
              </a:extLst>
            </p:cNvPr>
            <p:cNvGrpSpPr/>
            <p:nvPr/>
          </p:nvGrpSpPr>
          <p:grpSpPr>
            <a:xfrm>
              <a:off x="1886364" y="3559251"/>
              <a:ext cx="3767468" cy="550572"/>
              <a:chOff x="898676" y="2862629"/>
              <a:chExt cx="3767468" cy="907168"/>
            </a:xfrm>
          </p:grpSpPr>
          <p:sp>
            <p:nvSpPr>
              <p:cNvPr id="17" name="Google Shape;219;p30">
                <a:extLst>
                  <a:ext uri="{FF2B5EF4-FFF2-40B4-BE49-F238E27FC236}">
                    <a16:creationId xmlns:a16="http://schemas.microsoft.com/office/drawing/2014/main" id="{839CF015-1DBF-CC9E-9AF7-80248F4F1062}"/>
                  </a:ext>
                </a:extLst>
              </p:cNvPr>
              <p:cNvSpPr/>
              <p:nvPr/>
            </p:nvSpPr>
            <p:spPr>
              <a:xfrm>
                <a:off x="1495100" y="2862629"/>
                <a:ext cx="3080666" cy="497950"/>
              </a:xfrm>
              <a:custGeom>
                <a:avLst/>
                <a:gdLst/>
                <a:ahLst/>
                <a:cxnLst/>
                <a:rect l="l" t="t" r="r" b="b"/>
                <a:pathLst>
                  <a:path w="100113" h="14226" extrusionOk="0">
                    <a:moveTo>
                      <a:pt x="0" y="2974"/>
                    </a:moveTo>
                    <a:cubicBezTo>
                      <a:pt x="7875" y="4846"/>
                      <a:pt x="30563" y="14704"/>
                      <a:pt x="47248" y="14208"/>
                    </a:cubicBezTo>
                    <a:cubicBezTo>
                      <a:pt x="63934" y="13712"/>
                      <a:pt x="91302" y="2368"/>
                      <a:pt x="100113" y="0"/>
                    </a:cubicBezTo>
                  </a:path>
                </a:pathLst>
              </a:custGeom>
              <a:noFill/>
              <a:ln w="19050" cap="flat" cmpd="sng">
                <a:solidFill>
                  <a:srgbClr val="E69138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Google Shape;220;p30">
                <a:extLst>
                  <a:ext uri="{FF2B5EF4-FFF2-40B4-BE49-F238E27FC236}">
                    <a16:creationId xmlns:a16="http://schemas.microsoft.com/office/drawing/2014/main" id="{30512064-9EED-461E-DEBB-7716C470802F}"/>
                  </a:ext>
                </a:extLst>
              </p:cNvPr>
              <p:cNvSpPr/>
              <p:nvPr/>
            </p:nvSpPr>
            <p:spPr>
              <a:xfrm>
                <a:off x="898676" y="2950929"/>
                <a:ext cx="3767468" cy="818868"/>
              </a:xfrm>
              <a:custGeom>
                <a:avLst/>
                <a:gdLst/>
                <a:ahLst/>
                <a:cxnLst/>
                <a:rect l="l" t="t" r="r" b="b"/>
                <a:pathLst>
                  <a:path w="124894" h="21877" extrusionOk="0">
                    <a:moveTo>
                      <a:pt x="0" y="0"/>
                    </a:moveTo>
                    <a:cubicBezTo>
                      <a:pt x="12445" y="3635"/>
                      <a:pt x="53856" y="20651"/>
                      <a:pt x="74672" y="21807"/>
                    </a:cubicBezTo>
                    <a:cubicBezTo>
                      <a:pt x="95488" y="22964"/>
                      <a:pt x="116524" y="9417"/>
                      <a:pt x="124894" y="6939"/>
                    </a:cubicBezTo>
                  </a:path>
                </a:pathLst>
              </a:custGeom>
              <a:noFill/>
              <a:ln w="19050" cap="flat" cmpd="sng">
                <a:solidFill>
                  <a:srgbClr val="E69138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9" name="Google Shape;221;p30">
              <a:extLst>
                <a:ext uri="{FF2B5EF4-FFF2-40B4-BE49-F238E27FC236}">
                  <a16:creationId xmlns:a16="http://schemas.microsoft.com/office/drawing/2014/main" id="{A015F3D3-F071-A90E-A1DD-5ACA76FD34AF}"/>
                </a:ext>
              </a:extLst>
            </p:cNvPr>
            <p:cNvGrpSpPr/>
            <p:nvPr/>
          </p:nvGrpSpPr>
          <p:grpSpPr>
            <a:xfrm>
              <a:off x="2053238" y="3313111"/>
              <a:ext cx="5999641" cy="1409069"/>
              <a:chOff x="1065550" y="2616489"/>
              <a:chExt cx="5999641" cy="1409069"/>
            </a:xfrm>
          </p:grpSpPr>
          <p:sp>
            <p:nvSpPr>
              <p:cNvPr id="20" name="Google Shape;222;p30">
                <a:extLst>
                  <a:ext uri="{FF2B5EF4-FFF2-40B4-BE49-F238E27FC236}">
                    <a16:creationId xmlns:a16="http://schemas.microsoft.com/office/drawing/2014/main" id="{D45DA335-D105-E51E-AA1D-2184BA338E64}"/>
                  </a:ext>
                </a:extLst>
              </p:cNvPr>
              <p:cNvSpPr/>
              <p:nvPr/>
            </p:nvSpPr>
            <p:spPr>
              <a:xfrm>
                <a:off x="1495100" y="2616489"/>
                <a:ext cx="5570091" cy="1093271"/>
              </a:xfrm>
              <a:custGeom>
                <a:avLst/>
                <a:gdLst/>
                <a:ahLst/>
                <a:cxnLst/>
                <a:rect l="l" t="t" r="r" b="b"/>
                <a:pathLst>
                  <a:path w="162229" h="25189" extrusionOk="0">
                    <a:moveTo>
                      <a:pt x="0" y="5034"/>
                    </a:moveTo>
                    <a:cubicBezTo>
                      <a:pt x="8480" y="7017"/>
                      <a:pt x="31719" y="17755"/>
                      <a:pt x="50882" y="16929"/>
                    </a:cubicBezTo>
                    <a:cubicBezTo>
                      <a:pt x="70046" y="16103"/>
                      <a:pt x="96423" y="-1299"/>
                      <a:pt x="114981" y="78"/>
                    </a:cubicBezTo>
                    <a:cubicBezTo>
                      <a:pt x="133539" y="1455"/>
                      <a:pt x="154354" y="21004"/>
                      <a:pt x="162229" y="25189"/>
                    </a:cubicBezTo>
                  </a:path>
                </a:pathLst>
              </a:custGeom>
              <a:noFill/>
              <a:ln w="19050" cap="flat" cmpd="sng">
                <a:solidFill>
                  <a:srgbClr val="38761D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Google Shape;223;p30">
                <a:extLst>
                  <a:ext uri="{FF2B5EF4-FFF2-40B4-BE49-F238E27FC236}">
                    <a16:creationId xmlns:a16="http://schemas.microsoft.com/office/drawing/2014/main" id="{32453709-5E26-8938-19A0-4AF8239474A4}"/>
                  </a:ext>
                </a:extLst>
              </p:cNvPr>
              <p:cNvSpPr/>
              <p:nvPr/>
            </p:nvSpPr>
            <p:spPr>
              <a:xfrm>
                <a:off x="1065550" y="2882799"/>
                <a:ext cx="5924114" cy="1142759"/>
              </a:xfrm>
              <a:custGeom>
                <a:avLst/>
                <a:gdLst/>
                <a:ahLst/>
                <a:cxnLst/>
                <a:rect l="l" t="t" r="r" b="b"/>
                <a:pathLst>
                  <a:path w="180072" h="31388" extrusionOk="0">
                    <a:moveTo>
                      <a:pt x="0" y="0"/>
                    </a:moveTo>
                    <a:cubicBezTo>
                      <a:pt x="11619" y="3139"/>
                      <a:pt x="48074" y="18227"/>
                      <a:pt x="69716" y="18833"/>
                    </a:cubicBezTo>
                    <a:cubicBezTo>
                      <a:pt x="91358" y="19439"/>
                      <a:pt x="111457" y="1542"/>
                      <a:pt x="129850" y="3634"/>
                    </a:cubicBezTo>
                    <a:cubicBezTo>
                      <a:pt x="148243" y="5727"/>
                      <a:pt x="171702" y="26762"/>
                      <a:pt x="180072" y="31388"/>
                    </a:cubicBezTo>
                  </a:path>
                </a:pathLst>
              </a:custGeom>
              <a:noFill/>
              <a:ln w="19050" cap="flat" cmpd="sng">
                <a:solidFill>
                  <a:srgbClr val="38761D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" name="Google Shape;224;p30">
              <a:extLst>
                <a:ext uri="{FF2B5EF4-FFF2-40B4-BE49-F238E27FC236}">
                  <a16:creationId xmlns:a16="http://schemas.microsoft.com/office/drawing/2014/main" id="{F4180502-4BA0-0988-737B-199E5019CA3F}"/>
                </a:ext>
              </a:extLst>
            </p:cNvPr>
            <p:cNvSpPr/>
            <p:nvPr/>
          </p:nvSpPr>
          <p:spPr>
            <a:xfrm>
              <a:off x="2309313" y="3313112"/>
              <a:ext cx="7978887" cy="1297478"/>
            </a:xfrm>
            <a:custGeom>
              <a:avLst/>
              <a:gdLst/>
              <a:ahLst/>
              <a:cxnLst/>
              <a:rect l="l" t="t" r="r" b="b"/>
              <a:pathLst>
                <a:path w="241527" h="32390" extrusionOk="0">
                  <a:moveTo>
                    <a:pt x="0" y="3634"/>
                  </a:moveTo>
                  <a:cubicBezTo>
                    <a:pt x="9747" y="6332"/>
                    <a:pt x="37997" y="19824"/>
                    <a:pt x="58482" y="19824"/>
                  </a:cubicBezTo>
                  <a:cubicBezTo>
                    <a:pt x="78967" y="19824"/>
                    <a:pt x="101820" y="1541"/>
                    <a:pt x="122911" y="3634"/>
                  </a:cubicBezTo>
                  <a:cubicBezTo>
                    <a:pt x="144002" y="5727"/>
                    <a:pt x="165259" y="32986"/>
                    <a:pt x="185028" y="32380"/>
                  </a:cubicBezTo>
                  <a:cubicBezTo>
                    <a:pt x="204797" y="31774"/>
                    <a:pt x="232111" y="5397"/>
                    <a:pt x="241527" y="0"/>
                  </a:cubicBezTo>
                </a:path>
              </a:pathLst>
            </a:custGeom>
            <a:noFill/>
            <a:ln w="38100" cap="flat" cmpd="sng">
              <a:solidFill>
                <a:srgbClr val="1155CC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52787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65F31-7CBD-CE62-35F7-46F15608C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C0C80-D3E4-D4DC-3CF5-991CAA078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034473"/>
            <a:ext cx="11739418" cy="3417685"/>
          </a:xfrm>
        </p:spPr>
        <p:txBody>
          <a:bodyPr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Collusion: Multiple nodes working together and sharing information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Collusion is adversarial (dishonest) behavior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If all nodes in the circuit collude, anonymity is broken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If at least one nodes in the circuit is honest, anonymity is preserved</a:t>
            </a:r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It is easy to form some amount of colluding nodes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An adversary can create/control hundreds nodes in the Tor network to increase the chance that your circuit consists entirely of the attacker’s nodes!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The more nodes we use, the more confident we are that they are not all colluding</a:t>
            </a:r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endParaRPr lang="en-US" dirty="0"/>
          </a:p>
        </p:txBody>
      </p:sp>
      <p:sp>
        <p:nvSpPr>
          <p:cNvPr id="6" name="Google Shape;427;p38">
            <a:extLst>
              <a:ext uri="{FF2B5EF4-FFF2-40B4-BE49-F238E27FC236}">
                <a16:creationId xmlns:a16="http://schemas.microsoft.com/office/drawing/2014/main" id="{258B5436-0C0F-5ECC-93AC-98B3B4EB1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45053"/>
            <a:ext cx="10515600" cy="7894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Tor Weaknesses: Collusion</a:t>
            </a:r>
            <a:endParaRPr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6BD5ABE-B684-C4B9-B36F-62E315D6DEA3}"/>
              </a:ext>
            </a:extLst>
          </p:cNvPr>
          <p:cNvGrpSpPr/>
          <p:nvPr/>
        </p:nvGrpSpPr>
        <p:grpSpPr>
          <a:xfrm>
            <a:off x="1121243" y="4683055"/>
            <a:ext cx="9949513" cy="1929892"/>
            <a:chOff x="1561305" y="4730933"/>
            <a:chExt cx="9949513" cy="1929892"/>
          </a:xfrm>
        </p:grpSpPr>
        <p:sp>
          <p:nvSpPr>
            <p:cNvPr id="2" name="Google Shape;195;p29">
              <a:extLst>
                <a:ext uri="{FF2B5EF4-FFF2-40B4-BE49-F238E27FC236}">
                  <a16:creationId xmlns:a16="http://schemas.microsoft.com/office/drawing/2014/main" id="{2644EA51-B884-72EE-F4C4-E6B63B442414}"/>
                </a:ext>
              </a:extLst>
            </p:cNvPr>
            <p:cNvSpPr/>
            <p:nvPr/>
          </p:nvSpPr>
          <p:spPr>
            <a:xfrm>
              <a:off x="10445218" y="4898364"/>
              <a:ext cx="1065600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Bob</a:t>
              </a:r>
              <a:endParaRPr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FC4DFB1-8883-9362-B79A-A2612DFF9031}"/>
                </a:ext>
              </a:extLst>
            </p:cNvPr>
            <p:cNvGrpSpPr/>
            <p:nvPr/>
          </p:nvGrpSpPr>
          <p:grpSpPr>
            <a:xfrm>
              <a:off x="3068781" y="4730933"/>
              <a:ext cx="7023173" cy="1929892"/>
              <a:chOff x="2911763" y="2727156"/>
              <a:chExt cx="7023173" cy="1929892"/>
            </a:xfrm>
          </p:grpSpPr>
          <p:sp>
            <p:nvSpPr>
              <p:cNvPr id="5" name="Google Shape;187;p29">
                <a:extLst>
                  <a:ext uri="{FF2B5EF4-FFF2-40B4-BE49-F238E27FC236}">
                    <a16:creationId xmlns:a16="http://schemas.microsoft.com/office/drawing/2014/main" id="{056F4026-8CFC-F9AF-623D-57115D966BFA}"/>
                  </a:ext>
                </a:extLst>
              </p:cNvPr>
              <p:cNvSpPr/>
              <p:nvPr/>
            </p:nvSpPr>
            <p:spPr>
              <a:xfrm>
                <a:off x="4172031" y="3592345"/>
                <a:ext cx="732000" cy="3936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/>
                  <a:t>Relay</a:t>
                </a:r>
                <a:endParaRPr dirty="0"/>
              </a:p>
            </p:txBody>
          </p:sp>
          <p:sp>
            <p:nvSpPr>
              <p:cNvPr id="7" name="Google Shape;188;p29">
                <a:extLst>
                  <a:ext uri="{FF2B5EF4-FFF2-40B4-BE49-F238E27FC236}">
                    <a16:creationId xmlns:a16="http://schemas.microsoft.com/office/drawing/2014/main" id="{64B116B1-053B-D34B-8888-8A952F5CB416}"/>
                  </a:ext>
                </a:extLst>
              </p:cNvPr>
              <p:cNvSpPr/>
              <p:nvPr/>
            </p:nvSpPr>
            <p:spPr>
              <a:xfrm>
                <a:off x="3210122" y="4263448"/>
                <a:ext cx="732000" cy="3936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/>
                  <a:t>Relay</a:t>
                </a:r>
                <a:endParaRPr dirty="0"/>
              </a:p>
            </p:txBody>
          </p:sp>
          <p:sp>
            <p:nvSpPr>
              <p:cNvPr id="8" name="Google Shape;189;p29">
                <a:extLst>
                  <a:ext uri="{FF2B5EF4-FFF2-40B4-BE49-F238E27FC236}">
                    <a16:creationId xmlns:a16="http://schemas.microsoft.com/office/drawing/2014/main" id="{815C0C92-1C1F-0FAF-FB2D-59DA1A05E4C1}"/>
                  </a:ext>
                </a:extLst>
              </p:cNvPr>
              <p:cNvSpPr/>
              <p:nvPr/>
            </p:nvSpPr>
            <p:spPr>
              <a:xfrm>
                <a:off x="4844032" y="2791713"/>
                <a:ext cx="732000" cy="3936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Relay</a:t>
                </a:r>
                <a:endParaRPr/>
              </a:p>
            </p:txBody>
          </p:sp>
          <p:sp>
            <p:nvSpPr>
              <p:cNvPr id="9" name="Google Shape;190;p29">
                <a:extLst>
                  <a:ext uri="{FF2B5EF4-FFF2-40B4-BE49-F238E27FC236}">
                    <a16:creationId xmlns:a16="http://schemas.microsoft.com/office/drawing/2014/main" id="{43F91FEA-6C7D-C17C-0EBA-F9B7E3DD8D45}"/>
                  </a:ext>
                </a:extLst>
              </p:cNvPr>
              <p:cNvSpPr/>
              <p:nvPr/>
            </p:nvSpPr>
            <p:spPr>
              <a:xfrm>
                <a:off x="5966691" y="4109823"/>
                <a:ext cx="732000" cy="393600"/>
              </a:xfrm>
              <a:prstGeom prst="rect">
                <a:avLst/>
              </a:prstGeom>
              <a:solidFill>
                <a:srgbClr val="FCE5CD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/>
                  <a:t>Relay</a:t>
                </a:r>
                <a:endParaRPr dirty="0"/>
              </a:p>
            </p:txBody>
          </p:sp>
          <p:sp>
            <p:nvSpPr>
              <p:cNvPr id="10" name="Google Shape;191;p29">
                <a:extLst>
                  <a:ext uri="{FF2B5EF4-FFF2-40B4-BE49-F238E27FC236}">
                    <a16:creationId xmlns:a16="http://schemas.microsoft.com/office/drawing/2014/main" id="{0072F58F-0BF0-DA38-2B7F-962B3E82E3A9}"/>
                  </a:ext>
                </a:extLst>
              </p:cNvPr>
              <p:cNvSpPr/>
              <p:nvPr/>
            </p:nvSpPr>
            <p:spPr>
              <a:xfrm>
                <a:off x="6431237" y="2879301"/>
                <a:ext cx="732000" cy="3936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Relay</a:t>
                </a:r>
                <a:endParaRPr/>
              </a:p>
            </p:txBody>
          </p:sp>
          <p:sp>
            <p:nvSpPr>
              <p:cNvPr id="11" name="Google Shape;192;p29">
                <a:extLst>
                  <a:ext uri="{FF2B5EF4-FFF2-40B4-BE49-F238E27FC236}">
                    <a16:creationId xmlns:a16="http://schemas.microsoft.com/office/drawing/2014/main" id="{2C38E1A7-82FE-E401-93AF-7CB105B760BD}"/>
                  </a:ext>
                </a:extLst>
              </p:cNvPr>
              <p:cNvSpPr/>
              <p:nvPr/>
            </p:nvSpPr>
            <p:spPr>
              <a:xfrm>
                <a:off x="7722791" y="4184965"/>
                <a:ext cx="732000" cy="393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/>
                  <a:t>Relay</a:t>
                </a:r>
                <a:endParaRPr dirty="0"/>
              </a:p>
            </p:txBody>
          </p:sp>
          <p:sp>
            <p:nvSpPr>
              <p:cNvPr id="12" name="Google Shape;193;p29">
                <a:extLst>
                  <a:ext uri="{FF2B5EF4-FFF2-40B4-BE49-F238E27FC236}">
                    <a16:creationId xmlns:a16="http://schemas.microsoft.com/office/drawing/2014/main" id="{8A67D48A-B086-D211-547A-FDFCEF0E9A45}"/>
                  </a:ext>
                </a:extLst>
              </p:cNvPr>
              <p:cNvSpPr/>
              <p:nvPr/>
            </p:nvSpPr>
            <p:spPr>
              <a:xfrm>
                <a:off x="9202936" y="3752715"/>
                <a:ext cx="732000" cy="3936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Relay</a:t>
                </a:r>
                <a:endParaRPr/>
              </a:p>
            </p:txBody>
          </p:sp>
          <p:sp>
            <p:nvSpPr>
              <p:cNvPr id="13" name="Google Shape;194;p29">
                <a:extLst>
                  <a:ext uri="{FF2B5EF4-FFF2-40B4-BE49-F238E27FC236}">
                    <a16:creationId xmlns:a16="http://schemas.microsoft.com/office/drawing/2014/main" id="{042013F5-D186-66B3-6B96-962F29814D9F}"/>
                  </a:ext>
                </a:extLst>
              </p:cNvPr>
              <p:cNvSpPr/>
              <p:nvPr/>
            </p:nvSpPr>
            <p:spPr>
              <a:xfrm>
                <a:off x="7975707" y="2727156"/>
                <a:ext cx="732000" cy="3936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/>
                  <a:t>Relay</a:t>
                </a:r>
                <a:endParaRPr dirty="0"/>
              </a:p>
            </p:txBody>
          </p:sp>
          <p:sp>
            <p:nvSpPr>
              <p:cNvPr id="14" name="Google Shape;198;p29">
                <a:extLst>
                  <a:ext uri="{FF2B5EF4-FFF2-40B4-BE49-F238E27FC236}">
                    <a16:creationId xmlns:a16="http://schemas.microsoft.com/office/drawing/2014/main" id="{A1CD6B2E-982F-3EAA-DCF5-E87BA22CFDFE}"/>
                  </a:ext>
                </a:extLst>
              </p:cNvPr>
              <p:cNvSpPr/>
              <p:nvPr/>
            </p:nvSpPr>
            <p:spPr>
              <a:xfrm>
                <a:off x="2911763" y="3242212"/>
                <a:ext cx="732000" cy="3936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Relay</a:t>
                </a:r>
                <a:endParaRPr/>
              </a:p>
            </p:txBody>
          </p:sp>
        </p:grpSp>
        <p:sp>
          <p:nvSpPr>
            <p:cNvPr id="15" name="Google Shape;186;p29">
              <a:extLst>
                <a:ext uri="{FF2B5EF4-FFF2-40B4-BE49-F238E27FC236}">
                  <a16:creationId xmlns:a16="http://schemas.microsoft.com/office/drawing/2014/main" id="{890DF6BD-5A88-FAF0-5E89-337A85DEF2C3}"/>
                </a:ext>
              </a:extLst>
            </p:cNvPr>
            <p:cNvSpPr/>
            <p:nvPr/>
          </p:nvSpPr>
          <p:spPr>
            <a:xfrm>
              <a:off x="1561305" y="4990328"/>
              <a:ext cx="1065600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Alice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28374863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85053-E0C0-7D1F-A398-17A21358D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66"/>
            <a:ext cx="10515600" cy="789420"/>
          </a:xfrm>
        </p:spPr>
        <p:txBody>
          <a:bodyPr/>
          <a:lstStyle/>
          <a:p>
            <a:r>
              <a:rPr lang="en" dirty="0"/>
              <a:t>Tor Weaknesses: Distinguishable Traffic</a:t>
            </a:r>
            <a:endParaRPr lang="en-US" dirty="0"/>
          </a:p>
        </p:txBody>
      </p:sp>
      <p:sp>
        <p:nvSpPr>
          <p:cNvPr id="4" name="Google Shape;463;p43">
            <a:extLst>
              <a:ext uri="{FF2B5EF4-FFF2-40B4-BE49-F238E27FC236}">
                <a16:creationId xmlns:a16="http://schemas.microsoft.com/office/drawing/2014/main" id="{72DDC02D-72ED-63CE-F66D-68D8A6964AF0}"/>
              </a:ext>
            </a:extLst>
          </p:cNvPr>
          <p:cNvSpPr txBox="1">
            <a:spLocks/>
          </p:cNvSpPr>
          <p:nvPr/>
        </p:nvSpPr>
        <p:spPr>
          <a:xfrm>
            <a:off x="92363" y="1545226"/>
            <a:ext cx="12007273" cy="441222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dirty="0">
                <a:solidFill>
                  <a:srgbClr val="C00000"/>
                </a:solidFill>
              </a:rPr>
              <a:t>Tor does not hide the fact that you are using Tor!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Packet Size Pattern: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HTTPS: Variable sizes reflecting the actual content length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Tor: Always fixed 514-byte cells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Connection Pattern: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HTTPS: Direct connection to destination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Tor: Always connects to </a:t>
            </a:r>
            <a:r>
              <a:rPr lang="en-US" i="1" dirty="0">
                <a:solidFill>
                  <a:srgbClr val="C00000"/>
                </a:solidFill>
              </a:rPr>
              <a:t>Tor relay </a:t>
            </a:r>
            <a:r>
              <a:rPr lang="en-US" dirty="0"/>
              <a:t>first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Anonymity only works in a crowd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>
                <a:hlinkClick r:id="rId2"/>
              </a:rPr>
              <a:t>Example</a:t>
            </a:r>
            <a:r>
              <a:rPr lang="en-US" dirty="0"/>
              <a:t>: A Harvard student sends an anonymous threatening message using Tor. The administrators notice that </a:t>
            </a:r>
            <a:r>
              <a:rPr lang="en-US" dirty="0">
                <a:solidFill>
                  <a:srgbClr val="C00000"/>
                </a:solidFill>
              </a:rPr>
              <a:t>only one student </a:t>
            </a:r>
            <a:r>
              <a:rPr lang="en-US" dirty="0"/>
              <a:t>on the Harvard network is using Tor!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0511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282EA-2D16-7319-5B40-00933A0EA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576244"/>
            <a:ext cx="11353800" cy="4667250"/>
          </a:xfrm>
        </p:spPr>
        <p:txBody>
          <a:bodyPr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dirty="0"/>
              <a:t>A network adversary who has a full (global) view of the network can learn that Alice and Bob are talking</a:t>
            </a:r>
          </a:p>
          <a:p>
            <a:pPr marL="114300" lvl="0" indent="0" algn="l" rtl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Exploit a timing attack: Observe when Alice sends a message, when Bob receives a message, and link the two together</a:t>
            </a:r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Global adversaries are outside of Tor’s threat model and are not defended against</a:t>
            </a:r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Tor only defends against local adversaries with partial views of the network</a:t>
            </a:r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Timing attacks could be defended against by delaying the timing of packets, but this violates Tor’s performance goal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>
                <a:hlinkClick r:id="rId3"/>
              </a:rPr>
              <a:t>German law enforcement </a:t>
            </a:r>
            <a:r>
              <a:rPr lang="en-US" sz="2400" dirty="0"/>
              <a:t>has been identified as having a capability to deanonymize Tor users </a:t>
            </a:r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endParaRPr lang="en-US" dirty="0"/>
          </a:p>
        </p:txBody>
      </p:sp>
      <p:sp>
        <p:nvSpPr>
          <p:cNvPr id="6" name="Google Shape;427;p38">
            <a:extLst>
              <a:ext uri="{FF2B5EF4-FFF2-40B4-BE49-F238E27FC236}">
                <a16:creationId xmlns:a16="http://schemas.microsoft.com/office/drawing/2014/main" id="{4E14480B-2691-8E2D-EEF5-9A3F51EAF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81999"/>
            <a:ext cx="10515600" cy="8910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Tor Weaknesses: Timing Attacks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91616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2E2EF-146F-F92F-9A0B-BF29C7E93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038"/>
            <a:ext cx="10515600" cy="958170"/>
          </a:xfrm>
        </p:spPr>
        <p:txBody>
          <a:bodyPr/>
          <a:lstStyle/>
          <a:p>
            <a:r>
              <a:rPr lang="en" dirty="0"/>
              <a:t>Summary: </a:t>
            </a:r>
            <a:r>
              <a:rPr lang="en-US" dirty="0"/>
              <a:t>Anonymity and </a:t>
            </a:r>
            <a:r>
              <a:rPr lang="en" dirty="0"/>
              <a:t>Tor</a:t>
            </a:r>
            <a:endParaRPr lang="en-US" dirty="0"/>
          </a:p>
        </p:txBody>
      </p:sp>
      <p:sp>
        <p:nvSpPr>
          <p:cNvPr id="4" name="Google Shape;865;p69">
            <a:extLst>
              <a:ext uri="{FF2B5EF4-FFF2-40B4-BE49-F238E27FC236}">
                <a16:creationId xmlns:a16="http://schemas.microsoft.com/office/drawing/2014/main" id="{BB84F71E-71AA-CFE2-F060-AE5E445BF1B7}"/>
              </a:ext>
            </a:extLst>
          </p:cNvPr>
          <p:cNvSpPr txBox="1">
            <a:spLocks/>
          </p:cNvSpPr>
          <p:nvPr/>
        </p:nvSpPr>
        <p:spPr>
          <a:xfrm>
            <a:off x="203200" y="1371600"/>
            <a:ext cx="11785600" cy="524611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sz="2400" i="1" dirty="0">
                <a:solidFill>
                  <a:srgbClr val="C00000"/>
                </a:solidFill>
              </a:rPr>
              <a:t>Anonymity conceals an individual’s identity, but it’s difficult to achieve on the web</a:t>
            </a:r>
          </a:p>
          <a:p>
            <a:pPr marL="457200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Proxies and VPNs relay traffic through a single machine</a:t>
            </a:r>
          </a:p>
          <a:p>
            <a:pPr marL="914400" lvl="1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Issue: The single relay knows who you are and what you are doing!</a:t>
            </a:r>
          </a:p>
          <a:p>
            <a:pPr marL="457200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Tor routes your traffic through multiple relays</a:t>
            </a:r>
          </a:p>
          <a:p>
            <a:pPr marL="914400" lvl="1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No one machine knows both who you are and what you are doing</a:t>
            </a:r>
          </a:p>
          <a:p>
            <a:pPr marL="914400" lvl="1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Circuits are established by performing TLS handshakes with (at least) three nodes, nesting encrypted channels</a:t>
            </a:r>
          </a:p>
          <a:p>
            <a:pPr marL="914400" lvl="1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Weakness: </a:t>
            </a:r>
          </a:p>
          <a:p>
            <a:pPr marL="1371600" lvl="2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Collusion between relay nodes can deanonymize users by working together</a:t>
            </a:r>
          </a:p>
          <a:p>
            <a:pPr marL="1371600" lvl="2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Tor traffic is distinguishable from normal traffic</a:t>
            </a:r>
          </a:p>
          <a:p>
            <a:pPr marL="1371600" lvl="2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Timing attacks</a:t>
            </a:r>
          </a:p>
        </p:txBody>
      </p:sp>
    </p:spTree>
    <p:extLst>
      <p:ext uri="{BB962C8B-B14F-4D97-AF65-F5344CB8AC3E}">
        <p14:creationId xmlns:p14="http://schemas.microsoft.com/office/powerpoint/2010/main" val="36452375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B7DFD-FB4D-641E-E633-7087545CB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07F48-7212-82E8-66EC-160089945461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C8A8329-8DCB-3C8B-4826-B00FA77AE0FA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Anonymity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Proxies and VPNs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zh-CN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Tor</a:t>
            </a:r>
            <a:r>
              <a:rPr lang="en-US" altLang="zh-CN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zh-CN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Tor Onion Services</a:t>
            </a:r>
            <a:endParaRPr lang="en-US" altLang="en-US" sz="36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475" indent="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  <a:buNone/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383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83;p46">
            <a:extLst>
              <a:ext uri="{FF2B5EF4-FFF2-40B4-BE49-F238E27FC236}">
                <a16:creationId xmlns:a16="http://schemas.microsoft.com/office/drawing/2014/main" id="{A8BEE419-6D6A-3901-DDE1-66B21F8C3D60}"/>
              </a:ext>
            </a:extLst>
          </p:cNvPr>
          <p:cNvSpPr txBox="1">
            <a:spLocks/>
          </p:cNvSpPr>
          <p:nvPr/>
        </p:nvSpPr>
        <p:spPr>
          <a:xfrm>
            <a:off x="838201" y="1453923"/>
            <a:ext cx="10515599" cy="500339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Sometimes, the </a:t>
            </a:r>
            <a:r>
              <a:rPr lang="en-US" b="1" i="1" dirty="0">
                <a:solidFill>
                  <a:srgbClr val="C00000"/>
                </a:solidFill>
              </a:rPr>
              <a:t>server</a:t>
            </a:r>
            <a:r>
              <a:rPr lang="en-US" dirty="0"/>
              <a:t> wants to be anonymous, so no one knows where the server is located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b="1" dirty="0"/>
              <a:t>Tor onion services</a:t>
            </a:r>
            <a:r>
              <a:rPr lang="en-US" dirty="0"/>
              <a:t>: Websites that are only accessible through the Tor network</a:t>
            </a:r>
          </a:p>
          <a:p>
            <a:pPr marL="914400" lvl="2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800" dirty="0"/>
              <a:t>Gives the server anonymity protection</a:t>
            </a:r>
          </a:p>
          <a:p>
            <a:pPr marL="914400" lvl="2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800" dirty="0"/>
              <a:t>Sometimes called the </a:t>
            </a:r>
            <a:r>
              <a:rPr lang="en-US" sz="2800" b="1" strike="sngStrike" dirty="0">
                <a:solidFill>
                  <a:srgbClr val="C00000"/>
                </a:solidFill>
              </a:rPr>
              <a:t>dark web</a:t>
            </a:r>
            <a:endParaRPr lang="en-US" sz="2800" strike="sngStrike" dirty="0">
              <a:solidFill>
                <a:srgbClr val="C00000"/>
              </a:solidFill>
            </a:endParaRP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endParaRPr lang="en-US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Big idea: Route the server’s traffic through the Tor network so that no one knows who the server is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0CAD0A7-6EEE-A165-3F29-2D456E1BD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18"/>
            <a:ext cx="10515600" cy="773907"/>
          </a:xfrm>
        </p:spPr>
        <p:txBody>
          <a:bodyPr/>
          <a:lstStyle/>
          <a:p>
            <a:r>
              <a:rPr lang="en" dirty="0"/>
              <a:t>Tor Onion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1925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90;p47">
            <a:extLst>
              <a:ext uri="{FF2B5EF4-FFF2-40B4-BE49-F238E27FC236}">
                <a16:creationId xmlns:a16="http://schemas.microsoft.com/office/drawing/2014/main" id="{3289D3B4-0212-78C8-FD20-D9DAF49FE28E}"/>
              </a:ext>
            </a:extLst>
          </p:cNvPr>
          <p:cNvSpPr txBox="1">
            <a:spLocks/>
          </p:cNvSpPr>
          <p:nvPr/>
        </p:nvSpPr>
        <p:spPr>
          <a:xfrm>
            <a:off x="838200" y="1284288"/>
            <a:ext cx="10515600" cy="516269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dirty="0"/>
              <a:t>Recall: Standard domain names translate to IP addresses, which would break server anonymity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Instead, identify servers using the </a:t>
            </a:r>
            <a:r>
              <a:rPr lang="en-US" dirty="0">
                <a:solidFill>
                  <a:srgbClr val="C00000"/>
                </a:solidFill>
              </a:rPr>
              <a:t>hash of the service’s public key </a:t>
            </a:r>
            <a:r>
              <a:rPr lang="en-US" dirty="0"/>
              <a:t>encoded as</a:t>
            </a:r>
            <a:r>
              <a:rPr lang="zh-CN" altLang="en-US" dirty="0"/>
              <a:t> </a:t>
            </a:r>
            <a:r>
              <a:rPr lang="en-US" altLang="zh-CN" dirty="0"/>
              <a:t>“</a:t>
            </a:r>
            <a:r>
              <a:rPr lang="en-US" i="1" dirty="0" err="1"/>
              <a:t>abcxyz</a:t>
            </a:r>
            <a:r>
              <a:rPr lang="en-US" i="1" dirty="0"/>
              <a:t> .onion</a:t>
            </a:r>
            <a:r>
              <a:rPr lang="en-US" dirty="0"/>
              <a:t>” address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Example: 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  <a:hlinkClick r:id="rId2"/>
              </a:rPr>
              <a:t>http://pwoah7foa6au2pul.onion</a:t>
            </a:r>
            <a:endParaRPr lang="en-US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Example: 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https://facebookcorewwwi.onion</a:t>
            </a:r>
            <a:r>
              <a:rPr lang="en-US" dirty="0"/>
              <a:t> (Facebook brute-forced key pairs until they found one with a human-readable hash)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Any </a:t>
            </a:r>
            <a:r>
              <a:rPr lang="en-US" i="1" dirty="0">
                <a:solidFill>
                  <a:srgbClr val="C00000"/>
                </a:solidFill>
              </a:rPr>
              <a:t>.onion </a:t>
            </a:r>
            <a:r>
              <a:rPr lang="en-US" dirty="0"/>
              <a:t>address can only be accessed through the </a:t>
            </a:r>
            <a:r>
              <a:rPr lang="en-US" b="1" i="1" dirty="0"/>
              <a:t>Tor browser </a:t>
            </a:r>
            <a:r>
              <a:rPr lang="en-US" dirty="0"/>
              <a:t>(or other software specifically configured to use the Tor network)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Only the Tor network knows how to route traffic to </a:t>
            </a:r>
            <a:r>
              <a:rPr lang="en-US" i="1" dirty="0">
                <a:solidFill>
                  <a:srgbClr val="C00000"/>
                </a:solidFill>
              </a:rPr>
              <a:t>.onion </a:t>
            </a:r>
            <a:r>
              <a:rPr lang="en-US" dirty="0"/>
              <a:t>services through its encrypted relay system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B9198D7-F300-FCB8-A2EF-797DBF4C0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18"/>
            <a:ext cx="10515600" cy="773907"/>
          </a:xfrm>
        </p:spPr>
        <p:txBody>
          <a:bodyPr/>
          <a:lstStyle/>
          <a:p>
            <a:r>
              <a:rPr lang="en" dirty="0"/>
              <a:t>Tor Onion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8907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BC60B-D0B7-6DD1-F3C6-D32AB812A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90;p47">
            <a:extLst>
              <a:ext uri="{FF2B5EF4-FFF2-40B4-BE49-F238E27FC236}">
                <a16:creationId xmlns:a16="http://schemas.microsoft.com/office/drawing/2014/main" id="{67221E31-02D6-E3F7-E99E-61AB3E603831}"/>
              </a:ext>
            </a:extLst>
          </p:cNvPr>
          <p:cNvSpPr txBox="1">
            <a:spLocks/>
          </p:cNvSpPr>
          <p:nvPr/>
        </p:nvSpPr>
        <p:spPr>
          <a:xfrm>
            <a:off x="76200" y="1051560"/>
            <a:ext cx="12009120" cy="580644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Regular Domain names vs .onion:</a:t>
            </a:r>
          </a:p>
          <a:p>
            <a:pPr lvl="1"/>
            <a:r>
              <a:rPr lang="en-US" sz="2200" dirty="0"/>
              <a:t>Regular domains must resolve to IP addresses, which reveal the server's network location</a:t>
            </a:r>
          </a:p>
          <a:p>
            <a:pPr lvl="1"/>
            <a:r>
              <a:rPr lang="en-US" sz="2200" dirty="0"/>
              <a:t>.onion addresses are hashes of public keys, which don't contain any location information</a:t>
            </a:r>
          </a:p>
          <a:p>
            <a:r>
              <a:rPr lang="en-US" dirty="0"/>
              <a:t>Where the anonymity comes from:</a:t>
            </a:r>
          </a:p>
          <a:p>
            <a:pPr lvl="1"/>
            <a:r>
              <a:rPr lang="en-US" dirty="0"/>
              <a:t>The .onion address being a hash of the public key means it's just a cryptographic identifier, not a network location</a:t>
            </a:r>
          </a:p>
          <a:p>
            <a:pPr lvl="1"/>
            <a:r>
              <a:rPr lang="en-US" dirty="0"/>
              <a:t>When clients connect to an onion service, they establish an encrypted connection through multiple Tor relays (detailed in the following slides)</a:t>
            </a:r>
          </a:p>
          <a:p>
            <a:pPr lvl="1"/>
            <a:r>
              <a:rPr lang="en-US" dirty="0"/>
              <a:t>The service's actual IP address is hidden behind these relay layers (hence "onion")</a:t>
            </a:r>
          </a:p>
          <a:p>
            <a:pPr lvl="1"/>
            <a:r>
              <a:rPr lang="en-US" i="1" dirty="0">
                <a:solidFill>
                  <a:srgbClr val="C00000"/>
                </a:solidFill>
              </a:rPr>
              <a:t>No single relay knows both the client and the server's real location</a:t>
            </a:r>
          </a:p>
          <a:p>
            <a:pPr>
              <a:spcAft>
                <a:spcPts val="600"/>
              </a:spcAft>
              <a:buSzPts val="1800"/>
            </a:pPr>
            <a:r>
              <a:rPr lang="en-US" dirty="0"/>
              <a:t>Why use the hash of the public key</a:t>
            </a:r>
          </a:p>
          <a:p>
            <a:pPr lvl="1">
              <a:spcAft>
                <a:spcPts val="600"/>
              </a:spcAft>
              <a:buSzPts val="1800"/>
            </a:pPr>
            <a:r>
              <a:rPr lang="en-US" dirty="0"/>
              <a:t>The server proves it owns the address by proving it has the private key that matches the public key hash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81CC2D-2AE2-F403-1AB0-4CB33067A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18"/>
            <a:ext cx="10515600" cy="773907"/>
          </a:xfrm>
        </p:spPr>
        <p:txBody>
          <a:bodyPr/>
          <a:lstStyle/>
          <a:p>
            <a:r>
              <a:rPr lang="en" dirty="0"/>
              <a:t>Tor Onion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1467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05;p49">
            <a:extLst>
              <a:ext uri="{FF2B5EF4-FFF2-40B4-BE49-F238E27FC236}">
                <a16:creationId xmlns:a16="http://schemas.microsoft.com/office/drawing/2014/main" id="{33BB936F-2FF1-484E-3B5D-585184F3C2C2}"/>
              </a:ext>
            </a:extLst>
          </p:cNvPr>
          <p:cNvSpPr/>
          <p:nvPr/>
        </p:nvSpPr>
        <p:spPr>
          <a:xfrm>
            <a:off x="274320" y="3145536"/>
            <a:ext cx="1536192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Client</a:t>
            </a:r>
            <a:endParaRPr dirty="0"/>
          </a:p>
        </p:txBody>
      </p:sp>
      <p:sp>
        <p:nvSpPr>
          <p:cNvPr id="5" name="Google Shape;506;p49">
            <a:extLst>
              <a:ext uri="{FF2B5EF4-FFF2-40B4-BE49-F238E27FC236}">
                <a16:creationId xmlns:a16="http://schemas.microsoft.com/office/drawing/2014/main" id="{313EF855-A4FA-CDEE-55B9-E7AAFF240639}"/>
              </a:ext>
            </a:extLst>
          </p:cNvPr>
          <p:cNvSpPr/>
          <p:nvPr/>
        </p:nvSpPr>
        <p:spPr>
          <a:xfrm>
            <a:off x="2990088" y="2816352"/>
            <a:ext cx="1188720" cy="39319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Relay</a:t>
            </a:r>
            <a:endParaRPr/>
          </a:p>
        </p:txBody>
      </p:sp>
      <p:sp>
        <p:nvSpPr>
          <p:cNvPr id="6" name="Google Shape;507;p49">
            <a:extLst>
              <a:ext uri="{FF2B5EF4-FFF2-40B4-BE49-F238E27FC236}">
                <a16:creationId xmlns:a16="http://schemas.microsoft.com/office/drawing/2014/main" id="{B53BB3FE-5979-35D5-4B73-D43C874EFF8E}"/>
              </a:ext>
            </a:extLst>
          </p:cNvPr>
          <p:cNvSpPr/>
          <p:nvPr/>
        </p:nvSpPr>
        <p:spPr>
          <a:xfrm>
            <a:off x="3291840" y="3657600"/>
            <a:ext cx="1188720" cy="39319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Relay</a:t>
            </a:r>
            <a:endParaRPr/>
          </a:p>
        </p:txBody>
      </p:sp>
      <p:sp>
        <p:nvSpPr>
          <p:cNvPr id="7" name="Google Shape;508;p49">
            <a:extLst>
              <a:ext uri="{FF2B5EF4-FFF2-40B4-BE49-F238E27FC236}">
                <a16:creationId xmlns:a16="http://schemas.microsoft.com/office/drawing/2014/main" id="{59EBBE28-3788-A778-F2F5-BBE8CE6635F2}"/>
              </a:ext>
            </a:extLst>
          </p:cNvPr>
          <p:cNvSpPr/>
          <p:nvPr/>
        </p:nvSpPr>
        <p:spPr>
          <a:xfrm>
            <a:off x="4764024" y="2743200"/>
            <a:ext cx="1188720" cy="39319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Relay </a:t>
            </a:r>
            <a:r>
              <a:rPr lang="en" i="1" dirty="0"/>
              <a:t>I</a:t>
            </a:r>
            <a:r>
              <a:rPr lang="en" sz="900" i="1" dirty="0"/>
              <a:t>1</a:t>
            </a:r>
            <a:endParaRPr sz="900" i="1" dirty="0"/>
          </a:p>
        </p:txBody>
      </p:sp>
      <p:sp>
        <p:nvSpPr>
          <p:cNvPr id="8" name="Google Shape;509;p49">
            <a:extLst>
              <a:ext uri="{FF2B5EF4-FFF2-40B4-BE49-F238E27FC236}">
                <a16:creationId xmlns:a16="http://schemas.microsoft.com/office/drawing/2014/main" id="{251D7A45-92B2-95FF-8714-5526AE216153}"/>
              </a:ext>
            </a:extLst>
          </p:cNvPr>
          <p:cNvSpPr/>
          <p:nvPr/>
        </p:nvSpPr>
        <p:spPr>
          <a:xfrm>
            <a:off x="4471416" y="4242816"/>
            <a:ext cx="1188720" cy="39319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Relay </a:t>
            </a:r>
            <a:r>
              <a:rPr lang="en" i="1">
                <a:solidFill>
                  <a:schemeClr val="dk1"/>
                </a:solidFill>
              </a:rPr>
              <a:t>I</a:t>
            </a:r>
            <a:r>
              <a:rPr lang="en" sz="900" i="1">
                <a:solidFill>
                  <a:schemeClr val="dk1"/>
                </a:solidFill>
              </a:rPr>
              <a:t>2</a:t>
            </a:r>
            <a:endParaRPr/>
          </a:p>
        </p:txBody>
      </p:sp>
      <p:sp>
        <p:nvSpPr>
          <p:cNvPr id="9" name="Google Shape;510;p49">
            <a:extLst>
              <a:ext uri="{FF2B5EF4-FFF2-40B4-BE49-F238E27FC236}">
                <a16:creationId xmlns:a16="http://schemas.microsoft.com/office/drawing/2014/main" id="{89E87332-61B0-A5DF-4643-F839C80EB3E0}"/>
              </a:ext>
            </a:extLst>
          </p:cNvPr>
          <p:cNvSpPr/>
          <p:nvPr/>
        </p:nvSpPr>
        <p:spPr>
          <a:xfrm>
            <a:off x="6382512" y="2139696"/>
            <a:ext cx="1307592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Relay</a:t>
            </a:r>
            <a:endParaRPr/>
          </a:p>
        </p:txBody>
      </p:sp>
      <p:sp>
        <p:nvSpPr>
          <p:cNvPr id="10" name="Google Shape;511;p49">
            <a:extLst>
              <a:ext uri="{FF2B5EF4-FFF2-40B4-BE49-F238E27FC236}">
                <a16:creationId xmlns:a16="http://schemas.microsoft.com/office/drawing/2014/main" id="{40557CB9-1CEC-AFE9-B659-7D0D9E946032}"/>
              </a:ext>
            </a:extLst>
          </p:cNvPr>
          <p:cNvSpPr/>
          <p:nvPr/>
        </p:nvSpPr>
        <p:spPr>
          <a:xfrm>
            <a:off x="6949440" y="4123944"/>
            <a:ext cx="1188720" cy="39319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Relay</a:t>
            </a:r>
            <a:endParaRPr/>
          </a:p>
        </p:txBody>
      </p:sp>
      <p:sp>
        <p:nvSpPr>
          <p:cNvPr id="11" name="Google Shape;512;p49">
            <a:extLst>
              <a:ext uri="{FF2B5EF4-FFF2-40B4-BE49-F238E27FC236}">
                <a16:creationId xmlns:a16="http://schemas.microsoft.com/office/drawing/2014/main" id="{A6AE59DD-7B5A-4E1F-A428-99F3E706D195}"/>
              </a:ext>
            </a:extLst>
          </p:cNvPr>
          <p:cNvSpPr/>
          <p:nvPr/>
        </p:nvSpPr>
        <p:spPr>
          <a:xfrm>
            <a:off x="7717536" y="3300984"/>
            <a:ext cx="1188720" cy="39319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Relay</a:t>
            </a:r>
            <a:endParaRPr/>
          </a:p>
        </p:txBody>
      </p:sp>
      <p:sp>
        <p:nvSpPr>
          <p:cNvPr id="12" name="Google Shape;513;p49">
            <a:extLst>
              <a:ext uri="{FF2B5EF4-FFF2-40B4-BE49-F238E27FC236}">
                <a16:creationId xmlns:a16="http://schemas.microsoft.com/office/drawing/2014/main" id="{F4E8D390-25B9-B809-DCF6-CA1F34A034E9}"/>
              </a:ext>
            </a:extLst>
          </p:cNvPr>
          <p:cNvSpPr/>
          <p:nvPr/>
        </p:nvSpPr>
        <p:spPr>
          <a:xfrm>
            <a:off x="8430768" y="1773936"/>
            <a:ext cx="1188720" cy="39319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Relay</a:t>
            </a:r>
            <a:endParaRPr/>
          </a:p>
        </p:txBody>
      </p:sp>
      <p:sp>
        <p:nvSpPr>
          <p:cNvPr id="13" name="Google Shape;514;p49">
            <a:extLst>
              <a:ext uri="{FF2B5EF4-FFF2-40B4-BE49-F238E27FC236}">
                <a16:creationId xmlns:a16="http://schemas.microsoft.com/office/drawing/2014/main" id="{71B3E7AF-D3E2-BBCF-3248-FD193F8629FB}"/>
              </a:ext>
            </a:extLst>
          </p:cNvPr>
          <p:cNvSpPr/>
          <p:nvPr/>
        </p:nvSpPr>
        <p:spPr>
          <a:xfrm>
            <a:off x="10378440" y="3008376"/>
            <a:ext cx="1536192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</a:t>
            </a:r>
            <a:endParaRPr/>
          </a:p>
        </p:txBody>
      </p:sp>
      <p:sp>
        <p:nvSpPr>
          <p:cNvPr id="14" name="Google Shape;515;p49">
            <a:extLst>
              <a:ext uri="{FF2B5EF4-FFF2-40B4-BE49-F238E27FC236}">
                <a16:creationId xmlns:a16="http://schemas.microsoft.com/office/drawing/2014/main" id="{1A951AC8-6A06-54C2-370F-36D996D3B391}"/>
              </a:ext>
            </a:extLst>
          </p:cNvPr>
          <p:cNvSpPr txBox="1"/>
          <p:nvPr/>
        </p:nvSpPr>
        <p:spPr>
          <a:xfrm>
            <a:off x="2896927" y="1033175"/>
            <a:ext cx="5034538" cy="923299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The server chooses nodes to be the </a:t>
            </a:r>
            <a:r>
              <a:rPr lang="en" sz="2400" b="1" i="1" dirty="0">
                <a:solidFill>
                  <a:srgbClr val="C00000"/>
                </a:solidFill>
              </a:rPr>
              <a:t>introduction points </a:t>
            </a:r>
            <a:endParaRPr sz="2400" b="1" i="1" dirty="0">
              <a:solidFill>
                <a:srgbClr val="C00000"/>
              </a:solidFill>
            </a:endParaRPr>
          </a:p>
        </p:txBody>
      </p:sp>
      <p:cxnSp>
        <p:nvCxnSpPr>
          <p:cNvPr id="15" name="Google Shape;516;p49">
            <a:extLst>
              <a:ext uri="{FF2B5EF4-FFF2-40B4-BE49-F238E27FC236}">
                <a16:creationId xmlns:a16="http://schemas.microsoft.com/office/drawing/2014/main" id="{7F308E94-301F-E652-53B2-7F750FE30A1D}"/>
              </a:ext>
            </a:extLst>
          </p:cNvPr>
          <p:cNvCxnSpPr>
            <a:stCxn id="11" idx="2"/>
            <a:endCxn id="10" idx="0"/>
          </p:cNvCxnSpPr>
          <p:nvPr/>
        </p:nvCxnSpPr>
        <p:spPr>
          <a:xfrm flipH="1">
            <a:off x="7543800" y="3694176"/>
            <a:ext cx="768096" cy="429768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517;p49">
            <a:extLst>
              <a:ext uri="{FF2B5EF4-FFF2-40B4-BE49-F238E27FC236}">
                <a16:creationId xmlns:a16="http://schemas.microsoft.com/office/drawing/2014/main" id="{D611E3DD-534D-1D1B-0495-10A4538604F2}"/>
              </a:ext>
            </a:extLst>
          </p:cNvPr>
          <p:cNvCxnSpPr>
            <a:cxnSpLocks/>
            <a:stCxn id="10" idx="1"/>
            <a:endCxn id="8" idx="3"/>
          </p:cNvCxnSpPr>
          <p:nvPr/>
        </p:nvCxnSpPr>
        <p:spPr>
          <a:xfrm flipH="1">
            <a:off x="5660136" y="4320540"/>
            <a:ext cx="1289304" cy="118872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518;p49">
            <a:extLst>
              <a:ext uri="{FF2B5EF4-FFF2-40B4-BE49-F238E27FC236}">
                <a16:creationId xmlns:a16="http://schemas.microsoft.com/office/drawing/2014/main" id="{343155C5-BADC-1565-3011-A366F20235AA}"/>
              </a:ext>
            </a:extLst>
          </p:cNvPr>
          <p:cNvCxnSpPr>
            <a:stCxn id="13" idx="1"/>
            <a:endCxn id="11" idx="3"/>
          </p:cNvCxnSpPr>
          <p:nvPr/>
        </p:nvCxnSpPr>
        <p:spPr>
          <a:xfrm flipH="1">
            <a:off x="8906256" y="3294726"/>
            <a:ext cx="1472184" cy="202854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519;p49">
            <a:extLst>
              <a:ext uri="{FF2B5EF4-FFF2-40B4-BE49-F238E27FC236}">
                <a16:creationId xmlns:a16="http://schemas.microsoft.com/office/drawing/2014/main" id="{4DDAE910-D720-4D13-83E9-2FCDCBA11FA5}"/>
              </a:ext>
            </a:extLst>
          </p:cNvPr>
          <p:cNvCxnSpPr>
            <a:stCxn id="13" idx="1"/>
            <a:endCxn id="12" idx="3"/>
          </p:cNvCxnSpPr>
          <p:nvPr/>
        </p:nvCxnSpPr>
        <p:spPr>
          <a:xfrm flipH="1" flipV="1">
            <a:off x="9619488" y="1970532"/>
            <a:ext cx="758952" cy="1324194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520;p49">
            <a:extLst>
              <a:ext uri="{FF2B5EF4-FFF2-40B4-BE49-F238E27FC236}">
                <a16:creationId xmlns:a16="http://schemas.microsoft.com/office/drawing/2014/main" id="{54A1504A-BD96-6DA5-EE87-C9AC68F9B6D7}"/>
              </a:ext>
            </a:extLst>
          </p:cNvPr>
          <p:cNvCxnSpPr>
            <a:stCxn id="12" idx="1"/>
            <a:endCxn id="9" idx="3"/>
          </p:cNvCxnSpPr>
          <p:nvPr/>
        </p:nvCxnSpPr>
        <p:spPr>
          <a:xfrm flipH="1">
            <a:off x="7690104" y="1970532"/>
            <a:ext cx="740664" cy="365964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521;p49">
            <a:extLst>
              <a:ext uri="{FF2B5EF4-FFF2-40B4-BE49-F238E27FC236}">
                <a16:creationId xmlns:a16="http://schemas.microsoft.com/office/drawing/2014/main" id="{68A86379-98F6-EDA8-8F67-2AD67D0A2F38}"/>
              </a:ext>
            </a:extLst>
          </p:cNvPr>
          <p:cNvCxnSpPr>
            <a:cxnSpLocks/>
            <a:stCxn id="9" idx="2"/>
            <a:endCxn id="7" idx="3"/>
          </p:cNvCxnSpPr>
          <p:nvPr/>
        </p:nvCxnSpPr>
        <p:spPr>
          <a:xfrm flipH="1">
            <a:off x="5952744" y="2533296"/>
            <a:ext cx="1083564" cy="40650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522;p49">
            <a:extLst>
              <a:ext uri="{FF2B5EF4-FFF2-40B4-BE49-F238E27FC236}">
                <a16:creationId xmlns:a16="http://schemas.microsoft.com/office/drawing/2014/main" id="{904FC6A5-DE81-C911-C323-AAE314A1A9ED}"/>
              </a:ext>
            </a:extLst>
          </p:cNvPr>
          <p:cNvSpPr txBox="1"/>
          <p:nvPr/>
        </p:nvSpPr>
        <p:spPr>
          <a:xfrm>
            <a:off x="1461408" y="5250112"/>
            <a:ext cx="4751158" cy="923299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The server publishes its </a:t>
            </a:r>
            <a:r>
              <a:rPr lang="en-US" altLang="zh-CN" sz="2400" b="1" i="1" dirty="0">
                <a:solidFill>
                  <a:srgbClr val="C00000"/>
                </a:solidFill>
              </a:rPr>
              <a:t>public </a:t>
            </a:r>
            <a:r>
              <a:rPr lang="en" sz="2400" b="1" i="1" dirty="0">
                <a:solidFill>
                  <a:srgbClr val="C00000"/>
                </a:solidFill>
              </a:rPr>
              <a:t>key</a:t>
            </a:r>
            <a:r>
              <a:rPr lang="en" sz="2400" dirty="0"/>
              <a:t> and the </a:t>
            </a:r>
            <a:r>
              <a:rPr lang="en" sz="2400" b="1" i="1" dirty="0">
                <a:solidFill>
                  <a:srgbClr val="C00000"/>
                </a:solidFill>
              </a:rPr>
              <a:t>introduction points</a:t>
            </a:r>
            <a:endParaRPr sz="2400" b="1" i="1" dirty="0">
              <a:solidFill>
                <a:srgbClr val="C00000"/>
              </a:solidFill>
            </a:endParaRPr>
          </a:p>
        </p:txBody>
      </p:sp>
      <p:sp>
        <p:nvSpPr>
          <p:cNvPr id="23" name="Google Shape;524;p49">
            <a:extLst>
              <a:ext uri="{FF2B5EF4-FFF2-40B4-BE49-F238E27FC236}">
                <a16:creationId xmlns:a16="http://schemas.microsoft.com/office/drawing/2014/main" id="{C156AF33-9268-3426-182A-92E11ACE88B7}"/>
              </a:ext>
            </a:extLst>
          </p:cNvPr>
          <p:cNvSpPr/>
          <p:nvPr/>
        </p:nvSpPr>
        <p:spPr>
          <a:xfrm>
            <a:off x="1225296" y="1645920"/>
            <a:ext cx="1188720" cy="39319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Relay</a:t>
            </a:r>
            <a:endParaRPr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B417118C-BD48-89F3-A40A-14B2AE96C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18"/>
            <a:ext cx="10515600" cy="773907"/>
          </a:xfrm>
        </p:spPr>
        <p:txBody>
          <a:bodyPr/>
          <a:lstStyle/>
          <a:p>
            <a:r>
              <a:rPr lang="en" dirty="0"/>
              <a:t>Tor Onion Services</a:t>
            </a:r>
            <a:endParaRPr lang="en-US" dirty="0"/>
          </a:p>
        </p:txBody>
      </p:sp>
      <p:graphicFrame>
        <p:nvGraphicFramePr>
          <p:cNvPr id="2" name="Google Shape;555;p51">
            <a:extLst>
              <a:ext uri="{FF2B5EF4-FFF2-40B4-BE49-F238E27FC236}">
                <a16:creationId xmlns:a16="http://schemas.microsoft.com/office/drawing/2014/main" id="{8E37219A-0C1E-AAB7-317E-3B68B441F3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7373523"/>
              </p:ext>
            </p:extLst>
          </p:nvPr>
        </p:nvGraphicFramePr>
        <p:xfrm>
          <a:off x="6549894" y="4827887"/>
          <a:ext cx="5363520" cy="17677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8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1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/>
                        <a:t>Hash</a:t>
                      </a:r>
                      <a:endParaRPr sz="2000" b="1" dirty="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Public Key</a:t>
                      </a:r>
                      <a:endParaRPr sz="2000" b="1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/>
                        <a:t>Introduction Points</a:t>
                      </a:r>
                      <a:endParaRPr sz="2000" b="1" dirty="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44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...</a:t>
                      </a:r>
                      <a:endParaRPr sz="20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...</a:t>
                      </a:r>
                      <a:endParaRPr sz="20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/>
                        <a:t>...</a:t>
                      </a:r>
                      <a:endParaRPr sz="2000" dirty="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44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expuy….onion</a:t>
                      </a:r>
                      <a:endParaRPr sz="20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/>
                        <a:t>PK</a:t>
                      </a:r>
                      <a:endParaRPr sz="2000" i="1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 dirty="0"/>
                        <a:t>I</a:t>
                      </a:r>
                      <a:r>
                        <a:rPr lang="en" sz="2000" baseline="-25000" dirty="0"/>
                        <a:t>1</a:t>
                      </a:r>
                      <a:r>
                        <a:rPr lang="en" sz="2000" dirty="0"/>
                        <a:t>, </a:t>
                      </a:r>
                      <a:r>
                        <a:rPr lang="en" sz="2000" i="1" dirty="0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lang="en" sz="2000" baseline="-25000" dirty="0">
                          <a:solidFill>
                            <a:schemeClr val="dk1"/>
                          </a:solidFill>
                        </a:rPr>
                        <a:t>2</a:t>
                      </a:r>
                      <a:endParaRPr sz="2000" baseline="-25000" dirty="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103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30;p50">
            <a:extLst>
              <a:ext uri="{FF2B5EF4-FFF2-40B4-BE49-F238E27FC236}">
                <a16:creationId xmlns:a16="http://schemas.microsoft.com/office/drawing/2014/main" id="{A5694058-CB3D-BD38-5474-DB4F6590D4F2}"/>
              </a:ext>
            </a:extLst>
          </p:cNvPr>
          <p:cNvSpPr txBox="1">
            <a:spLocks/>
          </p:cNvSpPr>
          <p:nvPr/>
        </p:nvSpPr>
        <p:spPr>
          <a:xfrm>
            <a:off x="470397" y="1653743"/>
            <a:ext cx="11251205" cy="480218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 dirty="0"/>
              <a:t>Now, the client connects to the server</a:t>
            </a:r>
          </a:p>
          <a:p>
            <a:pPr marL="628650" indent="-514350"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600" dirty="0"/>
              <a:t>The client queries the directory using the hash of the public key to get the server’s </a:t>
            </a:r>
            <a:r>
              <a:rPr lang="en-US" sz="2600" b="1" dirty="0">
                <a:solidFill>
                  <a:srgbClr val="C00000"/>
                </a:solidFill>
              </a:rPr>
              <a:t>full public key </a:t>
            </a:r>
            <a:r>
              <a:rPr lang="en-US" sz="2600" dirty="0"/>
              <a:t>and the </a:t>
            </a:r>
            <a:r>
              <a:rPr lang="en-US" sz="2600" b="1" dirty="0">
                <a:solidFill>
                  <a:srgbClr val="C00000"/>
                </a:solidFill>
              </a:rPr>
              <a:t>introduction points</a:t>
            </a:r>
          </a:p>
          <a:p>
            <a:pPr marL="628650" indent="-514350"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600" dirty="0"/>
              <a:t>The client chooses an introduction point and forms a Tor circuit to it</a:t>
            </a:r>
          </a:p>
          <a:p>
            <a:pPr marL="628650" indent="-514350"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600" dirty="0"/>
              <a:t>The client chooses a </a:t>
            </a:r>
            <a:r>
              <a:rPr lang="en-US" sz="2600" b="1" dirty="0">
                <a:solidFill>
                  <a:srgbClr val="C00000"/>
                </a:solidFill>
              </a:rPr>
              <a:t>rendezvous point (relay)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en-US" sz="2600" dirty="0"/>
              <a:t>and </a:t>
            </a:r>
            <a:r>
              <a:rPr lang="en-US" sz="2600" b="1" dirty="0">
                <a:solidFill>
                  <a:srgbClr val="C00000"/>
                </a:solidFill>
              </a:rPr>
              <a:t>secret</a:t>
            </a:r>
            <a:r>
              <a:rPr lang="en-US" sz="2600" dirty="0"/>
              <a:t> used to communicate to the server, encrypts them with the server’s public key, and sends them to the introduction point, which relays them to the server</a:t>
            </a:r>
          </a:p>
          <a:p>
            <a:pPr marL="628650" indent="-514350"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600" dirty="0"/>
              <a:t>The client and server </a:t>
            </a:r>
            <a:r>
              <a:rPr lang="en-US" sz="2600" b="1" dirty="0">
                <a:solidFill>
                  <a:srgbClr val="C00000"/>
                </a:solidFill>
              </a:rPr>
              <a:t>both form Tor circuits </a:t>
            </a:r>
            <a:r>
              <a:rPr lang="en-US" sz="2600" dirty="0"/>
              <a:t>to the rendezvous point and perform an end-to-end TLS handshake, and the server sends the decrypted secret to the client to </a:t>
            </a:r>
            <a:r>
              <a:rPr lang="en-US" sz="2600" i="1" dirty="0">
                <a:solidFill>
                  <a:srgbClr val="C00000"/>
                </a:solidFill>
              </a:rPr>
              <a:t>authenticate</a:t>
            </a:r>
            <a:r>
              <a:rPr lang="en-US" sz="2600" dirty="0"/>
              <a:t> itself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4BD0D6-92BA-147A-E2FE-71CAEE299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18"/>
            <a:ext cx="10515600" cy="773907"/>
          </a:xfrm>
        </p:spPr>
        <p:txBody>
          <a:bodyPr/>
          <a:lstStyle/>
          <a:p>
            <a:r>
              <a:rPr lang="en" dirty="0"/>
              <a:t>Tor Onion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3189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38;p51">
            <a:extLst>
              <a:ext uri="{FF2B5EF4-FFF2-40B4-BE49-F238E27FC236}">
                <a16:creationId xmlns:a16="http://schemas.microsoft.com/office/drawing/2014/main" id="{9EFBEA75-AAC9-BD4A-2E4D-76BF02193B48}"/>
              </a:ext>
            </a:extLst>
          </p:cNvPr>
          <p:cNvSpPr/>
          <p:nvPr/>
        </p:nvSpPr>
        <p:spPr>
          <a:xfrm>
            <a:off x="277091" y="3142650"/>
            <a:ext cx="1539181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Client</a:t>
            </a:r>
            <a:endParaRPr sz="2200" dirty="0"/>
          </a:p>
        </p:txBody>
      </p:sp>
      <p:sp>
        <p:nvSpPr>
          <p:cNvPr id="5" name="Google Shape;539;p51">
            <a:extLst>
              <a:ext uri="{FF2B5EF4-FFF2-40B4-BE49-F238E27FC236}">
                <a16:creationId xmlns:a16="http://schemas.microsoft.com/office/drawing/2014/main" id="{9E22A3CC-4307-D64F-52FC-844200A694EF}"/>
              </a:ext>
            </a:extLst>
          </p:cNvPr>
          <p:cNvSpPr/>
          <p:nvPr/>
        </p:nvSpPr>
        <p:spPr>
          <a:xfrm>
            <a:off x="2986550" y="2814348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6" name="Google Shape;540;p51">
            <a:extLst>
              <a:ext uri="{FF2B5EF4-FFF2-40B4-BE49-F238E27FC236}">
                <a16:creationId xmlns:a16="http://schemas.microsoft.com/office/drawing/2014/main" id="{C1F4FEF2-2136-56B6-0CBD-74451E89ECF0}"/>
              </a:ext>
            </a:extLst>
          </p:cNvPr>
          <p:cNvSpPr/>
          <p:nvPr/>
        </p:nvSpPr>
        <p:spPr>
          <a:xfrm>
            <a:off x="3291543" y="3657600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7" name="Google Shape;541;p51">
            <a:extLst>
              <a:ext uri="{FF2B5EF4-FFF2-40B4-BE49-F238E27FC236}">
                <a16:creationId xmlns:a16="http://schemas.microsoft.com/office/drawing/2014/main" id="{F26C08F4-EC7D-77D8-4F12-75DD00FA7A54}"/>
              </a:ext>
            </a:extLst>
          </p:cNvPr>
          <p:cNvSpPr/>
          <p:nvPr/>
        </p:nvSpPr>
        <p:spPr>
          <a:xfrm>
            <a:off x="4766814" y="2743694"/>
            <a:ext cx="1188720" cy="393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 </a:t>
            </a:r>
            <a:r>
              <a:rPr lang="en" sz="2200" i="1" dirty="0"/>
              <a:t>I</a:t>
            </a:r>
            <a:r>
              <a:rPr lang="en" sz="2200" i="1" baseline="-25000" dirty="0"/>
              <a:t>1</a:t>
            </a:r>
            <a:endParaRPr sz="2200" i="1" baseline="-25000" dirty="0"/>
          </a:p>
        </p:txBody>
      </p:sp>
      <p:sp>
        <p:nvSpPr>
          <p:cNvPr id="8" name="Google Shape;542;p51">
            <a:extLst>
              <a:ext uri="{FF2B5EF4-FFF2-40B4-BE49-F238E27FC236}">
                <a16:creationId xmlns:a16="http://schemas.microsoft.com/office/drawing/2014/main" id="{D5A34D64-42FA-DC08-FDCE-F6B5A94691CF}"/>
              </a:ext>
            </a:extLst>
          </p:cNvPr>
          <p:cNvSpPr/>
          <p:nvPr/>
        </p:nvSpPr>
        <p:spPr>
          <a:xfrm>
            <a:off x="4469634" y="4238813"/>
            <a:ext cx="1188720" cy="393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 </a:t>
            </a:r>
            <a:r>
              <a:rPr lang="en" sz="2200" i="1" dirty="0">
                <a:solidFill>
                  <a:schemeClr val="dk1"/>
                </a:solidFill>
              </a:rPr>
              <a:t>I</a:t>
            </a:r>
            <a:r>
              <a:rPr lang="en" sz="2200" i="1" baseline="-25000" dirty="0">
                <a:solidFill>
                  <a:schemeClr val="dk1"/>
                </a:solidFill>
              </a:rPr>
              <a:t>2</a:t>
            </a:r>
            <a:endParaRPr sz="2200" baseline="-25000" dirty="0"/>
          </a:p>
        </p:txBody>
      </p:sp>
      <p:sp>
        <p:nvSpPr>
          <p:cNvPr id="9" name="Google Shape;543;p51">
            <a:extLst>
              <a:ext uri="{FF2B5EF4-FFF2-40B4-BE49-F238E27FC236}">
                <a16:creationId xmlns:a16="http://schemas.microsoft.com/office/drawing/2014/main" id="{52DADFBE-747B-4635-F38A-ECD2D90CA0AA}"/>
              </a:ext>
            </a:extLst>
          </p:cNvPr>
          <p:cNvSpPr/>
          <p:nvPr/>
        </p:nvSpPr>
        <p:spPr>
          <a:xfrm>
            <a:off x="6385069" y="2141654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10" name="Google Shape;544;p51">
            <a:extLst>
              <a:ext uri="{FF2B5EF4-FFF2-40B4-BE49-F238E27FC236}">
                <a16:creationId xmlns:a16="http://schemas.microsoft.com/office/drawing/2014/main" id="{AFFC33CC-430F-D5A2-2470-FEB7D3A143B4}"/>
              </a:ext>
            </a:extLst>
          </p:cNvPr>
          <p:cNvSpPr/>
          <p:nvPr/>
        </p:nvSpPr>
        <p:spPr>
          <a:xfrm>
            <a:off x="6549894" y="4125845"/>
            <a:ext cx="1188720" cy="3936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 </a:t>
            </a:r>
            <a:r>
              <a:rPr lang="en" sz="2200" i="1" dirty="0"/>
              <a:t>R</a:t>
            </a:r>
            <a:endParaRPr sz="2200" i="1" dirty="0"/>
          </a:p>
        </p:txBody>
      </p:sp>
      <p:sp>
        <p:nvSpPr>
          <p:cNvPr id="11" name="Google Shape;545;p51">
            <a:extLst>
              <a:ext uri="{FF2B5EF4-FFF2-40B4-BE49-F238E27FC236}">
                <a16:creationId xmlns:a16="http://schemas.microsoft.com/office/drawing/2014/main" id="{E30E221C-1714-8318-2FA6-3761004E2791}"/>
              </a:ext>
            </a:extLst>
          </p:cNvPr>
          <p:cNvSpPr/>
          <p:nvPr/>
        </p:nvSpPr>
        <p:spPr>
          <a:xfrm>
            <a:off x="7720014" y="3303239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Relay</a:t>
            </a:r>
            <a:endParaRPr sz="2200"/>
          </a:p>
        </p:txBody>
      </p:sp>
      <p:sp>
        <p:nvSpPr>
          <p:cNvPr id="12" name="Google Shape;546;p51">
            <a:extLst>
              <a:ext uri="{FF2B5EF4-FFF2-40B4-BE49-F238E27FC236}">
                <a16:creationId xmlns:a16="http://schemas.microsoft.com/office/drawing/2014/main" id="{15F62A09-089B-EB0D-16F0-662A07119063}"/>
              </a:ext>
            </a:extLst>
          </p:cNvPr>
          <p:cNvSpPr/>
          <p:nvPr/>
        </p:nvSpPr>
        <p:spPr>
          <a:xfrm>
            <a:off x="8432860" y="1772850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Relay</a:t>
            </a:r>
            <a:endParaRPr sz="2200"/>
          </a:p>
        </p:txBody>
      </p:sp>
      <p:sp>
        <p:nvSpPr>
          <p:cNvPr id="13" name="Google Shape;547;p51">
            <a:extLst>
              <a:ext uri="{FF2B5EF4-FFF2-40B4-BE49-F238E27FC236}">
                <a16:creationId xmlns:a16="http://schemas.microsoft.com/office/drawing/2014/main" id="{90501C47-FDFB-8AE9-6BE7-058F32DD0EBD}"/>
              </a:ext>
            </a:extLst>
          </p:cNvPr>
          <p:cNvSpPr/>
          <p:nvPr/>
        </p:nvSpPr>
        <p:spPr>
          <a:xfrm>
            <a:off x="10377222" y="3011148"/>
            <a:ext cx="1536192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Server</a:t>
            </a:r>
            <a:endParaRPr sz="2200" dirty="0"/>
          </a:p>
        </p:txBody>
      </p:sp>
      <p:sp>
        <p:nvSpPr>
          <p:cNvPr id="14" name="Google Shape;548;p51">
            <a:extLst>
              <a:ext uri="{FF2B5EF4-FFF2-40B4-BE49-F238E27FC236}">
                <a16:creationId xmlns:a16="http://schemas.microsoft.com/office/drawing/2014/main" id="{452A2F92-B000-9C5F-FF1E-8BFA68C31CA5}"/>
              </a:ext>
            </a:extLst>
          </p:cNvPr>
          <p:cNvSpPr txBox="1"/>
          <p:nvPr/>
        </p:nvSpPr>
        <p:spPr>
          <a:xfrm>
            <a:off x="563418" y="4916825"/>
            <a:ext cx="5191147" cy="923299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The client queries the directory and </a:t>
            </a:r>
            <a:r>
              <a:rPr lang="en" sz="2400" b="1" i="1" dirty="0">
                <a:solidFill>
                  <a:srgbClr val="C00000"/>
                </a:solidFill>
              </a:rPr>
              <a:t>connects to an introduction point</a:t>
            </a:r>
            <a:endParaRPr sz="2400" b="1" i="1" dirty="0">
              <a:solidFill>
                <a:srgbClr val="C00000"/>
              </a:solidFill>
            </a:endParaRPr>
          </a:p>
        </p:txBody>
      </p:sp>
      <p:cxnSp>
        <p:nvCxnSpPr>
          <p:cNvPr id="15" name="Google Shape;549;p51">
            <a:extLst>
              <a:ext uri="{FF2B5EF4-FFF2-40B4-BE49-F238E27FC236}">
                <a16:creationId xmlns:a16="http://schemas.microsoft.com/office/drawing/2014/main" id="{62F11A2F-8EAF-B550-605D-85B15DC5D719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 flipH="1">
            <a:off x="7144254" y="3696839"/>
            <a:ext cx="1170120" cy="429006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550;p51">
            <a:extLst>
              <a:ext uri="{FF2B5EF4-FFF2-40B4-BE49-F238E27FC236}">
                <a16:creationId xmlns:a16="http://schemas.microsoft.com/office/drawing/2014/main" id="{35E98B08-4E92-ED0A-A21C-46B0908B08F7}"/>
              </a:ext>
            </a:extLst>
          </p:cNvPr>
          <p:cNvCxnSpPr>
            <a:cxnSpLocks/>
            <a:stCxn id="10" idx="1"/>
            <a:endCxn id="8" idx="3"/>
          </p:cNvCxnSpPr>
          <p:nvPr/>
        </p:nvCxnSpPr>
        <p:spPr>
          <a:xfrm flipH="1">
            <a:off x="5658354" y="4322645"/>
            <a:ext cx="891540" cy="112968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551;p51">
            <a:extLst>
              <a:ext uri="{FF2B5EF4-FFF2-40B4-BE49-F238E27FC236}">
                <a16:creationId xmlns:a16="http://schemas.microsoft.com/office/drawing/2014/main" id="{5A575A0E-7477-C05A-4F4C-4732C2DEC743}"/>
              </a:ext>
            </a:extLst>
          </p:cNvPr>
          <p:cNvCxnSpPr>
            <a:stCxn id="13" idx="1"/>
            <a:endCxn id="11" idx="3"/>
          </p:cNvCxnSpPr>
          <p:nvPr/>
        </p:nvCxnSpPr>
        <p:spPr>
          <a:xfrm flipH="1">
            <a:off x="8908734" y="3297498"/>
            <a:ext cx="1468488" cy="202541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552;p51">
            <a:extLst>
              <a:ext uri="{FF2B5EF4-FFF2-40B4-BE49-F238E27FC236}">
                <a16:creationId xmlns:a16="http://schemas.microsoft.com/office/drawing/2014/main" id="{D4FB8457-34A3-3AC4-6176-3CA7BCBC6289}"/>
              </a:ext>
            </a:extLst>
          </p:cNvPr>
          <p:cNvCxnSpPr>
            <a:stCxn id="13" idx="1"/>
            <a:endCxn id="12" idx="3"/>
          </p:cNvCxnSpPr>
          <p:nvPr/>
        </p:nvCxnSpPr>
        <p:spPr>
          <a:xfrm flipH="1" flipV="1">
            <a:off x="9621580" y="1969650"/>
            <a:ext cx="755642" cy="1327848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553;p51">
            <a:extLst>
              <a:ext uri="{FF2B5EF4-FFF2-40B4-BE49-F238E27FC236}">
                <a16:creationId xmlns:a16="http://schemas.microsoft.com/office/drawing/2014/main" id="{F3AFEBEA-A3E1-252F-37BF-C3A9EEBB4A4A}"/>
              </a:ext>
            </a:extLst>
          </p:cNvPr>
          <p:cNvCxnSpPr>
            <a:stCxn id="12" idx="1"/>
            <a:endCxn id="9" idx="3"/>
          </p:cNvCxnSpPr>
          <p:nvPr/>
        </p:nvCxnSpPr>
        <p:spPr>
          <a:xfrm flipH="1">
            <a:off x="7573789" y="1969650"/>
            <a:ext cx="859071" cy="368804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554;p51">
            <a:extLst>
              <a:ext uri="{FF2B5EF4-FFF2-40B4-BE49-F238E27FC236}">
                <a16:creationId xmlns:a16="http://schemas.microsoft.com/office/drawing/2014/main" id="{1F2186CF-955F-E6B2-A8BC-00F3750BA9E7}"/>
              </a:ext>
            </a:extLst>
          </p:cNvPr>
          <p:cNvCxnSpPr>
            <a:cxnSpLocks/>
            <a:stCxn id="9" idx="2"/>
            <a:endCxn id="7" idx="3"/>
          </p:cNvCxnSpPr>
          <p:nvPr/>
        </p:nvCxnSpPr>
        <p:spPr>
          <a:xfrm flipH="1">
            <a:off x="5955534" y="2535254"/>
            <a:ext cx="1023895" cy="40524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1" name="Google Shape;555;p51">
            <a:extLst>
              <a:ext uri="{FF2B5EF4-FFF2-40B4-BE49-F238E27FC236}">
                <a16:creationId xmlns:a16="http://schemas.microsoft.com/office/drawing/2014/main" id="{1EEC7E37-E29E-2CE5-13F2-A37AA4E9C0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7916695"/>
              </p:ext>
            </p:extLst>
          </p:nvPr>
        </p:nvGraphicFramePr>
        <p:xfrm>
          <a:off x="6549894" y="4827887"/>
          <a:ext cx="5363520" cy="17677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8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1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/>
                        <a:t>Hash</a:t>
                      </a:r>
                      <a:endParaRPr sz="2000" b="1" dirty="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Public Key</a:t>
                      </a:r>
                      <a:endParaRPr sz="2000" b="1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/>
                        <a:t>Introduction Points</a:t>
                      </a:r>
                      <a:endParaRPr sz="2000" b="1" dirty="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44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...</a:t>
                      </a:r>
                      <a:endParaRPr sz="20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...</a:t>
                      </a:r>
                      <a:endParaRPr sz="20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/>
                        <a:t>...</a:t>
                      </a:r>
                      <a:endParaRPr sz="2000" dirty="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44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expuy….onion</a:t>
                      </a:r>
                      <a:endParaRPr sz="20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/>
                        <a:t>PK</a:t>
                      </a:r>
                      <a:endParaRPr sz="2000" i="1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 dirty="0"/>
                        <a:t>I</a:t>
                      </a:r>
                      <a:r>
                        <a:rPr lang="en" sz="2000" baseline="-25000" dirty="0"/>
                        <a:t>1</a:t>
                      </a:r>
                      <a:r>
                        <a:rPr lang="en" sz="2000" dirty="0"/>
                        <a:t>, </a:t>
                      </a:r>
                      <a:r>
                        <a:rPr lang="en" sz="2000" i="1" dirty="0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lang="en" sz="2000" baseline="-25000" dirty="0">
                          <a:solidFill>
                            <a:schemeClr val="dk1"/>
                          </a:solidFill>
                        </a:rPr>
                        <a:t>2</a:t>
                      </a:r>
                      <a:endParaRPr sz="2000" baseline="-25000" dirty="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Google Shape;556;p51">
            <a:extLst>
              <a:ext uri="{FF2B5EF4-FFF2-40B4-BE49-F238E27FC236}">
                <a16:creationId xmlns:a16="http://schemas.microsoft.com/office/drawing/2014/main" id="{784C851F-5EE8-8C27-0F6B-4D80B725B988}"/>
              </a:ext>
            </a:extLst>
          </p:cNvPr>
          <p:cNvSpPr/>
          <p:nvPr/>
        </p:nvSpPr>
        <p:spPr>
          <a:xfrm>
            <a:off x="1221912" y="1646637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Relay</a:t>
            </a:r>
            <a:endParaRPr sz="2200"/>
          </a:p>
        </p:txBody>
      </p:sp>
      <p:cxnSp>
        <p:nvCxnSpPr>
          <p:cNvPr id="23" name="Google Shape;557;p51">
            <a:extLst>
              <a:ext uri="{FF2B5EF4-FFF2-40B4-BE49-F238E27FC236}">
                <a16:creationId xmlns:a16="http://schemas.microsoft.com/office/drawing/2014/main" id="{8AB58761-A4DF-8553-C69A-82CEEC3F7E79}"/>
              </a:ext>
            </a:extLst>
          </p:cNvPr>
          <p:cNvCxnSpPr>
            <a:cxnSpLocks/>
            <a:stCxn id="4" idx="0"/>
            <a:endCxn id="22" idx="2"/>
          </p:cNvCxnSpPr>
          <p:nvPr/>
        </p:nvCxnSpPr>
        <p:spPr>
          <a:xfrm flipV="1">
            <a:off x="1046682" y="2040237"/>
            <a:ext cx="769590" cy="1102413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" name="Google Shape;558;p51">
            <a:extLst>
              <a:ext uri="{FF2B5EF4-FFF2-40B4-BE49-F238E27FC236}">
                <a16:creationId xmlns:a16="http://schemas.microsoft.com/office/drawing/2014/main" id="{7EF70497-31CC-814E-DB2E-EB02274296DF}"/>
              </a:ext>
            </a:extLst>
          </p:cNvPr>
          <p:cNvCxnSpPr>
            <a:cxnSpLocks/>
            <a:stCxn id="22" idx="3"/>
            <a:endCxn id="5" idx="1"/>
          </p:cNvCxnSpPr>
          <p:nvPr/>
        </p:nvCxnSpPr>
        <p:spPr>
          <a:xfrm>
            <a:off x="2410632" y="1843437"/>
            <a:ext cx="575918" cy="1167711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559;p51">
            <a:extLst>
              <a:ext uri="{FF2B5EF4-FFF2-40B4-BE49-F238E27FC236}">
                <a16:creationId xmlns:a16="http://schemas.microsoft.com/office/drawing/2014/main" id="{DF6BF0E7-4637-6597-6B97-4B173C9E4CB0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3580910" y="3207948"/>
            <a:ext cx="304993" cy="449652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560;p51">
            <a:extLst>
              <a:ext uri="{FF2B5EF4-FFF2-40B4-BE49-F238E27FC236}">
                <a16:creationId xmlns:a16="http://schemas.microsoft.com/office/drawing/2014/main" id="{A4088240-02B1-5953-A533-E897CF2E0DE7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 flipV="1">
            <a:off x="4480263" y="3137294"/>
            <a:ext cx="880911" cy="717106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46386626-1FD1-9101-8762-68A34DA42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18"/>
            <a:ext cx="10515600" cy="773907"/>
          </a:xfrm>
        </p:spPr>
        <p:txBody>
          <a:bodyPr/>
          <a:lstStyle/>
          <a:p>
            <a:r>
              <a:rPr lang="en" dirty="0"/>
              <a:t>Tor Onion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14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AA629-E7B1-CBAC-C443-43604DCE5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38;p51">
            <a:extLst>
              <a:ext uri="{FF2B5EF4-FFF2-40B4-BE49-F238E27FC236}">
                <a16:creationId xmlns:a16="http://schemas.microsoft.com/office/drawing/2014/main" id="{F67FB25D-0B64-391B-5569-94D786C673FA}"/>
              </a:ext>
            </a:extLst>
          </p:cNvPr>
          <p:cNvSpPr/>
          <p:nvPr/>
        </p:nvSpPr>
        <p:spPr>
          <a:xfrm>
            <a:off x="277091" y="3142650"/>
            <a:ext cx="1539181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Client</a:t>
            </a:r>
            <a:endParaRPr sz="2200" dirty="0"/>
          </a:p>
        </p:txBody>
      </p:sp>
      <p:sp>
        <p:nvSpPr>
          <p:cNvPr id="5" name="Google Shape;539;p51">
            <a:extLst>
              <a:ext uri="{FF2B5EF4-FFF2-40B4-BE49-F238E27FC236}">
                <a16:creationId xmlns:a16="http://schemas.microsoft.com/office/drawing/2014/main" id="{6E35F7C7-06D6-B747-FF49-CD665698787B}"/>
              </a:ext>
            </a:extLst>
          </p:cNvPr>
          <p:cNvSpPr/>
          <p:nvPr/>
        </p:nvSpPr>
        <p:spPr>
          <a:xfrm>
            <a:off x="2986550" y="2814348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6" name="Google Shape;540;p51">
            <a:extLst>
              <a:ext uri="{FF2B5EF4-FFF2-40B4-BE49-F238E27FC236}">
                <a16:creationId xmlns:a16="http://schemas.microsoft.com/office/drawing/2014/main" id="{634FB30E-DE1A-208B-5645-41336721CF99}"/>
              </a:ext>
            </a:extLst>
          </p:cNvPr>
          <p:cNvSpPr/>
          <p:nvPr/>
        </p:nvSpPr>
        <p:spPr>
          <a:xfrm>
            <a:off x="3291840" y="3657600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7" name="Google Shape;541;p51">
            <a:extLst>
              <a:ext uri="{FF2B5EF4-FFF2-40B4-BE49-F238E27FC236}">
                <a16:creationId xmlns:a16="http://schemas.microsoft.com/office/drawing/2014/main" id="{06DD1BCA-B5D0-B4AE-0C11-55C4667187C9}"/>
              </a:ext>
            </a:extLst>
          </p:cNvPr>
          <p:cNvSpPr/>
          <p:nvPr/>
        </p:nvSpPr>
        <p:spPr>
          <a:xfrm>
            <a:off x="4766814" y="2743694"/>
            <a:ext cx="1188720" cy="393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 </a:t>
            </a:r>
            <a:r>
              <a:rPr lang="en" sz="2200" i="1" dirty="0"/>
              <a:t>I</a:t>
            </a:r>
            <a:r>
              <a:rPr lang="en" sz="2200" i="1" baseline="-25000" dirty="0"/>
              <a:t>1</a:t>
            </a:r>
            <a:endParaRPr sz="2200" i="1" baseline="-25000" dirty="0"/>
          </a:p>
        </p:txBody>
      </p:sp>
      <p:sp>
        <p:nvSpPr>
          <p:cNvPr id="8" name="Google Shape;542;p51">
            <a:extLst>
              <a:ext uri="{FF2B5EF4-FFF2-40B4-BE49-F238E27FC236}">
                <a16:creationId xmlns:a16="http://schemas.microsoft.com/office/drawing/2014/main" id="{F41876CB-C159-9FD7-D87D-C4A17CCDDE84}"/>
              </a:ext>
            </a:extLst>
          </p:cNvPr>
          <p:cNvSpPr/>
          <p:nvPr/>
        </p:nvSpPr>
        <p:spPr>
          <a:xfrm>
            <a:off x="4469634" y="4238813"/>
            <a:ext cx="1188720" cy="393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 </a:t>
            </a:r>
            <a:r>
              <a:rPr lang="en" sz="2200" i="1" dirty="0">
                <a:solidFill>
                  <a:schemeClr val="dk1"/>
                </a:solidFill>
              </a:rPr>
              <a:t>I</a:t>
            </a:r>
            <a:r>
              <a:rPr lang="en" sz="2200" i="1" baseline="-25000" dirty="0">
                <a:solidFill>
                  <a:schemeClr val="dk1"/>
                </a:solidFill>
              </a:rPr>
              <a:t>2</a:t>
            </a:r>
            <a:endParaRPr sz="2200" baseline="-25000" dirty="0"/>
          </a:p>
        </p:txBody>
      </p:sp>
      <p:sp>
        <p:nvSpPr>
          <p:cNvPr id="9" name="Google Shape;543;p51">
            <a:extLst>
              <a:ext uri="{FF2B5EF4-FFF2-40B4-BE49-F238E27FC236}">
                <a16:creationId xmlns:a16="http://schemas.microsoft.com/office/drawing/2014/main" id="{49C9C046-7375-D590-422B-077533394051}"/>
              </a:ext>
            </a:extLst>
          </p:cNvPr>
          <p:cNvSpPr/>
          <p:nvPr/>
        </p:nvSpPr>
        <p:spPr>
          <a:xfrm>
            <a:off x="6385069" y="2141654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10" name="Google Shape;544;p51">
            <a:extLst>
              <a:ext uri="{FF2B5EF4-FFF2-40B4-BE49-F238E27FC236}">
                <a16:creationId xmlns:a16="http://schemas.microsoft.com/office/drawing/2014/main" id="{3760E5DC-F1BF-725D-ABF0-AEC8E4502569}"/>
              </a:ext>
            </a:extLst>
          </p:cNvPr>
          <p:cNvSpPr/>
          <p:nvPr/>
        </p:nvSpPr>
        <p:spPr>
          <a:xfrm>
            <a:off x="6549894" y="4125845"/>
            <a:ext cx="1188720" cy="3936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 </a:t>
            </a:r>
            <a:r>
              <a:rPr lang="en" sz="2200" i="1" dirty="0"/>
              <a:t>R</a:t>
            </a:r>
            <a:endParaRPr sz="2200" i="1" dirty="0"/>
          </a:p>
        </p:txBody>
      </p:sp>
      <p:sp>
        <p:nvSpPr>
          <p:cNvPr id="11" name="Google Shape;545;p51">
            <a:extLst>
              <a:ext uri="{FF2B5EF4-FFF2-40B4-BE49-F238E27FC236}">
                <a16:creationId xmlns:a16="http://schemas.microsoft.com/office/drawing/2014/main" id="{60822AE0-E19C-533B-9E96-4D094A6D9451}"/>
              </a:ext>
            </a:extLst>
          </p:cNvPr>
          <p:cNvSpPr/>
          <p:nvPr/>
        </p:nvSpPr>
        <p:spPr>
          <a:xfrm>
            <a:off x="7720014" y="3303239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Relay</a:t>
            </a:r>
            <a:endParaRPr sz="2200"/>
          </a:p>
        </p:txBody>
      </p:sp>
      <p:sp>
        <p:nvSpPr>
          <p:cNvPr id="12" name="Google Shape;546;p51">
            <a:extLst>
              <a:ext uri="{FF2B5EF4-FFF2-40B4-BE49-F238E27FC236}">
                <a16:creationId xmlns:a16="http://schemas.microsoft.com/office/drawing/2014/main" id="{87471D42-1720-ECB3-FA6C-191B17E8E214}"/>
              </a:ext>
            </a:extLst>
          </p:cNvPr>
          <p:cNvSpPr/>
          <p:nvPr/>
        </p:nvSpPr>
        <p:spPr>
          <a:xfrm>
            <a:off x="8432860" y="1772850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Relay</a:t>
            </a:r>
            <a:endParaRPr sz="2200"/>
          </a:p>
        </p:txBody>
      </p:sp>
      <p:sp>
        <p:nvSpPr>
          <p:cNvPr id="13" name="Google Shape;547;p51">
            <a:extLst>
              <a:ext uri="{FF2B5EF4-FFF2-40B4-BE49-F238E27FC236}">
                <a16:creationId xmlns:a16="http://schemas.microsoft.com/office/drawing/2014/main" id="{A201F575-2804-646D-A89B-CE3756337200}"/>
              </a:ext>
            </a:extLst>
          </p:cNvPr>
          <p:cNvSpPr/>
          <p:nvPr/>
        </p:nvSpPr>
        <p:spPr>
          <a:xfrm>
            <a:off x="10377222" y="3011148"/>
            <a:ext cx="1536192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Server</a:t>
            </a:r>
            <a:endParaRPr sz="2200" dirty="0"/>
          </a:p>
        </p:txBody>
      </p:sp>
      <p:cxnSp>
        <p:nvCxnSpPr>
          <p:cNvPr id="15" name="Google Shape;549;p51">
            <a:extLst>
              <a:ext uri="{FF2B5EF4-FFF2-40B4-BE49-F238E27FC236}">
                <a16:creationId xmlns:a16="http://schemas.microsoft.com/office/drawing/2014/main" id="{E822F0D2-883C-B1EB-666F-02C2FD16AEE6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 flipH="1">
            <a:off x="7144254" y="3696839"/>
            <a:ext cx="1170120" cy="429006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550;p51">
            <a:extLst>
              <a:ext uri="{FF2B5EF4-FFF2-40B4-BE49-F238E27FC236}">
                <a16:creationId xmlns:a16="http://schemas.microsoft.com/office/drawing/2014/main" id="{11381DD0-88F5-85F9-F365-0ADC79F615CC}"/>
              </a:ext>
            </a:extLst>
          </p:cNvPr>
          <p:cNvCxnSpPr>
            <a:cxnSpLocks/>
            <a:stCxn id="10" idx="1"/>
            <a:endCxn id="8" idx="3"/>
          </p:cNvCxnSpPr>
          <p:nvPr/>
        </p:nvCxnSpPr>
        <p:spPr>
          <a:xfrm flipH="1">
            <a:off x="5658354" y="4322645"/>
            <a:ext cx="891540" cy="112968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551;p51">
            <a:extLst>
              <a:ext uri="{FF2B5EF4-FFF2-40B4-BE49-F238E27FC236}">
                <a16:creationId xmlns:a16="http://schemas.microsoft.com/office/drawing/2014/main" id="{93232554-E3FD-C9C0-CCD6-0A1CDFF0B7D6}"/>
              </a:ext>
            </a:extLst>
          </p:cNvPr>
          <p:cNvCxnSpPr>
            <a:stCxn id="13" idx="1"/>
            <a:endCxn id="11" idx="3"/>
          </p:cNvCxnSpPr>
          <p:nvPr/>
        </p:nvCxnSpPr>
        <p:spPr>
          <a:xfrm flipH="1">
            <a:off x="8908734" y="3297498"/>
            <a:ext cx="1468488" cy="202541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552;p51">
            <a:extLst>
              <a:ext uri="{FF2B5EF4-FFF2-40B4-BE49-F238E27FC236}">
                <a16:creationId xmlns:a16="http://schemas.microsoft.com/office/drawing/2014/main" id="{35284C0A-50A2-F573-2528-2DBB1E8F6DE1}"/>
              </a:ext>
            </a:extLst>
          </p:cNvPr>
          <p:cNvCxnSpPr>
            <a:stCxn id="13" idx="1"/>
            <a:endCxn id="12" idx="3"/>
          </p:cNvCxnSpPr>
          <p:nvPr/>
        </p:nvCxnSpPr>
        <p:spPr>
          <a:xfrm flipH="1" flipV="1">
            <a:off x="9621580" y="1969650"/>
            <a:ext cx="755642" cy="1327848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553;p51">
            <a:extLst>
              <a:ext uri="{FF2B5EF4-FFF2-40B4-BE49-F238E27FC236}">
                <a16:creationId xmlns:a16="http://schemas.microsoft.com/office/drawing/2014/main" id="{B133ADEC-5005-11CA-B9E0-FFB960F0D0D0}"/>
              </a:ext>
            </a:extLst>
          </p:cNvPr>
          <p:cNvCxnSpPr>
            <a:stCxn id="12" idx="1"/>
            <a:endCxn id="9" idx="3"/>
          </p:cNvCxnSpPr>
          <p:nvPr/>
        </p:nvCxnSpPr>
        <p:spPr>
          <a:xfrm flipH="1">
            <a:off x="7573789" y="1969650"/>
            <a:ext cx="859071" cy="368804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554;p51">
            <a:extLst>
              <a:ext uri="{FF2B5EF4-FFF2-40B4-BE49-F238E27FC236}">
                <a16:creationId xmlns:a16="http://schemas.microsoft.com/office/drawing/2014/main" id="{423A457C-A554-C046-7614-5EDBAC09F247}"/>
              </a:ext>
            </a:extLst>
          </p:cNvPr>
          <p:cNvCxnSpPr>
            <a:cxnSpLocks/>
            <a:stCxn id="9" idx="2"/>
            <a:endCxn id="7" idx="3"/>
          </p:cNvCxnSpPr>
          <p:nvPr/>
        </p:nvCxnSpPr>
        <p:spPr>
          <a:xfrm flipH="1">
            <a:off x="5955534" y="2535254"/>
            <a:ext cx="1023895" cy="40524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1" name="Google Shape;555;p51">
            <a:extLst>
              <a:ext uri="{FF2B5EF4-FFF2-40B4-BE49-F238E27FC236}">
                <a16:creationId xmlns:a16="http://schemas.microsoft.com/office/drawing/2014/main" id="{5FDFFA93-0E22-38F2-8139-32EFA5F66110}"/>
              </a:ext>
            </a:extLst>
          </p:cNvPr>
          <p:cNvGraphicFramePr/>
          <p:nvPr/>
        </p:nvGraphicFramePr>
        <p:xfrm>
          <a:off x="6549894" y="4827887"/>
          <a:ext cx="5363520" cy="17677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8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1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/>
                        <a:t>Hash</a:t>
                      </a:r>
                      <a:endParaRPr sz="2000" b="1" dirty="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Public Key</a:t>
                      </a:r>
                      <a:endParaRPr sz="2000" b="1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/>
                        <a:t>Introduction Points</a:t>
                      </a:r>
                      <a:endParaRPr sz="2000" b="1" dirty="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44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...</a:t>
                      </a:r>
                      <a:endParaRPr sz="20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...</a:t>
                      </a:r>
                      <a:endParaRPr sz="20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/>
                        <a:t>...</a:t>
                      </a:r>
                      <a:endParaRPr sz="2000" dirty="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44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expuy….onion</a:t>
                      </a:r>
                      <a:endParaRPr sz="20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/>
                        <a:t>PK</a:t>
                      </a:r>
                      <a:endParaRPr sz="2000" i="1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 dirty="0"/>
                        <a:t>I</a:t>
                      </a:r>
                      <a:r>
                        <a:rPr lang="en" sz="2000" baseline="-25000" dirty="0"/>
                        <a:t>1</a:t>
                      </a:r>
                      <a:r>
                        <a:rPr lang="en" sz="2000" dirty="0"/>
                        <a:t>, </a:t>
                      </a:r>
                      <a:r>
                        <a:rPr lang="en" sz="2000" i="1" dirty="0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lang="en" sz="2000" baseline="-25000" dirty="0">
                          <a:solidFill>
                            <a:schemeClr val="dk1"/>
                          </a:solidFill>
                        </a:rPr>
                        <a:t>2</a:t>
                      </a:r>
                      <a:endParaRPr sz="2000" baseline="-25000" dirty="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Google Shape;556;p51">
            <a:extLst>
              <a:ext uri="{FF2B5EF4-FFF2-40B4-BE49-F238E27FC236}">
                <a16:creationId xmlns:a16="http://schemas.microsoft.com/office/drawing/2014/main" id="{A8DAAB50-86AE-3B27-C90D-7F0B90AFC3E4}"/>
              </a:ext>
            </a:extLst>
          </p:cNvPr>
          <p:cNvSpPr/>
          <p:nvPr/>
        </p:nvSpPr>
        <p:spPr>
          <a:xfrm>
            <a:off x="1221912" y="1646637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Relay</a:t>
            </a:r>
            <a:endParaRPr sz="2200"/>
          </a:p>
        </p:txBody>
      </p:sp>
      <p:cxnSp>
        <p:nvCxnSpPr>
          <p:cNvPr id="23" name="Google Shape;557;p51">
            <a:extLst>
              <a:ext uri="{FF2B5EF4-FFF2-40B4-BE49-F238E27FC236}">
                <a16:creationId xmlns:a16="http://schemas.microsoft.com/office/drawing/2014/main" id="{A9C89E03-F062-44F4-EE74-6417F24B985A}"/>
              </a:ext>
            </a:extLst>
          </p:cNvPr>
          <p:cNvCxnSpPr>
            <a:cxnSpLocks/>
            <a:stCxn id="4" idx="0"/>
            <a:endCxn id="22" idx="2"/>
          </p:cNvCxnSpPr>
          <p:nvPr/>
        </p:nvCxnSpPr>
        <p:spPr>
          <a:xfrm flipV="1">
            <a:off x="1046682" y="2040237"/>
            <a:ext cx="769590" cy="1102413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" name="Google Shape;558;p51">
            <a:extLst>
              <a:ext uri="{FF2B5EF4-FFF2-40B4-BE49-F238E27FC236}">
                <a16:creationId xmlns:a16="http://schemas.microsoft.com/office/drawing/2014/main" id="{EC7DB60C-17C1-288A-4ACD-95D178E81FB3}"/>
              </a:ext>
            </a:extLst>
          </p:cNvPr>
          <p:cNvCxnSpPr>
            <a:cxnSpLocks/>
            <a:stCxn id="22" idx="3"/>
            <a:endCxn id="5" idx="1"/>
          </p:cNvCxnSpPr>
          <p:nvPr/>
        </p:nvCxnSpPr>
        <p:spPr>
          <a:xfrm>
            <a:off x="2410632" y="1843437"/>
            <a:ext cx="575918" cy="1167711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559;p51">
            <a:extLst>
              <a:ext uri="{FF2B5EF4-FFF2-40B4-BE49-F238E27FC236}">
                <a16:creationId xmlns:a16="http://schemas.microsoft.com/office/drawing/2014/main" id="{C98F36BD-F809-1956-3722-6F47D1F3726F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3580910" y="3207948"/>
            <a:ext cx="305290" cy="449652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560;p51">
            <a:extLst>
              <a:ext uri="{FF2B5EF4-FFF2-40B4-BE49-F238E27FC236}">
                <a16:creationId xmlns:a16="http://schemas.microsoft.com/office/drawing/2014/main" id="{751058CA-77BE-51AF-D685-11B664E77FFE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 flipV="1">
            <a:off x="4480560" y="3137294"/>
            <a:ext cx="880614" cy="717106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534EEED3-31D2-AAD5-0A1D-A47A125D0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18"/>
            <a:ext cx="10515600" cy="773907"/>
          </a:xfrm>
        </p:spPr>
        <p:txBody>
          <a:bodyPr/>
          <a:lstStyle/>
          <a:p>
            <a:r>
              <a:rPr lang="en" dirty="0"/>
              <a:t>Tor Onion Services</a:t>
            </a:r>
            <a:endParaRPr lang="en-US" dirty="0"/>
          </a:p>
        </p:txBody>
      </p:sp>
      <p:sp>
        <p:nvSpPr>
          <p:cNvPr id="2" name="Google Shape;589;p52">
            <a:extLst>
              <a:ext uri="{FF2B5EF4-FFF2-40B4-BE49-F238E27FC236}">
                <a16:creationId xmlns:a16="http://schemas.microsoft.com/office/drawing/2014/main" id="{A78197BB-FF82-991D-42DF-1A4D11A9F489}"/>
              </a:ext>
            </a:extLst>
          </p:cNvPr>
          <p:cNvSpPr txBox="1"/>
          <p:nvPr/>
        </p:nvSpPr>
        <p:spPr>
          <a:xfrm>
            <a:off x="175492" y="4896237"/>
            <a:ext cx="5525896" cy="1661963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The client chooses a </a:t>
            </a:r>
            <a:r>
              <a:rPr lang="en" sz="2400" b="1" i="1" dirty="0">
                <a:solidFill>
                  <a:srgbClr val="C00000"/>
                </a:solidFill>
              </a:rPr>
              <a:t>rendezvous point and secret</a:t>
            </a:r>
            <a:r>
              <a:rPr lang="en" sz="2400" dirty="0"/>
              <a:t>, encrypts using the public key, and sends them to the server through the introduction point</a:t>
            </a:r>
            <a:endParaRPr sz="2400" dirty="0"/>
          </a:p>
        </p:txBody>
      </p:sp>
      <p:sp>
        <p:nvSpPr>
          <p:cNvPr id="3" name="Google Shape;590;p52">
            <a:extLst>
              <a:ext uri="{FF2B5EF4-FFF2-40B4-BE49-F238E27FC236}">
                <a16:creationId xmlns:a16="http://schemas.microsoft.com/office/drawing/2014/main" id="{0334E515-E8A1-5661-0D65-7A6967C776A5}"/>
              </a:ext>
            </a:extLst>
          </p:cNvPr>
          <p:cNvSpPr txBox="1"/>
          <p:nvPr/>
        </p:nvSpPr>
        <p:spPr>
          <a:xfrm>
            <a:off x="2829" y="3780873"/>
            <a:ext cx="3020507" cy="861744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{“Rendezvous at </a:t>
            </a:r>
            <a:r>
              <a:rPr lang="en" sz="2200" i="1" dirty="0"/>
              <a:t>R</a:t>
            </a:r>
            <a:r>
              <a:rPr lang="en" sz="2200" dirty="0"/>
              <a:t>. The secret is </a:t>
            </a:r>
            <a:r>
              <a:rPr lang="en" sz="2200" i="1" dirty="0"/>
              <a:t>K</a:t>
            </a:r>
            <a:r>
              <a:rPr lang="en" sz="2200" dirty="0"/>
              <a:t>.”}</a:t>
            </a:r>
            <a:r>
              <a:rPr lang="en" sz="2200" i="1" dirty="0"/>
              <a:t>PK</a:t>
            </a:r>
            <a:endParaRPr sz="2200" i="1" dirty="0"/>
          </a:p>
        </p:txBody>
      </p:sp>
    </p:spTree>
    <p:extLst>
      <p:ext uri="{BB962C8B-B14F-4D97-AF65-F5344CB8AC3E}">
        <p14:creationId xmlns:p14="http://schemas.microsoft.com/office/powerpoint/2010/main" val="78011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1DCDD-43EC-E906-9DA6-F1981192C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38;p51">
            <a:extLst>
              <a:ext uri="{FF2B5EF4-FFF2-40B4-BE49-F238E27FC236}">
                <a16:creationId xmlns:a16="http://schemas.microsoft.com/office/drawing/2014/main" id="{B541C8AA-1170-6134-3A66-2CAC3864D048}"/>
              </a:ext>
            </a:extLst>
          </p:cNvPr>
          <p:cNvSpPr/>
          <p:nvPr/>
        </p:nvSpPr>
        <p:spPr>
          <a:xfrm>
            <a:off x="277091" y="3142650"/>
            <a:ext cx="1539181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Client</a:t>
            </a:r>
            <a:endParaRPr sz="2200" dirty="0"/>
          </a:p>
        </p:txBody>
      </p:sp>
      <p:sp>
        <p:nvSpPr>
          <p:cNvPr id="5" name="Google Shape;539;p51">
            <a:extLst>
              <a:ext uri="{FF2B5EF4-FFF2-40B4-BE49-F238E27FC236}">
                <a16:creationId xmlns:a16="http://schemas.microsoft.com/office/drawing/2014/main" id="{85E4CDFD-CB2A-9AAB-E054-515FC7BA127D}"/>
              </a:ext>
            </a:extLst>
          </p:cNvPr>
          <p:cNvSpPr/>
          <p:nvPr/>
        </p:nvSpPr>
        <p:spPr>
          <a:xfrm>
            <a:off x="2986550" y="2814348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6" name="Google Shape;540;p51">
            <a:extLst>
              <a:ext uri="{FF2B5EF4-FFF2-40B4-BE49-F238E27FC236}">
                <a16:creationId xmlns:a16="http://schemas.microsoft.com/office/drawing/2014/main" id="{68962FFC-8AAC-77DE-4CFD-8E5262FCC81A}"/>
              </a:ext>
            </a:extLst>
          </p:cNvPr>
          <p:cNvSpPr/>
          <p:nvPr/>
        </p:nvSpPr>
        <p:spPr>
          <a:xfrm>
            <a:off x="3291840" y="3657600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7" name="Google Shape;541;p51">
            <a:extLst>
              <a:ext uri="{FF2B5EF4-FFF2-40B4-BE49-F238E27FC236}">
                <a16:creationId xmlns:a16="http://schemas.microsoft.com/office/drawing/2014/main" id="{3B02DCFD-1EDC-86FA-CAFB-9BE5623936F9}"/>
              </a:ext>
            </a:extLst>
          </p:cNvPr>
          <p:cNvSpPr/>
          <p:nvPr/>
        </p:nvSpPr>
        <p:spPr>
          <a:xfrm>
            <a:off x="4766814" y="2743694"/>
            <a:ext cx="1188720" cy="393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 </a:t>
            </a:r>
            <a:r>
              <a:rPr lang="en" sz="2200" i="1" dirty="0"/>
              <a:t>I</a:t>
            </a:r>
            <a:r>
              <a:rPr lang="en" sz="2200" i="1" baseline="-25000" dirty="0"/>
              <a:t>1</a:t>
            </a:r>
            <a:endParaRPr sz="2200" i="1" baseline="-25000" dirty="0"/>
          </a:p>
        </p:txBody>
      </p:sp>
      <p:sp>
        <p:nvSpPr>
          <p:cNvPr id="8" name="Google Shape;542;p51">
            <a:extLst>
              <a:ext uri="{FF2B5EF4-FFF2-40B4-BE49-F238E27FC236}">
                <a16:creationId xmlns:a16="http://schemas.microsoft.com/office/drawing/2014/main" id="{54735E60-1921-9B12-6B45-3B489F8B68EE}"/>
              </a:ext>
            </a:extLst>
          </p:cNvPr>
          <p:cNvSpPr/>
          <p:nvPr/>
        </p:nvSpPr>
        <p:spPr>
          <a:xfrm>
            <a:off x="4469634" y="4238813"/>
            <a:ext cx="1188720" cy="393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 </a:t>
            </a:r>
            <a:r>
              <a:rPr lang="en" sz="2200" i="1" dirty="0">
                <a:solidFill>
                  <a:schemeClr val="dk1"/>
                </a:solidFill>
              </a:rPr>
              <a:t>I</a:t>
            </a:r>
            <a:r>
              <a:rPr lang="en" sz="2200" i="1" baseline="-25000" dirty="0">
                <a:solidFill>
                  <a:schemeClr val="dk1"/>
                </a:solidFill>
              </a:rPr>
              <a:t>2</a:t>
            </a:r>
            <a:endParaRPr sz="2200" baseline="-25000" dirty="0"/>
          </a:p>
        </p:txBody>
      </p:sp>
      <p:sp>
        <p:nvSpPr>
          <p:cNvPr id="9" name="Google Shape;543;p51">
            <a:extLst>
              <a:ext uri="{FF2B5EF4-FFF2-40B4-BE49-F238E27FC236}">
                <a16:creationId xmlns:a16="http://schemas.microsoft.com/office/drawing/2014/main" id="{19132B42-72BB-3DEA-9290-D44A1B85B8AB}"/>
              </a:ext>
            </a:extLst>
          </p:cNvPr>
          <p:cNvSpPr/>
          <p:nvPr/>
        </p:nvSpPr>
        <p:spPr>
          <a:xfrm>
            <a:off x="6385069" y="2141654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10" name="Google Shape;544;p51">
            <a:extLst>
              <a:ext uri="{FF2B5EF4-FFF2-40B4-BE49-F238E27FC236}">
                <a16:creationId xmlns:a16="http://schemas.microsoft.com/office/drawing/2014/main" id="{420E53D5-B0CA-CD67-3A0B-C7C78A10D5A5}"/>
              </a:ext>
            </a:extLst>
          </p:cNvPr>
          <p:cNvSpPr/>
          <p:nvPr/>
        </p:nvSpPr>
        <p:spPr>
          <a:xfrm>
            <a:off x="6549894" y="4125845"/>
            <a:ext cx="1188720" cy="3936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 </a:t>
            </a:r>
            <a:r>
              <a:rPr lang="en" sz="2200" i="1" dirty="0"/>
              <a:t>R</a:t>
            </a:r>
            <a:endParaRPr sz="2200" i="1" dirty="0"/>
          </a:p>
        </p:txBody>
      </p:sp>
      <p:sp>
        <p:nvSpPr>
          <p:cNvPr id="11" name="Google Shape;545;p51">
            <a:extLst>
              <a:ext uri="{FF2B5EF4-FFF2-40B4-BE49-F238E27FC236}">
                <a16:creationId xmlns:a16="http://schemas.microsoft.com/office/drawing/2014/main" id="{CE3E0DC5-C408-8A46-FF81-5C9A21D1C9A4}"/>
              </a:ext>
            </a:extLst>
          </p:cNvPr>
          <p:cNvSpPr/>
          <p:nvPr/>
        </p:nvSpPr>
        <p:spPr>
          <a:xfrm>
            <a:off x="7720014" y="3303239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Relay</a:t>
            </a:r>
            <a:endParaRPr sz="2200"/>
          </a:p>
        </p:txBody>
      </p:sp>
      <p:sp>
        <p:nvSpPr>
          <p:cNvPr id="12" name="Google Shape;546;p51">
            <a:extLst>
              <a:ext uri="{FF2B5EF4-FFF2-40B4-BE49-F238E27FC236}">
                <a16:creationId xmlns:a16="http://schemas.microsoft.com/office/drawing/2014/main" id="{074561BC-E736-D9BB-7A9F-4B67831992FF}"/>
              </a:ext>
            </a:extLst>
          </p:cNvPr>
          <p:cNvSpPr/>
          <p:nvPr/>
        </p:nvSpPr>
        <p:spPr>
          <a:xfrm>
            <a:off x="8432860" y="1772850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Relay</a:t>
            </a:r>
            <a:endParaRPr sz="2200"/>
          </a:p>
        </p:txBody>
      </p:sp>
      <p:sp>
        <p:nvSpPr>
          <p:cNvPr id="13" name="Google Shape;547;p51">
            <a:extLst>
              <a:ext uri="{FF2B5EF4-FFF2-40B4-BE49-F238E27FC236}">
                <a16:creationId xmlns:a16="http://schemas.microsoft.com/office/drawing/2014/main" id="{250B76A9-71C0-C936-395A-5A6C8DECAF88}"/>
              </a:ext>
            </a:extLst>
          </p:cNvPr>
          <p:cNvSpPr/>
          <p:nvPr/>
        </p:nvSpPr>
        <p:spPr>
          <a:xfrm>
            <a:off x="10377222" y="3011148"/>
            <a:ext cx="1536192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Server</a:t>
            </a:r>
            <a:endParaRPr sz="2200" dirty="0"/>
          </a:p>
        </p:txBody>
      </p:sp>
      <p:cxnSp>
        <p:nvCxnSpPr>
          <p:cNvPr id="15" name="Google Shape;549;p51">
            <a:extLst>
              <a:ext uri="{FF2B5EF4-FFF2-40B4-BE49-F238E27FC236}">
                <a16:creationId xmlns:a16="http://schemas.microsoft.com/office/drawing/2014/main" id="{0C1E64E9-DADB-22D6-A4DE-6DC4402A2DC3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 flipH="1">
            <a:off x="7144254" y="3696839"/>
            <a:ext cx="1170120" cy="429006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550;p51">
            <a:extLst>
              <a:ext uri="{FF2B5EF4-FFF2-40B4-BE49-F238E27FC236}">
                <a16:creationId xmlns:a16="http://schemas.microsoft.com/office/drawing/2014/main" id="{4D0B2853-A910-D963-0ECB-91A523DCE673}"/>
              </a:ext>
            </a:extLst>
          </p:cNvPr>
          <p:cNvCxnSpPr>
            <a:cxnSpLocks/>
            <a:stCxn id="10" idx="1"/>
            <a:endCxn id="8" idx="3"/>
          </p:cNvCxnSpPr>
          <p:nvPr/>
        </p:nvCxnSpPr>
        <p:spPr>
          <a:xfrm flipH="1">
            <a:off x="5658354" y="4322645"/>
            <a:ext cx="891540" cy="112968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551;p51">
            <a:extLst>
              <a:ext uri="{FF2B5EF4-FFF2-40B4-BE49-F238E27FC236}">
                <a16:creationId xmlns:a16="http://schemas.microsoft.com/office/drawing/2014/main" id="{CFE35562-7124-C31E-D763-B56300F661F7}"/>
              </a:ext>
            </a:extLst>
          </p:cNvPr>
          <p:cNvCxnSpPr>
            <a:stCxn id="13" idx="1"/>
            <a:endCxn id="11" idx="3"/>
          </p:cNvCxnSpPr>
          <p:nvPr/>
        </p:nvCxnSpPr>
        <p:spPr>
          <a:xfrm flipH="1">
            <a:off x="8908734" y="3297498"/>
            <a:ext cx="1468488" cy="202541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552;p51">
            <a:extLst>
              <a:ext uri="{FF2B5EF4-FFF2-40B4-BE49-F238E27FC236}">
                <a16:creationId xmlns:a16="http://schemas.microsoft.com/office/drawing/2014/main" id="{EAC8A6F5-A7A5-1CA2-BD6F-95181D1C5C6B}"/>
              </a:ext>
            </a:extLst>
          </p:cNvPr>
          <p:cNvCxnSpPr>
            <a:stCxn id="13" idx="1"/>
            <a:endCxn id="12" idx="3"/>
          </p:cNvCxnSpPr>
          <p:nvPr/>
        </p:nvCxnSpPr>
        <p:spPr>
          <a:xfrm flipH="1" flipV="1">
            <a:off x="9621580" y="1969650"/>
            <a:ext cx="755642" cy="1327848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553;p51">
            <a:extLst>
              <a:ext uri="{FF2B5EF4-FFF2-40B4-BE49-F238E27FC236}">
                <a16:creationId xmlns:a16="http://schemas.microsoft.com/office/drawing/2014/main" id="{9C2380DE-3734-DC24-5DC3-E0019FEF1368}"/>
              </a:ext>
            </a:extLst>
          </p:cNvPr>
          <p:cNvCxnSpPr>
            <a:stCxn id="12" idx="1"/>
            <a:endCxn id="9" idx="3"/>
          </p:cNvCxnSpPr>
          <p:nvPr/>
        </p:nvCxnSpPr>
        <p:spPr>
          <a:xfrm flipH="1">
            <a:off x="7573789" y="1969650"/>
            <a:ext cx="859071" cy="368804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554;p51">
            <a:extLst>
              <a:ext uri="{FF2B5EF4-FFF2-40B4-BE49-F238E27FC236}">
                <a16:creationId xmlns:a16="http://schemas.microsoft.com/office/drawing/2014/main" id="{D2066CE1-0A65-2EEF-9950-C03828BF2356}"/>
              </a:ext>
            </a:extLst>
          </p:cNvPr>
          <p:cNvCxnSpPr>
            <a:cxnSpLocks/>
            <a:stCxn id="9" idx="2"/>
            <a:endCxn id="7" idx="3"/>
          </p:cNvCxnSpPr>
          <p:nvPr/>
        </p:nvCxnSpPr>
        <p:spPr>
          <a:xfrm flipH="1">
            <a:off x="5955534" y="2535254"/>
            <a:ext cx="1023895" cy="40524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1" name="Google Shape;555;p51">
            <a:extLst>
              <a:ext uri="{FF2B5EF4-FFF2-40B4-BE49-F238E27FC236}">
                <a16:creationId xmlns:a16="http://schemas.microsoft.com/office/drawing/2014/main" id="{0F08D3FB-7085-9983-7BB5-E90C0E275429}"/>
              </a:ext>
            </a:extLst>
          </p:cNvPr>
          <p:cNvGraphicFramePr/>
          <p:nvPr/>
        </p:nvGraphicFramePr>
        <p:xfrm>
          <a:off x="6549894" y="4827887"/>
          <a:ext cx="5363520" cy="17677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8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1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/>
                        <a:t>Hash</a:t>
                      </a:r>
                      <a:endParaRPr sz="2000" b="1" dirty="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Public Key</a:t>
                      </a:r>
                      <a:endParaRPr sz="2000" b="1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/>
                        <a:t>Introduction Points</a:t>
                      </a:r>
                      <a:endParaRPr sz="2000" b="1" dirty="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44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...</a:t>
                      </a:r>
                      <a:endParaRPr sz="20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...</a:t>
                      </a:r>
                      <a:endParaRPr sz="20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/>
                        <a:t>...</a:t>
                      </a:r>
                      <a:endParaRPr sz="2000" dirty="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44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expuy….onion</a:t>
                      </a:r>
                      <a:endParaRPr sz="20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/>
                        <a:t>PK</a:t>
                      </a:r>
                      <a:endParaRPr sz="2000" i="1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 dirty="0"/>
                        <a:t>I</a:t>
                      </a:r>
                      <a:r>
                        <a:rPr lang="en" sz="2000" baseline="-25000" dirty="0"/>
                        <a:t>1</a:t>
                      </a:r>
                      <a:r>
                        <a:rPr lang="en" sz="2000" dirty="0"/>
                        <a:t>, </a:t>
                      </a:r>
                      <a:r>
                        <a:rPr lang="en" sz="2000" i="1" dirty="0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lang="en" sz="2000" baseline="-25000" dirty="0">
                          <a:solidFill>
                            <a:schemeClr val="dk1"/>
                          </a:solidFill>
                        </a:rPr>
                        <a:t>2</a:t>
                      </a:r>
                      <a:endParaRPr sz="2000" baseline="-25000" dirty="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Google Shape;556;p51">
            <a:extLst>
              <a:ext uri="{FF2B5EF4-FFF2-40B4-BE49-F238E27FC236}">
                <a16:creationId xmlns:a16="http://schemas.microsoft.com/office/drawing/2014/main" id="{FA22A27D-54DF-40B9-34BC-0FC5E9C46B93}"/>
              </a:ext>
            </a:extLst>
          </p:cNvPr>
          <p:cNvSpPr/>
          <p:nvPr/>
        </p:nvSpPr>
        <p:spPr>
          <a:xfrm>
            <a:off x="1221912" y="1646637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Relay</a:t>
            </a:r>
            <a:endParaRPr sz="2200"/>
          </a:p>
        </p:txBody>
      </p:sp>
      <p:cxnSp>
        <p:nvCxnSpPr>
          <p:cNvPr id="23" name="Google Shape;557;p51">
            <a:extLst>
              <a:ext uri="{FF2B5EF4-FFF2-40B4-BE49-F238E27FC236}">
                <a16:creationId xmlns:a16="http://schemas.microsoft.com/office/drawing/2014/main" id="{2D781405-80BB-4C13-819E-91D0F24C818D}"/>
              </a:ext>
            </a:extLst>
          </p:cNvPr>
          <p:cNvCxnSpPr>
            <a:cxnSpLocks/>
            <a:stCxn id="4" idx="0"/>
            <a:endCxn id="22" idx="2"/>
          </p:cNvCxnSpPr>
          <p:nvPr/>
        </p:nvCxnSpPr>
        <p:spPr>
          <a:xfrm flipV="1">
            <a:off x="1046682" y="2040237"/>
            <a:ext cx="769590" cy="1102413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" name="Google Shape;558;p51">
            <a:extLst>
              <a:ext uri="{FF2B5EF4-FFF2-40B4-BE49-F238E27FC236}">
                <a16:creationId xmlns:a16="http://schemas.microsoft.com/office/drawing/2014/main" id="{4FD0DD0B-97A0-ACBF-2F13-E631814ADE26}"/>
              </a:ext>
            </a:extLst>
          </p:cNvPr>
          <p:cNvCxnSpPr>
            <a:cxnSpLocks/>
            <a:stCxn id="22" idx="3"/>
            <a:endCxn id="5" idx="1"/>
          </p:cNvCxnSpPr>
          <p:nvPr/>
        </p:nvCxnSpPr>
        <p:spPr>
          <a:xfrm>
            <a:off x="2410632" y="1843437"/>
            <a:ext cx="575918" cy="1167711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559;p51">
            <a:extLst>
              <a:ext uri="{FF2B5EF4-FFF2-40B4-BE49-F238E27FC236}">
                <a16:creationId xmlns:a16="http://schemas.microsoft.com/office/drawing/2014/main" id="{66D5CD0C-C871-CA9F-1E64-88681792FC87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3580910" y="3207948"/>
            <a:ext cx="305290" cy="449652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560;p51">
            <a:extLst>
              <a:ext uri="{FF2B5EF4-FFF2-40B4-BE49-F238E27FC236}">
                <a16:creationId xmlns:a16="http://schemas.microsoft.com/office/drawing/2014/main" id="{F25DA1A4-57DA-530D-E19B-D65401D48E39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 flipV="1">
            <a:off x="4480560" y="3137294"/>
            <a:ext cx="880614" cy="717106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2FAE0CCE-9C92-952C-A680-E3A4047F4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18"/>
            <a:ext cx="10515600" cy="773907"/>
          </a:xfrm>
        </p:spPr>
        <p:txBody>
          <a:bodyPr/>
          <a:lstStyle/>
          <a:p>
            <a:r>
              <a:rPr lang="en" dirty="0"/>
              <a:t>Tor Onion Services</a:t>
            </a:r>
            <a:endParaRPr lang="en-US" dirty="0"/>
          </a:p>
        </p:txBody>
      </p:sp>
      <p:sp>
        <p:nvSpPr>
          <p:cNvPr id="2" name="Google Shape;589;p52">
            <a:extLst>
              <a:ext uri="{FF2B5EF4-FFF2-40B4-BE49-F238E27FC236}">
                <a16:creationId xmlns:a16="http://schemas.microsoft.com/office/drawing/2014/main" id="{B8563643-CE11-5E37-D103-5F9DAA4620C5}"/>
              </a:ext>
            </a:extLst>
          </p:cNvPr>
          <p:cNvSpPr txBox="1"/>
          <p:nvPr/>
        </p:nvSpPr>
        <p:spPr>
          <a:xfrm>
            <a:off x="175492" y="4896237"/>
            <a:ext cx="5525896" cy="1661963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The client chooses a </a:t>
            </a:r>
            <a:r>
              <a:rPr lang="en" sz="2400" b="1" i="1" dirty="0">
                <a:solidFill>
                  <a:srgbClr val="C00000"/>
                </a:solidFill>
              </a:rPr>
              <a:t>rendezvous point and secret</a:t>
            </a:r>
            <a:r>
              <a:rPr lang="en" sz="2400" dirty="0"/>
              <a:t>, encrypts using the public key, and sends them to the server through the introduction point</a:t>
            </a:r>
            <a:endParaRPr sz="2400" dirty="0"/>
          </a:p>
        </p:txBody>
      </p:sp>
      <p:sp>
        <p:nvSpPr>
          <p:cNvPr id="3" name="Google Shape;590;p52">
            <a:extLst>
              <a:ext uri="{FF2B5EF4-FFF2-40B4-BE49-F238E27FC236}">
                <a16:creationId xmlns:a16="http://schemas.microsoft.com/office/drawing/2014/main" id="{D018A0C1-7438-3E87-721F-31D614F55A19}"/>
              </a:ext>
            </a:extLst>
          </p:cNvPr>
          <p:cNvSpPr txBox="1"/>
          <p:nvPr/>
        </p:nvSpPr>
        <p:spPr>
          <a:xfrm>
            <a:off x="3275002" y="1795299"/>
            <a:ext cx="3020507" cy="861744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{“Rendezvous at </a:t>
            </a:r>
            <a:r>
              <a:rPr lang="en" sz="2200" i="1" dirty="0"/>
              <a:t>R</a:t>
            </a:r>
            <a:r>
              <a:rPr lang="en" sz="2200" dirty="0"/>
              <a:t>. The secret is </a:t>
            </a:r>
            <a:r>
              <a:rPr lang="en" sz="2200" i="1" dirty="0"/>
              <a:t>K</a:t>
            </a:r>
            <a:r>
              <a:rPr lang="en" sz="2200" dirty="0"/>
              <a:t>.”}</a:t>
            </a:r>
            <a:r>
              <a:rPr lang="en" sz="2200" i="1" dirty="0"/>
              <a:t>PK</a:t>
            </a:r>
            <a:endParaRPr sz="2200" i="1" dirty="0"/>
          </a:p>
        </p:txBody>
      </p:sp>
    </p:spTree>
    <p:extLst>
      <p:ext uri="{BB962C8B-B14F-4D97-AF65-F5344CB8AC3E}">
        <p14:creationId xmlns:p14="http://schemas.microsoft.com/office/powerpoint/2010/main" val="346412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2FE43-AFAD-DB22-B989-08186B52B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38;p51">
            <a:extLst>
              <a:ext uri="{FF2B5EF4-FFF2-40B4-BE49-F238E27FC236}">
                <a16:creationId xmlns:a16="http://schemas.microsoft.com/office/drawing/2014/main" id="{F2DD96B9-6F76-07EA-4776-513176E2F48C}"/>
              </a:ext>
            </a:extLst>
          </p:cNvPr>
          <p:cNvSpPr/>
          <p:nvPr/>
        </p:nvSpPr>
        <p:spPr>
          <a:xfrm>
            <a:off x="277091" y="3142650"/>
            <a:ext cx="1539181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Client</a:t>
            </a:r>
            <a:endParaRPr sz="2200" dirty="0"/>
          </a:p>
        </p:txBody>
      </p:sp>
      <p:sp>
        <p:nvSpPr>
          <p:cNvPr id="5" name="Google Shape;539;p51">
            <a:extLst>
              <a:ext uri="{FF2B5EF4-FFF2-40B4-BE49-F238E27FC236}">
                <a16:creationId xmlns:a16="http://schemas.microsoft.com/office/drawing/2014/main" id="{A46BC226-8082-F8DE-B4B8-C9B07C0620A6}"/>
              </a:ext>
            </a:extLst>
          </p:cNvPr>
          <p:cNvSpPr/>
          <p:nvPr/>
        </p:nvSpPr>
        <p:spPr>
          <a:xfrm>
            <a:off x="2986550" y="2814348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6" name="Google Shape;540;p51">
            <a:extLst>
              <a:ext uri="{FF2B5EF4-FFF2-40B4-BE49-F238E27FC236}">
                <a16:creationId xmlns:a16="http://schemas.microsoft.com/office/drawing/2014/main" id="{858CCC2C-6BD6-9340-450D-D59904179D3C}"/>
              </a:ext>
            </a:extLst>
          </p:cNvPr>
          <p:cNvSpPr/>
          <p:nvPr/>
        </p:nvSpPr>
        <p:spPr>
          <a:xfrm>
            <a:off x="3291840" y="3657600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7" name="Google Shape;541;p51">
            <a:extLst>
              <a:ext uri="{FF2B5EF4-FFF2-40B4-BE49-F238E27FC236}">
                <a16:creationId xmlns:a16="http://schemas.microsoft.com/office/drawing/2014/main" id="{39C02100-69F9-0FBE-D15D-F4094991067F}"/>
              </a:ext>
            </a:extLst>
          </p:cNvPr>
          <p:cNvSpPr/>
          <p:nvPr/>
        </p:nvSpPr>
        <p:spPr>
          <a:xfrm>
            <a:off x="4766814" y="2743694"/>
            <a:ext cx="1188720" cy="393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 </a:t>
            </a:r>
            <a:r>
              <a:rPr lang="en" sz="2200" i="1" dirty="0"/>
              <a:t>I</a:t>
            </a:r>
            <a:r>
              <a:rPr lang="en" sz="2200" i="1" baseline="-25000" dirty="0"/>
              <a:t>1</a:t>
            </a:r>
            <a:endParaRPr sz="2200" i="1" baseline="-25000" dirty="0"/>
          </a:p>
        </p:txBody>
      </p:sp>
      <p:sp>
        <p:nvSpPr>
          <p:cNvPr id="8" name="Google Shape;542;p51">
            <a:extLst>
              <a:ext uri="{FF2B5EF4-FFF2-40B4-BE49-F238E27FC236}">
                <a16:creationId xmlns:a16="http://schemas.microsoft.com/office/drawing/2014/main" id="{EDFD79C2-EAE7-FC49-8269-69E9FCC6D25F}"/>
              </a:ext>
            </a:extLst>
          </p:cNvPr>
          <p:cNvSpPr/>
          <p:nvPr/>
        </p:nvSpPr>
        <p:spPr>
          <a:xfrm>
            <a:off x="4469634" y="4238813"/>
            <a:ext cx="1188720" cy="393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 </a:t>
            </a:r>
            <a:r>
              <a:rPr lang="en" sz="2200" i="1" dirty="0">
                <a:solidFill>
                  <a:schemeClr val="dk1"/>
                </a:solidFill>
              </a:rPr>
              <a:t>I</a:t>
            </a:r>
            <a:r>
              <a:rPr lang="en" sz="2200" i="1" baseline="-25000" dirty="0">
                <a:solidFill>
                  <a:schemeClr val="dk1"/>
                </a:solidFill>
              </a:rPr>
              <a:t>2</a:t>
            </a:r>
            <a:endParaRPr sz="2200" baseline="-25000" dirty="0"/>
          </a:p>
        </p:txBody>
      </p:sp>
      <p:sp>
        <p:nvSpPr>
          <p:cNvPr id="9" name="Google Shape;543;p51">
            <a:extLst>
              <a:ext uri="{FF2B5EF4-FFF2-40B4-BE49-F238E27FC236}">
                <a16:creationId xmlns:a16="http://schemas.microsoft.com/office/drawing/2014/main" id="{2711A646-E83B-93DD-2C65-14030FC1CB84}"/>
              </a:ext>
            </a:extLst>
          </p:cNvPr>
          <p:cNvSpPr/>
          <p:nvPr/>
        </p:nvSpPr>
        <p:spPr>
          <a:xfrm>
            <a:off x="6385069" y="2141654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</a:t>
            </a:r>
            <a:endParaRPr sz="2200" dirty="0"/>
          </a:p>
        </p:txBody>
      </p:sp>
      <p:sp>
        <p:nvSpPr>
          <p:cNvPr id="10" name="Google Shape;544;p51">
            <a:extLst>
              <a:ext uri="{FF2B5EF4-FFF2-40B4-BE49-F238E27FC236}">
                <a16:creationId xmlns:a16="http://schemas.microsoft.com/office/drawing/2014/main" id="{E0CADFC5-9875-8A71-0135-C338A2761123}"/>
              </a:ext>
            </a:extLst>
          </p:cNvPr>
          <p:cNvSpPr/>
          <p:nvPr/>
        </p:nvSpPr>
        <p:spPr>
          <a:xfrm>
            <a:off x="6549894" y="4125845"/>
            <a:ext cx="1188720" cy="3936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 </a:t>
            </a:r>
            <a:r>
              <a:rPr lang="en" sz="2200" i="1" dirty="0"/>
              <a:t>R</a:t>
            </a:r>
            <a:endParaRPr sz="2200" i="1" dirty="0"/>
          </a:p>
        </p:txBody>
      </p:sp>
      <p:sp>
        <p:nvSpPr>
          <p:cNvPr id="11" name="Google Shape;545;p51">
            <a:extLst>
              <a:ext uri="{FF2B5EF4-FFF2-40B4-BE49-F238E27FC236}">
                <a16:creationId xmlns:a16="http://schemas.microsoft.com/office/drawing/2014/main" id="{C553F7BD-EF51-A6F2-5410-7D03EAD5D538}"/>
              </a:ext>
            </a:extLst>
          </p:cNvPr>
          <p:cNvSpPr/>
          <p:nvPr/>
        </p:nvSpPr>
        <p:spPr>
          <a:xfrm>
            <a:off x="7720014" y="3303239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Relay</a:t>
            </a:r>
            <a:endParaRPr sz="2200"/>
          </a:p>
        </p:txBody>
      </p:sp>
      <p:sp>
        <p:nvSpPr>
          <p:cNvPr id="12" name="Google Shape;546;p51">
            <a:extLst>
              <a:ext uri="{FF2B5EF4-FFF2-40B4-BE49-F238E27FC236}">
                <a16:creationId xmlns:a16="http://schemas.microsoft.com/office/drawing/2014/main" id="{5A9F4931-4125-B730-6B0D-3249572BD6FA}"/>
              </a:ext>
            </a:extLst>
          </p:cNvPr>
          <p:cNvSpPr/>
          <p:nvPr/>
        </p:nvSpPr>
        <p:spPr>
          <a:xfrm>
            <a:off x="8432860" y="1772850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Relay</a:t>
            </a:r>
            <a:endParaRPr sz="2200"/>
          </a:p>
        </p:txBody>
      </p:sp>
      <p:sp>
        <p:nvSpPr>
          <p:cNvPr id="13" name="Google Shape;547;p51">
            <a:extLst>
              <a:ext uri="{FF2B5EF4-FFF2-40B4-BE49-F238E27FC236}">
                <a16:creationId xmlns:a16="http://schemas.microsoft.com/office/drawing/2014/main" id="{0F3F793B-0FBF-A175-C25B-5D8DEC991DF0}"/>
              </a:ext>
            </a:extLst>
          </p:cNvPr>
          <p:cNvSpPr/>
          <p:nvPr/>
        </p:nvSpPr>
        <p:spPr>
          <a:xfrm>
            <a:off x="10377222" y="3011148"/>
            <a:ext cx="1536192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Server</a:t>
            </a:r>
            <a:endParaRPr sz="2200" dirty="0"/>
          </a:p>
        </p:txBody>
      </p:sp>
      <p:cxnSp>
        <p:nvCxnSpPr>
          <p:cNvPr id="15" name="Google Shape;549;p51">
            <a:extLst>
              <a:ext uri="{FF2B5EF4-FFF2-40B4-BE49-F238E27FC236}">
                <a16:creationId xmlns:a16="http://schemas.microsoft.com/office/drawing/2014/main" id="{B897314B-7CA7-A31D-B62A-137AA32B5D66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 flipH="1">
            <a:off x="7144254" y="3696839"/>
            <a:ext cx="1170120" cy="429006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550;p51">
            <a:extLst>
              <a:ext uri="{FF2B5EF4-FFF2-40B4-BE49-F238E27FC236}">
                <a16:creationId xmlns:a16="http://schemas.microsoft.com/office/drawing/2014/main" id="{7783CD36-E1CE-C884-6B97-F821AE96848E}"/>
              </a:ext>
            </a:extLst>
          </p:cNvPr>
          <p:cNvCxnSpPr>
            <a:cxnSpLocks/>
            <a:stCxn id="10" idx="1"/>
            <a:endCxn id="8" idx="3"/>
          </p:cNvCxnSpPr>
          <p:nvPr/>
        </p:nvCxnSpPr>
        <p:spPr>
          <a:xfrm flipH="1">
            <a:off x="5658354" y="4322645"/>
            <a:ext cx="891540" cy="112968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551;p51">
            <a:extLst>
              <a:ext uri="{FF2B5EF4-FFF2-40B4-BE49-F238E27FC236}">
                <a16:creationId xmlns:a16="http://schemas.microsoft.com/office/drawing/2014/main" id="{FC0AFA5F-3428-C463-8217-040BD5DD7AAB}"/>
              </a:ext>
            </a:extLst>
          </p:cNvPr>
          <p:cNvCxnSpPr>
            <a:stCxn id="13" idx="1"/>
            <a:endCxn id="11" idx="3"/>
          </p:cNvCxnSpPr>
          <p:nvPr/>
        </p:nvCxnSpPr>
        <p:spPr>
          <a:xfrm flipH="1">
            <a:off x="8908734" y="3297498"/>
            <a:ext cx="1468488" cy="202541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552;p51">
            <a:extLst>
              <a:ext uri="{FF2B5EF4-FFF2-40B4-BE49-F238E27FC236}">
                <a16:creationId xmlns:a16="http://schemas.microsoft.com/office/drawing/2014/main" id="{16F4E6E6-F946-C0B5-D4B9-3677F602B6D3}"/>
              </a:ext>
            </a:extLst>
          </p:cNvPr>
          <p:cNvCxnSpPr>
            <a:stCxn id="13" idx="1"/>
            <a:endCxn id="12" idx="3"/>
          </p:cNvCxnSpPr>
          <p:nvPr/>
        </p:nvCxnSpPr>
        <p:spPr>
          <a:xfrm flipH="1" flipV="1">
            <a:off x="9621580" y="1969650"/>
            <a:ext cx="755642" cy="1327848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553;p51">
            <a:extLst>
              <a:ext uri="{FF2B5EF4-FFF2-40B4-BE49-F238E27FC236}">
                <a16:creationId xmlns:a16="http://schemas.microsoft.com/office/drawing/2014/main" id="{84E645BE-1F62-4510-F36D-C121DFE5EB7A}"/>
              </a:ext>
            </a:extLst>
          </p:cNvPr>
          <p:cNvCxnSpPr>
            <a:stCxn id="12" idx="1"/>
            <a:endCxn id="9" idx="3"/>
          </p:cNvCxnSpPr>
          <p:nvPr/>
        </p:nvCxnSpPr>
        <p:spPr>
          <a:xfrm flipH="1">
            <a:off x="7573789" y="1969650"/>
            <a:ext cx="859071" cy="368804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554;p51">
            <a:extLst>
              <a:ext uri="{FF2B5EF4-FFF2-40B4-BE49-F238E27FC236}">
                <a16:creationId xmlns:a16="http://schemas.microsoft.com/office/drawing/2014/main" id="{48D2FE74-D938-57A2-79A5-18C09340F895}"/>
              </a:ext>
            </a:extLst>
          </p:cNvPr>
          <p:cNvCxnSpPr>
            <a:cxnSpLocks/>
            <a:stCxn id="9" idx="2"/>
            <a:endCxn id="7" idx="3"/>
          </p:cNvCxnSpPr>
          <p:nvPr/>
        </p:nvCxnSpPr>
        <p:spPr>
          <a:xfrm flipH="1">
            <a:off x="5955534" y="2535254"/>
            <a:ext cx="1023895" cy="40524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1" name="Google Shape;555;p51">
            <a:extLst>
              <a:ext uri="{FF2B5EF4-FFF2-40B4-BE49-F238E27FC236}">
                <a16:creationId xmlns:a16="http://schemas.microsoft.com/office/drawing/2014/main" id="{EA8896A4-962C-5CFC-0C68-144821810F2C}"/>
              </a:ext>
            </a:extLst>
          </p:cNvPr>
          <p:cNvGraphicFramePr/>
          <p:nvPr/>
        </p:nvGraphicFramePr>
        <p:xfrm>
          <a:off x="6549894" y="4827887"/>
          <a:ext cx="5363520" cy="17677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8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1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/>
                        <a:t>Hash</a:t>
                      </a:r>
                      <a:endParaRPr sz="2000" b="1" dirty="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Public Key</a:t>
                      </a:r>
                      <a:endParaRPr sz="2000" b="1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/>
                        <a:t>Introduction Points</a:t>
                      </a:r>
                      <a:endParaRPr sz="2000" b="1" dirty="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44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...</a:t>
                      </a:r>
                      <a:endParaRPr sz="20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...</a:t>
                      </a:r>
                      <a:endParaRPr sz="20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/>
                        <a:t>...</a:t>
                      </a:r>
                      <a:endParaRPr sz="2000" dirty="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44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expuy….onion</a:t>
                      </a:r>
                      <a:endParaRPr sz="20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/>
                        <a:t>PK</a:t>
                      </a:r>
                      <a:endParaRPr sz="2000" i="1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 dirty="0"/>
                        <a:t>I</a:t>
                      </a:r>
                      <a:r>
                        <a:rPr lang="en" sz="2000" baseline="-25000" dirty="0"/>
                        <a:t>1</a:t>
                      </a:r>
                      <a:r>
                        <a:rPr lang="en" sz="2000" dirty="0"/>
                        <a:t>, </a:t>
                      </a:r>
                      <a:r>
                        <a:rPr lang="en" sz="2000" i="1" dirty="0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lang="en" sz="2000" baseline="-25000" dirty="0">
                          <a:solidFill>
                            <a:schemeClr val="dk1"/>
                          </a:solidFill>
                        </a:rPr>
                        <a:t>2</a:t>
                      </a:r>
                      <a:endParaRPr sz="2000" baseline="-25000" dirty="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Google Shape;556;p51">
            <a:extLst>
              <a:ext uri="{FF2B5EF4-FFF2-40B4-BE49-F238E27FC236}">
                <a16:creationId xmlns:a16="http://schemas.microsoft.com/office/drawing/2014/main" id="{026CEEE4-36F8-9E8C-2350-20B94A0DA669}"/>
              </a:ext>
            </a:extLst>
          </p:cNvPr>
          <p:cNvSpPr/>
          <p:nvPr/>
        </p:nvSpPr>
        <p:spPr>
          <a:xfrm>
            <a:off x="1221912" y="1646637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Relay</a:t>
            </a:r>
            <a:endParaRPr sz="2200"/>
          </a:p>
        </p:txBody>
      </p:sp>
      <p:cxnSp>
        <p:nvCxnSpPr>
          <p:cNvPr id="23" name="Google Shape;557;p51">
            <a:extLst>
              <a:ext uri="{FF2B5EF4-FFF2-40B4-BE49-F238E27FC236}">
                <a16:creationId xmlns:a16="http://schemas.microsoft.com/office/drawing/2014/main" id="{F7CD04DA-200E-3E7F-D7AC-5B9CC5424C51}"/>
              </a:ext>
            </a:extLst>
          </p:cNvPr>
          <p:cNvCxnSpPr>
            <a:cxnSpLocks/>
            <a:stCxn id="4" idx="0"/>
            <a:endCxn id="22" idx="2"/>
          </p:cNvCxnSpPr>
          <p:nvPr/>
        </p:nvCxnSpPr>
        <p:spPr>
          <a:xfrm flipV="1">
            <a:off x="1046682" y="2040237"/>
            <a:ext cx="769590" cy="1102413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" name="Google Shape;558;p51">
            <a:extLst>
              <a:ext uri="{FF2B5EF4-FFF2-40B4-BE49-F238E27FC236}">
                <a16:creationId xmlns:a16="http://schemas.microsoft.com/office/drawing/2014/main" id="{88DEBC2D-876B-5942-F6CB-A776846A2C4E}"/>
              </a:ext>
            </a:extLst>
          </p:cNvPr>
          <p:cNvCxnSpPr>
            <a:cxnSpLocks/>
            <a:stCxn id="22" idx="3"/>
            <a:endCxn id="5" idx="1"/>
          </p:cNvCxnSpPr>
          <p:nvPr/>
        </p:nvCxnSpPr>
        <p:spPr>
          <a:xfrm>
            <a:off x="2410632" y="1843437"/>
            <a:ext cx="575918" cy="1167711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559;p51">
            <a:extLst>
              <a:ext uri="{FF2B5EF4-FFF2-40B4-BE49-F238E27FC236}">
                <a16:creationId xmlns:a16="http://schemas.microsoft.com/office/drawing/2014/main" id="{014E8D8D-6C41-3482-7F1D-F6481361A1F1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3580910" y="3207948"/>
            <a:ext cx="305290" cy="449652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560;p51">
            <a:extLst>
              <a:ext uri="{FF2B5EF4-FFF2-40B4-BE49-F238E27FC236}">
                <a16:creationId xmlns:a16="http://schemas.microsoft.com/office/drawing/2014/main" id="{E0BBBEEF-C28E-E273-566B-816255EFA946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 flipV="1">
            <a:off x="4480560" y="3137294"/>
            <a:ext cx="880614" cy="717106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A3A8164F-3441-A735-8F91-BE4BBC51D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18"/>
            <a:ext cx="10515600" cy="773907"/>
          </a:xfrm>
        </p:spPr>
        <p:txBody>
          <a:bodyPr/>
          <a:lstStyle/>
          <a:p>
            <a:r>
              <a:rPr lang="en" dirty="0"/>
              <a:t>Tor Onion Services</a:t>
            </a:r>
            <a:endParaRPr lang="en-US" dirty="0"/>
          </a:p>
        </p:txBody>
      </p:sp>
      <p:sp>
        <p:nvSpPr>
          <p:cNvPr id="2" name="Google Shape;589;p52">
            <a:extLst>
              <a:ext uri="{FF2B5EF4-FFF2-40B4-BE49-F238E27FC236}">
                <a16:creationId xmlns:a16="http://schemas.microsoft.com/office/drawing/2014/main" id="{EF698437-B0EC-18AE-62F4-F64F00C61E73}"/>
              </a:ext>
            </a:extLst>
          </p:cNvPr>
          <p:cNvSpPr txBox="1"/>
          <p:nvPr/>
        </p:nvSpPr>
        <p:spPr>
          <a:xfrm>
            <a:off x="175492" y="4896237"/>
            <a:ext cx="5525896" cy="1661963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The client chooses a </a:t>
            </a:r>
            <a:r>
              <a:rPr lang="en" sz="2400" b="1" i="1" dirty="0">
                <a:solidFill>
                  <a:srgbClr val="C00000"/>
                </a:solidFill>
              </a:rPr>
              <a:t>rendezvous point and secret</a:t>
            </a:r>
            <a:r>
              <a:rPr lang="en" sz="2400" dirty="0"/>
              <a:t>, encrypts using the public key, and sends them to the server through the introduction point</a:t>
            </a:r>
            <a:endParaRPr sz="2400" dirty="0"/>
          </a:p>
        </p:txBody>
      </p:sp>
      <p:sp>
        <p:nvSpPr>
          <p:cNvPr id="3" name="Google Shape;590;p52">
            <a:extLst>
              <a:ext uri="{FF2B5EF4-FFF2-40B4-BE49-F238E27FC236}">
                <a16:creationId xmlns:a16="http://schemas.microsoft.com/office/drawing/2014/main" id="{83BA24A6-F918-3FF5-B6F2-085A9CC4C6E4}"/>
              </a:ext>
            </a:extLst>
          </p:cNvPr>
          <p:cNvSpPr txBox="1"/>
          <p:nvPr/>
        </p:nvSpPr>
        <p:spPr>
          <a:xfrm>
            <a:off x="9040539" y="3615122"/>
            <a:ext cx="3020507" cy="861744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{“Rendezvous at </a:t>
            </a:r>
            <a:r>
              <a:rPr lang="en" sz="2200" i="1" dirty="0"/>
              <a:t>R</a:t>
            </a:r>
            <a:r>
              <a:rPr lang="en" sz="2200" dirty="0"/>
              <a:t>. The secret is </a:t>
            </a:r>
            <a:r>
              <a:rPr lang="en" sz="2200" i="1" dirty="0"/>
              <a:t>K</a:t>
            </a:r>
            <a:r>
              <a:rPr lang="en" sz="2200" dirty="0"/>
              <a:t>.”}</a:t>
            </a:r>
            <a:r>
              <a:rPr lang="en" sz="2200" i="1" dirty="0"/>
              <a:t>PK</a:t>
            </a:r>
            <a:endParaRPr sz="2200" i="1" dirty="0"/>
          </a:p>
        </p:txBody>
      </p:sp>
    </p:spTree>
    <p:extLst>
      <p:ext uri="{BB962C8B-B14F-4D97-AF65-F5344CB8AC3E}">
        <p14:creationId xmlns:p14="http://schemas.microsoft.com/office/powerpoint/2010/main" val="1815679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7;p55">
            <a:extLst>
              <a:ext uri="{FF2B5EF4-FFF2-40B4-BE49-F238E27FC236}">
                <a16:creationId xmlns:a16="http://schemas.microsoft.com/office/drawing/2014/main" id="{7DBB1312-B9DC-59D1-BD64-E055F793AD70}"/>
              </a:ext>
            </a:extLst>
          </p:cNvPr>
          <p:cNvSpPr/>
          <p:nvPr/>
        </p:nvSpPr>
        <p:spPr>
          <a:xfrm>
            <a:off x="274320" y="3145536"/>
            <a:ext cx="1536192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Client</a:t>
            </a:r>
            <a:endParaRPr sz="2200" dirty="0"/>
          </a:p>
        </p:txBody>
      </p:sp>
      <p:sp>
        <p:nvSpPr>
          <p:cNvPr id="6" name="Google Shape;658;p55">
            <a:extLst>
              <a:ext uri="{FF2B5EF4-FFF2-40B4-BE49-F238E27FC236}">
                <a16:creationId xmlns:a16="http://schemas.microsoft.com/office/drawing/2014/main" id="{1C4C7F69-500E-1936-203B-EBE7473E50E0}"/>
              </a:ext>
            </a:extLst>
          </p:cNvPr>
          <p:cNvSpPr/>
          <p:nvPr/>
        </p:nvSpPr>
        <p:spPr>
          <a:xfrm>
            <a:off x="2990088" y="2816352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Relay</a:t>
            </a:r>
            <a:endParaRPr sz="2200"/>
          </a:p>
        </p:txBody>
      </p:sp>
      <p:sp>
        <p:nvSpPr>
          <p:cNvPr id="7" name="Google Shape;659;p55">
            <a:extLst>
              <a:ext uri="{FF2B5EF4-FFF2-40B4-BE49-F238E27FC236}">
                <a16:creationId xmlns:a16="http://schemas.microsoft.com/office/drawing/2014/main" id="{0CB9A76D-3BE8-DCF5-069E-7B766180263B}"/>
              </a:ext>
            </a:extLst>
          </p:cNvPr>
          <p:cNvSpPr/>
          <p:nvPr/>
        </p:nvSpPr>
        <p:spPr>
          <a:xfrm>
            <a:off x="3291840" y="3657600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Relay</a:t>
            </a:r>
            <a:endParaRPr sz="2200"/>
          </a:p>
        </p:txBody>
      </p:sp>
      <p:sp>
        <p:nvSpPr>
          <p:cNvPr id="8" name="Google Shape;660;p55">
            <a:extLst>
              <a:ext uri="{FF2B5EF4-FFF2-40B4-BE49-F238E27FC236}">
                <a16:creationId xmlns:a16="http://schemas.microsoft.com/office/drawing/2014/main" id="{06E99D94-3B09-AAAE-E697-6215CB023FBB}"/>
              </a:ext>
            </a:extLst>
          </p:cNvPr>
          <p:cNvSpPr/>
          <p:nvPr/>
        </p:nvSpPr>
        <p:spPr>
          <a:xfrm>
            <a:off x="4764024" y="2743200"/>
            <a:ext cx="1188720" cy="393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 </a:t>
            </a:r>
            <a:r>
              <a:rPr lang="en" sz="2200" i="1" dirty="0"/>
              <a:t>I</a:t>
            </a:r>
            <a:r>
              <a:rPr lang="en" sz="2200" i="1" baseline="-25000" dirty="0"/>
              <a:t>1</a:t>
            </a:r>
            <a:endParaRPr sz="2200" i="1" baseline="-25000" dirty="0"/>
          </a:p>
        </p:txBody>
      </p:sp>
      <p:sp>
        <p:nvSpPr>
          <p:cNvPr id="9" name="Google Shape;661;p55">
            <a:extLst>
              <a:ext uri="{FF2B5EF4-FFF2-40B4-BE49-F238E27FC236}">
                <a16:creationId xmlns:a16="http://schemas.microsoft.com/office/drawing/2014/main" id="{6432B35A-D3CF-F39C-2B08-83948EC6106C}"/>
              </a:ext>
            </a:extLst>
          </p:cNvPr>
          <p:cNvSpPr/>
          <p:nvPr/>
        </p:nvSpPr>
        <p:spPr>
          <a:xfrm>
            <a:off x="4471416" y="4242816"/>
            <a:ext cx="1188720" cy="393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 </a:t>
            </a:r>
            <a:r>
              <a:rPr lang="en" sz="2200" i="1" dirty="0">
                <a:solidFill>
                  <a:schemeClr val="dk1"/>
                </a:solidFill>
              </a:rPr>
              <a:t>I</a:t>
            </a:r>
            <a:r>
              <a:rPr lang="en" sz="2200" i="1" baseline="-25000" dirty="0">
                <a:solidFill>
                  <a:schemeClr val="dk1"/>
                </a:solidFill>
              </a:rPr>
              <a:t>2</a:t>
            </a:r>
            <a:endParaRPr sz="2200" baseline="-25000" dirty="0"/>
          </a:p>
        </p:txBody>
      </p:sp>
      <p:sp>
        <p:nvSpPr>
          <p:cNvPr id="10" name="Google Shape;662;p55">
            <a:extLst>
              <a:ext uri="{FF2B5EF4-FFF2-40B4-BE49-F238E27FC236}">
                <a16:creationId xmlns:a16="http://schemas.microsoft.com/office/drawing/2014/main" id="{D2CB41B8-AC23-5661-3BE2-469A9FF70B0F}"/>
              </a:ext>
            </a:extLst>
          </p:cNvPr>
          <p:cNvSpPr/>
          <p:nvPr/>
        </p:nvSpPr>
        <p:spPr>
          <a:xfrm>
            <a:off x="6382512" y="2139696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Relay</a:t>
            </a:r>
            <a:endParaRPr sz="2200"/>
          </a:p>
        </p:txBody>
      </p:sp>
      <p:sp>
        <p:nvSpPr>
          <p:cNvPr id="11" name="Google Shape;663;p55">
            <a:extLst>
              <a:ext uri="{FF2B5EF4-FFF2-40B4-BE49-F238E27FC236}">
                <a16:creationId xmlns:a16="http://schemas.microsoft.com/office/drawing/2014/main" id="{6C02FFFF-29EF-3881-C629-F02531049861}"/>
              </a:ext>
            </a:extLst>
          </p:cNvPr>
          <p:cNvSpPr/>
          <p:nvPr/>
        </p:nvSpPr>
        <p:spPr>
          <a:xfrm>
            <a:off x="6547104" y="4123944"/>
            <a:ext cx="1188720" cy="3936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Relay </a:t>
            </a:r>
            <a:r>
              <a:rPr lang="en" sz="2200" i="1" dirty="0"/>
              <a:t>R</a:t>
            </a:r>
            <a:endParaRPr sz="2200" i="1" dirty="0"/>
          </a:p>
        </p:txBody>
      </p:sp>
      <p:sp>
        <p:nvSpPr>
          <p:cNvPr id="12" name="Google Shape;664;p55">
            <a:extLst>
              <a:ext uri="{FF2B5EF4-FFF2-40B4-BE49-F238E27FC236}">
                <a16:creationId xmlns:a16="http://schemas.microsoft.com/office/drawing/2014/main" id="{AFC70E26-A40A-B2AD-87C1-416B699879C2}"/>
              </a:ext>
            </a:extLst>
          </p:cNvPr>
          <p:cNvSpPr/>
          <p:nvPr/>
        </p:nvSpPr>
        <p:spPr>
          <a:xfrm>
            <a:off x="7717536" y="3300984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Relay</a:t>
            </a:r>
            <a:endParaRPr sz="2200"/>
          </a:p>
        </p:txBody>
      </p:sp>
      <p:sp>
        <p:nvSpPr>
          <p:cNvPr id="13" name="Google Shape;665;p55">
            <a:extLst>
              <a:ext uri="{FF2B5EF4-FFF2-40B4-BE49-F238E27FC236}">
                <a16:creationId xmlns:a16="http://schemas.microsoft.com/office/drawing/2014/main" id="{7B99B802-78A0-06A6-B2CC-5B9DE66596FB}"/>
              </a:ext>
            </a:extLst>
          </p:cNvPr>
          <p:cNvSpPr/>
          <p:nvPr/>
        </p:nvSpPr>
        <p:spPr>
          <a:xfrm>
            <a:off x="8430768" y="1773936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Relay</a:t>
            </a:r>
            <a:endParaRPr sz="2200"/>
          </a:p>
        </p:txBody>
      </p:sp>
      <p:sp>
        <p:nvSpPr>
          <p:cNvPr id="14" name="Google Shape;666;p55">
            <a:extLst>
              <a:ext uri="{FF2B5EF4-FFF2-40B4-BE49-F238E27FC236}">
                <a16:creationId xmlns:a16="http://schemas.microsoft.com/office/drawing/2014/main" id="{E8CD0048-3918-D436-9963-AEBC76798ECB}"/>
              </a:ext>
            </a:extLst>
          </p:cNvPr>
          <p:cNvSpPr/>
          <p:nvPr/>
        </p:nvSpPr>
        <p:spPr>
          <a:xfrm>
            <a:off x="10378440" y="3008376"/>
            <a:ext cx="1536192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Server</a:t>
            </a:r>
            <a:endParaRPr sz="2200"/>
          </a:p>
        </p:txBody>
      </p:sp>
      <p:sp>
        <p:nvSpPr>
          <p:cNvPr id="15" name="Google Shape;667;p55">
            <a:extLst>
              <a:ext uri="{FF2B5EF4-FFF2-40B4-BE49-F238E27FC236}">
                <a16:creationId xmlns:a16="http://schemas.microsoft.com/office/drawing/2014/main" id="{1243A816-A726-04E2-FADC-BC17FA3E3418}"/>
              </a:ext>
            </a:extLst>
          </p:cNvPr>
          <p:cNvSpPr/>
          <p:nvPr/>
        </p:nvSpPr>
        <p:spPr>
          <a:xfrm>
            <a:off x="1225296" y="1645920"/>
            <a:ext cx="1188720" cy="39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Relay</a:t>
            </a:r>
            <a:endParaRPr sz="2200"/>
          </a:p>
        </p:txBody>
      </p:sp>
      <p:cxnSp>
        <p:nvCxnSpPr>
          <p:cNvPr id="16" name="Google Shape;668;p55">
            <a:extLst>
              <a:ext uri="{FF2B5EF4-FFF2-40B4-BE49-F238E27FC236}">
                <a16:creationId xmlns:a16="http://schemas.microsoft.com/office/drawing/2014/main" id="{296F4E7E-D6C1-6FF9-CEAC-51298132A6C5}"/>
              </a:ext>
            </a:extLst>
          </p:cNvPr>
          <p:cNvCxnSpPr>
            <a:stCxn id="5" idx="0"/>
            <a:endCxn id="15" idx="2"/>
          </p:cNvCxnSpPr>
          <p:nvPr/>
        </p:nvCxnSpPr>
        <p:spPr>
          <a:xfrm flipV="1">
            <a:off x="1042416" y="2039520"/>
            <a:ext cx="777240" cy="1106016"/>
          </a:xfrm>
          <a:prstGeom prst="straightConnector1">
            <a:avLst/>
          </a:prstGeom>
          <a:noFill/>
          <a:ln w="9525" cap="flat" cmpd="sng">
            <a:solidFill>
              <a:srgbClr val="674EA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669;p55">
            <a:extLst>
              <a:ext uri="{FF2B5EF4-FFF2-40B4-BE49-F238E27FC236}">
                <a16:creationId xmlns:a16="http://schemas.microsoft.com/office/drawing/2014/main" id="{3AAF278C-E8FA-24D9-0324-4021F87139C3}"/>
              </a:ext>
            </a:extLst>
          </p:cNvPr>
          <p:cNvCxnSpPr>
            <a:cxnSpLocks/>
            <a:stCxn id="15" idx="2"/>
            <a:endCxn id="7" idx="1"/>
          </p:cNvCxnSpPr>
          <p:nvPr/>
        </p:nvCxnSpPr>
        <p:spPr>
          <a:xfrm>
            <a:off x="1819656" y="2039520"/>
            <a:ext cx="1472184" cy="1814880"/>
          </a:xfrm>
          <a:prstGeom prst="straightConnector1">
            <a:avLst/>
          </a:prstGeom>
          <a:noFill/>
          <a:ln w="9525" cap="flat" cmpd="sng">
            <a:solidFill>
              <a:srgbClr val="674EA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670;p55">
            <a:extLst>
              <a:ext uri="{FF2B5EF4-FFF2-40B4-BE49-F238E27FC236}">
                <a16:creationId xmlns:a16="http://schemas.microsoft.com/office/drawing/2014/main" id="{077D2CBF-4DFA-FE94-488A-D1D6D35BA953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4480560" y="3854400"/>
            <a:ext cx="2066544" cy="466344"/>
          </a:xfrm>
          <a:prstGeom prst="straightConnector1">
            <a:avLst/>
          </a:prstGeom>
          <a:noFill/>
          <a:ln w="9525" cap="flat" cmpd="sng">
            <a:solidFill>
              <a:srgbClr val="674EA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671;p55">
            <a:extLst>
              <a:ext uri="{FF2B5EF4-FFF2-40B4-BE49-F238E27FC236}">
                <a16:creationId xmlns:a16="http://schemas.microsoft.com/office/drawing/2014/main" id="{070F9D32-9A0F-DA81-099D-6B6299FB1433}"/>
              </a:ext>
            </a:extLst>
          </p:cNvPr>
          <p:cNvCxnSpPr>
            <a:stCxn id="14" idx="1"/>
            <a:endCxn id="13" idx="2"/>
          </p:cNvCxnSpPr>
          <p:nvPr/>
        </p:nvCxnSpPr>
        <p:spPr>
          <a:xfrm flipH="1" flipV="1">
            <a:off x="9025128" y="2167536"/>
            <a:ext cx="1353312" cy="1127190"/>
          </a:xfrm>
          <a:prstGeom prst="straightConnector1">
            <a:avLst/>
          </a:prstGeom>
          <a:noFill/>
          <a:ln w="9525" cap="flat" cmpd="sng">
            <a:solidFill>
              <a:srgbClr val="E6913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672;p55">
            <a:extLst>
              <a:ext uri="{FF2B5EF4-FFF2-40B4-BE49-F238E27FC236}">
                <a16:creationId xmlns:a16="http://schemas.microsoft.com/office/drawing/2014/main" id="{64C9F3D0-FD0B-7E6C-F617-36B014C56504}"/>
              </a:ext>
            </a:extLst>
          </p:cNvPr>
          <p:cNvCxnSpPr>
            <a:cxnSpLocks/>
            <a:stCxn id="13" idx="2"/>
            <a:endCxn id="8" idx="3"/>
          </p:cNvCxnSpPr>
          <p:nvPr/>
        </p:nvCxnSpPr>
        <p:spPr>
          <a:xfrm flipH="1">
            <a:off x="5952744" y="2167536"/>
            <a:ext cx="3072384" cy="772464"/>
          </a:xfrm>
          <a:prstGeom prst="straightConnector1">
            <a:avLst/>
          </a:prstGeom>
          <a:noFill/>
          <a:ln w="9525" cap="flat" cmpd="sng">
            <a:solidFill>
              <a:srgbClr val="E6913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" name="Google Shape;673;p55">
            <a:extLst>
              <a:ext uri="{FF2B5EF4-FFF2-40B4-BE49-F238E27FC236}">
                <a16:creationId xmlns:a16="http://schemas.microsoft.com/office/drawing/2014/main" id="{B2BE991D-CC2D-2A76-7380-F3A7904F9DBF}"/>
              </a:ext>
            </a:extLst>
          </p:cNvPr>
          <p:cNvCxnSpPr>
            <a:cxnSpLocks/>
            <a:stCxn id="8" idx="2"/>
            <a:endCxn id="12" idx="1"/>
          </p:cNvCxnSpPr>
          <p:nvPr/>
        </p:nvCxnSpPr>
        <p:spPr>
          <a:xfrm>
            <a:off x="5358384" y="3136800"/>
            <a:ext cx="2359152" cy="360984"/>
          </a:xfrm>
          <a:prstGeom prst="straightConnector1">
            <a:avLst/>
          </a:prstGeom>
          <a:noFill/>
          <a:ln w="9525" cap="flat" cmpd="sng">
            <a:solidFill>
              <a:srgbClr val="E6913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" name="Google Shape;674;p55">
            <a:extLst>
              <a:ext uri="{FF2B5EF4-FFF2-40B4-BE49-F238E27FC236}">
                <a16:creationId xmlns:a16="http://schemas.microsoft.com/office/drawing/2014/main" id="{81D4858C-3F45-54F4-2A71-332D2AB1F73C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 flipH="1">
            <a:off x="7141464" y="3694584"/>
            <a:ext cx="1170432" cy="429360"/>
          </a:xfrm>
          <a:prstGeom prst="straightConnector1">
            <a:avLst/>
          </a:prstGeom>
          <a:noFill/>
          <a:ln w="9525" cap="flat" cmpd="sng">
            <a:solidFill>
              <a:srgbClr val="E69138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Google Shape;675;p55">
            <a:extLst>
              <a:ext uri="{FF2B5EF4-FFF2-40B4-BE49-F238E27FC236}">
                <a16:creationId xmlns:a16="http://schemas.microsoft.com/office/drawing/2014/main" id="{35E2603A-798D-D8C6-B4BF-3CBB06B8C6F6}"/>
              </a:ext>
            </a:extLst>
          </p:cNvPr>
          <p:cNvSpPr txBox="1"/>
          <p:nvPr/>
        </p:nvSpPr>
        <p:spPr>
          <a:xfrm>
            <a:off x="5952743" y="4757936"/>
            <a:ext cx="4188216" cy="923299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The client connects to the </a:t>
            </a:r>
            <a:r>
              <a:rPr lang="en" sz="2400" b="1" i="1" dirty="0">
                <a:solidFill>
                  <a:srgbClr val="C00000"/>
                </a:solidFill>
              </a:rPr>
              <a:t>rendezvous point </a:t>
            </a:r>
            <a:r>
              <a:rPr lang="en" sz="2400" dirty="0"/>
              <a:t>and waits</a:t>
            </a:r>
            <a:endParaRPr sz="2400" dirty="0"/>
          </a:p>
        </p:txBody>
      </p:sp>
      <p:sp>
        <p:nvSpPr>
          <p:cNvPr id="24" name="Google Shape;676;p55">
            <a:extLst>
              <a:ext uri="{FF2B5EF4-FFF2-40B4-BE49-F238E27FC236}">
                <a16:creationId xmlns:a16="http://schemas.microsoft.com/office/drawing/2014/main" id="{E84C4FDB-5A03-3744-385B-E6E162C43B3C}"/>
              </a:ext>
            </a:extLst>
          </p:cNvPr>
          <p:cNvSpPr txBox="1"/>
          <p:nvPr/>
        </p:nvSpPr>
        <p:spPr>
          <a:xfrm>
            <a:off x="5952743" y="5856575"/>
            <a:ext cx="4188217" cy="923299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The server connects to the </a:t>
            </a:r>
            <a:r>
              <a:rPr lang="en" sz="2400" b="1" i="1" dirty="0">
                <a:solidFill>
                  <a:srgbClr val="C00000"/>
                </a:solidFill>
              </a:rPr>
              <a:t>rendezvous point</a:t>
            </a:r>
            <a:endParaRPr sz="2400" b="1" i="1" dirty="0">
              <a:solidFill>
                <a:srgbClr val="C00000"/>
              </a:solidFill>
            </a:endParaRPr>
          </a:p>
        </p:txBody>
      </p:sp>
      <p:sp>
        <p:nvSpPr>
          <p:cNvPr id="25" name="Google Shape;677;p55">
            <a:extLst>
              <a:ext uri="{FF2B5EF4-FFF2-40B4-BE49-F238E27FC236}">
                <a16:creationId xmlns:a16="http://schemas.microsoft.com/office/drawing/2014/main" id="{7ACDFF75-FD14-2E1A-C431-C158D12C1AEC}"/>
              </a:ext>
            </a:extLst>
          </p:cNvPr>
          <p:cNvSpPr txBox="1"/>
          <p:nvPr/>
        </p:nvSpPr>
        <p:spPr>
          <a:xfrm>
            <a:off x="9125528" y="3688326"/>
            <a:ext cx="2846152" cy="861744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{“Rendezvous at </a:t>
            </a:r>
            <a:r>
              <a:rPr lang="en" sz="2200" i="1" dirty="0"/>
              <a:t>R</a:t>
            </a:r>
            <a:r>
              <a:rPr lang="en" sz="2200" dirty="0"/>
              <a:t>. The secret is </a:t>
            </a:r>
            <a:r>
              <a:rPr lang="en" sz="2200" i="1" dirty="0"/>
              <a:t>K</a:t>
            </a:r>
            <a:r>
              <a:rPr lang="en" sz="2200" dirty="0"/>
              <a:t>.”}</a:t>
            </a:r>
            <a:r>
              <a:rPr lang="en" sz="2200" i="1" dirty="0"/>
              <a:t>PK</a:t>
            </a:r>
            <a:endParaRPr sz="2200" i="1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3E6212A-8D50-B2A1-E68F-8F930CA97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18"/>
            <a:ext cx="10515600" cy="773907"/>
          </a:xfrm>
        </p:spPr>
        <p:txBody>
          <a:bodyPr/>
          <a:lstStyle/>
          <a:p>
            <a:r>
              <a:rPr lang="en" dirty="0"/>
              <a:t>Tor Onion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510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702;p56">
            <a:extLst>
              <a:ext uri="{FF2B5EF4-FFF2-40B4-BE49-F238E27FC236}">
                <a16:creationId xmlns:a16="http://schemas.microsoft.com/office/drawing/2014/main" id="{74561512-0AB6-7DD3-5427-3D28BEC78E90}"/>
              </a:ext>
            </a:extLst>
          </p:cNvPr>
          <p:cNvSpPr txBox="1"/>
          <p:nvPr/>
        </p:nvSpPr>
        <p:spPr>
          <a:xfrm>
            <a:off x="9159947" y="3673916"/>
            <a:ext cx="2983285" cy="923299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The secret that was encrypted is </a:t>
            </a:r>
            <a:r>
              <a:rPr lang="en" sz="2400" i="1" dirty="0"/>
              <a:t>K</a:t>
            </a:r>
            <a:endParaRPr sz="2400" dirty="0"/>
          </a:p>
        </p:txBody>
      </p:sp>
      <p:sp>
        <p:nvSpPr>
          <p:cNvPr id="24" name="Google Shape;703;p56">
            <a:extLst>
              <a:ext uri="{FF2B5EF4-FFF2-40B4-BE49-F238E27FC236}">
                <a16:creationId xmlns:a16="http://schemas.microsoft.com/office/drawing/2014/main" id="{08114C21-E6EE-C16D-9278-DA5D95A0D7A8}"/>
              </a:ext>
            </a:extLst>
          </p:cNvPr>
          <p:cNvSpPr txBox="1"/>
          <p:nvPr/>
        </p:nvSpPr>
        <p:spPr>
          <a:xfrm>
            <a:off x="274320" y="5145380"/>
            <a:ext cx="4646477" cy="1292631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The client and server perform a handshake, and the server sends the decrypted secret</a:t>
            </a:r>
            <a:endParaRPr sz="2400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6952687-A568-EBBB-6367-511CC9C71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18"/>
            <a:ext cx="10515600" cy="773907"/>
          </a:xfrm>
        </p:spPr>
        <p:txBody>
          <a:bodyPr/>
          <a:lstStyle/>
          <a:p>
            <a:r>
              <a:rPr lang="en" dirty="0"/>
              <a:t>Tor Onion Services</a:t>
            </a:r>
            <a:endParaRPr lang="en-US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46AAD2F-958B-F1B5-B72B-79D50AB046E8}"/>
              </a:ext>
            </a:extLst>
          </p:cNvPr>
          <p:cNvGrpSpPr/>
          <p:nvPr/>
        </p:nvGrpSpPr>
        <p:grpSpPr>
          <a:xfrm>
            <a:off x="274320" y="1645920"/>
            <a:ext cx="11640312" cy="2990496"/>
            <a:chOff x="274320" y="1645920"/>
            <a:chExt cx="11640312" cy="2990496"/>
          </a:xfrm>
        </p:grpSpPr>
        <p:sp>
          <p:nvSpPr>
            <p:cNvPr id="2" name="Google Shape;657;p55">
              <a:extLst>
                <a:ext uri="{FF2B5EF4-FFF2-40B4-BE49-F238E27FC236}">
                  <a16:creationId xmlns:a16="http://schemas.microsoft.com/office/drawing/2014/main" id="{2493F982-3071-4C19-920A-316291B8BC27}"/>
                </a:ext>
              </a:extLst>
            </p:cNvPr>
            <p:cNvSpPr/>
            <p:nvPr/>
          </p:nvSpPr>
          <p:spPr>
            <a:xfrm>
              <a:off x="274320" y="3145536"/>
              <a:ext cx="1536192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Client</a:t>
              </a:r>
              <a:endParaRPr sz="2200" dirty="0"/>
            </a:p>
          </p:txBody>
        </p:sp>
        <p:sp>
          <p:nvSpPr>
            <p:cNvPr id="3" name="Google Shape;658;p55">
              <a:extLst>
                <a:ext uri="{FF2B5EF4-FFF2-40B4-BE49-F238E27FC236}">
                  <a16:creationId xmlns:a16="http://schemas.microsoft.com/office/drawing/2014/main" id="{F2B7DC7E-235E-3118-BE8A-900DD396894E}"/>
                </a:ext>
              </a:extLst>
            </p:cNvPr>
            <p:cNvSpPr/>
            <p:nvPr/>
          </p:nvSpPr>
          <p:spPr>
            <a:xfrm>
              <a:off x="2990088" y="2816352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4" name="Google Shape;659;p55">
              <a:extLst>
                <a:ext uri="{FF2B5EF4-FFF2-40B4-BE49-F238E27FC236}">
                  <a16:creationId xmlns:a16="http://schemas.microsoft.com/office/drawing/2014/main" id="{1200C489-8EEB-5CF7-9734-71DB63D4FD70}"/>
                </a:ext>
              </a:extLst>
            </p:cNvPr>
            <p:cNvSpPr/>
            <p:nvPr/>
          </p:nvSpPr>
          <p:spPr>
            <a:xfrm>
              <a:off x="3291840" y="3657600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26" name="Google Shape;660;p55">
              <a:extLst>
                <a:ext uri="{FF2B5EF4-FFF2-40B4-BE49-F238E27FC236}">
                  <a16:creationId xmlns:a16="http://schemas.microsoft.com/office/drawing/2014/main" id="{7FD5E8D3-8983-A678-C94A-BAC7B8893C24}"/>
                </a:ext>
              </a:extLst>
            </p:cNvPr>
            <p:cNvSpPr/>
            <p:nvPr/>
          </p:nvSpPr>
          <p:spPr>
            <a:xfrm>
              <a:off x="4764024" y="2743200"/>
              <a:ext cx="1188720" cy="393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Relay </a:t>
              </a:r>
              <a:r>
                <a:rPr lang="en" sz="2200" i="1" dirty="0"/>
                <a:t>I</a:t>
              </a:r>
              <a:r>
                <a:rPr lang="en" sz="2200" i="1" baseline="-25000" dirty="0"/>
                <a:t>1</a:t>
              </a:r>
              <a:endParaRPr sz="2200" i="1" baseline="-25000" dirty="0"/>
            </a:p>
          </p:txBody>
        </p:sp>
        <p:sp>
          <p:nvSpPr>
            <p:cNvPr id="27" name="Google Shape;661;p55">
              <a:extLst>
                <a:ext uri="{FF2B5EF4-FFF2-40B4-BE49-F238E27FC236}">
                  <a16:creationId xmlns:a16="http://schemas.microsoft.com/office/drawing/2014/main" id="{A0A7B07E-ABB4-2E1B-C639-C2C4626C7EE2}"/>
                </a:ext>
              </a:extLst>
            </p:cNvPr>
            <p:cNvSpPr/>
            <p:nvPr/>
          </p:nvSpPr>
          <p:spPr>
            <a:xfrm>
              <a:off x="4471416" y="4242816"/>
              <a:ext cx="1188720" cy="393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Relay </a:t>
              </a:r>
              <a:r>
                <a:rPr lang="en" sz="2200" i="1" dirty="0">
                  <a:solidFill>
                    <a:schemeClr val="dk1"/>
                  </a:solidFill>
                </a:rPr>
                <a:t>I</a:t>
              </a:r>
              <a:r>
                <a:rPr lang="en" sz="2200" i="1" baseline="-25000" dirty="0">
                  <a:solidFill>
                    <a:schemeClr val="dk1"/>
                  </a:solidFill>
                </a:rPr>
                <a:t>2</a:t>
              </a:r>
              <a:endParaRPr sz="2200" baseline="-25000" dirty="0"/>
            </a:p>
          </p:txBody>
        </p:sp>
        <p:sp>
          <p:nvSpPr>
            <p:cNvPr id="28" name="Google Shape;662;p55">
              <a:extLst>
                <a:ext uri="{FF2B5EF4-FFF2-40B4-BE49-F238E27FC236}">
                  <a16:creationId xmlns:a16="http://schemas.microsoft.com/office/drawing/2014/main" id="{BCD9C48D-2015-92B9-0154-83BA7CD7060C}"/>
                </a:ext>
              </a:extLst>
            </p:cNvPr>
            <p:cNvSpPr/>
            <p:nvPr/>
          </p:nvSpPr>
          <p:spPr>
            <a:xfrm>
              <a:off x="6382512" y="2139696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29" name="Google Shape;663;p55">
              <a:extLst>
                <a:ext uri="{FF2B5EF4-FFF2-40B4-BE49-F238E27FC236}">
                  <a16:creationId xmlns:a16="http://schemas.microsoft.com/office/drawing/2014/main" id="{25AB8178-B1E1-2E3F-4A44-95F8C389D37A}"/>
                </a:ext>
              </a:extLst>
            </p:cNvPr>
            <p:cNvSpPr/>
            <p:nvPr/>
          </p:nvSpPr>
          <p:spPr>
            <a:xfrm>
              <a:off x="6547104" y="4123944"/>
              <a:ext cx="1188720" cy="393600"/>
            </a:xfrm>
            <a:prstGeom prst="rect">
              <a:avLst/>
            </a:prstGeom>
            <a:solidFill>
              <a:srgbClr val="D9D2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Relay </a:t>
              </a:r>
              <a:r>
                <a:rPr lang="en" sz="2200" i="1" dirty="0"/>
                <a:t>R</a:t>
              </a:r>
              <a:endParaRPr sz="2200" i="1" dirty="0"/>
            </a:p>
          </p:txBody>
        </p:sp>
        <p:sp>
          <p:nvSpPr>
            <p:cNvPr id="30" name="Google Shape;664;p55">
              <a:extLst>
                <a:ext uri="{FF2B5EF4-FFF2-40B4-BE49-F238E27FC236}">
                  <a16:creationId xmlns:a16="http://schemas.microsoft.com/office/drawing/2014/main" id="{E43A1827-9866-28C3-001B-BA59525858E6}"/>
                </a:ext>
              </a:extLst>
            </p:cNvPr>
            <p:cNvSpPr/>
            <p:nvPr/>
          </p:nvSpPr>
          <p:spPr>
            <a:xfrm>
              <a:off x="7717536" y="3300984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31" name="Google Shape;665;p55">
              <a:extLst>
                <a:ext uri="{FF2B5EF4-FFF2-40B4-BE49-F238E27FC236}">
                  <a16:creationId xmlns:a16="http://schemas.microsoft.com/office/drawing/2014/main" id="{585B6141-60C8-4A75-024F-8CB78CA80B62}"/>
                </a:ext>
              </a:extLst>
            </p:cNvPr>
            <p:cNvSpPr/>
            <p:nvPr/>
          </p:nvSpPr>
          <p:spPr>
            <a:xfrm>
              <a:off x="8430768" y="1773936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32" name="Google Shape;666;p55">
              <a:extLst>
                <a:ext uri="{FF2B5EF4-FFF2-40B4-BE49-F238E27FC236}">
                  <a16:creationId xmlns:a16="http://schemas.microsoft.com/office/drawing/2014/main" id="{C14F22F6-AD28-07E7-DDC3-1D7962B5589D}"/>
                </a:ext>
              </a:extLst>
            </p:cNvPr>
            <p:cNvSpPr/>
            <p:nvPr/>
          </p:nvSpPr>
          <p:spPr>
            <a:xfrm>
              <a:off x="10378440" y="3008376"/>
              <a:ext cx="1536192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Server</a:t>
              </a:r>
              <a:endParaRPr sz="2200"/>
            </a:p>
          </p:txBody>
        </p:sp>
        <p:sp>
          <p:nvSpPr>
            <p:cNvPr id="33" name="Google Shape;667;p55">
              <a:extLst>
                <a:ext uri="{FF2B5EF4-FFF2-40B4-BE49-F238E27FC236}">
                  <a16:creationId xmlns:a16="http://schemas.microsoft.com/office/drawing/2014/main" id="{F13C3254-5B4D-F68A-469B-484122F742B4}"/>
                </a:ext>
              </a:extLst>
            </p:cNvPr>
            <p:cNvSpPr/>
            <p:nvPr/>
          </p:nvSpPr>
          <p:spPr>
            <a:xfrm>
              <a:off x="1225296" y="1645920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cxnSp>
          <p:nvCxnSpPr>
            <p:cNvPr id="34" name="Google Shape;668;p55">
              <a:extLst>
                <a:ext uri="{FF2B5EF4-FFF2-40B4-BE49-F238E27FC236}">
                  <a16:creationId xmlns:a16="http://schemas.microsoft.com/office/drawing/2014/main" id="{9BEB6133-3F7C-D036-CB37-50C7C4FF081F}"/>
                </a:ext>
              </a:extLst>
            </p:cNvPr>
            <p:cNvCxnSpPr>
              <a:stCxn id="2" idx="0"/>
              <a:endCxn id="33" idx="2"/>
            </p:cNvCxnSpPr>
            <p:nvPr/>
          </p:nvCxnSpPr>
          <p:spPr>
            <a:xfrm flipV="1">
              <a:off x="1042416" y="2039520"/>
              <a:ext cx="777240" cy="1106016"/>
            </a:xfrm>
            <a:prstGeom prst="straightConnector1">
              <a:avLst/>
            </a:prstGeom>
            <a:noFill/>
            <a:ln w="9525" cap="flat" cmpd="sng">
              <a:solidFill>
                <a:srgbClr val="674EA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" name="Google Shape;669;p55">
              <a:extLst>
                <a:ext uri="{FF2B5EF4-FFF2-40B4-BE49-F238E27FC236}">
                  <a16:creationId xmlns:a16="http://schemas.microsoft.com/office/drawing/2014/main" id="{07294742-A89F-B865-D093-8EFFAC82958C}"/>
                </a:ext>
              </a:extLst>
            </p:cNvPr>
            <p:cNvCxnSpPr>
              <a:cxnSpLocks/>
              <a:stCxn id="33" idx="2"/>
              <a:endCxn id="4" idx="1"/>
            </p:cNvCxnSpPr>
            <p:nvPr/>
          </p:nvCxnSpPr>
          <p:spPr>
            <a:xfrm>
              <a:off x="1819656" y="2039520"/>
              <a:ext cx="1472184" cy="1814880"/>
            </a:xfrm>
            <a:prstGeom prst="straightConnector1">
              <a:avLst/>
            </a:prstGeom>
            <a:noFill/>
            <a:ln w="9525" cap="flat" cmpd="sng">
              <a:solidFill>
                <a:srgbClr val="674EA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6" name="Google Shape;670;p55">
              <a:extLst>
                <a:ext uri="{FF2B5EF4-FFF2-40B4-BE49-F238E27FC236}">
                  <a16:creationId xmlns:a16="http://schemas.microsoft.com/office/drawing/2014/main" id="{009A3928-6165-4ED8-94F0-4FB2614D7E97}"/>
                </a:ext>
              </a:extLst>
            </p:cNvPr>
            <p:cNvCxnSpPr>
              <a:cxnSpLocks/>
              <a:stCxn id="4" idx="3"/>
              <a:endCxn id="29" idx="1"/>
            </p:cNvCxnSpPr>
            <p:nvPr/>
          </p:nvCxnSpPr>
          <p:spPr>
            <a:xfrm>
              <a:off x="4480560" y="3854400"/>
              <a:ext cx="2066544" cy="466344"/>
            </a:xfrm>
            <a:prstGeom prst="straightConnector1">
              <a:avLst/>
            </a:prstGeom>
            <a:noFill/>
            <a:ln w="9525" cap="flat" cmpd="sng">
              <a:solidFill>
                <a:srgbClr val="674EA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7" name="Google Shape;671;p55">
              <a:extLst>
                <a:ext uri="{FF2B5EF4-FFF2-40B4-BE49-F238E27FC236}">
                  <a16:creationId xmlns:a16="http://schemas.microsoft.com/office/drawing/2014/main" id="{CE30E3C5-06C9-E7CC-3D09-ECD630B2A264}"/>
                </a:ext>
              </a:extLst>
            </p:cNvPr>
            <p:cNvCxnSpPr>
              <a:stCxn id="32" idx="1"/>
              <a:endCxn id="31" idx="2"/>
            </p:cNvCxnSpPr>
            <p:nvPr/>
          </p:nvCxnSpPr>
          <p:spPr>
            <a:xfrm flipH="1" flipV="1">
              <a:off x="9025128" y="2167536"/>
              <a:ext cx="1353312" cy="1127190"/>
            </a:xfrm>
            <a:prstGeom prst="straightConnector1">
              <a:avLst/>
            </a:prstGeom>
            <a:noFill/>
            <a:ln w="9525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" name="Google Shape;672;p55">
              <a:extLst>
                <a:ext uri="{FF2B5EF4-FFF2-40B4-BE49-F238E27FC236}">
                  <a16:creationId xmlns:a16="http://schemas.microsoft.com/office/drawing/2014/main" id="{39BBE4E9-E140-10BD-32C3-37BD9F7802BE}"/>
                </a:ext>
              </a:extLst>
            </p:cNvPr>
            <p:cNvCxnSpPr>
              <a:cxnSpLocks/>
              <a:stCxn id="31" idx="2"/>
              <a:endCxn id="26" idx="3"/>
            </p:cNvCxnSpPr>
            <p:nvPr/>
          </p:nvCxnSpPr>
          <p:spPr>
            <a:xfrm flipH="1">
              <a:off x="5952744" y="2167536"/>
              <a:ext cx="3072384" cy="772464"/>
            </a:xfrm>
            <a:prstGeom prst="straightConnector1">
              <a:avLst/>
            </a:prstGeom>
            <a:noFill/>
            <a:ln w="9525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9" name="Google Shape;673;p55">
              <a:extLst>
                <a:ext uri="{FF2B5EF4-FFF2-40B4-BE49-F238E27FC236}">
                  <a16:creationId xmlns:a16="http://schemas.microsoft.com/office/drawing/2014/main" id="{C25E704B-0967-6279-D0F0-107F3598A3BF}"/>
                </a:ext>
              </a:extLst>
            </p:cNvPr>
            <p:cNvCxnSpPr>
              <a:cxnSpLocks/>
              <a:stCxn id="26" idx="2"/>
              <a:endCxn id="30" idx="1"/>
            </p:cNvCxnSpPr>
            <p:nvPr/>
          </p:nvCxnSpPr>
          <p:spPr>
            <a:xfrm>
              <a:off x="5358384" y="3136800"/>
              <a:ext cx="2359152" cy="360984"/>
            </a:xfrm>
            <a:prstGeom prst="straightConnector1">
              <a:avLst/>
            </a:prstGeom>
            <a:noFill/>
            <a:ln w="9525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" name="Google Shape;674;p55">
              <a:extLst>
                <a:ext uri="{FF2B5EF4-FFF2-40B4-BE49-F238E27FC236}">
                  <a16:creationId xmlns:a16="http://schemas.microsoft.com/office/drawing/2014/main" id="{9E414C0A-896A-7C6C-8CF2-F352331520D0}"/>
                </a:ext>
              </a:extLst>
            </p:cNvPr>
            <p:cNvCxnSpPr>
              <a:cxnSpLocks/>
              <a:stCxn id="30" idx="2"/>
              <a:endCxn id="29" idx="0"/>
            </p:cNvCxnSpPr>
            <p:nvPr/>
          </p:nvCxnSpPr>
          <p:spPr>
            <a:xfrm flipH="1">
              <a:off x="7141464" y="3694584"/>
              <a:ext cx="1170432" cy="429360"/>
            </a:xfrm>
            <a:prstGeom prst="straightConnector1">
              <a:avLst/>
            </a:prstGeom>
            <a:noFill/>
            <a:ln w="9525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23442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BDCC5-A606-4C9F-2B9A-6727D6A2B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702;p56">
            <a:extLst>
              <a:ext uri="{FF2B5EF4-FFF2-40B4-BE49-F238E27FC236}">
                <a16:creationId xmlns:a16="http://schemas.microsoft.com/office/drawing/2014/main" id="{317EF4B6-AB6E-E7DC-65A2-81DB3DC36815}"/>
              </a:ext>
            </a:extLst>
          </p:cNvPr>
          <p:cNvSpPr txBox="1"/>
          <p:nvPr/>
        </p:nvSpPr>
        <p:spPr>
          <a:xfrm>
            <a:off x="6547104" y="4622461"/>
            <a:ext cx="2983285" cy="923299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The secret that was encrypted is </a:t>
            </a:r>
            <a:r>
              <a:rPr lang="en" sz="2400" i="1" dirty="0"/>
              <a:t>K</a:t>
            </a:r>
            <a:endParaRPr sz="2400" dirty="0"/>
          </a:p>
        </p:txBody>
      </p:sp>
      <p:sp>
        <p:nvSpPr>
          <p:cNvPr id="24" name="Google Shape;703;p56">
            <a:extLst>
              <a:ext uri="{FF2B5EF4-FFF2-40B4-BE49-F238E27FC236}">
                <a16:creationId xmlns:a16="http://schemas.microsoft.com/office/drawing/2014/main" id="{F4C77FD5-03AB-BD67-40B2-7F9CC9709623}"/>
              </a:ext>
            </a:extLst>
          </p:cNvPr>
          <p:cNvSpPr txBox="1"/>
          <p:nvPr/>
        </p:nvSpPr>
        <p:spPr>
          <a:xfrm>
            <a:off x="274320" y="5145380"/>
            <a:ext cx="4646477" cy="1292631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The client and server perform a handshake, and the server sends the decrypted secret</a:t>
            </a:r>
            <a:endParaRPr sz="2400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589435F-7614-6304-C743-0D28BA87B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18"/>
            <a:ext cx="10515600" cy="773907"/>
          </a:xfrm>
        </p:spPr>
        <p:txBody>
          <a:bodyPr/>
          <a:lstStyle/>
          <a:p>
            <a:r>
              <a:rPr lang="en" dirty="0"/>
              <a:t>Tor Onion Services</a:t>
            </a:r>
            <a:endParaRPr lang="en-US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4A51E0F-BFBD-713B-7C34-473AC905723A}"/>
              </a:ext>
            </a:extLst>
          </p:cNvPr>
          <p:cNvGrpSpPr/>
          <p:nvPr/>
        </p:nvGrpSpPr>
        <p:grpSpPr>
          <a:xfrm>
            <a:off x="274320" y="1645920"/>
            <a:ext cx="11640312" cy="2990496"/>
            <a:chOff x="274320" y="1645920"/>
            <a:chExt cx="11640312" cy="2990496"/>
          </a:xfrm>
        </p:grpSpPr>
        <p:sp>
          <p:nvSpPr>
            <p:cNvPr id="2" name="Google Shape;657;p55">
              <a:extLst>
                <a:ext uri="{FF2B5EF4-FFF2-40B4-BE49-F238E27FC236}">
                  <a16:creationId xmlns:a16="http://schemas.microsoft.com/office/drawing/2014/main" id="{7CB01D40-0E5A-7B0B-1050-9D2A1B746BF2}"/>
                </a:ext>
              </a:extLst>
            </p:cNvPr>
            <p:cNvSpPr/>
            <p:nvPr/>
          </p:nvSpPr>
          <p:spPr>
            <a:xfrm>
              <a:off x="274320" y="3145536"/>
              <a:ext cx="1536192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Client</a:t>
              </a:r>
              <a:endParaRPr sz="2200" dirty="0"/>
            </a:p>
          </p:txBody>
        </p:sp>
        <p:sp>
          <p:nvSpPr>
            <p:cNvPr id="3" name="Google Shape;658;p55">
              <a:extLst>
                <a:ext uri="{FF2B5EF4-FFF2-40B4-BE49-F238E27FC236}">
                  <a16:creationId xmlns:a16="http://schemas.microsoft.com/office/drawing/2014/main" id="{57396C8C-2C83-E7EF-F58C-8C2F27E3342D}"/>
                </a:ext>
              </a:extLst>
            </p:cNvPr>
            <p:cNvSpPr/>
            <p:nvPr/>
          </p:nvSpPr>
          <p:spPr>
            <a:xfrm>
              <a:off x="2990088" y="2816352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4" name="Google Shape;659;p55">
              <a:extLst>
                <a:ext uri="{FF2B5EF4-FFF2-40B4-BE49-F238E27FC236}">
                  <a16:creationId xmlns:a16="http://schemas.microsoft.com/office/drawing/2014/main" id="{4CA6415C-46C6-7442-2147-341B0E68242F}"/>
                </a:ext>
              </a:extLst>
            </p:cNvPr>
            <p:cNvSpPr/>
            <p:nvPr/>
          </p:nvSpPr>
          <p:spPr>
            <a:xfrm>
              <a:off x="3291840" y="3657600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26" name="Google Shape;660;p55">
              <a:extLst>
                <a:ext uri="{FF2B5EF4-FFF2-40B4-BE49-F238E27FC236}">
                  <a16:creationId xmlns:a16="http://schemas.microsoft.com/office/drawing/2014/main" id="{01C99E67-D552-92A8-C443-3872B726C895}"/>
                </a:ext>
              </a:extLst>
            </p:cNvPr>
            <p:cNvSpPr/>
            <p:nvPr/>
          </p:nvSpPr>
          <p:spPr>
            <a:xfrm>
              <a:off x="4764024" y="2743200"/>
              <a:ext cx="1188720" cy="393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Relay </a:t>
              </a:r>
              <a:r>
                <a:rPr lang="en" sz="2200" i="1" dirty="0"/>
                <a:t>I</a:t>
              </a:r>
              <a:r>
                <a:rPr lang="en" sz="2200" i="1" baseline="-25000" dirty="0"/>
                <a:t>1</a:t>
              </a:r>
              <a:endParaRPr sz="2200" i="1" baseline="-25000" dirty="0"/>
            </a:p>
          </p:txBody>
        </p:sp>
        <p:sp>
          <p:nvSpPr>
            <p:cNvPr id="27" name="Google Shape;661;p55">
              <a:extLst>
                <a:ext uri="{FF2B5EF4-FFF2-40B4-BE49-F238E27FC236}">
                  <a16:creationId xmlns:a16="http://schemas.microsoft.com/office/drawing/2014/main" id="{56900EE0-2167-FE63-EF79-018DE34712BF}"/>
                </a:ext>
              </a:extLst>
            </p:cNvPr>
            <p:cNvSpPr/>
            <p:nvPr/>
          </p:nvSpPr>
          <p:spPr>
            <a:xfrm>
              <a:off x="4471416" y="4242816"/>
              <a:ext cx="1188720" cy="393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Relay </a:t>
              </a:r>
              <a:r>
                <a:rPr lang="en" sz="2200" i="1" dirty="0">
                  <a:solidFill>
                    <a:schemeClr val="dk1"/>
                  </a:solidFill>
                </a:rPr>
                <a:t>I</a:t>
              </a:r>
              <a:r>
                <a:rPr lang="en" sz="2200" i="1" baseline="-25000" dirty="0">
                  <a:solidFill>
                    <a:schemeClr val="dk1"/>
                  </a:solidFill>
                </a:rPr>
                <a:t>2</a:t>
              </a:r>
              <a:endParaRPr sz="2200" baseline="-25000" dirty="0"/>
            </a:p>
          </p:txBody>
        </p:sp>
        <p:sp>
          <p:nvSpPr>
            <p:cNvPr id="28" name="Google Shape;662;p55">
              <a:extLst>
                <a:ext uri="{FF2B5EF4-FFF2-40B4-BE49-F238E27FC236}">
                  <a16:creationId xmlns:a16="http://schemas.microsoft.com/office/drawing/2014/main" id="{42763A2A-3163-DBF7-7F24-FF9CC2C7A54F}"/>
                </a:ext>
              </a:extLst>
            </p:cNvPr>
            <p:cNvSpPr/>
            <p:nvPr/>
          </p:nvSpPr>
          <p:spPr>
            <a:xfrm>
              <a:off x="6382512" y="2139696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29" name="Google Shape;663;p55">
              <a:extLst>
                <a:ext uri="{FF2B5EF4-FFF2-40B4-BE49-F238E27FC236}">
                  <a16:creationId xmlns:a16="http://schemas.microsoft.com/office/drawing/2014/main" id="{7290982F-8A44-A6DC-E1E4-31C3312FE4CC}"/>
                </a:ext>
              </a:extLst>
            </p:cNvPr>
            <p:cNvSpPr/>
            <p:nvPr/>
          </p:nvSpPr>
          <p:spPr>
            <a:xfrm>
              <a:off x="6547104" y="4123944"/>
              <a:ext cx="1188720" cy="393600"/>
            </a:xfrm>
            <a:prstGeom prst="rect">
              <a:avLst/>
            </a:prstGeom>
            <a:solidFill>
              <a:srgbClr val="D9D2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Relay </a:t>
              </a:r>
              <a:r>
                <a:rPr lang="en" sz="2200" i="1" dirty="0"/>
                <a:t>R</a:t>
              </a:r>
              <a:endParaRPr sz="2200" i="1" dirty="0"/>
            </a:p>
          </p:txBody>
        </p:sp>
        <p:sp>
          <p:nvSpPr>
            <p:cNvPr id="30" name="Google Shape;664;p55">
              <a:extLst>
                <a:ext uri="{FF2B5EF4-FFF2-40B4-BE49-F238E27FC236}">
                  <a16:creationId xmlns:a16="http://schemas.microsoft.com/office/drawing/2014/main" id="{6121F76B-2E73-CE06-8684-77B993E5B7ED}"/>
                </a:ext>
              </a:extLst>
            </p:cNvPr>
            <p:cNvSpPr/>
            <p:nvPr/>
          </p:nvSpPr>
          <p:spPr>
            <a:xfrm>
              <a:off x="7717536" y="3300984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31" name="Google Shape;665;p55">
              <a:extLst>
                <a:ext uri="{FF2B5EF4-FFF2-40B4-BE49-F238E27FC236}">
                  <a16:creationId xmlns:a16="http://schemas.microsoft.com/office/drawing/2014/main" id="{BC76104B-93FA-B6D5-EF55-3F22D74BFAEC}"/>
                </a:ext>
              </a:extLst>
            </p:cNvPr>
            <p:cNvSpPr/>
            <p:nvPr/>
          </p:nvSpPr>
          <p:spPr>
            <a:xfrm>
              <a:off x="8430768" y="1773936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32" name="Google Shape;666;p55">
              <a:extLst>
                <a:ext uri="{FF2B5EF4-FFF2-40B4-BE49-F238E27FC236}">
                  <a16:creationId xmlns:a16="http://schemas.microsoft.com/office/drawing/2014/main" id="{ACC8664F-0D14-8361-322A-A4910B65C7DD}"/>
                </a:ext>
              </a:extLst>
            </p:cNvPr>
            <p:cNvSpPr/>
            <p:nvPr/>
          </p:nvSpPr>
          <p:spPr>
            <a:xfrm>
              <a:off x="10378440" y="3008376"/>
              <a:ext cx="1536192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Server</a:t>
              </a:r>
              <a:endParaRPr sz="2200"/>
            </a:p>
          </p:txBody>
        </p:sp>
        <p:sp>
          <p:nvSpPr>
            <p:cNvPr id="33" name="Google Shape;667;p55">
              <a:extLst>
                <a:ext uri="{FF2B5EF4-FFF2-40B4-BE49-F238E27FC236}">
                  <a16:creationId xmlns:a16="http://schemas.microsoft.com/office/drawing/2014/main" id="{33306A1A-BBCF-1C17-A897-F6BD27BE2B7C}"/>
                </a:ext>
              </a:extLst>
            </p:cNvPr>
            <p:cNvSpPr/>
            <p:nvPr/>
          </p:nvSpPr>
          <p:spPr>
            <a:xfrm>
              <a:off x="1225296" y="1645920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cxnSp>
          <p:nvCxnSpPr>
            <p:cNvPr id="34" name="Google Shape;668;p55">
              <a:extLst>
                <a:ext uri="{FF2B5EF4-FFF2-40B4-BE49-F238E27FC236}">
                  <a16:creationId xmlns:a16="http://schemas.microsoft.com/office/drawing/2014/main" id="{DF09CA59-7EFA-DAAE-D46C-77584DD04407}"/>
                </a:ext>
              </a:extLst>
            </p:cNvPr>
            <p:cNvCxnSpPr>
              <a:stCxn id="2" idx="0"/>
              <a:endCxn id="33" idx="2"/>
            </p:cNvCxnSpPr>
            <p:nvPr/>
          </p:nvCxnSpPr>
          <p:spPr>
            <a:xfrm flipV="1">
              <a:off x="1042416" y="2039520"/>
              <a:ext cx="777240" cy="1106016"/>
            </a:xfrm>
            <a:prstGeom prst="straightConnector1">
              <a:avLst/>
            </a:prstGeom>
            <a:noFill/>
            <a:ln w="9525" cap="flat" cmpd="sng">
              <a:solidFill>
                <a:srgbClr val="674EA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" name="Google Shape;669;p55">
              <a:extLst>
                <a:ext uri="{FF2B5EF4-FFF2-40B4-BE49-F238E27FC236}">
                  <a16:creationId xmlns:a16="http://schemas.microsoft.com/office/drawing/2014/main" id="{DD8B4CA2-0FE6-1288-2D4B-98069AEEAB4A}"/>
                </a:ext>
              </a:extLst>
            </p:cNvPr>
            <p:cNvCxnSpPr>
              <a:cxnSpLocks/>
              <a:stCxn id="33" idx="2"/>
              <a:endCxn id="4" idx="1"/>
            </p:cNvCxnSpPr>
            <p:nvPr/>
          </p:nvCxnSpPr>
          <p:spPr>
            <a:xfrm>
              <a:off x="1819656" y="2039520"/>
              <a:ext cx="1472184" cy="1814880"/>
            </a:xfrm>
            <a:prstGeom prst="straightConnector1">
              <a:avLst/>
            </a:prstGeom>
            <a:noFill/>
            <a:ln w="9525" cap="flat" cmpd="sng">
              <a:solidFill>
                <a:srgbClr val="674EA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6" name="Google Shape;670;p55">
              <a:extLst>
                <a:ext uri="{FF2B5EF4-FFF2-40B4-BE49-F238E27FC236}">
                  <a16:creationId xmlns:a16="http://schemas.microsoft.com/office/drawing/2014/main" id="{B3DF2BAC-4A03-4497-52B3-7D905C221D36}"/>
                </a:ext>
              </a:extLst>
            </p:cNvPr>
            <p:cNvCxnSpPr>
              <a:cxnSpLocks/>
              <a:stCxn id="4" idx="3"/>
              <a:endCxn id="29" idx="1"/>
            </p:cNvCxnSpPr>
            <p:nvPr/>
          </p:nvCxnSpPr>
          <p:spPr>
            <a:xfrm>
              <a:off x="4480560" y="3854400"/>
              <a:ext cx="2066544" cy="466344"/>
            </a:xfrm>
            <a:prstGeom prst="straightConnector1">
              <a:avLst/>
            </a:prstGeom>
            <a:noFill/>
            <a:ln w="9525" cap="flat" cmpd="sng">
              <a:solidFill>
                <a:srgbClr val="674EA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7" name="Google Shape;671;p55">
              <a:extLst>
                <a:ext uri="{FF2B5EF4-FFF2-40B4-BE49-F238E27FC236}">
                  <a16:creationId xmlns:a16="http://schemas.microsoft.com/office/drawing/2014/main" id="{2B8C7660-8DD4-6B92-DBE2-C368F5D83537}"/>
                </a:ext>
              </a:extLst>
            </p:cNvPr>
            <p:cNvCxnSpPr>
              <a:stCxn id="32" idx="1"/>
              <a:endCxn id="31" idx="2"/>
            </p:cNvCxnSpPr>
            <p:nvPr/>
          </p:nvCxnSpPr>
          <p:spPr>
            <a:xfrm flipH="1" flipV="1">
              <a:off x="9025128" y="2167536"/>
              <a:ext cx="1353312" cy="1127190"/>
            </a:xfrm>
            <a:prstGeom prst="straightConnector1">
              <a:avLst/>
            </a:prstGeom>
            <a:noFill/>
            <a:ln w="9525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" name="Google Shape;672;p55">
              <a:extLst>
                <a:ext uri="{FF2B5EF4-FFF2-40B4-BE49-F238E27FC236}">
                  <a16:creationId xmlns:a16="http://schemas.microsoft.com/office/drawing/2014/main" id="{2127F7F5-429C-CCF7-4098-9AA61FD1C35A}"/>
                </a:ext>
              </a:extLst>
            </p:cNvPr>
            <p:cNvCxnSpPr>
              <a:cxnSpLocks/>
              <a:stCxn id="31" idx="2"/>
              <a:endCxn id="26" idx="3"/>
            </p:cNvCxnSpPr>
            <p:nvPr/>
          </p:nvCxnSpPr>
          <p:spPr>
            <a:xfrm flipH="1">
              <a:off x="5952744" y="2167536"/>
              <a:ext cx="3072384" cy="772464"/>
            </a:xfrm>
            <a:prstGeom prst="straightConnector1">
              <a:avLst/>
            </a:prstGeom>
            <a:noFill/>
            <a:ln w="9525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9" name="Google Shape;673;p55">
              <a:extLst>
                <a:ext uri="{FF2B5EF4-FFF2-40B4-BE49-F238E27FC236}">
                  <a16:creationId xmlns:a16="http://schemas.microsoft.com/office/drawing/2014/main" id="{270EBA5C-CA00-DD14-7385-A6E1BF4FE5E5}"/>
                </a:ext>
              </a:extLst>
            </p:cNvPr>
            <p:cNvCxnSpPr>
              <a:cxnSpLocks/>
              <a:stCxn id="26" idx="2"/>
              <a:endCxn id="30" idx="1"/>
            </p:cNvCxnSpPr>
            <p:nvPr/>
          </p:nvCxnSpPr>
          <p:spPr>
            <a:xfrm>
              <a:off x="5358384" y="3136800"/>
              <a:ext cx="2359152" cy="360984"/>
            </a:xfrm>
            <a:prstGeom prst="straightConnector1">
              <a:avLst/>
            </a:prstGeom>
            <a:noFill/>
            <a:ln w="9525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" name="Google Shape;674;p55">
              <a:extLst>
                <a:ext uri="{FF2B5EF4-FFF2-40B4-BE49-F238E27FC236}">
                  <a16:creationId xmlns:a16="http://schemas.microsoft.com/office/drawing/2014/main" id="{0ABD8807-4FC7-42D4-33FA-955CF77BFEC5}"/>
                </a:ext>
              </a:extLst>
            </p:cNvPr>
            <p:cNvCxnSpPr>
              <a:cxnSpLocks/>
              <a:stCxn id="30" idx="2"/>
              <a:endCxn id="29" idx="0"/>
            </p:cNvCxnSpPr>
            <p:nvPr/>
          </p:nvCxnSpPr>
          <p:spPr>
            <a:xfrm flipH="1">
              <a:off x="7141464" y="3694584"/>
              <a:ext cx="1170432" cy="429360"/>
            </a:xfrm>
            <a:prstGeom prst="straightConnector1">
              <a:avLst/>
            </a:prstGeom>
            <a:noFill/>
            <a:ln w="9525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1075410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B2120-F1E3-E4F2-F56E-575C72428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702;p56">
            <a:extLst>
              <a:ext uri="{FF2B5EF4-FFF2-40B4-BE49-F238E27FC236}">
                <a16:creationId xmlns:a16="http://schemas.microsoft.com/office/drawing/2014/main" id="{19140934-C7A6-AC3E-4D42-F073A98C9762}"/>
              </a:ext>
            </a:extLst>
          </p:cNvPr>
          <p:cNvSpPr txBox="1"/>
          <p:nvPr/>
        </p:nvSpPr>
        <p:spPr>
          <a:xfrm>
            <a:off x="166823" y="3842482"/>
            <a:ext cx="2983285" cy="923299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The secret that was encrypted is </a:t>
            </a:r>
            <a:r>
              <a:rPr lang="en" sz="2400" i="1" dirty="0"/>
              <a:t>K</a:t>
            </a:r>
            <a:endParaRPr sz="2400" dirty="0"/>
          </a:p>
        </p:txBody>
      </p:sp>
      <p:sp>
        <p:nvSpPr>
          <p:cNvPr id="24" name="Google Shape;703;p56">
            <a:extLst>
              <a:ext uri="{FF2B5EF4-FFF2-40B4-BE49-F238E27FC236}">
                <a16:creationId xmlns:a16="http://schemas.microsoft.com/office/drawing/2014/main" id="{B5C2E2D8-0408-E37B-6C2C-AD5D36F79206}"/>
              </a:ext>
            </a:extLst>
          </p:cNvPr>
          <p:cNvSpPr txBox="1"/>
          <p:nvPr/>
        </p:nvSpPr>
        <p:spPr>
          <a:xfrm>
            <a:off x="274320" y="5145380"/>
            <a:ext cx="4646477" cy="1292631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The client and server perform a handshake, and the server sends the decrypted secret</a:t>
            </a:r>
            <a:endParaRPr sz="2400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162A12AD-465A-A243-36AB-A1DA93EB3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18"/>
            <a:ext cx="10515600" cy="773907"/>
          </a:xfrm>
        </p:spPr>
        <p:txBody>
          <a:bodyPr/>
          <a:lstStyle/>
          <a:p>
            <a:r>
              <a:rPr lang="en" dirty="0"/>
              <a:t>Tor Onion Services</a:t>
            </a:r>
            <a:endParaRPr lang="en-US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C3F0264-1827-77A3-32ED-DE6AB3A9DCF7}"/>
              </a:ext>
            </a:extLst>
          </p:cNvPr>
          <p:cNvGrpSpPr/>
          <p:nvPr/>
        </p:nvGrpSpPr>
        <p:grpSpPr>
          <a:xfrm>
            <a:off x="274320" y="1645920"/>
            <a:ext cx="11640312" cy="2990496"/>
            <a:chOff x="274320" y="1645920"/>
            <a:chExt cx="11640312" cy="2990496"/>
          </a:xfrm>
        </p:grpSpPr>
        <p:sp>
          <p:nvSpPr>
            <p:cNvPr id="2" name="Google Shape;657;p55">
              <a:extLst>
                <a:ext uri="{FF2B5EF4-FFF2-40B4-BE49-F238E27FC236}">
                  <a16:creationId xmlns:a16="http://schemas.microsoft.com/office/drawing/2014/main" id="{79B1BA14-01BE-62D0-E218-CDE4F34F81B0}"/>
                </a:ext>
              </a:extLst>
            </p:cNvPr>
            <p:cNvSpPr/>
            <p:nvPr/>
          </p:nvSpPr>
          <p:spPr>
            <a:xfrm>
              <a:off x="274320" y="3145536"/>
              <a:ext cx="1536192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Client</a:t>
              </a:r>
              <a:endParaRPr sz="2200" dirty="0"/>
            </a:p>
          </p:txBody>
        </p:sp>
        <p:sp>
          <p:nvSpPr>
            <p:cNvPr id="3" name="Google Shape;658;p55">
              <a:extLst>
                <a:ext uri="{FF2B5EF4-FFF2-40B4-BE49-F238E27FC236}">
                  <a16:creationId xmlns:a16="http://schemas.microsoft.com/office/drawing/2014/main" id="{5D73D45F-8D66-A78E-7C31-F8E21777B5A3}"/>
                </a:ext>
              </a:extLst>
            </p:cNvPr>
            <p:cNvSpPr/>
            <p:nvPr/>
          </p:nvSpPr>
          <p:spPr>
            <a:xfrm>
              <a:off x="2990088" y="2816352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4" name="Google Shape;659;p55">
              <a:extLst>
                <a:ext uri="{FF2B5EF4-FFF2-40B4-BE49-F238E27FC236}">
                  <a16:creationId xmlns:a16="http://schemas.microsoft.com/office/drawing/2014/main" id="{7AF7F903-01B2-278D-DF5E-C3E65AFEB0AA}"/>
                </a:ext>
              </a:extLst>
            </p:cNvPr>
            <p:cNvSpPr/>
            <p:nvPr/>
          </p:nvSpPr>
          <p:spPr>
            <a:xfrm>
              <a:off x="3291840" y="3657600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26" name="Google Shape;660;p55">
              <a:extLst>
                <a:ext uri="{FF2B5EF4-FFF2-40B4-BE49-F238E27FC236}">
                  <a16:creationId xmlns:a16="http://schemas.microsoft.com/office/drawing/2014/main" id="{67C9D9A4-54A5-BD7F-51C6-84BCF73498A5}"/>
                </a:ext>
              </a:extLst>
            </p:cNvPr>
            <p:cNvSpPr/>
            <p:nvPr/>
          </p:nvSpPr>
          <p:spPr>
            <a:xfrm>
              <a:off x="4764024" y="2743200"/>
              <a:ext cx="1188720" cy="393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Relay </a:t>
              </a:r>
              <a:r>
                <a:rPr lang="en" sz="2200" i="1" dirty="0"/>
                <a:t>I</a:t>
              </a:r>
              <a:r>
                <a:rPr lang="en" sz="2200" i="1" baseline="-25000" dirty="0"/>
                <a:t>1</a:t>
              </a:r>
              <a:endParaRPr sz="2200" i="1" baseline="-25000" dirty="0"/>
            </a:p>
          </p:txBody>
        </p:sp>
        <p:sp>
          <p:nvSpPr>
            <p:cNvPr id="27" name="Google Shape;661;p55">
              <a:extLst>
                <a:ext uri="{FF2B5EF4-FFF2-40B4-BE49-F238E27FC236}">
                  <a16:creationId xmlns:a16="http://schemas.microsoft.com/office/drawing/2014/main" id="{AA69C148-AFA5-7CAD-AC51-8A474E7EF712}"/>
                </a:ext>
              </a:extLst>
            </p:cNvPr>
            <p:cNvSpPr/>
            <p:nvPr/>
          </p:nvSpPr>
          <p:spPr>
            <a:xfrm>
              <a:off x="4471416" y="4242816"/>
              <a:ext cx="1188720" cy="393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Relay </a:t>
              </a:r>
              <a:r>
                <a:rPr lang="en" sz="2200" i="1" dirty="0">
                  <a:solidFill>
                    <a:schemeClr val="dk1"/>
                  </a:solidFill>
                </a:rPr>
                <a:t>I</a:t>
              </a:r>
              <a:r>
                <a:rPr lang="en" sz="2200" i="1" baseline="-25000" dirty="0">
                  <a:solidFill>
                    <a:schemeClr val="dk1"/>
                  </a:solidFill>
                </a:rPr>
                <a:t>2</a:t>
              </a:r>
              <a:endParaRPr sz="2200" baseline="-25000" dirty="0"/>
            </a:p>
          </p:txBody>
        </p:sp>
        <p:sp>
          <p:nvSpPr>
            <p:cNvPr id="28" name="Google Shape;662;p55">
              <a:extLst>
                <a:ext uri="{FF2B5EF4-FFF2-40B4-BE49-F238E27FC236}">
                  <a16:creationId xmlns:a16="http://schemas.microsoft.com/office/drawing/2014/main" id="{A569967B-5B45-B7E4-AA06-A057207093D7}"/>
                </a:ext>
              </a:extLst>
            </p:cNvPr>
            <p:cNvSpPr/>
            <p:nvPr/>
          </p:nvSpPr>
          <p:spPr>
            <a:xfrm>
              <a:off x="6382512" y="2139696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29" name="Google Shape;663;p55">
              <a:extLst>
                <a:ext uri="{FF2B5EF4-FFF2-40B4-BE49-F238E27FC236}">
                  <a16:creationId xmlns:a16="http://schemas.microsoft.com/office/drawing/2014/main" id="{9E29A428-28D7-FB3B-FAAD-10278A8E4F30}"/>
                </a:ext>
              </a:extLst>
            </p:cNvPr>
            <p:cNvSpPr/>
            <p:nvPr/>
          </p:nvSpPr>
          <p:spPr>
            <a:xfrm>
              <a:off x="6547104" y="4123944"/>
              <a:ext cx="1188720" cy="393600"/>
            </a:xfrm>
            <a:prstGeom prst="rect">
              <a:avLst/>
            </a:prstGeom>
            <a:solidFill>
              <a:srgbClr val="D9D2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Relay </a:t>
              </a:r>
              <a:r>
                <a:rPr lang="en" sz="2200" i="1" dirty="0"/>
                <a:t>R</a:t>
              </a:r>
              <a:endParaRPr sz="2200" i="1" dirty="0"/>
            </a:p>
          </p:txBody>
        </p:sp>
        <p:sp>
          <p:nvSpPr>
            <p:cNvPr id="30" name="Google Shape;664;p55">
              <a:extLst>
                <a:ext uri="{FF2B5EF4-FFF2-40B4-BE49-F238E27FC236}">
                  <a16:creationId xmlns:a16="http://schemas.microsoft.com/office/drawing/2014/main" id="{C7BF69D9-5D3B-DA36-09F2-8AEF882A293A}"/>
                </a:ext>
              </a:extLst>
            </p:cNvPr>
            <p:cNvSpPr/>
            <p:nvPr/>
          </p:nvSpPr>
          <p:spPr>
            <a:xfrm>
              <a:off x="7717536" y="3300984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31" name="Google Shape;665;p55">
              <a:extLst>
                <a:ext uri="{FF2B5EF4-FFF2-40B4-BE49-F238E27FC236}">
                  <a16:creationId xmlns:a16="http://schemas.microsoft.com/office/drawing/2014/main" id="{AD4243E2-A2E2-C5EF-A2BD-F690F8F0B405}"/>
                </a:ext>
              </a:extLst>
            </p:cNvPr>
            <p:cNvSpPr/>
            <p:nvPr/>
          </p:nvSpPr>
          <p:spPr>
            <a:xfrm>
              <a:off x="8430768" y="1773936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32" name="Google Shape;666;p55">
              <a:extLst>
                <a:ext uri="{FF2B5EF4-FFF2-40B4-BE49-F238E27FC236}">
                  <a16:creationId xmlns:a16="http://schemas.microsoft.com/office/drawing/2014/main" id="{C810F9F7-4C4D-5CEF-A044-C23756905EFF}"/>
                </a:ext>
              </a:extLst>
            </p:cNvPr>
            <p:cNvSpPr/>
            <p:nvPr/>
          </p:nvSpPr>
          <p:spPr>
            <a:xfrm>
              <a:off x="10378440" y="3008376"/>
              <a:ext cx="1536192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Server</a:t>
              </a:r>
              <a:endParaRPr sz="2200"/>
            </a:p>
          </p:txBody>
        </p:sp>
        <p:sp>
          <p:nvSpPr>
            <p:cNvPr id="33" name="Google Shape;667;p55">
              <a:extLst>
                <a:ext uri="{FF2B5EF4-FFF2-40B4-BE49-F238E27FC236}">
                  <a16:creationId xmlns:a16="http://schemas.microsoft.com/office/drawing/2014/main" id="{7EDCED77-E43A-C69D-83EB-BFE2FF068B14}"/>
                </a:ext>
              </a:extLst>
            </p:cNvPr>
            <p:cNvSpPr/>
            <p:nvPr/>
          </p:nvSpPr>
          <p:spPr>
            <a:xfrm>
              <a:off x="1225296" y="1645920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cxnSp>
          <p:nvCxnSpPr>
            <p:cNvPr id="34" name="Google Shape;668;p55">
              <a:extLst>
                <a:ext uri="{FF2B5EF4-FFF2-40B4-BE49-F238E27FC236}">
                  <a16:creationId xmlns:a16="http://schemas.microsoft.com/office/drawing/2014/main" id="{55F7C327-B965-C27E-A332-CC997B7D01C7}"/>
                </a:ext>
              </a:extLst>
            </p:cNvPr>
            <p:cNvCxnSpPr>
              <a:stCxn id="2" idx="0"/>
              <a:endCxn id="33" idx="2"/>
            </p:cNvCxnSpPr>
            <p:nvPr/>
          </p:nvCxnSpPr>
          <p:spPr>
            <a:xfrm flipV="1">
              <a:off x="1042416" y="2039520"/>
              <a:ext cx="777240" cy="1106016"/>
            </a:xfrm>
            <a:prstGeom prst="straightConnector1">
              <a:avLst/>
            </a:prstGeom>
            <a:noFill/>
            <a:ln w="9525" cap="flat" cmpd="sng">
              <a:solidFill>
                <a:srgbClr val="674EA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" name="Google Shape;669;p55">
              <a:extLst>
                <a:ext uri="{FF2B5EF4-FFF2-40B4-BE49-F238E27FC236}">
                  <a16:creationId xmlns:a16="http://schemas.microsoft.com/office/drawing/2014/main" id="{8D231543-0088-ABDD-22F7-AA5E49AAB670}"/>
                </a:ext>
              </a:extLst>
            </p:cNvPr>
            <p:cNvCxnSpPr>
              <a:cxnSpLocks/>
              <a:stCxn id="33" idx="2"/>
              <a:endCxn id="4" idx="1"/>
            </p:cNvCxnSpPr>
            <p:nvPr/>
          </p:nvCxnSpPr>
          <p:spPr>
            <a:xfrm>
              <a:off x="1819656" y="2039520"/>
              <a:ext cx="1472184" cy="1814880"/>
            </a:xfrm>
            <a:prstGeom prst="straightConnector1">
              <a:avLst/>
            </a:prstGeom>
            <a:noFill/>
            <a:ln w="9525" cap="flat" cmpd="sng">
              <a:solidFill>
                <a:srgbClr val="674EA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6" name="Google Shape;670;p55">
              <a:extLst>
                <a:ext uri="{FF2B5EF4-FFF2-40B4-BE49-F238E27FC236}">
                  <a16:creationId xmlns:a16="http://schemas.microsoft.com/office/drawing/2014/main" id="{A51BB7B5-D786-4C77-5951-E2E9B1919C7C}"/>
                </a:ext>
              </a:extLst>
            </p:cNvPr>
            <p:cNvCxnSpPr>
              <a:cxnSpLocks/>
              <a:stCxn id="4" idx="3"/>
              <a:endCxn id="29" idx="1"/>
            </p:cNvCxnSpPr>
            <p:nvPr/>
          </p:nvCxnSpPr>
          <p:spPr>
            <a:xfrm>
              <a:off x="4480560" y="3854400"/>
              <a:ext cx="2066544" cy="466344"/>
            </a:xfrm>
            <a:prstGeom prst="straightConnector1">
              <a:avLst/>
            </a:prstGeom>
            <a:noFill/>
            <a:ln w="9525" cap="flat" cmpd="sng">
              <a:solidFill>
                <a:srgbClr val="674EA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7" name="Google Shape;671;p55">
              <a:extLst>
                <a:ext uri="{FF2B5EF4-FFF2-40B4-BE49-F238E27FC236}">
                  <a16:creationId xmlns:a16="http://schemas.microsoft.com/office/drawing/2014/main" id="{B57E524C-3725-F90D-E100-3ACF8E3CB635}"/>
                </a:ext>
              </a:extLst>
            </p:cNvPr>
            <p:cNvCxnSpPr>
              <a:stCxn id="32" idx="1"/>
              <a:endCxn id="31" idx="2"/>
            </p:cNvCxnSpPr>
            <p:nvPr/>
          </p:nvCxnSpPr>
          <p:spPr>
            <a:xfrm flipH="1" flipV="1">
              <a:off x="9025128" y="2167536"/>
              <a:ext cx="1353312" cy="1127190"/>
            </a:xfrm>
            <a:prstGeom prst="straightConnector1">
              <a:avLst/>
            </a:prstGeom>
            <a:noFill/>
            <a:ln w="9525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" name="Google Shape;672;p55">
              <a:extLst>
                <a:ext uri="{FF2B5EF4-FFF2-40B4-BE49-F238E27FC236}">
                  <a16:creationId xmlns:a16="http://schemas.microsoft.com/office/drawing/2014/main" id="{44154ABC-9502-BCA5-DB87-230ADC969C20}"/>
                </a:ext>
              </a:extLst>
            </p:cNvPr>
            <p:cNvCxnSpPr>
              <a:cxnSpLocks/>
              <a:stCxn id="31" idx="2"/>
              <a:endCxn id="26" idx="3"/>
            </p:cNvCxnSpPr>
            <p:nvPr/>
          </p:nvCxnSpPr>
          <p:spPr>
            <a:xfrm flipH="1">
              <a:off x="5952744" y="2167536"/>
              <a:ext cx="3072384" cy="772464"/>
            </a:xfrm>
            <a:prstGeom prst="straightConnector1">
              <a:avLst/>
            </a:prstGeom>
            <a:noFill/>
            <a:ln w="9525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9" name="Google Shape;673;p55">
              <a:extLst>
                <a:ext uri="{FF2B5EF4-FFF2-40B4-BE49-F238E27FC236}">
                  <a16:creationId xmlns:a16="http://schemas.microsoft.com/office/drawing/2014/main" id="{49555BD6-D2D8-8ED8-2467-675D753A8B3F}"/>
                </a:ext>
              </a:extLst>
            </p:cNvPr>
            <p:cNvCxnSpPr>
              <a:cxnSpLocks/>
              <a:stCxn id="26" idx="2"/>
              <a:endCxn id="30" idx="1"/>
            </p:cNvCxnSpPr>
            <p:nvPr/>
          </p:nvCxnSpPr>
          <p:spPr>
            <a:xfrm>
              <a:off x="5358384" y="3136800"/>
              <a:ext cx="2359152" cy="360984"/>
            </a:xfrm>
            <a:prstGeom prst="straightConnector1">
              <a:avLst/>
            </a:prstGeom>
            <a:noFill/>
            <a:ln w="9525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" name="Google Shape;674;p55">
              <a:extLst>
                <a:ext uri="{FF2B5EF4-FFF2-40B4-BE49-F238E27FC236}">
                  <a16:creationId xmlns:a16="http://schemas.microsoft.com/office/drawing/2014/main" id="{92D15DE0-F163-FC50-DB9B-E7C1406DB43B}"/>
                </a:ext>
              </a:extLst>
            </p:cNvPr>
            <p:cNvCxnSpPr>
              <a:cxnSpLocks/>
              <a:stCxn id="30" idx="2"/>
              <a:endCxn id="29" idx="0"/>
            </p:cNvCxnSpPr>
            <p:nvPr/>
          </p:nvCxnSpPr>
          <p:spPr>
            <a:xfrm flipH="1">
              <a:off x="7141464" y="3694584"/>
              <a:ext cx="1170432" cy="429360"/>
            </a:xfrm>
            <a:prstGeom prst="straightConnector1">
              <a:avLst/>
            </a:prstGeom>
            <a:noFill/>
            <a:ln w="9525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851490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DD18D-6E7E-0316-12C5-E919E40AF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C503204A-E7C5-32DA-E30F-60B0977AB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18"/>
            <a:ext cx="10515600" cy="773907"/>
          </a:xfrm>
        </p:spPr>
        <p:txBody>
          <a:bodyPr/>
          <a:lstStyle/>
          <a:p>
            <a:r>
              <a:rPr lang="en" dirty="0"/>
              <a:t>Tor Onion Services</a:t>
            </a:r>
            <a:endParaRPr lang="en-US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83C4E2E-AC82-3B1A-4D6B-23C09835B1CF}"/>
              </a:ext>
            </a:extLst>
          </p:cNvPr>
          <p:cNvGrpSpPr/>
          <p:nvPr/>
        </p:nvGrpSpPr>
        <p:grpSpPr>
          <a:xfrm>
            <a:off x="274320" y="1645920"/>
            <a:ext cx="11640312" cy="2990496"/>
            <a:chOff x="274320" y="1645920"/>
            <a:chExt cx="11640312" cy="2990496"/>
          </a:xfrm>
        </p:grpSpPr>
        <p:sp>
          <p:nvSpPr>
            <p:cNvPr id="2" name="Google Shape;657;p55">
              <a:extLst>
                <a:ext uri="{FF2B5EF4-FFF2-40B4-BE49-F238E27FC236}">
                  <a16:creationId xmlns:a16="http://schemas.microsoft.com/office/drawing/2014/main" id="{8FA70960-AA98-BC47-91E0-DDFD1EFBE3C1}"/>
                </a:ext>
              </a:extLst>
            </p:cNvPr>
            <p:cNvSpPr/>
            <p:nvPr/>
          </p:nvSpPr>
          <p:spPr>
            <a:xfrm>
              <a:off x="274320" y="3145536"/>
              <a:ext cx="1536192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Client</a:t>
              </a:r>
              <a:endParaRPr sz="2200" dirty="0"/>
            </a:p>
          </p:txBody>
        </p:sp>
        <p:sp>
          <p:nvSpPr>
            <p:cNvPr id="3" name="Google Shape;658;p55">
              <a:extLst>
                <a:ext uri="{FF2B5EF4-FFF2-40B4-BE49-F238E27FC236}">
                  <a16:creationId xmlns:a16="http://schemas.microsoft.com/office/drawing/2014/main" id="{558A2DC0-AB5B-E246-98B1-9AB134C55B70}"/>
                </a:ext>
              </a:extLst>
            </p:cNvPr>
            <p:cNvSpPr/>
            <p:nvPr/>
          </p:nvSpPr>
          <p:spPr>
            <a:xfrm>
              <a:off x="2990088" y="2816352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4" name="Google Shape;659;p55">
              <a:extLst>
                <a:ext uri="{FF2B5EF4-FFF2-40B4-BE49-F238E27FC236}">
                  <a16:creationId xmlns:a16="http://schemas.microsoft.com/office/drawing/2014/main" id="{36408238-FC25-09D5-A02C-ED852AE2557B}"/>
                </a:ext>
              </a:extLst>
            </p:cNvPr>
            <p:cNvSpPr/>
            <p:nvPr/>
          </p:nvSpPr>
          <p:spPr>
            <a:xfrm>
              <a:off x="3291840" y="3657600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26" name="Google Shape;660;p55">
              <a:extLst>
                <a:ext uri="{FF2B5EF4-FFF2-40B4-BE49-F238E27FC236}">
                  <a16:creationId xmlns:a16="http://schemas.microsoft.com/office/drawing/2014/main" id="{26993E82-49F3-C9EF-E721-E579E103C637}"/>
                </a:ext>
              </a:extLst>
            </p:cNvPr>
            <p:cNvSpPr/>
            <p:nvPr/>
          </p:nvSpPr>
          <p:spPr>
            <a:xfrm>
              <a:off x="4764024" y="2743200"/>
              <a:ext cx="1188720" cy="393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Relay </a:t>
              </a:r>
              <a:r>
                <a:rPr lang="en" sz="2200" i="1" dirty="0"/>
                <a:t>I</a:t>
              </a:r>
              <a:r>
                <a:rPr lang="en" sz="2200" i="1" baseline="-25000" dirty="0"/>
                <a:t>1</a:t>
              </a:r>
              <a:endParaRPr sz="2200" i="1" baseline="-25000" dirty="0"/>
            </a:p>
          </p:txBody>
        </p:sp>
        <p:sp>
          <p:nvSpPr>
            <p:cNvPr id="27" name="Google Shape;661;p55">
              <a:extLst>
                <a:ext uri="{FF2B5EF4-FFF2-40B4-BE49-F238E27FC236}">
                  <a16:creationId xmlns:a16="http://schemas.microsoft.com/office/drawing/2014/main" id="{FD4FD3CA-40FB-C490-521B-74C61CC576B1}"/>
                </a:ext>
              </a:extLst>
            </p:cNvPr>
            <p:cNvSpPr/>
            <p:nvPr/>
          </p:nvSpPr>
          <p:spPr>
            <a:xfrm>
              <a:off x="4471416" y="4242816"/>
              <a:ext cx="1188720" cy="393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Relay </a:t>
              </a:r>
              <a:r>
                <a:rPr lang="en" sz="2200" i="1" dirty="0">
                  <a:solidFill>
                    <a:schemeClr val="dk1"/>
                  </a:solidFill>
                </a:rPr>
                <a:t>I</a:t>
              </a:r>
              <a:r>
                <a:rPr lang="en" sz="2200" i="1" baseline="-25000" dirty="0">
                  <a:solidFill>
                    <a:schemeClr val="dk1"/>
                  </a:solidFill>
                </a:rPr>
                <a:t>2</a:t>
              </a:r>
              <a:endParaRPr sz="2200" baseline="-25000" dirty="0"/>
            </a:p>
          </p:txBody>
        </p:sp>
        <p:sp>
          <p:nvSpPr>
            <p:cNvPr id="28" name="Google Shape;662;p55">
              <a:extLst>
                <a:ext uri="{FF2B5EF4-FFF2-40B4-BE49-F238E27FC236}">
                  <a16:creationId xmlns:a16="http://schemas.microsoft.com/office/drawing/2014/main" id="{6CD70D2E-6BA9-5EA5-7549-B259BD7E1333}"/>
                </a:ext>
              </a:extLst>
            </p:cNvPr>
            <p:cNvSpPr/>
            <p:nvPr/>
          </p:nvSpPr>
          <p:spPr>
            <a:xfrm>
              <a:off x="6382512" y="2139696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29" name="Google Shape;663;p55">
              <a:extLst>
                <a:ext uri="{FF2B5EF4-FFF2-40B4-BE49-F238E27FC236}">
                  <a16:creationId xmlns:a16="http://schemas.microsoft.com/office/drawing/2014/main" id="{F216D0CA-13A5-F139-2301-F876A9ECDD98}"/>
                </a:ext>
              </a:extLst>
            </p:cNvPr>
            <p:cNvSpPr/>
            <p:nvPr/>
          </p:nvSpPr>
          <p:spPr>
            <a:xfrm>
              <a:off x="6547104" y="4123944"/>
              <a:ext cx="1188720" cy="393600"/>
            </a:xfrm>
            <a:prstGeom prst="rect">
              <a:avLst/>
            </a:prstGeom>
            <a:solidFill>
              <a:srgbClr val="D9D2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Relay </a:t>
              </a:r>
              <a:r>
                <a:rPr lang="en" sz="2200" i="1" dirty="0"/>
                <a:t>R</a:t>
              </a:r>
              <a:endParaRPr sz="2200" i="1" dirty="0"/>
            </a:p>
          </p:txBody>
        </p:sp>
        <p:sp>
          <p:nvSpPr>
            <p:cNvPr id="30" name="Google Shape;664;p55">
              <a:extLst>
                <a:ext uri="{FF2B5EF4-FFF2-40B4-BE49-F238E27FC236}">
                  <a16:creationId xmlns:a16="http://schemas.microsoft.com/office/drawing/2014/main" id="{FD50E2AE-17C9-A0AB-846E-3332CB770EE6}"/>
                </a:ext>
              </a:extLst>
            </p:cNvPr>
            <p:cNvSpPr/>
            <p:nvPr/>
          </p:nvSpPr>
          <p:spPr>
            <a:xfrm>
              <a:off x="7717536" y="3300984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31" name="Google Shape;665;p55">
              <a:extLst>
                <a:ext uri="{FF2B5EF4-FFF2-40B4-BE49-F238E27FC236}">
                  <a16:creationId xmlns:a16="http://schemas.microsoft.com/office/drawing/2014/main" id="{71E57C24-3824-C76A-727E-0350249B5C5E}"/>
                </a:ext>
              </a:extLst>
            </p:cNvPr>
            <p:cNvSpPr/>
            <p:nvPr/>
          </p:nvSpPr>
          <p:spPr>
            <a:xfrm>
              <a:off x="8430768" y="1773936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sp>
          <p:nvSpPr>
            <p:cNvPr id="32" name="Google Shape;666;p55">
              <a:extLst>
                <a:ext uri="{FF2B5EF4-FFF2-40B4-BE49-F238E27FC236}">
                  <a16:creationId xmlns:a16="http://schemas.microsoft.com/office/drawing/2014/main" id="{6019897B-D7C0-B471-69AB-D2570ABD793D}"/>
                </a:ext>
              </a:extLst>
            </p:cNvPr>
            <p:cNvSpPr/>
            <p:nvPr/>
          </p:nvSpPr>
          <p:spPr>
            <a:xfrm>
              <a:off x="10378440" y="3008376"/>
              <a:ext cx="1536192" cy="57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Server</a:t>
              </a:r>
              <a:endParaRPr sz="2200"/>
            </a:p>
          </p:txBody>
        </p:sp>
        <p:sp>
          <p:nvSpPr>
            <p:cNvPr id="33" name="Google Shape;667;p55">
              <a:extLst>
                <a:ext uri="{FF2B5EF4-FFF2-40B4-BE49-F238E27FC236}">
                  <a16:creationId xmlns:a16="http://schemas.microsoft.com/office/drawing/2014/main" id="{8BC20F92-556C-4863-E793-87BAD5C4B522}"/>
                </a:ext>
              </a:extLst>
            </p:cNvPr>
            <p:cNvSpPr/>
            <p:nvPr/>
          </p:nvSpPr>
          <p:spPr>
            <a:xfrm>
              <a:off x="1225296" y="1645920"/>
              <a:ext cx="1188720" cy="393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Relay</a:t>
              </a:r>
              <a:endParaRPr sz="2200"/>
            </a:p>
          </p:txBody>
        </p:sp>
        <p:cxnSp>
          <p:nvCxnSpPr>
            <p:cNvPr id="34" name="Google Shape;668;p55">
              <a:extLst>
                <a:ext uri="{FF2B5EF4-FFF2-40B4-BE49-F238E27FC236}">
                  <a16:creationId xmlns:a16="http://schemas.microsoft.com/office/drawing/2014/main" id="{77A3BB6B-0F28-F150-F4F0-CD7AA0150FCB}"/>
                </a:ext>
              </a:extLst>
            </p:cNvPr>
            <p:cNvCxnSpPr>
              <a:stCxn id="2" idx="0"/>
              <a:endCxn id="33" idx="2"/>
            </p:cNvCxnSpPr>
            <p:nvPr/>
          </p:nvCxnSpPr>
          <p:spPr>
            <a:xfrm flipV="1">
              <a:off x="1042416" y="2039520"/>
              <a:ext cx="777240" cy="1106016"/>
            </a:xfrm>
            <a:prstGeom prst="straightConnector1">
              <a:avLst/>
            </a:prstGeom>
            <a:noFill/>
            <a:ln w="9525" cap="flat" cmpd="sng">
              <a:solidFill>
                <a:srgbClr val="674EA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" name="Google Shape;669;p55">
              <a:extLst>
                <a:ext uri="{FF2B5EF4-FFF2-40B4-BE49-F238E27FC236}">
                  <a16:creationId xmlns:a16="http://schemas.microsoft.com/office/drawing/2014/main" id="{B18CA8EE-5F5D-A6C5-4ADC-3F4DB9CC0702}"/>
                </a:ext>
              </a:extLst>
            </p:cNvPr>
            <p:cNvCxnSpPr>
              <a:cxnSpLocks/>
              <a:stCxn id="33" idx="2"/>
              <a:endCxn id="4" idx="1"/>
            </p:cNvCxnSpPr>
            <p:nvPr/>
          </p:nvCxnSpPr>
          <p:spPr>
            <a:xfrm>
              <a:off x="1819656" y="2039520"/>
              <a:ext cx="1472184" cy="1814880"/>
            </a:xfrm>
            <a:prstGeom prst="straightConnector1">
              <a:avLst/>
            </a:prstGeom>
            <a:noFill/>
            <a:ln w="9525" cap="flat" cmpd="sng">
              <a:solidFill>
                <a:srgbClr val="674EA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6" name="Google Shape;670;p55">
              <a:extLst>
                <a:ext uri="{FF2B5EF4-FFF2-40B4-BE49-F238E27FC236}">
                  <a16:creationId xmlns:a16="http://schemas.microsoft.com/office/drawing/2014/main" id="{F2E50550-80E0-85AE-64AC-02EE0E792551}"/>
                </a:ext>
              </a:extLst>
            </p:cNvPr>
            <p:cNvCxnSpPr>
              <a:cxnSpLocks/>
              <a:stCxn id="4" idx="3"/>
              <a:endCxn id="29" idx="1"/>
            </p:cNvCxnSpPr>
            <p:nvPr/>
          </p:nvCxnSpPr>
          <p:spPr>
            <a:xfrm>
              <a:off x="4480560" y="3854400"/>
              <a:ext cx="2066544" cy="466344"/>
            </a:xfrm>
            <a:prstGeom prst="straightConnector1">
              <a:avLst/>
            </a:prstGeom>
            <a:noFill/>
            <a:ln w="9525" cap="flat" cmpd="sng">
              <a:solidFill>
                <a:srgbClr val="674EA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7" name="Google Shape;671;p55">
              <a:extLst>
                <a:ext uri="{FF2B5EF4-FFF2-40B4-BE49-F238E27FC236}">
                  <a16:creationId xmlns:a16="http://schemas.microsoft.com/office/drawing/2014/main" id="{6CABE99D-CA8F-9D16-6A59-F153C123B796}"/>
                </a:ext>
              </a:extLst>
            </p:cNvPr>
            <p:cNvCxnSpPr>
              <a:stCxn id="32" idx="1"/>
              <a:endCxn id="31" idx="2"/>
            </p:cNvCxnSpPr>
            <p:nvPr/>
          </p:nvCxnSpPr>
          <p:spPr>
            <a:xfrm flipH="1" flipV="1">
              <a:off x="9025128" y="2167536"/>
              <a:ext cx="1353312" cy="1127190"/>
            </a:xfrm>
            <a:prstGeom prst="straightConnector1">
              <a:avLst/>
            </a:prstGeom>
            <a:noFill/>
            <a:ln w="9525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" name="Google Shape;672;p55">
              <a:extLst>
                <a:ext uri="{FF2B5EF4-FFF2-40B4-BE49-F238E27FC236}">
                  <a16:creationId xmlns:a16="http://schemas.microsoft.com/office/drawing/2014/main" id="{6E4A1EFE-3A42-22AD-ECB1-BD317B193749}"/>
                </a:ext>
              </a:extLst>
            </p:cNvPr>
            <p:cNvCxnSpPr>
              <a:cxnSpLocks/>
              <a:stCxn id="31" idx="2"/>
              <a:endCxn id="26" idx="3"/>
            </p:cNvCxnSpPr>
            <p:nvPr/>
          </p:nvCxnSpPr>
          <p:spPr>
            <a:xfrm flipH="1">
              <a:off x="5952744" y="2167536"/>
              <a:ext cx="3072384" cy="772464"/>
            </a:xfrm>
            <a:prstGeom prst="straightConnector1">
              <a:avLst/>
            </a:prstGeom>
            <a:noFill/>
            <a:ln w="9525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9" name="Google Shape;673;p55">
              <a:extLst>
                <a:ext uri="{FF2B5EF4-FFF2-40B4-BE49-F238E27FC236}">
                  <a16:creationId xmlns:a16="http://schemas.microsoft.com/office/drawing/2014/main" id="{15B44717-AB8F-9C22-3996-4911C2A28640}"/>
                </a:ext>
              </a:extLst>
            </p:cNvPr>
            <p:cNvCxnSpPr>
              <a:cxnSpLocks/>
              <a:stCxn id="26" idx="2"/>
              <a:endCxn id="30" idx="1"/>
            </p:cNvCxnSpPr>
            <p:nvPr/>
          </p:nvCxnSpPr>
          <p:spPr>
            <a:xfrm>
              <a:off x="5358384" y="3136800"/>
              <a:ext cx="2359152" cy="360984"/>
            </a:xfrm>
            <a:prstGeom prst="straightConnector1">
              <a:avLst/>
            </a:prstGeom>
            <a:noFill/>
            <a:ln w="9525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" name="Google Shape;674;p55">
              <a:extLst>
                <a:ext uri="{FF2B5EF4-FFF2-40B4-BE49-F238E27FC236}">
                  <a16:creationId xmlns:a16="http://schemas.microsoft.com/office/drawing/2014/main" id="{86046374-010F-2B79-1497-4A6E3C1C3DD9}"/>
                </a:ext>
              </a:extLst>
            </p:cNvPr>
            <p:cNvCxnSpPr>
              <a:cxnSpLocks/>
              <a:stCxn id="30" idx="2"/>
              <a:endCxn id="29" idx="0"/>
            </p:cNvCxnSpPr>
            <p:nvPr/>
          </p:nvCxnSpPr>
          <p:spPr>
            <a:xfrm flipH="1">
              <a:off x="7141464" y="3694584"/>
              <a:ext cx="1170432" cy="429360"/>
            </a:xfrm>
            <a:prstGeom prst="straightConnector1">
              <a:avLst/>
            </a:prstGeom>
            <a:noFill/>
            <a:ln w="9525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5" name="Google Shape;780;p59">
            <a:extLst>
              <a:ext uri="{FF2B5EF4-FFF2-40B4-BE49-F238E27FC236}">
                <a16:creationId xmlns:a16="http://schemas.microsoft.com/office/drawing/2014/main" id="{FD37816A-729B-8694-6AA5-5C04F1862B1E}"/>
              </a:ext>
            </a:extLst>
          </p:cNvPr>
          <p:cNvSpPr txBox="1"/>
          <p:nvPr/>
        </p:nvSpPr>
        <p:spPr>
          <a:xfrm>
            <a:off x="2262028" y="5369458"/>
            <a:ext cx="7667944" cy="1292631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1" dirty="0">
                <a:solidFill>
                  <a:srgbClr val="C00000"/>
                </a:solidFill>
              </a:rPr>
              <a:t>Notice: </a:t>
            </a:r>
            <a:r>
              <a:rPr lang="en" sz="2400" dirty="0"/>
              <a:t>The client and server never directly communicate, and the introduction and rendezvous points don’t know the client or the server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964528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E27BB-B379-3D51-869D-50F590614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1"/>
            <a:ext cx="10515600" cy="769083"/>
          </a:xfrm>
        </p:spPr>
        <p:txBody>
          <a:bodyPr/>
          <a:lstStyle/>
          <a:p>
            <a:r>
              <a:rPr lang="en" dirty="0"/>
              <a:t>Hosting Illegal Services on 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BE638-6884-9E03-C9BC-BC2EEBD2C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318" y="1542581"/>
            <a:ext cx="11141364" cy="5033709"/>
          </a:xfrm>
        </p:spPr>
        <p:txBody>
          <a:bodyPr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Tor onion services are often used for services widely considered illegal around the world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Legitimate hosting services like Cloudflare will refuse to host these services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Most countries will take legal action against these services if hosted on the regular web</a:t>
            </a:r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b="1" strike="sngStrike" dirty="0">
                <a:solidFill>
                  <a:srgbClr val="C00000"/>
                </a:solidFill>
              </a:rPr>
              <a:t>Dark markets</a:t>
            </a:r>
            <a:r>
              <a:rPr lang="en-US" strike="sngStrike" dirty="0">
                <a:solidFill>
                  <a:srgbClr val="C00000"/>
                </a:solidFill>
              </a:rPr>
              <a:t>: </a:t>
            </a:r>
            <a:r>
              <a:rPr lang="en-US" strike="sngStrike" dirty="0"/>
              <a:t>Marketplaces for buying and selling illegal goods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trike="sngStrike" dirty="0"/>
              <a:t>Transactions processed with a censorship-resistant currency like Bitcoin</a:t>
            </a:r>
          </a:p>
          <a:p>
            <a:pPr marL="1371600" lvl="2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Services like PayPal will refuse to process illegal transactions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trike="sngStrike" dirty="0"/>
              <a:t>Ratings system with mandatory feedback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trike="sngStrike" dirty="0"/>
              <a:t>Escrow service to handle disputes between sellers and buyers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trike="sngStrike" dirty="0"/>
              <a:t>Can only be accessed as a Tor onion service</a:t>
            </a:r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b="1" strike="sngStrike" dirty="0">
                <a:solidFill>
                  <a:srgbClr val="C00000"/>
                </a:solidFill>
              </a:rPr>
              <a:t>Cybercrime forums</a:t>
            </a:r>
            <a:r>
              <a:rPr lang="en-US" strike="sngStrike" dirty="0">
                <a:solidFill>
                  <a:srgbClr val="C00000"/>
                </a:solidFill>
              </a:rPr>
              <a:t>: </a:t>
            </a:r>
            <a:r>
              <a:rPr lang="en-US" strike="sngStrike" dirty="0"/>
              <a:t>Websites for discussing illegal activity</a:t>
            </a:r>
          </a:p>
        </p:txBody>
      </p:sp>
    </p:spTree>
    <p:extLst>
      <p:ext uri="{BB962C8B-B14F-4D97-AF65-F5344CB8AC3E}">
        <p14:creationId xmlns:p14="http://schemas.microsoft.com/office/powerpoint/2010/main" val="2110127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2708</TotalTime>
  <Words>3365</Words>
  <Application>Microsoft Office PowerPoint</Application>
  <PresentationFormat>Widescreen</PresentationFormat>
  <Paragraphs>671</Paragraphs>
  <Slides>46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CSC 3511 Security and Networking</vt:lpstr>
      <vt:lpstr>PowerPoint Presentation</vt:lpstr>
      <vt:lpstr>PowerPoint Presentation</vt:lpstr>
      <vt:lpstr>PowerPoint Presentation</vt:lpstr>
      <vt:lpstr>Proxies</vt:lpstr>
      <vt:lpstr>Virtual Private Networks (VPNs)</vt:lpstr>
      <vt:lpstr>Proxies and VPNs: Issues</vt:lpstr>
      <vt:lpstr>PowerPoint Presentation</vt:lpstr>
      <vt:lpstr>The Onion Router (Tor)</vt:lpstr>
      <vt:lpstr>The Onion Router (Tor)</vt:lpstr>
      <vt:lpstr>The Goals of Tor</vt:lpstr>
      <vt:lpstr>Tor Circuits</vt:lpstr>
      <vt:lpstr>Tor Circuits</vt:lpstr>
      <vt:lpstr>Tor Circuits</vt:lpstr>
      <vt:lpstr>What a Relay Does</vt:lpstr>
      <vt:lpstr>Tor Packet Construction</vt:lpstr>
      <vt:lpstr>Tor Circuits</vt:lpstr>
      <vt:lpstr>Tor Circuits</vt:lpstr>
      <vt:lpstr>PowerPoint Presentation</vt:lpstr>
      <vt:lpstr>Tor Circuits</vt:lpstr>
      <vt:lpstr>PowerPoint Presentation</vt:lpstr>
      <vt:lpstr>Tor Circuits</vt:lpstr>
      <vt:lpstr>PowerPoint Presentation</vt:lpstr>
      <vt:lpstr>Tor Circuits</vt:lpstr>
      <vt:lpstr>Tor Circuits</vt:lpstr>
      <vt:lpstr>Tor Exit Nodes</vt:lpstr>
      <vt:lpstr>Tor Weaknesses: Collusion</vt:lpstr>
      <vt:lpstr>Tor Weaknesses: Distinguishable Traffic</vt:lpstr>
      <vt:lpstr>Tor Weaknesses: Timing Attacks</vt:lpstr>
      <vt:lpstr>Summary: Anonymity and Tor</vt:lpstr>
      <vt:lpstr>PowerPoint Presentation</vt:lpstr>
      <vt:lpstr>Tor Onion Services</vt:lpstr>
      <vt:lpstr>Tor Onion Services</vt:lpstr>
      <vt:lpstr>Tor Onion Services</vt:lpstr>
      <vt:lpstr>Tor Onion Services</vt:lpstr>
      <vt:lpstr>Tor Onion Services</vt:lpstr>
      <vt:lpstr>Tor Onion Services</vt:lpstr>
      <vt:lpstr>Tor Onion Services</vt:lpstr>
      <vt:lpstr>Tor Onion Services</vt:lpstr>
      <vt:lpstr>Tor Onion Services</vt:lpstr>
      <vt:lpstr>Tor Onion Services</vt:lpstr>
      <vt:lpstr>Tor Onion Services</vt:lpstr>
      <vt:lpstr>Tor Onion Services</vt:lpstr>
      <vt:lpstr>Tor Onion Services</vt:lpstr>
      <vt:lpstr>Tor Onion Services</vt:lpstr>
      <vt:lpstr>Hosting Illegal Services on 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Liao, Zhonghao</dc:creator>
  <cp:lastModifiedBy>Liao, Zhonghao</cp:lastModifiedBy>
  <cp:revision>413</cp:revision>
  <dcterms:created xsi:type="dcterms:W3CDTF">2024-11-04T19:47:12Z</dcterms:created>
  <dcterms:modified xsi:type="dcterms:W3CDTF">2025-11-22T18:03:00Z</dcterms:modified>
</cp:coreProperties>
</file>