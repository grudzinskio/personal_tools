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1467" r:id="rId3"/>
    <p:sldId id="1435" r:id="rId4"/>
    <p:sldId id="1466" r:id="rId5"/>
    <p:sldId id="258" r:id="rId6"/>
    <p:sldId id="512" r:id="rId7"/>
    <p:sldId id="513" r:id="rId8"/>
    <p:sldId id="1468" r:id="rId9"/>
    <p:sldId id="260" r:id="rId10"/>
    <p:sldId id="518" r:id="rId11"/>
    <p:sldId id="522" r:id="rId12"/>
    <p:sldId id="519" r:id="rId13"/>
    <p:sldId id="520" r:id="rId14"/>
    <p:sldId id="521" r:id="rId15"/>
    <p:sldId id="523" r:id="rId16"/>
    <p:sldId id="287" r:id="rId17"/>
    <p:sldId id="1469" r:id="rId18"/>
    <p:sldId id="289" r:id="rId19"/>
    <p:sldId id="290" r:id="rId20"/>
    <p:sldId id="291" r:id="rId21"/>
    <p:sldId id="292" r:id="rId22"/>
    <p:sldId id="293" r:id="rId23"/>
    <p:sldId id="1470" r:id="rId24"/>
    <p:sldId id="516" r:id="rId25"/>
    <p:sldId id="406" r:id="rId26"/>
    <p:sldId id="515" r:id="rId27"/>
    <p:sldId id="41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96" autoAdjust="0"/>
  </p:normalViewPr>
  <p:slideViewPr>
    <p:cSldViewPr snapToGrid="0">
      <p:cViewPr varScale="1">
        <p:scale>
          <a:sx n="101" d="100"/>
          <a:sy n="101" d="100"/>
        </p:scale>
        <p:origin x="1253" y="8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325D3-F1C7-4B36-A88F-5BFB155084B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CB26F-7BF5-4DA6-BA18-A0B7008BF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d is the modular multiplicative inverse of e modulo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(n)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d is the modular multiplicative inverse of e modulo </a:t>
                </a:r>
                <a:r>
                  <a:rPr lang="en-US" i="0">
                    <a:latin typeface="Cambria Math" panose="02040503050406030204" pitchFamily="18" charset="0"/>
                  </a:rPr>
                  <a:t>𝜙 </a:t>
                </a:r>
                <a:r>
                  <a:rPr lang="en-US" dirty="0"/>
                  <a:t>(n)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19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proof in the slide assumes that the message 𝑀 is coprime to 𝑁, which may not always hold. For a strictly correct application of RSA, cryptographic padding (such as OAEP padding) is often used to ensure this condition and enhance security. If you’re interested in a more rigorous understanding, please research OAEP padding and its role in secure RSA encryption.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2E47E-9824-47F9-AB0D-E62E0DE5196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85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2E47E-9824-47F9-AB0D-E62E0DE519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08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8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receiver does NOT initially know:</a:t>
            </a:r>
          </a:p>
          <a:p>
            <a:endParaRPr lang="en-US" b="0" dirty="0"/>
          </a:p>
          <a:p>
            <a:r>
              <a:rPr lang="en-US" b="0" dirty="0"/>
              <a:t>1. r (the random value)</a:t>
            </a:r>
          </a:p>
          <a:p>
            <a:r>
              <a:rPr lang="en-US" b="0" dirty="0"/>
              <a:t>2. m (the original message)</a:t>
            </a:r>
          </a:p>
          <a:p>
            <a:endParaRPr lang="en-US" b="0" dirty="0"/>
          </a:p>
          <a:p>
            <a:r>
              <a:rPr lang="en-US" dirty="0"/>
              <a:t>An attacker who modifies the ciphertext will cause r to be computed incorrectly, which causes the padding check to fail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42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ptos (Body)"/>
              </a:rPr>
              <a:t>Public-key encryption is bad for large messages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7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98F-B827-13AD-265C-514C2162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41564-4F01-3DA7-30A5-41B69602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C639-4AB9-F4D6-CFBA-209FE857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7A7F-9979-7B59-A463-DCEBBA95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0F76-7128-32CE-27E0-EA7B842C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79D5-059D-19DB-300F-B545C4C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1340-A1E9-7CE3-85EA-7F1CF2ED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81CF-4E42-18FC-F8CF-942C82B5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239-A774-E47F-618D-51D208E6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B347-A921-E0AB-5A62-7830ED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AE5C-05CB-8274-A918-075C19B6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43FC-A248-C72E-7C55-AF40C95C9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89F5-84BE-3CEF-33F5-F2CA26EE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C82B-F092-F737-C6EC-4508B148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E09F0-8AE5-6C3F-D940-15869CCF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2350-D4AF-4F3C-CEE2-B8734DE1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F635-D032-EB3F-AA91-8B6201523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6D8E9-1DD1-0647-572D-88AADC9B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C9E6-F832-C7D5-DD5F-43E7579F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2CA5-C7DE-C955-B48A-7E0F3888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908E-669F-CB28-260B-78354401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4474-5433-09FA-BE28-C0DC57B6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AD488-42FB-58FC-4155-0D56C39B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34D41-5957-DB0E-CB35-AC6249E0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25178-5D33-EBD1-4C79-986B42DA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3E2A5-4A98-031A-250D-CBFB1D93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BD9DE-6FA7-D067-18F3-C04BBCDB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D33E4-2E0D-1662-B7BF-20E78E7C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DC47E-1E21-2424-6A7B-315D8AA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A65-C705-E6A3-485D-408F56B8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69A2-CE3D-6E6E-685B-1FE020EA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84AF1-31C9-84AC-0250-05744141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3C2AA-F699-ED5D-9FBA-C19002E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332F3-879F-BB3B-698B-B2739723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113C-0FB8-0400-99D8-6F134830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B956-7068-44C2-B72A-60BB293D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8B4E-A384-E57E-E42B-8DF0137C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5B01-185E-04BB-14A7-B258CA51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228C-5F12-7AF1-FC9F-8C1032F39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1407C-424A-E815-0FAD-6132348E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F71BD-8573-007D-3858-3535CBA0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0FE8-99A5-4546-F000-62538D6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2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AFE-88EA-C3CA-5268-51CB9598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2BC8C-DCDC-6F3B-EC4D-AD7E7D77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F378A-43F4-65AF-61DB-1B261A99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5D82-7B33-82FC-4CC1-372A7E7A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8B4F-C700-D100-E550-F1A34A23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C4BE6-38EC-0ED9-64CD-D1DBED13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76C-A078-6711-FF3C-E68ACE03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0CDEF-7F11-C385-F99C-1D079A46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33E6-8B7A-63A7-4B43-936C9C06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FD48-7F8C-2C53-C6E5-51FBBC2B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E807-0A14-F9E7-D3C4-243C242B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3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52A6E-A9A4-3335-FD57-B09080704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A70CC-412C-59DD-E5F3-0B522209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2B3D-CE4D-9039-CF20-3EA5A25A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CD87-FDF1-2A7A-1BE7-FA7D6B71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DFF-8601-30EC-83EF-AD74CA7E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7597A-B7A8-059C-160C-EC7CE288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34A4-186E-5F01-1F5B-80DF3841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DDF5-E321-EF03-3E6D-64F457503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72AB9-64A1-45BC-9C9A-78E398D2F99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1B2B9-24D1-3FFE-9B16-BFA0BAC7B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9AEC6-3A77-F298-9C68-54B2F0065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4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rypto.stanford.edu/~dabo/courses/cs255_winter00/RSA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18463/what-is-the-performance-difference-of-pki-to-symmetric-encryp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lomel.org/aesni_ssl_performance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3.png"/><Relationship Id="rId7" Type="http://schemas.openxmlformats.org/officeDocument/2006/relationships/image" Target="../media/image16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3.png"/><Relationship Id="rId4" Type="http://schemas.openxmlformats.org/officeDocument/2006/relationships/image" Target="../media/image200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10, Lecture 2: Public Key Cryptography,</a:t>
            </a:r>
            <a:r>
              <a:rPr lang="zh-CN" altLang="en-US" dirty="0"/>
              <a:t> </a:t>
            </a:r>
            <a:r>
              <a:rPr lang="en-US" altLang="zh-CN" dirty="0"/>
              <a:t>RSA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81F9505-371A-CD27-F70A-D2EF14C860BE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/>
              <a:t>Cryptography Roadmap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8B5AFA-F68C-0DB5-2D1A-475F91A3D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187351"/>
              </p:ext>
            </p:extLst>
          </p:nvPr>
        </p:nvGraphicFramePr>
        <p:xfrm>
          <a:off x="1378662" y="1851391"/>
          <a:ext cx="9434676" cy="3353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892">
                  <a:extLst>
                    <a:ext uri="{9D8B030D-6E8A-4147-A177-3AD203B41FA5}">
                      <a16:colId xmlns:a16="http://schemas.microsoft.com/office/drawing/2014/main" val="441670777"/>
                    </a:ext>
                  </a:extLst>
                </a:gridCol>
                <a:gridCol w="3144892">
                  <a:extLst>
                    <a:ext uri="{9D8B030D-6E8A-4147-A177-3AD203B41FA5}">
                      <a16:colId xmlns:a16="http://schemas.microsoft.com/office/drawing/2014/main" val="2643356534"/>
                    </a:ext>
                  </a:extLst>
                </a:gridCol>
                <a:gridCol w="3144892">
                  <a:extLst>
                    <a:ext uri="{9D8B030D-6E8A-4147-A177-3AD203B41FA5}">
                      <a16:colId xmlns:a16="http://schemas.microsoft.com/office/drawing/2014/main" val="3048024995"/>
                    </a:ext>
                  </a:extLst>
                </a:gridCol>
              </a:tblGrid>
              <a:tr h="1051739"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Symmetric-key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Asymmetric-key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37254"/>
                  </a:ext>
                </a:extLst>
              </a:tr>
              <a:tr h="1051739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Confidentiality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One-time pads</a:t>
                      </a:r>
                    </a:p>
                    <a:p>
                      <a:pPr marL="342900" indent="-3429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Stream ciphers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Block ciphers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RSA encryption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93775"/>
                  </a:ext>
                </a:extLst>
              </a:tr>
              <a:tr h="1051739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Integrity,</a:t>
                      </a:r>
                    </a:p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Authentication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MACs (e.g., HMAC)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Digital signatures (e.g., RSA signatures)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95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085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DA46-17B5-C06A-14FB-592851FD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6B9E-F145-8272-AC79-21A51531575B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41F881-9683-06E8-DC86-39A923184FA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Public-Key Cryptography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RSA Encryption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Hybrid Encryption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89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C1A284D-1960-B073-E58D-874E57C5552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10401"/>
            <a:ext cx="10515600" cy="6627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Public Key Cryptography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663C55B-6F41-0042-1E1A-462B0C0C09ED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027905"/>
            <a:ext cx="10515600" cy="56145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dirty="0"/>
              <a:t>In public-key schemes, each person has two keys</a:t>
            </a:r>
          </a:p>
          <a:p>
            <a:pPr lvl="1">
              <a:spcAft>
                <a:spcPts val="600"/>
              </a:spcAft>
            </a:pPr>
            <a:r>
              <a:rPr lang="en-US" altLang="en-US" i="1" dirty="0"/>
              <a:t>KeyGen(): </a:t>
            </a:r>
            <a:r>
              <a:rPr lang="en-US" altLang="en-US" dirty="0"/>
              <a:t>output a pair of public key and private key; every public key corresponds to one private key</a:t>
            </a:r>
          </a:p>
          <a:p>
            <a:pPr lvl="1">
              <a:spcAft>
                <a:spcPts val="600"/>
              </a:spcAft>
            </a:pPr>
            <a:r>
              <a:rPr lang="en-US" altLang="en-US" i="1" dirty="0"/>
              <a:t>Public key:</a:t>
            </a:r>
            <a:r>
              <a:rPr lang="en-US" altLang="en-US" dirty="0"/>
              <a:t> available to anyone</a:t>
            </a:r>
          </a:p>
          <a:p>
            <a:pPr lvl="1">
              <a:spcAft>
                <a:spcPts val="600"/>
              </a:spcAft>
            </a:pPr>
            <a:r>
              <a:rPr lang="en-US" altLang="en-US" i="1" dirty="0"/>
              <a:t>Private key:</a:t>
            </a:r>
            <a:r>
              <a:rPr lang="en-US" altLang="en-US" dirty="0"/>
              <a:t> known only to individual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Use cases</a:t>
            </a:r>
          </a:p>
          <a:p>
            <a:pPr lvl="1">
              <a:spcAft>
                <a:spcPts val="600"/>
              </a:spcAft>
            </a:pPr>
            <a:r>
              <a:rPr lang="en-US" altLang="en-US" b="1" dirty="0">
                <a:solidFill>
                  <a:srgbClr val="C00000"/>
                </a:solidFill>
              </a:rPr>
              <a:t>Confidentiality</a:t>
            </a:r>
            <a:r>
              <a:rPr lang="en-US" altLang="en-US" dirty="0">
                <a:solidFill>
                  <a:srgbClr val="C00000"/>
                </a:solidFill>
              </a:rPr>
              <a:t>: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Encrypt using public key, decrypt using private key</a:t>
            </a:r>
          </a:p>
          <a:p>
            <a:pPr lvl="2">
              <a:spcAft>
                <a:spcPts val="600"/>
              </a:spcAft>
            </a:pPr>
            <a:r>
              <a:rPr lang="en-US" altLang="en-US" sz="2400" i="1" dirty="0"/>
              <a:t>Key management problem: Share symmetric key K</a:t>
            </a:r>
          </a:p>
          <a:p>
            <a:pPr lvl="1">
              <a:spcAft>
                <a:spcPts val="600"/>
              </a:spcAft>
            </a:pPr>
            <a:r>
              <a:rPr lang="en-US" altLang="en-US" b="1" dirty="0"/>
              <a:t>Integrity/Authentication</a:t>
            </a:r>
            <a:r>
              <a:rPr lang="en-US" altLang="en-US" dirty="0"/>
              <a:t>: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Encrypt using private key, decrypt using public one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258269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37DF91E-F1BC-A5B3-0C75-0EEF66F3CC12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210668"/>
            <a:ext cx="10515600" cy="8196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/>
              <a:t>Public-Key Encryption: Definition</a:t>
            </a:r>
            <a:endParaRPr lang="en-US" altLang="en-US" dirty="0"/>
          </a:p>
        </p:txBody>
      </p:sp>
      <p:sp>
        <p:nvSpPr>
          <p:cNvPr id="4" name="Google Shape;267;p33">
            <a:extLst>
              <a:ext uri="{FF2B5EF4-FFF2-40B4-BE49-F238E27FC236}">
                <a16:creationId xmlns:a16="http://schemas.microsoft.com/office/drawing/2014/main" id="{C9D5B29E-7E9D-C57B-B1A6-681C4A9E1435}"/>
              </a:ext>
            </a:extLst>
          </p:cNvPr>
          <p:cNvSpPr txBox="1">
            <a:spLocks/>
          </p:cNvSpPr>
          <p:nvPr/>
        </p:nvSpPr>
        <p:spPr>
          <a:xfrm>
            <a:off x="576072" y="1184759"/>
            <a:ext cx="11039856" cy="5052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Three parts: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KeyGen() → </a:t>
            </a:r>
            <a:r>
              <a:rPr lang="en-US" i="1" dirty="0"/>
              <a:t>PK</a:t>
            </a:r>
            <a:r>
              <a:rPr lang="en-US" dirty="0"/>
              <a:t>, </a:t>
            </a:r>
            <a:r>
              <a:rPr lang="en-US" i="1" dirty="0"/>
              <a:t>SK</a:t>
            </a:r>
            <a:r>
              <a:rPr lang="en-US" dirty="0"/>
              <a:t>: Generate a public/private keypair, where </a:t>
            </a:r>
            <a:r>
              <a:rPr lang="en-US" i="1" dirty="0"/>
              <a:t>PK</a:t>
            </a:r>
            <a:r>
              <a:rPr lang="en-US" dirty="0"/>
              <a:t> is the public key, and </a:t>
            </a:r>
            <a:r>
              <a:rPr lang="en-US" i="1" dirty="0"/>
              <a:t>SK</a:t>
            </a:r>
            <a:r>
              <a:rPr lang="en-US" dirty="0"/>
              <a:t> is the private (secret) key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Enc(</a:t>
            </a:r>
            <a:r>
              <a:rPr lang="en-US" i="1" dirty="0"/>
              <a:t>PK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) → </a:t>
            </a:r>
            <a:r>
              <a:rPr lang="en-US" i="1" dirty="0"/>
              <a:t>C</a:t>
            </a:r>
            <a:r>
              <a:rPr lang="en-US" dirty="0"/>
              <a:t>: Encrypt a plaintext </a:t>
            </a:r>
            <a:r>
              <a:rPr lang="en-US" i="1" dirty="0"/>
              <a:t>M</a:t>
            </a:r>
            <a:r>
              <a:rPr lang="en-US" dirty="0"/>
              <a:t> using public key </a:t>
            </a:r>
            <a:r>
              <a:rPr lang="en-US" i="1" dirty="0"/>
              <a:t>PK</a:t>
            </a:r>
            <a:r>
              <a:rPr lang="en-US" dirty="0"/>
              <a:t> to produce ciphertext </a:t>
            </a:r>
            <a:r>
              <a:rPr lang="en-US" i="1" dirty="0"/>
              <a:t>C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Dec(</a:t>
            </a:r>
            <a:r>
              <a:rPr lang="en-US" i="1" dirty="0"/>
              <a:t>SK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) → </a:t>
            </a:r>
            <a:r>
              <a:rPr lang="en-US" i="1" dirty="0"/>
              <a:t>M</a:t>
            </a:r>
            <a:r>
              <a:rPr lang="en-US" dirty="0"/>
              <a:t>: Decrypt a ciphertext </a:t>
            </a:r>
            <a:r>
              <a:rPr lang="en-US" i="1" dirty="0"/>
              <a:t>C</a:t>
            </a:r>
            <a:r>
              <a:rPr lang="en-US" dirty="0"/>
              <a:t> using secret key </a:t>
            </a:r>
            <a:r>
              <a:rPr lang="en-US" i="1" dirty="0"/>
              <a:t>SK</a:t>
            </a: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Properties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Correctness</a:t>
            </a:r>
            <a:r>
              <a:rPr lang="en-US" dirty="0"/>
              <a:t>: Decrypting a ciphertext should result in the message that was originally encrypted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Dec(</a:t>
            </a:r>
            <a:r>
              <a:rPr lang="en-US" i="1" dirty="0"/>
              <a:t>SK</a:t>
            </a:r>
            <a:r>
              <a:rPr lang="en-US" dirty="0"/>
              <a:t>, Enc(</a:t>
            </a:r>
            <a:r>
              <a:rPr lang="en-US" i="1" dirty="0"/>
              <a:t>PK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)) = </a:t>
            </a:r>
            <a:r>
              <a:rPr lang="en-US" i="1" dirty="0"/>
              <a:t>M</a:t>
            </a:r>
            <a:r>
              <a:rPr lang="en-US" dirty="0"/>
              <a:t> for all </a:t>
            </a:r>
            <a:r>
              <a:rPr lang="en-US" i="1" dirty="0"/>
              <a:t>PK</a:t>
            </a:r>
            <a:r>
              <a:rPr lang="en-US" dirty="0"/>
              <a:t>, </a:t>
            </a:r>
            <a:r>
              <a:rPr lang="en-US" i="1" dirty="0"/>
              <a:t>SK</a:t>
            </a:r>
            <a:r>
              <a:rPr lang="en-US" dirty="0"/>
              <a:t> ← KeyGen() and </a:t>
            </a:r>
            <a:r>
              <a:rPr lang="en-US" i="1" dirty="0"/>
              <a:t>M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Efficiency</a:t>
            </a:r>
            <a:r>
              <a:rPr lang="en-US" dirty="0"/>
              <a:t>: Encryption/decryption should be fast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Security</a:t>
            </a:r>
            <a:r>
              <a:rPr lang="en-US" dirty="0"/>
              <a:t>: </a:t>
            </a:r>
          </a:p>
          <a:p>
            <a:pPr marL="1371600" lvl="2" indent="-317500">
              <a:spcBef>
                <a:spcPts val="0"/>
              </a:spcBef>
              <a:spcAft>
                <a:spcPts val="600"/>
              </a:spcAft>
              <a:buSzPts val="1400"/>
              <a:buFont typeface="Arial" panose="020B0604020202020204" pitchFamily="34" charset="0"/>
              <a:buChar char="○"/>
            </a:pPr>
            <a:r>
              <a:rPr lang="en-US" dirty="0"/>
              <a:t>Computationally infeasible to derive the private key from the public key</a:t>
            </a:r>
          </a:p>
          <a:p>
            <a:pPr marL="1371600" lvl="2" indent="-317500">
              <a:spcBef>
                <a:spcPts val="0"/>
              </a:spcBef>
              <a:spcAft>
                <a:spcPts val="600"/>
              </a:spcAft>
              <a:buSzPts val="1400"/>
              <a:buFont typeface="Arial" panose="020B0604020202020204" pitchFamily="34" charset="0"/>
              <a:buChar char="○"/>
            </a:pPr>
            <a:r>
              <a:rPr lang="en-US" dirty="0"/>
              <a:t>Computationally infeasible to determine the private key from a chosen plaintext attack</a:t>
            </a:r>
          </a:p>
        </p:txBody>
      </p:sp>
    </p:spTree>
    <p:extLst>
      <p:ext uri="{BB962C8B-B14F-4D97-AF65-F5344CB8AC3E}">
        <p14:creationId xmlns:p14="http://schemas.microsoft.com/office/powerpoint/2010/main" val="84518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02C8-3F64-F713-582C-F729186C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550"/>
            <a:ext cx="10515600" cy="934629"/>
          </a:xfrm>
        </p:spPr>
        <p:txBody>
          <a:bodyPr/>
          <a:lstStyle/>
          <a:p>
            <a:r>
              <a:rPr lang="en-US" dirty="0"/>
              <a:t>Idea Behind Public-Key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2014E-3EC7-6944-65BD-712E07FCA5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097" y="1674415"/>
                <a:ext cx="67404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“Split up” the key: during the key generation phase, a key pair: public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</m:oMath>
                </a14:m>
                <a:r>
                  <a:rPr lang="en-US" dirty="0"/>
                  <a:t> and 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</m:t>
                        </m:r>
                      </m:sub>
                    </m:sSub>
                  </m:oMath>
                </a14:m>
                <a:r>
                  <a:rPr lang="en-US" dirty="0"/>
                  <a:t> is computed</a:t>
                </a:r>
              </a:p>
              <a:p>
                <a:endParaRPr lang="en-US" dirty="0"/>
              </a:p>
              <a:p>
                <a:r>
                  <a:rPr lang="en-US" dirty="0"/>
                  <a:t>Analogy for public-key encryption: a mailbox</a:t>
                </a:r>
              </a:p>
              <a:p>
                <a:pPr lvl="1"/>
                <a:r>
                  <a:rPr lang="en-US" dirty="0"/>
                  <a:t>Everyone can drop a letter</a:t>
                </a:r>
              </a:p>
              <a:p>
                <a:pPr lvl="1"/>
                <a:r>
                  <a:rPr lang="en-US" dirty="0"/>
                  <a:t>Only the owner has the correct key to open the mailbox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2014E-3EC7-6944-65BD-712E07FCA5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097" y="1674415"/>
                <a:ext cx="6740433" cy="4351338"/>
              </a:xfrm>
              <a:blipFill>
                <a:blip r:embed="rId2"/>
                <a:stretch>
                  <a:fillRect l="-1627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Letter Box Royalty-Free Images ...">
            <a:extLst>
              <a:ext uri="{FF2B5EF4-FFF2-40B4-BE49-F238E27FC236}">
                <a16:creationId xmlns:a16="http://schemas.microsoft.com/office/drawing/2014/main" id="{86C01DA7-FDC5-FCAF-E5E5-D3F336D94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658" y="433737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2F50B6-09A2-6159-A729-B8705CC0B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632" y="1389528"/>
            <a:ext cx="5272086" cy="226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0077-20CA-3D29-D28C-56C6BAF1F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057"/>
            <a:ext cx="10515600" cy="901972"/>
          </a:xfrm>
        </p:spPr>
        <p:txBody>
          <a:bodyPr/>
          <a:lstStyle/>
          <a:p>
            <a:r>
              <a:rPr lang="en-US" dirty="0"/>
              <a:t>Public Key Encryption: Constructions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8C94E-42D3-67A1-F50C-6B8606FA1D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5520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Asymmetric schemes are based on a “one-way function” f():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computationally easy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computationally infeasible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Constructions generally rely on mathematically hard problems: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b="1" dirty="0">
                    <a:solidFill>
                      <a:srgbClr val="C00000"/>
                    </a:solidFill>
                  </a:rPr>
                  <a:t>Factoring integers </a:t>
                </a:r>
                <a:r>
                  <a:rPr lang="en-US" dirty="0">
                    <a:solidFill>
                      <a:srgbClr val="C00000"/>
                    </a:solidFill>
                  </a:rPr>
                  <a:t>(RSA, …): </a:t>
                </a:r>
                <a:r>
                  <a:rPr lang="en-US" dirty="0"/>
                  <a:t>Given a composite integer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find its </a:t>
                </a:r>
                <a:r>
                  <a:rPr lang="en-US" dirty="0">
                    <a:solidFill>
                      <a:srgbClr val="C00000"/>
                    </a:solidFill>
                  </a:rPr>
                  <a:t>prime factors</a:t>
                </a:r>
                <a:r>
                  <a:rPr lang="en-US" dirty="0"/>
                  <a:t> is hard (Multiply two primes is easy)</a:t>
                </a:r>
                <a:endParaRPr lang="en-US" b="1" dirty="0"/>
              </a:p>
              <a:p>
                <a:pPr lvl="1">
                  <a:spcAft>
                    <a:spcPts val="600"/>
                  </a:spcAft>
                </a:pPr>
                <a:r>
                  <a:rPr lang="en-US" b="1" dirty="0"/>
                  <a:t>Discrete Logarithm </a:t>
                </a:r>
                <a:r>
                  <a:rPr lang="en-US" dirty="0"/>
                  <a:t>(Diffie-Hellman, ElGamal, DSA, …):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(Exponentiation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: easy)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b="1" dirty="0"/>
                  <a:t>Elliptic Curves (EC) </a:t>
                </a:r>
                <a:r>
                  <a:rPr lang="en-US" dirty="0"/>
                  <a:t>(ECDH, ECDSA): Generalization of discrete logarithm</a:t>
                </a:r>
              </a:p>
              <a:p>
                <a:pPr>
                  <a:spcAft>
                    <a:spcPts val="6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8C94E-42D3-67A1-F50C-6B8606FA1D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5520"/>
                <a:ext cx="10515600" cy="4351338"/>
              </a:xfrm>
              <a:blipFill>
                <a:blip r:embed="rId2"/>
                <a:stretch>
                  <a:fillRect l="-1043" t="-23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AEF413-A826-32D3-BFBA-719E82813BC3}"/>
              </a:ext>
            </a:extLst>
          </p:cNvPr>
          <p:cNvSpPr txBox="1"/>
          <p:nvPr/>
        </p:nvSpPr>
        <p:spPr>
          <a:xfrm>
            <a:off x="838200" y="6237349"/>
            <a:ext cx="9396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</a:rPr>
              <a:t>Note: The problems are considered mathematically hard, but </a:t>
            </a:r>
            <a:r>
              <a:rPr lang="en-US" sz="1800" b="1" i="1" u="none" strike="noStrike" baseline="0" dirty="0">
                <a:solidFill>
                  <a:srgbClr val="C00000"/>
                </a:solidFill>
                <a:latin typeface="Arial" panose="020B0604020202020204" pitchFamily="34" charset="0"/>
              </a:rPr>
              <a:t>no proof exists </a:t>
            </a:r>
            <a:r>
              <a:rPr lang="en-US" sz="18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</a:rPr>
              <a:t>(so far)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39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977A-81DB-1F8B-F441-F782C3FB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5856-0B9B-F221-2339-A80C41F971DA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069ACFF-8436-505F-E9D6-85C9C295AECF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Public-Key Cryptography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RSA Encryption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Hybrid Encryption</a:t>
            </a: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1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E9A39BA-B954-3769-DDC7-A85C01DCCE6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00941"/>
            <a:ext cx="10515600" cy="6015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RSA Encryption: Key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389;p44">
                <a:extLst>
                  <a:ext uri="{FF2B5EF4-FFF2-40B4-BE49-F238E27FC236}">
                    <a16:creationId xmlns:a16="http://schemas.microsoft.com/office/drawing/2014/main" id="{13F25D2A-E812-CC7F-8C30-A8E95A3C6A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030173"/>
                <a:ext cx="10515600" cy="572688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4300" indent="0">
                  <a:spcBef>
                    <a:spcPts val="0"/>
                  </a:spcBef>
                  <a:spcAft>
                    <a:spcPts val="600"/>
                  </a:spcAft>
                  <a:buSzPts val="1800"/>
                  <a:buNone/>
                </a:pPr>
                <a:r>
                  <a:rPr lang="en-US" dirty="0"/>
                  <a:t>KeyGen():</a:t>
                </a:r>
              </a:p>
              <a:p>
                <a:pPr marL="45720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Randomly pick </a:t>
                </a:r>
                <a:r>
                  <a:rPr lang="en-US" b="1" dirty="0">
                    <a:solidFill>
                      <a:srgbClr val="C00000"/>
                    </a:solidFill>
                  </a:rPr>
                  <a:t>two large primes</a:t>
                </a:r>
                <a:r>
                  <a:rPr lang="en-US" dirty="0">
                    <a:solidFill>
                      <a:srgbClr val="C00000"/>
                    </a:solidFill>
                  </a:rPr>
                  <a:t>, </a:t>
                </a:r>
                <a:r>
                  <a:rPr lang="en-US" i="1" dirty="0">
                    <a:solidFill>
                      <a:srgbClr val="C00000"/>
                    </a:solidFill>
                  </a:rPr>
                  <a:t>p</a:t>
                </a:r>
                <a:r>
                  <a:rPr lang="en-US" dirty="0">
                    <a:solidFill>
                      <a:srgbClr val="C00000"/>
                    </a:solidFill>
                  </a:rPr>
                  <a:t> and </a:t>
                </a:r>
                <a:r>
                  <a:rPr lang="en-US" i="1" dirty="0">
                    <a:solidFill>
                      <a:srgbClr val="C00000"/>
                    </a:solidFill>
                  </a:rPr>
                  <a:t>q </a:t>
                </a:r>
                <a:r>
                  <a:rPr lang="en-US" i="1" dirty="0"/>
                  <a:t>(&gt; 2048 bits in total)</a:t>
                </a:r>
                <a:endParaRPr lang="en-US" dirty="0"/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Done by picking random numbers and then using a test to see if the number is (probably) prime</a:t>
                </a:r>
              </a:p>
              <a:p>
                <a:pPr marL="45720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Compute </a:t>
                </a:r>
                <a:r>
                  <a:rPr lang="en-US" i="1" dirty="0">
                    <a:solidFill>
                      <a:srgbClr val="C00000"/>
                    </a:solidFill>
                  </a:rPr>
                  <a:t>N</a:t>
                </a:r>
                <a:r>
                  <a:rPr lang="en-US" dirty="0">
                    <a:solidFill>
                      <a:srgbClr val="C00000"/>
                    </a:solidFill>
                  </a:rPr>
                  <a:t> = </a:t>
                </a:r>
                <a:r>
                  <a:rPr lang="en-US" i="1" dirty="0" err="1">
                    <a:solidFill>
                      <a:srgbClr val="C00000"/>
                    </a:solidFill>
                  </a:rPr>
                  <a:t>pq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i="1" dirty="0"/>
                  <a:t>N</a:t>
                </a:r>
                <a:r>
                  <a:rPr lang="en-US" dirty="0"/>
                  <a:t> is usually between 2048 bits and 4096 bits long</a:t>
                </a:r>
              </a:p>
              <a:p>
                <a:pPr marL="45720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Choose public exponent </a:t>
                </a:r>
                <a:r>
                  <a:rPr lang="en-US" i="1" dirty="0">
                    <a:solidFill>
                      <a:srgbClr val="C00000"/>
                    </a:solidFill>
                  </a:rPr>
                  <a:t>e</a:t>
                </a:r>
                <a:r>
                  <a:rPr lang="en-US" i="1" dirty="0"/>
                  <a:t> </a:t>
                </a:r>
                <a:endParaRPr lang="en-US" dirty="0"/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Requirement: </a:t>
                </a:r>
                <a:r>
                  <a:rPr lang="en-US" i="1" dirty="0"/>
                  <a:t>e</a:t>
                </a:r>
                <a:r>
                  <a:rPr lang="en-US" dirty="0"/>
                  <a:t> is </a:t>
                </a:r>
                <a:r>
                  <a:rPr lang="en-US" b="1" dirty="0"/>
                  <a:t>relatively prime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Requirement: 2 &lt; </a:t>
                </a:r>
                <a:r>
                  <a:rPr lang="en-US" i="1" dirty="0"/>
                  <a:t>e</a:t>
                </a:r>
                <a:r>
                  <a:rPr lang="en-US" dirty="0"/>
                  <a:t> &lt; (</a:t>
                </a:r>
                <a:r>
                  <a:rPr lang="en-US" i="1" dirty="0"/>
                  <a:t>p</a:t>
                </a:r>
                <a:r>
                  <a:rPr lang="en-US" dirty="0"/>
                  <a:t> - 1)(</a:t>
                </a:r>
                <a:r>
                  <a:rPr lang="en-US" i="1" dirty="0"/>
                  <a:t>q</a:t>
                </a:r>
                <a:r>
                  <a:rPr lang="en-US" dirty="0"/>
                  <a:t> - 1)</a:t>
                </a: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A common choice for 𝑒 is 65537, a prime number that is efficient for encryption and decryption</a:t>
                </a:r>
              </a:p>
              <a:p>
                <a:pPr marL="45720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Compute private exponent </a:t>
                </a:r>
                <a:r>
                  <a:rPr lang="en-US" i="1" dirty="0">
                    <a:solidFill>
                      <a:srgbClr val="C00000"/>
                    </a:solidFill>
                  </a:rPr>
                  <a:t>d</a:t>
                </a:r>
                <a:r>
                  <a:rPr lang="en-US" dirty="0"/>
                  <a:t> = </a:t>
                </a:r>
                <a:r>
                  <a:rPr lang="en-US" i="1" dirty="0"/>
                  <a:t>e</a:t>
                </a:r>
                <a:r>
                  <a:rPr lang="en-US" baseline="30000" dirty="0"/>
                  <a:t>-1</a:t>
                </a:r>
                <a:r>
                  <a:rPr lang="en-US" dirty="0"/>
                  <a:t> mod (</a:t>
                </a:r>
                <a:r>
                  <a:rPr lang="en-US" i="1" dirty="0"/>
                  <a:t>p</a:t>
                </a:r>
                <a:r>
                  <a:rPr lang="en-US" dirty="0"/>
                  <a:t> - 1)(</a:t>
                </a:r>
                <a:r>
                  <a:rPr lang="en-US" i="1" dirty="0"/>
                  <a:t>q</a:t>
                </a:r>
                <a:r>
                  <a:rPr lang="en-US" dirty="0"/>
                  <a:t> - 1) </a:t>
                </a: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i="1" dirty="0"/>
                  <a:t>d</a:t>
                </a:r>
                <a:r>
                  <a:rPr lang="en-US" dirty="0"/>
                  <a:t> is the modular inverse of </a:t>
                </a:r>
                <a:r>
                  <a:rPr lang="en-US" i="1" dirty="0"/>
                  <a:t>e</a:t>
                </a:r>
                <a:r>
                  <a:rPr lang="en-US" dirty="0"/>
                  <a:t> </a:t>
                </a:r>
                <a:r>
                  <a:rPr lang="en-US" i="1" dirty="0"/>
                  <a:t>mod(p-1)(q-1)</a:t>
                </a:r>
                <a:r>
                  <a:rPr lang="en-US" dirty="0"/>
                  <a:t>: </a:t>
                </a:r>
                <a:r>
                  <a:rPr lang="en-US" i="1" dirty="0"/>
                  <a:t>ed ≡ 1 mod (p - 1)(q - 1) </a:t>
                </a: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dirty="0"/>
                  <a:t>Algorithm: Extended Euclid’s algorithm</a:t>
                </a: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endParaRPr lang="en-US" dirty="0"/>
              </a:p>
              <a:p>
                <a:pPr marL="45720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b="1" dirty="0">
                    <a:solidFill>
                      <a:srgbClr val="C00000"/>
                    </a:solidFill>
                  </a:rPr>
                  <a:t>Public key</a:t>
                </a:r>
                <a:r>
                  <a:rPr lang="en-US" dirty="0">
                    <a:solidFill>
                      <a:srgbClr val="C00000"/>
                    </a:solidFill>
                  </a:rPr>
                  <a:t>: </a:t>
                </a:r>
                <a:r>
                  <a:rPr lang="en-US" i="1" dirty="0"/>
                  <a:t>N</a:t>
                </a:r>
                <a:r>
                  <a:rPr lang="en-US" dirty="0"/>
                  <a:t> and </a:t>
                </a:r>
                <a:r>
                  <a:rPr lang="en-US" i="1" dirty="0"/>
                  <a:t>e</a:t>
                </a:r>
              </a:p>
              <a:p>
                <a:pPr marL="45720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Font typeface="Arial" panose="020B0604020202020204" pitchFamily="34" charset="0"/>
                  <a:buChar char="●"/>
                </a:pPr>
                <a:r>
                  <a:rPr lang="en-US" b="1" dirty="0">
                    <a:solidFill>
                      <a:srgbClr val="C00000"/>
                    </a:solidFill>
                  </a:rPr>
                  <a:t>Private key: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i="1" dirty="0"/>
                  <a:t>d</a:t>
                </a:r>
                <a:endParaRPr lang="en-US" dirty="0"/>
              </a:p>
            </p:txBody>
          </p:sp>
        </mc:Choice>
        <mc:Fallback xmlns="">
          <p:sp>
            <p:nvSpPr>
              <p:cNvPr id="4" name="Google Shape;389;p44">
                <a:extLst>
                  <a:ext uri="{FF2B5EF4-FFF2-40B4-BE49-F238E27FC236}">
                    <a16:creationId xmlns:a16="http://schemas.microsoft.com/office/drawing/2014/main" id="{13F25D2A-E812-CC7F-8C30-A8E95A3C6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30173"/>
                <a:ext cx="10515600" cy="5726886"/>
              </a:xfrm>
              <a:prstGeom prst="rect">
                <a:avLst/>
              </a:prstGeom>
              <a:blipFill>
                <a:blip r:embed="rId3"/>
                <a:stretch>
                  <a:fillRect t="-1917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19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1F714C-6485-C2CD-BDDF-5AC59807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DEF730C-1021-4716-AAE2-B0F7C30F5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Char char="●"/>
                </a:pPr>
                <a:r>
                  <a:rPr lang="pt-BR" dirty="0"/>
                  <a:t>Compute the greatest common divisor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) of two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baseline="30000" dirty="0"/>
                  <a:t>  </a:t>
                </a:r>
              </a:p>
              <a:p>
                <a:pPr marL="457200" lvl="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Char char="●"/>
                </a:pPr>
                <a:r>
                  <a:rPr lang="en-US" dirty="0" err="1"/>
                  <a:t>gcd</a:t>
                </a:r>
                <a:r>
                  <a:rPr lang="en-US" dirty="0"/>
                  <a:t> is easy for small numbers:</a:t>
                </a: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Char char="●"/>
                </a:pPr>
                <a:r>
                  <a:rPr lang="en-US" sz="2800" dirty="0"/>
                  <a:t>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baseline="30000" dirty="0"/>
                  <a:t> </a:t>
                </a: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Char char="●"/>
                </a:pPr>
                <a:r>
                  <a:rPr lang="pt-BR" sz="2800" dirty="0"/>
                  <a:t>gcd = highest common factor</a:t>
                </a: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Char char="●"/>
                </a:pPr>
                <a:r>
                  <a:rPr lang="pt-BR" sz="28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=84=2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×2×3×7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914400" lvl="1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Char char="●"/>
                </a:pPr>
                <a:r>
                  <a:rPr lang="pt-BR" sz="2800" dirty="0"/>
                  <a:t>The gcd = the product of all common prime factors</a:t>
                </a:r>
              </a:p>
              <a:p>
                <a:pPr marL="457200" indent="-342900">
                  <a:spcBef>
                    <a:spcPts val="0"/>
                  </a:spcBef>
                  <a:spcAft>
                    <a:spcPts val="600"/>
                  </a:spcAft>
                  <a:buSzPts val="1800"/>
                  <a:buChar char="●"/>
                </a:pPr>
                <a:r>
                  <a:rPr lang="pt-BR" sz="3200" dirty="0"/>
                  <a:t>However, factoring is complicated (and often infeasible) for large numbers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DEF730C-1021-4716-AAE2-B0F7C30F5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389;p44">
            <a:extLst>
              <a:ext uri="{FF2B5EF4-FFF2-40B4-BE49-F238E27FC236}">
                <a16:creationId xmlns:a16="http://schemas.microsoft.com/office/drawing/2014/main" id="{41140F4B-7E03-3A2B-EF7C-07E3F8CB5241}"/>
              </a:ext>
            </a:extLst>
          </p:cNvPr>
          <p:cNvSpPr txBox="1">
            <a:spLocks/>
          </p:cNvSpPr>
          <p:nvPr/>
        </p:nvSpPr>
        <p:spPr>
          <a:xfrm>
            <a:off x="838200" y="1398080"/>
            <a:ext cx="10515600" cy="4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endParaRPr lang="pt-B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148E6D-9A94-B7F2-ED8F-14F4D18188DC}"/>
              </a:ext>
            </a:extLst>
          </p:cNvPr>
          <p:cNvSpPr/>
          <p:nvPr/>
        </p:nvSpPr>
        <p:spPr>
          <a:xfrm>
            <a:off x="5531742" y="4012409"/>
            <a:ext cx="899286" cy="4685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4293C-7501-E8F0-549F-BB52FF193263}"/>
              </a:ext>
            </a:extLst>
          </p:cNvPr>
          <p:cNvSpPr/>
          <p:nvPr/>
        </p:nvSpPr>
        <p:spPr>
          <a:xfrm>
            <a:off x="8706952" y="4012409"/>
            <a:ext cx="899286" cy="4685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F4D5F8-D68F-1BB8-4B08-6BD34983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650"/>
            <a:ext cx="10515600" cy="942657"/>
          </a:xfrm>
        </p:spPr>
        <p:txBody>
          <a:bodyPr/>
          <a:lstStyle/>
          <a:p>
            <a:r>
              <a:rPr lang="en-US" altLang="en-US" dirty="0"/>
              <a:t>Euclidean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84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62FE15-4BFA-5736-FA7E-4DBF607B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6464-7BC2-DF1C-F489-32B17FB8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59"/>
            <a:ext cx="10515600" cy="988454"/>
          </a:xfrm>
        </p:spPr>
        <p:txBody>
          <a:bodyPr/>
          <a:lstStyle/>
          <a:p>
            <a:r>
              <a:rPr lang="en-US" altLang="en-US" dirty="0"/>
              <a:t>Euclidean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49C210-F206-5794-1CD8-48439E7A79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6049" y="1218172"/>
                <a:ext cx="5749951" cy="428624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Find GCD </a:t>
                </a:r>
                <a:r>
                  <a:rPr lang="pt-BR" sz="2400" dirty="0"/>
                  <a:t>of two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baseline="30000" dirty="0"/>
                  <a:t>  </a:t>
                </a:r>
                <a:endParaRPr lang="en-US" sz="2400" dirty="0"/>
              </a:p>
              <a:p>
                <a:r>
                  <a:rPr lang="en-US" sz="2400" dirty="0"/>
                  <a:t>Observation: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i="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 …=</m:t>
                    </m:r>
                    <m:func>
                      <m:func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Core idea:</a:t>
                </a:r>
              </a:p>
              <a:p>
                <a:pPr lvl="1"/>
                <a:r>
                  <a:rPr lang="en-US" sz="2000" b="0" i="0" u="none" strike="noStrike" baseline="0" dirty="0">
                    <a:solidFill>
                      <a:srgbClr val="000000"/>
                    </a:solidFill>
                    <a:latin typeface="Aptos (Body)"/>
                  </a:rPr>
                  <a:t>Reduce the problem of finding the </a:t>
                </a:r>
                <a:r>
                  <a:rPr lang="en-US" sz="2000" b="0" i="0" u="none" strike="noStrike" baseline="0" dirty="0" err="1">
                    <a:solidFill>
                      <a:srgbClr val="000000"/>
                    </a:solidFill>
                    <a:latin typeface="Aptos (Body)"/>
                  </a:rPr>
                  <a:t>gcd</a:t>
                </a:r>
                <a:r>
                  <a:rPr lang="en-US" sz="2000" b="0" i="0" u="none" strike="noStrike" baseline="0" dirty="0">
                    <a:solidFill>
                      <a:srgbClr val="000000"/>
                    </a:solidFill>
                    <a:latin typeface="Aptos (Body)"/>
                  </a:rPr>
                  <a:t> of two given numbers to that of the </a:t>
                </a:r>
                <a:r>
                  <a:rPr lang="en-US" sz="2000" b="1" i="0" u="none" strike="noStrike" baseline="0" dirty="0" err="1">
                    <a:solidFill>
                      <a:srgbClr val="000000"/>
                    </a:solidFill>
                    <a:latin typeface="Aptos (Body)"/>
                  </a:rPr>
                  <a:t>gcd</a:t>
                </a:r>
                <a:r>
                  <a:rPr lang="en-US" sz="2000" b="1" i="0" u="none" strike="noStrike" baseline="0" dirty="0">
                    <a:solidFill>
                      <a:srgbClr val="000000"/>
                    </a:solidFill>
                    <a:latin typeface="Aptos (Body)"/>
                  </a:rPr>
                  <a:t> of two smaller numbers</a:t>
                </a:r>
              </a:p>
              <a:p>
                <a:pPr lvl="1"/>
                <a:r>
                  <a:rPr lang="en-US" sz="2000" b="0" i="0" u="none" strike="noStrike" baseline="0" dirty="0">
                    <a:solidFill>
                      <a:srgbClr val="000000"/>
                    </a:solidFill>
                    <a:latin typeface="Aptos (Body)"/>
                  </a:rPr>
                  <a:t>Repeat process recursively</a:t>
                </a:r>
              </a:p>
              <a:p>
                <a:pPr lvl="1"/>
                <a:r>
                  <a:rPr lang="en-US" sz="2000" b="0" i="0" u="none" strike="noStrike" baseline="0" dirty="0">
                    <a:solidFill>
                      <a:srgbClr val="000000"/>
                    </a:solidFill>
                    <a:latin typeface="Aptos (Body)"/>
                  </a:rPr>
                  <a:t>The final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b="1" i="1" u="none" strike="noStrike" baseline="0" dirty="0">
                    <a:solidFill>
                      <a:srgbClr val="000000"/>
                    </a:solidFill>
                    <a:latin typeface="Aptos (Body)"/>
                  </a:rPr>
                  <a:t> </a:t>
                </a:r>
                <a:r>
                  <a:rPr lang="en-US" sz="2000" b="0" i="0" u="none" strike="noStrike" baseline="0" dirty="0">
                    <a:solidFill>
                      <a:srgbClr val="000000"/>
                    </a:solidFill>
                    <a:latin typeface="Aptos (Body)"/>
                  </a:rPr>
                  <a:t>is the answer to the original problem!</a:t>
                </a:r>
              </a:p>
              <a:p>
                <a:pPr lvl="1"/>
                <a:endParaRPr lang="en-US" sz="2000" dirty="0">
                  <a:latin typeface="Aptos (Body)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49C210-F206-5794-1CD8-48439E7A7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6049" y="1218172"/>
                <a:ext cx="5749951" cy="4286249"/>
              </a:xfrm>
              <a:blipFill>
                <a:blip r:embed="rId2"/>
                <a:stretch>
                  <a:fillRect l="-1485" t="-4410" r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347C58D-0FBB-9C26-9018-DFC34B89FBAA}"/>
              </a:ext>
            </a:extLst>
          </p:cNvPr>
          <p:cNvSpPr txBox="1"/>
          <p:nvPr/>
        </p:nvSpPr>
        <p:spPr>
          <a:xfrm>
            <a:off x="778374" y="5680693"/>
            <a:ext cx="10575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Note</a:t>
            </a:r>
            <a:r>
              <a:rPr lang="en-US" sz="2400" dirty="0"/>
              <a:t>: very efficient method even for long numbers </a:t>
            </a:r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dirty="0"/>
              <a:t>The complexity grows linearly with the number of bits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4B024-91F3-61F1-EFCC-3D7001C3B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493" y="1092524"/>
            <a:ext cx="55816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8151-2E90-0E19-6FB4-F5AF5783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33"/>
            <a:ext cx="10515600" cy="830997"/>
          </a:xfrm>
        </p:spPr>
        <p:txBody>
          <a:bodyPr/>
          <a:lstStyle/>
          <a:p>
            <a:r>
              <a:rPr lang="en-US" altLang="en-US" dirty="0"/>
              <a:t>Euclidean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78DBF0-F7FD-1274-02E0-93EBE62C1B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852" y="1082485"/>
                <a:ext cx="11848470" cy="83099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Observation: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i="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 …=</m:t>
                    </m:r>
                    <m:func>
                      <m:func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pPr lvl="1"/>
                <a:endParaRPr lang="en-US" sz="2000" dirty="0">
                  <a:latin typeface="Aptos (Body)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78DBF0-F7FD-1274-02E0-93EBE62C1B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852" y="1082485"/>
                <a:ext cx="11848470" cy="830997"/>
              </a:xfrm>
              <a:blipFill>
                <a:blip r:embed="rId2"/>
                <a:stretch>
                  <a:fillRect l="-669" t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777BC01-A016-F40A-2672-13AB179A3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2" y="1815072"/>
            <a:ext cx="6464933" cy="1613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E6A2A1-9947-1837-D228-A9021F4F5BC8}"/>
              </a:ext>
            </a:extLst>
          </p:cNvPr>
          <p:cNvSpPr txBox="1"/>
          <p:nvPr/>
        </p:nvSpPr>
        <p:spPr>
          <a:xfrm>
            <a:off x="778374" y="5680693"/>
            <a:ext cx="10575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Note</a:t>
            </a:r>
            <a:r>
              <a:rPr lang="en-US" sz="2400" dirty="0"/>
              <a:t>: very efficient method even for long numbers </a:t>
            </a:r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dirty="0"/>
              <a:t>The complexity grows linearly with the number of bits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5B2C1B-E893-76B0-FBA1-A145747E3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52" y="3666287"/>
            <a:ext cx="5574767" cy="1849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88D507-6025-610E-FE0C-55FA69677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379" y="1913482"/>
            <a:ext cx="4354421" cy="334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5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D419-584F-5AD0-5452-5A66950D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99" y="108186"/>
            <a:ext cx="10515600" cy="904455"/>
          </a:xfrm>
        </p:spPr>
        <p:txBody>
          <a:bodyPr/>
          <a:lstStyle/>
          <a:p>
            <a:r>
              <a:rPr lang="en-US" dirty="0"/>
              <a:t>Extended Euclidean algorithm (EEA)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DE3DF-215C-9B99-53EB-CA71E049E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Extend the Euclidean algorithm to find modular inverse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EEA computes two 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s.t.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𝑔𝑐𝑑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i="1" dirty="0"/>
              </a:p>
              <a:p>
                <a:r>
                  <a:rPr lang="en-US" sz="2400" dirty="0"/>
                  <a:t>What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𝑔𝑐𝑑</m:t>
                        </m:r>
                      </m:fName>
                      <m:e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? </a:t>
                </a:r>
              </a:p>
              <a:p>
                <a:pPr lvl="1"/>
                <a:r>
                  <a:rPr lang="en-US" sz="2000" dirty="0">
                    <a:sym typeface="Wingdings" panose="05000000000000000000" pitchFamily="2" charset="2"/>
                  </a:rPr>
                  <a:t>We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 are relatively prime</a:t>
                </a:r>
              </a:p>
              <a:p>
                <a:pPr lvl="1"/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is the inverse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400" dirty="0"/>
                  <a:t>Recursive formula to calculate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r>
                  <a:rPr lang="en-US" sz="2400" dirty="0"/>
                  <a:t> in each step</a:t>
                </a:r>
              </a:p>
              <a:p>
                <a:pPr lvl="1"/>
                <a:r>
                  <a:rPr lang="en-US" sz="2000" dirty="0"/>
                  <a:t>Run time:   O(log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 N) (</a:t>
                </a:r>
                <a:r>
                  <a:rPr lang="pt-BR" sz="1600" dirty="0"/>
                  <a:t>O(log N × log N)</a:t>
                </a:r>
                <a:r>
                  <a:rPr lang="en-US" sz="2000" dirty="0"/>
                  <a:t>)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DE3DF-215C-9B99-53EB-CA71E049E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00B841-FEC6-A64A-DD8F-DF29CFD3F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335" y="2737140"/>
            <a:ext cx="3596496" cy="15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28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1B1699-A1F8-2166-F17C-0DECDF58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C515-9079-83C4-8542-1B9DF396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515"/>
            <a:ext cx="10515600" cy="738201"/>
          </a:xfrm>
        </p:spPr>
        <p:txBody>
          <a:bodyPr/>
          <a:lstStyle/>
          <a:p>
            <a:r>
              <a:rPr lang="en-US" dirty="0"/>
              <a:t>Extended Euclidean algorithm (EEA)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3DF0C-09E9-963C-AB1E-42352E079B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383" y="1015433"/>
                <a:ext cx="6340974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How to compute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 execute the standard Euclidean algorithm, but express the current remainder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as follows: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400" dirty="0"/>
                  <a:t>When the algorithm terminates, we end up in the last iteration with the equation: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𝑔𝑐𝑑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This means the last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400" dirty="0"/>
                  <a:t>  is the coefficient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we are looking for,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3DF0C-09E9-963C-AB1E-42352E079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83" y="1015433"/>
                <a:ext cx="6340974" cy="4351338"/>
              </a:xfrm>
              <a:blipFill>
                <a:blip r:embed="rId2"/>
                <a:stretch>
                  <a:fillRect l="-1250" t="-1823" r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E275256-412A-0C43-C0DA-44CDD88CC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69" y="4025270"/>
            <a:ext cx="3493865" cy="2683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3C3A3B-1FEB-D7F8-89EF-74CB85855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808" y="1198775"/>
            <a:ext cx="5672324" cy="464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4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1D9D-C0BC-374D-546C-FAA51E25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857"/>
            <a:ext cx="10515600" cy="828885"/>
          </a:xfrm>
        </p:spPr>
        <p:txBody>
          <a:bodyPr/>
          <a:lstStyle/>
          <a:p>
            <a:r>
              <a:rPr lang="en-US" dirty="0"/>
              <a:t>Extended Euclidean algorithm (EEA)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9C17E-EE0B-0302-58F3-A82A1FDE37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130" y="1933266"/>
                <a:ext cx="6778651" cy="28352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For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=973</m:t>
                    </m:r>
                    <m:r>
                      <a:rPr lang="en-US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=301</m:t>
                    </m:r>
                  </m:oMath>
                </a14:m>
                <a:endParaRPr lang="en-US" sz="2400" b="0" dirty="0">
                  <a:sym typeface="Wingdings" panose="05000000000000000000" pitchFamily="2" charset="2"/>
                </a:endParaRPr>
              </a:p>
              <a:p>
                <a:r>
                  <a:rPr lang="en-US" sz="2400" dirty="0"/>
                  <a:t>On the left: do standard Euclidean algo, i.e.,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…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Also, compute the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in every iteration</a:t>
                </a:r>
              </a:p>
              <a:p>
                <a:r>
                  <a:rPr lang="en-US" sz="2400" dirty="0"/>
                  <a:t>On the right: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9C17E-EE0B-0302-58F3-A82A1FDE3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30" y="1933266"/>
                <a:ext cx="6778651" cy="2835217"/>
              </a:xfrm>
              <a:blipFill>
                <a:blip r:embed="rId2"/>
                <a:stretch>
                  <a:fillRect l="-1259" t="-2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60C58B3-4A8C-781C-BC59-137CC9DB2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752" y="1993721"/>
            <a:ext cx="5388118" cy="25765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E9A05-027B-7E5E-0B8B-059FF84B1E60}"/>
                  </a:ext>
                </a:extLst>
              </p:cNvPr>
              <p:cNvSpPr txBox="1"/>
              <p:nvPr/>
            </p:nvSpPr>
            <p:spPr>
              <a:xfrm>
                <a:off x="7679267" y="1343818"/>
                <a:ext cx="339796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6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𝒓</m:t>
                          </m:r>
                        </m:e>
                        <m:sub>
                          <m:r>
                            <a:rPr lang="en-US" sz="26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</m:sub>
                      </m:sSub>
                      <m:r>
                        <a:rPr lang="en-US" sz="2600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𝟗𝟕𝟑</m:t>
                      </m:r>
                      <m:r>
                        <a:rPr lang="en-US" sz="26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US" sz="26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6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𝒓</m:t>
                          </m:r>
                        </m:e>
                        <m:sub>
                          <m:r>
                            <a:rPr lang="en-US" sz="26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sz="2600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𝟑𝟎𝟏</m:t>
                      </m:r>
                    </m:oMath>
                  </m:oMathPara>
                </a14:m>
                <a:endParaRPr lang="en-US" sz="2600" b="1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E9A05-027B-7E5E-0B8B-059FF84B1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267" y="1343818"/>
                <a:ext cx="33979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83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E9A39BA-B954-3769-DDC7-A85C01DCCE6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6"/>
            <a:ext cx="10515600" cy="8366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RSA Encryption: Encryption and Decryption</a:t>
            </a:r>
          </a:p>
        </p:txBody>
      </p:sp>
      <p:sp>
        <p:nvSpPr>
          <p:cNvPr id="4" name="Google Shape;389;p44">
            <a:extLst>
              <a:ext uri="{FF2B5EF4-FFF2-40B4-BE49-F238E27FC236}">
                <a16:creationId xmlns:a16="http://schemas.microsoft.com/office/drawing/2014/main" id="{13F25D2A-E812-CC7F-8C30-A8E95A3C6A71}"/>
              </a:ext>
            </a:extLst>
          </p:cNvPr>
          <p:cNvSpPr txBox="1">
            <a:spLocks/>
          </p:cNvSpPr>
          <p:nvPr/>
        </p:nvSpPr>
        <p:spPr>
          <a:xfrm>
            <a:off x="838200" y="1398080"/>
            <a:ext cx="10515600" cy="22791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lvl="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pt-BR" dirty="0"/>
              <a:t>Enc(</a:t>
            </a:r>
            <a:r>
              <a:rPr lang="pt-BR" i="1" dirty="0"/>
              <a:t>e</a:t>
            </a:r>
            <a:r>
              <a:rPr lang="pt-BR" dirty="0"/>
              <a:t>, </a:t>
            </a:r>
            <a:r>
              <a:rPr lang="pt-BR" i="1" dirty="0"/>
              <a:t>N</a:t>
            </a:r>
            <a:r>
              <a:rPr lang="pt-BR" dirty="0"/>
              <a:t>, </a:t>
            </a:r>
            <a:r>
              <a:rPr lang="pt-BR" i="1" dirty="0"/>
              <a:t>M</a:t>
            </a:r>
            <a:r>
              <a:rPr lang="pt-BR" dirty="0"/>
              <a:t>):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pt-BR" dirty="0"/>
              <a:t>Output </a:t>
            </a:r>
            <a:r>
              <a:rPr lang="pt-BR" i="1" dirty="0"/>
              <a:t>M</a:t>
            </a:r>
            <a:r>
              <a:rPr lang="pt-BR" i="1" baseline="30000" dirty="0"/>
              <a:t>e</a:t>
            </a:r>
            <a:r>
              <a:rPr lang="pt-BR" dirty="0"/>
              <a:t> mod </a:t>
            </a:r>
            <a:r>
              <a:rPr lang="pt-BR" i="1" dirty="0"/>
              <a:t>N</a:t>
            </a:r>
          </a:p>
          <a:p>
            <a:pPr marL="114300" lvl="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pt-BR" dirty="0"/>
          </a:p>
          <a:p>
            <a:pPr marL="114300" lvl="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pt-BR" dirty="0"/>
              <a:t>Dec(</a:t>
            </a:r>
            <a:r>
              <a:rPr lang="pt-BR" i="1"/>
              <a:t>d</a:t>
            </a:r>
            <a:r>
              <a:rPr lang="pt-BR"/>
              <a:t>,</a:t>
            </a:r>
            <a:r>
              <a:rPr lang="pt-BR" i="1"/>
              <a:t> </a:t>
            </a:r>
            <a:r>
              <a:rPr lang="pt-BR" i="1" dirty="0"/>
              <a:t>C</a:t>
            </a:r>
            <a:r>
              <a:rPr lang="pt-BR" dirty="0"/>
              <a:t>):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pt-BR" dirty="0"/>
              <a:t>Output </a:t>
            </a:r>
            <a:r>
              <a:rPr lang="pt-BR" i="1" dirty="0"/>
              <a:t>C</a:t>
            </a:r>
            <a:r>
              <a:rPr lang="pt-BR" i="1" baseline="30000" dirty="0"/>
              <a:t>d</a:t>
            </a:r>
            <a:r>
              <a:rPr lang="pt-BR" dirty="0"/>
              <a:t> = (</a:t>
            </a:r>
            <a:r>
              <a:rPr lang="pt-BR" i="1" dirty="0"/>
              <a:t>M</a:t>
            </a:r>
            <a:r>
              <a:rPr lang="pt-BR" i="1" baseline="30000" dirty="0"/>
              <a:t>e</a:t>
            </a:r>
            <a:r>
              <a:rPr lang="pt-BR" dirty="0"/>
              <a:t>)</a:t>
            </a:r>
            <a:r>
              <a:rPr lang="pt-BR" i="1" baseline="30000" dirty="0"/>
              <a:t>d</a:t>
            </a:r>
            <a:r>
              <a:rPr lang="pt-BR" dirty="0"/>
              <a:t> mod </a:t>
            </a:r>
            <a:r>
              <a:rPr lang="pt-BR" i="1" dirty="0"/>
              <a:t>N</a:t>
            </a:r>
            <a:endParaRPr lang="pt-BR" baseline="30000" dirty="0"/>
          </a:p>
        </p:txBody>
      </p:sp>
    </p:spTree>
    <p:extLst>
      <p:ext uri="{BB962C8B-B14F-4D97-AF65-F5344CB8AC3E}">
        <p14:creationId xmlns:p14="http://schemas.microsoft.com/office/powerpoint/2010/main" val="3387487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891B1-1AA9-F28F-A0E6-4245E6CE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043"/>
            <a:ext cx="10515600" cy="879866"/>
          </a:xfrm>
        </p:spPr>
        <p:txBody>
          <a:bodyPr/>
          <a:lstStyle/>
          <a:p>
            <a:r>
              <a:rPr lang="en" dirty="0"/>
              <a:t>RSA encryption: Correctness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402;p46">
                <a:extLst>
                  <a:ext uri="{FF2B5EF4-FFF2-40B4-BE49-F238E27FC236}">
                    <a16:creationId xmlns:a16="http://schemas.microsoft.com/office/drawing/2014/main" id="{208FED82-F287-F758-F10A-19F09F8DDC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099" y="1080398"/>
                <a:ext cx="11353801" cy="5777601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325755">
                  <a:spcBef>
                    <a:spcPts val="0"/>
                  </a:spcBef>
                  <a:spcAft>
                    <a:spcPts val="600"/>
                  </a:spcAft>
                  <a:buSzPct val="100000"/>
                  <a:buFont typeface="Arial" panose="020B0604020202020204" pitchFamily="34" charset="0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</a:rPr>
                  <a:t>Theorem</a:t>
                </a:r>
                <a:r>
                  <a:rPr lang="en-US" dirty="0"/>
                  <a:t>: </a:t>
                </a:r>
                <a:r>
                  <a:rPr lang="en-US" i="1" dirty="0"/>
                  <a:t>M</a:t>
                </a:r>
                <a:r>
                  <a:rPr lang="en-US" i="1" baseline="30000" dirty="0"/>
                  <a:t>ed</a:t>
                </a:r>
                <a:r>
                  <a:rPr lang="en-US" dirty="0"/>
                  <a:t> ≡ </a:t>
                </a:r>
                <a:r>
                  <a:rPr lang="en-US" i="1" dirty="0"/>
                  <a:t>M</a:t>
                </a:r>
                <a:r>
                  <a:rPr lang="en-US" dirty="0"/>
                  <a:t> mod </a:t>
                </a:r>
                <a:r>
                  <a:rPr lang="en-US" i="1" dirty="0"/>
                  <a:t>N</a:t>
                </a:r>
                <a:endParaRPr lang="en-US" dirty="0"/>
              </a:p>
              <a:p>
                <a:pPr marL="457200" indent="-325755">
                  <a:spcBef>
                    <a:spcPts val="0"/>
                  </a:spcBef>
                  <a:spcAft>
                    <a:spcPts val="600"/>
                  </a:spcAft>
                  <a:buSzPct val="100000"/>
                  <a:buFont typeface="Arial" panose="020B0604020202020204" pitchFamily="34" charset="0"/>
                  <a:buAutoNum type="arabicPeriod"/>
                </a:pPr>
                <a:r>
                  <a:rPr lang="en-US" dirty="0"/>
                  <a:t>Euler’s theorem: for all positive coprime-with-</a:t>
                </a:r>
                <a:r>
                  <a:rPr lang="en-US" i="1" dirty="0"/>
                  <a:t>N</a:t>
                </a:r>
                <a:r>
                  <a:rPr lang="en-US" dirty="0"/>
                  <a:t> </a:t>
                </a:r>
                <a:r>
                  <a:rPr lang="en-US" i="1" dirty="0"/>
                  <a:t>a, </a:t>
                </a:r>
                <a:r>
                  <a:rPr lang="en-US" dirty="0"/>
                  <a:t> </a:t>
                </a:r>
                <a:r>
                  <a:rPr lang="en-US" i="1" dirty="0"/>
                  <a:t>a</a:t>
                </a:r>
                <a:r>
                  <a:rPr lang="el-GR" i="1" baseline="30000" dirty="0"/>
                  <a:t>φ</a:t>
                </a:r>
                <a:r>
                  <a:rPr lang="el-GR" baseline="30000" dirty="0"/>
                  <a:t>(</a:t>
                </a:r>
                <a:r>
                  <a:rPr lang="en-US" i="1" baseline="30000" dirty="0"/>
                  <a:t>N</a:t>
                </a:r>
                <a:r>
                  <a:rPr lang="en-US" baseline="30000" dirty="0"/>
                  <a:t>)</a:t>
                </a:r>
                <a:r>
                  <a:rPr lang="en-US" dirty="0"/>
                  <a:t> ≡ 1 mod </a:t>
                </a:r>
                <a:r>
                  <a:rPr lang="en-US" i="1" dirty="0"/>
                  <a:t>N</a:t>
                </a:r>
                <a:endParaRPr lang="en-US" dirty="0"/>
              </a:p>
              <a:p>
                <a:pPr marL="914400" lvl="1" indent="-304165">
                  <a:spcBef>
                    <a:spcPts val="0"/>
                  </a:spcBef>
                  <a:spcAft>
                    <a:spcPts val="600"/>
                  </a:spcAft>
                  <a:buSzPct val="100000"/>
                  <a:buFont typeface="Arial" panose="020B0604020202020204" pitchFamily="34" charset="0"/>
                  <a:buAutoNum type="alphaLcPeriod"/>
                </a:pPr>
                <a:r>
                  <a:rPr lang="en-US" dirty="0"/>
                  <a:t>Coprime: greatest common divisor (GCD) of </a:t>
                </a:r>
                <a:r>
                  <a:rPr lang="en-US" b="1" i="1" dirty="0"/>
                  <a:t>a</a:t>
                </a:r>
                <a:r>
                  <a:rPr lang="en-US" dirty="0"/>
                  <a:t> and </a:t>
                </a:r>
                <a:r>
                  <a:rPr lang="en-US" b="1" i="1" dirty="0"/>
                  <a:t>N</a:t>
                </a:r>
                <a:r>
                  <a:rPr lang="en-US" dirty="0"/>
                  <a:t> is 1</a:t>
                </a:r>
              </a:p>
              <a:p>
                <a:pPr marL="914400" lvl="1" indent="-304165">
                  <a:spcBef>
                    <a:spcPts val="0"/>
                  </a:spcBef>
                  <a:spcAft>
                    <a:spcPts val="600"/>
                  </a:spcAft>
                  <a:buSzPct val="100000"/>
                  <a:buFont typeface="Arial" panose="020B0604020202020204" pitchFamily="34" charset="0"/>
                  <a:buAutoNum type="alphaLcPeriod"/>
                </a:pPr>
                <a:r>
                  <a:rPr lang="el-GR" i="1" dirty="0"/>
                  <a:t>φ</a:t>
                </a:r>
                <a:r>
                  <a:rPr lang="el-GR" dirty="0"/>
                  <a:t>(</a:t>
                </a:r>
                <a:r>
                  <a:rPr lang="en-US" i="1" dirty="0"/>
                  <a:t>N</a:t>
                </a:r>
                <a:r>
                  <a:rPr lang="en-US" dirty="0"/>
                  <a:t>) is the totient function of </a:t>
                </a:r>
                <a:r>
                  <a:rPr lang="en-US" i="1" dirty="0"/>
                  <a:t>N</a:t>
                </a:r>
              </a:p>
              <a:p>
                <a:pPr marL="914400" lvl="1" indent="-304165">
                  <a:spcBef>
                    <a:spcPts val="0"/>
                  </a:spcBef>
                  <a:spcAft>
                    <a:spcPts val="600"/>
                  </a:spcAft>
                  <a:buSzPct val="100000"/>
                  <a:buFont typeface="Arial" panose="020B0604020202020204" pitchFamily="34" charset="0"/>
                  <a:buAutoNum type="alphaLcPeriod"/>
                </a:pPr>
                <a:r>
                  <a:rPr lang="en-US" dirty="0"/>
                  <a:t>If </a:t>
                </a:r>
                <a:r>
                  <a:rPr lang="en-US" b="1" i="1" dirty="0"/>
                  <a:t>N</a:t>
                </a:r>
                <a:r>
                  <a:rPr lang="en-US" dirty="0"/>
                  <a:t> is a product of two distinct </a:t>
                </a:r>
                <a:r>
                  <a:rPr lang="en-US" dirty="0">
                    <a:solidFill>
                      <a:srgbClr val="C00000"/>
                    </a:solidFill>
                  </a:rPr>
                  <a:t>prime numbers </a:t>
                </a:r>
                <a:r>
                  <a:rPr lang="en-US" b="1" i="1" dirty="0"/>
                  <a:t>p</a:t>
                </a:r>
                <a:r>
                  <a:rPr lang="en-US" dirty="0"/>
                  <a:t> and </a:t>
                </a:r>
                <a:r>
                  <a:rPr lang="en-US" b="1" i="1" dirty="0"/>
                  <a:t>q</a:t>
                </a:r>
                <a:r>
                  <a:rPr lang="en-US" dirty="0"/>
                  <a:t>, then: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−1)(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−1)</m:t>
                    </m:r>
                  </m:oMath>
                </a14:m>
                <a:endParaRPr lang="en-US" dirty="0"/>
              </a:p>
              <a:p>
                <a:pPr marL="914400" lvl="1" indent="-304165">
                  <a:spcBef>
                    <a:spcPts val="0"/>
                  </a:spcBef>
                  <a:spcAft>
                    <a:spcPts val="600"/>
                  </a:spcAft>
                  <a:buSzPct val="100000"/>
                  <a:buFont typeface="Arial" panose="020B0604020202020204" pitchFamily="34" charset="0"/>
                  <a:buAutoNum type="alphaLcPeriod"/>
                </a:pPr>
                <a:r>
                  <a:rPr lang="en-US" dirty="0"/>
                  <a:t>If </a:t>
                </a:r>
                <a:r>
                  <a:rPr lang="en-US" b="1" i="1" dirty="0"/>
                  <a:t>N</a:t>
                </a:r>
                <a:r>
                  <a:rPr lang="en-US" dirty="0"/>
                  <a:t> is prime, </a:t>
                </a:r>
                <a:r>
                  <a:rPr lang="el-GR" i="1" dirty="0"/>
                  <a:t>φ</a:t>
                </a:r>
                <a:r>
                  <a:rPr lang="el-GR" dirty="0"/>
                  <a:t>(</a:t>
                </a:r>
                <a:r>
                  <a:rPr lang="en-US" i="1" dirty="0"/>
                  <a:t>N</a:t>
                </a:r>
                <a:r>
                  <a:rPr lang="en-US" dirty="0"/>
                  <a:t>) = </a:t>
                </a:r>
                <a:r>
                  <a:rPr lang="en-US" i="1" dirty="0"/>
                  <a:t>N</a:t>
                </a:r>
                <a:r>
                  <a:rPr lang="en-US" dirty="0"/>
                  <a:t> - 1 (Fermat’s little theorem)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en-US" dirty="0"/>
                  <a:t>Notice: </a:t>
                </a:r>
                <a:r>
                  <a:rPr lang="en-US" i="1" dirty="0"/>
                  <a:t>ed</a:t>
                </a:r>
                <a:r>
                  <a:rPr lang="en-US" dirty="0"/>
                  <a:t> ≡ 1 mod (</a:t>
                </a:r>
                <a:r>
                  <a:rPr lang="en-US" i="1" dirty="0"/>
                  <a:t>p</a:t>
                </a:r>
                <a:r>
                  <a:rPr lang="en-US" dirty="0"/>
                  <a:t> - 1)(</a:t>
                </a:r>
                <a:r>
                  <a:rPr lang="en-US" i="1" dirty="0"/>
                  <a:t>q</a:t>
                </a:r>
                <a:r>
                  <a:rPr lang="en-US" dirty="0"/>
                  <a:t> - 1) so </a:t>
                </a:r>
                <a:r>
                  <a:rPr lang="en-US" i="1" dirty="0"/>
                  <a:t>ed</a:t>
                </a:r>
                <a:r>
                  <a:rPr lang="en-US" dirty="0"/>
                  <a:t> ≡ 1 mod </a:t>
                </a:r>
                <a:r>
                  <a:rPr lang="el-GR" i="1" dirty="0"/>
                  <a:t>φ</a:t>
                </a:r>
                <a:r>
                  <a:rPr lang="el-GR" dirty="0"/>
                  <a:t>(</a:t>
                </a:r>
                <a:r>
                  <a:rPr lang="en-US" i="1" dirty="0"/>
                  <a:t>N</a:t>
                </a:r>
                <a:r>
                  <a:rPr lang="en-US" dirty="0"/>
                  <a:t>)</a:t>
                </a:r>
              </a:p>
              <a:p>
                <a:pPr marL="457200" indent="0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en-US" dirty="0"/>
                  <a:t>This means that </a:t>
                </a:r>
                <a:r>
                  <a:rPr lang="en-US" i="1" dirty="0"/>
                  <a:t>ed</a:t>
                </a:r>
                <a:r>
                  <a:rPr lang="en-US" dirty="0"/>
                  <a:t> = </a:t>
                </a:r>
                <a:r>
                  <a:rPr lang="en-US" i="1" dirty="0"/>
                  <a:t>k</a:t>
                </a:r>
                <a:r>
                  <a:rPr lang="el-GR" i="1" dirty="0"/>
                  <a:t>φ</a:t>
                </a:r>
                <a:r>
                  <a:rPr lang="el-GR" dirty="0"/>
                  <a:t>(</a:t>
                </a:r>
                <a:r>
                  <a:rPr lang="en-US" i="1" dirty="0"/>
                  <a:t>n</a:t>
                </a:r>
                <a:r>
                  <a:rPr lang="en-US" dirty="0"/>
                  <a:t>) + 1 for some integer </a:t>
                </a:r>
                <a:r>
                  <a:rPr lang="en-US" i="1" dirty="0"/>
                  <a:t>k</a:t>
                </a:r>
                <a:endParaRPr lang="en-US" dirty="0"/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en-US" dirty="0"/>
                  <a:t>       </a:t>
                </a:r>
                <a:r>
                  <a:rPr lang="en-US" dirty="0">
                    <a:solidFill>
                      <a:srgbClr val="C00000"/>
                    </a:solidFill>
                  </a:rPr>
                  <a:t>Theorem in </a:t>
                </a:r>
                <a:r>
                  <a:rPr lang="en-US" b="1" dirty="0">
                    <a:solidFill>
                      <a:srgbClr val="C00000"/>
                    </a:solidFill>
                  </a:rPr>
                  <a:t>1</a:t>
                </a:r>
                <a:r>
                  <a:rPr lang="en-US" b="1" dirty="0"/>
                  <a:t>. </a:t>
                </a:r>
                <a:r>
                  <a:rPr lang="en-US" dirty="0"/>
                  <a:t>can be written as </a:t>
                </a:r>
                <a:r>
                  <a:rPr lang="en-US" i="1" dirty="0"/>
                  <a:t>M</a:t>
                </a:r>
                <a:r>
                  <a:rPr lang="en-US" i="1" baseline="30000" dirty="0"/>
                  <a:t>k</a:t>
                </a:r>
                <a:r>
                  <a:rPr lang="el-GR" i="1" baseline="30000" dirty="0"/>
                  <a:t>φ</a:t>
                </a:r>
                <a:r>
                  <a:rPr lang="el-GR" baseline="30000" dirty="0"/>
                  <a:t>(</a:t>
                </a:r>
                <a:r>
                  <a:rPr lang="en-US" i="1" baseline="30000" dirty="0"/>
                  <a:t>N</a:t>
                </a:r>
                <a:r>
                  <a:rPr lang="en-US" baseline="30000" dirty="0"/>
                  <a:t>) + 1</a:t>
                </a:r>
                <a:r>
                  <a:rPr lang="en-US" dirty="0"/>
                  <a:t> ≡ </a:t>
                </a:r>
                <a:r>
                  <a:rPr lang="en-US" i="1" dirty="0"/>
                  <a:t>M</a:t>
                </a:r>
                <a:r>
                  <a:rPr lang="en-US" dirty="0"/>
                  <a:t> mod </a:t>
                </a:r>
                <a:r>
                  <a:rPr lang="en-US" i="1" dirty="0"/>
                  <a:t>N</a:t>
                </a:r>
                <a:endParaRPr lang="en-US" dirty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i="1" dirty="0"/>
                  <a:t>M</a:t>
                </a:r>
                <a:r>
                  <a:rPr lang="en-US" i="1" baseline="30000" dirty="0"/>
                  <a:t>k</a:t>
                </a:r>
                <a:r>
                  <a:rPr lang="el-GR" i="1" baseline="30000" dirty="0"/>
                  <a:t>φ</a:t>
                </a:r>
                <a:r>
                  <a:rPr lang="el-GR" baseline="30000" dirty="0"/>
                  <a:t>(</a:t>
                </a:r>
                <a:r>
                  <a:rPr lang="en-US" i="1" baseline="30000" dirty="0"/>
                  <a:t>N</a:t>
                </a:r>
                <a:r>
                  <a:rPr lang="en-US" baseline="30000" dirty="0"/>
                  <a:t>)</a:t>
                </a:r>
                <a:r>
                  <a:rPr lang="en-US" i="1" dirty="0"/>
                  <a:t>M</a:t>
                </a:r>
                <a:r>
                  <a:rPr lang="en-US" baseline="30000" dirty="0"/>
                  <a:t>1</a:t>
                </a:r>
                <a:r>
                  <a:rPr lang="en-US" dirty="0"/>
                  <a:t> ≡ </a:t>
                </a:r>
                <a:r>
                  <a:rPr lang="en-US" i="1" dirty="0"/>
                  <a:t>M</a:t>
                </a:r>
                <a:r>
                  <a:rPr lang="en-US" dirty="0"/>
                  <a:t> mod </a:t>
                </a:r>
                <a:r>
                  <a:rPr lang="en-US" i="1" dirty="0"/>
                  <a:t>N  </a:t>
                </a:r>
                <a:r>
                  <a:rPr lang="en-US" i="1" dirty="0">
                    <a:sym typeface="Wingdings" panose="05000000000000000000" pitchFamily="2" charset="2"/>
                  </a:rPr>
                  <a:t> 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C00000"/>
                    </a:solidFill>
                  </a:rPr>
                  <a:t>Assume</a:t>
                </a:r>
                <a:r>
                  <a:rPr lang="en-US" dirty="0"/>
                  <a:t> </a:t>
                </a:r>
                <a:r>
                  <a:rPr lang="en-US" i="1" dirty="0"/>
                  <a:t>M </a:t>
                </a:r>
                <a:r>
                  <a:rPr lang="en-US" dirty="0"/>
                  <a:t>is coprime to </a:t>
                </a:r>
                <a:r>
                  <a:rPr lang="en-US" i="1" dirty="0"/>
                  <a:t>N</a:t>
                </a:r>
                <a:r>
                  <a:rPr lang="en-US" dirty="0"/>
                  <a:t>) </a:t>
                </a:r>
                <a:r>
                  <a:rPr lang="en-US" i="1" dirty="0"/>
                  <a:t>The first half can be rewritten 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i="1" dirty="0"/>
                          <m:t>M</m:t>
                        </m:r>
                        <m:r>
                          <m:rPr>
                            <m:nor/>
                          </m:rPr>
                          <a:rPr lang="el-GR" i="1" baseline="30000" dirty="0"/>
                          <m:t>φ</m:t>
                        </m:r>
                        <m:r>
                          <m:rPr>
                            <m:nor/>
                          </m:rPr>
                          <a:rPr lang="el-GR" baseline="30000" dirty="0"/>
                          <m:t>(</m:t>
                        </m:r>
                        <m:r>
                          <m:rPr>
                            <m:nor/>
                          </m:rPr>
                          <a:rPr lang="en-US" i="1" baseline="30000" dirty="0"/>
                          <m:t>N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nor/>
                      </m:rPr>
                      <a:rPr lang="en-US" dirty="0"/>
                      <m:t>≡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nor/>
                      </m:rPr>
                      <a:rPr lang="en-US" dirty="0"/>
                      <m:t>≡</m:t>
                    </m:r>
                  </m:oMath>
                </a14:m>
                <a:r>
                  <a:rPr lang="en-US" i="1" dirty="0"/>
                  <a:t>1 (mod N) 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dirty="0"/>
                  <a:t>1</a:t>
                </a:r>
                <a:r>
                  <a:rPr lang="en-US" i="1" dirty="0"/>
                  <a:t>M</a:t>
                </a:r>
                <a:r>
                  <a:rPr lang="en-US" baseline="30000" dirty="0"/>
                  <a:t>1</a:t>
                </a:r>
                <a:r>
                  <a:rPr lang="en-US" dirty="0"/>
                  <a:t> ≡ </a:t>
                </a:r>
                <a:r>
                  <a:rPr lang="en-US" i="1" dirty="0"/>
                  <a:t>M</a:t>
                </a:r>
                <a:r>
                  <a:rPr lang="en-US" dirty="0"/>
                  <a:t> mod </a:t>
                </a:r>
                <a:r>
                  <a:rPr lang="en-US" i="1" dirty="0"/>
                  <a:t>N</a:t>
                </a:r>
                <a:r>
                  <a:rPr lang="en-US" dirty="0"/>
                  <a:t> by Euler’s theorem </a:t>
                </a:r>
                <a:r>
                  <a:rPr lang="en-US" i="1" dirty="0"/>
                  <a:t>	M</a:t>
                </a:r>
                <a:r>
                  <a:rPr lang="en-US" dirty="0"/>
                  <a:t> ≡ </a:t>
                </a:r>
                <a:r>
                  <a:rPr lang="en-US" i="1" dirty="0"/>
                  <a:t>M</a:t>
                </a:r>
                <a:r>
                  <a:rPr lang="en-US" dirty="0"/>
                  <a:t> mod </a:t>
                </a:r>
                <a:r>
                  <a:rPr lang="en-US" i="1" dirty="0"/>
                  <a:t>N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Google Shape;402;p46">
                <a:extLst>
                  <a:ext uri="{FF2B5EF4-FFF2-40B4-BE49-F238E27FC236}">
                    <a16:creationId xmlns:a16="http://schemas.microsoft.com/office/drawing/2014/main" id="{208FED82-F287-F758-F10A-19F09F8DD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1080398"/>
                <a:ext cx="11353801" cy="5777601"/>
              </a:xfrm>
              <a:prstGeom prst="rect">
                <a:avLst/>
              </a:prstGeom>
              <a:blipFill>
                <a:blip r:embed="rId3"/>
                <a:stretch>
                  <a:fillRect l="-967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421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3BD9-FB60-F592-5B08-8C7D365A6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714"/>
            <a:ext cx="10515600" cy="901972"/>
          </a:xfrm>
        </p:spPr>
        <p:txBody>
          <a:bodyPr/>
          <a:lstStyle/>
          <a:p>
            <a:r>
              <a:rPr lang="en" dirty="0"/>
              <a:t>RSA Encryption: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88A78-DFC1-F7BF-47B6-77E9F2B63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494" y="1458570"/>
            <a:ext cx="11429011" cy="4626985"/>
          </a:xfrm>
        </p:spPr>
        <p:txBody>
          <a:bodyPr/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b="1" dirty="0"/>
              <a:t>RSA problem</a:t>
            </a:r>
            <a:r>
              <a:rPr lang="en-US" dirty="0"/>
              <a:t>: Given large </a:t>
            </a:r>
            <a:r>
              <a:rPr lang="en-US" i="1" dirty="0"/>
              <a:t>N = </a:t>
            </a:r>
            <a:r>
              <a:rPr lang="en-US" i="1" dirty="0" err="1"/>
              <a:t>pq</a:t>
            </a:r>
            <a:r>
              <a:rPr lang="en-US" dirty="0"/>
              <a:t> and </a:t>
            </a:r>
            <a:r>
              <a:rPr lang="en-US" i="1" dirty="0"/>
              <a:t>C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i="1" baseline="30000" dirty="0"/>
              <a:t>e</a:t>
            </a:r>
            <a:r>
              <a:rPr lang="en-US" dirty="0"/>
              <a:t> mod </a:t>
            </a:r>
            <a:r>
              <a:rPr lang="en-US" i="1" dirty="0"/>
              <a:t>N</a:t>
            </a:r>
            <a:r>
              <a:rPr lang="en-US" dirty="0"/>
              <a:t>, it is hard to find </a:t>
            </a:r>
            <a:r>
              <a:rPr lang="en-US" i="1" dirty="0"/>
              <a:t>M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Given the public key (𝑁,𝑒) and the ciphertext 𝐶, it is computationally infeasible to reverse-engineer the message 𝑀 without knowing the private key 𝑑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No harder than the factoring problem (if you can factor </a:t>
            </a:r>
            <a:r>
              <a:rPr lang="en-US" i="1" dirty="0"/>
              <a:t>N</a:t>
            </a:r>
            <a:r>
              <a:rPr lang="en-US" dirty="0"/>
              <a:t>, you can recover </a:t>
            </a:r>
            <a:r>
              <a:rPr lang="en-US" i="1" dirty="0"/>
              <a:t>p </a:t>
            </a:r>
            <a:r>
              <a:rPr lang="en-US" dirty="0"/>
              <a:t>and</a:t>
            </a:r>
            <a:r>
              <a:rPr lang="en-US" i="1" dirty="0"/>
              <a:t> q, </a:t>
            </a:r>
            <a:r>
              <a:rPr lang="en-US" dirty="0"/>
              <a:t>then use </a:t>
            </a:r>
            <a:r>
              <a:rPr lang="el-GR" i="1" dirty="0"/>
              <a:t>φ</a:t>
            </a:r>
            <a:r>
              <a:rPr lang="en-US" i="1" dirty="0"/>
              <a:t>(N) </a:t>
            </a:r>
            <a:r>
              <a:rPr lang="en-US" dirty="0"/>
              <a:t>and </a:t>
            </a:r>
            <a:r>
              <a:rPr lang="en-US" i="1" dirty="0"/>
              <a:t>e </a:t>
            </a:r>
            <a:r>
              <a:rPr lang="en-US" dirty="0"/>
              <a:t>to derive </a:t>
            </a:r>
            <a:r>
              <a:rPr lang="en-US" i="1" dirty="0"/>
              <a:t>d</a:t>
            </a:r>
            <a:r>
              <a:rPr lang="en-US" dirty="0"/>
              <a:t>)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Current best solution is to factor </a:t>
            </a:r>
            <a:r>
              <a:rPr lang="en-US" i="1" dirty="0"/>
              <a:t>N</a:t>
            </a:r>
            <a:r>
              <a:rPr lang="en-US" dirty="0"/>
              <a:t>, but unknown whether there is an easier way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Factoring problem is assumed to be hard (if you don’t have a massive quantum computer, that is)</a:t>
            </a:r>
          </a:p>
          <a:p>
            <a:pPr marL="914400" lvl="0" indent="0" algn="l" rtl="0">
              <a:spcBef>
                <a:spcPts val="1200"/>
              </a:spcBef>
              <a:spcAft>
                <a:spcPts val="600"/>
              </a:spcAft>
              <a:buNone/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32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F5BE-8A61-27E4-75D6-24124065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994"/>
            <a:ext cx="10515600" cy="928097"/>
          </a:xfrm>
        </p:spPr>
        <p:txBody>
          <a:bodyPr/>
          <a:lstStyle/>
          <a:p>
            <a:r>
              <a:rPr lang="en" dirty="0"/>
              <a:t>RSA Encryption: Issues</a:t>
            </a:r>
            <a:endParaRPr lang="en-US" dirty="0"/>
          </a:p>
        </p:txBody>
      </p:sp>
      <p:sp>
        <p:nvSpPr>
          <p:cNvPr id="4" name="Google Shape;415;p48">
            <a:extLst>
              <a:ext uri="{FF2B5EF4-FFF2-40B4-BE49-F238E27FC236}">
                <a16:creationId xmlns:a16="http://schemas.microsoft.com/office/drawing/2014/main" id="{FDBB6274-2C62-BEEA-BB38-5DD11B1220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505710"/>
            <a:ext cx="10845018" cy="38465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 dirty="0"/>
              <a:t>Is RSA encryption described above secure?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 b="1" dirty="0">
                <a:solidFill>
                  <a:srgbClr val="C00000"/>
                </a:solidFill>
              </a:rPr>
              <a:t>No</a:t>
            </a:r>
            <a:r>
              <a:rPr lang="en" dirty="0"/>
              <a:t> (</a:t>
            </a:r>
            <a:r>
              <a:rPr lang="en" i="1" dirty="0">
                <a:hlinkClick r:id="rId2"/>
              </a:rPr>
              <a:t>Textbook RSA</a:t>
            </a:r>
            <a:r>
              <a:rPr lang="en" dirty="0"/>
              <a:t>)</a:t>
            </a:r>
            <a:r>
              <a:rPr lang="en" b="1" dirty="0">
                <a:solidFill>
                  <a:srgbClr val="C00000"/>
                </a:solidFill>
              </a:rPr>
              <a:t>. </a:t>
            </a:r>
            <a:r>
              <a:rPr lang="en" dirty="0"/>
              <a:t>It’s deterministic: No randomness was used at any point!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The same plaintext always produces the same ciphertext under a given public key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 dirty="0"/>
              <a:t>Sending the same message encrypted with different public keys also leaks information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 dirty="0"/>
              <a:t>Small </a:t>
            </a:r>
            <a:r>
              <a:rPr lang="en" i="1" dirty="0"/>
              <a:t>m</a:t>
            </a:r>
            <a:r>
              <a:rPr lang="en" dirty="0"/>
              <a:t> and </a:t>
            </a:r>
            <a:r>
              <a:rPr lang="en" i="1" dirty="0"/>
              <a:t>e</a:t>
            </a:r>
            <a:r>
              <a:rPr lang="en" dirty="0"/>
              <a:t> leaks information </a:t>
            </a:r>
            <a:r>
              <a:rPr lang="en" dirty="0">
                <a:sym typeface="Wingdings" panose="05000000000000000000" pitchFamily="2" charset="2"/>
              </a:rPr>
              <a:t> </a:t>
            </a:r>
            <a:r>
              <a:rPr lang="en" i="1" dirty="0"/>
              <a:t>e</a:t>
            </a:r>
            <a:r>
              <a:rPr lang="en" dirty="0"/>
              <a:t> is usually small (~16 bits) and often constant (3, 17, 65537)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altLang="zh-CN" dirty="0"/>
              <a:t>Therefore</a:t>
            </a:r>
            <a:r>
              <a:rPr lang="en" altLang="zh-CN" dirty="0"/>
              <a:t>, w</a:t>
            </a:r>
            <a:r>
              <a:rPr lang="en" dirty="0"/>
              <a:t>e need a probabilistic padding scheme (e.g., OAEP padding scheme)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4429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43F5-C748-B334-78FC-8D14EEEB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872" y="225083"/>
            <a:ext cx="10894255" cy="795460"/>
          </a:xfrm>
        </p:spPr>
        <p:txBody>
          <a:bodyPr>
            <a:noAutofit/>
          </a:bodyPr>
          <a:lstStyle/>
          <a:p>
            <a:r>
              <a:rPr lang="en-US" sz="3600" dirty="0"/>
              <a:t>Optimal Asymmetric Encryption Padding (</a:t>
            </a:r>
            <a:r>
              <a:rPr lang="en" sz="3600" dirty="0"/>
              <a:t>OAEP): Padding</a:t>
            </a:r>
            <a:endParaRPr lang="en-US" sz="3600" dirty="0"/>
          </a:p>
        </p:txBody>
      </p:sp>
      <p:sp>
        <p:nvSpPr>
          <p:cNvPr id="4" name="Google Shape;430;p50">
            <a:extLst>
              <a:ext uri="{FF2B5EF4-FFF2-40B4-BE49-F238E27FC236}">
                <a16:creationId xmlns:a16="http://schemas.microsoft.com/office/drawing/2014/main" id="{404B3A91-0A5C-9265-417D-F0487A893976}"/>
              </a:ext>
            </a:extLst>
          </p:cNvPr>
          <p:cNvSpPr txBox="1">
            <a:spLocks/>
          </p:cNvSpPr>
          <p:nvPr/>
        </p:nvSpPr>
        <p:spPr>
          <a:xfrm>
            <a:off x="274320" y="1043007"/>
            <a:ext cx="6819242" cy="565321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i="1" dirty="0"/>
              <a:t>k</a:t>
            </a:r>
            <a:r>
              <a:rPr lang="en-US" sz="1200" dirty="0"/>
              <a:t>0</a:t>
            </a:r>
            <a:r>
              <a:rPr lang="en-US" dirty="0"/>
              <a:t> and </a:t>
            </a:r>
            <a:r>
              <a:rPr lang="en-US" i="1" dirty="0"/>
              <a:t>k</a:t>
            </a:r>
            <a:r>
              <a:rPr lang="en-US" sz="1200" dirty="0"/>
              <a:t>1</a:t>
            </a:r>
            <a:r>
              <a:rPr lang="en-US" dirty="0"/>
              <a:t> constants defined in the standard, and </a:t>
            </a:r>
            <a:r>
              <a:rPr lang="en-US" i="1" dirty="0"/>
              <a:t>G</a:t>
            </a:r>
            <a:r>
              <a:rPr lang="en-US" dirty="0"/>
              <a:t> and </a:t>
            </a:r>
            <a:r>
              <a:rPr lang="en-US" i="1" dirty="0"/>
              <a:t>H</a:t>
            </a:r>
            <a:r>
              <a:rPr lang="en-US" dirty="0"/>
              <a:t> are hash functions</a:t>
            </a:r>
          </a:p>
          <a:p>
            <a:pPr marL="914400" lvl="1" indent="-317500">
              <a:spcBef>
                <a:spcPts val="0"/>
              </a:spcBef>
              <a:spcAft>
                <a:spcPts val="600"/>
              </a:spcAft>
              <a:buSzPts val="1400"/>
              <a:buFont typeface="Arial" panose="020B0604020202020204" pitchFamily="34" charset="0"/>
              <a:buChar char="○"/>
            </a:pPr>
            <a:r>
              <a:rPr lang="en-US" dirty="0"/>
              <a:t>The parameter n is the RSA modulus size in bits (e.g., 2048 bits); For 2048-bit RSA with SHA-256, k₀=256, k₁=256</a:t>
            </a:r>
            <a:endParaRPr lang="en-US" i="1" dirty="0"/>
          </a:p>
          <a:p>
            <a:pPr marL="914400" lvl="1" indent="-317500">
              <a:spcBef>
                <a:spcPts val="0"/>
              </a:spcBef>
              <a:spcAft>
                <a:spcPts val="600"/>
              </a:spcAft>
              <a:buSzPts val="1400"/>
              <a:buFont typeface="Arial" panose="020B0604020202020204" pitchFamily="34" charset="0"/>
              <a:buChar char="○"/>
            </a:pPr>
            <a:r>
              <a:rPr lang="en-US" i="1" dirty="0"/>
              <a:t>M</a:t>
            </a:r>
            <a:r>
              <a:rPr lang="en-US" dirty="0"/>
              <a:t> can only be </a:t>
            </a:r>
            <a:r>
              <a:rPr lang="en-US" i="1" dirty="0"/>
              <a:t>n</a:t>
            </a:r>
            <a:r>
              <a:rPr lang="en-US" dirty="0"/>
              <a:t> - </a:t>
            </a:r>
            <a:r>
              <a:rPr lang="en-US" i="1" dirty="0"/>
              <a:t>k</a:t>
            </a:r>
            <a:r>
              <a:rPr lang="en-US" sz="900" dirty="0"/>
              <a:t>0</a:t>
            </a:r>
            <a:r>
              <a:rPr lang="en-US" dirty="0"/>
              <a:t> - </a:t>
            </a:r>
            <a:r>
              <a:rPr lang="en-US" i="1" dirty="0"/>
              <a:t>k</a:t>
            </a:r>
            <a:r>
              <a:rPr lang="en-US" sz="900" dirty="0"/>
              <a:t>1</a:t>
            </a:r>
            <a:r>
              <a:rPr lang="en-US" dirty="0"/>
              <a:t> bits long (shorter than modulus size)</a:t>
            </a:r>
          </a:p>
          <a:p>
            <a:pPr marL="914400" lvl="1" indent="-317500">
              <a:spcBef>
                <a:spcPts val="0"/>
              </a:spcBef>
              <a:spcAft>
                <a:spcPts val="600"/>
              </a:spcAft>
              <a:buSzPts val="1400"/>
              <a:buFont typeface="Arial" panose="020B0604020202020204" pitchFamily="34" charset="0"/>
              <a:buChar char="○"/>
            </a:pPr>
            <a:r>
              <a:rPr lang="en-US" i="1" dirty="0"/>
              <a:t>G</a:t>
            </a:r>
            <a:r>
              <a:rPr lang="en-US" dirty="0"/>
              <a:t> produces a (</a:t>
            </a:r>
            <a:r>
              <a:rPr lang="en-US" i="1" dirty="0"/>
              <a:t>n</a:t>
            </a:r>
            <a:r>
              <a:rPr lang="en-US" dirty="0"/>
              <a:t> - </a:t>
            </a:r>
            <a:r>
              <a:rPr lang="en-US" i="1" dirty="0"/>
              <a:t>k</a:t>
            </a:r>
            <a:r>
              <a:rPr lang="en-US" sz="900" dirty="0"/>
              <a:t>0</a:t>
            </a:r>
            <a:r>
              <a:rPr lang="en-US" dirty="0"/>
              <a:t>)-bit hash, and </a:t>
            </a:r>
            <a:r>
              <a:rPr lang="en-US" i="1" dirty="0"/>
              <a:t>H</a:t>
            </a:r>
            <a:r>
              <a:rPr lang="en-US" dirty="0"/>
              <a:t> produces a </a:t>
            </a:r>
            <a:r>
              <a:rPr lang="en-US" i="1" dirty="0"/>
              <a:t>k</a:t>
            </a:r>
            <a:r>
              <a:rPr lang="en-US" sz="900" dirty="0"/>
              <a:t>0</a:t>
            </a:r>
            <a:r>
              <a:rPr lang="en-US" dirty="0"/>
              <a:t>-bit hash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Pad </a:t>
            </a:r>
            <a:r>
              <a:rPr lang="en-US" i="1" dirty="0"/>
              <a:t>M</a:t>
            </a:r>
            <a:r>
              <a:rPr lang="en-US" dirty="0"/>
              <a:t> with </a:t>
            </a:r>
            <a:r>
              <a:rPr lang="en-US" i="1" dirty="0"/>
              <a:t>k</a:t>
            </a:r>
            <a:r>
              <a:rPr lang="en-US" sz="1200" dirty="0"/>
              <a:t>0</a:t>
            </a:r>
            <a:r>
              <a:rPr lang="en-US" dirty="0"/>
              <a:t> 0’s</a:t>
            </a:r>
          </a:p>
          <a:p>
            <a:pPr marL="914400" lvl="1" indent="-317500">
              <a:spcBef>
                <a:spcPts val="0"/>
              </a:spcBef>
              <a:spcAft>
                <a:spcPts val="600"/>
              </a:spcAft>
              <a:buSzPts val="1400"/>
              <a:buFont typeface="Arial" panose="020B0604020202020204" pitchFamily="34" charset="0"/>
              <a:buChar char="○"/>
            </a:pPr>
            <a:r>
              <a:rPr lang="en-US" dirty="0"/>
              <a:t>Idea: We should see 0’s here when </a:t>
            </a:r>
            <a:r>
              <a:rPr lang="en-US" dirty="0" err="1"/>
              <a:t>unpadding</a:t>
            </a:r>
            <a:r>
              <a:rPr lang="en-US" dirty="0"/>
              <a:t>, or else someone tampered with the message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Generate a random, </a:t>
            </a:r>
            <a:r>
              <a:rPr lang="en-US" i="1" dirty="0"/>
              <a:t>k</a:t>
            </a:r>
            <a:r>
              <a:rPr lang="en-US" sz="1200" dirty="0"/>
              <a:t>0</a:t>
            </a:r>
            <a:r>
              <a:rPr lang="en-US" dirty="0"/>
              <a:t>-bit string </a:t>
            </a:r>
            <a:r>
              <a:rPr lang="en-US" b="1" i="1" dirty="0">
                <a:solidFill>
                  <a:srgbClr val="C00000"/>
                </a:solidFill>
              </a:rPr>
              <a:t>r</a:t>
            </a:r>
            <a:r>
              <a:rPr lang="en-US" i="1" dirty="0"/>
              <a:t>; </a:t>
            </a:r>
            <a:r>
              <a:rPr lang="en-US" dirty="0"/>
              <a:t>The randomness in </a:t>
            </a:r>
            <a:r>
              <a:rPr lang="en-US" b="1" i="1" dirty="0">
                <a:solidFill>
                  <a:srgbClr val="C00000"/>
                </a:solidFill>
              </a:rPr>
              <a:t>r</a:t>
            </a:r>
            <a:r>
              <a:rPr lang="en-US" dirty="0"/>
              <a:t> ensures identical messages encrypt differently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Compute </a:t>
            </a: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dirty="0"/>
              <a:t> || 00...0 ⊕ 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 (⊕ means XOR)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Compute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r</a:t>
            </a:r>
            <a:r>
              <a:rPr lang="en-US" dirty="0"/>
              <a:t> ⊕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Result: m’ = </a:t>
            </a:r>
            <a:r>
              <a:rPr lang="en-US" i="1" dirty="0"/>
              <a:t>X</a:t>
            </a:r>
            <a:r>
              <a:rPr lang="en-US" dirty="0"/>
              <a:t> || </a:t>
            </a:r>
            <a:r>
              <a:rPr lang="en-US" i="1" dirty="0"/>
              <a:t>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Encrypt m’ using RSA:  c = </a:t>
            </a:r>
            <a:r>
              <a:rPr lang="en-US" dirty="0" err="1">
                <a:solidFill>
                  <a:srgbClr val="C00000"/>
                </a:solidFill>
              </a:rPr>
              <a:t>m’^e</a:t>
            </a:r>
            <a:r>
              <a:rPr lang="en-US" dirty="0">
                <a:solidFill>
                  <a:srgbClr val="C00000"/>
                </a:solidFill>
              </a:rPr>
              <a:t> mod N </a:t>
            </a:r>
          </a:p>
        </p:txBody>
      </p:sp>
      <p:pic>
        <p:nvPicPr>
          <p:cNvPr id="6" name="Google Shape;432;p50">
            <a:extLst>
              <a:ext uri="{FF2B5EF4-FFF2-40B4-BE49-F238E27FC236}">
                <a16:creationId xmlns:a16="http://schemas.microsoft.com/office/drawing/2014/main" id="{2720EFA5-BDE1-B93A-428E-146FD891CA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937" y="1295590"/>
            <a:ext cx="4541518" cy="4648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7930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07C4-972B-875F-BE73-4863E822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OAEP: Unpadding</a:t>
            </a:r>
          </a:p>
        </p:txBody>
      </p:sp>
      <p:sp>
        <p:nvSpPr>
          <p:cNvPr id="4" name="Google Shape;438;p51">
            <a:extLst>
              <a:ext uri="{FF2B5EF4-FFF2-40B4-BE49-F238E27FC236}">
                <a16:creationId xmlns:a16="http://schemas.microsoft.com/office/drawing/2014/main" id="{4A73334D-D8F2-332B-2BEC-57CD61544E9A}"/>
              </a:ext>
            </a:extLst>
          </p:cNvPr>
          <p:cNvSpPr txBox="1">
            <a:spLocks/>
          </p:cNvSpPr>
          <p:nvPr/>
        </p:nvSpPr>
        <p:spPr>
          <a:xfrm>
            <a:off x="838199" y="1937289"/>
            <a:ext cx="6251918" cy="455558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Decrypt m’ using RSA: </a:t>
            </a:r>
            <a:r>
              <a:rPr lang="da-DK" dirty="0"/>
              <a:t>m’ = c^d mod N; Split m’ into X and Y: </a:t>
            </a:r>
            <a:r>
              <a:rPr lang="en-US" dirty="0"/>
              <a:t> First (n - k₀) bits = X; Last k₀ bits = 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Compute </a:t>
            </a:r>
            <a:r>
              <a:rPr lang="en-US" i="1" dirty="0"/>
              <a:t>r</a:t>
            </a:r>
            <a:r>
              <a:rPr lang="en-US" dirty="0"/>
              <a:t> = </a:t>
            </a:r>
            <a:r>
              <a:rPr lang="en-US" i="1" dirty="0"/>
              <a:t>Y</a:t>
            </a:r>
            <a:r>
              <a:rPr lang="en-US" dirty="0"/>
              <a:t> ⊕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Compute </a:t>
            </a:r>
            <a:r>
              <a:rPr lang="en-US" i="1" dirty="0"/>
              <a:t>M</a:t>
            </a:r>
            <a:r>
              <a:rPr lang="en-US" dirty="0"/>
              <a:t> || 00...0 = </a:t>
            </a:r>
            <a:r>
              <a:rPr lang="en-US" i="1" dirty="0"/>
              <a:t>X</a:t>
            </a:r>
            <a:r>
              <a:rPr lang="en-US" dirty="0"/>
              <a:t> ⊕ 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Verify that </a:t>
            </a:r>
            <a:r>
              <a:rPr lang="en-US" i="1" dirty="0"/>
              <a:t>M</a:t>
            </a:r>
            <a:r>
              <a:rPr lang="en-US" dirty="0"/>
              <a:t> || 00...0 actually ends in </a:t>
            </a:r>
            <a:r>
              <a:rPr lang="en-US" i="1" dirty="0"/>
              <a:t>k</a:t>
            </a:r>
            <a:r>
              <a:rPr lang="en-US" sz="1200" dirty="0"/>
              <a:t>1</a:t>
            </a:r>
            <a:r>
              <a:rPr lang="en-US" dirty="0"/>
              <a:t> 0’s</a:t>
            </a:r>
          </a:p>
          <a:p>
            <a:pPr marL="1028700" lvl="1" indent="-457200">
              <a:spcBef>
                <a:spcPts val="0"/>
              </a:spcBef>
              <a:spcAft>
                <a:spcPts val="60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dirty="0"/>
              <a:t>Error if not</a:t>
            </a:r>
          </a:p>
          <a:p>
            <a:pPr marL="1028700" lvl="1" indent="-457200">
              <a:spcBef>
                <a:spcPts val="0"/>
              </a:spcBef>
              <a:spcAft>
                <a:spcPts val="60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dirty="0"/>
              <a:t>The k₁ zero-check detects tampering because attacker cannot predict the correct padding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Return the first (n - k₀ - k₁) bits as message M</a:t>
            </a:r>
          </a:p>
        </p:txBody>
      </p:sp>
      <p:pic>
        <p:nvPicPr>
          <p:cNvPr id="3" name="Google Shape;432;p50">
            <a:extLst>
              <a:ext uri="{FF2B5EF4-FFF2-40B4-BE49-F238E27FC236}">
                <a16:creationId xmlns:a16="http://schemas.microsoft.com/office/drawing/2014/main" id="{D1B34AAD-7BB5-06E4-1D46-CDAF9EC48D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937" y="1295590"/>
            <a:ext cx="4541518" cy="4648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3216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878F-3853-D65E-332C-64DB5D84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249"/>
            <a:ext cx="10515600" cy="865798"/>
          </a:xfrm>
        </p:spPr>
        <p:txBody>
          <a:bodyPr/>
          <a:lstStyle/>
          <a:p>
            <a:r>
              <a:rPr lang="en-US" dirty="0"/>
              <a:t>OAEP</a:t>
            </a:r>
          </a:p>
        </p:txBody>
      </p:sp>
      <p:sp>
        <p:nvSpPr>
          <p:cNvPr id="4" name="Google Shape;445;p52">
            <a:extLst>
              <a:ext uri="{FF2B5EF4-FFF2-40B4-BE49-F238E27FC236}">
                <a16:creationId xmlns:a16="http://schemas.microsoft.com/office/drawing/2014/main" id="{6226619E-E84E-A52C-3F5D-08A7744F4960}"/>
              </a:ext>
            </a:extLst>
          </p:cNvPr>
          <p:cNvSpPr txBox="1">
            <a:spLocks/>
          </p:cNvSpPr>
          <p:nvPr/>
        </p:nvSpPr>
        <p:spPr>
          <a:xfrm>
            <a:off x="352863" y="1206058"/>
            <a:ext cx="6441832" cy="53626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Even though </a:t>
            </a:r>
            <a:r>
              <a:rPr lang="en-US" i="1" dirty="0"/>
              <a:t>G</a:t>
            </a:r>
            <a:r>
              <a:rPr lang="en-US" dirty="0"/>
              <a:t> and </a:t>
            </a:r>
            <a:r>
              <a:rPr lang="en-US" i="1" dirty="0"/>
              <a:t>H</a:t>
            </a:r>
            <a:r>
              <a:rPr lang="en-US" dirty="0"/>
              <a:t> are irreversible, we can recover their inputs using XOR and work backwards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This structure is called a </a:t>
            </a:r>
            <a:r>
              <a:rPr lang="en-US" b="1" dirty="0"/>
              <a:t>Feistel network</a:t>
            </a:r>
            <a:endParaRPr lang="en-US" dirty="0"/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Can be used for encryption algorithms if </a:t>
            </a:r>
            <a:r>
              <a:rPr lang="en-US" i="1" dirty="0"/>
              <a:t>G</a:t>
            </a:r>
            <a:r>
              <a:rPr lang="en-US" dirty="0"/>
              <a:t> and </a:t>
            </a:r>
            <a:r>
              <a:rPr lang="en-US" i="1" dirty="0"/>
              <a:t>H</a:t>
            </a:r>
            <a:r>
              <a:rPr lang="en-US" dirty="0"/>
              <a:t> depend on a key; Example: DES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Takeaway</a:t>
            </a:r>
            <a:r>
              <a:rPr lang="en-US" dirty="0"/>
              <a:t>: To fix the problems with RSA (it’s only secure encrypting random numbers and isn’t semantically secure), use RSA with OAEP, abbreviated as RSA-OAEP</a:t>
            </a:r>
          </a:p>
        </p:txBody>
      </p:sp>
      <p:pic>
        <p:nvPicPr>
          <p:cNvPr id="3" name="Google Shape;432;p50">
            <a:extLst>
              <a:ext uri="{FF2B5EF4-FFF2-40B4-BE49-F238E27FC236}">
                <a16:creationId xmlns:a16="http://schemas.microsoft.com/office/drawing/2014/main" id="{9A77E0B0-2E6B-4819-9B58-E3E5C3A3612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90937" y="1295590"/>
            <a:ext cx="4541518" cy="4648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6263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F7FA-4A1D-6318-8293-47DC6E7B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161A-5C72-1C5B-F39C-A8095B8382FA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98D392F-79D8-D055-73FE-6DCD073A35C7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Public-Key Cryptography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RSA Encryption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Hybrid Encryption</a:t>
            </a: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04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92E2-68F3-B965-FFCE-76A27E08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27" y="230553"/>
            <a:ext cx="11203745" cy="802493"/>
          </a:xfrm>
        </p:spPr>
        <p:txBody>
          <a:bodyPr>
            <a:normAutofit/>
          </a:bodyPr>
          <a:lstStyle/>
          <a:p>
            <a:r>
              <a:rPr lang="en-US" dirty="0"/>
              <a:t>Hybrid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D2D75-9F3E-ACB8-42D6-6334C627E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126" y="1248849"/>
            <a:ext cx="11203745" cy="5301226"/>
          </a:xfrm>
        </p:spPr>
        <p:txBody>
          <a:bodyPr>
            <a:normAutofit/>
          </a:bodyPr>
          <a:lstStyle/>
          <a:p>
            <a:r>
              <a:rPr lang="en-US" sz="2400" b="0" i="0" u="none" strike="noStrike" baseline="0" dirty="0">
                <a:latin typeface="Aptos (Body)"/>
              </a:rPr>
              <a:t>Disadvantages of public-key encryption: </a:t>
            </a:r>
            <a:r>
              <a:rPr lang="en-US" sz="2400" dirty="0">
                <a:latin typeface="Aptos (Body)"/>
              </a:rPr>
              <a:t> </a:t>
            </a:r>
            <a:r>
              <a:rPr lang="en-US" sz="2400" b="0" i="0" u="none" strike="noStrike" baseline="0" dirty="0">
                <a:latin typeface="Aptos (Body)"/>
              </a:rPr>
              <a:t>Much slower than symmetric-key encryption (~1000-10,000x Difference)</a:t>
            </a:r>
          </a:p>
          <a:p>
            <a:pPr lvl="1"/>
            <a:r>
              <a:rPr lang="en-US" sz="2000" dirty="0">
                <a:latin typeface="Aptos (Body)"/>
              </a:rPr>
              <a:t>AES-128 (CBC mode): </a:t>
            </a:r>
            <a:r>
              <a:rPr lang="en-US" sz="2000" dirty="0">
                <a:latin typeface="Aptos (Body)"/>
                <a:hlinkClick r:id="rId3"/>
              </a:rPr>
              <a:t>~150 MB/s </a:t>
            </a:r>
            <a:r>
              <a:rPr lang="en-US" sz="2000" dirty="0">
                <a:latin typeface="Aptos (Body)"/>
              </a:rPr>
              <a:t>(without hardware acceleration)</a:t>
            </a:r>
          </a:p>
          <a:p>
            <a:pPr lvl="1"/>
            <a:r>
              <a:rPr lang="en-US" sz="2000" dirty="0">
                <a:latin typeface="Aptos (Body)"/>
              </a:rPr>
              <a:t>ChaCha20-Poly1305: </a:t>
            </a:r>
            <a:r>
              <a:rPr lang="en-US" sz="2000" dirty="0">
                <a:latin typeface="Aptos (Body)"/>
                <a:hlinkClick r:id="rId4"/>
              </a:rPr>
              <a:t>400-720 MB/s </a:t>
            </a:r>
            <a:r>
              <a:rPr lang="en-US" sz="2000" dirty="0">
                <a:latin typeface="Aptos (Body)"/>
              </a:rPr>
              <a:t>(software implementation)</a:t>
            </a:r>
          </a:p>
          <a:p>
            <a:pPr lvl="1"/>
            <a:r>
              <a:rPr lang="en-US" sz="2000" dirty="0">
                <a:latin typeface="Aptos (Body)"/>
              </a:rPr>
              <a:t>RSA-2048 can encrypt a maximum of ~250 bytes per operation; ~10,000-23,000 public key operations (encryption/verification) per second </a:t>
            </a:r>
            <a:r>
              <a:rPr lang="en-US" sz="2000" dirty="0">
                <a:latin typeface="Aptos (Body)"/>
                <a:sym typeface="Wingdings" panose="05000000000000000000" pitchFamily="2" charset="2"/>
              </a:rPr>
              <a:t> 0.25~0.6 MB/s</a:t>
            </a:r>
          </a:p>
          <a:p>
            <a:r>
              <a:rPr lang="en-US" sz="2400" dirty="0">
                <a:latin typeface="Aptos (Body)"/>
              </a:rPr>
              <a:t>Advantages of public-key cryptography: 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Aptos (Body)"/>
              </a:rPr>
              <a:t>No requirement for a secured channel</a:t>
            </a:r>
          </a:p>
          <a:p>
            <a:pPr marL="457200" lvl="1" indent="0">
              <a:buNone/>
            </a:pPr>
            <a:endParaRPr lang="en-US" sz="2000" dirty="0">
              <a:solidFill>
                <a:srgbClr val="C00000"/>
              </a:solidFill>
              <a:latin typeface="Aptos (Body)"/>
            </a:endParaRPr>
          </a:p>
          <a:p>
            <a:r>
              <a:rPr lang="en-US" sz="2400" b="1" i="1" dirty="0">
                <a:solidFill>
                  <a:srgbClr val="C00000"/>
                </a:solidFill>
                <a:latin typeface="Aptos (Body)"/>
              </a:rPr>
              <a:t>Hybrid encryption</a:t>
            </a:r>
            <a:r>
              <a:rPr lang="en-US" sz="2400" dirty="0">
                <a:latin typeface="Aptos (Body)"/>
              </a:rPr>
              <a:t>: Randomly generate a key </a:t>
            </a:r>
            <a:r>
              <a:rPr lang="en-US" sz="2400" i="1" dirty="0">
                <a:latin typeface="Aptos (Body)"/>
              </a:rPr>
              <a:t>K</a:t>
            </a:r>
            <a:r>
              <a:rPr lang="en-US" sz="2400" dirty="0">
                <a:latin typeface="Aptos (Body)"/>
              </a:rPr>
              <a:t>, encrypt message under key </a:t>
            </a:r>
            <a:r>
              <a:rPr lang="en-US" sz="2400" i="1" dirty="0">
                <a:latin typeface="Aptos (Body)"/>
              </a:rPr>
              <a:t>K</a:t>
            </a:r>
            <a:r>
              <a:rPr lang="en-US" sz="2400" dirty="0">
                <a:latin typeface="Aptos (Body)"/>
              </a:rPr>
              <a:t> using symmetric encryption, and encrypt </a:t>
            </a:r>
            <a:r>
              <a:rPr lang="en-US" sz="2400" i="1" dirty="0">
                <a:latin typeface="Aptos (Body)"/>
              </a:rPr>
              <a:t>K</a:t>
            </a:r>
            <a:r>
              <a:rPr lang="en-US" sz="2400" dirty="0">
                <a:latin typeface="Aptos (Body)"/>
              </a:rPr>
              <a:t> using public-key encryption</a:t>
            </a:r>
          </a:p>
          <a:p>
            <a:pPr lvl="1"/>
            <a:r>
              <a:rPr lang="en-US" sz="2000" dirty="0">
                <a:latin typeface="Aptos (Body)"/>
              </a:rPr>
              <a:t>Now we can encrypt large amounts of data quickly using symmetric encryption, and we still have the benefits of public-key encryption</a:t>
            </a:r>
          </a:p>
          <a:p>
            <a:r>
              <a:rPr lang="en-US" sz="2400" dirty="0">
                <a:latin typeface="Aptos (Body)"/>
              </a:rPr>
              <a:t>Almost all cryptographic systems use the idea of hybrid encryption (more or less)</a:t>
            </a:r>
          </a:p>
          <a:p>
            <a:endParaRPr lang="en-US" dirty="0">
              <a:latin typeface="Aptos (Body)"/>
            </a:endParaRPr>
          </a:p>
          <a:p>
            <a:pPr lvl="1"/>
            <a:endParaRPr lang="en-US" dirty="0">
              <a:latin typeface="Aptos (Body)"/>
            </a:endParaRPr>
          </a:p>
          <a:p>
            <a:pPr lvl="1"/>
            <a:endParaRPr lang="en-US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2224609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231"/>
            <a:ext cx="10515600" cy="728348"/>
          </a:xfrm>
        </p:spPr>
        <p:txBody>
          <a:bodyPr/>
          <a:lstStyle/>
          <a:p>
            <a:r>
              <a:rPr lang="en-US" dirty="0"/>
              <a:t>Establishing a Shared Secret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1" y="1498601"/>
            <a:ext cx="1125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Alice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1" y="1498601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Bob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600" y="2209801"/>
                <a:ext cx="4614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 ⟵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𝐾𝑒𝑦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209801"/>
                <a:ext cx="461453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422400" y="2921001"/>
            <a:ext cx="9042400" cy="609600"/>
            <a:chOff x="1066800" y="2190750"/>
            <a:chExt cx="6781800" cy="457200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1066800" y="2647950"/>
              <a:ext cx="6781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505200" y="2190750"/>
                  <a:ext cx="1608374" cy="4385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/>
                    <a:t>“Alice”,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200" y="2190750"/>
                  <a:ext cx="1608374" cy="438581"/>
                </a:xfrm>
                <a:prstGeom prst="rect">
                  <a:avLst/>
                </a:prstGeom>
                <a:blipFill>
                  <a:blip r:embed="rId3"/>
                  <a:stretch>
                    <a:fillRect l="-7407" t="-12500" b="-34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507530" y="3530601"/>
                <a:ext cx="2494016" cy="9040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667" dirty="0"/>
                  <a:t>choose random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67" i="1" dirty="0">
                          <a:latin typeface="Cambria Math" panose="02040503050406030204" pitchFamily="18" charset="0"/>
                        </a:rPr>
                        <m:t> ∈ {0,1}</m:t>
                      </m:r>
                      <m:r>
                        <a:rPr lang="en-US" sz="2667" i="1" baseline="30000" dirty="0"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en-US" sz="3200" baseline="30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530" y="3530601"/>
                <a:ext cx="2494016" cy="904030"/>
              </a:xfrm>
              <a:prstGeom prst="rect">
                <a:avLst/>
              </a:prstGeom>
              <a:blipFill>
                <a:blip r:embed="rId4"/>
                <a:stretch>
                  <a:fillRect l="-4401" t="-6757" r="-4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1422400" y="5054600"/>
            <a:ext cx="9042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A06B73-8A62-61EC-A1F5-8B0712735CDF}"/>
                  </a:ext>
                </a:extLst>
              </p:cNvPr>
              <p:cNvSpPr txBox="1"/>
              <p:nvPr/>
            </p:nvSpPr>
            <p:spPr>
              <a:xfrm>
                <a:off x="4673599" y="4498184"/>
                <a:ext cx="44638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“Bob”,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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3200" b="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𝑛𝑐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2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US" sz="3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A06B73-8A62-61EC-A1F5-8B0712735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599" y="4498184"/>
                <a:ext cx="4463870" cy="584775"/>
              </a:xfrm>
              <a:prstGeom prst="rect">
                <a:avLst/>
              </a:prstGeom>
              <a:blipFill>
                <a:blip r:embed="rId5"/>
                <a:stretch>
                  <a:fillRect l="-3552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BFDA8-C280-0A36-3748-F0817F76CD30}"/>
                  </a:ext>
                </a:extLst>
              </p:cNvPr>
              <p:cNvSpPr txBox="1"/>
              <p:nvPr/>
            </p:nvSpPr>
            <p:spPr>
              <a:xfrm>
                <a:off x="609601" y="5141791"/>
                <a:ext cx="311331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:= 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𝐷𝑒𝑐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32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c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BFDA8-C280-0A36-3748-F0817F76C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1" y="5141791"/>
                <a:ext cx="311331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347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2BE88-671C-BDDD-C851-5A425BC7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382F-EE67-CF4E-4488-E42BDDA4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20880"/>
            <a:ext cx="11201400" cy="734682"/>
          </a:xfrm>
        </p:spPr>
        <p:txBody>
          <a:bodyPr>
            <a:normAutofit fontScale="90000"/>
          </a:bodyPr>
          <a:lstStyle/>
          <a:p>
            <a:r>
              <a:rPr lang="en-US" dirty="0"/>
              <a:t>Strawman Key Exchange and Data Transfer Protocol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13E1B-6E35-ABBE-1AC2-CB90E98B949C}"/>
              </a:ext>
            </a:extLst>
          </p:cNvPr>
          <p:cNvSpPr txBox="1"/>
          <p:nvPr/>
        </p:nvSpPr>
        <p:spPr>
          <a:xfrm>
            <a:off x="609601" y="1498601"/>
            <a:ext cx="1125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Alice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2D0D4-3C53-3063-1E36-5571B8290C1D}"/>
              </a:ext>
            </a:extLst>
          </p:cNvPr>
          <p:cNvSpPr txBox="1"/>
          <p:nvPr/>
        </p:nvSpPr>
        <p:spPr>
          <a:xfrm>
            <a:off x="10160001" y="1498601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Bob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635680-3663-6F7A-5E1A-DBFE5E188C0A}"/>
                  </a:ext>
                </a:extLst>
              </p:cNvPr>
              <p:cNvSpPr txBox="1"/>
              <p:nvPr/>
            </p:nvSpPr>
            <p:spPr>
              <a:xfrm>
                <a:off x="609600" y="2209801"/>
                <a:ext cx="35076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⟵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𝐾𝑒𝑦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635680-3663-6F7A-5E1A-DBFE5E188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209801"/>
                <a:ext cx="3507692" cy="461665"/>
              </a:xfrm>
              <a:prstGeom prst="rect">
                <a:avLst/>
              </a:prstGeom>
              <a:blipFill>
                <a:blip r:embed="rId2"/>
                <a:stretch>
                  <a:fillRect r="-174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4476764-1B2C-6CFD-5D9E-DC774983BEA6}"/>
              </a:ext>
            </a:extLst>
          </p:cNvPr>
          <p:cNvGrpSpPr/>
          <p:nvPr/>
        </p:nvGrpSpPr>
        <p:grpSpPr>
          <a:xfrm>
            <a:off x="1422400" y="2360543"/>
            <a:ext cx="9042400" cy="609600"/>
            <a:chOff x="1066800" y="2190750"/>
            <a:chExt cx="6781800" cy="4572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5AA765F-979F-8B7D-D692-D1FA2A285367}"/>
                </a:ext>
              </a:extLst>
            </p:cNvPr>
            <p:cNvCxnSpPr/>
            <p:nvPr/>
          </p:nvCxnSpPr>
          <p:spPr>
            <a:xfrm>
              <a:off x="1066800" y="2647950"/>
              <a:ext cx="6781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26B728A-1FF3-4C72-7B89-3D54819E6285}"/>
                    </a:ext>
                  </a:extLst>
                </p:cNvPr>
                <p:cNvSpPr txBox="1"/>
                <p:nvPr/>
              </p:nvSpPr>
              <p:spPr>
                <a:xfrm>
                  <a:off x="3505200" y="2190750"/>
                  <a:ext cx="1381820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“Alice”,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26B728A-1FF3-4C72-7B89-3D54819E6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200" y="2190750"/>
                  <a:ext cx="1381820" cy="346249"/>
                </a:xfrm>
                <a:prstGeom prst="rect">
                  <a:avLst/>
                </a:prstGeom>
                <a:blipFill>
                  <a:blip r:embed="rId3"/>
                  <a:stretch>
                    <a:fillRect l="-5298"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7501C8-BE1C-3817-BBF2-F3D26AFA3AA4}"/>
                  </a:ext>
                </a:extLst>
              </p:cNvPr>
              <p:cNvSpPr txBox="1"/>
              <p:nvPr/>
            </p:nvSpPr>
            <p:spPr>
              <a:xfrm>
                <a:off x="9455259" y="2934228"/>
                <a:ext cx="2325124" cy="1192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choose random </a:t>
                </a:r>
              </a:p>
              <a:p>
                <a:pPr algn="ctr"/>
                <a:r>
                  <a:rPr lang="en-US" sz="2400" dirty="0"/>
                  <a:t>symmetric key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∈ {0,1}</m:t>
                      </m:r>
                      <m:r>
                        <a:rPr lang="en-US" sz="2400" i="1" baseline="30000" dirty="0"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en-US" sz="2400" baseline="30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7501C8-BE1C-3817-BBF2-F3D26AFA3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259" y="2934228"/>
                <a:ext cx="2325124" cy="1192314"/>
              </a:xfrm>
              <a:prstGeom prst="rect">
                <a:avLst/>
              </a:prstGeom>
              <a:blipFill>
                <a:blip r:embed="rId4"/>
                <a:stretch>
                  <a:fillRect l="-3675" t="-4082" r="-367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8FED16C-E157-B5C7-6DAD-0DD3E36771D7}"/>
              </a:ext>
            </a:extLst>
          </p:cNvPr>
          <p:cNvGrpSpPr/>
          <p:nvPr/>
        </p:nvGrpSpPr>
        <p:grpSpPr>
          <a:xfrm>
            <a:off x="1422400" y="3769215"/>
            <a:ext cx="9042400" cy="461665"/>
            <a:chOff x="1422400" y="4498184"/>
            <a:chExt cx="9042400" cy="461665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8946E64-8319-47BF-FC65-BBD90467AA77}"/>
                </a:ext>
              </a:extLst>
            </p:cNvPr>
            <p:cNvCxnSpPr/>
            <p:nvPr/>
          </p:nvCxnSpPr>
          <p:spPr>
            <a:xfrm flipH="1">
              <a:off x="1422400" y="4959849"/>
              <a:ext cx="9042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AB41280-BCF3-3704-B925-F84960C07104}"/>
                    </a:ext>
                  </a:extLst>
                </p:cNvPr>
                <p:cNvSpPr txBox="1"/>
                <p:nvPr/>
              </p:nvSpPr>
              <p:spPr>
                <a:xfrm>
                  <a:off x="4673599" y="4498184"/>
                  <a:ext cx="32674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“Bob”, 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err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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en-US" sz="2400" b="0" i="1" dirty="0" err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𝑛𝑐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a14:m>
                  <a:endParaRPr 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AB41280-BCF3-3704-B925-F84960C07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599" y="4498184"/>
                  <a:ext cx="326743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985" t="-10526" r="-560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FD6013-1833-CDBA-88CF-45749D5FE18C}"/>
                  </a:ext>
                </a:extLst>
              </p:cNvPr>
              <p:cNvSpPr txBox="1"/>
              <p:nvPr/>
            </p:nvSpPr>
            <p:spPr>
              <a:xfrm>
                <a:off x="770652" y="4222270"/>
                <a:ext cx="27236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:=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𝐷𝑒𝑐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c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FD6013-1833-CDBA-88CF-45749D5FE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52" y="4222270"/>
                <a:ext cx="2723662" cy="461665"/>
              </a:xfrm>
              <a:prstGeom prst="rect">
                <a:avLst/>
              </a:prstGeom>
              <a:blipFill>
                <a:blip r:embed="rId6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EFA71-EF47-84C1-0883-744D303D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5230" y="1020873"/>
            <a:ext cx="10515600" cy="584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Hybrid protocol with AES as the symmetric cipher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E415E2-B7A4-B74B-F09E-47205AB9FFB1}"/>
              </a:ext>
            </a:extLst>
          </p:cNvPr>
          <p:cNvCxnSpPr>
            <a:cxnSpLocks/>
          </p:cNvCxnSpPr>
          <p:nvPr/>
        </p:nvCxnSpPr>
        <p:spPr>
          <a:xfrm>
            <a:off x="152400" y="4934737"/>
            <a:ext cx="11887200" cy="0"/>
          </a:xfrm>
          <a:prstGeom prst="line">
            <a:avLst/>
          </a:prstGeom>
          <a:ln w="571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928983-0BA4-B9EB-74EE-DA10649431DC}"/>
              </a:ext>
            </a:extLst>
          </p:cNvPr>
          <p:cNvSpPr txBox="1"/>
          <p:nvPr/>
        </p:nvSpPr>
        <p:spPr>
          <a:xfrm>
            <a:off x="0" y="3118079"/>
            <a:ext cx="36314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C00000"/>
                </a:solidFill>
              </a:rPr>
              <a:t>Key exchange</a:t>
            </a:r>
          </a:p>
          <a:p>
            <a:pPr algn="ctr"/>
            <a:r>
              <a:rPr lang="en-US" sz="2600" dirty="0">
                <a:solidFill>
                  <a:srgbClr val="C00000"/>
                </a:solidFill>
              </a:rPr>
              <a:t>(asymmetric, e.g., RSA)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FFD0A-6BE2-75BF-6F18-D493D0C510C2}"/>
              </a:ext>
            </a:extLst>
          </p:cNvPr>
          <p:cNvSpPr txBox="1"/>
          <p:nvPr/>
        </p:nvSpPr>
        <p:spPr>
          <a:xfrm>
            <a:off x="0" y="5925068"/>
            <a:ext cx="39123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C00000"/>
                </a:solidFill>
              </a:rPr>
              <a:t>Data encryption</a:t>
            </a:r>
          </a:p>
          <a:p>
            <a:pPr algn="ctr"/>
            <a:r>
              <a:rPr lang="en-US" sz="2600" dirty="0">
                <a:solidFill>
                  <a:srgbClr val="C00000"/>
                </a:solidFill>
              </a:rPr>
              <a:t>(symmetric, e.g., AES)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863DE7-750F-F6E6-0006-3FD5A57C8629}"/>
                  </a:ext>
                </a:extLst>
              </p:cNvPr>
              <p:cNvSpPr txBox="1"/>
              <p:nvPr/>
            </p:nvSpPr>
            <p:spPr>
              <a:xfrm>
                <a:off x="773459" y="5145600"/>
                <a:ext cx="192915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dirty="0"/>
                  <a:t>message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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𝐸𝑛𝑐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863DE7-750F-F6E6-0006-3FD5A57C8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59" y="5145600"/>
                <a:ext cx="1929154" cy="830997"/>
              </a:xfrm>
              <a:prstGeom prst="rect">
                <a:avLst/>
              </a:prstGeom>
              <a:blipFill>
                <a:blip r:embed="rId7"/>
                <a:stretch>
                  <a:fillRect t="-5882" r="-2848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3E0FE3-DF77-DF2A-ABC7-E3A394551D29}"/>
              </a:ext>
            </a:extLst>
          </p:cNvPr>
          <p:cNvCxnSpPr/>
          <p:nvPr/>
        </p:nvCxnSpPr>
        <p:spPr>
          <a:xfrm>
            <a:off x="1422400" y="5970532"/>
            <a:ext cx="9042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DC2701-C688-3B22-912B-66199B57D8E3}"/>
                  </a:ext>
                </a:extLst>
              </p:cNvPr>
              <p:cNvSpPr txBox="1"/>
              <p:nvPr/>
            </p:nvSpPr>
            <p:spPr>
              <a:xfrm>
                <a:off x="9653240" y="5486135"/>
                <a:ext cx="2305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:=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𝐷𝑒𝑐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c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DC2701-C688-3B22-912B-66199B57D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240" y="5486135"/>
                <a:ext cx="2305805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173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002" y="81587"/>
            <a:ext cx="10515600" cy="901729"/>
          </a:xfrm>
        </p:spPr>
        <p:txBody>
          <a:bodyPr/>
          <a:lstStyle/>
          <a:p>
            <a:r>
              <a:rPr lang="en-US" dirty="0"/>
              <a:t>Insecure </a:t>
            </a:r>
            <a:r>
              <a:rPr lang="en-US" altLang="zh-CN" dirty="0"/>
              <a:t>A</a:t>
            </a:r>
            <a:r>
              <a:rPr lang="en-US" dirty="0"/>
              <a:t>gainst MITM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397000"/>
            <a:ext cx="10972800" cy="8128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The above protocol is insecure against </a:t>
            </a:r>
            <a:r>
              <a:rPr lang="en-US" sz="3200" b="1" dirty="0">
                <a:solidFill>
                  <a:srgbClr val="C00000"/>
                </a:solidFill>
              </a:rPr>
              <a:t>MITM</a:t>
            </a:r>
            <a:r>
              <a:rPr lang="en-US" sz="3200" dirty="0"/>
              <a:t>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1" y="2407047"/>
            <a:ext cx="1125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Alice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1" y="2407047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Bob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3200" y="2413001"/>
            <a:ext cx="1175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rgbClr val="C00000"/>
                </a:solidFill>
              </a:rPr>
              <a:t>MITM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800" y="3022601"/>
                <a:ext cx="3782830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) ⟵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𝐾𝑒𝑦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022601"/>
                <a:ext cx="378283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cxnSpLocks/>
          </p:cNvCxnSpPr>
          <p:nvPr/>
        </p:nvCxnSpPr>
        <p:spPr>
          <a:xfrm flipV="1">
            <a:off x="1219200" y="4426567"/>
            <a:ext cx="4651661" cy="12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53478" y="3829445"/>
                <a:ext cx="21444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“Alice”,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478" y="3829445"/>
                <a:ext cx="2144498" cy="584775"/>
              </a:xfrm>
              <a:prstGeom prst="rect">
                <a:avLst/>
              </a:prstGeom>
              <a:blipFill>
                <a:blip r:embed="rId3"/>
                <a:stretch>
                  <a:fillRect l="-7102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673601" y="3022601"/>
                <a:ext cx="3912418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6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6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⟵</m:t>
                      </m:r>
                      <m:r>
                        <a:rPr lang="en-US" sz="2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𝐾𝑒𝑦</m:t>
                      </m:r>
                      <m:r>
                        <a:rPr lang="en-US" sz="26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26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2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1" y="3022601"/>
                <a:ext cx="391241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503192" y="4415553"/>
                <a:ext cx="2562945" cy="913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667" dirty="0"/>
                  <a:t>choose random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67" i="1" dirty="0">
                          <a:latin typeface="Cambria Math" panose="02040503050406030204" pitchFamily="18" charset="0"/>
                        </a:rPr>
                        <m:t> ∈ {0,1}</m:t>
                      </m:r>
                      <m:r>
                        <a:rPr lang="en-US" sz="2667" i="1" baseline="30000" dirty="0"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en-US" sz="3200" baseline="30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192" y="4415553"/>
                <a:ext cx="2562945" cy="913199"/>
              </a:xfrm>
              <a:prstGeom prst="rect">
                <a:avLst/>
              </a:prstGeom>
              <a:blipFill>
                <a:blip r:embed="rId5"/>
                <a:stretch>
                  <a:fillRect l="-4048" t="-6000" r="-4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213600" y="5359401"/>
                <a:ext cx="36547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“Bob”, 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en-US" sz="3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600" y="5359401"/>
                <a:ext cx="3654783" cy="584775"/>
              </a:xfrm>
              <a:prstGeom prst="rect">
                <a:avLst/>
              </a:prstGeom>
              <a:blipFill>
                <a:blip r:embed="rId6"/>
                <a:stretch>
                  <a:fillRect l="-4167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727200" y="5359401"/>
                <a:ext cx="364574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“Bob”,  </a:t>
                </a:r>
                <a:r>
                  <a:rPr lang="en-US" sz="3200" i="1" dirty="0"/>
                  <a:t>Enc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00" y="5359401"/>
                <a:ext cx="3645742" cy="584775"/>
              </a:xfrm>
              <a:prstGeom prst="rect">
                <a:avLst/>
              </a:prstGeom>
              <a:blipFill>
                <a:blip r:embed="rId7"/>
                <a:stretch>
                  <a:fillRect l="-4181" t="-12500" r="-351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3D3BA1-DF7D-C712-FE10-2BCE3E5C87E0}"/>
                  </a:ext>
                </a:extLst>
              </p:cNvPr>
              <p:cNvSpPr txBox="1"/>
              <p:nvPr/>
            </p:nvSpPr>
            <p:spPr>
              <a:xfrm>
                <a:off x="6091803" y="3809408"/>
                <a:ext cx="26144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rgbClr val="C00000"/>
                    </a:solidFill>
                  </a:rPr>
                  <a:t>1. “Alice”,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𝑝𝑘</m:t>
                        </m:r>
                      </m:e>
                      <m:sub>
                        <m:r>
                          <a:rPr lang="en-US" sz="3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3D3BA1-DF7D-C712-FE10-2BCE3E5C8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803" y="3809408"/>
                <a:ext cx="2614498" cy="584775"/>
              </a:xfrm>
              <a:prstGeom prst="rect">
                <a:avLst/>
              </a:prstGeom>
              <a:blipFill>
                <a:blip r:embed="rId8"/>
                <a:stretch>
                  <a:fillRect l="-5828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40CCD2-D113-3199-F14F-B924A16805C3}"/>
                  </a:ext>
                </a:extLst>
              </p:cNvPr>
              <p:cNvSpPr txBox="1"/>
              <p:nvPr/>
            </p:nvSpPr>
            <p:spPr>
              <a:xfrm>
                <a:off x="6091803" y="4430879"/>
                <a:ext cx="2912400" cy="9237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667" dirty="0">
                    <a:solidFill>
                      <a:srgbClr val="C00000"/>
                    </a:solidFill>
                  </a:rPr>
                  <a:t>2. choose random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667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 {0,1}</m:t>
                      </m:r>
                      <m:r>
                        <a:rPr lang="en-US" sz="2667" i="1" baseline="30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en-US" sz="3200" baseline="30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40CCD2-D113-3199-F14F-B924A1680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803" y="4430879"/>
                <a:ext cx="2912400" cy="923714"/>
              </a:xfrm>
              <a:prstGeom prst="rect">
                <a:avLst/>
              </a:prstGeom>
              <a:blipFill>
                <a:blip r:embed="rId9"/>
                <a:stretch>
                  <a:fillRect l="-3556" t="-6623" r="-3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320CBA-1BD9-18C7-7C29-4E749C7BF07D}"/>
              </a:ext>
            </a:extLst>
          </p:cNvPr>
          <p:cNvCxnSpPr>
            <a:cxnSpLocks/>
          </p:cNvCxnSpPr>
          <p:nvPr/>
        </p:nvCxnSpPr>
        <p:spPr>
          <a:xfrm>
            <a:off x="5968790" y="3737522"/>
            <a:ext cx="0" cy="115521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276220F-E5FC-B255-78A1-FB9BB6B1EB69}"/>
              </a:ext>
            </a:extLst>
          </p:cNvPr>
          <p:cNvCxnSpPr>
            <a:cxnSpLocks/>
          </p:cNvCxnSpPr>
          <p:nvPr/>
        </p:nvCxnSpPr>
        <p:spPr>
          <a:xfrm flipV="1">
            <a:off x="6091803" y="4432806"/>
            <a:ext cx="4651661" cy="1247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DFC18C-F019-231F-4986-CB2F1B977E0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19200" y="5969001"/>
            <a:ext cx="4651661" cy="1247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5BDB84-E0BF-6016-C9DC-2D9A10C597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1802" y="5953415"/>
            <a:ext cx="4651661" cy="12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393691D-B6D3-2D52-0AC4-D7BA72B88C65}"/>
              </a:ext>
            </a:extLst>
          </p:cNvPr>
          <p:cNvCxnSpPr>
            <a:cxnSpLocks/>
          </p:cNvCxnSpPr>
          <p:nvPr/>
        </p:nvCxnSpPr>
        <p:spPr>
          <a:xfrm>
            <a:off x="5976347" y="5074181"/>
            <a:ext cx="0" cy="115521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66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6829</TotalTime>
  <Words>2375</Words>
  <Application>Microsoft Office PowerPoint</Application>
  <PresentationFormat>Widescreen</PresentationFormat>
  <Paragraphs>245</Paragraphs>
  <Slides>27</Slides>
  <Notes>6</Notes>
  <HiddenSlides>9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 (Body)</vt:lpstr>
      <vt:lpstr>Aptos</vt:lpstr>
      <vt:lpstr>Aptos Display</vt:lpstr>
      <vt:lpstr>Arial</vt:lpstr>
      <vt:lpstr>Calibri</vt:lpstr>
      <vt:lpstr>Cambria Math</vt:lpstr>
      <vt:lpstr>Courier New</vt:lpstr>
      <vt:lpstr>Wingdings</vt:lpstr>
      <vt:lpstr>Office Theme</vt:lpstr>
      <vt:lpstr>CSC 3511 Security and Networking</vt:lpstr>
      <vt:lpstr>PowerPoint Presentation</vt:lpstr>
      <vt:lpstr>PowerPoint Presentation</vt:lpstr>
      <vt:lpstr>PowerPoint Presentation</vt:lpstr>
      <vt:lpstr>PowerPoint Presentation</vt:lpstr>
      <vt:lpstr>Idea Behind Public-Key Encryption</vt:lpstr>
      <vt:lpstr>Public Key Encryption: Constructions</vt:lpstr>
      <vt:lpstr>PowerPoint Presentation</vt:lpstr>
      <vt:lpstr>PowerPoint Presentation</vt:lpstr>
      <vt:lpstr>Euclidean algorithm</vt:lpstr>
      <vt:lpstr>Euclidean algorithm</vt:lpstr>
      <vt:lpstr>Euclidean algorithm</vt:lpstr>
      <vt:lpstr>Extended Euclidean algorithm (EEA)</vt:lpstr>
      <vt:lpstr>Extended Euclidean algorithm (EEA)</vt:lpstr>
      <vt:lpstr>Extended Euclidean algorithm (EEA)</vt:lpstr>
      <vt:lpstr>PowerPoint Presentation</vt:lpstr>
      <vt:lpstr>RSA encryption: Correctness</vt:lpstr>
      <vt:lpstr>RSA Encryption: Security</vt:lpstr>
      <vt:lpstr>RSA Encryption: Issues</vt:lpstr>
      <vt:lpstr>Optimal Asymmetric Encryption Padding (OAEP): Padding</vt:lpstr>
      <vt:lpstr>OAEP: Unpadding</vt:lpstr>
      <vt:lpstr>OAEP</vt:lpstr>
      <vt:lpstr>PowerPoint Presentation</vt:lpstr>
      <vt:lpstr>Hybrid Encryption</vt:lpstr>
      <vt:lpstr>Establishing a Shared Secret </vt:lpstr>
      <vt:lpstr>Strawman Key Exchange and Data Transfer Protocol</vt:lpstr>
      <vt:lpstr>Insecure Against MITM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851</cp:revision>
  <dcterms:created xsi:type="dcterms:W3CDTF">2025-09-03T22:06:31Z</dcterms:created>
  <dcterms:modified xsi:type="dcterms:W3CDTF">2025-11-04T03:11:47Z</dcterms:modified>
</cp:coreProperties>
</file>