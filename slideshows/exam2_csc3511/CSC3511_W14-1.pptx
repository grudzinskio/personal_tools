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505" r:id="rId2"/>
    <p:sldId id="1448" r:id="rId3"/>
    <p:sldId id="292" r:id="rId4"/>
    <p:sldId id="293" r:id="rId5"/>
    <p:sldId id="294" r:id="rId6"/>
    <p:sldId id="295" r:id="rId7"/>
    <p:sldId id="1449" r:id="rId8"/>
    <p:sldId id="1461" r:id="rId9"/>
    <p:sldId id="296" r:id="rId10"/>
    <p:sldId id="297" r:id="rId11"/>
    <p:sldId id="1451" r:id="rId12"/>
    <p:sldId id="1453" r:id="rId13"/>
    <p:sldId id="298" r:id="rId14"/>
    <p:sldId id="1454" r:id="rId15"/>
    <p:sldId id="1456" r:id="rId16"/>
    <p:sldId id="1455" r:id="rId17"/>
    <p:sldId id="309" r:id="rId18"/>
    <p:sldId id="1457" r:id="rId19"/>
    <p:sldId id="1458" r:id="rId20"/>
    <p:sldId id="1459" r:id="rId21"/>
    <p:sldId id="332" r:id="rId22"/>
    <p:sldId id="333" r:id="rId23"/>
    <p:sldId id="1460" r:id="rId24"/>
    <p:sldId id="300" r:id="rId25"/>
    <p:sldId id="301" r:id="rId26"/>
    <p:sldId id="302" r:id="rId27"/>
    <p:sldId id="303" r:id="rId28"/>
    <p:sldId id="304" r:id="rId29"/>
    <p:sldId id="30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B40"/>
    <a:srgbClr val="FBA9FB"/>
    <a:srgbClr val="FCE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58" autoAdjust="0"/>
    <p:restoredTop sz="78935" autoAdjust="0"/>
  </p:normalViewPr>
  <p:slideViewPr>
    <p:cSldViewPr snapToGrid="0">
      <p:cViewPr varScale="1">
        <p:scale>
          <a:sx n="75" d="100"/>
          <a:sy n="75" d="100"/>
        </p:scale>
        <p:origin x="4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9EA63-885E-4EB8-879A-527FAB29153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35AAC-7370-4508-BC8A-A8FB0FFD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2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mediation is a fundamental security principle that means every access attempt must be checked. In other words, there should be no way to bypass the security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89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SSH: secure shell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52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46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Stateless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  <a:r>
              <a:rPr lang="en-US" dirty="0"/>
              <a:t> A stateless firewall filters packets based solely on pre-defined rules (e.g., IP addresses, ports, protocols) without considering the context of the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Features:</a:t>
            </a:r>
            <a:endParaRPr lang="en-US" dirty="0"/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Each packet is treated independently.</a:t>
            </a:r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No knowledge of connection states (e.g., whether it's part of an ongoing session).</a:t>
            </a:r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Faster and simpler but less secure.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Case:</a:t>
            </a:r>
            <a:r>
              <a:rPr lang="en-US" dirty="0"/>
              <a:t> Suitable for simple networks or specific use cases like blocking or allowing traffic based on static rules.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 Rule:</a:t>
            </a:r>
            <a:r>
              <a:rPr lang="en-US" dirty="0"/>
              <a:t> Block all incoming traffic on port 22 (SSH), regardless of whether it's part of an existing connection.</a:t>
            </a:r>
          </a:p>
          <a:p>
            <a:r>
              <a:rPr lang="en-US" b="1" dirty="0"/>
              <a:t>Stateful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  <a:r>
              <a:rPr lang="en-US" dirty="0"/>
              <a:t> A stateful firewall tracks the state of active connections and makes decisions based on the context (e.g., whether a packet is part of an established connection).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Features:</a:t>
            </a:r>
            <a:endParaRPr lang="en-US" dirty="0"/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Maintains a connection table to track ongoing sessions.</a:t>
            </a:r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Can distinguish between new, established, or related connections.</a:t>
            </a:r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Provides more security as it evaluates traffic in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Case:</a:t>
            </a:r>
            <a:r>
              <a:rPr lang="en-US" dirty="0"/>
              <a:t> Ideal for modern, complex networks where connection state matters (e.g., enterprise networks, application servers).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 Rule:</a:t>
            </a:r>
            <a:r>
              <a:rPr lang="en-US" dirty="0"/>
              <a:t> Allow incoming traffic on port 22 (SSH) only if it’s part of an already established connection.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56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B69B-69AD-E87C-3D56-AEDCF9DA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30144-7D35-F73E-3966-4E1AC68E3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2E280-30BA-F64E-674F-4FDB15685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Stateless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  <a:r>
              <a:rPr lang="en-US" dirty="0"/>
              <a:t> A stateless firewall filters packets based solely on pre-defined rules (e.g., IP addresses, ports, protocols) without considering the context of the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Features:</a:t>
            </a:r>
            <a:endParaRPr lang="en-US" dirty="0"/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Each packet is treated independently.</a:t>
            </a:r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No knowledge of connection states (e.g., whether it's part of an ongoing session).</a:t>
            </a:r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Faster and simpler but less secure.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Case:</a:t>
            </a:r>
            <a:r>
              <a:rPr lang="en-US" dirty="0"/>
              <a:t> Suitable for simple networks or specific use cases like blocking or allowing traffic based on static rules.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 Rule:</a:t>
            </a:r>
            <a:r>
              <a:rPr lang="en-US" dirty="0"/>
              <a:t> Block all incoming traffic on port 22 (SSH), regardless of whether it's part of an existing connection.</a:t>
            </a:r>
          </a:p>
          <a:p>
            <a:r>
              <a:rPr lang="en-US" b="1" dirty="0"/>
              <a:t>Stateful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  <a:r>
              <a:rPr lang="en-US" dirty="0"/>
              <a:t> A stateful firewall tracks the state of active connections and makes decisions based on the context (e.g., whether a packet is part of an established connection).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Features:</a:t>
            </a:r>
            <a:endParaRPr lang="en-US" dirty="0"/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Maintains a connection table to track ongoing sessions.</a:t>
            </a:r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Can distinguish between new, established, or related connections.</a:t>
            </a:r>
          </a:p>
          <a:p>
            <a:pPr marL="847929" lvl="1" indent="-326126">
              <a:buFont typeface="Arial" panose="020B0604020202020204" pitchFamily="34" charset="0"/>
              <a:buChar char="•"/>
            </a:pPr>
            <a:r>
              <a:rPr lang="en-US" dirty="0"/>
              <a:t>Provides more security as it evaluates traffic in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Case:</a:t>
            </a:r>
            <a:r>
              <a:rPr lang="en-US" dirty="0"/>
              <a:t> Ideal for modern, complex networks where connection state matters (e.g., enterprise networks, application servers).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 Rule:</a:t>
            </a:r>
            <a:r>
              <a:rPr lang="en-US" dirty="0"/>
              <a:t> Allow incoming traffic on port 22 (SSH) only if it’s part of an already established connection.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15FF3-AE66-6657-1CA2-B60A3DBF7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1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 = interface connected to the internal network (trusted network)</a:t>
            </a:r>
          </a:p>
          <a:p>
            <a:r>
              <a:rPr lang="en-US" dirty="0" err="1"/>
              <a:t>ext</a:t>
            </a:r>
            <a:r>
              <a:rPr lang="en-US" dirty="0"/>
              <a:t> = interface connected to the external network (Internet/untrusted)</a:t>
            </a:r>
          </a:p>
          <a:p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-&gt; means "connecting to" (outbound initiation)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b="1" dirty="0"/>
              <a:t>&lt;-</a:t>
            </a:r>
            <a:r>
              <a:rPr lang="en-US" dirty="0"/>
              <a:t> would mean "connecting from" (inbound initiation)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36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44A15-41DC-9301-A760-F5F46401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E349F-ECCB-57AE-61CC-E50B85232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CE435-84F9-E6B0-6204-22C7B69ED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</a:t>
            </a:r>
            <a:r>
              <a:rPr lang="en-US" dirty="0">
                <a:sym typeface="Wingdings" panose="05000000000000000000" pitchFamily="2" charset="2"/>
              </a:rPr>
              <a:t> ESTABLISHED: </a:t>
            </a:r>
            <a:r>
              <a:rPr lang="en-US" dirty="0"/>
              <a:t>after request sent</a:t>
            </a:r>
          </a:p>
          <a:p>
            <a:r>
              <a:rPr lang="en-US" dirty="0"/>
              <a:t>Expected reply: ICMP Type 0 (ICMP response) from bank.example.com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networking context, </a:t>
            </a:r>
            <a:r>
              <a:rPr lang="en-US" dirty="0">
                <a:solidFill>
                  <a:srgbClr val="C00000"/>
                </a:solidFill>
              </a:rPr>
              <a:t>unsolicited traffic </a:t>
            </a:r>
            <a:r>
              <a:rPr lang="en-US" dirty="0"/>
              <a:t>means packets arriving at your network that you did not initiate or ask for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B0A6D-434D-5F5E-8F7B-D5C5B3083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14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ADEE-83EE-0695-19A5-DB7F55DB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F5B49-CA3F-FDA7-E805-D6E41C197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57C01-1A92-DC9E-B2EB-55F31FE05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FD0CA-2FA4-E0C8-8881-51562C858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62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0965F-D848-B52D-8DD2-25489E2D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42376-5A22-5055-E83C-EB5A78DD2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9EED4-C08E-86BA-087A-8F56065EF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Unsolicited means “not requested” or “not expected”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9C866-7FB3-AF4B-8798-A328D6350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44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 common port: 443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47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ICMP packets are sent directly over IP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34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844A-B8A9-2E4D-6872-A51D9721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DC3C8-D443-A610-E155-7DCF9F19E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53F79-20A4-EC3C-DCA6-D48EDCE88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ICMP packets are sent directly over IP layer. No TCP or UDP, no “connection”, no port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ECEDA-08E0-610C-4F8B-7BE4D62B5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37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Rule 1 (Allow HTTP to Web Server):</a:t>
            </a:r>
            <a:endParaRPr lang="en-US" dirty="0"/>
          </a:p>
          <a:p>
            <a:pPr marL="847929" lvl="1" indent="-326126">
              <a:buFont typeface="+mj-lt"/>
              <a:buAutoNum type="arabicPeriod"/>
            </a:pPr>
            <a:r>
              <a:rPr lang="en-US" b="1" dirty="0"/>
              <a:t>Source:</a:t>
            </a:r>
            <a:r>
              <a:rPr lang="en-US" dirty="0"/>
              <a:t> Matches (* allows all sources).</a:t>
            </a:r>
          </a:p>
          <a:p>
            <a:pPr marL="847929" lvl="1" indent="-326126">
              <a:buFont typeface="+mj-lt"/>
              <a:buAutoNum type="arabicPeriod"/>
            </a:pPr>
            <a:r>
              <a:rPr lang="en-US" b="1" dirty="0"/>
              <a:t>Destination:</a:t>
            </a:r>
            <a:r>
              <a:rPr lang="en-US" dirty="0"/>
              <a:t> Matches (192.168.1.10 is the destination).</a:t>
            </a:r>
          </a:p>
          <a:p>
            <a:pPr marL="847929" lvl="1" indent="-326126">
              <a:buFont typeface="+mj-lt"/>
              <a:buAutoNum type="arabicPeriod"/>
            </a:pPr>
            <a:r>
              <a:rPr lang="en-US" b="1" dirty="0"/>
              <a:t>Port:</a:t>
            </a:r>
            <a:r>
              <a:rPr lang="en-US" dirty="0"/>
              <a:t> Matches (port 80 is specified).</a:t>
            </a:r>
          </a:p>
          <a:p>
            <a:pPr marL="847929" lvl="1" indent="-326126">
              <a:buFont typeface="+mj-lt"/>
              <a:buAutoNum type="arabicPeriod"/>
            </a:pPr>
            <a:r>
              <a:rPr lang="en-US" b="1" dirty="0"/>
              <a:t>Protocol:</a:t>
            </a:r>
            <a:r>
              <a:rPr lang="en-US" dirty="0"/>
              <a:t> Matches (TCP is specified).</a:t>
            </a:r>
          </a:p>
          <a:p>
            <a:pPr marL="847929" lvl="1" indent="-326126">
              <a:buFont typeface="+mj-lt"/>
              <a:buAutoNum type="arabicPeriod"/>
            </a:pPr>
            <a:r>
              <a:rPr lang="en-US" b="1" dirty="0"/>
              <a:t>Flags:</a:t>
            </a:r>
            <a:r>
              <a:rPr lang="en-US" dirty="0"/>
              <a:t> Matches (* accepts all flags, including SYN).</a:t>
            </a:r>
          </a:p>
          <a:p>
            <a:pPr marL="847929" lvl="1" indent="-326126">
              <a:buFont typeface="+mj-lt"/>
              <a:buAutoNum type="arabicPeriod"/>
            </a:pPr>
            <a:r>
              <a:rPr lang="en-US" b="1" dirty="0"/>
              <a:t>Action:</a:t>
            </a:r>
            <a:r>
              <a:rPr lang="en-US" dirty="0"/>
              <a:t> ALLOW. This rule allows the packet.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Rule 2 (Allow HTTPS Outbound Replies):</a:t>
            </a:r>
            <a:endParaRPr lang="en-US" dirty="0"/>
          </a:p>
          <a:p>
            <a:pPr marL="847929" lvl="1" indent="-326126">
              <a:buFont typeface="+mj-lt"/>
              <a:buAutoNum type="arabicPeriod"/>
            </a:pPr>
            <a:r>
              <a:rPr lang="en-US" dirty="0"/>
              <a:t>Does not match because:</a:t>
            </a:r>
          </a:p>
          <a:p>
            <a:pPr marL="1304506" lvl="2" indent="-260901">
              <a:buFont typeface="+mj-lt"/>
              <a:buAutoNum type="arabicPeriod"/>
            </a:pPr>
            <a:r>
              <a:rPr lang="en-US" dirty="0"/>
              <a:t>The source IP (203.0.113.5) is not in the internal subnet (192.168.2.0/24).</a:t>
            </a:r>
          </a:p>
          <a:p>
            <a:pPr marL="1304506" lvl="2" indent="-260901">
              <a:buFont typeface="+mj-lt"/>
              <a:buAutoNum type="arabicPeriod"/>
            </a:pPr>
            <a:r>
              <a:rPr lang="en-US" dirty="0"/>
              <a:t>The port (80) does not match (443 specified).</a:t>
            </a:r>
          </a:p>
          <a:p>
            <a:pPr marL="847929" lvl="1" indent="-326126">
              <a:buFont typeface="+mj-lt"/>
              <a:buAutoNum type="arabicPeriod"/>
            </a:pPr>
            <a:r>
              <a:rPr lang="en-US" dirty="0"/>
              <a:t>This rule does not apply.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Rule 3 (Default Deny):</a:t>
            </a:r>
            <a:endParaRPr lang="en-US" dirty="0"/>
          </a:p>
          <a:p>
            <a:pPr marL="847929" lvl="1" indent="-326126">
              <a:buFont typeface="+mj-lt"/>
              <a:buAutoNum type="arabicPeriod"/>
            </a:pPr>
            <a:r>
              <a:rPr lang="en-US" dirty="0"/>
              <a:t>This rule would block any traffic that does not match earlier rules.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FA58E-08E2-4243-B257-B2339CCEC76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2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FA58E-08E2-4243-B257-B2339CCEC76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811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73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Firewall can reconstruct those fragments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75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set up the TTL values? Use traceroute and ping commands; do some research and analysis from the 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42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32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89AA-7597-27E6-4B3B-165FD3811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A250F-C38B-8C9E-643A-C388525BB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440C6-A366-34E5-0395-C5FC04FA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F092B-0D35-CF9C-BFD1-3C0A4242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54963-FAD9-7042-D3F6-1D4BFA6D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8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38FB-4672-84D6-9ECF-2582DAE6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6A606-632B-0D99-676A-75C746528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1C205-B633-6210-6B52-CF27907E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5BA43-1D84-ECFF-F89C-11FF7AFF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C79E1-62C4-76DF-524D-8AFF3321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A5D0-102E-A4AB-E12C-D0EF8006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1E2F9-7F11-DA53-9500-714C9CD5C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758D-FDCC-1CBC-A227-8C629BDD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B4290-B339-3A27-B1A2-360BA543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E67AE-D729-DFD1-9FCC-D3379969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8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1D9D-86AA-1DA0-6F52-CE87D96B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10483-B2C1-19A3-C03D-41171D726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B85F0-0D4F-659B-B6E8-07E9ED34A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6A22F-64C6-7444-0C21-99A54DB9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4B0F6-B65C-5EF3-2CE5-CF72001D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24BF5-7203-64E6-7BB9-0B183F33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F6B1-44FB-BE0C-62B6-DF2C89F1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74C3B-3EAC-2D57-6B7D-C428083FE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ED756-5EC1-9E6E-2BC5-3BD2EF615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6FB6D-80D4-9AFB-52E5-49F352291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248CB-1C8C-92EB-376F-3A8B02393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5DB157-3765-A591-B7E4-81438D2B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3FA94-EC48-6267-BCB9-CE7CCD34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7736C-66C9-366B-DBBA-FED46BA3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9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4F6F1-C4B2-D0B2-7AFB-9F4D5554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85612-43F3-6319-EA18-DBF8D841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04F2A-69D3-2069-9FD6-109D75C7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843D0-3C88-8FF5-00FC-63CCF3E5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08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D0ED8-2BC1-E058-3233-2CB55A61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DD15B-52EA-8639-D650-17638EDA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C276E-2FF3-F7DF-E56A-D8557FF8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8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F77B-DF7F-1039-2FDE-3CAA47CF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EC513-2670-001B-1398-A757B74AD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87C18-8AFD-76F8-5A13-D63EF126C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F9F44-C0C9-762C-D3B7-8E9A4E675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93F5E-A0F4-990A-3099-D31971ED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DAA0A-0BFF-05A3-C830-DE2AA697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9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785E-4CD0-1356-B10D-89EB55A9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7B4AD-E4CD-FB43-7A4B-5DAD73EB1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929ED-DDDC-9046-162C-D396D5127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C0AC9-AF9C-496B-BFCB-2E47C55E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6D13E-3922-C306-EBBA-33294AEA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149A6-CDA4-763B-5509-DA48E0C1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C605-88D4-0F9C-4F60-310EE2E3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DE074-2B08-5145-AF9B-B16BFC605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BF8A8-94C3-7EA4-D45D-28A79090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1A773-C714-281A-5613-9B053EDD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27342-3B72-1BDA-2FAE-1B9F8EE3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7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36272-B555-A18A-4E91-55A0DA4CE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AACA-DE2A-45E4-D950-C827C61C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C5816-E40E-64C9-39E4-531EA142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02264-0757-4D19-477B-631B634B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4A300-0194-C143-7967-600097FE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7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A8022-576D-E637-28F0-3184AB87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BE467-9BFE-6AAE-001A-754EE5BD4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78178-8C14-256C-5E72-2D76BBCB6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ACD41-E2C3-4974-BF21-7012DD283A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2F6E3-A01E-6FEB-F4E0-DC31DE4F9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900C8-10FC-D739-7E8D-A2939CC9D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allarm.com/what/the-concept-of-a-firewal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rnet_Control_Message_Protocol#Timestamp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eep_packet_inspectio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security/what-is-next-generation-firewall-ngfw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aloaltonetworks.com/cyberpedia/what-is-a-proxy-firewal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aloaltonetworks.com/cyberpedia/what-is-an-ml-powered-ngf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325" y="3602039"/>
            <a:ext cx="971135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14, Lecture 1: Firewalls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5334-4EE9-0533-E65D-8230C01F6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4D22-1CA5-81CD-B3FC-95F84409D583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F021A76-9B75-7EC4-8E47-7A3D5AE5660F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Motivation and Security Policies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Firewalls: Packet Filters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Firewall Limitations and Evasion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591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E2EF-146F-F92F-9A0B-BF29C7E93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1991"/>
          </a:xfrm>
        </p:spPr>
        <p:txBody>
          <a:bodyPr/>
          <a:lstStyle/>
          <a:p>
            <a:r>
              <a:rPr lang="en" dirty="0"/>
              <a:t>Motivation: Scalable Defenses</a:t>
            </a:r>
            <a:endParaRPr lang="en-US" dirty="0"/>
          </a:p>
        </p:txBody>
      </p:sp>
      <p:sp>
        <p:nvSpPr>
          <p:cNvPr id="4" name="Google Shape;865;p69">
            <a:extLst>
              <a:ext uri="{FF2B5EF4-FFF2-40B4-BE49-F238E27FC236}">
                <a16:creationId xmlns:a16="http://schemas.microsoft.com/office/drawing/2014/main" id="{BB84F71E-71AA-CFE2-F060-AE5E445BF1B7}"/>
              </a:ext>
            </a:extLst>
          </p:cNvPr>
          <p:cNvSpPr txBox="1">
            <a:spLocks/>
          </p:cNvSpPr>
          <p:nvPr/>
        </p:nvSpPr>
        <p:spPr>
          <a:xfrm>
            <a:off x="350874" y="1118587"/>
            <a:ext cx="11002926" cy="104199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How do you protect a set of systems against external attack?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Example: A company network with many servers and employee computers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A32842-BA20-04C2-9CDC-3BE690D9C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681" y="2237174"/>
            <a:ext cx="5180319" cy="39598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FC889A-9526-47B3-AEC8-E35555FE091C}"/>
              </a:ext>
            </a:extLst>
          </p:cNvPr>
          <p:cNvSpPr txBox="1"/>
          <p:nvPr/>
        </p:nvSpPr>
        <p:spPr>
          <a:xfrm>
            <a:off x="263155" y="2198981"/>
            <a:ext cx="6584212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i="1" dirty="0"/>
              <a:t>Observation: More network services = more risk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Each network connection creates more opportunities for attacks (greater attack surface)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Various connections/protocols</a:t>
            </a:r>
          </a:p>
          <a:p>
            <a:pPr>
              <a:spcAft>
                <a:spcPts val="600"/>
              </a:spcAft>
            </a:pPr>
            <a:endParaRPr lang="en-US" sz="500" dirty="0"/>
          </a:p>
          <a:p>
            <a:pPr>
              <a:spcAft>
                <a:spcPts val="600"/>
              </a:spcAft>
            </a:pPr>
            <a:r>
              <a:rPr lang="en-US" sz="2200" i="1" dirty="0"/>
              <a:t>Observation: More networked machines = more risk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What if you have to secure hundreds of systems with different hardware, operating systems, and users?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What if there are some devices (e.g., guest’s computer) in the network that you aren't aware of?</a:t>
            </a:r>
          </a:p>
          <a:p>
            <a:pPr>
              <a:spcAft>
                <a:spcPts val="600"/>
              </a:spcAft>
            </a:pP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200" dirty="0"/>
              <a:t>Instead of securing individual machines, we want to </a:t>
            </a:r>
            <a:r>
              <a:rPr lang="en-US" sz="2200" b="1" i="1" dirty="0">
                <a:solidFill>
                  <a:srgbClr val="C00000"/>
                </a:solidFill>
              </a:rPr>
              <a:t>secure the entire network</a:t>
            </a:r>
            <a:r>
              <a:rPr lang="en-US" sz="22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45237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5892-B5D3-8572-D90B-E5E5FE9E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3"/>
            <a:ext cx="10515600" cy="1075174"/>
          </a:xfrm>
        </p:spPr>
        <p:txBody>
          <a:bodyPr/>
          <a:lstStyle/>
          <a:p>
            <a:r>
              <a:rPr lang="en" dirty="0"/>
              <a:t>Firewalls and Security Policies</a:t>
            </a:r>
            <a:endParaRPr lang="en-US" dirty="0"/>
          </a:p>
        </p:txBody>
      </p:sp>
      <p:sp>
        <p:nvSpPr>
          <p:cNvPr id="4" name="Google Shape;378;p47">
            <a:extLst>
              <a:ext uri="{FF2B5EF4-FFF2-40B4-BE49-F238E27FC236}">
                <a16:creationId xmlns:a16="http://schemas.microsoft.com/office/drawing/2014/main" id="{FB785F07-1140-C752-283B-E8A0F9D52AAD}"/>
              </a:ext>
            </a:extLst>
          </p:cNvPr>
          <p:cNvSpPr txBox="1">
            <a:spLocks/>
          </p:cNvSpPr>
          <p:nvPr/>
        </p:nvSpPr>
        <p:spPr>
          <a:xfrm>
            <a:off x="107921" y="1185371"/>
            <a:ext cx="11976157" cy="38923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Idea: Add a single point of access in and out of the network, with a monitor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Any traffic that could affect vulnerable systems must pass through the firewall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Ensure “complete mediation”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Network access is controlled by a </a:t>
            </a:r>
            <a:r>
              <a:rPr lang="en-US" b="1" dirty="0">
                <a:solidFill>
                  <a:srgbClr val="C00000"/>
                </a:solidFill>
              </a:rPr>
              <a:t>policy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C00000"/>
                </a:solidFill>
              </a:rPr>
              <a:t>A security policy is a set of rules that defines what traffic is allowed or denied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Defines what traffic is allowed to exit the network (</a:t>
            </a:r>
            <a:r>
              <a:rPr lang="en-US" b="1" dirty="0"/>
              <a:t>outbound policy</a:t>
            </a:r>
            <a:r>
              <a:rPr lang="en-US" dirty="0"/>
              <a:t>)</a:t>
            </a:r>
            <a:endParaRPr lang="en-US" sz="1400" dirty="0"/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Defines what traffic is allowed to enter the network (</a:t>
            </a:r>
            <a:r>
              <a:rPr lang="en-US" b="1" dirty="0"/>
              <a:t>inbound policy</a:t>
            </a:r>
            <a:r>
              <a:rPr lang="en-US" dirty="0"/>
              <a:t>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Policy model based on our threat model: We usually assume users “inside” the network are trusted, and those outside are not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37D945-8478-12B8-0B65-EEE3C11B40AE}"/>
              </a:ext>
            </a:extLst>
          </p:cNvPr>
          <p:cNvGrpSpPr/>
          <p:nvPr/>
        </p:nvGrpSpPr>
        <p:grpSpPr>
          <a:xfrm>
            <a:off x="2423632" y="4715683"/>
            <a:ext cx="7344735" cy="2020815"/>
            <a:chOff x="3149600" y="5125864"/>
            <a:chExt cx="6010716" cy="1583909"/>
          </a:xfrm>
        </p:grpSpPr>
        <p:sp>
          <p:nvSpPr>
            <p:cNvPr id="5" name="Google Shape;380;p47">
              <a:extLst>
                <a:ext uri="{FF2B5EF4-FFF2-40B4-BE49-F238E27FC236}">
                  <a16:creationId xmlns:a16="http://schemas.microsoft.com/office/drawing/2014/main" id="{8B8B1ECC-1030-A3FF-60DD-26C34898D721}"/>
                </a:ext>
              </a:extLst>
            </p:cNvPr>
            <p:cNvSpPr/>
            <p:nvPr/>
          </p:nvSpPr>
          <p:spPr>
            <a:xfrm>
              <a:off x="3149600" y="5453039"/>
              <a:ext cx="1562964" cy="884736"/>
            </a:xfrm>
            <a:prstGeom prst="cloud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Internet</a:t>
              </a:r>
              <a:endParaRPr dirty="0"/>
            </a:p>
          </p:txBody>
        </p:sp>
        <p:sp>
          <p:nvSpPr>
            <p:cNvPr id="6" name="Google Shape;381;p47">
              <a:extLst>
                <a:ext uri="{FF2B5EF4-FFF2-40B4-BE49-F238E27FC236}">
                  <a16:creationId xmlns:a16="http://schemas.microsoft.com/office/drawing/2014/main" id="{9A9B3466-F149-AC74-9223-15AA0D54BCA1}"/>
                </a:ext>
              </a:extLst>
            </p:cNvPr>
            <p:cNvSpPr/>
            <p:nvPr/>
          </p:nvSpPr>
          <p:spPr>
            <a:xfrm>
              <a:off x="8048166" y="6292973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82;p47">
              <a:extLst>
                <a:ext uri="{FF2B5EF4-FFF2-40B4-BE49-F238E27FC236}">
                  <a16:creationId xmlns:a16="http://schemas.microsoft.com/office/drawing/2014/main" id="{EF7D6D1F-522D-3FE6-CEFC-3FF9BFF470CB}"/>
                </a:ext>
              </a:extLst>
            </p:cNvPr>
            <p:cNvSpPr/>
            <p:nvPr/>
          </p:nvSpPr>
          <p:spPr>
            <a:xfrm>
              <a:off x="7951216" y="5709418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83;p47">
              <a:extLst>
                <a:ext uri="{FF2B5EF4-FFF2-40B4-BE49-F238E27FC236}">
                  <a16:creationId xmlns:a16="http://schemas.microsoft.com/office/drawing/2014/main" id="{5158452C-939A-F7BE-F99D-9800334397FB}"/>
                </a:ext>
              </a:extLst>
            </p:cNvPr>
            <p:cNvSpPr/>
            <p:nvPr/>
          </p:nvSpPr>
          <p:spPr>
            <a:xfrm>
              <a:off x="7987566" y="5125864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84;p47">
              <a:extLst>
                <a:ext uri="{FF2B5EF4-FFF2-40B4-BE49-F238E27FC236}">
                  <a16:creationId xmlns:a16="http://schemas.microsoft.com/office/drawing/2014/main" id="{5BD6A508-1B2E-04F8-182A-C228DAA63FE8}"/>
                </a:ext>
              </a:extLst>
            </p:cNvPr>
            <p:cNvSpPr/>
            <p:nvPr/>
          </p:nvSpPr>
          <p:spPr>
            <a:xfrm>
              <a:off x="5494736" y="5698602"/>
              <a:ext cx="1202401" cy="393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Firewall</a:t>
              </a:r>
              <a:endParaRPr/>
            </a:p>
          </p:txBody>
        </p:sp>
        <p:cxnSp>
          <p:nvCxnSpPr>
            <p:cNvPr id="10" name="Google Shape;385;p47">
              <a:extLst>
                <a:ext uri="{FF2B5EF4-FFF2-40B4-BE49-F238E27FC236}">
                  <a16:creationId xmlns:a16="http://schemas.microsoft.com/office/drawing/2014/main" id="{3CC2B056-33EF-E4A0-CF71-9FE0C11292D8}"/>
                </a:ext>
              </a:extLst>
            </p:cNvPr>
            <p:cNvCxnSpPr>
              <a:cxnSpLocks/>
              <a:stCxn id="5" idx="0"/>
              <a:endCxn id="9" idx="1"/>
            </p:cNvCxnSpPr>
            <p:nvPr/>
          </p:nvCxnSpPr>
          <p:spPr>
            <a:xfrm flipV="1">
              <a:off x="4711262" y="5895402"/>
              <a:ext cx="783474" cy="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386;p47">
              <a:extLst>
                <a:ext uri="{FF2B5EF4-FFF2-40B4-BE49-F238E27FC236}">
                  <a16:creationId xmlns:a16="http://schemas.microsoft.com/office/drawing/2014/main" id="{DC78FEE9-A1C0-FCF3-8B6A-904FED1C4809}"/>
                </a:ext>
              </a:extLst>
            </p:cNvPr>
            <p:cNvSpPr/>
            <p:nvPr/>
          </p:nvSpPr>
          <p:spPr>
            <a:xfrm>
              <a:off x="8576241" y="6337773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7;p47">
              <a:extLst>
                <a:ext uri="{FF2B5EF4-FFF2-40B4-BE49-F238E27FC236}">
                  <a16:creationId xmlns:a16="http://schemas.microsoft.com/office/drawing/2014/main" id="{75C8FB7E-B8F8-17A7-37C6-85D3285020A3}"/>
                </a:ext>
              </a:extLst>
            </p:cNvPr>
            <p:cNvSpPr/>
            <p:nvPr/>
          </p:nvSpPr>
          <p:spPr>
            <a:xfrm>
              <a:off x="8788316" y="5817943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88;p47">
              <a:extLst>
                <a:ext uri="{FF2B5EF4-FFF2-40B4-BE49-F238E27FC236}">
                  <a16:creationId xmlns:a16="http://schemas.microsoft.com/office/drawing/2014/main" id="{B3889D5C-CCE5-1AF6-BCBA-8FDFB61A04BE}"/>
                </a:ext>
              </a:extLst>
            </p:cNvPr>
            <p:cNvSpPr/>
            <p:nvPr/>
          </p:nvSpPr>
          <p:spPr>
            <a:xfrm>
              <a:off x="8679241" y="5186464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" name="Google Shape;389;p47">
              <a:extLst>
                <a:ext uri="{FF2B5EF4-FFF2-40B4-BE49-F238E27FC236}">
                  <a16:creationId xmlns:a16="http://schemas.microsoft.com/office/drawing/2014/main" id="{6ED05056-8F5B-E411-0EBF-7DE698722E80}"/>
                </a:ext>
              </a:extLst>
            </p:cNvPr>
            <p:cNvCxnSpPr>
              <a:cxnSpLocks/>
              <a:stCxn id="9" idx="3"/>
              <a:endCxn id="7" idx="1"/>
            </p:cNvCxnSpPr>
            <p:nvPr/>
          </p:nvCxnSpPr>
          <p:spPr>
            <a:xfrm>
              <a:off x="6697137" y="5895402"/>
              <a:ext cx="1254079" cy="1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390;p47">
              <a:extLst>
                <a:ext uri="{FF2B5EF4-FFF2-40B4-BE49-F238E27FC236}">
                  <a16:creationId xmlns:a16="http://schemas.microsoft.com/office/drawing/2014/main" id="{42E2DD25-051C-5326-D58E-80B82558562B}"/>
                </a:ext>
              </a:extLst>
            </p:cNvPr>
            <p:cNvCxnSpPr>
              <a:stCxn id="8" idx="3"/>
              <a:endCxn id="13" idx="1"/>
            </p:cNvCxnSpPr>
            <p:nvPr/>
          </p:nvCxnSpPr>
          <p:spPr>
            <a:xfrm>
              <a:off x="8359566" y="5311864"/>
              <a:ext cx="319800" cy="6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391;p47">
              <a:extLst>
                <a:ext uri="{FF2B5EF4-FFF2-40B4-BE49-F238E27FC236}">
                  <a16:creationId xmlns:a16="http://schemas.microsoft.com/office/drawing/2014/main" id="{17C5D89D-4ADF-181D-A70C-DAFD39C3341A}"/>
                </a:ext>
              </a:extLst>
            </p:cNvPr>
            <p:cNvCxnSpPr>
              <a:stCxn id="11" idx="0"/>
              <a:endCxn id="12" idx="2"/>
            </p:cNvCxnSpPr>
            <p:nvPr/>
          </p:nvCxnSpPr>
          <p:spPr>
            <a:xfrm rot="10800000" flipH="1">
              <a:off x="8762241" y="6189873"/>
              <a:ext cx="212100" cy="147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92;p47">
              <a:extLst>
                <a:ext uri="{FF2B5EF4-FFF2-40B4-BE49-F238E27FC236}">
                  <a16:creationId xmlns:a16="http://schemas.microsoft.com/office/drawing/2014/main" id="{190569C8-0D12-ADA7-9F81-6B55C44FB4B2}"/>
                </a:ext>
              </a:extLst>
            </p:cNvPr>
            <p:cNvCxnSpPr>
              <a:stCxn id="6" idx="0"/>
              <a:endCxn id="7" idx="2"/>
            </p:cNvCxnSpPr>
            <p:nvPr/>
          </p:nvCxnSpPr>
          <p:spPr>
            <a:xfrm rot="10800000">
              <a:off x="8137266" y="6081473"/>
              <a:ext cx="96900" cy="21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393;p47">
              <a:extLst>
                <a:ext uri="{FF2B5EF4-FFF2-40B4-BE49-F238E27FC236}">
                  <a16:creationId xmlns:a16="http://schemas.microsoft.com/office/drawing/2014/main" id="{97D85B32-11AF-EEC6-1530-A803E2376F7B}"/>
                </a:ext>
              </a:extLst>
            </p:cNvPr>
            <p:cNvCxnSpPr>
              <a:stCxn id="7" idx="3"/>
              <a:endCxn id="12" idx="1"/>
            </p:cNvCxnSpPr>
            <p:nvPr/>
          </p:nvCxnSpPr>
          <p:spPr>
            <a:xfrm>
              <a:off x="8323216" y="5895418"/>
              <a:ext cx="465000" cy="108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394;p47">
              <a:extLst>
                <a:ext uri="{FF2B5EF4-FFF2-40B4-BE49-F238E27FC236}">
                  <a16:creationId xmlns:a16="http://schemas.microsoft.com/office/drawing/2014/main" id="{5CA922FB-2910-E66C-A635-4D8EE2CC34E4}"/>
                </a:ext>
              </a:extLst>
            </p:cNvPr>
            <p:cNvCxnSpPr>
              <a:stCxn id="6" idx="3"/>
              <a:endCxn id="11" idx="1"/>
            </p:cNvCxnSpPr>
            <p:nvPr/>
          </p:nvCxnSpPr>
          <p:spPr>
            <a:xfrm>
              <a:off x="8420166" y="6478973"/>
              <a:ext cx="156000" cy="4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395;p47">
              <a:extLst>
                <a:ext uri="{FF2B5EF4-FFF2-40B4-BE49-F238E27FC236}">
                  <a16:creationId xmlns:a16="http://schemas.microsoft.com/office/drawing/2014/main" id="{6BCBF42C-64C6-0D75-B92A-7334B2539796}"/>
                </a:ext>
              </a:extLst>
            </p:cNvPr>
            <p:cNvCxnSpPr>
              <a:stCxn id="12" idx="0"/>
              <a:endCxn id="13" idx="2"/>
            </p:cNvCxnSpPr>
            <p:nvPr/>
          </p:nvCxnSpPr>
          <p:spPr>
            <a:xfrm rot="10800000">
              <a:off x="8865116" y="5558443"/>
              <a:ext cx="109200" cy="259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396;p47">
              <a:extLst>
                <a:ext uri="{FF2B5EF4-FFF2-40B4-BE49-F238E27FC236}">
                  <a16:creationId xmlns:a16="http://schemas.microsoft.com/office/drawing/2014/main" id="{796E63BE-457C-B970-FC25-F29E6C5C8D06}"/>
                </a:ext>
              </a:extLst>
            </p:cNvPr>
            <p:cNvCxnSpPr>
              <a:stCxn id="12" idx="0"/>
              <a:endCxn id="8" idx="2"/>
            </p:cNvCxnSpPr>
            <p:nvPr/>
          </p:nvCxnSpPr>
          <p:spPr>
            <a:xfrm rot="10800000">
              <a:off x="8173616" y="5497843"/>
              <a:ext cx="800700" cy="32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397;p47">
              <a:extLst>
                <a:ext uri="{FF2B5EF4-FFF2-40B4-BE49-F238E27FC236}">
                  <a16:creationId xmlns:a16="http://schemas.microsoft.com/office/drawing/2014/main" id="{27CEEF73-77DA-CB7C-1DEC-2343AE9EE9CB}"/>
                </a:ext>
              </a:extLst>
            </p:cNvPr>
            <p:cNvCxnSpPr>
              <a:endCxn id="8" idx="1"/>
            </p:cNvCxnSpPr>
            <p:nvPr/>
          </p:nvCxnSpPr>
          <p:spPr>
            <a:xfrm rot="10800000" flipH="1">
              <a:off x="6697266" y="5311864"/>
              <a:ext cx="1290300" cy="58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398;p47">
              <a:extLst>
                <a:ext uri="{FF2B5EF4-FFF2-40B4-BE49-F238E27FC236}">
                  <a16:creationId xmlns:a16="http://schemas.microsoft.com/office/drawing/2014/main" id="{E4AD49AA-3B32-28BC-82DB-D7C9075181D0}"/>
                </a:ext>
              </a:extLst>
            </p:cNvPr>
            <p:cNvCxnSpPr>
              <a:cxnSpLocks/>
              <a:stCxn id="9" idx="3"/>
              <a:endCxn id="6" idx="1"/>
            </p:cNvCxnSpPr>
            <p:nvPr/>
          </p:nvCxnSpPr>
          <p:spPr>
            <a:xfrm>
              <a:off x="6697137" y="5895402"/>
              <a:ext cx="1351029" cy="58357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14281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5B78-DFBE-ED28-86EA-46E7E8BA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4395"/>
          </a:xfrm>
        </p:spPr>
        <p:txBody>
          <a:bodyPr/>
          <a:lstStyle/>
          <a:p>
            <a:r>
              <a:rPr lang="en" dirty="0"/>
              <a:t>Firewalls and Security Policies</a:t>
            </a:r>
            <a:endParaRPr lang="en-US" dirty="0"/>
          </a:p>
        </p:txBody>
      </p:sp>
      <p:sp>
        <p:nvSpPr>
          <p:cNvPr id="4" name="Google Shape;404;p48">
            <a:extLst>
              <a:ext uri="{FF2B5EF4-FFF2-40B4-BE49-F238E27FC236}">
                <a16:creationId xmlns:a16="http://schemas.microsoft.com/office/drawing/2014/main" id="{4D201BEF-25F5-255A-A0B4-083663695348}"/>
              </a:ext>
            </a:extLst>
          </p:cNvPr>
          <p:cNvSpPr txBox="1">
            <a:spLocks/>
          </p:cNvSpPr>
          <p:nvPr/>
        </p:nvSpPr>
        <p:spPr>
          <a:xfrm>
            <a:off x="1031475" y="993938"/>
            <a:ext cx="10122708" cy="365794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i="1" dirty="0"/>
              <a:t>For example, what’s the policy of a standard home network?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i="1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Outbound policy: </a:t>
            </a:r>
            <a:r>
              <a:rPr lang="en-US" dirty="0">
                <a:solidFill>
                  <a:srgbClr val="38761D"/>
                </a:solidFill>
              </a:rPr>
              <a:t>Allow outbound traffic </a:t>
            </a:r>
            <a:endParaRPr lang="en-US" dirty="0">
              <a:solidFill>
                <a:srgbClr val="38761D"/>
              </a:solidFill>
              <a:sym typeface="Wingdings" panose="05000000000000000000" pitchFamily="2" charset="2"/>
            </a:endParaRP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600" dirty="0"/>
              <a:t>Users inside the network can connect to any service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Inbound policy: Only some traffic is able to enter the network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600" dirty="0">
                <a:solidFill>
                  <a:srgbClr val="38761D"/>
                </a:solidFill>
              </a:rPr>
              <a:t>Allow inbound traffic in response an outbound connection (e.g., FTP)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600" dirty="0">
                <a:solidFill>
                  <a:srgbClr val="38761D"/>
                </a:solidFill>
              </a:rPr>
              <a:t>Allow inbound traffic to certain, trusted services (e.g. SSH)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600" dirty="0">
                <a:solidFill>
                  <a:srgbClr val="CC0000"/>
                </a:solidFill>
              </a:rPr>
              <a:t>Deny all other inbound traffic (e.g., IP forwarding)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9C4F3E-164F-C865-894D-81083E92DC5B}"/>
              </a:ext>
            </a:extLst>
          </p:cNvPr>
          <p:cNvGrpSpPr/>
          <p:nvPr/>
        </p:nvGrpSpPr>
        <p:grpSpPr>
          <a:xfrm>
            <a:off x="2614018" y="4505641"/>
            <a:ext cx="6957621" cy="2280355"/>
            <a:chOff x="2888128" y="4577645"/>
            <a:chExt cx="6159298" cy="1890433"/>
          </a:xfrm>
        </p:grpSpPr>
        <p:sp>
          <p:nvSpPr>
            <p:cNvPr id="5" name="Google Shape;406;p48">
              <a:extLst>
                <a:ext uri="{FF2B5EF4-FFF2-40B4-BE49-F238E27FC236}">
                  <a16:creationId xmlns:a16="http://schemas.microsoft.com/office/drawing/2014/main" id="{3E21803C-C0D2-8D33-0AB6-4B9A478466E0}"/>
                </a:ext>
              </a:extLst>
            </p:cNvPr>
            <p:cNvSpPr/>
            <p:nvPr/>
          </p:nvSpPr>
          <p:spPr>
            <a:xfrm>
              <a:off x="2888128" y="5013920"/>
              <a:ext cx="1711546" cy="884736"/>
            </a:xfrm>
            <a:prstGeom prst="cloud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Internet</a:t>
              </a:r>
              <a:endParaRPr dirty="0"/>
            </a:p>
          </p:txBody>
        </p:sp>
        <p:sp>
          <p:nvSpPr>
            <p:cNvPr id="6" name="Google Shape;407;p48">
              <a:extLst>
                <a:ext uri="{FF2B5EF4-FFF2-40B4-BE49-F238E27FC236}">
                  <a16:creationId xmlns:a16="http://schemas.microsoft.com/office/drawing/2014/main" id="{4673D68B-5178-E864-FA96-3D5528F37045}"/>
                </a:ext>
              </a:extLst>
            </p:cNvPr>
            <p:cNvSpPr/>
            <p:nvPr/>
          </p:nvSpPr>
          <p:spPr>
            <a:xfrm>
              <a:off x="7935276" y="5853854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08;p48">
              <a:extLst>
                <a:ext uri="{FF2B5EF4-FFF2-40B4-BE49-F238E27FC236}">
                  <a16:creationId xmlns:a16="http://schemas.microsoft.com/office/drawing/2014/main" id="{7042E287-3B0D-4A09-CBEE-0302E6DFF187}"/>
                </a:ext>
              </a:extLst>
            </p:cNvPr>
            <p:cNvSpPr/>
            <p:nvPr/>
          </p:nvSpPr>
          <p:spPr>
            <a:xfrm>
              <a:off x="7838326" y="5270299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09;p48">
              <a:extLst>
                <a:ext uri="{FF2B5EF4-FFF2-40B4-BE49-F238E27FC236}">
                  <a16:creationId xmlns:a16="http://schemas.microsoft.com/office/drawing/2014/main" id="{3226CEC8-8AE9-11D1-2528-D6935B8E3241}"/>
                </a:ext>
              </a:extLst>
            </p:cNvPr>
            <p:cNvSpPr/>
            <p:nvPr/>
          </p:nvSpPr>
          <p:spPr>
            <a:xfrm>
              <a:off x="7874676" y="4686745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10;p48">
              <a:extLst>
                <a:ext uri="{FF2B5EF4-FFF2-40B4-BE49-F238E27FC236}">
                  <a16:creationId xmlns:a16="http://schemas.microsoft.com/office/drawing/2014/main" id="{A9AD0A5C-8657-AD52-216C-F5BA6C1E3AD3}"/>
                </a:ext>
              </a:extLst>
            </p:cNvPr>
            <p:cNvSpPr/>
            <p:nvPr/>
          </p:nvSpPr>
          <p:spPr>
            <a:xfrm>
              <a:off x="5345693" y="5259483"/>
              <a:ext cx="1238554" cy="393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Firewall</a:t>
              </a:r>
              <a:endParaRPr dirty="0"/>
            </a:p>
          </p:txBody>
        </p:sp>
        <p:cxnSp>
          <p:nvCxnSpPr>
            <p:cNvPr id="10" name="Google Shape;411;p48">
              <a:extLst>
                <a:ext uri="{FF2B5EF4-FFF2-40B4-BE49-F238E27FC236}">
                  <a16:creationId xmlns:a16="http://schemas.microsoft.com/office/drawing/2014/main" id="{574BF0F3-64A0-5524-CBEC-FBC65E9811D6}"/>
                </a:ext>
              </a:extLst>
            </p:cNvPr>
            <p:cNvCxnSpPr>
              <a:cxnSpLocks/>
              <a:stCxn id="5" idx="0"/>
              <a:endCxn id="9" idx="1"/>
            </p:cNvCxnSpPr>
            <p:nvPr/>
          </p:nvCxnSpPr>
          <p:spPr>
            <a:xfrm flipV="1">
              <a:off x="4598248" y="5456283"/>
              <a:ext cx="747445" cy="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412;p48">
              <a:extLst>
                <a:ext uri="{FF2B5EF4-FFF2-40B4-BE49-F238E27FC236}">
                  <a16:creationId xmlns:a16="http://schemas.microsoft.com/office/drawing/2014/main" id="{8A21E6C7-B1F4-7730-5537-0512F617A8C0}"/>
                </a:ext>
              </a:extLst>
            </p:cNvPr>
            <p:cNvSpPr/>
            <p:nvPr/>
          </p:nvSpPr>
          <p:spPr>
            <a:xfrm>
              <a:off x="8463351" y="5898654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13;p48">
              <a:extLst>
                <a:ext uri="{FF2B5EF4-FFF2-40B4-BE49-F238E27FC236}">
                  <a16:creationId xmlns:a16="http://schemas.microsoft.com/office/drawing/2014/main" id="{948FE131-7577-426A-8E5B-942BDC67C1FA}"/>
                </a:ext>
              </a:extLst>
            </p:cNvPr>
            <p:cNvSpPr/>
            <p:nvPr/>
          </p:nvSpPr>
          <p:spPr>
            <a:xfrm>
              <a:off x="8675426" y="5378824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14;p48">
              <a:extLst>
                <a:ext uri="{FF2B5EF4-FFF2-40B4-BE49-F238E27FC236}">
                  <a16:creationId xmlns:a16="http://schemas.microsoft.com/office/drawing/2014/main" id="{4466B69C-848A-20D5-DF1A-B450F7F4B8C6}"/>
                </a:ext>
              </a:extLst>
            </p:cNvPr>
            <p:cNvSpPr/>
            <p:nvPr/>
          </p:nvSpPr>
          <p:spPr>
            <a:xfrm>
              <a:off x="8566351" y="4747345"/>
              <a:ext cx="372000" cy="372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" name="Google Shape;415;p48">
              <a:extLst>
                <a:ext uri="{FF2B5EF4-FFF2-40B4-BE49-F238E27FC236}">
                  <a16:creationId xmlns:a16="http://schemas.microsoft.com/office/drawing/2014/main" id="{19919B99-B712-45A4-DCB9-DAAFE3995C44}"/>
                </a:ext>
              </a:extLst>
            </p:cNvPr>
            <p:cNvCxnSpPr>
              <a:cxnSpLocks/>
              <a:stCxn id="9" idx="3"/>
              <a:endCxn id="7" idx="1"/>
            </p:cNvCxnSpPr>
            <p:nvPr/>
          </p:nvCxnSpPr>
          <p:spPr>
            <a:xfrm>
              <a:off x="6584247" y="5456283"/>
              <a:ext cx="1254079" cy="1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416;p48">
              <a:extLst>
                <a:ext uri="{FF2B5EF4-FFF2-40B4-BE49-F238E27FC236}">
                  <a16:creationId xmlns:a16="http://schemas.microsoft.com/office/drawing/2014/main" id="{6DE26652-AD9F-1774-FBEA-9EACD46732DA}"/>
                </a:ext>
              </a:extLst>
            </p:cNvPr>
            <p:cNvCxnSpPr>
              <a:stCxn id="8" idx="3"/>
              <a:endCxn id="13" idx="1"/>
            </p:cNvCxnSpPr>
            <p:nvPr/>
          </p:nvCxnSpPr>
          <p:spPr>
            <a:xfrm>
              <a:off x="8246676" y="4872745"/>
              <a:ext cx="319800" cy="6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417;p48">
              <a:extLst>
                <a:ext uri="{FF2B5EF4-FFF2-40B4-BE49-F238E27FC236}">
                  <a16:creationId xmlns:a16="http://schemas.microsoft.com/office/drawing/2014/main" id="{C4B7818C-DB4B-62B9-FAF1-692CF0DFCC86}"/>
                </a:ext>
              </a:extLst>
            </p:cNvPr>
            <p:cNvCxnSpPr>
              <a:stCxn id="11" idx="0"/>
              <a:endCxn id="12" idx="2"/>
            </p:cNvCxnSpPr>
            <p:nvPr/>
          </p:nvCxnSpPr>
          <p:spPr>
            <a:xfrm rot="10800000" flipH="1">
              <a:off x="8649351" y="5750754"/>
              <a:ext cx="212100" cy="147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418;p48">
              <a:extLst>
                <a:ext uri="{FF2B5EF4-FFF2-40B4-BE49-F238E27FC236}">
                  <a16:creationId xmlns:a16="http://schemas.microsoft.com/office/drawing/2014/main" id="{BB9371E1-18F0-8DD8-450A-A77F865AC400}"/>
                </a:ext>
              </a:extLst>
            </p:cNvPr>
            <p:cNvCxnSpPr>
              <a:stCxn id="6" idx="0"/>
              <a:endCxn id="7" idx="2"/>
            </p:cNvCxnSpPr>
            <p:nvPr/>
          </p:nvCxnSpPr>
          <p:spPr>
            <a:xfrm rot="10800000">
              <a:off x="8024376" y="5642354"/>
              <a:ext cx="96900" cy="21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419;p48">
              <a:extLst>
                <a:ext uri="{FF2B5EF4-FFF2-40B4-BE49-F238E27FC236}">
                  <a16:creationId xmlns:a16="http://schemas.microsoft.com/office/drawing/2014/main" id="{05F858C5-6685-723F-CC73-2B42CB3FF84B}"/>
                </a:ext>
              </a:extLst>
            </p:cNvPr>
            <p:cNvCxnSpPr>
              <a:stCxn id="7" idx="3"/>
              <a:endCxn id="12" idx="1"/>
            </p:cNvCxnSpPr>
            <p:nvPr/>
          </p:nvCxnSpPr>
          <p:spPr>
            <a:xfrm>
              <a:off x="8210326" y="5456299"/>
              <a:ext cx="465000" cy="108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420;p48">
              <a:extLst>
                <a:ext uri="{FF2B5EF4-FFF2-40B4-BE49-F238E27FC236}">
                  <a16:creationId xmlns:a16="http://schemas.microsoft.com/office/drawing/2014/main" id="{842AE5A6-4B0D-5D58-67C3-CDB41018F1F0}"/>
                </a:ext>
              </a:extLst>
            </p:cNvPr>
            <p:cNvCxnSpPr>
              <a:stCxn id="6" idx="3"/>
              <a:endCxn id="11" idx="1"/>
            </p:cNvCxnSpPr>
            <p:nvPr/>
          </p:nvCxnSpPr>
          <p:spPr>
            <a:xfrm>
              <a:off x="8307276" y="6039854"/>
              <a:ext cx="156000" cy="4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421;p48">
              <a:extLst>
                <a:ext uri="{FF2B5EF4-FFF2-40B4-BE49-F238E27FC236}">
                  <a16:creationId xmlns:a16="http://schemas.microsoft.com/office/drawing/2014/main" id="{C4A3A71A-072C-5F39-C08B-736FF2CC3123}"/>
                </a:ext>
              </a:extLst>
            </p:cNvPr>
            <p:cNvCxnSpPr>
              <a:stCxn id="12" idx="0"/>
              <a:endCxn id="13" idx="2"/>
            </p:cNvCxnSpPr>
            <p:nvPr/>
          </p:nvCxnSpPr>
          <p:spPr>
            <a:xfrm rot="10800000">
              <a:off x="8752226" y="5119324"/>
              <a:ext cx="109200" cy="259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422;p48">
              <a:extLst>
                <a:ext uri="{FF2B5EF4-FFF2-40B4-BE49-F238E27FC236}">
                  <a16:creationId xmlns:a16="http://schemas.microsoft.com/office/drawing/2014/main" id="{64FE3AD7-268B-0A7D-EE76-B08E1145616E}"/>
                </a:ext>
              </a:extLst>
            </p:cNvPr>
            <p:cNvCxnSpPr>
              <a:stCxn id="12" idx="0"/>
              <a:endCxn id="8" idx="2"/>
            </p:cNvCxnSpPr>
            <p:nvPr/>
          </p:nvCxnSpPr>
          <p:spPr>
            <a:xfrm rot="10800000">
              <a:off x="8060726" y="5058724"/>
              <a:ext cx="800700" cy="32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423;p48">
              <a:extLst>
                <a:ext uri="{FF2B5EF4-FFF2-40B4-BE49-F238E27FC236}">
                  <a16:creationId xmlns:a16="http://schemas.microsoft.com/office/drawing/2014/main" id="{00311C58-C46F-C151-AE5D-D1799100395F}"/>
                </a:ext>
              </a:extLst>
            </p:cNvPr>
            <p:cNvCxnSpPr>
              <a:cxnSpLocks/>
              <a:stCxn id="9" idx="3"/>
              <a:endCxn id="8" idx="1"/>
            </p:cNvCxnSpPr>
            <p:nvPr/>
          </p:nvCxnSpPr>
          <p:spPr>
            <a:xfrm flipV="1">
              <a:off x="6584247" y="4872745"/>
              <a:ext cx="1290429" cy="58353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424;p48">
              <a:extLst>
                <a:ext uri="{FF2B5EF4-FFF2-40B4-BE49-F238E27FC236}">
                  <a16:creationId xmlns:a16="http://schemas.microsoft.com/office/drawing/2014/main" id="{CF2D23F7-DC21-692F-619E-901A7818A4E1}"/>
                </a:ext>
              </a:extLst>
            </p:cNvPr>
            <p:cNvCxnSpPr>
              <a:cxnSpLocks/>
              <a:stCxn id="9" idx="3"/>
              <a:endCxn id="6" idx="1"/>
            </p:cNvCxnSpPr>
            <p:nvPr/>
          </p:nvCxnSpPr>
          <p:spPr>
            <a:xfrm>
              <a:off x="6584247" y="5456283"/>
              <a:ext cx="1351029" cy="58357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" name="Google Shape;425;p48">
              <a:extLst>
                <a:ext uri="{FF2B5EF4-FFF2-40B4-BE49-F238E27FC236}">
                  <a16:creationId xmlns:a16="http://schemas.microsoft.com/office/drawing/2014/main" id="{74AB50FE-A639-6ACC-0FE1-D2818A92B825}"/>
                </a:ext>
              </a:extLst>
            </p:cNvPr>
            <p:cNvGrpSpPr/>
            <p:nvPr/>
          </p:nvGrpSpPr>
          <p:grpSpPr>
            <a:xfrm>
              <a:off x="4751197" y="4577645"/>
              <a:ext cx="2823800" cy="690800"/>
              <a:chOff x="2944975" y="3278275"/>
              <a:chExt cx="2823800" cy="690800"/>
            </a:xfrm>
          </p:grpSpPr>
          <p:sp>
            <p:nvSpPr>
              <p:cNvPr id="25" name="Google Shape;426;p48">
                <a:extLst>
                  <a:ext uri="{FF2B5EF4-FFF2-40B4-BE49-F238E27FC236}">
                    <a16:creationId xmlns:a16="http://schemas.microsoft.com/office/drawing/2014/main" id="{2A589A73-0417-680C-066C-D3BE8981B9F9}"/>
                  </a:ext>
                </a:extLst>
              </p:cNvPr>
              <p:cNvSpPr/>
              <p:nvPr/>
            </p:nvSpPr>
            <p:spPr>
              <a:xfrm>
                <a:off x="2944975" y="3278275"/>
                <a:ext cx="2823800" cy="690800"/>
              </a:xfrm>
              <a:custGeom>
                <a:avLst/>
                <a:gdLst/>
                <a:ahLst/>
                <a:cxnLst/>
                <a:rect l="l" t="t" r="r" b="b"/>
                <a:pathLst>
                  <a:path w="112952" h="27632" extrusionOk="0">
                    <a:moveTo>
                      <a:pt x="112952" y="0"/>
                    </a:moveTo>
                    <a:cubicBezTo>
                      <a:pt x="103378" y="3555"/>
                      <a:pt x="74332" y="16725"/>
                      <a:pt x="55507" y="21330"/>
                    </a:cubicBezTo>
                    <a:cubicBezTo>
                      <a:pt x="36682" y="25935"/>
                      <a:pt x="9251" y="26582"/>
                      <a:pt x="0" y="27632"/>
                    </a:cubicBezTo>
                  </a:path>
                </a:pathLst>
              </a:custGeom>
              <a:noFill/>
              <a:ln w="19050" cap="flat" cmpd="sng">
                <a:solidFill>
                  <a:srgbClr val="38761D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Google Shape;427;p48">
                <a:extLst>
                  <a:ext uri="{FF2B5EF4-FFF2-40B4-BE49-F238E27FC236}">
                    <a16:creationId xmlns:a16="http://schemas.microsoft.com/office/drawing/2014/main" id="{095ADF6D-CBC5-D8FF-7A3E-A59430C6E0D4}"/>
                  </a:ext>
                </a:extLst>
              </p:cNvPr>
              <p:cNvSpPr txBox="1"/>
              <p:nvPr/>
            </p:nvSpPr>
            <p:spPr>
              <a:xfrm rot="20930634">
                <a:off x="3392275" y="3416761"/>
                <a:ext cx="1905999" cy="400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dirty="0">
                    <a:solidFill>
                      <a:srgbClr val="38761D"/>
                    </a:solidFill>
                  </a:rPr>
                  <a:t>Allow outbound traffic</a:t>
                </a:r>
                <a:endParaRPr sz="1400" dirty="0">
                  <a:solidFill>
                    <a:srgbClr val="38761D"/>
                  </a:solidFill>
                </a:endParaRPr>
              </a:p>
            </p:txBody>
          </p:sp>
        </p:grpSp>
        <p:grpSp>
          <p:nvGrpSpPr>
            <p:cNvPr id="27" name="Google Shape;428;p48">
              <a:extLst>
                <a:ext uri="{FF2B5EF4-FFF2-40B4-BE49-F238E27FC236}">
                  <a16:creationId xmlns:a16="http://schemas.microsoft.com/office/drawing/2014/main" id="{1E7C2FE7-14E7-C4E5-C182-40281D0ECF14}"/>
                </a:ext>
              </a:extLst>
            </p:cNvPr>
            <p:cNvGrpSpPr/>
            <p:nvPr/>
          </p:nvGrpSpPr>
          <p:grpSpPr>
            <a:xfrm>
              <a:off x="4757272" y="5650195"/>
              <a:ext cx="2775300" cy="817883"/>
              <a:chOff x="2951050" y="4350825"/>
              <a:chExt cx="2775300" cy="817883"/>
            </a:xfrm>
          </p:grpSpPr>
          <p:sp>
            <p:nvSpPr>
              <p:cNvPr id="28" name="Google Shape;429;p48">
                <a:extLst>
                  <a:ext uri="{FF2B5EF4-FFF2-40B4-BE49-F238E27FC236}">
                    <a16:creationId xmlns:a16="http://schemas.microsoft.com/office/drawing/2014/main" id="{FB268313-C5BC-57D7-5E68-8339482822DD}"/>
                  </a:ext>
                </a:extLst>
              </p:cNvPr>
              <p:cNvSpPr/>
              <p:nvPr/>
            </p:nvSpPr>
            <p:spPr>
              <a:xfrm>
                <a:off x="2951050" y="4350825"/>
                <a:ext cx="2775300" cy="424175"/>
              </a:xfrm>
              <a:custGeom>
                <a:avLst/>
                <a:gdLst/>
                <a:ahLst/>
                <a:cxnLst/>
                <a:rect l="l" t="t" r="r" b="b"/>
                <a:pathLst>
                  <a:path w="111012" h="16967" extrusionOk="0">
                    <a:moveTo>
                      <a:pt x="0" y="0"/>
                    </a:moveTo>
                    <a:cubicBezTo>
                      <a:pt x="11352" y="1050"/>
                      <a:pt x="49608" y="3474"/>
                      <a:pt x="68110" y="6302"/>
                    </a:cubicBezTo>
                    <a:cubicBezTo>
                      <a:pt x="86612" y="9130"/>
                      <a:pt x="103862" y="15190"/>
                      <a:pt x="111012" y="16967"/>
                    </a:cubicBezTo>
                  </a:path>
                </a:pathLst>
              </a:custGeom>
              <a:noFill/>
              <a:ln w="19050" cap="flat" cmpd="sng">
                <a:solidFill>
                  <a:srgbClr val="BF9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Google Shape;430;p48">
                <a:extLst>
                  <a:ext uri="{FF2B5EF4-FFF2-40B4-BE49-F238E27FC236}">
                    <a16:creationId xmlns:a16="http://schemas.microsoft.com/office/drawing/2014/main" id="{0FEF33CE-D82D-2BC1-D0EC-84376455B910}"/>
                  </a:ext>
                </a:extLst>
              </p:cNvPr>
              <p:cNvSpPr txBox="1"/>
              <p:nvPr/>
            </p:nvSpPr>
            <p:spPr>
              <a:xfrm rot="386298">
                <a:off x="3075460" y="4553185"/>
                <a:ext cx="2562830" cy="615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dirty="0">
                    <a:solidFill>
                      <a:srgbClr val="38761D"/>
                    </a:solidFill>
                  </a:rPr>
                  <a:t>Allow trusted inbound traffic</a:t>
                </a:r>
                <a:endParaRPr sz="1400" dirty="0">
                  <a:solidFill>
                    <a:srgbClr val="38761D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dirty="0">
                    <a:solidFill>
                      <a:srgbClr val="CC0000"/>
                    </a:solidFill>
                  </a:rPr>
                  <a:t>Deny other inbound traffic</a:t>
                </a:r>
                <a:endParaRPr sz="1400" dirty="0">
                  <a:solidFill>
                    <a:srgbClr val="CC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569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345D-3298-8661-BB21-94AB2E7A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24128"/>
          </a:xfrm>
        </p:spPr>
        <p:txBody>
          <a:bodyPr/>
          <a:lstStyle/>
          <a:p>
            <a:r>
              <a:rPr lang="en" dirty="0"/>
              <a:t>Default Security Policies?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66C3B-C455-F65C-2ECF-B4F0585CE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414" y="1500708"/>
            <a:ext cx="11223171" cy="4868686"/>
          </a:xfrm>
        </p:spPr>
        <p:txBody>
          <a:bodyPr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How should we handle traffic that isn’t explicitly allowed or denied?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For example, an employee clicks a phishing link, and ransomware tries to connect to an AWS EC2 instance on port 8443</a:t>
            </a:r>
          </a:p>
          <a:p>
            <a:pPr marL="571500" lvl="1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b="1" i="1" dirty="0">
                <a:solidFill>
                  <a:srgbClr val="C00000"/>
                </a:solidFill>
              </a:rPr>
              <a:t>Default-allow policy</a:t>
            </a:r>
            <a:r>
              <a:rPr lang="en-US" sz="2400" i="1" dirty="0">
                <a:solidFill>
                  <a:srgbClr val="C00000"/>
                </a:solidFill>
              </a:rPr>
              <a:t>: </a:t>
            </a:r>
            <a:r>
              <a:rPr lang="en-US" sz="2400" dirty="0"/>
              <a:t>Allow all traffic, but deny those on a specified </a:t>
            </a:r>
            <a:r>
              <a:rPr lang="en-US" sz="2400" b="1" dirty="0"/>
              <a:t>denylist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For the above example:  Connection succeeds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Ransomware communicates with attacker, encrypts files, exfiltrates data.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As problems arise, add them to the denylist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b="1" i="1" dirty="0">
                <a:solidFill>
                  <a:srgbClr val="C00000"/>
                </a:solidFill>
              </a:rPr>
              <a:t>Default-deny policy</a:t>
            </a:r>
            <a:r>
              <a:rPr lang="en-US" sz="2400" i="1" dirty="0">
                <a:solidFill>
                  <a:srgbClr val="C00000"/>
                </a:solidFill>
              </a:rPr>
              <a:t>: </a:t>
            </a:r>
            <a:r>
              <a:rPr lang="en-US" sz="2400" dirty="0"/>
              <a:t>Deny all traffic, but allow those on a specified </a:t>
            </a:r>
            <a:r>
              <a:rPr lang="en-US" sz="2400" b="1" dirty="0"/>
              <a:t>allowlist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For the above example:  Connection blocked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Attack is contained, ransomware can't receive instructions or send data out.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As needs arise, add them to the allowlist</a:t>
            </a:r>
          </a:p>
          <a:p>
            <a:pPr marL="571500" lvl="1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407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E9F5-1A6C-651D-7957-CAA1697BF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AF27-4BBC-7963-5C8C-8588B85E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24128"/>
          </a:xfrm>
        </p:spPr>
        <p:txBody>
          <a:bodyPr/>
          <a:lstStyle/>
          <a:p>
            <a:r>
              <a:rPr lang="en" dirty="0"/>
              <a:t>Default Security Policies?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A461E-8BA1-4244-A26C-3C00CCC7C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414" y="1042383"/>
            <a:ext cx="11223171" cy="1998529"/>
          </a:xfrm>
        </p:spPr>
        <p:txBody>
          <a:bodyPr>
            <a:normAutofit/>
          </a:bodyPr>
          <a:lstStyle/>
          <a:p>
            <a:pPr marL="114300" lvl="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400" i="1" dirty="0"/>
              <a:t>Default-allow policy vs. Default-deny policy</a:t>
            </a:r>
            <a:r>
              <a:rPr lang="en-US" sz="2400" dirty="0"/>
              <a:t>, which default policy is better?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200" dirty="0"/>
              <a:t>Default-allow is more flexible, but flaws are vulnerabilities and can be catastrophic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200" dirty="0"/>
              <a:t>Default-deny is more conservative, but flaws are less painful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200" dirty="0"/>
              <a:t>Default-deny is generally </a:t>
            </a:r>
            <a:r>
              <a:rPr lang="en-US" sz="2200" i="1" dirty="0">
                <a:solidFill>
                  <a:srgbClr val="C00000"/>
                </a:solidFill>
              </a:rPr>
              <a:t>accepted</a:t>
            </a:r>
            <a:r>
              <a:rPr lang="en-US" sz="2200" dirty="0"/>
              <a:t> to be the best default policy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200" dirty="0"/>
              <a:t>Never trust, always verify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E95BB07-01F4-4B1D-694D-AE9BE81AC8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8145683"/>
              </p:ext>
            </p:extLst>
          </p:nvPr>
        </p:nvGraphicFramePr>
        <p:xfrm>
          <a:off x="165690" y="3258255"/>
          <a:ext cx="11860618" cy="358149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43387">
                  <a:extLst>
                    <a:ext uri="{9D8B030D-6E8A-4147-A177-3AD203B41FA5}">
                      <a16:colId xmlns:a16="http://schemas.microsoft.com/office/drawing/2014/main" val="12121312"/>
                    </a:ext>
                  </a:extLst>
                </a:gridCol>
                <a:gridCol w="4714148">
                  <a:extLst>
                    <a:ext uri="{9D8B030D-6E8A-4147-A177-3AD203B41FA5}">
                      <a16:colId xmlns:a16="http://schemas.microsoft.com/office/drawing/2014/main" val="2276686313"/>
                    </a:ext>
                  </a:extLst>
                </a:gridCol>
                <a:gridCol w="5603083">
                  <a:extLst>
                    <a:ext uri="{9D8B030D-6E8A-4147-A177-3AD203B41FA5}">
                      <a16:colId xmlns:a16="http://schemas.microsoft.com/office/drawing/2014/main" val="1122211438"/>
                    </a:ext>
                  </a:extLst>
                </a:gridCol>
              </a:tblGrid>
              <a:tr h="3052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Aspect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Default Accept (Blocklist/Denylist)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Default Deny (Allowlist)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extLst>
                  <a:ext uri="{0D108BD9-81ED-4DB2-BD59-A6C34878D82A}">
                    <a16:rowId xmlns:a16="http://schemas.microsoft.com/office/drawing/2014/main" val="32718415"/>
                  </a:ext>
                </a:extLst>
              </a:tr>
              <a:tr h="8149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Security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Less secure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Any traffic not explicitly blocked is allowed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which can expose vulnerabilities.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More secure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All traffic is blocked unless explicitly allowed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minimizing the attack surface.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extLst>
                  <a:ext uri="{0D108BD9-81ED-4DB2-BD59-A6C34878D82A}">
                    <a16:rowId xmlns:a16="http://schemas.microsoft.com/office/drawing/2014/main" val="2775036229"/>
                  </a:ext>
                </a:extLst>
              </a:tr>
              <a:tr h="8149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Functionality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Maximizes functionality: All traffic works unless explicitly blocked.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Reduces functionality initially: Services and applications may not work until specific rules are created.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extLst>
                  <a:ext uri="{0D108BD9-81ED-4DB2-BD59-A6C34878D82A}">
                    <a16:rowId xmlns:a16="http://schemas.microsoft.com/office/drawing/2014/main" val="3154636365"/>
                  </a:ext>
                </a:extLst>
              </a:tr>
              <a:tr h="8149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Ease of Configuration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Easier to configure: No need to identify every necessary traffic flow up front.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More effort required: </a:t>
                      </a:r>
                      <a:r>
                        <a:rPr lang="en-US" sz="1800" dirty="0"/>
                        <a:t>Every service, port, or protocol needs to be explicitly configured.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extLst>
                  <a:ext uri="{0D108BD9-81ED-4DB2-BD59-A6C34878D82A}">
                    <a16:rowId xmlns:a16="http://schemas.microsoft.com/office/drawing/2014/main" val="1095748649"/>
                  </a:ext>
                </a:extLst>
              </a:tr>
              <a:tr h="8149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Use Case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Suitable for home networks, personal devices, or less critical systems where functionality is prioritized.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Best for organizations, data centers, or sensitive systems where security is a top priority.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89" marR="8289" marT="8289" marB="0" anchor="ctr"/>
                </a:tc>
                <a:extLst>
                  <a:ext uri="{0D108BD9-81ED-4DB2-BD59-A6C34878D82A}">
                    <a16:rowId xmlns:a16="http://schemas.microsoft.com/office/drawing/2014/main" val="114224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681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B25B6-7D8A-626A-73C6-14D7295C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5CBEF-F4CF-9CE0-D3B5-7BE0748FEF03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76648EC-9349-5DF9-0DB9-E46FAFA35A76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Motivation and Security Policies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Firewalls: Packet Filters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Firewall Limitations and Evasion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913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6CD30-D91B-1962-7BC3-3CBB2AA2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4128"/>
          </a:xfrm>
        </p:spPr>
        <p:txBody>
          <a:bodyPr/>
          <a:lstStyle/>
          <a:p>
            <a:r>
              <a:rPr lang="en" dirty="0"/>
              <a:t>Packet Filters</a:t>
            </a:r>
            <a:endParaRPr lang="en-US" dirty="0"/>
          </a:p>
        </p:txBody>
      </p:sp>
      <p:sp>
        <p:nvSpPr>
          <p:cNvPr id="4" name="Google Shape;443;p50">
            <a:extLst>
              <a:ext uri="{FF2B5EF4-FFF2-40B4-BE49-F238E27FC236}">
                <a16:creationId xmlns:a16="http://schemas.microsoft.com/office/drawing/2014/main" id="{D3A0AB7A-E14C-FCA3-1908-079610D041BD}"/>
              </a:ext>
            </a:extLst>
          </p:cNvPr>
          <p:cNvSpPr txBox="1">
            <a:spLocks/>
          </p:cNvSpPr>
          <p:nvPr/>
        </p:nvSpPr>
        <p:spPr>
          <a:xfrm>
            <a:off x="563526" y="1158424"/>
            <a:ext cx="10790274" cy="163567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dirty="0"/>
              <a:t>Firewalls are often </a:t>
            </a:r>
            <a:r>
              <a:rPr lang="en-US" b="1" dirty="0"/>
              <a:t>packet filters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Filtering with </a:t>
            </a:r>
            <a:r>
              <a:rPr lang="en-US" sz="2400" i="1" dirty="0">
                <a:solidFill>
                  <a:srgbClr val="C00000"/>
                </a:solidFill>
              </a:rPr>
              <a:t>incoming and outgoing </a:t>
            </a:r>
            <a:r>
              <a:rPr lang="en-US" sz="2400" dirty="0"/>
              <a:t>interfaces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Inspect network packets and chooses a handling method: forward or drop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6FC928-EE61-F7EB-0499-DF340E1469E2}"/>
              </a:ext>
            </a:extLst>
          </p:cNvPr>
          <p:cNvGrpSpPr/>
          <p:nvPr/>
        </p:nvGrpSpPr>
        <p:grpSpPr>
          <a:xfrm>
            <a:off x="5791200" y="3636335"/>
            <a:ext cx="6400800" cy="3103827"/>
            <a:chOff x="5791200" y="3508744"/>
            <a:chExt cx="6400800" cy="310382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B43A93D-F973-E6E2-6E45-CB5315E46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0069"/>
            <a:stretch>
              <a:fillRect/>
            </a:stretch>
          </p:blipFill>
          <p:spPr>
            <a:xfrm>
              <a:off x="5791200" y="3508744"/>
              <a:ext cx="6400800" cy="268568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1EF640-CE6B-05CE-753B-9513FE88E692}"/>
                </a:ext>
              </a:extLst>
            </p:cNvPr>
            <p:cNvSpPr txBox="1"/>
            <p:nvPr/>
          </p:nvSpPr>
          <p:spPr>
            <a:xfrm>
              <a:off x="6023344" y="6243239"/>
              <a:ext cx="59365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hlinkClick r:id="rId4"/>
                </a:rPr>
                <a:t>https://www.wallarm.com/what/the-concept-of-a-firewall</a:t>
              </a:r>
              <a:r>
                <a:rPr lang="en-US" dirty="0"/>
                <a:t> 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7B02585-6B10-CDEC-75B2-4DB5CEF4C44B}"/>
              </a:ext>
            </a:extLst>
          </p:cNvPr>
          <p:cNvSpPr txBox="1"/>
          <p:nvPr/>
        </p:nvSpPr>
        <p:spPr>
          <a:xfrm>
            <a:off x="188728" y="3128488"/>
            <a:ext cx="6097772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Works at network layer and transport layer;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Filter based on packet header fields: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Source &amp; destination IP addresses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Protocols (TCP, UDP, ICMP): </a:t>
            </a:r>
          </a:p>
          <a:p>
            <a:pPr marL="12573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Source &amp; destination port number </a:t>
            </a:r>
          </a:p>
          <a:p>
            <a:pPr marL="12573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Control flags (TCP SYN, ACK, FIN, etc.)</a:t>
            </a:r>
          </a:p>
          <a:p>
            <a:pPr>
              <a:spcAft>
                <a:spcPts val="600"/>
              </a:spcAft>
            </a:pP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/>
              <a:t>Fast and efficient: Minimal processing overhead</a:t>
            </a:r>
          </a:p>
        </p:txBody>
      </p:sp>
    </p:spTree>
    <p:extLst>
      <p:ext uri="{BB962C8B-B14F-4D97-AF65-F5344CB8AC3E}">
        <p14:creationId xmlns:p14="http://schemas.microsoft.com/office/powerpoint/2010/main" val="129064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6CD30-D91B-1962-7BC3-3CBB2AA2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1991"/>
          </a:xfrm>
        </p:spPr>
        <p:txBody>
          <a:bodyPr/>
          <a:lstStyle/>
          <a:p>
            <a:r>
              <a:rPr lang="en" dirty="0"/>
              <a:t>Packet Filters</a:t>
            </a:r>
            <a:endParaRPr lang="en-US" dirty="0"/>
          </a:p>
        </p:txBody>
      </p:sp>
      <p:sp>
        <p:nvSpPr>
          <p:cNvPr id="3" name="Google Shape;450;p51">
            <a:extLst>
              <a:ext uri="{FF2B5EF4-FFF2-40B4-BE49-F238E27FC236}">
                <a16:creationId xmlns:a16="http://schemas.microsoft.com/office/drawing/2014/main" id="{E89FB283-E4B4-D7ED-CB8C-54AB44A5DDDE}"/>
              </a:ext>
            </a:extLst>
          </p:cNvPr>
          <p:cNvSpPr txBox="1">
            <a:spLocks/>
          </p:cNvSpPr>
          <p:nvPr/>
        </p:nvSpPr>
        <p:spPr>
          <a:xfrm>
            <a:off x="508591" y="1124295"/>
            <a:ext cx="11174818" cy="303579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400" dirty="0"/>
              <a:t>Stateless packet filters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Packet filters that have no history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All decisions must be made using only the </a:t>
            </a:r>
            <a:r>
              <a:rPr lang="en-US" sz="2200" i="1" dirty="0">
                <a:solidFill>
                  <a:srgbClr val="C00000"/>
                </a:solidFill>
              </a:rPr>
              <a:t>information in the packet itself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Can have trouble implementing complex policies that require knowledge of history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sz="2200" dirty="0"/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400" dirty="0"/>
              <a:t>Stateful packet filters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Maintain a state table that tracks all active connections and sessions passing through it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CCF209-007D-2D23-CE04-EB504D486414}"/>
              </a:ext>
            </a:extLst>
          </p:cNvPr>
          <p:cNvGrpSpPr/>
          <p:nvPr/>
        </p:nvGrpSpPr>
        <p:grpSpPr>
          <a:xfrm>
            <a:off x="96375" y="3913509"/>
            <a:ext cx="11999250" cy="2743200"/>
            <a:chOff x="1" y="3817816"/>
            <a:chExt cx="11999250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E5E51C7-B4A7-5CC9-1C51-C19A2CE19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" y="3817816"/>
              <a:ext cx="5999625" cy="27432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9EBF94-B484-B47F-7396-61907A0AD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9626" y="3817816"/>
              <a:ext cx="5999625" cy="2743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6011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1B37-7D85-B2C3-C533-9D3DC134A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1788-4C27-514D-399B-9366BDB4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1991"/>
          </a:xfrm>
        </p:spPr>
        <p:txBody>
          <a:bodyPr/>
          <a:lstStyle/>
          <a:p>
            <a:r>
              <a:rPr lang="en" dirty="0"/>
              <a:t>Stateless Packet Filters</a:t>
            </a:r>
            <a:endParaRPr lang="en-US" dirty="0"/>
          </a:p>
        </p:txBody>
      </p:sp>
      <p:sp>
        <p:nvSpPr>
          <p:cNvPr id="3" name="Google Shape;450;p51">
            <a:extLst>
              <a:ext uri="{FF2B5EF4-FFF2-40B4-BE49-F238E27FC236}">
                <a16:creationId xmlns:a16="http://schemas.microsoft.com/office/drawing/2014/main" id="{9BCE545C-2759-CAD6-DA05-3F72CAE76F19}"/>
              </a:ext>
            </a:extLst>
          </p:cNvPr>
          <p:cNvSpPr txBox="1">
            <a:spLocks/>
          </p:cNvSpPr>
          <p:nvPr/>
        </p:nvSpPr>
        <p:spPr>
          <a:xfrm>
            <a:off x="216196" y="1185333"/>
            <a:ext cx="11759608" cy="546382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400" dirty="0"/>
              <a:t>Consider implementing the typical home network policy: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38761D"/>
                </a:solidFill>
              </a:rPr>
              <a:t>Allow outbound traffic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38761D"/>
                </a:solidFill>
              </a:rPr>
              <a:t>Allow inbound traffic in response to an outbound connection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CC0000"/>
                </a:solidFill>
              </a:rPr>
              <a:t>Deny all other inbound traffic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/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400" b="1" i="1" dirty="0">
                <a:solidFill>
                  <a:srgbClr val="C00000"/>
                </a:solidFill>
              </a:rPr>
              <a:t>Issue: </a:t>
            </a:r>
            <a:r>
              <a:rPr lang="en-US" sz="2400" i="1" dirty="0"/>
              <a:t>How do we know what inbound traffic is in response to an outbound connection?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TCP: Can be implemented with a hack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Deny inbound traffic without an ACK flag set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Allow inbound traffic with the ACK flag set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If the internal computer sees an ACK packet without having formed a connection (through the OS), it will ignore it or send a RST packet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UDP (e.g., DNS responses): Impossible to implement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UDP “connections” are typically implemented at the application layer, so we can’t inspect much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sz="2600" dirty="0"/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600" i="1" dirty="0">
                <a:solidFill>
                  <a:srgbClr val="C00000"/>
                </a:solidFill>
              </a:rPr>
              <a:t>Stateless packet filters are not good enough!</a:t>
            </a:r>
          </a:p>
        </p:txBody>
      </p:sp>
    </p:spTree>
    <p:extLst>
      <p:ext uri="{BB962C8B-B14F-4D97-AF65-F5344CB8AC3E}">
        <p14:creationId xmlns:p14="http://schemas.microsoft.com/office/powerpoint/2010/main" val="1798736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2393-1BCF-BBEE-F2BD-AC6B4823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DBC7-5BBF-21A4-E064-25E6A98C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7290"/>
          </a:xfrm>
        </p:spPr>
        <p:txBody>
          <a:bodyPr/>
          <a:lstStyle/>
          <a:p>
            <a:r>
              <a:rPr lang="en" dirty="0"/>
              <a:t>Stateful Packet Filters</a:t>
            </a:r>
            <a:endParaRPr lang="en-US" dirty="0"/>
          </a:p>
        </p:txBody>
      </p:sp>
      <p:sp>
        <p:nvSpPr>
          <p:cNvPr id="4" name="Google Shape;456;p52">
            <a:extLst>
              <a:ext uri="{FF2B5EF4-FFF2-40B4-BE49-F238E27FC236}">
                <a16:creationId xmlns:a16="http://schemas.microsoft.com/office/drawing/2014/main" id="{C2633FE7-26E8-838A-573D-2ACFB1EBFCBB}"/>
              </a:ext>
            </a:extLst>
          </p:cNvPr>
          <p:cNvSpPr txBox="1">
            <a:spLocks/>
          </p:cNvSpPr>
          <p:nvPr/>
        </p:nvSpPr>
        <p:spPr>
          <a:xfrm>
            <a:off x="473363" y="1027289"/>
            <a:ext cx="10515601" cy="39124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600" b="1" i="1" dirty="0">
                <a:solidFill>
                  <a:srgbClr val="C00000"/>
                </a:solidFill>
              </a:rPr>
              <a:t>A better idea: Keep “state” in the implementation of the packet filter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The filter keeps track of inbound/outbound connections and sessions passing through it, rather than individual packets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b="1" dirty="0"/>
              <a:t>Phase 1: Session handling	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firewall tracks and remembers active connections by maintaining a </a:t>
            </a:r>
            <a:r>
              <a:rPr lang="en-US" dirty="0">
                <a:solidFill>
                  <a:srgbClr val="C00000"/>
                </a:solidFill>
              </a:rPr>
              <a:t>connection state table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Remembers details about active connections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Source/destination IP addresses and ports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Connection states  </a:t>
            </a:r>
            <a:r>
              <a:rPr lang="en-US" dirty="0"/>
              <a:t>(NEW, ESTABLISHED, RELATED, etc.)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Protocol-specific parameters (e.g., TCP SEQ and ACK #, TCP flags seen, ICMP Seq #)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Timestamps (created, last activity)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087DC1-B96E-5DDA-3D48-FBC2E3365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370" y="4752069"/>
            <a:ext cx="4615072" cy="2036240"/>
          </a:xfrm>
          <a:prstGeom prst="rect">
            <a:avLst/>
          </a:prstGeom>
        </p:spPr>
      </p:pic>
      <p:pic>
        <p:nvPicPr>
          <p:cNvPr id="1026" name="Picture 2" descr="1. State Table Example | Download Table">
            <a:extLst>
              <a:ext uri="{FF2B5EF4-FFF2-40B4-BE49-F238E27FC236}">
                <a16:creationId xmlns:a16="http://schemas.microsoft.com/office/drawing/2014/main" id="{37F04444-03C7-D9CA-CA24-4A82B9ECA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8" y="5196600"/>
            <a:ext cx="7118159" cy="154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620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6CD30-D91B-1962-7BC3-3CBB2AA2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7290"/>
          </a:xfrm>
        </p:spPr>
        <p:txBody>
          <a:bodyPr/>
          <a:lstStyle/>
          <a:p>
            <a:r>
              <a:rPr lang="en" dirty="0"/>
              <a:t>Stateful Packet Filters</a:t>
            </a:r>
            <a:endParaRPr lang="en-US" dirty="0"/>
          </a:p>
        </p:txBody>
      </p:sp>
      <p:sp>
        <p:nvSpPr>
          <p:cNvPr id="4" name="Google Shape;456;p52">
            <a:extLst>
              <a:ext uri="{FF2B5EF4-FFF2-40B4-BE49-F238E27FC236}">
                <a16:creationId xmlns:a16="http://schemas.microsoft.com/office/drawing/2014/main" id="{0238FA89-A908-9D8F-C92A-95A507122356}"/>
              </a:ext>
            </a:extLst>
          </p:cNvPr>
          <p:cNvSpPr txBox="1">
            <a:spLocks/>
          </p:cNvSpPr>
          <p:nvPr/>
        </p:nvSpPr>
        <p:spPr>
          <a:xfrm>
            <a:off x="473363" y="1027289"/>
            <a:ext cx="11245273" cy="240171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600" b="1" i="1" dirty="0">
                <a:solidFill>
                  <a:srgbClr val="C00000"/>
                </a:solidFill>
              </a:rPr>
              <a:t>A better idea: Keep “state” in the implementation of the packet filter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b="1" dirty="0"/>
              <a:t>Phase 2: Decision making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000" dirty="0"/>
              <a:t>Makes decisions based on both </a:t>
            </a:r>
            <a:r>
              <a:rPr lang="en-US" sz="2000" dirty="0">
                <a:solidFill>
                  <a:srgbClr val="C00000"/>
                </a:solidFill>
              </a:rPr>
              <a:t>static rules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C00000"/>
                </a:solidFill>
              </a:rPr>
              <a:t>connection context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For ESTABLISHED connections: Automatically allowed (already in state table)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For NEW connections: Must pass all firewall rules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For INVALID packets: Rejected (don't match any known connection)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A8D863-E4B7-E3F8-39ED-CB29F803F66C}"/>
              </a:ext>
            </a:extLst>
          </p:cNvPr>
          <p:cNvSpPr txBox="1"/>
          <p:nvPr/>
        </p:nvSpPr>
        <p:spPr>
          <a:xfrm>
            <a:off x="1110232" y="3210847"/>
            <a:ext cx="9971534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spcBef>
                <a:spcPts val="0"/>
              </a:spcBef>
              <a:spcAft>
                <a:spcPts val="600"/>
              </a:spcAft>
              <a:buSzPts val="1800"/>
            </a:pPr>
            <a:r>
              <a:rPr lang="en-US" sz="2400" dirty="0"/>
              <a:t>Example rules:</a:t>
            </a:r>
          </a:p>
          <a:p>
            <a:pPr marL="45720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allow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tcp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connection 4.5.5.4:* -&gt; 3.1.1.2:80</a:t>
            </a:r>
          </a:p>
          <a:p>
            <a:pPr marL="914400" lvl="1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Allow connections from 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4.5.5.4</a:t>
            </a:r>
            <a:r>
              <a:rPr lang="en-US" dirty="0"/>
              <a:t> to 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3.1.1.2</a:t>
            </a:r>
            <a:r>
              <a:rPr lang="en-US" dirty="0"/>
              <a:t> with destination port 80</a:t>
            </a:r>
          </a:p>
          <a:p>
            <a:pPr marL="45720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allow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tcp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connection *:*/int -&gt; *:80/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ext</a:t>
            </a:r>
            <a:endParaRPr lang="en-US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Allow outbound connections with destination port 80</a:t>
            </a:r>
          </a:p>
          <a:p>
            <a:pPr marL="45720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allow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icmp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connection *:*/int -&gt; *:*/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ext</a:t>
            </a:r>
            <a:endParaRPr lang="en-US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Allow outbound ICMP connections from any internal host to any external host</a:t>
            </a:r>
          </a:p>
          <a:p>
            <a:pPr marL="45720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allow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udp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connection *:*/int -&gt; *:53/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ext</a:t>
            </a:r>
            <a:endParaRPr lang="en-US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Allow outbound UDP connections from any internal host to any external DNS servers</a:t>
            </a:r>
          </a:p>
          <a:p>
            <a:pPr marL="914400" lvl="1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C00000"/>
                </a:solidFill>
              </a:rPr>
              <a:t>Stateful firewall </a:t>
            </a:r>
            <a:r>
              <a:rPr lang="en-US" dirty="0"/>
              <a:t>automatically allows UDP responses back</a:t>
            </a:r>
          </a:p>
        </p:txBody>
      </p:sp>
    </p:spTree>
    <p:extLst>
      <p:ext uri="{BB962C8B-B14F-4D97-AF65-F5344CB8AC3E}">
        <p14:creationId xmlns:p14="http://schemas.microsoft.com/office/powerpoint/2010/main" val="1390581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59FD9-F650-BA12-3DBC-DF10A03A1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65CB-5999-862A-3A7E-2E08D766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7290"/>
          </a:xfrm>
        </p:spPr>
        <p:txBody>
          <a:bodyPr/>
          <a:lstStyle/>
          <a:p>
            <a:r>
              <a:rPr lang="en" dirty="0"/>
              <a:t>Stateful Packet Filters</a:t>
            </a:r>
            <a:endParaRPr lang="en-US" dirty="0"/>
          </a:p>
        </p:txBody>
      </p:sp>
      <p:sp>
        <p:nvSpPr>
          <p:cNvPr id="4" name="Google Shape;456;p52">
            <a:extLst>
              <a:ext uri="{FF2B5EF4-FFF2-40B4-BE49-F238E27FC236}">
                <a16:creationId xmlns:a16="http://schemas.microsoft.com/office/drawing/2014/main" id="{9E0F61A0-226B-9AE7-67E2-8DC69B72C870}"/>
              </a:ext>
            </a:extLst>
          </p:cNvPr>
          <p:cNvSpPr txBox="1">
            <a:spLocks/>
          </p:cNvSpPr>
          <p:nvPr/>
        </p:nvSpPr>
        <p:spPr>
          <a:xfrm>
            <a:off x="473363" y="1027290"/>
            <a:ext cx="11245273" cy="155662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600" b="1" i="1" dirty="0">
                <a:solidFill>
                  <a:srgbClr val="C00000"/>
                </a:solidFill>
              </a:rPr>
              <a:t>A better idea: Keep “state” in the implementation of the packet filter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b="1" dirty="0"/>
              <a:t>Phase 2: Decision making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000" dirty="0"/>
              <a:t>Makes decisions based on both </a:t>
            </a:r>
            <a:r>
              <a:rPr lang="en-US" sz="2000" dirty="0">
                <a:solidFill>
                  <a:srgbClr val="C00000"/>
                </a:solidFill>
              </a:rPr>
              <a:t>static rules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C00000"/>
                </a:solidFill>
              </a:rPr>
              <a:t>connection context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389D54-A38C-2881-A545-EC08BB755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636" y="3990938"/>
            <a:ext cx="4858993" cy="2762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EFB248-CE91-6FCE-8CF3-98238AC480BE}"/>
              </a:ext>
            </a:extLst>
          </p:cNvPr>
          <p:cNvSpPr txBox="1"/>
          <p:nvPr/>
        </p:nvSpPr>
        <p:spPr>
          <a:xfrm>
            <a:off x="124415" y="2434314"/>
            <a:ext cx="781587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Outbound ICMP Echo Request to </a:t>
            </a:r>
            <a:r>
              <a:rPr lang="en-US" sz="2200" b="1" i="1" dirty="0"/>
              <a:t>bank.example.com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Firewall </a:t>
            </a:r>
            <a:r>
              <a:rPr lang="en-US" sz="2000" i="1" dirty="0">
                <a:solidFill>
                  <a:srgbClr val="C00000"/>
                </a:solidFill>
              </a:rPr>
              <a:t>creates state table entry</a:t>
            </a:r>
            <a:r>
              <a:rPr lang="en-US" sz="2000" dirty="0"/>
              <a:t>, containing Session ID, connection type, des IP, ICMP ID &amp; Seq, State (NEW </a:t>
            </a:r>
            <a:r>
              <a:rPr lang="en-US" sz="2000" dirty="0">
                <a:sym typeface="Wingdings" panose="05000000000000000000" pitchFamily="2" charset="2"/>
              </a:rPr>
              <a:t> ESTABLISHED</a:t>
            </a:r>
            <a:r>
              <a:rPr lang="en-US" sz="2000" dirty="0"/>
              <a:t>), and expected reply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Inbound ICMP Echo Reply from </a:t>
            </a:r>
            <a:r>
              <a:rPr lang="en-US" sz="2200" b="1" i="1" dirty="0"/>
              <a:t>bank.example.com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Validates</a:t>
            </a:r>
            <a:r>
              <a:rPr lang="en-US" sz="2000" dirty="0"/>
              <a:t> session ID, ICMP ID and Seq match expected values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Unsolicited ICMP Echo Reply from </a:t>
            </a:r>
            <a:r>
              <a:rPr lang="en-US" sz="2200" b="1" i="1" dirty="0">
                <a:solidFill>
                  <a:srgbClr val="C00000"/>
                </a:solidFill>
              </a:rPr>
              <a:t>evil.example.com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Checks state table: No matching ICMP request to </a:t>
            </a:r>
            <a:r>
              <a:rPr lang="en-US" sz="2000" b="1" i="1" dirty="0">
                <a:solidFill>
                  <a:srgbClr val="C00000"/>
                </a:solidFill>
              </a:rPr>
              <a:t>evil.example.com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C00000"/>
                </a:solidFill>
              </a:rPr>
              <a:t>Marks as INVALID &amp;&amp; Drops the packet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Computer 1 never receives this malicious ICMP reply</a:t>
            </a:r>
          </a:p>
        </p:txBody>
      </p:sp>
    </p:spTree>
    <p:extLst>
      <p:ext uri="{BB962C8B-B14F-4D97-AF65-F5344CB8AC3E}">
        <p14:creationId xmlns:p14="http://schemas.microsoft.com/office/powerpoint/2010/main" val="2347145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F63B3-5C69-DD1E-7BFA-97AC0413E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FF3B-869A-504E-862E-684B74C8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7290"/>
          </a:xfrm>
        </p:spPr>
        <p:txBody>
          <a:bodyPr/>
          <a:lstStyle/>
          <a:p>
            <a:r>
              <a:rPr lang="en" dirty="0"/>
              <a:t>Stateless vs. Stateful Packet Filters</a:t>
            </a:r>
            <a:endParaRPr lang="en-US" dirty="0"/>
          </a:p>
        </p:txBody>
      </p:sp>
      <p:sp>
        <p:nvSpPr>
          <p:cNvPr id="4" name="Google Shape;456;p52">
            <a:extLst>
              <a:ext uri="{FF2B5EF4-FFF2-40B4-BE49-F238E27FC236}">
                <a16:creationId xmlns:a16="http://schemas.microsoft.com/office/drawing/2014/main" id="{B08A16C3-C20B-C6A9-BE86-439FC06859F6}"/>
              </a:ext>
            </a:extLst>
          </p:cNvPr>
          <p:cNvSpPr txBox="1">
            <a:spLocks/>
          </p:cNvSpPr>
          <p:nvPr/>
        </p:nvSpPr>
        <p:spPr>
          <a:xfrm>
            <a:off x="236681" y="951599"/>
            <a:ext cx="11718637" cy="155140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400" dirty="0"/>
              <a:t>Consider implementing the typical home network policy: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38761D"/>
                </a:solidFill>
              </a:rPr>
              <a:t>Allow inbound traffic in response to an outbound connection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sz="500" dirty="0">
              <a:solidFill>
                <a:srgbClr val="CC0000"/>
              </a:solidFill>
            </a:endParaRP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400" b="1" i="1" dirty="0">
                <a:solidFill>
                  <a:srgbClr val="C00000"/>
                </a:solidFill>
              </a:rPr>
              <a:t>Issue: </a:t>
            </a:r>
            <a:r>
              <a:rPr lang="en-US" sz="2400" i="1" dirty="0"/>
              <a:t>How do we know what inbound </a:t>
            </a:r>
            <a:r>
              <a:rPr lang="en-US" sz="2400" b="1" i="1" dirty="0"/>
              <a:t>TCP traffic </a:t>
            </a:r>
            <a:r>
              <a:rPr lang="en-US" sz="2400" i="1" dirty="0"/>
              <a:t>is in response to an outbound connection?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>
              <a:solidFill>
                <a:srgbClr val="CC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52B78-1BAD-7D90-46CD-0BC94FA65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990" y="3825784"/>
            <a:ext cx="4163241" cy="1836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275A82-178C-6F96-AE06-433BD72AD914}"/>
              </a:ext>
            </a:extLst>
          </p:cNvPr>
          <p:cNvSpPr txBox="1"/>
          <p:nvPr/>
        </p:nvSpPr>
        <p:spPr>
          <a:xfrm>
            <a:off x="195769" y="2503003"/>
            <a:ext cx="1171863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/>
              <a:t>Attempted solutions with </a:t>
            </a:r>
            <a:r>
              <a:rPr lang="en-US" sz="2200" dirty="0">
                <a:solidFill>
                  <a:srgbClr val="C00000"/>
                </a:solidFill>
              </a:rPr>
              <a:t>stateless filters</a:t>
            </a:r>
            <a:r>
              <a:rPr lang="en-US" sz="2200" dirty="0"/>
              <a:t>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rgbClr val="C00000"/>
                </a:solidFill>
              </a:rPr>
              <a:t>Rule 1: </a:t>
            </a:r>
            <a:r>
              <a:rPr lang="en-US" sz="2200" dirty="0"/>
              <a:t>Allow outbound TCP (all ports)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rgbClr val="C00000"/>
                </a:solidFill>
              </a:rPr>
              <a:t>Rule 2: </a:t>
            </a:r>
            <a:r>
              <a:rPr lang="en-US" sz="2200" dirty="0"/>
              <a:t>Deny inbound TCP WITHOUT ACK flag ← Attempts to block new connection initiations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rgbClr val="C00000"/>
                </a:solidFill>
              </a:rPr>
              <a:t>Rule 3: </a:t>
            </a:r>
            <a:r>
              <a:rPr lang="en-US" sz="2200" dirty="0"/>
              <a:t>Allow inbound TCP WITH ACK flag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rgbClr val="C00000"/>
                </a:solidFill>
              </a:rPr>
              <a:t>Rule 4: </a:t>
            </a:r>
            <a:r>
              <a:rPr lang="en-US" sz="2200" dirty="0"/>
              <a:t>Deny all other inbound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EF2E2-AF61-F9B3-F65C-DFE56CD31C33}"/>
              </a:ext>
            </a:extLst>
          </p:cNvPr>
          <p:cNvSpPr txBox="1"/>
          <p:nvPr/>
        </p:nvSpPr>
        <p:spPr>
          <a:xfrm>
            <a:off x="195769" y="4744227"/>
            <a:ext cx="1162848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i="1" dirty="0">
                <a:solidFill>
                  <a:srgbClr val="C00000"/>
                </a:solidFill>
              </a:rPr>
              <a:t>Problem: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Attacker can set ACK flag on malicious packets!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SRC addr &amp;&amp; Port </a:t>
            </a:r>
            <a:r>
              <a:rPr lang="en-US" sz="2200" dirty="0">
                <a:sym typeface="Wingdings" panose="05000000000000000000" pitchFamily="2" charset="2"/>
              </a:rPr>
              <a:t></a:t>
            </a:r>
            <a:r>
              <a:rPr lang="en-US" sz="2200" dirty="0"/>
              <a:t> evil.com:80 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DST addr &amp;&amp; Port </a:t>
            </a:r>
            <a:r>
              <a:rPr lang="en-US" sz="2200" dirty="0">
                <a:sym typeface="Wingdings" panose="05000000000000000000" pitchFamily="2" charset="2"/>
              </a:rPr>
              <a:t></a:t>
            </a:r>
            <a:r>
              <a:rPr lang="en-US" sz="2200" dirty="0"/>
              <a:t> your_ip_addr:12345 [ACK = 1] </a:t>
            </a:r>
            <a:r>
              <a:rPr lang="en-US" sz="2200" b="1" i="1" dirty="0">
                <a:solidFill>
                  <a:srgbClr val="C00000"/>
                </a:solidFill>
              </a:rPr>
              <a:t>&amp;&amp;</a:t>
            </a:r>
            <a:r>
              <a:rPr lang="en-US" sz="2200" dirty="0"/>
              <a:t> </a:t>
            </a:r>
            <a:r>
              <a:rPr lang="en-US" sz="2200" b="1" i="1" dirty="0">
                <a:solidFill>
                  <a:srgbClr val="C00000"/>
                </a:solidFill>
              </a:rPr>
              <a:t>[RST = 1]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Some legitimate packets might be blocked: Server → Client: [FIN = 1]  (ACK flag might be 0)</a:t>
            </a:r>
          </a:p>
        </p:txBody>
      </p:sp>
    </p:spTree>
    <p:extLst>
      <p:ext uri="{BB962C8B-B14F-4D97-AF65-F5344CB8AC3E}">
        <p14:creationId xmlns:p14="http://schemas.microsoft.com/office/powerpoint/2010/main" val="538517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87EBB-8DBC-D97C-3F52-2F2B3686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AAAC1-4682-57AD-38F6-18CBC4E01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7290"/>
          </a:xfrm>
        </p:spPr>
        <p:txBody>
          <a:bodyPr/>
          <a:lstStyle/>
          <a:p>
            <a:r>
              <a:rPr lang="en" dirty="0"/>
              <a:t>Stateless vs. Stateful Packet Filters</a:t>
            </a:r>
            <a:endParaRPr lang="en-US" dirty="0"/>
          </a:p>
        </p:txBody>
      </p:sp>
      <p:sp>
        <p:nvSpPr>
          <p:cNvPr id="4" name="Google Shape;456;p52">
            <a:extLst>
              <a:ext uri="{FF2B5EF4-FFF2-40B4-BE49-F238E27FC236}">
                <a16:creationId xmlns:a16="http://schemas.microsoft.com/office/drawing/2014/main" id="{EC3A70A9-79F0-6E9A-831F-18F51BCE3212}"/>
              </a:ext>
            </a:extLst>
          </p:cNvPr>
          <p:cNvSpPr txBox="1">
            <a:spLocks/>
          </p:cNvSpPr>
          <p:nvPr/>
        </p:nvSpPr>
        <p:spPr>
          <a:xfrm>
            <a:off x="236681" y="951599"/>
            <a:ext cx="11718637" cy="155140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400" dirty="0"/>
              <a:t>Consider implementing the typical home network policy: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38761D"/>
                </a:solidFill>
              </a:rPr>
              <a:t>Allow inbound traffic in response to an outbound connection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sz="500" dirty="0">
              <a:solidFill>
                <a:srgbClr val="CC0000"/>
              </a:solidFill>
            </a:endParaRP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400" b="1" i="1" dirty="0">
                <a:solidFill>
                  <a:srgbClr val="C00000"/>
                </a:solidFill>
              </a:rPr>
              <a:t>Issue: </a:t>
            </a:r>
            <a:r>
              <a:rPr lang="en-US" sz="2400" i="1" dirty="0"/>
              <a:t>How do we know what inbound traffic is in response to an outbound connection?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>
              <a:solidFill>
                <a:srgbClr val="CC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9C406-B8B4-0734-BDD0-6C39DD2A3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925" y="2781292"/>
            <a:ext cx="3403075" cy="15014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05C460-5717-E9BF-83AD-20B8F4515EC3}"/>
              </a:ext>
            </a:extLst>
          </p:cNvPr>
          <p:cNvSpPr txBox="1"/>
          <p:nvPr/>
        </p:nvSpPr>
        <p:spPr>
          <a:xfrm>
            <a:off x="107634" y="2475447"/>
            <a:ext cx="9576193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/>
              <a:t>Attempted solutions with </a:t>
            </a:r>
            <a:r>
              <a:rPr lang="en-US" sz="2200" dirty="0">
                <a:solidFill>
                  <a:srgbClr val="C00000"/>
                </a:solidFill>
              </a:rPr>
              <a:t>stateful filters and state sable</a:t>
            </a:r>
            <a:r>
              <a:rPr lang="en-US" sz="2200" dirty="0"/>
              <a:t>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rgbClr val="C00000"/>
                </a:solidFill>
              </a:rPr>
              <a:t>Rule 1: </a:t>
            </a:r>
            <a:r>
              <a:rPr lang="en-US" sz="2200" dirty="0"/>
              <a:t>Check if packet matches existing session </a:t>
            </a:r>
            <a:r>
              <a:rPr lang="en-US" sz="2200" dirty="0">
                <a:sym typeface="Wingdings" panose="05000000000000000000" pitchFamily="2" charset="2"/>
              </a:rPr>
              <a:t> Allow</a:t>
            </a:r>
            <a:endParaRPr lang="en-US" sz="22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rgbClr val="C00000"/>
                </a:solidFill>
              </a:rPr>
              <a:t>Rule 2:</a:t>
            </a:r>
            <a:r>
              <a:rPr lang="en-US" sz="2200" dirty="0"/>
              <a:t> If not, check if it's starting a new valid session </a:t>
            </a:r>
            <a:r>
              <a:rPr lang="en-US" sz="2200" dirty="0">
                <a:sym typeface="Wingdings" panose="05000000000000000000" pitchFamily="2" charset="2"/>
              </a:rPr>
              <a:t></a:t>
            </a:r>
            <a:r>
              <a:rPr lang="en-US" sz="2200" dirty="0"/>
              <a:t> Check rules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rgbClr val="C00000"/>
                </a:solidFill>
              </a:rPr>
              <a:t>Rule 3:</a:t>
            </a:r>
            <a:r>
              <a:rPr lang="en-US" sz="2200" dirty="0"/>
              <a:t> Otherwise </a:t>
            </a:r>
            <a:r>
              <a:rPr lang="en-US" sz="2200" dirty="0">
                <a:sym typeface="Wingdings" panose="05000000000000000000" pitchFamily="2" charset="2"/>
              </a:rPr>
              <a:t></a:t>
            </a:r>
            <a:r>
              <a:rPr lang="en-US" sz="2200" dirty="0"/>
              <a:t> Deny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1FC1B7-0F87-A80A-96F1-471BBECF7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033784"/>
              </p:ext>
            </p:extLst>
          </p:nvPr>
        </p:nvGraphicFramePr>
        <p:xfrm>
          <a:off x="531064" y="4382553"/>
          <a:ext cx="11129869" cy="1097280"/>
        </p:xfrm>
        <a:graphic>
          <a:graphicData uri="http://schemas.openxmlformats.org/drawingml/2006/table">
            <a:tbl>
              <a:tblPr/>
              <a:tblGrid>
                <a:gridCol w="1310611">
                  <a:extLst>
                    <a:ext uri="{9D8B030D-6E8A-4147-A177-3AD203B41FA5}">
                      <a16:colId xmlns:a16="http://schemas.microsoft.com/office/drawing/2014/main" val="2005128877"/>
                    </a:ext>
                  </a:extLst>
                </a:gridCol>
                <a:gridCol w="1119579">
                  <a:extLst>
                    <a:ext uri="{9D8B030D-6E8A-4147-A177-3AD203B41FA5}">
                      <a16:colId xmlns:a16="http://schemas.microsoft.com/office/drawing/2014/main" val="1278109615"/>
                    </a:ext>
                  </a:extLst>
                </a:gridCol>
                <a:gridCol w="2563523">
                  <a:extLst>
                    <a:ext uri="{9D8B030D-6E8A-4147-A177-3AD203B41FA5}">
                      <a16:colId xmlns:a16="http://schemas.microsoft.com/office/drawing/2014/main" val="905456895"/>
                    </a:ext>
                  </a:extLst>
                </a:gridCol>
                <a:gridCol w="2555674">
                  <a:extLst>
                    <a:ext uri="{9D8B030D-6E8A-4147-A177-3AD203B41FA5}">
                      <a16:colId xmlns:a16="http://schemas.microsoft.com/office/drawing/2014/main" val="4195875614"/>
                    </a:ext>
                  </a:extLst>
                </a:gridCol>
                <a:gridCol w="1883885">
                  <a:extLst>
                    <a:ext uri="{9D8B030D-6E8A-4147-A177-3AD203B41FA5}">
                      <a16:colId xmlns:a16="http://schemas.microsoft.com/office/drawing/2014/main" val="558049299"/>
                    </a:ext>
                  </a:extLst>
                </a:gridCol>
                <a:gridCol w="1696597">
                  <a:extLst>
                    <a:ext uri="{9D8B030D-6E8A-4147-A177-3AD203B41FA5}">
                      <a16:colId xmlns:a16="http://schemas.microsoft.com/office/drawing/2014/main" val="2042482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Session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Protocol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SRC </a:t>
                      </a:r>
                      <a:r>
                        <a:rPr lang="en-US" b="0" dirty="0" err="1"/>
                        <a:t>IP:Port</a:t>
                      </a:r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DST </a:t>
                      </a:r>
                      <a:r>
                        <a:rPr lang="en-US" b="0" dirty="0" err="1"/>
                        <a:t>IP:Port</a:t>
                      </a:r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Timeout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342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#4738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TCP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192.168.1.100:52341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93.184.216.34:443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ESTABLISHED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3600s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93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#4739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UDP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192.168.1.100:53128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8.8.8.8:53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ESTABLISHED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30s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34575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4E08F87-65E7-DABD-D9AA-6421EEF567AA}"/>
              </a:ext>
            </a:extLst>
          </p:cNvPr>
          <p:cNvSpPr txBox="1"/>
          <p:nvPr/>
        </p:nvSpPr>
        <p:spPr>
          <a:xfrm>
            <a:off x="531064" y="5676677"/>
            <a:ext cx="68832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Legitimate responses: Matched to sessions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  <a:r>
              <a:rPr lang="en-US" sz="2000" dirty="0"/>
              <a:t> allow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Spoofed packets: Don't match any session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  <a:r>
              <a:rPr lang="en-US" sz="2000" dirty="0"/>
              <a:t> block</a:t>
            </a:r>
          </a:p>
          <a:p>
            <a:pPr>
              <a:spcAft>
                <a:spcPts val="600"/>
              </a:spcAft>
            </a:pPr>
            <a:r>
              <a:rPr lang="en-US" sz="2000" i="1" dirty="0">
                <a:solidFill>
                  <a:srgbClr val="C00000"/>
                </a:solidFill>
              </a:rPr>
              <a:t>Unsolicited inbound</a:t>
            </a:r>
            <a:r>
              <a:rPr lang="en-US" sz="2000" dirty="0"/>
              <a:t>: No matching session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  <a:r>
              <a:rPr lang="en-US" sz="2000" dirty="0"/>
              <a:t> block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74F0E-A0C8-485F-106E-505007A289A1}"/>
              </a:ext>
            </a:extLst>
          </p:cNvPr>
          <p:cNvSpPr txBox="1"/>
          <p:nvPr/>
        </p:nvSpPr>
        <p:spPr>
          <a:xfrm>
            <a:off x="7727212" y="5799787"/>
            <a:ext cx="42281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networking context, </a:t>
            </a:r>
            <a:r>
              <a:rPr lang="en-US" dirty="0">
                <a:solidFill>
                  <a:srgbClr val="C00000"/>
                </a:solidFill>
              </a:rPr>
              <a:t>unsolicited traffic </a:t>
            </a:r>
            <a:r>
              <a:rPr lang="en-US" dirty="0"/>
              <a:t>means packets arriving at your network that you did not initiate or ask for</a:t>
            </a:r>
          </a:p>
        </p:txBody>
      </p:sp>
    </p:spTree>
    <p:extLst>
      <p:ext uri="{BB962C8B-B14F-4D97-AF65-F5344CB8AC3E}">
        <p14:creationId xmlns:p14="http://schemas.microsoft.com/office/powerpoint/2010/main" val="3267164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8B86-7B10-A1C1-F3A6-929A9860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3124"/>
            <a:ext cx="10515600" cy="978933"/>
          </a:xfrm>
        </p:spPr>
        <p:txBody>
          <a:bodyPr/>
          <a:lstStyle/>
          <a:p>
            <a:r>
              <a:rPr lang="en-US" altLang="zh-CN" dirty="0"/>
              <a:t>Stateless vs. Stateful Packet Filters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7D369A-97ED-D710-35E0-B00693BD8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890751"/>
              </p:ext>
            </p:extLst>
          </p:nvPr>
        </p:nvGraphicFramePr>
        <p:xfrm>
          <a:off x="1079925" y="1494085"/>
          <a:ext cx="10032149" cy="4550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945448">
                  <a:extLst>
                    <a:ext uri="{9D8B030D-6E8A-4147-A177-3AD203B41FA5}">
                      <a16:colId xmlns:a16="http://schemas.microsoft.com/office/drawing/2014/main" val="1093912846"/>
                    </a:ext>
                  </a:extLst>
                </a:gridCol>
                <a:gridCol w="4122770">
                  <a:extLst>
                    <a:ext uri="{9D8B030D-6E8A-4147-A177-3AD203B41FA5}">
                      <a16:colId xmlns:a16="http://schemas.microsoft.com/office/drawing/2014/main" val="1734378780"/>
                    </a:ext>
                  </a:extLst>
                </a:gridCol>
                <a:gridCol w="3963931">
                  <a:extLst>
                    <a:ext uri="{9D8B030D-6E8A-4147-A177-3AD203B41FA5}">
                      <a16:colId xmlns:a16="http://schemas.microsoft.com/office/drawing/2014/main" val="4248531471"/>
                    </a:ext>
                  </a:extLst>
                </a:gridCol>
              </a:tblGrid>
              <a:tr h="597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Aspect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Stateless Packet Filters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Stateful Packet Filters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b"/>
                </a:tc>
                <a:extLst>
                  <a:ext uri="{0D108BD9-81ED-4DB2-BD59-A6C34878D82A}">
                    <a16:rowId xmlns:a16="http://schemas.microsoft.com/office/drawing/2014/main" val="1533857895"/>
                  </a:ext>
                </a:extLst>
              </a:tr>
              <a:tr h="790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Traffic Evaluation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Individual packets only (no memory)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Tracks and evaluates connection states (</a:t>
                      </a:r>
                      <a:r>
                        <a:rPr lang="en-US" sz="1800" b="0" u="none" strike="noStrike" cap="none" spc="0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maintain</a:t>
                      </a: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800" b="0" u="none" strike="noStrike" cap="none" spc="0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state table</a:t>
                      </a: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extLst>
                  <a:ext uri="{0D108BD9-81ED-4DB2-BD59-A6C34878D82A}">
                    <a16:rowId xmlns:a16="http://schemas.microsoft.com/office/drawing/2014/main" val="3140289546"/>
                  </a:ext>
                </a:extLst>
              </a:tr>
              <a:tr h="790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Decision Based On</a:t>
                      </a: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Static rules: IP addr, ports, protocols, flags</a:t>
                      </a: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Static rules + </a:t>
                      </a:r>
                      <a:r>
                        <a:rPr lang="en-US" sz="1800" b="0" i="0" u="none" strike="noStrike" cap="none" spc="0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connection context </a:t>
                      </a:r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(NEW, ESTABLISHED, RELATED, INVALID)</a:t>
                      </a:r>
                    </a:p>
                  </a:txBody>
                  <a:tcPr marL="62815" marR="62815" marT="8724" marB="125631" anchor="ctr"/>
                </a:tc>
                <a:extLst>
                  <a:ext uri="{0D108BD9-81ED-4DB2-BD59-A6C34878D82A}">
                    <a16:rowId xmlns:a16="http://schemas.microsoft.com/office/drawing/2014/main" val="3173678297"/>
                  </a:ext>
                </a:extLst>
              </a:tr>
              <a:tr h="790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Performance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Faster, less resource-intensive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Slower, more resource-intensive (state table maintenance, memory overhead)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extLst>
                  <a:ext uri="{0D108BD9-81ED-4DB2-BD59-A6C34878D82A}">
                    <a16:rowId xmlns:a16="http://schemas.microsoft.com/office/drawing/2014/main" val="3383690835"/>
                  </a:ext>
                </a:extLst>
              </a:tr>
              <a:tr h="790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Security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Basic filtering (less secure); vulnerable to spoofing, e.g., ACK flag attacks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Context-aware filtering (more secure); validates connections, </a:t>
                      </a:r>
                      <a:r>
                        <a:rPr lang="en-US" sz="1800" b="0" u="none" strike="noStrike" cap="none" spc="0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prevents spoofing</a:t>
                      </a:r>
                      <a:endParaRPr lang="en-US" sz="1800" b="0" i="0" u="none" strike="noStrike" cap="none" spc="0" dirty="0">
                        <a:solidFill>
                          <a:srgbClr val="C00000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extLst>
                  <a:ext uri="{0D108BD9-81ED-4DB2-BD59-A6C34878D82A}">
                    <a16:rowId xmlns:a16="http://schemas.microsoft.com/office/drawing/2014/main" val="474741372"/>
                  </a:ext>
                </a:extLst>
              </a:tr>
              <a:tr h="790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Use Case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Simple networks, legacy systems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Modern enterprise networks, dynamic connections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extLst>
                  <a:ext uri="{0D108BD9-81ED-4DB2-BD59-A6C34878D82A}">
                    <a16:rowId xmlns:a16="http://schemas.microsoft.com/office/drawing/2014/main" val="46718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471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A75B4-282F-9FB2-D3AF-2BA8D87C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9994B-A10C-6C8E-71AF-017B2192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3124"/>
            <a:ext cx="10515600" cy="97893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Stateless vs. Stateful Packet Filters: Example 1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BF86AC-3618-DE7C-817C-3090B5A8CE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5733087"/>
              </p:ext>
            </p:extLst>
          </p:nvPr>
        </p:nvGraphicFramePr>
        <p:xfrm>
          <a:off x="885843" y="2440290"/>
          <a:ext cx="10420311" cy="242173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20721">
                  <a:extLst>
                    <a:ext uri="{9D8B030D-6E8A-4147-A177-3AD203B41FA5}">
                      <a16:colId xmlns:a16="http://schemas.microsoft.com/office/drawing/2014/main" val="1093912846"/>
                    </a:ext>
                  </a:extLst>
                </a:gridCol>
                <a:gridCol w="4282287">
                  <a:extLst>
                    <a:ext uri="{9D8B030D-6E8A-4147-A177-3AD203B41FA5}">
                      <a16:colId xmlns:a16="http://schemas.microsoft.com/office/drawing/2014/main" val="1734378780"/>
                    </a:ext>
                  </a:extLst>
                </a:gridCol>
                <a:gridCol w="4117303">
                  <a:extLst>
                    <a:ext uri="{9D8B030D-6E8A-4147-A177-3AD203B41FA5}">
                      <a16:colId xmlns:a16="http://schemas.microsoft.com/office/drawing/2014/main" val="4248531471"/>
                    </a:ext>
                  </a:extLst>
                </a:gridCol>
              </a:tblGrid>
              <a:tr h="597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Scenario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Stateless Behavior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Stateful Behavior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b"/>
                </a:tc>
                <a:extLst>
                  <a:ext uri="{0D108BD9-81ED-4DB2-BD59-A6C34878D82A}">
                    <a16:rowId xmlns:a16="http://schemas.microsoft.com/office/drawing/2014/main" val="1533857895"/>
                  </a:ext>
                </a:extLst>
              </a:tr>
              <a:tr h="790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User visits website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600"/>
                        </a:spcAft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Rule 1: Allow outbound port 443</a:t>
                      </a:r>
                    </a:p>
                    <a:p>
                      <a:pPr algn="l" fontAlgn="ctr">
                        <a:spcAft>
                          <a:spcPts val="600"/>
                        </a:spcAft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Rule 2: Allow inbound from any source with ACK flag  (insecure)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600"/>
                        </a:spcAft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Rule 1: Allow outbound port 443</a:t>
                      </a:r>
                    </a:p>
                    <a:p>
                      <a:pPr algn="l" fontAlgn="ctr">
                        <a:spcAft>
                          <a:spcPts val="600"/>
                        </a:spcAft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Rule 2: Response automatically allowed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extLst>
                  <a:ext uri="{0D108BD9-81ED-4DB2-BD59-A6C34878D82A}">
                    <a16:rowId xmlns:a16="http://schemas.microsoft.com/office/drawing/2014/main" val="3140289546"/>
                  </a:ext>
                </a:extLst>
              </a:tr>
              <a:tr h="790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Attacker sends packet with ACK flag</a:t>
                      </a: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Allowed through (insecure)</a:t>
                      </a: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Checked against state table, </a:t>
                      </a:r>
                      <a:r>
                        <a:rPr lang="en-US" sz="1800" b="1" i="0" u="none" strike="noStrike" cap="none" spc="0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blocked</a:t>
                      </a:r>
                    </a:p>
                  </a:txBody>
                  <a:tcPr marL="62815" marR="62815" marT="8724" marB="125631" anchor="ctr"/>
                </a:tc>
                <a:extLst>
                  <a:ext uri="{0D108BD9-81ED-4DB2-BD59-A6C34878D82A}">
                    <a16:rowId xmlns:a16="http://schemas.microsoft.com/office/drawing/2014/main" val="31736782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76BE94-AAD7-C4BE-E402-7ED18754C625}"/>
              </a:ext>
            </a:extLst>
          </p:cNvPr>
          <p:cNvSpPr txBox="1"/>
          <p:nvPr/>
        </p:nvSpPr>
        <p:spPr>
          <a:xfrm>
            <a:off x="838199" y="1906527"/>
            <a:ext cx="6094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Web Browsing</a:t>
            </a:r>
          </a:p>
        </p:txBody>
      </p:sp>
    </p:spTree>
    <p:extLst>
      <p:ext uri="{BB962C8B-B14F-4D97-AF65-F5344CB8AC3E}">
        <p14:creationId xmlns:p14="http://schemas.microsoft.com/office/powerpoint/2010/main" val="3962276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5AB22-0F38-F752-8AC0-B5832C7F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C528-89E9-E515-D6ED-9B3D8E1E2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3124"/>
            <a:ext cx="10515600" cy="97893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Stateless vs. Stateful Packet Filters: Example 2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2C213D-4B43-5408-30BC-ED26FEA93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395101"/>
              </p:ext>
            </p:extLst>
          </p:nvPr>
        </p:nvGraphicFramePr>
        <p:xfrm>
          <a:off x="933488" y="2252167"/>
          <a:ext cx="10420311" cy="217867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20721">
                  <a:extLst>
                    <a:ext uri="{9D8B030D-6E8A-4147-A177-3AD203B41FA5}">
                      <a16:colId xmlns:a16="http://schemas.microsoft.com/office/drawing/2014/main" val="1093912846"/>
                    </a:ext>
                  </a:extLst>
                </a:gridCol>
                <a:gridCol w="4282287">
                  <a:extLst>
                    <a:ext uri="{9D8B030D-6E8A-4147-A177-3AD203B41FA5}">
                      <a16:colId xmlns:a16="http://schemas.microsoft.com/office/drawing/2014/main" val="1734378780"/>
                    </a:ext>
                  </a:extLst>
                </a:gridCol>
                <a:gridCol w="4117303">
                  <a:extLst>
                    <a:ext uri="{9D8B030D-6E8A-4147-A177-3AD203B41FA5}">
                      <a16:colId xmlns:a16="http://schemas.microsoft.com/office/drawing/2014/main" val="4248531471"/>
                    </a:ext>
                  </a:extLst>
                </a:gridCol>
              </a:tblGrid>
              <a:tr h="597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Scenario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Stateless Behavior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Stateful Behavior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b"/>
                </a:tc>
                <a:extLst>
                  <a:ext uri="{0D108BD9-81ED-4DB2-BD59-A6C34878D82A}">
                    <a16:rowId xmlns:a16="http://schemas.microsoft.com/office/drawing/2014/main" val="1533857895"/>
                  </a:ext>
                </a:extLst>
              </a:tr>
              <a:tr h="790456">
                <a:tc>
                  <a:txBody>
                    <a:bodyPr/>
                    <a:lstStyle/>
                    <a:p>
                      <a:pPr algn="l" fontAlgn="ctr"/>
                      <a:r>
                        <a:rPr lang="sv-SE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Internal user pings external host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600"/>
                        </a:spcAft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Rule 1: Allow outbound ICMP</a:t>
                      </a:r>
                    </a:p>
                    <a:p>
                      <a:pPr algn="l" fontAlgn="ctr">
                        <a:spcAft>
                          <a:spcPts val="600"/>
                        </a:spcAft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Rule 2: Allow inbound ICMP from anywhere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>
                        <a:spcAft>
                          <a:spcPts val="600"/>
                        </a:spcAft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Rule1: Allow outbound ICMP</a:t>
                      </a:r>
                    </a:p>
                    <a:p>
                      <a:pPr algn="l" fontAlgn="ctr">
                        <a:spcAft>
                          <a:spcPts val="600"/>
                        </a:spcAft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Rule 2: Reply automatically allowed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2815" marR="62815" marT="8724" marB="125631" anchor="ctr"/>
                </a:tc>
                <a:extLst>
                  <a:ext uri="{0D108BD9-81ED-4DB2-BD59-A6C34878D82A}">
                    <a16:rowId xmlns:a16="http://schemas.microsoft.com/office/drawing/2014/main" val="3140289546"/>
                  </a:ext>
                </a:extLst>
              </a:tr>
              <a:tr h="790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Attacker sends unsolicited ICMP</a:t>
                      </a: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Allowed through (insecure)</a:t>
                      </a:r>
                    </a:p>
                  </a:txBody>
                  <a:tcPr marL="62815" marR="62815" marT="8724" marB="125631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 matching state, </a:t>
                      </a:r>
                      <a:r>
                        <a:rPr lang="en-US" sz="1800" b="1" i="0" u="none" strike="noStrike" cap="none" spc="0" dirty="0">
                          <a:solidFill>
                            <a:srgbClr val="C00000"/>
                          </a:solidFill>
                          <a:effectLst/>
                          <a:latin typeface="+mj-lt"/>
                        </a:rPr>
                        <a:t>blocked</a:t>
                      </a:r>
                    </a:p>
                  </a:txBody>
                  <a:tcPr marL="62815" marR="62815" marT="8724" marB="125631" anchor="ctr"/>
                </a:tc>
                <a:extLst>
                  <a:ext uri="{0D108BD9-81ED-4DB2-BD59-A6C34878D82A}">
                    <a16:rowId xmlns:a16="http://schemas.microsoft.com/office/drawing/2014/main" val="317367829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6EEC74E-EA2E-453E-3C2A-5598B85DD4A3}"/>
              </a:ext>
            </a:extLst>
          </p:cNvPr>
          <p:cNvSpPr txBox="1"/>
          <p:nvPr/>
        </p:nvSpPr>
        <p:spPr>
          <a:xfrm>
            <a:off x="885844" y="1718404"/>
            <a:ext cx="6094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ICMP 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0FBBE-C2C6-ACF9-05BD-3C32A587277C}"/>
              </a:ext>
            </a:extLst>
          </p:cNvPr>
          <p:cNvSpPr txBox="1"/>
          <p:nvPr/>
        </p:nvSpPr>
        <p:spPr>
          <a:xfrm>
            <a:off x="378947" y="5137756"/>
            <a:ext cx="11529391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i="1" dirty="0">
                <a:solidFill>
                  <a:srgbClr val="C00000"/>
                </a:solidFill>
              </a:rPr>
              <a:t>ICMP has no ports, seq #, or connection states like TCP. How stateful firewalls track ICMP “connection”?</a:t>
            </a:r>
          </a:p>
          <a:p>
            <a:pPr>
              <a:spcAft>
                <a:spcPts val="600"/>
              </a:spcAft>
            </a:pPr>
            <a:r>
              <a:rPr lang="en-US" sz="2400" b="1" i="1" dirty="0"/>
              <a:t>Solution: </a:t>
            </a:r>
            <a:r>
              <a:rPr lang="en-US" sz="2400" dirty="0"/>
              <a:t>Firewall creates pseudo-connection by tracking ICMP-specific fields</a:t>
            </a:r>
          </a:p>
        </p:txBody>
      </p:sp>
    </p:spTree>
    <p:extLst>
      <p:ext uri="{BB962C8B-B14F-4D97-AF65-F5344CB8AC3E}">
        <p14:creationId xmlns:p14="http://schemas.microsoft.com/office/powerpoint/2010/main" val="1325094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F49B7-0836-B383-BA8C-9D40946A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D5AB-A108-3281-D4B1-5E607E45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3124"/>
            <a:ext cx="10515600" cy="97893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Stateless vs. Stateful Packet Filters: Example 2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17D9E5-B3A0-38A8-3657-FA7028AAED22}"/>
              </a:ext>
            </a:extLst>
          </p:cNvPr>
          <p:cNvSpPr txBox="1"/>
          <p:nvPr/>
        </p:nvSpPr>
        <p:spPr>
          <a:xfrm>
            <a:off x="156448" y="1286676"/>
            <a:ext cx="4868776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i="1" dirty="0"/>
              <a:t>Step 1: </a:t>
            </a:r>
            <a:r>
              <a:rPr lang="en-US" sz="2000" dirty="0"/>
              <a:t>User pings google.com 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     </a:t>
            </a:r>
            <a:r>
              <a:rPr lang="en-US" sz="2000" i="1" dirty="0">
                <a:latin typeface="Aharoni" panose="020F0502020204030204" pitchFamily="2" charset="-79"/>
                <a:cs typeface="Aharoni" panose="020F0502020204030204" pitchFamily="2" charset="-79"/>
              </a:rPr>
              <a:t>192.168.1.100 → 8.8.8.8</a:t>
            </a:r>
          </a:p>
          <a:p>
            <a:pPr>
              <a:spcAft>
                <a:spcPts val="600"/>
              </a:spcAft>
            </a:pPr>
            <a:r>
              <a:rPr lang="en-US" altLang="zh-CN" sz="2000" b="1" i="1" dirty="0"/>
              <a:t>Step 2: </a:t>
            </a:r>
            <a:r>
              <a:rPr lang="en-US" sz="2000" dirty="0"/>
              <a:t>Firewall creates state table entry</a:t>
            </a:r>
          </a:p>
          <a:p>
            <a:pPr>
              <a:spcAft>
                <a:spcPts val="600"/>
              </a:spcAft>
            </a:pPr>
            <a:r>
              <a:rPr lang="en-US" altLang="zh-CN" sz="2000" b="1" i="1" dirty="0"/>
              <a:t>Step 3: </a:t>
            </a:r>
            <a:r>
              <a:rPr lang="en-US" sz="2000" dirty="0"/>
              <a:t>Google replies</a:t>
            </a:r>
          </a:p>
          <a:p>
            <a:pPr>
              <a:spcAft>
                <a:spcPts val="600"/>
              </a:spcAft>
            </a:pPr>
            <a:r>
              <a:rPr lang="en-US" sz="2000" i="1" dirty="0"/>
              <a:t>      </a:t>
            </a:r>
            <a:r>
              <a:rPr lang="en-US" sz="2000" i="1" dirty="0">
                <a:latin typeface="Aharoni" panose="020F0502020204030204" pitchFamily="2" charset="-79"/>
                <a:cs typeface="Aharoni" panose="020F0502020204030204" pitchFamily="2" charset="-79"/>
              </a:rPr>
              <a:t>8.8.8.8 → 192.168.1.100 </a:t>
            </a:r>
          </a:p>
          <a:p>
            <a:pPr>
              <a:spcAft>
                <a:spcPts val="600"/>
              </a:spcAft>
            </a:pPr>
            <a:r>
              <a:rPr lang="en-US" sz="2000" b="1" i="1" dirty="0"/>
              <a:t>Step 4: </a:t>
            </a:r>
            <a:r>
              <a:rPr lang="en-US" sz="2000" dirty="0"/>
              <a:t>Firewall checks incoming packet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Protocol: ICMP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Type: 0 (Echo Reply)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ICMP Identifier</a:t>
            </a:r>
            <a:r>
              <a:rPr lang="en-US" dirty="0"/>
              <a:t>: 1234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ICMP Sequence: 1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Source IP: 8.8.8.8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Destination IP: 192.168.1.100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6D0C82B-5A1D-56E9-79B7-EE82068A8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055745"/>
              </p:ext>
            </p:extLst>
          </p:nvPr>
        </p:nvGraphicFramePr>
        <p:xfrm>
          <a:off x="5088836" y="1286676"/>
          <a:ext cx="6946716" cy="5428200"/>
        </p:xfrm>
        <a:graphic>
          <a:graphicData uri="http://schemas.openxmlformats.org/drawingml/2006/table">
            <a:tbl>
              <a:tblPr/>
              <a:tblGrid>
                <a:gridCol w="2202511">
                  <a:extLst>
                    <a:ext uri="{9D8B030D-6E8A-4147-A177-3AD203B41FA5}">
                      <a16:colId xmlns:a16="http://schemas.microsoft.com/office/drawing/2014/main" val="4217233586"/>
                    </a:ext>
                  </a:extLst>
                </a:gridCol>
                <a:gridCol w="1410948">
                  <a:extLst>
                    <a:ext uri="{9D8B030D-6E8A-4147-A177-3AD203B41FA5}">
                      <a16:colId xmlns:a16="http://schemas.microsoft.com/office/drawing/2014/main" val="2792969173"/>
                    </a:ext>
                  </a:extLst>
                </a:gridCol>
                <a:gridCol w="3333257">
                  <a:extLst>
                    <a:ext uri="{9D8B030D-6E8A-4147-A177-3AD203B41FA5}">
                      <a16:colId xmlns:a16="http://schemas.microsoft.com/office/drawing/2014/main" val="2577126676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Field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Value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Purpose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027465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Session ID</a:t>
                      </a:r>
                      <a:endParaRPr lang="en-US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#4740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Unique identifier for this "connection"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12288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Protocol</a:t>
                      </a:r>
                      <a:endParaRPr lang="en-US" sz="1700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ICMP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Protocol type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71704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Type</a:t>
                      </a:r>
                      <a:endParaRPr lang="en-US" sz="1700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8 (Echo Request)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ICMP message type sent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87264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Expected Reply Type</a:t>
                      </a:r>
                      <a:endParaRPr lang="en-US" sz="1700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0 (Echo Reply)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Expected response type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62154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ICMP Identifier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1234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Unique ID from ping 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23731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ICMP Sequence</a:t>
                      </a:r>
                      <a:endParaRPr lang="en-US" sz="1700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Sequence number from ping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95751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Source IP</a:t>
                      </a:r>
                      <a:endParaRPr lang="en-US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192.168.1.100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Internal host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70350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Destination IP</a:t>
                      </a:r>
                      <a:endParaRPr lang="en-US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8.8.8.8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External host (google.com)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83435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State</a:t>
                      </a:r>
                      <a:endParaRPr lang="en-US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ESTABLISHED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Waiting for reply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27939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Timestamp</a:t>
                      </a:r>
                      <a:endParaRPr lang="en-US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14:30:45.123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When request was sent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4346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Timeout</a:t>
                      </a:r>
                      <a:endParaRPr lang="en-US" sz="1700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10 seconds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How long to wait for reply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08233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282D77B-1368-2ACC-045E-0B3B09408121}"/>
              </a:ext>
            </a:extLst>
          </p:cNvPr>
          <p:cNvSpPr txBox="1"/>
          <p:nvPr/>
        </p:nvSpPr>
        <p:spPr>
          <a:xfrm>
            <a:off x="232576" y="5923149"/>
            <a:ext cx="472903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i="1" dirty="0">
                <a:solidFill>
                  <a:srgbClr val="C00000"/>
                </a:solidFill>
              </a:rPr>
              <a:t>Attacker sends unsolicited ICMP reply?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 entry matches this ICMP message</a:t>
            </a:r>
          </a:p>
        </p:txBody>
      </p:sp>
    </p:spTree>
    <p:extLst>
      <p:ext uri="{BB962C8B-B14F-4D97-AF65-F5344CB8AC3E}">
        <p14:creationId xmlns:p14="http://schemas.microsoft.com/office/powerpoint/2010/main" val="1970889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2188377-DD8F-D28D-FB8B-ABD2CD5663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0606147"/>
              </p:ext>
            </p:extLst>
          </p:nvPr>
        </p:nvGraphicFramePr>
        <p:xfrm>
          <a:off x="448175" y="1509823"/>
          <a:ext cx="11295649" cy="264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8392">
                  <a:extLst>
                    <a:ext uri="{9D8B030D-6E8A-4147-A177-3AD203B41FA5}">
                      <a16:colId xmlns:a16="http://schemas.microsoft.com/office/drawing/2014/main" val="1300038090"/>
                    </a:ext>
                  </a:extLst>
                </a:gridCol>
                <a:gridCol w="958360">
                  <a:extLst>
                    <a:ext uri="{9D8B030D-6E8A-4147-A177-3AD203B41FA5}">
                      <a16:colId xmlns:a16="http://schemas.microsoft.com/office/drawing/2014/main" val="1178685699"/>
                    </a:ext>
                  </a:extLst>
                </a:gridCol>
                <a:gridCol w="1270273">
                  <a:extLst>
                    <a:ext uri="{9D8B030D-6E8A-4147-A177-3AD203B41FA5}">
                      <a16:colId xmlns:a16="http://schemas.microsoft.com/office/drawing/2014/main" val="3074309824"/>
                    </a:ext>
                  </a:extLst>
                </a:gridCol>
                <a:gridCol w="1535366">
                  <a:extLst>
                    <a:ext uri="{9D8B030D-6E8A-4147-A177-3AD203B41FA5}">
                      <a16:colId xmlns:a16="http://schemas.microsoft.com/office/drawing/2014/main" val="2099241589"/>
                    </a:ext>
                  </a:extLst>
                </a:gridCol>
                <a:gridCol w="716505">
                  <a:extLst>
                    <a:ext uri="{9D8B030D-6E8A-4147-A177-3AD203B41FA5}">
                      <a16:colId xmlns:a16="http://schemas.microsoft.com/office/drawing/2014/main" val="1632768376"/>
                    </a:ext>
                  </a:extLst>
                </a:gridCol>
                <a:gridCol w="1330651">
                  <a:extLst>
                    <a:ext uri="{9D8B030D-6E8A-4147-A177-3AD203B41FA5}">
                      <a16:colId xmlns:a16="http://schemas.microsoft.com/office/drawing/2014/main" val="759565190"/>
                    </a:ext>
                  </a:extLst>
                </a:gridCol>
                <a:gridCol w="1538852">
                  <a:extLst>
                    <a:ext uri="{9D8B030D-6E8A-4147-A177-3AD203B41FA5}">
                      <a16:colId xmlns:a16="http://schemas.microsoft.com/office/drawing/2014/main" val="2982961928"/>
                    </a:ext>
                  </a:extLst>
                </a:gridCol>
                <a:gridCol w="3067250">
                  <a:extLst>
                    <a:ext uri="{9D8B030D-6E8A-4147-A177-3AD203B41FA5}">
                      <a16:colId xmlns:a16="http://schemas.microsoft.com/office/drawing/2014/main" val="2886111969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RULE #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Source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Destination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Port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Protocol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Flags/</a:t>
                      </a:r>
                    </a:p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Comment</a:t>
                      </a:r>
                    </a:p>
                  </a:txBody>
                  <a:tcPr marL="73108" marR="73108" marT="73108" marB="73108" anchor="ctr"/>
                </a:tc>
                <a:extLst>
                  <a:ext uri="{0D108BD9-81ED-4DB2-BD59-A6C34878D82A}">
                    <a16:rowId xmlns:a16="http://schemas.microsoft.com/office/drawing/2014/main" val="266140772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Rule 1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Allow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192.168.1.10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TCP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New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Allow new HTTP connections to web server</a:t>
                      </a:r>
                    </a:p>
                  </a:txBody>
                  <a:tcPr marL="48739" marR="48739" marT="24369" marB="48739" anchor="ctr"/>
                </a:tc>
                <a:extLst>
                  <a:ext uri="{0D108BD9-81ED-4DB2-BD59-A6C34878D82A}">
                    <a16:rowId xmlns:a16="http://schemas.microsoft.com/office/drawing/2014/main" val="204895139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Rule 2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Allow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192.168.1.10</a:t>
                      </a:r>
                    </a:p>
                    <a:p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TCP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Established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Allow web server HTTP responses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48739" marR="48739" marT="24369" marB="48739" anchor="ctr"/>
                </a:tc>
                <a:extLst>
                  <a:ext uri="{0D108BD9-81ED-4DB2-BD59-A6C34878D82A}">
                    <a16:rowId xmlns:a16="http://schemas.microsoft.com/office/drawing/2014/main" val="345142767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Rule 3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Deny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Default deny rule</a:t>
                      </a:r>
                    </a:p>
                  </a:txBody>
                  <a:tcPr marL="48739" marR="48739" marT="24369" marB="48739" anchor="ctr"/>
                </a:tc>
                <a:extLst>
                  <a:ext uri="{0D108BD9-81ED-4DB2-BD59-A6C34878D82A}">
                    <a16:rowId xmlns:a16="http://schemas.microsoft.com/office/drawing/2014/main" val="3962087656"/>
                  </a:ext>
                </a:extLst>
              </a:tr>
            </a:tbl>
          </a:graphicData>
        </a:graphic>
      </p:graphicFrame>
      <p:sp>
        <p:nvSpPr>
          <p:cNvPr id="15" name="Rectangle 8">
            <a:extLst>
              <a:ext uri="{FF2B5EF4-FFF2-40B4-BE49-F238E27FC236}">
                <a16:creationId xmlns:a16="http://schemas.microsoft.com/office/drawing/2014/main" id="{62B33987-6DBB-9931-A66E-DF2FA7A57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004" y="4588514"/>
            <a:ext cx="4220243" cy="21532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121920" tIns="60960" rIns="121920" bIns="60960" numCol="1" rtlCol="0" anchorCtr="0" compatLnSpc="1">
            <a:prstTxWarp prst="textNoShape">
              <a:avLst/>
            </a:prstTxWarp>
            <a:normAutofit lnSpcReduction="10000"/>
          </a:bodyPr>
          <a:lstStyle/>
          <a:p>
            <a:pPr indent="-304792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1867" b="1" dirty="0">
                <a:latin typeface="Aptos (Body)"/>
                <a:cs typeface="Times New Roman" panose="02020603050405020304" pitchFamily="18" charset="0"/>
              </a:rPr>
              <a:t>Packet to Evaluate:</a:t>
            </a:r>
            <a:endParaRPr lang="en-US" altLang="en-US" sz="1867" dirty="0">
              <a:latin typeface="Aptos (Body)"/>
              <a:cs typeface="Times New Roman" panose="02020603050405020304" pitchFamily="18" charset="0"/>
            </a:endParaRPr>
          </a:p>
          <a:p>
            <a:pPr lvl="1" indent="-304792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1867" dirty="0">
                <a:latin typeface="Aptos (Body)"/>
                <a:cs typeface="Times New Roman" panose="02020603050405020304" pitchFamily="18" charset="0"/>
              </a:rPr>
              <a:t>Source IP: 203.0.113.5</a:t>
            </a:r>
          </a:p>
          <a:p>
            <a:pPr lvl="1" indent="-304792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1867" dirty="0">
                <a:latin typeface="Aptos (Body)"/>
                <a:cs typeface="Times New Roman" panose="02020603050405020304" pitchFamily="18" charset="0"/>
              </a:rPr>
              <a:t>Destination IP: 192.168.1.10</a:t>
            </a:r>
          </a:p>
          <a:p>
            <a:pPr lvl="1" indent="-304792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1867" dirty="0">
                <a:latin typeface="Aptos (Body)"/>
                <a:cs typeface="Times New Roman" panose="02020603050405020304" pitchFamily="18" charset="0"/>
              </a:rPr>
              <a:t>Destination Port: 443</a:t>
            </a:r>
          </a:p>
          <a:p>
            <a:pPr lvl="1" indent="-304792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1867" dirty="0">
                <a:latin typeface="Aptos (Body)"/>
                <a:cs typeface="Times New Roman" panose="02020603050405020304" pitchFamily="18" charset="0"/>
              </a:rPr>
              <a:t>Protocol: TCP</a:t>
            </a:r>
          </a:p>
          <a:p>
            <a:pPr lvl="1" indent="-304792" fontAlgn="base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1867" dirty="0">
                <a:latin typeface="Aptos (Body)"/>
                <a:cs typeface="Times New Roman" panose="02020603050405020304" pitchFamily="18" charset="0"/>
              </a:rPr>
              <a:t>Flags: SYN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24B6B3-5B78-991B-386A-A73D9402226E}"/>
              </a:ext>
            </a:extLst>
          </p:cNvPr>
          <p:cNvSpPr txBox="1"/>
          <p:nvPr/>
        </p:nvSpPr>
        <p:spPr>
          <a:xfrm>
            <a:off x="4444781" y="5025604"/>
            <a:ext cx="7434910" cy="1279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04792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C00000"/>
                </a:solidFill>
                <a:latin typeface="Aptos (Body)"/>
                <a:cs typeface="Times New Roman" panose="02020603050405020304" pitchFamily="18" charset="0"/>
              </a:rPr>
              <a:t>Question a:</a:t>
            </a:r>
            <a:r>
              <a:rPr lang="en-US" altLang="en-US" sz="2000" dirty="0">
                <a:latin typeface="Aptos (Body)"/>
                <a:cs typeface="Times New Roman" panose="02020603050405020304" pitchFamily="18" charset="0"/>
              </a:rPr>
              <a:t> Will this packet be allowed or denied by the policy? Justify your answer with reference to the rules and flags. </a:t>
            </a:r>
          </a:p>
          <a:p>
            <a:pPr indent="-304792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C00000"/>
                </a:solidFill>
                <a:latin typeface="Aptos (Body)"/>
                <a:cs typeface="Times New Roman" panose="02020603050405020304" pitchFamily="18" charset="0"/>
              </a:rPr>
              <a:t>Question b: </a:t>
            </a:r>
            <a:r>
              <a:rPr lang="en-US" altLang="en-US" sz="2000" dirty="0">
                <a:latin typeface="Aptos (Body)"/>
                <a:cs typeface="Times New Roman" panose="02020603050405020304" pitchFamily="18" charset="0"/>
              </a:rPr>
              <a:t>Modify the given policy (if needed) to ensure the packet is handled according to the scenario requirements.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66F49-0D02-94B3-3DDD-F0259F457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3"/>
            <a:ext cx="10515600" cy="1325563"/>
          </a:xfrm>
        </p:spPr>
        <p:txBody>
          <a:bodyPr/>
          <a:lstStyle/>
          <a:p>
            <a:r>
              <a:rPr lang="en-US" altLang="zh-CN" dirty="0"/>
              <a:t>Sample Question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22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1156C-F870-DD7A-61A4-B7EC92862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600" y="800239"/>
            <a:ext cx="10646797" cy="24200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Question a:</a:t>
            </a:r>
          </a:p>
          <a:p>
            <a:pPr lvl="1">
              <a:spcAft>
                <a:spcPts val="600"/>
              </a:spcAft>
            </a:pPr>
            <a:r>
              <a:rPr lang="en-US" sz="2000" dirty="0"/>
              <a:t>The packet will be denied.</a:t>
            </a:r>
          </a:p>
          <a:p>
            <a:pPr lvl="1">
              <a:spcAft>
                <a:spcPts val="600"/>
              </a:spcAft>
            </a:pPr>
            <a:r>
              <a:rPr lang="en-US" sz="2000" dirty="0"/>
              <a:t>Justification: The packet violates Rule 1, which only allows HTTP traffic (port 80) to the web server (192.168.1.10) from any source. 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Question b:</a:t>
            </a:r>
          </a:p>
          <a:p>
            <a:pPr lvl="1">
              <a:spcAft>
                <a:spcPts val="600"/>
              </a:spcAft>
            </a:pPr>
            <a:r>
              <a:rPr lang="en-US" sz="2000" b="1" dirty="0"/>
              <a:t>Add a new rule as follows </a:t>
            </a: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B5B78E-6AF8-9FB1-084E-32305D0E4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3"/>
            <a:ext cx="10515600" cy="1018305"/>
          </a:xfrm>
        </p:spPr>
        <p:txBody>
          <a:bodyPr/>
          <a:lstStyle/>
          <a:p>
            <a:r>
              <a:rPr lang="en-US" altLang="zh-CN" dirty="0"/>
              <a:t>Sample Question</a:t>
            </a:r>
            <a:endParaRPr lang="en-US" dirty="0"/>
          </a:p>
        </p:txBody>
      </p:sp>
      <p:graphicFrame>
        <p:nvGraphicFramePr>
          <p:cNvPr id="4" name="Content Placeholder 13">
            <a:extLst>
              <a:ext uri="{FF2B5EF4-FFF2-40B4-BE49-F238E27FC236}">
                <a16:creationId xmlns:a16="http://schemas.microsoft.com/office/drawing/2014/main" id="{37DE5F7E-68ED-6FDE-7670-28CE46EA73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6186555"/>
              </p:ext>
            </p:extLst>
          </p:nvPr>
        </p:nvGraphicFramePr>
        <p:xfrm>
          <a:off x="227937" y="3283889"/>
          <a:ext cx="11736125" cy="345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3669">
                  <a:extLst>
                    <a:ext uri="{9D8B030D-6E8A-4147-A177-3AD203B41FA5}">
                      <a16:colId xmlns:a16="http://schemas.microsoft.com/office/drawing/2014/main" val="1300038090"/>
                    </a:ext>
                  </a:extLst>
                </a:gridCol>
                <a:gridCol w="874707">
                  <a:extLst>
                    <a:ext uri="{9D8B030D-6E8A-4147-A177-3AD203B41FA5}">
                      <a16:colId xmlns:a16="http://schemas.microsoft.com/office/drawing/2014/main" val="1178685699"/>
                    </a:ext>
                  </a:extLst>
                </a:gridCol>
                <a:gridCol w="1319808">
                  <a:extLst>
                    <a:ext uri="{9D8B030D-6E8A-4147-A177-3AD203B41FA5}">
                      <a16:colId xmlns:a16="http://schemas.microsoft.com/office/drawing/2014/main" val="3074309824"/>
                    </a:ext>
                  </a:extLst>
                </a:gridCol>
                <a:gridCol w="1595238">
                  <a:extLst>
                    <a:ext uri="{9D8B030D-6E8A-4147-A177-3AD203B41FA5}">
                      <a16:colId xmlns:a16="http://schemas.microsoft.com/office/drawing/2014/main" val="2099241589"/>
                    </a:ext>
                  </a:extLst>
                </a:gridCol>
                <a:gridCol w="744445">
                  <a:extLst>
                    <a:ext uri="{9D8B030D-6E8A-4147-A177-3AD203B41FA5}">
                      <a16:colId xmlns:a16="http://schemas.microsoft.com/office/drawing/2014/main" val="1632768376"/>
                    </a:ext>
                  </a:extLst>
                </a:gridCol>
                <a:gridCol w="1382540">
                  <a:extLst>
                    <a:ext uri="{9D8B030D-6E8A-4147-A177-3AD203B41FA5}">
                      <a16:colId xmlns:a16="http://schemas.microsoft.com/office/drawing/2014/main" val="759565190"/>
                    </a:ext>
                  </a:extLst>
                </a:gridCol>
                <a:gridCol w="1598860">
                  <a:extLst>
                    <a:ext uri="{9D8B030D-6E8A-4147-A177-3AD203B41FA5}">
                      <a16:colId xmlns:a16="http://schemas.microsoft.com/office/drawing/2014/main" val="2982961928"/>
                    </a:ext>
                  </a:extLst>
                </a:gridCol>
                <a:gridCol w="3186858">
                  <a:extLst>
                    <a:ext uri="{9D8B030D-6E8A-4147-A177-3AD203B41FA5}">
                      <a16:colId xmlns:a16="http://schemas.microsoft.com/office/drawing/2014/main" val="2886111969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RULE #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Source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Destination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Port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Protocol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Flags/</a:t>
                      </a:r>
                    </a:p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73108" marR="73108" marT="73108" marB="73108" anchor="ctr"/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</a:rPr>
                        <a:t>Comment</a:t>
                      </a:r>
                    </a:p>
                  </a:txBody>
                  <a:tcPr marL="73108" marR="73108" marT="73108" marB="73108" anchor="ctr"/>
                </a:tc>
                <a:extLst>
                  <a:ext uri="{0D108BD9-81ED-4DB2-BD59-A6C34878D82A}">
                    <a16:rowId xmlns:a16="http://schemas.microsoft.com/office/drawing/2014/main" val="266140772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Rule 1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Allow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192.168.1.10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TCP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New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Allow new HTTP connections to web server</a:t>
                      </a:r>
                    </a:p>
                  </a:txBody>
                  <a:tcPr marL="48739" marR="48739" marT="24369" marB="48739" anchor="ctr"/>
                </a:tc>
                <a:extLst>
                  <a:ext uri="{0D108BD9-81ED-4DB2-BD59-A6C34878D82A}">
                    <a16:rowId xmlns:a16="http://schemas.microsoft.com/office/drawing/2014/main" val="204895139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rgbClr val="C00000"/>
                          </a:solidFill>
                        </a:rPr>
                        <a:t>Rule NEW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rgbClr val="C00000"/>
                          </a:solidFill>
                        </a:rPr>
                        <a:t>Allow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cap="none" spc="0" dirty="0">
                          <a:solidFill>
                            <a:srgbClr val="C00000"/>
                          </a:solidFill>
                        </a:rPr>
                        <a:t>*</a:t>
                      </a:r>
                    </a:p>
                    <a:p>
                      <a:endParaRPr lang="en-US" sz="1600" cap="none" spc="0" dirty="0">
                        <a:solidFill>
                          <a:srgbClr val="C00000"/>
                        </a:solidFill>
                      </a:endParaRP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rgbClr val="C00000"/>
                          </a:solidFill>
                        </a:rPr>
                        <a:t>192.168.1.10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rgbClr val="C00000"/>
                          </a:solidFill>
                        </a:rPr>
                        <a:t>443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rgbClr val="C00000"/>
                          </a:solidFill>
                        </a:rPr>
                        <a:t>TCP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rgbClr val="C00000"/>
                          </a:solidFill>
                        </a:rPr>
                        <a:t>New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rgbClr val="C00000"/>
                          </a:solidFill>
                        </a:rPr>
                        <a:t>Allow new HTTPS connections to web server</a:t>
                      </a:r>
                    </a:p>
                  </a:txBody>
                  <a:tcPr marL="48739" marR="48739" marT="24369" marB="48739" anchor="ctr"/>
                </a:tc>
                <a:extLst>
                  <a:ext uri="{0D108BD9-81ED-4DB2-BD59-A6C34878D82A}">
                    <a16:rowId xmlns:a16="http://schemas.microsoft.com/office/drawing/2014/main" val="345142767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Rule 2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Allow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192.168.1.10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TCP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Established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Allow web server HTTP/HTTPS responses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48739" marR="48739" marT="24369" marB="48739" anchor="ctr"/>
                </a:tc>
                <a:extLst>
                  <a:ext uri="{0D108BD9-81ED-4DB2-BD59-A6C34878D82A}">
                    <a16:rowId xmlns:a16="http://schemas.microsoft.com/office/drawing/2014/main" val="66330273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Rule 3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Deny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48739" marR="48739" marT="24369" marB="48739" anchor="ctr"/>
                </a:tc>
                <a:tc>
                  <a:txBody>
                    <a:bodyPr/>
                    <a:lstStyle/>
                    <a:p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Default deny rule</a:t>
                      </a:r>
                    </a:p>
                  </a:txBody>
                  <a:tcPr marL="48739" marR="48739" marT="24369" marB="48739" anchor="ctr"/>
                </a:tc>
                <a:extLst>
                  <a:ext uri="{0D108BD9-81ED-4DB2-BD59-A6C34878D82A}">
                    <a16:rowId xmlns:a16="http://schemas.microsoft.com/office/drawing/2014/main" val="3962087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73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3DAAB-77CE-562A-45BD-6D087DBC7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C34F-ADFD-148B-2FFF-8A941379BB4D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474F60E-522E-143F-2394-53126770F710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Motivation and Security Policies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Firewalls: Packet Filters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Firewall Limitations and Evasion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742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FEF7-F472-6DCB-8A74-91D27260F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75287"/>
          </a:xfrm>
        </p:spPr>
        <p:txBody>
          <a:bodyPr/>
          <a:lstStyle/>
          <a:p>
            <a:r>
              <a:rPr lang="en-US" dirty="0"/>
              <a:t>New Challenge: Deep Packet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3A15E-A45B-FF6B-D9BC-E81ABC518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6664"/>
            <a:ext cx="8790831" cy="4502353"/>
          </a:xfrm>
        </p:spPr>
        <p:txBody>
          <a:bodyPr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200" dirty="0"/>
              <a:t>What We've Learned So Far: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200" dirty="0"/>
              <a:t>Packet filters inspect headers (IP addresses, ports, protocols, flags)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200" dirty="0"/>
              <a:t>They </a:t>
            </a:r>
            <a:r>
              <a:rPr lang="en-US" sz="2200" i="1" dirty="0">
                <a:solidFill>
                  <a:srgbClr val="C00000"/>
                </a:solidFill>
              </a:rPr>
              <a:t>don't examine payload</a:t>
            </a:r>
            <a:endParaRPr lang="en-US" sz="2200" dirty="0"/>
          </a:p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sz="2200" dirty="0"/>
          </a:p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200" b="1" i="1" dirty="0">
                <a:solidFill>
                  <a:srgbClr val="C00000"/>
                </a:solidFill>
              </a:rPr>
              <a:t>Problem</a:t>
            </a:r>
            <a:r>
              <a:rPr lang="en-US" sz="2200" dirty="0"/>
              <a:t>: What if malicious content is hidden inside the </a:t>
            </a:r>
            <a:r>
              <a:rPr lang="en-US" sz="2200" b="1" dirty="0"/>
              <a:t>payload</a:t>
            </a:r>
            <a:r>
              <a:rPr lang="en-US" sz="2200" dirty="0"/>
              <a:t>?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200" dirty="0"/>
              <a:t>Example scenario: 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200" i="1" dirty="0"/>
              <a:t>Firewall Rule: </a:t>
            </a:r>
            <a:r>
              <a:rPr lang="en-US" sz="2200" dirty="0"/>
              <a:t>Deny all packets containing the word </a:t>
            </a:r>
            <a:r>
              <a:rPr lang="en-US" sz="2200" b="1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root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i="1" dirty="0">
                <a:sym typeface="Courier New"/>
              </a:rPr>
              <a:t>Goal: </a:t>
            </a:r>
            <a:r>
              <a:rPr lang="en-US" sz="2200" dirty="0">
                <a:sym typeface="Courier New"/>
              </a:rPr>
              <a:t>Block exploitation attempts that use </a:t>
            </a:r>
            <a:r>
              <a:rPr lang="en-US" sz="2200" b="1" dirty="0">
                <a:latin typeface="Courier New"/>
                <a:cs typeface="Courier New"/>
                <a:sym typeface="Courier New"/>
              </a:rPr>
              <a:t>'root' </a:t>
            </a:r>
            <a:r>
              <a:rPr lang="en-US" sz="2200" dirty="0">
                <a:sym typeface="Courier New"/>
              </a:rPr>
              <a:t>command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sz="2200" b="1" i="1" dirty="0">
              <a:solidFill>
                <a:srgbClr val="C00000"/>
              </a:solidFill>
            </a:endParaRP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sz="2200" b="1" i="1" dirty="0">
                <a:solidFill>
                  <a:srgbClr val="C00000"/>
                </a:solidFill>
              </a:rPr>
              <a:t>Question: </a:t>
            </a:r>
            <a:r>
              <a:rPr lang="en-US" sz="2200" i="1" dirty="0"/>
              <a:t>How does the firewall detect "root" in the payload?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Must perform </a:t>
            </a:r>
            <a:r>
              <a:rPr lang="en-US" sz="2200" dirty="0">
                <a:hlinkClick r:id="rId3"/>
              </a:rPr>
              <a:t>Deep Packet Inspection (DPI)</a:t>
            </a:r>
            <a:endParaRPr lang="en-US" sz="2200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Must reconstruct TCP streams to see complete messages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endParaRPr lang="en-US" sz="2200" b="1" dirty="0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447848-1EB2-455C-1B5D-D18BA21D556C}"/>
              </a:ext>
            </a:extLst>
          </p:cNvPr>
          <p:cNvGrpSpPr/>
          <p:nvPr/>
        </p:nvGrpSpPr>
        <p:grpSpPr>
          <a:xfrm>
            <a:off x="8905461" y="1351365"/>
            <a:ext cx="3074651" cy="4946068"/>
            <a:chOff x="8125906" y="1509311"/>
            <a:chExt cx="3074651" cy="4946068"/>
          </a:xfrm>
        </p:grpSpPr>
        <p:graphicFrame>
          <p:nvGraphicFramePr>
            <p:cNvPr id="4" name="Google Shape;480;p55">
              <a:extLst>
                <a:ext uri="{FF2B5EF4-FFF2-40B4-BE49-F238E27FC236}">
                  <a16:creationId xmlns:a16="http://schemas.microsoft.com/office/drawing/2014/main" id="{CA389B1D-8F3B-516C-17E7-2BFF2217660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23242164"/>
                </p:ext>
              </p:extLst>
            </p:nvPr>
          </p:nvGraphicFramePr>
          <p:xfrm>
            <a:off x="8125907" y="1509311"/>
            <a:ext cx="2074476" cy="137151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03723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3723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/>
                          <a:t>From: A</a:t>
                        </a:r>
                        <a:endParaRPr sz="180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/>
                          <a:t>To: B</a:t>
                        </a:r>
                        <a:endParaRPr sz="180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dirty="0"/>
                          <a:t>Seq = 4</a:t>
                        </a:r>
                        <a:endParaRPr sz="1800" dirty="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Hello world</a:t>
                        </a:r>
                        <a:endParaRPr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graphicFrame>
          <p:nvGraphicFramePr>
            <p:cNvPr id="5" name="Google Shape;481;p55">
              <a:extLst>
                <a:ext uri="{FF2B5EF4-FFF2-40B4-BE49-F238E27FC236}">
                  <a16:creationId xmlns:a16="http://schemas.microsoft.com/office/drawing/2014/main" id="{C386C91F-D3CD-6434-EA04-90C5570286B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17386194"/>
                </p:ext>
              </p:extLst>
            </p:nvPr>
          </p:nvGraphicFramePr>
          <p:xfrm>
            <a:off x="8125906" y="3296590"/>
            <a:ext cx="2074474" cy="137151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03723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3723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/>
                          <a:t>From: C</a:t>
                        </a:r>
                        <a:endParaRPr sz="180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dirty="0"/>
                          <a:t>To: D</a:t>
                        </a:r>
                        <a:endParaRPr sz="1800" dirty="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dirty="0"/>
                          <a:t>Seq = 2</a:t>
                        </a:r>
                        <a:endParaRPr sz="1800" dirty="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Log in</a:t>
                        </a:r>
                        <a:endParaRPr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6" name="Google Shape;482;p55">
              <a:extLst>
                <a:ext uri="{FF2B5EF4-FFF2-40B4-BE49-F238E27FC236}">
                  <a16:creationId xmlns:a16="http://schemas.microsoft.com/office/drawing/2014/main" id="{F40206D4-8DC9-1702-F519-B4ABF9663744}"/>
                </a:ext>
              </a:extLst>
            </p:cNvPr>
            <p:cNvSpPr txBox="1"/>
            <p:nvPr/>
          </p:nvSpPr>
          <p:spPr>
            <a:xfrm>
              <a:off x="10669746" y="1764194"/>
              <a:ext cx="515100" cy="861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 dirty="0">
                  <a:solidFill>
                    <a:srgbClr val="38761D"/>
                  </a:solidFill>
                </a:rPr>
                <a:t>✓</a:t>
              </a:r>
              <a:endParaRPr sz="4400" dirty="0">
                <a:solidFill>
                  <a:srgbClr val="38761D"/>
                </a:solidFill>
              </a:endParaRPr>
            </a:p>
          </p:txBody>
        </p:sp>
        <p:graphicFrame>
          <p:nvGraphicFramePr>
            <p:cNvPr id="7" name="Google Shape;483;p55">
              <a:extLst>
                <a:ext uri="{FF2B5EF4-FFF2-40B4-BE49-F238E27FC236}">
                  <a16:creationId xmlns:a16="http://schemas.microsoft.com/office/drawing/2014/main" id="{583D0740-7577-BC3C-C572-EA044F0E9F8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38077636"/>
                </p:ext>
              </p:extLst>
            </p:nvPr>
          </p:nvGraphicFramePr>
          <p:xfrm>
            <a:off x="8125906" y="5083869"/>
            <a:ext cx="2074474" cy="137151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03723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3723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/>
                          <a:t>From: C</a:t>
                        </a:r>
                        <a:endParaRPr sz="180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/>
                          <a:t>To: D</a:t>
                        </a:r>
                        <a:endParaRPr sz="180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/>
                          <a:t>Seq = 8</a:t>
                        </a:r>
                        <a:endParaRPr sz="180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/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 as </a:t>
                        </a:r>
                        <a:r>
                          <a:rPr lang="en" sz="1800" b="1" dirty="0">
                            <a:solidFill>
                              <a:srgbClr val="C00000"/>
                            </a:solidFill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root</a:t>
                        </a:r>
                        <a:endParaRPr sz="1800" b="1" dirty="0">
                          <a:solidFill>
                            <a:srgbClr val="C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solidFill>
                        <a:schemeClr val="lt2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8" name="Google Shape;484;p55">
              <a:extLst>
                <a:ext uri="{FF2B5EF4-FFF2-40B4-BE49-F238E27FC236}">
                  <a16:creationId xmlns:a16="http://schemas.microsoft.com/office/drawing/2014/main" id="{5DABF0B8-3E1B-12C6-B4F9-C51CB26A2435}"/>
                </a:ext>
              </a:extLst>
            </p:cNvPr>
            <p:cNvSpPr txBox="1"/>
            <p:nvPr/>
          </p:nvSpPr>
          <p:spPr>
            <a:xfrm>
              <a:off x="10669746" y="5315219"/>
              <a:ext cx="515100" cy="861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 dirty="0">
                  <a:solidFill>
                    <a:srgbClr val="CC0000"/>
                  </a:solidFill>
                </a:rPr>
                <a:t>✗</a:t>
              </a:r>
              <a:endParaRPr sz="4400" dirty="0">
                <a:solidFill>
                  <a:srgbClr val="CC0000"/>
                </a:solidFill>
              </a:endParaRPr>
            </a:p>
          </p:txBody>
        </p:sp>
        <p:sp>
          <p:nvSpPr>
            <p:cNvPr id="9" name="Google Shape;485;p55">
              <a:extLst>
                <a:ext uri="{FF2B5EF4-FFF2-40B4-BE49-F238E27FC236}">
                  <a16:creationId xmlns:a16="http://schemas.microsoft.com/office/drawing/2014/main" id="{05A7BEFB-88C7-6786-1E94-1636B9214C77}"/>
                </a:ext>
              </a:extLst>
            </p:cNvPr>
            <p:cNvSpPr txBox="1"/>
            <p:nvPr/>
          </p:nvSpPr>
          <p:spPr>
            <a:xfrm>
              <a:off x="10685457" y="3539707"/>
              <a:ext cx="515100" cy="861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 dirty="0">
                  <a:solidFill>
                    <a:srgbClr val="38761D"/>
                  </a:solidFill>
                </a:rPr>
                <a:t>✓</a:t>
              </a:r>
              <a:endParaRPr sz="4400" dirty="0">
                <a:solidFill>
                  <a:srgbClr val="38761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8045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0379-7D20-D17A-54B2-C2049BEA1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28" y="1936452"/>
            <a:ext cx="7620000" cy="4543861"/>
          </a:xfrm>
        </p:spPr>
        <p:txBody>
          <a:bodyPr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Recall: TCP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Messages are split into packets before being sent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Packets can arrive out of order: The application will use sequence numbers to reorder packets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endParaRPr lang="en-US" sz="2400" dirty="0"/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i="1" dirty="0">
                <a:solidFill>
                  <a:srgbClr val="C00000"/>
                </a:solidFill>
              </a:rPr>
              <a:t>Attack 1: Payload Fragmentation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Split the word 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root</a:t>
            </a:r>
            <a:r>
              <a:rPr lang="en-US" dirty="0"/>
              <a:t> across multiple packets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No single packet contains 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root</a:t>
            </a:r>
            <a:r>
              <a:rPr lang="en-US" dirty="0"/>
              <a:t>, so the firewall won’t stop any of these packets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Destination host reassembles TCP stream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sees complete malicious content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DB5820-D74F-5ED6-0C2E-0EF91B67278D}"/>
              </a:ext>
            </a:extLst>
          </p:cNvPr>
          <p:cNvGrpSpPr/>
          <p:nvPr/>
        </p:nvGrpSpPr>
        <p:grpSpPr>
          <a:xfrm>
            <a:off x="8039100" y="2651566"/>
            <a:ext cx="3556412" cy="2857500"/>
            <a:chOff x="8039100" y="2651566"/>
            <a:chExt cx="3556412" cy="2857500"/>
          </a:xfrm>
        </p:grpSpPr>
        <p:sp>
          <p:nvSpPr>
            <p:cNvPr id="4" name="Google Shape;493;p56">
              <a:extLst>
                <a:ext uri="{FF2B5EF4-FFF2-40B4-BE49-F238E27FC236}">
                  <a16:creationId xmlns:a16="http://schemas.microsoft.com/office/drawing/2014/main" id="{67704922-1DCC-5351-675A-8002DB2439AA}"/>
                </a:ext>
              </a:extLst>
            </p:cNvPr>
            <p:cNvSpPr txBox="1"/>
            <p:nvPr/>
          </p:nvSpPr>
          <p:spPr>
            <a:xfrm>
              <a:off x="8048273" y="3079356"/>
              <a:ext cx="270600" cy="430847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2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" name="Google Shape;494;p56">
              <a:extLst>
                <a:ext uri="{FF2B5EF4-FFF2-40B4-BE49-F238E27FC236}">
                  <a16:creationId xmlns:a16="http://schemas.microsoft.com/office/drawing/2014/main" id="{F59DA7F4-9F86-E430-F673-BF31B21D5A5A}"/>
                </a:ext>
              </a:extLst>
            </p:cNvPr>
            <p:cNvSpPr txBox="1"/>
            <p:nvPr/>
          </p:nvSpPr>
          <p:spPr>
            <a:xfrm>
              <a:off x="8048273" y="3593221"/>
              <a:ext cx="270600" cy="430847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" name="Google Shape;495;p56">
              <a:extLst>
                <a:ext uri="{FF2B5EF4-FFF2-40B4-BE49-F238E27FC236}">
                  <a16:creationId xmlns:a16="http://schemas.microsoft.com/office/drawing/2014/main" id="{F5876508-6A4A-32C6-4A53-A2FA4B228D73}"/>
                </a:ext>
              </a:extLst>
            </p:cNvPr>
            <p:cNvSpPr txBox="1"/>
            <p:nvPr/>
          </p:nvSpPr>
          <p:spPr>
            <a:xfrm>
              <a:off x="8048273" y="4107086"/>
              <a:ext cx="270600" cy="430847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" name="Google Shape;496;p56">
              <a:extLst>
                <a:ext uri="{FF2B5EF4-FFF2-40B4-BE49-F238E27FC236}">
                  <a16:creationId xmlns:a16="http://schemas.microsoft.com/office/drawing/2014/main" id="{8644F05A-E00D-455A-30CB-192D5A1FD373}"/>
                </a:ext>
              </a:extLst>
            </p:cNvPr>
            <p:cNvSpPr txBox="1"/>
            <p:nvPr/>
          </p:nvSpPr>
          <p:spPr>
            <a:xfrm>
              <a:off x="8039100" y="4620950"/>
              <a:ext cx="270600" cy="430847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2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8" name="Google Shape;497;p56">
              <a:extLst>
                <a:ext uri="{FF2B5EF4-FFF2-40B4-BE49-F238E27FC236}">
                  <a16:creationId xmlns:a16="http://schemas.microsoft.com/office/drawing/2014/main" id="{10FFCF26-24EC-5A65-948B-F70AB7B17CB2}"/>
                </a:ext>
              </a:extLst>
            </p:cNvPr>
            <p:cNvCxnSpPr>
              <a:stCxn id="4" idx="3"/>
              <a:endCxn id="13" idx="1"/>
            </p:cNvCxnSpPr>
            <p:nvPr/>
          </p:nvCxnSpPr>
          <p:spPr>
            <a:xfrm flipV="1">
              <a:off x="8318873" y="3294520"/>
              <a:ext cx="3006039" cy="26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" name="Google Shape;499;p56">
              <a:extLst>
                <a:ext uri="{FF2B5EF4-FFF2-40B4-BE49-F238E27FC236}">
                  <a16:creationId xmlns:a16="http://schemas.microsoft.com/office/drawing/2014/main" id="{5682D60F-B879-8D06-C392-6FCE149AAED8}"/>
                </a:ext>
              </a:extLst>
            </p:cNvPr>
            <p:cNvCxnSpPr>
              <a:stCxn id="5" idx="3"/>
              <a:endCxn id="14" idx="1"/>
            </p:cNvCxnSpPr>
            <p:nvPr/>
          </p:nvCxnSpPr>
          <p:spPr>
            <a:xfrm>
              <a:off x="8318873" y="3808645"/>
              <a:ext cx="3006039" cy="191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501;p56">
              <a:extLst>
                <a:ext uri="{FF2B5EF4-FFF2-40B4-BE49-F238E27FC236}">
                  <a16:creationId xmlns:a16="http://schemas.microsoft.com/office/drawing/2014/main" id="{D130DFAC-E0C2-9971-45F5-80ED54793A15}"/>
                </a:ext>
              </a:extLst>
            </p:cNvPr>
            <p:cNvCxnSpPr>
              <a:stCxn id="6" idx="3"/>
              <a:endCxn id="15" idx="1"/>
            </p:cNvCxnSpPr>
            <p:nvPr/>
          </p:nvCxnSpPr>
          <p:spPr>
            <a:xfrm>
              <a:off x="8318873" y="4322510"/>
              <a:ext cx="3006039" cy="408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503;p56">
              <a:extLst>
                <a:ext uri="{FF2B5EF4-FFF2-40B4-BE49-F238E27FC236}">
                  <a16:creationId xmlns:a16="http://schemas.microsoft.com/office/drawing/2014/main" id="{5052591C-CDCC-AB3A-9FFB-475CED5B246B}"/>
                </a:ext>
              </a:extLst>
            </p:cNvPr>
            <p:cNvCxnSpPr>
              <a:stCxn id="7" idx="3"/>
              <a:endCxn id="16" idx="1"/>
            </p:cNvCxnSpPr>
            <p:nvPr/>
          </p:nvCxnSpPr>
          <p:spPr>
            <a:xfrm>
              <a:off x="8309700" y="4836374"/>
              <a:ext cx="3015212" cy="626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" name="Google Shape;505;p56">
              <a:extLst>
                <a:ext uri="{FF2B5EF4-FFF2-40B4-BE49-F238E27FC236}">
                  <a16:creationId xmlns:a16="http://schemas.microsoft.com/office/drawing/2014/main" id="{974559DE-79C0-0EA6-1DCA-320B7B3A2D6F}"/>
                </a:ext>
              </a:extLst>
            </p:cNvPr>
            <p:cNvSpPr/>
            <p:nvPr/>
          </p:nvSpPr>
          <p:spPr>
            <a:xfrm rot="-5400000">
              <a:off x="8663152" y="3773616"/>
              <a:ext cx="2857500" cy="6134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Firewall</a:t>
              </a:r>
              <a:endParaRPr sz="2200" dirty="0"/>
            </a:p>
          </p:txBody>
        </p:sp>
        <p:sp>
          <p:nvSpPr>
            <p:cNvPr id="13" name="Google Shape;498;p56">
              <a:extLst>
                <a:ext uri="{FF2B5EF4-FFF2-40B4-BE49-F238E27FC236}">
                  <a16:creationId xmlns:a16="http://schemas.microsoft.com/office/drawing/2014/main" id="{18BB20F1-A3E4-1D9A-AEFB-1EEA280CE9FA}"/>
                </a:ext>
              </a:extLst>
            </p:cNvPr>
            <p:cNvSpPr txBox="1"/>
            <p:nvPr/>
          </p:nvSpPr>
          <p:spPr>
            <a:xfrm>
              <a:off x="11324912" y="3079096"/>
              <a:ext cx="270600" cy="430847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2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" name="Google Shape;500;p56">
              <a:extLst>
                <a:ext uri="{FF2B5EF4-FFF2-40B4-BE49-F238E27FC236}">
                  <a16:creationId xmlns:a16="http://schemas.microsoft.com/office/drawing/2014/main" id="{0244C2CE-28BC-596B-D0C8-449B153D8D30}"/>
                </a:ext>
              </a:extLst>
            </p:cNvPr>
            <p:cNvSpPr txBox="1"/>
            <p:nvPr/>
          </p:nvSpPr>
          <p:spPr>
            <a:xfrm>
              <a:off x="11324912" y="3595135"/>
              <a:ext cx="270600" cy="430847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 sz="22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" name="Google Shape;502;p56">
              <a:extLst>
                <a:ext uri="{FF2B5EF4-FFF2-40B4-BE49-F238E27FC236}">
                  <a16:creationId xmlns:a16="http://schemas.microsoft.com/office/drawing/2014/main" id="{855D3EF9-A62C-8C32-847E-E2D988EA61AA}"/>
                </a:ext>
              </a:extLst>
            </p:cNvPr>
            <p:cNvSpPr txBox="1"/>
            <p:nvPr/>
          </p:nvSpPr>
          <p:spPr>
            <a:xfrm>
              <a:off x="11324912" y="4111174"/>
              <a:ext cx="270600" cy="430847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" name="Google Shape;504;p56">
              <a:extLst>
                <a:ext uri="{FF2B5EF4-FFF2-40B4-BE49-F238E27FC236}">
                  <a16:creationId xmlns:a16="http://schemas.microsoft.com/office/drawing/2014/main" id="{5CF797EB-9FB0-118B-27A1-857EE57AFA2A}"/>
                </a:ext>
              </a:extLst>
            </p:cNvPr>
            <p:cNvSpPr txBox="1"/>
            <p:nvPr/>
          </p:nvSpPr>
          <p:spPr>
            <a:xfrm>
              <a:off x="11324912" y="4627212"/>
              <a:ext cx="270600" cy="430847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2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" name="Google Shape;506;p56">
              <a:extLst>
                <a:ext uri="{FF2B5EF4-FFF2-40B4-BE49-F238E27FC236}">
                  <a16:creationId xmlns:a16="http://schemas.microsoft.com/office/drawing/2014/main" id="{7D45CDBB-D10A-81E0-66C4-5CD7A972C036}"/>
                </a:ext>
              </a:extLst>
            </p:cNvPr>
            <p:cNvSpPr txBox="1"/>
            <p:nvPr/>
          </p:nvSpPr>
          <p:spPr>
            <a:xfrm>
              <a:off x="8471579" y="2956210"/>
              <a:ext cx="1222200" cy="430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Seq = 6</a:t>
              </a:r>
              <a:endParaRPr sz="2200" dirty="0"/>
            </a:p>
          </p:txBody>
        </p:sp>
        <p:sp>
          <p:nvSpPr>
            <p:cNvPr id="18" name="Google Shape;507;p56">
              <a:extLst>
                <a:ext uri="{FF2B5EF4-FFF2-40B4-BE49-F238E27FC236}">
                  <a16:creationId xmlns:a16="http://schemas.microsoft.com/office/drawing/2014/main" id="{2A461F7B-8594-45E3-D107-8DD1156E9D5C}"/>
                </a:ext>
              </a:extLst>
            </p:cNvPr>
            <p:cNvSpPr txBox="1"/>
            <p:nvPr/>
          </p:nvSpPr>
          <p:spPr>
            <a:xfrm>
              <a:off x="8471579" y="3440630"/>
              <a:ext cx="1222200" cy="430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Seq = 4</a:t>
              </a:r>
              <a:endParaRPr sz="2200" dirty="0"/>
            </a:p>
          </p:txBody>
        </p:sp>
        <p:sp>
          <p:nvSpPr>
            <p:cNvPr id="19" name="Google Shape;508;p56">
              <a:extLst>
                <a:ext uri="{FF2B5EF4-FFF2-40B4-BE49-F238E27FC236}">
                  <a16:creationId xmlns:a16="http://schemas.microsoft.com/office/drawing/2014/main" id="{F08D3206-7660-C96E-F697-C8A55FEF5F21}"/>
                </a:ext>
              </a:extLst>
            </p:cNvPr>
            <p:cNvSpPr txBox="1"/>
            <p:nvPr/>
          </p:nvSpPr>
          <p:spPr>
            <a:xfrm>
              <a:off x="8471579" y="3925050"/>
              <a:ext cx="1222200" cy="430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/>
                <a:t>Seq = 5</a:t>
              </a:r>
              <a:endParaRPr sz="2200"/>
            </a:p>
          </p:txBody>
        </p:sp>
        <p:sp>
          <p:nvSpPr>
            <p:cNvPr id="20" name="Google Shape;509;p56">
              <a:extLst>
                <a:ext uri="{FF2B5EF4-FFF2-40B4-BE49-F238E27FC236}">
                  <a16:creationId xmlns:a16="http://schemas.microsoft.com/office/drawing/2014/main" id="{8C07FC3E-523F-752A-7EA4-4EFF1C324341}"/>
                </a:ext>
              </a:extLst>
            </p:cNvPr>
            <p:cNvSpPr txBox="1"/>
            <p:nvPr/>
          </p:nvSpPr>
          <p:spPr>
            <a:xfrm>
              <a:off x="8471579" y="4409469"/>
              <a:ext cx="1222200" cy="430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Seq = 7</a:t>
              </a:r>
              <a:endParaRPr sz="2200" dirty="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39276C4-3E38-70B4-FE1A-98AF52C35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75287"/>
          </a:xfrm>
        </p:spPr>
        <p:txBody>
          <a:bodyPr/>
          <a:lstStyle/>
          <a:p>
            <a:r>
              <a:rPr lang="en-US" dirty="0"/>
              <a:t>Evading Packet Filters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97ACA3-305F-1FED-A43E-DC328D454498}"/>
              </a:ext>
            </a:extLst>
          </p:cNvPr>
          <p:cNvSpPr txBox="1"/>
          <p:nvPr/>
        </p:nvSpPr>
        <p:spPr>
          <a:xfrm>
            <a:off x="1555308" y="1215335"/>
            <a:ext cx="90813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i="1" dirty="0">
                <a:solidFill>
                  <a:srgbClr val="C00000"/>
                </a:solidFill>
              </a:rPr>
              <a:t>Question: </a:t>
            </a:r>
            <a:r>
              <a:rPr lang="en-US" sz="2600" i="1" dirty="0"/>
              <a:t>How does the firewall detect "root" in the payload?</a:t>
            </a:r>
          </a:p>
        </p:txBody>
      </p:sp>
    </p:spTree>
    <p:extLst>
      <p:ext uri="{BB962C8B-B14F-4D97-AF65-F5344CB8AC3E}">
        <p14:creationId xmlns:p14="http://schemas.microsoft.com/office/powerpoint/2010/main" val="3059590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0379-7D20-D17A-54B2-C2049BEA1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44" y="2024392"/>
            <a:ext cx="6781434" cy="4175059"/>
          </a:xfrm>
        </p:spPr>
        <p:txBody>
          <a:bodyPr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Recall: IP packets have a time-to-live (TTL)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000" dirty="0"/>
              <a:t>The number of hops a packet may take before the packet is dropped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000" dirty="0"/>
              <a:t>The attacker can easily find how many hops away a given server is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  <a:r>
              <a:rPr lang="en-US" sz="2000" dirty="0"/>
              <a:t>Send ping packets with increasing TTLs until the server responds</a:t>
            </a:r>
          </a:p>
          <a:p>
            <a:pPr marL="571500" lvl="1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sz="2000" dirty="0"/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i="1" dirty="0">
                <a:solidFill>
                  <a:srgbClr val="C00000"/>
                </a:solidFill>
              </a:rPr>
              <a:t>Attack 2: TTL Evasion Attack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000" dirty="0"/>
              <a:t>Confuse firewall by sending duplicate packets with different TTLs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000" dirty="0"/>
              <a:t>What the firewall sees: </a:t>
            </a:r>
            <a:r>
              <a:rPr lang="en-US" sz="2000" b="1" dirty="0">
                <a:latin typeface="Courier New"/>
                <a:cs typeface="Courier New"/>
                <a:sym typeface="Courier New"/>
              </a:rPr>
              <a:t>'</a:t>
            </a:r>
            <a:r>
              <a:rPr lang="en-US" sz="2000" b="1" dirty="0" err="1">
                <a:latin typeface="Courier New"/>
                <a:cs typeface="Courier New"/>
              </a:rPr>
              <a:t>nroiocet</a:t>
            </a:r>
            <a:r>
              <a:rPr lang="en-US" sz="2000" b="1" dirty="0">
                <a:latin typeface="Courier New"/>
                <a:cs typeface="Courier New"/>
                <a:sym typeface="Courier New"/>
              </a:rPr>
              <a:t>'</a:t>
            </a:r>
            <a:endParaRPr lang="en-US" sz="2000" b="1" dirty="0">
              <a:latin typeface="Courier New"/>
              <a:cs typeface="Courier New"/>
            </a:endParaRP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000" dirty="0"/>
              <a:t>What the server sees: </a:t>
            </a:r>
            <a:r>
              <a:rPr lang="en-US" sz="2000" b="1" dirty="0">
                <a:latin typeface="Courier New"/>
                <a:cs typeface="Courier New"/>
                <a:sym typeface="Courier New"/>
              </a:rPr>
              <a:t>'root'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92D51-928E-4C78-8BCF-988DFF0034CC}"/>
              </a:ext>
            </a:extLst>
          </p:cNvPr>
          <p:cNvSpPr txBox="1"/>
          <p:nvPr/>
        </p:nvSpPr>
        <p:spPr>
          <a:xfrm>
            <a:off x="1555308" y="1114324"/>
            <a:ext cx="90813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i="1" dirty="0">
                <a:solidFill>
                  <a:srgbClr val="C00000"/>
                </a:solidFill>
              </a:rPr>
              <a:t>Question: </a:t>
            </a:r>
            <a:r>
              <a:rPr lang="en-US" sz="2600" i="1" dirty="0"/>
              <a:t>How does the firewall detect "root" in the payload?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D3B2953-9BA3-E840-9A0C-3E4F4D413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75287"/>
          </a:xfrm>
        </p:spPr>
        <p:txBody>
          <a:bodyPr/>
          <a:lstStyle/>
          <a:p>
            <a:r>
              <a:rPr lang="en-US" dirty="0"/>
              <a:t>Evading Packet Filters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D56C5D-1E4E-2B86-A8BE-E83D890121FD}"/>
              </a:ext>
            </a:extLst>
          </p:cNvPr>
          <p:cNvGrpSpPr/>
          <p:nvPr/>
        </p:nvGrpSpPr>
        <p:grpSpPr>
          <a:xfrm>
            <a:off x="7005503" y="1723859"/>
            <a:ext cx="5035422" cy="4964811"/>
            <a:chOff x="7156579" y="1848309"/>
            <a:chExt cx="5035422" cy="4964811"/>
          </a:xfrm>
        </p:grpSpPr>
        <p:sp>
          <p:nvSpPr>
            <p:cNvPr id="15" name="Google Shape;517;p57">
              <a:extLst>
                <a:ext uri="{FF2B5EF4-FFF2-40B4-BE49-F238E27FC236}">
                  <a16:creationId xmlns:a16="http://schemas.microsoft.com/office/drawing/2014/main" id="{C2DFD74B-DECD-2F91-C3E0-2FC9635FE2A0}"/>
                </a:ext>
              </a:extLst>
            </p:cNvPr>
            <p:cNvSpPr txBox="1"/>
            <p:nvPr/>
          </p:nvSpPr>
          <p:spPr>
            <a:xfrm>
              <a:off x="7156579" y="2681104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latin typeface="Courier New"/>
                  <a:ea typeface="Courier New"/>
                  <a:cs typeface="Courier New"/>
                  <a:sym typeface="Courier New"/>
                </a:rPr>
                <a:t>n</a:t>
              </a:r>
              <a:endParaRPr sz="2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" name="Google Shape;518;p57">
              <a:extLst>
                <a:ext uri="{FF2B5EF4-FFF2-40B4-BE49-F238E27FC236}">
                  <a16:creationId xmlns:a16="http://schemas.microsoft.com/office/drawing/2014/main" id="{240B13C2-719B-4F3C-6A9F-16C6392C61EB}"/>
                </a:ext>
              </a:extLst>
            </p:cNvPr>
            <p:cNvSpPr txBox="1"/>
            <p:nvPr/>
          </p:nvSpPr>
          <p:spPr>
            <a:xfrm>
              <a:off x="7156579" y="3193723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" name="Google Shape;519;p57">
              <a:extLst>
                <a:ext uri="{FF2B5EF4-FFF2-40B4-BE49-F238E27FC236}">
                  <a16:creationId xmlns:a16="http://schemas.microsoft.com/office/drawing/2014/main" id="{A620F158-D5F4-BC14-A2CE-0313739829E6}"/>
                </a:ext>
              </a:extLst>
            </p:cNvPr>
            <p:cNvSpPr txBox="1"/>
            <p:nvPr/>
          </p:nvSpPr>
          <p:spPr>
            <a:xfrm>
              <a:off x="7156579" y="3706342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" name="Google Shape;520;p57">
              <a:extLst>
                <a:ext uri="{FF2B5EF4-FFF2-40B4-BE49-F238E27FC236}">
                  <a16:creationId xmlns:a16="http://schemas.microsoft.com/office/drawing/2014/main" id="{3CF3370A-EC08-6F0B-DD5B-97409EFF987D}"/>
                </a:ext>
              </a:extLst>
            </p:cNvPr>
            <p:cNvSpPr txBox="1"/>
            <p:nvPr/>
          </p:nvSpPr>
          <p:spPr>
            <a:xfrm>
              <a:off x="7156579" y="4218961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" name="Google Shape;521;p57">
              <a:extLst>
                <a:ext uri="{FF2B5EF4-FFF2-40B4-BE49-F238E27FC236}">
                  <a16:creationId xmlns:a16="http://schemas.microsoft.com/office/drawing/2014/main" id="{7682ECAE-6723-2F50-B4DE-C49D9B842A1B}"/>
                </a:ext>
              </a:extLst>
            </p:cNvPr>
            <p:cNvSpPr txBox="1"/>
            <p:nvPr/>
          </p:nvSpPr>
          <p:spPr>
            <a:xfrm>
              <a:off x="7156579" y="4736049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0" name="Google Shape;522;p57">
              <a:extLst>
                <a:ext uri="{FF2B5EF4-FFF2-40B4-BE49-F238E27FC236}">
                  <a16:creationId xmlns:a16="http://schemas.microsoft.com/office/drawing/2014/main" id="{66D3E5D5-9680-32B8-829D-C616B07668E0}"/>
                </a:ext>
              </a:extLst>
            </p:cNvPr>
            <p:cNvSpPr txBox="1"/>
            <p:nvPr/>
          </p:nvSpPr>
          <p:spPr>
            <a:xfrm>
              <a:off x="7156579" y="5244199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4" name="Google Shape;523;p57">
              <a:extLst>
                <a:ext uri="{FF2B5EF4-FFF2-40B4-BE49-F238E27FC236}">
                  <a16:creationId xmlns:a16="http://schemas.microsoft.com/office/drawing/2014/main" id="{104AECF2-2F42-43EC-1D90-3C0388590B1B}"/>
                </a:ext>
              </a:extLst>
            </p:cNvPr>
            <p:cNvSpPr txBox="1"/>
            <p:nvPr/>
          </p:nvSpPr>
          <p:spPr>
            <a:xfrm>
              <a:off x="7156579" y="5756818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e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1" name="Google Shape;524;p57">
              <a:extLst>
                <a:ext uri="{FF2B5EF4-FFF2-40B4-BE49-F238E27FC236}">
                  <a16:creationId xmlns:a16="http://schemas.microsoft.com/office/drawing/2014/main" id="{7FAB3246-B09E-F60A-9212-DE01923941B3}"/>
                </a:ext>
              </a:extLst>
            </p:cNvPr>
            <p:cNvSpPr txBox="1"/>
            <p:nvPr/>
          </p:nvSpPr>
          <p:spPr>
            <a:xfrm>
              <a:off x="7156579" y="6281499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52" name="Google Shape;525;p57">
              <a:extLst>
                <a:ext uri="{FF2B5EF4-FFF2-40B4-BE49-F238E27FC236}">
                  <a16:creationId xmlns:a16="http://schemas.microsoft.com/office/drawing/2014/main" id="{7B92C844-91FC-FDEB-6D6D-5D0CCADFB22A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3393758"/>
              <a:ext cx="392662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Google Shape;527;p57">
              <a:extLst>
                <a:ext uri="{FF2B5EF4-FFF2-40B4-BE49-F238E27FC236}">
                  <a16:creationId xmlns:a16="http://schemas.microsoft.com/office/drawing/2014/main" id="{764B533C-CFE8-CE8C-C1E9-0F6F4D4FCCE9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3906377"/>
              <a:ext cx="392662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" name="Google Shape;529;p57">
              <a:extLst>
                <a:ext uri="{FF2B5EF4-FFF2-40B4-BE49-F238E27FC236}">
                  <a16:creationId xmlns:a16="http://schemas.microsoft.com/office/drawing/2014/main" id="{FBC24164-17FF-9455-05CF-BB5971759F4D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4936084"/>
              <a:ext cx="392662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Google Shape;531;p57">
              <a:extLst>
                <a:ext uri="{FF2B5EF4-FFF2-40B4-BE49-F238E27FC236}">
                  <a16:creationId xmlns:a16="http://schemas.microsoft.com/office/drawing/2014/main" id="{F8A30C59-E034-04A5-E3B8-2910C15A421B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6481534"/>
              <a:ext cx="3905205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" name="Google Shape;533;p57">
              <a:extLst>
                <a:ext uri="{FF2B5EF4-FFF2-40B4-BE49-F238E27FC236}">
                  <a16:creationId xmlns:a16="http://schemas.microsoft.com/office/drawing/2014/main" id="{04B274B1-BED7-AB16-276D-F7E902214C82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2881139"/>
              <a:ext cx="3624644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57" name="Google Shape;534;p57">
              <a:extLst>
                <a:ext uri="{FF2B5EF4-FFF2-40B4-BE49-F238E27FC236}">
                  <a16:creationId xmlns:a16="http://schemas.microsoft.com/office/drawing/2014/main" id="{C2A0192A-923E-0175-9A07-A8EDD9E7CC62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4491534"/>
              <a:ext cx="3624644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58" name="Google Shape;535;p57">
              <a:extLst>
                <a:ext uri="{FF2B5EF4-FFF2-40B4-BE49-F238E27FC236}">
                  <a16:creationId xmlns:a16="http://schemas.microsoft.com/office/drawing/2014/main" id="{3A1083D0-3FFB-25F5-4504-55220983046D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5444234"/>
              <a:ext cx="3624644" cy="1653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59" name="Google Shape;536;p57">
              <a:extLst>
                <a:ext uri="{FF2B5EF4-FFF2-40B4-BE49-F238E27FC236}">
                  <a16:creationId xmlns:a16="http://schemas.microsoft.com/office/drawing/2014/main" id="{74085E0D-7694-A0A8-847A-26C1C75475D9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5956853"/>
              <a:ext cx="3624644" cy="583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sp>
          <p:nvSpPr>
            <p:cNvPr id="60" name="Google Shape;537;p57">
              <a:extLst>
                <a:ext uri="{FF2B5EF4-FFF2-40B4-BE49-F238E27FC236}">
                  <a16:creationId xmlns:a16="http://schemas.microsoft.com/office/drawing/2014/main" id="{4547C2B7-561A-208F-D8F6-FE0B322E1F69}"/>
                </a:ext>
              </a:extLst>
            </p:cNvPr>
            <p:cNvSpPr/>
            <p:nvPr/>
          </p:nvSpPr>
          <p:spPr>
            <a:xfrm rot="-5400000">
              <a:off x="7771461" y="4144441"/>
              <a:ext cx="4267435" cy="1069924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/>
                <a:t>Firewall</a:t>
              </a:r>
              <a:endParaRPr sz="2400" b="1" dirty="0"/>
            </a:p>
          </p:txBody>
        </p:sp>
        <p:sp>
          <p:nvSpPr>
            <p:cNvPr id="61" name="Google Shape;526;p57">
              <a:extLst>
                <a:ext uri="{FF2B5EF4-FFF2-40B4-BE49-F238E27FC236}">
                  <a16:creationId xmlns:a16="http://schemas.microsoft.com/office/drawing/2014/main" id="{01BD0E16-A19D-6DAA-34EA-EBE350B87F6D}"/>
                </a:ext>
              </a:extLst>
            </p:cNvPr>
            <p:cNvSpPr txBox="1"/>
            <p:nvPr/>
          </p:nvSpPr>
          <p:spPr>
            <a:xfrm>
              <a:off x="11353801" y="3193723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 sz="2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2" name="Google Shape;528;p57">
              <a:extLst>
                <a:ext uri="{FF2B5EF4-FFF2-40B4-BE49-F238E27FC236}">
                  <a16:creationId xmlns:a16="http://schemas.microsoft.com/office/drawing/2014/main" id="{F693ABCE-FD90-0417-42DC-186C16A9E567}"/>
                </a:ext>
              </a:extLst>
            </p:cNvPr>
            <p:cNvSpPr txBox="1"/>
            <p:nvPr/>
          </p:nvSpPr>
          <p:spPr>
            <a:xfrm>
              <a:off x="11353801" y="3706342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3" name="Google Shape;530;p57">
              <a:extLst>
                <a:ext uri="{FF2B5EF4-FFF2-40B4-BE49-F238E27FC236}">
                  <a16:creationId xmlns:a16="http://schemas.microsoft.com/office/drawing/2014/main" id="{1D52165F-1B6C-044D-AB3B-982A24D9598D}"/>
                </a:ext>
              </a:extLst>
            </p:cNvPr>
            <p:cNvSpPr txBox="1"/>
            <p:nvPr/>
          </p:nvSpPr>
          <p:spPr>
            <a:xfrm>
              <a:off x="11353801" y="4736049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4" name="Google Shape;532;p57">
              <a:extLst>
                <a:ext uri="{FF2B5EF4-FFF2-40B4-BE49-F238E27FC236}">
                  <a16:creationId xmlns:a16="http://schemas.microsoft.com/office/drawing/2014/main" id="{03C212C8-E9CC-1D60-7F0D-C8CA74BB814B}"/>
                </a:ext>
              </a:extLst>
            </p:cNvPr>
            <p:cNvSpPr txBox="1"/>
            <p:nvPr/>
          </p:nvSpPr>
          <p:spPr>
            <a:xfrm>
              <a:off x="11332384" y="6281499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5" name="Google Shape;538;p57">
              <a:extLst>
                <a:ext uri="{FF2B5EF4-FFF2-40B4-BE49-F238E27FC236}">
                  <a16:creationId xmlns:a16="http://schemas.microsoft.com/office/drawing/2014/main" id="{27559F65-B636-E0F6-C79A-33BFE6184010}"/>
                </a:ext>
              </a:extLst>
            </p:cNvPr>
            <p:cNvSpPr txBox="1"/>
            <p:nvPr/>
          </p:nvSpPr>
          <p:spPr>
            <a:xfrm>
              <a:off x="7427179" y="2545686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4, TTL = 16</a:t>
              </a:r>
              <a:endParaRPr sz="1900" dirty="0"/>
            </a:p>
          </p:txBody>
        </p:sp>
        <p:sp>
          <p:nvSpPr>
            <p:cNvPr id="66" name="Google Shape;539;p57">
              <a:extLst>
                <a:ext uri="{FF2B5EF4-FFF2-40B4-BE49-F238E27FC236}">
                  <a16:creationId xmlns:a16="http://schemas.microsoft.com/office/drawing/2014/main" id="{D9B8583B-1C7E-109E-E4F3-808E8337A93C}"/>
                </a:ext>
              </a:extLst>
            </p:cNvPr>
            <p:cNvSpPr txBox="1"/>
            <p:nvPr/>
          </p:nvSpPr>
          <p:spPr>
            <a:xfrm>
              <a:off x="7419555" y="3075905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4, TTL = 22</a:t>
              </a:r>
              <a:endParaRPr sz="1900" dirty="0"/>
            </a:p>
          </p:txBody>
        </p:sp>
        <p:sp>
          <p:nvSpPr>
            <p:cNvPr id="67" name="Google Shape;540;p57">
              <a:extLst>
                <a:ext uri="{FF2B5EF4-FFF2-40B4-BE49-F238E27FC236}">
                  <a16:creationId xmlns:a16="http://schemas.microsoft.com/office/drawing/2014/main" id="{88686EB3-C166-1A0A-42E3-C5A6B9D0856F}"/>
                </a:ext>
              </a:extLst>
            </p:cNvPr>
            <p:cNvSpPr txBox="1"/>
            <p:nvPr/>
          </p:nvSpPr>
          <p:spPr>
            <a:xfrm>
              <a:off x="7432916" y="3588593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5, TTL = 22</a:t>
              </a:r>
              <a:endParaRPr sz="1900" dirty="0"/>
            </a:p>
          </p:txBody>
        </p:sp>
        <p:sp>
          <p:nvSpPr>
            <p:cNvPr id="68" name="Google Shape;541;p57">
              <a:extLst>
                <a:ext uri="{FF2B5EF4-FFF2-40B4-BE49-F238E27FC236}">
                  <a16:creationId xmlns:a16="http://schemas.microsoft.com/office/drawing/2014/main" id="{F5829CB5-2081-B27F-9053-8D1C34F1A7DE}"/>
                </a:ext>
              </a:extLst>
            </p:cNvPr>
            <p:cNvSpPr txBox="1"/>
            <p:nvPr/>
          </p:nvSpPr>
          <p:spPr>
            <a:xfrm>
              <a:off x="7427179" y="4119754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5, TTL = 16</a:t>
              </a:r>
              <a:endParaRPr sz="1900" dirty="0"/>
            </a:p>
          </p:txBody>
        </p:sp>
        <p:sp>
          <p:nvSpPr>
            <p:cNvPr id="69" name="Google Shape;542;p57">
              <a:extLst>
                <a:ext uri="{FF2B5EF4-FFF2-40B4-BE49-F238E27FC236}">
                  <a16:creationId xmlns:a16="http://schemas.microsoft.com/office/drawing/2014/main" id="{47B9FADC-8270-95B4-80F6-820306C5F122}"/>
                </a:ext>
              </a:extLst>
            </p:cNvPr>
            <p:cNvSpPr txBox="1"/>
            <p:nvPr/>
          </p:nvSpPr>
          <p:spPr>
            <a:xfrm>
              <a:off x="7427179" y="4584822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6, TTL = 22</a:t>
              </a:r>
              <a:endParaRPr sz="1900" dirty="0"/>
            </a:p>
          </p:txBody>
        </p:sp>
        <p:sp>
          <p:nvSpPr>
            <p:cNvPr id="70" name="Google Shape;543;p57">
              <a:extLst>
                <a:ext uri="{FF2B5EF4-FFF2-40B4-BE49-F238E27FC236}">
                  <a16:creationId xmlns:a16="http://schemas.microsoft.com/office/drawing/2014/main" id="{0B4CD61F-33C6-8638-25E6-636F2CEA7D3F}"/>
                </a:ext>
              </a:extLst>
            </p:cNvPr>
            <p:cNvSpPr txBox="1"/>
            <p:nvPr/>
          </p:nvSpPr>
          <p:spPr>
            <a:xfrm>
              <a:off x="7427179" y="5095948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6, TTL = 16</a:t>
              </a:r>
              <a:endParaRPr sz="1900" dirty="0"/>
            </a:p>
          </p:txBody>
        </p:sp>
        <p:sp>
          <p:nvSpPr>
            <p:cNvPr id="71" name="Google Shape;544;p57">
              <a:extLst>
                <a:ext uri="{FF2B5EF4-FFF2-40B4-BE49-F238E27FC236}">
                  <a16:creationId xmlns:a16="http://schemas.microsoft.com/office/drawing/2014/main" id="{66F35807-6BD9-35E6-E519-186291977B90}"/>
                </a:ext>
              </a:extLst>
            </p:cNvPr>
            <p:cNvSpPr txBox="1"/>
            <p:nvPr/>
          </p:nvSpPr>
          <p:spPr>
            <a:xfrm>
              <a:off x="7427179" y="5623049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7, TTL = 16</a:t>
              </a:r>
              <a:endParaRPr sz="1900" dirty="0"/>
            </a:p>
          </p:txBody>
        </p:sp>
        <p:sp>
          <p:nvSpPr>
            <p:cNvPr id="72" name="Google Shape;545;p57">
              <a:extLst>
                <a:ext uri="{FF2B5EF4-FFF2-40B4-BE49-F238E27FC236}">
                  <a16:creationId xmlns:a16="http://schemas.microsoft.com/office/drawing/2014/main" id="{CC76B3A6-5750-785C-33F6-10A6F524FC98}"/>
                </a:ext>
              </a:extLst>
            </p:cNvPr>
            <p:cNvSpPr txBox="1"/>
            <p:nvPr/>
          </p:nvSpPr>
          <p:spPr>
            <a:xfrm>
              <a:off x="7433429" y="6163119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7, TTL = 22</a:t>
              </a:r>
              <a:endParaRPr sz="19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A1874F3-5E86-E2EF-6231-FB8A05F93CE0}"/>
                </a:ext>
              </a:extLst>
            </p:cNvPr>
            <p:cNvSpPr txBox="1"/>
            <p:nvPr/>
          </p:nvSpPr>
          <p:spPr>
            <a:xfrm>
              <a:off x="10309530" y="1848309"/>
              <a:ext cx="18824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Dies before reaching server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9D3D3B10-5357-1BC4-C3EF-242532730AEE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 flipH="1">
              <a:off x="11146222" y="2494640"/>
              <a:ext cx="104544" cy="28183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5453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0379-7D20-D17A-54B2-C2049BEA1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42" y="1875424"/>
            <a:ext cx="6907340" cy="2387697"/>
          </a:xfrm>
        </p:spPr>
        <p:txBody>
          <a:bodyPr>
            <a:normAutofit/>
          </a:bodyPr>
          <a:lstStyle/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Defense strategies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000" dirty="0"/>
              <a:t>Reconstruct TCP streams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000" dirty="0"/>
              <a:t>Inspect reassembled payload, not individual packets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000" dirty="0"/>
              <a:t>Apply content filters to complete messages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000" dirty="0"/>
              <a:t>Example: next-generation firewall (</a:t>
            </a:r>
            <a:r>
              <a:rPr lang="en-US" sz="2000" dirty="0">
                <a:hlinkClick r:id="rId3"/>
              </a:rPr>
              <a:t>NGFW</a:t>
            </a:r>
            <a:r>
              <a:rPr lang="en-US" sz="2000" dirty="0"/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E2F8986-BC2A-FC6A-627E-7780374C5DFB}"/>
              </a:ext>
            </a:extLst>
          </p:cNvPr>
          <p:cNvGrpSpPr/>
          <p:nvPr/>
        </p:nvGrpSpPr>
        <p:grpSpPr>
          <a:xfrm>
            <a:off x="7005503" y="1723859"/>
            <a:ext cx="5035422" cy="4964811"/>
            <a:chOff x="7156579" y="1848309"/>
            <a:chExt cx="5035422" cy="4964811"/>
          </a:xfrm>
        </p:grpSpPr>
        <p:sp>
          <p:nvSpPr>
            <p:cNvPr id="6" name="Google Shape;517;p57">
              <a:extLst>
                <a:ext uri="{FF2B5EF4-FFF2-40B4-BE49-F238E27FC236}">
                  <a16:creationId xmlns:a16="http://schemas.microsoft.com/office/drawing/2014/main" id="{53CF2C85-BA7D-4689-8ED7-2D07AB7E6FC3}"/>
                </a:ext>
              </a:extLst>
            </p:cNvPr>
            <p:cNvSpPr txBox="1"/>
            <p:nvPr/>
          </p:nvSpPr>
          <p:spPr>
            <a:xfrm>
              <a:off x="7156579" y="2681104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latin typeface="Courier New"/>
                  <a:ea typeface="Courier New"/>
                  <a:cs typeface="Courier New"/>
                  <a:sym typeface="Courier New"/>
                </a:rPr>
                <a:t>n</a:t>
              </a:r>
              <a:endParaRPr sz="2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" name="Google Shape;518;p57">
              <a:extLst>
                <a:ext uri="{FF2B5EF4-FFF2-40B4-BE49-F238E27FC236}">
                  <a16:creationId xmlns:a16="http://schemas.microsoft.com/office/drawing/2014/main" id="{5012F011-3AEE-5D7E-9E67-B882E97F2D6A}"/>
                </a:ext>
              </a:extLst>
            </p:cNvPr>
            <p:cNvSpPr txBox="1"/>
            <p:nvPr/>
          </p:nvSpPr>
          <p:spPr>
            <a:xfrm>
              <a:off x="7156579" y="3193723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" name="Google Shape;519;p57">
              <a:extLst>
                <a:ext uri="{FF2B5EF4-FFF2-40B4-BE49-F238E27FC236}">
                  <a16:creationId xmlns:a16="http://schemas.microsoft.com/office/drawing/2014/main" id="{99A747CC-5743-ECE9-1F92-C212A03B38E9}"/>
                </a:ext>
              </a:extLst>
            </p:cNvPr>
            <p:cNvSpPr txBox="1"/>
            <p:nvPr/>
          </p:nvSpPr>
          <p:spPr>
            <a:xfrm>
              <a:off x="7156579" y="3706342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9" name="Google Shape;520;p57">
              <a:extLst>
                <a:ext uri="{FF2B5EF4-FFF2-40B4-BE49-F238E27FC236}">
                  <a16:creationId xmlns:a16="http://schemas.microsoft.com/office/drawing/2014/main" id="{A333A028-E239-37CF-198E-13192B5F1CAC}"/>
                </a:ext>
              </a:extLst>
            </p:cNvPr>
            <p:cNvSpPr txBox="1"/>
            <p:nvPr/>
          </p:nvSpPr>
          <p:spPr>
            <a:xfrm>
              <a:off x="7156579" y="4218961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" name="Google Shape;521;p57">
              <a:extLst>
                <a:ext uri="{FF2B5EF4-FFF2-40B4-BE49-F238E27FC236}">
                  <a16:creationId xmlns:a16="http://schemas.microsoft.com/office/drawing/2014/main" id="{038867F2-D7A7-E149-8C3F-0F27236BE946}"/>
                </a:ext>
              </a:extLst>
            </p:cNvPr>
            <p:cNvSpPr txBox="1"/>
            <p:nvPr/>
          </p:nvSpPr>
          <p:spPr>
            <a:xfrm>
              <a:off x="7156579" y="4736049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1" name="Google Shape;522;p57">
              <a:extLst>
                <a:ext uri="{FF2B5EF4-FFF2-40B4-BE49-F238E27FC236}">
                  <a16:creationId xmlns:a16="http://schemas.microsoft.com/office/drawing/2014/main" id="{A017F258-5898-BB33-CF97-A276449C2D46}"/>
                </a:ext>
              </a:extLst>
            </p:cNvPr>
            <p:cNvSpPr txBox="1"/>
            <p:nvPr/>
          </p:nvSpPr>
          <p:spPr>
            <a:xfrm>
              <a:off x="7156579" y="5244199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" name="Google Shape;523;p57">
              <a:extLst>
                <a:ext uri="{FF2B5EF4-FFF2-40B4-BE49-F238E27FC236}">
                  <a16:creationId xmlns:a16="http://schemas.microsoft.com/office/drawing/2014/main" id="{1665B301-510C-7795-A8EC-FB9E80A4ABB0}"/>
                </a:ext>
              </a:extLst>
            </p:cNvPr>
            <p:cNvSpPr txBox="1"/>
            <p:nvPr/>
          </p:nvSpPr>
          <p:spPr>
            <a:xfrm>
              <a:off x="7156579" y="5756818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e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" name="Google Shape;524;p57">
              <a:extLst>
                <a:ext uri="{FF2B5EF4-FFF2-40B4-BE49-F238E27FC236}">
                  <a16:creationId xmlns:a16="http://schemas.microsoft.com/office/drawing/2014/main" id="{AF947599-2B22-F6D2-0E6A-AA54D0B13DA1}"/>
                </a:ext>
              </a:extLst>
            </p:cNvPr>
            <p:cNvSpPr txBox="1"/>
            <p:nvPr/>
          </p:nvSpPr>
          <p:spPr>
            <a:xfrm>
              <a:off x="7156579" y="6281499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4" name="Google Shape;525;p57">
              <a:extLst>
                <a:ext uri="{FF2B5EF4-FFF2-40B4-BE49-F238E27FC236}">
                  <a16:creationId xmlns:a16="http://schemas.microsoft.com/office/drawing/2014/main" id="{26E4D1FE-36BE-D8D8-1CDF-202FA8321800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3393758"/>
              <a:ext cx="392662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Google Shape;527;p57">
              <a:extLst>
                <a:ext uri="{FF2B5EF4-FFF2-40B4-BE49-F238E27FC236}">
                  <a16:creationId xmlns:a16="http://schemas.microsoft.com/office/drawing/2014/main" id="{D08860A0-0006-D78B-6F54-ECF01BCED058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3906377"/>
              <a:ext cx="392662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Google Shape;529;p57">
              <a:extLst>
                <a:ext uri="{FF2B5EF4-FFF2-40B4-BE49-F238E27FC236}">
                  <a16:creationId xmlns:a16="http://schemas.microsoft.com/office/drawing/2014/main" id="{CD491366-9E9B-1C7D-58CC-3C8D2802FF53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4936084"/>
              <a:ext cx="392662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Google Shape;531;p57">
              <a:extLst>
                <a:ext uri="{FF2B5EF4-FFF2-40B4-BE49-F238E27FC236}">
                  <a16:creationId xmlns:a16="http://schemas.microsoft.com/office/drawing/2014/main" id="{CAAB1D16-B468-63E5-90CF-09165806B287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6481534"/>
              <a:ext cx="3905205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Google Shape;533;p57">
              <a:extLst>
                <a:ext uri="{FF2B5EF4-FFF2-40B4-BE49-F238E27FC236}">
                  <a16:creationId xmlns:a16="http://schemas.microsoft.com/office/drawing/2014/main" id="{2AEA8CC0-E533-80C6-4FE0-44A8998B1B47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2881139"/>
              <a:ext cx="3624644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19" name="Google Shape;534;p57">
              <a:extLst>
                <a:ext uri="{FF2B5EF4-FFF2-40B4-BE49-F238E27FC236}">
                  <a16:creationId xmlns:a16="http://schemas.microsoft.com/office/drawing/2014/main" id="{84DC9619-41F2-5C0B-DF9D-5684F6595619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4491534"/>
              <a:ext cx="3624644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20" name="Google Shape;535;p57">
              <a:extLst>
                <a:ext uri="{FF2B5EF4-FFF2-40B4-BE49-F238E27FC236}">
                  <a16:creationId xmlns:a16="http://schemas.microsoft.com/office/drawing/2014/main" id="{6F9D76B3-8B6B-C120-406D-FB10C67E29AA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5444234"/>
              <a:ext cx="3624644" cy="1653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24" name="Google Shape;536;p57">
              <a:extLst>
                <a:ext uri="{FF2B5EF4-FFF2-40B4-BE49-F238E27FC236}">
                  <a16:creationId xmlns:a16="http://schemas.microsoft.com/office/drawing/2014/main" id="{978678F5-F894-A8E2-1727-A7DB34AA246B}"/>
                </a:ext>
              </a:extLst>
            </p:cNvPr>
            <p:cNvCxnSpPr>
              <a:cxnSpLocks/>
            </p:cNvCxnSpPr>
            <p:nvPr/>
          </p:nvCxnSpPr>
          <p:spPr>
            <a:xfrm>
              <a:off x="7427179" y="5956853"/>
              <a:ext cx="3624644" cy="583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sp>
          <p:nvSpPr>
            <p:cNvPr id="38" name="Google Shape;537;p57">
              <a:extLst>
                <a:ext uri="{FF2B5EF4-FFF2-40B4-BE49-F238E27FC236}">
                  <a16:creationId xmlns:a16="http://schemas.microsoft.com/office/drawing/2014/main" id="{01A3C11C-476A-8C9F-2D68-CC50A2CF0EF3}"/>
                </a:ext>
              </a:extLst>
            </p:cNvPr>
            <p:cNvSpPr/>
            <p:nvPr/>
          </p:nvSpPr>
          <p:spPr>
            <a:xfrm rot="-5400000">
              <a:off x="7771461" y="4144441"/>
              <a:ext cx="4267435" cy="1069924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/>
                <a:t>Firewall</a:t>
              </a:r>
              <a:endParaRPr sz="2400" b="1" dirty="0"/>
            </a:p>
          </p:txBody>
        </p:sp>
        <p:sp>
          <p:nvSpPr>
            <p:cNvPr id="51" name="Google Shape;526;p57">
              <a:extLst>
                <a:ext uri="{FF2B5EF4-FFF2-40B4-BE49-F238E27FC236}">
                  <a16:creationId xmlns:a16="http://schemas.microsoft.com/office/drawing/2014/main" id="{A9DF31DC-0F28-8023-8172-896761EC802F}"/>
                </a:ext>
              </a:extLst>
            </p:cNvPr>
            <p:cNvSpPr txBox="1"/>
            <p:nvPr/>
          </p:nvSpPr>
          <p:spPr>
            <a:xfrm>
              <a:off x="11353801" y="3193723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 sz="2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2" name="Google Shape;528;p57">
              <a:extLst>
                <a:ext uri="{FF2B5EF4-FFF2-40B4-BE49-F238E27FC236}">
                  <a16:creationId xmlns:a16="http://schemas.microsoft.com/office/drawing/2014/main" id="{4C3A5B36-462C-9B87-5024-E9AC584205E3}"/>
                </a:ext>
              </a:extLst>
            </p:cNvPr>
            <p:cNvSpPr txBox="1"/>
            <p:nvPr/>
          </p:nvSpPr>
          <p:spPr>
            <a:xfrm>
              <a:off x="11353801" y="3706342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3" name="Google Shape;530;p57">
              <a:extLst>
                <a:ext uri="{FF2B5EF4-FFF2-40B4-BE49-F238E27FC236}">
                  <a16:creationId xmlns:a16="http://schemas.microsoft.com/office/drawing/2014/main" id="{F177EBC4-0572-6F56-235E-DF275BA86C82}"/>
                </a:ext>
              </a:extLst>
            </p:cNvPr>
            <p:cNvSpPr txBox="1"/>
            <p:nvPr/>
          </p:nvSpPr>
          <p:spPr>
            <a:xfrm>
              <a:off x="11353801" y="4736049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o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4" name="Google Shape;532;p57">
              <a:extLst>
                <a:ext uri="{FF2B5EF4-FFF2-40B4-BE49-F238E27FC236}">
                  <a16:creationId xmlns:a16="http://schemas.microsoft.com/office/drawing/2014/main" id="{73728D56-5AC2-1EB2-8F5F-0FD64FBE9BC1}"/>
                </a:ext>
              </a:extLst>
            </p:cNvPr>
            <p:cNvSpPr txBox="1"/>
            <p:nvPr/>
          </p:nvSpPr>
          <p:spPr>
            <a:xfrm>
              <a:off x="11332384" y="6281499"/>
              <a:ext cx="270600" cy="400069"/>
            </a:xfrm>
            <a:prstGeom prst="rect">
              <a:avLst/>
            </a:prstGeom>
            <a:solidFill>
              <a:srgbClr val="FFAB4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5" name="Google Shape;538;p57">
              <a:extLst>
                <a:ext uri="{FF2B5EF4-FFF2-40B4-BE49-F238E27FC236}">
                  <a16:creationId xmlns:a16="http://schemas.microsoft.com/office/drawing/2014/main" id="{2A449275-6C5B-81D8-2AA0-12E37E7D115C}"/>
                </a:ext>
              </a:extLst>
            </p:cNvPr>
            <p:cNvSpPr txBox="1"/>
            <p:nvPr/>
          </p:nvSpPr>
          <p:spPr>
            <a:xfrm>
              <a:off x="7427179" y="2545686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4, TTL = 16</a:t>
              </a:r>
              <a:endParaRPr sz="1900" dirty="0"/>
            </a:p>
          </p:txBody>
        </p:sp>
        <p:sp>
          <p:nvSpPr>
            <p:cNvPr id="56" name="Google Shape;539;p57">
              <a:extLst>
                <a:ext uri="{FF2B5EF4-FFF2-40B4-BE49-F238E27FC236}">
                  <a16:creationId xmlns:a16="http://schemas.microsoft.com/office/drawing/2014/main" id="{0BED4C46-34EB-5001-7EEA-C1F2690AFFFB}"/>
                </a:ext>
              </a:extLst>
            </p:cNvPr>
            <p:cNvSpPr txBox="1"/>
            <p:nvPr/>
          </p:nvSpPr>
          <p:spPr>
            <a:xfrm>
              <a:off x="7419555" y="3075905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4, TTL = 22</a:t>
              </a:r>
              <a:endParaRPr sz="1900" dirty="0"/>
            </a:p>
          </p:txBody>
        </p:sp>
        <p:sp>
          <p:nvSpPr>
            <p:cNvPr id="57" name="Google Shape;540;p57">
              <a:extLst>
                <a:ext uri="{FF2B5EF4-FFF2-40B4-BE49-F238E27FC236}">
                  <a16:creationId xmlns:a16="http://schemas.microsoft.com/office/drawing/2014/main" id="{BA8A82CC-FC36-F9F9-C73A-D3FC1D148C65}"/>
                </a:ext>
              </a:extLst>
            </p:cNvPr>
            <p:cNvSpPr txBox="1"/>
            <p:nvPr/>
          </p:nvSpPr>
          <p:spPr>
            <a:xfrm>
              <a:off x="7432916" y="3588593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5, TTL = 22</a:t>
              </a:r>
              <a:endParaRPr sz="1900" dirty="0"/>
            </a:p>
          </p:txBody>
        </p:sp>
        <p:sp>
          <p:nvSpPr>
            <p:cNvPr id="58" name="Google Shape;541;p57">
              <a:extLst>
                <a:ext uri="{FF2B5EF4-FFF2-40B4-BE49-F238E27FC236}">
                  <a16:creationId xmlns:a16="http://schemas.microsoft.com/office/drawing/2014/main" id="{B4686B07-B824-DB81-297A-7590751C1DD0}"/>
                </a:ext>
              </a:extLst>
            </p:cNvPr>
            <p:cNvSpPr txBox="1"/>
            <p:nvPr/>
          </p:nvSpPr>
          <p:spPr>
            <a:xfrm>
              <a:off x="7427179" y="4119754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5, TTL = 16</a:t>
              </a:r>
              <a:endParaRPr sz="1900" dirty="0"/>
            </a:p>
          </p:txBody>
        </p:sp>
        <p:sp>
          <p:nvSpPr>
            <p:cNvPr id="59" name="Google Shape;542;p57">
              <a:extLst>
                <a:ext uri="{FF2B5EF4-FFF2-40B4-BE49-F238E27FC236}">
                  <a16:creationId xmlns:a16="http://schemas.microsoft.com/office/drawing/2014/main" id="{4F825EBF-30FF-9F97-874E-71B9C73D8BCE}"/>
                </a:ext>
              </a:extLst>
            </p:cNvPr>
            <p:cNvSpPr txBox="1"/>
            <p:nvPr/>
          </p:nvSpPr>
          <p:spPr>
            <a:xfrm>
              <a:off x="7427179" y="4584822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6, TTL = 22</a:t>
              </a:r>
              <a:endParaRPr sz="1900" dirty="0"/>
            </a:p>
          </p:txBody>
        </p:sp>
        <p:sp>
          <p:nvSpPr>
            <p:cNvPr id="60" name="Google Shape;543;p57">
              <a:extLst>
                <a:ext uri="{FF2B5EF4-FFF2-40B4-BE49-F238E27FC236}">
                  <a16:creationId xmlns:a16="http://schemas.microsoft.com/office/drawing/2014/main" id="{25A7D890-DBC4-B055-8993-9F90666A1F60}"/>
                </a:ext>
              </a:extLst>
            </p:cNvPr>
            <p:cNvSpPr txBox="1"/>
            <p:nvPr/>
          </p:nvSpPr>
          <p:spPr>
            <a:xfrm>
              <a:off x="7427179" y="5095948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6, TTL = 16</a:t>
              </a:r>
              <a:endParaRPr sz="1900" dirty="0"/>
            </a:p>
          </p:txBody>
        </p:sp>
        <p:sp>
          <p:nvSpPr>
            <p:cNvPr id="61" name="Google Shape;544;p57">
              <a:extLst>
                <a:ext uri="{FF2B5EF4-FFF2-40B4-BE49-F238E27FC236}">
                  <a16:creationId xmlns:a16="http://schemas.microsoft.com/office/drawing/2014/main" id="{2B74C583-69F7-66A4-AEDA-37C6F50AF3A2}"/>
                </a:ext>
              </a:extLst>
            </p:cNvPr>
            <p:cNvSpPr txBox="1"/>
            <p:nvPr/>
          </p:nvSpPr>
          <p:spPr>
            <a:xfrm>
              <a:off x="7427179" y="5623049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7, TTL = 16</a:t>
              </a:r>
              <a:endParaRPr sz="1900" dirty="0"/>
            </a:p>
          </p:txBody>
        </p:sp>
        <p:sp>
          <p:nvSpPr>
            <p:cNvPr id="62" name="Google Shape;545;p57">
              <a:extLst>
                <a:ext uri="{FF2B5EF4-FFF2-40B4-BE49-F238E27FC236}">
                  <a16:creationId xmlns:a16="http://schemas.microsoft.com/office/drawing/2014/main" id="{9D607F56-76C2-24A9-42F0-11D356E97AF6}"/>
                </a:ext>
              </a:extLst>
            </p:cNvPr>
            <p:cNvSpPr txBox="1"/>
            <p:nvPr/>
          </p:nvSpPr>
          <p:spPr>
            <a:xfrm>
              <a:off x="7433429" y="6163119"/>
              <a:ext cx="1920240" cy="38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dirty="0"/>
                <a:t>Seq = 7, TTL = 22</a:t>
              </a:r>
              <a:endParaRPr sz="19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5ED8E91-42F6-5CF9-1676-8F76380FF6EA}"/>
                </a:ext>
              </a:extLst>
            </p:cNvPr>
            <p:cNvSpPr txBox="1"/>
            <p:nvPr/>
          </p:nvSpPr>
          <p:spPr>
            <a:xfrm>
              <a:off x="10309530" y="1848309"/>
              <a:ext cx="18824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Dies before reaching server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BD2D450-DB49-757E-F61E-1AD69EE92FFE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 flipH="1">
              <a:off x="11146222" y="2494640"/>
              <a:ext cx="104544" cy="28183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itle 1">
            <a:extLst>
              <a:ext uri="{FF2B5EF4-FFF2-40B4-BE49-F238E27FC236}">
                <a16:creationId xmlns:a16="http://schemas.microsoft.com/office/drawing/2014/main" id="{C30281C8-A5D8-37CB-F9B2-5C8D01AD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75287"/>
          </a:xfrm>
        </p:spPr>
        <p:txBody>
          <a:bodyPr/>
          <a:lstStyle/>
          <a:p>
            <a:r>
              <a:rPr lang="en-US" dirty="0"/>
              <a:t>Evading Packet Filters</a:t>
            </a:r>
          </a:p>
        </p:txBody>
      </p:sp>
    </p:spTree>
    <p:extLst>
      <p:ext uri="{BB962C8B-B14F-4D97-AF65-F5344CB8AC3E}">
        <p14:creationId xmlns:p14="http://schemas.microsoft.com/office/powerpoint/2010/main" val="2473561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B7C3-8E8A-7E45-9CBE-7181CC626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8879"/>
            <a:ext cx="10515600" cy="875278"/>
          </a:xfrm>
        </p:spPr>
        <p:txBody>
          <a:bodyPr/>
          <a:lstStyle/>
          <a:p>
            <a:r>
              <a:rPr lang="en" dirty="0"/>
              <a:t>Other Types of Firewalls</a:t>
            </a:r>
            <a:endParaRPr lang="en-US" dirty="0"/>
          </a:p>
        </p:txBody>
      </p:sp>
      <p:sp>
        <p:nvSpPr>
          <p:cNvPr id="4" name="Google Shape;588;p59">
            <a:extLst>
              <a:ext uri="{FF2B5EF4-FFF2-40B4-BE49-F238E27FC236}">
                <a16:creationId xmlns:a16="http://schemas.microsoft.com/office/drawing/2014/main" id="{7F4D3650-8AB1-8B4B-2F81-5F758CFCF987}"/>
              </a:ext>
            </a:extLst>
          </p:cNvPr>
          <p:cNvSpPr txBox="1">
            <a:spLocks/>
          </p:cNvSpPr>
          <p:nvPr/>
        </p:nvSpPr>
        <p:spPr>
          <a:xfrm>
            <a:off x="838160" y="1411935"/>
            <a:ext cx="10515600" cy="405856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b="1" dirty="0">
                <a:hlinkClick r:id="rId2"/>
              </a:rPr>
              <a:t>Proxy firewall</a:t>
            </a:r>
            <a:r>
              <a:rPr lang="en-US" sz="2400" dirty="0"/>
              <a:t>: Instead of forwarding packets, form two TCP connections: One with the source, and one with the destination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Avoids problems with packets, since the firewall has direct access to the TCP byte streams</a:t>
            </a:r>
          </a:p>
          <a:p>
            <a:pPr marL="571500" lvl="1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b="1" dirty="0"/>
              <a:t>Application proxy firewall</a:t>
            </a:r>
            <a:r>
              <a:rPr lang="en-US" sz="2400" dirty="0"/>
              <a:t>: Certain protocols allow for proxying at the application layer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Example: HTTP proxies will make an HTTP request on behalf of the user then return the HTTP response to the client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C482B9-0534-B7DD-DFD8-D6B54E1715DF}"/>
              </a:ext>
            </a:extLst>
          </p:cNvPr>
          <p:cNvGrpSpPr/>
          <p:nvPr/>
        </p:nvGrpSpPr>
        <p:grpSpPr>
          <a:xfrm>
            <a:off x="1368589" y="5575367"/>
            <a:ext cx="9454822" cy="705814"/>
            <a:chOff x="2035900" y="5307059"/>
            <a:chExt cx="7549875" cy="536750"/>
          </a:xfrm>
        </p:grpSpPr>
        <p:sp>
          <p:nvSpPr>
            <p:cNvPr id="5" name="Google Shape;589;p59">
              <a:extLst>
                <a:ext uri="{FF2B5EF4-FFF2-40B4-BE49-F238E27FC236}">
                  <a16:creationId xmlns:a16="http://schemas.microsoft.com/office/drawing/2014/main" id="{7646094B-EDEF-4536-D1C9-3A2198570BBF}"/>
                </a:ext>
              </a:extLst>
            </p:cNvPr>
            <p:cNvSpPr/>
            <p:nvPr/>
          </p:nvSpPr>
          <p:spPr>
            <a:xfrm>
              <a:off x="5246350" y="5385109"/>
              <a:ext cx="1128900" cy="45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Firewall</a:t>
              </a:r>
              <a:endParaRPr/>
            </a:p>
          </p:txBody>
        </p:sp>
        <p:sp>
          <p:nvSpPr>
            <p:cNvPr id="6" name="Google Shape;590;p59">
              <a:extLst>
                <a:ext uri="{FF2B5EF4-FFF2-40B4-BE49-F238E27FC236}">
                  <a16:creationId xmlns:a16="http://schemas.microsoft.com/office/drawing/2014/main" id="{FFB6C33D-9CB1-BC62-5158-5BCE440FCCDB}"/>
                </a:ext>
              </a:extLst>
            </p:cNvPr>
            <p:cNvSpPr/>
            <p:nvPr/>
          </p:nvSpPr>
          <p:spPr>
            <a:xfrm>
              <a:off x="2035900" y="5385109"/>
              <a:ext cx="1828800" cy="45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Client (outside)</a:t>
              </a:r>
              <a:endParaRPr dirty="0"/>
            </a:p>
          </p:txBody>
        </p:sp>
        <p:sp>
          <p:nvSpPr>
            <p:cNvPr id="7" name="Google Shape;591;p59">
              <a:extLst>
                <a:ext uri="{FF2B5EF4-FFF2-40B4-BE49-F238E27FC236}">
                  <a16:creationId xmlns:a16="http://schemas.microsoft.com/office/drawing/2014/main" id="{6D3A0B66-E443-310B-9D3E-21C932BF089F}"/>
                </a:ext>
              </a:extLst>
            </p:cNvPr>
            <p:cNvSpPr/>
            <p:nvPr/>
          </p:nvSpPr>
          <p:spPr>
            <a:xfrm>
              <a:off x="7756975" y="5385109"/>
              <a:ext cx="1828800" cy="45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Server (inside)</a:t>
              </a:r>
              <a:endParaRPr dirty="0"/>
            </a:p>
          </p:txBody>
        </p:sp>
        <p:cxnSp>
          <p:nvCxnSpPr>
            <p:cNvPr id="8" name="Google Shape;592;p59">
              <a:extLst>
                <a:ext uri="{FF2B5EF4-FFF2-40B4-BE49-F238E27FC236}">
                  <a16:creationId xmlns:a16="http://schemas.microsoft.com/office/drawing/2014/main" id="{FD31A920-D60B-7BE8-89E1-8BEF0E4D4DEC}"/>
                </a:ext>
              </a:extLst>
            </p:cNvPr>
            <p:cNvCxnSpPr>
              <a:stCxn id="6" idx="3"/>
              <a:endCxn id="5" idx="1"/>
            </p:cNvCxnSpPr>
            <p:nvPr/>
          </p:nvCxnSpPr>
          <p:spPr>
            <a:xfrm>
              <a:off x="3864700" y="5614459"/>
              <a:ext cx="138165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" name="Google Shape;593;p59">
              <a:extLst>
                <a:ext uri="{FF2B5EF4-FFF2-40B4-BE49-F238E27FC236}">
                  <a16:creationId xmlns:a16="http://schemas.microsoft.com/office/drawing/2014/main" id="{7427A2F2-5F5E-C26F-8A36-C15D5C82B75C}"/>
                </a:ext>
              </a:extLst>
            </p:cNvPr>
            <p:cNvCxnSpPr>
              <a:stCxn id="5" idx="3"/>
              <a:endCxn id="7" idx="1"/>
            </p:cNvCxnSpPr>
            <p:nvPr/>
          </p:nvCxnSpPr>
          <p:spPr>
            <a:xfrm>
              <a:off x="6375250" y="5614459"/>
              <a:ext cx="1381725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" name="Google Shape;594;p59">
              <a:extLst>
                <a:ext uri="{FF2B5EF4-FFF2-40B4-BE49-F238E27FC236}">
                  <a16:creationId xmlns:a16="http://schemas.microsoft.com/office/drawing/2014/main" id="{9B1A6254-E350-3909-FA92-0D2EE87D586C}"/>
                </a:ext>
              </a:extLst>
            </p:cNvPr>
            <p:cNvSpPr txBox="1"/>
            <p:nvPr/>
          </p:nvSpPr>
          <p:spPr>
            <a:xfrm>
              <a:off x="3864625" y="5307059"/>
              <a:ext cx="1381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TCP</a:t>
              </a:r>
              <a:endParaRPr/>
            </a:p>
          </p:txBody>
        </p:sp>
        <p:sp>
          <p:nvSpPr>
            <p:cNvPr id="11" name="Google Shape;595;p59">
              <a:extLst>
                <a:ext uri="{FF2B5EF4-FFF2-40B4-BE49-F238E27FC236}">
                  <a16:creationId xmlns:a16="http://schemas.microsoft.com/office/drawing/2014/main" id="{C298F5CC-E2ED-F1CC-FE23-A77D6FB7BAA3}"/>
                </a:ext>
              </a:extLst>
            </p:cNvPr>
            <p:cNvSpPr txBox="1"/>
            <p:nvPr/>
          </p:nvSpPr>
          <p:spPr>
            <a:xfrm>
              <a:off x="6375250" y="5307059"/>
              <a:ext cx="1381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TCP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4703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0777-1218-8421-4EC6-D761037E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879"/>
            <a:ext cx="10515600" cy="922986"/>
          </a:xfrm>
        </p:spPr>
        <p:txBody>
          <a:bodyPr/>
          <a:lstStyle/>
          <a:p>
            <a:r>
              <a:rPr lang="en" dirty="0"/>
              <a:t>Summary: Firewalls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DFEAF-0F7F-B22B-68E5-E5318845A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670"/>
            <a:ext cx="10515600" cy="4838646"/>
          </a:xfrm>
        </p:spPr>
        <p:txBody>
          <a:bodyPr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Firewalls: Defend many devices by defending the network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Security policies dictate how traffic on the network is handled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Packet filters: Choose to either forward or drop packets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>
                <a:solidFill>
                  <a:srgbClr val="C00000"/>
                </a:solidFill>
              </a:rPr>
              <a:t>Stateless packet filters:</a:t>
            </a:r>
            <a:r>
              <a:rPr lang="en-US" dirty="0"/>
              <a:t> Choose depending on the packet only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>
                <a:solidFill>
                  <a:srgbClr val="C00000"/>
                </a:solidFill>
              </a:rPr>
              <a:t>Stateful packet filters: </a:t>
            </a:r>
            <a:r>
              <a:rPr lang="en-US" dirty="0"/>
              <a:t>Choose depending on the packet and the history of the connection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Attackers can subvert packet filters by splitting key payloads or exploiting the TTL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Proxy firewalls: Create a connection with both sides instead of forwarding packets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ML-Powered NGFW: </a:t>
            </a:r>
            <a:r>
              <a:rPr lang="en-US" sz="2400" dirty="0">
                <a:hlinkClick r:id="rId2"/>
              </a:rPr>
              <a:t>https://www.paloaltonetworks.com/cyberpedia/what-is-an-ml-powered-ngfw</a:t>
            </a:r>
            <a:endParaRPr lang="en-US" sz="2400" dirty="0"/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3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4517</TotalTime>
  <Words>3851</Words>
  <Application>Microsoft Office PowerPoint</Application>
  <PresentationFormat>Widescreen</PresentationFormat>
  <Paragraphs>608</Paragraphs>
  <Slides>29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 (Body)</vt:lpstr>
      <vt:lpstr>Aharoni</vt:lpstr>
      <vt:lpstr>Aptos</vt:lpstr>
      <vt:lpstr>Aptos Display</vt:lpstr>
      <vt:lpstr>Arial</vt:lpstr>
      <vt:lpstr>Calibri</vt:lpstr>
      <vt:lpstr>Courier New</vt:lpstr>
      <vt:lpstr>Wingdings</vt:lpstr>
      <vt:lpstr>Office Theme</vt:lpstr>
      <vt:lpstr>CSC 3511 Security and Networking</vt:lpstr>
      <vt:lpstr>PowerPoint Presentation</vt:lpstr>
      <vt:lpstr>Motivation: Scalable Defenses</vt:lpstr>
      <vt:lpstr>Firewalls and Security Policies</vt:lpstr>
      <vt:lpstr>Firewalls and Security Policies</vt:lpstr>
      <vt:lpstr>Default Security Policies?</vt:lpstr>
      <vt:lpstr>Default Security Policies?</vt:lpstr>
      <vt:lpstr>PowerPoint Presentation</vt:lpstr>
      <vt:lpstr>Packet Filters</vt:lpstr>
      <vt:lpstr>Packet Filters</vt:lpstr>
      <vt:lpstr>Stateless Packet Filters</vt:lpstr>
      <vt:lpstr>Stateful Packet Filters</vt:lpstr>
      <vt:lpstr>Stateful Packet Filters</vt:lpstr>
      <vt:lpstr>Stateful Packet Filters</vt:lpstr>
      <vt:lpstr>Stateless vs. Stateful Packet Filters</vt:lpstr>
      <vt:lpstr>Stateless vs. Stateful Packet Filters</vt:lpstr>
      <vt:lpstr>Stateless vs. Stateful Packet Filters</vt:lpstr>
      <vt:lpstr>Stateless vs. Stateful Packet Filters: Example 1</vt:lpstr>
      <vt:lpstr>Stateless vs. Stateful Packet Filters: Example 2</vt:lpstr>
      <vt:lpstr>Stateless vs. Stateful Packet Filters: Example 2</vt:lpstr>
      <vt:lpstr>Sample Question</vt:lpstr>
      <vt:lpstr>Sample Question</vt:lpstr>
      <vt:lpstr>PowerPoint Presentation</vt:lpstr>
      <vt:lpstr>New Challenge: Deep Packet Inspection</vt:lpstr>
      <vt:lpstr>Evading Packet Filters</vt:lpstr>
      <vt:lpstr>Evading Packet Filters</vt:lpstr>
      <vt:lpstr>Evading Packet Filters</vt:lpstr>
      <vt:lpstr>Other Types of Firewalls</vt:lpstr>
      <vt:lpstr>Summary: Firewalls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510</cp:revision>
  <dcterms:created xsi:type="dcterms:W3CDTF">2024-11-04T19:47:12Z</dcterms:created>
  <dcterms:modified xsi:type="dcterms:W3CDTF">2025-12-01T21:42:14Z</dcterms:modified>
</cp:coreProperties>
</file>