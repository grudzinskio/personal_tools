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05" r:id="rId2"/>
    <p:sldId id="1435" r:id="rId3"/>
    <p:sldId id="1436" r:id="rId4"/>
    <p:sldId id="515" r:id="rId5"/>
    <p:sldId id="412" r:id="rId6"/>
    <p:sldId id="300" r:id="rId7"/>
    <p:sldId id="301" r:id="rId8"/>
    <p:sldId id="315" r:id="rId9"/>
    <p:sldId id="302" r:id="rId10"/>
    <p:sldId id="1441" r:id="rId11"/>
    <p:sldId id="303" r:id="rId12"/>
    <p:sldId id="305" r:id="rId13"/>
    <p:sldId id="1437" r:id="rId14"/>
    <p:sldId id="306" r:id="rId15"/>
    <p:sldId id="308" r:id="rId16"/>
    <p:sldId id="309" r:id="rId17"/>
    <p:sldId id="310" r:id="rId18"/>
    <p:sldId id="1439" r:id="rId19"/>
    <p:sldId id="311" r:id="rId20"/>
    <p:sldId id="312" r:id="rId21"/>
    <p:sldId id="316" r:id="rId22"/>
    <p:sldId id="313" r:id="rId23"/>
    <p:sldId id="1442" r:id="rId24"/>
    <p:sldId id="1443" r:id="rId25"/>
    <p:sldId id="1440" r:id="rId26"/>
    <p:sldId id="1445" r:id="rId27"/>
    <p:sldId id="1444" r:id="rId28"/>
    <p:sldId id="1446" r:id="rId29"/>
    <p:sldId id="1447" r:id="rId30"/>
    <p:sldId id="144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8" autoAdjust="0"/>
    <p:restoredTop sz="67930" autoAdjust="0"/>
  </p:normalViewPr>
  <p:slideViewPr>
    <p:cSldViewPr snapToGrid="0">
      <p:cViewPr varScale="1">
        <p:scale>
          <a:sx n="83" d="100"/>
          <a:sy n="83" d="100"/>
        </p:scale>
        <p:origin x="14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9EA63-885E-4EB8-879A-527FAB29153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35AAC-7370-4508-BC8A-A8FB0FFD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55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1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CN: common name; person/organization/device name. E.g., Microsoft Identity Verification Root CA 2020</a:t>
            </a:r>
          </a:p>
          <a:p>
            <a:r>
              <a:rPr lang="en-US" dirty="0"/>
              <a:t>O: organization; company/organization name. E.g., Microsoft Corporation</a:t>
            </a:r>
          </a:p>
          <a:p>
            <a:r>
              <a:rPr lang="en-US" dirty="0"/>
              <a:t>C: country; two-letter country code. E.g., 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1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7124-CFCF-F165-A9C6-AEE9A0E6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B18ED-C3A7-7BF5-A2D9-D42A03582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89997-34D4-878B-07AF-2B2D32705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baseline="0" dirty="0"/>
              <a:t>1. An Actual X.509 certificate contains binary data. Therefore when stored in files, X.509 certificates use encoders.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aseline="0" dirty="0"/>
              <a:t>2. A common scheme used here is Base64 encoder and are usually saved in a file with PEM extension (Privacy Enhanced Mail)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baseline="0" dirty="0"/>
              <a:t>3. We can copy and paste the content into a file (</a:t>
            </a:r>
            <a:r>
              <a:rPr lang="en-US" baseline="0" dirty="0" err="1"/>
              <a:t>google_chain.pem</a:t>
            </a:r>
            <a:r>
              <a:rPr lang="en-US" baseline="0" dirty="0"/>
              <a:t>) and run another </a:t>
            </a:r>
            <a:r>
              <a:rPr lang="en-US" i="1" baseline="0" dirty="0"/>
              <a:t>openssl</a:t>
            </a:r>
            <a:r>
              <a:rPr lang="en-US" baseline="0" dirty="0"/>
              <a:t> command to decode it. </a:t>
            </a:r>
          </a:p>
          <a:p>
            <a:r>
              <a:rPr lang="en-US" dirty="0"/>
              <a:t>4. What's actually IN a certificate?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Version - Serial Number (unique identifier)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Signature Algorithm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Issuer (who signed it)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Validity Period (Not Before, Not After)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Subject (who it's for - domain name, organization)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Subject Public Key Info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Extensions (Key Usage, Subject Alternative Names, etc.)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Signature</a:t>
            </a:r>
          </a:p>
          <a:p>
            <a:endParaRPr lang="en-US" dirty="0"/>
          </a:p>
          <a:p>
            <a:r>
              <a:rPr lang="en-US" dirty="0"/>
              <a:t>5. When your browser connects to https://www.google.com: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Server sends its certificate + intermediate certificates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checks certificate validity period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certificate chain up to trusted root CA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checks certificate hasn't been revoked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domain name matches certificate Subject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signature on each certificate in chain</a:t>
            </a:r>
          </a:p>
          <a:p>
            <a:endParaRPr lang="en-US" dirty="0"/>
          </a:p>
          <a:p>
            <a:r>
              <a:rPr lang="en-US" dirty="0"/>
              <a:t>CN: common name; person/organization/device name. E.g., Microsoft Identity Verification Root CA 2020</a:t>
            </a:r>
          </a:p>
          <a:p>
            <a:r>
              <a:rPr lang="en-US" dirty="0"/>
              <a:t>O: organization; company/organization name. E.g., Microsoft Corporation</a:t>
            </a:r>
          </a:p>
          <a:p>
            <a:r>
              <a:rPr lang="en-US" dirty="0"/>
              <a:t>C: country; two-letter country code. E.g., 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D941-549F-2835-CB35-F52B67CB4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76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C807-A102-3257-FD05-3AEF364E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37DB5-F747-0ED6-6D55-704A3C14D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0200E-7C73-8BE6-D030-14DAD7179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When your browser connects to https://www.google.com: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Server sends its certificate + intermediate certificates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checks certificate validity period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certificate chain up to trusted root CA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checks certificate hasn't been revoked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domain name matches certificate Subject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Browser verifies signature on each certificate in chain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CN: common name; person/organization/device name. E.g., Microsoft Identity Verification Root CA 2020</a:t>
            </a:r>
          </a:p>
          <a:p>
            <a:r>
              <a:rPr lang="en-US" dirty="0"/>
              <a:t>O: organization; company/organization name. E.g., Microsoft Corporation</a:t>
            </a:r>
          </a:p>
          <a:p>
            <a:r>
              <a:rPr lang="en-US" dirty="0"/>
              <a:t>C: country; two-letter country code. E.g., 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A0B9C-9571-85E7-D86E-AAC9BAAF3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61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E179-C03E-349B-9B4D-5F19D82B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FC2F4-2A96-31F3-D9CF-D91B7AE19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339CC-F700-9111-6595-C9F1A0A70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PKI isn't just certificates. It's an entire ecosystem. </a:t>
            </a:r>
          </a:p>
          <a:p>
            <a:endParaRPr lang="en-US" dirty="0"/>
          </a:p>
          <a:p>
            <a:r>
              <a:rPr lang="en-US" dirty="0"/>
              <a:t>Think of it like a government's system for issuing driver's licenses: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Authority is like the DMV: issue certificates/licenses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Registration Authority verifies identities/E.g.,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Security Administration (SSA) does background check and issues SSNs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Repository is like a public directory. Anyone can look up certificates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End Entities (e.g., email clients, web servers, individual users) are everyone using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00EC7-3166-745D-6AD4-A23FE54A1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46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PKI isn't just certificates. It's an entire ecosystem. </a:t>
            </a:r>
          </a:p>
          <a:p>
            <a:endParaRPr lang="en-US" dirty="0"/>
          </a:p>
          <a:p>
            <a:r>
              <a:rPr lang="en-US" dirty="0"/>
              <a:t>Think of it like a government's system for issuing driver's licenses: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Authority is like the DMV: issue certificates/licenses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Registration Authority verifies identities/E.g.,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Security Administration (SSA) does background check and issues SSNs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Repository is like a public directory. Anyone can look up certificates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End Entities (e.g., email clients, web servers, individual users) are everyone using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73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986C-F3B4-2FA7-12E7-D90D5591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21FCF-069F-4253-BCC1-1DE114B1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2CC3B-59FC-2A3F-B820-81CB99951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PKI isn't just certificates. It's an entire ecosystem. </a:t>
            </a:r>
          </a:p>
          <a:p>
            <a:endParaRPr lang="en-US" dirty="0"/>
          </a:p>
          <a:p>
            <a:r>
              <a:rPr lang="en-US" dirty="0"/>
              <a:t>Think of it like a government's system for issuing driver's licenses: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Authority is like the DMV: issue certificates/licenses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Registration Authority verifies identities/E.g.,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Security Administration (SSA) does background check and issues SSNs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Repository is like a public directory. Anyone can look up certificates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End Entities (e.g., email clients, web servers, individual users) are everyone using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5AD6C-C4B8-A0F1-3723-02D3C50D8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22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059C-3A54-B48E-D8D4-BEAA0707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72C72-9865-DE08-CA45-F85BDE3AB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A1FAB-D5EC-9510-AA21-BE62A066E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PKI isn't just certificates. It's an entire ecosystem. </a:t>
            </a:r>
          </a:p>
          <a:p>
            <a:endParaRPr lang="en-US" dirty="0"/>
          </a:p>
          <a:p>
            <a:r>
              <a:rPr lang="en-US" dirty="0"/>
              <a:t>Think of it like a government's system for issuing driver's licenses: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Authority is like the DMV: issue certificates/licenses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Registration Authority verifies identities/E.g.,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Security Administration (SSA) does background check and issues SSNs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Repository is like a public directory. Anyone can look up certificates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End Entities (e.g., email clients, web servers, individual users) are everyone using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D9064-2C9C-FEDC-DCB1-243EDF4D3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33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84A6-D96A-53C5-1426-17EA9A7B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FD029-410C-F20C-355F-33A34A7CF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7ABEA-C02F-C4E0-22E3-B9409F284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PKI isn't just certificates. It's an entire ecosystem. </a:t>
            </a:r>
          </a:p>
          <a:p>
            <a:endParaRPr lang="en-US" dirty="0"/>
          </a:p>
          <a:p>
            <a:r>
              <a:rPr lang="en-US" dirty="0"/>
              <a:t>Think of it like a government's system for issuing driver's licenses: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Authority is like the DMV: issue certificates/licenses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Registration Authority verifies identities/E.g., the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Security Administration (SSA) does background check and issues SSNs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Certificate Repository is like a public directory. Anyone can look up certificates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End Entities (e.g., email clients, web servers, individual users) are everyone using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ABAA3-E33D-D827-5840-621B970BC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5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9AA-7597-27E6-4B3B-165FD381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A250F-C38B-8C9E-643A-C388525BB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40C6-A366-34E5-0395-C5FC04FA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092B-0D35-CF9C-BFD1-3C0A424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963-FAD9-7042-D3F6-1D4BFA6D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38FB-4672-84D6-9ECF-2582DAE6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A606-632B-0D99-676A-75C74652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C205-B633-6210-6B52-CF27907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BA43-1D84-ECFF-F89C-11FF7AFF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79E1-62C4-76DF-524D-8AFF332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A5D0-102E-A4AB-E12C-D0EF800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E2F9-7F11-DA53-9500-714C9CD5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758D-FDCC-1CBC-A227-8C629BDD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4290-B339-3A27-B1A2-360BA54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E67AE-D729-DFD1-9FCC-D337996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1D9D-86AA-1DA0-6F52-CE87D96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0483-B2C1-19A3-C03D-41171D726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85F0-0D4F-659B-B6E8-07E9ED34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A22F-64C6-7444-0C21-99A54DB9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4B0F6-B65C-5EF3-2CE5-CF72001D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BF5-7203-64E6-7BB9-0B183F3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6B1-44FB-BE0C-62B6-DF2C89F1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3B-3EAC-2D57-6B7D-C428083F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ED756-5EC1-9E6E-2BC5-3BD2EF61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FB6D-80D4-9AFB-52E5-49F352291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248CB-1C8C-92EB-376F-3A8B02393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DB157-3765-A591-B7E4-81438D2B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3FA94-EC48-6267-BCB9-CE7CCD34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736C-66C9-366B-DBBA-FED46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6F1-C4B2-D0B2-7AFB-9F4D5554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85612-43F3-6319-EA18-DBF8D841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4F2A-69D3-2069-9FD6-109D75C7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43D0-3C88-8FF5-00FC-63CCF3E5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0ED8-2BC1-E058-3233-2CB55A6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D15B-52EA-8639-D650-17638EDA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276E-2FF3-F7DF-E56A-D8557FF8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F77B-DF7F-1039-2FDE-3CAA47CF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C513-2670-001B-1398-A757B74A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7C18-8AFD-76F8-5A13-D63EF126C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F9F44-C0C9-762C-D3B7-8E9A4E67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3F5E-A0F4-990A-3099-D31971E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AA0A-0BFF-05A3-C830-DE2AA69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785E-4CD0-1356-B10D-89EB55A9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B4AD-E4CD-FB43-7A4B-5DAD73EB1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929ED-DDDC-9046-162C-D396D512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0AC9-AF9C-496B-BFCB-2E47C55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D13E-3922-C306-EBBA-33294AE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149A6-CDA4-763B-5509-DA48E0C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605-88D4-0F9C-4F60-310EE2E3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E074-2B08-5145-AF9B-B16BFC60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F8A8-94C3-7EA4-D45D-28A7909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A773-C714-281A-5613-9B053ED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342-3B72-1BDA-2FAE-1B9F8EE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6272-B555-A18A-4E91-55A0DA4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AACA-DE2A-45E4-D950-C827C61C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5816-E40E-64C9-39E4-531EA142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2264-0757-4D19-477B-631B634B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A300-0194-C143-7967-600097F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A8022-576D-E637-28F0-3184AB87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BE467-9BFE-6AAE-001A-754EE5BD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8178-8C14-256C-5E72-2D76BBCB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CD41-E2C3-4974-BF21-7012DD283AB9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F6E3-A01E-6FEB-F4E0-DC31DE4F9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0C8-10FC-D739-7E8D-A2939CC9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ryptographic_hash_funct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ryptographic_hash_func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igital_signatur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ubuntu.com/server/explanation/crypto/openss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oe.ed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en.wikipedia.org/wiki/Certificate_revocation_list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lobalsign.com/en" TargetMode="External"/><Relationship Id="rId5" Type="http://schemas.openxmlformats.org/officeDocument/2006/relationships/hyperlink" Target="https://letsencrypt.org/" TargetMode="External"/><Relationship Id="rId4" Type="http://schemas.openxmlformats.org/officeDocument/2006/relationships/hyperlink" Target="https://www.digicert.com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tsencrypt.org/getting-started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t.sh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hyperlink" Target="https://en.wikipedia.org/wiki/Online_Certificate_Status_Protoc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325" y="3602039"/>
            <a:ext cx="971135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11, Lecture 1: Digital Signatures, Certificates, and PKI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DA46-17B5-C06A-14FB-592851FD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9E-F145-8272-AC79-21A51531575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41F881-9683-06E8-DC86-39A923184FA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Digital Signatures and RSA Signature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Certificates and Chain of Trust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Key Infrastructure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9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318;p38">
            <a:extLst>
              <a:ext uri="{FF2B5EF4-FFF2-40B4-BE49-F238E27FC236}">
                <a16:creationId xmlns:a16="http://schemas.microsoft.com/office/drawing/2014/main" id="{B9535BDF-186D-9491-E704-8269ADB329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536256"/>
              </p:ext>
            </p:extLst>
          </p:nvPr>
        </p:nvGraphicFramePr>
        <p:xfrm>
          <a:off x="838199" y="1702807"/>
          <a:ext cx="10515599" cy="33522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46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 dirty="0"/>
                        <a:t>Symmetric-key</a:t>
                      </a:r>
                      <a:endParaRPr sz="22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/>
                        <a:t>Asymmetric-key</a:t>
                      </a:r>
                      <a:endParaRPr sz="2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62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/>
                        <a:t>Confidentiality</a:t>
                      </a:r>
                      <a:endParaRPr sz="2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2200" dirty="0"/>
                        <a:t>One-time pads</a:t>
                      </a:r>
                      <a:endParaRPr sz="2200" dirty="0"/>
                    </a:p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2200" dirty="0"/>
                        <a:t>Block ciphers with chaining modes (e.g. AES-CBC)</a:t>
                      </a:r>
                      <a:endParaRPr sz="2200" dirty="0"/>
                    </a:p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" sz="2200" dirty="0">
                          <a:solidFill>
                            <a:schemeClr val="dk1"/>
                          </a:solidFill>
                        </a:rPr>
                        <a:t>Stream ciphers</a:t>
                      </a:r>
                      <a:endParaRPr sz="2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2200"/>
                        <a:t>RSA encryption</a:t>
                      </a:r>
                      <a:endParaRPr sz="2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69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/>
                        <a:t>Integrity,</a:t>
                      </a:r>
                      <a:br>
                        <a:rPr lang="en" sz="2200" b="1"/>
                      </a:br>
                      <a:r>
                        <a:rPr lang="en" sz="2200" b="1"/>
                        <a:t>Authentication</a:t>
                      </a:r>
                      <a:endParaRPr sz="2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2200" dirty="0"/>
                        <a:t>MACs (e.g. HMAC)</a:t>
                      </a:r>
                      <a:endParaRPr sz="2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" sz="2200" dirty="0">
                          <a:solidFill>
                            <a:srgbClr val="C00000"/>
                          </a:solidFill>
                        </a:rPr>
                        <a:t>Digital signatures (e.g. RSA signatures)</a:t>
                      </a:r>
                      <a:endParaRPr sz="2200" dirty="0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Google Shape;319;p38">
            <a:extLst>
              <a:ext uri="{FF2B5EF4-FFF2-40B4-BE49-F238E27FC236}">
                <a16:creationId xmlns:a16="http://schemas.microsoft.com/office/drawing/2014/main" id="{2398151F-5A4C-9DD6-AD8C-DD5C547FA2DF}"/>
              </a:ext>
            </a:extLst>
          </p:cNvPr>
          <p:cNvSpPr txBox="1">
            <a:spLocks/>
          </p:cNvSpPr>
          <p:nvPr/>
        </p:nvSpPr>
        <p:spPr>
          <a:xfrm>
            <a:off x="1241779" y="5310469"/>
            <a:ext cx="4788086" cy="143924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342900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n-US" sz="2000" dirty="0"/>
              <a:t>Hash functions</a:t>
            </a:r>
          </a:p>
          <a:p>
            <a:pPr marL="469900" indent="-342900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n-US" sz="2000" dirty="0"/>
              <a:t>Pseudorandom number generators</a:t>
            </a:r>
          </a:p>
          <a:p>
            <a:pPr marL="469900" indent="-342900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n-US" sz="2000" dirty="0"/>
              <a:t>Public key exchange (e.g. Diffie-Hellman)</a:t>
            </a:r>
          </a:p>
        </p:txBody>
      </p:sp>
      <p:sp>
        <p:nvSpPr>
          <p:cNvPr id="5" name="Google Shape;320;p38">
            <a:extLst>
              <a:ext uri="{FF2B5EF4-FFF2-40B4-BE49-F238E27FC236}">
                <a16:creationId xmlns:a16="http://schemas.microsoft.com/office/drawing/2014/main" id="{D0CFD1B1-49D8-6274-36FE-3EDA96D52DF3}"/>
              </a:ext>
            </a:extLst>
          </p:cNvPr>
          <p:cNvSpPr txBox="1"/>
          <p:nvPr/>
        </p:nvSpPr>
        <p:spPr>
          <a:xfrm>
            <a:off x="6396210" y="5760801"/>
            <a:ext cx="4422750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30200">
              <a:lnSpc>
                <a:spcPct val="115000"/>
              </a:lnSpc>
              <a:buSzPts val="1600"/>
              <a:buFont typeface="Arial" panose="020B0604020202020204" pitchFamily="34" charset="0"/>
              <a:buChar char="●"/>
            </a:pPr>
            <a:r>
              <a:rPr lang="en" sz="2200" dirty="0">
                <a:solidFill>
                  <a:srgbClr val="C00000"/>
                </a:solidFill>
              </a:rPr>
              <a:t>Key management (certificates)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A4936E-DC87-10A5-2F76-317BFF058CC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16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Cryptography Roadmap</a:t>
            </a:r>
          </a:p>
        </p:txBody>
      </p:sp>
    </p:spTree>
    <p:extLst>
      <p:ext uri="{BB962C8B-B14F-4D97-AF65-F5344CB8AC3E}">
        <p14:creationId xmlns:p14="http://schemas.microsoft.com/office/powerpoint/2010/main" val="302728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2BE88-671C-BDDD-C851-5A425BC7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382F-EE67-CF4E-4488-E42BDDA4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20880"/>
            <a:ext cx="11201400" cy="89255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Last Week: Strawman Key Exchange and Data Transfer Protocol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3E1B-6E35-ABBE-1AC2-CB90E98B949C}"/>
              </a:ext>
            </a:extLst>
          </p:cNvPr>
          <p:cNvSpPr txBox="1"/>
          <p:nvPr/>
        </p:nvSpPr>
        <p:spPr>
          <a:xfrm>
            <a:off x="609601" y="1498601"/>
            <a:ext cx="1125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Alice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2D0D4-3C53-3063-1E36-5571B8290C1D}"/>
              </a:ext>
            </a:extLst>
          </p:cNvPr>
          <p:cNvSpPr txBox="1"/>
          <p:nvPr/>
        </p:nvSpPr>
        <p:spPr>
          <a:xfrm>
            <a:off x="10160001" y="1498601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635680-3663-6F7A-5E1A-DBFE5E188C0A}"/>
                  </a:ext>
                </a:extLst>
              </p:cNvPr>
              <p:cNvSpPr txBox="1"/>
              <p:nvPr/>
            </p:nvSpPr>
            <p:spPr>
              <a:xfrm>
                <a:off x="609600" y="2209801"/>
                <a:ext cx="35076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⟵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𝐾𝑒𝑦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635680-3663-6F7A-5E1A-DBFE5E188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09801"/>
                <a:ext cx="3507692" cy="461665"/>
              </a:xfrm>
              <a:prstGeom prst="rect">
                <a:avLst/>
              </a:prstGeom>
              <a:blipFill>
                <a:blip r:embed="rId2"/>
                <a:stretch>
                  <a:fillRect r="-174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4476764-1B2C-6CFD-5D9E-DC774983BEA6}"/>
              </a:ext>
            </a:extLst>
          </p:cNvPr>
          <p:cNvGrpSpPr/>
          <p:nvPr/>
        </p:nvGrpSpPr>
        <p:grpSpPr>
          <a:xfrm>
            <a:off x="1422400" y="2360543"/>
            <a:ext cx="9042400" cy="609600"/>
            <a:chOff x="1066800" y="2190750"/>
            <a:chExt cx="6781800" cy="4572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5AA765F-979F-8B7D-D692-D1FA2A285367}"/>
                </a:ext>
              </a:extLst>
            </p:cNvPr>
            <p:cNvCxnSpPr/>
            <p:nvPr/>
          </p:nvCxnSpPr>
          <p:spPr>
            <a:xfrm>
              <a:off x="1066800" y="2647950"/>
              <a:ext cx="6781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6B728A-1FF3-4C72-7B89-3D54819E6285}"/>
                    </a:ext>
                  </a:extLst>
                </p:cNvPr>
                <p:cNvSpPr txBox="1"/>
                <p:nvPr/>
              </p:nvSpPr>
              <p:spPr>
                <a:xfrm>
                  <a:off x="3505200" y="2190750"/>
                  <a:ext cx="1381820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“Alice”,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26B728A-1FF3-4C72-7B89-3D54819E6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2190750"/>
                  <a:ext cx="1381820" cy="346249"/>
                </a:xfrm>
                <a:prstGeom prst="rect">
                  <a:avLst/>
                </a:prstGeom>
                <a:blipFill>
                  <a:blip r:embed="rId3"/>
                  <a:stretch>
                    <a:fillRect l="-5298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7501C8-BE1C-3817-BBF2-F3D26AFA3AA4}"/>
                  </a:ext>
                </a:extLst>
              </p:cNvPr>
              <p:cNvSpPr txBox="1"/>
              <p:nvPr/>
            </p:nvSpPr>
            <p:spPr>
              <a:xfrm>
                <a:off x="9455259" y="2934228"/>
                <a:ext cx="2325124" cy="119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choose random </a:t>
                </a:r>
              </a:p>
              <a:p>
                <a:pPr algn="ctr"/>
                <a:r>
                  <a:rPr lang="en-US" sz="2400" dirty="0"/>
                  <a:t>symmetric key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∈ {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i="1" baseline="30000" dirty="0"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24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7501C8-BE1C-3817-BBF2-F3D26AFA3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259" y="2934228"/>
                <a:ext cx="2325124" cy="1192314"/>
              </a:xfrm>
              <a:prstGeom prst="rect">
                <a:avLst/>
              </a:prstGeom>
              <a:blipFill>
                <a:blip r:embed="rId4"/>
                <a:stretch>
                  <a:fillRect l="-3675" t="-4082" r="-367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8FED16C-E157-B5C7-6DAD-0DD3E36771D7}"/>
              </a:ext>
            </a:extLst>
          </p:cNvPr>
          <p:cNvGrpSpPr/>
          <p:nvPr/>
        </p:nvGrpSpPr>
        <p:grpSpPr>
          <a:xfrm>
            <a:off x="1422400" y="3769215"/>
            <a:ext cx="9042400" cy="461665"/>
            <a:chOff x="1422400" y="4498184"/>
            <a:chExt cx="9042400" cy="46166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8946E64-8319-47BF-FC65-BBD90467AA77}"/>
                </a:ext>
              </a:extLst>
            </p:cNvPr>
            <p:cNvCxnSpPr/>
            <p:nvPr/>
          </p:nvCxnSpPr>
          <p:spPr>
            <a:xfrm flipH="1">
              <a:off x="1422400" y="4959849"/>
              <a:ext cx="9042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AB41280-BCF3-3704-B925-F84960C07104}"/>
                    </a:ext>
                  </a:extLst>
                </p:cNvPr>
                <p:cNvSpPr txBox="1"/>
                <p:nvPr/>
              </p:nvSpPr>
              <p:spPr>
                <a:xfrm>
                  <a:off x="4673599" y="4498184"/>
                  <a:ext cx="32674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“Bob”,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err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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sz="2400" b="0" i="1" dirty="0" err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𝑛𝑐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a14:m>
                  <a:endParaRPr 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AB41280-BCF3-3704-B925-F84960C07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599" y="4498184"/>
                  <a:ext cx="326743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985" t="-10526" r="-560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FD6013-1833-CDBA-88CF-45749D5FE18C}"/>
                  </a:ext>
                </a:extLst>
              </p:cNvPr>
              <p:cNvSpPr txBox="1"/>
              <p:nvPr/>
            </p:nvSpPr>
            <p:spPr>
              <a:xfrm>
                <a:off x="770652" y="4222270"/>
                <a:ext cx="27236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𝐷𝑒𝑐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FD6013-1833-CDBA-88CF-45749D5FE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52" y="4222270"/>
                <a:ext cx="2723662" cy="461665"/>
              </a:xfrm>
              <a:prstGeom prst="rect">
                <a:avLst/>
              </a:prstGeom>
              <a:blipFill>
                <a:blip r:embed="rId6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E415E2-B7A4-B74B-F09E-47205AB9FFB1}"/>
              </a:ext>
            </a:extLst>
          </p:cNvPr>
          <p:cNvCxnSpPr>
            <a:cxnSpLocks/>
          </p:cNvCxnSpPr>
          <p:nvPr/>
        </p:nvCxnSpPr>
        <p:spPr>
          <a:xfrm>
            <a:off x="152400" y="4934737"/>
            <a:ext cx="11887200" cy="0"/>
          </a:xfrm>
          <a:prstGeom prst="line">
            <a:avLst/>
          </a:prstGeom>
          <a:ln w="571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28983-0BA4-B9EB-74EE-DA10649431DC}"/>
              </a:ext>
            </a:extLst>
          </p:cNvPr>
          <p:cNvSpPr txBox="1"/>
          <p:nvPr/>
        </p:nvSpPr>
        <p:spPr>
          <a:xfrm>
            <a:off x="0" y="3118079"/>
            <a:ext cx="36314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00000"/>
                </a:solidFill>
              </a:rPr>
              <a:t>Key exchange</a:t>
            </a:r>
          </a:p>
          <a:p>
            <a:pPr algn="ctr"/>
            <a:r>
              <a:rPr lang="en-US" sz="2600" dirty="0">
                <a:solidFill>
                  <a:srgbClr val="C00000"/>
                </a:solidFill>
              </a:rPr>
              <a:t>(asymmetric, e.g., RSA)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FFD0A-6BE2-75BF-6F18-D493D0C510C2}"/>
              </a:ext>
            </a:extLst>
          </p:cNvPr>
          <p:cNvSpPr txBox="1"/>
          <p:nvPr/>
        </p:nvSpPr>
        <p:spPr>
          <a:xfrm>
            <a:off x="0" y="5925068"/>
            <a:ext cx="39123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C00000"/>
                </a:solidFill>
              </a:rPr>
              <a:t>Data encryption</a:t>
            </a:r>
          </a:p>
          <a:p>
            <a:pPr algn="ctr"/>
            <a:r>
              <a:rPr lang="en-US" sz="2600" dirty="0">
                <a:solidFill>
                  <a:srgbClr val="C00000"/>
                </a:solidFill>
              </a:rPr>
              <a:t>(symmetric, e.g., AES)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863DE7-750F-F6E6-0006-3FD5A57C8629}"/>
                  </a:ext>
                </a:extLst>
              </p:cNvPr>
              <p:cNvSpPr txBox="1"/>
              <p:nvPr/>
            </p:nvSpPr>
            <p:spPr>
              <a:xfrm>
                <a:off x="773459" y="5145600"/>
                <a:ext cx="192915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/>
                  <a:t>message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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𝐸𝑛𝑐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863DE7-750F-F6E6-0006-3FD5A57C8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59" y="5145600"/>
                <a:ext cx="1929154" cy="830997"/>
              </a:xfrm>
              <a:prstGeom prst="rect">
                <a:avLst/>
              </a:prstGeom>
              <a:blipFill>
                <a:blip r:embed="rId7"/>
                <a:stretch>
                  <a:fillRect t="-5882" r="-2848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3E0FE3-DF77-DF2A-ABC7-E3A394551D29}"/>
              </a:ext>
            </a:extLst>
          </p:cNvPr>
          <p:cNvCxnSpPr/>
          <p:nvPr/>
        </p:nvCxnSpPr>
        <p:spPr>
          <a:xfrm>
            <a:off x="1422400" y="5970532"/>
            <a:ext cx="9042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DC2701-C688-3B22-912B-66199B57D8E3}"/>
                  </a:ext>
                </a:extLst>
              </p:cNvPr>
              <p:cNvSpPr txBox="1"/>
              <p:nvPr/>
            </p:nvSpPr>
            <p:spPr>
              <a:xfrm>
                <a:off x="9653240" y="5486135"/>
                <a:ext cx="2305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𝐷𝑒𝑐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c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DC2701-C688-3B22-912B-66199B57D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240" y="5486135"/>
                <a:ext cx="2305805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17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002" y="117779"/>
            <a:ext cx="10515600" cy="1151623"/>
          </a:xfrm>
        </p:spPr>
        <p:txBody>
          <a:bodyPr>
            <a:normAutofit fontScale="90000"/>
          </a:bodyPr>
          <a:lstStyle/>
          <a:p>
            <a:r>
              <a:rPr lang="en-US" dirty="0"/>
              <a:t>Last Week: MITM Targeting the Strawman Key Exchange and Data Transfer Protocol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52836" y="1577440"/>
            <a:ext cx="10477932" cy="1547561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2200" dirty="0"/>
              <a:t>The above protocol is insecure against </a:t>
            </a:r>
            <a:r>
              <a:rPr lang="en-US" sz="2200" b="1" dirty="0">
                <a:solidFill>
                  <a:srgbClr val="C00000"/>
                </a:solidFill>
              </a:rPr>
              <a:t>MITM</a:t>
            </a:r>
            <a:r>
              <a:rPr lang="en-US" sz="2200" dirty="0"/>
              <a:t> attacks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00000"/>
                </a:solidFill>
              </a:rPr>
              <a:t>Root cause: </a:t>
            </a:r>
            <a:r>
              <a:rPr lang="en-US" sz="2200" dirty="0"/>
              <a:t>Bob has no way to tell the message is from Alice or Mallory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00000"/>
                </a:solidFill>
              </a:rPr>
              <a:t>Solution: </a:t>
            </a:r>
            <a:r>
              <a:rPr lang="en-US" sz="2200" dirty="0"/>
              <a:t>Find a way to verify the integrity &amp; authenticity of the received information</a:t>
            </a:r>
          </a:p>
          <a:p>
            <a:pPr marL="0" indent="0">
              <a:spcAft>
                <a:spcPts val="600"/>
              </a:spcAft>
              <a:buNone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DC9273-C6A2-3540-58A1-E1B14EA0A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32" y="3273048"/>
            <a:ext cx="9974669" cy="33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6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A414-7F37-554E-9A3A-AE69C4B7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325"/>
            <a:ext cx="10515600" cy="961257"/>
          </a:xfrm>
        </p:spPr>
        <p:txBody>
          <a:bodyPr/>
          <a:lstStyle/>
          <a:p>
            <a:r>
              <a:rPr lang="en" dirty="0"/>
              <a:t>Digital Signatures</a:t>
            </a:r>
            <a:endParaRPr lang="en-US" dirty="0"/>
          </a:p>
        </p:txBody>
      </p:sp>
      <p:sp>
        <p:nvSpPr>
          <p:cNvPr id="4" name="Google Shape;101;p20">
            <a:extLst>
              <a:ext uri="{FF2B5EF4-FFF2-40B4-BE49-F238E27FC236}">
                <a16:creationId xmlns:a16="http://schemas.microsoft.com/office/drawing/2014/main" id="{09FCA384-5A11-9853-C6A6-FD1EA2833B26}"/>
              </a:ext>
            </a:extLst>
          </p:cNvPr>
          <p:cNvSpPr txBox="1">
            <a:spLocks/>
          </p:cNvSpPr>
          <p:nvPr/>
        </p:nvSpPr>
        <p:spPr>
          <a:xfrm>
            <a:off x="732273" y="1207582"/>
            <a:ext cx="10727453" cy="356538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Digital signatures are the </a:t>
            </a:r>
            <a:r>
              <a:rPr lang="en-US" b="1" i="1" dirty="0"/>
              <a:t>asymmetric way </a:t>
            </a:r>
            <a:r>
              <a:rPr lang="en-US" dirty="0"/>
              <a:t>of providing </a:t>
            </a:r>
            <a:r>
              <a:rPr lang="en-US" dirty="0">
                <a:solidFill>
                  <a:srgbClr val="C00000"/>
                </a:solidFill>
              </a:rPr>
              <a:t>integrity and authenticity </a:t>
            </a:r>
            <a:r>
              <a:rPr lang="en-US" dirty="0"/>
              <a:t>to data</a:t>
            </a:r>
          </a:p>
          <a:p>
            <a:r>
              <a:rPr lang="en-US" dirty="0"/>
              <a:t>Assume that Alice and Bob can communicate public keys without Mallory changing them</a:t>
            </a:r>
          </a:p>
          <a:p>
            <a:pPr lvl="1"/>
            <a:r>
              <a:rPr lang="en-US" dirty="0"/>
              <a:t>We will see how to fix this limitation later using certificates</a:t>
            </a:r>
          </a:p>
          <a:p>
            <a:r>
              <a:rPr lang="en-US" dirty="0"/>
              <a:t>Only the owner of the private key can </a:t>
            </a:r>
            <a:r>
              <a:rPr lang="en-US" dirty="0">
                <a:solidFill>
                  <a:srgbClr val="C00000"/>
                </a:solidFill>
              </a:rPr>
              <a:t>sign messages </a:t>
            </a:r>
            <a:r>
              <a:rPr lang="en-US" dirty="0"/>
              <a:t>with the private key</a:t>
            </a:r>
          </a:p>
          <a:p>
            <a:r>
              <a:rPr lang="en-US" dirty="0"/>
              <a:t>Everybody can </a:t>
            </a:r>
            <a:r>
              <a:rPr lang="en-US" dirty="0">
                <a:solidFill>
                  <a:srgbClr val="C00000"/>
                </a:solidFill>
              </a:rPr>
              <a:t>verify the signature </a:t>
            </a:r>
            <a:r>
              <a:rPr lang="en-US" dirty="0"/>
              <a:t>with the public key</a:t>
            </a:r>
          </a:p>
        </p:txBody>
      </p:sp>
      <p:pic>
        <p:nvPicPr>
          <p:cNvPr id="5" name="Google Shape;103;p20">
            <a:extLst>
              <a:ext uri="{FF2B5EF4-FFF2-40B4-BE49-F238E27FC236}">
                <a16:creationId xmlns:a16="http://schemas.microsoft.com/office/drawing/2014/main" id="{3988C236-62F7-4A43-9539-30F1FD7500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08390" y="4888900"/>
            <a:ext cx="1613150" cy="16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4;p20">
            <a:extLst>
              <a:ext uri="{FF2B5EF4-FFF2-40B4-BE49-F238E27FC236}">
                <a16:creationId xmlns:a16="http://schemas.microsoft.com/office/drawing/2014/main" id="{64F9C143-CFC6-893E-54AC-05059DD2A5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715" y="4888900"/>
            <a:ext cx="2164300" cy="18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5;p20">
            <a:extLst>
              <a:ext uri="{FF2B5EF4-FFF2-40B4-BE49-F238E27FC236}">
                <a16:creationId xmlns:a16="http://schemas.microsoft.com/office/drawing/2014/main" id="{A5FDB4DA-FC29-0E29-1070-339F756495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4265" y="4888900"/>
            <a:ext cx="1798800" cy="1969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476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9D06-3B2D-C3B8-403F-5DF19599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966"/>
            <a:ext cx="10515600" cy="870822"/>
          </a:xfrm>
        </p:spPr>
        <p:txBody>
          <a:bodyPr/>
          <a:lstStyle/>
          <a:p>
            <a:r>
              <a:rPr lang="en" dirty="0"/>
              <a:t>Digital Signatures: Definition</a:t>
            </a:r>
            <a:endParaRPr lang="en-US" dirty="0"/>
          </a:p>
        </p:txBody>
      </p:sp>
      <p:sp>
        <p:nvSpPr>
          <p:cNvPr id="4" name="Google Shape;111;p21">
            <a:extLst>
              <a:ext uri="{FF2B5EF4-FFF2-40B4-BE49-F238E27FC236}">
                <a16:creationId xmlns:a16="http://schemas.microsoft.com/office/drawing/2014/main" id="{4F27E47F-1F66-523A-40F9-D896258CC66F}"/>
              </a:ext>
            </a:extLst>
          </p:cNvPr>
          <p:cNvSpPr txBox="1">
            <a:spLocks/>
          </p:cNvSpPr>
          <p:nvPr/>
        </p:nvSpPr>
        <p:spPr>
          <a:xfrm>
            <a:off x="666959" y="1447902"/>
            <a:ext cx="10858081" cy="50734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Three parts: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i="1" dirty="0" err="1">
                <a:solidFill>
                  <a:srgbClr val="C00000"/>
                </a:solidFill>
              </a:rPr>
              <a:t>KeyGen</a:t>
            </a:r>
            <a:r>
              <a:rPr lang="en-US" b="1" i="1" dirty="0">
                <a:solidFill>
                  <a:srgbClr val="C00000"/>
                </a:solidFill>
              </a:rPr>
              <a:t>() </a:t>
            </a:r>
            <a:r>
              <a:rPr lang="en-US" dirty="0"/>
              <a:t>→ 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dirty="0"/>
              <a:t>: Generate a public/private keypair, where </a:t>
            </a:r>
            <a:r>
              <a:rPr lang="en-US" i="1" dirty="0"/>
              <a:t>PK</a:t>
            </a:r>
            <a:r>
              <a:rPr lang="en-US" dirty="0"/>
              <a:t> is the verify (public) key, and </a:t>
            </a:r>
            <a:r>
              <a:rPr lang="en-US" i="1" dirty="0"/>
              <a:t>SK</a:t>
            </a:r>
            <a:r>
              <a:rPr lang="en-US" dirty="0"/>
              <a:t> is the signing (secret) key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i="1" dirty="0">
                <a:solidFill>
                  <a:srgbClr val="C00000"/>
                </a:solidFill>
              </a:rPr>
              <a:t>Sign(SK, M) </a:t>
            </a:r>
            <a:r>
              <a:rPr lang="en-US" dirty="0"/>
              <a:t>→ </a:t>
            </a:r>
            <a:r>
              <a:rPr lang="en-US" i="1" dirty="0"/>
              <a:t>sig</a:t>
            </a:r>
            <a:r>
              <a:rPr lang="en-US" dirty="0"/>
              <a:t>: Sign the message </a:t>
            </a:r>
            <a:r>
              <a:rPr lang="en-US" i="1" dirty="0"/>
              <a:t>M</a:t>
            </a:r>
            <a:r>
              <a:rPr lang="en-US" dirty="0"/>
              <a:t> using the signing key </a:t>
            </a:r>
            <a:r>
              <a:rPr lang="en-US" i="1" dirty="0"/>
              <a:t>SK</a:t>
            </a:r>
            <a:r>
              <a:rPr lang="en-US" dirty="0"/>
              <a:t> to produce the signature </a:t>
            </a:r>
            <a:r>
              <a:rPr lang="en-US" b="1" i="1" dirty="0"/>
              <a:t>sig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i="1" dirty="0">
                <a:solidFill>
                  <a:srgbClr val="C00000"/>
                </a:solidFill>
              </a:rPr>
              <a:t>Verify(PK, M, sig) </a:t>
            </a:r>
            <a:r>
              <a:rPr lang="en-US" dirty="0"/>
              <a:t>→ {0, 1}: Verify the signature </a:t>
            </a:r>
            <a:r>
              <a:rPr lang="en-US" i="1" dirty="0"/>
              <a:t>sig</a:t>
            </a:r>
            <a:r>
              <a:rPr lang="en-US" dirty="0"/>
              <a:t> on message </a:t>
            </a:r>
            <a:r>
              <a:rPr lang="en-US" i="1" dirty="0"/>
              <a:t>M</a:t>
            </a:r>
            <a:r>
              <a:rPr lang="en-US" dirty="0"/>
              <a:t> using the verify key </a:t>
            </a:r>
            <a:r>
              <a:rPr lang="en-US" i="1" dirty="0"/>
              <a:t>PK</a:t>
            </a:r>
            <a:r>
              <a:rPr lang="en-US" dirty="0"/>
              <a:t> and output 1 if valid and 0 if invalid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Properties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Correctness</a:t>
            </a:r>
            <a:r>
              <a:rPr lang="en-US" dirty="0"/>
              <a:t>: Verification should be successful for a signature generated over any message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Verify(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, Sign(</a:t>
            </a:r>
            <a:r>
              <a:rPr lang="en-US" i="1" dirty="0"/>
              <a:t>SK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)) = 1 for all </a:t>
            </a:r>
            <a:r>
              <a:rPr lang="en-US" i="1" dirty="0"/>
              <a:t>PK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dirty="0"/>
              <a:t> ← KeyGen() and </a:t>
            </a:r>
            <a:r>
              <a:rPr lang="en-US" i="1" dirty="0"/>
              <a:t>M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Efficiency</a:t>
            </a:r>
            <a:r>
              <a:rPr lang="en-US" dirty="0"/>
              <a:t>: Signing/verifying should be fast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Security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 EU-CPA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 (existentially unforgeable under chosen plaintext attack)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070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0878-84EC-38A4-CB60-BCB1F691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Integrity: EU-CPA</a:t>
            </a:r>
            <a:br>
              <a:rPr lang="en-US" dirty="0"/>
            </a:br>
            <a:endParaRPr lang="en-US" dirty="0"/>
          </a:p>
        </p:txBody>
      </p:sp>
      <p:sp>
        <p:nvSpPr>
          <p:cNvPr id="6" name="Google Shape;119;p22">
            <a:extLst>
              <a:ext uri="{FF2B5EF4-FFF2-40B4-BE49-F238E27FC236}">
                <a16:creationId xmlns:a16="http://schemas.microsoft.com/office/drawing/2014/main" id="{4E5A69DE-A66A-28EE-BEE3-163EE97280AD}"/>
              </a:ext>
            </a:extLst>
          </p:cNvPr>
          <p:cNvSpPr txBox="1">
            <a:spLocks/>
          </p:cNvSpPr>
          <p:nvPr/>
        </p:nvSpPr>
        <p:spPr>
          <a:xfrm>
            <a:off x="938716" y="1250906"/>
            <a:ext cx="5377115" cy="53723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Mallory may send messages to Alice and receive their tags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Eventually, Mallory creates a message-signature pair (</a:t>
            </a:r>
            <a:r>
              <a:rPr lang="en-US" i="1" dirty="0"/>
              <a:t>M'</a:t>
            </a:r>
            <a:r>
              <a:rPr lang="en-US" dirty="0"/>
              <a:t>, </a:t>
            </a:r>
            <a:r>
              <a:rPr lang="en-US" i="1" dirty="0"/>
              <a:t>sig'</a:t>
            </a:r>
            <a:r>
              <a:rPr lang="en-US" dirty="0"/>
              <a:t>)</a:t>
            </a:r>
          </a:p>
          <a:p>
            <a:pPr marL="914400" lvl="1" indent="-317500"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i="1" dirty="0"/>
              <a:t>M'</a:t>
            </a:r>
            <a:r>
              <a:rPr lang="en-US" dirty="0"/>
              <a:t> cannot be a message that Mallory requested earlier</a:t>
            </a:r>
          </a:p>
          <a:p>
            <a:pPr marL="914400" lvl="1" indent="-317500"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dirty="0"/>
              <a:t>If </a:t>
            </a:r>
            <a:r>
              <a:rPr lang="en-US" i="1" dirty="0"/>
              <a:t>sig'</a:t>
            </a:r>
            <a:r>
              <a:rPr lang="en-US" dirty="0"/>
              <a:t> is verifies with PK for </a:t>
            </a:r>
            <a:r>
              <a:rPr lang="en-US" i="1" dirty="0"/>
              <a:t>M'</a:t>
            </a:r>
            <a:r>
              <a:rPr lang="en-US" dirty="0"/>
              <a:t>, then Mallory wins. Otherwise, she loses.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A scheme is EU-CPA secure if for </a:t>
            </a:r>
            <a:r>
              <a:rPr lang="en-US" i="1" dirty="0"/>
              <a:t>all</a:t>
            </a:r>
            <a:r>
              <a:rPr lang="en-US" dirty="0"/>
              <a:t> polynomial time adversaries, the probability of winning is 0 or negligible</a:t>
            </a:r>
          </a:p>
        </p:txBody>
      </p:sp>
      <p:sp>
        <p:nvSpPr>
          <p:cNvPr id="7" name="Google Shape;120;p22">
            <a:extLst>
              <a:ext uri="{FF2B5EF4-FFF2-40B4-BE49-F238E27FC236}">
                <a16:creationId xmlns:a16="http://schemas.microsoft.com/office/drawing/2014/main" id="{6C7B2A45-7DC1-E4E4-5F61-E90E16845481}"/>
              </a:ext>
            </a:extLst>
          </p:cNvPr>
          <p:cNvSpPr/>
          <p:nvPr/>
        </p:nvSpPr>
        <p:spPr>
          <a:xfrm>
            <a:off x="7700884" y="3206265"/>
            <a:ext cx="3211500" cy="8559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121;p22">
            <a:extLst>
              <a:ext uri="{FF2B5EF4-FFF2-40B4-BE49-F238E27FC236}">
                <a16:creationId xmlns:a16="http://schemas.microsoft.com/office/drawing/2014/main" id="{74A1404C-3B5B-6B98-B469-506300F61BC3}"/>
              </a:ext>
            </a:extLst>
          </p:cNvPr>
          <p:cNvCxnSpPr/>
          <p:nvPr/>
        </p:nvCxnSpPr>
        <p:spPr>
          <a:xfrm>
            <a:off x="7753704" y="3487637"/>
            <a:ext cx="2322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22;p22">
            <a:extLst>
              <a:ext uri="{FF2B5EF4-FFF2-40B4-BE49-F238E27FC236}">
                <a16:creationId xmlns:a16="http://schemas.microsoft.com/office/drawing/2014/main" id="{8EC45A1F-2FEC-BBCD-7A31-41DD25BCF005}"/>
              </a:ext>
            </a:extLst>
          </p:cNvPr>
          <p:cNvSpPr txBox="1"/>
          <p:nvPr/>
        </p:nvSpPr>
        <p:spPr>
          <a:xfrm>
            <a:off x="7753709" y="3194121"/>
            <a:ext cx="23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>
                <a:solidFill>
                  <a:srgbClr val="000000"/>
                </a:solidFill>
              </a:rPr>
              <a:t>M</a:t>
            </a:r>
            <a:endParaRPr sz="1000" i="1"/>
          </a:p>
        </p:txBody>
      </p:sp>
      <p:cxnSp>
        <p:nvCxnSpPr>
          <p:cNvPr id="10" name="Google Shape;123;p22">
            <a:extLst>
              <a:ext uri="{FF2B5EF4-FFF2-40B4-BE49-F238E27FC236}">
                <a16:creationId xmlns:a16="http://schemas.microsoft.com/office/drawing/2014/main" id="{81C33515-43F2-2C4D-5E25-92F1127791E7}"/>
              </a:ext>
            </a:extLst>
          </p:cNvPr>
          <p:cNvCxnSpPr/>
          <p:nvPr/>
        </p:nvCxnSpPr>
        <p:spPr>
          <a:xfrm>
            <a:off x="7753696" y="3943045"/>
            <a:ext cx="2322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" name="Google Shape;124;p22">
            <a:extLst>
              <a:ext uri="{FF2B5EF4-FFF2-40B4-BE49-F238E27FC236}">
                <a16:creationId xmlns:a16="http://schemas.microsoft.com/office/drawing/2014/main" id="{5F339481-589C-AD7A-DAF6-2EB68232B672}"/>
              </a:ext>
            </a:extLst>
          </p:cNvPr>
          <p:cNvSpPr txBox="1"/>
          <p:nvPr/>
        </p:nvSpPr>
        <p:spPr>
          <a:xfrm>
            <a:off x="7742376" y="3529160"/>
            <a:ext cx="23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sign</a:t>
            </a:r>
            <a:r>
              <a:rPr lang="en">
                <a:solidFill>
                  <a:srgbClr val="000000"/>
                </a:solidFill>
              </a:rPr>
              <a:t>(S</a:t>
            </a:r>
            <a:r>
              <a:rPr lang="en" i="1">
                <a:solidFill>
                  <a:srgbClr val="000000"/>
                </a:solidFill>
              </a:rPr>
              <a:t>K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i="1">
                <a:solidFill>
                  <a:srgbClr val="000000"/>
                </a:solidFill>
              </a:rPr>
              <a:t>M</a:t>
            </a:r>
            <a:r>
              <a:rPr lang="en">
                <a:solidFill>
                  <a:srgbClr val="000000"/>
                </a:solidFill>
              </a:rPr>
              <a:t>)</a:t>
            </a:r>
            <a:endParaRPr sz="1000"/>
          </a:p>
        </p:txBody>
      </p:sp>
      <p:sp>
        <p:nvSpPr>
          <p:cNvPr id="12" name="Google Shape;125;p22">
            <a:extLst>
              <a:ext uri="{FF2B5EF4-FFF2-40B4-BE49-F238E27FC236}">
                <a16:creationId xmlns:a16="http://schemas.microsoft.com/office/drawing/2014/main" id="{02F78A88-E806-3AE2-6BB3-87C45A61ACE1}"/>
              </a:ext>
            </a:extLst>
          </p:cNvPr>
          <p:cNvSpPr txBox="1"/>
          <p:nvPr/>
        </p:nvSpPr>
        <p:spPr>
          <a:xfrm>
            <a:off x="10131622" y="3458438"/>
            <a:ext cx="79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(repeat)</a:t>
            </a:r>
            <a:endParaRPr sz="1200"/>
          </a:p>
        </p:txBody>
      </p:sp>
      <p:sp>
        <p:nvSpPr>
          <p:cNvPr id="13" name="Google Shape;126;p22">
            <a:extLst>
              <a:ext uri="{FF2B5EF4-FFF2-40B4-BE49-F238E27FC236}">
                <a16:creationId xmlns:a16="http://schemas.microsoft.com/office/drawing/2014/main" id="{79F3B687-761C-8558-E46F-7878C3975BF0}"/>
              </a:ext>
            </a:extLst>
          </p:cNvPr>
          <p:cNvSpPr txBox="1"/>
          <p:nvPr/>
        </p:nvSpPr>
        <p:spPr>
          <a:xfrm>
            <a:off x="9003261" y="1690688"/>
            <a:ext cx="13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Alice (challenger)</a:t>
            </a:r>
            <a:endParaRPr sz="1200"/>
          </a:p>
        </p:txBody>
      </p:sp>
      <p:sp>
        <p:nvSpPr>
          <p:cNvPr id="14" name="Google Shape;127;p22">
            <a:extLst>
              <a:ext uri="{FF2B5EF4-FFF2-40B4-BE49-F238E27FC236}">
                <a16:creationId xmlns:a16="http://schemas.microsoft.com/office/drawing/2014/main" id="{CC2018FF-993C-36E0-3CE7-C0997037E357}"/>
              </a:ext>
            </a:extLst>
          </p:cNvPr>
          <p:cNvSpPr txBox="1"/>
          <p:nvPr/>
        </p:nvSpPr>
        <p:spPr>
          <a:xfrm>
            <a:off x="7501532" y="1690688"/>
            <a:ext cx="15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Mallory (adversary)</a:t>
            </a:r>
            <a:endParaRPr sz="1200"/>
          </a:p>
        </p:txBody>
      </p:sp>
      <p:cxnSp>
        <p:nvCxnSpPr>
          <p:cNvPr id="15" name="Google Shape;128;p22">
            <a:extLst>
              <a:ext uri="{FF2B5EF4-FFF2-40B4-BE49-F238E27FC236}">
                <a16:creationId xmlns:a16="http://schemas.microsoft.com/office/drawing/2014/main" id="{25EEF3AB-F58A-C828-7E6D-AA6CF96EB97E}"/>
              </a:ext>
            </a:extLst>
          </p:cNvPr>
          <p:cNvCxnSpPr/>
          <p:nvPr/>
        </p:nvCxnSpPr>
        <p:spPr>
          <a:xfrm>
            <a:off x="7785663" y="5293281"/>
            <a:ext cx="0" cy="41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129;p22">
            <a:extLst>
              <a:ext uri="{FF2B5EF4-FFF2-40B4-BE49-F238E27FC236}">
                <a16:creationId xmlns:a16="http://schemas.microsoft.com/office/drawing/2014/main" id="{D8E8BB59-B352-5597-2C03-20FDC9B56B94}"/>
              </a:ext>
            </a:extLst>
          </p:cNvPr>
          <p:cNvSpPr txBox="1"/>
          <p:nvPr/>
        </p:nvSpPr>
        <p:spPr>
          <a:xfrm>
            <a:off x="7785659" y="5256188"/>
            <a:ext cx="188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Output (</a:t>
            </a:r>
            <a:r>
              <a:rPr lang="en" i="1"/>
              <a:t>M'</a:t>
            </a:r>
            <a:r>
              <a:rPr lang="en"/>
              <a:t>, </a:t>
            </a:r>
            <a:r>
              <a:rPr lang="en" i="1"/>
              <a:t>sig'</a:t>
            </a:r>
            <a:r>
              <a:rPr lang="en"/>
              <a:t>)</a:t>
            </a:r>
            <a:endParaRPr sz="1000"/>
          </a:p>
        </p:txBody>
      </p:sp>
      <p:cxnSp>
        <p:nvCxnSpPr>
          <p:cNvPr id="17" name="Google Shape;130;p22">
            <a:extLst>
              <a:ext uri="{FF2B5EF4-FFF2-40B4-BE49-F238E27FC236}">
                <a16:creationId xmlns:a16="http://schemas.microsoft.com/office/drawing/2014/main" id="{9860C307-DF72-1FCA-A18C-3516C4540B68}"/>
              </a:ext>
            </a:extLst>
          </p:cNvPr>
          <p:cNvCxnSpPr/>
          <p:nvPr/>
        </p:nvCxnSpPr>
        <p:spPr>
          <a:xfrm>
            <a:off x="7658157" y="2059988"/>
            <a:ext cx="0" cy="345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31;p22">
            <a:extLst>
              <a:ext uri="{FF2B5EF4-FFF2-40B4-BE49-F238E27FC236}">
                <a16:creationId xmlns:a16="http://schemas.microsoft.com/office/drawing/2014/main" id="{636AE91F-C1C5-80DB-8F69-0127A3153EB9}"/>
              </a:ext>
            </a:extLst>
          </p:cNvPr>
          <p:cNvCxnSpPr/>
          <p:nvPr/>
        </p:nvCxnSpPr>
        <p:spPr>
          <a:xfrm>
            <a:off x="10148907" y="2059988"/>
            <a:ext cx="0" cy="345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32;p22">
            <a:extLst>
              <a:ext uri="{FF2B5EF4-FFF2-40B4-BE49-F238E27FC236}">
                <a16:creationId xmlns:a16="http://schemas.microsoft.com/office/drawing/2014/main" id="{CD44BD74-1014-A8FA-24B0-627E0010FB6E}"/>
              </a:ext>
            </a:extLst>
          </p:cNvPr>
          <p:cNvSpPr txBox="1"/>
          <p:nvPr/>
        </p:nvSpPr>
        <p:spPr>
          <a:xfrm>
            <a:off x="10131633" y="2409563"/>
            <a:ext cx="881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/>
              <a:t>Keygen(): S</a:t>
            </a:r>
            <a:r>
              <a:rPr lang="en" sz="1200" i="1" dirty="0"/>
              <a:t>K, PK</a:t>
            </a:r>
            <a:endParaRPr sz="1200" i="1" dirty="0"/>
          </a:p>
        </p:txBody>
      </p:sp>
      <p:sp>
        <p:nvSpPr>
          <p:cNvPr id="20" name="Google Shape;133;p22">
            <a:extLst>
              <a:ext uri="{FF2B5EF4-FFF2-40B4-BE49-F238E27FC236}">
                <a16:creationId xmlns:a16="http://schemas.microsoft.com/office/drawing/2014/main" id="{87A2AC5D-91EA-6D47-A270-A7DC8D113D6F}"/>
              </a:ext>
            </a:extLst>
          </p:cNvPr>
          <p:cNvSpPr txBox="1"/>
          <p:nvPr/>
        </p:nvSpPr>
        <p:spPr>
          <a:xfrm>
            <a:off x="7658151" y="2263635"/>
            <a:ext cx="232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PK</a:t>
            </a:r>
            <a:endParaRPr sz="1000"/>
          </a:p>
        </p:txBody>
      </p:sp>
      <p:cxnSp>
        <p:nvCxnSpPr>
          <p:cNvPr id="21" name="Google Shape;134;p22">
            <a:extLst>
              <a:ext uri="{FF2B5EF4-FFF2-40B4-BE49-F238E27FC236}">
                <a16:creationId xmlns:a16="http://schemas.microsoft.com/office/drawing/2014/main" id="{86BEAF3A-0BE5-9EBC-925E-BCC5B33D93BD}"/>
              </a:ext>
            </a:extLst>
          </p:cNvPr>
          <p:cNvCxnSpPr/>
          <p:nvPr/>
        </p:nvCxnSpPr>
        <p:spPr>
          <a:xfrm>
            <a:off x="7733733" y="2628995"/>
            <a:ext cx="2322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8294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96B1-8C0C-57C1-2EFD-13679CF4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943"/>
            <a:ext cx="10515600" cy="931112"/>
          </a:xfrm>
        </p:spPr>
        <p:txBody>
          <a:bodyPr/>
          <a:lstStyle/>
          <a:p>
            <a:r>
              <a:rPr lang="en" dirty="0"/>
              <a:t>Digital Signatures in Practice: 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70029-72DF-3923-1C15-C045D3E1E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71" y="1607674"/>
            <a:ext cx="5544523" cy="22937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If you want to </a:t>
            </a:r>
            <a:r>
              <a:rPr lang="en-US" sz="2200" b="1" i="1" dirty="0">
                <a:solidFill>
                  <a:srgbClr val="C00000"/>
                </a:solidFill>
              </a:rPr>
              <a:t>sign</a:t>
            </a:r>
            <a:r>
              <a:rPr lang="en-US" sz="2200" dirty="0"/>
              <a:t> message M:</a:t>
            </a:r>
          </a:p>
          <a:p>
            <a:r>
              <a:rPr lang="en-US" sz="2200" dirty="0"/>
              <a:t>First hash message M using </a:t>
            </a:r>
            <a:r>
              <a:rPr lang="en-US" sz="2200" dirty="0">
                <a:hlinkClick r:id="rId2"/>
              </a:rPr>
              <a:t>cryptographic hash function </a:t>
            </a:r>
            <a:r>
              <a:rPr lang="en-US" sz="2200" b="1" i="1" dirty="0"/>
              <a:t>H() </a:t>
            </a:r>
            <a:r>
              <a:rPr lang="en-US" sz="2200" dirty="0"/>
              <a:t>(e.g., SHA-1, SHA-2, etc.)</a:t>
            </a:r>
          </a:p>
          <a:p>
            <a:r>
              <a:rPr lang="en-US" sz="2200" dirty="0"/>
              <a:t>Then sign (</a:t>
            </a:r>
            <a:r>
              <a:rPr lang="en-US" sz="2200" i="1" dirty="0"/>
              <a:t>Enc</a:t>
            </a:r>
            <a:r>
              <a:rPr lang="en-US" sz="2200" dirty="0"/>
              <a:t>) H(M): </a:t>
            </a:r>
            <a:r>
              <a:rPr lang="en-US" sz="2200" b="1" i="1" dirty="0">
                <a:solidFill>
                  <a:srgbClr val="C00000"/>
                </a:solidFill>
              </a:rPr>
              <a:t>Sign(SK, H(M)) </a:t>
            </a:r>
            <a:r>
              <a:rPr lang="en-US" sz="2200" dirty="0">
                <a:solidFill>
                  <a:srgbClr val="C00000"/>
                </a:solidFill>
              </a:rPr>
              <a:t>→ </a:t>
            </a:r>
            <a:r>
              <a:rPr lang="en-US" sz="2200" b="1" i="1" dirty="0">
                <a:solidFill>
                  <a:srgbClr val="C00000"/>
                </a:solidFill>
              </a:rPr>
              <a:t>sig </a:t>
            </a:r>
            <a:endParaRPr lang="en-US" sz="2200" b="1" dirty="0">
              <a:solidFill>
                <a:srgbClr val="C00000"/>
              </a:solidFill>
            </a:endParaRPr>
          </a:p>
          <a:p>
            <a:r>
              <a:rPr lang="en-US" sz="2200" dirty="0"/>
              <a:t>Send </a:t>
            </a:r>
            <a:r>
              <a:rPr lang="en-US" sz="2200" b="1" i="1" dirty="0"/>
              <a:t>M</a:t>
            </a:r>
            <a:r>
              <a:rPr lang="en-US" sz="2200" dirty="0"/>
              <a:t> and </a:t>
            </a:r>
            <a:r>
              <a:rPr lang="en-US" sz="2200" b="1" i="1" dirty="0"/>
              <a:t>sig</a:t>
            </a:r>
            <a:r>
              <a:rPr lang="en-US" sz="2200" dirty="0"/>
              <a:t> to the receiver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41F3F0-A9F3-D812-D049-7CE9DFD0ECDF}"/>
              </a:ext>
            </a:extLst>
          </p:cNvPr>
          <p:cNvSpPr txBox="1"/>
          <p:nvPr/>
        </p:nvSpPr>
        <p:spPr>
          <a:xfrm>
            <a:off x="125187" y="4322527"/>
            <a:ext cx="500715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Why do digital signatures use a hash?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Asymmetric encryption/decryption is slow! </a:t>
            </a:r>
            <a:r>
              <a:rPr lang="en-US" sz="2200" dirty="0">
                <a:sym typeface="Wingdings" panose="05000000000000000000" pitchFamily="2" charset="2"/>
              </a:rPr>
              <a:t> “</a:t>
            </a:r>
            <a:r>
              <a:rPr lang="en-US" sz="2200" i="1" dirty="0">
                <a:sym typeface="Wingdings" panose="05000000000000000000" pitchFamily="2" charset="2"/>
              </a:rPr>
              <a:t>Encrypt</a:t>
            </a:r>
            <a:r>
              <a:rPr lang="en-US" sz="2200" dirty="0">
                <a:sym typeface="Wingdings" panose="05000000000000000000" pitchFamily="2" charset="2"/>
              </a:rPr>
              <a:t>” a short message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Allows signing arbitrarily long messages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FCA3B6-E7F9-9009-971E-27E6CC3966EF}"/>
              </a:ext>
            </a:extLst>
          </p:cNvPr>
          <p:cNvGrpSpPr/>
          <p:nvPr/>
        </p:nvGrpSpPr>
        <p:grpSpPr>
          <a:xfrm>
            <a:off x="5184975" y="1146593"/>
            <a:ext cx="6920230" cy="5455638"/>
            <a:chOff x="5184975" y="1146593"/>
            <a:chExt cx="6920230" cy="54556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7D5577D-5186-0044-D833-62CA19226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3859" y="2257658"/>
              <a:ext cx="2118788" cy="552178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en-US" b="1" dirty="0"/>
                <a:t>Hash Function </a:t>
              </a:r>
              <a:r>
                <a:rPr lang="en-US" altLang="en-US" b="1" i="1" dirty="0"/>
                <a:t>H(M)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F24234-104C-753B-216B-5BF2E4B13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7533" y="6016813"/>
              <a:ext cx="2671441" cy="58541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altLang="en-US" sz="1600" dirty="0"/>
                <a:t>Jrf843kjfgf*£$&amp;</a:t>
              </a:r>
              <a:r>
                <a:rPr lang="en-US" altLang="en-US" sz="1600" dirty="0" err="1"/>
                <a:t>Hdif</a:t>
              </a:r>
              <a:r>
                <a:rPr lang="en-US" altLang="en-US" sz="1600" dirty="0"/>
                <a:t>*7oUsd*&amp;@:&lt;CHDFHSD(**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51DCE7-69D1-F06A-B1DB-A708B59A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4223" y="3335483"/>
              <a:ext cx="1978061" cy="107786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/>
              <a:r>
                <a:rPr lang="en-US" altLang="en-US" sz="1600" b="1" dirty="0"/>
                <a:t>Py75c%bn&amp;*)9|fDe^bDFaq#xzjFr@g5=&amp;nmdFg$5knvMd’rkvegMs”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10EB53-97DD-3DF2-496E-FC0D9B1B4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0095" y="1146593"/>
              <a:ext cx="2526316" cy="58541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altLang="en-US" sz="1600" b="1" dirty="0"/>
                <a:t>This is a really </a:t>
              </a:r>
              <a:r>
                <a:rPr lang="en-US" altLang="en-US" sz="1600" b="1" dirty="0" err="1"/>
                <a:t>really</a:t>
              </a:r>
              <a:r>
                <a:rPr lang="en-US" altLang="en-US" sz="1600" b="1" dirty="0"/>
                <a:t> long message about Bob’s bill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332654-2E29-70D2-3CC6-3A86A7127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1398" y="4938990"/>
              <a:ext cx="1823710" cy="552178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en-US" b="1" i="1" dirty="0"/>
                <a:t>Sign(SK, H(M))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2DC99F-0D6F-973B-EB8D-CEF26AC31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1361" y="1254315"/>
              <a:ext cx="1558923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dirty="0"/>
                <a:t>Message </a:t>
              </a:r>
              <a:r>
                <a:rPr lang="en-US" altLang="en-US" b="1" i="1" dirty="0"/>
                <a:t>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1D9DA3-1D49-F068-56AF-F4B7E2F7D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3472" y="6124535"/>
              <a:ext cx="1823710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altLang="en-US" dirty="0"/>
                <a:t>Digital Signature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1E0958-875E-5F0C-44A7-41F67D5D2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5709" y="3698885"/>
              <a:ext cx="2630223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0" hangingPunct="0"/>
              <a:r>
                <a:rPr lang="en-US" altLang="en-US" dirty="0"/>
                <a:t>Fixed-length hash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D0AF58-10C2-67F6-2A63-9C85C3DA2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6438" y="2001731"/>
              <a:ext cx="2848767" cy="1200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altLang="en-US" dirty="0"/>
                <a:t>Calculate a short message digest (fingerprint) from a long input using a one-way function (hash function)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CFD3B36-BD55-2CD1-89DD-13C240571744}"/>
                </a:ext>
              </a:extLst>
            </p:cNvPr>
            <p:cNvGrpSpPr/>
            <p:nvPr/>
          </p:nvGrpSpPr>
          <p:grpSpPr>
            <a:xfrm>
              <a:off x="5184975" y="4152378"/>
              <a:ext cx="1565213" cy="2041339"/>
              <a:chOff x="9452595" y="3650024"/>
              <a:chExt cx="1565213" cy="204133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EBFE0C-0A39-C30C-8632-D87C78368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2595" y="3650024"/>
                <a:ext cx="1565213" cy="7085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algn="ctr" eaLnBrk="0" hangingPunct="0"/>
                <a:r>
                  <a:rPr lang="en-US" altLang="en-US" sz="2000" dirty="0">
                    <a:solidFill>
                      <a:srgbClr val="C00000"/>
                    </a:solidFill>
                  </a:rPr>
                  <a:t>Signer’s private key</a:t>
                </a:r>
              </a:p>
            </p:txBody>
          </p:sp>
          <p:sp>
            <p:nvSpPr>
              <p:cNvPr id="24" name="Freeform 22">
                <a:extLst>
                  <a:ext uri="{FF2B5EF4-FFF2-40B4-BE49-F238E27FC236}">
                    <a16:creationId xmlns:a16="http://schemas.microsoft.com/office/drawing/2014/main" id="{A491B5B4-D170-8CC4-F828-AAD7DB005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0291" y="4296593"/>
                <a:ext cx="760364" cy="1394770"/>
              </a:xfrm>
              <a:custGeom>
                <a:avLst/>
                <a:gdLst>
                  <a:gd name="T0" fmla="*/ 350 w 547"/>
                  <a:gd name="T1" fmla="*/ 0 h 1071"/>
                  <a:gd name="T2" fmla="*/ 186 w 547"/>
                  <a:gd name="T3" fmla="*/ 0 h 1071"/>
                  <a:gd name="T4" fmla="*/ 217 w 547"/>
                  <a:gd name="T5" fmla="*/ 41 h 1071"/>
                  <a:gd name="T6" fmla="*/ 312 w 547"/>
                  <a:gd name="T7" fmla="*/ 41 h 1071"/>
                  <a:gd name="T8" fmla="*/ 348 w 547"/>
                  <a:gd name="T9" fmla="*/ 106 h 1071"/>
                  <a:gd name="T10" fmla="*/ 183 w 547"/>
                  <a:gd name="T11" fmla="*/ 106 h 1071"/>
                  <a:gd name="T12" fmla="*/ 217 w 547"/>
                  <a:gd name="T13" fmla="*/ 42 h 1071"/>
                  <a:gd name="T14" fmla="*/ 186 w 547"/>
                  <a:gd name="T15" fmla="*/ 1 h 1071"/>
                  <a:gd name="T16" fmla="*/ 128 w 547"/>
                  <a:gd name="T17" fmla="*/ 102 h 1071"/>
                  <a:gd name="T18" fmla="*/ 97 w 547"/>
                  <a:gd name="T19" fmla="*/ 102 h 1071"/>
                  <a:gd name="T20" fmla="*/ 86 w 547"/>
                  <a:gd name="T21" fmla="*/ 137 h 1071"/>
                  <a:gd name="T22" fmla="*/ 37 w 547"/>
                  <a:gd name="T23" fmla="*/ 137 h 1071"/>
                  <a:gd name="T24" fmla="*/ 36 w 547"/>
                  <a:gd name="T25" fmla="*/ 162 h 1071"/>
                  <a:gd name="T26" fmla="*/ 17 w 547"/>
                  <a:gd name="T27" fmla="*/ 162 h 1071"/>
                  <a:gd name="T28" fmla="*/ 0 w 547"/>
                  <a:gd name="T29" fmla="*/ 162 h 1071"/>
                  <a:gd name="T30" fmla="*/ 0 w 547"/>
                  <a:gd name="T31" fmla="*/ 312 h 1071"/>
                  <a:gd name="T32" fmla="*/ 37 w 547"/>
                  <a:gd name="T33" fmla="*/ 313 h 1071"/>
                  <a:gd name="T34" fmla="*/ 37 w 547"/>
                  <a:gd name="T35" fmla="*/ 343 h 1071"/>
                  <a:gd name="T36" fmla="*/ 84 w 547"/>
                  <a:gd name="T37" fmla="*/ 343 h 1071"/>
                  <a:gd name="T38" fmla="*/ 97 w 547"/>
                  <a:gd name="T39" fmla="*/ 381 h 1071"/>
                  <a:gd name="T40" fmla="*/ 122 w 547"/>
                  <a:gd name="T41" fmla="*/ 382 h 1071"/>
                  <a:gd name="T42" fmla="*/ 125 w 547"/>
                  <a:gd name="T43" fmla="*/ 458 h 1071"/>
                  <a:gd name="T44" fmla="*/ 141 w 547"/>
                  <a:gd name="T45" fmla="*/ 458 h 1071"/>
                  <a:gd name="T46" fmla="*/ 146 w 547"/>
                  <a:gd name="T47" fmla="*/ 464 h 1071"/>
                  <a:gd name="T48" fmla="*/ 146 w 547"/>
                  <a:gd name="T49" fmla="*/ 545 h 1071"/>
                  <a:gd name="T50" fmla="*/ 178 w 547"/>
                  <a:gd name="T51" fmla="*/ 545 h 1071"/>
                  <a:gd name="T52" fmla="*/ 176 w 547"/>
                  <a:gd name="T53" fmla="*/ 1002 h 1071"/>
                  <a:gd name="T54" fmla="*/ 248 w 547"/>
                  <a:gd name="T55" fmla="*/ 1070 h 1071"/>
                  <a:gd name="T56" fmla="*/ 341 w 547"/>
                  <a:gd name="T57" fmla="*/ 991 h 1071"/>
                  <a:gd name="T58" fmla="*/ 308 w 547"/>
                  <a:gd name="T59" fmla="*/ 969 h 1071"/>
                  <a:gd name="T60" fmla="*/ 308 w 547"/>
                  <a:gd name="T61" fmla="*/ 942 h 1071"/>
                  <a:gd name="T62" fmla="*/ 341 w 547"/>
                  <a:gd name="T63" fmla="*/ 918 h 1071"/>
                  <a:gd name="T64" fmla="*/ 308 w 547"/>
                  <a:gd name="T65" fmla="*/ 897 h 1071"/>
                  <a:gd name="T66" fmla="*/ 313 w 547"/>
                  <a:gd name="T67" fmla="*/ 889 h 1071"/>
                  <a:gd name="T68" fmla="*/ 342 w 547"/>
                  <a:gd name="T69" fmla="*/ 870 h 1071"/>
                  <a:gd name="T70" fmla="*/ 347 w 547"/>
                  <a:gd name="T71" fmla="*/ 812 h 1071"/>
                  <a:gd name="T72" fmla="*/ 351 w 547"/>
                  <a:gd name="T73" fmla="*/ 807 h 1071"/>
                  <a:gd name="T74" fmla="*/ 307 w 547"/>
                  <a:gd name="T75" fmla="*/ 772 h 1071"/>
                  <a:gd name="T76" fmla="*/ 307 w 547"/>
                  <a:gd name="T77" fmla="*/ 742 h 1071"/>
                  <a:gd name="T78" fmla="*/ 342 w 547"/>
                  <a:gd name="T79" fmla="*/ 708 h 1071"/>
                  <a:gd name="T80" fmla="*/ 308 w 547"/>
                  <a:gd name="T81" fmla="*/ 677 h 1071"/>
                  <a:gd name="T82" fmla="*/ 308 w 547"/>
                  <a:gd name="T83" fmla="*/ 646 h 1071"/>
                  <a:gd name="T84" fmla="*/ 341 w 547"/>
                  <a:gd name="T85" fmla="*/ 606 h 1071"/>
                  <a:gd name="T86" fmla="*/ 347 w 547"/>
                  <a:gd name="T87" fmla="*/ 542 h 1071"/>
                  <a:gd name="T88" fmla="*/ 387 w 547"/>
                  <a:gd name="T89" fmla="*/ 542 h 1071"/>
                  <a:gd name="T90" fmla="*/ 387 w 547"/>
                  <a:gd name="T91" fmla="*/ 455 h 1071"/>
                  <a:gd name="T92" fmla="*/ 411 w 547"/>
                  <a:gd name="T93" fmla="*/ 455 h 1071"/>
                  <a:gd name="T94" fmla="*/ 411 w 547"/>
                  <a:gd name="T95" fmla="*/ 378 h 1071"/>
                  <a:gd name="T96" fmla="*/ 438 w 547"/>
                  <a:gd name="T97" fmla="*/ 378 h 1071"/>
                  <a:gd name="T98" fmla="*/ 450 w 547"/>
                  <a:gd name="T99" fmla="*/ 341 h 1071"/>
                  <a:gd name="T100" fmla="*/ 505 w 547"/>
                  <a:gd name="T101" fmla="*/ 341 h 1071"/>
                  <a:gd name="T102" fmla="*/ 505 w 547"/>
                  <a:gd name="T103" fmla="*/ 310 h 1071"/>
                  <a:gd name="T104" fmla="*/ 546 w 547"/>
                  <a:gd name="T105" fmla="*/ 310 h 1071"/>
                  <a:gd name="T106" fmla="*/ 546 w 547"/>
                  <a:gd name="T107" fmla="*/ 159 h 1071"/>
                  <a:gd name="T108" fmla="*/ 506 w 547"/>
                  <a:gd name="T109" fmla="*/ 159 h 1071"/>
                  <a:gd name="T110" fmla="*/ 506 w 547"/>
                  <a:gd name="T111" fmla="*/ 137 h 1071"/>
                  <a:gd name="T112" fmla="*/ 459 w 547"/>
                  <a:gd name="T113" fmla="*/ 137 h 1071"/>
                  <a:gd name="T114" fmla="*/ 449 w 547"/>
                  <a:gd name="T115" fmla="*/ 127 h 1071"/>
                  <a:gd name="T116" fmla="*/ 438 w 547"/>
                  <a:gd name="T117" fmla="*/ 102 h 1071"/>
                  <a:gd name="T118" fmla="*/ 411 w 547"/>
                  <a:gd name="T119" fmla="*/ 102 h 1071"/>
                  <a:gd name="T120" fmla="*/ 350 w 547"/>
                  <a:gd name="T121" fmla="*/ 0 h 10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47" h="1071">
                    <a:moveTo>
                      <a:pt x="350" y="0"/>
                    </a:moveTo>
                    <a:lnTo>
                      <a:pt x="186" y="0"/>
                    </a:lnTo>
                    <a:lnTo>
                      <a:pt x="217" y="41"/>
                    </a:lnTo>
                    <a:lnTo>
                      <a:pt x="312" y="41"/>
                    </a:lnTo>
                    <a:lnTo>
                      <a:pt x="348" y="106"/>
                    </a:lnTo>
                    <a:lnTo>
                      <a:pt x="183" y="106"/>
                    </a:lnTo>
                    <a:lnTo>
                      <a:pt x="217" y="42"/>
                    </a:lnTo>
                    <a:lnTo>
                      <a:pt x="186" y="1"/>
                    </a:lnTo>
                    <a:lnTo>
                      <a:pt x="128" y="102"/>
                    </a:lnTo>
                    <a:lnTo>
                      <a:pt x="97" y="102"/>
                    </a:lnTo>
                    <a:lnTo>
                      <a:pt x="86" y="137"/>
                    </a:lnTo>
                    <a:lnTo>
                      <a:pt x="37" y="137"/>
                    </a:lnTo>
                    <a:lnTo>
                      <a:pt x="36" y="162"/>
                    </a:lnTo>
                    <a:lnTo>
                      <a:pt x="17" y="162"/>
                    </a:lnTo>
                    <a:lnTo>
                      <a:pt x="0" y="162"/>
                    </a:lnTo>
                    <a:lnTo>
                      <a:pt x="0" y="312"/>
                    </a:lnTo>
                    <a:lnTo>
                      <a:pt x="37" y="313"/>
                    </a:lnTo>
                    <a:lnTo>
                      <a:pt x="37" y="343"/>
                    </a:lnTo>
                    <a:lnTo>
                      <a:pt x="84" y="343"/>
                    </a:lnTo>
                    <a:lnTo>
                      <a:pt x="97" y="381"/>
                    </a:lnTo>
                    <a:lnTo>
                      <a:pt x="122" y="382"/>
                    </a:lnTo>
                    <a:lnTo>
                      <a:pt x="125" y="458"/>
                    </a:lnTo>
                    <a:lnTo>
                      <a:pt x="141" y="458"/>
                    </a:lnTo>
                    <a:lnTo>
                      <a:pt x="146" y="464"/>
                    </a:lnTo>
                    <a:lnTo>
                      <a:pt x="146" y="545"/>
                    </a:lnTo>
                    <a:lnTo>
                      <a:pt x="178" y="545"/>
                    </a:lnTo>
                    <a:lnTo>
                      <a:pt x="176" y="1002"/>
                    </a:lnTo>
                    <a:lnTo>
                      <a:pt x="248" y="1070"/>
                    </a:lnTo>
                    <a:lnTo>
                      <a:pt x="341" y="991"/>
                    </a:lnTo>
                    <a:lnTo>
                      <a:pt x="308" y="969"/>
                    </a:lnTo>
                    <a:lnTo>
                      <a:pt x="308" y="942"/>
                    </a:lnTo>
                    <a:lnTo>
                      <a:pt x="341" y="918"/>
                    </a:lnTo>
                    <a:lnTo>
                      <a:pt x="308" y="897"/>
                    </a:lnTo>
                    <a:lnTo>
                      <a:pt x="313" y="889"/>
                    </a:lnTo>
                    <a:lnTo>
                      <a:pt x="342" y="870"/>
                    </a:lnTo>
                    <a:lnTo>
                      <a:pt x="347" y="812"/>
                    </a:lnTo>
                    <a:lnTo>
                      <a:pt x="351" y="807"/>
                    </a:lnTo>
                    <a:lnTo>
                      <a:pt x="307" y="772"/>
                    </a:lnTo>
                    <a:lnTo>
                      <a:pt x="307" y="742"/>
                    </a:lnTo>
                    <a:lnTo>
                      <a:pt x="342" y="708"/>
                    </a:lnTo>
                    <a:lnTo>
                      <a:pt x="308" y="677"/>
                    </a:lnTo>
                    <a:lnTo>
                      <a:pt x="308" y="646"/>
                    </a:lnTo>
                    <a:lnTo>
                      <a:pt x="341" y="606"/>
                    </a:lnTo>
                    <a:lnTo>
                      <a:pt x="347" y="542"/>
                    </a:lnTo>
                    <a:lnTo>
                      <a:pt x="387" y="542"/>
                    </a:lnTo>
                    <a:lnTo>
                      <a:pt x="387" y="455"/>
                    </a:lnTo>
                    <a:lnTo>
                      <a:pt x="411" y="455"/>
                    </a:lnTo>
                    <a:lnTo>
                      <a:pt x="411" y="378"/>
                    </a:lnTo>
                    <a:lnTo>
                      <a:pt x="438" y="378"/>
                    </a:lnTo>
                    <a:lnTo>
                      <a:pt x="450" y="341"/>
                    </a:lnTo>
                    <a:lnTo>
                      <a:pt x="505" y="341"/>
                    </a:lnTo>
                    <a:lnTo>
                      <a:pt x="505" y="310"/>
                    </a:lnTo>
                    <a:lnTo>
                      <a:pt x="546" y="310"/>
                    </a:lnTo>
                    <a:lnTo>
                      <a:pt x="546" y="159"/>
                    </a:lnTo>
                    <a:lnTo>
                      <a:pt x="506" y="159"/>
                    </a:lnTo>
                    <a:lnTo>
                      <a:pt x="506" y="137"/>
                    </a:lnTo>
                    <a:lnTo>
                      <a:pt x="459" y="137"/>
                    </a:lnTo>
                    <a:lnTo>
                      <a:pt x="449" y="127"/>
                    </a:lnTo>
                    <a:lnTo>
                      <a:pt x="438" y="102"/>
                    </a:lnTo>
                    <a:lnTo>
                      <a:pt x="411" y="102"/>
                    </a:lnTo>
                    <a:lnTo>
                      <a:pt x="350" y="0"/>
                    </a:ln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>
                  <a:solidFill>
                    <a:srgbClr val="C00000"/>
                  </a:solidFill>
                </a:endParaRP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8181D02-61DF-9F0C-6A29-D5821A05EDBE}"/>
                </a:ext>
              </a:extLst>
            </p:cNvPr>
            <p:cNvCxnSpPr>
              <a:cxnSpLocks/>
              <a:stCxn id="7" idx="2"/>
              <a:endCxn id="4" idx="0"/>
            </p:cNvCxnSpPr>
            <p:nvPr/>
          </p:nvCxnSpPr>
          <p:spPr>
            <a:xfrm>
              <a:off x="8053253" y="1732011"/>
              <a:ext cx="0" cy="525647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1A4AFE7-D569-CB76-EFD5-CC0F8B62CCEB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8053253" y="2809836"/>
              <a:ext cx="1" cy="525647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6D844D-6BA8-C014-1662-27A5773B7FE7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flipH="1">
              <a:off x="8053253" y="4413343"/>
              <a:ext cx="1" cy="525647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F2118FF-2F8D-E7E7-2ABC-22AB10F2E7D6}"/>
                </a:ext>
              </a:extLst>
            </p:cNvPr>
            <p:cNvCxnSpPr>
              <a:cxnSpLocks/>
              <a:stCxn id="10" idx="2"/>
              <a:endCxn id="5" idx="0"/>
            </p:cNvCxnSpPr>
            <p:nvPr/>
          </p:nvCxnSpPr>
          <p:spPr>
            <a:xfrm>
              <a:off x="8053253" y="5491168"/>
              <a:ext cx="1" cy="525645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88FB437-92D9-2308-CFAB-6EC8F7D85619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6358979" y="5215079"/>
              <a:ext cx="782419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901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DD71-849D-620D-503A-22B055BDD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BAF7-4708-7547-D17E-AB6A00D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654"/>
            <a:ext cx="10515600" cy="931112"/>
          </a:xfrm>
        </p:spPr>
        <p:txBody>
          <a:bodyPr/>
          <a:lstStyle/>
          <a:p>
            <a:r>
              <a:rPr lang="en" dirty="0"/>
              <a:t>Digital Signatures in Practice: Verify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8C46-D752-6C6D-2983-21241AAD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95" y="1607650"/>
            <a:ext cx="5434372" cy="2820961"/>
          </a:xfrm>
        </p:spPr>
        <p:txBody>
          <a:bodyPr>
            <a:normAutofit/>
          </a:bodyPr>
          <a:lstStyle/>
          <a:p>
            <a:r>
              <a:rPr lang="en-US" sz="2200" dirty="0"/>
              <a:t>If you want to </a:t>
            </a:r>
            <a:r>
              <a:rPr lang="en-US" altLang="zh-CN" sz="2200" b="1" i="1" dirty="0">
                <a:solidFill>
                  <a:srgbClr val="C00000"/>
                </a:solidFill>
              </a:rPr>
              <a:t>verify</a:t>
            </a:r>
            <a:r>
              <a:rPr lang="en-US" altLang="zh-CN" sz="2200" dirty="0"/>
              <a:t> the signature of</a:t>
            </a:r>
            <a:r>
              <a:rPr lang="en-US" sz="2200" dirty="0"/>
              <a:t> message M: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Decrypt </a:t>
            </a:r>
            <a:r>
              <a:rPr lang="en-US" sz="2000" b="1" i="1" dirty="0">
                <a:solidFill>
                  <a:srgbClr val="C00000"/>
                </a:solidFill>
              </a:rPr>
              <a:t>sig</a:t>
            </a:r>
            <a:r>
              <a:rPr lang="en-US" sz="2000" dirty="0"/>
              <a:t> using singer’s public key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Hash </a:t>
            </a:r>
            <a:r>
              <a:rPr lang="en-US" sz="2000" b="1" i="1" dirty="0">
                <a:solidFill>
                  <a:srgbClr val="C00000"/>
                </a:solidFill>
              </a:rPr>
              <a:t>M</a:t>
            </a:r>
            <a:r>
              <a:rPr lang="en-US" sz="2000" dirty="0"/>
              <a:t> using the same </a:t>
            </a:r>
            <a:r>
              <a:rPr lang="en-US" sz="2000" dirty="0">
                <a:hlinkClick r:id="rId2"/>
              </a:rPr>
              <a:t>cryptographic hash function </a:t>
            </a:r>
            <a:r>
              <a:rPr lang="en-US" sz="2000" dirty="0"/>
              <a:t>(e.g., SHA-1, SHA-2,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Compare results in step 1 and 2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C7D275-BA93-93F9-333E-DF584028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5764" y="2638413"/>
            <a:ext cx="2118788" cy="552178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b="1" dirty="0"/>
              <a:t>Hash Function </a:t>
            </a:r>
            <a:r>
              <a:rPr lang="en-US" altLang="en-US" b="1" i="1" dirty="0"/>
              <a:t>H(M)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68273-2133-0EF9-50D4-3ADB65E3E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882" y="1128388"/>
            <a:ext cx="2434451" cy="5854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l" eaLnBrk="0" hangingPunct="0"/>
            <a:r>
              <a:rPr lang="en-US" altLang="en-US" sz="1600" dirty="0"/>
              <a:t>Jrf843kjfgf*£$&amp;</a:t>
            </a:r>
            <a:r>
              <a:rPr lang="en-US" altLang="en-US" sz="1600" dirty="0" err="1"/>
              <a:t>Hdif</a:t>
            </a:r>
            <a:r>
              <a:rPr lang="en-US" altLang="en-US" sz="1600" dirty="0"/>
              <a:t>*7oUsd*&amp;@:&lt;CHDFHSD(**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A01FC0-0EF4-B471-657A-307A1B17C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127" y="3868977"/>
            <a:ext cx="1978061" cy="10778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/>
            <a:r>
              <a:rPr lang="en-US" altLang="en-US" sz="1600" b="1" dirty="0"/>
              <a:t>Py75c%bn&amp;*)9|fDe^bDFaq#xzjFr@g5=&amp;nmdFg$5knvMd’rkvegMs”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AEC68-26B7-82B5-29B8-E3D725934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7579" y="1128388"/>
            <a:ext cx="2135158" cy="83163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l" eaLnBrk="0" hangingPunct="0"/>
            <a:r>
              <a:rPr lang="en-US" altLang="en-US" sz="1600" b="1" dirty="0"/>
              <a:t>This is a really </a:t>
            </a:r>
            <a:r>
              <a:rPr lang="en-US" altLang="en-US" sz="1600" b="1" dirty="0" err="1"/>
              <a:t>really</a:t>
            </a:r>
            <a:r>
              <a:rPr lang="en-US" altLang="en-US" sz="1600" b="1" dirty="0"/>
              <a:t> long message about Bob’s bill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95C2DB-3921-E760-3037-4F968C20C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884" y="2515303"/>
            <a:ext cx="1823710" cy="552178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en-US" b="1" i="1" dirty="0"/>
              <a:t>Dec(PK, sig)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A24A9C-778B-3707-9032-98BC3FB2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8684" y="5499740"/>
            <a:ext cx="182371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 eaLnBrk="0" hangingPunct="0"/>
            <a:r>
              <a:rPr lang="en-US" altLang="en-US" dirty="0"/>
              <a:t>Are they same?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D4F89C-C08E-ED78-C109-75B6F99088BB}"/>
              </a:ext>
            </a:extLst>
          </p:cNvPr>
          <p:cNvGrpSpPr/>
          <p:nvPr/>
        </p:nvGrpSpPr>
        <p:grpSpPr>
          <a:xfrm>
            <a:off x="5133471" y="1720862"/>
            <a:ext cx="1565213" cy="2041339"/>
            <a:chOff x="9452595" y="3650024"/>
            <a:chExt cx="1565213" cy="20413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E282A5-696A-87D3-A7DD-04C8CD5A9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2595" y="3650024"/>
              <a:ext cx="1565213" cy="708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000" dirty="0">
                  <a:solidFill>
                    <a:srgbClr val="C00000"/>
                  </a:solidFill>
                </a:rPr>
                <a:t>Signer’s public key</a:t>
              </a: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6FC6BB0-99C6-2CF9-98E5-190B61F08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0291" y="4296593"/>
              <a:ext cx="760364" cy="1394770"/>
            </a:xfrm>
            <a:custGeom>
              <a:avLst/>
              <a:gdLst>
                <a:gd name="T0" fmla="*/ 350 w 547"/>
                <a:gd name="T1" fmla="*/ 0 h 1071"/>
                <a:gd name="T2" fmla="*/ 186 w 547"/>
                <a:gd name="T3" fmla="*/ 0 h 1071"/>
                <a:gd name="T4" fmla="*/ 217 w 547"/>
                <a:gd name="T5" fmla="*/ 41 h 1071"/>
                <a:gd name="T6" fmla="*/ 312 w 547"/>
                <a:gd name="T7" fmla="*/ 41 h 1071"/>
                <a:gd name="T8" fmla="*/ 348 w 547"/>
                <a:gd name="T9" fmla="*/ 106 h 1071"/>
                <a:gd name="T10" fmla="*/ 183 w 547"/>
                <a:gd name="T11" fmla="*/ 106 h 1071"/>
                <a:gd name="T12" fmla="*/ 217 w 547"/>
                <a:gd name="T13" fmla="*/ 42 h 1071"/>
                <a:gd name="T14" fmla="*/ 186 w 547"/>
                <a:gd name="T15" fmla="*/ 1 h 1071"/>
                <a:gd name="T16" fmla="*/ 128 w 547"/>
                <a:gd name="T17" fmla="*/ 102 h 1071"/>
                <a:gd name="T18" fmla="*/ 97 w 547"/>
                <a:gd name="T19" fmla="*/ 102 h 1071"/>
                <a:gd name="T20" fmla="*/ 86 w 547"/>
                <a:gd name="T21" fmla="*/ 137 h 1071"/>
                <a:gd name="T22" fmla="*/ 37 w 547"/>
                <a:gd name="T23" fmla="*/ 137 h 1071"/>
                <a:gd name="T24" fmla="*/ 36 w 547"/>
                <a:gd name="T25" fmla="*/ 162 h 1071"/>
                <a:gd name="T26" fmla="*/ 17 w 547"/>
                <a:gd name="T27" fmla="*/ 162 h 1071"/>
                <a:gd name="T28" fmla="*/ 0 w 547"/>
                <a:gd name="T29" fmla="*/ 162 h 1071"/>
                <a:gd name="T30" fmla="*/ 0 w 547"/>
                <a:gd name="T31" fmla="*/ 312 h 1071"/>
                <a:gd name="T32" fmla="*/ 37 w 547"/>
                <a:gd name="T33" fmla="*/ 313 h 1071"/>
                <a:gd name="T34" fmla="*/ 37 w 547"/>
                <a:gd name="T35" fmla="*/ 343 h 1071"/>
                <a:gd name="T36" fmla="*/ 84 w 547"/>
                <a:gd name="T37" fmla="*/ 343 h 1071"/>
                <a:gd name="T38" fmla="*/ 97 w 547"/>
                <a:gd name="T39" fmla="*/ 381 h 1071"/>
                <a:gd name="T40" fmla="*/ 122 w 547"/>
                <a:gd name="T41" fmla="*/ 382 h 1071"/>
                <a:gd name="T42" fmla="*/ 125 w 547"/>
                <a:gd name="T43" fmla="*/ 458 h 1071"/>
                <a:gd name="T44" fmla="*/ 141 w 547"/>
                <a:gd name="T45" fmla="*/ 458 h 1071"/>
                <a:gd name="T46" fmla="*/ 146 w 547"/>
                <a:gd name="T47" fmla="*/ 464 h 1071"/>
                <a:gd name="T48" fmla="*/ 146 w 547"/>
                <a:gd name="T49" fmla="*/ 545 h 1071"/>
                <a:gd name="T50" fmla="*/ 178 w 547"/>
                <a:gd name="T51" fmla="*/ 545 h 1071"/>
                <a:gd name="T52" fmla="*/ 176 w 547"/>
                <a:gd name="T53" fmla="*/ 1002 h 1071"/>
                <a:gd name="T54" fmla="*/ 248 w 547"/>
                <a:gd name="T55" fmla="*/ 1070 h 1071"/>
                <a:gd name="T56" fmla="*/ 341 w 547"/>
                <a:gd name="T57" fmla="*/ 991 h 1071"/>
                <a:gd name="T58" fmla="*/ 308 w 547"/>
                <a:gd name="T59" fmla="*/ 969 h 1071"/>
                <a:gd name="T60" fmla="*/ 308 w 547"/>
                <a:gd name="T61" fmla="*/ 942 h 1071"/>
                <a:gd name="T62" fmla="*/ 341 w 547"/>
                <a:gd name="T63" fmla="*/ 918 h 1071"/>
                <a:gd name="T64" fmla="*/ 308 w 547"/>
                <a:gd name="T65" fmla="*/ 897 h 1071"/>
                <a:gd name="T66" fmla="*/ 313 w 547"/>
                <a:gd name="T67" fmla="*/ 889 h 1071"/>
                <a:gd name="T68" fmla="*/ 342 w 547"/>
                <a:gd name="T69" fmla="*/ 870 h 1071"/>
                <a:gd name="T70" fmla="*/ 347 w 547"/>
                <a:gd name="T71" fmla="*/ 812 h 1071"/>
                <a:gd name="T72" fmla="*/ 351 w 547"/>
                <a:gd name="T73" fmla="*/ 807 h 1071"/>
                <a:gd name="T74" fmla="*/ 307 w 547"/>
                <a:gd name="T75" fmla="*/ 772 h 1071"/>
                <a:gd name="T76" fmla="*/ 307 w 547"/>
                <a:gd name="T77" fmla="*/ 742 h 1071"/>
                <a:gd name="T78" fmla="*/ 342 w 547"/>
                <a:gd name="T79" fmla="*/ 708 h 1071"/>
                <a:gd name="T80" fmla="*/ 308 w 547"/>
                <a:gd name="T81" fmla="*/ 677 h 1071"/>
                <a:gd name="T82" fmla="*/ 308 w 547"/>
                <a:gd name="T83" fmla="*/ 646 h 1071"/>
                <a:gd name="T84" fmla="*/ 341 w 547"/>
                <a:gd name="T85" fmla="*/ 606 h 1071"/>
                <a:gd name="T86" fmla="*/ 347 w 547"/>
                <a:gd name="T87" fmla="*/ 542 h 1071"/>
                <a:gd name="T88" fmla="*/ 387 w 547"/>
                <a:gd name="T89" fmla="*/ 542 h 1071"/>
                <a:gd name="T90" fmla="*/ 387 w 547"/>
                <a:gd name="T91" fmla="*/ 455 h 1071"/>
                <a:gd name="T92" fmla="*/ 411 w 547"/>
                <a:gd name="T93" fmla="*/ 455 h 1071"/>
                <a:gd name="T94" fmla="*/ 411 w 547"/>
                <a:gd name="T95" fmla="*/ 378 h 1071"/>
                <a:gd name="T96" fmla="*/ 438 w 547"/>
                <a:gd name="T97" fmla="*/ 378 h 1071"/>
                <a:gd name="T98" fmla="*/ 450 w 547"/>
                <a:gd name="T99" fmla="*/ 341 h 1071"/>
                <a:gd name="T100" fmla="*/ 505 w 547"/>
                <a:gd name="T101" fmla="*/ 341 h 1071"/>
                <a:gd name="T102" fmla="*/ 505 w 547"/>
                <a:gd name="T103" fmla="*/ 310 h 1071"/>
                <a:gd name="T104" fmla="*/ 546 w 547"/>
                <a:gd name="T105" fmla="*/ 310 h 1071"/>
                <a:gd name="T106" fmla="*/ 546 w 547"/>
                <a:gd name="T107" fmla="*/ 159 h 1071"/>
                <a:gd name="T108" fmla="*/ 506 w 547"/>
                <a:gd name="T109" fmla="*/ 159 h 1071"/>
                <a:gd name="T110" fmla="*/ 506 w 547"/>
                <a:gd name="T111" fmla="*/ 137 h 1071"/>
                <a:gd name="T112" fmla="*/ 459 w 547"/>
                <a:gd name="T113" fmla="*/ 137 h 1071"/>
                <a:gd name="T114" fmla="*/ 449 w 547"/>
                <a:gd name="T115" fmla="*/ 127 h 1071"/>
                <a:gd name="T116" fmla="*/ 438 w 547"/>
                <a:gd name="T117" fmla="*/ 102 h 1071"/>
                <a:gd name="T118" fmla="*/ 411 w 547"/>
                <a:gd name="T119" fmla="*/ 102 h 1071"/>
                <a:gd name="T120" fmla="*/ 350 w 547"/>
                <a:gd name="T121" fmla="*/ 0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47" h="1071">
                  <a:moveTo>
                    <a:pt x="350" y="0"/>
                  </a:moveTo>
                  <a:lnTo>
                    <a:pt x="186" y="0"/>
                  </a:lnTo>
                  <a:lnTo>
                    <a:pt x="217" y="41"/>
                  </a:lnTo>
                  <a:lnTo>
                    <a:pt x="312" y="41"/>
                  </a:lnTo>
                  <a:lnTo>
                    <a:pt x="348" y="106"/>
                  </a:lnTo>
                  <a:lnTo>
                    <a:pt x="183" y="106"/>
                  </a:lnTo>
                  <a:lnTo>
                    <a:pt x="217" y="42"/>
                  </a:lnTo>
                  <a:lnTo>
                    <a:pt x="186" y="1"/>
                  </a:lnTo>
                  <a:lnTo>
                    <a:pt x="128" y="102"/>
                  </a:lnTo>
                  <a:lnTo>
                    <a:pt x="97" y="102"/>
                  </a:lnTo>
                  <a:lnTo>
                    <a:pt x="86" y="137"/>
                  </a:lnTo>
                  <a:lnTo>
                    <a:pt x="37" y="137"/>
                  </a:lnTo>
                  <a:lnTo>
                    <a:pt x="36" y="162"/>
                  </a:lnTo>
                  <a:lnTo>
                    <a:pt x="17" y="162"/>
                  </a:lnTo>
                  <a:lnTo>
                    <a:pt x="0" y="162"/>
                  </a:lnTo>
                  <a:lnTo>
                    <a:pt x="0" y="312"/>
                  </a:lnTo>
                  <a:lnTo>
                    <a:pt x="37" y="313"/>
                  </a:lnTo>
                  <a:lnTo>
                    <a:pt x="37" y="343"/>
                  </a:lnTo>
                  <a:lnTo>
                    <a:pt x="84" y="343"/>
                  </a:lnTo>
                  <a:lnTo>
                    <a:pt x="97" y="381"/>
                  </a:lnTo>
                  <a:lnTo>
                    <a:pt x="122" y="382"/>
                  </a:lnTo>
                  <a:lnTo>
                    <a:pt x="125" y="458"/>
                  </a:lnTo>
                  <a:lnTo>
                    <a:pt x="141" y="458"/>
                  </a:lnTo>
                  <a:lnTo>
                    <a:pt x="146" y="464"/>
                  </a:lnTo>
                  <a:lnTo>
                    <a:pt x="146" y="545"/>
                  </a:lnTo>
                  <a:lnTo>
                    <a:pt x="178" y="545"/>
                  </a:lnTo>
                  <a:lnTo>
                    <a:pt x="176" y="1002"/>
                  </a:lnTo>
                  <a:lnTo>
                    <a:pt x="248" y="1070"/>
                  </a:lnTo>
                  <a:lnTo>
                    <a:pt x="341" y="991"/>
                  </a:lnTo>
                  <a:lnTo>
                    <a:pt x="308" y="969"/>
                  </a:lnTo>
                  <a:lnTo>
                    <a:pt x="308" y="942"/>
                  </a:lnTo>
                  <a:lnTo>
                    <a:pt x="341" y="918"/>
                  </a:lnTo>
                  <a:lnTo>
                    <a:pt x="308" y="897"/>
                  </a:lnTo>
                  <a:lnTo>
                    <a:pt x="313" y="889"/>
                  </a:lnTo>
                  <a:lnTo>
                    <a:pt x="342" y="870"/>
                  </a:lnTo>
                  <a:lnTo>
                    <a:pt x="347" y="812"/>
                  </a:lnTo>
                  <a:lnTo>
                    <a:pt x="351" y="807"/>
                  </a:lnTo>
                  <a:lnTo>
                    <a:pt x="307" y="772"/>
                  </a:lnTo>
                  <a:lnTo>
                    <a:pt x="307" y="742"/>
                  </a:lnTo>
                  <a:lnTo>
                    <a:pt x="342" y="708"/>
                  </a:lnTo>
                  <a:lnTo>
                    <a:pt x="308" y="677"/>
                  </a:lnTo>
                  <a:lnTo>
                    <a:pt x="308" y="646"/>
                  </a:lnTo>
                  <a:lnTo>
                    <a:pt x="341" y="606"/>
                  </a:lnTo>
                  <a:lnTo>
                    <a:pt x="347" y="542"/>
                  </a:lnTo>
                  <a:lnTo>
                    <a:pt x="387" y="542"/>
                  </a:lnTo>
                  <a:lnTo>
                    <a:pt x="387" y="455"/>
                  </a:lnTo>
                  <a:lnTo>
                    <a:pt x="411" y="455"/>
                  </a:lnTo>
                  <a:lnTo>
                    <a:pt x="411" y="378"/>
                  </a:lnTo>
                  <a:lnTo>
                    <a:pt x="438" y="378"/>
                  </a:lnTo>
                  <a:lnTo>
                    <a:pt x="450" y="341"/>
                  </a:lnTo>
                  <a:lnTo>
                    <a:pt x="505" y="341"/>
                  </a:lnTo>
                  <a:lnTo>
                    <a:pt x="505" y="310"/>
                  </a:lnTo>
                  <a:lnTo>
                    <a:pt x="546" y="310"/>
                  </a:lnTo>
                  <a:lnTo>
                    <a:pt x="546" y="159"/>
                  </a:lnTo>
                  <a:lnTo>
                    <a:pt x="506" y="159"/>
                  </a:lnTo>
                  <a:lnTo>
                    <a:pt x="506" y="137"/>
                  </a:lnTo>
                  <a:lnTo>
                    <a:pt x="459" y="137"/>
                  </a:lnTo>
                  <a:lnTo>
                    <a:pt x="449" y="127"/>
                  </a:lnTo>
                  <a:lnTo>
                    <a:pt x="438" y="102"/>
                  </a:lnTo>
                  <a:lnTo>
                    <a:pt x="411" y="102"/>
                  </a:lnTo>
                  <a:lnTo>
                    <a:pt x="350" y="0"/>
                  </a:ln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0A9B86-E1AB-B666-9F93-76958D14422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0935158" y="3190591"/>
            <a:ext cx="0" cy="678386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7602DA-838B-932B-E6C6-17CED7760065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8095739" y="1713806"/>
            <a:ext cx="369" cy="80149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0992F0-57DC-7120-8491-C20EE1FBBE49}"/>
              </a:ext>
            </a:extLst>
          </p:cNvPr>
          <p:cNvCxnSpPr>
            <a:cxnSpLocks/>
          </p:cNvCxnSpPr>
          <p:nvPr/>
        </p:nvCxnSpPr>
        <p:spPr>
          <a:xfrm flipV="1">
            <a:off x="12556984" y="733923"/>
            <a:ext cx="88089" cy="437793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D2DA25-619E-ACD0-958C-DFA3DDDC3F8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324268" y="2791392"/>
            <a:ext cx="859616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5D517B-A0A7-FE2D-CC16-EB91689D6A04}"/>
              </a:ext>
            </a:extLst>
          </p:cNvPr>
          <p:cNvSpPr txBox="1"/>
          <p:nvPr/>
        </p:nvSpPr>
        <p:spPr>
          <a:xfrm>
            <a:off x="62221" y="4676166"/>
            <a:ext cx="493646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Digital signatures provide </a:t>
            </a:r>
            <a:r>
              <a:rPr lang="en-US" sz="2200" b="1" i="1" dirty="0">
                <a:solidFill>
                  <a:srgbClr val="C00000"/>
                </a:solidFill>
              </a:rPr>
              <a:t>integrity</a:t>
            </a:r>
            <a:r>
              <a:rPr lang="en-US" sz="2200" dirty="0"/>
              <a:t> and </a:t>
            </a:r>
            <a:r>
              <a:rPr lang="en-US" sz="2200" b="1" i="1" dirty="0">
                <a:solidFill>
                  <a:srgbClr val="C00000"/>
                </a:solidFill>
              </a:rPr>
              <a:t>authenticity</a:t>
            </a:r>
            <a:r>
              <a:rPr lang="en-US" sz="2200" dirty="0"/>
              <a:t> for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digital signature acts as proof that the private key holder signed H(M), so you know that M is authentically endorsed by the private key holder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08CE00-928D-B438-DD4B-15F14035AD6C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10935158" y="1960027"/>
            <a:ext cx="0" cy="678386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298DF3A-4610-D784-4C57-A9DEEEC8E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708" y="3868977"/>
            <a:ext cx="1978061" cy="10778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/>
            <a:r>
              <a:rPr lang="en-US" altLang="en-US" sz="1600" b="1" dirty="0"/>
              <a:t>Py75c%bn&amp;*)9|fDe^bDFaq#xzjFr@g5=&amp;nmdFg$5knvMd’rkvegMs”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00F590-B7E1-1085-D479-D914B134E694}"/>
              </a:ext>
            </a:extLst>
          </p:cNvPr>
          <p:cNvCxnSpPr>
            <a:cxnSpLocks/>
            <a:stCxn id="9" idx="2"/>
            <a:endCxn id="37" idx="0"/>
          </p:cNvCxnSpPr>
          <p:nvPr/>
        </p:nvCxnSpPr>
        <p:spPr>
          <a:xfrm>
            <a:off x="8095739" y="3067481"/>
            <a:ext cx="0" cy="801496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DEFD6DE-B03A-9BEE-1C8B-92B17246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3715" y="770251"/>
            <a:ext cx="86404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 eaLnBrk="0" hangingPunct="0"/>
            <a:r>
              <a:rPr lang="en-US" altLang="zh-CN" b="1" i="1" dirty="0">
                <a:solidFill>
                  <a:srgbClr val="C00000"/>
                </a:solidFill>
              </a:rPr>
              <a:t>sig</a:t>
            </a:r>
            <a:endParaRPr lang="en-US" altLang="en-US" b="1" i="1" dirty="0">
              <a:solidFill>
                <a:srgbClr val="C0000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DD34D7-FDBD-CA53-983F-F13F74864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3135" y="770251"/>
            <a:ext cx="864048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 eaLnBrk="0" hangingPunct="0"/>
            <a:r>
              <a:rPr lang="en-US" altLang="zh-CN" b="1" i="1" dirty="0">
                <a:solidFill>
                  <a:srgbClr val="C00000"/>
                </a:solidFill>
              </a:rPr>
              <a:t>M</a:t>
            </a:r>
            <a:endParaRPr lang="en-US" altLang="en-US" b="1" i="1" dirty="0">
              <a:solidFill>
                <a:srgbClr val="C00000"/>
              </a:solidFill>
            </a:endParaRP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C118EE2D-C87D-F185-1A6F-50E9832C31B6}"/>
              </a:ext>
            </a:extLst>
          </p:cNvPr>
          <p:cNvSpPr/>
          <p:nvPr/>
        </p:nvSpPr>
        <p:spPr>
          <a:xfrm>
            <a:off x="8527763" y="5400351"/>
            <a:ext cx="2118788" cy="552178"/>
          </a:xfrm>
          <a:prstGeom prst="diamon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==?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C1EF1AA-0E7B-E51F-7A9D-EECAAB3A72B0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8095739" y="4946837"/>
            <a:ext cx="989030" cy="60052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7B8935A-422F-108F-669A-9E6C4FEA1F5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0024533" y="4946837"/>
            <a:ext cx="910625" cy="60052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45B0CE2-892E-5A6D-2EC6-1A1BAF924090}"/>
              </a:ext>
            </a:extLst>
          </p:cNvPr>
          <p:cNvCxnSpPr>
            <a:cxnSpLocks/>
            <a:stCxn id="55" idx="2"/>
            <a:endCxn id="67" idx="0"/>
          </p:cNvCxnSpPr>
          <p:nvPr/>
        </p:nvCxnSpPr>
        <p:spPr>
          <a:xfrm>
            <a:off x="9587157" y="5952529"/>
            <a:ext cx="0" cy="4535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3E2E661-2C96-2032-B516-E655279F3A7B}"/>
              </a:ext>
            </a:extLst>
          </p:cNvPr>
          <p:cNvSpPr/>
          <p:nvPr/>
        </p:nvSpPr>
        <p:spPr>
          <a:xfrm>
            <a:off x="9053509" y="6406043"/>
            <a:ext cx="1067296" cy="3681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</a:rPr>
              <a:t>1/0</a:t>
            </a:r>
          </a:p>
        </p:txBody>
      </p:sp>
    </p:spTree>
    <p:extLst>
      <p:ext uri="{BB962C8B-B14F-4D97-AF65-F5344CB8AC3E}">
        <p14:creationId xmlns:p14="http://schemas.microsoft.com/office/powerpoint/2010/main" val="751719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E62C-8F8F-0ABB-DF86-D06FFE19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916"/>
            <a:ext cx="10515600" cy="941161"/>
          </a:xfrm>
        </p:spPr>
        <p:txBody>
          <a:bodyPr/>
          <a:lstStyle/>
          <a:p>
            <a:r>
              <a:rPr lang="en-US" dirty="0"/>
              <a:t>RSA Signatures</a:t>
            </a:r>
            <a:r>
              <a:rPr lang="en" dirty="0"/>
              <a:t>: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CD7A-A477-3B8F-AAFC-2A35284B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0039" y="1525439"/>
            <a:ext cx="5881961" cy="4351338"/>
          </a:xfrm>
        </p:spPr>
        <p:txBody>
          <a:bodyPr>
            <a:normAutofit/>
          </a:bodyPr>
          <a:lstStyle/>
          <a:p>
            <a:pPr marL="114300" lvl="0" indent="0" algn="l" rtl="0">
              <a:spcBef>
                <a:spcPts val="0"/>
              </a:spcBef>
              <a:buSzPts val="1800"/>
              <a:buNone/>
            </a:pPr>
            <a:r>
              <a:rPr lang="en-US" sz="2200" dirty="0"/>
              <a:t>Recall RSA encryption: </a:t>
            </a:r>
            <a:r>
              <a:rPr lang="en-US" sz="2200" i="1" dirty="0"/>
              <a:t>M</a:t>
            </a:r>
            <a:r>
              <a:rPr lang="en-US" sz="2200" i="1" baseline="30000" dirty="0"/>
              <a:t>ed</a:t>
            </a:r>
            <a:r>
              <a:rPr lang="en-US" sz="2200" dirty="0"/>
              <a:t> ≡ </a:t>
            </a:r>
            <a:r>
              <a:rPr lang="en-US" sz="2200" i="1" dirty="0"/>
              <a:t>M</a:t>
            </a:r>
            <a:r>
              <a:rPr lang="en-US" sz="2200" dirty="0"/>
              <a:t> mod </a:t>
            </a:r>
            <a:r>
              <a:rPr lang="en-US" sz="2200" i="1" dirty="0"/>
              <a:t>N</a:t>
            </a:r>
            <a:endParaRPr lang="en-US" sz="2200" dirty="0"/>
          </a:p>
          <a:p>
            <a:r>
              <a:rPr lang="en-US" sz="2200" dirty="0"/>
              <a:t>Last week: </a:t>
            </a:r>
          </a:p>
          <a:p>
            <a:pPr lvl="1"/>
            <a:r>
              <a:rPr lang="pt-BR" sz="2200" dirty="0"/>
              <a:t>Enc(</a:t>
            </a:r>
            <a:r>
              <a:rPr lang="pt-BR" sz="2200" i="1" dirty="0"/>
              <a:t>e</a:t>
            </a:r>
            <a:r>
              <a:rPr lang="pt-BR" sz="2200" dirty="0"/>
              <a:t>, </a:t>
            </a:r>
            <a:r>
              <a:rPr lang="pt-BR" sz="2200" i="1" dirty="0"/>
              <a:t>N</a:t>
            </a:r>
            <a:r>
              <a:rPr lang="pt-BR" sz="2200" dirty="0"/>
              <a:t>, </a:t>
            </a:r>
            <a:r>
              <a:rPr lang="pt-BR" sz="2200" i="1" dirty="0"/>
              <a:t>M</a:t>
            </a:r>
            <a:r>
              <a:rPr lang="pt-BR" sz="2200" dirty="0"/>
              <a:t>) </a:t>
            </a:r>
            <a:r>
              <a:rPr lang="en-US" sz="2200" dirty="0"/>
              <a:t>→ </a:t>
            </a:r>
            <a:r>
              <a:rPr lang="en-US" sz="2200" i="1" dirty="0"/>
              <a:t>C</a:t>
            </a:r>
          </a:p>
          <a:p>
            <a:pPr lvl="1"/>
            <a:r>
              <a:rPr lang="pt-BR" sz="2200" dirty="0"/>
              <a:t>Dec(</a:t>
            </a:r>
            <a:r>
              <a:rPr lang="pt-BR" sz="2200" i="1" dirty="0"/>
              <a:t>d</a:t>
            </a:r>
            <a:r>
              <a:rPr lang="pt-BR" sz="2200" dirty="0"/>
              <a:t>,</a:t>
            </a:r>
            <a:r>
              <a:rPr lang="pt-BR" sz="2200" i="1" dirty="0"/>
              <a:t> C</a:t>
            </a:r>
            <a:r>
              <a:rPr lang="pt-BR" sz="2200" dirty="0"/>
              <a:t>) </a:t>
            </a:r>
            <a:r>
              <a:rPr lang="en-US" sz="2200" dirty="0"/>
              <a:t>→ </a:t>
            </a:r>
            <a:r>
              <a:rPr lang="en-US" sz="2200" i="1" dirty="0"/>
              <a:t>M</a:t>
            </a:r>
          </a:p>
          <a:p>
            <a:r>
              <a:rPr lang="en-US" sz="2200" dirty="0"/>
              <a:t>There is nothing special about using e first or </a:t>
            </a:r>
            <a:r>
              <a:rPr lang="en-US" sz="2200" b="1" dirty="0">
                <a:solidFill>
                  <a:srgbClr val="C00000"/>
                </a:solidFill>
              </a:rPr>
              <a:t>using d first</a:t>
            </a:r>
            <a:r>
              <a:rPr lang="en-US" sz="2200" dirty="0"/>
              <a:t>!</a:t>
            </a:r>
          </a:p>
          <a:p>
            <a:r>
              <a:rPr lang="en-US" sz="2200" dirty="0"/>
              <a:t>If we </a:t>
            </a:r>
            <a:r>
              <a:rPr lang="en-US" sz="2200" b="1" dirty="0">
                <a:solidFill>
                  <a:srgbClr val="C00000"/>
                </a:solidFill>
              </a:rPr>
              <a:t>encrypt using d</a:t>
            </a:r>
            <a:r>
              <a:rPr lang="en-US" sz="2200" dirty="0"/>
              <a:t>, then anyone can “decrypt” using e</a:t>
            </a:r>
          </a:p>
          <a:p>
            <a:r>
              <a:rPr lang="en" sz="2200" dirty="0"/>
              <a:t>Given </a:t>
            </a:r>
            <a:r>
              <a:rPr lang="en" sz="2200" i="1" dirty="0"/>
              <a:t>x</a:t>
            </a:r>
            <a:r>
              <a:rPr lang="en" sz="2200" dirty="0"/>
              <a:t> and </a:t>
            </a:r>
            <a:r>
              <a:rPr lang="en" sz="2200" i="1" dirty="0"/>
              <a:t>x</a:t>
            </a:r>
            <a:r>
              <a:rPr lang="en" sz="2200" i="1" baseline="30000" dirty="0"/>
              <a:t>d</a:t>
            </a:r>
            <a:r>
              <a:rPr lang="en" sz="2200" dirty="0"/>
              <a:t> mod </a:t>
            </a:r>
            <a:r>
              <a:rPr lang="en" sz="2200" i="1" dirty="0"/>
              <a:t>N</a:t>
            </a:r>
            <a:r>
              <a:rPr lang="en-US" sz="2200" dirty="0"/>
              <a:t>, can’t recover </a:t>
            </a:r>
            <a:r>
              <a:rPr lang="en-US" sz="2200" i="1" dirty="0"/>
              <a:t>d</a:t>
            </a:r>
            <a:r>
              <a:rPr lang="en-US" sz="2200" dirty="0"/>
              <a:t> because of discrete-log problem, so </a:t>
            </a:r>
            <a:r>
              <a:rPr lang="en-US" sz="2200" i="1" dirty="0"/>
              <a:t>d</a:t>
            </a:r>
            <a:r>
              <a:rPr lang="en-US" sz="2200" dirty="0"/>
              <a:t> is safe</a:t>
            </a:r>
          </a:p>
          <a:p>
            <a:endParaRPr lang="en-US" sz="2200" dirty="0"/>
          </a:p>
        </p:txBody>
      </p:sp>
      <p:sp>
        <p:nvSpPr>
          <p:cNvPr id="4" name="Google Shape;162;p26">
            <a:extLst>
              <a:ext uri="{FF2B5EF4-FFF2-40B4-BE49-F238E27FC236}">
                <a16:creationId xmlns:a16="http://schemas.microsoft.com/office/drawing/2014/main" id="{9A770158-A830-7AA1-46E8-6DD885480859}"/>
              </a:ext>
            </a:extLst>
          </p:cNvPr>
          <p:cNvSpPr txBox="1">
            <a:spLocks/>
          </p:cNvSpPr>
          <p:nvPr/>
        </p:nvSpPr>
        <p:spPr>
          <a:xfrm>
            <a:off x="341375" y="1136652"/>
            <a:ext cx="5540587" cy="54648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en-US" sz="2200" b="1" i="1" dirty="0" err="1">
                <a:solidFill>
                  <a:srgbClr val="C00000"/>
                </a:solidFill>
              </a:rPr>
              <a:t>KeyGen</a:t>
            </a:r>
            <a:r>
              <a:rPr lang="en-US" sz="2200" b="1" i="1" dirty="0">
                <a:solidFill>
                  <a:srgbClr val="C00000"/>
                </a:solidFill>
              </a:rPr>
              <a:t>():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Same as RSA encryption: 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b="1" dirty="0"/>
              <a:t>Public key</a:t>
            </a:r>
            <a:r>
              <a:rPr lang="en-US" sz="2200" dirty="0"/>
              <a:t>: </a:t>
            </a:r>
            <a:r>
              <a:rPr lang="en-US" sz="2200" i="1" dirty="0"/>
              <a:t>N</a:t>
            </a:r>
            <a:r>
              <a:rPr lang="en-US" sz="2200" dirty="0"/>
              <a:t> and </a:t>
            </a:r>
            <a:r>
              <a:rPr lang="en-US" sz="2200" i="1" dirty="0"/>
              <a:t>e</a:t>
            </a:r>
            <a:endParaRPr lang="en-US" sz="2200" dirty="0"/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b="1" dirty="0"/>
              <a:t>Private key:</a:t>
            </a:r>
            <a:r>
              <a:rPr lang="en-US" sz="2200" dirty="0"/>
              <a:t> </a:t>
            </a:r>
            <a:r>
              <a:rPr lang="en-US" sz="2200" i="1" dirty="0"/>
              <a:t>d</a:t>
            </a:r>
          </a:p>
          <a:p>
            <a:pPr marL="1371600" lvl="2" indent="-317500">
              <a:spcBef>
                <a:spcPts val="0"/>
              </a:spcBef>
              <a:buSzPts val="1400"/>
              <a:buFont typeface="Arial" panose="020B0604020202020204" pitchFamily="34" charset="0"/>
              <a:buChar char="■"/>
            </a:pPr>
            <a:endParaRPr lang="en-US" sz="2200" dirty="0"/>
          </a:p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en-US" sz="2200" b="1" i="1" dirty="0">
                <a:solidFill>
                  <a:srgbClr val="C00000"/>
                </a:solidFill>
              </a:rPr>
              <a:t>Sign(d, M):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Compute: sig = </a:t>
            </a:r>
            <a:r>
              <a:rPr lang="en-US" sz="2200" i="1" dirty="0"/>
              <a:t>H</a:t>
            </a:r>
            <a:r>
              <a:rPr lang="en-US" sz="2200" dirty="0"/>
              <a:t>(</a:t>
            </a:r>
            <a:r>
              <a:rPr lang="en-US" sz="2200" i="1" dirty="0"/>
              <a:t>M</a:t>
            </a:r>
            <a:r>
              <a:rPr lang="en-US" sz="2200" dirty="0"/>
              <a:t>)</a:t>
            </a:r>
            <a:r>
              <a:rPr lang="en-US" sz="2200" i="1" baseline="30000" dirty="0"/>
              <a:t>d</a:t>
            </a:r>
            <a:r>
              <a:rPr lang="en-US" sz="2200" dirty="0"/>
              <a:t> mod </a:t>
            </a:r>
            <a:r>
              <a:rPr lang="en-US" sz="2200" i="1" dirty="0"/>
              <a:t>N</a:t>
            </a:r>
          </a:p>
          <a:p>
            <a:pPr marL="596900" lvl="1" indent="0">
              <a:spcBef>
                <a:spcPts val="0"/>
              </a:spcBef>
              <a:buSzPts val="1400"/>
              <a:buNone/>
            </a:pPr>
            <a:endParaRPr lang="en-US" sz="2200" dirty="0"/>
          </a:p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en-US" sz="2200" b="1" i="1" dirty="0">
                <a:solidFill>
                  <a:srgbClr val="C00000"/>
                </a:solidFill>
              </a:rPr>
              <a:t>Verify(e, N, M, sig):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Verify that </a:t>
            </a:r>
            <a:r>
              <a:rPr lang="en-US" sz="2200" i="1" dirty="0"/>
              <a:t>H</a:t>
            </a:r>
            <a:r>
              <a:rPr lang="en-US" sz="2200" dirty="0"/>
              <a:t>(</a:t>
            </a:r>
            <a:r>
              <a:rPr lang="en-US" sz="2200" i="1" dirty="0"/>
              <a:t>M</a:t>
            </a:r>
            <a:r>
              <a:rPr lang="en-US" sz="2200" dirty="0"/>
              <a:t>) ≡ </a:t>
            </a:r>
            <a:r>
              <a:rPr lang="en-US" sz="2200" i="1" dirty="0" err="1"/>
              <a:t>sig</a:t>
            </a:r>
            <a:r>
              <a:rPr lang="en-US" sz="2200" i="1" baseline="30000" dirty="0" err="1"/>
              <a:t>e</a:t>
            </a:r>
            <a:r>
              <a:rPr lang="en-US" sz="2200" dirty="0"/>
              <a:t> mod </a:t>
            </a:r>
            <a:r>
              <a:rPr lang="en-US" sz="2200" i="1" dirty="0"/>
              <a:t>N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en-US" sz="2200" i="1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Correctness:</a:t>
            </a:r>
            <a:r>
              <a:rPr lang="en-US" sz="2200" i="1" dirty="0"/>
              <a:t> </a:t>
            </a:r>
            <a:r>
              <a:rPr lang="en-US" sz="2200" i="1" dirty="0" err="1"/>
              <a:t>sig</a:t>
            </a:r>
            <a:r>
              <a:rPr lang="en-US" sz="2200" i="1" baseline="30000" dirty="0" err="1"/>
              <a:t>e</a:t>
            </a:r>
            <a:r>
              <a:rPr lang="en-US" sz="2200" dirty="0"/>
              <a:t> mod </a:t>
            </a:r>
            <a:r>
              <a:rPr lang="en-US" sz="2200" i="1" dirty="0"/>
              <a:t>N </a:t>
            </a:r>
            <a:r>
              <a:rPr lang="en-US" sz="2200" dirty="0"/>
              <a:t>≡ </a:t>
            </a:r>
            <a:r>
              <a:rPr lang="en-US" sz="2200" i="1" dirty="0"/>
              <a:t>H</a:t>
            </a:r>
            <a:r>
              <a:rPr lang="en-US" sz="2200" dirty="0"/>
              <a:t>(</a:t>
            </a:r>
            <a:r>
              <a:rPr lang="en-US" sz="2200" i="1" dirty="0"/>
              <a:t>M</a:t>
            </a:r>
            <a:r>
              <a:rPr lang="en-US" sz="2200" dirty="0"/>
              <a:t>)</a:t>
            </a:r>
            <a:r>
              <a:rPr lang="en-US" sz="2200" i="1" baseline="30000" dirty="0"/>
              <a:t>de</a:t>
            </a:r>
            <a:r>
              <a:rPr lang="en-US" sz="2200" dirty="0"/>
              <a:t> mod </a:t>
            </a:r>
            <a:r>
              <a:rPr lang="en-US" sz="2200" i="1" dirty="0"/>
              <a:t>N </a:t>
            </a:r>
            <a:r>
              <a:rPr lang="en-US" sz="2200" dirty="0"/>
              <a:t>≡ </a:t>
            </a:r>
            <a:r>
              <a:rPr lang="en-US" sz="2200" i="1" dirty="0"/>
              <a:t>H(M) mod N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Because</a:t>
            </a:r>
            <a:r>
              <a:rPr lang="en-US" sz="2200" i="1" dirty="0"/>
              <a:t> </a:t>
            </a:r>
            <a:r>
              <a:rPr lang="en-US" sz="2200" dirty="0"/>
              <a:t>recall</a:t>
            </a:r>
            <a:r>
              <a:rPr lang="en-US" sz="2200" i="1" dirty="0"/>
              <a:t> </a:t>
            </a:r>
            <a:r>
              <a:rPr lang="en-US" sz="2200" i="1" dirty="0" err="1"/>
              <a:t>x</a:t>
            </a:r>
            <a:r>
              <a:rPr lang="en-US" sz="2200" i="1" baseline="30000" dirty="0" err="1"/>
              <a:t>de</a:t>
            </a:r>
            <a:r>
              <a:rPr lang="en-US" sz="2200" dirty="0"/>
              <a:t> mod </a:t>
            </a:r>
            <a:r>
              <a:rPr lang="en-US" sz="2200" i="1" dirty="0"/>
              <a:t>N </a:t>
            </a:r>
            <a:r>
              <a:rPr lang="en-US" sz="2200" dirty="0"/>
              <a:t>≡ </a:t>
            </a:r>
            <a:r>
              <a:rPr lang="en-US" sz="2200" i="1" dirty="0"/>
              <a:t>x mod N </a:t>
            </a:r>
            <a:r>
              <a:rPr lang="en-US" sz="2200" dirty="0"/>
              <a:t>for all x)</a:t>
            </a:r>
            <a:r>
              <a:rPr lang="en-US" sz="22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789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1239-AEDE-8950-CBA4-DC4A00CD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7"/>
            <a:ext cx="10515600" cy="1081838"/>
          </a:xfrm>
        </p:spPr>
        <p:txBody>
          <a:bodyPr/>
          <a:lstStyle/>
          <a:p>
            <a:r>
              <a:rPr lang="en-US" dirty="0"/>
              <a:t>Summary: Public-Key Cryptography</a:t>
            </a:r>
          </a:p>
        </p:txBody>
      </p:sp>
      <p:sp>
        <p:nvSpPr>
          <p:cNvPr id="6" name="Google Shape;169;p27">
            <a:extLst>
              <a:ext uri="{FF2B5EF4-FFF2-40B4-BE49-F238E27FC236}">
                <a16:creationId xmlns:a16="http://schemas.microsoft.com/office/drawing/2014/main" id="{95399622-C498-6A85-2CB8-0AD4EC7F8D31}"/>
              </a:ext>
            </a:extLst>
          </p:cNvPr>
          <p:cNvSpPr txBox="1">
            <a:spLocks/>
          </p:cNvSpPr>
          <p:nvPr/>
        </p:nvSpPr>
        <p:spPr>
          <a:xfrm>
            <a:off x="388441" y="1637881"/>
            <a:ext cx="11415118" cy="4824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Public-key cryptography: Two keys, private and public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Public-key encryption: One key encrypts, the other decrypts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Security properties similar to symmetric encryption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RSA Enc</a:t>
            </a:r>
            <a:r>
              <a:rPr lang="en-US" dirty="0"/>
              <a:t>: Produce a pair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d</a:t>
            </a:r>
            <a:r>
              <a:rPr lang="en-US" dirty="0"/>
              <a:t> such that </a:t>
            </a:r>
            <a:r>
              <a:rPr lang="en-US" i="1" dirty="0"/>
              <a:t>M</a:t>
            </a:r>
            <a:r>
              <a:rPr lang="en-US" i="1" baseline="30000" dirty="0"/>
              <a:t>ed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 mod </a:t>
            </a:r>
            <a:r>
              <a:rPr lang="en-US" i="1" dirty="0"/>
              <a:t>N</a:t>
            </a:r>
            <a:endParaRPr lang="en-US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i="1" dirty="0"/>
              <a:t>Hybrid encryption</a:t>
            </a:r>
            <a:r>
              <a:rPr lang="en-US" dirty="0"/>
              <a:t>: Encrypt a symmetric key, and use the symmetric key to encrypt the message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i="1" dirty="0">
                <a:solidFill>
                  <a:srgbClr val="C00000"/>
                </a:solidFill>
              </a:rPr>
              <a:t>Digital signatures: </a:t>
            </a:r>
            <a:r>
              <a:rPr lang="en-US" dirty="0"/>
              <a:t>Integrity and authenticity for asymmetric schemes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RSA Sigature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Sign</a:t>
            </a:r>
            <a:r>
              <a:rPr lang="en-US" dirty="0"/>
              <a:t> (Encrypt) the hash with the </a:t>
            </a:r>
            <a:r>
              <a:rPr lang="en-US" i="1" dirty="0">
                <a:solidFill>
                  <a:srgbClr val="C00000"/>
                </a:solidFill>
              </a:rPr>
              <a:t>private</a:t>
            </a:r>
            <a:r>
              <a:rPr lang="en-US" dirty="0">
                <a:solidFill>
                  <a:srgbClr val="C00000"/>
                </a:solidFill>
              </a:rPr>
              <a:t> key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Other popular signature schemes: </a:t>
            </a:r>
            <a:r>
              <a:rPr lang="en-US" i="1" dirty="0">
                <a:hlinkClick r:id="rId2"/>
              </a:rPr>
              <a:t>DSA, ECDSA, </a:t>
            </a:r>
            <a:r>
              <a:rPr lang="en-US" i="1" dirty="0" err="1">
                <a:hlinkClick r:id="rId2"/>
              </a:rPr>
              <a:t>EdDSA</a:t>
            </a:r>
            <a:r>
              <a:rPr lang="en-US" i="1" dirty="0">
                <a:hlinkClick r:id="rId2"/>
              </a:rPr>
              <a:t>, BLS…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15342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9FFA0-7304-899D-B917-929AA333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CAA0-621F-BB15-A9AA-D2905D02AD25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7B57454-06FE-012C-8E0C-F6648E026353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 Signatures and RSA Signature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Certificates and Chain of Trust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Key Infrastructure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14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88F4-073D-B86D-8AB9-4289D087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78"/>
            <a:ext cx="10515600" cy="850726"/>
          </a:xfrm>
        </p:spPr>
        <p:txBody>
          <a:bodyPr/>
          <a:lstStyle/>
          <a:p>
            <a:r>
              <a:rPr lang="en-US" dirty="0"/>
              <a:t>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8566D-5047-0045-F32F-3FD39D1E7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08" y="1473858"/>
            <a:ext cx="11160984" cy="365628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dk1"/>
                </a:solidFill>
              </a:rPr>
              <a:t>Public-key cryptography is great! We can communicate securely without a shared secret</a:t>
            </a:r>
          </a:p>
          <a:p>
            <a:pPr lvl="1"/>
            <a:r>
              <a:rPr lang="en-US" b="1" dirty="0">
                <a:solidFill>
                  <a:schemeClr val="dk1"/>
                </a:solidFill>
              </a:rPr>
              <a:t>Public-key encryption</a:t>
            </a:r>
            <a:r>
              <a:rPr lang="en-US" dirty="0">
                <a:solidFill>
                  <a:schemeClr val="dk1"/>
                </a:solidFill>
              </a:rPr>
              <a:t>: Everybody encrypts with the public key, but only the owner of the private key can decrypt</a:t>
            </a:r>
          </a:p>
          <a:p>
            <a:pPr lvl="1"/>
            <a:r>
              <a:rPr lang="en-US" b="1" dirty="0">
                <a:solidFill>
                  <a:schemeClr val="dk1"/>
                </a:solidFill>
              </a:rPr>
              <a:t>Digital signatures</a:t>
            </a:r>
            <a:r>
              <a:rPr lang="en-US" dirty="0">
                <a:solidFill>
                  <a:schemeClr val="dk1"/>
                </a:solidFill>
              </a:rPr>
              <a:t>: Only the owner of the private key can sign, but everybody can verify with the public key</a:t>
            </a:r>
          </a:p>
          <a:p>
            <a:r>
              <a:rPr lang="en-US" sz="2800" dirty="0">
                <a:solidFill>
                  <a:schemeClr val="dk1"/>
                </a:solidFill>
              </a:rPr>
              <a:t>How do we </a:t>
            </a:r>
            <a:r>
              <a:rPr lang="en-US" sz="2800" dirty="0">
                <a:solidFill>
                  <a:srgbClr val="C00000"/>
                </a:solidFill>
              </a:rPr>
              <a:t>know the public key </a:t>
            </a:r>
            <a:r>
              <a:rPr lang="en-US" sz="2800" dirty="0">
                <a:solidFill>
                  <a:schemeClr val="dk1"/>
                </a:solidFill>
              </a:rPr>
              <a:t>of an entity? </a:t>
            </a:r>
          </a:p>
          <a:p>
            <a:r>
              <a:rPr lang="en-US" sz="2800" dirty="0">
                <a:solidFill>
                  <a:schemeClr val="dk1"/>
                </a:solidFill>
              </a:rPr>
              <a:t>How do we </a:t>
            </a:r>
            <a:r>
              <a:rPr lang="en-US" sz="2800" dirty="0">
                <a:solidFill>
                  <a:srgbClr val="C00000"/>
                </a:solidFill>
              </a:rPr>
              <a:t>distribute public keys </a:t>
            </a:r>
            <a:r>
              <a:rPr lang="en-US" sz="2800" dirty="0">
                <a:solidFill>
                  <a:schemeClr val="dk1"/>
                </a:solidFill>
              </a:rPr>
              <a:t>securely?</a:t>
            </a:r>
          </a:p>
        </p:txBody>
      </p:sp>
    </p:spTree>
    <p:extLst>
      <p:ext uri="{BB962C8B-B14F-4D97-AF65-F5344CB8AC3E}">
        <p14:creationId xmlns:p14="http://schemas.microsoft.com/office/powerpoint/2010/main" val="1461457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85B4-9967-A8ED-E158-3BBBF8E9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3943"/>
            <a:ext cx="10515600" cy="756923"/>
          </a:xfrm>
        </p:spPr>
        <p:txBody>
          <a:bodyPr>
            <a:normAutofit/>
          </a:bodyPr>
          <a:lstStyle/>
          <a:p>
            <a:r>
              <a:rPr lang="en" dirty="0"/>
              <a:t>Problem: Distributing Public Keys</a:t>
            </a:r>
            <a:endParaRPr lang="en-US" dirty="0"/>
          </a:p>
        </p:txBody>
      </p:sp>
      <p:cxnSp>
        <p:nvCxnSpPr>
          <p:cNvPr id="5" name="Google Shape;196;p31">
            <a:extLst>
              <a:ext uri="{FF2B5EF4-FFF2-40B4-BE49-F238E27FC236}">
                <a16:creationId xmlns:a16="http://schemas.microsoft.com/office/drawing/2014/main" id="{F64CBE04-F731-1286-6930-2056773D23E2}"/>
              </a:ext>
            </a:extLst>
          </p:cNvPr>
          <p:cNvCxnSpPr>
            <a:cxnSpLocks/>
          </p:cNvCxnSpPr>
          <p:nvPr/>
        </p:nvCxnSpPr>
        <p:spPr>
          <a:xfrm>
            <a:off x="4075772" y="1480743"/>
            <a:ext cx="0" cy="502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97;p31">
            <a:extLst>
              <a:ext uri="{FF2B5EF4-FFF2-40B4-BE49-F238E27FC236}">
                <a16:creationId xmlns:a16="http://schemas.microsoft.com/office/drawing/2014/main" id="{FA03E08F-7A5C-98C0-6703-14A4C91F3A3A}"/>
              </a:ext>
            </a:extLst>
          </p:cNvPr>
          <p:cNvCxnSpPr>
            <a:cxnSpLocks/>
          </p:cNvCxnSpPr>
          <p:nvPr/>
        </p:nvCxnSpPr>
        <p:spPr>
          <a:xfrm>
            <a:off x="8309587" y="1480743"/>
            <a:ext cx="0" cy="502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00;p31">
                <a:extLst>
                  <a:ext uri="{FF2B5EF4-FFF2-40B4-BE49-F238E27FC236}">
                    <a16:creationId xmlns:a16="http://schemas.microsoft.com/office/drawing/2014/main" id="{34BA6049-407A-8233-DA5A-04EABD1F57E0}"/>
                  </a:ext>
                </a:extLst>
              </p:cNvPr>
              <p:cNvSpPr txBox="1"/>
              <p:nvPr/>
            </p:nvSpPr>
            <p:spPr>
              <a:xfrm>
                <a:off x="601853" y="5244342"/>
                <a:ext cx="3042779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/>
                <a:r>
                  <a:rPr lang="en-US" dirty="0"/>
                  <a:t>Decrypt: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𝐷𝑒𝑐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9" name="Google Shape;200;p31">
                <a:extLst>
                  <a:ext uri="{FF2B5EF4-FFF2-40B4-BE49-F238E27FC236}">
                    <a16:creationId xmlns:a16="http://schemas.microsoft.com/office/drawing/2014/main" id="{34BA6049-407A-8233-DA5A-04EABD1F5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53" y="5244342"/>
                <a:ext cx="3042779" cy="461635"/>
              </a:xfrm>
              <a:prstGeom prst="rect">
                <a:avLst/>
              </a:prstGeom>
              <a:blipFill>
                <a:blip r:embed="rId2"/>
                <a:stretch>
                  <a:fillRect b="-11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01;p31">
                <a:extLst>
                  <a:ext uri="{FF2B5EF4-FFF2-40B4-BE49-F238E27FC236}">
                    <a16:creationId xmlns:a16="http://schemas.microsoft.com/office/drawing/2014/main" id="{0701F5C9-3A57-BD4D-54C8-050D8660659F}"/>
                  </a:ext>
                </a:extLst>
              </p:cNvPr>
              <p:cNvSpPr txBox="1"/>
              <p:nvPr/>
            </p:nvSpPr>
            <p:spPr>
              <a:xfrm>
                <a:off x="739592" y="1930417"/>
                <a:ext cx="2767302" cy="1015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/>
                <a:r>
                  <a:rPr lang="en-US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Send:&lt; “Alice”,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i="1" dirty="0"/>
              </a:p>
            </p:txBody>
          </p:sp>
        </mc:Choice>
        <mc:Fallback xmlns="">
          <p:sp>
            <p:nvSpPr>
              <p:cNvPr id="10" name="Google Shape;201;p31">
                <a:extLst>
                  <a:ext uri="{FF2B5EF4-FFF2-40B4-BE49-F238E27FC236}">
                    <a16:creationId xmlns:a16="http://schemas.microsoft.com/office/drawing/2014/main" id="{0701F5C9-3A57-BD4D-54C8-050D86606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2" y="1930417"/>
                <a:ext cx="2767302" cy="1015632"/>
              </a:xfrm>
              <a:prstGeom prst="rect">
                <a:avLst/>
              </a:prstGeom>
              <a:blipFill>
                <a:blip r:embed="rId3"/>
                <a:stretch>
                  <a:fillRect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203;p31">
                <a:extLst>
                  <a:ext uri="{FF2B5EF4-FFF2-40B4-BE49-F238E27FC236}">
                    <a16:creationId xmlns:a16="http://schemas.microsoft.com/office/drawing/2014/main" id="{87FC06CC-88BB-B325-F691-20D3B1A84A88}"/>
                  </a:ext>
                </a:extLst>
              </p:cNvPr>
              <p:cNvSpPr txBox="1"/>
              <p:nvPr/>
            </p:nvSpPr>
            <p:spPr>
              <a:xfrm>
                <a:off x="4894157" y="2900388"/>
                <a:ext cx="2597043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Send: &lt;“Alice”,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𝑷𝑲</m:t>
                        </m:r>
                      </m:e>
                      <m:sub>
                        <m:r>
                          <a:rPr lang="ar-AE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C00000"/>
                    </a:solidFill>
                  </a:rPr>
                  <a:t>&gt;</a:t>
                </a:r>
                <a:endParaRPr lang="ar-AE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Google Shape;203;p31">
                <a:extLst>
                  <a:ext uri="{FF2B5EF4-FFF2-40B4-BE49-F238E27FC236}">
                    <a16:creationId xmlns:a16="http://schemas.microsoft.com/office/drawing/2014/main" id="{87FC06CC-88BB-B325-F691-20D3B1A84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157" y="2900388"/>
                <a:ext cx="2597043" cy="46163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oogle Shape;204;p31">
            <a:extLst>
              <a:ext uri="{FF2B5EF4-FFF2-40B4-BE49-F238E27FC236}">
                <a16:creationId xmlns:a16="http://schemas.microsoft.com/office/drawing/2014/main" id="{11A8A55A-569A-86F0-58D7-047C562BA996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506894" y="2438233"/>
            <a:ext cx="1387263" cy="6929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205;p31">
            <a:extLst>
              <a:ext uri="{FF2B5EF4-FFF2-40B4-BE49-F238E27FC236}">
                <a16:creationId xmlns:a16="http://schemas.microsoft.com/office/drawing/2014/main" id="{F4618911-E71A-6632-3CB6-16C909A00F68}"/>
              </a:ext>
            </a:extLst>
          </p:cNvPr>
          <p:cNvCxnSpPr>
            <a:cxnSpLocks/>
            <a:stCxn id="12" idx="3"/>
            <a:endCxn id="33" idx="1"/>
          </p:cNvCxnSpPr>
          <p:nvPr/>
        </p:nvCxnSpPr>
        <p:spPr>
          <a:xfrm>
            <a:off x="7491200" y="3131206"/>
            <a:ext cx="1370057" cy="44133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06;p31">
            <a:extLst>
              <a:ext uri="{FF2B5EF4-FFF2-40B4-BE49-F238E27FC236}">
                <a16:creationId xmlns:a16="http://schemas.microsoft.com/office/drawing/2014/main" id="{59596AB1-5D92-CF43-9A04-68F8972C364E}"/>
              </a:ext>
            </a:extLst>
          </p:cNvPr>
          <p:cNvCxnSpPr>
            <a:cxnSpLocks/>
            <a:stCxn id="16" idx="1"/>
            <a:endCxn id="9" idx="3"/>
          </p:cNvCxnSpPr>
          <p:nvPr/>
        </p:nvCxnSpPr>
        <p:spPr>
          <a:xfrm flipH="1">
            <a:off x="3644632" y="4559298"/>
            <a:ext cx="1143394" cy="915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Google Shape;207;p31">
                <a:extLst>
                  <a:ext uri="{FF2B5EF4-FFF2-40B4-BE49-F238E27FC236}">
                    <a16:creationId xmlns:a16="http://schemas.microsoft.com/office/drawing/2014/main" id="{B511138C-03BE-B45C-1758-C54BB5762BFA}"/>
                  </a:ext>
                </a:extLst>
              </p:cNvPr>
              <p:cNvSpPr txBox="1"/>
              <p:nvPr/>
            </p:nvSpPr>
            <p:spPr>
              <a:xfrm>
                <a:off x="4788026" y="4189981"/>
                <a:ext cx="2973213" cy="738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/>
                <a:r>
                  <a:rPr lang="en-US" dirty="0"/>
                  <a:t>Decrypt: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𝐷𝑒𝑐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lvl="0" algn="ctr"/>
                <a:r>
                  <a:rPr lang="en-US" b="1" dirty="0">
                    <a:solidFill>
                      <a:srgbClr val="C00000"/>
                    </a:solidFill>
                  </a:rPr>
                  <a:t>Send: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b="1" i="1" dirty="0"/>
              </a:p>
            </p:txBody>
          </p:sp>
        </mc:Choice>
        <mc:Fallback xmlns="">
          <p:sp>
            <p:nvSpPr>
              <p:cNvPr id="16" name="Google Shape;207;p31">
                <a:extLst>
                  <a:ext uri="{FF2B5EF4-FFF2-40B4-BE49-F238E27FC236}">
                    <a16:creationId xmlns:a16="http://schemas.microsoft.com/office/drawing/2014/main" id="{B511138C-03BE-B45C-1758-C54BB5762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6" y="4189981"/>
                <a:ext cx="2973213" cy="738633"/>
              </a:xfrm>
              <a:prstGeom prst="rect">
                <a:avLst/>
              </a:prstGeom>
              <a:blipFill>
                <a:blip r:embed="rId5"/>
                <a:stretch>
                  <a:fillRect b="-74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oogle Shape;208;p31">
            <a:extLst>
              <a:ext uri="{FF2B5EF4-FFF2-40B4-BE49-F238E27FC236}">
                <a16:creationId xmlns:a16="http://schemas.microsoft.com/office/drawing/2014/main" id="{B9C92360-DBE8-8A1A-0F4B-5344C00EC192}"/>
              </a:ext>
            </a:extLst>
          </p:cNvPr>
          <p:cNvCxnSpPr>
            <a:cxnSpLocks/>
            <a:stCxn id="53" idx="1"/>
            <a:endCxn id="16" idx="3"/>
          </p:cNvCxnSpPr>
          <p:nvPr/>
        </p:nvCxnSpPr>
        <p:spPr>
          <a:xfrm flipH="1">
            <a:off x="7761239" y="4163336"/>
            <a:ext cx="916654" cy="395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528139-9DFA-94D8-A488-31DF5EBD8329}"/>
              </a:ext>
            </a:extLst>
          </p:cNvPr>
          <p:cNvGrpSpPr/>
          <p:nvPr/>
        </p:nvGrpSpPr>
        <p:grpSpPr>
          <a:xfrm>
            <a:off x="5616917" y="907120"/>
            <a:ext cx="1151525" cy="1091449"/>
            <a:chOff x="5129269" y="1451018"/>
            <a:chExt cx="1151525" cy="1091449"/>
          </a:xfrm>
        </p:grpSpPr>
        <p:sp>
          <p:nvSpPr>
            <p:cNvPr id="11" name="Google Shape;202;p31">
              <a:extLst>
                <a:ext uri="{FF2B5EF4-FFF2-40B4-BE49-F238E27FC236}">
                  <a16:creationId xmlns:a16="http://schemas.microsoft.com/office/drawing/2014/main" id="{887B2ACE-1C34-1290-9ED1-B994597570D5}"/>
                </a:ext>
              </a:extLst>
            </p:cNvPr>
            <p:cNvSpPr txBox="1"/>
            <p:nvPr/>
          </p:nvSpPr>
          <p:spPr>
            <a:xfrm>
              <a:off x="5129269" y="2080832"/>
              <a:ext cx="1151525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Mallory</a:t>
              </a:r>
              <a:endParaRPr dirty="0"/>
            </a:p>
          </p:txBody>
        </p:sp>
        <p:pic>
          <p:nvPicPr>
            <p:cNvPr id="3" name="Google Shape;103;p21">
              <a:extLst>
                <a:ext uri="{FF2B5EF4-FFF2-40B4-BE49-F238E27FC236}">
                  <a16:creationId xmlns:a16="http://schemas.microsoft.com/office/drawing/2014/main" id="{DCCBD6B8-A4F5-2024-B5CC-D81356BE8D2D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0446" t="13697" r="69908" b="65159"/>
            <a:stretch/>
          </p:blipFill>
          <p:spPr>
            <a:xfrm>
              <a:off x="5379568" y="1451018"/>
              <a:ext cx="650926" cy="7006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CB862A-D641-6EAB-C178-BFB762E246FB}"/>
              </a:ext>
            </a:extLst>
          </p:cNvPr>
          <p:cNvGrpSpPr/>
          <p:nvPr/>
        </p:nvGrpSpPr>
        <p:grpSpPr>
          <a:xfrm>
            <a:off x="1723727" y="937967"/>
            <a:ext cx="810900" cy="1029754"/>
            <a:chOff x="2000558" y="1512713"/>
            <a:chExt cx="810900" cy="1029754"/>
          </a:xfrm>
        </p:grpSpPr>
        <p:sp>
          <p:nvSpPr>
            <p:cNvPr id="7" name="Google Shape;198;p31">
              <a:extLst>
                <a:ext uri="{FF2B5EF4-FFF2-40B4-BE49-F238E27FC236}">
                  <a16:creationId xmlns:a16="http://schemas.microsoft.com/office/drawing/2014/main" id="{AC5D3BEF-FF6E-3A81-C728-4DC741B03889}"/>
                </a:ext>
              </a:extLst>
            </p:cNvPr>
            <p:cNvSpPr txBox="1"/>
            <p:nvPr/>
          </p:nvSpPr>
          <p:spPr>
            <a:xfrm>
              <a:off x="2000558" y="2080832"/>
              <a:ext cx="8109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Alice</a:t>
              </a:r>
              <a:endParaRPr dirty="0"/>
            </a:p>
          </p:txBody>
        </p:sp>
        <p:pic>
          <p:nvPicPr>
            <p:cNvPr id="4" name="Google Shape;119;p21">
              <a:extLst>
                <a:ext uri="{FF2B5EF4-FFF2-40B4-BE49-F238E27FC236}">
                  <a16:creationId xmlns:a16="http://schemas.microsoft.com/office/drawing/2014/main" id="{E2F1929B-A951-1B14-46A8-9DB8E137D57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5310" t="16627" r="80092" b="57590"/>
            <a:stretch/>
          </p:blipFill>
          <p:spPr>
            <a:xfrm>
              <a:off x="2104461" y="1512713"/>
              <a:ext cx="591227" cy="6592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F737D4-8609-3422-E878-D36FBB02D46B}"/>
              </a:ext>
            </a:extLst>
          </p:cNvPr>
          <p:cNvGrpSpPr/>
          <p:nvPr/>
        </p:nvGrpSpPr>
        <p:grpSpPr>
          <a:xfrm>
            <a:off x="9850732" y="940018"/>
            <a:ext cx="810900" cy="915684"/>
            <a:chOff x="7917902" y="1144633"/>
            <a:chExt cx="810900" cy="915684"/>
          </a:xfrm>
        </p:grpSpPr>
        <p:sp>
          <p:nvSpPr>
            <p:cNvPr id="8" name="Google Shape;199;p31">
              <a:extLst>
                <a:ext uri="{FF2B5EF4-FFF2-40B4-BE49-F238E27FC236}">
                  <a16:creationId xmlns:a16="http://schemas.microsoft.com/office/drawing/2014/main" id="{61619FB7-20FA-296B-404D-AD1629FEF746}"/>
                </a:ext>
              </a:extLst>
            </p:cNvPr>
            <p:cNvSpPr txBox="1"/>
            <p:nvPr/>
          </p:nvSpPr>
          <p:spPr>
            <a:xfrm>
              <a:off x="7917902" y="1598682"/>
              <a:ext cx="8109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Bob</a:t>
              </a:r>
              <a:endParaRPr dirty="0"/>
            </a:p>
          </p:txBody>
        </p:sp>
        <p:pic>
          <p:nvPicPr>
            <p:cNvPr id="19" name="Google Shape;120;p21">
              <a:extLst>
                <a:ext uri="{FF2B5EF4-FFF2-40B4-BE49-F238E27FC236}">
                  <a16:creationId xmlns:a16="http://schemas.microsoft.com/office/drawing/2014/main" id="{FBE505FD-2573-D78E-FC4E-4DD2326E3A8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8433" t="16958" r="61203" b="62909"/>
            <a:stretch/>
          </p:blipFill>
          <p:spPr>
            <a:xfrm>
              <a:off x="8089873" y="1144633"/>
              <a:ext cx="466959" cy="572699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200;p31">
                <a:extLst>
                  <a:ext uri="{FF2B5EF4-FFF2-40B4-BE49-F238E27FC236}">
                    <a16:creationId xmlns:a16="http://schemas.microsoft.com/office/drawing/2014/main" id="{8DE6076C-8BC7-3F8C-6B63-682F3C34EB78}"/>
                  </a:ext>
                </a:extLst>
              </p:cNvPr>
              <p:cNvSpPr txBox="1"/>
              <p:nvPr/>
            </p:nvSpPr>
            <p:spPr>
              <a:xfrm>
                <a:off x="8861257" y="3341724"/>
                <a:ext cx="2789849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/>
                <a:r>
                  <a:rPr lang="en-US" dirty="0"/>
                  <a:t>Receive: </a:t>
                </a:r>
                <a:r>
                  <a:rPr lang="en-US" b="1" dirty="0">
                    <a:solidFill>
                      <a:srgbClr val="C00000"/>
                    </a:solidFill>
                  </a:rPr>
                  <a:t>&lt;“Alice”,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𝑷𝑲</m:t>
                        </m:r>
                      </m:e>
                      <m:sub>
                        <m:r>
                          <a:rPr lang="ar-AE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C00000"/>
                    </a:solidFill>
                  </a:rPr>
                  <a:t>&gt;</a:t>
                </a:r>
                <a:endParaRPr lang="en-US" dirty="0"/>
              </a:p>
            </p:txBody>
          </p:sp>
        </mc:Choice>
        <mc:Fallback xmlns="">
          <p:sp>
            <p:nvSpPr>
              <p:cNvPr id="33" name="Google Shape;200;p31">
                <a:extLst>
                  <a:ext uri="{FF2B5EF4-FFF2-40B4-BE49-F238E27FC236}">
                    <a16:creationId xmlns:a16="http://schemas.microsoft.com/office/drawing/2014/main" id="{8DE6076C-8BC7-3F8C-6B63-682F3C34E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257" y="3341724"/>
                <a:ext cx="2789849" cy="461635"/>
              </a:xfrm>
              <a:prstGeom prst="rect">
                <a:avLst/>
              </a:prstGeom>
              <a:blipFill>
                <a:blip r:embed="rId8"/>
                <a:stretch>
                  <a:fillRect b="-11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CEBD155-7059-56FC-400F-AB8020EA6739}"/>
              </a:ext>
            </a:extLst>
          </p:cNvPr>
          <p:cNvSpPr txBox="1"/>
          <p:nvPr/>
        </p:nvSpPr>
        <p:spPr>
          <a:xfrm>
            <a:off x="1270120" y="6407827"/>
            <a:ext cx="100090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2200" dirty="0">
                <a:solidFill>
                  <a:srgbClr val="C00000"/>
                </a:solidFill>
              </a:rPr>
              <a:t>Public-key cryptography alone is not secure against man-in-the-middle attacks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D331B34-56C3-163F-F794-162E7B84AF07}"/>
                  </a:ext>
                </a:extLst>
              </p:cNvPr>
              <p:cNvSpPr txBox="1"/>
              <p:nvPr/>
            </p:nvSpPr>
            <p:spPr>
              <a:xfrm>
                <a:off x="8677893" y="3978670"/>
                <a:ext cx="29732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Send: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𝑐𝑡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i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D331B34-56C3-163F-F794-162E7B84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893" y="3978670"/>
                <a:ext cx="2973213" cy="369332"/>
              </a:xfrm>
              <a:prstGeom prst="rect">
                <a:avLst/>
              </a:prstGeom>
              <a:blipFill>
                <a:blip r:embed="rId9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5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D5F8-2FE5-FEFF-9F7B-33C27DEF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76"/>
            <a:ext cx="10515600" cy="969153"/>
          </a:xfrm>
        </p:spPr>
        <p:txBody>
          <a:bodyPr/>
          <a:lstStyle/>
          <a:p>
            <a:r>
              <a:rPr lang="en" dirty="0"/>
              <a:t>Problem: Distributing Public Keys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150FA-51D2-DA56-AC79-FCB1E5AD2A89}"/>
              </a:ext>
            </a:extLst>
          </p:cNvPr>
          <p:cNvSpPr txBox="1"/>
          <p:nvPr/>
        </p:nvSpPr>
        <p:spPr>
          <a:xfrm>
            <a:off x="838200" y="1402273"/>
            <a:ext cx="105156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1" dirty="0"/>
              <a:t>Root cause</a:t>
            </a:r>
            <a:r>
              <a:rPr lang="en-US" sz="2200" dirty="0"/>
              <a:t>: No mechanism to </a:t>
            </a:r>
            <a:r>
              <a:rPr lang="en-US" sz="2200" b="1" i="1" dirty="0">
                <a:solidFill>
                  <a:srgbClr val="C00000"/>
                </a:solidFill>
              </a:rPr>
              <a:t>verify</a:t>
            </a:r>
            <a:r>
              <a:rPr lang="en-US" sz="2200" dirty="0"/>
              <a:t> that a public key belongs to its claimed owner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Idea: Sign Bob’s public key to prevent tampering </a:t>
            </a:r>
            <a:r>
              <a:rPr lang="en-US" sz="2200" dirty="0">
                <a:sym typeface="Wingdings" panose="05000000000000000000" pitchFamily="2" charset="2"/>
              </a:rPr>
              <a:t> </a:t>
            </a:r>
            <a:r>
              <a:rPr lang="en-US" sz="2200" b="1" i="1" dirty="0">
                <a:solidFill>
                  <a:srgbClr val="C00000"/>
                </a:solidFill>
                <a:sym typeface="Wingdings" panose="05000000000000000000" pitchFamily="2" charset="2"/>
              </a:rPr>
              <a:t>Do no trust, verify!</a:t>
            </a: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Problem: </a:t>
            </a:r>
            <a:r>
              <a:rPr lang="en-US" sz="2200" b="1" dirty="0">
                <a:solidFill>
                  <a:srgbClr val="C00000"/>
                </a:solidFill>
              </a:rPr>
              <a:t>who should sign Bob’s public key?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If Bob signs his public key, we need his public key to verify the signature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But Bob’s public key is what we were trying to verify in the first place!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/>
              <a:t>Chicken-and-egg problem</a:t>
            </a:r>
            <a:r>
              <a:rPr lang="en-US" sz="2200" dirty="0"/>
              <a:t>: Alice can never trust any public key she receives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Solution: You cannot gain trust if you trust nothing. You need a </a:t>
            </a:r>
            <a:r>
              <a:rPr lang="en-US" sz="2200" b="1" dirty="0">
                <a:solidFill>
                  <a:srgbClr val="C00000"/>
                </a:solidFill>
              </a:rPr>
              <a:t>root of trust</a:t>
            </a:r>
            <a:r>
              <a:rPr lang="en-US" sz="2200" dirty="0"/>
              <a:t>!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srgbClr val="C00000"/>
                </a:solidFill>
              </a:rPr>
              <a:t>Trust anchor</a:t>
            </a:r>
            <a:r>
              <a:rPr lang="en-US" sz="2200" dirty="0"/>
              <a:t>: Someone that we implicitly trust (e.g., DNS root name server?)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From our trust anchor, we can begin to trust others</a:t>
            </a:r>
          </a:p>
        </p:txBody>
      </p:sp>
    </p:spTree>
    <p:extLst>
      <p:ext uri="{BB962C8B-B14F-4D97-AF65-F5344CB8AC3E}">
        <p14:creationId xmlns:p14="http://schemas.microsoft.com/office/powerpoint/2010/main" val="612836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8;p34">
            <a:extLst>
              <a:ext uri="{FF2B5EF4-FFF2-40B4-BE49-F238E27FC236}">
                <a16:creationId xmlns:a16="http://schemas.microsoft.com/office/drawing/2014/main" id="{CBF8803B-A1C0-C9E6-E4B3-EC83B26EA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59852"/>
            <a:ext cx="10515600" cy="8132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Certificates</a:t>
            </a:r>
            <a:endParaRPr dirty="0"/>
          </a:p>
        </p:txBody>
      </p:sp>
      <p:sp>
        <p:nvSpPr>
          <p:cNvPr id="5" name="Google Shape;229;p34">
            <a:extLst>
              <a:ext uri="{FF2B5EF4-FFF2-40B4-BE49-F238E27FC236}">
                <a16:creationId xmlns:a16="http://schemas.microsoft.com/office/drawing/2014/main" id="{0C8736FA-3A26-641A-465B-9ED2D3F43C17}"/>
              </a:ext>
            </a:extLst>
          </p:cNvPr>
          <p:cNvSpPr txBox="1">
            <a:spLocks/>
          </p:cNvSpPr>
          <p:nvPr/>
        </p:nvSpPr>
        <p:spPr>
          <a:xfrm>
            <a:off x="419100" y="1010400"/>
            <a:ext cx="11353800" cy="568774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Certificate</a:t>
            </a:r>
            <a:r>
              <a:rPr lang="en-US" dirty="0"/>
              <a:t>: A signed endorsement (a signature) of someone’s </a:t>
            </a:r>
            <a:r>
              <a:rPr lang="en-US" i="1" dirty="0">
                <a:solidFill>
                  <a:srgbClr val="C00000"/>
                </a:solidFill>
              </a:rPr>
              <a:t>public key </a:t>
            </a:r>
            <a:r>
              <a:rPr lang="en-US" dirty="0"/>
              <a:t>and </a:t>
            </a:r>
            <a:r>
              <a:rPr lang="en-US" i="1" dirty="0">
                <a:solidFill>
                  <a:srgbClr val="C00000"/>
                </a:solidFill>
              </a:rPr>
              <a:t>identity/attributes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 certificate contains at least two things: The </a:t>
            </a:r>
            <a:r>
              <a:rPr lang="en-US" b="1" dirty="0"/>
              <a:t>identity </a:t>
            </a:r>
            <a:r>
              <a:rPr lang="en-US" dirty="0"/>
              <a:t>(Alice, Bob, David, etc.) of the person, and the </a:t>
            </a:r>
            <a:r>
              <a:rPr lang="en-US" b="1" dirty="0"/>
              <a:t>key </a:t>
            </a:r>
            <a:r>
              <a:rPr lang="en-US" dirty="0"/>
              <a:t>(</a:t>
            </a:r>
            <a:r>
              <a:rPr lang="en-US" i="1" dirty="0"/>
              <a:t>PK</a:t>
            </a:r>
            <a:r>
              <a:rPr lang="en-US" sz="1200" i="1" dirty="0"/>
              <a:t>A, </a:t>
            </a:r>
            <a:r>
              <a:rPr lang="en-US" i="1" dirty="0"/>
              <a:t>PK</a:t>
            </a:r>
            <a:r>
              <a:rPr lang="en-US" sz="1200" i="1" dirty="0"/>
              <a:t>B, </a:t>
            </a:r>
            <a:r>
              <a:rPr lang="en-US" i="1" dirty="0"/>
              <a:t>PK</a:t>
            </a:r>
            <a:r>
              <a:rPr lang="en-US" sz="1200" i="1" dirty="0"/>
              <a:t>D</a:t>
            </a:r>
            <a:r>
              <a:rPr lang="en-US" dirty="0"/>
              <a:t>)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Abbreviated notation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Encryption under Alice’s public key </a:t>
            </a:r>
            <a:r>
              <a:rPr lang="en-US" i="1" dirty="0"/>
              <a:t>PK: </a:t>
            </a:r>
            <a:r>
              <a:rPr lang="en-US" dirty="0"/>
              <a:t>{“Message”}</a:t>
            </a:r>
            <a:r>
              <a:rPr lang="en-US" sz="2000" i="1" dirty="0"/>
              <a:t>PK</a:t>
            </a:r>
            <a:r>
              <a:rPr lang="en-US" sz="2000" i="1" baseline="-25000" dirty="0"/>
              <a:t>A</a:t>
            </a:r>
            <a:endParaRPr lang="en-US" sz="2000" baseline="-25000" dirty="0"/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Signing with Alice’s private key </a:t>
            </a:r>
            <a:r>
              <a:rPr lang="en-US" i="1" dirty="0"/>
              <a:t>SK</a:t>
            </a:r>
            <a:r>
              <a:rPr lang="en-US" dirty="0"/>
              <a:t>: {“Message”}</a:t>
            </a:r>
            <a:r>
              <a:rPr lang="en-US" sz="2000" i="1" dirty="0"/>
              <a:t>SK</a:t>
            </a:r>
            <a:r>
              <a:rPr lang="en-US" sz="2000" i="1" baseline="-25000" dirty="0"/>
              <a:t>A</a:t>
            </a:r>
            <a:r>
              <a:rPr lang="en-US" sz="2000" baseline="30000" dirty="0"/>
              <a:t>-1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Recall: A signed message must </a:t>
            </a:r>
            <a:r>
              <a:rPr lang="en-US" dirty="0">
                <a:solidFill>
                  <a:srgbClr val="C00000"/>
                </a:solidFill>
              </a:rPr>
              <a:t>contain the message </a:t>
            </a:r>
            <a:r>
              <a:rPr lang="en-US" dirty="0"/>
              <a:t>along with the signature; you can’t check the signature by itself!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Scenario: Alice wants Bob’s public key. Alice trusts </a:t>
            </a:r>
            <a:r>
              <a:rPr lang="en-US" dirty="0" err="1"/>
              <a:t>EvanBot</a:t>
            </a:r>
            <a:r>
              <a:rPr lang="en-US" dirty="0"/>
              <a:t> (</a:t>
            </a:r>
            <a:r>
              <a:rPr lang="en-US" i="1" dirty="0"/>
              <a:t>PK</a:t>
            </a:r>
            <a:r>
              <a:rPr lang="en-US" sz="1200" i="1" dirty="0"/>
              <a:t>E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sz="1200" i="1" dirty="0"/>
              <a:t>E</a:t>
            </a:r>
            <a:r>
              <a:rPr lang="en-US" dirty="0"/>
              <a:t>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 err="1"/>
              <a:t>EvanBot</a:t>
            </a:r>
            <a:r>
              <a:rPr lang="en-US" dirty="0"/>
              <a:t> is our </a:t>
            </a:r>
            <a:r>
              <a:rPr lang="en-US" b="1" i="1" dirty="0">
                <a:solidFill>
                  <a:srgbClr val="C00000"/>
                </a:solidFill>
              </a:rPr>
              <a:t>trust anchor (root of trust)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we trust </a:t>
            </a:r>
            <a:r>
              <a:rPr lang="en-US" i="1" dirty="0"/>
              <a:t>PK</a:t>
            </a:r>
            <a:r>
              <a:rPr lang="en-US" sz="1600" i="1" dirty="0"/>
              <a:t>E</a:t>
            </a:r>
            <a:r>
              <a:rPr lang="en-US" dirty="0"/>
              <a:t>, a certificate we would trust is {“Bob’s public key is </a:t>
            </a:r>
            <a:r>
              <a:rPr lang="en-US" i="1" dirty="0"/>
              <a:t>PK</a:t>
            </a:r>
            <a:r>
              <a:rPr lang="en-US" sz="1600" i="1" dirty="0"/>
              <a:t>B</a:t>
            </a:r>
            <a:r>
              <a:rPr lang="en-US" dirty="0"/>
              <a:t>”}</a:t>
            </a:r>
            <a:r>
              <a:rPr lang="en-US" sz="2000" i="1" dirty="0"/>
              <a:t>SK</a:t>
            </a:r>
            <a:r>
              <a:rPr lang="en-US" sz="2000" i="1" baseline="-25000" dirty="0"/>
              <a:t>E</a:t>
            </a:r>
            <a:r>
              <a:rPr lang="en-US" sz="2000" baseline="300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288219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8;p34">
            <a:extLst>
              <a:ext uri="{FF2B5EF4-FFF2-40B4-BE49-F238E27FC236}">
                <a16:creationId xmlns:a16="http://schemas.microsoft.com/office/drawing/2014/main" id="{F0259F6E-B2D4-C173-53CD-41A1BC83FBEC}"/>
              </a:ext>
            </a:extLst>
          </p:cNvPr>
          <p:cNvSpPr txBox="1">
            <a:spLocks/>
          </p:cNvSpPr>
          <p:nvPr/>
        </p:nvSpPr>
        <p:spPr>
          <a:xfrm>
            <a:off x="838200" y="240239"/>
            <a:ext cx="10515600" cy="8132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Certificates</a:t>
            </a:r>
          </a:p>
        </p:txBody>
      </p:sp>
      <p:sp>
        <p:nvSpPr>
          <p:cNvPr id="3" name="Google Shape;138;p24">
            <a:extLst>
              <a:ext uri="{FF2B5EF4-FFF2-40B4-BE49-F238E27FC236}">
                <a16:creationId xmlns:a16="http://schemas.microsoft.com/office/drawing/2014/main" id="{63524608-259B-7342-E2F1-74EA50B3EE6F}"/>
              </a:ext>
            </a:extLst>
          </p:cNvPr>
          <p:cNvSpPr txBox="1">
            <a:spLocks/>
          </p:cNvSpPr>
          <p:nvPr/>
        </p:nvSpPr>
        <p:spPr>
          <a:xfrm>
            <a:off x="838200" y="1053465"/>
            <a:ext cx="10515600" cy="2805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b="1" i="1" dirty="0"/>
              <a:t>Q1: How to use </a:t>
            </a:r>
            <a:r>
              <a:rPr lang="en-US" b="1" i="1" dirty="0" err="1"/>
              <a:t>EvanBot</a:t>
            </a:r>
            <a:r>
              <a:rPr lang="en-US" b="1" i="1" dirty="0"/>
              <a:t>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b="1" i="1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Suppose Alice wants Bob's key.  Alice trusts </a:t>
            </a:r>
            <a:r>
              <a:rPr lang="en-US" dirty="0" err="1"/>
              <a:t>EvanBot</a:t>
            </a:r>
            <a:r>
              <a:rPr lang="en-US" dirty="0"/>
              <a:t> (</a:t>
            </a:r>
            <a:r>
              <a:rPr lang="en-US" i="1" dirty="0"/>
              <a:t>PK</a:t>
            </a:r>
            <a:r>
              <a:rPr lang="en-US" sz="1600" i="1" dirty="0"/>
              <a:t>E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sz="1600" i="1" dirty="0"/>
              <a:t>E</a:t>
            </a:r>
            <a:r>
              <a:rPr lang="en-US" dirty="0"/>
              <a:t>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Alice -&gt; </a:t>
            </a:r>
            <a:r>
              <a:rPr lang="en-US" dirty="0" err="1"/>
              <a:t>EvanBot</a:t>
            </a:r>
            <a:r>
              <a:rPr lang="en-US" dirty="0"/>
              <a:t>: "What is Bob's public key?"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 err="1"/>
              <a:t>EvanBot</a:t>
            </a:r>
            <a:r>
              <a:rPr lang="en-US" dirty="0"/>
              <a:t> -&gt; Alice: 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Message M</a:t>
            </a:r>
            <a:r>
              <a:rPr lang="en-US" dirty="0"/>
              <a:t>: “Bob’s public key is </a:t>
            </a:r>
            <a:r>
              <a:rPr lang="en-US" i="1" dirty="0"/>
              <a:t>PK</a:t>
            </a:r>
            <a:r>
              <a:rPr lang="en-US" sz="2200" i="1" baseline="-25000" dirty="0"/>
              <a:t>B</a:t>
            </a:r>
            <a:r>
              <a:rPr lang="en-US" dirty="0"/>
              <a:t>”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Signature: {</a:t>
            </a:r>
            <a:r>
              <a:rPr lang="en-US" i="1" dirty="0"/>
              <a:t>M</a:t>
            </a:r>
            <a:r>
              <a:rPr lang="en-US" dirty="0"/>
              <a:t>}</a:t>
            </a:r>
            <a:r>
              <a:rPr lang="en-US" sz="1600" i="1" dirty="0"/>
              <a:t>SK</a:t>
            </a:r>
            <a:r>
              <a:rPr lang="en-US" sz="1600" i="1" baseline="-25000" dirty="0"/>
              <a:t>E</a:t>
            </a:r>
            <a:r>
              <a:rPr lang="en-US" sz="1600" baseline="30000" dirty="0"/>
              <a:t>-1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0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B8298-65CE-AAB8-3762-C4E30DCFF58E}"/>
              </a:ext>
            </a:extLst>
          </p:cNvPr>
          <p:cNvSpPr txBox="1"/>
          <p:nvPr/>
        </p:nvSpPr>
        <p:spPr>
          <a:xfrm>
            <a:off x="838200" y="4140160"/>
            <a:ext cx="10515599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800" b="1" i="1" dirty="0"/>
              <a:t>Q2: How to build </a:t>
            </a:r>
            <a:r>
              <a:rPr lang="en-US" sz="2800" b="1" i="1" dirty="0" err="1"/>
              <a:t>EvanBot</a:t>
            </a:r>
            <a:r>
              <a:rPr lang="en-US" sz="2800" b="1" i="1" dirty="0"/>
              <a:t>?</a:t>
            </a:r>
          </a:p>
          <a:p>
            <a:pPr marL="114300">
              <a:spcBef>
                <a:spcPts val="0"/>
              </a:spcBef>
              <a:spcAft>
                <a:spcPts val="600"/>
              </a:spcAft>
              <a:buSzPts val="1800"/>
            </a:pPr>
            <a:endParaRPr lang="en-US" sz="2800" b="1" i="1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/>
              <a:t>Idea 1: Make a central, trusted directory (a powerful server) from where you can fetch anybody’s public key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/>
              <a:t>Idea 2: A hierarchical trust chain</a:t>
            </a:r>
          </a:p>
        </p:txBody>
      </p:sp>
    </p:spTree>
    <p:extLst>
      <p:ext uri="{BB962C8B-B14F-4D97-AF65-F5344CB8AC3E}">
        <p14:creationId xmlns:p14="http://schemas.microsoft.com/office/powerpoint/2010/main" val="98710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0113-A7F1-C0C9-8BF3-27C9E996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91"/>
            <a:ext cx="10515600" cy="893789"/>
          </a:xfrm>
        </p:spPr>
        <p:txBody>
          <a:bodyPr/>
          <a:lstStyle/>
          <a:p>
            <a:r>
              <a:rPr lang="en-US" dirty="0"/>
              <a:t>Idea 1: A Central Trusted Directory</a:t>
            </a:r>
          </a:p>
        </p:txBody>
      </p:sp>
      <p:sp>
        <p:nvSpPr>
          <p:cNvPr id="4" name="Google Shape;235;p35">
            <a:extLst>
              <a:ext uri="{FF2B5EF4-FFF2-40B4-BE49-F238E27FC236}">
                <a16:creationId xmlns:a16="http://schemas.microsoft.com/office/drawing/2014/main" id="{3680F2F7-414B-67F1-69B5-FA69A3B150D2}"/>
              </a:ext>
            </a:extLst>
          </p:cNvPr>
          <p:cNvSpPr txBox="1">
            <a:spLocks/>
          </p:cNvSpPr>
          <p:nvPr/>
        </p:nvSpPr>
        <p:spPr>
          <a:xfrm>
            <a:off x="838200" y="1541576"/>
            <a:ext cx="10515600" cy="477602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Idea: Make a central, trusted directory (TD) from where you can fetch anybody’s public key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TD has a public/private keypair </a:t>
            </a:r>
            <a:r>
              <a:rPr lang="en-US" i="1" dirty="0"/>
              <a:t>PK</a:t>
            </a:r>
            <a:r>
              <a:rPr lang="en-US" sz="1600" dirty="0"/>
              <a:t>TD</a:t>
            </a:r>
            <a:r>
              <a:rPr lang="en-US" dirty="0"/>
              <a:t>, </a:t>
            </a:r>
            <a:r>
              <a:rPr lang="en-US" i="1" dirty="0"/>
              <a:t>SK</a:t>
            </a:r>
            <a:r>
              <a:rPr lang="en-US" sz="1600" dirty="0"/>
              <a:t>TD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directory publishes </a:t>
            </a:r>
            <a:r>
              <a:rPr lang="en-US" i="1" dirty="0"/>
              <a:t>PK</a:t>
            </a:r>
            <a:r>
              <a:rPr lang="en-US" sz="1600" dirty="0"/>
              <a:t>TD</a:t>
            </a:r>
            <a:r>
              <a:rPr lang="en-US" dirty="0"/>
              <a:t> so that everyone knows it (baked into computers, phones, OS, etc.)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When you request Bob’s public key, the directory sends a certificate for Bob’s public key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What do we have to trust?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We have received TD’s key correctly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TD won’t sign a key without verifying the identity of the owner</a:t>
            </a:r>
          </a:p>
        </p:txBody>
      </p:sp>
    </p:spTree>
    <p:extLst>
      <p:ext uri="{BB962C8B-B14F-4D97-AF65-F5344CB8AC3E}">
        <p14:creationId xmlns:p14="http://schemas.microsoft.com/office/powerpoint/2010/main" val="1422838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FEAA-CC2E-914D-573C-50261F15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785"/>
            <a:ext cx="10515600" cy="850726"/>
          </a:xfrm>
        </p:spPr>
        <p:txBody>
          <a:bodyPr/>
          <a:lstStyle/>
          <a:p>
            <a:r>
              <a:rPr lang="en-US" dirty="0"/>
              <a:t>Idea 1: </a:t>
            </a:r>
            <a:r>
              <a:rPr lang="en" dirty="0"/>
              <a:t>A Central Trusted Directory</a:t>
            </a:r>
            <a:endParaRPr lang="en-US" dirty="0"/>
          </a:p>
        </p:txBody>
      </p:sp>
      <p:sp>
        <p:nvSpPr>
          <p:cNvPr id="4" name="Google Shape;241;p36">
            <a:extLst>
              <a:ext uri="{FF2B5EF4-FFF2-40B4-BE49-F238E27FC236}">
                <a16:creationId xmlns:a16="http://schemas.microsoft.com/office/drawing/2014/main" id="{8388B314-2A8D-684F-2B8F-09626F233A7D}"/>
              </a:ext>
            </a:extLst>
          </p:cNvPr>
          <p:cNvSpPr txBox="1">
            <a:spLocks/>
          </p:cNvSpPr>
          <p:nvPr/>
        </p:nvSpPr>
        <p:spPr>
          <a:xfrm>
            <a:off x="418814" y="1563279"/>
            <a:ext cx="11354371" cy="5117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Problem: Scalability</a:t>
            </a:r>
          </a:p>
          <a:p>
            <a:pPr marL="914400" lvl="1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One directory won’t have enough compute power to serve the entire world</a:t>
            </a:r>
          </a:p>
          <a:p>
            <a:pPr marL="914400" lvl="1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Problem: Single point of failure</a:t>
            </a:r>
          </a:p>
          <a:p>
            <a:pPr marL="914400" lvl="1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the directory fails, </a:t>
            </a:r>
            <a:r>
              <a:rPr lang="en-US" i="1" dirty="0"/>
              <a:t>services depending on this become unavailable </a:t>
            </a:r>
          </a:p>
          <a:p>
            <a:pPr marL="914400" lvl="1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the directory is compromised, you can’t trust anyone</a:t>
            </a:r>
          </a:p>
          <a:p>
            <a:pPr marL="914400" lvl="1" indent="-342900">
              <a:spcBef>
                <a:spcPts val="0"/>
              </a:spcBef>
              <a:spcAft>
                <a:spcPts val="12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the directory is compromised, it is difficult to recover</a:t>
            </a:r>
          </a:p>
          <a:p>
            <a:pPr marL="114300" indent="0"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US" dirty="0"/>
          </a:p>
          <a:p>
            <a:pPr marL="114300" indent="0"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dirty="0"/>
              <a:t>Any ideas? 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i="1" dirty="0">
                <a:solidFill>
                  <a:srgbClr val="C00000"/>
                </a:solidFill>
                <a:sym typeface="Wingdings" panose="05000000000000000000" pitchFamily="2" charset="2"/>
              </a:rPr>
              <a:t>Drawing inspiration from the DNS name server hierarchy</a:t>
            </a:r>
            <a:endParaRPr 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053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3CA1-E2C1-E69B-6E9B-302A9B7D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8"/>
            <a:ext cx="10515600" cy="908078"/>
          </a:xfrm>
        </p:spPr>
        <p:txBody>
          <a:bodyPr/>
          <a:lstStyle/>
          <a:p>
            <a:r>
              <a:rPr lang="en-US" dirty="0"/>
              <a:t>Idea 2: A Hierarchical Trust Chain</a:t>
            </a:r>
          </a:p>
        </p:txBody>
      </p:sp>
      <p:sp>
        <p:nvSpPr>
          <p:cNvPr id="4" name="Google Shape;247;p37">
            <a:extLst>
              <a:ext uri="{FF2B5EF4-FFF2-40B4-BE49-F238E27FC236}">
                <a16:creationId xmlns:a16="http://schemas.microsoft.com/office/drawing/2014/main" id="{49AC9058-3FF5-F230-907F-823AAD707BF6}"/>
              </a:ext>
            </a:extLst>
          </p:cNvPr>
          <p:cNvSpPr txBox="1">
            <a:spLocks/>
          </p:cNvSpPr>
          <p:nvPr/>
        </p:nvSpPr>
        <p:spPr>
          <a:xfrm>
            <a:off x="89960" y="849654"/>
            <a:ext cx="7662441" cy="600834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en-US" dirty="0"/>
              <a:t>Addressing scalability: Hierarchical trust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en-US" sz="1000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root of trust (trusted directory) may </a:t>
            </a:r>
            <a:r>
              <a:rPr lang="en-US" b="1" dirty="0">
                <a:solidFill>
                  <a:srgbClr val="C00000"/>
                </a:solidFill>
              </a:rPr>
              <a:t>delegate</a:t>
            </a:r>
            <a:r>
              <a:rPr lang="en-US" dirty="0"/>
              <a:t> trust and signing power to other authorities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{“John Walz’s public key is </a:t>
            </a:r>
            <a:r>
              <a:rPr lang="en-US" i="1" dirty="0"/>
              <a:t>PK</a:t>
            </a:r>
            <a:r>
              <a:rPr lang="en-US" sz="1600" dirty="0"/>
              <a:t>JW</a:t>
            </a:r>
            <a:r>
              <a:rPr lang="en-US" dirty="0"/>
              <a:t>, and I trust him to sign for MSOE”}</a:t>
            </a:r>
            <a:r>
              <a:rPr lang="en-US" sz="2000" i="1" dirty="0"/>
              <a:t>SK</a:t>
            </a:r>
            <a:r>
              <a:rPr lang="en-US" sz="1600" dirty="0"/>
              <a:t>TD</a:t>
            </a:r>
            <a:r>
              <a:rPr lang="en-US" sz="1600" baseline="30000" dirty="0"/>
              <a:t>-1</a:t>
            </a:r>
            <a:endParaRPr lang="en-US" sz="1600" dirty="0"/>
          </a:p>
          <a:p>
            <a:pPr marL="1371600"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{“Chris Taylor’s public key is </a:t>
            </a:r>
            <a:r>
              <a:rPr lang="en-US" i="1" dirty="0"/>
              <a:t>PK</a:t>
            </a:r>
            <a:r>
              <a:rPr lang="en-US" sz="1400" dirty="0"/>
              <a:t>CT</a:t>
            </a:r>
            <a:r>
              <a:rPr lang="en-US" dirty="0"/>
              <a:t>, and I trust him to sign for the DSAC”}</a:t>
            </a:r>
            <a:r>
              <a:rPr lang="en-US" sz="1800" i="1" dirty="0"/>
              <a:t>SK</a:t>
            </a:r>
            <a:r>
              <a:rPr lang="en-US" sz="1400" dirty="0"/>
              <a:t>JW</a:t>
            </a:r>
            <a:r>
              <a:rPr lang="en-US" sz="1400" baseline="30000" dirty="0"/>
              <a:t>-1</a:t>
            </a:r>
            <a:endParaRPr lang="en-US" sz="1400" dirty="0"/>
          </a:p>
          <a:p>
            <a:pPr marL="1828800" lvl="3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{“Zhonghao Liao’s public key is </a:t>
            </a:r>
            <a:r>
              <a:rPr lang="en-US" i="1" dirty="0"/>
              <a:t>PK</a:t>
            </a:r>
            <a:r>
              <a:rPr lang="en-US" baseline="-25000" dirty="0"/>
              <a:t>ZL</a:t>
            </a:r>
            <a:r>
              <a:rPr lang="en-US" dirty="0"/>
              <a:t> (but I don’t trust him to sign for anyone else)”}</a:t>
            </a:r>
            <a:r>
              <a:rPr lang="en-US" i="1" dirty="0"/>
              <a:t>SK</a:t>
            </a:r>
            <a:r>
              <a:rPr lang="en-US" sz="1300" dirty="0"/>
              <a:t>CT</a:t>
            </a:r>
            <a:r>
              <a:rPr lang="en-US" sz="1400" baseline="30000" dirty="0"/>
              <a:t>-1</a:t>
            </a:r>
          </a:p>
          <a:p>
            <a:pPr marL="1828800" lvl="3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{“Sean Jones’s public key is </a:t>
            </a:r>
            <a:r>
              <a:rPr lang="en-US" i="1" dirty="0"/>
              <a:t>PK</a:t>
            </a:r>
            <a:r>
              <a:rPr lang="en-US" baseline="-25000" dirty="0"/>
              <a:t>SJ</a:t>
            </a:r>
            <a:r>
              <a:rPr lang="en-US" dirty="0"/>
              <a:t> (but I don’t trust him to sign for anyone else)”}</a:t>
            </a:r>
            <a:r>
              <a:rPr lang="en-US" i="1" dirty="0"/>
              <a:t>SK</a:t>
            </a:r>
            <a:r>
              <a:rPr lang="en-US" sz="1300" dirty="0"/>
              <a:t>CT</a:t>
            </a:r>
            <a:r>
              <a:rPr lang="en-US" sz="1300" baseline="30000" dirty="0"/>
              <a:t>-1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endParaRPr lang="en-US" sz="2000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000" dirty="0"/>
              <a:t>TD is still the root of trust (</a:t>
            </a:r>
            <a:r>
              <a:rPr lang="en-US" sz="2000" b="1" dirty="0">
                <a:solidFill>
                  <a:srgbClr val="C00000"/>
                </a:solidFill>
              </a:rPr>
              <a:t>root certificate authority</a:t>
            </a:r>
            <a:r>
              <a:rPr lang="en-US" sz="2000" dirty="0"/>
              <a:t>, or </a:t>
            </a:r>
            <a:r>
              <a:rPr lang="en-US" sz="2000" b="1" dirty="0"/>
              <a:t>root CA</a:t>
            </a:r>
            <a:r>
              <a:rPr lang="en-US" sz="2000" dirty="0"/>
              <a:t>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000" dirty="0"/>
              <a:t>JW and CT receive delegated trust (</a:t>
            </a:r>
            <a:r>
              <a:rPr lang="en-US" sz="2000" b="1" dirty="0"/>
              <a:t>intermediate CAs</a:t>
            </a:r>
            <a:r>
              <a:rPr lang="en-US" sz="2000" dirty="0"/>
              <a:t>)</a:t>
            </a:r>
          </a:p>
          <a:p>
            <a:pPr marL="1371600"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ZL’s </a:t>
            </a:r>
            <a:r>
              <a:rPr lang="en-US" dirty="0">
                <a:solidFill>
                  <a:srgbClr val="C00000"/>
                </a:solidFill>
              </a:rPr>
              <a:t>identity and public key </a:t>
            </a:r>
            <a:r>
              <a:rPr lang="en-US" dirty="0"/>
              <a:t>can be trusted</a:t>
            </a:r>
          </a:p>
          <a:p>
            <a:pPr marL="1371600"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SJ’s </a:t>
            </a:r>
            <a:r>
              <a:rPr lang="en-US" dirty="0">
                <a:solidFill>
                  <a:srgbClr val="C00000"/>
                </a:solidFill>
              </a:rPr>
              <a:t>identity and public key</a:t>
            </a:r>
            <a:r>
              <a:rPr lang="en-US" dirty="0"/>
              <a:t> can be trusted	</a:t>
            </a:r>
            <a:endParaRPr lang="en-US" sz="1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CCBDE6-0284-CE55-0394-12010B91A977}"/>
              </a:ext>
            </a:extLst>
          </p:cNvPr>
          <p:cNvGrpSpPr/>
          <p:nvPr/>
        </p:nvGrpSpPr>
        <p:grpSpPr>
          <a:xfrm>
            <a:off x="7833533" y="1653041"/>
            <a:ext cx="4268507" cy="3551918"/>
            <a:chOff x="7917084" y="1588656"/>
            <a:chExt cx="4268507" cy="3551918"/>
          </a:xfrm>
        </p:grpSpPr>
        <p:pic>
          <p:nvPicPr>
            <p:cNvPr id="1026" name="Picture 2" descr="What is the Certificate Chain of Trust? | Keyfactor">
              <a:extLst>
                <a:ext uri="{FF2B5EF4-FFF2-40B4-BE49-F238E27FC236}">
                  <a16:creationId xmlns:a16="http://schemas.microsoft.com/office/drawing/2014/main" id="{FD88704E-1528-409F-5A23-5428AA999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7084" y="1588656"/>
              <a:ext cx="4268507" cy="3182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BAD7ED-56B3-EEB0-CA5A-D927F717DD4E}"/>
                </a:ext>
              </a:extLst>
            </p:cNvPr>
            <p:cNvSpPr txBox="1"/>
            <p:nvPr/>
          </p:nvSpPr>
          <p:spPr>
            <a:xfrm>
              <a:off x="9121022" y="4771242"/>
              <a:ext cx="1860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/>
                <a:t>Chain of Trust!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4299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7;p37">
            <a:extLst>
              <a:ext uri="{FF2B5EF4-FFF2-40B4-BE49-F238E27FC236}">
                <a16:creationId xmlns:a16="http://schemas.microsoft.com/office/drawing/2014/main" id="{49AC9058-3FF5-F230-907F-823AAD707BF6}"/>
              </a:ext>
            </a:extLst>
          </p:cNvPr>
          <p:cNvSpPr txBox="1">
            <a:spLocks/>
          </p:cNvSpPr>
          <p:nvPr/>
        </p:nvSpPr>
        <p:spPr>
          <a:xfrm>
            <a:off x="838200" y="862474"/>
            <a:ext cx="10016403" cy="193848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Addressing scalability/Single point of failure: Multiple trust anchors</a:t>
            </a:r>
          </a:p>
          <a:p>
            <a:pPr marL="457200" indent="-330200">
              <a:spcBef>
                <a:spcPts val="0"/>
              </a:spcBef>
              <a:buSzPts val="1600"/>
              <a:buFont typeface="Arial" panose="020B0604020202020204" pitchFamily="34" charset="0"/>
              <a:buChar char="●"/>
            </a:pPr>
            <a:r>
              <a:rPr lang="en-US" sz="2400" dirty="0"/>
              <a:t>There are ~150 root CAs who are implicitly trusted by most devices</a:t>
            </a:r>
          </a:p>
          <a:p>
            <a:pPr marL="457200" indent="-330200">
              <a:spcBef>
                <a:spcPts val="0"/>
              </a:spcBef>
              <a:buSzPts val="1600"/>
              <a:buFont typeface="Arial" panose="020B0604020202020204" pitchFamily="34" charset="0"/>
              <a:buChar char="●"/>
            </a:pPr>
            <a:r>
              <a:rPr lang="en-US" sz="2400" dirty="0"/>
              <a:t>Public keys are </a:t>
            </a:r>
            <a:r>
              <a:rPr lang="en-US" sz="2400" dirty="0">
                <a:solidFill>
                  <a:srgbClr val="C00000"/>
                </a:solidFill>
              </a:rPr>
              <a:t>hard-coded</a:t>
            </a:r>
            <a:r>
              <a:rPr lang="en-US" sz="2400" dirty="0"/>
              <a:t> into operating systems and devices</a:t>
            </a:r>
          </a:p>
          <a:p>
            <a:pPr marL="457200" indent="-330200">
              <a:spcBef>
                <a:spcPts val="0"/>
              </a:spcBef>
              <a:buSzPts val="1600"/>
              <a:buFont typeface="Arial" panose="020B0604020202020204" pitchFamily="34" charset="0"/>
              <a:buChar char="●"/>
            </a:pPr>
            <a:r>
              <a:rPr lang="en-US" sz="2400" dirty="0"/>
              <a:t>Each delegation step can restrict the </a:t>
            </a:r>
            <a:r>
              <a:rPr lang="en-US" sz="2400" dirty="0">
                <a:solidFill>
                  <a:srgbClr val="C00000"/>
                </a:solidFill>
              </a:rPr>
              <a:t>scope</a:t>
            </a:r>
            <a:r>
              <a:rPr lang="en-US" sz="2400" dirty="0"/>
              <a:t> of a certificate’s validity</a:t>
            </a:r>
          </a:p>
          <a:p>
            <a:pPr marL="457200" indent="-330200">
              <a:spcBef>
                <a:spcPts val="0"/>
              </a:spcBef>
              <a:buSzPts val="1600"/>
              <a:buFont typeface="Arial" panose="020B0604020202020204" pitchFamily="34" charset="0"/>
              <a:buChar char="●"/>
            </a:pPr>
            <a:r>
              <a:rPr lang="en-US" sz="2400" dirty="0"/>
              <a:t>Browse certificates on your machine:</a:t>
            </a:r>
          </a:p>
          <a:p>
            <a:pPr marL="914400" lvl="1" indent="-330200">
              <a:spcBef>
                <a:spcPts val="0"/>
              </a:spcBef>
              <a:buSzPts val="1600"/>
              <a:buFont typeface="Arial" panose="020B0604020202020204" pitchFamily="34" charset="0"/>
              <a:buChar char="●"/>
            </a:pPr>
            <a:r>
              <a:rPr lang="en-US" sz="2000" dirty="0"/>
              <a:t>Open </a:t>
            </a:r>
            <a:r>
              <a:rPr lang="en-US" sz="2000" dirty="0" err="1"/>
              <a:t>cmd</a:t>
            </a:r>
            <a:r>
              <a:rPr lang="en-US" sz="2000" dirty="0"/>
              <a:t> and type “</a:t>
            </a:r>
            <a:r>
              <a:rPr lang="en-US" sz="2000" dirty="0" err="1"/>
              <a:t>certmgr.msc</a:t>
            </a:r>
            <a:r>
              <a:rPr lang="en-US" sz="2000" dirty="0"/>
              <a:t>”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D05E1-FAF3-758A-F15F-EA33E8EF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8"/>
            <a:ext cx="10515600" cy="908078"/>
          </a:xfrm>
        </p:spPr>
        <p:txBody>
          <a:bodyPr/>
          <a:lstStyle/>
          <a:p>
            <a:r>
              <a:rPr lang="en-US" dirty="0"/>
              <a:t>Idea 2: A Hierarchical Trust Chain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82322-992C-3724-73DC-8698F95FB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88" y="2648196"/>
            <a:ext cx="8761086" cy="420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85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78A4-1A88-357A-42C8-6CB4F1352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7;p37">
            <a:extLst>
              <a:ext uri="{FF2B5EF4-FFF2-40B4-BE49-F238E27FC236}">
                <a16:creationId xmlns:a16="http://schemas.microsoft.com/office/drawing/2014/main" id="{960902D0-75AB-DB38-4850-DC512F60BC2F}"/>
              </a:ext>
            </a:extLst>
          </p:cNvPr>
          <p:cNvSpPr txBox="1">
            <a:spLocks/>
          </p:cNvSpPr>
          <p:nvPr/>
        </p:nvSpPr>
        <p:spPr>
          <a:xfrm>
            <a:off x="0" y="722727"/>
            <a:ext cx="10016403" cy="234254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Let's use </a:t>
            </a:r>
            <a:r>
              <a:rPr lang="en-US" sz="2400" dirty="0">
                <a:hlinkClick r:id="rId3"/>
              </a:rPr>
              <a:t>OpenSSL</a:t>
            </a:r>
            <a:r>
              <a:rPr lang="en-US" sz="2400" dirty="0"/>
              <a:t> on the SEED virtual machine to obtain Google's certificate chain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endParaRPr lang="en-US" sz="2400" dirty="0"/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# Get the entire certificate chain and save them to the file </a:t>
            </a:r>
            <a:r>
              <a:rPr lang="en-US" sz="2400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google_chain.pem</a:t>
            </a:r>
            <a:endParaRPr lang="en-US" sz="24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$ </a:t>
            </a:r>
            <a:r>
              <a:rPr lang="en-US" sz="2400" i="1" dirty="0">
                <a:solidFill>
                  <a:srgbClr val="C00000"/>
                </a:solidFill>
              </a:rPr>
              <a:t>echo | openssl </a:t>
            </a:r>
            <a:r>
              <a:rPr lang="en-US" sz="2400" i="1" dirty="0" err="1">
                <a:solidFill>
                  <a:srgbClr val="C00000"/>
                </a:solidFill>
              </a:rPr>
              <a:t>s_client</a:t>
            </a:r>
            <a:r>
              <a:rPr lang="en-US" sz="2400" i="1" dirty="0">
                <a:solidFill>
                  <a:srgbClr val="C00000"/>
                </a:solidFill>
              </a:rPr>
              <a:t> -</a:t>
            </a:r>
            <a:r>
              <a:rPr lang="en-US" sz="2400" i="1" dirty="0" err="1">
                <a:solidFill>
                  <a:srgbClr val="C00000"/>
                </a:solidFill>
              </a:rPr>
              <a:t>showcerts</a:t>
            </a:r>
            <a:r>
              <a:rPr lang="en-US" sz="2400" i="1" dirty="0">
                <a:solidFill>
                  <a:srgbClr val="C00000"/>
                </a:solidFill>
              </a:rPr>
              <a:t> -connect google.com:443 2&gt;/dev/null &gt; </a:t>
            </a:r>
            <a:r>
              <a:rPr lang="en-US" sz="2400" i="1" dirty="0" err="1">
                <a:solidFill>
                  <a:srgbClr val="C00000"/>
                </a:solidFill>
              </a:rPr>
              <a:t>google_chain.pem</a:t>
            </a:r>
            <a:endParaRPr lang="en-US" sz="2400" i="1" dirty="0">
              <a:solidFill>
                <a:srgbClr val="C00000"/>
              </a:solidFill>
            </a:endParaRPr>
          </a:p>
          <a:p>
            <a:pPr marL="127000" indent="0">
              <a:spcBef>
                <a:spcPts val="0"/>
              </a:spcBef>
              <a:buSzPts val="1600"/>
              <a:buNone/>
            </a:pPr>
            <a:endParaRPr lang="en-US" sz="2400" i="1" dirty="0">
              <a:solidFill>
                <a:srgbClr val="C00000"/>
              </a:solidFill>
            </a:endParaRP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# Use the following command decode this file and print the first certificate out 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000" dirty="0"/>
              <a:t>$ </a:t>
            </a:r>
            <a:r>
              <a:rPr lang="en-US" sz="2500" i="1" dirty="0">
                <a:solidFill>
                  <a:srgbClr val="C00000"/>
                </a:solidFill>
              </a:rPr>
              <a:t>openssl x509 -in </a:t>
            </a:r>
            <a:r>
              <a:rPr lang="en-US" sz="2500" i="1" dirty="0" err="1">
                <a:solidFill>
                  <a:srgbClr val="C00000"/>
                </a:solidFill>
              </a:rPr>
              <a:t>google_chain.pem</a:t>
            </a:r>
            <a:r>
              <a:rPr lang="en-US" sz="2500" i="1" dirty="0">
                <a:solidFill>
                  <a:srgbClr val="C00000"/>
                </a:solidFill>
              </a:rPr>
              <a:t> -text -</a:t>
            </a:r>
            <a:r>
              <a:rPr lang="en-US" sz="2500" i="1" dirty="0" err="1">
                <a:solidFill>
                  <a:srgbClr val="C00000"/>
                </a:solidFill>
              </a:rPr>
              <a:t>noout</a:t>
            </a:r>
            <a:endParaRPr lang="en-US" sz="2500" i="1" dirty="0">
              <a:solidFill>
                <a:srgbClr val="C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D1AC18-5973-6F88-C11B-C968F008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8"/>
            <a:ext cx="10515600" cy="908078"/>
          </a:xfrm>
        </p:spPr>
        <p:txBody>
          <a:bodyPr/>
          <a:lstStyle/>
          <a:p>
            <a:r>
              <a:rPr lang="en-US" dirty="0"/>
              <a:t>Browse Digital Certificates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A20B2-7794-ECBE-BE5E-883A1BC8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73" y="3116672"/>
            <a:ext cx="6261682" cy="3725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112A04-7F1C-9074-5F6F-92792CE750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981"/>
          <a:stretch>
            <a:fillRect/>
          </a:stretch>
        </p:blipFill>
        <p:spPr>
          <a:xfrm>
            <a:off x="8515401" y="1332951"/>
            <a:ext cx="3205545" cy="550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8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164D-4239-13D2-04DC-74C74A8D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7;p37">
            <a:extLst>
              <a:ext uri="{FF2B5EF4-FFF2-40B4-BE49-F238E27FC236}">
                <a16:creationId xmlns:a16="http://schemas.microsoft.com/office/drawing/2014/main" id="{41631D47-AB63-9108-A562-02C033F28DB5}"/>
              </a:ext>
            </a:extLst>
          </p:cNvPr>
          <p:cNvSpPr txBox="1">
            <a:spLocks/>
          </p:cNvSpPr>
          <p:nvPr/>
        </p:nvSpPr>
        <p:spPr>
          <a:xfrm>
            <a:off x="230910" y="824326"/>
            <a:ext cx="6853382" cy="594592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When you connects to </a:t>
            </a:r>
            <a:r>
              <a:rPr lang="en-US" sz="2400" dirty="0">
                <a:hlinkClick r:id="rId3"/>
              </a:rPr>
              <a:t>https://www.msoe.edu</a:t>
            </a:r>
            <a:r>
              <a:rPr lang="en-US" sz="2400" dirty="0"/>
              <a:t>: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Step 1: Receive Certificate Chain</a:t>
            </a:r>
          </a:p>
          <a:p>
            <a:pPr marL="927100" lvl="1" indent="-342900">
              <a:spcBef>
                <a:spcPts val="0"/>
              </a:spcBef>
              <a:buSzPts val="1600"/>
            </a:pPr>
            <a:r>
              <a:rPr lang="en-US" sz="2100" dirty="0"/>
              <a:t>www.msoe.edu cert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500" dirty="0"/>
              <a:t>		↓ (signed by)</a:t>
            </a:r>
          </a:p>
          <a:p>
            <a:pPr marL="927100" lvl="1" indent="-342900">
              <a:spcBef>
                <a:spcPts val="0"/>
              </a:spcBef>
              <a:buSzPts val="1600"/>
            </a:pPr>
            <a:r>
              <a:rPr lang="en-US" sz="2100" dirty="0"/>
              <a:t>R12 Let’s Encrypt Server CA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500" dirty="0"/>
              <a:t>    		↓ (signed by)</a:t>
            </a:r>
          </a:p>
          <a:p>
            <a:pPr marL="927100" lvl="1" indent="-342900">
              <a:spcBef>
                <a:spcPts val="0"/>
              </a:spcBef>
              <a:buSzPts val="1600"/>
            </a:pPr>
            <a:r>
              <a:rPr lang="en-US" sz="2100" dirty="0"/>
              <a:t>ISRG Root CA 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2400" dirty="0"/>
              <a:t>Step 2: Validate each certificate</a:t>
            </a:r>
          </a:p>
          <a:p>
            <a:pPr marL="469900" indent="-342900">
              <a:spcBef>
                <a:spcPts val="0"/>
              </a:spcBef>
              <a:buSzPts val="1600"/>
            </a:pPr>
            <a:r>
              <a:rPr lang="en-US" sz="2400" dirty="0"/>
              <a:t>Check validity period: Not expired or not yet valid?</a:t>
            </a:r>
          </a:p>
          <a:p>
            <a:pPr marL="469900" indent="-342900">
              <a:spcBef>
                <a:spcPts val="0"/>
              </a:spcBef>
              <a:buSzPts val="1600"/>
            </a:pPr>
            <a:r>
              <a:rPr lang="en-US" sz="2400" dirty="0"/>
              <a:t>Verify signature</a:t>
            </a:r>
          </a:p>
          <a:p>
            <a:pPr marL="469900" indent="-342900">
              <a:spcBef>
                <a:spcPts val="0"/>
              </a:spcBef>
              <a:buSzPts val="1600"/>
            </a:pPr>
            <a:r>
              <a:rPr lang="en-US" sz="2400" dirty="0"/>
              <a:t>Check revocation: Is this certificate revoked? (</a:t>
            </a:r>
            <a:r>
              <a:rPr lang="en-US" sz="2400" dirty="0">
                <a:hlinkClick r:id="rId4"/>
              </a:rPr>
              <a:t>certificate revocation list (CRL) </a:t>
            </a:r>
            <a:r>
              <a:rPr lang="en-US" sz="2400" dirty="0"/>
              <a:t>) </a:t>
            </a:r>
          </a:p>
          <a:p>
            <a:pPr marL="469900" indent="-342900">
              <a:spcBef>
                <a:spcPts val="0"/>
              </a:spcBef>
              <a:buSzPts val="1600"/>
            </a:pPr>
            <a:r>
              <a:rPr lang="en-US" sz="2400" dirty="0"/>
              <a:t>Verify domain name: Does the certificate match the requested domain?</a:t>
            </a:r>
          </a:p>
          <a:p>
            <a:pPr marL="469900" indent="-342900">
              <a:spcBef>
                <a:spcPts val="0"/>
              </a:spcBef>
              <a:buSzPts val="1600"/>
            </a:pPr>
            <a:r>
              <a:rPr lang="en-US" sz="2400" dirty="0"/>
              <a:t>Check trust chain: Can we trace back to a trusted root CA?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E8E6B7-10B8-8DAE-4A22-ACFC27BB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2" y="0"/>
            <a:ext cx="10515600" cy="908078"/>
          </a:xfrm>
        </p:spPr>
        <p:txBody>
          <a:bodyPr/>
          <a:lstStyle/>
          <a:p>
            <a:r>
              <a:rPr lang="en-US" dirty="0"/>
              <a:t>Certificate Validation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3B7D2-6108-64BD-6ABB-F5D5EAE4E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437" y="0"/>
            <a:ext cx="4867563" cy="4073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4AD330-2F11-20EC-FED9-926161597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4292" y="4565278"/>
            <a:ext cx="5010212" cy="21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78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1069-E358-878F-1E7C-181D8276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0DAC-D8EC-EEE5-4BCB-76DAB609BF11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DA5556-3623-38C8-6E8E-A7829031AF2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 Signatures and RSA Signature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Certificates and Chain of Trust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Public Key Infrastructure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779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7FCB-8EE4-B900-996F-197689CA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0FB8-A84A-209A-CA2E-0578E7F2834D}"/>
              </a:ext>
            </a:extLst>
          </p:cNvPr>
          <p:cNvSpPr txBox="1">
            <a:spLocks/>
          </p:cNvSpPr>
          <p:nvPr/>
        </p:nvSpPr>
        <p:spPr>
          <a:xfrm>
            <a:off x="230910" y="156317"/>
            <a:ext cx="10515600" cy="908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PKI?</a:t>
            </a:r>
          </a:p>
        </p:txBody>
      </p:sp>
      <p:sp>
        <p:nvSpPr>
          <p:cNvPr id="3" name="Google Shape;247;p37">
            <a:extLst>
              <a:ext uri="{FF2B5EF4-FFF2-40B4-BE49-F238E27FC236}">
                <a16:creationId xmlns:a16="http://schemas.microsoft.com/office/drawing/2014/main" id="{0A2E109C-D900-046C-4894-8BC4A4688086}"/>
              </a:ext>
            </a:extLst>
          </p:cNvPr>
          <p:cNvSpPr txBox="1">
            <a:spLocks/>
          </p:cNvSpPr>
          <p:nvPr/>
        </p:nvSpPr>
        <p:spPr>
          <a:xfrm>
            <a:off x="230910" y="974789"/>
            <a:ext cx="8275781" cy="12723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dirty="0"/>
              <a:t>A comprehensive framework for managing digital certificates and public-key cryptography </a:t>
            </a:r>
            <a:r>
              <a:rPr lang="en-US" altLang="zh-CN" dirty="0"/>
              <a:t>system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DA29F8-5D92-1C76-95D4-A3C18DD9C803}"/>
              </a:ext>
            </a:extLst>
          </p:cNvPr>
          <p:cNvGrpSpPr/>
          <p:nvPr/>
        </p:nvGrpSpPr>
        <p:grpSpPr>
          <a:xfrm>
            <a:off x="4699850" y="1979852"/>
            <a:ext cx="7416801" cy="4535056"/>
            <a:chOff x="-41564" y="1753744"/>
            <a:chExt cx="9137073" cy="4906716"/>
          </a:xfrm>
        </p:grpSpPr>
        <p:pic>
          <p:nvPicPr>
            <p:cNvPr id="1028" name="Picture 4" descr="What is Public Key Infrastructure | How Does PKI Work? | Security Wiki">
              <a:extLst>
                <a:ext uri="{FF2B5EF4-FFF2-40B4-BE49-F238E27FC236}">
                  <a16:creationId xmlns:a16="http://schemas.microsoft.com/office/drawing/2014/main" id="{2D255C7A-2583-8AEC-F350-CA1ADF2EF8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7" t="21818" r="8372" b="12020"/>
            <a:stretch>
              <a:fillRect/>
            </a:stretch>
          </p:blipFill>
          <p:spPr bwMode="auto">
            <a:xfrm>
              <a:off x="-41564" y="1753744"/>
              <a:ext cx="9137073" cy="4537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925A0A-1624-5C30-D5E7-684F8176E4EA}"/>
                </a:ext>
              </a:extLst>
            </p:cNvPr>
            <p:cNvSpPr txBox="1"/>
            <p:nvPr/>
          </p:nvSpPr>
          <p:spPr>
            <a:xfrm>
              <a:off x="182418" y="6291128"/>
              <a:ext cx="8689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https://doubleoctopus.com/security-wiki/digital-certificates/public-key-infrastructure/</a:t>
              </a:r>
            </a:p>
          </p:txBody>
        </p:sp>
      </p:grpSp>
      <p:sp>
        <p:nvSpPr>
          <p:cNvPr id="10" name="Google Shape;247;p37">
            <a:extLst>
              <a:ext uri="{FF2B5EF4-FFF2-40B4-BE49-F238E27FC236}">
                <a16:creationId xmlns:a16="http://schemas.microsoft.com/office/drawing/2014/main" id="{5BC4CBA2-7C5E-3DEC-B9F5-FBAC3BD9C887}"/>
              </a:ext>
            </a:extLst>
          </p:cNvPr>
          <p:cNvSpPr txBox="1">
            <a:spLocks/>
          </p:cNvSpPr>
          <p:nvPr/>
        </p:nvSpPr>
        <p:spPr>
          <a:xfrm>
            <a:off x="140004" y="2247117"/>
            <a:ext cx="4726101" cy="40005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Core Functions:</a:t>
            </a:r>
            <a:endParaRPr lang="en-US" sz="2400" dirty="0"/>
          </a:p>
          <a:p>
            <a:r>
              <a:rPr lang="en-US" sz="2400" b="1" dirty="0"/>
              <a:t>Create</a:t>
            </a:r>
            <a:r>
              <a:rPr lang="en-US" sz="2400" dirty="0"/>
              <a:t> cryptographic keys</a:t>
            </a:r>
          </a:p>
          <a:p>
            <a:r>
              <a:rPr lang="en-US" sz="2400" b="1" dirty="0"/>
              <a:t>Distribute</a:t>
            </a:r>
            <a:r>
              <a:rPr lang="en-US" sz="2400" dirty="0"/>
              <a:t> public keys securely</a:t>
            </a:r>
          </a:p>
          <a:p>
            <a:r>
              <a:rPr lang="en-US" sz="2400" b="1" dirty="0"/>
              <a:t>Verify</a:t>
            </a:r>
            <a:r>
              <a:rPr lang="en-US" sz="2400" dirty="0"/>
              <a:t> identities</a:t>
            </a:r>
          </a:p>
          <a:p>
            <a:r>
              <a:rPr lang="en-US" sz="2400" b="1" dirty="0"/>
              <a:t>Revoke</a:t>
            </a:r>
            <a:r>
              <a:rPr lang="en-US" sz="2400" dirty="0"/>
              <a:t> compromised certificates</a:t>
            </a:r>
          </a:p>
          <a:p>
            <a:r>
              <a:rPr lang="en-US" sz="2400" b="1" dirty="0"/>
              <a:t>Store</a:t>
            </a:r>
            <a:r>
              <a:rPr lang="en-US" sz="2400" dirty="0"/>
              <a:t> certificates and keys</a:t>
            </a:r>
          </a:p>
          <a:p>
            <a:r>
              <a:rPr lang="en-US" sz="2400" b="1" dirty="0"/>
              <a:t>Archive</a:t>
            </a:r>
            <a:r>
              <a:rPr lang="en-US" sz="2400" dirty="0"/>
              <a:t> historical records</a:t>
            </a:r>
          </a:p>
        </p:txBody>
      </p:sp>
    </p:spTree>
    <p:extLst>
      <p:ext uri="{BB962C8B-B14F-4D97-AF65-F5344CB8AC3E}">
        <p14:creationId xmlns:p14="http://schemas.microsoft.com/office/powerpoint/2010/main" val="2446028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7D38-3719-5ED9-DA6F-D72054505766}"/>
              </a:ext>
            </a:extLst>
          </p:cNvPr>
          <p:cNvSpPr txBox="1">
            <a:spLocks/>
          </p:cNvSpPr>
          <p:nvPr/>
        </p:nvSpPr>
        <p:spPr>
          <a:xfrm>
            <a:off x="230910" y="156317"/>
            <a:ext cx="10515600" cy="908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PKI?</a:t>
            </a:r>
          </a:p>
        </p:txBody>
      </p:sp>
      <p:sp>
        <p:nvSpPr>
          <p:cNvPr id="3" name="Google Shape;247;p37">
            <a:extLst>
              <a:ext uri="{FF2B5EF4-FFF2-40B4-BE49-F238E27FC236}">
                <a16:creationId xmlns:a16="http://schemas.microsoft.com/office/drawing/2014/main" id="{C738B426-8231-6349-0F13-ADBA77A6142E}"/>
              </a:ext>
            </a:extLst>
          </p:cNvPr>
          <p:cNvSpPr txBox="1">
            <a:spLocks/>
          </p:cNvSpPr>
          <p:nvPr/>
        </p:nvSpPr>
        <p:spPr>
          <a:xfrm>
            <a:off x="247924" y="774701"/>
            <a:ext cx="8275781" cy="12723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dirty="0"/>
              <a:t>A comprehensive framework for managing digital certificates and public-key cryptography </a:t>
            </a:r>
            <a:r>
              <a:rPr lang="en-US" altLang="zh-CN" dirty="0"/>
              <a:t>system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5BD87BD-CFAD-4998-ABBE-8D96F8F719F3}"/>
              </a:ext>
            </a:extLst>
          </p:cNvPr>
          <p:cNvGrpSpPr/>
          <p:nvPr/>
        </p:nvGrpSpPr>
        <p:grpSpPr>
          <a:xfrm>
            <a:off x="4635195" y="1979852"/>
            <a:ext cx="7416801" cy="4535056"/>
            <a:chOff x="-41564" y="1753744"/>
            <a:chExt cx="9137073" cy="4906716"/>
          </a:xfrm>
        </p:grpSpPr>
        <p:pic>
          <p:nvPicPr>
            <p:cNvPr id="1028" name="Picture 4" descr="What is Public Key Infrastructure | How Does PKI Work? | Security Wiki">
              <a:extLst>
                <a:ext uri="{FF2B5EF4-FFF2-40B4-BE49-F238E27FC236}">
                  <a16:creationId xmlns:a16="http://schemas.microsoft.com/office/drawing/2014/main" id="{028137A5-6BAA-267C-21B5-CF2DE9F984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7" t="21818" r="8372" b="12020"/>
            <a:stretch>
              <a:fillRect/>
            </a:stretch>
          </p:blipFill>
          <p:spPr bwMode="auto">
            <a:xfrm>
              <a:off x="-41564" y="1753744"/>
              <a:ext cx="9137073" cy="4537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735595-3D68-58D6-2F8B-0043C7E1D041}"/>
                </a:ext>
              </a:extLst>
            </p:cNvPr>
            <p:cNvSpPr txBox="1"/>
            <p:nvPr/>
          </p:nvSpPr>
          <p:spPr>
            <a:xfrm>
              <a:off x="182418" y="6291128"/>
              <a:ext cx="8689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https://doubleoctopus.com/security-wiki/digital-certificates/public-key-infrastructure/</a:t>
              </a:r>
            </a:p>
          </p:txBody>
        </p:sp>
      </p:grpSp>
      <p:sp>
        <p:nvSpPr>
          <p:cNvPr id="10" name="Google Shape;247;p37">
            <a:extLst>
              <a:ext uri="{FF2B5EF4-FFF2-40B4-BE49-F238E27FC236}">
                <a16:creationId xmlns:a16="http://schemas.microsoft.com/office/drawing/2014/main" id="{CA021EC5-C140-3785-02EF-FE43864D3884}"/>
              </a:ext>
            </a:extLst>
          </p:cNvPr>
          <p:cNvSpPr txBox="1">
            <a:spLocks/>
          </p:cNvSpPr>
          <p:nvPr/>
        </p:nvSpPr>
        <p:spPr>
          <a:xfrm>
            <a:off x="140004" y="2076437"/>
            <a:ext cx="4726101" cy="40005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Certificate Authority (CA):</a:t>
            </a:r>
          </a:p>
          <a:p>
            <a:r>
              <a:rPr lang="en-US" sz="2000" dirty="0"/>
              <a:t>The trusted issuer and signer of digital certificates</a:t>
            </a:r>
          </a:p>
          <a:p>
            <a:r>
              <a:rPr lang="en-US" sz="2000" dirty="0"/>
              <a:t>Manages certificate lifecycle: issuance, renewal, and revocation</a:t>
            </a:r>
          </a:p>
          <a:p>
            <a:r>
              <a:rPr lang="en-US" sz="2000" dirty="0"/>
              <a:t>Types: Root CA (self-signed, top-level) and Intermediate CA (delegated authority)</a:t>
            </a:r>
          </a:p>
          <a:p>
            <a:r>
              <a:rPr lang="en-US" sz="2000" dirty="0"/>
              <a:t>Examples: </a:t>
            </a:r>
            <a:r>
              <a:rPr lang="en-US" sz="2000" dirty="0">
                <a:hlinkClick r:id="rId4"/>
              </a:rPr>
              <a:t>DigiCert</a:t>
            </a:r>
            <a:r>
              <a:rPr lang="en-US" sz="2000" dirty="0"/>
              <a:t>, </a:t>
            </a:r>
            <a:r>
              <a:rPr lang="en-US" sz="2000" dirty="0">
                <a:hlinkClick r:id="rId5"/>
              </a:rPr>
              <a:t>Let's Encrypt</a:t>
            </a:r>
            <a:r>
              <a:rPr lang="en-US" sz="2000" dirty="0"/>
              <a:t>, </a:t>
            </a:r>
            <a:r>
              <a:rPr lang="en-US" sz="2000" dirty="0">
                <a:hlinkClick r:id="rId6"/>
              </a:rPr>
              <a:t>GlobalSign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4194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DDBAC-724F-244C-1666-8B7D11A3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6ED4-74D6-7B14-A39E-33341FF9BB31}"/>
              </a:ext>
            </a:extLst>
          </p:cNvPr>
          <p:cNvSpPr txBox="1">
            <a:spLocks/>
          </p:cNvSpPr>
          <p:nvPr/>
        </p:nvSpPr>
        <p:spPr>
          <a:xfrm>
            <a:off x="230910" y="156317"/>
            <a:ext cx="10515600" cy="908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PKI?</a:t>
            </a:r>
          </a:p>
        </p:txBody>
      </p:sp>
      <p:sp>
        <p:nvSpPr>
          <p:cNvPr id="3" name="Google Shape;247;p37">
            <a:extLst>
              <a:ext uri="{FF2B5EF4-FFF2-40B4-BE49-F238E27FC236}">
                <a16:creationId xmlns:a16="http://schemas.microsoft.com/office/drawing/2014/main" id="{1B04DBDF-11DC-93F8-3CD8-CB881A1DE1FA}"/>
              </a:ext>
            </a:extLst>
          </p:cNvPr>
          <p:cNvSpPr txBox="1">
            <a:spLocks/>
          </p:cNvSpPr>
          <p:nvPr/>
        </p:nvSpPr>
        <p:spPr>
          <a:xfrm>
            <a:off x="247924" y="774701"/>
            <a:ext cx="8275781" cy="12723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dirty="0"/>
              <a:t>A comprehensive framework for managing digital certificates and public-key cryptography </a:t>
            </a:r>
            <a:r>
              <a:rPr lang="en-US" altLang="zh-CN" dirty="0"/>
              <a:t>system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FE250D-71BE-F7A1-52E4-97C59D85167A}"/>
              </a:ext>
            </a:extLst>
          </p:cNvPr>
          <p:cNvGrpSpPr/>
          <p:nvPr/>
        </p:nvGrpSpPr>
        <p:grpSpPr>
          <a:xfrm>
            <a:off x="4635195" y="1979852"/>
            <a:ext cx="7416801" cy="4535056"/>
            <a:chOff x="-41564" y="1753744"/>
            <a:chExt cx="9137073" cy="4906716"/>
          </a:xfrm>
        </p:grpSpPr>
        <p:pic>
          <p:nvPicPr>
            <p:cNvPr id="1028" name="Picture 4" descr="What is Public Key Infrastructure | How Does PKI Work? | Security Wiki">
              <a:extLst>
                <a:ext uri="{FF2B5EF4-FFF2-40B4-BE49-F238E27FC236}">
                  <a16:creationId xmlns:a16="http://schemas.microsoft.com/office/drawing/2014/main" id="{FA33CA80-E2C7-CF3F-C154-6133631476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7" t="21818" r="8372" b="12020"/>
            <a:stretch>
              <a:fillRect/>
            </a:stretch>
          </p:blipFill>
          <p:spPr bwMode="auto">
            <a:xfrm>
              <a:off x="-41564" y="1753744"/>
              <a:ext cx="9137073" cy="4537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4EF18D-B20E-E799-B72D-EF29F9732FB1}"/>
                </a:ext>
              </a:extLst>
            </p:cNvPr>
            <p:cNvSpPr txBox="1"/>
            <p:nvPr/>
          </p:nvSpPr>
          <p:spPr>
            <a:xfrm>
              <a:off x="182418" y="6291128"/>
              <a:ext cx="8689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https://doubleoctopus.com/security-wiki/digital-certificates/public-key-infrastructure/</a:t>
              </a:r>
            </a:p>
          </p:txBody>
        </p:sp>
      </p:grpSp>
      <p:sp>
        <p:nvSpPr>
          <p:cNvPr id="10" name="Google Shape;247;p37">
            <a:extLst>
              <a:ext uri="{FF2B5EF4-FFF2-40B4-BE49-F238E27FC236}">
                <a16:creationId xmlns:a16="http://schemas.microsoft.com/office/drawing/2014/main" id="{2EF808CB-F7D5-A89C-51EC-B579A13DE724}"/>
              </a:ext>
            </a:extLst>
          </p:cNvPr>
          <p:cNvSpPr txBox="1">
            <a:spLocks/>
          </p:cNvSpPr>
          <p:nvPr/>
        </p:nvSpPr>
        <p:spPr>
          <a:xfrm>
            <a:off x="140004" y="2076437"/>
            <a:ext cx="4726101" cy="40005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Registration Authority (RA):</a:t>
            </a:r>
          </a:p>
          <a:p>
            <a:r>
              <a:rPr lang="en-US" sz="2400" dirty="0"/>
              <a:t>Validates Certificate Signing Requests (CSRs) for authenticity</a:t>
            </a:r>
          </a:p>
          <a:p>
            <a:r>
              <a:rPr lang="en-US" sz="2400" dirty="0"/>
              <a:t>Authorizes or rejects certificate requests based on identity verification</a:t>
            </a:r>
          </a:p>
          <a:p>
            <a:r>
              <a:rPr lang="en-US" sz="2400" dirty="0"/>
              <a:t>Usually, a department or an automated system within the CA company. E.g., </a:t>
            </a:r>
            <a:r>
              <a:rPr lang="en-US" sz="2400" dirty="0">
                <a:hlinkClick r:id="rId4"/>
              </a:rPr>
              <a:t>Let's Encrypt ACME protocol API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3132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08A7-7D31-C247-2055-88E7B927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424F-BE9F-ECFD-58DF-27DD2C1CEE9F}"/>
              </a:ext>
            </a:extLst>
          </p:cNvPr>
          <p:cNvSpPr txBox="1">
            <a:spLocks/>
          </p:cNvSpPr>
          <p:nvPr/>
        </p:nvSpPr>
        <p:spPr>
          <a:xfrm>
            <a:off x="230910" y="156317"/>
            <a:ext cx="10515600" cy="908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PKI?</a:t>
            </a:r>
          </a:p>
        </p:txBody>
      </p:sp>
      <p:sp>
        <p:nvSpPr>
          <p:cNvPr id="3" name="Google Shape;247;p37">
            <a:extLst>
              <a:ext uri="{FF2B5EF4-FFF2-40B4-BE49-F238E27FC236}">
                <a16:creationId xmlns:a16="http://schemas.microsoft.com/office/drawing/2014/main" id="{C1CF801F-826F-4764-036A-BDF5B0E45F98}"/>
              </a:ext>
            </a:extLst>
          </p:cNvPr>
          <p:cNvSpPr txBox="1">
            <a:spLocks/>
          </p:cNvSpPr>
          <p:nvPr/>
        </p:nvSpPr>
        <p:spPr>
          <a:xfrm>
            <a:off x="247924" y="774701"/>
            <a:ext cx="8275781" cy="12723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dirty="0"/>
              <a:t>A comprehensive framework for managing digital certificates and public-key cryptography </a:t>
            </a:r>
            <a:r>
              <a:rPr lang="en-US" altLang="zh-CN" dirty="0"/>
              <a:t>system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172059-B491-643F-4132-08C442B72736}"/>
              </a:ext>
            </a:extLst>
          </p:cNvPr>
          <p:cNvGrpSpPr/>
          <p:nvPr/>
        </p:nvGrpSpPr>
        <p:grpSpPr>
          <a:xfrm>
            <a:off x="4635195" y="1979852"/>
            <a:ext cx="7416801" cy="4535056"/>
            <a:chOff x="-41564" y="1753744"/>
            <a:chExt cx="9137073" cy="4906716"/>
          </a:xfrm>
        </p:grpSpPr>
        <p:pic>
          <p:nvPicPr>
            <p:cNvPr id="1028" name="Picture 4" descr="What is Public Key Infrastructure | How Does PKI Work? | Security Wiki">
              <a:extLst>
                <a:ext uri="{FF2B5EF4-FFF2-40B4-BE49-F238E27FC236}">
                  <a16:creationId xmlns:a16="http://schemas.microsoft.com/office/drawing/2014/main" id="{B55A695B-0F44-4BD9-7032-08A30CDB25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7" t="21818" r="8372" b="12020"/>
            <a:stretch>
              <a:fillRect/>
            </a:stretch>
          </p:blipFill>
          <p:spPr bwMode="auto">
            <a:xfrm>
              <a:off x="-41564" y="1753744"/>
              <a:ext cx="9137073" cy="4537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1F058F-AE66-BAC5-E3BA-B5002AD0E350}"/>
                </a:ext>
              </a:extLst>
            </p:cNvPr>
            <p:cNvSpPr txBox="1"/>
            <p:nvPr/>
          </p:nvSpPr>
          <p:spPr>
            <a:xfrm>
              <a:off x="182418" y="6291128"/>
              <a:ext cx="8689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https://doubleoctopus.com/security-wiki/digital-certificates/public-key-infrastructure/</a:t>
              </a:r>
            </a:p>
          </p:txBody>
        </p:sp>
      </p:grpSp>
      <p:sp>
        <p:nvSpPr>
          <p:cNvPr id="10" name="Google Shape;247;p37">
            <a:extLst>
              <a:ext uri="{FF2B5EF4-FFF2-40B4-BE49-F238E27FC236}">
                <a16:creationId xmlns:a16="http://schemas.microsoft.com/office/drawing/2014/main" id="{C55BD559-1A38-D6CE-A024-C8F084E1D34B}"/>
              </a:ext>
            </a:extLst>
          </p:cNvPr>
          <p:cNvSpPr txBox="1">
            <a:spLocks/>
          </p:cNvSpPr>
          <p:nvPr/>
        </p:nvSpPr>
        <p:spPr>
          <a:xfrm>
            <a:off x="140004" y="2076437"/>
            <a:ext cx="4726101" cy="44384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Certificate Repository:</a:t>
            </a:r>
          </a:p>
          <a:p>
            <a:r>
              <a:rPr lang="en-US" sz="2400" dirty="0"/>
              <a:t>Stores issued certificates and Certificate Revocation Lists (CRLs)</a:t>
            </a:r>
          </a:p>
          <a:p>
            <a:r>
              <a:rPr lang="en-US" sz="2400" dirty="0"/>
              <a:t>Implemented as web-based databases: When you visit HTTPS sites, server sends certificates</a:t>
            </a:r>
          </a:p>
          <a:p>
            <a:r>
              <a:rPr lang="en-US" sz="2400" dirty="0"/>
              <a:t>Try this page: </a:t>
            </a:r>
            <a:r>
              <a:rPr lang="en-US" sz="2400" dirty="0">
                <a:hlinkClick r:id="rId4"/>
              </a:rPr>
              <a:t>https://crt.sh/</a:t>
            </a:r>
            <a:endParaRPr lang="en-US" sz="2400" dirty="0"/>
          </a:p>
          <a:p>
            <a:pPr lvl="1"/>
            <a:r>
              <a:rPr lang="en-US" sz="2000" dirty="0"/>
              <a:t>A public certificate repository anyone can search!</a:t>
            </a:r>
          </a:p>
          <a:p>
            <a:pPr lvl="1"/>
            <a:r>
              <a:rPr lang="en-US" sz="2000" dirty="0"/>
              <a:t>Search "msoe.edu“: see every certificate ever issued!</a:t>
            </a:r>
          </a:p>
        </p:txBody>
      </p:sp>
    </p:spTree>
    <p:extLst>
      <p:ext uri="{BB962C8B-B14F-4D97-AF65-F5344CB8AC3E}">
        <p14:creationId xmlns:p14="http://schemas.microsoft.com/office/powerpoint/2010/main" val="620798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B7B2-BB9A-3089-9BC4-C0CD4F77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842F-C7D8-3190-A79E-68558247DBFD}"/>
              </a:ext>
            </a:extLst>
          </p:cNvPr>
          <p:cNvSpPr txBox="1">
            <a:spLocks/>
          </p:cNvSpPr>
          <p:nvPr/>
        </p:nvSpPr>
        <p:spPr>
          <a:xfrm>
            <a:off x="230910" y="156317"/>
            <a:ext cx="10515600" cy="908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PKI?</a:t>
            </a:r>
          </a:p>
        </p:txBody>
      </p:sp>
      <p:pic>
        <p:nvPicPr>
          <p:cNvPr id="1028" name="Picture 4" descr="What is Public Key Infrastructure | How Does PKI Work? | Security Wiki">
            <a:extLst>
              <a:ext uri="{FF2B5EF4-FFF2-40B4-BE49-F238E27FC236}">
                <a16:creationId xmlns:a16="http://schemas.microsoft.com/office/drawing/2014/main" id="{49BD870F-8FD5-A86A-E3AB-322D06384A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7" t="21818" r="8372" b="12020"/>
          <a:stretch>
            <a:fillRect/>
          </a:stretch>
        </p:blipFill>
        <p:spPr bwMode="auto">
          <a:xfrm>
            <a:off x="4729019" y="0"/>
            <a:ext cx="5338618" cy="301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47;p37">
            <a:extLst>
              <a:ext uri="{FF2B5EF4-FFF2-40B4-BE49-F238E27FC236}">
                <a16:creationId xmlns:a16="http://schemas.microsoft.com/office/drawing/2014/main" id="{B9E0C5EF-4EE3-6DD1-A7D3-DE05EFEE4FF5}"/>
              </a:ext>
            </a:extLst>
          </p:cNvPr>
          <p:cNvSpPr txBox="1">
            <a:spLocks/>
          </p:cNvSpPr>
          <p:nvPr/>
        </p:nvSpPr>
        <p:spPr>
          <a:xfrm>
            <a:off x="140005" y="2076437"/>
            <a:ext cx="4589014" cy="44384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Verification Authority (VA): </a:t>
            </a:r>
          </a:p>
          <a:p>
            <a:r>
              <a:rPr lang="en-US" sz="2400" dirty="0"/>
              <a:t>Provides online certificate status checking via </a:t>
            </a:r>
            <a:r>
              <a:rPr lang="en-US" sz="2400" dirty="0">
                <a:hlinkClick r:id="rId4"/>
              </a:rPr>
              <a:t>OCSP protocol</a:t>
            </a:r>
            <a:endParaRPr lang="en-US" sz="2400" dirty="0"/>
          </a:p>
          <a:p>
            <a:r>
              <a:rPr lang="en-US" sz="2400" dirty="0"/>
              <a:t>Responds with certificate status: Valid, Revoked, or Unknown</a:t>
            </a:r>
          </a:p>
          <a:p>
            <a:r>
              <a:rPr lang="en-US" sz="2400" dirty="0"/>
              <a:t>More efficient than downloading large CRLs</a:t>
            </a:r>
          </a:p>
          <a:p>
            <a:r>
              <a:rPr lang="en-US" sz="2400" dirty="0"/>
              <a:t>Used by browsers and applications for real-time verification (see in </a:t>
            </a:r>
            <a:r>
              <a:rPr lang="en-US" sz="2400" dirty="0" err="1"/>
              <a:t>DevTools</a:t>
            </a:r>
            <a:r>
              <a:rPr lang="en-US" sz="2400" dirty="0"/>
              <a:t>)</a:t>
            </a:r>
          </a:p>
          <a:p>
            <a:r>
              <a:rPr lang="en-US" sz="2400" dirty="0"/>
              <a:t>Note: Optional component (some PKIs use only CRLs)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20D3C-1952-D6CC-075E-1FCCFC644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019" y="3052610"/>
            <a:ext cx="7462981" cy="371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9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3496</Words>
  <Application>Microsoft Office PowerPoint</Application>
  <PresentationFormat>Widescreen</PresentationFormat>
  <Paragraphs>391</Paragraphs>
  <Slides>30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CSC 3511 Security and Networking</vt:lpstr>
      <vt:lpstr>PowerPoint Presentation</vt:lpstr>
      <vt:lpstr>PowerPoint Presentation</vt:lpstr>
      <vt:lpstr>Last Week: Strawman Key Exchange and Data Transfer Protocol</vt:lpstr>
      <vt:lpstr>Last Week: MITM Targeting the Strawman Key Exchange and Data Transfer Protocol</vt:lpstr>
      <vt:lpstr>Digital Signatures</vt:lpstr>
      <vt:lpstr>Digital Signatures: Definition</vt:lpstr>
      <vt:lpstr>Defining Integrity: EU-CPA </vt:lpstr>
      <vt:lpstr>Digital Signatures in Practice: Sign</vt:lpstr>
      <vt:lpstr>Digital Signatures in Practice: Verify</vt:lpstr>
      <vt:lpstr>RSA Signatures: Definition</vt:lpstr>
      <vt:lpstr>Summary: Public-Key Cryptography</vt:lpstr>
      <vt:lpstr>PowerPoint Presentation</vt:lpstr>
      <vt:lpstr>Certificates</vt:lpstr>
      <vt:lpstr>Problem: Distributing Public Keys</vt:lpstr>
      <vt:lpstr>Problem: Distributing Public Keys</vt:lpstr>
      <vt:lpstr>Certificates</vt:lpstr>
      <vt:lpstr>PowerPoint Presentation</vt:lpstr>
      <vt:lpstr>Idea 1: A Central Trusted Directory</vt:lpstr>
      <vt:lpstr>Idea 1: A Central Trusted Directory</vt:lpstr>
      <vt:lpstr>Idea 2: A Hierarchical Trust Chain</vt:lpstr>
      <vt:lpstr>Idea 2: A Hierarchical Trust Chain</vt:lpstr>
      <vt:lpstr>Browse Digital Certificates</vt:lpstr>
      <vt:lpstr>Certificate Validation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290</cp:revision>
  <dcterms:created xsi:type="dcterms:W3CDTF">2024-11-04T19:47:12Z</dcterms:created>
  <dcterms:modified xsi:type="dcterms:W3CDTF">2025-11-10T04:13:15Z</dcterms:modified>
</cp:coreProperties>
</file>