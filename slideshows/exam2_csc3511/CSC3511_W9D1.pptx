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Lst>
  <p:notesMasterIdLst>
    <p:notesMasterId r:id="rId50"/>
  </p:notesMasterIdLst>
  <p:sldIdLst>
    <p:sldId id="257" r:id="rId6"/>
    <p:sldId id="1435" r:id="rId7"/>
    <p:sldId id="366" r:id="rId8"/>
    <p:sldId id="371" r:id="rId9"/>
    <p:sldId id="372" r:id="rId10"/>
    <p:sldId id="409" r:id="rId11"/>
    <p:sldId id="410" r:id="rId12"/>
    <p:sldId id="373" r:id="rId13"/>
    <p:sldId id="423" r:id="rId14"/>
    <p:sldId id="387" r:id="rId15"/>
    <p:sldId id="1436" r:id="rId16"/>
    <p:sldId id="386" r:id="rId17"/>
    <p:sldId id="405" r:id="rId18"/>
    <p:sldId id="374" r:id="rId19"/>
    <p:sldId id="375" r:id="rId20"/>
    <p:sldId id="376" r:id="rId21"/>
    <p:sldId id="388" r:id="rId22"/>
    <p:sldId id="406" r:id="rId23"/>
    <p:sldId id="377" r:id="rId24"/>
    <p:sldId id="390" r:id="rId25"/>
    <p:sldId id="1437" r:id="rId26"/>
    <p:sldId id="389" r:id="rId27"/>
    <p:sldId id="412" r:id="rId28"/>
    <p:sldId id="413" r:id="rId29"/>
    <p:sldId id="414" r:id="rId30"/>
    <p:sldId id="415" r:id="rId31"/>
    <p:sldId id="416" r:id="rId32"/>
    <p:sldId id="418" r:id="rId33"/>
    <p:sldId id="419" r:id="rId34"/>
    <p:sldId id="420" r:id="rId35"/>
    <p:sldId id="421" r:id="rId36"/>
    <p:sldId id="1438" r:id="rId37"/>
    <p:sldId id="1439" r:id="rId38"/>
    <p:sldId id="1440" r:id="rId39"/>
    <p:sldId id="1441" r:id="rId40"/>
    <p:sldId id="1442" r:id="rId41"/>
    <p:sldId id="1443" r:id="rId42"/>
    <p:sldId id="1444" r:id="rId43"/>
    <p:sldId id="1445" r:id="rId44"/>
    <p:sldId id="422" r:id="rId45"/>
    <p:sldId id="380" r:id="rId46"/>
    <p:sldId id="379" r:id="rId47"/>
    <p:sldId id="1446" r:id="rId48"/>
    <p:sldId id="378"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7C80"/>
    <a:srgbClr val="FFFF99"/>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8EBD3F-9E39-4E38-8A21-C66118C129EB}" v="1237" dt="2024-04-09T03:57:12.7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48023" autoAdjust="0"/>
  </p:normalViewPr>
  <p:slideViewPr>
    <p:cSldViewPr snapToGrid="0">
      <p:cViewPr varScale="1">
        <p:scale>
          <a:sx n="58" d="100"/>
          <a:sy n="58" d="100"/>
        </p:scale>
        <p:origin x="2914" y="67"/>
      </p:cViewPr>
      <p:guideLst/>
    </p:cSldViewPr>
  </p:slideViewPr>
  <p:notesTextViewPr>
    <p:cViewPr>
      <p:scale>
        <a:sx n="1" d="1"/>
        <a:sy n="1" d="1"/>
      </p:scale>
      <p:origin x="0" y="0"/>
    </p:cViewPr>
  </p:notesTextViewPr>
  <p:sorterViewPr>
    <p:cViewPr>
      <p:scale>
        <a:sx n="100" d="100"/>
        <a:sy n="100" d="100"/>
      </p:scale>
      <p:origin x="0" y="-278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notesMaster" Target="notesMasters/notesMaster1.xml"/><Relationship Id="rId55"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theme" Target="theme/theme1.xml"/><Relationship Id="rId5" Type="http://schemas.openxmlformats.org/officeDocument/2006/relationships/slideMaster" Target="slideMasters/slideMaster2.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8" Type="http://schemas.openxmlformats.org/officeDocument/2006/relationships/slide" Target="slides/slide3.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FCE17F-657B-4DAB-B6E1-E1803235A61E}" type="datetimeFigureOut">
              <a:rPr lang="en-US" smtClean="0"/>
              <a:t>10/26/2025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57604F-8FC2-4427-83D4-5F1194BDB860}" type="slidenum">
              <a:rPr lang="en-US" smtClean="0"/>
              <a:t>‹#›</a:t>
            </a:fld>
            <a:endParaRPr lang="en-US"/>
          </a:p>
        </p:txBody>
      </p:sp>
    </p:spTree>
    <p:extLst>
      <p:ext uri="{BB962C8B-B14F-4D97-AF65-F5344CB8AC3E}">
        <p14:creationId xmlns:p14="http://schemas.microsoft.com/office/powerpoint/2010/main" val="55779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5"/>
        <p:cNvGrpSpPr/>
        <p:nvPr/>
      </p:nvGrpSpPr>
      <p:grpSpPr>
        <a:xfrm>
          <a:off x="0" y="0"/>
          <a:ext cx="0" cy="0"/>
          <a:chOff x="0" y="0"/>
          <a:chExt cx="0" cy="0"/>
        </a:xfrm>
      </p:grpSpPr>
      <p:sp>
        <p:nvSpPr>
          <p:cNvPr id="1816" name="Google Shape;1816;g2c1e6637634_2_5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7" name="Google Shape;1817;g2c1e6637634_2_5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A stub resolver is a simple DNS client library built into the operating system that applications use to perform DNS lookups: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Accepts DNS queries from applications (like web browsers)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Formats DNS queries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Sends queries to a configured recursive resolver (DNS server)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Receives and returns responses to the application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Handles basic caching</a:t>
            </a:r>
            <a:endParaRPr b="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5"/>
        <p:cNvGrpSpPr/>
        <p:nvPr/>
      </p:nvGrpSpPr>
      <p:grpSpPr>
        <a:xfrm>
          <a:off x="0" y="0"/>
          <a:ext cx="0" cy="0"/>
          <a:chOff x="0" y="0"/>
          <a:chExt cx="0" cy="0"/>
        </a:xfrm>
      </p:grpSpPr>
      <p:sp>
        <p:nvSpPr>
          <p:cNvPr id="1816" name="Google Shape;1816;g2c1e6637634_2_5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7" name="Google Shape;1817;g2c1e6637634_2_5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87597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5"/>
        <p:cNvGrpSpPr/>
        <p:nvPr/>
      </p:nvGrpSpPr>
      <p:grpSpPr>
        <a:xfrm>
          <a:off x="0" y="0"/>
          <a:ext cx="0" cy="0"/>
          <a:chOff x="0" y="0"/>
          <a:chExt cx="0" cy="0"/>
        </a:xfrm>
      </p:grpSpPr>
      <p:sp>
        <p:nvSpPr>
          <p:cNvPr id="1816" name="Google Shape;1816;g2c1e6637634_2_5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7" name="Google Shape;1817;g2c1e6637634_2_5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5C5962"/>
                </a:solidFill>
                <a:effectLst/>
                <a:highlight>
                  <a:srgbClr val="FFFFFF"/>
                </a:highlight>
                <a:latin typeface="system-ui"/>
              </a:rPr>
              <a:t>additional section: type A records, aka</a:t>
            </a:r>
            <a:r>
              <a:rPr lang="zh-CN" altLang="en-US" b="1" i="0" dirty="0">
                <a:solidFill>
                  <a:srgbClr val="5C5962"/>
                </a:solidFill>
                <a:effectLst/>
                <a:highlight>
                  <a:srgbClr val="FFFFFF"/>
                </a:highlight>
                <a:latin typeface="system-ui"/>
              </a:rPr>
              <a:t> </a:t>
            </a:r>
            <a:r>
              <a:rPr lang="en-US" altLang="zh-CN" b="1" i="0" dirty="0">
                <a:solidFill>
                  <a:srgbClr val="5C5962"/>
                </a:solidFill>
                <a:effectLst/>
                <a:highlight>
                  <a:srgbClr val="FFFFFF"/>
                </a:highlight>
                <a:latin typeface="system-ui"/>
              </a:rPr>
              <a:t>glue</a:t>
            </a:r>
            <a:r>
              <a:rPr lang="zh-CN" altLang="en-US" b="1" i="0" dirty="0">
                <a:solidFill>
                  <a:srgbClr val="5C5962"/>
                </a:solidFill>
                <a:effectLst/>
                <a:highlight>
                  <a:srgbClr val="FFFFFF"/>
                </a:highlight>
                <a:latin typeface="system-ui"/>
              </a:rPr>
              <a:t> </a:t>
            </a:r>
            <a:r>
              <a:rPr lang="en-US" altLang="zh-CN" b="1" i="0" dirty="0">
                <a:solidFill>
                  <a:srgbClr val="5C5962"/>
                </a:solidFill>
                <a:effectLst/>
                <a:highlight>
                  <a:srgbClr val="FFFFFF"/>
                </a:highlight>
                <a:latin typeface="system-ui"/>
              </a:rPr>
              <a:t>records</a:t>
            </a:r>
            <a:endParaRPr dirty="0"/>
          </a:p>
        </p:txBody>
      </p:sp>
    </p:spTree>
    <p:extLst>
      <p:ext uri="{BB962C8B-B14F-4D97-AF65-F5344CB8AC3E}">
        <p14:creationId xmlns:p14="http://schemas.microsoft.com/office/powerpoint/2010/main" val="41345311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5"/>
        <p:cNvGrpSpPr/>
        <p:nvPr/>
      </p:nvGrpSpPr>
      <p:grpSpPr>
        <a:xfrm>
          <a:off x="0" y="0"/>
          <a:ext cx="0" cy="0"/>
          <a:chOff x="0" y="0"/>
          <a:chExt cx="0" cy="0"/>
        </a:xfrm>
      </p:grpSpPr>
      <p:sp>
        <p:nvSpPr>
          <p:cNvPr id="1816" name="Google Shape;1816;g2c1e6637634_2_5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7" name="Google Shape;1817;g2c1e6637634_2_5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dirty="0"/>
          </a:p>
        </p:txBody>
      </p:sp>
    </p:spTree>
    <p:extLst>
      <p:ext uri="{BB962C8B-B14F-4D97-AF65-F5344CB8AC3E}">
        <p14:creationId xmlns:p14="http://schemas.microsoft.com/office/powerpoint/2010/main" val="23076074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5"/>
        <p:cNvGrpSpPr/>
        <p:nvPr/>
      </p:nvGrpSpPr>
      <p:grpSpPr>
        <a:xfrm>
          <a:off x="0" y="0"/>
          <a:ext cx="0" cy="0"/>
          <a:chOff x="0" y="0"/>
          <a:chExt cx="0" cy="0"/>
        </a:xfrm>
      </p:grpSpPr>
      <p:sp>
        <p:nvSpPr>
          <p:cNvPr id="1816" name="Google Shape;1816;g2c1e6637634_2_5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7" name="Google Shape;1817;g2c1e6637634_2_5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dirty="0"/>
          </a:p>
        </p:txBody>
      </p:sp>
    </p:spTree>
    <p:extLst>
      <p:ext uri="{BB962C8B-B14F-4D97-AF65-F5344CB8AC3E}">
        <p14:creationId xmlns:p14="http://schemas.microsoft.com/office/powerpoint/2010/main" val="26258915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5"/>
        <p:cNvGrpSpPr/>
        <p:nvPr/>
      </p:nvGrpSpPr>
      <p:grpSpPr>
        <a:xfrm>
          <a:off x="0" y="0"/>
          <a:ext cx="0" cy="0"/>
          <a:chOff x="0" y="0"/>
          <a:chExt cx="0" cy="0"/>
        </a:xfrm>
      </p:grpSpPr>
      <p:sp>
        <p:nvSpPr>
          <p:cNvPr id="1816" name="Google Shape;1816;g2c1e6637634_2_5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7" name="Google Shape;1817;g2c1e6637634_2_5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89806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57604F-8FC2-4427-83D4-5F1194BDB860}" type="slidenum">
              <a:rPr lang="en-US" smtClean="0"/>
              <a:t>10</a:t>
            </a:fld>
            <a:endParaRPr lang="en-US"/>
          </a:p>
        </p:txBody>
      </p:sp>
    </p:spTree>
    <p:extLst>
      <p:ext uri="{BB962C8B-B14F-4D97-AF65-F5344CB8AC3E}">
        <p14:creationId xmlns:p14="http://schemas.microsoft.com/office/powerpoint/2010/main" val="35334415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1" i="0" dirty="0">
                <a:solidFill>
                  <a:srgbClr val="0D0D0D"/>
                </a:solidFill>
                <a:effectLst/>
                <a:highlight>
                  <a:srgbClr val="FFFFFF"/>
                </a:highlight>
                <a:latin typeface="Söhne"/>
              </a:rPr>
              <a:t>Gaining Control</a:t>
            </a:r>
            <a:r>
              <a:rPr lang="en-US" b="0" i="0" dirty="0">
                <a:solidFill>
                  <a:srgbClr val="0D0D0D"/>
                </a:solidFill>
                <a:effectLst/>
                <a:highlight>
                  <a:srgbClr val="FFFFFF"/>
                </a:highlight>
                <a:latin typeface="Söhne"/>
              </a:rPr>
              <a:t>: The premise is that an attacker has successfully taken control of many home routers. This could be through various methods such as exploiting security vulnerabilities or using default passwords.</a:t>
            </a:r>
          </a:p>
          <a:p>
            <a:pPr algn="l">
              <a:buFont typeface="+mj-lt"/>
              <a:buAutoNum type="arabicPeriod"/>
            </a:pPr>
            <a:r>
              <a:rPr lang="en-US" b="1" i="0" dirty="0">
                <a:solidFill>
                  <a:srgbClr val="0D0D0D"/>
                </a:solidFill>
                <a:effectLst/>
                <a:highlight>
                  <a:srgbClr val="FFFFFF"/>
                </a:highlight>
                <a:latin typeface="Söhne"/>
              </a:rPr>
              <a:t>Changing DNS Settings</a:t>
            </a:r>
            <a:r>
              <a:rPr lang="en-US" b="0" i="0" dirty="0">
                <a:solidFill>
                  <a:srgbClr val="0D0D0D"/>
                </a:solidFill>
                <a:effectLst/>
                <a:highlight>
                  <a:srgbClr val="FFFFFF"/>
                </a:highlight>
                <a:latin typeface="Söhne"/>
              </a:rPr>
              <a:t>: The attacker changes the DNS server settings on these routers. Usually, routers are set up to use a specific DNS server, often provided by the ISP.</a:t>
            </a:r>
          </a:p>
          <a:p>
            <a:pPr algn="l">
              <a:buFont typeface="+mj-lt"/>
              <a:buAutoNum type="arabicPeriod"/>
            </a:pPr>
            <a:r>
              <a:rPr lang="en-US" b="1" i="0" dirty="0">
                <a:solidFill>
                  <a:srgbClr val="0D0D0D"/>
                </a:solidFill>
                <a:effectLst/>
                <a:highlight>
                  <a:srgbClr val="FFFFFF"/>
                </a:highlight>
                <a:latin typeface="Söhne"/>
              </a:rPr>
              <a:t>Inserting the Attacker’s DNS Server</a:t>
            </a:r>
            <a:r>
              <a:rPr lang="en-US" b="0" i="0" dirty="0">
                <a:solidFill>
                  <a:srgbClr val="0D0D0D"/>
                </a:solidFill>
                <a:effectLst/>
                <a:highlight>
                  <a:srgbClr val="FFFFFF"/>
                </a:highlight>
                <a:latin typeface="Söhne"/>
              </a:rPr>
              <a:t>: The attacker programs the routers to use their DNS server by replacing the IP address of the legitimate recursive resolver with the IP address of a DNS server controlled by the attacker.</a:t>
            </a:r>
          </a:p>
          <a:p>
            <a:pPr algn="l">
              <a:buFont typeface="+mj-lt"/>
              <a:buAutoNum type="arabicPeriod"/>
            </a:pPr>
            <a:r>
              <a:rPr lang="en-US" b="1" i="0" dirty="0">
                <a:solidFill>
                  <a:srgbClr val="0D0D0D"/>
                </a:solidFill>
                <a:effectLst/>
                <a:highlight>
                  <a:srgbClr val="FFFFFF"/>
                </a:highlight>
                <a:latin typeface="Söhne"/>
              </a:rPr>
              <a:t>Enabling Cache Poisoning Attacks</a:t>
            </a:r>
            <a:r>
              <a:rPr lang="en-US" b="0" i="0" dirty="0">
                <a:solidFill>
                  <a:srgbClr val="0D0D0D"/>
                </a:solidFill>
                <a:effectLst/>
                <a:highlight>
                  <a:srgbClr val="FFFFFF"/>
                </a:highlight>
                <a:latin typeface="Söhne"/>
              </a:rPr>
              <a:t>: With control over DNS queries, the attacker can carry out cache poisoning attacks. This is where the DNS resolver's cache is filled with false information.</a:t>
            </a:r>
          </a:p>
          <a:p>
            <a:pPr algn="l">
              <a:buFont typeface="+mj-lt"/>
              <a:buAutoNum type="arabicPeriod"/>
            </a:pPr>
            <a:r>
              <a:rPr lang="en-US" b="1" i="0" dirty="0">
                <a:solidFill>
                  <a:srgbClr val="0D0D0D"/>
                </a:solidFill>
                <a:effectLst/>
                <a:highlight>
                  <a:srgbClr val="FFFFFF"/>
                </a:highlight>
                <a:latin typeface="Söhne"/>
              </a:rPr>
              <a:t>Redirecting Ad Requests</a:t>
            </a:r>
            <a:r>
              <a:rPr lang="en-US" b="0" i="0" dirty="0">
                <a:solidFill>
                  <a:srgbClr val="0D0D0D"/>
                </a:solidFill>
                <a:effectLst/>
                <a:highlight>
                  <a:srgbClr val="FFFFFF"/>
                </a:highlight>
                <a:latin typeface="Söhne"/>
              </a:rPr>
              <a:t>: The attacker redirects DNS requests for advertising domains to an attacker-controlled domain. So, when a user on the compromised router clicks on what they believe to be a legitimate ad, they are actually interacting with an ad served from the attacker’s domain.</a:t>
            </a:r>
          </a:p>
          <a:p>
            <a:pPr algn="l">
              <a:buFont typeface="+mj-lt"/>
              <a:buAutoNum type="arabicPeriod"/>
            </a:pPr>
            <a:r>
              <a:rPr lang="en-US" b="1" i="0" dirty="0">
                <a:solidFill>
                  <a:srgbClr val="0D0D0D"/>
                </a:solidFill>
                <a:effectLst/>
                <a:highlight>
                  <a:srgbClr val="FFFFFF"/>
                </a:highlight>
                <a:latin typeface="Söhne"/>
              </a:rPr>
              <a:t>Monetizing the Attack</a:t>
            </a:r>
            <a:r>
              <a:rPr lang="en-US" b="0" i="0" dirty="0">
                <a:solidFill>
                  <a:srgbClr val="0D0D0D"/>
                </a:solidFill>
                <a:effectLst/>
                <a:highlight>
                  <a:srgbClr val="FFFFFF"/>
                </a:highlight>
                <a:latin typeface="Söhne"/>
              </a:rPr>
              <a:t>: The attacker can now monetize this control over ad traffic by selling advertising space on the attacker-controlled domain. Advertisers pay the attacker to display their ads, not knowing that the space has been fraudulently obtained.</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This sounds like a story, is it true?</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DNS attacks are no uncommon</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The Sea Turtle campaign, discovered in 2019, involved hijacking DNS systems to redirect web and email traffic of national security organizations in the Middle East and North Africa.</a:t>
            </a:r>
          </a:p>
          <a:p>
            <a:r>
              <a:rPr lang="en-US" b="0" i="0" dirty="0">
                <a:solidFill>
                  <a:srgbClr val="0D0D0D"/>
                </a:solidFill>
                <a:effectLst/>
                <a:highlight>
                  <a:srgbClr val="FFFFFF"/>
                </a:highlight>
                <a:latin typeface="Söhne"/>
              </a:rPr>
              <a:t>https://blog.talosintelligence.com/seaturtle/</a:t>
            </a:r>
          </a:p>
          <a:p>
            <a:endParaRPr lang="en-US" dirty="0"/>
          </a:p>
        </p:txBody>
      </p:sp>
      <p:sp>
        <p:nvSpPr>
          <p:cNvPr id="4" name="Slide Number Placeholder 3"/>
          <p:cNvSpPr>
            <a:spLocks noGrp="1"/>
          </p:cNvSpPr>
          <p:nvPr>
            <p:ph type="sldNum" sz="quarter" idx="5"/>
          </p:nvPr>
        </p:nvSpPr>
        <p:spPr/>
        <p:txBody>
          <a:bodyPr/>
          <a:lstStyle/>
          <a:p>
            <a:fld id="{C657604F-8FC2-4427-83D4-5F1194BDB860}" type="slidenum">
              <a:rPr lang="en-US" smtClean="0"/>
              <a:t>12</a:t>
            </a:fld>
            <a:endParaRPr lang="en-US"/>
          </a:p>
        </p:txBody>
      </p:sp>
    </p:spTree>
    <p:extLst>
      <p:ext uri="{BB962C8B-B14F-4D97-AF65-F5344CB8AC3E}">
        <p14:creationId xmlns:p14="http://schemas.microsoft.com/office/powerpoint/2010/main" val="16975862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2800" b="1" i="0" dirty="0">
                <a:solidFill>
                  <a:srgbClr val="5C5962"/>
                </a:solidFill>
                <a:effectLst/>
                <a:highlight>
                  <a:srgbClr val="FFFFFF"/>
                </a:highlight>
                <a:latin typeface="system-ui"/>
              </a:rPr>
              <a:t>Off-path Adversaries</a:t>
            </a:r>
            <a:r>
              <a:rPr lang="en-US" sz="2800" b="0" i="0" dirty="0">
                <a:solidFill>
                  <a:srgbClr val="5C5962"/>
                </a:solidFill>
                <a:effectLst/>
                <a:highlight>
                  <a:srgbClr val="FFFFFF"/>
                </a:highlight>
                <a:latin typeface="system-ui"/>
              </a:rPr>
              <a:t>: cannot read or modify any packets sent over the connection.</a:t>
            </a:r>
          </a:p>
          <a:p>
            <a:pPr algn="l"/>
            <a:r>
              <a:rPr lang="en-US" sz="2800" b="1" i="0" dirty="0">
                <a:solidFill>
                  <a:srgbClr val="5C5962"/>
                </a:solidFill>
                <a:effectLst/>
                <a:highlight>
                  <a:srgbClr val="FFFFFF"/>
                </a:highlight>
                <a:latin typeface="system-ui"/>
              </a:rPr>
              <a:t>On-path Adversaries</a:t>
            </a:r>
            <a:r>
              <a:rPr lang="en-US" sz="2800" b="0" i="0" dirty="0">
                <a:solidFill>
                  <a:srgbClr val="5C5962"/>
                </a:solidFill>
                <a:effectLst/>
                <a:highlight>
                  <a:srgbClr val="FFFFFF"/>
                </a:highlight>
                <a:latin typeface="system-ui"/>
              </a:rPr>
              <a:t>: can read, but not modify packets.</a:t>
            </a:r>
          </a:p>
          <a:p>
            <a:pPr algn="l"/>
            <a:r>
              <a:rPr lang="en-US" sz="2800" b="1" i="0" dirty="0">
                <a:solidFill>
                  <a:srgbClr val="5C5962"/>
                </a:solidFill>
                <a:effectLst/>
                <a:highlight>
                  <a:srgbClr val="FFFFFF"/>
                </a:highlight>
                <a:latin typeface="system-ui"/>
              </a:rPr>
              <a:t>In-path Adversaries</a:t>
            </a:r>
            <a:r>
              <a:rPr lang="en-US" sz="2800" b="0" i="0" dirty="0">
                <a:solidFill>
                  <a:srgbClr val="5C5962"/>
                </a:solidFill>
                <a:effectLst/>
                <a:highlight>
                  <a:srgbClr val="FFFFFF"/>
                </a:highlight>
                <a:latin typeface="system-ui"/>
              </a:rPr>
              <a:t>: can read, modify, and block packets. Also known as a </a:t>
            </a:r>
            <a:r>
              <a:rPr lang="en-US" sz="2800" b="1" i="0" dirty="0">
                <a:solidFill>
                  <a:srgbClr val="5C5962"/>
                </a:solidFill>
                <a:effectLst/>
                <a:highlight>
                  <a:srgbClr val="FFFFFF"/>
                </a:highlight>
                <a:latin typeface="system-ui"/>
              </a:rPr>
              <a:t>man-in-the-middle</a:t>
            </a:r>
            <a:r>
              <a:rPr lang="en-US" sz="2800" b="0" i="0" dirty="0">
                <a:solidFill>
                  <a:srgbClr val="5C5962"/>
                </a:solidFill>
                <a:effectLst/>
                <a:highlight>
                  <a:srgbClr val="FFFFFF"/>
                </a:highlight>
                <a:latin typeface="system-ui"/>
              </a:rPr>
              <a:t>.</a:t>
            </a:r>
          </a:p>
        </p:txBody>
      </p:sp>
      <p:sp>
        <p:nvSpPr>
          <p:cNvPr id="4" name="Slide Number Placeholder 3"/>
          <p:cNvSpPr>
            <a:spLocks noGrp="1"/>
          </p:cNvSpPr>
          <p:nvPr>
            <p:ph type="sldNum" sz="quarter" idx="5"/>
          </p:nvPr>
        </p:nvSpPr>
        <p:spPr/>
        <p:txBody>
          <a:bodyPr/>
          <a:lstStyle/>
          <a:p>
            <a:fld id="{C657604F-8FC2-4427-83D4-5F1194BDB860}" type="slidenum">
              <a:rPr lang="en-US" smtClean="0"/>
              <a:t>13</a:t>
            </a:fld>
            <a:endParaRPr lang="en-US"/>
          </a:p>
        </p:txBody>
      </p:sp>
    </p:spTree>
    <p:extLst>
      <p:ext uri="{BB962C8B-B14F-4D97-AF65-F5344CB8AC3E}">
        <p14:creationId xmlns:p14="http://schemas.microsoft.com/office/powerpoint/2010/main" val="40869809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https://www.cloudflare.com/learning/dns/dns-cache-poisoning/</a:t>
            </a:r>
          </a:p>
        </p:txBody>
      </p:sp>
      <p:sp>
        <p:nvSpPr>
          <p:cNvPr id="4" name="Slide Number Placeholder 3"/>
          <p:cNvSpPr>
            <a:spLocks noGrp="1"/>
          </p:cNvSpPr>
          <p:nvPr>
            <p:ph type="sldNum" sz="quarter" idx="5"/>
          </p:nvPr>
        </p:nvSpPr>
        <p:spPr/>
        <p:txBody>
          <a:bodyPr/>
          <a:lstStyle/>
          <a:p>
            <a:fld id="{C657604F-8FC2-4427-83D4-5F1194BDB860}" type="slidenum">
              <a:rPr lang="en-US" smtClean="0"/>
              <a:t>14</a:t>
            </a:fld>
            <a:endParaRPr lang="en-US"/>
          </a:p>
        </p:txBody>
      </p:sp>
    </p:spTree>
    <p:extLst>
      <p:ext uri="{BB962C8B-B14F-4D97-AF65-F5344CB8AC3E}">
        <p14:creationId xmlns:p14="http://schemas.microsoft.com/office/powerpoint/2010/main" val="33086804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it’s time to see how people can do cache poisoning attack (CPA) and how we defend against them</a:t>
            </a:r>
          </a:p>
          <a:p>
            <a:endParaRPr lang="en-US" dirty="0"/>
          </a:p>
          <a:p>
            <a:r>
              <a:rPr lang="en-US" dirty="0"/>
              <a:t>So, who can poison cache? First, the person can launch CPA is the name server itself! What If the name server is evil and it was sitting there, answer questions</a:t>
            </a:r>
          </a:p>
          <a:p>
            <a:endParaRPr lang="en-US" dirty="0"/>
          </a:p>
          <a:p>
            <a:r>
              <a:rPr lang="en-US" dirty="0"/>
              <a:t>They could give me the right answer, they could also give me the wrong answer, but </a:t>
            </a:r>
            <a:r>
              <a:rPr lang="en-US" b="1" dirty="0"/>
              <a:t>one other thing </a:t>
            </a:r>
            <a:r>
              <a:rPr lang="en-US" dirty="0"/>
              <a:t>they can do is they can also attach other records inside the additional records section</a:t>
            </a:r>
          </a:p>
        </p:txBody>
      </p:sp>
      <p:sp>
        <p:nvSpPr>
          <p:cNvPr id="4" name="Slide Number Placeholder 3"/>
          <p:cNvSpPr>
            <a:spLocks noGrp="1"/>
          </p:cNvSpPr>
          <p:nvPr>
            <p:ph type="sldNum" sz="quarter" idx="5"/>
          </p:nvPr>
        </p:nvSpPr>
        <p:spPr/>
        <p:txBody>
          <a:bodyPr/>
          <a:lstStyle/>
          <a:p>
            <a:fld id="{C657604F-8FC2-4427-83D4-5F1194BDB860}" type="slidenum">
              <a:rPr lang="en-US" smtClean="0"/>
              <a:t>15</a:t>
            </a:fld>
            <a:endParaRPr lang="en-US"/>
          </a:p>
        </p:txBody>
      </p:sp>
    </p:spTree>
    <p:extLst>
      <p:ext uri="{BB962C8B-B14F-4D97-AF65-F5344CB8AC3E}">
        <p14:creationId xmlns:p14="http://schemas.microsoft.com/office/powerpoint/2010/main" val="34125863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Each server has its areas of expertise, and we only accept answers within that area.</a:t>
            </a:r>
          </a:p>
          <a:p>
            <a:endParaRPr lang="en-US" dirty="0"/>
          </a:p>
          <a:p>
            <a:r>
              <a:rPr lang="en-US" dirty="0"/>
              <a:t>If you have a name server who is an expert at answering msoe.edu questions, you should only accept records that are relevant to msoe.edu. </a:t>
            </a:r>
          </a:p>
          <a:p>
            <a:endParaRPr lang="en-US" dirty="0"/>
          </a:p>
        </p:txBody>
      </p:sp>
      <p:sp>
        <p:nvSpPr>
          <p:cNvPr id="4" name="Slide Number Placeholder 3"/>
          <p:cNvSpPr>
            <a:spLocks noGrp="1"/>
          </p:cNvSpPr>
          <p:nvPr>
            <p:ph type="sldNum" sz="quarter" idx="5"/>
          </p:nvPr>
        </p:nvSpPr>
        <p:spPr/>
        <p:txBody>
          <a:bodyPr/>
          <a:lstStyle/>
          <a:p>
            <a:fld id="{C657604F-8FC2-4427-83D4-5F1194BDB860}" type="slidenum">
              <a:rPr lang="en-US" smtClean="0"/>
              <a:t>16</a:t>
            </a:fld>
            <a:endParaRPr lang="en-US"/>
          </a:p>
        </p:txBody>
      </p:sp>
    </p:spTree>
    <p:extLst>
      <p:ext uri="{BB962C8B-B14F-4D97-AF65-F5344CB8AC3E}">
        <p14:creationId xmlns:p14="http://schemas.microsoft.com/office/powerpoint/2010/main" val="13559382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DNS query and response are sent through network, so any of attacker could potentially try to tamper with the packet as it’s being sent over the network and force the client to get the wrong answer and cache 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dirty="0">
              <a:solidFill>
                <a:srgbClr val="5C5962"/>
              </a:solidFill>
              <a:effectLst/>
              <a:highlight>
                <a:srgbClr val="FFFFFF"/>
              </a:highlight>
              <a:latin typeface="system-u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5C5962"/>
                </a:solidFill>
                <a:effectLst/>
                <a:highlight>
                  <a:srgbClr val="FFFFFF"/>
                </a:highlight>
                <a:latin typeface="system-ui"/>
              </a:rPr>
              <a:t>In-path Adversaries</a:t>
            </a:r>
            <a:r>
              <a:rPr lang="en-US" sz="1200" b="0" i="0" dirty="0">
                <a:solidFill>
                  <a:srgbClr val="5C5962"/>
                </a:solidFill>
                <a:effectLst/>
                <a:highlight>
                  <a:srgbClr val="FFFFFF"/>
                </a:highlight>
                <a:latin typeface="system-ui"/>
              </a:rPr>
              <a:t>: can read, modify, and block packets. Also known as a </a:t>
            </a:r>
            <a:r>
              <a:rPr lang="en-US" sz="1200" b="1" i="0" dirty="0">
                <a:solidFill>
                  <a:srgbClr val="5C5962"/>
                </a:solidFill>
                <a:effectLst/>
                <a:highlight>
                  <a:srgbClr val="FFFFFF"/>
                </a:highlight>
                <a:latin typeface="system-ui"/>
              </a:rPr>
              <a:t>man-in-the-middle</a:t>
            </a:r>
            <a:r>
              <a:rPr lang="en-US" sz="1200" b="0" i="0" dirty="0">
                <a:solidFill>
                  <a:srgbClr val="5C5962"/>
                </a:solidFill>
                <a:effectLst/>
                <a:highlight>
                  <a:srgbClr val="FFFFFF"/>
                </a:highlight>
                <a:latin typeface="system-ui"/>
              </a:rPr>
              <a:t>.</a:t>
            </a:r>
          </a:p>
          <a:p>
            <a:endParaRPr lang="en-US" dirty="0"/>
          </a:p>
          <a:p>
            <a:r>
              <a:rPr lang="en-US" dirty="0"/>
              <a:t>Against the MITM, you are kind of cooked, there is nothing you can do</a:t>
            </a:r>
          </a:p>
        </p:txBody>
      </p:sp>
      <p:sp>
        <p:nvSpPr>
          <p:cNvPr id="4" name="Slide Number Placeholder 3"/>
          <p:cNvSpPr>
            <a:spLocks noGrp="1"/>
          </p:cNvSpPr>
          <p:nvPr>
            <p:ph type="sldNum" sz="quarter" idx="5"/>
          </p:nvPr>
        </p:nvSpPr>
        <p:spPr/>
        <p:txBody>
          <a:bodyPr/>
          <a:lstStyle/>
          <a:p>
            <a:fld id="{C657604F-8FC2-4427-83D4-5F1194BDB860}" type="slidenum">
              <a:rPr lang="en-US" smtClean="0"/>
              <a:t>17</a:t>
            </a:fld>
            <a:endParaRPr lang="en-US"/>
          </a:p>
        </p:txBody>
      </p:sp>
    </p:spTree>
    <p:extLst>
      <p:ext uri="{BB962C8B-B14F-4D97-AF65-F5344CB8AC3E}">
        <p14:creationId xmlns:p14="http://schemas.microsoft.com/office/powerpoint/2010/main" val="37885075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200" b="1" i="0" dirty="0">
                <a:solidFill>
                  <a:srgbClr val="5C5962"/>
                </a:solidFill>
                <a:effectLst/>
                <a:highlight>
                  <a:srgbClr val="FFFFFF"/>
                </a:highlight>
                <a:latin typeface="system-ui"/>
              </a:rPr>
              <a:t>On-path Adversaries</a:t>
            </a:r>
            <a:r>
              <a:rPr lang="en-US" sz="1200" b="0" i="0" dirty="0">
                <a:solidFill>
                  <a:srgbClr val="5C5962"/>
                </a:solidFill>
                <a:effectLst/>
                <a:highlight>
                  <a:srgbClr val="FFFFFF"/>
                </a:highlight>
                <a:latin typeface="system-ui"/>
              </a:rPr>
              <a:t>: can read but not modify packets.</a:t>
            </a:r>
          </a:p>
          <a:p>
            <a:endParaRPr lang="en-US" dirty="0"/>
          </a:p>
          <a:p>
            <a:r>
              <a:rPr lang="en-US" dirty="0"/>
              <a:t>Query ID: </a:t>
            </a:r>
          </a:p>
          <a:p>
            <a:r>
              <a:rPr lang="en-US" dirty="0"/>
              <a:t>This is a unique identifier created in the query packet. </a:t>
            </a:r>
          </a:p>
          <a:p>
            <a:r>
              <a:rPr lang="en-US" dirty="0"/>
              <a:t>It allows the server making the request to associate the answer with the question. </a:t>
            </a:r>
          </a:p>
          <a:p>
            <a:r>
              <a:rPr lang="en-US" dirty="0"/>
              <a:t>This is also sometimes called the Transaction ID (TXID).</a:t>
            </a:r>
          </a:p>
          <a:p>
            <a:endParaRPr lang="en-US" dirty="0"/>
          </a:p>
          <a:p>
            <a:endParaRPr lang="en-US" dirty="0"/>
          </a:p>
          <a:p>
            <a:r>
              <a:rPr lang="en-US" altLang="zh-CN" dirty="0"/>
              <a:t>The attacker </a:t>
            </a:r>
            <a:r>
              <a:rPr lang="en-US" dirty="0"/>
              <a:t>could spoof an answer saying from name server to resolver and feed it a fake answer. </a:t>
            </a:r>
          </a:p>
          <a:p>
            <a:r>
              <a:rPr lang="en-US" dirty="0"/>
              <a:t>If the malicious answer arrives first, the RR will accept that one. </a:t>
            </a:r>
          </a:p>
        </p:txBody>
      </p:sp>
      <p:sp>
        <p:nvSpPr>
          <p:cNvPr id="4" name="Slide Number Placeholder 3"/>
          <p:cNvSpPr>
            <a:spLocks noGrp="1"/>
          </p:cNvSpPr>
          <p:nvPr>
            <p:ph type="sldNum" sz="quarter" idx="5"/>
          </p:nvPr>
        </p:nvSpPr>
        <p:spPr/>
        <p:txBody>
          <a:bodyPr/>
          <a:lstStyle/>
          <a:p>
            <a:fld id="{C657604F-8FC2-4427-83D4-5F1194BDB860}" type="slidenum">
              <a:rPr lang="en-US" smtClean="0"/>
              <a:t>18</a:t>
            </a:fld>
            <a:endParaRPr lang="en-US"/>
          </a:p>
        </p:txBody>
      </p:sp>
    </p:spTree>
    <p:extLst>
      <p:ext uri="{BB962C8B-B14F-4D97-AF65-F5344CB8AC3E}">
        <p14:creationId xmlns:p14="http://schemas.microsoft.com/office/powerpoint/2010/main" val="23047806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5C5962"/>
                </a:solidFill>
                <a:effectLst/>
                <a:highlight>
                  <a:srgbClr val="FFFFFF"/>
                </a:highlight>
                <a:latin typeface="system-ui"/>
              </a:rPr>
              <a:t>Off-path Adversaries</a:t>
            </a:r>
            <a:r>
              <a:rPr lang="en-US" sz="1200" b="0" i="0" dirty="0">
                <a:solidFill>
                  <a:srgbClr val="5C5962"/>
                </a:solidFill>
                <a:effectLst/>
                <a:highlight>
                  <a:srgbClr val="FFFFFF"/>
                </a:highlight>
                <a:latin typeface="system-ui"/>
              </a:rPr>
              <a:t>: cannot read or modify any packets sent over the connection.</a:t>
            </a:r>
          </a:p>
          <a:p>
            <a:endParaRPr lang="en-US" dirty="0"/>
          </a:p>
        </p:txBody>
      </p:sp>
      <p:sp>
        <p:nvSpPr>
          <p:cNvPr id="4" name="Slide Number Placeholder 3"/>
          <p:cNvSpPr>
            <a:spLocks noGrp="1"/>
          </p:cNvSpPr>
          <p:nvPr>
            <p:ph type="sldNum" sz="quarter" idx="5"/>
          </p:nvPr>
        </p:nvSpPr>
        <p:spPr/>
        <p:txBody>
          <a:bodyPr/>
          <a:lstStyle/>
          <a:p>
            <a:fld id="{C657604F-8FC2-4427-83D4-5F1194BDB860}" type="slidenum">
              <a:rPr lang="en-US" smtClean="0"/>
              <a:t>19</a:t>
            </a:fld>
            <a:endParaRPr lang="en-US"/>
          </a:p>
        </p:txBody>
      </p:sp>
    </p:spTree>
    <p:extLst>
      <p:ext uri="{BB962C8B-B14F-4D97-AF65-F5344CB8AC3E}">
        <p14:creationId xmlns:p14="http://schemas.microsoft.com/office/powerpoint/2010/main" val="39091950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57604F-8FC2-4427-83D4-5F1194BDB860}" type="slidenum">
              <a:rPr lang="en-US" smtClean="0"/>
              <a:t>20</a:t>
            </a:fld>
            <a:endParaRPr lang="en-US"/>
          </a:p>
        </p:txBody>
      </p:sp>
    </p:spTree>
    <p:extLst>
      <p:ext uri="{BB962C8B-B14F-4D97-AF65-F5344CB8AC3E}">
        <p14:creationId xmlns:p14="http://schemas.microsoft.com/office/powerpoint/2010/main" val="14098157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OK we could stop here a little bit and think about the question: for an off-path attack, how dangerous is it if he can spoof DNS packets with a probability  1/65K?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Well, for a long time, the security researcher thought this is not too bad: Cache the answer for 24 hours, or at most for a week. Because the answer is cached, they’re not going to ask the same question for a long time. During that time, the offline attack just has to sit there, think about their choices and cannot do any more attacking.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That’s what security engineers thought and every people in the world thought. But there was a guy who didn’t think so. He found there is a sneaky way to change the threat model so that instead of waiting a week and sitting, the attacker can try to launch again immediately and can cause a much more pervasive and severe vulnerability. </a:t>
            </a:r>
          </a:p>
        </p:txBody>
      </p:sp>
      <p:sp>
        <p:nvSpPr>
          <p:cNvPr id="4" name="Slide Number Placeholder 3"/>
          <p:cNvSpPr>
            <a:spLocks noGrp="1"/>
          </p:cNvSpPr>
          <p:nvPr>
            <p:ph type="sldNum" sz="quarter" idx="5"/>
          </p:nvPr>
        </p:nvSpPr>
        <p:spPr/>
        <p:txBody>
          <a:bodyPr/>
          <a:lstStyle/>
          <a:p>
            <a:fld id="{C657604F-8FC2-4427-83D4-5F1194BDB860}" type="slidenum">
              <a:rPr lang="en-US" smtClean="0"/>
              <a:t>22</a:t>
            </a:fld>
            <a:endParaRPr lang="en-US"/>
          </a:p>
        </p:txBody>
      </p:sp>
    </p:spTree>
    <p:extLst>
      <p:ext uri="{BB962C8B-B14F-4D97-AF65-F5344CB8AC3E}">
        <p14:creationId xmlns:p14="http://schemas.microsoft.com/office/powerpoint/2010/main" val="25636422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C657604F-8FC2-4427-83D4-5F1194BDB860}" type="slidenum">
              <a:rPr lang="en-US" smtClean="0"/>
              <a:t>23</a:t>
            </a:fld>
            <a:endParaRPr lang="en-US"/>
          </a:p>
        </p:txBody>
      </p:sp>
    </p:spTree>
    <p:extLst>
      <p:ext uri="{BB962C8B-B14F-4D97-AF65-F5344CB8AC3E}">
        <p14:creationId xmlns:p14="http://schemas.microsoft.com/office/powerpoint/2010/main" val="13890225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C657604F-8FC2-4427-83D4-5F1194BDB860}" type="slidenum">
              <a:rPr lang="en-US" smtClean="0"/>
              <a:t>24</a:t>
            </a:fld>
            <a:endParaRPr lang="en-US"/>
          </a:p>
        </p:txBody>
      </p:sp>
    </p:spTree>
    <p:extLst>
      <p:ext uri="{BB962C8B-B14F-4D97-AF65-F5344CB8AC3E}">
        <p14:creationId xmlns:p14="http://schemas.microsoft.com/office/powerpoint/2010/main" val="4976804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C657604F-8FC2-4427-83D4-5F1194BDB860}" type="slidenum">
              <a:rPr lang="en-US" smtClean="0"/>
              <a:t>25</a:t>
            </a:fld>
            <a:endParaRPr lang="en-US"/>
          </a:p>
        </p:txBody>
      </p:sp>
    </p:spTree>
    <p:extLst>
      <p:ext uri="{BB962C8B-B14F-4D97-AF65-F5344CB8AC3E}">
        <p14:creationId xmlns:p14="http://schemas.microsoft.com/office/powerpoint/2010/main" val="31090965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C657604F-8FC2-4427-83D4-5F1194BDB860}" type="slidenum">
              <a:rPr lang="en-US" smtClean="0"/>
              <a:t>26</a:t>
            </a:fld>
            <a:endParaRPr lang="en-US"/>
          </a:p>
        </p:txBody>
      </p:sp>
    </p:spTree>
    <p:extLst>
      <p:ext uri="{BB962C8B-B14F-4D97-AF65-F5344CB8AC3E}">
        <p14:creationId xmlns:p14="http://schemas.microsoft.com/office/powerpoint/2010/main" val="1355367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C657604F-8FC2-4427-83D4-5F1194BDB860}" type="slidenum">
              <a:rPr lang="en-US" smtClean="0"/>
              <a:t>27</a:t>
            </a:fld>
            <a:endParaRPr lang="en-US"/>
          </a:p>
        </p:txBody>
      </p:sp>
    </p:spTree>
    <p:extLst>
      <p:ext uri="{BB962C8B-B14F-4D97-AF65-F5344CB8AC3E}">
        <p14:creationId xmlns:p14="http://schemas.microsoft.com/office/powerpoint/2010/main" val="41821049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C657604F-8FC2-4427-83D4-5F1194BDB860}" type="slidenum">
              <a:rPr lang="en-US" smtClean="0"/>
              <a:t>28</a:t>
            </a:fld>
            <a:endParaRPr lang="en-US"/>
          </a:p>
        </p:txBody>
      </p:sp>
    </p:spTree>
    <p:extLst>
      <p:ext uri="{BB962C8B-B14F-4D97-AF65-F5344CB8AC3E}">
        <p14:creationId xmlns:p14="http://schemas.microsoft.com/office/powerpoint/2010/main" val="28362836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C657604F-8FC2-4427-83D4-5F1194BDB860}" type="slidenum">
              <a:rPr lang="en-US" smtClean="0"/>
              <a:t>29</a:t>
            </a:fld>
            <a:endParaRPr lang="en-US"/>
          </a:p>
        </p:txBody>
      </p:sp>
    </p:spTree>
    <p:extLst>
      <p:ext uri="{BB962C8B-B14F-4D97-AF65-F5344CB8AC3E}">
        <p14:creationId xmlns:p14="http://schemas.microsoft.com/office/powerpoint/2010/main" val="5561131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C657604F-8FC2-4427-83D4-5F1194BDB860}" type="slidenum">
              <a:rPr lang="en-US" smtClean="0"/>
              <a:t>30</a:t>
            </a:fld>
            <a:endParaRPr lang="en-US"/>
          </a:p>
        </p:txBody>
      </p:sp>
    </p:spTree>
    <p:extLst>
      <p:ext uri="{BB962C8B-B14F-4D97-AF65-F5344CB8AC3E}">
        <p14:creationId xmlns:p14="http://schemas.microsoft.com/office/powerpoint/2010/main" val="3621292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C657604F-8FC2-4427-83D4-5F1194BDB860}" type="slidenum">
              <a:rPr lang="en-US" smtClean="0"/>
              <a:t>31</a:t>
            </a:fld>
            <a:endParaRPr lang="en-US"/>
          </a:p>
        </p:txBody>
      </p:sp>
    </p:spTree>
    <p:extLst>
      <p:ext uri="{BB962C8B-B14F-4D97-AF65-F5344CB8AC3E}">
        <p14:creationId xmlns:p14="http://schemas.microsoft.com/office/powerpoint/2010/main" val="36338509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FAB18-F09B-F667-B343-0EF8FD5E1E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E8CEB5-3353-45CB-968C-02A150E126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8DFC64-6BA6-74CC-73F0-F0D1D4190E6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813668ED-2087-B2BF-E9C1-82E32250625D}"/>
              </a:ext>
            </a:extLst>
          </p:cNvPr>
          <p:cNvSpPr>
            <a:spLocks noGrp="1"/>
          </p:cNvSpPr>
          <p:nvPr>
            <p:ph type="sldNum" sz="quarter" idx="5"/>
          </p:nvPr>
        </p:nvSpPr>
        <p:spPr/>
        <p:txBody>
          <a:bodyPr/>
          <a:lstStyle/>
          <a:p>
            <a:fld id="{C657604F-8FC2-4427-83D4-5F1194BDB860}" type="slidenum">
              <a:rPr lang="en-US" smtClean="0"/>
              <a:t>32</a:t>
            </a:fld>
            <a:endParaRPr lang="en-US"/>
          </a:p>
        </p:txBody>
      </p:sp>
    </p:spTree>
    <p:extLst>
      <p:ext uri="{BB962C8B-B14F-4D97-AF65-F5344CB8AC3E}">
        <p14:creationId xmlns:p14="http://schemas.microsoft.com/office/powerpoint/2010/main" val="15367232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43485-7E8E-D093-1D80-E3034FC14A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F11DDF-DDE4-3DD0-8D24-AFB36A5E41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892BF8-BA24-46A3-C275-BF8B502F433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C14545E-CD20-77F9-F170-0C380CB1033A}"/>
              </a:ext>
            </a:extLst>
          </p:cNvPr>
          <p:cNvSpPr>
            <a:spLocks noGrp="1"/>
          </p:cNvSpPr>
          <p:nvPr>
            <p:ph type="sldNum" sz="quarter" idx="5"/>
          </p:nvPr>
        </p:nvSpPr>
        <p:spPr/>
        <p:txBody>
          <a:bodyPr/>
          <a:lstStyle/>
          <a:p>
            <a:fld id="{C657604F-8FC2-4427-83D4-5F1194BDB860}" type="slidenum">
              <a:rPr lang="en-US" smtClean="0"/>
              <a:t>33</a:t>
            </a:fld>
            <a:endParaRPr lang="en-US"/>
          </a:p>
        </p:txBody>
      </p:sp>
    </p:spTree>
    <p:extLst>
      <p:ext uri="{BB962C8B-B14F-4D97-AF65-F5344CB8AC3E}">
        <p14:creationId xmlns:p14="http://schemas.microsoft.com/office/powerpoint/2010/main" val="2604546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7B7DD-CCB3-83EF-F51F-99559A2248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8A9119-42C6-8437-A636-962F404504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1C6957-5BDF-5701-13E8-47B90EF67DD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7447F22-F8B5-743E-9964-23B954DDC635}"/>
              </a:ext>
            </a:extLst>
          </p:cNvPr>
          <p:cNvSpPr>
            <a:spLocks noGrp="1"/>
          </p:cNvSpPr>
          <p:nvPr>
            <p:ph type="sldNum" sz="quarter" idx="5"/>
          </p:nvPr>
        </p:nvSpPr>
        <p:spPr/>
        <p:txBody>
          <a:bodyPr/>
          <a:lstStyle/>
          <a:p>
            <a:fld id="{C657604F-8FC2-4427-83D4-5F1194BDB860}" type="slidenum">
              <a:rPr lang="en-US" smtClean="0"/>
              <a:t>34</a:t>
            </a:fld>
            <a:endParaRPr lang="en-US"/>
          </a:p>
        </p:txBody>
      </p:sp>
    </p:spTree>
    <p:extLst>
      <p:ext uri="{BB962C8B-B14F-4D97-AF65-F5344CB8AC3E}">
        <p14:creationId xmlns:p14="http://schemas.microsoft.com/office/powerpoint/2010/main" val="27914181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01064-16B5-7322-9405-5DFE8D8F82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4E1B30-7D5B-E0E5-2A5C-154AA00AC6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10BE4A-B3B9-39C3-8AD2-3EC11564BBB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956B2E3E-14A8-6FD5-6755-E011E91A5712}"/>
              </a:ext>
            </a:extLst>
          </p:cNvPr>
          <p:cNvSpPr>
            <a:spLocks noGrp="1"/>
          </p:cNvSpPr>
          <p:nvPr>
            <p:ph type="sldNum" sz="quarter" idx="5"/>
          </p:nvPr>
        </p:nvSpPr>
        <p:spPr/>
        <p:txBody>
          <a:bodyPr/>
          <a:lstStyle/>
          <a:p>
            <a:fld id="{C657604F-8FC2-4427-83D4-5F1194BDB860}" type="slidenum">
              <a:rPr lang="en-US" smtClean="0"/>
              <a:t>35</a:t>
            </a:fld>
            <a:endParaRPr lang="en-US"/>
          </a:p>
        </p:txBody>
      </p:sp>
    </p:spTree>
    <p:extLst>
      <p:ext uri="{BB962C8B-B14F-4D97-AF65-F5344CB8AC3E}">
        <p14:creationId xmlns:p14="http://schemas.microsoft.com/office/powerpoint/2010/main" val="39476438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57604F-8FC2-4427-83D4-5F1194BDB860}" type="slidenum">
              <a:rPr lang="en-US" smtClean="0"/>
              <a:t>36</a:t>
            </a:fld>
            <a:endParaRPr lang="en-US"/>
          </a:p>
        </p:txBody>
      </p:sp>
    </p:spTree>
    <p:extLst>
      <p:ext uri="{BB962C8B-B14F-4D97-AF65-F5344CB8AC3E}">
        <p14:creationId xmlns:p14="http://schemas.microsoft.com/office/powerpoint/2010/main" val="23556810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57604F-8FC2-4427-83D4-5F1194BDB860}" type="slidenum">
              <a:rPr lang="en-US" smtClean="0"/>
              <a:t>40</a:t>
            </a:fld>
            <a:endParaRPr lang="en-US"/>
          </a:p>
        </p:txBody>
      </p:sp>
    </p:spTree>
    <p:extLst>
      <p:ext uri="{BB962C8B-B14F-4D97-AF65-F5344CB8AC3E}">
        <p14:creationId xmlns:p14="http://schemas.microsoft.com/office/powerpoint/2010/main" val="7164533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Refuse to cache the additional section, and just make the request again later</a:t>
            </a:r>
          </a:p>
        </p:txBody>
      </p:sp>
      <p:sp>
        <p:nvSpPr>
          <p:cNvPr id="4" name="Slide Number Placeholder 3"/>
          <p:cNvSpPr>
            <a:spLocks noGrp="1"/>
          </p:cNvSpPr>
          <p:nvPr>
            <p:ph type="sldNum" sz="quarter" idx="5"/>
          </p:nvPr>
        </p:nvSpPr>
        <p:spPr/>
        <p:txBody>
          <a:bodyPr/>
          <a:lstStyle/>
          <a:p>
            <a:fld id="{C657604F-8FC2-4427-83D4-5F1194BDB860}" type="slidenum">
              <a:rPr lang="en-US" smtClean="0"/>
              <a:t>41</a:t>
            </a:fld>
            <a:endParaRPr lang="en-US"/>
          </a:p>
        </p:txBody>
      </p:sp>
    </p:spTree>
    <p:extLst>
      <p:ext uri="{BB962C8B-B14F-4D97-AF65-F5344CB8AC3E}">
        <p14:creationId xmlns:p14="http://schemas.microsoft.com/office/powerpoint/2010/main" val="171341698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Summary and post-class review</a:t>
            </a:r>
          </a:p>
          <a:p>
            <a:endParaRPr lang="en-US" dirty="0"/>
          </a:p>
        </p:txBody>
      </p:sp>
      <p:sp>
        <p:nvSpPr>
          <p:cNvPr id="4" name="Slide Number Placeholder 3"/>
          <p:cNvSpPr>
            <a:spLocks noGrp="1"/>
          </p:cNvSpPr>
          <p:nvPr>
            <p:ph type="sldNum" sz="quarter" idx="5"/>
          </p:nvPr>
        </p:nvSpPr>
        <p:spPr/>
        <p:txBody>
          <a:bodyPr/>
          <a:lstStyle/>
          <a:p>
            <a:fld id="{C657604F-8FC2-4427-83D4-5F1194BDB860}" type="slidenum">
              <a:rPr lang="en-US" smtClean="0"/>
              <a:t>42</a:t>
            </a:fld>
            <a:endParaRPr lang="en-US"/>
          </a:p>
        </p:txBody>
      </p:sp>
    </p:spTree>
    <p:extLst>
      <p:ext uri="{BB962C8B-B14F-4D97-AF65-F5344CB8AC3E}">
        <p14:creationId xmlns:p14="http://schemas.microsoft.com/office/powerpoint/2010/main" val="32973768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Summary and post-class review</a:t>
            </a:r>
          </a:p>
          <a:p>
            <a:endParaRPr lang="en-US" dirty="0"/>
          </a:p>
        </p:txBody>
      </p:sp>
      <p:sp>
        <p:nvSpPr>
          <p:cNvPr id="4" name="Slide Number Placeholder 3"/>
          <p:cNvSpPr>
            <a:spLocks noGrp="1"/>
          </p:cNvSpPr>
          <p:nvPr>
            <p:ph type="sldNum" sz="quarter" idx="5"/>
          </p:nvPr>
        </p:nvSpPr>
        <p:spPr/>
        <p:txBody>
          <a:bodyPr/>
          <a:lstStyle/>
          <a:p>
            <a:fld id="{C657604F-8FC2-4427-83D4-5F1194BDB860}" type="slidenum">
              <a:rPr lang="en-US" smtClean="0"/>
              <a:t>43</a:t>
            </a:fld>
            <a:endParaRPr lang="en-US"/>
          </a:p>
        </p:txBody>
      </p:sp>
    </p:spTree>
    <p:extLst>
      <p:ext uri="{BB962C8B-B14F-4D97-AF65-F5344CB8AC3E}">
        <p14:creationId xmlns:p14="http://schemas.microsoft.com/office/powerpoint/2010/main" val="31306092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and post-class review</a:t>
            </a:r>
          </a:p>
        </p:txBody>
      </p:sp>
      <p:sp>
        <p:nvSpPr>
          <p:cNvPr id="4" name="Slide Number Placeholder 3"/>
          <p:cNvSpPr>
            <a:spLocks noGrp="1"/>
          </p:cNvSpPr>
          <p:nvPr>
            <p:ph type="sldNum" sz="quarter" idx="5"/>
          </p:nvPr>
        </p:nvSpPr>
        <p:spPr/>
        <p:txBody>
          <a:bodyPr/>
          <a:lstStyle/>
          <a:p>
            <a:fld id="{C657604F-8FC2-4427-83D4-5F1194BDB860}" type="slidenum">
              <a:rPr lang="en-US" smtClean="0"/>
              <a:t>44</a:t>
            </a:fld>
            <a:endParaRPr lang="en-US"/>
          </a:p>
        </p:txBody>
      </p:sp>
    </p:spTree>
    <p:extLst>
      <p:ext uri="{BB962C8B-B14F-4D97-AF65-F5344CB8AC3E}">
        <p14:creationId xmlns:p14="http://schemas.microsoft.com/office/powerpoint/2010/main" val="42916293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1F696-A9CC-2F63-02B2-BC26FA7B15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E54313A-6EEC-07BF-A185-50EC1398C7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0AFE867-EA15-F349-591F-759ECA341EF2}"/>
              </a:ext>
            </a:extLst>
          </p:cNvPr>
          <p:cNvSpPr>
            <a:spLocks noGrp="1"/>
          </p:cNvSpPr>
          <p:nvPr>
            <p:ph type="dt" sz="half" idx="10"/>
          </p:nvPr>
        </p:nvSpPr>
        <p:spPr/>
        <p:txBody>
          <a:bodyPr/>
          <a:lstStyle/>
          <a:p>
            <a:fld id="{DA10FC21-6417-4802-8517-CFB8A0482DF6}" type="datetimeFigureOut">
              <a:rPr lang="en-US" smtClean="0"/>
              <a:t>10/26/2025</a:t>
            </a:fld>
            <a:endParaRPr lang="en-US"/>
          </a:p>
        </p:txBody>
      </p:sp>
      <p:sp>
        <p:nvSpPr>
          <p:cNvPr id="5" name="Footer Placeholder 4">
            <a:extLst>
              <a:ext uri="{FF2B5EF4-FFF2-40B4-BE49-F238E27FC236}">
                <a16:creationId xmlns:a16="http://schemas.microsoft.com/office/drawing/2014/main" id="{289B5030-C9AA-D00D-65C4-884789DD50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682992-9780-E8C4-5156-8601E42B49F4}"/>
              </a:ext>
            </a:extLst>
          </p:cNvPr>
          <p:cNvSpPr>
            <a:spLocks noGrp="1"/>
          </p:cNvSpPr>
          <p:nvPr>
            <p:ph type="sldNum" sz="quarter" idx="12"/>
          </p:nvPr>
        </p:nvSpPr>
        <p:spPr/>
        <p:txBody>
          <a:bodyPr/>
          <a:lstStyle/>
          <a:p>
            <a:fld id="{E1CF124E-661C-4D93-9B95-9A1F943BA675}" type="slidenum">
              <a:rPr lang="en-US" smtClean="0"/>
              <a:t>‹#›</a:t>
            </a:fld>
            <a:endParaRPr lang="en-US"/>
          </a:p>
        </p:txBody>
      </p:sp>
    </p:spTree>
    <p:extLst>
      <p:ext uri="{BB962C8B-B14F-4D97-AF65-F5344CB8AC3E}">
        <p14:creationId xmlns:p14="http://schemas.microsoft.com/office/powerpoint/2010/main" val="11324640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0B939-518F-62E5-6EF3-F7A7ECC449D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E79BEF-E6B5-E763-72B6-9700CF22F0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504CF2-70FF-D2C1-587B-8F63F628A958}"/>
              </a:ext>
            </a:extLst>
          </p:cNvPr>
          <p:cNvSpPr>
            <a:spLocks noGrp="1"/>
          </p:cNvSpPr>
          <p:nvPr>
            <p:ph type="dt" sz="half" idx="10"/>
          </p:nvPr>
        </p:nvSpPr>
        <p:spPr/>
        <p:txBody>
          <a:bodyPr/>
          <a:lstStyle/>
          <a:p>
            <a:fld id="{DA10FC21-6417-4802-8517-CFB8A0482DF6}" type="datetimeFigureOut">
              <a:rPr lang="en-US" smtClean="0"/>
              <a:t>10/26/2025</a:t>
            </a:fld>
            <a:endParaRPr lang="en-US"/>
          </a:p>
        </p:txBody>
      </p:sp>
      <p:sp>
        <p:nvSpPr>
          <p:cNvPr id="5" name="Footer Placeholder 4">
            <a:extLst>
              <a:ext uri="{FF2B5EF4-FFF2-40B4-BE49-F238E27FC236}">
                <a16:creationId xmlns:a16="http://schemas.microsoft.com/office/drawing/2014/main" id="{B6A4821A-6986-4F77-D016-22D7DFD9F8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34130E-E153-CC92-134B-88709DA7FC68}"/>
              </a:ext>
            </a:extLst>
          </p:cNvPr>
          <p:cNvSpPr>
            <a:spLocks noGrp="1"/>
          </p:cNvSpPr>
          <p:nvPr>
            <p:ph type="sldNum" sz="quarter" idx="12"/>
          </p:nvPr>
        </p:nvSpPr>
        <p:spPr/>
        <p:txBody>
          <a:bodyPr/>
          <a:lstStyle/>
          <a:p>
            <a:fld id="{E1CF124E-661C-4D93-9B95-9A1F943BA675}" type="slidenum">
              <a:rPr lang="en-US" smtClean="0"/>
              <a:t>‹#›</a:t>
            </a:fld>
            <a:endParaRPr lang="en-US"/>
          </a:p>
        </p:txBody>
      </p:sp>
    </p:spTree>
    <p:extLst>
      <p:ext uri="{BB962C8B-B14F-4D97-AF65-F5344CB8AC3E}">
        <p14:creationId xmlns:p14="http://schemas.microsoft.com/office/powerpoint/2010/main" val="39871340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92AE1-EF00-9E71-BCCC-6439967D85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332BB0D-EF09-BCB6-C78F-A8CDF1A6951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66816C-D112-702D-C5EA-B8E8DCEB401E}"/>
              </a:ext>
            </a:extLst>
          </p:cNvPr>
          <p:cNvSpPr>
            <a:spLocks noGrp="1"/>
          </p:cNvSpPr>
          <p:nvPr>
            <p:ph type="dt" sz="half" idx="10"/>
          </p:nvPr>
        </p:nvSpPr>
        <p:spPr/>
        <p:txBody>
          <a:bodyPr/>
          <a:lstStyle/>
          <a:p>
            <a:fld id="{DA10FC21-6417-4802-8517-CFB8A0482DF6}" type="datetimeFigureOut">
              <a:rPr lang="en-US" smtClean="0"/>
              <a:t>10/26/2025</a:t>
            </a:fld>
            <a:endParaRPr lang="en-US"/>
          </a:p>
        </p:txBody>
      </p:sp>
      <p:sp>
        <p:nvSpPr>
          <p:cNvPr id="5" name="Footer Placeholder 4">
            <a:extLst>
              <a:ext uri="{FF2B5EF4-FFF2-40B4-BE49-F238E27FC236}">
                <a16:creationId xmlns:a16="http://schemas.microsoft.com/office/drawing/2014/main" id="{D3B6A2C3-1595-6FCF-06D4-04166463EB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8BF23B-1058-982A-5212-F4F3CDBD6790}"/>
              </a:ext>
            </a:extLst>
          </p:cNvPr>
          <p:cNvSpPr>
            <a:spLocks noGrp="1"/>
          </p:cNvSpPr>
          <p:nvPr>
            <p:ph type="sldNum" sz="quarter" idx="12"/>
          </p:nvPr>
        </p:nvSpPr>
        <p:spPr/>
        <p:txBody>
          <a:bodyPr/>
          <a:lstStyle/>
          <a:p>
            <a:fld id="{E1CF124E-661C-4D93-9B95-9A1F943BA675}" type="slidenum">
              <a:rPr lang="en-US" smtClean="0"/>
              <a:t>‹#›</a:t>
            </a:fld>
            <a:endParaRPr lang="en-US"/>
          </a:p>
        </p:txBody>
      </p:sp>
    </p:spTree>
    <p:extLst>
      <p:ext uri="{BB962C8B-B14F-4D97-AF65-F5344CB8AC3E}">
        <p14:creationId xmlns:p14="http://schemas.microsoft.com/office/powerpoint/2010/main" val="3221609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E532F-0AA7-0FE4-EDC0-EE77C545DAC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4199A7-69A9-6F3B-47B0-D0F240C16D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43F587D-052E-50F2-9184-337B05AB8E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C89B895-B5D4-5DC8-C536-BDF2E2896A19}"/>
              </a:ext>
            </a:extLst>
          </p:cNvPr>
          <p:cNvSpPr>
            <a:spLocks noGrp="1"/>
          </p:cNvSpPr>
          <p:nvPr>
            <p:ph type="dt" sz="half" idx="10"/>
          </p:nvPr>
        </p:nvSpPr>
        <p:spPr/>
        <p:txBody>
          <a:bodyPr/>
          <a:lstStyle/>
          <a:p>
            <a:fld id="{DA10FC21-6417-4802-8517-CFB8A0482DF6}" type="datetimeFigureOut">
              <a:rPr lang="en-US" smtClean="0"/>
              <a:t>10/26/2025</a:t>
            </a:fld>
            <a:endParaRPr lang="en-US"/>
          </a:p>
        </p:txBody>
      </p:sp>
      <p:sp>
        <p:nvSpPr>
          <p:cNvPr id="6" name="Footer Placeholder 5">
            <a:extLst>
              <a:ext uri="{FF2B5EF4-FFF2-40B4-BE49-F238E27FC236}">
                <a16:creationId xmlns:a16="http://schemas.microsoft.com/office/drawing/2014/main" id="{B7AA99F9-B767-92DF-6296-006BA25381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E92918-EC4C-007C-3D99-5F191C988D38}"/>
              </a:ext>
            </a:extLst>
          </p:cNvPr>
          <p:cNvSpPr>
            <a:spLocks noGrp="1"/>
          </p:cNvSpPr>
          <p:nvPr>
            <p:ph type="sldNum" sz="quarter" idx="12"/>
          </p:nvPr>
        </p:nvSpPr>
        <p:spPr/>
        <p:txBody>
          <a:bodyPr/>
          <a:lstStyle/>
          <a:p>
            <a:fld id="{E1CF124E-661C-4D93-9B95-9A1F943BA675}" type="slidenum">
              <a:rPr lang="en-US" smtClean="0"/>
              <a:t>‹#›</a:t>
            </a:fld>
            <a:endParaRPr lang="en-US"/>
          </a:p>
        </p:txBody>
      </p:sp>
    </p:spTree>
    <p:extLst>
      <p:ext uri="{BB962C8B-B14F-4D97-AF65-F5344CB8AC3E}">
        <p14:creationId xmlns:p14="http://schemas.microsoft.com/office/powerpoint/2010/main" val="33910878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4A80F-1D41-BED5-6306-EA45C5A29EB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51230ED-CFED-A8F0-1255-83ACDECDBC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658B8F-2D36-F0C2-A27A-C30BD0649F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2EE3F8E-9A03-937E-B56C-381228BB95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A7B251-163F-9F52-A4EC-D26ADE3FE4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AE87C3-7A11-3906-BF13-0678869A2E84}"/>
              </a:ext>
            </a:extLst>
          </p:cNvPr>
          <p:cNvSpPr>
            <a:spLocks noGrp="1"/>
          </p:cNvSpPr>
          <p:nvPr>
            <p:ph type="dt" sz="half" idx="10"/>
          </p:nvPr>
        </p:nvSpPr>
        <p:spPr/>
        <p:txBody>
          <a:bodyPr/>
          <a:lstStyle/>
          <a:p>
            <a:fld id="{DA10FC21-6417-4802-8517-CFB8A0482DF6}" type="datetimeFigureOut">
              <a:rPr lang="en-US" smtClean="0"/>
              <a:t>10/26/2025</a:t>
            </a:fld>
            <a:endParaRPr lang="en-US"/>
          </a:p>
        </p:txBody>
      </p:sp>
      <p:sp>
        <p:nvSpPr>
          <p:cNvPr id="8" name="Footer Placeholder 7">
            <a:extLst>
              <a:ext uri="{FF2B5EF4-FFF2-40B4-BE49-F238E27FC236}">
                <a16:creationId xmlns:a16="http://schemas.microsoft.com/office/drawing/2014/main" id="{01D3A20A-1098-BBD2-FE5B-11FEA30D2A5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4E484E0-AD60-EC63-9E7B-AE54D11F71D5}"/>
              </a:ext>
            </a:extLst>
          </p:cNvPr>
          <p:cNvSpPr>
            <a:spLocks noGrp="1"/>
          </p:cNvSpPr>
          <p:nvPr>
            <p:ph type="sldNum" sz="quarter" idx="12"/>
          </p:nvPr>
        </p:nvSpPr>
        <p:spPr/>
        <p:txBody>
          <a:bodyPr/>
          <a:lstStyle/>
          <a:p>
            <a:fld id="{E1CF124E-661C-4D93-9B95-9A1F943BA675}" type="slidenum">
              <a:rPr lang="en-US" smtClean="0"/>
              <a:t>‹#›</a:t>
            </a:fld>
            <a:endParaRPr lang="en-US"/>
          </a:p>
        </p:txBody>
      </p:sp>
    </p:spTree>
    <p:extLst>
      <p:ext uri="{BB962C8B-B14F-4D97-AF65-F5344CB8AC3E}">
        <p14:creationId xmlns:p14="http://schemas.microsoft.com/office/powerpoint/2010/main" val="734354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8B5E2-F7FE-F6EC-B51B-0C153244735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DC7103F-34AA-8B9F-CC2F-E4B0B35C8680}"/>
              </a:ext>
            </a:extLst>
          </p:cNvPr>
          <p:cNvSpPr>
            <a:spLocks noGrp="1"/>
          </p:cNvSpPr>
          <p:nvPr>
            <p:ph type="dt" sz="half" idx="10"/>
          </p:nvPr>
        </p:nvSpPr>
        <p:spPr/>
        <p:txBody>
          <a:bodyPr/>
          <a:lstStyle/>
          <a:p>
            <a:fld id="{DA10FC21-6417-4802-8517-CFB8A0482DF6}" type="datetimeFigureOut">
              <a:rPr lang="en-US" smtClean="0"/>
              <a:t>10/26/2025</a:t>
            </a:fld>
            <a:endParaRPr lang="en-US"/>
          </a:p>
        </p:txBody>
      </p:sp>
      <p:sp>
        <p:nvSpPr>
          <p:cNvPr id="4" name="Footer Placeholder 3">
            <a:extLst>
              <a:ext uri="{FF2B5EF4-FFF2-40B4-BE49-F238E27FC236}">
                <a16:creationId xmlns:a16="http://schemas.microsoft.com/office/drawing/2014/main" id="{7C1BAE60-9D79-404B-05F1-BB39061DCC6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ACC69AD-EC13-AA87-7BE7-9463ED3D98F4}"/>
              </a:ext>
            </a:extLst>
          </p:cNvPr>
          <p:cNvSpPr>
            <a:spLocks noGrp="1"/>
          </p:cNvSpPr>
          <p:nvPr>
            <p:ph type="sldNum" sz="quarter" idx="12"/>
          </p:nvPr>
        </p:nvSpPr>
        <p:spPr/>
        <p:txBody>
          <a:bodyPr/>
          <a:lstStyle/>
          <a:p>
            <a:fld id="{E1CF124E-661C-4D93-9B95-9A1F943BA675}" type="slidenum">
              <a:rPr lang="en-US" smtClean="0"/>
              <a:t>‹#›</a:t>
            </a:fld>
            <a:endParaRPr lang="en-US"/>
          </a:p>
        </p:txBody>
      </p:sp>
    </p:spTree>
    <p:extLst>
      <p:ext uri="{BB962C8B-B14F-4D97-AF65-F5344CB8AC3E}">
        <p14:creationId xmlns:p14="http://schemas.microsoft.com/office/powerpoint/2010/main" val="1735311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2A252F-0EA6-56F1-258A-523E284B5D76}"/>
              </a:ext>
            </a:extLst>
          </p:cNvPr>
          <p:cNvSpPr>
            <a:spLocks noGrp="1"/>
          </p:cNvSpPr>
          <p:nvPr>
            <p:ph type="dt" sz="half" idx="10"/>
          </p:nvPr>
        </p:nvSpPr>
        <p:spPr/>
        <p:txBody>
          <a:bodyPr/>
          <a:lstStyle/>
          <a:p>
            <a:fld id="{DA10FC21-6417-4802-8517-CFB8A0482DF6}" type="datetimeFigureOut">
              <a:rPr lang="en-US" smtClean="0"/>
              <a:t>10/26/2025</a:t>
            </a:fld>
            <a:endParaRPr lang="en-US"/>
          </a:p>
        </p:txBody>
      </p:sp>
      <p:sp>
        <p:nvSpPr>
          <p:cNvPr id="3" name="Footer Placeholder 2">
            <a:extLst>
              <a:ext uri="{FF2B5EF4-FFF2-40B4-BE49-F238E27FC236}">
                <a16:creationId xmlns:a16="http://schemas.microsoft.com/office/drawing/2014/main" id="{CF648531-0A05-400C-A446-1521A94899B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B8FF36F-5D65-3000-3A3E-7A0F72C3298C}"/>
              </a:ext>
            </a:extLst>
          </p:cNvPr>
          <p:cNvSpPr>
            <a:spLocks noGrp="1"/>
          </p:cNvSpPr>
          <p:nvPr>
            <p:ph type="sldNum" sz="quarter" idx="12"/>
          </p:nvPr>
        </p:nvSpPr>
        <p:spPr/>
        <p:txBody>
          <a:bodyPr/>
          <a:lstStyle/>
          <a:p>
            <a:fld id="{E1CF124E-661C-4D93-9B95-9A1F943BA675}" type="slidenum">
              <a:rPr lang="en-US" smtClean="0"/>
              <a:t>‹#›</a:t>
            </a:fld>
            <a:endParaRPr lang="en-US"/>
          </a:p>
        </p:txBody>
      </p:sp>
    </p:spTree>
    <p:extLst>
      <p:ext uri="{BB962C8B-B14F-4D97-AF65-F5344CB8AC3E}">
        <p14:creationId xmlns:p14="http://schemas.microsoft.com/office/powerpoint/2010/main" val="1511991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0E408-A13A-3C3E-41DA-A24530C7E9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8DCF56-D14F-29CF-952F-3D9E999DF0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352DAC9-30D4-9FBA-50BE-89AEE25EED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230CDC-7281-8B09-8DC4-35CD8D0A9C30}"/>
              </a:ext>
            </a:extLst>
          </p:cNvPr>
          <p:cNvSpPr>
            <a:spLocks noGrp="1"/>
          </p:cNvSpPr>
          <p:nvPr>
            <p:ph type="dt" sz="half" idx="10"/>
          </p:nvPr>
        </p:nvSpPr>
        <p:spPr/>
        <p:txBody>
          <a:bodyPr/>
          <a:lstStyle/>
          <a:p>
            <a:fld id="{DA10FC21-6417-4802-8517-CFB8A0482DF6}" type="datetimeFigureOut">
              <a:rPr lang="en-US" smtClean="0"/>
              <a:t>10/26/2025</a:t>
            </a:fld>
            <a:endParaRPr lang="en-US"/>
          </a:p>
        </p:txBody>
      </p:sp>
      <p:sp>
        <p:nvSpPr>
          <p:cNvPr id="6" name="Footer Placeholder 5">
            <a:extLst>
              <a:ext uri="{FF2B5EF4-FFF2-40B4-BE49-F238E27FC236}">
                <a16:creationId xmlns:a16="http://schemas.microsoft.com/office/drawing/2014/main" id="{29211F3F-344D-5A16-5153-00CC319421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F308C0-8F8C-7D7F-B8FF-C62DDC17DEF7}"/>
              </a:ext>
            </a:extLst>
          </p:cNvPr>
          <p:cNvSpPr>
            <a:spLocks noGrp="1"/>
          </p:cNvSpPr>
          <p:nvPr>
            <p:ph type="sldNum" sz="quarter" idx="12"/>
          </p:nvPr>
        </p:nvSpPr>
        <p:spPr/>
        <p:txBody>
          <a:bodyPr/>
          <a:lstStyle/>
          <a:p>
            <a:fld id="{E1CF124E-661C-4D93-9B95-9A1F943BA675}" type="slidenum">
              <a:rPr lang="en-US" smtClean="0"/>
              <a:t>‹#›</a:t>
            </a:fld>
            <a:endParaRPr lang="en-US"/>
          </a:p>
        </p:txBody>
      </p:sp>
    </p:spTree>
    <p:extLst>
      <p:ext uri="{BB962C8B-B14F-4D97-AF65-F5344CB8AC3E}">
        <p14:creationId xmlns:p14="http://schemas.microsoft.com/office/powerpoint/2010/main" val="3580523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01B2E-A933-DE0D-974C-1382D57427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46BF573-8CDB-B824-9769-316CE812F4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7542D86-E8C4-5168-8757-4FCE4432B8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2A327D-9A23-6BAE-6834-E4454782A248}"/>
              </a:ext>
            </a:extLst>
          </p:cNvPr>
          <p:cNvSpPr>
            <a:spLocks noGrp="1"/>
          </p:cNvSpPr>
          <p:nvPr>
            <p:ph type="dt" sz="half" idx="10"/>
          </p:nvPr>
        </p:nvSpPr>
        <p:spPr/>
        <p:txBody>
          <a:bodyPr/>
          <a:lstStyle/>
          <a:p>
            <a:fld id="{DA10FC21-6417-4802-8517-CFB8A0482DF6}" type="datetimeFigureOut">
              <a:rPr lang="en-US" smtClean="0"/>
              <a:t>10/26/2025</a:t>
            </a:fld>
            <a:endParaRPr lang="en-US"/>
          </a:p>
        </p:txBody>
      </p:sp>
      <p:sp>
        <p:nvSpPr>
          <p:cNvPr id="6" name="Footer Placeholder 5">
            <a:extLst>
              <a:ext uri="{FF2B5EF4-FFF2-40B4-BE49-F238E27FC236}">
                <a16:creationId xmlns:a16="http://schemas.microsoft.com/office/drawing/2014/main" id="{534C0BC3-7B6C-13A4-7E78-14325E1406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2A1F68-46EC-6973-15C1-7546671A89AA}"/>
              </a:ext>
            </a:extLst>
          </p:cNvPr>
          <p:cNvSpPr>
            <a:spLocks noGrp="1"/>
          </p:cNvSpPr>
          <p:nvPr>
            <p:ph type="sldNum" sz="quarter" idx="12"/>
          </p:nvPr>
        </p:nvSpPr>
        <p:spPr/>
        <p:txBody>
          <a:bodyPr/>
          <a:lstStyle/>
          <a:p>
            <a:fld id="{E1CF124E-661C-4D93-9B95-9A1F943BA675}" type="slidenum">
              <a:rPr lang="en-US" smtClean="0"/>
              <a:t>‹#›</a:t>
            </a:fld>
            <a:endParaRPr lang="en-US"/>
          </a:p>
        </p:txBody>
      </p:sp>
    </p:spTree>
    <p:extLst>
      <p:ext uri="{BB962C8B-B14F-4D97-AF65-F5344CB8AC3E}">
        <p14:creationId xmlns:p14="http://schemas.microsoft.com/office/powerpoint/2010/main" val="35138374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B4C0B-D0A2-3606-C2C0-BF661AD31FF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C440375-D836-1D73-AC19-DF619BE54E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884E08-002C-E5B8-FF1C-A5A004AC175F}"/>
              </a:ext>
            </a:extLst>
          </p:cNvPr>
          <p:cNvSpPr>
            <a:spLocks noGrp="1"/>
          </p:cNvSpPr>
          <p:nvPr>
            <p:ph type="dt" sz="half" idx="10"/>
          </p:nvPr>
        </p:nvSpPr>
        <p:spPr/>
        <p:txBody>
          <a:bodyPr/>
          <a:lstStyle/>
          <a:p>
            <a:fld id="{DA10FC21-6417-4802-8517-CFB8A0482DF6}" type="datetimeFigureOut">
              <a:rPr lang="en-US" smtClean="0"/>
              <a:t>10/26/2025</a:t>
            </a:fld>
            <a:endParaRPr lang="en-US"/>
          </a:p>
        </p:txBody>
      </p:sp>
      <p:sp>
        <p:nvSpPr>
          <p:cNvPr id="5" name="Footer Placeholder 4">
            <a:extLst>
              <a:ext uri="{FF2B5EF4-FFF2-40B4-BE49-F238E27FC236}">
                <a16:creationId xmlns:a16="http://schemas.microsoft.com/office/drawing/2014/main" id="{F97CD392-04C7-FB07-D043-F627B899E3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EAD2FC-8908-B64A-FEE9-6E6065037F5A}"/>
              </a:ext>
            </a:extLst>
          </p:cNvPr>
          <p:cNvSpPr>
            <a:spLocks noGrp="1"/>
          </p:cNvSpPr>
          <p:nvPr>
            <p:ph type="sldNum" sz="quarter" idx="12"/>
          </p:nvPr>
        </p:nvSpPr>
        <p:spPr/>
        <p:txBody>
          <a:bodyPr/>
          <a:lstStyle/>
          <a:p>
            <a:fld id="{E1CF124E-661C-4D93-9B95-9A1F943BA675}" type="slidenum">
              <a:rPr lang="en-US" smtClean="0"/>
              <a:t>‹#›</a:t>
            </a:fld>
            <a:endParaRPr lang="en-US"/>
          </a:p>
        </p:txBody>
      </p:sp>
    </p:spTree>
    <p:extLst>
      <p:ext uri="{BB962C8B-B14F-4D97-AF65-F5344CB8AC3E}">
        <p14:creationId xmlns:p14="http://schemas.microsoft.com/office/powerpoint/2010/main" val="36467480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DE544F-3AA8-32B5-E7A1-006DA1BDC6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13BAE9D-5FC4-9D2E-C3A0-0BAF6C364E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BD9BE5-DB62-5816-E962-B2F1E9E5D760}"/>
              </a:ext>
            </a:extLst>
          </p:cNvPr>
          <p:cNvSpPr>
            <a:spLocks noGrp="1"/>
          </p:cNvSpPr>
          <p:nvPr>
            <p:ph type="dt" sz="half" idx="10"/>
          </p:nvPr>
        </p:nvSpPr>
        <p:spPr/>
        <p:txBody>
          <a:bodyPr/>
          <a:lstStyle/>
          <a:p>
            <a:fld id="{DA10FC21-6417-4802-8517-CFB8A0482DF6}" type="datetimeFigureOut">
              <a:rPr lang="en-US" smtClean="0"/>
              <a:t>10/26/2025</a:t>
            </a:fld>
            <a:endParaRPr lang="en-US"/>
          </a:p>
        </p:txBody>
      </p:sp>
      <p:sp>
        <p:nvSpPr>
          <p:cNvPr id="5" name="Footer Placeholder 4">
            <a:extLst>
              <a:ext uri="{FF2B5EF4-FFF2-40B4-BE49-F238E27FC236}">
                <a16:creationId xmlns:a16="http://schemas.microsoft.com/office/drawing/2014/main" id="{BE5CD7D4-4611-B803-E390-71841CAD40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701BA3-5867-E11D-E75D-56904E7F1E9A}"/>
              </a:ext>
            </a:extLst>
          </p:cNvPr>
          <p:cNvSpPr>
            <a:spLocks noGrp="1"/>
          </p:cNvSpPr>
          <p:nvPr>
            <p:ph type="sldNum" sz="quarter" idx="12"/>
          </p:nvPr>
        </p:nvSpPr>
        <p:spPr/>
        <p:txBody>
          <a:bodyPr/>
          <a:lstStyle/>
          <a:p>
            <a:fld id="{E1CF124E-661C-4D93-9B95-9A1F943BA675}" type="slidenum">
              <a:rPr lang="en-US" smtClean="0"/>
              <a:t>‹#›</a:t>
            </a:fld>
            <a:endParaRPr lang="en-US"/>
          </a:p>
        </p:txBody>
      </p:sp>
    </p:spTree>
    <p:extLst>
      <p:ext uri="{BB962C8B-B14F-4D97-AF65-F5344CB8AC3E}">
        <p14:creationId xmlns:p14="http://schemas.microsoft.com/office/powerpoint/2010/main" val="21319421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6933"/>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1" name="Google Shape;11;p2"/>
          <p:cNvSpPr txBox="1">
            <a:spLocks noGrp="1"/>
          </p:cNvSpPr>
          <p:nvPr>
            <p:ph type="subTitle" idx="1"/>
          </p:nvPr>
        </p:nvSpPr>
        <p:spPr>
          <a:xfrm>
            <a:off x="415600" y="3778833"/>
            <a:ext cx="11360800" cy="105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
        <p:nvSpPr>
          <p:cNvPr id="12" name="Google Shape;12;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5486424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7866517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383263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3" name="Google Shape;23;p5"/>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4" name="Google Shape;24;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2677149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9783635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30" name="Google Shape;30;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600"/>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31" name="Google Shape;31;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7564419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34" name="Google Shape;34;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9649469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6" name="Google Shape;36;p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7" name="Google Shape;37;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8" name="Google Shape;38;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39" name="Google Shape;39;p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1363207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9654526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600" y="1474833"/>
            <a:ext cx="11360800" cy="26180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46" name="Google Shape;46;p11"/>
          <p:cNvSpPr txBox="1">
            <a:spLocks noGrp="1"/>
          </p:cNvSpPr>
          <p:nvPr>
            <p:ph type="body" idx="1"/>
          </p:nvPr>
        </p:nvSpPr>
        <p:spPr>
          <a:xfrm>
            <a:off x="415600" y="4202967"/>
            <a:ext cx="11360800" cy="17344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1805364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7349612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aption - Optional">
  <p:cSld name="Caption - Optional">
    <p:bg>
      <p:bgPr>
        <a:solidFill>
          <a:srgbClr val="A4C2F4"/>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136933" y="361167"/>
            <a:ext cx="11360800" cy="7636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682800" y="6027700"/>
            <a:ext cx="10826400" cy="763600"/>
          </a:xfrm>
          <a:prstGeom prst="rect">
            <a:avLst/>
          </a:prstGeom>
        </p:spPr>
        <p:txBody>
          <a:bodyPr spcFirstLastPara="1" wrap="square" lIns="91425" tIns="91425" rIns="91425" bIns="91425" anchor="t" anchorCtr="0">
            <a:normAutofit/>
          </a:bodyPr>
          <a:lstStyle>
            <a:lvl1pPr marL="609585" lvl="0" indent="-423323" algn="ctr" rtl="0">
              <a:spcBef>
                <a:spcPts val="0"/>
              </a:spcBef>
              <a:spcAft>
                <a:spcPts val="0"/>
              </a:spcAft>
              <a:buSzPts val="1400"/>
              <a:buChar char="●"/>
              <a:defRPr sz="1867"/>
            </a:lvl1pPr>
            <a:lvl2pPr marL="1219170" lvl="1" indent="-423323" algn="ctr" rtl="0">
              <a:spcBef>
                <a:spcPts val="0"/>
              </a:spcBef>
              <a:spcAft>
                <a:spcPts val="0"/>
              </a:spcAft>
              <a:buSzPts val="1400"/>
              <a:buChar char="○"/>
              <a:defRPr/>
            </a:lvl2pPr>
            <a:lvl3pPr marL="1828754" lvl="2" indent="-423323" algn="ctr" rtl="0">
              <a:spcBef>
                <a:spcPts val="0"/>
              </a:spcBef>
              <a:spcAft>
                <a:spcPts val="0"/>
              </a:spcAft>
              <a:buSzPts val="1400"/>
              <a:buChar char="■"/>
              <a:defRPr/>
            </a:lvl3pPr>
            <a:lvl4pPr marL="2438339" lvl="3" indent="-423323" algn="ctr" rtl="0">
              <a:spcBef>
                <a:spcPts val="0"/>
              </a:spcBef>
              <a:spcAft>
                <a:spcPts val="0"/>
              </a:spcAft>
              <a:buSzPts val="1400"/>
              <a:buChar char="●"/>
              <a:defRPr/>
            </a:lvl4pPr>
            <a:lvl5pPr marL="3047924" lvl="4" indent="-423323" algn="ctr" rtl="0">
              <a:spcBef>
                <a:spcPts val="0"/>
              </a:spcBef>
              <a:spcAft>
                <a:spcPts val="0"/>
              </a:spcAft>
              <a:buSzPts val="1400"/>
              <a:buChar char="○"/>
              <a:defRPr/>
            </a:lvl5pPr>
            <a:lvl6pPr marL="3657509" lvl="5" indent="-423323" algn="ctr" rtl="0">
              <a:spcBef>
                <a:spcPts val="0"/>
              </a:spcBef>
              <a:spcAft>
                <a:spcPts val="0"/>
              </a:spcAft>
              <a:buSzPts val="1400"/>
              <a:buChar char="■"/>
              <a:defRPr/>
            </a:lvl6pPr>
            <a:lvl7pPr marL="4267093" lvl="6" indent="-423323" algn="ctr" rtl="0">
              <a:spcBef>
                <a:spcPts val="0"/>
              </a:spcBef>
              <a:spcAft>
                <a:spcPts val="0"/>
              </a:spcAft>
              <a:buSzPts val="1400"/>
              <a:buChar char="●"/>
              <a:defRPr/>
            </a:lvl7pPr>
            <a:lvl8pPr marL="4876678" lvl="7" indent="-423323" algn="ctr" rtl="0">
              <a:spcBef>
                <a:spcPts val="0"/>
              </a:spcBef>
              <a:spcAft>
                <a:spcPts val="0"/>
              </a:spcAft>
              <a:buSzPts val="1400"/>
              <a:buChar char="○"/>
              <a:defRPr/>
            </a:lvl8pPr>
            <a:lvl9pPr marL="5486263" lvl="8" indent="-423323" algn="ctr" rtl="0">
              <a:spcBef>
                <a:spcPts val="0"/>
              </a:spcBef>
              <a:spcAft>
                <a:spcPts val="0"/>
              </a:spcAft>
              <a:buSzPts val="1400"/>
              <a:buChar char="■"/>
              <a:defRPr/>
            </a:lvl9pPr>
          </a:lstStyle>
          <a:p>
            <a:endParaRPr/>
          </a:p>
        </p:txBody>
      </p:sp>
      <p:sp>
        <p:nvSpPr>
          <p:cNvPr id="53" name="Google Shape;53;p1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lgn="r" rtl="0">
              <a:buNone/>
              <a:defRPr sz="1333">
                <a:solidFill>
                  <a:schemeClr val="dk2"/>
                </a:solidFill>
              </a:defRPr>
            </a:lvl1pPr>
            <a:lvl2pPr lvl="1" algn="r" rtl="0">
              <a:buNone/>
              <a:defRPr sz="1333">
                <a:solidFill>
                  <a:schemeClr val="dk2"/>
                </a:solidFill>
              </a:defRPr>
            </a:lvl2pPr>
            <a:lvl3pPr lvl="2" algn="r" rtl="0">
              <a:buNone/>
              <a:defRPr sz="1333">
                <a:solidFill>
                  <a:schemeClr val="dk2"/>
                </a:solidFill>
              </a:defRPr>
            </a:lvl3pPr>
            <a:lvl4pPr lvl="3" algn="r" rtl="0">
              <a:buNone/>
              <a:defRPr sz="1333">
                <a:solidFill>
                  <a:schemeClr val="dk2"/>
                </a:solidFill>
              </a:defRPr>
            </a:lvl4pPr>
            <a:lvl5pPr lvl="4" algn="r" rtl="0">
              <a:buNone/>
              <a:defRPr sz="1333">
                <a:solidFill>
                  <a:schemeClr val="dk2"/>
                </a:solidFill>
              </a:defRPr>
            </a:lvl5pPr>
            <a:lvl6pPr lvl="5" algn="r" rtl="0">
              <a:buNone/>
              <a:defRPr sz="1333">
                <a:solidFill>
                  <a:schemeClr val="dk2"/>
                </a:solidFill>
              </a:defRPr>
            </a:lvl6pPr>
            <a:lvl7pPr lvl="6" algn="r" rtl="0">
              <a:buNone/>
              <a:defRPr sz="1333">
                <a:solidFill>
                  <a:schemeClr val="dk2"/>
                </a:solidFill>
              </a:defRPr>
            </a:lvl7pPr>
            <a:lvl8pPr lvl="7" algn="r" rtl="0">
              <a:buNone/>
              <a:defRPr sz="1333">
                <a:solidFill>
                  <a:schemeClr val="dk2"/>
                </a:solidFill>
              </a:defRPr>
            </a:lvl8pPr>
            <a:lvl9pPr lvl="8" algn="r" rtl="0">
              <a:buNone/>
              <a:defRPr sz="1333">
                <a:solidFill>
                  <a:schemeClr val="dk2"/>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2206759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 Optional">
  <p:cSld name="Title only - Optional">
    <p:bg>
      <p:bgPr>
        <a:solidFill>
          <a:srgbClr val="A4C2F4"/>
        </a:solidFill>
        <a:effectLst/>
      </p:bgPr>
    </p:bg>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136933" y="361167"/>
            <a:ext cx="11360800" cy="7636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6" name="Google Shape;56;p1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63869267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One column text - Optional">
  <p:cSld name="One column text - Optional">
    <p:bg>
      <p:bgPr>
        <a:solidFill>
          <a:srgbClr val="A4C2F4"/>
        </a:solidFill>
        <a:effectLst/>
      </p:bgPr>
    </p:bg>
    <p:spTree>
      <p:nvGrpSpPr>
        <p:cNvPr id="1" name="Shape 57"/>
        <p:cNvGrpSpPr/>
        <p:nvPr/>
      </p:nvGrpSpPr>
      <p:grpSpPr>
        <a:xfrm>
          <a:off x="0" y="0"/>
          <a:ext cx="0" cy="0"/>
          <a:chOff x="0" y="0"/>
          <a:chExt cx="0" cy="0"/>
        </a:xfrm>
      </p:grpSpPr>
      <p:sp>
        <p:nvSpPr>
          <p:cNvPr id="58" name="Google Shape;58;p1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59" name="Google Shape;59;p15"/>
          <p:cNvSpPr txBox="1">
            <a:spLocks noGrp="1"/>
          </p:cNvSpPr>
          <p:nvPr>
            <p:ph type="title"/>
          </p:nvPr>
        </p:nvSpPr>
        <p:spPr>
          <a:xfrm>
            <a:off x="136933" y="361167"/>
            <a:ext cx="11360800" cy="7636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0" name="Google Shape;60;p15"/>
          <p:cNvSpPr txBox="1">
            <a:spLocks noGrp="1"/>
          </p:cNvSpPr>
          <p:nvPr>
            <p:ph type="body" idx="1"/>
          </p:nvPr>
        </p:nvSpPr>
        <p:spPr>
          <a:xfrm>
            <a:off x="264667" y="1662433"/>
            <a:ext cx="6856800" cy="5020800"/>
          </a:xfrm>
          <a:prstGeom prst="rect">
            <a:avLst/>
          </a:prstGeom>
        </p:spPr>
        <p:txBody>
          <a:bodyPr spcFirstLastPara="1" wrap="square" lIns="91425" tIns="91425" rIns="91425" bIns="91425" anchor="t" anchorCtr="0">
            <a:normAutofit/>
          </a:bodyPr>
          <a:lstStyle>
            <a:lvl1pPr marL="609585" lvl="0" indent="-457189" rtl="0">
              <a:spcBef>
                <a:spcPts val="0"/>
              </a:spcBef>
              <a:spcAft>
                <a:spcPts val="0"/>
              </a:spcAft>
              <a:buSzPts val="1800"/>
              <a:buChar char="●"/>
              <a:defRPr/>
            </a:lvl1pPr>
            <a:lvl2pPr marL="1219170" lvl="1" indent="-423323" rtl="0">
              <a:spcBef>
                <a:spcPts val="0"/>
              </a:spcBef>
              <a:spcAft>
                <a:spcPts val="0"/>
              </a:spcAft>
              <a:buSzPts val="1400"/>
              <a:buChar char="○"/>
              <a:defRPr/>
            </a:lvl2pPr>
            <a:lvl3pPr marL="1828754" lvl="2" indent="-423323" rtl="0">
              <a:spcBef>
                <a:spcPts val="0"/>
              </a:spcBef>
              <a:spcAft>
                <a:spcPts val="0"/>
              </a:spcAft>
              <a:buSzPts val="1400"/>
              <a:buChar char="■"/>
              <a:defRPr/>
            </a:lvl3pPr>
            <a:lvl4pPr marL="2438339" lvl="3" indent="-423323" rtl="0">
              <a:spcBef>
                <a:spcPts val="0"/>
              </a:spcBef>
              <a:spcAft>
                <a:spcPts val="0"/>
              </a:spcAft>
              <a:buSzPts val="1400"/>
              <a:buChar char="●"/>
              <a:defRPr/>
            </a:lvl4pPr>
            <a:lvl5pPr marL="3047924" lvl="4" indent="-423323" rtl="0">
              <a:spcBef>
                <a:spcPts val="0"/>
              </a:spcBef>
              <a:spcAft>
                <a:spcPts val="0"/>
              </a:spcAft>
              <a:buSzPts val="1400"/>
              <a:buChar char="○"/>
              <a:defRPr/>
            </a:lvl5pPr>
            <a:lvl6pPr marL="3657509" lvl="5" indent="-423323" rtl="0">
              <a:spcBef>
                <a:spcPts val="0"/>
              </a:spcBef>
              <a:spcAft>
                <a:spcPts val="0"/>
              </a:spcAft>
              <a:buSzPts val="1400"/>
              <a:buChar char="■"/>
              <a:defRPr/>
            </a:lvl6pPr>
            <a:lvl7pPr marL="4267093" lvl="6" indent="-423323" rtl="0">
              <a:spcBef>
                <a:spcPts val="0"/>
              </a:spcBef>
              <a:spcAft>
                <a:spcPts val="0"/>
              </a:spcAft>
              <a:buSzPts val="1400"/>
              <a:buChar char="●"/>
              <a:defRPr/>
            </a:lvl7pPr>
            <a:lvl8pPr marL="4876678" lvl="7" indent="-423323" rtl="0">
              <a:spcBef>
                <a:spcPts val="0"/>
              </a:spcBef>
              <a:spcAft>
                <a:spcPts val="0"/>
              </a:spcAft>
              <a:buSzPts val="1400"/>
              <a:buChar char="○"/>
              <a:defRPr/>
            </a:lvl8pPr>
            <a:lvl9pPr marL="5486263" lvl="8" indent="-423323" rtl="0">
              <a:spcBef>
                <a:spcPts val="0"/>
              </a:spcBef>
              <a:spcAft>
                <a:spcPts val="0"/>
              </a:spcAft>
              <a:buSzPts val="1400"/>
              <a:buChar char="■"/>
              <a:defRPr/>
            </a:lvl9pPr>
          </a:lstStyle>
          <a:p>
            <a:endParaRPr/>
          </a:p>
        </p:txBody>
      </p:sp>
    </p:spTree>
    <p:extLst>
      <p:ext uri="{BB962C8B-B14F-4D97-AF65-F5344CB8AC3E}">
        <p14:creationId xmlns:p14="http://schemas.microsoft.com/office/powerpoint/2010/main" val="285611570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0C650-FE56-2683-DD66-9F8237BD9A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15D1E8-60BD-D2FD-EBBA-FC56ABC05D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5944CA-27C3-E036-C5FD-B5F9429F6102}"/>
              </a:ext>
            </a:extLst>
          </p:cNvPr>
          <p:cNvSpPr>
            <a:spLocks noGrp="1"/>
          </p:cNvSpPr>
          <p:nvPr>
            <p:ph type="dt" sz="half" idx="10"/>
          </p:nvPr>
        </p:nvSpPr>
        <p:spPr/>
        <p:txBody>
          <a:bodyPr/>
          <a:lstStyle/>
          <a:p>
            <a:fld id="{32DC935E-FEB8-40F3-A5A0-906B9BE379A1}" type="datetimeFigureOut">
              <a:rPr lang="en-US" smtClean="0"/>
              <a:t>10/26/2025</a:t>
            </a:fld>
            <a:endParaRPr lang="en-US"/>
          </a:p>
        </p:txBody>
      </p:sp>
      <p:sp>
        <p:nvSpPr>
          <p:cNvPr id="5" name="Footer Placeholder 4">
            <a:extLst>
              <a:ext uri="{FF2B5EF4-FFF2-40B4-BE49-F238E27FC236}">
                <a16:creationId xmlns:a16="http://schemas.microsoft.com/office/drawing/2014/main" id="{997F528A-F30A-0C22-0C63-8410254BD5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ED3A85-9464-BA07-3C82-C5705CD14857}"/>
              </a:ext>
            </a:extLst>
          </p:cNvPr>
          <p:cNvSpPr>
            <a:spLocks noGrp="1"/>
          </p:cNvSpPr>
          <p:nvPr>
            <p:ph type="sldNum" sz="quarter" idx="12"/>
          </p:nvPr>
        </p:nvSpPr>
        <p:spPr/>
        <p:txBody>
          <a:bodyPr/>
          <a:lstStyle/>
          <a:p>
            <a:fld id="{AFCF6F44-9D87-4ADB-A259-CEBAF397944C}" type="slidenum">
              <a:rPr lang="en-US" smtClean="0"/>
              <a:t>‹#›</a:t>
            </a:fld>
            <a:endParaRPr lang="en-US"/>
          </a:p>
        </p:txBody>
      </p:sp>
    </p:spTree>
    <p:extLst>
      <p:ext uri="{BB962C8B-B14F-4D97-AF65-F5344CB8AC3E}">
        <p14:creationId xmlns:p14="http://schemas.microsoft.com/office/powerpoint/2010/main" val="2427325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E483A84-3872-87EE-2693-AB450A30EB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B305D02-BACA-E603-3028-D4D1857133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49981F-58EC-3648-4C7A-2080744E98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A10FC21-6417-4802-8517-CFB8A0482DF6}" type="datetimeFigureOut">
              <a:rPr lang="en-US" smtClean="0"/>
              <a:t>10/26/2025</a:t>
            </a:fld>
            <a:endParaRPr lang="en-US"/>
          </a:p>
        </p:txBody>
      </p:sp>
      <p:sp>
        <p:nvSpPr>
          <p:cNvPr id="5" name="Footer Placeholder 4">
            <a:extLst>
              <a:ext uri="{FF2B5EF4-FFF2-40B4-BE49-F238E27FC236}">
                <a16:creationId xmlns:a16="http://schemas.microsoft.com/office/drawing/2014/main" id="{F9F76D77-A175-742E-AA42-79D10440BF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49F2FE7-4D8E-874D-158C-D47E684CB9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1CF124E-661C-4D93-9B95-9A1F943BA675}" type="slidenum">
              <a:rPr lang="en-US" smtClean="0"/>
              <a:t>‹#›</a:t>
            </a:fld>
            <a:endParaRPr lang="en-US"/>
          </a:p>
        </p:txBody>
      </p:sp>
    </p:spTree>
    <p:extLst>
      <p:ext uri="{BB962C8B-B14F-4D97-AF65-F5344CB8AC3E}">
        <p14:creationId xmlns:p14="http://schemas.microsoft.com/office/powerpoint/2010/main" val="4340502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2"/>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395664421"/>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4.xml"/><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3" Type="http://schemas.openxmlformats.org/officeDocument/2006/relationships/hyperlink" Target="http://www.google.com/" TargetMode="External"/><Relationship Id="rId2" Type="http://schemas.openxmlformats.org/officeDocument/2006/relationships/notesSlide" Target="../notesSlides/notesSlide8.xml"/><Relationship Id="rId1" Type="http://schemas.openxmlformats.org/officeDocument/2006/relationships/slideLayout" Target="../slideLayouts/slideLayout14.xml"/><Relationship Id="rId5" Type="http://schemas.openxmlformats.org/officeDocument/2006/relationships/hyperlink" Target="https://blog.talosintelligence.com/seaturtle/" TargetMode="External"/><Relationship Id="rId4" Type="http://schemas.openxmlformats.org/officeDocument/2006/relationships/image" Target="../media/image5.jpe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4.xml"/><Relationship Id="rId6" Type="http://schemas.openxmlformats.org/officeDocument/2006/relationships/image" Target="../media/image7.png"/><Relationship Id="rId5" Type="http://schemas.openxmlformats.org/officeDocument/2006/relationships/image" Target="../media/image2.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hyperlink" Target="http://www.attacker.com/" TargetMode="External"/><Relationship Id="rId2" Type="http://schemas.openxmlformats.org/officeDocument/2006/relationships/notesSlide" Target="../notesSlides/notesSlide16.xml"/><Relationship Id="rId1" Type="http://schemas.openxmlformats.org/officeDocument/2006/relationships/slideLayout" Target="../slideLayouts/slideLayout14.xml"/><Relationship Id="rId4" Type="http://schemas.openxmlformats.org/officeDocument/2006/relationships/hyperlink" Target="http://www.google.com/"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3" Type="http://schemas.openxmlformats.org/officeDocument/2006/relationships/hyperlink" Target="https://en.wikipedia.org/wiki/Entropy_(information_theory)" TargetMode="External"/><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A64E1-5610-7CF5-A8AC-8AACF97CA223}"/>
              </a:ext>
            </a:extLst>
          </p:cNvPr>
          <p:cNvSpPr>
            <a:spLocks noGrp="1"/>
          </p:cNvSpPr>
          <p:nvPr>
            <p:ph type="ctrTitle"/>
          </p:nvPr>
        </p:nvSpPr>
        <p:spPr>
          <a:xfrm>
            <a:off x="536448" y="1122363"/>
            <a:ext cx="11119104" cy="2133599"/>
          </a:xfrm>
        </p:spPr>
        <p:txBody>
          <a:bodyPr/>
          <a:lstStyle/>
          <a:p>
            <a:r>
              <a:rPr lang="en-US" dirty="0"/>
              <a:t>CSC 3511 Security and Networking</a:t>
            </a:r>
          </a:p>
        </p:txBody>
      </p:sp>
      <p:sp>
        <p:nvSpPr>
          <p:cNvPr id="3" name="Subtitle 2">
            <a:extLst>
              <a:ext uri="{FF2B5EF4-FFF2-40B4-BE49-F238E27FC236}">
                <a16:creationId xmlns:a16="http://schemas.microsoft.com/office/drawing/2014/main" id="{3A8E7C23-6E8B-EC33-B311-21148E5DBC8C}"/>
              </a:ext>
            </a:extLst>
          </p:cNvPr>
          <p:cNvSpPr>
            <a:spLocks noGrp="1"/>
          </p:cNvSpPr>
          <p:nvPr>
            <p:ph type="subTitle" idx="1"/>
          </p:nvPr>
        </p:nvSpPr>
        <p:spPr>
          <a:xfrm>
            <a:off x="1524000" y="3602039"/>
            <a:ext cx="9144000" cy="1655762"/>
          </a:xfrm>
        </p:spPr>
        <p:txBody>
          <a:bodyPr/>
          <a:lstStyle/>
          <a:p>
            <a:endParaRPr lang="en-US" dirty="0"/>
          </a:p>
          <a:p>
            <a:endParaRPr lang="en-US" dirty="0"/>
          </a:p>
          <a:p>
            <a:r>
              <a:rPr lang="en-US" dirty="0"/>
              <a:t>Week 9, Lecture 1: DNS Vulnerabilities and</a:t>
            </a:r>
            <a:r>
              <a:rPr lang="zh-CN" altLang="en-US" dirty="0"/>
              <a:t> </a:t>
            </a:r>
            <a:r>
              <a:rPr lang="en-US" altLang="zh-CN" dirty="0"/>
              <a:t>Attacks</a:t>
            </a:r>
            <a:endParaRPr lang="en-US" dirty="0"/>
          </a:p>
        </p:txBody>
      </p:sp>
    </p:spTree>
    <p:extLst>
      <p:ext uri="{BB962C8B-B14F-4D97-AF65-F5344CB8AC3E}">
        <p14:creationId xmlns:p14="http://schemas.microsoft.com/office/powerpoint/2010/main" val="1291381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FDA46-17B5-C06A-14FB-592851FD4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E66B9E-F145-8272-AC79-21A51531575B}"/>
              </a:ext>
            </a:extLst>
          </p:cNvPr>
          <p:cNvSpPr txBox="1">
            <a:spLocks/>
          </p:cNvSpPr>
          <p:nvPr/>
        </p:nvSpPr>
        <p:spPr>
          <a:xfrm>
            <a:off x="546662" y="152400"/>
            <a:ext cx="6551791" cy="165099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6000">
                <a:cs typeface="Calibri" panose="020F0502020204030204" pitchFamily="34" charset="0"/>
              </a:rPr>
              <a:t>Roadmap</a:t>
            </a:r>
            <a:endParaRPr lang="en-US" sz="6000" dirty="0"/>
          </a:p>
        </p:txBody>
      </p:sp>
      <p:sp>
        <p:nvSpPr>
          <p:cNvPr id="3" name="Rectangle 4">
            <a:extLst>
              <a:ext uri="{FF2B5EF4-FFF2-40B4-BE49-F238E27FC236}">
                <a16:creationId xmlns:a16="http://schemas.microsoft.com/office/drawing/2014/main" id="{8241F881-9683-06E8-DC86-39A923184FA0}"/>
              </a:ext>
            </a:extLst>
          </p:cNvPr>
          <p:cNvSpPr txBox="1">
            <a:spLocks noChangeArrowheads="1"/>
          </p:cNvSpPr>
          <p:nvPr/>
        </p:nvSpPr>
        <p:spPr>
          <a:xfrm>
            <a:off x="327703" y="1646990"/>
            <a:ext cx="11536594" cy="49783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25" indent="-285750">
              <a:spcBef>
                <a:spcPts val="800"/>
              </a:spcBef>
              <a:spcAft>
                <a:spcPts val="600"/>
              </a:spcAft>
              <a:buClr>
                <a:schemeClr val="bg1">
                  <a:lumMod val="85000"/>
                </a:schemeClr>
              </a:buClr>
            </a:pPr>
            <a:r>
              <a:rPr lang="en-US" altLang="en-US" sz="3600" b="1" i="1" dirty="0">
                <a:latin typeface="Calibri" panose="020F0502020204030204" pitchFamily="34" charset="0"/>
                <a:cs typeface="Calibri" panose="020F0502020204030204" pitchFamily="34" charset="0"/>
              </a:rPr>
              <a:t>DNS: Review</a:t>
            </a:r>
          </a:p>
          <a:p>
            <a:pPr marL="403225" indent="-285750">
              <a:spcBef>
                <a:spcPts val="800"/>
              </a:spcBef>
              <a:spcAft>
                <a:spcPts val="600"/>
              </a:spcAft>
              <a:buClr>
                <a:schemeClr val="bg1">
                  <a:lumMod val="85000"/>
                </a:schemeClr>
              </a:buClr>
            </a:pPr>
            <a:r>
              <a:rPr lang="en-US" altLang="en-US" sz="3600" b="1" i="1" dirty="0">
                <a:solidFill>
                  <a:schemeClr val="bg1">
                    <a:lumMod val="85000"/>
                  </a:schemeClr>
                </a:solidFill>
                <a:latin typeface="Calibri" panose="020F0502020204030204" pitchFamily="34" charset="0"/>
                <a:cs typeface="Calibri" panose="020F0502020204030204" pitchFamily="34" charset="0"/>
              </a:rPr>
              <a:t>DNS Security and DNS Cache Poisoning Attacks</a:t>
            </a:r>
          </a:p>
          <a:p>
            <a:pPr marL="403225" indent="-285750">
              <a:spcBef>
                <a:spcPts val="800"/>
              </a:spcBef>
              <a:spcAft>
                <a:spcPts val="600"/>
              </a:spcAft>
              <a:buClr>
                <a:schemeClr val="bg1">
                  <a:lumMod val="85000"/>
                </a:schemeClr>
              </a:buClr>
            </a:pPr>
            <a:r>
              <a:rPr lang="en-US" altLang="en-US" sz="3600" b="1" i="1" dirty="0">
                <a:solidFill>
                  <a:schemeClr val="bg1">
                    <a:lumMod val="85000"/>
                  </a:schemeClr>
                </a:solidFill>
                <a:latin typeface="Calibri" panose="020F0502020204030204" pitchFamily="34" charset="0"/>
                <a:cs typeface="Calibri" panose="020F0502020204030204" pitchFamily="34" charset="0"/>
              </a:rPr>
              <a:t>DNS Kaminsky Attack</a:t>
            </a:r>
          </a:p>
        </p:txBody>
      </p:sp>
    </p:spTree>
    <p:extLst>
      <p:ext uri="{BB962C8B-B14F-4D97-AF65-F5344CB8AC3E}">
        <p14:creationId xmlns:p14="http://schemas.microsoft.com/office/powerpoint/2010/main" val="10438972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18"/>
        <p:cNvGrpSpPr/>
        <p:nvPr/>
      </p:nvGrpSpPr>
      <p:grpSpPr>
        <a:xfrm>
          <a:off x="0" y="0"/>
          <a:ext cx="0" cy="0"/>
          <a:chOff x="0" y="0"/>
          <a:chExt cx="0" cy="0"/>
        </a:xfrm>
      </p:grpSpPr>
      <p:sp>
        <p:nvSpPr>
          <p:cNvPr id="1819" name="Google Shape;1819;p140"/>
          <p:cNvSpPr txBox="1">
            <a:spLocks noGrp="1"/>
          </p:cNvSpPr>
          <p:nvPr>
            <p:ph type="title"/>
          </p:nvPr>
        </p:nvSpPr>
        <p:spPr>
          <a:xfrm>
            <a:off x="415600" y="143417"/>
            <a:ext cx="11360800" cy="763600"/>
          </a:xfrm>
          <a:prstGeom prst="rect">
            <a:avLst/>
          </a:prstGeom>
        </p:spPr>
        <p:txBody>
          <a:bodyPr spcFirstLastPara="1" wrap="square" lIns="121900" tIns="121900" rIns="121900" bIns="121900" anchor="t" anchorCtr="0">
            <a:noAutofit/>
          </a:bodyPr>
          <a:lstStyle/>
          <a:p>
            <a:r>
              <a:rPr lang="en" sz="4400" dirty="0">
                <a:latin typeface="Aptos" panose="020B0004020202020204" pitchFamily="34" charset="0"/>
              </a:rPr>
              <a:t>Week 3 Lecture 1: DNS</a:t>
            </a:r>
            <a:endParaRPr sz="4400" dirty="0">
              <a:latin typeface="Aptos" panose="020B0004020202020204" pitchFamily="34" charset="0"/>
            </a:endParaRPr>
          </a:p>
        </p:txBody>
      </p:sp>
      <p:sp>
        <p:nvSpPr>
          <p:cNvPr id="4" name="Google Shape;71;p16">
            <a:extLst>
              <a:ext uri="{FF2B5EF4-FFF2-40B4-BE49-F238E27FC236}">
                <a16:creationId xmlns:a16="http://schemas.microsoft.com/office/drawing/2014/main" id="{E97F33C8-5B3D-2134-630B-0F8F1C48B806}"/>
              </a:ext>
            </a:extLst>
          </p:cNvPr>
          <p:cNvSpPr txBox="1">
            <a:spLocks noGrp="1"/>
          </p:cNvSpPr>
          <p:nvPr>
            <p:ph type="body" idx="1"/>
          </p:nvPr>
        </p:nvSpPr>
        <p:spPr>
          <a:xfrm>
            <a:off x="230636" y="990936"/>
            <a:ext cx="9988171" cy="2813384"/>
          </a:xfrm>
          <a:prstGeom prst="rect">
            <a:avLst/>
          </a:prstGeom>
        </p:spPr>
        <p:txBody>
          <a:bodyPr spcFirstLastPara="1" wrap="square" lIns="91425" tIns="91425" rIns="91425" bIns="91425" anchor="t" anchorCtr="0">
            <a:normAutofit fontScale="85000" lnSpcReduction="20000"/>
          </a:bodyPr>
          <a:lstStyle/>
          <a:p>
            <a:pPr marL="114300" lvl="0" indent="0" algn="l" rtl="0">
              <a:spcBef>
                <a:spcPts val="0"/>
              </a:spcBef>
              <a:spcAft>
                <a:spcPts val="600"/>
              </a:spcAft>
              <a:buSzPts val="1800"/>
              <a:buNone/>
            </a:pPr>
            <a:r>
              <a:rPr lang="en" sz="2400" dirty="0">
                <a:solidFill>
                  <a:schemeClr val="tx1"/>
                </a:solidFill>
                <a:latin typeface="Aptos" panose="020B0004020202020204" pitchFamily="34" charset="0"/>
              </a:rPr>
              <a:t>DNS (Domain Name System): </a:t>
            </a:r>
          </a:p>
          <a:p>
            <a:pPr marL="939800" lvl="1" indent="-342900">
              <a:spcAft>
                <a:spcPts val="600"/>
              </a:spcAft>
              <a:buClrTx/>
              <a:buSzPct val="82000"/>
              <a:buFont typeface="Arial" panose="020B0604020202020204" pitchFamily="34" charset="0"/>
              <a:buChar char="•"/>
            </a:pPr>
            <a:r>
              <a:rPr lang="en-US" sz="2200" dirty="0">
                <a:solidFill>
                  <a:schemeClr val="tx1"/>
                </a:solidFill>
                <a:latin typeface="Aptos" panose="020B0004020202020204" pitchFamily="34" charset="0"/>
              </a:rPr>
              <a:t>An application layer protocol that maps between hostname and IP address, and vice versa (e.g., </a:t>
            </a:r>
            <a:r>
              <a:rPr lang="en-US" sz="2200" b="1" kern="1200" dirty="0">
                <a:solidFill>
                  <a:schemeClr val="dk1"/>
                </a:solidFill>
                <a:latin typeface="Courier New"/>
                <a:cs typeface="Courier New"/>
              </a:rPr>
              <a:t>dig -x 8.8.8.8</a:t>
            </a:r>
            <a:r>
              <a:rPr lang="en-US" sz="2200" dirty="0">
                <a:solidFill>
                  <a:schemeClr val="tx1"/>
                </a:solidFill>
                <a:latin typeface="Aptos" panose="020B0004020202020204" pitchFamily="34" charset="0"/>
              </a:rPr>
              <a:t>)</a:t>
            </a:r>
          </a:p>
          <a:p>
            <a:pPr marL="939800" lvl="1" indent="-342900">
              <a:spcAft>
                <a:spcPts val="600"/>
              </a:spcAft>
              <a:buClrTx/>
              <a:buSzPct val="82000"/>
              <a:buFont typeface="Arial" panose="020B0604020202020204" pitchFamily="34" charset="0"/>
              <a:buChar char="•"/>
            </a:pPr>
            <a:r>
              <a:rPr lang="en" sz="2200" dirty="0">
                <a:solidFill>
                  <a:schemeClr val="tx1"/>
                </a:solidFill>
                <a:latin typeface="Aptos" panose="020B0004020202020204" pitchFamily="34" charset="0"/>
              </a:rPr>
              <a:t>Name servers are arranged in a domain hierarchy tree</a:t>
            </a:r>
            <a:endParaRPr sz="2200" dirty="0">
              <a:solidFill>
                <a:schemeClr val="tx1"/>
              </a:solidFill>
              <a:latin typeface="Aptos" panose="020B0004020202020204" pitchFamily="34" charset="0"/>
            </a:endParaRPr>
          </a:p>
          <a:p>
            <a:pPr marL="939800" lvl="1" indent="-342900" algn="l" rtl="0">
              <a:spcBef>
                <a:spcPts val="0"/>
              </a:spcBef>
              <a:spcAft>
                <a:spcPts val="600"/>
              </a:spcAft>
              <a:buClrTx/>
              <a:buSzPct val="82000"/>
              <a:buFont typeface="Arial" panose="020B0604020202020204" pitchFamily="34" charset="0"/>
              <a:buChar char="•"/>
            </a:pPr>
            <a:r>
              <a:rPr lang="en" sz="2200" dirty="0">
                <a:solidFill>
                  <a:schemeClr val="tx1"/>
                </a:solidFill>
                <a:latin typeface="Aptos" panose="020B0004020202020204" pitchFamily="34" charset="0"/>
              </a:rPr>
              <a:t>Lookups proceed down the domain tree: name servers will direct you down the tree until you receive an answer</a:t>
            </a:r>
            <a:endParaRPr sz="2200" dirty="0">
              <a:solidFill>
                <a:schemeClr val="tx1"/>
              </a:solidFill>
              <a:latin typeface="Aptos" panose="020B0004020202020204" pitchFamily="34" charset="0"/>
            </a:endParaRPr>
          </a:p>
          <a:p>
            <a:pPr marL="939800" lvl="1" indent="-342900" algn="l" rtl="0">
              <a:spcBef>
                <a:spcPts val="0"/>
              </a:spcBef>
              <a:spcAft>
                <a:spcPts val="600"/>
              </a:spcAft>
              <a:buClrTx/>
              <a:buSzPct val="82000"/>
              <a:buFont typeface="Arial" panose="020B0604020202020204" pitchFamily="34" charset="0"/>
              <a:buChar char="•"/>
            </a:pPr>
            <a:r>
              <a:rPr lang="en" sz="2200" dirty="0">
                <a:solidFill>
                  <a:schemeClr val="tx1"/>
                </a:solidFill>
                <a:latin typeface="Aptos" panose="020B0004020202020204" pitchFamily="34" charset="0"/>
              </a:rPr>
              <a:t>The stub resolver </a:t>
            </a:r>
            <a:r>
              <a:rPr lang="en-US" sz="2200" dirty="0">
                <a:solidFill>
                  <a:schemeClr val="tx1"/>
                </a:solidFill>
                <a:latin typeface="Aptos" panose="020B0004020202020204" pitchFamily="34" charset="0"/>
              </a:rPr>
              <a:t>(a software/library on the host machine)</a:t>
            </a:r>
            <a:r>
              <a:rPr lang="en" sz="2200" dirty="0">
                <a:solidFill>
                  <a:schemeClr val="tx1"/>
                </a:solidFill>
                <a:latin typeface="Aptos" panose="020B0004020202020204" pitchFamily="34" charset="0"/>
              </a:rPr>
              <a:t> tells the recursive resolver (DNS server) to perform the lookup</a:t>
            </a:r>
            <a:endParaRPr sz="2200" dirty="0">
              <a:solidFill>
                <a:schemeClr val="tx1"/>
              </a:solidFill>
              <a:latin typeface="Aptos" panose="020B0004020202020204" pitchFamily="34" charset="0"/>
            </a:endParaRPr>
          </a:p>
        </p:txBody>
      </p:sp>
      <p:grpSp>
        <p:nvGrpSpPr>
          <p:cNvPr id="8" name="Group 7">
            <a:extLst>
              <a:ext uri="{FF2B5EF4-FFF2-40B4-BE49-F238E27FC236}">
                <a16:creationId xmlns:a16="http://schemas.microsoft.com/office/drawing/2014/main" id="{CEA8C154-A5DD-548F-90FA-A99ACE510555}"/>
              </a:ext>
            </a:extLst>
          </p:cNvPr>
          <p:cNvGrpSpPr/>
          <p:nvPr/>
        </p:nvGrpSpPr>
        <p:grpSpPr>
          <a:xfrm>
            <a:off x="5472439" y="860270"/>
            <a:ext cx="6408875" cy="759673"/>
            <a:chOff x="5204229" y="3944978"/>
            <a:chExt cx="6408875" cy="759673"/>
          </a:xfrm>
        </p:grpSpPr>
        <p:sp>
          <p:nvSpPr>
            <p:cNvPr id="3" name="Google Shape;126;p21">
              <a:extLst>
                <a:ext uri="{FF2B5EF4-FFF2-40B4-BE49-F238E27FC236}">
                  <a16:creationId xmlns:a16="http://schemas.microsoft.com/office/drawing/2014/main" id="{9D1A0516-0356-6531-35A3-BEADB2C13996}"/>
                </a:ext>
              </a:extLst>
            </p:cNvPr>
            <p:cNvSpPr txBox="1"/>
            <p:nvPr/>
          </p:nvSpPr>
          <p:spPr>
            <a:xfrm>
              <a:off x="9670604" y="4047578"/>
              <a:ext cx="1942500" cy="657073"/>
            </a:xfrm>
            <a:prstGeom prst="rect">
              <a:avLst/>
            </a:prstGeom>
            <a:noFill/>
            <a:ln>
              <a:noFill/>
            </a:ln>
          </p:spPr>
          <p:txBody>
            <a:bodyPr spcFirstLastPara="1" wrap="square" lIns="91425" tIns="91425" rIns="91425" bIns="91425" anchor="t" anchorCtr="0">
              <a:spAutoFit/>
            </a:bodyPr>
            <a:lstStyle/>
            <a:p>
              <a:pPr lvl="0" algn="ctr">
                <a:lnSpc>
                  <a:spcPct val="115000"/>
                </a:lnSpc>
                <a:spcAft>
                  <a:spcPts val="1200"/>
                </a:spcAft>
              </a:pPr>
              <a:r>
                <a:rPr lang="en" b="1" dirty="0">
                  <a:solidFill>
                    <a:schemeClr val="dk1"/>
                  </a:solidFill>
                  <a:latin typeface="Courier New"/>
                  <a:ea typeface="Courier New"/>
                  <a:cs typeface="Courier New"/>
                  <a:sym typeface="Courier New"/>
                </a:rPr>
                <a:t>74.125.25.99</a:t>
              </a:r>
              <a:endParaRPr lang="en" dirty="0"/>
            </a:p>
          </p:txBody>
        </p:sp>
        <p:sp>
          <p:nvSpPr>
            <p:cNvPr id="5" name="Google Shape;127;p21">
              <a:extLst>
                <a:ext uri="{FF2B5EF4-FFF2-40B4-BE49-F238E27FC236}">
                  <a16:creationId xmlns:a16="http://schemas.microsoft.com/office/drawing/2014/main" id="{F5EEF4B1-BF21-C1CD-705E-DA98E1AF3A10}"/>
                </a:ext>
              </a:extLst>
            </p:cNvPr>
            <p:cNvSpPr txBox="1"/>
            <p:nvPr/>
          </p:nvSpPr>
          <p:spPr>
            <a:xfrm>
              <a:off x="5204229" y="4047578"/>
              <a:ext cx="2188800" cy="4617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800" b="1" dirty="0">
                  <a:solidFill>
                    <a:schemeClr val="dk1"/>
                  </a:solidFill>
                  <a:latin typeface="Courier New"/>
                  <a:ea typeface="Courier New"/>
                  <a:cs typeface="Courier New"/>
                  <a:sym typeface="Courier New"/>
                </a:rPr>
                <a:t>www.google.com</a:t>
              </a:r>
              <a:endParaRPr sz="1800" dirty="0"/>
            </a:p>
          </p:txBody>
        </p:sp>
        <p:cxnSp>
          <p:nvCxnSpPr>
            <p:cNvPr id="6" name="Google Shape;128;p21">
              <a:extLst>
                <a:ext uri="{FF2B5EF4-FFF2-40B4-BE49-F238E27FC236}">
                  <a16:creationId xmlns:a16="http://schemas.microsoft.com/office/drawing/2014/main" id="{BD9749B8-F177-8E23-2845-7A0D761E1254}"/>
                </a:ext>
              </a:extLst>
            </p:cNvPr>
            <p:cNvCxnSpPr>
              <a:cxnSpLocks/>
              <a:endCxn id="3" idx="1"/>
            </p:cNvCxnSpPr>
            <p:nvPr/>
          </p:nvCxnSpPr>
          <p:spPr>
            <a:xfrm>
              <a:off x="7393004" y="4278428"/>
              <a:ext cx="2277600" cy="1"/>
            </a:xfrm>
            <a:prstGeom prst="straightConnector1">
              <a:avLst/>
            </a:prstGeom>
            <a:noFill/>
            <a:ln w="19050" cap="flat" cmpd="sng">
              <a:solidFill>
                <a:schemeClr val="dk1"/>
              </a:solidFill>
              <a:prstDash val="solid"/>
              <a:round/>
              <a:headEnd type="none" w="med" len="med"/>
              <a:tailEnd type="triangle" w="med" len="med"/>
            </a:ln>
          </p:spPr>
        </p:cxnSp>
        <p:sp>
          <p:nvSpPr>
            <p:cNvPr id="7" name="Google Shape;129;p21">
              <a:extLst>
                <a:ext uri="{FF2B5EF4-FFF2-40B4-BE49-F238E27FC236}">
                  <a16:creationId xmlns:a16="http://schemas.microsoft.com/office/drawing/2014/main" id="{FC163E74-908C-B2A3-CDB9-B8F013AB8087}"/>
                </a:ext>
              </a:extLst>
            </p:cNvPr>
            <p:cNvSpPr txBox="1"/>
            <p:nvPr/>
          </p:nvSpPr>
          <p:spPr>
            <a:xfrm>
              <a:off x="7392954" y="3944978"/>
              <a:ext cx="22299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DNS</a:t>
              </a:r>
              <a:endParaRPr/>
            </a:p>
          </p:txBody>
        </p:sp>
      </p:grpSp>
      <p:grpSp>
        <p:nvGrpSpPr>
          <p:cNvPr id="16" name="Group 15">
            <a:extLst>
              <a:ext uri="{FF2B5EF4-FFF2-40B4-BE49-F238E27FC236}">
                <a16:creationId xmlns:a16="http://schemas.microsoft.com/office/drawing/2014/main" id="{1DAE2E58-27F4-805C-2866-09637E249652}"/>
              </a:ext>
            </a:extLst>
          </p:cNvPr>
          <p:cNvGrpSpPr/>
          <p:nvPr/>
        </p:nvGrpSpPr>
        <p:grpSpPr>
          <a:xfrm>
            <a:off x="135389" y="3781701"/>
            <a:ext cx="11921222" cy="2932882"/>
            <a:chOff x="202133" y="3679585"/>
            <a:chExt cx="11921222" cy="2932882"/>
          </a:xfrm>
        </p:grpSpPr>
        <p:sp>
          <p:nvSpPr>
            <p:cNvPr id="23" name="Google Shape;73;p16">
              <a:extLst>
                <a:ext uri="{FF2B5EF4-FFF2-40B4-BE49-F238E27FC236}">
                  <a16:creationId xmlns:a16="http://schemas.microsoft.com/office/drawing/2014/main" id="{6377A536-B4AF-ED8F-1CB8-AA9391989665}"/>
                </a:ext>
              </a:extLst>
            </p:cNvPr>
            <p:cNvSpPr txBox="1"/>
            <p:nvPr/>
          </p:nvSpPr>
          <p:spPr>
            <a:xfrm>
              <a:off x="6091978" y="4499498"/>
              <a:ext cx="1382004" cy="492561"/>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400">
                  <a:latin typeface="Courier New"/>
                  <a:ea typeface="Courier New"/>
                  <a:cs typeface="Courier New"/>
                  <a:sym typeface="Courier New"/>
                </a:rPr>
                <a:t>. (root)</a:t>
              </a:r>
              <a:endParaRPr sz="1400">
                <a:latin typeface="Courier New"/>
                <a:ea typeface="Courier New"/>
                <a:cs typeface="Courier New"/>
                <a:sym typeface="Courier New"/>
              </a:endParaRPr>
            </a:p>
          </p:txBody>
        </p:sp>
        <p:sp>
          <p:nvSpPr>
            <p:cNvPr id="24" name="Google Shape;74;p16">
              <a:extLst>
                <a:ext uri="{FF2B5EF4-FFF2-40B4-BE49-F238E27FC236}">
                  <a16:creationId xmlns:a16="http://schemas.microsoft.com/office/drawing/2014/main" id="{D37BCC2A-7AAC-7BCB-6081-DAB7D905A818}"/>
                </a:ext>
              </a:extLst>
            </p:cNvPr>
            <p:cNvSpPr txBox="1"/>
            <p:nvPr/>
          </p:nvSpPr>
          <p:spPr>
            <a:xfrm>
              <a:off x="4590063" y="5309704"/>
              <a:ext cx="746088" cy="492561"/>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400" dirty="0">
                  <a:latin typeface="Courier New"/>
                  <a:ea typeface="Courier New"/>
                  <a:cs typeface="Courier New"/>
                  <a:sym typeface="Courier New"/>
                </a:rPr>
                <a:t>.edu</a:t>
              </a:r>
              <a:endParaRPr sz="1400" dirty="0">
                <a:latin typeface="Calibri"/>
                <a:ea typeface="Calibri"/>
                <a:cs typeface="Calibri"/>
                <a:sym typeface="Calibri"/>
              </a:endParaRPr>
            </a:p>
          </p:txBody>
        </p:sp>
        <p:sp>
          <p:nvSpPr>
            <p:cNvPr id="25" name="Google Shape;75;p16">
              <a:extLst>
                <a:ext uri="{FF2B5EF4-FFF2-40B4-BE49-F238E27FC236}">
                  <a16:creationId xmlns:a16="http://schemas.microsoft.com/office/drawing/2014/main" id="{53F22154-0C04-1478-2887-B14D8EF0C334}"/>
                </a:ext>
              </a:extLst>
            </p:cNvPr>
            <p:cNvSpPr txBox="1"/>
            <p:nvPr/>
          </p:nvSpPr>
          <p:spPr>
            <a:xfrm>
              <a:off x="6409936" y="5309704"/>
              <a:ext cx="746088" cy="492561"/>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Courier New"/>
                  <a:ea typeface="Courier New"/>
                  <a:cs typeface="Courier New"/>
                  <a:sym typeface="Courier New"/>
                </a:rPr>
                <a:t>.</a:t>
              </a:r>
              <a:r>
                <a:rPr lang="en" sz="1400">
                  <a:latin typeface="Courier New"/>
                  <a:ea typeface="Courier New"/>
                  <a:cs typeface="Courier New"/>
                  <a:sym typeface="Courier New"/>
                </a:rPr>
                <a:t>org</a:t>
              </a:r>
              <a:endParaRPr sz="1400">
                <a:latin typeface="Calibri"/>
                <a:ea typeface="Calibri"/>
                <a:cs typeface="Calibri"/>
                <a:sym typeface="Calibri"/>
              </a:endParaRPr>
            </a:p>
          </p:txBody>
        </p:sp>
        <p:sp>
          <p:nvSpPr>
            <p:cNvPr id="26" name="Google Shape;76;p16">
              <a:extLst>
                <a:ext uri="{FF2B5EF4-FFF2-40B4-BE49-F238E27FC236}">
                  <a16:creationId xmlns:a16="http://schemas.microsoft.com/office/drawing/2014/main" id="{FA11E613-4DD8-1C9A-3400-3B10A5DDE576}"/>
                </a:ext>
              </a:extLst>
            </p:cNvPr>
            <p:cNvSpPr txBox="1"/>
            <p:nvPr/>
          </p:nvSpPr>
          <p:spPr>
            <a:xfrm>
              <a:off x="8229808" y="5309704"/>
              <a:ext cx="746088" cy="492561"/>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Courier New"/>
                  <a:ea typeface="Courier New"/>
                  <a:cs typeface="Courier New"/>
                  <a:sym typeface="Courier New"/>
                </a:rPr>
                <a:t>.</a:t>
              </a:r>
              <a:r>
                <a:rPr lang="en" sz="1400">
                  <a:latin typeface="Courier New"/>
                  <a:ea typeface="Courier New"/>
                  <a:cs typeface="Courier New"/>
                  <a:sym typeface="Courier New"/>
                </a:rPr>
                <a:t>com</a:t>
              </a:r>
              <a:endParaRPr sz="1400">
                <a:latin typeface="Calibri"/>
                <a:ea typeface="Calibri"/>
                <a:cs typeface="Calibri"/>
                <a:sym typeface="Calibri"/>
              </a:endParaRPr>
            </a:p>
          </p:txBody>
        </p:sp>
        <p:sp>
          <p:nvSpPr>
            <p:cNvPr id="27" name="Google Shape;77;p16">
              <a:extLst>
                <a:ext uri="{FF2B5EF4-FFF2-40B4-BE49-F238E27FC236}">
                  <a16:creationId xmlns:a16="http://schemas.microsoft.com/office/drawing/2014/main" id="{65A5D78A-EFC7-92E5-DC76-559F431795F8}"/>
                </a:ext>
              </a:extLst>
            </p:cNvPr>
            <p:cNvSpPr txBox="1"/>
            <p:nvPr/>
          </p:nvSpPr>
          <p:spPr>
            <a:xfrm>
              <a:off x="8975896" y="6119906"/>
              <a:ext cx="1292259" cy="492561"/>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200">
                  <a:latin typeface="Courier New"/>
                  <a:ea typeface="Courier New"/>
                  <a:cs typeface="Courier New"/>
                  <a:sym typeface="Courier New"/>
                </a:rPr>
                <a:t>google.com</a:t>
              </a:r>
              <a:endParaRPr sz="1200">
                <a:latin typeface="Calibri"/>
                <a:ea typeface="Calibri"/>
                <a:cs typeface="Calibri"/>
                <a:sym typeface="Calibri"/>
              </a:endParaRPr>
            </a:p>
          </p:txBody>
        </p:sp>
        <p:sp>
          <p:nvSpPr>
            <p:cNvPr id="28" name="Google Shape;78;p16">
              <a:extLst>
                <a:ext uri="{FF2B5EF4-FFF2-40B4-BE49-F238E27FC236}">
                  <a16:creationId xmlns:a16="http://schemas.microsoft.com/office/drawing/2014/main" id="{CB6FFA63-1A3E-E0A8-D98B-FFFBDD460E4F}"/>
                </a:ext>
              </a:extLst>
            </p:cNvPr>
            <p:cNvSpPr txBox="1"/>
            <p:nvPr/>
          </p:nvSpPr>
          <p:spPr>
            <a:xfrm>
              <a:off x="7527449" y="6119906"/>
              <a:ext cx="1292259" cy="492561"/>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200">
                  <a:latin typeface="Courier New"/>
                  <a:ea typeface="Courier New"/>
                  <a:cs typeface="Courier New"/>
                  <a:sym typeface="Courier New"/>
                </a:rPr>
                <a:t>piazza.com</a:t>
              </a:r>
              <a:endParaRPr sz="1200">
                <a:latin typeface="Calibri"/>
                <a:ea typeface="Calibri"/>
                <a:cs typeface="Calibri"/>
                <a:sym typeface="Calibri"/>
              </a:endParaRPr>
            </a:p>
          </p:txBody>
        </p:sp>
        <p:sp>
          <p:nvSpPr>
            <p:cNvPr id="29" name="Google Shape;79;p16">
              <a:extLst>
                <a:ext uri="{FF2B5EF4-FFF2-40B4-BE49-F238E27FC236}">
                  <a16:creationId xmlns:a16="http://schemas.microsoft.com/office/drawing/2014/main" id="{533319BD-C861-2E1B-FB13-AD58E36BAAEA}"/>
                </a:ext>
              </a:extLst>
            </p:cNvPr>
            <p:cNvSpPr txBox="1"/>
            <p:nvPr/>
          </p:nvSpPr>
          <p:spPr>
            <a:xfrm>
              <a:off x="6206475" y="6119906"/>
              <a:ext cx="1164674" cy="492561"/>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latin typeface="Courier New"/>
                  <a:ea typeface="Courier New"/>
                  <a:cs typeface="Courier New"/>
                  <a:sym typeface="Courier New"/>
                </a:rPr>
                <a:t>cs101.org</a:t>
              </a:r>
              <a:endParaRPr sz="1200" dirty="0">
                <a:latin typeface="Calibri"/>
                <a:ea typeface="Calibri"/>
                <a:cs typeface="Calibri"/>
                <a:sym typeface="Calibri"/>
              </a:endParaRPr>
            </a:p>
          </p:txBody>
        </p:sp>
        <p:sp>
          <p:nvSpPr>
            <p:cNvPr id="30" name="Google Shape;80;p16">
              <a:extLst>
                <a:ext uri="{FF2B5EF4-FFF2-40B4-BE49-F238E27FC236}">
                  <a16:creationId xmlns:a16="http://schemas.microsoft.com/office/drawing/2014/main" id="{5602F96F-2B09-AF49-7DEC-3E655519F3F3}"/>
                </a:ext>
              </a:extLst>
            </p:cNvPr>
            <p:cNvSpPr txBox="1"/>
            <p:nvPr/>
          </p:nvSpPr>
          <p:spPr>
            <a:xfrm>
              <a:off x="5091780" y="6119906"/>
              <a:ext cx="958395" cy="492561"/>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latin typeface="Courier New"/>
                  <a:ea typeface="Courier New"/>
                  <a:cs typeface="Courier New"/>
                  <a:sym typeface="Courier New"/>
                </a:rPr>
                <a:t>mit.edu</a:t>
              </a:r>
              <a:endParaRPr sz="1200" dirty="0">
                <a:latin typeface="Calibri"/>
                <a:ea typeface="Calibri"/>
                <a:cs typeface="Calibri"/>
                <a:sym typeface="Calibri"/>
              </a:endParaRPr>
            </a:p>
          </p:txBody>
        </p:sp>
        <p:sp>
          <p:nvSpPr>
            <p:cNvPr id="31" name="Google Shape;81;p16">
              <a:extLst>
                <a:ext uri="{FF2B5EF4-FFF2-40B4-BE49-F238E27FC236}">
                  <a16:creationId xmlns:a16="http://schemas.microsoft.com/office/drawing/2014/main" id="{AEA24C38-2C80-3686-E809-3CF401C7FE91}"/>
                </a:ext>
              </a:extLst>
            </p:cNvPr>
            <p:cNvSpPr txBox="1"/>
            <p:nvPr/>
          </p:nvSpPr>
          <p:spPr>
            <a:xfrm>
              <a:off x="3488484" y="6119906"/>
              <a:ext cx="1446968" cy="492561"/>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US" altLang="zh-CN" sz="1200" dirty="0">
                  <a:latin typeface="Courier New"/>
                  <a:ea typeface="Courier New"/>
                  <a:cs typeface="Courier New"/>
                  <a:sym typeface="Courier New"/>
                </a:rPr>
                <a:t>msoe</a:t>
              </a:r>
              <a:r>
                <a:rPr lang="en" sz="1200" dirty="0">
                  <a:latin typeface="Courier New"/>
                  <a:ea typeface="Courier New"/>
                  <a:cs typeface="Courier New"/>
                  <a:sym typeface="Courier New"/>
                </a:rPr>
                <a:t>.edu</a:t>
              </a:r>
              <a:endParaRPr sz="1200" dirty="0">
                <a:latin typeface="Calibri"/>
                <a:ea typeface="Calibri"/>
                <a:cs typeface="Calibri"/>
                <a:sym typeface="Calibri"/>
              </a:endParaRPr>
            </a:p>
          </p:txBody>
        </p:sp>
        <p:cxnSp>
          <p:nvCxnSpPr>
            <p:cNvPr id="32" name="Google Shape;82;p16">
              <a:extLst>
                <a:ext uri="{FF2B5EF4-FFF2-40B4-BE49-F238E27FC236}">
                  <a16:creationId xmlns:a16="http://schemas.microsoft.com/office/drawing/2014/main" id="{76E132DA-67B1-D0DF-50C9-9471540FAB91}"/>
                </a:ext>
              </a:extLst>
            </p:cNvPr>
            <p:cNvCxnSpPr>
              <a:stCxn id="23" idx="2"/>
              <a:endCxn id="24" idx="0"/>
            </p:cNvCxnSpPr>
            <p:nvPr/>
          </p:nvCxnSpPr>
          <p:spPr>
            <a:xfrm flipH="1">
              <a:off x="4962967" y="4992059"/>
              <a:ext cx="1820012" cy="317612"/>
            </a:xfrm>
            <a:prstGeom prst="straightConnector1">
              <a:avLst/>
            </a:prstGeom>
            <a:noFill/>
            <a:ln w="9525" cap="flat" cmpd="sng">
              <a:solidFill>
                <a:srgbClr val="000000"/>
              </a:solidFill>
              <a:prstDash val="solid"/>
              <a:round/>
              <a:headEnd type="none" w="med" len="med"/>
              <a:tailEnd type="none" w="med" len="med"/>
            </a:ln>
          </p:spPr>
        </p:cxnSp>
        <p:cxnSp>
          <p:nvCxnSpPr>
            <p:cNvPr id="33" name="Google Shape;83;p16">
              <a:extLst>
                <a:ext uri="{FF2B5EF4-FFF2-40B4-BE49-F238E27FC236}">
                  <a16:creationId xmlns:a16="http://schemas.microsoft.com/office/drawing/2014/main" id="{78DB9E7C-3534-CE12-AA45-7E35C6F6E3CC}"/>
                </a:ext>
              </a:extLst>
            </p:cNvPr>
            <p:cNvCxnSpPr>
              <a:stCxn id="23" idx="2"/>
              <a:endCxn id="25" idx="0"/>
            </p:cNvCxnSpPr>
            <p:nvPr/>
          </p:nvCxnSpPr>
          <p:spPr>
            <a:xfrm>
              <a:off x="6782980" y="4992059"/>
              <a:ext cx="0" cy="317612"/>
            </a:xfrm>
            <a:prstGeom prst="straightConnector1">
              <a:avLst/>
            </a:prstGeom>
            <a:noFill/>
            <a:ln w="9525" cap="flat" cmpd="sng">
              <a:solidFill>
                <a:srgbClr val="000000"/>
              </a:solidFill>
              <a:prstDash val="solid"/>
              <a:round/>
              <a:headEnd type="none" w="med" len="med"/>
              <a:tailEnd type="none" w="med" len="med"/>
            </a:ln>
          </p:spPr>
        </p:cxnSp>
        <p:cxnSp>
          <p:nvCxnSpPr>
            <p:cNvPr id="34" name="Google Shape;84;p16">
              <a:extLst>
                <a:ext uri="{FF2B5EF4-FFF2-40B4-BE49-F238E27FC236}">
                  <a16:creationId xmlns:a16="http://schemas.microsoft.com/office/drawing/2014/main" id="{E295B1C8-92DA-C465-F9DC-F283B54A6D3B}"/>
                </a:ext>
              </a:extLst>
            </p:cNvPr>
            <p:cNvCxnSpPr>
              <a:stCxn id="23" idx="2"/>
              <a:endCxn id="26" idx="0"/>
            </p:cNvCxnSpPr>
            <p:nvPr/>
          </p:nvCxnSpPr>
          <p:spPr>
            <a:xfrm>
              <a:off x="6782980" y="4992059"/>
              <a:ext cx="1820012" cy="317612"/>
            </a:xfrm>
            <a:prstGeom prst="straightConnector1">
              <a:avLst/>
            </a:prstGeom>
            <a:noFill/>
            <a:ln w="9525" cap="flat" cmpd="sng">
              <a:solidFill>
                <a:srgbClr val="000000"/>
              </a:solidFill>
              <a:prstDash val="solid"/>
              <a:round/>
              <a:headEnd type="none" w="med" len="med"/>
              <a:tailEnd type="none" w="med" len="med"/>
            </a:ln>
          </p:spPr>
        </p:cxnSp>
        <p:cxnSp>
          <p:nvCxnSpPr>
            <p:cNvPr id="35" name="Google Shape;85;p16">
              <a:extLst>
                <a:ext uri="{FF2B5EF4-FFF2-40B4-BE49-F238E27FC236}">
                  <a16:creationId xmlns:a16="http://schemas.microsoft.com/office/drawing/2014/main" id="{51D7B197-CCBC-A76C-3B50-CC9CEC778C24}"/>
                </a:ext>
              </a:extLst>
            </p:cNvPr>
            <p:cNvCxnSpPr>
              <a:stCxn id="24" idx="2"/>
              <a:endCxn id="31" idx="0"/>
            </p:cNvCxnSpPr>
            <p:nvPr/>
          </p:nvCxnSpPr>
          <p:spPr>
            <a:xfrm flipH="1">
              <a:off x="4211996" y="5802265"/>
              <a:ext cx="751111" cy="317612"/>
            </a:xfrm>
            <a:prstGeom prst="straightConnector1">
              <a:avLst/>
            </a:prstGeom>
            <a:noFill/>
            <a:ln w="9525" cap="flat" cmpd="sng">
              <a:solidFill>
                <a:srgbClr val="000000"/>
              </a:solidFill>
              <a:prstDash val="solid"/>
              <a:round/>
              <a:headEnd type="none" w="med" len="med"/>
              <a:tailEnd type="none" w="med" len="med"/>
            </a:ln>
          </p:spPr>
        </p:cxnSp>
        <p:cxnSp>
          <p:nvCxnSpPr>
            <p:cNvPr id="36" name="Google Shape;86;p16">
              <a:extLst>
                <a:ext uri="{FF2B5EF4-FFF2-40B4-BE49-F238E27FC236}">
                  <a16:creationId xmlns:a16="http://schemas.microsoft.com/office/drawing/2014/main" id="{8C2E5B4C-857F-D773-8B77-743913B478D0}"/>
                </a:ext>
              </a:extLst>
            </p:cNvPr>
            <p:cNvCxnSpPr>
              <a:stCxn id="24" idx="2"/>
              <a:endCxn id="30" idx="0"/>
            </p:cNvCxnSpPr>
            <p:nvPr/>
          </p:nvCxnSpPr>
          <p:spPr>
            <a:xfrm>
              <a:off x="4963107" y="5802265"/>
              <a:ext cx="607787" cy="317612"/>
            </a:xfrm>
            <a:prstGeom prst="straightConnector1">
              <a:avLst/>
            </a:prstGeom>
            <a:noFill/>
            <a:ln w="9525" cap="flat" cmpd="sng">
              <a:solidFill>
                <a:srgbClr val="000000"/>
              </a:solidFill>
              <a:prstDash val="solid"/>
              <a:round/>
              <a:headEnd type="none" w="med" len="med"/>
              <a:tailEnd type="none" w="med" len="med"/>
            </a:ln>
          </p:spPr>
        </p:cxnSp>
        <p:cxnSp>
          <p:nvCxnSpPr>
            <p:cNvPr id="37" name="Google Shape;87;p16">
              <a:extLst>
                <a:ext uri="{FF2B5EF4-FFF2-40B4-BE49-F238E27FC236}">
                  <a16:creationId xmlns:a16="http://schemas.microsoft.com/office/drawing/2014/main" id="{BB43C70A-6AF3-C0C3-6120-D35F8BC3284D}"/>
                </a:ext>
              </a:extLst>
            </p:cNvPr>
            <p:cNvCxnSpPr>
              <a:stCxn id="25" idx="2"/>
              <a:endCxn id="29" idx="0"/>
            </p:cNvCxnSpPr>
            <p:nvPr/>
          </p:nvCxnSpPr>
          <p:spPr>
            <a:xfrm>
              <a:off x="6782980" y="5802265"/>
              <a:ext cx="5693" cy="317612"/>
            </a:xfrm>
            <a:prstGeom prst="straightConnector1">
              <a:avLst/>
            </a:prstGeom>
            <a:noFill/>
            <a:ln w="9525" cap="flat" cmpd="sng">
              <a:solidFill>
                <a:srgbClr val="000000"/>
              </a:solidFill>
              <a:prstDash val="solid"/>
              <a:round/>
              <a:headEnd type="none" w="med" len="med"/>
              <a:tailEnd type="none" w="med" len="med"/>
            </a:ln>
          </p:spPr>
        </p:cxnSp>
        <p:cxnSp>
          <p:nvCxnSpPr>
            <p:cNvPr id="38" name="Google Shape;88;p16">
              <a:extLst>
                <a:ext uri="{FF2B5EF4-FFF2-40B4-BE49-F238E27FC236}">
                  <a16:creationId xmlns:a16="http://schemas.microsoft.com/office/drawing/2014/main" id="{1CACF8A8-B629-27A7-DBE4-EEBE006A4D6D}"/>
                </a:ext>
              </a:extLst>
            </p:cNvPr>
            <p:cNvCxnSpPr>
              <a:stCxn id="26" idx="2"/>
              <a:endCxn id="28" idx="0"/>
            </p:cNvCxnSpPr>
            <p:nvPr/>
          </p:nvCxnSpPr>
          <p:spPr>
            <a:xfrm flipH="1">
              <a:off x="8173550" y="5802265"/>
              <a:ext cx="429302" cy="317612"/>
            </a:xfrm>
            <a:prstGeom prst="straightConnector1">
              <a:avLst/>
            </a:prstGeom>
            <a:noFill/>
            <a:ln w="9525" cap="flat" cmpd="sng">
              <a:solidFill>
                <a:srgbClr val="000000"/>
              </a:solidFill>
              <a:prstDash val="solid"/>
              <a:round/>
              <a:headEnd type="none" w="med" len="med"/>
              <a:tailEnd type="none" w="med" len="med"/>
            </a:ln>
          </p:spPr>
        </p:cxnSp>
        <p:cxnSp>
          <p:nvCxnSpPr>
            <p:cNvPr id="39" name="Google Shape;89;p16">
              <a:extLst>
                <a:ext uri="{FF2B5EF4-FFF2-40B4-BE49-F238E27FC236}">
                  <a16:creationId xmlns:a16="http://schemas.microsoft.com/office/drawing/2014/main" id="{12133E81-2E17-3F0F-208F-8A12567B6037}"/>
                </a:ext>
              </a:extLst>
            </p:cNvPr>
            <p:cNvCxnSpPr>
              <a:stCxn id="26" idx="2"/>
              <a:endCxn id="27" idx="0"/>
            </p:cNvCxnSpPr>
            <p:nvPr/>
          </p:nvCxnSpPr>
          <p:spPr>
            <a:xfrm>
              <a:off x="8602852" y="5802265"/>
              <a:ext cx="1019341" cy="317612"/>
            </a:xfrm>
            <a:prstGeom prst="straightConnector1">
              <a:avLst/>
            </a:prstGeom>
            <a:noFill/>
            <a:ln w="9525" cap="flat" cmpd="sng">
              <a:solidFill>
                <a:srgbClr val="000000"/>
              </a:solidFill>
              <a:prstDash val="solid"/>
              <a:round/>
              <a:headEnd type="none" w="med" len="med"/>
              <a:tailEnd type="none" w="med" len="med"/>
            </a:ln>
          </p:spPr>
        </p:cxnSp>
        <p:sp>
          <p:nvSpPr>
            <p:cNvPr id="40" name="Google Shape;168;p24">
              <a:extLst>
                <a:ext uri="{FF2B5EF4-FFF2-40B4-BE49-F238E27FC236}">
                  <a16:creationId xmlns:a16="http://schemas.microsoft.com/office/drawing/2014/main" id="{24B9050F-EC91-BAD2-5ED5-7A415B25A0D2}"/>
                </a:ext>
              </a:extLst>
            </p:cNvPr>
            <p:cNvSpPr txBox="1"/>
            <p:nvPr/>
          </p:nvSpPr>
          <p:spPr>
            <a:xfrm>
              <a:off x="1730951" y="3679585"/>
              <a:ext cx="4205024" cy="1007589"/>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dirty="0"/>
                <a:t>Each box is a name server. The label represents which queries the name server is responsible for answering</a:t>
              </a:r>
              <a:endParaRPr dirty="0"/>
            </a:p>
          </p:txBody>
        </p:sp>
        <p:cxnSp>
          <p:nvCxnSpPr>
            <p:cNvPr id="42" name="Google Shape;188;p24">
              <a:extLst>
                <a:ext uri="{FF2B5EF4-FFF2-40B4-BE49-F238E27FC236}">
                  <a16:creationId xmlns:a16="http://schemas.microsoft.com/office/drawing/2014/main" id="{B9D510B4-EE86-B649-9031-753A196967E2}"/>
                </a:ext>
              </a:extLst>
            </p:cNvPr>
            <p:cNvCxnSpPr>
              <a:cxnSpLocks/>
              <a:stCxn id="43" idx="3"/>
              <a:endCxn id="24" idx="1"/>
            </p:cNvCxnSpPr>
            <p:nvPr/>
          </p:nvCxnSpPr>
          <p:spPr>
            <a:xfrm>
              <a:off x="3800969" y="5392093"/>
              <a:ext cx="789094" cy="163892"/>
            </a:xfrm>
            <a:prstGeom prst="straightConnector1">
              <a:avLst/>
            </a:prstGeom>
            <a:noFill/>
            <a:ln w="19050" cap="flat" cmpd="sng">
              <a:solidFill>
                <a:srgbClr val="E69138"/>
              </a:solidFill>
              <a:prstDash val="solid"/>
              <a:round/>
              <a:headEnd type="none" w="med" len="med"/>
              <a:tailEnd type="triangle" w="med" len="med"/>
            </a:ln>
          </p:spPr>
        </p:cxnSp>
        <p:sp>
          <p:nvSpPr>
            <p:cNvPr id="43" name="Google Shape;189;p24">
              <a:extLst>
                <a:ext uri="{FF2B5EF4-FFF2-40B4-BE49-F238E27FC236}">
                  <a16:creationId xmlns:a16="http://schemas.microsoft.com/office/drawing/2014/main" id="{4448A2E6-13A3-4694-884C-229CD6577E2D}"/>
                </a:ext>
              </a:extLst>
            </p:cNvPr>
            <p:cNvSpPr txBox="1"/>
            <p:nvPr/>
          </p:nvSpPr>
          <p:spPr>
            <a:xfrm>
              <a:off x="202133" y="4745777"/>
              <a:ext cx="3598836" cy="1292631"/>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dirty="0">
                  <a:latin typeface="+mj-lt"/>
                </a:rPr>
                <a:t>For example, this name server is responsible for </a:t>
              </a:r>
              <a:r>
                <a:rPr lang="en" b="1" dirty="0">
                  <a:latin typeface="+mj-lt"/>
                  <a:ea typeface="Courier New"/>
                  <a:cs typeface="Courier New"/>
                  <a:sym typeface="Courier New"/>
                </a:rPr>
                <a:t>.edu</a:t>
              </a:r>
              <a:r>
                <a:rPr lang="en" dirty="0">
                  <a:latin typeface="+mj-lt"/>
                </a:rPr>
                <a:t> queries like </a:t>
              </a:r>
              <a:r>
                <a:rPr lang="en" b="1" dirty="0">
                  <a:latin typeface="+mj-lt"/>
                  <a:ea typeface="Courier New"/>
                  <a:cs typeface="Courier New"/>
                  <a:sym typeface="Courier New"/>
                </a:rPr>
                <a:t>msoe.edu</a:t>
              </a:r>
              <a:r>
                <a:rPr lang="en" dirty="0">
                  <a:latin typeface="+mj-lt"/>
                </a:rPr>
                <a:t>, but not a query like </a:t>
              </a:r>
              <a:r>
                <a:rPr lang="en" b="1" dirty="0">
                  <a:latin typeface="+mj-lt"/>
                  <a:ea typeface="Courier New"/>
                  <a:cs typeface="Courier New"/>
                  <a:sym typeface="Courier New"/>
                </a:rPr>
                <a:t>google.com</a:t>
              </a:r>
              <a:endParaRPr dirty="0">
                <a:latin typeface="+mj-lt"/>
              </a:endParaRPr>
            </a:p>
          </p:txBody>
        </p:sp>
        <p:sp>
          <p:nvSpPr>
            <p:cNvPr id="10" name="TextBox 9">
              <a:extLst>
                <a:ext uri="{FF2B5EF4-FFF2-40B4-BE49-F238E27FC236}">
                  <a16:creationId xmlns:a16="http://schemas.microsoft.com/office/drawing/2014/main" id="{818672F0-72D1-DA6B-E314-440564D425E8}"/>
                </a:ext>
              </a:extLst>
            </p:cNvPr>
            <p:cNvSpPr txBox="1"/>
            <p:nvPr/>
          </p:nvSpPr>
          <p:spPr>
            <a:xfrm>
              <a:off x="7841237" y="4514944"/>
              <a:ext cx="77149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Root</a:t>
              </a:r>
            </a:p>
          </p:txBody>
        </p:sp>
        <p:sp>
          <p:nvSpPr>
            <p:cNvPr id="11" name="TextBox 10">
              <a:extLst>
                <a:ext uri="{FF2B5EF4-FFF2-40B4-BE49-F238E27FC236}">
                  <a16:creationId xmlns:a16="http://schemas.microsoft.com/office/drawing/2014/main" id="{64BF2818-CBBD-EC5F-B7C2-864D1495CC85}"/>
                </a:ext>
              </a:extLst>
            </p:cNvPr>
            <p:cNvSpPr txBox="1"/>
            <p:nvPr/>
          </p:nvSpPr>
          <p:spPr>
            <a:xfrm>
              <a:off x="9226729" y="5325151"/>
              <a:ext cx="238898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Top Level Domain</a:t>
              </a:r>
            </a:p>
          </p:txBody>
        </p:sp>
        <p:sp>
          <p:nvSpPr>
            <p:cNvPr id="12" name="TextBox 11">
              <a:extLst>
                <a:ext uri="{FF2B5EF4-FFF2-40B4-BE49-F238E27FC236}">
                  <a16:creationId xmlns:a16="http://schemas.microsoft.com/office/drawing/2014/main" id="{2A41FBC7-6B75-FBB9-1C29-CBCC9FA8A1DF}"/>
                </a:ext>
              </a:extLst>
            </p:cNvPr>
            <p:cNvSpPr txBox="1"/>
            <p:nvPr/>
          </p:nvSpPr>
          <p:spPr>
            <a:xfrm>
              <a:off x="10287660" y="6135353"/>
              <a:ext cx="183569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Authoritative</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18"/>
        <p:cNvGrpSpPr/>
        <p:nvPr/>
      </p:nvGrpSpPr>
      <p:grpSpPr>
        <a:xfrm>
          <a:off x="0" y="0"/>
          <a:ext cx="0" cy="0"/>
          <a:chOff x="0" y="0"/>
          <a:chExt cx="0" cy="0"/>
        </a:xfrm>
      </p:grpSpPr>
      <p:sp>
        <p:nvSpPr>
          <p:cNvPr id="1819" name="Google Shape;1819;p140"/>
          <p:cNvSpPr txBox="1">
            <a:spLocks noGrp="1"/>
          </p:cNvSpPr>
          <p:nvPr>
            <p:ph type="title"/>
          </p:nvPr>
        </p:nvSpPr>
        <p:spPr>
          <a:xfrm>
            <a:off x="415600" y="37147"/>
            <a:ext cx="11360800" cy="763600"/>
          </a:xfrm>
          <a:prstGeom prst="rect">
            <a:avLst/>
          </a:prstGeom>
        </p:spPr>
        <p:txBody>
          <a:bodyPr spcFirstLastPara="1" wrap="square" lIns="121900" tIns="121900" rIns="121900" bIns="121900" anchor="t" anchorCtr="0">
            <a:noAutofit/>
          </a:bodyPr>
          <a:lstStyle/>
          <a:p>
            <a:r>
              <a:rPr lang="en" sz="4400" dirty="0">
                <a:latin typeface="Aptos" panose="020B0004020202020204" pitchFamily="34" charset="0"/>
              </a:rPr>
              <a:t>Steps of a DNS Lookup</a:t>
            </a:r>
            <a:endParaRPr sz="4400" dirty="0">
              <a:latin typeface="Aptos" panose="020B0004020202020204" pitchFamily="34" charset="0"/>
            </a:endParaRPr>
          </a:p>
        </p:txBody>
      </p:sp>
      <p:grpSp>
        <p:nvGrpSpPr>
          <p:cNvPr id="17" name="Google Shape;419;p33">
            <a:extLst>
              <a:ext uri="{FF2B5EF4-FFF2-40B4-BE49-F238E27FC236}">
                <a16:creationId xmlns:a16="http://schemas.microsoft.com/office/drawing/2014/main" id="{196CC3D7-D237-6046-8DA9-4A16AC7D583A}"/>
              </a:ext>
            </a:extLst>
          </p:cNvPr>
          <p:cNvGrpSpPr/>
          <p:nvPr/>
        </p:nvGrpSpPr>
        <p:grpSpPr>
          <a:xfrm>
            <a:off x="2297044" y="2052622"/>
            <a:ext cx="5505700" cy="1245175"/>
            <a:chOff x="700325" y="1229300"/>
            <a:chExt cx="5505700" cy="1245175"/>
          </a:xfrm>
        </p:grpSpPr>
        <p:sp>
          <p:nvSpPr>
            <p:cNvPr id="18" name="Google Shape;420;p33">
              <a:extLst>
                <a:ext uri="{FF2B5EF4-FFF2-40B4-BE49-F238E27FC236}">
                  <a16:creationId xmlns:a16="http://schemas.microsoft.com/office/drawing/2014/main" id="{C1FA4967-82AA-7D7E-FA8E-ECF82554EBAA}"/>
                </a:ext>
              </a:extLst>
            </p:cNvPr>
            <p:cNvSpPr/>
            <p:nvPr/>
          </p:nvSpPr>
          <p:spPr>
            <a:xfrm>
              <a:off x="700325" y="1595175"/>
              <a:ext cx="2723427" cy="879300"/>
            </a:xfrm>
            <a:custGeom>
              <a:avLst/>
              <a:gdLst/>
              <a:ahLst/>
              <a:cxnLst/>
              <a:rect l="l" t="t" r="r" b="b"/>
              <a:pathLst>
                <a:path w="75635" h="35172" extrusionOk="0">
                  <a:moveTo>
                    <a:pt x="75635" y="0"/>
                  </a:moveTo>
                  <a:lnTo>
                    <a:pt x="75635" y="35172"/>
                  </a:lnTo>
                  <a:lnTo>
                    <a:pt x="0" y="35172"/>
                  </a:lnTo>
                </a:path>
              </a:pathLst>
            </a:custGeom>
            <a:noFill/>
            <a:ln w="19050" cap="flat" cmpd="sng">
              <a:solidFill>
                <a:srgbClr val="E69138"/>
              </a:solidFill>
              <a:prstDash val="solid"/>
              <a:round/>
              <a:headEnd type="none" w="med" len="med"/>
              <a:tailEnd type="triangle" w="med" len="med"/>
            </a:ln>
          </p:spPr>
          <p:txBody>
            <a:bodyPr/>
            <a:lstStyle/>
            <a:p>
              <a:endParaRPr lang="en-US"/>
            </a:p>
          </p:txBody>
        </p:sp>
        <p:sp>
          <p:nvSpPr>
            <p:cNvPr id="19" name="Google Shape;421;p33">
              <a:extLst>
                <a:ext uri="{FF2B5EF4-FFF2-40B4-BE49-F238E27FC236}">
                  <a16:creationId xmlns:a16="http://schemas.microsoft.com/office/drawing/2014/main" id="{21831D91-2267-8A1E-2434-F892CB827DAF}"/>
                </a:ext>
              </a:extLst>
            </p:cNvPr>
            <p:cNvSpPr txBox="1"/>
            <p:nvPr/>
          </p:nvSpPr>
          <p:spPr>
            <a:xfrm>
              <a:off x="2548425" y="1229300"/>
              <a:ext cx="3657600" cy="822960"/>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t>The stub resolver sends the query to the recursive resolver.</a:t>
              </a:r>
              <a:endParaRPr/>
            </a:p>
          </p:txBody>
        </p:sp>
      </p:grpSp>
      <p:sp>
        <p:nvSpPr>
          <p:cNvPr id="30" name="Google Shape;232;p26">
            <a:extLst>
              <a:ext uri="{FF2B5EF4-FFF2-40B4-BE49-F238E27FC236}">
                <a16:creationId xmlns:a16="http://schemas.microsoft.com/office/drawing/2014/main" id="{7E254951-8222-2FBA-ED8B-CE28236EDA08}"/>
              </a:ext>
            </a:extLst>
          </p:cNvPr>
          <p:cNvSpPr txBox="1"/>
          <p:nvPr/>
        </p:nvSpPr>
        <p:spPr>
          <a:xfrm>
            <a:off x="1395013" y="1411147"/>
            <a:ext cx="2009700" cy="554100"/>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t>“What is the IP address of </a:t>
            </a:r>
            <a:r>
              <a:rPr lang="en" sz="1200" b="1" dirty="0">
                <a:latin typeface="Courier New"/>
                <a:ea typeface="Courier New"/>
                <a:cs typeface="Courier New"/>
                <a:sym typeface="Courier New"/>
              </a:rPr>
              <a:t>dsac.msoe.edu</a:t>
            </a:r>
            <a:r>
              <a:rPr lang="en" sz="1200" dirty="0"/>
              <a:t>?”</a:t>
            </a:r>
            <a:endParaRPr sz="1200" dirty="0"/>
          </a:p>
        </p:txBody>
      </p:sp>
      <p:sp>
        <p:nvSpPr>
          <p:cNvPr id="31" name="Google Shape;418;p33">
            <a:extLst>
              <a:ext uri="{FF2B5EF4-FFF2-40B4-BE49-F238E27FC236}">
                <a16:creationId xmlns:a16="http://schemas.microsoft.com/office/drawing/2014/main" id="{7A391848-266A-23E5-17CB-9A3FEDD818EA}"/>
              </a:ext>
            </a:extLst>
          </p:cNvPr>
          <p:cNvSpPr txBox="1"/>
          <p:nvPr/>
        </p:nvSpPr>
        <p:spPr>
          <a:xfrm>
            <a:off x="1691203" y="2020910"/>
            <a:ext cx="1417320" cy="6543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Stub Resolver</a:t>
            </a:r>
            <a:endParaRPr>
              <a:latin typeface="Calibri"/>
              <a:ea typeface="Calibri"/>
              <a:cs typeface="Calibri"/>
              <a:sym typeface="Calibri"/>
            </a:endParaRPr>
          </a:p>
        </p:txBody>
      </p:sp>
      <p:grpSp>
        <p:nvGrpSpPr>
          <p:cNvPr id="32" name="Google Shape;422;p33">
            <a:extLst>
              <a:ext uri="{FF2B5EF4-FFF2-40B4-BE49-F238E27FC236}">
                <a16:creationId xmlns:a16="http://schemas.microsoft.com/office/drawing/2014/main" id="{0D6048A1-9AEF-93A3-A080-EDACB03E674F}"/>
              </a:ext>
            </a:extLst>
          </p:cNvPr>
          <p:cNvGrpSpPr/>
          <p:nvPr/>
        </p:nvGrpSpPr>
        <p:grpSpPr>
          <a:xfrm>
            <a:off x="1753463" y="2719788"/>
            <a:ext cx="410100" cy="762900"/>
            <a:chOff x="258935" y="2049228"/>
            <a:chExt cx="410100" cy="762900"/>
          </a:xfrm>
        </p:grpSpPr>
        <p:sp>
          <p:nvSpPr>
            <p:cNvPr id="33" name="Google Shape;423;p33">
              <a:extLst>
                <a:ext uri="{FF2B5EF4-FFF2-40B4-BE49-F238E27FC236}">
                  <a16:creationId xmlns:a16="http://schemas.microsoft.com/office/drawing/2014/main" id="{F24F79A3-6679-9FC4-12C9-C36B8348C0A5}"/>
                </a:ext>
              </a:extLst>
            </p:cNvPr>
            <p:cNvSpPr txBox="1"/>
            <p:nvPr/>
          </p:nvSpPr>
          <p:spPr>
            <a:xfrm>
              <a:off x="258935" y="2174852"/>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1</a:t>
              </a:r>
              <a:endParaRPr>
                <a:latin typeface="Calibri"/>
                <a:ea typeface="Calibri"/>
                <a:cs typeface="Calibri"/>
                <a:sym typeface="Calibri"/>
              </a:endParaRPr>
            </a:p>
          </p:txBody>
        </p:sp>
        <p:cxnSp>
          <p:nvCxnSpPr>
            <p:cNvPr id="34" name="Google Shape;424;p33">
              <a:extLst>
                <a:ext uri="{FF2B5EF4-FFF2-40B4-BE49-F238E27FC236}">
                  <a16:creationId xmlns:a16="http://schemas.microsoft.com/office/drawing/2014/main" id="{C05194CF-3F00-E048-2929-2FC122F2F7EC}"/>
                </a:ext>
              </a:extLst>
            </p:cNvPr>
            <p:cNvCxnSpPr/>
            <p:nvPr/>
          </p:nvCxnSpPr>
          <p:spPr>
            <a:xfrm rot="10800000">
              <a:off x="530725" y="2049228"/>
              <a:ext cx="0" cy="762900"/>
            </a:xfrm>
            <a:prstGeom prst="straightConnector1">
              <a:avLst/>
            </a:prstGeom>
            <a:noFill/>
            <a:ln w="19050" cap="flat" cmpd="sng">
              <a:solidFill>
                <a:srgbClr val="000000"/>
              </a:solidFill>
              <a:prstDash val="solid"/>
              <a:round/>
              <a:headEnd type="triangle" w="med" len="med"/>
              <a:tailEnd type="none" w="med" len="med"/>
            </a:ln>
          </p:spPr>
        </p:cxnSp>
      </p:grpSp>
      <p:sp>
        <p:nvSpPr>
          <p:cNvPr id="35" name="Google Shape;425;p33">
            <a:extLst>
              <a:ext uri="{FF2B5EF4-FFF2-40B4-BE49-F238E27FC236}">
                <a16:creationId xmlns:a16="http://schemas.microsoft.com/office/drawing/2014/main" id="{70678FE6-AA85-7519-60CB-503175386417}"/>
              </a:ext>
            </a:extLst>
          </p:cNvPr>
          <p:cNvSpPr txBox="1"/>
          <p:nvPr/>
        </p:nvSpPr>
        <p:spPr>
          <a:xfrm>
            <a:off x="1691203" y="3527260"/>
            <a:ext cx="1417320" cy="15399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sp>
        <p:nvSpPr>
          <p:cNvPr id="36" name="Google Shape;407;p33">
            <a:extLst>
              <a:ext uri="{FF2B5EF4-FFF2-40B4-BE49-F238E27FC236}">
                <a16:creationId xmlns:a16="http://schemas.microsoft.com/office/drawing/2014/main" id="{4BBBEC57-D77A-418C-8EB9-515106A068DC}"/>
              </a:ext>
            </a:extLst>
          </p:cNvPr>
          <p:cNvSpPr txBox="1"/>
          <p:nvPr/>
        </p:nvSpPr>
        <p:spPr>
          <a:xfrm>
            <a:off x="9030706" y="2495072"/>
            <a:ext cx="1280160" cy="457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.(root)</a:t>
            </a:r>
            <a:endParaRPr>
              <a:latin typeface="Courier New"/>
              <a:ea typeface="Courier New"/>
              <a:cs typeface="Courier New"/>
              <a:sym typeface="Courier New"/>
            </a:endParaRPr>
          </a:p>
        </p:txBody>
      </p:sp>
      <p:sp>
        <p:nvSpPr>
          <p:cNvPr id="37" name="Google Shape;408;p33">
            <a:extLst>
              <a:ext uri="{FF2B5EF4-FFF2-40B4-BE49-F238E27FC236}">
                <a16:creationId xmlns:a16="http://schemas.microsoft.com/office/drawing/2014/main" id="{4A3B80E9-6624-8A1A-1437-F0A652D355E3}"/>
              </a:ext>
            </a:extLst>
          </p:cNvPr>
          <p:cNvSpPr txBox="1"/>
          <p:nvPr/>
        </p:nvSpPr>
        <p:spPr>
          <a:xfrm>
            <a:off x="8187421" y="3703054"/>
            <a:ext cx="731520" cy="457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.edu</a:t>
            </a:r>
            <a:endParaRPr>
              <a:latin typeface="Calibri"/>
              <a:ea typeface="Calibri"/>
              <a:cs typeface="Calibri"/>
              <a:sym typeface="Calibri"/>
            </a:endParaRPr>
          </a:p>
        </p:txBody>
      </p:sp>
      <p:sp>
        <p:nvSpPr>
          <p:cNvPr id="38" name="Google Shape;409;p33">
            <a:extLst>
              <a:ext uri="{FF2B5EF4-FFF2-40B4-BE49-F238E27FC236}">
                <a16:creationId xmlns:a16="http://schemas.microsoft.com/office/drawing/2014/main" id="{AA5BFEFD-637B-3299-0A9F-C330B10AF0E2}"/>
              </a:ext>
            </a:extLst>
          </p:cNvPr>
          <p:cNvSpPr txBox="1"/>
          <p:nvPr/>
        </p:nvSpPr>
        <p:spPr>
          <a:xfrm>
            <a:off x="10301461" y="3703054"/>
            <a:ext cx="731520" cy="457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.org</a:t>
            </a:r>
            <a:endParaRPr>
              <a:latin typeface="Calibri"/>
              <a:ea typeface="Calibri"/>
              <a:cs typeface="Calibri"/>
              <a:sym typeface="Calibri"/>
            </a:endParaRPr>
          </a:p>
        </p:txBody>
      </p:sp>
      <p:sp>
        <p:nvSpPr>
          <p:cNvPr id="39" name="Google Shape;410;p33">
            <a:extLst>
              <a:ext uri="{FF2B5EF4-FFF2-40B4-BE49-F238E27FC236}">
                <a16:creationId xmlns:a16="http://schemas.microsoft.com/office/drawing/2014/main" id="{2B0F205E-2676-B9A5-A057-0E28346D0E5D}"/>
              </a:ext>
            </a:extLst>
          </p:cNvPr>
          <p:cNvSpPr txBox="1"/>
          <p:nvPr/>
        </p:nvSpPr>
        <p:spPr>
          <a:xfrm>
            <a:off x="10923500" y="4821057"/>
            <a:ext cx="1043400" cy="457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Courier New"/>
                <a:ea typeface="Courier New"/>
                <a:cs typeface="Courier New"/>
                <a:sym typeface="Courier New"/>
              </a:rPr>
              <a:t>cs101.org</a:t>
            </a:r>
            <a:endParaRPr sz="1200">
              <a:latin typeface="Calibri"/>
              <a:ea typeface="Calibri"/>
              <a:cs typeface="Calibri"/>
              <a:sym typeface="Calibri"/>
            </a:endParaRPr>
          </a:p>
        </p:txBody>
      </p:sp>
      <p:sp>
        <p:nvSpPr>
          <p:cNvPr id="40" name="Google Shape;411;p33">
            <a:extLst>
              <a:ext uri="{FF2B5EF4-FFF2-40B4-BE49-F238E27FC236}">
                <a16:creationId xmlns:a16="http://schemas.microsoft.com/office/drawing/2014/main" id="{6EE9E186-FBF6-5345-471A-643A4D7CB8E5}"/>
              </a:ext>
            </a:extLst>
          </p:cNvPr>
          <p:cNvSpPr txBox="1"/>
          <p:nvPr/>
        </p:nvSpPr>
        <p:spPr>
          <a:xfrm>
            <a:off x="8797018" y="4821057"/>
            <a:ext cx="1557814" cy="457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latin typeface="Courier New"/>
                <a:ea typeface="Courier New"/>
                <a:cs typeface="Courier New"/>
                <a:sym typeface="Courier New"/>
              </a:rPr>
              <a:t>mit.edu</a:t>
            </a:r>
            <a:endParaRPr sz="1200" dirty="0">
              <a:latin typeface="Calibri"/>
              <a:ea typeface="Calibri"/>
              <a:cs typeface="Calibri"/>
              <a:sym typeface="Calibri"/>
            </a:endParaRPr>
          </a:p>
        </p:txBody>
      </p:sp>
      <p:sp>
        <p:nvSpPr>
          <p:cNvPr id="41" name="Google Shape;412;p33">
            <a:extLst>
              <a:ext uri="{FF2B5EF4-FFF2-40B4-BE49-F238E27FC236}">
                <a16:creationId xmlns:a16="http://schemas.microsoft.com/office/drawing/2014/main" id="{9FB40201-55EA-635A-AC0A-1292AFCF0FC3}"/>
              </a:ext>
            </a:extLst>
          </p:cNvPr>
          <p:cNvSpPr txBox="1"/>
          <p:nvPr/>
        </p:nvSpPr>
        <p:spPr>
          <a:xfrm>
            <a:off x="6725864" y="4821057"/>
            <a:ext cx="1296300" cy="457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latin typeface="Courier New"/>
                <a:ea typeface="Courier New"/>
                <a:cs typeface="Courier New"/>
                <a:sym typeface="Courier New"/>
              </a:rPr>
              <a:t>msoe</a:t>
            </a:r>
            <a:r>
              <a:rPr lang="en" sz="1200" dirty="0">
                <a:latin typeface="Courier New"/>
                <a:ea typeface="Courier New"/>
                <a:cs typeface="Courier New"/>
                <a:sym typeface="Courier New"/>
              </a:rPr>
              <a:t>.edu</a:t>
            </a:r>
            <a:endParaRPr sz="1200" dirty="0">
              <a:latin typeface="Calibri"/>
              <a:ea typeface="Calibri"/>
              <a:cs typeface="Calibri"/>
              <a:sym typeface="Calibri"/>
            </a:endParaRPr>
          </a:p>
        </p:txBody>
      </p:sp>
      <p:cxnSp>
        <p:nvCxnSpPr>
          <p:cNvPr id="42" name="Google Shape;413;p33">
            <a:extLst>
              <a:ext uri="{FF2B5EF4-FFF2-40B4-BE49-F238E27FC236}">
                <a16:creationId xmlns:a16="http://schemas.microsoft.com/office/drawing/2014/main" id="{7D3D63D2-4C3A-04D9-460A-17F3E979E6A1}"/>
              </a:ext>
            </a:extLst>
          </p:cNvPr>
          <p:cNvCxnSpPr>
            <a:stCxn id="36" idx="2"/>
            <a:endCxn id="37" idx="0"/>
          </p:cNvCxnSpPr>
          <p:nvPr/>
        </p:nvCxnSpPr>
        <p:spPr>
          <a:xfrm flipH="1">
            <a:off x="8553181" y="2952272"/>
            <a:ext cx="1117605" cy="750782"/>
          </a:xfrm>
          <a:prstGeom prst="straightConnector1">
            <a:avLst/>
          </a:prstGeom>
          <a:noFill/>
          <a:ln w="9525" cap="flat" cmpd="sng">
            <a:solidFill>
              <a:srgbClr val="000000"/>
            </a:solidFill>
            <a:prstDash val="solid"/>
            <a:round/>
            <a:headEnd type="none" w="med" len="med"/>
            <a:tailEnd type="none" w="med" len="med"/>
          </a:ln>
        </p:spPr>
      </p:cxnSp>
      <p:cxnSp>
        <p:nvCxnSpPr>
          <p:cNvPr id="43" name="Google Shape;414;p33">
            <a:extLst>
              <a:ext uri="{FF2B5EF4-FFF2-40B4-BE49-F238E27FC236}">
                <a16:creationId xmlns:a16="http://schemas.microsoft.com/office/drawing/2014/main" id="{F872FA94-FEF7-DE51-0292-E36300F4169D}"/>
              </a:ext>
            </a:extLst>
          </p:cNvPr>
          <p:cNvCxnSpPr>
            <a:cxnSpLocks/>
            <a:stCxn id="36" idx="2"/>
            <a:endCxn id="38" idx="0"/>
          </p:cNvCxnSpPr>
          <p:nvPr/>
        </p:nvCxnSpPr>
        <p:spPr>
          <a:xfrm>
            <a:off x="9670786" y="2952272"/>
            <a:ext cx="996435" cy="750782"/>
          </a:xfrm>
          <a:prstGeom prst="straightConnector1">
            <a:avLst/>
          </a:prstGeom>
          <a:noFill/>
          <a:ln w="9525" cap="flat" cmpd="sng">
            <a:solidFill>
              <a:srgbClr val="000000"/>
            </a:solidFill>
            <a:prstDash val="solid"/>
            <a:round/>
            <a:headEnd type="none" w="med" len="med"/>
            <a:tailEnd type="none" w="med" len="med"/>
          </a:ln>
        </p:spPr>
      </p:cxnSp>
      <p:cxnSp>
        <p:nvCxnSpPr>
          <p:cNvPr id="44" name="Google Shape;415;p33">
            <a:extLst>
              <a:ext uri="{FF2B5EF4-FFF2-40B4-BE49-F238E27FC236}">
                <a16:creationId xmlns:a16="http://schemas.microsoft.com/office/drawing/2014/main" id="{9748D441-7216-8D79-9C80-5E009E363B6D}"/>
              </a:ext>
            </a:extLst>
          </p:cNvPr>
          <p:cNvCxnSpPr>
            <a:cxnSpLocks/>
            <a:stCxn id="37" idx="2"/>
            <a:endCxn id="41" idx="0"/>
          </p:cNvCxnSpPr>
          <p:nvPr/>
        </p:nvCxnSpPr>
        <p:spPr>
          <a:xfrm flipH="1">
            <a:off x="7374014" y="4160254"/>
            <a:ext cx="1179167" cy="660803"/>
          </a:xfrm>
          <a:prstGeom prst="straightConnector1">
            <a:avLst/>
          </a:prstGeom>
          <a:noFill/>
          <a:ln w="9525" cap="flat" cmpd="sng">
            <a:solidFill>
              <a:srgbClr val="000000"/>
            </a:solidFill>
            <a:prstDash val="solid"/>
            <a:round/>
            <a:headEnd type="none" w="med" len="med"/>
            <a:tailEnd type="none" w="med" len="med"/>
          </a:ln>
        </p:spPr>
      </p:cxnSp>
      <p:cxnSp>
        <p:nvCxnSpPr>
          <p:cNvPr id="45" name="Google Shape;416;p33">
            <a:extLst>
              <a:ext uri="{FF2B5EF4-FFF2-40B4-BE49-F238E27FC236}">
                <a16:creationId xmlns:a16="http://schemas.microsoft.com/office/drawing/2014/main" id="{CE41A3C9-8750-EA99-F778-9378C007DE46}"/>
              </a:ext>
            </a:extLst>
          </p:cNvPr>
          <p:cNvCxnSpPr>
            <a:cxnSpLocks/>
            <a:stCxn id="37" idx="2"/>
            <a:endCxn id="40" idx="0"/>
          </p:cNvCxnSpPr>
          <p:nvPr/>
        </p:nvCxnSpPr>
        <p:spPr>
          <a:xfrm>
            <a:off x="8553181" y="4160254"/>
            <a:ext cx="1022744" cy="660803"/>
          </a:xfrm>
          <a:prstGeom prst="straightConnector1">
            <a:avLst/>
          </a:prstGeom>
          <a:noFill/>
          <a:ln w="9525" cap="flat" cmpd="sng">
            <a:solidFill>
              <a:srgbClr val="000000"/>
            </a:solidFill>
            <a:prstDash val="solid"/>
            <a:round/>
            <a:headEnd type="none" w="med" len="med"/>
            <a:tailEnd type="none" w="med" len="med"/>
          </a:ln>
        </p:spPr>
      </p:cxnSp>
      <p:cxnSp>
        <p:nvCxnSpPr>
          <p:cNvPr id="46" name="Google Shape;417;p33">
            <a:extLst>
              <a:ext uri="{FF2B5EF4-FFF2-40B4-BE49-F238E27FC236}">
                <a16:creationId xmlns:a16="http://schemas.microsoft.com/office/drawing/2014/main" id="{F4B252A9-6166-EBBF-8795-F9062031487A}"/>
              </a:ext>
            </a:extLst>
          </p:cNvPr>
          <p:cNvCxnSpPr>
            <a:stCxn id="38" idx="2"/>
            <a:endCxn id="39" idx="0"/>
          </p:cNvCxnSpPr>
          <p:nvPr/>
        </p:nvCxnSpPr>
        <p:spPr>
          <a:xfrm>
            <a:off x="10667221" y="4160254"/>
            <a:ext cx="777979" cy="660803"/>
          </a:xfrm>
          <a:prstGeom prst="straightConnector1">
            <a:avLst/>
          </a:prstGeom>
          <a:noFill/>
          <a:ln w="9525" cap="flat" cmpd="sng">
            <a:solidFill>
              <a:srgbClr val="000000"/>
            </a:solidFill>
            <a:prstDash val="solid"/>
            <a:round/>
            <a:headEnd type="none" w="med" len="med"/>
            <a:tailEnd type="none" w="med" len="med"/>
          </a:ln>
        </p:spPr>
      </p:cxnSp>
    </p:spTree>
    <p:extLst>
      <p:ext uri="{BB962C8B-B14F-4D97-AF65-F5344CB8AC3E}">
        <p14:creationId xmlns:p14="http://schemas.microsoft.com/office/powerpoint/2010/main" val="1655418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18"/>
        <p:cNvGrpSpPr/>
        <p:nvPr/>
      </p:nvGrpSpPr>
      <p:grpSpPr>
        <a:xfrm>
          <a:off x="0" y="0"/>
          <a:ext cx="0" cy="0"/>
          <a:chOff x="0" y="0"/>
          <a:chExt cx="0" cy="0"/>
        </a:xfrm>
      </p:grpSpPr>
      <p:grpSp>
        <p:nvGrpSpPr>
          <p:cNvPr id="31" name="Group 30">
            <a:extLst>
              <a:ext uri="{FF2B5EF4-FFF2-40B4-BE49-F238E27FC236}">
                <a16:creationId xmlns:a16="http://schemas.microsoft.com/office/drawing/2014/main" id="{5F556E85-1D98-61ED-2917-36184F5D8EF9}"/>
              </a:ext>
            </a:extLst>
          </p:cNvPr>
          <p:cNvGrpSpPr/>
          <p:nvPr/>
        </p:nvGrpSpPr>
        <p:grpSpPr>
          <a:xfrm>
            <a:off x="3244165" y="2845412"/>
            <a:ext cx="5564822" cy="933661"/>
            <a:chOff x="3244165" y="2845412"/>
            <a:chExt cx="5564822" cy="933661"/>
          </a:xfrm>
        </p:grpSpPr>
        <p:cxnSp>
          <p:nvCxnSpPr>
            <p:cNvPr id="41" name="Google Shape;452;p34">
              <a:extLst>
                <a:ext uri="{FF2B5EF4-FFF2-40B4-BE49-F238E27FC236}">
                  <a16:creationId xmlns:a16="http://schemas.microsoft.com/office/drawing/2014/main" id="{EC8B397A-8CDD-3380-DAA2-D7BEED4F262F}"/>
                </a:ext>
              </a:extLst>
            </p:cNvPr>
            <p:cNvCxnSpPr>
              <a:cxnSpLocks/>
            </p:cNvCxnSpPr>
            <p:nvPr/>
          </p:nvCxnSpPr>
          <p:spPr>
            <a:xfrm flipV="1">
              <a:off x="3244165" y="2845412"/>
              <a:ext cx="5564822" cy="933661"/>
            </a:xfrm>
            <a:prstGeom prst="straightConnector1">
              <a:avLst/>
            </a:prstGeom>
            <a:noFill/>
            <a:ln w="19050" cap="flat" cmpd="sng">
              <a:solidFill>
                <a:srgbClr val="000000"/>
              </a:solidFill>
              <a:prstDash val="solid"/>
              <a:round/>
              <a:headEnd type="triangle" w="med" len="med"/>
              <a:tailEnd type="none" w="med" len="med"/>
            </a:ln>
          </p:spPr>
        </p:cxnSp>
        <p:sp>
          <p:nvSpPr>
            <p:cNvPr id="50" name="Google Shape;461;p34">
              <a:extLst>
                <a:ext uri="{FF2B5EF4-FFF2-40B4-BE49-F238E27FC236}">
                  <a16:creationId xmlns:a16="http://schemas.microsoft.com/office/drawing/2014/main" id="{B0559663-6DAA-0C10-9D04-8A68A2B48032}"/>
                </a:ext>
              </a:extLst>
            </p:cNvPr>
            <p:cNvSpPr txBox="1"/>
            <p:nvPr/>
          </p:nvSpPr>
          <p:spPr>
            <a:xfrm>
              <a:off x="5379945" y="3322855"/>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3</a:t>
              </a:r>
              <a:endParaRPr dirty="0">
                <a:latin typeface="Calibri"/>
                <a:ea typeface="Calibri"/>
                <a:cs typeface="Calibri"/>
                <a:sym typeface="Calibri"/>
              </a:endParaRPr>
            </a:p>
          </p:txBody>
        </p:sp>
      </p:grpSp>
      <p:grpSp>
        <p:nvGrpSpPr>
          <p:cNvPr id="32" name="Group 31">
            <a:extLst>
              <a:ext uri="{FF2B5EF4-FFF2-40B4-BE49-F238E27FC236}">
                <a16:creationId xmlns:a16="http://schemas.microsoft.com/office/drawing/2014/main" id="{3BF9C4EB-1E79-F79E-D271-2203C7D7CF43}"/>
              </a:ext>
            </a:extLst>
          </p:cNvPr>
          <p:cNvGrpSpPr/>
          <p:nvPr/>
        </p:nvGrpSpPr>
        <p:grpSpPr>
          <a:xfrm>
            <a:off x="3244165" y="2694658"/>
            <a:ext cx="5648232" cy="929768"/>
            <a:chOff x="3244165" y="2694658"/>
            <a:chExt cx="5648232" cy="929768"/>
          </a:xfrm>
        </p:grpSpPr>
        <p:cxnSp>
          <p:nvCxnSpPr>
            <p:cNvPr id="40" name="Google Shape;451;p34">
              <a:extLst>
                <a:ext uri="{FF2B5EF4-FFF2-40B4-BE49-F238E27FC236}">
                  <a16:creationId xmlns:a16="http://schemas.microsoft.com/office/drawing/2014/main" id="{C83FD851-A3A3-534D-4A15-054BE2D10ADC}"/>
                </a:ext>
              </a:extLst>
            </p:cNvPr>
            <p:cNvCxnSpPr>
              <a:cxnSpLocks/>
            </p:cNvCxnSpPr>
            <p:nvPr/>
          </p:nvCxnSpPr>
          <p:spPr>
            <a:xfrm flipV="1">
              <a:off x="3244165" y="2694658"/>
              <a:ext cx="5648232" cy="929768"/>
            </a:xfrm>
            <a:prstGeom prst="straightConnector1">
              <a:avLst/>
            </a:prstGeom>
            <a:noFill/>
            <a:ln w="19050" cap="flat" cmpd="sng">
              <a:solidFill>
                <a:srgbClr val="000000"/>
              </a:solidFill>
              <a:prstDash val="solid"/>
              <a:round/>
              <a:headEnd type="none" w="med" len="med"/>
              <a:tailEnd type="triangle" w="med" len="med"/>
            </a:ln>
          </p:spPr>
        </p:cxnSp>
        <p:sp>
          <p:nvSpPr>
            <p:cNvPr id="51" name="Google Shape;462;p34">
              <a:extLst>
                <a:ext uri="{FF2B5EF4-FFF2-40B4-BE49-F238E27FC236}">
                  <a16:creationId xmlns:a16="http://schemas.microsoft.com/office/drawing/2014/main" id="{2C3C1B8D-2219-F6D4-25D6-7C28F532C1A9}"/>
                </a:ext>
              </a:extLst>
            </p:cNvPr>
            <p:cNvSpPr txBox="1"/>
            <p:nvPr/>
          </p:nvSpPr>
          <p:spPr>
            <a:xfrm>
              <a:off x="5336820" y="2931993"/>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2</a:t>
              </a:r>
              <a:endParaRPr dirty="0">
                <a:latin typeface="Calibri"/>
                <a:ea typeface="Calibri"/>
                <a:cs typeface="Calibri"/>
                <a:sym typeface="Calibri"/>
              </a:endParaRPr>
            </a:p>
          </p:txBody>
        </p:sp>
      </p:grpSp>
      <p:grpSp>
        <p:nvGrpSpPr>
          <p:cNvPr id="1805" name="Group 1804">
            <a:extLst>
              <a:ext uri="{FF2B5EF4-FFF2-40B4-BE49-F238E27FC236}">
                <a16:creationId xmlns:a16="http://schemas.microsoft.com/office/drawing/2014/main" id="{070D75B0-2DF1-AA36-F494-895885C2533C}"/>
              </a:ext>
            </a:extLst>
          </p:cNvPr>
          <p:cNvGrpSpPr/>
          <p:nvPr/>
        </p:nvGrpSpPr>
        <p:grpSpPr>
          <a:xfrm>
            <a:off x="5595991" y="1146320"/>
            <a:ext cx="4114800" cy="1647676"/>
            <a:chOff x="5595991" y="1146320"/>
            <a:chExt cx="4114800" cy="1647676"/>
          </a:xfrm>
        </p:grpSpPr>
        <p:cxnSp>
          <p:nvCxnSpPr>
            <p:cNvPr id="2" name="Google Shape;430;p34">
              <a:extLst>
                <a:ext uri="{FF2B5EF4-FFF2-40B4-BE49-F238E27FC236}">
                  <a16:creationId xmlns:a16="http://schemas.microsoft.com/office/drawing/2014/main" id="{EB46FE56-B752-CBDA-22E4-33A06CBC17CE}"/>
                </a:ext>
              </a:extLst>
            </p:cNvPr>
            <p:cNvCxnSpPr>
              <a:cxnSpLocks/>
              <a:stCxn id="5" idx="2"/>
            </p:cNvCxnSpPr>
            <p:nvPr/>
          </p:nvCxnSpPr>
          <p:spPr>
            <a:xfrm>
              <a:off x="7653391" y="2152160"/>
              <a:ext cx="0" cy="641836"/>
            </a:xfrm>
            <a:prstGeom prst="straightConnector1">
              <a:avLst/>
            </a:prstGeom>
            <a:noFill/>
            <a:ln w="19050" cap="flat" cmpd="sng">
              <a:solidFill>
                <a:srgbClr val="E69138"/>
              </a:solidFill>
              <a:prstDash val="solid"/>
              <a:round/>
              <a:headEnd type="none" w="med" len="med"/>
              <a:tailEnd type="triangle" w="med" len="med"/>
            </a:ln>
          </p:spPr>
        </p:cxnSp>
        <p:sp>
          <p:nvSpPr>
            <p:cNvPr id="5" name="Google Shape;228;p26">
              <a:extLst>
                <a:ext uri="{FF2B5EF4-FFF2-40B4-BE49-F238E27FC236}">
                  <a16:creationId xmlns:a16="http://schemas.microsoft.com/office/drawing/2014/main" id="{1C129A16-422D-57AA-955E-B66CCE2ADFFD}"/>
                </a:ext>
              </a:extLst>
            </p:cNvPr>
            <p:cNvSpPr txBox="1"/>
            <p:nvPr/>
          </p:nvSpPr>
          <p:spPr>
            <a:xfrm>
              <a:off x="5595991" y="1146320"/>
              <a:ext cx="4114800" cy="1005840"/>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dirty="0"/>
                <a:t>DNS queries always start with a request to the root name server, which is responsible for all requests.</a:t>
              </a:r>
              <a:endParaRPr dirty="0"/>
            </a:p>
          </p:txBody>
        </p:sp>
      </p:grpSp>
      <p:sp>
        <p:nvSpPr>
          <p:cNvPr id="53" name="Google Shape;418;p33">
            <a:extLst>
              <a:ext uri="{FF2B5EF4-FFF2-40B4-BE49-F238E27FC236}">
                <a16:creationId xmlns:a16="http://schemas.microsoft.com/office/drawing/2014/main" id="{D8342BD5-6261-8271-1D4D-7697800903FA}"/>
              </a:ext>
            </a:extLst>
          </p:cNvPr>
          <p:cNvSpPr txBox="1"/>
          <p:nvPr/>
        </p:nvSpPr>
        <p:spPr>
          <a:xfrm>
            <a:off x="1691203" y="2020910"/>
            <a:ext cx="1417320" cy="6543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Stub Resolver</a:t>
            </a:r>
            <a:endParaRPr>
              <a:latin typeface="Calibri"/>
              <a:ea typeface="Calibri"/>
              <a:cs typeface="Calibri"/>
              <a:sym typeface="Calibri"/>
            </a:endParaRPr>
          </a:p>
        </p:txBody>
      </p:sp>
      <p:grpSp>
        <p:nvGrpSpPr>
          <p:cNvPr id="54" name="Google Shape;422;p33">
            <a:extLst>
              <a:ext uri="{FF2B5EF4-FFF2-40B4-BE49-F238E27FC236}">
                <a16:creationId xmlns:a16="http://schemas.microsoft.com/office/drawing/2014/main" id="{B07A6A15-85B7-A8B6-0746-7E562F10ACD0}"/>
              </a:ext>
            </a:extLst>
          </p:cNvPr>
          <p:cNvGrpSpPr/>
          <p:nvPr/>
        </p:nvGrpSpPr>
        <p:grpSpPr>
          <a:xfrm>
            <a:off x="1753463" y="2719788"/>
            <a:ext cx="410100" cy="762900"/>
            <a:chOff x="258935" y="2049228"/>
            <a:chExt cx="410100" cy="762900"/>
          </a:xfrm>
        </p:grpSpPr>
        <p:sp>
          <p:nvSpPr>
            <p:cNvPr id="55" name="Google Shape;423;p33">
              <a:extLst>
                <a:ext uri="{FF2B5EF4-FFF2-40B4-BE49-F238E27FC236}">
                  <a16:creationId xmlns:a16="http://schemas.microsoft.com/office/drawing/2014/main" id="{A0751A73-76DB-5AC2-6FA1-3C3598BA7E07}"/>
                </a:ext>
              </a:extLst>
            </p:cNvPr>
            <p:cNvSpPr txBox="1"/>
            <p:nvPr/>
          </p:nvSpPr>
          <p:spPr>
            <a:xfrm>
              <a:off x="258935" y="2174852"/>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1</a:t>
              </a:r>
              <a:endParaRPr>
                <a:latin typeface="Calibri"/>
                <a:ea typeface="Calibri"/>
                <a:cs typeface="Calibri"/>
                <a:sym typeface="Calibri"/>
              </a:endParaRPr>
            </a:p>
          </p:txBody>
        </p:sp>
        <p:cxnSp>
          <p:nvCxnSpPr>
            <p:cNvPr id="56" name="Google Shape;424;p33">
              <a:extLst>
                <a:ext uri="{FF2B5EF4-FFF2-40B4-BE49-F238E27FC236}">
                  <a16:creationId xmlns:a16="http://schemas.microsoft.com/office/drawing/2014/main" id="{9DA5FFFB-965A-372A-85A5-8F9C84694A0A}"/>
                </a:ext>
              </a:extLst>
            </p:cNvPr>
            <p:cNvCxnSpPr/>
            <p:nvPr/>
          </p:nvCxnSpPr>
          <p:spPr>
            <a:xfrm rot="10800000">
              <a:off x="530725" y="2049228"/>
              <a:ext cx="0" cy="762900"/>
            </a:xfrm>
            <a:prstGeom prst="straightConnector1">
              <a:avLst/>
            </a:prstGeom>
            <a:noFill/>
            <a:ln w="19050" cap="flat" cmpd="sng">
              <a:solidFill>
                <a:srgbClr val="000000"/>
              </a:solidFill>
              <a:prstDash val="solid"/>
              <a:round/>
              <a:headEnd type="triangle" w="med" len="med"/>
              <a:tailEnd type="none" w="med" len="med"/>
            </a:ln>
          </p:spPr>
        </p:cxnSp>
      </p:grpSp>
      <p:sp>
        <p:nvSpPr>
          <p:cNvPr id="57" name="Google Shape;425;p33">
            <a:extLst>
              <a:ext uri="{FF2B5EF4-FFF2-40B4-BE49-F238E27FC236}">
                <a16:creationId xmlns:a16="http://schemas.microsoft.com/office/drawing/2014/main" id="{983DF0F2-4D45-D664-D4E8-C82C0ED176A5}"/>
              </a:ext>
            </a:extLst>
          </p:cNvPr>
          <p:cNvSpPr txBox="1"/>
          <p:nvPr/>
        </p:nvSpPr>
        <p:spPr>
          <a:xfrm>
            <a:off x="1691203" y="3527260"/>
            <a:ext cx="1417320" cy="15399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sp>
        <p:nvSpPr>
          <p:cNvPr id="15" name="Google Shape;407;p33">
            <a:extLst>
              <a:ext uri="{FF2B5EF4-FFF2-40B4-BE49-F238E27FC236}">
                <a16:creationId xmlns:a16="http://schemas.microsoft.com/office/drawing/2014/main" id="{DCEBFC45-EE9B-64B2-BCD9-5CC671233AF5}"/>
              </a:ext>
            </a:extLst>
          </p:cNvPr>
          <p:cNvSpPr txBox="1"/>
          <p:nvPr/>
        </p:nvSpPr>
        <p:spPr>
          <a:xfrm>
            <a:off x="9030706" y="2495072"/>
            <a:ext cx="1280160" cy="457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.(root)</a:t>
            </a:r>
            <a:endParaRPr>
              <a:latin typeface="Courier New"/>
              <a:ea typeface="Courier New"/>
              <a:cs typeface="Courier New"/>
              <a:sym typeface="Courier New"/>
            </a:endParaRPr>
          </a:p>
        </p:txBody>
      </p:sp>
      <p:sp>
        <p:nvSpPr>
          <p:cNvPr id="16" name="Google Shape;408;p33">
            <a:extLst>
              <a:ext uri="{FF2B5EF4-FFF2-40B4-BE49-F238E27FC236}">
                <a16:creationId xmlns:a16="http://schemas.microsoft.com/office/drawing/2014/main" id="{AEFAFD3B-14E7-EF1F-02BE-A921CA359E08}"/>
              </a:ext>
            </a:extLst>
          </p:cNvPr>
          <p:cNvSpPr txBox="1"/>
          <p:nvPr/>
        </p:nvSpPr>
        <p:spPr>
          <a:xfrm>
            <a:off x="8187421" y="3703054"/>
            <a:ext cx="731520" cy="457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.edu</a:t>
            </a:r>
            <a:endParaRPr>
              <a:latin typeface="Calibri"/>
              <a:ea typeface="Calibri"/>
              <a:cs typeface="Calibri"/>
              <a:sym typeface="Calibri"/>
            </a:endParaRPr>
          </a:p>
        </p:txBody>
      </p:sp>
      <p:sp>
        <p:nvSpPr>
          <p:cNvPr id="17" name="Google Shape;409;p33">
            <a:extLst>
              <a:ext uri="{FF2B5EF4-FFF2-40B4-BE49-F238E27FC236}">
                <a16:creationId xmlns:a16="http://schemas.microsoft.com/office/drawing/2014/main" id="{C1D1CC35-37D4-E7D3-B6A7-622D47D063FD}"/>
              </a:ext>
            </a:extLst>
          </p:cNvPr>
          <p:cNvSpPr txBox="1"/>
          <p:nvPr/>
        </p:nvSpPr>
        <p:spPr>
          <a:xfrm>
            <a:off x="10301461" y="3703054"/>
            <a:ext cx="731520" cy="457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.org</a:t>
            </a:r>
            <a:endParaRPr>
              <a:latin typeface="Calibri"/>
              <a:ea typeface="Calibri"/>
              <a:cs typeface="Calibri"/>
              <a:sym typeface="Calibri"/>
            </a:endParaRPr>
          </a:p>
        </p:txBody>
      </p:sp>
      <p:sp>
        <p:nvSpPr>
          <p:cNvPr id="18" name="Google Shape;410;p33">
            <a:extLst>
              <a:ext uri="{FF2B5EF4-FFF2-40B4-BE49-F238E27FC236}">
                <a16:creationId xmlns:a16="http://schemas.microsoft.com/office/drawing/2014/main" id="{568ADECE-3497-E694-5B6F-9BA326D6AC4D}"/>
              </a:ext>
            </a:extLst>
          </p:cNvPr>
          <p:cNvSpPr txBox="1"/>
          <p:nvPr/>
        </p:nvSpPr>
        <p:spPr>
          <a:xfrm>
            <a:off x="10923500" y="4821057"/>
            <a:ext cx="1043400" cy="457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Courier New"/>
                <a:ea typeface="Courier New"/>
                <a:cs typeface="Courier New"/>
                <a:sym typeface="Courier New"/>
              </a:rPr>
              <a:t>cs101.org</a:t>
            </a:r>
            <a:endParaRPr sz="1200">
              <a:latin typeface="Calibri"/>
              <a:ea typeface="Calibri"/>
              <a:cs typeface="Calibri"/>
              <a:sym typeface="Calibri"/>
            </a:endParaRPr>
          </a:p>
        </p:txBody>
      </p:sp>
      <p:sp>
        <p:nvSpPr>
          <p:cNvPr id="19" name="Google Shape;411;p33">
            <a:extLst>
              <a:ext uri="{FF2B5EF4-FFF2-40B4-BE49-F238E27FC236}">
                <a16:creationId xmlns:a16="http://schemas.microsoft.com/office/drawing/2014/main" id="{02BDE27A-5EA1-F236-CCE6-E524A3DEAA16}"/>
              </a:ext>
            </a:extLst>
          </p:cNvPr>
          <p:cNvSpPr txBox="1"/>
          <p:nvPr/>
        </p:nvSpPr>
        <p:spPr>
          <a:xfrm>
            <a:off x="8797018" y="4821057"/>
            <a:ext cx="1557814" cy="457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latin typeface="Courier New"/>
                <a:ea typeface="Courier New"/>
                <a:cs typeface="Courier New"/>
                <a:sym typeface="Courier New"/>
              </a:rPr>
              <a:t>mit.edu</a:t>
            </a:r>
            <a:endParaRPr sz="1200" dirty="0">
              <a:latin typeface="Calibri"/>
              <a:ea typeface="Calibri"/>
              <a:cs typeface="Calibri"/>
              <a:sym typeface="Calibri"/>
            </a:endParaRPr>
          </a:p>
        </p:txBody>
      </p:sp>
      <p:sp>
        <p:nvSpPr>
          <p:cNvPr id="20" name="Google Shape;412;p33">
            <a:extLst>
              <a:ext uri="{FF2B5EF4-FFF2-40B4-BE49-F238E27FC236}">
                <a16:creationId xmlns:a16="http://schemas.microsoft.com/office/drawing/2014/main" id="{515403F8-1A9B-B85C-BE18-0543D91E2E9E}"/>
              </a:ext>
            </a:extLst>
          </p:cNvPr>
          <p:cNvSpPr txBox="1"/>
          <p:nvPr/>
        </p:nvSpPr>
        <p:spPr>
          <a:xfrm>
            <a:off x="6725864" y="4821057"/>
            <a:ext cx="1296300" cy="457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latin typeface="Courier New"/>
                <a:ea typeface="Courier New"/>
                <a:cs typeface="Courier New"/>
                <a:sym typeface="Courier New"/>
              </a:rPr>
              <a:t>msoe</a:t>
            </a:r>
            <a:r>
              <a:rPr lang="en" sz="1200" dirty="0">
                <a:latin typeface="Courier New"/>
                <a:ea typeface="Courier New"/>
                <a:cs typeface="Courier New"/>
                <a:sym typeface="Courier New"/>
              </a:rPr>
              <a:t>.edu</a:t>
            </a:r>
            <a:endParaRPr sz="1200" dirty="0">
              <a:latin typeface="Calibri"/>
              <a:ea typeface="Calibri"/>
              <a:cs typeface="Calibri"/>
              <a:sym typeface="Calibri"/>
            </a:endParaRPr>
          </a:p>
        </p:txBody>
      </p:sp>
      <p:cxnSp>
        <p:nvCxnSpPr>
          <p:cNvPr id="21" name="Google Shape;413;p33">
            <a:extLst>
              <a:ext uri="{FF2B5EF4-FFF2-40B4-BE49-F238E27FC236}">
                <a16:creationId xmlns:a16="http://schemas.microsoft.com/office/drawing/2014/main" id="{209F5431-BB2C-70BD-CB64-B4407EC29D50}"/>
              </a:ext>
            </a:extLst>
          </p:cNvPr>
          <p:cNvCxnSpPr>
            <a:stCxn id="15" idx="2"/>
            <a:endCxn id="16" idx="0"/>
          </p:cNvCxnSpPr>
          <p:nvPr/>
        </p:nvCxnSpPr>
        <p:spPr>
          <a:xfrm flipH="1">
            <a:off x="8553181" y="2952272"/>
            <a:ext cx="1117605" cy="750782"/>
          </a:xfrm>
          <a:prstGeom prst="straightConnector1">
            <a:avLst/>
          </a:prstGeom>
          <a:noFill/>
          <a:ln w="9525" cap="flat" cmpd="sng">
            <a:solidFill>
              <a:srgbClr val="000000"/>
            </a:solidFill>
            <a:prstDash val="solid"/>
            <a:round/>
            <a:headEnd type="none" w="med" len="med"/>
            <a:tailEnd type="none" w="med" len="med"/>
          </a:ln>
        </p:spPr>
      </p:cxnSp>
      <p:cxnSp>
        <p:nvCxnSpPr>
          <p:cNvPr id="22" name="Google Shape;414;p33">
            <a:extLst>
              <a:ext uri="{FF2B5EF4-FFF2-40B4-BE49-F238E27FC236}">
                <a16:creationId xmlns:a16="http://schemas.microsoft.com/office/drawing/2014/main" id="{DA16F4B7-133F-1123-FA43-24D471C6A4B8}"/>
              </a:ext>
            </a:extLst>
          </p:cNvPr>
          <p:cNvCxnSpPr>
            <a:cxnSpLocks/>
            <a:stCxn id="15" idx="2"/>
            <a:endCxn id="17" idx="0"/>
          </p:cNvCxnSpPr>
          <p:nvPr/>
        </p:nvCxnSpPr>
        <p:spPr>
          <a:xfrm>
            <a:off x="9670786" y="2952272"/>
            <a:ext cx="996435" cy="750782"/>
          </a:xfrm>
          <a:prstGeom prst="straightConnector1">
            <a:avLst/>
          </a:prstGeom>
          <a:noFill/>
          <a:ln w="9525" cap="flat" cmpd="sng">
            <a:solidFill>
              <a:srgbClr val="000000"/>
            </a:solidFill>
            <a:prstDash val="solid"/>
            <a:round/>
            <a:headEnd type="none" w="med" len="med"/>
            <a:tailEnd type="none" w="med" len="med"/>
          </a:ln>
        </p:spPr>
      </p:cxnSp>
      <p:cxnSp>
        <p:nvCxnSpPr>
          <p:cNvPr id="23" name="Google Shape;415;p33">
            <a:extLst>
              <a:ext uri="{FF2B5EF4-FFF2-40B4-BE49-F238E27FC236}">
                <a16:creationId xmlns:a16="http://schemas.microsoft.com/office/drawing/2014/main" id="{C418A23D-0B99-CD3B-03A9-6099B729148C}"/>
              </a:ext>
            </a:extLst>
          </p:cNvPr>
          <p:cNvCxnSpPr>
            <a:cxnSpLocks/>
            <a:stCxn id="16" idx="2"/>
            <a:endCxn id="20" idx="0"/>
          </p:cNvCxnSpPr>
          <p:nvPr/>
        </p:nvCxnSpPr>
        <p:spPr>
          <a:xfrm flipH="1">
            <a:off x="7374014" y="4160254"/>
            <a:ext cx="1179167" cy="660803"/>
          </a:xfrm>
          <a:prstGeom prst="straightConnector1">
            <a:avLst/>
          </a:prstGeom>
          <a:noFill/>
          <a:ln w="9525" cap="flat" cmpd="sng">
            <a:solidFill>
              <a:srgbClr val="000000"/>
            </a:solidFill>
            <a:prstDash val="solid"/>
            <a:round/>
            <a:headEnd type="none" w="med" len="med"/>
            <a:tailEnd type="none" w="med" len="med"/>
          </a:ln>
        </p:spPr>
      </p:cxnSp>
      <p:cxnSp>
        <p:nvCxnSpPr>
          <p:cNvPr id="24" name="Google Shape;416;p33">
            <a:extLst>
              <a:ext uri="{FF2B5EF4-FFF2-40B4-BE49-F238E27FC236}">
                <a16:creationId xmlns:a16="http://schemas.microsoft.com/office/drawing/2014/main" id="{32A348D3-51B8-7815-56DC-6DBF1D454521}"/>
              </a:ext>
            </a:extLst>
          </p:cNvPr>
          <p:cNvCxnSpPr>
            <a:cxnSpLocks/>
            <a:stCxn id="16" idx="2"/>
            <a:endCxn id="19" idx="0"/>
          </p:cNvCxnSpPr>
          <p:nvPr/>
        </p:nvCxnSpPr>
        <p:spPr>
          <a:xfrm>
            <a:off x="8553181" y="4160254"/>
            <a:ext cx="1022744" cy="660803"/>
          </a:xfrm>
          <a:prstGeom prst="straightConnector1">
            <a:avLst/>
          </a:prstGeom>
          <a:noFill/>
          <a:ln w="9525" cap="flat" cmpd="sng">
            <a:solidFill>
              <a:srgbClr val="000000"/>
            </a:solidFill>
            <a:prstDash val="solid"/>
            <a:round/>
            <a:headEnd type="none" w="med" len="med"/>
            <a:tailEnd type="none" w="med" len="med"/>
          </a:ln>
        </p:spPr>
      </p:cxnSp>
      <p:cxnSp>
        <p:nvCxnSpPr>
          <p:cNvPr id="25" name="Google Shape;417;p33">
            <a:extLst>
              <a:ext uri="{FF2B5EF4-FFF2-40B4-BE49-F238E27FC236}">
                <a16:creationId xmlns:a16="http://schemas.microsoft.com/office/drawing/2014/main" id="{A96A7343-00B3-1EF1-CA53-6396091E6FD2}"/>
              </a:ext>
            </a:extLst>
          </p:cNvPr>
          <p:cNvCxnSpPr>
            <a:stCxn id="17" idx="2"/>
            <a:endCxn id="18" idx="0"/>
          </p:cNvCxnSpPr>
          <p:nvPr/>
        </p:nvCxnSpPr>
        <p:spPr>
          <a:xfrm>
            <a:off x="10667221" y="4160254"/>
            <a:ext cx="777979" cy="660803"/>
          </a:xfrm>
          <a:prstGeom prst="straightConnector1">
            <a:avLst/>
          </a:prstGeom>
          <a:noFill/>
          <a:ln w="9525" cap="flat" cmpd="sng">
            <a:solidFill>
              <a:srgbClr val="000000"/>
            </a:solidFill>
            <a:prstDash val="solid"/>
            <a:round/>
            <a:headEnd type="none" w="med" len="med"/>
            <a:tailEnd type="none" w="med" len="med"/>
          </a:ln>
        </p:spPr>
      </p:cxnSp>
      <p:sp>
        <p:nvSpPr>
          <p:cNvPr id="30" name="TextBox 29">
            <a:extLst>
              <a:ext uri="{FF2B5EF4-FFF2-40B4-BE49-F238E27FC236}">
                <a16:creationId xmlns:a16="http://schemas.microsoft.com/office/drawing/2014/main" id="{5484305F-F9FE-CD1E-D517-153FE9C67744}"/>
              </a:ext>
            </a:extLst>
          </p:cNvPr>
          <p:cNvSpPr txBox="1"/>
          <p:nvPr/>
        </p:nvSpPr>
        <p:spPr>
          <a:xfrm>
            <a:off x="5712524" y="2928231"/>
            <a:ext cx="6168987" cy="3785652"/>
          </a:xfrm>
          <a:prstGeom prst="rect">
            <a:avLst/>
          </a:prstGeom>
          <a:solidFill>
            <a:schemeClr val="accent1">
              <a:lumMod val="20000"/>
              <a:lumOff val="80000"/>
            </a:schemeClr>
          </a:solidFill>
        </p:spPr>
        <p:txBody>
          <a:bodyPr wrap="square" rtlCol="0">
            <a:spAutoFit/>
          </a:bodyPr>
          <a:lstStyle/>
          <a:p>
            <a:r>
              <a:rPr lang="en-US" sz="1200" b="1" kern="0" dirty="0">
                <a:solidFill>
                  <a:schemeClr val="dk2"/>
                </a:solidFill>
                <a:latin typeface="Courier New"/>
                <a:cs typeface="Courier New"/>
                <a:sym typeface="Arial"/>
              </a:rPr>
              <a:t>$ dig +</a:t>
            </a:r>
            <a:r>
              <a:rPr lang="en-US" sz="1200" b="1" kern="0" dirty="0" err="1">
                <a:solidFill>
                  <a:schemeClr val="dk2"/>
                </a:solidFill>
                <a:latin typeface="Courier New"/>
                <a:cs typeface="Courier New"/>
                <a:sym typeface="Arial"/>
              </a:rPr>
              <a:t>norecurse</a:t>
            </a:r>
            <a:r>
              <a:rPr lang="en-US" sz="1200" b="1" kern="0" dirty="0">
                <a:solidFill>
                  <a:schemeClr val="dk2"/>
                </a:solidFill>
                <a:latin typeface="Courier New"/>
                <a:cs typeface="Courier New"/>
                <a:sym typeface="Arial"/>
              </a:rPr>
              <a:t> dsac.</a:t>
            </a:r>
            <a:r>
              <a:rPr lang="en-US" altLang="zh-CN" sz="1200" b="1" kern="0" dirty="0">
                <a:solidFill>
                  <a:schemeClr val="dk2"/>
                </a:solidFill>
                <a:latin typeface="Courier New"/>
                <a:cs typeface="Courier New"/>
                <a:sym typeface="Arial"/>
              </a:rPr>
              <a:t>msoe</a:t>
            </a:r>
            <a:r>
              <a:rPr lang="en-US" sz="1200" b="1" kern="0" dirty="0">
                <a:solidFill>
                  <a:schemeClr val="dk2"/>
                </a:solidFill>
                <a:latin typeface="Courier New"/>
                <a:cs typeface="Courier New"/>
                <a:sym typeface="Arial"/>
              </a:rPr>
              <a:t>.edu @198.41.0.4</a:t>
            </a:r>
          </a:p>
          <a:p>
            <a:endParaRPr lang="en-US" sz="1200" b="1" kern="0" dirty="0">
              <a:solidFill>
                <a:schemeClr val="dk2"/>
              </a:solidFill>
              <a:latin typeface="Courier New"/>
              <a:cs typeface="Courier New"/>
              <a:sym typeface="Arial"/>
            </a:endParaRPr>
          </a:p>
          <a:p>
            <a:r>
              <a:rPr lang="en-US" sz="1200" b="1" kern="0" dirty="0">
                <a:solidFill>
                  <a:schemeClr val="dk2"/>
                </a:solidFill>
                <a:latin typeface="Courier New"/>
                <a:cs typeface="Courier New"/>
                <a:sym typeface="Arial"/>
              </a:rPr>
              <a:t>;; Got answer:</a:t>
            </a:r>
          </a:p>
          <a:p>
            <a:r>
              <a:rPr lang="en-US" sz="1200" b="1" kern="0" dirty="0">
                <a:solidFill>
                  <a:schemeClr val="dk2"/>
                </a:solidFill>
                <a:latin typeface="Courier New"/>
                <a:cs typeface="Courier New"/>
                <a:sym typeface="Arial"/>
              </a:rPr>
              <a:t>;; -&gt;&gt;HEADER&lt;&lt;- opcode: QUERY, status: NOERROR, </a:t>
            </a:r>
            <a:r>
              <a:rPr lang="en-US" sz="1200" b="1" kern="0" dirty="0">
                <a:solidFill>
                  <a:srgbClr val="FF0000"/>
                </a:solidFill>
                <a:latin typeface="Courier New"/>
                <a:cs typeface="Courier New"/>
                <a:sym typeface="Arial"/>
              </a:rPr>
              <a:t>id: 26114</a:t>
            </a:r>
          </a:p>
          <a:p>
            <a:r>
              <a:rPr lang="en-US" sz="1200" b="1" kern="0" dirty="0">
                <a:solidFill>
                  <a:schemeClr val="dk2"/>
                </a:solidFill>
                <a:latin typeface="Courier New"/>
                <a:cs typeface="Courier New"/>
                <a:sym typeface="Arial"/>
              </a:rPr>
              <a:t>;; flags: </a:t>
            </a:r>
            <a:r>
              <a:rPr lang="en-US" sz="1200" b="1" kern="0" dirty="0" err="1">
                <a:solidFill>
                  <a:schemeClr val="dk2"/>
                </a:solidFill>
                <a:latin typeface="Courier New"/>
                <a:cs typeface="Courier New"/>
                <a:sym typeface="Arial"/>
              </a:rPr>
              <a:t>qr</a:t>
            </a:r>
            <a:r>
              <a:rPr lang="en-US" sz="1200" b="1" kern="0" dirty="0">
                <a:solidFill>
                  <a:schemeClr val="dk2"/>
                </a:solidFill>
                <a:latin typeface="Courier New"/>
                <a:cs typeface="Courier New"/>
                <a:sym typeface="Arial"/>
              </a:rPr>
              <a:t>; QUERY: 1, ANSWER: 0, AUTHORITY: 13, ADDITIONAL: 27</a:t>
            </a:r>
          </a:p>
          <a:p>
            <a:endParaRPr lang="en-US" sz="1200" b="1" kern="0" dirty="0">
              <a:solidFill>
                <a:schemeClr val="dk2"/>
              </a:solidFill>
              <a:latin typeface="Courier New"/>
              <a:cs typeface="Courier New"/>
              <a:sym typeface="Arial"/>
            </a:endParaRPr>
          </a:p>
          <a:p>
            <a:r>
              <a:rPr lang="en-US" sz="1200" b="1" kern="0" dirty="0">
                <a:solidFill>
                  <a:schemeClr val="dk2"/>
                </a:solidFill>
                <a:latin typeface="Courier New"/>
                <a:cs typeface="Courier New"/>
                <a:sym typeface="Arial"/>
              </a:rPr>
              <a:t>;; QUESTION SECTION:</a:t>
            </a:r>
          </a:p>
          <a:p>
            <a:r>
              <a:rPr lang="en-US" sz="1200" b="1" kern="0" dirty="0">
                <a:solidFill>
                  <a:schemeClr val="dk2"/>
                </a:solidFill>
                <a:latin typeface="Courier New"/>
                <a:cs typeface="Courier New"/>
                <a:sym typeface="Arial"/>
              </a:rPr>
              <a:t>;eecs.msoe.edu.          IN   A</a:t>
            </a:r>
          </a:p>
          <a:p>
            <a:endParaRPr lang="en-US" sz="1200" b="1" kern="0" dirty="0">
              <a:solidFill>
                <a:schemeClr val="dk2"/>
              </a:solidFill>
              <a:latin typeface="Courier New"/>
              <a:cs typeface="Courier New"/>
              <a:sym typeface="Arial"/>
            </a:endParaRPr>
          </a:p>
          <a:p>
            <a:r>
              <a:rPr lang="en-US" sz="1200" b="1" kern="0" dirty="0">
                <a:solidFill>
                  <a:schemeClr val="dk2"/>
                </a:solidFill>
                <a:latin typeface="Courier New"/>
                <a:cs typeface="Courier New"/>
                <a:sym typeface="Arial"/>
              </a:rPr>
              <a:t>;; AUTHORITY SECTION:</a:t>
            </a:r>
          </a:p>
          <a:p>
            <a:r>
              <a:rPr lang="en-US" sz="1200" b="1" kern="0" dirty="0" err="1">
                <a:solidFill>
                  <a:schemeClr val="dk2"/>
                </a:solidFill>
                <a:latin typeface="Courier New"/>
                <a:cs typeface="Courier New"/>
                <a:sym typeface="Arial"/>
              </a:rPr>
              <a:t>edu</a:t>
            </a:r>
            <a:r>
              <a:rPr lang="en-US" sz="1200" b="1" kern="0" dirty="0">
                <a:solidFill>
                  <a:schemeClr val="dk2"/>
                </a:solidFill>
                <a:latin typeface="Courier New"/>
                <a:cs typeface="Courier New"/>
                <a:sym typeface="Arial"/>
              </a:rPr>
              <a:t>.                172800   IN   </a:t>
            </a:r>
            <a:r>
              <a:rPr lang="en-US" sz="1200" b="1" kern="0" dirty="0">
                <a:solidFill>
                  <a:srgbClr val="FF0000"/>
                </a:solidFill>
                <a:latin typeface="Courier New"/>
                <a:cs typeface="Courier New"/>
                <a:sym typeface="Arial"/>
              </a:rPr>
              <a:t>NS</a:t>
            </a:r>
            <a:r>
              <a:rPr lang="en-US" sz="1200" b="1" kern="0" dirty="0">
                <a:solidFill>
                  <a:schemeClr val="dk2"/>
                </a:solidFill>
                <a:latin typeface="Courier New"/>
                <a:cs typeface="Courier New"/>
                <a:sym typeface="Arial"/>
              </a:rPr>
              <a:t>   a.edu-servers.net.</a:t>
            </a:r>
          </a:p>
          <a:p>
            <a:r>
              <a:rPr lang="en-US" sz="1200" b="1" kern="0" dirty="0" err="1">
                <a:solidFill>
                  <a:schemeClr val="dk2"/>
                </a:solidFill>
                <a:latin typeface="Courier New"/>
                <a:cs typeface="Courier New"/>
                <a:sym typeface="Arial"/>
              </a:rPr>
              <a:t>edu</a:t>
            </a:r>
            <a:r>
              <a:rPr lang="en-US" sz="1200" b="1" kern="0" dirty="0">
                <a:solidFill>
                  <a:schemeClr val="dk2"/>
                </a:solidFill>
                <a:latin typeface="Courier New"/>
                <a:cs typeface="Courier New"/>
                <a:sym typeface="Arial"/>
              </a:rPr>
              <a:t>.                172800   IN   </a:t>
            </a:r>
            <a:r>
              <a:rPr lang="en-US" sz="1200" b="1" kern="0" dirty="0">
                <a:solidFill>
                  <a:srgbClr val="FF0000"/>
                </a:solidFill>
                <a:latin typeface="Courier New"/>
                <a:cs typeface="Courier New"/>
                <a:sym typeface="Arial"/>
              </a:rPr>
              <a:t>NS</a:t>
            </a:r>
            <a:r>
              <a:rPr lang="en-US" sz="1200" b="1" kern="0" dirty="0">
                <a:solidFill>
                  <a:schemeClr val="dk2"/>
                </a:solidFill>
                <a:latin typeface="Courier New"/>
                <a:cs typeface="Courier New"/>
                <a:sym typeface="Arial"/>
              </a:rPr>
              <a:t>   b.edu-servers.net.</a:t>
            </a:r>
          </a:p>
          <a:p>
            <a:r>
              <a:rPr lang="en-US" sz="1200" b="1" kern="0" dirty="0" err="1">
                <a:solidFill>
                  <a:schemeClr val="dk2"/>
                </a:solidFill>
                <a:latin typeface="Courier New"/>
                <a:cs typeface="Courier New"/>
                <a:sym typeface="Arial"/>
              </a:rPr>
              <a:t>edu</a:t>
            </a:r>
            <a:r>
              <a:rPr lang="en-US" sz="1200" b="1" kern="0" dirty="0">
                <a:solidFill>
                  <a:schemeClr val="dk2"/>
                </a:solidFill>
                <a:latin typeface="Courier New"/>
                <a:cs typeface="Courier New"/>
                <a:sym typeface="Arial"/>
              </a:rPr>
              <a:t>.                172800   IN   </a:t>
            </a:r>
            <a:r>
              <a:rPr lang="en-US" sz="1200" b="1" kern="0" dirty="0">
                <a:solidFill>
                  <a:srgbClr val="FF0000"/>
                </a:solidFill>
                <a:latin typeface="Courier New"/>
                <a:cs typeface="Courier New"/>
                <a:sym typeface="Arial"/>
              </a:rPr>
              <a:t>NS</a:t>
            </a:r>
            <a:r>
              <a:rPr lang="en-US" sz="1200" b="1" kern="0" dirty="0">
                <a:solidFill>
                  <a:schemeClr val="dk2"/>
                </a:solidFill>
                <a:latin typeface="Courier New"/>
                <a:cs typeface="Courier New"/>
                <a:sym typeface="Arial"/>
              </a:rPr>
              <a:t>   c.edu-servers.net.</a:t>
            </a:r>
          </a:p>
          <a:p>
            <a:r>
              <a:rPr lang="en-US" sz="1200" b="1" kern="0" dirty="0">
                <a:solidFill>
                  <a:schemeClr val="dk2"/>
                </a:solidFill>
                <a:latin typeface="Courier New"/>
                <a:cs typeface="Courier New"/>
              </a:rPr>
              <a:t>...</a:t>
            </a:r>
          </a:p>
          <a:p>
            <a:endParaRPr lang="en-US" sz="1200" b="1" kern="0" dirty="0">
              <a:solidFill>
                <a:schemeClr val="dk2"/>
              </a:solidFill>
              <a:latin typeface="Courier New"/>
              <a:cs typeface="Courier New"/>
            </a:endParaRPr>
          </a:p>
          <a:p>
            <a:r>
              <a:rPr lang="en-US" sz="1200" b="1" kern="0" dirty="0">
                <a:solidFill>
                  <a:schemeClr val="dk2"/>
                </a:solidFill>
                <a:latin typeface="Courier New"/>
                <a:cs typeface="Courier New"/>
              </a:rPr>
              <a:t>;; ADDITIONAL SECTION:</a:t>
            </a:r>
          </a:p>
          <a:p>
            <a:r>
              <a:rPr lang="en-US" sz="1200" b="1" kern="0" dirty="0">
                <a:solidFill>
                  <a:schemeClr val="dk2"/>
                </a:solidFill>
                <a:latin typeface="Courier New"/>
                <a:cs typeface="Courier New"/>
              </a:rPr>
              <a:t>a.edu-servers.net.  172800   IN   A    192.5.6.30</a:t>
            </a:r>
          </a:p>
          <a:p>
            <a:r>
              <a:rPr lang="en-US" sz="1200" b="1" kern="0" dirty="0">
                <a:solidFill>
                  <a:schemeClr val="dk2"/>
                </a:solidFill>
                <a:latin typeface="Courier New"/>
                <a:cs typeface="Courier New"/>
              </a:rPr>
              <a:t>b.edu-servers.net.  172800   IN   A    192.33.14.30</a:t>
            </a:r>
          </a:p>
          <a:p>
            <a:r>
              <a:rPr lang="en-US" sz="1200" b="1" kern="0" dirty="0">
                <a:solidFill>
                  <a:schemeClr val="dk2"/>
                </a:solidFill>
                <a:latin typeface="Courier New"/>
                <a:cs typeface="Courier New"/>
              </a:rPr>
              <a:t>c.edu-servers.net.  172800   IN   A    192.26.92.30</a:t>
            </a:r>
          </a:p>
          <a:p>
            <a:r>
              <a:rPr lang="en-US" sz="1200" b="1" kern="0" dirty="0">
                <a:solidFill>
                  <a:schemeClr val="dk2"/>
                </a:solidFill>
                <a:latin typeface="Courier New"/>
                <a:cs typeface="Courier New"/>
              </a:rPr>
              <a:t>...</a:t>
            </a:r>
          </a:p>
        </p:txBody>
      </p:sp>
      <p:grpSp>
        <p:nvGrpSpPr>
          <p:cNvPr id="7" name="Group 6">
            <a:extLst>
              <a:ext uri="{FF2B5EF4-FFF2-40B4-BE49-F238E27FC236}">
                <a16:creationId xmlns:a16="http://schemas.microsoft.com/office/drawing/2014/main" id="{D90C9BA8-2AD2-4F92-2CE4-DBC34B47231D}"/>
              </a:ext>
            </a:extLst>
          </p:cNvPr>
          <p:cNvGrpSpPr/>
          <p:nvPr/>
        </p:nvGrpSpPr>
        <p:grpSpPr>
          <a:xfrm>
            <a:off x="3641271" y="4759779"/>
            <a:ext cx="2105649" cy="307777"/>
            <a:chOff x="3641271" y="4759779"/>
            <a:chExt cx="2105649" cy="307777"/>
          </a:xfrm>
        </p:grpSpPr>
        <p:sp>
          <p:nvSpPr>
            <p:cNvPr id="3" name="TextBox 2">
              <a:extLst>
                <a:ext uri="{FF2B5EF4-FFF2-40B4-BE49-F238E27FC236}">
                  <a16:creationId xmlns:a16="http://schemas.microsoft.com/office/drawing/2014/main" id="{B0BB90C9-DCB4-EDAD-AAB6-B279066C90BA}"/>
                </a:ext>
              </a:extLst>
            </p:cNvPr>
            <p:cNvSpPr txBox="1"/>
            <p:nvPr/>
          </p:nvSpPr>
          <p:spPr>
            <a:xfrm>
              <a:off x="3641271" y="4759779"/>
              <a:ext cx="1540236" cy="307777"/>
            </a:xfrm>
            <a:prstGeom prst="rect">
              <a:avLst/>
            </a:prstGeom>
            <a:noFill/>
            <a:ln w="12700">
              <a:solidFill>
                <a:schemeClr val="tx1"/>
              </a:solidFill>
            </a:ln>
          </p:spPr>
          <p:txBody>
            <a:bodyPr wrap="square" rtlCol="0">
              <a:spAutoFit/>
            </a:bodyPr>
            <a:lstStyle/>
            <a:p>
              <a:pPr algn="ctr"/>
              <a:r>
                <a:rPr lang="en-US" sz="1400" dirty="0"/>
                <a:t>Top-level domain</a:t>
              </a:r>
            </a:p>
          </p:txBody>
        </p:sp>
        <p:cxnSp>
          <p:nvCxnSpPr>
            <p:cNvPr id="6" name="Straight Arrow Connector 5">
              <a:extLst>
                <a:ext uri="{FF2B5EF4-FFF2-40B4-BE49-F238E27FC236}">
                  <a16:creationId xmlns:a16="http://schemas.microsoft.com/office/drawing/2014/main" id="{DBE89761-10FB-FFB6-5FAD-03941CD64BDE}"/>
                </a:ext>
              </a:extLst>
            </p:cNvPr>
            <p:cNvCxnSpPr>
              <a:stCxn id="3" idx="3"/>
            </p:cNvCxnSpPr>
            <p:nvPr/>
          </p:nvCxnSpPr>
          <p:spPr>
            <a:xfrm>
              <a:off x="5181507" y="4913668"/>
              <a:ext cx="565413" cy="153492"/>
            </a:xfrm>
            <a:prstGeom prst="straightConnector1">
              <a:avLst/>
            </a:prstGeom>
            <a:ln w="12700">
              <a:tailEnd type="triangle"/>
            </a:ln>
          </p:spPr>
          <p:style>
            <a:lnRef idx="1">
              <a:schemeClr val="accent2"/>
            </a:lnRef>
            <a:fillRef idx="0">
              <a:schemeClr val="accent2"/>
            </a:fillRef>
            <a:effectRef idx="0">
              <a:schemeClr val="accent2"/>
            </a:effectRef>
            <a:fontRef idx="minor">
              <a:schemeClr val="tx1"/>
            </a:fontRef>
          </p:style>
        </p:cxnSp>
      </p:grpSp>
      <p:grpSp>
        <p:nvGrpSpPr>
          <p:cNvPr id="8" name="Group 7">
            <a:extLst>
              <a:ext uri="{FF2B5EF4-FFF2-40B4-BE49-F238E27FC236}">
                <a16:creationId xmlns:a16="http://schemas.microsoft.com/office/drawing/2014/main" id="{3D941584-E573-3C80-A4B0-7AF8F7BE2965}"/>
              </a:ext>
            </a:extLst>
          </p:cNvPr>
          <p:cNvGrpSpPr/>
          <p:nvPr/>
        </p:nvGrpSpPr>
        <p:grpSpPr>
          <a:xfrm>
            <a:off x="3244166" y="6201755"/>
            <a:ext cx="2468358" cy="412529"/>
            <a:chOff x="3570509" y="4685631"/>
            <a:chExt cx="2468358" cy="412529"/>
          </a:xfrm>
        </p:grpSpPr>
        <p:sp>
          <p:nvSpPr>
            <p:cNvPr id="9" name="TextBox 8">
              <a:extLst>
                <a:ext uri="{FF2B5EF4-FFF2-40B4-BE49-F238E27FC236}">
                  <a16:creationId xmlns:a16="http://schemas.microsoft.com/office/drawing/2014/main" id="{B529D719-932C-946C-9B38-45E6DFEF0E3F}"/>
                </a:ext>
              </a:extLst>
            </p:cNvPr>
            <p:cNvSpPr txBox="1"/>
            <p:nvPr/>
          </p:nvSpPr>
          <p:spPr>
            <a:xfrm>
              <a:off x="3570509" y="4728828"/>
              <a:ext cx="1686904" cy="369332"/>
            </a:xfrm>
            <a:prstGeom prst="rect">
              <a:avLst/>
            </a:prstGeom>
            <a:noFill/>
            <a:ln w="12700">
              <a:solidFill>
                <a:schemeClr val="tx1"/>
              </a:solidFill>
            </a:ln>
          </p:spPr>
          <p:txBody>
            <a:bodyPr wrap="square" rtlCol="0">
              <a:spAutoFit/>
            </a:bodyPr>
            <a:lstStyle/>
            <a:p>
              <a:pPr algn="ctr"/>
              <a:r>
                <a:rPr lang="en-US" b="1" dirty="0"/>
                <a:t>Glue record</a:t>
              </a:r>
            </a:p>
          </p:txBody>
        </p:sp>
        <p:cxnSp>
          <p:nvCxnSpPr>
            <p:cNvPr id="10" name="Straight Arrow Connector 9">
              <a:extLst>
                <a:ext uri="{FF2B5EF4-FFF2-40B4-BE49-F238E27FC236}">
                  <a16:creationId xmlns:a16="http://schemas.microsoft.com/office/drawing/2014/main" id="{3178DA5F-704A-7A53-AA0D-66A56DA817FD}"/>
                </a:ext>
              </a:extLst>
            </p:cNvPr>
            <p:cNvCxnSpPr>
              <a:cxnSpLocks/>
              <a:stCxn id="9" idx="3"/>
            </p:cNvCxnSpPr>
            <p:nvPr/>
          </p:nvCxnSpPr>
          <p:spPr>
            <a:xfrm flipV="1">
              <a:off x="5257413" y="4685631"/>
              <a:ext cx="781454" cy="227863"/>
            </a:xfrm>
            <a:prstGeom prst="straightConnector1">
              <a:avLst/>
            </a:prstGeom>
            <a:ln w="12700">
              <a:tailEnd type="triangle"/>
            </a:ln>
          </p:spPr>
          <p:style>
            <a:lnRef idx="1">
              <a:schemeClr val="accent2"/>
            </a:lnRef>
            <a:fillRef idx="0">
              <a:schemeClr val="accent2"/>
            </a:fillRef>
            <a:effectRef idx="0">
              <a:schemeClr val="accent2"/>
            </a:effectRef>
            <a:fontRef idx="minor">
              <a:schemeClr val="tx1"/>
            </a:fontRef>
          </p:style>
        </p:cxnSp>
      </p:grpSp>
      <p:sp>
        <p:nvSpPr>
          <p:cNvPr id="12" name="Google Shape;1819;p140">
            <a:extLst>
              <a:ext uri="{FF2B5EF4-FFF2-40B4-BE49-F238E27FC236}">
                <a16:creationId xmlns:a16="http://schemas.microsoft.com/office/drawing/2014/main" id="{F940541D-48B1-73D6-8B51-8B3B4807285C}"/>
              </a:ext>
            </a:extLst>
          </p:cNvPr>
          <p:cNvSpPr txBox="1">
            <a:spLocks noGrp="1"/>
          </p:cNvSpPr>
          <p:nvPr>
            <p:ph type="title"/>
          </p:nvPr>
        </p:nvSpPr>
        <p:spPr>
          <a:xfrm>
            <a:off x="415600" y="28317"/>
            <a:ext cx="11360800" cy="763600"/>
          </a:xfrm>
          <a:prstGeom prst="rect">
            <a:avLst/>
          </a:prstGeom>
        </p:spPr>
        <p:txBody>
          <a:bodyPr spcFirstLastPara="1" wrap="square" lIns="121900" tIns="121900" rIns="121900" bIns="121900" anchor="t" anchorCtr="0">
            <a:noAutofit/>
          </a:bodyPr>
          <a:lstStyle/>
          <a:p>
            <a:r>
              <a:rPr lang="en" sz="4400" dirty="0">
                <a:latin typeface="Aptos" panose="020B0004020202020204" pitchFamily="34" charset="0"/>
              </a:rPr>
              <a:t>Steps of a DNS Lookup</a:t>
            </a:r>
            <a:endParaRPr sz="4400" dirty="0">
              <a:latin typeface="Aptos" panose="020B0004020202020204" pitchFamily="34" charset="0"/>
            </a:endParaRPr>
          </a:p>
        </p:txBody>
      </p:sp>
    </p:spTree>
    <p:extLst>
      <p:ext uri="{BB962C8B-B14F-4D97-AF65-F5344CB8AC3E}">
        <p14:creationId xmlns:p14="http://schemas.microsoft.com/office/powerpoint/2010/main" val="4229580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0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18"/>
        <p:cNvGrpSpPr/>
        <p:nvPr/>
      </p:nvGrpSpPr>
      <p:grpSpPr>
        <a:xfrm>
          <a:off x="0" y="0"/>
          <a:ext cx="0" cy="0"/>
          <a:chOff x="0" y="0"/>
          <a:chExt cx="0" cy="0"/>
        </a:xfrm>
      </p:grpSpPr>
      <p:grpSp>
        <p:nvGrpSpPr>
          <p:cNvPr id="4" name="Group 3">
            <a:extLst>
              <a:ext uri="{FF2B5EF4-FFF2-40B4-BE49-F238E27FC236}">
                <a16:creationId xmlns:a16="http://schemas.microsoft.com/office/drawing/2014/main" id="{C0E80BCC-A16C-48D9-25CC-B9673F458BC8}"/>
              </a:ext>
            </a:extLst>
          </p:cNvPr>
          <p:cNvGrpSpPr/>
          <p:nvPr/>
        </p:nvGrpSpPr>
        <p:grpSpPr>
          <a:xfrm>
            <a:off x="3287443" y="3702016"/>
            <a:ext cx="4813422" cy="460162"/>
            <a:chOff x="3287443" y="3702016"/>
            <a:chExt cx="4813422" cy="460162"/>
          </a:xfrm>
        </p:grpSpPr>
        <p:cxnSp>
          <p:nvCxnSpPr>
            <p:cNvPr id="42" name="Google Shape;453;p34">
              <a:extLst>
                <a:ext uri="{FF2B5EF4-FFF2-40B4-BE49-F238E27FC236}">
                  <a16:creationId xmlns:a16="http://schemas.microsoft.com/office/drawing/2014/main" id="{16EF8B0C-A9C7-857D-7B6B-E9724AA0A94F}"/>
                </a:ext>
              </a:extLst>
            </p:cNvPr>
            <p:cNvCxnSpPr>
              <a:cxnSpLocks/>
            </p:cNvCxnSpPr>
            <p:nvPr/>
          </p:nvCxnSpPr>
          <p:spPr>
            <a:xfrm flipV="1">
              <a:off x="3287443" y="3869082"/>
              <a:ext cx="4813422" cy="293096"/>
            </a:xfrm>
            <a:prstGeom prst="straightConnector1">
              <a:avLst/>
            </a:prstGeom>
            <a:noFill/>
            <a:ln w="19050" cap="flat" cmpd="sng">
              <a:solidFill>
                <a:srgbClr val="000000"/>
              </a:solidFill>
              <a:prstDash val="solid"/>
              <a:round/>
              <a:headEnd type="none" w="med" len="med"/>
              <a:tailEnd type="triangle" w="med" len="med"/>
            </a:ln>
          </p:spPr>
        </p:cxnSp>
        <p:sp>
          <p:nvSpPr>
            <p:cNvPr id="48" name="Google Shape;459;p34">
              <a:extLst>
                <a:ext uri="{FF2B5EF4-FFF2-40B4-BE49-F238E27FC236}">
                  <a16:creationId xmlns:a16="http://schemas.microsoft.com/office/drawing/2014/main" id="{1C48F1A5-F772-28A9-FF7E-53A8BD456769}"/>
                </a:ext>
              </a:extLst>
            </p:cNvPr>
            <p:cNvSpPr txBox="1"/>
            <p:nvPr/>
          </p:nvSpPr>
          <p:spPr>
            <a:xfrm>
              <a:off x="5357775" y="3702016"/>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4</a:t>
              </a:r>
              <a:endParaRPr dirty="0">
                <a:latin typeface="Calibri"/>
                <a:ea typeface="Calibri"/>
                <a:cs typeface="Calibri"/>
                <a:sym typeface="Calibri"/>
              </a:endParaRPr>
            </a:p>
          </p:txBody>
        </p:sp>
      </p:grpSp>
      <p:grpSp>
        <p:nvGrpSpPr>
          <p:cNvPr id="6" name="Group 5">
            <a:extLst>
              <a:ext uri="{FF2B5EF4-FFF2-40B4-BE49-F238E27FC236}">
                <a16:creationId xmlns:a16="http://schemas.microsoft.com/office/drawing/2014/main" id="{6F9D0011-A165-FE67-A377-047392C6BA04}"/>
              </a:ext>
            </a:extLst>
          </p:cNvPr>
          <p:cNvGrpSpPr/>
          <p:nvPr/>
        </p:nvGrpSpPr>
        <p:grpSpPr>
          <a:xfrm>
            <a:off x="3208536" y="4026509"/>
            <a:ext cx="4860377" cy="491202"/>
            <a:chOff x="3208536" y="4026509"/>
            <a:chExt cx="4860377" cy="491202"/>
          </a:xfrm>
        </p:grpSpPr>
        <p:cxnSp>
          <p:nvCxnSpPr>
            <p:cNvPr id="43" name="Google Shape;454;p34">
              <a:extLst>
                <a:ext uri="{FF2B5EF4-FFF2-40B4-BE49-F238E27FC236}">
                  <a16:creationId xmlns:a16="http://schemas.microsoft.com/office/drawing/2014/main" id="{2C6A8A76-0909-4DD6-9585-6037911FB833}"/>
                </a:ext>
              </a:extLst>
            </p:cNvPr>
            <p:cNvCxnSpPr>
              <a:cxnSpLocks/>
            </p:cNvCxnSpPr>
            <p:nvPr/>
          </p:nvCxnSpPr>
          <p:spPr>
            <a:xfrm flipV="1">
              <a:off x="3208536" y="4026509"/>
              <a:ext cx="4860377" cy="271339"/>
            </a:xfrm>
            <a:prstGeom prst="straightConnector1">
              <a:avLst/>
            </a:prstGeom>
            <a:noFill/>
            <a:ln w="19050" cap="flat" cmpd="sng">
              <a:solidFill>
                <a:srgbClr val="000000"/>
              </a:solidFill>
              <a:prstDash val="solid"/>
              <a:round/>
              <a:headEnd type="triangle" w="med" len="med"/>
              <a:tailEnd type="none" w="med" len="med"/>
            </a:ln>
          </p:spPr>
        </p:cxnSp>
        <p:sp>
          <p:nvSpPr>
            <p:cNvPr id="49" name="Google Shape;460;p34">
              <a:extLst>
                <a:ext uri="{FF2B5EF4-FFF2-40B4-BE49-F238E27FC236}">
                  <a16:creationId xmlns:a16="http://schemas.microsoft.com/office/drawing/2014/main" id="{7493E646-66BA-7CE8-B74B-C293C45E5EF1}"/>
                </a:ext>
              </a:extLst>
            </p:cNvPr>
            <p:cNvSpPr txBox="1"/>
            <p:nvPr/>
          </p:nvSpPr>
          <p:spPr>
            <a:xfrm>
              <a:off x="5410153" y="4121111"/>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5</a:t>
              </a:r>
              <a:endParaRPr dirty="0">
                <a:latin typeface="Calibri"/>
                <a:ea typeface="Calibri"/>
                <a:cs typeface="Calibri"/>
                <a:sym typeface="Calibri"/>
              </a:endParaRPr>
            </a:p>
          </p:txBody>
        </p:sp>
      </p:grpSp>
      <p:grpSp>
        <p:nvGrpSpPr>
          <p:cNvPr id="26" name="Group 25">
            <a:extLst>
              <a:ext uri="{FF2B5EF4-FFF2-40B4-BE49-F238E27FC236}">
                <a16:creationId xmlns:a16="http://schemas.microsoft.com/office/drawing/2014/main" id="{D0E56AA2-2BAA-AF22-2161-5D6CA42BBE2A}"/>
              </a:ext>
            </a:extLst>
          </p:cNvPr>
          <p:cNvGrpSpPr/>
          <p:nvPr/>
        </p:nvGrpSpPr>
        <p:grpSpPr>
          <a:xfrm>
            <a:off x="3244165" y="2694658"/>
            <a:ext cx="5648232" cy="1084415"/>
            <a:chOff x="3244165" y="2694658"/>
            <a:chExt cx="5648232" cy="1084415"/>
          </a:xfrm>
        </p:grpSpPr>
        <p:cxnSp>
          <p:nvCxnSpPr>
            <p:cNvPr id="40" name="Google Shape;451;p34">
              <a:extLst>
                <a:ext uri="{FF2B5EF4-FFF2-40B4-BE49-F238E27FC236}">
                  <a16:creationId xmlns:a16="http://schemas.microsoft.com/office/drawing/2014/main" id="{C83FD851-A3A3-534D-4A15-054BE2D10ADC}"/>
                </a:ext>
              </a:extLst>
            </p:cNvPr>
            <p:cNvCxnSpPr>
              <a:cxnSpLocks/>
            </p:cNvCxnSpPr>
            <p:nvPr/>
          </p:nvCxnSpPr>
          <p:spPr>
            <a:xfrm flipV="1">
              <a:off x="3244165" y="2694658"/>
              <a:ext cx="5648232" cy="929768"/>
            </a:xfrm>
            <a:prstGeom prst="straightConnector1">
              <a:avLst/>
            </a:prstGeom>
            <a:noFill/>
            <a:ln w="19050" cap="flat" cmpd="sng">
              <a:solidFill>
                <a:srgbClr val="000000"/>
              </a:solidFill>
              <a:prstDash val="solid"/>
              <a:round/>
              <a:headEnd type="none" w="med" len="med"/>
              <a:tailEnd type="triangle" w="med" len="med"/>
            </a:ln>
          </p:spPr>
        </p:cxnSp>
        <p:cxnSp>
          <p:nvCxnSpPr>
            <p:cNvPr id="41" name="Google Shape;452;p34">
              <a:extLst>
                <a:ext uri="{FF2B5EF4-FFF2-40B4-BE49-F238E27FC236}">
                  <a16:creationId xmlns:a16="http://schemas.microsoft.com/office/drawing/2014/main" id="{EC8B397A-8CDD-3380-DAA2-D7BEED4F262F}"/>
                </a:ext>
              </a:extLst>
            </p:cNvPr>
            <p:cNvCxnSpPr>
              <a:cxnSpLocks/>
            </p:cNvCxnSpPr>
            <p:nvPr/>
          </p:nvCxnSpPr>
          <p:spPr>
            <a:xfrm flipV="1">
              <a:off x="3244165" y="2845412"/>
              <a:ext cx="5564822" cy="933661"/>
            </a:xfrm>
            <a:prstGeom prst="straightConnector1">
              <a:avLst/>
            </a:prstGeom>
            <a:noFill/>
            <a:ln w="19050" cap="flat" cmpd="sng">
              <a:solidFill>
                <a:srgbClr val="000000"/>
              </a:solidFill>
              <a:prstDash val="solid"/>
              <a:round/>
              <a:headEnd type="triangle" w="med" len="med"/>
              <a:tailEnd type="none" w="med" len="med"/>
            </a:ln>
          </p:spPr>
        </p:cxnSp>
        <p:sp>
          <p:nvSpPr>
            <p:cNvPr id="50" name="Google Shape;461;p34">
              <a:extLst>
                <a:ext uri="{FF2B5EF4-FFF2-40B4-BE49-F238E27FC236}">
                  <a16:creationId xmlns:a16="http://schemas.microsoft.com/office/drawing/2014/main" id="{B0559663-6DAA-0C10-9D04-8A68A2B48032}"/>
                </a:ext>
              </a:extLst>
            </p:cNvPr>
            <p:cNvSpPr txBox="1"/>
            <p:nvPr/>
          </p:nvSpPr>
          <p:spPr>
            <a:xfrm>
              <a:off x="5379945" y="3322855"/>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3</a:t>
              </a:r>
              <a:endParaRPr>
                <a:latin typeface="Calibri"/>
                <a:ea typeface="Calibri"/>
                <a:cs typeface="Calibri"/>
                <a:sym typeface="Calibri"/>
              </a:endParaRPr>
            </a:p>
          </p:txBody>
        </p:sp>
        <p:sp>
          <p:nvSpPr>
            <p:cNvPr id="51" name="Google Shape;462;p34">
              <a:extLst>
                <a:ext uri="{FF2B5EF4-FFF2-40B4-BE49-F238E27FC236}">
                  <a16:creationId xmlns:a16="http://schemas.microsoft.com/office/drawing/2014/main" id="{2C3C1B8D-2219-F6D4-25D6-7C28F532C1A9}"/>
                </a:ext>
              </a:extLst>
            </p:cNvPr>
            <p:cNvSpPr txBox="1"/>
            <p:nvPr/>
          </p:nvSpPr>
          <p:spPr>
            <a:xfrm>
              <a:off x="5336820" y="2931993"/>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2</a:t>
              </a:r>
              <a:endParaRPr dirty="0">
                <a:latin typeface="Calibri"/>
                <a:ea typeface="Calibri"/>
                <a:cs typeface="Calibri"/>
                <a:sym typeface="Calibri"/>
              </a:endParaRPr>
            </a:p>
          </p:txBody>
        </p:sp>
      </p:grpSp>
      <p:grpSp>
        <p:nvGrpSpPr>
          <p:cNvPr id="1805" name="Group 1804">
            <a:extLst>
              <a:ext uri="{FF2B5EF4-FFF2-40B4-BE49-F238E27FC236}">
                <a16:creationId xmlns:a16="http://schemas.microsoft.com/office/drawing/2014/main" id="{070D75B0-2DF1-AA36-F494-895885C2533C}"/>
              </a:ext>
            </a:extLst>
          </p:cNvPr>
          <p:cNvGrpSpPr/>
          <p:nvPr/>
        </p:nvGrpSpPr>
        <p:grpSpPr>
          <a:xfrm>
            <a:off x="5595991" y="1146320"/>
            <a:ext cx="4114800" cy="1647676"/>
            <a:chOff x="5595991" y="1146320"/>
            <a:chExt cx="4114800" cy="1647676"/>
          </a:xfrm>
        </p:grpSpPr>
        <p:cxnSp>
          <p:nvCxnSpPr>
            <p:cNvPr id="2" name="Google Shape;430;p34">
              <a:extLst>
                <a:ext uri="{FF2B5EF4-FFF2-40B4-BE49-F238E27FC236}">
                  <a16:creationId xmlns:a16="http://schemas.microsoft.com/office/drawing/2014/main" id="{EB46FE56-B752-CBDA-22E4-33A06CBC17CE}"/>
                </a:ext>
              </a:extLst>
            </p:cNvPr>
            <p:cNvCxnSpPr>
              <a:cxnSpLocks/>
              <a:stCxn id="5" idx="2"/>
            </p:cNvCxnSpPr>
            <p:nvPr/>
          </p:nvCxnSpPr>
          <p:spPr>
            <a:xfrm>
              <a:off x="7653391" y="2152160"/>
              <a:ext cx="0" cy="641836"/>
            </a:xfrm>
            <a:prstGeom prst="straightConnector1">
              <a:avLst/>
            </a:prstGeom>
            <a:noFill/>
            <a:ln w="19050" cap="flat" cmpd="sng">
              <a:solidFill>
                <a:srgbClr val="E69138"/>
              </a:solidFill>
              <a:prstDash val="solid"/>
              <a:round/>
              <a:headEnd type="none" w="med" len="med"/>
              <a:tailEnd type="triangle" w="med" len="med"/>
            </a:ln>
          </p:spPr>
        </p:cxnSp>
        <p:sp>
          <p:nvSpPr>
            <p:cNvPr id="5" name="Google Shape;228;p26">
              <a:extLst>
                <a:ext uri="{FF2B5EF4-FFF2-40B4-BE49-F238E27FC236}">
                  <a16:creationId xmlns:a16="http://schemas.microsoft.com/office/drawing/2014/main" id="{1C129A16-422D-57AA-955E-B66CCE2ADFFD}"/>
                </a:ext>
              </a:extLst>
            </p:cNvPr>
            <p:cNvSpPr txBox="1"/>
            <p:nvPr/>
          </p:nvSpPr>
          <p:spPr>
            <a:xfrm>
              <a:off x="5595991" y="1146320"/>
              <a:ext cx="4114800" cy="1005840"/>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t>DNS queries always start with a request to the root name server, which is responsible for all requests.</a:t>
              </a:r>
              <a:endParaRPr/>
            </a:p>
          </p:txBody>
        </p:sp>
      </p:grpSp>
      <p:sp>
        <p:nvSpPr>
          <p:cNvPr id="53" name="Google Shape;418;p33">
            <a:extLst>
              <a:ext uri="{FF2B5EF4-FFF2-40B4-BE49-F238E27FC236}">
                <a16:creationId xmlns:a16="http://schemas.microsoft.com/office/drawing/2014/main" id="{D8342BD5-6261-8271-1D4D-7697800903FA}"/>
              </a:ext>
            </a:extLst>
          </p:cNvPr>
          <p:cNvSpPr txBox="1"/>
          <p:nvPr/>
        </p:nvSpPr>
        <p:spPr>
          <a:xfrm>
            <a:off x="1691203" y="2020910"/>
            <a:ext cx="1417320" cy="6543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Stub Resolver</a:t>
            </a:r>
            <a:endParaRPr>
              <a:latin typeface="Calibri"/>
              <a:ea typeface="Calibri"/>
              <a:cs typeface="Calibri"/>
              <a:sym typeface="Calibri"/>
            </a:endParaRPr>
          </a:p>
        </p:txBody>
      </p:sp>
      <p:grpSp>
        <p:nvGrpSpPr>
          <p:cNvPr id="54" name="Google Shape;422;p33">
            <a:extLst>
              <a:ext uri="{FF2B5EF4-FFF2-40B4-BE49-F238E27FC236}">
                <a16:creationId xmlns:a16="http://schemas.microsoft.com/office/drawing/2014/main" id="{B07A6A15-85B7-A8B6-0746-7E562F10ACD0}"/>
              </a:ext>
            </a:extLst>
          </p:cNvPr>
          <p:cNvGrpSpPr/>
          <p:nvPr/>
        </p:nvGrpSpPr>
        <p:grpSpPr>
          <a:xfrm>
            <a:off x="1753463" y="2719788"/>
            <a:ext cx="410100" cy="762900"/>
            <a:chOff x="258935" y="2049228"/>
            <a:chExt cx="410100" cy="762900"/>
          </a:xfrm>
        </p:grpSpPr>
        <p:sp>
          <p:nvSpPr>
            <p:cNvPr id="55" name="Google Shape;423;p33">
              <a:extLst>
                <a:ext uri="{FF2B5EF4-FFF2-40B4-BE49-F238E27FC236}">
                  <a16:creationId xmlns:a16="http://schemas.microsoft.com/office/drawing/2014/main" id="{A0751A73-76DB-5AC2-6FA1-3C3598BA7E07}"/>
                </a:ext>
              </a:extLst>
            </p:cNvPr>
            <p:cNvSpPr txBox="1"/>
            <p:nvPr/>
          </p:nvSpPr>
          <p:spPr>
            <a:xfrm>
              <a:off x="258935" y="2174852"/>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1</a:t>
              </a:r>
              <a:endParaRPr>
                <a:latin typeface="Calibri"/>
                <a:ea typeface="Calibri"/>
                <a:cs typeface="Calibri"/>
                <a:sym typeface="Calibri"/>
              </a:endParaRPr>
            </a:p>
          </p:txBody>
        </p:sp>
        <p:cxnSp>
          <p:nvCxnSpPr>
            <p:cNvPr id="56" name="Google Shape;424;p33">
              <a:extLst>
                <a:ext uri="{FF2B5EF4-FFF2-40B4-BE49-F238E27FC236}">
                  <a16:creationId xmlns:a16="http://schemas.microsoft.com/office/drawing/2014/main" id="{9DA5FFFB-965A-372A-85A5-8F9C84694A0A}"/>
                </a:ext>
              </a:extLst>
            </p:cNvPr>
            <p:cNvCxnSpPr/>
            <p:nvPr/>
          </p:nvCxnSpPr>
          <p:spPr>
            <a:xfrm rot="10800000">
              <a:off x="530725" y="2049228"/>
              <a:ext cx="0" cy="762900"/>
            </a:xfrm>
            <a:prstGeom prst="straightConnector1">
              <a:avLst/>
            </a:prstGeom>
            <a:noFill/>
            <a:ln w="19050" cap="flat" cmpd="sng">
              <a:solidFill>
                <a:srgbClr val="000000"/>
              </a:solidFill>
              <a:prstDash val="solid"/>
              <a:round/>
              <a:headEnd type="triangle" w="med" len="med"/>
              <a:tailEnd type="none" w="med" len="med"/>
            </a:ln>
          </p:spPr>
        </p:cxnSp>
      </p:grpSp>
      <p:sp>
        <p:nvSpPr>
          <p:cNvPr id="57" name="Google Shape;425;p33">
            <a:extLst>
              <a:ext uri="{FF2B5EF4-FFF2-40B4-BE49-F238E27FC236}">
                <a16:creationId xmlns:a16="http://schemas.microsoft.com/office/drawing/2014/main" id="{983DF0F2-4D45-D664-D4E8-C82C0ED176A5}"/>
              </a:ext>
            </a:extLst>
          </p:cNvPr>
          <p:cNvSpPr txBox="1"/>
          <p:nvPr/>
        </p:nvSpPr>
        <p:spPr>
          <a:xfrm>
            <a:off x="1691203" y="3527260"/>
            <a:ext cx="1417320" cy="15399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sp>
        <p:nvSpPr>
          <p:cNvPr id="15" name="Google Shape;407;p33">
            <a:extLst>
              <a:ext uri="{FF2B5EF4-FFF2-40B4-BE49-F238E27FC236}">
                <a16:creationId xmlns:a16="http://schemas.microsoft.com/office/drawing/2014/main" id="{DCEBFC45-EE9B-64B2-BCD9-5CC671233AF5}"/>
              </a:ext>
            </a:extLst>
          </p:cNvPr>
          <p:cNvSpPr txBox="1"/>
          <p:nvPr/>
        </p:nvSpPr>
        <p:spPr>
          <a:xfrm>
            <a:off x="9030706" y="2495072"/>
            <a:ext cx="1280160" cy="457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.(root)</a:t>
            </a:r>
            <a:endParaRPr>
              <a:latin typeface="Courier New"/>
              <a:ea typeface="Courier New"/>
              <a:cs typeface="Courier New"/>
              <a:sym typeface="Courier New"/>
            </a:endParaRPr>
          </a:p>
        </p:txBody>
      </p:sp>
      <p:sp>
        <p:nvSpPr>
          <p:cNvPr id="16" name="Google Shape;408;p33">
            <a:extLst>
              <a:ext uri="{FF2B5EF4-FFF2-40B4-BE49-F238E27FC236}">
                <a16:creationId xmlns:a16="http://schemas.microsoft.com/office/drawing/2014/main" id="{AEFAFD3B-14E7-EF1F-02BE-A921CA359E08}"/>
              </a:ext>
            </a:extLst>
          </p:cNvPr>
          <p:cNvSpPr txBox="1"/>
          <p:nvPr/>
        </p:nvSpPr>
        <p:spPr>
          <a:xfrm>
            <a:off x="8187421" y="3703054"/>
            <a:ext cx="731520" cy="457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.edu</a:t>
            </a:r>
            <a:endParaRPr>
              <a:latin typeface="Calibri"/>
              <a:ea typeface="Calibri"/>
              <a:cs typeface="Calibri"/>
              <a:sym typeface="Calibri"/>
            </a:endParaRPr>
          </a:p>
        </p:txBody>
      </p:sp>
      <p:sp>
        <p:nvSpPr>
          <p:cNvPr id="17" name="Google Shape;409;p33">
            <a:extLst>
              <a:ext uri="{FF2B5EF4-FFF2-40B4-BE49-F238E27FC236}">
                <a16:creationId xmlns:a16="http://schemas.microsoft.com/office/drawing/2014/main" id="{C1D1CC35-37D4-E7D3-B6A7-622D47D063FD}"/>
              </a:ext>
            </a:extLst>
          </p:cNvPr>
          <p:cNvSpPr txBox="1"/>
          <p:nvPr/>
        </p:nvSpPr>
        <p:spPr>
          <a:xfrm>
            <a:off x="10301461" y="3703054"/>
            <a:ext cx="731520" cy="457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.org</a:t>
            </a:r>
            <a:endParaRPr>
              <a:latin typeface="Calibri"/>
              <a:ea typeface="Calibri"/>
              <a:cs typeface="Calibri"/>
              <a:sym typeface="Calibri"/>
            </a:endParaRPr>
          </a:p>
        </p:txBody>
      </p:sp>
      <p:sp>
        <p:nvSpPr>
          <p:cNvPr id="18" name="Google Shape;410;p33">
            <a:extLst>
              <a:ext uri="{FF2B5EF4-FFF2-40B4-BE49-F238E27FC236}">
                <a16:creationId xmlns:a16="http://schemas.microsoft.com/office/drawing/2014/main" id="{568ADECE-3497-E694-5B6F-9BA326D6AC4D}"/>
              </a:ext>
            </a:extLst>
          </p:cNvPr>
          <p:cNvSpPr txBox="1"/>
          <p:nvPr/>
        </p:nvSpPr>
        <p:spPr>
          <a:xfrm>
            <a:off x="10923500" y="4821057"/>
            <a:ext cx="1043400" cy="457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Courier New"/>
                <a:ea typeface="Courier New"/>
                <a:cs typeface="Courier New"/>
                <a:sym typeface="Courier New"/>
              </a:rPr>
              <a:t>cs101.org</a:t>
            </a:r>
            <a:endParaRPr sz="1200">
              <a:latin typeface="Calibri"/>
              <a:ea typeface="Calibri"/>
              <a:cs typeface="Calibri"/>
              <a:sym typeface="Calibri"/>
            </a:endParaRPr>
          </a:p>
        </p:txBody>
      </p:sp>
      <p:sp>
        <p:nvSpPr>
          <p:cNvPr id="19" name="Google Shape;411;p33">
            <a:extLst>
              <a:ext uri="{FF2B5EF4-FFF2-40B4-BE49-F238E27FC236}">
                <a16:creationId xmlns:a16="http://schemas.microsoft.com/office/drawing/2014/main" id="{02BDE27A-5EA1-F236-CCE6-E524A3DEAA16}"/>
              </a:ext>
            </a:extLst>
          </p:cNvPr>
          <p:cNvSpPr txBox="1"/>
          <p:nvPr/>
        </p:nvSpPr>
        <p:spPr>
          <a:xfrm>
            <a:off x="8797018" y="4821057"/>
            <a:ext cx="1557814" cy="457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latin typeface="Courier New"/>
                <a:ea typeface="Courier New"/>
                <a:cs typeface="Courier New"/>
                <a:sym typeface="Courier New"/>
              </a:rPr>
              <a:t>mit.edu</a:t>
            </a:r>
            <a:endParaRPr sz="1200" dirty="0">
              <a:latin typeface="Calibri"/>
              <a:ea typeface="Calibri"/>
              <a:cs typeface="Calibri"/>
              <a:sym typeface="Calibri"/>
            </a:endParaRPr>
          </a:p>
        </p:txBody>
      </p:sp>
      <p:sp>
        <p:nvSpPr>
          <p:cNvPr id="20" name="Google Shape;412;p33">
            <a:extLst>
              <a:ext uri="{FF2B5EF4-FFF2-40B4-BE49-F238E27FC236}">
                <a16:creationId xmlns:a16="http://schemas.microsoft.com/office/drawing/2014/main" id="{515403F8-1A9B-B85C-BE18-0543D91E2E9E}"/>
              </a:ext>
            </a:extLst>
          </p:cNvPr>
          <p:cNvSpPr txBox="1"/>
          <p:nvPr/>
        </p:nvSpPr>
        <p:spPr>
          <a:xfrm>
            <a:off x="6725864" y="4821057"/>
            <a:ext cx="1296300" cy="457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latin typeface="Courier New"/>
                <a:ea typeface="Courier New"/>
                <a:cs typeface="Courier New"/>
                <a:sym typeface="Courier New"/>
              </a:rPr>
              <a:t>msoe</a:t>
            </a:r>
            <a:r>
              <a:rPr lang="en" sz="1200" dirty="0">
                <a:latin typeface="Courier New"/>
                <a:ea typeface="Courier New"/>
                <a:cs typeface="Courier New"/>
                <a:sym typeface="Courier New"/>
              </a:rPr>
              <a:t>.edu</a:t>
            </a:r>
            <a:endParaRPr sz="1200" dirty="0">
              <a:latin typeface="Calibri"/>
              <a:ea typeface="Calibri"/>
              <a:cs typeface="Calibri"/>
              <a:sym typeface="Calibri"/>
            </a:endParaRPr>
          </a:p>
        </p:txBody>
      </p:sp>
      <p:cxnSp>
        <p:nvCxnSpPr>
          <p:cNvPr id="21" name="Google Shape;413;p33">
            <a:extLst>
              <a:ext uri="{FF2B5EF4-FFF2-40B4-BE49-F238E27FC236}">
                <a16:creationId xmlns:a16="http://schemas.microsoft.com/office/drawing/2014/main" id="{209F5431-BB2C-70BD-CB64-B4407EC29D50}"/>
              </a:ext>
            </a:extLst>
          </p:cNvPr>
          <p:cNvCxnSpPr>
            <a:stCxn id="15" idx="2"/>
            <a:endCxn id="16" idx="0"/>
          </p:cNvCxnSpPr>
          <p:nvPr/>
        </p:nvCxnSpPr>
        <p:spPr>
          <a:xfrm flipH="1">
            <a:off x="8553181" y="2952272"/>
            <a:ext cx="1117605" cy="750782"/>
          </a:xfrm>
          <a:prstGeom prst="straightConnector1">
            <a:avLst/>
          </a:prstGeom>
          <a:noFill/>
          <a:ln w="9525" cap="flat" cmpd="sng">
            <a:solidFill>
              <a:srgbClr val="000000"/>
            </a:solidFill>
            <a:prstDash val="solid"/>
            <a:round/>
            <a:headEnd type="none" w="med" len="med"/>
            <a:tailEnd type="none" w="med" len="med"/>
          </a:ln>
        </p:spPr>
      </p:cxnSp>
      <p:cxnSp>
        <p:nvCxnSpPr>
          <p:cNvPr id="22" name="Google Shape;414;p33">
            <a:extLst>
              <a:ext uri="{FF2B5EF4-FFF2-40B4-BE49-F238E27FC236}">
                <a16:creationId xmlns:a16="http://schemas.microsoft.com/office/drawing/2014/main" id="{DA16F4B7-133F-1123-FA43-24D471C6A4B8}"/>
              </a:ext>
            </a:extLst>
          </p:cNvPr>
          <p:cNvCxnSpPr>
            <a:cxnSpLocks/>
            <a:stCxn id="15" idx="2"/>
            <a:endCxn id="17" idx="0"/>
          </p:cNvCxnSpPr>
          <p:nvPr/>
        </p:nvCxnSpPr>
        <p:spPr>
          <a:xfrm>
            <a:off x="9670786" y="2952272"/>
            <a:ext cx="996435" cy="750782"/>
          </a:xfrm>
          <a:prstGeom prst="straightConnector1">
            <a:avLst/>
          </a:prstGeom>
          <a:noFill/>
          <a:ln w="9525" cap="flat" cmpd="sng">
            <a:solidFill>
              <a:srgbClr val="000000"/>
            </a:solidFill>
            <a:prstDash val="solid"/>
            <a:round/>
            <a:headEnd type="none" w="med" len="med"/>
            <a:tailEnd type="none" w="med" len="med"/>
          </a:ln>
        </p:spPr>
      </p:cxnSp>
      <p:cxnSp>
        <p:nvCxnSpPr>
          <p:cNvPr id="23" name="Google Shape;415;p33">
            <a:extLst>
              <a:ext uri="{FF2B5EF4-FFF2-40B4-BE49-F238E27FC236}">
                <a16:creationId xmlns:a16="http://schemas.microsoft.com/office/drawing/2014/main" id="{C418A23D-0B99-CD3B-03A9-6099B729148C}"/>
              </a:ext>
            </a:extLst>
          </p:cNvPr>
          <p:cNvCxnSpPr>
            <a:cxnSpLocks/>
            <a:stCxn id="16" idx="2"/>
            <a:endCxn id="20" idx="0"/>
          </p:cNvCxnSpPr>
          <p:nvPr/>
        </p:nvCxnSpPr>
        <p:spPr>
          <a:xfrm flipH="1">
            <a:off x="7374014" y="4160254"/>
            <a:ext cx="1179167" cy="660803"/>
          </a:xfrm>
          <a:prstGeom prst="straightConnector1">
            <a:avLst/>
          </a:prstGeom>
          <a:noFill/>
          <a:ln w="9525" cap="flat" cmpd="sng">
            <a:solidFill>
              <a:srgbClr val="000000"/>
            </a:solidFill>
            <a:prstDash val="solid"/>
            <a:round/>
            <a:headEnd type="none" w="med" len="med"/>
            <a:tailEnd type="none" w="med" len="med"/>
          </a:ln>
        </p:spPr>
      </p:cxnSp>
      <p:cxnSp>
        <p:nvCxnSpPr>
          <p:cNvPr id="24" name="Google Shape;416;p33">
            <a:extLst>
              <a:ext uri="{FF2B5EF4-FFF2-40B4-BE49-F238E27FC236}">
                <a16:creationId xmlns:a16="http://schemas.microsoft.com/office/drawing/2014/main" id="{32A348D3-51B8-7815-56DC-6DBF1D454521}"/>
              </a:ext>
            </a:extLst>
          </p:cNvPr>
          <p:cNvCxnSpPr>
            <a:cxnSpLocks/>
            <a:stCxn id="16" idx="2"/>
            <a:endCxn id="19" idx="0"/>
          </p:cNvCxnSpPr>
          <p:nvPr/>
        </p:nvCxnSpPr>
        <p:spPr>
          <a:xfrm>
            <a:off x="8553181" y="4160254"/>
            <a:ext cx="1022744" cy="660803"/>
          </a:xfrm>
          <a:prstGeom prst="straightConnector1">
            <a:avLst/>
          </a:prstGeom>
          <a:noFill/>
          <a:ln w="9525" cap="flat" cmpd="sng">
            <a:solidFill>
              <a:srgbClr val="000000"/>
            </a:solidFill>
            <a:prstDash val="solid"/>
            <a:round/>
            <a:headEnd type="none" w="med" len="med"/>
            <a:tailEnd type="none" w="med" len="med"/>
          </a:ln>
        </p:spPr>
      </p:cxnSp>
      <p:cxnSp>
        <p:nvCxnSpPr>
          <p:cNvPr id="25" name="Google Shape;417;p33">
            <a:extLst>
              <a:ext uri="{FF2B5EF4-FFF2-40B4-BE49-F238E27FC236}">
                <a16:creationId xmlns:a16="http://schemas.microsoft.com/office/drawing/2014/main" id="{A96A7343-00B3-1EF1-CA53-6396091E6FD2}"/>
              </a:ext>
            </a:extLst>
          </p:cNvPr>
          <p:cNvCxnSpPr>
            <a:stCxn id="17" idx="2"/>
            <a:endCxn id="18" idx="0"/>
          </p:cNvCxnSpPr>
          <p:nvPr/>
        </p:nvCxnSpPr>
        <p:spPr>
          <a:xfrm>
            <a:off x="10667221" y="4160254"/>
            <a:ext cx="777979" cy="660803"/>
          </a:xfrm>
          <a:prstGeom prst="straightConnector1">
            <a:avLst/>
          </a:prstGeom>
          <a:noFill/>
          <a:ln w="9525" cap="flat" cmpd="sng">
            <a:solidFill>
              <a:srgbClr val="000000"/>
            </a:solidFill>
            <a:prstDash val="solid"/>
            <a:round/>
            <a:headEnd type="none" w="med" len="med"/>
            <a:tailEnd type="none" w="med" len="med"/>
          </a:ln>
        </p:spPr>
      </p:cxnSp>
      <p:sp>
        <p:nvSpPr>
          <p:cNvPr id="3" name="TextBox 2">
            <a:extLst>
              <a:ext uri="{FF2B5EF4-FFF2-40B4-BE49-F238E27FC236}">
                <a16:creationId xmlns:a16="http://schemas.microsoft.com/office/drawing/2014/main" id="{0E6D7B0F-7C51-CC07-B53E-BC27C673AEC5}"/>
              </a:ext>
            </a:extLst>
          </p:cNvPr>
          <p:cNvSpPr txBox="1"/>
          <p:nvPr/>
        </p:nvSpPr>
        <p:spPr>
          <a:xfrm>
            <a:off x="6077198" y="3336494"/>
            <a:ext cx="5915894" cy="3416320"/>
          </a:xfrm>
          <a:prstGeom prst="rect">
            <a:avLst/>
          </a:prstGeom>
          <a:solidFill>
            <a:schemeClr val="accent1">
              <a:lumMod val="20000"/>
              <a:lumOff val="80000"/>
            </a:schemeClr>
          </a:solidFill>
        </p:spPr>
        <p:txBody>
          <a:bodyPr wrap="square" rtlCol="0">
            <a:spAutoFit/>
          </a:bodyPr>
          <a:lstStyle/>
          <a:p>
            <a:r>
              <a:rPr lang="en-US" sz="1200" b="1" kern="0" dirty="0">
                <a:solidFill>
                  <a:schemeClr val="dk2"/>
                </a:solidFill>
                <a:latin typeface="Courier New"/>
                <a:cs typeface="Courier New"/>
                <a:sym typeface="Arial"/>
              </a:rPr>
              <a:t>$$ dig +</a:t>
            </a:r>
            <a:r>
              <a:rPr lang="en-US" sz="1200" b="1" kern="0" dirty="0" err="1">
                <a:solidFill>
                  <a:schemeClr val="dk2"/>
                </a:solidFill>
                <a:latin typeface="Courier New"/>
                <a:cs typeface="Courier New"/>
                <a:sym typeface="Arial"/>
              </a:rPr>
              <a:t>norecurse</a:t>
            </a:r>
            <a:r>
              <a:rPr lang="en-US" sz="1200" b="1" kern="0" dirty="0">
                <a:solidFill>
                  <a:schemeClr val="dk2"/>
                </a:solidFill>
                <a:latin typeface="Courier New"/>
                <a:cs typeface="Courier New"/>
                <a:sym typeface="Arial"/>
              </a:rPr>
              <a:t> dsac.msoe.edu @192.5.6.30</a:t>
            </a:r>
          </a:p>
          <a:p>
            <a:endParaRPr lang="en-US" sz="1200" b="1" kern="0" dirty="0">
              <a:solidFill>
                <a:schemeClr val="dk2"/>
              </a:solidFill>
              <a:latin typeface="Courier New"/>
              <a:cs typeface="Courier New"/>
              <a:sym typeface="Arial"/>
            </a:endParaRPr>
          </a:p>
          <a:p>
            <a:r>
              <a:rPr lang="en-US" sz="1200" b="1" kern="0" dirty="0">
                <a:solidFill>
                  <a:schemeClr val="dk2"/>
                </a:solidFill>
                <a:latin typeface="Courier New"/>
                <a:cs typeface="Courier New"/>
                <a:sym typeface="Arial"/>
              </a:rPr>
              <a:t>;; Got answer:</a:t>
            </a:r>
          </a:p>
          <a:p>
            <a:r>
              <a:rPr lang="en-US" sz="1200" b="1" kern="0" dirty="0">
                <a:solidFill>
                  <a:schemeClr val="dk2"/>
                </a:solidFill>
                <a:latin typeface="Courier New"/>
                <a:cs typeface="Courier New"/>
                <a:sym typeface="Arial"/>
              </a:rPr>
              <a:t>;; -&gt;&gt;HEADER&lt;&lt;- opcode: QUERY, status: NOERROR, id: 36257</a:t>
            </a:r>
          </a:p>
          <a:p>
            <a:r>
              <a:rPr lang="en-US" sz="1200" b="1" kern="0" dirty="0">
                <a:solidFill>
                  <a:schemeClr val="dk2"/>
                </a:solidFill>
                <a:latin typeface="Courier New"/>
                <a:cs typeface="Courier New"/>
                <a:sym typeface="Arial"/>
              </a:rPr>
              <a:t>;; flags: </a:t>
            </a:r>
            <a:r>
              <a:rPr lang="en-US" sz="1200" b="1" kern="0" dirty="0" err="1">
                <a:solidFill>
                  <a:schemeClr val="dk2"/>
                </a:solidFill>
                <a:latin typeface="Courier New"/>
                <a:cs typeface="Courier New"/>
                <a:sym typeface="Arial"/>
              </a:rPr>
              <a:t>qr</a:t>
            </a:r>
            <a:r>
              <a:rPr lang="en-US" sz="1200" b="1" kern="0" dirty="0">
                <a:solidFill>
                  <a:schemeClr val="dk2"/>
                </a:solidFill>
                <a:latin typeface="Courier New"/>
                <a:cs typeface="Courier New"/>
                <a:sym typeface="Arial"/>
              </a:rPr>
              <a:t>; QUERY: 1, ANSWER: 0, AUTHORITY: 3, ADDITIONAL: 5</a:t>
            </a:r>
          </a:p>
          <a:p>
            <a:endParaRPr lang="en-US" sz="1200" b="1" kern="0" dirty="0">
              <a:solidFill>
                <a:schemeClr val="dk2"/>
              </a:solidFill>
              <a:latin typeface="Courier New"/>
              <a:cs typeface="Courier New"/>
              <a:sym typeface="Arial"/>
            </a:endParaRPr>
          </a:p>
          <a:p>
            <a:r>
              <a:rPr lang="en-US" sz="1200" b="1" kern="0" dirty="0">
                <a:solidFill>
                  <a:schemeClr val="dk2"/>
                </a:solidFill>
                <a:latin typeface="Courier New"/>
                <a:cs typeface="Courier New"/>
                <a:sym typeface="Arial"/>
              </a:rPr>
              <a:t>;; QUESTION SECTION:</a:t>
            </a:r>
          </a:p>
          <a:p>
            <a:r>
              <a:rPr lang="en-US" sz="1200" b="1" kern="0" dirty="0">
                <a:solidFill>
                  <a:schemeClr val="dk2"/>
                </a:solidFill>
                <a:latin typeface="Courier New"/>
                <a:cs typeface="Courier New"/>
                <a:sym typeface="Arial"/>
              </a:rPr>
              <a:t>;eecs.msoe.edu.           IN   A</a:t>
            </a:r>
          </a:p>
          <a:p>
            <a:endParaRPr lang="en-US" sz="1200" b="1" kern="0" dirty="0">
              <a:solidFill>
                <a:schemeClr val="dk2"/>
              </a:solidFill>
              <a:latin typeface="Courier New"/>
              <a:cs typeface="Courier New"/>
              <a:sym typeface="Arial"/>
            </a:endParaRPr>
          </a:p>
          <a:p>
            <a:r>
              <a:rPr lang="en-US" sz="1200" b="1" kern="0" dirty="0">
                <a:solidFill>
                  <a:schemeClr val="dk2"/>
                </a:solidFill>
                <a:latin typeface="Courier New"/>
                <a:cs typeface="Courier New"/>
                <a:sym typeface="Arial"/>
              </a:rPr>
              <a:t>;; AUTHORITY SECTION:</a:t>
            </a:r>
          </a:p>
          <a:p>
            <a:r>
              <a:rPr lang="en-US" sz="1200" b="1" kern="0" dirty="0">
                <a:solidFill>
                  <a:schemeClr val="dk2"/>
                </a:solidFill>
                <a:latin typeface="Courier New"/>
                <a:cs typeface="Courier New"/>
                <a:sym typeface="Arial"/>
              </a:rPr>
              <a:t>msoe.edu.        172800   IN   NS   adns1.msoe.edu.</a:t>
            </a:r>
          </a:p>
          <a:p>
            <a:r>
              <a:rPr lang="en-US" sz="1200" b="1" kern="0" dirty="0">
                <a:solidFill>
                  <a:schemeClr val="dk2"/>
                </a:solidFill>
                <a:latin typeface="Courier New"/>
                <a:cs typeface="Courier New"/>
                <a:sym typeface="Arial"/>
              </a:rPr>
              <a:t>msoe.edu.        172800   IN   NS   adns2.msoe.edu.</a:t>
            </a:r>
          </a:p>
          <a:p>
            <a:r>
              <a:rPr lang="en-US" sz="1200" b="1" kern="0" dirty="0">
                <a:solidFill>
                  <a:schemeClr val="dk2"/>
                </a:solidFill>
                <a:latin typeface="Courier New"/>
                <a:cs typeface="Courier New"/>
                <a:sym typeface="Arial"/>
              </a:rPr>
              <a:t>...</a:t>
            </a:r>
          </a:p>
          <a:p>
            <a:endParaRPr lang="en-US" sz="1200" b="1" kern="0" dirty="0">
              <a:solidFill>
                <a:schemeClr val="dk2"/>
              </a:solidFill>
              <a:latin typeface="Courier New"/>
              <a:cs typeface="Courier New"/>
              <a:sym typeface="Arial"/>
            </a:endParaRPr>
          </a:p>
          <a:p>
            <a:r>
              <a:rPr lang="en-US" sz="1200" b="1" kern="0" dirty="0">
                <a:solidFill>
                  <a:schemeClr val="dk2"/>
                </a:solidFill>
                <a:latin typeface="Courier New"/>
                <a:cs typeface="Courier New"/>
                <a:sym typeface="Arial"/>
              </a:rPr>
              <a:t>;; ADDITIONAL SECTION:</a:t>
            </a:r>
          </a:p>
          <a:p>
            <a:r>
              <a:rPr lang="en-US" sz="1200" b="1" kern="0" dirty="0">
                <a:solidFill>
                  <a:schemeClr val="dk2"/>
                </a:solidFill>
                <a:latin typeface="Courier New"/>
                <a:cs typeface="Courier New"/>
                <a:sym typeface="Arial"/>
              </a:rPr>
              <a:t>adns1.msoe.edu.  172800   IN   A    128.32.136.3</a:t>
            </a:r>
          </a:p>
          <a:p>
            <a:r>
              <a:rPr lang="en-US" sz="1200" b="1" kern="0" dirty="0">
                <a:solidFill>
                  <a:schemeClr val="dk2"/>
                </a:solidFill>
                <a:latin typeface="Courier New"/>
                <a:cs typeface="Courier New"/>
                <a:sym typeface="Arial"/>
              </a:rPr>
              <a:t>adns2.msoe.edu.  172800   IN   A    128.32.136.14</a:t>
            </a:r>
          </a:p>
          <a:p>
            <a:r>
              <a:rPr lang="en-US" sz="1200" b="1" kern="0" dirty="0">
                <a:solidFill>
                  <a:schemeClr val="dk2"/>
                </a:solidFill>
                <a:latin typeface="Courier New"/>
                <a:cs typeface="Courier New"/>
                <a:sym typeface="Arial"/>
              </a:rPr>
              <a:t>...</a:t>
            </a:r>
          </a:p>
        </p:txBody>
      </p:sp>
      <p:sp>
        <p:nvSpPr>
          <p:cNvPr id="7" name="Google Shape;1819;p140">
            <a:extLst>
              <a:ext uri="{FF2B5EF4-FFF2-40B4-BE49-F238E27FC236}">
                <a16:creationId xmlns:a16="http://schemas.microsoft.com/office/drawing/2014/main" id="{965B47F8-FBDC-3DE0-F8C6-384C06C4C5B3}"/>
              </a:ext>
            </a:extLst>
          </p:cNvPr>
          <p:cNvSpPr txBox="1">
            <a:spLocks/>
          </p:cNvSpPr>
          <p:nvPr/>
        </p:nvSpPr>
        <p:spPr>
          <a:xfrm>
            <a:off x="415600" y="-1502"/>
            <a:ext cx="11360800" cy="763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4400" kern="0" dirty="0">
                <a:latin typeface="Aptos" panose="020B0004020202020204" pitchFamily="34" charset="0"/>
              </a:rPr>
              <a:t>Steps of a DNS Lookup</a:t>
            </a:r>
          </a:p>
        </p:txBody>
      </p:sp>
    </p:spTree>
    <p:extLst>
      <p:ext uri="{BB962C8B-B14F-4D97-AF65-F5344CB8AC3E}">
        <p14:creationId xmlns:p14="http://schemas.microsoft.com/office/powerpoint/2010/main" val="2012094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18"/>
        <p:cNvGrpSpPr/>
        <p:nvPr/>
      </p:nvGrpSpPr>
      <p:grpSpPr>
        <a:xfrm>
          <a:off x="0" y="0"/>
          <a:ext cx="0" cy="0"/>
          <a:chOff x="0" y="0"/>
          <a:chExt cx="0" cy="0"/>
        </a:xfrm>
      </p:grpSpPr>
      <p:grpSp>
        <p:nvGrpSpPr>
          <p:cNvPr id="4" name="Group 3">
            <a:extLst>
              <a:ext uri="{FF2B5EF4-FFF2-40B4-BE49-F238E27FC236}">
                <a16:creationId xmlns:a16="http://schemas.microsoft.com/office/drawing/2014/main" id="{21DA49F7-3C55-CA85-A88C-75BA19B0AAD7}"/>
              </a:ext>
            </a:extLst>
          </p:cNvPr>
          <p:cNvGrpSpPr/>
          <p:nvPr/>
        </p:nvGrpSpPr>
        <p:grpSpPr>
          <a:xfrm>
            <a:off x="3308115" y="4368564"/>
            <a:ext cx="3377100" cy="470559"/>
            <a:chOff x="3308115" y="4368564"/>
            <a:chExt cx="3377100" cy="470559"/>
          </a:xfrm>
        </p:grpSpPr>
        <p:cxnSp>
          <p:nvCxnSpPr>
            <p:cNvPr id="44" name="Google Shape;455;p34">
              <a:extLst>
                <a:ext uri="{FF2B5EF4-FFF2-40B4-BE49-F238E27FC236}">
                  <a16:creationId xmlns:a16="http://schemas.microsoft.com/office/drawing/2014/main" id="{2F6248BD-260D-0B84-8C1D-6332483E4E70}"/>
                </a:ext>
              </a:extLst>
            </p:cNvPr>
            <p:cNvCxnSpPr/>
            <p:nvPr/>
          </p:nvCxnSpPr>
          <p:spPr>
            <a:xfrm>
              <a:off x="3308115" y="4567323"/>
              <a:ext cx="3377100" cy="271800"/>
            </a:xfrm>
            <a:prstGeom prst="straightConnector1">
              <a:avLst/>
            </a:prstGeom>
            <a:noFill/>
            <a:ln w="19050" cap="flat" cmpd="sng">
              <a:solidFill>
                <a:srgbClr val="000000"/>
              </a:solidFill>
              <a:prstDash val="solid"/>
              <a:round/>
              <a:headEnd type="none" w="med" len="med"/>
              <a:tailEnd type="triangle" w="med" len="med"/>
            </a:ln>
          </p:spPr>
        </p:cxnSp>
        <p:sp>
          <p:nvSpPr>
            <p:cNvPr id="46" name="Google Shape;457;p34">
              <a:extLst>
                <a:ext uri="{FF2B5EF4-FFF2-40B4-BE49-F238E27FC236}">
                  <a16:creationId xmlns:a16="http://schemas.microsoft.com/office/drawing/2014/main" id="{7C1E06D5-A6D0-7395-666B-0C1068C14991}"/>
                </a:ext>
              </a:extLst>
            </p:cNvPr>
            <p:cNvSpPr txBox="1"/>
            <p:nvPr/>
          </p:nvSpPr>
          <p:spPr>
            <a:xfrm>
              <a:off x="5212837" y="4368564"/>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6</a:t>
              </a:r>
              <a:endParaRPr dirty="0">
                <a:latin typeface="Calibri"/>
                <a:ea typeface="Calibri"/>
                <a:cs typeface="Calibri"/>
                <a:sym typeface="Calibri"/>
              </a:endParaRPr>
            </a:p>
          </p:txBody>
        </p:sp>
      </p:grpSp>
      <p:grpSp>
        <p:nvGrpSpPr>
          <p:cNvPr id="6" name="Group 5">
            <a:extLst>
              <a:ext uri="{FF2B5EF4-FFF2-40B4-BE49-F238E27FC236}">
                <a16:creationId xmlns:a16="http://schemas.microsoft.com/office/drawing/2014/main" id="{3B32A943-C530-A2D9-4C94-7A89B624C3D1}"/>
              </a:ext>
            </a:extLst>
          </p:cNvPr>
          <p:cNvGrpSpPr/>
          <p:nvPr/>
        </p:nvGrpSpPr>
        <p:grpSpPr>
          <a:xfrm>
            <a:off x="3208540" y="4689153"/>
            <a:ext cx="3377100" cy="493270"/>
            <a:chOff x="3208540" y="4689153"/>
            <a:chExt cx="3377100" cy="493270"/>
          </a:xfrm>
        </p:grpSpPr>
        <p:cxnSp>
          <p:nvCxnSpPr>
            <p:cNvPr id="45" name="Google Shape;456;p34">
              <a:extLst>
                <a:ext uri="{FF2B5EF4-FFF2-40B4-BE49-F238E27FC236}">
                  <a16:creationId xmlns:a16="http://schemas.microsoft.com/office/drawing/2014/main" id="{B2A89618-2629-1796-66F7-AAE37212F466}"/>
                </a:ext>
              </a:extLst>
            </p:cNvPr>
            <p:cNvCxnSpPr/>
            <p:nvPr/>
          </p:nvCxnSpPr>
          <p:spPr>
            <a:xfrm>
              <a:off x="3208540" y="4689153"/>
              <a:ext cx="3377100" cy="271800"/>
            </a:xfrm>
            <a:prstGeom prst="straightConnector1">
              <a:avLst/>
            </a:prstGeom>
            <a:noFill/>
            <a:ln w="19050" cap="flat" cmpd="sng">
              <a:solidFill>
                <a:srgbClr val="000000"/>
              </a:solidFill>
              <a:prstDash val="solid"/>
              <a:round/>
              <a:headEnd type="triangle" w="med" len="med"/>
              <a:tailEnd type="none" w="med" len="med"/>
            </a:ln>
          </p:spPr>
        </p:cxnSp>
        <p:sp>
          <p:nvSpPr>
            <p:cNvPr id="47" name="Google Shape;458;p34">
              <a:extLst>
                <a:ext uri="{FF2B5EF4-FFF2-40B4-BE49-F238E27FC236}">
                  <a16:creationId xmlns:a16="http://schemas.microsoft.com/office/drawing/2014/main" id="{5A0BCE77-0646-914A-E153-8DA40096E818}"/>
                </a:ext>
              </a:extLst>
            </p:cNvPr>
            <p:cNvSpPr txBox="1"/>
            <p:nvPr/>
          </p:nvSpPr>
          <p:spPr>
            <a:xfrm>
              <a:off x="5185371" y="4785823"/>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7</a:t>
              </a:r>
              <a:endParaRPr dirty="0">
                <a:latin typeface="Calibri"/>
                <a:ea typeface="Calibri"/>
                <a:cs typeface="Calibri"/>
                <a:sym typeface="Calibri"/>
              </a:endParaRPr>
            </a:p>
          </p:txBody>
        </p:sp>
      </p:grpSp>
      <p:grpSp>
        <p:nvGrpSpPr>
          <p:cNvPr id="27" name="Group 26">
            <a:extLst>
              <a:ext uri="{FF2B5EF4-FFF2-40B4-BE49-F238E27FC236}">
                <a16:creationId xmlns:a16="http://schemas.microsoft.com/office/drawing/2014/main" id="{DD5787EB-9F96-C10F-D029-7DE072E85515}"/>
              </a:ext>
            </a:extLst>
          </p:cNvPr>
          <p:cNvGrpSpPr/>
          <p:nvPr/>
        </p:nvGrpSpPr>
        <p:grpSpPr>
          <a:xfrm>
            <a:off x="3208536" y="3702016"/>
            <a:ext cx="4892329" cy="815695"/>
            <a:chOff x="3208536" y="3702016"/>
            <a:chExt cx="4892329" cy="815695"/>
          </a:xfrm>
        </p:grpSpPr>
        <p:cxnSp>
          <p:nvCxnSpPr>
            <p:cNvPr id="42" name="Google Shape;453;p34">
              <a:extLst>
                <a:ext uri="{FF2B5EF4-FFF2-40B4-BE49-F238E27FC236}">
                  <a16:creationId xmlns:a16="http://schemas.microsoft.com/office/drawing/2014/main" id="{16EF8B0C-A9C7-857D-7B6B-E9724AA0A94F}"/>
                </a:ext>
              </a:extLst>
            </p:cNvPr>
            <p:cNvCxnSpPr>
              <a:cxnSpLocks/>
            </p:cNvCxnSpPr>
            <p:nvPr/>
          </p:nvCxnSpPr>
          <p:spPr>
            <a:xfrm flipV="1">
              <a:off x="3287443" y="3869082"/>
              <a:ext cx="4813422" cy="293096"/>
            </a:xfrm>
            <a:prstGeom prst="straightConnector1">
              <a:avLst/>
            </a:prstGeom>
            <a:noFill/>
            <a:ln w="19050" cap="flat" cmpd="sng">
              <a:solidFill>
                <a:srgbClr val="000000"/>
              </a:solidFill>
              <a:prstDash val="solid"/>
              <a:round/>
              <a:headEnd type="none" w="med" len="med"/>
              <a:tailEnd type="triangle" w="med" len="med"/>
            </a:ln>
          </p:spPr>
        </p:cxnSp>
        <p:cxnSp>
          <p:nvCxnSpPr>
            <p:cNvPr id="43" name="Google Shape;454;p34">
              <a:extLst>
                <a:ext uri="{FF2B5EF4-FFF2-40B4-BE49-F238E27FC236}">
                  <a16:creationId xmlns:a16="http://schemas.microsoft.com/office/drawing/2014/main" id="{2C6A8A76-0909-4DD6-9585-6037911FB833}"/>
                </a:ext>
              </a:extLst>
            </p:cNvPr>
            <p:cNvCxnSpPr>
              <a:cxnSpLocks/>
            </p:cNvCxnSpPr>
            <p:nvPr/>
          </p:nvCxnSpPr>
          <p:spPr>
            <a:xfrm flipV="1">
              <a:off x="3208536" y="4026509"/>
              <a:ext cx="4860377" cy="271339"/>
            </a:xfrm>
            <a:prstGeom prst="straightConnector1">
              <a:avLst/>
            </a:prstGeom>
            <a:noFill/>
            <a:ln w="19050" cap="flat" cmpd="sng">
              <a:solidFill>
                <a:srgbClr val="000000"/>
              </a:solidFill>
              <a:prstDash val="solid"/>
              <a:round/>
              <a:headEnd type="triangle" w="med" len="med"/>
              <a:tailEnd type="none" w="med" len="med"/>
            </a:ln>
          </p:spPr>
        </p:cxnSp>
        <p:sp>
          <p:nvSpPr>
            <p:cNvPr id="48" name="Google Shape;459;p34">
              <a:extLst>
                <a:ext uri="{FF2B5EF4-FFF2-40B4-BE49-F238E27FC236}">
                  <a16:creationId xmlns:a16="http://schemas.microsoft.com/office/drawing/2014/main" id="{1C48F1A5-F772-28A9-FF7E-53A8BD456769}"/>
                </a:ext>
              </a:extLst>
            </p:cNvPr>
            <p:cNvSpPr txBox="1"/>
            <p:nvPr/>
          </p:nvSpPr>
          <p:spPr>
            <a:xfrm>
              <a:off x="5357775" y="3702016"/>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4</a:t>
              </a:r>
              <a:endParaRPr dirty="0">
                <a:latin typeface="Calibri"/>
                <a:ea typeface="Calibri"/>
                <a:cs typeface="Calibri"/>
                <a:sym typeface="Calibri"/>
              </a:endParaRPr>
            </a:p>
          </p:txBody>
        </p:sp>
        <p:sp>
          <p:nvSpPr>
            <p:cNvPr id="49" name="Google Shape;460;p34">
              <a:extLst>
                <a:ext uri="{FF2B5EF4-FFF2-40B4-BE49-F238E27FC236}">
                  <a16:creationId xmlns:a16="http://schemas.microsoft.com/office/drawing/2014/main" id="{7493E646-66BA-7CE8-B74B-C293C45E5EF1}"/>
                </a:ext>
              </a:extLst>
            </p:cNvPr>
            <p:cNvSpPr txBox="1"/>
            <p:nvPr/>
          </p:nvSpPr>
          <p:spPr>
            <a:xfrm>
              <a:off x="5410153" y="4121111"/>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5</a:t>
              </a:r>
              <a:endParaRPr>
                <a:latin typeface="Calibri"/>
                <a:ea typeface="Calibri"/>
                <a:cs typeface="Calibri"/>
                <a:sym typeface="Calibri"/>
              </a:endParaRPr>
            </a:p>
          </p:txBody>
        </p:sp>
      </p:grpSp>
      <p:grpSp>
        <p:nvGrpSpPr>
          <p:cNvPr id="26" name="Group 25">
            <a:extLst>
              <a:ext uri="{FF2B5EF4-FFF2-40B4-BE49-F238E27FC236}">
                <a16:creationId xmlns:a16="http://schemas.microsoft.com/office/drawing/2014/main" id="{D0E56AA2-2BAA-AF22-2161-5D6CA42BBE2A}"/>
              </a:ext>
            </a:extLst>
          </p:cNvPr>
          <p:cNvGrpSpPr/>
          <p:nvPr/>
        </p:nvGrpSpPr>
        <p:grpSpPr>
          <a:xfrm>
            <a:off x="3244165" y="2694658"/>
            <a:ext cx="5648232" cy="1084415"/>
            <a:chOff x="3244165" y="2694658"/>
            <a:chExt cx="5648232" cy="1084415"/>
          </a:xfrm>
        </p:grpSpPr>
        <p:cxnSp>
          <p:nvCxnSpPr>
            <p:cNvPr id="40" name="Google Shape;451;p34">
              <a:extLst>
                <a:ext uri="{FF2B5EF4-FFF2-40B4-BE49-F238E27FC236}">
                  <a16:creationId xmlns:a16="http://schemas.microsoft.com/office/drawing/2014/main" id="{C83FD851-A3A3-534D-4A15-054BE2D10ADC}"/>
                </a:ext>
              </a:extLst>
            </p:cNvPr>
            <p:cNvCxnSpPr>
              <a:cxnSpLocks/>
            </p:cNvCxnSpPr>
            <p:nvPr/>
          </p:nvCxnSpPr>
          <p:spPr>
            <a:xfrm flipV="1">
              <a:off x="3244165" y="2694658"/>
              <a:ext cx="5648232" cy="929768"/>
            </a:xfrm>
            <a:prstGeom prst="straightConnector1">
              <a:avLst/>
            </a:prstGeom>
            <a:noFill/>
            <a:ln w="19050" cap="flat" cmpd="sng">
              <a:solidFill>
                <a:srgbClr val="000000"/>
              </a:solidFill>
              <a:prstDash val="solid"/>
              <a:round/>
              <a:headEnd type="none" w="med" len="med"/>
              <a:tailEnd type="triangle" w="med" len="med"/>
            </a:ln>
          </p:spPr>
        </p:cxnSp>
        <p:cxnSp>
          <p:nvCxnSpPr>
            <p:cNvPr id="41" name="Google Shape;452;p34">
              <a:extLst>
                <a:ext uri="{FF2B5EF4-FFF2-40B4-BE49-F238E27FC236}">
                  <a16:creationId xmlns:a16="http://schemas.microsoft.com/office/drawing/2014/main" id="{EC8B397A-8CDD-3380-DAA2-D7BEED4F262F}"/>
                </a:ext>
              </a:extLst>
            </p:cNvPr>
            <p:cNvCxnSpPr>
              <a:cxnSpLocks/>
            </p:cNvCxnSpPr>
            <p:nvPr/>
          </p:nvCxnSpPr>
          <p:spPr>
            <a:xfrm flipV="1">
              <a:off x="3244165" y="2845412"/>
              <a:ext cx="5564822" cy="933661"/>
            </a:xfrm>
            <a:prstGeom prst="straightConnector1">
              <a:avLst/>
            </a:prstGeom>
            <a:noFill/>
            <a:ln w="19050" cap="flat" cmpd="sng">
              <a:solidFill>
                <a:srgbClr val="000000"/>
              </a:solidFill>
              <a:prstDash val="solid"/>
              <a:round/>
              <a:headEnd type="triangle" w="med" len="med"/>
              <a:tailEnd type="none" w="med" len="med"/>
            </a:ln>
          </p:spPr>
        </p:cxnSp>
        <p:sp>
          <p:nvSpPr>
            <p:cNvPr id="50" name="Google Shape;461;p34">
              <a:extLst>
                <a:ext uri="{FF2B5EF4-FFF2-40B4-BE49-F238E27FC236}">
                  <a16:creationId xmlns:a16="http://schemas.microsoft.com/office/drawing/2014/main" id="{B0559663-6DAA-0C10-9D04-8A68A2B48032}"/>
                </a:ext>
              </a:extLst>
            </p:cNvPr>
            <p:cNvSpPr txBox="1"/>
            <p:nvPr/>
          </p:nvSpPr>
          <p:spPr>
            <a:xfrm>
              <a:off x="5379945" y="3322855"/>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3</a:t>
              </a:r>
              <a:endParaRPr>
                <a:latin typeface="Calibri"/>
                <a:ea typeface="Calibri"/>
                <a:cs typeface="Calibri"/>
                <a:sym typeface="Calibri"/>
              </a:endParaRPr>
            </a:p>
          </p:txBody>
        </p:sp>
        <p:sp>
          <p:nvSpPr>
            <p:cNvPr id="51" name="Google Shape;462;p34">
              <a:extLst>
                <a:ext uri="{FF2B5EF4-FFF2-40B4-BE49-F238E27FC236}">
                  <a16:creationId xmlns:a16="http://schemas.microsoft.com/office/drawing/2014/main" id="{2C3C1B8D-2219-F6D4-25D6-7C28F532C1A9}"/>
                </a:ext>
              </a:extLst>
            </p:cNvPr>
            <p:cNvSpPr txBox="1"/>
            <p:nvPr/>
          </p:nvSpPr>
          <p:spPr>
            <a:xfrm>
              <a:off x="5336820" y="2931993"/>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2</a:t>
              </a:r>
              <a:endParaRPr dirty="0">
                <a:latin typeface="Calibri"/>
                <a:ea typeface="Calibri"/>
                <a:cs typeface="Calibri"/>
                <a:sym typeface="Calibri"/>
              </a:endParaRPr>
            </a:p>
          </p:txBody>
        </p:sp>
      </p:grpSp>
      <p:grpSp>
        <p:nvGrpSpPr>
          <p:cNvPr id="1805" name="Group 1804">
            <a:extLst>
              <a:ext uri="{FF2B5EF4-FFF2-40B4-BE49-F238E27FC236}">
                <a16:creationId xmlns:a16="http://schemas.microsoft.com/office/drawing/2014/main" id="{070D75B0-2DF1-AA36-F494-895885C2533C}"/>
              </a:ext>
            </a:extLst>
          </p:cNvPr>
          <p:cNvGrpSpPr/>
          <p:nvPr/>
        </p:nvGrpSpPr>
        <p:grpSpPr>
          <a:xfrm>
            <a:off x="5595991" y="1146320"/>
            <a:ext cx="4114800" cy="1647676"/>
            <a:chOff x="5595991" y="1146320"/>
            <a:chExt cx="4114800" cy="1647676"/>
          </a:xfrm>
        </p:grpSpPr>
        <p:cxnSp>
          <p:nvCxnSpPr>
            <p:cNvPr id="2" name="Google Shape;430;p34">
              <a:extLst>
                <a:ext uri="{FF2B5EF4-FFF2-40B4-BE49-F238E27FC236}">
                  <a16:creationId xmlns:a16="http://schemas.microsoft.com/office/drawing/2014/main" id="{EB46FE56-B752-CBDA-22E4-33A06CBC17CE}"/>
                </a:ext>
              </a:extLst>
            </p:cNvPr>
            <p:cNvCxnSpPr>
              <a:cxnSpLocks/>
              <a:stCxn id="5" idx="2"/>
            </p:cNvCxnSpPr>
            <p:nvPr/>
          </p:nvCxnSpPr>
          <p:spPr>
            <a:xfrm>
              <a:off x="7653391" y="2152160"/>
              <a:ext cx="0" cy="641836"/>
            </a:xfrm>
            <a:prstGeom prst="straightConnector1">
              <a:avLst/>
            </a:prstGeom>
            <a:noFill/>
            <a:ln w="19050" cap="flat" cmpd="sng">
              <a:solidFill>
                <a:srgbClr val="E69138"/>
              </a:solidFill>
              <a:prstDash val="solid"/>
              <a:round/>
              <a:headEnd type="none" w="med" len="med"/>
              <a:tailEnd type="triangle" w="med" len="med"/>
            </a:ln>
          </p:spPr>
        </p:cxnSp>
        <p:sp>
          <p:nvSpPr>
            <p:cNvPr id="5" name="Google Shape;228;p26">
              <a:extLst>
                <a:ext uri="{FF2B5EF4-FFF2-40B4-BE49-F238E27FC236}">
                  <a16:creationId xmlns:a16="http://schemas.microsoft.com/office/drawing/2014/main" id="{1C129A16-422D-57AA-955E-B66CCE2ADFFD}"/>
                </a:ext>
              </a:extLst>
            </p:cNvPr>
            <p:cNvSpPr txBox="1"/>
            <p:nvPr/>
          </p:nvSpPr>
          <p:spPr>
            <a:xfrm>
              <a:off x="5595991" y="1146320"/>
              <a:ext cx="4114800" cy="1005840"/>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t>DNS queries always start with a request to the root name server, which is responsible for all requests.</a:t>
              </a:r>
              <a:endParaRPr/>
            </a:p>
          </p:txBody>
        </p:sp>
      </p:grpSp>
      <p:sp>
        <p:nvSpPr>
          <p:cNvPr id="53" name="Google Shape;418;p33">
            <a:extLst>
              <a:ext uri="{FF2B5EF4-FFF2-40B4-BE49-F238E27FC236}">
                <a16:creationId xmlns:a16="http://schemas.microsoft.com/office/drawing/2014/main" id="{D8342BD5-6261-8271-1D4D-7697800903FA}"/>
              </a:ext>
            </a:extLst>
          </p:cNvPr>
          <p:cNvSpPr txBox="1"/>
          <p:nvPr/>
        </p:nvSpPr>
        <p:spPr>
          <a:xfrm>
            <a:off x="1691203" y="2020910"/>
            <a:ext cx="1417320" cy="6543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Stub Resolver</a:t>
            </a:r>
            <a:endParaRPr>
              <a:latin typeface="Calibri"/>
              <a:ea typeface="Calibri"/>
              <a:cs typeface="Calibri"/>
              <a:sym typeface="Calibri"/>
            </a:endParaRPr>
          </a:p>
        </p:txBody>
      </p:sp>
      <p:grpSp>
        <p:nvGrpSpPr>
          <p:cNvPr id="54" name="Google Shape;422;p33">
            <a:extLst>
              <a:ext uri="{FF2B5EF4-FFF2-40B4-BE49-F238E27FC236}">
                <a16:creationId xmlns:a16="http://schemas.microsoft.com/office/drawing/2014/main" id="{B07A6A15-85B7-A8B6-0746-7E562F10ACD0}"/>
              </a:ext>
            </a:extLst>
          </p:cNvPr>
          <p:cNvGrpSpPr/>
          <p:nvPr/>
        </p:nvGrpSpPr>
        <p:grpSpPr>
          <a:xfrm>
            <a:off x="1753463" y="2719788"/>
            <a:ext cx="410100" cy="762900"/>
            <a:chOff x="258935" y="2049228"/>
            <a:chExt cx="410100" cy="762900"/>
          </a:xfrm>
        </p:grpSpPr>
        <p:sp>
          <p:nvSpPr>
            <p:cNvPr id="55" name="Google Shape;423;p33">
              <a:extLst>
                <a:ext uri="{FF2B5EF4-FFF2-40B4-BE49-F238E27FC236}">
                  <a16:creationId xmlns:a16="http://schemas.microsoft.com/office/drawing/2014/main" id="{A0751A73-76DB-5AC2-6FA1-3C3598BA7E07}"/>
                </a:ext>
              </a:extLst>
            </p:cNvPr>
            <p:cNvSpPr txBox="1"/>
            <p:nvPr/>
          </p:nvSpPr>
          <p:spPr>
            <a:xfrm>
              <a:off x="258935" y="2174852"/>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1</a:t>
              </a:r>
              <a:endParaRPr>
                <a:latin typeface="Calibri"/>
                <a:ea typeface="Calibri"/>
                <a:cs typeface="Calibri"/>
                <a:sym typeface="Calibri"/>
              </a:endParaRPr>
            </a:p>
          </p:txBody>
        </p:sp>
        <p:cxnSp>
          <p:nvCxnSpPr>
            <p:cNvPr id="56" name="Google Shape;424;p33">
              <a:extLst>
                <a:ext uri="{FF2B5EF4-FFF2-40B4-BE49-F238E27FC236}">
                  <a16:creationId xmlns:a16="http://schemas.microsoft.com/office/drawing/2014/main" id="{9DA5FFFB-965A-372A-85A5-8F9C84694A0A}"/>
                </a:ext>
              </a:extLst>
            </p:cNvPr>
            <p:cNvCxnSpPr/>
            <p:nvPr/>
          </p:nvCxnSpPr>
          <p:spPr>
            <a:xfrm rot="10800000">
              <a:off x="530725" y="2049228"/>
              <a:ext cx="0" cy="762900"/>
            </a:xfrm>
            <a:prstGeom prst="straightConnector1">
              <a:avLst/>
            </a:prstGeom>
            <a:noFill/>
            <a:ln w="19050" cap="flat" cmpd="sng">
              <a:solidFill>
                <a:srgbClr val="000000"/>
              </a:solidFill>
              <a:prstDash val="solid"/>
              <a:round/>
              <a:headEnd type="triangle" w="med" len="med"/>
              <a:tailEnd type="none" w="med" len="med"/>
            </a:ln>
          </p:spPr>
        </p:cxnSp>
      </p:grpSp>
      <p:sp>
        <p:nvSpPr>
          <p:cNvPr id="57" name="Google Shape;425;p33">
            <a:extLst>
              <a:ext uri="{FF2B5EF4-FFF2-40B4-BE49-F238E27FC236}">
                <a16:creationId xmlns:a16="http://schemas.microsoft.com/office/drawing/2014/main" id="{983DF0F2-4D45-D664-D4E8-C82C0ED176A5}"/>
              </a:ext>
            </a:extLst>
          </p:cNvPr>
          <p:cNvSpPr txBox="1"/>
          <p:nvPr/>
        </p:nvSpPr>
        <p:spPr>
          <a:xfrm>
            <a:off x="1691203" y="3527260"/>
            <a:ext cx="1417320" cy="15399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grpSp>
        <p:nvGrpSpPr>
          <p:cNvPr id="1828" name="Group 1827">
            <a:extLst>
              <a:ext uri="{FF2B5EF4-FFF2-40B4-BE49-F238E27FC236}">
                <a16:creationId xmlns:a16="http://schemas.microsoft.com/office/drawing/2014/main" id="{6FEDB0A6-5E80-84BD-C45E-1A0449618D75}"/>
              </a:ext>
            </a:extLst>
          </p:cNvPr>
          <p:cNvGrpSpPr/>
          <p:nvPr/>
        </p:nvGrpSpPr>
        <p:grpSpPr>
          <a:xfrm>
            <a:off x="2903285" y="4881294"/>
            <a:ext cx="3657600" cy="1670277"/>
            <a:chOff x="2903285" y="4881294"/>
            <a:chExt cx="3657600" cy="1670277"/>
          </a:xfrm>
        </p:grpSpPr>
        <p:sp>
          <p:nvSpPr>
            <p:cNvPr id="34" name="Google Shape;445;p34">
              <a:extLst>
                <a:ext uri="{FF2B5EF4-FFF2-40B4-BE49-F238E27FC236}">
                  <a16:creationId xmlns:a16="http://schemas.microsoft.com/office/drawing/2014/main" id="{6A9FA77E-B8F6-CEBE-4858-A2FA896A8124}"/>
                </a:ext>
              </a:extLst>
            </p:cNvPr>
            <p:cNvSpPr txBox="1"/>
            <p:nvPr/>
          </p:nvSpPr>
          <p:spPr>
            <a:xfrm>
              <a:off x="2903285" y="5545731"/>
              <a:ext cx="3657600" cy="1005840"/>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dirty="0"/>
                <a:t>The recursive resolver contacts all the name servers to answer the query, as we saw earlier</a:t>
              </a:r>
              <a:endParaRPr dirty="0"/>
            </a:p>
          </p:txBody>
        </p:sp>
        <p:cxnSp>
          <p:nvCxnSpPr>
            <p:cNvPr id="1806" name="Google Shape;430;p34">
              <a:extLst>
                <a:ext uri="{FF2B5EF4-FFF2-40B4-BE49-F238E27FC236}">
                  <a16:creationId xmlns:a16="http://schemas.microsoft.com/office/drawing/2014/main" id="{5FB11DC0-1718-F532-EA0D-3CCD88FD5EC0}"/>
                </a:ext>
              </a:extLst>
            </p:cNvPr>
            <p:cNvCxnSpPr>
              <a:cxnSpLocks/>
              <a:stCxn id="34" idx="0"/>
            </p:cNvCxnSpPr>
            <p:nvPr/>
          </p:nvCxnSpPr>
          <p:spPr>
            <a:xfrm flipH="1" flipV="1">
              <a:off x="4722266" y="4881294"/>
              <a:ext cx="9819" cy="664437"/>
            </a:xfrm>
            <a:prstGeom prst="straightConnector1">
              <a:avLst/>
            </a:prstGeom>
            <a:noFill/>
            <a:ln w="19050" cap="flat" cmpd="sng">
              <a:solidFill>
                <a:srgbClr val="E69138"/>
              </a:solidFill>
              <a:prstDash val="solid"/>
              <a:round/>
              <a:headEnd type="none" w="med" len="med"/>
              <a:tailEnd type="triangle" w="med" len="med"/>
            </a:ln>
          </p:spPr>
        </p:cxnSp>
      </p:grpSp>
      <p:sp>
        <p:nvSpPr>
          <p:cNvPr id="15" name="Google Shape;407;p33">
            <a:extLst>
              <a:ext uri="{FF2B5EF4-FFF2-40B4-BE49-F238E27FC236}">
                <a16:creationId xmlns:a16="http://schemas.microsoft.com/office/drawing/2014/main" id="{DCEBFC45-EE9B-64B2-BCD9-5CC671233AF5}"/>
              </a:ext>
            </a:extLst>
          </p:cNvPr>
          <p:cNvSpPr txBox="1"/>
          <p:nvPr/>
        </p:nvSpPr>
        <p:spPr>
          <a:xfrm>
            <a:off x="9030706" y="2495072"/>
            <a:ext cx="1280160" cy="457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.(root)</a:t>
            </a:r>
            <a:endParaRPr>
              <a:latin typeface="Courier New"/>
              <a:ea typeface="Courier New"/>
              <a:cs typeface="Courier New"/>
              <a:sym typeface="Courier New"/>
            </a:endParaRPr>
          </a:p>
        </p:txBody>
      </p:sp>
      <p:sp>
        <p:nvSpPr>
          <p:cNvPr id="16" name="Google Shape;408;p33">
            <a:extLst>
              <a:ext uri="{FF2B5EF4-FFF2-40B4-BE49-F238E27FC236}">
                <a16:creationId xmlns:a16="http://schemas.microsoft.com/office/drawing/2014/main" id="{AEFAFD3B-14E7-EF1F-02BE-A921CA359E08}"/>
              </a:ext>
            </a:extLst>
          </p:cNvPr>
          <p:cNvSpPr txBox="1"/>
          <p:nvPr/>
        </p:nvSpPr>
        <p:spPr>
          <a:xfrm>
            <a:off x="8187421" y="3703054"/>
            <a:ext cx="731520" cy="457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.edu</a:t>
            </a:r>
            <a:endParaRPr>
              <a:latin typeface="Calibri"/>
              <a:ea typeface="Calibri"/>
              <a:cs typeface="Calibri"/>
              <a:sym typeface="Calibri"/>
            </a:endParaRPr>
          </a:p>
        </p:txBody>
      </p:sp>
      <p:sp>
        <p:nvSpPr>
          <p:cNvPr id="17" name="Google Shape;409;p33">
            <a:extLst>
              <a:ext uri="{FF2B5EF4-FFF2-40B4-BE49-F238E27FC236}">
                <a16:creationId xmlns:a16="http://schemas.microsoft.com/office/drawing/2014/main" id="{C1D1CC35-37D4-E7D3-B6A7-622D47D063FD}"/>
              </a:ext>
            </a:extLst>
          </p:cNvPr>
          <p:cNvSpPr txBox="1"/>
          <p:nvPr/>
        </p:nvSpPr>
        <p:spPr>
          <a:xfrm>
            <a:off x="10301461" y="3703054"/>
            <a:ext cx="731520" cy="457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.org</a:t>
            </a:r>
            <a:endParaRPr>
              <a:latin typeface="Calibri"/>
              <a:ea typeface="Calibri"/>
              <a:cs typeface="Calibri"/>
              <a:sym typeface="Calibri"/>
            </a:endParaRPr>
          </a:p>
        </p:txBody>
      </p:sp>
      <p:sp>
        <p:nvSpPr>
          <p:cNvPr id="18" name="Google Shape;410;p33">
            <a:extLst>
              <a:ext uri="{FF2B5EF4-FFF2-40B4-BE49-F238E27FC236}">
                <a16:creationId xmlns:a16="http://schemas.microsoft.com/office/drawing/2014/main" id="{568ADECE-3497-E694-5B6F-9BA326D6AC4D}"/>
              </a:ext>
            </a:extLst>
          </p:cNvPr>
          <p:cNvSpPr txBox="1"/>
          <p:nvPr/>
        </p:nvSpPr>
        <p:spPr>
          <a:xfrm>
            <a:off x="10923500" y="4821057"/>
            <a:ext cx="1043400" cy="457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Courier New"/>
                <a:ea typeface="Courier New"/>
                <a:cs typeface="Courier New"/>
                <a:sym typeface="Courier New"/>
              </a:rPr>
              <a:t>cs101.org</a:t>
            </a:r>
            <a:endParaRPr sz="1200">
              <a:latin typeface="Calibri"/>
              <a:ea typeface="Calibri"/>
              <a:cs typeface="Calibri"/>
              <a:sym typeface="Calibri"/>
            </a:endParaRPr>
          </a:p>
        </p:txBody>
      </p:sp>
      <p:sp>
        <p:nvSpPr>
          <p:cNvPr id="19" name="Google Shape;411;p33">
            <a:extLst>
              <a:ext uri="{FF2B5EF4-FFF2-40B4-BE49-F238E27FC236}">
                <a16:creationId xmlns:a16="http://schemas.microsoft.com/office/drawing/2014/main" id="{02BDE27A-5EA1-F236-CCE6-E524A3DEAA16}"/>
              </a:ext>
            </a:extLst>
          </p:cNvPr>
          <p:cNvSpPr txBox="1"/>
          <p:nvPr/>
        </p:nvSpPr>
        <p:spPr>
          <a:xfrm>
            <a:off x="8797018" y="4821057"/>
            <a:ext cx="1557814" cy="457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latin typeface="Courier New"/>
                <a:ea typeface="Courier New"/>
                <a:cs typeface="Courier New"/>
                <a:sym typeface="Courier New"/>
              </a:rPr>
              <a:t>mit.edu</a:t>
            </a:r>
            <a:endParaRPr sz="1200" dirty="0">
              <a:latin typeface="Calibri"/>
              <a:ea typeface="Calibri"/>
              <a:cs typeface="Calibri"/>
              <a:sym typeface="Calibri"/>
            </a:endParaRPr>
          </a:p>
        </p:txBody>
      </p:sp>
      <p:sp>
        <p:nvSpPr>
          <p:cNvPr id="20" name="Google Shape;412;p33">
            <a:extLst>
              <a:ext uri="{FF2B5EF4-FFF2-40B4-BE49-F238E27FC236}">
                <a16:creationId xmlns:a16="http://schemas.microsoft.com/office/drawing/2014/main" id="{515403F8-1A9B-B85C-BE18-0543D91E2E9E}"/>
              </a:ext>
            </a:extLst>
          </p:cNvPr>
          <p:cNvSpPr txBox="1"/>
          <p:nvPr/>
        </p:nvSpPr>
        <p:spPr>
          <a:xfrm>
            <a:off x="6725864" y="4821057"/>
            <a:ext cx="1296300" cy="457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latin typeface="Courier New"/>
                <a:ea typeface="Courier New"/>
                <a:cs typeface="Courier New"/>
                <a:sym typeface="Courier New"/>
              </a:rPr>
              <a:t>msoe</a:t>
            </a:r>
            <a:r>
              <a:rPr lang="en" sz="1200" dirty="0">
                <a:latin typeface="Courier New"/>
                <a:ea typeface="Courier New"/>
                <a:cs typeface="Courier New"/>
                <a:sym typeface="Courier New"/>
              </a:rPr>
              <a:t>.edu</a:t>
            </a:r>
            <a:endParaRPr sz="1200" dirty="0">
              <a:latin typeface="Calibri"/>
              <a:ea typeface="Calibri"/>
              <a:cs typeface="Calibri"/>
              <a:sym typeface="Calibri"/>
            </a:endParaRPr>
          </a:p>
        </p:txBody>
      </p:sp>
      <p:cxnSp>
        <p:nvCxnSpPr>
          <p:cNvPr id="21" name="Google Shape;413;p33">
            <a:extLst>
              <a:ext uri="{FF2B5EF4-FFF2-40B4-BE49-F238E27FC236}">
                <a16:creationId xmlns:a16="http://schemas.microsoft.com/office/drawing/2014/main" id="{209F5431-BB2C-70BD-CB64-B4407EC29D50}"/>
              </a:ext>
            </a:extLst>
          </p:cNvPr>
          <p:cNvCxnSpPr>
            <a:stCxn id="15" idx="2"/>
            <a:endCxn id="16" idx="0"/>
          </p:cNvCxnSpPr>
          <p:nvPr/>
        </p:nvCxnSpPr>
        <p:spPr>
          <a:xfrm flipH="1">
            <a:off x="8553181" y="2952272"/>
            <a:ext cx="1117605" cy="750782"/>
          </a:xfrm>
          <a:prstGeom prst="straightConnector1">
            <a:avLst/>
          </a:prstGeom>
          <a:noFill/>
          <a:ln w="9525" cap="flat" cmpd="sng">
            <a:solidFill>
              <a:srgbClr val="000000"/>
            </a:solidFill>
            <a:prstDash val="solid"/>
            <a:round/>
            <a:headEnd type="none" w="med" len="med"/>
            <a:tailEnd type="none" w="med" len="med"/>
          </a:ln>
        </p:spPr>
      </p:cxnSp>
      <p:cxnSp>
        <p:nvCxnSpPr>
          <p:cNvPr id="22" name="Google Shape;414;p33">
            <a:extLst>
              <a:ext uri="{FF2B5EF4-FFF2-40B4-BE49-F238E27FC236}">
                <a16:creationId xmlns:a16="http://schemas.microsoft.com/office/drawing/2014/main" id="{DA16F4B7-133F-1123-FA43-24D471C6A4B8}"/>
              </a:ext>
            </a:extLst>
          </p:cNvPr>
          <p:cNvCxnSpPr>
            <a:cxnSpLocks/>
            <a:stCxn id="15" idx="2"/>
            <a:endCxn id="17" idx="0"/>
          </p:cNvCxnSpPr>
          <p:nvPr/>
        </p:nvCxnSpPr>
        <p:spPr>
          <a:xfrm>
            <a:off x="9670786" y="2952272"/>
            <a:ext cx="996435" cy="750782"/>
          </a:xfrm>
          <a:prstGeom prst="straightConnector1">
            <a:avLst/>
          </a:prstGeom>
          <a:noFill/>
          <a:ln w="9525" cap="flat" cmpd="sng">
            <a:solidFill>
              <a:srgbClr val="000000"/>
            </a:solidFill>
            <a:prstDash val="solid"/>
            <a:round/>
            <a:headEnd type="none" w="med" len="med"/>
            <a:tailEnd type="none" w="med" len="med"/>
          </a:ln>
        </p:spPr>
      </p:cxnSp>
      <p:cxnSp>
        <p:nvCxnSpPr>
          <p:cNvPr id="23" name="Google Shape;415;p33">
            <a:extLst>
              <a:ext uri="{FF2B5EF4-FFF2-40B4-BE49-F238E27FC236}">
                <a16:creationId xmlns:a16="http://schemas.microsoft.com/office/drawing/2014/main" id="{C418A23D-0B99-CD3B-03A9-6099B729148C}"/>
              </a:ext>
            </a:extLst>
          </p:cNvPr>
          <p:cNvCxnSpPr>
            <a:cxnSpLocks/>
            <a:stCxn id="16" idx="2"/>
            <a:endCxn id="20" idx="0"/>
          </p:cNvCxnSpPr>
          <p:nvPr/>
        </p:nvCxnSpPr>
        <p:spPr>
          <a:xfrm flipH="1">
            <a:off x="7374014" y="4160254"/>
            <a:ext cx="1179167" cy="660803"/>
          </a:xfrm>
          <a:prstGeom prst="straightConnector1">
            <a:avLst/>
          </a:prstGeom>
          <a:noFill/>
          <a:ln w="9525" cap="flat" cmpd="sng">
            <a:solidFill>
              <a:srgbClr val="000000"/>
            </a:solidFill>
            <a:prstDash val="solid"/>
            <a:round/>
            <a:headEnd type="none" w="med" len="med"/>
            <a:tailEnd type="none" w="med" len="med"/>
          </a:ln>
        </p:spPr>
      </p:cxnSp>
      <p:cxnSp>
        <p:nvCxnSpPr>
          <p:cNvPr id="24" name="Google Shape;416;p33">
            <a:extLst>
              <a:ext uri="{FF2B5EF4-FFF2-40B4-BE49-F238E27FC236}">
                <a16:creationId xmlns:a16="http://schemas.microsoft.com/office/drawing/2014/main" id="{32A348D3-51B8-7815-56DC-6DBF1D454521}"/>
              </a:ext>
            </a:extLst>
          </p:cNvPr>
          <p:cNvCxnSpPr>
            <a:cxnSpLocks/>
            <a:stCxn id="16" idx="2"/>
            <a:endCxn id="19" idx="0"/>
          </p:cNvCxnSpPr>
          <p:nvPr/>
        </p:nvCxnSpPr>
        <p:spPr>
          <a:xfrm>
            <a:off x="8553181" y="4160254"/>
            <a:ext cx="1022744" cy="660803"/>
          </a:xfrm>
          <a:prstGeom prst="straightConnector1">
            <a:avLst/>
          </a:prstGeom>
          <a:noFill/>
          <a:ln w="9525" cap="flat" cmpd="sng">
            <a:solidFill>
              <a:srgbClr val="000000"/>
            </a:solidFill>
            <a:prstDash val="solid"/>
            <a:round/>
            <a:headEnd type="none" w="med" len="med"/>
            <a:tailEnd type="none" w="med" len="med"/>
          </a:ln>
        </p:spPr>
      </p:cxnSp>
      <p:cxnSp>
        <p:nvCxnSpPr>
          <p:cNvPr id="25" name="Google Shape;417;p33">
            <a:extLst>
              <a:ext uri="{FF2B5EF4-FFF2-40B4-BE49-F238E27FC236}">
                <a16:creationId xmlns:a16="http://schemas.microsoft.com/office/drawing/2014/main" id="{A96A7343-00B3-1EF1-CA53-6396091E6FD2}"/>
              </a:ext>
            </a:extLst>
          </p:cNvPr>
          <p:cNvCxnSpPr>
            <a:stCxn id="17" idx="2"/>
            <a:endCxn id="18" idx="0"/>
          </p:cNvCxnSpPr>
          <p:nvPr/>
        </p:nvCxnSpPr>
        <p:spPr>
          <a:xfrm>
            <a:off x="10667221" y="4160254"/>
            <a:ext cx="777979" cy="660803"/>
          </a:xfrm>
          <a:prstGeom prst="straightConnector1">
            <a:avLst/>
          </a:prstGeom>
          <a:noFill/>
          <a:ln w="9525" cap="flat" cmpd="sng">
            <a:solidFill>
              <a:srgbClr val="000000"/>
            </a:solidFill>
            <a:prstDash val="solid"/>
            <a:round/>
            <a:headEnd type="none" w="med" len="med"/>
            <a:tailEnd type="none" w="med" len="med"/>
          </a:ln>
        </p:spPr>
      </p:cxnSp>
      <p:sp>
        <p:nvSpPr>
          <p:cNvPr id="3" name="TextBox 2">
            <a:extLst>
              <a:ext uri="{FF2B5EF4-FFF2-40B4-BE49-F238E27FC236}">
                <a16:creationId xmlns:a16="http://schemas.microsoft.com/office/drawing/2014/main" id="{0E6D7B0F-7C51-CC07-B53E-BC27C673AEC5}"/>
              </a:ext>
            </a:extLst>
          </p:cNvPr>
          <p:cNvSpPr txBox="1"/>
          <p:nvPr/>
        </p:nvSpPr>
        <p:spPr>
          <a:xfrm>
            <a:off x="4605009" y="1024360"/>
            <a:ext cx="6991711" cy="2677656"/>
          </a:xfrm>
          <a:prstGeom prst="rect">
            <a:avLst/>
          </a:prstGeom>
          <a:solidFill>
            <a:schemeClr val="accent1">
              <a:lumMod val="20000"/>
              <a:lumOff val="80000"/>
            </a:schemeClr>
          </a:solidFill>
        </p:spPr>
        <p:txBody>
          <a:bodyPr wrap="square" rtlCol="0">
            <a:spAutoFit/>
          </a:bodyPr>
          <a:lstStyle/>
          <a:p>
            <a:r>
              <a:rPr lang="en-US" sz="1400" b="1" kern="0" dirty="0">
                <a:solidFill>
                  <a:schemeClr val="dk2"/>
                </a:solidFill>
                <a:latin typeface="Courier New"/>
                <a:cs typeface="Courier New"/>
                <a:sym typeface="Arial"/>
              </a:rPr>
              <a:t>$ dig +</a:t>
            </a:r>
            <a:r>
              <a:rPr lang="en-US" sz="1400" b="1" kern="0" dirty="0" err="1">
                <a:solidFill>
                  <a:schemeClr val="dk2"/>
                </a:solidFill>
                <a:latin typeface="Courier New"/>
                <a:cs typeface="Courier New"/>
                <a:sym typeface="Arial"/>
              </a:rPr>
              <a:t>norecurse</a:t>
            </a:r>
            <a:r>
              <a:rPr lang="en-US" sz="1400" b="1" kern="0" dirty="0">
                <a:solidFill>
                  <a:schemeClr val="dk2"/>
                </a:solidFill>
                <a:latin typeface="Courier New"/>
                <a:cs typeface="Courier New"/>
                <a:sym typeface="Arial"/>
              </a:rPr>
              <a:t> dsac.</a:t>
            </a:r>
            <a:r>
              <a:rPr lang="en-US" altLang="zh-CN" sz="1400" b="1" kern="0" dirty="0">
                <a:solidFill>
                  <a:schemeClr val="dk2"/>
                </a:solidFill>
                <a:latin typeface="Courier New"/>
                <a:cs typeface="Courier New"/>
                <a:sym typeface="Arial"/>
              </a:rPr>
              <a:t>msoe</a:t>
            </a:r>
            <a:r>
              <a:rPr lang="en-US" sz="1400" b="1" kern="0" dirty="0">
                <a:solidFill>
                  <a:schemeClr val="dk2"/>
                </a:solidFill>
                <a:latin typeface="Courier New"/>
                <a:cs typeface="Courier New"/>
                <a:sym typeface="Arial"/>
              </a:rPr>
              <a:t>.edu @128.32.136.3</a:t>
            </a:r>
          </a:p>
          <a:p>
            <a:endParaRPr lang="en-US" sz="1400" b="1" kern="0" dirty="0">
              <a:solidFill>
                <a:schemeClr val="dk2"/>
              </a:solidFill>
              <a:latin typeface="Courier New"/>
              <a:cs typeface="Courier New"/>
              <a:sym typeface="Arial"/>
            </a:endParaRPr>
          </a:p>
          <a:p>
            <a:r>
              <a:rPr lang="en-US" sz="1400" b="1" kern="0" dirty="0">
                <a:solidFill>
                  <a:schemeClr val="dk2"/>
                </a:solidFill>
                <a:latin typeface="Courier New"/>
                <a:cs typeface="Courier New"/>
                <a:sym typeface="Arial"/>
              </a:rPr>
              <a:t>;; Got answer:</a:t>
            </a:r>
          </a:p>
          <a:p>
            <a:r>
              <a:rPr lang="en-US" sz="1400" b="1" kern="0" dirty="0">
                <a:solidFill>
                  <a:schemeClr val="dk2"/>
                </a:solidFill>
                <a:latin typeface="Courier New"/>
                <a:cs typeface="Courier New"/>
                <a:sym typeface="Arial"/>
              </a:rPr>
              <a:t>;; -&gt;&gt;HEADER&lt;&lt;- opcode: QUERY, status: NOERROR, id: 52788</a:t>
            </a:r>
          </a:p>
          <a:p>
            <a:r>
              <a:rPr lang="en-US" sz="1400" b="1" kern="0" dirty="0">
                <a:solidFill>
                  <a:schemeClr val="dk2"/>
                </a:solidFill>
                <a:latin typeface="Courier New"/>
                <a:cs typeface="Courier New"/>
                <a:sym typeface="Arial"/>
              </a:rPr>
              <a:t>;; flags: </a:t>
            </a:r>
            <a:r>
              <a:rPr lang="en-US" sz="1400" b="1" kern="0" dirty="0" err="1">
                <a:solidFill>
                  <a:schemeClr val="dk2"/>
                </a:solidFill>
                <a:latin typeface="Courier New"/>
                <a:cs typeface="Courier New"/>
                <a:sym typeface="Arial"/>
              </a:rPr>
              <a:t>qr</a:t>
            </a:r>
            <a:r>
              <a:rPr lang="en-US" sz="1400" b="1" kern="0" dirty="0">
                <a:solidFill>
                  <a:schemeClr val="dk2"/>
                </a:solidFill>
                <a:latin typeface="Courier New"/>
                <a:cs typeface="Courier New"/>
                <a:sym typeface="Arial"/>
              </a:rPr>
              <a:t> aa; QUERY: 1, ANSWER: 1, AUTHORITY: 0, ADDITIONAL: 1</a:t>
            </a:r>
          </a:p>
          <a:p>
            <a:endParaRPr lang="en-US" sz="1400" b="1" kern="0" dirty="0">
              <a:solidFill>
                <a:schemeClr val="dk2"/>
              </a:solidFill>
              <a:latin typeface="Courier New"/>
              <a:cs typeface="Courier New"/>
              <a:sym typeface="Arial"/>
            </a:endParaRPr>
          </a:p>
          <a:p>
            <a:r>
              <a:rPr lang="en-US" sz="1400" b="1" kern="0" dirty="0">
                <a:solidFill>
                  <a:schemeClr val="dk2"/>
                </a:solidFill>
                <a:latin typeface="Courier New"/>
                <a:cs typeface="Courier New"/>
                <a:sym typeface="Arial"/>
              </a:rPr>
              <a:t>;; QUESTION SECTION:</a:t>
            </a:r>
          </a:p>
          <a:p>
            <a:r>
              <a:rPr lang="en-US" sz="1400" b="1" kern="0" dirty="0">
                <a:solidFill>
                  <a:schemeClr val="dk2"/>
                </a:solidFill>
                <a:latin typeface="Courier New"/>
                <a:cs typeface="Courier New"/>
                <a:sym typeface="Arial"/>
              </a:rPr>
              <a:t>;dsac.msoe.edu.         IN   A</a:t>
            </a:r>
          </a:p>
          <a:p>
            <a:endParaRPr lang="en-US" sz="1400" b="1" kern="0" dirty="0">
              <a:solidFill>
                <a:schemeClr val="dk2"/>
              </a:solidFill>
              <a:latin typeface="Courier New"/>
              <a:cs typeface="Courier New"/>
              <a:sym typeface="Arial"/>
            </a:endParaRPr>
          </a:p>
          <a:p>
            <a:r>
              <a:rPr lang="en-US" sz="1400" b="1" kern="0" dirty="0">
                <a:solidFill>
                  <a:schemeClr val="dk2"/>
                </a:solidFill>
                <a:latin typeface="Courier New"/>
                <a:cs typeface="Courier New"/>
                <a:sym typeface="Arial"/>
              </a:rPr>
              <a:t>;; </a:t>
            </a:r>
            <a:r>
              <a:rPr lang="en-US" sz="1400" b="1" kern="0" dirty="0">
                <a:solidFill>
                  <a:srgbClr val="FF0000"/>
                </a:solidFill>
                <a:latin typeface="Courier New"/>
                <a:cs typeface="Courier New"/>
                <a:sym typeface="Arial"/>
              </a:rPr>
              <a:t>ANSWER SECTION:</a:t>
            </a:r>
          </a:p>
          <a:p>
            <a:r>
              <a:rPr lang="en-US" sz="1400" b="1" kern="0" dirty="0">
                <a:solidFill>
                  <a:schemeClr val="dk2"/>
                </a:solidFill>
                <a:latin typeface="Courier New"/>
                <a:cs typeface="Courier New"/>
                <a:sym typeface="Arial"/>
              </a:rPr>
              <a:t>dsac.msoe.edu.  86400   IN   A   24.175.3.1</a:t>
            </a:r>
          </a:p>
        </p:txBody>
      </p:sp>
      <p:sp>
        <p:nvSpPr>
          <p:cNvPr id="9" name="Google Shape;1819;p140">
            <a:extLst>
              <a:ext uri="{FF2B5EF4-FFF2-40B4-BE49-F238E27FC236}">
                <a16:creationId xmlns:a16="http://schemas.microsoft.com/office/drawing/2014/main" id="{F165641F-E0B0-494F-7AE9-5019940FE83C}"/>
              </a:ext>
            </a:extLst>
          </p:cNvPr>
          <p:cNvSpPr txBox="1">
            <a:spLocks noGrp="1"/>
          </p:cNvSpPr>
          <p:nvPr>
            <p:ph type="title"/>
          </p:nvPr>
        </p:nvSpPr>
        <p:spPr>
          <a:xfrm>
            <a:off x="415600" y="27066"/>
            <a:ext cx="11360800" cy="871818"/>
          </a:xfrm>
          <a:prstGeom prst="rect">
            <a:avLst/>
          </a:prstGeom>
        </p:spPr>
        <p:txBody>
          <a:bodyPr spcFirstLastPara="1" wrap="square" lIns="121900" tIns="121900" rIns="121900" bIns="121900" anchor="t" anchorCtr="0">
            <a:noAutofit/>
          </a:bodyPr>
          <a:lstStyle/>
          <a:p>
            <a:r>
              <a:rPr lang="en" sz="4400" dirty="0">
                <a:latin typeface="Aptos" panose="020B0004020202020204" pitchFamily="34" charset="0"/>
              </a:rPr>
              <a:t>Steps of a DNS Lookup</a:t>
            </a:r>
            <a:endParaRPr sz="4400" dirty="0">
              <a:latin typeface="Aptos" panose="020B0004020202020204" pitchFamily="34" charset="0"/>
            </a:endParaRPr>
          </a:p>
        </p:txBody>
      </p:sp>
    </p:spTree>
    <p:extLst>
      <p:ext uri="{BB962C8B-B14F-4D97-AF65-F5344CB8AC3E}">
        <p14:creationId xmlns:p14="http://schemas.microsoft.com/office/powerpoint/2010/main" val="3088153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2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18"/>
        <p:cNvGrpSpPr/>
        <p:nvPr/>
      </p:nvGrpSpPr>
      <p:grpSpPr>
        <a:xfrm>
          <a:off x="0" y="0"/>
          <a:ext cx="0" cy="0"/>
          <a:chOff x="0" y="0"/>
          <a:chExt cx="0" cy="0"/>
        </a:xfrm>
      </p:grpSpPr>
      <p:sp>
        <p:nvSpPr>
          <p:cNvPr id="2" name="Google Shape;467;p35">
            <a:extLst>
              <a:ext uri="{FF2B5EF4-FFF2-40B4-BE49-F238E27FC236}">
                <a16:creationId xmlns:a16="http://schemas.microsoft.com/office/drawing/2014/main" id="{0CE540F8-D87B-D996-1CC9-4D15755EDE2D}"/>
              </a:ext>
            </a:extLst>
          </p:cNvPr>
          <p:cNvSpPr/>
          <p:nvPr/>
        </p:nvSpPr>
        <p:spPr>
          <a:xfrm>
            <a:off x="2941953" y="2168847"/>
            <a:ext cx="2256558" cy="835204"/>
          </a:xfrm>
          <a:custGeom>
            <a:avLst/>
            <a:gdLst/>
            <a:ahLst/>
            <a:cxnLst/>
            <a:rect l="l" t="t" r="r" b="b"/>
            <a:pathLst>
              <a:path w="75635" h="35172" extrusionOk="0">
                <a:moveTo>
                  <a:pt x="75635" y="0"/>
                </a:moveTo>
                <a:lnTo>
                  <a:pt x="75635" y="35172"/>
                </a:lnTo>
                <a:lnTo>
                  <a:pt x="0" y="35172"/>
                </a:lnTo>
              </a:path>
            </a:pathLst>
          </a:custGeom>
          <a:noFill/>
          <a:ln w="19050" cap="flat" cmpd="sng">
            <a:solidFill>
              <a:srgbClr val="E69138"/>
            </a:solidFill>
            <a:prstDash val="solid"/>
            <a:round/>
            <a:headEnd type="none" w="med" len="med"/>
            <a:tailEnd type="triangle" w="med" len="med"/>
          </a:ln>
        </p:spPr>
        <p:txBody>
          <a:bodyPr/>
          <a:lstStyle/>
          <a:p>
            <a:endParaRPr lang="en-US"/>
          </a:p>
        </p:txBody>
      </p:sp>
      <p:sp>
        <p:nvSpPr>
          <p:cNvPr id="15" name="Google Shape;482;p35">
            <a:extLst>
              <a:ext uri="{FF2B5EF4-FFF2-40B4-BE49-F238E27FC236}">
                <a16:creationId xmlns:a16="http://schemas.microsoft.com/office/drawing/2014/main" id="{CA7F2E57-FF5C-D424-B0EF-F9CF7E6F8839}"/>
              </a:ext>
            </a:extLst>
          </p:cNvPr>
          <p:cNvSpPr txBox="1"/>
          <p:nvPr/>
        </p:nvSpPr>
        <p:spPr>
          <a:xfrm>
            <a:off x="3369711" y="1484842"/>
            <a:ext cx="3657600" cy="738633"/>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dirty="0"/>
              <a:t>The recursive resolver returns the final answer to the stub resolver</a:t>
            </a:r>
            <a:endParaRPr dirty="0"/>
          </a:p>
        </p:txBody>
      </p:sp>
      <p:grpSp>
        <p:nvGrpSpPr>
          <p:cNvPr id="36" name="Google Shape;487;p35">
            <a:extLst>
              <a:ext uri="{FF2B5EF4-FFF2-40B4-BE49-F238E27FC236}">
                <a16:creationId xmlns:a16="http://schemas.microsoft.com/office/drawing/2014/main" id="{CB96C19A-7989-D7EE-7B00-4DC47DC06674}"/>
              </a:ext>
            </a:extLst>
          </p:cNvPr>
          <p:cNvGrpSpPr/>
          <p:nvPr/>
        </p:nvGrpSpPr>
        <p:grpSpPr>
          <a:xfrm>
            <a:off x="2673350" y="2719789"/>
            <a:ext cx="410110" cy="762900"/>
            <a:chOff x="1047525" y="2049228"/>
            <a:chExt cx="410110" cy="762900"/>
          </a:xfrm>
        </p:grpSpPr>
        <p:cxnSp>
          <p:nvCxnSpPr>
            <p:cNvPr id="37" name="Google Shape;488;p35">
              <a:extLst>
                <a:ext uri="{FF2B5EF4-FFF2-40B4-BE49-F238E27FC236}">
                  <a16:creationId xmlns:a16="http://schemas.microsoft.com/office/drawing/2014/main" id="{BF898003-B8CA-6F11-09CA-411375003E8D}"/>
                </a:ext>
              </a:extLst>
            </p:cNvPr>
            <p:cNvCxnSpPr/>
            <p:nvPr/>
          </p:nvCxnSpPr>
          <p:spPr>
            <a:xfrm rot="10800000">
              <a:off x="1047525" y="2049228"/>
              <a:ext cx="0" cy="762900"/>
            </a:xfrm>
            <a:prstGeom prst="straightConnector1">
              <a:avLst/>
            </a:prstGeom>
            <a:noFill/>
            <a:ln w="19050" cap="flat" cmpd="sng">
              <a:solidFill>
                <a:srgbClr val="000000"/>
              </a:solidFill>
              <a:prstDash val="solid"/>
              <a:round/>
              <a:headEnd type="none" w="med" len="med"/>
              <a:tailEnd type="triangle" w="med" len="med"/>
            </a:ln>
          </p:spPr>
        </p:cxnSp>
        <p:sp>
          <p:nvSpPr>
            <p:cNvPr id="38" name="Google Shape;489;p35">
              <a:extLst>
                <a:ext uri="{FF2B5EF4-FFF2-40B4-BE49-F238E27FC236}">
                  <a16:creationId xmlns:a16="http://schemas.microsoft.com/office/drawing/2014/main" id="{48A57DF8-1D03-7CB0-68B4-D2C644EC2A66}"/>
                </a:ext>
              </a:extLst>
            </p:cNvPr>
            <p:cNvSpPr txBox="1"/>
            <p:nvPr/>
          </p:nvSpPr>
          <p:spPr>
            <a:xfrm>
              <a:off x="1047535" y="2174852"/>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8</a:t>
              </a:r>
              <a:endParaRPr>
                <a:latin typeface="Calibri"/>
                <a:ea typeface="Calibri"/>
                <a:cs typeface="Calibri"/>
                <a:sym typeface="Calibri"/>
              </a:endParaRPr>
            </a:p>
          </p:txBody>
        </p:sp>
      </p:grpSp>
      <p:grpSp>
        <p:nvGrpSpPr>
          <p:cNvPr id="39" name="Google Shape;450;p34">
            <a:extLst>
              <a:ext uri="{FF2B5EF4-FFF2-40B4-BE49-F238E27FC236}">
                <a16:creationId xmlns:a16="http://schemas.microsoft.com/office/drawing/2014/main" id="{E60F070A-696A-248D-5097-C69783836CE5}"/>
              </a:ext>
            </a:extLst>
          </p:cNvPr>
          <p:cNvGrpSpPr/>
          <p:nvPr/>
        </p:nvGrpSpPr>
        <p:grpSpPr>
          <a:xfrm>
            <a:off x="3208536" y="2694658"/>
            <a:ext cx="5683861" cy="2487765"/>
            <a:chOff x="1528696" y="2186385"/>
            <a:chExt cx="5683861" cy="2487765"/>
          </a:xfrm>
        </p:grpSpPr>
        <p:cxnSp>
          <p:nvCxnSpPr>
            <p:cNvPr id="40" name="Google Shape;451;p34">
              <a:extLst>
                <a:ext uri="{FF2B5EF4-FFF2-40B4-BE49-F238E27FC236}">
                  <a16:creationId xmlns:a16="http://schemas.microsoft.com/office/drawing/2014/main" id="{3DE252F3-1B5E-223B-BEC9-447F849CCF45}"/>
                </a:ext>
              </a:extLst>
            </p:cNvPr>
            <p:cNvCxnSpPr>
              <a:cxnSpLocks/>
            </p:cNvCxnSpPr>
            <p:nvPr/>
          </p:nvCxnSpPr>
          <p:spPr>
            <a:xfrm flipV="1">
              <a:off x="1564325" y="2186385"/>
              <a:ext cx="5648232" cy="929768"/>
            </a:xfrm>
            <a:prstGeom prst="straightConnector1">
              <a:avLst/>
            </a:prstGeom>
            <a:noFill/>
            <a:ln w="19050" cap="flat" cmpd="sng">
              <a:solidFill>
                <a:srgbClr val="000000"/>
              </a:solidFill>
              <a:prstDash val="solid"/>
              <a:round/>
              <a:headEnd type="none" w="med" len="med"/>
              <a:tailEnd type="triangle" w="med" len="med"/>
            </a:ln>
          </p:spPr>
        </p:cxnSp>
        <p:cxnSp>
          <p:nvCxnSpPr>
            <p:cNvPr id="41" name="Google Shape;452;p34">
              <a:extLst>
                <a:ext uri="{FF2B5EF4-FFF2-40B4-BE49-F238E27FC236}">
                  <a16:creationId xmlns:a16="http://schemas.microsoft.com/office/drawing/2014/main" id="{0D0BC712-79D4-0B4E-76AA-D885A1FDCB67}"/>
                </a:ext>
              </a:extLst>
            </p:cNvPr>
            <p:cNvCxnSpPr>
              <a:cxnSpLocks/>
            </p:cNvCxnSpPr>
            <p:nvPr/>
          </p:nvCxnSpPr>
          <p:spPr>
            <a:xfrm flipV="1">
              <a:off x="1564325" y="2337139"/>
              <a:ext cx="5564822" cy="933661"/>
            </a:xfrm>
            <a:prstGeom prst="straightConnector1">
              <a:avLst/>
            </a:prstGeom>
            <a:noFill/>
            <a:ln w="19050" cap="flat" cmpd="sng">
              <a:solidFill>
                <a:srgbClr val="000000"/>
              </a:solidFill>
              <a:prstDash val="solid"/>
              <a:round/>
              <a:headEnd type="triangle" w="med" len="med"/>
              <a:tailEnd type="none" w="med" len="med"/>
            </a:ln>
          </p:spPr>
        </p:cxnSp>
        <p:cxnSp>
          <p:nvCxnSpPr>
            <p:cNvPr id="42" name="Google Shape;453;p34">
              <a:extLst>
                <a:ext uri="{FF2B5EF4-FFF2-40B4-BE49-F238E27FC236}">
                  <a16:creationId xmlns:a16="http://schemas.microsoft.com/office/drawing/2014/main" id="{FD640578-5DEF-88A5-DDCE-2628B7AA864E}"/>
                </a:ext>
              </a:extLst>
            </p:cNvPr>
            <p:cNvCxnSpPr>
              <a:cxnSpLocks/>
            </p:cNvCxnSpPr>
            <p:nvPr/>
          </p:nvCxnSpPr>
          <p:spPr>
            <a:xfrm flipV="1">
              <a:off x="1607603" y="3360809"/>
              <a:ext cx="4813422" cy="293096"/>
            </a:xfrm>
            <a:prstGeom prst="straightConnector1">
              <a:avLst/>
            </a:prstGeom>
            <a:noFill/>
            <a:ln w="19050" cap="flat" cmpd="sng">
              <a:solidFill>
                <a:srgbClr val="000000"/>
              </a:solidFill>
              <a:prstDash val="solid"/>
              <a:round/>
              <a:headEnd type="none" w="med" len="med"/>
              <a:tailEnd type="triangle" w="med" len="med"/>
            </a:ln>
          </p:spPr>
        </p:cxnSp>
        <p:cxnSp>
          <p:nvCxnSpPr>
            <p:cNvPr id="43" name="Google Shape;454;p34">
              <a:extLst>
                <a:ext uri="{FF2B5EF4-FFF2-40B4-BE49-F238E27FC236}">
                  <a16:creationId xmlns:a16="http://schemas.microsoft.com/office/drawing/2014/main" id="{7A0C619C-68F1-B9FD-A0EA-43429B1BECD1}"/>
                </a:ext>
              </a:extLst>
            </p:cNvPr>
            <p:cNvCxnSpPr>
              <a:cxnSpLocks/>
            </p:cNvCxnSpPr>
            <p:nvPr/>
          </p:nvCxnSpPr>
          <p:spPr>
            <a:xfrm flipV="1">
              <a:off x="1528696" y="3518236"/>
              <a:ext cx="4860377" cy="271339"/>
            </a:xfrm>
            <a:prstGeom prst="straightConnector1">
              <a:avLst/>
            </a:prstGeom>
            <a:noFill/>
            <a:ln w="19050" cap="flat" cmpd="sng">
              <a:solidFill>
                <a:srgbClr val="000000"/>
              </a:solidFill>
              <a:prstDash val="solid"/>
              <a:round/>
              <a:headEnd type="triangle" w="med" len="med"/>
              <a:tailEnd type="none" w="med" len="med"/>
            </a:ln>
          </p:spPr>
        </p:cxnSp>
        <p:cxnSp>
          <p:nvCxnSpPr>
            <p:cNvPr id="44" name="Google Shape;455;p34">
              <a:extLst>
                <a:ext uri="{FF2B5EF4-FFF2-40B4-BE49-F238E27FC236}">
                  <a16:creationId xmlns:a16="http://schemas.microsoft.com/office/drawing/2014/main" id="{DD236598-8650-AB13-F12C-9E4E9AAF8910}"/>
                </a:ext>
              </a:extLst>
            </p:cNvPr>
            <p:cNvCxnSpPr/>
            <p:nvPr/>
          </p:nvCxnSpPr>
          <p:spPr>
            <a:xfrm>
              <a:off x="1628275" y="4059050"/>
              <a:ext cx="3377100" cy="271800"/>
            </a:xfrm>
            <a:prstGeom prst="straightConnector1">
              <a:avLst/>
            </a:prstGeom>
            <a:noFill/>
            <a:ln w="19050" cap="flat" cmpd="sng">
              <a:solidFill>
                <a:srgbClr val="000000"/>
              </a:solidFill>
              <a:prstDash val="solid"/>
              <a:round/>
              <a:headEnd type="none" w="med" len="med"/>
              <a:tailEnd type="triangle" w="med" len="med"/>
            </a:ln>
          </p:spPr>
        </p:cxnSp>
        <p:cxnSp>
          <p:nvCxnSpPr>
            <p:cNvPr id="45" name="Google Shape;456;p34">
              <a:extLst>
                <a:ext uri="{FF2B5EF4-FFF2-40B4-BE49-F238E27FC236}">
                  <a16:creationId xmlns:a16="http://schemas.microsoft.com/office/drawing/2014/main" id="{60D2D97E-FA2E-C5B8-E7E0-C9A780CE81AD}"/>
                </a:ext>
              </a:extLst>
            </p:cNvPr>
            <p:cNvCxnSpPr/>
            <p:nvPr/>
          </p:nvCxnSpPr>
          <p:spPr>
            <a:xfrm>
              <a:off x="1528700" y="4180880"/>
              <a:ext cx="3377100" cy="271800"/>
            </a:xfrm>
            <a:prstGeom prst="straightConnector1">
              <a:avLst/>
            </a:prstGeom>
            <a:noFill/>
            <a:ln w="19050" cap="flat" cmpd="sng">
              <a:solidFill>
                <a:srgbClr val="000000"/>
              </a:solidFill>
              <a:prstDash val="solid"/>
              <a:round/>
              <a:headEnd type="triangle" w="med" len="med"/>
              <a:tailEnd type="none" w="med" len="med"/>
            </a:ln>
          </p:spPr>
        </p:cxnSp>
        <p:sp>
          <p:nvSpPr>
            <p:cNvPr id="46" name="Google Shape;457;p34">
              <a:extLst>
                <a:ext uri="{FF2B5EF4-FFF2-40B4-BE49-F238E27FC236}">
                  <a16:creationId xmlns:a16="http://schemas.microsoft.com/office/drawing/2014/main" id="{3C092582-713C-E2A2-B2AD-1EDD56C1BDCD}"/>
                </a:ext>
              </a:extLst>
            </p:cNvPr>
            <p:cNvSpPr txBox="1"/>
            <p:nvPr/>
          </p:nvSpPr>
          <p:spPr>
            <a:xfrm>
              <a:off x="3532997" y="3860291"/>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6</a:t>
              </a:r>
              <a:endParaRPr>
                <a:latin typeface="Calibri"/>
                <a:ea typeface="Calibri"/>
                <a:cs typeface="Calibri"/>
                <a:sym typeface="Calibri"/>
              </a:endParaRPr>
            </a:p>
          </p:txBody>
        </p:sp>
        <p:sp>
          <p:nvSpPr>
            <p:cNvPr id="47" name="Google Shape;458;p34">
              <a:extLst>
                <a:ext uri="{FF2B5EF4-FFF2-40B4-BE49-F238E27FC236}">
                  <a16:creationId xmlns:a16="http://schemas.microsoft.com/office/drawing/2014/main" id="{C1D2AAC9-DCC0-2374-182B-DE0FA0A953BA}"/>
                </a:ext>
              </a:extLst>
            </p:cNvPr>
            <p:cNvSpPr txBox="1"/>
            <p:nvPr/>
          </p:nvSpPr>
          <p:spPr>
            <a:xfrm>
              <a:off x="3505531" y="4277550"/>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7</a:t>
              </a:r>
              <a:endParaRPr>
                <a:latin typeface="Calibri"/>
                <a:ea typeface="Calibri"/>
                <a:cs typeface="Calibri"/>
                <a:sym typeface="Calibri"/>
              </a:endParaRPr>
            </a:p>
          </p:txBody>
        </p:sp>
        <p:sp>
          <p:nvSpPr>
            <p:cNvPr id="48" name="Google Shape;459;p34">
              <a:extLst>
                <a:ext uri="{FF2B5EF4-FFF2-40B4-BE49-F238E27FC236}">
                  <a16:creationId xmlns:a16="http://schemas.microsoft.com/office/drawing/2014/main" id="{38666911-2C56-2230-6FB6-BBDC3F9F0577}"/>
                </a:ext>
              </a:extLst>
            </p:cNvPr>
            <p:cNvSpPr txBox="1"/>
            <p:nvPr/>
          </p:nvSpPr>
          <p:spPr>
            <a:xfrm>
              <a:off x="3677935" y="3193743"/>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4</a:t>
              </a:r>
              <a:endParaRPr>
                <a:latin typeface="Calibri"/>
                <a:ea typeface="Calibri"/>
                <a:cs typeface="Calibri"/>
                <a:sym typeface="Calibri"/>
              </a:endParaRPr>
            </a:p>
          </p:txBody>
        </p:sp>
        <p:sp>
          <p:nvSpPr>
            <p:cNvPr id="49" name="Google Shape;460;p34">
              <a:extLst>
                <a:ext uri="{FF2B5EF4-FFF2-40B4-BE49-F238E27FC236}">
                  <a16:creationId xmlns:a16="http://schemas.microsoft.com/office/drawing/2014/main" id="{D178512B-4007-8F93-F09C-1A030CDFFD65}"/>
                </a:ext>
              </a:extLst>
            </p:cNvPr>
            <p:cNvSpPr txBox="1"/>
            <p:nvPr/>
          </p:nvSpPr>
          <p:spPr>
            <a:xfrm>
              <a:off x="3730313" y="3612838"/>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5</a:t>
              </a:r>
              <a:endParaRPr>
                <a:latin typeface="Calibri"/>
                <a:ea typeface="Calibri"/>
                <a:cs typeface="Calibri"/>
                <a:sym typeface="Calibri"/>
              </a:endParaRPr>
            </a:p>
          </p:txBody>
        </p:sp>
        <p:sp>
          <p:nvSpPr>
            <p:cNvPr id="50" name="Google Shape;461;p34">
              <a:extLst>
                <a:ext uri="{FF2B5EF4-FFF2-40B4-BE49-F238E27FC236}">
                  <a16:creationId xmlns:a16="http://schemas.microsoft.com/office/drawing/2014/main" id="{15CAA38E-0F74-E08C-4178-BEEC3DA6CB89}"/>
                </a:ext>
              </a:extLst>
            </p:cNvPr>
            <p:cNvSpPr txBox="1"/>
            <p:nvPr/>
          </p:nvSpPr>
          <p:spPr>
            <a:xfrm>
              <a:off x="3700105" y="2814582"/>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3</a:t>
              </a:r>
              <a:endParaRPr>
                <a:latin typeface="Calibri"/>
                <a:ea typeface="Calibri"/>
                <a:cs typeface="Calibri"/>
                <a:sym typeface="Calibri"/>
              </a:endParaRPr>
            </a:p>
          </p:txBody>
        </p:sp>
        <p:sp>
          <p:nvSpPr>
            <p:cNvPr id="51" name="Google Shape;462;p34">
              <a:extLst>
                <a:ext uri="{FF2B5EF4-FFF2-40B4-BE49-F238E27FC236}">
                  <a16:creationId xmlns:a16="http://schemas.microsoft.com/office/drawing/2014/main" id="{4E870560-5D9B-0641-03F6-ECE41B9F5E74}"/>
                </a:ext>
              </a:extLst>
            </p:cNvPr>
            <p:cNvSpPr txBox="1"/>
            <p:nvPr/>
          </p:nvSpPr>
          <p:spPr>
            <a:xfrm>
              <a:off x="3656980" y="2423720"/>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2</a:t>
              </a:r>
              <a:endParaRPr>
                <a:latin typeface="Calibri"/>
                <a:ea typeface="Calibri"/>
                <a:cs typeface="Calibri"/>
                <a:sym typeface="Calibri"/>
              </a:endParaRPr>
            </a:p>
          </p:txBody>
        </p:sp>
      </p:grpSp>
      <p:sp>
        <p:nvSpPr>
          <p:cNvPr id="52" name="Google Shape;418;p33">
            <a:extLst>
              <a:ext uri="{FF2B5EF4-FFF2-40B4-BE49-F238E27FC236}">
                <a16:creationId xmlns:a16="http://schemas.microsoft.com/office/drawing/2014/main" id="{C323D447-A118-FC5B-D125-61D37AAE596B}"/>
              </a:ext>
            </a:extLst>
          </p:cNvPr>
          <p:cNvSpPr txBox="1"/>
          <p:nvPr/>
        </p:nvSpPr>
        <p:spPr>
          <a:xfrm>
            <a:off x="1691203" y="2020910"/>
            <a:ext cx="1417320" cy="6543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Stub Resolver</a:t>
            </a:r>
            <a:endParaRPr>
              <a:latin typeface="Calibri"/>
              <a:ea typeface="Calibri"/>
              <a:cs typeface="Calibri"/>
              <a:sym typeface="Calibri"/>
            </a:endParaRPr>
          </a:p>
        </p:txBody>
      </p:sp>
      <p:grpSp>
        <p:nvGrpSpPr>
          <p:cNvPr id="53" name="Google Shape;422;p33">
            <a:extLst>
              <a:ext uri="{FF2B5EF4-FFF2-40B4-BE49-F238E27FC236}">
                <a16:creationId xmlns:a16="http://schemas.microsoft.com/office/drawing/2014/main" id="{9AABD4EC-2666-8C99-F208-D662EA7D65AA}"/>
              </a:ext>
            </a:extLst>
          </p:cNvPr>
          <p:cNvGrpSpPr/>
          <p:nvPr/>
        </p:nvGrpSpPr>
        <p:grpSpPr>
          <a:xfrm>
            <a:off x="1753463" y="2719788"/>
            <a:ext cx="410100" cy="762900"/>
            <a:chOff x="258935" y="2049228"/>
            <a:chExt cx="410100" cy="762900"/>
          </a:xfrm>
        </p:grpSpPr>
        <p:sp>
          <p:nvSpPr>
            <p:cNvPr id="54" name="Google Shape;423;p33">
              <a:extLst>
                <a:ext uri="{FF2B5EF4-FFF2-40B4-BE49-F238E27FC236}">
                  <a16:creationId xmlns:a16="http://schemas.microsoft.com/office/drawing/2014/main" id="{84E64663-B784-534B-80EA-463117070469}"/>
                </a:ext>
              </a:extLst>
            </p:cNvPr>
            <p:cNvSpPr txBox="1"/>
            <p:nvPr/>
          </p:nvSpPr>
          <p:spPr>
            <a:xfrm>
              <a:off x="258935" y="2174852"/>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1</a:t>
              </a:r>
              <a:endParaRPr>
                <a:latin typeface="Calibri"/>
                <a:ea typeface="Calibri"/>
                <a:cs typeface="Calibri"/>
                <a:sym typeface="Calibri"/>
              </a:endParaRPr>
            </a:p>
          </p:txBody>
        </p:sp>
        <p:cxnSp>
          <p:nvCxnSpPr>
            <p:cNvPr id="55" name="Google Shape;424;p33">
              <a:extLst>
                <a:ext uri="{FF2B5EF4-FFF2-40B4-BE49-F238E27FC236}">
                  <a16:creationId xmlns:a16="http://schemas.microsoft.com/office/drawing/2014/main" id="{1CD656EE-6304-7FF6-26A5-B318B81047B5}"/>
                </a:ext>
              </a:extLst>
            </p:cNvPr>
            <p:cNvCxnSpPr/>
            <p:nvPr/>
          </p:nvCxnSpPr>
          <p:spPr>
            <a:xfrm rot="10800000">
              <a:off x="530725" y="2049228"/>
              <a:ext cx="0" cy="762900"/>
            </a:xfrm>
            <a:prstGeom prst="straightConnector1">
              <a:avLst/>
            </a:prstGeom>
            <a:noFill/>
            <a:ln w="19050" cap="flat" cmpd="sng">
              <a:solidFill>
                <a:srgbClr val="000000"/>
              </a:solidFill>
              <a:prstDash val="solid"/>
              <a:round/>
              <a:headEnd type="triangle" w="med" len="med"/>
              <a:tailEnd type="none" w="med" len="med"/>
            </a:ln>
          </p:spPr>
        </p:cxnSp>
      </p:grpSp>
      <p:sp>
        <p:nvSpPr>
          <p:cNvPr id="56" name="Google Shape;425;p33">
            <a:extLst>
              <a:ext uri="{FF2B5EF4-FFF2-40B4-BE49-F238E27FC236}">
                <a16:creationId xmlns:a16="http://schemas.microsoft.com/office/drawing/2014/main" id="{16E6D160-F63A-0331-9C6B-671847F775E5}"/>
              </a:ext>
            </a:extLst>
          </p:cNvPr>
          <p:cNvSpPr txBox="1"/>
          <p:nvPr/>
        </p:nvSpPr>
        <p:spPr>
          <a:xfrm>
            <a:off x="1691203" y="3527260"/>
            <a:ext cx="1417320" cy="15399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sp>
        <p:nvSpPr>
          <p:cNvPr id="3" name="Google Shape;407;p33">
            <a:extLst>
              <a:ext uri="{FF2B5EF4-FFF2-40B4-BE49-F238E27FC236}">
                <a16:creationId xmlns:a16="http://schemas.microsoft.com/office/drawing/2014/main" id="{B8BF03D1-BC7D-CBEC-A0CE-DCB63EC4B9EB}"/>
              </a:ext>
            </a:extLst>
          </p:cNvPr>
          <p:cNvSpPr txBox="1"/>
          <p:nvPr/>
        </p:nvSpPr>
        <p:spPr>
          <a:xfrm>
            <a:off x="9030706" y="2495072"/>
            <a:ext cx="1280160" cy="457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.(root)</a:t>
            </a:r>
            <a:endParaRPr>
              <a:latin typeface="Courier New"/>
              <a:ea typeface="Courier New"/>
              <a:cs typeface="Courier New"/>
              <a:sym typeface="Courier New"/>
            </a:endParaRPr>
          </a:p>
        </p:txBody>
      </p:sp>
      <p:sp>
        <p:nvSpPr>
          <p:cNvPr id="4" name="Google Shape;408;p33">
            <a:extLst>
              <a:ext uri="{FF2B5EF4-FFF2-40B4-BE49-F238E27FC236}">
                <a16:creationId xmlns:a16="http://schemas.microsoft.com/office/drawing/2014/main" id="{81B090A7-8514-AF33-56C5-5A12C2CE3EE9}"/>
              </a:ext>
            </a:extLst>
          </p:cNvPr>
          <p:cNvSpPr txBox="1"/>
          <p:nvPr/>
        </p:nvSpPr>
        <p:spPr>
          <a:xfrm>
            <a:off x="8187421" y="3703054"/>
            <a:ext cx="731520" cy="457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.edu</a:t>
            </a:r>
            <a:endParaRPr>
              <a:latin typeface="Calibri"/>
              <a:ea typeface="Calibri"/>
              <a:cs typeface="Calibri"/>
              <a:sym typeface="Calibri"/>
            </a:endParaRPr>
          </a:p>
        </p:txBody>
      </p:sp>
      <p:sp>
        <p:nvSpPr>
          <p:cNvPr id="5" name="Google Shape;409;p33">
            <a:extLst>
              <a:ext uri="{FF2B5EF4-FFF2-40B4-BE49-F238E27FC236}">
                <a16:creationId xmlns:a16="http://schemas.microsoft.com/office/drawing/2014/main" id="{76D7994C-0D23-0F84-D7EC-522D41077901}"/>
              </a:ext>
            </a:extLst>
          </p:cNvPr>
          <p:cNvSpPr txBox="1"/>
          <p:nvPr/>
        </p:nvSpPr>
        <p:spPr>
          <a:xfrm>
            <a:off x="10301461" y="3703054"/>
            <a:ext cx="731520" cy="457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.org</a:t>
            </a:r>
            <a:endParaRPr>
              <a:latin typeface="Calibri"/>
              <a:ea typeface="Calibri"/>
              <a:cs typeface="Calibri"/>
              <a:sym typeface="Calibri"/>
            </a:endParaRPr>
          </a:p>
        </p:txBody>
      </p:sp>
      <p:sp>
        <p:nvSpPr>
          <p:cNvPr id="6" name="Google Shape;410;p33">
            <a:extLst>
              <a:ext uri="{FF2B5EF4-FFF2-40B4-BE49-F238E27FC236}">
                <a16:creationId xmlns:a16="http://schemas.microsoft.com/office/drawing/2014/main" id="{0868DA07-A8DE-D11B-60D4-1DB6E7EEF8FF}"/>
              </a:ext>
            </a:extLst>
          </p:cNvPr>
          <p:cNvSpPr txBox="1"/>
          <p:nvPr/>
        </p:nvSpPr>
        <p:spPr>
          <a:xfrm>
            <a:off x="10923500" y="4821057"/>
            <a:ext cx="1043400" cy="457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Courier New"/>
                <a:ea typeface="Courier New"/>
                <a:cs typeface="Courier New"/>
                <a:sym typeface="Courier New"/>
              </a:rPr>
              <a:t>cs101.org</a:t>
            </a:r>
            <a:endParaRPr sz="1200">
              <a:latin typeface="Calibri"/>
              <a:ea typeface="Calibri"/>
              <a:cs typeface="Calibri"/>
              <a:sym typeface="Calibri"/>
            </a:endParaRPr>
          </a:p>
        </p:txBody>
      </p:sp>
      <p:sp>
        <p:nvSpPr>
          <p:cNvPr id="7" name="Google Shape;411;p33">
            <a:extLst>
              <a:ext uri="{FF2B5EF4-FFF2-40B4-BE49-F238E27FC236}">
                <a16:creationId xmlns:a16="http://schemas.microsoft.com/office/drawing/2014/main" id="{384F660F-8936-1416-84EA-0F52D24112B6}"/>
              </a:ext>
            </a:extLst>
          </p:cNvPr>
          <p:cNvSpPr txBox="1"/>
          <p:nvPr/>
        </p:nvSpPr>
        <p:spPr>
          <a:xfrm>
            <a:off x="8797018" y="4821057"/>
            <a:ext cx="1557814" cy="457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latin typeface="Courier New"/>
                <a:ea typeface="Courier New"/>
                <a:cs typeface="Courier New"/>
                <a:sym typeface="Courier New"/>
              </a:rPr>
              <a:t>mit.edu</a:t>
            </a:r>
            <a:endParaRPr sz="1200" dirty="0">
              <a:latin typeface="Calibri"/>
              <a:ea typeface="Calibri"/>
              <a:cs typeface="Calibri"/>
              <a:sym typeface="Calibri"/>
            </a:endParaRPr>
          </a:p>
        </p:txBody>
      </p:sp>
      <p:sp>
        <p:nvSpPr>
          <p:cNvPr id="8" name="Google Shape;412;p33">
            <a:extLst>
              <a:ext uri="{FF2B5EF4-FFF2-40B4-BE49-F238E27FC236}">
                <a16:creationId xmlns:a16="http://schemas.microsoft.com/office/drawing/2014/main" id="{38FFBC8C-0105-8323-BA07-8844A0E193AF}"/>
              </a:ext>
            </a:extLst>
          </p:cNvPr>
          <p:cNvSpPr txBox="1"/>
          <p:nvPr/>
        </p:nvSpPr>
        <p:spPr>
          <a:xfrm>
            <a:off x="6725864" y="4821057"/>
            <a:ext cx="1296300" cy="457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latin typeface="Courier New"/>
                <a:ea typeface="Courier New"/>
                <a:cs typeface="Courier New"/>
                <a:sym typeface="Courier New"/>
              </a:rPr>
              <a:t>msoe</a:t>
            </a:r>
            <a:r>
              <a:rPr lang="en" sz="1200" dirty="0">
                <a:latin typeface="Courier New"/>
                <a:ea typeface="Courier New"/>
                <a:cs typeface="Courier New"/>
                <a:sym typeface="Courier New"/>
              </a:rPr>
              <a:t>.edu</a:t>
            </a:r>
            <a:endParaRPr sz="1200" dirty="0">
              <a:latin typeface="Calibri"/>
              <a:ea typeface="Calibri"/>
              <a:cs typeface="Calibri"/>
              <a:sym typeface="Calibri"/>
            </a:endParaRPr>
          </a:p>
        </p:txBody>
      </p:sp>
      <p:cxnSp>
        <p:nvCxnSpPr>
          <p:cNvPr id="9" name="Google Shape;413;p33">
            <a:extLst>
              <a:ext uri="{FF2B5EF4-FFF2-40B4-BE49-F238E27FC236}">
                <a16:creationId xmlns:a16="http://schemas.microsoft.com/office/drawing/2014/main" id="{0218C25B-2054-41DF-9014-AE5B464D9049}"/>
              </a:ext>
            </a:extLst>
          </p:cNvPr>
          <p:cNvCxnSpPr>
            <a:stCxn id="3" idx="2"/>
            <a:endCxn id="4" idx="0"/>
          </p:cNvCxnSpPr>
          <p:nvPr/>
        </p:nvCxnSpPr>
        <p:spPr>
          <a:xfrm flipH="1">
            <a:off x="8553181" y="2952272"/>
            <a:ext cx="1117605" cy="750782"/>
          </a:xfrm>
          <a:prstGeom prst="straightConnector1">
            <a:avLst/>
          </a:prstGeom>
          <a:noFill/>
          <a:ln w="9525" cap="flat" cmpd="sng">
            <a:solidFill>
              <a:srgbClr val="000000"/>
            </a:solidFill>
            <a:prstDash val="solid"/>
            <a:round/>
            <a:headEnd type="none" w="med" len="med"/>
            <a:tailEnd type="none" w="med" len="med"/>
          </a:ln>
        </p:spPr>
      </p:cxnSp>
      <p:cxnSp>
        <p:nvCxnSpPr>
          <p:cNvPr id="10" name="Google Shape;414;p33">
            <a:extLst>
              <a:ext uri="{FF2B5EF4-FFF2-40B4-BE49-F238E27FC236}">
                <a16:creationId xmlns:a16="http://schemas.microsoft.com/office/drawing/2014/main" id="{960EBAFD-1343-DEB7-04BD-9B8329737ED3}"/>
              </a:ext>
            </a:extLst>
          </p:cNvPr>
          <p:cNvCxnSpPr>
            <a:cxnSpLocks/>
            <a:stCxn id="3" idx="2"/>
            <a:endCxn id="5" idx="0"/>
          </p:cNvCxnSpPr>
          <p:nvPr/>
        </p:nvCxnSpPr>
        <p:spPr>
          <a:xfrm>
            <a:off x="9670786" y="2952272"/>
            <a:ext cx="996435" cy="750782"/>
          </a:xfrm>
          <a:prstGeom prst="straightConnector1">
            <a:avLst/>
          </a:prstGeom>
          <a:noFill/>
          <a:ln w="9525" cap="flat" cmpd="sng">
            <a:solidFill>
              <a:srgbClr val="000000"/>
            </a:solidFill>
            <a:prstDash val="solid"/>
            <a:round/>
            <a:headEnd type="none" w="med" len="med"/>
            <a:tailEnd type="none" w="med" len="med"/>
          </a:ln>
        </p:spPr>
      </p:cxnSp>
      <p:cxnSp>
        <p:nvCxnSpPr>
          <p:cNvPr id="11" name="Google Shape;415;p33">
            <a:extLst>
              <a:ext uri="{FF2B5EF4-FFF2-40B4-BE49-F238E27FC236}">
                <a16:creationId xmlns:a16="http://schemas.microsoft.com/office/drawing/2014/main" id="{B82F5223-9C91-3CF0-8E49-BE52E0AA9768}"/>
              </a:ext>
            </a:extLst>
          </p:cNvPr>
          <p:cNvCxnSpPr>
            <a:cxnSpLocks/>
            <a:stCxn id="4" idx="2"/>
            <a:endCxn id="8" idx="0"/>
          </p:cNvCxnSpPr>
          <p:nvPr/>
        </p:nvCxnSpPr>
        <p:spPr>
          <a:xfrm flipH="1">
            <a:off x="7374014" y="4160254"/>
            <a:ext cx="1179167" cy="660803"/>
          </a:xfrm>
          <a:prstGeom prst="straightConnector1">
            <a:avLst/>
          </a:prstGeom>
          <a:noFill/>
          <a:ln w="9525" cap="flat" cmpd="sng">
            <a:solidFill>
              <a:srgbClr val="000000"/>
            </a:solidFill>
            <a:prstDash val="solid"/>
            <a:round/>
            <a:headEnd type="none" w="med" len="med"/>
            <a:tailEnd type="none" w="med" len="med"/>
          </a:ln>
        </p:spPr>
      </p:cxnSp>
      <p:cxnSp>
        <p:nvCxnSpPr>
          <p:cNvPr id="12" name="Google Shape;416;p33">
            <a:extLst>
              <a:ext uri="{FF2B5EF4-FFF2-40B4-BE49-F238E27FC236}">
                <a16:creationId xmlns:a16="http://schemas.microsoft.com/office/drawing/2014/main" id="{2737AD6F-5114-6DBE-8FF6-933FC7CC68BE}"/>
              </a:ext>
            </a:extLst>
          </p:cNvPr>
          <p:cNvCxnSpPr>
            <a:cxnSpLocks/>
            <a:stCxn id="4" idx="2"/>
            <a:endCxn id="7" idx="0"/>
          </p:cNvCxnSpPr>
          <p:nvPr/>
        </p:nvCxnSpPr>
        <p:spPr>
          <a:xfrm>
            <a:off x="8553181" y="4160254"/>
            <a:ext cx="1022744" cy="660803"/>
          </a:xfrm>
          <a:prstGeom prst="straightConnector1">
            <a:avLst/>
          </a:prstGeom>
          <a:noFill/>
          <a:ln w="9525" cap="flat" cmpd="sng">
            <a:solidFill>
              <a:srgbClr val="000000"/>
            </a:solidFill>
            <a:prstDash val="solid"/>
            <a:round/>
            <a:headEnd type="none" w="med" len="med"/>
            <a:tailEnd type="none" w="med" len="med"/>
          </a:ln>
        </p:spPr>
      </p:cxnSp>
      <p:cxnSp>
        <p:nvCxnSpPr>
          <p:cNvPr id="13" name="Google Shape;417;p33">
            <a:extLst>
              <a:ext uri="{FF2B5EF4-FFF2-40B4-BE49-F238E27FC236}">
                <a16:creationId xmlns:a16="http://schemas.microsoft.com/office/drawing/2014/main" id="{2977D1BA-4B99-8DC4-BB44-5194978EFAD9}"/>
              </a:ext>
            </a:extLst>
          </p:cNvPr>
          <p:cNvCxnSpPr>
            <a:stCxn id="5" idx="2"/>
            <a:endCxn id="6" idx="0"/>
          </p:cNvCxnSpPr>
          <p:nvPr/>
        </p:nvCxnSpPr>
        <p:spPr>
          <a:xfrm>
            <a:off x="10667221" y="4160254"/>
            <a:ext cx="777979" cy="660803"/>
          </a:xfrm>
          <a:prstGeom prst="straightConnector1">
            <a:avLst/>
          </a:prstGeom>
          <a:noFill/>
          <a:ln w="9525" cap="flat" cmpd="sng">
            <a:solidFill>
              <a:srgbClr val="000000"/>
            </a:solidFill>
            <a:prstDash val="solid"/>
            <a:round/>
            <a:headEnd type="none" w="med" len="med"/>
            <a:tailEnd type="none" w="med" len="med"/>
          </a:ln>
        </p:spPr>
      </p:cxnSp>
      <p:sp>
        <p:nvSpPr>
          <p:cNvPr id="17" name="Google Shape;1819;p140">
            <a:extLst>
              <a:ext uri="{FF2B5EF4-FFF2-40B4-BE49-F238E27FC236}">
                <a16:creationId xmlns:a16="http://schemas.microsoft.com/office/drawing/2014/main" id="{97AD23D9-75C9-6D57-D3BB-85BC36CF53B1}"/>
              </a:ext>
            </a:extLst>
          </p:cNvPr>
          <p:cNvSpPr txBox="1">
            <a:spLocks/>
          </p:cNvSpPr>
          <p:nvPr/>
        </p:nvSpPr>
        <p:spPr>
          <a:xfrm>
            <a:off x="415600" y="27066"/>
            <a:ext cx="11360800" cy="87181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4400" kern="0">
                <a:latin typeface="Aptos" panose="020B0004020202020204" pitchFamily="34" charset="0"/>
              </a:rPr>
              <a:t>Steps of a DNS Lookup</a:t>
            </a:r>
            <a:endParaRPr lang="en-US" sz="4400" kern="0" dirty="0">
              <a:latin typeface="Aptos" panose="020B0004020202020204" pitchFamily="34" charset="0"/>
            </a:endParaRPr>
          </a:p>
        </p:txBody>
      </p:sp>
    </p:spTree>
    <p:extLst>
      <p:ext uri="{BB962C8B-B14F-4D97-AF65-F5344CB8AC3E}">
        <p14:creationId xmlns:p14="http://schemas.microsoft.com/office/powerpoint/2010/main" val="4030202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14738-7596-B78C-7981-B1AABC39ADEF}"/>
              </a:ext>
            </a:extLst>
          </p:cNvPr>
          <p:cNvSpPr>
            <a:spLocks noGrp="1"/>
          </p:cNvSpPr>
          <p:nvPr>
            <p:ph type="title"/>
          </p:nvPr>
        </p:nvSpPr>
        <p:spPr>
          <a:xfrm>
            <a:off x="838200" y="17172"/>
            <a:ext cx="10515600" cy="777958"/>
          </a:xfrm>
        </p:spPr>
        <p:txBody>
          <a:bodyPr>
            <a:noAutofit/>
          </a:bodyPr>
          <a:lstStyle/>
          <a:p>
            <a:r>
              <a:rPr lang="en-US" sz="4400" dirty="0">
                <a:latin typeface="Aptos" panose="020B0004020202020204" pitchFamily="34" charset="0"/>
              </a:rPr>
              <a:t>What's in a DNS packet? </a:t>
            </a:r>
          </a:p>
        </p:txBody>
      </p:sp>
      <p:pic>
        <p:nvPicPr>
          <p:cNvPr id="5" name="Content Placeholder 4" descr="A screen shot of a computer&#10;&#10;Description automatically generated">
            <a:extLst>
              <a:ext uri="{FF2B5EF4-FFF2-40B4-BE49-F238E27FC236}">
                <a16:creationId xmlns:a16="http://schemas.microsoft.com/office/drawing/2014/main" id="{38F33E0B-1047-064B-5123-E5C9D0443FF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98659" y="795130"/>
            <a:ext cx="5571256" cy="5728192"/>
          </a:xfrm>
        </p:spPr>
      </p:pic>
      <p:sp>
        <p:nvSpPr>
          <p:cNvPr id="6" name="TextBox 5">
            <a:extLst>
              <a:ext uri="{FF2B5EF4-FFF2-40B4-BE49-F238E27FC236}">
                <a16:creationId xmlns:a16="http://schemas.microsoft.com/office/drawing/2014/main" id="{BC061004-8F59-0AD6-2868-C356573A9149}"/>
              </a:ext>
            </a:extLst>
          </p:cNvPr>
          <p:cNvSpPr txBox="1"/>
          <p:nvPr/>
        </p:nvSpPr>
        <p:spPr>
          <a:xfrm>
            <a:off x="329069" y="891011"/>
            <a:ext cx="5766931" cy="5878532"/>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lang="en-US" sz="2200" b="1" dirty="0">
                <a:latin typeface="Aptos" panose="020B0004020202020204" pitchFamily="34" charset="0"/>
              </a:rPr>
              <a:t>Source / Destination IP address</a:t>
            </a:r>
          </a:p>
          <a:p>
            <a:pPr marL="285750" indent="-285750">
              <a:spcAft>
                <a:spcPts val="1200"/>
              </a:spcAft>
              <a:buFont typeface="Arial" panose="020B0604020202020204" pitchFamily="34" charset="0"/>
              <a:buChar char="•"/>
            </a:pPr>
            <a:r>
              <a:rPr lang="en-US" sz="2200" b="1" dirty="0">
                <a:latin typeface="Aptos" panose="020B0004020202020204" pitchFamily="34" charset="0"/>
              </a:rPr>
              <a:t>Source / Destination port numbers:</a:t>
            </a:r>
          </a:p>
          <a:p>
            <a:pPr marL="742950" lvl="1" indent="-285750">
              <a:spcAft>
                <a:spcPts val="1200"/>
              </a:spcAft>
              <a:buFont typeface="Arial" panose="020B0604020202020204" pitchFamily="34" charset="0"/>
              <a:buChar char="•"/>
            </a:pPr>
            <a:r>
              <a:rPr lang="en-US" sz="2200" dirty="0">
                <a:latin typeface="Aptos" panose="020B0004020202020204" pitchFamily="34" charset="0"/>
              </a:rPr>
              <a:t>DNS servers listen on port </a:t>
            </a:r>
            <a:r>
              <a:rPr lang="en-US" sz="2200" b="1" i="1" dirty="0">
                <a:solidFill>
                  <a:srgbClr val="C00000"/>
                </a:solidFill>
                <a:latin typeface="Aptos" panose="020B0004020202020204" pitchFamily="34" charset="0"/>
              </a:rPr>
              <a:t>53/UDP </a:t>
            </a:r>
          </a:p>
          <a:p>
            <a:pPr marL="742950" lvl="1" indent="-285750">
              <a:spcAft>
                <a:spcPts val="1200"/>
              </a:spcAft>
              <a:buFont typeface="Arial" panose="020B0604020202020204" pitchFamily="34" charset="0"/>
              <a:buChar char="•"/>
            </a:pPr>
            <a:r>
              <a:rPr lang="en-US" sz="2200" dirty="0">
                <a:latin typeface="Aptos" panose="020B0004020202020204" pitchFamily="34" charset="0"/>
              </a:rPr>
              <a:t>The source port varies considerably</a:t>
            </a:r>
          </a:p>
          <a:p>
            <a:pPr marL="1200150" lvl="2" indent="-285750">
              <a:spcAft>
                <a:spcPts val="1200"/>
              </a:spcAft>
              <a:buFont typeface="Arial" panose="020B0604020202020204" pitchFamily="34" charset="0"/>
              <a:buChar char="•"/>
            </a:pPr>
            <a:r>
              <a:rPr lang="en-US" sz="2200" dirty="0">
                <a:latin typeface="Aptos" panose="020B0004020202020204" pitchFamily="34" charset="0"/>
              </a:rPr>
              <a:t>Sometimes it's also port </a:t>
            </a:r>
            <a:r>
              <a:rPr lang="en-US" sz="2200" i="1" dirty="0">
                <a:latin typeface="Aptos" panose="020B0004020202020204" pitchFamily="34" charset="0"/>
              </a:rPr>
              <a:t>53/UDP </a:t>
            </a:r>
          </a:p>
          <a:p>
            <a:pPr marL="1200150" lvl="2" indent="-285750">
              <a:spcAft>
                <a:spcPts val="1200"/>
              </a:spcAft>
              <a:buFont typeface="Arial" panose="020B0604020202020204" pitchFamily="34" charset="0"/>
              <a:buChar char="•"/>
            </a:pPr>
            <a:r>
              <a:rPr lang="en-US" sz="2200" dirty="0">
                <a:latin typeface="Aptos" panose="020B0004020202020204" pitchFamily="34" charset="0"/>
              </a:rPr>
              <a:t>Sometimes it's chosen at </a:t>
            </a:r>
            <a:r>
              <a:rPr lang="en-US" sz="2200" b="1" i="1" dirty="0">
                <a:solidFill>
                  <a:srgbClr val="C00000"/>
                </a:solidFill>
                <a:latin typeface="Aptos" panose="020B0004020202020204" pitchFamily="34" charset="0"/>
              </a:rPr>
              <a:t>random</a:t>
            </a:r>
            <a:r>
              <a:rPr lang="en-US" sz="2200" dirty="0">
                <a:latin typeface="Aptos" panose="020B0004020202020204" pitchFamily="34" charset="0"/>
              </a:rPr>
              <a:t> by the operating system</a:t>
            </a:r>
          </a:p>
          <a:p>
            <a:pPr marL="285750" indent="-285750">
              <a:spcAft>
                <a:spcPts val="1200"/>
              </a:spcAft>
              <a:buFont typeface="Arial" panose="020B0604020202020204" pitchFamily="34" charset="0"/>
              <a:buChar char="•"/>
            </a:pPr>
            <a:r>
              <a:rPr lang="en-US" sz="2200" b="1" dirty="0">
                <a:latin typeface="Aptos" panose="020B0004020202020204" pitchFamily="34" charset="0"/>
              </a:rPr>
              <a:t>Query ID:</a:t>
            </a:r>
          </a:p>
          <a:p>
            <a:pPr marL="742950" lvl="1" indent="-285750">
              <a:spcAft>
                <a:spcPts val="1200"/>
              </a:spcAft>
              <a:buFont typeface="Arial" panose="020B0604020202020204" pitchFamily="34" charset="0"/>
              <a:buChar char="•"/>
            </a:pPr>
            <a:r>
              <a:rPr lang="en-US" sz="2200" dirty="0">
                <a:latin typeface="Aptos" panose="020B0004020202020204" pitchFamily="34" charset="0"/>
              </a:rPr>
              <a:t>A unique identifier</a:t>
            </a:r>
          </a:p>
          <a:p>
            <a:pPr marL="742950" lvl="1" indent="-285750">
              <a:spcAft>
                <a:spcPts val="1200"/>
              </a:spcAft>
              <a:buFont typeface="Arial" panose="020B0604020202020204" pitchFamily="34" charset="0"/>
              <a:buChar char="•"/>
            </a:pPr>
            <a:r>
              <a:rPr lang="en-US" sz="2200" dirty="0">
                <a:latin typeface="Aptos" panose="020B0004020202020204" pitchFamily="34" charset="0"/>
              </a:rPr>
              <a:t>This is also sometimes called the </a:t>
            </a:r>
            <a:r>
              <a:rPr lang="en-US" sz="2200" b="1" i="1" dirty="0">
                <a:solidFill>
                  <a:srgbClr val="C00000"/>
                </a:solidFill>
                <a:latin typeface="Aptos" panose="020B0004020202020204" pitchFamily="34" charset="0"/>
              </a:rPr>
              <a:t>Transaction ID </a:t>
            </a:r>
            <a:r>
              <a:rPr lang="en-US" sz="2200" dirty="0">
                <a:latin typeface="Aptos" panose="020B0004020202020204" pitchFamily="34" charset="0"/>
              </a:rPr>
              <a:t>(TXID)</a:t>
            </a:r>
          </a:p>
          <a:p>
            <a:pPr marL="285750" indent="-285750">
              <a:spcAft>
                <a:spcPts val="1200"/>
              </a:spcAft>
              <a:buFont typeface="Arial" panose="020B0604020202020204" pitchFamily="34" charset="0"/>
              <a:buChar char="•"/>
            </a:pPr>
            <a:r>
              <a:rPr lang="en-US" sz="2200" b="1" dirty="0">
                <a:latin typeface="Aptos" panose="020B0004020202020204" pitchFamily="34" charset="0"/>
              </a:rPr>
              <a:t>Counts</a:t>
            </a:r>
            <a:r>
              <a:rPr lang="en-US" sz="2200" dirty="0">
                <a:latin typeface="Aptos" panose="020B0004020202020204" pitchFamily="34" charset="0"/>
              </a:rPr>
              <a:t>: The number of records of each type in the DNS payload</a:t>
            </a:r>
          </a:p>
        </p:txBody>
      </p:sp>
      <p:sp>
        <p:nvSpPr>
          <p:cNvPr id="10" name="TextBox 9">
            <a:extLst>
              <a:ext uri="{FF2B5EF4-FFF2-40B4-BE49-F238E27FC236}">
                <a16:creationId xmlns:a16="http://schemas.microsoft.com/office/drawing/2014/main" id="{848E991A-9F47-2B94-9FBD-15E4A68DD218}"/>
              </a:ext>
            </a:extLst>
          </p:cNvPr>
          <p:cNvSpPr txBox="1"/>
          <p:nvPr/>
        </p:nvSpPr>
        <p:spPr>
          <a:xfrm>
            <a:off x="6995833" y="6523322"/>
            <a:ext cx="3536095" cy="246221"/>
          </a:xfrm>
          <a:prstGeom prst="rect">
            <a:avLst/>
          </a:prstGeom>
          <a:noFill/>
        </p:spPr>
        <p:txBody>
          <a:bodyPr wrap="square" rtlCol="0">
            <a:spAutoFit/>
          </a:bodyPr>
          <a:lstStyle/>
          <a:p>
            <a:r>
              <a:rPr lang="en-US" sz="1000" dirty="0"/>
              <a:t>http://unixwiz.net/techtips/iguide-kaminsky-dns-vuln.html</a:t>
            </a:r>
          </a:p>
        </p:txBody>
      </p:sp>
    </p:spTree>
    <p:extLst>
      <p:ext uri="{BB962C8B-B14F-4D97-AF65-F5344CB8AC3E}">
        <p14:creationId xmlns:p14="http://schemas.microsoft.com/office/powerpoint/2010/main" val="685036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819;p140">
            <a:extLst>
              <a:ext uri="{FF2B5EF4-FFF2-40B4-BE49-F238E27FC236}">
                <a16:creationId xmlns:a16="http://schemas.microsoft.com/office/drawing/2014/main" id="{A1BBD3EA-B48A-9405-9D84-E991AC00628F}"/>
              </a:ext>
            </a:extLst>
          </p:cNvPr>
          <p:cNvSpPr txBox="1">
            <a:spLocks noGrp="1"/>
          </p:cNvSpPr>
          <p:nvPr>
            <p:ph type="title"/>
          </p:nvPr>
        </p:nvSpPr>
        <p:spPr>
          <a:xfrm>
            <a:off x="280406" y="29807"/>
            <a:ext cx="11360800" cy="833202"/>
          </a:xfrm>
          <a:prstGeom prst="rect">
            <a:avLst/>
          </a:prstGeom>
        </p:spPr>
        <p:txBody>
          <a:bodyPr spcFirstLastPara="1" wrap="square" lIns="121900" tIns="121900" rIns="121900" bIns="121900" anchor="t" anchorCtr="0">
            <a:noAutofit/>
          </a:bodyPr>
          <a:lstStyle/>
          <a:p>
            <a:r>
              <a:rPr lang="en" sz="4400" dirty="0">
                <a:latin typeface="Aptos" panose="020B0004020202020204" pitchFamily="34" charset="0"/>
              </a:rPr>
              <a:t>DNS Caching</a:t>
            </a:r>
            <a:endParaRPr sz="4400" dirty="0">
              <a:latin typeface="Aptos" panose="020B0004020202020204" pitchFamily="34" charset="0"/>
            </a:endParaRPr>
          </a:p>
        </p:txBody>
      </p:sp>
      <p:sp>
        <p:nvSpPr>
          <p:cNvPr id="3" name="Text Placeholder 2">
            <a:extLst>
              <a:ext uri="{FF2B5EF4-FFF2-40B4-BE49-F238E27FC236}">
                <a16:creationId xmlns:a16="http://schemas.microsoft.com/office/drawing/2014/main" id="{B101102E-D38D-FD64-F76E-582EBDF2D6C9}"/>
              </a:ext>
            </a:extLst>
          </p:cNvPr>
          <p:cNvSpPr>
            <a:spLocks noGrp="1"/>
          </p:cNvSpPr>
          <p:nvPr>
            <p:ph type="body" idx="1"/>
          </p:nvPr>
        </p:nvSpPr>
        <p:spPr>
          <a:xfrm>
            <a:off x="144568" y="1462623"/>
            <a:ext cx="5340441" cy="4392757"/>
          </a:xfrm>
        </p:spPr>
        <p:txBody>
          <a:bodyPr>
            <a:noAutofit/>
          </a:bodyPr>
          <a:lstStyle/>
          <a:p>
            <a:pPr>
              <a:spcAft>
                <a:spcPts val="600"/>
              </a:spcAft>
              <a:buClrTx/>
              <a:buSzPct val="100000"/>
              <a:buFont typeface="Aptos" panose="020B0004020202020204" pitchFamily="34" charset="0"/>
              <a:buChar char="•"/>
            </a:pPr>
            <a:r>
              <a:rPr lang="en-US" sz="2200" dirty="0">
                <a:solidFill>
                  <a:schemeClr val="tx1"/>
                </a:solidFill>
                <a:latin typeface="Aptos" panose="020B0004020202020204" pitchFamily="34" charset="0"/>
              </a:rPr>
              <a:t>DNS </a:t>
            </a:r>
            <a:r>
              <a:rPr lang="en-US" sz="2200" b="1" i="1" dirty="0">
                <a:solidFill>
                  <a:schemeClr val="tx1"/>
                </a:solidFill>
                <a:latin typeface="Aptos" panose="020B0004020202020204" pitchFamily="34" charset="0"/>
              </a:rPr>
              <a:t>responses</a:t>
            </a:r>
            <a:r>
              <a:rPr lang="en-US" sz="2200" dirty="0">
                <a:solidFill>
                  <a:schemeClr val="tx1"/>
                </a:solidFill>
                <a:latin typeface="Aptos" panose="020B0004020202020204" pitchFamily="34" charset="0"/>
              </a:rPr>
              <a:t> are cached</a:t>
            </a:r>
          </a:p>
          <a:p>
            <a:pPr lvl="1">
              <a:spcAft>
                <a:spcPts val="600"/>
              </a:spcAft>
              <a:buClrTx/>
              <a:buSzPct val="100000"/>
              <a:buFont typeface="Aptos" panose="020B0004020202020204" pitchFamily="34" charset="0"/>
              <a:buChar char="•"/>
            </a:pPr>
            <a:r>
              <a:rPr lang="en-US" sz="2200" dirty="0">
                <a:solidFill>
                  <a:schemeClr val="tx1"/>
                </a:solidFill>
                <a:latin typeface="Aptos" panose="020B0004020202020204" pitchFamily="34" charset="0"/>
              </a:rPr>
              <a:t>Quick response for repeated translations</a:t>
            </a:r>
          </a:p>
          <a:p>
            <a:pPr>
              <a:spcAft>
                <a:spcPts val="600"/>
              </a:spcAft>
              <a:buClrTx/>
              <a:buSzPct val="100000"/>
              <a:buFont typeface="Aptos" panose="020B0004020202020204" pitchFamily="34" charset="0"/>
              <a:buChar char="•"/>
            </a:pPr>
            <a:r>
              <a:rPr lang="en-US" sz="2200" dirty="0">
                <a:solidFill>
                  <a:schemeClr val="tx1"/>
                </a:solidFill>
                <a:latin typeface="Aptos" panose="020B0004020202020204" pitchFamily="34" charset="0"/>
              </a:rPr>
              <a:t>DNS </a:t>
            </a:r>
            <a:r>
              <a:rPr lang="en-US" sz="2200" b="1" i="1" dirty="0">
                <a:solidFill>
                  <a:schemeClr val="tx1"/>
                </a:solidFill>
                <a:latin typeface="Aptos" panose="020B0004020202020204" pitchFamily="34" charset="0"/>
              </a:rPr>
              <a:t>negative queries </a:t>
            </a:r>
            <a:r>
              <a:rPr lang="en-US" sz="2200" dirty="0">
                <a:solidFill>
                  <a:schemeClr val="tx1"/>
                </a:solidFill>
                <a:latin typeface="Aptos" panose="020B0004020202020204" pitchFamily="34" charset="0"/>
              </a:rPr>
              <a:t>are cached</a:t>
            </a:r>
          </a:p>
          <a:p>
            <a:pPr lvl="1">
              <a:spcAft>
                <a:spcPts val="600"/>
              </a:spcAft>
              <a:buClrTx/>
              <a:buSzPct val="100000"/>
              <a:buFont typeface="Aptos" panose="020B0004020202020204" pitchFamily="34" charset="0"/>
              <a:buChar char="•"/>
            </a:pPr>
            <a:r>
              <a:rPr lang="en-US" sz="2200" dirty="0">
                <a:solidFill>
                  <a:schemeClr val="tx1"/>
                </a:solidFill>
                <a:latin typeface="Aptos" panose="020B0004020202020204" pitchFamily="34" charset="0"/>
              </a:rPr>
              <a:t>Save time for nonexistent sites, e.g., misspelling</a:t>
            </a:r>
          </a:p>
          <a:p>
            <a:pPr>
              <a:spcAft>
                <a:spcPts val="600"/>
              </a:spcAft>
              <a:buClrTx/>
              <a:buSzPct val="100000"/>
              <a:buFont typeface="Aptos" panose="020B0004020202020204" pitchFamily="34" charset="0"/>
              <a:buChar char="•"/>
            </a:pPr>
            <a:r>
              <a:rPr lang="en-US" sz="2200" dirty="0">
                <a:solidFill>
                  <a:schemeClr val="tx1"/>
                </a:solidFill>
                <a:latin typeface="Aptos" panose="020B0004020202020204" pitchFamily="34" charset="0"/>
              </a:rPr>
              <a:t>Cached data periodically times out</a:t>
            </a:r>
          </a:p>
          <a:p>
            <a:pPr lvl="1">
              <a:spcAft>
                <a:spcPts val="600"/>
              </a:spcAft>
              <a:buClrTx/>
              <a:buSzPct val="100000"/>
              <a:buFont typeface="Aptos" panose="020B0004020202020204" pitchFamily="34" charset="0"/>
              <a:buChar char="•"/>
            </a:pPr>
            <a:r>
              <a:rPr lang="en-US" sz="2200" dirty="0">
                <a:solidFill>
                  <a:schemeClr val="tx1"/>
                </a:solidFill>
                <a:latin typeface="Aptos" panose="020B0004020202020204" pitchFamily="34" charset="0"/>
              </a:rPr>
              <a:t>Lifetime (TTL) of data controlled by owner of data</a:t>
            </a:r>
          </a:p>
          <a:p>
            <a:pPr lvl="1">
              <a:spcAft>
                <a:spcPts val="600"/>
              </a:spcAft>
              <a:buClrTx/>
              <a:buSzPct val="100000"/>
              <a:buFont typeface="Aptos" panose="020B0004020202020204" pitchFamily="34" charset="0"/>
              <a:buChar char="•"/>
            </a:pPr>
            <a:r>
              <a:rPr lang="en-US" sz="2200" dirty="0">
                <a:solidFill>
                  <a:schemeClr val="tx1"/>
                </a:solidFill>
                <a:latin typeface="Aptos" panose="020B0004020202020204" pitchFamily="34" charset="0"/>
              </a:rPr>
              <a:t>TTL passed with every record</a:t>
            </a:r>
          </a:p>
        </p:txBody>
      </p:sp>
      <p:grpSp>
        <p:nvGrpSpPr>
          <p:cNvPr id="44" name="Group 43">
            <a:extLst>
              <a:ext uri="{FF2B5EF4-FFF2-40B4-BE49-F238E27FC236}">
                <a16:creationId xmlns:a16="http://schemas.microsoft.com/office/drawing/2014/main" id="{396163BA-18A4-0EC8-3F3C-1E3C42FAFB2A}"/>
              </a:ext>
            </a:extLst>
          </p:cNvPr>
          <p:cNvGrpSpPr/>
          <p:nvPr/>
        </p:nvGrpSpPr>
        <p:grpSpPr>
          <a:xfrm>
            <a:off x="5723252" y="943935"/>
            <a:ext cx="6352971" cy="2715067"/>
            <a:chOff x="155994" y="893636"/>
            <a:chExt cx="6420447" cy="2715067"/>
          </a:xfrm>
        </p:grpSpPr>
        <p:grpSp>
          <p:nvGrpSpPr>
            <p:cNvPr id="45" name="Group 44">
              <a:extLst>
                <a:ext uri="{FF2B5EF4-FFF2-40B4-BE49-F238E27FC236}">
                  <a16:creationId xmlns:a16="http://schemas.microsoft.com/office/drawing/2014/main" id="{BF9CA0FB-4D17-C6DB-A8D2-5778AB205CAB}"/>
                </a:ext>
              </a:extLst>
            </p:cNvPr>
            <p:cNvGrpSpPr/>
            <p:nvPr/>
          </p:nvGrpSpPr>
          <p:grpSpPr>
            <a:xfrm>
              <a:off x="309068" y="1218770"/>
              <a:ext cx="914400" cy="785788"/>
              <a:chOff x="8041957" y="4209555"/>
              <a:chExt cx="914400" cy="785788"/>
            </a:xfrm>
          </p:grpSpPr>
          <p:pic>
            <p:nvPicPr>
              <p:cNvPr id="64" name="Picture 63">
                <a:extLst>
                  <a:ext uri="{FF2B5EF4-FFF2-40B4-BE49-F238E27FC236}">
                    <a16:creationId xmlns:a16="http://schemas.microsoft.com/office/drawing/2014/main" id="{C4E8EE33-1F04-28D4-33CC-0D8774E98415}"/>
                  </a:ext>
                </a:extLst>
              </p:cNvPr>
              <p:cNvPicPr>
                <a:picLocks noChangeAspect="1"/>
              </p:cNvPicPr>
              <p:nvPr/>
            </p:nvPicPr>
            <p:blipFill>
              <a:blip r:embed="rId3"/>
              <a:stretch>
                <a:fillRect/>
              </a:stretch>
            </p:blipFill>
            <p:spPr>
              <a:xfrm>
                <a:off x="8041957" y="4209555"/>
                <a:ext cx="914400" cy="642938"/>
              </a:xfrm>
              <a:prstGeom prst="rect">
                <a:avLst/>
              </a:prstGeom>
            </p:spPr>
          </p:pic>
          <p:sp>
            <p:nvSpPr>
              <p:cNvPr id="65" name="TextBox 64">
                <a:extLst>
                  <a:ext uri="{FF2B5EF4-FFF2-40B4-BE49-F238E27FC236}">
                    <a16:creationId xmlns:a16="http://schemas.microsoft.com/office/drawing/2014/main" id="{B3EB77B8-8118-0957-7770-FFEF66D40B67}"/>
                  </a:ext>
                </a:extLst>
              </p:cNvPr>
              <p:cNvSpPr txBox="1"/>
              <p:nvPr/>
            </p:nvSpPr>
            <p:spPr>
              <a:xfrm>
                <a:off x="8156257" y="4749122"/>
                <a:ext cx="685800" cy="246221"/>
              </a:xfrm>
              <a:prstGeom prst="rect">
                <a:avLst/>
              </a:prstGeom>
              <a:noFill/>
            </p:spPr>
            <p:txBody>
              <a:bodyPr wrap="square" rtlCol="0">
                <a:spAutoFit/>
              </a:bodyPr>
              <a:lstStyle/>
              <a:p>
                <a:pPr algn="ctr"/>
                <a:r>
                  <a:rPr lang="en-US" sz="1000" dirty="0"/>
                  <a:t>1</a:t>
                </a:r>
                <a:r>
                  <a:rPr lang="en-US" sz="1000" baseline="30000" dirty="0"/>
                  <a:t>st</a:t>
                </a:r>
                <a:r>
                  <a:rPr lang="en-US" sz="1000" dirty="0"/>
                  <a:t> User</a:t>
                </a:r>
              </a:p>
            </p:txBody>
          </p:sp>
        </p:grpSp>
        <p:grpSp>
          <p:nvGrpSpPr>
            <p:cNvPr id="46" name="Group 45">
              <a:extLst>
                <a:ext uri="{FF2B5EF4-FFF2-40B4-BE49-F238E27FC236}">
                  <a16:creationId xmlns:a16="http://schemas.microsoft.com/office/drawing/2014/main" id="{862EA767-5EEC-70A6-DE9C-D2DF973207B4}"/>
                </a:ext>
              </a:extLst>
            </p:cNvPr>
            <p:cNvGrpSpPr/>
            <p:nvPr/>
          </p:nvGrpSpPr>
          <p:grpSpPr>
            <a:xfrm>
              <a:off x="155994" y="2401169"/>
              <a:ext cx="1220547" cy="1207534"/>
              <a:chOff x="613300" y="2510853"/>
              <a:chExt cx="1220547" cy="1207534"/>
            </a:xfrm>
          </p:grpSpPr>
          <p:pic>
            <p:nvPicPr>
              <p:cNvPr id="62" name="Picture 61">
                <a:extLst>
                  <a:ext uri="{FF2B5EF4-FFF2-40B4-BE49-F238E27FC236}">
                    <a16:creationId xmlns:a16="http://schemas.microsoft.com/office/drawing/2014/main" id="{57827676-555A-611A-67F4-1D657CD45707}"/>
                  </a:ext>
                </a:extLst>
              </p:cNvPr>
              <p:cNvPicPr>
                <a:picLocks noChangeAspect="1"/>
              </p:cNvPicPr>
              <p:nvPr/>
            </p:nvPicPr>
            <p:blipFill>
              <a:blip r:embed="rId4"/>
              <a:stretch>
                <a:fillRect/>
              </a:stretch>
            </p:blipFill>
            <p:spPr>
              <a:xfrm>
                <a:off x="709224" y="2851612"/>
                <a:ext cx="1028700" cy="866775"/>
              </a:xfrm>
              <a:prstGeom prst="rect">
                <a:avLst/>
              </a:prstGeom>
            </p:spPr>
          </p:pic>
          <p:sp>
            <p:nvSpPr>
              <p:cNvPr id="63" name="TextBox 62">
                <a:extLst>
                  <a:ext uri="{FF2B5EF4-FFF2-40B4-BE49-F238E27FC236}">
                    <a16:creationId xmlns:a16="http://schemas.microsoft.com/office/drawing/2014/main" id="{81051427-0840-97BF-CE24-20AF90CA321F}"/>
                  </a:ext>
                </a:extLst>
              </p:cNvPr>
              <p:cNvSpPr txBox="1"/>
              <p:nvPr/>
            </p:nvSpPr>
            <p:spPr>
              <a:xfrm>
                <a:off x="613300" y="2510853"/>
                <a:ext cx="1220547" cy="400110"/>
              </a:xfrm>
              <a:prstGeom prst="rect">
                <a:avLst/>
              </a:prstGeom>
              <a:noFill/>
            </p:spPr>
            <p:txBody>
              <a:bodyPr wrap="square" rtlCol="0">
                <a:spAutoFit/>
              </a:bodyPr>
              <a:lstStyle/>
              <a:p>
                <a:pPr algn="ctr"/>
                <a:r>
                  <a:rPr lang="en-US" sz="1000" dirty="0"/>
                  <a:t>google.com</a:t>
                </a:r>
              </a:p>
              <a:p>
                <a:pPr algn="ctr"/>
                <a:r>
                  <a:rPr lang="en-US" sz="1000" dirty="0"/>
                  <a:t>IP address:8.8.8.8 </a:t>
                </a:r>
              </a:p>
            </p:txBody>
          </p:sp>
        </p:grpSp>
        <p:cxnSp>
          <p:nvCxnSpPr>
            <p:cNvPr id="47" name="Straight Arrow Connector 46">
              <a:extLst>
                <a:ext uri="{FF2B5EF4-FFF2-40B4-BE49-F238E27FC236}">
                  <a16:creationId xmlns:a16="http://schemas.microsoft.com/office/drawing/2014/main" id="{5BB07E6A-EC1E-3E12-0230-7B3D579C56D0}"/>
                </a:ext>
              </a:extLst>
            </p:cNvPr>
            <p:cNvCxnSpPr>
              <a:cxnSpLocks/>
              <a:stCxn id="65" idx="2"/>
              <a:endCxn id="63" idx="0"/>
            </p:cNvCxnSpPr>
            <p:nvPr/>
          </p:nvCxnSpPr>
          <p:spPr>
            <a:xfrm>
              <a:off x="766268" y="2004558"/>
              <a:ext cx="0" cy="396611"/>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nvGrpSpPr>
            <p:cNvPr id="48" name="Group 47">
              <a:extLst>
                <a:ext uri="{FF2B5EF4-FFF2-40B4-BE49-F238E27FC236}">
                  <a16:creationId xmlns:a16="http://schemas.microsoft.com/office/drawing/2014/main" id="{D4CC7FDA-1EC3-37BF-64A7-2F15FAD834B7}"/>
                </a:ext>
              </a:extLst>
            </p:cNvPr>
            <p:cNvGrpSpPr/>
            <p:nvPr/>
          </p:nvGrpSpPr>
          <p:grpSpPr>
            <a:xfrm>
              <a:off x="2861874" y="1266715"/>
              <a:ext cx="1005840" cy="995103"/>
              <a:chOff x="6153102" y="2971800"/>
              <a:chExt cx="1005840" cy="995103"/>
            </a:xfrm>
          </p:grpSpPr>
          <p:pic>
            <p:nvPicPr>
              <p:cNvPr id="60" name="Picture 59">
                <a:extLst>
                  <a:ext uri="{FF2B5EF4-FFF2-40B4-BE49-F238E27FC236}">
                    <a16:creationId xmlns:a16="http://schemas.microsoft.com/office/drawing/2014/main" id="{8BEA3F55-2E7D-BEF5-9852-8CBFFE17E8FC}"/>
                  </a:ext>
                </a:extLst>
              </p:cNvPr>
              <p:cNvPicPr>
                <a:picLocks noChangeAspect="1"/>
              </p:cNvPicPr>
              <p:nvPr/>
            </p:nvPicPr>
            <p:blipFill rotWithShape="1">
              <a:blip r:embed="rId5"/>
              <a:srcRect b="34166"/>
              <a:stretch/>
            </p:blipFill>
            <p:spPr>
              <a:xfrm>
                <a:off x="6182200" y="2971800"/>
                <a:ext cx="947645" cy="601980"/>
              </a:xfrm>
              <a:prstGeom prst="rect">
                <a:avLst/>
              </a:prstGeom>
            </p:spPr>
          </p:pic>
          <p:sp>
            <p:nvSpPr>
              <p:cNvPr id="61" name="TextBox 60">
                <a:extLst>
                  <a:ext uri="{FF2B5EF4-FFF2-40B4-BE49-F238E27FC236}">
                    <a16:creationId xmlns:a16="http://schemas.microsoft.com/office/drawing/2014/main" id="{75BC7C1F-E601-8C59-B6A0-05EE09D259F3}"/>
                  </a:ext>
                </a:extLst>
              </p:cNvPr>
              <p:cNvSpPr txBox="1"/>
              <p:nvPr/>
            </p:nvSpPr>
            <p:spPr>
              <a:xfrm>
                <a:off x="6153102" y="3566793"/>
                <a:ext cx="1005840" cy="400110"/>
              </a:xfrm>
              <a:prstGeom prst="rect">
                <a:avLst/>
              </a:prstGeom>
              <a:noFill/>
            </p:spPr>
            <p:txBody>
              <a:bodyPr wrap="square" rtlCol="0">
                <a:spAutoFit/>
              </a:bodyPr>
              <a:lstStyle/>
              <a:p>
                <a:pPr algn="ctr"/>
                <a:r>
                  <a:rPr lang="en-US" sz="1000" dirty="0"/>
                  <a:t>Recursive Resolver</a:t>
                </a:r>
              </a:p>
            </p:txBody>
          </p:sp>
        </p:grpSp>
        <p:sp>
          <p:nvSpPr>
            <p:cNvPr id="49" name="Google Shape;216;p30">
              <a:extLst>
                <a:ext uri="{FF2B5EF4-FFF2-40B4-BE49-F238E27FC236}">
                  <a16:creationId xmlns:a16="http://schemas.microsoft.com/office/drawing/2014/main" id="{E9D1CE2D-FD75-C223-6B2B-FE08A7ED8EBB}"/>
                </a:ext>
              </a:extLst>
            </p:cNvPr>
            <p:cNvSpPr txBox="1"/>
            <p:nvPr/>
          </p:nvSpPr>
          <p:spPr>
            <a:xfrm>
              <a:off x="1195429" y="893636"/>
              <a:ext cx="1554480" cy="497790"/>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000" dirty="0"/>
                <a:t>What is the IP address for </a:t>
              </a:r>
              <a:r>
                <a:rPr lang="en" sz="1000" b="1" dirty="0">
                  <a:latin typeface="Courier New"/>
                  <a:ea typeface="Courier New"/>
                  <a:cs typeface="Courier New"/>
                  <a:sym typeface="Courier New"/>
                </a:rPr>
                <a:t>google.com</a:t>
              </a:r>
              <a:r>
                <a:rPr lang="en" sz="1000" dirty="0"/>
                <a:t>?</a:t>
              </a:r>
              <a:endParaRPr sz="1000" dirty="0"/>
            </a:p>
          </p:txBody>
        </p:sp>
        <p:cxnSp>
          <p:nvCxnSpPr>
            <p:cNvPr id="50" name="Straight Arrow Connector 49">
              <a:extLst>
                <a:ext uri="{FF2B5EF4-FFF2-40B4-BE49-F238E27FC236}">
                  <a16:creationId xmlns:a16="http://schemas.microsoft.com/office/drawing/2014/main" id="{4901F3B3-5ABB-92CE-8EBF-2B81CD96880A}"/>
                </a:ext>
              </a:extLst>
            </p:cNvPr>
            <p:cNvCxnSpPr>
              <a:cxnSpLocks/>
            </p:cNvCxnSpPr>
            <p:nvPr/>
          </p:nvCxnSpPr>
          <p:spPr>
            <a:xfrm>
              <a:off x="1196800" y="1450776"/>
              <a:ext cx="162377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62DB9CE0-837C-F8CE-CDCC-49D34BABD022}"/>
                </a:ext>
              </a:extLst>
            </p:cNvPr>
            <p:cNvCxnSpPr>
              <a:cxnSpLocks/>
            </p:cNvCxnSpPr>
            <p:nvPr/>
          </p:nvCxnSpPr>
          <p:spPr>
            <a:xfrm flipH="1">
              <a:off x="1196800" y="1595107"/>
              <a:ext cx="1623772" cy="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2" name="Google Shape;219;p30">
              <a:extLst>
                <a:ext uri="{FF2B5EF4-FFF2-40B4-BE49-F238E27FC236}">
                  <a16:creationId xmlns:a16="http://schemas.microsoft.com/office/drawing/2014/main" id="{7B99EEDE-F3AB-6987-CB1B-538C9591A086}"/>
                </a:ext>
              </a:extLst>
            </p:cNvPr>
            <p:cNvSpPr txBox="1"/>
            <p:nvPr/>
          </p:nvSpPr>
          <p:spPr>
            <a:xfrm>
              <a:off x="1195429" y="1657236"/>
              <a:ext cx="1554480" cy="318283"/>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lvl="0" algn="ctr">
                <a:lnSpc>
                  <a:spcPct val="115000"/>
                </a:lnSpc>
                <a:spcAft>
                  <a:spcPts val="1200"/>
                </a:spcAft>
              </a:pPr>
              <a:r>
                <a:rPr lang="en" sz="1200" b="1" dirty="0">
                  <a:solidFill>
                    <a:schemeClr val="dk1"/>
                  </a:solidFill>
                  <a:latin typeface="Courier New"/>
                  <a:ea typeface="Courier New"/>
                  <a:cs typeface="Courier New"/>
                  <a:sym typeface="Courier New"/>
                </a:rPr>
                <a:t>74.125.25.99</a:t>
              </a:r>
              <a:endParaRPr lang="en" sz="1200" dirty="0"/>
            </a:p>
          </p:txBody>
        </p:sp>
        <p:sp>
          <p:nvSpPr>
            <p:cNvPr id="53" name="Google Shape;216;p30">
              <a:extLst>
                <a:ext uri="{FF2B5EF4-FFF2-40B4-BE49-F238E27FC236}">
                  <a16:creationId xmlns:a16="http://schemas.microsoft.com/office/drawing/2014/main" id="{C9DCC8C3-7A5F-0A24-78C7-22E77C9CA533}"/>
                </a:ext>
              </a:extLst>
            </p:cNvPr>
            <p:cNvSpPr txBox="1"/>
            <p:nvPr/>
          </p:nvSpPr>
          <p:spPr>
            <a:xfrm>
              <a:off x="3933706" y="893636"/>
              <a:ext cx="1554480" cy="497790"/>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000" dirty="0"/>
                <a:t>What is the IP address for </a:t>
              </a:r>
              <a:r>
                <a:rPr lang="en" sz="1000" b="1" dirty="0">
                  <a:latin typeface="Courier New"/>
                  <a:ea typeface="Courier New"/>
                  <a:cs typeface="Courier New"/>
                  <a:sym typeface="Courier New"/>
                </a:rPr>
                <a:t>google.com</a:t>
              </a:r>
              <a:r>
                <a:rPr lang="en" sz="1000" dirty="0"/>
                <a:t>?</a:t>
              </a:r>
              <a:endParaRPr sz="1000" dirty="0"/>
            </a:p>
          </p:txBody>
        </p:sp>
        <p:cxnSp>
          <p:nvCxnSpPr>
            <p:cNvPr id="54" name="Straight Arrow Connector 53">
              <a:extLst>
                <a:ext uri="{FF2B5EF4-FFF2-40B4-BE49-F238E27FC236}">
                  <a16:creationId xmlns:a16="http://schemas.microsoft.com/office/drawing/2014/main" id="{0F39CC3B-1E9C-075B-D669-C1BC65F7DE63}"/>
                </a:ext>
              </a:extLst>
            </p:cNvPr>
            <p:cNvCxnSpPr>
              <a:cxnSpLocks/>
            </p:cNvCxnSpPr>
            <p:nvPr/>
          </p:nvCxnSpPr>
          <p:spPr>
            <a:xfrm>
              <a:off x="3935077" y="1450776"/>
              <a:ext cx="162377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634A43DC-967E-3E76-D63F-F6371E5C3172}"/>
                </a:ext>
              </a:extLst>
            </p:cNvPr>
            <p:cNvCxnSpPr>
              <a:cxnSpLocks/>
            </p:cNvCxnSpPr>
            <p:nvPr/>
          </p:nvCxnSpPr>
          <p:spPr>
            <a:xfrm flipH="1">
              <a:off x="3935077" y="1595107"/>
              <a:ext cx="162377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6" name="Google Shape;219;p30">
              <a:extLst>
                <a:ext uri="{FF2B5EF4-FFF2-40B4-BE49-F238E27FC236}">
                  <a16:creationId xmlns:a16="http://schemas.microsoft.com/office/drawing/2014/main" id="{9EE0B89A-BE09-BBC0-86B3-6E5C195D4C06}"/>
                </a:ext>
              </a:extLst>
            </p:cNvPr>
            <p:cNvSpPr txBox="1"/>
            <p:nvPr/>
          </p:nvSpPr>
          <p:spPr>
            <a:xfrm>
              <a:off x="3933706" y="1657236"/>
              <a:ext cx="1554480" cy="318283"/>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lvl="0" algn="ctr">
                <a:lnSpc>
                  <a:spcPct val="115000"/>
                </a:lnSpc>
                <a:spcAft>
                  <a:spcPts val="1200"/>
                </a:spcAft>
              </a:pPr>
              <a:r>
                <a:rPr lang="en" sz="1200" b="1" dirty="0">
                  <a:solidFill>
                    <a:schemeClr val="dk1"/>
                  </a:solidFill>
                  <a:latin typeface="Courier New"/>
                  <a:ea typeface="Courier New"/>
                  <a:cs typeface="Courier New"/>
                  <a:sym typeface="Courier New"/>
                </a:rPr>
                <a:t>74.125.25.99</a:t>
              </a:r>
              <a:endParaRPr lang="en" sz="1200" dirty="0"/>
            </a:p>
          </p:txBody>
        </p:sp>
        <p:grpSp>
          <p:nvGrpSpPr>
            <p:cNvPr id="57" name="Group 56">
              <a:extLst>
                <a:ext uri="{FF2B5EF4-FFF2-40B4-BE49-F238E27FC236}">
                  <a16:creationId xmlns:a16="http://schemas.microsoft.com/office/drawing/2014/main" id="{A75F9938-FC1E-3E7B-E584-268FED591A65}"/>
                </a:ext>
              </a:extLst>
            </p:cNvPr>
            <p:cNvGrpSpPr/>
            <p:nvPr/>
          </p:nvGrpSpPr>
          <p:grpSpPr>
            <a:xfrm>
              <a:off x="5570601" y="1218770"/>
              <a:ext cx="1005840" cy="995103"/>
              <a:chOff x="6153102" y="2971800"/>
              <a:chExt cx="1005840" cy="995103"/>
            </a:xfrm>
          </p:grpSpPr>
          <p:pic>
            <p:nvPicPr>
              <p:cNvPr id="58" name="Picture 57">
                <a:extLst>
                  <a:ext uri="{FF2B5EF4-FFF2-40B4-BE49-F238E27FC236}">
                    <a16:creationId xmlns:a16="http://schemas.microsoft.com/office/drawing/2014/main" id="{9FFE45F6-EA4B-1790-5440-875B654E6ADE}"/>
                  </a:ext>
                </a:extLst>
              </p:cNvPr>
              <p:cNvPicPr>
                <a:picLocks noChangeAspect="1"/>
              </p:cNvPicPr>
              <p:nvPr/>
            </p:nvPicPr>
            <p:blipFill rotWithShape="1">
              <a:blip r:embed="rId5"/>
              <a:srcRect b="34166"/>
              <a:stretch/>
            </p:blipFill>
            <p:spPr>
              <a:xfrm>
                <a:off x="6182200" y="2971800"/>
                <a:ext cx="947645" cy="601980"/>
              </a:xfrm>
              <a:prstGeom prst="rect">
                <a:avLst/>
              </a:prstGeom>
            </p:spPr>
          </p:pic>
          <p:sp>
            <p:nvSpPr>
              <p:cNvPr id="59" name="TextBox 58">
                <a:extLst>
                  <a:ext uri="{FF2B5EF4-FFF2-40B4-BE49-F238E27FC236}">
                    <a16:creationId xmlns:a16="http://schemas.microsoft.com/office/drawing/2014/main" id="{8E3337B6-59E5-2B6C-14A0-03853A7D1FBC}"/>
                  </a:ext>
                </a:extLst>
              </p:cNvPr>
              <p:cNvSpPr txBox="1"/>
              <p:nvPr/>
            </p:nvSpPr>
            <p:spPr>
              <a:xfrm>
                <a:off x="6153102" y="3566793"/>
                <a:ext cx="1005840" cy="400110"/>
              </a:xfrm>
              <a:prstGeom prst="rect">
                <a:avLst/>
              </a:prstGeom>
              <a:noFill/>
            </p:spPr>
            <p:txBody>
              <a:bodyPr wrap="square" rtlCol="0">
                <a:spAutoFit/>
              </a:bodyPr>
              <a:lstStyle/>
              <a:p>
                <a:pPr algn="ctr"/>
                <a:r>
                  <a:rPr lang="en-US" sz="1000" dirty="0"/>
                  <a:t>Authoritative Name Server</a:t>
                </a:r>
              </a:p>
            </p:txBody>
          </p:sp>
        </p:grpSp>
      </p:grpSp>
      <p:grpSp>
        <p:nvGrpSpPr>
          <p:cNvPr id="66" name="Group 65">
            <a:extLst>
              <a:ext uri="{FF2B5EF4-FFF2-40B4-BE49-F238E27FC236}">
                <a16:creationId xmlns:a16="http://schemas.microsoft.com/office/drawing/2014/main" id="{B7166650-89EC-1C63-35C6-F79618E7490B}"/>
              </a:ext>
            </a:extLst>
          </p:cNvPr>
          <p:cNvGrpSpPr/>
          <p:nvPr/>
        </p:nvGrpSpPr>
        <p:grpSpPr>
          <a:xfrm>
            <a:off x="5477005" y="3659002"/>
            <a:ext cx="4064561" cy="2937302"/>
            <a:chOff x="7083969" y="3429000"/>
            <a:chExt cx="3880641" cy="2738056"/>
          </a:xfrm>
        </p:grpSpPr>
        <p:grpSp>
          <p:nvGrpSpPr>
            <p:cNvPr id="67" name="Group 66">
              <a:extLst>
                <a:ext uri="{FF2B5EF4-FFF2-40B4-BE49-F238E27FC236}">
                  <a16:creationId xmlns:a16="http://schemas.microsoft.com/office/drawing/2014/main" id="{92D8E093-DCC2-BDEB-961D-B678F8704B97}"/>
                </a:ext>
              </a:extLst>
            </p:cNvPr>
            <p:cNvGrpSpPr/>
            <p:nvPr/>
          </p:nvGrpSpPr>
          <p:grpSpPr>
            <a:xfrm>
              <a:off x="7390116" y="3754134"/>
              <a:ext cx="914400" cy="785788"/>
              <a:chOff x="8041957" y="4209555"/>
              <a:chExt cx="914400" cy="785788"/>
            </a:xfrm>
          </p:grpSpPr>
          <p:pic>
            <p:nvPicPr>
              <p:cNvPr id="79" name="Picture 78">
                <a:extLst>
                  <a:ext uri="{FF2B5EF4-FFF2-40B4-BE49-F238E27FC236}">
                    <a16:creationId xmlns:a16="http://schemas.microsoft.com/office/drawing/2014/main" id="{F1E93582-2553-8604-A383-6C3D3F051A14}"/>
                  </a:ext>
                </a:extLst>
              </p:cNvPr>
              <p:cNvPicPr>
                <a:picLocks noChangeAspect="1"/>
              </p:cNvPicPr>
              <p:nvPr/>
            </p:nvPicPr>
            <p:blipFill>
              <a:blip r:embed="rId3"/>
              <a:stretch>
                <a:fillRect/>
              </a:stretch>
            </p:blipFill>
            <p:spPr>
              <a:xfrm>
                <a:off x="8041957" y="4209555"/>
                <a:ext cx="914400" cy="642938"/>
              </a:xfrm>
              <a:prstGeom prst="rect">
                <a:avLst/>
              </a:prstGeom>
            </p:spPr>
          </p:pic>
          <p:sp>
            <p:nvSpPr>
              <p:cNvPr id="80" name="TextBox 79">
                <a:extLst>
                  <a:ext uri="{FF2B5EF4-FFF2-40B4-BE49-F238E27FC236}">
                    <a16:creationId xmlns:a16="http://schemas.microsoft.com/office/drawing/2014/main" id="{2E292D74-C8D4-D6B9-9229-C610CB1AAE38}"/>
                  </a:ext>
                </a:extLst>
              </p:cNvPr>
              <p:cNvSpPr txBox="1"/>
              <p:nvPr/>
            </p:nvSpPr>
            <p:spPr>
              <a:xfrm>
                <a:off x="8156257" y="4749122"/>
                <a:ext cx="685800" cy="246221"/>
              </a:xfrm>
              <a:prstGeom prst="rect">
                <a:avLst/>
              </a:prstGeom>
              <a:noFill/>
            </p:spPr>
            <p:txBody>
              <a:bodyPr wrap="square" rtlCol="0">
                <a:spAutoFit/>
              </a:bodyPr>
              <a:lstStyle/>
              <a:p>
                <a:pPr algn="ctr"/>
                <a:r>
                  <a:rPr lang="en-US" sz="1000" dirty="0"/>
                  <a:t>2</a:t>
                </a:r>
                <a:r>
                  <a:rPr lang="en-US" sz="1000" baseline="30000" dirty="0"/>
                  <a:t>nd </a:t>
                </a:r>
                <a:r>
                  <a:rPr lang="en-US" sz="1000" dirty="0"/>
                  <a:t>User</a:t>
                </a:r>
              </a:p>
            </p:txBody>
          </p:sp>
        </p:grpSp>
        <p:grpSp>
          <p:nvGrpSpPr>
            <p:cNvPr id="68" name="Group 67">
              <a:extLst>
                <a:ext uri="{FF2B5EF4-FFF2-40B4-BE49-F238E27FC236}">
                  <a16:creationId xmlns:a16="http://schemas.microsoft.com/office/drawing/2014/main" id="{9303423F-3AB7-975E-929A-91478664EF64}"/>
                </a:ext>
              </a:extLst>
            </p:cNvPr>
            <p:cNvGrpSpPr/>
            <p:nvPr/>
          </p:nvGrpSpPr>
          <p:grpSpPr>
            <a:xfrm>
              <a:off x="7083969" y="4969636"/>
              <a:ext cx="1526694" cy="1197420"/>
              <a:chOff x="460227" y="2520967"/>
              <a:chExt cx="1526694" cy="1197420"/>
            </a:xfrm>
          </p:grpSpPr>
          <p:pic>
            <p:nvPicPr>
              <p:cNvPr id="77" name="Picture 76">
                <a:extLst>
                  <a:ext uri="{FF2B5EF4-FFF2-40B4-BE49-F238E27FC236}">
                    <a16:creationId xmlns:a16="http://schemas.microsoft.com/office/drawing/2014/main" id="{8A86DBA6-8B4A-5193-8984-E6D570812451}"/>
                  </a:ext>
                </a:extLst>
              </p:cNvPr>
              <p:cNvPicPr>
                <a:picLocks noChangeAspect="1"/>
              </p:cNvPicPr>
              <p:nvPr/>
            </p:nvPicPr>
            <p:blipFill>
              <a:blip r:embed="rId4"/>
              <a:stretch>
                <a:fillRect/>
              </a:stretch>
            </p:blipFill>
            <p:spPr>
              <a:xfrm>
                <a:off x="709224" y="2851612"/>
                <a:ext cx="1028700" cy="866775"/>
              </a:xfrm>
              <a:prstGeom prst="rect">
                <a:avLst/>
              </a:prstGeom>
            </p:spPr>
          </p:pic>
          <p:sp>
            <p:nvSpPr>
              <p:cNvPr id="78" name="TextBox 77">
                <a:extLst>
                  <a:ext uri="{FF2B5EF4-FFF2-40B4-BE49-F238E27FC236}">
                    <a16:creationId xmlns:a16="http://schemas.microsoft.com/office/drawing/2014/main" id="{CB15223E-952F-C07A-FBD2-A3D3B6004F91}"/>
                  </a:ext>
                </a:extLst>
              </p:cNvPr>
              <p:cNvSpPr txBox="1"/>
              <p:nvPr/>
            </p:nvSpPr>
            <p:spPr>
              <a:xfrm>
                <a:off x="460227" y="2520967"/>
                <a:ext cx="1526694" cy="400110"/>
              </a:xfrm>
              <a:prstGeom prst="rect">
                <a:avLst/>
              </a:prstGeom>
              <a:noFill/>
            </p:spPr>
            <p:txBody>
              <a:bodyPr wrap="square" rtlCol="0">
                <a:spAutoFit/>
              </a:bodyPr>
              <a:lstStyle/>
              <a:p>
                <a:pPr algn="ctr"/>
                <a:r>
                  <a:rPr lang="en-US" sz="1000" dirty="0"/>
                  <a:t>google.com</a:t>
                </a:r>
              </a:p>
              <a:p>
                <a:pPr algn="ctr"/>
                <a:r>
                  <a:rPr lang="en-US" sz="1000" dirty="0"/>
                  <a:t>IP address:8.8.8.8 </a:t>
                </a:r>
              </a:p>
            </p:txBody>
          </p:sp>
        </p:grpSp>
        <p:cxnSp>
          <p:nvCxnSpPr>
            <p:cNvPr id="69" name="Straight Arrow Connector 68">
              <a:extLst>
                <a:ext uri="{FF2B5EF4-FFF2-40B4-BE49-F238E27FC236}">
                  <a16:creationId xmlns:a16="http://schemas.microsoft.com/office/drawing/2014/main" id="{43096BFB-2D7A-6ABC-0C90-BFEB7F4F4313}"/>
                </a:ext>
              </a:extLst>
            </p:cNvPr>
            <p:cNvCxnSpPr>
              <a:cxnSpLocks/>
              <a:stCxn id="80" idx="2"/>
              <a:endCxn id="78" idx="0"/>
            </p:cNvCxnSpPr>
            <p:nvPr/>
          </p:nvCxnSpPr>
          <p:spPr>
            <a:xfrm>
              <a:off x="7847316" y="4539922"/>
              <a:ext cx="0" cy="429714"/>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nvGrpSpPr>
            <p:cNvPr id="70" name="Group 69">
              <a:extLst>
                <a:ext uri="{FF2B5EF4-FFF2-40B4-BE49-F238E27FC236}">
                  <a16:creationId xmlns:a16="http://schemas.microsoft.com/office/drawing/2014/main" id="{D10A6208-909A-0DD5-4769-705456621196}"/>
                </a:ext>
              </a:extLst>
            </p:cNvPr>
            <p:cNvGrpSpPr/>
            <p:nvPr/>
          </p:nvGrpSpPr>
          <p:grpSpPr>
            <a:xfrm>
              <a:off x="9958770" y="3802079"/>
              <a:ext cx="1005840" cy="987477"/>
              <a:chOff x="6111800" y="2971800"/>
              <a:chExt cx="1005840" cy="987477"/>
            </a:xfrm>
          </p:grpSpPr>
          <p:pic>
            <p:nvPicPr>
              <p:cNvPr id="75" name="Picture 74">
                <a:extLst>
                  <a:ext uri="{FF2B5EF4-FFF2-40B4-BE49-F238E27FC236}">
                    <a16:creationId xmlns:a16="http://schemas.microsoft.com/office/drawing/2014/main" id="{F340DCE1-B4FB-6788-D64E-AF8A673CEDEE}"/>
                  </a:ext>
                </a:extLst>
              </p:cNvPr>
              <p:cNvPicPr>
                <a:picLocks noChangeAspect="1"/>
              </p:cNvPicPr>
              <p:nvPr/>
            </p:nvPicPr>
            <p:blipFill rotWithShape="1">
              <a:blip r:embed="rId5"/>
              <a:srcRect b="34166"/>
              <a:stretch/>
            </p:blipFill>
            <p:spPr>
              <a:xfrm>
                <a:off x="6182201" y="2971800"/>
                <a:ext cx="853750" cy="601980"/>
              </a:xfrm>
              <a:prstGeom prst="rect">
                <a:avLst/>
              </a:prstGeom>
            </p:spPr>
          </p:pic>
          <p:sp>
            <p:nvSpPr>
              <p:cNvPr id="76" name="TextBox 75">
                <a:extLst>
                  <a:ext uri="{FF2B5EF4-FFF2-40B4-BE49-F238E27FC236}">
                    <a16:creationId xmlns:a16="http://schemas.microsoft.com/office/drawing/2014/main" id="{82337B91-7DC9-A5A9-CAF5-A7F101164761}"/>
                  </a:ext>
                </a:extLst>
              </p:cNvPr>
              <p:cNvSpPr txBox="1"/>
              <p:nvPr/>
            </p:nvSpPr>
            <p:spPr>
              <a:xfrm>
                <a:off x="6111800" y="3559167"/>
                <a:ext cx="1005840" cy="400110"/>
              </a:xfrm>
              <a:prstGeom prst="rect">
                <a:avLst/>
              </a:prstGeom>
              <a:noFill/>
            </p:spPr>
            <p:txBody>
              <a:bodyPr wrap="square" rtlCol="0">
                <a:spAutoFit/>
              </a:bodyPr>
              <a:lstStyle/>
              <a:p>
                <a:pPr algn="ctr"/>
                <a:r>
                  <a:rPr lang="en-US" sz="1000" dirty="0"/>
                  <a:t>Recursive Resolver</a:t>
                </a:r>
              </a:p>
            </p:txBody>
          </p:sp>
        </p:grpSp>
        <p:sp>
          <p:nvSpPr>
            <p:cNvPr id="71" name="Google Shape;216;p30">
              <a:extLst>
                <a:ext uri="{FF2B5EF4-FFF2-40B4-BE49-F238E27FC236}">
                  <a16:creationId xmlns:a16="http://schemas.microsoft.com/office/drawing/2014/main" id="{762B5EC8-D1D7-BA99-BD6E-0AF3D4AB05C6}"/>
                </a:ext>
              </a:extLst>
            </p:cNvPr>
            <p:cNvSpPr txBox="1"/>
            <p:nvPr/>
          </p:nvSpPr>
          <p:spPr>
            <a:xfrm>
              <a:off x="8333627" y="3429000"/>
              <a:ext cx="1554480" cy="497790"/>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000" dirty="0"/>
                <a:t>What is the IP address for </a:t>
              </a:r>
              <a:r>
                <a:rPr lang="en" sz="1000" b="1" dirty="0">
                  <a:latin typeface="Courier New"/>
                  <a:ea typeface="Courier New"/>
                  <a:cs typeface="Courier New"/>
                  <a:sym typeface="Courier New"/>
                </a:rPr>
                <a:t>google.com</a:t>
              </a:r>
              <a:r>
                <a:rPr lang="en" sz="1000" dirty="0"/>
                <a:t>?</a:t>
              </a:r>
              <a:endParaRPr sz="1000" dirty="0"/>
            </a:p>
          </p:txBody>
        </p:sp>
        <p:cxnSp>
          <p:nvCxnSpPr>
            <p:cNvPr id="72" name="Straight Arrow Connector 71">
              <a:extLst>
                <a:ext uri="{FF2B5EF4-FFF2-40B4-BE49-F238E27FC236}">
                  <a16:creationId xmlns:a16="http://schemas.microsoft.com/office/drawing/2014/main" id="{6C57F271-1802-989D-67E3-6810721D5C79}"/>
                </a:ext>
              </a:extLst>
            </p:cNvPr>
            <p:cNvCxnSpPr>
              <a:cxnSpLocks/>
            </p:cNvCxnSpPr>
            <p:nvPr/>
          </p:nvCxnSpPr>
          <p:spPr>
            <a:xfrm>
              <a:off x="8334998" y="3986140"/>
              <a:ext cx="162377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7C81A24A-30EB-BC04-3C14-A44DB6D488B1}"/>
                </a:ext>
              </a:extLst>
            </p:cNvPr>
            <p:cNvCxnSpPr>
              <a:cxnSpLocks/>
            </p:cNvCxnSpPr>
            <p:nvPr/>
          </p:nvCxnSpPr>
          <p:spPr>
            <a:xfrm flipH="1">
              <a:off x="8334998" y="4130471"/>
              <a:ext cx="1623772" cy="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74" name="Google Shape;219;p30">
              <a:extLst>
                <a:ext uri="{FF2B5EF4-FFF2-40B4-BE49-F238E27FC236}">
                  <a16:creationId xmlns:a16="http://schemas.microsoft.com/office/drawing/2014/main" id="{EF53589B-ADB5-92C6-92E0-D0BE883561E8}"/>
                </a:ext>
              </a:extLst>
            </p:cNvPr>
            <p:cNvSpPr txBox="1"/>
            <p:nvPr/>
          </p:nvSpPr>
          <p:spPr>
            <a:xfrm>
              <a:off x="8333627" y="4192600"/>
              <a:ext cx="1554480" cy="573354"/>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algn="ctr">
                <a:buClr>
                  <a:schemeClr val="dk1"/>
                </a:buClr>
                <a:buSzPts val="1100"/>
              </a:pPr>
              <a:r>
                <a:rPr lang="en" sz="1500" b="1" dirty="0">
                  <a:solidFill>
                    <a:srgbClr val="C00000"/>
                  </a:solidFill>
                  <a:latin typeface="Courier New"/>
                  <a:ea typeface="Courier New"/>
                  <a:cs typeface="Courier New"/>
                  <a:sym typeface="Courier New"/>
                </a:rPr>
                <a:t>74.125.25.99</a:t>
              </a:r>
              <a:endParaRPr lang="en" sz="1500" b="1" dirty="0">
                <a:solidFill>
                  <a:srgbClr val="C00000"/>
                </a:solidFill>
              </a:endParaRPr>
            </a:p>
            <a:p>
              <a:pPr marL="0" lvl="0" indent="0" algn="ctr" rtl="0">
                <a:spcBef>
                  <a:spcPts val="0"/>
                </a:spcBef>
                <a:spcAft>
                  <a:spcPts val="0"/>
                </a:spcAft>
                <a:buClr>
                  <a:schemeClr val="dk1"/>
                </a:buClr>
                <a:buSzPts val="1100"/>
                <a:buFont typeface="Arial"/>
                <a:buNone/>
              </a:pPr>
              <a:r>
                <a:rPr lang="en" sz="1500" b="1" dirty="0">
                  <a:solidFill>
                    <a:srgbClr val="C00000"/>
                  </a:solidFill>
                  <a:latin typeface="Courier New"/>
                  <a:ea typeface="Courier New"/>
                  <a:cs typeface="Courier New"/>
                  <a:sym typeface="Courier New"/>
                </a:rPr>
                <a:t> (Cached)</a:t>
              </a:r>
              <a:endParaRPr sz="1500" b="1" dirty="0">
                <a:solidFill>
                  <a:srgbClr val="C00000"/>
                </a:solidFill>
              </a:endParaRPr>
            </a:p>
          </p:txBody>
        </p:sp>
      </p:grpSp>
    </p:spTree>
    <p:extLst>
      <p:ext uri="{BB962C8B-B14F-4D97-AF65-F5344CB8AC3E}">
        <p14:creationId xmlns:p14="http://schemas.microsoft.com/office/powerpoint/2010/main" val="4981857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DC2DE-5F8E-93B8-2841-EFEEAE2E91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1D347E-25A8-CEF1-A328-894EA708C40D}"/>
              </a:ext>
            </a:extLst>
          </p:cNvPr>
          <p:cNvSpPr txBox="1">
            <a:spLocks/>
          </p:cNvSpPr>
          <p:nvPr/>
        </p:nvSpPr>
        <p:spPr>
          <a:xfrm>
            <a:off x="546662" y="152400"/>
            <a:ext cx="6551791" cy="165099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6000">
                <a:cs typeface="Calibri" panose="020F0502020204030204" pitchFamily="34" charset="0"/>
              </a:rPr>
              <a:t>Roadmap</a:t>
            </a:r>
            <a:endParaRPr lang="en-US" sz="6000" dirty="0"/>
          </a:p>
        </p:txBody>
      </p:sp>
      <p:sp>
        <p:nvSpPr>
          <p:cNvPr id="3" name="Rectangle 4">
            <a:extLst>
              <a:ext uri="{FF2B5EF4-FFF2-40B4-BE49-F238E27FC236}">
                <a16:creationId xmlns:a16="http://schemas.microsoft.com/office/drawing/2014/main" id="{98203A2E-86C9-0327-76D0-B4C68E8CD9C0}"/>
              </a:ext>
            </a:extLst>
          </p:cNvPr>
          <p:cNvSpPr txBox="1">
            <a:spLocks noChangeArrowheads="1"/>
          </p:cNvSpPr>
          <p:nvPr/>
        </p:nvSpPr>
        <p:spPr>
          <a:xfrm>
            <a:off x="327703" y="1646990"/>
            <a:ext cx="11536594" cy="49783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25" indent="-285750">
              <a:spcBef>
                <a:spcPts val="800"/>
              </a:spcBef>
              <a:spcAft>
                <a:spcPts val="600"/>
              </a:spcAft>
              <a:buClr>
                <a:schemeClr val="bg1">
                  <a:lumMod val="85000"/>
                </a:schemeClr>
              </a:buClr>
            </a:pPr>
            <a:r>
              <a:rPr lang="en-US" altLang="en-US" sz="3600" b="1" i="1" dirty="0">
                <a:solidFill>
                  <a:schemeClr val="bg1">
                    <a:lumMod val="85000"/>
                  </a:schemeClr>
                </a:solidFill>
                <a:latin typeface="Calibri" panose="020F0502020204030204" pitchFamily="34" charset="0"/>
                <a:cs typeface="Calibri" panose="020F0502020204030204" pitchFamily="34" charset="0"/>
              </a:rPr>
              <a:t>DNS: Review</a:t>
            </a:r>
          </a:p>
          <a:p>
            <a:pPr marL="403225" indent="-285750">
              <a:spcBef>
                <a:spcPts val="800"/>
              </a:spcBef>
              <a:spcAft>
                <a:spcPts val="600"/>
              </a:spcAft>
              <a:buClr>
                <a:schemeClr val="bg1">
                  <a:lumMod val="85000"/>
                </a:schemeClr>
              </a:buClr>
            </a:pPr>
            <a:r>
              <a:rPr lang="en-US" altLang="en-US" sz="3600" b="1" i="1" dirty="0">
                <a:latin typeface="Calibri" panose="020F0502020204030204" pitchFamily="34" charset="0"/>
                <a:cs typeface="Calibri" panose="020F0502020204030204" pitchFamily="34" charset="0"/>
              </a:rPr>
              <a:t>DNS Security and DNS Cache Poisoning Attacks</a:t>
            </a:r>
          </a:p>
          <a:p>
            <a:pPr marL="403225" indent="-285750">
              <a:spcBef>
                <a:spcPts val="800"/>
              </a:spcBef>
              <a:spcAft>
                <a:spcPts val="600"/>
              </a:spcAft>
              <a:buClr>
                <a:schemeClr val="bg1">
                  <a:lumMod val="85000"/>
                </a:schemeClr>
              </a:buClr>
            </a:pPr>
            <a:r>
              <a:rPr lang="en-US" altLang="en-US" sz="3600" b="1" i="1" dirty="0">
                <a:solidFill>
                  <a:schemeClr val="bg1">
                    <a:lumMod val="85000"/>
                  </a:schemeClr>
                </a:solidFill>
                <a:latin typeface="Calibri" panose="020F0502020204030204" pitchFamily="34" charset="0"/>
                <a:cs typeface="Calibri" panose="020F0502020204030204" pitchFamily="34" charset="0"/>
              </a:rPr>
              <a:t>DNS Kaminsky Attack</a:t>
            </a:r>
          </a:p>
        </p:txBody>
      </p:sp>
    </p:spTree>
    <p:extLst>
      <p:ext uri="{BB962C8B-B14F-4D97-AF65-F5344CB8AC3E}">
        <p14:creationId xmlns:p14="http://schemas.microsoft.com/office/powerpoint/2010/main" val="34720530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819;p140">
            <a:extLst>
              <a:ext uri="{FF2B5EF4-FFF2-40B4-BE49-F238E27FC236}">
                <a16:creationId xmlns:a16="http://schemas.microsoft.com/office/drawing/2014/main" id="{A1BBD3EA-B48A-9405-9D84-E991AC00628F}"/>
              </a:ext>
            </a:extLst>
          </p:cNvPr>
          <p:cNvSpPr txBox="1">
            <a:spLocks noGrp="1"/>
          </p:cNvSpPr>
          <p:nvPr>
            <p:ph type="title"/>
          </p:nvPr>
        </p:nvSpPr>
        <p:spPr>
          <a:xfrm>
            <a:off x="415599" y="168738"/>
            <a:ext cx="11360800" cy="942688"/>
          </a:xfrm>
          <a:prstGeom prst="rect">
            <a:avLst/>
          </a:prstGeom>
        </p:spPr>
        <p:txBody>
          <a:bodyPr spcFirstLastPara="1" wrap="square" lIns="121900" tIns="121900" rIns="121900" bIns="121900" anchor="t" anchorCtr="0">
            <a:noAutofit/>
          </a:bodyPr>
          <a:lstStyle/>
          <a:p>
            <a:r>
              <a:rPr lang="en" sz="4400" dirty="0">
                <a:latin typeface="Aptos Display" panose="020B0004020202020204" pitchFamily="34" charset="0"/>
              </a:rPr>
              <a:t>Why Should We Care About DNS Security?</a:t>
            </a:r>
            <a:endParaRPr sz="4400" dirty="0">
              <a:latin typeface="Aptos Display" panose="020B0004020202020204" pitchFamily="34" charset="0"/>
            </a:endParaRPr>
          </a:p>
        </p:txBody>
      </p:sp>
      <p:sp>
        <p:nvSpPr>
          <p:cNvPr id="6" name="Google Shape;902;p76">
            <a:extLst>
              <a:ext uri="{FF2B5EF4-FFF2-40B4-BE49-F238E27FC236}">
                <a16:creationId xmlns:a16="http://schemas.microsoft.com/office/drawing/2014/main" id="{4BEA2849-9C19-C8A5-0090-B85A2E0D72F1}"/>
              </a:ext>
            </a:extLst>
          </p:cNvPr>
          <p:cNvSpPr txBox="1">
            <a:spLocks/>
          </p:cNvSpPr>
          <p:nvPr/>
        </p:nvSpPr>
        <p:spPr>
          <a:xfrm>
            <a:off x="415599" y="1217008"/>
            <a:ext cx="11360801" cy="435007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609585" marR="0" lvl="0" indent="-457189"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1219170" marR="0" lvl="1"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2pPr>
            <a:lvl3pPr marL="1828754" marR="0" lvl="2"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3pPr>
            <a:lvl4pPr marL="2438339" marR="0" lvl="3"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4pPr>
            <a:lvl5pPr marL="3047924" marR="0" lvl="4"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5pPr>
            <a:lvl6pPr marL="3657509" marR="0" lvl="5"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6pPr>
            <a:lvl7pPr marL="4267093" marR="0" lvl="6"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7pPr>
            <a:lvl8pPr marL="4876678" marR="0" lvl="7"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8pPr>
            <a:lvl9pPr marL="5486263" marR="0" lvl="8"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9pPr>
          </a:lstStyle>
          <a:p>
            <a:pPr marL="457200" indent="-342900">
              <a:spcAft>
                <a:spcPts val="600"/>
              </a:spcAft>
              <a:buClrTx/>
              <a:buFont typeface="Arial" panose="020B0604020202020204" pitchFamily="34" charset="0"/>
              <a:buChar char="•"/>
            </a:pPr>
            <a:r>
              <a:rPr lang="en-US" sz="2000" kern="0" dirty="0">
                <a:solidFill>
                  <a:schemeClr val="tx1"/>
                </a:solidFill>
                <a:latin typeface="Aptos" panose="020B0004020202020204" pitchFamily="34" charset="0"/>
              </a:rPr>
              <a:t>Suppose you take over a lot of home routers… How do you make money from your attack?</a:t>
            </a:r>
          </a:p>
          <a:p>
            <a:pPr marL="457200" indent="-342900">
              <a:spcAft>
                <a:spcPts val="600"/>
              </a:spcAft>
              <a:buClrTx/>
              <a:buFont typeface="Arial" panose="020B0604020202020204" pitchFamily="34" charset="0"/>
              <a:buChar char="•"/>
            </a:pPr>
            <a:r>
              <a:rPr lang="en-US" sz="2000" kern="0" dirty="0">
                <a:solidFill>
                  <a:schemeClr val="tx1"/>
                </a:solidFill>
                <a:latin typeface="Aptos" panose="020B0004020202020204" pitchFamily="34" charset="0"/>
              </a:rPr>
              <a:t>Change the DNS server settings</a:t>
            </a:r>
          </a:p>
          <a:p>
            <a:pPr marL="1066785" lvl="1" indent="-342900">
              <a:spcAft>
                <a:spcPts val="600"/>
              </a:spcAft>
              <a:buClrTx/>
              <a:buFont typeface="Arial" panose="020B0604020202020204" pitchFamily="34" charset="0"/>
              <a:buChar char="•"/>
            </a:pPr>
            <a:r>
              <a:rPr lang="en-US" sz="2000" kern="0" dirty="0">
                <a:solidFill>
                  <a:schemeClr val="tx1"/>
                </a:solidFill>
                <a:latin typeface="Aptos" panose="020B0004020202020204" pitchFamily="34" charset="0"/>
              </a:rPr>
              <a:t>Each router is programmed with the IP address of the recursive resolver</a:t>
            </a:r>
          </a:p>
          <a:p>
            <a:pPr marL="1066785" lvl="1" indent="-342900">
              <a:spcAft>
                <a:spcPts val="600"/>
              </a:spcAft>
              <a:buClrTx/>
              <a:buFont typeface="Arial" panose="020B0604020202020204" pitchFamily="34" charset="0"/>
              <a:buChar char="•"/>
            </a:pPr>
            <a:r>
              <a:rPr lang="en-US" sz="2000" kern="0" dirty="0">
                <a:solidFill>
                  <a:schemeClr val="tx1"/>
                </a:solidFill>
                <a:latin typeface="Aptos" panose="020B0004020202020204" pitchFamily="34" charset="0"/>
              </a:rPr>
              <a:t>Replace the IP address of the recursive resolver </a:t>
            </a:r>
            <a:r>
              <a:rPr lang="en-US" sz="2000" i="1" kern="0" dirty="0">
                <a:solidFill>
                  <a:srgbClr val="C00000"/>
                </a:solidFill>
                <a:latin typeface="Aptos" panose="020B0004020202020204" pitchFamily="34" charset="0"/>
              </a:rPr>
              <a:t>with the attacker’s IP address</a:t>
            </a:r>
          </a:p>
          <a:p>
            <a:pPr marL="1066785" lvl="1" indent="-342900">
              <a:spcAft>
                <a:spcPts val="600"/>
              </a:spcAft>
              <a:buClrTx/>
              <a:buFont typeface="Arial" panose="020B0604020202020204" pitchFamily="34" charset="0"/>
              <a:buChar char="•"/>
            </a:pPr>
            <a:r>
              <a:rPr lang="en-US" sz="2000" b="1" kern="0" dirty="0">
                <a:solidFill>
                  <a:srgbClr val="C00000"/>
                </a:solidFill>
                <a:latin typeface="Aptos" panose="020B0004020202020204" pitchFamily="34" charset="0"/>
              </a:rPr>
              <a:t>Cache poisoning attacks </a:t>
            </a:r>
            <a:r>
              <a:rPr lang="en-US" sz="2000" kern="0" dirty="0">
                <a:solidFill>
                  <a:schemeClr val="tx1"/>
                </a:solidFill>
                <a:latin typeface="Aptos" panose="020B0004020202020204" pitchFamily="34" charset="0"/>
              </a:rPr>
              <a:t>are now possible!</a:t>
            </a:r>
          </a:p>
          <a:p>
            <a:pPr marL="457200" indent="-342900">
              <a:spcAft>
                <a:spcPts val="600"/>
              </a:spcAft>
              <a:buClrTx/>
              <a:buFont typeface="Arial" panose="020B0604020202020204" pitchFamily="34" charset="0"/>
              <a:buChar char="•"/>
            </a:pPr>
            <a:r>
              <a:rPr lang="en-US" sz="2000" kern="0" dirty="0">
                <a:solidFill>
                  <a:schemeClr val="tx1"/>
                </a:solidFill>
                <a:latin typeface="Aptos" panose="020B0004020202020204" pitchFamily="34" charset="0"/>
              </a:rPr>
              <a:t>Redirect DNS requests for ads to an attacker-controlled domain and serve attacker-chosen ads to the victim</a:t>
            </a:r>
          </a:p>
          <a:p>
            <a:pPr marL="1066785" lvl="1" indent="-342900">
              <a:spcAft>
                <a:spcPts val="600"/>
              </a:spcAft>
              <a:buClrTx/>
              <a:buFont typeface="Arial" panose="020B0604020202020204" pitchFamily="34" charset="0"/>
              <a:buChar char="•"/>
            </a:pPr>
            <a:r>
              <a:rPr lang="en-US" sz="2067" kern="0" dirty="0">
                <a:solidFill>
                  <a:schemeClr val="tx1"/>
                </a:solidFill>
                <a:latin typeface="Aptos" panose="020B0004020202020204" pitchFamily="34" charset="0"/>
              </a:rPr>
              <a:t>DNS: what’s the IP address of </a:t>
            </a:r>
            <a:r>
              <a:rPr lang="en-US" sz="2067" kern="0" dirty="0">
                <a:solidFill>
                  <a:schemeClr val="tx1"/>
                </a:solidFill>
                <a:latin typeface="Aptos" panose="020B0004020202020204" pitchFamily="34" charset="0"/>
                <a:hlinkClick r:id="rId3"/>
              </a:rPr>
              <a:t>www.google.com</a:t>
            </a:r>
            <a:r>
              <a:rPr lang="en-US" sz="2067" kern="0" dirty="0">
                <a:solidFill>
                  <a:schemeClr val="tx1"/>
                </a:solidFill>
                <a:latin typeface="Aptos" panose="020B0004020202020204" pitchFamily="34" charset="0"/>
              </a:rPr>
              <a:t>? </a:t>
            </a:r>
            <a:r>
              <a:rPr lang="en-US" sz="2067" kern="0" dirty="0">
                <a:solidFill>
                  <a:schemeClr val="tx1"/>
                </a:solidFill>
                <a:latin typeface="Aptos" panose="020B0004020202020204" pitchFamily="34" charset="0"/>
                <a:sym typeface="Wingdings" panose="05000000000000000000" pitchFamily="2" charset="2"/>
              </a:rPr>
              <a:t> </a:t>
            </a:r>
            <a:r>
              <a:rPr lang="en-US" sz="2067" b="1" i="1" kern="0" dirty="0">
                <a:solidFill>
                  <a:srgbClr val="C00000"/>
                </a:solidFill>
                <a:latin typeface="Courier New" panose="02070309020205020404" pitchFamily="49" charset="0"/>
                <a:cs typeface="Courier New" panose="02070309020205020404" pitchFamily="49" charset="0"/>
                <a:sym typeface="Wingdings" panose="05000000000000000000" pitchFamily="2" charset="2"/>
              </a:rPr>
              <a:t>6.6.6.6</a:t>
            </a:r>
            <a:r>
              <a:rPr lang="en-US" sz="2067" kern="0" dirty="0">
                <a:solidFill>
                  <a:schemeClr val="tx1"/>
                </a:solidFill>
                <a:latin typeface="Aptos" panose="020B0004020202020204" pitchFamily="34" charset="0"/>
                <a:sym typeface="Wingdings" panose="05000000000000000000" pitchFamily="2" charset="2"/>
              </a:rPr>
              <a:t> (attacker’s website)</a:t>
            </a:r>
            <a:endParaRPr lang="en-US" sz="2067" kern="0" dirty="0">
              <a:solidFill>
                <a:schemeClr val="tx1"/>
              </a:solidFill>
              <a:latin typeface="Aptos" panose="020B0004020202020204" pitchFamily="34" charset="0"/>
            </a:endParaRPr>
          </a:p>
          <a:p>
            <a:pPr marL="1066785" lvl="1" indent="-342900">
              <a:spcAft>
                <a:spcPts val="600"/>
              </a:spcAft>
              <a:buClrTx/>
              <a:buFont typeface="Arial" panose="020B0604020202020204" pitchFamily="34" charset="0"/>
              <a:buChar char="•"/>
            </a:pPr>
            <a:r>
              <a:rPr lang="en-US" sz="2000" kern="0" dirty="0">
                <a:solidFill>
                  <a:schemeClr val="tx1"/>
                </a:solidFill>
                <a:latin typeface="Aptos" panose="020B0004020202020204" pitchFamily="34" charset="0"/>
              </a:rPr>
              <a:t>The attacker can now sell this advertising space!</a:t>
            </a:r>
          </a:p>
          <a:p>
            <a:pPr marL="457200" indent="-342900">
              <a:spcAft>
                <a:spcPts val="600"/>
              </a:spcAft>
              <a:buClrTx/>
              <a:buFont typeface="Arial" panose="020B0604020202020204" pitchFamily="34" charset="0"/>
              <a:buChar char="•"/>
            </a:pPr>
            <a:r>
              <a:rPr lang="en-US" altLang="zh-CN" sz="2000" kern="0" dirty="0">
                <a:solidFill>
                  <a:schemeClr val="tx1"/>
                </a:solidFill>
                <a:latin typeface="Aptos" panose="020B0004020202020204" pitchFamily="34" charset="0"/>
              </a:rPr>
              <a:t>Are attacks on DNS systems merely theoretical? </a:t>
            </a:r>
            <a:r>
              <a:rPr lang="en-US" altLang="zh-CN" sz="2400" b="1" i="1" kern="0" dirty="0">
                <a:solidFill>
                  <a:srgbClr val="C00000"/>
                </a:solidFill>
                <a:latin typeface="Aptos" panose="020B0004020202020204" pitchFamily="34" charset="0"/>
              </a:rPr>
              <a:t>No! </a:t>
            </a:r>
            <a:endParaRPr lang="en-US" sz="2400" b="1" i="1" kern="0" dirty="0">
              <a:solidFill>
                <a:srgbClr val="C00000"/>
              </a:solidFill>
              <a:latin typeface="Aptos" panose="020B0004020202020204" pitchFamily="34" charset="0"/>
            </a:endParaRPr>
          </a:p>
        </p:txBody>
      </p:sp>
      <p:grpSp>
        <p:nvGrpSpPr>
          <p:cNvPr id="3" name="Group 2">
            <a:extLst>
              <a:ext uri="{FF2B5EF4-FFF2-40B4-BE49-F238E27FC236}">
                <a16:creationId xmlns:a16="http://schemas.microsoft.com/office/drawing/2014/main" id="{77F26A1D-7B73-165C-CAAF-7AB1C0DBB849}"/>
              </a:ext>
            </a:extLst>
          </p:cNvPr>
          <p:cNvGrpSpPr/>
          <p:nvPr/>
        </p:nvGrpSpPr>
        <p:grpSpPr>
          <a:xfrm>
            <a:off x="3644154" y="1739776"/>
            <a:ext cx="8132245" cy="4807246"/>
            <a:chOff x="4598894" y="2233728"/>
            <a:chExt cx="7110917" cy="4018586"/>
          </a:xfrm>
          <a:solidFill>
            <a:schemeClr val="bg1"/>
          </a:solidFill>
        </p:grpSpPr>
        <p:pic>
          <p:nvPicPr>
            <p:cNvPr id="1026" name="Picture 2">
              <a:extLst>
                <a:ext uri="{FF2B5EF4-FFF2-40B4-BE49-F238E27FC236}">
                  <a16:creationId xmlns:a16="http://schemas.microsoft.com/office/drawing/2014/main" id="{CAA254EA-24BA-A185-97F1-7FA4B9C6AA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98894" y="2622176"/>
              <a:ext cx="7110917" cy="3260806"/>
            </a:xfrm>
            <a:prstGeom prst="rect">
              <a:avLst/>
            </a:prstGeom>
            <a:grpFill/>
          </p:spPr>
        </p:pic>
        <p:sp>
          <p:nvSpPr>
            <p:cNvPr id="7" name="TextBox 6">
              <a:extLst>
                <a:ext uri="{FF2B5EF4-FFF2-40B4-BE49-F238E27FC236}">
                  <a16:creationId xmlns:a16="http://schemas.microsoft.com/office/drawing/2014/main" id="{9484644C-BE97-00B1-1792-BAA9E1AACB1A}"/>
                </a:ext>
              </a:extLst>
            </p:cNvPr>
            <p:cNvSpPr txBox="1"/>
            <p:nvPr/>
          </p:nvSpPr>
          <p:spPr>
            <a:xfrm>
              <a:off x="5927239" y="5882982"/>
              <a:ext cx="4454227" cy="369332"/>
            </a:xfrm>
            <a:prstGeom prst="rect">
              <a:avLst/>
            </a:prstGeom>
            <a:grpFill/>
          </p:spPr>
          <p:txBody>
            <a:bodyPr wrap="square" rtlCol="0">
              <a:spAutoFit/>
            </a:bodyPr>
            <a:lstStyle/>
            <a:p>
              <a:r>
                <a:rPr lang="en-US" b="0" i="0" dirty="0">
                  <a:solidFill>
                    <a:srgbClr val="0D0D0D"/>
                  </a:solidFill>
                  <a:effectLst/>
                  <a:highlight>
                    <a:srgbClr val="FFFFFF"/>
                  </a:highlight>
                  <a:latin typeface="Söhne"/>
                  <a:hlinkClick r:id="rId5"/>
                </a:rPr>
                <a:t>https://blog.talosintelligence.com/seaturtle/</a:t>
              </a:r>
              <a:endParaRPr lang="en-US" b="0" i="0" dirty="0">
                <a:solidFill>
                  <a:srgbClr val="0D0D0D"/>
                </a:solidFill>
                <a:effectLst/>
                <a:highlight>
                  <a:srgbClr val="FFFFFF"/>
                </a:highlight>
                <a:latin typeface="Söhne"/>
              </a:endParaRPr>
            </a:p>
          </p:txBody>
        </p:sp>
        <p:sp>
          <p:nvSpPr>
            <p:cNvPr id="2" name="TextBox 1">
              <a:extLst>
                <a:ext uri="{FF2B5EF4-FFF2-40B4-BE49-F238E27FC236}">
                  <a16:creationId xmlns:a16="http://schemas.microsoft.com/office/drawing/2014/main" id="{5C6D9719-2A20-6B96-3192-DFA0C98EDEE4}"/>
                </a:ext>
              </a:extLst>
            </p:cNvPr>
            <p:cNvSpPr txBox="1"/>
            <p:nvPr/>
          </p:nvSpPr>
          <p:spPr>
            <a:xfrm>
              <a:off x="5309467" y="2233728"/>
              <a:ext cx="5689770" cy="388448"/>
            </a:xfrm>
            <a:prstGeom prst="rect">
              <a:avLst/>
            </a:prstGeom>
            <a:grpFill/>
          </p:spPr>
          <p:txBody>
            <a:bodyPr wrap="square" rtlCol="0">
              <a:spAutoFit/>
            </a:bodyPr>
            <a:lstStyle/>
            <a:p>
              <a:r>
                <a:rPr lang="en-US" sz="2200" b="1" dirty="0">
                  <a:solidFill>
                    <a:srgbClr val="C00000"/>
                  </a:solidFill>
                </a:rPr>
                <a:t>DNS Hijacking Attacks Statistics by Sea Turtle</a:t>
              </a:r>
            </a:p>
          </p:txBody>
        </p:sp>
      </p:grpSp>
    </p:spTree>
    <p:extLst>
      <p:ext uri="{BB962C8B-B14F-4D97-AF65-F5344CB8AC3E}">
        <p14:creationId xmlns:p14="http://schemas.microsoft.com/office/powerpoint/2010/main" val="2070590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819;p140">
            <a:extLst>
              <a:ext uri="{FF2B5EF4-FFF2-40B4-BE49-F238E27FC236}">
                <a16:creationId xmlns:a16="http://schemas.microsoft.com/office/drawing/2014/main" id="{A1BBD3EA-B48A-9405-9D84-E991AC00628F}"/>
              </a:ext>
            </a:extLst>
          </p:cNvPr>
          <p:cNvSpPr txBox="1">
            <a:spLocks noGrp="1"/>
          </p:cNvSpPr>
          <p:nvPr>
            <p:ph type="title"/>
          </p:nvPr>
        </p:nvSpPr>
        <p:spPr>
          <a:xfrm>
            <a:off x="415600" y="36976"/>
            <a:ext cx="11360800" cy="940538"/>
          </a:xfrm>
          <a:prstGeom prst="rect">
            <a:avLst/>
          </a:prstGeom>
        </p:spPr>
        <p:txBody>
          <a:bodyPr spcFirstLastPara="1" wrap="square" lIns="121900" tIns="121900" rIns="121900" bIns="121900" anchor="t" anchorCtr="0">
            <a:noAutofit/>
          </a:bodyPr>
          <a:lstStyle/>
          <a:p>
            <a:r>
              <a:rPr lang="en" sz="4400" dirty="0">
                <a:latin typeface="Aptos Display" panose="020B0004020202020204" pitchFamily="34" charset="0"/>
              </a:rPr>
              <a:t>DNS Security: Know Your Threat Model</a:t>
            </a:r>
            <a:endParaRPr sz="4400" dirty="0">
              <a:latin typeface="Aptos Display" panose="020B0004020202020204" pitchFamily="34" charset="0"/>
            </a:endParaRPr>
          </a:p>
        </p:txBody>
      </p:sp>
      <p:grpSp>
        <p:nvGrpSpPr>
          <p:cNvPr id="12" name="Group 11">
            <a:extLst>
              <a:ext uri="{FF2B5EF4-FFF2-40B4-BE49-F238E27FC236}">
                <a16:creationId xmlns:a16="http://schemas.microsoft.com/office/drawing/2014/main" id="{D99A12BD-A7E1-578E-E5D4-EC2659734181}"/>
              </a:ext>
            </a:extLst>
          </p:cNvPr>
          <p:cNvGrpSpPr/>
          <p:nvPr/>
        </p:nvGrpSpPr>
        <p:grpSpPr>
          <a:xfrm>
            <a:off x="2679590" y="4287847"/>
            <a:ext cx="9096810" cy="2453227"/>
            <a:chOff x="2679590" y="4287847"/>
            <a:chExt cx="9096810" cy="2453227"/>
          </a:xfrm>
        </p:grpSpPr>
        <p:sp>
          <p:nvSpPr>
            <p:cNvPr id="8" name="Google Shape;216;p30">
              <a:extLst>
                <a:ext uri="{FF2B5EF4-FFF2-40B4-BE49-F238E27FC236}">
                  <a16:creationId xmlns:a16="http://schemas.microsoft.com/office/drawing/2014/main" id="{999D9E7C-C583-4E27-7474-36F3A33920F8}"/>
                </a:ext>
              </a:extLst>
            </p:cNvPr>
            <p:cNvSpPr txBox="1"/>
            <p:nvPr/>
          </p:nvSpPr>
          <p:spPr>
            <a:xfrm>
              <a:off x="4511071" y="4720294"/>
              <a:ext cx="2909516" cy="654300"/>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600" dirty="0"/>
                <a:t>1. What is the IP address of </a:t>
              </a:r>
              <a:r>
                <a:rPr lang="en" sz="1600" b="1" dirty="0">
                  <a:latin typeface="Courier New"/>
                  <a:ea typeface="Courier New"/>
                  <a:cs typeface="Courier New"/>
                  <a:sym typeface="Courier New"/>
                </a:rPr>
                <a:t>dsac.msoe.edu</a:t>
              </a:r>
              <a:r>
                <a:rPr lang="en" sz="1600" dirty="0"/>
                <a:t>?</a:t>
              </a:r>
              <a:endParaRPr sz="1600" dirty="0"/>
            </a:p>
          </p:txBody>
        </p:sp>
        <p:sp>
          <p:nvSpPr>
            <p:cNvPr id="11" name="Google Shape;219;p30">
              <a:extLst>
                <a:ext uri="{FF2B5EF4-FFF2-40B4-BE49-F238E27FC236}">
                  <a16:creationId xmlns:a16="http://schemas.microsoft.com/office/drawing/2014/main" id="{7B2A37D0-F8D0-787C-AE73-6BA82B23A9FD}"/>
                </a:ext>
              </a:extLst>
            </p:cNvPr>
            <p:cNvSpPr txBox="1"/>
            <p:nvPr/>
          </p:nvSpPr>
          <p:spPr>
            <a:xfrm>
              <a:off x="4511070" y="5707090"/>
              <a:ext cx="2909517" cy="903581"/>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600" dirty="0">
                  <a:solidFill>
                    <a:schemeClr val="dk1"/>
                  </a:solidFill>
                </a:rPr>
                <a:t>8. The IP address of </a:t>
              </a:r>
              <a:r>
                <a:rPr lang="en" sz="1600" b="1" dirty="0">
                  <a:solidFill>
                    <a:schemeClr val="dk1"/>
                  </a:solidFill>
                  <a:latin typeface="Courier New"/>
                  <a:ea typeface="Courier New"/>
                  <a:cs typeface="Courier New"/>
                  <a:sym typeface="Courier New"/>
                </a:rPr>
                <a:t>dsac.msoe.edu</a:t>
              </a:r>
              <a:r>
                <a:rPr lang="en" sz="1600" dirty="0">
                  <a:solidFill>
                    <a:schemeClr val="dk1"/>
                  </a:solidFill>
                </a:rPr>
                <a:t> is </a:t>
              </a:r>
              <a:r>
                <a:rPr lang="en" sz="1600" b="1" dirty="0">
                  <a:solidFill>
                    <a:schemeClr val="dk1"/>
                  </a:solidFill>
                  <a:latin typeface="Courier New"/>
                  <a:ea typeface="Courier New"/>
                  <a:cs typeface="Courier New"/>
                  <a:sym typeface="Courier New"/>
                </a:rPr>
                <a:t>24.175.3.1</a:t>
              </a:r>
              <a:r>
                <a:rPr lang="en" sz="1600" dirty="0">
                  <a:solidFill>
                    <a:schemeClr val="dk1"/>
                  </a:solidFill>
                </a:rPr>
                <a:t>.</a:t>
              </a:r>
              <a:endParaRPr sz="1600" dirty="0">
                <a:solidFill>
                  <a:schemeClr val="dk1"/>
                </a:solidFill>
              </a:endParaRPr>
            </a:p>
          </p:txBody>
        </p:sp>
        <p:sp>
          <p:nvSpPr>
            <p:cNvPr id="5" name="Google Shape;134;p22">
              <a:extLst>
                <a:ext uri="{FF2B5EF4-FFF2-40B4-BE49-F238E27FC236}">
                  <a16:creationId xmlns:a16="http://schemas.microsoft.com/office/drawing/2014/main" id="{B99037FF-7323-E7A7-9B42-EDB7C8C8EA84}"/>
                </a:ext>
              </a:extLst>
            </p:cNvPr>
            <p:cNvSpPr txBox="1"/>
            <p:nvPr/>
          </p:nvSpPr>
          <p:spPr>
            <a:xfrm>
              <a:off x="10509200" y="4287847"/>
              <a:ext cx="1238100" cy="3648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panose="02070309020205020404" pitchFamily="49" charset="0"/>
                  <a:ea typeface="Courier New"/>
                  <a:cs typeface="Courier New" panose="02070309020205020404" pitchFamily="49" charset="0"/>
                  <a:sym typeface="Courier New"/>
                </a:rPr>
                <a:t>.</a:t>
              </a:r>
              <a:r>
                <a:rPr lang="en">
                  <a:latin typeface="Courier New" panose="02070309020205020404" pitchFamily="49" charset="0"/>
                  <a:cs typeface="Courier New" panose="02070309020205020404" pitchFamily="49" charset="0"/>
                </a:rPr>
                <a:t>(root)</a:t>
              </a:r>
              <a:endParaRPr>
                <a:latin typeface="Courier New" panose="02070309020205020404" pitchFamily="49" charset="0"/>
                <a:ea typeface="Courier New"/>
                <a:cs typeface="Courier New" panose="02070309020205020404" pitchFamily="49" charset="0"/>
                <a:sym typeface="Courier New"/>
              </a:endParaRPr>
            </a:p>
          </p:txBody>
        </p:sp>
        <p:sp>
          <p:nvSpPr>
            <p:cNvPr id="14" name="Google Shape;135;p22">
              <a:extLst>
                <a:ext uri="{FF2B5EF4-FFF2-40B4-BE49-F238E27FC236}">
                  <a16:creationId xmlns:a16="http://schemas.microsoft.com/office/drawing/2014/main" id="{859B6A27-75F0-C97A-8528-39916F4EDAA5}"/>
                </a:ext>
              </a:extLst>
            </p:cNvPr>
            <p:cNvSpPr txBox="1"/>
            <p:nvPr/>
          </p:nvSpPr>
          <p:spPr>
            <a:xfrm>
              <a:off x="10762490" y="5306643"/>
              <a:ext cx="73152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Courier New"/>
                  <a:ea typeface="Courier New"/>
                  <a:cs typeface="Courier New"/>
                  <a:sym typeface="Courier New"/>
                </a:rPr>
                <a:t>.edu</a:t>
              </a:r>
              <a:endParaRPr>
                <a:latin typeface="Calibri"/>
                <a:ea typeface="Calibri"/>
                <a:cs typeface="Calibri"/>
                <a:sym typeface="Calibri"/>
              </a:endParaRPr>
            </a:p>
          </p:txBody>
        </p:sp>
        <p:sp>
          <p:nvSpPr>
            <p:cNvPr id="15" name="Google Shape;136;p22">
              <a:extLst>
                <a:ext uri="{FF2B5EF4-FFF2-40B4-BE49-F238E27FC236}">
                  <a16:creationId xmlns:a16="http://schemas.microsoft.com/office/drawing/2014/main" id="{7C42E905-6DE1-1971-9940-E4C6BDCDCED6}"/>
                </a:ext>
              </a:extLst>
            </p:cNvPr>
            <p:cNvSpPr txBox="1"/>
            <p:nvPr/>
          </p:nvSpPr>
          <p:spPr>
            <a:xfrm>
              <a:off x="10480100" y="6217074"/>
              <a:ext cx="129630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Courier New"/>
                  <a:ea typeface="Courier New"/>
                  <a:cs typeface="Courier New"/>
                  <a:sym typeface="Courier New"/>
                </a:rPr>
                <a:t>msoe.edu</a:t>
              </a:r>
              <a:endParaRPr dirty="0">
                <a:latin typeface="Calibri"/>
                <a:ea typeface="Calibri"/>
                <a:cs typeface="Calibri"/>
                <a:sym typeface="Calibri"/>
              </a:endParaRPr>
            </a:p>
          </p:txBody>
        </p:sp>
        <p:cxnSp>
          <p:nvCxnSpPr>
            <p:cNvPr id="16" name="Google Shape;137;p22">
              <a:extLst>
                <a:ext uri="{FF2B5EF4-FFF2-40B4-BE49-F238E27FC236}">
                  <a16:creationId xmlns:a16="http://schemas.microsoft.com/office/drawing/2014/main" id="{E47A4537-E5F2-F33A-B8C2-4D370402B1E6}"/>
                </a:ext>
              </a:extLst>
            </p:cNvPr>
            <p:cNvCxnSpPr>
              <a:stCxn id="5" idx="2"/>
              <a:endCxn id="14" idx="0"/>
            </p:cNvCxnSpPr>
            <p:nvPr/>
          </p:nvCxnSpPr>
          <p:spPr>
            <a:xfrm>
              <a:off x="11128250" y="4652647"/>
              <a:ext cx="0" cy="653996"/>
            </a:xfrm>
            <a:prstGeom prst="straightConnector1">
              <a:avLst/>
            </a:prstGeom>
            <a:noFill/>
            <a:ln w="9525" cap="flat" cmpd="sng">
              <a:solidFill>
                <a:srgbClr val="000000"/>
              </a:solidFill>
              <a:prstDash val="solid"/>
              <a:round/>
              <a:headEnd type="none" w="med" len="med"/>
              <a:tailEnd type="none" w="med" len="med"/>
            </a:ln>
          </p:spPr>
        </p:cxnSp>
        <p:cxnSp>
          <p:nvCxnSpPr>
            <p:cNvPr id="19" name="Google Shape;138;p22">
              <a:extLst>
                <a:ext uri="{FF2B5EF4-FFF2-40B4-BE49-F238E27FC236}">
                  <a16:creationId xmlns:a16="http://schemas.microsoft.com/office/drawing/2014/main" id="{3F6EDFB1-7044-A65D-2E35-108F2D74AE20}"/>
                </a:ext>
              </a:extLst>
            </p:cNvPr>
            <p:cNvCxnSpPr>
              <a:stCxn id="14" idx="2"/>
              <a:endCxn id="15" idx="0"/>
            </p:cNvCxnSpPr>
            <p:nvPr/>
          </p:nvCxnSpPr>
          <p:spPr>
            <a:xfrm>
              <a:off x="11128250" y="5700243"/>
              <a:ext cx="0" cy="516831"/>
            </a:xfrm>
            <a:prstGeom prst="straightConnector1">
              <a:avLst/>
            </a:prstGeom>
            <a:noFill/>
            <a:ln w="9525" cap="flat" cmpd="sng">
              <a:solidFill>
                <a:srgbClr val="000000"/>
              </a:solidFill>
              <a:prstDash val="solid"/>
              <a:round/>
              <a:headEnd type="none" w="med" len="med"/>
              <a:tailEnd type="none" w="med" len="med"/>
            </a:ln>
          </p:spPr>
        </p:cxnSp>
        <p:sp>
          <p:nvSpPr>
            <p:cNvPr id="21" name="Google Shape;139;p22">
              <a:extLst>
                <a:ext uri="{FF2B5EF4-FFF2-40B4-BE49-F238E27FC236}">
                  <a16:creationId xmlns:a16="http://schemas.microsoft.com/office/drawing/2014/main" id="{0C34648C-7755-2B81-5EAB-82CFD669238E}"/>
                </a:ext>
              </a:extLst>
            </p:cNvPr>
            <p:cNvSpPr txBox="1"/>
            <p:nvPr/>
          </p:nvSpPr>
          <p:spPr>
            <a:xfrm>
              <a:off x="2679590" y="5237817"/>
              <a:ext cx="1689937" cy="6543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dirty="0"/>
                <a:t>Client Machine/ Stub Resolver</a:t>
              </a:r>
              <a:endParaRPr sz="1600" dirty="0"/>
            </a:p>
          </p:txBody>
        </p:sp>
        <p:sp>
          <p:nvSpPr>
            <p:cNvPr id="22" name="Google Shape;140;p22">
              <a:extLst>
                <a:ext uri="{FF2B5EF4-FFF2-40B4-BE49-F238E27FC236}">
                  <a16:creationId xmlns:a16="http://schemas.microsoft.com/office/drawing/2014/main" id="{13AB325A-A1C1-41B1-5126-8E503A74F28C}"/>
                </a:ext>
              </a:extLst>
            </p:cNvPr>
            <p:cNvSpPr txBox="1"/>
            <p:nvPr/>
          </p:nvSpPr>
          <p:spPr>
            <a:xfrm>
              <a:off x="7573215" y="4806757"/>
              <a:ext cx="1238100" cy="16308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dirty="0"/>
                <a:t>Recursive Resolver</a:t>
              </a:r>
              <a:endParaRPr sz="1600" dirty="0"/>
            </a:p>
          </p:txBody>
        </p:sp>
        <p:cxnSp>
          <p:nvCxnSpPr>
            <p:cNvPr id="23" name="Google Shape;141;p22">
              <a:extLst>
                <a:ext uri="{FF2B5EF4-FFF2-40B4-BE49-F238E27FC236}">
                  <a16:creationId xmlns:a16="http://schemas.microsoft.com/office/drawing/2014/main" id="{71E8DA68-4CF7-36BB-41C0-CEDC50F15D7A}"/>
                </a:ext>
              </a:extLst>
            </p:cNvPr>
            <p:cNvCxnSpPr/>
            <p:nvPr/>
          </p:nvCxnSpPr>
          <p:spPr>
            <a:xfrm rot="10800000" flipH="1">
              <a:off x="8939375" y="4365074"/>
              <a:ext cx="1540800" cy="643800"/>
            </a:xfrm>
            <a:prstGeom prst="straightConnector1">
              <a:avLst/>
            </a:prstGeom>
            <a:noFill/>
            <a:ln w="19050" cap="flat" cmpd="sng">
              <a:solidFill>
                <a:srgbClr val="000000"/>
              </a:solidFill>
              <a:prstDash val="solid"/>
              <a:round/>
              <a:headEnd type="none" w="med" len="med"/>
              <a:tailEnd type="triangle" w="med" len="med"/>
            </a:ln>
          </p:spPr>
        </p:cxnSp>
        <p:cxnSp>
          <p:nvCxnSpPr>
            <p:cNvPr id="24" name="Google Shape;142;p22">
              <a:extLst>
                <a:ext uri="{FF2B5EF4-FFF2-40B4-BE49-F238E27FC236}">
                  <a16:creationId xmlns:a16="http://schemas.microsoft.com/office/drawing/2014/main" id="{551CD61B-EA42-B56E-B464-1AC19E0561D4}"/>
                </a:ext>
              </a:extLst>
            </p:cNvPr>
            <p:cNvCxnSpPr/>
            <p:nvPr/>
          </p:nvCxnSpPr>
          <p:spPr>
            <a:xfrm rot="10800000" flipH="1">
              <a:off x="8950499" y="4483974"/>
              <a:ext cx="1529700" cy="634200"/>
            </a:xfrm>
            <a:prstGeom prst="straightConnector1">
              <a:avLst/>
            </a:prstGeom>
            <a:noFill/>
            <a:ln w="19050" cap="flat" cmpd="sng">
              <a:solidFill>
                <a:srgbClr val="000000"/>
              </a:solidFill>
              <a:prstDash val="solid"/>
              <a:round/>
              <a:headEnd type="triangle" w="med" len="med"/>
              <a:tailEnd type="none" w="med" len="med"/>
            </a:ln>
          </p:spPr>
        </p:cxnSp>
        <p:cxnSp>
          <p:nvCxnSpPr>
            <p:cNvPr id="25" name="Google Shape;143;p22">
              <a:extLst>
                <a:ext uri="{FF2B5EF4-FFF2-40B4-BE49-F238E27FC236}">
                  <a16:creationId xmlns:a16="http://schemas.microsoft.com/office/drawing/2014/main" id="{A688AF09-430E-3F25-03B0-701E1E114E08}"/>
                </a:ext>
              </a:extLst>
            </p:cNvPr>
            <p:cNvCxnSpPr/>
            <p:nvPr/>
          </p:nvCxnSpPr>
          <p:spPr>
            <a:xfrm rot="10800000" flipH="1">
              <a:off x="8973898" y="5468837"/>
              <a:ext cx="1769700" cy="249300"/>
            </a:xfrm>
            <a:prstGeom prst="straightConnector1">
              <a:avLst/>
            </a:prstGeom>
            <a:noFill/>
            <a:ln w="19050" cap="flat" cmpd="sng">
              <a:solidFill>
                <a:srgbClr val="000000"/>
              </a:solidFill>
              <a:prstDash val="solid"/>
              <a:round/>
              <a:headEnd type="none" w="med" len="med"/>
              <a:tailEnd type="triangle" w="med" len="med"/>
            </a:ln>
          </p:spPr>
        </p:cxnSp>
        <p:cxnSp>
          <p:nvCxnSpPr>
            <p:cNvPr id="26" name="Google Shape;144;p22">
              <a:extLst>
                <a:ext uri="{FF2B5EF4-FFF2-40B4-BE49-F238E27FC236}">
                  <a16:creationId xmlns:a16="http://schemas.microsoft.com/office/drawing/2014/main" id="{07EE98AC-03BE-FDFC-5ED1-614D1C637DE9}"/>
                </a:ext>
              </a:extLst>
            </p:cNvPr>
            <p:cNvCxnSpPr/>
            <p:nvPr/>
          </p:nvCxnSpPr>
          <p:spPr>
            <a:xfrm rot="10800000" flipH="1">
              <a:off x="8979288" y="5609962"/>
              <a:ext cx="1769700" cy="249300"/>
            </a:xfrm>
            <a:prstGeom prst="straightConnector1">
              <a:avLst/>
            </a:prstGeom>
            <a:noFill/>
            <a:ln w="19050" cap="flat" cmpd="sng">
              <a:solidFill>
                <a:srgbClr val="000000"/>
              </a:solidFill>
              <a:prstDash val="solid"/>
              <a:round/>
              <a:headEnd type="triangle" w="med" len="med"/>
              <a:tailEnd type="none" w="med" len="med"/>
            </a:ln>
          </p:spPr>
        </p:cxnSp>
        <p:cxnSp>
          <p:nvCxnSpPr>
            <p:cNvPr id="27" name="Google Shape;145;p22">
              <a:extLst>
                <a:ext uri="{FF2B5EF4-FFF2-40B4-BE49-F238E27FC236}">
                  <a16:creationId xmlns:a16="http://schemas.microsoft.com/office/drawing/2014/main" id="{7ABE6EFB-4BD0-BC5C-0631-30B0DB490FEC}"/>
                </a:ext>
              </a:extLst>
            </p:cNvPr>
            <p:cNvCxnSpPr/>
            <p:nvPr/>
          </p:nvCxnSpPr>
          <p:spPr>
            <a:xfrm>
              <a:off x="8925819" y="6137349"/>
              <a:ext cx="1540800" cy="271800"/>
            </a:xfrm>
            <a:prstGeom prst="straightConnector1">
              <a:avLst/>
            </a:prstGeom>
            <a:noFill/>
            <a:ln w="19050" cap="flat" cmpd="sng">
              <a:solidFill>
                <a:srgbClr val="000000"/>
              </a:solidFill>
              <a:prstDash val="solid"/>
              <a:round/>
              <a:headEnd type="none" w="med" len="med"/>
              <a:tailEnd type="triangle" w="med" len="med"/>
            </a:ln>
          </p:spPr>
        </p:cxnSp>
        <p:cxnSp>
          <p:nvCxnSpPr>
            <p:cNvPr id="28" name="Google Shape;146;p22">
              <a:extLst>
                <a:ext uri="{FF2B5EF4-FFF2-40B4-BE49-F238E27FC236}">
                  <a16:creationId xmlns:a16="http://schemas.microsoft.com/office/drawing/2014/main" id="{88E7F8F4-BE82-96D2-8119-9547D7D16A98}"/>
                </a:ext>
              </a:extLst>
            </p:cNvPr>
            <p:cNvCxnSpPr/>
            <p:nvPr/>
          </p:nvCxnSpPr>
          <p:spPr>
            <a:xfrm>
              <a:off x="8880386" y="6259176"/>
              <a:ext cx="1540800" cy="271800"/>
            </a:xfrm>
            <a:prstGeom prst="straightConnector1">
              <a:avLst/>
            </a:prstGeom>
            <a:noFill/>
            <a:ln w="19050" cap="flat" cmpd="sng">
              <a:solidFill>
                <a:srgbClr val="000000"/>
              </a:solidFill>
              <a:prstDash val="solid"/>
              <a:round/>
              <a:headEnd type="triangle" w="med" len="med"/>
              <a:tailEnd type="none" w="med" len="med"/>
            </a:ln>
          </p:spPr>
        </p:cxnSp>
        <p:sp>
          <p:nvSpPr>
            <p:cNvPr id="29" name="Google Shape;147;p22">
              <a:extLst>
                <a:ext uri="{FF2B5EF4-FFF2-40B4-BE49-F238E27FC236}">
                  <a16:creationId xmlns:a16="http://schemas.microsoft.com/office/drawing/2014/main" id="{1985C340-B2F7-74EC-D0E2-044E8A6AD245}"/>
                </a:ext>
              </a:extLst>
            </p:cNvPr>
            <p:cNvSpPr txBox="1"/>
            <p:nvPr/>
          </p:nvSpPr>
          <p:spPr>
            <a:xfrm>
              <a:off x="9459465" y="5927215"/>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6</a:t>
              </a:r>
              <a:endParaRPr>
                <a:latin typeface="Calibri"/>
                <a:ea typeface="Calibri"/>
                <a:cs typeface="Calibri"/>
                <a:sym typeface="Calibri"/>
              </a:endParaRPr>
            </a:p>
          </p:txBody>
        </p:sp>
        <p:sp>
          <p:nvSpPr>
            <p:cNvPr id="30" name="Google Shape;148;p22">
              <a:extLst>
                <a:ext uri="{FF2B5EF4-FFF2-40B4-BE49-F238E27FC236}">
                  <a16:creationId xmlns:a16="http://schemas.microsoft.com/office/drawing/2014/main" id="{CCDBCFCA-4FB0-482B-FF7B-8055870E5249}"/>
                </a:ext>
              </a:extLst>
            </p:cNvPr>
            <p:cNvSpPr txBox="1"/>
            <p:nvPr/>
          </p:nvSpPr>
          <p:spPr>
            <a:xfrm>
              <a:off x="9431999" y="6344474"/>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7</a:t>
              </a:r>
              <a:endParaRPr>
                <a:latin typeface="Calibri"/>
                <a:ea typeface="Calibri"/>
                <a:cs typeface="Calibri"/>
                <a:sym typeface="Calibri"/>
              </a:endParaRPr>
            </a:p>
          </p:txBody>
        </p:sp>
        <p:sp>
          <p:nvSpPr>
            <p:cNvPr id="31" name="Google Shape;149;p22">
              <a:extLst>
                <a:ext uri="{FF2B5EF4-FFF2-40B4-BE49-F238E27FC236}">
                  <a16:creationId xmlns:a16="http://schemas.microsoft.com/office/drawing/2014/main" id="{E0AD85E6-1637-0A6B-5C64-16FE5BEB1753}"/>
                </a:ext>
              </a:extLst>
            </p:cNvPr>
            <p:cNvSpPr txBox="1"/>
            <p:nvPr/>
          </p:nvSpPr>
          <p:spPr>
            <a:xfrm>
              <a:off x="9619463" y="5242855"/>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4</a:t>
              </a:r>
              <a:endParaRPr>
                <a:latin typeface="Calibri"/>
                <a:ea typeface="Calibri"/>
                <a:cs typeface="Calibri"/>
                <a:sym typeface="Calibri"/>
              </a:endParaRPr>
            </a:p>
          </p:txBody>
        </p:sp>
        <p:sp>
          <p:nvSpPr>
            <p:cNvPr id="32" name="Google Shape;150;p22">
              <a:extLst>
                <a:ext uri="{FF2B5EF4-FFF2-40B4-BE49-F238E27FC236}">
                  <a16:creationId xmlns:a16="http://schemas.microsoft.com/office/drawing/2014/main" id="{214D8991-22A8-DA01-5562-5F26C3546BD4}"/>
                </a:ext>
              </a:extLst>
            </p:cNvPr>
            <p:cNvSpPr txBox="1"/>
            <p:nvPr/>
          </p:nvSpPr>
          <p:spPr>
            <a:xfrm>
              <a:off x="9687926" y="5639437"/>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5</a:t>
              </a:r>
              <a:endParaRPr>
                <a:latin typeface="Calibri"/>
                <a:ea typeface="Calibri"/>
                <a:cs typeface="Calibri"/>
                <a:sym typeface="Calibri"/>
              </a:endParaRPr>
            </a:p>
          </p:txBody>
        </p:sp>
        <p:sp>
          <p:nvSpPr>
            <p:cNvPr id="34" name="Google Shape;152;p22">
              <a:extLst>
                <a:ext uri="{FF2B5EF4-FFF2-40B4-BE49-F238E27FC236}">
                  <a16:creationId xmlns:a16="http://schemas.microsoft.com/office/drawing/2014/main" id="{FB0E3F88-FD3D-0FFF-1AD6-9B4B47AA3EFE}"/>
                </a:ext>
              </a:extLst>
            </p:cNvPr>
            <p:cNvSpPr txBox="1"/>
            <p:nvPr/>
          </p:nvSpPr>
          <p:spPr>
            <a:xfrm>
              <a:off x="9422542" y="4783456"/>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3</a:t>
              </a:r>
              <a:endParaRPr>
                <a:latin typeface="Calibri"/>
                <a:ea typeface="Calibri"/>
                <a:cs typeface="Calibri"/>
                <a:sym typeface="Calibri"/>
              </a:endParaRPr>
            </a:p>
          </p:txBody>
        </p:sp>
        <p:cxnSp>
          <p:nvCxnSpPr>
            <p:cNvPr id="35" name="Google Shape;153;p22">
              <a:extLst>
                <a:ext uri="{FF2B5EF4-FFF2-40B4-BE49-F238E27FC236}">
                  <a16:creationId xmlns:a16="http://schemas.microsoft.com/office/drawing/2014/main" id="{F1F1B9B0-1417-52F0-F2E4-C2F8DA169DE9}"/>
                </a:ext>
              </a:extLst>
            </p:cNvPr>
            <p:cNvCxnSpPr>
              <a:cxnSpLocks/>
            </p:cNvCxnSpPr>
            <p:nvPr/>
          </p:nvCxnSpPr>
          <p:spPr>
            <a:xfrm flipH="1">
              <a:off x="4403759" y="5622157"/>
              <a:ext cx="3087016" cy="0"/>
            </a:xfrm>
            <a:prstGeom prst="straightConnector1">
              <a:avLst/>
            </a:prstGeom>
            <a:noFill/>
            <a:ln w="19050" cap="flat" cmpd="sng">
              <a:solidFill>
                <a:srgbClr val="000000"/>
              </a:solidFill>
              <a:prstDash val="solid"/>
              <a:round/>
              <a:headEnd type="none" w="med" len="med"/>
              <a:tailEnd type="triangle" w="med" len="med"/>
            </a:ln>
          </p:spPr>
        </p:cxnSp>
        <p:cxnSp>
          <p:nvCxnSpPr>
            <p:cNvPr id="37" name="Google Shape;154;p22">
              <a:extLst>
                <a:ext uri="{FF2B5EF4-FFF2-40B4-BE49-F238E27FC236}">
                  <a16:creationId xmlns:a16="http://schemas.microsoft.com/office/drawing/2014/main" id="{C3A2DBEB-9306-5A06-DA14-8209F8EBF1E5}"/>
                </a:ext>
              </a:extLst>
            </p:cNvPr>
            <p:cNvCxnSpPr>
              <a:cxnSpLocks/>
            </p:cNvCxnSpPr>
            <p:nvPr/>
          </p:nvCxnSpPr>
          <p:spPr>
            <a:xfrm flipH="1">
              <a:off x="4403759" y="5441120"/>
              <a:ext cx="3140356" cy="0"/>
            </a:xfrm>
            <a:prstGeom prst="straightConnector1">
              <a:avLst/>
            </a:prstGeom>
            <a:noFill/>
            <a:ln w="19050" cap="flat" cmpd="sng">
              <a:solidFill>
                <a:srgbClr val="000000"/>
              </a:solidFill>
              <a:prstDash val="solid"/>
              <a:round/>
              <a:headEnd type="triangle" w="med" len="med"/>
              <a:tailEnd type="none" w="med" len="med"/>
            </a:ln>
          </p:spPr>
        </p:cxnSp>
        <p:sp>
          <p:nvSpPr>
            <p:cNvPr id="41" name="Google Shape;156;p22">
              <a:extLst>
                <a:ext uri="{FF2B5EF4-FFF2-40B4-BE49-F238E27FC236}">
                  <a16:creationId xmlns:a16="http://schemas.microsoft.com/office/drawing/2014/main" id="{2743A4AA-58DB-0AB9-7A47-D64D483D141C}"/>
                </a:ext>
              </a:extLst>
            </p:cNvPr>
            <p:cNvSpPr txBox="1"/>
            <p:nvPr/>
          </p:nvSpPr>
          <p:spPr>
            <a:xfrm>
              <a:off x="9333817" y="4451331"/>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2</a:t>
              </a:r>
              <a:endParaRPr>
                <a:latin typeface="Calibri"/>
                <a:ea typeface="Calibri"/>
                <a:cs typeface="Calibri"/>
                <a:sym typeface="Calibri"/>
              </a:endParaRPr>
            </a:p>
          </p:txBody>
        </p:sp>
      </p:grpSp>
      <p:graphicFrame>
        <p:nvGraphicFramePr>
          <p:cNvPr id="51" name="Google Shape;103;p19">
            <a:extLst>
              <a:ext uri="{FF2B5EF4-FFF2-40B4-BE49-F238E27FC236}">
                <a16:creationId xmlns:a16="http://schemas.microsoft.com/office/drawing/2014/main" id="{7330F016-D855-8540-DC54-A4EC5D9367DB}"/>
              </a:ext>
            </a:extLst>
          </p:cNvPr>
          <p:cNvGraphicFramePr/>
          <p:nvPr>
            <p:extLst>
              <p:ext uri="{D42A27DB-BD31-4B8C-83A1-F6EECF244321}">
                <p14:modId xmlns:p14="http://schemas.microsoft.com/office/powerpoint/2010/main" val="2491645477"/>
              </p:ext>
            </p:extLst>
          </p:nvPr>
        </p:nvGraphicFramePr>
        <p:xfrm>
          <a:off x="4657485" y="1478982"/>
          <a:ext cx="6494888" cy="2103000"/>
        </p:xfrm>
        <a:graphic>
          <a:graphicData uri="http://schemas.openxmlformats.org/drawingml/2006/table">
            <a:tbl>
              <a:tblPr>
                <a:noFill/>
              </a:tblPr>
              <a:tblGrid>
                <a:gridCol w="2830584">
                  <a:extLst>
                    <a:ext uri="{9D8B030D-6E8A-4147-A177-3AD203B41FA5}">
                      <a16:colId xmlns:a16="http://schemas.microsoft.com/office/drawing/2014/main" val="20000"/>
                    </a:ext>
                  </a:extLst>
                </a:gridCol>
                <a:gridCol w="2018835">
                  <a:extLst>
                    <a:ext uri="{9D8B030D-6E8A-4147-A177-3AD203B41FA5}">
                      <a16:colId xmlns:a16="http://schemas.microsoft.com/office/drawing/2014/main" val="20001"/>
                    </a:ext>
                  </a:extLst>
                </a:gridCol>
                <a:gridCol w="1645469">
                  <a:extLst>
                    <a:ext uri="{9D8B030D-6E8A-4147-A177-3AD203B41FA5}">
                      <a16:colId xmlns:a16="http://schemas.microsoft.com/office/drawing/2014/main" val="20002"/>
                    </a:ext>
                  </a:extLst>
                </a:gridCol>
              </a:tblGrid>
              <a:tr h="694852">
                <a:tc>
                  <a:txBody>
                    <a:bodyPr/>
                    <a:lstStyle/>
                    <a:p>
                      <a:pPr marL="0" lvl="0" indent="0" algn="l" rtl="0">
                        <a:spcBef>
                          <a:spcPts val="0"/>
                        </a:spcBef>
                        <a:spcAft>
                          <a:spcPts val="0"/>
                        </a:spcAft>
                        <a:buNone/>
                      </a:pPr>
                      <a:endParaRPr sz="180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spcBef>
                          <a:spcPts val="0"/>
                        </a:spcBef>
                        <a:spcAft>
                          <a:spcPts val="0"/>
                        </a:spcAft>
                        <a:buNone/>
                      </a:pPr>
                      <a:r>
                        <a:rPr lang="en" sz="1800" dirty="0"/>
                        <a:t>Can modify or delete packets</a:t>
                      </a:r>
                      <a:endParaRPr sz="1800"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spcBef>
                          <a:spcPts val="0"/>
                        </a:spcBef>
                        <a:spcAft>
                          <a:spcPts val="0"/>
                        </a:spcAft>
                        <a:buNone/>
                      </a:pPr>
                      <a:r>
                        <a:rPr lang="en" sz="1800"/>
                        <a:t>Can read packets</a:t>
                      </a:r>
                      <a:endParaRPr sz="180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34272">
                <a:tc>
                  <a:txBody>
                    <a:bodyPr/>
                    <a:lstStyle/>
                    <a:p>
                      <a:pPr marL="0" lvl="0" indent="0" algn="l" rtl="0">
                        <a:spcBef>
                          <a:spcPts val="0"/>
                        </a:spcBef>
                        <a:spcAft>
                          <a:spcPts val="0"/>
                        </a:spcAft>
                        <a:buNone/>
                      </a:pPr>
                      <a:r>
                        <a:rPr lang="en" sz="1800" b="1" dirty="0"/>
                        <a:t>In-path (MITM) attacker</a:t>
                      </a:r>
                      <a:endParaRPr sz="1800" b="1"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Clr>
                          <a:schemeClr val="dk1"/>
                        </a:buClr>
                        <a:buSzPts val="1100"/>
                        <a:buFont typeface="Arial"/>
                        <a:buNone/>
                      </a:pPr>
                      <a:r>
                        <a:rPr lang="en" sz="1800">
                          <a:solidFill>
                            <a:schemeClr val="dk1"/>
                          </a:solidFill>
                        </a:rPr>
                        <a:t>✓</a:t>
                      </a:r>
                      <a:endParaRPr sz="180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Clr>
                          <a:schemeClr val="dk1"/>
                        </a:buClr>
                        <a:buSzPts val="1100"/>
                        <a:buFont typeface="Arial"/>
                        <a:buNone/>
                      </a:pPr>
                      <a:r>
                        <a:rPr lang="en" sz="1800">
                          <a:solidFill>
                            <a:schemeClr val="dk1"/>
                          </a:solidFill>
                        </a:rPr>
                        <a:t>✓</a:t>
                      </a:r>
                      <a:endParaRPr sz="180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34272">
                <a:tc>
                  <a:txBody>
                    <a:bodyPr/>
                    <a:lstStyle/>
                    <a:p>
                      <a:pPr marL="0" lvl="0" indent="0" algn="l" rtl="0">
                        <a:spcBef>
                          <a:spcPts val="0"/>
                        </a:spcBef>
                        <a:spcAft>
                          <a:spcPts val="0"/>
                        </a:spcAft>
                        <a:buNone/>
                      </a:pPr>
                      <a:r>
                        <a:rPr lang="en" sz="1800" b="1"/>
                        <a:t>On-path attacker</a:t>
                      </a:r>
                      <a:endParaRPr sz="1800" b="1"/>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endParaRPr sz="180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Clr>
                          <a:schemeClr val="dk1"/>
                        </a:buClr>
                        <a:buSzPts val="1100"/>
                        <a:buFont typeface="Arial"/>
                        <a:buNone/>
                      </a:pPr>
                      <a:r>
                        <a:rPr lang="en" sz="1800">
                          <a:solidFill>
                            <a:schemeClr val="dk1"/>
                          </a:solidFill>
                        </a:rPr>
                        <a:t>✓</a:t>
                      </a:r>
                      <a:endParaRPr sz="180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34272">
                <a:tc>
                  <a:txBody>
                    <a:bodyPr/>
                    <a:lstStyle/>
                    <a:p>
                      <a:pPr marL="0" lvl="0" indent="0" algn="l" rtl="0">
                        <a:spcBef>
                          <a:spcPts val="0"/>
                        </a:spcBef>
                        <a:spcAft>
                          <a:spcPts val="0"/>
                        </a:spcAft>
                        <a:buNone/>
                      </a:pPr>
                      <a:r>
                        <a:rPr lang="en" sz="1800" b="1" dirty="0"/>
                        <a:t>Off-path attacker</a:t>
                      </a:r>
                      <a:endParaRPr sz="1800" b="1"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endParaRPr sz="180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endParaRPr sz="1800"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Rectangle 3">
            <a:extLst>
              <a:ext uri="{FF2B5EF4-FFF2-40B4-BE49-F238E27FC236}">
                <a16:creationId xmlns:a16="http://schemas.microsoft.com/office/drawing/2014/main" id="{A0609732-C28B-B131-7A9D-AC097DD72BA1}"/>
              </a:ext>
            </a:extLst>
          </p:cNvPr>
          <p:cNvSpPr txBox="1">
            <a:spLocks noChangeArrowheads="1"/>
          </p:cNvSpPr>
          <p:nvPr/>
        </p:nvSpPr>
        <p:spPr>
          <a:xfrm>
            <a:off x="184829" y="1172616"/>
            <a:ext cx="4472656" cy="4420871"/>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52396" indent="0">
              <a:spcAft>
                <a:spcPts val="600"/>
              </a:spcAft>
              <a:buClrTx/>
              <a:buNone/>
            </a:pPr>
            <a:r>
              <a:rPr lang="en-US" sz="2400" dirty="0">
                <a:latin typeface="Aptos" panose="020B0004020202020204" pitchFamily="34" charset="0"/>
              </a:rPr>
              <a:t>Threat Model:</a:t>
            </a:r>
          </a:p>
          <a:p>
            <a:pPr>
              <a:spcAft>
                <a:spcPts val="600"/>
              </a:spcAft>
              <a:buClrTx/>
              <a:buFont typeface="Arial" panose="020B0604020202020204" pitchFamily="34" charset="0"/>
              <a:buChar char="•"/>
            </a:pPr>
            <a:r>
              <a:rPr lang="en-US" sz="2000" b="1" i="1" dirty="0">
                <a:solidFill>
                  <a:srgbClr val="C00000"/>
                </a:solidFill>
                <a:latin typeface="Aptos" panose="020B0004020202020204" pitchFamily="34" charset="0"/>
              </a:rPr>
              <a:t>Who your attacker is?</a:t>
            </a:r>
          </a:p>
          <a:p>
            <a:pPr lvl="1">
              <a:spcAft>
                <a:spcPts val="600"/>
              </a:spcAft>
              <a:buClrTx/>
            </a:pPr>
            <a:r>
              <a:rPr lang="en-US" sz="2067" dirty="0">
                <a:latin typeface="Aptos" panose="020B0004020202020204" pitchFamily="34" charset="0"/>
              </a:rPr>
              <a:t>Malicious name server</a:t>
            </a:r>
          </a:p>
          <a:p>
            <a:pPr lvl="1">
              <a:spcAft>
                <a:spcPts val="600"/>
              </a:spcAft>
              <a:buClrTx/>
            </a:pPr>
            <a:r>
              <a:rPr lang="en-US" sz="2000" dirty="0">
                <a:latin typeface="Aptos" panose="020B0004020202020204" pitchFamily="34" charset="0"/>
              </a:rPr>
              <a:t>External attacker</a:t>
            </a:r>
          </a:p>
          <a:p>
            <a:pPr>
              <a:spcAft>
                <a:spcPts val="600"/>
              </a:spcAft>
              <a:buClrTx/>
              <a:buFont typeface="Arial" panose="020B0604020202020204" pitchFamily="34" charset="0"/>
              <a:buChar char="•"/>
            </a:pPr>
            <a:r>
              <a:rPr lang="en-US" sz="1933" b="1" i="1" dirty="0">
                <a:solidFill>
                  <a:srgbClr val="C00000"/>
                </a:solidFill>
                <a:latin typeface="Aptos" panose="020B0004020202020204" pitchFamily="34" charset="0"/>
              </a:rPr>
              <a:t>What capabilities do they have? </a:t>
            </a:r>
            <a:r>
              <a:rPr lang="en-US" sz="1933" b="1" i="1" dirty="0">
                <a:solidFill>
                  <a:srgbClr val="C00000"/>
                </a:solidFill>
                <a:latin typeface="Aptos" panose="020B0004020202020204" pitchFamily="34" charset="0"/>
                <a:sym typeface="Wingdings" panose="05000000000000000000" pitchFamily="2" charset="2"/>
              </a:rPr>
              <a:t></a:t>
            </a:r>
            <a:endParaRPr lang="en-US" sz="1933" b="1" i="1" dirty="0">
              <a:solidFill>
                <a:srgbClr val="C00000"/>
              </a:solidFill>
              <a:latin typeface="Aptos" panose="020B0004020202020204" pitchFamily="34" charset="0"/>
            </a:endParaRPr>
          </a:p>
          <a:p>
            <a:pPr>
              <a:spcAft>
                <a:spcPts val="600"/>
              </a:spcAft>
              <a:buClrTx/>
              <a:buFont typeface="Arial" panose="020B0604020202020204" pitchFamily="34" charset="0"/>
              <a:buChar char="•"/>
            </a:pPr>
            <a:r>
              <a:rPr lang="en-US" altLang="zh-CN" sz="1933" b="1" i="1" dirty="0">
                <a:solidFill>
                  <a:srgbClr val="C00000"/>
                </a:solidFill>
                <a:latin typeface="Aptos" panose="020B0004020202020204" pitchFamily="34" charset="0"/>
              </a:rPr>
              <a:t>What attacks can they launch?</a:t>
            </a:r>
          </a:p>
          <a:p>
            <a:pPr lvl="1">
              <a:spcAft>
                <a:spcPts val="600"/>
              </a:spcAft>
              <a:buClrTx/>
            </a:pPr>
            <a:r>
              <a:rPr lang="en-US" sz="2000" dirty="0">
                <a:latin typeface="Aptos" panose="020B0004020202020204" pitchFamily="34" charset="0"/>
              </a:rPr>
              <a:t>Forge DNS data</a:t>
            </a:r>
          </a:p>
          <a:p>
            <a:pPr lvl="1">
              <a:spcAft>
                <a:spcPts val="600"/>
              </a:spcAft>
              <a:buClrTx/>
            </a:pPr>
            <a:r>
              <a:rPr lang="en-US" sz="2000" dirty="0">
                <a:latin typeface="Aptos" panose="020B0004020202020204" pitchFamily="34" charset="0"/>
              </a:rPr>
              <a:t>Hijack DNS name server</a:t>
            </a:r>
          </a:p>
          <a:p>
            <a:pPr lvl="1">
              <a:spcAft>
                <a:spcPts val="600"/>
              </a:spcAft>
              <a:buClrTx/>
            </a:pPr>
            <a:r>
              <a:rPr lang="en-US" sz="2000" dirty="0">
                <a:latin typeface="Aptos" panose="020B0004020202020204" pitchFamily="34" charset="0"/>
              </a:rPr>
              <a:t>DNS Flood</a:t>
            </a:r>
          </a:p>
          <a:p>
            <a:pPr lvl="1">
              <a:spcAft>
                <a:spcPts val="600"/>
              </a:spcAft>
              <a:buClrTx/>
            </a:pPr>
            <a:r>
              <a:rPr lang="en-US" sz="2000" dirty="0">
                <a:latin typeface="Aptos" panose="020B0004020202020204" pitchFamily="34" charset="0"/>
              </a:rPr>
              <a:t>...</a:t>
            </a:r>
          </a:p>
        </p:txBody>
      </p:sp>
      <p:pic>
        <p:nvPicPr>
          <p:cNvPr id="9" name="Picture 8">
            <a:extLst>
              <a:ext uri="{FF2B5EF4-FFF2-40B4-BE49-F238E27FC236}">
                <a16:creationId xmlns:a16="http://schemas.microsoft.com/office/drawing/2014/main" id="{B98CD0D8-2765-1633-77F3-538679DB05C7}"/>
              </a:ext>
            </a:extLst>
          </p:cNvPr>
          <p:cNvPicPr>
            <a:picLocks noChangeAspect="1"/>
          </p:cNvPicPr>
          <p:nvPr/>
        </p:nvPicPr>
        <p:blipFill>
          <a:blip r:embed="rId3"/>
          <a:stretch>
            <a:fillRect/>
          </a:stretch>
        </p:blipFill>
        <p:spPr>
          <a:xfrm>
            <a:off x="7872225" y="3908980"/>
            <a:ext cx="640080" cy="709012"/>
          </a:xfrm>
          <a:prstGeom prst="rect">
            <a:avLst/>
          </a:prstGeom>
        </p:spPr>
      </p:pic>
      <p:cxnSp>
        <p:nvCxnSpPr>
          <p:cNvPr id="10" name="Connector: Curved 9">
            <a:extLst>
              <a:ext uri="{FF2B5EF4-FFF2-40B4-BE49-F238E27FC236}">
                <a16:creationId xmlns:a16="http://schemas.microsoft.com/office/drawing/2014/main" id="{58673FC5-3423-6B8A-CE1E-5E57A7C0C654}"/>
              </a:ext>
            </a:extLst>
          </p:cNvPr>
          <p:cNvCxnSpPr>
            <a:cxnSpLocks/>
            <a:stCxn id="9" idx="3"/>
            <a:endCxn id="41" idx="0"/>
          </p:cNvCxnSpPr>
          <p:nvPr/>
        </p:nvCxnSpPr>
        <p:spPr>
          <a:xfrm>
            <a:off x="8512305" y="4263486"/>
            <a:ext cx="1026562" cy="187845"/>
          </a:xfrm>
          <a:prstGeom prst="curvedConnector2">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Curved 45">
            <a:extLst>
              <a:ext uri="{FF2B5EF4-FFF2-40B4-BE49-F238E27FC236}">
                <a16:creationId xmlns:a16="http://schemas.microsoft.com/office/drawing/2014/main" id="{72C435B4-1A6C-1F19-77C8-CD6496212343}"/>
              </a:ext>
            </a:extLst>
          </p:cNvPr>
          <p:cNvCxnSpPr>
            <a:cxnSpLocks/>
            <a:stCxn id="9" idx="2"/>
            <a:endCxn id="32" idx="1"/>
          </p:cNvCxnSpPr>
          <p:nvPr/>
        </p:nvCxnSpPr>
        <p:spPr>
          <a:xfrm rot="16200000" flipH="1">
            <a:off x="8330223" y="4480033"/>
            <a:ext cx="1219745" cy="1495661"/>
          </a:xfrm>
          <a:prstGeom prst="curvedConnector2">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6814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819;p140">
            <a:extLst>
              <a:ext uri="{FF2B5EF4-FFF2-40B4-BE49-F238E27FC236}">
                <a16:creationId xmlns:a16="http://schemas.microsoft.com/office/drawing/2014/main" id="{A1BBD3EA-B48A-9405-9D84-E991AC00628F}"/>
              </a:ext>
            </a:extLst>
          </p:cNvPr>
          <p:cNvSpPr txBox="1">
            <a:spLocks noGrp="1"/>
          </p:cNvSpPr>
          <p:nvPr>
            <p:ph type="title"/>
          </p:nvPr>
        </p:nvSpPr>
        <p:spPr>
          <a:xfrm>
            <a:off x="415600" y="51178"/>
            <a:ext cx="11360800" cy="887520"/>
          </a:xfrm>
          <a:prstGeom prst="rect">
            <a:avLst/>
          </a:prstGeom>
        </p:spPr>
        <p:txBody>
          <a:bodyPr spcFirstLastPara="1" wrap="square" lIns="121900" tIns="121900" rIns="121900" bIns="121900" anchor="t" anchorCtr="0">
            <a:noAutofit/>
          </a:bodyPr>
          <a:lstStyle/>
          <a:p>
            <a:r>
              <a:rPr lang="en" sz="4400" dirty="0">
                <a:latin typeface="Aptos" panose="020B0004020202020204" pitchFamily="34" charset="0"/>
              </a:rPr>
              <a:t>DNS Cache Poisoning Attacks</a:t>
            </a:r>
            <a:endParaRPr sz="4400" dirty="0">
              <a:latin typeface="Aptos" panose="020B0004020202020204" pitchFamily="34" charset="0"/>
            </a:endParaRPr>
          </a:p>
        </p:txBody>
      </p:sp>
      <p:sp>
        <p:nvSpPr>
          <p:cNvPr id="2" name="Google Shape;799;p65">
            <a:extLst>
              <a:ext uri="{FF2B5EF4-FFF2-40B4-BE49-F238E27FC236}">
                <a16:creationId xmlns:a16="http://schemas.microsoft.com/office/drawing/2014/main" id="{D7B3D715-7809-71DA-E759-979617F7D52C}"/>
              </a:ext>
            </a:extLst>
          </p:cNvPr>
          <p:cNvSpPr txBox="1">
            <a:spLocks noGrp="1"/>
          </p:cNvSpPr>
          <p:nvPr>
            <p:ph type="body" idx="1"/>
          </p:nvPr>
        </p:nvSpPr>
        <p:spPr>
          <a:xfrm>
            <a:off x="56664" y="1359210"/>
            <a:ext cx="6621206" cy="4631160"/>
          </a:xfrm>
          <a:prstGeom prst="rect">
            <a:avLst/>
          </a:prstGeom>
        </p:spPr>
        <p:txBody>
          <a:bodyPr spcFirstLastPara="1" wrap="square" lIns="91425" tIns="91425" rIns="91425" bIns="91425" anchor="t" anchorCtr="0">
            <a:noAutofit/>
          </a:bodyPr>
          <a:lstStyle/>
          <a:p>
            <a:pPr marL="114300" lvl="0" indent="0" algn="l" rtl="0">
              <a:spcBef>
                <a:spcPts val="0"/>
              </a:spcBef>
              <a:spcAft>
                <a:spcPts val="600"/>
              </a:spcAft>
              <a:buSzPts val="1800"/>
              <a:buNone/>
            </a:pPr>
            <a:r>
              <a:rPr lang="en" sz="2200" b="1" dirty="0">
                <a:solidFill>
                  <a:srgbClr val="C00000"/>
                </a:solidFill>
                <a:latin typeface="Aptos" panose="020B0004020202020204" pitchFamily="34" charset="0"/>
              </a:rPr>
              <a:t>Cache poisoning attack: </a:t>
            </a:r>
          </a:p>
          <a:p>
            <a:pPr marL="457200" indent="-342900">
              <a:spcAft>
                <a:spcPts val="600"/>
              </a:spcAft>
              <a:buClrTx/>
            </a:pPr>
            <a:r>
              <a:rPr lang="en" sz="2200" dirty="0">
                <a:solidFill>
                  <a:schemeClr val="tx1"/>
                </a:solidFill>
                <a:latin typeface="Aptos" panose="020B0004020202020204" pitchFamily="34" charset="0"/>
              </a:rPr>
              <a:t>Returning a false information into the DNS cache</a:t>
            </a:r>
          </a:p>
          <a:p>
            <a:pPr marL="457200" indent="-342900">
              <a:spcAft>
                <a:spcPts val="600"/>
              </a:spcAft>
              <a:buClrTx/>
            </a:pPr>
            <a:r>
              <a:rPr lang="en" sz="2200" dirty="0">
                <a:solidFill>
                  <a:schemeClr val="tx1"/>
                </a:solidFill>
                <a:latin typeface="Aptos" panose="020B0004020202020204" pitchFamily="34" charset="0"/>
              </a:rPr>
              <a:t>The victim will cache the malicious records, “poisoning” it</a:t>
            </a:r>
          </a:p>
          <a:p>
            <a:pPr marL="457200" indent="-342900">
              <a:spcAft>
                <a:spcPts val="600"/>
              </a:spcAft>
              <a:buClrTx/>
            </a:pPr>
            <a:r>
              <a:rPr lang="en" sz="2200" dirty="0">
                <a:solidFill>
                  <a:schemeClr val="tx1"/>
                </a:solidFill>
                <a:latin typeface="Aptos" panose="020B0004020202020204" pitchFamily="34" charset="0"/>
              </a:rPr>
              <a:t>Later, </a:t>
            </a:r>
            <a:r>
              <a:rPr lang="en-US" sz="2200" dirty="0">
                <a:solidFill>
                  <a:schemeClr val="tx1"/>
                </a:solidFill>
                <a:latin typeface="Aptos" panose="020B0004020202020204" pitchFamily="34" charset="0"/>
              </a:rPr>
              <a:t>DNS queries return an incorrect response, and users are directed to the wrong websites</a:t>
            </a:r>
            <a:endParaRPr lang="en" sz="2200" dirty="0">
              <a:solidFill>
                <a:schemeClr val="tx1"/>
              </a:solidFill>
              <a:latin typeface="Aptos" panose="020B0004020202020204" pitchFamily="34" charset="0"/>
            </a:endParaRPr>
          </a:p>
          <a:p>
            <a:pPr marL="457200" indent="-342900">
              <a:spcAft>
                <a:spcPts val="600"/>
              </a:spcAft>
              <a:buClrTx/>
            </a:pPr>
            <a:r>
              <a:rPr lang="en-US" sz="2000" dirty="0">
                <a:solidFill>
                  <a:schemeClr val="tx1"/>
                </a:solidFill>
                <a:latin typeface="Aptos" panose="020B0004020202020204" pitchFamily="34" charset="0"/>
              </a:rPr>
              <a:t>Example: Supply a malicious record mapping the attacker’s IP address to a legitimate domain</a:t>
            </a:r>
          </a:p>
          <a:p>
            <a:pPr marL="1066784" lvl="2" indent="-342900">
              <a:spcAft>
                <a:spcPts val="600"/>
              </a:spcAft>
              <a:buClrTx/>
              <a:buSzPts val="1800"/>
              <a:buFont typeface="Arial"/>
              <a:buChar char="●"/>
            </a:pPr>
            <a:r>
              <a:rPr lang="en-US" sz="2000" dirty="0">
                <a:solidFill>
                  <a:schemeClr val="tx1"/>
                </a:solidFill>
                <a:latin typeface="Aptos" panose="020B0004020202020204" pitchFamily="34" charset="0"/>
              </a:rPr>
              <a:t>Now when the victim visits </a:t>
            </a:r>
            <a:r>
              <a:rPr lang="en-US" sz="2000" dirty="0">
                <a:solidFill>
                  <a:schemeClr val="tx1"/>
                </a:solidFill>
                <a:latin typeface="Aptos" panose="020B0004020202020204" pitchFamily="34" charset="0"/>
                <a:sym typeface="Courier New"/>
              </a:rPr>
              <a:t>google.com</a:t>
            </a:r>
            <a:r>
              <a:rPr lang="en-US" sz="2000" dirty="0">
                <a:solidFill>
                  <a:schemeClr val="tx1"/>
                </a:solidFill>
                <a:latin typeface="Aptos" panose="020B0004020202020204" pitchFamily="34" charset="0"/>
              </a:rPr>
              <a:t>, they’ll actually be sending packets to the attacker (</a:t>
            </a:r>
            <a:r>
              <a:rPr lang="en-US" sz="2000" b="1" i="1" dirty="0">
                <a:solidFill>
                  <a:srgbClr val="C00000"/>
                </a:solidFill>
                <a:latin typeface="Courier New" panose="02070309020205020404" pitchFamily="49" charset="0"/>
                <a:cs typeface="Courier New" panose="02070309020205020404" pitchFamily="49" charset="0"/>
                <a:sym typeface="Courier New"/>
              </a:rPr>
              <a:t>6.6.6.6</a:t>
            </a:r>
            <a:r>
              <a:rPr lang="en-US" sz="2000" dirty="0">
                <a:solidFill>
                  <a:schemeClr val="tx1"/>
                </a:solidFill>
                <a:latin typeface="Aptos" panose="020B0004020202020204" pitchFamily="34" charset="0"/>
              </a:rPr>
              <a:t>), who can launch the </a:t>
            </a:r>
            <a:r>
              <a:rPr lang="en-US" sz="2000" b="1" dirty="0">
                <a:solidFill>
                  <a:schemeClr val="tx1"/>
                </a:solidFill>
                <a:latin typeface="Aptos" panose="020B0004020202020204" pitchFamily="34" charset="0"/>
              </a:rPr>
              <a:t>MITM attack</a:t>
            </a:r>
            <a:r>
              <a:rPr lang="en-US" sz="2000" dirty="0">
                <a:solidFill>
                  <a:schemeClr val="tx1"/>
                </a:solidFill>
                <a:latin typeface="Aptos" panose="020B0004020202020204" pitchFamily="34" charset="0"/>
              </a:rPr>
              <a:t>!</a:t>
            </a:r>
          </a:p>
        </p:txBody>
      </p:sp>
      <p:grpSp>
        <p:nvGrpSpPr>
          <p:cNvPr id="64" name="Group 63">
            <a:extLst>
              <a:ext uri="{FF2B5EF4-FFF2-40B4-BE49-F238E27FC236}">
                <a16:creationId xmlns:a16="http://schemas.microsoft.com/office/drawing/2014/main" id="{ACA21E93-D989-C3F1-B3AE-0A617C38B1D7}"/>
              </a:ext>
            </a:extLst>
          </p:cNvPr>
          <p:cNvGrpSpPr/>
          <p:nvPr/>
        </p:nvGrpSpPr>
        <p:grpSpPr>
          <a:xfrm>
            <a:off x="6522084" y="541747"/>
            <a:ext cx="5586260" cy="2887253"/>
            <a:chOff x="6522084" y="541747"/>
            <a:chExt cx="5586260" cy="2887253"/>
          </a:xfrm>
        </p:grpSpPr>
        <p:grpSp>
          <p:nvGrpSpPr>
            <p:cNvPr id="14" name="Group 13">
              <a:extLst>
                <a:ext uri="{FF2B5EF4-FFF2-40B4-BE49-F238E27FC236}">
                  <a16:creationId xmlns:a16="http://schemas.microsoft.com/office/drawing/2014/main" id="{A2F9A58D-1CD2-07D5-7AB4-DDE64CAB84F9}"/>
                </a:ext>
              </a:extLst>
            </p:cNvPr>
            <p:cNvGrpSpPr/>
            <p:nvPr/>
          </p:nvGrpSpPr>
          <p:grpSpPr>
            <a:xfrm>
              <a:off x="8017192" y="2540361"/>
              <a:ext cx="685800" cy="888639"/>
              <a:chOff x="7067550" y="2091546"/>
              <a:chExt cx="685800" cy="888639"/>
            </a:xfrm>
          </p:grpSpPr>
          <p:pic>
            <p:nvPicPr>
              <p:cNvPr id="10" name="Picture 9">
                <a:extLst>
                  <a:ext uri="{FF2B5EF4-FFF2-40B4-BE49-F238E27FC236}">
                    <a16:creationId xmlns:a16="http://schemas.microsoft.com/office/drawing/2014/main" id="{17A835DC-E0C8-19CA-71CF-01D3B382BAFF}"/>
                  </a:ext>
                </a:extLst>
              </p:cNvPr>
              <p:cNvPicPr>
                <a:picLocks noChangeAspect="1"/>
              </p:cNvPicPr>
              <p:nvPr/>
            </p:nvPicPr>
            <p:blipFill>
              <a:blip r:embed="rId3"/>
              <a:stretch>
                <a:fillRect/>
              </a:stretch>
            </p:blipFill>
            <p:spPr>
              <a:xfrm>
                <a:off x="7092315" y="2091546"/>
                <a:ext cx="640080" cy="709012"/>
              </a:xfrm>
              <a:prstGeom prst="rect">
                <a:avLst/>
              </a:prstGeom>
            </p:spPr>
          </p:pic>
          <p:sp>
            <p:nvSpPr>
              <p:cNvPr id="11" name="TextBox 10">
                <a:extLst>
                  <a:ext uri="{FF2B5EF4-FFF2-40B4-BE49-F238E27FC236}">
                    <a16:creationId xmlns:a16="http://schemas.microsoft.com/office/drawing/2014/main" id="{BCA3D94D-5237-B5D7-59FD-FDA0418A8CFF}"/>
                  </a:ext>
                </a:extLst>
              </p:cNvPr>
              <p:cNvSpPr txBox="1"/>
              <p:nvPr/>
            </p:nvSpPr>
            <p:spPr>
              <a:xfrm>
                <a:off x="7067550" y="2733964"/>
                <a:ext cx="685800" cy="246221"/>
              </a:xfrm>
              <a:prstGeom prst="rect">
                <a:avLst/>
              </a:prstGeom>
              <a:noFill/>
            </p:spPr>
            <p:txBody>
              <a:bodyPr wrap="square" rtlCol="0">
                <a:spAutoFit/>
              </a:bodyPr>
              <a:lstStyle/>
              <a:p>
                <a:pPr algn="ctr"/>
                <a:r>
                  <a:rPr lang="en-US" sz="1000"/>
                  <a:t>Attacker</a:t>
                </a:r>
              </a:p>
            </p:txBody>
          </p:sp>
        </p:grpSp>
        <p:grpSp>
          <p:nvGrpSpPr>
            <p:cNvPr id="18" name="Group 17">
              <a:extLst>
                <a:ext uri="{FF2B5EF4-FFF2-40B4-BE49-F238E27FC236}">
                  <a16:creationId xmlns:a16="http://schemas.microsoft.com/office/drawing/2014/main" id="{3D36B9EA-2CBF-0708-17EB-429A77FB59C9}"/>
                </a:ext>
              </a:extLst>
            </p:cNvPr>
            <p:cNvGrpSpPr/>
            <p:nvPr/>
          </p:nvGrpSpPr>
          <p:grpSpPr>
            <a:xfrm>
              <a:off x="7774304" y="1112025"/>
              <a:ext cx="1171575" cy="994140"/>
              <a:chOff x="6182200" y="2971800"/>
              <a:chExt cx="1171575" cy="994140"/>
            </a:xfrm>
          </p:grpSpPr>
          <p:pic>
            <p:nvPicPr>
              <p:cNvPr id="16" name="Picture 15">
                <a:extLst>
                  <a:ext uri="{FF2B5EF4-FFF2-40B4-BE49-F238E27FC236}">
                    <a16:creationId xmlns:a16="http://schemas.microsoft.com/office/drawing/2014/main" id="{8CAA6738-CE0C-D99E-1DA1-27AEFFAFD229}"/>
                  </a:ext>
                </a:extLst>
              </p:cNvPr>
              <p:cNvPicPr>
                <a:picLocks noChangeAspect="1"/>
              </p:cNvPicPr>
              <p:nvPr/>
            </p:nvPicPr>
            <p:blipFill rotWithShape="1">
              <a:blip r:embed="rId4"/>
              <a:srcRect b="34166"/>
              <a:stretch/>
            </p:blipFill>
            <p:spPr>
              <a:xfrm>
                <a:off x="6182200" y="2971800"/>
                <a:ext cx="1171575" cy="601980"/>
              </a:xfrm>
              <a:prstGeom prst="rect">
                <a:avLst/>
              </a:prstGeom>
            </p:spPr>
          </p:pic>
          <p:sp>
            <p:nvSpPr>
              <p:cNvPr id="17" name="TextBox 16">
                <a:extLst>
                  <a:ext uri="{FF2B5EF4-FFF2-40B4-BE49-F238E27FC236}">
                    <a16:creationId xmlns:a16="http://schemas.microsoft.com/office/drawing/2014/main" id="{24D94A66-430B-6B95-86DF-6401CFDCFB06}"/>
                  </a:ext>
                </a:extLst>
              </p:cNvPr>
              <p:cNvSpPr txBox="1"/>
              <p:nvPr/>
            </p:nvSpPr>
            <p:spPr>
              <a:xfrm>
                <a:off x="6265067" y="3565830"/>
                <a:ext cx="1005840" cy="400110"/>
              </a:xfrm>
              <a:prstGeom prst="rect">
                <a:avLst/>
              </a:prstGeom>
              <a:noFill/>
            </p:spPr>
            <p:txBody>
              <a:bodyPr wrap="square" rtlCol="0">
                <a:spAutoFit/>
              </a:bodyPr>
              <a:lstStyle/>
              <a:p>
                <a:pPr algn="ctr"/>
                <a:r>
                  <a:rPr lang="en-US" sz="1000"/>
                  <a:t>Recursive Resolver</a:t>
                </a:r>
              </a:p>
            </p:txBody>
          </p:sp>
        </p:grpSp>
        <p:grpSp>
          <p:nvGrpSpPr>
            <p:cNvPr id="19" name="Group 18">
              <a:extLst>
                <a:ext uri="{FF2B5EF4-FFF2-40B4-BE49-F238E27FC236}">
                  <a16:creationId xmlns:a16="http://schemas.microsoft.com/office/drawing/2014/main" id="{0B052199-C886-7306-DC78-D0E2A72EE14A}"/>
                </a:ext>
              </a:extLst>
            </p:cNvPr>
            <p:cNvGrpSpPr/>
            <p:nvPr/>
          </p:nvGrpSpPr>
          <p:grpSpPr>
            <a:xfrm>
              <a:off x="10936769" y="1112025"/>
              <a:ext cx="1171575" cy="994140"/>
              <a:chOff x="6182200" y="2971800"/>
              <a:chExt cx="1171575" cy="994140"/>
            </a:xfrm>
          </p:grpSpPr>
          <p:pic>
            <p:nvPicPr>
              <p:cNvPr id="20" name="Picture 19">
                <a:extLst>
                  <a:ext uri="{FF2B5EF4-FFF2-40B4-BE49-F238E27FC236}">
                    <a16:creationId xmlns:a16="http://schemas.microsoft.com/office/drawing/2014/main" id="{3725B083-A007-B774-0F14-7217575312B2}"/>
                  </a:ext>
                </a:extLst>
              </p:cNvPr>
              <p:cNvPicPr>
                <a:picLocks noChangeAspect="1"/>
              </p:cNvPicPr>
              <p:nvPr/>
            </p:nvPicPr>
            <p:blipFill rotWithShape="1">
              <a:blip r:embed="rId4"/>
              <a:srcRect b="34166"/>
              <a:stretch/>
            </p:blipFill>
            <p:spPr>
              <a:xfrm>
                <a:off x="6182200" y="2971800"/>
                <a:ext cx="1171575" cy="601980"/>
              </a:xfrm>
              <a:prstGeom prst="rect">
                <a:avLst/>
              </a:prstGeom>
            </p:spPr>
          </p:pic>
          <p:sp>
            <p:nvSpPr>
              <p:cNvPr id="21" name="TextBox 20">
                <a:extLst>
                  <a:ext uri="{FF2B5EF4-FFF2-40B4-BE49-F238E27FC236}">
                    <a16:creationId xmlns:a16="http://schemas.microsoft.com/office/drawing/2014/main" id="{F31CB930-A6DF-C18C-5B8A-B01A94A8270F}"/>
                  </a:ext>
                </a:extLst>
              </p:cNvPr>
              <p:cNvSpPr txBox="1"/>
              <p:nvPr/>
            </p:nvSpPr>
            <p:spPr>
              <a:xfrm>
                <a:off x="6265067" y="3565830"/>
                <a:ext cx="1005840" cy="400110"/>
              </a:xfrm>
              <a:prstGeom prst="rect">
                <a:avLst/>
              </a:prstGeom>
              <a:noFill/>
            </p:spPr>
            <p:txBody>
              <a:bodyPr wrap="square" rtlCol="0">
                <a:spAutoFit/>
              </a:bodyPr>
              <a:lstStyle/>
              <a:p>
                <a:pPr algn="ctr"/>
                <a:r>
                  <a:rPr lang="en-US" sz="1000"/>
                  <a:t>Authoritative Name Server</a:t>
                </a:r>
              </a:p>
            </p:txBody>
          </p:sp>
        </p:grpSp>
        <p:cxnSp>
          <p:nvCxnSpPr>
            <p:cNvPr id="23" name="Connector: Curved 22">
              <a:extLst>
                <a:ext uri="{FF2B5EF4-FFF2-40B4-BE49-F238E27FC236}">
                  <a16:creationId xmlns:a16="http://schemas.microsoft.com/office/drawing/2014/main" id="{C02F21F4-141A-C9A0-E04C-2D4CFCF26DD8}"/>
                </a:ext>
              </a:extLst>
            </p:cNvPr>
            <p:cNvCxnSpPr>
              <a:stCxn id="10" idx="1"/>
              <a:endCxn id="16" idx="1"/>
            </p:cNvCxnSpPr>
            <p:nvPr/>
          </p:nvCxnSpPr>
          <p:spPr>
            <a:xfrm rot="10800000">
              <a:off x="7774305" y="1413015"/>
              <a:ext cx="267653" cy="1481852"/>
            </a:xfrm>
            <a:prstGeom prst="curvedConnector3">
              <a:avLst>
                <a:gd name="adj1" fmla="val 406524"/>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or: Curved 25">
              <a:extLst>
                <a:ext uri="{FF2B5EF4-FFF2-40B4-BE49-F238E27FC236}">
                  <a16:creationId xmlns:a16="http://schemas.microsoft.com/office/drawing/2014/main" id="{1D7F371F-371A-B40A-9396-CA0944E513C7}"/>
                </a:ext>
              </a:extLst>
            </p:cNvPr>
            <p:cNvCxnSpPr>
              <a:stCxn id="10" idx="3"/>
              <a:endCxn id="16" idx="3"/>
            </p:cNvCxnSpPr>
            <p:nvPr/>
          </p:nvCxnSpPr>
          <p:spPr>
            <a:xfrm flipV="1">
              <a:off x="8682037" y="1413015"/>
              <a:ext cx="263842" cy="1481852"/>
            </a:xfrm>
            <a:prstGeom prst="curvedConnector3">
              <a:avLst>
                <a:gd name="adj1" fmla="val 411914"/>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Google Shape;216;p30">
              <a:extLst>
                <a:ext uri="{FF2B5EF4-FFF2-40B4-BE49-F238E27FC236}">
                  <a16:creationId xmlns:a16="http://schemas.microsoft.com/office/drawing/2014/main" id="{A4813E02-F46A-E483-971D-E1C06EA7DED7}"/>
                </a:ext>
              </a:extLst>
            </p:cNvPr>
            <p:cNvSpPr txBox="1"/>
            <p:nvPr/>
          </p:nvSpPr>
          <p:spPr>
            <a:xfrm>
              <a:off x="6522084" y="1926752"/>
              <a:ext cx="1754506" cy="524778"/>
            </a:xfrm>
            <a:prstGeom prst="rect">
              <a:avLst/>
            </a:prstGeom>
            <a:solidFill>
              <a:schemeClr val="bg1"/>
            </a:solidFill>
            <a:ln w="19050" cap="flat" cmpd="sng">
              <a:no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rgbClr val="FF0000"/>
                  </a:solidFill>
                </a:rPr>
                <a:t>What is the IP address of </a:t>
              </a:r>
              <a:r>
                <a:rPr lang="en" sz="1200" b="1" dirty="0">
                  <a:solidFill>
                    <a:srgbClr val="FF0000"/>
                  </a:solidFill>
                  <a:latin typeface="Courier New"/>
                  <a:ea typeface="Courier New"/>
                  <a:cs typeface="Courier New"/>
                  <a:sym typeface="Courier New"/>
                </a:rPr>
                <a:t>google.com</a:t>
              </a:r>
              <a:r>
                <a:rPr lang="en" sz="1200" dirty="0">
                  <a:solidFill>
                    <a:srgbClr val="FF0000"/>
                  </a:solidFill>
                </a:rPr>
                <a:t>?</a:t>
              </a:r>
              <a:endParaRPr sz="1200" dirty="0">
                <a:solidFill>
                  <a:srgbClr val="FF0000"/>
                </a:solidFill>
              </a:endParaRPr>
            </a:p>
          </p:txBody>
        </p:sp>
        <p:sp>
          <p:nvSpPr>
            <p:cNvPr id="29" name="Google Shape;216;p30">
              <a:extLst>
                <a:ext uri="{FF2B5EF4-FFF2-40B4-BE49-F238E27FC236}">
                  <a16:creationId xmlns:a16="http://schemas.microsoft.com/office/drawing/2014/main" id="{5E215F67-F279-0322-7962-3DCA1B9DD724}"/>
                </a:ext>
              </a:extLst>
            </p:cNvPr>
            <p:cNvSpPr txBox="1"/>
            <p:nvPr/>
          </p:nvSpPr>
          <p:spPr>
            <a:xfrm>
              <a:off x="8702992" y="1913547"/>
              <a:ext cx="1900716" cy="673148"/>
            </a:xfrm>
            <a:prstGeom prst="rect">
              <a:avLst/>
            </a:prstGeom>
            <a:solidFill>
              <a:schemeClr val="bg1"/>
            </a:solidFill>
            <a:ln w="19050" cap="flat" cmpd="sng">
              <a:no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rgbClr val="FF0000"/>
                  </a:solidFill>
                </a:rPr>
                <a:t>Hi, I am an authoritative name server. IP address is </a:t>
              </a:r>
              <a:r>
                <a:rPr lang="en" sz="1200" b="1" dirty="0">
                  <a:solidFill>
                    <a:srgbClr val="FF0000"/>
                  </a:solidFill>
                </a:rPr>
                <a:t>6.6.6.6</a:t>
              </a:r>
              <a:endParaRPr sz="1200" b="1" dirty="0">
                <a:solidFill>
                  <a:srgbClr val="FF0000"/>
                </a:solidFill>
              </a:endParaRPr>
            </a:p>
          </p:txBody>
        </p:sp>
        <p:sp>
          <p:nvSpPr>
            <p:cNvPr id="30" name="Google Shape;216;p30">
              <a:extLst>
                <a:ext uri="{FF2B5EF4-FFF2-40B4-BE49-F238E27FC236}">
                  <a16:creationId xmlns:a16="http://schemas.microsoft.com/office/drawing/2014/main" id="{46766E59-3F80-6902-9237-9850DC4F7D9C}"/>
                </a:ext>
              </a:extLst>
            </p:cNvPr>
            <p:cNvSpPr txBox="1"/>
            <p:nvPr/>
          </p:nvSpPr>
          <p:spPr>
            <a:xfrm>
              <a:off x="8945879" y="541747"/>
              <a:ext cx="1900717" cy="497790"/>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200"/>
                <a:t>What is the IP address of </a:t>
              </a:r>
              <a:r>
                <a:rPr lang="en" sz="1200" b="1">
                  <a:latin typeface="Courier New"/>
                  <a:ea typeface="Courier New"/>
                  <a:cs typeface="Courier New"/>
                  <a:sym typeface="Courier New"/>
                </a:rPr>
                <a:t>google.com</a:t>
              </a:r>
              <a:r>
                <a:rPr lang="en" sz="1200"/>
                <a:t>?</a:t>
              </a:r>
              <a:endParaRPr sz="1200"/>
            </a:p>
          </p:txBody>
        </p:sp>
        <p:cxnSp>
          <p:nvCxnSpPr>
            <p:cNvPr id="32" name="Straight Arrow Connector 31">
              <a:extLst>
                <a:ext uri="{FF2B5EF4-FFF2-40B4-BE49-F238E27FC236}">
                  <a16:creationId xmlns:a16="http://schemas.microsoft.com/office/drawing/2014/main" id="{23713A4A-D0CF-C582-EE7B-2831FD82578E}"/>
                </a:ext>
              </a:extLst>
            </p:cNvPr>
            <p:cNvCxnSpPr>
              <a:cxnSpLocks/>
            </p:cNvCxnSpPr>
            <p:nvPr/>
          </p:nvCxnSpPr>
          <p:spPr>
            <a:xfrm>
              <a:off x="9090660" y="1268684"/>
              <a:ext cx="184610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A15C6DF0-90F8-0141-EF52-7198B90EB4E1}"/>
                </a:ext>
              </a:extLst>
            </p:cNvPr>
            <p:cNvCxnSpPr>
              <a:cxnSpLocks/>
              <a:stCxn id="20" idx="1"/>
            </p:cNvCxnSpPr>
            <p:nvPr/>
          </p:nvCxnSpPr>
          <p:spPr>
            <a:xfrm flipH="1">
              <a:off x="9570720" y="1413015"/>
              <a:ext cx="136604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Google Shape;219;p30">
              <a:extLst>
                <a:ext uri="{FF2B5EF4-FFF2-40B4-BE49-F238E27FC236}">
                  <a16:creationId xmlns:a16="http://schemas.microsoft.com/office/drawing/2014/main" id="{31C2C182-84C9-CC04-9E14-60F711B7B456}"/>
                </a:ext>
              </a:extLst>
            </p:cNvPr>
            <p:cNvSpPr txBox="1"/>
            <p:nvPr/>
          </p:nvSpPr>
          <p:spPr>
            <a:xfrm>
              <a:off x="9697516" y="1470012"/>
              <a:ext cx="1149080" cy="285091"/>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200" b="1">
                  <a:solidFill>
                    <a:schemeClr val="dk1"/>
                  </a:solidFill>
                  <a:latin typeface="Courier New"/>
                  <a:ea typeface="Courier New"/>
                  <a:cs typeface="Courier New"/>
                  <a:sym typeface="Courier New"/>
                </a:rPr>
                <a:t>8.8.8.8</a:t>
              </a:r>
              <a:endParaRPr sz="1200">
                <a:solidFill>
                  <a:schemeClr val="dk1"/>
                </a:solidFill>
              </a:endParaRPr>
            </a:p>
          </p:txBody>
        </p:sp>
      </p:grpSp>
      <p:grpSp>
        <p:nvGrpSpPr>
          <p:cNvPr id="63" name="Group 62">
            <a:extLst>
              <a:ext uri="{FF2B5EF4-FFF2-40B4-BE49-F238E27FC236}">
                <a16:creationId xmlns:a16="http://schemas.microsoft.com/office/drawing/2014/main" id="{DE10F512-3306-B273-169F-8911D7BC7288}"/>
              </a:ext>
            </a:extLst>
          </p:cNvPr>
          <p:cNvGrpSpPr/>
          <p:nvPr/>
        </p:nvGrpSpPr>
        <p:grpSpPr>
          <a:xfrm>
            <a:off x="7458992" y="3537285"/>
            <a:ext cx="4586804" cy="3168251"/>
            <a:chOff x="7687669" y="3689749"/>
            <a:chExt cx="4586804" cy="3168251"/>
          </a:xfrm>
        </p:grpSpPr>
        <p:grpSp>
          <p:nvGrpSpPr>
            <p:cNvPr id="38" name="Group 37">
              <a:extLst>
                <a:ext uri="{FF2B5EF4-FFF2-40B4-BE49-F238E27FC236}">
                  <a16:creationId xmlns:a16="http://schemas.microsoft.com/office/drawing/2014/main" id="{EC2FCC74-8B0D-33CB-E835-18FA7CC36A15}"/>
                </a:ext>
              </a:extLst>
            </p:cNvPr>
            <p:cNvGrpSpPr/>
            <p:nvPr/>
          </p:nvGrpSpPr>
          <p:grpSpPr>
            <a:xfrm>
              <a:off x="10876761" y="4157805"/>
              <a:ext cx="1171575" cy="994140"/>
              <a:chOff x="6182200" y="2971800"/>
              <a:chExt cx="1171575" cy="994140"/>
            </a:xfrm>
          </p:grpSpPr>
          <p:pic>
            <p:nvPicPr>
              <p:cNvPr id="39" name="Picture 38">
                <a:extLst>
                  <a:ext uri="{FF2B5EF4-FFF2-40B4-BE49-F238E27FC236}">
                    <a16:creationId xmlns:a16="http://schemas.microsoft.com/office/drawing/2014/main" id="{A5FBC873-658C-C6BB-0507-F6272560EE64}"/>
                  </a:ext>
                </a:extLst>
              </p:cNvPr>
              <p:cNvPicPr>
                <a:picLocks noChangeAspect="1"/>
              </p:cNvPicPr>
              <p:nvPr/>
            </p:nvPicPr>
            <p:blipFill rotWithShape="1">
              <a:blip r:embed="rId4"/>
              <a:srcRect b="34166"/>
              <a:stretch/>
            </p:blipFill>
            <p:spPr>
              <a:xfrm>
                <a:off x="6182200" y="2971800"/>
                <a:ext cx="1171575" cy="601980"/>
              </a:xfrm>
              <a:prstGeom prst="rect">
                <a:avLst/>
              </a:prstGeom>
            </p:spPr>
          </p:pic>
          <p:sp>
            <p:nvSpPr>
              <p:cNvPr id="40" name="TextBox 39">
                <a:extLst>
                  <a:ext uri="{FF2B5EF4-FFF2-40B4-BE49-F238E27FC236}">
                    <a16:creationId xmlns:a16="http://schemas.microsoft.com/office/drawing/2014/main" id="{C26443B5-78F5-030C-8BA6-A382C20B8D8E}"/>
                  </a:ext>
                </a:extLst>
              </p:cNvPr>
              <p:cNvSpPr txBox="1"/>
              <p:nvPr/>
            </p:nvSpPr>
            <p:spPr>
              <a:xfrm>
                <a:off x="6265067" y="3565830"/>
                <a:ext cx="1005840" cy="400110"/>
              </a:xfrm>
              <a:prstGeom prst="rect">
                <a:avLst/>
              </a:prstGeom>
              <a:noFill/>
            </p:spPr>
            <p:txBody>
              <a:bodyPr wrap="square" rtlCol="0">
                <a:spAutoFit/>
              </a:bodyPr>
              <a:lstStyle/>
              <a:p>
                <a:pPr algn="ctr"/>
                <a:r>
                  <a:rPr lang="en-US" sz="1000"/>
                  <a:t>Recursive Resolver</a:t>
                </a:r>
              </a:p>
            </p:txBody>
          </p:sp>
        </p:grpSp>
        <p:grpSp>
          <p:nvGrpSpPr>
            <p:cNvPr id="44" name="Group 43">
              <a:extLst>
                <a:ext uri="{FF2B5EF4-FFF2-40B4-BE49-F238E27FC236}">
                  <a16:creationId xmlns:a16="http://schemas.microsoft.com/office/drawing/2014/main" id="{E6FEBEBB-918D-7429-877E-2A6CEB061043}"/>
                </a:ext>
              </a:extLst>
            </p:cNvPr>
            <p:cNvGrpSpPr/>
            <p:nvPr/>
          </p:nvGrpSpPr>
          <p:grpSpPr>
            <a:xfrm>
              <a:off x="7888604" y="4104041"/>
              <a:ext cx="914400" cy="785788"/>
              <a:chOff x="8041957" y="4209555"/>
              <a:chExt cx="914400" cy="785788"/>
            </a:xfrm>
          </p:grpSpPr>
          <p:pic>
            <p:nvPicPr>
              <p:cNvPr id="42" name="Picture 41">
                <a:extLst>
                  <a:ext uri="{FF2B5EF4-FFF2-40B4-BE49-F238E27FC236}">
                    <a16:creationId xmlns:a16="http://schemas.microsoft.com/office/drawing/2014/main" id="{6639A582-E7D3-1C75-A26D-B25FA5FEDFF6}"/>
                  </a:ext>
                </a:extLst>
              </p:cNvPr>
              <p:cNvPicPr>
                <a:picLocks noChangeAspect="1"/>
              </p:cNvPicPr>
              <p:nvPr/>
            </p:nvPicPr>
            <p:blipFill>
              <a:blip r:embed="rId5"/>
              <a:stretch>
                <a:fillRect/>
              </a:stretch>
            </p:blipFill>
            <p:spPr>
              <a:xfrm>
                <a:off x="8041957" y="4209555"/>
                <a:ext cx="914400" cy="642938"/>
              </a:xfrm>
              <a:prstGeom prst="rect">
                <a:avLst/>
              </a:prstGeom>
            </p:spPr>
          </p:pic>
          <p:sp>
            <p:nvSpPr>
              <p:cNvPr id="43" name="TextBox 42">
                <a:extLst>
                  <a:ext uri="{FF2B5EF4-FFF2-40B4-BE49-F238E27FC236}">
                    <a16:creationId xmlns:a16="http://schemas.microsoft.com/office/drawing/2014/main" id="{8ADDE21A-991A-6329-65A7-A053CC34D67E}"/>
                  </a:ext>
                </a:extLst>
              </p:cNvPr>
              <p:cNvSpPr txBox="1"/>
              <p:nvPr/>
            </p:nvSpPr>
            <p:spPr>
              <a:xfrm>
                <a:off x="8156257" y="4749122"/>
                <a:ext cx="685800" cy="246221"/>
              </a:xfrm>
              <a:prstGeom prst="rect">
                <a:avLst/>
              </a:prstGeom>
              <a:noFill/>
            </p:spPr>
            <p:txBody>
              <a:bodyPr wrap="square" rtlCol="0">
                <a:spAutoFit/>
              </a:bodyPr>
              <a:lstStyle/>
              <a:p>
                <a:pPr algn="ctr"/>
                <a:r>
                  <a:rPr lang="en-US" sz="1000"/>
                  <a:t>User</a:t>
                </a:r>
              </a:p>
            </p:txBody>
          </p:sp>
        </p:grpSp>
        <p:sp>
          <p:nvSpPr>
            <p:cNvPr id="49" name="Google Shape;216;p30">
              <a:extLst>
                <a:ext uri="{FF2B5EF4-FFF2-40B4-BE49-F238E27FC236}">
                  <a16:creationId xmlns:a16="http://schemas.microsoft.com/office/drawing/2014/main" id="{D0401456-8DC7-4855-B2C1-6C7BF31451F0}"/>
                </a:ext>
              </a:extLst>
            </p:cNvPr>
            <p:cNvSpPr txBox="1"/>
            <p:nvPr/>
          </p:nvSpPr>
          <p:spPr>
            <a:xfrm>
              <a:off x="8864996" y="3689749"/>
              <a:ext cx="1900717" cy="497790"/>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t>What is the IP address of </a:t>
              </a:r>
              <a:r>
                <a:rPr lang="en" sz="1200" b="1" dirty="0">
                  <a:latin typeface="Courier New"/>
                  <a:ea typeface="Courier New"/>
                  <a:cs typeface="Courier New"/>
                  <a:sym typeface="Courier New"/>
                </a:rPr>
                <a:t>google.com</a:t>
              </a:r>
              <a:r>
                <a:rPr lang="en" sz="1200" dirty="0"/>
                <a:t>?</a:t>
              </a:r>
              <a:endParaRPr sz="1200" dirty="0"/>
            </a:p>
          </p:txBody>
        </p:sp>
        <p:cxnSp>
          <p:nvCxnSpPr>
            <p:cNvPr id="50" name="Straight Arrow Connector 49">
              <a:extLst>
                <a:ext uri="{FF2B5EF4-FFF2-40B4-BE49-F238E27FC236}">
                  <a16:creationId xmlns:a16="http://schemas.microsoft.com/office/drawing/2014/main" id="{BF754B2F-47B5-2B83-2F65-797598831306}"/>
                </a:ext>
              </a:extLst>
            </p:cNvPr>
            <p:cNvCxnSpPr>
              <a:cxnSpLocks/>
            </p:cNvCxnSpPr>
            <p:nvPr/>
          </p:nvCxnSpPr>
          <p:spPr>
            <a:xfrm>
              <a:off x="8926911" y="4333188"/>
              <a:ext cx="184610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4680B32F-D787-4D12-5EDF-118803C43262}"/>
                </a:ext>
              </a:extLst>
            </p:cNvPr>
            <p:cNvCxnSpPr>
              <a:cxnSpLocks/>
            </p:cNvCxnSpPr>
            <p:nvPr/>
          </p:nvCxnSpPr>
          <p:spPr>
            <a:xfrm flipH="1">
              <a:off x="8926911" y="4477519"/>
              <a:ext cx="1846109"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2" name="Google Shape;219;p30">
              <a:extLst>
                <a:ext uri="{FF2B5EF4-FFF2-40B4-BE49-F238E27FC236}">
                  <a16:creationId xmlns:a16="http://schemas.microsoft.com/office/drawing/2014/main" id="{B760E6C0-0039-399A-780B-F8C94423242F}"/>
                </a:ext>
              </a:extLst>
            </p:cNvPr>
            <p:cNvSpPr txBox="1"/>
            <p:nvPr/>
          </p:nvSpPr>
          <p:spPr>
            <a:xfrm>
              <a:off x="9145904" y="4566944"/>
              <a:ext cx="1429000" cy="769891"/>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b="1" dirty="0">
                  <a:solidFill>
                    <a:srgbClr val="C00000"/>
                  </a:solidFill>
                  <a:latin typeface="Courier New"/>
                  <a:ea typeface="Courier New"/>
                  <a:cs typeface="Courier New"/>
                  <a:sym typeface="Courier New"/>
                </a:rPr>
                <a:t>6.6.6.6 (cached)</a:t>
              </a:r>
              <a:endParaRPr dirty="0">
                <a:solidFill>
                  <a:srgbClr val="C00000"/>
                </a:solidFill>
              </a:endParaRPr>
            </a:p>
          </p:txBody>
        </p:sp>
        <p:pic>
          <p:nvPicPr>
            <p:cNvPr id="55" name="Picture 54">
              <a:extLst>
                <a:ext uri="{FF2B5EF4-FFF2-40B4-BE49-F238E27FC236}">
                  <a16:creationId xmlns:a16="http://schemas.microsoft.com/office/drawing/2014/main" id="{E00A820A-F1B0-D888-7D1C-0436BA7CFCE9}"/>
                </a:ext>
              </a:extLst>
            </p:cNvPr>
            <p:cNvPicPr>
              <a:picLocks noChangeAspect="1"/>
            </p:cNvPicPr>
            <p:nvPr/>
          </p:nvPicPr>
          <p:blipFill>
            <a:blip r:embed="rId6"/>
            <a:stretch>
              <a:fillRect/>
            </a:stretch>
          </p:blipFill>
          <p:spPr>
            <a:xfrm>
              <a:off x="7845741" y="6010275"/>
              <a:ext cx="1028700" cy="847725"/>
            </a:xfrm>
            <a:prstGeom prst="rect">
              <a:avLst/>
            </a:prstGeom>
          </p:spPr>
        </p:pic>
        <p:pic>
          <p:nvPicPr>
            <p:cNvPr id="57" name="Picture 56">
              <a:extLst>
                <a:ext uri="{FF2B5EF4-FFF2-40B4-BE49-F238E27FC236}">
                  <a16:creationId xmlns:a16="http://schemas.microsoft.com/office/drawing/2014/main" id="{1D4DAFF0-C55D-4D93-2F67-38FE07DD12F3}"/>
                </a:ext>
              </a:extLst>
            </p:cNvPr>
            <p:cNvPicPr>
              <a:picLocks noChangeAspect="1"/>
            </p:cNvPicPr>
            <p:nvPr/>
          </p:nvPicPr>
          <p:blipFill>
            <a:blip r:embed="rId7"/>
            <a:stretch>
              <a:fillRect/>
            </a:stretch>
          </p:blipFill>
          <p:spPr>
            <a:xfrm>
              <a:off x="10996776" y="5990370"/>
              <a:ext cx="1028700" cy="866775"/>
            </a:xfrm>
            <a:prstGeom prst="rect">
              <a:avLst/>
            </a:prstGeom>
          </p:spPr>
        </p:pic>
        <p:sp>
          <p:nvSpPr>
            <p:cNvPr id="58" name="TextBox 57">
              <a:extLst>
                <a:ext uri="{FF2B5EF4-FFF2-40B4-BE49-F238E27FC236}">
                  <a16:creationId xmlns:a16="http://schemas.microsoft.com/office/drawing/2014/main" id="{5CE9CB3F-29EE-0E23-8818-DA928DD36857}"/>
                </a:ext>
              </a:extLst>
            </p:cNvPr>
            <p:cNvSpPr txBox="1"/>
            <p:nvPr/>
          </p:nvSpPr>
          <p:spPr>
            <a:xfrm>
              <a:off x="7687669" y="5659725"/>
              <a:ext cx="1344844" cy="400110"/>
            </a:xfrm>
            <a:prstGeom prst="rect">
              <a:avLst/>
            </a:prstGeom>
            <a:noFill/>
          </p:spPr>
          <p:txBody>
            <a:bodyPr wrap="square" rtlCol="0">
              <a:spAutoFit/>
            </a:bodyPr>
            <a:lstStyle/>
            <a:p>
              <a:pPr algn="ctr"/>
              <a:r>
                <a:rPr lang="en-US" sz="1000">
                  <a:solidFill>
                    <a:srgbClr val="FF0000"/>
                  </a:solidFill>
                </a:rPr>
                <a:t>Malicious website</a:t>
              </a:r>
            </a:p>
            <a:p>
              <a:pPr algn="ctr"/>
              <a:r>
                <a:rPr lang="en-US" sz="1000">
                  <a:solidFill>
                    <a:srgbClr val="FF0000"/>
                  </a:solidFill>
                </a:rPr>
                <a:t>IP address: 6.6.6.6</a:t>
              </a:r>
            </a:p>
          </p:txBody>
        </p:sp>
        <p:sp>
          <p:nvSpPr>
            <p:cNvPr id="59" name="TextBox 58">
              <a:extLst>
                <a:ext uri="{FF2B5EF4-FFF2-40B4-BE49-F238E27FC236}">
                  <a16:creationId xmlns:a16="http://schemas.microsoft.com/office/drawing/2014/main" id="{76AF3F73-4EEF-452E-D3D3-791931EF51F8}"/>
                </a:ext>
              </a:extLst>
            </p:cNvPr>
            <p:cNvSpPr txBox="1"/>
            <p:nvPr/>
          </p:nvSpPr>
          <p:spPr>
            <a:xfrm>
              <a:off x="10747779" y="5659725"/>
              <a:ext cx="1526694" cy="400110"/>
            </a:xfrm>
            <a:prstGeom prst="rect">
              <a:avLst/>
            </a:prstGeom>
            <a:noFill/>
          </p:spPr>
          <p:txBody>
            <a:bodyPr wrap="square" rtlCol="0">
              <a:spAutoFit/>
            </a:bodyPr>
            <a:lstStyle/>
            <a:p>
              <a:pPr algn="ctr"/>
              <a:r>
                <a:rPr lang="en-US" sz="1000"/>
                <a:t>google.com</a:t>
              </a:r>
            </a:p>
            <a:p>
              <a:pPr algn="ctr"/>
              <a:r>
                <a:rPr lang="en-US" sz="1000"/>
                <a:t>IP address:8.8.8.8 </a:t>
              </a:r>
            </a:p>
          </p:txBody>
        </p:sp>
        <p:cxnSp>
          <p:nvCxnSpPr>
            <p:cNvPr id="60" name="Straight Arrow Connector 59">
              <a:extLst>
                <a:ext uri="{FF2B5EF4-FFF2-40B4-BE49-F238E27FC236}">
                  <a16:creationId xmlns:a16="http://schemas.microsoft.com/office/drawing/2014/main" id="{AD36ACA3-11FE-823D-2AD0-05F5F7ABB149}"/>
                </a:ext>
              </a:extLst>
            </p:cNvPr>
            <p:cNvCxnSpPr>
              <a:cxnSpLocks/>
              <a:stCxn id="43" idx="2"/>
              <a:endCxn id="58" idx="0"/>
            </p:cNvCxnSpPr>
            <p:nvPr/>
          </p:nvCxnSpPr>
          <p:spPr>
            <a:xfrm>
              <a:off x="8345804" y="4889829"/>
              <a:ext cx="14287" cy="76989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63746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819;p140">
            <a:extLst>
              <a:ext uri="{FF2B5EF4-FFF2-40B4-BE49-F238E27FC236}">
                <a16:creationId xmlns:a16="http://schemas.microsoft.com/office/drawing/2014/main" id="{A1BBD3EA-B48A-9405-9D84-E991AC00628F}"/>
              </a:ext>
            </a:extLst>
          </p:cNvPr>
          <p:cNvSpPr txBox="1">
            <a:spLocks noGrp="1"/>
          </p:cNvSpPr>
          <p:nvPr>
            <p:ph type="title"/>
          </p:nvPr>
        </p:nvSpPr>
        <p:spPr>
          <a:xfrm>
            <a:off x="409850" y="87989"/>
            <a:ext cx="11360800" cy="903437"/>
          </a:xfrm>
          <a:prstGeom prst="rect">
            <a:avLst/>
          </a:prstGeom>
        </p:spPr>
        <p:txBody>
          <a:bodyPr spcFirstLastPara="1" wrap="square" lIns="121900" tIns="121900" rIns="121900" bIns="121900" anchor="t" anchorCtr="0">
            <a:noAutofit/>
          </a:bodyPr>
          <a:lstStyle/>
          <a:p>
            <a:r>
              <a:rPr lang="en" sz="4400" dirty="0">
                <a:latin typeface="Aptos" panose="020B0004020202020204" pitchFamily="34" charset="0"/>
              </a:rPr>
              <a:t>Security Risk: Malicious Name Servers</a:t>
            </a:r>
            <a:endParaRPr sz="4400" dirty="0">
              <a:latin typeface="Aptos" panose="020B0004020202020204" pitchFamily="34" charset="0"/>
            </a:endParaRPr>
          </a:p>
        </p:txBody>
      </p:sp>
      <p:sp>
        <p:nvSpPr>
          <p:cNvPr id="6" name="Google Shape;806;p66">
            <a:extLst>
              <a:ext uri="{FF2B5EF4-FFF2-40B4-BE49-F238E27FC236}">
                <a16:creationId xmlns:a16="http://schemas.microsoft.com/office/drawing/2014/main" id="{FF277C7A-3A57-2903-CAFC-14DE46BBCB28}"/>
              </a:ext>
            </a:extLst>
          </p:cNvPr>
          <p:cNvSpPr txBox="1">
            <a:spLocks noGrp="1"/>
          </p:cNvSpPr>
          <p:nvPr>
            <p:ph type="body" idx="1"/>
          </p:nvPr>
        </p:nvSpPr>
        <p:spPr>
          <a:xfrm>
            <a:off x="421350" y="931113"/>
            <a:ext cx="11355050" cy="2401180"/>
          </a:xfrm>
          <a:prstGeom prst="rect">
            <a:avLst/>
          </a:prstGeom>
        </p:spPr>
        <p:txBody>
          <a:bodyPr spcFirstLastPara="1" wrap="square" lIns="91425" tIns="91425" rIns="91425" bIns="91425" anchor="t" anchorCtr="0">
            <a:noAutofit/>
          </a:bodyPr>
          <a:lstStyle/>
          <a:p>
            <a:pPr marL="457200" indent="-342900">
              <a:spcAft>
                <a:spcPts val="600"/>
              </a:spcAft>
              <a:buClrTx/>
            </a:pPr>
            <a:r>
              <a:rPr lang="en-US" sz="2200" dirty="0">
                <a:solidFill>
                  <a:schemeClr val="tx1"/>
                </a:solidFill>
                <a:latin typeface="Aptos" panose="020B0004020202020204" pitchFamily="34" charset="0"/>
              </a:rPr>
              <a:t>Malicious name servers can lie and supply a malicious answer</a:t>
            </a:r>
          </a:p>
          <a:p>
            <a:pPr marL="457200" indent="-342900">
              <a:spcAft>
                <a:spcPts val="600"/>
              </a:spcAft>
              <a:buClrTx/>
            </a:pPr>
            <a:r>
              <a:rPr lang="en-US" sz="2200" dirty="0">
                <a:solidFill>
                  <a:schemeClr val="tx1"/>
                </a:solidFill>
                <a:latin typeface="Aptos" panose="020B0004020202020204" pitchFamily="34" charset="0"/>
              </a:rPr>
              <a:t>Malicious records could also poison the cache with </a:t>
            </a:r>
            <a:r>
              <a:rPr lang="en-US" sz="2200" dirty="0">
                <a:solidFill>
                  <a:srgbClr val="C00000"/>
                </a:solidFill>
                <a:latin typeface="Aptos" panose="020B0004020202020204" pitchFamily="34" charset="0"/>
              </a:rPr>
              <a:t>other records</a:t>
            </a:r>
          </a:p>
          <a:p>
            <a:pPr marL="457200" indent="-342900">
              <a:spcAft>
                <a:spcPts val="600"/>
              </a:spcAft>
              <a:buClrTx/>
            </a:pPr>
            <a:r>
              <a:rPr lang="en-US" sz="2200" dirty="0">
                <a:solidFill>
                  <a:schemeClr val="tx1"/>
                </a:solidFill>
                <a:latin typeface="Aptos" panose="020B0004020202020204" pitchFamily="34" charset="0"/>
              </a:rPr>
              <a:t>DNS query results include Additional Records section:</a:t>
            </a:r>
          </a:p>
          <a:p>
            <a:pPr marL="1066785" lvl="1" indent="-342900">
              <a:spcAft>
                <a:spcPts val="600"/>
              </a:spcAft>
              <a:buClrTx/>
              <a:buSzPct val="82000"/>
              <a:buFont typeface="Arial" panose="020B0604020202020204" pitchFamily="34" charset="0"/>
              <a:buChar char="•"/>
            </a:pPr>
            <a:r>
              <a:rPr lang="en-US" sz="2401" dirty="0">
                <a:solidFill>
                  <a:schemeClr val="tx1"/>
                </a:solidFill>
                <a:latin typeface="Aptos" panose="020B0004020202020204" pitchFamily="34" charset="0"/>
              </a:rPr>
              <a:t>Provide records for anticipated next resolution step</a:t>
            </a:r>
          </a:p>
          <a:p>
            <a:pPr marL="457200" indent="-342900">
              <a:spcAft>
                <a:spcPts val="600"/>
              </a:spcAft>
              <a:buClrTx/>
            </a:pPr>
            <a:r>
              <a:rPr lang="en-US" sz="2200" dirty="0">
                <a:solidFill>
                  <a:schemeClr val="tx1"/>
                </a:solidFill>
                <a:latin typeface="Aptos" panose="020B0004020202020204" pitchFamily="34" charset="0"/>
              </a:rPr>
              <a:t>Early servers </a:t>
            </a:r>
            <a:r>
              <a:rPr lang="en-US" sz="2200" i="1" dirty="0">
                <a:solidFill>
                  <a:srgbClr val="C00000"/>
                </a:solidFill>
                <a:latin typeface="Aptos" panose="020B0004020202020204" pitchFamily="34" charset="0"/>
              </a:rPr>
              <a:t>accepted and cached</a:t>
            </a:r>
            <a:r>
              <a:rPr lang="en-US" sz="2200" dirty="0">
                <a:solidFill>
                  <a:schemeClr val="tx1"/>
                </a:solidFill>
                <a:latin typeface="Aptos" panose="020B0004020202020204" pitchFamily="34" charset="0"/>
              </a:rPr>
              <a:t> </a:t>
            </a:r>
            <a:r>
              <a:rPr lang="en-US" sz="2200" i="1" dirty="0">
                <a:solidFill>
                  <a:srgbClr val="C00000"/>
                </a:solidFill>
                <a:latin typeface="Aptos" panose="020B0004020202020204" pitchFamily="34" charset="0"/>
              </a:rPr>
              <a:t>all additional records </a:t>
            </a:r>
            <a:r>
              <a:rPr lang="en-US" sz="2200" dirty="0">
                <a:solidFill>
                  <a:schemeClr val="tx1"/>
                </a:solidFill>
                <a:latin typeface="Aptos" panose="020B0004020202020204" pitchFamily="34" charset="0"/>
              </a:rPr>
              <a:t>provided in query response</a:t>
            </a:r>
            <a:endParaRPr sz="2200" dirty="0">
              <a:solidFill>
                <a:schemeClr val="tx1"/>
              </a:solidFill>
              <a:latin typeface="Aptos" panose="020B0004020202020204" pitchFamily="34" charset="0"/>
            </a:endParaRPr>
          </a:p>
        </p:txBody>
      </p:sp>
      <p:grpSp>
        <p:nvGrpSpPr>
          <p:cNvPr id="3" name="Group 2">
            <a:extLst>
              <a:ext uri="{FF2B5EF4-FFF2-40B4-BE49-F238E27FC236}">
                <a16:creationId xmlns:a16="http://schemas.microsoft.com/office/drawing/2014/main" id="{33BCC128-20EB-A122-4740-6F1802953B8F}"/>
              </a:ext>
            </a:extLst>
          </p:cNvPr>
          <p:cNvGrpSpPr/>
          <p:nvPr/>
        </p:nvGrpSpPr>
        <p:grpSpPr>
          <a:xfrm>
            <a:off x="781360" y="3261108"/>
            <a:ext cx="10996460" cy="3508903"/>
            <a:chOff x="781360" y="3261108"/>
            <a:chExt cx="10996460" cy="3508903"/>
          </a:xfrm>
        </p:grpSpPr>
        <p:sp>
          <p:nvSpPr>
            <p:cNvPr id="2" name="Google Shape;808;p66">
              <a:extLst>
                <a:ext uri="{FF2B5EF4-FFF2-40B4-BE49-F238E27FC236}">
                  <a16:creationId xmlns:a16="http://schemas.microsoft.com/office/drawing/2014/main" id="{B79F6E5E-8FFE-265F-E4D6-01BA2A3583A8}"/>
                </a:ext>
              </a:extLst>
            </p:cNvPr>
            <p:cNvSpPr txBox="1">
              <a:spLocks/>
            </p:cNvSpPr>
            <p:nvPr/>
          </p:nvSpPr>
          <p:spPr>
            <a:xfrm>
              <a:off x="781360" y="3261108"/>
              <a:ext cx="8865560" cy="312870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609585" marR="0" lvl="0" indent="-457189"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1219170" marR="0" lvl="1"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2pPr>
              <a:lvl3pPr marL="1828754" marR="0" lvl="2"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3pPr>
              <a:lvl4pPr marL="2438339" marR="0" lvl="3"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4pPr>
              <a:lvl5pPr marL="3047924" marR="0" lvl="4"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5pPr>
              <a:lvl6pPr marL="3657509" marR="0" lvl="5"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6pPr>
              <a:lvl7pPr marL="4267093" marR="0" lvl="6"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7pPr>
              <a:lvl8pPr marL="4876678" marR="0" lvl="7"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8pPr>
              <a:lvl9pPr marL="5486263" marR="0" lvl="8"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9pPr>
            </a:lstStyle>
            <a:p>
              <a:pPr marL="0" indent="0">
                <a:lnSpc>
                  <a:spcPct val="100000"/>
                </a:lnSpc>
                <a:buFont typeface="Arial"/>
                <a:buNone/>
              </a:pPr>
              <a:r>
                <a:rPr lang="en-US" sz="1600" b="1" kern="0" dirty="0">
                  <a:latin typeface="Courier New"/>
                  <a:ea typeface="Courier New"/>
                  <a:cs typeface="Courier New"/>
                  <a:sym typeface="Courier New"/>
                </a:rPr>
                <a:t>$ dig +</a:t>
              </a:r>
              <a:r>
                <a:rPr lang="en-US" sz="1600" b="1" kern="0" dirty="0" err="1">
                  <a:latin typeface="Courier New"/>
                  <a:ea typeface="Courier New"/>
                  <a:cs typeface="Courier New"/>
                  <a:sym typeface="Courier New"/>
                </a:rPr>
                <a:t>norecurse</a:t>
              </a:r>
              <a:r>
                <a:rPr lang="en-US" sz="1600" b="1" kern="0" dirty="0">
                  <a:latin typeface="Courier New"/>
                  <a:ea typeface="Courier New"/>
                  <a:cs typeface="Courier New"/>
                  <a:sym typeface="Courier New"/>
                </a:rPr>
                <a:t> dsac.msoe.edu @128.42.156.7</a:t>
              </a:r>
            </a:p>
            <a:p>
              <a:pPr marL="0" indent="0">
                <a:lnSpc>
                  <a:spcPct val="100000"/>
                </a:lnSpc>
                <a:buFont typeface="Arial"/>
                <a:buNone/>
              </a:pPr>
              <a:endParaRPr lang="en-US" sz="1600" b="1" kern="0" dirty="0">
                <a:latin typeface="Courier New"/>
                <a:ea typeface="Courier New"/>
                <a:cs typeface="Courier New"/>
                <a:sym typeface="Courier New"/>
              </a:endParaRPr>
            </a:p>
            <a:p>
              <a:pPr marL="0" indent="0">
                <a:lnSpc>
                  <a:spcPct val="100000"/>
                </a:lnSpc>
                <a:buFont typeface="Arial"/>
                <a:buNone/>
              </a:pPr>
              <a:r>
                <a:rPr lang="en-US" sz="1600" b="1" kern="0" dirty="0">
                  <a:latin typeface="Courier New"/>
                  <a:ea typeface="Courier New"/>
                  <a:cs typeface="Courier New"/>
                  <a:sym typeface="Courier New"/>
                </a:rPr>
                <a:t>;; Got answer:</a:t>
              </a:r>
            </a:p>
            <a:p>
              <a:pPr marL="0" indent="0">
                <a:lnSpc>
                  <a:spcPct val="100000"/>
                </a:lnSpc>
                <a:buFont typeface="Arial"/>
                <a:buNone/>
              </a:pPr>
              <a:r>
                <a:rPr lang="en-US" sz="1600" b="1" kern="0" dirty="0">
                  <a:latin typeface="Courier New"/>
                  <a:ea typeface="Courier New"/>
                  <a:cs typeface="Courier New"/>
                  <a:sym typeface="Courier New"/>
                </a:rPr>
                <a:t>;; -&gt;&gt;HEADER&lt;&lt;- opcode: QUERY, status: NOERROR, id: 52788</a:t>
              </a:r>
            </a:p>
            <a:p>
              <a:pPr marL="0" indent="0">
                <a:lnSpc>
                  <a:spcPct val="100000"/>
                </a:lnSpc>
                <a:buFont typeface="Arial"/>
                <a:buNone/>
              </a:pPr>
              <a:r>
                <a:rPr lang="en-US" sz="1600" b="1" kern="0" dirty="0">
                  <a:latin typeface="Courier New"/>
                  <a:ea typeface="Courier New"/>
                  <a:cs typeface="Courier New"/>
                  <a:sym typeface="Courier New"/>
                </a:rPr>
                <a:t>;; flags: </a:t>
              </a:r>
              <a:r>
                <a:rPr lang="en-US" sz="1600" b="1" kern="0" dirty="0" err="1">
                  <a:latin typeface="Courier New"/>
                  <a:ea typeface="Courier New"/>
                  <a:cs typeface="Courier New"/>
                  <a:sym typeface="Courier New"/>
                </a:rPr>
                <a:t>qr</a:t>
              </a:r>
              <a:r>
                <a:rPr lang="en-US" sz="1600" b="1" kern="0" dirty="0">
                  <a:latin typeface="Courier New"/>
                  <a:ea typeface="Courier New"/>
                  <a:cs typeface="Courier New"/>
                  <a:sym typeface="Courier New"/>
                </a:rPr>
                <a:t> aa; QUERY: 1, ANSWER: 1, AUTHORITY: 0, ADDITIONAL: 1</a:t>
              </a:r>
            </a:p>
            <a:p>
              <a:pPr marL="0" indent="0">
                <a:lnSpc>
                  <a:spcPct val="100000"/>
                </a:lnSpc>
                <a:buFont typeface="Arial"/>
                <a:buNone/>
              </a:pPr>
              <a:endParaRPr lang="en-US" sz="1600" b="1" kern="0" dirty="0">
                <a:latin typeface="Courier New"/>
                <a:ea typeface="Courier New"/>
                <a:cs typeface="Courier New"/>
                <a:sym typeface="Courier New"/>
              </a:endParaRPr>
            </a:p>
            <a:p>
              <a:pPr marL="0" indent="0">
                <a:lnSpc>
                  <a:spcPct val="100000"/>
                </a:lnSpc>
                <a:buFont typeface="Arial"/>
                <a:buNone/>
              </a:pPr>
              <a:r>
                <a:rPr lang="en-US" sz="1600" b="1" kern="0" dirty="0">
                  <a:latin typeface="Courier New"/>
                  <a:ea typeface="Courier New"/>
                  <a:cs typeface="Courier New"/>
                  <a:sym typeface="Courier New"/>
                </a:rPr>
                <a:t>;; QUESTION SECTION:</a:t>
              </a:r>
            </a:p>
            <a:p>
              <a:pPr marL="0" indent="0">
                <a:lnSpc>
                  <a:spcPct val="100000"/>
                </a:lnSpc>
                <a:buFont typeface="Arial"/>
                <a:buNone/>
              </a:pPr>
              <a:r>
                <a:rPr lang="en-US" sz="1600" b="1" kern="0" dirty="0">
                  <a:latin typeface="Courier New"/>
                  <a:ea typeface="Courier New"/>
                  <a:cs typeface="Courier New"/>
                  <a:sym typeface="Courier New"/>
                </a:rPr>
                <a:t>;dsac.msoe.edu.     	     IN   A</a:t>
              </a:r>
            </a:p>
            <a:p>
              <a:pPr marL="0" indent="0">
                <a:lnSpc>
                  <a:spcPct val="100000"/>
                </a:lnSpc>
                <a:buFont typeface="Arial"/>
                <a:buNone/>
              </a:pPr>
              <a:endParaRPr lang="en-US" sz="1600" b="1" kern="0" dirty="0">
                <a:latin typeface="Courier New"/>
                <a:ea typeface="Courier New"/>
                <a:cs typeface="Courier New"/>
                <a:sym typeface="Courier New"/>
              </a:endParaRPr>
            </a:p>
            <a:p>
              <a:pPr marL="0" indent="0">
                <a:lnSpc>
                  <a:spcPct val="100000"/>
                </a:lnSpc>
                <a:buFont typeface="Arial"/>
                <a:buNone/>
              </a:pPr>
              <a:r>
                <a:rPr lang="en-US" sz="1600" b="1" kern="0" dirty="0">
                  <a:latin typeface="Courier New"/>
                  <a:ea typeface="Courier New"/>
                  <a:cs typeface="Courier New"/>
                  <a:sym typeface="Courier New"/>
                </a:rPr>
                <a:t>;; ANSWER SECTION:</a:t>
              </a:r>
            </a:p>
            <a:p>
              <a:pPr marL="0" indent="0">
                <a:lnSpc>
                  <a:spcPct val="100000"/>
                </a:lnSpc>
                <a:buNone/>
              </a:pPr>
              <a:r>
                <a:rPr lang="en-US" sz="1600" b="1" kern="0" dirty="0">
                  <a:latin typeface="Courier New"/>
                  <a:ea typeface="Courier New"/>
                  <a:cs typeface="Courier New"/>
                  <a:sym typeface="Courier New"/>
                </a:rPr>
                <a:t>dsac.msoe.edu.   86400    IN   A    </a:t>
              </a:r>
              <a:r>
                <a:rPr lang="en-US" sz="1600" b="1" kern="0" dirty="0">
                  <a:latin typeface="Courier New"/>
                  <a:cs typeface="Courier New"/>
                  <a:sym typeface="Courier New"/>
                </a:rPr>
                <a:t>24.175.3.1</a:t>
              </a:r>
            </a:p>
            <a:p>
              <a:pPr marL="0" indent="0">
                <a:lnSpc>
                  <a:spcPct val="100000"/>
                </a:lnSpc>
                <a:buFont typeface="Arial"/>
                <a:buNone/>
              </a:pPr>
              <a:endParaRPr lang="en-US" sz="1600" b="1" kern="0" dirty="0">
                <a:latin typeface="Courier New"/>
                <a:ea typeface="Courier New"/>
                <a:cs typeface="Courier New"/>
                <a:sym typeface="Courier New"/>
              </a:endParaRPr>
            </a:p>
            <a:p>
              <a:pPr marL="0" indent="0">
                <a:lnSpc>
                  <a:spcPct val="100000"/>
                </a:lnSpc>
                <a:buFont typeface="Arial"/>
                <a:buNone/>
              </a:pPr>
              <a:r>
                <a:rPr lang="en-US" sz="1600" b="1" kern="0" dirty="0">
                  <a:latin typeface="Courier New"/>
                  <a:ea typeface="Courier New"/>
                  <a:cs typeface="Courier New"/>
                  <a:sym typeface="Courier New"/>
                </a:rPr>
                <a:t>;; ADDITIONAL SECTION:</a:t>
              </a:r>
            </a:p>
            <a:p>
              <a:pPr marL="0" indent="0">
                <a:lnSpc>
                  <a:spcPct val="100000"/>
                </a:lnSpc>
                <a:buFont typeface="Arial"/>
                <a:buNone/>
              </a:pPr>
              <a:r>
                <a:rPr lang="en-US" sz="1600" b="1" kern="0" dirty="0">
                  <a:solidFill>
                    <a:srgbClr val="C00000"/>
                  </a:solidFill>
                  <a:latin typeface="Courier New"/>
                  <a:ea typeface="Courier New"/>
                  <a:cs typeface="Courier New"/>
                  <a:sym typeface="Courier New"/>
                </a:rPr>
                <a:t>www.google.com.      172800   IN   A	6.6.6.6</a:t>
              </a:r>
            </a:p>
          </p:txBody>
        </p:sp>
        <p:sp>
          <p:nvSpPr>
            <p:cNvPr id="5" name="Google Shape;810;p66">
              <a:extLst>
                <a:ext uri="{FF2B5EF4-FFF2-40B4-BE49-F238E27FC236}">
                  <a16:creationId xmlns:a16="http://schemas.microsoft.com/office/drawing/2014/main" id="{BAEED7D3-6BD7-A31D-72D5-1C648D29A54B}"/>
                </a:ext>
              </a:extLst>
            </p:cNvPr>
            <p:cNvSpPr/>
            <p:nvPr/>
          </p:nvSpPr>
          <p:spPr>
            <a:xfrm>
              <a:off x="4584860" y="3332293"/>
              <a:ext cx="1694020" cy="264600"/>
            </a:xfrm>
            <a:prstGeom prst="roundRect">
              <a:avLst>
                <a:gd name="adj" fmla="val 16667"/>
              </a:avLst>
            </a:prstGeom>
            <a:noFill/>
            <a:ln w="28575" cap="flat" cmpd="sng">
              <a:solidFill>
                <a:srgbClr val="E691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811;p66">
              <a:extLst>
                <a:ext uri="{FF2B5EF4-FFF2-40B4-BE49-F238E27FC236}">
                  <a16:creationId xmlns:a16="http://schemas.microsoft.com/office/drawing/2014/main" id="{72B5BD8E-2FC1-151B-7C34-26B4D3459AAA}"/>
                </a:ext>
              </a:extLst>
            </p:cNvPr>
            <p:cNvSpPr/>
            <p:nvPr/>
          </p:nvSpPr>
          <p:spPr>
            <a:xfrm>
              <a:off x="6278880" y="3429000"/>
              <a:ext cx="4342228" cy="628349"/>
            </a:xfrm>
            <a:custGeom>
              <a:avLst/>
              <a:gdLst/>
              <a:ahLst/>
              <a:cxnLst/>
              <a:rect l="l" t="t" r="r" b="b"/>
              <a:pathLst>
                <a:path w="100468" h="34324" extrusionOk="0">
                  <a:moveTo>
                    <a:pt x="100468" y="34324"/>
                  </a:moveTo>
                  <a:lnTo>
                    <a:pt x="100468" y="0"/>
                  </a:lnTo>
                  <a:lnTo>
                    <a:pt x="0" y="0"/>
                  </a:lnTo>
                </a:path>
              </a:pathLst>
            </a:custGeom>
            <a:noFill/>
            <a:ln w="19050" cap="flat" cmpd="sng">
              <a:solidFill>
                <a:srgbClr val="E69138"/>
              </a:solidFill>
              <a:prstDash val="solid"/>
              <a:round/>
              <a:headEnd type="none" w="med" len="med"/>
              <a:tailEnd type="triangle" w="med" len="med"/>
            </a:ln>
          </p:spPr>
          <p:txBody>
            <a:bodyPr/>
            <a:lstStyle/>
            <a:p>
              <a:endParaRPr lang="en-US"/>
            </a:p>
          </p:txBody>
        </p:sp>
        <p:sp>
          <p:nvSpPr>
            <p:cNvPr id="8" name="Google Shape;812;p66">
              <a:extLst>
                <a:ext uri="{FF2B5EF4-FFF2-40B4-BE49-F238E27FC236}">
                  <a16:creationId xmlns:a16="http://schemas.microsoft.com/office/drawing/2014/main" id="{20510C99-162E-A4D1-27C5-B1558C99365F}"/>
                </a:ext>
              </a:extLst>
            </p:cNvPr>
            <p:cNvSpPr txBox="1"/>
            <p:nvPr/>
          </p:nvSpPr>
          <p:spPr>
            <a:xfrm>
              <a:off x="9465120" y="4058513"/>
              <a:ext cx="2312700" cy="923299"/>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600" dirty="0">
                  <a:solidFill>
                    <a:schemeClr val="dk1"/>
                  </a:solidFill>
                </a:rPr>
                <a:t>We made a query to a malicious </a:t>
              </a:r>
              <a:r>
                <a:rPr lang="en" sz="1600" b="1" dirty="0">
                  <a:solidFill>
                    <a:schemeClr val="dk1"/>
                  </a:solidFill>
                  <a:latin typeface="Courier New"/>
                  <a:ea typeface="Courier New"/>
                  <a:cs typeface="Courier New"/>
                  <a:sym typeface="Courier New"/>
                </a:rPr>
                <a:t>msoe.edu</a:t>
              </a:r>
              <a:r>
                <a:rPr lang="en" sz="1600" dirty="0">
                  <a:solidFill>
                    <a:schemeClr val="dk1"/>
                  </a:solidFill>
                </a:rPr>
                <a:t> name server... </a:t>
              </a:r>
              <a:endParaRPr sz="1600" dirty="0"/>
            </a:p>
          </p:txBody>
        </p:sp>
        <p:sp>
          <p:nvSpPr>
            <p:cNvPr id="10" name="Google Shape;814;p66">
              <a:extLst>
                <a:ext uri="{FF2B5EF4-FFF2-40B4-BE49-F238E27FC236}">
                  <a16:creationId xmlns:a16="http://schemas.microsoft.com/office/drawing/2014/main" id="{EB6763E4-DA51-1E2A-A645-79FE1D47EAC7}"/>
                </a:ext>
              </a:extLst>
            </p:cNvPr>
            <p:cNvSpPr/>
            <p:nvPr/>
          </p:nvSpPr>
          <p:spPr>
            <a:xfrm rot="10800000" flipH="1">
              <a:off x="6357538" y="5959827"/>
              <a:ext cx="4263570" cy="706443"/>
            </a:xfrm>
            <a:custGeom>
              <a:avLst/>
              <a:gdLst/>
              <a:ahLst/>
              <a:cxnLst/>
              <a:rect l="l" t="t" r="r" b="b"/>
              <a:pathLst>
                <a:path w="100468" h="34324" extrusionOk="0">
                  <a:moveTo>
                    <a:pt x="100468" y="34324"/>
                  </a:moveTo>
                  <a:lnTo>
                    <a:pt x="100468" y="0"/>
                  </a:lnTo>
                  <a:lnTo>
                    <a:pt x="0" y="0"/>
                  </a:lnTo>
                </a:path>
              </a:pathLst>
            </a:custGeom>
            <a:noFill/>
            <a:ln w="19050" cap="flat" cmpd="sng">
              <a:solidFill>
                <a:srgbClr val="E69138"/>
              </a:solidFill>
              <a:prstDash val="solid"/>
              <a:round/>
              <a:headEnd type="none" w="med" len="med"/>
              <a:tailEnd type="triangle" w="med" len="med"/>
            </a:ln>
          </p:spPr>
          <p:txBody>
            <a:bodyPr/>
            <a:lstStyle/>
            <a:p>
              <a:endParaRPr lang="en-US"/>
            </a:p>
          </p:txBody>
        </p:sp>
        <p:sp>
          <p:nvSpPr>
            <p:cNvPr id="11" name="Google Shape;815;p66">
              <a:extLst>
                <a:ext uri="{FF2B5EF4-FFF2-40B4-BE49-F238E27FC236}">
                  <a16:creationId xmlns:a16="http://schemas.microsoft.com/office/drawing/2014/main" id="{CAA7EB98-FEFB-AD89-CE75-139F7EE40359}"/>
                </a:ext>
              </a:extLst>
            </p:cNvPr>
            <p:cNvSpPr/>
            <p:nvPr/>
          </p:nvSpPr>
          <p:spPr>
            <a:xfrm>
              <a:off x="860018" y="6505411"/>
              <a:ext cx="5497520" cy="264600"/>
            </a:xfrm>
            <a:prstGeom prst="roundRect">
              <a:avLst>
                <a:gd name="adj" fmla="val 16667"/>
              </a:avLst>
            </a:prstGeom>
            <a:noFill/>
            <a:ln w="28575" cap="flat" cmpd="sng">
              <a:solidFill>
                <a:srgbClr val="E691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816;p66">
              <a:extLst>
                <a:ext uri="{FF2B5EF4-FFF2-40B4-BE49-F238E27FC236}">
                  <a16:creationId xmlns:a16="http://schemas.microsoft.com/office/drawing/2014/main" id="{43979282-0D27-BBAD-F5B0-93B7AC6B0D4E}"/>
                </a:ext>
              </a:extLst>
            </p:cNvPr>
            <p:cNvSpPr txBox="1"/>
            <p:nvPr/>
          </p:nvSpPr>
          <p:spPr>
            <a:xfrm>
              <a:off x="9457950" y="5140325"/>
              <a:ext cx="2312700" cy="923299"/>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600" dirty="0">
                  <a:solidFill>
                    <a:schemeClr val="dk1"/>
                  </a:solidFill>
                </a:rPr>
                <a:t>...and it returned a </a:t>
              </a:r>
              <a:r>
                <a:rPr lang="en" sz="1600" b="1" dirty="0">
                  <a:solidFill>
                    <a:srgbClr val="C00000"/>
                  </a:solidFill>
                </a:rPr>
                <a:t>malicious record for </a:t>
              </a:r>
              <a:r>
                <a:rPr lang="en" sz="1600" b="1" dirty="0">
                  <a:solidFill>
                    <a:srgbClr val="C00000"/>
                  </a:solidFill>
                  <a:latin typeface="Courier New"/>
                  <a:ea typeface="Courier New"/>
                  <a:cs typeface="Courier New"/>
                  <a:sym typeface="Courier New"/>
                </a:rPr>
                <a:t>www.google.com</a:t>
              </a:r>
              <a:r>
                <a:rPr lang="en" sz="1600" b="1" dirty="0">
                  <a:solidFill>
                    <a:srgbClr val="C00000"/>
                  </a:solidFill>
                </a:rPr>
                <a:t>!</a:t>
              </a:r>
              <a:endParaRPr sz="1600" b="1" dirty="0">
                <a:solidFill>
                  <a:srgbClr val="C00000"/>
                </a:solidFill>
              </a:endParaRPr>
            </a:p>
          </p:txBody>
        </p:sp>
      </p:grpSp>
    </p:spTree>
    <p:extLst>
      <p:ext uri="{BB962C8B-B14F-4D97-AF65-F5344CB8AC3E}">
        <p14:creationId xmlns:p14="http://schemas.microsoft.com/office/powerpoint/2010/main" val="6398947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819;p140">
            <a:extLst>
              <a:ext uri="{FF2B5EF4-FFF2-40B4-BE49-F238E27FC236}">
                <a16:creationId xmlns:a16="http://schemas.microsoft.com/office/drawing/2014/main" id="{A1BBD3EA-B48A-9405-9D84-E991AC00628F}"/>
              </a:ext>
            </a:extLst>
          </p:cNvPr>
          <p:cNvSpPr txBox="1">
            <a:spLocks noGrp="1"/>
          </p:cNvSpPr>
          <p:nvPr>
            <p:ph type="title"/>
          </p:nvPr>
        </p:nvSpPr>
        <p:spPr>
          <a:xfrm>
            <a:off x="415600" y="52114"/>
            <a:ext cx="11360800" cy="763600"/>
          </a:xfrm>
          <a:prstGeom prst="rect">
            <a:avLst/>
          </a:prstGeom>
        </p:spPr>
        <p:txBody>
          <a:bodyPr spcFirstLastPara="1" wrap="square" lIns="121900" tIns="121900" rIns="121900" bIns="121900" anchor="t" anchorCtr="0">
            <a:noAutofit/>
          </a:bodyPr>
          <a:lstStyle/>
          <a:p>
            <a:r>
              <a:rPr lang="en" sz="4400" dirty="0">
                <a:latin typeface="Aptos" panose="020B0004020202020204" pitchFamily="34" charset="0"/>
              </a:rPr>
              <a:t>Defense: Bailiwick Checking</a:t>
            </a:r>
            <a:endParaRPr sz="4400" dirty="0">
              <a:latin typeface="Aptos" panose="020B0004020202020204" pitchFamily="34" charset="0"/>
            </a:endParaRPr>
          </a:p>
        </p:txBody>
      </p:sp>
      <p:sp>
        <p:nvSpPr>
          <p:cNvPr id="5" name="Google Shape;822;p67">
            <a:extLst>
              <a:ext uri="{FF2B5EF4-FFF2-40B4-BE49-F238E27FC236}">
                <a16:creationId xmlns:a16="http://schemas.microsoft.com/office/drawing/2014/main" id="{A07205B8-4181-8A5E-A3EB-6C084C6D7E93}"/>
              </a:ext>
            </a:extLst>
          </p:cNvPr>
          <p:cNvSpPr txBox="1">
            <a:spLocks/>
          </p:cNvSpPr>
          <p:nvPr/>
        </p:nvSpPr>
        <p:spPr>
          <a:xfrm>
            <a:off x="135203" y="815714"/>
            <a:ext cx="11921593" cy="254940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609585" marR="0" lvl="0" indent="-457189"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1219170" marR="0" lvl="1"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2pPr>
            <a:lvl3pPr marL="1828754" marR="0" lvl="2"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3pPr>
            <a:lvl4pPr marL="2438339" marR="0" lvl="3"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4pPr>
            <a:lvl5pPr marL="3047924" marR="0" lvl="4"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5pPr>
            <a:lvl6pPr marL="3657509" marR="0" lvl="5"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6pPr>
            <a:lvl7pPr marL="4267093" marR="0" lvl="6"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7pPr>
            <a:lvl8pPr marL="4876678" marR="0" lvl="7"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8pPr>
            <a:lvl9pPr marL="5486263" marR="0" lvl="8"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9pPr>
          </a:lstStyle>
          <a:p>
            <a:pPr marL="457200" indent="-342900">
              <a:spcAft>
                <a:spcPts val="600"/>
              </a:spcAft>
              <a:buClrTx/>
              <a:buSzPct val="100000"/>
              <a:buFont typeface="Arial" panose="020B0604020202020204" pitchFamily="34" charset="0"/>
              <a:buChar char="•"/>
            </a:pPr>
            <a:r>
              <a:rPr lang="en-US" kern="0" dirty="0">
                <a:solidFill>
                  <a:schemeClr val="tx1"/>
                </a:solidFill>
                <a:latin typeface="Aptos" panose="020B0004020202020204" pitchFamily="34" charset="0"/>
              </a:rPr>
              <a:t>Idea: Limit the amount of damage a malicious name server can do</a:t>
            </a:r>
          </a:p>
          <a:p>
            <a:pPr marL="457200" indent="-342900">
              <a:spcAft>
                <a:spcPts val="600"/>
              </a:spcAft>
              <a:buClrTx/>
              <a:buSzPct val="100000"/>
              <a:buFont typeface="Arial" panose="020B0604020202020204" pitchFamily="34" charset="0"/>
              <a:buChar char="•"/>
            </a:pPr>
            <a:r>
              <a:rPr lang="en-US" b="1" kern="0" dirty="0">
                <a:solidFill>
                  <a:srgbClr val="C00000"/>
                </a:solidFill>
                <a:latin typeface="Aptos" panose="020B0004020202020204" pitchFamily="34" charset="0"/>
              </a:rPr>
              <a:t>Bailiwick checking</a:t>
            </a:r>
            <a:r>
              <a:rPr lang="en-US" kern="0" dirty="0">
                <a:solidFill>
                  <a:schemeClr val="tx1"/>
                </a:solidFill>
                <a:latin typeface="Aptos" panose="020B0004020202020204" pitchFamily="34" charset="0"/>
              </a:rPr>
              <a:t>: the resolver only accepts records if they are in the name server’s zone</a:t>
            </a:r>
          </a:p>
          <a:p>
            <a:pPr marL="939800" lvl="1" indent="-342900">
              <a:spcAft>
                <a:spcPts val="600"/>
              </a:spcAft>
              <a:buClrTx/>
              <a:buSzPct val="100000"/>
              <a:buFont typeface="Arial" panose="020B0604020202020204" pitchFamily="34" charset="0"/>
              <a:buChar char="•"/>
            </a:pPr>
            <a:r>
              <a:rPr lang="en-US" sz="1800" kern="0" dirty="0">
                <a:solidFill>
                  <a:schemeClr val="tx1"/>
                </a:solidFill>
                <a:latin typeface="Aptos" panose="020B0004020202020204" pitchFamily="34" charset="0"/>
              </a:rPr>
              <a:t>Bailiwick: “one’s sphere of operations or particular area of interest”</a:t>
            </a:r>
          </a:p>
          <a:p>
            <a:pPr marL="939800" lvl="1" indent="-342900">
              <a:spcAft>
                <a:spcPts val="600"/>
              </a:spcAft>
              <a:buClrTx/>
              <a:buSzPct val="100000"/>
              <a:buFont typeface="Arial" panose="020B0604020202020204" pitchFamily="34" charset="0"/>
              <a:buChar char="•"/>
            </a:pPr>
            <a:r>
              <a:rPr lang="en-US" sz="1800" kern="0" dirty="0">
                <a:solidFill>
                  <a:schemeClr val="tx1"/>
                </a:solidFill>
                <a:latin typeface="Aptos" panose="020B0004020202020204" pitchFamily="34" charset="0"/>
              </a:rPr>
              <a:t>Example: The </a:t>
            </a:r>
            <a:r>
              <a:rPr lang="en-US" sz="1800" b="1" kern="0" dirty="0">
                <a:solidFill>
                  <a:schemeClr val="tx1"/>
                </a:solidFill>
                <a:latin typeface="Aptos" panose="020B0004020202020204" pitchFamily="34" charset="0"/>
                <a:ea typeface="Courier New"/>
                <a:cs typeface="Courier New"/>
                <a:sym typeface="Courier New"/>
              </a:rPr>
              <a:t>.</a:t>
            </a:r>
            <a:r>
              <a:rPr lang="en-US" sz="1800" b="1" kern="0" dirty="0" err="1">
                <a:solidFill>
                  <a:schemeClr val="tx1"/>
                </a:solidFill>
                <a:latin typeface="Aptos" panose="020B0004020202020204" pitchFamily="34" charset="0"/>
                <a:ea typeface="Courier New"/>
                <a:cs typeface="Courier New"/>
                <a:sym typeface="Courier New"/>
              </a:rPr>
              <a:t>edu</a:t>
            </a:r>
            <a:r>
              <a:rPr lang="en-US" sz="1800" kern="0" dirty="0">
                <a:solidFill>
                  <a:schemeClr val="tx1"/>
                </a:solidFill>
                <a:latin typeface="Aptos" panose="020B0004020202020204" pitchFamily="34" charset="0"/>
              </a:rPr>
              <a:t> name server can provide a record for </a:t>
            </a:r>
            <a:r>
              <a:rPr lang="en-US" sz="1800" b="1" kern="0" dirty="0">
                <a:solidFill>
                  <a:schemeClr val="tx1"/>
                </a:solidFill>
                <a:latin typeface="Aptos" panose="020B0004020202020204" pitchFamily="34" charset="0"/>
                <a:ea typeface="Courier New"/>
                <a:cs typeface="Courier New"/>
                <a:sym typeface="Courier New"/>
              </a:rPr>
              <a:t>msoe.edu </a:t>
            </a:r>
            <a:r>
              <a:rPr lang="en-US" sz="1800" kern="0" dirty="0">
                <a:solidFill>
                  <a:schemeClr val="tx1"/>
                </a:solidFill>
                <a:latin typeface="Aptos" panose="020B0004020202020204" pitchFamily="34" charset="0"/>
                <a:ea typeface="Courier New"/>
                <a:cs typeface="Courier New"/>
                <a:sym typeface="Courier New"/>
              </a:rPr>
              <a:t>and</a:t>
            </a:r>
            <a:r>
              <a:rPr lang="en-US" sz="1800" kern="0" dirty="0">
                <a:solidFill>
                  <a:schemeClr val="tx1"/>
                </a:solidFill>
                <a:latin typeface="Aptos" panose="020B0004020202020204" pitchFamily="34" charset="0"/>
              </a:rPr>
              <a:t> </a:t>
            </a:r>
            <a:r>
              <a:rPr lang="en-US" sz="1800" b="1" kern="0" dirty="0">
                <a:solidFill>
                  <a:schemeClr val="tx1"/>
                </a:solidFill>
                <a:latin typeface="Aptos" panose="020B0004020202020204" pitchFamily="34" charset="0"/>
                <a:ea typeface="Courier New"/>
                <a:cs typeface="Courier New"/>
                <a:sym typeface="Courier New"/>
              </a:rPr>
              <a:t>mit.edu</a:t>
            </a:r>
            <a:r>
              <a:rPr lang="en-US" sz="1800" kern="0" dirty="0">
                <a:solidFill>
                  <a:schemeClr val="tx1"/>
                </a:solidFill>
                <a:latin typeface="Aptos" panose="020B0004020202020204" pitchFamily="34" charset="0"/>
              </a:rPr>
              <a:t>, but not </a:t>
            </a:r>
            <a:r>
              <a:rPr lang="en-US" sz="1800" b="1" kern="0" dirty="0">
                <a:solidFill>
                  <a:schemeClr val="tx1"/>
                </a:solidFill>
                <a:latin typeface="Aptos" panose="020B0004020202020204" pitchFamily="34" charset="0"/>
                <a:ea typeface="Courier New"/>
                <a:cs typeface="Courier New"/>
                <a:sym typeface="Courier New"/>
              </a:rPr>
              <a:t>google.com</a:t>
            </a:r>
          </a:p>
          <a:p>
            <a:pPr marL="939800" lvl="1" indent="-342900">
              <a:spcAft>
                <a:spcPts val="600"/>
              </a:spcAft>
              <a:buClrTx/>
              <a:buSzPct val="100000"/>
              <a:buFont typeface="Arial" panose="020B0604020202020204" pitchFamily="34" charset="0"/>
              <a:buChar char="•"/>
            </a:pPr>
            <a:r>
              <a:rPr lang="en-US" sz="1800" kern="0" dirty="0">
                <a:solidFill>
                  <a:schemeClr val="tx1"/>
                </a:solidFill>
                <a:latin typeface="Aptos" panose="020B0004020202020204" pitchFamily="34" charset="0"/>
              </a:rPr>
              <a:t>Example: The </a:t>
            </a:r>
            <a:r>
              <a:rPr lang="en-US" sz="1800" b="1" kern="0" dirty="0">
                <a:solidFill>
                  <a:schemeClr val="tx1"/>
                </a:solidFill>
                <a:latin typeface="Aptos" panose="020B0004020202020204" pitchFamily="34" charset="0"/>
                <a:ea typeface="Courier New"/>
                <a:cs typeface="Courier New"/>
                <a:sym typeface="Courier New"/>
              </a:rPr>
              <a:t>msoe.edu</a:t>
            </a:r>
            <a:r>
              <a:rPr lang="en-US" sz="1800" kern="0" dirty="0">
                <a:solidFill>
                  <a:schemeClr val="tx1"/>
                </a:solidFill>
                <a:latin typeface="Aptos" panose="020B0004020202020204" pitchFamily="34" charset="0"/>
              </a:rPr>
              <a:t> name server can provide a record for </a:t>
            </a:r>
            <a:r>
              <a:rPr lang="en-US" sz="1800" b="1" kern="0" dirty="0">
                <a:solidFill>
                  <a:schemeClr val="tx1"/>
                </a:solidFill>
                <a:latin typeface="Aptos" panose="020B0004020202020204" pitchFamily="34" charset="0"/>
                <a:ea typeface="Courier New"/>
                <a:cs typeface="Courier New"/>
                <a:sym typeface="Courier New"/>
              </a:rPr>
              <a:t>dsac.msoe.edu</a:t>
            </a:r>
            <a:r>
              <a:rPr lang="en-US" sz="1800" kern="0" dirty="0">
                <a:solidFill>
                  <a:schemeClr val="tx1"/>
                </a:solidFill>
                <a:latin typeface="Aptos" panose="020B0004020202020204" pitchFamily="34" charset="0"/>
              </a:rPr>
              <a:t>, but not </a:t>
            </a:r>
            <a:r>
              <a:rPr lang="en-US" sz="1800" b="1" kern="0" dirty="0">
                <a:solidFill>
                  <a:schemeClr val="tx1"/>
                </a:solidFill>
                <a:latin typeface="Aptos" panose="020B0004020202020204" pitchFamily="34" charset="0"/>
                <a:ea typeface="Courier New"/>
                <a:cs typeface="Courier New"/>
                <a:sym typeface="Courier New"/>
              </a:rPr>
              <a:t>cs.uchicago.edu</a:t>
            </a:r>
          </a:p>
          <a:p>
            <a:pPr marL="939800" lvl="1" indent="-342900">
              <a:spcAft>
                <a:spcPts val="600"/>
              </a:spcAft>
              <a:buClrTx/>
              <a:buSzPct val="100000"/>
              <a:buFont typeface="Arial" panose="020B0604020202020204" pitchFamily="34" charset="0"/>
              <a:buChar char="•"/>
            </a:pPr>
            <a:r>
              <a:rPr lang="en-US" sz="1800" kern="0" dirty="0">
                <a:solidFill>
                  <a:schemeClr val="tx1"/>
                </a:solidFill>
                <a:latin typeface="Aptos" panose="020B0004020202020204" pitchFamily="34" charset="0"/>
              </a:rPr>
              <a:t>Exception: The root name server can provide a record for any domain (everything is in bailiwick for the root)</a:t>
            </a:r>
          </a:p>
        </p:txBody>
      </p:sp>
      <p:grpSp>
        <p:nvGrpSpPr>
          <p:cNvPr id="15" name="Group 14">
            <a:extLst>
              <a:ext uri="{FF2B5EF4-FFF2-40B4-BE49-F238E27FC236}">
                <a16:creationId xmlns:a16="http://schemas.microsoft.com/office/drawing/2014/main" id="{A2F34B24-E08E-D72C-DE32-0A5EE5D54072}"/>
              </a:ext>
            </a:extLst>
          </p:cNvPr>
          <p:cNvGrpSpPr/>
          <p:nvPr/>
        </p:nvGrpSpPr>
        <p:grpSpPr>
          <a:xfrm>
            <a:off x="781360" y="3261108"/>
            <a:ext cx="10996460" cy="3508903"/>
            <a:chOff x="781360" y="3261108"/>
            <a:chExt cx="10996460" cy="3508903"/>
          </a:xfrm>
        </p:grpSpPr>
        <p:sp>
          <p:nvSpPr>
            <p:cNvPr id="16" name="Google Shape;808;p66">
              <a:extLst>
                <a:ext uri="{FF2B5EF4-FFF2-40B4-BE49-F238E27FC236}">
                  <a16:creationId xmlns:a16="http://schemas.microsoft.com/office/drawing/2014/main" id="{C9DE978D-5FDE-E305-C6DC-43ECF4AD5D61}"/>
                </a:ext>
              </a:extLst>
            </p:cNvPr>
            <p:cNvSpPr txBox="1">
              <a:spLocks/>
            </p:cNvSpPr>
            <p:nvPr/>
          </p:nvSpPr>
          <p:spPr>
            <a:xfrm>
              <a:off x="781360" y="3261108"/>
              <a:ext cx="8865560" cy="312870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609585" marR="0" lvl="0" indent="-457189"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1219170" marR="0" lvl="1"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2pPr>
              <a:lvl3pPr marL="1828754" marR="0" lvl="2"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3pPr>
              <a:lvl4pPr marL="2438339" marR="0" lvl="3"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4pPr>
              <a:lvl5pPr marL="3047924" marR="0" lvl="4"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5pPr>
              <a:lvl6pPr marL="3657509" marR="0" lvl="5"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6pPr>
              <a:lvl7pPr marL="4267093" marR="0" lvl="6"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7pPr>
              <a:lvl8pPr marL="4876678" marR="0" lvl="7"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8pPr>
              <a:lvl9pPr marL="5486263" marR="0" lvl="8"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9pPr>
            </a:lstStyle>
            <a:p>
              <a:pPr marL="0" indent="0">
                <a:lnSpc>
                  <a:spcPct val="100000"/>
                </a:lnSpc>
                <a:buFont typeface="Arial"/>
                <a:buNone/>
              </a:pPr>
              <a:r>
                <a:rPr lang="en-US" sz="1600" b="1" kern="0" dirty="0">
                  <a:latin typeface="Courier New"/>
                  <a:ea typeface="Courier New"/>
                  <a:cs typeface="Courier New"/>
                  <a:sym typeface="Courier New"/>
                </a:rPr>
                <a:t>$ dig +</a:t>
              </a:r>
              <a:r>
                <a:rPr lang="en-US" sz="1600" b="1" kern="0" dirty="0" err="1">
                  <a:latin typeface="Courier New"/>
                  <a:ea typeface="Courier New"/>
                  <a:cs typeface="Courier New"/>
                  <a:sym typeface="Courier New"/>
                </a:rPr>
                <a:t>norecurse</a:t>
              </a:r>
              <a:r>
                <a:rPr lang="en-US" sz="1600" b="1" kern="0" dirty="0">
                  <a:latin typeface="Courier New"/>
                  <a:ea typeface="Courier New"/>
                  <a:cs typeface="Courier New"/>
                  <a:sym typeface="Courier New"/>
                </a:rPr>
                <a:t> dsac.msoe.edu @128.42.156.7</a:t>
              </a:r>
            </a:p>
            <a:p>
              <a:pPr marL="0" indent="0">
                <a:lnSpc>
                  <a:spcPct val="100000"/>
                </a:lnSpc>
                <a:buFont typeface="Arial"/>
                <a:buNone/>
              </a:pPr>
              <a:endParaRPr lang="en-US" sz="1600" b="1" kern="0" dirty="0">
                <a:latin typeface="Courier New"/>
                <a:ea typeface="Courier New"/>
                <a:cs typeface="Courier New"/>
                <a:sym typeface="Courier New"/>
              </a:endParaRPr>
            </a:p>
            <a:p>
              <a:pPr marL="0" indent="0">
                <a:lnSpc>
                  <a:spcPct val="100000"/>
                </a:lnSpc>
                <a:buFont typeface="Arial"/>
                <a:buNone/>
              </a:pPr>
              <a:r>
                <a:rPr lang="en-US" sz="1600" b="1" kern="0" dirty="0">
                  <a:latin typeface="Courier New"/>
                  <a:ea typeface="Courier New"/>
                  <a:cs typeface="Courier New"/>
                  <a:sym typeface="Courier New"/>
                </a:rPr>
                <a:t>;; Got answer:</a:t>
              </a:r>
            </a:p>
            <a:p>
              <a:pPr marL="0" indent="0">
                <a:lnSpc>
                  <a:spcPct val="100000"/>
                </a:lnSpc>
                <a:buFont typeface="Arial"/>
                <a:buNone/>
              </a:pPr>
              <a:r>
                <a:rPr lang="en-US" sz="1600" b="1" kern="0" dirty="0">
                  <a:latin typeface="Courier New"/>
                  <a:ea typeface="Courier New"/>
                  <a:cs typeface="Courier New"/>
                  <a:sym typeface="Courier New"/>
                </a:rPr>
                <a:t>;; -&gt;&gt;HEADER&lt;&lt;- opcode: QUERY, status: NOERROR, id: 52788</a:t>
              </a:r>
            </a:p>
            <a:p>
              <a:pPr marL="0" indent="0">
                <a:lnSpc>
                  <a:spcPct val="100000"/>
                </a:lnSpc>
                <a:buFont typeface="Arial"/>
                <a:buNone/>
              </a:pPr>
              <a:r>
                <a:rPr lang="en-US" sz="1600" b="1" kern="0" dirty="0">
                  <a:latin typeface="Courier New"/>
                  <a:ea typeface="Courier New"/>
                  <a:cs typeface="Courier New"/>
                  <a:sym typeface="Courier New"/>
                </a:rPr>
                <a:t>;; flags: </a:t>
              </a:r>
              <a:r>
                <a:rPr lang="en-US" sz="1600" b="1" kern="0" dirty="0" err="1">
                  <a:latin typeface="Courier New"/>
                  <a:ea typeface="Courier New"/>
                  <a:cs typeface="Courier New"/>
                  <a:sym typeface="Courier New"/>
                </a:rPr>
                <a:t>qr</a:t>
              </a:r>
              <a:r>
                <a:rPr lang="en-US" sz="1600" b="1" kern="0" dirty="0">
                  <a:latin typeface="Courier New"/>
                  <a:ea typeface="Courier New"/>
                  <a:cs typeface="Courier New"/>
                  <a:sym typeface="Courier New"/>
                </a:rPr>
                <a:t> aa; QUERY: 1, ANSWER: 1, AUTHORITY: 0, ADDITIONAL: 1</a:t>
              </a:r>
            </a:p>
            <a:p>
              <a:pPr marL="0" indent="0">
                <a:lnSpc>
                  <a:spcPct val="100000"/>
                </a:lnSpc>
                <a:buFont typeface="Arial"/>
                <a:buNone/>
              </a:pPr>
              <a:endParaRPr lang="en-US" sz="1600" b="1" kern="0" dirty="0">
                <a:latin typeface="Courier New"/>
                <a:ea typeface="Courier New"/>
                <a:cs typeface="Courier New"/>
                <a:sym typeface="Courier New"/>
              </a:endParaRPr>
            </a:p>
            <a:p>
              <a:pPr marL="0" indent="0">
                <a:lnSpc>
                  <a:spcPct val="100000"/>
                </a:lnSpc>
                <a:buFont typeface="Arial"/>
                <a:buNone/>
              </a:pPr>
              <a:r>
                <a:rPr lang="en-US" sz="1600" b="1" kern="0" dirty="0">
                  <a:latin typeface="Courier New"/>
                  <a:ea typeface="Courier New"/>
                  <a:cs typeface="Courier New"/>
                  <a:sym typeface="Courier New"/>
                </a:rPr>
                <a:t>;; QUESTION SECTION:</a:t>
              </a:r>
            </a:p>
            <a:p>
              <a:pPr marL="0" indent="0">
                <a:lnSpc>
                  <a:spcPct val="100000"/>
                </a:lnSpc>
                <a:buFont typeface="Arial"/>
                <a:buNone/>
              </a:pPr>
              <a:r>
                <a:rPr lang="en-US" sz="1600" b="1" kern="0" dirty="0">
                  <a:latin typeface="Courier New"/>
                  <a:ea typeface="Courier New"/>
                  <a:cs typeface="Courier New"/>
                  <a:sym typeface="Courier New"/>
                </a:rPr>
                <a:t>;dsac.msoe.edu.     	     IN   A</a:t>
              </a:r>
            </a:p>
            <a:p>
              <a:pPr marL="0" indent="0">
                <a:lnSpc>
                  <a:spcPct val="100000"/>
                </a:lnSpc>
                <a:buFont typeface="Arial"/>
                <a:buNone/>
              </a:pPr>
              <a:endParaRPr lang="en-US" sz="1600" b="1" kern="0" dirty="0">
                <a:latin typeface="Courier New"/>
                <a:ea typeface="Courier New"/>
                <a:cs typeface="Courier New"/>
                <a:sym typeface="Courier New"/>
              </a:endParaRPr>
            </a:p>
            <a:p>
              <a:pPr marL="0" indent="0">
                <a:lnSpc>
                  <a:spcPct val="100000"/>
                </a:lnSpc>
                <a:buFont typeface="Arial"/>
                <a:buNone/>
              </a:pPr>
              <a:r>
                <a:rPr lang="en-US" sz="1600" b="1" kern="0" dirty="0">
                  <a:latin typeface="Courier New"/>
                  <a:ea typeface="Courier New"/>
                  <a:cs typeface="Courier New"/>
                  <a:sym typeface="Courier New"/>
                </a:rPr>
                <a:t>;; ANSWER SECTION:</a:t>
              </a:r>
            </a:p>
            <a:p>
              <a:pPr marL="0" indent="0">
                <a:lnSpc>
                  <a:spcPct val="100000"/>
                </a:lnSpc>
                <a:buNone/>
              </a:pPr>
              <a:r>
                <a:rPr lang="en-US" sz="1600" b="1" kern="0" dirty="0">
                  <a:latin typeface="Courier New"/>
                  <a:ea typeface="Courier New"/>
                  <a:cs typeface="Courier New"/>
                  <a:sym typeface="Courier New"/>
                </a:rPr>
                <a:t>dsac.msoe.edu.   86400    IN   A    </a:t>
              </a:r>
              <a:r>
                <a:rPr lang="en-US" sz="1600" b="1" kern="0" dirty="0">
                  <a:latin typeface="Courier New"/>
                  <a:cs typeface="Courier New"/>
                  <a:sym typeface="Courier New"/>
                </a:rPr>
                <a:t>24.175.3.1</a:t>
              </a:r>
            </a:p>
            <a:p>
              <a:pPr marL="0" indent="0">
                <a:lnSpc>
                  <a:spcPct val="100000"/>
                </a:lnSpc>
                <a:buFont typeface="Arial"/>
                <a:buNone/>
              </a:pPr>
              <a:endParaRPr lang="en-US" sz="1600" b="1" kern="0" dirty="0">
                <a:latin typeface="Courier New"/>
                <a:ea typeface="Courier New"/>
                <a:cs typeface="Courier New"/>
                <a:sym typeface="Courier New"/>
              </a:endParaRPr>
            </a:p>
            <a:p>
              <a:pPr marL="0" indent="0">
                <a:lnSpc>
                  <a:spcPct val="100000"/>
                </a:lnSpc>
                <a:buFont typeface="Arial"/>
                <a:buNone/>
              </a:pPr>
              <a:r>
                <a:rPr lang="en-US" sz="1600" b="1" kern="0" dirty="0">
                  <a:latin typeface="Courier New"/>
                  <a:ea typeface="Courier New"/>
                  <a:cs typeface="Courier New"/>
                  <a:sym typeface="Courier New"/>
                </a:rPr>
                <a:t>;; ADDITIONAL SECTION:</a:t>
              </a:r>
            </a:p>
            <a:p>
              <a:pPr marL="0" indent="0">
                <a:lnSpc>
                  <a:spcPct val="100000"/>
                </a:lnSpc>
                <a:buFont typeface="Arial"/>
                <a:buNone/>
              </a:pPr>
              <a:r>
                <a:rPr lang="en-US" sz="1600" b="1" kern="0" dirty="0">
                  <a:solidFill>
                    <a:srgbClr val="C00000"/>
                  </a:solidFill>
                  <a:latin typeface="Courier New"/>
                  <a:ea typeface="Courier New"/>
                  <a:cs typeface="Courier New"/>
                  <a:sym typeface="Courier New"/>
                </a:rPr>
                <a:t>www.google.com.      172800   IN   A	6.6.6.6</a:t>
              </a:r>
            </a:p>
          </p:txBody>
        </p:sp>
        <p:sp>
          <p:nvSpPr>
            <p:cNvPr id="17" name="Google Shape;810;p66">
              <a:extLst>
                <a:ext uri="{FF2B5EF4-FFF2-40B4-BE49-F238E27FC236}">
                  <a16:creationId xmlns:a16="http://schemas.microsoft.com/office/drawing/2014/main" id="{077AF5D1-3E4F-3C50-3F7D-CC41CDD5CC84}"/>
                </a:ext>
              </a:extLst>
            </p:cNvPr>
            <p:cNvSpPr/>
            <p:nvPr/>
          </p:nvSpPr>
          <p:spPr>
            <a:xfrm>
              <a:off x="4584860" y="3332293"/>
              <a:ext cx="1694020" cy="264600"/>
            </a:xfrm>
            <a:prstGeom prst="roundRect">
              <a:avLst>
                <a:gd name="adj" fmla="val 16667"/>
              </a:avLst>
            </a:prstGeom>
            <a:noFill/>
            <a:ln w="28575" cap="flat" cmpd="sng">
              <a:solidFill>
                <a:srgbClr val="E691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811;p66">
              <a:extLst>
                <a:ext uri="{FF2B5EF4-FFF2-40B4-BE49-F238E27FC236}">
                  <a16:creationId xmlns:a16="http://schemas.microsoft.com/office/drawing/2014/main" id="{1E3E0DDF-8C0E-AFD5-506C-D92B11290A90}"/>
                </a:ext>
              </a:extLst>
            </p:cNvPr>
            <p:cNvSpPr/>
            <p:nvPr/>
          </p:nvSpPr>
          <p:spPr>
            <a:xfrm>
              <a:off x="6278880" y="3429000"/>
              <a:ext cx="4342228" cy="628349"/>
            </a:xfrm>
            <a:custGeom>
              <a:avLst/>
              <a:gdLst/>
              <a:ahLst/>
              <a:cxnLst/>
              <a:rect l="l" t="t" r="r" b="b"/>
              <a:pathLst>
                <a:path w="100468" h="34324" extrusionOk="0">
                  <a:moveTo>
                    <a:pt x="100468" y="34324"/>
                  </a:moveTo>
                  <a:lnTo>
                    <a:pt x="100468" y="0"/>
                  </a:lnTo>
                  <a:lnTo>
                    <a:pt x="0" y="0"/>
                  </a:lnTo>
                </a:path>
              </a:pathLst>
            </a:custGeom>
            <a:noFill/>
            <a:ln w="19050" cap="flat" cmpd="sng">
              <a:solidFill>
                <a:srgbClr val="E69138"/>
              </a:solidFill>
              <a:prstDash val="solid"/>
              <a:round/>
              <a:headEnd type="none" w="med" len="med"/>
              <a:tailEnd type="triangle" w="med" len="med"/>
            </a:ln>
          </p:spPr>
          <p:txBody>
            <a:bodyPr/>
            <a:lstStyle/>
            <a:p>
              <a:endParaRPr lang="en-US"/>
            </a:p>
          </p:txBody>
        </p:sp>
        <p:sp>
          <p:nvSpPr>
            <p:cNvPr id="19" name="Google Shape;812;p66">
              <a:extLst>
                <a:ext uri="{FF2B5EF4-FFF2-40B4-BE49-F238E27FC236}">
                  <a16:creationId xmlns:a16="http://schemas.microsoft.com/office/drawing/2014/main" id="{A4279465-E412-253F-DC47-5760D1D03678}"/>
                </a:ext>
              </a:extLst>
            </p:cNvPr>
            <p:cNvSpPr txBox="1"/>
            <p:nvPr/>
          </p:nvSpPr>
          <p:spPr>
            <a:xfrm>
              <a:off x="9465120" y="4058513"/>
              <a:ext cx="2312700" cy="923299"/>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600" dirty="0">
                  <a:solidFill>
                    <a:schemeClr val="dk1"/>
                  </a:solidFill>
                </a:rPr>
                <a:t>We made a query to a malicious </a:t>
              </a:r>
              <a:r>
                <a:rPr lang="en" sz="1600" b="1" dirty="0">
                  <a:solidFill>
                    <a:schemeClr val="dk1"/>
                  </a:solidFill>
                  <a:latin typeface="Courier New"/>
                  <a:ea typeface="Courier New"/>
                  <a:cs typeface="Courier New"/>
                  <a:sym typeface="Courier New"/>
                </a:rPr>
                <a:t>msoe.edu</a:t>
              </a:r>
              <a:r>
                <a:rPr lang="en" sz="1600" dirty="0">
                  <a:solidFill>
                    <a:schemeClr val="dk1"/>
                  </a:solidFill>
                </a:rPr>
                <a:t> name server... </a:t>
              </a:r>
              <a:endParaRPr sz="1600" dirty="0"/>
            </a:p>
          </p:txBody>
        </p:sp>
        <p:sp>
          <p:nvSpPr>
            <p:cNvPr id="20" name="Google Shape;814;p66">
              <a:extLst>
                <a:ext uri="{FF2B5EF4-FFF2-40B4-BE49-F238E27FC236}">
                  <a16:creationId xmlns:a16="http://schemas.microsoft.com/office/drawing/2014/main" id="{91F79BFF-FF86-9DFA-A3ED-C88D05108CE3}"/>
                </a:ext>
              </a:extLst>
            </p:cNvPr>
            <p:cNvSpPr/>
            <p:nvPr/>
          </p:nvSpPr>
          <p:spPr>
            <a:xfrm rot="10800000" flipH="1">
              <a:off x="6357538" y="5959827"/>
              <a:ext cx="4263570" cy="706443"/>
            </a:xfrm>
            <a:custGeom>
              <a:avLst/>
              <a:gdLst/>
              <a:ahLst/>
              <a:cxnLst/>
              <a:rect l="l" t="t" r="r" b="b"/>
              <a:pathLst>
                <a:path w="100468" h="34324" extrusionOk="0">
                  <a:moveTo>
                    <a:pt x="100468" y="34324"/>
                  </a:moveTo>
                  <a:lnTo>
                    <a:pt x="100468" y="0"/>
                  </a:lnTo>
                  <a:lnTo>
                    <a:pt x="0" y="0"/>
                  </a:lnTo>
                </a:path>
              </a:pathLst>
            </a:custGeom>
            <a:noFill/>
            <a:ln w="19050" cap="flat" cmpd="sng">
              <a:solidFill>
                <a:srgbClr val="E69138"/>
              </a:solidFill>
              <a:prstDash val="solid"/>
              <a:round/>
              <a:headEnd type="none" w="med" len="med"/>
              <a:tailEnd type="triangle" w="med" len="med"/>
            </a:ln>
          </p:spPr>
          <p:txBody>
            <a:bodyPr/>
            <a:lstStyle/>
            <a:p>
              <a:endParaRPr lang="en-US"/>
            </a:p>
          </p:txBody>
        </p:sp>
        <p:sp>
          <p:nvSpPr>
            <p:cNvPr id="21" name="Google Shape;815;p66">
              <a:extLst>
                <a:ext uri="{FF2B5EF4-FFF2-40B4-BE49-F238E27FC236}">
                  <a16:creationId xmlns:a16="http://schemas.microsoft.com/office/drawing/2014/main" id="{3848C9D3-7140-E50D-641A-B74E7AA8409B}"/>
                </a:ext>
              </a:extLst>
            </p:cNvPr>
            <p:cNvSpPr/>
            <p:nvPr/>
          </p:nvSpPr>
          <p:spPr>
            <a:xfrm>
              <a:off x="860018" y="6505411"/>
              <a:ext cx="5497520" cy="264600"/>
            </a:xfrm>
            <a:prstGeom prst="roundRect">
              <a:avLst>
                <a:gd name="adj" fmla="val 16667"/>
              </a:avLst>
            </a:prstGeom>
            <a:noFill/>
            <a:ln w="28575" cap="flat" cmpd="sng">
              <a:solidFill>
                <a:srgbClr val="E691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816;p66">
              <a:extLst>
                <a:ext uri="{FF2B5EF4-FFF2-40B4-BE49-F238E27FC236}">
                  <a16:creationId xmlns:a16="http://schemas.microsoft.com/office/drawing/2014/main" id="{2ECB810C-91B3-B331-307A-4229A91A8B63}"/>
                </a:ext>
              </a:extLst>
            </p:cNvPr>
            <p:cNvSpPr txBox="1"/>
            <p:nvPr/>
          </p:nvSpPr>
          <p:spPr>
            <a:xfrm>
              <a:off x="9457950" y="5140325"/>
              <a:ext cx="2312700" cy="923299"/>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600" dirty="0">
                  <a:solidFill>
                    <a:schemeClr val="dk1"/>
                  </a:solidFill>
                </a:rPr>
                <a:t>...and it returned a </a:t>
              </a:r>
              <a:r>
                <a:rPr lang="en" sz="1600" b="1" dirty="0">
                  <a:solidFill>
                    <a:srgbClr val="C00000"/>
                  </a:solidFill>
                </a:rPr>
                <a:t>malicious record for </a:t>
              </a:r>
              <a:r>
                <a:rPr lang="en" sz="1600" b="1" dirty="0">
                  <a:solidFill>
                    <a:srgbClr val="C00000"/>
                  </a:solidFill>
                  <a:latin typeface="Courier New"/>
                  <a:ea typeface="Courier New"/>
                  <a:cs typeface="Courier New"/>
                  <a:sym typeface="Courier New"/>
                </a:rPr>
                <a:t>www.google.com</a:t>
              </a:r>
              <a:r>
                <a:rPr lang="en" sz="1600" b="1" dirty="0">
                  <a:solidFill>
                    <a:srgbClr val="C00000"/>
                  </a:solidFill>
                </a:rPr>
                <a:t>!</a:t>
              </a:r>
              <a:endParaRPr sz="1600" b="1" dirty="0">
                <a:solidFill>
                  <a:srgbClr val="C00000"/>
                </a:solidFill>
              </a:endParaRPr>
            </a:p>
          </p:txBody>
        </p:sp>
      </p:grpSp>
    </p:spTree>
    <p:extLst>
      <p:ext uri="{BB962C8B-B14F-4D97-AF65-F5344CB8AC3E}">
        <p14:creationId xmlns:p14="http://schemas.microsoft.com/office/powerpoint/2010/main" val="32723795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819;p140">
            <a:extLst>
              <a:ext uri="{FF2B5EF4-FFF2-40B4-BE49-F238E27FC236}">
                <a16:creationId xmlns:a16="http://schemas.microsoft.com/office/drawing/2014/main" id="{A1BBD3EA-B48A-9405-9D84-E991AC00628F}"/>
              </a:ext>
            </a:extLst>
          </p:cNvPr>
          <p:cNvSpPr txBox="1">
            <a:spLocks noGrp="1"/>
          </p:cNvSpPr>
          <p:nvPr>
            <p:ph type="title"/>
          </p:nvPr>
        </p:nvSpPr>
        <p:spPr>
          <a:xfrm>
            <a:off x="415600" y="10058"/>
            <a:ext cx="11360800" cy="763600"/>
          </a:xfrm>
          <a:prstGeom prst="rect">
            <a:avLst/>
          </a:prstGeom>
        </p:spPr>
        <p:txBody>
          <a:bodyPr spcFirstLastPara="1" wrap="square" lIns="121900" tIns="121900" rIns="121900" bIns="121900" anchor="t" anchorCtr="0">
            <a:noAutofit/>
          </a:bodyPr>
          <a:lstStyle/>
          <a:p>
            <a:r>
              <a:rPr lang="en-US" sz="4400" dirty="0">
                <a:latin typeface="Aptos" panose="020B0004020202020204" pitchFamily="34" charset="0"/>
              </a:rPr>
              <a:t>Security</a:t>
            </a:r>
            <a:r>
              <a:rPr lang="en" sz="4400" dirty="0">
                <a:latin typeface="Aptos" panose="020B0004020202020204" pitchFamily="34" charset="0"/>
              </a:rPr>
              <a:t> Risk: In-Path (MITM) Attackers</a:t>
            </a:r>
            <a:endParaRPr sz="4400" dirty="0">
              <a:latin typeface="Aptos" panose="020B0004020202020204" pitchFamily="34" charset="0"/>
            </a:endParaRPr>
          </a:p>
        </p:txBody>
      </p:sp>
      <p:sp>
        <p:nvSpPr>
          <p:cNvPr id="12" name="Google Shape;829;p68">
            <a:extLst>
              <a:ext uri="{FF2B5EF4-FFF2-40B4-BE49-F238E27FC236}">
                <a16:creationId xmlns:a16="http://schemas.microsoft.com/office/drawing/2014/main" id="{A4AAFA66-606E-5854-3E3F-67B46F17D642}"/>
              </a:ext>
            </a:extLst>
          </p:cNvPr>
          <p:cNvSpPr txBox="1">
            <a:spLocks noGrp="1"/>
          </p:cNvSpPr>
          <p:nvPr>
            <p:ph type="body" idx="1"/>
          </p:nvPr>
        </p:nvSpPr>
        <p:spPr>
          <a:xfrm>
            <a:off x="905323" y="1156773"/>
            <a:ext cx="10381354" cy="16011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600"/>
              </a:spcAft>
              <a:buClrTx/>
              <a:buSzPts val="1800"/>
              <a:buFont typeface="Arial" panose="020B0604020202020204" pitchFamily="34" charset="0"/>
              <a:buChar char="•"/>
            </a:pPr>
            <a:r>
              <a:rPr lang="en" sz="2000" dirty="0">
                <a:solidFill>
                  <a:schemeClr val="tx1"/>
                </a:solidFill>
                <a:latin typeface="Aptos" panose="020B0004020202020204" pitchFamily="34" charset="0"/>
              </a:rPr>
              <a:t>DNS is not secure against MITM attackers</a:t>
            </a:r>
            <a:endParaRPr sz="2000" dirty="0">
              <a:solidFill>
                <a:schemeClr val="tx1"/>
              </a:solidFill>
              <a:latin typeface="Aptos" panose="020B0004020202020204" pitchFamily="34" charset="0"/>
            </a:endParaRPr>
          </a:p>
          <a:p>
            <a:pPr marL="457200" lvl="0" indent="-342900" algn="l" rtl="0">
              <a:spcBef>
                <a:spcPts val="0"/>
              </a:spcBef>
              <a:spcAft>
                <a:spcPts val="600"/>
              </a:spcAft>
              <a:buClrTx/>
              <a:buSzPts val="1800"/>
              <a:buFont typeface="Arial" panose="020B0604020202020204" pitchFamily="34" charset="0"/>
              <a:buChar char="•"/>
            </a:pPr>
            <a:r>
              <a:rPr lang="en" sz="2000" dirty="0">
                <a:solidFill>
                  <a:schemeClr val="tx1"/>
                </a:solidFill>
                <a:latin typeface="Aptos" panose="020B0004020202020204" pitchFamily="34" charset="0"/>
              </a:rPr>
              <a:t>MITM attackers can poison the cache by </a:t>
            </a:r>
            <a:r>
              <a:rPr lang="en" sz="2000" b="1" dirty="0">
                <a:solidFill>
                  <a:srgbClr val="C00000"/>
                </a:solidFill>
                <a:latin typeface="Aptos" panose="020B0004020202020204" pitchFamily="34" charset="0"/>
              </a:rPr>
              <a:t>adding, removing, or changing </a:t>
            </a:r>
            <a:r>
              <a:rPr lang="en" sz="2000" dirty="0">
                <a:solidFill>
                  <a:schemeClr val="tx1"/>
                </a:solidFill>
                <a:latin typeface="Aptos" panose="020B0004020202020204" pitchFamily="34" charset="0"/>
              </a:rPr>
              <a:t>any record in the DNS response</a:t>
            </a:r>
            <a:endParaRPr sz="2000" dirty="0">
              <a:solidFill>
                <a:schemeClr val="tx1"/>
              </a:solidFill>
              <a:latin typeface="Aptos" panose="020B0004020202020204" pitchFamily="34" charset="0"/>
            </a:endParaRPr>
          </a:p>
        </p:txBody>
      </p:sp>
      <p:grpSp>
        <p:nvGrpSpPr>
          <p:cNvPr id="3" name="Group 2">
            <a:extLst>
              <a:ext uri="{FF2B5EF4-FFF2-40B4-BE49-F238E27FC236}">
                <a16:creationId xmlns:a16="http://schemas.microsoft.com/office/drawing/2014/main" id="{6DAE63C3-C438-0A63-A2F7-05CAF406B7A5}"/>
              </a:ext>
            </a:extLst>
          </p:cNvPr>
          <p:cNvGrpSpPr/>
          <p:nvPr/>
        </p:nvGrpSpPr>
        <p:grpSpPr>
          <a:xfrm>
            <a:off x="677628" y="3140988"/>
            <a:ext cx="10456080" cy="2983500"/>
            <a:chOff x="752354" y="3140988"/>
            <a:chExt cx="10456080" cy="2983500"/>
          </a:xfrm>
        </p:grpSpPr>
        <p:sp>
          <p:nvSpPr>
            <p:cNvPr id="13" name="Google Shape;808;p66">
              <a:extLst>
                <a:ext uri="{FF2B5EF4-FFF2-40B4-BE49-F238E27FC236}">
                  <a16:creationId xmlns:a16="http://schemas.microsoft.com/office/drawing/2014/main" id="{FD13187F-08A1-AF01-B8ED-B6FF562AF335}"/>
                </a:ext>
              </a:extLst>
            </p:cNvPr>
            <p:cNvSpPr txBox="1">
              <a:spLocks/>
            </p:cNvSpPr>
            <p:nvPr/>
          </p:nvSpPr>
          <p:spPr>
            <a:xfrm>
              <a:off x="752354" y="3140988"/>
              <a:ext cx="8865560" cy="2983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609585" marR="0" lvl="0" indent="-457189"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1219170" marR="0" lvl="1"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2pPr>
              <a:lvl3pPr marL="1828754" marR="0" lvl="2"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3pPr>
              <a:lvl4pPr marL="2438339" marR="0" lvl="3"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4pPr>
              <a:lvl5pPr marL="3047924" marR="0" lvl="4"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5pPr>
              <a:lvl6pPr marL="3657509" marR="0" lvl="5"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6pPr>
              <a:lvl7pPr marL="4267093" marR="0" lvl="6"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7pPr>
              <a:lvl8pPr marL="4876678" marR="0" lvl="7"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8pPr>
              <a:lvl9pPr marL="5486263" marR="0" lvl="8"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9pPr>
            </a:lstStyle>
            <a:p>
              <a:pPr marL="0" indent="0">
                <a:lnSpc>
                  <a:spcPct val="100000"/>
                </a:lnSpc>
                <a:buFont typeface="Arial"/>
                <a:buNone/>
              </a:pPr>
              <a:r>
                <a:rPr lang="en-US" sz="1600" b="1" kern="0" dirty="0">
                  <a:latin typeface="Courier New"/>
                  <a:ea typeface="Courier New"/>
                  <a:cs typeface="Courier New"/>
                  <a:sym typeface="Courier New"/>
                </a:rPr>
                <a:t>$ dig +</a:t>
              </a:r>
              <a:r>
                <a:rPr lang="en-US" sz="1600" b="1" kern="0" dirty="0" err="1">
                  <a:latin typeface="Courier New"/>
                  <a:ea typeface="Courier New"/>
                  <a:cs typeface="Courier New"/>
                  <a:sym typeface="Courier New"/>
                </a:rPr>
                <a:t>norecurse</a:t>
              </a:r>
              <a:r>
                <a:rPr lang="en-US" sz="1600" b="1" kern="0" dirty="0">
                  <a:latin typeface="Courier New"/>
                  <a:ea typeface="Courier New"/>
                  <a:cs typeface="Courier New"/>
                  <a:sym typeface="Courier New"/>
                </a:rPr>
                <a:t> dsac.msoe.edu @128.42.156.7</a:t>
              </a:r>
            </a:p>
            <a:p>
              <a:pPr marL="0" indent="0">
                <a:lnSpc>
                  <a:spcPct val="100000"/>
                </a:lnSpc>
                <a:buFont typeface="Arial"/>
                <a:buNone/>
              </a:pPr>
              <a:endParaRPr lang="en-US" sz="1600" b="1" kern="0" dirty="0">
                <a:latin typeface="Courier New"/>
                <a:ea typeface="Courier New"/>
                <a:cs typeface="Courier New"/>
                <a:sym typeface="Courier New"/>
              </a:endParaRPr>
            </a:p>
            <a:p>
              <a:pPr marL="0" indent="0">
                <a:lnSpc>
                  <a:spcPct val="100000"/>
                </a:lnSpc>
                <a:buFont typeface="Arial"/>
                <a:buNone/>
              </a:pPr>
              <a:r>
                <a:rPr lang="en-US" sz="1600" b="1" kern="0" dirty="0">
                  <a:latin typeface="Courier New"/>
                  <a:ea typeface="Courier New"/>
                  <a:cs typeface="Courier New"/>
                  <a:sym typeface="Courier New"/>
                </a:rPr>
                <a:t>;; Got answer:</a:t>
              </a:r>
            </a:p>
            <a:p>
              <a:pPr marL="0" indent="0">
                <a:lnSpc>
                  <a:spcPct val="100000"/>
                </a:lnSpc>
                <a:buFont typeface="Arial"/>
                <a:buNone/>
              </a:pPr>
              <a:r>
                <a:rPr lang="en-US" sz="1600" b="1" kern="0" dirty="0">
                  <a:latin typeface="Courier New"/>
                  <a:ea typeface="Courier New"/>
                  <a:cs typeface="Courier New"/>
                  <a:sym typeface="Courier New"/>
                </a:rPr>
                <a:t>;; -&gt;&gt;HEADER&lt;&lt;- opcode: QUERY, status: NOERROR, id: 52788</a:t>
              </a:r>
            </a:p>
            <a:p>
              <a:pPr marL="0" indent="0">
                <a:lnSpc>
                  <a:spcPct val="100000"/>
                </a:lnSpc>
                <a:buFont typeface="Arial"/>
                <a:buNone/>
              </a:pPr>
              <a:r>
                <a:rPr lang="en-US" sz="1600" b="1" kern="0" dirty="0">
                  <a:latin typeface="Courier New"/>
                  <a:ea typeface="Courier New"/>
                  <a:cs typeface="Courier New"/>
                  <a:sym typeface="Courier New"/>
                </a:rPr>
                <a:t>;; flags: </a:t>
              </a:r>
              <a:r>
                <a:rPr lang="en-US" sz="1600" b="1" kern="0" dirty="0" err="1">
                  <a:latin typeface="Courier New"/>
                  <a:ea typeface="Courier New"/>
                  <a:cs typeface="Courier New"/>
                  <a:sym typeface="Courier New"/>
                </a:rPr>
                <a:t>qr</a:t>
              </a:r>
              <a:r>
                <a:rPr lang="en-US" sz="1600" b="1" kern="0" dirty="0">
                  <a:latin typeface="Courier New"/>
                  <a:ea typeface="Courier New"/>
                  <a:cs typeface="Courier New"/>
                  <a:sym typeface="Courier New"/>
                </a:rPr>
                <a:t> aa; QUERY: 1, ANSWER: 1, AUTHORITY: 0, ADDITIONAL: 1</a:t>
              </a:r>
            </a:p>
            <a:p>
              <a:pPr marL="0" indent="0">
                <a:lnSpc>
                  <a:spcPct val="100000"/>
                </a:lnSpc>
                <a:buFont typeface="Arial"/>
                <a:buNone/>
              </a:pPr>
              <a:endParaRPr lang="en-US" sz="1600" b="1" kern="0" dirty="0">
                <a:latin typeface="Courier New"/>
                <a:ea typeface="Courier New"/>
                <a:cs typeface="Courier New"/>
                <a:sym typeface="Courier New"/>
              </a:endParaRPr>
            </a:p>
            <a:p>
              <a:pPr marL="0" indent="0">
                <a:lnSpc>
                  <a:spcPct val="100000"/>
                </a:lnSpc>
                <a:buFont typeface="Arial"/>
                <a:buNone/>
              </a:pPr>
              <a:r>
                <a:rPr lang="en-US" sz="1600" b="1" kern="0" dirty="0">
                  <a:latin typeface="Courier New"/>
                  <a:ea typeface="Courier New"/>
                  <a:cs typeface="Courier New"/>
                  <a:sym typeface="Courier New"/>
                </a:rPr>
                <a:t>;; QUESTION SECTION:</a:t>
              </a:r>
            </a:p>
            <a:p>
              <a:pPr marL="0" indent="0">
                <a:lnSpc>
                  <a:spcPct val="100000"/>
                </a:lnSpc>
                <a:buFont typeface="Arial"/>
                <a:buNone/>
              </a:pPr>
              <a:r>
                <a:rPr lang="en-US" sz="1600" b="1" kern="0" dirty="0">
                  <a:latin typeface="Courier New"/>
                  <a:ea typeface="Courier New"/>
                  <a:cs typeface="Courier New"/>
                  <a:sym typeface="Courier New"/>
                </a:rPr>
                <a:t>;dsac.msoe.edu.     	     IN   A</a:t>
              </a:r>
            </a:p>
            <a:p>
              <a:pPr marL="0" indent="0">
                <a:lnSpc>
                  <a:spcPct val="100000"/>
                </a:lnSpc>
                <a:buFont typeface="Arial"/>
                <a:buNone/>
              </a:pPr>
              <a:endParaRPr lang="en-US" sz="1600" b="1" kern="0" dirty="0">
                <a:latin typeface="Courier New"/>
                <a:ea typeface="Courier New"/>
                <a:cs typeface="Courier New"/>
                <a:sym typeface="Courier New"/>
              </a:endParaRPr>
            </a:p>
            <a:p>
              <a:pPr marL="0" indent="0">
                <a:lnSpc>
                  <a:spcPct val="100000"/>
                </a:lnSpc>
                <a:buFont typeface="Arial"/>
                <a:buNone/>
              </a:pPr>
              <a:r>
                <a:rPr lang="en-US" sz="1600" b="1" kern="0" dirty="0">
                  <a:latin typeface="Courier New"/>
                  <a:ea typeface="Courier New"/>
                  <a:cs typeface="Courier New"/>
                  <a:sym typeface="Courier New"/>
                </a:rPr>
                <a:t>;; ANSWER SECTION:</a:t>
              </a:r>
            </a:p>
            <a:p>
              <a:pPr marL="0" indent="0">
                <a:lnSpc>
                  <a:spcPct val="100000"/>
                </a:lnSpc>
                <a:buNone/>
              </a:pPr>
              <a:r>
                <a:rPr lang="en-US" sz="1600" b="1" kern="0" dirty="0">
                  <a:latin typeface="Courier New"/>
                  <a:ea typeface="Courier New"/>
                  <a:cs typeface="Courier New"/>
                  <a:sym typeface="Courier New"/>
                </a:rPr>
                <a:t>dsac.msoe.edu.   86400    IN   A    </a:t>
              </a:r>
              <a:r>
                <a:rPr lang="en" sz="1600" b="1" strike="sngStrike" dirty="0">
                  <a:solidFill>
                    <a:srgbClr val="FF0000"/>
                  </a:solidFill>
                  <a:latin typeface="Courier New"/>
                  <a:ea typeface="Courier New"/>
                  <a:cs typeface="Courier New"/>
                  <a:sym typeface="Courier New"/>
                </a:rPr>
                <a:t>24.175.3.1 </a:t>
              </a:r>
              <a:r>
                <a:rPr lang="en-US" sz="1600" b="1" kern="0" dirty="0">
                  <a:solidFill>
                    <a:srgbClr val="FF0000"/>
                  </a:solidFill>
                  <a:latin typeface="Courier New"/>
                  <a:ea typeface="Courier New"/>
                  <a:cs typeface="Courier New"/>
                  <a:sym typeface="Courier New"/>
                </a:rPr>
                <a:t>7.7.7.7</a:t>
              </a:r>
            </a:p>
            <a:p>
              <a:pPr marL="0" indent="0">
                <a:lnSpc>
                  <a:spcPct val="100000"/>
                </a:lnSpc>
                <a:buFont typeface="Arial"/>
                <a:buNone/>
              </a:pPr>
              <a:endParaRPr lang="en-US" sz="1600" b="1" kern="0" dirty="0">
                <a:latin typeface="Courier New"/>
                <a:ea typeface="Courier New"/>
                <a:cs typeface="Courier New"/>
                <a:sym typeface="Courier New"/>
              </a:endParaRPr>
            </a:p>
          </p:txBody>
        </p:sp>
        <p:sp>
          <p:nvSpPr>
            <p:cNvPr id="17" name="Google Shape;810;p66">
              <a:extLst>
                <a:ext uri="{FF2B5EF4-FFF2-40B4-BE49-F238E27FC236}">
                  <a16:creationId xmlns:a16="http://schemas.microsoft.com/office/drawing/2014/main" id="{475862B0-6877-BD1E-9927-19A72997023A}"/>
                </a:ext>
              </a:extLst>
            </p:cNvPr>
            <p:cNvSpPr/>
            <p:nvPr/>
          </p:nvSpPr>
          <p:spPr>
            <a:xfrm>
              <a:off x="4596334" y="3225592"/>
              <a:ext cx="1694020" cy="264600"/>
            </a:xfrm>
            <a:prstGeom prst="roundRect">
              <a:avLst>
                <a:gd name="adj" fmla="val 16667"/>
              </a:avLst>
            </a:prstGeom>
            <a:noFill/>
            <a:ln w="28575" cap="flat" cmpd="sng">
              <a:solidFill>
                <a:srgbClr val="E691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811;p66">
              <a:extLst>
                <a:ext uri="{FF2B5EF4-FFF2-40B4-BE49-F238E27FC236}">
                  <a16:creationId xmlns:a16="http://schemas.microsoft.com/office/drawing/2014/main" id="{FFD0EA80-4A98-0C2A-4295-E5976D6C3AD2}"/>
                </a:ext>
              </a:extLst>
            </p:cNvPr>
            <p:cNvSpPr/>
            <p:nvPr/>
          </p:nvSpPr>
          <p:spPr>
            <a:xfrm>
              <a:off x="6290354" y="3343263"/>
              <a:ext cx="3739040" cy="264600"/>
            </a:xfrm>
            <a:custGeom>
              <a:avLst/>
              <a:gdLst/>
              <a:ahLst/>
              <a:cxnLst/>
              <a:rect l="l" t="t" r="r" b="b"/>
              <a:pathLst>
                <a:path w="100468" h="34324" extrusionOk="0">
                  <a:moveTo>
                    <a:pt x="100468" y="34324"/>
                  </a:moveTo>
                  <a:lnTo>
                    <a:pt x="100468" y="0"/>
                  </a:lnTo>
                  <a:lnTo>
                    <a:pt x="0" y="0"/>
                  </a:lnTo>
                </a:path>
              </a:pathLst>
            </a:custGeom>
            <a:noFill/>
            <a:ln w="19050" cap="flat" cmpd="sng">
              <a:solidFill>
                <a:srgbClr val="E69138"/>
              </a:solidFill>
              <a:prstDash val="solid"/>
              <a:round/>
              <a:headEnd type="none" w="med" len="med"/>
              <a:tailEnd type="triangle" w="med" len="med"/>
            </a:ln>
          </p:spPr>
          <p:txBody>
            <a:bodyPr/>
            <a:lstStyle/>
            <a:p>
              <a:endParaRPr lang="en-US"/>
            </a:p>
          </p:txBody>
        </p:sp>
        <p:sp>
          <p:nvSpPr>
            <p:cNvPr id="19" name="Google Shape;812;p66">
              <a:extLst>
                <a:ext uri="{FF2B5EF4-FFF2-40B4-BE49-F238E27FC236}">
                  <a16:creationId xmlns:a16="http://schemas.microsoft.com/office/drawing/2014/main" id="{44C6F16B-D867-0C17-C56D-A7E0DB456AB0}"/>
                </a:ext>
              </a:extLst>
            </p:cNvPr>
            <p:cNvSpPr txBox="1"/>
            <p:nvPr/>
          </p:nvSpPr>
          <p:spPr>
            <a:xfrm>
              <a:off x="8895734" y="3630846"/>
              <a:ext cx="2312700" cy="1015632"/>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dirty="0">
                  <a:solidFill>
                    <a:schemeClr val="dk1"/>
                  </a:solidFill>
                </a:rPr>
                <a:t>We made a query to  </a:t>
              </a:r>
              <a:r>
                <a:rPr lang="en" b="1" dirty="0">
                  <a:solidFill>
                    <a:schemeClr val="dk1"/>
                  </a:solidFill>
                  <a:latin typeface="Courier New"/>
                  <a:ea typeface="Courier New"/>
                  <a:cs typeface="Courier New"/>
                  <a:sym typeface="Courier New"/>
                </a:rPr>
                <a:t>msoe.edu</a:t>
              </a:r>
              <a:r>
                <a:rPr lang="en" dirty="0">
                  <a:solidFill>
                    <a:schemeClr val="dk1"/>
                  </a:solidFill>
                </a:rPr>
                <a:t> name server... </a:t>
              </a:r>
              <a:endParaRPr dirty="0"/>
            </a:p>
          </p:txBody>
        </p:sp>
        <p:sp>
          <p:nvSpPr>
            <p:cNvPr id="21" name="Google Shape;814;p66">
              <a:extLst>
                <a:ext uri="{FF2B5EF4-FFF2-40B4-BE49-F238E27FC236}">
                  <a16:creationId xmlns:a16="http://schemas.microsoft.com/office/drawing/2014/main" id="{1D1EC1C4-6043-AFDA-1A34-429AF1D36A66}"/>
                </a:ext>
              </a:extLst>
            </p:cNvPr>
            <p:cNvSpPr/>
            <p:nvPr/>
          </p:nvSpPr>
          <p:spPr>
            <a:xfrm rot="10800000" flipH="1">
              <a:off x="7592166" y="5419163"/>
              <a:ext cx="2437228" cy="380228"/>
            </a:xfrm>
            <a:custGeom>
              <a:avLst/>
              <a:gdLst/>
              <a:ahLst/>
              <a:cxnLst/>
              <a:rect l="l" t="t" r="r" b="b"/>
              <a:pathLst>
                <a:path w="100468" h="34324" extrusionOk="0">
                  <a:moveTo>
                    <a:pt x="100468" y="34324"/>
                  </a:moveTo>
                  <a:lnTo>
                    <a:pt x="100468" y="0"/>
                  </a:lnTo>
                  <a:lnTo>
                    <a:pt x="0" y="0"/>
                  </a:lnTo>
                </a:path>
              </a:pathLst>
            </a:custGeom>
            <a:noFill/>
            <a:ln w="19050" cap="flat" cmpd="sng">
              <a:solidFill>
                <a:srgbClr val="E69138"/>
              </a:solidFill>
              <a:prstDash val="solid"/>
              <a:round/>
              <a:headEnd type="none" w="med" len="med"/>
              <a:tailEnd type="triangle" w="med" len="med"/>
            </a:ln>
          </p:spPr>
          <p:txBody>
            <a:bodyPr/>
            <a:lstStyle/>
            <a:p>
              <a:endParaRPr lang="en-US"/>
            </a:p>
          </p:txBody>
        </p:sp>
        <p:sp>
          <p:nvSpPr>
            <p:cNvPr id="22" name="Google Shape;815;p66">
              <a:extLst>
                <a:ext uri="{FF2B5EF4-FFF2-40B4-BE49-F238E27FC236}">
                  <a16:creationId xmlns:a16="http://schemas.microsoft.com/office/drawing/2014/main" id="{5E871721-859A-94D8-31E6-1038870363D1}"/>
                </a:ext>
              </a:extLst>
            </p:cNvPr>
            <p:cNvSpPr/>
            <p:nvPr/>
          </p:nvSpPr>
          <p:spPr>
            <a:xfrm>
              <a:off x="5116461" y="5662386"/>
              <a:ext cx="2475705" cy="264600"/>
            </a:xfrm>
            <a:prstGeom prst="roundRect">
              <a:avLst>
                <a:gd name="adj" fmla="val 16667"/>
              </a:avLst>
            </a:prstGeom>
            <a:noFill/>
            <a:ln w="28575" cap="flat" cmpd="sng">
              <a:solidFill>
                <a:srgbClr val="E691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816;p66">
              <a:extLst>
                <a:ext uri="{FF2B5EF4-FFF2-40B4-BE49-F238E27FC236}">
                  <a16:creationId xmlns:a16="http://schemas.microsoft.com/office/drawing/2014/main" id="{761E5F8B-24CA-95A3-3BA6-44BA880E55EC}"/>
                </a:ext>
              </a:extLst>
            </p:cNvPr>
            <p:cNvSpPr txBox="1"/>
            <p:nvPr/>
          </p:nvSpPr>
          <p:spPr>
            <a:xfrm>
              <a:off x="8895734" y="4742088"/>
              <a:ext cx="2312700" cy="738633"/>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US" altLang="zh-CN" dirty="0">
                  <a:solidFill>
                    <a:schemeClr val="dk1"/>
                  </a:solidFill>
                </a:rPr>
                <a:t>MITM attacker modifies the answer</a:t>
              </a:r>
              <a:endParaRPr dirty="0"/>
            </a:p>
          </p:txBody>
        </p:sp>
      </p:grpSp>
    </p:spTree>
    <p:extLst>
      <p:ext uri="{BB962C8B-B14F-4D97-AF65-F5344CB8AC3E}">
        <p14:creationId xmlns:p14="http://schemas.microsoft.com/office/powerpoint/2010/main" val="34650381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819;p140">
            <a:extLst>
              <a:ext uri="{FF2B5EF4-FFF2-40B4-BE49-F238E27FC236}">
                <a16:creationId xmlns:a16="http://schemas.microsoft.com/office/drawing/2014/main" id="{A1BBD3EA-B48A-9405-9D84-E991AC00628F}"/>
              </a:ext>
            </a:extLst>
          </p:cNvPr>
          <p:cNvSpPr txBox="1">
            <a:spLocks noGrp="1"/>
          </p:cNvSpPr>
          <p:nvPr>
            <p:ph type="title"/>
          </p:nvPr>
        </p:nvSpPr>
        <p:spPr>
          <a:xfrm>
            <a:off x="415600" y="0"/>
            <a:ext cx="11360800" cy="763600"/>
          </a:xfrm>
          <a:prstGeom prst="rect">
            <a:avLst/>
          </a:prstGeom>
        </p:spPr>
        <p:txBody>
          <a:bodyPr spcFirstLastPara="1" wrap="square" lIns="121900" tIns="121900" rIns="121900" bIns="121900" anchor="t" anchorCtr="0">
            <a:noAutofit/>
          </a:bodyPr>
          <a:lstStyle/>
          <a:p>
            <a:r>
              <a:rPr lang="en-US" sz="4400" dirty="0">
                <a:latin typeface="Aptos" panose="020B0004020202020204" pitchFamily="34" charset="0"/>
              </a:rPr>
              <a:t>Security</a:t>
            </a:r>
            <a:r>
              <a:rPr lang="en" sz="4400" dirty="0">
                <a:latin typeface="Aptos" panose="020B0004020202020204" pitchFamily="34" charset="0"/>
              </a:rPr>
              <a:t> Risk: On-Path Attackers</a:t>
            </a:r>
            <a:endParaRPr sz="4400" dirty="0">
              <a:latin typeface="Aptos" panose="020B0004020202020204" pitchFamily="34" charset="0"/>
            </a:endParaRPr>
          </a:p>
        </p:txBody>
      </p:sp>
      <p:sp>
        <p:nvSpPr>
          <p:cNvPr id="3" name="Text Placeholder 2">
            <a:extLst>
              <a:ext uri="{FF2B5EF4-FFF2-40B4-BE49-F238E27FC236}">
                <a16:creationId xmlns:a16="http://schemas.microsoft.com/office/drawing/2014/main" id="{B101102E-D38D-FD64-F76E-582EBDF2D6C9}"/>
              </a:ext>
            </a:extLst>
          </p:cNvPr>
          <p:cNvSpPr>
            <a:spLocks noGrp="1"/>
          </p:cNvSpPr>
          <p:nvPr>
            <p:ph type="body" idx="1"/>
          </p:nvPr>
        </p:nvSpPr>
        <p:spPr>
          <a:xfrm>
            <a:off x="0" y="965178"/>
            <a:ext cx="7367401" cy="4407926"/>
          </a:xfrm>
        </p:spPr>
        <p:txBody>
          <a:bodyPr>
            <a:noAutofit/>
          </a:bodyPr>
          <a:lstStyle/>
          <a:p>
            <a:pPr marL="457200" indent="-342900">
              <a:spcAft>
                <a:spcPts val="600"/>
              </a:spcAft>
              <a:buClrTx/>
            </a:pPr>
            <a:r>
              <a:rPr lang="en-US" sz="2000" dirty="0">
                <a:solidFill>
                  <a:schemeClr val="tx1"/>
                </a:solidFill>
                <a:latin typeface="Aptos" panose="020B0004020202020204" pitchFamily="34" charset="0"/>
              </a:rPr>
              <a:t>DNS is not secure against on-path attackers</a:t>
            </a:r>
          </a:p>
          <a:p>
            <a:pPr marL="457200" indent="-342900">
              <a:spcAft>
                <a:spcPts val="600"/>
              </a:spcAft>
              <a:buClrTx/>
            </a:pPr>
            <a:r>
              <a:rPr lang="en-US" sz="2000" dirty="0">
                <a:solidFill>
                  <a:schemeClr val="tx1"/>
                </a:solidFill>
                <a:latin typeface="Aptos" panose="020B0004020202020204" pitchFamily="34" charset="0"/>
              </a:rPr>
              <a:t>How does client </a:t>
            </a:r>
            <a:r>
              <a:rPr lang="en-US" sz="2000" b="1" dirty="0">
                <a:solidFill>
                  <a:srgbClr val="C00000"/>
                </a:solidFill>
                <a:latin typeface="Aptos" panose="020B0004020202020204" pitchFamily="34" charset="0"/>
              </a:rPr>
              <a:t>authenticate</a:t>
            </a:r>
            <a:r>
              <a:rPr lang="en-US" sz="2000" dirty="0">
                <a:solidFill>
                  <a:schemeClr val="tx1"/>
                </a:solidFill>
                <a:latin typeface="Aptos" panose="020B0004020202020204" pitchFamily="34" charset="0"/>
              </a:rPr>
              <a:t> response?</a:t>
            </a:r>
          </a:p>
          <a:p>
            <a:pPr marL="1066785" lvl="1" indent="-342900">
              <a:spcAft>
                <a:spcPts val="600"/>
              </a:spcAft>
              <a:buClrTx/>
              <a:buSzPct val="100000"/>
              <a:buFont typeface="Arial" panose="020B0604020202020204" pitchFamily="34" charset="0"/>
              <a:buChar char="•"/>
            </a:pPr>
            <a:r>
              <a:rPr lang="en-US" sz="2067" b="1" dirty="0">
                <a:solidFill>
                  <a:srgbClr val="C00000"/>
                </a:solidFill>
                <a:latin typeface="Aptos" panose="020B0004020202020204" pitchFamily="34" charset="0"/>
              </a:rPr>
              <a:t>Port numbers </a:t>
            </a:r>
            <a:r>
              <a:rPr lang="en-US" sz="2067" dirty="0">
                <a:solidFill>
                  <a:schemeClr val="tx1"/>
                </a:solidFill>
                <a:latin typeface="Aptos" panose="020B0004020202020204" pitchFamily="34" charset="0"/>
              </a:rPr>
              <a:t>must match </a:t>
            </a:r>
          </a:p>
          <a:p>
            <a:pPr marL="1066785" lvl="1" indent="-342900">
              <a:spcAft>
                <a:spcPts val="600"/>
              </a:spcAft>
              <a:buClrTx/>
              <a:buSzPct val="100000"/>
              <a:buFont typeface="Arial" panose="020B0604020202020204" pitchFamily="34" charset="0"/>
              <a:buChar char="•"/>
            </a:pPr>
            <a:r>
              <a:rPr lang="en-US" sz="2067" b="1" dirty="0">
                <a:solidFill>
                  <a:srgbClr val="C00000"/>
                </a:solidFill>
                <a:latin typeface="Aptos" panose="020B0004020202020204" pitchFamily="34" charset="0"/>
              </a:rPr>
              <a:t>Query ID </a:t>
            </a:r>
            <a:r>
              <a:rPr lang="en-US" sz="2067" dirty="0">
                <a:solidFill>
                  <a:schemeClr val="tx1"/>
                </a:solidFill>
                <a:latin typeface="Aptos" panose="020B0004020202020204" pitchFamily="34" charset="0"/>
              </a:rPr>
              <a:t>number must match</a:t>
            </a:r>
          </a:p>
          <a:p>
            <a:pPr marL="457200" indent="-342900">
              <a:spcAft>
                <a:spcPts val="600"/>
              </a:spcAft>
              <a:buClrTx/>
            </a:pPr>
            <a:r>
              <a:rPr lang="en-US" sz="1933" dirty="0">
                <a:solidFill>
                  <a:schemeClr val="tx1"/>
                </a:solidFill>
                <a:latin typeface="Aptos" panose="020B0004020202020204" pitchFamily="34" charset="0"/>
              </a:rPr>
              <a:t>On-path attackers can poison the cache by </a:t>
            </a:r>
            <a:r>
              <a:rPr lang="en-US" sz="1933" i="1" dirty="0">
                <a:solidFill>
                  <a:srgbClr val="C00000"/>
                </a:solidFill>
                <a:latin typeface="Aptos" panose="020B0004020202020204" pitchFamily="34" charset="0"/>
              </a:rPr>
              <a:t>sending a spoofed response</a:t>
            </a:r>
          </a:p>
          <a:p>
            <a:pPr marL="1066785" lvl="1" indent="-342900">
              <a:spcAft>
                <a:spcPts val="600"/>
              </a:spcAft>
              <a:buClrTx/>
              <a:buSzPct val="100000"/>
              <a:buFont typeface="Arial" panose="020B0604020202020204" pitchFamily="34" charset="0"/>
              <a:buChar char="•"/>
            </a:pPr>
            <a:r>
              <a:rPr lang="en-US" sz="2067" dirty="0">
                <a:solidFill>
                  <a:schemeClr val="tx1"/>
                </a:solidFill>
                <a:latin typeface="Aptos" panose="020B0004020202020204" pitchFamily="34" charset="0"/>
              </a:rPr>
              <a:t>The on-path attacker can see every field in the unencrypted DNS request. Nothing to guess!</a:t>
            </a:r>
          </a:p>
          <a:p>
            <a:pPr marL="1066785" lvl="1" indent="-342900">
              <a:spcAft>
                <a:spcPts val="600"/>
              </a:spcAft>
              <a:buClrTx/>
              <a:buSzPct val="100000"/>
              <a:buFont typeface="Arial" panose="020B0604020202020204" pitchFamily="34" charset="0"/>
              <a:buChar char="•"/>
            </a:pPr>
            <a:r>
              <a:rPr lang="en-US" sz="2067" dirty="0">
                <a:solidFill>
                  <a:schemeClr val="tx1"/>
                </a:solidFill>
                <a:latin typeface="Aptos" panose="020B0004020202020204" pitchFamily="34" charset="0"/>
              </a:rPr>
              <a:t>If the spoofed response arrives </a:t>
            </a:r>
            <a:r>
              <a:rPr lang="en-US" sz="2067" b="1" i="1" dirty="0">
                <a:solidFill>
                  <a:srgbClr val="C00000"/>
                </a:solidFill>
                <a:latin typeface="Aptos" panose="020B0004020202020204" pitchFamily="34" charset="0"/>
              </a:rPr>
              <a:t>before</a:t>
            </a:r>
            <a:r>
              <a:rPr lang="en-US" sz="2067" dirty="0">
                <a:solidFill>
                  <a:schemeClr val="tx1"/>
                </a:solidFill>
                <a:latin typeface="Aptos" panose="020B0004020202020204" pitchFamily="34" charset="0"/>
              </a:rPr>
              <a:t> the legitimate response, the victim will cache the attacker’s malicious records</a:t>
            </a:r>
          </a:p>
        </p:txBody>
      </p:sp>
      <p:grpSp>
        <p:nvGrpSpPr>
          <p:cNvPr id="2" name="Google Shape;840;p69">
            <a:extLst>
              <a:ext uri="{FF2B5EF4-FFF2-40B4-BE49-F238E27FC236}">
                <a16:creationId xmlns:a16="http://schemas.microsoft.com/office/drawing/2014/main" id="{BF67B752-C6B2-6B5D-7ADD-1F5F4E28F87B}"/>
              </a:ext>
            </a:extLst>
          </p:cNvPr>
          <p:cNvGrpSpPr/>
          <p:nvPr/>
        </p:nvGrpSpPr>
        <p:grpSpPr>
          <a:xfrm>
            <a:off x="1089074" y="5373204"/>
            <a:ext cx="5623650" cy="1334125"/>
            <a:chOff x="1737400" y="3409600"/>
            <a:chExt cx="5623650" cy="1334125"/>
          </a:xfrm>
        </p:grpSpPr>
        <p:sp>
          <p:nvSpPr>
            <p:cNvPr id="5" name="Google Shape;841;p69">
              <a:extLst>
                <a:ext uri="{FF2B5EF4-FFF2-40B4-BE49-F238E27FC236}">
                  <a16:creationId xmlns:a16="http://schemas.microsoft.com/office/drawing/2014/main" id="{5FE5F369-87F2-0ED1-35CE-7725C26865FA}"/>
                </a:ext>
              </a:extLst>
            </p:cNvPr>
            <p:cNvSpPr txBox="1"/>
            <p:nvPr/>
          </p:nvSpPr>
          <p:spPr>
            <a:xfrm>
              <a:off x="1737400" y="3774000"/>
              <a:ext cx="1238100" cy="6228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400">
                  <a:latin typeface="Courier New"/>
                  <a:ea typeface="Courier New"/>
                  <a:cs typeface="Courier New"/>
                  <a:sym typeface="Courier New"/>
                </a:rPr>
                <a:t>Recursive Resolver</a:t>
              </a:r>
              <a:endParaRPr sz="1400">
                <a:latin typeface="Calibri"/>
                <a:ea typeface="Calibri"/>
                <a:cs typeface="Calibri"/>
                <a:sym typeface="Calibri"/>
              </a:endParaRPr>
            </a:p>
          </p:txBody>
        </p:sp>
        <p:cxnSp>
          <p:nvCxnSpPr>
            <p:cNvPr id="6" name="Google Shape;842;p69">
              <a:extLst>
                <a:ext uri="{FF2B5EF4-FFF2-40B4-BE49-F238E27FC236}">
                  <a16:creationId xmlns:a16="http://schemas.microsoft.com/office/drawing/2014/main" id="{AC8C8ED4-75EF-7B4C-0FC0-7B5217F40140}"/>
                </a:ext>
              </a:extLst>
            </p:cNvPr>
            <p:cNvCxnSpPr>
              <a:endCxn id="7" idx="1"/>
            </p:cNvCxnSpPr>
            <p:nvPr/>
          </p:nvCxnSpPr>
          <p:spPr>
            <a:xfrm>
              <a:off x="4513150" y="4318625"/>
              <a:ext cx="1271400" cy="113700"/>
            </a:xfrm>
            <a:prstGeom prst="straightConnector1">
              <a:avLst/>
            </a:prstGeom>
            <a:noFill/>
            <a:ln w="19050" cap="flat" cmpd="sng">
              <a:solidFill>
                <a:srgbClr val="000000"/>
              </a:solidFill>
              <a:prstDash val="solid"/>
              <a:round/>
              <a:headEnd type="triangle" w="med" len="med"/>
              <a:tailEnd type="none" w="med" len="med"/>
            </a:ln>
          </p:spPr>
        </p:cxnSp>
        <p:sp>
          <p:nvSpPr>
            <p:cNvPr id="7" name="Google Shape;843;p69">
              <a:extLst>
                <a:ext uri="{FF2B5EF4-FFF2-40B4-BE49-F238E27FC236}">
                  <a16:creationId xmlns:a16="http://schemas.microsoft.com/office/drawing/2014/main" id="{4F72CB66-C704-DAEB-60F5-1BC1CD875133}"/>
                </a:ext>
              </a:extLst>
            </p:cNvPr>
            <p:cNvSpPr txBox="1"/>
            <p:nvPr/>
          </p:nvSpPr>
          <p:spPr>
            <a:xfrm>
              <a:off x="5784550" y="4120925"/>
              <a:ext cx="1576500" cy="6228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latin typeface="Courier New"/>
                  <a:ea typeface="Courier New"/>
                  <a:cs typeface="Courier New"/>
                  <a:sym typeface="Courier New"/>
                </a:rPr>
                <a:t>msoe.edu name server</a:t>
              </a:r>
              <a:endParaRPr sz="1400" dirty="0">
                <a:latin typeface="Calibri"/>
                <a:ea typeface="Calibri"/>
                <a:cs typeface="Calibri"/>
                <a:sym typeface="Calibri"/>
              </a:endParaRPr>
            </a:p>
          </p:txBody>
        </p:sp>
        <p:sp>
          <p:nvSpPr>
            <p:cNvPr id="8" name="Google Shape;844;p69">
              <a:extLst>
                <a:ext uri="{FF2B5EF4-FFF2-40B4-BE49-F238E27FC236}">
                  <a16:creationId xmlns:a16="http://schemas.microsoft.com/office/drawing/2014/main" id="{983DD11E-61C6-A8B8-0549-384AB17786D6}"/>
                </a:ext>
              </a:extLst>
            </p:cNvPr>
            <p:cNvSpPr txBox="1"/>
            <p:nvPr/>
          </p:nvSpPr>
          <p:spPr>
            <a:xfrm>
              <a:off x="5784550" y="3409600"/>
              <a:ext cx="1576500" cy="6228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400">
                  <a:latin typeface="Courier New"/>
                  <a:ea typeface="Courier New"/>
                  <a:cs typeface="Courier New"/>
                  <a:sym typeface="Courier New"/>
                </a:rPr>
                <a:t>Attacker</a:t>
              </a:r>
              <a:endParaRPr sz="1400">
                <a:latin typeface="Calibri"/>
                <a:ea typeface="Calibri"/>
                <a:cs typeface="Calibri"/>
                <a:sym typeface="Calibri"/>
              </a:endParaRPr>
            </a:p>
          </p:txBody>
        </p:sp>
        <p:cxnSp>
          <p:nvCxnSpPr>
            <p:cNvPr id="9" name="Google Shape;845;p69">
              <a:extLst>
                <a:ext uri="{FF2B5EF4-FFF2-40B4-BE49-F238E27FC236}">
                  <a16:creationId xmlns:a16="http://schemas.microsoft.com/office/drawing/2014/main" id="{A116CAEC-63F0-3F4B-64B3-A6360AECBAFD}"/>
                </a:ext>
              </a:extLst>
            </p:cNvPr>
            <p:cNvCxnSpPr>
              <a:stCxn id="5" idx="3"/>
              <a:endCxn id="8" idx="1"/>
            </p:cNvCxnSpPr>
            <p:nvPr/>
          </p:nvCxnSpPr>
          <p:spPr>
            <a:xfrm rot="10800000" flipH="1">
              <a:off x="2975500" y="3720900"/>
              <a:ext cx="2809200" cy="364500"/>
            </a:xfrm>
            <a:prstGeom prst="straightConnector1">
              <a:avLst/>
            </a:prstGeom>
            <a:noFill/>
            <a:ln w="19050" cap="flat" cmpd="sng">
              <a:solidFill>
                <a:srgbClr val="FF0000"/>
              </a:solidFill>
              <a:prstDash val="solid"/>
              <a:round/>
              <a:headEnd type="triangle" w="med" len="med"/>
              <a:tailEnd type="none" w="med" len="med"/>
            </a:ln>
          </p:spPr>
        </p:cxnSp>
      </p:grpSp>
      <p:grpSp>
        <p:nvGrpSpPr>
          <p:cNvPr id="16" name="Group 15">
            <a:extLst>
              <a:ext uri="{FF2B5EF4-FFF2-40B4-BE49-F238E27FC236}">
                <a16:creationId xmlns:a16="http://schemas.microsoft.com/office/drawing/2014/main" id="{A6E1B9A1-AEB1-D841-C912-5BD31FADD2F0}"/>
              </a:ext>
            </a:extLst>
          </p:cNvPr>
          <p:cNvGrpSpPr/>
          <p:nvPr/>
        </p:nvGrpSpPr>
        <p:grpSpPr>
          <a:xfrm>
            <a:off x="7328324" y="1558794"/>
            <a:ext cx="4730400" cy="4206546"/>
            <a:chOff x="7367400" y="1237587"/>
            <a:chExt cx="4730400" cy="4206546"/>
          </a:xfrm>
        </p:grpSpPr>
        <p:graphicFrame>
          <p:nvGraphicFramePr>
            <p:cNvPr id="10" name="Google Shape;853;p70">
              <a:extLst>
                <a:ext uri="{FF2B5EF4-FFF2-40B4-BE49-F238E27FC236}">
                  <a16:creationId xmlns:a16="http://schemas.microsoft.com/office/drawing/2014/main" id="{FB08931C-6C56-CC88-1F44-75AA24664B3B}"/>
                </a:ext>
              </a:extLst>
            </p:cNvPr>
            <p:cNvGraphicFramePr/>
            <p:nvPr>
              <p:extLst>
                <p:ext uri="{D42A27DB-BD31-4B8C-83A1-F6EECF244321}">
                  <p14:modId xmlns:p14="http://schemas.microsoft.com/office/powerpoint/2010/main" val="3756469906"/>
                </p:ext>
              </p:extLst>
            </p:nvPr>
          </p:nvGraphicFramePr>
          <p:xfrm>
            <a:off x="7367400" y="1237587"/>
            <a:ext cx="4114800" cy="4206546"/>
          </p:xfrm>
          <a:graphic>
            <a:graphicData uri="http://schemas.openxmlformats.org/drawingml/2006/table">
              <a:tbl>
                <a:tblPr>
                  <a:noFill/>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tblGrid>
                <a:tr h="396200">
                  <a:tc>
                    <a:txBody>
                      <a:bodyPr/>
                      <a:lstStyle/>
                      <a:p>
                        <a:pPr marL="0" lvl="0" indent="0" algn="ctr" rtl="0">
                          <a:spcBef>
                            <a:spcPts val="0"/>
                          </a:spcBef>
                          <a:spcAft>
                            <a:spcPts val="0"/>
                          </a:spcAft>
                          <a:buNone/>
                        </a:pPr>
                        <a:r>
                          <a:rPr lang="en">
                            <a:solidFill>
                              <a:schemeClr val="dk1"/>
                            </a:solidFill>
                          </a:rPr>
                          <a:t>Source Port</a:t>
                        </a:r>
                        <a:endParaRPr>
                          <a:solidFill>
                            <a:schemeClr val="dk1"/>
                          </a:solidFill>
                        </a:endParaRPr>
                      </a:p>
                    </a:txBody>
                    <a:tcPr marL="91425" marR="91425" marT="91425" marB="91425"/>
                  </a:tc>
                  <a:tc>
                    <a:txBody>
                      <a:bodyPr/>
                      <a:lstStyle/>
                      <a:p>
                        <a:pPr marL="0" lvl="0" indent="0" algn="ctr" rtl="0">
                          <a:spcBef>
                            <a:spcPts val="0"/>
                          </a:spcBef>
                          <a:spcAft>
                            <a:spcPts val="0"/>
                          </a:spcAft>
                          <a:buNone/>
                        </a:pPr>
                        <a:r>
                          <a:rPr lang="en">
                            <a:solidFill>
                              <a:schemeClr val="dk1"/>
                            </a:solidFill>
                          </a:rPr>
                          <a:t>Destination Port</a:t>
                        </a:r>
                        <a:endParaRPr>
                          <a:solidFill>
                            <a:schemeClr val="dk1"/>
                          </a:solidFill>
                        </a:endParaRPr>
                      </a:p>
                    </a:txBody>
                    <a:tcPr marL="91425" marR="91425" marT="91425" marB="91425"/>
                  </a:tc>
                  <a:extLst>
                    <a:ext uri="{0D108BD9-81ED-4DB2-BD59-A6C34878D82A}">
                      <a16:rowId xmlns:a16="http://schemas.microsoft.com/office/drawing/2014/main" val="10000"/>
                    </a:ext>
                  </a:extLst>
                </a:tr>
                <a:tr h="396200">
                  <a:tc>
                    <a:txBody>
                      <a:bodyPr/>
                      <a:lstStyle/>
                      <a:p>
                        <a:pPr marL="0" lvl="0" indent="0" algn="ctr" rtl="0">
                          <a:spcBef>
                            <a:spcPts val="0"/>
                          </a:spcBef>
                          <a:spcAft>
                            <a:spcPts val="0"/>
                          </a:spcAft>
                          <a:buNone/>
                        </a:pPr>
                        <a:r>
                          <a:rPr lang="en">
                            <a:solidFill>
                              <a:schemeClr val="dk1"/>
                            </a:solidFill>
                          </a:rPr>
                          <a:t>Checksum</a:t>
                        </a:r>
                        <a:endParaRPr>
                          <a:solidFill>
                            <a:schemeClr val="dk1"/>
                          </a:solidFill>
                        </a:endParaRPr>
                      </a:p>
                    </a:txBody>
                    <a:tcPr marL="91425" marR="91425" marT="91425" marB="91425"/>
                  </a:tc>
                  <a:tc>
                    <a:txBody>
                      <a:bodyPr/>
                      <a:lstStyle/>
                      <a:p>
                        <a:pPr marL="0" lvl="0" indent="0" algn="ctr" rtl="0">
                          <a:spcBef>
                            <a:spcPts val="0"/>
                          </a:spcBef>
                          <a:spcAft>
                            <a:spcPts val="0"/>
                          </a:spcAft>
                          <a:buNone/>
                        </a:pPr>
                        <a:r>
                          <a:rPr lang="en">
                            <a:solidFill>
                              <a:schemeClr val="dk1"/>
                            </a:solidFill>
                          </a:rPr>
                          <a:t>Length</a:t>
                        </a:r>
                        <a:endParaRPr>
                          <a:solidFill>
                            <a:schemeClr val="dk1"/>
                          </a:solidFill>
                        </a:endParaRPr>
                      </a:p>
                    </a:txBody>
                    <a:tcPr marL="91425" marR="91425" marT="91425" marB="91425"/>
                  </a:tc>
                  <a:extLst>
                    <a:ext uri="{0D108BD9-81ED-4DB2-BD59-A6C34878D82A}">
                      <a16:rowId xmlns:a16="http://schemas.microsoft.com/office/drawing/2014/main" val="10001"/>
                    </a:ext>
                  </a:extLst>
                </a:tr>
                <a:tr h="396200">
                  <a:tc>
                    <a:txBody>
                      <a:bodyPr/>
                      <a:lstStyle/>
                      <a:p>
                        <a:pPr marL="0" lvl="0" indent="0" algn="ctr" rtl="0">
                          <a:spcBef>
                            <a:spcPts val="0"/>
                          </a:spcBef>
                          <a:spcAft>
                            <a:spcPts val="0"/>
                          </a:spcAft>
                          <a:buNone/>
                        </a:pPr>
                        <a:r>
                          <a:rPr lang="en" sz="1800" b="1">
                            <a:solidFill>
                              <a:schemeClr val="dk1"/>
                            </a:solidFill>
                          </a:rPr>
                          <a:t>Query ID number</a:t>
                        </a:r>
                        <a:endParaRPr sz="1800" b="1">
                          <a:solidFill>
                            <a:schemeClr val="dk1"/>
                          </a:solidFill>
                        </a:endParaRPr>
                      </a:p>
                    </a:txBody>
                    <a:tcPr marL="91425" marR="91425" marT="91425" marB="91425"/>
                  </a:tc>
                  <a:tc>
                    <a:txBody>
                      <a:bodyPr/>
                      <a:lstStyle/>
                      <a:p>
                        <a:pPr marL="0" lvl="0" indent="0" algn="ctr" rtl="0">
                          <a:spcBef>
                            <a:spcPts val="0"/>
                          </a:spcBef>
                          <a:spcAft>
                            <a:spcPts val="0"/>
                          </a:spcAft>
                          <a:buNone/>
                        </a:pPr>
                        <a:r>
                          <a:rPr lang="en">
                            <a:solidFill>
                              <a:schemeClr val="dk1"/>
                            </a:solidFill>
                          </a:rPr>
                          <a:t>Flags</a:t>
                        </a:r>
                        <a:endParaRPr>
                          <a:solidFill>
                            <a:schemeClr val="dk1"/>
                          </a:solidFill>
                        </a:endParaRPr>
                      </a:p>
                    </a:txBody>
                    <a:tcPr marL="91425" marR="91425" marT="91425" marB="91425"/>
                  </a:tc>
                  <a:extLst>
                    <a:ext uri="{0D108BD9-81ED-4DB2-BD59-A6C34878D82A}">
                      <a16:rowId xmlns:a16="http://schemas.microsoft.com/office/drawing/2014/main" val="10002"/>
                    </a:ext>
                  </a:extLst>
                </a:tr>
                <a:tr h="396200">
                  <a:tc>
                    <a:txBody>
                      <a:bodyPr/>
                      <a:lstStyle/>
                      <a:p>
                        <a:pPr marL="0" lvl="0" indent="0" algn="ctr" rtl="0">
                          <a:spcBef>
                            <a:spcPts val="0"/>
                          </a:spcBef>
                          <a:spcAft>
                            <a:spcPts val="0"/>
                          </a:spcAft>
                          <a:buNone/>
                        </a:pPr>
                        <a:r>
                          <a:rPr lang="en">
                            <a:solidFill>
                              <a:schemeClr val="dk1"/>
                            </a:solidFill>
                          </a:rPr>
                          <a:t>Question count</a:t>
                        </a:r>
                        <a:endParaRPr>
                          <a:solidFill>
                            <a:schemeClr val="dk1"/>
                          </a:solidFill>
                        </a:endParaRPr>
                      </a:p>
                    </a:txBody>
                    <a:tcPr marL="91425" marR="91425" marT="91425" marB="91425"/>
                  </a:tc>
                  <a:tc>
                    <a:txBody>
                      <a:bodyPr/>
                      <a:lstStyle/>
                      <a:p>
                        <a:pPr marL="0" lvl="0" indent="0" algn="ctr" rtl="0">
                          <a:spcBef>
                            <a:spcPts val="0"/>
                          </a:spcBef>
                          <a:spcAft>
                            <a:spcPts val="0"/>
                          </a:spcAft>
                          <a:buNone/>
                        </a:pPr>
                        <a:r>
                          <a:rPr lang="en">
                            <a:solidFill>
                              <a:schemeClr val="dk1"/>
                            </a:solidFill>
                          </a:rPr>
                          <a:t>Answer count</a:t>
                        </a:r>
                        <a:endParaRPr>
                          <a:solidFill>
                            <a:schemeClr val="dk1"/>
                          </a:solidFill>
                        </a:endParaRPr>
                      </a:p>
                    </a:txBody>
                    <a:tcPr marL="91425" marR="91425" marT="91425" marB="91425"/>
                  </a:tc>
                  <a:extLst>
                    <a:ext uri="{0D108BD9-81ED-4DB2-BD59-A6C34878D82A}">
                      <a16:rowId xmlns:a16="http://schemas.microsoft.com/office/drawing/2014/main" val="10003"/>
                    </a:ext>
                  </a:extLst>
                </a:tr>
                <a:tr h="396200">
                  <a:tc>
                    <a:txBody>
                      <a:bodyPr/>
                      <a:lstStyle/>
                      <a:p>
                        <a:pPr marL="0" lvl="0" indent="0" algn="ctr" rtl="0">
                          <a:spcBef>
                            <a:spcPts val="0"/>
                          </a:spcBef>
                          <a:spcAft>
                            <a:spcPts val="0"/>
                          </a:spcAft>
                          <a:buNone/>
                        </a:pPr>
                        <a:r>
                          <a:rPr lang="en">
                            <a:solidFill>
                              <a:schemeClr val="dk1"/>
                            </a:solidFill>
                          </a:rPr>
                          <a:t>Authority count</a:t>
                        </a:r>
                        <a:endParaRPr>
                          <a:solidFill>
                            <a:schemeClr val="dk1"/>
                          </a:solidFill>
                        </a:endParaRPr>
                      </a:p>
                    </a:txBody>
                    <a:tcPr marL="91425" marR="91425" marT="91425" marB="91425"/>
                  </a:tc>
                  <a:tc>
                    <a:txBody>
                      <a:bodyPr/>
                      <a:lstStyle/>
                      <a:p>
                        <a:pPr marL="0" lvl="0" indent="0" algn="ctr" rtl="0">
                          <a:spcBef>
                            <a:spcPts val="0"/>
                          </a:spcBef>
                          <a:spcAft>
                            <a:spcPts val="0"/>
                          </a:spcAft>
                          <a:buNone/>
                        </a:pPr>
                        <a:r>
                          <a:rPr lang="en">
                            <a:solidFill>
                              <a:schemeClr val="dk1"/>
                            </a:solidFill>
                          </a:rPr>
                          <a:t>Additional count</a:t>
                        </a:r>
                        <a:endParaRPr>
                          <a:solidFill>
                            <a:schemeClr val="dk1"/>
                          </a:solidFill>
                        </a:endParaRPr>
                      </a:p>
                    </a:txBody>
                    <a:tcPr marL="91425" marR="91425" marT="91425" marB="91425"/>
                  </a:tc>
                  <a:extLst>
                    <a:ext uri="{0D108BD9-81ED-4DB2-BD59-A6C34878D82A}">
                      <a16:rowId xmlns:a16="http://schemas.microsoft.com/office/drawing/2014/main" val="10004"/>
                    </a:ext>
                  </a:extLst>
                </a:tr>
                <a:tr h="396200">
                  <a:tc gridSpan="2">
                    <a:txBody>
                      <a:bodyPr/>
                      <a:lstStyle/>
                      <a:p>
                        <a:pPr marL="0" lvl="0" indent="0" algn="ctr" rtl="0">
                          <a:spcBef>
                            <a:spcPts val="0"/>
                          </a:spcBef>
                          <a:spcAft>
                            <a:spcPts val="0"/>
                          </a:spcAft>
                          <a:buNone/>
                        </a:pPr>
                        <a:r>
                          <a:rPr lang="en">
                            <a:solidFill>
                              <a:schemeClr val="dk1"/>
                            </a:solidFill>
                          </a:rPr>
                          <a:t>Question Records</a:t>
                        </a:r>
                        <a:endParaRPr>
                          <a:solidFill>
                            <a:schemeClr val="dk1"/>
                          </a:solidFill>
                        </a:endParaRPr>
                      </a:p>
                    </a:txBody>
                    <a:tcPr marL="91425" marR="91425" marT="91425" marB="91425"/>
                  </a:tc>
                  <a:tc hMerge="1">
                    <a:txBody>
                      <a:bodyPr/>
                      <a:lstStyle/>
                      <a:p>
                        <a:endParaRPr lang="en-US"/>
                      </a:p>
                    </a:txBody>
                    <a:tcPr/>
                  </a:tc>
                  <a:extLst>
                    <a:ext uri="{0D108BD9-81ED-4DB2-BD59-A6C34878D82A}">
                      <a16:rowId xmlns:a16="http://schemas.microsoft.com/office/drawing/2014/main" val="10005"/>
                    </a:ext>
                  </a:extLst>
                </a:tr>
                <a:tr h="396200">
                  <a:tc gridSpan="2">
                    <a:txBody>
                      <a:bodyPr/>
                      <a:lstStyle/>
                      <a:p>
                        <a:pPr marL="0" lvl="0" indent="0" algn="ctr" rtl="0">
                          <a:spcBef>
                            <a:spcPts val="0"/>
                          </a:spcBef>
                          <a:spcAft>
                            <a:spcPts val="0"/>
                          </a:spcAft>
                          <a:buNone/>
                        </a:pPr>
                        <a:r>
                          <a:rPr lang="en" dirty="0">
                            <a:solidFill>
                              <a:schemeClr val="dk1"/>
                            </a:solidFill>
                          </a:rPr>
                          <a:t>Answer Records</a:t>
                        </a:r>
                        <a:endParaRPr dirty="0">
                          <a:solidFill>
                            <a:schemeClr val="dk1"/>
                          </a:solidFill>
                        </a:endParaRPr>
                      </a:p>
                    </a:txBody>
                    <a:tcPr marL="91425" marR="91425" marT="91425" marB="91425"/>
                  </a:tc>
                  <a:tc hMerge="1">
                    <a:txBody>
                      <a:bodyPr/>
                      <a:lstStyle/>
                      <a:p>
                        <a:endParaRPr lang="en-US"/>
                      </a:p>
                    </a:txBody>
                    <a:tcPr/>
                  </a:tc>
                  <a:extLst>
                    <a:ext uri="{0D108BD9-81ED-4DB2-BD59-A6C34878D82A}">
                      <a16:rowId xmlns:a16="http://schemas.microsoft.com/office/drawing/2014/main" val="10006"/>
                    </a:ext>
                  </a:extLst>
                </a:tr>
                <a:tr h="396200">
                  <a:tc gridSpan="2">
                    <a:txBody>
                      <a:bodyPr/>
                      <a:lstStyle/>
                      <a:p>
                        <a:pPr marL="0" lvl="0" indent="0" algn="ctr" rtl="0">
                          <a:spcBef>
                            <a:spcPts val="0"/>
                          </a:spcBef>
                          <a:spcAft>
                            <a:spcPts val="0"/>
                          </a:spcAft>
                          <a:buNone/>
                        </a:pPr>
                        <a:r>
                          <a:rPr lang="en">
                            <a:solidFill>
                              <a:schemeClr val="dk1"/>
                            </a:solidFill>
                          </a:rPr>
                          <a:t>Authority Records</a:t>
                        </a:r>
                        <a:endParaRPr>
                          <a:solidFill>
                            <a:schemeClr val="dk1"/>
                          </a:solidFill>
                        </a:endParaRPr>
                      </a:p>
                    </a:txBody>
                    <a:tcPr marL="91425" marR="91425" marT="91425" marB="91425"/>
                  </a:tc>
                  <a:tc hMerge="1">
                    <a:txBody>
                      <a:bodyPr/>
                      <a:lstStyle/>
                      <a:p>
                        <a:endParaRPr lang="en-US"/>
                      </a:p>
                    </a:txBody>
                    <a:tcPr/>
                  </a:tc>
                  <a:extLst>
                    <a:ext uri="{0D108BD9-81ED-4DB2-BD59-A6C34878D82A}">
                      <a16:rowId xmlns:a16="http://schemas.microsoft.com/office/drawing/2014/main" val="10007"/>
                    </a:ext>
                  </a:extLst>
                </a:tr>
                <a:tr h="396200">
                  <a:tc gridSpan="2">
                    <a:txBody>
                      <a:bodyPr/>
                      <a:lstStyle/>
                      <a:p>
                        <a:pPr marL="0" lvl="0" indent="0" algn="ctr" rtl="0">
                          <a:spcBef>
                            <a:spcPts val="0"/>
                          </a:spcBef>
                          <a:spcAft>
                            <a:spcPts val="0"/>
                          </a:spcAft>
                          <a:buNone/>
                        </a:pPr>
                        <a:r>
                          <a:rPr lang="en" dirty="0">
                            <a:solidFill>
                              <a:schemeClr val="dk1"/>
                            </a:solidFill>
                          </a:rPr>
                          <a:t>Additional Records (“glue” records)</a:t>
                        </a:r>
                        <a:endParaRPr dirty="0">
                          <a:solidFill>
                            <a:schemeClr val="dk1"/>
                          </a:solidFill>
                        </a:endParaRPr>
                      </a:p>
                    </a:txBody>
                    <a:tcPr marL="91425" marR="91425" marT="91425" marB="91425"/>
                  </a:tc>
                  <a:tc hMerge="1">
                    <a:txBody>
                      <a:bodyPr/>
                      <a:lstStyle/>
                      <a:p>
                        <a:endParaRPr lang="en-US"/>
                      </a:p>
                    </a:txBody>
                    <a:tcPr/>
                  </a:tc>
                  <a:extLst>
                    <a:ext uri="{0D108BD9-81ED-4DB2-BD59-A6C34878D82A}">
                      <a16:rowId xmlns:a16="http://schemas.microsoft.com/office/drawing/2014/main" val="10008"/>
                    </a:ext>
                  </a:extLst>
                </a:tr>
              </a:tbl>
            </a:graphicData>
          </a:graphic>
        </p:graphicFrame>
        <p:sp>
          <p:nvSpPr>
            <p:cNvPr id="11" name="Google Shape;854;p70">
              <a:extLst>
                <a:ext uri="{FF2B5EF4-FFF2-40B4-BE49-F238E27FC236}">
                  <a16:creationId xmlns:a16="http://schemas.microsoft.com/office/drawing/2014/main" id="{CF89CE35-E7E5-55A9-3201-B5900D71BD57}"/>
                </a:ext>
              </a:extLst>
            </p:cNvPr>
            <p:cNvSpPr txBox="1"/>
            <p:nvPr/>
          </p:nvSpPr>
          <p:spPr>
            <a:xfrm rot="5400000">
              <a:off x="11001449" y="4289221"/>
              <a:ext cx="1577100" cy="400079"/>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400"/>
                <a:t>DNS Payload</a:t>
              </a:r>
              <a:endParaRPr sz="1400"/>
            </a:p>
          </p:txBody>
        </p:sp>
        <p:sp>
          <p:nvSpPr>
            <p:cNvPr id="12" name="Google Shape;855;p70">
              <a:extLst>
                <a:ext uri="{FF2B5EF4-FFF2-40B4-BE49-F238E27FC236}">
                  <a16:creationId xmlns:a16="http://schemas.microsoft.com/office/drawing/2014/main" id="{7AB19818-70DB-2678-7407-BCECAEF58598}"/>
                </a:ext>
              </a:extLst>
            </p:cNvPr>
            <p:cNvSpPr txBox="1"/>
            <p:nvPr/>
          </p:nvSpPr>
          <p:spPr>
            <a:xfrm rot="5400000">
              <a:off x="11393100" y="1390314"/>
              <a:ext cx="7938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400"/>
                <a:t>UDP Header</a:t>
              </a:r>
              <a:endParaRPr sz="1400"/>
            </a:p>
          </p:txBody>
        </p:sp>
        <p:sp>
          <p:nvSpPr>
            <p:cNvPr id="13" name="Google Shape;856;p70">
              <a:extLst>
                <a:ext uri="{FF2B5EF4-FFF2-40B4-BE49-F238E27FC236}">
                  <a16:creationId xmlns:a16="http://schemas.microsoft.com/office/drawing/2014/main" id="{421A8280-7D90-67A6-CAE9-87A193B5F80C}"/>
                </a:ext>
              </a:extLst>
            </p:cNvPr>
            <p:cNvSpPr txBox="1"/>
            <p:nvPr/>
          </p:nvSpPr>
          <p:spPr>
            <a:xfrm rot="5400000">
              <a:off x="11194044" y="2699342"/>
              <a:ext cx="11985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400"/>
                <a:t>DNS Header</a:t>
              </a:r>
              <a:endParaRPr sz="1400"/>
            </a:p>
          </p:txBody>
        </p:sp>
        <p:cxnSp>
          <p:nvCxnSpPr>
            <p:cNvPr id="14" name="Straight Connector 13">
              <a:extLst>
                <a:ext uri="{FF2B5EF4-FFF2-40B4-BE49-F238E27FC236}">
                  <a16:creationId xmlns:a16="http://schemas.microsoft.com/office/drawing/2014/main" id="{FC083E65-8719-78E5-106C-EFB96B2554D4}"/>
                </a:ext>
              </a:extLst>
            </p:cNvPr>
            <p:cNvCxnSpPr/>
            <p:nvPr/>
          </p:nvCxnSpPr>
          <p:spPr>
            <a:xfrm>
              <a:off x="11482200" y="2173458"/>
              <a:ext cx="365760" cy="0"/>
            </a:xfrm>
            <a:prstGeom prst="line">
              <a:avLst/>
            </a:prstGeom>
            <a:ln w="31750"/>
          </p:spPr>
          <p:style>
            <a:lnRef idx="1">
              <a:schemeClr val="accent2"/>
            </a:lnRef>
            <a:fillRef idx="0">
              <a:schemeClr val="accent2"/>
            </a:fillRef>
            <a:effectRef idx="0">
              <a:schemeClr val="accent2"/>
            </a:effectRef>
            <a:fontRef idx="minor">
              <a:schemeClr val="tx1"/>
            </a:fontRef>
          </p:style>
        </p:cxnSp>
        <p:cxnSp>
          <p:nvCxnSpPr>
            <p:cNvPr id="15" name="Straight Connector 14">
              <a:extLst>
                <a:ext uri="{FF2B5EF4-FFF2-40B4-BE49-F238E27FC236}">
                  <a16:creationId xmlns:a16="http://schemas.microsoft.com/office/drawing/2014/main" id="{D9059412-D1D4-56B2-A5B1-DE59C78E06A8}"/>
                </a:ext>
              </a:extLst>
            </p:cNvPr>
            <p:cNvCxnSpPr/>
            <p:nvPr/>
          </p:nvCxnSpPr>
          <p:spPr>
            <a:xfrm>
              <a:off x="11482200" y="3567918"/>
              <a:ext cx="365760" cy="0"/>
            </a:xfrm>
            <a:prstGeom prst="line">
              <a:avLst/>
            </a:prstGeom>
            <a:ln w="31750"/>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14268989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819;p140">
            <a:extLst>
              <a:ext uri="{FF2B5EF4-FFF2-40B4-BE49-F238E27FC236}">
                <a16:creationId xmlns:a16="http://schemas.microsoft.com/office/drawing/2014/main" id="{A1BBD3EA-B48A-9405-9D84-E991AC00628F}"/>
              </a:ext>
            </a:extLst>
          </p:cNvPr>
          <p:cNvSpPr txBox="1">
            <a:spLocks noGrp="1"/>
          </p:cNvSpPr>
          <p:nvPr>
            <p:ph type="title"/>
          </p:nvPr>
        </p:nvSpPr>
        <p:spPr>
          <a:xfrm>
            <a:off x="415600" y="7838"/>
            <a:ext cx="11360800" cy="880626"/>
          </a:xfrm>
          <a:prstGeom prst="rect">
            <a:avLst/>
          </a:prstGeom>
        </p:spPr>
        <p:txBody>
          <a:bodyPr spcFirstLastPara="1" wrap="square" lIns="121900" tIns="121900" rIns="121900" bIns="121900" anchor="t" anchorCtr="0">
            <a:noAutofit/>
          </a:bodyPr>
          <a:lstStyle/>
          <a:p>
            <a:r>
              <a:rPr lang="en" sz="4400" dirty="0">
                <a:latin typeface="Aptos" panose="020B0004020202020204" pitchFamily="34" charset="0"/>
              </a:rPr>
              <a:t>Security Risk: Off-Path Attackers</a:t>
            </a:r>
            <a:endParaRPr sz="4400" dirty="0">
              <a:latin typeface="Aptos" panose="020B0004020202020204" pitchFamily="34" charset="0"/>
            </a:endParaRPr>
          </a:p>
        </p:txBody>
      </p:sp>
      <p:sp>
        <p:nvSpPr>
          <p:cNvPr id="2" name="Google Shape;851;p70">
            <a:extLst>
              <a:ext uri="{FF2B5EF4-FFF2-40B4-BE49-F238E27FC236}">
                <a16:creationId xmlns:a16="http://schemas.microsoft.com/office/drawing/2014/main" id="{D3983D35-DE11-2C08-DE73-CDFF17EE46E8}"/>
              </a:ext>
            </a:extLst>
          </p:cNvPr>
          <p:cNvSpPr txBox="1">
            <a:spLocks noGrp="1"/>
          </p:cNvSpPr>
          <p:nvPr>
            <p:ph type="body" idx="1"/>
          </p:nvPr>
        </p:nvSpPr>
        <p:spPr>
          <a:xfrm>
            <a:off x="49840" y="1445717"/>
            <a:ext cx="6991272" cy="4542180"/>
          </a:xfrm>
          <a:prstGeom prst="rect">
            <a:avLst/>
          </a:prstGeom>
        </p:spPr>
        <p:txBody>
          <a:bodyPr spcFirstLastPara="1" wrap="square" lIns="91425" tIns="91425" rIns="91425" bIns="91425" anchor="t" anchorCtr="0">
            <a:noAutofit/>
          </a:bodyPr>
          <a:lstStyle/>
          <a:p>
            <a:pPr marL="457200" indent="-342900">
              <a:spcAft>
                <a:spcPts val="600"/>
              </a:spcAft>
              <a:buClrTx/>
            </a:pPr>
            <a:r>
              <a:rPr lang="en" sz="2000" dirty="0">
                <a:solidFill>
                  <a:schemeClr val="tx1"/>
                </a:solidFill>
                <a:latin typeface="Aptos" panose="020B0004020202020204" pitchFamily="34" charset="0"/>
              </a:rPr>
              <a:t>The off-path attacker needs to guess the </a:t>
            </a:r>
            <a:r>
              <a:rPr lang="en" sz="2000" b="1" i="1" dirty="0">
                <a:solidFill>
                  <a:srgbClr val="C00000"/>
                </a:solidFill>
                <a:latin typeface="Aptos" panose="020B0004020202020204" pitchFamily="34" charset="0"/>
              </a:rPr>
              <a:t>query ID </a:t>
            </a:r>
            <a:r>
              <a:rPr lang="en" sz="2000" dirty="0">
                <a:solidFill>
                  <a:schemeClr val="tx1"/>
                </a:solidFill>
                <a:latin typeface="Aptos" panose="020B0004020202020204" pitchFamily="34" charset="0"/>
              </a:rPr>
              <a:t>field to spoof a response</a:t>
            </a:r>
            <a:endParaRPr lang="en-US" sz="2000" dirty="0">
              <a:solidFill>
                <a:schemeClr val="tx1"/>
              </a:solidFill>
              <a:latin typeface="Aptos" panose="020B0004020202020204" pitchFamily="34" charset="0"/>
            </a:endParaRPr>
          </a:p>
          <a:p>
            <a:pPr marL="1066785" lvl="1" indent="-342900">
              <a:spcAft>
                <a:spcPts val="600"/>
              </a:spcAft>
              <a:buClrTx/>
              <a:buSzPct val="100000"/>
              <a:buFont typeface="Arial" panose="020B0604020202020204" pitchFamily="34" charset="0"/>
              <a:buChar char="•"/>
            </a:pPr>
            <a:r>
              <a:rPr lang="en-US" sz="2000" dirty="0">
                <a:solidFill>
                  <a:schemeClr val="tx1"/>
                </a:solidFill>
                <a:latin typeface="Aptos" panose="020B0004020202020204" pitchFamily="34" charset="0"/>
              </a:rPr>
              <a:t>If the ID in the response doesn’t match the ID in the request, the resolver won’t accept the response</a:t>
            </a:r>
          </a:p>
          <a:p>
            <a:pPr marL="457200" indent="-342900">
              <a:spcAft>
                <a:spcPts val="600"/>
              </a:spcAft>
              <a:buClrTx/>
            </a:pPr>
            <a:r>
              <a:rPr lang="en" sz="2000" dirty="0">
                <a:solidFill>
                  <a:schemeClr val="tx1"/>
                </a:solidFill>
                <a:latin typeface="Aptos" panose="020B0004020202020204" pitchFamily="34" charset="0"/>
              </a:rPr>
              <a:t>If the ID number is </a:t>
            </a:r>
            <a:r>
              <a:rPr lang="en" sz="2000" b="1" i="1" dirty="0">
                <a:solidFill>
                  <a:srgbClr val="C00000"/>
                </a:solidFill>
                <a:latin typeface="Aptos" panose="020B0004020202020204" pitchFamily="34" charset="0"/>
              </a:rPr>
              <a:t>randomly</a:t>
            </a:r>
            <a:r>
              <a:rPr lang="en" sz="2000" dirty="0">
                <a:solidFill>
                  <a:schemeClr val="tx1"/>
                </a:solidFill>
                <a:latin typeface="Aptos" panose="020B0004020202020204" pitchFamily="34" charset="0"/>
              </a:rPr>
              <a:t> generated:</a:t>
            </a:r>
          </a:p>
          <a:p>
            <a:pPr marL="1066785" lvl="1" indent="-342900">
              <a:spcAft>
                <a:spcPts val="600"/>
              </a:spcAft>
              <a:buClrTx/>
              <a:buSzPct val="100000"/>
              <a:buFont typeface="Arial" panose="020B0604020202020204" pitchFamily="34" charset="0"/>
              <a:buChar char="•"/>
            </a:pPr>
            <a:r>
              <a:rPr lang="en" sz="2000" dirty="0">
                <a:solidFill>
                  <a:schemeClr val="tx1"/>
                </a:solidFill>
                <a:latin typeface="Aptos" panose="020B0004020202020204" pitchFamily="34" charset="0"/>
              </a:rPr>
              <a:t>Recall: The Query ID number is 16 bits long</a:t>
            </a:r>
          </a:p>
          <a:p>
            <a:pPr marL="1066785" lvl="1" indent="-342900">
              <a:spcAft>
                <a:spcPts val="600"/>
              </a:spcAft>
              <a:buClrTx/>
              <a:buSzPct val="100000"/>
              <a:buFont typeface="Arial" panose="020B0604020202020204" pitchFamily="34" charset="0"/>
              <a:buChar char="•"/>
            </a:pPr>
            <a:r>
              <a:rPr lang="en" sz="2000" dirty="0">
                <a:solidFill>
                  <a:schemeClr val="tx1"/>
                </a:solidFill>
                <a:latin typeface="Aptos" panose="020B0004020202020204" pitchFamily="34" charset="0"/>
              </a:rPr>
              <a:t>Probability of guessing correctly = 1/2</a:t>
            </a:r>
            <a:r>
              <a:rPr lang="en" sz="2000" baseline="30000" dirty="0">
                <a:solidFill>
                  <a:schemeClr val="tx1"/>
                </a:solidFill>
                <a:latin typeface="Aptos" panose="020B0004020202020204" pitchFamily="34" charset="0"/>
              </a:rPr>
              <a:t>16</a:t>
            </a:r>
            <a:endParaRPr lang="en" sz="2000" dirty="0">
              <a:solidFill>
                <a:schemeClr val="tx1"/>
              </a:solidFill>
              <a:latin typeface="Aptos" panose="020B0004020202020204" pitchFamily="34" charset="0"/>
            </a:endParaRPr>
          </a:p>
          <a:p>
            <a:pPr marL="1066785" lvl="1" indent="-342900">
              <a:spcAft>
                <a:spcPts val="600"/>
              </a:spcAft>
              <a:buClrTx/>
              <a:buSzPct val="100000"/>
              <a:buFont typeface="Arial" panose="020B0604020202020204" pitchFamily="34" charset="0"/>
              <a:buChar char="•"/>
            </a:pPr>
            <a:r>
              <a:rPr lang="en" sz="2000" dirty="0">
                <a:solidFill>
                  <a:schemeClr val="tx1"/>
                </a:solidFill>
                <a:latin typeface="Aptos" panose="020B0004020202020204" pitchFamily="34" charset="0"/>
              </a:rPr>
              <a:t>Requires approximately 65,000 tries to successfully send a spoofed packet</a:t>
            </a:r>
          </a:p>
          <a:p>
            <a:pPr marL="1066785" lvl="1" indent="-342900">
              <a:spcAft>
                <a:spcPts val="600"/>
              </a:spcAft>
              <a:buClrTx/>
              <a:buSzPct val="100000"/>
              <a:buFont typeface="Arial" panose="020B0604020202020204" pitchFamily="34" charset="0"/>
              <a:buChar char="•"/>
            </a:pPr>
            <a:r>
              <a:rPr lang="en" sz="2000" dirty="0">
                <a:solidFill>
                  <a:schemeClr val="tx1"/>
                </a:solidFill>
                <a:latin typeface="Aptos" panose="020B0004020202020204" pitchFamily="34" charset="0"/>
              </a:rPr>
              <a:t>This is too small!</a:t>
            </a:r>
            <a:endParaRPr sz="2000" dirty="0">
              <a:solidFill>
                <a:srgbClr val="FF0000"/>
              </a:solidFill>
              <a:latin typeface="Aptos" panose="020B0004020202020204" pitchFamily="34" charset="0"/>
            </a:endParaRPr>
          </a:p>
        </p:txBody>
      </p:sp>
      <p:grpSp>
        <p:nvGrpSpPr>
          <p:cNvPr id="22" name="Group 21">
            <a:extLst>
              <a:ext uri="{FF2B5EF4-FFF2-40B4-BE49-F238E27FC236}">
                <a16:creationId xmlns:a16="http://schemas.microsoft.com/office/drawing/2014/main" id="{89C9F43D-A6F0-0F8C-3639-E05574B56ACF}"/>
              </a:ext>
            </a:extLst>
          </p:cNvPr>
          <p:cNvGrpSpPr/>
          <p:nvPr/>
        </p:nvGrpSpPr>
        <p:grpSpPr>
          <a:xfrm>
            <a:off x="7304506" y="1269786"/>
            <a:ext cx="4730400" cy="4718111"/>
            <a:chOff x="7152106" y="1101969"/>
            <a:chExt cx="4730400" cy="4718111"/>
          </a:xfrm>
        </p:grpSpPr>
        <p:graphicFrame>
          <p:nvGraphicFramePr>
            <p:cNvPr id="5" name="Google Shape;853;p70">
              <a:extLst>
                <a:ext uri="{FF2B5EF4-FFF2-40B4-BE49-F238E27FC236}">
                  <a16:creationId xmlns:a16="http://schemas.microsoft.com/office/drawing/2014/main" id="{57B3A68B-FEA3-2A3C-A5B9-619293ABEFEC}"/>
                </a:ext>
              </a:extLst>
            </p:cNvPr>
            <p:cNvGraphicFramePr/>
            <p:nvPr>
              <p:extLst>
                <p:ext uri="{D42A27DB-BD31-4B8C-83A1-F6EECF244321}">
                  <p14:modId xmlns:p14="http://schemas.microsoft.com/office/powerpoint/2010/main" val="879618504"/>
                </p:ext>
              </p:extLst>
            </p:nvPr>
          </p:nvGraphicFramePr>
          <p:xfrm>
            <a:off x="7152106" y="1613534"/>
            <a:ext cx="4114800" cy="4206546"/>
          </p:xfrm>
          <a:graphic>
            <a:graphicData uri="http://schemas.openxmlformats.org/drawingml/2006/table">
              <a:tbl>
                <a:tblPr>
                  <a:noFill/>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tblGrid>
                <a:tr h="396200">
                  <a:tc>
                    <a:txBody>
                      <a:bodyPr/>
                      <a:lstStyle/>
                      <a:p>
                        <a:pPr marL="0" lvl="0" indent="0" algn="ctr" rtl="0">
                          <a:spcBef>
                            <a:spcPts val="0"/>
                          </a:spcBef>
                          <a:spcAft>
                            <a:spcPts val="0"/>
                          </a:spcAft>
                          <a:buNone/>
                        </a:pPr>
                        <a:r>
                          <a:rPr lang="en">
                            <a:solidFill>
                              <a:schemeClr val="dk1"/>
                            </a:solidFill>
                          </a:rPr>
                          <a:t>Source Port</a:t>
                        </a:r>
                        <a:endParaRPr>
                          <a:solidFill>
                            <a:schemeClr val="dk1"/>
                          </a:solidFill>
                        </a:endParaRPr>
                      </a:p>
                    </a:txBody>
                    <a:tcPr marL="91425" marR="91425" marT="91425" marB="91425"/>
                  </a:tc>
                  <a:tc>
                    <a:txBody>
                      <a:bodyPr/>
                      <a:lstStyle/>
                      <a:p>
                        <a:pPr marL="0" lvl="0" indent="0" algn="ctr" rtl="0">
                          <a:spcBef>
                            <a:spcPts val="0"/>
                          </a:spcBef>
                          <a:spcAft>
                            <a:spcPts val="0"/>
                          </a:spcAft>
                          <a:buNone/>
                        </a:pPr>
                        <a:r>
                          <a:rPr lang="en">
                            <a:solidFill>
                              <a:schemeClr val="dk1"/>
                            </a:solidFill>
                          </a:rPr>
                          <a:t>Destination Port</a:t>
                        </a:r>
                        <a:endParaRPr>
                          <a:solidFill>
                            <a:schemeClr val="dk1"/>
                          </a:solidFill>
                        </a:endParaRPr>
                      </a:p>
                    </a:txBody>
                    <a:tcPr marL="91425" marR="91425" marT="91425" marB="91425"/>
                  </a:tc>
                  <a:extLst>
                    <a:ext uri="{0D108BD9-81ED-4DB2-BD59-A6C34878D82A}">
                      <a16:rowId xmlns:a16="http://schemas.microsoft.com/office/drawing/2014/main" val="10000"/>
                    </a:ext>
                  </a:extLst>
                </a:tr>
                <a:tr h="396200">
                  <a:tc>
                    <a:txBody>
                      <a:bodyPr/>
                      <a:lstStyle/>
                      <a:p>
                        <a:pPr marL="0" lvl="0" indent="0" algn="ctr" rtl="0">
                          <a:spcBef>
                            <a:spcPts val="0"/>
                          </a:spcBef>
                          <a:spcAft>
                            <a:spcPts val="0"/>
                          </a:spcAft>
                          <a:buNone/>
                        </a:pPr>
                        <a:r>
                          <a:rPr lang="en">
                            <a:solidFill>
                              <a:schemeClr val="dk1"/>
                            </a:solidFill>
                          </a:rPr>
                          <a:t>Checksum</a:t>
                        </a:r>
                        <a:endParaRPr>
                          <a:solidFill>
                            <a:schemeClr val="dk1"/>
                          </a:solidFill>
                        </a:endParaRPr>
                      </a:p>
                    </a:txBody>
                    <a:tcPr marL="91425" marR="91425" marT="91425" marB="91425"/>
                  </a:tc>
                  <a:tc>
                    <a:txBody>
                      <a:bodyPr/>
                      <a:lstStyle/>
                      <a:p>
                        <a:pPr marL="0" lvl="0" indent="0" algn="ctr" rtl="0">
                          <a:spcBef>
                            <a:spcPts val="0"/>
                          </a:spcBef>
                          <a:spcAft>
                            <a:spcPts val="0"/>
                          </a:spcAft>
                          <a:buNone/>
                        </a:pPr>
                        <a:r>
                          <a:rPr lang="en">
                            <a:solidFill>
                              <a:schemeClr val="dk1"/>
                            </a:solidFill>
                          </a:rPr>
                          <a:t>Length</a:t>
                        </a:r>
                        <a:endParaRPr>
                          <a:solidFill>
                            <a:schemeClr val="dk1"/>
                          </a:solidFill>
                        </a:endParaRPr>
                      </a:p>
                    </a:txBody>
                    <a:tcPr marL="91425" marR="91425" marT="91425" marB="91425"/>
                  </a:tc>
                  <a:extLst>
                    <a:ext uri="{0D108BD9-81ED-4DB2-BD59-A6C34878D82A}">
                      <a16:rowId xmlns:a16="http://schemas.microsoft.com/office/drawing/2014/main" val="10001"/>
                    </a:ext>
                  </a:extLst>
                </a:tr>
                <a:tr h="396200">
                  <a:tc>
                    <a:txBody>
                      <a:bodyPr/>
                      <a:lstStyle/>
                      <a:p>
                        <a:pPr marL="0" lvl="0" indent="0" algn="ctr" rtl="0">
                          <a:spcBef>
                            <a:spcPts val="0"/>
                          </a:spcBef>
                          <a:spcAft>
                            <a:spcPts val="0"/>
                          </a:spcAft>
                          <a:buNone/>
                        </a:pPr>
                        <a:r>
                          <a:rPr lang="en-US" sz="1800" b="1">
                            <a:solidFill>
                              <a:schemeClr val="dk1"/>
                            </a:solidFill>
                          </a:rPr>
                          <a:t>Query ID number</a:t>
                        </a:r>
                      </a:p>
                    </a:txBody>
                    <a:tcPr marL="91425" marR="91425" marT="91425" marB="91425"/>
                  </a:tc>
                  <a:tc>
                    <a:txBody>
                      <a:bodyPr/>
                      <a:lstStyle/>
                      <a:p>
                        <a:pPr marL="0" lvl="0" indent="0" algn="ctr" rtl="0">
                          <a:spcBef>
                            <a:spcPts val="0"/>
                          </a:spcBef>
                          <a:spcAft>
                            <a:spcPts val="0"/>
                          </a:spcAft>
                          <a:buNone/>
                        </a:pPr>
                        <a:r>
                          <a:rPr lang="en">
                            <a:solidFill>
                              <a:schemeClr val="dk1"/>
                            </a:solidFill>
                          </a:rPr>
                          <a:t>Flags</a:t>
                        </a:r>
                        <a:endParaRPr>
                          <a:solidFill>
                            <a:schemeClr val="dk1"/>
                          </a:solidFill>
                        </a:endParaRPr>
                      </a:p>
                    </a:txBody>
                    <a:tcPr marL="91425" marR="91425" marT="91425" marB="91425"/>
                  </a:tc>
                  <a:extLst>
                    <a:ext uri="{0D108BD9-81ED-4DB2-BD59-A6C34878D82A}">
                      <a16:rowId xmlns:a16="http://schemas.microsoft.com/office/drawing/2014/main" val="10002"/>
                    </a:ext>
                  </a:extLst>
                </a:tr>
                <a:tr h="396200">
                  <a:tc>
                    <a:txBody>
                      <a:bodyPr/>
                      <a:lstStyle/>
                      <a:p>
                        <a:pPr marL="0" lvl="0" indent="0" algn="ctr" rtl="0">
                          <a:spcBef>
                            <a:spcPts val="0"/>
                          </a:spcBef>
                          <a:spcAft>
                            <a:spcPts val="0"/>
                          </a:spcAft>
                          <a:buNone/>
                        </a:pPr>
                        <a:r>
                          <a:rPr lang="en">
                            <a:solidFill>
                              <a:schemeClr val="dk1"/>
                            </a:solidFill>
                          </a:rPr>
                          <a:t>Question count</a:t>
                        </a:r>
                        <a:endParaRPr>
                          <a:solidFill>
                            <a:schemeClr val="dk1"/>
                          </a:solidFill>
                        </a:endParaRPr>
                      </a:p>
                    </a:txBody>
                    <a:tcPr marL="91425" marR="91425" marT="91425" marB="91425"/>
                  </a:tc>
                  <a:tc>
                    <a:txBody>
                      <a:bodyPr/>
                      <a:lstStyle/>
                      <a:p>
                        <a:pPr marL="0" lvl="0" indent="0" algn="ctr" rtl="0">
                          <a:spcBef>
                            <a:spcPts val="0"/>
                          </a:spcBef>
                          <a:spcAft>
                            <a:spcPts val="0"/>
                          </a:spcAft>
                          <a:buNone/>
                        </a:pPr>
                        <a:r>
                          <a:rPr lang="en">
                            <a:solidFill>
                              <a:schemeClr val="dk1"/>
                            </a:solidFill>
                          </a:rPr>
                          <a:t>Answer count</a:t>
                        </a:r>
                        <a:endParaRPr>
                          <a:solidFill>
                            <a:schemeClr val="dk1"/>
                          </a:solidFill>
                        </a:endParaRPr>
                      </a:p>
                    </a:txBody>
                    <a:tcPr marL="91425" marR="91425" marT="91425" marB="91425"/>
                  </a:tc>
                  <a:extLst>
                    <a:ext uri="{0D108BD9-81ED-4DB2-BD59-A6C34878D82A}">
                      <a16:rowId xmlns:a16="http://schemas.microsoft.com/office/drawing/2014/main" val="10003"/>
                    </a:ext>
                  </a:extLst>
                </a:tr>
                <a:tr h="396200">
                  <a:tc>
                    <a:txBody>
                      <a:bodyPr/>
                      <a:lstStyle/>
                      <a:p>
                        <a:pPr marL="0" lvl="0" indent="0" algn="ctr" rtl="0">
                          <a:spcBef>
                            <a:spcPts val="0"/>
                          </a:spcBef>
                          <a:spcAft>
                            <a:spcPts val="0"/>
                          </a:spcAft>
                          <a:buNone/>
                        </a:pPr>
                        <a:r>
                          <a:rPr lang="en">
                            <a:solidFill>
                              <a:schemeClr val="dk1"/>
                            </a:solidFill>
                          </a:rPr>
                          <a:t>Authority count</a:t>
                        </a:r>
                        <a:endParaRPr>
                          <a:solidFill>
                            <a:schemeClr val="dk1"/>
                          </a:solidFill>
                        </a:endParaRPr>
                      </a:p>
                    </a:txBody>
                    <a:tcPr marL="91425" marR="91425" marT="91425" marB="91425"/>
                  </a:tc>
                  <a:tc>
                    <a:txBody>
                      <a:bodyPr/>
                      <a:lstStyle/>
                      <a:p>
                        <a:pPr marL="0" lvl="0" indent="0" algn="ctr" rtl="0">
                          <a:spcBef>
                            <a:spcPts val="0"/>
                          </a:spcBef>
                          <a:spcAft>
                            <a:spcPts val="0"/>
                          </a:spcAft>
                          <a:buNone/>
                        </a:pPr>
                        <a:r>
                          <a:rPr lang="en">
                            <a:solidFill>
                              <a:schemeClr val="dk1"/>
                            </a:solidFill>
                          </a:rPr>
                          <a:t>Additional count</a:t>
                        </a:r>
                        <a:endParaRPr>
                          <a:solidFill>
                            <a:schemeClr val="dk1"/>
                          </a:solidFill>
                        </a:endParaRPr>
                      </a:p>
                    </a:txBody>
                    <a:tcPr marL="91425" marR="91425" marT="91425" marB="91425"/>
                  </a:tc>
                  <a:extLst>
                    <a:ext uri="{0D108BD9-81ED-4DB2-BD59-A6C34878D82A}">
                      <a16:rowId xmlns:a16="http://schemas.microsoft.com/office/drawing/2014/main" val="10004"/>
                    </a:ext>
                  </a:extLst>
                </a:tr>
                <a:tr h="396200">
                  <a:tc gridSpan="2">
                    <a:txBody>
                      <a:bodyPr/>
                      <a:lstStyle/>
                      <a:p>
                        <a:pPr marL="0" lvl="0" indent="0" algn="ctr" rtl="0">
                          <a:spcBef>
                            <a:spcPts val="0"/>
                          </a:spcBef>
                          <a:spcAft>
                            <a:spcPts val="0"/>
                          </a:spcAft>
                          <a:buNone/>
                        </a:pPr>
                        <a:r>
                          <a:rPr lang="en">
                            <a:solidFill>
                              <a:schemeClr val="dk1"/>
                            </a:solidFill>
                          </a:rPr>
                          <a:t>Question Records</a:t>
                        </a:r>
                        <a:endParaRPr>
                          <a:solidFill>
                            <a:schemeClr val="dk1"/>
                          </a:solidFill>
                        </a:endParaRPr>
                      </a:p>
                    </a:txBody>
                    <a:tcPr marL="91425" marR="91425" marT="91425" marB="91425"/>
                  </a:tc>
                  <a:tc hMerge="1">
                    <a:txBody>
                      <a:bodyPr/>
                      <a:lstStyle/>
                      <a:p>
                        <a:endParaRPr lang="en-US"/>
                      </a:p>
                    </a:txBody>
                    <a:tcPr/>
                  </a:tc>
                  <a:extLst>
                    <a:ext uri="{0D108BD9-81ED-4DB2-BD59-A6C34878D82A}">
                      <a16:rowId xmlns:a16="http://schemas.microsoft.com/office/drawing/2014/main" val="10005"/>
                    </a:ext>
                  </a:extLst>
                </a:tr>
                <a:tr h="396200">
                  <a:tc gridSpan="2">
                    <a:txBody>
                      <a:bodyPr/>
                      <a:lstStyle/>
                      <a:p>
                        <a:pPr marL="0" lvl="0" indent="0" algn="ctr" rtl="0">
                          <a:spcBef>
                            <a:spcPts val="0"/>
                          </a:spcBef>
                          <a:spcAft>
                            <a:spcPts val="0"/>
                          </a:spcAft>
                          <a:buNone/>
                        </a:pPr>
                        <a:r>
                          <a:rPr lang="en">
                            <a:solidFill>
                              <a:schemeClr val="dk1"/>
                            </a:solidFill>
                          </a:rPr>
                          <a:t>Answer Records</a:t>
                        </a:r>
                        <a:endParaRPr>
                          <a:solidFill>
                            <a:schemeClr val="dk1"/>
                          </a:solidFill>
                        </a:endParaRPr>
                      </a:p>
                    </a:txBody>
                    <a:tcPr marL="91425" marR="91425" marT="91425" marB="91425"/>
                  </a:tc>
                  <a:tc hMerge="1">
                    <a:txBody>
                      <a:bodyPr/>
                      <a:lstStyle/>
                      <a:p>
                        <a:endParaRPr lang="en-US"/>
                      </a:p>
                    </a:txBody>
                    <a:tcPr/>
                  </a:tc>
                  <a:extLst>
                    <a:ext uri="{0D108BD9-81ED-4DB2-BD59-A6C34878D82A}">
                      <a16:rowId xmlns:a16="http://schemas.microsoft.com/office/drawing/2014/main" val="10006"/>
                    </a:ext>
                  </a:extLst>
                </a:tr>
                <a:tr h="396200">
                  <a:tc gridSpan="2">
                    <a:txBody>
                      <a:bodyPr/>
                      <a:lstStyle/>
                      <a:p>
                        <a:pPr marL="0" lvl="0" indent="0" algn="ctr" rtl="0">
                          <a:spcBef>
                            <a:spcPts val="0"/>
                          </a:spcBef>
                          <a:spcAft>
                            <a:spcPts val="0"/>
                          </a:spcAft>
                          <a:buNone/>
                        </a:pPr>
                        <a:r>
                          <a:rPr lang="en" dirty="0">
                            <a:solidFill>
                              <a:schemeClr val="dk1"/>
                            </a:solidFill>
                          </a:rPr>
                          <a:t>Authority Records</a:t>
                        </a:r>
                        <a:endParaRPr dirty="0">
                          <a:solidFill>
                            <a:schemeClr val="dk1"/>
                          </a:solidFill>
                        </a:endParaRPr>
                      </a:p>
                    </a:txBody>
                    <a:tcPr marL="91425" marR="91425" marT="91425" marB="91425"/>
                  </a:tc>
                  <a:tc hMerge="1">
                    <a:txBody>
                      <a:bodyPr/>
                      <a:lstStyle/>
                      <a:p>
                        <a:endParaRPr lang="en-US"/>
                      </a:p>
                    </a:txBody>
                    <a:tcPr/>
                  </a:tc>
                  <a:extLst>
                    <a:ext uri="{0D108BD9-81ED-4DB2-BD59-A6C34878D82A}">
                      <a16:rowId xmlns:a16="http://schemas.microsoft.com/office/drawing/2014/main" val="10007"/>
                    </a:ext>
                  </a:extLst>
                </a:tr>
                <a:tr h="396200">
                  <a:tc gridSpan="2">
                    <a:txBody>
                      <a:bodyPr/>
                      <a:lstStyle/>
                      <a:p>
                        <a:pPr marL="0" lvl="0" indent="0" algn="ctr" rtl="0">
                          <a:spcBef>
                            <a:spcPts val="0"/>
                          </a:spcBef>
                          <a:spcAft>
                            <a:spcPts val="0"/>
                          </a:spcAft>
                          <a:buNone/>
                        </a:pPr>
                        <a:r>
                          <a:rPr lang="en" dirty="0">
                            <a:solidFill>
                              <a:schemeClr val="dk1"/>
                            </a:solidFill>
                          </a:rPr>
                          <a:t>Additional Records (“glue” records)</a:t>
                        </a:r>
                        <a:endParaRPr dirty="0">
                          <a:solidFill>
                            <a:schemeClr val="dk1"/>
                          </a:solidFill>
                        </a:endParaRPr>
                      </a:p>
                    </a:txBody>
                    <a:tcPr marL="91425" marR="91425" marT="91425" marB="91425"/>
                  </a:tc>
                  <a:tc hMerge="1">
                    <a:txBody>
                      <a:bodyPr/>
                      <a:lstStyle/>
                      <a:p>
                        <a:endParaRPr lang="en-US"/>
                      </a:p>
                    </a:txBody>
                    <a:tcPr/>
                  </a:tc>
                  <a:extLst>
                    <a:ext uri="{0D108BD9-81ED-4DB2-BD59-A6C34878D82A}">
                      <a16:rowId xmlns:a16="http://schemas.microsoft.com/office/drawing/2014/main" val="10008"/>
                    </a:ext>
                  </a:extLst>
                </a:tr>
              </a:tbl>
            </a:graphicData>
          </a:graphic>
        </p:graphicFrame>
        <p:sp>
          <p:nvSpPr>
            <p:cNvPr id="6" name="Google Shape;854;p70">
              <a:extLst>
                <a:ext uri="{FF2B5EF4-FFF2-40B4-BE49-F238E27FC236}">
                  <a16:creationId xmlns:a16="http://schemas.microsoft.com/office/drawing/2014/main" id="{6918E42A-AADA-CE61-F52B-FF02D15FC743}"/>
                </a:ext>
              </a:extLst>
            </p:cNvPr>
            <p:cNvSpPr txBox="1"/>
            <p:nvPr/>
          </p:nvSpPr>
          <p:spPr>
            <a:xfrm rot="5400000">
              <a:off x="10786155" y="4665168"/>
              <a:ext cx="1577100" cy="400079"/>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400"/>
                <a:t>DNS Payload</a:t>
              </a:r>
              <a:endParaRPr sz="1400"/>
            </a:p>
          </p:txBody>
        </p:sp>
        <p:sp>
          <p:nvSpPr>
            <p:cNvPr id="7" name="Google Shape;855;p70">
              <a:extLst>
                <a:ext uri="{FF2B5EF4-FFF2-40B4-BE49-F238E27FC236}">
                  <a16:creationId xmlns:a16="http://schemas.microsoft.com/office/drawing/2014/main" id="{BB767D90-A4C5-AF04-B88E-E624FA759DEB}"/>
                </a:ext>
              </a:extLst>
            </p:cNvPr>
            <p:cNvSpPr txBox="1"/>
            <p:nvPr/>
          </p:nvSpPr>
          <p:spPr>
            <a:xfrm rot="5400000">
              <a:off x="11177806" y="1766261"/>
              <a:ext cx="7938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400"/>
                <a:t>UDP Header</a:t>
              </a:r>
              <a:endParaRPr sz="1400"/>
            </a:p>
          </p:txBody>
        </p:sp>
        <p:sp>
          <p:nvSpPr>
            <p:cNvPr id="8" name="Google Shape;856;p70">
              <a:extLst>
                <a:ext uri="{FF2B5EF4-FFF2-40B4-BE49-F238E27FC236}">
                  <a16:creationId xmlns:a16="http://schemas.microsoft.com/office/drawing/2014/main" id="{E363D337-182A-41C4-298B-2E33C621FBB7}"/>
                </a:ext>
              </a:extLst>
            </p:cNvPr>
            <p:cNvSpPr txBox="1"/>
            <p:nvPr/>
          </p:nvSpPr>
          <p:spPr>
            <a:xfrm rot="5400000">
              <a:off x="10978750" y="3075289"/>
              <a:ext cx="11985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400"/>
                <a:t>DNS Header</a:t>
              </a:r>
              <a:endParaRPr sz="1400"/>
            </a:p>
          </p:txBody>
        </p:sp>
        <p:cxnSp>
          <p:nvCxnSpPr>
            <p:cNvPr id="10" name="Straight Connector 9">
              <a:extLst>
                <a:ext uri="{FF2B5EF4-FFF2-40B4-BE49-F238E27FC236}">
                  <a16:creationId xmlns:a16="http://schemas.microsoft.com/office/drawing/2014/main" id="{73817CEF-CDBD-2D1D-5DD4-9BA61DBAD849}"/>
                </a:ext>
              </a:extLst>
            </p:cNvPr>
            <p:cNvCxnSpPr/>
            <p:nvPr/>
          </p:nvCxnSpPr>
          <p:spPr>
            <a:xfrm>
              <a:off x="11266906" y="2549405"/>
              <a:ext cx="365760" cy="0"/>
            </a:xfrm>
            <a:prstGeom prst="line">
              <a:avLst/>
            </a:prstGeom>
            <a:ln w="31750"/>
          </p:spPr>
          <p:style>
            <a:lnRef idx="1">
              <a:schemeClr val="accent2"/>
            </a:lnRef>
            <a:fillRef idx="0">
              <a:schemeClr val="accent2"/>
            </a:fillRef>
            <a:effectRef idx="0">
              <a:schemeClr val="accent2"/>
            </a:effectRef>
            <a:fontRef idx="minor">
              <a:schemeClr val="tx1"/>
            </a:fontRef>
          </p:style>
        </p:cxnSp>
        <p:cxnSp>
          <p:nvCxnSpPr>
            <p:cNvPr id="11" name="Straight Connector 10">
              <a:extLst>
                <a:ext uri="{FF2B5EF4-FFF2-40B4-BE49-F238E27FC236}">
                  <a16:creationId xmlns:a16="http://schemas.microsoft.com/office/drawing/2014/main" id="{44450DF2-55F6-2F1E-2DB1-E6CE2918EAB6}"/>
                </a:ext>
              </a:extLst>
            </p:cNvPr>
            <p:cNvCxnSpPr/>
            <p:nvPr/>
          </p:nvCxnSpPr>
          <p:spPr>
            <a:xfrm>
              <a:off x="11266906" y="3943865"/>
              <a:ext cx="365760" cy="0"/>
            </a:xfrm>
            <a:prstGeom prst="line">
              <a:avLst/>
            </a:prstGeom>
            <a:ln w="31750"/>
          </p:spPr>
          <p:style>
            <a:lnRef idx="1">
              <a:schemeClr val="accent2"/>
            </a:lnRef>
            <a:fillRef idx="0">
              <a:schemeClr val="accent2"/>
            </a:fillRef>
            <a:effectRef idx="0">
              <a:schemeClr val="accent2"/>
            </a:effectRef>
            <a:fontRef idx="minor">
              <a:schemeClr val="tx1"/>
            </a:fontRef>
          </p:style>
        </p:cxnSp>
        <p:cxnSp>
          <p:nvCxnSpPr>
            <p:cNvPr id="12" name="Straight Connector 11">
              <a:extLst>
                <a:ext uri="{FF2B5EF4-FFF2-40B4-BE49-F238E27FC236}">
                  <a16:creationId xmlns:a16="http://schemas.microsoft.com/office/drawing/2014/main" id="{15934619-0AB5-1551-ABFA-F0105D005B42}"/>
                </a:ext>
              </a:extLst>
            </p:cNvPr>
            <p:cNvCxnSpPr>
              <a:cxnSpLocks/>
            </p:cNvCxnSpPr>
            <p:nvPr/>
          </p:nvCxnSpPr>
          <p:spPr>
            <a:xfrm>
              <a:off x="7152106" y="1101969"/>
              <a:ext cx="0" cy="526628"/>
            </a:xfrm>
            <a:prstGeom prst="line">
              <a:avLst/>
            </a:prstGeom>
            <a:ln w="31750"/>
          </p:spPr>
          <p:style>
            <a:lnRef idx="1">
              <a:schemeClr val="accent2"/>
            </a:lnRef>
            <a:fillRef idx="0">
              <a:schemeClr val="accent2"/>
            </a:fillRef>
            <a:effectRef idx="0">
              <a:schemeClr val="accent2"/>
            </a:effectRef>
            <a:fontRef idx="minor">
              <a:schemeClr val="tx1"/>
            </a:fontRef>
          </p:style>
        </p:cxnSp>
        <p:cxnSp>
          <p:nvCxnSpPr>
            <p:cNvPr id="15" name="Straight Arrow Connector 14">
              <a:extLst>
                <a:ext uri="{FF2B5EF4-FFF2-40B4-BE49-F238E27FC236}">
                  <a16:creationId xmlns:a16="http://schemas.microsoft.com/office/drawing/2014/main" id="{2A751192-33F9-3049-0161-1663ACD95361}"/>
                </a:ext>
              </a:extLst>
            </p:cNvPr>
            <p:cNvCxnSpPr>
              <a:cxnSpLocks/>
            </p:cNvCxnSpPr>
            <p:nvPr/>
          </p:nvCxnSpPr>
          <p:spPr>
            <a:xfrm>
              <a:off x="7152106" y="1351932"/>
              <a:ext cx="4114800"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134C581-D58C-61E6-6BF2-9F9D2F73C6EA}"/>
                </a:ext>
              </a:extLst>
            </p:cNvPr>
            <p:cNvCxnSpPr>
              <a:cxnSpLocks/>
            </p:cNvCxnSpPr>
            <p:nvPr/>
          </p:nvCxnSpPr>
          <p:spPr>
            <a:xfrm>
              <a:off x="11266906" y="1117470"/>
              <a:ext cx="0" cy="526628"/>
            </a:xfrm>
            <a:prstGeom prst="line">
              <a:avLst/>
            </a:prstGeom>
            <a:ln w="31750"/>
          </p:spPr>
          <p:style>
            <a:lnRef idx="1">
              <a:schemeClr val="accent2"/>
            </a:lnRef>
            <a:fillRef idx="0">
              <a:schemeClr val="accent2"/>
            </a:fillRef>
            <a:effectRef idx="0">
              <a:schemeClr val="accent2"/>
            </a:effectRef>
            <a:fontRef idx="minor">
              <a:schemeClr val="tx1"/>
            </a:fontRef>
          </p:style>
        </p:cxnSp>
        <p:sp>
          <p:nvSpPr>
            <p:cNvPr id="21" name="TextBox 20">
              <a:extLst>
                <a:ext uri="{FF2B5EF4-FFF2-40B4-BE49-F238E27FC236}">
                  <a16:creationId xmlns:a16="http://schemas.microsoft.com/office/drawing/2014/main" id="{2CDCEF6A-9B7D-830A-5AB7-1956DC67D72B}"/>
                </a:ext>
              </a:extLst>
            </p:cNvPr>
            <p:cNvSpPr txBox="1"/>
            <p:nvPr/>
          </p:nvSpPr>
          <p:spPr>
            <a:xfrm>
              <a:off x="8230629" y="1167266"/>
              <a:ext cx="1957754" cy="400110"/>
            </a:xfrm>
            <a:prstGeom prst="rect">
              <a:avLst/>
            </a:prstGeom>
            <a:solidFill>
              <a:schemeClr val="bg1"/>
            </a:solidFill>
          </p:spPr>
          <p:txBody>
            <a:bodyPr wrap="square" rtlCol="0">
              <a:spAutoFit/>
            </a:bodyPr>
            <a:lstStyle/>
            <a:p>
              <a:pPr algn="ctr"/>
              <a:r>
                <a:rPr lang="en-US" sz="2000" b="1" dirty="0">
                  <a:latin typeface="Aptos" panose="020B0004020202020204" pitchFamily="34" charset="0"/>
                </a:rPr>
                <a:t>32 bits</a:t>
              </a:r>
            </a:p>
          </p:txBody>
        </p:sp>
      </p:grpSp>
    </p:spTree>
    <p:extLst>
      <p:ext uri="{BB962C8B-B14F-4D97-AF65-F5344CB8AC3E}">
        <p14:creationId xmlns:p14="http://schemas.microsoft.com/office/powerpoint/2010/main" val="39300552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819;p140">
            <a:extLst>
              <a:ext uri="{FF2B5EF4-FFF2-40B4-BE49-F238E27FC236}">
                <a16:creationId xmlns:a16="http://schemas.microsoft.com/office/drawing/2014/main" id="{A1BBD3EA-B48A-9405-9D84-E991AC00628F}"/>
              </a:ext>
            </a:extLst>
          </p:cNvPr>
          <p:cNvSpPr txBox="1">
            <a:spLocks noGrp="1"/>
          </p:cNvSpPr>
          <p:nvPr>
            <p:ph type="title"/>
          </p:nvPr>
        </p:nvSpPr>
        <p:spPr>
          <a:xfrm>
            <a:off x="415600" y="274320"/>
            <a:ext cx="11360800" cy="763600"/>
          </a:xfrm>
          <a:prstGeom prst="rect">
            <a:avLst/>
          </a:prstGeom>
        </p:spPr>
        <p:txBody>
          <a:bodyPr spcFirstLastPara="1" wrap="square" lIns="121900" tIns="121900" rIns="121900" bIns="121900" anchor="t" anchorCtr="0">
            <a:noAutofit/>
          </a:bodyPr>
          <a:lstStyle/>
          <a:p>
            <a:r>
              <a:rPr lang="en" sz="4400" dirty="0">
                <a:latin typeface="Aptos Display" panose="020B0004020202020204" pitchFamily="34" charset="0"/>
              </a:rPr>
              <a:t>Security Risk: Off-Path Attackers</a:t>
            </a:r>
            <a:endParaRPr sz="4400" dirty="0">
              <a:latin typeface="Aptos Display" panose="020B0004020202020204" pitchFamily="34" charset="0"/>
            </a:endParaRPr>
          </a:p>
        </p:txBody>
      </p:sp>
      <p:sp>
        <p:nvSpPr>
          <p:cNvPr id="2" name="Google Shape;863;p71">
            <a:extLst>
              <a:ext uri="{FF2B5EF4-FFF2-40B4-BE49-F238E27FC236}">
                <a16:creationId xmlns:a16="http://schemas.microsoft.com/office/drawing/2014/main" id="{0142CFEF-87D8-5D87-5EF3-3A0E634825C2}"/>
              </a:ext>
            </a:extLst>
          </p:cNvPr>
          <p:cNvSpPr txBox="1">
            <a:spLocks noGrp="1"/>
          </p:cNvSpPr>
          <p:nvPr>
            <p:ph type="body" idx="1"/>
          </p:nvPr>
        </p:nvSpPr>
        <p:spPr>
          <a:xfrm>
            <a:off x="415601" y="1422084"/>
            <a:ext cx="11360799" cy="4826316"/>
          </a:xfrm>
          <a:prstGeom prst="rect">
            <a:avLst/>
          </a:prstGeom>
        </p:spPr>
        <p:txBody>
          <a:bodyPr spcFirstLastPara="1" wrap="square" lIns="91425" tIns="91425" rIns="91425" bIns="91425" anchor="t" anchorCtr="0">
            <a:noAutofit/>
          </a:bodyPr>
          <a:lstStyle/>
          <a:p>
            <a:pPr marL="400050" indent="-285750">
              <a:spcAft>
                <a:spcPts val="600"/>
              </a:spcAft>
              <a:buClrTx/>
            </a:pPr>
            <a:r>
              <a:rPr lang="en" sz="2000" dirty="0">
                <a:solidFill>
                  <a:schemeClr val="tx1"/>
                </a:solidFill>
                <a:latin typeface="Aptos" panose="020B0004020202020204" pitchFamily="34" charset="0"/>
              </a:rPr>
              <a:t>What if the Query ID field is incremented by 1 for every request?</a:t>
            </a:r>
            <a:endParaRPr sz="2000" dirty="0">
              <a:solidFill>
                <a:schemeClr val="tx1"/>
              </a:solidFill>
              <a:latin typeface="Aptos" panose="020B0004020202020204" pitchFamily="34" charset="0"/>
            </a:endParaRPr>
          </a:p>
          <a:p>
            <a:pPr marL="400050" indent="-285750">
              <a:spcAft>
                <a:spcPts val="600"/>
              </a:spcAft>
              <a:buClrTx/>
            </a:pPr>
            <a:r>
              <a:rPr lang="en" sz="2000" dirty="0">
                <a:solidFill>
                  <a:schemeClr val="tx1"/>
                </a:solidFill>
                <a:latin typeface="Aptos" panose="020B0004020202020204" pitchFamily="34" charset="0"/>
              </a:rPr>
              <a:t>Off-path attacker can spoof a packet as follows:</a:t>
            </a:r>
          </a:p>
          <a:p>
            <a:pPr marL="1066785" lvl="1" indent="-342900">
              <a:spcAft>
                <a:spcPts val="600"/>
              </a:spcAft>
              <a:buClrTx/>
              <a:buSzPct val="150000"/>
              <a:buFont typeface="Arial" panose="020B0604020202020204" pitchFamily="34" charset="0"/>
              <a:buChar char="•"/>
            </a:pPr>
            <a:r>
              <a:rPr lang="en" sz="2000" dirty="0">
                <a:solidFill>
                  <a:schemeClr val="tx1"/>
                </a:solidFill>
                <a:latin typeface="Aptos" panose="020B0004020202020204" pitchFamily="34" charset="0"/>
              </a:rPr>
              <a:t>Trick the victim into visiting the attacker’s website</a:t>
            </a:r>
          </a:p>
          <a:p>
            <a:pPr marL="1066785" lvl="1" indent="-342900">
              <a:spcAft>
                <a:spcPts val="600"/>
              </a:spcAft>
              <a:buClrTx/>
              <a:buSzPct val="150000"/>
              <a:buFont typeface="Arial" panose="020B0604020202020204" pitchFamily="34" charset="0"/>
              <a:buChar char="•"/>
            </a:pPr>
            <a:r>
              <a:rPr lang="en" sz="2000" dirty="0">
                <a:solidFill>
                  <a:schemeClr val="tx1"/>
                </a:solidFill>
                <a:latin typeface="Aptos" panose="020B0004020202020204" pitchFamily="34" charset="0"/>
              </a:rPr>
              <a:t>Include this HTML on the attacker’s website: </a:t>
            </a:r>
            <a:r>
              <a:rPr lang="en" sz="2000" b="1" dirty="0">
                <a:solidFill>
                  <a:schemeClr val="tx1"/>
                </a:solidFill>
                <a:latin typeface="Aptos" panose="020B0004020202020204" pitchFamily="34" charset="0"/>
                <a:ea typeface="Courier New"/>
                <a:cs typeface="Courier New"/>
                <a:sym typeface="Courier New"/>
              </a:rPr>
              <a:t>&lt;img src="http://www.attacker.com"&gt;</a:t>
            </a:r>
          </a:p>
          <a:p>
            <a:pPr marL="1066785" lvl="1" indent="-342900">
              <a:spcAft>
                <a:spcPts val="600"/>
              </a:spcAft>
              <a:buClrTx/>
              <a:buSzPct val="150000"/>
              <a:buFont typeface="Arial" panose="020B0604020202020204" pitchFamily="34" charset="0"/>
              <a:buChar char="•"/>
            </a:pPr>
            <a:r>
              <a:rPr lang="en" sz="2000" dirty="0">
                <a:solidFill>
                  <a:schemeClr val="tx1"/>
                </a:solidFill>
                <a:latin typeface="Aptos" panose="020B0004020202020204" pitchFamily="34" charset="0"/>
              </a:rPr>
              <a:t>The victim’s browser will make a DNS query for </a:t>
            </a:r>
            <a:r>
              <a:rPr lang="en" sz="2000" b="1" dirty="0">
                <a:solidFill>
                  <a:schemeClr val="tx1"/>
                </a:solidFill>
                <a:latin typeface="Aptos" panose="020B0004020202020204" pitchFamily="34" charset="0"/>
                <a:ea typeface="Courier New"/>
                <a:cs typeface="Courier New"/>
                <a:sym typeface="Courier New"/>
                <a:hlinkClick r:id="rId3"/>
              </a:rPr>
              <a:t>www.attacker.com</a:t>
            </a:r>
            <a:endParaRPr lang="en" sz="2000" b="1" dirty="0">
              <a:solidFill>
                <a:schemeClr val="tx1"/>
              </a:solidFill>
              <a:latin typeface="Aptos" panose="020B0004020202020204" pitchFamily="34" charset="0"/>
              <a:ea typeface="Courier New"/>
              <a:cs typeface="Courier New"/>
              <a:sym typeface="Courier New"/>
            </a:endParaRPr>
          </a:p>
          <a:p>
            <a:pPr marL="1066785" lvl="1" indent="-342900">
              <a:spcAft>
                <a:spcPts val="600"/>
              </a:spcAft>
              <a:buClrTx/>
              <a:buSzPct val="150000"/>
              <a:buFont typeface="Arial" panose="020B0604020202020204" pitchFamily="34" charset="0"/>
              <a:buChar char="•"/>
            </a:pPr>
            <a:r>
              <a:rPr lang="en" sz="2000" dirty="0">
                <a:solidFill>
                  <a:schemeClr val="tx1"/>
                </a:solidFill>
                <a:latin typeface="Aptos" panose="020B0004020202020204" pitchFamily="34" charset="0"/>
              </a:rPr>
              <a:t>If the attacker controls the </a:t>
            </a:r>
            <a:r>
              <a:rPr lang="en" sz="2000" b="1" dirty="0">
                <a:solidFill>
                  <a:schemeClr val="tx1"/>
                </a:solidFill>
                <a:latin typeface="Aptos" panose="020B0004020202020204" pitchFamily="34" charset="0"/>
                <a:ea typeface="Courier New"/>
                <a:cs typeface="Courier New"/>
                <a:sym typeface="Courier New"/>
              </a:rPr>
              <a:t>attacker.com</a:t>
            </a:r>
            <a:r>
              <a:rPr lang="en" sz="2000" dirty="0">
                <a:solidFill>
                  <a:schemeClr val="tx1"/>
                </a:solidFill>
                <a:latin typeface="Aptos" panose="020B0004020202020204" pitchFamily="34" charset="0"/>
              </a:rPr>
              <a:t> DNS name server, they can see the request and learn the ID field</a:t>
            </a:r>
          </a:p>
          <a:p>
            <a:pPr marL="1066785" lvl="1" indent="-342900">
              <a:spcAft>
                <a:spcPts val="600"/>
              </a:spcAft>
              <a:buClrTx/>
              <a:buSzPct val="150000"/>
              <a:buFont typeface="Arial" panose="020B0604020202020204" pitchFamily="34" charset="0"/>
              <a:buChar char="•"/>
            </a:pPr>
            <a:r>
              <a:rPr lang="en" sz="2000" dirty="0">
                <a:solidFill>
                  <a:schemeClr val="tx1"/>
                </a:solidFill>
                <a:latin typeface="Aptos" panose="020B0004020202020204" pitchFamily="34" charset="0"/>
              </a:rPr>
              <a:t>Include this HTML on the attacker’s website: </a:t>
            </a:r>
            <a:r>
              <a:rPr lang="en" sz="2000" b="1" dirty="0">
                <a:solidFill>
                  <a:schemeClr val="tx1"/>
                </a:solidFill>
                <a:latin typeface="Aptos" panose="020B0004020202020204" pitchFamily="34" charset="0"/>
                <a:ea typeface="Courier New"/>
                <a:cs typeface="Courier New"/>
                <a:sym typeface="Courier New"/>
              </a:rPr>
              <a:t>&lt;img src="http://www.google.com"&gt;</a:t>
            </a:r>
          </a:p>
          <a:p>
            <a:pPr marL="1066785" lvl="1" indent="-342900">
              <a:spcAft>
                <a:spcPts val="600"/>
              </a:spcAft>
              <a:buClrTx/>
              <a:buSzPct val="150000"/>
              <a:buFont typeface="Arial" panose="020B0604020202020204" pitchFamily="34" charset="0"/>
              <a:buChar char="•"/>
            </a:pPr>
            <a:r>
              <a:rPr lang="en" sz="2000" dirty="0">
                <a:solidFill>
                  <a:schemeClr val="tx1"/>
                </a:solidFill>
                <a:latin typeface="Aptos" panose="020B0004020202020204" pitchFamily="34" charset="0"/>
              </a:rPr>
              <a:t>The victim’s browser will make a DNS query for </a:t>
            </a:r>
            <a:r>
              <a:rPr lang="en" sz="2000" b="1" dirty="0">
                <a:solidFill>
                  <a:schemeClr val="tx1"/>
                </a:solidFill>
                <a:latin typeface="Aptos" panose="020B0004020202020204" pitchFamily="34" charset="0"/>
                <a:ea typeface="Courier New"/>
                <a:cs typeface="Courier New"/>
                <a:sym typeface="Courier New"/>
                <a:hlinkClick r:id="rId4"/>
              </a:rPr>
              <a:t>www.google.com</a:t>
            </a:r>
            <a:endParaRPr lang="en" sz="2000" b="1" dirty="0">
              <a:solidFill>
                <a:schemeClr val="tx1"/>
              </a:solidFill>
              <a:latin typeface="Aptos" panose="020B0004020202020204" pitchFamily="34" charset="0"/>
              <a:ea typeface="Courier New"/>
              <a:cs typeface="Courier New"/>
              <a:sym typeface="Courier New"/>
            </a:endParaRPr>
          </a:p>
          <a:p>
            <a:pPr marL="1066785" lvl="1" indent="-342900">
              <a:spcAft>
                <a:spcPts val="600"/>
              </a:spcAft>
              <a:buClrTx/>
              <a:buSzPct val="150000"/>
              <a:buFont typeface="Arial" panose="020B0604020202020204" pitchFamily="34" charset="0"/>
              <a:buChar char="•"/>
            </a:pPr>
            <a:r>
              <a:rPr lang="en" sz="2000" dirty="0">
                <a:solidFill>
                  <a:schemeClr val="tx1"/>
                </a:solidFill>
                <a:latin typeface="Aptos" panose="020B0004020202020204" pitchFamily="34" charset="0"/>
              </a:rPr>
              <a:t>The attacker knows the ID is 1 more than the previous ID, so they can spoof a response!</a:t>
            </a:r>
            <a:endParaRPr sz="2000" dirty="0">
              <a:solidFill>
                <a:schemeClr val="tx1"/>
              </a:solidFill>
              <a:latin typeface="Aptos" panose="020B0004020202020204" pitchFamily="34" charset="0"/>
            </a:endParaRPr>
          </a:p>
          <a:p>
            <a:pPr marL="400050" indent="-285750">
              <a:spcAft>
                <a:spcPts val="600"/>
              </a:spcAft>
              <a:buClrTx/>
            </a:pPr>
            <a:r>
              <a:rPr lang="en" sz="2000" b="1" dirty="0">
                <a:solidFill>
                  <a:schemeClr val="tx1"/>
                </a:solidFill>
                <a:latin typeface="Aptos" panose="020B0004020202020204" pitchFamily="34" charset="0"/>
              </a:rPr>
              <a:t>Query ID numbers need to be </a:t>
            </a:r>
            <a:r>
              <a:rPr lang="en" sz="2200" b="1" i="1" dirty="0">
                <a:solidFill>
                  <a:srgbClr val="C00000"/>
                </a:solidFill>
                <a:latin typeface="Aptos" panose="020B0004020202020204" pitchFamily="34" charset="0"/>
              </a:rPr>
              <a:t>random</a:t>
            </a:r>
            <a:r>
              <a:rPr lang="en" sz="2000" b="1" dirty="0">
                <a:solidFill>
                  <a:schemeClr val="tx1"/>
                </a:solidFill>
                <a:latin typeface="Aptos" panose="020B0004020202020204" pitchFamily="34" charset="0"/>
              </a:rPr>
              <a:t> in DNS requests</a:t>
            </a:r>
            <a:endParaRPr sz="2000" dirty="0">
              <a:solidFill>
                <a:schemeClr val="tx1"/>
              </a:solidFill>
              <a:latin typeface="Aptos" panose="020B0004020202020204" pitchFamily="34" charset="0"/>
            </a:endParaRPr>
          </a:p>
        </p:txBody>
      </p:sp>
    </p:spTree>
    <p:extLst>
      <p:ext uri="{BB962C8B-B14F-4D97-AF65-F5344CB8AC3E}">
        <p14:creationId xmlns:p14="http://schemas.microsoft.com/office/powerpoint/2010/main" val="36998845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3F983-0DE6-7D81-C6B3-78D45D8C89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E20F42-774B-D9A5-9FF7-7B53DE373EB5}"/>
              </a:ext>
            </a:extLst>
          </p:cNvPr>
          <p:cNvSpPr txBox="1">
            <a:spLocks/>
          </p:cNvSpPr>
          <p:nvPr/>
        </p:nvSpPr>
        <p:spPr>
          <a:xfrm>
            <a:off x="546662" y="152400"/>
            <a:ext cx="6551791" cy="165099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6000">
                <a:cs typeface="Calibri" panose="020F0502020204030204" pitchFamily="34" charset="0"/>
              </a:rPr>
              <a:t>Roadmap</a:t>
            </a:r>
            <a:endParaRPr lang="en-US" sz="6000" dirty="0"/>
          </a:p>
        </p:txBody>
      </p:sp>
      <p:sp>
        <p:nvSpPr>
          <p:cNvPr id="3" name="Rectangle 4">
            <a:extLst>
              <a:ext uri="{FF2B5EF4-FFF2-40B4-BE49-F238E27FC236}">
                <a16:creationId xmlns:a16="http://schemas.microsoft.com/office/drawing/2014/main" id="{E30BE0FE-B972-1740-C78B-AE2362D6AF67}"/>
              </a:ext>
            </a:extLst>
          </p:cNvPr>
          <p:cNvSpPr txBox="1">
            <a:spLocks noChangeArrowheads="1"/>
          </p:cNvSpPr>
          <p:nvPr/>
        </p:nvSpPr>
        <p:spPr>
          <a:xfrm>
            <a:off x="327703" y="1646990"/>
            <a:ext cx="11536594" cy="49783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25" indent="-285750">
              <a:spcBef>
                <a:spcPts val="800"/>
              </a:spcBef>
              <a:spcAft>
                <a:spcPts val="600"/>
              </a:spcAft>
              <a:buClr>
                <a:schemeClr val="bg1">
                  <a:lumMod val="85000"/>
                </a:schemeClr>
              </a:buClr>
            </a:pPr>
            <a:r>
              <a:rPr lang="en-US" altLang="en-US" sz="3600" b="1" i="1" dirty="0">
                <a:solidFill>
                  <a:schemeClr val="bg1">
                    <a:lumMod val="85000"/>
                  </a:schemeClr>
                </a:solidFill>
                <a:latin typeface="Calibri" panose="020F0502020204030204" pitchFamily="34" charset="0"/>
                <a:cs typeface="Calibri" panose="020F0502020204030204" pitchFamily="34" charset="0"/>
              </a:rPr>
              <a:t>DNS: Review</a:t>
            </a:r>
          </a:p>
          <a:p>
            <a:pPr marL="403225" indent="-285750">
              <a:spcBef>
                <a:spcPts val="800"/>
              </a:spcBef>
              <a:spcAft>
                <a:spcPts val="600"/>
              </a:spcAft>
              <a:buClr>
                <a:schemeClr val="bg1">
                  <a:lumMod val="85000"/>
                </a:schemeClr>
              </a:buClr>
            </a:pPr>
            <a:r>
              <a:rPr lang="en-US" altLang="en-US" sz="3600" b="1" i="1" dirty="0">
                <a:solidFill>
                  <a:schemeClr val="bg1">
                    <a:lumMod val="85000"/>
                  </a:schemeClr>
                </a:solidFill>
                <a:latin typeface="Calibri" panose="020F0502020204030204" pitchFamily="34" charset="0"/>
                <a:cs typeface="Calibri" panose="020F0502020204030204" pitchFamily="34" charset="0"/>
              </a:rPr>
              <a:t>DNS Security and DNS Cache Poisoning Attacks</a:t>
            </a:r>
          </a:p>
          <a:p>
            <a:pPr marL="403225" indent="-285750">
              <a:spcBef>
                <a:spcPts val="800"/>
              </a:spcBef>
              <a:spcAft>
                <a:spcPts val="600"/>
              </a:spcAft>
              <a:buClr>
                <a:schemeClr val="bg1">
                  <a:lumMod val="85000"/>
                </a:schemeClr>
              </a:buClr>
            </a:pPr>
            <a:r>
              <a:rPr lang="en-US" altLang="en-US" sz="3600" b="1" i="1" dirty="0">
                <a:latin typeface="Calibri" panose="020F0502020204030204" pitchFamily="34" charset="0"/>
                <a:cs typeface="Calibri" panose="020F0502020204030204" pitchFamily="34" charset="0"/>
              </a:rPr>
              <a:t>DNS Kaminsky Attack</a:t>
            </a:r>
          </a:p>
        </p:txBody>
      </p:sp>
    </p:spTree>
    <p:extLst>
      <p:ext uri="{BB962C8B-B14F-4D97-AF65-F5344CB8AC3E}">
        <p14:creationId xmlns:p14="http://schemas.microsoft.com/office/powerpoint/2010/main" val="21789159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819;p140">
            <a:extLst>
              <a:ext uri="{FF2B5EF4-FFF2-40B4-BE49-F238E27FC236}">
                <a16:creationId xmlns:a16="http://schemas.microsoft.com/office/drawing/2014/main" id="{A1BBD3EA-B48A-9405-9D84-E991AC00628F}"/>
              </a:ext>
            </a:extLst>
          </p:cNvPr>
          <p:cNvSpPr txBox="1">
            <a:spLocks noGrp="1"/>
          </p:cNvSpPr>
          <p:nvPr>
            <p:ph type="title"/>
          </p:nvPr>
        </p:nvSpPr>
        <p:spPr>
          <a:xfrm>
            <a:off x="415601" y="98474"/>
            <a:ext cx="11360800" cy="763600"/>
          </a:xfrm>
          <a:prstGeom prst="rect">
            <a:avLst/>
          </a:prstGeom>
        </p:spPr>
        <p:txBody>
          <a:bodyPr spcFirstLastPara="1" wrap="square" lIns="121900" tIns="121900" rIns="121900" bIns="121900" anchor="t" anchorCtr="0">
            <a:noAutofit/>
          </a:bodyPr>
          <a:lstStyle/>
          <a:p>
            <a:r>
              <a:rPr lang="en" sz="4400" dirty="0">
                <a:latin typeface="Aptos Display" panose="020B0004020202020204" pitchFamily="34" charset="0"/>
              </a:rPr>
              <a:t>Kaminsky Attack</a:t>
            </a:r>
            <a:endParaRPr sz="4400" dirty="0">
              <a:latin typeface="Aptos Display" panose="020B0004020202020204" pitchFamily="34" charset="0"/>
            </a:endParaRPr>
          </a:p>
        </p:txBody>
      </p:sp>
      <p:sp>
        <p:nvSpPr>
          <p:cNvPr id="2" name="Google Shape;869;p72">
            <a:extLst>
              <a:ext uri="{FF2B5EF4-FFF2-40B4-BE49-F238E27FC236}">
                <a16:creationId xmlns:a16="http://schemas.microsoft.com/office/drawing/2014/main" id="{C5BD2241-96D0-EB24-A849-4F667B704A51}"/>
              </a:ext>
            </a:extLst>
          </p:cNvPr>
          <p:cNvSpPr txBox="1">
            <a:spLocks noGrp="1"/>
          </p:cNvSpPr>
          <p:nvPr>
            <p:ph type="body" idx="1"/>
          </p:nvPr>
        </p:nvSpPr>
        <p:spPr>
          <a:xfrm>
            <a:off x="415601" y="1316179"/>
            <a:ext cx="11360799" cy="5026006"/>
          </a:xfrm>
          <a:prstGeom prst="rect">
            <a:avLst/>
          </a:prstGeom>
        </p:spPr>
        <p:txBody>
          <a:bodyPr spcFirstLastPara="1" wrap="square" lIns="91425" tIns="91425" rIns="91425" bIns="91425" anchor="t" anchorCtr="0">
            <a:noAutofit/>
          </a:bodyPr>
          <a:lstStyle/>
          <a:p>
            <a:pPr marL="457200" lvl="0" indent="-342900" algn="l" rtl="0">
              <a:spcBef>
                <a:spcPts val="0"/>
              </a:spcBef>
              <a:spcAft>
                <a:spcPts val="600"/>
              </a:spcAft>
              <a:buClrTx/>
              <a:buSzPct val="150000"/>
              <a:buFont typeface="Arial" panose="020B0604020202020204" pitchFamily="34" charset="0"/>
              <a:buChar char="•"/>
            </a:pPr>
            <a:r>
              <a:rPr lang="en" sz="2200" dirty="0">
                <a:solidFill>
                  <a:schemeClr val="tx1"/>
                </a:solidFill>
                <a:latin typeface="Atptos"/>
              </a:rPr>
              <a:t>Dan Kaminsky, security researcher, noticed that DNS clients would cache additional glue records as if they were authoritative answers, </a:t>
            </a:r>
            <a:r>
              <a:rPr lang="en" sz="2200" dirty="0">
                <a:solidFill>
                  <a:srgbClr val="C00000"/>
                </a:solidFill>
                <a:latin typeface="Atptos"/>
              </a:rPr>
              <a:t>even though they aren’t</a:t>
            </a:r>
          </a:p>
          <a:p>
            <a:pPr marL="457200" lvl="0" indent="-342900">
              <a:spcAft>
                <a:spcPts val="600"/>
              </a:spcAft>
              <a:buClrTx/>
              <a:buSzPct val="150000"/>
              <a:buFont typeface="Arial" panose="020B0604020202020204" pitchFamily="34" charset="0"/>
              <a:buChar char="•"/>
            </a:pPr>
            <a:r>
              <a:rPr lang="en-US" sz="2200" dirty="0">
                <a:solidFill>
                  <a:schemeClr val="tx1"/>
                </a:solidFill>
                <a:latin typeface="Atptos"/>
              </a:rPr>
              <a:t>Previous attacks: </a:t>
            </a:r>
            <a:r>
              <a:rPr lang="en-US" sz="2200" b="1" i="1" dirty="0">
                <a:solidFill>
                  <a:schemeClr val="tx1"/>
                </a:solidFill>
                <a:latin typeface="Atptos"/>
              </a:rPr>
              <a:t>poison the final answer</a:t>
            </a:r>
            <a:r>
              <a:rPr lang="en-US" sz="2200" b="1" dirty="0">
                <a:solidFill>
                  <a:schemeClr val="tx1"/>
                </a:solidFill>
                <a:latin typeface="Atptos"/>
              </a:rPr>
              <a:t>, </a:t>
            </a:r>
            <a:r>
              <a:rPr lang="en-US" sz="2200" i="1" dirty="0">
                <a:solidFill>
                  <a:srgbClr val="C00000"/>
                </a:solidFill>
                <a:latin typeface="Atptos"/>
              </a:rPr>
              <a:t>the type A record with the IP address</a:t>
            </a:r>
          </a:p>
          <a:p>
            <a:pPr marL="457200" lvl="0" indent="-342900">
              <a:spcAft>
                <a:spcPts val="600"/>
              </a:spcAft>
              <a:buClrTx/>
              <a:buSzPct val="150000"/>
              <a:buFont typeface="Arial" panose="020B0604020202020204" pitchFamily="34" charset="0"/>
              <a:buChar char="•"/>
            </a:pPr>
            <a:r>
              <a:rPr lang="en-US" sz="2200" dirty="0">
                <a:solidFill>
                  <a:schemeClr val="tx1"/>
                </a:solidFill>
                <a:latin typeface="Atptos"/>
              </a:rPr>
              <a:t>Kaminsky Attack: goes up one level and </a:t>
            </a:r>
            <a:r>
              <a:rPr lang="en-US" sz="2200" b="1" i="1" dirty="0">
                <a:solidFill>
                  <a:srgbClr val="C00000"/>
                </a:solidFill>
                <a:latin typeface="Atptos"/>
              </a:rPr>
              <a:t>hijacks the authority records (NS record) instead</a:t>
            </a:r>
          </a:p>
          <a:p>
            <a:pPr marL="457200" lvl="0" indent="-342900">
              <a:spcAft>
                <a:spcPts val="600"/>
              </a:spcAft>
              <a:buClrTx/>
              <a:buSzPct val="150000"/>
              <a:buFont typeface="Arial" panose="020B0604020202020204" pitchFamily="34" charset="0"/>
              <a:buChar char="•"/>
            </a:pPr>
            <a:r>
              <a:rPr lang="en-US" sz="2200" dirty="0">
                <a:solidFill>
                  <a:srgbClr val="000000"/>
                </a:solidFill>
                <a:latin typeface="Atptos"/>
              </a:rPr>
              <a:t>The attacker (Mallory) requests a random name (usually nonexistent) within the target domain, something unlikely to be in cache:</a:t>
            </a:r>
          </a:p>
          <a:p>
            <a:pPr marL="1371600" lvl="2" indent="-317500">
              <a:spcAft>
                <a:spcPts val="600"/>
              </a:spcAft>
              <a:buClrTx/>
              <a:buSzPct val="150000"/>
              <a:buFont typeface="Arial" panose="020B0604020202020204" pitchFamily="34" charset="0"/>
              <a:buChar char="•"/>
            </a:pPr>
            <a:r>
              <a:rPr lang="en-US" sz="2000" b="1" dirty="0">
                <a:solidFill>
                  <a:srgbClr val="000000"/>
                </a:solidFill>
                <a:latin typeface="Courier New"/>
                <a:ea typeface="Courier New"/>
                <a:cs typeface="Courier New"/>
                <a:sym typeface="Courier New"/>
              </a:rPr>
              <a:t>&lt;</a:t>
            </a:r>
            <a:r>
              <a:rPr lang="en-US" sz="2000" b="1" dirty="0" err="1">
                <a:solidFill>
                  <a:srgbClr val="000000"/>
                </a:solidFill>
                <a:latin typeface="Courier New"/>
                <a:ea typeface="Courier New"/>
                <a:cs typeface="Courier New"/>
                <a:sym typeface="Courier New"/>
              </a:rPr>
              <a:t>img</a:t>
            </a:r>
            <a:r>
              <a:rPr lang="en-US" sz="2000" b="1" dirty="0">
                <a:solidFill>
                  <a:srgbClr val="000000"/>
                </a:solidFill>
                <a:latin typeface="Courier New"/>
                <a:ea typeface="Courier New"/>
                <a:cs typeface="Courier New"/>
                <a:sym typeface="Courier New"/>
              </a:rPr>
              <a:t> </a:t>
            </a:r>
            <a:r>
              <a:rPr lang="en-US" sz="2000" b="1" dirty="0" err="1">
                <a:solidFill>
                  <a:srgbClr val="000000"/>
                </a:solidFill>
                <a:latin typeface="Courier New"/>
                <a:ea typeface="Courier New"/>
                <a:cs typeface="Courier New"/>
                <a:sym typeface="Courier New"/>
              </a:rPr>
              <a:t>src</a:t>
            </a:r>
            <a:r>
              <a:rPr lang="en-US" sz="2000" b="1" dirty="0">
                <a:solidFill>
                  <a:srgbClr val="000000"/>
                </a:solidFill>
                <a:latin typeface="Courier New"/>
                <a:ea typeface="Courier New"/>
                <a:cs typeface="Courier New"/>
                <a:sym typeface="Courier New"/>
              </a:rPr>
              <a:t>="http://fake_photo1.google.com"&gt;</a:t>
            </a:r>
            <a:endParaRPr lang="en-US" sz="2000" dirty="0">
              <a:solidFill>
                <a:srgbClr val="000000"/>
              </a:solidFill>
            </a:endParaRPr>
          </a:p>
          <a:p>
            <a:pPr marL="1371600" lvl="2" indent="-317500">
              <a:spcAft>
                <a:spcPts val="600"/>
              </a:spcAft>
              <a:buClrTx/>
              <a:buSzPct val="150000"/>
              <a:buFont typeface="Arial" panose="020B0604020202020204" pitchFamily="34" charset="0"/>
              <a:buChar char="•"/>
            </a:pPr>
            <a:r>
              <a:rPr lang="en-US" sz="2000" b="1" dirty="0">
                <a:solidFill>
                  <a:srgbClr val="000000"/>
                </a:solidFill>
                <a:latin typeface="Courier New"/>
                <a:ea typeface="Courier New"/>
                <a:cs typeface="Courier New"/>
                <a:sym typeface="Courier New"/>
              </a:rPr>
              <a:t>&lt;</a:t>
            </a:r>
            <a:r>
              <a:rPr lang="en-US" sz="2000" b="1" dirty="0" err="1">
                <a:solidFill>
                  <a:srgbClr val="000000"/>
                </a:solidFill>
                <a:latin typeface="Courier New"/>
                <a:ea typeface="Courier New"/>
                <a:cs typeface="Courier New"/>
                <a:sym typeface="Courier New"/>
              </a:rPr>
              <a:t>img</a:t>
            </a:r>
            <a:r>
              <a:rPr lang="en-US" sz="2000" b="1" dirty="0">
                <a:solidFill>
                  <a:srgbClr val="000000"/>
                </a:solidFill>
                <a:latin typeface="Courier New"/>
                <a:ea typeface="Courier New"/>
                <a:cs typeface="Courier New"/>
                <a:sym typeface="Courier New"/>
              </a:rPr>
              <a:t> </a:t>
            </a:r>
            <a:r>
              <a:rPr lang="en-US" sz="2000" b="1" dirty="0" err="1">
                <a:solidFill>
                  <a:srgbClr val="000000"/>
                </a:solidFill>
                <a:latin typeface="Courier New"/>
                <a:ea typeface="Courier New"/>
                <a:cs typeface="Courier New"/>
                <a:sym typeface="Courier New"/>
              </a:rPr>
              <a:t>src</a:t>
            </a:r>
            <a:r>
              <a:rPr lang="en-US" sz="2000" b="1" dirty="0">
                <a:solidFill>
                  <a:srgbClr val="000000"/>
                </a:solidFill>
                <a:latin typeface="Courier New"/>
                <a:ea typeface="Courier New"/>
                <a:cs typeface="Courier New"/>
                <a:sym typeface="Courier New"/>
              </a:rPr>
              <a:t>="http://fake_photo2.google.com"&gt;</a:t>
            </a:r>
          </a:p>
          <a:p>
            <a:pPr marL="1371600" lvl="2" indent="-317500">
              <a:spcAft>
                <a:spcPts val="600"/>
              </a:spcAft>
              <a:buClrTx/>
              <a:buSzPct val="150000"/>
              <a:buFont typeface="Arial" panose="020B0604020202020204" pitchFamily="34" charset="0"/>
              <a:buChar char="•"/>
            </a:pPr>
            <a:r>
              <a:rPr lang="en-US" sz="2000" b="1" dirty="0">
                <a:solidFill>
                  <a:srgbClr val="000000"/>
                </a:solidFill>
                <a:latin typeface="Courier New"/>
                <a:ea typeface="Courier New"/>
                <a:cs typeface="Courier New"/>
                <a:sym typeface="Courier New"/>
              </a:rPr>
              <a:t>&lt;</a:t>
            </a:r>
            <a:r>
              <a:rPr lang="en-US" sz="2000" b="1" dirty="0" err="1">
                <a:solidFill>
                  <a:srgbClr val="000000"/>
                </a:solidFill>
                <a:latin typeface="Courier New"/>
                <a:ea typeface="Courier New"/>
                <a:cs typeface="Courier New"/>
                <a:sym typeface="Courier New"/>
              </a:rPr>
              <a:t>img</a:t>
            </a:r>
            <a:r>
              <a:rPr lang="en-US" sz="2000" b="1" dirty="0">
                <a:solidFill>
                  <a:srgbClr val="000000"/>
                </a:solidFill>
                <a:latin typeface="Courier New"/>
                <a:ea typeface="Courier New"/>
                <a:cs typeface="Courier New"/>
                <a:sym typeface="Courier New"/>
              </a:rPr>
              <a:t> </a:t>
            </a:r>
            <a:r>
              <a:rPr lang="en-US" sz="2000" b="1" dirty="0" err="1">
                <a:solidFill>
                  <a:srgbClr val="000000"/>
                </a:solidFill>
                <a:latin typeface="Courier New"/>
                <a:ea typeface="Courier New"/>
                <a:cs typeface="Courier New"/>
                <a:sym typeface="Courier New"/>
              </a:rPr>
              <a:t>src</a:t>
            </a:r>
            <a:r>
              <a:rPr lang="en-US" sz="2000" b="1" dirty="0">
                <a:solidFill>
                  <a:srgbClr val="000000"/>
                </a:solidFill>
                <a:latin typeface="Courier New"/>
                <a:ea typeface="Courier New"/>
                <a:cs typeface="Courier New"/>
                <a:sym typeface="Courier New"/>
              </a:rPr>
              <a:t>="http://fake_photo3.google.com"&gt;</a:t>
            </a:r>
          </a:p>
          <a:p>
            <a:pPr marL="1371600" lvl="2" indent="-317500">
              <a:spcAft>
                <a:spcPts val="600"/>
              </a:spcAft>
              <a:buClrTx/>
              <a:buSzPct val="150000"/>
              <a:buFont typeface="Arial" panose="020B0604020202020204" pitchFamily="34" charset="0"/>
              <a:buChar char="•"/>
            </a:pPr>
            <a:r>
              <a:rPr lang="en-US" sz="2000" b="1" dirty="0">
                <a:solidFill>
                  <a:srgbClr val="000000"/>
                </a:solidFill>
                <a:latin typeface="Courier New"/>
                <a:ea typeface="Courier New"/>
                <a:cs typeface="Courier New"/>
                <a:sym typeface="Courier New"/>
              </a:rPr>
              <a:t>... and so on</a:t>
            </a:r>
          </a:p>
          <a:p>
            <a:pPr marL="457200" indent="-342900">
              <a:spcAft>
                <a:spcPts val="600"/>
              </a:spcAft>
              <a:buClrTx/>
              <a:buSzPct val="150000"/>
              <a:buFont typeface="Arial" panose="020B0604020202020204" pitchFamily="34" charset="0"/>
              <a:buChar char="•"/>
            </a:pPr>
            <a:r>
              <a:rPr lang="en-US" sz="2200" dirty="0">
                <a:solidFill>
                  <a:srgbClr val="000000"/>
                </a:solidFill>
              </a:rPr>
              <a:t>Attacker’s browser continues to make DNS requests for each tag</a:t>
            </a:r>
            <a:endParaRPr lang="en-US" sz="2200" b="1" dirty="0">
              <a:solidFill>
                <a:srgbClr val="000000"/>
              </a:solidFill>
              <a:latin typeface="Courier New"/>
              <a:ea typeface="Courier New"/>
              <a:cs typeface="Courier New"/>
              <a:sym typeface="Courier New"/>
            </a:endParaRPr>
          </a:p>
        </p:txBody>
      </p:sp>
    </p:spTree>
    <p:extLst>
      <p:ext uri="{BB962C8B-B14F-4D97-AF65-F5344CB8AC3E}">
        <p14:creationId xmlns:p14="http://schemas.microsoft.com/office/powerpoint/2010/main" val="7790417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819;p140">
            <a:extLst>
              <a:ext uri="{FF2B5EF4-FFF2-40B4-BE49-F238E27FC236}">
                <a16:creationId xmlns:a16="http://schemas.microsoft.com/office/drawing/2014/main" id="{A1BBD3EA-B48A-9405-9D84-E991AC00628F}"/>
              </a:ext>
            </a:extLst>
          </p:cNvPr>
          <p:cNvSpPr txBox="1">
            <a:spLocks noGrp="1"/>
          </p:cNvSpPr>
          <p:nvPr>
            <p:ph type="title"/>
          </p:nvPr>
        </p:nvSpPr>
        <p:spPr>
          <a:xfrm>
            <a:off x="415600" y="47634"/>
            <a:ext cx="11360800" cy="763600"/>
          </a:xfrm>
          <a:prstGeom prst="rect">
            <a:avLst/>
          </a:prstGeom>
        </p:spPr>
        <p:txBody>
          <a:bodyPr spcFirstLastPara="1" wrap="square" lIns="121900" tIns="121900" rIns="121900" bIns="121900" anchor="t" anchorCtr="0">
            <a:noAutofit/>
          </a:bodyPr>
          <a:lstStyle/>
          <a:p>
            <a:r>
              <a:rPr lang="en" sz="4400" dirty="0">
                <a:latin typeface="Aptos Display" panose="020B0004020202020204" pitchFamily="34" charset="0"/>
              </a:rPr>
              <a:t>Kaminsky Attack</a:t>
            </a:r>
            <a:endParaRPr sz="4400" dirty="0">
              <a:latin typeface="Aptos Display" panose="020B0004020202020204" pitchFamily="34" charset="0"/>
            </a:endParaRPr>
          </a:p>
        </p:txBody>
      </p:sp>
      <p:sp>
        <p:nvSpPr>
          <p:cNvPr id="5" name="Google Shape;134;p22">
            <a:extLst>
              <a:ext uri="{FF2B5EF4-FFF2-40B4-BE49-F238E27FC236}">
                <a16:creationId xmlns:a16="http://schemas.microsoft.com/office/drawing/2014/main" id="{BCB25148-7782-826F-A2D4-223D14C16520}"/>
              </a:ext>
            </a:extLst>
          </p:cNvPr>
          <p:cNvSpPr txBox="1"/>
          <p:nvPr/>
        </p:nvSpPr>
        <p:spPr>
          <a:xfrm>
            <a:off x="9595976" y="1748433"/>
            <a:ext cx="1238100" cy="3648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Courier New" panose="02070309020205020404" pitchFamily="49" charset="0"/>
                <a:ea typeface="Courier New"/>
                <a:cs typeface="Courier New" panose="02070309020205020404" pitchFamily="49" charset="0"/>
                <a:sym typeface="Courier New"/>
              </a:rPr>
              <a:t>.</a:t>
            </a:r>
            <a:r>
              <a:rPr lang="en" dirty="0">
                <a:latin typeface="Courier New" panose="02070309020205020404" pitchFamily="49" charset="0"/>
                <a:cs typeface="Courier New" panose="02070309020205020404" pitchFamily="49" charset="0"/>
              </a:rPr>
              <a:t>(root)</a:t>
            </a:r>
            <a:endParaRPr dirty="0">
              <a:latin typeface="Courier New" panose="02070309020205020404" pitchFamily="49" charset="0"/>
              <a:ea typeface="Courier New"/>
              <a:cs typeface="Courier New" panose="02070309020205020404" pitchFamily="49" charset="0"/>
              <a:sym typeface="Courier New"/>
            </a:endParaRPr>
          </a:p>
        </p:txBody>
      </p:sp>
      <p:sp>
        <p:nvSpPr>
          <p:cNvPr id="6" name="Google Shape;135;p22">
            <a:extLst>
              <a:ext uri="{FF2B5EF4-FFF2-40B4-BE49-F238E27FC236}">
                <a16:creationId xmlns:a16="http://schemas.microsoft.com/office/drawing/2014/main" id="{7BA7CE88-EDFF-6E70-9B76-20C60612CDBE}"/>
              </a:ext>
            </a:extLst>
          </p:cNvPr>
          <p:cNvSpPr txBox="1"/>
          <p:nvPr/>
        </p:nvSpPr>
        <p:spPr>
          <a:xfrm>
            <a:off x="9957635" y="2760933"/>
            <a:ext cx="73152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Courier New"/>
                <a:ea typeface="Courier New"/>
                <a:cs typeface="Courier New"/>
                <a:sym typeface="Courier New"/>
              </a:rPr>
              <a:t>.com</a:t>
            </a:r>
            <a:endParaRPr>
              <a:latin typeface="Calibri"/>
              <a:ea typeface="Calibri"/>
              <a:cs typeface="Calibri"/>
              <a:sym typeface="Calibri"/>
            </a:endParaRPr>
          </a:p>
        </p:txBody>
      </p:sp>
      <p:sp>
        <p:nvSpPr>
          <p:cNvPr id="7" name="Google Shape;136;p22">
            <a:extLst>
              <a:ext uri="{FF2B5EF4-FFF2-40B4-BE49-F238E27FC236}">
                <a16:creationId xmlns:a16="http://schemas.microsoft.com/office/drawing/2014/main" id="{DE3B42A2-9AE0-C962-629E-8695BD6817A8}"/>
              </a:ext>
            </a:extLst>
          </p:cNvPr>
          <p:cNvSpPr txBox="1"/>
          <p:nvPr/>
        </p:nvSpPr>
        <p:spPr>
          <a:xfrm>
            <a:off x="9627013" y="3685000"/>
            <a:ext cx="1385235"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400" dirty="0">
                <a:latin typeface="Courier New"/>
                <a:ea typeface="Courier New"/>
                <a:cs typeface="Courier New"/>
                <a:sym typeface="Courier New"/>
              </a:rPr>
              <a:t>google.com</a:t>
            </a:r>
            <a:endParaRPr sz="1400" dirty="0">
              <a:latin typeface="Calibri"/>
              <a:ea typeface="Calibri"/>
              <a:cs typeface="Calibri"/>
              <a:sym typeface="Calibri"/>
            </a:endParaRPr>
          </a:p>
        </p:txBody>
      </p:sp>
      <p:cxnSp>
        <p:nvCxnSpPr>
          <p:cNvPr id="8" name="Google Shape;137;p22">
            <a:extLst>
              <a:ext uri="{FF2B5EF4-FFF2-40B4-BE49-F238E27FC236}">
                <a16:creationId xmlns:a16="http://schemas.microsoft.com/office/drawing/2014/main" id="{9B852C69-8537-5A27-E608-2A26D35C26AA}"/>
              </a:ext>
            </a:extLst>
          </p:cNvPr>
          <p:cNvCxnSpPr>
            <a:cxnSpLocks/>
          </p:cNvCxnSpPr>
          <p:nvPr/>
        </p:nvCxnSpPr>
        <p:spPr>
          <a:xfrm>
            <a:off x="10316929" y="2106937"/>
            <a:ext cx="0" cy="653996"/>
          </a:xfrm>
          <a:prstGeom prst="straightConnector1">
            <a:avLst/>
          </a:prstGeom>
          <a:noFill/>
          <a:ln w="9525" cap="flat" cmpd="sng">
            <a:solidFill>
              <a:srgbClr val="000000"/>
            </a:solidFill>
            <a:prstDash val="solid"/>
            <a:round/>
            <a:headEnd type="none" w="med" len="med"/>
            <a:tailEnd type="none" w="med" len="med"/>
          </a:ln>
        </p:spPr>
      </p:cxnSp>
      <p:cxnSp>
        <p:nvCxnSpPr>
          <p:cNvPr id="9" name="Google Shape;138;p22">
            <a:extLst>
              <a:ext uri="{FF2B5EF4-FFF2-40B4-BE49-F238E27FC236}">
                <a16:creationId xmlns:a16="http://schemas.microsoft.com/office/drawing/2014/main" id="{5DA6BE75-02DB-0719-9977-680149372588}"/>
              </a:ext>
            </a:extLst>
          </p:cNvPr>
          <p:cNvCxnSpPr>
            <a:cxnSpLocks/>
          </p:cNvCxnSpPr>
          <p:nvPr/>
        </p:nvCxnSpPr>
        <p:spPr>
          <a:xfrm>
            <a:off x="10316929" y="3154533"/>
            <a:ext cx="0" cy="516831"/>
          </a:xfrm>
          <a:prstGeom prst="straightConnector1">
            <a:avLst/>
          </a:prstGeom>
          <a:noFill/>
          <a:ln w="9525" cap="flat" cmpd="sng">
            <a:solidFill>
              <a:srgbClr val="000000"/>
            </a:solidFill>
            <a:prstDash val="solid"/>
            <a:round/>
            <a:headEnd type="none" w="med" len="med"/>
            <a:tailEnd type="none" w="med" len="med"/>
          </a:ln>
        </p:spPr>
      </p:cxnSp>
      <p:sp>
        <p:nvSpPr>
          <p:cNvPr id="10" name="Google Shape;140;p22">
            <a:extLst>
              <a:ext uri="{FF2B5EF4-FFF2-40B4-BE49-F238E27FC236}">
                <a16:creationId xmlns:a16="http://schemas.microsoft.com/office/drawing/2014/main" id="{3F417A30-5618-9BD8-F831-46ADE325E3F2}"/>
              </a:ext>
            </a:extLst>
          </p:cNvPr>
          <p:cNvSpPr txBox="1"/>
          <p:nvPr/>
        </p:nvSpPr>
        <p:spPr>
          <a:xfrm>
            <a:off x="3770434" y="2145627"/>
            <a:ext cx="1424101" cy="16308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Courier New" panose="02070309020205020404" pitchFamily="49" charset="0"/>
                <a:cs typeface="Courier New" panose="02070309020205020404" pitchFamily="49" charset="0"/>
              </a:rPr>
              <a:t>Victim Recursive Resolver</a:t>
            </a:r>
            <a:endParaRPr dirty="0">
              <a:latin typeface="Courier New" panose="02070309020205020404" pitchFamily="49" charset="0"/>
              <a:cs typeface="Courier New" panose="02070309020205020404" pitchFamily="49" charset="0"/>
            </a:endParaRPr>
          </a:p>
        </p:txBody>
      </p:sp>
      <p:sp>
        <p:nvSpPr>
          <p:cNvPr id="25" name="Google Shape;844;p69">
            <a:extLst>
              <a:ext uri="{FF2B5EF4-FFF2-40B4-BE49-F238E27FC236}">
                <a16:creationId xmlns:a16="http://schemas.microsoft.com/office/drawing/2014/main" id="{FD730575-586C-03B9-ECEB-C0471A7132C4}"/>
              </a:ext>
            </a:extLst>
          </p:cNvPr>
          <p:cNvSpPr txBox="1"/>
          <p:nvPr/>
        </p:nvSpPr>
        <p:spPr>
          <a:xfrm>
            <a:off x="926029" y="3279471"/>
            <a:ext cx="1728956" cy="612115"/>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Courier New"/>
                <a:ea typeface="Courier New"/>
                <a:cs typeface="Courier New"/>
                <a:sym typeface="Courier New"/>
              </a:rPr>
              <a:t>Attacker’s </a:t>
            </a:r>
            <a:r>
              <a:rPr lang="en" b="1" dirty="0">
                <a:solidFill>
                  <a:srgbClr val="C00000"/>
                </a:solidFill>
                <a:latin typeface="Courier New"/>
                <a:ea typeface="Courier New"/>
                <a:cs typeface="Courier New"/>
                <a:sym typeface="Courier New"/>
              </a:rPr>
              <a:t>name server</a:t>
            </a:r>
            <a:endParaRPr b="1" dirty="0">
              <a:solidFill>
                <a:srgbClr val="C00000"/>
              </a:solidFill>
              <a:latin typeface="Calibri"/>
              <a:ea typeface="Calibri"/>
              <a:cs typeface="Calibri"/>
              <a:sym typeface="Calibri"/>
            </a:endParaRPr>
          </a:p>
        </p:txBody>
      </p:sp>
      <p:sp>
        <p:nvSpPr>
          <p:cNvPr id="27" name="Google Shape;156;p22">
            <a:extLst>
              <a:ext uri="{FF2B5EF4-FFF2-40B4-BE49-F238E27FC236}">
                <a16:creationId xmlns:a16="http://schemas.microsoft.com/office/drawing/2014/main" id="{8481E6BE-859C-D1E5-E230-1118CF3BD473}"/>
              </a:ext>
            </a:extLst>
          </p:cNvPr>
          <p:cNvSpPr txBox="1"/>
          <p:nvPr/>
        </p:nvSpPr>
        <p:spPr>
          <a:xfrm>
            <a:off x="2969060" y="2113233"/>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rgbClr val="C00000"/>
                </a:solidFill>
                <a:latin typeface="Calibri"/>
                <a:ea typeface="Calibri"/>
                <a:cs typeface="Calibri"/>
                <a:sym typeface="Calibri"/>
              </a:rPr>
              <a:t>1</a:t>
            </a:r>
            <a:endParaRPr dirty="0">
              <a:solidFill>
                <a:srgbClr val="C00000"/>
              </a:solidFill>
              <a:latin typeface="Calibri"/>
              <a:ea typeface="Calibri"/>
              <a:cs typeface="Calibri"/>
              <a:sym typeface="Calibri"/>
            </a:endParaRPr>
          </a:p>
        </p:txBody>
      </p:sp>
      <p:cxnSp>
        <p:nvCxnSpPr>
          <p:cNvPr id="28" name="Google Shape;141;p22">
            <a:extLst>
              <a:ext uri="{FF2B5EF4-FFF2-40B4-BE49-F238E27FC236}">
                <a16:creationId xmlns:a16="http://schemas.microsoft.com/office/drawing/2014/main" id="{F67DE811-744D-AB1C-18F5-F53F96599F89}"/>
              </a:ext>
            </a:extLst>
          </p:cNvPr>
          <p:cNvCxnSpPr>
            <a:cxnSpLocks/>
          </p:cNvCxnSpPr>
          <p:nvPr/>
        </p:nvCxnSpPr>
        <p:spPr>
          <a:xfrm>
            <a:off x="2672790" y="2517364"/>
            <a:ext cx="1097643" cy="0"/>
          </a:xfrm>
          <a:prstGeom prst="straightConnector1">
            <a:avLst/>
          </a:prstGeom>
          <a:noFill/>
          <a:ln w="19050" cap="flat" cmpd="sng">
            <a:solidFill>
              <a:srgbClr val="C00000"/>
            </a:solidFill>
            <a:prstDash val="solid"/>
            <a:round/>
            <a:headEnd type="none" w="med" len="med"/>
            <a:tailEnd type="triangle" w="med" len="med"/>
          </a:ln>
        </p:spPr>
      </p:cxnSp>
      <p:cxnSp>
        <p:nvCxnSpPr>
          <p:cNvPr id="31" name="Google Shape;141;p22">
            <a:extLst>
              <a:ext uri="{FF2B5EF4-FFF2-40B4-BE49-F238E27FC236}">
                <a16:creationId xmlns:a16="http://schemas.microsoft.com/office/drawing/2014/main" id="{E78ECEB2-4C3D-AD02-4CCE-9EAFAD91C9C4}"/>
              </a:ext>
            </a:extLst>
          </p:cNvPr>
          <p:cNvCxnSpPr>
            <a:cxnSpLocks/>
          </p:cNvCxnSpPr>
          <p:nvPr/>
        </p:nvCxnSpPr>
        <p:spPr>
          <a:xfrm>
            <a:off x="2663887" y="3483750"/>
            <a:ext cx="1106546" cy="0"/>
          </a:xfrm>
          <a:prstGeom prst="straightConnector1">
            <a:avLst/>
          </a:prstGeom>
          <a:noFill/>
          <a:ln w="19050" cap="flat" cmpd="sng">
            <a:solidFill>
              <a:srgbClr val="C00000"/>
            </a:solidFill>
            <a:prstDash val="solid"/>
            <a:round/>
            <a:headEnd type="none" w="med" len="med"/>
            <a:tailEnd type="triangle" w="med" len="med"/>
          </a:ln>
        </p:spPr>
      </p:cxnSp>
      <p:sp>
        <p:nvSpPr>
          <p:cNvPr id="32" name="Google Shape;156;p22">
            <a:extLst>
              <a:ext uri="{FF2B5EF4-FFF2-40B4-BE49-F238E27FC236}">
                <a16:creationId xmlns:a16="http://schemas.microsoft.com/office/drawing/2014/main" id="{84D34E67-C0CC-731A-37A9-7DE919263473}"/>
              </a:ext>
            </a:extLst>
          </p:cNvPr>
          <p:cNvSpPr txBox="1"/>
          <p:nvPr/>
        </p:nvSpPr>
        <p:spPr>
          <a:xfrm>
            <a:off x="2893824" y="3106720"/>
            <a:ext cx="482766"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dirty="0">
                <a:solidFill>
                  <a:srgbClr val="C00000"/>
                </a:solidFill>
                <a:latin typeface="Aptos" panose="020B0004020202020204" pitchFamily="34" charset="0"/>
                <a:ea typeface="Calibri"/>
                <a:cs typeface="Calibri"/>
                <a:sym typeface="Calibri"/>
              </a:rPr>
              <a:t>2b</a:t>
            </a:r>
            <a:endParaRPr b="1" dirty="0">
              <a:solidFill>
                <a:srgbClr val="C00000"/>
              </a:solidFill>
              <a:latin typeface="Aptos" panose="020B0004020202020204" pitchFamily="34" charset="0"/>
              <a:ea typeface="Calibri"/>
              <a:cs typeface="Calibri"/>
              <a:sym typeface="Calibri"/>
            </a:endParaRPr>
          </a:p>
        </p:txBody>
      </p:sp>
      <p:sp>
        <p:nvSpPr>
          <p:cNvPr id="33" name="Google Shape;219;p30">
            <a:extLst>
              <a:ext uri="{FF2B5EF4-FFF2-40B4-BE49-F238E27FC236}">
                <a16:creationId xmlns:a16="http://schemas.microsoft.com/office/drawing/2014/main" id="{E99AF426-3332-0E34-9D92-B565C4D0F98F}"/>
              </a:ext>
            </a:extLst>
          </p:cNvPr>
          <p:cNvSpPr txBox="1"/>
          <p:nvPr/>
        </p:nvSpPr>
        <p:spPr>
          <a:xfrm>
            <a:off x="1467995" y="4127247"/>
            <a:ext cx="3334424" cy="1022831"/>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b="1" dirty="0">
                <a:solidFill>
                  <a:schemeClr val="dk1"/>
                </a:solidFill>
                <a:latin typeface="Courier New"/>
                <a:ea typeface="Courier New"/>
                <a:cs typeface="Courier New"/>
                <a:sym typeface="Courier New"/>
              </a:rPr>
              <a:t>Flood of forged answers with randomly guessed Query IDs</a:t>
            </a:r>
            <a:endParaRPr dirty="0">
              <a:solidFill>
                <a:schemeClr val="dk1"/>
              </a:solidFill>
            </a:endParaRPr>
          </a:p>
        </p:txBody>
      </p:sp>
      <p:sp>
        <p:nvSpPr>
          <p:cNvPr id="34" name="Google Shape;219;p30">
            <a:extLst>
              <a:ext uri="{FF2B5EF4-FFF2-40B4-BE49-F238E27FC236}">
                <a16:creationId xmlns:a16="http://schemas.microsoft.com/office/drawing/2014/main" id="{E78B916D-C0D4-C33C-BF1C-94F504C853EA}"/>
              </a:ext>
            </a:extLst>
          </p:cNvPr>
          <p:cNvSpPr txBox="1"/>
          <p:nvPr/>
        </p:nvSpPr>
        <p:spPr>
          <a:xfrm>
            <a:off x="6229676" y="4089754"/>
            <a:ext cx="2781051" cy="710416"/>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b="1" dirty="0">
                <a:solidFill>
                  <a:schemeClr val="dk1"/>
                </a:solidFill>
                <a:latin typeface="Courier New"/>
                <a:ea typeface="Courier New"/>
                <a:cs typeface="Courier New"/>
                <a:sym typeface="Courier New"/>
              </a:rPr>
              <a:t>IP for photos.google.com</a:t>
            </a:r>
            <a:endParaRPr dirty="0">
              <a:solidFill>
                <a:schemeClr val="dk1"/>
              </a:solidFill>
            </a:endParaRPr>
          </a:p>
        </p:txBody>
      </p:sp>
      <p:sp>
        <p:nvSpPr>
          <p:cNvPr id="26" name="Google Shape;844;p69">
            <a:extLst>
              <a:ext uri="{FF2B5EF4-FFF2-40B4-BE49-F238E27FC236}">
                <a16:creationId xmlns:a16="http://schemas.microsoft.com/office/drawing/2014/main" id="{3B16E146-F2F4-29BD-79DA-4CB16F259B02}"/>
              </a:ext>
            </a:extLst>
          </p:cNvPr>
          <p:cNvSpPr txBox="1"/>
          <p:nvPr/>
        </p:nvSpPr>
        <p:spPr>
          <a:xfrm>
            <a:off x="926028" y="2184885"/>
            <a:ext cx="1728956" cy="664957"/>
          </a:xfrm>
          <a:prstGeom prst="rect">
            <a:avLst/>
          </a:prstGeom>
          <a:solidFill>
            <a:schemeClr val="lt1"/>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Courier New"/>
                <a:ea typeface="Courier New"/>
                <a:cs typeface="Courier New"/>
                <a:sym typeface="Courier New"/>
              </a:rPr>
              <a:t>Attacker’s client</a:t>
            </a:r>
            <a:endParaRPr dirty="0">
              <a:latin typeface="Calibri"/>
              <a:ea typeface="Calibri"/>
              <a:cs typeface="Calibri"/>
              <a:sym typeface="Calibri"/>
            </a:endParaRPr>
          </a:p>
        </p:txBody>
      </p:sp>
      <p:sp>
        <p:nvSpPr>
          <p:cNvPr id="24" name="Google Shape;219;p30">
            <a:extLst>
              <a:ext uri="{FF2B5EF4-FFF2-40B4-BE49-F238E27FC236}">
                <a16:creationId xmlns:a16="http://schemas.microsoft.com/office/drawing/2014/main" id="{47A609E9-4A8A-4F16-29D0-54712D049EF0}"/>
              </a:ext>
            </a:extLst>
          </p:cNvPr>
          <p:cNvSpPr txBox="1"/>
          <p:nvPr/>
        </p:nvSpPr>
        <p:spPr>
          <a:xfrm>
            <a:off x="1347223" y="1307268"/>
            <a:ext cx="3739874" cy="692876"/>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dirty="0">
                <a:solidFill>
                  <a:schemeClr val="dk1"/>
                </a:solidFill>
                <a:latin typeface="Courier New"/>
                <a:ea typeface="Courier New"/>
                <a:cs typeface="Courier New"/>
                <a:sym typeface="Courier New"/>
              </a:rPr>
              <a:t>What is the IP address of </a:t>
            </a:r>
            <a:r>
              <a:rPr lang="en-US" b="1" dirty="0">
                <a:solidFill>
                  <a:srgbClr val="C00000"/>
                </a:solidFill>
                <a:latin typeface="Courier New"/>
                <a:ea typeface="Courier New"/>
                <a:cs typeface="Courier New"/>
                <a:sym typeface="Courier New"/>
              </a:rPr>
              <a:t>fake_photo1.google.com</a:t>
            </a:r>
            <a:endParaRPr dirty="0">
              <a:solidFill>
                <a:srgbClr val="C00000"/>
              </a:solidFill>
            </a:endParaRPr>
          </a:p>
        </p:txBody>
      </p:sp>
      <p:cxnSp>
        <p:nvCxnSpPr>
          <p:cNvPr id="3" name="Google Shape;451;p34">
            <a:extLst>
              <a:ext uri="{FF2B5EF4-FFF2-40B4-BE49-F238E27FC236}">
                <a16:creationId xmlns:a16="http://schemas.microsoft.com/office/drawing/2014/main" id="{F89656B6-2ABD-6BD0-504D-B8EFDA483150}"/>
              </a:ext>
            </a:extLst>
          </p:cNvPr>
          <p:cNvCxnSpPr>
            <a:cxnSpLocks/>
          </p:cNvCxnSpPr>
          <p:nvPr/>
        </p:nvCxnSpPr>
        <p:spPr>
          <a:xfrm flipV="1">
            <a:off x="5268896" y="1824488"/>
            <a:ext cx="4210903" cy="692876"/>
          </a:xfrm>
          <a:prstGeom prst="straightConnector1">
            <a:avLst/>
          </a:prstGeom>
          <a:noFill/>
          <a:ln w="19050" cap="flat" cmpd="sng">
            <a:solidFill>
              <a:srgbClr val="000000"/>
            </a:solidFill>
            <a:prstDash val="solid"/>
            <a:round/>
            <a:headEnd type="none" w="med" len="med"/>
            <a:tailEnd type="triangle" w="med" len="med"/>
          </a:ln>
        </p:spPr>
      </p:cxnSp>
      <p:cxnSp>
        <p:nvCxnSpPr>
          <p:cNvPr id="23" name="Google Shape;452;p34">
            <a:extLst>
              <a:ext uri="{FF2B5EF4-FFF2-40B4-BE49-F238E27FC236}">
                <a16:creationId xmlns:a16="http://schemas.microsoft.com/office/drawing/2014/main" id="{7603A496-33D3-3A51-E814-3569A5AA26F0}"/>
              </a:ext>
            </a:extLst>
          </p:cNvPr>
          <p:cNvCxnSpPr>
            <a:cxnSpLocks/>
          </p:cNvCxnSpPr>
          <p:nvPr/>
        </p:nvCxnSpPr>
        <p:spPr>
          <a:xfrm flipV="1">
            <a:off x="5268896" y="1993386"/>
            <a:ext cx="4210903" cy="678625"/>
          </a:xfrm>
          <a:prstGeom prst="straightConnector1">
            <a:avLst/>
          </a:prstGeom>
          <a:noFill/>
          <a:ln w="19050" cap="flat" cmpd="sng">
            <a:solidFill>
              <a:srgbClr val="000000"/>
            </a:solidFill>
            <a:prstDash val="solid"/>
            <a:round/>
            <a:headEnd type="triangle" w="med" len="med"/>
            <a:tailEnd type="none" w="med" len="med"/>
          </a:ln>
        </p:spPr>
      </p:cxnSp>
      <p:cxnSp>
        <p:nvCxnSpPr>
          <p:cNvPr id="29" name="Google Shape;453;p34">
            <a:extLst>
              <a:ext uri="{FF2B5EF4-FFF2-40B4-BE49-F238E27FC236}">
                <a16:creationId xmlns:a16="http://schemas.microsoft.com/office/drawing/2014/main" id="{E0A636A9-35AA-5280-86E6-4FA5C5173BC0}"/>
              </a:ext>
            </a:extLst>
          </p:cNvPr>
          <p:cNvCxnSpPr>
            <a:cxnSpLocks/>
          </p:cNvCxnSpPr>
          <p:nvPr/>
        </p:nvCxnSpPr>
        <p:spPr>
          <a:xfrm flipV="1">
            <a:off x="5312174" y="2746667"/>
            <a:ext cx="4167625" cy="308449"/>
          </a:xfrm>
          <a:prstGeom prst="straightConnector1">
            <a:avLst/>
          </a:prstGeom>
          <a:noFill/>
          <a:ln w="19050" cap="flat" cmpd="sng">
            <a:solidFill>
              <a:srgbClr val="000000"/>
            </a:solidFill>
            <a:prstDash val="solid"/>
            <a:round/>
            <a:headEnd type="none" w="med" len="med"/>
            <a:tailEnd type="triangle" w="med" len="med"/>
          </a:ln>
        </p:spPr>
      </p:cxnSp>
      <p:cxnSp>
        <p:nvCxnSpPr>
          <p:cNvPr id="30" name="Google Shape;454;p34">
            <a:extLst>
              <a:ext uri="{FF2B5EF4-FFF2-40B4-BE49-F238E27FC236}">
                <a16:creationId xmlns:a16="http://schemas.microsoft.com/office/drawing/2014/main" id="{2156CDE0-6169-3D62-42D9-037A5A6A2607}"/>
              </a:ext>
            </a:extLst>
          </p:cNvPr>
          <p:cNvCxnSpPr>
            <a:cxnSpLocks/>
          </p:cNvCxnSpPr>
          <p:nvPr/>
        </p:nvCxnSpPr>
        <p:spPr>
          <a:xfrm flipV="1">
            <a:off x="5233267" y="2939393"/>
            <a:ext cx="4205539" cy="251393"/>
          </a:xfrm>
          <a:prstGeom prst="straightConnector1">
            <a:avLst/>
          </a:prstGeom>
          <a:noFill/>
          <a:ln w="19050" cap="flat" cmpd="sng">
            <a:solidFill>
              <a:srgbClr val="000000"/>
            </a:solidFill>
            <a:prstDash val="solid"/>
            <a:round/>
            <a:headEnd type="triangle" w="med" len="med"/>
            <a:tailEnd type="none" w="med" len="med"/>
          </a:ln>
        </p:spPr>
      </p:cxnSp>
      <p:cxnSp>
        <p:nvCxnSpPr>
          <p:cNvPr id="35" name="Google Shape;455;p34">
            <a:extLst>
              <a:ext uri="{FF2B5EF4-FFF2-40B4-BE49-F238E27FC236}">
                <a16:creationId xmlns:a16="http://schemas.microsoft.com/office/drawing/2014/main" id="{F57F5BEA-88F5-6A39-D66C-2F13448834EA}"/>
              </a:ext>
            </a:extLst>
          </p:cNvPr>
          <p:cNvCxnSpPr>
            <a:cxnSpLocks/>
          </p:cNvCxnSpPr>
          <p:nvPr/>
        </p:nvCxnSpPr>
        <p:spPr>
          <a:xfrm>
            <a:off x="5332846" y="3460261"/>
            <a:ext cx="4155856" cy="309870"/>
          </a:xfrm>
          <a:prstGeom prst="straightConnector1">
            <a:avLst/>
          </a:prstGeom>
          <a:noFill/>
          <a:ln w="19050" cap="flat" cmpd="sng">
            <a:solidFill>
              <a:srgbClr val="000000"/>
            </a:solidFill>
            <a:prstDash val="solid"/>
            <a:round/>
            <a:headEnd type="none" w="med" len="med"/>
            <a:tailEnd type="triangle" w="med" len="med"/>
          </a:ln>
        </p:spPr>
      </p:cxnSp>
      <p:cxnSp>
        <p:nvCxnSpPr>
          <p:cNvPr id="36" name="Google Shape;456;p34">
            <a:extLst>
              <a:ext uri="{FF2B5EF4-FFF2-40B4-BE49-F238E27FC236}">
                <a16:creationId xmlns:a16="http://schemas.microsoft.com/office/drawing/2014/main" id="{7D93C5F3-29A5-729D-75D9-A9274E721A3B}"/>
              </a:ext>
            </a:extLst>
          </p:cNvPr>
          <p:cNvCxnSpPr>
            <a:cxnSpLocks/>
          </p:cNvCxnSpPr>
          <p:nvPr/>
        </p:nvCxnSpPr>
        <p:spPr>
          <a:xfrm>
            <a:off x="5233271" y="3582091"/>
            <a:ext cx="4205534" cy="345486"/>
          </a:xfrm>
          <a:prstGeom prst="straightConnector1">
            <a:avLst/>
          </a:prstGeom>
          <a:noFill/>
          <a:ln w="19050" cap="flat" cmpd="sng">
            <a:solidFill>
              <a:srgbClr val="000000"/>
            </a:solidFill>
            <a:prstDash val="solid"/>
            <a:round/>
            <a:headEnd type="triangle" w="med" len="med"/>
            <a:tailEnd type="none" w="med" len="med"/>
          </a:ln>
        </p:spPr>
      </p:cxnSp>
      <p:sp>
        <p:nvSpPr>
          <p:cNvPr id="37" name="Google Shape;457;p34">
            <a:extLst>
              <a:ext uri="{FF2B5EF4-FFF2-40B4-BE49-F238E27FC236}">
                <a16:creationId xmlns:a16="http://schemas.microsoft.com/office/drawing/2014/main" id="{0339EF2C-19DD-9095-6D72-410E2B617789}"/>
              </a:ext>
            </a:extLst>
          </p:cNvPr>
          <p:cNvSpPr txBox="1"/>
          <p:nvPr/>
        </p:nvSpPr>
        <p:spPr>
          <a:xfrm>
            <a:off x="7237568" y="3261502"/>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6</a:t>
            </a:r>
            <a:endParaRPr>
              <a:latin typeface="Calibri"/>
              <a:ea typeface="Calibri"/>
              <a:cs typeface="Calibri"/>
              <a:sym typeface="Calibri"/>
            </a:endParaRPr>
          </a:p>
        </p:txBody>
      </p:sp>
      <p:sp>
        <p:nvSpPr>
          <p:cNvPr id="38" name="Google Shape;458;p34">
            <a:extLst>
              <a:ext uri="{FF2B5EF4-FFF2-40B4-BE49-F238E27FC236}">
                <a16:creationId xmlns:a16="http://schemas.microsoft.com/office/drawing/2014/main" id="{12C3D2DB-3F71-547C-74D0-542E859AC613}"/>
              </a:ext>
            </a:extLst>
          </p:cNvPr>
          <p:cNvSpPr txBox="1"/>
          <p:nvPr/>
        </p:nvSpPr>
        <p:spPr>
          <a:xfrm>
            <a:off x="7210102" y="3678761"/>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7</a:t>
            </a:r>
            <a:endParaRPr>
              <a:latin typeface="Calibri"/>
              <a:ea typeface="Calibri"/>
              <a:cs typeface="Calibri"/>
              <a:sym typeface="Calibri"/>
            </a:endParaRPr>
          </a:p>
        </p:txBody>
      </p:sp>
      <p:sp>
        <p:nvSpPr>
          <p:cNvPr id="39" name="Google Shape;459;p34">
            <a:extLst>
              <a:ext uri="{FF2B5EF4-FFF2-40B4-BE49-F238E27FC236}">
                <a16:creationId xmlns:a16="http://schemas.microsoft.com/office/drawing/2014/main" id="{D459AFC4-A55E-B424-C3DC-86EABC97111F}"/>
              </a:ext>
            </a:extLst>
          </p:cNvPr>
          <p:cNvSpPr txBox="1"/>
          <p:nvPr/>
        </p:nvSpPr>
        <p:spPr>
          <a:xfrm>
            <a:off x="7382506" y="2594954"/>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4</a:t>
            </a:r>
            <a:endParaRPr>
              <a:latin typeface="Calibri"/>
              <a:ea typeface="Calibri"/>
              <a:cs typeface="Calibri"/>
              <a:sym typeface="Calibri"/>
            </a:endParaRPr>
          </a:p>
        </p:txBody>
      </p:sp>
      <p:sp>
        <p:nvSpPr>
          <p:cNvPr id="40" name="Google Shape;460;p34">
            <a:extLst>
              <a:ext uri="{FF2B5EF4-FFF2-40B4-BE49-F238E27FC236}">
                <a16:creationId xmlns:a16="http://schemas.microsoft.com/office/drawing/2014/main" id="{ED35982E-5B58-5C96-BC41-70B366DB269A}"/>
              </a:ext>
            </a:extLst>
          </p:cNvPr>
          <p:cNvSpPr txBox="1"/>
          <p:nvPr/>
        </p:nvSpPr>
        <p:spPr>
          <a:xfrm>
            <a:off x="7434884" y="3014049"/>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5</a:t>
            </a:r>
            <a:endParaRPr>
              <a:latin typeface="Calibri"/>
              <a:ea typeface="Calibri"/>
              <a:cs typeface="Calibri"/>
              <a:sym typeface="Calibri"/>
            </a:endParaRPr>
          </a:p>
        </p:txBody>
      </p:sp>
      <p:sp>
        <p:nvSpPr>
          <p:cNvPr id="41" name="Google Shape;461;p34">
            <a:extLst>
              <a:ext uri="{FF2B5EF4-FFF2-40B4-BE49-F238E27FC236}">
                <a16:creationId xmlns:a16="http://schemas.microsoft.com/office/drawing/2014/main" id="{A72BAB1A-5CF6-9DCC-54F0-962626A1384B}"/>
              </a:ext>
            </a:extLst>
          </p:cNvPr>
          <p:cNvSpPr txBox="1"/>
          <p:nvPr/>
        </p:nvSpPr>
        <p:spPr>
          <a:xfrm>
            <a:off x="7404676" y="2215793"/>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3</a:t>
            </a:r>
            <a:endParaRPr>
              <a:latin typeface="Calibri"/>
              <a:ea typeface="Calibri"/>
              <a:cs typeface="Calibri"/>
              <a:sym typeface="Calibri"/>
            </a:endParaRPr>
          </a:p>
        </p:txBody>
      </p:sp>
      <p:sp>
        <p:nvSpPr>
          <p:cNvPr id="42" name="Google Shape;462;p34">
            <a:extLst>
              <a:ext uri="{FF2B5EF4-FFF2-40B4-BE49-F238E27FC236}">
                <a16:creationId xmlns:a16="http://schemas.microsoft.com/office/drawing/2014/main" id="{917BDEAC-271A-22E7-CC7E-3642EA30857F}"/>
              </a:ext>
            </a:extLst>
          </p:cNvPr>
          <p:cNvSpPr txBox="1"/>
          <p:nvPr/>
        </p:nvSpPr>
        <p:spPr>
          <a:xfrm>
            <a:off x="7358663" y="1766899"/>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2a</a:t>
            </a:r>
            <a:endParaRPr dirty="0">
              <a:latin typeface="Calibri"/>
              <a:ea typeface="Calibri"/>
              <a:cs typeface="Calibri"/>
              <a:sym typeface="Calibri"/>
            </a:endParaRPr>
          </a:p>
        </p:txBody>
      </p:sp>
      <p:sp>
        <p:nvSpPr>
          <p:cNvPr id="50" name="Google Shape;96;p18">
            <a:extLst>
              <a:ext uri="{FF2B5EF4-FFF2-40B4-BE49-F238E27FC236}">
                <a16:creationId xmlns:a16="http://schemas.microsoft.com/office/drawing/2014/main" id="{2946105A-908E-6B29-C5D4-9433623D82B8}"/>
              </a:ext>
            </a:extLst>
          </p:cNvPr>
          <p:cNvSpPr txBox="1"/>
          <p:nvPr/>
        </p:nvSpPr>
        <p:spPr>
          <a:xfrm>
            <a:off x="5233267" y="5618969"/>
            <a:ext cx="2990557" cy="800189"/>
          </a:xfrm>
          <a:prstGeom prst="rect">
            <a:avLst/>
          </a:prstGeom>
          <a:solidFill>
            <a:srgbClr val="C9DAF8"/>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US" sz="2000" dirty="0"/>
              <a:t>What is the payload in these forged answers?</a:t>
            </a:r>
            <a:endParaRPr sz="2000" dirty="0"/>
          </a:p>
        </p:txBody>
      </p:sp>
      <p:cxnSp>
        <p:nvCxnSpPr>
          <p:cNvPr id="51" name="Google Shape;173;p21">
            <a:extLst>
              <a:ext uri="{FF2B5EF4-FFF2-40B4-BE49-F238E27FC236}">
                <a16:creationId xmlns:a16="http://schemas.microsoft.com/office/drawing/2014/main" id="{1C665515-C6B7-2CD8-92FF-2EF62F3C31D4}"/>
              </a:ext>
            </a:extLst>
          </p:cNvPr>
          <p:cNvCxnSpPr>
            <a:cxnSpLocks/>
            <a:stCxn id="50" idx="1"/>
            <a:endCxn id="33" idx="2"/>
          </p:cNvCxnSpPr>
          <p:nvPr/>
        </p:nvCxnSpPr>
        <p:spPr>
          <a:xfrm flipH="1" flipV="1">
            <a:off x="3135207" y="5150078"/>
            <a:ext cx="2098060" cy="868986"/>
          </a:xfrm>
          <a:prstGeom prst="straightConnector1">
            <a:avLst/>
          </a:prstGeom>
          <a:noFill/>
          <a:ln w="57150" cap="flat" cmpd="sng">
            <a:solidFill>
              <a:schemeClr val="accent1">
                <a:lumMod val="60000"/>
                <a:lumOff val="40000"/>
              </a:schemeClr>
            </a:solidFill>
            <a:prstDash val="solid"/>
            <a:round/>
            <a:headEnd type="none" w="med" len="med"/>
            <a:tailEnd type="triangle" w="med" len="med"/>
          </a:ln>
        </p:spPr>
      </p:cxnSp>
    </p:spTree>
    <p:extLst>
      <p:ext uri="{BB962C8B-B14F-4D97-AF65-F5344CB8AC3E}">
        <p14:creationId xmlns:p14="http://schemas.microsoft.com/office/powerpoint/2010/main" val="25810110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819;p140">
            <a:extLst>
              <a:ext uri="{FF2B5EF4-FFF2-40B4-BE49-F238E27FC236}">
                <a16:creationId xmlns:a16="http://schemas.microsoft.com/office/drawing/2014/main" id="{A1BBD3EA-B48A-9405-9D84-E991AC00628F}"/>
              </a:ext>
            </a:extLst>
          </p:cNvPr>
          <p:cNvSpPr txBox="1">
            <a:spLocks noGrp="1"/>
          </p:cNvSpPr>
          <p:nvPr>
            <p:ph type="title"/>
          </p:nvPr>
        </p:nvSpPr>
        <p:spPr>
          <a:xfrm>
            <a:off x="415600" y="55919"/>
            <a:ext cx="11360800" cy="763600"/>
          </a:xfrm>
          <a:prstGeom prst="rect">
            <a:avLst/>
          </a:prstGeom>
        </p:spPr>
        <p:txBody>
          <a:bodyPr spcFirstLastPara="1" wrap="square" lIns="121900" tIns="121900" rIns="121900" bIns="121900" anchor="t" anchorCtr="0">
            <a:noAutofit/>
          </a:bodyPr>
          <a:lstStyle/>
          <a:p>
            <a:r>
              <a:rPr lang="en" sz="4400" dirty="0">
                <a:latin typeface="Aptos" panose="020B0004020202020204" pitchFamily="34" charset="0"/>
              </a:rPr>
              <a:t>Kaminsky Attack: Example</a:t>
            </a:r>
            <a:endParaRPr sz="4400" dirty="0">
              <a:latin typeface="Aptos" panose="020B0004020202020204" pitchFamily="34" charset="0"/>
            </a:endParaRPr>
          </a:p>
        </p:txBody>
      </p:sp>
      <p:sp>
        <p:nvSpPr>
          <p:cNvPr id="16" name="Google Shape;94;p18">
            <a:extLst>
              <a:ext uri="{FF2B5EF4-FFF2-40B4-BE49-F238E27FC236}">
                <a16:creationId xmlns:a16="http://schemas.microsoft.com/office/drawing/2014/main" id="{27338096-ADE2-579F-5EE1-AEDCC622FBBF}"/>
              </a:ext>
            </a:extLst>
          </p:cNvPr>
          <p:cNvSpPr txBox="1"/>
          <p:nvPr/>
        </p:nvSpPr>
        <p:spPr>
          <a:xfrm>
            <a:off x="1086878" y="1273669"/>
            <a:ext cx="2164021" cy="58745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Courier New"/>
                <a:ea typeface="Courier New"/>
                <a:cs typeface="Courier New"/>
                <a:sym typeface="Courier New"/>
              </a:rPr>
              <a:t>Stub Resolver</a:t>
            </a:r>
            <a:endParaRPr dirty="0">
              <a:latin typeface="Calibri"/>
              <a:ea typeface="Calibri"/>
              <a:cs typeface="Calibri"/>
              <a:sym typeface="Calibri"/>
            </a:endParaRPr>
          </a:p>
        </p:txBody>
      </p:sp>
      <p:sp>
        <p:nvSpPr>
          <p:cNvPr id="18" name="Google Shape;96;p18">
            <a:extLst>
              <a:ext uri="{FF2B5EF4-FFF2-40B4-BE49-F238E27FC236}">
                <a16:creationId xmlns:a16="http://schemas.microsoft.com/office/drawing/2014/main" id="{FBAD7CF6-2811-5480-B819-4CA3B0A188CD}"/>
              </a:ext>
            </a:extLst>
          </p:cNvPr>
          <p:cNvSpPr txBox="1"/>
          <p:nvPr/>
        </p:nvSpPr>
        <p:spPr>
          <a:xfrm>
            <a:off x="4089192" y="1245519"/>
            <a:ext cx="5254764" cy="738632"/>
          </a:xfrm>
          <a:prstGeom prst="rect">
            <a:avLst/>
          </a:prstGeom>
          <a:solidFill>
            <a:srgbClr val="C9DAF8"/>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dirty="0"/>
              <a:t>Let's walk through the DNS query for the IP address of </a:t>
            </a:r>
            <a:r>
              <a:rPr lang="en" b="1" dirty="0">
                <a:solidFill>
                  <a:schemeClr val="dk1"/>
                </a:solidFill>
                <a:latin typeface="Courier New"/>
                <a:ea typeface="Courier New"/>
                <a:cs typeface="Courier New"/>
                <a:sym typeface="Courier New"/>
              </a:rPr>
              <a:t>fake_photo1.google.com</a:t>
            </a:r>
            <a:endParaRPr dirty="0"/>
          </a:p>
        </p:txBody>
      </p:sp>
      <p:sp>
        <p:nvSpPr>
          <p:cNvPr id="20" name="Google Shape;98;p18">
            <a:extLst>
              <a:ext uri="{FF2B5EF4-FFF2-40B4-BE49-F238E27FC236}">
                <a16:creationId xmlns:a16="http://schemas.microsoft.com/office/drawing/2014/main" id="{19323B84-7D87-0BA1-EAA5-286975507BC8}"/>
              </a:ext>
            </a:extLst>
          </p:cNvPr>
          <p:cNvSpPr/>
          <p:nvPr/>
        </p:nvSpPr>
        <p:spPr>
          <a:xfrm>
            <a:off x="164860" y="2572413"/>
            <a:ext cx="4056187" cy="3701166"/>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99;p18">
            <a:extLst>
              <a:ext uri="{FF2B5EF4-FFF2-40B4-BE49-F238E27FC236}">
                <a16:creationId xmlns:a16="http://schemas.microsoft.com/office/drawing/2014/main" id="{10C1C038-9E6A-04D6-69B1-5060DB60FB3C}"/>
              </a:ext>
            </a:extLst>
          </p:cNvPr>
          <p:cNvSpPr txBox="1"/>
          <p:nvPr/>
        </p:nvSpPr>
        <p:spPr>
          <a:xfrm>
            <a:off x="248560" y="2660813"/>
            <a:ext cx="3840671" cy="508261"/>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graphicFrame>
        <p:nvGraphicFramePr>
          <p:cNvPr id="22" name="Google Shape;100;p18">
            <a:extLst>
              <a:ext uri="{FF2B5EF4-FFF2-40B4-BE49-F238E27FC236}">
                <a16:creationId xmlns:a16="http://schemas.microsoft.com/office/drawing/2014/main" id="{48D49623-2A57-A908-A06B-77B627D60BAE}"/>
              </a:ext>
            </a:extLst>
          </p:cNvPr>
          <p:cNvGraphicFramePr/>
          <p:nvPr>
            <p:extLst>
              <p:ext uri="{D42A27DB-BD31-4B8C-83A1-F6EECF244321}">
                <p14:modId xmlns:p14="http://schemas.microsoft.com/office/powerpoint/2010/main" val="2266337349"/>
              </p:ext>
            </p:extLst>
          </p:nvPr>
        </p:nvGraphicFramePr>
        <p:xfrm>
          <a:off x="248586" y="3054413"/>
          <a:ext cx="3840606" cy="1732147"/>
        </p:xfrm>
        <a:graphic>
          <a:graphicData uri="http://schemas.openxmlformats.org/drawingml/2006/table">
            <a:tbl>
              <a:tblPr>
                <a:noFill/>
              </a:tblPr>
              <a:tblGrid>
                <a:gridCol w="1920303">
                  <a:extLst>
                    <a:ext uri="{9D8B030D-6E8A-4147-A177-3AD203B41FA5}">
                      <a16:colId xmlns:a16="http://schemas.microsoft.com/office/drawing/2014/main" val="20000"/>
                    </a:ext>
                  </a:extLst>
                </a:gridCol>
                <a:gridCol w="1920303">
                  <a:extLst>
                    <a:ext uri="{9D8B030D-6E8A-4147-A177-3AD203B41FA5}">
                      <a16:colId xmlns:a16="http://schemas.microsoft.com/office/drawing/2014/main" val="20001"/>
                    </a:ext>
                  </a:extLst>
                </a:gridCol>
              </a:tblGrid>
              <a:tr h="452593">
                <a:tc gridSpan="2">
                  <a:txBody>
                    <a:bodyPr/>
                    <a:lstStyle/>
                    <a:p>
                      <a:pPr marL="0" lvl="0" indent="0" algn="ctr" rtl="0">
                        <a:spcBef>
                          <a:spcPts val="0"/>
                        </a:spcBef>
                        <a:spcAft>
                          <a:spcPts val="0"/>
                        </a:spcAft>
                        <a:buNone/>
                      </a:pPr>
                      <a:r>
                        <a:rPr lang="en" sz="1100" dirty="0">
                          <a:latin typeface="Courier New"/>
                          <a:ea typeface="Courier New"/>
                          <a:cs typeface="Courier New"/>
                          <a:sym typeface="Courier New"/>
                        </a:rPr>
                        <a:t>Recursive Resolver Cache</a:t>
                      </a:r>
                      <a:endParaRPr sz="1100" dirty="0">
                        <a:latin typeface="Courier New"/>
                        <a:ea typeface="Courier New"/>
                        <a:cs typeface="Courier New"/>
                        <a:sym typeface="Courier New"/>
                      </a:endParaRPr>
                    </a:p>
                  </a:txBody>
                  <a:tcPr marL="91425" marR="91425" marT="91425" marB="91425">
                    <a:lnB w="9525" cap="flat" cmpd="sng">
                      <a:solidFill>
                        <a:srgbClr val="9E9E9E"/>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0"/>
                  </a:ext>
                </a:extLst>
              </a:tr>
              <a:tr h="433160">
                <a:tc>
                  <a:txBody>
                    <a:bodyPr/>
                    <a:lstStyle/>
                    <a:p>
                      <a:pPr marL="0" lvl="0" indent="0" algn="l" rtl="0">
                        <a:lnSpc>
                          <a:spcPct val="115000"/>
                        </a:lnSpc>
                        <a:spcBef>
                          <a:spcPts val="0"/>
                        </a:spcBef>
                        <a:spcAft>
                          <a:spcPts val="0"/>
                        </a:spcAft>
                        <a:buNone/>
                      </a:pPr>
                      <a:endParaRPr sz="900">
                        <a:solidFill>
                          <a:schemeClr val="dk1"/>
                        </a:solidFill>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endParaRPr sz="900">
                        <a:solidFill>
                          <a:schemeClr val="dk1"/>
                        </a:solidFill>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433160">
                <a:tc>
                  <a:txBody>
                    <a:bodyPr/>
                    <a:lstStyle/>
                    <a:p>
                      <a:pPr marL="0" lvl="0" indent="0" algn="l" rtl="0">
                        <a:lnSpc>
                          <a:spcPct val="115000"/>
                        </a:lnSpc>
                        <a:spcBef>
                          <a:spcPts val="0"/>
                        </a:spcBef>
                        <a:spcAft>
                          <a:spcPts val="0"/>
                        </a:spcAft>
                        <a:buNone/>
                      </a:pPr>
                      <a:endParaRPr sz="900">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endParaRPr sz="900">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413234">
                <a:tc>
                  <a:txBody>
                    <a:bodyPr/>
                    <a:lstStyle/>
                    <a:p>
                      <a:pPr marL="0" lvl="0" indent="0" algn="l" rtl="0">
                        <a:spcBef>
                          <a:spcPts val="0"/>
                        </a:spcBef>
                        <a:spcAft>
                          <a:spcPts val="0"/>
                        </a:spcAft>
                        <a:buNone/>
                      </a:pPr>
                      <a:endParaRPr sz="900"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sz="900" b="1" dirty="0">
                        <a:solidFill>
                          <a:srgbClr val="FF0000"/>
                        </a:solidFill>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bl>
          </a:graphicData>
        </a:graphic>
      </p:graphicFrame>
      <p:sp>
        <p:nvSpPr>
          <p:cNvPr id="43" name="Google Shape;101;p18">
            <a:extLst>
              <a:ext uri="{FF2B5EF4-FFF2-40B4-BE49-F238E27FC236}">
                <a16:creationId xmlns:a16="http://schemas.microsoft.com/office/drawing/2014/main" id="{17438DA8-3798-7B6F-1C1D-C85B1ECBA008}"/>
              </a:ext>
            </a:extLst>
          </p:cNvPr>
          <p:cNvSpPr txBox="1"/>
          <p:nvPr/>
        </p:nvSpPr>
        <p:spPr>
          <a:xfrm>
            <a:off x="4810145" y="3199862"/>
            <a:ext cx="4750678" cy="738633"/>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dirty="0">
                <a:solidFill>
                  <a:schemeClr val="dk1"/>
                </a:solidFill>
              </a:rPr>
              <a:t>We’ll use orange color to represent normal packets across Alice’s DNS query.</a:t>
            </a:r>
            <a:endParaRPr dirty="0"/>
          </a:p>
        </p:txBody>
      </p:sp>
      <p:sp>
        <p:nvSpPr>
          <p:cNvPr id="44" name="Google Shape;102;p18">
            <a:extLst>
              <a:ext uri="{FF2B5EF4-FFF2-40B4-BE49-F238E27FC236}">
                <a16:creationId xmlns:a16="http://schemas.microsoft.com/office/drawing/2014/main" id="{0EE108D4-8E2D-3BD1-84E6-75CCED89B6FA}"/>
              </a:ext>
            </a:extLst>
          </p:cNvPr>
          <p:cNvSpPr txBox="1"/>
          <p:nvPr/>
        </p:nvSpPr>
        <p:spPr>
          <a:xfrm>
            <a:off x="4810145" y="4438571"/>
            <a:ext cx="4750681" cy="772750"/>
          </a:xfrm>
          <a:prstGeom prst="rect">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chemeClr val="dk1"/>
                </a:solidFill>
              </a:rPr>
              <a:t>We’ll use this color to represent attacker’s packets across Alice’s DNS query.</a:t>
            </a:r>
            <a:endParaRPr sz="1200" dirty="0">
              <a:solidFill>
                <a:schemeClr val="dk1"/>
              </a:solidFill>
            </a:endParaRPr>
          </a:p>
        </p:txBody>
      </p:sp>
      <p:sp>
        <p:nvSpPr>
          <p:cNvPr id="45" name="Google Shape;134;p22">
            <a:extLst>
              <a:ext uri="{FF2B5EF4-FFF2-40B4-BE49-F238E27FC236}">
                <a16:creationId xmlns:a16="http://schemas.microsoft.com/office/drawing/2014/main" id="{448F3387-90D1-25AA-E982-9BF555E98B4F}"/>
              </a:ext>
            </a:extLst>
          </p:cNvPr>
          <p:cNvSpPr txBox="1"/>
          <p:nvPr/>
        </p:nvSpPr>
        <p:spPr>
          <a:xfrm>
            <a:off x="10360128" y="2456393"/>
            <a:ext cx="1238100" cy="3648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Courier New" panose="02070309020205020404" pitchFamily="49" charset="0"/>
                <a:ea typeface="Courier New"/>
                <a:cs typeface="Courier New" panose="02070309020205020404" pitchFamily="49" charset="0"/>
                <a:sym typeface="Courier New"/>
              </a:rPr>
              <a:t>.</a:t>
            </a:r>
            <a:r>
              <a:rPr lang="en" dirty="0">
                <a:latin typeface="Courier New" panose="02070309020205020404" pitchFamily="49" charset="0"/>
                <a:cs typeface="Courier New" panose="02070309020205020404" pitchFamily="49" charset="0"/>
              </a:rPr>
              <a:t>(root)</a:t>
            </a:r>
            <a:endParaRPr dirty="0">
              <a:latin typeface="Courier New" panose="02070309020205020404" pitchFamily="49" charset="0"/>
              <a:ea typeface="Courier New"/>
              <a:cs typeface="Courier New" panose="02070309020205020404" pitchFamily="49" charset="0"/>
              <a:sym typeface="Courier New"/>
            </a:endParaRPr>
          </a:p>
        </p:txBody>
      </p:sp>
      <p:sp>
        <p:nvSpPr>
          <p:cNvPr id="46" name="Google Shape;135;p22">
            <a:extLst>
              <a:ext uri="{FF2B5EF4-FFF2-40B4-BE49-F238E27FC236}">
                <a16:creationId xmlns:a16="http://schemas.microsoft.com/office/drawing/2014/main" id="{263AA768-2073-CAA1-0D3F-4FB15ADCC058}"/>
              </a:ext>
            </a:extLst>
          </p:cNvPr>
          <p:cNvSpPr txBox="1"/>
          <p:nvPr/>
        </p:nvSpPr>
        <p:spPr>
          <a:xfrm>
            <a:off x="10721787" y="3468893"/>
            <a:ext cx="73152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Courier New"/>
                <a:ea typeface="Courier New"/>
                <a:cs typeface="Courier New"/>
                <a:sym typeface="Courier New"/>
              </a:rPr>
              <a:t>.com</a:t>
            </a:r>
            <a:endParaRPr>
              <a:latin typeface="Calibri"/>
              <a:ea typeface="Calibri"/>
              <a:cs typeface="Calibri"/>
              <a:sym typeface="Calibri"/>
            </a:endParaRPr>
          </a:p>
        </p:txBody>
      </p:sp>
      <p:sp>
        <p:nvSpPr>
          <p:cNvPr id="47" name="Google Shape;136;p22">
            <a:extLst>
              <a:ext uri="{FF2B5EF4-FFF2-40B4-BE49-F238E27FC236}">
                <a16:creationId xmlns:a16="http://schemas.microsoft.com/office/drawing/2014/main" id="{2CDEAC51-B9BF-917D-9B18-E3E86C651A2A}"/>
              </a:ext>
            </a:extLst>
          </p:cNvPr>
          <p:cNvSpPr txBox="1"/>
          <p:nvPr/>
        </p:nvSpPr>
        <p:spPr>
          <a:xfrm>
            <a:off x="10391165" y="4392960"/>
            <a:ext cx="1385235"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400" dirty="0">
                <a:latin typeface="Courier New"/>
                <a:ea typeface="Courier New"/>
                <a:cs typeface="Courier New"/>
                <a:sym typeface="Courier New"/>
              </a:rPr>
              <a:t>google.com</a:t>
            </a:r>
            <a:endParaRPr sz="1400" dirty="0">
              <a:latin typeface="Calibri"/>
              <a:ea typeface="Calibri"/>
              <a:cs typeface="Calibri"/>
              <a:sym typeface="Calibri"/>
            </a:endParaRPr>
          </a:p>
        </p:txBody>
      </p:sp>
      <p:cxnSp>
        <p:nvCxnSpPr>
          <p:cNvPr id="48" name="Google Shape;137;p22">
            <a:extLst>
              <a:ext uri="{FF2B5EF4-FFF2-40B4-BE49-F238E27FC236}">
                <a16:creationId xmlns:a16="http://schemas.microsoft.com/office/drawing/2014/main" id="{ED88BD28-FFDE-6C5F-BF7B-6DC37181AC9F}"/>
              </a:ext>
            </a:extLst>
          </p:cNvPr>
          <p:cNvCxnSpPr>
            <a:cxnSpLocks/>
          </p:cNvCxnSpPr>
          <p:nvPr/>
        </p:nvCxnSpPr>
        <p:spPr>
          <a:xfrm>
            <a:off x="11081081" y="2814897"/>
            <a:ext cx="0" cy="653996"/>
          </a:xfrm>
          <a:prstGeom prst="straightConnector1">
            <a:avLst/>
          </a:prstGeom>
          <a:noFill/>
          <a:ln w="9525" cap="flat" cmpd="sng">
            <a:solidFill>
              <a:srgbClr val="000000"/>
            </a:solidFill>
            <a:prstDash val="solid"/>
            <a:round/>
            <a:headEnd type="none" w="med" len="med"/>
            <a:tailEnd type="none" w="med" len="med"/>
          </a:ln>
        </p:spPr>
      </p:cxnSp>
      <p:cxnSp>
        <p:nvCxnSpPr>
          <p:cNvPr id="49" name="Google Shape;138;p22">
            <a:extLst>
              <a:ext uri="{FF2B5EF4-FFF2-40B4-BE49-F238E27FC236}">
                <a16:creationId xmlns:a16="http://schemas.microsoft.com/office/drawing/2014/main" id="{E1BD3C6E-22E3-710C-5A2F-210A7F88EA9F}"/>
              </a:ext>
            </a:extLst>
          </p:cNvPr>
          <p:cNvCxnSpPr>
            <a:cxnSpLocks/>
          </p:cNvCxnSpPr>
          <p:nvPr/>
        </p:nvCxnSpPr>
        <p:spPr>
          <a:xfrm>
            <a:off x="11081081" y="3862493"/>
            <a:ext cx="0" cy="516831"/>
          </a:xfrm>
          <a:prstGeom prst="straightConnector1">
            <a:avLst/>
          </a:prstGeom>
          <a:noFill/>
          <a:ln w="9525" cap="flat" cmpd="sng">
            <a:solidFill>
              <a:srgbClr val="000000"/>
            </a:solidFill>
            <a:prstDash val="solid"/>
            <a:round/>
            <a:headEnd type="none" w="med" len="med"/>
            <a:tailEnd type="none" w="med" len="med"/>
          </a:ln>
        </p:spPr>
      </p:cxnSp>
    </p:spTree>
    <p:extLst>
      <p:ext uri="{BB962C8B-B14F-4D97-AF65-F5344CB8AC3E}">
        <p14:creationId xmlns:p14="http://schemas.microsoft.com/office/powerpoint/2010/main" val="26160249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Google Shape;94;p18">
            <a:extLst>
              <a:ext uri="{FF2B5EF4-FFF2-40B4-BE49-F238E27FC236}">
                <a16:creationId xmlns:a16="http://schemas.microsoft.com/office/drawing/2014/main" id="{27338096-ADE2-579F-5EE1-AEDCC622FBBF}"/>
              </a:ext>
            </a:extLst>
          </p:cNvPr>
          <p:cNvSpPr txBox="1"/>
          <p:nvPr/>
        </p:nvSpPr>
        <p:spPr>
          <a:xfrm>
            <a:off x="1086878" y="1273669"/>
            <a:ext cx="2164021" cy="58745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Courier New"/>
                <a:ea typeface="Courier New"/>
                <a:cs typeface="Courier New"/>
                <a:sym typeface="Courier New"/>
              </a:rPr>
              <a:t>Stub Resolver</a:t>
            </a:r>
            <a:endParaRPr dirty="0">
              <a:latin typeface="Calibri"/>
              <a:ea typeface="Calibri"/>
              <a:cs typeface="Calibri"/>
              <a:sym typeface="Calibri"/>
            </a:endParaRPr>
          </a:p>
        </p:txBody>
      </p:sp>
      <p:sp>
        <p:nvSpPr>
          <p:cNvPr id="20" name="Google Shape;98;p18">
            <a:extLst>
              <a:ext uri="{FF2B5EF4-FFF2-40B4-BE49-F238E27FC236}">
                <a16:creationId xmlns:a16="http://schemas.microsoft.com/office/drawing/2014/main" id="{19323B84-7D87-0BA1-EAA5-286975507BC8}"/>
              </a:ext>
            </a:extLst>
          </p:cNvPr>
          <p:cNvSpPr/>
          <p:nvPr/>
        </p:nvSpPr>
        <p:spPr>
          <a:xfrm>
            <a:off x="164860" y="2572413"/>
            <a:ext cx="4056187" cy="3701166"/>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99;p18">
            <a:extLst>
              <a:ext uri="{FF2B5EF4-FFF2-40B4-BE49-F238E27FC236}">
                <a16:creationId xmlns:a16="http://schemas.microsoft.com/office/drawing/2014/main" id="{10C1C038-9E6A-04D6-69B1-5060DB60FB3C}"/>
              </a:ext>
            </a:extLst>
          </p:cNvPr>
          <p:cNvSpPr txBox="1"/>
          <p:nvPr/>
        </p:nvSpPr>
        <p:spPr>
          <a:xfrm>
            <a:off x="248560" y="2660813"/>
            <a:ext cx="3840671" cy="508261"/>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graphicFrame>
        <p:nvGraphicFramePr>
          <p:cNvPr id="22" name="Google Shape;100;p18">
            <a:extLst>
              <a:ext uri="{FF2B5EF4-FFF2-40B4-BE49-F238E27FC236}">
                <a16:creationId xmlns:a16="http://schemas.microsoft.com/office/drawing/2014/main" id="{48D49623-2A57-A908-A06B-77B627D60BAE}"/>
              </a:ext>
            </a:extLst>
          </p:cNvPr>
          <p:cNvGraphicFramePr/>
          <p:nvPr/>
        </p:nvGraphicFramePr>
        <p:xfrm>
          <a:off x="248586" y="3054413"/>
          <a:ext cx="3840606" cy="1732147"/>
        </p:xfrm>
        <a:graphic>
          <a:graphicData uri="http://schemas.openxmlformats.org/drawingml/2006/table">
            <a:tbl>
              <a:tblPr>
                <a:noFill/>
              </a:tblPr>
              <a:tblGrid>
                <a:gridCol w="1920303">
                  <a:extLst>
                    <a:ext uri="{9D8B030D-6E8A-4147-A177-3AD203B41FA5}">
                      <a16:colId xmlns:a16="http://schemas.microsoft.com/office/drawing/2014/main" val="20000"/>
                    </a:ext>
                  </a:extLst>
                </a:gridCol>
                <a:gridCol w="1920303">
                  <a:extLst>
                    <a:ext uri="{9D8B030D-6E8A-4147-A177-3AD203B41FA5}">
                      <a16:colId xmlns:a16="http://schemas.microsoft.com/office/drawing/2014/main" val="20001"/>
                    </a:ext>
                  </a:extLst>
                </a:gridCol>
              </a:tblGrid>
              <a:tr h="452593">
                <a:tc gridSpan="2">
                  <a:txBody>
                    <a:bodyPr/>
                    <a:lstStyle/>
                    <a:p>
                      <a:pPr marL="0" lvl="0" indent="0" algn="ctr" rtl="0">
                        <a:spcBef>
                          <a:spcPts val="0"/>
                        </a:spcBef>
                        <a:spcAft>
                          <a:spcPts val="0"/>
                        </a:spcAft>
                        <a:buNone/>
                      </a:pPr>
                      <a:r>
                        <a:rPr lang="en" sz="1100" dirty="0">
                          <a:latin typeface="Courier New"/>
                          <a:ea typeface="Courier New"/>
                          <a:cs typeface="Courier New"/>
                          <a:sym typeface="Courier New"/>
                        </a:rPr>
                        <a:t>Recursive Resolver Cache</a:t>
                      </a:r>
                      <a:endParaRPr sz="1100" dirty="0">
                        <a:latin typeface="Courier New"/>
                        <a:ea typeface="Courier New"/>
                        <a:cs typeface="Courier New"/>
                        <a:sym typeface="Courier New"/>
                      </a:endParaRPr>
                    </a:p>
                  </a:txBody>
                  <a:tcPr marL="91425" marR="91425" marT="91425" marB="91425">
                    <a:lnB w="9525" cap="flat" cmpd="sng">
                      <a:solidFill>
                        <a:srgbClr val="9E9E9E"/>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0"/>
                  </a:ext>
                </a:extLst>
              </a:tr>
              <a:tr h="433160">
                <a:tc>
                  <a:txBody>
                    <a:bodyPr/>
                    <a:lstStyle/>
                    <a:p>
                      <a:pPr marL="0" lvl="0" indent="0" algn="l" rtl="0">
                        <a:lnSpc>
                          <a:spcPct val="115000"/>
                        </a:lnSpc>
                        <a:spcBef>
                          <a:spcPts val="0"/>
                        </a:spcBef>
                        <a:spcAft>
                          <a:spcPts val="0"/>
                        </a:spcAft>
                        <a:buNone/>
                      </a:pPr>
                      <a:endParaRPr sz="900">
                        <a:solidFill>
                          <a:schemeClr val="dk1"/>
                        </a:solidFill>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endParaRPr sz="900">
                        <a:solidFill>
                          <a:schemeClr val="dk1"/>
                        </a:solidFill>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433160">
                <a:tc>
                  <a:txBody>
                    <a:bodyPr/>
                    <a:lstStyle/>
                    <a:p>
                      <a:pPr marL="0" lvl="0" indent="0" algn="l" rtl="0">
                        <a:lnSpc>
                          <a:spcPct val="115000"/>
                        </a:lnSpc>
                        <a:spcBef>
                          <a:spcPts val="0"/>
                        </a:spcBef>
                        <a:spcAft>
                          <a:spcPts val="0"/>
                        </a:spcAft>
                        <a:buNone/>
                      </a:pPr>
                      <a:endParaRPr sz="900">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endParaRPr sz="900">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413234">
                <a:tc>
                  <a:txBody>
                    <a:bodyPr/>
                    <a:lstStyle/>
                    <a:p>
                      <a:pPr marL="0" lvl="0" indent="0" algn="l" rtl="0">
                        <a:spcBef>
                          <a:spcPts val="0"/>
                        </a:spcBef>
                        <a:spcAft>
                          <a:spcPts val="0"/>
                        </a:spcAft>
                        <a:buNone/>
                      </a:pPr>
                      <a:endParaRPr sz="900"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sz="900" b="1" dirty="0">
                        <a:solidFill>
                          <a:srgbClr val="FF0000"/>
                        </a:solidFill>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bl>
          </a:graphicData>
        </a:graphic>
      </p:graphicFrame>
      <p:sp>
        <p:nvSpPr>
          <p:cNvPr id="45" name="Google Shape;134;p22">
            <a:extLst>
              <a:ext uri="{FF2B5EF4-FFF2-40B4-BE49-F238E27FC236}">
                <a16:creationId xmlns:a16="http://schemas.microsoft.com/office/drawing/2014/main" id="{448F3387-90D1-25AA-E982-9BF555E98B4F}"/>
              </a:ext>
            </a:extLst>
          </p:cNvPr>
          <p:cNvSpPr txBox="1"/>
          <p:nvPr/>
        </p:nvSpPr>
        <p:spPr>
          <a:xfrm>
            <a:off x="10360128" y="2456393"/>
            <a:ext cx="1238100" cy="3648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Courier New" panose="02070309020205020404" pitchFamily="49" charset="0"/>
                <a:ea typeface="Courier New"/>
                <a:cs typeface="Courier New" panose="02070309020205020404" pitchFamily="49" charset="0"/>
                <a:sym typeface="Courier New"/>
              </a:rPr>
              <a:t>.</a:t>
            </a:r>
            <a:r>
              <a:rPr lang="en" dirty="0">
                <a:latin typeface="Courier New" panose="02070309020205020404" pitchFamily="49" charset="0"/>
                <a:cs typeface="Courier New" panose="02070309020205020404" pitchFamily="49" charset="0"/>
              </a:rPr>
              <a:t>(root)</a:t>
            </a:r>
            <a:endParaRPr dirty="0">
              <a:latin typeface="Courier New" panose="02070309020205020404" pitchFamily="49" charset="0"/>
              <a:ea typeface="Courier New"/>
              <a:cs typeface="Courier New" panose="02070309020205020404" pitchFamily="49" charset="0"/>
              <a:sym typeface="Courier New"/>
            </a:endParaRPr>
          </a:p>
        </p:txBody>
      </p:sp>
      <p:sp>
        <p:nvSpPr>
          <p:cNvPr id="46" name="Google Shape;135;p22">
            <a:extLst>
              <a:ext uri="{FF2B5EF4-FFF2-40B4-BE49-F238E27FC236}">
                <a16:creationId xmlns:a16="http://schemas.microsoft.com/office/drawing/2014/main" id="{263AA768-2073-CAA1-0D3F-4FB15ADCC058}"/>
              </a:ext>
            </a:extLst>
          </p:cNvPr>
          <p:cNvSpPr txBox="1"/>
          <p:nvPr/>
        </p:nvSpPr>
        <p:spPr>
          <a:xfrm>
            <a:off x="10721787" y="3468893"/>
            <a:ext cx="73152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Courier New"/>
                <a:ea typeface="Courier New"/>
                <a:cs typeface="Courier New"/>
                <a:sym typeface="Courier New"/>
              </a:rPr>
              <a:t>.com</a:t>
            </a:r>
            <a:endParaRPr>
              <a:latin typeface="Calibri"/>
              <a:ea typeface="Calibri"/>
              <a:cs typeface="Calibri"/>
              <a:sym typeface="Calibri"/>
            </a:endParaRPr>
          </a:p>
        </p:txBody>
      </p:sp>
      <p:sp>
        <p:nvSpPr>
          <p:cNvPr id="47" name="Google Shape;136;p22">
            <a:extLst>
              <a:ext uri="{FF2B5EF4-FFF2-40B4-BE49-F238E27FC236}">
                <a16:creationId xmlns:a16="http://schemas.microsoft.com/office/drawing/2014/main" id="{2CDEAC51-B9BF-917D-9B18-E3E86C651A2A}"/>
              </a:ext>
            </a:extLst>
          </p:cNvPr>
          <p:cNvSpPr txBox="1"/>
          <p:nvPr/>
        </p:nvSpPr>
        <p:spPr>
          <a:xfrm>
            <a:off x="10391165" y="4392960"/>
            <a:ext cx="1385235"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400" dirty="0">
                <a:latin typeface="Courier New"/>
                <a:ea typeface="Courier New"/>
                <a:cs typeface="Courier New"/>
                <a:sym typeface="Courier New"/>
              </a:rPr>
              <a:t>google.com</a:t>
            </a:r>
            <a:endParaRPr sz="1400" dirty="0">
              <a:latin typeface="Calibri"/>
              <a:ea typeface="Calibri"/>
              <a:cs typeface="Calibri"/>
              <a:sym typeface="Calibri"/>
            </a:endParaRPr>
          </a:p>
        </p:txBody>
      </p:sp>
      <p:cxnSp>
        <p:nvCxnSpPr>
          <p:cNvPr id="48" name="Google Shape;137;p22">
            <a:extLst>
              <a:ext uri="{FF2B5EF4-FFF2-40B4-BE49-F238E27FC236}">
                <a16:creationId xmlns:a16="http://schemas.microsoft.com/office/drawing/2014/main" id="{ED88BD28-FFDE-6C5F-BF7B-6DC37181AC9F}"/>
              </a:ext>
            </a:extLst>
          </p:cNvPr>
          <p:cNvCxnSpPr>
            <a:cxnSpLocks/>
          </p:cNvCxnSpPr>
          <p:nvPr/>
        </p:nvCxnSpPr>
        <p:spPr>
          <a:xfrm>
            <a:off x="11081081" y="2814897"/>
            <a:ext cx="0" cy="653996"/>
          </a:xfrm>
          <a:prstGeom prst="straightConnector1">
            <a:avLst/>
          </a:prstGeom>
          <a:noFill/>
          <a:ln w="9525" cap="flat" cmpd="sng">
            <a:solidFill>
              <a:srgbClr val="000000"/>
            </a:solidFill>
            <a:prstDash val="solid"/>
            <a:round/>
            <a:headEnd type="none" w="med" len="med"/>
            <a:tailEnd type="none" w="med" len="med"/>
          </a:ln>
        </p:spPr>
      </p:cxnSp>
      <p:cxnSp>
        <p:nvCxnSpPr>
          <p:cNvPr id="49" name="Google Shape;138;p22">
            <a:extLst>
              <a:ext uri="{FF2B5EF4-FFF2-40B4-BE49-F238E27FC236}">
                <a16:creationId xmlns:a16="http://schemas.microsoft.com/office/drawing/2014/main" id="{E1BD3C6E-22E3-710C-5A2F-210A7F88EA9F}"/>
              </a:ext>
            </a:extLst>
          </p:cNvPr>
          <p:cNvCxnSpPr>
            <a:cxnSpLocks/>
          </p:cNvCxnSpPr>
          <p:nvPr/>
        </p:nvCxnSpPr>
        <p:spPr>
          <a:xfrm>
            <a:off x="11081081" y="3862493"/>
            <a:ext cx="0" cy="516831"/>
          </a:xfrm>
          <a:prstGeom prst="straightConnector1">
            <a:avLst/>
          </a:prstGeom>
          <a:noFill/>
          <a:ln w="9525" cap="flat" cmpd="sng">
            <a:solidFill>
              <a:srgbClr val="000000"/>
            </a:solidFill>
            <a:prstDash val="solid"/>
            <a:round/>
            <a:headEnd type="none" w="med" len="med"/>
            <a:tailEnd type="none" w="med" len="med"/>
          </a:ln>
        </p:spPr>
      </p:cxnSp>
      <p:grpSp>
        <p:nvGrpSpPr>
          <p:cNvPr id="2" name="Google Shape;112;p19">
            <a:extLst>
              <a:ext uri="{FF2B5EF4-FFF2-40B4-BE49-F238E27FC236}">
                <a16:creationId xmlns:a16="http://schemas.microsoft.com/office/drawing/2014/main" id="{841FC229-967F-039A-FFC0-FF5C182A4E14}"/>
              </a:ext>
            </a:extLst>
          </p:cNvPr>
          <p:cNvGrpSpPr/>
          <p:nvPr/>
        </p:nvGrpSpPr>
        <p:grpSpPr>
          <a:xfrm>
            <a:off x="1400223" y="1930411"/>
            <a:ext cx="410100" cy="572709"/>
            <a:chOff x="258935" y="2049228"/>
            <a:chExt cx="410100" cy="762900"/>
          </a:xfrm>
        </p:grpSpPr>
        <p:sp>
          <p:nvSpPr>
            <p:cNvPr id="3" name="Google Shape;113;p19">
              <a:extLst>
                <a:ext uri="{FF2B5EF4-FFF2-40B4-BE49-F238E27FC236}">
                  <a16:creationId xmlns:a16="http://schemas.microsoft.com/office/drawing/2014/main" id="{3E0EF041-38F2-2F8B-A5CE-F2D53C55BF62}"/>
                </a:ext>
              </a:extLst>
            </p:cNvPr>
            <p:cNvSpPr txBox="1"/>
            <p:nvPr/>
          </p:nvSpPr>
          <p:spPr>
            <a:xfrm>
              <a:off x="258935" y="2174852"/>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1</a:t>
              </a:r>
              <a:endParaRPr dirty="0">
                <a:latin typeface="Calibri"/>
                <a:ea typeface="Calibri"/>
                <a:cs typeface="Calibri"/>
                <a:sym typeface="Calibri"/>
              </a:endParaRPr>
            </a:p>
          </p:txBody>
        </p:sp>
        <p:cxnSp>
          <p:nvCxnSpPr>
            <p:cNvPr id="5" name="Google Shape;114;p19">
              <a:extLst>
                <a:ext uri="{FF2B5EF4-FFF2-40B4-BE49-F238E27FC236}">
                  <a16:creationId xmlns:a16="http://schemas.microsoft.com/office/drawing/2014/main" id="{0C4C7EAF-C9DB-4261-3BED-631D9168B522}"/>
                </a:ext>
              </a:extLst>
            </p:cNvPr>
            <p:cNvCxnSpPr/>
            <p:nvPr/>
          </p:nvCxnSpPr>
          <p:spPr>
            <a:xfrm rot="10800000">
              <a:off x="530725" y="2049228"/>
              <a:ext cx="0" cy="762900"/>
            </a:xfrm>
            <a:prstGeom prst="straightConnector1">
              <a:avLst/>
            </a:prstGeom>
            <a:noFill/>
            <a:ln w="19050" cap="flat" cmpd="sng">
              <a:solidFill>
                <a:srgbClr val="000000"/>
              </a:solidFill>
              <a:prstDash val="solid"/>
              <a:round/>
              <a:headEnd type="triangle" w="med" len="med"/>
              <a:tailEnd type="none" w="med" len="med"/>
            </a:ln>
          </p:spPr>
        </p:cxnSp>
      </p:grpSp>
      <p:sp>
        <p:nvSpPr>
          <p:cNvPr id="6" name="Google Shape;115;p19">
            <a:extLst>
              <a:ext uri="{FF2B5EF4-FFF2-40B4-BE49-F238E27FC236}">
                <a16:creationId xmlns:a16="http://schemas.microsoft.com/office/drawing/2014/main" id="{B156003F-BCFF-17C5-1613-B7A776D9B82A}"/>
              </a:ext>
            </a:extLst>
          </p:cNvPr>
          <p:cNvSpPr/>
          <p:nvPr/>
        </p:nvSpPr>
        <p:spPr>
          <a:xfrm>
            <a:off x="1741344" y="2009118"/>
            <a:ext cx="4627643" cy="204025"/>
          </a:xfrm>
          <a:custGeom>
            <a:avLst/>
            <a:gdLst/>
            <a:ahLst/>
            <a:cxnLst/>
            <a:rect l="l" t="t" r="r" b="b"/>
            <a:pathLst>
              <a:path w="75635" h="35172" extrusionOk="0">
                <a:moveTo>
                  <a:pt x="75635" y="0"/>
                </a:moveTo>
                <a:lnTo>
                  <a:pt x="75635" y="35172"/>
                </a:lnTo>
                <a:lnTo>
                  <a:pt x="0" y="35172"/>
                </a:lnTo>
              </a:path>
            </a:pathLst>
          </a:custGeom>
          <a:noFill/>
          <a:ln w="19050" cap="flat" cmpd="sng">
            <a:solidFill>
              <a:srgbClr val="E69138"/>
            </a:solidFill>
            <a:prstDash val="solid"/>
            <a:round/>
            <a:headEnd type="none" w="med" len="med"/>
            <a:tailEnd type="triangle" w="med" len="med"/>
          </a:ln>
        </p:spPr>
        <p:txBody>
          <a:bodyPr/>
          <a:lstStyle/>
          <a:p>
            <a:endParaRPr lang="en-US"/>
          </a:p>
        </p:txBody>
      </p:sp>
      <p:sp>
        <p:nvSpPr>
          <p:cNvPr id="7" name="Google Shape;116;p19">
            <a:extLst>
              <a:ext uri="{FF2B5EF4-FFF2-40B4-BE49-F238E27FC236}">
                <a16:creationId xmlns:a16="http://schemas.microsoft.com/office/drawing/2014/main" id="{206BDC4E-6260-6926-91FD-BFA559E5F658}"/>
              </a:ext>
            </a:extLst>
          </p:cNvPr>
          <p:cNvSpPr txBox="1"/>
          <p:nvPr/>
        </p:nvSpPr>
        <p:spPr>
          <a:xfrm>
            <a:off x="4089192" y="1245519"/>
            <a:ext cx="4569778" cy="763600"/>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dirty="0">
                <a:solidFill>
                  <a:schemeClr val="dk1"/>
                </a:solidFill>
              </a:rPr>
              <a:t>“Can you figure out what the ip address of </a:t>
            </a:r>
            <a:r>
              <a:rPr lang="en" b="1" dirty="0">
                <a:solidFill>
                  <a:schemeClr val="dk1"/>
                </a:solidFill>
                <a:latin typeface="Courier New"/>
                <a:ea typeface="Courier New"/>
                <a:cs typeface="Courier New"/>
                <a:sym typeface="Courier New"/>
              </a:rPr>
              <a:t>fake</a:t>
            </a:r>
            <a:r>
              <a:rPr lang="en-US" b="1" dirty="0">
                <a:solidFill>
                  <a:schemeClr val="dk1"/>
                </a:solidFill>
                <a:latin typeface="Courier New"/>
                <a:ea typeface="Courier New"/>
                <a:cs typeface="Courier New"/>
                <a:sym typeface="Courier New"/>
              </a:rPr>
              <a:t>_</a:t>
            </a:r>
            <a:r>
              <a:rPr lang="en-US" altLang="zh-CN" b="1" dirty="0">
                <a:solidFill>
                  <a:schemeClr val="dk1"/>
                </a:solidFill>
                <a:latin typeface="Courier New"/>
                <a:ea typeface="Courier New"/>
                <a:cs typeface="Courier New"/>
                <a:sym typeface="Courier New"/>
              </a:rPr>
              <a:t>photo</a:t>
            </a:r>
            <a:r>
              <a:rPr lang="en" b="1" dirty="0">
                <a:solidFill>
                  <a:schemeClr val="dk1"/>
                </a:solidFill>
                <a:latin typeface="Courier New"/>
                <a:ea typeface="Courier New"/>
                <a:cs typeface="Courier New"/>
                <a:sym typeface="Courier New"/>
              </a:rPr>
              <a:t>1.google.com</a:t>
            </a:r>
            <a:r>
              <a:rPr lang="en" dirty="0">
                <a:solidFill>
                  <a:schemeClr val="dk1"/>
                </a:solidFill>
              </a:rPr>
              <a:t> is?”</a:t>
            </a:r>
            <a:endParaRPr dirty="0"/>
          </a:p>
        </p:txBody>
      </p:sp>
      <p:sp>
        <p:nvSpPr>
          <p:cNvPr id="10" name="Google Shape;1819;p140">
            <a:extLst>
              <a:ext uri="{FF2B5EF4-FFF2-40B4-BE49-F238E27FC236}">
                <a16:creationId xmlns:a16="http://schemas.microsoft.com/office/drawing/2014/main" id="{C2254154-0B02-F6C9-E1D6-695DDC1D2822}"/>
              </a:ext>
            </a:extLst>
          </p:cNvPr>
          <p:cNvSpPr txBox="1">
            <a:spLocks noGrp="1"/>
          </p:cNvSpPr>
          <p:nvPr>
            <p:ph type="title"/>
          </p:nvPr>
        </p:nvSpPr>
        <p:spPr>
          <a:xfrm>
            <a:off x="415600" y="55919"/>
            <a:ext cx="11360800" cy="763600"/>
          </a:xfrm>
          <a:prstGeom prst="rect">
            <a:avLst/>
          </a:prstGeom>
        </p:spPr>
        <p:txBody>
          <a:bodyPr spcFirstLastPara="1" wrap="square" lIns="121900" tIns="121900" rIns="121900" bIns="121900" anchor="t" anchorCtr="0">
            <a:noAutofit/>
          </a:bodyPr>
          <a:lstStyle/>
          <a:p>
            <a:r>
              <a:rPr lang="en" sz="4400" dirty="0">
                <a:latin typeface="Aptos" panose="020B0004020202020204" pitchFamily="34" charset="0"/>
              </a:rPr>
              <a:t>Kaminsky Attack: Example</a:t>
            </a:r>
            <a:endParaRPr sz="4400" dirty="0">
              <a:latin typeface="Aptos" panose="020B0004020202020204" pitchFamily="34" charset="0"/>
            </a:endParaRPr>
          </a:p>
        </p:txBody>
      </p:sp>
    </p:spTree>
    <p:extLst>
      <p:ext uri="{BB962C8B-B14F-4D97-AF65-F5344CB8AC3E}">
        <p14:creationId xmlns:p14="http://schemas.microsoft.com/office/powerpoint/2010/main" val="12617783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Google Shape;94;p18">
            <a:extLst>
              <a:ext uri="{FF2B5EF4-FFF2-40B4-BE49-F238E27FC236}">
                <a16:creationId xmlns:a16="http://schemas.microsoft.com/office/drawing/2014/main" id="{27338096-ADE2-579F-5EE1-AEDCC622FBBF}"/>
              </a:ext>
            </a:extLst>
          </p:cNvPr>
          <p:cNvSpPr txBox="1"/>
          <p:nvPr/>
        </p:nvSpPr>
        <p:spPr>
          <a:xfrm>
            <a:off x="1086878" y="1273669"/>
            <a:ext cx="2164021" cy="58745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Courier New"/>
                <a:ea typeface="Courier New"/>
                <a:cs typeface="Courier New"/>
                <a:sym typeface="Courier New"/>
              </a:rPr>
              <a:t>Stub Resolver</a:t>
            </a:r>
            <a:endParaRPr dirty="0">
              <a:latin typeface="Calibri"/>
              <a:ea typeface="Calibri"/>
              <a:cs typeface="Calibri"/>
              <a:sym typeface="Calibri"/>
            </a:endParaRPr>
          </a:p>
        </p:txBody>
      </p:sp>
      <p:sp>
        <p:nvSpPr>
          <p:cNvPr id="20" name="Google Shape;98;p18">
            <a:extLst>
              <a:ext uri="{FF2B5EF4-FFF2-40B4-BE49-F238E27FC236}">
                <a16:creationId xmlns:a16="http://schemas.microsoft.com/office/drawing/2014/main" id="{19323B84-7D87-0BA1-EAA5-286975507BC8}"/>
              </a:ext>
            </a:extLst>
          </p:cNvPr>
          <p:cNvSpPr/>
          <p:nvPr/>
        </p:nvSpPr>
        <p:spPr>
          <a:xfrm>
            <a:off x="164860" y="2572413"/>
            <a:ext cx="4056187" cy="3701166"/>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99;p18">
            <a:extLst>
              <a:ext uri="{FF2B5EF4-FFF2-40B4-BE49-F238E27FC236}">
                <a16:creationId xmlns:a16="http://schemas.microsoft.com/office/drawing/2014/main" id="{10C1C038-9E6A-04D6-69B1-5060DB60FB3C}"/>
              </a:ext>
            </a:extLst>
          </p:cNvPr>
          <p:cNvSpPr txBox="1"/>
          <p:nvPr/>
        </p:nvSpPr>
        <p:spPr>
          <a:xfrm>
            <a:off x="248560" y="2660813"/>
            <a:ext cx="3840671" cy="508261"/>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graphicFrame>
        <p:nvGraphicFramePr>
          <p:cNvPr id="22" name="Google Shape;100;p18">
            <a:extLst>
              <a:ext uri="{FF2B5EF4-FFF2-40B4-BE49-F238E27FC236}">
                <a16:creationId xmlns:a16="http://schemas.microsoft.com/office/drawing/2014/main" id="{48D49623-2A57-A908-A06B-77B627D60BAE}"/>
              </a:ext>
            </a:extLst>
          </p:cNvPr>
          <p:cNvGraphicFramePr/>
          <p:nvPr/>
        </p:nvGraphicFramePr>
        <p:xfrm>
          <a:off x="248586" y="3054413"/>
          <a:ext cx="3840606" cy="1732147"/>
        </p:xfrm>
        <a:graphic>
          <a:graphicData uri="http://schemas.openxmlformats.org/drawingml/2006/table">
            <a:tbl>
              <a:tblPr>
                <a:noFill/>
              </a:tblPr>
              <a:tblGrid>
                <a:gridCol w="1920303">
                  <a:extLst>
                    <a:ext uri="{9D8B030D-6E8A-4147-A177-3AD203B41FA5}">
                      <a16:colId xmlns:a16="http://schemas.microsoft.com/office/drawing/2014/main" val="20000"/>
                    </a:ext>
                  </a:extLst>
                </a:gridCol>
                <a:gridCol w="1920303">
                  <a:extLst>
                    <a:ext uri="{9D8B030D-6E8A-4147-A177-3AD203B41FA5}">
                      <a16:colId xmlns:a16="http://schemas.microsoft.com/office/drawing/2014/main" val="20001"/>
                    </a:ext>
                  </a:extLst>
                </a:gridCol>
              </a:tblGrid>
              <a:tr h="452593">
                <a:tc gridSpan="2">
                  <a:txBody>
                    <a:bodyPr/>
                    <a:lstStyle/>
                    <a:p>
                      <a:pPr marL="0" lvl="0" indent="0" algn="ctr" rtl="0">
                        <a:spcBef>
                          <a:spcPts val="0"/>
                        </a:spcBef>
                        <a:spcAft>
                          <a:spcPts val="0"/>
                        </a:spcAft>
                        <a:buNone/>
                      </a:pPr>
                      <a:r>
                        <a:rPr lang="en" sz="1100" dirty="0">
                          <a:latin typeface="Courier New"/>
                          <a:ea typeface="Courier New"/>
                          <a:cs typeface="Courier New"/>
                          <a:sym typeface="Courier New"/>
                        </a:rPr>
                        <a:t>Recursive Resolver Cache</a:t>
                      </a:r>
                      <a:endParaRPr sz="1100" dirty="0">
                        <a:latin typeface="Courier New"/>
                        <a:ea typeface="Courier New"/>
                        <a:cs typeface="Courier New"/>
                        <a:sym typeface="Courier New"/>
                      </a:endParaRPr>
                    </a:p>
                  </a:txBody>
                  <a:tcPr marL="91425" marR="91425" marT="91425" marB="91425">
                    <a:lnB w="9525" cap="flat" cmpd="sng">
                      <a:solidFill>
                        <a:srgbClr val="9E9E9E"/>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0"/>
                  </a:ext>
                </a:extLst>
              </a:tr>
              <a:tr h="433160">
                <a:tc>
                  <a:txBody>
                    <a:bodyPr/>
                    <a:lstStyle/>
                    <a:p>
                      <a:pPr marL="0" lvl="0" indent="0" algn="l" rtl="0">
                        <a:lnSpc>
                          <a:spcPct val="115000"/>
                        </a:lnSpc>
                        <a:spcBef>
                          <a:spcPts val="0"/>
                        </a:spcBef>
                        <a:spcAft>
                          <a:spcPts val="0"/>
                        </a:spcAft>
                        <a:buNone/>
                      </a:pPr>
                      <a:endParaRPr sz="900">
                        <a:solidFill>
                          <a:schemeClr val="dk1"/>
                        </a:solidFill>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endParaRPr sz="900">
                        <a:solidFill>
                          <a:schemeClr val="dk1"/>
                        </a:solidFill>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433160">
                <a:tc>
                  <a:txBody>
                    <a:bodyPr/>
                    <a:lstStyle/>
                    <a:p>
                      <a:pPr marL="0" lvl="0" indent="0" algn="l" rtl="0">
                        <a:lnSpc>
                          <a:spcPct val="115000"/>
                        </a:lnSpc>
                        <a:spcBef>
                          <a:spcPts val="0"/>
                        </a:spcBef>
                        <a:spcAft>
                          <a:spcPts val="0"/>
                        </a:spcAft>
                        <a:buNone/>
                      </a:pPr>
                      <a:endParaRPr sz="900">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endParaRPr sz="900">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413234">
                <a:tc>
                  <a:txBody>
                    <a:bodyPr/>
                    <a:lstStyle/>
                    <a:p>
                      <a:pPr marL="0" lvl="0" indent="0" algn="l" rtl="0">
                        <a:spcBef>
                          <a:spcPts val="0"/>
                        </a:spcBef>
                        <a:spcAft>
                          <a:spcPts val="0"/>
                        </a:spcAft>
                        <a:buNone/>
                      </a:pPr>
                      <a:endParaRPr sz="900"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sz="900" b="1" dirty="0">
                        <a:solidFill>
                          <a:srgbClr val="FF0000"/>
                        </a:solidFill>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bl>
          </a:graphicData>
        </a:graphic>
      </p:graphicFrame>
      <p:sp>
        <p:nvSpPr>
          <p:cNvPr id="45" name="Google Shape;134;p22">
            <a:extLst>
              <a:ext uri="{FF2B5EF4-FFF2-40B4-BE49-F238E27FC236}">
                <a16:creationId xmlns:a16="http://schemas.microsoft.com/office/drawing/2014/main" id="{448F3387-90D1-25AA-E982-9BF555E98B4F}"/>
              </a:ext>
            </a:extLst>
          </p:cNvPr>
          <p:cNvSpPr txBox="1"/>
          <p:nvPr/>
        </p:nvSpPr>
        <p:spPr>
          <a:xfrm>
            <a:off x="10360128" y="2456393"/>
            <a:ext cx="1238100" cy="3648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Courier New" panose="02070309020205020404" pitchFamily="49" charset="0"/>
                <a:ea typeface="Courier New"/>
                <a:cs typeface="Courier New" panose="02070309020205020404" pitchFamily="49" charset="0"/>
                <a:sym typeface="Courier New"/>
              </a:rPr>
              <a:t>.</a:t>
            </a:r>
            <a:r>
              <a:rPr lang="en" dirty="0">
                <a:latin typeface="Courier New" panose="02070309020205020404" pitchFamily="49" charset="0"/>
                <a:cs typeface="Courier New" panose="02070309020205020404" pitchFamily="49" charset="0"/>
              </a:rPr>
              <a:t>(root)</a:t>
            </a:r>
            <a:endParaRPr dirty="0">
              <a:latin typeface="Courier New" panose="02070309020205020404" pitchFamily="49" charset="0"/>
              <a:ea typeface="Courier New"/>
              <a:cs typeface="Courier New" panose="02070309020205020404" pitchFamily="49" charset="0"/>
              <a:sym typeface="Courier New"/>
            </a:endParaRPr>
          </a:p>
        </p:txBody>
      </p:sp>
      <p:sp>
        <p:nvSpPr>
          <p:cNvPr id="46" name="Google Shape;135;p22">
            <a:extLst>
              <a:ext uri="{FF2B5EF4-FFF2-40B4-BE49-F238E27FC236}">
                <a16:creationId xmlns:a16="http://schemas.microsoft.com/office/drawing/2014/main" id="{263AA768-2073-CAA1-0D3F-4FB15ADCC058}"/>
              </a:ext>
            </a:extLst>
          </p:cNvPr>
          <p:cNvSpPr txBox="1"/>
          <p:nvPr/>
        </p:nvSpPr>
        <p:spPr>
          <a:xfrm>
            <a:off x="10721787" y="3468893"/>
            <a:ext cx="73152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Courier New"/>
                <a:ea typeface="Courier New"/>
                <a:cs typeface="Courier New"/>
                <a:sym typeface="Courier New"/>
              </a:rPr>
              <a:t>.com</a:t>
            </a:r>
            <a:endParaRPr>
              <a:latin typeface="Calibri"/>
              <a:ea typeface="Calibri"/>
              <a:cs typeface="Calibri"/>
              <a:sym typeface="Calibri"/>
            </a:endParaRPr>
          </a:p>
        </p:txBody>
      </p:sp>
      <p:sp>
        <p:nvSpPr>
          <p:cNvPr id="47" name="Google Shape;136;p22">
            <a:extLst>
              <a:ext uri="{FF2B5EF4-FFF2-40B4-BE49-F238E27FC236}">
                <a16:creationId xmlns:a16="http://schemas.microsoft.com/office/drawing/2014/main" id="{2CDEAC51-B9BF-917D-9B18-E3E86C651A2A}"/>
              </a:ext>
            </a:extLst>
          </p:cNvPr>
          <p:cNvSpPr txBox="1"/>
          <p:nvPr/>
        </p:nvSpPr>
        <p:spPr>
          <a:xfrm>
            <a:off x="10391165" y="4392960"/>
            <a:ext cx="1385235"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400" dirty="0">
                <a:latin typeface="Courier New"/>
                <a:ea typeface="Courier New"/>
                <a:cs typeface="Courier New"/>
                <a:sym typeface="Courier New"/>
              </a:rPr>
              <a:t>google.com</a:t>
            </a:r>
            <a:endParaRPr sz="1400" dirty="0">
              <a:latin typeface="Calibri"/>
              <a:ea typeface="Calibri"/>
              <a:cs typeface="Calibri"/>
              <a:sym typeface="Calibri"/>
            </a:endParaRPr>
          </a:p>
        </p:txBody>
      </p:sp>
      <p:cxnSp>
        <p:nvCxnSpPr>
          <p:cNvPr id="48" name="Google Shape;137;p22">
            <a:extLst>
              <a:ext uri="{FF2B5EF4-FFF2-40B4-BE49-F238E27FC236}">
                <a16:creationId xmlns:a16="http://schemas.microsoft.com/office/drawing/2014/main" id="{ED88BD28-FFDE-6C5F-BF7B-6DC37181AC9F}"/>
              </a:ext>
            </a:extLst>
          </p:cNvPr>
          <p:cNvCxnSpPr>
            <a:cxnSpLocks/>
          </p:cNvCxnSpPr>
          <p:nvPr/>
        </p:nvCxnSpPr>
        <p:spPr>
          <a:xfrm>
            <a:off x="11081081" y="2814897"/>
            <a:ext cx="0" cy="653996"/>
          </a:xfrm>
          <a:prstGeom prst="straightConnector1">
            <a:avLst/>
          </a:prstGeom>
          <a:noFill/>
          <a:ln w="9525" cap="flat" cmpd="sng">
            <a:solidFill>
              <a:srgbClr val="000000"/>
            </a:solidFill>
            <a:prstDash val="solid"/>
            <a:round/>
            <a:headEnd type="none" w="med" len="med"/>
            <a:tailEnd type="none" w="med" len="med"/>
          </a:ln>
        </p:spPr>
      </p:cxnSp>
      <p:cxnSp>
        <p:nvCxnSpPr>
          <p:cNvPr id="49" name="Google Shape;138;p22">
            <a:extLst>
              <a:ext uri="{FF2B5EF4-FFF2-40B4-BE49-F238E27FC236}">
                <a16:creationId xmlns:a16="http://schemas.microsoft.com/office/drawing/2014/main" id="{E1BD3C6E-22E3-710C-5A2F-210A7F88EA9F}"/>
              </a:ext>
            </a:extLst>
          </p:cNvPr>
          <p:cNvCxnSpPr>
            <a:cxnSpLocks/>
          </p:cNvCxnSpPr>
          <p:nvPr/>
        </p:nvCxnSpPr>
        <p:spPr>
          <a:xfrm>
            <a:off x="11081081" y="3862493"/>
            <a:ext cx="0" cy="516831"/>
          </a:xfrm>
          <a:prstGeom prst="straightConnector1">
            <a:avLst/>
          </a:prstGeom>
          <a:noFill/>
          <a:ln w="9525" cap="flat" cmpd="sng">
            <a:solidFill>
              <a:srgbClr val="000000"/>
            </a:solidFill>
            <a:prstDash val="solid"/>
            <a:round/>
            <a:headEnd type="none" w="med" len="med"/>
            <a:tailEnd type="none" w="med" len="med"/>
          </a:ln>
        </p:spPr>
      </p:cxnSp>
      <p:grpSp>
        <p:nvGrpSpPr>
          <p:cNvPr id="2" name="Google Shape;112;p19">
            <a:extLst>
              <a:ext uri="{FF2B5EF4-FFF2-40B4-BE49-F238E27FC236}">
                <a16:creationId xmlns:a16="http://schemas.microsoft.com/office/drawing/2014/main" id="{841FC229-967F-039A-FFC0-FF5C182A4E14}"/>
              </a:ext>
            </a:extLst>
          </p:cNvPr>
          <p:cNvGrpSpPr/>
          <p:nvPr/>
        </p:nvGrpSpPr>
        <p:grpSpPr>
          <a:xfrm>
            <a:off x="1400223" y="1930411"/>
            <a:ext cx="410100" cy="572709"/>
            <a:chOff x="258935" y="2049228"/>
            <a:chExt cx="410100" cy="762900"/>
          </a:xfrm>
        </p:grpSpPr>
        <p:sp>
          <p:nvSpPr>
            <p:cNvPr id="3" name="Google Shape;113;p19">
              <a:extLst>
                <a:ext uri="{FF2B5EF4-FFF2-40B4-BE49-F238E27FC236}">
                  <a16:creationId xmlns:a16="http://schemas.microsoft.com/office/drawing/2014/main" id="{3E0EF041-38F2-2F8B-A5CE-F2D53C55BF62}"/>
                </a:ext>
              </a:extLst>
            </p:cNvPr>
            <p:cNvSpPr txBox="1"/>
            <p:nvPr/>
          </p:nvSpPr>
          <p:spPr>
            <a:xfrm>
              <a:off x="258935" y="2174852"/>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1</a:t>
              </a:r>
              <a:endParaRPr dirty="0">
                <a:latin typeface="Calibri"/>
                <a:ea typeface="Calibri"/>
                <a:cs typeface="Calibri"/>
                <a:sym typeface="Calibri"/>
              </a:endParaRPr>
            </a:p>
          </p:txBody>
        </p:sp>
        <p:cxnSp>
          <p:nvCxnSpPr>
            <p:cNvPr id="5" name="Google Shape;114;p19">
              <a:extLst>
                <a:ext uri="{FF2B5EF4-FFF2-40B4-BE49-F238E27FC236}">
                  <a16:creationId xmlns:a16="http://schemas.microsoft.com/office/drawing/2014/main" id="{0C4C7EAF-C9DB-4261-3BED-631D9168B522}"/>
                </a:ext>
              </a:extLst>
            </p:cNvPr>
            <p:cNvCxnSpPr/>
            <p:nvPr/>
          </p:nvCxnSpPr>
          <p:spPr>
            <a:xfrm rot="10800000">
              <a:off x="530725" y="2049228"/>
              <a:ext cx="0" cy="762900"/>
            </a:xfrm>
            <a:prstGeom prst="straightConnector1">
              <a:avLst/>
            </a:prstGeom>
            <a:noFill/>
            <a:ln w="19050" cap="flat" cmpd="sng">
              <a:solidFill>
                <a:srgbClr val="000000"/>
              </a:solidFill>
              <a:prstDash val="solid"/>
              <a:round/>
              <a:headEnd type="triangle" w="med" len="med"/>
              <a:tailEnd type="none" w="med" len="med"/>
            </a:ln>
          </p:spPr>
        </p:cxnSp>
      </p:grpSp>
      <p:cxnSp>
        <p:nvCxnSpPr>
          <p:cNvPr id="8" name="Google Shape;137;p20">
            <a:extLst>
              <a:ext uri="{FF2B5EF4-FFF2-40B4-BE49-F238E27FC236}">
                <a16:creationId xmlns:a16="http://schemas.microsoft.com/office/drawing/2014/main" id="{4EBBC3CC-96CB-BB92-04F3-0986450E3E9D}"/>
              </a:ext>
            </a:extLst>
          </p:cNvPr>
          <p:cNvCxnSpPr>
            <a:cxnSpLocks/>
            <a:endCxn id="45" idx="1"/>
          </p:cNvCxnSpPr>
          <p:nvPr/>
        </p:nvCxnSpPr>
        <p:spPr>
          <a:xfrm flipV="1">
            <a:off x="4245182" y="2638793"/>
            <a:ext cx="6114946" cy="577494"/>
          </a:xfrm>
          <a:prstGeom prst="straightConnector1">
            <a:avLst/>
          </a:prstGeom>
          <a:noFill/>
          <a:ln w="19050" cap="flat" cmpd="sng">
            <a:solidFill>
              <a:srgbClr val="000000"/>
            </a:solidFill>
            <a:prstDash val="solid"/>
            <a:round/>
            <a:headEnd type="none" w="med" len="med"/>
            <a:tailEnd type="triangle" w="med" len="med"/>
          </a:ln>
        </p:spPr>
      </p:cxnSp>
      <p:sp>
        <p:nvSpPr>
          <p:cNvPr id="9" name="Google Shape;138;p20">
            <a:extLst>
              <a:ext uri="{FF2B5EF4-FFF2-40B4-BE49-F238E27FC236}">
                <a16:creationId xmlns:a16="http://schemas.microsoft.com/office/drawing/2014/main" id="{803496C4-5AF5-7260-8066-56D2068C964E}"/>
              </a:ext>
            </a:extLst>
          </p:cNvPr>
          <p:cNvSpPr txBox="1"/>
          <p:nvPr/>
        </p:nvSpPr>
        <p:spPr>
          <a:xfrm>
            <a:off x="4948102" y="1776703"/>
            <a:ext cx="4693737" cy="587450"/>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400" dirty="0"/>
              <a:t>“What is the IP address of </a:t>
            </a:r>
            <a:r>
              <a:rPr lang="en" sz="1400" b="1" dirty="0">
                <a:solidFill>
                  <a:schemeClr val="dk1"/>
                </a:solidFill>
                <a:latin typeface="Courier New"/>
                <a:ea typeface="Courier New"/>
                <a:cs typeface="Courier New"/>
                <a:sym typeface="Courier New"/>
              </a:rPr>
              <a:t>fake_photo1.google.com</a:t>
            </a:r>
            <a:r>
              <a:rPr lang="en" sz="1400" dirty="0"/>
              <a:t>? This request has ID 161.”</a:t>
            </a:r>
            <a:endParaRPr sz="1400" dirty="0"/>
          </a:p>
        </p:txBody>
      </p:sp>
      <p:sp>
        <p:nvSpPr>
          <p:cNvPr id="11" name="Google Shape;462;p34">
            <a:extLst>
              <a:ext uri="{FF2B5EF4-FFF2-40B4-BE49-F238E27FC236}">
                <a16:creationId xmlns:a16="http://schemas.microsoft.com/office/drawing/2014/main" id="{D6E5E8A9-AEA6-80C0-0176-1DD15FA8AED5}"/>
              </a:ext>
            </a:extLst>
          </p:cNvPr>
          <p:cNvSpPr txBox="1"/>
          <p:nvPr/>
        </p:nvSpPr>
        <p:spPr>
          <a:xfrm>
            <a:off x="6466900" y="2572413"/>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2a</a:t>
            </a:r>
            <a:endParaRPr dirty="0">
              <a:latin typeface="Calibri"/>
              <a:ea typeface="Calibri"/>
              <a:cs typeface="Calibri"/>
              <a:sym typeface="Calibri"/>
            </a:endParaRPr>
          </a:p>
        </p:txBody>
      </p:sp>
      <p:sp>
        <p:nvSpPr>
          <p:cNvPr id="10" name="Google Shape;1819;p140">
            <a:extLst>
              <a:ext uri="{FF2B5EF4-FFF2-40B4-BE49-F238E27FC236}">
                <a16:creationId xmlns:a16="http://schemas.microsoft.com/office/drawing/2014/main" id="{198D9D17-A0EF-EF84-0499-862CF799D9E9}"/>
              </a:ext>
            </a:extLst>
          </p:cNvPr>
          <p:cNvSpPr txBox="1">
            <a:spLocks noGrp="1"/>
          </p:cNvSpPr>
          <p:nvPr>
            <p:ph type="title"/>
          </p:nvPr>
        </p:nvSpPr>
        <p:spPr>
          <a:xfrm>
            <a:off x="415600" y="55919"/>
            <a:ext cx="11360800" cy="763600"/>
          </a:xfrm>
          <a:prstGeom prst="rect">
            <a:avLst/>
          </a:prstGeom>
        </p:spPr>
        <p:txBody>
          <a:bodyPr spcFirstLastPara="1" wrap="square" lIns="121900" tIns="121900" rIns="121900" bIns="121900" anchor="t" anchorCtr="0">
            <a:noAutofit/>
          </a:bodyPr>
          <a:lstStyle/>
          <a:p>
            <a:r>
              <a:rPr lang="en" sz="4400" dirty="0">
                <a:latin typeface="Aptos" panose="020B0004020202020204" pitchFamily="34" charset="0"/>
              </a:rPr>
              <a:t>Kaminsky Attack: Example</a:t>
            </a:r>
            <a:endParaRPr sz="4400" dirty="0">
              <a:latin typeface="Aptos" panose="020B0004020202020204" pitchFamily="34" charset="0"/>
            </a:endParaRPr>
          </a:p>
        </p:txBody>
      </p:sp>
    </p:spTree>
    <p:extLst>
      <p:ext uri="{BB962C8B-B14F-4D97-AF65-F5344CB8AC3E}">
        <p14:creationId xmlns:p14="http://schemas.microsoft.com/office/powerpoint/2010/main" val="24833226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Google Shape;94;p18">
            <a:extLst>
              <a:ext uri="{FF2B5EF4-FFF2-40B4-BE49-F238E27FC236}">
                <a16:creationId xmlns:a16="http://schemas.microsoft.com/office/drawing/2014/main" id="{27338096-ADE2-579F-5EE1-AEDCC622FBBF}"/>
              </a:ext>
            </a:extLst>
          </p:cNvPr>
          <p:cNvSpPr txBox="1"/>
          <p:nvPr/>
        </p:nvSpPr>
        <p:spPr>
          <a:xfrm>
            <a:off x="1086878" y="1273669"/>
            <a:ext cx="2164021" cy="58745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Courier New"/>
                <a:ea typeface="Courier New"/>
                <a:cs typeface="Courier New"/>
                <a:sym typeface="Courier New"/>
              </a:rPr>
              <a:t>Stub Resolver</a:t>
            </a:r>
            <a:endParaRPr dirty="0">
              <a:latin typeface="Calibri"/>
              <a:ea typeface="Calibri"/>
              <a:cs typeface="Calibri"/>
              <a:sym typeface="Calibri"/>
            </a:endParaRPr>
          </a:p>
        </p:txBody>
      </p:sp>
      <p:sp>
        <p:nvSpPr>
          <p:cNvPr id="20" name="Google Shape;98;p18">
            <a:extLst>
              <a:ext uri="{FF2B5EF4-FFF2-40B4-BE49-F238E27FC236}">
                <a16:creationId xmlns:a16="http://schemas.microsoft.com/office/drawing/2014/main" id="{19323B84-7D87-0BA1-EAA5-286975507BC8}"/>
              </a:ext>
            </a:extLst>
          </p:cNvPr>
          <p:cNvSpPr/>
          <p:nvPr/>
        </p:nvSpPr>
        <p:spPr>
          <a:xfrm>
            <a:off x="164860" y="2572413"/>
            <a:ext cx="4056187" cy="3701166"/>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99;p18">
            <a:extLst>
              <a:ext uri="{FF2B5EF4-FFF2-40B4-BE49-F238E27FC236}">
                <a16:creationId xmlns:a16="http://schemas.microsoft.com/office/drawing/2014/main" id="{10C1C038-9E6A-04D6-69B1-5060DB60FB3C}"/>
              </a:ext>
            </a:extLst>
          </p:cNvPr>
          <p:cNvSpPr txBox="1"/>
          <p:nvPr/>
        </p:nvSpPr>
        <p:spPr>
          <a:xfrm>
            <a:off x="248560" y="2660813"/>
            <a:ext cx="3840671" cy="508261"/>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graphicFrame>
        <p:nvGraphicFramePr>
          <p:cNvPr id="22" name="Google Shape;100;p18">
            <a:extLst>
              <a:ext uri="{FF2B5EF4-FFF2-40B4-BE49-F238E27FC236}">
                <a16:creationId xmlns:a16="http://schemas.microsoft.com/office/drawing/2014/main" id="{48D49623-2A57-A908-A06B-77B627D60BAE}"/>
              </a:ext>
            </a:extLst>
          </p:cNvPr>
          <p:cNvGraphicFramePr/>
          <p:nvPr>
            <p:extLst>
              <p:ext uri="{D42A27DB-BD31-4B8C-83A1-F6EECF244321}">
                <p14:modId xmlns:p14="http://schemas.microsoft.com/office/powerpoint/2010/main" val="1270437218"/>
              </p:ext>
            </p:extLst>
          </p:nvPr>
        </p:nvGraphicFramePr>
        <p:xfrm>
          <a:off x="248586" y="3054413"/>
          <a:ext cx="3840606" cy="1732147"/>
        </p:xfrm>
        <a:graphic>
          <a:graphicData uri="http://schemas.openxmlformats.org/drawingml/2006/table">
            <a:tbl>
              <a:tblPr>
                <a:noFill/>
              </a:tblPr>
              <a:tblGrid>
                <a:gridCol w="1920303">
                  <a:extLst>
                    <a:ext uri="{9D8B030D-6E8A-4147-A177-3AD203B41FA5}">
                      <a16:colId xmlns:a16="http://schemas.microsoft.com/office/drawing/2014/main" val="20000"/>
                    </a:ext>
                  </a:extLst>
                </a:gridCol>
                <a:gridCol w="1920303">
                  <a:extLst>
                    <a:ext uri="{9D8B030D-6E8A-4147-A177-3AD203B41FA5}">
                      <a16:colId xmlns:a16="http://schemas.microsoft.com/office/drawing/2014/main" val="20001"/>
                    </a:ext>
                  </a:extLst>
                </a:gridCol>
              </a:tblGrid>
              <a:tr h="452593">
                <a:tc gridSpan="2">
                  <a:txBody>
                    <a:bodyPr/>
                    <a:lstStyle/>
                    <a:p>
                      <a:pPr marL="0" lvl="0" indent="0" algn="ctr" rtl="0">
                        <a:spcBef>
                          <a:spcPts val="0"/>
                        </a:spcBef>
                        <a:spcAft>
                          <a:spcPts val="0"/>
                        </a:spcAft>
                        <a:buNone/>
                      </a:pPr>
                      <a:r>
                        <a:rPr lang="en" sz="1100" b="0" dirty="0">
                          <a:latin typeface="Courier New"/>
                          <a:ea typeface="Courier New"/>
                          <a:cs typeface="Courier New"/>
                          <a:sym typeface="Courier New"/>
                        </a:rPr>
                        <a:t>Recursive Resolver Cache</a:t>
                      </a:r>
                      <a:endParaRPr sz="1100" b="0" dirty="0">
                        <a:latin typeface="Courier New"/>
                        <a:ea typeface="Courier New"/>
                        <a:cs typeface="Courier New"/>
                        <a:sym typeface="Courier New"/>
                      </a:endParaRPr>
                    </a:p>
                  </a:txBody>
                  <a:tcPr marL="91425" marR="91425" marT="91425" marB="91425">
                    <a:lnB w="9525" cap="flat" cmpd="sng">
                      <a:solidFill>
                        <a:srgbClr val="9E9E9E"/>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0"/>
                  </a:ext>
                </a:extLst>
              </a:tr>
              <a:tr h="433160">
                <a:tc>
                  <a:txBody>
                    <a:bodyPr/>
                    <a:lstStyle/>
                    <a:p>
                      <a:pPr marL="0" lvl="0" indent="0" algn="l" rtl="0">
                        <a:lnSpc>
                          <a:spcPct val="115000"/>
                        </a:lnSpc>
                        <a:spcBef>
                          <a:spcPts val="0"/>
                        </a:spcBef>
                        <a:spcAft>
                          <a:spcPts val="0"/>
                        </a:spcAft>
                        <a:buNone/>
                      </a:pPr>
                      <a:r>
                        <a:rPr lang="en-US" sz="1100" b="1" dirty="0">
                          <a:solidFill>
                            <a:schemeClr val="dk1"/>
                          </a:solidFill>
                          <a:latin typeface="Courier New"/>
                          <a:ea typeface="Courier New"/>
                          <a:cs typeface="Courier New"/>
                          <a:sym typeface="Courier New"/>
                        </a:rPr>
                        <a:t>a.gtld-servers.net</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r>
                        <a:rPr lang="en-US" sz="1100" b="1" dirty="0">
                          <a:solidFill>
                            <a:schemeClr val="dk1"/>
                          </a:solidFill>
                          <a:latin typeface="Courier New"/>
                          <a:ea typeface="Courier New"/>
                          <a:cs typeface="Courier New"/>
                          <a:sym typeface="Courier New"/>
                        </a:rPr>
                        <a:t>192.5.6.30</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433160">
                <a:tc>
                  <a:txBody>
                    <a:bodyPr/>
                    <a:lstStyle/>
                    <a:p>
                      <a:pPr marL="0" lvl="0" indent="0" algn="l" rtl="0">
                        <a:lnSpc>
                          <a:spcPct val="115000"/>
                        </a:lnSpc>
                        <a:spcBef>
                          <a:spcPts val="0"/>
                        </a:spcBef>
                        <a:spcAft>
                          <a:spcPts val="0"/>
                        </a:spcAft>
                        <a:buNone/>
                      </a:pPr>
                      <a:endParaRPr sz="900" b="0">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endParaRPr sz="900" b="0">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413234">
                <a:tc>
                  <a:txBody>
                    <a:bodyPr/>
                    <a:lstStyle/>
                    <a:p>
                      <a:pPr marL="0" lvl="0" indent="0" algn="l" rtl="0">
                        <a:spcBef>
                          <a:spcPts val="0"/>
                        </a:spcBef>
                        <a:spcAft>
                          <a:spcPts val="0"/>
                        </a:spcAft>
                        <a:buNone/>
                      </a:pPr>
                      <a:endParaRPr sz="900" b="0">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sz="900" b="0" dirty="0">
                        <a:solidFill>
                          <a:srgbClr val="FF0000"/>
                        </a:solidFill>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bl>
          </a:graphicData>
        </a:graphic>
      </p:graphicFrame>
      <p:sp>
        <p:nvSpPr>
          <p:cNvPr id="45" name="Google Shape;134;p22">
            <a:extLst>
              <a:ext uri="{FF2B5EF4-FFF2-40B4-BE49-F238E27FC236}">
                <a16:creationId xmlns:a16="http://schemas.microsoft.com/office/drawing/2014/main" id="{448F3387-90D1-25AA-E982-9BF555E98B4F}"/>
              </a:ext>
            </a:extLst>
          </p:cNvPr>
          <p:cNvSpPr txBox="1"/>
          <p:nvPr/>
        </p:nvSpPr>
        <p:spPr>
          <a:xfrm>
            <a:off x="10360128" y="2456393"/>
            <a:ext cx="1238100" cy="3648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Courier New" panose="02070309020205020404" pitchFamily="49" charset="0"/>
                <a:ea typeface="Courier New"/>
                <a:cs typeface="Courier New" panose="02070309020205020404" pitchFamily="49" charset="0"/>
                <a:sym typeface="Courier New"/>
              </a:rPr>
              <a:t>.</a:t>
            </a:r>
            <a:r>
              <a:rPr lang="en" dirty="0">
                <a:latin typeface="Courier New" panose="02070309020205020404" pitchFamily="49" charset="0"/>
                <a:cs typeface="Courier New" panose="02070309020205020404" pitchFamily="49" charset="0"/>
              </a:rPr>
              <a:t>(root)</a:t>
            </a:r>
            <a:endParaRPr dirty="0">
              <a:latin typeface="Courier New" panose="02070309020205020404" pitchFamily="49" charset="0"/>
              <a:ea typeface="Courier New"/>
              <a:cs typeface="Courier New" panose="02070309020205020404" pitchFamily="49" charset="0"/>
              <a:sym typeface="Courier New"/>
            </a:endParaRPr>
          </a:p>
        </p:txBody>
      </p:sp>
      <p:sp>
        <p:nvSpPr>
          <p:cNvPr id="46" name="Google Shape;135;p22">
            <a:extLst>
              <a:ext uri="{FF2B5EF4-FFF2-40B4-BE49-F238E27FC236}">
                <a16:creationId xmlns:a16="http://schemas.microsoft.com/office/drawing/2014/main" id="{263AA768-2073-CAA1-0D3F-4FB15ADCC058}"/>
              </a:ext>
            </a:extLst>
          </p:cNvPr>
          <p:cNvSpPr txBox="1"/>
          <p:nvPr/>
        </p:nvSpPr>
        <p:spPr>
          <a:xfrm>
            <a:off x="10721787" y="3468893"/>
            <a:ext cx="73152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Courier New"/>
                <a:ea typeface="Courier New"/>
                <a:cs typeface="Courier New"/>
                <a:sym typeface="Courier New"/>
              </a:rPr>
              <a:t>.com</a:t>
            </a:r>
            <a:endParaRPr>
              <a:latin typeface="Calibri"/>
              <a:ea typeface="Calibri"/>
              <a:cs typeface="Calibri"/>
              <a:sym typeface="Calibri"/>
            </a:endParaRPr>
          </a:p>
        </p:txBody>
      </p:sp>
      <p:sp>
        <p:nvSpPr>
          <p:cNvPr id="47" name="Google Shape;136;p22">
            <a:extLst>
              <a:ext uri="{FF2B5EF4-FFF2-40B4-BE49-F238E27FC236}">
                <a16:creationId xmlns:a16="http://schemas.microsoft.com/office/drawing/2014/main" id="{2CDEAC51-B9BF-917D-9B18-E3E86C651A2A}"/>
              </a:ext>
            </a:extLst>
          </p:cNvPr>
          <p:cNvSpPr txBox="1"/>
          <p:nvPr/>
        </p:nvSpPr>
        <p:spPr>
          <a:xfrm>
            <a:off x="10391165" y="4392960"/>
            <a:ext cx="1385235"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400" dirty="0">
                <a:latin typeface="Courier New"/>
                <a:ea typeface="Courier New"/>
                <a:cs typeface="Courier New"/>
                <a:sym typeface="Courier New"/>
              </a:rPr>
              <a:t>google.com</a:t>
            </a:r>
            <a:endParaRPr sz="1400" dirty="0">
              <a:latin typeface="Calibri"/>
              <a:ea typeface="Calibri"/>
              <a:cs typeface="Calibri"/>
              <a:sym typeface="Calibri"/>
            </a:endParaRPr>
          </a:p>
        </p:txBody>
      </p:sp>
      <p:cxnSp>
        <p:nvCxnSpPr>
          <p:cNvPr id="48" name="Google Shape;137;p22">
            <a:extLst>
              <a:ext uri="{FF2B5EF4-FFF2-40B4-BE49-F238E27FC236}">
                <a16:creationId xmlns:a16="http://schemas.microsoft.com/office/drawing/2014/main" id="{ED88BD28-FFDE-6C5F-BF7B-6DC37181AC9F}"/>
              </a:ext>
            </a:extLst>
          </p:cNvPr>
          <p:cNvCxnSpPr>
            <a:cxnSpLocks/>
          </p:cNvCxnSpPr>
          <p:nvPr/>
        </p:nvCxnSpPr>
        <p:spPr>
          <a:xfrm>
            <a:off x="11081081" y="2814897"/>
            <a:ext cx="0" cy="653996"/>
          </a:xfrm>
          <a:prstGeom prst="straightConnector1">
            <a:avLst/>
          </a:prstGeom>
          <a:noFill/>
          <a:ln w="9525" cap="flat" cmpd="sng">
            <a:solidFill>
              <a:srgbClr val="000000"/>
            </a:solidFill>
            <a:prstDash val="solid"/>
            <a:round/>
            <a:headEnd type="none" w="med" len="med"/>
            <a:tailEnd type="none" w="med" len="med"/>
          </a:ln>
        </p:spPr>
      </p:cxnSp>
      <p:cxnSp>
        <p:nvCxnSpPr>
          <p:cNvPr id="49" name="Google Shape;138;p22">
            <a:extLst>
              <a:ext uri="{FF2B5EF4-FFF2-40B4-BE49-F238E27FC236}">
                <a16:creationId xmlns:a16="http://schemas.microsoft.com/office/drawing/2014/main" id="{E1BD3C6E-22E3-710C-5A2F-210A7F88EA9F}"/>
              </a:ext>
            </a:extLst>
          </p:cNvPr>
          <p:cNvCxnSpPr>
            <a:cxnSpLocks/>
          </p:cNvCxnSpPr>
          <p:nvPr/>
        </p:nvCxnSpPr>
        <p:spPr>
          <a:xfrm>
            <a:off x="11081081" y="3862493"/>
            <a:ext cx="0" cy="516831"/>
          </a:xfrm>
          <a:prstGeom prst="straightConnector1">
            <a:avLst/>
          </a:prstGeom>
          <a:noFill/>
          <a:ln w="9525" cap="flat" cmpd="sng">
            <a:solidFill>
              <a:srgbClr val="000000"/>
            </a:solidFill>
            <a:prstDash val="solid"/>
            <a:round/>
            <a:headEnd type="none" w="med" len="med"/>
            <a:tailEnd type="none" w="med" len="med"/>
          </a:ln>
        </p:spPr>
      </p:cxnSp>
      <p:grpSp>
        <p:nvGrpSpPr>
          <p:cNvPr id="2" name="Google Shape;112;p19">
            <a:extLst>
              <a:ext uri="{FF2B5EF4-FFF2-40B4-BE49-F238E27FC236}">
                <a16:creationId xmlns:a16="http://schemas.microsoft.com/office/drawing/2014/main" id="{841FC229-967F-039A-FFC0-FF5C182A4E14}"/>
              </a:ext>
            </a:extLst>
          </p:cNvPr>
          <p:cNvGrpSpPr/>
          <p:nvPr/>
        </p:nvGrpSpPr>
        <p:grpSpPr>
          <a:xfrm>
            <a:off x="1400223" y="1930411"/>
            <a:ext cx="410100" cy="572709"/>
            <a:chOff x="258935" y="2049228"/>
            <a:chExt cx="410100" cy="762900"/>
          </a:xfrm>
        </p:grpSpPr>
        <p:sp>
          <p:nvSpPr>
            <p:cNvPr id="3" name="Google Shape;113;p19">
              <a:extLst>
                <a:ext uri="{FF2B5EF4-FFF2-40B4-BE49-F238E27FC236}">
                  <a16:creationId xmlns:a16="http://schemas.microsoft.com/office/drawing/2014/main" id="{3E0EF041-38F2-2F8B-A5CE-F2D53C55BF62}"/>
                </a:ext>
              </a:extLst>
            </p:cNvPr>
            <p:cNvSpPr txBox="1"/>
            <p:nvPr/>
          </p:nvSpPr>
          <p:spPr>
            <a:xfrm>
              <a:off x="258935" y="2174852"/>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1</a:t>
              </a:r>
              <a:endParaRPr dirty="0">
                <a:latin typeface="Calibri"/>
                <a:ea typeface="Calibri"/>
                <a:cs typeface="Calibri"/>
                <a:sym typeface="Calibri"/>
              </a:endParaRPr>
            </a:p>
          </p:txBody>
        </p:sp>
        <p:cxnSp>
          <p:nvCxnSpPr>
            <p:cNvPr id="5" name="Google Shape;114;p19">
              <a:extLst>
                <a:ext uri="{FF2B5EF4-FFF2-40B4-BE49-F238E27FC236}">
                  <a16:creationId xmlns:a16="http://schemas.microsoft.com/office/drawing/2014/main" id="{0C4C7EAF-C9DB-4261-3BED-631D9168B522}"/>
                </a:ext>
              </a:extLst>
            </p:cNvPr>
            <p:cNvCxnSpPr/>
            <p:nvPr/>
          </p:nvCxnSpPr>
          <p:spPr>
            <a:xfrm rot="10800000">
              <a:off x="530725" y="2049228"/>
              <a:ext cx="0" cy="762900"/>
            </a:xfrm>
            <a:prstGeom prst="straightConnector1">
              <a:avLst/>
            </a:prstGeom>
            <a:noFill/>
            <a:ln w="19050" cap="flat" cmpd="sng">
              <a:solidFill>
                <a:srgbClr val="000000"/>
              </a:solidFill>
              <a:prstDash val="solid"/>
              <a:round/>
              <a:headEnd type="triangle" w="med" len="med"/>
              <a:tailEnd type="none" w="med" len="med"/>
            </a:ln>
          </p:spPr>
        </p:cxnSp>
      </p:grpSp>
      <p:sp>
        <p:nvSpPr>
          <p:cNvPr id="11" name="Google Shape;462;p34">
            <a:extLst>
              <a:ext uri="{FF2B5EF4-FFF2-40B4-BE49-F238E27FC236}">
                <a16:creationId xmlns:a16="http://schemas.microsoft.com/office/drawing/2014/main" id="{D6E5E8A9-AEA6-80C0-0176-1DD15FA8AED5}"/>
              </a:ext>
            </a:extLst>
          </p:cNvPr>
          <p:cNvSpPr txBox="1"/>
          <p:nvPr/>
        </p:nvSpPr>
        <p:spPr>
          <a:xfrm>
            <a:off x="7917176" y="2819729"/>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3</a:t>
            </a:r>
          </a:p>
        </p:txBody>
      </p:sp>
      <p:sp>
        <p:nvSpPr>
          <p:cNvPr id="6" name="Google Shape;158;p21">
            <a:extLst>
              <a:ext uri="{FF2B5EF4-FFF2-40B4-BE49-F238E27FC236}">
                <a16:creationId xmlns:a16="http://schemas.microsoft.com/office/drawing/2014/main" id="{B6864293-0C90-4107-77A0-B0310B7F617F}"/>
              </a:ext>
            </a:extLst>
          </p:cNvPr>
          <p:cNvSpPr txBox="1"/>
          <p:nvPr/>
        </p:nvSpPr>
        <p:spPr>
          <a:xfrm>
            <a:off x="5300555" y="3315393"/>
            <a:ext cx="4718385" cy="1294170"/>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400" b="1" dirty="0"/>
              <a:t>“</a:t>
            </a:r>
            <a:r>
              <a:rPr lang="en" sz="1400" dirty="0"/>
              <a:t>I don’t know, but I have delegated authority to the </a:t>
            </a:r>
            <a:r>
              <a:rPr lang="en" sz="1400" b="1" dirty="0">
                <a:latin typeface="Courier New"/>
                <a:ea typeface="Courier New"/>
                <a:cs typeface="Courier New"/>
                <a:sym typeface="Courier New"/>
              </a:rPr>
              <a:t>.com</a:t>
            </a:r>
            <a:r>
              <a:rPr lang="en" sz="1400" b="1" dirty="0"/>
              <a:t> </a:t>
            </a:r>
            <a:r>
              <a:rPr lang="en" sz="1400" dirty="0"/>
              <a:t>name server. </a:t>
            </a:r>
            <a:r>
              <a:rPr lang="en" sz="1400" dirty="0">
                <a:solidFill>
                  <a:schemeClr val="dk1"/>
                </a:solidFill>
              </a:rPr>
              <a:t>This response has ID 161. </a:t>
            </a:r>
          </a:p>
          <a:p>
            <a:pPr marL="0" lvl="0" indent="0" algn="ctr" rtl="0">
              <a:spcBef>
                <a:spcPts val="0"/>
              </a:spcBef>
              <a:spcAft>
                <a:spcPts val="0"/>
              </a:spcAft>
              <a:buNone/>
            </a:pPr>
            <a:endParaRPr sz="1400" b="1" dirty="0">
              <a:solidFill>
                <a:schemeClr val="dk1"/>
              </a:solidFill>
            </a:endParaRPr>
          </a:p>
          <a:p>
            <a:pPr marL="0" lvl="0" indent="0" algn="l" rtl="0">
              <a:spcBef>
                <a:spcPts val="0"/>
              </a:spcBef>
              <a:spcAft>
                <a:spcPts val="0"/>
              </a:spcAft>
              <a:buNone/>
            </a:pPr>
            <a:r>
              <a:rPr lang="en" sz="1400" b="1" dirty="0">
                <a:solidFill>
                  <a:schemeClr val="dk1"/>
                </a:solidFill>
              </a:rPr>
              <a:t>Authority: </a:t>
            </a:r>
            <a:r>
              <a:rPr lang="en" sz="1400" b="1" dirty="0">
                <a:solidFill>
                  <a:schemeClr val="dk1"/>
                </a:solidFill>
                <a:latin typeface="Courier New"/>
                <a:ea typeface="Courier New"/>
                <a:cs typeface="Courier New"/>
                <a:sym typeface="Courier New"/>
              </a:rPr>
              <a:t>.com</a:t>
            </a:r>
            <a:r>
              <a:rPr lang="en" sz="1400" b="1" dirty="0">
                <a:solidFill>
                  <a:schemeClr val="dk1"/>
                </a:solidFill>
              </a:rPr>
              <a:t> </a:t>
            </a:r>
            <a:r>
              <a:rPr lang="en" sz="1400" b="1" dirty="0">
                <a:solidFill>
                  <a:srgbClr val="FF0000"/>
                </a:solidFill>
              </a:rPr>
              <a:t>NS</a:t>
            </a:r>
            <a:r>
              <a:rPr lang="en" sz="1400" b="1" dirty="0">
                <a:solidFill>
                  <a:schemeClr val="dk1"/>
                </a:solidFill>
              </a:rPr>
              <a:t>  </a:t>
            </a:r>
            <a:r>
              <a:rPr lang="en" sz="1400" b="1" dirty="0">
                <a:solidFill>
                  <a:schemeClr val="dk1"/>
                </a:solidFill>
                <a:latin typeface="Courier New"/>
                <a:ea typeface="Courier New"/>
                <a:cs typeface="Courier New"/>
                <a:sym typeface="Courier New"/>
              </a:rPr>
              <a:t>a.gtld-servers.net.</a:t>
            </a:r>
            <a:endParaRPr sz="1400" b="1" dirty="0">
              <a:solidFill>
                <a:schemeClr val="dk1"/>
              </a:solidFill>
            </a:endParaRPr>
          </a:p>
          <a:p>
            <a:pPr marL="0" lvl="0" indent="0" algn="l" rtl="0">
              <a:lnSpc>
                <a:spcPct val="115000"/>
              </a:lnSpc>
              <a:spcBef>
                <a:spcPts val="0"/>
              </a:spcBef>
              <a:spcAft>
                <a:spcPts val="0"/>
              </a:spcAft>
              <a:buNone/>
            </a:pPr>
            <a:r>
              <a:rPr lang="en" sz="1400" b="1" dirty="0">
                <a:solidFill>
                  <a:schemeClr val="dk1"/>
                </a:solidFill>
              </a:rPr>
              <a:t>Additional:  </a:t>
            </a:r>
            <a:r>
              <a:rPr lang="en" sz="1400" b="1" dirty="0">
                <a:solidFill>
                  <a:schemeClr val="dk1"/>
                </a:solidFill>
                <a:latin typeface="Courier New"/>
                <a:ea typeface="Courier New"/>
                <a:cs typeface="Courier New"/>
                <a:sym typeface="Courier New"/>
              </a:rPr>
              <a:t>a.gtld-servers.net</a:t>
            </a:r>
            <a:r>
              <a:rPr lang="en" sz="1400" b="1" dirty="0">
                <a:solidFill>
                  <a:schemeClr val="dk1"/>
                </a:solidFill>
              </a:rPr>
              <a:t> A </a:t>
            </a:r>
            <a:r>
              <a:rPr lang="en" sz="1400" b="1" dirty="0">
                <a:solidFill>
                  <a:schemeClr val="dk1"/>
                </a:solidFill>
                <a:latin typeface="Courier New"/>
                <a:ea typeface="Courier New"/>
                <a:cs typeface="Courier New"/>
                <a:sym typeface="Courier New"/>
              </a:rPr>
              <a:t>192.5.6.30</a:t>
            </a:r>
            <a:r>
              <a:rPr lang="zh-CN" altLang="en-US" sz="1400" b="1" dirty="0">
                <a:solidFill>
                  <a:schemeClr val="dk1"/>
                </a:solidFill>
                <a:latin typeface="Courier New"/>
                <a:ea typeface="Courier New"/>
                <a:cs typeface="Courier New"/>
                <a:sym typeface="Courier New"/>
              </a:rPr>
              <a:t>”</a:t>
            </a:r>
            <a:endParaRPr sz="1400" b="1" dirty="0">
              <a:solidFill>
                <a:schemeClr val="dk1"/>
              </a:solidFill>
            </a:endParaRPr>
          </a:p>
        </p:txBody>
      </p:sp>
      <p:cxnSp>
        <p:nvCxnSpPr>
          <p:cNvPr id="10" name="Google Shape;168;p21">
            <a:extLst>
              <a:ext uri="{FF2B5EF4-FFF2-40B4-BE49-F238E27FC236}">
                <a16:creationId xmlns:a16="http://schemas.microsoft.com/office/drawing/2014/main" id="{BB258716-C90D-BB3D-A8C3-39D4E7D8DA6C}"/>
              </a:ext>
            </a:extLst>
          </p:cNvPr>
          <p:cNvCxnSpPr>
            <a:cxnSpLocks/>
            <a:endCxn id="45" idx="1"/>
          </p:cNvCxnSpPr>
          <p:nvPr/>
        </p:nvCxnSpPr>
        <p:spPr>
          <a:xfrm flipV="1">
            <a:off x="4197894" y="2638793"/>
            <a:ext cx="6162234" cy="641955"/>
          </a:xfrm>
          <a:prstGeom prst="straightConnector1">
            <a:avLst/>
          </a:prstGeom>
          <a:noFill/>
          <a:ln w="19050" cap="flat" cmpd="sng">
            <a:solidFill>
              <a:srgbClr val="000000"/>
            </a:solidFill>
            <a:prstDash val="solid"/>
            <a:round/>
            <a:headEnd type="triangle" w="med" len="med"/>
            <a:tailEnd type="none" w="med" len="med"/>
          </a:ln>
        </p:spPr>
      </p:cxnSp>
      <p:sp>
        <p:nvSpPr>
          <p:cNvPr id="13" name="Google Shape;172;p21">
            <a:extLst>
              <a:ext uri="{FF2B5EF4-FFF2-40B4-BE49-F238E27FC236}">
                <a16:creationId xmlns:a16="http://schemas.microsoft.com/office/drawing/2014/main" id="{7EAB65A6-7DE2-CFE2-823D-8FDD21CF1979}"/>
              </a:ext>
            </a:extLst>
          </p:cNvPr>
          <p:cNvSpPr txBox="1"/>
          <p:nvPr/>
        </p:nvSpPr>
        <p:spPr>
          <a:xfrm>
            <a:off x="5744420" y="5577981"/>
            <a:ext cx="3870169" cy="605776"/>
          </a:xfrm>
          <a:prstGeom prst="rect">
            <a:avLst/>
          </a:prstGeom>
          <a:solidFill>
            <a:srgbClr val="C9DAF8"/>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chemeClr val="dk1"/>
                </a:solidFill>
              </a:rPr>
              <a:t>The </a:t>
            </a:r>
            <a:r>
              <a:rPr lang="en" sz="1200" b="1" dirty="0">
                <a:solidFill>
                  <a:schemeClr val="dk1"/>
                </a:solidFill>
                <a:latin typeface="Courier New"/>
                <a:ea typeface="Courier New"/>
                <a:cs typeface="Courier New"/>
                <a:sym typeface="Courier New"/>
              </a:rPr>
              <a:t>.com</a:t>
            </a:r>
            <a:r>
              <a:rPr lang="en" sz="1200" dirty="0">
                <a:solidFill>
                  <a:schemeClr val="dk1"/>
                </a:solidFill>
              </a:rPr>
              <a:t> name server </a:t>
            </a:r>
            <a:r>
              <a:rPr lang="en" sz="1200" b="1" dirty="0">
                <a:solidFill>
                  <a:schemeClr val="dk1"/>
                </a:solidFill>
                <a:latin typeface="Courier New"/>
                <a:ea typeface="Courier New"/>
                <a:cs typeface="Courier New"/>
                <a:sym typeface="Courier New"/>
              </a:rPr>
              <a:t>a.gtld-servers.net.</a:t>
            </a:r>
            <a:r>
              <a:rPr lang="en" sz="1200" dirty="0">
                <a:solidFill>
                  <a:schemeClr val="dk1"/>
                </a:solidFill>
              </a:rPr>
              <a:t> is cached with IP </a:t>
            </a:r>
            <a:r>
              <a:rPr lang="en" sz="1200" b="1" dirty="0">
                <a:solidFill>
                  <a:schemeClr val="dk1"/>
                </a:solidFill>
                <a:latin typeface="Courier New"/>
                <a:ea typeface="Courier New"/>
                <a:cs typeface="Courier New"/>
                <a:sym typeface="Courier New"/>
              </a:rPr>
              <a:t>192.5.6.30</a:t>
            </a:r>
            <a:endParaRPr sz="1200" dirty="0">
              <a:solidFill>
                <a:schemeClr val="dk1"/>
              </a:solidFill>
            </a:endParaRPr>
          </a:p>
          <a:p>
            <a:pPr marL="0" lvl="0" indent="0" algn="ctr" rtl="0">
              <a:spcBef>
                <a:spcPts val="0"/>
              </a:spcBef>
              <a:spcAft>
                <a:spcPts val="0"/>
              </a:spcAft>
              <a:buNone/>
            </a:pPr>
            <a:endParaRPr sz="1200" dirty="0"/>
          </a:p>
        </p:txBody>
      </p:sp>
      <p:cxnSp>
        <p:nvCxnSpPr>
          <p:cNvPr id="14" name="Google Shape;173;p21">
            <a:extLst>
              <a:ext uri="{FF2B5EF4-FFF2-40B4-BE49-F238E27FC236}">
                <a16:creationId xmlns:a16="http://schemas.microsoft.com/office/drawing/2014/main" id="{26C762EF-BBEE-F9A1-3B6A-205A03474F6A}"/>
              </a:ext>
            </a:extLst>
          </p:cNvPr>
          <p:cNvCxnSpPr>
            <a:cxnSpLocks/>
            <a:stCxn id="13" idx="1"/>
          </p:cNvCxnSpPr>
          <p:nvPr/>
        </p:nvCxnSpPr>
        <p:spPr>
          <a:xfrm flipH="1" flipV="1">
            <a:off x="3628020" y="3862493"/>
            <a:ext cx="2116400" cy="2018376"/>
          </a:xfrm>
          <a:prstGeom prst="straightConnector1">
            <a:avLst/>
          </a:prstGeom>
          <a:noFill/>
          <a:ln w="9525" cap="flat" cmpd="sng">
            <a:solidFill>
              <a:srgbClr val="0000FF"/>
            </a:solidFill>
            <a:prstDash val="solid"/>
            <a:round/>
            <a:headEnd type="none" w="med" len="med"/>
            <a:tailEnd type="triangle" w="med" len="med"/>
          </a:ln>
        </p:spPr>
      </p:cxnSp>
      <p:cxnSp>
        <p:nvCxnSpPr>
          <p:cNvPr id="18" name="Google Shape;177;p21">
            <a:extLst>
              <a:ext uri="{FF2B5EF4-FFF2-40B4-BE49-F238E27FC236}">
                <a16:creationId xmlns:a16="http://schemas.microsoft.com/office/drawing/2014/main" id="{05D09F2B-EEE5-C1CA-B732-A332DF07CAB9}"/>
              </a:ext>
            </a:extLst>
          </p:cNvPr>
          <p:cNvCxnSpPr>
            <a:cxnSpLocks/>
            <a:stCxn id="6" idx="1"/>
            <a:endCxn id="6" idx="3"/>
          </p:cNvCxnSpPr>
          <p:nvPr/>
        </p:nvCxnSpPr>
        <p:spPr>
          <a:xfrm>
            <a:off x="5300555" y="3962478"/>
            <a:ext cx="4718385" cy="0"/>
          </a:xfrm>
          <a:prstGeom prst="straightConnector1">
            <a:avLst/>
          </a:prstGeom>
          <a:noFill/>
          <a:ln w="9525" cap="flat" cmpd="sng">
            <a:solidFill>
              <a:schemeClr val="dk2"/>
            </a:solidFill>
            <a:prstDash val="solid"/>
            <a:round/>
            <a:headEnd type="none" w="med" len="med"/>
            <a:tailEnd type="none" w="med" len="med"/>
          </a:ln>
        </p:spPr>
      </p:cxnSp>
      <p:sp>
        <p:nvSpPr>
          <p:cNvPr id="26" name="Google Shape;462;p34">
            <a:extLst>
              <a:ext uri="{FF2B5EF4-FFF2-40B4-BE49-F238E27FC236}">
                <a16:creationId xmlns:a16="http://schemas.microsoft.com/office/drawing/2014/main" id="{1DD60D51-679D-00BC-DB81-8CE647FC09BE}"/>
              </a:ext>
            </a:extLst>
          </p:cNvPr>
          <p:cNvSpPr txBox="1"/>
          <p:nvPr/>
        </p:nvSpPr>
        <p:spPr>
          <a:xfrm>
            <a:off x="7035914" y="2396951"/>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2a</a:t>
            </a:r>
            <a:endParaRPr dirty="0">
              <a:latin typeface="Calibri"/>
              <a:ea typeface="Calibri"/>
              <a:cs typeface="Calibri"/>
              <a:sym typeface="Calibri"/>
            </a:endParaRPr>
          </a:p>
        </p:txBody>
      </p:sp>
      <p:cxnSp>
        <p:nvCxnSpPr>
          <p:cNvPr id="27" name="Google Shape;137;p20">
            <a:extLst>
              <a:ext uri="{FF2B5EF4-FFF2-40B4-BE49-F238E27FC236}">
                <a16:creationId xmlns:a16="http://schemas.microsoft.com/office/drawing/2014/main" id="{E7EB2A62-4669-44A1-07DA-06DABEABFB1B}"/>
              </a:ext>
            </a:extLst>
          </p:cNvPr>
          <p:cNvCxnSpPr>
            <a:cxnSpLocks/>
          </p:cNvCxnSpPr>
          <p:nvPr/>
        </p:nvCxnSpPr>
        <p:spPr>
          <a:xfrm flipV="1">
            <a:off x="4329710" y="2451320"/>
            <a:ext cx="6030418" cy="665024"/>
          </a:xfrm>
          <a:prstGeom prst="straightConnector1">
            <a:avLst/>
          </a:prstGeom>
          <a:noFill/>
          <a:ln w="19050" cap="flat" cmpd="sng">
            <a:solidFill>
              <a:srgbClr val="000000"/>
            </a:solidFill>
            <a:prstDash val="solid"/>
            <a:round/>
            <a:headEnd type="none" w="med" len="med"/>
            <a:tailEnd type="triangle" w="med" len="med"/>
          </a:ln>
        </p:spPr>
      </p:cxnSp>
      <p:sp>
        <p:nvSpPr>
          <p:cNvPr id="9" name="Google Shape;1819;p140">
            <a:extLst>
              <a:ext uri="{FF2B5EF4-FFF2-40B4-BE49-F238E27FC236}">
                <a16:creationId xmlns:a16="http://schemas.microsoft.com/office/drawing/2014/main" id="{70D8B6BB-5654-D6E4-2499-AB2D0C8D6137}"/>
              </a:ext>
            </a:extLst>
          </p:cNvPr>
          <p:cNvSpPr txBox="1">
            <a:spLocks noGrp="1"/>
          </p:cNvSpPr>
          <p:nvPr>
            <p:ph type="title"/>
          </p:nvPr>
        </p:nvSpPr>
        <p:spPr>
          <a:xfrm>
            <a:off x="415600" y="55919"/>
            <a:ext cx="11360800" cy="763600"/>
          </a:xfrm>
          <a:prstGeom prst="rect">
            <a:avLst/>
          </a:prstGeom>
        </p:spPr>
        <p:txBody>
          <a:bodyPr spcFirstLastPara="1" wrap="square" lIns="121900" tIns="121900" rIns="121900" bIns="121900" anchor="t" anchorCtr="0">
            <a:noAutofit/>
          </a:bodyPr>
          <a:lstStyle/>
          <a:p>
            <a:r>
              <a:rPr lang="en" sz="4400" dirty="0">
                <a:latin typeface="Aptos" panose="020B0004020202020204" pitchFamily="34" charset="0"/>
              </a:rPr>
              <a:t>Kaminsky Attack: Example</a:t>
            </a:r>
            <a:endParaRPr sz="4400" dirty="0">
              <a:latin typeface="Aptos" panose="020B0004020202020204" pitchFamily="34" charset="0"/>
            </a:endParaRPr>
          </a:p>
        </p:txBody>
      </p:sp>
    </p:spTree>
    <p:extLst>
      <p:ext uri="{BB962C8B-B14F-4D97-AF65-F5344CB8AC3E}">
        <p14:creationId xmlns:p14="http://schemas.microsoft.com/office/powerpoint/2010/main" val="27506480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Google Shape;94;p18">
            <a:extLst>
              <a:ext uri="{FF2B5EF4-FFF2-40B4-BE49-F238E27FC236}">
                <a16:creationId xmlns:a16="http://schemas.microsoft.com/office/drawing/2014/main" id="{27338096-ADE2-579F-5EE1-AEDCC622FBBF}"/>
              </a:ext>
            </a:extLst>
          </p:cNvPr>
          <p:cNvSpPr txBox="1"/>
          <p:nvPr/>
        </p:nvSpPr>
        <p:spPr>
          <a:xfrm>
            <a:off x="1086878" y="1273669"/>
            <a:ext cx="2164021" cy="58745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Courier New"/>
                <a:ea typeface="Courier New"/>
                <a:cs typeface="Courier New"/>
                <a:sym typeface="Courier New"/>
              </a:rPr>
              <a:t>Stub Resolver</a:t>
            </a:r>
            <a:endParaRPr dirty="0">
              <a:latin typeface="Calibri"/>
              <a:ea typeface="Calibri"/>
              <a:cs typeface="Calibri"/>
              <a:sym typeface="Calibri"/>
            </a:endParaRPr>
          </a:p>
        </p:txBody>
      </p:sp>
      <p:sp>
        <p:nvSpPr>
          <p:cNvPr id="20" name="Google Shape;98;p18">
            <a:extLst>
              <a:ext uri="{FF2B5EF4-FFF2-40B4-BE49-F238E27FC236}">
                <a16:creationId xmlns:a16="http://schemas.microsoft.com/office/drawing/2014/main" id="{19323B84-7D87-0BA1-EAA5-286975507BC8}"/>
              </a:ext>
            </a:extLst>
          </p:cNvPr>
          <p:cNvSpPr/>
          <p:nvPr/>
        </p:nvSpPr>
        <p:spPr>
          <a:xfrm>
            <a:off x="164860" y="2572413"/>
            <a:ext cx="4056187" cy="3701166"/>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99;p18">
            <a:extLst>
              <a:ext uri="{FF2B5EF4-FFF2-40B4-BE49-F238E27FC236}">
                <a16:creationId xmlns:a16="http://schemas.microsoft.com/office/drawing/2014/main" id="{10C1C038-9E6A-04D6-69B1-5060DB60FB3C}"/>
              </a:ext>
            </a:extLst>
          </p:cNvPr>
          <p:cNvSpPr txBox="1"/>
          <p:nvPr/>
        </p:nvSpPr>
        <p:spPr>
          <a:xfrm>
            <a:off x="248560" y="2660813"/>
            <a:ext cx="3840671" cy="508261"/>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graphicFrame>
        <p:nvGraphicFramePr>
          <p:cNvPr id="22" name="Google Shape;100;p18">
            <a:extLst>
              <a:ext uri="{FF2B5EF4-FFF2-40B4-BE49-F238E27FC236}">
                <a16:creationId xmlns:a16="http://schemas.microsoft.com/office/drawing/2014/main" id="{48D49623-2A57-A908-A06B-77B627D60BAE}"/>
              </a:ext>
            </a:extLst>
          </p:cNvPr>
          <p:cNvGraphicFramePr/>
          <p:nvPr>
            <p:extLst>
              <p:ext uri="{D42A27DB-BD31-4B8C-83A1-F6EECF244321}">
                <p14:modId xmlns:p14="http://schemas.microsoft.com/office/powerpoint/2010/main" val="57041697"/>
              </p:ext>
            </p:extLst>
          </p:nvPr>
        </p:nvGraphicFramePr>
        <p:xfrm>
          <a:off x="248586" y="3054413"/>
          <a:ext cx="3840606" cy="1732147"/>
        </p:xfrm>
        <a:graphic>
          <a:graphicData uri="http://schemas.openxmlformats.org/drawingml/2006/table">
            <a:tbl>
              <a:tblPr>
                <a:noFill/>
              </a:tblPr>
              <a:tblGrid>
                <a:gridCol w="1920303">
                  <a:extLst>
                    <a:ext uri="{9D8B030D-6E8A-4147-A177-3AD203B41FA5}">
                      <a16:colId xmlns:a16="http://schemas.microsoft.com/office/drawing/2014/main" val="20000"/>
                    </a:ext>
                  </a:extLst>
                </a:gridCol>
                <a:gridCol w="1920303">
                  <a:extLst>
                    <a:ext uri="{9D8B030D-6E8A-4147-A177-3AD203B41FA5}">
                      <a16:colId xmlns:a16="http://schemas.microsoft.com/office/drawing/2014/main" val="20001"/>
                    </a:ext>
                  </a:extLst>
                </a:gridCol>
              </a:tblGrid>
              <a:tr h="452593">
                <a:tc gridSpan="2">
                  <a:txBody>
                    <a:bodyPr/>
                    <a:lstStyle/>
                    <a:p>
                      <a:pPr marL="0" lvl="0" indent="0" algn="ctr" rtl="0">
                        <a:spcBef>
                          <a:spcPts val="0"/>
                        </a:spcBef>
                        <a:spcAft>
                          <a:spcPts val="0"/>
                        </a:spcAft>
                        <a:buNone/>
                      </a:pPr>
                      <a:r>
                        <a:rPr lang="en" sz="1100" dirty="0">
                          <a:latin typeface="Courier New"/>
                          <a:ea typeface="Courier New"/>
                          <a:cs typeface="Courier New"/>
                          <a:sym typeface="Courier New"/>
                        </a:rPr>
                        <a:t>Recursive Resolver Cache</a:t>
                      </a:r>
                      <a:endParaRPr sz="1100" dirty="0">
                        <a:latin typeface="Courier New"/>
                        <a:ea typeface="Courier New"/>
                        <a:cs typeface="Courier New"/>
                        <a:sym typeface="Courier New"/>
                      </a:endParaRPr>
                    </a:p>
                  </a:txBody>
                  <a:tcPr marL="91425" marR="91425" marT="91425" marB="91425">
                    <a:lnB w="9525" cap="flat" cmpd="sng" algn="ctr">
                      <a:solidFill>
                        <a:srgbClr val="9E9E9E"/>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0"/>
                  </a:ext>
                </a:extLst>
              </a:tr>
              <a:tr h="433160">
                <a:tc>
                  <a:txBody>
                    <a:bodyPr/>
                    <a:lstStyle/>
                    <a:p>
                      <a:pPr marL="0" lvl="0" indent="0" algn="l" rtl="0">
                        <a:lnSpc>
                          <a:spcPct val="115000"/>
                        </a:lnSpc>
                        <a:spcBef>
                          <a:spcPts val="0"/>
                        </a:spcBef>
                        <a:spcAft>
                          <a:spcPts val="0"/>
                        </a:spcAft>
                        <a:buNone/>
                      </a:pPr>
                      <a:r>
                        <a:rPr lang="en-US" sz="1100" b="1" dirty="0">
                          <a:solidFill>
                            <a:schemeClr val="dk1"/>
                          </a:solidFill>
                          <a:latin typeface="Courier New"/>
                          <a:ea typeface="Courier New"/>
                          <a:cs typeface="Courier New"/>
                          <a:sym typeface="Courier New"/>
                        </a:rPr>
                        <a:t>a.gtld-servers.net</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r>
                        <a:rPr lang="en-US" sz="1100" b="1" dirty="0">
                          <a:solidFill>
                            <a:schemeClr val="dk1"/>
                          </a:solidFill>
                          <a:latin typeface="Courier New"/>
                          <a:ea typeface="Courier New"/>
                          <a:cs typeface="Courier New"/>
                          <a:sym typeface="Courier New"/>
                        </a:rPr>
                        <a:t>192.5.6.30</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433160">
                <a:tc>
                  <a:txBody>
                    <a:bodyPr/>
                    <a:lstStyle/>
                    <a:p>
                      <a:pPr marL="0" lvl="0" indent="0" algn="l" rtl="0">
                        <a:lnSpc>
                          <a:spcPct val="115000"/>
                        </a:lnSpc>
                        <a:spcBef>
                          <a:spcPts val="0"/>
                        </a:spcBef>
                        <a:spcAft>
                          <a:spcPts val="0"/>
                        </a:spcAft>
                        <a:buNone/>
                      </a:pPr>
                      <a:endParaRPr sz="900">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endParaRPr sz="900">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413234">
                <a:tc>
                  <a:txBody>
                    <a:bodyPr/>
                    <a:lstStyle/>
                    <a:p>
                      <a:pPr marL="0" lvl="0" indent="0" algn="l" rtl="0">
                        <a:spcBef>
                          <a:spcPts val="0"/>
                        </a:spcBef>
                        <a:spcAft>
                          <a:spcPts val="0"/>
                        </a:spcAft>
                        <a:buNone/>
                      </a:pPr>
                      <a:endParaRPr sz="900"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sz="900" b="1" dirty="0">
                        <a:solidFill>
                          <a:srgbClr val="FF0000"/>
                        </a:solidFill>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bl>
          </a:graphicData>
        </a:graphic>
      </p:graphicFrame>
      <p:sp>
        <p:nvSpPr>
          <p:cNvPr id="45" name="Google Shape;134;p22">
            <a:extLst>
              <a:ext uri="{FF2B5EF4-FFF2-40B4-BE49-F238E27FC236}">
                <a16:creationId xmlns:a16="http://schemas.microsoft.com/office/drawing/2014/main" id="{448F3387-90D1-25AA-E982-9BF555E98B4F}"/>
              </a:ext>
            </a:extLst>
          </p:cNvPr>
          <p:cNvSpPr txBox="1"/>
          <p:nvPr/>
        </p:nvSpPr>
        <p:spPr>
          <a:xfrm>
            <a:off x="10360128" y="2456393"/>
            <a:ext cx="1238100" cy="3648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Courier New" panose="02070309020205020404" pitchFamily="49" charset="0"/>
                <a:ea typeface="Courier New"/>
                <a:cs typeface="Courier New" panose="02070309020205020404" pitchFamily="49" charset="0"/>
                <a:sym typeface="Courier New"/>
              </a:rPr>
              <a:t>.</a:t>
            </a:r>
            <a:r>
              <a:rPr lang="en" dirty="0">
                <a:latin typeface="Courier New" panose="02070309020205020404" pitchFamily="49" charset="0"/>
                <a:cs typeface="Courier New" panose="02070309020205020404" pitchFamily="49" charset="0"/>
              </a:rPr>
              <a:t>(root)</a:t>
            </a:r>
            <a:endParaRPr dirty="0">
              <a:latin typeface="Courier New" panose="02070309020205020404" pitchFamily="49" charset="0"/>
              <a:ea typeface="Courier New"/>
              <a:cs typeface="Courier New" panose="02070309020205020404" pitchFamily="49" charset="0"/>
              <a:sym typeface="Courier New"/>
            </a:endParaRPr>
          </a:p>
        </p:txBody>
      </p:sp>
      <p:sp>
        <p:nvSpPr>
          <p:cNvPr id="46" name="Google Shape;135;p22">
            <a:extLst>
              <a:ext uri="{FF2B5EF4-FFF2-40B4-BE49-F238E27FC236}">
                <a16:creationId xmlns:a16="http://schemas.microsoft.com/office/drawing/2014/main" id="{263AA768-2073-CAA1-0D3F-4FB15ADCC058}"/>
              </a:ext>
            </a:extLst>
          </p:cNvPr>
          <p:cNvSpPr txBox="1"/>
          <p:nvPr/>
        </p:nvSpPr>
        <p:spPr>
          <a:xfrm>
            <a:off x="10721787" y="3468893"/>
            <a:ext cx="73152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Courier New"/>
                <a:ea typeface="Courier New"/>
                <a:cs typeface="Courier New"/>
                <a:sym typeface="Courier New"/>
              </a:rPr>
              <a:t>.com</a:t>
            </a:r>
            <a:endParaRPr>
              <a:latin typeface="Calibri"/>
              <a:ea typeface="Calibri"/>
              <a:cs typeface="Calibri"/>
              <a:sym typeface="Calibri"/>
            </a:endParaRPr>
          </a:p>
        </p:txBody>
      </p:sp>
      <p:sp>
        <p:nvSpPr>
          <p:cNvPr id="47" name="Google Shape;136;p22">
            <a:extLst>
              <a:ext uri="{FF2B5EF4-FFF2-40B4-BE49-F238E27FC236}">
                <a16:creationId xmlns:a16="http://schemas.microsoft.com/office/drawing/2014/main" id="{2CDEAC51-B9BF-917D-9B18-E3E86C651A2A}"/>
              </a:ext>
            </a:extLst>
          </p:cNvPr>
          <p:cNvSpPr txBox="1"/>
          <p:nvPr/>
        </p:nvSpPr>
        <p:spPr>
          <a:xfrm>
            <a:off x="10391165" y="4392960"/>
            <a:ext cx="1385235"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400" dirty="0">
                <a:latin typeface="Courier New"/>
                <a:ea typeface="Courier New"/>
                <a:cs typeface="Courier New"/>
                <a:sym typeface="Courier New"/>
              </a:rPr>
              <a:t>google.com</a:t>
            </a:r>
            <a:endParaRPr sz="1400" dirty="0">
              <a:latin typeface="Calibri"/>
              <a:ea typeface="Calibri"/>
              <a:cs typeface="Calibri"/>
              <a:sym typeface="Calibri"/>
            </a:endParaRPr>
          </a:p>
        </p:txBody>
      </p:sp>
      <p:cxnSp>
        <p:nvCxnSpPr>
          <p:cNvPr id="48" name="Google Shape;137;p22">
            <a:extLst>
              <a:ext uri="{FF2B5EF4-FFF2-40B4-BE49-F238E27FC236}">
                <a16:creationId xmlns:a16="http://schemas.microsoft.com/office/drawing/2014/main" id="{ED88BD28-FFDE-6C5F-BF7B-6DC37181AC9F}"/>
              </a:ext>
            </a:extLst>
          </p:cNvPr>
          <p:cNvCxnSpPr>
            <a:cxnSpLocks/>
          </p:cNvCxnSpPr>
          <p:nvPr/>
        </p:nvCxnSpPr>
        <p:spPr>
          <a:xfrm>
            <a:off x="11081081" y="2814897"/>
            <a:ext cx="0" cy="653996"/>
          </a:xfrm>
          <a:prstGeom prst="straightConnector1">
            <a:avLst/>
          </a:prstGeom>
          <a:noFill/>
          <a:ln w="9525" cap="flat" cmpd="sng">
            <a:solidFill>
              <a:srgbClr val="000000"/>
            </a:solidFill>
            <a:prstDash val="solid"/>
            <a:round/>
            <a:headEnd type="none" w="med" len="med"/>
            <a:tailEnd type="none" w="med" len="med"/>
          </a:ln>
        </p:spPr>
      </p:cxnSp>
      <p:cxnSp>
        <p:nvCxnSpPr>
          <p:cNvPr id="49" name="Google Shape;138;p22">
            <a:extLst>
              <a:ext uri="{FF2B5EF4-FFF2-40B4-BE49-F238E27FC236}">
                <a16:creationId xmlns:a16="http://schemas.microsoft.com/office/drawing/2014/main" id="{E1BD3C6E-22E3-710C-5A2F-210A7F88EA9F}"/>
              </a:ext>
            </a:extLst>
          </p:cNvPr>
          <p:cNvCxnSpPr>
            <a:cxnSpLocks/>
          </p:cNvCxnSpPr>
          <p:nvPr/>
        </p:nvCxnSpPr>
        <p:spPr>
          <a:xfrm>
            <a:off x="11081081" y="3862493"/>
            <a:ext cx="0" cy="516831"/>
          </a:xfrm>
          <a:prstGeom prst="straightConnector1">
            <a:avLst/>
          </a:prstGeom>
          <a:noFill/>
          <a:ln w="9525" cap="flat" cmpd="sng">
            <a:solidFill>
              <a:srgbClr val="000000"/>
            </a:solidFill>
            <a:prstDash val="solid"/>
            <a:round/>
            <a:headEnd type="none" w="med" len="med"/>
            <a:tailEnd type="none" w="med" len="med"/>
          </a:ln>
        </p:spPr>
      </p:cxnSp>
      <p:grpSp>
        <p:nvGrpSpPr>
          <p:cNvPr id="2" name="Google Shape;112;p19">
            <a:extLst>
              <a:ext uri="{FF2B5EF4-FFF2-40B4-BE49-F238E27FC236}">
                <a16:creationId xmlns:a16="http://schemas.microsoft.com/office/drawing/2014/main" id="{841FC229-967F-039A-FFC0-FF5C182A4E14}"/>
              </a:ext>
            </a:extLst>
          </p:cNvPr>
          <p:cNvGrpSpPr/>
          <p:nvPr/>
        </p:nvGrpSpPr>
        <p:grpSpPr>
          <a:xfrm>
            <a:off x="1400223" y="1930411"/>
            <a:ext cx="410100" cy="572709"/>
            <a:chOff x="258935" y="2049228"/>
            <a:chExt cx="410100" cy="762900"/>
          </a:xfrm>
        </p:grpSpPr>
        <p:sp>
          <p:nvSpPr>
            <p:cNvPr id="3" name="Google Shape;113;p19">
              <a:extLst>
                <a:ext uri="{FF2B5EF4-FFF2-40B4-BE49-F238E27FC236}">
                  <a16:creationId xmlns:a16="http://schemas.microsoft.com/office/drawing/2014/main" id="{3E0EF041-38F2-2F8B-A5CE-F2D53C55BF62}"/>
                </a:ext>
              </a:extLst>
            </p:cNvPr>
            <p:cNvSpPr txBox="1"/>
            <p:nvPr/>
          </p:nvSpPr>
          <p:spPr>
            <a:xfrm>
              <a:off x="258935" y="2174852"/>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1</a:t>
              </a:r>
              <a:endParaRPr dirty="0">
                <a:latin typeface="Calibri"/>
                <a:ea typeface="Calibri"/>
                <a:cs typeface="Calibri"/>
                <a:sym typeface="Calibri"/>
              </a:endParaRPr>
            </a:p>
          </p:txBody>
        </p:sp>
        <p:cxnSp>
          <p:nvCxnSpPr>
            <p:cNvPr id="5" name="Google Shape;114;p19">
              <a:extLst>
                <a:ext uri="{FF2B5EF4-FFF2-40B4-BE49-F238E27FC236}">
                  <a16:creationId xmlns:a16="http://schemas.microsoft.com/office/drawing/2014/main" id="{0C4C7EAF-C9DB-4261-3BED-631D9168B522}"/>
                </a:ext>
              </a:extLst>
            </p:cNvPr>
            <p:cNvCxnSpPr/>
            <p:nvPr/>
          </p:nvCxnSpPr>
          <p:spPr>
            <a:xfrm rot="10800000">
              <a:off x="530725" y="2049228"/>
              <a:ext cx="0" cy="762900"/>
            </a:xfrm>
            <a:prstGeom prst="straightConnector1">
              <a:avLst/>
            </a:prstGeom>
            <a:noFill/>
            <a:ln w="19050" cap="flat" cmpd="sng">
              <a:solidFill>
                <a:srgbClr val="000000"/>
              </a:solidFill>
              <a:prstDash val="solid"/>
              <a:round/>
              <a:headEnd type="triangle" w="med" len="med"/>
              <a:tailEnd type="none" w="med" len="med"/>
            </a:ln>
          </p:spPr>
        </p:cxnSp>
      </p:grpSp>
      <p:cxnSp>
        <p:nvCxnSpPr>
          <p:cNvPr id="8" name="Google Shape;137;p20">
            <a:extLst>
              <a:ext uri="{FF2B5EF4-FFF2-40B4-BE49-F238E27FC236}">
                <a16:creationId xmlns:a16="http://schemas.microsoft.com/office/drawing/2014/main" id="{4EBBC3CC-96CB-BB92-04F3-0986450E3E9D}"/>
              </a:ext>
            </a:extLst>
          </p:cNvPr>
          <p:cNvCxnSpPr>
            <a:cxnSpLocks/>
          </p:cNvCxnSpPr>
          <p:nvPr/>
        </p:nvCxnSpPr>
        <p:spPr>
          <a:xfrm>
            <a:off x="4304773" y="3678978"/>
            <a:ext cx="6404083" cy="0"/>
          </a:xfrm>
          <a:prstGeom prst="straightConnector1">
            <a:avLst/>
          </a:prstGeom>
          <a:noFill/>
          <a:ln w="19050" cap="flat" cmpd="sng">
            <a:solidFill>
              <a:srgbClr val="000000"/>
            </a:solidFill>
            <a:prstDash val="solid"/>
            <a:round/>
            <a:headEnd type="none" w="med" len="med"/>
            <a:tailEnd type="triangle" w="med" len="med"/>
          </a:ln>
        </p:spPr>
      </p:cxnSp>
      <p:sp>
        <p:nvSpPr>
          <p:cNvPr id="9" name="Google Shape;138;p20">
            <a:extLst>
              <a:ext uri="{FF2B5EF4-FFF2-40B4-BE49-F238E27FC236}">
                <a16:creationId xmlns:a16="http://schemas.microsoft.com/office/drawing/2014/main" id="{803496C4-5AF5-7260-8066-56D2068C964E}"/>
              </a:ext>
            </a:extLst>
          </p:cNvPr>
          <p:cNvSpPr txBox="1"/>
          <p:nvPr/>
        </p:nvSpPr>
        <p:spPr>
          <a:xfrm>
            <a:off x="4511077" y="3742244"/>
            <a:ext cx="4683576" cy="587450"/>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400" dirty="0"/>
              <a:t>“What is the IP address of </a:t>
            </a:r>
            <a:r>
              <a:rPr lang="en" sz="1400" b="1" dirty="0">
                <a:solidFill>
                  <a:schemeClr val="dk1"/>
                </a:solidFill>
                <a:latin typeface="Courier New"/>
                <a:ea typeface="Courier New"/>
                <a:cs typeface="Courier New"/>
                <a:sym typeface="Courier New"/>
              </a:rPr>
              <a:t>fake_photo1.google.com</a:t>
            </a:r>
            <a:r>
              <a:rPr lang="en" sz="1400" dirty="0"/>
              <a:t>? This request has ID 972.”</a:t>
            </a:r>
            <a:endParaRPr sz="1400" dirty="0"/>
          </a:p>
        </p:txBody>
      </p:sp>
      <p:sp>
        <p:nvSpPr>
          <p:cNvPr id="11" name="Google Shape;462;p34">
            <a:extLst>
              <a:ext uri="{FF2B5EF4-FFF2-40B4-BE49-F238E27FC236}">
                <a16:creationId xmlns:a16="http://schemas.microsoft.com/office/drawing/2014/main" id="{D6E5E8A9-AEA6-80C0-0176-1DD15FA8AED5}"/>
              </a:ext>
            </a:extLst>
          </p:cNvPr>
          <p:cNvSpPr txBox="1"/>
          <p:nvPr/>
        </p:nvSpPr>
        <p:spPr>
          <a:xfrm>
            <a:off x="6690956" y="3282378"/>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4</a:t>
            </a:r>
            <a:endParaRPr dirty="0">
              <a:latin typeface="Calibri"/>
              <a:ea typeface="Calibri"/>
              <a:cs typeface="Calibri"/>
              <a:sym typeface="Calibri"/>
            </a:endParaRPr>
          </a:p>
        </p:txBody>
      </p:sp>
      <p:sp>
        <p:nvSpPr>
          <p:cNvPr id="7" name="Google Shape;462;p34">
            <a:extLst>
              <a:ext uri="{FF2B5EF4-FFF2-40B4-BE49-F238E27FC236}">
                <a16:creationId xmlns:a16="http://schemas.microsoft.com/office/drawing/2014/main" id="{FF787ACD-9855-3C78-220E-7F8BE64A938C}"/>
              </a:ext>
            </a:extLst>
          </p:cNvPr>
          <p:cNvSpPr txBox="1"/>
          <p:nvPr/>
        </p:nvSpPr>
        <p:spPr>
          <a:xfrm>
            <a:off x="7917176" y="2819729"/>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3</a:t>
            </a:r>
          </a:p>
        </p:txBody>
      </p:sp>
      <p:cxnSp>
        <p:nvCxnSpPr>
          <p:cNvPr id="10" name="Google Shape;168;p21">
            <a:extLst>
              <a:ext uri="{FF2B5EF4-FFF2-40B4-BE49-F238E27FC236}">
                <a16:creationId xmlns:a16="http://schemas.microsoft.com/office/drawing/2014/main" id="{144D6287-9EB8-03A6-F245-18F166DF710E}"/>
              </a:ext>
            </a:extLst>
          </p:cNvPr>
          <p:cNvCxnSpPr>
            <a:cxnSpLocks/>
          </p:cNvCxnSpPr>
          <p:nvPr/>
        </p:nvCxnSpPr>
        <p:spPr>
          <a:xfrm flipV="1">
            <a:off x="4197894" y="2638793"/>
            <a:ext cx="6162234" cy="641955"/>
          </a:xfrm>
          <a:prstGeom prst="straightConnector1">
            <a:avLst/>
          </a:prstGeom>
          <a:noFill/>
          <a:ln w="19050" cap="flat" cmpd="sng">
            <a:solidFill>
              <a:srgbClr val="000000"/>
            </a:solidFill>
            <a:prstDash val="solid"/>
            <a:round/>
            <a:headEnd type="triangle" w="med" len="med"/>
            <a:tailEnd type="none" w="med" len="med"/>
          </a:ln>
        </p:spPr>
      </p:cxnSp>
      <p:sp>
        <p:nvSpPr>
          <p:cNvPr id="12" name="Google Shape;462;p34">
            <a:extLst>
              <a:ext uri="{FF2B5EF4-FFF2-40B4-BE49-F238E27FC236}">
                <a16:creationId xmlns:a16="http://schemas.microsoft.com/office/drawing/2014/main" id="{BE46EFAC-C90F-C6F5-DC6C-AB39021763D0}"/>
              </a:ext>
            </a:extLst>
          </p:cNvPr>
          <p:cNvSpPr txBox="1"/>
          <p:nvPr/>
        </p:nvSpPr>
        <p:spPr>
          <a:xfrm>
            <a:off x="7035914" y="2396951"/>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2a</a:t>
            </a:r>
            <a:endParaRPr dirty="0">
              <a:latin typeface="Calibri"/>
              <a:ea typeface="Calibri"/>
              <a:cs typeface="Calibri"/>
              <a:sym typeface="Calibri"/>
            </a:endParaRPr>
          </a:p>
        </p:txBody>
      </p:sp>
      <p:cxnSp>
        <p:nvCxnSpPr>
          <p:cNvPr id="13" name="Google Shape;137;p20">
            <a:extLst>
              <a:ext uri="{FF2B5EF4-FFF2-40B4-BE49-F238E27FC236}">
                <a16:creationId xmlns:a16="http://schemas.microsoft.com/office/drawing/2014/main" id="{E22FB6A2-5AFD-67B7-DE5D-C106544A3133}"/>
              </a:ext>
            </a:extLst>
          </p:cNvPr>
          <p:cNvCxnSpPr>
            <a:cxnSpLocks/>
          </p:cNvCxnSpPr>
          <p:nvPr/>
        </p:nvCxnSpPr>
        <p:spPr>
          <a:xfrm flipV="1">
            <a:off x="4329710" y="2451320"/>
            <a:ext cx="6030418" cy="665024"/>
          </a:xfrm>
          <a:prstGeom prst="straightConnector1">
            <a:avLst/>
          </a:prstGeom>
          <a:noFill/>
          <a:ln w="19050" cap="flat" cmpd="sng">
            <a:solidFill>
              <a:srgbClr val="000000"/>
            </a:solidFill>
            <a:prstDash val="solid"/>
            <a:round/>
            <a:headEnd type="none" w="med" len="med"/>
            <a:tailEnd type="triangle" w="med" len="med"/>
          </a:ln>
        </p:spPr>
      </p:cxnSp>
      <p:sp>
        <p:nvSpPr>
          <p:cNvPr id="15" name="Google Shape;1819;p140">
            <a:extLst>
              <a:ext uri="{FF2B5EF4-FFF2-40B4-BE49-F238E27FC236}">
                <a16:creationId xmlns:a16="http://schemas.microsoft.com/office/drawing/2014/main" id="{4EC415AF-CF60-EACB-6C55-A4B3AB3AF2F1}"/>
              </a:ext>
            </a:extLst>
          </p:cNvPr>
          <p:cNvSpPr txBox="1">
            <a:spLocks noGrp="1"/>
          </p:cNvSpPr>
          <p:nvPr>
            <p:ph type="title"/>
          </p:nvPr>
        </p:nvSpPr>
        <p:spPr>
          <a:xfrm>
            <a:off x="415600" y="55919"/>
            <a:ext cx="11360800" cy="763600"/>
          </a:xfrm>
          <a:prstGeom prst="rect">
            <a:avLst/>
          </a:prstGeom>
        </p:spPr>
        <p:txBody>
          <a:bodyPr spcFirstLastPara="1" wrap="square" lIns="121900" tIns="121900" rIns="121900" bIns="121900" anchor="t" anchorCtr="0">
            <a:noAutofit/>
          </a:bodyPr>
          <a:lstStyle/>
          <a:p>
            <a:r>
              <a:rPr lang="en" sz="4400" dirty="0">
                <a:latin typeface="Aptos" panose="020B0004020202020204" pitchFamily="34" charset="0"/>
              </a:rPr>
              <a:t>Kaminsky Attack: Example</a:t>
            </a:r>
            <a:endParaRPr sz="4400" dirty="0">
              <a:latin typeface="Aptos" panose="020B0004020202020204" pitchFamily="34" charset="0"/>
            </a:endParaRPr>
          </a:p>
        </p:txBody>
      </p:sp>
    </p:spTree>
    <p:extLst>
      <p:ext uri="{BB962C8B-B14F-4D97-AF65-F5344CB8AC3E}">
        <p14:creationId xmlns:p14="http://schemas.microsoft.com/office/powerpoint/2010/main" val="37875105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Google Shape;94;p18">
            <a:extLst>
              <a:ext uri="{FF2B5EF4-FFF2-40B4-BE49-F238E27FC236}">
                <a16:creationId xmlns:a16="http://schemas.microsoft.com/office/drawing/2014/main" id="{27338096-ADE2-579F-5EE1-AEDCC622FBBF}"/>
              </a:ext>
            </a:extLst>
          </p:cNvPr>
          <p:cNvSpPr txBox="1"/>
          <p:nvPr/>
        </p:nvSpPr>
        <p:spPr>
          <a:xfrm>
            <a:off x="1086878" y="1273669"/>
            <a:ext cx="2164021" cy="58745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Courier New"/>
                <a:ea typeface="Courier New"/>
                <a:cs typeface="Courier New"/>
                <a:sym typeface="Courier New"/>
              </a:rPr>
              <a:t>Stub Resolver</a:t>
            </a:r>
            <a:endParaRPr dirty="0">
              <a:latin typeface="Calibri"/>
              <a:ea typeface="Calibri"/>
              <a:cs typeface="Calibri"/>
              <a:sym typeface="Calibri"/>
            </a:endParaRPr>
          </a:p>
        </p:txBody>
      </p:sp>
      <p:sp>
        <p:nvSpPr>
          <p:cNvPr id="20" name="Google Shape;98;p18">
            <a:extLst>
              <a:ext uri="{FF2B5EF4-FFF2-40B4-BE49-F238E27FC236}">
                <a16:creationId xmlns:a16="http://schemas.microsoft.com/office/drawing/2014/main" id="{19323B84-7D87-0BA1-EAA5-286975507BC8}"/>
              </a:ext>
            </a:extLst>
          </p:cNvPr>
          <p:cNvSpPr/>
          <p:nvPr/>
        </p:nvSpPr>
        <p:spPr>
          <a:xfrm>
            <a:off x="164860" y="2572413"/>
            <a:ext cx="4056187" cy="3701166"/>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99;p18">
            <a:extLst>
              <a:ext uri="{FF2B5EF4-FFF2-40B4-BE49-F238E27FC236}">
                <a16:creationId xmlns:a16="http://schemas.microsoft.com/office/drawing/2014/main" id="{10C1C038-9E6A-04D6-69B1-5060DB60FB3C}"/>
              </a:ext>
            </a:extLst>
          </p:cNvPr>
          <p:cNvSpPr txBox="1"/>
          <p:nvPr/>
        </p:nvSpPr>
        <p:spPr>
          <a:xfrm>
            <a:off x="248560" y="2660813"/>
            <a:ext cx="3840671" cy="508261"/>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graphicFrame>
        <p:nvGraphicFramePr>
          <p:cNvPr id="22" name="Google Shape;100;p18">
            <a:extLst>
              <a:ext uri="{FF2B5EF4-FFF2-40B4-BE49-F238E27FC236}">
                <a16:creationId xmlns:a16="http://schemas.microsoft.com/office/drawing/2014/main" id="{48D49623-2A57-A908-A06B-77B627D60BAE}"/>
              </a:ext>
            </a:extLst>
          </p:cNvPr>
          <p:cNvGraphicFramePr/>
          <p:nvPr>
            <p:extLst>
              <p:ext uri="{D42A27DB-BD31-4B8C-83A1-F6EECF244321}">
                <p14:modId xmlns:p14="http://schemas.microsoft.com/office/powerpoint/2010/main" val="227649904"/>
              </p:ext>
            </p:extLst>
          </p:nvPr>
        </p:nvGraphicFramePr>
        <p:xfrm>
          <a:off x="248586" y="3054413"/>
          <a:ext cx="3840606" cy="1732147"/>
        </p:xfrm>
        <a:graphic>
          <a:graphicData uri="http://schemas.openxmlformats.org/drawingml/2006/table">
            <a:tbl>
              <a:tblPr>
                <a:noFill/>
              </a:tblPr>
              <a:tblGrid>
                <a:gridCol w="1920303">
                  <a:extLst>
                    <a:ext uri="{9D8B030D-6E8A-4147-A177-3AD203B41FA5}">
                      <a16:colId xmlns:a16="http://schemas.microsoft.com/office/drawing/2014/main" val="20000"/>
                    </a:ext>
                  </a:extLst>
                </a:gridCol>
                <a:gridCol w="1920303">
                  <a:extLst>
                    <a:ext uri="{9D8B030D-6E8A-4147-A177-3AD203B41FA5}">
                      <a16:colId xmlns:a16="http://schemas.microsoft.com/office/drawing/2014/main" val="20001"/>
                    </a:ext>
                  </a:extLst>
                </a:gridCol>
              </a:tblGrid>
              <a:tr h="452593">
                <a:tc gridSpan="2">
                  <a:txBody>
                    <a:bodyPr/>
                    <a:lstStyle/>
                    <a:p>
                      <a:pPr marL="0" lvl="0" indent="0" algn="ctr" rtl="0">
                        <a:spcBef>
                          <a:spcPts val="0"/>
                        </a:spcBef>
                        <a:spcAft>
                          <a:spcPts val="0"/>
                        </a:spcAft>
                        <a:buNone/>
                      </a:pPr>
                      <a:r>
                        <a:rPr lang="en" sz="1100" dirty="0">
                          <a:latin typeface="Courier New"/>
                          <a:ea typeface="Courier New"/>
                          <a:cs typeface="Courier New"/>
                          <a:sym typeface="Courier New"/>
                        </a:rPr>
                        <a:t>Recursive Resolver Cache</a:t>
                      </a:r>
                      <a:endParaRPr sz="1100" dirty="0">
                        <a:latin typeface="Courier New"/>
                        <a:ea typeface="Courier New"/>
                        <a:cs typeface="Courier New"/>
                        <a:sym typeface="Courier New"/>
                      </a:endParaRPr>
                    </a:p>
                  </a:txBody>
                  <a:tcPr marL="91425" marR="91425" marT="91425" marB="91425">
                    <a:lnB w="9525" cap="flat" cmpd="sng" algn="ctr">
                      <a:solidFill>
                        <a:srgbClr val="9E9E9E"/>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0"/>
                  </a:ext>
                </a:extLst>
              </a:tr>
              <a:tr h="433160">
                <a:tc>
                  <a:txBody>
                    <a:bodyPr/>
                    <a:lstStyle/>
                    <a:p>
                      <a:pPr marL="0" lvl="0" indent="0" algn="l" rtl="0">
                        <a:lnSpc>
                          <a:spcPct val="115000"/>
                        </a:lnSpc>
                        <a:spcBef>
                          <a:spcPts val="0"/>
                        </a:spcBef>
                        <a:spcAft>
                          <a:spcPts val="0"/>
                        </a:spcAft>
                        <a:buNone/>
                      </a:pPr>
                      <a:r>
                        <a:rPr lang="en-US" sz="1100" b="1" dirty="0">
                          <a:solidFill>
                            <a:schemeClr val="dk1"/>
                          </a:solidFill>
                          <a:latin typeface="Courier New"/>
                          <a:ea typeface="Courier New"/>
                          <a:cs typeface="Courier New"/>
                          <a:sym typeface="Courier New"/>
                        </a:rPr>
                        <a:t>a.gtld-servers.net</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r>
                        <a:rPr lang="en-US" sz="1100" b="1" dirty="0">
                          <a:solidFill>
                            <a:schemeClr val="dk1"/>
                          </a:solidFill>
                          <a:latin typeface="Courier New"/>
                          <a:ea typeface="Courier New"/>
                          <a:cs typeface="Courier New"/>
                          <a:sym typeface="Courier New"/>
                        </a:rPr>
                        <a:t>192.5.6.30</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433160">
                <a:tc>
                  <a:txBody>
                    <a:bodyPr/>
                    <a:lstStyle/>
                    <a:p>
                      <a:pPr marL="0" marR="0" lvl="0" indent="0" algn="l" rtl="0">
                        <a:lnSpc>
                          <a:spcPct val="115000"/>
                        </a:lnSpc>
                        <a:spcBef>
                          <a:spcPts val="0"/>
                        </a:spcBef>
                        <a:spcAft>
                          <a:spcPts val="0"/>
                        </a:spcAft>
                        <a:buClr>
                          <a:srgbClr val="000000"/>
                        </a:buClr>
                        <a:buFont typeface="Arial"/>
                        <a:buNone/>
                      </a:pPr>
                      <a:r>
                        <a:rPr lang="en-US" sz="1100" b="1" i="0" u="none" strike="noStrike" cap="none" dirty="0">
                          <a:solidFill>
                            <a:schemeClr val="dk1"/>
                          </a:solidFill>
                          <a:latin typeface="Courier New"/>
                          <a:ea typeface="Courier New"/>
                          <a:cs typeface="Courier New"/>
                          <a:sym typeface="Courier New"/>
                        </a:rPr>
                        <a:t>ns1.google.com</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marR="0" lvl="0" indent="0" algn="l" rtl="0">
                        <a:lnSpc>
                          <a:spcPct val="115000"/>
                        </a:lnSpc>
                        <a:spcBef>
                          <a:spcPts val="0"/>
                        </a:spcBef>
                        <a:spcAft>
                          <a:spcPts val="0"/>
                        </a:spcAft>
                        <a:buClr>
                          <a:srgbClr val="000000"/>
                        </a:buClr>
                        <a:buFont typeface="Arial"/>
                        <a:buNone/>
                      </a:pPr>
                      <a:r>
                        <a:rPr lang="en-US" sz="1100" b="1" i="0" u="none" strike="noStrike" cap="none" dirty="0">
                          <a:solidFill>
                            <a:schemeClr val="dk1"/>
                          </a:solidFill>
                          <a:latin typeface="Courier New"/>
                          <a:ea typeface="Courier New"/>
                          <a:cs typeface="Courier New"/>
                          <a:sym typeface="Courier New"/>
                        </a:rPr>
                        <a:t>216.239.32.10</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413234">
                <a:tc>
                  <a:txBody>
                    <a:bodyPr/>
                    <a:lstStyle/>
                    <a:p>
                      <a:pPr marL="0" lvl="0" indent="0" algn="l" rtl="0">
                        <a:spcBef>
                          <a:spcPts val="0"/>
                        </a:spcBef>
                        <a:spcAft>
                          <a:spcPts val="0"/>
                        </a:spcAft>
                        <a:buNone/>
                      </a:pPr>
                      <a:endParaRPr sz="900"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sz="900" b="1" dirty="0">
                        <a:solidFill>
                          <a:srgbClr val="FF0000"/>
                        </a:solidFill>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bl>
          </a:graphicData>
        </a:graphic>
      </p:graphicFrame>
      <p:sp>
        <p:nvSpPr>
          <p:cNvPr id="45" name="Google Shape;134;p22">
            <a:extLst>
              <a:ext uri="{FF2B5EF4-FFF2-40B4-BE49-F238E27FC236}">
                <a16:creationId xmlns:a16="http://schemas.microsoft.com/office/drawing/2014/main" id="{448F3387-90D1-25AA-E982-9BF555E98B4F}"/>
              </a:ext>
            </a:extLst>
          </p:cNvPr>
          <p:cNvSpPr txBox="1"/>
          <p:nvPr/>
        </p:nvSpPr>
        <p:spPr>
          <a:xfrm>
            <a:off x="10360128" y="2456393"/>
            <a:ext cx="1238100" cy="3648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Courier New" panose="02070309020205020404" pitchFamily="49" charset="0"/>
                <a:ea typeface="Courier New"/>
                <a:cs typeface="Courier New" panose="02070309020205020404" pitchFamily="49" charset="0"/>
                <a:sym typeface="Courier New"/>
              </a:rPr>
              <a:t>.</a:t>
            </a:r>
            <a:r>
              <a:rPr lang="en" dirty="0">
                <a:latin typeface="Courier New" panose="02070309020205020404" pitchFamily="49" charset="0"/>
                <a:cs typeface="Courier New" panose="02070309020205020404" pitchFamily="49" charset="0"/>
              </a:rPr>
              <a:t>(root)</a:t>
            </a:r>
            <a:endParaRPr dirty="0">
              <a:latin typeface="Courier New" panose="02070309020205020404" pitchFamily="49" charset="0"/>
              <a:ea typeface="Courier New"/>
              <a:cs typeface="Courier New" panose="02070309020205020404" pitchFamily="49" charset="0"/>
              <a:sym typeface="Courier New"/>
            </a:endParaRPr>
          </a:p>
        </p:txBody>
      </p:sp>
      <p:sp>
        <p:nvSpPr>
          <p:cNvPr id="46" name="Google Shape;135;p22">
            <a:extLst>
              <a:ext uri="{FF2B5EF4-FFF2-40B4-BE49-F238E27FC236}">
                <a16:creationId xmlns:a16="http://schemas.microsoft.com/office/drawing/2014/main" id="{263AA768-2073-CAA1-0D3F-4FB15ADCC058}"/>
              </a:ext>
            </a:extLst>
          </p:cNvPr>
          <p:cNvSpPr txBox="1"/>
          <p:nvPr/>
        </p:nvSpPr>
        <p:spPr>
          <a:xfrm>
            <a:off x="10721787" y="3468893"/>
            <a:ext cx="73152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Courier New"/>
                <a:ea typeface="Courier New"/>
                <a:cs typeface="Courier New"/>
                <a:sym typeface="Courier New"/>
              </a:rPr>
              <a:t>.com</a:t>
            </a:r>
            <a:endParaRPr>
              <a:latin typeface="Calibri"/>
              <a:ea typeface="Calibri"/>
              <a:cs typeface="Calibri"/>
              <a:sym typeface="Calibri"/>
            </a:endParaRPr>
          </a:p>
        </p:txBody>
      </p:sp>
      <p:sp>
        <p:nvSpPr>
          <p:cNvPr id="47" name="Google Shape;136;p22">
            <a:extLst>
              <a:ext uri="{FF2B5EF4-FFF2-40B4-BE49-F238E27FC236}">
                <a16:creationId xmlns:a16="http://schemas.microsoft.com/office/drawing/2014/main" id="{2CDEAC51-B9BF-917D-9B18-E3E86C651A2A}"/>
              </a:ext>
            </a:extLst>
          </p:cNvPr>
          <p:cNvSpPr txBox="1"/>
          <p:nvPr/>
        </p:nvSpPr>
        <p:spPr>
          <a:xfrm>
            <a:off x="10391165" y="4392960"/>
            <a:ext cx="1385235"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400" dirty="0">
                <a:latin typeface="Courier New"/>
                <a:ea typeface="Courier New"/>
                <a:cs typeface="Courier New"/>
                <a:sym typeface="Courier New"/>
              </a:rPr>
              <a:t>google.com</a:t>
            </a:r>
            <a:endParaRPr sz="1400" dirty="0">
              <a:latin typeface="Calibri"/>
              <a:ea typeface="Calibri"/>
              <a:cs typeface="Calibri"/>
              <a:sym typeface="Calibri"/>
            </a:endParaRPr>
          </a:p>
        </p:txBody>
      </p:sp>
      <p:cxnSp>
        <p:nvCxnSpPr>
          <p:cNvPr id="48" name="Google Shape;137;p22">
            <a:extLst>
              <a:ext uri="{FF2B5EF4-FFF2-40B4-BE49-F238E27FC236}">
                <a16:creationId xmlns:a16="http://schemas.microsoft.com/office/drawing/2014/main" id="{ED88BD28-FFDE-6C5F-BF7B-6DC37181AC9F}"/>
              </a:ext>
            </a:extLst>
          </p:cNvPr>
          <p:cNvCxnSpPr>
            <a:cxnSpLocks/>
          </p:cNvCxnSpPr>
          <p:nvPr/>
        </p:nvCxnSpPr>
        <p:spPr>
          <a:xfrm>
            <a:off x="11081081" y="2814897"/>
            <a:ext cx="0" cy="653996"/>
          </a:xfrm>
          <a:prstGeom prst="straightConnector1">
            <a:avLst/>
          </a:prstGeom>
          <a:noFill/>
          <a:ln w="9525" cap="flat" cmpd="sng">
            <a:solidFill>
              <a:srgbClr val="000000"/>
            </a:solidFill>
            <a:prstDash val="solid"/>
            <a:round/>
            <a:headEnd type="none" w="med" len="med"/>
            <a:tailEnd type="none" w="med" len="med"/>
          </a:ln>
        </p:spPr>
      </p:cxnSp>
      <p:cxnSp>
        <p:nvCxnSpPr>
          <p:cNvPr id="49" name="Google Shape;138;p22">
            <a:extLst>
              <a:ext uri="{FF2B5EF4-FFF2-40B4-BE49-F238E27FC236}">
                <a16:creationId xmlns:a16="http://schemas.microsoft.com/office/drawing/2014/main" id="{E1BD3C6E-22E3-710C-5A2F-210A7F88EA9F}"/>
              </a:ext>
            </a:extLst>
          </p:cNvPr>
          <p:cNvCxnSpPr>
            <a:cxnSpLocks/>
          </p:cNvCxnSpPr>
          <p:nvPr/>
        </p:nvCxnSpPr>
        <p:spPr>
          <a:xfrm>
            <a:off x="11081081" y="3862493"/>
            <a:ext cx="0" cy="516831"/>
          </a:xfrm>
          <a:prstGeom prst="straightConnector1">
            <a:avLst/>
          </a:prstGeom>
          <a:noFill/>
          <a:ln w="9525" cap="flat" cmpd="sng">
            <a:solidFill>
              <a:srgbClr val="000000"/>
            </a:solidFill>
            <a:prstDash val="solid"/>
            <a:round/>
            <a:headEnd type="none" w="med" len="med"/>
            <a:tailEnd type="none" w="med" len="med"/>
          </a:ln>
        </p:spPr>
      </p:cxnSp>
      <p:grpSp>
        <p:nvGrpSpPr>
          <p:cNvPr id="2" name="Google Shape;112;p19">
            <a:extLst>
              <a:ext uri="{FF2B5EF4-FFF2-40B4-BE49-F238E27FC236}">
                <a16:creationId xmlns:a16="http://schemas.microsoft.com/office/drawing/2014/main" id="{841FC229-967F-039A-FFC0-FF5C182A4E14}"/>
              </a:ext>
            </a:extLst>
          </p:cNvPr>
          <p:cNvGrpSpPr/>
          <p:nvPr/>
        </p:nvGrpSpPr>
        <p:grpSpPr>
          <a:xfrm>
            <a:off x="1400223" y="1930411"/>
            <a:ext cx="410100" cy="572709"/>
            <a:chOff x="258935" y="2049228"/>
            <a:chExt cx="410100" cy="762900"/>
          </a:xfrm>
        </p:grpSpPr>
        <p:sp>
          <p:nvSpPr>
            <p:cNvPr id="3" name="Google Shape;113;p19">
              <a:extLst>
                <a:ext uri="{FF2B5EF4-FFF2-40B4-BE49-F238E27FC236}">
                  <a16:creationId xmlns:a16="http://schemas.microsoft.com/office/drawing/2014/main" id="{3E0EF041-38F2-2F8B-A5CE-F2D53C55BF62}"/>
                </a:ext>
              </a:extLst>
            </p:cNvPr>
            <p:cNvSpPr txBox="1"/>
            <p:nvPr/>
          </p:nvSpPr>
          <p:spPr>
            <a:xfrm>
              <a:off x="258935" y="2174852"/>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1</a:t>
              </a:r>
              <a:endParaRPr dirty="0">
                <a:latin typeface="Calibri"/>
                <a:ea typeface="Calibri"/>
                <a:cs typeface="Calibri"/>
                <a:sym typeface="Calibri"/>
              </a:endParaRPr>
            </a:p>
          </p:txBody>
        </p:sp>
        <p:cxnSp>
          <p:nvCxnSpPr>
            <p:cNvPr id="5" name="Google Shape;114;p19">
              <a:extLst>
                <a:ext uri="{FF2B5EF4-FFF2-40B4-BE49-F238E27FC236}">
                  <a16:creationId xmlns:a16="http://schemas.microsoft.com/office/drawing/2014/main" id="{0C4C7EAF-C9DB-4261-3BED-631D9168B522}"/>
                </a:ext>
              </a:extLst>
            </p:cNvPr>
            <p:cNvCxnSpPr/>
            <p:nvPr/>
          </p:nvCxnSpPr>
          <p:spPr>
            <a:xfrm rot="10800000">
              <a:off x="530725" y="2049228"/>
              <a:ext cx="0" cy="762900"/>
            </a:xfrm>
            <a:prstGeom prst="straightConnector1">
              <a:avLst/>
            </a:prstGeom>
            <a:noFill/>
            <a:ln w="19050" cap="flat" cmpd="sng">
              <a:solidFill>
                <a:srgbClr val="000000"/>
              </a:solidFill>
              <a:prstDash val="solid"/>
              <a:round/>
              <a:headEnd type="triangle" w="med" len="med"/>
              <a:tailEnd type="none" w="med" len="med"/>
            </a:ln>
          </p:spPr>
        </p:cxnSp>
      </p:grpSp>
      <p:cxnSp>
        <p:nvCxnSpPr>
          <p:cNvPr id="8" name="Google Shape;137;p20">
            <a:extLst>
              <a:ext uri="{FF2B5EF4-FFF2-40B4-BE49-F238E27FC236}">
                <a16:creationId xmlns:a16="http://schemas.microsoft.com/office/drawing/2014/main" id="{4EBBC3CC-96CB-BB92-04F3-0986450E3E9D}"/>
              </a:ext>
            </a:extLst>
          </p:cNvPr>
          <p:cNvCxnSpPr>
            <a:cxnSpLocks/>
          </p:cNvCxnSpPr>
          <p:nvPr/>
        </p:nvCxnSpPr>
        <p:spPr>
          <a:xfrm flipV="1">
            <a:off x="4352902" y="3665693"/>
            <a:ext cx="6237030" cy="26921"/>
          </a:xfrm>
          <a:prstGeom prst="straightConnector1">
            <a:avLst/>
          </a:prstGeom>
          <a:noFill/>
          <a:ln w="19050" cap="flat" cmpd="sng">
            <a:solidFill>
              <a:srgbClr val="000000"/>
            </a:solidFill>
            <a:prstDash val="solid"/>
            <a:round/>
            <a:headEnd type="none" w="med" len="med"/>
            <a:tailEnd type="triangle" w="med" len="med"/>
          </a:ln>
        </p:spPr>
      </p:cxnSp>
      <p:sp>
        <p:nvSpPr>
          <p:cNvPr id="11" name="Google Shape;462;p34">
            <a:extLst>
              <a:ext uri="{FF2B5EF4-FFF2-40B4-BE49-F238E27FC236}">
                <a16:creationId xmlns:a16="http://schemas.microsoft.com/office/drawing/2014/main" id="{D6E5E8A9-AEA6-80C0-0176-1DD15FA8AED5}"/>
              </a:ext>
            </a:extLst>
          </p:cNvPr>
          <p:cNvSpPr txBox="1"/>
          <p:nvPr/>
        </p:nvSpPr>
        <p:spPr>
          <a:xfrm>
            <a:off x="6690956" y="3282378"/>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4</a:t>
            </a:r>
            <a:endParaRPr dirty="0">
              <a:latin typeface="Calibri"/>
              <a:ea typeface="Calibri"/>
              <a:cs typeface="Calibri"/>
              <a:sym typeface="Calibri"/>
            </a:endParaRPr>
          </a:p>
        </p:txBody>
      </p:sp>
      <p:sp>
        <p:nvSpPr>
          <p:cNvPr id="7" name="Google Shape;462;p34">
            <a:extLst>
              <a:ext uri="{FF2B5EF4-FFF2-40B4-BE49-F238E27FC236}">
                <a16:creationId xmlns:a16="http://schemas.microsoft.com/office/drawing/2014/main" id="{FF787ACD-9855-3C78-220E-7F8BE64A938C}"/>
              </a:ext>
            </a:extLst>
          </p:cNvPr>
          <p:cNvSpPr txBox="1"/>
          <p:nvPr/>
        </p:nvSpPr>
        <p:spPr>
          <a:xfrm>
            <a:off x="7917176" y="2819729"/>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3</a:t>
            </a:r>
          </a:p>
        </p:txBody>
      </p:sp>
      <p:cxnSp>
        <p:nvCxnSpPr>
          <p:cNvPr id="10" name="Google Shape;168;p21">
            <a:extLst>
              <a:ext uri="{FF2B5EF4-FFF2-40B4-BE49-F238E27FC236}">
                <a16:creationId xmlns:a16="http://schemas.microsoft.com/office/drawing/2014/main" id="{144D6287-9EB8-03A6-F245-18F166DF710E}"/>
              </a:ext>
            </a:extLst>
          </p:cNvPr>
          <p:cNvCxnSpPr>
            <a:cxnSpLocks/>
          </p:cNvCxnSpPr>
          <p:nvPr/>
        </p:nvCxnSpPr>
        <p:spPr>
          <a:xfrm flipV="1">
            <a:off x="4197894" y="2638793"/>
            <a:ext cx="6162234" cy="641955"/>
          </a:xfrm>
          <a:prstGeom prst="straightConnector1">
            <a:avLst/>
          </a:prstGeom>
          <a:noFill/>
          <a:ln w="19050" cap="flat" cmpd="sng">
            <a:solidFill>
              <a:srgbClr val="000000"/>
            </a:solidFill>
            <a:prstDash val="solid"/>
            <a:round/>
            <a:headEnd type="triangle" w="med" len="med"/>
            <a:tailEnd type="none" w="med" len="med"/>
          </a:ln>
        </p:spPr>
      </p:cxnSp>
      <p:sp>
        <p:nvSpPr>
          <p:cNvPr id="12" name="Google Shape;462;p34">
            <a:extLst>
              <a:ext uri="{FF2B5EF4-FFF2-40B4-BE49-F238E27FC236}">
                <a16:creationId xmlns:a16="http://schemas.microsoft.com/office/drawing/2014/main" id="{BE46EFAC-C90F-C6F5-DC6C-AB39021763D0}"/>
              </a:ext>
            </a:extLst>
          </p:cNvPr>
          <p:cNvSpPr txBox="1"/>
          <p:nvPr/>
        </p:nvSpPr>
        <p:spPr>
          <a:xfrm>
            <a:off x="7035914" y="2396951"/>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2a</a:t>
            </a:r>
            <a:endParaRPr dirty="0">
              <a:latin typeface="Calibri"/>
              <a:ea typeface="Calibri"/>
              <a:cs typeface="Calibri"/>
              <a:sym typeface="Calibri"/>
            </a:endParaRPr>
          </a:p>
        </p:txBody>
      </p:sp>
      <p:cxnSp>
        <p:nvCxnSpPr>
          <p:cNvPr id="13" name="Google Shape;137;p20">
            <a:extLst>
              <a:ext uri="{FF2B5EF4-FFF2-40B4-BE49-F238E27FC236}">
                <a16:creationId xmlns:a16="http://schemas.microsoft.com/office/drawing/2014/main" id="{E22FB6A2-5AFD-67B7-DE5D-C106544A3133}"/>
              </a:ext>
            </a:extLst>
          </p:cNvPr>
          <p:cNvCxnSpPr>
            <a:cxnSpLocks/>
          </p:cNvCxnSpPr>
          <p:nvPr/>
        </p:nvCxnSpPr>
        <p:spPr>
          <a:xfrm flipV="1">
            <a:off x="4329710" y="2451320"/>
            <a:ext cx="6030418" cy="665024"/>
          </a:xfrm>
          <a:prstGeom prst="straightConnector1">
            <a:avLst/>
          </a:prstGeom>
          <a:noFill/>
          <a:ln w="19050" cap="flat" cmpd="sng">
            <a:solidFill>
              <a:srgbClr val="000000"/>
            </a:solidFill>
            <a:prstDash val="solid"/>
            <a:round/>
            <a:headEnd type="none" w="med" len="med"/>
            <a:tailEnd type="triangle" w="med" len="med"/>
          </a:ln>
        </p:spPr>
      </p:cxnSp>
      <p:cxnSp>
        <p:nvCxnSpPr>
          <p:cNvPr id="6" name="Google Shape;168;p21">
            <a:extLst>
              <a:ext uri="{FF2B5EF4-FFF2-40B4-BE49-F238E27FC236}">
                <a16:creationId xmlns:a16="http://schemas.microsoft.com/office/drawing/2014/main" id="{7E18AC4B-604F-90AE-4762-39B3674E9744}"/>
              </a:ext>
            </a:extLst>
          </p:cNvPr>
          <p:cNvCxnSpPr>
            <a:cxnSpLocks/>
          </p:cNvCxnSpPr>
          <p:nvPr/>
        </p:nvCxnSpPr>
        <p:spPr>
          <a:xfrm flipV="1">
            <a:off x="4281620" y="3806749"/>
            <a:ext cx="6308312" cy="55744"/>
          </a:xfrm>
          <a:prstGeom prst="straightConnector1">
            <a:avLst/>
          </a:prstGeom>
          <a:noFill/>
          <a:ln w="19050" cap="flat" cmpd="sng">
            <a:solidFill>
              <a:srgbClr val="000000"/>
            </a:solidFill>
            <a:prstDash val="solid"/>
            <a:round/>
            <a:headEnd type="triangle" w="med" len="med"/>
            <a:tailEnd type="none" w="med" len="med"/>
          </a:ln>
        </p:spPr>
      </p:cxnSp>
      <p:sp>
        <p:nvSpPr>
          <p:cNvPr id="18" name="Google Shape;462;p34">
            <a:extLst>
              <a:ext uri="{FF2B5EF4-FFF2-40B4-BE49-F238E27FC236}">
                <a16:creationId xmlns:a16="http://schemas.microsoft.com/office/drawing/2014/main" id="{78103CF9-F67F-2AB1-2597-7AA9208FFA6A}"/>
              </a:ext>
            </a:extLst>
          </p:cNvPr>
          <p:cNvSpPr txBox="1"/>
          <p:nvPr/>
        </p:nvSpPr>
        <p:spPr>
          <a:xfrm>
            <a:off x="6675437" y="3793113"/>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5</a:t>
            </a:r>
            <a:endParaRPr dirty="0">
              <a:latin typeface="Calibri"/>
              <a:ea typeface="Calibri"/>
              <a:cs typeface="Calibri"/>
              <a:sym typeface="Calibri"/>
            </a:endParaRPr>
          </a:p>
        </p:txBody>
      </p:sp>
      <p:sp>
        <p:nvSpPr>
          <p:cNvPr id="19" name="Google Shape;158;p21">
            <a:extLst>
              <a:ext uri="{FF2B5EF4-FFF2-40B4-BE49-F238E27FC236}">
                <a16:creationId xmlns:a16="http://schemas.microsoft.com/office/drawing/2014/main" id="{55AB4924-16EF-A010-5814-0183674C16E4}"/>
              </a:ext>
            </a:extLst>
          </p:cNvPr>
          <p:cNvSpPr txBox="1"/>
          <p:nvPr/>
        </p:nvSpPr>
        <p:spPr>
          <a:xfrm>
            <a:off x="5557983" y="4152582"/>
            <a:ext cx="4718385" cy="1294170"/>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400" b="1" dirty="0"/>
              <a:t>“</a:t>
            </a:r>
            <a:r>
              <a:rPr lang="en" sz="1400" dirty="0"/>
              <a:t>I don’t know, but I have delegated authority to the </a:t>
            </a:r>
            <a:r>
              <a:rPr lang="en-US" altLang="zh-CN" sz="1400" b="1" dirty="0">
                <a:latin typeface="Courier New"/>
                <a:ea typeface="Courier New"/>
                <a:cs typeface="Courier New"/>
                <a:sym typeface="Courier New"/>
              </a:rPr>
              <a:t>google.com</a:t>
            </a:r>
            <a:r>
              <a:rPr lang="en" sz="1400" b="1" dirty="0"/>
              <a:t> </a:t>
            </a:r>
            <a:r>
              <a:rPr lang="en" sz="1400" dirty="0"/>
              <a:t>name server. </a:t>
            </a:r>
            <a:r>
              <a:rPr lang="en" sz="1400" dirty="0">
                <a:solidFill>
                  <a:schemeClr val="dk1"/>
                </a:solidFill>
              </a:rPr>
              <a:t>This response has ID 972. </a:t>
            </a:r>
          </a:p>
          <a:p>
            <a:pPr marL="0" lvl="0" indent="0" algn="ctr" rtl="0">
              <a:spcBef>
                <a:spcPts val="0"/>
              </a:spcBef>
              <a:spcAft>
                <a:spcPts val="0"/>
              </a:spcAft>
              <a:buNone/>
            </a:pPr>
            <a:endParaRPr sz="1400" b="1" dirty="0">
              <a:solidFill>
                <a:schemeClr val="dk1"/>
              </a:solidFill>
            </a:endParaRPr>
          </a:p>
          <a:p>
            <a:pPr marL="0" lvl="0" indent="0" algn="l" rtl="0">
              <a:spcBef>
                <a:spcPts val="0"/>
              </a:spcBef>
              <a:spcAft>
                <a:spcPts val="0"/>
              </a:spcAft>
              <a:buNone/>
            </a:pPr>
            <a:r>
              <a:rPr lang="en-US" sz="1400" b="1" dirty="0">
                <a:solidFill>
                  <a:schemeClr val="dk1"/>
                </a:solidFill>
              </a:rPr>
              <a:t>Authority: </a:t>
            </a:r>
            <a:r>
              <a:rPr lang="en-US" sz="1400" b="1" dirty="0">
                <a:solidFill>
                  <a:schemeClr val="dk1"/>
                </a:solidFill>
                <a:latin typeface="Courier New"/>
                <a:cs typeface="Courier New"/>
              </a:rPr>
              <a:t>google.com </a:t>
            </a:r>
            <a:r>
              <a:rPr lang="en-US" sz="1400" b="1" dirty="0">
                <a:solidFill>
                  <a:srgbClr val="FF0000"/>
                </a:solidFill>
                <a:latin typeface="Courier New"/>
                <a:cs typeface="Courier New"/>
              </a:rPr>
              <a:t>NS</a:t>
            </a:r>
            <a:r>
              <a:rPr lang="en-US" sz="1400" b="1" dirty="0">
                <a:solidFill>
                  <a:schemeClr val="dk1"/>
                </a:solidFill>
                <a:latin typeface="Courier New"/>
                <a:cs typeface="Courier New"/>
              </a:rPr>
              <a:t>  ns1.google.com</a:t>
            </a:r>
          </a:p>
          <a:p>
            <a:pPr marL="0" lvl="0" indent="0" algn="l" rtl="0">
              <a:spcBef>
                <a:spcPts val="0"/>
              </a:spcBef>
              <a:spcAft>
                <a:spcPts val="0"/>
              </a:spcAft>
              <a:buNone/>
            </a:pPr>
            <a:r>
              <a:rPr lang="en-US" sz="1400" b="1" dirty="0">
                <a:solidFill>
                  <a:schemeClr val="dk1"/>
                </a:solidFill>
              </a:rPr>
              <a:t>Additional:  </a:t>
            </a:r>
            <a:r>
              <a:rPr lang="en-US" sz="1400" b="1" dirty="0">
                <a:solidFill>
                  <a:schemeClr val="dk1"/>
                </a:solidFill>
                <a:latin typeface="Courier New"/>
                <a:cs typeface="Courier New"/>
              </a:rPr>
              <a:t>ns1.google.com A 216.329.32.10</a:t>
            </a:r>
            <a:r>
              <a:rPr lang="zh-CN" altLang="en-US" sz="1400" b="1" dirty="0">
                <a:solidFill>
                  <a:schemeClr val="dk1"/>
                </a:solidFill>
                <a:latin typeface="Courier New"/>
                <a:ea typeface="Courier New"/>
                <a:cs typeface="Courier New"/>
                <a:sym typeface="Courier New"/>
              </a:rPr>
              <a:t>”</a:t>
            </a:r>
            <a:endParaRPr sz="1400" b="1" dirty="0">
              <a:solidFill>
                <a:schemeClr val="dk1"/>
              </a:solidFill>
            </a:endParaRPr>
          </a:p>
        </p:txBody>
      </p:sp>
      <p:sp>
        <p:nvSpPr>
          <p:cNvPr id="23" name="Google Shape;172;p21">
            <a:extLst>
              <a:ext uri="{FF2B5EF4-FFF2-40B4-BE49-F238E27FC236}">
                <a16:creationId xmlns:a16="http://schemas.microsoft.com/office/drawing/2014/main" id="{449DEC91-5624-1635-B4F0-0B500C97EDE7}"/>
              </a:ext>
            </a:extLst>
          </p:cNvPr>
          <p:cNvSpPr txBox="1"/>
          <p:nvPr/>
        </p:nvSpPr>
        <p:spPr>
          <a:xfrm>
            <a:off x="6169408" y="5855276"/>
            <a:ext cx="3870169" cy="605776"/>
          </a:xfrm>
          <a:prstGeom prst="rect">
            <a:avLst/>
          </a:prstGeom>
          <a:solidFill>
            <a:srgbClr val="C9DAF8"/>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US" sz="1200" dirty="0">
                <a:solidFill>
                  <a:schemeClr val="dk1"/>
                </a:solidFill>
              </a:rPr>
              <a:t>The </a:t>
            </a:r>
            <a:r>
              <a:rPr lang="en" sz="1200" b="1" dirty="0">
                <a:solidFill>
                  <a:schemeClr val="dk1"/>
                </a:solidFill>
                <a:latin typeface="Courier New"/>
                <a:ea typeface="Courier New"/>
                <a:cs typeface="Courier New"/>
                <a:sym typeface="Courier New"/>
              </a:rPr>
              <a:t>google.com</a:t>
            </a:r>
            <a:r>
              <a:rPr lang="en" sz="1200" dirty="0">
                <a:solidFill>
                  <a:schemeClr val="dk1"/>
                </a:solidFill>
              </a:rPr>
              <a:t> </a:t>
            </a:r>
            <a:r>
              <a:rPr lang="en-US" sz="1200" dirty="0">
                <a:solidFill>
                  <a:schemeClr val="dk1"/>
                </a:solidFill>
              </a:rPr>
              <a:t>name server </a:t>
            </a:r>
            <a:r>
              <a:rPr lang="en-US" sz="1200" b="1" dirty="0">
                <a:solidFill>
                  <a:schemeClr val="dk1"/>
                </a:solidFill>
                <a:latin typeface="Courier New"/>
                <a:ea typeface="Courier New"/>
                <a:cs typeface="Courier New"/>
                <a:sym typeface="Courier New"/>
              </a:rPr>
              <a:t>ns1.google.com. </a:t>
            </a:r>
            <a:r>
              <a:rPr lang="en-US" sz="1200" dirty="0">
                <a:solidFill>
                  <a:schemeClr val="dk1"/>
                </a:solidFill>
              </a:rPr>
              <a:t>is cached with IP </a:t>
            </a:r>
            <a:r>
              <a:rPr lang="en-US" sz="1200" b="1" dirty="0">
                <a:solidFill>
                  <a:schemeClr val="dk1"/>
                </a:solidFill>
                <a:latin typeface="Courier New"/>
                <a:ea typeface="Courier New"/>
                <a:cs typeface="Courier New"/>
                <a:sym typeface="Courier New"/>
              </a:rPr>
              <a:t>216.239.32.10</a:t>
            </a:r>
            <a:endParaRPr lang="en-US" sz="1200" dirty="0">
              <a:solidFill>
                <a:schemeClr val="dk1"/>
              </a:solidFill>
            </a:endParaRPr>
          </a:p>
          <a:p>
            <a:pPr marL="0" lvl="0" indent="0" algn="ctr" rtl="0">
              <a:spcBef>
                <a:spcPts val="0"/>
              </a:spcBef>
              <a:spcAft>
                <a:spcPts val="0"/>
              </a:spcAft>
              <a:buNone/>
            </a:pPr>
            <a:endParaRPr sz="1200" dirty="0"/>
          </a:p>
        </p:txBody>
      </p:sp>
      <p:cxnSp>
        <p:nvCxnSpPr>
          <p:cNvPr id="24" name="Google Shape;173;p21">
            <a:extLst>
              <a:ext uri="{FF2B5EF4-FFF2-40B4-BE49-F238E27FC236}">
                <a16:creationId xmlns:a16="http://schemas.microsoft.com/office/drawing/2014/main" id="{3947D5A8-F428-1C1C-6E61-A0F93BDC8D2F}"/>
              </a:ext>
            </a:extLst>
          </p:cNvPr>
          <p:cNvCxnSpPr>
            <a:cxnSpLocks/>
            <a:stCxn id="23" idx="1"/>
          </p:cNvCxnSpPr>
          <p:nvPr/>
        </p:nvCxnSpPr>
        <p:spPr>
          <a:xfrm flipH="1" flipV="1">
            <a:off x="4053008" y="4139788"/>
            <a:ext cx="2116400" cy="2018376"/>
          </a:xfrm>
          <a:prstGeom prst="straightConnector1">
            <a:avLst/>
          </a:prstGeom>
          <a:noFill/>
          <a:ln w="9525" cap="flat" cmpd="sng">
            <a:solidFill>
              <a:srgbClr val="0000FF"/>
            </a:solidFill>
            <a:prstDash val="solid"/>
            <a:round/>
            <a:headEnd type="none" w="med" len="med"/>
            <a:tailEnd type="triangle" w="med" len="med"/>
          </a:ln>
        </p:spPr>
      </p:cxnSp>
      <p:cxnSp>
        <p:nvCxnSpPr>
          <p:cNvPr id="25" name="Google Shape;177;p21">
            <a:extLst>
              <a:ext uri="{FF2B5EF4-FFF2-40B4-BE49-F238E27FC236}">
                <a16:creationId xmlns:a16="http://schemas.microsoft.com/office/drawing/2014/main" id="{29AB1FF1-AD8D-2DC2-2D0E-158E0067DDEB}"/>
              </a:ext>
            </a:extLst>
          </p:cNvPr>
          <p:cNvCxnSpPr>
            <a:cxnSpLocks/>
            <a:stCxn id="19" idx="1"/>
            <a:endCxn id="19" idx="3"/>
          </p:cNvCxnSpPr>
          <p:nvPr/>
        </p:nvCxnSpPr>
        <p:spPr>
          <a:xfrm>
            <a:off x="5557983" y="4799667"/>
            <a:ext cx="4718385" cy="0"/>
          </a:xfrm>
          <a:prstGeom prst="straightConnector1">
            <a:avLst/>
          </a:prstGeom>
          <a:noFill/>
          <a:ln w="9525" cap="flat" cmpd="sng">
            <a:solidFill>
              <a:schemeClr val="dk2"/>
            </a:solidFill>
            <a:prstDash val="solid"/>
            <a:round/>
            <a:headEnd type="none" w="med" len="med"/>
            <a:tailEnd type="none" w="med" len="med"/>
          </a:ln>
        </p:spPr>
      </p:cxnSp>
      <p:sp>
        <p:nvSpPr>
          <p:cNvPr id="15" name="Google Shape;1819;p140">
            <a:extLst>
              <a:ext uri="{FF2B5EF4-FFF2-40B4-BE49-F238E27FC236}">
                <a16:creationId xmlns:a16="http://schemas.microsoft.com/office/drawing/2014/main" id="{72892599-2608-6B64-8BEB-D8C7295CBE19}"/>
              </a:ext>
            </a:extLst>
          </p:cNvPr>
          <p:cNvSpPr txBox="1">
            <a:spLocks noGrp="1"/>
          </p:cNvSpPr>
          <p:nvPr>
            <p:ph type="title"/>
          </p:nvPr>
        </p:nvSpPr>
        <p:spPr>
          <a:xfrm>
            <a:off x="415600" y="55919"/>
            <a:ext cx="11360800" cy="763600"/>
          </a:xfrm>
          <a:prstGeom prst="rect">
            <a:avLst/>
          </a:prstGeom>
        </p:spPr>
        <p:txBody>
          <a:bodyPr spcFirstLastPara="1" wrap="square" lIns="121900" tIns="121900" rIns="121900" bIns="121900" anchor="t" anchorCtr="0">
            <a:noAutofit/>
          </a:bodyPr>
          <a:lstStyle/>
          <a:p>
            <a:r>
              <a:rPr lang="en" sz="4400" dirty="0">
                <a:latin typeface="Aptos" panose="020B0004020202020204" pitchFamily="34" charset="0"/>
              </a:rPr>
              <a:t>Kaminsky Attack: Example</a:t>
            </a:r>
            <a:endParaRPr sz="4400" dirty="0">
              <a:latin typeface="Aptos" panose="020B0004020202020204" pitchFamily="34" charset="0"/>
            </a:endParaRPr>
          </a:p>
        </p:txBody>
      </p:sp>
    </p:spTree>
    <p:extLst>
      <p:ext uri="{BB962C8B-B14F-4D97-AF65-F5344CB8AC3E}">
        <p14:creationId xmlns:p14="http://schemas.microsoft.com/office/powerpoint/2010/main" val="25889092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Google Shape;94;p18">
            <a:extLst>
              <a:ext uri="{FF2B5EF4-FFF2-40B4-BE49-F238E27FC236}">
                <a16:creationId xmlns:a16="http://schemas.microsoft.com/office/drawing/2014/main" id="{27338096-ADE2-579F-5EE1-AEDCC622FBBF}"/>
              </a:ext>
            </a:extLst>
          </p:cNvPr>
          <p:cNvSpPr txBox="1"/>
          <p:nvPr/>
        </p:nvSpPr>
        <p:spPr>
          <a:xfrm>
            <a:off x="1086878" y="1273669"/>
            <a:ext cx="2164021" cy="58745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Courier New"/>
                <a:ea typeface="Courier New"/>
                <a:cs typeface="Courier New"/>
                <a:sym typeface="Courier New"/>
              </a:rPr>
              <a:t>Stub Resolver</a:t>
            </a:r>
            <a:endParaRPr dirty="0">
              <a:latin typeface="Calibri"/>
              <a:ea typeface="Calibri"/>
              <a:cs typeface="Calibri"/>
              <a:sym typeface="Calibri"/>
            </a:endParaRPr>
          </a:p>
        </p:txBody>
      </p:sp>
      <p:sp>
        <p:nvSpPr>
          <p:cNvPr id="20" name="Google Shape;98;p18">
            <a:extLst>
              <a:ext uri="{FF2B5EF4-FFF2-40B4-BE49-F238E27FC236}">
                <a16:creationId xmlns:a16="http://schemas.microsoft.com/office/drawing/2014/main" id="{19323B84-7D87-0BA1-EAA5-286975507BC8}"/>
              </a:ext>
            </a:extLst>
          </p:cNvPr>
          <p:cNvSpPr/>
          <p:nvPr/>
        </p:nvSpPr>
        <p:spPr>
          <a:xfrm>
            <a:off x="164860" y="2572413"/>
            <a:ext cx="4056187" cy="3701166"/>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99;p18">
            <a:extLst>
              <a:ext uri="{FF2B5EF4-FFF2-40B4-BE49-F238E27FC236}">
                <a16:creationId xmlns:a16="http://schemas.microsoft.com/office/drawing/2014/main" id="{10C1C038-9E6A-04D6-69B1-5060DB60FB3C}"/>
              </a:ext>
            </a:extLst>
          </p:cNvPr>
          <p:cNvSpPr txBox="1"/>
          <p:nvPr/>
        </p:nvSpPr>
        <p:spPr>
          <a:xfrm>
            <a:off x="248560" y="2660813"/>
            <a:ext cx="3840671" cy="508261"/>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graphicFrame>
        <p:nvGraphicFramePr>
          <p:cNvPr id="22" name="Google Shape;100;p18">
            <a:extLst>
              <a:ext uri="{FF2B5EF4-FFF2-40B4-BE49-F238E27FC236}">
                <a16:creationId xmlns:a16="http://schemas.microsoft.com/office/drawing/2014/main" id="{48D49623-2A57-A908-A06B-77B627D60BAE}"/>
              </a:ext>
            </a:extLst>
          </p:cNvPr>
          <p:cNvGraphicFramePr/>
          <p:nvPr>
            <p:extLst>
              <p:ext uri="{D42A27DB-BD31-4B8C-83A1-F6EECF244321}">
                <p14:modId xmlns:p14="http://schemas.microsoft.com/office/powerpoint/2010/main" val="2531578134"/>
              </p:ext>
            </p:extLst>
          </p:nvPr>
        </p:nvGraphicFramePr>
        <p:xfrm>
          <a:off x="248586" y="3054413"/>
          <a:ext cx="3840606" cy="1732147"/>
        </p:xfrm>
        <a:graphic>
          <a:graphicData uri="http://schemas.openxmlformats.org/drawingml/2006/table">
            <a:tbl>
              <a:tblPr>
                <a:noFill/>
              </a:tblPr>
              <a:tblGrid>
                <a:gridCol w="1920303">
                  <a:extLst>
                    <a:ext uri="{9D8B030D-6E8A-4147-A177-3AD203B41FA5}">
                      <a16:colId xmlns:a16="http://schemas.microsoft.com/office/drawing/2014/main" val="20000"/>
                    </a:ext>
                  </a:extLst>
                </a:gridCol>
                <a:gridCol w="1920303">
                  <a:extLst>
                    <a:ext uri="{9D8B030D-6E8A-4147-A177-3AD203B41FA5}">
                      <a16:colId xmlns:a16="http://schemas.microsoft.com/office/drawing/2014/main" val="20001"/>
                    </a:ext>
                  </a:extLst>
                </a:gridCol>
              </a:tblGrid>
              <a:tr h="452593">
                <a:tc gridSpan="2">
                  <a:txBody>
                    <a:bodyPr/>
                    <a:lstStyle/>
                    <a:p>
                      <a:pPr marL="0" lvl="0" indent="0" algn="ctr" rtl="0">
                        <a:spcBef>
                          <a:spcPts val="0"/>
                        </a:spcBef>
                        <a:spcAft>
                          <a:spcPts val="0"/>
                        </a:spcAft>
                        <a:buNone/>
                      </a:pPr>
                      <a:r>
                        <a:rPr lang="en" sz="1100" dirty="0">
                          <a:latin typeface="Courier New"/>
                          <a:ea typeface="Courier New"/>
                          <a:cs typeface="Courier New"/>
                          <a:sym typeface="Courier New"/>
                        </a:rPr>
                        <a:t>Recursive Resolver Cache</a:t>
                      </a:r>
                      <a:endParaRPr sz="1100" dirty="0">
                        <a:latin typeface="Courier New"/>
                        <a:ea typeface="Courier New"/>
                        <a:cs typeface="Courier New"/>
                        <a:sym typeface="Courier New"/>
                      </a:endParaRPr>
                    </a:p>
                  </a:txBody>
                  <a:tcPr marL="91425" marR="91425" marT="91425" marB="91425">
                    <a:lnB w="9525" cap="flat" cmpd="sng" algn="ctr">
                      <a:solidFill>
                        <a:srgbClr val="9E9E9E"/>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0"/>
                  </a:ext>
                </a:extLst>
              </a:tr>
              <a:tr h="433160">
                <a:tc>
                  <a:txBody>
                    <a:bodyPr/>
                    <a:lstStyle/>
                    <a:p>
                      <a:pPr marL="0" lvl="0" indent="0" algn="l" rtl="0">
                        <a:lnSpc>
                          <a:spcPct val="115000"/>
                        </a:lnSpc>
                        <a:spcBef>
                          <a:spcPts val="0"/>
                        </a:spcBef>
                        <a:spcAft>
                          <a:spcPts val="0"/>
                        </a:spcAft>
                        <a:buNone/>
                      </a:pPr>
                      <a:r>
                        <a:rPr lang="en-US" sz="1100" b="0" dirty="0">
                          <a:solidFill>
                            <a:schemeClr val="dk1"/>
                          </a:solidFill>
                          <a:latin typeface="Courier New"/>
                          <a:ea typeface="Courier New"/>
                          <a:cs typeface="Courier New"/>
                          <a:sym typeface="Courier New"/>
                        </a:rPr>
                        <a:t>a.gtld-servers.net</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r>
                        <a:rPr lang="en-US" sz="1100" b="0" dirty="0">
                          <a:solidFill>
                            <a:schemeClr val="dk1"/>
                          </a:solidFill>
                          <a:latin typeface="Courier New"/>
                          <a:ea typeface="Courier New"/>
                          <a:cs typeface="Courier New"/>
                          <a:sym typeface="Courier New"/>
                        </a:rPr>
                        <a:t>192.5.6.30</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433160">
                <a:tc>
                  <a:txBody>
                    <a:bodyPr/>
                    <a:lstStyle/>
                    <a:p>
                      <a:pPr marL="0" marR="0" lvl="0" indent="0" algn="l" rtl="0">
                        <a:lnSpc>
                          <a:spcPct val="115000"/>
                        </a:lnSpc>
                        <a:spcBef>
                          <a:spcPts val="0"/>
                        </a:spcBef>
                        <a:spcAft>
                          <a:spcPts val="0"/>
                        </a:spcAft>
                        <a:buClr>
                          <a:srgbClr val="000000"/>
                        </a:buClr>
                        <a:buFont typeface="Arial"/>
                        <a:buNone/>
                      </a:pPr>
                      <a:r>
                        <a:rPr lang="en-US" sz="1100" b="1" i="0" u="none" strike="noStrike" cap="none" dirty="0">
                          <a:solidFill>
                            <a:schemeClr val="dk1"/>
                          </a:solidFill>
                          <a:latin typeface="Courier New"/>
                          <a:ea typeface="Courier New"/>
                          <a:cs typeface="Courier New"/>
                          <a:sym typeface="Courier New"/>
                        </a:rPr>
                        <a:t>ns1.google.com</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marR="0" lvl="0" indent="0" algn="l" rtl="0">
                        <a:lnSpc>
                          <a:spcPct val="115000"/>
                        </a:lnSpc>
                        <a:spcBef>
                          <a:spcPts val="0"/>
                        </a:spcBef>
                        <a:spcAft>
                          <a:spcPts val="0"/>
                        </a:spcAft>
                        <a:buClr>
                          <a:srgbClr val="000000"/>
                        </a:buClr>
                        <a:buFont typeface="Arial"/>
                        <a:buNone/>
                      </a:pPr>
                      <a:r>
                        <a:rPr lang="en-US" sz="1100" b="1" i="0" u="none" strike="noStrike" cap="none" dirty="0">
                          <a:solidFill>
                            <a:schemeClr val="dk1"/>
                          </a:solidFill>
                          <a:latin typeface="Courier New"/>
                          <a:ea typeface="Courier New"/>
                          <a:cs typeface="Courier New"/>
                          <a:sym typeface="Courier New"/>
                        </a:rPr>
                        <a:t>216.239.32.10</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413234">
                <a:tc>
                  <a:txBody>
                    <a:bodyPr/>
                    <a:lstStyle/>
                    <a:p>
                      <a:pPr marL="0" lvl="0" indent="0" algn="l" rtl="0">
                        <a:spcBef>
                          <a:spcPts val="0"/>
                        </a:spcBef>
                        <a:spcAft>
                          <a:spcPts val="0"/>
                        </a:spcAft>
                        <a:buNone/>
                      </a:pPr>
                      <a:endParaRPr sz="900"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sz="900" b="1" dirty="0">
                        <a:solidFill>
                          <a:srgbClr val="FF0000"/>
                        </a:solidFill>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bl>
          </a:graphicData>
        </a:graphic>
      </p:graphicFrame>
      <p:sp>
        <p:nvSpPr>
          <p:cNvPr id="45" name="Google Shape;134;p22">
            <a:extLst>
              <a:ext uri="{FF2B5EF4-FFF2-40B4-BE49-F238E27FC236}">
                <a16:creationId xmlns:a16="http://schemas.microsoft.com/office/drawing/2014/main" id="{448F3387-90D1-25AA-E982-9BF555E98B4F}"/>
              </a:ext>
            </a:extLst>
          </p:cNvPr>
          <p:cNvSpPr txBox="1"/>
          <p:nvPr/>
        </p:nvSpPr>
        <p:spPr>
          <a:xfrm>
            <a:off x="10360128" y="2456393"/>
            <a:ext cx="1238100" cy="3648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Courier New" panose="02070309020205020404" pitchFamily="49" charset="0"/>
                <a:ea typeface="Courier New"/>
                <a:cs typeface="Courier New" panose="02070309020205020404" pitchFamily="49" charset="0"/>
                <a:sym typeface="Courier New"/>
              </a:rPr>
              <a:t>.</a:t>
            </a:r>
            <a:r>
              <a:rPr lang="en" dirty="0">
                <a:latin typeface="Courier New" panose="02070309020205020404" pitchFamily="49" charset="0"/>
                <a:cs typeface="Courier New" panose="02070309020205020404" pitchFamily="49" charset="0"/>
              </a:rPr>
              <a:t>(root)</a:t>
            </a:r>
            <a:endParaRPr dirty="0">
              <a:latin typeface="Courier New" panose="02070309020205020404" pitchFamily="49" charset="0"/>
              <a:ea typeface="Courier New"/>
              <a:cs typeface="Courier New" panose="02070309020205020404" pitchFamily="49" charset="0"/>
              <a:sym typeface="Courier New"/>
            </a:endParaRPr>
          </a:p>
        </p:txBody>
      </p:sp>
      <p:sp>
        <p:nvSpPr>
          <p:cNvPr id="46" name="Google Shape;135;p22">
            <a:extLst>
              <a:ext uri="{FF2B5EF4-FFF2-40B4-BE49-F238E27FC236}">
                <a16:creationId xmlns:a16="http://schemas.microsoft.com/office/drawing/2014/main" id="{263AA768-2073-CAA1-0D3F-4FB15ADCC058}"/>
              </a:ext>
            </a:extLst>
          </p:cNvPr>
          <p:cNvSpPr txBox="1"/>
          <p:nvPr/>
        </p:nvSpPr>
        <p:spPr>
          <a:xfrm>
            <a:off x="10721787" y="3468893"/>
            <a:ext cx="73152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Courier New"/>
                <a:ea typeface="Courier New"/>
                <a:cs typeface="Courier New"/>
                <a:sym typeface="Courier New"/>
              </a:rPr>
              <a:t>.com</a:t>
            </a:r>
            <a:endParaRPr>
              <a:latin typeface="Calibri"/>
              <a:ea typeface="Calibri"/>
              <a:cs typeface="Calibri"/>
              <a:sym typeface="Calibri"/>
            </a:endParaRPr>
          </a:p>
        </p:txBody>
      </p:sp>
      <p:sp>
        <p:nvSpPr>
          <p:cNvPr id="47" name="Google Shape;136;p22">
            <a:extLst>
              <a:ext uri="{FF2B5EF4-FFF2-40B4-BE49-F238E27FC236}">
                <a16:creationId xmlns:a16="http://schemas.microsoft.com/office/drawing/2014/main" id="{2CDEAC51-B9BF-917D-9B18-E3E86C651A2A}"/>
              </a:ext>
            </a:extLst>
          </p:cNvPr>
          <p:cNvSpPr txBox="1"/>
          <p:nvPr/>
        </p:nvSpPr>
        <p:spPr>
          <a:xfrm>
            <a:off x="10391165" y="4392960"/>
            <a:ext cx="1385235"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400" dirty="0">
                <a:latin typeface="Courier New"/>
                <a:ea typeface="Courier New"/>
                <a:cs typeface="Courier New"/>
                <a:sym typeface="Courier New"/>
              </a:rPr>
              <a:t>google.com</a:t>
            </a:r>
            <a:endParaRPr sz="1400" dirty="0">
              <a:latin typeface="Calibri"/>
              <a:ea typeface="Calibri"/>
              <a:cs typeface="Calibri"/>
              <a:sym typeface="Calibri"/>
            </a:endParaRPr>
          </a:p>
        </p:txBody>
      </p:sp>
      <p:cxnSp>
        <p:nvCxnSpPr>
          <p:cNvPr id="48" name="Google Shape;137;p22">
            <a:extLst>
              <a:ext uri="{FF2B5EF4-FFF2-40B4-BE49-F238E27FC236}">
                <a16:creationId xmlns:a16="http://schemas.microsoft.com/office/drawing/2014/main" id="{ED88BD28-FFDE-6C5F-BF7B-6DC37181AC9F}"/>
              </a:ext>
            </a:extLst>
          </p:cNvPr>
          <p:cNvCxnSpPr>
            <a:cxnSpLocks/>
          </p:cNvCxnSpPr>
          <p:nvPr/>
        </p:nvCxnSpPr>
        <p:spPr>
          <a:xfrm>
            <a:off x="11081081" y="2814897"/>
            <a:ext cx="0" cy="653996"/>
          </a:xfrm>
          <a:prstGeom prst="straightConnector1">
            <a:avLst/>
          </a:prstGeom>
          <a:noFill/>
          <a:ln w="9525" cap="flat" cmpd="sng">
            <a:solidFill>
              <a:srgbClr val="000000"/>
            </a:solidFill>
            <a:prstDash val="solid"/>
            <a:round/>
            <a:headEnd type="none" w="med" len="med"/>
            <a:tailEnd type="none" w="med" len="med"/>
          </a:ln>
        </p:spPr>
      </p:cxnSp>
      <p:cxnSp>
        <p:nvCxnSpPr>
          <p:cNvPr id="49" name="Google Shape;138;p22">
            <a:extLst>
              <a:ext uri="{FF2B5EF4-FFF2-40B4-BE49-F238E27FC236}">
                <a16:creationId xmlns:a16="http://schemas.microsoft.com/office/drawing/2014/main" id="{E1BD3C6E-22E3-710C-5A2F-210A7F88EA9F}"/>
              </a:ext>
            </a:extLst>
          </p:cNvPr>
          <p:cNvCxnSpPr>
            <a:cxnSpLocks/>
          </p:cNvCxnSpPr>
          <p:nvPr/>
        </p:nvCxnSpPr>
        <p:spPr>
          <a:xfrm>
            <a:off x="11081081" y="3862493"/>
            <a:ext cx="0" cy="516831"/>
          </a:xfrm>
          <a:prstGeom prst="straightConnector1">
            <a:avLst/>
          </a:prstGeom>
          <a:noFill/>
          <a:ln w="9525" cap="flat" cmpd="sng">
            <a:solidFill>
              <a:srgbClr val="000000"/>
            </a:solidFill>
            <a:prstDash val="solid"/>
            <a:round/>
            <a:headEnd type="none" w="med" len="med"/>
            <a:tailEnd type="none" w="med" len="med"/>
          </a:ln>
        </p:spPr>
      </p:cxnSp>
      <p:grpSp>
        <p:nvGrpSpPr>
          <p:cNvPr id="2" name="Google Shape;112;p19">
            <a:extLst>
              <a:ext uri="{FF2B5EF4-FFF2-40B4-BE49-F238E27FC236}">
                <a16:creationId xmlns:a16="http://schemas.microsoft.com/office/drawing/2014/main" id="{841FC229-967F-039A-FFC0-FF5C182A4E14}"/>
              </a:ext>
            </a:extLst>
          </p:cNvPr>
          <p:cNvGrpSpPr/>
          <p:nvPr/>
        </p:nvGrpSpPr>
        <p:grpSpPr>
          <a:xfrm>
            <a:off x="1400223" y="1930411"/>
            <a:ext cx="410100" cy="572709"/>
            <a:chOff x="258935" y="2049228"/>
            <a:chExt cx="410100" cy="762900"/>
          </a:xfrm>
        </p:grpSpPr>
        <p:sp>
          <p:nvSpPr>
            <p:cNvPr id="3" name="Google Shape;113;p19">
              <a:extLst>
                <a:ext uri="{FF2B5EF4-FFF2-40B4-BE49-F238E27FC236}">
                  <a16:creationId xmlns:a16="http://schemas.microsoft.com/office/drawing/2014/main" id="{3E0EF041-38F2-2F8B-A5CE-F2D53C55BF62}"/>
                </a:ext>
              </a:extLst>
            </p:cNvPr>
            <p:cNvSpPr txBox="1"/>
            <p:nvPr/>
          </p:nvSpPr>
          <p:spPr>
            <a:xfrm>
              <a:off x="258935" y="2174852"/>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1</a:t>
              </a:r>
              <a:endParaRPr dirty="0">
                <a:latin typeface="Calibri"/>
                <a:ea typeface="Calibri"/>
                <a:cs typeface="Calibri"/>
                <a:sym typeface="Calibri"/>
              </a:endParaRPr>
            </a:p>
          </p:txBody>
        </p:sp>
        <p:cxnSp>
          <p:nvCxnSpPr>
            <p:cNvPr id="5" name="Google Shape;114;p19">
              <a:extLst>
                <a:ext uri="{FF2B5EF4-FFF2-40B4-BE49-F238E27FC236}">
                  <a16:creationId xmlns:a16="http://schemas.microsoft.com/office/drawing/2014/main" id="{0C4C7EAF-C9DB-4261-3BED-631D9168B522}"/>
                </a:ext>
              </a:extLst>
            </p:cNvPr>
            <p:cNvCxnSpPr/>
            <p:nvPr/>
          </p:nvCxnSpPr>
          <p:spPr>
            <a:xfrm rot="10800000">
              <a:off x="530725" y="2049228"/>
              <a:ext cx="0" cy="762900"/>
            </a:xfrm>
            <a:prstGeom prst="straightConnector1">
              <a:avLst/>
            </a:prstGeom>
            <a:noFill/>
            <a:ln w="19050" cap="flat" cmpd="sng">
              <a:solidFill>
                <a:srgbClr val="000000"/>
              </a:solidFill>
              <a:prstDash val="solid"/>
              <a:round/>
              <a:headEnd type="triangle" w="med" len="med"/>
              <a:tailEnd type="none" w="med" len="med"/>
            </a:ln>
          </p:spPr>
        </p:cxnSp>
      </p:grpSp>
      <p:cxnSp>
        <p:nvCxnSpPr>
          <p:cNvPr id="8" name="Google Shape;137;p20">
            <a:extLst>
              <a:ext uri="{FF2B5EF4-FFF2-40B4-BE49-F238E27FC236}">
                <a16:creationId xmlns:a16="http://schemas.microsoft.com/office/drawing/2014/main" id="{4EBBC3CC-96CB-BB92-04F3-0986450E3E9D}"/>
              </a:ext>
            </a:extLst>
          </p:cNvPr>
          <p:cNvCxnSpPr>
            <a:cxnSpLocks/>
          </p:cNvCxnSpPr>
          <p:nvPr/>
        </p:nvCxnSpPr>
        <p:spPr>
          <a:xfrm flipV="1">
            <a:off x="4352902" y="3665693"/>
            <a:ext cx="6237030" cy="26921"/>
          </a:xfrm>
          <a:prstGeom prst="straightConnector1">
            <a:avLst/>
          </a:prstGeom>
          <a:noFill/>
          <a:ln w="19050" cap="flat" cmpd="sng">
            <a:solidFill>
              <a:srgbClr val="000000"/>
            </a:solidFill>
            <a:prstDash val="solid"/>
            <a:round/>
            <a:headEnd type="none" w="med" len="med"/>
            <a:tailEnd type="triangle" w="med" len="med"/>
          </a:ln>
        </p:spPr>
      </p:cxnSp>
      <p:sp>
        <p:nvSpPr>
          <p:cNvPr id="11" name="Google Shape;462;p34">
            <a:extLst>
              <a:ext uri="{FF2B5EF4-FFF2-40B4-BE49-F238E27FC236}">
                <a16:creationId xmlns:a16="http://schemas.microsoft.com/office/drawing/2014/main" id="{D6E5E8A9-AEA6-80C0-0176-1DD15FA8AED5}"/>
              </a:ext>
            </a:extLst>
          </p:cNvPr>
          <p:cNvSpPr txBox="1"/>
          <p:nvPr/>
        </p:nvSpPr>
        <p:spPr>
          <a:xfrm>
            <a:off x="6690956" y="3282378"/>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4</a:t>
            </a:r>
            <a:endParaRPr dirty="0">
              <a:latin typeface="Calibri"/>
              <a:ea typeface="Calibri"/>
              <a:cs typeface="Calibri"/>
              <a:sym typeface="Calibri"/>
            </a:endParaRPr>
          </a:p>
        </p:txBody>
      </p:sp>
      <p:sp>
        <p:nvSpPr>
          <p:cNvPr id="7" name="Google Shape;462;p34">
            <a:extLst>
              <a:ext uri="{FF2B5EF4-FFF2-40B4-BE49-F238E27FC236}">
                <a16:creationId xmlns:a16="http://schemas.microsoft.com/office/drawing/2014/main" id="{FF787ACD-9855-3C78-220E-7F8BE64A938C}"/>
              </a:ext>
            </a:extLst>
          </p:cNvPr>
          <p:cNvSpPr txBox="1"/>
          <p:nvPr/>
        </p:nvSpPr>
        <p:spPr>
          <a:xfrm>
            <a:off x="7917176" y="2819729"/>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3</a:t>
            </a:r>
          </a:p>
        </p:txBody>
      </p:sp>
      <p:cxnSp>
        <p:nvCxnSpPr>
          <p:cNvPr id="10" name="Google Shape;168;p21">
            <a:extLst>
              <a:ext uri="{FF2B5EF4-FFF2-40B4-BE49-F238E27FC236}">
                <a16:creationId xmlns:a16="http://schemas.microsoft.com/office/drawing/2014/main" id="{144D6287-9EB8-03A6-F245-18F166DF710E}"/>
              </a:ext>
            </a:extLst>
          </p:cNvPr>
          <p:cNvCxnSpPr>
            <a:cxnSpLocks/>
          </p:cNvCxnSpPr>
          <p:nvPr/>
        </p:nvCxnSpPr>
        <p:spPr>
          <a:xfrm flipV="1">
            <a:off x="4197894" y="2638793"/>
            <a:ext cx="6162234" cy="641955"/>
          </a:xfrm>
          <a:prstGeom prst="straightConnector1">
            <a:avLst/>
          </a:prstGeom>
          <a:noFill/>
          <a:ln w="19050" cap="flat" cmpd="sng">
            <a:solidFill>
              <a:srgbClr val="000000"/>
            </a:solidFill>
            <a:prstDash val="solid"/>
            <a:round/>
            <a:headEnd type="triangle" w="med" len="med"/>
            <a:tailEnd type="none" w="med" len="med"/>
          </a:ln>
        </p:spPr>
      </p:cxnSp>
      <p:sp>
        <p:nvSpPr>
          <p:cNvPr id="12" name="Google Shape;462;p34">
            <a:extLst>
              <a:ext uri="{FF2B5EF4-FFF2-40B4-BE49-F238E27FC236}">
                <a16:creationId xmlns:a16="http://schemas.microsoft.com/office/drawing/2014/main" id="{BE46EFAC-C90F-C6F5-DC6C-AB39021763D0}"/>
              </a:ext>
            </a:extLst>
          </p:cNvPr>
          <p:cNvSpPr txBox="1"/>
          <p:nvPr/>
        </p:nvSpPr>
        <p:spPr>
          <a:xfrm>
            <a:off x="7035914" y="2396951"/>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2a</a:t>
            </a:r>
            <a:endParaRPr dirty="0">
              <a:latin typeface="Calibri"/>
              <a:ea typeface="Calibri"/>
              <a:cs typeface="Calibri"/>
              <a:sym typeface="Calibri"/>
            </a:endParaRPr>
          </a:p>
        </p:txBody>
      </p:sp>
      <p:cxnSp>
        <p:nvCxnSpPr>
          <p:cNvPr id="13" name="Google Shape;137;p20">
            <a:extLst>
              <a:ext uri="{FF2B5EF4-FFF2-40B4-BE49-F238E27FC236}">
                <a16:creationId xmlns:a16="http://schemas.microsoft.com/office/drawing/2014/main" id="{E22FB6A2-5AFD-67B7-DE5D-C106544A3133}"/>
              </a:ext>
            </a:extLst>
          </p:cNvPr>
          <p:cNvCxnSpPr>
            <a:cxnSpLocks/>
          </p:cNvCxnSpPr>
          <p:nvPr/>
        </p:nvCxnSpPr>
        <p:spPr>
          <a:xfrm flipV="1">
            <a:off x="4329710" y="2451320"/>
            <a:ext cx="6030418" cy="665024"/>
          </a:xfrm>
          <a:prstGeom prst="straightConnector1">
            <a:avLst/>
          </a:prstGeom>
          <a:noFill/>
          <a:ln w="19050" cap="flat" cmpd="sng">
            <a:solidFill>
              <a:srgbClr val="000000"/>
            </a:solidFill>
            <a:prstDash val="solid"/>
            <a:round/>
            <a:headEnd type="none" w="med" len="med"/>
            <a:tailEnd type="triangle" w="med" len="med"/>
          </a:ln>
        </p:spPr>
      </p:cxnSp>
      <p:cxnSp>
        <p:nvCxnSpPr>
          <p:cNvPr id="6" name="Google Shape;168;p21">
            <a:extLst>
              <a:ext uri="{FF2B5EF4-FFF2-40B4-BE49-F238E27FC236}">
                <a16:creationId xmlns:a16="http://schemas.microsoft.com/office/drawing/2014/main" id="{7E18AC4B-604F-90AE-4762-39B3674E9744}"/>
              </a:ext>
            </a:extLst>
          </p:cNvPr>
          <p:cNvCxnSpPr>
            <a:cxnSpLocks/>
          </p:cNvCxnSpPr>
          <p:nvPr/>
        </p:nvCxnSpPr>
        <p:spPr>
          <a:xfrm flipV="1">
            <a:off x="4281620" y="3806749"/>
            <a:ext cx="6308312" cy="55744"/>
          </a:xfrm>
          <a:prstGeom prst="straightConnector1">
            <a:avLst/>
          </a:prstGeom>
          <a:noFill/>
          <a:ln w="19050" cap="flat" cmpd="sng">
            <a:solidFill>
              <a:srgbClr val="000000"/>
            </a:solidFill>
            <a:prstDash val="solid"/>
            <a:round/>
            <a:headEnd type="triangle" w="med" len="med"/>
            <a:tailEnd type="none" w="med" len="med"/>
          </a:ln>
        </p:spPr>
      </p:cxnSp>
      <p:sp>
        <p:nvSpPr>
          <p:cNvPr id="18" name="Google Shape;462;p34">
            <a:extLst>
              <a:ext uri="{FF2B5EF4-FFF2-40B4-BE49-F238E27FC236}">
                <a16:creationId xmlns:a16="http://schemas.microsoft.com/office/drawing/2014/main" id="{78103CF9-F67F-2AB1-2597-7AA9208FFA6A}"/>
              </a:ext>
            </a:extLst>
          </p:cNvPr>
          <p:cNvSpPr txBox="1"/>
          <p:nvPr/>
        </p:nvSpPr>
        <p:spPr>
          <a:xfrm>
            <a:off x="6675437" y="3793113"/>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5</a:t>
            </a:r>
            <a:endParaRPr dirty="0">
              <a:latin typeface="Calibri"/>
              <a:ea typeface="Calibri"/>
              <a:cs typeface="Calibri"/>
              <a:sym typeface="Calibri"/>
            </a:endParaRPr>
          </a:p>
        </p:txBody>
      </p:sp>
      <p:cxnSp>
        <p:nvCxnSpPr>
          <p:cNvPr id="9" name="Google Shape;137;p20">
            <a:extLst>
              <a:ext uri="{FF2B5EF4-FFF2-40B4-BE49-F238E27FC236}">
                <a16:creationId xmlns:a16="http://schemas.microsoft.com/office/drawing/2014/main" id="{06A0192B-082D-DD6D-1506-7D1EFD14E15D}"/>
              </a:ext>
            </a:extLst>
          </p:cNvPr>
          <p:cNvCxnSpPr>
            <a:cxnSpLocks/>
            <a:endCxn id="47" idx="1"/>
          </p:cNvCxnSpPr>
          <p:nvPr/>
        </p:nvCxnSpPr>
        <p:spPr>
          <a:xfrm>
            <a:off x="4281620" y="4239666"/>
            <a:ext cx="6109545" cy="350094"/>
          </a:xfrm>
          <a:prstGeom prst="straightConnector1">
            <a:avLst/>
          </a:prstGeom>
          <a:noFill/>
          <a:ln w="19050" cap="flat" cmpd="sng">
            <a:solidFill>
              <a:srgbClr val="000000"/>
            </a:solidFill>
            <a:prstDash val="solid"/>
            <a:round/>
            <a:headEnd type="none" w="med" len="med"/>
            <a:tailEnd type="triangle" w="med" len="med"/>
          </a:ln>
        </p:spPr>
      </p:cxnSp>
      <p:sp>
        <p:nvSpPr>
          <p:cNvPr id="14" name="Google Shape;138;p20">
            <a:extLst>
              <a:ext uri="{FF2B5EF4-FFF2-40B4-BE49-F238E27FC236}">
                <a16:creationId xmlns:a16="http://schemas.microsoft.com/office/drawing/2014/main" id="{5120AFC5-7A8E-EA5E-853E-D4087D604B1C}"/>
              </a:ext>
            </a:extLst>
          </p:cNvPr>
          <p:cNvSpPr txBox="1"/>
          <p:nvPr/>
        </p:nvSpPr>
        <p:spPr>
          <a:xfrm>
            <a:off x="5018484" y="4682139"/>
            <a:ext cx="4693737" cy="587450"/>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400" dirty="0"/>
              <a:t>“What is the IP address of </a:t>
            </a:r>
            <a:r>
              <a:rPr lang="en" sz="1400" b="1" dirty="0">
                <a:solidFill>
                  <a:schemeClr val="dk1"/>
                </a:solidFill>
                <a:latin typeface="Courier New"/>
                <a:ea typeface="Courier New"/>
                <a:cs typeface="Courier New"/>
                <a:sym typeface="Courier New"/>
              </a:rPr>
              <a:t>fake_photo1.google.com</a:t>
            </a:r>
            <a:r>
              <a:rPr lang="en" sz="1400" dirty="0"/>
              <a:t>? This request has ID 774.”</a:t>
            </a:r>
            <a:endParaRPr sz="1400" dirty="0"/>
          </a:p>
        </p:txBody>
      </p:sp>
      <p:sp>
        <p:nvSpPr>
          <p:cNvPr id="15" name="Google Shape;462;p34">
            <a:extLst>
              <a:ext uri="{FF2B5EF4-FFF2-40B4-BE49-F238E27FC236}">
                <a16:creationId xmlns:a16="http://schemas.microsoft.com/office/drawing/2014/main" id="{629BB30B-3C5C-301E-7285-0A334A67629A}"/>
              </a:ext>
            </a:extLst>
          </p:cNvPr>
          <p:cNvSpPr txBox="1"/>
          <p:nvPr/>
        </p:nvSpPr>
        <p:spPr>
          <a:xfrm>
            <a:off x="7365353" y="4056451"/>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6</a:t>
            </a:r>
            <a:endParaRPr dirty="0">
              <a:latin typeface="Calibri"/>
              <a:ea typeface="Calibri"/>
              <a:cs typeface="Calibri"/>
              <a:sym typeface="Calibri"/>
            </a:endParaRPr>
          </a:p>
        </p:txBody>
      </p:sp>
      <p:sp>
        <p:nvSpPr>
          <p:cNvPr id="23" name="Google Shape;1819;p140">
            <a:extLst>
              <a:ext uri="{FF2B5EF4-FFF2-40B4-BE49-F238E27FC236}">
                <a16:creationId xmlns:a16="http://schemas.microsoft.com/office/drawing/2014/main" id="{4FD5A12C-9169-4218-14EC-664B20EFD2F4}"/>
              </a:ext>
            </a:extLst>
          </p:cNvPr>
          <p:cNvSpPr txBox="1">
            <a:spLocks noGrp="1"/>
          </p:cNvSpPr>
          <p:nvPr>
            <p:ph type="title"/>
          </p:nvPr>
        </p:nvSpPr>
        <p:spPr>
          <a:xfrm>
            <a:off x="415600" y="55919"/>
            <a:ext cx="11360800" cy="763600"/>
          </a:xfrm>
          <a:prstGeom prst="rect">
            <a:avLst/>
          </a:prstGeom>
        </p:spPr>
        <p:txBody>
          <a:bodyPr spcFirstLastPara="1" wrap="square" lIns="121900" tIns="121900" rIns="121900" bIns="121900" anchor="t" anchorCtr="0">
            <a:noAutofit/>
          </a:bodyPr>
          <a:lstStyle/>
          <a:p>
            <a:r>
              <a:rPr lang="en" sz="4400" dirty="0">
                <a:latin typeface="Aptos" panose="020B0004020202020204" pitchFamily="34" charset="0"/>
              </a:rPr>
              <a:t>Kaminsky Attack: Example</a:t>
            </a:r>
            <a:endParaRPr sz="4400" dirty="0">
              <a:latin typeface="Aptos" panose="020B0004020202020204" pitchFamily="34" charset="0"/>
            </a:endParaRPr>
          </a:p>
        </p:txBody>
      </p:sp>
    </p:spTree>
    <p:extLst>
      <p:ext uri="{BB962C8B-B14F-4D97-AF65-F5344CB8AC3E}">
        <p14:creationId xmlns:p14="http://schemas.microsoft.com/office/powerpoint/2010/main" val="13767492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Google Shape;94;p18">
            <a:extLst>
              <a:ext uri="{FF2B5EF4-FFF2-40B4-BE49-F238E27FC236}">
                <a16:creationId xmlns:a16="http://schemas.microsoft.com/office/drawing/2014/main" id="{27338096-ADE2-579F-5EE1-AEDCC622FBBF}"/>
              </a:ext>
            </a:extLst>
          </p:cNvPr>
          <p:cNvSpPr txBox="1"/>
          <p:nvPr/>
        </p:nvSpPr>
        <p:spPr>
          <a:xfrm>
            <a:off x="1086878" y="1273669"/>
            <a:ext cx="2164021" cy="58745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Courier New"/>
                <a:ea typeface="Courier New"/>
                <a:cs typeface="Courier New"/>
                <a:sym typeface="Courier New"/>
              </a:rPr>
              <a:t>Stub Resolver</a:t>
            </a:r>
            <a:endParaRPr dirty="0">
              <a:latin typeface="Calibri"/>
              <a:ea typeface="Calibri"/>
              <a:cs typeface="Calibri"/>
              <a:sym typeface="Calibri"/>
            </a:endParaRPr>
          </a:p>
        </p:txBody>
      </p:sp>
      <p:sp>
        <p:nvSpPr>
          <p:cNvPr id="20" name="Google Shape;98;p18">
            <a:extLst>
              <a:ext uri="{FF2B5EF4-FFF2-40B4-BE49-F238E27FC236}">
                <a16:creationId xmlns:a16="http://schemas.microsoft.com/office/drawing/2014/main" id="{19323B84-7D87-0BA1-EAA5-286975507BC8}"/>
              </a:ext>
            </a:extLst>
          </p:cNvPr>
          <p:cNvSpPr/>
          <p:nvPr/>
        </p:nvSpPr>
        <p:spPr>
          <a:xfrm>
            <a:off x="164860" y="2572413"/>
            <a:ext cx="4056187" cy="3701166"/>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99;p18">
            <a:extLst>
              <a:ext uri="{FF2B5EF4-FFF2-40B4-BE49-F238E27FC236}">
                <a16:creationId xmlns:a16="http://schemas.microsoft.com/office/drawing/2014/main" id="{10C1C038-9E6A-04D6-69B1-5060DB60FB3C}"/>
              </a:ext>
            </a:extLst>
          </p:cNvPr>
          <p:cNvSpPr txBox="1"/>
          <p:nvPr/>
        </p:nvSpPr>
        <p:spPr>
          <a:xfrm>
            <a:off x="248560" y="2660813"/>
            <a:ext cx="3840671" cy="508261"/>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graphicFrame>
        <p:nvGraphicFramePr>
          <p:cNvPr id="22" name="Google Shape;100;p18">
            <a:extLst>
              <a:ext uri="{FF2B5EF4-FFF2-40B4-BE49-F238E27FC236}">
                <a16:creationId xmlns:a16="http://schemas.microsoft.com/office/drawing/2014/main" id="{48D49623-2A57-A908-A06B-77B627D60BAE}"/>
              </a:ext>
            </a:extLst>
          </p:cNvPr>
          <p:cNvGraphicFramePr/>
          <p:nvPr>
            <p:extLst>
              <p:ext uri="{D42A27DB-BD31-4B8C-83A1-F6EECF244321}">
                <p14:modId xmlns:p14="http://schemas.microsoft.com/office/powerpoint/2010/main" val="459424535"/>
              </p:ext>
            </p:extLst>
          </p:nvPr>
        </p:nvGraphicFramePr>
        <p:xfrm>
          <a:off x="248586" y="3054413"/>
          <a:ext cx="3840606" cy="1740163"/>
        </p:xfrm>
        <a:graphic>
          <a:graphicData uri="http://schemas.openxmlformats.org/drawingml/2006/table">
            <a:tbl>
              <a:tblPr>
                <a:noFill/>
              </a:tblPr>
              <a:tblGrid>
                <a:gridCol w="1920303">
                  <a:extLst>
                    <a:ext uri="{9D8B030D-6E8A-4147-A177-3AD203B41FA5}">
                      <a16:colId xmlns:a16="http://schemas.microsoft.com/office/drawing/2014/main" val="20000"/>
                    </a:ext>
                  </a:extLst>
                </a:gridCol>
                <a:gridCol w="1920303">
                  <a:extLst>
                    <a:ext uri="{9D8B030D-6E8A-4147-A177-3AD203B41FA5}">
                      <a16:colId xmlns:a16="http://schemas.microsoft.com/office/drawing/2014/main" val="20001"/>
                    </a:ext>
                  </a:extLst>
                </a:gridCol>
              </a:tblGrid>
              <a:tr h="452593">
                <a:tc gridSpan="2">
                  <a:txBody>
                    <a:bodyPr/>
                    <a:lstStyle/>
                    <a:p>
                      <a:pPr marL="0" lvl="0" indent="0" algn="ctr" rtl="0">
                        <a:spcBef>
                          <a:spcPts val="0"/>
                        </a:spcBef>
                        <a:spcAft>
                          <a:spcPts val="0"/>
                        </a:spcAft>
                        <a:buNone/>
                      </a:pPr>
                      <a:r>
                        <a:rPr lang="en" sz="1500" dirty="0">
                          <a:latin typeface="Courier New"/>
                          <a:ea typeface="Courier New"/>
                          <a:cs typeface="Courier New"/>
                          <a:sym typeface="Courier New"/>
                        </a:rPr>
                        <a:t>Recursive Resolver Cache</a:t>
                      </a:r>
                      <a:endParaRPr sz="1500" dirty="0">
                        <a:latin typeface="Courier New"/>
                        <a:ea typeface="Courier New"/>
                        <a:cs typeface="Courier New"/>
                        <a:sym typeface="Courier New"/>
                      </a:endParaRPr>
                    </a:p>
                  </a:txBody>
                  <a:tcPr marL="91425" marR="91425" marT="91425" marB="91425">
                    <a:lnB w="9525" cap="flat" cmpd="sng" algn="ctr">
                      <a:solidFill>
                        <a:srgbClr val="9E9E9E"/>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0"/>
                  </a:ext>
                </a:extLst>
              </a:tr>
              <a:tr h="433160">
                <a:tc>
                  <a:txBody>
                    <a:bodyPr/>
                    <a:lstStyle/>
                    <a:p>
                      <a:pPr marL="0" lvl="0" indent="0" algn="l" rtl="0">
                        <a:lnSpc>
                          <a:spcPct val="115000"/>
                        </a:lnSpc>
                        <a:spcBef>
                          <a:spcPts val="0"/>
                        </a:spcBef>
                        <a:spcAft>
                          <a:spcPts val="0"/>
                        </a:spcAft>
                        <a:buNone/>
                      </a:pPr>
                      <a:r>
                        <a:rPr lang="en-US" sz="1100" b="0" dirty="0">
                          <a:solidFill>
                            <a:schemeClr val="dk1"/>
                          </a:solidFill>
                          <a:latin typeface="Courier New"/>
                          <a:ea typeface="Courier New"/>
                          <a:cs typeface="Courier New"/>
                          <a:sym typeface="Courier New"/>
                        </a:rPr>
                        <a:t>a.gtld-servers.net</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r>
                        <a:rPr lang="en-US" sz="1500" b="0" dirty="0">
                          <a:solidFill>
                            <a:schemeClr val="dk1"/>
                          </a:solidFill>
                          <a:latin typeface="Courier New"/>
                          <a:ea typeface="Courier New"/>
                          <a:cs typeface="Courier New"/>
                          <a:sym typeface="Courier New"/>
                        </a:rPr>
                        <a:t>192.5.6.30</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433160">
                <a:tc>
                  <a:txBody>
                    <a:bodyPr/>
                    <a:lstStyle/>
                    <a:p>
                      <a:pPr marL="0" marR="0" lvl="0" indent="0" algn="l" rtl="0">
                        <a:lnSpc>
                          <a:spcPct val="115000"/>
                        </a:lnSpc>
                        <a:spcBef>
                          <a:spcPts val="0"/>
                        </a:spcBef>
                        <a:spcAft>
                          <a:spcPts val="0"/>
                        </a:spcAft>
                        <a:buClr>
                          <a:srgbClr val="000000"/>
                        </a:buClr>
                        <a:buFont typeface="Arial"/>
                        <a:buNone/>
                      </a:pPr>
                      <a:r>
                        <a:rPr lang="en-US" sz="1500" b="0" i="0" u="none" strike="noStrike" cap="none" dirty="0">
                          <a:solidFill>
                            <a:schemeClr val="dk1"/>
                          </a:solidFill>
                          <a:latin typeface="Courier New"/>
                          <a:ea typeface="Courier New"/>
                          <a:cs typeface="Courier New"/>
                          <a:sym typeface="Courier New"/>
                        </a:rPr>
                        <a:t>ns1.google.com</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solidFill>
                      <a:schemeClr val="lt1"/>
                    </a:solidFill>
                  </a:tcPr>
                </a:tc>
                <a:tc>
                  <a:txBody>
                    <a:bodyPr/>
                    <a:lstStyle/>
                    <a:p>
                      <a:pPr marL="0" marR="0" lvl="0" indent="0" algn="l" rtl="0">
                        <a:lnSpc>
                          <a:spcPct val="115000"/>
                        </a:lnSpc>
                        <a:spcBef>
                          <a:spcPts val="0"/>
                        </a:spcBef>
                        <a:spcAft>
                          <a:spcPts val="0"/>
                        </a:spcAft>
                        <a:buClr>
                          <a:srgbClr val="000000"/>
                        </a:buClr>
                        <a:buFont typeface="Arial"/>
                        <a:buNone/>
                      </a:pPr>
                      <a:r>
                        <a:rPr lang="en-US" sz="1500" b="0" i="0" u="none" strike="noStrike" cap="none" dirty="0">
                          <a:solidFill>
                            <a:schemeClr val="dk1"/>
                          </a:solidFill>
                          <a:latin typeface="Courier New"/>
                          <a:ea typeface="Courier New"/>
                          <a:cs typeface="Courier New"/>
                          <a:sym typeface="Courier New"/>
                        </a:rPr>
                        <a:t>216.239.32.10</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413234">
                <a:tc>
                  <a:txBody>
                    <a:bodyPr/>
                    <a:lstStyle/>
                    <a:p>
                      <a:pPr marL="0" lvl="0" indent="0" algn="l" rtl="0">
                        <a:spcBef>
                          <a:spcPts val="0"/>
                        </a:spcBef>
                        <a:spcAft>
                          <a:spcPts val="0"/>
                        </a:spcAft>
                        <a:buNone/>
                      </a:pPr>
                      <a:endParaRPr sz="1500" b="1" dirty="0">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sz="1500" b="1" dirty="0">
                        <a:solidFill>
                          <a:srgbClr val="FF0000"/>
                        </a:solidFill>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bl>
          </a:graphicData>
        </a:graphic>
      </p:graphicFrame>
      <p:sp>
        <p:nvSpPr>
          <p:cNvPr id="45" name="Google Shape;134;p22">
            <a:extLst>
              <a:ext uri="{FF2B5EF4-FFF2-40B4-BE49-F238E27FC236}">
                <a16:creationId xmlns:a16="http://schemas.microsoft.com/office/drawing/2014/main" id="{448F3387-90D1-25AA-E982-9BF555E98B4F}"/>
              </a:ext>
            </a:extLst>
          </p:cNvPr>
          <p:cNvSpPr txBox="1"/>
          <p:nvPr/>
        </p:nvSpPr>
        <p:spPr>
          <a:xfrm>
            <a:off x="10360128" y="2456393"/>
            <a:ext cx="1238100" cy="3648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Courier New" panose="02070309020205020404" pitchFamily="49" charset="0"/>
                <a:ea typeface="Courier New"/>
                <a:cs typeface="Courier New" panose="02070309020205020404" pitchFamily="49" charset="0"/>
                <a:sym typeface="Courier New"/>
              </a:rPr>
              <a:t>.</a:t>
            </a:r>
            <a:r>
              <a:rPr lang="en" dirty="0">
                <a:latin typeface="Courier New" panose="02070309020205020404" pitchFamily="49" charset="0"/>
                <a:cs typeface="Courier New" panose="02070309020205020404" pitchFamily="49" charset="0"/>
              </a:rPr>
              <a:t>(root)</a:t>
            </a:r>
            <a:endParaRPr dirty="0">
              <a:latin typeface="Courier New" panose="02070309020205020404" pitchFamily="49" charset="0"/>
              <a:ea typeface="Courier New"/>
              <a:cs typeface="Courier New" panose="02070309020205020404" pitchFamily="49" charset="0"/>
              <a:sym typeface="Courier New"/>
            </a:endParaRPr>
          </a:p>
        </p:txBody>
      </p:sp>
      <p:sp>
        <p:nvSpPr>
          <p:cNvPr id="46" name="Google Shape;135;p22">
            <a:extLst>
              <a:ext uri="{FF2B5EF4-FFF2-40B4-BE49-F238E27FC236}">
                <a16:creationId xmlns:a16="http://schemas.microsoft.com/office/drawing/2014/main" id="{263AA768-2073-CAA1-0D3F-4FB15ADCC058}"/>
              </a:ext>
            </a:extLst>
          </p:cNvPr>
          <p:cNvSpPr txBox="1"/>
          <p:nvPr/>
        </p:nvSpPr>
        <p:spPr>
          <a:xfrm>
            <a:off x="10721787" y="3468893"/>
            <a:ext cx="73152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Courier New"/>
                <a:ea typeface="Courier New"/>
                <a:cs typeface="Courier New"/>
                <a:sym typeface="Courier New"/>
              </a:rPr>
              <a:t>.com</a:t>
            </a:r>
            <a:endParaRPr>
              <a:latin typeface="Calibri"/>
              <a:ea typeface="Calibri"/>
              <a:cs typeface="Calibri"/>
              <a:sym typeface="Calibri"/>
            </a:endParaRPr>
          </a:p>
        </p:txBody>
      </p:sp>
      <p:sp>
        <p:nvSpPr>
          <p:cNvPr id="47" name="Google Shape;136;p22">
            <a:extLst>
              <a:ext uri="{FF2B5EF4-FFF2-40B4-BE49-F238E27FC236}">
                <a16:creationId xmlns:a16="http://schemas.microsoft.com/office/drawing/2014/main" id="{2CDEAC51-B9BF-917D-9B18-E3E86C651A2A}"/>
              </a:ext>
            </a:extLst>
          </p:cNvPr>
          <p:cNvSpPr txBox="1"/>
          <p:nvPr/>
        </p:nvSpPr>
        <p:spPr>
          <a:xfrm>
            <a:off x="10391165" y="4392960"/>
            <a:ext cx="1385235"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400" dirty="0">
                <a:latin typeface="Courier New"/>
                <a:ea typeface="Courier New"/>
                <a:cs typeface="Courier New"/>
                <a:sym typeface="Courier New"/>
              </a:rPr>
              <a:t>google.com</a:t>
            </a:r>
            <a:endParaRPr sz="1400" dirty="0">
              <a:latin typeface="Calibri"/>
              <a:ea typeface="Calibri"/>
              <a:cs typeface="Calibri"/>
              <a:sym typeface="Calibri"/>
            </a:endParaRPr>
          </a:p>
        </p:txBody>
      </p:sp>
      <p:cxnSp>
        <p:nvCxnSpPr>
          <p:cNvPr id="48" name="Google Shape;137;p22">
            <a:extLst>
              <a:ext uri="{FF2B5EF4-FFF2-40B4-BE49-F238E27FC236}">
                <a16:creationId xmlns:a16="http://schemas.microsoft.com/office/drawing/2014/main" id="{ED88BD28-FFDE-6C5F-BF7B-6DC37181AC9F}"/>
              </a:ext>
            </a:extLst>
          </p:cNvPr>
          <p:cNvCxnSpPr>
            <a:cxnSpLocks/>
          </p:cNvCxnSpPr>
          <p:nvPr/>
        </p:nvCxnSpPr>
        <p:spPr>
          <a:xfrm>
            <a:off x="11081081" y="2814897"/>
            <a:ext cx="0" cy="653996"/>
          </a:xfrm>
          <a:prstGeom prst="straightConnector1">
            <a:avLst/>
          </a:prstGeom>
          <a:noFill/>
          <a:ln w="9525" cap="flat" cmpd="sng">
            <a:solidFill>
              <a:srgbClr val="000000"/>
            </a:solidFill>
            <a:prstDash val="solid"/>
            <a:round/>
            <a:headEnd type="none" w="med" len="med"/>
            <a:tailEnd type="none" w="med" len="med"/>
          </a:ln>
        </p:spPr>
      </p:cxnSp>
      <p:cxnSp>
        <p:nvCxnSpPr>
          <p:cNvPr id="49" name="Google Shape;138;p22">
            <a:extLst>
              <a:ext uri="{FF2B5EF4-FFF2-40B4-BE49-F238E27FC236}">
                <a16:creationId xmlns:a16="http://schemas.microsoft.com/office/drawing/2014/main" id="{E1BD3C6E-22E3-710C-5A2F-210A7F88EA9F}"/>
              </a:ext>
            </a:extLst>
          </p:cNvPr>
          <p:cNvCxnSpPr>
            <a:cxnSpLocks/>
          </p:cNvCxnSpPr>
          <p:nvPr/>
        </p:nvCxnSpPr>
        <p:spPr>
          <a:xfrm>
            <a:off x="11081081" y="3862493"/>
            <a:ext cx="0" cy="516831"/>
          </a:xfrm>
          <a:prstGeom prst="straightConnector1">
            <a:avLst/>
          </a:prstGeom>
          <a:noFill/>
          <a:ln w="9525" cap="flat" cmpd="sng">
            <a:solidFill>
              <a:srgbClr val="000000"/>
            </a:solidFill>
            <a:prstDash val="solid"/>
            <a:round/>
            <a:headEnd type="none" w="med" len="med"/>
            <a:tailEnd type="none" w="med" len="med"/>
          </a:ln>
        </p:spPr>
      </p:cxnSp>
      <p:grpSp>
        <p:nvGrpSpPr>
          <p:cNvPr id="2" name="Google Shape;112;p19">
            <a:extLst>
              <a:ext uri="{FF2B5EF4-FFF2-40B4-BE49-F238E27FC236}">
                <a16:creationId xmlns:a16="http://schemas.microsoft.com/office/drawing/2014/main" id="{841FC229-967F-039A-FFC0-FF5C182A4E14}"/>
              </a:ext>
            </a:extLst>
          </p:cNvPr>
          <p:cNvGrpSpPr/>
          <p:nvPr/>
        </p:nvGrpSpPr>
        <p:grpSpPr>
          <a:xfrm>
            <a:off x="1400223" y="1930411"/>
            <a:ext cx="410100" cy="572709"/>
            <a:chOff x="258935" y="2049228"/>
            <a:chExt cx="410100" cy="762900"/>
          </a:xfrm>
        </p:grpSpPr>
        <p:sp>
          <p:nvSpPr>
            <p:cNvPr id="3" name="Google Shape;113;p19">
              <a:extLst>
                <a:ext uri="{FF2B5EF4-FFF2-40B4-BE49-F238E27FC236}">
                  <a16:creationId xmlns:a16="http://schemas.microsoft.com/office/drawing/2014/main" id="{3E0EF041-38F2-2F8B-A5CE-F2D53C55BF62}"/>
                </a:ext>
              </a:extLst>
            </p:cNvPr>
            <p:cNvSpPr txBox="1"/>
            <p:nvPr/>
          </p:nvSpPr>
          <p:spPr>
            <a:xfrm>
              <a:off x="258935" y="2174852"/>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1</a:t>
              </a:r>
              <a:endParaRPr dirty="0">
                <a:latin typeface="Calibri"/>
                <a:ea typeface="Calibri"/>
                <a:cs typeface="Calibri"/>
                <a:sym typeface="Calibri"/>
              </a:endParaRPr>
            </a:p>
          </p:txBody>
        </p:sp>
        <p:cxnSp>
          <p:nvCxnSpPr>
            <p:cNvPr id="5" name="Google Shape;114;p19">
              <a:extLst>
                <a:ext uri="{FF2B5EF4-FFF2-40B4-BE49-F238E27FC236}">
                  <a16:creationId xmlns:a16="http://schemas.microsoft.com/office/drawing/2014/main" id="{0C4C7EAF-C9DB-4261-3BED-631D9168B522}"/>
                </a:ext>
              </a:extLst>
            </p:cNvPr>
            <p:cNvCxnSpPr/>
            <p:nvPr/>
          </p:nvCxnSpPr>
          <p:spPr>
            <a:xfrm rot="10800000">
              <a:off x="530725" y="2049228"/>
              <a:ext cx="0" cy="762900"/>
            </a:xfrm>
            <a:prstGeom prst="straightConnector1">
              <a:avLst/>
            </a:prstGeom>
            <a:noFill/>
            <a:ln w="19050" cap="flat" cmpd="sng">
              <a:solidFill>
                <a:srgbClr val="000000"/>
              </a:solidFill>
              <a:prstDash val="solid"/>
              <a:round/>
              <a:headEnd type="triangle" w="med" len="med"/>
              <a:tailEnd type="none" w="med" len="med"/>
            </a:ln>
          </p:spPr>
        </p:cxnSp>
      </p:grpSp>
      <p:cxnSp>
        <p:nvCxnSpPr>
          <p:cNvPr id="8" name="Google Shape;137;p20">
            <a:extLst>
              <a:ext uri="{FF2B5EF4-FFF2-40B4-BE49-F238E27FC236}">
                <a16:creationId xmlns:a16="http://schemas.microsoft.com/office/drawing/2014/main" id="{4EBBC3CC-96CB-BB92-04F3-0986450E3E9D}"/>
              </a:ext>
            </a:extLst>
          </p:cNvPr>
          <p:cNvCxnSpPr>
            <a:cxnSpLocks/>
          </p:cNvCxnSpPr>
          <p:nvPr/>
        </p:nvCxnSpPr>
        <p:spPr>
          <a:xfrm flipV="1">
            <a:off x="4352902" y="3665693"/>
            <a:ext cx="6237030" cy="26921"/>
          </a:xfrm>
          <a:prstGeom prst="straightConnector1">
            <a:avLst/>
          </a:prstGeom>
          <a:noFill/>
          <a:ln w="19050" cap="flat" cmpd="sng">
            <a:solidFill>
              <a:srgbClr val="000000"/>
            </a:solidFill>
            <a:prstDash val="solid"/>
            <a:round/>
            <a:headEnd type="none" w="med" len="med"/>
            <a:tailEnd type="triangle" w="med" len="med"/>
          </a:ln>
        </p:spPr>
      </p:cxnSp>
      <p:sp>
        <p:nvSpPr>
          <p:cNvPr id="11" name="Google Shape;462;p34">
            <a:extLst>
              <a:ext uri="{FF2B5EF4-FFF2-40B4-BE49-F238E27FC236}">
                <a16:creationId xmlns:a16="http://schemas.microsoft.com/office/drawing/2014/main" id="{D6E5E8A9-AEA6-80C0-0176-1DD15FA8AED5}"/>
              </a:ext>
            </a:extLst>
          </p:cNvPr>
          <p:cNvSpPr txBox="1"/>
          <p:nvPr/>
        </p:nvSpPr>
        <p:spPr>
          <a:xfrm>
            <a:off x="6690956" y="3282378"/>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4</a:t>
            </a:r>
            <a:endParaRPr dirty="0">
              <a:latin typeface="Calibri"/>
              <a:ea typeface="Calibri"/>
              <a:cs typeface="Calibri"/>
              <a:sym typeface="Calibri"/>
            </a:endParaRPr>
          </a:p>
        </p:txBody>
      </p:sp>
      <p:sp>
        <p:nvSpPr>
          <p:cNvPr id="7" name="Google Shape;462;p34">
            <a:extLst>
              <a:ext uri="{FF2B5EF4-FFF2-40B4-BE49-F238E27FC236}">
                <a16:creationId xmlns:a16="http://schemas.microsoft.com/office/drawing/2014/main" id="{FF787ACD-9855-3C78-220E-7F8BE64A938C}"/>
              </a:ext>
            </a:extLst>
          </p:cNvPr>
          <p:cNvSpPr txBox="1"/>
          <p:nvPr/>
        </p:nvSpPr>
        <p:spPr>
          <a:xfrm>
            <a:off x="7917176" y="2819729"/>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3</a:t>
            </a:r>
          </a:p>
        </p:txBody>
      </p:sp>
      <p:cxnSp>
        <p:nvCxnSpPr>
          <p:cNvPr id="10" name="Google Shape;168;p21">
            <a:extLst>
              <a:ext uri="{FF2B5EF4-FFF2-40B4-BE49-F238E27FC236}">
                <a16:creationId xmlns:a16="http://schemas.microsoft.com/office/drawing/2014/main" id="{144D6287-9EB8-03A6-F245-18F166DF710E}"/>
              </a:ext>
            </a:extLst>
          </p:cNvPr>
          <p:cNvCxnSpPr>
            <a:cxnSpLocks/>
          </p:cNvCxnSpPr>
          <p:nvPr/>
        </p:nvCxnSpPr>
        <p:spPr>
          <a:xfrm flipV="1">
            <a:off x="4197894" y="2638793"/>
            <a:ext cx="6162234" cy="641955"/>
          </a:xfrm>
          <a:prstGeom prst="straightConnector1">
            <a:avLst/>
          </a:prstGeom>
          <a:noFill/>
          <a:ln w="19050" cap="flat" cmpd="sng">
            <a:solidFill>
              <a:srgbClr val="000000"/>
            </a:solidFill>
            <a:prstDash val="solid"/>
            <a:round/>
            <a:headEnd type="triangle" w="med" len="med"/>
            <a:tailEnd type="none" w="med" len="med"/>
          </a:ln>
        </p:spPr>
      </p:cxnSp>
      <p:sp>
        <p:nvSpPr>
          <p:cNvPr id="12" name="Google Shape;462;p34">
            <a:extLst>
              <a:ext uri="{FF2B5EF4-FFF2-40B4-BE49-F238E27FC236}">
                <a16:creationId xmlns:a16="http://schemas.microsoft.com/office/drawing/2014/main" id="{BE46EFAC-C90F-C6F5-DC6C-AB39021763D0}"/>
              </a:ext>
            </a:extLst>
          </p:cNvPr>
          <p:cNvSpPr txBox="1"/>
          <p:nvPr/>
        </p:nvSpPr>
        <p:spPr>
          <a:xfrm>
            <a:off x="7035914" y="2396951"/>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2a</a:t>
            </a:r>
            <a:endParaRPr dirty="0">
              <a:latin typeface="Calibri"/>
              <a:ea typeface="Calibri"/>
              <a:cs typeface="Calibri"/>
              <a:sym typeface="Calibri"/>
            </a:endParaRPr>
          </a:p>
        </p:txBody>
      </p:sp>
      <p:cxnSp>
        <p:nvCxnSpPr>
          <p:cNvPr id="13" name="Google Shape;137;p20">
            <a:extLst>
              <a:ext uri="{FF2B5EF4-FFF2-40B4-BE49-F238E27FC236}">
                <a16:creationId xmlns:a16="http://schemas.microsoft.com/office/drawing/2014/main" id="{E22FB6A2-5AFD-67B7-DE5D-C106544A3133}"/>
              </a:ext>
            </a:extLst>
          </p:cNvPr>
          <p:cNvCxnSpPr>
            <a:cxnSpLocks/>
          </p:cNvCxnSpPr>
          <p:nvPr/>
        </p:nvCxnSpPr>
        <p:spPr>
          <a:xfrm flipV="1">
            <a:off x="4329710" y="2451320"/>
            <a:ext cx="6030418" cy="665024"/>
          </a:xfrm>
          <a:prstGeom prst="straightConnector1">
            <a:avLst/>
          </a:prstGeom>
          <a:noFill/>
          <a:ln w="19050" cap="flat" cmpd="sng">
            <a:solidFill>
              <a:srgbClr val="000000"/>
            </a:solidFill>
            <a:prstDash val="solid"/>
            <a:round/>
            <a:headEnd type="none" w="med" len="med"/>
            <a:tailEnd type="triangle" w="med" len="med"/>
          </a:ln>
        </p:spPr>
      </p:cxnSp>
      <p:cxnSp>
        <p:nvCxnSpPr>
          <p:cNvPr id="6" name="Google Shape;168;p21">
            <a:extLst>
              <a:ext uri="{FF2B5EF4-FFF2-40B4-BE49-F238E27FC236}">
                <a16:creationId xmlns:a16="http://schemas.microsoft.com/office/drawing/2014/main" id="{7E18AC4B-604F-90AE-4762-39B3674E9744}"/>
              </a:ext>
            </a:extLst>
          </p:cNvPr>
          <p:cNvCxnSpPr>
            <a:cxnSpLocks/>
          </p:cNvCxnSpPr>
          <p:nvPr/>
        </p:nvCxnSpPr>
        <p:spPr>
          <a:xfrm flipV="1">
            <a:off x="4281620" y="3806749"/>
            <a:ext cx="6308312" cy="55744"/>
          </a:xfrm>
          <a:prstGeom prst="straightConnector1">
            <a:avLst/>
          </a:prstGeom>
          <a:noFill/>
          <a:ln w="19050" cap="flat" cmpd="sng">
            <a:solidFill>
              <a:srgbClr val="000000"/>
            </a:solidFill>
            <a:prstDash val="solid"/>
            <a:round/>
            <a:headEnd type="triangle" w="med" len="med"/>
            <a:tailEnd type="none" w="med" len="med"/>
          </a:ln>
        </p:spPr>
      </p:cxnSp>
      <p:sp>
        <p:nvSpPr>
          <p:cNvPr id="18" name="Google Shape;462;p34">
            <a:extLst>
              <a:ext uri="{FF2B5EF4-FFF2-40B4-BE49-F238E27FC236}">
                <a16:creationId xmlns:a16="http://schemas.microsoft.com/office/drawing/2014/main" id="{78103CF9-F67F-2AB1-2597-7AA9208FFA6A}"/>
              </a:ext>
            </a:extLst>
          </p:cNvPr>
          <p:cNvSpPr txBox="1"/>
          <p:nvPr/>
        </p:nvSpPr>
        <p:spPr>
          <a:xfrm>
            <a:off x="6675437" y="3793113"/>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5</a:t>
            </a:r>
            <a:endParaRPr dirty="0">
              <a:latin typeface="Calibri"/>
              <a:ea typeface="Calibri"/>
              <a:cs typeface="Calibri"/>
              <a:sym typeface="Calibri"/>
            </a:endParaRPr>
          </a:p>
        </p:txBody>
      </p:sp>
      <p:cxnSp>
        <p:nvCxnSpPr>
          <p:cNvPr id="9" name="Google Shape;137;p20">
            <a:extLst>
              <a:ext uri="{FF2B5EF4-FFF2-40B4-BE49-F238E27FC236}">
                <a16:creationId xmlns:a16="http://schemas.microsoft.com/office/drawing/2014/main" id="{06A0192B-082D-DD6D-1506-7D1EFD14E15D}"/>
              </a:ext>
            </a:extLst>
          </p:cNvPr>
          <p:cNvCxnSpPr>
            <a:cxnSpLocks/>
            <a:endCxn id="47" idx="1"/>
          </p:cNvCxnSpPr>
          <p:nvPr/>
        </p:nvCxnSpPr>
        <p:spPr>
          <a:xfrm>
            <a:off x="4281620" y="4239666"/>
            <a:ext cx="6109545" cy="350094"/>
          </a:xfrm>
          <a:prstGeom prst="straightConnector1">
            <a:avLst/>
          </a:prstGeom>
          <a:noFill/>
          <a:ln w="19050" cap="flat" cmpd="sng">
            <a:solidFill>
              <a:srgbClr val="000000"/>
            </a:solidFill>
            <a:prstDash val="solid"/>
            <a:round/>
            <a:headEnd type="none" w="med" len="med"/>
            <a:tailEnd type="triangle" w="med" len="med"/>
          </a:ln>
        </p:spPr>
      </p:cxnSp>
      <p:sp>
        <p:nvSpPr>
          <p:cNvPr id="15" name="Google Shape;462;p34">
            <a:extLst>
              <a:ext uri="{FF2B5EF4-FFF2-40B4-BE49-F238E27FC236}">
                <a16:creationId xmlns:a16="http://schemas.microsoft.com/office/drawing/2014/main" id="{629BB30B-3C5C-301E-7285-0A334A67629A}"/>
              </a:ext>
            </a:extLst>
          </p:cNvPr>
          <p:cNvSpPr txBox="1"/>
          <p:nvPr/>
        </p:nvSpPr>
        <p:spPr>
          <a:xfrm>
            <a:off x="7365353" y="4056451"/>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6</a:t>
            </a:r>
            <a:endParaRPr dirty="0">
              <a:latin typeface="Calibri"/>
              <a:ea typeface="Calibri"/>
              <a:cs typeface="Calibri"/>
              <a:sym typeface="Calibri"/>
            </a:endParaRPr>
          </a:p>
        </p:txBody>
      </p:sp>
      <p:cxnSp>
        <p:nvCxnSpPr>
          <p:cNvPr id="19" name="Google Shape;168;p21">
            <a:extLst>
              <a:ext uri="{FF2B5EF4-FFF2-40B4-BE49-F238E27FC236}">
                <a16:creationId xmlns:a16="http://schemas.microsoft.com/office/drawing/2014/main" id="{76A9A497-CB30-B33F-8069-CA860C0C1180}"/>
              </a:ext>
            </a:extLst>
          </p:cNvPr>
          <p:cNvCxnSpPr>
            <a:cxnSpLocks/>
          </p:cNvCxnSpPr>
          <p:nvPr/>
        </p:nvCxnSpPr>
        <p:spPr>
          <a:xfrm>
            <a:off x="6003235" y="4447116"/>
            <a:ext cx="4387930" cy="257101"/>
          </a:xfrm>
          <a:prstGeom prst="straightConnector1">
            <a:avLst/>
          </a:prstGeom>
          <a:noFill/>
          <a:ln w="19050" cap="flat" cmpd="sng">
            <a:solidFill>
              <a:srgbClr val="000000"/>
            </a:solidFill>
            <a:prstDash val="solid"/>
            <a:round/>
            <a:headEnd type="triangle" w="med" len="med"/>
            <a:tailEnd type="none" w="med" len="med"/>
          </a:ln>
        </p:spPr>
      </p:cxnSp>
      <p:sp>
        <p:nvSpPr>
          <p:cNvPr id="23" name="Google Shape;462;p34">
            <a:extLst>
              <a:ext uri="{FF2B5EF4-FFF2-40B4-BE49-F238E27FC236}">
                <a16:creationId xmlns:a16="http://schemas.microsoft.com/office/drawing/2014/main" id="{B140BA60-1F79-49E4-A52A-5D151529102D}"/>
              </a:ext>
            </a:extLst>
          </p:cNvPr>
          <p:cNvSpPr txBox="1"/>
          <p:nvPr/>
        </p:nvSpPr>
        <p:spPr>
          <a:xfrm>
            <a:off x="7765905" y="4538343"/>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7</a:t>
            </a:r>
            <a:endParaRPr dirty="0">
              <a:latin typeface="Calibri"/>
              <a:ea typeface="Calibri"/>
              <a:cs typeface="Calibri"/>
              <a:sym typeface="Calibri"/>
            </a:endParaRPr>
          </a:p>
        </p:txBody>
      </p:sp>
      <p:sp>
        <p:nvSpPr>
          <p:cNvPr id="17" name="Google Shape;94;p18">
            <a:extLst>
              <a:ext uri="{FF2B5EF4-FFF2-40B4-BE49-F238E27FC236}">
                <a16:creationId xmlns:a16="http://schemas.microsoft.com/office/drawing/2014/main" id="{C9245352-3BBA-5613-343B-95BE97665C7E}"/>
              </a:ext>
            </a:extLst>
          </p:cNvPr>
          <p:cNvSpPr txBox="1"/>
          <p:nvPr/>
        </p:nvSpPr>
        <p:spPr>
          <a:xfrm>
            <a:off x="10281037" y="6064602"/>
            <a:ext cx="1495363" cy="58745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latin typeface="Courier New"/>
                <a:ea typeface="Courier New"/>
                <a:cs typeface="Courier New"/>
                <a:sym typeface="Courier New"/>
              </a:rPr>
              <a:t>Attacker</a:t>
            </a:r>
            <a:endParaRPr b="1" dirty="0">
              <a:latin typeface="Calibri"/>
              <a:ea typeface="Calibri"/>
              <a:cs typeface="Calibri"/>
              <a:sym typeface="Calibri"/>
            </a:endParaRPr>
          </a:p>
        </p:txBody>
      </p:sp>
      <p:cxnSp>
        <p:nvCxnSpPr>
          <p:cNvPr id="28" name="Google Shape;168;p21">
            <a:extLst>
              <a:ext uri="{FF2B5EF4-FFF2-40B4-BE49-F238E27FC236}">
                <a16:creationId xmlns:a16="http://schemas.microsoft.com/office/drawing/2014/main" id="{D4D259E5-3A64-6EA8-E05A-C57BE6622733}"/>
              </a:ext>
            </a:extLst>
          </p:cNvPr>
          <p:cNvCxnSpPr>
            <a:cxnSpLocks/>
          </p:cNvCxnSpPr>
          <p:nvPr/>
        </p:nvCxnSpPr>
        <p:spPr>
          <a:xfrm>
            <a:off x="4443578" y="5516662"/>
            <a:ext cx="5532060" cy="1067018"/>
          </a:xfrm>
          <a:prstGeom prst="straightConnector1">
            <a:avLst/>
          </a:prstGeom>
          <a:noFill/>
          <a:ln w="19050" cap="flat" cmpd="sng">
            <a:solidFill>
              <a:srgbClr val="FF0000"/>
            </a:solidFill>
            <a:prstDash val="solid"/>
            <a:round/>
            <a:headEnd type="triangle" w="med" len="med"/>
            <a:tailEnd type="none" w="med" len="med"/>
          </a:ln>
        </p:spPr>
      </p:cxnSp>
      <p:sp>
        <p:nvSpPr>
          <p:cNvPr id="32" name="Google Shape;462;p34">
            <a:extLst>
              <a:ext uri="{FF2B5EF4-FFF2-40B4-BE49-F238E27FC236}">
                <a16:creationId xmlns:a16="http://schemas.microsoft.com/office/drawing/2014/main" id="{EC675341-1934-B06E-DA61-7C57AA634F64}"/>
              </a:ext>
            </a:extLst>
          </p:cNvPr>
          <p:cNvSpPr txBox="1"/>
          <p:nvPr/>
        </p:nvSpPr>
        <p:spPr>
          <a:xfrm>
            <a:off x="7004558" y="5978198"/>
            <a:ext cx="531042"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rgbClr val="FF0000"/>
                </a:solidFill>
                <a:latin typeface="Calibri"/>
                <a:ea typeface="Calibri"/>
                <a:cs typeface="Calibri"/>
                <a:sym typeface="Calibri"/>
              </a:rPr>
              <a:t>2b</a:t>
            </a:r>
            <a:endParaRPr dirty="0">
              <a:solidFill>
                <a:srgbClr val="FF0000"/>
              </a:solidFill>
              <a:latin typeface="Calibri"/>
              <a:ea typeface="Calibri"/>
              <a:cs typeface="Calibri"/>
              <a:sym typeface="Calibri"/>
            </a:endParaRPr>
          </a:p>
        </p:txBody>
      </p:sp>
      <p:cxnSp>
        <p:nvCxnSpPr>
          <p:cNvPr id="34" name="Google Shape;322;p25">
            <a:extLst>
              <a:ext uri="{FF2B5EF4-FFF2-40B4-BE49-F238E27FC236}">
                <a16:creationId xmlns:a16="http://schemas.microsoft.com/office/drawing/2014/main" id="{47261E6F-4E4E-9E1E-CDC8-24CFC9E6A938}"/>
              </a:ext>
            </a:extLst>
          </p:cNvPr>
          <p:cNvCxnSpPr>
            <a:cxnSpLocks/>
          </p:cNvCxnSpPr>
          <p:nvPr/>
        </p:nvCxnSpPr>
        <p:spPr>
          <a:xfrm>
            <a:off x="4925031" y="3752344"/>
            <a:ext cx="5532061" cy="0"/>
          </a:xfrm>
          <a:prstGeom prst="straightConnector1">
            <a:avLst/>
          </a:prstGeom>
          <a:noFill/>
          <a:ln w="9525" cap="flat" cmpd="sng">
            <a:solidFill>
              <a:schemeClr val="dk2"/>
            </a:solidFill>
            <a:prstDash val="solid"/>
            <a:round/>
            <a:headEnd type="none" w="med" len="med"/>
            <a:tailEnd type="none" w="med" len="med"/>
          </a:ln>
        </p:spPr>
      </p:cxnSp>
      <p:grpSp>
        <p:nvGrpSpPr>
          <p:cNvPr id="64" name="Group 63">
            <a:extLst>
              <a:ext uri="{FF2B5EF4-FFF2-40B4-BE49-F238E27FC236}">
                <a16:creationId xmlns:a16="http://schemas.microsoft.com/office/drawing/2014/main" id="{215A4FAF-32F9-032F-4857-DAC9F6A5E1DC}"/>
              </a:ext>
            </a:extLst>
          </p:cNvPr>
          <p:cNvGrpSpPr/>
          <p:nvPr/>
        </p:nvGrpSpPr>
        <p:grpSpPr>
          <a:xfrm>
            <a:off x="4197894" y="4662967"/>
            <a:ext cx="5532060" cy="1957227"/>
            <a:chOff x="4803296" y="4855041"/>
            <a:chExt cx="5532060" cy="1957227"/>
          </a:xfrm>
        </p:grpSpPr>
        <p:sp>
          <p:nvSpPr>
            <p:cNvPr id="62" name="Google Shape;321;p25">
              <a:extLst>
                <a:ext uri="{FF2B5EF4-FFF2-40B4-BE49-F238E27FC236}">
                  <a16:creationId xmlns:a16="http://schemas.microsoft.com/office/drawing/2014/main" id="{71BD7714-E4AF-663D-8A6C-831DDC1989CD}"/>
                </a:ext>
              </a:extLst>
            </p:cNvPr>
            <p:cNvSpPr txBox="1"/>
            <p:nvPr/>
          </p:nvSpPr>
          <p:spPr>
            <a:xfrm>
              <a:off x="4803296" y="5745251"/>
              <a:ext cx="5014627" cy="1067017"/>
            </a:xfrm>
            <a:prstGeom prst="rect">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chemeClr val="dk1"/>
                  </a:solidFill>
                </a:rPr>
                <a:t>“I don’t know. But I have delegated authority to the </a:t>
              </a:r>
              <a:r>
                <a:rPr lang="en" sz="1200" b="1" dirty="0">
                  <a:solidFill>
                    <a:schemeClr val="dk1"/>
                  </a:solidFill>
                  <a:latin typeface="Courier New"/>
                  <a:ea typeface="Courier New"/>
                  <a:cs typeface="Courier New"/>
                  <a:sym typeface="Courier New"/>
                </a:rPr>
                <a:t>fake1.google.com.</a:t>
              </a:r>
              <a:r>
                <a:rPr lang="en" sz="1200" dirty="0">
                  <a:solidFill>
                    <a:schemeClr val="dk1"/>
                  </a:solidFill>
                </a:rPr>
                <a:t> NS. This response has ID </a:t>
              </a:r>
              <a:r>
                <a:rPr lang="en" sz="1200" b="1" dirty="0">
                  <a:solidFill>
                    <a:schemeClr val="accent4">
                      <a:lumMod val="20000"/>
                      <a:lumOff val="80000"/>
                    </a:schemeClr>
                  </a:solidFill>
                </a:rPr>
                <a:t>812</a:t>
              </a:r>
              <a:r>
                <a:rPr lang="en" sz="1200" dirty="0">
                  <a:solidFill>
                    <a:schemeClr val="dk1"/>
                  </a:solidFill>
                </a:rPr>
                <a:t>.</a:t>
              </a:r>
              <a:endParaRPr sz="1200" dirty="0">
                <a:solidFill>
                  <a:schemeClr val="dk1"/>
                </a:solidFill>
              </a:endParaRPr>
            </a:p>
            <a:p>
              <a:pPr marL="0" lvl="0" indent="0" algn="l" rtl="0">
                <a:spcBef>
                  <a:spcPts val="0"/>
                </a:spcBef>
                <a:spcAft>
                  <a:spcPts val="0"/>
                </a:spcAft>
                <a:buClr>
                  <a:schemeClr val="dk1"/>
                </a:buClr>
                <a:buSzPts val="1100"/>
                <a:buFont typeface="Arial"/>
                <a:buNone/>
              </a:pPr>
              <a:endParaRPr lang="en" sz="1200" dirty="0">
                <a:solidFill>
                  <a:schemeClr val="dk1"/>
                </a:solidFill>
              </a:endParaRPr>
            </a:p>
            <a:p>
              <a:pPr lvl="0">
                <a:buClr>
                  <a:schemeClr val="dk1"/>
                </a:buClr>
                <a:buSzPts val="1100"/>
              </a:pPr>
              <a:r>
                <a:rPr lang="en-US" sz="1200" b="1" dirty="0">
                  <a:solidFill>
                    <a:schemeClr val="dk1"/>
                  </a:solidFill>
                </a:rPr>
                <a:t>Authority: </a:t>
              </a:r>
              <a:r>
                <a:rPr lang="en" sz="1200" b="1" dirty="0">
                  <a:solidFill>
                    <a:schemeClr val="dk1"/>
                  </a:solidFill>
                  <a:latin typeface="Courier New"/>
                  <a:ea typeface="Courier New"/>
                  <a:cs typeface="Courier New"/>
                  <a:sym typeface="Courier New"/>
                </a:rPr>
                <a:t>fake1.google.com </a:t>
              </a:r>
              <a:r>
                <a:rPr lang="en-US" sz="1200" b="1" dirty="0">
                  <a:latin typeface="Courier New"/>
                  <a:cs typeface="Courier New"/>
                </a:rPr>
                <a:t>NS</a:t>
              </a:r>
              <a:r>
                <a:rPr lang="en-US" sz="1200" b="1" dirty="0">
                  <a:solidFill>
                    <a:srgbClr val="FF0000"/>
                  </a:solidFill>
                  <a:latin typeface="Courier New"/>
                  <a:cs typeface="Courier New"/>
                </a:rPr>
                <a:t> </a:t>
              </a:r>
              <a:r>
                <a:rPr lang="en-US" sz="1200" b="1" dirty="0">
                  <a:latin typeface="Courier New"/>
                  <a:cs typeface="Courier New"/>
                </a:rPr>
                <a:t>www.google.com. </a:t>
              </a:r>
              <a:endParaRPr sz="1200" dirty="0">
                <a:solidFill>
                  <a:schemeClr val="dk1"/>
                </a:solidFill>
              </a:endParaRPr>
            </a:p>
            <a:p>
              <a:pPr marL="0" lvl="0" indent="0" algn="l" rtl="0">
                <a:lnSpc>
                  <a:spcPct val="115000"/>
                </a:lnSpc>
                <a:spcBef>
                  <a:spcPts val="0"/>
                </a:spcBef>
                <a:spcAft>
                  <a:spcPts val="0"/>
                </a:spcAft>
                <a:buNone/>
              </a:pPr>
              <a:r>
                <a:rPr lang="en-US" sz="1200" b="1" dirty="0">
                  <a:solidFill>
                    <a:schemeClr val="dk1"/>
                  </a:solidFill>
                </a:rPr>
                <a:t>Additional: </a:t>
              </a:r>
              <a:r>
                <a:rPr lang="en-US" sz="1200" b="1" dirty="0">
                  <a:latin typeface="Courier New"/>
                  <a:cs typeface="Courier New"/>
                </a:rPr>
                <a:t>www.google.com. </a:t>
              </a:r>
              <a:r>
                <a:rPr lang="en-US" sz="1200" b="1" dirty="0">
                  <a:solidFill>
                    <a:schemeClr val="dk1"/>
                  </a:solidFill>
                  <a:latin typeface="Courier New"/>
                  <a:cs typeface="Courier New"/>
                </a:rPr>
                <a:t>A </a:t>
              </a:r>
              <a:r>
                <a:rPr lang="en-US" sz="1200" b="1" dirty="0">
                  <a:solidFill>
                    <a:schemeClr val="accent4">
                      <a:lumMod val="20000"/>
                      <a:lumOff val="80000"/>
                    </a:schemeClr>
                  </a:solidFill>
                  <a:latin typeface="Courier New"/>
                  <a:cs typeface="Courier New"/>
                </a:rPr>
                <a:t>6.6.6.6</a:t>
              </a:r>
              <a:r>
                <a:rPr lang="en" sz="1200" dirty="0">
                  <a:solidFill>
                    <a:schemeClr val="dk1"/>
                  </a:solidFill>
                </a:rPr>
                <a:t>”</a:t>
              </a:r>
              <a:endParaRPr sz="1200" dirty="0"/>
            </a:p>
          </p:txBody>
        </p:sp>
        <p:sp>
          <p:nvSpPr>
            <p:cNvPr id="61" name="Google Shape;321;p25">
              <a:extLst>
                <a:ext uri="{FF2B5EF4-FFF2-40B4-BE49-F238E27FC236}">
                  <a16:creationId xmlns:a16="http://schemas.microsoft.com/office/drawing/2014/main" id="{E9AAD2C2-D7E6-4DB9-F03A-72FF92C38883}"/>
                </a:ext>
              </a:extLst>
            </p:cNvPr>
            <p:cNvSpPr txBox="1"/>
            <p:nvPr/>
          </p:nvSpPr>
          <p:spPr>
            <a:xfrm>
              <a:off x="5063089" y="5265496"/>
              <a:ext cx="5014627" cy="1067017"/>
            </a:xfrm>
            <a:prstGeom prst="rect">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chemeClr val="dk1"/>
                  </a:solidFill>
                </a:rPr>
                <a:t>“I don’t know. But I have delegated authority to the </a:t>
              </a:r>
              <a:r>
                <a:rPr lang="en" sz="1200" b="1" dirty="0">
                  <a:solidFill>
                    <a:schemeClr val="dk1"/>
                  </a:solidFill>
                  <a:latin typeface="Courier New"/>
                  <a:ea typeface="Courier New"/>
                  <a:cs typeface="Courier New"/>
                  <a:sym typeface="Courier New"/>
                </a:rPr>
                <a:t>fake1.google.com.</a:t>
              </a:r>
              <a:r>
                <a:rPr lang="en" sz="1200" dirty="0">
                  <a:solidFill>
                    <a:schemeClr val="dk1"/>
                  </a:solidFill>
                </a:rPr>
                <a:t> NS. This response has ID </a:t>
              </a:r>
              <a:r>
                <a:rPr lang="en" sz="1200" b="1" dirty="0">
                  <a:solidFill>
                    <a:schemeClr val="accent4">
                      <a:lumMod val="20000"/>
                      <a:lumOff val="80000"/>
                    </a:schemeClr>
                  </a:solidFill>
                </a:rPr>
                <a:t>673</a:t>
              </a:r>
              <a:r>
                <a:rPr lang="en" sz="1200" dirty="0">
                  <a:solidFill>
                    <a:schemeClr val="dk1"/>
                  </a:solidFill>
                </a:rPr>
                <a:t>.</a:t>
              </a:r>
              <a:endParaRPr sz="1200" dirty="0">
                <a:solidFill>
                  <a:schemeClr val="dk1"/>
                </a:solidFill>
              </a:endParaRPr>
            </a:p>
            <a:p>
              <a:pPr marL="0" lvl="0" indent="0" algn="l" rtl="0">
                <a:spcBef>
                  <a:spcPts val="0"/>
                </a:spcBef>
                <a:spcAft>
                  <a:spcPts val="0"/>
                </a:spcAft>
                <a:buClr>
                  <a:schemeClr val="dk1"/>
                </a:buClr>
                <a:buSzPts val="1100"/>
                <a:buFont typeface="Arial"/>
                <a:buNone/>
              </a:pPr>
              <a:endParaRPr lang="en" sz="1200" dirty="0">
                <a:solidFill>
                  <a:schemeClr val="dk1"/>
                </a:solidFill>
              </a:endParaRPr>
            </a:p>
            <a:p>
              <a:pPr lvl="0">
                <a:buClr>
                  <a:schemeClr val="dk1"/>
                </a:buClr>
                <a:buSzPts val="1100"/>
              </a:pPr>
              <a:r>
                <a:rPr lang="en-US" sz="1200" b="1" dirty="0">
                  <a:solidFill>
                    <a:schemeClr val="dk1"/>
                  </a:solidFill>
                </a:rPr>
                <a:t>Authority: </a:t>
              </a:r>
              <a:r>
                <a:rPr lang="en" sz="1200" b="1" dirty="0">
                  <a:solidFill>
                    <a:schemeClr val="dk1"/>
                  </a:solidFill>
                  <a:latin typeface="Courier New"/>
                  <a:ea typeface="Courier New"/>
                  <a:cs typeface="Courier New"/>
                  <a:sym typeface="Courier New"/>
                </a:rPr>
                <a:t>fake1.google.com </a:t>
              </a:r>
              <a:r>
                <a:rPr lang="en-US" sz="1200" b="1" dirty="0">
                  <a:latin typeface="Courier New"/>
                  <a:cs typeface="Courier New"/>
                </a:rPr>
                <a:t>NS</a:t>
              </a:r>
              <a:r>
                <a:rPr lang="en-US" sz="1200" b="1" dirty="0">
                  <a:solidFill>
                    <a:srgbClr val="FF0000"/>
                  </a:solidFill>
                  <a:latin typeface="Courier New"/>
                  <a:cs typeface="Courier New"/>
                </a:rPr>
                <a:t> </a:t>
              </a:r>
              <a:r>
                <a:rPr lang="en-US" sz="1200" b="1" dirty="0">
                  <a:latin typeface="Courier New"/>
                  <a:cs typeface="Courier New"/>
                </a:rPr>
                <a:t>www.google.com. </a:t>
              </a:r>
              <a:endParaRPr sz="1200" dirty="0">
                <a:solidFill>
                  <a:schemeClr val="dk1"/>
                </a:solidFill>
              </a:endParaRPr>
            </a:p>
            <a:p>
              <a:pPr marL="0" lvl="0" indent="0" algn="l" rtl="0">
                <a:lnSpc>
                  <a:spcPct val="115000"/>
                </a:lnSpc>
                <a:spcBef>
                  <a:spcPts val="0"/>
                </a:spcBef>
                <a:spcAft>
                  <a:spcPts val="0"/>
                </a:spcAft>
                <a:buNone/>
              </a:pPr>
              <a:r>
                <a:rPr lang="en-US" sz="1200" b="1" dirty="0">
                  <a:solidFill>
                    <a:schemeClr val="dk1"/>
                  </a:solidFill>
                </a:rPr>
                <a:t>Additional: </a:t>
              </a:r>
              <a:r>
                <a:rPr lang="en-US" sz="1200" b="1" dirty="0">
                  <a:latin typeface="Courier New"/>
                  <a:cs typeface="Courier New"/>
                </a:rPr>
                <a:t>www.google.com. </a:t>
              </a:r>
              <a:r>
                <a:rPr lang="en-US" sz="1200" b="1" dirty="0">
                  <a:solidFill>
                    <a:schemeClr val="dk1"/>
                  </a:solidFill>
                  <a:latin typeface="Courier New"/>
                  <a:cs typeface="Courier New"/>
                </a:rPr>
                <a:t>A </a:t>
              </a:r>
              <a:r>
                <a:rPr lang="en-US" sz="1200" b="1" dirty="0">
                  <a:solidFill>
                    <a:schemeClr val="accent4">
                      <a:lumMod val="20000"/>
                      <a:lumOff val="80000"/>
                    </a:schemeClr>
                  </a:solidFill>
                  <a:latin typeface="Courier New"/>
                  <a:cs typeface="Courier New"/>
                </a:rPr>
                <a:t>6.6.6.6</a:t>
              </a:r>
              <a:r>
                <a:rPr lang="en" sz="1200" dirty="0">
                  <a:solidFill>
                    <a:schemeClr val="dk1"/>
                  </a:solidFill>
                </a:rPr>
                <a:t>”</a:t>
              </a:r>
              <a:endParaRPr sz="1200" dirty="0"/>
            </a:p>
          </p:txBody>
        </p:sp>
        <p:sp>
          <p:nvSpPr>
            <p:cNvPr id="63" name="Google Shape;321;p25">
              <a:extLst>
                <a:ext uri="{FF2B5EF4-FFF2-40B4-BE49-F238E27FC236}">
                  <a16:creationId xmlns:a16="http://schemas.microsoft.com/office/drawing/2014/main" id="{6B2302D1-79C0-07D2-492F-FC8C344224FE}"/>
                </a:ext>
              </a:extLst>
            </p:cNvPr>
            <p:cNvSpPr txBox="1"/>
            <p:nvPr/>
          </p:nvSpPr>
          <p:spPr>
            <a:xfrm>
              <a:off x="5320729" y="4855041"/>
              <a:ext cx="5014627" cy="1067017"/>
            </a:xfrm>
            <a:prstGeom prst="rect">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chemeClr val="dk1"/>
                  </a:solidFill>
                </a:rPr>
                <a:t>“I don’t know. But I have delegated authority to the </a:t>
              </a:r>
              <a:r>
                <a:rPr lang="en" sz="1200" b="1" dirty="0">
                  <a:solidFill>
                    <a:schemeClr val="dk1"/>
                  </a:solidFill>
                  <a:latin typeface="Courier New"/>
                  <a:ea typeface="Courier New"/>
                  <a:cs typeface="Courier New"/>
                  <a:sym typeface="Courier New"/>
                </a:rPr>
                <a:t>fake1.google.com.</a:t>
              </a:r>
              <a:r>
                <a:rPr lang="en" sz="1200" dirty="0">
                  <a:solidFill>
                    <a:schemeClr val="dk1"/>
                  </a:solidFill>
                </a:rPr>
                <a:t> NS. This response has ID </a:t>
              </a:r>
              <a:r>
                <a:rPr lang="en" sz="1200" b="1" dirty="0">
                  <a:solidFill>
                    <a:schemeClr val="accent4">
                      <a:lumMod val="20000"/>
                      <a:lumOff val="80000"/>
                    </a:schemeClr>
                  </a:solidFill>
                </a:rPr>
                <a:t>570</a:t>
              </a:r>
              <a:r>
                <a:rPr lang="en" sz="1200" dirty="0">
                  <a:solidFill>
                    <a:schemeClr val="dk1"/>
                  </a:solidFill>
                </a:rPr>
                <a:t>.</a:t>
              </a:r>
              <a:endParaRPr sz="1200" dirty="0">
                <a:solidFill>
                  <a:schemeClr val="dk1"/>
                </a:solidFill>
              </a:endParaRPr>
            </a:p>
            <a:p>
              <a:pPr marL="0" lvl="0" indent="0" algn="l" rtl="0">
                <a:spcBef>
                  <a:spcPts val="0"/>
                </a:spcBef>
                <a:spcAft>
                  <a:spcPts val="0"/>
                </a:spcAft>
                <a:buClr>
                  <a:schemeClr val="dk1"/>
                </a:buClr>
                <a:buSzPts val="1100"/>
                <a:buFont typeface="Arial"/>
                <a:buNone/>
              </a:pPr>
              <a:endParaRPr lang="en" sz="1200" dirty="0">
                <a:solidFill>
                  <a:schemeClr val="dk1"/>
                </a:solidFill>
              </a:endParaRPr>
            </a:p>
            <a:p>
              <a:pPr lvl="0">
                <a:buClr>
                  <a:schemeClr val="dk1"/>
                </a:buClr>
                <a:buSzPts val="1100"/>
              </a:pPr>
              <a:r>
                <a:rPr lang="en-US" sz="1200" b="1" dirty="0">
                  <a:solidFill>
                    <a:schemeClr val="dk1"/>
                  </a:solidFill>
                </a:rPr>
                <a:t>Authority: </a:t>
              </a:r>
              <a:r>
                <a:rPr lang="en" sz="1200" b="1" dirty="0">
                  <a:solidFill>
                    <a:schemeClr val="dk1"/>
                  </a:solidFill>
                  <a:latin typeface="Courier New"/>
                  <a:ea typeface="Courier New"/>
                  <a:cs typeface="Courier New"/>
                  <a:sym typeface="Courier New"/>
                </a:rPr>
                <a:t>fake1.google.com </a:t>
              </a:r>
              <a:r>
                <a:rPr lang="en-US" sz="1200" b="1" dirty="0">
                  <a:latin typeface="Courier New"/>
                  <a:cs typeface="Courier New"/>
                </a:rPr>
                <a:t>NS</a:t>
              </a:r>
              <a:r>
                <a:rPr lang="en-US" sz="1200" b="1" dirty="0">
                  <a:solidFill>
                    <a:srgbClr val="FF0000"/>
                  </a:solidFill>
                  <a:latin typeface="Courier New"/>
                  <a:cs typeface="Courier New"/>
                </a:rPr>
                <a:t> </a:t>
              </a:r>
              <a:r>
                <a:rPr lang="en-US" sz="1200" b="1" dirty="0">
                  <a:latin typeface="Courier New"/>
                  <a:cs typeface="Courier New"/>
                </a:rPr>
                <a:t>www.google.com. </a:t>
              </a:r>
              <a:endParaRPr sz="1200" dirty="0">
                <a:solidFill>
                  <a:schemeClr val="dk1"/>
                </a:solidFill>
              </a:endParaRPr>
            </a:p>
            <a:p>
              <a:pPr marL="0" lvl="0" indent="0" algn="l" rtl="0">
                <a:lnSpc>
                  <a:spcPct val="115000"/>
                </a:lnSpc>
                <a:spcBef>
                  <a:spcPts val="0"/>
                </a:spcBef>
                <a:spcAft>
                  <a:spcPts val="0"/>
                </a:spcAft>
                <a:buNone/>
              </a:pPr>
              <a:r>
                <a:rPr lang="en-US" sz="1200" b="1" dirty="0">
                  <a:solidFill>
                    <a:schemeClr val="dk1"/>
                  </a:solidFill>
                </a:rPr>
                <a:t>Additional: </a:t>
              </a:r>
              <a:r>
                <a:rPr lang="en-US" sz="1200" b="1" dirty="0">
                  <a:latin typeface="Courier New"/>
                  <a:cs typeface="Courier New"/>
                </a:rPr>
                <a:t>www.google.com. </a:t>
              </a:r>
              <a:r>
                <a:rPr lang="en-US" sz="1200" b="1" dirty="0">
                  <a:solidFill>
                    <a:schemeClr val="dk1"/>
                  </a:solidFill>
                  <a:latin typeface="Courier New"/>
                  <a:cs typeface="Courier New"/>
                </a:rPr>
                <a:t>A </a:t>
              </a:r>
              <a:r>
                <a:rPr lang="en-US" sz="1200" b="1" dirty="0">
                  <a:solidFill>
                    <a:schemeClr val="accent4">
                      <a:lumMod val="20000"/>
                      <a:lumOff val="80000"/>
                    </a:schemeClr>
                  </a:solidFill>
                  <a:latin typeface="Courier New"/>
                  <a:cs typeface="Courier New"/>
                </a:rPr>
                <a:t>6.6.6.6</a:t>
              </a:r>
              <a:r>
                <a:rPr lang="en" sz="1200" dirty="0">
                  <a:solidFill>
                    <a:schemeClr val="dk1"/>
                  </a:solidFill>
                </a:rPr>
                <a:t>”</a:t>
              </a:r>
              <a:endParaRPr sz="1200" dirty="0"/>
            </a:p>
          </p:txBody>
        </p:sp>
      </p:grpSp>
      <p:grpSp>
        <p:nvGrpSpPr>
          <p:cNvPr id="42" name="Group 41">
            <a:extLst>
              <a:ext uri="{FF2B5EF4-FFF2-40B4-BE49-F238E27FC236}">
                <a16:creationId xmlns:a16="http://schemas.microsoft.com/office/drawing/2014/main" id="{DD78454C-9120-0CF9-40B7-CFE5F6CC7A37}"/>
              </a:ext>
            </a:extLst>
          </p:cNvPr>
          <p:cNvGrpSpPr/>
          <p:nvPr/>
        </p:nvGrpSpPr>
        <p:grpSpPr>
          <a:xfrm>
            <a:off x="3694570" y="5052346"/>
            <a:ext cx="5014627" cy="1067017"/>
            <a:chOff x="4352902" y="355848"/>
            <a:chExt cx="5014627" cy="1067017"/>
          </a:xfrm>
        </p:grpSpPr>
        <p:sp>
          <p:nvSpPr>
            <p:cNvPr id="26" name="Google Shape;321;p25">
              <a:extLst>
                <a:ext uri="{FF2B5EF4-FFF2-40B4-BE49-F238E27FC236}">
                  <a16:creationId xmlns:a16="http://schemas.microsoft.com/office/drawing/2014/main" id="{AA366D31-1D53-52F1-A97D-9189F1AF039F}"/>
                </a:ext>
              </a:extLst>
            </p:cNvPr>
            <p:cNvSpPr txBox="1"/>
            <p:nvPr/>
          </p:nvSpPr>
          <p:spPr>
            <a:xfrm>
              <a:off x="4352902" y="355848"/>
              <a:ext cx="5014627" cy="1067017"/>
            </a:xfrm>
            <a:prstGeom prst="rect">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chemeClr val="dk1"/>
                  </a:solidFill>
                </a:rPr>
                <a:t>“I don’t know. But I have delegated authority to the </a:t>
              </a:r>
              <a:r>
                <a:rPr lang="en" sz="1200" b="1" dirty="0">
                  <a:solidFill>
                    <a:schemeClr val="dk1"/>
                  </a:solidFill>
                  <a:latin typeface="Courier New"/>
                  <a:ea typeface="Courier New"/>
                  <a:cs typeface="Courier New"/>
                  <a:sym typeface="Courier New"/>
                </a:rPr>
                <a:t>fake1.google.com</a:t>
              </a:r>
              <a:r>
                <a:rPr lang="en" sz="1200" dirty="0">
                  <a:solidFill>
                    <a:schemeClr val="dk1"/>
                  </a:solidFill>
                </a:rPr>
                <a:t> NS. This response has ID </a:t>
              </a:r>
              <a:r>
                <a:rPr lang="en" sz="1200" b="1" dirty="0">
                  <a:solidFill>
                    <a:schemeClr val="accent4">
                      <a:lumMod val="20000"/>
                      <a:lumOff val="80000"/>
                    </a:schemeClr>
                  </a:solidFill>
                </a:rPr>
                <a:t>774</a:t>
              </a:r>
              <a:r>
                <a:rPr lang="en" sz="1200" dirty="0">
                  <a:solidFill>
                    <a:schemeClr val="dk1"/>
                  </a:solidFill>
                </a:rPr>
                <a:t>.</a:t>
              </a:r>
              <a:endParaRPr sz="1200" dirty="0">
                <a:solidFill>
                  <a:schemeClr val="dk1"/>
                </a:solidFill>
              </a:endParaRPr>
            </a:p>
            <a:p>
              <a:pPr marL="0" lvl="0" indent="0" algn="l" rtl="0">
                <a:spcBef>
                  <a:spcPts val="0"/>
                </a:spcBef>
                <a:spcAft>
                  <a:spcPts val="0"/>
                </a:spcAft>
                <a:buClr>
                  <a:schemeClr val="dk1"/>
                </a:buClr>
                <a:buSzPts val="1100"/>
                <a:buFont typeface="Arial"/>
                <a:buNone/>
              </a:pPr>
              <a:endParaRPr lang="en" sz="1200" dirty="0">
                <a:solidFill>
                  <a:schemeClr val="dk1"/>
                </a:solidFill>
              </a:endParaRPr>
            </a:p>
            <a:p>
              <a:pPr lvl="0">
                <a:buClr>
                  <a:schemeClr val="dk1"/>
                </a:buClr>
                <a:buSzPts val="1100"/>
              </a:pPr>
              <a:r>
                <a:rPr lang="en-US" sz="1200" b="1" dirty="0">
                  <a:solidFill>
                    <a:schemeClr val="dk1"/>
                  </a:solidFill>
                </a:rPr>
                <a:t>Authority: </a:t>
              </a:r>
              <a:r>
                <a:rPr lang="en" sz="1200" b="1" dirty="0">
                  <a:solidFill>
                    <a:schemeClr val="dk1"/>
                  </a:solidFill>
                  <a:latin typeface="Courier New"/>
                  <a:ea typeface="Courier New"/>
                  <a:cs typeface="Courier New"/>
                  <a:sym typeface="Courier New"/>
                </a:rPr>
                <a:t>fake1.google.com </a:t>
              </a:r>
              <a:r>
                <a:rPr lang="en-US" sz="1200" b="1" dirty="0">
                  <a:latin typeface="Courier New"/>
                  <a:cs typeface="Courier New"/>
                </a:rPr>
                <a:t>NS</a:t>
              </a:r>
              <a:r>
                <a:rPr lang="en-US" sz="1200" b="1" dirty="0">
                  <a:solidFill>
                    <a:srgbClr val="FF0000"/>
                  </a:solidFill>
                  <a:latin typeface="Courier New"/>
                  <a:cs typeface="Courier New"/>
                </a:rPr>
                <a:t> </a:t>
              </a:r>
              <a:r>
                <a:rPr lang="en-US" sz="1200" b="1" dirty="0">
                  <a:latin typeface="Courier New"/>
                  <a:cs typeface="Courier New"/>
                </a:rPr>
                <a:t>www.google.com. </a:t>
              </a:r>
              <a:endParaRPr sz="1200" dirty="0">
                <a:solidFill>
                  <a:schemeClr val="dk1"/>
                </a:solidFill>
              </a:endParaRPr>
            </a:p>
            <a:p>
              <a:pPr marL="0" lvl="0" indent="0" algn="l" rtl="0">
                <a:lnSpc>
                  <a:spcPct val="115000"/>
                </a:lnSpc>
                <a:spcBef>
                  <a:spcPts val="0"/>
                </a:spcBef>
                <a:spcAft>
                  <a:spcPts val="0"/>
                </a:spcAft>
                <a:buNone/>
              </a:pPr>
              <a:r>
                <a:rPr lang="en-US" sz="1200" b="1" dirty="0">
                  <a:solidFill>
                    <a:schemeClr val="dk1"/>
                  </a:solidFill>
                </a:rPr>
                <a:t>Additional: </a:t>
              </a:r>
              <a:r>
                <a:rPr lang="en-US" sz="1200" b="1" dirty="0">
                  <a:latin typeface="Courier New"/>
                  <a:cs typeface="Courier New"/>
                </a:rPr>
                <a:t>www.google.com </a:t>
              </a:r>
              <a:r>
                <a:rPr lang="en-US" sz="1200" b="1" dirty="0">
                  <a:solidFill>
                    <a:schemeClr val="dk1"/>
                  </a:solidFill>
                  <a:latin typeface="Courier New"/>
                  <a:cs typeface="Courier New"/>
                </a:rPr>
                <a:t>A </a:t>
              </a:r>
              <a:r>
                <a:rPr lang="en-US" sz="1200" b="1" dirty="0">
                  <a:solidFill>
                    <a:schemeClr val="accent4">
                      <a:lumMod val="20000"/>
                      <a:lumOff val="80000"/>
                    </a:schemeClr>
                  </a:solidFill>
                  <a:latin typeface="Courier New"/>
                  <a:cs typeface="Courier New"/>
                </a:rPr>
                <a:t>6.6.6.6</a:t>
              </a:r>
              <a:r>
                <a:rPr lang="en" sz="1200" dirty="0">
                  <a:solidFill>
                    <a:schemeClr val="dk1"/>
                  </a:solidFill>
                </a:rPr>
                <a:t>”</a:t>
              </a:r>
              <a:endParaRPr sz="1200" dirty="0"/>
            </a:p>
          </p:txBody>
        </p:sp>
        <p:cxnSp>
          <p:nvCxnSpPr>
            <p:cNvPr id="27" name="Google Shape;322;p25">
              <a:extLst>
                <a:ext uri="{FF2B5EF4-FFF2-40B4-BE49-F238E27FC236}">
                  <a16:creationId xmlns:a16="http://schemas.microsoft.com/office/drawing/2014/main" id="{B7CF29B4-C60B-5A21-9AC0-0D4CF7FEA076}"/>
                </a:ext>
              </a:extLst>
            </p:cNvPr>
            <p:cNvCxnSpPr>
              <a:cxnSpLocks/>
              <a:stCxn id="26" idx="1"/>
              <a:endCxn id="26" idx="3"/>
            </p:cNvCxnSpPr>
            <p:nvPr/>
          </p:nvCxnSpPr>
          <p:spPr>
            <a:xfrm>
              <a:off x="4352902" y="889357"/>
              <a:ext cx="5014627" cy="0"/>
            </a:xfrm>
            <a:prstGeom prst="straightConnector1">
              <a:avLst/>
            </a:prstGeom>
            <a:noFill/>
            <a:ln w="9525" cap="flat" cmpd="sng">
              <a:solidFill>
                <a:schemeClr val="dk2"/>
              </a:solidFill>
              <a:prstDash val="solid"/>
              <a:round/>
              <a:headEnd type="none" w="med" len="med"/>
              <a:tailEnd type="none" w="med" len="med"/>
            </a:ln>
          </p:spPr>
        </p:cxnSp>
      </p:grpSp>
      <p:sp>
        <p:nvSpPr>
          <p:cNvPr id="25" name="Google Shape;1819;p140">
            <a:extLst>
              <a:ext uri="{FF2B5EF4-FFF2-40B4-BE49-F238E27FC236}">
                <a16:creationId xmlns:a16="http://schemas.microsoft.com/office/drawing/2014/main" id="{A66F06A9-9A2D-ED1C-786C-13DB0DB62124}"/>
              </a:ext>
            </a:extLst>
          </p:cNvPr>
          <p:cNvSpPr txBox="1">
            <a:spLocks noGrp="1"/>
          </p:cNvSpPr>
          <p:nvPr>
            <p:ph type="title"/>
          </p:nvPr>
        </p:nvSpPr>
        <p:spPr>
          <a:xfrm>
            <a:off x="415600" y="55919"/>
            <a:ext cx="11360800" cy="763600"/>
          </a:xfrm>
          <a:prstGeom prst="rect">
            <a:avLst/>
          </a:prstGeom>
        </p:spPr>
        <p:txBody>
          <a:bodyPr spcFirstLastPara="1" wrap="square" lIns="121900" tIns="121900" rIns="121900" bIns="121900" anchor="t" anchorCtr="0">
            <a:noAutofit/>
          </a:bodyPr>
          <a:lstStyle/>
          <a:p>
            <a:r>
              <a:rPr lang="en" sz="4400" dirty="0">
                <a:latin typeface="Aptos" panose="020B0004020202020204" pitchFamily="34" charset="0"/>
              </a:rPr>
              <a:t>Kaminsky Attack: Example</a:t>
            </a:r>
            <a:endParaRPr sz="4400" dirty="0">
              <a:latin typeface="Aptos" panose="020B0004020202020204" pitchFamily="34" charset="0"/>
            </a:endParaRPr>
          </a:p>
        </p:txBody>
      </p:sp>
      <p:sp>
        <p:nvSpPr>
          <p:cNvPr id="4" name="Google Shape;1167;p86">
            <a:extLst>
              <a:ext uri="{FF2B5EF4-FFF2-40B4-BE49-F238E27FC236}">
                <a16:creationId xmlns:a16="http://schemas.microsoft.com/office/drawing/2014/main" id="{DAB9FC5D-A722-1119-CD56-7767753D2B53}"/>
              </a:ext>
            </a:extLst>
          </p:cNvPr>
          <p:cNvSpPr txBox="1"/>
          <p:nvPr/>
        </p:nvSpPr>
        <p:spPr>
          <a:xfrm>
            <a:off x="4633882" y="3957225"/>
            <a:ext cx="5405019" cy="422099"/>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400" dirty="0"/>
              <a:t>“</a:t>
            </a:r>
            <a:r>
              <a:rPr lang="en" sz="1400" b="1" dirty="0">
                <a:latin typeface="Courier New"/>
                <a:ea typeface="Courier New"/>
                <a:cs typeface="Courier New"/>
                <a:sym typeface="Courier New"/>
              </a:rPr>
              <a:t>fake1.google.com </a:t>
            </a:r>
            <a:r>
              <a:rPr lang="en" sz="1400" b="1" dirty="0">
                <a:solidFill>
                  <a:srgbClr val="C00000"/>
                </a:solidFill>
              </a:rPr>
              <a:t>doesn’t exist</a:t>
            </a:r>
            <a:r>
              <a:rPr lang="en" sz="1400" dirty="0"/>
              <a:t>! </a:t>
            </a:r>
            <a:r>
              <a:rPr lang="en" sz="1400" dirty="0">
                <a:solidFill>
                  <a:schemeClr val="dk1"/>
                </a:solidFill>
              </a:rPr>
              <a:t>This response has ID </a:t>
            </a:r>
            <a:r>
              <a:rPr lang="en" sz="1400" b="1" dirty="0">
                <a:solidFill>
                  <a:schemeClr val="dk1"/>
                </a:solidFill>
              </a:rPr>
              <a:t>774</a:t>
            </a:r>
            <a:r>
              <a:rPr lang="en" sz="1400" dirty="0">
                <a:solidFill>
                  <a:schemeClr val="dk1"/>
                </a:solidFill>
              </a:rPr>
              <a:t>.”</a:t>
            </a:r>
            <a:endParaRPr sz="1400" dirty="0"/>
          </a:p>
        </p:txBody>
      </p:sp>
      <p:sp>
        <p:nvSpPr>
          <p:cNvPr id="29" name="Google Shape;1161;p86">
            <a:extLst>
              <a:ext uri="{FF2B5EF4-FFF2-40B4-BE49-F238E27FC236}">
                <a16:creationId xmlns:a16="http://schemas.microsoft.com/office/drawing/2014/main" id="{5735AA26-A850-6EEC-3B16-616C6E15C568}"/>
              </a:ext>
            </a:extLst>
          </p:cNvPr>
          <p:cNvSpPr txBox="1"/>
          <p:nvPr/>
        </p:nvSpPr>
        <p:spPr>
          <a:xfrm>
            <a:off x="3724432" y="1336854"/>
            <a:ext cx="6753247" cy="748422"/>
          </a:xfrm>
          <a:prstGeom prst="rect">
            <a:avLst/>
          </a:prstGeom>
          <a:solidFill>
            <a:srgbClr val="C9DAF8"/>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dirty="0"/>
              <a:t>Let’s see what happens when Mallory </a:t>
            </a:r>
            <a:r>
              <a:rPr lang="en" b="1" dirty="0">
                <a:solidFill>
                  <a:srgbClr val="C00000"/>
                </a:solidFill>
              </a:rPr>
              <a:t>correctly guesses </a:t>
            </a:r>
            <a:r>
              <a:rPr lang="en" dirty="0"/>
              <a:t>the ID number and </a:t>
            </a:r>
            <a:r>
              <a:rPr lang="en" b="1" dirty="0">
                <a:solidFill>
                  <a:srgbClr val="C00000"/>
                </a:solidFill>
              </a:rPr>
              <a:t>wins</a:t>
            </a:r>
            <a:r>
              <a:rPr lang="en" dirty="0"/>
              <a:t> the race condition</a:t>
            </a:r>
            <a:endParaRPr dirty="0"/>
          </a:p>
        </p:txBody>
      </p:sp>
    </p:spTree>
    <p:extLst>
      <p:ext uri="{BB962C8B-B14F-4D97-AF65-F5344CB8AC3E}">
        <p14:creationId xmlns:p14="http://schemas.microsoft.com/office/powerpoint/2010/main" val="28967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6552F-341D-77BF-22C0-8D1D33F64B83}"/>
            </a:ext>
          </a:extLst>
        </p:cNvPr>
        <p:cNvGrpSpPr/>
        <p:nvPr/>
      </p:nvGrpSpPr>
      <p:grpSpPr>
        <a:xfrm>
          <a:off x="0" y="0"/>
          <a:ext cx="0" cy="0"/>
          <a:chOff x="0" y="0"/>
          <a:chExt cx="0" cy="0"/>
        </a:xfrm>
      </p:grpSpPr>
      <p:sp>
        <p:nvSpPr>
          <p:cNvPr id="16" name="Google Shape;94;p18">
            <a:extLst>
              <a:ext uri="{FF2B5EF4-FFF2-40B4-BE49-F238E27FC236}">
                <a16:creationId xmlns:a16="http://schemas.microsoft.com/office/drawing/2014/main" id="{F301F624-E0B2-240D-61E6-CAD9E32F34E8}"/>
              </a:ext>
            </a:extLst>
          </p:cNvPr>
          <p:cNvSpPr txBox="1"/>
          <p:nvPr/>
        </p:nvSpPr>
        <p:spPr>
          <a:xfrm>
            <a:off x="1086878" y="1273669"/>
            <a:ext cx="2164021" cy="58745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Courier New"/>
                <a:ea typeface="Courier New"/>
                <a:cs typeface="Courier New"/>
                <a:sym typeface="Courier New"/>
              </a:rPr>
              <a:t>Stub Resolver</a:t>
            </a:r>
            <a:endParaRPr dirty="0">
              <a:latin typeface="Calibri"/>
              <a:ea typeface="Calibri"/>
              <a:cs typeface="Calibri"/>
              <a:sym typeface="Calibri"/>
            </a:endParaRPr>
          </a:p>
        </p:txBody>
      </p:sp>
      <p:sp>
        <p:nvSpPr>
          <p:cNvPr id="20" name="Google Shape;98;p18">
            <a:extLst>
              <a:ext uri="{FF2B5EF4-FFF2-40B4-BE49-F238E27FC236}">
                <a16:creationId xmlns:a16="http://schemas.microsoft.com/office/drawing/2014/main" id="{E15CBF73-3961-A82B-C4D8-C78FC555DDC3}"/>
              </a:ext>
            </a:extLst>
          </p:cNvPr>
          <p:cNvSpPr/>
          <p:nvPr/>
        </p:nvSpPr>
        <p:spPr>
          <a:xfrm>
            <a:off x="164860" y="2572413"/>
            <a:ext cx="4056187" cy="3701166"/>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99;p18">
            <a:extLst>
              <a:ext uri="{FF2B5EF4-FFF2-40B4-BE49-F238E27FC236}">
                <a16:creationId xmlns:a16="http://schemas.microsoft.com/office/drawing/2014/main" id="{886A406B-7040-7613-8682-0A7AD5017B6F}"/>
              </a:ext>
            </a:extLst>
          </p:cNvPr>
          <p:cNvSpPr txBox="1"/>
          <p:nvPr/>
        </p:nvSpPr>
        <p:spPr>
          <a:xfrm>
            <a:off x="248560" y="2660813"/>
            <a:ext cx="3840671" cy="508261"/>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graphicFrame>
        <p:nvGraphicFramePr>
          <p:cNvPr id="22" name="Google Shape;100;p18">
            <a:extLst>
              <a:ext uri="{FF2B5EF4-FFF2-40B4-BE49-F238E27FC236}">
                <a16:creationId xmlns:a16="http://schemas.microsoft.com/office/drawing/2014/main" id="{5DEF110F-A21E-1387-5E54-086C6D97D640}"/>
              </a:ext>
            </a:extLst>
          </p:cNvPr>
          <p:cNvGraphicFramePr/>
          <p:nvPr>
            <p:extLst>
              <p:ext uri="{D42A27DB-BD31-4B8C-83A1-F6EECF244321}">
                <p14:modId xmlns:p14="http://schemas.microsoft.com/office/powerpoint/2010/main" val="726713222"/>
              </p:ext>
            </p:extLst>
          </p:nvPr>
        </p:nvGraphicFramePr>
        <p:xfrm>
          <a:off x="248586" y="3054413"/>
          <a:ext cx="3840606" cy="2003053"/>
        </p:xfrm>
        <a:graphic>
          <a:graphicData uri="http://schemas.openxmlformats.org/drawingml/2006/table">
            <a:tbl>
              <a:tblPr>
                <a:noFill/>
              </a:tblPr>
              <a:tblGrid>
                <a:gridCol w="1920303">
                  <a:extLst>
                    <a:ext uri="{9D8B030D-6E8A-4147-A177-3AD203B41FA5}">
                      <a16:colId xmlns:a16="http://schemas.microsoft.com/office/drawing/2014/main" val="20000"/>
                    </a:ext>
                  </a:extLst>
                </a:gridCol>
                <a:gridCol w="1920303">
                  <a:extLst>
                    <a:ext uri="{9D8B030D-6E8A-4147-A177-3AD203B41FA5}">
                      <a16:colId xmlns:a16="http://schemas.microsoft.com/office/drawing/2014/main" val="20001"/>
                    </a:ext>
                  </a:extLst>
                </a:gridCol>
              </a:tblGrid>
              <a:tr h="452593">
                <a:tc gridSpan="2">
                  <a:txBody>
                    <a:bodyPr/>
                    <a:lstStyle/>
                    <a:p>
                      <a:pPr marL="0" lvl="0" indent="0" algn="ctr" rtl="0">
                        <a:spcBef>
                          <a:spcPts val="0"/>
                        </a:spcBef>
                        <a:spcAft>
                          <a:spcPts val="0"/>
                        </a:spcAft>
                        <a:buNone/>
                      </a:pPr>
                      <a:r>
                        <a:rPr lang="en" sz="1500" dirty="0">
                          <a:latin typeface="Courier New"/>
                          <a:ea typeface="Courier New"/>
                          <a:cs typeface="Courier New"/>
                          <a:sym typeface="Courier New"/>
                        </a:rPr>
                        <a:t>Recursive Resolver Cache</a:t>
                      </a:r>
                      <a:endParaRPr sz="1500" dirty="0">
                        <a:latin typeface="Courier New"/>
                        <a:ea typeface="Courier New"/>
                        <a:cs typeface="Courier New"/>
                        <a:sym typeface="Courier New"/>
                      </a:endParaRPr>
                    </a:p>
                  </a:txBody>
                  <a:tcPr marL="91425" marR="91425" marT="91425" marB="91425">
                    <a:lnB w="9525" cap="flat" cmpd="sng" algn="ctr">
                      <a:solidFill>
                        <a:srgbClr val="9E9E9E"/>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0"/>
                  </a:ext>
                </a:extLst>
              </a:tr>
              <a:tr h="433160">
                <a:tc>
                  <a:txBody>
                    <a:bodyPr/>
                    <a:lstStyle/>
                    <a:p>
                      <a:pPr marL="0" lvl="0" indent="0" algn="l" rtl="0">
                        <a:lnSpc>
                          <a:spcPct val="115000"/>
                        </a:lnSpc>
                        <a:spcBef>
                          <a:spcPts val="0"/>
                        </a:spcBef>
                        <a:spcAft>
                          <a:spcPts val="0"/>
                        </a:spcAft>
                        <a:buNone/>
                      </a:pPr>
                      <a:r>
                        <a:rPr lang="en-US" sz="1500" b="0" dirty="0">
                          <a:solidFill>
                            <a:schemeClr val="dk1"/>
                          </a:solidFill>
                          <a:latin typeface="Courier New"/>
                          <a:ea typeface="Courier New"/>
                          <a:cs typeface="Courier New"/>
                          <a:sym typeface="Courier New"/>
                        </a:rPr>
                        <a:t>a.gtld-servers.net</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r>
                        <a:rPr lang="en-US" sz="1500" b="0" dirty="0">
                          <a:solidFill>
                            <a:schemeClr val="dk1"/>
                          </a:solidFill>
                          <a:latin typeface="Courier New"/>
                          <a:ea typeface="Courier New"/>
                          <a:cs typeface="Courier New"/>
                          <a:sym typeface="Courier New"/>
                        </a:rPr>
                        <a:t>192.5.6.30</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433160">
                <a:tc>
                  <a:txBody>
                    <a:bodyPr/>
                    <a:lstStyle/>
                    <a:p>
                      <a:pPr marL="0" marR="0" lvl="0" indent="0" algn="l" rtl="0">
                        <a:lnSpc>
                          <a:spcPct val="115000"/>
                        </a:lnSpc>
                        <a:spcBef>
                          <a:spcPts val="0"/>
                        </a:spcBef>
                        <a:spcAft>
                          <a:spcPts val="0"/>
                        </a:spcAft>
                        <a:buClr>
                          <a:srgbClr val="000000"/>
                        </a:buClr>
                        <a:buFont typeface="Arial"/>
                        <a:buNone/>
                      </a:pPr>
                      <a:r>
                        <a:rPr lang="en-US" sz="1500" b="0" i="0" u="none" strike="noStrike" cap="none" dirty="0">
                          <a:solidFill>
                            <a:schemeClr val="dk1"/>
                          </a:solidFill>
                          <a:latin typeface="Courier New"/>
                          <a:ea typeface="Courier New"/>
                          <a:cs typeface="Courier New"/>
                          <a:sym typeface="Courier New"/>
                        </a:rPr>
                        <a:t>ns1.google.com</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solidFill>
                      <a:schemeClr val="lt1"/>
                    </a:solidFill>
                  </a:tcPr>
                </a:tc>
                <a:tc>
                  <a:txBody>
                    <a:bodyPr/>
                    <a:lstStyle/>
                    <a:p>
                      <a:pPr marL="0" marR="0" lvl="0" indent="0" algn="l" rtl="0">
                        <a:lnSpc>
                          <a:spcPct val="115000"/>
                        </a:lnSpc>
                        <a:spcBef>
                          <a:spcPts val="0"/>
                        </a:spcBef>
                        <a:spcAft>
                          <a:spcPts val="0"/>
                        </a:spcAft>
                        <a:buClr>
                          <a:srgbClr val="000000"/>
                        </a:buClr>
                        <a:buFont typeface="Arial"/>
                        <a:buNone/>
                      </a:pPr>
                      <a:r>
                        <a:rPr lang="en-US" sz="1500" b="0" i="0" u="none" strike="noStrike" cap="none" dirty="0">
                          <a:solidFill>
                            <a:schemeClr val="dk1"/>
                          </a:solidFill>
                          <a:latin typeface="Courier New"/>
                          <a:ea typeface="Courier New"/>
                          <a:cs typeface="Courier New"/>
                          <a:sym typeface="Courier New"/>
                        </a:rPr>
                        <a:t>216.239.32.10</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413234">
                <a:tc>
                  <a:txBody>
                    <a:bodyPr/>
                    <a:lstStyle/>
                    <a:p>
                      <a:pPr marL="0" lvl="0" indent="0" algn="l" rtl="0">
                        <a:spcBef>
                          <a:spcPts val="0"/>
                        </a:spcBef>
                        <a:spcAft>
                          <a:spcPts val="0"/>
                        </a:spcAft>
                        <a:buNone/>
                      </a:pPr>
                      <a:r>
                        <a:rPr lang="en" sz="1500" b="1" dirty="0">
                          <a:solidFill>
                            <a:srgbClr val="C00000"/>
                          </a:solidFill>
                          <a:latin typeface="Courier New"/>
                          <a:ea typeface="Courier New"/>
                          <a:cs typeface="Courier New"/>
                          <a:sym typeface="Courier New"/>
                        </a:rPr>
                        <a:t>www.google.com</a:t>
                      </a:r>
                      <a:endParaRPr sz="1500" b="1" dirty="0">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en" sz="1500" b="1" dirty="0">
                          <a:solidFill>
                            <a:srgbClr val="C00000"/>
                          </a:solidFill>
                          <a:latin typeface="Courier New"/>
                          <a:ea typeface="Courier New"/>
                          <a:cs typeface="Courier New"/>
                          <a:sym typeface="Courier New"/>
                        </a:rPr>
                        <a:t>6.6.6.6</a:t>
                      </a:r>
                      <a:endParaRPr sz="1500" b="1" dirty="0">
                        <a:solidFill>
                          <a:srgbClr val="C00000"/>
                        </a:solidFill>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bl>
          </a:graphicData>
        </a:graphic>
      </p:graphicFrame>
      <p:sp>
        <p:nvSpPr>
          <p:cNvPr id="45" name="Google Shape;134;p22">
            <a:extLst>
              <a:ext uri="{FF2B5EF4-FFF2-40B4-BE49-F238E27FC236}">
                <a16:creationId xmlns:a16="http://schemas.microsoft.com/office/drawing/2014/main" id="{CBEFBE94-28C7-4C06-03B2-0E430DA1EE3A}"/>
              </a:ext>
            </a:extLst>
          </p:cNvPr>
          <p:cNvSpPr txBox="1"/>
          <p:nvPr/>
        </p:nvSpPr>
        <p:spPr>
          <a:xfrm>
            <a:off x="10360128" y="2456393"/>
            <a:ext cx="1238100" cy="3648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Courier New" panose="02070309020205020404" pitchFamily="49" charset="0"/>
                <a:ea typeface="Courier New"/>
                <a:cs typeface="Courier New" panose="02070309020205020404" pitchFamily="49" charset="0"/>
                <a:sym typeface="Courier New"/>
              </a:rPr>
              <a:t>.</a:t>
            </a:r>
            <a:r>
              <a:rPr lang="en" dirty="0">
                <a:latin typeface="Courier New" panose="02070309020205020404" pitchFamily="49" charset="0"/>
                <a:cs typeface="Courier New" panose="02070309020205020404" pitchFamily="49" charset="0"/>
              </a:rPr>
              <a:t>(root)</a:t>
            </a:r>
            <a:endParaRPr dirty="0">
              <a:latin typeface="Courier New" panose="02070309020205020404" pitchFamily="49" charset="0"/>
              <a:ea typeface="Courier New"/>
              <a:cs typeface="Courier New" panose="02070309020205020404" pitchFamily="49" charset="0"/>
              <a:sym typeface="Courier New"/>
            </a:endParaRPr>
          </a:p>
        </p:txBody>
      </p:sp>
      <p:sp>
        <p:nvSpPr>
          <p:cNvPr id="46" name="Google Shape;135;p22">
            <a:extLst>
              <a:ext uri="{FF2B5EF4-FFF2-40B4-BE49-F238E27FC236}">
                <a16:creationId xmlns:a16="http://schemas.microsoft.com/office/drawing/2014/main" id="{E6DFD664-6823-81A2-040E-EAA777BF204B}"/>
              </a:ext>
            </a:extLst>
          </p:cNvPr>
          <p:cNvSpPr txBox="1"/>
          <p:nvPr/>
        </p:nvSpPr>
        <p:spPr>
          <a:xfrm>
            <a:off x="10721787" y="3468893"/>
            <a:ext cx="73152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Courier New"/>
                <a:ea typeface="Courier New"/>
                <a:cs typeface="Courier New"/>
                <a:sym typeface="Courier New"/>
              </a:rPr>
              <a:t>.com</a:t>
            </a:r>
            <a:endParaRPr>
              <a:latin typeface="Calibri"/>
              <a:ea typeface="Calibri"/>
              <a:cs typeface="Calibri"/>
              <a:sym typeface="Calibri"/>
            </a:endParaRPr>
          </a:p>
        </p:txBody>
      </p:sp>
      <p:sp>
        <p:nvSpPr>
          <p:cNvPr id="47" name="Google Shape;136;p22">
            <a:extLst>
              <a:ext uri="{FF2B5EF4-FFF2-40B4-BE49-F238E27FC236}">
                <a16:creationId xmlns:a16="http://schemas.microsoft.com/office/drawing/2014/main" id="{BE3255E9-31D5-D459-5A51-361D3471E5BD}"/>
              </a:ext>
            </a:extLst>
          </p:cNvPr>
          <p:cNvSpPr txBox="1"/>
          <p:nvPr/>
        </p:nvSpPr>
        <p:spPr>
          <a:xfrm>
            <a:off x="10391165" y="4392960"/>
            <a:ext cx="1385235"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400" dirty="0">
                <a:latin typeface="Courier New"/>
                <a:ea typeface="Courier New"/>
                <a:cs typeface="Courier New"/>
                <a:sym typeface="Courier New"/>
              </a:rPr>
              <a:t>google.com</a:t>
            </a:r>
            <a:endParaRPr sz="1400" dirty="0">
              <a:latin typeface="Calibri"/>
              <a:ea typeface="Calibri"/>
              <a:cs typeface="Calibri"/>
              <a:sym typeface="Calibri"/>
            </a:endParaRPr>
          </a:p>
        </p:txBody>
      </p:sp>
      <p:cxnSp>
        <p:nvCxnSpPr>
          <p:cNvPr id="48" name="Google Shape;137;p22">
            <a:extLst>
              <a:ext uri="{FF2B5EF4-FFF2-40B4-BE49-F238E27FC236}">
                <a16:creationId xmlns:a16="http://schemas.microsoft.com/office/drawing/2014/main" id="{B4EF1C9F-AEFB-B0F6-E055-21524DFEF6D6}"/>
              </a:ext>
            </a:extLst>
          </p:cNvPr>
          <p:cNvCxnSpPr>
            <a:cxnSpLocks/>
          </p:cNvCxnSpPr>
          <p:nvPr/>
        </p:nvCxnSpPr>
        <p:spPr>
          <a:xfrm>
            <a:off x="11081081" y="2814897"/>
            <a:ext cx="0" cy="653996"/>
          </a:xfrm>
          <a:prstGeom prst="straightConnector1">
            <a:avLst/>
          </a:prstGeom>
          <a:noFill/>
          <a:ln w="9525" cap="flat" cmpd="sng">
            <a:solidFill>
              <a:srgbClr val="000000"/>
            </a:solidFill>
            <a:prstDash val="solid"/>
            <a:round/>
            <a:headEnd type="none" w="med" len="med"/>
            <a:tailEnd type="none" w="med" len="med"/>
          </a:ln>
        </p:spPr>
      </p:cxnSp>
      <p:cxnSp>
        <p:nvCxnSpPr>
          <p:cNvPr id="49" name="Google Shape;138;p22">
            <a:extLst>
              <a:ext uri="{FF2B5EF4-FFF2-40B4-BE49-F238E27FC236}">
                <a16:creationId xmlns:a16="http://schemas.microsoft.com/office/drawing/2014/main" id="{8767D69B-EDF3-92F6-A5A5-89E88212631F}"/>
              </a:ext>
            </a:extLst>
          </p:cNvPr>
          <p:cNvCxnSpPr>
            <a:cxnSpLocks/>
          </p:cNvCxnSpPr>
          <p:nvPr/>
        </p:nvCxnSpPr>
        <p:spPr>
          <a:xfrm>
            <a:off x="11081081" y="3862493"/>
            <a:ext cx="0" cy="516831"/>
          </a:xfrm>
          <a:prstGeom prst="straightConnector1">
            <a:avLst/>
          </a:prstGeom>
          <a:noFill/>
          <a:ln w="9525" cap="flat" cmpd="sng">
            <a:solidFill>
              <a:srgbClr val="000000"/>
            </a:solidFill>
            <a:prstDash val="solid"/>
            <a:round/>
            <a:headEnd type="none" w="med" len="med"/>
            <a:tailEnd type="none" w="med" len="med"/>
          </a:ln>
        </p:spPr>
      </p:cxnSp>
      <p:grpSp>
        <p:nvGrpSpPr>
          <p:cNvPr id="2" name="Google Shape;112;p19">
            <a:extLst>
              <a:ext uri="{FF2B5EF4-FFF2-40B4-BE49-F238E27FC236}">
                <a16:creationId xmlns:a16="http://schemas.microsoft.com/office/drawing/2014/main" id="{C096A107-8218-CF9E-5E25-6C5972939A74}"/>
              </a:ext>
            </a:extLst>
          </p:cNvPr>
          <p:cNvGrpSpPr/>
          <p:nvPr/>
        </p:nvGrpSpPr>
        <p:grpSpPr>
          <a:xfrm>
            <a:off x="1400223" y="1930411"/>
            <a:ext cx="410100" cy="572709"/>
            <a:chOff x="258935" y="2049228"/>
            <a:chExt cx="410100" cy="762900"/>
          </a:xfrm>
        </p:grpSpPr>
        <p:sp>
          <p:nvSpPr>
            <p:cNvPr id="3" name="Google Shape;113;p19">
              <a:extLst>
                <a:ext uri="{FF2B5EF4-FFF2-40B4-BE49-F238E27FC236}">
                  <a16:creationId xmlns:a16="http://schemas.microsoft.com/office/drawing/2014/main" id="{39413333-5561-564E-D7FC-88366438F14A}"/>
                </a:ext>
              </a:extLst>
            </p:cNvPr>
            <p:cNvSpPr txBox="1"/>
            <p:nvPr/>
          </p:nvSpPr>
          <p:spPr>
            <a:xfrm>
              <a:off x="258935" y="2174852"/>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1</a:t>
              </a:r>
              <a:endParaRPr dirty="0">
                <a:latin typeface="Calibri"/>
                <a:ea typeface="Calibri"/>
                <a:cs typeface="Calibri"/>
                <a:sym typeface="Calibri"/>
              </a:endParaRPr>
            </a:p>
          </p:txBody>
        </p:sp>
        <p:cxnSp>
          <p:nvCxnSpPr>
            <p:cNvPr id="5" name="Google Shape;114;p19">
              <a:extLst>
                <a:ext uri="{FF2B5EF4-FFF2-40B4-BE49-F238E27FC236}">
                  <a16:creationId xmlns:a16="http://schemas.microsoft.com/office/drawing/2014/main" id="{D6AE9ECE-F402-82A4-1ECA-CF95C766BE91}"/>
                </a:ext>
              </a:extLst>
            </p:cNvPr>
            <p:cNvCxnSpPr/>
            <p:nvPr/>
          </p:nvCxnSpPr>
          <p:spPr>
            <a:xfrm rot="10800000">
              <a:off x="530725" y="2049228"/>
              <a:ext cx="0" cy="762900"/>
            </a:xfrm>
            <a:prstGeom prst="straightConnector1">
              <a:avLst/>
            </a:prstGeom>
            <a:noFill/>
            <a:ln w="19050" cap="flat" cmpd="sng">
              <a:solidFill>
                <a:srgbClr val="000000"/>
              </a:solidFill>
              <a:prstDash val="solid"/>
              <a:round/>
              <a:headEnd type="triangle" w="med" len="med"/>
              <a:tailEnd type="none" w="med" len="med"/>
            </a:ln>
          </p:spPr>
        </p:cxnSp>
      </p:grpSp>
      <p:cxnSp>
        <p:nvCxnSpPr>
          <p:cNvPr id="8" name="Google Shape;137;p20">
            <a:extLst>
              <a:ext uri="{FF2B5EF4-FFF2-40B4-BE49-F238E27FC236}">
                <a16:creationId xmlns:a16="http://schemas.microsoft.com/office/drawing/2014/main" id="{877BB251-2EFA-34E3-FC1C-99D28F70EDAB}"/>
              </a:ext>
            </a:extLst>
          </p:cNvPr>
          <p:cNvCxnSpPr>
            <a:cxnSpLocks/>
          </p:cNvCxnSpPr>
          <p:nvPr/>
        </p:nvCxnSpPr>
        <p:spPr>
          <a:xfrm flipV="1">
            <a:off x="4352902" y="3665693"/>
            <a:ext cx="6237030" cy="26921"/>
          </a:xfrm>
          <a:prstGeom prst="straightConnector1">
            <a:avLst/>
          </a:prstGeom>
          <a:noFill/>
          <a:ln w="19050" cap="flat" cmpd="sng">
            <a:solidFill>
              <a:srgbClr val="000000"/>
            </a:solidFill>
            <a:prstDash val="solid"/>
            <a:round/>
            <a:headEnd type="none" w="med" len="med"/>
            <a:tailEnd type="triangle" w="med" len="med"/>
          </a:ln>
        </p:spPr>
      </p:cxnSp>
      <p:sp>
        <p:nvSpPr>
          <p:cNvPr id="11" name="Google Shape;462;p34">
            <a:extLst>
              <a:ext uri="{FF2B5EF4-FFF2-40B4-BE49-F238E27FC236}">
                <a16:creationId xmlns:a16="http://schemas.microsoft.com/office/drawing/2014/main" id="{539D30E0-2EDF-71A1-C071-B2AB4411E6FE}"/>
              </a:ext>
            </a:extLst>
          </p:cNvPr>
          <p:cNvSpPr txBox="1"/>
          <p:nvPr/>
        </p:nvSpPr>
        <p:spPr>
          <a:xfrm>
            <a:off x="6690956" y="3282378"/>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4</a:t>
            </a:r>
            <a:endParaRPr dirty="0">
              <a:latin typeface="Calibri"/>
              <a:ea typeface="Calibri"/>
              <a:cs typeface="Calibri"/>
              <a:sym typeface="Calibri"/>
            </a:endParaRPr>
          </a:p>
        </p:txBody>
      </p:sp>
      <p:sp>
        <p:nvSpPr>
          <p:cNvPr id="7" name="Google Shape;462;p34">
            <a:extLst>
              <a:ext uri="{FF2B5EF4-FFF2-40B4-BE49-F238E27FC236}">
                <a16:creationId xmlns:a16="http://schemas.microsoft.com/office/drawing/2014/main" id="{16215E3B-6637-3D89-2B40-71F387212445}"/>
              </a:ext>
            </a:extLst>
          </p:cNvPr>
          <p:cNvSpPr txBox="1"/>
          <p:nvPr/>
        </p:nvSpPr>
        <p:spPr>
          <a:xfrm>
            <a:off x="7917176" y="2819729"/>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3</a:t>
            </a:r>
          </a:p>
        </p:txBody>
      </p:sp>
      <p:cxnSp>
        <p:nvCxnSpPr>
          <p:cNvPr id="10" name="Google Shape;168;p21">
            <a:extLst>
              <a:ext uri="{FF2B5EF4-FFF2-40B4-BE49-F238E27FC236}">
                <a16:creationId xmlns:a16="http://schemas.microsoft.com/office/drawing/2014/main" id="{53876453-7B46-C9B7-7769-3E2051320F5E}"/>
              </a:ext>
            </a:extLst>
          </p:cNvPr>
          <p:cNvCxnSpPr>
            <a:cxnSpLocks/>
          </p:cNvCxnSpPr>
          <p:nvPr/>
        </p:nvCxnSpPr>
        <p:spPr>
          <a:xfrm flipV="1">
            <a:off x="4197894" y="2638793"/>
            <a:ext cx="6162234" cy="641955"/>
          </a:xfrm>
          <a:prstGeom prst="straightConnector1">
            <a:avLst/>
          </a:prstGeom>
          <a:noFill/>
          <a:ln w="19050" cap="flat" cmpd="sng">
            <a:solidFill>
              <a:srgbClr val="000000"/>
            </a:solidFill>
            <a:prstDash val="solid"/>
            <a:round/>
            <a:headEnd type="triangle" w="med" len="med"/>
            <a:tailEnd type="none" w="med" len="med"/>
          </a:ln>
        </p:spPr>
      </p:cxnSp>
      <p:sp>
        <p:nvSpPr>
          <p:cNvPr id="12" name="Google Shape;462;p34">
            <a:extLst>
              <a:ext uri="{FF2B5EF4-FFF2-40B4-BE49-F238E27FC236}">
                <a16:creationId xmlns:a16="http://schemas.microsoft.com/office/drawing/2014/main" id="{57612FF6-02F1-014E-270A-84D0ED02EDC6}"/>
              </a:ext>
            </a:extLst>
          </p:cNvPr>
          <p:cNvSpPr txBox="1"/>
          <p:nvPr/>
        </p:nvSpPr>
        <p:spPr>
          <a:xfrm>
            <a:off x="7035914" y="2396951"/>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2a</a:t>
            </a:r>
            <a:endParaRPr dirty="0">
              <a:latin typeface="Calibri"/>
              <a:ea typeface="Calibri"/>
              <a:cs typeface="Calibri"/>
              <a:sym typeface="Calibri"/>
            </a:endParaRPr>
          </a:p>
        </p:txBody>
      </p:sp>
      <p:cxnSp>
        <p:nvCxnSpPr>
          <p:cNvPr id="13" name="Google Shape;137;p20">
            <a:extLst>
              <a:ext uri="{FF2B5EF4-FFF2-40B4-BE49-F238E27FC236}">
                <a16:creationId xmlns:a16="http://schemas.microsoft.com/office/drawing/2014/main" id="{26BF0563-4CC2-6558-366B-43F3C5BD939F}"/>
              </a:ext>
            </a:extLst>
          </p:cNvPr>
          <p:cNvCxnSpPr>
            <a:cxnSpLocks/>
          </p:cNvCxnSpPr>
          <p:nvPr/>
        </p:nvCxnSpPr>
        <p:spPr>
          <a:xfrm flipV="1">
            <a:off x="4329710" y="2451320"/>
            <a:ext cx="6030418" cy="665024"/>
          </a:xfrm>
          <a:prstGeom prst="straightConnector1">
            <a:avLst/>
          </a:prstGeom>
          <a:noFill/>
          <a:ln w="19050" cap="flat" cmpd="sng">
            <a:solidFill>
              <a:srgbClr val="000000"/>
            </a:solidFill>
            <a:prstDash val="solid"/>
            <a:round/>
            <a:headEnd type="none" w="med" len="med"/>
            <a:tailEnd type="triangle" w="med" len="med"/>
          </a:ln>
        </p:spPr>
      </p:cxnSp>
      <p:cxnSp>
        <p:nvCxnSpPr>
          <p:cNvPr id="6" name="Google Shape;168;p21">
            <a:extLst>
              <a:ext uri="{FF2B5EF4-FFF2-40B4-BE49-F238E27FC236}">
                <a16:creationId xmlns:a16="http://schemas.microsoft.com/office/drawing/2014/main" id="{BADC2B34-85E0-F59A-E954-0DECEEB60952}"/>
              </a:ext>
            </a:extLst>
          </p:cNvPr>
          <p:cNvCxnSpPr>
            <a:cxnSpLocks/>
          </p:cNvCxnSpPr>
          <p:nvPr/>
        </p:nvCxnSpPr>
        <p:spPr>
          <a:xfrm flipV="1">
            <a:off x="4281620" y="3806749"/>
            <a:ext cx="6308312" cy="55744"/>
          </a:xfrm>
          <a:prstGeom prst="straightConnector1">
            <a:avLst/>
          </a:prstGeom>
          <a:noFill/>
          <a:ln w="19050" cap="flat" cmpd="sng">
            <a:solidFill>
              <a:srgbClr val="000000"/>
            </a:solidFill>
            <a:prstDash val="solid"/>
            <a:round/>
            <a:headEnd type="triangle" w="med" len="med"/>
            <a:tailEnd type="none" w="med" len="med"/>
          </a:ln>
        </p:spPr>
      </p:cxnSp>
      <p:sp>
        <p:nvSpPr>
          <p:cNvPr id="18" name="Google Shape;462;p34">
            <a:extLst>
              <a:ext uri="{FF2B5EF4-FFF2-40B4-BE49-F238E27FC236}">
                <a16:creationId xmlns:a16="http://schemas.microsoft.com/office/drawing/2014/main" id="{ABE35607-C910-538E-8C27-C19165DDEE3C}"/>
              </a:ext>
            </a:extLst>
          </p:cNvPr>
          <p:cNvSpPr txBox="1"/>
          <p:nvPr/>
        </p:nvSpPr>
        <p:spPr>
          <a:xfrm>
            <a:off x="6675437" y="3793113"/>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5</a:t>
            </a:r>
            <a:endParaRPr dirty="0">
              <a:latin typeface="Calibri"/>
              <a:ea typeface="Calibri"/>
              <a:cs typeface="Calibri"/>
              <a:sym typeface="Calibri"/>
            </a:endParaRPr>
          </a:p>
        </p:txBody>
      </p:sp>
      <p:cxnSp>
        <p:nvCxnSpPr>
          <p:cNvPr id="9" name="Google Shape;137;p20">
            <a:extLst>
              <a:ext uri="{FF2B5EF4-FFF2-40B4-BE49-F238E27FC236}">
                <a16:creationId xmlns:a16="http://schemas.microsoft.com/office/drawing/2014/main" id="{A677458E-EFB6-83B4-E88C-0A8B2453A0FC}"/>
              </a:ext>
            </a:extLst>
          </p:cNvPr>
          <p:cNvCxnSpPr>
            <a:cxnSpLocks/>
            <a:endCxn id="47" idx="1"/>
          </p:cNvCxnSpPr>
          <p:nvPr/>
        </p:nvCxnSpPr>
        <p:spPr>
          <a:xfrm>
            <a:off x="4281620" y="4239666"/>
            <a:ext cx="6109545" cy="350094"/>
          </a:xfrm>
          <a:prstGeom prst="straightConnector1">
            <a:avLst/>
          </a:prstGeom>
          <a:noFill/>
          <a:ln w="19050" cap="flat" cmpd="sng">
            <a:solidFill>
              <a:srgbClr val="000000"/>
            </a:solidFill>
            <a:prstDash val="solid"/>
            <a:round/>
            <a:headEnd type="none" w="med" len="med"/>
            <a:tailEnd type="triangle" w="med" len="med"/>
          </a:ln>
        </p:spPr>
      </p:cxnSp>
      <p:sp>
        <p:nvSpPr>
          <p:cNvPr id="15" name="Google Shape;462;p34">
            <a:extLst>
              <a:ext uri="{FF2B5EF4-FFF2-40B4-BE49-F238E27FC236}">
                <a16:creationId xmlns:a16="http://schemas.microsoft.com/office/drawing/2014/main" id="{00FEAA87-8360-7811-5B86-CE4A8A8A8DAD}"/>
              </a:ext>
            </a:extLst>
          </p:cNvPr>
          <p:cNvSpPr txBox="1"/>
          <p:nvPr/>
        </p:nvSpPr>
        <p:spPr>
          <a:xfrm>
            <a:off x="7365353" y="4056451"/>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6</a:t>
            </a:r>
            <a:endParaRPr dirty="0">
              <a:latin typeface="Calibri"/>
              <a:ea typeface="Calibri"/>
              <a:cs typeface="Calibri"/>
              <a:sym typeface="Calibri"/>
            </a:endParaRPr>
          </a:p>
        </p:txBody>
      </p:sp>
      <p:cxnSp>
        <p:nvCxnSpPr>
          <p:cNvPr id="19" name="Google Shape;168;p21">
            <a:extLst>
              <a:ext uri="{FF2B5EF4-FFF2-40B4-BE49-F238E27FC236}">
                <a16:creationId xmlns:a16="http://schemas.microsoft.com/office/drawing/2014/main" id="{0B98AB79-DAD1-D7F6-07CE-721AB61DB998}"/>
              </a:ext>
            </a:extLst>
          </p:cNvPr>
          <p:cNvCxnSpPr>
            <a:cxnSpLocks/>
          </p:cNvCxnSpPr>
          <p:nvPr/>
        </p:nvCxnSpPr>
        <p:spPr>
          <a:xfrm>
            <a:off x="6003235" y="4447116"/>
            <a:ext cx="4387930" cy="257101"/>
          </a:xfrm>
          <a:prstGeom prst="straightConnector1">
            <a:avLst/>
          </a:prstGeom>
          <a:noFill/>
          <a:ln w="19050" cap="flat" cmpd="sng">
            <a:solidFill>
              <a:srgbClr val="000000"/>
            </a:solidFill>
            <a:prstDash val="solid"/>
            <a:round/>
            <a:headEnd type="triangle" w="med" len="med"/>
            <a:tailEnd type="none" w="med" len="med"/>
          </a:ln>
        </p:spPr>
      </p:cxnSp>
      <p:sp>
        <p:nvSpPr>
          <p:cNvPr id="23" name="Google Shape;462;p34">
            <a:extLst>
              <a:ext uri="{FF2B5EF4-FFF2-40B4-BE49-F238E27FC236}">
                <a16:creationId xmlns:a16="http://schemas.microsoft.com/office/drawing/2014/main" id="{13D67C96-9830-A8F0-D075-547FE15DFD3C}"/>
              </a:ext>
            </a:extLst>
          </p:cNvPr>
          <p:cNvSpPr txBox="1"/>
          <p:nvPr/>
        </p:nvSpPr>
        <p:spPr>
          <a:xfrm>
            <a:off x="7765905" y="4538343"/>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7</a:t>
            </a:r>
            <a:endParaRPr dirty="0">
              <a:latin typeface="Calibri"/>
              <a:ea typeface="Calibri"/>
              <a:cs typeface="Calibri"/>
              <a:sym typeface="Calibri"/>
            </a:endParaRPr>
          </a:p>
        </p:txBody>
      </p:sp>
      <p:sp>
        <p:nvSpPr>
          <p:cNvPr id="17" name="Google Shape;94;p18">
            <a:extLst>
              <a:ext uri="{FF2B5EF4-FFF2-40B4-BE49-F238E27FC236}">
                <a16:creationId xmlns:a16="http://schemas.microsoft.com/office/drawing/2014/main" id="{B8DFAA96-575D-CEC7-97B0-64694B0D83F8}"/>
              </a:ext>
            </a:extLst>
          </p:cNvPr>
          <p:cNvSpPr txBox="1"/>
          <p:nvPr/>
        </p:nvSpPr>
        <p:spPr>
          <a:xfrm>
            <a:off x="10281037" y="6064602"/>
            <a:ext cx="1495363" cy="58745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latin typeface="Courier New"/>
                <a:ea typeface="Courier New"/>
                <a:cs typeface="Courier New"/>
                <a:sym typeface="Courier New"/>
              </a:rPr>
              <a:t>Attacker</a:t>
            </a:r>
            <a:endParaRPr b="1" dirty="0">
              <a:latin typeface="Calibri"/>
              <a:ea typeface="Calibri"/>
              <a:cs typeface="Calibri"/>
              <a:sym typeface="Calibri"/>
            </a:endParaRPr>
          </a:p>
        </p:txBody>
      </p:sp>
      <p:cxnSp>
        <p:nvCxnSpPr>
          <p:cNvPr id="28" name="Google Shape;168;p21">
            <a:extLst>
              <a:ext uri="{FF2B5EF4-FFF2-40B4-BE49-F238E27FC236}">
                <a16:creationId xmlns:a16="http://schemas.microsoft.com/office/drawing/2014/main" id="{03F5D5BC-6B0B-FABC-3910-F3152015FB52}"/>
              </a:ext>
            </a:extLst>
          </p:cNvPr>
          <p:cNvCxnSpPr>
            <a:cxnSpLocks/>
          </p:cNvCxnSpPr>
          <p:nvPr/>
        </p:nvCxnSpPr>
        <p:spPr>
          <a:xfrm>
            <a:off x="4197894" y="6583680"/>
            <a:ext cx="5777744" cy="0"/>
          </a:xfrm>
          <a:prstGeom prst="straightConnector1">
            <a:avLst/>
          </a:prstGeom>
          <a:noFill/>
          <a:ln w="19050" cap="flat" cmpd="sng">
            <a:solidFill>
              <a:srgbClr val="FF0000"/>
            </a:solidFill>
            <a:prstDash val="solid"/>
            <a:round/>
            <a:headEnd type="triangle" w="med" len="med"/>
            <a:tailEnd type="none" w="med" len="med"/>
          </a:ln>
        </p:spPr>
      </p:cxnSp>
      <p:sp>
        <p:nvSpPr>
          <p:cNvPr id="32" name="Google Shape;462;p34">
            <a:extLst>
              <a:ext uri="{FF2B5EF4-FFF2-40B4-BE49-F238E27FC236}">
                <a16:creationId xmlns:a16="http://schemas.microsoft.com/office/drawing/2014/main" id="{B9C5CF1F-C28B-B6AB-C6EE-C314C98F3B5B}"/>
              </a:ext>
            </a:extLst>
          </p:cNvPr>
          <p:cNvSpPr txBox="1"/>
          <p:nvPr/>
        </p:nvSpPr>
        <p:spPr>
          <a:xfrm>
            <a:off x="6919485" y="6198486"/>
            <a:ext cx="531042"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rgbClr val="FF0000"/>
                </a:solidFill>
                <a:latin typeface="Calibri"/>
                <a:ea typeface="Calibri"/>
                <a:cs typeface="Calibri"/>
                <a:sym typeface="Calibri"/>
              </a:rPr>
              <a:t>2b</a:t>
            </a:r>
            <a:endParaRPr dirty="0">
              <a:solidFill>
                <a:srgbClr val="FF0000"/>
              </a:solidFill>
              <a:latin typeface="Calibri"/>
              <a:ea typeface="Calibri"/>
              <a:cs typeface="Calibri"/>
              <a:sym typeface="Calibri"/>
            </a:endParaRPr>
          </a:p>
        </p:txBody>
      </p:sp>
      <p:cxnSp>
        <p:nvCxnSpPr>
          <p:cNvPr id="34" name="Google Shape;322;p25">
            <a:extLst>
              <a:ext uri="{FF2B5EF4-FFF2-40B4-BE49-F238E27FC236}">
                <a16:creationId xmlns:a16="http://schemas.microsoft.com/office/drawing/2014/main" id="{AEB39E5E-D6D2-9CD1-45DE-0D58C741FB09}"/>
              </a:ext>
            </a:extLst>
          </p:cNvPr>
          <p:cNvCxnSpPr>
            <a:cxnSpLocks/>
          </p:cNvCxnSpPr>
          <p:nvPr/>
        </p:nvCxnSpPr>
        <p:spPr>
          <a:xfrm>
            <a:off x="4925031" y="3752344"/>
            <a:ext cx="5532061" cy="0"/>
          </a:xfrm>
          <a:prstGeom prst="straightConnector1">
            <a:avLst/>
          </a:prstGeom>
          <a:noFill/>
          <a:ln w="9525" cap="flat" cmpd="sng">
            <a:solidFill>
              <a:schemeClr val="dk2"/>
            </a:solidFill>
            <a:prstDash val="solid"/>
            <a:round/>
            <a:headEnd type="none" w="med" len="med"/>
            <a:tailEnd type="none" w="med" len="med"/>
          </a:ln>
        </p:spPr>
      </p:cxnSp>
      <p:grpSp>
        <p:nvGrpSpPr>
          <p:cNvPr id="60" name="Group 59">
            <a:extLst>
              <a:ext uri="{FF2B5EF4-FFF2-40B4-BE49-F238E27FC236}">
                <a16:creationId xmlns:a16="http://schemas.microsoft.com/office/drawing/2014/main" id="{C86E9319-40D2-2E2A-0D78-D77073CF5344}"/>
              </a:ext>
            </a:extLst>
          </p:cNvPr>
          <p:cNvGrpSpPr/>
          <p:nvPr/>
        </p:nvGrpSpPr>
        <p:grpSpPr>
          <a:xfrm>
            <a:off x="345287" y="5057466"/>
            <a:ext cx="3647202" cy="1721533"/>
            <a:chOff x="345287" y="5057466"/>
            <a:chExt cx="3647202" cy="1721533"/>
          </a:xfrm>
        </p:grpSpPr>
        <p:sp>
          <p:nvSpPr>
            <p:cNvPr id="55" name="Google Shape;343;p26">
              <a:extLst>
                <a:ext uri="{FF2B5EF4-FFF2-40B4-BE49-F238E27FC236}">
                  <a16:creationId xmlns:a16="http://schemas.microsoft.com/office/drawing/2014/main" id="{E841701A-E96B-BB8A-6E47-F7ADE07C86B9}"/>
                </a:ext>
              </a:extLst>
            </p:cNvPr>
            <p:cNvSpPr txBox="1"/>
            <p:nvPr/>
          </p:nvSpPr>
          <p:spPr>
            <a:xfrm>
              <a:off x="345287" y="5553177"/>
              <a:ext cx="3647202" cy="1225822"/>
            </a:xfrm>
            <a:prstGeom prst="rect">
              <a:avLst/>
            </a:prstGeom>
            <a:solidFill>
              <a:srgbClr val="C9DAF8"/>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600" dirty="0">
                  <a:solidFill>
                    <a:schemeClr val="dk1"/>
                  </a:solidFill>
                </a:rPr>
                <a:t>Mallory correctly guessed the ID number and </a:t>
              </a:r>
              <a:r>
                <a:rPr lang="en" sz="1600" b="1" dirty="0">
                  <a:solidFill>
                    <a:srgbClr val="C00000"/>
                  </a:solidFill>
                </a:rPr>
                <a:t>won the race condition</a:t>
              </a:r>
              <a:r>
                <a:rPr lang="en" sz="1600" dirty="0">
                  <a:solidFill>
                    <a:schemeClr val="dk1"/>
                  </a:solidFill>
                </a:rPr>
                <a:t>, so </a:t>
              </a:r>
              <a:r>
                <a:rPr lang="en" sz="1600" b="1" dirty="0">
                  <a:solidFill>
                    <a:schemeClr val="dk1"/>
                  </a:solidFill>
                  <a:latin typeface="Courier New"/>
                  <a:ea typeface="Courier New"/>
                  <a:cs typeface="Courier New"/>
                  <a:sym typeface="Courier New"/>
                </a:rPr>
                <a:t>www.google.com.</a:t>
              </a:r>
              <a:r>
                <a:rPr lang="en" sz="1600" dirty="0">
                  <a:solidFill>
                    <a:schemeClr val="dk1"/>
                  </a:solidFill>
                </a:rPr>
                <a:t> is cached with Mallory’s malicious IP </a:t>
              </a:r>
              <a:r>
                <a:rPr lang="en" sz="1600" b="1" dirty="0">
                  <a:solidFill>
                    <a:srgbClr val="C00000"/>
                  </a:solidFill>
                  <a:latin typeface="Courier New"/>
                  <a:ea typeface="Courier New"/>
                  <a:cs typeface="Courier New"/>
                  <a:sym typeface="Courier New"/>
                </a:rPr>
                <a:t>6.6.6.6</a:t>
              </a:r>
              <a:endParaRPr sz="1600" dirty="0">
                <a:solidFill>
                  <a:srgbClr val="C00000"/>
                </a:solidFill>
              </a:endParaRPr>
            </a:p>
          </p:txBody>
        </p:sp>
        <p:cxnSp>
          <p:nvCxnSpPr>
            <p:cNvPr id="56" name="Google Shape;344;p26">
              <a:extLst>
                <a:ext uri="{FF2B5EF4-FFF2-40B4-BE49-F238E27FC236}">
                  <a16:creationId xmlns:a16="http://schemas.microsoft.com/office/drawing/2014/main" id="{1259AEA2-B976-229F-D51C-2EE758F71F75}"/>
                </a:ext>
              </a:extLst>
            </p:cNvPr>
            <p:cNvCxnSpPr>
              <a:cxnSpLocks/>
              <a:stCxn id="55" idx="0"/>
              <a:endCxn id="22" idx="2"/>
            </p:cNvCxnSpPr>
            <p:nvPr/>
          </p:nvCxnSpPr>
          <p:spPr>
            <a:xfrm flipV="1">
              <a:off x="2168888" y="5057466"/>
              <a:ext cx="1" cy="495711"/>
            </a:xfrm>
            <a:prstGeom prst="straightConnector1">
              <a:avLst/>
            </a:prstGeom>
            <a:noFill/>
            <a:ln w="57150" cap="flat" cmpd="sng">
              <a:solidFill>
                <a:srgbClr val="0000FF"/>
              </a:solidFill>
              <a:prstDash val="solid"/>
              <a:round/>
              <a:headEnd type="none" w="med" len="med"/>
              <a:tailEnd type="triangle" w="med" len="med"/>
            </a:ln>
          </p:spPr>
        </p:cxnSp>
      </p:grpSp>
      <p:grpSp>
        <p:nvGrpSpPr>
          <p:cNvPr id="42" name="Group 41">
            <a:extLst>
              <a:ext uri="{FF2B5EF4-FFF2-40B4-BE49-F238E27FC236}">
                <a16:creationId xmlns:a16="http://schemas.microsoft.com/office/drawing/2014/main" id="{C248B8B1-E483-DB60-8C16-151701E56FCC}"/>
              </a:ext>
            </a:extLst>
          </p:cNvPr>
          <p:cNvGrpSpPr/>
          <p:nvPr/>
        </p:nvGrpSpPr>
        <p:grpSpPr>
          <a:xfrm>
            <a:off x="4578223" y="5150473"/>
            <a:ext cx="5014627" cy="1067017"/>
            <a:chOff x="4352902" y="355848"/>
            <a:chExt cx="5014627" cy="1067017"/>
          </a:xfrm>
        </p:grpSpPr>
        <p:sp>
          <p:nvSpPr>
            <p:cNvPr id="26" name="Google Shape;321;p25">
              <a:extLst>
                <a:ext uri="{FF2B5EF4-FFF2-40B4-BE49-F238E27FC236}">
                  <a16:creationId xmlns:a16="http://schemas.microsoft.com/office/drawing/2014/main" id="{FDB22A08-B62A-F992-87FE-5D178AAA19ED}"/>
                </a:ext>
              </a:extLst>
            </p:cNvPr>
            <p:cNvSpPr txBox="1"/>
            <p:nvPr/>
          </p:nvSpPr>
          <p:spPr>
            <a:xfrm>
              <a:off x="4352902" y="355848"/>
              <a:ext cx="5014627" cy="1067017"/>
            </a:xfrm>
            <a:prstGeom prst="rect">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chemeClr val="dk1"/>
                  </a:solidFill>
                </a:rPr>
                <a:t>“I don’t know. But I have delegated authority to the </a:t>
              </a:r>
              <a:r>
                <a:rPr lang="en" sz="1200" b="1" dirty="0">
                  <a:solidFill>
                    <a:schemeClr val="dk1"/>
                  </a:solidFill>
                  <a:latin typeface="Courier New"/>
                  <a:ea typeface="Courier New"/>
                  <a:cs typeface="Courier New"/>
                  <a:sym typeface="Courier New"/>
                </a:rPr>
                <a:t>fake1.google.com</a:t>
              </a:r>
              <a:r>
                <a:rPr lang="en" sz="1200" dirty="0">
                  <a:solidFill>
                    <a:schemeClr val="dk1"/>
                  </a:solidFill>
                </a:rPr>
                <a:t> NS. This response has ID </a:t>
              </a:r>
              <a:r>
                <a:rPr lang="en" sz="1200" b="1" dirty="0">
                  <a:solidFill>
                    <a:schemeClr val="accent4">
                      <a:lumMod val="20000"/>
                      <a:lumOff val="80000"/>
                    </a:schemeClr>
                  </a:solidFill>
                </a:rPr>
                <a:t>774</a:t>
              </a:r>
              <a:r>
                <a:rPr lang="en" sz="1200" dirty="0">
                  <a:solidFill>
                    <a:schemeClr val="dk1"/>
                  </a:solidFill>
                </a:rPr>
                <a:t>.</a:t>
              </a:r>
              <a:endParaRPr sz="1200" dirty="0">
                <a:solidFill>
                  <a:schemeClr val="dk1"/>
                </a:solidFill>
              </a:endParaRPr>
            </a:p>
            <a:p>
              <a:pPr marL="0" lvl="0" indent="0" algn="l" rtl="0">
                <a:spcBef>
                  <a:spcPts val="0"/>
                </a:spcBef>
                <a:spcAft>
                  <a:spcPts val="0"/>
                </a:spcAft>
                <a:buClr>
                  <a:schemeClr val="dk1"/>
                </a:buClr>
                <a:buSzPts val="1100"/>
                <a:buFont typeface="Arial"/>
                <a:buNone/>
              </a:pPr>
              <a:endParaRPr lang="en" sz="1200" dirty="0">
                <a:solidFill>
                  <a:schemeClr val="dk1"/>
                </a:solidFill>
              </a:endParaRPr>
            </a:p>
            <a:p>
              <a:pPr lvl="0">
                <a:buClr>
                  <a:schemeClr val="dk1"/>
                </a:buClr>
                <a:buSzPts val="1100"/>
              </a:pPr>
              <a:r>
                <a:rPr lang="en-US" sz="1200" b="1" dirty="0">
                  <a:solidFill>
                    <a:schemeClr val="dk1"/>
                  </a:solidFill>
                </a:rPr>
                <a:t>Authority: </a:t>
              </a:r>
              <a:r>
                <a:rPr lang="en" sz="1200" b="1" dirty="0">
                  <a:solidFill>
                    <a:schemeClr val="dk1"/>
                  </a:solidFill>
                  <a:latin typeface="Courier New"/>
                  <a:ea typeface="Courier New"/>
                  <a:cs typeface="Courier New"/>
                  <a:sym typeface="Courier New"/>
                </a:rPr>
                <a:t>fake1.google.com </a:t>
              </a:r>
              <a:r>
                <a:rPr lang="en-US" sz="1200" b="1" dirty="0">
                  <a:latin typeface="Courier New"/>
                  <a:cs typeface="Courier New"/>
                </a:rPr>
                <a:t>NS</a:t>
              </a:r>
              <a:r>
                <a:rPr lang="en-US" sz="1200" b="1" dirty="0">
                  <a:solidFill>
                    <a:srgbClr val="FF0000"/>
                  </a:solidFill>
                  <a:latin typeface="Courier New"/>
                  <a:cs typeface="Courier New"/>
                </a:rPr>
                <a:t> </a:t>
              </a:r>
              <a:r>
                <a:rPr lang="en-US" sz="1200" b="1" dirty="0">
                  <a:latin typeface="Courier New"/>
                  <a:cs typeface="Courier New"/>
                </a:rPr>
                <a:t>www.google.com. </a:t>
              </a:r>
              <a:endParaRPr sz="1200" dirty="0">
                <a:solidFill>
                  <a:schemeClr val="dk1"/>
                </a:solidFill>
              </a:endParaRPr>
            </a:p>
            <a:p>
              <a:pPr marL="0" lvl="0" indent="0" algn="l" rtl="0">
                <a:lnSpc>
                  <a:spcPct val="115000"/>
                </a:lnSpc>
                <a:spcBef>
                  <a:spcPts val="0"/>
                </a:spcBef>
                <a:spcAft>
                  <a:spcPts val="0"/>
                </a:spcAft>
                <a:buNone/>
              </a:pPr>
              <a:r>
                <a:rPr lang="en-US" sz="1200" b="1" dirty="0">
                  <a:solidFill>
                    <a:schemeClr val="dk1"/>
                  </a:solidFill>
                </a:rPr>
                <a:t>Additional: </a:t>
              </a:r>
              <a:r>
                <a:rPr lang="en-US" sz="1200" b="1" dirty="0">
                  <a:latin typeface="Courier New"/>
                  <a:cs typeface="Courier New"/>
                </a:rPr>
                <a:t>www.google.com </a:t>
              </a:r>
              <a:r>
                <a:rPr lang="en-US" sz="1200" b="1" dirty="0">
                  <a:solidFill>
                    <a:schemeClr val="dk1"/>
                  </a:solidFill>
                  <a:latin typeface="Courier New"/>
                  <a:cs typeface="Courier New"/>
                </a:rPr>
                <a:t>A </a:t>
              </a:r>
              <a:r>
                <a:rPr lang="en-US" sz="1200" b="1" dirty="0">
                  <a:solidFill>
                    <a:schemeClr val="accent4">
                      <a:lumMod val="20000"/>
                      <a:lumOff val="80000"/>
                    </a:schemeClr>
                  </a:solidFill>
                  <a:latin typeface="Courier New"/>
                  <a:cs typeface="Courier New"/>
                </a:rPr>
                <a:t>6.6.6.6</a:t>
              </a:r>
              <a:r>
                <a:rPr lang="en" sz="1200" dirty="0">
                  <a:solidFill>
                    <a:schemeClr val="dk1"/>
                  </a:solidFill>
                </a:rPr>
                <a:t>”</a:t>
              </a:r>
              <a:endParaRPr sz="1200" dirty="0"/>
            </a:p>
          </p:txBody>
        </p:sp>
        <p:cxnSp>
          <p:nvCxnSpPr>
            <p:cNvPr id="27" name="Google Shape;322;p25">
              <a:extLst>
                <a:ext uri="{FF2B5EF4-FFF2-40B4-BE49-F238E27FC236}">
                  <a16:creationId xmlns:a16="http://schemas.microsoft.com/office/drawing/2014/main" id="{382B3986-6C3E-E050-97E3-4A75637FC1BC}"/>
                </a:ext>
              </a:extLst>
            </p:cNvPr>
            <p:cNvCxnSpPr>
              <a:cxnSpLocks/>
              <a:stCxn id="26" idx="1"/>
              <a:endCxn id="26" idx="3"/>
            </p:cNvCxnSpPr>
            <p:nvPr/>
          </p:nvCxnSpPr>
          <p:spPr>
            <a:xfrm>
              <a:off x="4352902" y="889357"/>
              <a:ext cx="5014627" cy="0"/>
            </a:xfrm>
            <a:prstGeom prst="straightConnector1">
              <a:avLst/>
            </a:prstGeom>
            <a:noFill/>
            <a:ln w="9525" cap="flat" cmpd="sng">
              <a:solidFill>
                <a:schemeClr val="dk2"/>
              </a:solidFill>
              <a:prstDash val="solid"/>
              <a:round/>
              <a:headEnd type="none" w="med" len="med"/>
              <a:tailEnd type="none" w="med" len="med"/>
            </a:ln>
          </p:spPr>
        </p:cxnSp>
      </p:grpSp>
      <p:sp>
        <p:nvSpPr>
          <p:cNvPr id="25" name="Google Shape;1819;p140">
            <a:extLst>
              <a:ext uri="{FF2B5EF4-FFF2-40B4-BE49-F238E27FC236}">
                <a16:creationId xmlns:a16="http://schemas.microsoft.com/office/drawing/2014/main" id="{9C69715A-944E-E272-F246-AA4E39C624BD}"/>
              </a:ext>
            </a:extLst>
          </p:cNvPr>
          <p:cNvSpPr txBox="1">
            <a:spLocks noGrp="1"/>
          </p:cNvSpPr>
          <p:nvPr>
            <p:ph type="title"/>
          </p:nvPr>
        </p:nvSpPr>
        <p:spPr>
          <a:xfrm>
            <a:off x="415600" y="55919"/>
            <a:ext cx="11360800" cy="763600"/>
          </a:xfrm>
          <a:prstGeom prst="rect">
            <a:avLst/>
          </a:prstGeom>
        </p:spPr>
        <p:txBody>
          <a:bodyPr spcFirstLastPara="1" wrap="square" lIns="121900" tIns="121900" rIns="121900" bIns="121900" anchor="t" anchorCtr="0">
            <a:noAutofit/>
          </a:bodyPr>
          <a:lstStyle/>
          <a:p>
            <a:r>
              <a:rPr lang="en" sz="4400" dirty="0">
                <a:latin typeface="Aptos" panose="020B0004020202020204" pitchFamily="34" charset="0"/>
              </a:rPr>
              <a:t>Kaminsky Attack: Example</a:t>
            </a:r>
            <a:endParaRPr sz="4400" dirty="0">
              <a:latin typeface="Aptos" panose="020B0004020202020204" pitchFamily="34" charset="0"/>
            </a:endParaRPr>
          </a:p>
        </p:txBody>
      </p:sp>
      <p:sp>
        <p:nvSpPr>
          <p:cNvPr id="4" name="Google Shape;1167;p86">
            <a:extLst>
              <a:ext uri="{FF2B5EF4-FFF2-40B4-BE49-F238E27FC236}">
                <a16:creationId xmlns:a16="http://schemas.microsoft.com/office/drawing/2014/main" id="{C3FF7EE7-0F05-A878-5294-96650330CC55}"/>
              </a:ext>
            </a:extLst>
          </p:cNvPr>
          <p:cNvSpPr txBox="1"/>
          <p:nvPr/>
        </p:nvSpPr>
        <p:spPr>
          <a:xfrm>
            <a:off x="4633882" y="3957225"/>
            <a:ext cx="5405019" cy="422099"/>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400" dirty="0"/>
              <a:t>“</a:t>
            </a:r>
            <a:r>
              <a:rPr lang="en" sz="1400" b="1" dirty="0">
                <a:latin typeface="Courier New"/>
                <a:ea typeface="Courier New"/>
                <a:cs typeface="Courier New"/>
                <a:sym typeface="Courier New"/>
              </a:rPr>
              <a:t>fake1.google.com </a:t>
            </a:r>
            <a:r>
              <a:rPr lang="en" sz="1400" b="1" dirty="0">
                <a:solidFill>
                  <a:srgbClr val="C00000"/>
                </a:solidFill>
              </a:rPr>
              <a:t>doesn’t exist</a:t>
            </a:r>
            <a:r>
              <a:rPr lang="en" sz="1400" dirty="0"/>
              <a:t>! </a:t>
            </a:r>
            <a:r>
              <a:rPr lang="en" sz="1400" dirty="0">
                <a:solidFill>
                  <a:schemeClr val="dk1"/>
                </a:solidFill>
              </a:rPr>
              <a:t>This response has ID </a:t>
            </a:r>
            <a:r>
              <a:rPr lang="en" sz="1400" b="1" dirty="0">
                <a:solidFill>
                  <a:schemeClr val="dk1"/>
                </a:solidFill>
              </a:rPr>
              <a:t>774</a:t>
            </a:r>
            <a:r>
              <a:rPr lang="en" sz="1400" dirty="0">
                <a:solidFill>
                  <a:schemeClr val="dk1"/>
                </a:solidFill>
              </a:rPr>
              <a:t>.”</a:t>
            </a:r>
            <a:endParaRPr sz="1400" dirty="0"/>
          </a:p>
        </p:txBody>
      </p:sp>
    </p:spTree>
    <p:extLst>
      <p:ext uri="{BB962C8B-B14F-4D97-AF65-F5344CB8AC3E}">
        <p14:creationId xmlns:p14="http://schemas.microsoft.com/office/powerpoint/2010/main" val="17405893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47C76-C180-D5BD-F874-4E0A58E4E3C4}"/>
            </a:ext>
          </a:extLst>
        </p:cNvPr>
        <p:cNvGrpSpPr/>
        <p:nvPr/>
      </p:nvGrpSpPr>
      <p:grpSpPr>
        <a:xfrm>
          <a:off x="0" y="0"/>
          <a:ext cx="0" cy="0"/>
          <a:chOff x="0" y="0"/>
          <a:chExt cx="0" cy="0"/>
        </a:xfrm>
      </p:grpSpPr>
      <p:sp>
        <p:nvSpPr>
          <p:cNvPr id="16" name="Google Shape;94;p18">
            <a:extLst>
              <a:ext uri="{FF2B5EF4-FFF2-40B4-BE49-F238E27FC236}">
                <a16:creationId xmlns:a16="http://schemas.microsoft.com/office/drawing/2014/main" id="{F9A2FC5D-E0A5-C93C-36E6-8871D66A83A8}"/>
              </a:ext>
            </a:extLst>
          </p:cNvPr>
          <p:cNvSpPr txBox="1"/>
          <p:nvPr/>
        </p:nvSpPr>
        <p:spPr>
          <a:xfrm>
            <a:off x="1086878" y="1273669"/>
            <a:ext cx="2164021" cy="58745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Courier New"/>
                <a:ea typeface="Courier New"/>
                <a:cs typeface="Courier New"/>
                <a:sym typeface="Courier New"/>
              </a:rPr>
              <a:t>Stub Resolver</a:t>
            </a:r>
            <a:endParaRPr dirty="0">
              <a:latin typeface="Calibri"/>
              <a:ea typeface="Calibri"/>
              <a:cs typeface="Calibri"/>
              <a:sym typeface="Calibri"/>
            </a:endParaRPr>
          </a:p>
        </p:txBody>
      </p:sp>
      <p:sp>
        <p:nvSpPr>
          <p:cNvPr id="20" name="Google Shape;98;p18">
            <a:extLst>
              <a:ext uri="{FF2B5EF4-FFF2-40B4-BE49-F238E27FC236}">
                <a16:creationId xmlns:a16="http://schemas.microsoft.com/office/drawing/2014/main" id="{C2111EE2-BB79-7E40-FB1E-0A1FBF408429}"/>
              </a:ext>
            </a:extLst>
          </p:cNvPr>
          <p:cNvSpPr/>
          <p:nvPr/>
        </p:nvSpPr>
        <p:spPr>
          <a:xfrm>
            <a:off x="164860" y="2572413"/>
            <a:ext cx="4056187" cy="3701166"/>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99;p18">
            <a:extLst>
              <a:ext uri="{FF2B5EF4-FFF2-40B4-BE49-F238E27FC236}">
                <a16:creationId xmlns:a16="http://schemas.microsoft.com/office/drawing/2014/main" id="{3D29796E-2442-D131-B63F-A89EB0A2FE81}"/>
              </a:ext>
            </a:extLst>
          </p:cNvPr>
          <p:cNvSpPr txBox="1"/>
          <p:nvPr/>
        </p:nvSpPr>
        <p:spPr>
          <a:xfrm>
            <a:off x="248560" y="2660813"/>
            <a:ext cx="3840671" cy="508261"/>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graphicFrame>
        <p:nvGraphicFramePr>
          <p:cNvPr id="22" name="Google Shape;100;p18">
            <a:extLst>
              <a:ext uri="{FF2B5EF4-FFF2-40B4-BE49-F238E27FC236}">
                <a16:creationId xmlns:a16="http://schemas.microsoft.com/office/drawing/2014/main" id="{0C67ADC2-C0B9-DB7E-3982-0EBC6AE525B8}"/>
              </a:ext>
            </a:extLst>
          </p:cNvPr>
          <p:cNvGraphicFramePr/>
          <p:nvPr/>
        </p:nvGraphicFramePr>
        <p:xfrm>
          <a:off x="248586" y="3054413"/>
          <a:ext cx="3840606" cy="2003053"/>
        </p:xfrm>
        <a:graphic>
          <a:graphicData uri="http://schemas.openxmlformats.org/drawingml/2006/table">
            <a:tbl>
              <a:tblPr>
                <a:noFill/>
              </a:tblPr>
              <a:tblGrid>
                <a:gridCol w="1920303">
                  <a:extLst>
                    <a:ext uri="{9D8B030D-6E8A-4147-A177-3AD203B41FA5}">
                      <a16:colId xmlns:a16="http://schemas.microsoft.com/office/drawing/2014/main" val="20000"/>
                    </a:ext>
                  </a:extLst>
                </a:gridCol>
                <a:gridCol w="1920303">
                  <a:extLst>
                    <a:ext uri="{9D8B030D-6E8A-4147-A177-3AD203B41FA5}">
                      <a16:colId xmlns:a16="http://schemas.microsoft.com/office/drawing/2014/main" val="20001"/>
                    </a:ext>
                  </a:extLst>
                </a:gridCol>
              </a:tblGrid>
              <a:tr h="452593">
                <a:tc gridSpan="2">
                  <a:txBody>
                    <a:bodyPr/>
                    <a:lstStyle/>
                    <a:p>
                      <a:pPr marL="0" lvl="0" indent="0" algn="ctr" rtl="0">
                        <a:spcBef>
                          <a:spcPts val="0"/>
                        </a:spcBef>
                        <a:spcAft>
                          <a:spcPts val="0"/>
                        </a:spcAft>
                        <a:buNone/>
                      </a:pPr>
                      <a:r>
                        <a:rPr lang="en" sz="1500" dirty="0">
                          <a:latin typeface="Courier New"/>
                          <a:ea typeface="Courier New"/>
                          <a:cs typeface="Courier New"/>
                          <a:sym typeface="Courier New"/>
                        </a:rPr>
                        <a:t>Recursive Resolver Cache</a:t>
                      </a:r>
                      <a:endParaRPr sz="1500" dirty="0">
                        <a:latin typeface="Courier New"/>
                        <a:ea typeface="Courier New"/>
                        <a:cs typeface="Courier New"/>
                        <a:sym typeface="Courier New"/>
                      </a:endParaRPr>
                    </a:p>
                  </a:txBody>
                  <a:tcPr marL="91425" marR="91425" marT="91425" marB="91425">
                    <a:lnB w="9525" cap="flat" cmpd="sng" algn="ctr">
                      <a:solidFill>
                        <a:srgbClr val="9E9E9E"/>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0"/>
                  </a:ext>
                </a:extLst>
              </a:tr>
              <a:tr h="433160">
                <a:tc>
                  <a:txBody>
                    <a:bodyPr/>
                    <a:lstStyle/>
                    <a:p>
                      <a:pPr marL="0" lvl="0" indent="0" algn="l" rtl="0">
                        <a:lnSpc>
                          <a:spcPct val="115000"/>
                        </a:lnSpc>
                        <a:spcBef>
                          <a:spcPts val="0"/>
                        </a:spcBef>
                        <a:spcAft>
                          <a:spcPts val="0"/>
                        </a:spcAft>
                        <a:buNone/>
                      </a:pPr>
                      <a:r>
                        <a:rPr lang="en-US" sz="1500" b="0" dirty="0">
                          <a:solidFill>
                            <a:schemeClr val="dk1"/>
                          </a:solidFill>
                          <a:latin typeface="Courier New"/>
                          <a:ea typeface="Courier New"/>
                          <a:cs typeface="Courier New"/>
                          <a:sym typeface="Courier New"/>
                        </a:rPr>
                        <a:t>a.gtld-servers.net</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r>
                        <a:rPr lang="en-US" sz="1500" b="0" dirty="0">
                          <a:solidFill>
                            <a:schemeClr val="dk1"/>
                          </a:solidFill>
                          <a:latin typeface="Courier New"/>
                          <a:ea typeface="Courier New"/>
                          <a:cs typeface="Courier New"/>
                          <a:sym typeface="Courier New"/>
                        </a:rPr>
                        <a:t>192.5.6.30</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433160">
                <a:tc>
                  <a:txBody>
                    <a:bodyPr/>
                    <a:lstStyle/>
                    <a:p>
                      <a:pPr marL="0" marR="0" lvl="0" indent="0" algn="l" rtl="0">
                        <a:lnSpc>
                          <a:spcPct val="115000"/>
                        </a:lnSpc>
                        <a:spcBef>
                          <a:spcPts val="0"/>
                        </a:spcBef>
                        <a:spcAft>
                          <a:spcPts val="0"/>
                        </a:spcAft>
                        <a:buClr>
                          <a:srgbClr val="000000"/>
                        </a:buClr>
                        <a:buFont typeface="Arial"/>
                        <a:buNone/>
                      </a:pPr>
                      <a:r>
                        <a:rPr lang="en-US" sz="1500" b="0" i="0" u="none" strike="noStrike" cap="none" dirty="0">
                          <a:solidFill>
                            <a:schemeClr val="dk1"/>
                          </a:solidFill>
                          <a:latin typeface="Courier New"/>
                          <a:ea typeface="Courier New"/>
                          <a:cs typeface="Courier New"/>
                          <a:sym typeface="Courier New"/>
                        </a:rPr>
                        <a:t>ns1.google.com</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solidFill>
                      <a:schemeClr val="lt1"/>
                    </a:solidFill>
                  </a:tcPr>
                </a:tc>
                <a:tc>
                  <a:txBody>
                    <a:bodyPr/>
                    <a:lstStyle/>
                    <a:p>
                      <a:pPr marL="0" marR="0" lvl="0" indent="0" algn="l" rtl="0">
                        <a:lnSpc>
                          <a:spcPct val="115000"/>
                        </a:lnSpc>
                        <a:spcBef>
                          <a:spcPts val="0"/>
                        </a:spcBef>
                        <a:spcAft>
                          <a:spcPts val="0"/>
                        </a:spcAft>
                        <a:buClr>
                          <a:srgbClr val="000000"/>
                        </a:buClr>
                        <a:buFont typeface="Arial"/>
                        <a:buNone/>
                      </a:pPr>
                      <a:r>
                        <a:rPr lang="en-US" sz="1500" b="0" i="0" u="none" strike="noStrike" cap="none" dirty="0">
                          <a:solidFill>
                            <a:schemeClr val="dk1"/>
                          </a:solidFill>
                          <a:latin typeface="Courier New"/>
                          <a:ea typeface="Courier New"/>
                          <a:cs typeface="Courier New"/>
                          <a:sym typeface="Courier New"/>
                        </a:rPr>
                        <a:t>216.239.32.10</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413234">
                <a:tc>
                  <a:txBody>
                    <a:bodyPr/>
                    <a:lstStyle/>
                    <a:p>
                      <a:pPr marL="0" lvl="0" indent="0" algn="l" rtl="0">
                        <a:spcBef>
                          <a:spcPts val="0"/>
                        </a:spcBef>
                        <a:spcAft>
                          <a:spcPts val="0"/>
                        </a:spcAft>
                        <a:buNone/>
                      </a:pPr>
                      <a:r>
                        <a:rPr lang="en" sz="1500" b="1" dirty="0">
                          <a:solidFill>
                            <a:srgbClr val="C00000"/>
                          </a:solidFill>
                          <a:latin typeface="Courier New"/>
                          <a:ea typeface="Courier New"/>
                          <a:cs typeface="Courier New"/>
                          <a:sym typeface="Courier New"/>
                        </a:rPr>
                        <a:t>www.google.com</a:t>
                      </a:r>
                      <a:endParaRPr sz="1500" b="1" dirty="0">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en" sz="1500" b="1" dirty="0">
                          <a:solidFill>
                            <a:srgbClr val="C00000"/>
                          </a:solidFill>
                          <a:latin typeface="Courier New"/>
                          <a:ea typeface="Courier New"/>
                          <a:cs typeface="Courier New"/>
                          <a:sym typeface="Courier New"/>
                        </a:rPr>
                        <a:t>6.6.6.6</a:t>
                      </a:r>
                      <a:endParaRPr sz="1500" b="1" dirty="0">
                        <a:solidFill>
                          <a:srgbClr val="C00000"/>
                        </a:solidFill>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bl>
          </a:graphicData>
        </a:graphic>
      </p:graphicFrame>
      <p:sp>
        <p:nvSpPr>
          <p:cNvPr id="45" name="Google Shape;134;p22">
            <a:extLst>
              <a:ext uri="{FF2B5EF4-FFF2-40B4-BE49-F238E27FC236}">
                <a16:creationId xmlns:a16="http://schemas.microsoft.com/office/drawing/2014/main" id="{C1887158-0AEB-3D06-24A3-38CD81E578C9}"/>
              </a:ext>
            </a:extLst>
          </p:cNvPr>
          <p:cNvSpPr txBox="1"/>
          <p:nvPr/>
        </p:nvSpPr>
        <p:spPr>
          <a:xfrm>
            <a:off x="10360128" y="2456393"/>
            <a:ext cx="1238100" cy="3648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Courier New" panose="02070309020205020404" pitchFamily="49" charset="0"/>
                <a:ea typeface="Courier New"/>
                <a:cs typeface="Courier New" panose="02070309020205020404" pitchFamily="49" charset="0"/>
                <a:sym typeface="Courier New"/>
              </a:rPr>
              <a:t>.</a:t>
            </a:r>
            <a:r>
              <a:rPr lang="en" dirty="0">
                <a:latin typeface="Courier New" panose="02070309020205020404" pitchFamily="49" charset="0"/>
                <a:cs typeface="Courier New" panose="02070309020205020404" pitchFamily="49" charset="0"/>
              </a:rPr>
              <a:t>(root)</a:t>
            </a:r>
            <a:endParaRPr dirty="0">
              <a:latin typeface="Courier New" panose="02070309020205020404" pitchFamily="49" charset="0"/>
              <a:ea typeface="Courier New"/>
              <a:cs typeface="Courier New" panose="02070309020205020404" pitchFamily="49" charset="0"/>
              <a:sym typeface="Courier New"/>
            </a:endParaRPr>
          </a:p>
        </p:txBody>
      </p:sp>
      <p:sp>
        <p:nvSpPr>
          <p:cNvPr id="46" name="Google Shape;135;p22">
            <a:extLst>
              <a:ext uri="{FF2B5EF4-FFF2-40B4-BE49-F238E27FC236}">
                <a16:creationId xmlns:a16="http://schemas.microsoft.com/office/drawing/2014/main" id="{3F45144D-1466-E2D1-7753-ED9C55437AD2}"/>
              </a:ext>
            </a:extLst>
          </p:cNvPr>
          <p:cNvSpPr txBox="1"/>
          <p:nvPr/>
        </p:nvSpPr>
        <p:spPr>
          <a:xfrm>
            <a:off x="10721787" y="3468893"/>
            <a:ext cx="73152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Courier New"/>
                <a:ea typeface="Courier New"/>
                <a:cs typeface="Courier New"/>
                <a:sym typeface="Courier New"/>
              </a:rPr>
              <a:t>.com</a:t>
            </a:r>
            <a:endParaRPr>
              <a:latin typeface="Calibri"/>
              <a:ea typeface="Calibri"/>
              <a:cs typeface="Calibri"/>
              <a:sym typeface="Calibri"/>
            </a:endParaRPr>
          </a:p>
        </p:txBody>
      </p:sp>
      <p:sp>
        <p:nvSpPr>
          <p:cNvPr id="47" name="Google Shape;136;p22">
            <a:extLst>
              <a:ext uri="{FF2B5EF4-FFF2-40B4-BE49-F238E27FC236}">
                <a16:creationId xmlns:a16="http://schemas.microsoft.com/office/drawing/2014/main" id="{136C3C30-880D-ACEA-CE5F-AD2E97B501CA}"/>
              </a:ext>
            </a:extLst>
          </p:cNvPr>
          <p:cNvSpPr txBox="1"/>
          <p:nvPr/>
        </p:nvSpPr>
        <p:spPr>
          <a:xfrm>
            <a:off x="10391165" y="4392960"/>
            <a:ext cx="1385235"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400" dirty="0">
                <a:latin typeface="Courier New"/>
                <a:ea typeface="Courier New"/>
                <a:cs typeface="Courier New"/>
                <a:sym typeface="Courier New"/>
              </a:rPr>
              <a:t>google.com</a:t>
            </a:r>
            <a:endParaRPr sz="1400" dirty="0">
              <a:latin typeface="Calibri"/>
              <a:ea typeface="Calibri"/>
              <a:cs typeface="Calibri"/>
              <a:sym typeface="Calibri"/>
            </a:endParaRPr>
          </a:p>
        </p:txBody>
      </p:sp>
      <p:cxnSp>
        <p:nvCxnSpPr>
          <p:cNvPr id="48" name="Google Shape;137;p22">
            <a:extLst>
              <a:ext uri="{FF2B5EF4-FFF2-40B4-BE49-F238E27FC236}">
                <a16:creationId xmlns:a16="http://schemas.microsoft.com/office/drawing/2014/main" id="{7C5DFBD8-6363-A1D8-C21D-F1CC4ED12033}"/>
              </a:ext>
            </a:extLst>
          </p:cNvPr>
          <p:cNvCxnSpPr>
            <a:cxnSpLocks/>
          </p:cNvCxnSpPr>
          <p:nvPr/>
        </p:nvCxnSpPr>
        <p:spPr>
          <a:xfrm>
            <a:off x="11081081" y="2814897"/>
            <a:ext cx="0" cy="653996"/>
          </a:xfrm>
          <a:prstGeom prst="straightConnector1">
            <a:avLst/>
          </a:prstGeom>
          <a:noFill/>
          <a:ln w="9525" cap="flat" cmpd="sng">
            <a:solidFill>
              <a:srgbClr val="000000"/>
            </a:solidFill>
            <a:prstDash val="solid"/>
            <a:round/>
            <a:headEnd type="none" w="med" len="med"/>
            <a:tailEnd type="none" w="med" len="med"/>
          </a:ln>
        </p:spPr>
      </p:cxnSp>
      <p:cxnSp>
        <p:nvCxnSpPr>
          <p:cNvPr id="49" name="Google Shape;138;p22">
            <a:extLst>
              <a:ext uri="{FF2B5EF4-FFF2-40B4-BE49-F238E27FC236}">
                <a16:creationId xmlns:a16="http://schemas.microsoft.com/office/drawing/2014/main" id="{310FD573-29BD-424F-A96E-FFF343462281}"/>
              </a:ext>
            </a:extLst>
          </p:cNvPr>
          <p:cNvCxnSpPr>
            <a:cxnSpLocks/>
          </p:cNvCxnSpPr>
          <p:nvPr/>
        </p:nvCxnSpPr>
        <p:spPr>
          <a:xfrm>
            <a:off x="11081081" y="3862493"/>
            <a:ext cx="0" cy="516831"/>
          </a:xfrm>
          <a:prstGeom prst="straightConnector1">
            <a:avLst/>
          </a:prstGeom>
          <a:noFill/>
          <a:ln w="9525" cap="flat" cmpd="sng">
            <a:solidFill>
              <a:srgbClr val="000000"/>
            </a:solidFill>
            <a:prstDash val="solid"/>
            <a:round/>
            <a:headEnd type="none" w="med" len="med"/>
            <a:tailEnd type="none" w="med" len="med"/>
          </a:ln>
        </p:spPr>
      </p:cxnSp>
      <p:grpSp>
        <p:nvGrpSpPr>
          <p:cNvPr id="2" name="Google Shape;112;p19">
            <a:extLst>
              <a:ext uri="{FF2B5EF4-FFF2-40B4-BE49-F238E27FC236}">
                <a16:creationId xmlns:a16="http://schemas.microsoft.com/office/drawing/2014/main" id="{2B5F3894-D062-B1AC-7464-9AF29BFB5C9B}"/>
              </a:ext>
            </a:extLst>
          </p:cNvPr>
          <p:cNvGrpSpPr/>
          <p:nvPr/>
        </p:nvGrpSpPr>
        <p:grpSpPr>
          <a:xfrm>
            <a:off x="1400223" y="1930411"/>
            <a:ext cx="410100" cy="572709"/>
            <a:chOff x="258935" y="2049228"/>
            <a:chExt cx="410100" cy="762900"/>
          </a:xfrm>
        </p:grpSpPr>
        <p:sp>
          <p:nvSpPr>
            <p:cNvPr id="3" name="Google Shape;113;p19">
              <a:extLst>
                <a:ext uri="{FF2B5EF4-FFF2-40B4-BE49-F238E27FC236}">
                  <a16:creationId xmlns:a16="http://schemas.microsoft.com/office/drawing/2014/main" id="{0CD598EA-E09E-954B-561A-A86C9789E215}"/>
                </a:ext>
              </a:extLst>
            </p:cNvPr>
            <p:cNvSpPr txBox="1"/>
            <p:nvPr/>
          </p:nvSpPr>
          <p:spPr>
            <a:xfrm>
              <a:off x="258935" y="2174852"/>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1</a:t>
              </a:r>
              <a:endParaRPr dirty="0">
                <a:latin typeface="Calibri"/>
                <a:ea typeface="Calibri"/>
                <a:cs typeface="Calibri"/>
                <a:sym typeface="Calibri"/>
              </a:endParaRPr>
            </a:p>
          </p:txBody>
        </p:sp>
        <p:cxnSp>
          <p:nvCxnSpPr>
            <p:cNvPr id="5" name="Google Shape;114;p19">
              <a:extLst>
                <a:ext uri="{FF2B5EF4-FFF2-40B4-BE49-F238E27FC236}">
                  <a16:creationId xmlns:a16="http://schemas.microsoft.com/office/drawing/2014/main" id="{72EA0A11-BB35-D159-36E0-184DF6DEC27B}"/>
                </a:ext>
              </a:extLst>
            </p:cNvPr>
            <p:cNvCxnSpPr/>
            <p:nvPr/>
          </p:nvCxnSpPr>
          <p:spPr>
            <a:xfrm rot="10800000">
              <a:off x="530725" y="2049228"/>
              <a:ext cx="0" cy="762900"/>
            </a:xfrm>
            <a:prstGeom prst="straightConnector1">
              <a:avLst/>
            </a:prstGeom>
            <a:noFill/>
            <a:ln w="19050" cap="flat" cmpd="sng">
              <a:solidFill>
                <a:srgbClr val="000000"/>
              </a:solidFill>
              <a:prstDash val="solid"/>
              <a:round/>
              <a:headEnd type="triangle" w="med" len="med"/>
              <a:tailEnd type="none" w="med" len="med"/>
            </a:ln>
          </p:spPr>
        </p:cxnSp>
      </p:grpSp>
      <p:cxnSp>
        <p:nvCxnSpPr>
          <p:cNvPr id="8" name="Google Shape;137;p20">
            <a:extLst>
              <a:ext uri="{FF2B5EF4-FFF2-40B4-BE49-F238E27FC236}">
                <a16:creationId xmlns:a16="http://schemas.microsoft.com/office/drawing/2014/main" id="{FA874488-B20B-BDD7-A44E-8175706505F4}"/>
              </a:ext>
            </a:extLst>
          </p:cNvPr>
          <p:cNvCxnSpPr>
            <a:cxnSpLocks/>
          </p:cNvCxnSpPr>
          <p:nvPr/>
        </p:nvCxnSpPr>
        <p:spPr>
          <a:xfrm flipV="1">
            <a:off x="4352902" y="3665693"/>
            <a:ext cx="6237030" cy="26921"/>
          </a:xfrm>
          <a:prstGeom prst="straightConnector1">
            <a:avLst/>
          </a:prstGeom>
          <a:noFill/>
          <a:ln w="19050" cap="flat" cmpd="sng">
            <a:solidFill>
              <a:srgbClr val="000000"/>
            </a:solidFill>
            <a:prstDash val="solid"/>
            <a:round/>
            <a:headEnd type="none" w="med" len="med"/>
            <a:tailEnd type="triangle" w="med" len="med"/>
          </a:ln>
        </p:spPr>
      </p:cxnSp>
      <p:sp>
        <p:nvSpPr>
          <p:cNvPr id="11" name="Google Shape;462;p34">
            <a:extLst>
              <a:ext uri="{FF2B5EF4-FFF2-40B4-BE49-F238E27FC236}">
                <a16:creationId xmlns:a16="http://schemas.microsoft.com/office/drawing/2014/main" id="{DB0AA30A-1987-98F6-A5DB-B5AA75FFE40E}"/>
              </a:ext>
            </a:extLst>
          </p:cNvPr>
          <p:cNvSpPr txBox="1"/>
          <p:nvPr/>
        </p:nvSpPr>
        <p:spPr>
          <a:xfrm>
            <a:off x="6690956" y="3282378"/>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4</a:t>
            </a:r>
            <a:endParaRPr dirty="0">
              <a:latin typeface="Calibri"/>
              <a:ea typeface="Calibri"/>
              <a:cs typeface="Calibri"/>
              <a:sym typeface="Calibri"/>
            </a:endParaRPr>
          </a:p>
        </p:txBody>
      </p:sp>
      <p:sp>
        <p:nvSpPr>
          <p:cNvPr id="7" name="Google Shape;462;p34">
            <a:extLst>
              <a:ext uri="{FF2B5EF4-FFF2-40B4-BE49-F238E27FC236}">
                <a16:creationId xmlns:a16="http://schemas.microsoft.com/office/drawing/2014/main" id="{7169F8F9-FC02-E7CB-0643-1961DF1E8667}"/>
              </a:ext>
            </a:extLst>
          </p:cNvPr>
          <p:cNvSpPr txBox="1"/>
          <p:nvPr/>
        </p:nvSpPr>
        <p:spPr>
          <a:xfrm>
            <a:off x="7917176" y="2819729"/>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3</a:t>
            </a:r>
          </a:p>
        </p:txBody>
      </p:sp>
      <p:cxnSp>
        <p:nvCxnSpPr>
          <p:cNvPr id="10" name="Google Shape;168;p21">
            <a:extLst>
              <a:ext uri="{FF2B5EF4-FFF2-40B4-BE49-F238E27FC236}">
                <a16:creationId xmlns:a16="http://schemas.microsoft.com/office/drawing/2014/main" id="{9ADB6958-16D5-0B5D-7D95-E3974A8991D6}"/>
              </a:ext>
            </a:extLst>
          </p:cNvPr>
          <p:cNvCxnSpPr>
            <a:cxnSpLocks/>
          </p:cNvCxnSpPr>
          <p:nvPr/>
        </p:nvCxnSpPr>
        <p:spPr>
          <a:xfrm flipV="1">
            <a:off x="4197894" y="2638793"/>
            <a:ext cx="6162234" cy="641955"/>
          </a:xfrm>
          <a:prstGeom prst="straightConnector1">
            <a:avLst/>
          </a:prstGeom>
          <a:noFill/>
          <a:ln w="19050" cap="flat" cmpd="sng">
            <a:solidFill>
              <a:srgbClr val="000000"/>
            </a:solidFill>
            <a:prstDash val="solid"/>
            <a:round/>
            <a:headEnd type="triangle" w="med" len="med"/>
            <a:tailEnd type="none" w="med" len="med"/>
          </a:ln>
        </p:spPr>
      </p:cxnSp>
      <p:sp>
        <p:nvSpPr>
          <p:cNvPr id="12" name="Google Shape;462;p34">
            <a:extLst>
              <a:ext uri="{FF2B5EF4-FFF2-40B4-BE49-F238E27FC236}">
                <a16:creationId xmlns:a16="http://schemas.microsoft.com/office/drawing/2014/main" id="{92488B94-2109-B9BD-0F4D-D3A0C07DBA26}"/>
              </a:ext>
            </a:extLst>
          </p:cNvPr>
          <p:cNvSpPr txBox="1"/>
          <p:nvPr/>
        </p:nvSpPr>
        <p:spPr>
          <a:xfrm>
            <a:off x="7035914" y="2396951"/>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2a</a:t>
            </a:r>
            <a:endParaRPr dirty="0">
              <a:latin typeface="Calibri"/>
              <a:ea typeface="Calibri"/>
              <a:cs typeface="Calibri"/>
              <a:sym typeface="Calibri"/>
            </a:endParaRPr>
          </a:p>
        </p:txBody>
      </p:sp>
      <p:cxnSp>
        <p:nvCxnSpPr>
          <p:cNvPr id="13" name="Google Shape;137;p20">
            <a:extLst>
              <a:ext uri="{FF2B5EF4-FFF2-40B4-BE49-F238E27FC236}">
                <a16:creationId xmlns:a16="http://schemas.microsoft.com/office/drawing/2014/main" id="{B92E6F56-F863-1280-3F66-9141EBB99F39}"/>
              </a:ext>
            </a:extLst>
          </p:cNvPr>
          <p:cNvCxnSpPr>
            <a:cxnSpLocks/>
          </p:cNvCxnSpPr>
          <p:nvPr/>
        </p:nvCxnSpPr>
        <p:spPr>
          <a:xfrm flipV="1">
            <a:off x="4329710" y="2451320"/>
            <a:ext cx="6030418" cy="665024"/>
          </a:xfrm>
          <a:prstGeom prst="straightConnector1">
            <a:avLst/>
          </a:prstGeom>
          <a:noFill/>
          <a:ln w="19050" cap="flat" cmpd="sng">
            <a:solidFill>
              <a:srgbClr val="000000"/>
            </a:solidFill>
            <a:prstDash val="solid"/>
            <a:round/>
            <a:headEnd type="none" w="med" len="med"/>
            <a:tailEnd type="triangle" w="med" len="med"/>
          </a:ln>
        </p:spPr>
      </p:cxnSp>
      <p:cxnSp>
        <p:nvCxnSpPr>
          <p:cNvPr id="6" name="Google Shape;168;p21">
            <a:extLst>
              <a:ext uri="{FF2B5EF4-FFF2-40B4-BE49-F238E27FC236}">
                <a16:creationId xmlns:a16="http://schemas.microsoft.com/office/drawing/2014/main" id="{4FB0A036-2B70-2727-A3C1-D801E83E8C51}"/>
              </a:ext>
            </a:extLst>
          </p:cNvPr>
          <p:cNvCxnSpPr>
            <a:cxnSpLocks/>
          </p:cNvCxnSpPr>
          <p:nvPr/>
        </p:nvCxnSpPr>
        <p:spPr>
          <a:xfrm flipV="1">
            <a:off x="4281620" y="3806749"/>
            <a:ext cx="6308312" cy="55744"/>
          </a:xfrm>
          <a:prstGeom prst="straightConnector1">
            <a:avLst/>
          </a:prstGeom>
          <a:noFill/>
          <a:ln w="19050" cap="flat" cmpd="sng">
            <a:solidFill>
              <a:srgbClr val="000000"/>
            </a:solidFill>
            <a:prstDash val="solid"/>
            <a:round/>
            <a:headEnd type="triangle" w="med" len="med"/>
            <a:tailEnd type="none" w="med" len="med"/>
          </a:ln>
        </p:spPr>
      </p:cxnSp>
      <p:sp>
        <p:nvSpPr>
          <p:cNvPr id="18" name="Google Shape;462;p34">
            <a:extLst>
              <a:ext uri="{FF2B5EF4-FFF2-40B4-BE49-F238E27FC236}">
                <a16:creationId xmlns:a16="http://schemas.microsoft.com/office/drawing/2014/main" id="{D8A78D5F-CB0E-5099-9D6F-E22397F74649}"/>
              </a:ext>
            </a:extLst>
          </p:cNvPr>
          <p:cNvSpPr txBox="1"/>
          <p:nvPr/>
        </p:nvSpPr>
        <p:spPr>
          <a:xfrm>
            <a:off x="6675437" y="3793113"/>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5</a:t>
            </a:r>
            <a:endParaRPr dirty="0">
              <a:latin typeface="Calibri"/>
              <a:ea typeface="Calibri"/>
              <a:cs typeface="Calibri"/>
              <a:sym typeface="Calibri"/>
            </a:endParaRPr>
          </a:p>
        </p:txBody>
      </p:sp>
      <p:cxnSp>
        <p:nvCxnSpPr>
          <p:cNvPr id="9" name="Google Shape;137;p20">
            <a:extLst>
              <a:ext uri="{FF2B5EF4-FFF2-40B4-BE49-F238E27FC236}">
                <a16:creationId xmlns:a16="http://schemas.microsoft.com/office/drawing/2014/main" id="{8F951F8C-2F13-C5C1-78B7-07BAA8AA9742}"/>
              </a:ext>
            </a:extLst>
          </p:cNvPr>
          <p:cNvCxnSpPr>
            <a:cxnSpLocks/>
            <a:endCxn id="47" idx="1"/>
          </p:cNvCxnSpPr>
          <p:nvPr/>
        </p:nvCxnSpPr>
        <p:spPr>
          <a:xfrm>
            <a:off x="4281620" y="4239666"/>
            <a:ext cx="6109545" cy="350094"/>
          </a:xfrm>
          <a:prstGeom prst="straightConnector1">
            <a:avLst/>
          </a:prstGeom>
          <a:noFill/>
          <a:ln w="19050" cap="flat" cmpd="sng">
            <a:solidFill>
              <a:srgbClr val="000000"/>
            </a:solidFill>
            <a:prstDash val="solid"/>
            <a:round/>
            <a:headEnd type="none" w="med" len="med"/>
            <a:tailEnd type="triangle" w="med" len="med"/>
          </a:ln>
        </p:spPr>
      </p:cxnSp>
      <p:sp>
        <p:nvSpPr>
          <p:cNvPr id="15" name="Google Shape;462;p34">
            <a:extLst>
              <a:ext uri="{FF2B5EF4-FFF2-40B4-BE49-F238E27FC236}">
                <a16:creationId xmlns:a16="http://schemas.microsoft.com/office/drawing/2014/main" id="{FFFD268D-2D67-61D7-24C8-E2E17AEFFD40}"/>
              </a:ext>
            </a:extLst>
          </p:cNvPr>
          <p:cNvSpPr txBox="1"/>
          <p:nvPr/>
        </p:nvSpPr>
        <p:spPr>
          <a:xfrm>
            <a:off x="7365353" y="4056451"/>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6</a:t>
            </a:r>
            <a:endParaRPr dirty="0">
              <a:latin typeface="Calibri"/>
              <a:ea typeface="Calibri"/>
              <a:cs typeface="Calibri"/>
              <a:sym typeface="Calibri"/>
            </a:endParaRPr>
          </a:p>
        </p:txBody>
      </p:sp>
      <p:cxnSp>
        <p:nvCxnSpPr>
          <p:cNvPr id="19" name="Google Shape;168;p21">
            <a:extLst>
              <a:ext uri="{FF2B5EF4-FFF2-40B4-BE49-F238E27FC236}">
                <a16:creationId xmlns:a16="http://schemas.microsoft.com/office/drawing/2014/main" id="{7B8B13B2-BC59-8536-5BFE-B20924A90777}"/>
              </a:ext>
            </a:extLst>
          </p:cNvPr>
          <p:cNvCxnSpPr>
            <a:cxnSpLocks/>
          </p:cNvCxnSpPr>
          <p:nvPr/>
        </p:nvCxnSpPr>
        <p:spPr>
          <a:xfrm>
            <a:off x="6003235" y="4447116"/>
            <a:ext cx="4387930" cy="257101"/>
          </a:xfrm>
          <a:prstGeom prst="straightConnector1">
            <a:avLst/>
          </a:prstGeom>
          <a:noFill/>
          <a:ln w="19050" cap="flat" cmpd="sng">
            <a:solidFill>
              <a:srgbClr val="000000"/>
            </a:solidFill>
            <a:prstDash val="solid"/>
            <a:round/>
            <a:headEnd type="triangle" w="med" len="med"/>
            <a:tailEnd type="none" w="med" len="med"/>
          </a:ln>
        </p:spPr>
      </p:cxnSp>
      <p:sp>
        <p:nvSpPr>
          <p:cNvPr id="23" name="Google Shape;462;p34">
            <a:extLst>
              <a:ext uri="{FF2B5EF4-FFF2-40B4-BE49-F238E27FC236}">
                <a16:creationId xmlns:a16="http://schemas.microsoft.com/office/drawing/2014/main" id="{6769897E-516A-134F-DA27-73FF1834E232}"/>
              </a:ext>
            </a:extLst>
          </p:cNvPr>
          <p:cNvSpPr txBox="1"/>
          <p:nvPr/>
        </p:nvSpPr>
        <p:spPr>
          <a:xfrm>
            <a:off x="7765905" y="4538343"/>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7</a:t>
            </a:r>
            <a:endParaRPr dirty="0">
              <a:latin typeface="Calibri"/>
              <a:ea typeface="Calibri"/>
              <a:cs typeface="Calibri"/>
              <a:sym typeface="Calibri"/>
            </a:endParaRPr>
          </a:p>
        </p:txBody>
      </p:sp>
      <p:sp>
        <p:nvSpPr>
          <p:cNvPr id="17" name="Google Shape;94;p18">
            <a:extLst>
              <a:ext uri="{FF2B5EF4-FFF2-40B4-BE49-F238E27FC236}">
                <a16:creationId xmlns:a16="http://schemas.microsoft.com/office/drawing/2014/main" id="{F22B3D92-99DA-86BD-06F0-579ED06A74EA}"/>
              </a:ext>
            </a:extLst>
          </p:cNvPr>
          <p:cNvSpPr txBox="1"/>
          <p:nvPr/>
        </p:nvSpPr>
        <p:spPr>
          <a:xfrm>
            <a:off x="10281037" y="6064602"/>
            <a:ext cx="1495363" cy="58745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latin typeface="Courier New"/>
                <a:ea typeface="Courier New"/>
                <a:cs typeface="Courier New"/>
                <a:sym typeface="Courier New"/>
              </a:rPr>
              <a:t>Attacker</a:t>
            </a:r>
            <a:endParaRPr b="1" dirty="0">
              <a:latin typeface="Calibri"/>
              <a:ea typeface="Calibri"/>
              <a:cs typeface="Calibri"/>
              <a:sym typeface="Calibri"/>
            </a:endParaRPr>
          </a:p>
        </p:txBody>
      </p:sp>
      <p:cxnSp>
        <p:nvCxnSpPr>
          <p:cNvPr id="28" name="Google Shape;168;p21">
            <a:extLst>
              <a:ext uri="{FF2B5EF4-FFF2-40B4-BE49-F238E27FC236}">
                <a16:creationId xmlns:a16="http://schemas.microsoft.com/office/drawing/2014/main" id="{97381742-48DB-990B-5D41-C38FFA331F4C}"/>
              </a:ext>
            </a:extLst>
          </p:cNvPr>
          <p:cNvCxnSpPr>
            <a:cxnSpLocks/>
          </p:cNvCxnSpPr>
          <p:nvPr/>
        </p:nvCxnSpPr>
        <p:spPr>
          <a:xfrm>
            <a:off x="4197894" y="6583680"/>
            <a:ext cx="5777744" cy="0"/>
          </a:xfrm>
          <a:prstGeom prst="straightConnector1">
            <a:avLst/>
          </a:prstGeom>
          <a:noFill/>
          <a:ln w="19050" cap="flat" cmpd="sng">
            <a:solidFill>
              <a:srgbClr val="FF0000"/>
            </a:solidFill>
            <a:prstDash val="solid"/>
            <a:round/>
            <a:headEnd type="triangle" w="med" len="med"/>
            <a:tailEnd type="none" w="med" len="med"/>
          </a:ln>
        </p:spPr>
      </p:cxnSp>
      <p:sp>
        <p:nvSpPr>
          <p:cNvPr id="32" name="Google Shape;462;p34">
            <a:extLst>
              <a:ext uri="{FF2B5EF4-FFF2-40B4-BE49-F238E27FC236}">
                <a16:creationId xmlns:a16="http://schemas.microsoft.com/office/drawing/2014/main" id="{55A344B3-8676-D8B8-D83D-A1EB3DF0A3C9}"/>
              </a:ext>
            </a:extLst>
          </p:cNvPr>
          <p:cNvSpPr txBox="1"/>
          <p:nvPr/>
        </p:nvSpPr>
        <p:spPr>
          <a:xfrm>
            <a:off x="6919485" y="6198486"/>
            <a:ext cx="531042"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rgbClr val="FF0000"/>
                </a:solidFill>
                <a:latin typeface="Calibri"/>
                <a:ea typeface="Calibri"/>
                <a:cs typeface="Calibri"/>
                <a:sym typeface="Calibri"/>
              </a:rPr>
              <a:t>2b</a:t>
            </a:r>
            <a:endParaRPr dirty="0">
              <a:solidFill>
                <a:srgbClr val="FF0000"/>
              </a:solidFill>
              <a:latin typeface="Calibri"/>
              <a:ea typeface="Calibri"/>
              <a:cs typeface="Calibri"/>
              <a:sym typeface="Calibri"/>
            </a:endParaRPr>
          </a:p>
        </p:txBody>
      </p:sp>
      <p:cxnSp>
        <p:nvCxnSpPr>
          <p:cNvPr id="34" name="Google Shape;322;p25">
            <a:extLst>
              <a:ext uri="{FF2B5EF4-FFF2-40B4-BE49-F238E27FC236}">
                <a16:creationId xmlns:a16="http://schemas.microsoft.com/office/drawing/2014/main" id="{92714743-D915-6CEE-2DCB-4DDA3D5942F1}"/>
              </a:ext>
            </a:extLst>
          </p:cNvPr>
          <p:cNvCxnSpPr>
            <a:cxnSpLocks/>
          </p:cNvCxnSpPr>
          <p:nvPr/>
        </p:nvCxnSpPr>
        <p:spPr>
          <a:xfrm>
            <a:off x="4925031" y="3752344"/>
            <a:ext cx="5532061" cy="0"/>
          </a:xfrm>
          <a:prstGeom prst="straightConnector1">
            <a:avLst/>
          </a:prstGeom>
          <a:noFill/>
          <a:ln w="9525" cap="flat" cmpd="sng">
            <a:solidFill>
              <a:schemeClr val="dk2"/>
            </a:solidFill>
            <a:prstDash val="solid"/>
            <a:round/>
            <a:headEnd type="none" w="med" len="med"/>
            <a:tailEnd type="none" w="med" len="med"/>
          </a:ln>
        </p:spPr>
      </p:cxnSp>
      <p:grpSp>
        <p:nvGrpSpPr>
          <p:cNvPr id="42" name="Group 41">
            <a:extLst>
              <a:ext uri="{FF2B5EF4-FFF2-40B4-BE49-F238E27FC236}">
                <a16:creationId xmlns:a16="http://schemas.microsoft.com/office/drawing/2014/main" id="{6C6AC09A-8164-C5E8-21CE-75DC1736F2B1}"/>
              </a:ext>
            </a:extLst>
          </p:cNvPr>
          <p:cNvGrpSpPr/>
          <p:nvPr/>
        </p:nvGrpSpPr>
        <p:grpSpPr>
          <a:xfrm>
            <a:off x="4352902" y="4772975"/>
            <a:ext cx="5666038" cy="1576832"/>
            <a:chOff x="4352902" y="640105"/>
            <a:chExt cx="5014627" cy="874968"/>
          </a:xfrm>
        </p:grpSpPr>
        <p:sp>
          <p:nvSpPr>
            <p:cNvPr id="26" name="Google Shape;321;p25">
              <a:extLst>
                <a:ext uri="{FF2B5EF4-FFF2-40B4-BE49-F238E27FC236}">
                  <a16:creationId xmlns:a16="http://schemas.microsoft.com/office/drawing/2014/main" id="{58380718-1E3F-13D1-AD26-2CF8F7939425}"/>
                </a:ext>
              </a:extLst>
            </p:cNvPr>
            <p:cNvSpPr txBox="1"/>
            <p:nvPr/>
          </p:nvSpPr>
          <p:spPr>
            <a:xfrm>
              <a:off x="4352902" y="640105"/>
              <a:ext cx="5014627" cy="874968"/>
            </a:xfrm>
            <a:prstGeom prst="rect">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600" dirty="0">
                  <a:solidFill>
                    <a:schemeClr val="dk1"/>
                  </a:solidFill>
                </a:rPr>
                <a:t>“I don’t know. But I have delegated authority to the </a:t>
              </a:r>
              <a:r>
                <a:rPr lang="en" sz="1600" b="1" dirty="0">
                  <a:solidFill>
                    <a:schemeClr val="dk1"/>
                  </a:solidFill>
                  <a:latin typeface="Courier New"/>
                  <a:ea typeface="Courier New"/>
                  <a:cs typeface="Courier New"/>
                  <a:sym typeface="Courier New"/>
                </a:rPr>
                <a:t>fake1.google.com</a:t>
              </a:r>
              <a:r>
                <a:rPr lang="en" sz="1600" dirty="0">
                  <a:solidFill>
                    <a:schemeClr val="dk1"/>
                  </a:solidFill>
                </a:rPr>
                <a:t> NS. This response has ID </a:t>
              </a:r>
              <a:r>
                <a:rPr lang="en" sz="1600" b="1" dirty="0">
                  <a:solidFill>
                    <a:schemeClr val="accent4">
                      <a:lumMod val="20000"/>
                      <a:lumOff val="80000"/>
                    </a:schemeClr>
                  </a:solidFill>
                </a:rPr>
                <a:t>774</a:t>
              </a:r>
              <a:r>
                <a:rPr lang="en" sz="1600" dirty="0">
                  <a:solidFill>
                    <a:schemeClr val="dk1"/>
                  </a:solidFill>
                </a:rPr>
                <a:t>.</a:t>
              </a:r>
              <a:endParaRPr sz="1600" dirty="0">
                <a:solidFill>
                  <a:schemeClr val="dk1"/>
                </a:solidFill>
              </a:endParaRPr>
            </a:p>
            <a:p>
              <a:pPr marL="0" lvl="0" indent="0" algn="l" rtl="0">
                <a:spcBef>
                  <a:spcPts val="0"/>
                </a:spcBef>
                <a:spcAft>
                  <a:spcPts val="0"/>
                </a:spcAft>
                <a:buClr>
                  <a:schemeClr val="dk1"/>
                </a:buClr>
                <a:buSzPts val="1100"/>
                <a:buFont typeface="Arial"/>
                <a:buNone/>
              </a:pPr>
              <a:endParaRPr lang="en" sz="1600" dirty="0">
                <a:solidFill>
                  <a:schemeClr val="dk1"/>
                </a:solidFill>
              </a:endParaRPr>
            </a:p>
            <a:p>
              <a:pPr lvl="0">
                <a:buClr>
                  <a:schemeClr val="dk1"/>
                </a:buClr>
                <a:buSzPts val="1100"/>
              </a:pPr>
              <a:r>
                <a:rPr lang="en-US" sz="1600" b="1" dirty="0">
                  <a:solidFill>
                    <a:schemeClr val="dk1"/>
                  </a:solidFill>
                </a:rPr>
                <a:t>Authority: </a:t>
              </a:r>
              <a:r>
                <a:rPr lang="en" sz="1600" b="1" dirty="0">
                  <a:solidFill>
                    <a:schemeClr val="dk1"/>
                  </a:solidFill>
                  <a:latin typeface="Courier New"/>
                  <a:ea typeface="Courier New"/>
                  <a:cs typeface="Courier New"/>
                  <a:sym typeface="Courier New"/>
                </a:rPr>
                <a:t>fake1.google.com </a:t>
              </a:r>
              <a:r>
                <a:rPr lang="en-US" sz="1600" b="1" dirty="0">
                  <a:latin typeface="Courier New"/>
                  <a:cs typeface="Courier New"/>
                </a:rPr>
                <a:t>NS</a:t>
              </a:r>
              <a:r>
                <a:rPr lang="en-US" sz="1600" b="1" dirty="0">
                  <a:solidFill>
                    <a:srgbClr val="FF0000"/>
                  </a:solidFill>
                  <a:latin typeface="Courier New"/>
                  <a:cs typeface="Courier New"/>
                </a:rPr>
                <a:t> </a:t>
              </a:r>
              <a:r>
                <a:rPr lang="en-US" sz="1600" b="1" dirty="0">
                  <a:latin typeface="Courier New"/>
                  <a:cs typeface="Courier New"/>
                </a:rPr>
                <a:t>www.google.com. </a:t>
              </a:r>
              <a:endParaRPr sz="1600" dirty="0">
                <a:solidFill>
                  <a:schemeClr val="dk1"/>
                </a:solidFill>
              </a:endParaRPr>
            </a:p>
            <a:p>
              <a:pPr marL="0" lvl="0" indent="0" algn="l" rtl="0">
                <a:lnSpc>
                  <a:spcPct val="115000"/>
                </a:lnSpc>
                <a:spcBef>
                  <a:spcPts val="0"/>
                </a:spcBef>
                <a:spcAft>
                  <a:spcPts val="0"/>
                </a:spcAft>
                <a:buNone/>
              </a:pPr>
              <a:r>
                <a:rPr lang="en-US" sz="1600" b="1" dirty="0">
                  <a:solidFill>
                    <a:schemeClr val="dk1"/>
                  </a:solidFill>
                </a:rPr>
                <a:t>Additional: </a:t>
              </a:r>
              <a:r>
                <a:rPr lang="en-US" sz="1600" b="1" dirty="0">
                  <a:latin typeface="Courier New"/>
                  <a:cs typeface="Courier New"/>
                </a:rPr>
                <a:t>www.google.com </a:t>
              </a:r>
              <a:r>
                <a:rPr lang="en-US" sz="1600" b="1" dirty="0">
                  <a:solidFill>
                    <a:schemeClr val="dk1"/>
                  </a:solidFill>
                  <a:latin typeface="Courier New"/>
                  <a:cs typeface="Courier New"/>
                </a:rPr>
                <a:t>A </a:t>
              </a:r>
              <a:r>
                <a:rPr lang="en-US" sz="1600" b="1" dirty="0">
                  <a:solidFill>
                    <a:schemeClr val="accent4">
                      <a:lumMod val="20000"/>
                      <a:lumOff val="80000"/>
                    </a:schemeClr>
                  </a:solidFill>
                  <a:latin typeface="Courier New"/>
                  <a:cs typeface="Courier New"/>
                </a:rPr>
                <a:t>6.6.6.6</a:t>
              </a:r>
              <a:r>
                <a:rPr lang="en" sz="1600" dirty="0">
                  <a:solidFill>
                    <a:schemeClr val="dk1"/>
                  </a:solidFill>
                </a:rPr>
                <a:t>”</a:t>
              </a:r>
              <a:endParaRPr sz="1600" dirty="0"/>
            </a:p>
          </p:txBody>
        </p:sp>
        <p:cxnSp>
          <p:nvCxnSpPr>
            <p:cNvPr id="27" name="Google Shape;322;p25">
              <a:extLst>
                <a:ext uri="{FF2B5EF4-FFF2-40B4-BE49-F238E27FC236}">
                  <a16:creationId xmlns:a16="http://schemas.microsoft.com/office/drawing/2014/main" id="{0D65228A-EE5A-B1A5-5B61-7899EA637BEA}"/>
                </a:ext>
              </a:extLst>
            </p:cNvPr>
            <p:cNvCxnSpPr>
              <a:cxnSpLocks/>
              <a:stCxn id="26" idx="1"/>
              <a:endCxn id="26" idx="3"/>
            </p:cNvCxnSpPr>
            <p:nvPr/>
          </p:nvCxnSpPr>
          <p:spPr>
            <a:xfrm>
              <a:off x="4352902" y="1077589"/>
              <a:ext cx="5014627" cy="0"/>
            </a:xfrm>
            <a:prstGeom prst="straightConnector1">
              <a:avLst/>
            </a:prstGeom>
            <a:noFill/>
            <a:ln w="9525" cap="flat" cmpd="sng">
              <a:solidFill>
                <a:schemeClr val="dk2"/>
              </a:solidFill>
              <a:prstDash val="solid"/>
              <a:round/>
              <a:headEnd type="none" w="med" len="med"/>
              <a:tailEnd type="none" w="med" len="med"/>
            </a:ln>
          </p:spPr>
        </p:cxnSp>
      </p:grpSp>
      <p:sp>
        <p:nvSpPr>
          <p:cNvPr id="25" name="Google Shape;1819;p140">
            <a:extLst>
              <a:ext uri="{FF2B5EF4-FFF2-40B4-BE49-F238E27FC236}">
                <a16:creationId xmlns:a16="http://schemas.microsoft.com/office/drawing/2014/main" id="{6F54D12A-5795-2840-7B38-177D8B12C0D9}"/>
              </a:ext>
            </a:extLst>
          </p:cNvPr>
          <p:cNvSpPr txBox="1">
            <a:spLocks noGrp="1"/>
          </p:cNvSpPr>
          <p:nvPr>
            <p:ph type="title"/>
          </p:nvPr>
        </p:nvSpPr>
        <p:spPr>
          <a:xfrm>
            <a:off x="415600" y="55919"/>
            <a:ext cx="11360800" cy="763600"/>
          </a:xfrm>
          <a:prstGeom prst="rect">
            <a:avLst/>
          </a:prstGeom>
        </p:spPr>
        <p:txBody>
          <a:bodyPr spcFirstLastPara="1" wrap="square" lIns="121900" tIns="121900" rIns="121900" bIns="121900" anchor="t" anchorCtr="0">
            <a:noAutofit/>
          </a:bodyPr>
          <a:lstStyle/>
          <a:p>
            <a:r>
              <a:rPr lang="en" sz="4400" dirty="0">
                <a:latin typeface="Aptos" panose="020B0004020202020204" pitchFamily="34" charset="0"/>
              </a:rPr>
              <a:t>Kaminsky Attack: Example</a:t>
            </a:r>
            <a:endParaRPr sz="4400" dirty="0">
              <a:latin typeface="Aptos" panose="020B0004020202020204" pitchFamily="34" charset="0"/>
            </a:endParaRPr>
          </a:p>
        </p:txBody>
      </p:sp>
      <p:sp>
        <p:nvSpPr>
          <p:cNvPr id="14" name="Google Shape;1240;p88">
            <a:extLst>
              <a:ext uri="{FF2B5EF4-FFF2-40B4-BE49-F238E27FC236}">
                <a16:creationId xmlns:a16="http://schemas.microsoft.com/office/drawing/2014/main" id="{31FA0E46-EFA5-4697-15EF-EAB8268AE51D}"/>
              </a:ext>
            </a:extLst>
          </p:cNvPr>
          <p:cNvSpPr txBox="1"/>
          <p:nvPr/>
        </p:nvSpPr>
        <p:spPr>
          <a:xfrm>
            <a:off x="3865278" y="1399063"/>
            <a:ext cx="6030417" cy="738633"/>
          </a:xfrm>
          <a:prstGeom prst="rect">
            <a:avLst/>
          </a:prstGeom>
          <a:solidFill>
            <a:srgbClr val="C9DAF8"/>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t>We don’t really care what next steps are involved in this request, as we have already poisoned the cache.</a:t>
            </a:r>
            <a:endParaRPr/>
          </a:p>
        </p:txBody>
      </p:sp>
    </p:spTree>
    <p:extLst>
      <p:ext uri="{BB962C8B-B14F-4D97-AF65-F5344CB8AC3E}">
        <p14:creationId xmlns:p14="http://schemas.microsoft.com/office/powerpoint/2010/main" val="447279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CFA6C-8FA0-FC3D-98B2-FB8EFE6EC55D}"/>
            </a:ext>
          </a:extLst>
        </p:cNvPr>
        <p:cNvGrpSpPr/>
        <p:nvPr/>
      </p:nvGrpSpPr>
      <p:grpSpPr>
        <a:xfrm>
          <a:off x="0" y="0"/>
          <a:ext cx="0" cy="0"/>
          <a:chOff x="0" y="0"/>
          <a:chExt cx="0" cy="0"/>
        </a:xfrm>
      </p:grpSpPr>
      <p:sp>
        <p:nvSpPr>
          <p:cNvPr id="16" name="Google Shape;94;p18">
            <a:extLst>
              <a:ext uri="{FF2B5EF4-FFF2-40B4-BE49-F238E27FC236}">
                <a16:creationId xmlns:a16="http://schemas.microsoft.com/office/drawing/2014/main" id="{F319CB32-226F-2100-9AB1-05CB67AF9E76}"/>
              </a:ext>
            </a:extLst>
          </p:cNvPr>
          <p:cNvSpPr txBox="1"/>
          <p:nvPr/>
        </p:nvSpPr>
        <p:spPr>
          <a:xfrm>
            <a:off x="1086878" y="1273669"/>
            <a:ext cx="2164021" cy="58745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Courier New"/>
                <a:ea typeface="Courier New"/>
                <a:cs typeface="Courier New"/>
                <a:sym typeface="Courier New"/>
              </a:rPr>
              <a:t>Stub Resolver</a:t>
            </a:r>
            <a:endParaRPr dirty="0">
              <a:latin typeface="Calibri"/>
              <a:ea typeface="Calibri"/>
              <a:cs typeface="Calibri"/>
              <a:sym typeface="Calibri"/>
            </a:endParaRPr>
          </a:p>
        </p:txBody>
      </p:sp>
      <p:sp>
        <p:nvSpPr>
          <p:cNvPr id="20" name="Google Shape;98;p18">
            <a:extLst>
              <a:ext uri="{FF2B5EF4-FFF2-40B4-BE49-F238E27FC236}">
                <a16:creationId xmlns:a16="http://schemas.microsoft.com/office/drawing/2014/main" id="{24756F69-412B-75CD-B59C-FAED95E855DC}"/>
              </a:ext>
            </a:extLst>
          </p:cNvPr>
          <p:cNvSpPr/>
          <p:nvPr/>
        </p:nvSpPr>
        <p:spPr>
          <a:xfrm>
            <a:off x="164860" y="2572413"/>
            <a:ext cx="4056187" cy="3701166"/>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99;p18">
            <a:extLst>
              <a:ext uri="{FF2B5EF4-FFF2-40B4-BE49-F238E27FC236}">
                <a16:creationId xmlns:a16="http://schemas.microsoft.com/office/drawing/2014/main" id="{FC1FC217-7F8A-67B6-5006-A5BAADEF24E2}"/>
              </a:ext>
            </a:extLst>
          </p:cNvPr>
          <p:cNvSpPr txBox="1"/>
          <p:nvPr/>
        </p:nvSpPr>
        <p:spPr>
          <a:xfrm>
            <a:off x="248560" y="2660813"/>
            <a:ext cx="3840671" cy="508261"/>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graphicFrame>
        <p:nvGraphicFramePr>
          <p:cNvPr id="22" name="Google Shape;100;p18">
            <a:extLst>
              <a:ext uri="{FF2B5EF4-FFF2-40B4-BE49-F238E27FC236}">
                <a16:creationId xmlns:a16="http://schemas.microsoft.com/office/drawing/2014/main" id="{FD01BFC0-A798-D0DE-0321-EF3CE096C706}"/>
              </a:ext>
            </a:extLst>
          </p:cNvPr>
          <p:cNvGraphicFramePr/>
          <p:nvPr>
            <p:extLst>
              <p:ext uri="{D42A27DB-BD31-4B8C-83A1-F6EECF244321}">
                <p14:modId xmlns:p14="http://schemas.microsoft.com/office/powerpoint/2010/main" val="927996609"/>
              </p:ext>
            </p:extLst>
          </p:nvPr>
        </p:nvGraphicFramePr>
        <p:xfrm>
          <a:off x="248586" y="3054413"/>
          <a:ext cx="3840606" cy="2003053"/>
        </p:xfrm>
        <a:graphic>
          <a:graphicData uri="http://schemas.openxmlformats.org/drawingml/2006/table">
            <a:tbl>
              <a:tblPr>
                <a:noFill/>
              </a:tblPr>
              <a:tblGrid>
                <a:gridCol w="1920303">
                  <a:extLst>
                    <a:ext uri="{9D8B030D-6E8A-4147-A177-3AD203B41FA5}">
                      <a16:colId xmlns:a16="http://schemas.microsoft.com/office/drawing/2014/main" val="20000"/>
                    </a:ext>
                  </a:extLst>
                </a:gridCol>
                <a:gridCol w="1920303">
                  <a:extLst>
                    <a:ext uri="{9D8B030D-6E8A-4147-A177-3AD203B41FA5}">
                      <a16:colId xmlns:a16="http://schemas.microsoft.com/office/drawing/2014/main" val="20001"/>
                    </a:ext>
                  </a:extLst>
                </a:gridCol>
              </a:tblGrid>
              <a:tr h="452593">
                <a:tc gridSpan="2">
                  <a:txBody>
                    <a:bodyPr/>
                    <a:lstStyle/>
                    <a:p>
                      <a:pPr marL="0" lvl="0" indent="0" algn="ctr" rtl="0">
                        <a:spcBef>
                          <a:spcPts val="0"/>
                        </a:spcBef>
                        <a:spcAft>
                          <a:spcPts val="0"/>
                        </a:spcAft>
                        <a:buNone/>
                      </a:pPr>
                      <a:r>
                        <a:rPr lang="en" sz="1500" dirty="0">
                          <a:latin typeface="Courier New"/>
                          <a:ea typeface="Courier New"/>
                          <a:cs typeface="Courier New"/>
                          <a:sym typeface="Courier New"/>
                        </a:rPr>
                        <a:t>Recursive Resolver Cache</a:t>
                      </a:r>
                      <a:endParaRPr sz="1500" dirty="0">
                        <a:latin typeface="Courier New"/>
                        <a:ea typeface="Courier New"/>
                        <a:cs typeface="Courier New"/>
                        <a:sym typeface="Courier New"/>
                      </a:endParaRPr>
                    </a:p>
                  </a:txBody>
                  <a:tcPr marL="91425" marR="91425" marT="91425" marB="91425">
                    <a:lnB w="9525" cap="flat" cmpd="sng" algn="ctr">
                      <a:solidFill>
                        <a:srgbClr val="9E9E9E"/>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0"/>
                  </a:ext>
                </a:extLst>
              </a:tr>
              <a:tr h="433160">
                <a:tc>
                  <a:txBody>
                    <a:bodyPr/>
                    <a:lstStyle/>
                    <a:p>
                      <a:pPr marL="0" lvl="0" indent="0" algn="l" rtl="0">
                        <a:lnSpc>
                          <a:spcPct val="115000"/>
                        </a:lnSpc>
                        <a:spcBef>
                          <a:spcPts val="0"/>
                        </a:spcBef>
                        <a:spcAft>
                          <a:spcPts val="0"/>
                        </a:spcAft>
                        <a:buNone/>
                      </a:pPr>
                      <a:r>
                        <a:rPr lang="en-US" sz="1500" b="0" dirty="0">
                          <a:solidFill>
                            <a:schemeClr val="dk1"/>
                          </a:solidFill>
                          <a:latin typeface="Courier New"/>
                          <a:ea typeface="Courier New"/>
                          <a:cs typeface="Courier New"/>
                          <a:sym typeface="Courier New"/>
                        </a:rPr>
                        <a:t>a.gtld-servers.net</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r>
                        <a:rPr lang="en-US" sz="1500" b="0" dirty="0">
                          <a:solidFill>
                            <a:schemeClr val="dk1"/>
                          </a:solidFill>
                          <a:latin typeface="Courier New"/>
                          <a:ea typeface="Courier New"/>
                          <a:cs typeface="Courier New"/>
                          <a:sym typeface="Courier New"/>
                        </a:rPr>
                        <a:t>192.5.6.30</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433160">
                <a:tc>
                  <a:txBody>
                    <a:bodyPr/>
                    <a:lstStyle/>
                    <a:p>
                      <a:pPr marL="0" marR="0" lvl="0" indent="0" algn="l" rtl="0">
                        <a:lnSpc>
                          <a:spcPct val="115000"/>
                        </a:lnSpc>
                        <a:spcBef>
                          <a:spcPts val="0"/>
                        </a:spcBef>
                        <a:spcAft>
                          <a:spcPts val="0"/>
                        </a:spcAft>
                        <a:buClr>
                          <a:srgbClr val="000000"/>
                        </a:buClr>
                        <a:buFont typeface="Arial"/>
                        <a:buNone/>
                      </a:pPr>
                      <a:r>
                        <a:rPr lang="en-US" sz="1500" b="0" i="0" u="none" strike="noStrike" cap="none" dirty="0">
                          <a:solidFill>
                            <a:schemeClr val="dk1"/>
                          </a:solidFill>
                          <a:latin typeface="Courier New"/>
                          <a:ea typeface="Courier New"/>
                          <a:cs typeface="Courier New"/>
                          <a:sym typeface="Courier New"/>
                        </a:rPr>
                        <a:t>ns1.google.com</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solidFill>
                      <a:schemeClr val="lt1"/>
                    </a:solidFill>
                  </a:tcPr>
                </a:tc>
                <a:tc>
                  <a:txBody>
                    <a:bodyPr/>
                    <a:lstStyle/>
                    <a:p>
                      <a:pPr marL="0" marR="0" lvl="0" indent="0" algn="l" rtl="0">
                        <a:lnSpc>
                          <a:spcPct val="115000"/>
                        </a:lnSpc>
                        <a:spcBef>
                          <a:spcPts val="0"/>
                        </a:spcBef>
                        <a:spcAft>
                          <a:spcPts val="0"/>
                        </a:spcAft>
                        <a:buClr>
                          <a:srgbClr val="000000"/>
                        </a:buClr>
                        <a:buFont typeface="Arial"/>
                        <a:buNone/>
                      </a:pPr>
                      <a:r>
                        <a:rPr lang="en-US" sz="1500" b="0" i="0" u="none" strike="noStrike" cap="none" dirty="0">
                          <a:solidFill>
                            <a:schemeClr val="dk1"/>
                          </a:solidFill>
                          <a:latin typeface="Courier New"/>
                          <a:ea typeface="Courier New"/>
                          <a:cs typeface="Courier New"/>
                          <a:sym typeface="Courier New"/>
                        </a:rPr>
                        <a:t>216.239.32.10</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413234">
                <a:tc>
                  <a:txBody>
                    <a:bodyPr/>
                    <a:lstStyle/>
                    <a:p>
                      <a:pPr marL="0" lvl="0" indent="0" algn="l" rtl="0">
                        <a:spcBef>
                          <a:spcPts val="0"/>
                        </a:spcBef>
                        <a:spcAft>
                          <a:spcPts val="0"/>
                        </a:spcAft>
                        <a:buNone/>
                      </a:pPr>
                      <a:endParaRPr sz="1500" b="1" dirty="0">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sz="1500" b="1" dirty="0">
                        <a:solidFill>
                          <a:srgbClr val="C00000"/>
                        </a:solidFill>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bl>
          </a:graphicData>
        </a:graphic>
      </p:graphicFrame>
      <p:sp>
        <p:nvSpPr>
          <p:cNvPr id="45" name="Google Shape;134;p22">
            <a:extLst>
              <a:ext uri="{FF2B5EF4-FFF2-40B4-BE49-F238E27FC236}">
                <a16:creationId xmlns:a16="http://schemas.microsoft.com/office/drawing/2014/main" id="{D227A88D-567B-0787-191C-F64C6092445A}"/>
              </a:ext>
            </a:extLst>
          </p:cNvPr>
          <p:cNvSpPr txBox="1"/>
          <p:nvPr/>
        </p:nvSpPr>
        <p:spPr>
          <a:xfrm>
            <a:off x="10360128" y="2456393"/>
            <a:ext cx="1238100" cy="3648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Courier New" panose="02070309020205020404" pitchFamily="49" charset="0"/>
                <a:ea typeface="Courier New"/>
                <a:cs typeface="Courier New" panose="02070309020205020404" pitchFamily="49" charset="0"/>
                <a:sym typeface="Courier New"/>
              </a:rPr>
              <a:t>.</a:t>
            </a:r>
            <a:r>
              <a:rPr lang="en" dirty="0">
                <a:latin typeface="Courier New" panose="02070309020205020404" pitchFamily="49" charset="0"/>
                <a:cs typeface="Courier New" panose="02070309020205020404" pitchFamily="49" charset="0"/>
              </a:rPr>
              <a:t>(root)</a:t>
            </a:r>
            <a:endParaRPr dirty="0">
              <a:latin typeface="Courier New" panose="02070309020205020404" pitchFamily="49" charset="0"/>
              <a:ea typeface="Courier New"/>
              <a:cs typeface="Courier New" panose="02070309020205020404" pitchFamily="49" charset="0"/>
              <a:sym typeface="Courier New"/>
            </a:endParaRPr>
          </a:p>
        </p:txBody>
      </p:sp>
      <p:sp>
        <p:nvSpPr>
          <p:cNvPr id="46" name="Google Shape;135;p22">
            <a:extLst>
              <a:ext uri="{FF2B5EF4-FFF2-40B4-BE49-F238E27FC236}">
                <a16:creationId xmlns:a16="http://schemas.microsoft.com/office/drawing/2014/main" id="{1CBD92C3-CF3C-CAE6-90F0-19AFED4FF1E3}"/>
              </a:ext>
            </a:extLst>
          </p:cNvPr>
          <p:cNvSpPr txBox="1"/>
          <p:nvPr/>
        </p:nvSpPr>
        <p:spPr>
          <a:xfrm>
            <a:off x="10721787" y="3468893"/>
            <a:ext cx="73152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Courier New"/>
                <a:ea typeface="Courier New"/>
                <a:cs typeface="Courier New"/>
                <a:sym typeface="Courier New"/>
              </a:rPr>
              <a:t>.com</a:t>
            </a:r>
            <a:endParaRPr>
              <a:latin typeface="Calibri"/>
              <a:ea typeface="Calibri"/>
              <a:cs typeface="Calibri"/>
              <a:sym typeface="Calibri"/>
            </a:endParaRPr>
          </a:p>
        </p:txBody>
      </p:sp>
      <p:sp>
        <p:nvSpPr>
          <p:cNvPr id="47" name="Google Shape;136;p22">
            <a:extLst>
              <a:ext uri="{FF2B5EF4-FFF2-40B4-BE49-F238E27FC236}">
                <a16:creationId xmlns:a16="http://schemas.microsoft.com/office/drawing/2014/main" id="{FDA92766-CDCD-E8BC-57FC-8EE85F8EBC29}"/>
              </a:ext>
            </a:extLst>
          </p:cNvPr>
          <p:cNvSpPr txBox="1"/>
          <p:nvPr/>
        </p:nvSpPr>
        <p:spPr>
          <a:xfrm>
            <a:off x="10391165" y="4392960"/>
            <a:ext cx="1385235"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400" dirty="0">
                <a:latin typeface="Courier New"/>
                <a:ea typeface="Courier New"/>
                <a:cs typeface="Courier New"/>
                <a:sym typeface="Courier New"/>
              </a:rPr>
              <a:t>google.com</a:t>
            </a:r>
            <a:endParaRPr sz="1400" dirty="0">
              <a:latin typeface="Calibri"/>
              <a:ea typeface="Calibri"/>
              <a:cs typeface="Calibri"/>
              <a:sym typeface="Calibri"/>
            </a:endParaRPr>
          </a:p>
        </p:txBody>
      </p:sp>
      <p:cxnSp>
        <p:nvCxnSpPr>
          <p:cNvPr id="48" name="Google Shape;137;p22">
            <a:extLst>
              <a:ext uri="{FF2B5EF4-FFF2-40B4-BE49-F238E27FC236}">
                <a16:creationId xmlns:a16="http://schemas.microsoft.com/office/drawing/2014/main" id="{A4C8C1C0-4085-F862-A33E-BC9EF183F255}"/>
              </a:ext>
            </a:extLst>
          </p:cNvPr>
          <p:cNvCxnSpPr>
            <a:cxnSpLocks/>
          </p:cNvCxnSpPr>
          <p:nvPr/>
        </p:nvCxnSpPr>
        <p:spPr>
          <a:xfrm>
            <a:off x="11081081" y="2814897"/>
            <a:ext cx="0" cy="653996"/>
          </a:xfrm>
          <a:prstGeom prst="straightConnector1">
            <a:avLst/>
          </a:prstGeom>
          <a:noFill/>
          <a:ln w="9525" cap="flat" cmpd="sng">
            <a:solidFill>
              <a:srgbClr val="000000"/>
            </a:solidFill>
            <a:prstDash val="solid"/>
            <a:round/>
            <a:headEnd type="none" w="med" len="med"/>
            <a:tailEnd type="none" w="med" len="med"/>
          </a:ln>
        </p:spPr>
      </p:cxnSp>
      <p:cxnSp>
        <p:nvCxnSpPr>
          <p:cNvPr id="49" name="Google Shape;138;p22">
            <a:extLst>
              <a:ext uri="{FF2B5EF4-FFF2-40B4-BE49-F238E27FC236}">
                <a16:creationId xmlns:a16="http://schemas.microsoft.com/office/drawing/2014/main" id="{67146E3C-A5C4-DFDC-2752-B1D55F53DEBD}"/>
              </a:ext>
            </a:extLst>
          </p:cNvPr>
          <p:cNvCxnSpPr>
            <a:cxnSpLocks/>
          </p:cNvCxnSpPr>
          <p:nvPr/>
        </p:nvCxnSpPr>
        <p:spPr>
          <a:xfrm>
            <a:off x="11081081" y="3862493"/>
            <a:ext cx="0" cy="516831"/>
          </a:xfrm>
          <a:prstGeom prst="straightConnector1">
            <a:avLst/>
          </a:prstGeom>
          <a:noFill/>
          <a:ln w="9525" cap="flat" cmpd="sng">
            <a:solidFill>
              <a:srgbClr val="000000"/>
            </a:solidFill>
            <a:prstDash val="solid"/>
            <a:round/>
            <a:headEnd type="none" w="med" len="med"/>
            <a:tailEnd type="none" w="med" len="med"/>
          </a:ln>
        </p:spPr>
      </p:cxnSp>
      <p:grpSp>
        <p:nvGrpSpPr>
          <p:cNvPr id="2" name="Google Shape;112;p19">
            <a:extLst>
              <a:ext uri="{FF2B5EF4-FFF2-40B4-BE49-F238E27FC236}">
                <a16:creationId xmlns:a16="http://schemas.microsoft.com/office/drawing/2014/main" id="{5A2D9473-BE18-D398-214D-A2C021EB3B0F}"/>
              </a:ext>
            </a:extLst>
          </p:cNvPr>
          <p:cNvGrpSpPr/>
          <p:nvPr/>
        </p:nvGrpSpPr>
        <p:grpSpPr>
          <a:xfrm>
            <a:off x="1400223" y="1930411"/>
            <a:ext cx="410100" cy="572709"/>
            <a:chOff x="258935" y="2049228"/>
            <a:chExt cx="410100" cy="762900"/>
          </a:xfrm>
        </p:grpSpPr>
        <p:sp>
          <p:nvSpPr>
            <p:cNvPr id="3" name="Google Shape;113;p19">
              <a:extLst>
                <a:ext uri="{FF2B5EF4-FFF2-40B4-BE49-F238E27FC236}">
                  <a16:creationId xmlns:a16="http://schemas.microsoft.com/office/drawing/2014/main" id="{38E6C869-C912-CE6A-856C-1F346E3AE210}"/>
                </a:ext>
              </a:extLst>
            </p:cNvPr>
            <p:cNvSpPr txBox="1"/>
            <p:nvPr/>
          </p:nvSpPr>
          <p:spPr>
            <a:xfrm>
              <a:off x="258935" y="2174852"/>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1</a:t>
              </a:r>
              <a:endParaRPr dirty="0">
                <a:latin typeface="Calibri"/>
                <a:ea typeface="Calibri"/>
                <a:cs typeface="Calibri"/>
                <a:sym typeface="Calibri"/>
              </a:endParaRPr>
            </a:p>
          </p:txBody>
        </p:sp>
        <p:cxnSp>
          <p:nvCxnSpPr>
            <p:cNvPr id="5" name="Google Shape;114;p19">
              <a:extLst>
                <a:ext uri="{FF2B5EF4-FFF2-40B4-BE49-F238E27FC236}">
                  <a16:creationId xmlns:a16="http://schemas.microsoft.com/office/drawing/2014/main" id="{C42A162B-53DC-A9C1-91FD-613BAF9001F2}"/>
                </a:ext>
              </a:extLst>
            </p:cNvPr>
            <p:cNvCxnSpPr/>
            <p:nvPr/>
          </p:nvCxnSpPr>
          <p:spPr>
            <a:xfrm rot="10800000">
              <a:off x="530725" y="2049228"/>
              <a:ext cx="0" cy="762900"/>
            </a:xfrm>
            <a:prstGeom prst="straightConnector1">
              <a:avLst/>
            </a:prstGeom>
            <a:noFill/>
            <a:ln w="19050" cap="flat" cmpd="sng">
              <a:solidFill>
                <a:srgbClr val="000000"/>
              </a:solidFill>
              <a:prstDash val="solid"/>
              <a:round/>
              <a:headEnd type="triangle" w="med" len="med"/>
              <a:tailEnd type="none" w="med" len="med"/>
            </a:ln>
          </p:spPr>
        </p:cxnSp>
      </p:grpSp>
      <p:cxnSp>
        <p:nvCxnSpPr>
          <p:cNvPr id="8" name="Google Shape;137;p20">
            <a:extLst>
              <a:ext uri="{FF2B5EF4-FFF2-40B4-BE49-F238E27FC236}">
                <a16:creationId xmlns:a16="http://schemas.microsoft.com/office/drawing/2014/main" id="{6CF030DB-CD5D-AC56-01D9-7CD10F80E933}"/>
              </a:ext>
            </a:extLst>
          </p:cNvPr>
          <p:cNvCxnSpPr>
            <a:cxnSpLocks/>
          </p:cNvCxnSpPr>
          <p:nvPr/>
        </p:nvCxnSpPr>
        <p:spPr>
          <a:xfrm flipV="1">
            <a:off x="4352902" y="3665693"/>
            <a:ext cx="6237030" cy="26921"/>
          </a:xfrm>
          <a:prstGeom prst="straightConnector1">
            <a:avLst/>
          </a:prstGeom>
          <a:noFill/>
          <a:ln w="19050" cap="flat" cmpd="sng">
            <a:solidFill>
              <a:srgbClr val="000000"/>
            </a:solidFill>
            <a:prstDash val="solid"/>
            <a:round/>
            <a:headEnd type="none" w="med" len="med"/>
            <a:tailEnd type="triangle" w="med" len="med"/>
          </a:ln>
        </p:spPr>
      </p:cxnSp>
      <p:sp>
        <p:nvSpPr>
          <p:cNvPr id="11" name="Google Shape;462;p34">
            <a:extLst>
              <a:ext uri="{FF2B5EF4-FFF2-40B4-BE49-F238E27FC236}">
                <a16:creationId xmlns:a16="http://schemas.microsoft.com/office/drawing/2014/main" id="{16001C1C-F665-F027-5924-9701B4E4841D}"/>
              </a:ext>
            </a:extLst>
          </p:cNvPr>
          <p:cNvSpPr txBox="1"/>
          <p:nvPr/>
        </p:nvSpPr>
        <p:spPr>
          <a:xfrm>
            <a:off x="6690956" y="3282378"/>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4</a:t>
            </a:r>
            <a:endParaRPr dirty="0">
              <a:latin typeface="Calibri"/>
              <a:ea typeface="Calibri"/>
              <a:cs typeface="Calibri"/>
              <a:sym typeface="Calibri"/>
            </a:endParaRPr>
          </a:p>
        </p:txBody>
      </p:sp>
      <p:sp>
        <p:nvSpPr>
          <p:cNvPr id="7" name="Google Shape;462;p34">
            <a:extLst>
              <a:ext uri="{FF2B5EF4-FFF2-40B4-BE49-F238E27FC236}">
                <a16:creationId xmlns:a16="http://schemas.microsoft.com/office/drawing/2014/main" id="{B4ABB8DA-C209-4EE6-5BBA-8BCA88D07E31}"/>
              </a:ext>
            </a:extLst>
          </p:cNvPr>
          <p:cNvSpPr txBox="1"/>
          <p:nvPr/>
        </p:nvSpPr>
        <p:spPr>
          <a:xfrm>
            <a:off x="7917176" y="2819729"/>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3</a:t>
            </a:r>
          </a:p>
        </p:txBody>
      </p:sp>
      <p:cxnSp>
        <p:nvCxnSpPr>
          <p:cNvPr id="10" name="Google Shape;168;p21">
            <a:extLst>
              <a:ext uri="{FF2B5EF4-FFF2-40B4-BE49-F238E27FC236}">
                <a16:creationId xmlns:a16="http://schemas.microsoft.com/office/drawing/2014/main" id="{C851B270-4DE6-70D2-CCDF-0109B2825879}"/>
              </a:ext>
            </a:extLst>
          </p:cNvPr>
          <p:cNvCxnSpPr>
            <a:cxnSpLocks/>
          </p:cNvCxnSpPr>
          <p:nvPr/>
        </p:nvCxnSpPr>
        <p:spPr>
          <a:xfrm flipV="1">
            <a:off x="4197894" y="2638793"/>
            <a:ext cx="6162234" cy="641955"/>
          </a:xfrm>
          <a:prstGeom prst="straightConnector1">
            <a:avLst/>
          </a:prstGeom>
          <a:noFill/>
          <a:ln w="19050" cap="flat" cmpd="sng">
            <a:solidFill>
              <a:srgbClr val="000000"/>
            </a:solidFill>
            <a:prstDash val="solid"/>
            <a:round/>
            <a:headEnd type="triangle" w="med" len="med"/>
            <a:tailEnd type="none" w="med" len="med"/>
          </a:ln>
        </p:spPr>
      </p:cxnSp>
      <p:sp>
        <p:nvSpPr>
          <p:cNvPr id="12" name="Google Shape;462;p34">
            <a:extLst>
              <a:ext uri="{FF2B5EF4-FFF2-40B4-BE49-F238E27FC236}">
                <a16:creationId xmlns:a16="http://schemas.microsoft.com/office/drawing/2014/main" id="{1ADF3AFA-F2B2-7093-B46C-96C5C9926BAB}"/>
              </a:ext>
            </a:extLst>
          </p:cNvPr>
          <p:cNvSpPr txBox="1"/>
          <p:nvPr/>
        </p:nvSpPr>
        <p:spPr>
          <a:xfrm>
            <a:off x="7035914" y="2396951"/>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2a</a:t>
            </a:r>
            <a:endParaRPr dirty="0">
              <a:latin typeface="Calibri"/>
              <a:ea typeface="Calibri"/>
              <a:cs typeface="Calibri"/>
              <a:sym typeface="Calibri"/>
            </a:endParaRPr>
          </a:p>
        </p:txBody>
      </p:sp>
      <p:cxnSp>
        <p:nvCxnSpPr>
          <p:cNvPr id="13" name="Google Shape;137;p20">
            <a:extLst>
              <a:ext uri="{FF2B5EF4-FFF2-40B4-BE49-F238E27FC236}">
                <a16:creationId xmlns:a16="http://schemas.microsoft.com/office/drawing/2014/main" id="{43CCEA01-6C0B-E336-5590-30D2B901D78A}"/>
              </a:ext>
            </a:extLst>
          </p:cNvPr>
          <p:cNvCxnSpPr>
            <a:cxnSpLocks/>
          </p:cNvCxnSpPr>
          <p:nvPr/>
        </p:nvCxnSpPr>
        <p:spPr>
          <a:xfrm flipV="1">
            <a:off x="4329710" y="2451320"/>
            <a:ext cx="6030418" cy="665024"/>
          </a:xfrm>
          <a:prstGeom prst="straightConnector1">
            <a:avLst/>
          </a:prstGeom>
          <a:noFill/>
          <a:ln w="19050" cap="flat" cmpd="sng">
            <a:solidFill>
              <a:srgbClr val="000000"/>
            </a:solidFill>
            <a:prstDash val="solid"/>
            <a:round/>
            <a:headEnd type="none" w="med" len="med"/>
            <a:tailEnd type="triangle" w="med" len="med"/>
          </a:ln>
        </p:spPr>
      </p:cxnSp>
      <p:cxnSp>
        <p:nvCxnSpPr>
          <p:cNvPr id="6" name="Google Shape;168;p21">
            <a:extLst>
              <a:ext uri="{FF2B5EF4-FFF2-40B4-BE49-F238E27FC236}">
                <a16:creationId xmlns:a16="http://schemas.microsoft.com/office/drawing/2014/main" id="{AE1D9C0E-01D6-E347-F74C-3FADA4A9EA27}"/>
              </a:ext>
            </a:extLst>
          </p:cNvPr>
          <p:cNvCxnSpPr>
            <a:cxnSpLocks/>
          </p:cNvCxnSpPr>
          <p:nvPr/>
        </p:nvCxnSpPr>
        <p:spPr>
          <a:xfrm flipV="1">
            <a:off x="4281620" y="3806749"/>
            <a:ext cx="6308312" cy="55744"/>
          </a:xfrm>
          <a:prstGeom prst="straightConnector1">
            <a:avLst/>
          </a:prstGeom>
          <a:noFill/>
          <a:ln w="19050" cap="flat" cmpd="sng">
            <a:solidFill>
              <a:srgbClr val="000000"/>
            </a:solidFill>
            <a:prstDash val="solid"/>
            <a:round/>
            <a:headEnd type="triangle" w="med" len="med"/>
            <a:tailEnd type="none" w="med" len="med"/>
          </a:ln>
        </p:spPr>
      </p:cxnSp>
      <p:sp>
        <p:nvSpPr>
          <p:cNvPr id="18" name="Google Shape;462;p34">
            <a:extLst>
              <a:ext uri="{FF2B5EF4-FFF2-40B4-BE49-F238E27FC236}">
                <a16:creationId xmlns:a16="http://schemas.microsoft.com/office/drawing/2014/main" id="{59C251F2-7C97-7A93-6514-CF79E9FF74F0}"/>
              </a:ext>
            </a:extLst>
          </p:cNvPr>
          <p:cNvSpPr txBox="1"/>
          <p:nvPr/>
        </p:nvSpPr>
        <p:spPr>
          <a:xfrm>
            <a:off x="6675437" y="3793113"/>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5</a:t>
            </a:r>
            <a:endParaRPr dirty="0">
              <a:latin typeface="Calibri"/>
              <a:ea typeface="Calibri"/>
              <a:cs typeface="Calibri"/>
              <a:sym typeface="Calibri"/>
            </a:endParaRPr>
          </a:p>
        </p:txBody>
      </p:sp>
      <p:cxnSp>
        <p:nvCxnSpPr>
          <p:cNvPr id="9" name="Google Shape;137;p20">
            <a:extLst>
              <a:ext uri="{FF2B5EF4-FFF2-40B4-BE49-F238E27FC236}">
                <a16:creationId xmlns:a16="http://schemas.microsoft.com/office/drawing/2014/main" id="{782FF242-A6F1-9B33-76DE-0EEA10C0D20E}"/>
              </a:ext>
            </a:extLst>
          </p:cNvPr>
          <p:cNvCxnSpPr>
            <a:cxnSpLocks/>
            <a:endCxn id="47" idx="1"/>
          </p:cNvCxnSpPr>
          <p:nvPr/>
        </p:nvCxnSpPr>
        <p:spPr>
          <a:xfrm>
            <a:off x="4281620" y="4239666"/>
            <a:ext cx="6109545" cy="350094"/>
          </a:xfrm>
          <a:prstGeom prst="straightConnector1">
            <a:avLst/>
          </a:prstGeom>
          <a:noFill/>
          <a:ln w="19050" cap="flat" cmpd="sng">
            <a:solidFill>
              <a:srgbClr val="000000"/>
            </a:solidFill>
            <a:prstDash val="solid"/>
            <a:round/>
            <a:headEnd type="none" w="med" len="med"/>
            <a:tailEnd type="triangle" w="med" len="med"/>
          </a:ln>
        </p:spPr>
      </p:cxnSp>
      <p:sp>
        <p:nvSpPr>
          <p:cNvPr id="15" name="Google Shape;462;p34">
            <a:extLst>
              <a:ext uri="{FF2B5EF4-FFF2-40B4-BE49-F238E27FC236}">
                <a16:creationId xmlns:a16="http://schemas.microsoft.com/office/drawing/2014/main" id="{4AF70C8D-04D3-C690-60C6-545B1270703B}"/>
              </a:ext>
            </a:extLst>
          </p:cNvPr>
          <p:cNvSpPr txBox="1"/>
          <p:nvPr/>
        </p:nvSpPr>
        <p:spPr>
          <a:xfrm>
            <a:off x="7365353" y="4056451"/>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6</a:t>
            </a:r>
            <a:endParaRPr dirty="0">
              <a:latin typeface="Calibri"/>
              <a:ea typeface="Calibri"/>
              <a:cs typeface="Calibri"/>
              <a:sym typeface="Calibri"/>
            </a:endParaRPr>
          </a:p>
        </p:txBody>
      </p:sp>
      <p:cxnSp>
        <p:nvCxnSpPr>
          <p:cNvPr id="19" name="Google Shape;168;p21">
            <a:extLst>
              <a:ext uri="{FF2B5EF4-FFF2-40B4-BE49-F238E27FC236}">
                <a16:creationId xmlns:a16="http://schemas.microsoft.com/office/drawing/2014/main" id="{D4E62099-EBD7-C796-3D87-7139DEB81535}"/>
              </a:ext>
            </a:extLst>
          </p:cNvPr>
          <p:cNvCxnSpPr>
            <a:cxnSpLocks/>
          </p:cNvCxnSpPr>
          <p:nvPr/>
        </p:nvCxnSpPr>
        <p:spPr>
          <a:xfrm>
            <a:off x="6003235" y="4447116"/>
            <a:ext cx="4387930" cy="257101"/>
          </a:xfrm>
          <a:prstGeom prst="straightConnector1">
            <a:avLst/>
          </a:prstGeom>
          <a:noFill/>
          <a:ln w="19050" cap="flat" cmpd="sng">
            <a:solidFill>
              <a:srgbClr val="000000"/>
            </a:solidFill>
            <a:prstDash val="solid"/>
            <a:round/>
            <a:headEnd type="triangle" w="med" len="med"/>
            <a:tailEnd type="none" w="med" len="med"/>
          </a:ln>
        </p:spPr>
      </p:cxnSp>
      <p:sp>
        <p:nvSpPr>
          <p:cNvPr id="23" name="Google Shape;462;p34">
            <a:extLst>
              <a:ext uri="{FF2B5EF4-FFF2-40B4-BE49-F238E27FC236}">
                <a16:creationId xmlns:a16="http://schemas.microsoft.com/office/drawing/2014/main" id="{AEDB8C56-E3DD-E03C-0F54-E7829777EB32}"/>
              </a:ext>
            </a:extLst>
          </p:cNvPr>
          <p:cNvSpPr txBox="1"/>
          <p:nvPr/>
        </p:nvSpPr>
        <p:spPr>
          <a:xfrm>
            <a:off x="7765905" y="4538343"/>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7</a:t>
            </a:r>
            <a:endParaRPr dirty="0">
              <a:latin typeface="Calibri"/>
              <a:ea typeface="Calibri"/>
              <a:cs typeface="Calibri"/>
              <a:sym typeface="Calibri"/>
            </a:endParaRPr>
          </a:p>
        </p:txBody>
      </p:sp>
      <p:sp>
        <p:nvSpPr>
          <p:cNvPr id="17" name="Google Shape;94;p18">
            <a:extLst>
              <a:ext uri="{FF2B5EF4-FFF2-40B4-BE49-F238E27FC236}">
                <a16:creationId xmlns:a16="http://schemas.microsoft.com/office/drawing/2014/main" id="{EB60B91E-B1E0-9105-1DFC-86328C405B79}"/>
              </a:ext>
            </a:extLst>
          </p:cNvPr>
          <p:cNvSpPr txBox="1"/>
          <p:nvPr/>
        </p:nvSpPr>
        <p:spPr>
          <a:xfrm>
            <a:off x="10281037" y="6064602"/>
            <a:ext cx="1495363" cy="58745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latin typeface="Courier New"/>
                <a:ea typeface="Courier New"/>
                <a:cs typeface="Courier New"/>
                <a:sym typeface="Courier New"/>
              </a:rPr>
              <a:t>Attacker</a:t>
            </a:r>
            <a:endParaRPr b="1" dirty="0">
              <a:latin typeface="Calibri"/>
              <a:ea typeface="Calibri"/>
              <a:cs typeface="Calibri"/>
              <a:sym typeface="Calibri"/>
            </a:endParaRPr>
          </a:p>
        </p:txBody>
      </p:sp>
      <p:cxnSp>
        <p:nvCxnSpPr>
          <p:cNvPr id="28" name="Google Shape;168;p21">
            <a:extLst>
              <a:ext uri="{FF2B5EF4-FFF2-40B4-BE49-F238E27FC236}">
                <a16:creationId xmlns:a16="http://schemas.microsoft.com/office/drawing/2014/main" id="{5FDF1BDB-60E8-F5EC-51F0-C40F1B9C6FA1}"/>
              </a:ext>
            </a:extLst>
          </p:cNvPr>
          <p:cNvCxnSpPr>
            <a:cxnSpLocks/>
          </p:cNvCxnSpPr>
          <p:nvPr/>
        </p:nvCxnSpPr>
        <p:spPr>
          <a:xfrm>
            <a:off x="4197894" y="6583680"/>
            <a:ext cx="5777744" cy="0"/>
          </a:xfrm>
          <a:prstGeom prst="straightConnector1">
            <a:avLst/>
          </a:prstGeom>
          <a:noFill/>
          <a:ln w="19050" cap="flat" cmpd="sng">
            <a:solidFill>
              <a:srgbClr val="FF0000"/>
            </a:solidFill>
            <a:prstDash val="solid"/>
            <a:round/>
            <a:headEnd type="triangle" w="med" len="med"/>
            <a:tailEnd type="none" w="med" len="med"/>
          </a:ln>
        </p:spPr>
      </p:cxnSp>
      <p:sp>
        <p:nvSpPr>
          <p:cNvPr id="32" name="Google Shape;462;p34">
            <a:extLst>
              <a:ext uri="{FF2B5EF4-FFF2-40B4-BE49-F238E27FC236}">
                <a16:creationId xmlns:a16="http://schemas.microsoft.com/office/drawing/2014/main" id="{29A34198-2025-0DE6-3EBE-22F4845AF7AF}"/>
              </a:ext>
            </a:extLst>
          </p:cNvPr>
          <p:cNvSpPr txBox="1"/>
          <p:nvPr/>
        </p:nvSpPr>
        <p:spPr>
          <a:xfrm>
            <a:off x="6919485" y="6198486"/>
            <a:ext cx="531042"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rgbClr val="FF0000"/>
                </a:solidFill>
                <a:latin typeface="Calibri"/>
                <a:ea typeface="Calibri"/>
                <a:cs typeface="Calibri"/>
                <a:sym typeface="Calibri"/>
              </a:rPr>
              <a:t>2b</a:t>
            </a:r>
            <a:endParaRPr dirty="0">
              <a:solidFill>
                <a:srgbClr val="FF0000"/>
              </a:solidFill>
              <a:latin typeface="Calibri"/>
              <a:ea typeface="Calibri"/>
              <a:cs typeface="Calibri"/>
              <a:sym typeface="Calibri"/>
            </a:endParaRPr>
          </a:p>
        </p:txBody>
      </p:sp>
      <p:cxnSp>
        <p:nvCxnSpPr>
          <p:cNvPr id="34" name="Google Shape;322;p25">
            <a:extLst>
              <a:ext uri="{FF2B5EF4-FFF2-40B4-BE49-F238E27FC236}">
                <a16:creationId xmlns:a16="http://schemas.microsoft.com/office/drawing/2014/main" id="{88ED1707-8DCD-6BB5-110A-5275A92FF46A}"/>
              </a:ext>
            </a:extLst>
          </p:cNvPr>
          <p:cNvCxnSpPr>
            <a:cxnSpLocks/>
          </p:cNvCxnSpPr>
          <p:nvPr/>
        </p:nvCxnSpPr>
        <p:spPr>
          <a:xfrm>
            <a:off x="4925031" y="3752344"/>
            <a:ext cx="5532061" cy="0"/>
          </a:xfrm>
          <a:prstGeom prst="straightConnector1">
            <a:avLst/>
          </a:prstGeom>
          <a:noFill/>
          <a:ln w="9525" cap="flat" cmpd="sng">
            <a:solidFill>
              <a:schemeClr val="dk2"/>
            </a:solidFill>
            <a:prstDash val="solid"/>
            <a:round/>
            <a:headEnd type="none" w="med" len="med"/>
            <a:tailEnd type="none" w="med" len="med"/>
          </a:ln>
        </p:spPr>
      </p:cxnSp>
      <p:grpSp>
        <p:nvGrpSpPr>
          <p:cNvPr id="42" name="Group 41">
            <a:extLst>
              <a:ext uri="{FF2B5EF4-FFF2-40B4-BE49-F238E27FC236}">
                <a16:creationId xmlns:a16="http://schemas.microsoft.com/office/drawing/2014/main" id="{D4EC4042-76BE-64F8-F5FD-70E3A8B1CF36}"/>
              </a:ext>
            </a:extLst>
          </p:cNvPr>
          <p:cNvGrpSpPr/>
          <p:nvPr/>
        </p:nvGrpSpPr>
        <p:grpSpPr>
          <a:xfrm>
            <a:off x="4578223" y="5150473"/>
            <a:ext cx="5014627" cy="1067017"/>
            <a:chOff x="4352902" y="355848"/>
            <a:chExt cx="5014627" cy="1067017"/>
          </a:xfrm>
        </p:grpSpPr>
        <p:sp>
          <p:nvSpPr>
            <p:cNvPr id="26" name="Google Shape;321;p25">
              <a:extLst>
                <a:ext uri="{FF2B5EF4-FFF2-40B4-BE49-F238E27FC236}">
                  <a16:creationId xmlns:a16="http://schemas.microsoft.com/office/drawing/2014/main" id="{EA18594E-618A-9AA5-CBA6-6030C7F83815}"/>
                </a:ext>
              </a:extLst>
            </p:cNvPr>
            <p:cNvSpPr txBox="1"/>
            <p:nvPr/>
          </p:nvSpPr>
          <p:spPr>
            <a:xfrm>
              <a:off x="4352902" y="355848"/>
              <a:ext cx="5014627" cy="1067017"/>
            </a:xfrm>
            <a:prstGeom prst="rect">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chemeClr val="dk1"/>
                  </a:solidFill>
                </a:rPr>
                <a:t>“I don’t know. But I have delegated authority to the </a:t>
              </a:r>
              <a:r>
                <a:rPr lang="en" sz="1200" b="1" dirty="0">
                  <a:solidFill>
                    <a:schemeClr val="dk1"/>
                  </a:solidFill>
                  <a:latin typeface="Courier New"/>
                  <a:ea typeface="Courier New"/>
                  <a:cs typeface="Courier New"/>
                  <a:sym typeface="Courier New"/>
                </a:rPr>
                <a:t>fake1.google.com</a:t>
              </a:r>
              <a:r>
                <a:rPr lang="en" sz="1200" dirty="0">
                  <a:solidFill>
                    <a:schemeClr val="dk1"/>
                  </a:solidFill>
                </a:rPr>
                <a:t> NS. This response has ID </a:t>
              </a:r>
              <a:r>
                <a:rPr lang="en" sz="1200" b="1" dirty="0">
                  <a:solidFill>
                    <a:schemeClr val="accent4">
                      <a:lumMod val="20000"/>
                      <a:lumOff val="80000"/>
                    </a:schemeClr>
                  </a:solidFill>
                </a:rPr>
                <a:t>127</a:t>
              </a:r>
              <a:r>
                <a:rPr lang="en" sz="1200" dirty="0">
                  <a:solidFill>
                    <a:schemeClr val="dk1"/>
                  </a:solidFill>
                </a:rPr>
                <a:t>.</a:t>
              </a:r>
              <a:endParaRPr sz="1200" dirty="0">
                <a:solidFill>
                  <a:schemeClr val="dk1"/>
                </a:solidFill>
              </a:endParaRPr>
            </a:p>
            <a:p>
              <a:pPr marL="0" lvl="0" indent="0" algn="l" rtl="0">
                <a:spcBef>
                  <a:spcPts val="0"/>
                </a:spcBef>
                <a:spcAft>
                  <a:spcPts val="0"/>
                </a:spcAft>
                <a:buClr>
                  <a:schemeClr val="dk1"/>
                </a:buClr>
                <a:buSzPts val="1100"/>
                <a:buFont typeface="Arial"/>
                <a:buNone/>
              </a:pPr>
              <a:endParaRPr lang="en" sz="1200" dirty="0">
                <a:solidFill>
                  <a:schemeClr val="dk1"/>
                </a:solidFill>
              </a:endParaRPr>
            </a:p>
            <a:p>
              <a:pPr lvl="0">
                <a:buClr>
                  <a:schemeClr val="dk1"/>
                </a:buClr>
                <a:buSzPts val="1100"/>
              </a:pPr>
              <a:r>
                <a:rPr lang="en-US" sz="1200" b="1" dirty="0">
                  <a:solidFill>
                    <a:schemeClr val="dk1"/>
                  </a:solidFill>
                </a:rPr>
                <a:t>Authority: </a:t>
              </a:r>
              <a:r>
                <a:rPr lang="en" sz="1200" b="1" dirty="0">
                  <a:solidFill>
                    <a:schemeClr val="dk1"/>
                  </a:solidFill>
                  <a:latin typeface="Courier New"/>
                  <a:ea typeface="Courier New"/>
                  <a:cs typeface="Courier New"/>
                  <a:sym typeface="Courier New"/>
                </a:rPr>
                <a:t>fake1.google.com </a:t>
              </a:r>
              <a:r>
                <a:rPr lang="en-US" sz="1200" b="1" dirty="0">
                  <a:latin typeface="Courier New"/>
                  <a:cs typeface="Courier New"/>
                </a:rPr>
                <a:t>NS</a:t>
              </a:r>
              <a:r>
                <a:rPr lang="en-US" sz="1200" b="1" dirty="0">
                  <a:solidFill>
                    <a:srgbClr val="FF0000"/>
                  </a:solidFill>
                  <a:latin typeface="Courier New"/>
                  <a:cs typeface="Courier New"/>
                </a:rPr>
                <a:t> </a:t>
              </a:r>
              <a:r>
                <a:rPr lang="en-US" sz="1200" b="1" dirty="0">
                  <a:latin typeface="Courier New"/>
                  <a:cs typeface="Courier New"/>
                </a:rPr>
                <a:t>www.google.com. </a:t>
              </a:r>
              <a:endParaRPr sz="1200" dirty="0">
                <a:solidFill>
                  <a:schemeClr val="dk1"/>
                </a:solidFill>
              </a:endParaRPr>
            </a:p>
            <a:p>
              <a:pPr marL="0" lvl="0" indent="0" algn="l" rtl="0">
                <a:lnSpc>
                  <a:spcPct val="115000"/>
                </a:lnSpc>
                <a:spcBef>
                  <a:spcPts val="0"/>
                </a:spcBef>
                <a:spcAft>
                  <a:spcPts val="0"/>
                </a:spcAft>
                <a:buNone/>
              </a:pPr>
              <a:r>
                <a:rPr lang="en-US" sz="1200" b="1" dirty="0">
                  <a:solidFill>
                    <a:schemeClr val="dk1"/>
                  </a:solidFill>
                </a:rPr>
                <a:t>Additional: </a:t>
              </a:r>
              <a:r>
                <a:rPr lang="en-US" sz="1200" b="1" dirty="0">
                  <a:latin typeface="Courier New"/>
                  <a:cs typeface="Courier New"/>
                </a:rPr>
                <a:t>www.google.com </a:t>
              </a:r>
              <a:r>
                <a:rPr lang="en-US" sz="1200" b="1" dirty="0">
                  <a:solidFill>
                    <a:schemeClr val="dk1"/>
                  </a:solidFill>
                  <a:latin typeface="Courier New"/>
                  <a:cs typeface="Courier New"/>
                </a:rPr>
                <a:t>A </a:t>
              </a:r>
              <a:r>
                <a:rPr lang="en-US" sz="1200" b="1" dirty="0">
                  <a:solidFill>
                    <a:schemeClr val="accent4">
                      <a:lumMod val="20000"/>
                      <a:lumOff val="80000"/>
                    </a:schemeClr>
                  </a:solidFill>
                  <a:latin typeface="Courier New"/>
                  <a:cs typeface="Courier New"/>
                </a:rPr>
                <a:t>6.6.6.6</a:t>
              </a:r>
              <a:r>
                <a:rPr lang="en" sz="1200" dirty="0">
                  <a:solidFill>
                    <a:schemeClr val="dk1"/>
                  </a:solidFill>
                </a:rPr>
                <a:t>”</a:t>
              </a:r>
              <a:endParaRPr sz="1200" dirty="0"/>
            </a:p>
          </p:txBody>
        </p:sp>
        <p:cxnSp>
          <p:nvCxnSpPr>
            <p:cNvPr id="27" name="Google Shape;322;p25">
              <a:extLst>
                <a:ext uri="{FF2B5EF4-FFF2-40B4-BE49-F238E27FC236}">
                  <a16:creationId xmlns:a16="http://schemas.microsoft.com/office/drawing/2014/main" id="{0CE4B6B2-23E6-758B-FABB-7E0EC850B7D0}"/>
                </a:ext>
              </a:extLst>
            </p:cNvPr>
            <p:cNvCxnSpPr>
              <a:cxnSpLocks/>
              <a:stCxn id="26" idx="1"/>
              <a:endCxn id="26" idx="3"/>
            </p:cNvCxnSpPr>
            <p:nvPr/>
          </p:nvCxnSpPr>
          <p:spPr>
            <a:xfrm>
              <a:off x="4352902" y="889357"/>
              <a:ext cx="5014627" cy="0"/>
            </a:xfrm>
            <a:prstGeom prst="straightConnector1">
              <a:avLst/>
            </a:prstGeom>
            <a:noFill/>
            <a:ln w="9525" cap="flat" cmpd="sng">
              <a:solidFill>
                <a:schemeClr val="dk2"/>
              </a:solidFill>
              <a:prstDash val="solid"/>
              <a:round/>
              <a:headEnd type="none" w="med" len="med"/>
              <a:tailEnd type="none" w="med" len="med"/>
            </a:ln>
          </p:spPr>
        </p:cxnSp>
      </p:grpSp>
      <p:sp>
        <p:nvSpPr>
          <p:cNvPr id="25" name="Google Shape;1819;p140">
            <a:extLst>
              <a:ext uri="{FF2B5EF4-FFF2-40B4-BE49-F238E27FC236}">
                <a16:creationId xmlns:a16="http://schemas.microsoft.com/office/drawing/2014/main" id="{45A3F78B-9CF1-FD35-5184-A44818318BFC}"/>
              </a:ext>
            </a:extLst>
          </p:cNvPr>
          <p:cNvSpPr txBox="1">
            <a:spLocks noGrp="1"/>
          </p:cNvSpPr>
          <p:nvPr>
            <p:ph type="title"/>
          </p:nvPr>
        </p:nvSpPr>
        <p:spPr>
          <a:xfrm>
            <a:off x="415600" y="55919"/>
            <a:ext cx="11360800" cy="763600"/>
          </a:xfrm>
          <a:prstGeom prst="rect">
            <a:avLst/>
          </a:prstGeom>
        </p:spPr>
        <p:txBody>
          <a:bodyPr spcFirstLastPara="1" wrap="square" lIns="121900" tIns="121900" rIns="121900" bIns="121900" anchor="t" anchorCtr="0">
            <a:noAutofit/>
          </a:bodyPr>
          <a:lstStyle/>
          <a:p>
            <a:r>
              <a:rPr lang="en" sz="4400" dirty="0">
                <a:latin typeface="Aptos" panose="020B0004020202020204" pitchFamily="34" charset="0"/>
              </a:rPr>
              <a:t>Kaminsky Attack: Example</a:t>
            </a:r>
            <a:endParaRPr sz="4400" dirty="0">
              <a:latin typeface="Aptos" panose="020B0004020202020204" pitchFamily="34" charset="0"/>
            </a:endParaRPr>
          </a:p>
        </p:txBody>
      </p:sp>
      <p:sp>
        <p:nvSpPr>
          <p:cNvPr id="4" name="Google Shape;1167;p86">
            <a:extLst>
              <a:ext uri="{FF2B5EF4-FFF2-40B4-BE49-F238E27FC236}">
                <a16:creationId xmlns:a16="http://schemas.microsoft.com/office/drawing/2014/main" id="{459FEAB4-B9D7-8C20-4EAF-BF29663A19BA}"/>
              </a:ext>
            </a:extLst>
          </p:cNvPr>
          <p:cNvSpPr txBox="1"/>
          <p:nvPr/>
        </p:nvSpPr>
        <p:spPr>
          <a:xfrm>
            <a:off x="4633882" y="3957225"/>
            <a:ext cx="5405019" cy="422099"/>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400" dirty="0"/>
              <a:t>“</a:t>
            </a:r>
            <a:r>
              <a:rPr lang="en" sz="1400" b="1" dirty="0">
                <a:latin typeface="Courier New"/>
                <a:ea typeface="Courier New"/>
                <a:cs typeface="Courier New"/>
                <a:sym typeface="Courier New"/>
              </a:rPr>
              <a:t>fake1.google.com </a:t>
            </a:r>
            <a:r>
              <a:rPr lang="en" sz="1400" b="1" dirty="0">
                <a:solidFill>
                  <a:srgbClr val="C00000"/>
                </a:solidFill>
              </a:rPr>
              <a:t>doesn’t exist</a:t>
            </a:r>
            <a:r>
              <a:rPr lang="en" sz="1400" dirty="0"/>
              <a:t>! </a:t>
            </a:r>
            <a:r>
              <a:rPr lang="en" sz="1400" dirty="0">
                <a:solidFill>
                  <a:schemeClr val="dk1"/>
                </a:solidFill>
              </a:rPr>
              <a:t>This response has ID </a:t>
            </a:r>
            <a:r>
              <a:rPr lang="en" sz="1400" b="1" dirty="0">
                <a:solidFill>
                  <a:schemeClr val="dk1"/>
                </a:solidFill>
              </a:rPr>
              <a:t>774</a:t>
            </a:r>
            <a:r>
              <a:rPr lang="en" sz="1400" dirty="0">
                <a:solidFill>
                  <a:schemeClr val="dk1"/>
                </a:solidFill>
              </a:rPr>
              <a:t>.”</a:t>
            </a:r>
            <a:endParaRPr sz="1400" dirty="0"/>
          </a:p>
        </p:txBody>
      </p:sp>
      <p:sp>
        <p:nvSpPr>
          <p:cNvPr id="14" name="Google Shape;1278;p89">
            <a:extLst>
              <a:ext uri="{FF2B5EF4-FFF2-40B4-BE49-F238E27FC236}">
                <a16:creationId xmlns:a16="http://schemas.microsoft.com/office/drawing/2014/main" id="{37B72A11-7265-70CD-217E-7C26589E60F0}"/>
              </a:ext>
            </a:extLst>
          </p:cNvPr>
          <p:cNvSpPr txBox="1"/>
          <p:nvPr/>
        </p:nvSpPr>
        <p:spPr>
          <a:xfrm>
            <a:off x="3784979" y="1397464"/>
            <a:ext cx="6030417" cy="520349"/>
          </a:xfrm>
          <a:prstGeom prst="rect">
            <a:avLst/>
          </a:prstGeom>
          <a:solidFill>
            <a:srgbClr val="C9DAF8"/>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dirty="0"/>
              <a:t>What if the attacker didn’t guess the ID number correctly?</a:t>
            </a:r>
            <a:endParaRPr dirty="0"/>
          </a:p>
        </p:txBody>
      </p:sp>
    </p:spTree>
    <p:extLst>
      <p:ext uri="{BB962C8B-B14F-4D97-AF65-F5344CB8AC3E}">
        <p14:creationId xmlns:p14="http://schemas.microsoft.com/office/powerpoint/2010/main" val="28670986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D33BA-0FF2-DEA8-5DEB-9B3AFA49D70C}"/>
            </a:ext>
          </a:extLst>
        </p:cNvPr>
        <p:cNvGrpSpPr/>
        <p:nvPr/>
      </p:nvGrpSpPr>
      <p:grpSpPr>
        <a:xfrm>
          <a:off x="0" y="0"/>
          <a:ext cx="0" cy="0"/>
          <a:chOff x="0" y="0"/>
          <a:chExt cx="0" cy="0"/>
        </a:xfrm>
      </p:grpSpPr>
      <p:sp>
        <p:nvSpPr>
          <p:cNvPr id="16" name="Google Shape;94;p18">
            <a:extLst>
              <a:ext uri="{FF2B5EF4-FFF2-40B4-BE49-F238E27FC236}">
                <a16:creationId xmlns:a16="http://schemas.microsoft.com/office/drawing/2014/main" id="{0581F9AE-6D02-0070-15C0-01B4EFA73B58}"/>
              </a:ext>
            </a:extLst>
          </p:cNvPr>
          <p:cNvSpPr txBox="1"/>
          <p:nvPr/>
        </p:nvSpPr>
        <p:spPr>
          <a:xfrm>
            <a:off x="1086878" y="1273669"/>
            <a:ext cx="2164021" cy="58745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Courier New"/>
                <a:ea typeface="Courier New"/>
                <a:cs typeface="Courier New"/>
                <a:sym typeface="Courier New"/>
              </a:rPr>
              <a:t>Stub Resolver</a:t>
            </a:r>
            <a:endParaRPr dirty="0">
              <a:latin typeface="Calibri"/>
              <a:ea typeface="Calibri"/>
              <a:cs typeface="Calibri"/>
              <a:sym typeface="Calibri"/>
            </a:endParaRPr>
          </a:p>
        </p:txBody>
      </p:sp>
      <p:sp>
        <p:nvSpPr>
          <p:cNvPr id="20" name="Google Shape;98;p18">
            <a:extLst>
              <a:ext uri="{FF2B5EF4-FFF2-40B4-BE49-F238E27FC236}">
                <a16:creationId xmlns:a16="http://schemas.microsoft.com/office/drawing/2014/main" id="{B6D203F7-627E-A7FC-87A8-A934130C76F3}"/>
              </a:ext>
            </a:extLst>
          </p:cNvPr>
          <p:cNvSpPr/>
          <p:nvPr/>
        </p:nvSpPr>
        <p:spPr>
          <a:xfrm>
            <a:off x="164860" y="2572413"/>
            <a:ext cx="4056187" cy="3701166"/>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99;p18">
            <a:extLst>
              <a:ext uri="{FF2B5EF4-FFF2-40B4-BE49-F238E27FC236}">
                <a16:creationId xmlns:a16="http://schemas.microsoft.com/office/drawing/2014/main" id="{763418A8-F67E-EFCB-A6D4-26925C9D9AC6}"/>
              </a:ext>
            </a:extLst>
          </p:cNvPr>
          <p:cNvSpPr txBox="1"/>
          <p:nvPr/>
        </p:nvSpPr>
        <p:spPr>
          <a:xfrm>
            <a:off x="248560" y="2660813"/>
            <a:ext cx="3840671" cy="508261"/>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graphicFrame>
        <p:nvGraphicFramePr>
          <p:cNvPr id="22" name="Google Shape;100;p18">
            <a:extLst>
              <a:ext uri="{FF2B5EF4-FFF2-40B4-BE49-F238E27FC236}">
                <a16:creationId xmlns:a16="http://schemas.microsoft.com/office/drawing/2014/main" id="{E0E49E67-4740-4547-36F6-93FE25E3CD63}"/>
              </a:ext>
            </a:extLst>
          </p:cNvPr>
          <p:cNvGraphicFramePr/>
          <p:nvPr/>
        </p:nvGraphicFramePr>
        <p:xfrm>
          <a:off x="248586" y="3054413"/>
          <a:ext cx="3840606" cy="2003053"/>
        </p:xfrm>
        <a:graphic>
          <a:graphicData uri="http://schemas.openxmlformats.org/drawingml/2006/table">
            <a:tbl>
              <a:tblPr>
                <a:noFill/>
              </a:tblPr>
              <a:tblGrid>
                <a:gridCol w="1920303">
                  <a:extLst>
                    <a:ext uri="{9D8B030D-6E8A-4147-A177-3AD203B41FA5}">
                      <a16:colId xmlns:a16="http://schemas.microsoft.com/office/drawing/2014/main" val="20000"/>
                    </a:ext>
                  </a:extLst>
                </a:gridCol>
                <a:gridCol w="1920303">
                  <a:extLst>
                    <a:ext uri="{9D8B030D-6E8A-4147-A177-3AD203B41FA5}">
                      <a16:colId xmlns:a16="http://schemas.microsoft.com/office/drawing/2014/main" val="20001"/>
                    </a:ext>
                  </a:extLst>
                </a:gridCol>
              </a:tblGrid>
              <a:tr h="452593">
                <a:tc gridSpan="2">
                  <a:txBody>
                    <a:bodyPr/>
                    <a:lstStyle/>
                    <a:p>
                      <a:pPr marL="0" lvl="0" indent="0" algn="ctr" rtl="0">
                        <a:spcBef>
                          <a:spcPts val="0"/>
                        </a:spcBef>
                        <a:spcAft>
                          <a:spcPts val="0"/>
                        </a:spcAft>
                        <a:buNone/>
                      </a:pPr>
                      <a:r>
                        <a:rPr lang="en" sz="1500" dirty="0">
                          <a:latin typeface="Courier New"/>
                          <a:ea typeface="Courier New"/>
                          <a:cs typeface="Courier New"/>
                          <a:sym typeface="Courier New"/>
                        </a:rPr>
                        <a:t>Recursive Resolver Cache</a:t>
                      </a:r>
                      <a:endParaRPr sz="1500" dirty="0">
                        <a:latin typeface="Courier New"/>
                        <a:ea typeface="Courier New"/>
                        <a:cs typeface="Courier New"/>
                        <a:sym typeface="Courier New"/>
                      </a:endParaRPr>
                    </a:p>
                  </a:txBody>
                  <a:tcPr marL="91425" marR="91425" marT="91425" marB="91425">
                    <a:lnB w="9525" cap="flat" cmpd="sng" algn="ctr">
                      <a:solidFill>
                        <a:srgbClr val="9E9E9E"/>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0"/>
                  </a:ext>
                </a:extLst>
              </a:tr>
              <a:tr h="433160">
                <a:tc>
                  <a:txBody>
                    <a:bodyPr/>
                    <a:lstStyle/>
                    <a:p>
                      <a:pPr marL="0" lvl="0" indent="0" algn="l" rtl="0">
                        <a:lnSpc>
                          <a:spcPct val="115000"/>
                        </a:lnSpc>
                        <a:spcBef>
                          <a:spcPts val="0"/>
                        </a:spcBef>
                        <a:spcAft>
                          <a:spcPts val="0"/>
                        </a:spcAft>
                        <a:buNone/>
                      </a:pPr>
                      <a:r>
                        <a:rPr lang="en-US" sz="1500" b="0" dirty="0">
                          <a:solidFill>
                            <a:schemeClr val="dk1"/>
                          </a:solidFill>
                          <a:latin typeface="Courier New"/>
                          <a:ea typeface="Courier New"/>
                          <a:cs typeface="Courier New"/>
                          <a:sym typeface="Courier New"/>
                        </a:rPr>
                        <a:t>a.gtld-servers.net</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r>
                        <a:rPr lang="en-US" sz="1500" b="0" dirty="0">
                          <a:solidFill>
                            <a:schemeClr val="dk1"/>
                          </a:solidFill>
                          <a:latin typeface="Courier New"/>
                          <a:ea typeface="Courier New"/>
                          <a:cs typeface="Courier New"/>
                          <a:sym typeface="Courier New"/>
                        </a:rPr>
                        <a:t>192.5.6.30</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433160">
                <a:tc>
                  <a:txBody>
                    <a:bodyPr/>
                    <a:lstStyle/>
                    <a:p>
                      <a:pPr marL="0" marR="0" lvl="0" indent="0" algn="l" rtl="0">
                        <a:lnSpc>
                          <a:spcPct val="115000"/>
                        </a:lnSpc>
                        <a:spcBef>
                          <a:spcPts val="0"/>
                        </a:spcBef>
                        <a:spcAft>
                          <a:spcPts val="0"/>
                        </a:spcAft>
                        <a:buClr>
                          <a:srgbClr val="000000"/>
                        </a:buClr>
                        <a:buFont typeface="Arial"/>
                        <a:buNone/>
                      </a:pPr>
                      <a:r>
                        <a:rPr lang="en-US" sz="1500" b="0" i="0" u="none" strike="noStrike" cap="none" dirty="0">
                          <a:solidFill>
                            <a:schemeClr val="dk1"/>
                          </a:solidFill>
                          <a:latin typeface="Courier New"/>
                          <a:ea typeface="Courier New"/>
                          <a:cs typeface="Courier New"/>
                          <a:sym typeface="Courier New"/>
                        </a:rPr>
                        <a:t>ns1.google.com</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solidFill>
                      <a:schemeClr val="lt1"/>
                    </a:solidFill>
                  </a:tcPr>
                </a:tc>
                <a:tc>
                  <a:txBody>
                    <a:bodyPr/>
                    <a:lstStyle/>
                    <a:p>
                      <a:pPr marL="0" marR="0" lvl="0" indent="0" algn="l" rtl="0">
                        <a:lnSpc>
                          <a:spcPct val="115000"/>
                        </a:lnSpc>
                        <a:spcBef>
                          <a:spcPts val="0"/>
                        </a:spcBef>
                        <a:spcAft>
                          <a:spcPts val="0"/>
                        </a:spcAft>
                        <a:buClr>
                          <a:srgbClr val="000000"/>
                        </a:buClr>
                        <a:buFont typeface="Arial"/>
                        <a:buNone/>
                      </a:pPr>
                      <a:r>
                        <a:rPr lang="en-US" sz="1500" b="0" i="0" u="none" strike="noStrike" cap="none" dirty="0">
                          <a:solidFill>
                            <a:schemeClr val="dk1"/>
                          </a:solidFill>
                          <a:latin typeface="Courier New"/>
                          <a:ea typeface="Courier New"/>
                          <a:cs typeface="Courier New"/>
                          <a:sym typeface="Courier New"/>
                        </a:rPr>
                        <a:t>216.239.32.10</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413234">
                <a:tc>
                  <a:txBody>
                    <a:bodyPr/>
                    <a:lstStyle/>
                    <a:p>
                      <a:pPr marL="0" lvl="0" indent="0" algn="l" rtl="0">
                        <a:spcBef>
                          <a:spcPts val="0"/>
                        </a:spcBef>
                        <a:spcAft>
                          <a:spcPts val="0"/>
                        </a:spcAft>
                        <a:buNone/>
                      </a:pPr>
                      <a:endParaRPr sz="1500" b="1" dirty="0">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sz="1500" b="1" dirty="0">
                        <a:solidFill>
                          <a:srgbClr val="C00000"/>
                        </a:solidFill>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bl>
          </a:graphicData>
        </a:graphic>
      </p:graphicFrame>
      <p:sp>
        <p:nvSpPr>
          <p:cNvPr id="45" name="Google Shape;134;p22">
            <a:extLst>
              <a:ext uri="{FF2B5EF4-FFF2-40B4-BE49-F238E27FC236}">
                <a16:creationId xmlns:a16="http://schemas.microsoft.com/office/drawing/2014/main" id="{805ED40D-2518-E646-4305-052F35A4C0D8}"/>
              </a:ext>
            </a:extLst>
          </p:cNvPr>
          <p:cNvSpPr txBox="1"/>
          <p:nvPr/>
        </p:nvSpPr>
        <p:spPr>
          <a:xfrm>
            <a:off x="10360128" y="2456393"/>
            <a:ext cx="1238100" cy="3648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Courier New" panose="02070309020205020404" pitchFamily="49" charset="0"/>
                <a:ea typeface="Courier New"/>
                <a:cs typeface="Courier New" panose="02070309020205020404" pitchFamily="49" charset="0"/>
                <a:sym typeface="Courier New"/>
              </a:rPr>
              <a:t>.</a:t>
            </a:r>
            <a:r>
              <a:rPr lang="en" dirty="0">
                <a:latin typeface="Courier New" panose="02070309020205020404" pitchFamily="49" charset="0"/>
                <a:cs typeface="Courier New" panose="02070309020205020404" pitchFamily="49" charset="0"/>
              </a:rPr>
              <a:t>(root)</a:t>
            </a:r>
            <a:endParaRPr dirty="0">
              <a:latin typeface="Courier New" panose="02070309020205020404" pitchFamily="49" charset="0"/>
              <a:ea typeface="Courier New"/>
              <a:cs typeface="Courier New" panose="02070309020205020404" pitchFamily="49" charset="0"/>
              <a:sym typeface="Courier New"/>
            </a:endParaRPr>
          </a:p>
        </p:txBody>
      </p:sp>
      <p:sp>
        <p:nvSpPr>
          <p:cNvPr id="46" name="Google Shape;135;p22">
            <a:extLst>
              <a:ext uri="{FF2B5EF4-FFF2-40B4-BE49-F238E27FC236}">
                <a16:creationId xmlns:a16="http://schemas.microsoft.com/office/drawing/2014/main" id="{0680071C-6943-ACD6-168B-52019C663078}"/>
              </a:ext>
            </a:extLst>
          </p:cNvPr>
          <p:cNvSpPr txBox="1"/>
          <p:nvPr/>
        </p:nvSpPr>
        <p:spPr>
          <a:xfrm>
            <a:off x="10721787" y="3468893"/>
            <a:ext cx="73152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Courier New"/>
                <a:ea typeface="Courier New"/>
                <a:cs typeface="Courier New"/>
                <a:sym typeface="Courier New"/>
              </a:rPr>
              <a:t>.com</a:t>
            </a:r>
            <a:endParaRPr>
              <a:latin typeface="Calibri"/>
              <a:ea typeface="Calibri"/>
              <a:cs typeface="Calibri"/>
              <a:sym typeface="Calibri"/>
            </a:endParaRPr>
          </a:p>
        </p:txBody>
      </p:sp>
      <p:sp>
        <p:nvSpPr>
          <p:cNvPr id="47" name="Google Shape;136;p22">
            <a:extLst>
              <a:ext uri="{FF2B5EF4-FFF2-40B4-BE49-F238E27FC236}">
                <a16:creationId xmlns:a16="http://schemas.microsoft.com/office/drawing/2014/main" id="{7BF7D2AE-9625-E768-E7F9-1CF882B148B4}"/>
              </a:ext>
            </a:extLst>
          </p:cNvPr>
          <p:cNvSpPr txBox="1"/>
          <p:nvPr/>
        </p:nvSpPr>
        <p:spPr>
          <a:xfrm>
            <a:off x="10391165" y="4392960"/>
            <a:ext cx="1385235"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400" dirty="0">
                <a:latin typeface="Courier New"/>
                <a:ea typeface="Courier New"/>
                <a:cs typeface="Courier New"/>
                <a:sym typeface="Courier New"/>
              </a:rPr>
              <a:t>google.com</a:t>
            </a:r>
            <a:endParaRPr sz="1400" dirty="0">
              <a:latin typeface="Calibri"/>
              <a:ea typeface="Calibri"/>
              <a:cs typeface="Calibri"/>
              <a:sym typeface="Calibri"/>
            </a:endParaRPr>
          </a:p>
        </p:txBody>
      </p:sp>
      <p:cxnSp>
        <p:nvCxnSpPr>
          <p:cNvPr id="48" name="Google Shape;137;p22">
            <a:extLst>
              <a:ext uri="{FF2B5EF4-FFF2-40B4-BE49-F238E27FC236}">
                <a16:creationId xmlns:a16="http://schemas.microsoft.com/office/drawing/2014/main" id="{F0E8B3B6-DE8A-4EE1-BEB5-F52CB6082472}"/>
              </a:ext>
            </a:extLst>
          </p:cNvPr>
          <p:cNvCxnSpPr>
            <a:cxnSpLocks/>
          </p:cNvCxnSpPr>
          <p:nvPr/>
        </p:nvCxnSpPr>
        <p:spPr>
          <a:xfrm>
            <a:off x="11081081" y="2814897"/>
            <a:ext cx="0" cy="653996"/>
          </a:xfrm>
          <a:prstGeom prst="straightConnector1">
            <a:avLst/>
          </a:prstGeom>
          <a:noFill/>
          <a:ln w="9525" cap="flat" cmpd="sng">
            <a:solidFill>
              <a:srgbClr val="000000"/>
            </a:solidFill>
            <a:prstDash val="solid"/>
            <a:round/>
            <a:headEnd type="none" w="med" len="med"/>
            <a:tailEnd type="none" w="med" len="med"/>
          </a:ln>
        </p:spPr>
      </p:cxnSp>
      <p:cxnSp>
        <p:nvCxnSpPr>
          <p:cNvPr id="49" name="Google Shape;138;p22">
            <a:extLst>
              <a:ext uri="{FF2B5EF4-FFF2-40B4-BE49-F238E27FC236}">
                <a16:creationId xmlns:a16="http://schemas.microsoft.com/office/drawing/2014/main" id="{66CE4038-86C5-3EBB-9DC8-BE4F6EFD114D}"/>
              </a:ext>
            </a:extLst>
          </p:cNvPr>
          <p:cNvCxnSpPr>
            <a:cxnSpLocks/>
          </p:cNvCxnSpPr>
          <p:nvPr/>
        </p:nvCxnSpPr>
        <p:spPr>
          <a:xfrm>
            <a:off x="11081081" y="3862493"/>
            <a:ext cx="0" cy="516831"/>
          </a:xfrm>
          <a:prstGeom prst="straightConnector1">
            <a:avLst/>
          </a:prstGeom>
          <a:noFill/>
          <a:ln w="9525" cap="flat" cmpd="sng">
            <a:solidFill>
              <a:srgbClr val="000000"/>
            </a:solidFill>
            <a:prstDash val="solid"/>
            <a:round/>
            <a:headEnd type="none" w="med" len="med"/>
            <a:tailEnd type="none" w="med" len="med"/>
          </a:ln>
        </p:spPr>
      </p:cxnSp>
      <p:grpSp>
        <p:nvGrpSpPr>
          <p:cNvPr id="2" name="Google Shape;112;p19">
            <a:extLst>
              <a:ext uri="{FF2B5EF4-FFF2-40B4-BE49-F238E27FC236}">
                <a16:creationId xmlns:a16="http://schemas.microsoft.com/office/drawing/2014/main" id="{C850EB9D-58B9-6C86-1771-7E3BD06CD642}"/>
              </a:ext>
            </a:extLst>
          </p:cNvPr>
          <p:cNvGrpSpPr/>
          <p:nvPr/>
        </p:nvGrpSpPr>
        <p:grpSpPr>
          <a:xfrm>
            <a:off x="1400223" y="1930411"/>
            <a:ext cx="410100" cy="572709"/>
            <a:chOff x="258935" y="2049228"/>
            <a:chExt cx="410100" cy="762900"/>
          </a:xfrm>
        </p:grpSpPr>
        <p:sp>
          <p:nvSpPr>
            <p:cNvPr id="3" name="Google Shape;113;p19">
              <a:extLst>
                <a:ext uri="{FF2B5EF4-FFF2-40B4-BE49-F238E27FC236}">
                  <a16:creationId xmlns:a16="http://schemas.microsoft.com/office/drawing/2014/main" id="{03FB73DF-994E-D9DA-A8B7-C1C68D0EADF6}"/>
                </a:ext>
              </a:extLst>
            </p:cNvPr>
            <p:cNvSpPr txBox="1"/>
            <p:nvPr/>
          </p:nvSpPr>
          <p:spPr>
            <a:xfrm>
              <a:off x="258935" y="2174852"/>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1</a:t>
              </a:r>
              <a:endParaRPr dirty="0">
                <a:latin typeface="Calibri"/>
                <a:ea typeface="Calibri"/>
                <a:cs typeface="Calibri"/>
                <a:sym typeface="Calibri"/>
              </a:endParaRPr>
            </a:p>
          </p:txBody>
        </p:sp>
        <p:cxnSp>
          <p:nvCxnSpPr>
            <p:cNvPr id="5" name="Google Shape;114;p19">
              <a:extLst>
                <a:ext uri="{FF2B5EF4-FFF2-40B4-BE49-F238E27FC236}">
                  <a16:creationId xmlns:a16="http://schemas.microsoft.com/office/drawing/2014/main" id="{81F4769F-7AAB-E853-599B-4E9C2FA6D8F6}"/>
                </a:ext>
              </a:extLst>
            </p:cNvPr>
            <p:cNvCxnSpPr/>
            <p:nvPr/>
          </p:nvCxnSpPr>
          <p:spPr>
            <a:xfrm rot="10800000">
              <a:off x="530725" y="2049228"/>
              <a:ext cx="0" cy="762900"/>
            </a:xfrm>
            <a:prstGeom prst="straightConnector1">
              <a:avLst/>
            </a:prstGeom>
            <a:noFill/>
            <a:ln w="19050" cap="flat" cmpd="sng">
              <a:solidFill>
                <a:srgbClr val="000000"/>
              </a:solidFill>
              <a:prstDash val="solid"/>
              <a:round/>
              <a:headEnd type="triangle" w="med" len="med"/>
              <a:tailEnd type="none" w="med" len="med"/>
            </a:ln>
          </p:spPr>
        </p:cxnSp>
      </p:grpSp>
      <p:cxnSp>
        <p:nvCxnSpPr>
          <p:cNvPr id="8" name="Google Shape;137;p20">
            <a:extLst>
              <a:ext uri="{FF2B5EF4-FFF2-40B4-BE49-F238E27FC236}">
                <a16:creationId xmlns:a16="http://schemas.microsoft.com/office/drawing/2014/main" id="{5D45EE31-6DD3-0D3F-CAE8-A5A1596C1DA1}"/>
              </a:ext>
            </a:extLst>
          </p:cNvPr>
          <p:cNvCxnSpPr>
            <a:cxnSpLocks/>
          </p:cNvCxnSpPr>
          <p:nvPr/>
        </p:nvCxnSpPr>
        <p:spPr>
          <a:xfrm flipV="1">
            <a:off x="4352902" y="3665693"/>
            <a:ext cx="6237030" cy="26921"/>
          </a:xfrm>
          <a:prstGeom prst="straightConnector1">
            <a:avLst/>
          </a:prstGeom>
          <a:noFill/>
          <a:ln w="19050" cap="flat" cmpd="sng">
            <a:solidFill>
              <a:srgbClr val="000000"/>
            </a:solidFill>
            <a:prstDash val="solid"/>
            <a:round/>
            <a:headEnd type="none" w="med" len="med"/>
            <a:tailEnd type="triangle" w="med" len="med"/>
          </a:ln>
        </p:spPr>
      </p:cxnSp>
      <p:sp>
        <p:nvSpPr>
          <p:cNvPr id="11" name="Google Shape;462;p34">
            <a:extLst>
              <a:ext uri="{FF2B5EF4-FFF2-40B4-BE49-F238E27FC236}">
                <a16:creationId xmlns:a16="http://schemas.microsoft.com/office/drawing/2014/main" id="{28ABBCE8-8A64-471E-24A8-328C09E7B373}"/>
              </a:ext>
            </a:extLst>
          </p:cNvPr>
          <p:cNvSpPr txBox="1"/>
          <p:nvPr/>
        </p:nvSpPr>
        <p:spPr>
          <a:xfrm>
            <a:off x="6690956" y="3282378"/>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4</a:t>
            </a:r>
            <a:endParaRPr dirty="0">
              <a:latin typeface="Calibri"/>
              <a:ea typeface="Calibri"/>
              <a:cs typeface="Calibri"/>
              <a:sym typeface="Calibri"/>
            </a:endParaRPr>
          </a:p>
        </p:txBody>
      </p:sp>
      <p:sp>
        <p:nvSpPr>
          <p:cNvPr id="7" name="Google Shape;462;p34">
            <a:extLst>
              <a:ext uri="{FF2B5EF4-FFF2-40B4-BE49-F238E27FC236}">
                <a16:creationId xmlns:a16="http://schemas.microsoft.com/office/drawing/2014/main" id="{91067A93-F079-A43C-5FA3-70AC3FDD5B86}"/>
              </a:ext>
            </a:extLst>
          </p:cNvPr>
          <p:cNvSpPr txBox="1"/>
          <p:nvPr/>
        </p:nvSpPr>
        <p:spPr>
          <a:xfrm>
            <a:off x="7917176" y="2819729"/>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3</a:t>
            </a:r>
          </a:p>
        </p:txBody>
      </p:sp>
      <p:cxnSp>
        <p:nvCxnSpPr>
          <p:cNvPr id="10" name="Google Shape;168;p21">
            <a:extLst>
              <a:ext uri="{FF2B5EF4-FFF2-40B4-BE49-F238E27FC236}">
                <a16:creationId xmlns:a16="http://schemas.microsoft.com/office/drawing/2014/main" id="{3D11DA06-24FC-847B-3ACB-85F702096220}"/>
              </a:ext>
            </a:extLst>
          </p:cNvPr>
          <p:cNvCxnSpPr>
            <a:cxnSpLocks/>
          </p:cNvCxnSpPr>
          <p:nvPr/>
        </p:nvCxnSpPr>
        <p:spPr>
          <a:xfrm flipV="1">
            <a:off x="4197894" y="2638793"/>
            <a:ext cx="6162234" cy="641955"/>
          </a:xfrm>
          <a:prstGeom prst="straightConnector1">
            <a:avLst/>
          </a:prstGeom>
          <a:noFill/>
          <a:ln w="19050" cap="flat" cmpd="sng">
            <a:solidFill>
              <a:srgbClr val="000000"/>
            </a:solidFill>
            <a:prstDash val="solid"/>
            <a:round/>
            <a:headEnd type="triangle" w="med" len="med"/>
            <a:tailEnd type="none" w="med" len="med"/>
          </a:ln>
        </p:spPr>
      </p:cxnSp>
      <p:sp>
        <p:nvSpPr>
          <p:cNvPr id="12" name="Google Shape;462;p34">
            <a:extLst>
              <a:ext uri="{FF2B5EF4-FFF2-40B4-BE49-F238E27FC236}">
                <a16:creationId xmlns:a16="http://schemas.microsoft.com/office/drawing/2014/main" id="{0B833216-53A5-7C3C-C13C-92D37D9EF4E3}"/>
              </a:ext>
            </a:extLst>
          </p:cNvPr>
          <p:cNvSpPr txBox="1"/>
          <p:nvPr/>
        </p:nvSpPr>
        <p:spPr>
          <a:xfrm>
            <a:off x="7035914" y="2396951"/>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2a</a:t>
            </a:r>
            <a:endParaRPr dirty="0">
              <a:latin typeface="Calibri"/>
              <a:ea typeface="Calibri"/>
              <a:cs typeface="Calibri"/>
              <a:sym typeface="Calibri"/>
            </a:endParaRPr>
          </a:p>
        </p:txBody>
      </p:sp>
      <p:cxnSp>
        <p:nvCxnSpPr>
          <p:cNvPr id="13" name="Google Shape;137;p20">
            <a:extLst>
              <a:ext uri="{FF2B5EF4-FFF2-40B4-BE49-F238E27FC236}">
                <a16:creationId xmlns:a16="http://schemas.microsoft.com/office/drawing/2014/main" id="{C8E6E987-A8F8-554D-8F75-4B2CE2B8561F}"/>
              </a:ext>
            </a:extLst>
          </p:cNvPr>
          <p:cNvCxnSpPr>
            <a:cxnSpLocks/>
          </p:cNvCxnSpPr>
          <p:nvPr/>
        </p:nvCxnSpPr>
        <p:spPr>
          <a:xfrm flipV="1">
            <a:off x="4329710" y="2451320"/>
            <a:ext cx="6030418" cy="665024"/>
          </a:xfrm>
          <a:prstGeom prst="straightConnector1">
            <a:avLst/>
          </a:prstGeom>
          <a:noFill/>
          <a:ln w="19050" cap="flat" cmpd="sng">
            <a:solidFill>
              <a:srgbClr val="000000"/>
            </a:solidFill>
            <a:prstDash val="solid"/>
            <a:round/>
            <a:headEnd type="none" w="med" len="med"/>
            <a:tailEnd type="triangle" w="med" len="med"/>
          </a:ln>
        </p:spPr>
      </p:cxnSp>
      <p:cxnSp>
        <p:nvCxnSpPr>
          <p:cNvPr id="6" name="Google Shape;168;p21">
            <a:extLst>
              <a:ext uri="{FF2B5EF4-FFF2-40B4-BE49-F238E27FC236}">
                <a16:creationId xmlns:a16="http://schemas.microsoft.com/office/drawing/2014/main" id="{8A9E9E50-7E5E-79F2-1B3D-08F3D0C9C18C}"/>
              </a:ext>
            </a:extLst>
          </p:cNvPr>
          <p:cNvCxnSpPr>
            <a:cxnSpLocks/>
          </p:cNvCxnSpPr>
          <p:nvPr/>
        </p:nvCxnSpPr>
        <p:spPr>
          <a:xfrm flipV="1">
            <a:off x="4281620" y="3806749"/>
            <a:ext cx="6308312" cy="55744"/>
          </a:xfrm>
          <a:prstGeom prst="straightConnector1">
            <a:avLst/>
          </a:prstGeom>
          <a:noFill/>
          <a:ln w="19050" cap="flat" cmpd="sng">
            <a:solidFill>
              <a:srgbClr val="000000"/>
            </a:solidFill>
            <a:prstDash val="solid"/>
            <a:round/>
            <a:headEnd type="triangle" w="med" len="med"/>
            <a:tailEnd type="none" w="med" len="med"/>
          </a:ln>
        </p:spPr>
      </p:cxnSp>
      <p:sp>
        <p:nvSpPr>
          <p:cNvPr id="18" name="Google Shape;462;p34">
            <a:extLst>
              <a:ext uri="{FF2B5EF4-FFF2-40B4-BE49-F238E27FC236}">
                <a16:creationId xmlns:a16="http://schemas.microsoft.com/office/drawing/2014/main" id="{8403D3CC-CFE2-AC8B-5D3C-51ACEF91C229}"/>
              </a:ext>
            </a:extLst>
          </p:cNvPr>
          <p:cNvSpPr txBox="1"/>
          <p:nvPr/>
        </p:nvSpPr>
        <p:spPr>
          <a:xfrm>
            <a:off x="6675437" y="3793113"/>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5</a:t>
            </a:r>
            <a:endParaRPr dirty="0">
              <a:latin typeface="Calibri"/>
              <a:ea typeface="Calibri"/>
              <a:cs typeface="Calibri"/>
              <a:sym typeface="Calibri"/>
            </a:endParaRPr>
          </a:p>
        </p:txBody>
      </p:sp>
      <p:cxnSp>
        <p:nvCxnSpPr>
          <p:cNvPr id="9" name="Google Shape;137;p20">
            <a:extLst>
              <a:ext uri="{FF2B5EF4-FFF2-40B4-BE49-F238E27FC236}">
                <a16:creationId xmlns:a16="http://schemas.microsoft.com/office/drawing/2014/main" id="{BB833358-C201-9994-476D-FBE75A31740C}"/>
              </a:ext>
            </a:extLst>
          </p:cNvPr>
          <p:cNvCxnSpPr>
            <a:cxnSpLocks/>
            <a:endCxn id="47" idx="1"/>
          </p:cNvCxnSpPr>
          <p:nvPr/>
        </p:nvCxnSpPr>
        <p:spPr>
          <a:xfrm>
            <a:off x="4281620" y="4239666"/>
            <a:ext cx="6109545" cy="350094"/>
          </a:xfrm>
          <a:prstGeom prst="straightConnector1">
            <a:avLst/>
          </a:prstGeom>
          <a:noFill/>
          <a:ln w="19050" cap="flat" cmpd="sng">
            <a:solidFill>
              <a:srgbClr val="000000"/>
            </a:solidFill>
            <a:prstDash val="solid"/>
            <a:round/>
            <a:headEnd type="none" w="med" len="med"/>
            <a:tailEnd type="triangle" w="med" len="med"/>
          </a:ln>
        </p:spPr>
      </p:cxnSp>
      <p:sp>
        <p:nvSpPr>
          <p:cNvPr id="15" name="Google Shape;462;p34">
            <a:extLst>
              <a:ext uri="{FF2B5EF4-FFF2-40B4-BE49-F238E27FC236}">
                <a16:creationId xmlns:a16="http://schemas.microsoft.com/office/drawing/2014/main" id="{C12C8C55-0F10-92E1-42B1-240A33175271}"/>
              </a:ext>
            </a:extLst>
          </p:cNvPr>
          <p:cNvSpPr txBox="1"/>
          <p:nvPr/>
        </p:nvSpPr>
        <p:spPr>
          <a:xfrm>
            <a:off x="7365353" y="4056451"/>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6</a:t>
            </a:r>
            <a:endParaRPr dirty="0">
              <a:latin typeface="Calibri"/>
              <a:ea typeface="Calibri"/>
              <a:cs typeface="Calibri"/>
              <a:sym typeface="Calibri"/>
            </a:endParaRPr>
          </a:p>
        </p:txBody>
      </p:sp>
      <p:cxnSp>
        <p:nvCxnSpPr>
          <p:cNvPr id="19" name="Google Shape;168;p21">
            <a:extLst>
              <a:ext uri="{FF2B5EF4-FFF2-40B4-BE49-F238E27FC236}">
                <a16:creationId xmlns:a16="http://schemas.microsoft.com/office/drawing/2014/main" id="{562304DB-66A3-81FB-C1F6-6881C939BEEB}"/>
              </a:ext>
            </a:extLst>
          </p:cNvPr>
          <p:cNvCxnSpPr>
            <a:cxnSpLocks/>
          </p:cNvCxnSpPr>
          <p:nvPr/>
        </p:nvCxnSpPr>
        <p:spPr>
          <a:xfrm>
            <a:off x="6003235" y="4447116"/>
            <a:ext cx="4387930" cy="257101"/>
          </a:xfrm>
          <a:prstGeom prst="straightConnector1">
            <a:avLst/>
          </a:prstGeom>
          <a:noFill/>
          <a:ln w="19050" cap="flat" cmpd="sng">
            <a:solidFill>
              <a:srgbClr val="000000"/>
            </a:solidFill>
            <a:prstDash val="solid"/>
            <a:round/>
            <a:headEnd type="triangle" w="med" len="med"/>
            <a:tailEnd type="none" w="med" len="med"/>
          </a:ln>
        </p:spPr>
      </p:cxnSp>
      <p:sp>
        <p:nvSpPr>
          <p:cNvPr id="23" name="Google Shape;462;p34">
            <a:extLst>
              <a:ext uri="{FF2B5EF4-FFF2-40B4-BE49-F238E27FC236}">
                <a16:creationId xmlns:a16="http://schemas.microsoft.com/office/drawing/2014/main" id="{3987A632-1BFD-BFE0-513A-AA5CDFE5A6D2}"/>
              </a:ext>
            </a:extLst>
          </p:cNvPr>
          <p:cNvSpPr txBox="1"/>
          <p:nvPr/>
        </p:nvSpPr>
        <p:spPr>
          <a:xfrm>
            <a:off x="7765905" y="4538343"/>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7</a:t>
            </a:r>
            <a:endParaRPr dirty="0">
              <a:latin typeface="Calibri"/>
              <a:ea typeface="Calibri"/>
              <a:cs typeface="Calibri"/>
              <a:sym typeface="Calibri"/>
            </a:endParaRPr>
          </a:p>
        </p:txBody>
      </p:sp>
      <p:sp>
        <p:nvSpPr>
          <p:cNvPr id="17" name="Google Shape;94;p18">
            <a:extLst>
              <a:ext uri="{FF2B5EF4-FFF2-40B4-BE49-F238E27FC236}">
                <a16:creationId xmlns:a16="http://schemas.microsoft.com/office/drawing/2014/main" id="{B17EE76C-83E4-210A-851D-867D5E5CBBFF}"/>
              </a:ext>
            </a:extLst>
          </p:cNvPr>
          <p:cNvSpPr txBox="1"/>
          <p:nvPr/>
        </p:nvSpPr>
        <p:spPr>
          <a:xfrm>
            <a:off x="10281037" y="6064602"/>
            <a:ext cx="1495363" cy="58745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latin typeface="Courier New"/>
                <a:ea typeface="Courier New"/>
                <a:cs typeface="Courier New"/>
                <a:sym typeface="Courier New"/>
              </a:rPr>
              <a:t>Attacker</a:t>
            </a:r>
            <a:endParaRPr b="1" dirty="0">
              <a:latin typeface="Calibri"/>
              <a:ea typeface="Calibri"/>
              <a:cs typeface="Calibri"/>
              <a:sym typeface="Calibri"/>
            </a:endParaRPr>
          </a:p>
        </p:txBody>
      </p:sp>
      <p:cxnSp>
        <p:nvCxnSpPr>
          <p:cNvPr id="28" name="Google Shape;168;p21">
            <a:extLst>
              <a:ext uri="{FF2B5EF4-FFF2-40B4-BE49-F238E27FC236}">
                <a16:creationId xmlns:a16="http://schemas.microsoft.com/office/drawing/2014/main" id="{743E5FB8-4FCA-3226-FCE1-3B951996951C}"/>
              </a:ext>
            </a:extLst>
          </p:cNvPr>
          <p:cNvCxnSpPr>
            <a:cxnSpLocks/>
          </p:cNvCxnSpPr>
          <p:nvPr/>
        </p:nvCxnSpPr>
        <p:spPr>
          <a:xfrm>
            <a:off x="4197894" y="6583680"/>
            <a:ext cx="5777744" cy="0"/>
          </a:xfrm>
          <a:prstGeom prst="straightConnector1">
            <a:avLst/>
          </a:prstGeom>
          <a:noFill/>
          <a:ln w="19050" cap="flat" cmpd="sng">
            <a:solidFill>
              <a:srgbClr val="FF0000"/>
            </a:solidFill>
            <a:prstDash val="solid"/>
            <a:round/>
            <a:headEnd type="triangle" w="med" len="med"/>
            <a:tailEnd type="none" w="med" len="med"/>
          </a:ln>
        </p:spPr>
      </p:cxnSp>
      <p:sp>
        <p:nvSpPr>
          <p:cNvPr id="32" name="Google Shape;462;p34">
            <a:extLst>
              <a:ext uri="{FF2B5EF4-FFF2-40B4-BE49-F238E27FC236}">
                <a16:creationId xmlns:a16="http://schemas.microsoft.com/office/drawing/2014/main" id="{45AE0BAC-8C25-FD15-F6C4-F0F545957342}"/>
              </a:ext>
            </a:extLst>
          </p:cNvPr>
          <p:cNvSpPr txBox="1"/>
          <p:nvPr/>
        </p:nvSpPr>
        <p:spPr>
          <a:xfrm>
            <a:off x="6919485" y="6198486"/>
            <a:ext cx="531042"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rgbClr val="FF0000"/>
                </a:solidFill>
                <a:latin typeface="Calibri"/>
                <a:ea typeface="Calibri"/>
                <a:cs typeface="Calibri"/>
                <a:sym typeface="Calibri"/>
              </a:rPr>
              <a:t>2b</a:t>
            </a:r>
            <a:endParaRPr dirty="0">
              <a:solidFill>
                <a:srgbClr val="FF0000"/>
              </a:solidFill>
              <a:latin typeface="Calibri"/>
              <a:ea typeface="Calibri"/>
              <a:cs typeface="Calibri"/>
              <a:sym typeface="Calibri"/>
            </a:endParaRPr>
          </a:p>
        </p:txBody>
      </p:sp>
      <p:cxnSp>
        <p:nvCxnSpPr>
          <p:cNvPr id="34" name="Google Shape;322;p25">
            <a:extLst>
              <a:ext uri="{FF2B5EF4-FFF2-40B4-BE49-F238E27FC236}">
                <a16:creationId xmlns:a16="http://schemas.microsoft.com/office/drawing/2014/main" id="{1A3765CF-18D9-5651-34A1-47CC9C6A2A9A}"/>
              </a:ext>
            </a:extLst>
          </p:cNvPr>
          <p:cNvCxnSpPr>
            <a:cxnSpLocks/>
          </p:cNvCxnSpPr>
          <p:nvPr/>
        </p:nvCxnSpPr>
        <p:spPr>
          <a:xfrm>
            <a:off x="4925031" y="3752344"/>
            <a:ext cx="5532061" cy="0"/>
          </a:xfrm>
          <a:prstGeom prst="straightConnector1">
            <a:avLst/>
          </a:prstGeom>
          <a:noFill/>
          <a:ln w="9525" cap="flat" cmpd="sng">
            <a:solidFill>
              <a:schemeClr val="dk2"/>
            </a:solidFill>
            <a:prstDash val="solid"/>
            <a:round/>
            <a:headEnd type="none" w="med" len="med"/>
            <a:tailEnd type="none" w="med" len="med"/>
          </a:ln>
        </p:spPr>
      </p:cxnSp>
      <p:grpSp>
        <p:nvGrpSpPr>
          <p:cNvPr id="42" name="Group 41">
            <a:extLst>
              <a:ext uri="{FF2B5EF4-FFF2-40B4-BE49-F238E27FC236}">
                <a16:creationId xmlns:a16="http://schemas.microsoft.com/office/drawing/2014/main" id="{E9B78F3B-7937-0C54-BA48-79E0C9BDEB9C}"/>
              </a:ext>
            </a:extLst>
          </p:cNvPr>
          <p:cNvGrpSpPr/>
          <p:nvPr/>
        </p:nvGrpSpPr>
        <p:grpSpPr>
          <a:xfrm>
            <a:off x="4578223" y="5150473"/>
            <a:ext cx="5014627" cy="1067017"/>
            <a:chOff x="4352902" y="355848"/>
            <a:chExt cx="5014627" cy="1067017"/>
          </a:xfrm>
        </p:grpSpPr>
        <p:sp>
          <p:nvSpPr>
            <p:cNvPr id="26" name="Google Shape;321;p25">
              <a:extLst>
                <a:ext uri="{FF2B5EF4-FFF2-40B4-BE49-F238E27FC236}">
                  <a16:creationId xmlns:a16="http://schemas.microsoft.com/office/drawing/2014/main" id="{2C408B25-28B4-A1BE-AADE-E253A4780BE7}"/>
                </a:ext>
              </a:extLst>
            </p:cNvPr>
            <p:cNvSpPr txBox="1"/>
            <p:nvPr/>
          </p:nvSpPr>
          <p:spPr>
            <a:xfrm>
              <a:off x="4352902" y="355848"/>
              <a:ext cx="5014627" cy="1067017"/>
            </a:xfrm>
            <a:prstGeom prst="rect">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chemeClr val="dk1"/>
                  </a:solidFill>
                </a:rPr>
                <a:t>“I don’t know. But I have delegated authority to the </a:t>
              </a:r>
              <a:r>
                <a:rPr lang="en" sz="1200" b="1" dirty="0">
                  <a:solidFill>
                    <a:schemeClr val="dk1"/>
                  </a:solidFill>
                  <a:latin typeface="Courier New"/>
                  <a:ea typeface="Courier New"/>
                  <a:cs typeface="Courier New"/>
                  <a:sym typeface="Courier New"/>
                </a:rPr>
                <a:t>fake1.google.com</a:t>
              </a:r>
              <a:r>
                <a:rPr lang="en" sz="1200" dirty="0">
                  <a:solidFill>
                    <a:schemeClr val="dk1"/>
                  </a:solidFill>
                </a:rPr>
                <a:t> NS. This response has ID </a:t>
              </a:r>
              <a:r>
                <a:rPr lang="en" sz="1200" b="1" dirty="0">
                  <a:solidFill>
                    <a:schemeClr val="accent4">
                      <a:lumMod val="20000"/>
                      <a:lumOff val="80000"/>
                    </a:schemeClr>
                  </a:solidFill>
                </a:rPr>
                <a:t>127</a:t>
              </a:r>
              <a:r>
                <a:rPr lang="en" sz="1200" dirty="0">
                  <a:solidFill>
                    <a:schemeClr val="dk1"/>
                  </a:solidFill>
                </a:rPr>
                <a:t>.</a:t>
              </a:r>
              <a:endParaRPr sz="1200" dirty="0">
                <a:solidFill>
                  <a:schemeClr val="dk1"/>
                </a:solidFill>
              </a:endParaRPr>
            </a:p>
            <a:p>
              <a:pPr marL="0" lvl="0" indent="0" algn="l" rtl="0">
                <a:spcBef>
                  <a:spcPts val="0"/>
                </a:spcBef>
                <a:spcAft>
                  <a:spcPts val="0"/>
                </a:spcAft>
                <a:buClr>
                  <a:schemeClr val="dk1"/>
                </a:buClr>
                <a:buSzPts val="1100"/>
                <a:buFont typeface="Arial"/>
                <a:buNone/>
              </a:pPr>
              <a:endParaRPr lang="en" sz="1200" dirty="0">
                <a:solidFill>
                  <a:schemeClr val="dk1"/>
                </a:solidFill>
              </a:endParaRPr>
            </a:p>
            <a:p>
              <a:pPr lvl="0">
                <a:buClr>
                  <a:schemeClr val="dk1"/>
                </a:buClr>
                <a:buSzPts val="1100"/>
              </a:pPr>
              <a:r>
                <a:rPr lang="en-US" sz="1200" b="1" dirty="0">
                  <a:solidFill>
                    <a:schemeClr val="dk1"/>
                  </a:solidFill>
                </a:rPr>
                <a:t>Authority: </a:t>
              </a:r>
              <a:r>
                <a:rPr lang="en" sz="1200" b="1" dirty="0">
                  <a:solidFill>
                    <a:schemeClr val="dk1"/>
                  </a:solidFill>
                  <a:latin typeface="Courier New"/>
                  <a:ea typeface="Courier New"/>
                  <a:cs typeface="Courier New"/>
                  <a:sym typeface="Courier New"/>
                </a:rPr>
                <a:t>fake1.google.com </a:t>
              </a:r>
              <a:r>
                <a:rPr lang="en-US" sz="1200" b="1" dirty="0">
                  <a:latin typeface="Courier New"/>
                  <a:cs typeface="Courier New"/>
                </a:rPr>
                <a:t>NS</a:t>
              </a:r>
              <a:r>
                <a:rPr lang="en-US" sz="1200" b="1" dirty="0">
                  <a:solidFill>
                    <a:srgbClr val="FF0000"/>
                  </a:solidFill>
                  <a:latin typeface="Courier New"/>
                  <a:cs typeface="Courier New"/>
                </a:rPr>
                <a:t> </a:t>
              </a:r>
              <a:r>
                <a:rPr lang="en-US" sz="1200" b="1" dirty="0">
                  <a:latin typeface="Courier New"/>
                  <a:cs typeface="Courier New"/>
                </a:rPr>
                <a:t>www.google.com. </a:t>
              </a:r>
              <a:endParaRPr sz="1200" dirty="0">
                <a:solidFill>
                  <a:schemeClr val="dk1"/>
                </a:solidFill>
              </a:endParaRPr>
            </a:p>
            <a:p>
              <a:pPr marL="0" lvl="0" indent="0" algn="l" rtl="0">
                <a:lnSpc>
                  <a:spcPct val="115000"/>
                </a:lnSpc>
                <a:spcBef>
                  <a:spcPts val="0"/>
                </a:spcBef>
                <a:spcAft>
                  <a:spcPts val="0"/>
                </a:spcAft>
                <a:buNone/>
              </a:pPr>
              <a:r>
                <a:rPr lang="en-US" sz="1200" b="1" dirty="0">
                  <a:solidFill>
                    <a:schemeClr val="dk1"/>
                  </a:solidFill>
                </a:rPr>
                <a:t>Additional: </a:t>
              </a:r>
              <a:r>
                <a:rPr lang="en-US" sz="1200" b="1" dirty="0">
                  <a:latin typeface="Courier New"/>
                  <a:cs typeface="Courier New"/>
                </a:rPr>
                <a:t>www.google.com </a:t>
              </a:r>
              <a:r>
                <a:rPr lang="en-US" sz="1200" b="1" dirty="0">
                  <a:solidFill>
                    <a:schemeClr val="dk1"/>
                  </a:solidFill>
                  <a:latin typeface="Courier New"/>
                  <a:cs typeface="Courier New"/>
                </a:rPr>
                <a:t>A </a:t>
              </a:r>
              <a:r>
                <a:rPr lang="en-US" sz="1200" b="1" dirty="0">
                  <a:solidFill>
                    <a:schemeClr val="accent4">
                      <a:lumMod val="20000"/>
                      <a:lumOff val="80000"/>
                    </a:schemeClr>
                  </a:solidFill>
                  <a:latin typeface="Courier New"/>
                  <a:cs typeface="Courier New"/>
                </a:rPr>
                <a:t>6.6.6.6</a:t>
              </a:r>
              <a:r>
                <a:rPr lang="en" sz="1200" dirty="0">
                  <a:solidFill>
                    <a:schemeClr val="dk1"/>
                  </a:solidFill>
                </a:rPr>
                <a:t>”</a:t>
              </a:r>
              <a:endParaRPr sz="1200" dirty="0"/>
            </a:p>
          </p:txBody>
        </p:sp>
        <p:cxnSp>
          <p:nvCxnSpPr>
            <p:cNvPr id="27" name="Google Shape;322;p25">
              <a:extLst>
                <a:ext uri="{FF2B5EF4-FFF2-40B4-BE49-F238E27FC236}">
                  <a16:creationId xmlns:a16="http://schemas.microsoft.com/office/drawing/2014/main" id="{A5ED6AF5-5326-6516-F6ED-C83777534F6F}"/>
                </a:ext>
              </a:extLst>
            </p:cNvPr>
            <p:cNvCxnSpPr>
              <a:cxnSpLocks/>
              <a:stCxn id="26" idx="1"/>
              <a:endCxn id="26" idx="3"/>
            </p:cNvCxnSpPr>
            <p:nvPr/>
          </p:nvCxnSpPr>
          <p:spPr>
            <a:xfrm>
              <a:off x="4352902" y="889357"/>
              <a:ext cx="5014627" cy="0"/>
            </a:xfrm>
            <a:prstGeom prst="straightConnector1">
              <a:avLst/>
            </a:prstGeom>
            <a:noFill/>
            <a:ln w="9525" cap="flat" cmpd="sng">
              <a:solidFill>
                <a:schemeClr val="dk2"/>
              </a:solidFill>
              <a:prstDash val="solid"/>
              <a:round/>
              <a:headEnd type="none" w="med" len="med"/>
              <a:tailEnd type="none" w="med" len="med"/>
            </a:ln>
          </p:spPr>
        </p:cxnSp>
      </p:grpSp>
      <p:sp>
        <p:nvSpPr>
          <p:cNvPr id="25" name="Google Shape;1819;p140">
            <a:extLst>
              <a:ext uri="{FF2B5EF4-FFF2-40B4-BE49-F238E27FC236}">
                <a16:creationId xmlns:a16="http://schemas.microsoft.com/office/drawing/2014/main" id="{8C667F9D-3892-7438-7B2B-BA1FE8107C16}"/>
              </a:ext>
            </a:extLst>
          </p:cNvPr>
          <p:cNvSpPr txBox="1">
            <a:spLocks noGrp="1"/>
          </p:cNvSpPr>
          <p:nvPr>
            <p:ph type="title"/>
          </p:nvPr>
        </p:nvSpPr>
        <p:spPr>
          <a:xfrm>
            <a:off x="415600" y="55919"/>
            <a:ext cx="11360800" cy="763600"/>
          </a:xfrm>
          <a:prstGeom prst="rect">
            <a:avLst/>
          </a:prstGeom>
        </p:spPr>
        <p:txBody>
          <a:bodyPr spcFirstLastPara="1" wrap="square" lIns="121900" tIns="121900" rIns="121900" bIns="121900" anchor="t" anchorCtr="0">
            <a:noAutofit/>
          </a:bodyPr>
          <a:lstStyle/>
          <a:p>
            <a:r>
              <a:rPr lang="en" sz="4400" dirty="0">
                <a:latin typeface="Aptos" panose="020B0004020202020204" pitchFamily="34" charset="0"/>
              </a:rPr>
              <a:t>Kaminsky Attack: Example</a:t>
            </a:r>
            <a:endParaRPr sz="4400" dirty="0">
              <a:latin typeface="Aptos" panose="020B0004020202020204" pitchFamily="34" charset="0"/>
            </a:endParaRPr>
          </a:p>
        </p:txBody>
      </p:sp>
      <p:sp>
        <p:nvSpPr>
          <p:cNvPr id="14" name="Google Shape;1278;p89">
            <a:extLst>
              <a:ext uri="{FF2B5EF4-FFF2-40B4-BE49-F238E27FC236}">
                <a16:creationId xmlns:a16="http://schemas.microsoft.com/office/drawing/2014/main" id="{84AD3317-0C97-D347-6651-F21C7A867DC1}"/>
              </a:ext>
            </a:extLst>
          </p:cNvPr>
          <p:cNvSpPr txBox="1"/>
          <p:nvPr/>
        </p:nvSpPr>
        <p:spPr>
          <a:xfrm>
            <a:off x="3784979" y="1397464"/>
            <a:ext cx="6030417" cy="520349"/>
          </a:xfrm>
          <a:prstGeom prst="rect">
            <a:avLst/>
          </a:prstGeom>
          <a:solidFill>
            <a:srgbClr val="C9DAF8"/>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dirty="0"/>
              <a:t>What if the attacker didn’t guess the ID number correctly?</a:t>
            </a:r>
            <a:endParaRPr dirty="0"/>
          </a:p>
        </p:txBody>
      </p:sp>
      <p:sp>
        <p:nvSpPr>
          <p:cNvPr id="24" name="Google Shape;1316;p90">
            <a:extLst>
              <a:ext uri="{FF2B5EF4-FFF2-40B4-BE49-F238E27FC236}">
                <a16:creationId xmlns:a16="http://schemas.microsoft.com/office/drawing/2014/main" id="{68FA8ACD-2ABD-EAD4-EC79-0D8ADBB37B21}"/>
              </a:ext>
            </a:extLst>
          </p:cNvPr>
          <p:cNvSpPr txBox="1"/>
          <p:nvPr/>
        </p:nvSpPr>
        <p:spPr>
          <a:xfrm>
            <a:off x="248521" y="5197258"/>
            <a:ext cx="3840671" cy="867344"/>
          </a:xfrm>
          <a:prstGeom prst="rect">
            <a:avLst/>
          </a:prstGeom>
          <a:solidFill>
            <a:srgbClr val="C9DAF8"/>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400" dirty="0"/>
              <a:t>The recursive resolver discards the response packet from attacker, because the ID does not match the ID from the request.</a:t>
            </a:r>
            <a:endParaRPr sz="1400" dirty="0"/>
          </a:p>
        </p:txBody>
      </p:sp>
      <p:sp>
        <p:nvSpPr>
          <p:cNvPr id="29" name="Google Shape;1337;p90">
            <a:extLst>
              <a:ext uri="{FF2B5EF4-FFF2-40B4-BE49-F238E27FC236}">
                <a16:creationId xmlns:a16="http://schemas.microsoft.com/office/drawing/2014/main" id="{039FBB83-D545-43AC-491E-AEFEE50FE1CE}"/>
              </a:ext>
            </a:extLst>
          </p:cNvPr>
          <p:cNvSpPr/>
          <p:nvPr/>
        </p:nvSpPr>
        <p:spPr>
          <a:xfrm>
            <a:off x="3738008" y="4339503"/>
            <a:ext cx="1713302" cy="1715509"/>
          </a:xfrm>
          <a:prstGeom prst="mathMultiply">
            <a:avLst>
              <a:gd name="adj1" fmla="val 8524"/>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285379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Google Shape;1389;p92">
            <a:extLst>
              <a:ext uri="{FF2B5EF4-FFF2-40B4-BE49-F238E27FC236}">
                <a16:creationId xmlns:a16="http://schemas.microsoft.com/office/drawing/2014/main" id="{F65AD95C-FA49-87DF-BD49-4F9F7F17DADB}"/>
              </a:ext>
            </a:extLst>
          </p:cNvPr>
          <p:cNvSpPr txBox="1"/>
          <p:nvPr/>
        </p:nvSpPr>
        <p:spPr>
          <a:xfrm>
            <a:off x="6778839" y="1752073"/>
            <a:ext cx="4773300" cy="364800"/>
          </a:xfrm>
          <a:prstGeom prst="rect">
            <a:avLst/>
          </a:prstGeom>
          <a:solidFill>
            <a:srgbClr val="FCE5CD"/>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200"/>
              <a:t>“</a:t>
            </a:r>
            <a:r>
              <a:rPr lang="en" sz="1200" b="1">
                <a:latin typeface="Courier New"/>
                <a:ea typeface="Courier New"/>
                <a:cs typeface="Courier New"/>
                <a:sym typeface="Courier New"/>
              </a:rPr>
              <a:t>fake7.google.com </a:t>
            </a:r>
            <a:r>
              <a:rPr lang="en" sz="1200"/>
              <a:t>doesn’t exist! </a:t>
            </a:r>
            <a:r>
              <a:rPr lang="en" sz="1200">
                <a:solidFill>
                  <a:schemeClr val="dk1"/>
                </a:solidFill>
              </a:rPr>
              <a:t>This response has ID 432.”</a:t>
            </a:r>
            <a:endParaRPr sz="1200"/>
          </a:p>
        </p:txBody>
      </p:sp>
      <p:sp>
        <p:nvSpPr>
          <p:cNvPr id="12" name="Google Shape;1390;p92">
            <a:extLst>
              <a:ext uri="{FF2B5EF4-FFF2-40B4-BE49-F238E27FC236}">
                <a16:creationId xmlns:a16="http://schemas.microsoft.com/office/drawing/2014/main" id="{7E9A0099-7B07-6461-2205-EA6461B8B022}"/>
              </a:ext>
            </a:extLst>
          </p:cNvPr>
          <p:cNvSpPr txBox="1"/>
          <p:nvPr/>
        </p:nvSpPr>
        <p:spPr>
          <a:xfrm>
            <a:off x="5763614" y="1752073"/>
            <a:ext cx="4773300" cy="364800"/>
          </a:xfrm>
          <a:prstGeom prst="rect">
            <a:avLst/>
          </a:prstGeom>
          <a:solidFill>
            <a:srgbClr val="FCE5CD"/>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200"/>
              <a:t>“</a:t>
            </a:r>
            <a:r>
              <a:rPr lang="en" sz="1200" b="1">
                <a:latin typeface="Courier New"/>
                <a:ea typeface="Courier New"/>
                <a:cs typeface="Courier New"/>
                <a:sym typeface="Courier New"/>
              </a:rPr>
              <a:t>fake3.google.com </a:t>
            </a:r>
            <a:r>
              <a:rPr lang="en" sz="1200"/>
              <a:t>doesn’t exist! </a:t>
            </a:r>
            <a:r>
              <a:rPr lang="en" sz="1200">
                <a:solidFill>
                  <a:schemeClr val="dk1"/>
                </a:solidFill>
              </a:rPr>
              <a:t>This response has ID 324.”</a:t>
            </a:r>
            <a:endParaRPr sz="1200"/>
          </a:p>
        </p:txBody>
      </p:sp>
      <p:sp>
        <p:nvSpPr>
          <p:cNvPr id="13" name="Google Shape;1391;p92">
            <a:extLst>
              <a:ext uri="{FF2B5EF4-FFF2-40B4-BE49-F238E27FC236}">
                <a16:creationId xmlns:a16="http://schemas.microsoft.com/office/drawing/2014/main" id="{BC143011-DE9B-1332-BA6C-A8AE71A50403}"/>
              </a:ext>
            </a:extLst>
          </p:cNvPr>
          <p:cNvSpPr txBox="1"/>
          <p:nvPr/>
        </p:nvSpPr>
        <p:spPr>
          <a:xfrm>
            <a:off x="340796" y="987635"/>
            <a:ext cx="11340736" cy="494996"/>
          </a:xfrm>
          <a:prstGeom prst="rect">
            <a:avLst/>
          </a:prstGeom>
          <a:solidFill>
            <a:srgbClr val="C9DAF8"/>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2000" dirty="0"/>
              <a:t>Attacker can use the DNS requests from his/her other image tags to try to guess the ID number</a:t>
            </a:r>
            <a:endParaRPr sz="2000" dirty="0"/>
          </a:p>
        </p:txBody>
      </p:sp>
      <p:sp>
        <p:nvSpPr>
          <p:cNvPr id="14" name="Google Shape;1392;p92">
            <a:extLst>
              <a:ext uri="{FF2B5EF4-FFF2-40B4-BE49-F238E27FC236}">
                <a16:creationId xmlns:a16="http://schemas.microsoft.com/office/drawing/2014/main" id="{BCD9A620-E0FA-710C-5043-D3FB3E2DDDAD}"/>
              </a:ext>
            </a:extLst>
          </p:cNvPr>
          <p:cNvSpPr txBox="1"/>
          <p:nvPr/>
        </p:nvSpPr>
        <p:spPr>
          <a:xfrm>
            <a:off x="6478889" y="1972648"/>
            <a:ext cx="4773300" cy="364800"/>
          </a:xfrm>
          <a:prstGeom prst="rect">
            <a:avLst/>
          </a:prstGeom>
          <a:solidFill>
            <a:srgbClr val="FCE5CD"/>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200"/>
              <a:t>“</a:t>
            </a:r>
            <a:r>
              <a:rPr lang="en" sz="1200" b="1">
                <a:latin typeface="Courier New"/>
                <a:ea typeface="Courier New"/>
                <a:cs typeface="Courier New"/>
                <a:sym typeface="Courier New"/>
              </a:rPr>
              <a:t>fake4.google.com </a:t>
            </a:r>
            <a:r>
              <a:rPr lang="en" sz="1200"/>
              <a:t>doesn’t exist! </a:t>
            </a:r>
            <a:r>
              <a:rPr lang="en" sz="1200">
                <a:solidFill>
                  <a:schemeClr val="dk1"/>
                </a:solidFill>
              </a:rPr>
              <a:t>This response has ID 691.”</a:t>
            </a:r>
            <a:endParaRPr sz="1200"/>
          </a:p>
        </p:txBody>
      </p:sp>
      <p:cxnSp>
        <p:nvCxnSpPr>
          <p:cNvPr id="15" name="Google Shape;1393;p92">
            <a:extLst>
              <a:ext uri="{FF2B5EF4-FFF2-40B4-BE49-F238E27FC236}">
                <a16:creationId xmlns:a16="http://schemas.microsoft.com/office/drawing/2014/main" id="{31DF2A33-4C3E-F715-B196-62B8FC0FF121}"/>
              </a:ext>
            </a:extLst>
          </p:cNvPr>
          <p:cNvCxnSpPr/>
          <p:nvPr/>
        </p:nvCxnSpPr>
        <p:spPr>
          <a:xfrm flipH="1">
            <a:off x="1835526" y="1970351"/>
            <a:ext cx="447600" cy="417000"/>
          </a:xfrm>
          <a:prstGeom prst="bentConnector3">
            <a:avLst>
              <a:gd name="adj1" fmla="val 98302"/>
            </a:avLst>
          </a:prstGeom>
          <a:noFill/>
          <a:ln w="57150" cap="flat" cmpd="sng">
            <a:solidFill>
              <a:schemeClr val="accent4">
                <a:lumMod val="75000"/>
              </a:schemeClr>
            </a:solidFill>
            <a:prstDash val="solid"/>
            <a:round/>
            <a:headEnd type="none" w="med" len="med"/>
            <a:tailEnd type="triangle" w="med" len="med"/>
          </a:ln>
        </p:spPr>
      </p:cxnSp>
      <p:grpSp>
        <p:nvGrpSpPr>
          <p:cNvPr id="16" name="Google Shape;1394;p92">
            <a:extLst>
              <a:ext uri="{FF2B5EF4-FFF2-40B4-BE49-F238E27FC236}">
                <a16:creationId xmlns:a16="http://schemas.microsoft.com/office/drawing/2014/main" id="{433CBFEF-0349-81C6-9E82-D58F9B615A8C}"/>
              </a:ext>
            </a:extLst>
          </p:cNvPr>
          <p:cNvGrpSpPr/>
          <p:nvPr/>
        </p:nvGrpSpPr>
        <p:grpSpPr>
          <a:xfrm>
            <a:off x="5535626" y="3110862"/>
            <a:ext cx="4240800" cy="912000"/>
            <a:chOff x="3361138" y="2402638"/>
            <a:chExt cx="4240800" cy="912000"/>
          </a:xfrm>
        </p:grpSpPr>
        <p:sp>
          <p:nvSpPr>
            <p:cNvPr id="17" name="Google Shape;1395;p92">
              <a:extLst>
                <a:ext uri="{FF2B5EF4-FFF2-40B4-BE49-F238E27FC236}">
                  <a16:creationId xmlns:a16="http://schemas.microsoft.com/office/drawing/2014/main" id="{88F0A344-4AF0-8A51-315D-90B6D672470C}"/>
                </a:ext>
              </a:extLst>
            </p:cNvPr>
            <p:cNvSpPr txBox="1"/>
            <p:nvPr/>
          </p:nvSpPr>
          <p:spPr>
            <a:xfrm>
              <a:off x="3361138" y="2402638"/>
              <a:ext cx="4240800" cy="912000"/>
            </a:xfrm>
            <a:prstGeom prst="rect">
              <a:avLst/>
            </a:prstGeom>
            <a:solidFill>
              <a:srgbClr val="F4CCCC"/>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rPr>
                <a:t>“I don’t know. But I have delegated authority to the </a:t>
              </a:r>
              <a:r>
                <a:rPr lang="en" sz="1200" b="1">
                  <a:solidFill>
                    <a:schemeClr val="dk1"/>
                  </a:solidFill>
                  <a:latin typeface="Courier New"/>
                  <a:ea typeface="Courier New"/>
                  <a:cs typeface="Courier New"/>
                  <a:sym typeface="Courier New"/>
                </a:rPr>
                <a:t>fake7.google.com.</a:t>
              </a:r>
              <a:r>
                <a:rPr lang="en" sz="1200">
                  <a:solidFill>
                    <a:schemeClr val="dk1"/>
                  </a:solidFill>
                </a:rPr>
                <a:t> NS. This response has ID 774.</a:t>
              </a:r>
              <a:endParaRPr sz="1200">
                <a:solidFill>
                  <a:schemeClr val="dk1"/>
                </a:solidFill>
              </a:endParaRPr>
            </a:p>
            <a:p>
              <a:pPr marL="0" lvl="0" indent="0" algn="l" rtl="0">
                <a:spcBef>
                  <a:spcPts val="0"/>
                </a:spcBef>
                <a:spcAft>
                  <a:spcPts val="0"/>
                </a:spcAft>
                <a:buNone/>
              </a:pPr>
              <a:r>
                <a:rPr lang="en" sz="1200">
                  <a:solidFill>
                    <a:schemeClr val="dk1"/>
                  </a:solidFill>
                </a:rPr>
                <a:t>Authority: </a:t>
              </a:r>
              <a:r>
                <a:rPr lang="en" sz="1200" b="1">
                  <a:solidFill>
                    <a:schemeClr val="dk1"/>
                  </a:solidFill>
                  <a:latin typeface="Courier New"/>
                  <a:ea typeface="Courier New"/>
                  <a:cs typeface="Courier New"/>
                  <a:sym typeface="Courier New"/>
                </a:rPr>
                <a:t>fake7.google.com.</a:t>
              </a:r>
              <a:r>
                <a:rPr lang="en" sz="1200">
                  <a:solidFill>
                    <a:schemeClr val="dk1"/>
                  </a:solidFill>
                </a:rPr>
                <a:t> NS  </a:t>
              </a:r>
              <a:r>
                <a:rPr lang="en" sz="1200" b="1">
                  <a:solidFill>
                    <a:schemeClr val="dk1"/>
                  </a:solidFill>
                  <a:latin typeface="Courier New"/>
                  <a:ea typeface="Courier New"/>
                  <a:cs typeface="Courier New"/>
                  <a:sym typeface="Courier New"/>
                </a:rPr>
                <a:t>www.google.com</a:t>
              </a:r>
              <a:endParaRPr sz="1200">
                <a:solidFill>
                  <a:schemeClr val="dk1"/>
                </a:solidFill>
              </a:endParaRPr>
            </a:p>
            <a:p>
              <a:pPr marL="0" lvl="0" indent="0" algn="l" rtl="0">
                <a:lnSpc>
                  <a:spcPct val="115000"/>
                </a:lnSpc>
                <a:spcBef>
                  <a:spcPts val="0"/>
                </a:spcBef>
                <a:spcAft>
                  <a:spcPts val="0"/>
                </a:spcAft>
                <a:buNone/>
              </a:pPr>
              <a:r>
                <a:rPr lang="en" sz="1200">
                  <a:solidFill>
                    <a:schemeClr val="dk1"/>
                  </a:solidFill>
                </a:rPr>
                <a:t>Additional:  </a:t>
              </a:r>
              <a:r>
                <a:rPr lang="en" sz="1200" b="1">
                  <a:solidFill>
                    <a:schemeClr val="dk1"/>
                  </a:solidFill>
                  <a:latin typeface="Courier New"/>
                  <a:ea typeface="Courier New"/>
                  <a:cs typeface="Courier New"/>
                  <a:sym typeface="Courier New"/>
                </a:rPr>
                <a:t>www.google.com.</a:t>
              </a:r>
              <a:r>
                <a:rPr lang="en" sz="1200">
                  <a:solidFill>
                    <a:schemeClr val="dk1"/>
                  </a:solidFill>
                </a:rPr>
                <a:t> A </a:t>
              </a:r>
              <a:r>
                <a:rPr lang="en" sz="1200" b="1">
                  <a:solidFill>
                    <a:schemeClr val="dk1"/>
                  </a:solidFill>
                  <a:latin typeface="Courier New"/>
                  <a:ea typeface="Courier New"/>
                  <a:cs typeface="Courier New"/>
                  <a:sym typeface="Courier New"/>
                </a:rPr>
                <a:t>6.6.6.6</a:t>
              </a:r>
              <a:r>
                <a:rPr lang="en" sz="1200">
                  <a:solidFill>
                    <a:schemeClr val="dk1"/>
                  </a:solidFill>
                </a:rPr>
                <a:t>”</a:t>
              </a:r>
              <a:endParaRPr sz="1200"/>
            </a:p>
          </p:txBody>
        </p:sp>
        <p:cxnSp>
          <p:nvCxnSpPr>
            <p:cNvPr id="18" name="Google Shape;1396;p92">
              <a:extLst>
                <a:ext uri="{FF2B5EF4-FFF2-40B4-BE49-F238E27FC236}">
                  <a16:creationId xmlns:a16="http://schemas.microsoft.com/office/drawing/2014/main" id="{EB3569A9-BDD9-F479-9892-30C042DDD7C7}"/>
                </a:ext>
              </a:extLst>
            </p:cNvPr>
            <p:cNvCxnSpPr>
              <a:stCxn id="17" idx="1"/>
              <a:endCxn id="17" idx="3"/>
            </p:cNvCxnSpPr>
            <p:nvPr/>
          </p:nvCxnSpPr>
          <p:spPr>
            <a:xfrm>
              <a:off x="3361138" y="2858638"/>
              <a:ext cx="4240800" cy="0"/>
            </a:xfrm>
            <a:prstGeom prst="straightConnector1">
              <a:avLst/>
            </a:prstGeom>
            <a:noFill/>
            <a:ln w="9525" cap="flat" cmpd="sng">
              <a:solidFill>
                <a:schemeClr val="dk2"/>
              </a:solidFill>
              <a:prstDash val="solid"/>
              <a:round/>
              <a:headEnd type="none" w="med" len="med"/>
              <a:tailEnd type="none" w="med" len="med"/>
            </a:ln>
          </p:spPr>
        </p:cxnSp>
      </p:grpSp>
      <p:grpSp>
        <p:nvGrpSpPr>
          <p:cNvPr id="19" name="Google Shape;1397;p92">
            <a:extLst>
              <a:ext uri="{FF2B5EF4-FFF2-40B4-BE49-F238E27FC236}">
                <a16:creationId xmlns:a16="http://schemas.microsoft.com/office/drawing/2014/main" id="{C51B4864-4B02-9445-A357-F4F3C1C7093D}"/>
              </a:ext>
            </a:extLst>
          </p:cNvPr>
          <p:cNvGrpSpPr/>
          <p:nvPr/>
        </p:nvGrpSpPr>
        <p:grpSpPr>
          <a:xfrm>
            <a:off x="6544276" y="3262662"/>
            <a:ext cx="4240800" cy="912000"/>
            <a:chOff x="4903188" y="1792438"/>
            <a:chExt cx="4240800" cy="912000"/>
          </a:xfrm>
        </p:grpSpPr>
        <p:sp>
          <p:nvSpPr>
            <p:cNvPr id="20" name="Google Shape;1398;p92">
              <a:extLst>
                <a:ext uri="{FF2B5EF4-FFF2-40B4-BE49-F238E27FC236}">
                  <a16:creationId xmlns:a16="http://schemas.microsoft.com/office/drawing/2014/main" id="{680DD333-B13E-A045-BF4F-2E0B1713FF03}"/>
                </a:ext>
              </a:extLst>
            </p:cNvPr>
            <p:cNvSpPr txBox="1"/>
            <p:nvPr/>
          </p:nvSpPr>
          <p:spPr>
            <a:xfrm>
              <a:off x="4903188" y="1792438"/>
              <a:ext cx="4240800" cy="912000"/>
            </a:xfrm>
            <a:prstGeom prst="rect">
              <a:avLst/>
            </a:prstGeom>
            <a:solidFill>
              <a:srgbClr val="F4CCCC"/>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rPr>
                <a:t>“I don’t know. But I have delegated authority to the </a:t>
              </a:r>
              <a:r>
                <a:rPr lang="en" sz="1200" b="1">
                  <a:solidFill>
                    <a:schemeClr val="dk1"/>
                  </a:solidFill>
                  <a:latin typeface="Courier New"/>
                  <a:ea typeface="Courier New"/>
                  <a:cs typeface="Courier New"/>
                  <a:sym typeface="Courier New"/>
                </a:rPr>
                <a:t>fake3.google.com.</a:t>
              </a:r>
              <a:r>
                <a:rPr lang="en" sz="1200">
                  <a:solidFill>
                    <a:schemeClr val="dk1"/>
                  </a:solidFill>
                </a:rPr>
                <a:t> NS. This response has ID 425.</a:t>
              </a:r>
              <a:endParaRPr sz="1200">
                <a:solidFill>
                  <a:schemeClr val="dk1"/>
                </a:solidFill>
              </a:endParaRPr>
            </a:p>
            <a:p>
              <a:pPr marL="0" lvl="0" indent="0" algn="l" rtl="0">
                <a:spcBef>
                  <a:spcPts val="0"/>
                </a:spcBef>
                <a:spcAft>
                  <a:spcPts val="0"/>
                </a:spcAft>
                <a:buNone/>
              </a:pPr>
              <a:r>
                <a:rPr lang="en" sz="1200">
                  <a:solidFill>
                    <a:schemeClr val="dk1"/>
                  </a:solidFill>
                </a:rPr>
                <a:t>Authority: </a:t>
              </a:r>
              <a:r>
                <a:rPr lang="en" sz="1200" b="1">
                  <a:solidFill>
                    <a:schemeClr val="dk1"/>
                  </a:solidFill>
                  <a:latin typeface="Courier New"/>
                  <a:ea typeface="Courier New"/>
                  <a:cs typeface="Courier New"/>
                  <a:sym typeface="Courier New"/>
                </a:rPr>
                <a:t>fake2.google.com.</a:t>
              </a:r>
              <a:r>
                <a:rPr lang="en" sz="1200">
                  <a:solidFill>
                    <a:schemeClr val="dk1"/>
                  </a:solidFill>
                </a:rPr>
                <a:t> NS  </a:t>
              </a:r>
              <a:r>
                <a:rPr lang="en" sz="1200" b="1">
                  <a:solidFill>
                    <a:schemeClr val="dk1"/>
                  </a:solidFill>
                  <a:latin typeface="Courier New"/>
                  <a:ea typeface="Courier New"/>
                  <a:cs typeface="Courier New"/>
                  <a:sym typeface="Courier New"/>
                </a:rPr>
                <a:t>www.google.com</a:t>
              </a:r>
              <a:endParaRPr sz="1200">
                <a:solidFill>
                  <a:schemeClr val="dk1"/>
                </a:solidFill>
              </a:endParaRPr>
            </a:p>
            <a:p>
              <a:pPr marL="0" lvl="0" indent="0" algn="l" rtl="0">
                <a:lnSpc>
                  <a:spcPct val="115000"/>
                </a:lnSpc>
                <a:spcBef>
                  <a:spcPts val="0"/>
                </a:spcBef>
                <a:spcAft>
                  <a:spcPts val="0"/>
                </a:spcAft>
                <a:buNone/>
              </a:pPr>
              <a:r>
                <a:rPr lang="en" sz="1200">
                  <a:solidFill>
                    <a:schemeClr val="dk1"/>
                  </a:solidFill>
                </a:rPr>
                <a:t>Additional:  </a:t>
              </a:r>
              <a:r>
                <a:rPr lang="en" sz="1200" b="1">
                  <a:solidFill>
                    <a:schemeClr val="dk1"/>
                  </a:solidFill>
                  <a:latin typeface="Courier New"/>
                  <a:ea typeface="Courier New"/>
                  <a:cs typeface="Courier New"/>
                  <a:sym typeface="Courier New"/>
                </a:rPr>
                <a:t>www.google.com.</a:t>
              </a:r>
              <a:r>
                <a:rPr lang="en" sz="1200">
                  <a:solidFill>
                    <a:schemeClr val="dk1"/>
                  </a:solidFill>
                </a:rPr>
                <a:t> A </a:t>
              </a:r>
              <a:r>
                <a:rPr lang="en" sz="1200" b="1">
                  <a:solidFill>
                    <a:schemeClr val="dk1"/>
                  </a:solidFill>
                  <a:latin typeface="Courier New"/>
                  <a:ea typeface="Courier New"/>
                  <a:cs typeface="Courier New"/>
                  <a:sym typeface="Courier New"/>
                </a:rPr>
                <a:t>6.6.6.6</a:t>
              </a:r>
              <a:r>
                <a:rPr lang="en" sz="1200">
                  <a:solidFill>
                    <a:schemeClr val="dk1"/>
                  </a:solidFill>
                </a:rPr>
                <a:t>”</a:t>
              </a:r>
              <a:endParaRPr sz="1200"/>
            </a:p>
          </p:txBody>
        </p:sp>
        <p:cxnSp>
          <p:nvCxnSpPr>
            <p:cNvPr id="21" name="Google Shape;1399;p92">
              <a:extLst>
                <a:ext uri="{FF2B5EF4-FFF2-40B4-BE49-F238E27FC236}">
                  <a16:creationId xmlns:a16="http://schemas.microsoft.com/office/drawing/2014/main" id="{65498940-4930-33EA-EEAB-1C51E2ADEDBD}"/>
                </a:ext>
              </a:extLst>
            </p:cNvPr>
            <p:cNvCxnSpPr>
              <a:stCxn id="20" idx="1"/>
              <a:endCxn id="20" idx="3"/>
            </p:cNvCxnSpPr>
            <p:nvPr/>
          </p:nvCxnSpPr>
          <p:spPr>
            <a:xfrm>
              <a:off x="4903188" y="2248438"/>
              <a:ext cx="4240800" cy="0"/>
            </a:xfrm>
            <a:prstGeom prst="straightConnector1">
              <a:avLst/>
            </a:prstGeom>
            <a:noFill/>
            <a:ln w="9525" cap="flat" cmpd="sng">
              <a:solidFill>
                <a:schemeClr val="dk2"/>
              </a:solidFill>
              <a:prstDash val="solid"/>
              <a:round/>
              <a:headEnd type="none" w="med" len="med"/>
              <a:tailEnd type="none" w="med" len="med"/>
            </a:ln>
          </p:spPr>
        </p:cxnSp>
      </p:grpSp>
      <p:grpSp>
        <p:nvGrpSpPr>
          <p:cNvPr id="22" name="Google Shape;1400;p92">
            <a:extLst>
              <a:ext uri="{FF2B5EF4-FFF2-40B4-BE49-F238E27FC236}">
                <a16:creationId xmlns:a16="http://schemas.microsoft.com/office/drawing/2014/main" id="{20C43D74-398E-F77A-EC3D-500ECCFE6802}"/>
              </a:ext>
            </a:extLst>
          </p:cNvPr>
          <p:cNvGrpSpPr/>
          <p:nvPr/>
        </p:nvGrpSpPr>
        <p:grpSpPr>
          <a:xfrm>
            <a:off x="5383801" y="3761349"/>
            <a:ext cx="4240800" cy="912000"/>
            <a:chOff x="3209313" y="3053125"/>
            <a:chExt cx="4240800" cy="912000"/>
          </a:xfrm>
        </p:grpSpPr>
        <p:sp>
          <p:nvSpPr>
            <p:cNvPr id="23" name="Google Shape;1401;p92">
              <a:extLst>
                <a:ext uri="{FF2B5EF4-FFF2-40B4-BE49-F238E27FC236}">
                  <a16:creationId xmlns:a16="http://schemas.microsoft.com/office/drawing/2014/main" id="{405237EC-67D2-699D-FFA9-0C86456BAB54}"/>
                </a:ext>
              </a:extLst>
            </p:cNvPr>
            <p:cNvSpPr txBox="1"/>
            <p:nvPr/>
          </p:nvSpPr>
          <p:spPr>
            <a:xfrm>
              <a:off x="3209313" y="3053125"/>
              <a:ext cx="4240800" cy="912000"/>
            </a:xfrm>
            <a:prstGeom prst="rect">
              <a:avLst/>
            </a:prstGeom>
            <a:solidFill>
              <a:srgbClr val="F4CCCC"/>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rPr>
                <a:t>“I don’t know. But I have delegated authority to the </a:t>
              </a:r>
              <a:r>
                <a:rPr lang="en" sz="1200" b="1">
                  <a:solidFill>
                    <a:schemeClr val="dk1"/>
                  </a:solidFill>
                  <a:latin typeface="Courier New"/>
                  <a:ea typeface="Courier New"/>
                  <a:cs typeface="Courier New"/>
                  <a:sym typeface="Courier New"/>
                </a:rPr>
                <a:t>fake4.google.com.</a:t>
              </a:r>
              <a:r>
                <a:rPr lang="en" sz="1200">
                  <a:solidFill>
                    <a:schemeClr val="dk1"/>
                  </a:solidFill>
                </a:rPr>
                <a:t> NS. This response has ID 712.</a:t>
              </a:r>
              <a:endParaRPr sz="1200">
                <a:solidFill>
                  <a:schemeClr val="dk1"/>
                </a:solidFill>
              </a:endParaRPr>
            </a:p>
            <a:p>
              <a:pPr marL="0" lvl="0" indent="0" algn="l" rtl="0">
                <a:spcBef>
                  <a:spcPts val="0"/>
                </a:spcBef>
                <a:spcAft>
                  <a:spcPts val="0"/>
                </a:spcAft>
                <a:buNone/>
              </a:pPr>
              <a:r>
                <a:rPr lang="en" sz="1200">
                  <a:solidFill>
                    <a:schemeClr val="dk1"/>
                  </a:solidFill>
                </a:rPr>
                <a:t>Authority: </a:t>
              </a:r>
              <a:r>
                <a:rPr lang="en" sz="1200" b="1">
                  <a:solidFill>
                    <a:schemeClr val="dk1"/>
                  </a:solidFill>
                  <a:latin typeface="Courier New"/>
                  <a:ea typeface="Courier New"/>
                  <a:cs typeface="Courier New"/>
                  <a:sym typeface="Courier New"/>
                </a:rPr>
                <a:t>fake4.google.com.</a:t>
              </a:r>
              <a:r>
                <a:rPr lang="en" sz="1200">
                  <a:solidFill>
                    <a:schemeClr val="dk1"/>
                  </a:solidFill>
                </a:rPr>
                <a:t> NS  </a:t>
              </a:r>
              <a:r>
                <a:rPr lang="en" sz="1200" b="1">
                  <a:solidFill>
                    <a:schemeClr val="dk1"/>
                  </a:solidFill>
                  <a:latin typeface="Courier New"/>
                  <a:ea typeface="Courier New"/>
                  <a:cs typeface="Courier New"/>
                  <a:sym typeface="Courier New"/>
                </a:rPr>
                <a:t>www.google.com</a:t>
              </a:r>
              <a:endParaRPr sz="1200">
                <a:solidFill>
                  <a:schemeClr val="dk1"/>
                </a:solidFill>
              </a:endParaRPr>
            </a:p>
            <a:p>
              <a:pPr marL="0" lvl="0" indent="0" algn="l" rtl="0">
                <a:lnSpc>
                  <a:spcPct val="115000"/>
                </a:lnSpc>
                <a:spcBef>
                  <a:spcPts val="0"/>
                </a:spcBef>
                <a:spcAft>
                  <a:spcPts val="0"/>
                </a:spcAft>
                <a:buNone/>
              </a:pPr>
              <a:r>
                <a:rPr lang="en" sz="1200">
                  <a:solidFill>
                    <a:schemeClr val="dk1"/>
                  </a:solidFill>
                </a:rPr>
                <a:t>Additional:  </a:t>
              </a:r>
              <a:r>
                <a:rPr lang="en" sz="1200" b="1">
                  <a:solidFill>
                    <a:schemeClr val="dk1"/>
                  </a:solidFill>
                  <a:latin typeface="Courier New"/>
                  <a:ea typeface="Courier New"/>
                  <a:cs typeface="Courier New"/>
                  <a:sym typeface="Courier New"/>
                </a:rPr>
                <a:t>www.google.com.</a:t>
              </a:r>
              <a:r>
                <a:rPr lang="en" sz="1200">
                  <a:solidFill>
                    <a:schemeClr val="dk1"/>
                  </a:solidFill>
                </a:rPr>
                <a:t> A </a:t>
              </a:r>
              <a:r>
                <a:rPr lang="en" sz="1200" b="1">
                  <a:solidFill>
                    <a:schemeClr val="dk1"/>
                  </a:solidFill>
                  <a:latin typeface="Courier New"/>
                  <a:ea typeface="Courier New"/>
                  <a:cs typeface="Courier New"/>
                  <a:sym typeface="Courier New"/>
                </a:rPr>
                <a:t>6.6.6.6</a:t>
              </a:r>
              <a:r>
                <a:rPr lang="en" sz="1200">
                  <a:solidFill>
                    <a:schemeClr val="dk1"/>
                  </a:solidFill>
                </a:rPr>
                <a:t>”</a:t>
              </a:r>
              <a:endParaRPr sz="1200"/>
            </a:p>
          </p:txBody>
        </p:sp>
        <p:cxnSp>
          <p:nvCxnSpPr>
            <p:cNvPr id="24" name="Google Shape;1402;p92">
              <a:extLst>
                <a:ext uri="{FF2B5EF4-FFF2-40B4-BE49-F238E27FC236}">
                  <a16:creationId xmlns:a16="http://schemas.microsoft.com/office/drawing/2014/main" id="{961527ED-A35F-6744-651B-DE32718AAFA9}"/>
                </a:ext>
              </a:extLst>
            </p:cNvPr>
            <p:cNvCxnSpPr>
              <a:stCxn id="23" idx="1"/>
              <a:endCxn id="23" idx="3"/>
            </p:cNvCxnSpPr>
            <p:nvPr/>
          </p:nvCxnSpPr>
          <p:spPr>
            <a:xfrm>
              <a:off x="3209313" y="3509125"/>
              <a:ext cx="4240800" cy="0"/>
            </a:xfrm>
            <a:prstGeom prst="straightConnector1">
              <a:avLst/>
            </a:prstGeom>
            <a:noFill/>
            <a:ln w="9525" cap="flat" cmpd="sng">
              <a:solidFill>
                <a:schemeClr val="dk2"/>
              </a:solidFill>
              <a:prstDash val="solid"/>
              <a:round/>
              <a:headEnd type="none" w="med" len="med"/>
              <a:tailEnd type="none" w="med" len="med"/>
            </a:ln>
          </p:spPr>
        </p:cxnSp>
      </p:grpSp>
      <p:grpSp>
        <p:nvGrpSpPr>
          <p:cNvPr id="25" name="Google Shape;1403;p92">
            <a:extLst>
              <a:ext uri="{FF2B5EF4-FFF2-40B4-BE49-F238E27FC236}">
                <a16:creationId xmlns:a16="http://schemas.microsoft.com/office/drawing/2014/main" id="{74391AA4-CDDE-ED71-AA6D-4FD1DF1A2D5C}"/>
              </a:ext>
            </a:extLst>
          </p:cNvPr>
          <p:cNvGrpSpPr/>
          <p:nvPr/>
        </p:nvGrpSpPr>
        <p:grpSpPr>
          <a:xfrm>
            <a:off x="6849076" y="4078487"/>
            <a:ext cx="4240800" cy="912000"/>
            <a:chOff x="4674588" y="3370263"/>
            <a:chExt cx="4240800" cy="912000"/>
          </a:xfrm>
        </p:grpSpPr>
        <p:sp>
          <p:nvSpPr>
            <p:cNvPr id="26" name="Google Shape;1404;p92">
              <a:extLst>
                <a:ext uri="{FF2B5EF4-FFF2-40B4-BE49-F238E27FC236}">
                  <a16:creationId xmlns:a16="http://schemas.microsoft.com/office/drawing/2014/main" id="{41EC1B56-8890-76DF-DE3D-2EE2DCB7CDD7}"/>
                </a:ext>
              </a:extLst>
            </p:cNvPr>
            <p:cNvSpPr txBox="1"/>
            <p:nvPr/>
          </p:nvSpPr>
          <p:spPr>
            <a:xfrm>
              <a:off x="4674588" y="3370263"/>
              <a:ext cx="4240800" cy="912000"/>
            </a:xfrm>
            <a:prstGeom prst="rect">
              <a:avLst/>
            </a:prstGeom>
            <a:solidFill>
              <a:srgbClr val="F4CCCC"/>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rPr>
                <a:t>“I don’t know. But I have delegated authority to the </a:t>
              </a:r>
              <a:r>
                <a:rPr lang="en" sz="1200" b="1">
                  <a:solidFill>
                    <a:schemeClr val="dk1"/>
                  </a:solidFill>
                  <a:latin typeface="Courier New"/>
                  <a:ea typeface="Courier New"/>
                  <a:cs typeface="Courier New"/>
                  <a:sym typeface="Courier New"/>
                </a:rPr>
                <a:t>fake5.google.com.</a:t>
              </a:r>
              <a:r>
                <a:rPr lang="en" sz="1200">
                  <a:solidFill>
                    <a:schemeClr val="dk1"/>
                  </a:solidFill>
                </a:rPr>
                <a:t> NS. This response has ID 821.</a:t>
              </a:r>
              <a:endParaRPr sz="1200">
                <a:solidFill>
                  <a:schemeClr val="dk1"/>
                </a:solidFill>
              </a:endParaRPr>
            </a:p>
            <a:p>
              <a:pPr marL="0" lvl="0" indent="0" algn="l" rtl="0">
                <a:spcBef>
                  <a:spcPts val="0"/>
                </a:spcBef>
                <a:spcAft>
                  <a:spcPts val="0"/>
                </a:spcAft>
                <a:buNone/>
              </a:pPr>
              <a:r>
                <a:rPr lang="en" sz="1200">
                  <a:solidFill>
                    <a:schemeClr val="dk1"/>
                  </a:solidFill>
                </a:rPr>
                <a:t>Authority: </a:t>
              </a:r>
              <a:r>
                <a:rPr lang="en" sz="1200" b="1">
                  <a:solidFill>
                    <a:schemeClr val="dk1"/>
                  </a:solidFill>
                  <a:latin typeface="Courier New"/>
                  <a:ea typeface="Courier New"/>
                  <a:cs typeface="Courier New"/>
                  <a:sym typeface="Courier New"/>
                </a:rPr>
                <a:t>fake5.google.com.</a:t>
              </a:r>
              <a:r>
                <a:rPr lang="en" sz="1200">
                  <a:solidFill>
                    <a:schemeClr val="dk1"/>
                  </a:solidFill>
                </a:rPr>
                <a:t> NS  </a:t>
              </a:r>
              <a:r>
                <a:rPr lang="en" sz="1200" b="1">
                  <a:solidFill>
                    <a:schemeClr val="dk1"/>
                  </a:solidFill>
                  <a:latin typeface="Courier New"/>
                  <a:ea typeface="Courier New"/>
                  <a:cs typeface="Courier New"/>
                  <a:sym typeface="Courier New"/>
                </a:rPr>
                <a:t>www.google.com</a:t>
              </a:r>
              <a:endParaRPr sz="1200">
                <a:solidFill>
                  <a:schemeClr val="dk1"/>
                </a:solidFill>
              </a:endParaRPr>
            </a:p>
            <a:p>
              <a:pPr marL="0" lvl="0" indent="0" algn="l" rtl="0">
                <a:lnSpc>
                  <a:spcPct val="115000"/>
                </a:lnSpc>
                <a:spcBef>
                  <a:spcPts val="0"/>
                </a:spcBef>
                <a:spcAft>
                  <a:spcPts val="0"/>
                </a:spcAft>
                <a:buNone/>
              </a:pPr>
              <a:r>
                <a:rPr lang="en" sz="1200">
                  <a:solidFill>
                    <a:schemeClr val="dk1"/>
                  </a:solidFill>
                </a:rPr>
                <a:t>Additional:  </a:t>
              </a:r>
              <a:r>
                <a:rPr lang="en" sz="1200" b="1">
                  <a:solidFill>
                    <a:schemeClr val="dk1"/>
                  </a:solidFill>
                  <a:latin typeface="Courier New"/>
                  <a:ea typeface="Courier New"/>
                  <a:cs typeface="Courier New"/>
                  <a:sym typeface="Courier New"/>
                </a:rPr>
                <a:t>www.google.com.</a:t>
              </a:r>
              <a:r>
                <a:rPr lang="en" sz="1200">
                  <a:solidFill>
                    <a:schemeClr val="dk1"/>
                  </a:solidFill>
                </a:rPr>
                <a:t> A </a:t>
              </a:r>
              <a:r>
                <a:rPr lang="en" sz="1200" b="1">
                  <a:solidFill>
                    <a:schemeClr val="dk1"/>
                  </a:solidFill>
                  <a:latin typeface="Courier New"/>
                  <a:ea typeface="Courier New"/>
                  <a:cs typeface="Courier New"/>
                  <a:sym typeface="Courier New"/>
                </a:rPr>
                <a:t>6.6.6.6</a:t>
              </a:r>
              <a:r>
                <a:rPr lang="en" sz="1200">
                  <a:solidFill>
                    <a:schemeClr val="dk1"/>
                  </a:solidFill>
                </a:rPr>
                <a:t>”</a:t>
              </a:r>
              <a:endParaRPr sz="1200"/>
            </a:p>
          </p:txBody>
        </p:sp>
        <p:cxnSp>
          <p:nvCxnSpPr>
            <p:cNvPr id="27" name="Google Shape;1405;p92">
              <a:extLst>
                <a:ext uri="{FF2B5EF4-FFF2-40B4-BE49-F238E27FC236}">
                  <a16:creationId xmlns:a16="http://schemas.microsoft.com/office/drawing/2014/main" id="{BCDB7E73-D699-7738-4022-1035F41ABBED}"/>
                </a:ext>
              </a:extLst>
            </p:cNvPr>
            <p:cNvCxnSpPr>
              <a:stCxn id="26" idx="1"/>
              <a:endCxn id="26" idx="3"/>
            </p:cNvCxnSpPr>
            <p:nvPr/>
          </p:nvCxnSpPr>
          <p:spPr>
            <a:xfrm>
              <a:off x="4674588" y="3826263"/>
              <a:ext cx="4240800" cy="0"/>
            </a:xfrm>
            <a:prstGeom prst="straightConnector1">
              <a:avLst/>
            </a:prstGeom>
            <a:noFill/>
            <a:ln w="9525" cap="flat" cmpd="sng">
              <a:solidFill>
                <a:schemeClr val="dk2"/>
              </a:solidFill>
              <a:prstDash val="solid"/>
              <a:round/>
              <a:headEnd type="none" w="med" len="med"/>
              <a:tailEnd type="none" w="med" len="med"/>
            </a:ln>
          </p:spPr>
        </p:cxnSp>
      </p:grpSp>
      <p:grpSp>
        <p:nvGrpSpPr>
          <p:cNvPr id="28" name="Google Shape;1406;p92">
            <a:extLst>
              <a:ext uri="{FF2B5EF4-FFF2-40B4-BE49-F238E27FC236}">
                <a16:creationId xmlns:a16="http://schemas.microsoft.com/office/drawing/2014/main" id="{01EA03AC-6BAD-1800-EB77-A83E24CEEFFF}"/>
              </a:ext>
            </a:extLst>
          </p:cNvPr>
          <p:cNvGrpSpPr/>
          <p:nvPr/>
        </p:nvGrpSpPr>
        <p:grpSpPr>
          <a:xfrm>
            <a:off x="5152251" y="4360512"/>
            <a:ext cx="4240800" cy="912000"/>
            <a:chOff x="2977763" y="3652288"/>
            <a:chExt cx="4240800" cy="912000"/>
          </a:xfrm>
        </p:grpSpPr>
        <p:sp>
          <p:nvSpPr>
            <p:cNvPr id="29" name="Google Shape;1407;p92">
              <a:extLst>
                <a:ext uri="{FF2B5EF4-FFF2-40B4-BE49-F238E27FC236}">
                  <a16:creationId xmlns:a16="http://schemas.microsoft.com/office/drawing/2014/main" id="{65AFBF45-78A2-82EF-8D8B-251AC1C56B44}"/>
                </a:ext>
              </a:extLst>
            </p:cNvPr>
            <p:cNvSpPr txBox="1"/>
            <p:nvPr/>
          </p:nvSpPr>
          <p:spPr>
            <a:xfrm>
              <a:off x="2977763" y="3652288"/>
              <a:ext cx="4240800" cy="912000"/>
            </a:xfrm>
            <a:prstGeom prst="rect">
              <a:avLst/>
            </a:prstGeom>
            <a:solidFill>
              <a:srgbClr val="F4CCCC"/>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rPr>
                <a:t>“I don’t know. But I have delegated authority to the </a:t>
              </a:r>
              <a:r>
                <a:rPr lang="en" sz="1200" b="1">
                  <a:solidFill>
                    <a:schemeClr val="dk1"/>
                  </a:solidFill>
                  <a:latin typeface="Courier New"/>
                  <a:ea typeface="Courier New"/>
                  <a:cs typeface="Courier New"/>
                  <a:sym typeface="Courier New"/>
                </a:rPr>
                <a:t>fake6.google.com.</a:t>
              </a:r>
              <a:r>
                <a:rPr lang="en" sz="1200">
                  <a:solidFill>
                    <a:schemeClr val="dk1"/>
                  </a:solidFill>
                </a:rPr>
                <a:t> NS. This response has ID 234.</a:t>
              </a:r>
              <a:endParaRPr sz="1200">
                <a:solidFill>
                  <a:schemeClr val="dk1"/>
                </a:solidFill>
              </a:endParaRPr>
            </a:p>
            <a:p>
              <a:pPr marL="0" lvl="0" indent="0" algn="l" rtl="0">
                <a:spcBef>
                  <a:spcPts val="0"/>
                </a:spcBef>
                <a:spcAft>
                  <a:spcPts val="0"/>
                </a:spcAft>
                <a:buNone/>
              </a:pPr>
              <a:r>
                <a:rPr lang="en" sz="1200">
                  <a:solidFill>
                    <a:schemeClr val="dk1"/>
                  </a:solidFill>
                </a:rPr>
                <a:t>Authority: </a:t>
              </a:r>
              <a:r>
                <a:rPr lang="en" sz="1200" b="1">
                  <a:solidFill>
                    <a:schemeClr val="dk1"/>
                  </a:solidFill>
                  <a:latin typeface="Courier New"/>
                  <a:ea typeface="Courier New"/>
                  <a:cs typeface="Courier New"/>
                  <a:sym typeface="Courier New"/>
                </a:rPr>
                <a:t>fake6.google.com.</a:t>
              </a:r>
              <a:r>
                <a:rPr lang="en" sz="1200">
                  <a:solidFill>
                    <a:schemeClr val="dk1"/>
                  </a:solidFill>
                </a:rPr>
                <a:t> NS  </a:t>
              </a:r>
              <a:r>
                <a:rPr lang="en" sz="1200" b="1">
                  <a:solidFill>
                    <a:schemeClr val="dk1"/>
                  </a:solidFill>
                  <a:latin typeface="Courier New"/>
                  <a:ea typeface="Courier New"/>
                  <a:cs typeface="Courier New"/>
                  <a:sym typeface="Courier New"/>
                </a:rPr>
                <a:t>www.google.com</a:t>
              </a:r>
              <a:endParaRPr sz="1200">
                <a:solidFill>
                  <a:schemeClr val="dk1"/>
                </a:solidFill>
              </a:endParaRPr>
            </a:p>
            <a:p>
              <a:pPr marL="0" lvl="0" indent="0" algn="l" rtl="0">
                <a:lnSpc>
                  <a:spcPct val="115000"/>
                </a:lnSpc>
                <a:spcBef>
                  <a:spcPts val="0"/>
                </a:spcBef>
                <a:spcAft>
                  <a:spcPts val="0"/>
                </a:spcAft>
                <a:buNone/>
              </a:pPr>
              <a:r>
                <a:rPr lang="en" sz="1200">
                  <a:solidFill>
                    <a:schemeClr val="dk1"/>
                  </a:solidFill>
                </a:rPr>
                <a:t>Additional:  </a:t>
              </a:r>
              <a:r>
                <a:rPr lang="en" sz="1200" b="1">
                  <a:solidFill>
                    <a:schemeClr val="dk1"/>
                  </a:solidFill>
                  <a:latin typeface="Courier New"/>
                  <a:ea typeface="Courier New"/>
                  <a:cs typeface="Courier New"/>
                  <a:sym typeface="Courier New"/>
                </a:rPr>
                <a:t>www.google.com.</a:t>
              </a:r>
              <a:r>
                <a:rPr lang="en" sz="1200">
                  <a:solidFill>
                    <a:schemeClr val="dk1"/>
                  </a:solidFill>
                </a:rPr>
                <a:t> A </a:t>
              </a:r>
              <a:r>
                <a:rPr lang="en" sz="1200" b="1">
                  <a:solidFill>
                    <a:schemeClr val="dk1"/>
                  </a:solidFill>
                  <a:latin typeface="Courier New"/>
                  <a:ea typeface="Courier New"/>
                  <a:cs typeface="Courier New"/>
                  <a:sym typeface="Courier New"/>
                </a:rPr>
                <a:t>6.6.6.6</a:t>
              </a:r>
              <a:r>
                <a:rPr lang="en" sz="1200">
                  <a:solidFill>
                    <a:schemeClr val="dk1"/>
                  </a:solidFill>
                </a:rPr>
                <a:t>”</a:t>
              </a:r>
              <a:endParaRPr sz="1200"/>
            </a:p>
          </p:txBody>
        </p:sp>
        <p:cxnSp>
          <p:nvCxnSpPr>
            <p:cNvPr id="30" name="Google Shape;1408;p92">
              <a:extLst>
                <a:ext uri="{FF2B5EF4-FFF2-40B4-BE49-F238E27FC236}">
                  <a16:creationId xmlns:a16="http://schemas.microsoft.com/office/drawing/2014/main" id="{384779A6-42F9-359F-8F24-1AD1258FED60}"/>
                </a:ext>
              </a:extLst>
            </p:cNvPr>
            <p:cNvCxnSpPr>
              <a:stCxn id="29" idx="1"/>
              <a:endCxn id="29" idx="3"/>
            </p:cNvCxnSpPr>
            <p:nvPr/>
          </p:nvCxnSpPr>
          <p:spPr>
            <a:xfrm>
              <a:off x="2977763" y="4108288"/>
              <a:ext cx="4240800" cy="0"/>
            </a:xfrm>
            <a:prstGeom prst="straightConnector1">
              <a:avLst/>
            </a:prstGeom>
            <a:noFill/>
            <a:ln w="9525" cap="flat" cmpd="sng">
              <a:solidFill>
                <a:schemeClr val="dk2"/>
              </a:solidFill>
              <a:prstDash val="solid"/>
              <a:round/>
              <a:headEnd type="none" w="med" len="med"/>
              <a:tailEnd type="none" w="med" len="med"/>
            </a:ln>
          </p:spPr>
        </p:cxnSp>
      </p:grpSp>
      <p:sp>
        <p:nvSpPr>
          <p:cNvPr id="31" name="Google Shape;1409;p92">
            <a:extLst>
              <a:ext uri="{FF2B5EF4-FFF2-40B4-BE49-F238E27FC236}">
                <a16:creationId xmlns:a16="http://schemas.microsoft.com/office/drawing/2014/main" id="{8818780A-E112-2DBF-FA70-CE3CD33CE197}"/>
              </a:ext>
            </a:extLst>
          </p:cNvPr>
          <p:cNvSpPr txBox="1"/>
          <p:nvPr/>
        </p:nvSpPr>
        <p:spPr>
          <a:xfrm>
            <a:off x="6011164" y="1894448"/>
            <a:ext cx="4773300" cy="364800"/>
          </a:xfrm>
          <a:prstGeom prst="rect">
            <a:avLst/>
          </a:prstGeom>
          <a:solidFill>
            <a:srgbClr val="FCE5CD"/>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200"/>
              <a:t>“</a:t>
            </a:r>
            <a:r>
              <a:rPr lang="en" sz="1200" b="1">
                <a:latin typeface="Courier New"/>
                <a:ea typeface="Courier New"/>
                <a:cs typeface="Courier New"/>
                <a:sym typeface="Courier New"/>
              </a:rPr>
              <a:t>fake6.google.com </a:t>
            </a:r>
            <a:r>
              <a:rPr lang="en" sz="1200"/>
              <a:t>doesn’t exist! </a:t>
            </a:r>
            <a:r>
              <a:rPr lang="en" sz="1200">
                <a:solidFill>
                  <a:schemeClr val="dk1"/>
                </a:solidFill>
              </a:rPr>
              <a:t>This response has ID 629.”</a:t>
            </a:r>
            <a:endParaRPr sz="1200"/>
          </a:p>
        </p:txBody>
      </p:sp>
      <p:sp>
        <p:nvSpPr>
          <p:cNvPr id="32" name="Google Shape;1410;p92">
            <a:extLst>
              <a:ext uri="{FF2B5EF4-FFF2-40B4-BE49-F238E27FC236}">
                <a16:creationId xmlns:a16="http://schemas.microsoft.com/office/drawing/2014/main" id="{A4272B13-F365-0113-28E3-9F4B2B201024}"/>
              </a:ext>
            </a:extLst>
          </p:cNvPr>
          <p:cNvSpPr txBox="1"/>
          <p:nvPr/>
        </p:nvSpPr>
        <p:spPr>
          <a:xfrm>
            <a:off x="5811639" y="2084648"/>
            <a:ext cx="4773300" cy="364800"/>
          </a:xfrm>
          <a:prstGeom prst="rect">
            <a:avLst/>
          </a:prstGeom>
          <a:solidFill>
            <a:srgbClr val="FCE5CD"/>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200"/>
              <a:t>“</a:t>
            </a:r>
            <a:r>
              <a:rPr lang="en" sz="1200" b="1">
                <a:latin typeface="Courier New"/>
                <a:ea typeface="Courier New"/>
                <a:cs typeface="Courier New"/>
                <a:sym typeface="Courier New"/>
              </a:rPr>
              <a:t>fake6.google.com </a:t>
            </a:r>
            <a:r>
              <a:rPr lang="en" sz="1200"/>
              <a:t>doesn’t exist! </a:t>
            </a:r>
            <a:r>
              <a:rPr lang="en" sz="1200">
                <a:solidFill>
                  <a:schemeClr val="dk1"/>
                </a:solidFill>
              </a:rPr>
              <a:t>This response has ID 427.”</a:t>
            </a:r>
            <a:endParaRPr sz="1200"/>
          </a:p>
        </p:txBody>
      </p:sp>
      <p:sp>
        <p:nvSpPr>
          <p:cNvPr id="33" name="Google Shape;1411;p92">
            <a:extLst>
              <a:ext uri="{FF2B5EF4-FFF2-40B4-BE49-F238E27FC236}">
                <a16:creationId xmlns:a16="http://schemas.microsoft.com/office/drawing/2014/main" id="{A96F578C-14F7-8072-7156-AB94A8CB9006}"/>
              </a:ext>
            </a:extLst>
          </p:cNvPr>
          <p:cNvSpPr txBox="1"/>
          <p:nvPr/>
        </p:nvSpPr>
        <p:spPr>
          <a:xfrm>
            <a:off x="4850264" y="1826598"/>
            <a:ext cx="4773300" cy="364800"/>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200"/>
              <a:t>“</a:t>
            </a:r>
            <a:r>
              <a:rPr lang="en" sz="1200" b="1">
                <a:latin typeface="Courier New"/>
                <a:ea typeface="Courier New"/>
                <a:cs typeface="Courier New"/>
                <a:sym typeface="Courier New"/>
              </a:rPr>
              <a:t>fake27.google.com </a:t>
            </a:r>
            <a:r>
              <a:rPr lang="en" sz="1200"/>
              <a:t>doesn’t exist! </a:t>
            </a:r>
            <a:r>
              <a:rPr lang="en" sz="1200">
                <a:solidFill>
                  <a:schemeClr val="dk1"/>
                </a:solidFill>
              </a:rPr>
              <a:t>This response has ID </a:t>
            </a:r>
            <a:r>
              <a:rPr lang="en" sz="1200" b="1">
                <a:solidFill>
                  <a:schemeClr val="dk1"/>
                </a:solidFill>
              </a:rPr>
              <a:t>161</a:t>
            </a:r>
            <a:r>
              <a:rPr lang="en" sz="1200">
                <a:solidFill>
                  <a:schemeClr val="dk1"/>
                </a:solidFill>
              </a:rPr>
              <a:t>.”</a:t>
            </a:r>
            <a:endParaRPr sz="1200"/>
          </a:p>
        </p:txBody>
      </p:sp>
      <p:cxnSp>
        <p:nvCxnSpPr>
          <p:cNvPr id="34" name="Google Shape;1412;p92">
            <a:extLst>
              <a:ext uri="{FF2B5EF4-FFF2-40B4-BE49-F238E27FC236}">
                <a16:creationId xmlns:a16="http://schemas.microsoft.com/office/drawing/2014/main" id="{1243ADCB-7D1B-03FC-743D-49DFE1882C8D}"/>
              </a:ext>
            </a:extLst>
          </p:cNvPr>
          <p:cNvCxnSpPr>
            <a:cxnSpLocks/>
          </p:cNvCxnSpPr>
          <p:nvPr/>
        </p:nvCxnSpPr>
        <p:spPr>
          <a:xfrm flipV="1">
            <a:off x="4222913" y="5850393"/>
            <a:ext cx="5946999" cy="390546"/>
          </a:xfrm>
          <a:prstGeom prst="straightConnector1">
            <a:avLst/>
          </a:prstGeom>
          <a:noFill/>
          <a:ln w="19050" cap="flat" cmpd="sng">
            <a:solidFill>
              <a:srgbClr val="FF0000"/>
            </a:solidFill>
            <a:prstDash val="solid"/>
            <a:round/>
            <a:headEnd type="triangle" w="med" len="med"/>
            <a:tailEnd type="none" w="med" len="med"/>
          </a:ln>
        </p:spPr>
      </p:cxnSp>
      <p:grpSp>
        <p:nvGrpSpPr>
          <p:cNvPr id="35" name="Google Shape;1413;p92">
            <a:extLst>
              <a:ext uri="{FF2B5EF4-FFF2-40B4-BE49-F238E27FC236}">
                <a16:creationId xmlns:a16="http://schemas.microsoft.com/office/drawing/2014/main" id="{2DD0AE9B-C718-85B1-A7BB-6ECD55915490}"/>
              </a:ext>
            </a:extLst>
          </p:cNvPr>
          <p:cNvGrpSpPr/>
          <p:nvPr/>
        </p:nvGrpSpPr>
        <p:grpSpPr>
          <a:xfrm>
            <a:off x="5579451" y="4691487"/>
            <a:ext cx="4240800" cy="912000"/>
            <a:chOff x="3404963" y="3983263"/>
            <a:chExt cx="4240800" cy="912000"/>
          </a:xfrm>
        </p:grpSpPr>
        <p:sp>
          <p:nvSpPr>
            <p:cNvPr id="36" name="Google Shape;1414;p92">
              <a:extLst>
                <a:ext uri="{FF2B5EF4-FFF2-40B4-BE49-F238E27FC236}">
                  <a16:creationId xmlns:a16="http://schemas.microsoft.com/office/drawing/2014/main" id="{B4AE85A8-35B7-242D-2422-A7541DD52BBE}"/>
                </a:ext>
              </a:extLst>
            </p:cNvPr>
            <p:cNvSpPr txBox="1"/>
            <p:nvPr/>
          </p:nvSpPr>
          <p:spPr>
            <a:xfrm>
              <a:off x="3404963" y="3983263"/>
              <a:ext cx="4240800" cy="912000"/>
            </a:xfrm>
            <a:prstGeom prst="rect">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rPr>
                <a:t>“I don’t know. But I have delegated authority to the </a:t>
              </a:r>
              <a:r>
                <a:rPr lang="en" sz="1200" b="1">
                  <a:solidFill>
                    <a:schemeClr val="dk1"/>
                  </a:solidFill>
                  <a:latin typeface="Courier New"/>
                  <a:ea typeface="Courier New"/>
                  <a:cs typeface="Courier New"/>
                  <a:sym typeface="Courier New"/>
                </a:rPr>
                <a:t>fake27.google.com.</a:t>
              </a:r>
              <a:r>
                <a:rPr lang="en" sz="1200">
                  <a:solidFill>
                    <a:schemeClr val="dk1"/>
                  </a:solidFill>
                </a:rPr>
                <a:t> NS. This response has ID 161.</a:t>
              </a:r>
              <a:endParaRPr sz="1200">
                <a:solidFill>
                  <a:schemeClr val="dk1"/>
                </a:solidFill>
              </a:endParaRPr>
            </a:p>
            <a:p>
              <a:pPr marL="0" lvl="0" indent="0" algn="l" rtl="0">
                <a:spcBef>
                  <a:spcPts val="0"/>
                </a:spcBef>
                <a:spcAft>
                  <a:spcPts val="0"/>
                </a:spcAft>
                <a:buNone/>
              </a:pPr>
              <a:r>
                <a:rPr lang="en" sz="1200">
                  <a:solidFill>
                    <a:schemeClr val="dk1"/>
                  </a:solidFill>
                </a:rPr>
                <a:t>Authority: </a:t>
              </a:r>
              <a:r>
                <a:rPr lang="en" sz="1200" b="1">
                  <a:solidFill>
                    <a:schemeClr val="dk1"/>
                  </a:solidFill>
                  <a:latin typeface="Courier New"/>
                  <a:ea typeface="Courier New"/>
                  <a:cs typeface="Courier New"/>
                  <a:sym typeface="Courier New"/>
                </a:rPr>
                <a:t>fake27.google.com.</a:t>
              </a:r>
              <a:r>
                <a:rPr lang="en" sz="1200">
                  <a:solidFill>
                    <a:schemeClr val="dk1"/>
                  </a:solidFill>
                </a:rPr>
                <a:t> NS  </a:t>
              </a:r>
              <a:r>
                <a:rPr lang="en" sz="1200" b="1">
                  <a:solidFill>
                    <a:schemeClr val="dk1"/>
                  </a:solidFill>
                  <a:latin typeface="Courier New"/>
                  <a:ea typeface="Courier New"/>
                  <a:cs typeface="Courier New"/>
                  <a:sym typeface="Courier New"/>
                </a:rPr>
                <a:t>www.google.com</a:t>
              </a:r>
              <a:endParaRPr sz="1200">
                <a:solidFill>
                  <a:schemeClr val="dk1"/>
                </a:solidFill>
              </a:endParaRPr>
            </a:p>
            <a:p>
              <a:pPr marL="0" lvl="0" indent="0" algn="l" rtl="0">
                <a:lnSpc>
                  <a:spcPct val="115000"/>
                </a:lnSpc>
                <a:spcBef>
                  <a:spcPts val="0"/>
                </a:spcBef>
                <a:spcAft>
                  <a:spcPts val="0"/>
                </a:spcAft>
                <a:buNone/>
              </a:pPr>
              <a:r>
                <a:rPr lang="en" sz="1200">
                  <a:solidFill>
                    <a:schemeClr val="dk1"/>
                  </a:solidFill>
                </a:rPr>
                <a:t>Additional:  </a:t>
              </a:r>
              <a:r>
                <a:rPr lang="en" sz="1200" b="1">
                  <a:solidFill>
                    <a:schemeClr val="dk1"/>
                  </a:solidFill>
                  <a:latin typeface="Courier New"/>
                  <a:ea typeface="Courier New"/>
                  <a:cs typeface="Courier New"/>
                  <a:sym typeface="Courier New"/>
                </a:rPr>
                <a:t>www.google.com.</a:t>
              </a:r>
              <a:r>
                <a:rPr lang="en" sz="1200">
                  <a:solidFill>
                    <a:schemeClr val="dk1"/>
                  </a:solidFill>
                </a:rPr>
                <a:t> A </a:t>
              </a:r>
              <a:r>
                <a:rPr lang="en" sz="1200" b="1">
                  <a:solidFill>
                    <a:schemeClr val="dk1"/>
                  </a:solidFill>
                  <a:latin typeface="Courier New"/>
                  <a:ea typeface="Courier New"/>
                  <a:cs typeface="Courier New"/>
                  <a:sym typeface="Courier New"/>
                </a:rPr>
                <a:t>6.6.6.6</a:t>
              </a:r>
              <a:r>
                <a:rPr lang="en" sz="1200">
                  <a:solidFill>
                    <a:schemeClr val="dk1"/>
                  </a:solidFill>
                </a:rPr>
                <a:t>”</a:t>
              </a:r>
              <a:endParaRPr sz="1200"/>
            </a:p>
          </p:txBody>
        </p:sp>
        <p:cxnSp>
          <p:nvCxnSpPr>
            <p:cNvPr id="37" name="Google Shape;1415;p92">
              <a:extLst>
                <a:ext uri="{FF2B5EF4-FFF2-40B4-BE49-F238E27FC236}">
                  <a16:creationId xmlns:a16="http://schemas.microsoft.com/office/drawing/2014/main" id="{0A2A3D39-570D-243D-424D-713BEBCC7FA7}"/>
                </a:ext>
              </a:extLst>
            </p:cNvPr>
            <p:cNvCxnSpPr>
              <a:stCxn id="36" idx="1"/>
              <a:endCxn id="36" idx="3"/>
            </p:cNvCxnSpPr>
            <p:nvPr/>
          </p:nvCxnSpPr>
          <p:spPr>
            <a:xfrm>
              <a:off x="3404963" y="4439263"/>
              <a:ext cx="4240800" cy="0"/>
            </a:xfrm>
            <a:prstGeom prst="straightConnector1">
              <a:avLst/>
            </a:prstGeom>
            <a:noFill/>
            <a:ln w="9525" cap="flat" cmpd="sng">
              <a:solidFill>
                <a:schemeClr val="dk2"/>
              </a:solidFill>
              <a:prstDash val="solid"/>
              <a:round/>
              <a:headEnd type="none" w="med" len="med"/>
              <a:tailEnd type="none" w="med" len="med"/>
            </a:ln>
          </p:spPr>
        </p:cxnSp>
      </p:grpSp>
      <p:sp>
        <p:nvSpPr>
          <p:cNvPr id="38" name="Google Shape;94;p18">
            <a:extLst>
              <a:ext uri="{FF2B5EF4-FFF2-40B4-BE49-F238E27FC236}">
                <a16:creationId xmlns:a16="http://schemas.microsoft.com/office/drawing/2014/main" id="{1EC54B4C-87B3-24F5-F56A-843C2A947B03}"/>
              </a:ext>
            </a:extLst>
          </p:cNvPr>
          <p:cNvSpPr txBox="1"/>
          <p:nvPr/>
        </p:nvSpPr>
        <p:spPr>
          <a:xfrm>
            <a:off x="10281037" y="5501587"/>
            <a:ext cx="1495363" cy="58745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latin typeface="Courier New"/>
                <a:ea typeface="Courier New"/>
                <a:cs typeface="Courier New"/>
                <a:sym typeface="Courier New"/>
              </a:rPr>
              <a:t>Attacker</a:t>
            </a:r>
            <a:endParaRPr b="1" dirty="0">
              <a:latin typeface="Calibri"/>
              <a:ea typeface="Calibri"/>
              <a:cs typeface="Calibri"/>
              <a:sym typeface="Calibri"/>
            </a:endParaRPr>
          </a:p>
        </p:txBody>
      </p:sp>
      <p:sp>
        <p:nvSpPr>
          <p:cNvPr id="41" name="Google Shape;1819;p140">
            <a:extLst>
              <a:ext uri="{FF2B5EF4-FFF2-40B4-BE49-F238E27FC236}">
                <a16:creationId xmlns:a16="http://schemas.microsoft.com/office/drawing/2014/main" id="{94E7DBDE-03DD-94A9-8FBC-1AE9754B18C4}"/>
              </a:ext>
            </a:extLst>
          </p:cNvPr>
          <p:cNvSpPr txBox="1">
            <a:spLocks/>
          </p:cNvSpPr>
          <p:nvPr/>
        </p:nvSpPr>
        <p:spPr>
          <a:xfrm>
            <a:off x="415600" y="55919"/>
            <a:ext cx="11360800" cy="763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4400" kern="0" dirty="0">
                <a:latin typeface="Aptos" panose="020B0004020202020204" pitchFamily="34" charset="0"/>
              </a:rPr>
              <a:t>Kaminsky Attack: Example</a:t>
            </a:r>
          </a:p>
        </p:txBody>
      </p:sp>
      <p:sp>
        <p:nvSpPr>
          <p:cNvPr id="50" name="Google Shape;1382;p92">
            <a:extLst>
              <a:ext uri="{FF2B5EF4-FFF2-40B4-BE49-F238E27FC236}">
                <a16:creationId xmlns:a16="http://schemas.microsoft.com/office/drawing/2014/main" id="{BAC71998-07D1-61B6-74D2-98AD3D291515}"/>
              </a:ext>
            </a:extLst>
          </p:cNvPr>
          <p:cNvSpPr/>
          <p:nvPr/>
        </p:nvSpPr>
        <p:spPr>
          <a:xfrm>
            <a:off x="294825" y="2343150"/>
            <a:ext cx="3928088" cy="4113406"/>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383;p92">
            <a:extLst>
              <a:ext uri="{FF2B5EF4-FFF2-40B4-BE49-F238E27FC236}">
                <a16:creationId xmlns:a16="http://schemas.microsoft.com/office/drawing/2014/main" id="{28FD734E-6C65-55F1-7DF9-57146F738AA1}"/>
              </a:ext>
            </a:extLst>
          </p:cNvPr>
          <p:cNvSpPr txBox="1"/>
          <p:nvPr/>
        </p:nvSpPr>
        <p:spPr>
          <a:xfrm>
            <a:off x="378525" y="2431551"/>
            <a:ext cx="3719378" cy="564872"/>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graphicFrame>
        <p:nvGraphicFramePr>
          <p:cNvPr id="52" name="Google Shape;1384;p92">
            <a:extLst>
              <a:ext uri="{FF2B5EF4-FFF2-40B4-BE49-F238E27FC236}">
                <a16:creationId xmlns:a16="http://schemas.microsoft.com/office/drawing/2014/main" id="{F04C29E6-E759-A586-518B-A953AEEF4CC3}"/>
              </a:ext>
            </a:extLst>
          </p:cNvPr>
          <p:cNvGraphicFramePr/>
          <p:nvPr>
            <p:extLst>
              <p:ext uri="{D42A27DB-BD31-4B8C-83A1-F6EECF244321}">
                <p14:modId xmlns:p14="http://schemas.microsoft.com/office/powerpoint/2010/main" val="1985336635"/>
              </p:ext>
            </p:extLst>
          </p:nvPr>
        </p:nvGraphicFramePr>
        <p:xfrm>
          <a:off x="378525" y="2825150"/>
          <a:ext cx="3719316" cy="3025243"/>
        </p:xfrm>
        <a:graphic>
          <a:graphicData uri="http://schemas.openxmlformats.org/drawingml/2006/table">
            <a:tbl>
              <a:tblPr>
                <a:noFill/>
              </a:tblPr>
              <a:tblGrid>
                <a:gridCol w="1859658">
                  <a:extLst>
                    <a:ext uri="{9D8B030D-6E8A-4147-A177-3AD203B41FA5}">
                      <a16:colId xmlns:a16="http://schemas.microsoft.com/office/drawing/2014/main" val="20000"/>
                    </a:ext>
                  </a:extLst>
                </a:gridCol>
                <a:gridCol w="1859658">
                  <a:extLst>
                    <a:ext uri="{9D8B030D-6E8A-4147-A177-3AD203B41FA5}">
                      <a16:colId xmlns:a16="http://schemas.microsoft.com/office/drawing/2014/main" val="20001"/>
                    </a:ext>
                  </a:extLst>
                </a:gridCol>
              </a:tblGrid>
              <a:tr h="503003">
                <a:tc gridSpan="2">
                  <a:txBody>
                    <a:bodyPr/>
                    <a:lstStyle/>
                    <a:p>
                      <a:pPr marL="0" lvl="0" indent="0" algn="ctr" rtl="0">
                        <a:spcBef>
                          <a:spcPts val="0"/>
                        </a:spcBef>
                        <a:spcAft>
                          <a:spcPts val="0"/>
                        </a:spcAft>
                        <a:buNone/>
                      </a:pPr>
                      <a:r>
                        <a:rPr lang="en" sz="1200" dirty="0">
                          <a:latin typeface="Courier New"/>
                          <a:ea typeface="Courier New"/>
                          <a:cs typeface="Courier New"/>
                          <a:sym typeface="Courier New"/>
                        </a:rPr>
                        <a:t>Recursive Resolver Cache</a:t>
                      </a:r>
                      <a:endParaRPr sz="1200" dirty="0">
                        <a:latin typeface="Courier New"/>
                        <a:ea typeface="Courier New"/>
                        <a:cs typeface="Courier New"/>
                        <a:sym typeface="Courier New"/>
                      </a:endParaRPr>
                    </a:p>
                  </a:txBody>
                  <a:tcPr marL="91425" marR="91425" marT="91425" marB="91425">
                    <a:lnB w="9525" cap="flat" cmpd="sng">
                      <a:solidFill>
                        <a:srgbClr val="9E9E9E"/>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0"/>
                  </a:ext>
                </a:extLst>
              </a:tr>
              <a:tr h="481406">
                <a:tc>
                  <a:txBody>
                    <a:bodyPr/>
                    <a:lstStyle/>
                    <a:p>
                      <a:pPr marL="0" lvl="0" indent="0" algn="l" rtl="0">
                        <a:lnSpc>
                          <a:spcPct val="115000"/>
                        </a:lnSpc>
                        <a:spcBef>
                          <a:spcPts val="0"/>
                        </a:spcBef>
                        <a:spcAft>
                          <a:spcPts val="0"/>
                        </a:spcAft>
                        <a:buNone/>
                      </a:pPr>
                      <a:r>
                        <a:rPr lang="en" sz="1200" dirty="0">
                          <a:solidFill>
                            <a:schemeClr val="dk1"/>
                          </a:solidFill>
                          <a:latin typeface="Courier New"/>
                          <a:ea typeface="Courier New"/>
                          <a:cs typeface="Courier New"/>
                          <a:sym typeface="Courier New"/>
                        </a:rPr>
                        <a:t>a.gtld-servers.net.</a:t>
                      </a:r>
                      <a:endParaRPr sz="1200" dirty="0">
                        <a:solidFill>
                          <a:schemeClr val="dk1"/>
                        </a:solidFill>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r>
                        <a:rPr lang="en" sz="1200">
                          <a:solidFill>
                            <a:schemeClr val="dk1"/>
                          </a:solidFill>
                          <a:latin typeface="Courier New"/>
                          <a:ea typeface="Courier New"/>
                          <a:cs typeface="Courier New"/>
                          <a:sym typeface="Courier New"/>
                        </a:rPr>
                        <a:t>192.5.6.30</a:t>
                      </a:r>
                      <a:endParaRPr sz="1200">
                        <a:solidFill>
                          <a:schemeClr val="dk1"/>
                        </a:solidFill>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481406">
                <a:tc>
                  <a:txBody>
                    <a:bodyPr/>
                    <a:lstStyle/>
                    <a:p>
                      <a:pPr marL="0" lvl="0" indent="0" algn="l" rtl="0">
                        <a:lnSpc>
                          <a:spcPct val="115000"/>
                        </a:lnSpc>
                        <a:spcBef>
                          <a:spcPts val="0"/>
                        </a:spcBef>
                        <a:spcAft>
                          <a:spcPts val="0"/>
                        </a:spcAft>
                        <a:buNone/>
                      </a:pPr>
                      <a:r>
                        <a:rPr lang="en" sz="1200" dirty="0">
                          <a:solidFill>
                            <a:schemeClr val="dk1"/>
                          </a:solidFill>
                          <a:latin typeface="Courier New"/>
                          <a:ea typeface="Courier New"/>
                          <a:cs typeface="Courier New"/>
                          <a:sym typeface="Courier New"/>
                        </a:rPr>
                        <a:t>ns1.google.com.</a:t>
                      </a:r>
                      <a:endParaRPr sz="1200" dirty="0">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r>
                        <a:rPr lang="en" sz="1200" dirty="0">
                          <a:solidFill>
                            <a:schemeClr val="dk1"/>
                          </a:solidFill>
                          <a:latin typeface="Courier New"/>
                          <a:ea typeface="Courier New"/>
                          <a:cs typeface="Courier New"/>
                          <a:sym typeface="Courier New"/>
                        </a:rPr>
                        <a:t>216.239.32.10</a:t>
                      </a:r>
                      <a:endParaRPr sz="1200" dirty="0">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481406">
                <a:tc>
                  <a:txBody>
                    <a:bodyPr/>
                    <a:lstStyle/>
                    <a:p>
                      <a:pPr marL="0" lvl="0" indent="0" algn="l" rtl="0">
                        <a:lnSpc>
                          <a:spcPct val="115000"/>
                        </a:lnSpc>
                        <a:spcBef>
                          <a:spcPts val="0"/>
                        </a:spcBef>
                        <a:spcAft>
                          <a:spcPts val="0"/>
                        </a:spcAft>
                        <a:buNone/>
                      </a:pPr>
                      <a:r>
                        <a:rPr lang="en" sz="1200">
                          <a:latin typeface="Courier New"/>
                          <a:ea typeface="Courier New"/>
                          <a:cs typeface="Courier New"/>
                          <a:sym typeface="Courier New"/>
                        </a:rPr>
                        <a:t>fake1.google.com</a:t>
                      </a:r>
                      <a:endParaRPr sz="1200">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r>
                        <a:rPr lang="en" sz="1200" dirty="0">
                          <a:latin typeface="Courier New"/>
                          <a:ea typeface="Courier New"/>
                          <a:cs typeface="Courier New"/>
                          <a:sym typeface="Courier New"/>
                        </a:rPr>
                        <a:t>Doesn’t exist!</a:t>
                      </a:r>
                      <a:endParaRPr sz="1200" dirty="0">
                        <a:solidFill>
                          <a:srgbClr val="FF0000"/>
                        </a:solidFill>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481406">
                <a:tc>
                  <a:txBody>
                    <a:bodyPr/>
                    <a:lstStyle/>
                    <a:p>
                      <a:pPr marL="0" lvl="0" indent="0" algn="l" rtl="0">
                        <a:lnSpc>
                          <a:spcPct val="115000"/>
                        </a:lnSpc>
                        <a:spcBef>
                          <a:spcPts val="0"/>
                        </a:spcBef>
                        <a:spcAft>
                          <a:spcPts val="0"/>
                        </a:spcAft>
                        <a:buNone/>
                      </a:pPr>
                      <a:r>
                        <a:rPr lang="en" sz="1200">
                          <a:solidFill>
                            <a:schemeClr val="dk1"/>
                          </a:solidFill>
                          <a:latin typeface="Courier New"/>
                          <a:ea typeface="Courier New"/>
                          <a:cs typeface="Courier New"/>
                          <a:sym typeface="Courier New"/>
                        </a:rPr>
                        <a:t>…</a:t>
                      </a:r>
                      <a:endParaRPr sz="1200">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r>
                        <a:rPr lang="en" sz="1200" dirty="0">
                          <a:solidFill>
                            <a:schemeClr val="dk1"/>
                          </a:solidFill>
                          <a:latin typeface="Courier New"/>
                          <a:ea typeface="Courier New"/>
                          <a:cs typeface="Courier New"/>
                          <a:sym typeface="Courier New"/>
                        </a:rPr>
                        <a:t>Doesn’t exist!</a:t>
                      </a:r>
                      <a:endParaRPr sz="1200" dirty="0">
                        <a:solidFill>
                          <a:srgbClr val="FF0000"/>
                        </a:solidFill>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481406">
                <a:tc>
                  <a:txBody>
                    <a:bodyPr/>
                    <a:lstStyle/>
                    <a:p>
                      <a:pPr marL="0" lvl="0" indent="0" algn="l" rtl="0">
                        <a:lnSpc>
                          <a:spcPct val="115000"/>
                        </a:lnSpc>
                        <a:spcBef>
                          <a:spcPts val="0"/>
                        </a:spcBef>
                        <a:spcAft>
                          <a:spcPts val="0"/>
                        </a:spcAft>
                        <a:buNone/>
                      </a:pPr>
                      <a:r>
                        <a:rPr lang="en" sz="1200">
                          <a:solidFill>
                            <a:schemeClr val="dk1"/>
                          </a:solidFill>
                          <a:latin typeface="Courier New"/>
                          <a:ea typeface="Courier New"/>
                          <a:cs typeface="Courier New"/>
                          <a:sym typeface="Courier New"/>
                        </a:rPr>
                        <a:t>fake26.google.com</a:t>
                      </a:r>
                      <a:endParaRPr sz="1200">
                        <a:solidFill>
                          <a:schemeClr val="dk1"/>
                        </a:solidFill>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r>
                        <a:rPr lang="en" sz="1200" dirty="0">
                          <a:solidFill>
                            <a:schemeClr val="dk1"/>
                          </a:solidFill>
                          <a:latin typeface="Courier New"/>
                          <a:ea typeface="Courier New"/>
                          <a:cs typeface="Courier New"/>
                          <a:sym typeface="Courier New"/>
                        </a:rPr>
                        <a:t>Doesn’t exist!</a:t>
                      </a:r>
                      <a:endParaRPr sz="1200" dirty="0">
                        <a:solidFill>
                          <a:schemeClr val="dk1"/>
                        </a:solidFill>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bl>
          </a:graphicData>
        </a:graphic>
      </p:graphicFrame>
      <p:sp>
        <p:nvSpPr>
          <p:cNvPr id="53" name="Google Shape;1388;p92">
            <a:extLst>
              <a:ext uri="{FF2B5EF4-FFF2-40B4-BE49-F238E27FC236}">
                <a16:creationId xmlns:a16="http://schemas.microsoft.com/office/drawing/2014/main" id="{30ED7AA6-9408-1D20-71D8-2480030D0051}"/>
              </a:ext>
            </a:extLst>
          </p:cNvPr>
          <p:cNvSpPr txBox="1"/>
          <p:nvPr/>
        </p:nvSpPr>
        <p:spPr>
          <a:xfrm>
            <a:off x="2258869" y="1702916"/>
            <a:ext cx="2439387" cy="494996"/>
          </a:xfrm>
          <a:prstGeom prst="rect">
            <a:avLst/>
          </a:prstGeom>
          <a:solidFill>
            <a:srgbClr val="FCE5CD"/>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2000" dirty="0">
                <a:latin typeface="Courier New"/>
                <a:ea typeface="Courier New"/>
                <a:cs typeface="Courier New"/>
                <a:sym typeface="Courier New"/>
              </a:rPr>
              <a:t>google.com</a:t>
            </a:r>
            <a:endParaRPr sz="2000" dirty="0">
              <a:latin typeface="Calibri"/>
              <a:ea typeface="Calibri"/>
              <a:cs typeface="Calibri"/>
              <a:sym typeface="Calibri"/>
            </a:endParaRPr>
          </a:p>
        </p:txBody>
      </p:sp>
    </p:spTree>
    <p:extLst>
      <p:ext uri="{BB962C8B-B14F-4D97-AF65-F5344CB8AC3E}">
        <p14:creationId xmlns:p14="http://schemas.microsoft.com/office/powerpoint/2010/main" val="2505444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819;p140">
            <a:extLst>
              <a:ext uri="{FF2B5EF4-FFF2-40B4-BE49-F238E27FC236}">
                <a16:creationId xmlns:a16="http://schemas.microsoft.com/office/drawing/2014/main" id="{F8A31FEF-ADAF-39E9-40B5-64517C3D90E2}"/>
              </a:ext>
            </a:extLst>
          </p:cNvPr>
          <p:cNvSpPr txBox="1">
            <a:spLocks/>
          </p:cNvSpPr>
          <p:nvPr/>
        </p:nvSpPr>
        <p:spPr>
          <a:xfrm>
            <a:off x="415600" y="55919"/>
            <a:ext cx="11360800" cy="763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4400" kern="0" dirty="0">
                <a:latin typeface="Aptos" panose="020B0004020202020204" pitchFamily="34" charset="0"/>
              </a:rPr>
              <a:t>Kaminsky Attack: Example</a:t>
            </a:r>
          </a:p>
        </p:txBody>
      </p:sp>
      <p:sp>
        <p:nvSpPr>
          <p:cNvPr id="5" name="Google Shape;1427;p93">
            <a:extLst>
              <a:ext uri="{FF2B5EF4-FFF2-40B4-BE49-F238E27FC236}">
                <a16:creationId xmlns:a16="http://schemas.microsoft.com/office/drawing/2014/main" id="{44748610-D315-42B8-29E7-AEB879EED570}"/>
              </a:ext>
            </a:extLst>
          </p:cNvPr>
          <p:cNvSpPr txBox="1"/>
          <p:nvPr/>
        </p:nvSpPr>
        <p:spPr>
          <a:xfrm>
            <a:off x="1909388" y="1199450"/>
            <a:ext cx="8373223" cy="763600"/>
          </a:xfrm>
          <a:prstGeom prst="rect">
            <a:avLst/>
          </a:prstGeom>
          <a:solidFill>
            <a:srgbClr val="C9DAF8"/>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2000" dirty="0">
                <a:solidFill>
                  <a:schemeClr val="dk1"/>
                </a:solidFill>
              </a:rPr>
              <a:t>If</a:t>
            </a:r>
            <a:r>
              <a:rPr lang="en" sz="2000" dirty="0"/>
              <a:t> attacker wins the race condition </a:t>
            </a:r>
            <a:r>
              <a:rPr lang="en" sz="2000" b="1" dirty="0"/>
              <a:t>and</a:t>
            </a:r>
            <a:r>
              <a:rPr lang="en" sz="2000" dirty="0"/>
              <a:t> guesses the correct ID during any one of these DNS queries, attacker’s IP will be cached</a:t>
            </a:r>
            <a:endParaRPr sz="2000" dirty="0"/>
          </a:p>
        </p:txBody>
      </p:sp>
      <p:cxnSp>
        <p:nvCxnSpPr>
          <p:cNvPr id="28" name="Google Shape;1412;p92">
            <a:extLst>
              <a:ext uri="{FF2B5EF4-FFF2-40B4-BE49-F238E27FC236}">
                <a16:creationId xmlns:a16="http://schemas.microsoft.com/office/drawing/2014/main" id="{89EF02EE-4949-98E7-0E84-A001814C0775}"/>
              </a:ext>
            </a:extLst>
          </p:cNvPr>
          <p:cNvCxnSpPr>
            <a:cxnSpLocks/>
          </p:cNvCxnSpPr>
          <p:nvPr/>
        </p:nvCxnSpPr>
        <p:spPr>
          <a:xfrm flipV="1">
            <a:off x="4222913" y="5850393"/>
            <a:ext cx="5946999" cy="390546"/>
          </a:xfrm>
          <a:prstGeom prst="straightConnector1">
            <a:avLst/>
          </a:prstGeom>
          <a:noFill/>
          <a:ln w="19050" cap="flat" cmpd="sng">
            <a:solidFill>
              <a:srgbClr val="FF0000"/>
            </a:solidFill>
            <a:prstDash val="solid"/>
            <a:round/>
            <a:headEnd type="triangle" w="med" len="med"/>
            <a:tailEnd type="none" w="med" len="med"/>
          </a:ln>
        </p:spPr>
      </p:cxnSp>
      <p:grpSp>
        <p:nvGrpSpPr>
          <p:cNvPr id="29" name="Google Shape;1413;p92">
            <a:extLst>
              <a:ext uri="{FF2B5EF4-FFF2-40B4-BE49-F238E27FC236}">
                <a16:creationId xmlns:a16="http://schemas.microsoft.com/office/drawing/2014/main" id="{9C1E606E-1DFD-3572-613A-F2C48E8E08BC}"/>
              </a:ext>
            </a:extLst>
          </p:cNvPr>
          <p:cNvGrpSpPr/>
          <p:nvPr/>
        </p:nvGrpSpPr>
        <p:grpSpPr>
          <a:xfrm>
            <a:off x="5579451" y="4691487"/>
            <a:ext cx="4240800" cy="912000"/>
            <a:chOff x="3404963" y="3983263"/>
            <a:chExt cx="4240800" cy="912000"/>
          </a:xfrm>
        </p:grpSpPr>
        <p:sp>
          <p:nvSpPr>
            <p:cNvPr id="30" name="Google Shape;1414;p92">
              <a:extLst>
                <a:ext uri="{FF2B5EF4-FFF2-40B4-BE49-F238E27FC236}">
                  <a16:creationId xmlns:a16="http://schemas.microsoft.com/office/drawing/2014/main" id="{D80C639C-05AE-42E6-FA01-D179A52FC08B}"/>
                </a:ext>
              </a:extLst>
            </p:cNvPr>
            <p:cNvSpPr txBox="1"/>
            <p:nvPr/>
          </p:nvSpPr>
          <p:spPr>
            <a:xfrm>
              <a:off x="3404963" y="3983263"/>
              <a:ext cx="4240800" cy="912000"/>
            </a:xfrm>
            <a:prstGeom prst="rect">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rPr>
                <a:t>“I don’t know. But I have delegated authority to the </a:t>
              </a:r>
              <a:r>
                <a:rPr lang="en" sz="1200" b="1">
                  <a:solidFill>
                    <a:schemeClr val="dk1"/>
                  </a:solidFill>
                  <a:latin typeface="Courier New"/>
                  <a:ea typeface="Courier New"/>
                  <a:cs typeface="Courier New"/>
                  <a:sym typeface="Courier New"/>
                </a:rPr>
                <a:t>fake27.google.com.</a:t>
              </a:r>
              <a:r>
                <a:rPr lang="en" sz="1200">
                  <a:solidFill>
                    <a:schemeClr val="dk1"/>
                  </a:solidFill>
                </a:rPr>
                <a:t> NS. This response has ID 161.</a:t>
              </a:r>
              <a:endParaRPr sz="1200">
                <a:solidFill>
                  <a:schemeClr val="dk1"/>
                </a:solidFill>
              </a:endParaRPr>
            </a:p>
            <a:p>
              <a:pPr marL="0" lvl="0" indent="0" algn="l" rtl="0">
                <a:spcBef>
                  <a:spcPts val="0"/>
                </a:spcBef>
                <a:spcAft>
                  <a:spcPts val="0"/>
                </a:spcAft>
                <a:buNone/>
              </a:pPr>
              <a:r>
                <a:rPr lang="en" sz="1200">
                  <a:solidFill>
                    <a:schemeClr val="dk1"/>
                  </a:solidFill>
                </a:rPr>
                <a:t>Authority: </a:t>
              </a:r>
              <a:r>
                <a:rPr lang="en" sz="1200" b="1">
                  <a:solidFill>
                    <a:schemeClr val="dk1"/>
                  </a:solidFill>
                  <a:latin typeface="Courier New"/>
                  <a:ea typeface="Courier New"/>
                  <a:cs typeface="Courier New"/>
                  <a:sym typeface="Courier New"/>
                </a:rPr>
                <a:t>fake27.google.com.</a:t>
              </a:r>
              <a:r>
                <a:rPr lang="en" sz="1200">
                  <a:solidFill>
                    <a:schemeClr val="dk1"/>
                  </a:solidFill>
                </a:rPr>
                <a:t> NS  </a:t>
              </a:r>
              <a:r>
                <a:rPr lang="en" sz="1200" b="1">
                  <a:solidFill>
                    <a:schemeClr val="dk1"/>
                  </a:solidFill>
                  <a:latin typeface="Courier New"/>
                  <a:ea typeface="Courier New"/>
                  <a:cs typeface="Courier New"/>
                  <a:sym typeface="Courier New"/>
                </a:rPr>
                <a:t>www.google.com</a:t>
              </a:r>
              <a:endParaRPr sz="1200">
                <a:solidFill>
                  <a:schemeClr val="dk1"/>
                </a:solidFill>
              </a:endParaRPr>
            </a:p>
            <a:p>
              <a:pPr marL="0" lvl="0" indent="0" algn="l" rtl="0">
                <a:lnSpc>
                  <a:spcPct val="115000"/>
                </a:lnSpc>
                <a:spcBef>
                  <a:spcPts val="0"/>
                </a:spcBef>
                <a:spcAft>
                  <a:spcPts val="0"/>
                </a:spcAft>
                <a:buNone/>
              </a:pPr>
              <a:r>
                <a:rPr lang="en" sz="1200">
                  <a:solidFill>
                    <a:schemeClr val="dk1"/>
                  </a:solidFill>
                </a:rPr>
                <a:t>Additional:  </a:t>
              </a:r>
              <a:r>
                <a:rPr lang="en" sz="1200" b="1">
                  <a:solidFill>
                    <a:schemeClr val="dk1"/>
                  </a:solidFill>
                  <a:latin typeface="Courier New"/>
                  <a:ea typeface="Courier New"/>
                  <a:cs typeface="Courier New"/>
                  <a:sym typeface="Courier New"/>
                </a:rPr>
                <a:t>www.google.com.</a:t>
              </a:r>
              <a:r>
                <a:rPr lang="en" sz="1200">
                  <a:solidFill>
                    <a:schemeClr val="dk1"/>
                  </a:solidFill>
                </a:rPr>
                <a:t> A </a:t>
              </a:r>
              <a:r>
                <a:rPr lang="en" sz="1200" b="1">
                  <a:solidFill>
                    <a:schemeClr val="dk1"/>
                  </a:solidFill>
                  <a:latin typeface="Courier New"/>
                  <a:ea typeface="Courier New"/>
                  <a:cs typeface="Courier New"/>
                  <a:sym typeface="Courier New"/>
                </a:rPr>
                <a:t>6.6.6.6</a:t>
              </a:r>
              <a:r>
                <a:rPr lang="en" sz="1200">
                  <a:solidFill>
                    <a:schemeClr val="dk1"/>
                  </a:solidFill>
                </a:rPr>
                <a:t>”</a:t>
              </a:r>
              <a:endParaRPr sz="1200"/>
            </a:p>
          </p:txBody>
        </p:sp>
        <p:cxnSp>
          <p:nvCxnSpPr>
            <p:cNvPr id="31" name="Google Shape;1415;p92">
              <a:extLst>
                <a:ext uri="{FF2B5EF4-FFF2-40B4-BE49-F238E27FC236}">
                  <a16:creationId xmlns:a16="http://schemas.microsoft.com/office/drawing/2014/main" id="{9DB2BF70-1CA9-D409-1C57-6380A198315D}"/>
                </a:ext>
              </a:extLst>
            </p:cNvPr>
            <p:cNvCxnSpPr>
              <a:stCxn id="30" idx="1"/>
              <a:endCxn id="30" idx="3"/>
            </p:cNvCxnSpPr>
            <p:nvPr/>
          </p:nvCxnSpPr>
          <p:spPr>
            <a:xfrm>
              <a:off x="3404963" y="4439263"/>
              <a:ext cx="4240800" cy="0"/>
            </a:xfrm>
            <a:prstGeom prst="straightConnector1">
              <a:avLst/>
            </a:prstGeom>
            <a:noFill/>
            <a:ln w="9525" cap="flat" cmpd="sng">
              <a:solidFill>
                <a:schemeClr val="dk2"/>
              </a:solidFill>
              <a:prstDash val="solid"/>
              <a:round/>
              <a:headEnd type="none" w="med" len="med"/>
              <a:tailEnd type="none" w="med" len="med"/>
            </a:ln>
          </p:spPr>
        </p:cxnSp>
      </p:grpSp>
      <p:sp>
        <p:nvSpPr>
          <p:cNvPr id="32" name="Google Shape;94;p18">
            <a:extLst>
              <a:ext uri="{FF2B5EF4-FFF2-40B4-BE49-F238E27FC236}">
                <a16:creationId xmlns:a16="http://schemas.microsoft.com/office/drawing/2014/main" id="{75870D99-C3E9-D882-F7F9-0C8C3D1E1256}"/>
              </a:ext>
            </a:extLst>
          </p:cNvPr>
          <p:cNvSpPr txBox="1"/>
          <p:nvPr/>
        </p:nvSpPr>
        <p:spPr>
          <a:xfrm>
            <a:off x="10281037" y="5501587"/>
            <a:ext cx="1495363" cy="58745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latin typeface="Courier New"/>
                <a:ea typeface="Courier New"/>
                <a:cs typeface="Courier New"/>
                <a:sym typeface="Courier New"/>
              </a:rPr>
              <a:t>Attacker</a:t>
            </a:r>
            <a:endParaRPr b="1" dirty="0">
              <a:latin typeface="Calibri"/>
              <a:ea typeface="Calibri"/>
              <a:cs typeface="Calibri"/>
              <a:sym typeface="Calibri"/>
            </a:endParaRPr>
          </a:p>
        </p:txBody>
      </p:sp>
      <p:sp>
        <p:nvSpPr>
          <p:cNvPr id="33" name="Google Shape;1382;p92">
            <a:extLst>
              <a:ext uri="{FF2B5EF4-FFF2-40B4-BE49-F238E27FC236}">
                <a16:creationId xmlns:a16="http://schemas.microsoft.com/office/drawing/2014/main" id="{02488E7E-D170-9971-DA6D-3728847632CF}"/>
              </a:ext>
            </a:extLst>
          </p:cNvPr>
          <p:cNvSpPr/>
          <p:nvPr/>
        </p:nvSpPr>
        <p:spPr>
          <a:xfrm>
            <a:off x="294825" y="2343150"/>
            <a:ext cx="3928088" cy="4113406"/>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383;p92">
            <a:extLst>
              <a:ext uri="{FF2B5EF4-FFF2-40B4-BE49-F238E27FC236}">
                <a16:creationId xmlns:a16="http://schemas.microsoft.com/office/drawing/2014/main" id="{774D3F76-0CD0-F01B-51A4-133F4A10AF39}"/>
              </a:ext>
            </a:extLst>
          </p:cNvPr>
          <p:cNvSpPr txBox="1"/>
          <p:nvPr/>
        </p:nvSpPr>
        <p:spPr>
          <a:xfrm>
            <a:off x="378525" y="2431551"/>
            <a:ext cx="3719378" cy="564872"/>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graphicFrame>
        <p:nvGraphicFramePr>
          <p:cNvPr id="35" name="Google Shape;1384;p92">
            <a:extLst>
              <a:ext uri="{FF2B5EF4-FFF2-40B4-BE49-F238E27FC236}">
                <a16:creationId xmlns:a16="http://schemas.microsoft.com/office/drawing/2014/main" id="{B9AC8E3A-F438-7EBC-13A4-99D7A7398E53}"/>
              </a:ext>
            </a:extLst>
          </p:cNvPr>
          <p:cNvGraphicFramePr/>
          <p:nvPr>
            <p:extLst>
              <p:ext uri="{D42A27DB-BD31-4B8C-83A1-F6EECF244321}">
                <p14:modId xmlns:p14="http://schemas.microsoft.com/office/powerpoint/2010/main" val="707238503"/>
              </p:ext>
            </p:extLst>
          </p:nvPr>
        </p:nvGraphicFramePr>
        <p:xfrm>
          <a:off x="378525" y="2825150"/>
          <a:ext cx="3719316" cy="3506649"/>
        </p:xfrm>
        <a:graphic>
          <a:graphicData uri="http://schemas.openxmlformats.org/drawingml/2006/table">
            <a:tbl>
              <a:tblPr>
                <a:noFill/>
              </a:tblPr>
              <a:tblGrid>
                <a:gridCol w="1859658">
                  <a:extLst>
                    <a:ext uri="{9D8B030D-6E8A-4147-A177-3AD203B41FA5}">
                      <a16:colId xmlns:a16="http://schemas.microsoft.com/office/drawing/2014/main" val="20000"/>
                    </a:ext>
                  </a:extLst>
                </a:gridCol>
                <a:gridCol w="1859658">
                  <a:extLst>
                    <a:ext uri="{9D8B030D-6E8A-4147-A177-3AD203B41FA5}">
                      <a16:colId xmlns:a16="http://schemas.microsoft.com/office/drawing/2014/main" val="20001"/>
                    </a:ext>
                  </a:extLst>
                </a:gridCol>
              </a:tblGrid>
              <a:tr h="503003">
                <a:tc gridSpan="2">
                  <a:txBody>
                    <a:bodyPr/>
                    <a:lstStyle/>
                    <a:p>
                      <a:pPr marL="0" lvl="0" indent="0" algn="ctr" rtl="0">
                        <a:spcBef>
                          <a:spcPts val="0"/>
                        </a:spcBef>
                        <a:spcAft>
                          <a:spcPts val="0"/>
                        </a:spcAft>
                        <a:buNone/>
                      </a:pPr>
                      <a:r>
                        <a:rPr lang="en" sz="1200" dirty="0">
                          <a:latin typeface="Courier New"/>
                          <a:ea typeface="Courier New"/>
                          <a:cs typeface="Courier New"/>
                          <a:sym typeface="Courier New"/>
                        </a:rPr>
                        <a:t>Recursive Resolver Cache</a:t>
                      </a:r>
                      <a:endParaRPr sz="1200" dirty="0">
                        <a:latin typeface="Courier New"/>
                        <a:ea typeface="Courier New"/>
                        <a:cs typeface="Courier New"/>
                        <a:sym typeface="Courier New"/>
                      </a:endParaRPr>
                    </a:p>
                  </a:txBody>
                  <a:tcPr marL="91425" marR="91425" marT="91425" marB="91425">
                    <a:lnB w="9525" cap="flat" cmpd="sng">
                      <a:solidFill>
                        <a:srgbClr val="9E9E9E"/>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0"/>
                  </a:ext>
                </a:extLst>
              </a:tr>
              <a:tr h="481406">
                <a:tc>
                  <a:txBody>
                    <a:bodyPr/>
                    <a:lstStyle/>
                    <a:p>
                      <a:pPr marL="0" lvl="0" indent="0" algn="l" rtl="0">
                        <a:lnSpc>
                          <a:spcPct val="115000"/>
                        </a:lnSpc>
                        <a:spcBef>
                          <a:spcPts val="0"/>
                        </a:spcBef>
                        <a:spcAft>
                          <a:spcPts val="0"/>
                        </a:spcAft>
                        <a:buNone/>
                      </a:pPr>
                      <a:r>
                        <a:rPr lang="en" sz="1200" dirty="0">
                          <a:solidFill>
                            <a:schemeClr val="dk1"/>
                          </a:solidFill>
                          <a:latin typeface="Courier New"/>
                          <a:ea typeface="Courier New"/>
                          <a:cs typeface="Courier New"/>
                          <a:sym typeface="Courier New"/>
                        </a:rPr>
                        <a:t>a.gtld-servers.net.</a:t>
                      </a:r>
                      <a:endParaRPr sz="1200" dirty="0">
                        <a:solidFill>
                          <a:schemeClr val="dk1"/>
                        </a:solidFill>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r>
                        <a:rPr lang="en" sz="1200">
                          <a:solidFill>
                            <a:schemeClr val="dk1"/>
                          </a:solidFill>
                          <a:latin typeface="Courier New"/>
                          <a:ea typeface="Courier New"/>
                          <a:cs typeface="Courier New"/>
                          <a:sym typeface="Courier New"/>
                        </a:rPr>
                        <a:t>192.5.6.30</a:t>
                      </a:r>
                      <a:endParaRPr sz="1200">
                        <a:solidFill>
                          <a:schemeClr val="dk1"/>
                        </a:solidFill>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481406">
                <a:tc>
                  <a:txBody>
                    <a:bodyPr/>
                    <a:lstStyle/>
                    <a:p>
                      <a:pPr marL="0" lvl="0" indent="0" algn="l" rtl="0">
                        <a:lnSpc>
                          <a:spcPct val="115000"/>
                        </a:lnSpc>
                        <a:spcBef>
                          <a:spcPts val="0"/>
                        </a:spcBef>
                        <a:spcAft>
                          <a:spcPts val="0"/>
                        </a:spcAft>
                        <a:buNone/>
                      </a:pPr>
                      <a:r>
                        <a:rPr lang="en" sz="1200" dirty="0">
                          <a:solidFill>
                            <a:schemeClr val="dk1"/>
                          </a:solidFill>
                          <a:latin typeface="Courier New"/>
                          <a:ea typeface="Courier New"/>
                          <a:cs typeface="Courier New"/>
                          <a:sym typeface="Courier New"/>
                        </a:rPr>
                        <a:t>ns1.google.com.</a:t>
                      </a:r>
                      <a:endParaRPr sz="1200" dirty="0">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r>
                        <a:rPr lang="en" sz="1200" dirty="0">
                          <a:solidFill>
                            <a:schemeClr val="dk1"/>
                          </a:solidFill>
                          <a:latin typeface="Courier New"/>
                          <a:ea typeface="Courier New"/>
                          <a:cs typeface="Courier New"/>
                          <a:sym typeface="Courier New"/>
                        </a:rPr>
                        <a:t>216.239.32.10</a:t>
                      </a:r>
                      <a:endParaRPr sz="1200" dirty="0">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481406">
                <a:tc>
                  <a:txBody>
                    <a:bodyPr/>
                    <a:lstStyle/>
                    <a:p>
                      <a:pPr marL="0" lvl="0" indent="0" algn="l" rtl="0">
                        <a:lnSpc>
                          <a:spcPct val="115000"/>
                        </a:lnSpc>
                        <a:spcBef>
                          <a:spcPts val="0"/>
                        </a:spcBef>
                        <a:spcAft>
                          <a:spcPts val="0"/>
                        </a:spcAft>
                        <a:buNone/>
                      </a:pPr>
                      <a:r>
                        <a:rPr lang="en" sz="1200">
                          <a:latin typeface="Courier New"/>
                          <a:ea typeface="Courier New"/>
                          <a:cs typeface="Courier New"/>
                          <a:sym typeface="Courier New"/>
                        </a:rPr>
                        <a:t>fake1.google.com</a:t>
                      </a:r>
                      <a:endParaRPr sz="1200">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r>
                        <a:rPr lang="en" sz="1200" dirty="0">
                          <a:latin typeface="Courier New"/>
                          <a:ea typeface="Courier New"/>
                          <a:cs typeface="Courier New"/>
                          <a:sym typeface="Courier New"/>
                        </a:rPr>
                        <a:t>Doesn’t exist!</a:t>
                      </a:r>
                      <a:endParaRPr sz="1200" dirty="0">
                        <a:solidFill>
                          <a:srgbClr val="FF0000"/>
                        </a:solidFill>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481406">
                <a:tc>
                  <a:txBody>
                    <a:bodyPr/>
                    <a:lstStyle/>
                    <a:p>
                      <a:pPr marL="0" lvl="0" indent="0" algn="l" rtl="0">
                        <a:lnSpc>
                          <a:spcPct val="115000"/>
                        </a:lnSpc>
                        <a:spcBef>
                          <a:spcPts val="0"/>
                        </a:spcBef>
                        <a:spcAft>
                          <a:spcPts val="0"/>
                        </a:spcAft>
                        <a:buNone/>
                      </a:pPr>
                      <a:r>
                        <a:rPr lang="en" sz="1200">
                          <a:solidFill>
                            <a:schemeClr val="dk1"/>
                          </a:solidFill>
                          <a:latin typeface="Courier New"/>
                          <a:ea typeface="Courier New"/>
                          <a:cs typeface="Courier New"/>
                          <a:sym typeface="Courier New"/>
                        </a:rPr>
                        <a:t>…</a:t>
                      </a:r>
                      <a:endParaRPr sz="1200">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r>
                        <a:rPr lang="en" sz="1200" dirty="0">
                          <a:solidFill>
                            <a:schemeClr val="dk1"/>
                          </a:solidFill>
                          <a:latin typeface="Courier New"/>
                          <a:ea typeface="Courier New"/>
                          <a:cs typeface="Courier New"/>
                          <a:sym typeface="Courier New"/>
                        </a:rPr>
                        <a:t>Doesn’t exist!</a:t>
                      </a:r>
                      <a:endParaRPr sz="1200" dirty="0">
                        <a:solidFill>
                          <a:srgbClr val="FF0000"/>
                        </a:solidFill>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481406">
                <a:tc>
                  <a:txBody>
                    <a:bodyPr/>
                    <a:lstStyle/>
                    <a:p>
                      <a:pPr marL="0" lvl="0" indent="0" algn="l" rtl="0">
                        <a:lnSpc>
                          <a:spcPct val="115000"/>
                        </a:lnSpc>
                        <a:spcBef>
                          <a:spcPts val="0"/>
                        </a:spcBef>
                        <a:spcAft>
                          <a:spcPts val="0"/>
                        </a:spcAft>
                        <a:buNone/>
                      </a:pPr>
                      <a:r>
                        <a:rPr lang="en" sz="1200">
                          <a:solidFill>
                            <a:schemeClr val="dk1"/>
                          </a:solidFill>
                          <a:latin typeface="Courier New"/>
                          <a:ea typeface="Courier New"/>
                          <a:cs typeface="Courier New"/>
                          <a:sym typeface="Courier New"/>
                        </a:rPr>
                        <a:t>fake26.google.com</a:t>
                      </a:r>
                      <a:endParaRPr sz="1200">
                        <a:solidFill>
                          <a:schemeClr val="dk1"/>
                        </a:solidFill>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r>
                        <a:rPr lang="en" sz="1200" dirty="0">
                          <a:solidFill>
                            <a:schemeClr val="dk1"/>
                          </a:solidFill>
                          <a:latin typeface="Courier New"/>
                          <a:ea typeface="Courier New"/>
                          <a:cs typeface="Courier New"/>
                          <a:sym typeface="Courier New"/>
                        </a:rPr>
                        <a:t>Doesn’t exist!</a:t>
                      </a:r>
                      <a:endParaRPr sz="1200" dirty="0">
                        <a:solidFill>
                          <a:schemeClr val="dk1"/>
                        </a:solidFill>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481406">
                <a:tc>
                  <a:txBody>
                    <a:bodyPr/>
                    <a:lstStyle/>
                    <a:p>
                      <a:pPr marL="0" lvl="0" indent="0" algn="l" rtl="0">
                        <a:spcBef>
                          <a:spcPts val="0"/>
                        </a:spcBef>
                        <a:spcAft>
                          <a:spcPts val="0"/>
                        </a:spcAft>
                        <a:buNone/>
                      </a:pPr>
                      <a:r>
                        <a:rPr lang="en" sz="1500" b="1" dirty="0">
                          <a:latin typeface="Courier New"/>
                          <a:ea typeface="Courier New"/>
                          <a:cs typeface="Courier New"/>
                          <a:sym typeface="Courier New"/>
                        </a:rPr>
                        <a:t>www.google.com</a:t>
                      </a:r>
                      <a:endParaRPr sz="1500" b="1" dirty="0">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en" sz="1500" b="1" dirty="0">
                          <a:solidFill>
                            <a:srgbClr val="FF0000"/>
                          </a:solidFill>
                          <a:latin typeface="Courier New"/>
                          <a:ea typeface="Courier New"/>
                          <a:cs typeface="Courier New"/>
                          <a:sym typeface="Courier New"/>
                        </a:rPr>
                        <a:t>6.6.6.6</a:t>
                      </a:r>
                      <a:endParaRPr sz="1500" b="1" dirty="0">
                        <a:solidFill>
                          <a:srgbClr val="FF0000"/>
                        </a:solidFill>
                        <a:latin typeface="Courier New"/>
                        <a:ea typeface="Courier New"/>
                        <a:cs typeface="Courier New"/>
                        <a:sym typeface="Courier New"/>
                      </a:endParaRPr>
                    </a:p>
                  </a:txBody>
                  <a:tcPr marL="91425" marR="91425" marT="91425" marB="91425">
                    <a:lnL w="9525" cap="flat" cmpd="sng" algn="ctr">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2768364377"/>
                  </a:ext>
                </a:extLst>
              </a:tr>
            </a:tbl>
          </a:graphicData>
        </a:graphic>
      </p:graphicFrame>
    </p:spTree>
    <p:extLst>
      <p:ext uri="{BB962C8B-B14F-4D97-AF65-F5344CB8AC3E}">
        <p14:creationId xmlns:p14="http://schemas.microsoft.com/office/powerpoint/2010/main" val="3361911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Google Shape;98;p18">
            <a:extLst>
              <a:ext uri="{FF2B5EF4-FFF2-40B4-BE49-F238E27FC236}">
                <a16:creationId xmlns:a16="http://schemas.microsoft.com/office/drawing/2014/main" id="{202E84D4-B7E6-CC8C-DA8D-57D87FD67040}"/>
              </a:ext>
            </a:extLst>
          </p:cNvPr>
          <p:cNvSpPr/>
          <p:nvPr/>
        </p:nvSpPr>
        <p:spPr>
          <a:xfrm>
            <a:off x="164860" y="2572413"/>
            <a:ext cx="4056187" cy="2725728"/>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447;p94">
            <a:extLst>
              <a:ext uri="{FF2B5EF4-FFF2-40B4-BE49-F238E27FC236}">
                <a16:creationId xmlns:a16="http://schemas.microsoft.com/office/drawing/2014/main" id="{E64A2BE6-4C68-85FA-19F9-52E2A979A619}"/>
              </a:ext>
            </a:extLst>
          </p:cNvPr>
          <p:cNvSpPr txBox="1"/>
          <p:nvPr/>
        </p:nvSpPr>
        <p:spPr>
          <a:xfrm>
            <a:off x="4983290" y="1301149"/>
            <a:ext cx="4886849" cy="1015632"/>
          </a:xfrm>
          <a:prstGeom prst="rect">
            <a:avLst/>
          </a:prstGeom>
          <a:solidFill>
            <a:srgbClr val="C9DAF8"/>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dirty="0"/>
              <a:t>Now that the cache is poisoned, what happens when Alice wants to know the ip address of </a:t>
            </a:r>
            <a:r>
              <a:rPr lang="en" b="1" dirty="0">
                <a:latin typeface="Courier New"/>
                <a:ea typeface="Courier New"/>
                <a:cs typeface="Courier New"/>
                <a:sym typeface="Courier New"/>
              </a:rPr>
              <a:t>www.google.com</a:t>
            </a:r>
            <a:r>
              <a:rPr lang="en" dirty="0"/>
              <a:t>?</a:t>
            </a:r>
            <a:endParaRPr dirty="0"/>
          </a:p>
        </p:txBody>
      </p:sp>
      <p:sp>
        <p:nvSpPr>
          <p:cNvPr id="19" name="Google Shape;94;p18">
            <a:extLst>
              <a:ext uri="{FF2B5EF4-FFF2-40B4-BE49-F238E27FC236}">
                <a16:creationId xmlns:a16="http://schemas.microsoft.com/office/drawing/2014/main" id="{6DEDB853-B653-39DB-9AFF-897A9D7E0941}"/>
              </a:ext>
            </a:extLst>
          </p:cNvPr>
          <p:cNvSpPr txBox="1"/>
          <p:nvPr/>
        </p:nvSpPr>
        <p:spPr>
          <a:xfrm>
            <a:off x="1086878" y="1273669"/>
            <a:ext cx="2164021" cy="58745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Courier New"/>
                <a:ea typeface="Courier New"/>
                <a:cs typeface="Courier New"/>
                <a:sym typeface="Courier New"/>
              </a:rPr>
              <a:t>Stub Resolver</a:t>
            </a:r>
            <a:endParaRPr dirty="0">
              <a:latin typeface="Calibri"/>
              <a:ea typeface="Calibri"/>
              <a:cs typeface="Calibri"/>
              <a:sym typeface="Calibri"/>
            </a:endParaRPr>
          </a:p>
        </p:txBody>
      </p:sp>
      <p:sp>
        <p:nvSpPr>
          <p:cNvPr id="21" name="Google Shape;99;p18">
            <a:extLst>
              <a:ext uri="{FF2B5EF4-FFF2-40B4-BE49-F238E27FC236}">
                <a16:creationId xmlns:a16="http://schemas.microsoft.com/office/drawing/2014/main" id="{B195EF07-6500-6A60-8B55-ABCE473F9F99}"/>
              </a:ext>
            </a:extLst>
          </p:cNvPr>
          <p:cNvSpPr txBox="1"/>
          <p:nvPr/>
        </p:nvSpPr>
        <p:spPr>
          <a:xfrm>
            <a:off x="248560" y="2660813"/>
            <a:ext cx="3840671" cy="508261"/>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graphicFrame>
        <p:nvGraphicFramePr>
          <p:cNvPr id="22" name="Google Shape;100;p18">
            <a:extLst>
              <a:ext uri="{FF2B5EF4-FFF2-40B4-BE49-F238E27FC236}">
                <a16:creationId xmlns:a16="http://schemas.microsoft.com/office/drawing/2014/main" id="{99D1A677-4EE1-4B77-A0D1-316A46A70694}"/>
              </a:ext>
            </a:extLst>
          </p:cNvPr>
          <p:cNvGraphicFramePr/>
          <p:nvPr/>
        </p:nvGraphicFramePr>
        <p:xfrm>
          <a:off x="248586" y="3054413"/>
          <a:ext cx="3840606" cy="2003053"/>
        </p:xfrm>
        <a:graphic>
          <a:graphicData uri="http://schemas.openxmlformats.org/drawingml/2006/table">
            <a:tbl>
              <a:tblPr>
                <a:noFill/>
              </a:tblPr>
              <a:tblGrid>
                <a:gridCol w="1920303">
                  <a:extLst>
                    <a:ext uri="{9D8B030D-6E8A-4147-A177-3AD203B41FA5}">
                      <a16:colId xmlns:a16="http://schemas.microsoft.com/office/drawing/2014/main" val="20000"/>
                    </a:ext>
                  </a:extLst>
                </a:gridCol>
                <a:gridCol w="1920303">
                  <a:extLst>
                    <a:ext uri="{9D8B030D-6E8A-4147-A177-3AD203B41FA5}">
                      <a16:colId xmlns:a16="http://schemas.microsoft.com/office/drawing/2014/main" val="20001"/>
                    </a:ext>
                  </a:extLst>
                </a:gridCol>
              </a:tblGrid>
              <a:tr h="452593">
                <a:tc gridSpan="2">
                  <a:txBody>
                    <a:bodyPr/>
                    <a:lstStyle/>
                    <a:p>
                      <a:pPr marL="0" lvl="0" indent="0" algn="ctr" rtl="0">
                        <a:spcBef>
                          <a:spcPts val="0"/>
                        </a:spcBef>
                        <a:spcAft>
                          <a:spcPts val="0"/>
                        </a:spcAft>
                        <a:buNone/>
                      </a:pPr>
                      <a:r>
                        <a:rPr lang="en" sz="1500" dirty="0">
                          <a:latin typeface="Courier New"/>
                          <a:ea typeface="Courier New"/>
                          <a:cs typeface="Courier New"/>
                          <a:sym typeface="Courier New"/>
                        </a:rPr>
                        <a:t>Recursive Resolver Cache</a:t>
                      </a:r>
                      <a:endParaRPr sz="1500" dirty="0">
                        <a:latin typeface="Courier New"/>
                        <a:ea typeface="Courier New"/>
                        <a:cs typeface="Courier New"/>
                        <a:sym typeface="Courier New"/>
                      </a:endParaRPr>
                    </a:p>
                  </a:txBody>
                  <a:tcPr marL="91425" marR="91425" marT="91425" marB="91425">
                    <a:lnB w="9525" cap="flat" cmpd="sng" algn="ctr">
                      <a:solidFill>
                        <a:srgbClr val="9E9E9E"/>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0"/>
                  </a:ext>
                </a:extLst>
              </a:tr>
              <a:tr h="433160">
                <a:tc>
                  <a:txBody>
                    <a:bodyPr/>
                    <a:lstStyle/>
                    <a:p>
                      <a:pPr marL="0" lvl="0" indent="0" algn="l" rtl="0">
                        <a:lnSpc>
                          <a:spcPct val="115000"/>
                        </a:lnSpc>
                        <a:spcBef>
                          <a:spcPts val="0"/>
                        </a:spcBef>
                        <a:spcAft>
                          <a:spcPts val="0"/>
                        </a:spcAft>
                        <a:buNone/>
                      </a:pPr>
                      <a:r>
                        <a:rPr lang="en-US" sz="1500" b="0" dirty="0">
                          <a:solidFill>
                            <a:schemeClr val="dk1"/>
                          </a:solidFill>
                          <a:latin typeface="Courier New"/>
                          <a:ea typeface="Courier New"/>
                          <a:cs typeface="Courier New"/>
                          <a:sym typeface="Courier New"/>
                        </a:rPr>
                        <a:t>a.gtld-servers.net</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r>
                        <a:rPr lang="en-US" sz="1500" b="0" dirty="0">
                          <a:solidFill>
                            <a:schemeClr val="dk1"/>
                          </a:solidFill>
                          <a:latin typeface="Courier New"/>
                          <a:ea typeface="Courier New"/>
                          <a:cs typeface="Courier New"/>
                          <a:sym typeface="Courier New"/>
                        </a:rPr>
                        <a:t>192.5.6.30</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433160">
                <a:tc>
                  <a:txBody>
                    <a:bodyPr/>
                    <a:lstStyle/>
                    <a:p>
                      <a:pPr marL="0" marR="0" lvl="0" indent="0" algn="l" rtl="0">
                        <a:lnSpc>
                          <a:spcPct val="115000"/>
                        </a:lnSpc>
                        <a:spcBef>
                          <a:spcPts val="0"/>
                        </a:spcBef>
                        <a:spcAft>
                          <a:spcPts val="0"/>
                        </a:spcAft>
                        <a:buClr>
                          <a:srgbClr val="000000"/>
                        </a:buClr>
                        <a:buFont typeface="Arial"/>
                        <a:buNone/>
                      </a:pPr>
                      <a:r>
                        <a:rPr lang="en-US" sz="1500" b="0" i="0" u="none" strike="noStrike" cap="none" dirty="0">
                          <a:solidFill>
                            <a:schemeClr val="dk1"/>
                          </a:solidFill>
                          <a:latin typeface="Courier New"/>
                          <a:ea typeface="Courier New"/>
                          <a:cs typeface="Courier New"/>
                          <a:sym typeface="Courier New"/>
                        </a:rPr>
                        <a:t>ns1.google.com</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solidFill>
                      <a:schemeClr val="lt1"/>
                    </a:solidFill>
                  </a:tcPr>
                </a:tc>
                <a:tc>
                  <a:txBody>
                    <a:bodyPr/>
                    <a:lstStyle/>
                    <a:p>
                      <a:pPr marL="0" marR="0" lvl="0" indent="0" algn="l" rtl="0">
                        <a:lnSpc>
                          <a:spcPct val="115000"/>
                        </a:lnSpc>
                        <a:spcBef>
                          <a:spcPts val="0"/>
                        </a:spcBef>
                        <a:spcAft>
                          <a:spcPts val="0"/>
                        </a:spcAft>
                        <a:buClr>
                          <a:srgbClr val="000000"/>
                        </a:buClr>
                        <a:buFont typeface="Arial"/>
                        <a:buNone/>
                      </a:pPr>
                      <a:r>
                        <a:rPr lang="en-US" sz="1500" b="0" i="0" u="none" strike="noStrike" cap="none" dirty="0">
                          <a:solidFill>
                            <a:schemeClr val="dk1"/>
                          </a:solidFill>
                          <a:latin typeface="Courier New"/>
                          <a:ea typeface="Courier New"/>
                          <a:cs typeface="Courier New"/>
                          <a:sym typeface="Courier New"/>
                        </a:rPr>
                        <a:t>216.239.32.10</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413234">
                <a:tc>
                  <a:txBody>
                    <a:bodyPr/>
                    <a:lstStyle/>
                    <a:p>
                      <a:pPr marL="0" lvl="0" indent="0" algn="l" rtl="0">
                        <a:spcBef>
                          <a:spcPts val="0"/>
                        </a:spcBef>
                        <a:spcAft>
                          <a:spcPts val="0"/>
                        </a:spcAft>
                        <a:buNone/>
                      </a:pPr>
                      <a:r>
                        <a:rPr lang="en" sz="1500" b="1" dirty="0">
                          <a:solidFill>
                            <a:srgbClr val="C00000"/>
                          </a:solidFill>
                          <a:latin typeface="Courier New"/>
                          <a:ea typeface="Courier New"/>
                          <a:cs typeface="Courier New"/>
                          <a:sym typeface="Courier New"/>
                        </a:rPr>
                        <a:t>www.google.com</a:t>
                      </a:r>
                      <a:endParaRPr sz="1500" b="1" dirty="0">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en" sz="1500" b="1" dirty="0">
                          <a:solidFill>
                            <a:srgbClr val="C00000"/>
                          </a:solidFill>
                          <a:latin typeface="Courier New"/>
                          <a:ea typeface="Courier New"/>
                          <a:cs typeface="Courier New"/>
                          <a:sym typeface="Courier New"/>
                        </a:rPr>
                        <a:t>6.6.6.6</a:t>
                      </a:r>
                      <a:endParaRPr sz="1500" b="1" dirty="0">
                        <a:solidFill>
                          <a:srgbClr val="C00000"/>
                        </a:solidFill>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bl>
          </a:graphicData>
        </a:graphic>
      </p:graphicFrame>
      <p:grpSp>
        <p:nvGrpSpPr>
          <p:cNvPr id="23" name="Google Shape;112;p19">
            <a:extLst>
              <a:ext uri="{FF2B5EF4-FFF2-40B4-BE49-F238E27FC236}">
                <a16:creationId xmlns:a16="http://schemas.microsoft.com/office/drawing/2014/main" id="{C4CECC15-C0F4-25F6-59FD-0EAE2267D14C}"/>
              </a:ext>
            </a:extLst>
          </p:cNvPr>
          <p:cNvGrpSpPr/>
          <p:nvPr/>
        </p:nvGrpSpPr>
        <p:grpSpPr>
          <a:xfrm>
            <a:off x="1400223" y="1930411"/>
            <a:ext cx="410100" cy="572709"/>
            <a:chOff x="258935" y="2049228"/>
            <a:chExt cx="410100" cy="762900"/>
          </a:xfrm>
        </p:grpSpPr>
        <p:sp>
          <p:nvSpPr>
            <p:cNvPr id="24" name="Google Shape;113;p19">
              <a:extLst>
                <a:ext uri="{FF2B5EF4-FFF2-40B4-BE49-F238E27FC236}">
                  <a16:creationId xmlns:a16="http://schemas.microsoft.com/office/drawing/2014/main" id="{4877F01F-8181-D710-5D51-5CDC68BAA54B}"/>
                </a:ext>
              </a:extLst>
            </p:cNvPr>
            <p:cNvSpPr txBox="1"/>
            <p:nvPr/>
          </p:nvSpPr>
          <p:spPr>
            <a:xfrm>
              <a:off x="258935" y="2174852"/>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1</a:t>
              </a:r>
              <a:endParaRPr dirty="0">
                <a:latin typeface="Calibri"/>
                <a:ea typeface="Calibri"/>
                <a:cs typeface="Calibri"/>
                <a:sym typeface="Calibri"/>
              </a:endParaRPr>
            </a:p>
          </p:txBody>
        </p:sp>
        <p:cxnSp>
          <p:nvCxnSpPr>
            <p:cNvPr id="25" name="Google Shape;114;p19">
              <a:extLst>
                <a:ext uri="{FF2B5EF4-FFF2-40B4-BE49-F238E27FC236}">
                  <a16:creationId xmlns:a16="http://schemas.microsoft.com/office/drawing/2014/main" id="{E6E60805-7DFE-A906-F9DA-196FBC5520D2}"/>
                </a:ext>
              </a:extLst>
            </p:cNvPr>
            <p:cNvCxnSpPr/>
            <p:nvPr/>
          </p:nvCxnSpPr>
          <p:spPr>
            <a:xfrm rot="10800000">
              <a:off x="530725" y="2049228"/>
              <a:ext cx="0" cy="762900"/>
            </a:xfrm>
            <a:prstGeom prst="straightConnector1">
              <a:avLst/>
            </a:prstGeom>
            <a:noFill/>
            <a:ln w="19050" cap="flat" cmpd="sng">
              <a:solidFill>
                <a:srgbClr val="000000"/>
              </a:solidFill>
              <a:prstDash val="solid"/>
              <a:round/>
              <a:headEnd type="triangle" w="med" len="med"/>
              <a:tailEnd type="none" w="med" len="med"/>
            </a:ln>
          </p:spPr>
        </p:cxnSp>
      </p:grpSp>
      <p:sp>
        <p:nvSpPr>
          <p:cNvPr id="26" name="Google Shape;1819;p140">
            <a:extLst>
              <a:ext uri="{FF2B5EF4-FFF2-40B4-BE49-F238E27FC236}">
                <a16:creationId xmlns:a16="http://schemas.microsoft.com/office/drawing/2014/main" id="{07B0BE71-1A1D-CD03-0DA3-A3C0008DD636}"/>
              </a:ext>
            </a:extLst>
          </p:cNvPr>
          <p:cNvSpPr txBox="1">
            <a:spLocks noGrp="1"/>
          </p:cNvSpPr>
          <p:nvPr>
            <p:ph type="title"/>
          </p:nvPr>
        </p:nvSpPr>
        <p:spPr>
          <a:xfrm>
            <a:off x="415600" y="55919"/>
            <a:ext cx="11360800" cy="763600"/>
          </a:xfrm>
          <a:prstGeom prst="rect">
            <a:avLst/>
          </a:prstGeom>
        </p:spPr>
        <p:txBody>
          <a:bodyPr spcFirstLastPara="1" wrap="square" lIns="121900" tIns="121900" rIns="121900" bIns="121900" anchor="t" anchorCtr="0">
            <a:noAutofit/>
          </a:bodyPr>
          <a:lstStyle/>
          <a:p>
            <a:r>
              <a:rPr lang="en" sz="4400" dirty="0">
                <a:latin typeface="Aptos" panose="020B0004020202020204" pitchFamily="34" charset="0"/>
              </a:rPr>
              <a:t>Kaminsky Attack: Example</a:t>
            </a:r>
            <a:endParaRPr sz="4400" dirty="0">
              <a:latin typeface="Aptos" panose="020B0004020202020204" pitchFamily="34" charset="0"/>
            </a:endParaRPr>
          </a:p>
        </p:txBody>
      </p:sp>
      <p:pic>
        <p:nvPicPr>
          <p:cNvPr id="41" name="Google Shape;1438;p94">
            <a:extLst>
              <a:ext uri="{FF2B5EF4-FFF2-40B4-BE49-F238E27FC236}">
                <a16:creationId xmlns:a16="http://schemas.microsoft.com/office/drawing/2014/main" id="{D03F52C8-C406-53A9-007C-23F63D80605E}"/>
              </a:ext>
            </a:extLst>
          </p:cNvPr>
          <p:cNvPicPr preferRelativeResize="0"/>
          <p:nvPr/>
        </p:nvPicPr>
        <p:blipFill rotWithShape="1">
          <a:blip r:embed="rId2">
            <a:alphaModFix/>
          </a:blip>
          <a:srcRect l="5310" t="16627" r="80092" b="57590"/>
          <a:stretch/>
        </p:blipFill>
        <p:spPr>
          <a:xfrm>
            <a:off x="1585199" y="5584331"/>
            <a:ext cx="948568" cy="880532"/>
          </a:xfrm>
          <a:prstGeom prst="rect">
            <a:avLst/>
          </a:prstGeom>
          <a:noFill/>
          <a:ln>
            <a:noFill/>
          </a:ln>
        </p:spPr>
      </p:pic>
      <p:sp>
        <p:nvSpPr>
          <p:cNvPr id="43" name="Cloud 42">
            <a:extLst>
              <a:ext uri="{FF2B5EF4-FFF2-40B4-BE49-F238E27FC236}">
                <a16:creationId xmlns:a16="http://schemas.microsoft.com/office/drawing/2014/main" id="{D3A68F0F-56EE-79D4-C339-8AE069F9E07E}"/>
              </a:ext>
            </a:extLst>
          </p:cNvPr>
          <p:cNvSpPr/>
          <p:nvPr/>
        </p:nvSpPr>
        <p:spPr>
          <a:xfrm>
            <a:off x="6670176" y="4481473"/>
            <a:ext cx="2881880" cy="1190933"/>
          </a:xfrm>
          <a:prstGeom prst="cloud">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b="1" dirty="0">
                <a:solidFill>
                  <a:schemeClr val="tx1"/>
                </a:solidFill>
                <a:latin typeface="Courier New"/>
                <a:ea typeface="Courier New"/>
                <a:cs typeface="Courier New"/>
                <a:sym typeface="Courier New"/>
              </a:rPr>
              <a:t>6.6.6.6</a:t>
            </a:r>
          </a:p>
          <a:p>
            <a:pPr lvl="0" algn="ctr"/>
            <a:r>
              <a:rPr lang="en-US" b="1" dirty="0">
                <a:solidFill>
                  <a:schemeClr val="tx1"/>
                </a:solidFill>
                <a:latin typeface="Courier New"/>
                <a:ea typeface="Courier New"/>
                <a:cs typeface="Courier New"/>
                <a:sym typeface="Courier New"/>
              </a:rPr>
              <a:t>Attacker</a:t>
            </a:r>
            <a:endParaRPr lang="en-US" b="1" dirty="0">
              <a:solidFill>
                <a:schemeClr val="tx1"/>
              </a:solidFill>
              <a:latin typeface="Calibri"/>
              <a:ea typeface="Calibri"/>
              <a:cs typeface="Calibri"/>
              <a:sym typeface="Calibri"/>
            </a:endParaRPr>
          </a:p>
        </p:txBody>
      </p:sp>
      <p:sp>
        <p:nvSpPr>
          <p:cNvPr id="44" name="Cloud 43">
            <a:extLst>
              <a:ext uri="{FF2B5EF4-FFF2-40B4-BE49-F238E27FC236}">
                <a16:creationId xmlns:a16="http://schemas.microsoft.com/office/drawing/2014/main" id="{80C83F2D-27CD-A31B-D98F-6CF558C7EB35}"/>
              </a:ext>
            </a:extLst>
          </p:cNvPr>
          <p:cNvSpPr/>
          <p:nvPr/>
        </p:nvSpPr>
        <p:spPr>
          <a:xfrm>
            <a:off x="8466890" y="2421245"/>
            <a:ext cx="3793332" cy="1266335"/>
          </a:xfrm>
          <a:prstGeom prst="cloud">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www.google.com</a:t>
            </a:r>
          </a:p>
        </p:txBody>
      </p:sp>
    </p:spTree>
    <p:extLst>
      <p:ext uri="{BB962C8B-B14F-4D97-AF65-F5344CB8AC3E}">
        <p14:creationId xmlns:p14="http://schemas.microsoft.com/office/powerpoint/2010/main" val="22604701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309BD-A14C-B714-0DE4-A8CD6E85F5AB}"/>
            </a:ext>
          </a:extLst>
        </p:cNvPr>
        <p:cNvGrpSpPr/>
        <p:nvPr/>
      </p:nvGrpSpPr>
      <p:grpSpPr>
        <a:xfrm>
          <a:off x="0" y="0"/>
          <a:ext cx="0" cy="0"/>
          <a:chOff x="0" y="0"/>
          <a:chExt cx="0" cy="0"/>
        </a:xfrm>
      </p:grpSpPr>
      <p:sp>
        <p:nvSpPr>
          <p:cNvPr id="19" name="Google Shape;94;p18">
            <a:extLst>
              <a:ext uri="{FF2B5EF4-FFF2-40B4-BE49-F238E27FC236}">
                <a16:creationId xmlns:a16="http://schemas.microsoft.com/office/drawing/2014/main" id="{3F1C013A-3463-55D2-1415-D329E0EC549B}"/>
              </a:ext>
            </a:extLst>
          </p:cNvPr>
          <p:cNvSpPr txBox="1"/>
          <p:nvPr/>
        </p:nvSpPr>
        <p:spPr>
          <a:xfrm>
            <a:off x="1086878" y="1273669"/>
            <a:ext cx="2164021" cy="58745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Courier New"/>
                <a:ea typeface="Courier New"/>
                <a:cs typeface="Courier New"/>
                <a:sym typeface="Courier New"/>
              </a:rPr>
              <a:t>Stub Resolver</a:t>
            </a:r>
            <a:endParaRPr dirty="0">
              <a:latin typeface="Calibri"/>
              <a:ea typeface="Calibri"/>
              <a:cs typeface="Calibri"/>
              <a:sym typeface="Calibri"/>
            </a:endParaRPr>
          </a:p>
        </p:txBody>
      </p:sp>
      <p:sp>
        <p:nvSpPr>
          <p:cNvPr id="20" name="Google Shape;98;p18">
            <a:extLst>
              <a:ext uri="{FF2B5EF4-FFF2-40B4-BE49-F238E27FC236}">
                <a16:creationId xmlns:a16="http://schemas.microsoft.com/office/drawing/2014/main" id="{FB44108B-C004-86F1-2520-BA2FB9B653F3}"/>
              </a:ext>
            </a:extLst>
          </p:cNvPr>
          <p:cNvSpPr/>
          <p:nvPr/>
        </p:nvSpPr>
        <p:spPr>
          <a:xfrm>
            <a:off x="164860" y="2572413"/>
            <a:ext cx="4056187" cy="2725728"/>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99;p18">
            <a:extLst>
              <a:ext uri="{FF2B5EF4-FFF2-40B4-BE49-F238E27FC236}">
                <a16:creationId xmlns:a16="http://schemas.microsoft.com/office/drawing/2014/main" id="{473EEC89-D5C3-4C78-260F-040C371A30F1}"/>
              </a:ext>
            </a:extLst>
          </p:cNvPr>
          <p:cNvSpPr txBox="1"/>
          <p:nvPr/>
        </p:nvSpPr>
        <p:spPr>
          <a:xfrm>
            <a:off x="248560" y="2660813"/>
            <a:ext cx="3840671" cy="508261"/>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graphicFrame>
        <p:nvGraphicFramePr>
          <p:cNvPr id="22" name="Google Shape;100;p18">
            <a:extLst>
              <a:ext uri="{FF2B5EF4-FFF2-40B4-BE49-F238E27FC236}">
                <a16:creationId xmlns:a16="http://schemas.microsoft.com/office/drawing/2014/main" id="{80C537B0-8E8E-A85C-BDFD-B63A0EF75E9F}"/>
              </a:ext>
            </a:extLst>
          </p:cNvPr>
          <p:cNvGraphicFramePr/>
          <p:nvPr/>
        </p:nvGraphicFramePr>
        <p:xfrm>
          <a:off x="248586" y="3054413"/>
          <a:ext cx="3840606" cy="2003053"/>
        </p:xfrm>
        <a:graphic>
          <a:graphicData uri="http://schemas.openxmlformats.org/drawingml/2006/table">
            <a:tbl>
              <a:tblPr>
                <a:noFill/>
              </a:tblPr>
              <a:tblGrid>
                <a:gridCol w="1920303">
                  <a:extLst>
                    <a:ext uri="{9D8B030D-6E8A-4147-A177-3AD203B41FA5}">
                      <a16:colId xmlns:a16="http://schemas.microsoft.com/office/drawing/2014/main" val="20000"/>
                    </a:ext>
                  </a:extLst>
                </a:gridCol>
                <a:gridCol w="1920303">
                  <a:extLst>
                    <a:ext uri="{9D8B030D-6E8A-4147-A177-3AD203B41FA5}">
                      <a16:colId xmlns:a16="http://schemas.microsoft.com/office/drawing/2014/main" val="20001"/>
                    </a:ext>
                  </a:extLst>
                </a:gridCol>
              </a:tblGrid>
              <a:tr h="452593">
                <a:tc gridSpan="2">
                  <a:txBody>
                    <a:bodyPr/>
                    <a:lstStyle/>
                    <a:p>
                      <a:pPr marL="0" lvl="0" indent="0" algn="ctr" rtl="0">
                        <a:spcBef>
                          <a:spcPts val="0"/>
                        </a:spcBef>
                        <a:spcAft>
                          <a:spcPts val="0"/>
                        </a:spcAft>
                        <a:buNone/>
                      </a:pPr>
                      <a:r>
                        <a:rPr lang="en" sz="1500" dirty="0">
                          <a:latin typeface="Courier New"/>
                          <a:ea typeface="Courier New"/>
                          <a:cs typeface="Courier New"/>
                          <a:sym typeface="Courier New"/>
                        </a:rPr>
                        <a:t>Recursive Resolver Cache</a:t>
                      </a:r>
                      <a:endParaRPr sz="1500" dirty="0">
                        <a:latin typeface="Courier New"/>
                        <a:ea typeface="Courier New"/>
                        <a:cs typeface="Courier New"/>
                        <a:sym typeface="Courier New"/>
                      </a:endParaRPr>
                    </a:p>
                  </a:txBody>
                  <a:tcPr marL="91425" marR="91425" marT="91425" marB="91425">
                    <a:lnB w="9525" cap="flat" cmpd="sng" algn="ctr">
                      <a:solidFill>
                        <a:srgbClr val="9E9E9E"/>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0"/>
                  </a:ext>
                </a:extLst>
              </a:tr>
              <a:tr h="433160">
                <a:tc>
                  <a:txBody>
                    <a:bodyPr/>
                    <a:lstStyle/>
                    <a:p>
                      <a:pPr marL="0" lvl="0" indent="0" algn="l" rtl="0">
                        <a:lnSpc>
                          <a:spcPct val="115000"/>
                        </a:lnSpc>
                        <a:spcBef>
                          <a:spcPts val="0"/>
                        </a:spcBef>
                        <a:spcAft>
                          <a:spcPts val="0"/>
                        </a:spcAft>
                        <a:buNone/>
                      </a:pPr>
                      <a:r>
                        <a:rPr lang="en-US" sz="1500" b="0" dirty="0">
                          <a:solidFill>
                            <a:schemeClr val="dk1"/>
                          </a:solidFill>
                          <a:latin typeface="Courier New"/>
                          <a:ea typeface="Courier New"/>
                          <a:cs typeface="Courier New"/>
                          <a:sym typeface="Courier New"/>
                        </a:rPr>
                        <a:t>a.gtld-servers.net</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r>
                        <a:rPr lang="en-US" sz="1500" b="0" dirty="0">
                          <a:solidFill>
                            <a:schemeClr val="dk1"/>
                          </a:solidFill>
                          <a:latin typeface="Courier New"/>
                          <a:ea typeface="Courier New"/>
                          <a:cs typeface="Courier New"/>
                          <a:sym typeface="Courier New"/>
                        </a:rPr>
                        <a:t>192.5.6.30</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433160">
                <a:tc>
                  <a:txBody>
                    <a:bodyPr/>
                    <a:lstStyle/>
                    <a:p>
                      <a:pPr marL="0" marR="0" lvl="0" indent="0" algn="l" rtl="0">
                        <a:lnSpc>
                          <a:spcPct val="115000"/>
                        </a:lnSpc>
                        <a:spcBef>
                          <a:spcPts val="0"/>
                        </a:spcBef>
                        <a:spcAft>
                          <a:spcPts val="0"/>
                        </a:spcAft>
                        <a:buClr>
                          <a:srgbClr val="000000"/>
                        </a:buClr>
                        <a:buFont typeface="Arial"/>
                        <a:buNone/>
                      </a:pPr>
                      <a:r>
                        <a:rPr lang="en-US" sz="1500" b="0" i="0" u="none" strike="noStrike" cap="none" dirty="0">
                          <a:solidFill>
                            <a:schemeClr val="dk1"/>
                          </a:solidFill>
                          <a:latin typeface="Courier New"/>
                          <a:ea typeface="Courier New"/>
                          <a:cs typeface="Courier New"/>
                          <a:sym typeface="Courier New"/>
                        </a:rPr>
                        <a:t>ns1.google.com</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solidFill>
                      <a:schemeClr val="lt1"/>
                    </a:solidFill>
                  </a:tcPr>
                </a:tc>
                <a:tc>
                  <a:txBody>
                    <a:bodyPr/>
                    <a:lstStyle/>
                    <a:p>
                      <a:pPr marL="0" marR="0" lvl="0" indent="0" algn="l" rtl="0">
                        <a:lnSpc>
                          <a:spcPct val="115000"/>
                        </a:lnSpc>
                        <a:spcBef>
                          <a:spcPts val="0"/>
                        </a:spcBef>
                        <a:spcAft>
                          <a:spcPts val="0"/>
                        </a:spcAft>
                        <a:buClr>
                          <a:srgbClr val="000000"/>
                        </a:buClr>
                        <a:buFont typeface="Arial"/>
                        <a:buNone/>
                      </a:pPr>
                      <a:r>
                        <a:rPr lang="en-US" sz="1500" b="0" i="0" u="none" strike="noStrike" cap="none" dirty="0">
                          <a:solidFill>
                            <a:schemeClr val="dk1"/>
                          </a:solidFill>
                          <a:latin typeface="Courier New"/>
                          <a:ea typeface="Courier New"/>
                          <a:cs typeface="Courier New"/>
                          <a:sym typeface="Courier New"/>
                        </a:rPr>
                        <a:t>216.239.32.10</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413234">
                <a:tc>
                  <a:txBody>
                    <a:bodyPr/>
                    <a:lstStyle/>
                    <a:p>
                      <a:pPr marL="0" lvl="0" indent="0" algn="l" rtl="0">
                        <a:spcBef>
                          <a:spcPts val="0"/>
                        </a:spcBef>
                        <a:spcAft>
                          <a:spcPts val="0"/>
                        </a:spcAft>
                        <a:buNone/>
                      </a:pPr>
                      <a:r>
                        <a:rPr lang="en" sz="1500" b="1" dirty="0">
                          <a:solidFill>
                            <a:srgbClr val="C00000"/>
                          </a:solidFill>
                          <a:latin typeface="Courier New"/>
                          <a:ea typeface="Courier New"/>
                          <a:cs typeface="Courier New"/>
                          <a:sym typeface="Courier New"/>
                        </a:rPr>
                        <a:t>www.google.com</a:t>
                      </a:r>
                      <a:endParaRPr sz="1500" b="1" dirty="0">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en" sz="1500" b="1" dirty="0">
                          <a:solidFill>
                            <a:srgbClr val="C00000"/>
                          </a:solidFill>
                          <a:latin typeface="Courier New"/>
                          <a:ea typeface="Courier New"/>
                          <a:cs typeface="Courier New"/>
                          <a:sym typeface="Courier New"/>
                        </a:rPr>
                        <a:t>6.6.6.6</a:t>
                      </a:r>
                      <a:endParaRPr sz="1500" b="1" dirty="0">
                        <a:solidFill>
                          <a:srgbClr val="C00000"/>
                        </a:solidFill>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bl>
          </a:graphicData>
        </a:graphic>
      </p:graphicFrame>
      <p:grpSp>
        <p:nvGrpSpPr>
          <p:cNvPr id="23" name="Google Shape;112;p19">
            <a:extLst>
              <a:ext uri="{FF2B5EF4-FFF2-40B4-BE49-F238E27FC236}">
                <a16:creationId xmlns:a16="http://schemas.microsoft.com/office/drawing/2014/main" id="{04D2F8F3-36E9-E21C-EEBF-515BC763152B}"/>
              </a:ext>
            </a:extLst>
          </p:cNvPr>
          <p:cNvGrpSpPr/>
          <p:nvPr/>
        </p:nvGrpSpPr>
        <p:grpSpPr>
          <a:xfrm>
            <a:off x="1400223" y="1930411"/>
            <a:ext cx="410100" cy="572709"/>
            <a:chOff x="258935" y="2049228"/>
            <a:chExt cx="410100" cy="762900"/>
          </a:xfrm>
        </p:grpSpPr>
        <p:sp>
          <p:nvSpPr>
            <p:cNvPr id="24" name="Google Shape;113;p19">
              <a:extLst>
                <a:ext uri="{FF2B5EF4-FFF2-40B4-BE49-F238E27FC236}">
                  <a16:creationId xmlns:a16="http://schemas.microsoft.com/office/drawing/2014/main" id="{5AF671AC-BDA0-4874-EBFB-F1699CFE69BA}"/>
                </a:ext>
              </a:extLst>
            </p:cNvPr>
            <p:cNvSpPr txBox="1"/>
            <p:nvPr/>
          </p:nvSpPr>
          <p:spPr>
            <a:xfrm>
              <a:off x="258935" y="2174852"/>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1</a:t>
              </a:r>
              <a:endParaRPr dirty="0">
                <a:latin typeface="Calibri"/>
                <a:ea typeface="Calibri"/>
                <a:cs typeface="Calibri"/>
                <a:sym typeface="Calibri"/>
              </a:endParaRPr>
            </a:p>
          </p:txBody>
        </p:sp>
        <p:cxnSp>
          <p:nvCxnSpPr>
            <p:cNvPr id="25" name="Google Shape;114;p19">
              <a:extLst>
                <a:ext uri="{FF2B5EF4-FFF2-40B4-BE49-F238E27FC236}">
                  <a16:creationId xmlns:a16="http://schemas.microsoft.com/office/drawing/2014/main" id="{DD22CB84-6F47-D079-2BD2-DCAB2AAA1206}"/>
                </a:ext>
              </a:extLst>
            </p:cNvPr>
            <p:cNvCxnSpPr/>
            <p:nvPr/>
          </p:nvCxnSpPr>
          <p:spPr>
            <a:xfrm rot="10800000">
              <a:off x="530725" y="2049228"/>
              <a:ext cx="0" cy="762900"/>
            </a:xfrm>
            <a:prstGeom prst="straightConnector1">
              <a:avLst/>
            </a:prstGeom>
            <a:noFill/>
            <a:ln w="19050" cap="flat" cmpd="sng">
              <a:solidFill>
                <a:srgbClr val="000000"/>
              </a:solidFill>
              <a:prstDash val="solid"/>
              <a:round/>
              <a:headEnd type="triangle" w="med" len="med"/>
              <a:tailEnd type="none" w="med" len="med"/>
            </a:ln>
          </p:spPr>
        </p:cxnSp>
      </p:grpSp>
      <p:sp>
        <p:nvSpPr>
          <p:cNvPr id="26" name="Google Shape;1819;p140">
            <a:extLst>
              <a:ext uri="{FF2B5EF4-FFF2-40B4-BE49-F238E27FC236}">
                <a16:creationId xmlns:a16="http://schemas.microsoft.com/office/drawing/2014/main" id="{1B3FD949-348A-A6D2-63E7-AC8B7D4497BE}"/>
              </a:ext>
            </a:extLst>
          </p:cNvPr>
          <p:cNvSpPr txBox="1">
            <a:spLocks noGrp="1"/>
          </p:cNvSpPr>
          <p:nvPr>
            <p:ph type="title"/>
          </p:nvPr>
        </p:nvSpPr>
        <p:spPr>
          <a:xfrm>
            <a:off x="415600" y="55919"/>
            <a:ext cx="11360800" cy="763600"/>
          </a:xfrm>
          <a:prstGeom prst="rect">
            <a:avLst/>
          </a:prstGeom>
        </p:spPr>
        <p:txBody>
          <a:bodyPr spcFirstLastPara="1" wrap="square" lIns="121900" tIns="121900" rIns="121900" bIns="121900" anchor="t" anchorCtr="0">
            <a:noAutofit/>
          </a:bodyPr>
          <a:lstStyle/>
          <a:p>
            <a:r>
              <a:rPr lang="en" sz="4400" dirty="0">
                <a:latin typeface="Aptos" panose="020B0004020202020204" pitchFamily="34" charset="0"/>
              </a:rPr>
              <a:t>Kaminsky Attack: Example</a:t>
            </a:r>
            <a:endParaRPr sz="4400" dirty="0">
              <a:latin typeface="Aptos" panose="020B0004020202020204" pitchFamily="34" charset="0"/>
            </a:endParaRPr>
          </a:p>
        </p:txBody>
      </p:sp>
      <p:pic>
        <p:nvPicPr>
          <p:cNvPr id="27" name="Google Shape;1438;p94">
            <a:extLst>
              <a:ext uri="{FF2B5EF4-FFF2-40B4-BE49-F238E27FC236}">
                <a16:creationId xmlns:a16="http://schemas.microsoft.com/office/drawing/2014/main" id="{BB265475-2435-271E-9415-C90865D445A3}"/>
              </a:ext>
            </a:extLst>
          </p:cNvPr>
          <p:cNvPicPr preferRelativeResize="0"/>
          <p:nvPr/>
        </p:nvPicPr>
        <p:blipFill rotWithShape="1">
          <a:blip r:embed="rId2">
            <a:alphaModFix/>
          </a:blip>
          <a:srcRect l="5310" t="16627" r="80092" b="57590"/>
          <a:stretch/>
        </p:blipFill>
        <p:spPr>
          <a:xfrm>
            <a:off x="1585199" y="5584331"/>
            <a:ext cx="948568" cy="880532"/>
          </a:xfrm>
          <a:prstGeom prst="rect">
            <a:avLst/>
          </a:prstGeom>
          <a:noFill/>
          <a:ln>
            <a:noFill/>
          </a:ln>
        </p:spPr>
      </p:pic>
      <p:sp>
        <p:nvSpPr>
          <p:cNvPr id="38" name="Cloud 37">
            <a:extLst>
              <a:ext uri="{FF2B5EF4-FFF2-40B4-BE49-F238E27FC236}">
                <a16:creationId xmlns:a16="http://schemas.microsoft.com/office/drawing/2014/main" id="{8F9B54AE-3CE0-F501-B44F-B77F5010D437}"/>
              </a:ext>
            </a:extLst>
          </p:cNvPr>
          <p:cNvSpPr/>
          <p:nvPr/>
        </p:nvSpPr>
        <p:spPr>
          <a:xfrm>
            <a:off x="8466890" y="2421245"/>
            <a:ext cx="3793332" cy="1266335"/>
          </a:xfrm>
          <a:prstGeom prst="cloud">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www.google.com</a:t>
            </a:r>
          </a:p>
        </p:txBody>
      </p:sp>
      <p:sp>
        <p:nvSpPr>
          <p:cNvPr id="39" name="Cloud 38">
            <a:extLst>
              <a:ext uri="{FF2B5EF4-FFF2-40B4-BE49-F238E27FC236}">
                <a16:creationId xmlns:a16="http://schemas.microsoft.com/office/drawing/2014/main" id="{6511F577-B99A-E536-26CB-39A42381F15F}"/>
              </a:ext>
            </a:extLst>
          </p:cNvPr>
          <p:cNvSpPr/>
          <p:nvPr/>
        </p:nvSpPr>
        <p:spPr>
          <a:xfrm>
            <a:off x="6670176" y="4481473"/>
            <a:ext cx="2881880" cy="1190933"/>
          </a:xfrm>
          <a:prstGeom prst="cloud">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b="1" dirty="0">
                <a:solidFill>
                  <a:schemeClr val="tx1"/>
                </a:solidFill>
                <a:latin typeface="Courier New"/>
                <a:ea typeface="Courier New"/>
                <a:cs typeface="Courier New"/>
                <a:sym typeface="Courier New"/>
              </a:rPr>
              <a:t>6.6.6.6</a:t>
            </a:r>
          </a:p>
          <a:p>
            <a:pPr lvl="0" algn="ctr"/>
            <a:r>
              <a:rPr lang="en-US" b="1" dirty="0">
                <a:solidFill>
                  <a:schemeClr val="tx1"/>
                </a:solidFill>
                <a:latin typeface="Courier New"/>
                <a:ea typeface="Courier New"/>
                <a:cs typeface="Courier New"/>
                <a:sym typeface="Courier New"/>
              </a:rPr>
              <a:t>Attacker</a:t>
            </a:r>
            <a:endParaRPr lang="en-US" b="1" dirty="0">
              <a:solidFill>
                <a:schemeClr val="tx1"/>
              </a:solidFill>
              <a:latin typeface="Calibri"/>
              <a:ea typeface="Calibri"/>
              <a:cs typeface="Calibri"/>
              <a:sym typeface="Calibri"/>
            </a:endParaRPr>
          </a:p>
        </p:txBody>
      </p:sp>
      <p:grpSp>
        <p:nvGrpSpPr>
          <p:cNvPr id="2" name="Google Shape;1486;p96">
            <a:extLst>
              <a:ext uri="{FF2B5EF4-FFF2-40B4-BE49-F238E27FC236}">
                <a16:creationId xmlns:a16="http://schemas.microsoft.com/office/drawing/2014/main" id="{60BECDE9-99EF-A9C1-7846-A1BF0B8B4DB3}"/>
              </a:ext>
            </a:extLst>
          </p:cNvPr>
          <p:cNvGrpSpPr/>
          <p:nvPr/>
        </p:nvGrpSpPr>
        <p:grpSpPr>
          <a:xfrm>
            <a:off x="2123657" y="1936942"/>
            <a:ext cx="410110" cy="552568"/>
            <a:chOff x="1047525" y="2049228"/>
            <a:chExt cx="410110" cy="762900"/>
          </a:xfrm>
        </p:grpSpPr>
        <p:cxnSp>
          <p:nvCxnSpPr>
            <p:cNvPr id="3" name="Google Shape;1487;p96">
              <a:extLst>
                <a:ext uri="{FF2B5EF4-FFF2-40B4-BE49-F238E27FC236}">
                  <a16:creationId xmlns:a16="http://schemas.microsoft.com/office/drawing/2014/main" id="{56AC3D38-9254-16BF-679F-463897BFF636}"/>
                </a:ext>
              </a:extLst>
            </p:cNvPr>
            <p:cNvCxnSpPr/>
            <p:nvPr/>
          </p:nvCxnSpPr>
          <p:spPr>
            <a:xfrm rot="10800000">
              <a:off x="1047525" y="2049228"/>
              <a:ext cx="0" cy="762900"/>
            </a:xfrm>
            <a:prstGeom prst="straightConnector1">
              <a:avLst/>
            </a:prstGeom>
            <a:noFill/>
            <a:ln w="19050" cap="flat" cmpd="sng">
              <a:solidFill>
                <a:srgbClr val="000000"/>
              </a:solidFill>
              <a:prstDash val="solid"/>
              <a:round/>
              <a:headEnd type="none" w="med" len="med"/>
              <a:tailEnd type="triangle" w="med" len="med"/>
            </a:ln>
          </p:spPr>
        </p:cxnSp>
        <p:sp>
          <p:nvSpPr>
            <p:cNvPr id="4" name="Google Shape;1488;p96">
              <a:extLst>
                <a:ext uri="{FF2B5EF4-FFF2-40B4-BE49-F238E27FC236}">
                  <a16:creationId xmlns:a16="http://schemas.microsoft.com/office/drawing/2014/main" id="{0A5613E0-AFFA-E69C-FD72-20939A6E2A85}"/>
                </a:ext>
              </a:extLst>
            </p:cNvPr>
            <p:cNvSpPr txBox="1"/>
            <p:nvPr/>
          </p:nvSpPr>
          <p:spPr>
            <a:xfrm>
              <a:off x="1047535" y="2174852"/>
              <a:ext cx="4101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Calibri"/>
                  <a:ea typeface="Calibri"/>
                  <a:cs typeface="Calibri"/>
                  <a:sym typeface="Calibri"/>
                </a:rPr>
                <a:t>2</a:t>
              </a:r>
              <a:endParaRPr dirty="0">
                <a:latin typeface="Calibri"/>
                <a:ea typeface="Calibri"/>
                <a:cs typeface="Calibri"/>
                <a:sym typeface="Calibri"/>
              </a:endParaRPr>
            </a:p>
          </p:txBody>
        </p:sp>
      </p:grpSp>
      <p:sp>
        <p:nvSpPr>
          <p:cNvPr id="5" name="Google Shape;1489;p96">
            <a:extLst>
              <a:ext uri="{FF2B5EF4-FFF2-40B4-BE49-F238E27FC236}">
                <a16:creationId xmlns:a16="http://schemas.microsoft.com/office/drawing/2014/main" id="{5035B032-1238-EEA7-0A1A-474FFFE857CE}"/>
              </a:ext>
            </a:extLst>
          </p:cNvPr>
          <p:cNvSpPr/>
          <p:nvPr/>
        </p:nvSpPr>
        <p:spPr>
          <a:xfrm>
            <a:off x="2168889" y="1930412"/>
            <a:ext cx="3478874" cy="483414"/>
          </a:xfrm>
          <a:custGeom>
            <a:avLst/>
            <a:gdLst/>
            <a:ahLst/>
            <a:cxnLst/>
            <a:rect l="l" t="t" r="r" b="b"/>
            <a:pathLst>
              <a:path w="75635" h="35172" extrusionOk="0">
                <a:moveTo>
                  <a:pt x="75635" y="0"/>
                </a:moveTo>
                <a:lnTo>
                  <a:pt x="75635" y="35172"/>
                </a:lnTo>
                <a:lnTo>
                  <a:pt x="0" y="35172"/>
                </a:lnTo>
              </a:path>
            </a:pathLst>
          </a:custGeom>
          <a:noFill/>
          <a:ln w="38100" cap="flat" cmpd="sng">
            <a:solidFill>
              <a:srgbClr val="E69138"/>
            </a:solidFill>
            <a:prstDash val="solid"/>
            <a:round/>
            <a:headEnd type="none" w="med" len="med"/>
            <a:tailEnd type="triangle" w="med" len="med"/>
          </a:ln>
        </p:spPr>
        <p:txBody>
          <a:bodyPr/>
          <a:lstStyle/>
          <a:p>
            <a:endParaRPr lang="en-US"/>
          </a:p>
        </p:txBody>
      </p:sp>
      <p:sp>
        <p:nvSpPr>
          <p:cNvPr id="6" name="Google Shape;1490;p96">
            <a:extLst>
              <a:ext uri="{FF2B5EF4-FFF2-40B4-BE49-F238E27FC236}">
                <a16:creationId xmlns:a16="http://schemas.microsoft.com/office/drawing/2014/main" id="{1C794C60-39BF-2DA4-193D-5F13F7178077}"/>
              </a:ext>
            </a:extLst>
          </p:cNvPr>
          <p:cNvSpPr txBox="1"/>
          <p:nvPr/>
        </p:nvSpPr>
        <p:spPr>
          <a:xfrm>
            <a:off x="3661215" y="1185594"/>
            <a:ext cx="3872603" cy="738633"/>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dirty="0">
                <a:solidFill>
                  <a:schemeClr val="dk1"/>
                </a:solidFill>
              </a:rPr>
              <a:t>“My cache says the ip address of </a:t>
            </a:r>
            <a:r>
              <a:rPr lang="en" b="1" dirty="0">
                <a:solidFill>
                  <a:schemeClr val="dk1"/>
                </a:solidFill>
                <a:latin typeface="Courier New"/>
                <a:ea typeface="Courier New"/>
                <a:cs typeface="Courier New"/>
                <a:sym typeface="Courier New"/>
              </a:rPr>
              <a:t>www.google.com</a:t>
            </a:r>
            <a:r>
              <a:rPr lang="en" dirty="0">
                <a:solidFill>
                  <a:schemeClr val="dk1"/>
                </a:solidFill>
              </a:rPr>
              <a:t> is </a:t>
            </a:r>
            <a:r>
              <a:rPr lang="en" b="1" dirty="0">
                <a:solidFill>
                  <a:srgbClr val="C00000"/>
                </a:solidFill>
                <a:latin typeface="Courier New"/>
                <a:ea typeface="Courier New"/>
                <a:cs typeface="Courier New"/>
                <a:sym typeface="Courier New"/>
              </a:rPr>
              <a:t>6.6.6.6</a:t>
            </a:r>
            <a:r>
              <a:rPr lang="en" dirty="0">
                <a:solidFill>
                  <a:schemeClr val="dk1"/>
                </a:solidFill>
              </a:rPr>
              <a:t>”</a:t>
            </a:r>
            <a:endParaRPr dirty="0">
              <a:solidFill>
                <a:schemeClr val="dk1"/>
              </a:solidFill>
            </a:endParaRPr>
          </a:p>
        </p:txBody>
      </p:sp>
      <p:sp>
        <p:nvSpPr>
          <p:cNvPr id="7" name="Google Shape;1493;p96">
            <a:extLst>
              <a:ext uri="{FF2B5EF4-FFF2-40B4-BE49-F238E27FC236}">
                <a16:creationId xmlns:a16="http://schemas.microsoft.com/office/drawing/2014/main" id="{AB270B71-C50F-B1F0-3AD7-E4473E4D48EF}"/>
              </a:ext>
            </a:extLst>
          </p:cNvPr>
          <p:cNvSpPr txBox="1"/>
          <p:nvPr/>
        </p:nvSpPr>
        <p:spPr>
          <a:xfrm>
            <a:off x="3619669" y="5942875"/>
            <a:ext cx="4056187" cy="757824"/>
          </a:xfrm>
          <a:prstGeom prst="rect">
            <a:avLst/>
          </a:prstGeom>
          <a:solidFill>
            <a:srgbClr val="C9DAF8"/>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dirty="0"/>
              <a:t>Attacker will receive all traffic Alice meant to send to </a:t>
            </a:r>
            <a:r>
              <a:rPr lang="en" b="1" dirty="0">
                <a:latin typeface="Courier New"/>
                <a:ea typeface="Courier New"/>
                <a:cs typeface="Courier New"/>
                <a:sym typeface="Courier New"/>
              </a:rPr>
              <a:t>www.google.com</a:t>
            </a:r>
            <a:r>
              <a:rPr lang="en" dirty="0"/>
              <a:t>!</a:t>
            </a:r>
            <a:endParaRPr dirty="0"/>
          </a:p>
        </p:txBody>
      </p:sp>
      <p:cxnSp>
        <p:nvCxnSpPr>
          <p:cNvPr id="9" name="Straight Arrow Connector 8">
            <a:extLst>
              <a:ext uri="{FF2B5EF4-FFF2-40B4-BE49-F238E27FC236}">
                <a16:creationId xmlns:a16="http://schemas.microsoft.com/office/drawing/2014/main" id="{6C1ED5BB-167E-D53A-EFB7-8155BDF6E7AD}"/>
              </a:ext>
            </a:extLst>
          </p:cNvPr>
          <p:cNvCxnSpPr>
            <a:cxnSpLocks/>
            <a:stCxn id="27" idx="3"/>
            <a:endCxn id="39" idx="2"/>
          </p:cNvCxnSpPr>
          <p:nvPr/>
        </p:nvCxnSpPr>
        <p:spPr>
          <a:xfrm flipV="1">
            <a:off x="2533767" y="5076940"/>
            <a:ext cx="4145348" cy="947657"/>
          </a:xfrm>
          <a:prstGeom prst="straightConnector1">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Google Shape;1414;p92">
            <a:extLst>
              <a:ext uri="{FF2B5EF4-FFF2-40B4-BE49-F238E27FC236}">
                <a16:creationId xmlns:a16="http://schemas.microsoft.com/office/drawing/2014/main" id="{94B37ACD-AFBE-A334-7D29-81FAEFAD96E3}"/>
              </a:ext>
            </a:extLst>
          </p:cNvPr>
          <p:cNvSpPr txBox="1"/>
          <p:nvPr/>
        </p:nvSpPr>
        <p:spPr>
          <a:xfrm>
            <a:off x="4684247" y="3498573"/>
            <a:ext cx="3715683" cy="763600"/>
          </a:xfrm>
          <a:prstGeom prst="rect">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chemeClr val="dk1"/>
                </a:solidFill>
              </a:rPr>
              <a:t>The attacker can launch a man-in-the-middle attack!</a:t>
            </a:r>
            <a:endParaRPr dirty="0"/>
          </a:p>
        </p:txBody>
      </p:sp>
    </p:spTree>
    <p:extLst>
      <p:ext uri="{BB962C8B-B14F-4D97-AF65-F5344CB8AC3E}">
        <p14:creationId xmlns:p14="http://schemas.microsoft.com/office/powerpoint/2010/main" val="1719810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819;p140">
            <a:extLst>
              <a:ext uri="{FF2B5EF4-FFF2-40B4-BE49-F238E27FC236}">
                <a16:creationId xmlns:a16="http://schemas.microsoft.com/office/drawing/2014/main" id="{A1BBD3EA-B48A-9405-9D84-E991AC00628F}"/>
              </a:ext>
            </a:extLst>
          </p:cNvPr>
          <p:cNvSpPr txBox="1">
            <a:spLocks noGrp="1"/>
          </p:cNvSpPr>
          <p:nvPr>
            <p:ph type="title"/>
          </p:nvPr>
        </p:nvSpPr>
        <p:spPr>
          <a:xfrm>
            <a:off x="415600" y="36325"/>
            <a:ext cx="11360800" cy="763600"/>
          </a:xfrm>
          <a:prstGeom prst="rect">
            <a:avLst/>
          </a:prstGeom>
        </p:spPr>
        <p:txBody>
          <a:bodyPr spcFirstLastPara="1" wrap="square" lIns="121900" tIns="121900" rIns="121900" bIns="121900" anchor="t" anchorCtr="0">
            <a:noAutofit/>
          </a:bodyPr>
          <a:lstStyle/>
          <a:p>
            <a:r>
              <a:rPr lang="en" sz="4400" dirty="0">
                <a:latin typeface="Aptos" panose="020B0004020202020204" pitchFamily="34" charset="0"/>
              </a:rPr>
              <a:t>Defense: Source Port Randomization</a:t>
            </a:r>
            <a:endParaRPr sz="4400" dirty="0">
              <a:latin typeface="Aptos" panose="020B0004020202020204" pitchFamily="34" charset="0"/>
            </a:endParaRPr>
          </a:p>
        </p:txBody>
      </p:sp>
      <p:grpSp>
        <p:nvGrpSpPr>
          <p:cNvPr id="2" name="Group 1">
            <a:extLst>
              <a:ext uri="{FF2B5EF4-FFF2-40B4-BE49-F238E27FC236}">
                <a16:creationId xmlns:a16="http://schemas.microsoft.com/office/drawing/2014/main" id="{38EFDF32-0513-7591-0DFB-54B2AD6BD648}"/>
              </a:ext>
            </a:extLst>
          </p:cNvPr>
          <p:cNvGrpSpPr/>
          <p:nvPr/>
        </p:nvGrpSpPr>
        <p:grpSpPr>
          <a:xfrm>
            <a:off x="7304506" y="1269786"/>
            <a:ext cx="4730400" cy="4718111"/>
            <a:chOff x="7152106" y="1101969"/>
            <a:chExt cx="4730400" cy="4718111"/>
          </a:xfrm>
        </p:grpSpPr>
        <p:graphicFrame>
          <p:nvGraphicFramePr>
            <p:cNvPr id="3" name="Google Shape;853;p70">
              <a:extLst>
                <a:ext uri="{FF2B5EF4-FFF2-40B4-BE49-F238E27FC236}">
                  <a16:creationId xmlns:a16="http://schemas.microsoft.com/office/drawing/2014/main" id="{E74E8B2A-A1FF-701A-44F5-167361367C7F}"/>
                </a:ext>
              </a:extLst>
            </p:cNvPr>
            <p:cNvGraphicFramePr/>
            <p:nvPr>
              <p:extLst>
                <p:ext uri="{D42A27DB-BD31-4B8C-83A1-F6EECF244321}">
                  <p14:modId xmlns:p14="http://schemas.microsoft.com/office/powerpoint/2010/main" val="762467881"/>
                </p:ext>
              </p:extLst>
            </p:nvPr>
          </p:nvGraphicFramePr>
          <p:xfrm>
            <a:off x="7152106" y="1613534"/>
            <a:ext cx="4114800" cy="4206546"/>
          </p:xfrm>
          <a:graphic>
            <a:graphicData uri="http://schemas.openxmlformats.org/drawingml/2006/table">
              <a:tbl>
                <a:tblPr>
                  <a:noFill/>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tblGrid>
                <a:tr h="396200">
                  <a:tc>
                    <a:txBody>
                      <a:bodyPr/>
                      <a:lstStyle/>
                      <a:p>
                        <a:pPr marL="0" lvl="0" indent="0" algn="ctr" rtl="0">
                          <a:spcBef>
                            <a:spcPts val="0"/>
                          </a:spcBef>
                          <a:spcAft>
                            <a:spcPts val="0"/>
                          </a:spcAft>
                          <a:buNone/>
                        </a:pPr>
                        <a:r>
                          <a:rPr lang="en" b="1" dirty="0">
                            <a:solidFill>
                              <a:srgbClr val="C00000"/>
                            </a:solidFill>
                          </a:rPr>
                          <a:t>Source Port</a:t>
                        </a:r>
                        <a:endParaRPr b="1" dirty="0">
                          <a:solidFill>
                            <a:srgbClr val="C00000"/>
                          </a:solidFill>
                        </a:endParaRPr>
                      </a:p>
                    </a:txBody>
                    <a:tcPr marL="91425" marR="91425" marT="91425" marB="91425"/>
                  </a:tc>
                  <a:tc>
                    <a:txBody>
                      <a:bodyPr/>
                      <a:lstStyle/>
                      <a:p>
                        <a:pPr marL="0" lvl="0" indent="0" algn="ctr" rtl="0">
                          <a:spcBef>
                            <a:spcPts val="0"/>
                          </a:spcBef>
                          <a:spcAft>
                            <a:spcPts val="0"/>
                          </a:spcAft>
                          <a:buNone/>
                        </a:pPr>
                        <a:r>
                          <a:rPr lang="en">
                            <a:solidFill>
                              <a:schemeClr val="dk1"/>
                            </a:solidFill>
                          </a:rPr>
                          <a:t>Destination Port</a:t>
                        </a:r>
                        <a:endParaRPr>
                          <a:solidFill>
                            <a:schemeClr val="dk1"/>
                          </a:solidFill>
                        </a:endParaRPr>
                      </a:p>
                    </a:txBody>
                    <a:tcPr marL="91425" marR="91425" marT="91425" marB="91425"/>
                  </a:tc>
                  <a:extLst>
                    <a:ext uri="{0D108BD9-81ED-4DB2-BD59-A6C34878D82A}">
                      <a16:rowId xmlns:a16="http://schemas.microsoft.com/office/drawing/2014/main" val="10000"/>
                    </a:ext>
                  </a:extLst>
                </a:tr>
                <a:tr h="396200">
                  <a:tc>
                    <a:txBody>
                      <a:bodyPr/>
                      <a:lstStyle/>
                      <a:p>
                        <a:pPr marL="0" lvl="0" indent="0" algn="ctr" rtl="0">
                          <a:spcBef>
                            <a:spcPts val="0"/>
                          </a:spcBef>
                          <a:spcAft>
                            <a:spcPts val="0"/>
                          </a:spcAft>
                          <a:buNone/>
                        </a:pPr>
                        <a:r>
                          <a:rPr lang="en">
                            <a:solidFill>
                              <a:schemeClr val="dk1"/>
                            </a:solidFill>
                          </a:rPr>
                          <a:t>Checksum</a:t>
                        </a:r>
                        <a:endParaRPr>
                          <a:solidFill>
                            <a:schemeClr val="dk1"/>
                          </a:solidFill>
                        </a:endParaRPr>
                      </a:p>
                    </a:txBody>
                    <a:tcPr marL="91425" marR="91425" marT="91425" marB="91425"/>
                  </a:tc>
                  <a:tc>
                    <a:txBody>
                      <a:bodyPr/>
                      <a:lstStyle/>
                      <a:p>
                        <a:pPr marL="0" lvl="0" indent="0" algn="ctr" rtl="0">
                          <a:spcBef>
                            <a:spcPts val="0"/>
                          </a:spcBef>
                          <a:spcAft>
                            <a:spcPts val="0"/>
                          </a:spcAft>
                          <a:buNone/>
                        </a:pPr>
                        <a:r>
                          <a:rPr lang="en">
                            <a:solidFill>
                              <a:schemeClr val="dk1"/>
                            </a:solidFill>
                          </a:rPr>
                          <a:t>Length</a:t>
                        </a:r>
                        <a:endParaRPr>
                          <a:solidFill>
                            <a:schemeClr val="dk1"/>
                          </a:solidFill>
                        </a:endParaRPr>
                      </a:p>
                    </a:txBody>
                    <a:tcPr marL="91425" marR="91425" marT="91425" marB="91425"/>
                  </a:tc>
                  <a:extLst>
                    <a:ext uri="{0D108BD9-81ED-4DB2-BD59-A6C34878D82A}">
                      <a16:rowId xmlns:a16="http://schemas.microsoft.com/office/drawing/2014/main" val="10001"/>
                    </a:ext>
                  </a:extLst>
                </a:tr>
                <a:tr h="396200">
                  <a:tc>
                    <a:txBody>
                      <a:bodyPr/>
                      <a:lstStyle/>
                      <a:p>
                        <a:pPr marL="0" lvl="0" indent="0" algn="ctr" rtl="0">
                          <a:spcBef>
                            <a:spcPts val="0"/>
                          </a:spcBef>
                          <a:spcAft>
                            <a:spcPts val="0"/>
                          </a:spcAft>
                          <a:buNone/>
                        </a:pPr>
                        <a:r>
                          <a:rPr lang="en-US" sz="1800" b="1">
                            <a:solidFill>
                              <a:schemeClr val="dk1"/>
                            </a:solidFill>
                          </a:rPr>
                          <a:t>Query ID number</a:t>
                        </a:r>
                      </a:p>
                    </a:txBody>
                    <a:tcPr marL="91425" marR="91425" marT="91425" marB="91425"/>
                  </a:tc>
                  <a:tc>
                    <a:txBody>
                      <a:bodyPr/>
                      <a:lstStyle/>
                      <a:p>
                        <a:pPr marL="0" lvl="0" indent="0" algn="ctr" rtl="0">
                          <a:spcBef>
                            <a:spcPts val="0"/>
                          </a:spcBef>
                          <a:spcAft>
                            <a:spcPts val="0"/>
                          </a:spcAft>
                          <a:buNone/>
                        </a:pPr>
                        <a:r>
                          <a:rPr lang="en">
                            <a:solidFill>
                              <a:schemeClr val="dk1"/>
                            </a:solidFill>
                          </a:rPr>
                          <a:t>Flags</a:t>
                        </a:r>
                        <a:endParaRPr>
                          <a:solidFill>
                            <a:schemeClr val="dk1"/>
                          </a:solidFill>
                        </a:endParaRPr>
                      </a:p>
                    </a:txBody>
                    <a:tcPr marL="91425" marR="91425" marT="91425" marB="91425"/>
                  </a:tc>
                  <a:extLst>
                    <a:ext uri="{0D108BD9-81ED-4DB2-BD59-A6C34878D82A}">
                      <a16:rowId xmlns:a16="http://schemas.microsoft.com/office/drawing/2014/main" val="10002"/>
                    </a:ext>
                  </a:extLst>
                </a:tr>
                <a:tr h="396200">
                  <a:tc>
                    <a:txBody>
                      <a:bodyPr/>
                      <a:lstStyle/>
                      <a:p>
                        <a:pPr marL="0" lvl="0" indent="0" algn="ctr" rtl="0">
                          <a:spcBef>
                            <a:spcPts val="0"/>
                          </a:spcBef>
                          <a:spcAft>
                            <a:spcPts val="0"/>
                          </a:spcAft>
                          <a:buNone/>
                        </a:pPr>
                        <a:r>
                          <a:rPr lang="en">
                            <a:solidFill>
                              <a:schemeClr val="dk1"/>
                            </a:solidFill>
                          </a:rPr>
                          <a:t>Question count</a:t>
                        </a:r>
                        <a:endParaRPr>
                          <a:solidFill>
                            <a:schemeClr val="dk1"/>
                          </a:solidFill>
                        </a:endParaRPr>
                      </a:p>
                    </a:txBody>
                    <a:tcPr marL="91425" marR="91425" marT="91425" marB="91425"/>
                  </a:tc>
                  <a:tc>
                    <a:txBody>
                      <a:bodyPr/>
                      <a:lstStyle/>
                      <a:p>
                        <a:pPr marL="0" lvl="0" indent="0" algn="ctr" rtl="0">
                          <a:spcBef>
                            <a:spcPts val="0"/>
                          </a:spcBef>
                          <a:spcAft>
                            <a:spcPts val="0"/>
                          </a:spcAft>
                          <a:buNone/>
                        </a:pPr>
                        <a:r>
                          <a:rPr lang="en">
                            <a:solidFill>
                              <a:schemeClr val="dk1"/>
                            </a:solidFill>
                          </a:rPr>
                          <a:t>Answer count</a:t>
                        </a:r>
                        <a:endParaRPr>
                          <a:solidFill>
                            <a:schemeClr val="dk1"/>
                          </a:solidFill>
                        </a:endParaRPr>
                      </a:p>
                    </a:txBody>
                    <a:tcPr marL="91425" marR="91425" marT="91425" marB="91425"/>
                  </a:tc>
                  <a:extLst>
                    <a:ext uri="{0D108BD9-81ED-4DB2-BD59-A6C34878D82A}">
                      <a16:rowId xmlns:a16="http://schemas.microsoft.com/office/drawing/2014/main" val="10003"/>
                    </a:ext>
                  </a:extLst>
                </a:tr>
                <a:tr h="396200">
                  <a:tc>
                    <a:txBody>
                      <a:bodyPr/>
                      <a:lstStyle/>
                      <a:p>
                        <a:pPr marL="0" lvl="0" indent="0" algn="ctr" rtl="0">
                          <a:spcBef>
                            <a:spcPts val="0"/>
                          </a:spcBef>
                          <a:spcAft>
                            <a:spcPts val="0"/>
                          </a:spcAft>
                          <a:buNone/>
                        </a:pPr>
                        <a:r>
                          <a:rPr lang="en">
                            <a:solidFill>
                              <a:schemeClr val="dk1"/>
                            </a:solidFill>
                          </a:rPr>
                          <a:t>Authority count</a:t>
                        </a:r>
                        <a:endParaRPr>
                          <a:solidFill>
                            <a:schemeClr val="dk1"/>
                          </a:solidFill>
                        </a:endParaRPr>
                      </a:p>
                    </a:txBody>
                    <a:tcPr marL="91425" marR="91425" marT="91425" marB="91425"/>
                  </a:tc>
                  <a:tc>
                    <a:txBody>
                      <a:bodyPr/>
                      <a:lstStyle/>
                      <a:p>
                        <a:pPr marL="0" lvl="0" indent="0" algn="ctr" rtl="0">
                          <a:spcBef>
                            <a:spcPts val="0"/>
                          </a:spcBef>
                          <a:spcAft>
                            <a:spcPts val="0"/>
                          </a:spcAft>
                          <a:buNone/>
                        </a:pPr>
                        <a:r>
                          <a:rPr lang="en">
                            <a:solidFill>
                              <a:schemeClr val="dk1"/>
                            </a:solidFill>
                          </a:rPr>
                          <a:t>Additional count</a:t>
                        </a:r>
                        <a:endParaRPr>
                          <a:solidFill>
                            <a:schemeClr val="dk1"/>
                          </a:solidFill>
                        </a:endParaRPr>
                      </a:p>
                    </a:txBody>
                    <a:tcPr marL="91425" marR="91425" marT="91425" marB="91425"/>
                  </a:tc>
                  <a:extLst>
                    <a:ext uri="{0D108BD9-81ED-4DB2-BD59-A6C34878D82A}">
                      <a16:rowId xmlns:a16="http://schemas.microsoft.com/office/drawing/2014/main" val="10004"/>
                    </a:ext>
                  </a:extLst>
                </a:tr>
                <a:tr h="396200">
                  <a:tc gridSpan="2">
                    <a:txBody>
                      <a:bodyPr/>
                      <a:lstStyle/>
                      <a:p>
                        <a:pPr marL="0" lvl="0" indent="0" algn="ctr" rtl="0">
                          <a:spcBef>
                            <a:spcPts val="0"/>
                          </a:spcBef>
                          <a:spcAft>
                            <a:spcPts val="0"/>
                          </a:spcAft>
                          <a:buNone/>
                        </a:pPr>
                        <a:r>
                          <a:rPr lang="en">
                            <a:solidFill>
                              <a:schemeClr val="dk1"/>
                            </a:solidFill>
                          </a:rPr>
                          <a:t>Question Records</a:t>
                        </a:r>
                        <a:endParaRPr>
                          <a:solidFill>
                            <a:schemeClr val="dk1"/>
                          </a:solidFill>
                        </a:endParaRPr>
                      </a:p>
                    </a:txBody>
                    <a:tcPr marL="91425" marR="91425" marT="91425" marB="91425"/>
                  </a:tc>
                  <a:tc hMerge="1">
                    <a:txBody>
                      <a:bodyPr/>
                      <a:lstStyle/>
                      <a:p>
                        <a:endParaRPr lang="en-US"/>
                      </a:p>
                    </a:txBody>
                    <a:tcPr/>
                  </a:tc>
                  <a:extLst>
                    <a:ext uri="{0D108BD9-81ED-4DB2-BD59-A6C34878D82A}">
                      <a16:rowId xmlns:a16="http://schemas.microsoft.com/office/drawing/2014/main" val="10005"/>
                    </a:ext>
                  </a:extLst>
                </a:tr>
                <a:tr h="396200">
                  <a:tc gridSpan="2">
                    <a:txBody>
                      <a:bodyPr/>
                      <a:lstStyle/>
                      <a:p>
                        <a:pPr marL="0" lvl="0" indent="0" algn="ctr" rtl="0">
                          <a:spcBef>
                            <a:spcPts val="0"/>
                          </a:spcBef>
                          <a:spcAft>
                            <a:spcPts val="0"/>
                          </a:spcAft>
                          <a:buNone/>
                        </a:pPr>
                        <a:r>
                          <a:rPr lang="en">
                            <a:solidFill>
                              <a:schemeClr val="dk1"/>
                            </a:solidFill>
                          </a:rPr>
                          <a:t>Answer Records</a:t>
                        </a:r>
                        <a:endParaRPr>
                          <a:solidFill>
                            <a:schemeClr val="dk1"/>
                          </a:solidFill>
                        </a:endParaRPr>
                      </a:p>
                    </a:txBody>
                    <a:tcPr marL="91425" marR="91425" marT="91425" marB="91425"/>
                  </a:tc>
                  <a:tc hMerge="1">
                    <a:txBody>
                      <a:bodyPr/>
                      <a:lstStyle/>
                      <a:p>
                        <a:endParaRPr lang="en-US"/>
                      </a:p>
                    </a:txBody>
                    <a:tcPr/>
                  </a:tc>
                  <a:extLst>
                    <a:ext uri="{0D108BD9-81ED-4DB2-BD59-A6C34878D82A}">
                      <a16:rowId xmlns:a16="http://schemas.microsoft.com/office/drawing/2014/main" val="10006"/>
                    </a:ext>
                  </a:extLst>
                </a:tr>
                <a:tr h="396200">
                  <a:tc gridSpan="2">
                    <a:txBody>
                      <a:bodyPr/>
                      <a:lstStyle/>
                      <a:p>
                        <a:pPr marL="0" lvl="0" indent="0" algn="ctr" rtl="0">
                          <a:spcBef>
                            <a:spcPts val="0"/>
                          </a:spcBef>
                          <a:spcAft>
                            <a:spcPts val="0"/>
                          </a:spcAft>
                          <a:buNone/>
                        </a:pPr>
                        <a:r>
                          <a:rPr lang="en" dirty="0">
                            <a:solidFill>
                              <a:schemeClr val="dk1"/>
                            </a:solidFill>
                          </a:rPr>
                          <a:t>Authority Records</a:t>
                        </a:r>
                        <a:endParaRPr dirty="0">
                          <a:solidFill>
                            <a:schemeClr val="dk1"/>
                          </a:solidFill>
                        </a:endParaRPr>
                      </a:p>
                    </a:txBody>
                    <a:tcPr marL="91425" marR="91425" marT="91425" marB="91425"/>
                  </a:tc>
                  <a:tc hMerge="1">
                    <a:txBody>
                      <a:bodyPr/>
                      <a:lstStyle/>
                      <a:p>
                        <a:endParaRPr lang="en-US"/>
                      </a:p>
                    </a:txBody>
                    <a:tcPr/>
                  </a:tc>
                  <a:extLst>
                    <a:ext uri="{0D108BD9-81ED-4DB2-BD59-A6C34878D82A}">
                      <a16:rowId xmlns:a16="http://schemas.microsoft.com/office/drawing/2014/main" val="10007"/>
                    </a:ext>
                  </a:extLst>
                </a:tr>
                <a:tr h="396200">
                  <a:tc gridSpan="2">
                    <a:txBody>
                      <a:bodyPr/>
                      <a:lstStyle/>
                      <a:p>
                        <a:pPr marL="0" lvl="0" indent="0" algn="ctr" rtl="0">
                          <a:spcBef>
                            <a:spcPts val="0"/>
                          </a:spcBef>
                          <a:spcAft>
                            <a:spcPts val="0"/>
                          </a:spcAft>
                          <a:buNone/>
                        </a:pPr>
                        <a:r>
                          <a:rPr lang="en" dirty="0">
                            <a:solidFill>
                              <a:schemeClr val="dk1"/>
                            </a:solidFill>
                          </a:rPr>
                          <a:t>Additional Records (“glue” records)</a:t>
                        </a:r>
                        <a:endParaRPr dirty="0">
                          <a:solidFill>
                            <a:schemeClr val="dk1"/>
                          </a:solidFill>
                        </a:endParaRPr>
                      </a:p>
                    </a:txBody>
                    <a:tcPr marL="91425" marR="91425" marT="91425" marB="91425"/>
                  </a:tc>
                  <a:tc hMerge="1">
                    <a:txBody>
                      <a:bodyPr/>
                      <a:lstStyle/>
                      <a:p>
                        <a:endParaRPr lang="en-US"/>
                      </a:p>
                    </a:txBody>
                    <a:tcPr/>
                  </a:tc>
                  <a:extLst>
                    <a:ext uri="{0D108BD9-81ED-4DB2-BD59-A6C34878D82A}">
                      <a16:rowId xmlns:a16="http://schemas.microsoft.com/office/drawing/2014/main" val="10008"/>
                    </a:ext>
                  </a:extLst>
                </a:tr>
              </a:tbl>
            </a:graphicData>
          </a:graphic>
        </p:graphicFrame>
        <p:sp>
          <p:nvSpPr>
            <p:cNvPr id="5" name="Google Shape;854;p70">
              <a:extLst>
                <a:ext uri="{FF2B5EF4-FFF2-40B4-BE49-F238E27FC236}">
                  <a16:creationId xmlns:a16="http://schemas.microsoft.com/office/drawing/2014/main" id="{74158A7D-74CE-C5EF-51A1-7BDDA93C34D2}"/>
                </a:ext>
              </a:extLst>
            </p:cNvPr>
            <p:cNvSpPr txBox="1"/>
            <p:nvPr/>
          </p:nvSpPr>
          <p:spPr>
            <a:xfrm rot="5400000">
              <a:off x="10786155" y="4665168"/>
              <a:ext cx="1577100" cy="400079"/>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400"/>
                <a:t>DNS Payload</a:t>
              </a:r>
              <a:endParaRPr sz="1400"/>
            </a:p>
          </p:txBody>
        </p:sp>
        <p:sp>
          <p:nvSpPr>
            <p:cNvPr id="6" name="Google Shape;855;p70">
              <a:extLst>
                <a:ext uri="{FF2B5EF4-FFF2-40B4-BE49-F238E27FC236}">
                  <a16:creationId xmlns:a16="http://schemas.microsoft.com/office/drawing/2014/main" id="{5A5286C6-B7CF-3BAF-5B9C-58E6884E699E}"/>
                </a:ext>
              </a:extLst>
            </p:cNvPr>
            <p:cNvSpPr txBox="1"/>
            <p:nvPr/>
          </p:nvSpPr>
          <p:spPr>
            <a:xfrm rot="5400000">
              <a:off x="11177806" y="1766261"/>
              <a:ext cx="7938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400"/>
                <a:t>UDP Header</a:t>
              </a:r>
              <a:endParaRPr sz="1400"/>
            </a:p>
          </p:txBody>
        </p:sp>
        <p:sp>
          <p:nvSpPr>
            <p:cNvPr id="7" name="Google Shape;856;p70">
              <a:extLst>
                <a:ext uri="{FF2B5EF4-FFF2-40B4-BE49-F238E27FC236}">
                  <a16:creationId xmlns:a16="http://schemas.microsoft.com/office/drawing/2014/main" id="{E9DC85B3-F0FC-120D-EC29-75338D07CCB4}"/>
                </a:ext>
              </a:extLst>
            </p:cNvPr>
            <p:cNvSpPr txBox="1"/>
            <p:nvPr/>
          </p:nvSpPr>
          <p:spPr>
            <a:xfrm rot="5400000">
              <a:off x="10978750" y="3075289"/>
              <a:ext cx="11985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400"/>
                <a:t>DNS Header</a:t>
              </a:r>
              <a:endParaRPr sz="1400"/>
            </a:p>
          </p:txBody>
        </p:sp>
        <p:cxnSp>
          <p:nvCxnSpPr>
            <p:cNvPr id="15" name="Straight Connector 14">
              <a:extLst>
                <a:ext uri="{FF2B5EF4-FFF2-40B4-BE49-F238E27FC236}">
                  <a16:creationId xmlns:a16="http://schemas.microsoft.com/office/drawing/2014/main" id="{E75F4193-2372-EB43-2C34-4CF7F51A1D78}"/>
                </a:ext>
              </a:extLst>
            </p:cNvPr>
            <p:cNvCxnSpPr/>
            <p:nvPr/>
          </p:nvCxnSpPr>
          <p:spPr>
            <a:xfrm>
              <a:off x="11266906" y="2549405"/>
              <a:ext cx="365760" cy="0"/>
            </a:xfrm>
            <a:prstGeom prst="line">
              <a:avLst/>
            </a:prstGeom>
            <a:ln w="31750"/>
          </p:spPr>
          <p:style>
            <a:lnRef idx="1">
              <a:schemeClr val="accent2"/>
            </a:lnRef>
            <a:fillRef idx="0">
              <a:schemeClr val="accent2"/>
            </a:fillRef>
            <a:effectRef idx="0">
              <a:schemeClr val="accent2"/>
            </a:effectRef>
            <a:fontRef idx="minor">
              <a:schemeClr val="tx1"/>
            </a:fontRef>
          </p:style>
        </p:cxnSp>
        <p:cxnSp>
          <p:nvCxnSpPr>
            <p:cNvPr id="16" name="Straight Connector 15">
              <a:extLst>
                <a:ext uri="{FF2B5EF4-FFF2-40B4-BE49-F238E27FC236}">
                  <a16:creationId xmlns:a16="http://schemas.microsoft.com/office/drawing/2014/main" id="{565F264E-4070-ED5D-9E45-7CA371DCA4FF}"/>
                </a:ext>
              </a:extLst>
            </p:cNvPr>
            <p:cNvCxnSpPr/>
            <p:nvPr/>
          </p:nvCxnSpPr>
          <p:spPr>
            <a:xfrm>
              <a:off x="11266906" y="3943865"/>
              <a:ext cx="365760" cy="0"/>
            </a:xfrm>
            <a:prstGeom prst="line">
              <a:avLst/>
            </a:prstGeom>
            <a:ln w="31750"/>
          </p:spPr>
          <p:style>
            <a:lnRef idx="1">
              <a:schemeClr val="accent2"/>
            </a:lnRef>
            <a:fillRef idx="0">
              <a:schemeClr val="accent2"/>
            </a:fillRef>
            <a:effectRef idx="0">
              <a:schemeClr val="accent2"/>
            </a:effectRef>
            <a:fontRef idx="minor">
              <a:schemeClr val="tx1"/>
            </a:fontRef>
          </p:style>
        </p:cxnSp>
        <p:cxnSp>
          <p:nvCxnSpPr>
            <p:cNvPr id="17" name="Straight Connector 16">
              <a:extLst>
                <a:ext uri="{FF2B5EF4-FFF2-40B4-BE49-F238E27FC236}">
                  <a16:creationId xmlns:a16="http://schemas.microsoft.com/office/drawing/2014/main" id="{5DD4F14E-F684-F98F-2D98-E4D6EF950374}"/>
                </a:ext>
              </a:extLst>
            </p:cNvPr>
            <p:cNvCxnSpPr>
              <a:cxnSpLocks/>
            </p:cNvCxnSpPr>
            <p:nvPr/>
          </p:nvCxnSpPr>
          <p:spPr>
            <a:xfrm>
              <a:off x="7152106" y="1101969"/>
              <a:ext cx="0" cy="526628"/>
            </a:xfrm>
            <a:prstGeom prst="line">
              <a:avLst/>
            </a:prstGeom>
            <a:ln w="31750"/>
          </p:spPr>
          <p:style>
            <a:lnRef idx="1">
              <a:schemeClr val="accent2"/>
            </a:lnRef>
            <a:fillRef idx="0">
              <a:schemeClr val="accent2"/>
            </a:fillRef>
            <a:effectRef idx="0">
              <a:schemeClr val="accent2"/>
            </a:effectRef>
            <a:fontRef idx="minor">
              <a:schemeClr val="tx1"/>
            </a:fontRef>
          </p:style>
        </p:cxnSp>
        <p:cxnSp>
          <p:nvCxnSpPr>
            <p:cNvPr id="18" name="Straight Arrow Connector 17">
              <a:extLst>
                <a:ext uri="{FF2B5EF4-FFF2-40B4-BE49-F238E27FC236}">
                  <a16:creationId xmlns:a16="http://schemas.microsoft.com/office/drawing/2014/main" id="{71F3F793-3AE1-3EFE-A3CF-A85A239B835A}"/>
                </a:ext>
              </a:extLst>
            </p:cNvPr>
            <p:cNvCxnSpPr>
              <a:cxnSpLocks/>
            </p:cNvCxnSpPr>
            <p:nvPr/>
          </p:nvCxnSpPr>
          <p:spPr>
            <a:xfrm>
              <a:off x="7152106" y="1351932"/>
              <a:ext cx="4114800"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F6B555C-6BFA-2937-3D5E-BE56631B62C3}"/>
                </a:ext>
              </a:extLst>
            </p:cNvPr>
            <p:cNvCxnSpPr>
              <a:cxnSpLocks/>
            </p:cNvCxnSpPr>
            <p:nvPr/>
          </p:nvCxnSpPr>
          <p:spPr>
            <a:xfrm>
              <a:off x="11266906" y="1117470"/>
              <a:ext cx="0" cy="526628"/>
            </a:xfrm>
            <a:prstGeom prst="line">
              <a:avLst/>
            </a:prstGeom>
            <a:ln w="31750"/>
          </p:spPr>
          <p:style>
            <a:lnRef idx="1">
              <a:schemeClr val="accent2"/>
            </a:lnRef>
            <a:fillRef idx="0">
              <a:schemeClr val="accent2"/>
            </a:fillRef>
            <a:effectRef idx="0">
              <a:schemeClr val="accent2"/>
            </a:effectRef>
            <a:fontRef idx="minor">
              <a:schemeClr val="tx1"/>
            </a:fontRef>
          </p:style>
        </p:cxnSp>
        <p:sp>
          <p:nvSpPr>
            <p:cNvPr id="20" name="TextBox 19">
              <a:extLst>
                <a:ext uri="{FF2B5EF4-FFF2-40B4-BE49-F238E27FC236}">
                  <a16:creationId xmlns:a16="http://schemas.microsoft.com/office/drawing/2014/main" id="{7243E7AC-DAFF-0C6A-A210-EF2FF6D77B75}"/>
                </a:ext>
              </a:extLst>
            </p:cNvPr>
            <p:cNvSpPr txBox="1"/>
            <p:nvPr/>
          </p:nvSpPr>
          <p:spPr>
            <a:xfrm>
              <a:off x="8230629" y="1167266"/>
              <a:ext cx="1957754" cy="400110"/>
            </a:xfrm>
            <a:prstGeom prst="rect">
              <a:avLst/>
            </a:prstGeom>
            <a:solidFill>
              <a:schemeClr val="bg1"/>
            </a:solidFill>
          </p:spPr>
          <p:txBody>
            <a:bodyPr wrap="square" rtlCol="0">
              <a:spAutoFit/>
            </a:bodyPr>
            <a:lstStyle/>
            <a:p>
              <a:pPr algn="ctr"/>
              <a:r>
                <a:rPr lang="en-US" sz="2000" b="1" dirty="0">
                  <a:latin typeface="Aptos" panose="020B0004020202020204" pitchFamily="34" charset="0"/>
                </a:rPr>
                <a:t>32 bits</a:t>
              </a:r>
            </a:p>
          </p:txBody>
        </p:sp>
      </p:grpSp>
      <p:sp>
        <p:nvSpPr>
          <p:cNvPr id="9" name="TextBox 8">
            <a:extLst>
              <a:ext uri="{FF2B5EF4-FFF2-40B4-BE49-F238E27FC236}">
                <a16:creationId xmlns:a16="http://schemas.microsoft.com/office/drawing/2014/main" id="{38560BBA-A382-CC75-5647-20019EF6E10F}"/>
              </a:ext>
            </a:extLst>
          </p:cNvPr>
          <p:cNvSpPr txBox="1"/>
          <p:nvPr/>
        </p:nvSpPr>
        <p:spPr>
          <a:xfrm>
            <a:off x="157094" y="1519749"/>
            <a:ext cx="6677244" cy="4616648"/>
          </a:xfrm>
          <a:prstGeom prst="rect">
            <a:avLst/>
          </a:prstGeom>
          <a:noFill/>
        </p:spPr>
        <p:txBody>
          <a:bodyPr wrap="square" rtlCol="0">
            <a:spAutoFit/>
          </a:bodyPr>
          <a:lstStyle/>
          <a:p>
            <a:pPr marL="457200" indent="-342900">
              <a:spcAft>
                <a:spcPts val="600"/>
              </a:spcAft>
              <a:buClrTx/>
              <a:buSzPct val="100000"/>
              <a:buFont typeface="Arial" panose="020B0604020202020204" pitchFamily="34" charset="0"/>
              <a:buChar char="•"/>
            </a:pPr>
            <a:r>
              <a:rPr lang="en-US" sz="2200" dirty="0">
                <a:latin typeface="Aptos" panose="020B0004020202020204" pitchFamily="34" charset="0"/>
              </a:rPr>
              <a:t>Why does the attacker's reply work?</a:t>
            </a:r>
          </a:p>
          <a:p>
            <a:pPr marL="914400" lvl="1" indent="-342900">
              <a:spcAft>
                <a:spcPts val="600"/>
              </a:spcAft>
              <a:buSzPct val="100000"/>
              <a:buFont typeface="Arial" panose="020B0604020202020204" pitchFamily="34" charset="0"/>
              <a:buChar char="•"/>
            </a:pPr>
            <a:r>
              <a:rPr lang="en-US" sz="2200" dirty="0">
                <a:latin typeface="Aptos" panose="020B0004020202020204" pitchFamily="34" charset="0"/>
              </a:rPr>
              <a:t>The Query ID matches the value in the sender’s request package </a:t>
            </a:r>
            <a:endParaRPr lang="en" sz="2200" dirty="0">
              <a:latin typeface="Aptos" panose="020B0004020202020204" pitchFamily="34" charset="0"/>
            </a:endParaRPr>
          </a:p>
          <a:p>
            <a:pPr marL="457200" lvl="0" indent="-342900">
              <a:spcAft>
                <a:spcPts val="600"/>
              </a:spcAft>
              <a:buSzPct val="100000"/>
              <a:buFont typeface="Arial" panose="020B0604020202020204" pitchFamily="34" charset="0"/>
              <a:buChar char="•"/>
            </a:pPr>
            <a:r>
              <a:rPr lang="en" sz="2200" b="1" dirty="0">
                <a:solidFill>
                  <a:srgbClr val="C00000"/>
                </a:solidFill>
                <a:latin typeface="Aptos" panose="020B0004020202020204" pitchFamily="34" charset="0"/>
              </a:rPr>
              <a:t>Randomize the source port</a:t>
            </a:r>
            <a:r>
              <a:rPr lang="en" sz="2200" dirty="0">
                <a:latin typeface="Aptos" panose="020B0004020202020204" pitchFamily="34" charset="0"/>
              </a:rPr>
              <a:t> </a:t>
            </a:r>
            <a:r>
              <a:rPr lang="en" sz="2200" b="1" dirty="0">
                <a:solidFill>
                  <a:srgbClr val="C00000"/>
                </a:solidFill>
                <a:latin typeface="Aptos" panose="020B0004020202020204" pitchFamily="34" charset="0"/>
              </a:rPr>
              <a:t>of the DNS query</a:t>
            </a:r>
          </a:p>
          <a:p>
            <a:pPr marL="914400" lvl="1" indent="-342900">
              <a:spcAft>
                <a:spcPts val="600"/>
              </a:spcAft>
              <a:buSzPct val="100000"/>
              <a:buFont typeface="Arial" panose="020B0604020202020204" pitchFamily="34" charset="0"/>
              <a:buChar char="•"/>
            </a:pPr>
            <a:r>
              <a:rPr lang="en" sz="2200" dirty="0">
                <a:latin typeface="Aptos" panose="020B0004020202020204" pitchFamily="34" charset="0"/>
              </a:rPr>
              <a:t>The attacker must guess the destination port of the response in addition to the query ID</a:t>
            </a:r>
          </a:p>
          <a:p>
            <a:pPr marL="914400" lvl="1" indent="-342900">
              <a:spcAft>
                <a:spcPts val="600"/>
              </a:spcAft>
              <a:buSzPct val="100000"/>
              <a:buFont typeface="Arial" panose="020B0604020202020204" pitchFamily="34" charset="0"/>
              <a:buChar char="•"/>
            </a:pPr>
            <a:r>
              <a:rPr lang="en" sz="2200" dirty="0">
                <a:latin typeface="Aptos" panose="020B0004020202020204" pitchFamily="34" charset="0"/>
              </a:rPr>
              <a:t>This adds 16 bits of entropy, to total 2</a:t>
            </a:r>
            <a:r>
              <a:rPr lang="en" sz="2200" baseline="30000" dirty="0">
                <a:latin typeface="Aptos" panose="020B0004020202020204" pitchFamily="34" charset="0"/>
              </a:rPr>
              <a:t>32</a:t>
            </a:r>
            <a:r>
              <a:rPr lang="en" sz="2200" dirty="0">
                <a:latin typeface="Aptos" panose="020B0004020202020204" pitchFamily="34" charset="0"/>
              </a:rPr>
              <a:t> possibilities</a:t>
            </a:r>
            <a:endParaRPr lang="en-US" sz="2200" dirty="0">
              <a:latin typeface="Aptos" panose="020B0004020202020204" pitchFamily="34" charset="0"/>
            </a:endParaRPr>
          </a:p>
          <a:p>
            <a:pPr marL="914400" lvl="1" indent="-342900">
              <a:spcAft>
                <a:spcPts val="600"/>
              </a:spcAft>
              <a:buSzPct val="100000"/>
              <a:buFont typeface="Arial" panose="020B0604020202020204" pitchFamily="34" charset="0"/>
              <a:buChar char="•"/>
            </a:pPr>
            <a:r>
              <a:rPr lang="en-US" altLang="zh-CN" sz="2200" dirty="0">
                <a:latin typeface="Aptos" panose="020B0004020202020204" pitchFamily="34" charset="0"/>
                <a:hlinkClick r:id="rId3"/>
              </a:rPr>
              <a:t>What is information entropy? </a:t>
            </a:r>
            <a:r>
              <a:rPr lang="en-US" altLang="zh-CN" sz="2200" dirty="0">
                <a:latin typeface="Aptos" panose="020B0004020202020204" pitchFamily="34" charset="0"/>
                <a:sym typeface="Wingdings" panose="05000000000000000000" pitchFamily="2" charset="2"/>
              </a:rPr>
              <a:t> </a:t>
            </a:r>
            <a:r>
              <a:rPr lang="en-US" sz="2200" dirty="0">
                <a:latin typeface="Aptos" panose="020B0004020202020204" pitchFamily="34" charset="0"/>
              </a:rPr>
              <a:t>The higher the uncertainty, the harder it is for an attacker to successfully launch an attack</a:t>
            </a:r>
          </a:p>
          <a:p>
            <a:pPr marL="914400" lvl="1" indent="-342900">
              <a:spcAft>
                <a:spcPts val="600"/>
              </a:spcAft>
              <a:buSzPct val="100000"/>
              <a:buFont typeface="Arial" panose="020B0604020202020204" pitchFamily="34" charset="0"/>
              <a:buChar char="•"/>
            </a:pPr>
            <a:r>
              <a:rPr lang="en-US" sz="2200" dirty="0">
                <a:latin typeface="Aptos" panose="020B0004020202020204" pitchFamily="34" charset="0"/>
              </a:rPr>
              <a:t>Attack now takes several hours</a:t>
            </a:r>
          </a:p>
        </p:txBody>
      </p:sp>
    </p:spTree>
    <p:extLst>
      <p:ext uri="{BB962C8B-B14F-4D97-AF65-F5344CB8AC3E}">
        <p14:creationId xmlns:p14="http://schemas.microsoft.com/office/powerpoint/2010/main" val="21757531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819;p140">
            <a:extLst>
              <a:ext uri="{FF2B5EF4-FFF2-40B4-BE49-F238E27FC236}">
                <a16:creationId xmlns:a16="http://schemas.microsoft.com/office/drawing/2014/main" id="{A1BBD3EA-B48A-9405-9D84-E991AC00628F}"/>
              </a:ext>
            </a:extLst>
          </p:cNvPr>
          <p:cNvSpPr txBox="1">
            <a:spLocks noGrp="1"/>
          </p:cNvSpPr>
          <p:nvPr>
            <p:ph type="title"/>
          </p:nvPr>
        </p:nvSpPr>
        <p:spPr>
          <a:xfrm>
            <a:off x="415600" y="134472"/>
            <a:ext cx="11360800" cy="763600"/>
          </a:xfrm>
          <a:prstGeom prst="rect">
            <a:avLst/>
          </a:prstGeom>
        </p:spPr>
        <p:txBody>
          <a:bodyPr spcFirstLastPara="1" wrap="square" lIns="121900" tIns="121900" rIns="121900" bIns="121900" anchor="t" anchorCtr="0">
            <a:noAutofit/>
          </a:bodyPr>
          <a:lstStyle/>
          <a:p>
            <a:r>
              <a:rPr lang="en" sz="4400" dirty="0">
                <a:latin typeface="Aptos" panose="020B0004020202020204" pitchFamily="34" charset="0"/>
              </a:rPr>
              <a:t>Defense: Glue Validation</a:t>
            </a:r>
            <a:endParaRPr sz="4400" dirty="0">
              <a:latin typeface="Aptos" panose="020B0004020202020204" pitchFamily="34" charset="0"/>
            </a:endParaRPr>
          </a:p>
        </p:txBody>
      </p:sp>
      <p:sp>
        <p:nvSpPr>
          <p:cNvPr id="6" name="Google Shape;808;p66">
            <a:extLst>
              <a:ext uri="{FF2B5EF4-FFF2-40B4-BE49-F238E27FC236}">
                <a16:creationId xmlns:a16="http://schemas.microsoft.com/office/drawing/2014/main" id="{C44BFABE-9864-6A10-6712-F966AB865602}"/>
              </a:ext>
            </a:extLst>
          </p:cNvPr>
          <p:cNvSpPr txBox="1">
            <a:spLocks/>
          </p:cNvSpPr>
          <p:nvPr/>
        </p:nvSpPr>
        <p:spPr>
          <a:xfrm>
            <a:off x="4572000" y="3261509"/>
            <a:ext cx="7620000" cy="32429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609585" marR="0" lvl="0" indent="-457189"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1219170" marR="0" lvl="1"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2pPr>
            <a:lvl3pPr marL="1828754" marR="0" lvl="2"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3pPr>
            <a:lvl4pPr marL="2438339" marR="0" lvl="3"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4pPr>
            <a:lvl5pPr marL="3047924" marR="0" lvl="4"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5pPr>
            <a:lvl6pPr marL="3657509" marR="0" lvl="5"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6pPr>
            <a:lvl7pPr marL="4267093" marR="0" lvl="6"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7pPr>
            <a:lvl8pPr marL="4876678" marR="0" lvl="7"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8pPr>
            <a:lvl9pPr marL="5486263" marR="0" lvl="8"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9pPr>
          </a:lstStyle>
          <a:p>
            <a:pPr marL="0" indent="0">
              <a:lnSpc>
                <a:spcPct val="100000"/>
              </a:lnSpc>
              <a:buFont typeface="Arial"/>
              <a:buNone/>
            </a:pPr>
            <a:r>
              <a:rPr lang="en-US" sz="1500" b="1" kern="0" dirty="0">
                <a:latin typeface="Courier New"/>
                <a:ea typeface="Courier New"/>
                <a:cs typeface="Courier New"/>
                <a:sym typeface="Courier New"/>
              </a:rPr>
              <a:t>$ dig +</a:t>
            </a:r>
            <a:r>
              <a:rPr lang="en-US" sz="1500" b="1" kern="0" dirty="0" err="1">
                <a:latin typeface="Courier New"/>
                <a:ea typeface="Courier New"/>
                <a:cs typeface="Courier New"/>
                <a:sym typeface="Courier New"/>
              </a:rPr>
              <a:t>norecurse</a:t>
            </a:r>
            <a:r>
              <a:rPr lang="en-US" sz="1500" b="1" kern="0" dirty="0">
                <a:latin typeface="Courier New"/>
                <a:ea typeface="Courier New"/>
                <a:cs typeface="Courier New"/>
                <a:sym typeface="Courier New"/>
              </a:rPr>
              <a:t> </a:t>
            </a:r>
            <a:r>
              <a:rPr lang="en" sz="1500" b="1" kern="0" dirty="0">
                <a:latin typeface="Courier New"/>
                <a:cs typeface="Courier New"/>
                <a:sym typeface="Courier New"/>
              </a:rPr>
              <a:t>.photos.google.com </a:t>
            </a:r>
            <a:r>
              <a:rPr lang="en-US" sz="1500" b="1" kern="0" dirty="0">
                <a:latin typeface="Courier New"/>
                <a:ea typeface="Courier New"/>
                <a:cs typeface="Courier New"/>
                <a:sym typeface="Courier New"/>
              </a:rPr>
              <a:t>@128.42.156.7</a:t>
            </a:r>
          </a:p>
          <a:p>
            <a:pPr marL="0" indent="0">
              <a:lnSpc>
                <a:spcPct val="100000"/>
              </a:lnSpc>
              <a:buFont typeface="Arial"/>
              <a:buNone/>
            </a:pPr>
            <a:endParaRPr lang="en-US" sz="1500" b="1" kern="0" dirty="0">
              <a:latin typeface="Courier New"/>
              <a:ea typeface="Courier New"/>
              <a:cs typeface="Courier New"/>
              <a:sym typeface="Courier New"/>
            </a:endParaRPr>
          </a:p>
          <a:p>
            <a:pPr marL="0" indent="0">
              <a:lnSpc>
                <a:spcPct val="100000"/>
              </a:lnSpc>
              <a:buFont typeface="Arial"/>
              <a:buNone/>
            </a:pPr>
            <a:r>
              <a:rPr lang="en-US" sz="1500" b="1" kern="0" dirty="0">
                <a:latin typeface="Courier New"/>
                <a:ea typeface="Courier New"/>
                <a:cs typeface="Courier New"/>
                <a:sym typeface="Courier New"/>
              </a:rPr>
              <a:t>;; Got answer:</a:t>
            </a:r>
          </a:p>
          <a:p>
            <a:pPr marL="0" indent="0">
              <a:lnSpc>
                <a:spcPct val="100000"/>
              </a:lnSpc>
              <a:buFont typeface="Arial"/>
              <a:buNone/>
            </a:pPr>
            <a:r>
              <a:rPr lang="en-US" sz="1500" b="1" kern="0" dirty="0">
                <a:latin typeface="Courier New"/>
                <a:ea typeface="Courier New"/>
                <a:cs typeface="Courier New"/>
                <a:sym typeface="Courier New"/>
              </a:rPr>
              <a:t>;; -&gt;&gt;HEADER&lt;&lt;- opcode: QUERY, status: NOERROR, id: 26144</a:t>
            </a:r>
          </a:p>
          <a:p>
            <a:pPr marL="0" indent="0">
              <a:lnSpc>
                <a:spcPct val="100000"/>
              </a:lnSpc>
              <a:buFont typeface="Arial"/>
              <a:buNone/>
            </a:pPr>
            <a:r>
              <a:rPr lang="en-US" sz="1500" b="1" kern="0" dirty="0">
                <a:latin typeface="Courier New"/>
                <a:ea typeface="Courier New"/>
                <a:cs typeface="Courier New"/>
                <a:sym typeface="Courier New"/>
              </a:rPr>
              <a:t>;; flags: </a:t>
            </a:r>
            <a:r>
              <a:rPr lang="en-US" sz="1500" b="1" kern="0" dirty="0" err="1">
                <a:latin typeface="Courier New"/>
                <a:ea typeface="Courier New"/>
                <a:cs typeface="Courier New"/>
                <a:sym typeface="Courier New"/>
              </a:rPr>
              <a:t>qr</a:t>
            </a:r>
            <a:r>
              <a:rPr lang="en-US" sz="1500" b="1" kern="0" dirty="0">
                <a:latin typeface="Courier New"/>
                <a:ea typeface="Courier New"/>
                <a:cs typeface="Courier New"/>
                <a:sym typeface="Courier New"/>
              </a:rPr>
              <a:t>; QUERY: 1, ANSWER: 0, AUTHORITY: 13, ADDITIONAL: 27</a:t>
            </a:r>
          </a:p>
          <a:p>
            <a:pPr marL="0" indent="0">
              <a:lnSpc>
                <a:spcPct val="100000"/>
              </a:lnSpc>
              <a:buFont typeface="Arial"/>
              <a:buNone/>
            </a:pPr>
            <a:endParaRPr lang="en-US" sz="1500" b="1" kern="0" dirty="0">
              <a:latin typeface="Courier New"/>
              <a:ea typeface="Courier New"/>
              <a:cs typeface="Courier New"/>
              <a:sym typeface="Courier New"/>
            </a:endParaRPr>
          </a:p>
          <a:p>
            <a:pPr marL="0" indent="0">
              <a:lnSpc>
                <a:spcPct val="100000"/>
              </a:lnSpc>
              <a:buFont typeface="Arial"/>
              <a:buNone/>
            </a:pPr>
            <a:r>
              <a:rPr lang="en-US" sz="1500" b="1" kern="0" dirty="0">
                <a:latin typeface="Courier New"/>
                <a:ea typeface="Courier New"/>
                <a:cs typeface="Courier New"/>
                <a:sym typeface="Courier New"/>
              </a:rPr>
              <a:t>;; AUTHORITY SECTION:</a:t>
            </a:r>
          </a:p>
          <a:p>
            <a:pPr marL="0" indent="0">
              <a:lnSpc>
                <a:spcPct val="100000"/>
              </a:lnSpc>
              <a:buFont typeface="Arial"/>
              <a:buNone/>
            </a:pPr>
            <a:r>
              <a:rPr lang="en-US" sz="1500" b="1" kern="0" dirty="0">
                <a:latin typeface="Courier New"/>
                <a:ea typeface="Courier New"/>
                <a:cs typeface="Courier New"/>
                <a:sym typeface="Courier New"/>
              </a:rPr>
              <a:t>.photos.google.com	172800     IN   NS a</a:t>
            </a:r>
            <a:r>
              <a:rPr lang="en" sz="1500" b="1" kern="0" dirty="0">
                <a:latin typeface="Courier New"/>
                <a:cs typeface="Courier New"/>
                <a:sym typeface="Courier New"/>
              </a:rPr>
              <a:t>.photos.google.com </a:t>
            </a:r>
          </a:p>
          <a:p>
            <a:pPr marL="0" indent="0">
              <a:lnSpc>
                <a:spcPct val="100000"/>
              </a:lnSpc>
              <a:buFont typeface="Arial"/>
              <a:buNone/>
            </a:pPr>
            <a:r>
              <a:rPr lang="en-US" sz="1500" b="1" kern="0" dirty="0">
                <a:latin typeface="Courier New"/>
                <a:ea typeface="Courier New"/>
                <a:cs typeface="Courier New"/>
                <a:sym typeface="Courier New"/>
              </a:rPr>
              <a:t>...</a:t>
            </a:r>
          </a:p>
          <a:p>
            <a:pPr marL="0" indent="0">
              <a:lnSpc>
                <a:spcPct val="100000"/>
              </a:lnSpc>
              <a:buFont typeface="Arial"/>
              <a:buNone/>
            </a:pPr>
            <a:endParaRPr lang="en-US" sz="1500" b="1" kern="0" dirty="0">
              <a:latin typeface="Courier New"/>
              <a:ea typeface="Courier New"/>
              <a:cs typeface="Courier New"/>
              <a:sym typeface="Courier New"/>
            </a:endParaRPr>
          </a:p>
          <a:p>
            <a:pPr marL="0" indent="0">
              <a:lnSpc>
                <a:spcPct val="100000"/>
              </a:lnSpc>
              <a:buFont typeface="Arial"/>
              <a:buNone/>
            </a:pPr>
            <a:r>
              <a:rPr lang="en-US" sz="1500" b="1" kern="0" dirty="0">
                <a:latin typeface="Courier New"/>
                <a:ea typeface="Courier New"/>
                <a:cs typeface="Courier New"/>
                <a:sym typeface="Courier New"/>
              </a:rPr>
              <a:t>;; ADDITIONAL SECTION:</a:t>
            </a:r>
          </a:p>
          <a:p>
            <a:pPr marL="0" indent="0">
              <a:lnSpc>
                <a:spcPct val="100000"/>
              </a:lnSpc>
              <a:buNone/>
            </a:pPr>
            <a:r>
              <a:rPr lang="en-US" sz="1500" b="1" kern="0" dirty="0">
                <a:latin typeface="Courier New"/>
                <a:ea typeface="Courier New"/>
                <a:cs typeface="Courier New"/>
                <a:sym typeface="Courier New"/>
              </a:rPr>
              <a:t>a.photos.google.com       172800    IN   A  192.5.6.30</a:t>
            </a:r>
            <a:endParaRPr lang="en-US" sz="1500" b="1" kern="0" dirty="0">
              <a:solidFill>
                <a:srgbClr val="FF0000"/>
              </a:solidFill>
              <a:latin typeface="Courier New"/>
              <a:ea typeface="Courier New"/>
              <a:cs typeface="Courier New"/>
              <a:sym typeface="Courier New"/>
            </a:endParaRPr>
          </a:p>
          <a:p>
            <a:pPr marL="0" indent="0">
              <a:lnSpc>
                <a:spcPct val="100000"/>
              </a:lnSpc>
              <a:buFont typeface="Arial"/>
              <a:buNone/>
            </a:pPr>
            <a:r>
              <a:rPr lang="en-US" sz="1500" b="1" kern="0" dirty="0">
                <a:latin typeface="Courier New"/>
                <a:ea typeface="Courier New"/>
                <a:cs typeface="Courier New"/>
                <a:sym typeface="Courier New"/>
              </a:rPr>
              <a:t>...</a:t>
            </a:r>
          </a:p>
        </p:txBody>
      </p:sp>
      <p:sp>
        <p:nvSpPr>
          <p:cNvPr id="7" name="TextBox 6">
            <a:extLst>
              <a:ext uri="{FF2B5EF4-FFF2-40B4-BE49-F238E27FC236}">
                <a16:creationId xmlns:a16="http://schemas.microsoft.com/office/drawing/2014/main" id="{77E85037-396F-8A94-EBD0-9535474A7DCE}"/>
              </a:ext>
            </a:extLst>
          </p:cNvPr>
          <p:cNvSpPr txBox="1"/>
          <p:nvPr/>
        </p:nvSpPr>
        <p:spPr>
          <a:xfrm>
            <a:off x="1170657" y="1039848"/>
            <a:ext cx="9210472" cy="1985159"/>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dirty="0"/>
              <a:t>Don’t cache </a:t>
            </a:r>
            <a:r>
              <a:rPr lang="en-US" b="1" dirty="0"/>
              <a:t>glue records </a:t>
            </a:r>
            <a:r>
              <a:rPr lang="en-US" dirty="0"/>
              <a:t>(additional section) as part of DNS lookups</a:t>
            </a:r>
          </a:p>
          <a:p>
            <a:pPr marL="742950" lvl="1" indent="-285750">
              <a:spcAft>
                <a:spcPts val="600"/>
              </a:spcAft>
              <a:buFont typeface="Arial" panose="020B0604020202020204" pitchFamily="34" charset="0"/>
              <a:buChar char="•"/>
            </a:pPr>
            <a:r>
              <a:rPr lang="en-US" dirty="0"/>
              <a:t>They are necessary, since NS records are given in terms of domain names, not IP addresses</a:t>
            </a:r>
          </a:p>
          <a:p>
            <a:pPr marL="742950" lvl="1" indent="-285750">
              <a:spcAft>
                <a:spcPts val="600"/>
              </a:spcAft>
              <a:buFont typeface="Arial" panose="020B0604020202020204" pitchFamily="34" charset="0"/>
              <a:buChar char="•"/>
            </a:pPr>
            <a:r>
              <a:rPr lang="en-US" dirty="0"/>
              <a:t>If you want to cache, you can perform a separate recursive DNS lookup to validate the authority of glue records</a:t>
            </a:r>
          </a:p>
          <a:p>
            <a:pPr marL="285750" indent="-285750">
              <a:spcAft>
                <a:spcPts val="600"/>
              </a:spcAft>
              <a:buFont typeface="Arial" panose="020B0604020202020204" pitchFamily="34" charset="0"/>
              <a:buChar char="•"/>
            </a:pPr>
            <a:r>
              <a:rPr lang="en-US" dirty="0"/>
              <a:t>Issue: This was not implemented by all DNS software</a:t>
            </a:r>
          </a:p>
        </p:txBody>
      </p:sp>
      <p:sp>
        <p:nvSpPr>
          <p:cNvPr id="9" name="TextBox 8">
            <a:extLst>
              <a:ext uri="{FF2B5EF4-FFF2-40B4-BE49-F238E27FC236}">
                <a16:creationId xmlns:a16="http://schemas.microsoft.com/office/drawing/2014/main" id="{96D282A3-C85C-897C-E470-4DA2E3C0EBF3}"/>
              </a:ext>
            </a:extLst>
          </p:cNvPr>
          <p:cNvSpPr txBox="1"/>
          <p:nvPr/>
        </p:nvSpPr>
        <p:spPr>
          <a:xfrm>
            <a:off x="171941" y="3879220"/>
            <a:ext cx="3564729" cy="923330"/>
          </a:xfrm>
          <a:prstGeom prst="rect">
            <a:avLst/>
          </a:prstGeom>
          <a:noFill/>
        </p:spPr>
        <p:txBody>
          <a:bodyPr wrap="square">
            <a:spAutoFit/>
          </a:bodyPr>
          <a:lstStyle/>
          <a:p>
            <a:pPr algn="ctr">
              <a:spcAft>
                <a:spcPts val="600"/>
              </a:spcAft>
            </a:pPr>
            <a:r>
              <a:rPr lang="en-US" dirty="0"/>
              <a:t>It costs you one extra DNS request, but at least it makes Kaminsky attack </a:t>
            </a:r>
            <a:r>
              <a:rPr lang="en-US" dirty="0">
                <a:solidFill>
                  <a:srgbClr val="C00000"/>
                </a:solidFill>
              </a:rPr>
              <a:t>impossible</a:t>
            </a:r>
          </a:p>
        </p:txBody>
      </p:sp>
      <p:cxnSp>
        <p:nvCxnSpPr>
          <p:cNvPr id="11" name="Straight Arrow Connector 10">
            <a:extLst>
              <a:ext uri="{FF2B5EF4-FFF2-40B4-BE49-F238E27FC236}">
                <a16:creationId xmlns:a16="http://schemas.microsoft.com/office/drawing/2014/main" id="{FA766E7C-E981-254C-B216-E87DD2637145}"/>
              </a:ext>
            </a:extLst>
          </p:cNvPr>
          <p:cNvCxnSpPr>
            <a:cxnSpLocks/>
          </p:cNvCxnSpPr>
          <p:nvPr/>
        </p:nvCxnSpPr>
        <p:spPr>
          <a:xfrm>
            <a:off x="2034988" y="4883000"/>
            <a:ext cx="2447365" cy="1033706"/>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24759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819;p140">
            <a:extLst>
              <a:ext uri="{FF2B5EF4-FFF2-40B4-BE49-F238E27FC236}">
                <a16:creationId xmlns:a16="http://schemas.microsoft.com/office/drawing/2014/main" id="{A1BBD3EA-B48A-9405-9D84-E991AC00628F}"/>
              </a:ext>
            </a:extLst>
          </p:cNvPr>
          <p:cNvSpPr txBox="1">
            <a:spLocks noGrp="1"/>
          </p:cNvSpPr>
          <p:nvPr>
            <p:ph type="title"/>
          </p:nvPr>
        </p:nvSpPr>
        <p:spPr>
          <a:xfrm>
            <a:off x="415600" y="0"/>
            <a:ext cx="11360800" cy="763600"/>
          </a:xfrm>
          <a:prstGeom prst="rect">
            <a:avLst/>
          </a:prstGeom>
        </p:spPr>
        <p:txBody>
          <a:bodyPr spcFirstLastPara="1" wrap="square" lIns="121900" tIns="121900" rIns="121900" bIns="121900" anchor="t" anchorCtr="0">
            <a:noAutofit/>
          </a:bodyPr>
          <a:lstStyle/>
          <a:p>
            <a:r>
              <a:rPr lang="en" sz="4400" dirty="0">
                <a:latin typeface="Aptos" panose="020B0004020202020204" pitchFamily="34" charset="0"/>
              </a:rPr>
              <a:t>DNS Related Attacks and Risks: Summary</a:t>
            </a:r>
            <a:endParaRPr sz="4400" dirty="0">
              <a:latin typeface="Aptos" panose="020B0004020202020204" pitchFamily="34" charset="0"/>
            </a:endParaRPr>
          </a:p>
        </p:txBody>
      </p:sp>
      <p:sp>
        <p:nvSpPr>
          <p:cNvPr id="2" name="Google Shape;940;p79">
            <a:extLst>
              <a:ext uri="{FF2B5EF4-FFF2-40B4-BE49-F238E27FC236}">
                <a16:creationId xmlns:a16="http://schemas.microsoft.com/office/drawing/2014/main" id="{42C0EE6B-A6A1-A5C9-486A-C0F77B15B446}"/>
              </a:ext>
            </a:extLst>
          </p:cNvPr>
          <p:cNvSpPr txBox="1">
            <a:spLocks noGrp="1"/>
          </p:cNvSpPr>
          <p:nvPr>
            <p:ph type="body" idx="1"/>
          </p:nvPr>
        </p:nvSpPr>
        <p:spPr>
          <a:xfrm>
            <a:off x="415600" y="1290608"/>
            <a:ext cx="11360800" cy="4980652"/>
          </a:xfrm>
          <a:prstGeom prst="rect">
            <a:avLst/>
          </a:prstGeom>
        </p:spPr>
        <p:txBody>
          <a:bodyPr spcFirstLastPara="1" wrap="square" lIns="91425" tIns="91425" rIns="91425" bIns="91425" anchor="t" anchorCtr="0">
            <a:normAutofit/>
          </a:bodyPr>
          <a:lstStyle/>
          <a:p>
            <a:pPr marL="457200" indent="-342900">
              <a:spcAft>
                <a:spcPts val="600"/>
              </a:spcAft>
            </a:pPr>
            <a:r>
              <a:rPr lang="en" sz="2000" dirty="0">
                <a:solidFill>
                  <a:schemeClr val="tx1"/>
                </a:solidFill>
              </a:rPr>
              <a:t>Cache poisoning attack: Send a malicious record to the resolver, which caches the record</a:t>
            </a:r>
          </a:p>
          <a:p>
            <a:pPr marL="1066785" lvl="1" indent="-342900">
              <a:spcAft>
                <a:spcPts val="600"/>
              </a:spcAft>
            </a:pPr>
            <a:r>
              <a:rPr lang="en" dirty="0">
                <a:solidFill>
                  <a:schemeClr val="tx1"/>
                </a:solidFill>
              </a:rPr>
              <a:t>Causes packets to be sent to the wrong place (e.g. to the attacker, who becomes a MITM)</a:t>
            </a:r>
            <a:endParaRPr dirty="0">
              <a:solidFill>
                <a:schemeClr val="tx1"/>
              </a:solidFill>
            </a:endParaRPr>
          </a:p>
          <a:p>
            <a:pPr marL="457200" indent="-342900">
              <a:spcAft>
                <a:spcPts val="600"/>
              </a:spcAft>
            </a:pPr>
            <a:r>
              <a:rPr lang="en" sz="2000" dirty="0">
                <a:solidFill>
                  <a:schemeClr val="tx1"/>
                </a:solidFill>
              </a:rPr>
              <a:t>Risk: Malicious name servers</a:t>
            </a:r>
          </a:p>
          <a:p>
            <a:pPr marL="1066785" lvl="1" indent="-342900">
              <a:spcAft>
                <a:spcPts val="600"/>
              </a:spcAft>
            </a:pPr>
            <a:r>
              <a:rPr lang="en" dirty="0">
                <a:solidFill>
                  <a:schemeClr val="tx1"/>
                </a:solidFill>
              </a:rPr>
              <a:t>Defense: Bailiwick checking: Resolver only accepts records in the name server’s zone</a:t>
            </a:r>
          </a:p>
          <a:p>
            <a:pPr marL="457200" indent="-342900">
              <a:spcAft>
                <a:spcPts val="600"/>
              </a:spcAft>
            </a:pPr>
            <a:r>
              <a:rPr lang="en" sz="2000" dirty="0">
                <a:solidFill>
                  <a:schemeClr val="tx1"/>
                </a:solidFill>
              </a:rPr>
              <a:t>Risk: Network attackers</a:t>
            </a:r>
          </a:p>
          <a:p>
            <a:pPr marL="1066785" lvl="1" indent="-342900">
              <a:spcAft>
                <a:spcPts val="600"/>
              </a:spcAft>
            </a:pPr>
            <a:r>
              <a:rPr lang="en" dirty="0">
                <a:solidFill>
                  <a:schemeClr val="tx1"/>
                </a:solidFill>
              </a:rPr>
              <a:t>MITM attackers can poison the cache without detection</a:t>
            </a:r>
          </a:p>
          <a:p>
            <a:pPr marL="1066785" lvl="1" indent="-342900">
              <a:spcAft>
                <a:spcPts val="600"/>
              </a:spcAft>
            </a:pPr>
            <a:r>
              <a:rPr lang="en" dirty="0">
                <a:solidFill>
                  <a:schemeClr val="tx1"/>
                </a:solidFill>
              </a:rPr>
              <a:t>On-path attackers can race the legitimate response to poison the cache</a:t>
            </a:r>
          </a:p>
          <a:p>
            <a:pPr marL="1066785" lvl="1" indent="-342900">
              <a:spcAft>
                <a:spcPts val="600"/>
              </a:spcAft>
            </a:pPr>
            <a:r>
              <a:rPr lang="en" dirty="0">
                <a:solidFill>
                  <a:schemeClr val="tx1"/>
                </a:solidFill>
              </a:rPr>
              <a:t>Off-path attackers must guess the ID field (Defense: Make the ID field random)</a:t>
            </a:r>
          </a:p>
          <a:p>
            <a:pPr marL="457200" indent="-342900">
              <a:spcAft>
                <a:spcPts val="600"/>
              </a:spcAft>
            </a:pPr>
            <a:r>
              <a:rPr lang="en" dirty="0">
                <a:solidFill>
                  <a:schemeClr val="tx1"/>
                </a:solidFill>
              </a:rPr>
              <a:t>Kaminsky attack: Query (usually) non-existent domains and put the poisoned record in the additional section (which will still be cached). Lets the off-path attacker try repeatedly until succeeding</a:t>
            </a:r>
          </a:p>
          <a:p>
            <a:pPr marL="1066785" lvl="1" indent="-342900">
              <a:spcAft>
                <a:spcPts val="600"/>
              </a:spcAft>
            </a:pPr>
            <a:r>
              <a:rPr lang="en" dirty="0">
                <a:solidFill>
                  <a:schemeClr val="tx1"/>
                </a:solidFill>
              </a:rPr>
              <a:t>Defense: Source port randomization (more bits for the off-path attacker to guess)</a:t>
            </a:r>
            <a:endParaRPr dirty="0">
              <a:solidFill>
                <a:schemeClr val="tx1"/>
              </a:solidFill>
            </a:endParaRPr>
          </a:p>
        </p:txBody>
      </p:sp>
    </p:spTree>
    <p:extLst>
      <p:ext uri="{BB962C8B-B14F-4D97-AF65-F5344CB8AC3E}">
        <p14:creationId xmlns:p14="http://schemas.microsoft.com/office/powerpoint/2010/main" val="20298290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819;p140">
            <a:extLst>
              <a:ext uri="{FF2B5EF4-FFF2-40B4-BE49-F238E27FC236}">
                <a16:creationId xmlns:a16="http://schemas.microsoft.com/office/drawing/2014/main" id="{9D621510-2800-328C-F555-78601EF3DC9D}"/>
              </a:ext>
            </a:extLst>
          </p:cNvPr>
          <p:cNvSpPr txBox="1">
            <a:spLocks noGrp="1"/>
          </p:cNvSpPr>
          <p:nvPr>
            <p:ph type="title"/>
          </p:nvPr>
        </p:nvSpPr>
        <p:spPr>
          <a:xfrm>
            <a:off x="415600" y="224117"/>
            <a:ext cx="11360800" cy="763600"/>
          </a:xfrm>
          <a:prstGeom prst="rect">
            <a:avLst/>
          </a:prstGeom>
        </p:spPr>
        <p:txBody>
          <a:bodyPr spcFirstLastPara="1" wrap="square" lIns="121900" tIns="121900" rIns="121900" bIns="121900" anchor="t" anchorCtr="0">
            <a:noAutofit/>
          </a:bodyPr>
          <a:lstStyle/>
          <a:p>
            <a:r>
              <a:rPr lang="en-US" sz="4400" dirty="0">
                <a:latin typeface="Aptos Display" panose="020B0004020202020204" pitchFamily="34" charset="0"/>
              </a:rPr>
              <a:t>Cache Poisoning Attack: Response Possibilities</a:t>
            </a:r>
            <a:endParaRPr sz="4400" dirty="0">
              <a:latin typeface="Aptos Display" panose="020B0004020202020204" pitchFamily="34" charset="0"/>
            </a:endParaRPr>
          </a:p>
        </p:txBody>
      </p:sp>
      <p:graphicFrame>
        <p:nvGraphicFramePr>
          <p:cNvPr id="5" name="Google Shape;1503;p97">
            <a:extLst>
              <a:ext uri="{FF2B5EF4-FFF2-40B4-BE49-F238E27FC236}">
                <a16:creationId xmlns:a16="http://schemas.microsoft.com/office/drawing/2014/main" id="{02C8C0C9-665F-350E-AB27-D6194E7C7414}"/>
              </a:ext>
            </a:extLst>
          </p:cNvPr>
          <p:cNvGraphicFramePr/>
          <p:nvPr>
            <p:extLst>
              <p:ext uri="{D42A27DB-BD31-4B8C-83A1-F6EECF244321}">
                <p14:modId xmlns:p14="http://schemas.microsoft.com/office/powerpoint/2010/main" val="2578689851"/>
              </p:ext>
            </p:extLst>
          </p:nvPr>
        </p:nvGraphicFramePr>
        <p:xfrm>
          <a:off x="415600" y="1436267"/>
          <a:ext cx="11360799" cy="4561538"/>
        </p:xfrm>
        <a:graphic>
          <a:graphicData uri="http://schemas.openxmlformats.org/drawingml/2006/table">
            <a:tbl>
              <a:tblPr>
                <a:noFill/>
              </a:tblPr>
              <a:tblGrid>
                <a:gridCol w="3786933">
                  <a:extLst>
                    <a:ext uri="{9D8B030D-6E8A-4147-A177-3AD203B41FA5}">
                      <a16:colId xmlns:a16="http://schemas.microsoft.com/office/drawing/2014/main" val="20000"/>
                    </a:ext>
                  </a:extLst>
                </a:gridCol>
                <a:gridCol w="3786933">
                  <a:extLst>
                    <a:ext uri="{9D8B030D-6E8A-4147-A177-3AD203B41FA5}">
                      <a16:colId xmlns:a16="http://schemas.microsoft.com/office/drawing/2014/main" val="20001"/>
                    </a:ext>
                  </a:extLst>
                </a:gridCol>
                <a:gridCol w="3786933">
                  <a:extLst>
                    <a:ext uri="{9D8B030D-6E8A-4147-A177-3AD203B41FA5}">
                      <a16:colId xmlns:a16="http://schemas.microsoft.com/office/drawing/2014/main" val="20002"/>
                    </a:ext>
                  </a:extLst>
                </a:gridCol>
              </a:tblGrid>
              <a:tr h="1262109">
                <a:tc>
                  <a:txBody>
                    <a:bodyPr/>
                    <a:lstStyle/>
                    <a:p>
                      <a:pPr marL="0" lvl="0" indent="0" algn="l" rtl="0">
                        <a:spcBef>
                          <a:spcPts val="0"/>
                        </a:spcBef>
                        <a:spcAft>
                          <a:spcPts val="0"/>
                        </a:spcAft>
                        <a:buNone/>
                      </a:pPr>
                      <a:endParaRPr sz="1800" dirty="0"/>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800" dirty="0"/>
                        <a:t>Attacker </a:t>
                      </a:r>
                      <a:r>
                        <a:rPr lang="en" sz="1800" b="1" dirty="0">
                          <a:solidFill>
                            <a:srgbClr val="C00000"/>
                          </a:solidFill>
                        </a:rPr>
                        <a:t>correctly guesses </a:t>
                      </a:r>
                      <a:r>
                        <a:rPr lang="en" sz="1800" dirty="0"/>
                        <a:t>the ID number</a:t>
                      </a:r>
                      <a:endParaRPr sz="18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800" dirty="0"/>
                        <a:t>Attacker </a:t>
                      </a:r>
                      <a:r>
                        <a:rPr lang="en" sz="1800" b="1" dirty="0">
                          <a:solidFill>
                            <a:srgbClr val="C00000"/>
                          </a:solidFill>
                        </a:rPr>
                        <a:t>does not correctly guess </a:t>
                      </a:r>
                      <a:r>
                        <a:rPr lang="en" sz="1800" dirty="0"/>
                        <a:t>the ID number</a:t>
                      </a:r>
                      <a:endParaRPr sz="18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1697938">
                <a:tc>
                  <a:txBody>
                    <a:bodyPr/>
                    <a:lstStyle/>
                    <a:p>
                      <a:pPr marL="0" lvl="0" indent="0" algn="l" rtl="0">
                        <a:spcBef>
                          <a:spcPts val="0"/>
                        </a:spcBef>
                        <a:spcAft>
                          <a:spcPts val="0"/>
                        </a:spcAft>
                        <a:buNone/>
                      </a:pPr>
                      <a:r>
                        <a:rPr lang="en" sz="1800" dirty="0"/>
                        <a:t>Attacker </a:t>
                      </a:r>
                      <a:r>
                        <a:rPr lang="en" sz="1800" b="1" dirty="0">
                          <a:solidFill>
                            <a:srgbClr val="C00000"/>
                          </a:solidFill>
                        </a:rPr>
                        <a:t>beats</a:t>
                      </a:r>
                      <a:r>
                        <a:rPr lang="en" sz="1800" b="1" dirty="0"/>
                        <a:t> </a:t>
                      </a:r>
                      <a:r>
                        <a:rPr lang="en" sz="1800" dirty="0"/>
                        <a:t>the race condition against the legitimate NS</a:t>
                      </a:r>
                      <a:endParaRPr sz="18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800" dirty="0"/>
                        <a:t>The recursive resolver caches a mapping from a legitimate domain name to the attacker’s IP address.</a:t>
                      </a:r>
                      <a:endParaRPr sz="18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D9EAD3"/>
                    </a:solidFill>
                  </a:tcPr>
                </a:tc>
                <a:tc>
                  <a:txBody>
                    <a:bodyPr/>
                    <a:lstStyle/>
                    <a:p>
                      <a:pPr marL="0" lvl="0" indent="0" algn="l" rtl="0">
                        <a:spcBef>
                          <a:spcPts val="0"/>
                        </a:spcBef>
                        <a:spcAft>
                          <a:spcPts val="0"/>
                        </a:spcAft>
                        <a:buNone/>
                      </a:pPr>
                      <a:r>
                        <a:rPr lang="en" sz="1800" dirty="0">
                          <a:solidFill>
                            <a:schemeClr val="dk1"/>
                          </a:solidFill>
                        </a:rPr>
                        <a:t>Failure. The recursive resolver caches the actual responses and we have to wait until the record expires to try again.</a:t>
                      </a:r>
                      <a:endParaRPr sz="1800" dirty="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4CCCC"/>
                    </a:solidFill>
                  </a:tcPr>
                </a:tc>
                <a:extLst>
                  <a:ext uri="{0D108BD9-81ED-4DB2-BD59-A6C34878D82A}">
                    <a16:rowId xmlns:a16="http://schemas.microsoft.com/office/drawing/2014/main" val="10001"/>
                  </a:ext>
                </a:extLst>
              </a:tr>
              <a:tr h="1601491">
                <a:tc>
                  <a:txBody>
                    <a:bodyPr/>
                    <a:lstStyle/>
                    <a:p>
                      <a:pPr marL="0" lvl="0" indent="0" algn="l" rtl="0">
                        <a:spcBef>
                          <a:spcPts val="0"/>
                        </a:spcBef>
                        <a:spcAft>
                          <a:spcPts val="0"/>
                        </a:spcAft>
                        <a:buNone/>
                      </a:pPr>
                      <a:r>
                        <a:rPr lang="en" sz="1800" dirty="0"/>
                        <a:t>Attacker </a:t>
                      </a:r>
                      <a:r>
                        <a:rPr lang="en" sz="1800" b="1" dirty="0">
                          <a:solidFill>
                            <a:srgbClr val="C00000"/>
                          </a:solidFill>
                        </a:rPr>
                        <a:t>does not beat </a:t>
                      </a:r>
                      <a:r>
                        <a:rPr lang="en" sz="1800" dirty="0"/>
                        <a:t>the race condition against the legitimate NS</a:t>
                      </a:r>
                      <a:endParaRPr sz="18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800" dirty="0"/>
                        <a:t>Failure. The recursive resolver caches the actual responses and we have to wait until the record expires to try again.</a:t>
                      </a:r>
                      <a:endParaRPr sz="18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4CCCC"/>
                    </a:solidFill>
                  </a:tcPr>
                </a:tc>
                <a:tc>
                  <a:txBody>
                    <a:bodyPr/>
                    <a:lstStyle/>
                    <a:p>
                      <a:pPr marL="0" lvl="0" indent="0" algn="l" rtl="0">
                        <a:spcBef>
                          <a:spcPts val="0"/>
                        </a:spcBef>
                        <a:spcAft>
                          <a:spcPts val="0"/>
                        </a:spcAft>
                        <a:buClr>
                          <a:schemeClr val="dk1"/>
                        </a:buClr>
                        <a:buSzPts val="1100"/>
                        <a:buFont typeface="Arial"/>
                        <a:buNone/>
                      </a:pPr>
                      <a:r>
                        <a:rPr lang="en" sz="1800" dirty="0">
                          <a:solidFill>
                            <a:schemeClr val="dk1"/>
                          </a:solidFill>
                        </a:rPr>
                        <a:t>Failure. The recursive resolver caches the actual responses and we have to wait until the record expires to try again.</a:t>
                      </a:r>
                      <a:endParaRPr sz="18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4CCCC"/>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0222772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819;p140">
            <a:extLst>
              <a:ext uri="{FF2B5EF4-FFF2-40B4-BE49-F238E27FC236}">
                <a16:creationId xmlns:a16="http://schemas.microsoft.com/office/drawing/2014/main" id="{A1BBD3EA-B48A-9405-9D84-E991AC00628F}"/>
              </a:ext>
            </a:extLst>
          </p:cNvPr>
          <p:cNvSpPr txBox="1">
            <a:spLocks noGrp="1"/>
          </p:cNvSpPr>
          <p:nvPr>
            <p:ph type="title"/>
          </p:nvPr>
        </p:nvSpPr>
        <p:spPr>
          <a:xfrm>
            <a:off x="415600" y="224117"/>
            <a:ext cx="11360800" cy="763600"/>
          </a:xfrm>
          <a:prstGeom prst="rect">
            <a:avLst/>
          </a:prstGeom>
        </p:spPr>
        <p:txBody>
          <a:bodyPr spcFirstLastPara="1" wrap="square" lIns="121900" tIns="121900" rIns="121900" bIns="121900" anchor="t" anchorCtr="0">
            <a:noAutofit/>
          </a:bodyPr>
          <a:lstStyle/>
          <a:p>
            <a:r>
              <a:rPr lang="en-US" sz="4400" dirty="0">
                <a:latin typeface="Aptos Display" panose="020B0004020202020204" pitchFamily="34" charset="0"/>
              </a:rPr>
              <a:t>Kaminsky Attack: Response Possibilities</a:t>
            </a:r>
            <a:endParaRPr sz="4400" dirty="0">
              <a:latin typeface="Aptos Display" panose="020B0004020202020204" pitchFamily="34" charset="0"/>
            </a:endParaRPr>
          </a:p>
        </p:txBody>
      </p:sp>
      <p:graphicFrame>
        <p:nvGraphicFramePr>
          <p:cNvPr id="2" name="Google Shape;1510;p98">
            <a:extLst>
              <a:ext uri="{FF2B5EF4-FFF2-40B4-BE49-F238E27FC236}">
                <a16:creationId xmlns:a16="http://schemas.microsoft.com/office/drawing/2014/main" id="{E72321E8-2995-5C4C-725C-F2C80463846D}"/>
              </a:ext>
            </a:extLst>
          </p:cNvPr>
          <p:cNvGraphicFramePr/>
          <p:nvPr>
            <p:extLst>
              <p:ext uri="{D42A27DB-BD31-4B8C-83A1-F6EECF244321}">
                <p14:modId xmlns:p14="http://schemas.microsoft.com/office/powerpoint/2010/main" val="1428414781"/>
              </p:ext>
            </p:extLst>
          </p:nvPr>
        </p:nvGraphicFramePr>
        <p:xfrm>
          <a:off x="512350" y="1312605"/>
          <a:ext cx="11264049" cy="4597241"/>
        </p:xfrm>
        <a:graphic>
          <a:graphicData uri="http://schemas.openxmlformats.org/drawingml/2006/table">
            <a:tbl>
              <a:tblPr>
                <a:noFill/>
              </a:tblPr>
              <a:tblGrid>
                <a:gridCol w="3037674">
                  <a:extLst>
                    <a:ext uri="{9D8B030D-6E8A-4147-A177-3AD203B41FA5}">
                      <a16:colId xmlns:a16="http://schemas.microsoft.com/office/drawing/2014/main" val="20000"/>
                    </a:ext>
                  </a:extLst>
                </a:gridCol>
                <a:gridCol w="3827929">
                  <a:extLst>
                    <a:ext uri="{9D8B030D-6E8A-4147-A177-3AD203B41FA5}">
                      <a16:colId xmlns:a16="http://schemas.microsoft.com/office/drawing/2014/main" val="20001"/>
                    </a:ext>
                  </a:extLst>
                </a:gridCol>
                <a:gridCol w="4398446">
                  <a:extLst>
                    <a:ext uri="{9D8B030D-6E8A-4147-A177-3AD203B41FA5}">
                      <a16:colId xmlns:a16="http://schemas.microsoft.com/office/drawing/2014/main" val="20002"/>
                    </a:ext>
                  </a:extLst>
                </a:gridCol>
              </a:tblGrid>
              <a:tr h="829960">
                <a:tc>
                  <a:txBody>
                    <a:bodyPr/>
                    <a:lstStyle/>
                    <a:p>
                      <a:pPr marL="0" lvl="0" indent="0" algn="l" rtl="0">
                        <a:spcBef>
                          <a:spcPts val="0"/>
                        </a:spcBef>
                        <a:spcAft>
                          <a:spcPts val="0"/>
                        </a:spcAft>
                        <a:buNone/>
                      </a:pPr>
                      <a:endParaRPr sz="1800"/>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800" dirty="0"/>
                        <a:t>Attacker </a:t>
                      </a:r>
                      <a:r>
                        <a:rPr lang="en" sz="1800" b="1" dirty="0">
                          <a:solidFill>
                            <a:srgbClr val="C00000"/>
                          </a:solidFill>
                        </a:rPr>
                        <a:t>correctly guesses </a:t>
                      </a:r>
                      <a:r>
                        <a:rPr lang="en" sz="1800" dirty="0"/>
                        <a:t>the ID number</a:t>
                      </a:r>
                      <a:endParaRPr sz="18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800" dirty="0"/>
                        <a:t>Attacker </a:t>
                      </a:r>
                      <a:r>
                        <a:rPr lang="en" sz="1800" b="1" dirty="0">
                          <a:solidFill>
                            <a:srgbClr val="C00000"/>
                          </a:solidFill>
                        </a:rPr>
                        <a:t>does not correctly guess </a:t>
                      </a:r>
                      <a:r>
                        <a:rPr lang="en" sz="1800" dirty="0"/>
                        <a:t>the ID number</a:t>
                      </a:r>
                      <a:endParaRPr sz="18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2073449">
                <a:tc>
                  <a:txBody>
                    <a:bodyPr/>
                    <a:lstStyle/>
                    <a:p>
                      <a:pPr marL="0" lvl="0" indent="0" algn="l" rtl="0">
                        <a:spcBef>
                          <a:spcPts val="0"/>
                        </a:spcBef>
                        <a:spcAft>
                          <a:spcPts val="0"/>
                        </a:spcAft>
                        <a:buNone/>
                      </a:pPr>
                      <a:r>
                        <a:rPr lang="en" sz="1800" dirty="0"/>
                        <a:t>Attacker </a:t>
                      </a:r>
                      <a:r>
                        <a:rPr lang="en" sz="1800" b="1" dirty="0">
                          <a:solidFill>
                            <a:srgbClr val="C00000"/>
                          </a:solidFill>
                        </a:rPr>
                        <a:t>beats</a:t>
                      </a:r>
                      <a:r>
                        <a:rPr lang="en" sz="1800" b="1" dirty="0"/>
                        <a:t> </a:t>
                      </a:r>
                      <a:r>
                        <a:rPr lang="en" sz="1800" dirty="0"/>
                        <a:t>the race condition against the legitimate NS</a:t>
                      </a:r>
                      <a:endParaRPr sz="18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800" dirty="0"/>
                        <a:t>The recursive resolver caches a mapping from legitimate domain names to the attacker’s desired IP addresses.</a:t>
                      </a:r>
                      <a:endParaRPr sz="18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D9EAD3"/>
                    </a:solidFill>
                  </a:tcPr>
                </a:tc>
                <a:tc>
                  <a:txBody>
                    <a:bodyPr/>
                    <a:lstStyle/>
                    <a:p>
                      <a:pPr marL="0" lvl="0" indent="0" algn="l" rtl="0">
                        <a:spcBef>
                          <a:spcPts val="0"/>
                        </a:spcBef>
                        <a:spcAft>
                          <a:spcPts val="0"/>
                        </a:spcAft>
                        <a:buNone/>
                      </a:pPr>
                      <a:r>
                        <a:rPr lang="en" sz="1800" dirty="0"/>
                        <a:t>The recursive resolver ignores the response because the ID does not match the request sent earlier.</a:t>
                      </a:r>
                      <a:endParaRPr sz="1800" dirty="0">
                        <a:solidFill>
                          <a:schemeClr val="dk1"/>
                        </a:solidFill>
                      </a:endParaRPr>
                    </a:p>
                    <a:p>
                      <a:pPr marL="0" lvl="0" indent="0" algn="l" rtl="0">
                        <a:spcBef>
                          <a:spcPts val="0"/>
                        </a:spcBef>
                        <a:spcAft>
                          <a:spcPts val="0"/>
                        </a:spcAft>
                        <a:buNone/>
                      </a:pPr>
                      <a:r>
                        <a:rPr lang="en" sz="1800" dirty="0">
                          <a:solidFill>
                            <a:schemeClr val="dk1"/>
                          </a:solidFill>
                        </a:rPr>
                        <a:t>The recursive resolver caches something saying “This domain does not exist”.</a:t>
                      </a:r>
                      <a:endParaRPr sz="1800" dirty="0">
                        <a:solidFill>
                          <a:schemeClr val="dk1"/>
                        </a:solidFill>
                      </a:endParaRPr>
                    </a:p>
                    <a:p>
                      <a:pPr marL="0" lvl="0" indent="0" algn="l" rtl="0">
                        <a:spcBef>
                          <a:spcPts val="0"/>
                        </a:spcBef>
                        <a:spcAft>
                          <a:spcPts val="0"/>
                        </a:spcAft>
                        <a:buNone/>
                      </a:pPr>
                      <a:endParaRPr sz="1800" dirty="0">
                        <a:solidFill>
                          <a:schemeClr val="dk1"/>
                        </a:solidFill>
                      </a:endParaRPr>
                    </a:p>
                    <a:p>
                      <a:pPr marL="0" lvl="0" indent="0" algn="l" rtl="0">
                        <a:spcBef>
                          <a:spcPts val="0"/>
                        </a:spcBef>
                        <a:spcAft>
                          <a:spcPts val="0"/>
                        </a:spcAft>
                        <a:buNone/>
                      </a:pPr>
                      <a:r>
                        <a:rPr lang="en" sz="1800" dirty="0">
                          <a:solidFill>
                            <a:schemeClr val="dk1"/>
                          </a:solidFill>
                        </a:rPr>
                        <a:t>Try again with another fake domain!</a:t>
                      </a:r>
                      <a:endParaRPr sz="1800" dirty="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r h="1664191">
                <a:tc>
                  <a:txBody>
                    <a:bodyPr/>
                    <a:lstStyle/>
                    <a:p>
                      <a:pPr marL="0" lvl="0" indent="0" algn="l" rtl="0">
                        <a:spcBef>
                          <a:spcPts val="0"/>
                        </a:spcBef>
                        <a:spcAft>
                          <a:spcPts val="0"/>
                        </a:spcAft>
                        <a:buNone/>
                      </a:pPr>
                      <a:r>
                        <a:rPr lang="en" sz="1800" dirty="0"/>
                        <a:t>Attacker </a:t>
                      </a:r>
                      <a:r>
                        <a:rPr lang="en" sz="1800" b="1" dirty="0">
                          <a:solidFill>
                            <a:srgbClr val="C00000"/>
                          </a:solidFill>
                        </a:rPr>
                        <a:t>does not beat</a:t>
                      </a:r>
                      <a:r>
                        <a:rPr lang="en" sz="1800" dirty="0"/>
                        <a:t> the race condition against the legitimate NS</a:t>
                      </a:r>
                      <a:endParaRPr sz="18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800" dirty="0"/>
                        <a:t>The recursive resolver caches something saying “This domain does not exist”. </a:t>
                      </a:r>
                      <a:endParaRPr sz="1800" dirty="0"/>
                    </a:p>
                    <a:p>
                      <a:pPr marL="0" lvl="0" indent="0" algn="l" rtl="0">
                        <a:spcBef>
                          <a:spcPts val="0"/>
                        </a:spcBef>
                        <a:spcAft>
                          <a:spcPts val="0"/>
                        </a:spcAft>
                        <a:buNone/>
                      </a:pPr>
                      <a:endParaRPr sz="1800" dirty="0"/>
                    </a:p>
                    <a:p>
                      <a:pPr marL="0" lvl="0" indent="0" algn="l" rtl="0">
                        <a:spcBef>
                          <a:spcPts val="0"/>
                        </a:spcBef>
                        <a:spcAft>
                          <a:spcPts val="0"/>
                        </a:spcAft>
                        <a:buNone/>
                      </a:pPr>
                      <a:r>
                        <a:rPr lang="en" sz="1800" dirty="0"/>
                        <a:t>Try again with another fake domain!</a:t>
                      </a:r>
                      <a:endParaRPr sz="18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800" dirty="0">
                          <a:solidFill>
                            <a:schemeClr val="dk1"/>
                          </a:solidFill>
                        </a:rPr>
                        <a:t>The recursive resolver caches something saying “This domain does not exist”.</a:t>
                      </a:r>
                      <a:endParaRPr sz="1800" dirty="0">
                        <a:solidFill>
                          <a:schemeClr val="dk1"/>
                        </a:solidFill>
                      </a:endParaRPr>
                    </a:p>
                    <a:p>
                      <a:pPr marL="0" lvl="0" indent="0" algn="l" rtl="0">
                        <a:spcBef>
                          <a:spcPts val="0"/>
                        </a:spcBef>
                        <a:spcAft>
                          <a:spcPts val="0"/>
                        </a:spcAft>
                        <a:buNone/>
                      </a:pPr>
                      <a:endParaRPr sz="1800" dirty="0">
                        <a:solidFill>
                          <a:schemeClr val="dk1"/>
                        </a:solidFill>
                      </a:endParaRPr>
                    </a:p>
                    <a:p>
                      <a:pPr marL="0" lvl="0" indent="0" algn="l" rtl="0">
                        <a:spcBef>
                          <a:spcPts val="0"/>
                        </a:spcBef>
                        <a:spcAft>
                          <a:spcPts val="0"/>
                        </a:spcAft>
                        <a:buNone/>
                      </a:pPr>
                      <a:r>
                        <a:rPr lang="en" sz="1800" dirty="0">
                          <a:solidFill>
                            <a:schemeClr val="dk1"/>
                          </a:solidFill>
                        </a:rPr>
                        <a:t>Try again with another fake domain!</a:t>
                      </a:r>
                      <a:endParaRPr sz="1800" dirty="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8480779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F5B6CBB86882542AB032FE548B4EA1A" ma:contentTypeVersion="10" ma:contentTypeDescription="Create a new document." ma:contentTypeScope="" ma:versionID="d6e8d08ee3c6b576d51a5320307b8ee1">
  <xsd:schema xmlns:xsd="http://www.w3.org/2001/XMLSchema" xmlns:xs="http://www.w3.org/2001/XMLSchema" xmlns:p="http://schemas.microsoft.com/office/2006/metadata/properties" xmlns:ns3="0e70c4a7-f69d-46c6-b829-90bba8c1b9c4" xmlns:ns4="e48512d0-ff1e-42a7-8f1f-8e24f6f961a5" targetNamespace="http://schemas.microsoft.com/office/2006/metadata/properties" ma:root="true" ma:fieldsID="723c920085a2c893ebecf65ec916eb42" ns3:_="" ns4:_="">
    <xsd:import namespace="0e70c4a7-f69d-46c6-b829-90bba8c1b9c4"/>
    <xsd:import namespace="e48512d0-ff1e-42a7-8f1f-8e24f6f961a5"/>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SearchProperties" minOccurs="0"/>
                <xsd:element ref="ns3:_activity" minOccurs="0"/>
                <xsd:element ref="ns4:SharedWithUsers" minOccurs="0"/>
                <xsd:element ref="ns4:SharedWithDetails" minOccurs="0"/>
                <xsd:element ref="ns4:SharingHintHash"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70c4a7-f69d-46c6-b829-90bba8c1b9c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_activity" ma:index="13" nillable="true" ma:displayName="_activity" ma:hidden="true" ma:internalName="_activity">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48512d0-ff1e-42a7-8f1f-8e24f6f961a5"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SharingHintHash" ma:index="16"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0e70c4a7-f69d-46c6-b829-90bba8c1b9c4" xsi:nil="true"/>
  </documentManagement>
</p:properties>
</file>

<file path=customXml/itemProps1.xml><?xml version="1.0" encoding="utf-8"?>
<ds:datastoreItem xmlns:ds="http://schemas.openxmlformats.org/officeDocument/2006/customXml" ds:itemID="{FCBB6049-1B53-4462-9FDE-21A9C605AC1D}">
  <ds:schemaRefs>
    <ds:schemaRef ds:uri="0e70c4a7-f69d-46c6-b829-90bba8c1b9c4"/>
    <ds:schemaRef ds:uri="e48512d0-ff1e-42a7-8f1f-8e24f6f961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F50F21E-194D-40F1-9CE6-6B0E264C6B17}">
  <ds:schemaRefs>
    <ds:schemaRef ds:uri="http://schemas.microsoft.com/sharepoint/v3/contenttype/forms"/>
  </ds:schemaRefs>
</ds:datastoreItem>
</file>

<file path=customXml/itemProps3.xml><?xml version="1.0" encoding="utf-8"?>
<ds:datastoreItem xmlns:ds="http://schemas.openxmlformats.org/officeDocument/2006/customXml" ds:itemID="{A1465355-C6F0-4DF9-83CD-590B4B0EF542}">
  <ds:schemaRefs>
    <ds:schemaRef ds:uri="http://schemas.microsoft.com/office/2006/metadata/properties"/>
    <ds:schemaRef ds:uri="http://purl.org/dc/terms/"/>
    <ds:schemaRef ds:uri="http://purl.org/dc/elements/1.1/"/>
    <ds:schemaRef ds:uri="0e70c4a7-f69d-46c6-b829-90bba8c1b9c4"/>
    <ds:schemaRef ds:uri="http://schemas.openxmlformats.org/package/2006/metadata/core-properties"/>
    <ds:schemaRef ds:uri="e48512d0-ff1e-42a7-8f1f-8e24f6f961a5"/>
    <ds:schemaRef ds:uri="http://schemas.microsoft.com/office/2006/documentManagement/types"/>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1529</TotalTime>
  <Words>6155</Words>
  <Application>Microsoft Office PowerPoint</Application>
  <PresentationFormat>Widescreen</PresentationFormat>
  <Paragraphs>928</Paragraphs>
  <Slides>44</Slides>
  <Notes>36</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44</vt:i4>
      </vt:variant>
    </vt:vector>
  </HeadingPairs>
  <TitlesOfParts>
    <vt:vector size="54" baseType="lpstr">
      <vt:lpstr>Atptos</vt:lpstr>
      <vt:lpstr>Söhne</vt:lpstr>
      <vt:lpstr>system-ui</vt:lpstr>
      <vt:lpstr>Aptos</vt:lpstr>
      <vt:lpstr>Aptos Display</vt:lpstr>
      <vt:lpstr>Arial</vt:lpstr>
      <vt:lpstr>Calibri</vt:lpstr>
      <vt:lpstr>Courier New</vt:lpstr>
      <vt:lpstr>Office Theme</vt:lpstr>
      <vt:lpstr>Simple Light</vt:lpstr>
      <vt:lpstr>CSC 3511 Security and Networking</vt:lpstr>
      <vt:lpstr>PowerPoint Presentation</vt:lpstr>
      <vt:lpstr>Week 3 Lecture 1: DNS</vt:lpstr>
      <vt:lpstr>Steps of a DNS Lookup</vt:lpstr>
      <vt:lpstr>Steps of a DNS Lookup</vt:lpstr>
      <vt:lpstr>PowerPoint Presentation</vt:lpstr>
      <vt:lpstr>Steps of a DNS Lookup</vt:lpstr>
      <vt:lpstr>PowerPoint Presentation</vt:lpstr>
      <vt:lpstr>What's in a DNS packet? </vt:lpstr>
      <vt:lpstr>DNS Caching</vt:lpstr>
      <vt:lpstr>PowerPoint Presentation</vt:lpstr>
      <vt:lpstr>Why Should We Care About DNS Security?</vt:lpstr>
      <vt:lpstr>DNS Security: Know Your Threat Model</vt:lpstr>
      <vt:lpstr>DNS Cache Poisoning Attacks</vt:lpstr>
      <vt:lpstr>Security Risk: Malicious Name Servers</vt:lpstr>
      <vt:lpstr>Defense: Bailiwick Checking</vt:lpstr>
      <vt:lpstr>Security Risk: In-Path (MITM) Attackers</vt:lpstr>
      <vt:lpstr>Security Risk: On-Path Attackers</vt:lpstr>
      <vt:lpstr>Security Risk: Off-Path Attackers</vt:lpstr>
      <vt:lpstr>Security Risk: Off-Path Attackers</vt:lpstr>
      <vt:lpstr>PowerPoint Presentation</vt:lpstr>
      <vt:lpstr>Kaminsky Attack</vt:lpstr>
      <vt:lpstr>Kaminsky Attack</vt:lpstr>
      <vt:lpstr>Kaminsky Attack: Example</vt:lpstr>
      <vt:lpstr>Kaminsky Attack: Example</vt:lpstr>
      <vt:lpstr>Kaminsky Attack: Example</vt:lpstr>
      <vt:lpstr>Kaminsky Attack: Example</vt:lpstr>
      <vt:lpstr>Kaminsky Attack: Example</vt:lpstr>
      <vt:lpstr>Kaminsky Attack: Example</vt:lpstr>
      <vt:lpstr>Kaminsky Attack: Example</vt:lpstr>
      <vt:lpstr>Kaminsky Attack: Example</vt:lpstr>
      <vt:lpstr>Kaminsky Attack: Example</vt:lpstr>
      <vt:lpstr>Kaminsky Attack: Example</vt:lpstr>
      <vt:lpstr>Kaminsky Attack: Example</vt:lpstr>
      <vt:lpstr>Kaminsky Attack: Example</vt:lpstr>
      <vt:lpstr>PowerPoint Presentation</vt:lpstr>
      <vt:lpstr>PowerPoint Presentation</vt:lpstr>
      <vt:lpstr>Kaminsky Attack: Example</vt:lpstr>
      <vt:lpstr>Kaminsky Attack: Example</vt:lpstr>
      <vt:lpstr>Defense: Source Port Randomization</vt:lpstr>
      <vt:lpstr>Defense: Glue Validation</vt:lpstr>
      <vt:lpstr>DNS Related Attacks and Risks: Summary</vt:lpstr>
      <vt:lpstr>Cache Poisoning Attack: Response Possibilities</vt:lpstr>
      <vt:lpstr>Kaminsky Attack: Response Possibilities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DNS</dc:title>
  <dc:creator>Liao, Zhonghao [E CPE]</dc:creator>
  <cp:lastModifiedBy>Liao, Zhonghao</cp:lastModifiedBy>
  <cp:revision>202</cp:revision>
  <dcterms:created xsi:type="dcterms:W3CDTF">2024-04-02T16:03:09Z</dcterms:created>
  <dcterms:modified xsi:type="dcterms:W3CDTF">2025-10-27T04:39:17Z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0x010100EF5B6CBB86882542AB032FE548B4EA1A</vt:lpwstr>
  </property>
</Properties>
</file>