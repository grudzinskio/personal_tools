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1446" r:id="rId3"/>
    <p:sldId id="1435" r:id="rId4"/>
    <p:sldId id="1452" r:id="rId5"/>
    <p:sldId id="1468" r:id="rId6"/>
    <p:sldId id="1469" r:id="rId7"/>
    <p:sldId id="1470" r:id="rId8"/>
    <p:sldId id="1471" r:id="rId9"/>
    <p:sldId id="1472" r:id="rId10"/>
    <p:sldId id="1473" r:id="rId11"/>
    <p:sldId id="1466" r:id="rId12"/>
    <p:sldId id="1474" r:id="rId13"/>
    <p:sldId id="510" r:id="rId14"/>
    <p:sldId id="1475" r:id="rId15"/>
    <p:sldId id="511" r:id="rId16"/>
    <p:sldId id="512" r:id="rId17"/>
    <p:sldId id="427" r:id="rId18"/>
    <p:sldId id="1467" r:id="rId19"/>
    <p:sldId id="1476" r:id="rId20"/>
    <p:sldId id="502" r:id="rId21"/>
    <p:sldId id="503" r:id="rId22"/>
    <p:sldId id="281" r:id="rId23"/>
    <p:sldId id="506" r:id="rId24"/>
    <p:sldId id="507" r:id="rId25"/>
    <p:sldId id="505" r:id="rId26"/>
    <p:sldId id="508" r:id="rId27"/>
    <p:sldId id="509" r:id="rId28"/>
    <p:sldId id="1478" r:id="rId29"/>
    <p:sldId id="1479" r:id="rId30"/>
    <p:sldId id="469" r:id="rId31"/>
    <p:sldId id="501" r:id="rId32"/>
    <p:sldId id="504" r:id="rId33"/>
    <p:sldId id="1480" r:id="rId34"/>
    <p:sldId id="297" r:id="rId35"/>
    <p:sldId id="294" r:id="rId36"/>
    <p:sldId id="295" r:id="rId37"/>
    <p:sldId id="296" r:id="rId38"/>
    <p:sldId id="533" r:id="rId39"/>
    <p:sldId id="53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410" autoAdjust="0"/>
  </p:normalViewPr>
  <p:slideViewPr>
    <p:cSldViewPr snapToGrid="0">
      <p:cViewPr varScale="1">
        <p:scale>
          <a:sx n="100" d="100"/>
          <a:sy n="100" d="100"/>
        </p:scale>
        <p:origin x="1282" y="58"/>
      </p:cViewPr>
      <p:guideLst/>
    </p:cSldViewPr>
  </p:slideViewPr>
  <p:notesTextViewPr>
    <p:cViewPr>
      <p:scale>
        <a:sx n="125" d="100"/>
        <a:sy n="125" d="100"/>
      </p:scale>
      <p:origin x="0" y="0"/>
    </p:cViewPr>
  </p:notesTextViewPr>
  <p:sorterViewPr>
    <p:cViewPr>
      <p:scale>
        <a:sx n="140" d="100"/>
        <a:sy n="140" d="100"/>
      </p:scale>
      <p:origin x="0" y="-56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325D3-F1C7-4B36-A88F-5BFB155084BF}"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CB26F-7BF5-4DA6-BA18-A0B7008BFCA0}" type="slidenum">
              <a:rPr lang="en-US" smtClean="0"/>
              <a:t>‹#›</a:t>
            </a:fld>
            <a:endParaRPr lang="en-US"/>
          </a:p>
        </p:txBody>
      </p:sp>
    </p:spTree>
    <p:extLst>
      <p:ext uri="{BB962C8B-B14F-4D97-AF65-F5344CB8AC3E}">
        <p14:creationId xmlns:p14="http://schemas.microsoft.com/office/powerpoint/2010/main" val="180555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DCB26F-7BF5-4DA6-BA18-A0B7008BFCA0}" type="slidenum">
              <a:rPr lang="en-US" smtClean="0"/>
              <a:t>4</a:t>
            </a:fld>
            <a:endParaRPr lang="en-US"/>
          </a:p>
        </p:txBody>
      </p:sp>
    </p:spTree>
    <p:extLst>
      <p:ext uri="{BB962C8B-B14F-4D97-AF65-F5344CB8AC3E}">
        <p14:creationId xmlns:p14="http://schemas.microsoft.com/office/powerpoint/2010/main" val="186147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F4ABB-117D-A959-A5AA-A5B66ADD1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C610A-5530-624E-7A92-B42E3CDA8F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2865FE-E3C1-455A-1F86-26DBDCEB6F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42F8D0-7361-A6C7-7180-89760BF878E1}"/>
              </a:ext>
            </a:extLst>
          </p:cNvPr>
          <p:cNvSpPr>
            <a:spLocks noGrp="1"/>
          </p:cNvSpPr>
          <p:nvPr>
            <p:ph type="sldNum" sz="quarter" idx="5"/>
          </p:nvPr>
        </p:nvSpPr>
        <p:spPr/>
        <p:txBody>
          <a:bodyPr/>
          <a:lstStyle/>
          <a:p>
            <a:fld id="{B5DCB26F-7BF5-4DA6-BA18-A0B7008BFCA0}" type="slidenum">
              <a:rPr lang="en-US" smtClean="0"/>
              <a:t>5</a:t>
            </a:fld>
            <a:endParaRPr lang="en-US"/>
          </a:p>
        </p:txBody>
      </p:sp>
    </p:spTree>
    <p:extLst>
      <p:ext uri="{BB962C8B-B14F-4D97-AF65-F5344CB8AC3E}">
        <p14:creationId xmlns:p14="http://schemas.microsoft.com/office/powerpoint/2010/main" val="1099683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C0D1B-9B2D-0B41-82EA-B13072685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252E7-E669-8D4A-F5B1-D6796AE42A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3FEF92-3676-8F55-2BC0-F9D55FE053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15DF66-53A8-3DC7-B150-AD5ABF0AAB02}"/>
              </a:ext>
            </a:extLst>
          </p:cNvPr>
          <p:cNvSpPr>
            <a:spLocks noGrp="1"/>
          </p:cNvSpPr>
          <p:nvPr>
            <p:ph type="sldNum" sz="quarter" idx="5"/>
          </p:nvPr>
        </p:nvSpPr>
        <p:spPr/>
        <p:txBody>
          <a:bodyPr/>
          <a:lstStyle/>
          <a:p>
            <a:fld id="{B5DCB26F-7BF5-4DA6-BA18-A0B7008BFCA0}" type="slidenum">
              <a:rPr lang="en-US" smtClean="0"/>
              <a:t>6</a:t>
            </a:fld>
            <a:endParaRPr lang="en-US"/>
          </a:p>
        </p:txBody>
      </p:sp>
    </p:spTree>
    <p:extLst>
      <p:ext uri="{BB962C8B-B14F-4D97-AF65-F5344CB8AC3E}">
        <p14:creationId xmlns:p14="http://schemas.microsoft.com/office/powerpoint/2010/main" val="4011680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DBD5-09B5-6330-BDF2-71F8D1AED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2044B-074C-51CF-843F-351F26EC34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CCE79A-4945-1842-2686-6F84BD3969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6499BD-8CDE-E58A-67A4-B554E63ECF44}"/>
              </a:ext>
            </a:extLst>
          </p:cNvPr>
          <p:cNvSpPr>
            <a:spLocks noGrp="1"/>
          </p:cNvSpPr>
          <p:nvPr>
            <p:ph type="sldNum" sz="quarter" idx="5"/>
          </p:nvPr>
        </p:nvSpPr>
        <p:spPr/>
        <p:txBody>
          <a:bodyPr/>
          <a:lstStyle/>
          <a:p>
            <a:fld id="{B5DCB26F-7BF5-4DA6-BA18-A0B7008BFCA0}" type="slidenum">
              <a:rPr lang="en-US" smtClean="0"/>
              <a:t>7</a:t>
            </a:fld>
            <a:endParaRPr lang="en-US"/>
          </a:p>
        </p:txBody>
      </p:sp>
    </p:spTree>
    <p:extLst>
      <p:ext uri="{BB962C8B-B14F-4D97-AF65-F5344CB8AC3E}">
        <p14:creationId xmlns:p14="http://schemas.microsoft.com/office/powerpoint/2010/main" val="4080907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Eve knows which bits in M</a:t>
            </a:r>
            <a:r>
              <a:rPr lang="en-US" sz="800" i="0" dirty="0"/>
              <a:t>0</a:t>
            </a:r>
            <a:r>
              <a:rPr lang="en-US" i="0" dirty="0"/>
              <a:t> match bits in M</a:t>
            </a:r>
            <a:r>
              <a:rPr lang="en-US" sz="800" i="0" dirty="0"/>
              <a: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If Eve knows M</a:t>
            </a:r>
            <a:r>
              <a:rPr lang="en-US" sz="900" i="0" dirty="0"/>
              <a:t>0</a:t>
            </a:r>
            <a:r>
              <a:rPr lang="en-US" i="0" dirty="0"/>
              <a:t>, she can deduce M</a:t>
            </a:r>
            <a:r>
              <a:rPr lang="en-US" sz="900" i="0" dirty="0"/>
              <a:t>1</a:t>
            </a:r>
            <a:r>
              <a:rPr lang="en-US" i="0" dirty="0"/>
              <a:t> (and vice-versa)</a:t>
            </a:r>
          </a:p>
        </p:txBody>
      </p:sp>
      <p:sp>
        <p:nvSpPr>
          <p:cNvPr id="4" name="Slide Number Placeholder 3"/>
          <p:cNvSpPr>
            <a:spLocks noGrp="1"/>
          </p:cNvSpPr>
          <p:nvPr>
            <p:ph type="sldNum" sz="quarter" idx="5"/>
          </p:nvPr>
        </p:nvSpPr>
        <p:spPr/>
        <p:txBody>
          <a:bodyPr/>
          <a:lstStyle/>
          <a:p>
            <a:fld id="{B5DCB26F-7BF5-4DA6-BA18-A0B7008BFCA0}" type="slidenum">
              <a:rPr lang="en-US" smtClean="0"/>
              <a:t>9</a:t>
            </a:fld>
            <a:endParaRPr lang="en-US"/>
          </a:p>
        </p:txBody>
      </p:sp>
    </p:spTree>
    <p:extLst>
      <p:ext uri="{BB962C8B-B14F-4D97-AF65-F5344CB8AC3E}">
        <p14:creationId xmlns:p14="http://schemas.microsoft.com/office/powerpoint/2010/main" val="1886050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build a block cipher?</a:t>
            </a:r>
          </a:p>
        </p:txBody>
      </p:sp>
      <p:sp>
        <p:nvSpPr>
          <p:cNvPr id="4" name="Slide Number Placeholder 3"/>
          <p:cNvSpPr>
            <a:spLocks noGrp="1"/>
          </p:cNvSpPr>
          <p:nvPr>
            <p:ph type="sldNum" sz="quarter" idx="5"/>
          </p:nvPr>
        </p:nvSpPr>
        <p:spPr/>
        <p:txBody>
          <a:bodyPr/>
          <a:lstStyle/>
          <a:p>
            <a:fld id="{2683CC22-64A4-416D-8B38-22AAE0E6C48F}" type="slidenum">
              <a:rPr lang="en-US" smtClean="0"/>
              <a:t>20</a:t>
            </a:fld>
            <a:endParaRPr lang="en-US"/>
          </a:p>
        </p:txBody>
      </p:sp>
    </p:spTree>
    <p:extLst>
      <p:ext uri="{BB962C8B-B14F-4D97-AF65-F5344CB8AC3E}">
        <p14:creationId xmlns:p14="http://schemas.microsoft.com/office/powerpoint/2010/main" val="2983265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NBS: National Bureau of Standards</a:t>
            </a:r>
          </a:p>
          <a:p>
            <a:r>
              <a:rPr lang="en-US" dirty="0"/>
              <a:t>NIST: National Institute of Standards and Technology</a:t>
            </a:r>
          </a:p>
          <a:p>
            <a:endParaRPr lang="en-US" dirty="0"/>
          </a:p>
          <a:p>
            <a:r>
              <a:rPr lang="en-US" dirty="0"/>
              <a:t>Cryptography courses discuss </a:t>
            </a:r>
            <a:r>
              <a:rPr lang="en-US"/>
              <a:t>the Data Encryption Standard (DES </a:t>
            </a:r>
            <a:r>
              <a:rPr lang="en-US" dirty="0"/>
              <a:t>because of its historical significance, its role in the development of stronger algorithms like AES</a:t>
            </a:r>
          </a:p>
        </p:txBody>
      </p:sp>
      <p:sp>
        <p:nvSpPr>
          <p:cNvPr id="4" name="Slide Number Placeholder 3"/>
          <p:cNvSpPr>
            <a:spLocks noGrp="1"/>
          </p:cNvSpPr>
          <p:nvPr>
            <p:ph type="sldNum" sz="quarter" idx="5"/>
          </p:nvPr>
        </p:nvSpPr>
        <p:spPr/>
        <p:txBody>
          <a:bodyPr/>
          <a:lstStyle/>
          <a:p>
            <a:fld id="{B5DCB26F-7BF5-4DA6-BA18-A0B7008BFCA0}" type="slidenum">
              <a:rPr lang="en-US" smtClean="0"/>
              <a:t>22</a:t>
            </a:fld>
            <a:endParaRPr lang="en-US"/>
          </a:p>
        </p:txBody>
      </p:sp>
    </p:spTree>
    <p:extLst>
      <p:ext uri="{BB962C8B-B14F-4D97-AF65-F5344CB8AC3E}">
        <p14:creationId xmlns:p14="http://schemas.microsoft.com/office/powerpoint/2010/main" val="158427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required</a:t>
            </a:r>
          </a:p>
        </p:txBody>
      </p:sp>
      <p:sp>
        <p:nvSpPr>
          <p:cNvPr id="4" name="Slide Number Placeholder 3"/>
          <p:cNvSpPr>
            <a:spLocks noGrp="1"/>
          </p:cNvSpPr>
          <p:nvPr>
            <p:ph type="sldNum" sz="quarter" idx="5"/>
          </p:nvPr>
        </p:nvSpPr>
        <p:spPr/>
        <p:txBody>
          <a:bodyPr/>
          <a:lstStyle/>
          <a:p>
            <a:fld id="{B5DCB26F-7BF5-4DA6-BA18-A0B7008BFCA0}" type="slidenum">
              <a:rPr lang="en-US" smtClean="0"/>
              <a:t>23</a:t>
            </a:fld>
            <a:endParaRPr lang="en-US"/>
          </a:p>
        </p:txBody>
      </p:sp>
    </p:spTree>
    <p:extLst>
      <p:ext uri="{BB962C8B-B14F-4D97-AF65-F5344CB8AC3E}">
        <p14:creationId xmlns:p14="http://schemas.microsoft.com/office/powerpoint/2010/main" val="2263723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required</a:t>
            </a:r>
          </a:p>
        </p:txBody>
      </p:sp>
      <p:sp>
        <p:nvSpPr>
          <p:cNvPr id="4" name="Slide Number Placeholder 3"/>
          <p:cNvSpPr>
            <a:spLocks noGrp="1"/>
          </p:cNvSpPr>
          <p:nvPr>
            <p:ph type="sldNum" sz="quarter" idx="5"/>
          </p:nvPr>
        </p:nvSpPr>
        <p:spPr/>
        <p:txBody>
          <a:bodyPr/>
          <a:lstStyle/>
          <a:p>
            <a:fld id="{B5DCB26F-7BF5-4DA6-BA18-A0B7008BFCA0}" type="slidenum">
              <a:rPr lang="en-US" smtClean="0"/>
              <a:t>24</a:t>
            </a:fld>
            <a:endParaRPr lang="en-US"/>
          </a:p>
        </p:txBody>
      </p:sp>
    </p:spTree>
    <p:extLst>
      <p:ext uri="{BB962C8B-B14F-4D97-AF65-F5344CB8AC3E}">
        <p14:creationId xmlns:p14="http://schemas.microsoft.com/office/powerpoint/2010/main" val="1361824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In DES, why do we need initial permutation?</a:t>
            </a:r>
          </a:p>
          <a:p>
            <a:endParaRPr lang="en-US" dirty="0"/>
          </a:p>
          <a:p>
            <a:pPr marL="228600" indent="-228600">
              <a:buAutoNum type="arabicPeriod"/>
            </a:pPr>
            <a:r>
              <a:rPr lang="en-US" dirty="0"/>
              <a:t>From a purely mathematical security standpoint, the initial permutation (and its corresponding final permutation IP⁻¹) don't add any cryptographic strength to DES. They don't make the cipher more resistant to cryptanalysis because they don't add any confusion or diffusion - they just rearrange bits in a fixed, known pattern. An attacker who knows the algorithm (which we assume they do, per </a:t>
            </a:r>
            <a:r>
              <a:rPr lang="en-US" dirty="0" err="1"/>
              <a:t>Kerckhoffs's</a:t>
            </a:r>
            <a:r>
              <a:rPr lang="en-US" dirty="0"/>
              <a:t> principle) can simply reverse these permutations.</a:t>
            </a:r>
          </a:p>
          <a:p>
            <a:pPr marL="228600" indent="-228600">
              <a:buAutoNum type="arabicPeriod"/>
            </a:pPr>
            <a:endParaRPr lang="en-US" dirty="0"/>
          </a:p>
          <a:p>
            <a:pPr marL="228600" indent="-228600">
              <a:buAutoNum type="arabicPeriod"/>
            </a:pPr>
            <a:r>
              <a:rPr lang="en-US" dirty="0"/>
              <a:t>Main reason: In the 1970s when DES was designed, the permutations helped optimize hardware implementations. They were designed to facilitate the movement of data between 8-bit registers that were common in hardware of that era. The IP helped arrange bits so that the subsequent rounds could be implemented more efficiently in the hardware available at that time.</a:t>
            </a:r>
          </a:p>
          <a:p>
            <a:endParaRPr lang="en-US" dirty="0"/>
          </a:p>
        </p:txBody>
      </p:sp>
      <p:sp>
        <p:nvSpPr>
          <p:cNvPr id="4" name="Slide Number Placeholder 3"/>
          <p:cNvSpPr>
            <a:spLocks noGrp="1"/>
          </p:cNvSpPr>
          <p:nvPr>
            <p:ph type="sldNum" sz="quarter" idx="5"/>
          </p:nvPr>
        </p:nvSpPr>
        <p:spPr/>
        <p:txBody>
          <a:bodyPr/>
          <a:lstStyle/>
          <a:p>
            <a:fld id="{2683CC22-64A4-416D-8B38-22AAE0E6C48F}" type="slidenum">
              <a:rPr lang="en-US" smtClean="0"/>
              <a:t>25</a:t>
            </a:fld>
            <a:endParaRPr lang="en-US"/>
          </a:p>
        </p:txBody>
      </p:sp>
    </p:spTree>
    <p:extLst>
      <p:ext uri="{BB962C8B-B14F-4D97-AF65-F5344CB8AC3E}">
        <p14:creationId xmlns:p14="http://schemas.microsoft.com/office/powerpoint/2010/main" val="3714707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criteria for DES S-boxes include:</a:t>
            </a:r>
          </a:p>
          <a:p>
            <a:pPr marL="228600" indent="-228600">
              <a:buAutoNum type="arabicPeriod"/>
            </a:pPr>
            <a:r>
              <a:rPr lang="en-US" dirty="0"/>
              <a:t>Avalanche Effect: Each S-box was designed so that changing one input bit would change at least two output bits. This property ensures that small changes in the input create significant changes in the output, which is crucial for diffusion. Think of it like dropping a pebble in a pond - you want the ripples to spread widely.</a:t>
            </a:r>
          </a:p>
          <a:p>
            <a:pPr marL="228600" indent="-228600">
              <a:buAutoNum type="arabicPeriod"/>
            </a:pPr>
            <a:r>
              <a:rPr lang="en-US" dirty="0"/>
              <a:t>Non-linearity: The relationship between input and output bits is deliberately non-linear. This means you can't express the output as a simple linear function of the input bits (like just XORing them together). This non-linearity is crucial because if the relationship were linear, the entire cipher could be broken using linear algebra.</a:t>
            </a:r>
          </a:p>
          <a:p>
            <a:pPr marL="228600" indent="-228600">
              <a:buAutoNum type="arabicPeriod"/>
            </a:pPr>
            <a:r>
              <a:rPr lang="en-US" dirty="0"/>
              <a:t>Resistance to Differential Cryptanalysis: Although not publicly known at the time, IBM designed the S-boxes to be resistant to differential cryptanalysis (a technique that wasn't publicly known until </a:t>
            </a:r>
            <a:r>
              <a:rPr lang="en-US" dirty="0" err="1"/>
              <a:t>Biham</a:t>
            </a:r>
            <a:r>
              <a:rPr lang="en-US" dirty="0"/>
              <a:t> and Shamir discovered it in 1990). This resistance comes from carefully choosing how differences in input pairs relate to differences in output pairs.</a:t>
            </a:r>
          </a:p>
          <a:p>
            <a:pPr marL="228600" indent="-228600">
              <a:buAutoNum type="arabicPeriod"/>
            </a:pPr>
            <a:r>
              <a:rPr lang="en-US" dirty="0"/>
              <a:t>Input Size vs Output Size: Each S-box takes 6 bits of input and produces 4 bits of output. This 6-to-4 bit mapping is important because:</a:t>
            </a:r>
          </a:p>
          <a:p>
            <a:pPr marL="685800" lvl="1" indent="-228600">
              <a:buAutoNum type="arabicPeriod"/>
            </a:pPr>
            <a:r>
              <a:rPr lang="en-US" dirty="0"/>
              <a:t>It creates compression, making it harder to reverse the operation</a:t>
            </a:r>
          </a:p>
          <a:p>
            <a:pPr marL="685800" lvl="1" indent="-228600">
              <a:buAutoNum type="arabicPeriod"/>
            </a:pPr>
            <a:r>
              <a:rPr lang="en-US" dirty="0"/>
              <a:t>The 6-bit input allows the box to consider more context when making substitutions</a:t>
            </a:r>
          </a:p>
          <a:p>
            <a:pPr marL="685800" lvl="1" indent="-228600">
              <a:buAutoNum type="arabicPeriod"/>
            </a:pPr>
            <a:r>
              <a:rPr lang="en-US" dirty="0"/>
              <a:t>The 4-bit output helps maintain the overall block size through multiple rounds</a:t>
            </a:r>
          </a:p>
          <a:p>
            <a:pPr marL="228600" indent="-228600">
              <a:buAutoNum type="arabicPeriod"/>
            </a:pPr>
            <a:r>
              <a:rPr lang="en-US" dirty="0"/>
              <a:t>No Fixed Points: The S-boxes were designed to avoid fixed points where possible (cases where some input bits passing through unchanged), as these could weaken the cipher's security.</a:t>
            </a:r>
          </a:p>
        </p:txBody>
      </p:sp>
      <p:sp>
        <p:nvSpPr>
          <p:cNvPr id="4" name="Slide Number Placeholder 3"/>
          <p:cNvSpPr>
            <a:spLocks noGrp="1"/>
          </p:cNvSpPr>
          <p:nvPr>
            <p:ph type="sldNum" sz="quarter" idx="5"/>
          </p:nvPr>
        </p:nvSpPr>
        <p:spPr/>
        <p:txBody>
          <a:bodyPr/>
          <a:lstStyle/>
          <a:p>
            <a:fld id="{2683CC22-64A4-416D-8B38-22AAE0E6C48F}" type="slidenum">
              <a:rPr lang="en-US" smtClean="0"/>
              <a:t>28</a:t>
            </a:fld>
            <a:endParaRPr lang="en-US"/>
          </a:p>
        </p:txBody>
      </p:sp>
    </p:spTree>
    <p:extLst>
      <p:ext uri="{BB962C8B-B14F-4D97-AF65-F5344CB8AC3E}">
        <p14:creationId xmlns:p14="http://schemas.microsoft.com/office/powerpoint/2010/main" val="714551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035AAC-7370-4508-BC8A-A8FB0FFDBC93}" type="slidenum">
              <a:rPr lang="en-US" smtClean="0"/>
              <a:t>35</a:t>
            </a:fld>
            <a:endParaRPr lang="en-US"/>
          </a:p>
        </p:txBody>
      </p:sp>
    </p:spTree>
    <p:extLst>
      <p:ext uri="{BB962C8B-B14F-4D97-AF65-F5344CB8AC3E}">
        <p14:creationId xmlns:p14="http://schemas.microsoft.com/office/powerpoint/2010/main" val="4782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035AAC-7370-4508-BC8A-A8FB0FFDBC93}" type="slidenum">
              <a:rPr lang="en-US" smtClean="0"/>
              <a:t>36</a:t>
            </a:fld>
            <a:endParaRPr lang="en-US"/>
          </a:p>
        </p:txBody>
      </p:sp>
    </p:spTree>
    <p:extLst>
      <p:ext uri="{BB962C8B-B14F-4D97-AF65-F5344CB8AC3E}">
        <p14:creationId xmlns:p14="http://schemas.microsoft.com/office/powerpoint/2010/main" val="3641401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035AAC-7370-4508-BC8A-A8FB0FFDBC93}" type="slidenum">
              <a:rPr lang="en-US" smtClean="0"/>
              <a:t>37</a:t>
            </a:fld>
            <a:endParaRPr lang="en-US"/>
          </a:p>
        </p:txBody>
      </p:sp>
    </p:spTree>
    <p:extLst>
      <p:ext uri="{BB962C8B-B14F-4D97-AF65-F5344CB8AC3E}">
        <p14:creationId xmlns:p14="http://schemas.microsoft.com/office/powerpoint/2010/main" val="219797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98F-B827-13AD-265C-514C216220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A41564-4F01-3DA7-30A5-41B696027D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98C639-4AB9-F4D6-CFBA-209FE857A5B2}"/>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5" name="Footer Placeholder 4">
            <a:extLst>
              <a:ext uri="{FF2B5EF4-FFF2-40B4-BE49-F238E27FC236}">
                <a16:creationId xmlns:a16="http://schemas.microsoft.com/office/drawing/2014/main" id="{07777A7F-9979-7B59-A463-DCEBBA95BB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F0F76-7128-32CE-27E0-EA7B842C85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748364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79D5-059D-19DB-300F-B545C4C45F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D31340-A1E9-7CE3-85EA-7F1CF2ED7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0681CF-4E42-18FC-F8CF-942C82B56AA5}"/>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5" name="Footer Placeholder 4">
            <a:extLst>
              <a:ext uri="{FF2B5EF4-FFF2-40B4-BE49-F238E27FC236}">
                <a16:creationId xmlns:a16="http://schemas.microsoft.com/office/drawing/2014/main" id="{D62C2239-A774-E47F-618D-51D208E68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14B347-A921-E0AB-5A62-7830EDC846C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552133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AE5C-05CB-8274-A918-075C19B6A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7643FC-A248-C72E-7C55-AF40C95C9E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FC89F5-84BE-3CEF-33F5-F2CA26EE8B32}"/>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5" name="Footer Placeholder 4">
            <a:extLst>
              <a:ext uri="{FF2B5EF4-FFF2-40B4-BE49-F238E27FC236}">
                <a16:creationId xmlns:a16="http://schemas.microsoft.com/office/drawing/2014/main" id="{144EC82B-F092-F737-C6EC-4508B148A6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E09F0-8AE5-6C3F-D940-15869CCF5AB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88112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02350-D4AF-4F3C-CEE2-B8734DE147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3F635-D032-EB3F-AA91-8B6201523B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D6D8E9-1DD1-0647-572D-88AADC9B0E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ABC9E6-F832-C7D5-DD5F-43E7579F9B16}"/>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6" name="Footer Placeholder 5">
            <a:extLst>
              <a:ext uri="{FF2B5EF4-FFF2-40B4-BE49-F238E27FC236}">
                <a16:creationId xmlns:a16="http://schemas.microsoft.com/office/drawing/2014/main" id="{AF1C2CA5-C7DE-C955-B48A-7E0F3888C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8908E-669F-CB28-260B-78354401EF72}"/>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961818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24474-5433-09FA-BE28-C0DC57B646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4AD488-42FB-58FC-4155-0D56C39BE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634D41-5957-DB0E-CB35-AC6249E0A5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425178-5D33-EBD1-4C79-986B42DAD0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3E2A5-4A98-031A-250D-CBFB1D9384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FBD9DE-6FA7-D067-18F3-C04BBCDB0753}"/>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8" name="Footer Placeholder 7">
            <a:extLst>
              <a:ext uri="{FF2B5EF4-FFF2-40B4-BE49-F238E27FC236}">
                <a16:creationId xmlns:a16="http://schemas.microsoft.com/office/drawing/2014/main" id="{525D33E4-2E0D-1662-B7BF-20E78E7C80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EDC47E-1E21-2424-6A7B-315D8AAFB6E4}"/>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43752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CA65-C705-E6A3-485D-408F56B817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F069A2-CE3D-6E6E-685B-1FE020EA8296}"/>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4" name="Footer Placeholder 3">
            <a:extLst>
              <a:ext uri="{FF2B5EF4-FFF2-40B4-BE49-F238E27FC236}">
                <a16:creationId xmlns:a16="http://schemas.microsoft.com/office/drawing/2014/main" id="{AF684AF1-31C9-84AC-0250-05744141CA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33C2AA-F699-ED5D-9FBA-C19002EBB90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75956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0332F3-879F-BB3B-698B-B2739723538A}"/>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3" name="Footer Placeholder 2">
            <a:extLst>
              <a:ext uri="{FF2B5EF4-FFF2-40B4-BE49-F238E27FC236}">
                <a16:creationId xmlns:a16="http://schemas.microsoft.com/office/drawing/2014/main" id="{F72D113C-0FB8-0400-99D8-6F134830DD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50B956-7068-44C2-B72A-60BB293DD6C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7999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E8B4E-A384-E57E-E42B-8DF0137C3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095B01-185E-04BB-14A7-B258CA51CA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B7228C-5F12-7AF1-FC9F-8C1032F39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61407C-424A-E815-0FAD-6132348EB71D}"/>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6" name="Footer Placeholder 5">
            <a:extLst>
              <a:ext uri="{FF2B5EF4-FFF2-40B4-BE49-F238E27FC236}">
                <a16:creationId xmlns:a16="http://schemas.microsoft.com/office/drawing/2014/main" id="{3ACF71BD-8573-007D-3858-3535CBA02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6C0FE8-99A5-4546-F000-62538D60DED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41822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CAFE-88EA-C3CA-5268-51CB959800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02BC8C-DCDC-6F3B-EC4D-AD7E7D77A7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3F378A-43F4-65AF-61DB-1B261A99D1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315D82-7B33-82FC-4CC1-372A7E7A8053}"/>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6" name="Footer Placeholder 5">
            <a:extLst>
              <a:ext uri="{FF2B5EF4-FFF2-40B4-BE49-F238E27FC236}">
                <a16:creationId xmlns:a16="http://schemas.microsoft.com/office/drawing/2014/main" id="{FE298B4F-C700-D100-E550-F1A34A2385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C4BE6-38EC-0ED9-64CD-D1DBED13BB3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417402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276C-A078-6711-FF3C-E68ACE035B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E0CDEF-7F11-C385-F99C-1D079A466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133E6-8B7A-63A7-4B43-936C9C063E95}"/>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5" name="Footer Placeholder 4">
            <a:extLst>
              <a:ext uri="{FF2B5EF4-FFF2-40B4-BE49-F238E27FC236}">
                <a16:creationId xmlns:a16="http://schemas.microsoft.com/office/drawing/2014/main" id="{125BFD48-7F8C-2C53-C6E5-51FBBC2B9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0E807-0A14-F9E7-D3C4-243C242BF739}"/>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195637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852A6E-A9A4-3335-FD57-B09080704F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BA70CC-412C-59DD-E5F3-0B5222096D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02B3D-CE4D-9039-CF20-3EA5A25A1B97}"/>
              </a:ext>
            </a:extLst>
          </p:cNvPr>
          <p:cNvSpPr>
            <a:spLocks noGrp="1"/>
          </p:cNvSpPr>
          <p:nvPr>
            <p:ph type="dt" sz="half" idx="10"/>
          </p:nvPr>
        </p:nvSpPr>
        <p:spPr/>
        <p:txBody>
          <a:bodyPr/>
          <a:lstStyle/>
          <a:p>
            <a:fld id="{40272AB9-64A1-45BC-9C9A-78E398D2F99B}" type="datetimeFigureOut">
              <a:rPr lang="en-US" smtClean="0"/>
              <a:t>11/2/2025</a:t>
            </a:fld>
            <a:endParaRPr lang="en-US"/>
          </a:p>
        </p:txBody>
      </p:sp>
      <p:sp>
        <p:nvSpPr>
          <p:cNvPr id="5" name="Footer Placeholder 4">
            <a:extLst>
              <a:ext uri="{FF2B5EF4-FFF2-40B4-BE49-F238E27FC236}">
                <a16:creationId xmlns:a16="http://schemas.microsoft.com/office/drawing/2014/main" id="{FCD8CD87-FDF1-2A7A-1BE7-FA7D6B71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28DFF-8601-30EC-83EF-AD74CA7EE2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21634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87597A-B7A8-059C-160C-EC7CE2886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2534A4-186E-5F01-1F5B-80DF3841A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BDDF5-E321-EF03-3E6D-64F457503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272AB9-64A1-45BC-9C9A-78E398D2F99B}" type="datetimeFigureOut">
              <a:rPr lang="en-US" smtClean="0"/>
              <a:t>11/2/2025</a:t>
            </a:fld>
            <a:endParaRPr lang="en-US"/>
          </a:p>
        </p:txBody>
      </p:sp>
      <p:sp>
        <p:nvSpPr>
          <p:cNvPr id="5" name="Footer Placeholder 4">
            <a:extLst>
              <a:ext uri="{FF2B5EF4-FFF2-40B4-BE49-F238E27FC236}">
                <a16:creationId xmlns:a16="http://schemas.microsoft.com/office/drawing/2014/main" id="{B231B2B9-24D1-3FFE-9B16-BFA0BAC7B4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29AEC6-3A77-F298-9C68-54B2F0065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125542-7130-46B0-9D6D-1892C1FCB086}" type="slidenum">
              <a:rPr lang="en-US" smtClean="0"/>
              <a:t>‹#›</a:t>
            </a:fld>
            <a:endParaRPr lang="en-US"/>
          </a:p>
        </p:txBody>
      </p:sp>
    </p:spTree>
    <p:extLst>
      <p:ext uri="{BB962C8B-B14F-4D97-AF65-F5344CB8AC3E}">
        <p14:creationId xmlns:p14="http://schemas.microsoft.com/office/powerpoint/2010/main" val="1928646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Diffie%E2%80%93Hellman_key_exchange"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Salsa20#ChaCha_variant"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intel.com/content/dam/develop/external/us/en/documents/drng-software-implementation-guide-2-1-185467.pdf" TargetMode="External"/><Relationship Id="rId2" Type="http://schemas.openxmlformats.org/officeDocument/2006/relationships/hyperlink" Target="https://en.wikipedia.org/wiki/Entropy_(information_theory)"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csrc.nist.gov/pubs/sp/800/90/a/r1/fina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Data_Encryption_Standard#Attacks_faster_than_brute_force"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csrc.nist.gov/projects/cryptographic-standards-and-guidelines/archived-crypto-projects/aes-development"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en.wikipedia.org/wiki/Substitution%E2%80%93permutation_network"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hyperlink" Target="https://en.wikipedia.org/wiki/Substitution%E2%80%93permutation_network"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en.wikipedia.org/wiki/Block_cipher_mode_of_operation" TargetMode="Externa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en.wikipedia.org/wiki/Block_cipher_mode_of_operation" TargetMode="Externa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A64E1-5610-7CF5-A8AC-8AACF97CA223}"/>
              </a:ext>
            </a:extLst>
          </p:cNvPr>
          <p:cNvSpPr>
            <a:spLocks noGrp="1"/>
          </p:cNvSpPr>
          <p:nvPr>
            <p:ph type="ctrTitle"/>
          </p:nvPr>
        </p:nvSpPr>
        <p:spPr>
          <a:xfrm>
            <a:off x="536448" y="1122363"/>
            <a:ext cx="11119104" cy="2133599"/>
          </a:xfrm>
        </p:spPr>
        <p:txBody>
          <a:bodyPr/>
          <a:lstStyle/>
          <a:p>
            <a:r>
              <a:rPr lang="en-US" dirty="0"/>
              <a:t>CSC 3511 Security and Networking</a:t>
            </a:r>
          </a:p>
        </p:txBody>
      </p:sp>
      <p:sp>
        <p:nvSpPr>
          <p:cNvPr id="3" name="Subtitle 2">
            <a:extLst>
              <a:ext uri="{FF2B5EF4-FFF2-40B4-BE49-F238E27FC236}">
                <a16:creationId xmlns:a16="http://schemas.microsoft.com/office/drawing/2014/main" id="{3A8E7C23-6E8B-EC33-B311-21148E5DBC8C}"/>
              </a:ext>
            </a:extLst>
          </p:cNvPr>
          <p:cNvSpPr>
            <a:spLocks noGrp="1"/>
          </p:cNvSpPr>
          <p:nvPr>
            <p:ph type="subTitle" idx="1"/>
          </p:nvPr>
        </p:nvSpPr>
        <p:spPr>
          <a:xfrm>
            <a:off x="1240325" y="3602039"/>
            <a:ext cx="9711350" cy="1655762"/>
          </a:xfrm>
        </p:spPr>
        <p:txBody>
          <a:bodyPr>
            <a:normAutofit/>
          </a:bodyPr>
          <a:lstStyle/>
          <a:p>
            <a:endParaRPr lang="en-US" dirty="0"/>
          </a:p>
          <a:p>
            <a:endParaRPr lang="en-US" dirty="0"/>
          </a:p>
          <a:p>
            <a:r>
              <a:rPr lang="en-US" dirty="0"/>
              <a:t>Week 10, Lecture 1: One-Time Pads, Stream Cipher, and Block Cipher</a:t>
            </a:r>
          </a:p>
        </p:txBody>
      </p:sp>
    </p:spTree>
    <p:extLst>
      <p:ext uri="{BB962C8B-B14F-4D97-AF65-F5344CB8AC3E}">
        <p14:creationId xmlns:p14="http://schemas.microsoft.com/office/powerpoint/2010/main" val="129138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C81F9505-371A-CD27-F70A-D2EF14C860BE}"/>
              </a:ext>
            </a:extLst>
          </p:cNvPr>
          <p:cNvSpPr txBox="1">
            <a:spLocks/>
          </p:cNvSpPr>
          <p:nvPr/>
        </p:nvSpPr>
        <p:spPr>
          <a:xfrm>
            <a:off x="804793" y="190760"/>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dirty="0"/>
              <a:t>Cryptography Roadmap</a:t>
            </a:r>
            <a:endParaRPr lang="en-US" dirty="0">
              <a:latin typeface="+mn-lt"/>
            </a:endParaRPr>
          </a:p>
        </p:txBody>
      </p:sp>
      <p:graphicFrame>
        <p:nvGraphicFramePr>
          <p:cNvPr id="6" name="Table 5">
            <a:extLst>
              <a:ext uri="{FF2B5EF4-FFF2-40B4-BE49-F238E27FC236}">
                <a16:creationId xmlns:a16="http://schemas.microsoft.com/office/drawing/2014/main" id="{398B5AFA-F68C-0DB5-2D1A-475F91A3D549}"/>
              </a:ext>
            </a:extLst>
          </p:cNvPr>
          <p:cNvGraphicFramePr>
            <a:graphicFrameLocks noGrp="1"/>
          </p:cNvGraphicFramePr>
          <p:nvPr>
            <p:extLst>
              <p:ext uri="{D42A27DB-BD31-4B8C-83A1-F6EECF244321}">
                <p14:modId xmlns:p14="http://schemas.microsoft.com/office/powerpoint/2010/main" val="4247517789"/>
              </p:ext>
            </p:extLst>
          </p:nvPr>
        </p:nvGraphicFramePr>
        <p:xfrm>
          <a:off x="1378662" y="1851391"/>
          <a:ext cx="9434676" cy="3353158"/>
        </p:xfrm>
        <a:graphic>
          <a:graphicData uri="http://schemas.openxmlformats.org/drawingml/2006/table">
            <a:tbl>
              <a:tblPr firstRow="1" bandRow="1">
                <a:tableStyleId>{5C22544A-7EE6-4342-B048-85BDC9FD1C3A}</a:tableStyleId>
              </a:tblPr>
              <a:tblGrid>
                <a:gridCol w="3144892">
                  <a:extLst>
                    <a:ext uri="{9D8B030D-6E8A-4147-A177-3AD203B41FA5}">
                      <a16:colId xmlns:a16="http://schemas.microsoft.com/office/drawing/2014/main" val="441670777"/>
                    </a:ext>
                  </a:extLst>
                </a:gridCol>
                <a:gridCol w="3144892">
                  <a:extLst>
                    <a:ext uri="{9D8B030D-6E8A-4147-A177-3AD203B41FA5}">
                      <a16:colId xmlns:a16="http://schemas.microsoft.com/office/drawing/2014/main" val="2643356534"/>
                    </a:ext>
                  </a:extLst>
                </a:gridCol>
                <a:gridCol w="3144892">
                  <a:extLst>
                    <a:ext uri="{9D8B030D-6E8A-4147-A177-3AD203B41FA5}">
                      <a16:colId xmlns:a16="http://schemas.microsoft.com/office/drawing/2014/main" val="3048024995"/>
                    </a:ext>
                  </a:extLst>
                </a:gridCol>
              </a:tblGrid>
              <a:tr h="1051739">
                <a:tc>
                  <a:txBody>
                    <a:bodyPr/>
                    <a:lstStyle/>
                    <a:p>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200" dirty="0">
                          <a:solidFill>
                            <a:schemeClr val="tx1"/>
                          </a:solidFill>
                        </a:rPr>
                        <a:t>Symmetric-key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200" dirty="0">
                          <a:solidFill>
                            <a:schemeClr val="tx1"/>
                          </a:solidFill>
                        </a:rPr>
                        <a:t>Asymmetric-key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3737254"/>
                  </a:ext>
                </a:extLst>
              </a:tr>
              <a:tr h="1051739">
                <a:tc>
                  <a:txBody>
                    <a:bodyPr/>
                    <a:lstStyle/>
                    <a:p>
                      <a:r>
                        <a:rPr lang="en-US" sz="2200" dirty="0">
                          <a:solidFill>
                            <a:schemeClr val="tx1"/>
                          </a:solidFill>
                        </a:rPr>
                        <a:t>Confidentiality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342900">
                        <a:spcAft>
                          <a:spcPts val="600"/>
                        </a:spcAft>
                        <a:buFont typeface="Arial" panose="020B0604020202020204" pitchFamily="34" charset="0"/>
                        <a:buChar char="•"/>
                      </a:pPr>
                      <a:r>
                        <a:rPr lang="en-US" sz="2200" dirty="0">
                          <a:solidFill>
                            <a:srgbClr val="C00000"/>
                          </a:solidFill>
                        </a:rPr>
                        <a:t>One-time pads</a:t>
                      </a:r>
                    </a:p>
                    <a:p>
                      <a:pPr marL="342900" indent="-342900">
                        <a:spcAft>
                          <a:spcPts val="600"/>
                        </a:spcAft>
                        <a:buFont typeface="Arial" panose="020B0604020202020204" pitchFamily="34" charset="0"/>
                        <a:buChar char="•"/>
                      </a:pPr>
                      <a:r>
                        <a:rPr lang="en-US" sz="2200" dirty="0">
                          <a:solidFill>
                            <a:srgbClr val="C00000"/>
                          </a:solidFill>
                        </a:rPr>
                        <a:t>Stream ciphers</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2200" dirty="0">
                          <a:solidFill>
                            <a:srgbClr val="C00000"/>
                          </a:solidFill>
                        </a:rPr>
                        <a:t>Block ciphers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2200" dirty="0">
                          <a:solidFill>
                            <a:schemeClr val="tx1"/>
                          </a:solidFill>
                        </a:rPr>
                        <a:t>RSA encryption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093775"/>
                  </a:ext>
                </a:extLst>
              </a:tr>
              <a:tr h="1051739">
                <a:tc>
                  <a:txBody>
                    <a:bodyPr/>
                    <a:lstStyle/>
                    <a:p>
                      <a:r>
                        <a:rPr lang="en-US" sz="2200" dirty="0">
                          <a:solidFill>
                            <a:schemeClr val="tx1"/>
                          </a:solidFill>
                        </a:rPr>
                        <a:t>Integrity,</a:t>
                      </a:r>
                    </a:p>
                    <a:p>
                      <a:r>
                        <a:rPr lang="en-US" sz="2200" dirty="0">
                          <a:solidFill>
                            <a:schemeClr val="tx1"/>
                          </a:solidFill>
                        </a:rPr>
                        <a:t>Authentication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2200" dirty="0">
                          <a:solidFill>
                            <a:schemeClr val="tx1"/>
                          </a:solidFill>
                        </a:rPr>
                        <a:t>MACs (e.g., HMAC)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342900">
                        <a:buFont typeface="Arial" panose="020B0604020202020204" pitchFamily="34" charset="0"/>
                        <a:buChar char="•"/>
                      </a:pPr>
                      <a:r>
                        <a:rPr lang="en-US" sz="2200" dirty="0">
                          <a:solidFill>
                            <a:schemeClr val="tx1"/>
                          </a:solidFill>
                        </a:rPr>
                        <a:t>Digital signatures (e.g., RSA signatures)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959738"/>
                  </a:ext>
                </a:extLst>
              </a:tr>
            </a:tbl>
          </a:graphicData>
        </a:graphic>
      </p:graphicFrame>
    </p:spTree>
    <p:extLst>
      <p:ext uri="{BB962C8B-B14F-4D97-AF65-F5344CB8AC3E}">
        <p14:creationId xmlns:p14="http://schemas.microsoft.com/office/powerpoint/2010/main" val="1093808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FDA46-17B5-C06A-14FB-592851FD4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66B9E-F145-8272-AC79-21A51531575B}"/>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8241F881-9683-06E8-DC86-39A923184FA0}"/>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One-Time Pads</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Stream Cipher</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Block Cipher</a:t>
            </a:r>
          </a:p>
        </p:txBody>
      </p:sp>
    </p:spTree>
    <p:extLst>
      <p:ext uri="{BB962C8B-B14F-4D97-AF65-F5344CB8AC3E}">
        <p14:creationId xmlns:p14="http://schemas.microsoft.com/office/powerpoint/2010/main" val="104389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998055EF-D694-3B9F-F9A3-2270E7952DA1}"/>
              </a:ext>
            </a:extLst>
          </p:cNvPr>
          <p:cNvSpPr txBox="1">
            <a:spLocks/>
          </p:cNvSpPr>
          <p:nvPr/>
        </p:nvSpPr>
        <p:spPr>
          <a:xfrm>
            <a:off x="798261" y="417574"/>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Review: XOR</a:t>
            </a:r>
          </a:p>
        </p:txBody>
      </p:sp>
      <p:sp>
        <p:nvSpPr>
          <p:cNvPr id="8" name="TextBox 7">
            <a:extLst>
              <a:ext uri="{FF2B5EF4-FFF2-40B4-BE49-F238E27FC236}">
                <a16:creationId xmlns:a16="http://schemas.microsoft.com/office/drawing/2014/main" id="{4E716B08-EDE3-94D3-0A6D-1A1D6F2E50A6}"/>
              </a:ext>
            </a:extLst>
          </p:cNvPr>
          <p:cNvSpPr txBox="1"/>
          <p:nvPr/>
        </p:nvSpPr>
        <p:spPr>
          <a:xfrm>
            <a:off x="1861102" y="1606039"/>
            <a:ext cx="4043309" cy="707886"/>
          </a:xfrm>
          <a:prstGeom prst="rect">
            <a:avLst/>
          </a:prstGeom>
          <a:noFill/>
        </p:spPr>
        <p:txBody>
          <a:bodyPr wrap="square">
            <a:spAutoFit/>
          </a:bodyPr>
          <a:lstStyle/>
          <a:p>
            <a:pPr lvl="0" algn="ctr"/>
            <a:r>
              <a:rPr lang="en-US" sz="2000" dirty="0"/>
              <a:t>The XOR operator takes two bits and outputs one bit:</a:t>
            </a:r>
          </a:p>
        </p:txBody>
      </p:sp>
      <p:graphicFrame>
        <p:nvGraphicFramePr>
          <p:cNvPr id="2" name="Google Shape;98;p20">
            <a:extLst>
              <a:ext uri="{FF2B5EF4-FFF2-40B4-BE49-F238E27FC236}">
                <a16:creationId xmlns:a16="http://schemas.microsoft.com/office/drawing/2014/main" id="{AA3978D3-86EA-E9ED-704C-3E79E91F1453}"/>
              </a:ext>
            </a:extLst>
          </p:cNvPr>
          <p:cNvGraphicFramePr/>
          <p:nvPr>
            <p:extLst>
              <p:ext uri="{D42A27DB-BD31-4B8C-83A1-F6EECF244321}">
                <p14:modId xmlns:p14="http://schemas.microsoft.com/office/powerpoint/2010/main" val="1092556216"/>
              </p:ext>
            </p:extLst>
          </p:nvPr>
        </p:nvGraphicFramePr>
        <p:xfrm>
          <a:off x="3232178" y="2999762"/>
          <a:ext cx="1308925" cy="1921136"/>
        </p:xfrm>
        <a:graphic>
          <a:graphicData uri="http://schemas.openxmlformats.org/drawingml/2006/table">
            <a:tbl>
              <a:tblPr>
                <a:noFill/>
              </a:tblPr>
              <a:tblGrid>
                <a:gridCol w="1308925">
                  <a:extLst>
                    <a:ext uri="{9D8B030D-6E8A-4147-A177-3AD203B41FA5}">
                      <a16:colId xmlns:a16="http://schemas.microsoft.com/office/drawing/2014/main" val="20000"/>
                    </a:ext>
                  </a:extLst>
                </a:gridCol>
              </a:tblGrid>
              <a:tr h="396200">
                <a:tc>
                  <a:txBody>
                    <a:bodyPr/>
                    <a:lstStyle/>
                    <a:p>
                      <a:pPr marL="0" lvl="0" indent="0" algn="ctr" rtl="0">
                        <a:lnSpc>
                          <a:spcPct val="115000"/>
                        </a:lnSpc>
                        <a:spcBef>
                          <a:spcPts val="0"/>
                        </a:spcBef>
                        <a:spcAft>
                          <a:spcPts val="1200"/>
                        </a:spcAft>
                        <a:buNone/>
                      </a:pPr>
                      <a:r>
                        <a:rPr lang="en" sz="1800">
                          <a:solidFill>
                            <a:schemeClr val="dk1"/>
                          </a:solidFill>
                        </a:rPr>
                        <a:t>0 ⊕ 0 = 0</a:t>
                      </a:r>
                      <a:endParaRPr sz="1800"/>
                    </a:p>
                  </a:txBody>
                  <a:tcPr marL="91425" marR="91425" marT="91425" marB="91425"/>
                </a:tc>
                <a:extLst>
                  <a:ext uri="{0D108BD9-81ED-4DB2-BD59-A6C34878D82A}">
                    <a16:rowId xmlns:a16="http://schemas.microsoft.com/office/drawing/2014/main" val="10000"/>
                  </a:ext>
                </a:extLst>
              </a:tr>
              <a:tr h="396200">
                <a:tc>
                  <a:txBody>
                    <a:bodyPr/>
                    <a:lstStyle/>
                    <a:p>
                      <a:pPr marL="0" lvl="0" indent="0" algn="ctr" rtl="0">
                        <a:lnSpc>
                          <a:spcPct val="115000"/>
                        </a:lnSpc>
                        <a:spcBef>
                          <a:spcPts val="0"/>
                        </a:spcBef>
                        <a:spcAft>
                          <a:spcPts val="1200"/>
                        </a:spcAft>
                        <a:buNone/>
                      </a:pPr>
                      <a:r>
                        <a:rPr lang="en" sz="1800">
                          <a:solidFill>
                            <a:schemeClr val="dk1"/>
                          </a:solidFill>
                        </a:rPr>
                        <a:t>0 ⊕ 1 = 1</a:t>
                      </a:r>
                      <a:endParaRPr sz="1800"/>
                    </a:p>
                  </a:txBody>
                  <a:tcPr marL="91425" marR="91425" marT="91425" marB="91425"/>
                </a:tc>
                <a:extLst>
                  <a:ext uri="{0D108BD9-81ED-4DB2-BD59-A6C34878D82A}">
                    <a16:rowId xmlns:a16="http://schemas.microsoft.com/office/drawing/2014/main" val="10001"/>
                  </a:ext>
                </a:extLst>
              </a:tr>
              <a:tr h="396200">
                <a:tc>
                  <a:txBody>
                    <a:bodyPr/>
                    <a:lstStyle/>
                    <a:p>
                      <a:pPr marL="0" lvl="0" indent="0" algn="ctr" rtl="0">
                        <a:lnSpc>
                          <a:spcPct val="115000"/>
                        </a:lnSpc>
                        <a:spcBef>
                          <a:spcPts val="0"/>
                        </a:spcBef>
                        <a:spcAft>
                          <a:spcPts val="1200"/>
                        </a:spcAft>
                        <a:buNone/>
                      </a:pPr>
                      <a:r>
                        <a:rPr lang="en" sz="1800">
                          <a:solidFill>
                            <a:schemeClr val="dk1"/>
                          </a:solidFill>
                        </a:rPr>
                        <a:t>1 ⊕ 0 = 1</a:t>
                      </a:r>
                      <a:endParaRPr sz="1800"/>
                    </a:p>
                  </a:txBody>
                  <a:tcPr marL="91425" marR="91425" marT="91425" marB="91425"/>
                </a:tc>
                <a:extLst>
                  <a:ext uri="{0D108BD9-81ED-4DB2-BD59-A6C34878D82A}">
                    <a16:rowId xmlns:a16="http://schemas.microsoft.com/office/drawing/2014/main" val="10002"/>
                  </a:ext>
                </a:extLst>
              </a:tr>
              <a:tr h="396200">
                <a:tc>
                  <a:txBody>
                    <a:bodyPr/>
                    <a:lstStyle/>
                    <a:p>
                      <a:pPr marL="0" lvl="0" indent="0" algn="ctr" rtl="0">
                        <a:lnSpc>
                          <a:spcPct val="115000"/>
                        </a:lnSpc>
                        <a:spcBef>
                          <a:spcPts val="0"/>
                        </a:spcBef>
                        <a:spcAft>
                          <a:spcPts val="1200"/>
                        </a:spcAft>
                        <a:buNone/>
                      </a:pPr>
                      <a:r>
                        <a:rPr lang="en" sz="1800" dirty="0">
                          <a:solidFill>
                            <a:schemeClr val="dk1"/>
                          </a:solidFill>
                        </a:rPr>
                        <a:t>1 ⊕ 1 = 0</a:t>
                      </a:r>
                      <a:endParaRPr sz="1800" dirty="0"/>
                    </a:p>
                  </a:txBody>
                  <a:tcPr marL="91425" marR="91425" marT="91425" marB="91425"/>
                </a:tc>
                <a:extLst>
                  <a:ext uri="{0D108BD9-81ED-4DB2-BD59-A6C34878D82A}">
                    <a16:rowId xmlns:a16="http://schemas.microsoft.com/office/drawing/2014/main" val="10003"/>
                  </a:ext>
                </a:extLst>
              </a:tr>
            </a:tbl>
          </a:graphicData>
        </a:graphic>
      </p:graphicFrame>
      <p:sp>
        <p:nvSpPr>
          <p:cNvPr id="3" name="Google Shape;100;p20">
            <a:extLst>
              <a:ext uri="{FF2B5EF4-FFF2-40B4-BE49-F238E27FC236}">
                <a16:creationId xmlns:a16="http://schemas.microsoft.com/office/drawing/2014/main" id="{DC125F0C-1C5B-7924-7510-B7C5CAE1EC29}"/>
              </a:ext>
            </a:extLst>
          </p:cNvPr>
          <p:cNvSpPr txBox="1"/>
          <p:nvPr/>
        </p:nvSpPr>
        <p:spPr>
          <a:xfrm>
            <a:off x="5904411" y="1606039"/>
            <a:ext cx="3774000"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dirty="0"/>
              <a:t>Useful properties of XOR:</a:t>
            </a:r>
            <a:endParaRPr sz="2000" dirty="0"/>
          </a:p>
        </p:txBody>
      </p:sp>
      <p:graphicFrame>
        <p:nvGraphicFramePr>
          <p:cNvPr id="5" name="Google Shape;101;p20">
            <a:extLst>
              <a:ext uri="{FF2B5EF4-FFF2-40B4-BE49-F238E27FC236}">
                <a16:creationId xmlns:a16="http://schemas.microsoft.com/office/drawing/2014/main" id="{289FC2E9-A678-9C50-BD4E-01B5EC8EB607}"/>
              </a:ext>
            </a:extLst>
          </p:cNvPr>
          <p:cNvGraphicFramePr/>
          <p:nvPr>
            <p:extLst>
              <p:ext uri="{D42A27DB-BD31-4B8C-83A1-F6EECF244321}">
                <p14:modId xmlns:p14="http://schemas.microsoft.com/office/powerpoint/2010/main" val="1004547710"/>
              </p:ext>
            </p:extLst>
          </p:nvPr>
        </p:nvGraphicFramePr>
        <p:xfrm>
          <a:off x="6096000" y="3001598"/>
          <a:ext cx="3773925" cy="2401420"/>
        </p:xfrm>
        <a:graphic>
          <a:graphicData uri="http://schemas.openxmlformats.org/drawingml/2006/table">
            <a:tbl>
              <a:tblPr>
                <a:noFill/>
              </a:tblPr>
              <a:tblGrid>
                <a:gridCol w="3773925">
                  <a:extLst>
                    <a:ext uri="{9D8B030D-6E8A-4147-A177-3AD203B41FA5}">
                      <a16:colId xmlns:a16="http://schemas.microsoft.com/office/drawing/2014/main" val="20000"/>
                    </a:ext>
                  </a:extLst>
                </a:gridCol>
              </a:tblGrid>
              <a:tr h="457175">
                <a:tc>
                  <a:txBody>
                    <a:bodyPr/>
                    <a:lstStyle/>
                    <a:p>
                      <a:pPr marL="1085850" lvl="0" indent="0" algn="l" rtl="0">
                        <a:lnSpc>
                          <a:spcPct val="115000"/>
                        </a:lnSpc>
                        <a:spcBef>
                          <a:spcPts val="0"/>
                        </a:spcBef>
                        <a:spcAft>
                          <a:spcPts val="1200"/>
                        </a:spcAft>
                        <a:buNone/>
                      </a:pPr>
                      <a:r>
                        <a:rPr lang="en" sz="800">
                          <a:solidFill>
                            <a:schemeClr val="dk1"/>
                          </a:solidFill>
                        </a:rPr>
                        <a:t> </a:t>
                      </a:r>
                      <a:r>
                        <a:rPr lang="en" sz="1800">
                          <a:solidFill>
                            <a:schemeClr val="dk1"/>
                          </a:solidFill>
                        </a:rPr>
                        <a:t>x ⊕ 0 = x</a:t>
                      </a:r>
                      <a:endParaRPr sz="1800"/>
                    </a:p>
                  </a:txBody>
                  <a:tcPr marL="91425" marR="91425" marT="91425" marB="91425"/>
                </a:tc>
                <a:extLst>
                  <a:ext uri="{0D108BD9-81ED-4DB2-BD59-A6C34878D82A}">
                    <a16:rowId xmlns:a16="http://schemas.microsoft.com/office/drawing/2014/main" val="10000"/>
                  </a:ext>
                </a:extLst>
              </a:tr>
              <a:tr h="457175">
                <a:tc>
                  <a:txBody>
                    <a:bodyPr/>
                    <a:lstStyle/>
                    <a:p>
                      <a:pPr marL="1085850" lvl="0" indent="0" algn="l" rtl="0">
                        <a:lnSpc>
                          <a:spcPct val="115000"/>
                        </a:lnSpc>
                        <a:spcBef>
                          <a:spcPts val="0"/>
                        </a:spcBef>
                        <a:spcAft>
                          <a:spcPts val="1200"/>
                        </a:spcAft>
                        <a:buNone/>
                      </a:pPr>
                      <a:r>
                        <a:rPr lang="en" sz="800">
                          <a:solidFill>
                            <a:schemeClr val="dk1"/>
                          </a:solidFill>
                        </a:rPr>
                        <a:t> </a:t>
                      </a:r>
                      <a:r>
                        <a:rPr lang="en" sz="1800">
                          <a:solidFill>
                            <a:schemeClr val="dk1"/>
                          </a:solidFill>
                        </a:rPr>
                        <a:t>x ⊕ x = 0</a:t>
                      </a:r>
                      <a:endParaRPr sz="1800"/>
                    </a:p>
                  </a:txBody>
                  <a:tcPr marL="91425" marR="91425" marT="91425" marB="91425"/>
                </a:tc>
                <a:extLst>
                  <a:ext uri="{0D108BD9-81ED-4DB2-BD59-A6C34878D82A}">
                    <a16:rowId xmlns:a16="http://schemas.microsoft.com/office/drawing/2014/main" val="10001"/>
                  </a:ext>
                </a:extLst>
              </a:tr>
              <a:tr h="457175">
                <a:tc>
                  <a:txBody>
                    <a:bodyPr/>
                    <a:lstStyle/>
                    <a:p>
                      <a:pPr marL="0" lvl="0" indent="0" algn="ctr" rtl="0">
                        <a:lnSpc>
                          <a:spcPct val="115000"/>
                        </a:lnSpc>
                        <a:spcBef>
                          <a:spcPts val="0"/>
                        </a:spcBef>
                        <a:spcAft>
                          <a:spcPts val="1200"/>
                        </a:spcAft>
                        <a:buNone/>
                      </a:pPr>
                      <a:r>
                        <a:rPr lang="en" sz="1800">
                          <a:solidFill>
                            <a:schemeClr val="dk1"/>
                          </a:solidFill>
                        </a:rPr>
                        <a:t>x ⊕ y = y ⊕ x</a:t>
                      </a:r>
                      <a:endParaRPr sz="1800"/>
                    </a:p>
                  </a:txBody>
                  <a:tcPr marL="91425" marR="91425" marT="91425" marB="91425"/>
                </a:tc>
                <a:extLst>
                  <a:ext uri="{0D108BD9-81ED-4DB2-BD59-A6C34878D82A}">
                    <a16:rowId xmlns:a16="http://schemas.microsoft.com/office/drawing/2014/main" val="10002"/>
                  </a:ext>
                </a:extLst>
              </a:tr>
              <a:tr h="457175">
                <a:tc>
                  <a:txBody>
                    <a:bodyPr/>
                    <a:lstStyle/>
                    <a:p>
                      <a:pPr marL="0" lvl="0" indent="0" algn="ctr" rtl="0">
                        <a:lnSpc>
                          <a:spcPct val="115000"/>
                        </a:lnSpc>
                        <a:spcBef>
                          <a:spcPts val="0"/>
                        </a:spcBef>
                        <a:spcAft>
                          <a:spcPts val="1200"/>
                        </a:spcAft>
                        <a:buNone/>
                      </a:pPr>
                      <a:r>
                        <a:rPr lang="en" sz="1800">
                          <a:solidFill>
                            <a:schemeClr val="dk1"/>
                          </a:solidFill>
                        </a:rPr>
                        <a:t>(x ⊕ y) ⊕ z = x ⊕ (y ⊕ z)</a:t>
                      </a:r>
                      <a:endParaRPr sz="1800"/>
                    </a:p>
                  </a:txBody>
                  <a:tcPr marL="91425" marR="91425" marT="91425" marB="91425"/>
                </a:tc>
                <a:extLst>
                  <a:ext uri="{0D108BD9-81ED-4DB2-BD59-A6C34878D82A}">
                    <a16:rowId xmlns:a16="http://schemas.microsoft.com/office/drawing/2014/main" val="10003"/>
                  </a:ext>
                </a:extLst>
              </a:tr>
              <a:tr h="457175">
                <a:tc>
                  <a:txBody>
                    <a:bodyPr/>
                    <a:lstStyle/>
                    <a:p>
                      <a:pPr marL="514350" lvl="0" indent="0" algn="l" rtl="0">
                        <a:lnSpc>
                          <a:spcPct val="115000"/>
                        </a:lnSpc>
                        <a:spcBef>
                          <a:spcPts val="0"/>
                        </a:spcBef>
                        <a:spcAft>
                          <a:spcPts val="1200"/>
                        </a:spcAft>
                        <a:buNone/>
                      </a:pPr>
                      <a:r>
                        <a:rPr lang="en" sz="600" dirty="0">
                          <a:solidFill>
                            <a:schemeClr val="dk1"/>
                          </a:solidFill>
                        </a:rPr>
                        <a:t> </a:t>
                      </a:r>
                      <a:r>
                        <a:rPr lang="en" sz="1800" dirty="0">
                          <a:solidFill>
                            <a:schemeClr val="dk1"/>
                          </a:solidFill>
                        </a:rPr>
                        <a:t>(x ⊕ y) ⊕ x = y</a:t>
                      </a:r>
                      <a:endParaRPr sz="1800" dirty="0">
                        <a:solidFill>
                          <a:schemeClr val="dk1"/>
                        </a:solidFill>
                      </a:endParaRPr>
                    </a:p>
                  </a:txBody>
                  <a:tcPr marL="91425" marR="91425" marT="91425" marB="914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55623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35B2-9EAF-F7BC-0018-1CB3F483C37A}"/>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598D8020-F22D-CD32-ADE6-DBA615162B95}"/>
              </a:ext>
            </a:extLst>
          </p:cNvPr>
          <p:cNvSpPr txBox="1">
            <a:spLocks/>
          </p:cNvSpPr>
          <p:nvPr/>
        </p:nvSpPr>
        <p:spPr>
          <a:xfrm>
            <a:off x="798261" y="417574"/>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One-Time Pads: Key Generation</a:t>
            </a:r>
          </a:p>
        </p:txBody>
      </p:sp>
      <p:grpSp>
        <p:nvGrpSpPr>
          <p:cNvPr id="6" name="Group 5">
            <a:extLst>
              <a:ext uri="{FF2B5EF4-FFF2-40B4-BE49-F238E27FC236}">
                <a16:creationId xmlns:a16="http://schemas.microsoft.com/office/drawing/2014/main" id="{DFE7C029-88CF-0E13-F136-A8F08645B517}"/>
              </a:ext>
            </a:extLst>
          </p:cNvPr>
          <p:cNvGrpSpPr/>
          <p:nvPr/>
        </p:nvGrpSpPr>
        <p:grpSpPr>
          <a:xfrm>
            <a:off x="1736550" y="2875483"/>
            <a:ext cx="8718900" cy="1832400"/>
            <a:chOff x="1736550" y="2344342"/>
            <a:chExt cx="8718900" cy="1832400"/>
          </a:xfrm>
        </p:grpSpPr>
        <p:sp>
          <p:nvSpPr>
            <p:cNvPr id="7" name="Google Shape;154;p24">
              <a:extLst>
                <a:ext uri="{FF2B5EF4-FFF2-40B4-BE49-F238E27FC236}">
                  <a16:creationId xmlns:a16="http://schemas.microsoft.com/office/drawing/2014/main" id="{FB46258B-B0BB-BB54-C845-31613E09ED6C}"/>
                </a:ext>
              </a:extLst>
            </p:cNvPr>
            <p:cNvSpPr/>
            <p:nvPr/>
          </p:nvSpPr>
          <p:spPr>
            <a:xfrm>
              <a:off x="1736550" y="2344342"/>
              <a:ext cx="8718900" cy="1832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57;p24">
              <a:extLst>
                <a:ext uri="{FF2B5EF4-FFF2-40B4-BE49-F238E27FC236}">
                  <a16:creationId xmlns:a16="http://schemas.microsoft.com/office/drawing/2014/main" id="{07BA14EB-A374-3126-D0D6-4FBCEC56A74E}"/>
                </a:ext>
              </a:extLst>
            </p:cNvPr>
            <p:cNvSpPr txBox="1"/>
            <p:nvPr/>
          </p:nvSpPr>
          <p:spPr>
            <a:xfrm>
              <a:off x="1736550" y="2344342"/>
              <a:ext cx="765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Alice</a:t>
              </a:r>
              <a:endParaRPr sz="1800"/>
            </a:p>
          </p:txBody>
        </p:sp>
        <p:graphicFrame>
          <p:nvGraphicFramePr>
            <p:cNvPr id="10" name="Google Shape;158;p24">
              <a:extLst>
                <a:ext uri="{FF2B5EF4-FFF2-40B4-BE49-F238E27FC236}">
                  <a16:creationId xmlns:a16="http://schemas.microsoft.com/office/drawing/2014/main" id="{A050CF37-C72E-85C8-D427-3147166BFCF5}"/>
                </a:ext>
              </a:extLst>
            </p:cNvPr>
            <p:cNvGraphicFramePr/>
            <p:nvPr>
              <p:extLst>
                <p:ext uri="{D42A27DB-BD31-4B8C-83A1-F6EECF244321}">
                  <p14:modId xmlns:p14="http://schemas.microsoft.com/office/powerpoint/2010/main" val="1056690576"/>
                </p:ext>
              </p:extLst>
            </p:nvPr>
          </p:nvGraphicFramePr>
          <p:xfrm>
            <a:off x="2509725" y="2864617"/>
            <a:ext cx="7805400" cy="457170"/>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1" name="Google Shape;159;p24">
              <a:extLst>
                <a:ext uri="{FF2B5EF4-FFF2-40B4-BE49-F238E27FC236}">
                  <a16:creationId xmlns:a16="http://schemas.microsoft.com/office/drawing/2014/main" id="{E749AAAB-0001-5D23-ADE7-81CE3648DD49}"/>
                </a:ext>
              </a:extLst>
            </p:cNvPr>
            <p:cNvSpPr txBox="1"/>
            <p:nvPr/>
          </p:nvSpPr>
          <p:spPr>
            <a:xfrm>
              <a:off x="1943125" y="2862617"/>
              <a:ext cx="548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K</a:t>
              </a:r>
              <a:endParaRPr/>
            </a:p>
          </p:txBody>
        </p:sp>
      </p:grpSp>
      <p:sp>
        <p:nvSpPr>
          <p:cNvPr id="13" name="Google Shape;161;p24">
            <a:extLst>
              <a:ext uri="{FF2B5EF4-FFF2-40B4-BE49-F238E27FC236}">
                <a16:creationId xmlns:a16="http://schemas.microsoft.com/office/drawing/2014/main" id="{8A56DAF5-9875-ED31-19AE-CFE6545B12AC}"/>
              </a:ext>
            </a:extLst>
          </p:cNvPr>
          <p:cNvSpPr txBox="1"/>
          <p:nvPr/>
        </p:nvSpPr>
        <p:spPr>
          <a:xfrm>
            <a:off x="798261" y="5277905"/>
            <a:ext cx="5031300" cy="73890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t>Recall: We are in the symmetric-key setting, so we </a:t>
            </a:r>
            <a:r>
              <a:rPr lang="en" sz="1800" dirty="0">
                <a:solidFill>
                  <a:srgbClr val="C00000"/>
                </a:solidFill>
              </a:rPr>
              <a:t>assume</a:t>
            </a:r>
            <a:r>
              <a:rPr lang="en" sz="1800" dirty="0"/>
              <a:t> Alice and Bob both know this key</a:t>
            </a:r>
            <a:endParaRPr sz="1800" dirty="0"/>
          </a:p>
        </p:txBody>
      </p:sp>
      <p:sp>
        <p:nvSpPr>
          <p:cNvPr id="14" name="Google Shape;160;p24">
            <a:extLst>
              <a:ext uri="{FF2B5EF4-FFF2-40B4-BE49-F238E27FC236}">
                <a16:creationId xmlns:a16="http://schemas.microsoft.com/office/drawing/2014/main" id="{A680A243-AC24-E34F-9FF8-A47F71CBF8E8}"/>
              </a:ext>
            </a:extLst>
          </p:cNvPr>
          <p:cNvSpPr txBox="1"/>
          <p:nvPr/>
        </p:nvSpPr>
        <p:spPr>
          <a:xfrm>
            <a:off x="798261" y="1566829"/>
            <a:ext cx="5031300" cy="73863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t>The key </a:t>
            </a:r>
            <a:r>
              <a:rPr lang="en" sz="1800" i="1" dirty="0"/>
              <a:t>K</a:t>
            </a:r>
            <a:r>
              <a:rPr lang="en" sz="1800" dirty="0"/>
              <a:t> is a </a:t>
            </a:r>
            <a:r>
              <a:rPr lang="en" sz="1800" b="1" i="1" dirty="0">
                <a:solidFill>
                  <a:srgbClr val="C00000"/>
                </a:solidFill>
              </a:rPr>
              <a:t>randomly-chosen</a:t>
            </a:r>
            <a:r>
              <a:rPr lang="en" sz="1800" dirty="0"/>
              <a:t> bitstring;</a:t>
            </a:r>
          </a:p>
          <a:p>
            <a:pPr marL="0" lvl="0" indent="0" algn="l" rtl="0">
              <a:spcBef>
                <a:spcPts val="0"/>
              </a:spcBef>
              <a:spcAft>
                <a:spcPts val="0"/>
              </a:spcAft>
              <a:buNone/>
            </a:pPr>
            <a:r>
              <a:rPr lang="en" dirty="0"/>
              <a:t>The key length is equal to the message length.</a:t>
            </a:r>
            <a:endParaRPr sz="1800" dirty="0"/>
          </a:p>
        </p:txBody>
      </p:sp>
    </p:spTree>
    <p:extLst>
      <p:ext uri="{BB962C8B-B14F-4D97-AF65-F5344CB8AC3E}">
        <p14:creationId xmlns:p14="http://schemas.microsoft.com/office/powerpoint/2010/main" val="313664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4B6ED-CDAA-F16C-1FA9-EC844526ECD9}"/>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6F3D4334-A45C-6D68-A686-384324E69507}"/>
              </a:ext>
            </a:extLst>
          </p:cNvPr>
          <p:cNvSpPr txBox="1">
            <a:spLocks/>
          </p:cNvSpPr>
          <p:nvPr/>
        </p:nvSpPr>
        <p:spPr>
          <a:xfrm>
            <a:off x="798261" y="417574"/>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One-Time Pads: Encryption</a:t>
            </a:r>
          </a:p>
        </p:txBody>
      </p:sp>
      <p:sp>
        <p:nvSpPr>
          <p:cNvPr id="17" name="Google Shape;174;p25">
            <a:extLst>
              <a:ext uri="{FF2B5EF4-FFF2-40B4-BE49-F238E27FC236}">
                <a16:creationId xmlns:a16="http://schemas.microsoft.com/office/drawing/2014/main" id="{3F8A92AC-A656-2BDB-1627-2BB92023143D}"/>
              </a:ext>
            </a:extLst>
          </p:cNvPr>
          <p:cNvSpPr txBox="1"/>
          <p:nvPr/>
        </p:nvSpPr>
        <p:spPr>
          <a:xfrm>
            <a:off x="798261" y="1787880"/>
            <a:ext cx="5945440" cy="461635"/>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t>The plaintext </a:t>
            </a:r>
            <a:r>
              <a:rPr lang="en" sz="1800" i="1" dirty="0"/>
              <a:t>M</a:t>
            </a:r>
            <a:r>
              <a:rPr lang="en" sz="1800" dirty="0"/>
              <a:t> is the bitstring that Alice wants to encrypt</a:t>
            </a:r>
            <a:endParaRPr sz="1800" dirty="0"/>
          </a:p>
        </p:txBody>
      </p:sp>
      <p:sp>
        <p:nvSpPr>
          <p:cNvPr id="18" name="Google Shape;175;p25">
            <a:extLst>
              <a:ext uri="{FF2B5EF4-FFF2-40B4-BE49-F238E27FC236}">
                <a16:creationId xmlns:a16="http://schemas.microsoft.com/office/drawing/2014/main" id="{79ADCE1D-4E7A-8D15-F1E4-042F10174BD4}"/>
              </a:ext>
            </a:extLst>
          </p:cNvPr>
          <p:cNvSpPr txBox="1"/>
          <p:nvPr/>
        </p:nvSpPr>
        <p:spPr>
          <a:xfrm>
            <a:off x="798261" y="5391832"/>
            <a:ext cx="5785420" cy="1292631"/>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lvl="0"/>
            <a:r>
              <a:rPr lang="en" sz="1800" b="1" i="1" dirty="0">
                <a:solidFill>
                  <a:srgbClr val="C00000"/>
                </a:solidFill>
              </a:rPr>
              <a:t>Encrypt</a:t>
            </a:r>
            <a:r>
              <a:rPr lang="en" sz="1800" dirty="0"/>
              <a:t>: </a:t>
            </a:r>
            <a:r>
              <a:rPr lang="en" dirty="0"/>
              <a:t>XOR each bit of </a:t>
            </a:r>
            <a:r>
              <a:rPr lang="en" i="1" dirty="0"/>
              <a:t>K</a:t>
            </a:r>
            <a:r>
              <a:rPr lang="en" dirty="0"/>
              <a:t> with the matching bit in </a:t>
            </a:r>
            <a:r>
              <a:rPr lang="en" i="1" dirty="0"/>
              <a:t>M</a:t>
            </a:r>
            <a:endParaRPr lang="en" dirty="0"/>
          </a:p>
          <a:p>
            <a:pPr lvl="0"/>
            <a:endParaRPr lang="en" sz="1800" dirty="0"/>
          </a:p>
          <a:p>
            <a:r>
              <a:rPr lang="en-US" dirty="0"/>
              <a:t>The ciphertext </a:t>
            </a:r>
            <a:r>
              <a:rPr lang="en-US" i="1" dirty="0"/>
              <a:t>C</a:t>
            </a:r>
            <a:r>
              <a:rPr lang="en-US" dirty="0"/>
              <a:t> is the encrypted bitstring that Alice sends to Bob over the insecure channel.</a:t>
            </a:r>
          </a:p>
        </p:txBody>
      </p:sp>
      <p:grpSp>
        <p:nvGrpSpPr>
          <p:cNvPr id="19" name="Group 18">
            <a:extLst>
              <a:ext uri="{FF2B5EF4-FFF2-40B4-BE49-F238E27FC236}">
                <a16:creationId xmlns:a16="http://schemas.microsoft.com/office/drawing/2014/main" id="{3B160708-B405-8FB7-DAFE-22C159600651}"/>
              </a:ext>
            </a:extLst>
          </p:cNvPr>
          <p:cNvGrpSpPr/>
          <p:nvPr/>
        </p:nvGrpSpPr>
        <p:grpSpPr>
          <a:xfrm>
            <a:off x="2028625" y="2592754"/>
            <a:ext cx="8718900" cy="2417395"/>
            <a:chOff x="1505305" y="1841422"/>
            <a:chExt cx="8718900" cy="2417395"/>
          </a:xfrm>
        </p:grpSpPr>
        <p:sp>
          <p:nvSpPr>
            <p:cNvPr id="20" name="Google Shape;182;p26">
              <a:extLst>
                <a:ext uri="{FF2B5EF4-FFF2-40B4-BE49-F238E27FC236}">
                  <a16:creationId xmlns:a16="http://schemas.microsoft.com/office/drawing/2014/main" id="{8962ADEC-B9BA-D154-D199-26BCDC5F6FDB}"/>
                </a:ext>
              </a:extLst>
            </p:cNvPr>
            <p:cNvSpPr/>
            <p:nvPr/>
          </p:nvSpPr>
          <p:spPr>
            <a:xfrm>
              <a:off x="1505305" y="1841422"/>
              <a:ext cx="8718900" cy="1832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3;p26">
              <a:extLst>
                <a:ext uri="{FF2B5EF4-FFF2-40B4-BE49-F238E27FC236}">
                  <a16:creationId xmlns:a16="http://schemas.microsoft.com/office/drawing/2014/main" id="{29CFD2E4-8BF3-2387-588F-EB15C8422710}"/>
                </a:ext>
              </a:extLst>
            </p:cNvPr>
            <p:cNvSpPr txBox="1"/>
            <p:nvPr/>
          </p:nvSpPr>
          <p:spPr>
            <a:xfrm>
              <a:off x="1505305" y="1841422"/>
              <a:ext cx="765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Alice</a:t>
              </a:r>
              <a:endParaRPr sz="1800"/>
            </a:p>
          </p:txBody>
        </p:sp>
        <p:graphicFrame>
          <p:nvGraphicFramePr>
            <p:cNvPr id="22" name="Google Shape;184;p26">
              <a:extLst>
                <a:ext uri="{FF2B5EF4-FFF2-40B4-BE49-F238E27FC236}">
                  <a16:creationId xmlns:a16="http://schemas.microsoft.com/office/drawing/2014/main" id="{10CC3906-12A9-05DE-2C5D-599682D1F129}"/>
                </a:ext>
              </a:extLst>
            </p:cNvPr>
            <p:cNvGraphicFramePr/>
            <p:nvPr>
              <p:extLst>
                <p:ext uri="{D42A27DB-BD31-4B8C-83A1-F6EECF244321}">
                  <p14:modId xmlns:p14="http://schemas.microsoft.com/office/powerpoint/2010/main" val="3676273281"/>
                </p:ext>
              </p:extLst>
            </p:nvPr>
          </p:nvGraphicFramePr>
          <p:xfrm>
            <a:off x="2278480" y="2361697"/>
            <a:ext cx="7805400" cy="457170"/>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 name="Google Shape;185;p26">
              <a:extLst>
                <a:ext uri="{FF2B5EF4-FFF2-40B4-BE49-F238E27FC236}">
                  <a16:creationId xmlns:a16="http://schemas.microsoft.com/office/drawing/2014/main" id="{D71B8D8A-4165-C2E1-8FF2-9C0DE5CD8FC8}"/>
                </a:ext>
              </a:extLst>
            </p:cNvPr>
            <p:cNvSpPr txBox="1"/>
            <p:nvPr/>
          </p:nvSpPr>
          <p:spPr>
            <a:xfrm>
              <a:off x="1711880" y="2359697"/>
              <a:ext cx="548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K</a:t>
              </a:r>
              <a:endParaRPr/>
            </a:p>
          </p:txBody>
        </p:sp>
        <p:graphicFrame>
          <p:nvGraphicFramePr>
            <p:cNvPr id="24" name="Google Shape;186;p26">
              <a:extLst>
                <a:ext uri="{FF2B5EF4-FFF2-40B4-BE49-F238E27FC236}">
                  <a16:creationId xmlns:a16="http://schemas.microsoft.com/office/drawing/2014/main" id="{9C92BDAF-9CA2-B838-7325-069FDA427A3B}"/>
                </a:ext>
              </a:extLst>
            </p:cNvPr>
            <p:cNvGraphicFramePr/>
            <p:nvPr>
              <p:extLst>
                <p:ext uri="{D42A27DB-BD31-4B8C-83A1-F6EECF244321}">
                  <p14:modId xmlns:p14="http://schemas.microsoft.com/office/powerpoint/2010/main" val="922007050"/>
                </p:ext>
              </p:extLst>
            </p:nvPr>
          </p:nvGraphicFramePr>
          <p:xfrm>
            <a:off x="2278480" y="3081672"/>
            <a:ext cx="7805400" cy="457170"/>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5" name="Google Shape;187;p26">
              <a:extLst>
                <a:ext uri="{FF2B5EF4-FFF2-40B4-BE49-F238E27FC236}">
                  <a16:creationId xmlns:a16="http://schemas.microsoft.com/office/drawing/2014/main" id="{6D265B06-878D-9FE8-02A0-4055A2C11F6A}"/>
                </a:ext>
              </a:extLst>
            </p:cNvPr>
            <p:cNvSpPr txBox="1"/>
            <p:nvPr/>
          </p:nvSpPr>
          <p:spPr>
            <a:xfrm>
              <a:off x="1711880" y="3079672"/>
              <a:ext cx="548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M</a:t>
              </a:r>
              <a:endParaRPr/>
            </a:p>
          </p:txBody>
        </p:sp>
        <p:graphicFrame>
          <p:nvGraphicFramePr>
            <p:cNvPr id="26" name="Google Shape;188;p26">
              <a:extLst>
                <a:ext uri="{FF2B5EF4-FFF2-40B4-BE49-F238E27FC236}">
                  <a16:creationId xmlns:a16="http://schemas.microsoft.com/office/drawing/2014/main" id="{187B454A-A2CF-B963-55C0-BE222EB9DDAE}"/>
                </a:ext>
              </a:extLst>
            </p:cNvPr>
            <p:cNvGraphicFramePr/>
            <p:nvPr>
              <p:extLst>
                <p:ext uri="{D42A27DB-BD31-4B8C-83A1-F6EECF244321}">
                  <p14:modId xmlns:p14="http://schemas.microsoft.com/office/powerpoint/2010/main" val="3031353501"/>
                </p:ext>
              </p:extLst>
            </p:nvPr>
          </p:nvGraphicFramePr>
          <p:xfrm>
            <a:off x="2278480" y="3801647"/>
            <a:ext cx="7805400" cy="457170"/>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7" name="Google Shape;189;p26">
              <a:extLst>
                <a:ext uri="{FF2B5EF4-FFF2-40B4-BE49-F238E27FC236}">
                  <a16:creationId xmlns:a16="http://schemas.microsoft.com/office/drawing/2014/main" id="{CA381120-CF41-511F-4A75-702E9EF8F743}"/>
                </a:ext>
              </a:extLst>
            </p:cNvPr>
            <p:cNvSpPr txBox="1"/>
            <p:nvPr/>
          </p:nvSpPr>
          <p:spPr>
            <a:xfrm>
              <a:off x="1711880" y="3799647"/>
              <a:ext cx="548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a:t>
              </a:r>
              <a:endParaRPr/>
            </a:p>
          </p:txBody>
        </p:sp>
        <p:graphicFrame>
          <p:nvGraphicFramePr>
            <p:cNvPr id="28" name="Google Shape;191;p26">
              <a:extLst>
                <a:ext uri="{FF2B5EF4-FFF2-40B4-BE49-F238E27FC236}">
                  <a16:creationId xmlns:a16="http://schemas.microsoft.com/office/drawing/2014/main" id="{361ADF02-4339-8104-1F6F-70F2F58E32EE}"/>
                </a:ext>
              </a:extLst>
            </p:cNvPr>
            <p:cNvGraphicFramePr/>
            <p:nvPr>
              <p:extLst>
                <p:ext uri="{D42A27DB-BD31-4B8C-83A1-F6EECF244321}">
                  <p14:modId xmlns:p14="http://schemas.microsoft.com/office/powerpoint/2010/main" val="2390434598"/>
                </p:ext>
              </p:extLst>
            </p:nvPr>
          </p:nvGraphicFramePr>
          <p:xfrm>
            <a:off x="2278480" y="2666497"/>
            <a:ext cx="7805400" cy="487079"/>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lnSpc>
                            <a:spcPct val="115000"/>
                          </a:lnSpc>
                          <a:spcBef>
                            <a:spcPts val="0"/>
                          </a:spcBef>
                          <a:spcAft>
                            <a:spcPts val="1200"/>
                          </a:spcAft>
                          <a:buClr>
                            <a:schemeClr val="dk1"/>
                          </a:buClr>
                          <a:buSzPts val="1100"/>
                          <a:buFont typeface="Arial"/>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9" name="Google Shape;192;p26">
              <a:extLst>
                <a:ext uri="{FF2B5EF4-FFF2-40B4-BE49-F238E27FC236}">
                  <a16:creationId xmlns:a16="http://schemas.microsoft.com/office/drawing/2014/main" id="{4A4D9C6F-D2B6-709E-0069-482A4DCCE307}"/>
                </a:ext>
              </a:extLst>
            </p:cNvPr>
            <p:cNvGraphicFramePr/>
            <p:nvPr>
              <p:extLst>
                <p:ext uri="{D42A27DB-BD31-4B8C-83A1-F6EECF244321}">
                  <p14:modId xmlns:p14="http://schemas.microsoft.com/office/powerpoint/2010/main" val="3832801050"/>
                </p:ext>
              </p:extLst>
            </p:nvPr>
          </p:nvGraphicFramePr>
          <p:xfrm>
            <a:off x="2278480" y="3407147"/>
            <a:ext cx="7805400" cy="488031"/>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spTree>
    <p:extLst>
      <p:ext uri="{BB962C8B-B14F-4D97-AF65-F5344CB8AC3E}">
        <p14:creationId xmlns:p14="http://schemas.microsoft.com/office/powerpoint/2010/main" val="3861801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AE906-933C-EE00-C20D-D8E43811B409}"/>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F3DEBFAD-52D8-E10B-531F-D31E924207A2}"/>
              </a:ext>
            </a:extLst>
          </p:cNvPr>
          <p:cNvSpPr txBox="1">
            <a:spLocks/>
          </p:cNvSpPr>
          <p:nvPr/>
        </p:nvSpPr>
        <p:spPr>
          <a:xfrm>
            <a:off x="798261" y="417574"/>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One-Time Pads: Decryption</a:t>
            </a:r>
          </a:p>
        </p:txBody>
      </p:sp>
      <p:sp>
        <p:nvSpPr>
          <p:cNvPr id="18" name="Google Shape;175;p25">
            <a:extLst>
              <a:ext uri="{FF2B5EF4-FFF2-40B4-BE49-F238E27FC236}">
                <a16:creationId xmlns:a16="http://schemas.microsoft.com/office/drawing/2014/main" id="{4179ABC2-EF3B-7C87-5F77-B7B9A65D61DD}"/>
              </a:ext>
            </a:extLst>
          </p:cNvPr>
          <p:cNvSpPr txBox="1"/>
          <p:nvPr/>
        </p:nvSpPr>
        <p:spPr>
          <a:xfrm>
            <a:off x="798260" y="5321737"/>
            <a:ext cx="5785420" cy="461635"/>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lvl="0"/>
            <a:r>
              <a:rPr lang="en" sz="1800" b="1" i="1" dirty="0">
                <a:solidFill>
                  <a:srgbClr val="C00000"/>
                </a:solidFill>
              </a:rPr>
              <a:t>Decrypt</a:t>
            </a:r>
            <a:r>
              <a:rPr lang="en" sz="1800" dirty="0"/>
              <a:t>: </a:t>
            </a:r>
            <a:r>
              <a:rPr lang="en" dirty="0"/>
              <a:t>XOR each bit of </a:t>
            </a:r>
            <a:r>
              <a:rPr lang="en" i="1" dirty="0"/>
              <a:t>K</a:t>
            </a:r>
            <a:r>
              <a:rPr lang="en" dirty="0"/>
              <a:t> with the matching bit in </a:t>
            </a:r>
            <a:r>
              <a:rPr lang="en" i="1" dirty="0"/>
              <a:t>C</a:t>
            </a:r>
          </a:p>
        </p:txBody>
      </p:sp>
      <p:grpSp>
        <p:nvGrpSpPr>
          <p:cNvPr id="2" name="Group 1">
            <a:extLst>
              <a:ext uri="{FF2B5EF4-FFF2-40B4-BE49-F238E27FC236}">
                <a16:creationId xmlns:a16="http://schemas.microsoft.com/office/drawing/2014/main" id="{66384943-0AE7-629D-62BD-CC4715684DB5}"/>
              </a:ext>
            </a:extLst>
          </p:cNvPr>
          <p:cNvGrpSpPr/>
          <p:nvPr/>
        </p:nvGrpSpPr>
        <p:grpSpPr>
          <a:xfrm>
            <a:off x="1736550" y="2541173"/>
            <a:ext cx="8718900" cy="2559000"/>
            <a:chOff x="179425" y="1265350"/>
            <a:chExt cx="8718900" cy="2559000"/>
          </a:xfrm>
        </p:grpSpPr>
        <p:sp>
          <p:nvSpPr>
            <p:cNvPr id="3" name="Google Shape;211;p28">
              <a:extLst>
                <a:ext uri="{FF2B5EF4-FFF2-40B4-BE49-F238E27FC236}">
                  <a16:creationId xmlns:a16="http://schemas.microsoft.com/office/drawing/2014/main" id="{C3904BF3-B0F8-E254-7F45-1522CBF74C84}"/>
                </a:ext>
              </a:extLst>
            </p:cNvPr>
            <p:cNvSpPr/>
            <p:nvPr/>
          </p:nvSpPr>
          <p:spPr>
            <a:xfrm>
              <a:off x="179425" y="1265350"/>
              <a:ext cx="8718900" cy="255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4;p28">
              <a:extLst>
                <a:ext uri="{FF2B5EF4-FFF2-40B4-BE49-F238E27FC236}">
                  <a16:creationId xmlns:a16="http://schemas.microsoft.com/office/drawing/2014/main" id="{53AB8FAF-8BD5-B8A7-0AAA-2469EB5CC05E}"/>
                </a:ext>
              </a:extLst>
            </p:cNvPr>
            <p:cNvSpPr txBox="1"/>
            <p:nvPr/>
          </p:nvSpPr>
          <p:spPr>
            <a:xfrm>
              <a:off x="179425" y="1265350"/>
              <a:ext cx="765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Bob</a:t>
              </a:r>
              <a:endParaRPr sz="1800"/>
            </a:p>
          </p:txBody>
        </p:sp>
        <p:graphicFrame>
          <p:nvGraphicFramePr>
            <p:cNvPr id="6" name="Google Shape;215;p28">
              <a:extLst>
                <a:ext uri="{FF2B5EF4-FFF2-40B4-BE49-F238E27FC236}">
                  <a16:creationId xmlns:a16="http://schemas.microsoft.com/office/drawing/2014/main" id="{38BBAFBD-8FB9-B77D-D869-300921D43331}"/>
                </a:ext>
              </a:extLst>
            </p:cNvPr>
            <p:cNvGraphicFramePr/>
            <p:nvPr>
              <p:extLst>
                <p:ext uri="{D42A27DB-BD31-4B8C-83A1-F6EECF244321}">
                  <p14:modId xmlns:p14="http://schemas.microsoft.com/office/powerpoint/2010/main" val="2016781585"/>
                </p:ext>
              </p:extLst>
            </p:nvPr>
          </p:nvGraphicFramePr>
          <p:xfrm>
            <a:off x="952600" y="1785625"/>
            <a:ext cx="7805400" cy="457170"/>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 name="Google Shape;216;p28">
              <a:extLst>
                <a:ext uri="{FF2B5EF4-FFF2-40B4-BE49-F238E27FC236}">
                  <a16:creationId xmlns:a16="http://schemas.microsoft.com/office/drawing/2014/main" id="{EEC90026-6F72-1AB8-FBA9-D84C1D824901}"/>
                </a:ext>
              </a:extLst>
            </p:cNvPr>
            <p:cNvSpPr txBox="1"/>
            <p:nvPr/>
          </p:nvSpPr>
          <p:spPr>
            <a:xfrm>
              <a:off x="386000" y="1783625"/>
              <a:ext cx="548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K</a:t>
              </a:r>
              <a:endParaRPr/>
            </a:p>
          </p:txBody>
        </p:sp>
        <p:graphicFrame>
          <p:nvGraphicFramePr>
            <p:cNvPr id="8" name="Google Shape;217;p28">
              <a:extLst>
                <a:ext uri="{FF2B5EF4-FFF2-40B4-BE49-F238E27FC236}">
                  <a16:creationId xmlns:a16="http://schemas.microsoft.com/office/drawing/2014/main" id="{90C129C3-DB60-B67E-7198-F07F433BF61E}"/>
                </a:ext>
              </a:extLst>
            </p:cNvPr>
            <p:cNvGraphicFramePr/>
            <p:nvPr>
              <p:extLst>
                <p:ext uri="{D42A27DB-BD31-4B8C-83A1-F6EECF244321}">
                  <p14:modId xmlns:p14="http://schemas.microsoft.com/office/powerpoint/2010/main" val="1334434459"/>
                </p:ext>
              </p:extLst>
            </p:nvPr>
          </p:nvGraphicFramePr>
          <p:xfrm>
            <a:off x="952600" y="2505600"/>
            <a:ext cx="7805400" cy="457170"/>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9" name="Google Shape;218;p28">
              <a:extLst>
                <a:ext uri="{FF2B5EF4-FFF2-40B4-BE49-F238E27FC236}">
                  <a16:creationId xmlns:a16="http://schemas.microsoft.com/office/drawing/2014/main" id="{F79A94D5-487B-BD98-992C-82ED6377A1CD}"/>
                </a:ext>
              </a:extLst>
            </p:cNvPr>
            <p:cNvSpPr txBox="1"/>
            <p:nvPr/>
          </p:nvSpPr>
          <p:spPr>
            <a:xfrm>
              <a:off x="386000" y="2503600"/>
              <a:ext cx="548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a:t>
              </a:r>
              <a:endParaRPr/>
            </a:p>
          </p:txBody>
        </p:sp>
        <p:graphicFrame>
          <p:nvGraphicFramePr>
            <p:cNvPr id="10" name="Google Shape;219;p28">
              <a:extLst>
                <a:ext uri="{FF2B5EF4-FFF2-40B4-BE49-F238E27FC236}">
                  <a16:creationId xmlns:a16="http://schemas.microsoft.com/office/drawing/2014/main" id="{C21EE39B-A121-D63E-7215-124B68BB29E6}"/>
                </a:ext>
              </a:extLst>
            </p:cNvPr>
            <p:cNvGraphicFramePr/>
            <p:nvPr>
              <p:extLst>
                <p:ext uri="{D42A27DB-BD31-4B8C-83A1-F6EECF244321}">
                  <p14:modId xmlns:p14="http://schemas.microsoft.com/office/powerpoint/2010/main" val="874787163"/>
                </p:ext>
              </p:extLst>
            </p:nvPr>
          </p:nvGraphicFramePr>
          <p:xfrm>
            <a:off x="952600" y="3225575"/>
            <a:ext cx="7805400" cy="457170"/>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1</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Courier New"/>
                            <a:ea typeface="Courier New"/>
                            <a:cs typeface="Courier New"/>
                            <a:sym typeface="Courier New"/>
                          </a:rPr>
                          <a:t>0</a:t>
                        </a:r>
                        <a:endParaRPr b="1">
                          <a:latin typeface="Courier New"/>
                          <a:ea typeface="Courier New"/>
                          <a:cs typeface="Courier New"/>
                          <a:sym typeface="Courier New"/>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1" name="Google Shape;220;p28">
              <a:extLst>
                <a:ext uri="{FF2B5EF4-FFF2-40B4-BE49-F238E27FC236}">
                  <a16:creationId xmlns:a16="http://schemas.microsoft.com/office/drawing/2014/main" id="{5A53222C-84A4-6AF5-A39B-9FD4B6EC2CA8}"/>
                </a:ext>
              </a:extLst>
            </p:cNvPr>
            <p:cNvSpPr txBox="1"/>
            <p:nvPr/>
          </p:nvSpPr>
          <p:spPr>
            <a:xfrm>
              <a:off x="386000" y="3223575"/>
              <a:ext cx="548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M</a:t>
              </a:r>
              <a:endParaRPr/>
            </a:p>
          </p:txBody>
        </p:sp>
        <p:graphicFrame>
          <p:nvGraphicFramePr>
            <p:cNvPr id="12" name="Google Shape;221;p28">
              <a:extLst>
                <a:ext uri="{FF2B5EF4-FFF2-40B4-BE49-F238E27FC236}">
                  <a16:creationId xmlns:a16="http://schemas.microsoft.com/office/drawing/2014/main" id="{793067C3-7001-22FA-11F1-FE0662F10B73}"/>
                </a:ext>
              </a:extLst>
            </p:cNvPr>
            <p:cNvGraphicFramePr/>
            <p:nvPr>
              <p:extLst>
                <p:ext uri="{D42A27DB-BD31-4B8C-83A1-F6EECF244321}">
                  <p14:modId xmlns:p14="http://schemas.microsoft.com/office/powerpoint/2010/main" val="1151824254"/>
                </p:ext>
              </p:extLst>
            </p:nvPr>
          </p:nvGraphicFramePr>
          <p:xfrm>
            <a:off x="952600" y="2090425"/>
            <a:ext cx="7805400" cy="487079"/>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3" name="Google Shape;222;p28">
              <a:extLst>
                <a:ext uri="{FF2B5EF4-FFF2-40B4-BE49-F238E27FC236}">
                  <a16:creationId xmlns:a16="http://schemas.microsoft.com/office/drawing/2014/main" id="{541E68CC-0323-F044-6C17-C97DBD35E261}"/>
                </a:ext>
              </a:extLst>
            </p:cNvPr>
            <p:cNvGraphicFramePr/>
            <p:nvPr>
              <p:extLst>
                <p:ext uri="{D42A27DB-BD31-4B8C-83A1-F6EECF244321}">
                  <p14:modId xmlns:p14="http://schemas.microsoft.com/office/powerpoint/2010/main" val="2152644707"/>
                </p:ext>
              </p:extLst>
            </p:nvPr>
          </p:nvGraphicFramePr>
          <p:xfrm>
            <a:off x="952600" y="2831075"/>
            <a:ext cx="7805400" cy="488031"/>
          </p:xfrm>
          <a:graphic>
            <a:graphicData uri="http://schemas.openxmlformats.org/drawingml/2006/table">
              <a:tbl>
                <a:tblPr>
                  <a:noFill/>
                </a:tblPr>
                <a:tblGrid>
                  <a:gridCol w="650450">
                    <a:extLst>
                      <a:ext uri="{9D8B030D-6E8A-4147-A177-3AD203B41FA5}">
                        <a16:colId xmlns:a16="http://schemas.microsoft.com/office/drawing/2014/main" val="20000"/>
                      </a:ext>
                    </a:extLst>
                  </a:gridCol>
                  <a:gridCol w="650450">
                    <a:extLst>
                      <a:ext uri="{9D8B030D-6E8A-4147-A177-3AD203B41FA5}">
                        <a16:colId xmlns:a16="http://schemas.microsoft.com/office/drawing/2014/main" val="20001"/>
                      </a:ext>
                    </a:extLst>
                  </a:gridCol>
                  <a:gridCol w="650450">
                    <a:extLst>
                      <a:ext uri="{9D8B030D-6E8A-4147-A177-3AD203B41FA5}">
                        <a16:colId xmlns:a16="http://schemas.microsoft.com/office/drawing/2014/main" val="20002"/>
                      </a:ext>
                    </a:extLst>
                  </a:gridCol>
                  <a:gridCol w="650450">
                    <a:extLst>
                      <a:ext uri="{9D8B030D-6E8A-4147-A177-3AD203B41FA5}">
                        <a16:colId xmlns:a16="http://schemas.microsoft.com/office/drawing/2014/main" val="20003"/>
                      </a:ext>
                    </a:extLst>
                  </a:gridCol>
                  <a:gridCol w="650450">
                    <a:extLst>
                      <a:ext uri="{9D8B030D-6E8A-4147-A177-3AD203B41FA5}">
                        <a16:colId xmlns:a16="http://schemas.microsoft.com/office/drawing/2014/main" val="20004"/>
                      </a:ext>
                    </a:extLst>
                  </a:gridCol>
                  <a:gridCol w="650450">
                    <a:extLst>
                      <a:ext uri="{9D8B030D-6E8A-4147-A177-3AD203B41FA5}">
                        <a16:colId xmlns:a16="http://schemas.microsoft.com/office/drawing/2014/main" val="20005"/>
                      </a:ext>
                    </a:extLst>
                  </a:gridCol>
                  <a:gridCol w="650450">
                    <a:extLst>
                      <a:ext uri="{9D8B030D-6E8A-4147-A177-3AD203B41FA5}">
                        <a16:colId xmlns:a16="http://schemas.microsoft.com/office/drawing/2014/main" val="20006"/>
                      </a:ext>
                    </a:extLst>
                  </a:gridCol>
                  <a:gridCol w="650450">
                    <a:extLst>
                      <a:ext uri="{9D8B030D-6E8A-4147-A177-3AD203B41FA5}">
                        <a16:colId xmlns:a16="http://schemas.microsoft.com/office/drawing/2014/main" val="20007"/>
                      </a:ext>
                    </a:extLst>
                  </a:gridCol>
                  <a:gridCol w="650450">
                    <a:extLst>
                      <a:ext uri="{9D8B030D-6E8A-4147-A177-3AD203B41FA5}">
                        <a16:colId xmlns:a16="http://schemas.microsoft.com/office/drawing/2014/main" val="20008"/>
                      </a:ext>
                    </a:extLst>
                  </a:gridCol>
                  <a:gridCol w="650450">
                    <a:extLst>
                      <a:ext uri="{9D8B030D-6E8A-4147-A177-3AD203B41FA5}">
                        <a16:colId xmlns:a16="http://schemas.microsoft.com/office/drawing/2014/main" val="20009"/>
                      </a:ext>
                    </a:extLst>
                  </a:gridCol>
                  <a:gridCol w="650450">
                    <a:extLst>
                      <a:ext uri="{9D8B030D-6E8A-4147-A177-3AD203B41FA5}">
                        <a16:colId xmlns:a16="http://schemas.microsoft.com/office/drawing/2014/main" val="20010"/>
                      </a:ext>
                    </a:extLst>
                  </a:gridCol>
                  <a:gridCol w="650450">
                    <a:extLst>
                      <a:ext uri="{9D8B030D-6E8A-4147-A177-3AD203B41FA5}">
                        <a16:colId xmlns:a16="http://schemas.microsoft.com/office/drawing/2014/main" val="20011"/>
                      </a:ext>
                    </a:extLst>
                  </a:gridCol>
                </a:tblGrid>
                <a:tr h="396200">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1200"/>
                          </a:spcAft>
                          <a:buNone/>
                        </a:pPr>
                        <a:r>
                          <a:rPr lang="en" sz="1800">
                            <a:solidFill>
                              <a:schemeClr val="dk1"/>
                            </a:solidFill>
                          </a:rPr>
                          <a:t>↓</a:t>
                        </a:r>
                        <a:endParaRPr b="1">
                          <a:latin typeface="Courier New"/>
                          <a:ea typeface="Courier New"/>
                          <a:cs typeface="Courier New"/>
                          <a:sym typeface="Courier New"/>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sp>
        <p:nvSpPr>
          <p:cNvPr id="14" name="Google Shape;206;p27">
            <a:extLst>
              <a:ext uri="{FF2B5EF4-FFF2-40B4-BE49-F238E27FC236}">
                <a16:creationId xmlns:a16="http://schemas.microsoft.com/office/drawing/2014/main" id="{5D15E288-2A49-9905-8797-DC9E1FCFEE5A}"/>
              </a:ext>
            </a:extLst>
          </p:cNvPr>
          <p:cNvSpPr txBox="1"/>
          <p:nvPr/>
        </p:nvSpPr>
        <p:spPr>
          <a:xfrm>
            <a:off x="798261" y="1634151"/>
            <a:ext cx="8147619" cy="461635"/>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t>Bob receives the ciphertext </a:t>
            </a:r>
            <a:r>
              <a:rPr lang="en" sz="1800" i="1" dirty="0"/>
              <a:t>C</a:t>
            </a:r>
            <a:r>
              <a:rPr lang="en" sz="1800" dirty="0"/>
              <a:t>. Bob knows the key </a:t>
            </a:r>
            <a:r>
              <a:rPr lang="en" sz="1800" i="1" dirty="0"/>
              <a:t>K</a:t>
            </a:r>
            <a:r>
              <a:rPr lang="en" sz="1800" dirty="0"/>
              <a:t>. How does Bob recover </a:t>
            </a:r>
            <a:r>
              <a:rPr lang="en" sz="1800" i="1" dirty="0"/>
              <a:t>M</a:t>
            </a:r>
            <a:r>
              <a:rPr lang="en" sz="1800" dirty="0"/>
              <a:t>?</a:t>
            </a:r>
            <a:endParaRPr sz="1800" dirty="0"/>
          </a:p>
        </p:txBody>
      </p:sp>
      <p:sp>
        <p:nvSpPr>
          <p:cNvPr id="16" name="Google Shape;175;p25">
            <a:extLst>
              <a:ext uri="{FF2B5EF4-FFF2-40B4-BE49-F238E27FC236}">
                <a16:creationId xmlns:a16="http://schemas.microsoft.com/office/drawing/2014/main" id="{C42C9054-9A39-0B15-E921-89B6C4434E85}"/>
              </a:ext>
            </a:extLst>
          </p:cNvPr>
          <p:cNvSpPr txBox="1"/>
          <p:nvPr/>
        </p:nvSpPr>
        <p:spPr>
          <a:xfrm>
            <a:off x="798260" y="6124244"/>
            <a:ext cx="8040940" cy="523190"/>
          </a:xfrm>
          <a:prstGeom prst="rect">
            <a:avLst/>
          </a:prstGeom>
          <a:solidFill>
            <a:schemeClr val="accent2">
              <a:lumMod val="20000"/>
              <a:lumOff val="80000"/>
            </a:schemeClr>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r>
              <a:rPr lang="en-US" sz="2200" b="1" dirty="0"/>
              <a:t>For one-time pads, we generate a </a:t>
            </a:r>
            <a:r>
              <a:rPr lang="en-US" sz="2200" b="1" dirty="0">
                <a:solidFill>
                  <a:srgbClr val="C00000"/>
                </a:solidFill>
              </a:rPr>
              <a:t>new key </a:t>
            </a:r>
            <a:r>
              <a:rPr lang="en-US" sz="2200" b="1" dirty="0"/>
              <a:t>for every message</a:t>
            </a:r>
          </a:p>
        </p:txBody>
      </p:sp>
    </p:spTree>
    <p:extLst>
      <p:ext uri="{BB962C8B-B14F-4D97-AF65-F5344CB8AC3E}">
        <p14:creationId xmlns:p14="http://schemas.microsoft.com/office/powerpoint/2010/main" val="1115328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D6AF39DA-B083-3783-08AE-968934124770}"/>
              </a:ext>
            </a:extLst>
          </p:cNvPr>
          <p:cNvSpPr txBox="1">
            <a:spLocks/>
          </p:cNvSpPr>
          <p:nvPr/>
        </p:nvSpPr>
        <p:spPr>
          <a:xfrm>
            <a:off x="798261" y="417574"/>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One-Time Pads: Summary</a:t>
            </a:r>
          </a:p>
        </p:txBody>
      </p:sp>
      <p:sp>
        <p:nvSpPr>
          <p:cNvPr id="4" name="TextBox 3">
            <a:extLst>
              <a:ext uri="{FF2B5EF4-FFF2-40B4-BE49-F238E27FC236}">
                <a16:creationId xmlns:a16="http://schemas.microsoft.com/office/drawing/2014/main" id="{9CA22CAF-BD6B-430C-0B12-61618B520ED6}"/>
              </a:ext>
            </a:extLst>
          </p:cNvPr>
          <p:cNvSpPr txBox="1"/>
          <p:nvPr/>
        </p:nvSpPr>
        <p:spPr>
          <a:xfrm>
            <a:off x="753460" y="1710726"/>
            <a:ext cx="10685079" cy="4062651"/>
          </a:xfrm>
          <a:prstGeom prst="rect">
            <a:avLst/>
          </a:prstGeom>
          <a:noFill/>
        </p:spPr>
        <p:txBody>
          <a:bodyPr wrap="square">
            <a:spAutoFit/>
          </a:bodyPr>
          <a:lstStyle/>
          <a:p>
            <a:pPr>
              <a:spcBef>
                <a:spcPts val="600"/>
              </a:spcBef>
              <a:spcAft>
                <a:spcPts val="600"/>
              </a:spcAft>
            </a:pPr>
            <a:r>
              <a:rPr lang="en-US" sz="2000" dirty="0"/>
              <a:t>KeyGen():</a:t>
            </a:r>
          </a:p>
          <a:p>
            <a:pPr marL="342900" indent="-342900">
              <a:spcBef>
                <a:spcPts val="600"/>
              </a:spcBef>
              <a:spcAft>
                <a:spcPts val="600"/>
              </a:spcAft>
              <a:buFont typeface="Arial" panose="020B0604020202020204" pitchFamily="34" charset="0"/>
              <a:buChar char="•"/>
            </a:pPr>
            <a:r>
              <a:rPr lang="en-US" sz="2000" b="1" dirty="0">
                <a:solidFill>
                  <a:srgbClr val="C00000"/>
                </a:solidFill>
              </a:rPr>
              <a:t>Randomly generate </a:t>
            </a:r>
            <a:r>
              <a:rPr lang="en-US" sz="2000" dirty="0"/>
              <a:t>an n-bit key, where n is the length of your message</a:t>
            </a:r>
          </a:p>
          <a:p>
            <a:pPr marL="342900" indent="-342900">
              <a:spcBef>
                <a:spcPts val="600"/>
              </a:spcBef>
              <a:spcAft>
                <a:spcPts val="600"/>
              </a:spcAft>
              <a:buFont typeface="Arial" panose="020B0604020202020204" pitchFamily="34" charset="0"/>
              <a:buChar char="•"/>
            </a:pPr>
            <a:r>
              <a:rPr lang="en-US" sz="2000" dirty="0"/>
              <a:t>Recall: we </a:t>
            </a:r>
            <a:r>
              <a:rPr lang="en-US" sz="2000" b="1" dirty="0">
                <a:solidFill>
                  <a:srgbClr val="C00000"/>
                </a:solidFill>
              </a:rPr>
              <a:t>assume</a:t>
            </a:r>
            <a:r>
              <a:rPr lang="en-US" sz="2000" dirty="0"/>
              <a:t> that Alice and Bob can securely share this key</a:t>
            </a:r>
          </a:p>
          <a:p>
            <a:pPr marL="342900" indent="-342900">
              <a:spcBef>
                <a:spcPts val="600"/>
              </a:spcBef>
              <a:spcAft>
                <a:spcPts val="600"/>
              </a:spcAft>
              <a:buFont typeface="Arial" panose="020B0604020202020204" pitchFamily="34" charset="0"/>
              <a:buChar char="•"/>
            </a:pPr>
            <a:r>
              <a:rPr lang="en-US" sz="2000" dirty="0"/>
              <a:t>For one-time pads, we generate a </a:t>
            </a:r>
            <a:r>
              <a:rPr lang="en-US" sz="2000" b="1" dirty="0">
                <a:solidFill>
                  <a:srgbClr val="C00000"/>
                </a:solidFill>
              </a:rPr>
              <a:t>new key </a:t>
            </a:r>
            <a:r>
              <a:rPr lang="en-US" sz="2000" dirty="0"/>
              <a:t>for every message</a:t>
            </a:r>
          </a:p>
          <a:p>
            <a:pPr>
              <a:spcBef>
                <a:spcPts val="600"/>
              </a:spcBef>
              <a:spcAft>
                <a:spcPts val="600"/>
              </a:spcAft>
            </a:pPr>
            <a:r>
              <a:rPr lang="en-US" sz="2000" dirty="0"/>
              <a:t>Enc(</a:t>
            </a:r>
            <a:r>
              <a:rPr lang="en-US" sz="2000" i="1" dirty="0"/>
              <a:t>K</a:t>
            </a:r>
            <a:r>
              <a:rPr lang="en-US" sz="2000" dirty="0"/>
              <a:t>, </a:t>
            </a:r>
            <a:r>
              <a:rPr lang="en-US" sz="2000" i="1" dirty="0"/>
              <a:t>M</a:t>
            </a:r>
            <a:r>
              <a:rPr lang="en-US" sz="2000" dirty="0"/>
              <a:t>) = </a:t>
            </a:r>
            <a:r>
              <a:rPr lang="en-US" sz="2000" i="1" dirty="0"/>
              <a:t>K</a:t>
            </a:r>
            <a:r>
              <a:rPr lang="en-US" sz="2000" dirty="0"/>
              <a:t> ⊕ </a:t>
            </a:r>
            <a:r>
              <a:rPr lang="en-US" sz="2000" i="1" dirty="0"/>
              <a:t>M:</a:t>
            </a:r>
          </a:p>
          <a:p>
            <a:pPr marL="342900" indent="-342900">
              <a:spcBef>
                <a:spcPts val="600"/>
              </a:spcBef>
              <a:spcAft>
                <a:spcPts val="600"/>
              </a:spcAft>
              <a:buFont typeface="Arial" panose="020B0604020202020204" pitchFamily="34" charset="0"/>
              <a:buChar char="•"/>
            </a:pPr>
            <a:r>
              <a:rPr lang="en-US" sz="2000" dirty="0"/>
              <a:t>Bitwise XOR M and K to produce C</a:t>
            </a:r>
          </a:p>
          <a:p>
            <a:pPr marL="342900" indent="-342900">
              <a:spcBef>
                <a:spcPts val="600"/>
              </a:spcBef>
              <a:spcAft>
                <a:spcPts val="600"/>
              </a:spcAft>
              <a:buFont typeface="Arial" panose="020B0604020202020204" pitchFamily="34" charset="0"/>
              <a:buChar char="•"/>
            </a:pPr>
            <a:r>
              <a:rPr lang="en-US" sz="2000" dirty="0"/>
              <a:t>In other words: XOR the </a:t>
            </a:r>
            <a:r>
              <a:rPr lang="en-US" sz="2000" i="1" dirty="0"/>
              <a:t>i-</a:t>
            </a:r>
            <a:r>
              <a:rPr lang="en-US" sz="2000" dirty="0" err="1"/>
              <a:t>th</a:t>
            </a:r>
            <a:r>
              <a:rPr lang="en-US" sz="2000" dirty="0"/>
              <a:t> bit of the plaintext with the </a:t>
            </a:r>
            <a:r>
              <a:rPr lang="en-US" sz="2000" i="1" dirty="0"/>
              <a:t>i-</a:t>
            </a:r>
            <a:r>
              <a:rPr lang="en-US" sz="2000" dirty="0" err="1"/>
              <a:t>th</a:t>
            </a:r>
            <a:r>
              <a:rPr lang="en-US" sz="2000" dirty="0"/>
              <a:t> bit of the key  </a:t>
            </a:r>
            <a:r>
              <a:rPr lang="en-US" dirty="0">
                <a:sym typeface="Wingdings" panose="05000000000000000000" pitchFamily="2" charset="2"/>
              </a:rPr>
              <a:t></a:t>
            </a:r>
            <a:r>
              <a:rPr lang="en-US" dirty="0"/>
              <a:t> </a:t>
            </a:r>
            <a:r>
              <a:rPr lang="en-US" i="1" dirty="0"/>
              <a:t>C</a:t>
            </a:r>
            <a:r>
              <a:rPr lang="en-US" sz="1100" i="1" dirty="0"/>
              <a:t>i</a:t>
            </a:r>
            <a:r>
              <a:rPr lang="en-US" dirty="0"/>
              <a:t> = </a:t>
            </a:r>
            <a:r>
              <a:rPr lang="en-US" i="1" dirty="0"/>
              <a:t>K</a:t>
            </a:r>
            <a:r>
              <a:rPr lang="en-US" sz="1100" i="1" dirty="0"/>
              <a:t>i</a:t>
            </a:r>
            <a:r>
              <a:rPr lang="en-US" dirty="0"/>
              <a:t> ⊕ </a:t>
            </a:r>
            <a:r>
              <a:rPr lang="en-US" i="1" dirty="0"/>
              <a:t>M</a:t>
            </a:r>
            <a:r>
              <a:rPr lang="en-US" sz="1100" i="1" dirty="0"/>
              <a:t>i</a:t>
            </a:r>
            <a:endParaRPr lang="en-US" i="1" dirty="0"/>
          </a:p>
          <a:p>
            <a:pPr>
              <a:spcBef>
                <a:spcPts val="600"/>
              </a:spcBef>
              <a:spcAft>
                <a:spcPts val="600"/>
              </a:spcAft>
            </a:pPr>
            <a:r>
              <a:rPr lang="pl-PL" sz="2000" dirty="0"/>
              <a:t>Dec(</a:t>
            </a:r>
            <a:r>
              <a:rPr lang="pl-PL" sz="2000" i="1" dirty="0"/>
              <a:t>K</a:t>
            </a:r>
            <a:r>
              <a:rPr lang="pl-PL" sz="2000" dirty="0"/>
              <a:t>, </a:t>
            </a:r>
            <a:r>
              <a:rPr lang="pl-PL" sz="2000" i="1" dirty="0"/>
              <a:t>C</a:t>
            </a:r>
            <a:r>
              <a:rPr lang="pl-PL" sz="2000" dirty="0"/>
              <a:t>) = </a:t>
            </a:r>
            <a:r>
              <a:rPr lang="pl-PL" sz="2000" i="1" dirty="0"/>
              <a:t>K</a:t>
            </a:r>
            <a:r>
              <a:rPr lang="pl-PL" sz="2000" dirty="0"/>
              <a:t> ⊕ </a:t>
            </a:r>
            <a:r>
              <a:rPr lang="pl-PL" sz="2000" i="1" dirty="0"/>
              <a:t>C</a:t>
            </a:r>
            <a:r>
              <a:rPr lang="en-US" sz="2000" i="1" dirty="0"/>
              <a:t>:</a:t>
            </a:r>
          </a:p>
          <a:p>
            <a:pPr marL="342900" indent="-342900">
              <a:spcBef>
                <a:spcPts val="600"/>
              </a:spcBef>
              <a:spcAft>
                <a:spcPts val="600"/>
              </a:spcAft>
              <a:buFont typeface="Arial" panose="020B0604020202020204" pitchFamily="34" charset="0"/>
              <a:buChar char="•"/>
            </a:pPr>
            <a:r>
              <a:rPr lang="en-US" sz="2000" dirty="0"/>
              <a:t>Bitwise XOR </a:t>
            </a:r>
            <a:r>
              <a:rPr lang="en-US" sz="2000" i="1" dirty="0"/>
              <a:t>C</a:t>
            </a:r>
            <a:r>
              <a:rPr lang="en-US" sz="2000" dirty="0"/>
              <a:t> and </a:t>
            </a:r>
            <a:r>
              <a:rPr lang="en-US" sz="2000" i="1" dirty="0"/>
              <a:t>K</a:t>
            </a:r>
            <a:r>
              <a:rPr lang="en-US" sz="2000" dirty="0"/>
              <a:t> to produce </a:t>
            </a:r>
            <a:r>
              <a:rPr lang="en-US" sz="2000" i="1" dirty="0"/>
              <a:t>M </a:t>
            </a:r>
            <a:r>
              <a:rPr lang="en-US" i="1" dirty="0">
                <a:sym typeface="Wingdings" panose="05000000000000000000" pitchFamily="2" charset="2"/>
              </a:rPr>
              <a:t> </a:t>
            </a:r>
            <a:r>
              <a:rPr lang="en-US" i="1" dirty="0"/>
              <a:t>M</a:t>
            </a:r>
            <a:r>
              <a:rPr lang="en-US" sz="1100" i="1" dirty="0"/>
              <a:t>i</a:t>
            </a:r>
            <a:r>
              <a:rPr lang="en-US" dirty="0"/>
              <a:t> = </a:t>
            </a:r>
            <a:r>
              <a:rPr lang="en-US" i="1" dirty="0"/>
              <a:t>K</a:t>
            </a:r>
            <a:r>
              <a:rPr lang="en-US" sz="1100" i="1" dirty="0"/>
              <a:t>i</a:t>
            </a:r>
            <a:r>
              <a:rPr lang="en-US" dirty="0"/>
              <a:t> ⊕ </a:t>
            </a:r>
            <a:r>
              <a:rPr lang="en-US" i="1" dirty="0"/>
              <a:t>C</a:t>
            </a:r>
            <a:r>
              <a:rPr lang="en-US" sz="1100" i="1" dirty="0"/>
              <a:t>i</a:t>
            </a:r>
            <a:endParaRPr lang="en-US" i="1" dirty="0"/>
          </a:p>
        </p:txBody>
      </p:sp>
    </p:spTree>
    <p:extLst>
      <p:ext uri="{BB962C8B-B14F-4D97-AF65-F5344CB8AC3E}">
        <p14:creationId xmlns:p14="http://schemas.microsoft.com/office/powerpoint/2010/main" val="2093561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EFED39E4-9DCE-742A-9754-65104AB88FB8}"/>
              </a:ext>
            </a:extLst>
          </p:cNvPr>
          <p:cNvSpPr txBox="1">
            <a:spLocks/>
          </p:cNvSpPr>
          <p:nvPr/>
        </p:nvSpPr>
        <p:spPr>
          <a:xfrm>
            <a:off x="798261" y="417574"/>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Two-Time Pads?</a:t>
            </a:r>
          </a:p>
        </p:txBody>
      </p:sp>
      <p:grpSp>
        <p:nvGrpSpPr>
          <p:cNvPr id="22" name="Group 21">
            <a:extLst>
              <a:ext uri="{FF2B5EF4-FFF2-40B4-BE49-F238E27FC236}">
                <a16:creationId xmlns:a16="http://schemas.microsoft.com/office/drawing/2014/main" id="{34823815-9295-C170-726B-1588315F53F4}"/>
              </a:ext>
            </a:extLst>
          </p:cNvPr>
          <p:cNvGrpSpPr/>
          <p:nvPr/>
        </p:nvGrpSpPr>
        <p:grpSpPr>
          <a:xfrm>
            <a:off x="921811" y="1293424"/>
            <a:ext cx="5981696" cy="3354775"/>
            <a:chOff x="798261" y="1621085"/>
            <a:chExt cx="5473300" cy="3093600"/>
          </a:xfrm>
        </p:grpSpPr>
        <p:sp>
          <p:nvSpPr>
            <p:cNvPr id="3" name="Google Shape;238;p31">
              <a:extLst>
                <a:ext uri="{FF2B5EF4-FFF2-40B4-BE49-F238E27FC236}">
                  <a16:creationId xmlns:a16="http://schemas.microsoft.com/office/drawing/2014/main" id="{210E0536-4394-CE7A-1CE9-DB72CD97CD7E}"/>
                </a:ext>
              </a:extLst>
            </p:cNvPr>
            <p:cNvSpPr/>
            <p:nvPr/>
          </p:nvSpPr>
          <p:spPr>
            <a:xfrm>
              <a:off x="798261" y="1621085"/>
              <a:ext cx="3235200" cy="30936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39;p31">
              <a:extLst>
                <a:ext uri="{FF2B5EF4-FFF2-40B4-BE49-F238E27FC236}">
                  <a16:creationId xmlns:a16="http://schemas.microsoft.com/office/drawing/2014/main" id="{5D325D41-B54D-3489-F920-301049006DFB}"/>
                </a:ext>
              </a:extLst>
            </p:cNvPr>
            <p:cNvSpPr/>
            <p:nvPr/>
          </p:nvSpPr>
          <p:spPr>
            <a:xfrm>
              <a:off x="921811" y="2497810"/>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i="1">
                  <a:solidFill>
                    <a:schemeClr val="dk1"/>
                  </a:solidFill>
                </a:rPr>
                <a:t>M</a:t>
              </a:r>
              <a:r>
                <a:rPr lang="en" sz="1300">
                  <a:solidFill>
                    <a:schemeClr val="dk1"/>
                  </a:solidFill>
                </a:rPr>
                <a:t>0</a:t>
              </a:r>
              <a:endParaRPr sz="1800"/>
            </a:p>
          </p:txBody>
        </p:sp>
        <p:sp>
          <p:nvSpPr>
            <p:cNvPr id="5" name="Google Shape;240;p31">
              <a:extLst>
                <a:ext uri="{FF2B5EF4-FFF2-40B4-BE49-F238E27FC236}">
                  <a16:creationId xmlns:a16="http://schemas.microsoft.com/office/drawing/2014/main" id="{A5B6AA36-33DE-A2E0-AC5B-FF5F6F757AE8}"/>
                </a:ext>
              </a:extLst>
            </p:cNvPr>
            <p:cNvSpPr/>
            <p:nvPr/>
          </p:nvSpPr>
          <p:spPr>
            <a:xfrm>
              <a:off x="2976761" y="1716760"/>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i="1"/>
                <a:t>K</a:t>
              </a:r>
              <a:endParaRPr sz="1800" i="1"/>
            </a:p>
          </p:txBody>
        </p:sp>
        <p:sp>
          <p:nvSpPr>
            <p:cNvPr id="6" name="Google Shape;241;p31">
              <a:extLst>
                <a:ext uri="{FF2B5EF4-FFF2-40B4-BE49-F238E27FC236}">
                  <a16:creationId xmlns:a16="http://schemas.microsoft.com/office/drawing/2014/main" id="{14908EB2-60B5-204B-80F0-B6C666967352}"/>
                </a:ext>
              </a:extLst>
            </p:cNvPr>
            <p:cNvSpPr/>
            <p:nvPr/>
          </p:nvSpPr>
          <p:spPr>
            <a:xfrm>
              <a:off x="2683511" y="2497810"/>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OTP Enc</a:t>
              </a:r>
              <a:endParaRPr sz="1800"/>
            </a:p>
          </p:txBody>
        </p:sp>
        <p:cxnSp>
          <p:nvCxnSpPr>
            <p:cNvPr id="7" name="Google Shape;242;p31">
              <a:extLst>
                <a:ext uri="{FF2B5EF4-FFF2-40B4-BE49-F238E27FC236}">
                  <a16:creationId xmlns:a16="http://schemas.microsoft.com/office/drawing/2014/main" id="{E92F511F-6FAA-F2EF-F018-31A8CA808045}"/>
                </a:ext>
              </a:extLst>
            </p:cNvPr>
            <p:cNvCxnSpPr>
              <a:stCxn id="5" idx="2"/>
              <a:endCxn id="6" idx="0"/>
            </p:cNvCxnSpPr>
            <p:nvPr/>
          </p:nvCxnSpPr>
          <p:spPr>
            <a:xfrm>
              <a:off x="3251111" y="2186860"/>
              <a:ext cx="0" cy="311100"/>
            </a:xfrm>
            <a:prstGeom prst="straightConnector1">
              <a:avLst/>
            </a:prstGeom>
            <a:noFill/>
            <a:ln w="9525" cap="flat" cmpd="sng">
              <a:solidFill>
                <a:schemeClr val="dk2"/>
              </a:solidFill>
              <a:prstDash val="solid"/>
              <a:round/>
              <a:headEnd type="none" w="med" len="med"/>
              <a:tailEnd type="triangle" w="med" len="med"/>
            </a:ln>
          </p:spPr>
        </p:cxnSp>
        <p:cxnSp>
          <p:nvCxnSpPr>
            <p:cNvPr id="8" name="Google Shape;243;p31">
              <a:extLst>
                <a:ext uri="{FF2B5EF4-FFF2-40B4-BE49-F238E27FC236}">
                  <a16:creationId xmlns:a16="http://schemas.microsoft.com/office/drawing/2014/main" id="{3BD9D717-4AF8-841C-953E-BCC34AB5914C}"/>
                </a:ext>
              </a:extLst>
            </p:cNvPr>
            <p:cNvCxnSpPr>
              <a:endCxn id="6" idx="1"/>
            </p:cNvCxnSpPr>
            <p:nvPr/>
          </p:nvCxnSpPr>
          <p:spPr>
            <a:xfrm>
              <a:off x="2057111" y="2732860"/>
              <a:ext cx="626400" cy="0"/>
            </a:xfrm>
            <a:prstGeom prst="straightConnector1">
              <a:avLst/>
            </a:prstGeom>
            <a:noFill/>
            <a:ln w="9525" cap="flat" cmpd="sng">
              <a:solidFill>
                <a:schemeClr val="dk2"/>
              </a:solidFill>
              <a:prstDash val="solid"/>
              <a:round/>
              <a:headEnd type="none" w="med" len="med"/>
              <a:tailEnd type="triangle" w="med" len="med"/>
            </a:ln>
          </p:spPr>
        </p:cxnSp>
        <p:sp>
          <p:nvSpPr>
            <p:cNvPr id="9" name="Google Shape;244;p31">
              <a:extLst>
                <a:ext uri="{FF2B5EF4-FFF2-40B4-BE49-F238E27FC236}">
                  <a16:creationId xmlns:a16="http://schemas.microsoft.com/office/drawing/2014/main" id="{A81F7C95-5FA4-B843-5ABD-8613C626A423}"/>
                </a:ext>
              </a:extLst>
            </p:cNvPr>
            <p:cNvSpPr/>
            <p:nvPr/>
          </p:nvSpPr>
          <p:spPr>
            <a:xfrm>
              <a:off x="4445211" y="2497810"/>
              <a:ext cx="182635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sz="2400" i="1" dirty="0"/>
                <a:t>C</a:t>
              </a:r>
              <a:r>
                <a:rPr lang="en" sz="1300" dirty="0">
                  <a:solidFill>
                    <a:schemeClr val="dk1"/>
                  </a:solidFill>
                </a:rPr>
                <a:t>0</a:t>
              </a:r>
              <a:r>
                <a:rPr lang="en" dirty="0">
                  <a:solidFill>
                    <a:schemeClr val="dk1"/>
                  </a:solidFill>
                </a:rPr>
                <a:t>  </a:t>
              </a:r>
              <a:r>
                <a:rPr lang="en" sz="2400" dirty="0">
                  <a:solidFill>
                    <a:schemeClr val="dk1"/>
                  </a:solidFill>
                </a:rPr>
                <a:t>= </a:t>
              </a:r>
              <a:r>
                <a:rPr lang="en" sz="2400" i="1" dirty="0"/>
                <a:t>K</a:t>
              </a:r>
              <a:r>
                <a:rPr lang="en" sz="2400" dirty="0"/>
                <a:t> ⊕ </a:t>
              </a:r>
              <a:r>
                <a:rPr lang="en" sz="2400" i="1" dirty="0"/>
                <a:t>M</a:t>
              </a:r>
              <a:r>
                <a:rPr lang="en" sz="1300" dirty="0">
                  <a:solidFill>
                    <a:schemeClr val="dk1"/>
                  </a:solidFill>
                </a:rPr>
                <a:t>0</a:t>
              </a:r>
              <a:endParaRPr sz="1800" i="1" dirty="0"/>
            </a:p>
          </p:txBody>
        </p:sp>
        <p:cxnSp>
          <p:nvCxnSpPr>
            <p:cNvPr id="10" name="Google Shape;245;p31">
              <a:extLst>
                <a:ext uri="{FF2B5EF4-FFF2-40B4-BE49-F238E27FC236}">
                  <a16:creationId xmlns:a16="http://schemas.microsoft.com/office/drawing/2014/main" id="{F3C76507-F897-2CEF-23BC-F887FFE020AD}"/>
                </a:ext>
              </a:extLst>
            </p:cNvPr>
            <p:cNvCxnSpPr>
              <a:cxnSpLocks/>
              <a:stCxn id="6" idx="3"/>
              <a:endCxn id="9" idx="1"/>
            </p:cNvCxnSpPr>
            <p:nvPr/>
          </p:nvCxnSpPr>
          <p:spPr>
            <a:xfrm>
              <a:off x="3818711" y="2732860"/>
              <a:ext cx="626501" cy="0"/>
            </a:xfrm>
            <a:prstGeom prst="straightConnector1">
              <a:avLst/>
            </a:prstGeom>
            <a:noFill/>
            <a:ln w="9525" cap="flat" cmpd="sng">
              <a:solidFill>
                <a:schemeClr val="dk2"/>
              </a:solidFill>
              <a:prstDash val="solid"/>
              <a:round/>
              <a:headEnd type="none" w="med" len="med"/>
              <a:tailEnd type="triangle" w="med" len="med"/>
            </a:ln>
          </p:spPr>
        </p:cxnSp>
        <p:sp>
          <p:nvSpPr>
            <p:cNvPr id="11" name="Google Shape;246;p31">
              <a:extLst>
                <a:ext uri="{FF2B5EF4-FFF2-40B4-BE49-F238E27FC236}">
                  <a16:creationId xmlns:a16="http://schemas.microsoft.com/office/drawing/2014/main" id="{1A983B08-54D3-E352-26EE-5A999E7DF2E8}"/>
                </a:ext>
              </a:extLst>
            </p:cNvPr>
            <p:cNvSpPr txBox="1"/>
            <p:nvPr/>
          </p:nvSpPr>
          <p:spPr>
            <a:xfrm>
              <a:off x="798261" y="1621085"/>
              <a:ext cx="765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Alice</a:t>
              </a:r>
              <a:endParaRPr sz="1800"/>
            </a:p>
          </p:txBody>
        </p:sp>
        <p:sp>
          <p:nvSpPr>
            <p:cNvPr id="12" name="Google Shape;247;p31">
              <a:extLst>
                <a:ext uri="{FF2B5EF4-FFF2-40B4-BE49-F238E27FC236}">
                  <a16:creationId xmlns:a16="http://schemas.microsoft.com/office/drawing/2014/main" id="{7C004EDE-2821-4A74-B591-1FA848A3A20C}"/>
                </a:ext>
              </a:extLst>
            </p:cNvPr>
            <p:cNvSpPr txBox="1"/>
            <p:nvPr/>
          </p:nvSpPr>
          <p:spPr>
            <a:xfrm>
              <a:off x="4454636" y="1817409"/>
              <a:ext cx="18075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dirty="0">
                  <a:solidFill>
                    <a:srgbClr val="FF0000"/>
                  </a:solidFill>
                </a:rPr>
                <a:t>Insecure Channel</a:t>
              </a:r>
              <a:endParaRPr sz="1800" dirty="0">
                <a:solidFill>
                  <a:srgbClr val="FF0000"/>
                </a:solidFill>
              </a:endParaRPr>
            </a:p>
          </p:txBody>
        </p:sp>
        <p:sp>
          <p:nvSpPr>
            <p:cNvPr id="13" name="Google Shape;248;p31">
              <a:extLst>
                <a:ext uri="{FF2B5EF4-FFF2-40B4-BE49-F238E27FC236}">
                  <a16:creationId xmlns:a16="http://schemas.microsoft.com/office/drawing/2014/main" id="{D0C2DB98-3984-EE05-B24E-88DF0C117831}"/>
                </a:ext>
              </a:extLst>
            </p:cNvPr>
            <p:cNvSpPr/>
            <p:nvPr/>
          </p:nvSpPr>
          <p:spPr>
            <a:xfrm>
              <a:off x="921811" y="4073085"/>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i="1">
                  <a:solidFill>
                    <a:schemeClr val="dk1"/>
                  </a:solidFill>
                </a:rPr>
                <a:t>M</a:t>
              </a:r>
              <a:r>
                <a:rPr lang="en" sz="1300">
                  <a:solidFill>
                    <a:schemeClr val="dk1"/>
                  </a:solidFill>
                </a:rPr>
                <a:t>1</a:t>
              </a:r>
              <a:endParaRPr sz="1800"/>
            </a:p>
          </p:txBody>
        </p:sp>
        <p:sp>
          <p:nvSpPr>
            <p:cNvPr id="14" name="Google Shape;249;p31">
              <a:extLst>
                <a:ext uri="{FF2B5EF4-FFF2-40B4-BE49-F238E27FC236}">
                  <a16:creationId xmlns:a16="http://schemas.microsoft.com/office/drawing/2014/main" id="{7527EE22-33F8-C635-4DF2-BFED3CE12F18}"/>
                </a:ext>
              </a:extLst>
            </p:cNvPr>
            <p:cNvSpPr/>
            <p:nvPr/>
          </p:nvSpPr>
          <p:spPr>
            <a:xfrm>
              <a:off x="2976761" y="3292035"/>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i="1"/>
                <a:t>K</a:t>
              </a:r>
              <a:endParaRPr sz="1800" i="1"/>
            </a:p>
          </p:txBody>
        </p:sp>
        <p:sp>
          <p:nvSpPr>
            <p:cNvPr id="15" name="Google Shape;250;p31">
              <a:extLst>
                <a:ext uri="{FF2B5EF4-FFF2-40B4-BE49-F238E27FC236}">
                  <a16:creationId xmlns:a16="http://schemas.microsoft.com/office/drawing/2014/main" id="{523CD67E-7A23-3B08-6DA9-0EA5173AFB63}"/>
                </a:ext>
              </a:extLst>
            </p:cNvPr>
            <p:cNvSpPr/>
            <p:nvPr/>
          </p:nvSpPr>
          <p:spPr>
            <a:xfrm>
              <a:off x="2683511" y="4073085"/>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OTP Enc</a:t>
              </a:r>
              <a:endParaRPr sz="1800"/>
            </a:p>
          </p:txBody>
        </p:sp>
        <p:cxnSp>
          <p:nvCxnSpPr>
            <p:cNvPr id="16" name="Google Shape;251;p31">
              <a:extLst>
                <a:ext uri="{FF2B5EF4-FFF2-40B4-BE49-F238E27FC236}">
                  <a16:creationId xmlns:a16="http://schemas.microsoft.com/office/drawing/2014/main" id="{C591FC28-6CF5-70DA-C60D-444B7BA7D258}"/>
                </a:ext>
              </a:extLst>
            </p:cNvPr>
            <p:cNvCxnSpPr>
              <a:stCxn id="14" idx="2"/>
              <a:endCxn id="15" idx="0"/>
            </p:cNvCxnSpPr>
            <p:nvPr/>
          </p:nvCxnSpPr>
          <p:spPr>
            <a:xfrm>
              <a:off x="3251111" y="3762135"/>
              <a:ext cx="0" cy="311100"/>
            </a:xfrm>
            <a:prstGeom prst="straightConnector1">
              <a:avLst/>
            </a:prstGeom>
            <a:noFill/>
            <a:ln w="9525" cap="flat" cmpd="sng">
              <a:solidFill>
                <a:schemeClr val="dk2"/>
              </a:solidFill>
              <a:prstDash val="solid"/>
              <a:round/>
              <a:headEnd type="none" w="med" len="med"/>
              <a:tailEnd type="triangle" w="med" len="med"/>
            </a:ln>
          </p:spPr>
        </p:cxnSp>
        <p:cxnSp>
          <p:nvCxnSpPr>
            <p:cNvPr id="17" name="Google Shape;252;p31">
              <a:extLst>
                <a:ext uri="{FF2B5EF4-FFF2-40B4-BE49-F238E27FC236}">
                  <a16:creationId xmlns:a16="http://schemas.microsoft.com/office/drawing/2014/main" id="{9042F930-63EA-9345-53D1-4E7E9242D0C1}"/>
                </a:ext>
              </a:extLst>
            </p:cNvPr>
            <p:cNvCxnSpPr>
              <a:endCxn id="15" idx="1"/>
            </p:cNvCxnSpPr>
            <p:nvPr/>
          </p:nvCxnSpPr>
          <p:spPr>
            <a:xfrm>
              <a:off x="2057111" y="4308135"/>
              <a:ext cx="626400" cy="0"/>
            </a:xfrm>
            <a:prstGeom prst="straightConnector1">
              <a:avLst/>
            </a:prstGeom>
            <a:noFill/>
            <a:ln w="9525" cap="flat" cmpd="sng">
              <a:solidFill>
                <a:schemeClr val="dk2"/>
              </a:solidFill>
              <a:prstDash val="solid"/>
              <a:round/>
              <a:headEnd type="none" w="med" len="med"/>
              <a:tailEnd type="triangle" w="med" len="med"/>
            </a:ln>
          </p:spPr>
        </p:cxnSp>
        <p:sp>
          <p:nvSpPr>
            <p:cNvPr id="18" name="Google Shape;253;p31">
              <a:extLst>
                <a:ext uri="{FF2B5EF4-FFF2-40B4-BE49-F238E27FC236}">
                  <a16:creationId xmlns:a16="http://schemas.microsoft.com/office/drawing/2014/main" id="{4F8B65BF-1075-D96A-349C-3EDA3C0C98A9}"/>
                </a:ext>
              </a:extLst>
            </p:cNvPr>
            <p:cNvSpPr/>
            <p:nvPr/>
          </p:nvSpPr>
          <p:spPr>
            <a:xfrm>
              <a:off x="4445211" y="4073085"/>
              <a:ext cx="182635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i="1" dirty="0"/>
                <a:t>C</a:t>
              </a:r>
              <a:r>
                <a:rPr lang="en-US" sz="1300" dirty="0">
                  <a:solidFill>
                    <a:schemeClr val="dk1"/>
                  </a:solidFill>
                </a:rPr>
                <a:t>1</a:t>
              </a:r>
              <a:r>
                <a:rPr lang="en-US" dirty="0">
                  <a:solidFill>
                    <a:schemeClr val="dk1"/>
                  </a:solidFill>
                </a:rPr>
                <a:t>  </a:t>
              </a:r>
              <a:r>
                <a:rPr lang="en-US" sz="2400" dirty="0">
                  <a:solidFill>
                    <a:schemeClr val="dk1"/>
                  </a:solidFill>
                </a:rPr>
                <a:t>= </a:t>
              </a:r>
              <a:r>
                <a:rPr lang="en-US" sz="2400" i="1" dirty="0"/>
                <a:t>K</a:t>
              </a:r>
              <a:r>
                <a:rPr lang="en-US" sz="2400" dirty="0"/>
                <a:t> ⊕ </a:t>
              </a:r>
              <a:r>
                <a:rPr lang="en-US" sz="2400" i="1" dirty="0"/>
                <a:t>M</a:t>
              </a:r>
              <a:r>
                <a:rPr lang="en-US" sz="1300" dirty="0">
                  <a:solidFill>
                    <a:schemeClr val="dk1"/>
                  </a:solidFill>
                </a:rPr>
                <a:t>1</a:t>
              </a:r>
              <a:endParaRPr lang="en-US" sz="1300" i="1" dirty="0"/>
            </a:p>
          </p:txBody>
        </p:sp>
        <p:cxnSp>
          <p:nvCxnSpPr>
            <p:cNvPr id="19" name="Google Shape;254;p31">
              <a:extLst>
                <a:ext uri="{FF2B5EF4-FFF2-40B4-BE49-F238E27FC236}">
                  <a16:creationId xmlns:a16="http://schemas.microsoft.com/office/drawing/2014/main" id="{9CC93C93-905A-7D0B-98EA-BAC9E9DD2F35}"/>
                </a:ext>
              </a:extLst>
            </p:cNvPr>
            <p:cNvCxnSpPr>
              <a:cxnSpLocks/>
              <a:stCxn id="15" idx="3"/>
              <a:endCxn id="18" idx="1"/>
            </p:cNvCxnSpPr>
            <p:nvPr/>
          </p:nvCxnSpPr>
          <p:spPr>
            <a:xfrm>
              <a:off x="3818711" y="4308135"/>
              <a:ext cx="626501" cy="0"/>
            </a:xfrm>
            <a:prstGeom prst="straightConnector1">
              <a:avLst/>
            </a:prstGeom>
            <a:noFill/>
            <a:ln w="9525" cap="flat" cmpd="sng">
              <a:solidFill>
                <a:schemeClr val="dk2"/>
              </a:solidFill>
              <a:prstDash val="solid"/>
              <a:round/>
              <a:headEnd type="none" w="med" len="med"/>
              <a:tailEnd type="triangle" w="med" len="med"/>
            </a:ln>
          </p:spPr>
        </p:cxnSp>
      </p:grpSp>
      <p:sp>
        <p:nvSpPr>
          <p:cNvPr id="20" name="Google Shape;255;p31">
            <a:extLst>
              <a:ext uri="{FF2B5EF4-FFF2-40B4-BE49-F238E27FC236}">
                <a16:creationId xmlns:a16="http://schemas.microsoft.com/office/drawing/2014/main" id="{77D01C50-C402-1E81-6364-8D485B5EF015}"/>
              </a:ext>
            </a:extLst>
          </p:cNvPr>
          <p:cNvSpPr txBox="1"/>
          <p:nvPr/>
        </p:nvSpPr>
        <p:spPr>
          <a:xfrm>
            <a:off x="798261" y="5020393"/>
            <a:ext cx="7010400" cy="46170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t>What if Alice use the same key </a:t>
            </a:r>
            <a:r>
              <a:rPr lang="en" sz="1800" i="1" dirty="0"/>
              <a:t>K</a:t>
            </a:r>
            <a:r>
              <a:rPr lang="en" sz="1800" dirty="0"/>
              <a:t> to encrypt </a:t>
            </a:r>
            <a:r>
              <a:rPr lang="en" sz="1800" dirty="0">
                <a:solidFill>
                  <a:srgbClr val="C00000"/>
                </a:solidFill>
              </a:rPr>
              <a:t>two different messages</a:t>
            </a:r>
            <a:r>
              <a:rPr lang="en" sz="1800" dirty="0"/>
              <a:t>?</a:t>
            </a:r>
            <a:endParaRPr sz="1800" dirty="0"/>
          </a:p>
        </p:txBody>
      </p:sp>
      <p:sp>
        <p:nvSpPr>
          <p:cNvPr id="21" name="Google Shape;256;p31">
            <a:extLst>
              <a:ext uri="{FF2B5EF4-FFF2-40B4-BE49-F238E27FC236}">
                <a16:creationId xmlns:a16="http://schemas.microsoft.com/office/drawing/2014/main" id="{C9A56058-1EB5-E814-0691-1CCC802E1221}"/>
              </a:ext>
            </a:extLst>
          </p:cNvPr>
          <p:cNvSpPr txBox="1"/>
          <p:nvPr/>
        </p:nvSpPr>
        <p:spPr>
          <a:xfrm>
            <a:off x="8779289" y="3045280"/>
            <a:ext cx="2848831" cy="738633"/>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t>Eve sees two ciphertexts over the insecure channel</a:t>
            </a:r>
            <a:endParaRPr sz="1800" dirty="0"/>
          </a:p>
        </p:txBody>
      </p:sp>
      <p:sp>
        <p:nvSpPr>
          <p:cNvPr id="23" name="Google Shape;255;p31">
            <a:extLst>
              <a:ext uri="{FF2B5EF4-FFF2-40B4-BE49-F238E27FC236}">
                <a16:creationId xmlns:a16="http://schemas.microsoft.com/office/drawing/2014/main" id="{68ED9DA3-EB3C-1648-0A88-FE1CDBBB7515}"/>
              </a:ext>
            </a:extLst>
          </p:cNvPr>
          <p:cNvSpPr txBox="1"/>
          <p:nvPr/>
        </p:nvSpPr>
        <p:spPr>
          <a:xfrm>
            <a:off x="798261" y="5915592"/>
            <a:ext cx="7010400" cy="461700"/>
          </a:xfrm>
          <a:prstGeom prst="rect">
            <a:avLst/>
          </a:prstGeom>
          <a:solidFill>
            <a:srgbClr val="FFAB40"/>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t>What if Alice use the same key </a:t>
            </a:r>
            <a:r>
              <a:rPr lang="en" sz="1800" i="1" dirty="0"/>
              <a:t>K</a:t>
            </a:r>
            <a:r>
              <a:rPr lang="en" sz="1800" dirty="0"/>
              <a:t> to encrypt </a:t>
            </a:r>
            <a:r>
              <a:rPr lang="en" sz="1800" dirty="0">
                <a:solidFill>
                  <a:srgbClr val="C00000"/>
                </a:solidFill>
              </a:rPr>
              <a:t>the same messages</a:t>
            </a:r>
            <a:r>
              <a:rPr lang="en" sz="1800" dirty="0"/>
              <a:t>?</a:t>
            </a:r>
            <a:endParaRPr sz="1800" dirty="0"/>
          </a:p>
        </p:txBody>
      </p:sp>
      <p:sp>
        <p:nvSpPr>
          <p:cNvPr id="24" name="Google Shape;253;p31">
            <a:extLst>
              <a:ext uri="{FF2B5EF4-FFF2-40B4-BE49-F238E27FC236}">
                <a16:creationId xmlns:a16="http://schemas.microsoft.com/office/drawing/2014/main" id="{B4E46DB9-F171-0DED-025A-77C73BBF993A}"/>
              </a:ext>
            </a:extLst>
          </p:cNvPr>
          <p:cNvSpPr/>
          <p:nvPr/>
        </p:nvSpPr>
        <p:spPr>
          <a:xfrm>
            <a:off x="9583381" y="4174498"/>
            <a:ext cx="1240645" cy="50978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i="1" dirty="0">
                <a:solidFill>
                  <a:schemeClr val="dk1"/>
                </a:solidFill>
              </a:rPr>
              <a:t>C</a:t>
            </a:r>
            <a:r>
              <a:rPr lang="en" sz="1300" dirty="0">
                <a:solidFill>
                  <a:schemeClr val="dk1"/>
                </a:solidFill>
              </a:rPr>
              <a:t>0</a:t>
            </a:r>
            <a:r>
              <a:rPr lang="en" sz="1800" dirty="0">
                <a:solidFill>
                  <a:schemeClr val="dk1"/>
                </a:solidFill>
              </a:rPr>
              <a:t> ⊕ </a:t>
            </a:r>
            <a:r>
              <a:rPr lang="en" i="1" dirty="0">
                <a:solidFill>
                  <a:schemeClr val="dk1"/>
                </a:solidFill>
              </a:rPr>
              <a:t>C</a:t>
            </a:r>
            <a:r>
              <a:rPr lang="en" sz="1300" dirty="0">
                <a:solidFill>
                  <a:schemeClr val="dk1"/>
                </a:solidFill>
              </a:rPr>
              <a:t>1</a:t>
            </a:r>
            <a:endParaRPr sz="1800" dirty="0"/>
          </a:p>
        </p:txBody>
      </p:sp>
    </p:spTree>
    <p:extLst>
      <p:ext uri="{BB962C8B-B14F-4D97-AF65-F5344CB8AC3E}">
        <p14:creationId xmlns:p14="http://schemas.microsoft.com/office/powerpoint/2010/main" val="2708886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8513C10E-36FA-1ADC-99C7-F3C09E3E1323}"/>
              </a:ext>
            </a:extLst>
          </p:cNvPr>
          <p:cNvSpPr txBox="1">
            <a:spLocks/>
          </p:cNvSpPr>
          <p:nvPr/>
        </p:nvSpPr>
        <p:spPr>
          <a:xfrm>
            <a:off x="798261" y="417574"/>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Impracticality of One-Time Pads</a:t>
            </a:r>
          </a:p>
        </p:txBody>
      </p:sp>
      <p:sp>
        <p:nvSpPr>
          <p:cNvPr id="3" name="TextBox 2">
            <a:extLst>
              <a:ext uri="{FF2B5EF4-FFF2-40B4-BE49-F238E27FC236}">
                <a16:creationId xmlns:a16="http://schemas.microsoft.com/office/drawing/2014/main" id="{C61BB7F5-81AA-FE3A-1958-AA456541E67B}"/>
              </a:ext>
            </a:extLst>
          </p:cNvPr>
          <p:cNvSpPr txBox="1"/>
          <p:nvPr/>
        </p:nvSpPr>
        <p:spPr>
          <a:xfrm>
            <a:off x="753460" y="1299246"/>
            <a:ext cx="10685079" cy="4247317"/>
          </a:xfrm>
          <a:prstGeom prst="rect">
            <a:avLst/>
          </a:prstGeom>
          <a:noFill/>
        </p:spPr>
        <p:txBody>
          <a:bodyPr wrap="square">
            <a:spAutoFit/>
          </a:bodyPr>
          <a:lstStyle/>
          <a:p>
            <a:pPr>
              <a:spcBef>
                <a:spcPts val="600"/>
              </a:spcBef>
              <a:spcAft>
                <a:spcPts val="600"/>
              </a:spcAft>
            </a:pPr>
            <a:r>
              <a:rPr lang="en-US" sz="2000" dirty="0"/>
              <a:t>Problem 1: Key generation</a:t>
            </a:r>
          </a:p>
          <a:p>
            <a:pPr marL="342900" indent="-342900">
              <a:spcBef>
                <a:spcPts val="600"/>
              </a:spcBef>
              <a:spcAft>
                <a:spcPts val="600"/>
              </a:spcAft>
              <a:buFont typeface="Arial" panose="020B0604020202020204" pitchFamily="34" charset="0"/>
              <a:buChar char="•"/>
            </a:pPr>
            <a:r>
              <a:rPr lang="en-US" sz="2000" dirty="0"/>
              <a:t>Keys must be </a:t>
            </a:r>
            <a:r>
              <a:rPr lang="en-US" sz="2000" dirty="0">
                <a:solidFill>
                  <a:srgbClr val="C00000"/>
                </a:solidFill>
              </a:rPr>
              <a:t>randomly generated </a:t>
            </a:r>
            <a:r>
              <a:rPr lang="en-US" sz="2000" dirty="0"/>
              <a:t>for every message, and </a:t>
            </a:r>
            <a:r>
              <a:rPr lang="en-US" sz="2000" dirty="0">
                <a:solidFill>
                  <a:srgbClr val="C00000"/>
                </a:solidFill>
              </a:rPr>
              <a:t>never reused</a:t>
            </a:r>
          </a:p>
          <a:p>
            <a:pPr marL="342900" indent="-342900">
              <a:spcBef>
                <a:spcPts val="600"/>
              </a:spcBef>
              <a:spcAft>
                <a:spcPts val="600"/>
              </a:spcAft>
              <a:buFont typeface="Arial" panose="020B0604020202020204" pitchFamily="34" charset="0"/>
              <a:buChar char="•"/>
            </a:pPr>
            <a:r>
              <a:rPr lang="en-US" sz="2000" dirty="0"/>
              <a:t>Randomness is expensive</a:t>
            </a:r>
          </a:p>
          <a:p>
            <a:pPr>
              <a:spcBef>
                <a:spcPts val="600"/>
              </a:spcBef>
              <a:spcAft>
                <a:spcPts val="600"/>
              </a:spcAft>
            </a:pPr>
            <a:r>
              <a:rPr lang="en-US" sz="2000" dirty="0"/>
              <a:t>Problem 2: Key distribution</a:t>
            </a:r>
          </a:p>
          <a:p>
            <a:pPr marL="342900" indent="-342900">
              <a:spcBef>
                <a:spcPts val="600"/>
              </a:spcBef>
              <a:spcAft>
                <a:spcPts val="600"/>
              </a:spcAft>
              <a:buFont typeface="Arial" panose="020B0604020202020204" pitchFamily="34" charset="0"/>
              <a:buChar char="•"/>
            </a:pPr>
            <a:r>
              <a:rPr lang="en-US" sz="2000" dirty="0"/>
              <a:t>To communicate an n-bit message, we need to securely communicate an n-bit key first</a:t>
            </a:r>
          </a:p>
          <a:p>
            <a:pPr marL="342900" indent="-342900">
              <a:spcBef>
                <a:spcPts val="600"/>
              </a:spcBef>
              <a:spcAft>
                <a:spcPts val="600"/>
              </a:spcAft>
              <a:buFont typeface="Arial" panose="020B0604020202020204" pitchFamily="34" charset="0"/>
              <a:buChar char="•"/>
            </a:pPr>
            <a:r>
              <a:rPr lang="en-US" sz="2000" dirty="0"/>
              <a:t>But if we have a way to securely communicate an n-bit key, we could have communicated the message directly!</a:t>
            </a:r>
          </a:p>
          <a:p>
            <a:pPr>
              <a:spcBef>
                <a:spcPts val="600"/>
              </a:spcBef>
              <a:spcAft>
                <a:spcPts val="600"/>
              </a:spcAft>
            </a:pPr>
            <a:r>
              <a:rPr lang="en-US" sz="2000" dirty="0">
                <a:solidFill>
                  <a:srgbClr val="C00000"/>
                </a:solidFill>
              </a:rPr>
              <a:t>Communicate keys in advance:</a:t>
            </a:r>
          </a:p>
          <a:p>
            <a:pPr marL="342900" indent="-342900">
              <a:spcBef>
                <a:spcPts val="600"/>
              </a:spcBef>
              <a:spcAft>
                <a:spcPts val="600"/>
              </a:spcAft>
              <a:buFont typeface="Arial" panose="020B0604020202020204" pitchFamily="34" charset="0"/>
              <a:buChar char="•"/>
            </a:pPr>
            <a:r>
              <a:rPr lang="en-US" sz="2000" dirty="0"/>
              <a:t>How to establish a shared secret key over an insecure channel? </a:t>
            </a:r>
            <a:r>
              <a:rPr lang="en-US" sz="2000" dirty="0">
                <a:sym typeface="Wingdings" panose="05000000000000000000" pitchFamily="2" charset="2"/>
              </a:rPr>
              <a:t> </a:t>
            </a:r>
            <a:r>
              <a:rPr lang="en-US" sz="2000" dirty="0">
                <a:sym typeface="Wingdings" panose="05000000000000000000" pitchFamily="2" charset="2"/>
                <a:hlinkClick r:id="rId2"/>
              </a:rPr>
              <a:t>Diffie-Hellman key exchange</a:t>
            </a:r>
            <a:r>
              <a:rPr lang="en-US" sz="2000" dirty="0">
                <a:sym typeface="Wingdings" panose="05000000000000000000" pitchFamily="2" charset="2"/>
              </a:rPr>
              <a:t> (next time)</a:t>
            </a:r>
            <a:endParaRPr lang="en-US" sz="2000" dirty="0"/>
          </a:p>
        </p:txBody>
      </p:sp>
    </p:spTree>
    <p:extLst>
      <p:ext uri="{BB962C8B-B14F-4D97-AF65-F5344CB8AC3E}">
        <p14:creationId xmlns:p14="http://schemas.microsoft.com/office/powerpoint/2010/main" val="1914772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6D557-50FD-49DA-D023-5B78555AF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C2509-0FF7-96CE-611A-572FB734787C}"/>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7F1EF234-4DD3-328D-1438-A99755A9AB83}"/>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One-Time Pads</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Stream Cipher</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Block Cipher</a:t>
            </a:r>
          </a:p>
        </p:txBody>
      </p:sp>
    </p:spTree>
    <p:extLst>
      <p:ext uri="{BB962C8B-B14F-4D97-AF65-F5344CB8AC3E}">
        <p14:creationId xmlns:p14="http://schemas.microsoft.com/office/powerpoint/2010/main" val="2440303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8067B-555B-26DB-DDBB-6595B7C9B16C}"/>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9749CDEE-3031-4856-54E1-141B0D0004F7}"/>
              </a:ext>
            </a:extLst>
          </p:cNvPr>
          <p:cNvSpPr txBox="1">
            <a:spLocks/>
          </p:cNvSpPr>
          <p:nvPr/>
        </p:nvSpPr>
        <p:spPr>
          <a:xfrm>
            <a:off x="798261" y="155705"/>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Pseudorandomness and PRGs</a:t>
            </a:r>
          </a:p>
        </p:txBody>
      </p:sp>
      <p:sp>
        <p:nvSpPr>
          <p:cNvPr id="3" name="TextBox 2">
            <a:extLst>
              <a:ext uri="{FF2B5EF4-FFF2-40B4-BE49-F238E27FC236}">
                <a16:creationId xmlns:a16="http://schemas.microsoft.com/office/drawing/2014/main" id="{7DD8834E-56FF-00CD-F5B4-4841CBE501A0}"/>
              </a:ext>
            </a:extLst>
          </p:cNvPr>
          <p:cNvSpPr txBox="1"/>
          <p:nvPr/>
        </p:nvSpPr>
        <p:spPr>
          <a:xfrm>
            <a:off x="798261" y="1032151"/>
            <a:ext cx="10685079" cy="3477875"/>
          </a:xfrm>
          <a:prstGeom prst="rect">
            <a:avLst/>
          </a:prstGeom>
          <a:noFill/>
        </p:spPr>
        <p:txBody>
          <a:bodyPr wrap="square">
            <a:spAutoFit/>
          </a:bodyPr>
          <a:lstStyle/>
          <a:p>
            <a:pPr>
              <a:spcBef>
                <a:spcPts val="600"/>
              </a:spcBef>
              <a:spcAft>
                <a:spcPts val="600"/>
              </a:spcAft>
            </a:pPr>
            <a:r>
              <a:rPr lang="en-US" sz="2000" dirty="0"/>
              <a:t>What does “pseudorandom” mean?</a:t>
            </a:r>
          </a:p>
          <a:p>
            <a:pPr marL="342900" indent="-342900">
              <a:spcBef>
                <a:spcPts val="600"/>
              </a:spcBef>
              <a:spcAft>
                <a:spcPts val="600"/>
              </a:spcAft>
              <a:buFont typeface="Arial" panose="020B0604020202020204" pitchFamily="34" charset="0"/>
              <a:buChar char="•"/>
            </a:pPr>
            <a:r>
              <a:rPr lang="en-US" sz="2000" dirty="0"/>
              <a:t>Informal: cannot be distinguished from uniform (i.e., random)</a:t>
            </a:r>
          </a:p>
          <a:p>
            <a:pPr marL="342900" indent="-342900">
              <a:spcBef>
                <a:spcPts val="600"/>
              </a:spcBef>
              <a:spcAft>
                <a:spcPts val="600"/>
              </a:spcAft>
              <a:buFont typeface="Arial" panose="020B0604020202020204" pitchFamily="34" charset="0"/>
              <a:buChar char="•"/>
            </a:pPr>
            <a:r>
              <a:rPr lang="en-US" sz="2000" dirty="0"/>
              <a:t>Informal: </a:t>
            </a:r>
          </a:p>
          <a:p>
            <a:pPr marL="800100" lvl="1" indent="-342900">
              <a:spcBef>
                <a:spcPts val="600"/>
              </a:spcBef>
              <a:spcAft>
                <a:spcPts val="600"/>
              </a:spcAft>
              <a:buFont typeface="Arial" panose="020B0604020202020204" pitchFamily="34" charset="0"/>
              <a:buChar char="•"/>
            </a:pPr>
            <a:r>
              <a:rPr lang="en-US" sz="2000" dirty="0"/>
              <a:t>Fix some distribution D on n-bit strings: x </a:t>
            </a:r>
            <a:r>
              <a:rPr lang="en-US" sz="2000" dirty="0">
                <a:sym typeface="Symbol"/>
              </a:rPr>
              <a:t></a:t>
            </a:r>
            <a:r>
              <a:rPr lang="en-US" sz="2000" dirty="0"/>
              <a:t> D means “sample x according to D”</a:t>
            </a:r>
          </a:p>
          <a:p>
            <a:pPr marL="800100" lvl="1" indent="-342900">
              <a:spcBef>
                <a:spcPts val="600"/>
              </a:spcBef>
              <a:spcAft>
                <a:spcPts val="600"/>
              </a:spcAft>
              <a:buFont typeface="Arial" panose="020B0604020202020204" pitchFamily="34" charset="0"/>
              <a:buChar char="•"/>
            </a:pPr>
            <a:r>
              <a:rPr lang="en-US" sz="2000" dirty="0"/>
              <a:t>D is pseudorandom if it passes </a:t>
            </a:r>
            <a:r>
              <a:rPr lang="en-US" sz="2000" dirty="0">
                <a:solidFill>
                  <a:srgbClr val="C00000"/>
                </a:solidFill>
              </a:rPr>
              <a:t>all</a:t>
            </a:r>
            <a:r>
              <a:rPr lang="en-US" sz="2000" dirty="0"/>
              <a:t> efficient statistical tests</a:t>
            </a:r>
          </a:p>
          <a:p>
            <a:pPr>
              <a:spcBef>
                <a:spcPts val="600"/>
              </a:spcBef>
              <a:spcAft>
                <a:spcPts val="600"/>
              </a:spcAft>
            </a:pPr>
            <a:r>
              <a:rPr lang="en-US" sz="2000" dirty="0"/>
              <a:t>Pseudorandom generators (PRGs)</a:t>
            </a:r>
          </a:p>
          <a:p>
            <a:pPr marL="342900" indent="-342900">
              <a:spcBef>
                <a:spcPts val="600"/>
              </a:spcBef>
              <a:spcAft>
                <a:spcPts val="600"/>
              </a:spcAft>
              <a:buFont typeface="Arial" panose="020B0604020202020204" pitchFamily="34" charset="0"/>
              <a:buChar char="•"/>
            </a:pPr>
            <a:r>
              <a:rPr lang="en-US" sz="2000" dirty="0"/>
              <a:t>A PRG is an efficient, </a:t>
            </a:r>
            <a:r>
              <a:rPr lang="en-US" sz="2000" dirty="0">
                <a:solidFill>
                  <a:srgbClr val="C00000"/>
                </a:solidFill>
              </a:rPr>
              <a:t>deterministic</a:t>
            </a:r>
            <a:r>
              <a:rPr lang="en-US" sz="2000" dirty="0"/>
              <a:t> algorithm that expands a short, </a:t>
            </a:r>
            <a:r>
              <a:rPr lang="en-US" sz="2000" i="1" dirty="0"/>
              <a:t>uniform (random)</a:t>
            </a:r>
            <a:r>
              <a:rPr lang="en-US" sz="2000" dirty="0"/>
              <a:t> seed into a longer, pseudorandom output</a:t>
            </a:r>
          </a:p>
        </p:txBody>
      </p:sp>
      <p:sp>
        <p:nvSpPr>
          <p:cNvPr id="4" name="Rectangle 3">
            <a:extLst>
              <a:ext uri="{FF2B5EF4-FFF2-40B4-BE49-F238E27FC236}">
                <a16:creationId xmlns:a16="http://schemas.microsoft.com/office/drawing/2014/main" id="{EFF84FAA-70F6-495A-F73F-A1D17ACE2BD1}"/>
              </a:ext>
            </a:extLst>
          </p:cNvPr>
          <p:cNvSpPr/>
          <p:nvPr/>
        </p:nvSpPr>
        <p:spPr>
          <a:xfrm>
            <a:off x="7170420" y="4205226"/>
            <a:ext cx="1752600" cy="609600"/>
          </a:xfrm>
          <a:prstGeom prst="rect">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400" i="1" dirty="0"/>
              <a:t>seed</a:t>
            </a:r>
            <a:endParaRPr lang="en-US" i="1" dirty="0"/>
          </a:p>
        </p:txBody>
      </p:sp>
      <p:cxnSp>
        <p:nvCxnSpPr>
          <p:cNvPr id="5" name="Straight Arrow Connector 4">
            <a:extLst>
              <a:ext uri="{FF2B5EF4-FFF2-40B4-BE49-F238E27FC236}">
                <a16:creationId xmlns:a16="http://schemas.microsoft.com/office/drawing/2014/main" id="{85103B39-C12E-9E0F-68BB-8863AA90F3B7}"/>
              </a:ext>
            </a:extLst>
          </p:cNvPr>
          <p:cNvCxnSpPr/>
          <p:nvPr/>
        </p:nvCxnSpPr>
        <p:spPr>
          <a:xfrm>
            <a:off x="8046720" y="4814826"/>
            <a:ext cx="0" cy="4064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E620E986-5AB7-2AFA-D4EA-E9414686D1E6}"/>
              </a:ext>
            </a:extLst>
          </p:cNvPr>
          <p:cNvSpPr/>
          <p:nvPr/>
        </p:nvSpPr>
        <p:spPr>
          <a:xfrm>
            <a:off x="7741920" y="5221226"/>
            <a:ext cx="571500" cy="508000"/>
          </a:xfrm>
          <a:prstGeom prst="rect">
            <a:avLst/>
          </a:prstGeom>
          <a:solidFill>
            <a:schemeClr val="accent1">
              <a:lumMod val="40000"/>
              <a:lumOff val="60000"/>
            </a:schemeClr>
          </a:solidFill>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400" dirty="0"/>
              <a:t>G</a:t>
            </a:r>
          </a:p>
        </p:txBody>
      </p:sp>
      <p:cxnSp>
        <p:nvCxnSpPr>
          <p:cNvPr id="7" name="Straight Arrow Connector 6">
            <a:extLst>
              <a:ext uri="{FF2B5EF4-FFF2-40B4-BE49-F238E27FC236}">
                <a16:creationId xmlns:a16="http://schemas.microsoft.com/office/drawing/2014/main" id="{FFB80E5D-9C4D-D27F-DCEC-B1B45435E041}"/>
              </a:ext>
            </a:extLst>
          </p:cNvPr>
          <p:cNvCxnSpPr/>
          <p:nvPr/>
        </p:nvCxnSpPr>
        <p:spPr>
          <a:xfrm>
            <a:off x="8046720" y="5729226"/>
            <a:ext cx="0" cy="4064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8847CEC-53F2-4D72-D411-5556C26C2038}"/>
              </a:ext>
            </a:extLst>
          </p:cNvPr>
          <p:cNvSpPr/>
          <p:nvPr/>
        </p:nvSpPr>
        <p:spPr>
          <a:xfrm>
            <a:off x="4312920" y="6135626"/>
            <a:ext cx="7391400" cy="609600"/>
          </a:xfrm>
          <a:prstGeom prst="rect">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400" i="1" dirty="0"/>
              <a:t>output</a:t>
            </a:r>
            <a:endParaRPr lang="en-US" i="1" dirty="0"/>
          </a:p>
        </p:txBody>
      </p:sp>
    </p:spTree>
    <p:extLst>
      <p:ext uri="{BB962C8B-B14F-4D97-AF65-F5344CB8AC3E}">
        <p14:creationId xmlns:p14="http://schemas.microsoft.com/office/powerpoint/2010/main" val="388236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1D4D2-9D7D-CCA3-3954-71027D07E0FF}"/>
              </a:ext>
            </a:extLst>
          </p:cNvPr>
          <p:cNvSpPr>
            <a:spLocks noGrp="1"/>
          </p:cNvSpPr>
          <p:nvPr>
            <p:ph type="title"/>
          </p:nvPr>
        </p:nvSpPr>
        <p:spPr>
          <a:xfrm>
            <a:off x="838200" y="167006"/>
            <a:ext cx="10515600" cy="847448"/>
          </a:xfrm>
        </p:spPr>
        <p:txBody>
          <a:bodyPr/>
          <a:lstStyle/>
          <a:p>
            <a:r>
              <a:rPr lang="en-US" dirty="0"/>
              <a:t>Pseudorandom Generators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F3D6CF-B096-F82F-0C0D-48DCC9BDF8D8}"/>
                  </a:ext>
                </a:extLst>
              </p:cNvPr>
              <p:cNvSpPr>
                <a:spLocks noGrp="1"/>
              </p:cNvSpPr>
              <p:nvPr>
                <p:ph idx="1"/>
              </p:nvPr>
            </p:nvSpPr>
            <p:spPr>
              <a:xfrm>
                <a:off x="347869" y="1204953"/>
                <a:ext cx="11496261" cy="5287617"/>
              </a:xfrm>
            </p:spPr>
            <p:txBody>
              <a:bodyPr>
                <a:normAutofit fontScale="85000" lnSpcReduction="20000"/>
              </a:bodyPr>
              <a:lstStyle/>
              <a:p>
                <a:pPr marL="0" indent="0">
                  <a:spcAft>
                    <a:spcPts val="600"/>
                  </a:spcAft>
                  <a:buNone/>
                </a:pPr>
                <a:r>
                  <a:rPr lang="en-US" dirty="0"/>
                  <a:t>Functionality</a:t>
                </a:r>
              </a:p>
              <a:p>
                <a:pPr>
                  <a:spcAft>
                    <a:spcPts val="600"/>
                  </a:spcAft>
                </a:pPr>
                <a:r>
                  <a:rPr lang="en-US" dirty="0"/>
                  <a:t>Deterministic algorithm G </a:t>
                </a:r>
                <a:r>
                  <a:rPr lang="en-US" dirty="0">
                    <a:sym typeface="Wingdings" panose="05000000000000000000" pitchFamily="2" charset="2"/>
                  </a:rPr>
                  <a:t> Same input results in the same output</a:t>
                </a:r>
                <a:endParaRPr lang="en-US" dirty="0"/>
              </a:p>
              <a:p>
                <a:pPr>
                  <a:spcAft>
                    <a:spcPts val="600"/>
                  </a:spcAft>
                </a:pPr>
                <a:r>
                  <a:rPr lang="en-US" dirty="0"/>
                  <a:t>Takes as input a </a:t>
                </a:r>
                <a:r>
                  <a:rPr lang="en-US" i="1" dirty="0">
                    <a:solidFill>
                      <a:srgbClr val="C00000"/>
                    </a:solidFill>
                  </a:rPr>
                  <a:t>short</a:t>
                </a:r>
                <a:r>
                  <a:rPr lang="en-US" dirty="0"/>
                  <a:t> </a:t>
                </a:r>
                <a:r>
                  <a:rPr lang="en-US" i="1" dirty="0">
                    <a:solidFill>
                      <a:srgbClr val="C00000"/>
                    </a:solidFill>
                  </a:rPr>
                  <a:t>random seed </a:t>
                </a:r>
                <a:r>
                  <a:rPr lang="en-US" b="1" i="1" dirty="0">
                    <a:solidFill>
                      <a:srgbClr val="C00000"/>
                    </a:solidFill>
                  </a:rPr>
                  <a:t>s</a:t>
                </a:r>
              </a:p>
              <a:p>
                <a:pPr>
                  <a:spcAft>
                    <a:spcPts val="600"/>
                  </a:spcAft>
                </a:pPr>
                <a:r>
                  <a:rPr lang="en-US" dirty="0"/>
                  <a:t>Outputs a </a:t>
                </a:r>
                <a:r>
                  <a:rPr lang="en-US" i="1" dirty="0">
                    <a:solidFill>
                      <a:srgbClr val="C00000"/>
                    </a:solidFill>
                  </a:rPr>
                  <a:t>long</a:t>
                </a:r>
                <a:r>
                  <a:rPr lang="en-US" dirty="0"/>
                  <a:t> string </a:t>
                </a:r>
                <a:r>
                  <a:rPr lang="en-US" i="1" dirty="0"/>
                  <a:t>G(s)</a:t>
                </a:r>
              </a:p>
              <a:p>
                <a:pPr marL="0" indent="0">
                  <a:spcAft>
                    <a:spcPts val="600"/>
                  </a:spcAft>
                  <a:buNone/>
                </a:pPr>
                <a:r>
                  <a:rPr lang="en-US" dirty="0"/>
                  <a:t>Security</a:t>
                </a:r>
              </a:p>
              <a:p>
                <a:pPr>
                  <a:spcAft>
                    <a:spcPts val="600"/>
                  </a:spcAft>
                </a:pPr>
                <a:r>
                  <a:rPr lang="en-US" dirty="0"/>
                  <a:t>PRG output must be unpredictable</a:t>
                </a:r>
              </a:p>
              <a:p>
                <a:pPr lvl="1">
                  <a:spcAft>
                    <a:spcPts val="600"/>
                  </a:spcAft>
                </a:pPr>
                <a:r>
                  <a:rPr lang="en-US" dirty="0"/>
                  <a:t>no “eff” adversary can predict bit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DengXian" panose="02010600030101010101" pitchFamily="2" charset="-122"/>
                            <a:cs typeface="Times New Roman" panose="02020603050405020304" pitchFamily="18" charset="0"/>
                          </a:rPr>
                          <m:t>𝐺</m:t>
                        </m:r>
                        <m:d>
                          <m:dPr>
                            <m:ctrlPr>
                              <a:rPr lang="en-US" i="1">
                                <a:latin typeface="Cambria Math" panose="02040503050406030204" pitchFamily="18" charset="0"/>
                              </a:rPr>
                            </m:ctrlPr>
                          </m:dPr>
                          <m:e>
                            <m:r>
                              <a:rPr lang="en-US" i="1">
                                <a:latin typeface="Cambria Math" panose="02040503050406030204" pitchFamily="18" charset="0"/>
                                <a:ea typeface="DengXian" panose="02010600030101010101" pitchFamily="2" charset="-122"/>
                                <a:cs typeface="Cambria Math" panose="02040503050406030204" pitchFamily="18" charset="0"/>
                              </a:rPr>
                              <m:t>𝑠</m:t>
                            </m:r>
                          </m:e>
                        </m:d>
                      </m:e>
                      <m:sub>
                        <m:r>
                          <a:rPr lang="en-US" b="0" i="1" smtClean="0">
                            <a:latin typeface="Cambria Math" panose="02040503050406030204" pitchFamily="18" charset="0"/>
                            <a:ea typeface="DengXian" panose="02010600030101010101" pitchFamily="2" charset="-122"/>
                            <a:cs typeface="Cambria Math" panose="02040503050406030204" pitchFamily="18" charset="0"/>
                          </a:rPr>
                          <m:t>𝑖</m:t>
                        </m:r>
                        <m:r>
                          <a:rPr lang="en-US" b="0" i="1" smtClean="0">
                            <a:latin typeface="Cambria Math" panose="02040503050406030204" pitchFamily="18" charset="0"/>
                            <a:ea typeface="DengXian" panose="02010600030101010101" pitchFamily="2" charset="-122"/>
                            <a:cs typeface="Cambria Math" panose="02040503050406030204" pitchFamily="18" charset="0"/>
                          </a:rPr>
                          <m:t>+1</m:t>
                        </m:r>
                      </m:sub>
                    </m:sSub>
                  </m:oMath>
                </a14:m>
                <a:endParaRPr lang="en-US" dirty="0"/>
              </a:p>
              <a:p>
                <a:pPr>
                  <a:spcAft>
                    <a:spcPts val="600"/>
                  </a:spcAft>
                </a:pPr>
                <a:r>
                  <a:rPr lang="en-US" dirty="0"/>
                  <a:t>No efficient algorithm can “distinguish” </a:t>
                </a:r>
                <a:r>
                  <a:rPr lang="en-US" i="1" dirty="0"/>
                  <a:t>G(s)</a:t>
                </a:r>
                <a:r>
                  <a:rPr lang="en-US" dirty="0"/>
                  <a:t> from a truly random string </a:t>
                </a:r>
                <a:r>
                  <a:rPr lang="en-US" i="1" dirty="0"/>
                  <a:t>r</a:t>
                </a:r>
              </a:p>
              <a:p>
                <a:pPr lvl="1">
                  <a:spcAft>
                    <a:spcPts val="600"/>
                  </a:spcAft>
                </a:pPr>
                <a:r>
                  <a:rPr lang="en-US" dirty="0"/>
                  <a:t>i.e., passes all “statistical tests”</a:t>
                </a:r>
              </a:p>
              <a:p>
                <a:pPr marL="0" indent="0">
                  <a:spcAft>
                    <a:spcPts val="600"/>
                  </a:spcAft>
                  <a:buNone/>
                </a:pPr>
                <a:r>
                  <a:rPr lang="en-US" dirty="0"/>
                  <a:t>Intuition:</a:t>
                </a:r>
              </a:p>
              <a:p>
                <a:pPr lvl="1">
                  <a:spcAft>
                    <a:spcPts val="600"/>
                  </a:spcAft>
                </a:pPr>
                <a:r>
                  <a:rPr lang="en-US" dirty="0"/>
                  <a:t>Stretch a small amount of true randomness to a larger amount of pseudorandomness</a:t>
                </a:r>
              </a:p>
              <a:p>
                <a:pPr lvl="1">
                  <a:spcAft>
                    <a:spcPts val="600"/>
                  </a:spcAft>
                </a:pPr>
                <a:r>
                  <a:rPr lang="en-US" dirty="0"/>
                  <a:t>Why is this useful? </a:t>
                </a:r>
                <a:r>
                  <a:rPr lang="en-US" dirty="0">
                    <a:sym typeface="Wingdings" panose="05000000000000000000" pitchFamily="2" charset="2"/>
                  </a:rPr>
                  <a:t>A practical OTP instantiation?</a:t>
                </a:r>
                <a:endParaRPr lang="en-US" dirty="0"/>
              </a:p>
            </p:txBody>
          </p:sp>
        </mc:Choice>
        <mc:Fallback xmlns="">
          <p:sp>
            <p:nvSpPr>
              <p:cNvPr id="3" name="Content Placeholder 2">
                <a:extLst>
                  <a:ext uri="{FF2B5EF4-FFF2-40B4-BE49-F238E27FC236}">
                    <a16:creationId xmlns:a16="http://schemas.microsoft.com/office/drawing/2014/main" id="{5EF3D6CF-B096-F82F-0C0D-48DCC9BDF8D8}"/>
                  </a:ext>
                </a:extLst>
              </p:cNvPr>
              <p:cNvSpPr>
                <a:spLocks noGrp="1" noRot="1" noChangeAspect="1" noMove="1" noResize="1" noEditPoints="1" noAdjustHandles="1" noChangeArrowheads="1" noChangeShapeType="1" noTextEdit="1"/>
              </p:cNvSpPr>
              <p:nvPr>
                <p:ph idx="1"/>
              </p:nvPr>
            </p:nvSpPr>
            <p:spPr>
              <a:xfrm>
                <a:off x="347869" y="1204953"/>
                <a:ext cx="11496261" cy="5287617"/>
              </a:xfrm>
              <a:blipFill>
                <a:blip r:embed="rId2"/>
                <a:stretch>
                  <a:fillRect l="-795" t="-2537"/>
                </a:stretch>
              </a:blipFill>
            </p:spPr>
            <p:txBody>
              <a:bodyPr/>
              <a:lstStyle/>
              <a:p>
                <a:r>
                  <a:rPr lang="en-US">
                    <a:noFill/>
                  </a:rPr>
                  <a:t> </a:t>
                </a:r>
              </a:p>
            </p:txBody>
          </p:sp>
        </mc:Fallback>
      </mc:AlternateContent>
    </p:spTree>
    <p:extLst>
      <p:ext uri="{BB962C8B-B14F-4D97-AF65-F5344CB8AC3E}">
        <p14:creationId xmlns:p14="http://schemas.microsoft.com/office/powerpoint/2010/main" val="3173088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35462E07-311B-2118-83CF-9432A57FD436}"/>
              </a:ext>
            </a:extLst>
          </p:cNvPr>
          <p:cNvSpPr txBox="1">
            <a:spLocks/>
          </p:cNvSpPr>
          <p:nvPr/>
        </p:nvSpPr>
        <p:spPr>
          <a:xfrm>
            <a:off x="798261" y="155705"/>
            <a:ext cx="11179629" cy="736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mn-lt"/>
              </a:rPr>
              <a:t>PRGs &amp; Stream Ciphers</a:t>
            </a:r>
          </a:p>
        </p:txBody>
      </p:sp>
      <p:sp>
        <p:nvSpPr>
          <p:cNvPr id="3" name="Content Placeholder 2">
            <a:extLst>
              <a:ext uri="{FF2B5EF4-FFF2-40B4-BE49-F238E27FC236}">
                <a16:creationId xmlns:a16="http://schemas.microsoft.com/office/drawing/2014/main" id="{71C3AF18-3C50-B552-BC3E-FDB5D5CC2635}"/>
              </a:ext>
            </a:extLst>
          </p:cNvPr>
          <p:cNvSpPr txBox="1">
            <a:spLocks/>
          </p:cNvSpPr>
          <p:nvPr/>
        </p:nvSpPr>
        <p:spPr>
          <a:xfrm>
            <a:off x="5888736" y="1268201"/>
            <a:ext cx="6248399" cy="325362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Gen(1</a:t>
            </a:r>
            <a:r>
              <a:rPr lang="en-US" baseline="30000" dirty="0"/>
              <a:t>n</a:t>
            </a:r>
            <a:r>
              <a:rPr lang="en-US" dirty="0"/>
              <a:t>): output uniform n-bit key k</a:t>
            </a:r>
          </a:p>
          <a:p>
            <a:pPr lvl="1"/>
            <a:r>
              <a:rPr lang="en-US" sz="2200" dirty="0"/>
              <a:t>Security parameter n </a:t>
            </a:r>
            <a:r>
              <a:rPr lang="en-US" sz="2200" dirty="0">
                <a:sym typeface="Wingdings" panose="05000000000000000000" pitchFamily="2" charset="2"/>
              </a:rPr>
              <a:t></a:t>
            </a:r>
            <a:r>
              <a:rPr lang="en-US" sz="2200" dirty="0">
                <a:sym typeface="Symbol"/>
              </a:rPr>
              <a:t> message space {0,1}</a:t>
            </a:r>
            <a:r>
              <a:rPr lang="en-US" sz="2200" baseline="30000" dirty="0">
                <a:sym typeface="Symbol"/>
              </a:rPr>
              <a:t>p(n)</a:t>
            </a:r>
            <a:endParaRPr lang="en-US" sz="2200" dirty="0"/>
          </a:p>
          <a:p>
            <a:r>
              <a:rPr lang="en-US" dirty="0"/>
              <a:t>Enc</a:t>
            </a:r>
            <a:r>
              <a:rPr lang="en-US" baseline="-25000" dirty="0"/>
              <a:t>k</a:t>
            </a:r>
            <a:r>
              <a:rPr lang="en-US" dirty="0"/>
              <a:t>(m): output G(k) </a:t>
            </a:r>
            <a:r>
              <a:rPr lang="en-US" dirty="0">
                <a:sym typeface="Symbol"/>
              </a:rPr>
              <a:t> m</a:t>
            </a:r>
          </a:p>
          <a:p>
            <a:r>
              <a:rPr lang="en-US" dirty="0">
                <a:sym typeface="Symbol"/>
              </a:rPr>
              <a:t>Dec</a:t>
            </a:r>
            <a:r>
              <a:rPr lang="en-US" baseline="-25000" dirty="0">
                <a:sym typeface="Symbol"/>
              </a:rPr>
              <a:t>k</a:t>
            </a:r>
            <a:r>
              <a:rPr lang="en-US" dirty="0">
                <a:sym typeface="Symbol"/>
              </a:rPr>
              <a:t>(c): output G(k)  c</a:t>
            </a:r>
          </a:p>
          <a:p>
            <a:r>
              <a:rPr lang="en-US" dirty="0">
                <a:sym typeface="Symbol"/>
              </a:rPr>
              <a:t>Correctness follows as in the OTP…</a:t>
            </a:r>
          </a:p>
          <a:p>
            <a:r>
              <a:rPr lang="en-US" altLang="zh-CN" dirty="0"/>
              <a:t>“Pseudo” One-Time Pad</a:t>
            </a:r>
          </a:p>
          <a:p>
            <a:pPr lvl="1"/>
            <a:r>
              <a:rPr lang="en-US" dirty="0">
                <a:solidFill>
                  <a:srgbClr val="C00000"/>
                </a:solidFill>
              </a:rPr>
              <a:t>Key reuse problem?</a:t>
            </a:r>
          </a:p>
        </p:txBody>
      </p:sp>
      <p:grpSp>
        <p:nvGrpSpPr>
          <p:cNvPr id="4" name="Group 3">
            <a:extLst>
              <a:ext uri="{FF2B5EF4-FFF2-40B4-BE49-F238E27FC236}">
                <a16:creationId xmlns:a16="http://schemas.microsoft.com/office/drawing/2014/main" id="{47D37CAC-F430-DF7D-B436-5B1CF5C8E83A}"/>
              </a:ext>
            </a:extLst>
          </p:cNvPr>
          <p:cNvGrpSpPr/>
          <p:nvPr/>
        </p:nvGrpSpPr>
        <p:grpSpPr>
          <a:xfrm>
            <a:off x="297180" y="2068610"/>
            <a:ext cx="7543800" cy="4119265"/>
            <a:chOff x="2540794" y="2505372"/>
            <a:chExt cx="7543800" cy="4119265"/>
          </a:xfrm>
        </p:grpSpPr>
        <p:sp>
          <p:nvSpPr>
            <p:cNvPr id="5" name="Rectangle 5">
              <a:extLst>
                <a:ext uri="{FF2B5EF4-FFF2-40B4-BE49-F238E27FC236}">
                  <a16:creationId xmlns:a16="http://schemas.microsoft.com/office/drawing/2014/main" id="{82D4F500-CAE5-05CE-3B4C-D69C38897C04}"/>
                </a:ext>
              </a:extLst>
            </p:cNvPr>
            <p:cNvSpPr>
              <a:spLocks noChangeArrowheads="1"/>
            </p:cNvSpPr>
            <p:nvPr/>
          </p:nvSpPr>
          <p:spPr bwMode="auto">
            <a:xfrm>
              <a:off x="5207794" y="4496920"/>
              <a:ext cx="2209800"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lgn="ctr"/>
              <a:r>
                <a:rPr lang="en-US" altLang="en-US" dirty="0">
                  <a:latin typeface="+mn-lt"/>
                </a:rPr>
                <a:t>“pseudo” key</a:t>
              </a:r>
            </a:p>
          </p:txBody>
        </p:sp>
        <p:sp>
          <p:nvSpPr>
            <p:cNvPr id="6" name="Line 14">
              <a:extLst>
                <a:ext uri="{FF2B5EF4-FFF2-40B4-BE49-F238E27FC236}">
                  <a16:creationId xmlns:a16="http://schemas.microsoft.com/office/drawing/2014/main" id="{1E223C41-B85C-BB70-83E2-76E5CE59DF67}"/>
                </a:ext>
              </a:extLst>
            </p:cNvPr>
            <p:cNvSpPr>
              <a:spLocks noChangeShapeType="1"/>
            </p:cNvSpPr>
            <p:nvPr/>
          </p:nvSpPr>
          <p:spPr bwMode="auto">
            <a:xfrm>
              <a:off x="4750594" y="6209138"/>
              <a:ext cx="1295400" cy="0"/>
            </a:xfrm>
            <a:prstGeom prst="line">
              <a:avLst/>
            </a:prstGeom>
            <a:noFill/>
            <a:ln w="19050">
              <a:solidFill>
                <a:srgbClr val="000000"/>
              </a:solidFill>
              <a:round/>
              <a:headEnd w="lg" len="me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7" name="Line 18">
              <a:extLst>
                <a:ext uri="{FF2B5EF4-FFF2-40B4-BE49-F238E27FC236}">
                  <a16:creationId xmlns:a16="http://schemas.microsoft.com/office/drawing/2014/main" id="{221C1537-B0B7-65F4-633C-F11C2E11A8CD}"/>
                </a:ext>
              </a:extLst>
            </p:cNvPr>
            <p:cNvSpPr>
              <a:spLocks noChangeShapeType="1"/>
            </p:cNvSpPr>
            <p:nvPr/>
          </p:nvSpPr>
          <p:spPr bwMode="auto">
            <a:xfrm flipV="1">
              <a:off x="6298570" y="4985919"/>
              <a:ext cx="0" cy="990600"/>
            </a:xfrm>
            <a:prstGeom prst="line">
              <a:avLst/>
            </a:prstGeom>
            <a:noFill/>
            <a:ln w="19050">
              <a:solidFill>
                <a:srgbClr val="000000"/>
              </a:solidFill>
              <a:round/>
              <a:headEnd type="triangle" w="lg" len="med"/>
              <a:tailEnd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8" name="Line 19">
              <a:extLst>
                <a:ext uri="{FF2B5EF4-FFF2-40B4-BE49-F238E27FC236}">
                  <a16:creationId xmlns:a16="http://schemas.microsoft.com/office/drawing/2014/main" id="{FE866EAA-DD79-C802-F0EC-D1047D1EAF85}"/>
                </a:ext>
              </a:extLst>
            </p:cNvPr>
            <p:cNvSpPr>
              <a:spLocks noChangeShapeType="1"/>
            </p:cNvSpPr>
            <p:nvPr/>
          </p:nvSpPr>
          <p:spPr bwMode="auto">
            <a:xfrm>
              <a:off x="6503194" y="6209138"/>
              <a:ext cx="1316736" cy="0"/>
            </a:xfrm>
            <a:prstGeom prst="line">
              <a:avLst/>
            </a:prstGeom>
            <a:noFill/>
            <a:ln w="19050">
              <a:solidFill>
                <a:srgbClr val="000000"/>
              </a:solidFill>
              <a:round/>
              <a:headEnd w="lg" len="me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9" name="Text Box 26">
              <a:extLst>
                <a:ext uri="{FF2B5EF4-FFF2-40B4-BE49-F238E27FC236}">
                  <a16:creationId xmlns:a16="http://schemas.microsoft.com/office/drawing/2014/main" id="{4F7C4F5D-DA11-5B66-A291-23D188857C76}"/>
                </a:ext>
              </a:extLst>
            </p:cNvPr>
            <p:cNvSpPr txBox="1">
              <a:spLocks noChangeArrowheads="1"/>
            </p:cNvSpPr>
            <p:nvPr/>
          </p:nvSpPr>
          <p:spPr bwMode="auto">
            <a:xfrm>
              <a:off x="5861043" y="3609854"/>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r>
                <a:rPr lang="en-US" altLang="en-US" dirty="0">
                  <a:latin typeface="+mn-lt"/>
                </a:rPr>
                <a:t>p bits</a:t>
              </a:r>
            </a:p>
          </p:txBody>
        </p:sp>
        <p:sp>
          <p:nvSpPr>
            <p:cNvPr id="10" name="TextBox 9">
              <a:extLst>
                <a:ext uri="{FF2B5EF4-FFF2-40B4-BE49-F238E27FC236}">
                  <a16:creationId xmlns:a16="http://schemas.microsoft.com/office/drawing/2014/main" id="{2E7D8054-E38C-2429-6BE6-9649884C93B8}"/>
                </a:ext>
              </a:extLst>
            </p:cNvPr>
            <p:cNvSpPr txBox="1"/>
            <p:nvPr/>
          </p:nvSpPr>
          <p:spPr>
            <a:xfrm>
              <a:off x="5969794" y="5793640"/>
              <a:ext cx="657552" cy="830997"/>
            </a:xfrm>
            <a:prstGeom prst="rect">
              <a:avLst/>
            </a:prstGeom>
            <a:noFill/>
          </p:spPr>
          <p:txBody>
            <a:bodyPr wrap="none" rtlCol="0">
              <a:spAutoFit/>
            </a:bodyPr>
            <a:lstStyle/>
            <a:p>
              <a:r>
                <a:rPr lang="en-US" sz="4800" dirty="0">
                  <a:sym typeface="Symbol"/>
                </a:rPr>
                <a:t></a:t>
              </a:r>
              <a:endParaRPr lang="en-US" sz="4800" dirty="0"/>
            </a:p>
          </p:txBody>
        </p:sp>
        <p:sp>
          <p:nvSpPr>
            <p:cNvPr id="11" name="Right Brace 10">
              <a:extLst>
                <a:ext uri="{FF2B5EF4-FFF2-40B4-BE49-F238E27FC236}">
                  <a16:creationId xmlns:a16="http://schemas.microsoft.com/office/drawing/2014/main" id="{FB2B3A17-8DAD-CABF-48C4-B61C798027E3}"/>
                </a:ext>
              </a:extLst>
            </p:cNvPr>
            <p:cNvSpPr/>
            <p:nvPr/>
          </p:nvSpPr>
          <p:spPr>
            <a:xfrm rot="16200000">
              <a:off x="6148550" y="3107275"/>
              <a:ext cx="328288" cy="2209800"/>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685C6ABE-D06F-A78F-4A47-C17B39766CF5}"/>
                </a:ext>
              </a:extLst>
            </p:cNvPr>
            <p:cNvSpPr/>
            <p:nvPr/>
          </p:nvSpPr>
          <p:spPr>
            <a:xfrm>
              <a:off x="3052131" y="4431068"/>
              <a:ext cx="617708" cy="593369"/>
            </a:xfrm>
            <a:prstGeom prst="rect">
              <a:avLst/>
            </a:prstGeom>
            <a:solidFill>
              <a:schemeClr val="accent1">
                <a:lumMod val="40000"/>
                <a:lumOff val="60000"/>
              </a:schemeClr>
            </a:solidFill>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400" dirty="0"/>
                <a:t>G</a:t>
              </a:r>
              <a:endParaRPr lang="en-US" dirty="0"/>
            </a:p>
          </p:txBody>
        </p:sp>
        <p:sp>
          <p:nvSpPr>
            <p:cNvPr id="13" name="Rectangle 5">
              <a:extLst>
                <a:ext uri="{FF2B5EF4-FFF2-40B4-BE49-F238E27FC236}">
                  <a16:creationId xmlns:a16="http://schemas.microsoft.com/office/drawing/2014/main" id="{6F853201-4001-802B-6CAA-56A28C063487}"/>
                </a:ext>
              </a:extLst>
            </p:cNvPr>
            <p:cNvSpPr>
              <a:spLocks noChangeArrowheads="1"/>
            </p:cNvSpPr>
            <p:nvPr/>
          </p:nvSpPr>
          <p:spPr bwMode="auto">
            <a:xfrm>
              <a:off x="2845594" y="3343572"/>
              <a:ext cx="1052845"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lgn="ctr"/>
              <a:r>
                <a:rPr lang="en-US" altLang="en-US" dirty="0">
                  <a:latin typeface="+mn-lt"/>
                </a:rPr>
                <a:t>key</a:t>
              </a:r>
            </a:p>
          </p:txBody>
        </p:sp>
        <p:sp>
          <p:nvSpPr>
            <p:cNvPr id="14" name="Text Box 26">
              <a:extLst>
                <a:ext uri="{FF2B5EF4-FFF2-40B4-BE49-F238E27FC236}">
                  <a16:creationId xmlns:a16="http://schemas.microsoft.com/office/drawing/2014/main" id="{54525B93-44C5-45DA-B361-B98A158E78FB}"/>
                </a:ext>
              </a:extLst>
            </p:cNvPr>
            <p:cNvSpPr txBox="1">
              <a:spLocks noChangeArrowheads="1"/>
            </p:cNvSpPr>
            <p:nvPr/>
          </p:nvSpPr>
          <p:spPr bwMode="auto">
            <a:xfrm>
              <a:off x="2925610" y="2505372"/>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r>
                <a:rPr lang="en-US" altLang="en-US" dirty="0">
                  <a:latin typeface="+mn-lt"/>
                </a:rPr>
                <a:t>n bits</a:t>
              </a:r>
            </a:p>
          </p:txBody>
        </p:sp>
        <p:sp>
          <p:nvSpPr>
            <p:cNvPr id="15" name="Rectangle 5">
              <a:extLst>
                <a:ext uri="{FF2B5EF4-FFF2-40B4-BE49-F238E27FC236}">
                  <a16:creationId xmlns:a16="http://schemas.microsoft.com/office/drawing/2014/main" id="{5CCF6344-480A-A332-FD23-882B51D71751}"/>
                </a:ext>
              </a:extLst>
            </p:cNvPr>
            <p:cNvSpPr>
              <a:spLocks noChangeArrowheads="1"/>
            </p:cNvSpPr>
            <p:nvPr/>
          </p:nvSpPr>
          <p:spPr bwMode="auto">
            <a:xfrm>
              <a:off x="7874794" y="5978306"/>
              <a:ext cx="2209800"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lgn="ctr"/>
              <a:r>
                <a:rPr lang="en-US" altLang="en-US" dirty="0">
                  <a:latin typeface="+mn-lt"/>
                </a:rPr>
                <a:t>ciphertext</a:t>
              </a:r>
            </a:p>
          </p:txBody>
        </p:sp>
        <p:sp>
          <p:nvSpPr>
            <p:cNvPr id="16" name="Text Box 26">
              <a:extLst>
                <a:ext uri="{FF2B5EF4-FFF2-40B4-BE49-F238E27FC236}">
                  <a16:creationId xmlns:a16="http://schemas.microsoft.com/office/drawing/2014/main" id="{51A69418-7198-6910-36CA-280648B2DBEE}"/>
                </a:ext>
              </a:extLst>
            </p:cNvPr>
            <p:cNvSpPr txBox="1">
              <a:spLocks noChangeArrowheads="1"/>
            </p:cNvSpPr>
            <p:nvPr/>
          </p:nvSpPr>
          <p:spPr bwMode="auto">
            <a:xfrm>
              <a:off x="8528043" y="5172372"/>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r>
                <a:rPr lang="en-US" altLang="en-US" dirty="0">
                  <a:latin typeface="+mn-lt"/>
                </a:rPr>
                <a:t>p bits</a:t>
              </a:r>
            </a:p>
          </p:txBody>
        </p:sp>
        <p:sp>
          <p:nvSpPr>
            <p:cNvPr id="17" name="Right Brace 16">
              <a:extLst>
                <a:ext uri="{FF2B5EF4-FFF2-40B4-BE49-F238E27FC236}">
                  <a16:creationId xmlns:a16="http://schemas.microsoft.com/office/drawing/2014/main" id="{61CEA903-BC54-344A-B888-9EC523B661A6}"/>
                </a:ext>
              </a:extLst>
            </p:cNvPr>
            <p:cNvSpPr/>
            <p:nvPr/>
          </p:nvSpPr>
          <p:spPr>
            <a:xfrm rot="16200000">
              <a:off x="8815550" y="4669793"/>
              <a:ext cx="328288" cy="2209800"/>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ectangle 5">
              <a:extLst>
                <a:ext uri="{FF2B5EF4-FFF2-40B4-BE49-F238E27FC236}">
                  <a16:creationId xmlns:a16="http://schemas.microsoft.com/office/drawing/2014/main" id="{07C64504-567E-97CC-C3E4-E5C545FC8247}"/>
                </a:ext>
              </a:extLst>
            </p:cNvPr>
            <p:cNvSpPr>
              <a:spLocks noChangeArrowheads="1"/>
            </p:cNvSpPr>
            <p:nvPr/>
          </p:nvSpPr>
          <p:spPr bwMode="auto">
            <a:xfrm>
              <a:off x="2540794" y="5978306"/>
              <a:ext cx="2209800"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lgn="ctr"/>
              <a:r>
                <a:rPr lang="en-US" altLang="en-US" dirty="0">
                  <a:latin typeface="+mn-lt"/>
                </a:rPr>
                <a:t>message</a:t>
              </a:r>
            </a:p>
          </p:txBody>
        </p:sp>
        <p:sp>
          <p:nvSpPr>
            <p:cNvPr id="19" name="Text Box 26">
              <a:extLst>
                <a:ext uri="{FF2B5EF4-FFF2-40B4-BE49-F238E27FC236}">
                  <a16:creationId xmlns:a16="http://schemas.microsoft.com/office/drawing/2014/main" id="{15365980-6467-8A90-C1C1-DE6E7186D7DF}"/>
                </a:ext>
              </a:extLst>
            </p:cNvPr>
            <p:cNvSpPr txBox="1">
              <a:spLocks noChangeArrowheads="1"/>
            </p:cNvSpPr>
            <p:nvPr/>
          </p:nvSpPr>
          <p:spPr bwMode="auto">
            <a:xfrm>
              <a:off x="3194043" y="5172372"/>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r>
                <a:rPr lang="en-US" altLang="en-US" dirty="0">
                  <a:latin typeface="+mn-lt"/>
                </a:rPr>
                <a:t>p bits</a:t>
              </a:r>
            </a:p>
          </p:txBody>
        </p:sp>
        <p:sp>
          <p:nvSpPr>
            <p:cNvPr id="20" name="Right Brace 19">
              <a:extLst>
                <a:ext uri="{FF2B5EF4-FFF2-40B4-BE49-F238E27FC236}">
                  <a16:creationId xmlns:a16="http://schemas.microsoft.com/office/drawing/2014/main" id="{F963B490-3A11-885D-EA00-ECF0D52ABFA3}"/>
                </a:ext>
              </a:extLst>
            </p:cNvPr>
            <p:cNvSpPr/>
            <p:nvPr/>
          </p:nvSpPr>
          <p:spPr>
            <a:xfrm rot="16200000">
              <a:off x="3481550" y="4669793"/>
              <a:ext cx="328288" cy="2209800"/>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84024EF5-59C4-FC1C-A61B-FA74745515AB}"/>
                </a:ext>
              </a:extLst>
            </p:cNvPr>
            <p:cNvSpPr/>
            <p:nvPr/>
          </p:nvSpPr>
          <p:spPr>
            <a:xfrm rot="16200000">
              <a:off x="3207873" y="2604759"/>
              <a:ext cx="328288" cy="1052845"/>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559F0D25-BF2F-65F1-856A-36F3E6AB8257}"/>
                </a:ext>
              </a:extLst>
            </p:cNvPr>
            <p:cNvCxnSpPr>
              <a:stCxn id="12" idx="3"/>
              <a:endCxn id="5" idx="1"/>
            </p:cNvCxnSpPr>
            <p:nvPr/>
          </p:nvCxnSpPr>
          <p:spPr>
            <a:xfrm>
              <a:off x="3669839" y="4727753"/>
              <a:ext cx="153795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C8E71F6-1442-C196-2144-85D96057AEB9}"/>
                </a:ext>
              </a:extLst>
            </p:cNvPr>
            <p:cNvCxnSpPr>
              <a:stCxn id="13" idx="2"/>
              <a:endCxn id="12" idx="0"/>
            </p:cNvCxnSpPr>
            <p:nvPr/>
          </p:nvCxnSpPr>
          <p:spPr>
            <a:xfrm flipH="1">
              <a:off x="3360985" y="3805237"/>
              <a:ext cx="11032" cy="62583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93723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E6753-38C6-69E0-7234-F989D5A5CD2D}"/>
              </a:ext>
            </a:extLst>
          </p:cNvPr>
          <p:cNvSpPr>
            <a:spLocks noGrp="1"/>
          </p:cNvSpPr>
          <p:nvPr>
            <p:ph type="title"/>
          </p:nvPr>
        </p:nvSpPr>
        <p:spPr>
          <a:xfrm>
            <a:off x="838200" y="220345"/>
            <a:ext cx="10515600" cy="823595"/>
          </a:xfrm>
        </p:spPr>
        <p:txBody>
          <a:bodyPr/>
          <a:lstStyle/>
          <a:p>
            <a:r>
              <a:rPr lang="en-US" dirty="0"/>
              <a:t>ChaCha20</a:t>
            </a:r>
          </a:p>
        </p:txBody>
      </p:sp>
      <p:sp>
        <p:nvSpPr>
          <p:cNvPr id="3" name="Content Placeholder 2">
            <a:extLst>
              <a:ext uri="{FF2B5EF4-FFF2-40B4-BE49-F238E27FC236}">
                <a16:creationId xmlns:a16="http://schemas.microsoft.com/office/drawing/2014/main" id="{2BDDE56D-98E9-E47B-8926-4252693BFDA0}"/>
              </a:ext>
            </a:extLst>
          </p:cNvPr>
          <p:cNvSpPr>
            <a:spLocks noGrp="1"/>
          </p:cNvSpPr>
          <p:nvPr>
            <p:ph idx="1"/>
          </p:nvPr>
        </p:nvSpPr>
        <p:spPr>
          <a:xfrm>
            <a:off x="381000" y="1656856"/>
            <a:ext cx="11430000" cy="3014204"/>
          </a:xfrm>
        </p:spPr>
        <p:txBody>
          <a:bodyPr>
            <a:normAutofit/>
          </a:bodyPr>
          <a:lstStyle/>
          <a:p>
            <a:pPr>
              <a:spcAft>
                <a:spcPts val="600"/>
              </a:spcAft>
            </a:pPr>
            <a:r>
              <a:rPr lang="en-US" sz="2400" dirty="0"/>
              <a:t>Designed by </a:t>
            </a:r>
            <a:r>
              <a:rPr lang="en-US" sz="2400" dirty="0">
                <a:hlinkClick r:id="rId2"/>
              </a:rPr>
              <a:t>Dan Bernstein </a:t>
            </a:r>
            <a:r>
              <a:rPr lang="en-US" sz="2400" dirty="0"/>
              <a:t>in 2008</a:t>
            </a:r>
          </a:p>
          <a:p>
            <a:pPr>
              <a:spcAft>
                <a:spcPts val="600"/>
              </a:spcAft>
            </a:pPr>
            <a:r>
              <a:rPr lang="en-US" sz="2400" dirty="0"/>
              <a:t>Conceptually, it’s very simple </a:t>
            </a:r>
            <a:r>
              <a:rPr lang="en-US" sz="2400" dirty="0">
                <a:sym typeface="Wingdings" panose="05000000000000000000" pitchFamily="2" charset="2"/>
              </a:rPr>
              <a:t></a:t>
            </a:r>
            <a:r>
              <a:rPr lang="en-US" sz="2400" dirty="0"/>
              <a:t> uses arithmetic operations: integer addition modulo , XOR, and left rotations</a:t>
            </a:r>
          </a:p>
          <a:p>
            <a:pPr>
              <a:spcAft>
                <a:spcPts val="600"/>
              </a:spcAft>
            </a:pPr>
            <a:r>
              <a:rPr lang="en-US" sz="2400" dirty="0"/>
              <a:t>Extremely fast (&gt;600 MB/sec) in software and does not require any special hardware</a:t>
            </a:r>
          </a:p>
          <a:p>
            <a:pPr>
              <a:spcAft>
                <a:spcPts val="600"/>
              </a:spcAft>
            </a:pPr>
            <a:r>
              <a:rPr lang="en-US" sz="2400" dirty="0"/>
              <a:t>No security weakness have been found</a:t>
            </a:r>
          </a:p>
          <a:p>
            <a:pPr>
              <a:spcAft>
                <a:spcPts val="600"/>
              </a:spcAft>
            </a:pPr>
            <a:r>
              <a:rPr lang="en-US" sz="2400" dirty="0"/>
              <a:t>ChaCha20 is widely used in practice, including in TLS</a:t>
            </a:r>
          </a:p>
        </p:txBody>
      </p:sp>
    </p:spTree>
    <p:extLst>
      <p:ext uri="{BB962C8B-B14F-4D97-AF65-F5344CB8AC3E}">
        <p14:creationId xmlns:p14="http://schemas.microsoft.com/office/powerpoint/2010/main" val="4286702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DA1A-3C23-02D3-10DB-4FDC4D7ACF91}"/>
              </a:ext>
            </a:extLst>
          </p:cNvPr>
          <p:cNvSpPr>
            <a:spLocks noGrp="1"/>
          </p:cNvSpPr>
          <p:nvPr>
            <p:ph type="title"/>
          </p:nvPr>
        </p:nvSpPr>
        <p:spPr>
          <a:xfrm>
            <a:off x="838200" y="62757"/>
            <a:ext cx="10515600" cy="897960"/>
          </a:xfrm>
        </p:spPr>
        <p:txBody>
          <a:bodyPr/>
          <a:lstStyle/>
          <a:p>
            <a:r>
              <a:rPr lang="en-US" dirty="0"/>
              <a:t>ChaCha20: Workflow</a:t>
            </a:r>
          </a:p>
        </p:txBody>
      </p:sp>
      <p:sp>
        <p:nvSpPr>
          <p:cNvPr id="3" name="Content Placeholder 2">
            <a:extLst>
              <a:ext uri="{FF2B5EF4-FFF2-40B4-BE49-F238E27FC236}">
                <a16:creationId xmlns:a16="http://schemas.microsoft.com/office/drawing/2014/main" id="{D7DD73F1-8208-2C24-F54B-872F8953BA79}"/>
              </a:ext>
            </a:extLst>
          </p:cNvPr>
          <p:cNvSpPr>
            <a:spLocks noGrp="1"/>
          </p:cNvSpPr>
          <p:nvPr>
            <p:ph idx="1"/>
          </p:nvPr>
        </p:nvSpPr>
        <p:spPr>
          <a:xfrm>
            <a:off x="2131611" y="1331284"/>
            <a:ext cx="2511287" cy="850124"/>
          </a:xfrm>
        </p:spPr>
        <p:txBody>
          <a:bodyPr>
            <a:normAutofit/>
          </a:bodyPr>
          <a:lstStyle/>
          <a:p>
            <a:pPr marL="0" indent="0" algn="ctr">
              <a:buNone/>
            </a:pPr>
            <a:r>
              <a:rPr lang="en-US" sz="2000" dirty="0"/>
              <a:t>ChaCha20</a:t>
            </a:r>
          </a:p>
          <a:p>
            <a:pPr marL="0" indent="0" algn="ctr">
              <a:buNone/>
            </a:pPr>
            <a:r>
              <a:rPr lang="en-US" sz="2000" dirty="0"/>
              <a:t>Keystream generator</a:t>
            </a:r>
          </a:p>
        </p:txBody>
      </p:sp>
      <p:sp>
        <p:nvSpPr>
          <p:cNvPr id="5" name="Rectangle 4">
            <a:extLst>
              <a:ext uri="{FF2B5EF4-FFF2-40B4-BE49-F238E27FC236}">
                <a16:creationId xmlns:a16="http://schemas.microsoft.com/office/drawing/2014/main" id="{7BBD4423-5DE8-62EB-AAFA-DA9DCFC8D68A}"/>
              </a:ext>
            </a:extLst>
          </p:cNvPr>
          <p:cNvSpPr>
            <a:spLocks/>
          </p:cNvSpPr>
          <p:nvPr/>
        </p:nvSpPr>
        <p:spPr>
          <a:xfrm>
            <a:off x="2436975" y="2181408"/>
            <a:ext cx="1900559" cy="1599438"/>
          </a:xfrm>
          <a:prstGeom prst="rect">
            <a:avLst/>
          </a:prstGeom>
          <a:solidFill>
            <a:schemeClr val="accent1">
              <a:lumMod val="40000"/>
              <a:lumOff val="60000"/>
            </a:schemeClr>
          </a:solidFill>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600" b="1" dirty="0"/>
              <a:t>State</a:t>
            </a:r>
          </a:p>
        </p:txBody>
      </p:sp>
      <p:cxnSp>
        <p:nvCxnSpPr>
          <p:cNvPr id="7" name="Straight Arrow Connector 6">
            <a:extLst>
              <a:ext uri="{FF2B5EF4-FFF2-40B4-BE49-F238E27FC236}">
                <a16:creationId xmlns:a16="http://schemas.microsoft.com/office/drawing/2014/main" id="{06E9A473-1C23-50DC-4FA8-C5218079C039}"/>
              </a:ext>
            </a:extLst>
          </p:cNvPr>
          <p:cNvCxnSpPr>
            <a:cxnSpLocks/>
            <a:endCxn id="5" idx="1"/>
          </p:cNvCxnSpPr>
          <p:nvPr/>
        </p:nvCxnSpPr>
        <p:spPr>
          <a:xfrm>
            <a:off x="1104568" y="2981127"/>
            <a:ext cx="1332407"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0E9E2E-688B-6DC5-4362-F6C433F2D828}"/>
                  </a:ext>
                </a:extLst>
              </p:cNvPr>
              <p:cNvSpPr txBox="1"/>
              <p:nvPr/>
            </p:nvSpPr>
            <p:spPr>
              <a:xfrm>
                <a:off x="1253656" y="2466647"/>
                <a:ext cx="1023730" cy="461665"/>
              </a:xfrm>
              <a:prstGeom prst="rect">
                <a:avLst/>
              </a:prstGeom>
              <a:noFill/>
            </p:spPr>
            <p:txBody>
              <a:bodyPr wrap="square" rtlCol="0">
                <a:spAutoFit/>
              </a:bodyPr>
              <a:lstStyle/>
              <a:p>
                <a:pPr algn="ctr"/>
                <a14:m>
                  <m:oMath xmlns:m="http://schemas.openxmlformats.org/officeDocument/2006/math">
                    <m:r>
                      <a:rPr lang="en-US" sz="2400" i="1" dirty="0" smtClean="0">
                        <a:latin typeface="Cambria Math" panose="02040503050406030204" pitchFamily="18" charset="0"/>
                      </a:rPr>
                      <m:t>𝑘</m:t>
                    </m:r>
                  </m:oMath>
                </a14:m>
                <a:r>
                  <a:rPr lang="en-US" sz="2400" dirty="0"/>
                  <a:t>, IV</a:t>
                </a:r>
              </a:p>
            </p:txBody>
          </p:sp>
        </mc:Choice>
        <mc:Fallback xmlns="">
          <p:sp>
            <p:nvSpPr>
              <p:cNvPr id="9" name="TextBox 8">
                <a:extLst>
                  <a:ext uri="{FF2B5EF4-FFF2-40B4-BE49-F238E27FC236}">
                    <a16:creationId xmlns:a16="http://schemas.microsoft.com/office/drawing/2014/main" id="{0D0E9E2E-688B-6DC5-4362-F6C433F2D828}"/>
                  </a:ext>
                </a:extLst>
              </p:cNvPr>
              <p:cNvSpPr txBox="1">
                <a:spLocks noRot="1" noChangeAspect="1" noMove="1" noResize="1" noEditPoints="1" noAdjustHandles="1" noChangeArrowheads="1" noChangeShapeType="1" noTextEdit="1"/>
              </p:cNvSpPr>
              <p:nvPr/>
            </p:nvSpPr>
            <p:spPr>
              <a:xfrm>
                <a:off x="1253656" y="2466647"/>
                <a:ext cx="1023730" cy="461665"/>
              </a:xfrm>
              <a:prstGeom prst="rect">
                <a:avLst/>
              </a:prstGeom>
              <a:blipFill>
                <a:blip r:embed="rId2"/>
                <a:stretch>
                  <a:fillRect t="-10667" b="-30667"/>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D0E1ACE7-3FF3-13C1-E6E5-D57A0506EE9D}"/>
              </a:ext>
            </a:extLst>
          </p:cNvPr>
          <p:cNvCxnSpPr>
            <a:cxnSpLocks/>
          </p:cNvCxnSpPr>
          <p:nvPr/>
        </p:nvCxnSpPr>
        <p:spPr>
          <a:xfrm>
            <a:off x="4337534" y="2981127"/>
            <a:ext cx="2949174" cy="1563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7228760-CC88-EE26-EFEE-27B569FB69BE}"/>
              </a:ext>
            </a:extLst>
          </p:cNvPr>
          <p:cNvSpPr txBox="1"/>
          <p:nvPr/>
        </p:nvSpPr>
        <p:spPr>
          <a:xfrm>
            <a:off x="4780107" y="2165769"/>
            <a:ext cx="2064027" cy="830997"/>
          </a:xfrm>
          <a:prstGeom prst="rect">
            <a:avLst/>
          </a:prstGeom>
          <a:noFill/>
        </p:spPr>
        <p:txBody>
          <a:bodyPr wrap="square" rtlCol="0">
            <a:spAutoFit/>
          </a:bodyPr>
          <a:lstStyle/>
          <a:p>
            <a:pPr algn="ctr"/>
            <a:r>
              <a:rPr lang="en-US" sz="2400" dirty="0"/>
              <a:t>64 bytes </a:t>
            </a:r>
          </a:p>
          <a:p>
            <a:pPr algn="ctr"/>
            <a:r>
              <a:rPr lang="en-US" sz="2400" dirty="0"/>
              <a:t>of keystream</a:t>
            </a:r>
          </a:p>
        </p:txBody>
      </p:sp>
      <p:sp>
        <p:nvSpPr>
          <p:cNvPr id="14" name="TextBox 13">
            <a:extLst>
              <a:ext uri="{FF2B5EF4-FFF2-40B4-BE49-F238E27FC236}">
                <a16:creationId xmlns:a16="http://schemas.microsoft.com/office/drawing/2014/main" id="{5BF36462-67FA-2694-5EA5-A364ADBC9FA5}"/>
              </a:ext>
            </a:extLst>
          </p:cNvPr>
          <p:cNvSpPr txBox="1"/>
          <p:nvPr/>
        </p:nvSpPr>
        <p:spPr>
          <a:xfrm>
            <a:off x="6507859" y="934912"/>
            <a:ext cx="2064027" cy="1200329"/>
          </a:xfrm>
          <a:prstGeom prst="rect">
            <a:avLst/>
          </a:prstGeom>
          <a:noFill/>
        </p:spPr>
        <p:txBody>
          <a:bodyPr wrap="square" rtlCol="0">
            <a:spAutoFit/>
          </a:bodyPr>
          <a:lstStyle/>
          <a:p>
            <a:pPr algn="ctr"/>
            <a:r>
              <a:rPr lang="en-US" sz="2400" dirty="0"/>
              <a:t>64 bytes </a:t>
            </a:r>
          </a:p>
          <a:p>
            <a:pPr algn="ctr"/>
            <a:r>
              <a:rPr lang="en-US" sz="2400" dirty="0"/>
              <a:t>of plaintext stream</a:t>
            </a:r>
          </a:p>
        </p:txBody>
      </p:sp>
      <p:sp>
        <p:nvSpPr>
          <p:cNvPr id="15" name="TextBox 14">
            <a:extLst>
              <a:ext uri="{FF2B5EF4-FFF2-40B4-BE49-F238E27FC236}">
                <a16:creationId xmlns:a16="http://schemas.microsoft.com/office/drawing/2014/main" id="{74A94689-F23A-F8A7-F3FA-90C9F92C5EBE}"/>
              </a:ext>
            </a:extLst>
          </p:cNvPr>
          <p:cNvSpPr txBox="1"/>
          <p:nvPr/>
        </p:nvSpPr>
        <p:spPr>
          <a:xfrm>
            <a:off x="7203599" y="2627184"/>
            <a:ext cx="672548" cy="707886"/>
          </a:xfrm>
          <a:prstGeom prst="rect">
            <a:avLst/>
          </a:prstGeom>
          <a:noFill/>
        </p:spPr>
        <p:txBody>
          <a:bodyPr wrap="square" rtlCol="0">
            <a:spAutoFit/>
          </a:bodyPr>
          <a:lstStyle/>
          <a:p>
            <a:r>
              <a:rPr lang="en-US" sz="4000" dirty="0"/>
              <a:t>⊕</a:t>
            </a:r>
          </a:p>
        </p:txBody>
      </p:sp>
      <p:cxnSp>
        <p:nvCxnSpPr>
          <p:cNvPr id="16" name="Straight Arrow Connector 15">
            <a:extLst>
              <a:ext uri="{FF2B5EF4-FFF2-40B4-BE49-F238E27FC236}">
                <a16:creationId xmlns:a16="http://schemas.microsoft.com/office/drawing/2014/main" id="{D086F659-2EC2-AD23-0E27-4F145C24C3B2}"/>
              </a:ext>
            </a:extLst>
          </p:cNvPr>
          <p:cNvCxnSpPr>
            <a:cxnSpLocks/>
            <a:stCxn id="14" idx="2"/>
          </p:cNvCxnSpPr>
          <p:nvPr/>
        </p:nvCxnSpPr>
        <p:spPr>
          <a:xfrm>
            <a:off x="7539873" y="2135241"/>
            <a:ext cx="0" cy="66163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EC1006B-01F3-3757-0E57-CD1BA3E32182}"/>
              </a:ext>
            </a:extLst>
          </p:cNvPr>
          <p:cNvCxnSpPr>
            <a:cxnSpLocks/>
          </p:cNvCxnSpPr>
          <p:nvPr/>
        </p:nvCxnSpPr>
        <p:spPr>
          <a:xfrm>
            <a:off x="7793038" y="2996766"/>
            <a:ext cx="2067905"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159E6C79-7004-BD24-C04C-2C4C4230CF59}"/>
              </a:ext>
            </a:extLst>
          </p:cNvPr>
          <p:cNvSpPr txBox="1"/>
          <p:nvPr/>
        </p:nvSpPr>
        <p:spPr>
          <a:xfrm>
            <a:off x="9701917" y="2565628"/>
            <a:ext cx="2064027" cy="830997"/>
          </a:xfrm>
          <a:prstGeom prst="rect">
            <a:avLst/>
          </a:prstGeom>
          <a:noFill/>
        </p:spPr>
        <p:txBody>
          <a:bodyPr wrap="square" rtlCol="0">
            <a:spAutoFit/>
          </a:bodyPr>
          <a:lstStyle/>
          <a:p>
            <a:pPr algn="ctr"/>
            <a:r>
              <a:rPr lang="en-US" sz="2400" dirty="0"/>
              <a:t>64 bytes </a:t>
            </a:r>
          </a:p>
          <a:p>
            <a:pPr algn="ctr"/>
            <a:r>
              <a:rPr lang="en-US" sz="2400" dirty="0"/>
              <a:t>of ciphertext</a:t>
            </a:r>
          </a:p>
        </p:txBody>
      </p:sp>
      <p:cxnSp>
        <p:nvCxnSpPr>
          <p:cNvPr id="34" name="Connector: Elbow 33">
            <a:extLst>
              <a:ext uri="{FF2B5EF4-FFF2-40B4-BE49-F238E27FC236}">
                <a16:creationId xmlns:a16="http://schemas.microsoft.com/office/drawing/2014/main" id="{60CF2BD7-68E7-E583-5E7C-1881633D5896}"/>
              </a:ext>
            </a:extLst>
          </p:cNvPr>
          <p:cNvCxnSpPr>
            <a:cxnSpLocks/>
            <a:endCxn id="5" idx="2"/>
          </p:cNvCxnSpPr>
          <p:nvPr/>
        </p:nvCxnSpPr>
        <p:spPr>
          <a:xfrm rot="10800000" flipV="1">
            <a:off x="3387256" y="3396624"/>
            <a:ext cx="950279" cy="384221"/>
          </a:xfrm>
          <a:prstGeom prst="bentConnector4">
            <a:avLst>
              <a:gd name="adj1" fmla="val -68801"/>
              <a:gd name="adj2" fmla="val 275904"/>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310A282-FD8E-9DBF-011F-926FE83F66B5}"/>
              </a:ext>
            </a:extLst>
          </p:cNvPr>
          <p:cNvSpPr txBox="1"/>
          <p:nvPr/>
        </p:nvSpPr>
        <p:spPr>
          <a:xfrm>
            <a:off x="3186532" y="4400137"/>
            <a:ext cx="2064027" cy="461665"/>
          </a:xfrm>
          <a:prstGeom prst="rect">
            <a:avLst/>
          </a:prstGeom>
          <a:noFill/>
        </p:spPr>
        <p:txBody>
          <a:bodyPr wrap="square" rtlCol="0">
            <a:spAutoFit/>
          </a:bodyPr>
          <a:lstStyle/>
          <a:p>
            <a:pPr algn="ctr"/>
            <a:r>
              <a:rPr lang="en-US" sz="2400" dirty="0"/>
              <a:t>update state</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26462AE-CDFB-C828-B79B-B64CD13877C2}"/>
                  </a:ext>
                </a:extLst>
              </p:cNvPr>
              <p:cNvSpPr txBox="1"/>
              <p:nvPr/>
            </p:nvSpPr>
            <p:spPr>
              <a:xfrm>
                <a:off x="1308392" y="4996062"/>
                <a:ext cx="10398933" cy="1431161"/>
              </a:xfrm>
              <a:prstGeom prst="rect">
                <a:avLst/>
              </a:prstGeom>
              <a:noFill/>
            </p:spPr>
            <p:txBody>
              <a:bodyPr wrap="square">
                <a:spAutoFit/>
              </a:bodyPr>
              <a:lstStyle/>
              <a:p>
                <a:pPr>
                  <a:spcAft>
                    <a:spcPts val="600"/>
                  </a:spcAft>
                </a:pPr>
                <a:r>
                  <a:rPr lang="en-US" b="1" dirty="0">
                    <a:solidFill>
                      <a:srgbClr val="C00000"/>
                    </a:solidFill>
                  </a:rPr>
                  <a:t>Initialization vector (IV):   </a:t>
                </a:r>
                <a:r>
                  <a:rPr lang="en-US" dirty="0"/>
                  <a:t>a public, non-repeating value for a given key </a:t>
                </a:r>
                <a14:m>
                  <m:oMath xmlns:m="http://schemas.openxmlformats.org/officeDocument/2006/math">
                    <m:r>
                      <a:rPr lang="en-US" i="1" dirty="0">
                        <a:latin typeface="Cambria Math" panose="02040503050406030204" pitchFamily="18" charset="0"/>
                      </a:rPr>
                      <m:t>𝑘</m:t>
                    </m:r>
                  </m:oMath>
                </a14:m>
                <a:r>
                  <a:rPr lang="en-US" dirty="0"/>
                  <a:t>; more details later</a:t>
                </a:r>
              </a:p>
              <a:p>
                <a:pPr>
                  <a:spcAft>
                    <a:spcPts val="600"/>
                  </a:spcAft>
                </a:pPr>
                <a:r>
                  <a:rPr lang="en-US" dirty="0"/>
                  <a:t>The pair  (</a:t>
                </a:r>
                <a:r>
                  <a:rPr lang="en-US" dirty="0" err="1"/>
                  <a:t>k,IV</a:t>
                </a:r>
                <a:r>
                  <a:rPr lang="en-US" dirty="0"/>
                  <a:t>)   is never used more than once </a:t>
                </a:r>
                <a:r>
                  <a:rPr lang="en-US" dirty="0">
                    <a:sym typeface="Wingdings" panose="05000000000000000000" pitchFamily="2" charset="2"/>
                  </a:rPr>
                  <a:t> Can </a:t>
                </a:r>
                <a:r>
                  <a:rPr lang="en-US" dirty="0">
                    <a:solidFill>
                      <a:srgbClr val="C00000"/>
                    </a:solidFill>
                    <a:sym typeface="Wingdings" panose="05000000000000000000" pitchFamily="2" charset="2"/>
                  </a:rPr>
                  <a:t>re-use</a:t>
                </a:r>
                <a:r>
                  <a:rPr lang="en-US" dirty="0">
                    <a:sym typeface="Wingdings" panose="05000000000000000000" pitchFamily="2" charset="2"/>
                  </a:rPr>
                  <a:t> k with a new IV</a:t>
                </a:r>
              </a:p>
              <a:p>
                <a:pPr>
                  <a:spcAft>
                    <a:spcPts val="600"/>
                  </a:spcAft>
                </a:pPr>
                <a:r>
                  <a:rPr lang="en-US" dirty="0">
                    <a:solidFill>
                      <a:srgbClr val="C00000"/>
                    </a:solidFill>
                    <a:sym typeface="Wingdings" panose="05000000000000000000" pitchFamily="2" charset="2"/>
                  </a:rPr>
                  <a:t>Why?</a:t>
                </a:r>
              </a:p>
              <a:p>
                <a:pPr marL="285750" indent="-285750">
                  <a:spcAft>
                    <a:spcPts val="600"/>
                  </a:spcAft>
                  <a:buFont typeface="Arial" panose="020B0604020202020204" pitchFamily="34" charset="0"/>
                  <a:buChar char="•"/>
                </a:pPr>
                <a:r>
                  <a:rPr lang="en-US" dirty="0">
                    <a:sym typeface="Wingdings" panose="05000000000000000000" pitchFamily="2" charset="2"/>
                  </a:rPr>
                  <a:t>key reuse would otherwise leak information about the plaintext: </a:t>
                </a:r>
                <a:r>
                  <a:rPr lang="en-US" b="1" i="1" dirty="0">
                    <a:solidFill>
                      <a:srgbClr val="C00000"/>
                    </a:solidFill>
                    <a:sym typeface="Wingdings" panose="05000000000000000000" pitchFamily="2" charset="2"/>
                  </a:rPr>
                  <a:t>same plaintext  same ciphertext</a:t>
                </a:r>
                <a:r>
                  <a:rPr lang="en-US" b="1" i="1" dirty="0">
                    <a:solidFill>
                      <a:srgbClr val="C00000"/>
                    </a:solidFill>
                  </a:rPr>
                  <a:t> </a:t>
                </a:r>
              </a:p>
            </p:txBody>
          </p:sp>
        </mc:Choice>
        <mc:Fallback>
          <p:sp>
            <p:nvSpPr>
              <p:cNvPr id="6" name="TextBox 5">
                <a:extLst>
                  <a:ext uri="{FF2B5EF4-FFF2-40B4-BE49-F238E27FC236}">
                    <a16:creationId xmlns:a16="http://schemas.microsoft.com/office/drawing/2014/main" id="{826462AE-CDFB-C828-B79B-B64CD13877C2}"/>
                  </a:ext>
                </a:extLst>
              </p:cNvPr>
              <p:cNvSpPr txBox="1">
                <a:spLocks noRot="1" noChangeAspect="1" noMove="1" noResize="1" noEditPoints="1" noAdjustHandles="1" noChangeArrowheads="1" noChangeShapeType="1" noTextEdit="1"/>
              </p:cNvSpPr>
              <p:nvPr/>
            </p:nvSpPr>
            <p:spPr>
              <a:xfrm>
                <a:off x="1308392" y="4996062"/>
                <a:ext cx="10398933" cy="1431161"/>
              </a:xfrm>
              <a:prstGeom prst="rect">
                <a:avLst/>
              </a:prstGeom>
              <a:blipFill>
                <a:blip r:embed="rId3"/>
                <a:stretch>
                  <a:fillRect l="-528" t="-2137" b="-6838"/>
                </a:stretch>
              </a:blipFill>
            </p:spPr>
            <p:txBody>
              <a:bodyPr/>
              <a:lstStyle/>
              <a:p>
                <a:r>
                  <a:rPr lang="en-US">
                    <a:noFill/>
                  </a:rPr>
                  <a:t> </a:t>
                </a:r>
              </a:p>
            </p:txBody>
          </p:sp>
        </mc:Fallback>
      </mc:AlternateContent>
    </p:spTree>
    <p:extLst>
      <p:ext uri="{BB962C8B-B14F-4D97-AF65-F5344CB8AC3E}">
        <p14:creationId xmlns:p14="http://schemas.microsoft.com/office/powerpoint/2010/main" val="1865817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838200" y="168276"/>
            <a:ext cx="10515600" cy="930275"/>
          </a:xfrm>
        </p:spPr>
        <p:txBody>
          <a:bodyPr>
            <a:normAutofit/>
          </a:bodyPr>
          <a:lstStyle/>
          <a:p>
            <a:r>
              <a:rPr lang="en-US" dirty="0"/>
              <a:t>Generating Randomness    </a:t>
            </a:r>
            <a:r>
              <a:rPr lang="en-US" sz="3200" dirty="0"/>
              <a:t>(e.g. keys, IV)</a:t>
            </a:r>
          </a:p>
        </p:txBody>
      </p:sp>
      <p:sp>
        <p:nvSpPr>
          <p:cNvPr id="3" name="Content Placeholder 2"/>
          <p:cNvSpPr>
            <a:spLocks noGrp="1"/>
          </p:cNvSpPr>
          <p:nvPr>
            <p:ph idx="1"/>
          </p:nvPr>
        </p:nvSpPr>
        <p:spPr>
          <a:xfrm>
            <a:off x="508000" y="2819400"/>
            <a:ext cx="11277600" cy="3009900"/>
          </a:xfrm>
        </p:spPr>
        <p:txBody>
          <a:bodyPr>
            <a:normAutofit/>
          </a:bodyPr>
          <a:lstStyle/>
          <a:p>
            <a:pPr marL="0" indent="0">
              <a:buNone/>
              <a:defRPr/>
            </a:pPr>
            <a:r>
              <a:rPr lang="en-US" dirty="0"/>
              <a:t>Pseudorandom generators in practice:     </a:t>
            </a:r>
            <a:r>
              <a:rPr lang="en-US" sz="2400" dirty="0"/>
              <a:t>(e.g.  /dev/random)</a:t>
            </a:r>
            <a:endParaRPr lang="en-US" b="0" dirty="0"/>
          </a:p>
          <a:p>
            <a:pPr lvl="1">
              <a:buFont typeface="Arial" pitchFamily="34" charset="0"/>
              <a:buChar char="•"/>
              <a:defRPr/>
            </a:pPr>
            <a:r>
              <a:rPr lang="en-US" dirty="0"/>
              <a:t>Continuously add </a:t>
            </a:r>
            <a:r>
              <a:rPr lang="en-US" b="1" dirty="0">
                <a:solidFill>
                  <a:srgbClr val="C00000"/>
                </a:solidFill>
                <a:hlinkClick r:id="rId2"/>
              </a:rPr>
              <a:t>entropy</a:t>
            </a:r>
            <a:r>
              <a:rPr lang="en-US" b="1" dirty="0">
                <a:solidFill>
                  <a:srgbClr val="C00000"/>
                </a:solidFill>
              </a:rPr>
              <a:t> </a:t>
            </a:r>
            <a:r>
              <a:rPr lang="en-US" b="1" dirty="0"/>
              <a:t>(uncertainty)</a:t>
            </a:r>
            <a:r>
              <a:rPr lang="en-US" dirty="0"/>
              <a:t> to internal state</a:t>
            </a:r>
          </a:p>
          <a:p>
            <a:pPr lvl="1">
              <a:buFont typeface="Arial" pitchFamily="34" charset="0"/>
              <a:buChar char="•"/>
              <a:defRPr/>
            </a:pPr>
            <a:r>
              <a:rPr lang="en-US" dirty="0"/>
              <a:t>Entropy sources:</a:t>
            </a:r>
          </a:p>
          <a:p>
            <a:pPr lvl="2">
              <a:defRPr/>
            </a:pPr>
            <a:r>
              <a:rPr lang="en-US" dirty="0"/>
              <a:t>Hardware RNG:   Intel </a:t>
            </a:r>
            <a:r>
              <a:rPr lang="en-US" b="1" dirty="0">
                <a:solidFill>
                  <a:srgbClr val="C00000"/>
                </a:solidFill>
                <a:hlinkClick r:id="rId3"/>
              </a:rPr>
              <a:t>RDRAND</a:t>
            </a:r>
            <a:r>
              <a:rPr lang="en-US" dirty="0">
                <a:solidFill>
                  <a:srgbClr val="FF0000"/>
                </a:solidFill>
              </a:rPr>
              <a:t> </a:t>
            </a:r>
            <a:r>
              <a:rPr lang="en-US" dirty="0"/>
              <a:t>instruction </a:t>
            </a:r>
            <a:r>
              <a:rPr lang="en-US" sz="2667" dirty="0"/>
              <a:t>(Ivy Bridge, 2012).    3Gb/sec.  </a:t>
            </a:r>
            <a:endParaRPr lang="en-US" sz="2400" dirty="0"/>
          </a:p>
          <a:p>
            <a:pPr lvl="2">
              <a:defRPr/>
            </a:pPr>
            <a:r>
              <a:rPr lang="en-US" dirty="0"/>
              <a:t>Timing:  hardware interrupts  (keyboard, mouse)</a:t>
            </a:r>
          </a:p>
          <a:p>
            <a:pPr marL="0" lvl="1" indent="0">
              <a:spcBef>
                <a:spcPts val="3840"/>
              </a:spcBef>
              <a:buNone/>
              <a:defRPr/>
            </a:pPr>
            <a:r>
              <a:rPr lang="en-US" sz="2667" dirty="0">
                <a:hlinkClick r:id="rId4"/>
              </a:rPr>
              <a:t>NIST SP 800-90A</a:t>
            </a:r>
            <a:r>
              <a:rPr lang="en-US" sz="2667" dirty="0"/>
              <a:t>: </a:t>
            </a:r>
            <a:r>
              <a:rPr lang="en-US" dirty="0"/>
              <a:t>   </a:t>
            </a:r>
            <a:r>
              <a:rPr lang="en-US" sz="2667" dirty="0"/>
              <a:t>NIST </a:t>
            </a:r>
            <a:r>
              <a:rPr lang="en-US" dirty="0"/>
              <a:t>approved generators</a:t>
            </a:r>
          </a:p>
        </p:txBody>
      </p:sp>
      <p:pic>
        <p:nvPicPr>
          <p:cNvPr id="37894" name="Picture 2"/>
          <p:cNvPicPr>
            <a:picLocks noChangeAspect="1" noChangeArrowheads="1"/>
          </p:cNvPicPr>
          <p:nvPr/>
        </p:nvPicPr>
        <p:blipFill>
          <a:blip r:embed="rId5"/>
          <a:srcRect l="18611" t="56779" r="15218" b="7062"/>
          <a:stretch>
            <a:fillRect/>
          </a:stretch>
        </p:blipFill>
        <p:spPr bwMode="auto">
          <a:xfrm>
            <a:off x="2235200" y="1295400"/>
            <a:ext cx="7924800" cy="1219200"/>
          </a:xfrm>
          <a:prstGeom prst="rect">
            <a:avLst/>
          </a:prstGeom>
          <a:noFill/>
          <a:ln w="9525">
            <a:noFill/>
            <a:miter lim="800000"/>
            <a:headEnd/>
            <a:tailEnd/>
          </a:ln>
        </p:spPr>
      </p:pic>
      <p:sp>
        <p:nvSpPr>
          <p:cNvPr id="37895" name="Freeform 6"/>
          <p:cNvSpPr>
            <a:spLocks noChangeArrowheads="1"/>
          </p:cNvSpPr>
          <p:nvPr/>
        </p:nvSpPr>
        <p:spPr bwMode="auto">
          <a:xfrm>
            <a:off x="2235200" y="1420814"/>
            <a:ext cx="838200" cy="896937"/>
          </a:xfrm>
          <a:custGeom>
            <a:avLst/>
            <a:gdLst>
              <a:gd name="T0" fmla="*/ 612058 w 629265"/>
              <a:gd name="T1" fmla="*/ 734961 h 896784"/>
              <a:gd name="T2" fmla="*/ 285135 w 629265"/>
              <a:gd name="T3" fmla="*/ 894736 h 896784"/>
              <a:gd name="T4" fmla="*/ 34413 w 629265"/>
              <a:gd name="T5" fmla="*/ 747252 h 896784"/>
              <a:gd name="T6" fmla="*/ 78658 w 629265"/>
              <a:gd name="T7" fmla="*/ 334297 h 896784"/>
              <a:gd name="T8" fmla="*/ 211394 w 629265"/>
              <a:gd name="T9" fmla="*/ 39329 h 896784"/>
              <a:gd name="T10" fmla="*/ 565355 w 629265"/>
              <a:gd name="T11" fmla="*/ 98323 h 896784"/>
              <a:gd name="T12" fmla="*/ 594852 w 629265"/>
              <a:gd name="T13" fmla="*/ 231058 h 896784"/>
              <a:gd name="T14" fmla="*/ 0 60000 65536"/>
              <a:gd name="T15" fmla="*/ 0 60000 65536"/>
              <a:gd name="T16" fmla="*/ 0 60000 65536"/>
              <a:gd name="T17" fmla="*/ 0 60000 65536"/>
              <a:gd name="T18" fmla="*/ 0 60000 65536"/>
              <a:gd name="T19" fmla="*/ 0 60000 65536"/>
              <a:gd name="T20" fmla="*/ 0 60000 65536"/>
              <a:gd name="T21" fmla="*/ 0 w 629265"/>
              <a:gd name="T22" fmla="*/ 0 h 896784"/>
              <a:gd name="T23" fmla="*/ 629265 w 629265"/>
              <a:gd name="T24" fmla="*/ 896784 h 8967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9265" h="896784">
                <a:moveTo>
                  <a:pt x="612058" y="734961"/>
                </a:moveTo>
                <a:cubicBezTo>
                  <a:pt x="540774" y="784122"/>
                  <a:pt x="381409" y="892688"/>
                  <a:pt x="285135" y="894736"/>
                </a:cubicBezTo>
                <a:cubicBezTo>
                  <a:pt x="188861" y="896784"/>
                  <a:pt x="68826" y="840658"/>
                  <a:pt x="34413" y="747252"/>
                </a:cubicBezTo>
                <a:cubicBezTo>
                  <a:pt x="0" y="653846"/>
                  <a:pt x="49161" y="452284"/>
                  <a:pt x="78658" y="334297"/>
                </a:cubicBezTo>
                <a:cubicBezTo>
                  <a:pt x="108155" y="216310"/>
                  <a:pt x="130278" y="78658"/>
                  <a:pt x="211394" y="39329"/>
                </a:cubicBezTo>
                <a:cubicBezTo>
                  <a:pt x="292510" y="0"/>
                  <a:pt x="501445" y="66368"/>
                  <a:pt x="565355" y="98323"/>
                </a:cubicBezTo>
                <a:cubicBezTo>
                  <a:pt x="629265" y="130278"/>
                  <a:pt x="612058" y="180668"/>
                  <a:pt x="594852" y="231058"/>
                </a:cubicBezTo>
              </a:path>
            </a:pathLst>
          </a:custGeom>
          <a:noFill/>
          <a:ln w="57150" algn="ctr">
            <a:solidFill>
              <a:schemeClr val="tx1"/>
            </a:solidFill>
            <a:round/>
            <a:headEnd/>
            <a:tailEnd type="triangle" w="med" len="med"/>
          </a:ln>
        </p:spPr>
        <p:txBody>
          <a:bodyPr/>
          <a:lstStyle/>
          <a:p>
            <a:endParaRPr lang="en-US" sz="2400"/>
          </a:p>
        </p:txBody>
      </p:sp>
    </p:spTree>
    <p:extLst>
      <p:ext uri="{BB962C8B-B14F-4D97-AF65-F5344CB8AC3E}">
        <p14:creationId xmlns:p14="http://schemas.microsoft.com/office/powerpoint/2010/main" val="242389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AEBF-63BA-C605-D9BA-6CA005B03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A6430-15A5-9120-1785-04ABC75447BA}"/>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FB5A969B-F6D9-52D5-139A-C6E87148079E}"/>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One-Time Pads</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Stream Cipher</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Block Cipher</a:t>
            </a:r>
          </a:p>
        </p:txBody>
      </p:sp>
    </p:spTree>
    <p:extLst>
      <p:ext uri="{BB962C8B-B14F-4D97-AF65-F5344CB8AC3E}">
        <p14:creationId xmlns:p14="http://schemas.microsoft.com/office/powerpoint/2010/main" val="3740169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71E17-E137-81B7-CBEE-B012FCE44944}"/>
              </a:ext>
            </a:extLst>
          </p:cNvPr>
          <p:cNvSpPr txBox="1">
            <a:spLocks/>
          </p:cNvSpPr>
          <p:nvPr/>
        </p:nvSpPr>
        <p:spPr>
          <a:xfrm>
            <a:off x="838200" y="62757"/>
            <a:ext cx="10515600" cy="89796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Block Ciphers</a:t>
            </a:r>
          </a:p>
        </p:txBody>
      </p:sp>
      <p:sp>
        <p:nvSpPr>
          <p:cNvPr id="3" name="Google Shape;449;p44">
            <a:extLst>
              <a:ext uri="{FF2B5EF4-FFF2-40B4-BE49-F238E27FC236}">
                <a16:creationId xmlns:a16="http://schemas.microsoft.com/office/drawing/2014/main" id="{A71DBC86-5663-190B-2B55-0D9A84E4EC57}"/>
              </a:ext>
            </a:extLst>
          </p:cNvPr>
          <p:cNvSpPr txBox="1">
            <a:spLocks/>
          </p:cNvSpPr>
          <p:nvPr/>
        </p:nvSpPr>
        <p:spPr>
          <a:xfrm>
            <a:off x="114299" y="1066799"/>
            <a:ext cx="7139941" cy="5499843"/>
          </a:xfrm>
          <a:prstGeom prst="rect">
            <a:avLst/>
          </a:prstGeom>
        </p:spPr>
        <p:txBody>
          <a:bodyPr spcFirstLastPara="1" vert="horz" wrap="square" lIns="91425" tIns="91425" rIns="91425" bIns="91425" rtlCol="0" anchor="t"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900"/>
              </a:spcAft>
              <a:buSzPts val="1800"/>
              <a:buFont typeface="Arial" panose="020B0604020202020204" pitchFamily="34" charset="0"/>
              <a:buChar char="●"/>
            </a:pPr>
            <a:r>
              <a:rPr lang="en-US" sz="3100" b="1" dirty="0"/>
              <a:t>Block cipher</a:t>
            </a:r>
            <a:r>
              <a:rPr lang="en-US" sz="3100" dirty="0"/>
              <a:t>: A cryptographic scheme consisting of encryption/decryption algorithms for a fixed-sized block of bits</a:t>
            </a:r>
          </a:p>
          <a:p>
            <a:pPr marL="457200" indent="-342900">
              <a:spcBef>
                <a:spcPts val="0"/>
              </a:spcBef>
              <a:spcAft>
                <a:spcPts val="900"/>
              </a:spcAft>
              <a:buSzPts val="1800"/>
              <a:buFont typeface="Arial" panose="020B0604020202020204" pitchFamily="34" charset="0"/>
              <a:buChar char="●"/>
            </a:pPr>
            <a:r>
              <a:rPr lang="en-US" i="1" dirty="0"/>
              <a:t>Enc(K, M</a:t>
            </a:r>
            <a:r>
              <a:rPr lang="en-US" dirty="0"/>
              <a:t>) → </a:t>
            </a:r>
            <a:r>
              <a:rPr lang="en-US" i="1" dirty="0"/>
              <a:t>C</a:t>
            </a:r>
            <a:r>
              <a:rPr lang="en-US" dirty="0"/>
              <a:t>:</a:t>
            </a:r>
          </a:p>
          <a:p>
            <a:pPr marL="939800" lvl="1" indent="-342900">
              <a:spcBef>
                <a:spcPts val="0"/>
              </a:spcBef>
              <a:spcAft>
                <a:spcPts val="900"/>
              </a:spcAft>
              <a:buSzPts val="1400"/>
            </a:pPr>
            <a:r>
              <a:rPr lang="en-US" dirty="0"/>
              <a:t>Inputs: </a:t>
            </a:r>
            <a:r>
              <a:rPr lang="en-US" i="1" dirty="0"/>
              <a:t>k</a:t>
            </a:r>
            <a:r>
              <a:rPr lang="en-US" dirty="0"/>
              <a:t>-bit key </a:t>
            </a:r>
            <a:r>
              <a:rPr lang="en-US" i="1" dirty="0"/>
              <a:t>K</a:t>
            </a:r>
            <a:r>
              <a:rPr lang="en-US" dirty="0"/>
              <a:t> and an </a:t>
            </a:r>
            <a:r>
              <a:rPr lang="en-US" i="1" dirty="0">
                <a:solidFill>
                  <a:srgbClr val="C00000"/>
                </a:solidFill>
              </a:rPr>
              <a:t>n</a:t>
            </a:r>
            <a:r>
              <a:rPr lang="en-US" dirty="0">
                <a:solidFill>
                  <a:srgbClr val="C00000"/>
                </a:solidFill>
              </a:rPr>
              <a:t>-bit</a:t>
            </a:r>
            <a:r>
              <a:rPr lang="en-US" dirty="0"/>
              <a:t> plaintext </a:t>
            </a:r>
            <a:r>
              <a:rPr lang="en-US" i="1" dirty="0"/>
              <a:t>M</a:t>
            </a:r>
            <a:endParaRPr lang="en-US" dirty="0"/>
          </a:p>
          <a:p>
            <a:pPr marL="939800" lvl="1" indent="-342900">
              <a:spcBef>
                <a:spcPts val="0"/>
              </a:spcBef>
              <a:spcAft>
                <a:spcPts val="900"/>
              </a:spcAft>
              <a:buSzPts val="1400"/>
            </a:pPr>
            <a:r>
              <a:rPr lang="en-US" dirty="0"/>
              <a:t>Output: An </a:t>
            </a:r>
            <a:r>
              <a:rPr lang="en-US" i="1" dirty="0"/>
              <a:t>n</a:t>
            </a:r>
            <a:r>
              <a:rPr lang="en-US" dirty="0"/>
              <a:t>-bit ciphertext </a:t>
            </a:r>
            <a:r>
              <a:rPr lang="en-US" i="1" dirty="0"/>
              <a:t>C</a:t>
            </a:r>
            <a:endParaRPr lang="en-US" dirty="0"/>
          </a:p>
          <a:p>
            <a:pPr marL="939800" lvl="1" indent="-342900">
              <a:spcBef>
                <a:spcPts val="0"/>
              </a:spcBef>
              <a:spcAft>
                <a:spcPts val="900"/>
              </a:spcAft>
              <a:buSzPts val="1400"/>
            </a:pPr>
            <a:r>
              <a:rPr lang="en-US" dirty="0"/>
              <a:t>Sometimes written as: {0, 1}</a:t>
            </a:r>
            <a:r>
              <a:rPr lang="en-US" i="1" baseline="30000" dirty="0"/>
              <a:t>k</a:t>
            </a:r>
            <a:r>
              <a:rPr lang="en-US" dirty="0"/>
              <a:t> × {0, 1}</a:t>
            </a:r>
            <a:r>
              <a:rPr lang="en-US" i="1" baseline="30000" dirty="0"/>
              <a:t>n</a:t>
            </a:r>
            <a:r>
              <a:rPr lang="en-US" dirty="0"/>
              <a:t> → {0, 1}</a:t>
            </a:r>
            <a:r>
              <a:rPr lang="en-US" i="1" baseline="30000" dirty="0"/>
              <a:t>n</a:t>
            </a:r>
            <a:endParaRPr lang="en-US" dirty="0"/>
          </a:p>
          <a:p>
            <a:pPr marL="457200" indent="-342900">
              <a:spcBef>
                <a:spcPts val="0"/>
              </a:spcBef>
              <a:spcAft>
                <a:spcPts val="900"/>
              </a:spcAft>
              <a:buSzPts val="1800"/>
              <a:buFont typeface="Arial" panose="020B0604020202020204" pitchFamily="34" charset="0"/>
              <a:buChar char="●"/>
            </a:pPr>
            <a:r>
              <a:rPr lang="en-US" i="1" dirty="0"/>
              <a:t>Dec(K, C</a:t>
            </a:r>
            <a:r>
              <a:rPr lang="en-US" dirty="0"/>
              <a:t>) → </a:t>
            </a:r>
            <a:r>
              <a:rPr lang="en-US" i="1" dirty="0"/>
              <a:t>M</a:t>
            </a:r>
            <a:r>
              <a:rPr lang="en-US" dirty="0"/>
              <a:t>:</a:t>
            </a:r>
          </a:p>
          <a:p>
            <a:pPr marL="939800" lvl="1" indent="-342900">
              <a:spcBef>
                <a:spcPts val="0"/>
              </a:spcBef>
              <a:spcAft>
                <a:spcPts val="900"/>
              </a:spcAft>
              <a:buSzPts val="1400"/>
            </a:pPr>
            <a:r>
              <a:rPr lang="en-US" dirty="0"/>
              <a:t>Inputs: a </a:t>
            </a:r>
            <a:r>
              <a:rPr lang="en-US" i="1" dirty="0"/>
              <a:t>k</a:t>
            </a:r>
            <a:r>
              <a:rPr lang="en-US" dirty="0"/>
              <a:t>-bit key, and an </a:t>
            </a:r>
            <a:r>
              <a:rPr lang="en-US" i="1" dirty="0"/>
              <a:t>n</a:t>
            </a:r>
            <a:r>
              <a:rPr lang="en-US" dirty="0"/>
              <a:t>-bit ciphertext </a:t>
            </a:r>
            <a:r>
              <a:rPr lang="en-US" i="1" dirty="0"/>
              <a:t>C</a:t>
            </a:r>
            <a:endParaRPr lang="en-US" dirty="0"/>
          </a:p>
          <a:p>
            <a:pPr marL="939800" lvl="1" indent="-342900">
              <a:spcBef>
                <a:spcPts val="0"/>
              </a:spcBef>
              <a:spcAft>
                <a:spcPts val="900"/>
              </a:spcAft>
              <a:buSzPts val="1400"/>
            </a:pPr>
            <a:r>
              <a:rPr lang="en-US" dirty="0"/>
              <a:t>Output: An </a:t>
            </a:r>
            <a:r>
              <a:rPr lang="en-US" i="1" dirty="0"/>
              <a:t>n</a:t>
            </a:r>
            <a:r>
              <a:rPr lang="en-US" dirty="0"/>
              <a:t>-bit plaintext</a:t>
            </a:r>
          </a:p>
          <a:p>
            <a:pPr marL="939800" lvl="1" indent="-342900">
              <a:spcBef>
                <a:spcPts val="0"/>
              </a:spcBef>
              <a:spcAft>
                <a:spcPts val="900"/>
              </a:spcAft>
              <a:buSzPts val="1400"/>
            </a:pPr>
            <a:r>
              <a:rPr lang="en-US" dirty="0"/>
              <a:t>Sometimes written as: {0, 1}</a:t>
            </a:r>
            <a:r>
              <a:rPr lang="en-US" i="1" baseline="30000" dirty="0"/>
              <a:t>k</a:t>
            </a:r>
            <a:r>
              <a:rPr lang="en-US" dirty="0"/>
              <a:t> × {0, 1}</a:t>
            </a:r>
            <a:r>
              <a:rPr lang="en-US" i="1" baseline="30000" dirty="0"/>
              <a:t>n</a:t>
            </a:r>
            <a:r>
              <a:rPr lang="en-US" dirty="0"/>
              <a:t> → {0, 1}</a:t>
            </a:r>
            <a:r>
              <a:rPr lang="en-US" i="1" baseline="30000" dirty="0"/>
              <a:t>n</a:t>
            </a:r>
            <a:endParaRPr lang="en-US" i="1" dirty="0"/>
          </a:p>
          <a:p>
            <a:pPr marL="939800" lvl="1" indent="-342900">
              <a:spcBef>
                <a:spcPts val="0"/>
              </a:spcBef>
              <a:spcAft>
                <a:spcPts val="900"/>
              </a:spcAft>
              <a:buSzPts val="1400"/>
            </a:pPr>
            <a:r>
              <a:rPr lang="en-US" dirty="0"/>
              <a:t>The </a:t>
            </a:r>
            <a:r>
              <a:rPr lang="en-US" dirty="0">
                <a:solidFill>
                  <a:srgbClr val="C00000"/>
                </a:solidFill>
              </a:rPr>
              <a:t>inverse</a:t>
            </a:r>
            <a:r>
              <a:rPr lang="en-US" dirty="0"/>
              <a:t> of the encryption function</a:t>
            </a:r>
          </a:p>
        </p:txBody>
      </p:sp>
      <p:grpSp>
        <p:nvGrpSpPr>
          <p:cNvPr id="26" name="Group 25">
            <a:extLst>
              <a:ext uri="{FF2B5EF4-FFF2-40B4-BE49-F238E27FC236}">
                <a16:creationId xmlns:a16="http://schemas.microsoft.com/office/drawing/2014/main" id="{8B7AD59E-C845-A3F8-2E9D-C2F41F24DE15}"/>
              </a:ext>
            </a:extLst>
          </p:cNvPr>
          <p:cNvGrpSpPr/>
          <p:nvPr/>
        </p:nvGrpSpPr>
        <p:grpSpPr>
          <a:xfrm>
            <a:off x="8052672" y="786823"/>
            <a:ext cx="3200400" cy="2743200"/>
            <a:chOff x="8349852" y="1595257"/>
            <a:chExt cx="2326100" cy="2020547"/>
          </a:xfrm>
        </p:grpSpPr>
        <p:sp>
          <p:nvSpPr>
            <p:cNvPr id="5" name="Google Shape;447;p44">
              <a:extLst>
                <a:ext uri="{FF2B5EF4-FFF2-40B4-BE49-F238E27FC236}">
                  <a16:creationId xmlns:a16="http://schemas.microsoft.com/office/drawing/2014/main" id="{C0895A42-C166-E715-FA69-BC6E26DC3FA0}"/>
                </a:ext>
              </a:extLst>
            </p:cNvPr>
            <p:cNvSpPr/>
            <p:nvPr/>
          </p:nvSpPr>
          <p:spPr>
            <a:xfrm>
              <a:off x="8365652" y="1659094"/>
              <a:ext cx="2310300" cy="184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50;p44">
              <a:extLst>
                <a:ext uri="{FF2B5EF4-FFF2-40B4-BE49-F238E27FC236}">
                  <a16:creationId xmlns:a16="http://schemas.microsoft.com/office/drawing/2014/main" id="{42431EA8-69B1-E877-C6D3-978E4FBEDAA1}"/>
                </a:ext>
              </a:extLst>
            </p:cNvPr>
            <p:cNvSpPr/>
            <p:nvPr/>
          </p:nvSpPr>
          <p:spPr>
            <a:xfrm>
              <a:off x="9561652" y="2295344"/>
              <a:ext cx="780000" cy="540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i="1"/>
                <a:t>E</a:t>
              </a:r>
              <a:endParaRPr sz="1800" i="1"/>
            </a:p>
          </p:txBody>
        </p:sp>
        <p:cxnSp>
          <p:nvCxnSpPr>
            <p:cNvPr id="7" name="Google Shape;451;p44">
              <a:extLst>
                <a:ext uri="{FF2B5EF4-FFF2-40B4-BE49-F238E27FC236}">
                  <a16:creationId xmlns:a16="http://schemas.microsoft.com/office/drawing/2014/main" id="{E0F7BA5D-57C2-74AD-CDC4-907A360637AE}"/>
                </a:ext>
              </a:extLst>
            </p:cNvPr>
            <p:cNvCxnSpPr>
              <a:stCxn id="6" idx="1"/>
            </p:cNvCxnSpPr>
            <p:nvPr/>
          </p:nvCxnSpPr>
          <p:spPr>
            <a:xfrm rot="10800000">
              <a:off x="8599552" y="2565344"/>
              <a:ext cx="962100" cy="0"/>
            </a:xfrm>
            <a:prstGeom prst="straightConnector1">
              <a:avLst/>
            </a:prstGeom>
            <a:noFill/>
            <a:ln w="19050" cap="flat" cmpd="sng">
              <a:solidFill>
                <a:schemeClr val="dk1"/>
              </a:solidFill>
              <a:prstDash val="solid"/>
              <a:round/>
              <a:headEnd type="triangle" w="med" len="med"/>
              <a:tailEnd type="none" w="med" len="med"/>
            </a:ln>
          </p:spPr>
        </p:cxnSp>
        <p:sp>
          <p:nvSpPr>
            <p:cNvPr id="8" name="Google Shape;452;p44">
              <a:extLst>
                <a:ext uri="{FF2B5EF4-FFF2-40B4-BE49-F238E27FC236}">
                  <a16:creationId xmlns:a16="http://schemas.microsoft.com/office/drawing/2014/main" id="{7C71EB43-07FD-1BED-9D93-03196227376C}"/>
                </a:ext>
              </a:extLst>
            </p:cNvPr>
            <p:cNvSpPr txBox="1"/>
            <p:nvPr/>
          </p:nvSpPr>
          <p:spPr>
            <a:xfrm>
              <a:off x="8349852" y="2365244"/>
              <a:ext cx="30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a:t>K</a:t>
              </a:r>
              <a:endParaRPr i="1"/>
            </a:p>
          </p:txBody>
        </p:sp>
        <p:sp>
          <p:nvSpPr>
            <p:cNvPr id="9" name="Google Shape;453;p44">
              <a:extLst>
                <a:ext uri="{FF2B5EF4-FFF2-40B4-BE49-F238E27FC236}">
                  <a16:creationId xmlns:a16="http://schemas.microsoft.com/office/drawing/2014/main" id="{46D62585-8F96-A047-8371-BD7E353964F9}"/>
                </a:ext>
              </a:extLst>
            </p:cNvPr>
            <p:cNvSpPr txBox="1"/>
            <p:nvPr/>
          </p:nvSpPr>
          <p:spPr>
            <a:xfrm>
              <a:off x="8751052" y="2295344"/>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k</a:t>
              </a:r>
              <a:r>
                <a:rPr lang="en" sz="1200"/>
                <a:t> bits</a:t>
              </a:r>
              <a:endParaRPr sz="1200"/>
            </a:p>
          </p:txBody>
        </p:sp>
        <p:cxnSp>
          <p:nvCxnSpPr>
            <p:cNvPr id="10" name="Google Shape;454;p44">
              <a:extLst>
                <a:ext uri="{FF2B5EF4-FFF2-40B4-BE49-F238E27FC236}">
                  <a16:creationId xmlns:a16="http://schemas.microsoft.com/office/drawing/2014/main" id="{414C3EE4-49FC-4BDC-DC4D-86BA9FB734A3}"/>
                </a:ext>
              </a:extLst>
            </p:cNvPr>
            <p:cNvCxnSpPr>
              <a:stCxn id="6" idx="0"/>
            </p:cNvCxnSpPr>
            <p:nvPr/>
          </p:nvCxnSpPr>
          <p:spPr>
            <a:xfrm rot="10800000">
              <a:off x="9951652" y="1918544"/>
              <a:ext cx="0" cy="376800"/>
            </a:xfrm>
            <a:prstGeom prst="straightConnector1">
              <a:avLst/>
            </a:prstGeom>
            <a:noFill/>
            <a:ln w="19050" cap="flat" cmpd="sng">
              <a:solidFill>
                <a:schemeClr val="dk1"/>
              </a:solidFill>
              <a:prstDash val="solid"/>
              <a:round/>
              <a:headEnd type="triangle" w="med" len="med"/>
              <a:tailEnd type="none" w="med" len="med"/>
            </a:ln>
          </p:spPr>
        </p:cxnSp>
        <p:sp>
          <p:nvSpPr>
            <p:cNvPr id="11" name="Google Shape;455;p44">
              <a:extLst>
                <a:ext uri="{FF2B5EF4-FFF2-40B4-BE49-F238E27FC236}">
                  <a16:creationId xmlns:a16="http://schemas.microsoft.com/office/drawing/2014/main" id="{B92712B5-0C9E-AFCE-7D1D-8442FEAEF020}"/>
                </a:ext>
              </a:extLst>
            </p:cNvPr>
            <p:cNvSpPr txBox="1"/>
            <p:nvPr/>
          </p:nvSpPr>
          <p:spPr>
            <a:xfrm>
              <a:off x="9951652" y="1846082"/>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n</a:t>
              </a:r>
              <a:r>
                <a:rPr lang="en" sz="1200"/>
                <a:t> bits</a:t>
              </a:r>
              <a:endParaRPr sz="1200"/>
            </a:p>
          </p:txBody>
        </p:sp>
        <p:sp>
          <p:nvSpPr>
            <p:cNvPr id="12" name="Google Shape;456;p44">
              <a:extLst>
                <a:ext uri="{FF2B5EF4-FFF2-40B4-BE49-F238E27FC236}">
                  <a16:creationId xmlns:a16="http://schemas.microsoft.com/office/drawing/2014/main" id="{3D142A58-620B-CACD-B1BE-64F2C4EB60EA}"/>
                </a:ext>
              </a:extLst>
            </p:cNvPr>
            <p:cNvSpPr txBox="1"/>
            <p:nvPr/>
          </p:nvSpPr>
          <p:spPr>
            <a:xfrm>
              <a:off x="9581301" y="1595257"/>
              <a:ext cx="1094649"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plaintext</a:t>
              </a:r>
              <a:endParaRPr dirty="0"/>
            </a:p>
          </p:txBody>
        </p:sp>
        <p:cxnSp>
          <p:nvCxnSpPr>
            <p:cNvPr id="13" name="Google Shape;457;p44">
              <a:extLst>
                <a:ext uri="{FF2B5EF4-FFF2-40B4-BE49-F238E27FC236}">
                  <a16:creationId xmlns:a16="http://schemas.microsoft.com/office/drawing/2014/main" id="{D57A2F4C-D67D-DDB5-182B-25D8D72430D6}"/>
                </a:ext>
              </a:extLst>
            </p:cNvPr>
            <p:cNvCxnSpPr>
              <a:endCxn id="6" idx="2"/>
            </p:cNvCxnSpPr>
            <p:nvPr/>
          </p:nvCxnSpPr>
          <p:spPr>
            <a:xfrm rot="10800000">
              <a:off x="9951652" y="2835344"/>
              <a:ext cx="0" cy="407400"/>
            </a:xfrm>
            <a:prstGeom prst="straightConnector1">
              <a:avLst/>
            </a:prstGeom>
            <a:noFill/>
            <a:ln w="19050" cap="flat" cmpd="sng">
              <a:solidFill>
                <a:schemeClr val="dk1"/>
              </a:solidFill>
              <a:prstDash val="solid"/>
              <a:round/>
              <a:headEnd type="triangle" w="med" len="med"/>
              <a:tailEnd type="none" w="med" len="med"/>
            </a:ln>
          </p:spPr>
        </p:cxnSp>
        <p:sp>
          <p:nvSpPr>
            <p:cNvPr id="14" name="Google Shape;458;p44">
              <a:extLst>
                <a:ext uri="{FF2B5EF4-FFF2-40B4-BE49-F238E27FC236}">
                  <a16:creationId xmlns:a16="http://schemas.microsoft.com/office/drawing/2014/main" id="{D5780793-F7BF-866A-9D8D-9804EB443C35}"/>
                </a:ext>
              </a:extLst>
            </p:cNvPr>
            <p:cNvSpPr txBox="1"/>
            <p:nvPr/>
          </p:nvSpPr>
          <p:spPr>
            <a:xfrm>
              <a:off x="9903227" y="2818594"/>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n</a:t>
              </a:r>
              <a:r>
                <a:rPr lang="en" sz="1200"/>
                <a:t> bits</a:t>
              </a:r>
              <a:endParaRPr sz="1200"/>
            </a:p>
          </p:txBody>
        </p:sp>
        <p:sp>
          <p:nvSpPr>
            <p:cNvPr id="15" name="Google Shape;459;p44">
              <a:extLst>
                <a:ext uri="{FF2B5EF4-FFF2-40B4-BE49-F238E27FC236}">
                  <a16:creationId xmlns:a16="http://schemas.microsoft.com/office/drawing/2014/main" id="{7AB04A63-7507-08A9-4979-7632854263EB}"/>
                </a:ext>
              </a:extLst>
            </p:cNvPr>
            <p:cNvSpPr txBox="1"/>
            <p:nvPr/>
          </p:nvSpPr>
          <p:spPr>
            <a:xfrm>
              <a:off x="9479002" y="3154169"/>
              <a:ext cx="119695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ciphertext</a:t>
              </a:r>
              <a:endParaRPr dirty="0"/>
            </a:p>
          </p:txBody>
        </p:sp>
      </p:grpSp>
      <p:grpSp>
        <p:nvGrpSpPr>
          <p:cNvPr id="27" name="Group 26">
            <a:extLst>
              <a:ext uri="{FF2B5EF4-FFF2-40B4-BE49-F238E27FC236}">
                <a16:creationId xmlns:a16="http://schemas.microsoft.com/office/drawing/2014/main" id="{5BC0925E-9B90-0F6B-1355-127DEC9C2B24}"/>
              </a:ext>
            </a:extLst>
          </p:cNvPr>
          <p:cNvGrpSpPr/>
          <p:nvPr/>
        </p:nvGrpSpPr>
        <p:grpSpPr>
          <a:xfrm>
            <a:off x="8054993" y="4009495"/>
            <a:ext cx="3200400" cy="2743200"/>
            <a:chOff x="8352173" y="4253336"/>
            <a:chExt cx="2341896" cy="2001585"/>
          </a:xfrm>
        </p:grpSpPr>
        <p:sp>
          <p:nvSpPr>
            <p:cNvPr id="4" name="Google Shape;446;p44">
              <a:extLst>
                <a:ext uri="{FF2B5EF4-FFF2-40B4-BE49-F238E27FC236}">
                  <a16:creationId xmlns:a16="http://schemas.microsoft.com/office/drawing/2014/main" id="{87BB0511-E0AA-FDFD-772B-2A294B76FE78}"/>
                </a:ext>
              </a:extLst>
            </p:cNvPr>
            <p:cNvSpPr/>
            <p:nvPr/>
          </p:nvSpPr>
          <p:spPr>
            <a:xfrm>
              <a:off x="8367973" y="4302861"/>
              <a:ext cx="2310300" cy="184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60;p44">
              <a:extLst>
                <a:ext uri="{FF2B5EF4-FFF2-40B4-BE49-F238E27FC236}">
                  <a16:creationId xmlns:a16="http://schemas.microsoft.com/office/drawing/2014/main" id="{250FF33A-8B6B-F82C-CA8B-D19427DF1903}"/>
                </a:ext>
              </a:extLst>
            </p:cNvPr>
            <p:cNvSpPr/>
            <p:nvPr/>
          </p:nvSpPr>
          <p:spPr>
            <a:xfrm>
              <a:off x="9563973" y="4953411"/>
              <a:ext cx="780000" cy="540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i="1"/>
                <a:t>D</a:t>
              </a:r>
              <a:endParaRPr sz="1800" i="1"/>
            </a:p>
          </p:txBody>
        </p:sp>
        <p:cxnSp>
          <p:nvCxnSpPr>
            <p:cNvPr id="17" name="Google Shape;461;p44">
              <a:extLst>
                <a:ext uri="{FF2B5EF4-FFF2-40B4-BE49-F238E27FC236}">
                  <a16:creationId xmlns:a16="http://schemas.microsoft.com/office/drawing/2014/main" id="{3D0FED09-A93B-827A-36D8-FE04353B0224}"/>
                </a:ext>
              </a:extLst>
            </p:cNvPr>
            <p:cNvCxnSpPr>
              <a:stCxn id="16" idx="1"/>
            </p:cNvCxnSpPr>
            <p:nvPr/>
          </p:nvCxnSpPr>
          <p:spPr>
            <a:xfrm rot="10800000">
              <a:off x="8601873" y="5223411"/>
              <a:ext cx="962100" cy="0"/>
            </a:xfrm>
            <a:prstGeom prst="straightConnector1">
              <a:avLst/>
            </a:prstGeom>
            <a:noFill/>
            <a:ln w="19050" cap="flat" cmpd="sng">
              <a:solidFill>
                <a:schemeClr val="dk1"/>
              </a:solidFill>
              <a:prstDash val="solid"/>
              <a:round/>
              <a:headEnd type="triangle" w="med" len="med"/>
              <a:tailEnd type="none" w="med" len="med"/>
            </a:ln>
          </p:spPr>
        </p:cxnSp>
        <p:sp>
          <p:nvSpPr>
            <p:cNvPr id="18" name="Google Shape;462;p44">
              <a:extLst>
                <a:ext uri="{FF2B5EF4-FFF2-40B4-BE49-F238E27FC236}">
                  <a16:creationId xmlns:a16="http://schemas.microsoft.com/office/drawing/2014/main" id="{07263113-6A33-398B-F277-A183CA75959E}"/>
                </a:ext>
              </a:extLst>
            </p:cNvPr>
            <p:cNvSpPr txBox="1"/>
            <p:nvPr/>
          </p:nvSpPr>
          <p:spPr>
            <a:xfrm>
              <a:off x="8352173" y="5023311"/>
              <a:ext cx="30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a:t>K</a:t>
              </a:r>
              <a:endParaRPr i="1"/>
            </a:p>
          </p:txBody>
        </p:sp>
        <p:sp>
          <p:nvSpPr>
            <p:cNvPr id="19" name="Google Shape;463;p44">
              <a:extLst>
                <a:ext uri="{FF2B5EF4-FFF2-40B4-BE49-F238E27FC236}">
                  <a16:creationId xmlns:a16="http://schemas.microsoft.com/office/drawing/2014/main" id="{B5619482-1482-B1A0-E8F7-B9FAA48C563A}"/>
                </a:ext>
              </a:extLst>
            </p:cNvPr>
            <p:cNvSpPr txBox="1"/>
            <p:nvPr/>
          </p:nvSpPr>
          <p:spPr>
            <a:xfrm>
              <a:off x="8753373" y="4953411"/>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k</a:t>
              </a:r>
              <a:r>
                <a:rPr lang="en" sz="1200"/>
                <a:t> bits</a:t>
              </a:r>
              <a:endParaRPr sz="1200"/>
            </a:p>
          </p:txBody>
        </p:sp>
        <p:cxnSp>
          <p:nvCxnSpPr>
            <p:cNvPr id="20" name="Google Shape;464;p44">
              <a:extLst>
                <a:ext uri="{FF2B5EF4-FFF2-40B4-BE49-F238E27FC236}">
                  <a16:creationId xmlns:a16="http://schemas.microsoft.com/office/drawing/2014/main" id="{C141FB4C-73EF-9294-2190-45F5431BD966}"/>
                </a:ext>
              </a:extLst>
            </p:cNvPr>
            <p:cNvCxnSpPr>
              <a:stCxn id="16" idx="0"/>
            </p:cNvCxnSpPr>
            <p:nvPr/>
          </p:nvCxnSpPr>
          <p:spPr>
            <a:xfrm rot="10800000">
              <a:off x="9953973" y="4576611"/>
              <a:ext cx="0" cy="376800"/>
            </a:xfrm>
            <a:prstGeom prst="straightConnector1">
              <a:avLst/>
            </a:prstGeom>
            <a:noFill/>
            <a:ln w="19050" cap="flat" cmpd="sng">
              <a:solidFill>
                <a:schemeClr val="dk1"/>
              </a:solidFill>
              <a:prstDash val="solid"/>
              <a:round/>
              <a:headEnd type="triangle" w="med" len="med"/>
              <a:tailEnd type="none" w="med" len="med"/>
            </a:ln>
          </p:spPr>
        </p:cxnSp>
        <p:sp>
          <p:nvSpPr>
            <p:cNvPr id="21" name="Google Shape;465;p44">
              <a:extLst>
                <a:ext uri="{FF2B5EF4-FFF2-40B4-BE49-F238E27FC236}">
                  <a16:creationId xmlns:a16="http://schemas.microsoft.com/office/drawing/2014/main" id="{826ADD9C-8071-C104-7B0B-6961099AA53E}"/>
                </a:ext>
              </a:extLst>
            </p:cNvPr>
            <p:cNvSpPr txBox="1"/>
            <p:nvPr/>
          </p:nvSpPr>
          <p:spPr>
            <a:xfrm>
              <a:off x="9953973" y="4504149"/>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n</a:t>
              </a:r>
              <a:r>
                <a:rPr lang="en" sz="1200"/>
                <a:t> bits</a:t>
              </a:r>
              <a:endParaRPr sz="1200"/>
            </a:p>
          </p:txBody>
        </p:sp>
        <p:sp>
          <p:nvSpPr>
            <p:cNvPr id="22" name="Google Shape;466;p44">
              <a:extLst>
                <a:ext uri="{FF2B5EF4-FFF2-40B4-BE49-F238E27FC236}">
                  <a16:creationId xmlns:a16="http://schemas.microsoft.com/office/drawing/2014/main" id="{2FE5C013-1CC0-3A87-17BF-773CE98468DD}"/>
                </a:ext>
              </a:extLst>
            </p:cNvPr>
            <p:cNvSpPr txBox="1"/>
            <p:nvPr/>
          </p:nvSpPr>
          <p:spPr>
            <a:xfrm>
              <a:off x="9481322" y="4253336"/>
              <a:ext cx="1194629"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ciphertext</a:t>
              </a:r>
              <a:endParaRPr dirty="0"/>
            </a:p>
          </p:txBody>
        </p:sp>
        <p:cxnSp>
          <p:nvCxnSpPr>
            <p:cNvPr id="23" name="Google Shape;467;p44">
              <a:extLst>
                <a:ext uri="{FF2B5EF4-FFF2-40B4-BE49-F238E27FC236}">
                  <a16:creationId xmlns:a16="http://schemas.microsoft.com/office/drawing/2014/main" id="{338CA310-BA14-96F0-7376-778174886057}"/>
                </a:ext>
              </a:extLst>
            </p:cNvPr>
            <p:cNvCxnSpPr>
              <a:endCxn id="16" idx="2"/>
            </p:cNvCxnSpPr>
            <p:nvPr/>
          </p:nvCxnSpPr>
          <p:spPr>
            <a:xfrm rot="10800000">
              <a:off x="9953973" y="5493411"/>
              <a:ext cx="0" cy="407400"/>
            </a:xfrm>
            <a:prstGeom prst="straightConnector1">
              <a:avLst/>
            </a:prstGeom>
            <a:noFill/>
            <a:ln w="19050" cap="flat" cmpd="sng">
              <a:solidFill>
                <a:schemeClr val="dk1"/>
              </a:solidFill>
              <a:prstDash val="solid"/>
              <a:round/>
              <a:headEnd type="triangle" w="med" len="med"/>
              <a:tailEnd type="none" w="med" len="med"/>
            </a:ln>
          </p:spPr>
        </p:cxnSp>
        <p:sp>
          <p:nvSpPr>
            <p:cNvPr id="24" name="Google Shape;468;p44">
              <a:extLst>
                <a:ext uri="{FF2B5EF4-FFF2-40B4-BE49-F238E27FC236}">
                  <a16:creationId xmlns:a16="http://schemas.microsoft.com/office/drawing/2014/main" id="{1AFC2011-B2DD-D75E-EB11-F09041956F2C}"/>
                </a:ext>
              </a:extLst>
            </p:cNvPr>
            <p:cNvSpPr txBox="1"/>
            <p:nvPr/>
          </p:nvSpPr>
          <p:spPr>
            <a:xfrm>
              <a:off x="9905548" y="5476661"/>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n</a:t>
              </a:r>
              <a:r>
                <a:rPr lang="en" sz="1200"/>
                <a:t> bits</a:t>
              </a:r>
              <a:endParaRPr sz="1200"/>
            </a:p>
          </p:txBody>
        </p:sp>
        <p:sp>
          <p:nvSpPr>
            <p:cNvPr id="25" name="Google Shape;469;p44">
              <a:extLst>
                <a:ext uri="{FF2B5EF4-FFF2-40B4-BE49-F238E27FC236}">
                  <a16:creationId xmlns:a16="http://schemas.microsoft.com/office/drawing/2014/main" id="{177956B4-16FA-87BB-78C2-E1D0FA8DC34C}"/>
                </a:ext>
              </a:extLst>
            </p:cNvPr>
            <p:cNvSpPr txBox="1"/>
            <p:nvPr/>
          </p:nvSpPr>
          <p:spPr>
            <a:xfrm>
              <a:off x="9532472" y="5793286"/>
              <a:ext cx="1161597"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plaintext</a:t>
              </a:r>
              <a:endParaRPr dirty="0"/>
            </a:p>
          </p:txBody>
        </p:sp>
      </p:grpSp>
    </p:spTree>
    <p:extLst>
      <p:ext uri="{BB962C8B-B14F-4D97-AF65-F5344CB8AC3E}">
        <p14:creationId xmlns:p14="http://schemas.microsoft.com/office/powerpoint/2010/main" val="3607608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023F4-A976-3FD8-7A4C-B3E73AB06EF1}"/>
              </a:ext>
            </a:extLst>
          </p:cNvPr>
          <p:cNvSpPr>
            <a:spLocks noGrp="1"/>
          </p:cNvSpPr>
          <p:nvPr>
            <p:ph type="title"/>
          </p:nvPr>
        </p:nvSpPr>
        <p:spPr>
          <a:xfrm>
            <a:off x="660797" y="1"/>
            <a:ext cx="10870406" cy="1036320"/>
          </a:xfrm>
        </p:spPr>
        <p:txBody>
          <a:bodyPr/>
          <a:lstStyle/>
          <a:p>
            <a:r>
              <a:rPr lang="en-US" dirty="0"/>
              <a:t>Block Cipher Primitives: Confusion &amp; Diffusion</a:t>
            </a:r>
          </a:p>
        </p:txBody>
      </p:sp>
      <p:sp>
        <p:nvSpPr>
          <p:cNvPr id="3" name="Content Placeholder 2">
            <a:extLst>
              <a:ext uri="{FF2B5EF4-FFF2-40B4-BE49-F238E27FC236}">
                <a16:creationId xmlns:a16="http://schemas.microsoft.com/office/drawing/2014/main" id="{3080CC7E-564A-E404-7E02-27279D803120}"/>
              </a:ext>
            </a:extLst>
          </p:cNvPr>
          <p:cNvSpPr>
            <a:spLocks noGrp="1"/>
          </p:cNvSpPr>
          <p:nvPr>
            <p:ph idx="1"/>
          </p:nvPr>
        </p:nvSpPr>
        <p:spPr>
          <a:xfrm>
            <a:off x="838200" y="1325563"/>
            <a:ext cx="10515600" cy="4700190"/>
          </a:xfrm>
        </p:spPr>
        <p:txBody>
          <a:bodyPr>
            <a:normAutofit fontScale="92500" lnSpcReduction="20000"/>
          </a:bodyPr>
          <a:lstStyle/>
          <a:p>
            <a:pPr marL="0" indent="0">
              <a:buNone/>
            </a:pPr>
            <a:r>
              <a:rPr lang="en-US" b="1" dirty="0"/>
              <a:t>Claude Shannon</a:t>
            </a:r>
            <a:r>
              <a:rPr lang="en-US" dirty="0"/>
              <a:t>: There are two primitive operations with which strong encryption algorithms can be built:</a:t>
            </a:r>
          </a:p>
          <a:p>
            <a:r>
              <a:rPr lang="en-US" b="1" dirty="0">
                <a:solidFill>
                  <a:srgbClr val="C00000"/>
                </a:solidFill>
              </a:rPr>
              <a:t>Confusion</a:t>
            </a:r>
            <a:r>
              <a:rPr lang="en-US" dirty="0"/>
              <a:t>: An </a:t>
            </a:r>
            <a:r>
              <a:rPr lang="en-US" i="1" dirty="0"/>
              <a:t>encryption operation </a:t>
            </a:r>
            <a:r>
              <a:rPr lang="en-US" dirty="0"/>
              <a:t>where the </a:t>
            </a:r>
            <a:r>
              <a:rPr lang="en-US" b="1" dirty="0"/>
              <a:t>relationship between key and ciphertext is obscured (or, hidden)</a:t>
            </a:r>
          </a:p>
          <a:p>
            <a:pPr lvl="1"/>
            <a:r>
              <a:rPr lang="en-US" dirty="0"/>
              <a:t>Today, a common element for achieving confusion is substitution, which is found in both AES and DES. E.g., </a:t>
            </a:r>
            <a:r>
              <a:rPr lang="en-US" b="1" i="1" dirty="0">
                <a:solidFill>
                  <a:srgbClr val="C00000"/>
                </a:solidFill>
              </a:rPr>
              <a:t>S-box</a:t>
            </a:r>
          </a:p>
          <a:p>
            <a:r>
              <a:rPr lang="en-US" b="1" dirty="0">
                <a:solidFill>
                  <a:srgbClr val="C00000"/>
                </a:solidFill>
              </a:rPr>
              <a:t>Diffusion</a:t>
            </a:r>
            <a:r>
              <a:rPr lang="en-US" dirty="0"/>
              <a:t>: An </a:t>
            </a:r>
            <a:r>
              <a:rPr lang="en-US" i="1" dirty="0"/>
              <a:t>encryption operation </a:t>
            </a:r>
            <a:r>
              <a:rPr lang="en-US" dirty="0"/>
              <a:t>where the </a:t>
            </a:r>
            <a:r>
              <a:rPr lang="en-US" b="1" dirty="0"/>
              <a:t>influence </a:t>
            </a:r>
            <a:r>
              <a:rPr lang="en-US" dirty="0"/>
              <a:t>of one plaintext symbol is spread over many ciphertext symbols with the goal of </a:t>
            </a:r>
            <a:r>
              <a:rPr lang="en-US" b="1" dirty="0"/>
              <a:t>hiding</a:t>
            </a:r>
            <a:r>
              <a:rPr lang="en-US" dirty="0"/>
              <a:t> statistical properties of the plaintext.</a:t>
            </a:r>
          </a:p>
          <a:p>
            <a:pPr lvl="1"/>
            <a:r>
              <a:rPr lang="en-US" dirty="0"/>
              <a:t>A simple diffusion element is the </a:t>
            </a:r>
            <a:r>
              <a:rPr lang="en-US" b="1" dirty="0"/>
              <a:t>bit permutation</a:t>
            </a:r>
            <a:r>
              <a:rPr lang="en-US" dirty="0"/>
              <a:t>, which is frequently used within DES.</a:t>
            </a:r>
          </a:p>
          <a:p>
            <a:r>
              <a:rPr lang="en-US" dirty="0"/>
              <a:t>Both operations by themselves cannot provide security. The idea is to concatenate confusion and diffusion elements to build so called product ciphers</a:t>
            </a:r>
          </a:p>
        </p:txBody>
      </p:sp>
    </p:spTree>
    <p:extLst>
      <p:ext uri="{BB962C8B-B14F-4D97-AF65-F5344CB8AC3E}">
        <p14:creationId xmlns:p14="http://schemas.microsoft.com/office/powerpoint/2010/main" val="2171931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9D293-DAE3-66C1-5F62-5D80ABB72D47}"/>
              </a:ext>
            </a:extLst>
          </p:cNvPr>
          <p:cNvSpPr>
            <a:spLocks noGrp="1"/>
          </p:cNvSpPr>
          <p:nvPr>
            <p:ph type="title"/>
          </p:nvPr>
        </p:nvSpPr>
        <p:spPr>
          <a:xfrm>
            <a:off x="838200" y="94258"/>
            <a:ext cx="10515600" cy="1009253"/>
          </a:xfrm>
        </p:spPr>
        <p:txBody>
          <a:bodyPr/>
          <a:lstStyle/>
          <a:p>
            <a:r>
              <a:rPr lang="en-US" dirty="0"/>
              <a:t>Product Ciphers</a:t>
            </a:r>
          </a:p>
        </p:txBody>
      </p:sp>
      <p:sp>
        <p:nvSpPr>
          <p:cNvPr id="3" name="Content Placeholder 2">
            <a:extLst>
              <a:ext uri="{FF2B5EF4-FFF2-40B4-BE49-F238E27FC236}">
                <a16:creationId xmlns:a16="http://schemas.microsoft.com/office/drawing/2014/main" id="{8E7AB027-8C54-CC85-FEFC-44CB4C761447}"/>
              </a:ext>
            </a:extLst>
          </p:cNvPr>
          <p:cNvSpPr>
            <a:spLocks noGrp="1"/>
          </p:cNvSpPr>
          <p:nvPr>
            <p:ph idx="1"/>
          </p:nvPr>
        </p:nvSpPr>
        <p:spPr>
          <a:xfrm>
            <a:off x="4757738" y="1674415"/>
            <a:ext cx="6900862" cy="4351338"/>
          </a:xfrm>
        </p:spPr>
        <p:txBody>
          <a:bodyPr/>
          <a:lstStyle/>
          <a:p>
            <a:r>
              <a:rPr lang="en-US" dirty="0"/>
              <a:t>Most of today’s block ciphers are product ciphers as they consist of rounds which are applied repeatedly to the data</a:t>
            </a:r>
          </a:p>
          <a:p>
            <a:r>
              <a:rPr lang="en-US" dirty="0"/>
              <a:t>Can reach excellent diffusion: changing of </a:t>
            </a:r>
            <a:r>
              <a:rPr lang="en-US" b="1" dirty="0"/>
              <a:t>one bit of plaintext </a:t>
            </a:r>
            <a:r>
              <a:rPr lang="en-US" dirty="0"/>
              <a:t>results on average in the </a:t>
            </a:r>
            <a:r>
              <a:rPr lang="en-US" b="1" dirty="0">
                <a:solidFill>
                  <a:srgbClr val="C00000"/>
                </a:solidFill>
              </a:rPr>
              <a:t>change of half the output bits</a:t>
            </a:r>
          </a:p>
          <a:p>
            <a:r>
              <a:rPr lang="en-US" dirty="0"/>
              <a:t>Example: </a:t>
            </a:r>
          </a:p>
        </p:txBody>
      </p:sp>
      <p:pic>
        <p:nvPicPr>
          <p:cNvPr id="5" name="Picture 4">
            <a:extLst>
              <a:ext uri="{FF2B5EF4-FFF2-40B4-BE49-F238E27FC236}">
                <a16:creationId xmlns:a16="http://schemas.microsoft.com/office/drawing/2014/main" id="{BB683060-F47D-A62D-7A0B-761C59FE1C8B}"/>
              </a:ext>
            </a:extLst>
          </p:cNvPr>
          <p:cNvPicPr>
            <a:picLocks noChangeAspect="1"/>
          </p:cNvPicPr>
          <p:nvPr/>
        </p:nvPicPr>
        <p:blipFill>
          <a:blip r:embed="rId2"/>
          <a:stretch>
            <a:fillRect/>
          </a:stretch>
        </p:blipFill>
        <p:spPr>
          <a:xfrm>
            <a:off x="4770322" y="4622601"/>
            <a:ext cx="6960487" cy="1983939"/>
          </a:xfrm>
          <a:prstGeom prst="rect">
            <a:avLst/>
          </a:prstGeom>
        </p:spPr>
      </p:pic>
      <p:pic>
        <p:nvPicPr>
          <p:cNvPr id="7" name="Picture 6">
            <a:extLst>
              <a:ext uri="{FF2B5EF4-FFF2-40B4-BE49-F238E27FC236}">
                <a16:creationId xmlns:a16="http://schemas.microsoft.com/office/drawing/2014/main" id="{9972E44A-12B6-7E6C-8C17-59166A898D68}"/>
              </a:ext>
            </a:extLst>
          </p:cNvPr>
          <p:cNvPicPr>
            <a:picLocks noChangeAspect="1"/>
          </p:cNvPicPr>
          <p:nvPr/>
        </p:nvPicPr>
        <p:blipFill>
          <a:blip r:embed="rId3"/>
          <a:stretch>
            <a:fillRect/>
          </a:stretch>
        </p:blipFill>
        <p:spPr>
          <a:xfrm>
            <a:off x="1522768" y="1103511"/>
            <a:ext cx="1865751" cy="5660231"/>
          </a:xfrm>
          <a:prstGeom prst="rect">
            <a:avLst/>
          </a:prstGeom>
        </p:spPr>
      </p:pic>
    </p:spTree>
    <p:extLst>
      <p:ext uri="{BB962C8B-B14F-4D97-AF65-F5344CB8AC3E}">
        <p14:creationId xmlns:p14="http://schemas.microsoft.com/office/powerpoint/2010/main" val="3306277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23875FF-C602-C9ED-B701-DE9F3DEF57CD}"/>
              </a:ext>
            </a:extLst>
          </p:cNvPr>
          <p:cNvSpPr txBox="1">
            <a:spLocks noChangeArrowheads="1"/>
          </p:cNvSpPr>
          <p:nvPr/>
        </p:nvSpPr>
        <p:spPr>
          <a:xfrm>
            <a:off x="531989" y="167005"/>
            <a:ext cx="11128022" cy="8388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Overview of the DES (Data Encryption Standard)</a:t>
            </a:r>
          </a:p>
        </p:txBody>
      </p:sp>
      <p:sp>
        <p:nvSpPr>
          <p:cNvPr id="6" name="Content Placeholder 2">
            <a:extLst>
              <a:ext uri="{FF2B5EF4-FFF2-40B4-BE49-F238E27FC236}">
                <a16:creationId xmlns:a16="http://schemas.microsoft.com/office/drawing/2014/main" id="{61BFB41E-CD87-9C20-9888-A796FBD5CBB5}"/>
              </a:ext>
            </a:extLst>
          </p:cNvPr>
          <p:cNvSpPr txBox="1">
            <a:spLocks/>
          </p:cNvSpPr>
          <p:nvPr/>
        </p:nvSpPr>
        <p:spPr>
          <a:xfrm>
            <a:off x="305952" y="1702990"/>
            <a:ext cx="5426869" cy="4351338"/>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ltLang="en-US" dirty="0"/>
              <a:t>Developed by IBM and adopted by NBS (now NIST) in 1977 </a:t>
            </a:r>
            <a:endParaRPr lang="en-US" dirty="0"/>
          </a:p>
          <a:p>
            <a:pPr>
              <a:spcAft>
                <a:spcPts val="600"/>
              </a:spcAft>
            </a:pPr>
            <a:r>
              <a:rPr lang="en-US" dirty="0"/>
              <a:t>Encrypt blocks of size 64 bits</a:t>
            </a:r>
          </a:p>
          <a:p>
            <a:pPr>
              <a:spcAft>
                <a:spcPts val="600"/>
              </a:spcAft>
            </a:pPr>
            <a:r>
              <a:rPr lang="en-US" dirty="0"/>
              <a:t>Use a key of size 56 bits</a:t>
            </a:r>
          </a:p>
          <a:p>
            <a:pPr>
              <a:spcAft>
                <a:spcPts val="600"/>
              </a:spcAft>
            </a:pPr>
            <a:r>
              <a:rPr lang="en-US" dirty="0"/>
              <a:t>Use the same key for Enc/Dec</a:t>
            </a:r>
          </a:p>
          <a:p>
            <a:pPr>
              <a:spcAft>
                <a:spcPts val="600"/>
              </a:spcAft>
            </a:pPr>
            <a:r>
              <a:rPr lang="en-US" dirty="0"/>
              <a:t>Use 16 rounds which all perform the identical operation</a:t>
            </a:r>
          </a:p>
          <a:p>
            <a:pPr>
              <a:spcAft>
                <a:spcPts val="600"/>
              </a:spcAft>
            </a:pPr>
            <a:r>
              <a:rPr lang="en-US" dirty="0"/>
              <a:t>Different subkeys in each round derived from encryption key</a:t>
            </a:r>
          </a:p>
          <a:p>
            <a:pPr>
              <a:spcAft>
                <a:spcPts val="600"/>
              </a:spcAft>
            </a:pPr>
            <a:r>
              <a:rPr lang="en-US" b="1" dirty="0">
                <a:solidFill>
                  <a:srgbClr val="C00000"/>
                </a:solidFill>
              </a:rPr>
              <a:t>DES is </a:t>
            </a:r>
            <a:r>
              <a:rPr lang="en-US" b="1" dirty="0">
                <a:solidFill>
                  <a:srgbClr val="C00000"/>
                </a:solidFill>
                <a:hlinkClick r:id="rId3"/>
              </a:rPr>
              <a:t>insecure</a:t>
            </a:r>
            <a:r>
              <a:rPr lang="en-US" b="1" dirty="0">
                <a:solidFill>
                  <a:srgbClr val="C00000"/>
                </a:solidFill>
              </a:rPr>
              <a:t>; do not use it!</a:t>
            </a:r>
          </a:p>
        </p:txBody>
      </p:sp>
      <p:pic>
        <p:nvPicPr>
          <p:cNvPr id="7" name="Picture 6">
            <a:extLst>
              <a:ext uri="{FF2B5EF4-FFF2-40B4-BE49-F238E27FC236}">
                <a16:creationId xmlns:a16="http://schemas.microsoft.com/office/drawing/2014/main" id="{713F2425-D67C-20EA-6D28-CDC5F859BBF1}"/>
              </a:ext>
            </a:extLst>
          </p:cNvPr>
          <p:cNvPicPr>
            <a:picLocks noChangeAspect="1"/>
          </p:cNvPicPr>
          <p:nvPr/>
        </p:nvPicPr>
        <p:blipFill>
          <a:blip r:embed="rId4"/>
          <a:stretch>
            <a:fillRect/>
          </a:stretch>
        </p:blipFill>
        <p:spPr>
          <a:xfrm>
            <a:off x="5732821" y="1318498"/>
            <a:ext cx="6459179" cy="4922044"/>
          </a:xfrm>
          <a:prstGeom prst="rect">
            <a:avLst/>
          </a:prstGeom>
        </p:spPr>
      </p:pic>
    </p:spTree>
    <p:extLst>
      <p:ext uri="{BB962C8B-B14F-4D97-AF65-F5344CB8AC3E}">
        <p14:creationId xmlns:p14="http://schemas.microsoft.com/office/powerpoint/2010/main" val="3652067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CF789-F8B0-EF09-93B9-6AB91408F731}"/>
              </a:ext>
            </a:extLst>
          </p:cNvPr>
          <p:cNvSpPr>
            <a:spLocks noGrp="1"/>
          </p:cNvSpPr>
          <p:nvPr>
            <p:ph type="title"/>
          </p:nvPr>
        </p:nvSpPr>
        <p:spPr>
          <a:xfrm>
            <a:off x="195943" y="222693"/>
            <a:ext cx="7654142" cy="974653"/>
          </a:xfrm>
        </p:spPr>
        <p:txBody>
          <a:bodyPr/>
          <a:lstStyle/>
          <a:p>
            <a:r>
              <a:rPr lang="en-US" dirty="0"/>
              <a:t>DES internals: Feistel network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5C5651-E992-8181-C87F-46603B5B8562}"/>
                  </a:ext>
                </a:extLst>
              </p:cNvPr>
              <p:cNvSpPr>
                <a:spLocks noGrp="1"/>
              </p:cNvSpPr>
              <p:nvPr>
                <p:ph idx="1"/>
              </p:nvPr>
            </p:nvSpPr>
            <p:spPr>
              <a:xfrm>
                <a:off x="195943" y="1547019"/>
                <a:ext cx="6183086" cy="5093268"/>
              </a:xfrm>
            </p:spPr>
            <p:txBody>
              <a:bodyPr>
                <a:normAutofit/>
              </a:bodyPr>
              <a:lstStyle/>
              <a:p>
                <a:r>
                  <a:rPr lang="en-US" sz="2400" b="0" i="0" u="none" strike="noStrike" baseline="0" dirty="0">
                    <a:latin typeface="Arial" panose="020B0604020202020204" pitchFamily="34" charset="0"/>
                  </a:rPr>
                  <a:t>DES structure is a </a:t>
                </a:r>
                <a:r>
                  <a:rPr lang="en-US" sz="2400" b="0" i="1" u="none" strike="noStrike" baseline="0" dirty="0">
                    <a:latin typeface="Arial" panose="020B0604020202020204" pitchFamily="34" charset="0"/>
                  </a:rPr>
                  <a:t>Feistel network</a:t>
                </a:r>
                <a:endParaRPr lang="en-US" sz="2400" b="0" dirty="0">
                  <a:ea typeface="Cambria Math" panose="02040503050406030204" pitchFamily="18" charset="0"/>
                </a:endParaRPr>
              </a:p>
              <a:p>
                <a:r>
                  <a:rPr lang="en-US" sz="2400" dirty="0"/>
                  <a:t>Bitwise initial permutation, then 16 rounds:</a:t>
                </a:r>
              </a:p>
              <a:p>
                <a:pPr lvl="1"/>
                <a:r>
                  <a:rPr lang="en-US" sz="2000" dirty="0"/>
                  <a:t>Plaintext is split into 32-bit halves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𝐿</m:t>
                        </m:r>
                      </m:e>
                      <m:sub>
                        <m:r>
                          <a:rPr lang="en-US" sz="2000" b="0" i="1" smtClean="0">
                            <a:latin typeface="Cambria Math" panose="02040503050406030204" pitchFamily="18" charset="0"/>
                            <a:ea typeface="Cambria Math" panose="02040503050406030204" pitchFamily="18" charset="0"/>
                          </a:rPr>
                          <m:t>𝑖</m:t>
                        </m:r>
                      </m:sub>
                    </m:sSub>
                  </m:oMath>
                </a14:m>
                <a:r>
                  <a:rPr lang="en-US" sz="2000" dirty="0"/>
                  <a: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𝑖</m:t>
                        </m:r>
                      </m:sub>
                    </m:sSub>
                  </m:oMath>
                </a14:m>
                <a:endParaRPr lang="en-US" sz="2000" dirty="0"/>
              </a:p>
              <a:p>
                <a:pPr lvl="1"/>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𝑖</m:t>
                        </m:r>
                      </m:sub>
                    </m:sSub>
                  </m:oMath>
                </a14:m>
                <a:r>
                  <a:rPr lang="en-US" sz="2000" dirty="0"/>
                  <a:t> is fed into function f, the output of which is then XORed with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𝐿</m:t>
                        </m:r>
                      </m:e>
                      <m:sub>
                        <m:r>
                          <a:rPr lang="en-US" sz="2000" i="1">
                            <a:latin typeface="Cambria Math" panose="02040503050406030204" pitchFamily="18" charset="0"/>
                            <a:ea typeface="Cambria Math" panose="02040503050406030204" pitchFamily="18" charset="0"/>
                          </a:rPr>
                          <m:t>𝑖</m:t>
                        </m:r>
                      </m:sub>
                    </m:sSub>
                  </m:oMath>
                </a14:m>
                <a:r>
                  <a:rPr lang="en-US" sz="2000" dirty="0"/>
                  <a:t> </a:t>
                </a:r>
              </a:p>
              <a:p>
                <a:pPr lvl="1"/>
                <a:r>
                  <a:rPr lang="en-US" sz="2000" dirty="0"/>
                  <a:t>Left and right half are swapped</a:t>
                </a:r>
              </a:p>
              <a:p>
                <a:r>
                  <a:rPr lang="en-US" sz="2400" b="0" dirty="0">
                    <a:ea typeface="Cambria Math" panose="02040503050406030204" pitchFamily="18" charset="0"/>
                  </a:rPr>
                  <a:t>Rounds can be expressed as:</a:t>
                </a:r>
              </a:p>
              <a:p>
                <a:pPr lvl="1"/>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Sub>
                  </m:oMath>
                </a14:m>
                <a:endParaRPr lang="en-US" b="0" i="1" dirty="0">
                  <a:latin typeface="Cambria Math" panose="02040503050406030204" pitchFamily="18" charset="0"/>
                  <a:ea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𝑘</m:t>
                        </m:r>
                      </m:e>
                      <m:sub>
                        <m:r>
                          <m:rPr>
                            <m:sty m:val="p"/>
                          </m:rPr>
                          <a:rPr lang="en-US" altLang="zh-CN" i="1">
                            <a:latin typeface="Cambria Math" panose="02040503050406030204" pitchFamily="18" charset="0"/>
                          </a:rPr>
                          <m:t>i</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𝑖</m:t>
                        </m:r>
                        <m:r>
                          <a:rPr lang="en-US" b="0" i="1" smtClean="0">
                            <a:latin typeface="Cambria Math" panose="02040503050406030204" pitchFamily="18" charset="0"/>
                          </a:rPr>
                          <m:t> −1</m:t>
                        </m:r>
                      </m:sub>
                    </m:sSub>
                    <m:r>
                      <a:rPr lang="en-US" b="0" i="1" smtClean="0">
                        <a:latin typeface="Cambria Math" panose="02040503050406030204" pitchFamily="18" charset="0"/>
                        <a:ea typeface="Cambria Math" panose="02040503050406030204" pitchFamily="18" charset="0"/>
                      </a:rPr>
                      <m:t>)</m:t>
                    </m:r>
                  </m:oMath>
                </a14:m>
                <a:endParaRPr lang="en-US" dirty="0"/>
              </a:p>
              <a:p>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a:latin typeface="Cambria Math" panose="02040503050406030204" pitchFamily="18" charset="0"/>
                            <a:ea typeface="Cambria Math" panose="02040503050406030204" pitchFamily="18" charset="0"/>
                          </a:rPr>
                          <m:t>𝐿</m:t>
                        </m:r>
                      </m:e>
                      <m:sub>
                        <m:r>
                          <a:rPr lang="en-US" sz="2400">
                            <a:latin typeface="Cambria Math" panose="02040503050406030204" pitchFamily="18" charset="0"/>
                            <a:ea typeface="Cambria Math" panose="02040503050406030204" pitchFamily="18" charset="0"/>
                          </a:rPr>
                          <m:t>16</m:t>
                        </m:r>
                      </m:sub>
                    </m:sSub>
                  </m:oMath>
                </a14:m>
                <a:r>
                  <a:rPr lang="en-US" sz="2400" dirty="0">
                    <a:ea typeface="Cambria Math" panose="02040503050406030204" pitchFamily="18" charset="0"/>
                  </a:rPr>
                  <a:t> and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a:latin typeface="Cambria Math" panose="02040503050406030204" pitchFamily="18" charset="0"/>
                            <a:ea typeface="Cambria Math" panose="02040503050406030204" pitchFamily="18" charset="0"/>
                          </a:rPr>
                          <m:t>𝑅</m:t>
                        </m:r>
                      </m:e>
                      <m:sub>
                        <m:r>
                          <a:rPr lang="en-US" sz="2400">
                            <a:latin typeface="Cambria Math" panose="02040503050406030204" pitchFamily="18" charset="0"/>
                            <a:ea typeface="Cambria Math" panose="02040503050406030204" pitchFamily="18" charset="0"/>
                          </a:rPr>
                          <m:t>16</m:t>
                        </m:r>
                      </m:sub>
                    </m:sSub>
                  </m:oMath>
                </a14:m>
                <a:r>
                  <a:rPr lang="en-US" sz="2400" dirty="0">
                    <a:ea typeface="Cambria Math" panose="02040503050406030204" pitchFamily="18" charset="0"/>
                  </a:rPr>
                  <a:t> swapped again at the end of the cipher, i.e., after round 16 followed by a final permutation (</a:t>
                </a:r>
                <a:r>
                  <a:rPr lang="en-US" sz="2400" dirty="0"/>
                  <a:t>IP</a:t>
                </a:r>
                <a:r>
                  <a:rPr lang="en-US" sz="2400" baseline="30000" dirty="0"/>
                  <a:t>-1</a:t>
                </a:r>
                <a:r>
                  <a:rPr lang="en-US" sz="2400" dirty="0">
                    <a:ea typeface="Cambria Math" panose="02040503050406030204" pitchFamily="18" charset="0"/>
                  </a:rPr>
                  <a:t>)</a:t>
                </a:r>
              </a:p>
            </p:txBody>
          </p:sp>
        </mc:Choice>
        <mc:Fallback xmlns="">
          <p:sp>
            <p:nvSpPr>
              <p:cNvPr id="3" name="Content Placeholder 2">
                <a:extLst>
                  <a:ext uri="{FF2B5EF4-FFF2-40B4-BE49-F238E27FC236}">
                    <a16:creationId xmlns:a16="http://schemas.microsoft.com/office/drawing/2014/main" id="{4E5C5651-E992-8181-C87F-46603B5B8562}"/>
                  </a:ext>
                </a:extLst>
              </p:cNvPr>
              <p:cNvSpPr>
                <a:spLocks noGrp="1" noRot="1" noChangeAspect="1" noMove="1" noResize="1" noEditPoints="1" noAdjustHandles="1" noChangeArrowheads="1" noChangeShapeType="1" noTextEdit="1"/>
              </p:cNvSpPr>
              <p:nvPr>
                <p:ph idx="1"/>
              </p:nvPr>
            </p:nvSpPr>
            <p:spPr>
              <a:xfrm>
                <a:off x="195943" y="1547019"/>
                <a:ext cx="6183086" cy="5093268"/>
              </a:xfrm>
              <a:blipFill>
                <a:blip r:embed="rId3"/>
                <a:stretch>
                  <a:fillRect l="-1282" t="-1796" r="-246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A7DCB61-6A0C-2783-A375-FF87218D40B8}"/>
              </a:ext>
            </a:extLst>
          </p:cNvPr>
          <p:cNvPicPr>
            <a:picLocks noChangeAspect="1"/>
          </p:cNvPicPr>
          <p:nvPr/>
        </p:nvPicPr>
        <p:blipFill>
          <a:blip r:embed="rId4"/>
          <a:stretch>
            <a:fillRect/>
          </a:stretch>
        </p:blipFill>
        <p:spPr>
          <a:xfrm>
            <a:off x="7850085" y="0"/>
            <a:ext cx="3596921" cy="3040743"/>
          </a:xfrm>
          <a:prstGeom prst="rect">
            <a:avLst/>
          </a:prstGeom>
        </p:spPr>
      </p:pic>
      <p:pic>
        <p:nvPicPr>
          <p:cNvPr id="8" name="Picture 7">
            <a:extLst>
              <a:ext uri="{FF2B5EF4-FFF2-40B4-BE49-F238E27FC236}">
                <a16:creationId xmlns:a16="http://schemas.microsoft.com/office/drawing/2014/main" id="{BE456521-5D97-26C8-DA19-85D53D46B888}"/>
              </a:ext>
            </a:extLst>
          </p:cNvPr>
          <p:cNvPicPr>
            <a:picLocks noChangeAspect="1"/>
          </p:cNvPicPr>
          <p:nvPr/>
        </p:nvPicPr>
        <p:blipFill>
          <a:blip r:embed="rId5"/>
          <a:stretch>
            <a:fillRect/>
          </a:stretch>
        </p:blipFill>
        <p:spPr>
          <a:xfrm>
            <a:off x="7850085" y="3512457"/>
            <a:ext cx="3500603" cy="3345543"/>
          </a:xfrm>
          <a:prstGeom prst="rect">
            <a:avLst/>
          </a:prstGeom>
        </p:spPr>
      </p:pic>
      <p:sp>
        <p:nvSpPr>
          <p:cNvPr id="9" name="TextBox 8">
            <a:extLst>
              <a:ext uri="{FF2B5EF4-FFF2-40B4-BE49-F238E27FC236}">
                <a16:creationId xmlns:a16="http://schemas.microsoft.com/office/drawing/2014/main" id="{5A25D36B-D30E-552D-C8AD-475492B76517}"/>
              </a:ext>
            </a:extLst>
          </p:cNvPr>
          <p:cNvSpPr txBox="1"/>
          <p:nvPr/>
        </p:nvSpPr>
        <p:spPr>
          <a:xfrm>
            <a:off x="7685314" y="2905780"/>
            <a:ext cx="1524000" cy="523220"/>
          </a:xfrm>
          <a:prstGeom prst="rect">
            <a:avLst/>
          </a:prstGeom>
          <a:noFill/>
        </p:spPr>
        <p:txBody>
          <a:bodyPr wrap="square" rtlCol="0">
            <a:spAutoFit/>
          </a:bodyPr>
          <a:lstStyle/>
          <a:p>
            <a:pPr algn="ctr"/>
            <a:r>
              <a:rPr lang="en-US" sz="2800" dirty="0"/>
              <a:t>……</a:t>
            </a:r>
          </a:p>
        </p:txBody>
      </p:sp>
      <p:sp>
        <p:nvSpPr>
          <p:cNvPr id="10" name="TextBox 9">
            <a:extLst>
              <a:ext uri="{FF2B5EF4-FFF2-40B4-BE49-F238E27FC236}">
                <a16:creationId xmlns:a16="http://schemas.microsoft.com/office/drawing/2014/main" id="{F81C0D9A-7576-1F2D-CF37-24CD00BC103F}"/>
              </a:ext>
            </a:extLst>
          </p:cNvPr>
          <p:cNvSpPr txBox="1"/>
          <p:nvPr/>
        </p:nvSpPr>
        <p:spPr>
          <a:xfrm>
            <a:off x="6543800" y="1669060"/>
            <a:ext cx="1524000" cy="461665"/>
          </a:xfrm>
          <a:prstGeom prst="rect">
            <a:avLst/>
          </a:prstGeom>
          <a:noFill/>
        </p:spPr>
        <p:txBody>
          <a:bodyPr wrap="square" rtlCol="0">
            <a:spAutoFit/>
          </a:bodyPr>
          <a:lstStyle/>
          <a:p>
            <a:pPr algn="ctr"/>
            <a:r>
              <a:rPr lang="en-US" sz="2400" dirty="0">
                <a:solidFill>
                  <a:srgbClr val="C00000"/>
                </a:solidFill>
              </a:rPr>
              <a:t>Round 1</a:t>
            </a:r>
          </a:p>
        </p:txBody>
      </p:sp>
      <p:sp>
        <p:nvSpPr>
          <p:cNvPr id="11" name="TextBox 10">
            <a:extLst>
              <a:ext uri="{FF2B5EF4-FFF2-40B4-BE49-F238E27FC236}">
                <a16:creationId xmlns:a16="http://schemas.microsoft.com/office/drawing/2014/main" id="{2750E448-237A-31B8-7BF7-D8E70AF123F8}"/>
              </a:ext>
            </a:extLst>
          </p:cNvPr>
          <p:cNvSpPr txBox="1"/>
          <p:nvPr/>
        </p:nvSpPr>
        <p:spPr>
          <a:xfrm>
            <a:off x="6543800" y="4371872"/>
            <a:ext cx="1524000" cy="461665"/>
          </a:xfrm>
          <a:prstGeom prst="rect">
            <a:avLst/>
          </a:prstGeom>
          <a:noFill/>
        </p:spPr>
        <p:txBody>
          <a:bodyPr wrap="square" rtlCol="0">
            <a:spAutoFit/>
          </a:bodyPr>
          <a:lstStyle/>
          <a:p>
            <a:pPr algn="ctr"/>
            <a:r>
              <a:rPr lang="en-US" sz="2400" dirty="0">
                <a:solidFill>
                  <a:srgbClr val="C00000"/>
                </a:solidFill>
              </a:rPr>
              <a:t>Round 16</a:t>
            </a:r>
          </a:p>
        </p:txBody>
      </p:sp>
    </p:spTree>
    <p:extLst>
      <p:ext uri="{BB962C8B-B14F-4D97-AF65-F5344CB8AC3E}">
        <p14:creationId xmlns:p14="http://schemas.microsoft.com/office/powerpoint/2010/main" val="1816548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50B9824-BE2D-15D2-AE30-9EEA5CB9ED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ADD34-F587-C62F-9DE2-E008A8200E54}"/>
              </a:ext>
            </a:extLst>
          </p:cNvPr>
          <p:cNvSpPr>
            <a:spLocks noGrp="1"/>
          </p:cNvSpPr>
          <p:nvPr>
            <p:ph type="title"/>
          </p:nvPr>
        </p:nvSpPr>
        <p:spPr>
          <a:xfrm>
            <a:off x="838200" y="108856"/>
            <a:ext cx="10515600" cy="921659"/>
          </a:xfrm>
        </p:spPr>
        <p:txBody>
          <a:bodyPr/>
          <a:lstStyle/>
          <a:p>
            <a:r>
              <a:rPr lang="en-US" dirty="0"/>
              <a:t>DES internals: the f-Function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CDB8E1-AA51-840B-384B-979041889C9F}"/>
                  </a:ext>
                </a:extLst>
              </p:cNvPr>
              <p:cNvSpPr>
                <a:spLocks noGrp="1"/>
              </p:cNvSpPr>
              <p:nvPr>
                <p:ph idx="1"/>
              </p:nvPr>
            </p:nvSpPr>
            <p:spPr>
              <a:xfrm>
                <a:off x="838200" y="1576047"/>
                <a:ext cx="5921829" cy="4351338"/>
              </a:xfrm>
            </p:spPr>
            <p:txBody>
              <a:bodyPr>
                <a:normAutofit/>
              </a:bodyPr>
              <a:lstStyle/>
              <a:p>
                <a:r>
                  <a:rPr lang="en-US" sz="2400" dirty="0"/>
                  <a:t>Main operation of DES</a:t>
                </a:r>
              </a:p>
              <a:p>
                <a:r>
                  <a:rPr lang="en-US" sz="2400" i="1" dirty="0"/>
                  <a:t>f</a:t>
                </a:r>
                <a:r>
                  <a:rPr lang="en-US" sz="2400" dirty="0"/>
                  <a:t>-Function inputs: round key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𝑖</m:t>
                        </m:r>
                      </m:sub>
                    </m:sSub>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Sub>
                  </m:oMath>
                </a14:m>
                <a:endParaRPr lang="en-US" sz="2400" dirty="0"/>
              </a:p>
              <a:p>
                <a:endParaRPr lang="en-US" sz="2400" dirty="0"/>
              </a:p>
              <a:p>
                <a:r>
                  <a:rPr lang="en-US" sz="2400" dirty="0"/>
                  <a:t>4 steps:</a:t>
                </a:r>
              </a:p>
              <a:p>
                <a:pPr lvl="1"/>
                <a:r>
                  <a:rPr lang="en-US" sz="2000" dirty="0"/>
                  <a:t>Expansion </a:t>
                </a:r>
                <a:r>
                  <a:rPr lang="en-US" sz="2000" i="1" dirty="0"/>
                  <a:t>E</a:t>
                </a:r>
              </a:p>
              <a:p>
                <a:pPr lvl="1"/>
                <a:r>
                  <a:rPr lang="en-US" sz="2000" dirty="0"/>
                  <a:t>XOR with round key</a:t>
                </a:r>
              </a:p>
              <a:p>
                <a:pPr lvl="1"/>
                <a:r>
                  <a:rPr lang="en-US" sz="2000" dirty="0"/>
                  <a:t>S-box substitution</a:t>
                </a:r>
              </a:p>
              <a:p>
                <a:pPr lvl="1"/>
                <a:r>
                  <a:rPr lang="en-US" sz="2000" dirty="0"/>
                  <a:t>Permutation</a:t>
                </a:r>
              </a:p>
            </p:txBody>
          </p:sp>
        </mc:Choice>
        <mc:Fallback xmlns="">
          <p:sp>
            <p:nvSpPr>
              <p:cNvPr id="3" name="Content Placeholder 2">
                <a:extLst>
                  <a:ext uri="{FF2B5EF4-FFF2-40B4-BE49-F238E27FC236}">
                    <a16:creationId xmlns:a16="http://schemas.microsoft.com/office/drawing/2014/main" id="{4FCDB8E1-AA51-840B-384B-979041889C9F}"/>
                  </a:ext>
                </a:extLst>
              </p:cNvPr>
              <p:cNvSpPr>
                <a:spLocks noGrp="1" noRot="1" noChangeAspect="1" noMove="1" noResize="1" noEditPoints="1" noAdjustHandles="1" noChangeArrowheads="1" noChangeShapeType="1" noTextEdit="1"/>
              </p:cNvSpPr>
              <p:nvPr>
                <p:ph idx="1"/>
              </p:nvPr>
            </p:nvSpPr>
            <p:spPr>
              <a:xfrm>
                <a:off x="838200" y="1576047"/>
                <a:ext cx="5921829" cy="4351338"/>
              </a:xfrm>
              <a:blipFill>
                <a:blip r:embed="rId3"/>
                <a:stretch>
                  <a:fillRect l="-1442" t="-182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2C8299A-3355-0BD8-6AE5-9A6F0FEDBD76}"/>
              </a:ext>
            </a:extLst>
          </p:cNvPr>
          <p:cNvPicPr>
            <a:picLocks noChangeAspect="1"/>
          </p:cNvPicPr>
          <p:nvPr/>
        </p:nvPicPr>
        <p:blipFill>
          <a:blip r:embed="rId4"/>
          <a:stretch>
            <a:fillRect/>
          </a:stretch>
        </p:blipFill>
        <p:spPr>
          <a:xfrm>
            <a:off x="7106671" y="994625"/>
            <a:ext cx="3938701" cy="5514182"/>
          </a:xfrm>
          <a:prstGeom prst="rect">
            <a:avLst/>
          </a:prstGeom>
        </p:spPr>
      </p:pic>
      <p:cxnSp>
        <p:nvCxnSpPr>
          <p:cNvPr id="8" name="Straight Arrow Connector 7">
            <a:extLst>
              <a:ext uri="{FF2B5EF4-FFF2-40B4-BE49-F238E27FC236}">
                <a16:creationId xmlns:a16="http://schemas.microsoft.com/office/drawing/2014/main" id="{738D28B5-FB14-75C8-F43F-EAEB040E5E72}"/>
              </a:ext>
            </a:extLst>
          </p:cNvPr>
          <p:cNvCxnSpPr>
            <a:cxnSpLocks/>
          </p:cNvCxnSpPr>
          <p:nvPr/>
        </p:nvCxnSpPr>
        <p:spPr>
          <a:xfrm flipV="1">
            <a:off x="3108960" y="2090057"/>
            <a:ext cx="5026297" cy="1338943"/>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50D9C4A-9AC4-5A5F-8AFF-8A71DB87744D}"/>
              </a:ext>
            </a:extLst>
          </p:cNvPr>
          <p:cNvCxnSpPr>
            <a:cxnSpLocks/>
          </p:cNvCxnSpPr>
          <p:nvPr/>
        </p:nvCxnSpPr>
        <p:spPr>
          <a:xfrm flipV="1">
            <a:off x="3799114" y="3171371"/>
            <a:ext cx="4336143" cy="707209"/>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C1604CD-90A6-1178-D167-11F0BD8B9B02}"/>
              </a:ext>
            </a:extLst>
          </p:cNvPr>
          <p:cNvCxnSpPr>
            <a:cxnSpLocks/>
          </p:cNvCxnSpPr>
          <p:nvPr/>
        </p:nvCxnSpPr>
        <p:spPr>
          <a:xfrm>
            <a:off x="3726180" y="4229100"/>
            <a:ext cx="3175363" cy="409461"/>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84E3D15E-F10C-A6DD-C6F9-09BFF7F46D5A}"/>
              </a:ext>
            </a:extLst>
          </p:cNvPr>
          <p:cNvCxnSpPr>
            <a:cxnSpLocks/>
          </p:cNvCxnSpPr>
          <p:nvPr/>
        </p:nvCxnSpPr>
        <p:spPr>
          <a:xfrm>
            <a:off x="2987040" y="4518660"/>
            <a:ext cx="5235303" cy="1275319"/>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0954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3469-0F5A-742B-A4EA-93D5CCDE0258}"/>
              </a:ext>
            </a:extLst>
          </p:cNvPr>
          <p:cNvSpPr>
            <a:spLocks noGrp="1"/>
          </p:cNvSpPr>
          <p:nvPr>
            <p:ph type="title"/>
          </p:nvPr>
        </p:nvSpPr>
        <p:spPr>
          <a:xfrm>
            <a:off x="838200" y="83570"/>
            <a:ext cx="10515600" cy="1046560"/>
          </a:xfrm>
        </p:spPr>
        <p:txBody>
          <a:bodyPr/>
          <a:lstStyle/>
          <a:p>
            <a:r>
              <a:rPr lang="en-US" dirty="0"/>
              <a:t>DES internals: IP and </a:t>
            </a:r>
            <a:r>
              <a:rPr lang="en-US" sz="4400" dirty="0"/>
              <a:t>IP</a:t>
            </a:r>
            <a:r>
              <a:rPr lang="en-US" sz="4400" baseline="30000" dirty="0"/>
              <a:t>-1</a:t>
            </a:r>
            <a:r>
              <a:rPr lang="en-US" dirty="0"/>
              <a:t> </a:t>
            </a:r>
          </a:p>
        </p:txBody>
      </p:sp>
      <p:sp>
        <p:nvSpPr>
          <p:cNvPr id="3" name="Content Placeholder 2">
            <a:extLst>
              <a:ext uri="{FF2B5EF4-FFF2-40B4-BE49-F238E27FC236}">
                <a16:creationId xmlns:a16="http://schemas.microsoft.com/office/drawing/2014/main" id="{A84558BD-D2BC-B223-659F-FFEAA59AE7FC}"/>
              </a:ext>
            </a:extLst>
          </p:cNvPr>
          <p:cNvSpPr>
            <a:spLocks noGrp="1"/>
          </p:cNvSpPr>
          <p:nvPr>
            <p:ph idx="1"/>
          </p:nvPr>
        </p:nvSpPr>
        <p:spPr>
          <a:xfrm>
            <a:off x="678543" y="1130129"/>
            <a:ext cx="5627914" cy="1112328"/>
          </a:xfrm>
        </p:spPr>
        <p:txBody>
          <a:bodyPr/>
          <a:lstStyle/>
          <a:p>
            <a:r>
              <a:rPr lang="en-US" dirty="0"/>
              <a:t>Bitwise permutations</a:t>
            </a:r>
          </a:p>
          <a:p>
            <a:r>
              <a:rPr lang="en-US" dirty="0"/>
              <a:t>Described by tables IP and </a:t>
            </a:r>
            <a:r>
              <a:rPr lang="en-US" sz="2800" dirty="0"/>
              <a:t>IP</a:t>
            </a:r>
            <a:r>
              <a:rPr lang="en-US" sz="2800" baseline="30000" dirty="0"/>
              <a:t>-1</a:t>
            </a:r>
            <a:endParaRPr lang="en-US" dirty="0"/>
          </a:p>
        </p:txBody>
      </p:sp>
      <p:pic>
        <p:nvPicPr>
          <p:cNvPr id="5" name="Picture 4">
            <a:extLst>
              <a:ext uri="{FF2B5EF4-FFF2-40B4-BE49-F238E27FC236}">
                <a16:creationId xmlns:a16="http://schemas.microsoft.com/office/drawing/2014/main" id="{1D15240B-8F40-C4ED-ED58-710F9C4396E5}"/>
              </a:ext>
            </a:extLst>
          </p:cNvPr>
          <p:cNvPicPr>
            <a:picLocks noChangeAspect="1"/>
          </p:cNvPicPr>
          <p:nvPr/>
        </p:nvPicPr>
        <p:blipFill>
          <a:blip r:embed="rId3"/>
          <a:stretch>
            <a:fillRect/>
          </a:stretch>
        </p:blipFill>
        <p:spPr>
          <a:xfrm>
            <a:off x="8149771" y="1841329"/>
            <a:ext cx="4042229" cy="3417195"/>
          </a:xfrm>
          <a:prstGeom prst="rect">
            <a:avLst/>
          </a:prstGeom>
        </p:spPr>
      </p:pic>
      <p:pic>
        <p:nvPicPr>
          <p:cNvPr id="7" name="Picture 6">
            <a:extLst>
              <a:ext uri="{FF2B5EF4-FFF2-40B4-BE49-F238E27FC236}">
                <a16:creationId xmlns:a16="http://schemas.microsoft.com/office/drawing/2014/main" id="{0767E179-3CC7-4030-8126-831C99C3228E}"/>
              </a:ext>
            </a:extLst>
          </p:cNvPr>
          <p:cNvPicPr>
            <a:picLocks noChangeAspect="1"/>
          </p:cNvPicPr>
          <p:nvPr/>
        </p:nvPicPr>
        <p:blipFill>
          <a:blip r:embed="rId4"/>
          <a:stretch>
            <a:fillRect/>
          </a:stretch>
        </p:blipFill>
        <p:spPr>
          <a:xfrm>
            <a:off x="527479" y="2177143"/>
            <a:ext cx="7622292" cy="4597288"/>
          </a:xfrm>
          <a:prstGeom prst="rect">
            <a:avLst/>
          </a:prstGeom>
        </p:spPr>
      </p:pic>
    </p:spTree>
    <p:extLst>
      <p:ext uri="{BB962C8B-B14F-4D97-AF65-F5344CB8AC3E}">
        <p14:creationId xmlns:p14="http://schemas.microsoft.com/office/powerpoint/2010/main" val="4285401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81499-7A02-D911-6B76-0D028C8A9119}"/>
              </a:ext>
            </a:extLst>
          </p:cNvPr>
          <p:cNvSpPr>
            <a:spLocks noGrp="1"/>
          </p:cNvSpPr>
          <p:nvPr>
            <p:ph type="title"/>
          </p:nvPr>
        </p:nvSpPr>
        <p:spPr>
          <a:xfrm>
            <a:off x="838200" y="37149"/>
            <a:ext cx="10515600" cy="1022032"/>
          </a:xfrm>
        </p:spPr>
        <p:txBody>
          <a:bodyPr/>
          <a:lstStyle/>
          <a:p>
            <a:r>
              <a:rPr lang="en-US" i="1" dirty="0"/>
              <a:t>f</a:t>
            </a:r>
            <a:r>
              <a:rPr lang="en-US" dirty="0"/>
              <a:t>-Function: 1. the expansion function </a:t>
            </a:r>
            <a:r>
              <a:rPr lang="en-US" i="1" dirty="0"/>
              <a:t>E</a:t>
            </a:r>
          </a:p>
        </p:txBody>
      </p:sp>
      <p:sp>
        <p:nvSpPr>
          <p:cNvPr id="3" name="Content Placeholder 2">
            <a:extLst>
              <a:ext uri="{FF2B5EF4-FFF2-40B4-BE49-F238E27FC236}">
                <a16:creationId xmlns:a16="http://schemas.microsoft.com/office/drawing/2014/main" id="{5361F2D5-A150-F479-9BBD-CC5409168244}"/>
              </a:ext>
            </a:extLst>
          </p:cNvPr>
          <p:cNvSpPr>
            <a:spLocks noGrp="1"/>
          </p:cNvSpPr>
          <p:nvPr>
            <p:ph idx="1"/>
          </p:nvPr>
        </p:nvSpPr>
        <p:spPr>
          <a:xfrm>
            <a:off x="177801" y="1161639"/>
            <a:ext cx="6825343" cy="1325563"/>
          </a:xfrm>
        </p:spPr>
        <p:txBody>
          <a:bodyPr/>
          <a:lstStyle/>
          <a:p>
            <a:r>
              <a:rPr lang="en-US" sz="2400" dirty="0"/>
              <a:t>Main purpose: increases diffusion</a:t>
            </a:r>
          </a:p>
          <a:p>
            <a:pPr lvl="1"/>
            <a:r>
              <a:rPr lang="en-US" sz="1800" dirty="0"/>
              <a:t>Diffusion: the influence of one plaintext symbol is spread over many ciphertext symbols; hide statistical properties of the plaintext</a:t>
            </a:r>
          </a:p>
        </p:txBody>
      </p:sp>
      <p:pic>
        <p:nvPicPr>
          <p:cNvPr id="4" name="Picture 3">
            <a:extLst>
              <a:ext uri="{FF2B5EF4-FFF2-40B4-BE49-F238E27FC236}">
                <a16:creationId xmlns:a16="http://schemas.microsoft.com/office/drawing/2014/main" id="{C060E5AB-91C4-17B9-A951-BF33139CC3D3}"/>
              </a:ext>
            </a:extLst>
          </p:cNvPr>
          <p:cNvPicPr>
            <a:picLocks noChangeAspect="1"/>
          </p:cNvPicPr>
          <p:nvPr/>
        </p:nvPicPr>
        <p:blipFill>
          <a:blip r:embed="rId2"/>
          <a:stretch>
            <a:fillRect/>
          </a:stretch>
        </p:blipFill>
        <p:spPr>
          <a:xfrm>
            <a:off x="7106671" y="994625"/>
            <a:ext cx="3938701" cy="5514182"/>
          </a:xfrm>
          <a:prstGeom prst="rect">
            <a:avLst/>
          </a:prstGeom>
        </p:spPr>
      </p:pic>
      <p:pic>
        <p:nvPicPr>
          <p:cNvPr id="6" name="Picture 5">
            <a:extLst>
              <a:ext uri="{FF2B5EF4-FFF2-40B4-BE49-F238E27FC236}">
                <a16:creationId xmlns:a16="http://schemas.microsoft.com/office/drawing/2014/main" id="{6FC4FF0E-D522-38C4-EA0C-946B7AA4509C}"/>
              </a:ext>
            </a:extLst>
          </p:cNvPr>
          <p:cNvPicPr>
            <a:picLocks noChangeAspect="1"/>
          </p:cNvPicPr>
          <p:nvPr/>
        </p:nvPicPr>
        <p:blipFill>
          <a:blip r:embed="rId3"/>
          <a:stretch>
            <a:fillRect/>
          </a:stretch>
        </p:blipFill>
        <p:spPr>
          <a:xfrm>
            <a:off x="1331677" y="2487202"/>
            <a:ext cx="4626437" cy="4352543"/>
          </a:xfrm>
          <a:prstGeom prst="rect">
            <a:avLst/>
          </a:prstGeom>
        </p:spPr>
      </p:pic>
      <p:cxnSp>
        <p:nvCxnSpPr>
          <p:cNvPr id="7" name="Straight Arrow Connector 6">
            <a:extLst>
              <a:ext uri="{FF2B5EF4-FFF2-40B4-BE49-F238E27FC236}">
                <a16:creationId xmlns:a16="http://schemas.microsoft.com/office/drawing/2014/main" id="{F13F3158-2181-2179-447C-DEB0A6449326}"/>
              </a:ext>
            </a:extLst>
          </p:cNvPr>
          <p:cNvCxnSpPr>
            <a:cxnSpLocks/>
          </p:cNvCxnSpPr>
          <p:nvPr/>
        </p:nvCxnSpPr>
        <p:spPr>
          <a:xfrm>
            <a:off x="5246914" y="1343818"/>
            <a:ext cx="3229429" cy="499496"/>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0486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0C09E08-312E-10EE-AC7C-69E8852C1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603EE-D931-30DB-D698-CC21A4764146}"/>
              </a:ext>
            </a:extLst>
          </p:cNvPr>
          <p:cNvSpPr>
            <a:spLocks noGrp="1"/>
          </p:cNvSpPr>
          <p:nvPr>
            <p:ph type="title"/>
          </p:nvPr>
        </p:nvSpPr>
        <p:spPr>
          <a:xfrm>
            <a:off x="838200" y="0"/>
            <a:ext cx="10515600" cy="1029335"/>
          </a:xfrm>
        </p:spPr>
        <p:txBody>
          <a:bodyPr/>
          <a:lstStyle/>
          <a:p>
            <a:r>
              <a:rPr lang="en-US" i="1" dirty="0"/>
              <a:t>f</a:t>
            </a:r>
            <a:r>
              <a:rPr lang="en-US" dirty="0"/>
              <a:t>-Function: 2. add round key</a:t>
            </a:r>
            <a:endParaRPr lang="en-US" i="1" dirty="0"/>
          </a:p>
        </p:txBody>
      </p:sp>
      <p:sp>
        <p:nvSpPr>
          <p:cNvPr id="3" name="Content Placeholder 2">
            <a:extLst>
              <a:ext uri="{FF2B5EF4-FFF2-40B4-BE49-F238E27FC236}">
                <a16:creationId xmlns:a16="http://schemas.microsoft.com/office/drawing/2014/main" id="{9D93E3A6-B7FA-22BD-CBEA-FF7B8E003FB5}"/>
              </a:ext>
            </a:extLst>
          </p:cNvPr>
          <p:cNvSpPr>
            <a:spLocks noGrp="1"/>
          </p:cNvSpPr>
          <p:nvPr>
            <p:ph idx="1"/>
          </p:nvPr>
        </p:nvSpPr>
        <p:spPr>
          <a:xfrm>
            <a:off x="829128" y="2120943"/>
            <a:ext cx="5700486" cy="2172975"/>
          </a:xfrm>
        </p:spPr>
        <p:txBody>
          <a:bodyPr/>
          <a:lstStyle/>
          <a:p>
            <a:r>
              <a:rPr lang="en-US" sz="2400" dirty="0"/>
              <a:t>Bitwise XOR of the round key and the output of the expansion function </a:t>
            </a:r>
            <a:r>
              <a:rPr lang="en-US" sz="2400" i="1" dirty="0"/>
              <a:t>E</a:t>
            </a:r>
          </a:p>
          <a:p>
            <a:r>
              <a:rPr lang="en-US" sz="2400" dirty="0"/>
              <a:t>Round keys are derived from the main key in the DES keyschedule algorithm (in a few slides)</a:t>
            </a:r>
            <a:endParaRPr lang="en-US" sz="1800" dirty="0"/>
          </a:p>
        </p:txBody>
      </p:sp>
      <p:pic>
        <p:nvPicPr>
          <p:cNvPr id="4" name="Picture 3">
            <a:extLst>
              <a:ext uri="{FF2B5EF4-FFF2-40B4-BE49-F238E27FC236}">
                <a16:creationId xmlns:a16="http://schemas.microsoft.com/office/drawing/2014/main" id="{2E306F11-794C-A018-ACC8-1D20A08F08C1}"/>
              </a:ext>
            </a:extLst>
          </p:cNvPr>
          <p:cNvPicPr>
            <a:picLocks noChangeAspect="1"/>
          </p:cNvPicPr>
          <p:nvPr/>
        </p:nvPicPr>
        <p:blipFill>
          <a:blip r:embed="rId2"/>
          <a:stretch>
            <a:fillRect/>
          </a:stretch>
        </p:blipFill>
        <p:spPr>
          <a:xfrm>
            <a:off x="7106671" y="994625"/>
            <a:ext cx="3938701" cy="5514182"/>
          </a:xfrm>
          <a:prstGeom prst="rect">
            <a:avLst/>
          </a:prstGeom>
        </p:spPr>
      </p:pic>
      <p:cxnSp>
        <p:nvCxnSpPr>
          <p:cNvPr id="5" name="Straight Arrow Connector 4">
            <a:extLst>
              <a:ext uri="{FF2B5EF4-FFF2-40B4-BE49-F238E27FC236}">
                <a16:creationId xmlns:a16="http://schemas.microsoft.com/office/drawing/2014/main" id="{C4D1CF8E-78F7-FE4A-3693-32AA764B27EC}"/>
              </a:ext>
            </a:extLst>
          </p:cNvPr>
          <p:cNvCxnSpPr>
            <a:cxnSpLocks/>
          </p:cNvCxnSpPr>
          <p:nvPr/>
        </p:nvCxnSpPr>
        <p:spPr>
          <a:xfrm>
            <a:off x="6096000" y="2665228"/>
            <a:ext cx="2532743" cy="475343"/>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9615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9D9DBD-B65F-408D-74BF-A536751D2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A1246-5574-36B4-D8D9-9994FD00BD45}"/>
              </a:ext>
            </a:extLst>
          </p:cNvPr>
          <p:cNvSpPr>
            <a:spLocks noGrp="1"/>
          </p:cNvSpPr>
          <p:nvPr>
            <p:ph type="title"/>
          </p:nvPr>
        </p:nvSpPr>
        <p:spPr>
          <a:xfrm>
            <a:off x="838200" y="58039"/>
            <a:ext cx="10515600" cy="846455"/>
          </a:xfrm>
        </p:spPr>
        <p:txBody>
          <a:bodyPr/>
          <a:lstStyle/>
          <a:p>
            <a:r>
              <a:rPr lang="en-US" i="1" dirty="0"/>
              <a:t>f</a:t>
            </a:r>
            <a:r>
              <a:rPr lang="en-US" dirty="0"/>
              <a:t>-Function: 3. S-box</a:t>
            </a:r>
            <a:endParaRPr lang="en-US" i="1" dirty="0"/>
          </a:p>
        </p:txBody>
      </p:sp>
      <p:sp>
        <p:nvSpPr>
          <p:cNvPr id="3" name="Content Placeholder 2">
            <a:extLst>
              <a:ext uri="{FF2B5EF4-FFF2-40B4-BE49-F238E27FC236}">
                <a16:creationId xmlns:a16="http://schemas.microsoft.com/office/drawing/2014/main" id="{F6B7B258-057C-B93C-CBA3-94E3EEBC562C}"/>
              </a:ext>
            </a:extLst>
          </p:cNvPr>
          <p:cNvSpPr>
            <a:spLocks noGrp="1"/>
          </p:cNvSpPr>
          <p:nvPr>
            <p:ph idx="1"/>
          </p:nvPr>
        </p:nvSpPr>
        <p:spPr>
          <a:xfrm>
            <a:off x="838200" y="1277257"/>
            <a:ext cx="5700486" cy="3860800"/>
          </a:xfrm>
        </p:spPr>
        <p:txBody>
          <a:bodyPr>
            <a:normAutofit/>
          </a:bodyPr>
          <a:lstStyle/>
          <a:p>
            <a:r>
              <a:rPr lang="en-US" sz="2400" dirty="0"/>
              <a:t>Eight substitution tables</a:t>
            </a:r>
          </a:p>
          <a:p>
            <a:r>
              <a:rPr lang="en-US" sz="2400" dirty="0"/>
              <a:t>S</a:t>
            </a:r>
            <a:r>
              <a:rPr lang="en-US" sz="2400" baseline="-25000" dirty="0"/>
              <a:t>i</a:t>
            </a:r>
            <a:r>
              <a:rPr lang="en-US" sz="2400" dirty="0"/>
              <a:t>: {0,1}</a:t>
            </a:r>
            <a:r>
              <a:rPr lang="en-US" sz="2400" baseline="30000" dirty="0"/>
              <a:t>6</a:t>
            </a:r>
            <a:r>
              <a:rPr lang="en-US" sz="2400" dirty="0"/>
              <a:t> ⟶ {0,1}</a:t>
            </a:r>
            <a:r>
              <a:rPr lang="en-US" sz="2400" baseline="30000" dirty="0"/>
              <a:t>4 </a:t>
            </a:r>
            <a:r>
              <a:rPr lang="en-US" sz="2400" dirty="0"/>
              <a:t> </a:t>
            </a:r>
          </a:p>
          <a:p>
            <a:r>
              <a:rPr lang="en-US" sz="2400" b="1" dirty="0">
                <a:solidFill>
                  <a:srgbClr val="C00000"/>
                </a:solidFill>
              </a:rPr>
              <a:t>Non-linear</a:t>
            </a:r>
            <a:r>
              <a:rPr lang="en-US" sz="2400" dirty="0"/>
              <a:t> and resistant to differential cryptanalysis</a:t>
            </a:r>
          </a:p>
          <a:p>
            <a:r>
              <a:rPr lang="en-US" sz="2400" dirty="0"/>
              <a:t>Crucial element for DES security </a:t>
            </a:r>
            <a:r>
              <a:rPr lang="en-US" sz="2400" dirty="0">
                <a:sym typeface="Wingdings" panose="05000000000000000000" pitchFamily="2" charset="2"/>
              </a:rPr>
              <a:t> heart of DES!</a:t>
            </a:r>
          </a:p>
          <a:p>
            <a:r>
              <a:rPr lang="en-US" sz="2400" dirty="0">
                <a:sym typeface="Wingdings" panose="05000000000000000000" pitchFamily="2" charset="2"/>
              </a:rPr>
              <a:t>Provide confusion</a:t>
            </a:r>
          </a:p>
          <a:p>
            <a:pPr lvl="1"/>
            <a:r>
              <a:rPr lang="en-US" sz="2400" dirty="0"/>
              <a:t>Relationship between key and ciphertext is obscured (or, hidden)</a:t>
            </a:r>
            <a:endParaRPr lang="en-US" sz="2000" dirty="0">
              <a:sym typeface="Wingdings" panose="05000000000000000000" pitchFamily="2" charset="2"/>
            </a:endParaRPr>
          </a:p>
          <a:p>
            <a:pPr lvl="1"/>
            <a:endParaRPr lang="en-US" sz="2000" dirty="0"/>
          </a:p>
        </p:txBody>
      </p:sp>
      <p:pic>
        <p:nvPicPr>
          <p:cNvPr id="4" name="Picture 3">
            <a:extLst>
              <a:ext uri="{FF2B5EF4-FFF2-40B4-BE49-F238E27FC236}">
                <a16:creationId xmlns:a16="http://schemas.microsoft.com/office/drawing/2014/main" id="{4BB6477B-606B-7B51-1BF4-FB63D7F9EF3E}"/>
              </a:ext>
            </a:extLst>
          </p:cNvPr>
          <p:cNvPicPr>
            <a:picLocks noChangeAspect="1"/>
          </p:cNvPicPr>
          <p:nvPr/>
        </p:nvPicPr>
        <p:blipFill>
          <a:blip r:embed="rId3"/>
          <a:stretch>
            <a:fillRect/>
          </a:stretch>
        </p:blipFill>
        <p:spPr>
          <a:xfrm>
            <a:off x="7818835" y="547828"/>
            <a:ext cx="3938701" cy="5514182"/>
          </a:xfrm>
          <a:prstGeom prst="rect">
            <a:avLst/>
          </a:prstGeom>
        </p:spPr>
      </p:pic>
      <p:cxnSp>
        <p:nvCxnSpPr>
          <p:cNvPr id="5" name="Straight Arrow Connector 4">
            <a:extLst>
              <a:ext uri="{FF2B5EF4-FFF2-40B4-BE49-F238E27FC236}">
                <a16:creationId xmlns:a16="http://schemas.microsoft.com/office/drawing/2014/main" id="{D1ABFCFF-2811-1559-C0DA-D552501B0573}"/>
              </a:ext>
            </a:extLst>
          </p:cNvPr>
          <p:cNvCxnSpPr>
            <a:cxnSpLocks/>
          </p:cNvCxnSpPr>
          <p:nvPr/>
        </p:nvCxnSpPr>
        <p:spPr>
          <a:xfrm>
            <a:off x="6309360" y="2575560"/>
            <a:ext cx="1317897" cy="974112"/>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8" name="Content Placeholder 3">
            <a:extLst>
              <a:ext uri="{FF2B5EF4-FFF2-40B4-BE49-F238E27FC236}">
                <a16:creationId xmlns:a16="http://schemas.microsoft.com/office/drawing/2014/main" id="{447EFD51-E2BA-453A-516F-ED1584A8A6FA}"/>
              </a:ext>
            </a:extLst>
          </p:cNvPr>
          <p:cNvPicPr>
            <a:picLocks noChangeAspect="1"/>
          </p:cNvPicPr>
          <p:nvPr/>
        </p:nvPicPr>
        <p:blipFill rotWithShape="1">
          <a:blip r:embed="rId4"/>
          <a:srcRect l="-458" r="163"/>
          <a:stretch/>
        </p:blipFill>
        <p:spPr>
          <a:xfrm>
            <a:off x="410050" y="4910047"/>
            <a:ext cx="7926232" cy="1947953"/>
          </a:xfrm>
          <a:prstGeom prst="rect">
            <a:avLst/>
          </a:prstGeom>
        </p:spPr>
      </p:pic>
    </p:spTree>
    <p:extLst>
      <p:ext uri="{BB962C8B-B14F-4D97-AF65-F5344CB8AC3E}">
        <p14:creationId xmlns:p14="http://schemas.microsoft.com/office/powerpoint/2010/main" val="3440551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F9BB54-FDBE-BA73-373F-B4C4D5207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FFFEB-9F8C-41B1-C27D-24F793088826}"/>
              </a:ext>
            </a:extLst>
          </p:cNvPr>
          <p:cNvSpPr>
            <a:spLocks noGrp="1"/>
          </p:cNvSpPr>
          <p:nvPr>
            <p:ph type="title"/>
          </p:nvPr>
        </p:nvSpPr>
        <p:spPr>
          <a:xfrm>
            <a:off x="838200" y="8391"/>
            <a:ext cx="10515600" cy="816210"/>
          </a:xfrm>
        </p:spPr>
        <p:txBody>
          <a:bodyPr/>
          <a:lstStyle/>
          <a:p>
            <a:r>
              <a:rPr lang="en-US" i="1" dirty="0"/>
              <a:t>f</a:t>
            </a:r>
            <a:r>
              <a:rPr lang="en-US" dirty="0"/>
              <a:t>-Function: 4. permutation P</a:t>
            </a:r>
            <a:endParaRPr lang="en-US" i="1" dirty="0"/>
          </a:p>
        </p:txBody>
      </p:sp>
      <p:sp>
        <p:nvSpPr>
          <p:cNvPr id="3" name="Content Placeholder 2">
            <a:extLst>
              <a:ext uri="{FF2B5EF4-FFF2-40B4-BE49-F238E27FC236}">
                <a16:creationId xmlns:a16="http://schemas.microsoft.com/office/drawing/2014/main" id="{70FCBF8D-D1B6-FC5B-0D08-7A8A092AB529}"/>
              </a:ext>
            </a:extLst>
          </p:cNvPr>
          <p:cNvSpPr>
            <a:spLocks noGrp="1"/>
          </p:cNvSpPr>
          <p:nvPr>
            <p:ph idx="1"/>
          </p:nvPr>
        </p:nvSpPr>
        <p:spPr>
          <a:xfrm>
            <a:off x="838200" y="1181335"/>
            <a:ext cx="6092371" cy="3931514"/>
          </a:xfrm>
        </p:spPr>
        <p:txBody>
          <a:bodyPr>
            <a:normAutofit/>
          </a:bodyPr>
          <a:lstStyle/>
          <a:p>
            <a:r>
              <a:rPr lang="en-US" sz="2400" dirty="0"/>
              <a:t>Bitwise permutation</a:t>
            </a:r>
          </a:p>
          <a:p>
            <a:r>
              <a:rPr lang="en-US" sz="2400" dirty="0"/>
              <a:t>Introduce diffusion</a:t>
            </a:r>
          </a:p>
          <a:p>
            <a:pPr lvl="1"/>
            <a:r>
              <a:rPr lang="en-US" sz="2000" dirty="0"/>
              <a:t>Diffusion: the influence of one plaintext symbol is spread over many ciphertext symbols; hide statistical properties of the plaintext</a:t>
            </a:r>
          </a:p>
          <a:p>
            <a:r>
              <a:rPr lang="en-US" sz="2400" dirty="0"/>
              <a:t>Output bits of one S-Box effect several S-Boxes in next round</a:t>
            </a:r>
          </a:p>
          <a:p>
            <a:r>
              <a:rPr lang="en-US" sz="2400" dirty="0"/>
              <a:t>E, S-Boxes, and P guarantee that after Round 5 every bit is a function of each key bit and each plaintext bit.</a:t>
            </a:r>
          </a:p>
          <a:p>
            <a:pPr lvl="1"/>
            <a:endParaRPr lang="en-US" sz="2000" dirty="0"/>
          </a:p>
          <a:p>
            <a:pPr lvl="1"/>
            <a:endParaRPr lang="en-US" sz="2000" dirty="0"/>
          </a:p>
        </p:txBody>
      </p:sp>
      <p:pic>
        <p:nvPicPr>
          <p:cNvPr id="4" name="Picture 3">
            <a:extLst>
              <a:ext uri="{FF2B5EF4-FFF2-40B4-BE49-F238E27FC236}">
                <a16:creationId xmlns:a16="http://schemas.microsoft.com/office/drawing/2014/main" id="{789870F1-A708-6B41-2D60-03C58483AC3A}"/>
              </a:ext>
            </a:extLst>
          </p:cNvPr>
          <p:cNvPicPr>
            <a:picLocks noChangeAspect="1"/>
          </p:cNvPicPr>
          <p:nvPr/>
        </p:nvPicPr>
        <p:blipFill>
          <a:blip r:embed="rId2"/>
          <a:stretch>
            <a:fillRect/>
          </a:stretch>
        </p:blipFill>
        <p:spPr>
          <a:xfrm>
            <a:off x="7818835" y="547828"/>
            <a:ext cx="3938701" cy="5514182"/>
          </a:xfrm>
          <a:prstGeom prst="rect">
            <a:avLst/>
          </a:prstGeom>
        </p:spPr>
      </p:pic>
      <p:cxnSp>
        <p:nvCxnSpPr>
          <p:cNvPr id="5" name="Straight Arrow Connector 4">
            <a:extLst>
              <a:ext uri="{FF2B5EF4-FFF2-40B4-BE49-F238E27FC236}">
                <a16:creationId xmlns:a16="http://schemas.microsoft.com/office/drawing/2014/main" id="{B05BE763-CD2B-0BAA-2353-1C1D9B528FEB}"/>
              </a:ext>
            </a:extLst>
          </p:cNvPr>
          <p:cNvCxnSpPr>
            <a:cxnSpLocks/>
          </p:cNvCxnSpPr>
          <p:nvPr/>
        </p:nvCxnSpPr>
        <p:spPr>
          <a:xfrm>
            <a:off x="6770914" y="3650343"/>
            <a:ext cx="2373086" cy="1623742"/>
          </a:xfrm>
          <a:prstGeom prst="straightConnector1">
            <a:avLst/>
          </a:prstGeom>
          <a:ln w="571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11CA8056-AB31-A49F-09F3-24C0233577AD}"/>
              </a:ext>
            </a:extLst>
          </p:cNvPr>
          <p:cNvPicPr>
            <a:picLocks noChangeAspect="1"/>
          </p:cNvPicPr>
          <p:nvPr/>
        </p:nvPicPr>
        <p:blipFill>
          <a:blip r:embed="rId3"/>
          <a:stretch>
            <a:fillRect/>
          </a:stretch>
        </p:blipFill>
        <p:spPr>
          <a:xfrm>
            <a:off x="2163365" y="4859564"/>
            <a:ext cx="3431891" cy="1967420"/>
          </a:xfrm>
          <a:prstGeom prst="rect">
            <a:avLst/>
          </a:prstGeom>
        </p:spPr>
      </p:pic>
    </p:spTree>
    <p:extLst>
      <p:ext uri="{BB962C8B-B14F-4D97-AF65-F5344CB8AC3E}">
        <p14:creationId xmlns:p14="http://schemas.microsoft.com/office/powerpoint/2010/main" val="2625310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9FAFF-3C96-B11E-6CE1-EAE3642FF82B}"/>
              </a:ext>
            </a:extLst>
          </p:cNvPr>
          <p:cNvSpPr>
            <a:spLocks noGrp="1"/>
          </p:cNvSpPr>
          <p:nvPr>
            <p:ph type="title"/>
          </p:nvPr>
        </p:nvSpPr>
        <p:spPr>
          <a:xfrm>
            <a:off x="878278" y="0"/>
            <a:ext cx="10515600" cy="808840"/>
          </a:xfrm>
        </p:spPr>
        <p:txBody>
          <a:bodyPr>
            <a:normAutofit/>
          </a:bodyPr>
          <a:lstStyle/>
          <a:p>
            <a:r>
              <a:rPr lang="en-US" altLang="zh-CN" dirty="0"/>
              <a:t>Advanced Encryption Standard (</a:t>
            </a:r>
            <a:r>
              <a:rPr lang="en-US" dirty="0"/>
              <a:t>AES)</a:t>
            </a:r>
          </a:p>
        </p:txBody>
      </p:sp>
      <p:sp>
        <p:nvSpPr>
          <p:cNvPr id="4" name="Rectangle 3">
            <a:extLst>
              <a:ext uri="{FF2B5EF4-FFF2-40B4-BE49-F238E27FC236}">
                <a16:creationId xmlns:a16="http://schemas.microsoft.com/office/drawing/2014/main" id="{6013E626-7084-6F40-77AD-B4009038D212}"/>
              </a:ext>
            </a:extLst>
          </p:cNvPr>
          <p:cNvSpPr txBox="1">
            <a:spLocks noChangeArrowheads="1"/>
          </p:cNvSpPr>
          <p:nvPr/>
        </p:nvSpPr>
        <p:spPr>
          <a:xfrm>
            <a:off x="2035969" y="2047875"/>
            <a:ext cx="8229600" cy="40957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endParaRPr lang="en-US" sz="2000"/>
          </a:p>
          <a:p>
            <a:pPr marL="0" indent="0"/>
            <a:endParaRPr lang="en-US" sz="2000"/>
          </a:p>
          <a:p>
            <a:pPr marL="0" indent="0"/>
            <a:endParaRPr lang="en-US" sz="2000"/>
          </a:p>
          <a:p>
            <a:pPr marL="0" indent="0"/>
            <a:endParaRPr lang="en-US" sz="2000"/>
          </a:p>
          <a:p>
            <a:pPr marL="0" indent="0"/>
            <a:endParaRPr lang="en-US" sz="2000"/>
          </a:p>
          <a:p>
            <a:pPr marL="0" indent="0"/>
            <a:endParaRPr lang="en-US" sz="2000"/>
          </a:p>
          <a:p>
            <a:pPr marL="0" indent="0"/>
            <a:endParaRPr lang="en-US" sz="2000"/>
          </a:p>
          <a:p>
            <a:pPr marL="0" indent="0"/>
            <a:endParaRPr lang="en-US" sz="2000"/>
          </a:p>
        </p:txBody>
      </p:sp>
      <p:grpSp>
        <p:nvGrpSpPr>
          <p:cNvPr id="17" name="Group 16">
            <a:extLst>
              <a:ext uri="{FF2B5EF4-FFF2-40B4-BE49-F238E27FC236}">
                <a16:creationId xmlns:a16="http://schemas.microsoft.com/office/drawing/2014/main" id="{6728972E-3091-BB12-AE40-BD5CFB859263}"/>
              </a:ext>
            </a:extLst>
          </p:cNvPr>
          <p:cNvGrpSpPr/>
          <p:nvPr/>
        </p:nvGrpSpPr>
        <p:grpSpPr>
          <a:xfrm>
            <a:off x="162961" y="5142299"/>
            <a:ext cx="7594600" cy="1697951"/>
            <a:chOff x="2442369" y="2276475"/>
            <a:chExt cx="7594600" cy="1697951"/>
          </a:xfrm>
        </p:grpSpPr>
        <p:sp>
          <p:nvSpPr>
            <p:cNvPr id="5" name="Rectangle 4">
              <a:extLst>
                <a:ext uri="{FF2B5EF4-FFF2-40B4-BE49-F238E27FC236}">
                  <a16:creationId xmlns:a16="http://schemas.microsoft.com/office/drawing/2014/main" id="{C0ADEE06-C512-2EED-ED5B-45FAF80B9FB5}"/>
                </a:ext>
              </a:extLst>
            </p:cNvPr>
            <p:cNvSpPr>
              <a:spLocks noChangeArrowheads="1"/>
            </p:cNvSpPr>
            <p:nvPr/>
          </p:nvSpPr>
          <p:spPr bwMode="auto">
            <a:xfrm>
              <a:off x="5541169" y="2418160"/>
              <a:ext cx="1371600" cy="742950"/>
            </a:xfrm>
            <a:prstGeom prst="rect">
              <a:avLst/>
            </a:prstGeom>
            <a:solidFill>
              <a:schemeClr val="accent2">
                <a:lumMod val="60000"/>
                <a:lumOff val="40000"/>
              </a:schemeClr>
            </a:solidFill>
            <a:ln w="57150">
              <a:solidFill>
                <a:schemeClr val="tx1"/>
              </a:solidFill>
              <a:miter lim="800000"/>
              <a:headEnd/>
              <a:tailEnd/>
            </a:ln>
          </p:spPr>
          <p:txBody>
            <a:bodyPr wrap="none" anchor="ctr"/>
            <a:lstStyle/>
            <a:p>
              <a:pPr algn="ctr">
                <a:spcBef>
                  <a:spcPct val="50000"/>
                </a:spcBef>
              </a:pPr>
              <a:r>
                <a:rPr lang="en-US" sz="2800" b="1" dirty="0">
                  <a:solidFill>
                    <a:srgbClr val="0000FF"/>
                  </a:solidFill>
                  <a:latin typeface="Tahoma" pitchFamily="34" charset="0"/>
                </a:rPr>
                <a:t>AES</a:t>
              </a:r>
            </a:p>
          </p:txBody>
        </p:sp>
        <p:sp>
          <p:nvSpPr>
            <p:cNvPr id="6" name="Line 5">
              <a:extLst>
                <a:ext uri="{FF2B5EF4-FFF2-40B4-BE49-F238E27FC236}">
                  <a16:creationId xmlns:a16="http://schemas.microsoft.com/office/drawing/2014/main" id="{2A2D3DF9-49CE-48D8-54C0-C11FBA2E3A70}"/>
                </a:ext>
              </a:extLst>
            </p:cNvPr>
            <p:cNvSpPr>
              <a:spLocks noChangeShapeType="1"/>
            </p:cNvSpPr>
            <p:nvPr/>
          </p:nvSpPr>
          <p:spPr bwMode="auto">
            <a:xfrm>
              <a:off x="4626769" y="2818210"/>
              <a:ext cx="914400" cy="0"/>
            </a:xfrm>
            <a:prstGeom prst="line">
              <a:avLst/>
            </a:prstGeom>
            <a:noFill/>
            <a:ln w="9525">
              <a:solidFill>
                <a:schemeClr val="tx1"/>
              </a:solidFill>
              <a:round/>
              <a:headEnd type="none" w="med" len="med"/>
              <a:tailEnd type="triangle" w="med" len="med"/>
            </a:ln>
          </p:spPr>
          <p:txBody>
            <a:bodyPr wrap="none" anchor="ctr"/>
            <a:lstStyle/>
            <a:p>
              <a:endParaRPr lang="en-US"/>
            </a:p>
          </p:txBody>
        </p:sp>
        <p:sp>
          <p:nvSpPr>
            <p:cNvPr id="7" name="Line 6">
              <a:extLst>
                <a:ext uri="{FF2B5EF4-FFF2-40B4-BE49-F238E27FC236}">
                  <a16:creationId xmlns:a16="http://schemas.microsoft.com/office/drawing/2014/main" id="{33A59233-616F-6183-1531-514BA4F93874}"/>
                </a:ext>
              </a:extLst>
            </p:cNvPr>
            <p:cNvSpPr>
              <a:spLocks noChangeShapeType="1"/>
            </p:cNvSpPr>
            <p:nvPr/>
          </p:nvSpPr>
          <p:spPr bwMode="auto">
            <a:xfrm>
              <a:off x="6912769" y="2818210"/>
              <a:ext cx="914400" cy="0"/>
            </a:xfrm>
            <a:prstGeom prst="line">
              <a:avLst/>
            </a:prstGeom>
            <a:noFill/>
            <a:ln w="9525">
              <a:solidFill>
                <a:schemeClr val="tx1"/>
              </a:solidFill>
              <a:round/>
              <a:headEnd type="none" w="med" len="med"/>
              <a:tailEnd type="triangle" w="med" len="med"/>
            </a:ln>
          </p:spPr>
          <p:txBody>
            <a:bodyPr wrap="none" anchor="ctr"/>
            <a:lstStyle/>
            <a:p>
              <a:endParaRPr lang="en-US"/>
            </a:p>
          </p:txBody>
        </p:sp>
        <p:sp>
          <p:nvSpPr>
            <p:cNvPr id="8" name="Rectangle 7">
              <a:extLst>
                <a:ext uri="{FF2B5EF4-FFF2-40B4-BE49-F238E27FC236}">
                  <a16:creationId xmlns:a16="http://schemas.microsoft.com/office/drawing/2014/main" id="{10910479-1EB4-FC6B-BA7F-90D9E5871539}"/>
                </a:ext>
              </a:extLst>
            </p:cNvPr>
            <p:cNvSpPr>
              <a:spLocks noChangeArrowheads="1"/>
            </p:cNvSpPr>
            <p:nvPr/>
          </p:nvSpPr>
          <p:spPr bwMode="auto">
            <a:xfrm>
              <a:off x="7827169" y="2646760"/>
              <a:ext cx="2209800" cy="342900"/>
            </a:xfrm>
            <a:prstGeom prst="rect">
              <a:avLst/>
            </a:prstGeom>
            <a:solidFill>
              <a:schemeClr val="tx2">
                <a:lumMod val="50000"/>
                <a:lumOff val="50000"/>
              </a:schemeClr>
            </a:solidFill>
            <a:ln w="9525">
              <a:solidFill>
                <a:schemeClr val="tx1"/>
              </a:solidFill>
              <a:miter lim="800000"/>
              <a:headEnd/>
              <a:tailEnd/>
            </a:ln>
          </p:spPr>
          <p:txBody>
            <a:bodyPr wrap="none" anchor="ctr"/>
            <a:lstStyle/>
            <a:p>
              <a:pPr algn="ctr">
                <a:spcBef>
                  <a:spcPct val="50000"/>
                </a:spcBef>
              </a:pPr>
              <a:r>
                <a:rPr lang="en-US">
                  <a:latin typeface="Tahoma" pitchFamily="34" charset="0"/>
                </a:rPr>
                <a:t>CT Block</a:t>
              </a:r>
            </a:p>
          </p:txBody>
        </p:sp>
        <p:sp>
          <p:nvSpPr>
            <p:cNvPr id="9" name="Text Box 8">
              <a:extLst>
                <a:ext uri="{FF2B5EF4-FFF2-40B4-BE49-F238E27FC236}">
                  <a16:creationId xmlns:a16="http://schemas.microsoft.com/office/drawing/2014/main" id="{3190A1C6-88FF-4D46-3AE8-82731A35C8D2}"/>
                </a:ext>
              </a:extLst>
            </p:cNvPr>
            <p:cNvSpPr txBox="1">
              <a:spLocks noChangeArrowheads="1"/>
            </p:cNvSpPr>
            <p:nvPr/>
          </p:nvSpPr>
          <p:spPr bwMode="auto">
            <a:xfrm>
              <a:off x="8415486" y="2300843"/>
              <a:ext cx="997837" cy="369332"/>
            </a:xfrm>
            <a:prstGeom prst="rect">
              <a:avLst/>
            </a:prstGeom>
            <a:noFill/>
            <a:ln w="9525">
              <a:noFill/>
              <a:miter lim="800000"/>
              <a:headEnd/>
              <a:tailEnd/>
            </a:ln>
          </p:spPr>
          <p:txBody>
            <a:bodyPr wrap="none">
              <a:spAutoFit/>
            </a:bodyPr>
            <a:lstStyle/>
            <a:p>
              <a:pPr algn="ctr">
                <a:spcBef>
                  <a:spcPct val="50000"/>
                </a:spcBef>
              </a:pPr>
              <a:r>
                <a:rPr lang="en-US" sz="1800" dirty="0">
                  <a:latin typeface="Tahoma" pitchFamily="34" charset="0"/>
                </a:rPr>
                <a:t>128 bits</a:t>
              </a:r>
            </a:p>
          </p:txBody>
        </p:sp>
        <p:sp>
          <p:nvSpPr>
            <p:cNvPr id="10" name="Rectangle 9">
              <a:extLst>
                <a:ext uri="{FF2B5EF4-FFF2-40B4-BE49-F238E27FC236}">
                  <a16:creationId xmlns:a16="http://schemas.microsoft.com/office/drawing/2014/main" id="{B931204C-CEB6-59D6-E356-6E8064E6F0F6}"/>
                </a:ext>
              </a:extLst>
            </p:cNvPr>
            <p:cNvSpPr>
              <a:spLocks noChangeArrowheads="1"/>
            </p:cNvSpPr>
            <p:nvPr/>
          </p:nvSpPr>
          <p:spPr bwMode="auto">
            <a:xfrm>
              <a:off x="2442369" y="2646760"/>
              <a:ext cx="2209800" cy="342900"/>
            </a:xfrm>
            <a:prstGeom prst="rect">
              <a:avLst/>
            </a:prstGeom>
            <a:solidFill>
              <a:schemeClr val="tx2">
                <a:lumMod val="50000"/>
                <a:lumOff val="50000"/>
              </a:schemeClr>
            </a:solidFill>
            <a:ln w="9525">
              <a:solidFill>
                <a:schemeClr val="tx1"/>
              </a:solidFill>
              <a:miter lim="800000"/>
              <a:headEnd/>
              <a:tailEnd/>
            </a:ln>
          </p:spPr>
          <p:txBody>
            <a:bodyPr wrap="none" anchor="ctr"/>
            <a:lstStyle/>
            <a:p>
              <a:pPr algn="ctr">
                <a:spcBef>
                  <a:spcPct val="50000"/>
                </a:spcBef>
              </a:pPr>
              <a:r>
                <a:rPr lang="en-US" sz="2000" dirty="0">
                  <a:latin typeface="Tahoma" pitchFamily="34" charset="0"/>
                </a:rPr>
                <a:t>PT Block</a:t>
              </a:r>
            </a:p>
          </p:txBody>
        </p:sp>
        <p:sp>
          <p:nvSpPr>
            <p:cNvPr id="11" name="Text Box 10">
              <a:extLst>
                <a:ext uri="{FF2B5EF4-FFF2-40B4-BE49-F238E27FC236}">
                  <a16:creationId xmlns:a16="http://schemas.microsoft.com/office/drawing/2014/main" id="{FD49BCBC-2BE5-76DE-FB35-B1DB7440F926}"/>
                </a:ext>
              </a:extLst>
            </p:cNvPr>
            <p:cNvSpPr txBox="1">
              <a:spLocks noChangeArrowheads="1"/>
            </p:cNvSpPr>
            <p:nvPr/>
          </p:nvSpPr>
          <p:spPr bwMode="auto">
            <a:xfrm>
              <a:off x="2918521" y="2276475"/>
              <a:ext cx="1084464" cy="400110"/>
            </a:xfrm>
            <a:prstGeom prst="rect">
              <a:avLst/>
            </a:prstGeom>
            <a:noFill/>
            <a:ln w="9525">
              <a:noFill/>
              <a:miter lim="800000"/>
              <a:headEnd/>
              <a:tailEnd/>
            </a:ln>
          </p:spPr>
          <p:txBody>
            <a:bodyPr wrap="none">
              <a:spAutoFit/>
            </a:bodyPr>
            <a:lstStyle/>
            <a:p>
              <a:pPr algn="ctr">
                <a:spcBef>
                  <a:spcPct val="50000"/>
                </a:spcBef>
              </a:pPr>
              <a:r>
                <a:rPr lang="en-US" sz="2000" dirty="0">
                  <a:latin typeface="Tahoma" pitchFamily="34" charset="0"/>
                </a:rPr>
                <a:t>128 bits</a:t>
              </a:r>
            </a:p>
          </p:txBody>
        </p:sp>
        <p:sp>
          <p:nvSpPr>
            <p:cNvPr id="12" name="Rectangle 11">
              <a:extLst>
                <a:ext uri="{FF2B5EF4-FFF2-40B4-BE49-F238E27FC236}">
                  <a16:creationId xmlns:a16="http://schemas.microsoft.com/office/drawing/2014/main" id="{33BDC9EE-5D13-AADD-7B38-8AFAA4CC61AA}"/>
                </a:ext>
              </a:extLst>
            </p:cNvPr>
            <p:cNvSpPr>
              <a:spLocks noChangeArrowheads="1"/>
            </p:cNvSpPr>
            <p:nvPr/>
          </p:nvSpPr>
          <p:spPr bwMode="auto">
            <a:xfrm>
              <a:off x="5769769" y="3618310"/>
              <a:ext cx="990600" cy="342900"/>
            </a:xfrm>
            <a:prstGeom prst="rect">
              <a:avLst/>
            </a:prstGeom>
            <a:solidFill>
              <a:schemeClr val="tx2">
                <a:lumMod val="50000"/>
                <a:lumOff val="50000"/>
              </a:schemeClr>
            </a:solidFill>
            <a:ln w="9525">
              <a:solidFill>
                <a:schemeClr val="tx1"/>
              </a:solidFill>
              <a:miter lim="800000"/>
              <a:headEnd/>
              <a:tailEnd/>
            </a:ln>
          </p:spPr>
          <p:txBody>
            <a:bodyPr wrap="none" anchor="ctr"/>
            <a:lstStyle/>
            <a:p>
              <a:pPr algn="ctr">
                <a:spcBef>
                  <a:spcPct val="50000"/>
                </a:spcBef>
              </a:pPr>
              <a:r>
                <a:rPr lang="en-US">
                  <a:latin typeface="Tahoma" pitchFamily="34" charset="0"/>
                </a:rPr>
                <a:t>Key</a:t>
              </a:r>
            </a:p>
          </p:txBody>
        </p:sp>
        <p:sp>
          <p:nvSpPr>
            <p:cNvPr id="13" name="Text Box 12">
              <a:extLst>
                <a:ext uri="{FF2B5EF4-FFF2-40B4-BE49-F238E27FC236}">
                  <a16:creationId xmlns:a16="http://schemas.microsoft.com/office/drawing/2014/main" id="{AA9A9BB0-2857-0E6D-060F-315858C3B468}"/>
                </a:ext>
              </a:extLst>
            </p:cNvPr>
            <p:cNvSpPr txBox="1">
              <a:spLocks noChangeArrowheads="1"/>
            </p:cNvSpPr>
            <p:nvPr/>
          </p:nvSpPr>
          <p:spPr bwMode="auto">
            <a:xfrm>
              <a:off x="6760369" y="3605094"/>
              <a:ext cx="1933992" cy="369332"/>
            </a:xfrm>
            <a:prstGeom prst="rect">
              <a:avLst/>
            </a:prstGeom>
            <a:noFill/>
            <a:ln w="9525">
              <a:noFill/>
              <a:miter lim="800000"/>
              <a:headEnd/>
              <a:tailEnd/>
            </a:ln>
          </p:spPr>
          <p:txBody>
            <a:bodyPr wrap="none">
              <a:spAutoFit/>
            </a:bodyPr>
            <a:lstStyle/>
            <a:p>
              <a:pPr algn="ctr">
                <a:spcBef>
                  <a:spcPct val="50000"/>
                </a:spcBef>
              </a:pPr>
              <a:r>
                <a:rPr lang="en-US" dirty="0">
                  <a:latin typeface="Tahoma" pitchFamily="34" charset="0"/>
                </a:rPr>
                <a:t>128/192/256</a:t>
              </a:r>
              <a:r>
                <a:rPr lang="en-US" sz="1800" dirty="0">
                  <a:latin typeface="Tahoma" pitchFamily="34" charset="0"/>
                </a:rPr>
                <a:t> bits</a:t>
              </a:r>
            </a:p>
          </p:txBody>
        </p:sp>
        <p:sp>
          <p:nvSpPr>
            <p:cNvPr id="14" name="Line 13">
              <a:extLst>
                <a:ext uri="{FF2B5EF4-FFF2-40B4-BE49-F238E27FC236}">
                  <a16:creationId xmlns:a16="http://schemas.microsoft.com/office/drawing/2014/main" id="{C27BDFA8-468B-8490-5F1B-BE4026133736}"/>
                </a:ext>
              </a:extLst>
            </p:cNvPr>
            <p:cNvSpPr>
              <a:spLocks noChangeShapeType="1"/>
            </p:cNvSpPr>
            <p:nvPr/>
          </p:nvSpPr>
          <p:spPr bwMode="auto">
            <a:xfrm flipV="1">
              <a:off x="6303169" y="3161110"/>
              <a:ext cx="0" cy="457200"/>
            </a:xfrm>
            <a:prstGeom prst="line">
              <a:avLst/>
            </a:prstGeom>
            <a:noFill/>
            <a:ln w="9525">
              <a:solidFill>
                <a:schemeClr val="tx1"/>
              </a:solidFill>
              <a:round/>
              <a:headEnd/>
              <a:tailEnd type="triangle" w="med" len="med"/>
            </a:ln>
          </p:spPr>
          <p:txBody>
            <a:bodyPr wrap="none" anchor="ctr"/>
            <a:lstStyle/>
            <a:p>
              <a:endParaRPr lang="en-US"/>
            </a:p>
          </p:txBody>
        </p:sp>
      </p:grpSp>
      <p:sp>
        <p:nvSpPr>
          <p:cNvPr id="3" name="TextBox 2">
            <a:extLst>
              <a:ext uri="{FF2B5EF4-FFF2-40B4-BE49-F238E27FC236}">
                <a16:creationId xmlns:a16="http://schemas.microsoft.com/office/drawing/2014/main" id="{993E1EEC-6C5F-B7FF-FBAE-0126FA55F73D}"/>
              </a:ext>
            </a:extLst>
          </p:cNvPr>
          <p:cNvSpPr txBox="1"/>
          <p:nvPr/>
        </p:nvSpPr>
        <p:spPr>
          <a:xfrm>
            <a:off x="825500" y="1085820"/>
            <a:ext cx="10515600" cy="4154984"/>
          </a:xfrm>
          <a:prstGeom prst="rect">
            <a:avLst/>
          </a:prstGeom>
          <a:noFill/>
        </p:spPr>
        <p:txBody>
          <a:bodyPr wrap="square" rtlCol="0">
            <a:spAutoFit/>
          </a:bodyPr>
          <a:lstStyle/>
          <a:p>
            <a:pPr marL="457200" indent="-457200">
              <a:buFont typeface="Arial" panose="020B0604020202020204" pitchFamily="34" charset="0"/>
              <a:buChar char="•"/>
            </a:pPr>
            <a:r>
              <a:rPr lang="en-US" sz="2400" dirty="0"/>
              <a:t>The need for a new block cipher announced by National Institute of Standards and Technology (NIST) in January 1997</a:t>
            </a:r>
          </a:p>
          <a:p>
            <a:pPr marL="457200" indent="-457200">
              <a:buFont typeface="Arial" panose="020B0604020202020204" pitchFamily="34" charset="0"/>
              <a:buChar char="•"/>
            </a:pPr>
            <a:r>
              <a:rPr lang="en-US" sz="2400" dirty="0"/>
              <a:t>15 candidate schemes accepted in August 1998 </a:t>
            </a:r>
            <a:r>
              <a:rPr lang="en-US" sz="2400" dirty="0">
                <a:sym typeface="Wingdings" panose="05000000000000000000" pitchFamily="2" charset="2"/>
              </a:rPr>
              <a:t> Rijndael was chosen as the AES in October 2000</a:t>
            </a:r>
            <a:endParaRPr lang="en-US" sz="2400" dirty="0"/>
          </a:p>
          <a:p>
            <a:pPr marL="457200" indent="-457200">
              <a:buFont typeface="Arial" panose="020B0604020202020204" pitchFamily="34" charset="0"/>
              <a:buChar char="•"/>
            </a:pPr>
            <a:r>
              <a:rPr lang="en-US" sz="2400" dirty="0"/>
              <a:t>AES was formally approved as a US federal standard in November 2001 (</a:t>
            </a:r>
            <a:r>
              <a:rPr lang="en-US" sz="2400" dirty="0">
                <a:hlinkClick r:id="rId2"/>
              </a:rPr>
              <a:t>FIPS 197</a:t>
            </a:r>
            <a:r>
              <a:rPr lang="en-US" sz="2400" dirty="0"/>
              <a:t>)</a:t>
            </a:r>
          </a:p>
          <a:p>
            <a:pPr marL="457200" indent="-457200">
              <a:buFont typeface="Arial" panose="020B0604020202020204" pitchFamily="34" charset="0"/>
              <a:buChar char="•"/>
            </a:pPr>
            <a:r>
              <a:rPr lang="en-US" sz="2400" dirty="0"/>
              <a:t>Key lengths: 128, 192, and 256 bits</a:t>
            </a:r>
          </a:p>
          <a:p>
            <a:pPr marL="457200" indent="-457200">
              <a:buFont typeface="Arial" panose="020B0604020202020204" pitchFamily="34" charset="0"/>
              <a:buChar char="•"/>
            </a:pPr>
            <a:r>
              <a:rPr lang="en-US" sz="2400" dirty="0"/>
              <a:t>Block length: 128 bits</a:t>
            </a:r>
          </a:p>
          <a:p>
            <a:pPr marL="457200" indent="-457200">
              <a:buFont typeface="Arial" panose="020B0604020202020204" pitchFamily="34" charset="0"/>
              <a:buChar char="•"/>
            </a:pPr>
            <a:r>
              <a:rPr lang="en-US" sz="2400" dirty="0"/>
              <a:t>2025: No attacks have been found on AES that are (significantly) faster than exhaustive key search</a:t>
            </a:r>
          </a:p>
          <a:p>
            <a:pPr marL="457200" indent="-457200">
              <a:buFont typeface="Arial" panose="020B0604020202020204" pitchFamily="34" charset="0"/>
              <a:buChar char="•"/>
            </a:pPr>
            <a:r>
              <a:rPr lang="en-US" sz="2400" dirty="0"/>
              <a:t>AES is an example of a </a:t>
            </a:r>
            <a:r>
              <a:rPr lang="en-US" sz="2400" b="1" dirty="0">
                <a:solidFill>
                  <a:srgbClr val="C00000"/>
                </a:solidFill>
              </a:rPr>
              <a:t>substitution-permutation network</a:t>
            </a:r>
          </a:p>
        </p:txBody>
      </p:sp>
      <p:graphicFrame>
        <p:nvGraphicFramePr>
          <p:cNvPr id="15" name="Table 14">
            <a:extLst>
              <a:ext uri="{FF2B5EF4-FFF2-40B4-BE49-F238E27FC236}">
                <a16:creationId xmlns:a16="http://schemas.microsoft.com/office/drawing/2014/main" id="{0C8718C2-567C-CB44-E49C-B85EFFDA49CE}"/>
              </a:ext>
            </a:extLst>
          </p:cNvPr>
          <p:cNvGraphicFramePr>
            <a:graphicFrameLocks noGrp="1"/>
          </p:cNvGraphicFramePr>
          <p:nvPr/>
        </p:nvGraphicFramePr>
        <p:xfrm>
          <a:off x="7947664" y="5120640"/>
          <a:ext cx="4128131" cy="1737360"/>
        </p:xfrm>
        <a:graphic>
          <a:graphicData uri="http://schemas.openxmlformats.org/drawingml/2006/table">
            <a:tbl>
              <a:tblPr firstRow="1" bandRow="1">
                <a:tableStyleId>{5C22544A-7EE6-4342-B048-85BDC9FD1C3A}</a:tableStyleId>
              </a:tblPr>
              <a:tblGrid>
                <a:gridCol w="1126916">
                  <a:extLst>
                    <a:ext uri="{9D8B030D-6E8A-4147-A177-3AD203B41FA5}">
                      <a16:colId xmlns:a16="http://schemas.microsoft.com/office/drawing/2014/main" val="2010909067"/>
                    </a:ext>
                  </a:extLst>
                </a:gridCol>
                <a:gridCol w="1506447">
                  <a:extLst>
                    <a:ext uri="{9D8B030D-6E8A-4147-A177-3AD203B41FA5}">
                      <a16:colId xmlns:a16="http://schemas.microsoft.com/office/drawing/2014/main" val="3861132423"/>
                    </a:ext>
                  </a:extLst>
                </a:gridCol>
                <a:gridCol w="1494768">
                  <a:extLst>
                    <a:ext uri="{9D8B030D-6E8A-4147-A177-3AD203B41FA5}">
                      <a16:colId xmlns:a16="http://schemas.microsoft.com/office/drawing/2014/main" val="4053299076"/>
                    </a:ext>
                  </a:extLst>
                </a:gridCol>
              </a:tblGrid>
              <a:tr h="401809">
                <a:tc>
                  <a:txBody>
                    <a:bodyPr/>
                    <a:lstStyle/>
                    <a:p>
                      <a:pPr algn="ctr"/>
                      <a:endParaRPr lang="en-US" sz="1800" dirty="0"/>
                    </a:p>
                  </a:txBody>
                  <a:tcPr>
                    <a:solidFill>
                      <a:srgbClr val="4E95D9"/>
                    </a:solidFill>
                  </a:tcPr>
                </a:tc>
                <a:tc>
                  <a:txBody>
                    <a:bodyPr/>
                    <a:lstStyle/>
                    <a:p>
                      <a:pPr algn="ctr"/>
                      <a:r>
                        <a:rPr lang="en-US" sz="1800" dirty="0"/>
                        <a:t>Key length (bits)</a:t>
                      </a:r>
                    </a:p>
                  </a:txBody>
                  <a:tcPr>
                    <a:solidFill>
                      <a:srgbClr val="4E95D9"/>
                    </a:solidFill>
                  </a:tcPr>
                </a:tc>
                <a:tc>
                  <a:txBody>
                    <a:bodyPr/>
                    <a:lstStyle/>
                    <a:p>
                      <a:pPr algn="ctr"/>
                      <a:r>
                        <a:rPr lang="en-US" sz="1800" dirty="0"/>
                        <a:t>Number of rounds</a:t>
                      </a:r>
                    </a:p>
                  </a:txBody>
                  <a:tcPr>
                    <a:solidFill>
                      <a:srgbClr val="4E95D9"/>
                    </a:solidFill>
                  </a:tcPr>
                </a:tc>
                <a:extLst>
                  <a:ext uri="{0D108BD9-81ED-4DB2-BD59-A6C34878D82A}">
                    <a16:rowId xmlns:a16="http://schemas.microsoft.com/office/drawing/2014/main" val="1500471505"/>
                  </a:ext>
                </a:extLst>
              </a:tr>
              <a:tr h="295750">
                <a:tc>
                  <a:txBody>
                    <a:bodyPr/>
                    <a:lstStyle/>
                    <a:p>
                      <a:pPr algn="ctr"/>
                      <a:r>
                        <a:rPr lang="en-US" sz="1800" dirty="0"/>
                        <a:t>AES-128</a:t>
                      </a:r>
                    </a:p>
                  </a:txBody>
                  <a:tcPr/>
                </a:tc>
                <a:tc>
                  <a:txBody>
                    <a:bodyPr/>
                    <a:lstStyle/>
                    <a:p>
                      <a:pPr algn="ctr"/>
                      <a:r>
                        <a:rPr lang="en-US" sz="1800" dirty="0"/>
                        <a:t>128</a:t>
                      </a:r>
                    </a:p>
                  </a:txBody>
                  <a:tcPr/>
                </a:tc>
                <a:tc>
                  <a:txBody>
                    <a:bodyPr/>
                    <a:lstStyle/>
                    <a:p>
                      <a:pPr algn="ctr"/>
                      <a:r>
                        <a:rPr lang="en-US" sz="1800" dirty="0"/>
                        <a:t>10</a:t>
                      </a:r>
                    </a:p>
                  </a:txBody>
                  <a:tcPr/>
                </a:tc>
                <a:extLst>
                  <a:ext uri="{0D108BD9-81ED-4DB2-BD59-A6C34878D82A}">
                    <a16:rowId xmlns:a16="http://schemas.microsoft.com/office/drawing/2014/main" val="3134563018"/>
                  </a:ext>
                </a:extLst>
              </a:tr>
              <a:tr h="295750">
                <a:tc>
                  <a:txBody>
                    <a:bodyPr/>
                    <a:lstStyle/>
                    <a:p>
                      <a:pPr algn="ctr"/>
                      <a:r>
                        <a:rPr lang="en-US" sz="1800" dirty="0"/>
                        <a:t>AES-192</a:t>
                      </a:r>
                    </a:p>
                  </a:txBody>
                  <a:tcPr/>
                </a:tc>
                <a:tc>
                  <a:txBody>
                    <a:bodyPr/>
                    <a:lstStyle/>
                    <a:p>
                      <a:pPr algn="ctr"/>
                      <a:r>
                        <a:rPr lang="en-US" sz="1800" dirty="0"/>
                        <a:t>192</a:t>
                      </a:r>
                    </a:p>
                  </a:txBody>
                  <a:tcPr/>
                </a:tc>
                <a:tc>
                  <a:txBody>
                    <a:bodyPr/>
                    <a:lstStyle/>
                    <a:p>
                      <a:pPr algn="ctr"/>
                      <a:r>
                        <a:rPr lang="en-US" sz="1800" dirty="0"/>
                        <a:t>12</a:t>
                      </a:r>
                    </a:p>
                  </a:txBody>
                  <a:tcPr/>
                </a:tc>
                <a:extLst>
                  <a:ext uri="{0D108BD9-81ED-4DB2-BD59-A6C34878D82A}">
                    <a16:rowId xmlns:a16="http://schemas.microsoft.com/office/drawing/2014/main" val="3361515698"/>
                  </a:ext>
                </a:extLst>
              </a:tr>
              <a:tr h="295750">
                <a:tc>
                  <a:txBody>
                    <a:bodyPr/>
                    <a:lstStyle/>
                    <a:p>
                      <a:pPr algn="ctr"/>
                      <a:r>
                        <a:rPr lang="en-US" sz="1800" dirty="0"/>
                        <a:t>AES-256</a:t>
                      </a:r>
                    </a:p>
                  </a:txBody>
                  <a:tcPr/>
                </a:tc>
                <a:tc>
                  <a:txBody>
                    <a:bodyPr/>
                    <a:lstStyle/>
                    <a:p>
                      <a:pPr algn="ctr"/>
                      <a:r>
                        <a:rPr lang="en-US" sz="1800" dirty="0"/>
                        <a:t>256</a:t>
                      </a:r>
                    </a:p>
                  </a:txBody>
                  <a:tcPr/>
                </a:tc>
                <a:tc>
                  <a:txBody>
                    <a:bodyPr/>
                    <a:lstStyle/>
                    <a:p>
                      <a:pPr algn="ctr"/>
                      <a:r>
                        <a:rPr lang="en-US" sz="1800" dirty="0"/>
                        <a:t>14</a:t>
                      </a:r>
                    </a:p>
                  </a:txBody>
                  <a:tcPr/>
                </a:tc>
                <a:extLst>
                  <a:ext uri="{0D108BD9-81ED-4DB2-BD59-A6C34878D82A}">
                    <a16:rowId xmlns:a16="http://schemas.microsoft.com/office/drawing/2014/main" val="2400422771"/>
                  </a:ext>
                </a:extLst>
              </a:tr>
            </a:tbl>
          </a:graphicData>
        </a:graphic>
      </p:graphicFrame>
    </p:spTree>
    <p:extLst>
      <p:ext uri="{BB962C8B-B14F-4D97-AF65-F5344CB8AC3E}">
        <p14:creationId xmlns:p14="http://schemas.microsoft.com/office/powerpoint/2010/main" val="1305096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1B41-A01A-7C52-D73D-8BA513E13A27}"/>
              </a:ext>
            </a:extLst>
          </p:cNvPr>
          <p:cNvSpPr>
            <a:spLocks noGrp="1"/>
          </p:cNvSpPr>
          <p:nvPr>
            <p:ph type="title"/>
          </p:nvPr>
        </p:nvSpPr>
        <p:spPr>
          <a:xfrm>
            <a:off x="838200" y="0"/>
            <a:ext cx="10515600" cy="925203"/>
          </a:xfrm>
        </p:spPr>
        <p:txBody>
          <a:bodyPr/>
          <a:lstStyle/>
          <a:p>
            <a:r>
              <a:rPr lang="en-US" dirty="0"/>
              <a:t>Substitution-permutation Networks (</a:t>
            </a:r>
            <a:r>
              <a:rPr lang="en-US" dirty="0">
                <a:hlinkClick r:id="rId2"/>
              </a:rPr>
              <a:t>SPN</a:t>
            </a:r>
            <a:r>
              <a:rPr lang="en-US" dirty="0"/>
              <a:t>)</a:t>
            </a:r>
          </a:p>
        </p:txBody>
      </p:sp>
      <p:sp>
        <p:nvSpPr>
          <p:cNvPr id="3" name="Content Placeholder 2">
            <a:extLst>
              <a:ext uri="{FF2B5EF4-FFF2-40B4-BE49-F238E27FC236}">
                <a16:creationId xmlns:a16="http://schemas.microsoft.com/office/drawing/2014/main" id="{3124CBA7-9A8B-1CF2-0283-C2D450A3F0C0}"/>
              </a:ext>
            </a:extLst>
          </p:cNvPr>
          <p:cNvSpPr>
            <a:spLocks noGrp="1"/>
          </p:cNvSpPr>
          <p:nvPr>
            <p:ph idx="1"/>
          </p:nvPr>
        </p:nvSpPr>
        <p:spPr>
          <a:xfrm>
            <a:off x="838200" y="1014293"/>
            <a:ext cx="10515600" cy="925202"/>
          </a:xfrm>
        </p:spPr>
        <p:txBody>
          <a:bodyPr>
            <a:normAutofit/>
          </a:bodyPr>
          <a:lstStyle/>
          <a:p>
            <a:r>
              <a:rPr lang="en-US" dirty="0"/>
              <a:t>A SPN is an iterated block cipher where a round consists of a substitution operation followed by a permutation operation</a:t>
            </a:r>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7FB667F1-ACA4-3B73-CF17-BE7269137CC2}"/>
                  </a:ext>
                </a:extLst>
              </p:cNvPr>
              <p:cNvSpPr txBox="1">
                <a:spLocks/>
              </p:cNvSpPr>
              <p:nvPr/>
            </p:nvSpPr>
            <p:spPr>
              <a:xfrm>
                <a:off x="173181" y="2234894"/>
                <a:ext cx="6900194" cy="44518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Components of a SPN cipher: </a:t>
                </a:r>
              </a:p>
              <a:p>
                <a:pPr lvl="1"/>
                <a14:m>
                  <m:oMath xmlns:m="http://schemas.openxmlformats.org/officeDocument/2006/math">
                    <m:r>
                      <a:rPr lang="en-US" i="1" dirty="0" smtClean="0">
                        <a:latin typeface="Cambria Math" panose="02040503050406030204" pitchFamily="18" charset="0"/>
                      </a:rPr>
                      <m:t>𝑛</m:t>
                    </m:r>
                  </m:oMath>
                </a14:m>
                <a:r>
                  <a:rPr lang="en-US" dirty="0"/>
                  <a:t>: the block length (in bits) </a:t>
                </a:r>
              </a:p>
              <a:p>
                <a:pPr lvl="1"/>
                <a14:m>
                  <m:oMath xmlns:m="http://schemas.openxmlformats.org/officeDocument/2006/math">
                    <m:r>
                      <a:rPr lang="en-US" i="1" dirty="0" smtClean="0">
                        <a:latin typeface="Cambria Math" panose="02040503050406030204" pitchFamily="18" charset="0"/>
                      </a:rPr>
                      <m:t>𝑙</m:t>
                    </m:r>
                  </m:oMath>
                </a14:m>
                <a:r>
                  <a:rPr lang="en-US" dirty="0"/>
                  <a:t>: the key length (in bits) </a:t>
                </a:r>
              </a:p>
              <a:p>
                <a:pPr lvl="1"/>
                <a14:m>
                  <m:oMath xmlns:m="http://schemas.openxmlformats.org/officeDocument/2006/math">
                    <m:r>
                      <a:rPr lang="en-US" i="1" dirty="0" smtClean="0">
                        <a:latin typeface="Cambria Math" panose="02040503050406030204" pitchFamily="18" charset="0"/>
                      </a:rPr>
                      <m:t>h</m:t>
                    </m:r>
                  </m:oMath>
                </a14:m>
                <a:r>
                  <a:rPr lang="en-US" dirty="0"/>
                  <a:t>: the number of rounds</a:t>
                </a:r>
              </a:p>
              <a:p>
                <a:pPr lvl="1"/>
                <a:r>
                  <a:rPr lang="en-US" dirty="0"/>
                  <a:t>A fixed invertible function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{0, 1}</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{0, 1}</m:t>
                        </m:r>
                      </m:e>
                      <m:sup>
                        <m:r>
                          <a:rPr lang="en-US" i="1">
                            <a:latin typeface="Cambria Math" panose="02040503050406030204" pitchFamily="18" charset="0"/>
                          </a:rPr>
                          <m:t>𝑏</m:t>
                        </m:r>
                      </m:sup>
                    </m:sSup>
                  </m:oMath>
                </a14:m>
                <a:r>
                  <a:rPr lang="en-US" dirty="0"/>
                  <a:t> called a </a:t>
                </a:r>
                <a:r>
                  <a:rPr lang="en-US" dirty="0">
                    <a:solidFill>
                      <a:srgbClr val="C00000"/>
                    </a:solidFill>
                  </a:rPr>
                  <a:t>substitution</a:t>
                </a:r>
                <a:r>
                  <a:rPr lang="en-US" dirty="0"/>
                  <a:t>, where </a:t>
                </a:r>
                <a14:m>
                  <m:oMath xmlns:m="http://schemas.openxmlformats.org/officeDocument/2006/math">
                    <m:r>
                      <a:rPr lang="en-US" b="0" i="1" dirty="0" smtClean="0">
                        <a:latin typeface="Cambria Math" panose="02040503050406030204" pitchFamily="18" charset="0"/>
                      </a:rPr>
                      <m:t>𝑏</m:t>
                    </m:r>
                    <m:r>
                      <a:rPr lang="en-US" i="1" dirty="0">
                        <a:latin typeface="Cambria Math" panose="02040503050406030204" pitchFamily="18" charset="0"/>
                      </a:rPr>
                      <m:t> </m:t>
                    </m:r>
                  </m:oMath>
                </a14:m>
                <a:r>
                  <a:rPr lang="en-US" dirty="0"/>
                  <a:t>is a divisor of </a:t>
                </a:r>
                <a14:m>
                  <m:oMath xmlns:m="http://schemas.openxmlformats.org/officeDocument/2006/math">
                    <m:r>
                      <a:rPr lang="en-US" i="1" dirty="0">
                        <a:latin typeface="Cambria Math" panose="02040503050406030204" pitchFamily="18" charset="0"/>
                      </a:rPr>
                      <m:t>𝑛</m:t>
                    </m:r>
                  </m:oMath>
                </a14:m>
                <a:r>
                  <a:rPr lang="en-US" dirty="0"/>
                  <a:t>. </a:t>
                </a:r>
              </a:p>
              <a:p>
                <a:pPr lvl="1"/>
                <a:r>
                  <a:rPr lang="en-US" dirty="0"/>
                  <a:t>A fixed </a:t>
                </a:r>
                <a:r>
                  <a:rPr lang="en-US" dirty="0">
                    <a:solidFill>
                      <a:srgbClr val="C00000"/>
                    </a:solidFill>
                  </a:rPr>
                  <a:t>permutation</a:t>
                </a:r>
                <a:r>
                  <a:rPr lang="en-US" dirty="0"/>
                  <a:t> </a:t>
                </a:r>
                <a14:m>
                  <m:oMath xmlns:m="http://schemas.openxmlformats.org/officeDocument/2006/math">
                    <m:r>
                      <a:rPr lang="en-US" b="0" i="1" dirty="0" smtClean="0">
                        <a:latin typeface="Cambria Math" panose="02040503050406030204" pitchFamily="18" charset="0"/>
                      </a:rPr>
                      <m:t>𝑃</m:t>
                    </m:r>
                    <m:r>
                      <a:rPr lang="en-US" i="1" dirty="0" smtClean="0">
                        <a:latin typeface="Cambria Math" panose="02040503050406030204" pitchFamily="18" charset="0"/>
                      </a:rPr>
                      <m:t> </m:t>
                    </m:r>
                  </m:oMath>
                </a14:m>
                <a:r>
                  <a:rPr lang="en-US" dirty="0"/>
                  <a:t>on </a:t>
                </a:r>
                <a14:m>
                  <m:oMath xmlns:m="http://schemas.openxmlformats.org/officeDocument/2006/math">
                    <m:r>
                      <a:rPr lang="en-US" b="0" i="1" dirty="0" smtClean="0">
                        <a:latin typeface="Cambria Math" panose="02040503050406030204" pitchFamily="18" charset="0"/>
                      </a:rPr>
                      <m:t>{1, 2, …, </m:t>
                    </m:r>
                    <m:r>
                      <a:rPr lang="en-US" b="0" i="1" dirty="0" smtClean="0">
                        <a:latin typeface="Cambria Math" panose="02040503050406030204" pitchFamily="18" charset="0"/>
                      </a:rPr>
                      <m:t>𝑛</m:t>
                    </m:r>
                    <m:r>
                      <a:rPr lang="en-US" b="0" i="1" dirty="0" smtClean="0">
                        <a:latin typeface="Cambria Math" panose="02040503050406030204" pitchFamily="18" charset="0"/>
                      </a:rPr>
                      <m:t>}</m:t>
                    </m:r>
                  </m:oMath>
                </a14:m>
                <a:r>
                  <a:rPr lang="en-US" dirty="0"/>
                  <a:t> </a:t>
                </a:r>
              </a:p>
              <a:p>
                <a:pPr lvl="1"/>
                <a:r>
                  <a:rPr lang="en-US" dirty="0"/>
                  <a:t>A </a:t>
                </a:r>
                <a:r>
                  <a:rPr lang="en-US" dirty="0">
                    <a:solidFill>
                      <a:srgbClr val="C00000"/>
                    </a:solidFill>
                  </a:rPr>
                  <a:t>key scheduling algorithm</a:t>
                </a:r>
                <a:r>
                  <a:rPr lang="en-US" dirty="0"/>
                  <a:t> that determines </a:t>
                </a:r>
                <a:r>
                  <a:rPr lang="en-US" b="1" dirty="0"/>
                  <a:t>subkeys</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h</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h</m:t>
                        </m:r>
                        <m:r>
                          <a:rPr lang="en-US" b="0" i="1" smtClean="0">
                            <a:latin typeface="Cambria Math" panose="02040503050406030204" pitchFamily="18" charset="0"/>
                          </a:rPr>
                          <m:t>+1</m:t>
                        </m:r>
                      </m:sub>
                    </m:sSub>
                  </m:oMath>
                </a14:m>
                <a:r>
                  <a:rPr lang="en-US" dirty="0"/>
                  <a:t>from a key </a:t>
                </a:r>
                <a14:m>
                  <m:oMath xmlns:m="http://schemas.openxmlformats.org/officeDocument/2006/math">
                    <m:r>
                      <a:rPr lang="en-US" b="0" i="1" dirty="0" smtClean="0">
                        <a:latin typeface="Cambria Math" panose="02040503050406030204" pitchFamily="18" charset="0"/>
                      </a:rPr>
                      <m:t>𝑘</m:t>
                    </m:r>
                  </m:oMath>
                </a14:m>
                <a:r>
                  <a:rPr lang="en-US" dirty="0"/>
                  <a:t>.</a:t>
                </a:r>
              </a:p>
            </p:txBody>
          </p:sp>
        </mc:Choice>
        <mc:Fallback xmlns="">
          <p:sp>
            <p:nvSpPr>
              <p:cNvPr id="4" name="Content Placeholder 2">
                <a:extLst>
                  <a:ext uri="{FF2B5EF4-FFF2-40B4-BE49-F238E27FC236}">
                    <a16:creationId xmlns:a16="http://schemas.microsoft.com/office/drawing/2014/main" id="{7FB667F1-ACA4-3B73-CF17-BE7269137CC2}"/>
                  </a:ext>
                </a:extLst>
              </p:cNvPr>
              <p:cNvSpPr txBox="1">
                <a:spLocks noRot="1" noChangeAspect="1" noMove="1" noResize="1" noEditPoints="1" noAdjustHandles="1" noChangeArrowheads="1" noChangeShapeType="1" noTextEdit="1"/>
              </p:cNvSpPr>
              <p:nvPr/>
            </p:nvSpPr>
            <p:spPr>
              <a:xfrm>
                <a:off x="173181" y="2234894"/>
                <a:ext cx="6900194" cy="4451821"/>
              </a:xfrm>
              <a:prstGeom prst="rect">
                <a:avLst/>
              </a:prstGeom>
              <a:blipFill>
                <a:blip r:embed="rId3"/>
                <a:stretch>
                  <a:fillRect l="-1590" t="-2466" r="-1413"/>
                </a:stretch>
              </a:blipFill>
            </p:spPr>
            <p:txBody>
              <a:bodyPr/>
              <a:lstStyle/>
              <a:p>
                <a:r>
                  <a:rPr lang="en-US">
                    <a:noFill/>
                  </a:rPr>
                  <a:t> </a:t>
                </a:r>
              </a:p>
            </p:txBody>
          </p:sp>
        </mc:Fallback>
      </mc:AlternateContent>
      <p:pic>
        <p:nvPicPr>
          <p:cNvPr id="5122" name="Picture 2">
            <a:extLst>
              <a:ext uri="{FF2B5EF4-FFF2-40B4-BE49-F238E27FC236}">
                <a16:creationId xmlns:a16="http://schemas.microsoft.com/office/drawing/2014/main" id="{1B6FD514-566C-2B09-AD4C-187C61C4A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2143290"/>
            <a:ext cx="3429000" cy="454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5444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32B477-EC9A-1858-AF22-5B8695EEC109}"/>
              </a:ext>
            </a:extLst>
          </p:cNvPr>
          <p:cNvSpPr>
            <a:spLocks noGrp="1"/>
          </p:cNvSpPr>
          <p:nvPr>
            <p:ph idx="1"/>
          </p:nvPr>
        </p:nvSpPr>
        <p:spPr>
          <a:xfrm>
            <a:off x="838200" y="1224238"/>
            <a:ext cx="6597912" cy="5493957"/>
          </a:xfrm>
        </p:spPr>
        <p:txBody>
          <a:bodyPr>
            <a:normAutofit fontScale="92500" lnSpcReduction="10000"/>
          </a:bodyPr>
          <a:lstStyle/>
          <a:p>
            <a:r>
              <a:rPr lang="en-US" dirty="0"/>
              <a:t>Here is a description of encryption</a:t>
            </a:r>
          </a:p>
          <a:p>
            <a:endParaRPr lang="en-US" dirty="0"/>
          </a:p>
          <a:p>
            <a:endParaRPr lang="en-US" dirty="0"/>
          </a:p>
          <a:p>
            <a:endParaRPr lang="en-US" dirty="0"/>
          </a:p>
          <a:p>
            <a:endParaRPr lang="en-US" dirty="0"/>
          </a:p>
          <a:p>
            <a:endParaRPr lang="en-US" dirty="0"/>
          </a:p>
          <a:p>
            <a:endParaRPr lang="en-US" dirty="0"/>
          </a:p>
          <a:p>
            <a:endParaRPr lang="en-US" dirty="0"/>
          </a:p>
          <a:p>
            <a:r>
              <a:rPr lang="en-US" dirty="0"/>
              <a:t>Decryption is the reverse of encryption</a:t>
            </a:r>
          </a:p>
          <a:p>
            <a:r>
              <a:rPr lang="en-US" dirty="0"/>
              <a:t>AES is an SPN, where the permutation operation is comprised of two invertible linear transformations (ShiftRows &amp; MixColumns )</a:t>
            </a:r>
          </a:p>
        </p:txBody>
      </p:sp>
      <p:pic>
        <p:nvPicPr>
          <p:cNvPr id="6" name="Picture 5">
            <a:extLst>
              <a:ext uri="{FF2B5EF4-FFF2-40B4-BE49-F238E27FC236}">
                <a16:creationId xmlns:a16="http://schemas.microsoft.com/office/drawing/2014/main" id="{6915580E-5549-DE4A-F783-834467922608}"/>
              </a:ext>
            </a:extLst>
          </p:cNvPr>
          <p:cNvPicPr>
            <a:picLocks noChangeAspect="1"/>
          </p:cNvPicPr>
          <p:nvPr/>
        </p:nvPicPr>
        <p:blipFill>
          <a:blip r:embed="rId2"/>
          <a:stretch>
            <a:fillRect/>
          </a:stretch>
        </p:blipFill>
        <p:spPr>
          <a:xfrm>
            <a:off x="1893468" y="2020814"/>
            <a:ext cx="3913673" cy="2629627"/>
          </a:xfrm>
          <a:prstGeom prst="rect">
            <a:avLst/>
          </a:prstGeom>
        </p:spPr>
      </p:pic>
      <p:pic>
        <p:nvPicPr>
          <p:cNvPr id="9218" name="Picture 2">
            <a:extLst>
              <a:ext uri="{FF2B5EF4-FFF2-40B4-BE49-F238E27FC236}">
                <a16:creationId xmlns:a16="http://schemas.microsoft.com/office/drawing/2014/main" id="{45141E51-1E7E-19A1-EEBF-290C6B6BC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1343818"/>
            <a:ext cx="3429000" cy="4543425"/>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785FD9B-606D-68E9-D46E-5FD907F29EF0}"/>
              </a:ext>
            </a:extLst>
          </p:cNvPr>
          <p:cNvSpPr>
            <a:spLocks noGrp="1"/>
          </p:cNvSpPr>
          <p:nvPr>
            <p:ph type="title"/>
          </p:nvPr>
        </p:nvSpPr>
        <p:spPr>
          <a:xfrm>
            <a:off x="838200" y="0"/>
            <a:ext cx="10515600" cy="925203"/>
          </a:xfrm>
        </p:spPr>
        <p:txBody>
          <a:bodyPr/>
          <a:lstStyle/>
          <a:p>
            <a:r>
              <a:rPr lang="en-US" dirty="0"/>
              <a:t>Substitution-permutation Networks (</a:t>
            </a:r>
            <a:r>
              <a:rPr lang="en-US" dirty="0">
                <a:hlinkClick r:id="rId4"/>
              </a:rPr>
              <a:t>SPN</a:t>
            </a:r>
            <a:r>
              <a:rPr lang="en-US" dirty="0"/>
              <a:t>)</a:t>
            </a:r>
          </a:p>
        </p:txBody>
      </p:sp>
    </p:spTree>
    <p:extLst>
      <p:ext uri="{BB962C8B-B14F-4D97-AF65-F5344CB8AC3E}">
        <p14:creationId xmlns:p14="http://schemas.microsoft.com/office/powerpoint/2010/main" val="25377896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623B-E6D2-37EA-F1EB-2CB869179621}"/>
              </a:ext>
            </a:extLst>
          </p:cNvPr>
          <p:cNvSpPr>
            <a:spLocks noGrp="1"/>
          </p:cNvSpPr>
          <p:nvPr>
            <p:ph type="title"/>
          </p:nvPr>
        </p:nvSpPr>
        <p:spPr>
          <a:xfrm>
            <a:off x="581853" y="108939"/>
            <a:ext cx="6527607" cy="965481"/>
          </a:xfrm>
        </p:spPr>
        <p:txBody>
          <a:bodyPr/>
          <a:lstStyle/>
          <a:p>
            <a:r>
              <a:rPr lang="en-US" dirty="0"/>
              <a:t>AES: structural information</a:t>
            </a: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4E6788E9-2439-9A07-1BCC-E9E9590C7AF4}"/>
                  </a:ext>
                </a:extLst>
              </p:cNvPr>
              <p:cNvSpPr txBox="1">
                <a:spLocks/>
              </p:cNvSpPr>
              <p:nvPr/>
            </p:nvSpPr>
            <p:spPr>
              <a:xfrm>
                <a:off x="721117" y="1302620"/>
                <a:ext cx="6607019" cy="1909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dirty="0"/>
                  <a:t>All operations are byte oriented: Efficient in software and hardware</a:t>
                </a:r>
              </a:p>
              <a:p>
                <a:r>
                  <a:rPr lang="en-US" sz="2600" dirty="0"/>
                  <a:t>From the key </a:t>
                </a:r>
                <a14:m>
                  <m:oMath xmlns:m="http://schemas.openxmlformats.org/officeDocument/2006/math">
                    <m:r>
                      <a:rPr lang="en-US" sz="2600" i="1" dirty="0" smtClean="0">
                        <a:latin typeface="Cambria Math" panose="02040503050406030204" pitchFamily="18" charset="0"/>
                      </a:rPr>
                      <m:t>𝑘</m:t>
                    </m:r>
                  </m:oMath>
                </a14:m>
                <a:r>
                  <a:rPr lang="en-US" sz="2600" dirty="0"/>
                  <a:t> derive </a:t>
                </a:r>
                <a14:m>
                  <m:oMath xmlns:m="http://schemas.openxmlformats.org/officeDocument/2006/math">
                    <m:r>
                      <a:rPr lang="en-US" sz="2600" i="1" dirty="0" smtClean="0">
                        <a:latin typeface="Cambria Math" panose="02040503050406030204" pitchFamily="18" charset="0"/>
                      </a:rPr>
                      <m:t>h</m:t>
                    </m:r>
                    <m:r>
                      <a:rPr lang="en-US" sz="2600" i="1" dirty="0" smtClean="0">
                        <a:latin typeface="Cambria Math" panose="02040503050406030204" pitchFamily="18" charset="0"/>
                      </a:rPr>
                      <m:t> + 1 </m:t>
                    </m:r>
                  </m:oMath>
                </a14:m>
                <a:r>
                  <a:rPr lang="en-US" sz="2600" dirty="0"/>
                  <a:t>subkeys </a:t>
                </a:r>
                <a14:m>
                  <m:oMath xmlns:m="http://schemas.openxmlformats.org/officeDocument/2006/math">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𝑘</m:t>
                        </m:r>
                      </m:e>
                      <m:sub>
                        <m:r>
                          <a:rPr lang="en-US" sz="2600" b="0" i="1" smtClean="0">
                            <a:latin typeface="Cambria Math" panose="02040503050406030204" pitchFamily="18" charset="0"/>
                          </a:rPr>
                          <m:t>1</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𝑘</m:t>
                        </m:r>
                      </m:e>
                      <m:sub>
                        <m:r>
                          <a:rPr lang="en-US" sz="2600" b="0" i="1" smtClean="0">
                            <a:latin typeface="Cambria Math" panose="02040503050406030204" pitchFamily="18" charset="0"/>
                          </a:rPr>
                          <m:t>2</m:t>
                        </m:r>
                      </m:sub>
                    </m:sSub>
                    <m:r>
                      <a:rPr lang="en-US" sz="2600" b="0" i="1" smtClean="0">
                        <a:latin typeface="Cambria Math" panose="02040503050406030204" pitchFamily="18" charset="0"/>
                      </a:rPr>
                      <m:t>, …,</m:t>
                    </m:r>
                    <m:sSub>
                      <m:sSubPr>
                        <m:ctrlPr>
                          <a:rPr lang="en-US" sz="2600" i="1">
                            <a:latin typeface="Cambria Math" panose="02040503050406030204" pitchFamily="18" charset="0"/>
                          </a:rPr>
                        </m:ctrlPr>
                      </m:sSubPr>
                      <m:e>
                        <m:r>
                          <a:rPr lang="en-US" sz="2600" i="1">
                            <a:latin typeface="Cambria Math" panose="02040503050406030204" pitchFamily="18" charset="0"/>
                          </a:rPr>
                          <m:t>𝑘</m:t>
                        </m:r>
                      </m:e>
                      <m:sub>
                        <m:r>
                          <a:rPr lang="en-US" sz="2600" b="0" i="1" smtClean="0">
                            <a:latin typeface="Cambria Math" panose="02040503050406030204" pitchFamily="18" charset="0"/>
                          </a:rPr>
                          <m:t>h</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𝑘</m:t>
                        </m:r>
                      </m:e>
                      <m:sub>
                        <m:r>
                          <a:rPr lang="en-US" sz="2600" b="0" i="1" smtClean="0">
                            <a:latin typeface="Cambria Math" panose="02040503050406030204" pitchFamily="18" charset="0"/>
                          </a:rPr>
                          <m:t>h</m:t>
                        </m:r>
                        <m:r>
                          <a:rPr lang="en-US" sz="2600" b="0" i="1" smtClean="0">
                            <a:latin typeface="Cambria Math" panose="02040503050406030204" pitchFamily="18" charset="0"/>
                          </a:rPr>
                          <m:t>+1</m:t>
                        </m:r>
                      </m:sub>
                    </m:sSub>
                  </m:oMath>
                </a14:m>
                <a:endParaRPr lang="en-US" sz="2600" dirty="0"/>
              </a:p>
            </p:txBody>
          </p:sp>
        </mc:Choice>
        <mc:Fallback xmlns="">
          <p:sp>
            <p:nvSpPr>
              <p:cNvPr id="10" name="Content Placeholder 2">
                <a:extLst>
                  <a:ext uri="{FF2B5EF4-FFF2-40B4-BE49-F238E27FC236}">
                    <a16:creationId xmlns:a16="http://schemas.microsoft.com/office/drawing/2014/main" id="{4E6788E9-2439-9A07-1BCC-E9E9590C7AF4}"/>
                  </a:ext>
                </a:extLst>
              </p:cNvPr>
              <p:cNvSpPr txBox="1">
                <a:spLocks noRot="1" noChangeAspect="1" noMove="1" noResize="1" noEditPoints="1" noAdjustHandles="1" noChangeArrowheads="1" noChangeShapeType="1" noTextEdit="1"/>
              </p:cNvSpPr>
              <p:nvPr/>
            </p:nvSpPr>
            <p:spPr>
              <a:xfrm>
                <a:off x="721117" y="1302620"/>
                <a:ext cx="6607019" cy="1909116"/>
              </a:xfrm>
              <a:prstGeom prst="rect">
                <a:avLst/>
              </a:prstGeom>
              <a:blipFill>
                <a:blip r:embed="rId2"/>
                <a:stretch>
                  <a:fillRect l="-1384" t="-5112" r="-1199"/>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21C1B3BE-D79A-8E50-D19E-BEE87AC318FE}"/>
              </a:ext>
            </a:extLst>
          </p:cNvPr>
          <p:cNvPicPr>
            <a:picLocks noChangeAspect="1"/>
          </p:cNvPicPr>
          <p:nvPr/>
        </p:nvPicPr>
        <p:blipFill>
          <a:blip r:embed="rId3"/>
          <a:stretch>
            <a:fillRect/>
          </a:stretch>
        </p:blipFill>
        <p:spPr>
          <a:xfrm>
            <a:off x="7328136" y="-18255"/>
            <a:ext cx="4669560" cy="6858000"/>
          </a:xfrm>
          <a:prstGeom prst="rect">
            <a:avLst/>
          </a:prstGeom>
        </p:spPr>
      </p:pic>
      <p:sp>
        <p:nvSpPr>
          <p:cNvPr id="14" name="Rectangle 13">
            <a:extLst>
              <a:ext uri="{FF2B5EF4-FFF2-40B4-BE49-F238E27FC236}">
                <a16:creationId xmlns:a16="http://schemas.microsoft.com/office/drawing/2014/main" id="{D709F299-FDC5-0B65-C812-B323F96FCF09}"/>
              </a:ext>
            </a:extLst>
          </p:cNvPr>
          <p:cNvSpPr/>
          <p:nvPr/>
        </p:nvSpPr>
        <p:spPr>
          <a:xfrm>
            <a:off x="8237157" y="5456172"/>
            <a:ext cx="1534076" cy="35518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B1FC62AD-93C5-C26D-EF67-853D6A34F9C6}"/>
              </a:ext>
            </a:extLst>
          </p:cNvPr>
          <p:cNvPicPr>
            <a:picLocks noChangeAspect="1"/>
          </p:cNvPicPr>
          <p:nvPr/>
        </p:nvPicPr>
        <p:blipFill>
          <a:blip r:embed="rId4"/>
          <a:stretch>
            <a:fillRect/>
          </a:stretch>
        </p:blipFill>
        <p:spPr>
          <a:xfrm>
            <a:off x="2209599" y="3019877"/>
            <a:ext cx="3630054" cy="3729184"/>
          </a:xfrm>
          <a:prstGeom prst="rect">
            <a:avLst/>
          </a:prstGeom>
        </p:spPr>
      </p:pic>
    </p:spTree>
    <p:extLst>
      <p:ext uri="{BB962C8B-B14F-4D97-AF65-F5344CB8AC3E}">
        <p14:creationId xmlns:p14="http://schemas.microsoft.com/office/powerpoint/2010/main" val="3736716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E1C1-9FC1-B4B9-99F3-0A34DE8F86FD}"/>
              </a:ext>
            </a:extLst>
          </p:cNvPr>
          <p:cNvSpPr>
            <a:spLocks noGrp="1"/>
          </p:cNvSpPr>
          <p:nvPr>
            <p:ph type="title"/>
          </p:nvPr>
        </p:nvSpPr>
        <p:spPr>
          <a:xfrm>
            <a:off x="838200" y="83185"/>
            <a:ext cx="10515600" cy="1325563"/>
          </a:xfrm>
        </p:spPr>
        <p:txBody>
          <a:bodyPr/>
          <a:lstStyle/>
          <a:p>
            <a:r>
              <a:rPr lang="en" dirty="0"/>
              <a:t>AES Algorithm: AddRoundKey()</a:t>
            </a:r>
            <a:endParaRPr lang="en-US" dirty="0"/>
          </a:p>
        </p:txBody>
      </p:sp>
      <p:sp>
        <p:nvSpPr>
          <p:cNvPr id="3" name="Content Placeholder 2">
            <a:extLst>
              <a:ext uri="{FF2B5EF4-FFF2-40B4-BE49-F238E27FC236}">
                <a16:creationId xmlns:a16="http://schemas.microsoft.com/office/drawing/2014/main" id="{D175D05D-5516-B7AC-AF83-20857D8FA134}"/>
              </a:ext>
            </a:extLst>
          </p:cNvPr>
          <p:cNvSpPr>
            <a:spLocks noGrp="1"/>
          </p:cNvSpPr>
          <p:nvPr>
            <p:ph idx="1"/>
          </p:nvPr>
        </p:nvSpPr>
        <p:spPr>
          <a:xfrm>
            <a:off x="838200" y="1825625"/>
            <a:ext cx="10515600" cy="1019175"/>
          </a:xfrm>
        </p:spPr>
        <p:txBody>
          <a:bodyPr/>
          <a:lstStyle/>
          <a:p>
            <a:r>
              <a:rPr lang="en-US" dirty="0"/>
              <a:t>XOR the 16-byte block with the 16-byte round key</a:t>
            </a:r>
          </a:p>
          <a:p>
            <a:endParaRPr lang="en-US" dirty="0"/>
          </a:p>
        </p:txBody>
      </p:sp>
      <p:pic>
        <p:nvPicPr>
          <p:cNvPr id="4" name="Google Shape;627;p58" title="Diagram of AddRoundKey procedure in AES algorithm">
            <a:extLst>
              <a:ext uri="{FF2B5EF4-FFF2-40B4-BE49-F238E27FC236}">
                <a16:creationId xmlns:a16="http://schemas.microsoft.com/office/drawing/2014/main" id="{5103F7B1-C625-7B24-B37F-19BA4F31B4AA}"/>
              </a:ext>
            </a:extLst>
          </p:cNvPr>
          <p:cNvPicPr preferRelativeResize="0"/>
          <p:nvPr/>
        </p:nvPicPr>
        <p:blipFill>
          <a:blip r:embed="rId2">
            <a:alphaModFix/>
          </a:blip>
          <a:stretch>
            <a:fillRect/>
          </a:stretch>
        </p:blipFill>
        <p:spPr>
          <a:xfrm>
            <a:off x="3518701" y="2796469"/>
            <a:ext cx="5154598" cy="3843805"/>
          </a:xfrm>
          <a:prstGeom prst="rect">
            <a:avLst/>
          </a:prstGeom>
          <a:noFill/>
          <a:ln>
            <a:noFill/>
          </a:ln>
        </p:spPr>
      </p:pic>
    </p:spTree>
    <p:extLst>
      <p:ext uri="{BB962C8B-B14F-4D97-AF65-F5344CB8AC3E}">
        <p14:creationId xmlns:p14="http://schemas.microsoft.com/office/powerpoint/2010/main" val="1291840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C1BE-D252-4BC1-25A1-71CD487F6D80}"/>
              </a:ext>
            </a:extLst>
          </p:cNvPr>
          <p:cNvSpPr>
            <a:spLocks noGrp="1"/>
          </p:cNvSpPr>
          <p:nvPr>
            <p:ph type="title"/>
          </p:nvPr>
        </p:nvSpPr>
        <p:spPr>
          <a:xfrm>
            <a:off x="838200" y="0"/>
            <a:ext cx="10515600" cy="1325563"/>
          </a:xfrm>
        </p:spPr>
        <p:txBody>
          <a:bodyPr/>
          <a:lstStyle/>
          <a:p>
            <a:r>
              <a:rPr lang="en-US" dirty="0"/>
              <a:t>AES Algorithm: </a:t>
            </a:r>
            <a:r>
              <a:rPr lang="en-US" dirty="0" err="1"/>
              <a:t>SubBytes</a:t>
            </a:r>
            <a:r>
              <a:rPr lang="en-US" dirty="0"/>
              <a:t>()</a:t>
            </a:r>
          </a:p>
        </p:txBody>
      </p:sp>
      <p:sp>
        <p:nvSpPr>
          <p:cNvPr id="3" name="Content Placeholder 2">
            <a:extLst>
              <a:ext uri="{FF2B5EF4-FFF2-40B4-BE49-F238E27FC236}">
                <a16:creationId xmlns:a16="http://schemas.microsoft.com/office/drawing/2014/main" id="{82F07D6B-CDC0-9273-4019-47FA8F8FC04F}"/>
              </a:ext>
            </a:extLst>
          </p:cNvPr>
          <p:cNvSpPr>
            <a:spLocks noGrp="1"/>
          </p:cNvSpPr>
          <p:nvPr>
            <p:ph idx="1"/>
          </p:nvPr>
        </p:nvSpPr>
        <p:spPr>
          <a:xfrm>
            <a:off x="838200" y="1825625"/>
            <a:ext cx="10515600" cy="1154642"/>
          </a:xfrm>
        </p:spPr>
        <p:txBody>
          <a:bodyPr/>
          <a:lstStyle/>
          <a:p>
            <a:r>
              <a:rPr lang="en-US" dirty="0"/>
              <a:t>Replace each byte in the block with another byte using an 8-bit substitution box</a:t>
            </a:r>
          </a:p>
          <a:p>
            <a:endParaRPr lang="en-US" dirty="0"/>
          </a:p>
        </p:txBody>
      </p:sp>
      <p:pic>
        <p:nvPicPr>
          <p:cNvPr id="4" name="Google Shape;603;p55" title="Diagram of SubBytes procedure in AES algorithm">
            <a:extLst>
              <a:ext uri="{FF2B5EF4-FFF2-40B4-BE49-F238E27FC236}">
                <a16:creationId xmlns:a16="http://schemas.microsoft.com/office/drawing/2014/main" id="{2449AC63-80A1-7B04-64E6-8814BE93A428}"/>
              </a:ext>
            </a:extLst>
          </p:cNvPr>
          <p:cNvPicPr preferRelativeResize="0"/>
          <p:nvPr/>
        </p:nvPicPr>
        <p:blipFill rotWithShape="1">
          <a:blip r:embed="rId3">
            <a:alphaModFix/>
          </a:blip>
          <a:srcRect l="16454" t="33341" r="17439" b="2004"/>
          <a:stretch/>
        </p:blipFill>
        <p:spPr>
          <a:xfrm>
            <a:off x="3174075" y="3115204"/>
            <a:ext cx="5843849" cy="2975900"/>
          </a:xfrm>
          <a:prstGeom prst="rect">
            <a:avLst/>
          </a:prstGeom>
          <a:noFill/>
          <a:ln>
            <a:noFill/>
          </a:ln>
        </p:spPr>
      </p:pic>
    </p:spTree>
    <p:extLst>
      <p:ext uri="{BB962C8B-B14F-4D97-AF65-F5344CB8AC3E}">
        <p14:creationId xmlns:p14="http://schemas.microsoft.com/office/powerpoint/2010/main" val="3010707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C1BE-D252-4BC1-25A1-71CD487F6D80}"/>
              </a:ext>
            </a:extLst>
          </p:cNvPr>
          <p:cNvSpPr>
            <a:spLocks noGrp="1"/>
          </p:cNvSpPr>
          <p:nvPr>
            <p:ph type="title"/>
          </p:nvPr>
        </p:nvSpPr>
        <p:spPr>
          <a:xfrm>
            <a:off x="838200" y="0"/>
            <a:ext cx="10515600" cy="1325563"/>
          </a:xfrm>
        </p:spPr>
        <p:txBody>
          <a:bodyPr/>
          <a:lstStyle/>
          <a:p>
            <a:r>
              <a:rPr lang="en-US" dirty="0"/>
              <a:t>AES Algorithm: </a:t>
            </a:r>
            <a:r>
              <a:rPr lang="en" dirty="0"/>
              <a:t>ShiftRows</a:t>
            </a:r>
            <a:r>
              <a:rPr lang="en-US" dirty="0"/>
              <a:t>()</a:t>
            </a:r>
          </a:p>
        </p:txBody>
      </p:sp>
      <p:sp>
        <p:nvSpPr>
          <p:cNvPr id="3" name="Content Placeholder 2">
            <a:extLst>
              <a:ext uri="{FF2B5EF4-FFF2-40B4-BE49-F238E27FC236}">
                <a16:creationId xmlns:a16="http://schemas.microsoft.com/office/drawing/2014/main" id="{82F07D6B-CDC0-9273-4019-47FA8F8FC04F}"/>
              </a:ext>
            </a:extLst>
          </p:cNvPr>
          <p:cNvSpPr>
            <a:spLocks noGrp="1"/>
          </p:cNvSpPr>
          <p:nvPr>
            <p:ph idx="1"/>
          </p:nvPr>
        </p:nvSpPr>
        <p:spPr>
          <a:xfrm>
            <a:off x="838200" y="1825625"/>
            <a:ext cx="10515600" cy="1154642"/>
          </a:xfrm>
        </p:spPr>
        <p:txBody>
          <a:bodyPr/>
          <a:lstStyle/>
          <a:p>
            <a:r>
              <a:rPr lang="en-US" dirty="0"/>
              <a:t>Cyclically shifts the bytes in each row by a certain offset</a:t>
            </a:r>
          </a:p>
          <a:p>
            <a:r>
              <a:rPr lang="en-US" dirty="0"/>
              <a:t>The number of places each byte is shifted differs for each row</a:t>
            </a:r>
          </a:p>
        </p:txBody>
      </p:sp>
      <p:pic>
        <p:nvPicPr>
          <p:cNvPr id="5" name="Google Shape;611;p56" title="Diagram of ShiftRows procedure in AES algorithm">
            <a:extLst>
              <a:ext uri="{FF2B5EF4-FFF2-40B4-BE49-F238E27FC236}">
                <a16:creationId xmlns:a16="http://schemas.microsoft.com/office/drawing/2014/main" id="{67C0E68F-2E1B-4015-27BE-E21E2AD42921}"/>
              </a:ext>
            </a:extLst>
          </p:cNvPr>
          <p:cNvPicPr preferRelativeResize="0"/>
          <p:nvPr/>
        </p:nvPicPr>
        <p:blipFill rotWithShape="1">
          <a:blip r:embed="rId3">
            <a:alphaModFix/>
          </a:blip>
          <a:srcRect l="9286" t="41971" r="7505"/>
          <a:stretch/>
        </p:blipFill>
        <p:spPr>
          <a:xfrm>
            <a:off x="3002687" y="3678165"/>
            <a:ext cx="6186625" cy="2283750"/>
          </a:xfrm>
          <a:prstGeom prst="rect">
            <a:avLst/>
          </a:prstGeom>
          <a:noFill/>
          <a:ln>
            <a:noFill/>
          </a:ln>
        </p:spPr>
      </p:pic>
    </p:spTree>
    <p:extLst>
      <p:ext uri="{BB962C8B-B14F-4D97-AF65-F5344CB8AC3E}">
        <p14:creationId xmlns:p14="http://schemas.microsoft.com/office/powerpoint/2010/main" val="2462918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C1BE-D252-4BC1-25A1-71CD487F6D80}"/>
              </a:ext>
            </a:extLst>
          </p:cNvPr>
          <p:cNvSpPr>
            <a:spLocks noGrp="1"/>
          </p:cNvSpPr>
          <p:nvPr>
            <p:ph type="title"/>
          </p:nvPr>
        </p:nvSpPr>
        <p:spPr>
          <a:xfrm>
            <a:off x="838199" y="0"/>
            <a:ext cx="10515600" cy="1325563"/>
          </a:xfrm>
        </p:spPr>
        <p:txBody>
          <a:bodyPr/>
          <a:lstStyle/>
          <a:p>
            <a:r>
              <a:rPr lang="en" dirty="0"/>
              <a:t>AES Algorithm: MixColumns()</a:t>
            </a:r>
            <a:endParaRPr lang="en-US" dirty="0"/>
          </a:p>
        </p:txBody>
      </p:sp>
      <p:sp>
        <p:nvSpPr>
          <p:cNvPr id="3" name="Content Placeholder 2">
            <a:extLst>
              <a:ext uri="{FF2B5EF4-FFF2-40B4-BE49-F238E27FC236}">
                <a16:creationId xmlns:a16="http://schemas.microsoft.com/office/drawing/2014/main" id="{82F07D6B-CDC0-9273-4019-47FA8F8FC04F}"/>
              </a:ext>
            </a:extLst>
          </p:cNvPr>
          <p:cNvSpPr>
            <a:spLocks noGrp="1"/>
          </p:cNvSpPr>
          <p:nvPr>
            <p:ph idx="1"/>
          </p:nvPr>
        </p:nvSpPr>
        <p:spPr>
          <a:xfrm>
            <a:off x="838200" y="1825625"/>
            <a:ext cx="10515600" cy="1154642"/>
          </a:xfrm>
        </p:spPr>
        <p:txBody>
          <a:bodyPr/>
          <a:lstStyle/>
          <a:p>
            <a:pPr marL="457200" lvl="0" indent="-342900" algn="l" rtl="0">
              <a:spcBef>
                <a:spcPts val="0"/>
              </a:spcBef>
              <a:spcAft>
                <a:spcPts val="0"/>
              </a:spcAft>
              <a:buSzPts val="1800"/>
              <a:buChar char="●"/>
            </a:pPr>
            <a:r>
              <a:rPr lang="en-US" dirty="0"/>
              <a:t>Treats the 16-byte block as a 4 × 4 matrix and multiply it by  another matrix</a:t>
            </a:r>
          </a:p>
        </p:txBody>
      </p:sp>
      <p:pic>
        <p:nvPicPr>
          <p:cNvPr id="4" name="Google Shape;619;p57" title="Diagram of MixColumns procedure in AES algorithm">
            <a:extLst>
              <a:ext uri="{FF2B5EF4-FFF2-40B4-BE49-F238E27FC236}">
                <a16:creationId xmlns:a16="http://schemas.microsoft.com/office/drawing/2014/main" id="{9CA6DF85-16A6-7062-4082-C911168DE4FC}"/>
              </a:ext>
            </a:extLst>
          </p:cNvPr>
          <p:cNvPicPr preferRelativeResize="0"/>
          <p:nvPr/>
        </p:nvPicPr>
        <p:blipFill>
          <a:blip r:embed="rId3">
            <a:alphaModFix/>
          </a:blip>
          <a:stretch>
            <a:fillRect/>
          </a:stretch>
        </p:blipFill>
        <p:spPr>
          <a:xfrm>
            <a:off x="3220024" y="3296206"/>
            <a:ext cx="5751951" cy="3054000"/>
          </a:xfrm>
          <a:prstGeom prst="rect">
            <a:avLst/>
          </a:prstGeom>
          <a:noFill/>
          <a:ln>
            <a:noFill/>
          </a:ln>
        </p:spPr>
      </p:pic>
    </p:spTree>
    <p:extLst>
      <p:ext uri="{BB962C8B-B14F-4D97-AF65-F5344CB8AC3E}">
        <p14:creationId xmlns:p14="http://schemas.microsoft.com/office/powerpoint/2010/main" val="22065006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56666-239C-C3BD-4D33-B244F62BA383}"/>
              </a:ext>
            </a:extLst>
          </p:cNvPr>
          <p:cNvSpPr>
            <a:spLocks noGrp="1"/>
          </p:cNvSpPr>
          <p:nvPr>
            <p:ph type="title"/>
          </p:nvPr>
        </p:nvSpPr>
        <p:spPr>
          <a:xfrm>
            <a:off x="621030" y="100611"/>
            <a:ext cx="10949940" cy="870067"/>
          </a:xfrm>
        </p:spPr>
        <p:txBody>
          <a:bodyPr>
            <a:normAutofit fontScale="90000"/>
          </a:bodyPr>
          <a:lstStyle/>
          <a:p>
            <a:r>
              <a:rPr lang="en-US" altLang="zh-CN" dirty="0"/>
              <a:t>Encryption with Block Ciphers: </a:t>
            </a:r>
            <a:r>
              <a:rPr lang="en-US" altLang="zh-CN" dirty="0">
                <a:hlinkClick r:id="rId2"/>
              </a:rPr>
              <a:t>Modes of Operation</a:t>
            </a:r>
            <a:endParaRPr lang="en-US" dirty="0"/>
          </a:p>
        </p:txBody>
      </p:sp>
      <p:sp>
        <p:nvSpPr>
          <p:cNvPr id="3" name="Content Placeholder 2">
            <a:extLst>
              <a:ext uri="{FF2B5EF4-FFF2-40B4-BE49-F238E27FC236}">
                <a16:creationId xmlns:a16="http://schemas.microsoft.com/office/drawing/2014/main" id="{07387FA1-F038-F27A-7741-805D803EE0B1}"/>
              </a:ext>
            </a:extLst>
          </p:cNvPr>
          <p:cNvSpPr>
            <a:spLocks noGrp="1"/>
          </p:cNvSpPr>
          <p:nvPr>
            <p:ph idx="1"/>
          </p:nvPr>
        </p:nvSpPr>
        <p:spPr>
          <a:xfrm>
            <a:off x="538922" y="1521587"/>
            <a:ext cx="6046250" cy="1591814"/>
          </a:xfrm>
        </p:spPr>
        <p:txBody>
          <a:bodyPr/>
          <a:lstStyle/>
          <a:p>
            <a:r>
              <a:rPr lang="en-US" dirty="0"/>
              <a:t>Message is divided into blocks</a:t>
            </a:r>
          </a:p>
          <a:p>
            <a:r>
              <a:rPr lang="en-US" dirty="0"/>
              <a:t>Each block is encrypted </a:t>
            </a:r>
            <a:r>
              <a:rPr lang="en-US" b="1" i="1" dirty="0"/>
              <a:t>separately</a:t>
            </a:r>
          </a:p>
          <a:p>
            <a:r>
              <a:rPr lang="en-US" dirty="0">
                <a:solidFill>
                  <a:srgbClr val="C00000"/>
                </a:solidFill>
              </a:rPr>
              <a:t>Lack of diffusion</a:t>
            </a:r>
          </a:p>
        </p:txBody>
      </p:sp>
      <p:grpSp>
        <p:nvGrpSpPr>
          <p:cNvPr id="17" name="Group 16">
            <a:extLst>
              <a:ext uri="{FF2B5EF4-FFF2-40B4-BE49-F238E27FC236}">
                <a16:creationId xmlns:a16="http://schemas.microsoft.com/office/drawing/2014/main" id="{08A61002-917B-CA3C-B496-A19552BD590F}"/>
              </a:ext>
            </a:extLst>
          </p:cNvPr>
          <p:cNvGrpSpPr/>
          <p:nvPr/>
        </p:nvGrpSpPr>
        <p:grpSpPr>
          <a:xfrm>
            <a:off x="7197233" y="3228590"/>
            <a:ext cx="4572000" cy="3578918"/>
            <a:chOff x="7474775" y="1508341"/>
            <a:chExt cx="4572000" cy="3578918"/>
          </a:xfrm>
        </p:grpSpPr>
        <p:pic>
          <p:nvPicPr>
            <p:cNvPr id="1026" name="Picture 2">
              <a:extLst>
                <a:ext uri="{FF2B5EF4-FFF2-40B4-BE49-F238E27FC236}">
                  <a16:creationId xmlns:a16="http://schemas.microsoft.com/office/drawing/2014/main" id="{64C33217-743A-E9E2-A4A4-19DF6D2DB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4775" y="1508341"/>
              <a:ext cx="4572000" cy="18484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62A4445-E0DA-2B14-B8D7-89543091DD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4775" y="3238814"/>
              <a:ext cx="4572000" cy="18484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6077E391-9BBB-000D-CB51-17932E9BEB26}"/>
              </a:ext>
            </a:extLst>
          </p:cNvPr>
          <p:cNvGrpSpPr/>
          <p:nvPr/>
        </p:nvGrpSpPr>
        <p:grpSpPr>
          <a:xfrm>
            <a:off x="7969614" y="890334"/>
            <a:ext cx="3601356" cy="2223067"/>
            <a:chOff x="3717461" y="4920734"/>
            <a:chExt cx="3019289" cy="1832094"/>
          </a:xfrm>
        </p:grpSpPr>
        <p:pic>
          <p:nvPicPr>
            <p:cNvPr id="7" name="Picture 6">
              <a:extLst>
                <a:ext uri="{FF2B5EF4-FFF2-40B4-BE49-F238E27FC236}">
                  <a16:creationId xmlns:a16="http://schemas.microsoft.com/office/drawing/2014/main" id="{8B268228-F53B-37EF-6AC5-A7D25B1A2FB8}"/>
                </a:ext>
              </a:extLst>
            </p:cNvPr>
            <p:cNvPicPr>
              <a:picLocks noChangeAspect="1"/>
            </p:cNvPicPr>
            <p:nvPr/>
          </p:nvPicPr>
          <p:blipFill>
            <a:blip r:embed="rId5"/>
            <a:stretch>
              <a:fillRect/>
            </a:stretch>
          </p:blipFill>
          <p:spPr>
            <a:xfrm>
              <a:off x="3717461" y="4924028"/>
              <a:ext cx="1501181" cy="1828800"/>
            </a:xfrm>
            <a:prstGeom prst="rect">
              <a:avLst/>
            </a:prstGeom>
          </p:spPr>
        </p:pic>
        <p:pic>
          <p:nvPicPr>
            <p:cNvPr id="9" name="Picture 8">
              <a:extLst>
                <a:ext uri="{FF2B5EF4-FFF2-40B4-BE49-F238E27FC236}">
                  <a16:creationId xmlns:a16="http://schemas.microsoft.com/office/drawing/2014/main" id="{D34E29D5-23C0-CFFC-AC84-BCA6ACD28B5C}"/>
                </a:ext>
              </a:extLst>
            </p:cNvPr>
            <p:cNvPicPr>
              <a:picLocks noChangeAspect="1"/>
            </p:cNvPicPr>
            <p:nvPr/>
          </p:nvPicPr>
          <p:blipFill>
            <a:blip r:embed="rId6"/>
            <a:stretch>
              <a:fillRect/>
            </a:stretch>
          </p:blipFill>
          <p:spPr>
            <a:xfrm>
              <a:off x="5228963" y="4920734"/>
              <a:ext cx="1507787" cy="1828800"/>
            </a:xfrm>
            <a:prstGeom prst="rect">
              <a:avLst/>
            </a:prstGeom>
          </p:spPr>
        </p:pic>
      </p:grpSp>
      <p:grpSp>
        <p:nvGrpSpPr>
          <p:cNvPr id="4" name="Group 3">
            <a:extLst>
              <a:ext uri="{FF2B5EF4-FFF2-40B4-BE49-F238E27FC236}">
                <a16:creationId xmlns:a16="http://schemas.microsoft.com/office/drawing/2014/main" id="{20EDB592-5028-DCBC-455D-CADDCFEA8D7A}"/>
              </a:ext>
            </a:extLst>
          </p:cNvPr>
          <p:cNvGrpSpPr/>
          <p:nvPr/>
        </p:nvGrpSpPr>
        <p:grpSpPr>
          <a:xfrm>
            <a:off x="209550" y="4114800"/>
            <a:ext cx="3200400" cy="2743200"/>
            <a:chOff x="8349852" y="1595257"/>
            <a:chExt cx="2326100" cy="2020547"/>
          </a:xfrm>
        </p:grpSpPr>
        <p:sp>
          <p:nvSpPr>
            <p:cNvPr id="5" name="Google Shape;447;p44">
              <a:extLst>
                <a:ext uri="{FF2B5EF4-FFF2-40B4-BE49-F238E27FC236}">
                  <a16:creationId xmlns:a16="http://schemas.microsoft.com/office/drawing/2014/main" id="{C17A88EF-37A3-2080-C2B7-391B788E3A05}"/>
                </a:ext>
              </a:extLst>
            </p:cNvPr>
            <p:cNvSpPr/>
            <p:nvPr/>
          </p:nvSpPr>
          <p:spPr>
            <a:xfrm>
              <a:off x="8365652" y="1659094"/>
              <a:ext cx="2310300" cy="184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50;p44">
              <a:extLst>
                <a:ext uri="{FF2B5EF4-FFF2-40B4-BE49-F238E27FC236}">
                  <a16:creationId xmlns:a16="http://schemas.microsoft.com/office/drawing/2014/main" id="{919E3670-CE22-0C80-9C84-F8C01B74DC1F}"/>
                </a:ext>
              </a:extLst>
            </p:cNvPr>
            <p:cNvSpPr/>
            <p:nvPr/>
          </p:nvSpPr>
          <p:spPr>
            <a:xfrm>
              <a:off x="9561652" y="2295344"/>
              <a:ext cx="780000" cy="540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i="1"/>
                <a:t>E</a:t>
              </a:r>
              <a:endParaRPr sz="1800" i="1"/>
            </a:p>
          </p:txBody>
        </p:sp>
        <p:cxnSp>
          <p:nvCxnSpPr>
            <p:cNvPr id="8" name="Google Shape;451;p44">
              <a:extLst>
                <a:ext uri="{FF2B5EF4-FFF2-40B4-BE49-F238E27FC236}">
                  <a16:creationId xmlns:a16="http://schemas.microsoft.com/office/drawing/2014/main" id="{9E1E2F8C-2B64-3098-D82F-943A4F48AE50}"/>
                </a:ext>
              </a:extLst>
            </p:cNvPr>
            <p:cNvCxnSpPr>
              <a:stCxn id="6" idx="1"/>
            </p:cNvCxnSpPr>
            <p:nvPr/>
          </p:nvCxnSpPr>
          <p:spPr>
            <a:xfrm rot="10800000">
              <a:off x="8599552" y="2565344"/>
              <a:ext cx="962100" cy="0"/>
            </a:xfrm>
            <a:prstGeom prst="straightConnector1">
              <a:avLst/>
            </a:prstGeom>
            <a:noFill/>
            <a:ln w="19050" cap="flat" cmpd="sng">
              <a:solidFill>
                <a:schemeClr val="dk1"/>
              </a:solidFill>
              <a:prstDash val="solid"/>
              <a:round/>
              <a:headEnd type="triangle" w="med" len="med"/>
              <a:tailEnd type="none" w="med" len="med"/>
            </a:ln>
          </p:spPr>
        </p:cxnSp>
        <p:sp>
          <p:nvSpPr>
            <p:cNvPr id="10" name="Google Shape;452;p44">
              <a:extLst>
                <a:ext uri="{FF2B5EF4-FFF2-40B4-BE49-F238E27FC236}">
                  <a16:creationId xmlns:a16="http://schemas.microsoft.com/office/drawing/2014/main" id="{97921E47-13C1-246F-5CBF-1F711E857F7B}"/>
                </a:ext>
              </a:extLst>
            </p:cNvPr>
            <p:cNvSpPr txBox="1"/>
            <p:nvPr/>
          </p:nvSpPr>
          <p:spPr>
            <a:xfrm>
              <a:off x="8349852" y="2365244"/>
              <a:ext cx="30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a:t>K</a:t>
              </a:r>
              <a:endParaRPr i="1"/>
            </a:p>
          </p:txBody>
        </p:sp>
        <p:sp>
          <p:nvSpPr>
            <p:cNvPr id="11" name="Google Shape;453;p44">
              <a:extLst>
                <a:ext uri="{FF2B5EF4-FFF2-40B4-BE49-F238E27FC236}">
                  <a16:creationId xmlns:a16="http://schemas.microsoft.com/office/drawing/2014/main" id="{6B345E23-4B24-4268-FFF9-8DDD8DC46766}"/>
                </a:ext>
              </a:extLst>
            </p:cNvPr>
            <p:cNvSpPr txBox="1"/>
            <p:nvPr/>
          </p:nvSpPr>
          <p:spPr>
            <a:xfrm>
              <a:off x="8751052" y="2295344"/>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k</a:t>
              </a:r>
              <a:r>
                <a:rPr lang="en" sz="1200"/>
                <a:t> bits</a:t>
              </a:r>
              <a:endParaRPr sz="1200"/>
            </a:p>
          </p:txBody>
        </p:sp>
        <p:cxnSp>
          <p:nvCxnSpPr>
            <p:cNvPr id="12" name="Google Shape;454;p44">
              <a:extLst>
                <a:ext uri="{FF2B5EF4-FFF2-40B4-BE49-F238E27FC236}">
                  <a16:creationId xmlns:a16="http://schemas.microsoft.com/office/drawing/2014/main" id="{EE23672F-E575-FA50-0378-B32992684074}"/>
                </a:ext>
              </a:extLst>
            </p:cNvPr>
            <p:cNvCxnSpPr>
              <a:stCxn id="6" idx="0"/>
            </p:cNvCxnSpPr>
            <p:nvPr/>
          </p:nvCxnSpPr>
          <p:spPr>
            <a:xfrm rot="10800000">
              <a:off x="9951652" y="1918544"/>
              <a:ext cx="0" cy="376800"/>
            </a:xfrm>
            <a:prstGeom prst="straightConnector1">
              <a:avLst/>
            </a:prstGeom>
            <a:noFill/>
            <a:ln w="19050" cap="flat" cmpd="sng">
              <a:solidFill>
                <a:schemeClr val="dk1"/>
              </a:solidFill>
              <a:prstDash val="solid"/>
              <a:round/>
              <a:headEnd type="triangle" w="med" len="med"/>
              <a:tailEnd type="none" w="med" len="med"/>
            </a:ln>
          </p:spPr>
        </p:cxnSp>
        <p:sp>
          <p:nvSpPr>
            <p:cNvPr id="14" name="Google Shape;455;p44">
              <a:extLst>
                <a:ext uri="{FF2B5EF4-FFF2-40B4-BE49-F238E27FC236}">
                  <a16:creationId xmlns:a16="http://schemas.microsoft.com/office/drawing/2014/main" id="{F2E18BFB-A2DE-D0BE-F5CE-C83C75C801F4}"/>
                </a:ext>
              </a:extLst>
            </p:cNvPr>
            <p:cNvSpPr txBox="1"/>
            <p:nvPr/>
          </p:nvSpPr>
          <p:spPr>
            <a:xfrm>
              <a:off x="9951652" y="1846082"/>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n</a:t>
              </a:r>
              <a:r>
                <a:rPr lang="en" sz="1200"/>
                <a:t> bits</a:t>
              </a:r>
              <a:endParaRPr sz="1200"/>
            </a:p>
          </p:txBody>
        </p:sp>
        <p:sp>
          <p:nvSpPr>
            <p:cNvPr id="18" name="Google Shape;456;p44">
              <a:extLst>
                <a:ext uri="{FF2B5EF4-FFF2-40B4-BE49-F238E27FC236}">
                  <a16:creationId xmlns:a16="http://schemas.microsoft.com/office/drawing/2014/main" id="{B3E25E11-B6D2-0309-78C1-4E604258E3F4}"/>
                </a:ext>
              </a:extLst>
            </p:cNvPr>
            <p:cNvSpPr txBox="1"/>
            <p:nvPr/>
          </p:nvSpPr>
          <p:spPr>
            <a:xfrm>
              <a:off x="9581301" y="1595257"/>
              <a:ext cx="1094649"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plaintext</a:t>
              </a:r>
              <a:endParaRPr dirty="0"/>
            </a:p>
          </p:txBody>
        </p:sp>
        <p:cxnSp>
          <p:nvCxnSpPr>
            <p:cNvPr id="19" name="Google Shape;457;p44">
              <a:extLst>
                <a:ext uri="{FF2B5EF4-FFF2-40B4-BE49-F238E27FC236}">
                  <a16:creationId xmlns:a16="http://schemas.microsoft.com/office/drawing/2014/main" id="{B8E94B13-90F6-3AE0-697D-D1917BC38FF0}"/>
                </a:ext>
              </a:extLst>
            </p:cNvPr>
            <p:cNvCxnSpPr>
              <a:endCxn id="6" idx="2"/>
            </p:cNvCxnSpPr>
            <p:nvPr/>
          </p:nvCxnSpPr>
          <p:spPr>
            <a:xfrm rot="10800000">
              <a:off x="9951652" y="2835344"/>
              <a:ext cx="0" cy="407400"/>
            </a:xfrm>
            <a:prstGeom prst="straightConnector1">
              <a:avLst/>
            </a:prstGeom>
            <a:noFill/>
            <a:ln w="19050" cap="flat" cmpd="sng">
              <a:solidFill>
                <a:schemeClr val="dk1"/>
              </a:solidFill>
              <a:prstDash val="solid"/>
              <a:round/>
              <a:headEnd type="triangle" w="med" len="med"/>
              <a:tailEnd type="none" w="med" len="med"/>
            </a:ln>
          </p:spPr>
        </p:cxnSp>
        <p:sp>
          <p:nvSpPr>
            <p:cNvPr id="20" name="Google Shape;458;p44">
              <a:extLst>
                <a:ext uri="{FF2B5EF4-FFF2-40B4-BE49-F238E27FC236}">
                  <a16:creationId xmlns:a16="http://schemas.microsoft.com/office/drawing/2014/main" id="{7BB7AFB8-C805-CA63-7A8D-3A5C2F77A882}"/>
                </a:ext>
              </a:extLst>
            </p:cNvPr>
            <p:cNvSpPr txBox="1"/>
            <p:nvPr/>
          </p:nvSpPr>
          <p:spPr>
            <a:xfrm>
              <a:off x="9903227" y="2818594"/>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n</a:t>
              </a:r>
              <a:r>
                <a:rPr lang="en" sz="1200"/>
                <a:t> bits</a:t>
              </a:r>
              <a:endParaRPr sz="1200"/>
            </a:p>
          </p:txBody>
        </p:sp>
        <p:sp>
          <p:nvSpPr>
            <p:cNvPr id="21" name="Google Shape;459;p44">
              <a:extLst>
                <a:ext uri="{FF2B5EF4-FFF2-40B4-BE49-F238E27FC236}">
                  <a16:creationId xmlns:a16="http://schemas.microsoft.com/office/drawing/2014/main" id="{2AAD0860-D9C1-7EF0-5927-B966E4640D02}"/>
                </a:ext>
              </a:extLst>
            </p:cNvPr>
            <p:cNvSpPr txBox="1"/>
            <p:nvPr/>
          </p:nvSpPr>
          <p:spPr>
            <a:xfrm>
              <a:off x="9479002" y="3154169"/>
              <a:ext cx="119695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ciphertext</a:t>
              </a:r>
              <a:endParaRPr dirty="0"/>
            </a:p>
          </p:txBody>
        </p:sp>
      </p:grpSp>
      <p:grpSp>
        <p:nvGrpSpPr>
          <p:cNvPr id="22" name="Group 21">
            <a:extLst>
              <a:ext uri="{FF2B5EF4-FFF2-40B4-BE49-F238E27FC236}">
                <a16:creationId xmlns:a16="http://schemas.microsoft.com/office/drawing/2014/main" id="{133AF35A-9328-D5DC-8F03-7501285B2BF1}"/>
              </a:ext>
            </a:extLst>
          </p:cNvPr>
          <p:cNvGrpSpPr/>
          <p:nvPr/>
        </p:nvGrpSpPr>
        <p:grpSpPr>
          <a:xfrm>
            <a:off x="3735264" y="4114800"/>
            <a:ext cx="3200400" cy="2743200"/>
            <a:chOff x="8352173" y="4253336"/>
            <a:chExt cx="2341896" cy="2001585"/>
          </a:xfrm>
        </p:grpSpPr>
        <p:sp>
          <p:nvSpPr>
            <p:cNvPr id="23" name="Google Shape;446;p44">
              <a:extLst>
                <a:ext uri="{FF2B5EF4-FFF2-40B4-BE49-F238E27FC236}">
                  <a16:creationId xmlns:a16="http://schemas.microsoft.com/office/drawing/2014/main" id="{172C6EDD-93A5-FB8B-51F2-D11BB75B5D2A}"/>
                </a:ext>
              </a:extLst>
            </p:cNvPr>
            <p:cNvSpPr/>
            <p:nvPr/>
          </p:nvSpPr>
          <p:spPr>
            <a:xfrm>
              <a:off x="8367973" y="4302861"/>
              <a:ext cx="2310300" cy="184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0;p44">
              <a:extLst>
                <a:ext uri="{FF2B5EF4-FFF2-40B4-BE49-F238E27FC236}">
                  <a16:creationId xmlns:a16="http://schemas.microsoft.com/office/drawing/2014/main" id="{1D8141A9-264F-A0E8-77D8-8BC84EA8C114}"/>
                </a:ext>
              </a:extLst>
            </p:cNvPr>
            <p:cNvSpPr/>
            <p:nvPr/>
          </p:nvSpPr>
          <p:spPr>
            <a:xfrm>
              <a:off x="9563973" y="4953411"/>
              <a:ext cx="780000" cy="5400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i="1"/>
                <a:t>D</a:t>
              </a:r>
              <a:endParaRPr sz="1800" i="1"/>
            </a:p>
          </p:txBody>
        </p:sp>
        <p:cxnSp>
          <p:nvCxnSpPr>
            <p:cNvPr id="25" name="Google Shape;461;p44">
              <a:extLst>
                <a:ext uri="{FF2B5EF4-FFF2-40B4-BE49-F238E27FC236}">
                  <a16:creationId xmlns:a16="http://schemas.microsoft.com/office/drawing/2014/main" id="{80CF8A61-6DF8-D909-1147-980445692F59}"/>
                </a:ext>
              </a:extLst>
            </p:cNvPr>
            <p:cNvCxnSpPr>
              <a:stCxn id="24" idx="1"/>
            </p:cNvCxnSpPr>
            <p:nvPr/>
          </p:nvCxnSpPr>
          <p:spPr>
            <a:xfrm rot="10800000">
              <a:off x="8601873" y="5223411"/>
              <a:ext cx="962100" cy="0"/>
            </a:xfrm>
            <a:prstGeom prst="straightConnector1">
              <a:avLst/>
            </a:prstGeom>
            <a:noFill/>
            <a:ln w="19050" cap="flat" cmpd="sng">
              <a:solidFill>
                <a:schemeClr val="dk1"/>
              </a:solidFill>
              <a:prstDash val="solid"/>
              <a:round/>
              <a:headEnd type="triangle" w="med" len="med"/>
              <a:tailEnd type="none" w="med" len="med"/>
            </a:ln>
          </p:spPr>
        </p:cxnSp>
        <p:sp>
          <p:nvSpPr>
            <p:cNvPr id="26" name="Google Shape;462;p44">
              <a:extLst>
                <a:ext uri="{FF2B5EF4-FFF2-40B4-BE49-F238E27FC236}">
                  <a16:creationId xmlns:a16="http://schemas.microsoft.com/office/drawing/2014/main" id="{7EA923ED-E790-B06D-B4DA-2C7DE07F65E1}"/>
                </a:ext>
              </a:extLst>
            </p:cNvPr>
            <p:cNvSpPr txBox="1"/>
            <p:nvPr/>
          </p:nvSpPr>
          <p:spPr>
            <a:xfrm>
              <a:off x="8352173" y="5023311"/>
              <a:ext cx="30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i="1"/>
                <a:t>K</a:t>
              </a:r>
              <a:endParaRPr i="1"/>
            </a:p>
          </p:txBody>
        </p:sp>
        <p:sp>
          <p:nvSpPr>
            <p:cNvPr id="27" name="Google Shape;463;p44">
              <a:extLst>
                <a:ext uri="{FF2B5EF4-FFF2-40B4-BE49-F238E27FC236}">
                  <a16:creationId xmlns:a16="http://schemas.microsoft.com/office/drawing/2014/main" id="{11545874-7479-44AE-BD47-E1CB686AA521}"/>
                </a:ext>
              </a:extLst>
            </p:cNvPr>
            <p:cNvSpPr txBox="1"/>
            <p:nvPr/>
          </p:nvSpPr>
          <p:spPr>
            <a:xfrm>
              <a:off x="8753373" y="4953411"/>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k</a:t>
              </a:r>
              <a:r>
                <a:rPr lang="en" sz="1200"/>
                <a:t> bits</a:t>
              </a:r>
              <a:endParaRPr sz="1200"/>
            </a:p>
          </p:txBody>
        </p:sp>
        <p:cxnSp>
          <p:nvCxnSpPr>
            <p:cNvPr id="28" name="Google Shape;464;p44">
              <a:extLst>
                <a:ext uri="{FF2B5EF4-FFF2-40B4-BE49-F238E27FC236}">
                  <a16:creationId xmlns:a16="http://schemas.microsoft.com/office/drawing/2014/main" id="{F8B1C88B-6563-DEA6-2FA1-BEB4C01107DC}"/>
                </a:ext>
              </a:extLst>
            </p:cNvPr>
            <p:cNvCxnSpPr>
              <a:stCxn id="24" idx="0"/>
            </p:cNvCxnSpPr>
            <p:nvPr/>
          </p:nvCxnSpPr>
          <p:spPr>
            <a:xfrm rot="10800000">
              <a:off x="9953973" y="4576611"/>
              <a:ext cx="0" cy="376800"/>
            </a:xfrm>
            <a:prstGeom prst="straightConnector1">
              <a:avLst/>
            </a:prstGeom>
            <a:noFill/>
            <a:ln w="19050" cap="flat" cmpd="sng">
              <a:solidFill>
                <a:schemeClr val="dk1"/>
              </a:solidFill>
              <a:prstDash val="solid"/>
              <a:round/>
              <a:headEnd type="triangle" w="med" len="med"/>
              <a:tailEnd type="none" w="med" len="med"/>
            </a:ln>
          </p:spPr>
        </p:cxnSp>
        <p:sp>
          <p:nvSpPr>
            <p:cNvPr id="29" name="Google Shape;465;p44">
              <a:extLst>
                <a:ext uri="{FF2B5EF4-FFF2-40B4-BE49-F238E27FC236}">
                  <a16:creationId xmlns:a16="http://schemas.microsoft.com/office/drawing/2014/main" id="{FB882EFE-DCDF-D6CD-5B4C-ED60ADDA0D78}"/>
                </a:ext>
              </a:extLst>
            </p:cNvPr>
            <p:cNvSpPr txBox="1"/>
            <p:nvPr/>
          </p:nvSpPr>
          <p:spPr>
            <a:xfrm>
              <a:off x="9953973" y="4504149"/>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n</a:t>
              </a:r>
              <a:r>
                <a:rPr lang="en" sz="1200"/>
                <a:t> bits</a:t>
              </a:r>
              <a:endParaRPr sz="1200"/>
            </a:p>
          </p:txBody>
        </p:sp>
        <p:sp>
          <p:nvSpPr>
            <p:cNvPr id="30" name="Google Shape;466;p44">
              <a:extLst>
                <a:ext uri="{FF2B5EF4-FFF2-40B4-BE49-F238E27FC236}">
                  <a16:creationId xmlns:a16="http://schemas.microsoft.com/office/drawing/2014/main" id="{94770613-0804-F7F9-04D6-4143CD894476}"/>
                </a:ext>
              </a:extLst>
            </p:cNvPr>
            <p:cNvSpPr txBox="1"/>
            <p:nvPr/>
          </p:nvSpPr>
          <p:spPr>
            <a:xfrm>
              <a:off x="9481322" y="4253336"/>
              <a:ext cx="1194629"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ciphertext</a:t>
              </a:r>
              <a:endParaRPr dirty="0"/>
            </a:p>
          </p:txBody>
        </p:sp>
        <p:cxnSp>
          <p:nvCxnSpPr>
            <p:cNvPr id="31" name="Google Shape;467;p44">
              <a:extLst>
                <a:ext uri="{FF2B5EF4-FFF2-40B4-BE49-F238E27FC236}">
                  <a16:creationId xmlns:a16="http://schemas.microsoft.com/office/drawing/2014/main" id="{3B27CBEB-C6F1-8EB4-4F06-C7899DD43EFB}"/>
                </a:ext>
              </a:extLst>
            </p:cNvPr>
            <p:cNvCxnSpPr>
              <a:endCxn id="24" idx="2"/>
            </p:cNvCxnSpPr>
            <p:nvPr/>
          </p:nvCxnSpPr>
          <p:spPr>
            <a:xfrm rot="10800000">
              <a:off x="9953973" y="5493411"/>
              <a:ext cx="0" cy="407400"/>
            </a:xfrm>
            <a:prstGeom prst="straightConnector1">
              <a:avLst/>
            </a:prstGeom>
            <a:noFill/>
            <a:ln w="19050" cap="flat" cmpd="sng">
              <a:solidFill>
                <a:schemeClr val="dk1"/>
              </a:solidFill>
              <a:prstDash val="solid"/>
              <a:round/>
              <a:headEnd type="triangle" w="med" len="med"/>
              <a:tailEnd type="none" w="med" len="med"/>
            </a:ln>
          </p:spPr>
        </p:cxnSp>
        <p:sp>
          <p:nvSpPr>
            <p:cNvPr id="32" name="Google Shape;468;p44">
              <a:extLst>
                <a:ext uri="{FF2B5EF4-FFF2-40B4-BE49-F238E27FC236}">
                  <a16:creationId xmlns:a16="http://schemas.microsoft.com/office/drawing/2014/main" id="{16271B32-A3B7-126A-C2EF-982A7F1D0CEF}"/>
                </a:ext>
              </a:extLst>
            </p:cNvPr>
            <p:cNvSpPr txBox="1"/>
            <p:nvPr/>
          </p:nvSpPr>
          <p:spPr>
            <a:xfrm>
              <a:off x="9905548" y="5476661"/>
              <a:ext cx="659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n</a:t>
              </a:r>
              <a:r>
                <a:rPr lang="en" sz="1200"/>
                <a:t> bits</a:t>
              </a:r>
              <a:endParaRPr sz="1200"/>
            </a:p>
          </p:txBody>
        </p:sp>
        <p:sp>
          <p:nvSpPr>
            <p:cNvPr id="33" name="Google Shape;469;p44">
              <a:extLst>
                <a:ext uri="{FF2B5EF4-FFF2-40B4-BE49-F238E27FC236}">
                  <a16:creationId xmlns:a16="http://schemas.microsoft.com/office/drawing/2014/main" id="{FE28A144-D538-2A8A-5343-4BEDE3AB8115}"/>
                </a:ext>
              </a:extLst>
            </p:cNvPr>
            <p:cNvSpPr txBox="1"/>
            <p:nvPr/>
          </p:nvSpPr>
          <p:spPr>
            <a:xfrm>
              <a:off x="9532472" y="5793286"/>
              <a:ext cx="1161597"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plaintext</a:t>
              </a:r>
              <a:endParaRPr dirty="0"/>
            </a:p>
          </p:txBody>
        </p:sp>
      </p:grpSp>
    </p:spTree>
    <p:extLst>
      <p:ext uri="{BB962C8B-B14F-4D97-AF65-F5344CB8AC3E}">
        <p14:creationId xmlns:p14="http://schemas.microsoft.com/office/powerpoint/2010/main" val="1988461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65F7D-FA5D-1749-23C5-E704F751CAEC}"/>
              </a:ext>
            </a:extLst>
          </p:cNvPr>
          <p:cNvSpPr>
            <a:spLocks noGrp="1"/>
          </p:cNvSpPr>
          <p:nvPr>
            <p:ph type="title"/>
          </p:nvPr>
        </p:nvSpPr>
        <p:spPr>
          <a:xfrm>
            <a:off x="838200" y="144146"/>
            <a:ext cx="10515600" cy="923072"/>
          </a:xfrm>
        </p:spPr>
        <p:txBody>
          <a:bodyPr/>
          <a:lstStyle/>
          <a:p>
            <a:r>
              <a:rPr lang="en-US" dirty="0"/>
              <a:t>Cipher Block Chaining Mode (CBC)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959299-CD93-3139-4E9F-456881B7330E}"/>
                  </a:ext>
                </a:extLst>
              </p:cNvPr>
              <p:cNvSpPr>
                <a:spLocks noGrp="1"/>
              </p:cNvSpPr>
              <p:nvPr>
                <p:ph idx="1"/>
              </p:nvPr>
            </p:nvSpPr>
            <p:spPr>
              <a:xfrm>
                <a:off x="234268" y="1388036"/>
                <a:ext cx="6431028" cy="5012764"/>
              </a:xfrm>
            </p:spPr>
            <p:txBody>
              <a:bodyPr>
                <a:normAutofit fontScale="92500" lnSpcReduction="20000"/>
              </a:bodyPr>
              <a:lstStyle/>
              <a:p>
                <a:pPr>
                  <a:spcAft>
                    <a:spcPts val="600"/>
                  </a:spcAft>
                </a:pPr>
                <a:r>
                  <a:rPr lang="en-US" dirty="0"/>
                  <a:t>There are two main ideas behind the </a:t>
                </a:r>
                <a:r>
                  <a:rPr lang="en-US" dirty="0">
                    <a:hlinkClick r:id="rId2"/>
                  </a:rPr>
                  <a:t>CBC</a:t>
                </a:r>
                <a:r>
                  <a:rPr lang="en-US" dirty="0"/>
                  <a:t> mode:</a:t>
                </a:r>
              </a:p>
              <a:p>
                <a:pPr lvl="1">
                  <a:spcAft>
                    <a:spcPts val="600"/>
                  </a:spcAft>
                </a:pPr>
                <a:r>
                  <a:rPr lang="en-US" dirty="0"/>
                  <a:t>The encryption of all blocks are “chained together”</a:t>
                </a:r>
              </a:p>
              <a:p>
                <a:pPr lvl="1">
                  <a:spcAft>
                    <a:spcPts val="600"/>
                  </a:spcAft>
                </a:pPr>
                <a:r>
                  <a:rPr lang="en-US" dirty="0"/>
                  <a:t>Ciphertext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r>
                  <a:rPr lang="en-US" dirty="0"/>
                  <a:t> depends not only on block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𝑖</m:t>
                        </m:r>
                      </m:sub>
                    </m:sSub>
                  </m:oMath>
                </a14:m>
                <a:r>
                  <a:rPr lang="en-US" dirty="0"/>
                  <a:t> but on </a:t>
                </a:r>
                <a:r>
                  <a:rPr lang="en-US" i="1" dirty="0">
                    <a:solidFill>
                      <a:srgbClr val="C00000"/>
                    </a:solidFill>
                  </a:rPr>
                  <a:t>all previous plaintext blocks </a:t>
                </a:r>
                <a:r>
                  <a:rPr lang="en-US" dirty="0"/>
                  <a:t>as well</a:t>
                </a:r>
              </a:p>
              <a:p>
                <a:pPr>
                  <a:spcAft>
                    <a:spcPts val="600"/>
                  </a:spcAft>
                </a:pPr>
                <a:r>
                  <a:rPr lang="en-US" dirty="0"/>
                  <a:t>The encryption is randomized by using an </a:t>
                </a:r>
                <a:r>
                  <a:rPr lang="en-US" b="1" dirty="0"/>
                  <a:t>initialization vector (IV)</a:t>
                </a:r>
              </a:p>
              <a:p>
                <a:pPr lvl="1">
                  <a:spcAft>
                    <a:spcPts val="600"/>
                  </a:spcAft>
                </a:pPr>
                <a:r>
                  <a:rPr lang="en-US" dirty="0"/>
                  <a:t>⊕ means XOR</a:t>
                </a:r>
                <a:endParaRPr lang="en-US" b="1" dirty="0"/>
              </a:p>
              <a:p>
                <a:pPr lvl="1">
                  <a:spcAft>
                    <a:spcPts val="600"/>
                  </a:spcAft>
                </a:pPr>
                <a:r>
                  <a:rPr lang="en-US" b="1" dirty="0"/>
                  <a:t>Purpose</a:t>
                </a:r>
                <a:r>
                  <a:rPr lang="en-US" dirty="0"/>
                  <a:t>: Add randomness to encryption</a:t>
                </a:r>
              </a:p>
              <a:p>
                <a:pPr lvl="1">
                  <a:spcAft>
                    <a:spcPts val="600"/>
                  </a:spcAft>
                </a:pPr>
                <a:r>
                  <a:rPr lang="en-US" dirty="0"/>
                  <a:t>Prevents identical plaintexts from producing same ciphertext</a:t>
                </a:r>
              </a:p>
              <a:p>
                <a:pPr lvl="1">
                  <a:spcAft>
                    <a:spcPts val="600"/>
                  </a:spcAft>
                </a:pPr>
                <a:r>
                  <a:rPr lang="en-US" dirty="0">
                    <a:solidFill>
                      <a:srgbClr val="C00000"/>
                    </a:solidFill>
                  </a:rPr>
                  <a:t>Randomly</a:t>
                </a:r>
                <a:r>
                  <a:rPr lang="en-US" dirty="0"/>
                  <a:t> generated</a:t>
                </a:r>
              </a:p>
              <a:p>
                <a:pPr lvl="1">
                  <a:spcAft>
                    <a:spcPts val="600"/>
                  </a:spcAft>
                </a:pPr>
                <a:r>
                  <a:rPr lang="en-US" dirty="0"/>
                  <a:t>Not secret</a:t>
                </a:r>
              </a:p>
            </p:txBody>
          </p:sp>
        </mc:Choice>
        <mc:Fallback>
          <p:sp>
            <p:nvSpPr>
              <p:cNvPr id="3" name="Content Placeholder 2">
                <a:extLst>
                  <a:ext uri="{FF2B5EF4-FFF2-40B4-BE49-F238E27FC236}">
                    <a16:creationId xmlns:a16="http://schemas.microsoft.com/office/drawing/2014/main" id="{7A959299-CD93-3139-4E9F-456881B7330E}"/>
                  </a:ext>
                </a:extLst>
              </p:cNvPr>
              <p:cNvSpPr>
                <a:spLocks noGrp="1" noRot="1" noChangeAspect="1" noMove="1" noResize="1" noEditPoints="1" noAdjustHandles="1" noChangeArrowheads="1" noChangeShapeType="1" noTextEdit="1"/>
              </p:cNvSpPr>
              <p:nvPr>
                <p:ph idx="1"/>
              </p:nvPr>
            </p:nvSpPr>
            <p:spPr>
              <a:xfrm>
                <a:off x="234268" y="1388036"/>
                <a:ext cx="6431028" cy="5012764"/>
              </a:xfrm>
              <a:blipFill>
                <a:blip r:embed="rId3"/>
                <a:stretch>
                  <a:fillRect l="-1422" t="-3163" r="-170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32E58E65-8E1E-5E9B-6519-69FD992E2EDB}"/>
              </a:ext>
            </a:extLst>
          </p:cNvPr>
          <p:cNvPicPr>
            <a:picLocks noChangeAspect="1"/>
          </p:cNvPicPr>
          <p:nvPr/>
        </p:nvPicPr>
        <p:blipFill>
          <a:blip r:embed="rId4"/>
          <a:stretch>
            <a:fillRect/>
          </a:stretch>
        </p:blipFill>
        <p:spPr>
          <a:xfrm>
            <a:off x="4985747" y="5184765"/>
            <a:ext cx="7035590" cy="1654980"/>
          </a:xfrm>
          <a:prstGeom prst="rect">
            <a:avLst/>
          </a:prstGeom>
        </p:spPr>
      </p:pic>
      <p:grpSp>
        <p:nvGrpSpPr>
          <p:cNvPr id="6" name="Group 5">
            <a:extLst>
              <a:ext uri="{FF2B5EF4-FFF2-40B4-BE49-F238E27FC236}">
                <a16:creationId xmlns:a16="http://schemas.microsoft.com/office/drawing/2014/main" id="{B6A12A3C-2FB8-B11E-9DC9-44A5ED4F73FC}"/>
              </a:ext>
            </a:extLst>
          </p:cNvPr>
          <p:cNvGrpSpPr/>
          <p:nvPr/>
        </p:nvGrpSpPr>
        <p:grpSpPr>
          <a:xfrm>
            <a:off x="6781799" y="906780"/>
            <a:ext cx="5239537" cy="4178146"/>
            <a:chOff x="7133832" y="2148096"/>
            <a:chExt cx="4572000" cy="3696890"/>
          </a:xfrm>
        </p:grpSpPr>
        <p:pic>
          <p:nvPicPr>
            <p:cNvPr id="2050" name="Picture 2">
              <a:extLst>
                <a:ext uri="{FF2B5EF4-FFF2-40B4-BE49-F238E27FC236}">
                  <a16:creationId xmlns:a16="http://schemas.microsoft.com/office/drawing/2014/main" id="{20BD0A33-EE81-5F83-AA53-668132A49F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3832" y="2148096"/>
              <a:ext cx="4572000" cy="184844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BD2D747-04CE-7980-749E-2559A4F3B3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3832" y="3996541"/>
              <a:ext cx="4572000" cy="1848445"/>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Rectangle 3">
            <a:extLst>
              <a:ext uri="{FF2B5EF4-FFF2-40B4-BE49-F238E27FC236}">
                <a16:creationId xmlns:a16="http://schemas.microsoft.com/office/drawing/2014/main" id="{DCD40F14-15F8-78AA-8437-43EBC96A8743}"/>
              </a:ext>
            </a:extLst>
          </p:cNvPr>
          <p:cNvSpPr/>
          <p:nvPr/>
        </p:nvSpPr>
        <p:spPr>
          <a:xfrm>
            <a:off x="6665296" y="1311237"/>
            <a:ext cx="1427144" cy="42672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3611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9002</TotalTime>
  <Words>2934</Words>
  <Application>Microsoft Office PowerPoint</Application>
  <PresentationFormat>Widescreen</PresentationFormat>
  <Paragraphs>520</Paragraphs>
  <Slides>39</Slides>
  <Notes>14</Notes>
  <HiddenSlides>6</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Aptos</vt:lpstr>
      <vt:lpstr>Aptos Display</vt:lpstr>
      <vt:lpstr>Arial</vt:lpstr>
      <vt:lpstr>Calibri</vt:lpstr>
      <vt:lpstr>Cambria Math</vt:lpstr>
      <vt:lpstr>Courier New</vt:lpstr>
      <vt:lpstr>Symbol</vt:lpstr>
      <vt:lpstr>Tahoma</vt:lpstr>
      <vt:lpstr>Wingdings</vt:lpstr>
      <vt:lpstr>Office Theme</vt:lpstr>
      <vt:lpstr>CSC 3511 Security and Networking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Pseudorandom Generators</vt:lpstr>
      <vt:lpstr>PowerPoint Presentation</vt:lpstr>
      <vt:lpstr>ChaCha20</vt:lpstr>
      <vt:lpstr>ChaCha20: Workflow</vt:lpstr>
      <vt:lpstr>Generating Randomness    (e.g. keys, IV)</vt:lpstr>
      <vt:lpstr>PowerPoint Presentation</vt:lpstr>
      <vt:lpstr>PowerPoint Presentation</vt:lpstr>
      <vt:lpstr>Block Cipher Primitives: Confusion &amp; Diffusion</vt:lpstr>
      <vt:lpstr>Product Ciphers</vt:lpstr>
      <vt:lpstr>PowerPoint Presentation</vt:lpstr>
      <vt:lpstr>DES internals: Feistel network</vt:lpstr>
      <vt:lpstr>DES internals: the f-Function</vt:lpstr>
      <vt:lpstr>DES internals: IP and IP-1 </vt:lpstr>
      <vt:lpstr>f-Function: 1. the expansion function E</vt:lpstr>
      <vt:lpstr>f-Function: 2. add round key</vt:lpstr>
      <vt:lpstr>f-Function: 3. S-box</vt:lpstr>
      <vt:lpstr>f-Function: 4. permutation P</vt:lpstr>
      <vt:lpstr>Advanced Encryption Standard (AES)</vt:lpstr>
      <vt:lpstr>Substitution-permutation Networks (SPN)</vt:lpstr>
      <vt:lpstr>Substitution-permutation Networks (SPN)</vt:lpstr>
      <vt:lpstr>AES: structural information</vt:lpstr>
      <vt:lpstr>AES Algorithm: AddRoundKey()</vt:lpstr>
      <vt:lpstr>AES Algorithm: SubBytes()</vt:lpstr>
      <vt:lpstr>AES Algorithm: ShiftRows()</vt:lpstr>
      <vt:lpstr>AES Algorithm: MixColumns()</vt:lpstr>
      <vt:lpstr>Encryption with Block Ciphers: Modes of Operation</vt:lpstr>
      <vt:lpstr>Cipher Block Chaining Mode (CBC)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Zhonghao</dc:creator>
  <cp:lastModifiedBy>Liao, Zhonghao</cp:lastModifiedBy>
  <cp:revision>835</cp:revision>
  <dcterms:created xsi:type="dcterms:W3CDTF">2025-09-03T22:06:31Z</dcterms:created>
  <dcterms:modified xsi:type="dcterms:W3CDTF">2025-11-02T23:31:10Z</dcterms:modified>
</cp:coreProperties>
</file>