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1253" r:id="rId3"/>
    <p:sldId id="1254" r:id="rId4"/>
    <p:sldId id="1255" r:id="rId5"/>
    <p:sldId id="1256" r:id="rId6"/>
    <p:sldId id="1258" r:id="rId7"/>
    <p:sldId id="1257" r:id="rId8"/>
    <p:sldId id="1268" r:id="rId9"/>
    <p:sldId id="1269" r:id="rId10"/>
    <p:sldId id="1270" r:id="rId11"/>
    <p:sldId id="1271" r:id="rId12"/>
    <p:sldId id="1272" r:id="rId13"/>
    <p:sldId id="1259" r:id="rId14"/>
    <p:sldId id="1262" r:id="rId15"/>
    <p:sldId id="1263" r:id="rId16"/>
    <p:sldId id="1113" r:id="rId17"/>
    <p:sldId id="1260" r:id="rId18"/>
    <p:sldId id="1264" r:id="rId19"/>
    <p:sldId id="1265" r:id="rId20"/>
    <p:sldId id="1267" r:id="rId21"/>
    <p:sldId id="1275" r:id="rId22"/>
    <p:sldId id="1276" r:id="rId23"/>
    <p:sldId id="1277" r:id="rId24"/>
    <p:sldId id="1278" r:id="rId25"/>
    <p:sldId id="1280" r:id="rId26"/>
    <p:sldId id="1281" r:id="rId27"/>
    <p:sldId id="1282" r:id="rId28"/>
    <p:sldId id="1283" r:id="rId29"/>
    <p:sldId id="1284" r:id="rId30"/>
    <p:sldId id="1285" r:id="rId31"/>
    <p:sldId id="1286" r:id="rId32"/>
    <p:sldId id="1287" r:id="rId33"/>
    <p:sldId id="1288" r:id="rId34"/>
    <p:sldId id="1266" r:id="rId35"/>
    <p:sldId id="1261" r:id="rId36"/>
    <p:sldId id="1273" r:id="rId37"/>
    <p:sldId id="127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52" autoAdjust="0"/>
  </p:normalViewPr>
  <p:slideViewPr>
    <p:cSldViewPr snapToGrid="0">
      <p:cViewPr varScale="1">
        <p:scale>
          <a:sx n="114" d="100"/>
          <a:sy n="114" d="100"/>
        </p:scale>
        <p:origin x="77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8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325D3-F1C7-4B36-A88F-5BFB155084B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CB26F-7BF5-4DA6-BA18-A0B7008BF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" sz="1200" i="1" dirty="0"/>
              <a:t>W</a:t>
            </a:r>
            <a:r>
              <a:rPr lang="en" sz="1200" dirty="0"/>
              <a:t> is the </a:t>
            </a:r>
            <a:r>
              <a:rPr lang="en" sz="1200" b="1" i="1" dirty="0">
                <a:solidFill>
                  <a:srgbClr val="C00000"/>
                </a:solidFill>
              </a:rPr>
              <a:t>size of the window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/>
              <a:t>To stay inside the window limit: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Start: Send </a:t>
            </a:r>
            <a:r>
              <a:rPr lang="en-US" sz="1200" i="1" dirty="0"/>
              <a:t>W</a:t>
            </a:r>
            <a:r>
              <a:rPr lang="en-US" sz="1200" dirty="0"/>
              <a:t> packets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Each time a packet gets acked, send the next packet in line</a:t>
            </a:r>
            <a:endParaRPr lang="en" sz="1200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13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rwnd: receive window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Here’s how TCP implement flow control.  The basic idea is simple – the receiver informs the sender how much free buffer space there is, and the sender is limited to send no more than this amount of data.  That the value o RWND in the diagram to the right.</a:t>
            </a:r>
          </a:p>
          <a:p>
            <a:endParaRPr lang="en-US" dirty="0"/>
          </a:p>
          <a:p>
            <a:r>
              <a:rPr lang="en-US" dirty="0"/>
              <a:t>This information is carried from the receiver to the sender in the “receiver advertised window” (do a PIP of header) in the TCP header, and the value will change as the amount of free buffer space fluctuates over time.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564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Recovery phases are periods when TCP responds to detected packet loss and attempts to restore normal transmission rates while avoiding further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06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After-class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91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After-class review</a:t>
            </a:r>
          </a:p>
          <a:p>
            <a:endParaRPr lang="en-US" dirty="0"/>
          </a:p>
          <a:p>
            <a:r>
              <a:rPr lang="en-US" dirty="0"/>
              <a:t>This diagram shows the three main states of TCP congestion control and their transitions: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Slow Start: Exponential growth until cwnd reaches SSTHRESH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Congestion Avoidance: Linear (additive) growth when cwnd &gt; SSTHRESH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Fast Recovery: Temporary state to handle selective packet loss efficiently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Key Transition Triggers: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New ACK: Normal data acknowledgment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 Duplicate ACKs: Indicates selective packet loss → Fast Recovery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Timeout: Indicates severe congestion → Reset to Slow Start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Individual Duplicate ACKs (&lt; 3): Stay in current 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Remember: Timeouts are more severe than duplicate ACKs, hence the reset to Slow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20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98F-B827-13AD-265C-514C2162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41564-4F01-3DA7-30A5-41B69602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C639-4AB9-F4D6-CFBA-209FE857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7A7F-9979-7B59-A463-DCEBBA95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0F76-7128-32CE-27E0-EA7B842C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6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79D5-059D-19DB-300F-B545C4C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1340-A1E9-7CE3-85EA-7F1CF2ED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681CF-4E42-18FC-F8CF-942C82B5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2239-A774-E47F-618D-51D208E6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B347-A921-E0AB-5A62-7830EDC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3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AE5C-05CB-8274-A918-075C19B6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643FC-A248-C72E-7C55-AF40C95C9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C89F5-84BE-3CEF-33F5-F2CA26EE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EC82B-F092-F737-C6EC-4508B148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E09F0-8AE5-6C3F-D940-15869CCF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2350-D4AF-4F3C-CEE2-B8734DE1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F635-D032-EB3F-AA91-8B6201523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6D8E9-1DD1-0647-572D-88AADC9B0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C9E6-F832-C7D5-DD5F-43E7579F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2CA5-C7DE-C955-B48A-7E0F3888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908E-669F-CB28-260B-78354401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1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4474-5433-09FA-BE28-C0DC57B6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AD488-42FB-58FC-4155-0D56C39BE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34D41-5957-DB0E-CB35-AC6249E0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25178-5D33-EBD1-4C79-986B42DA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3E2A5-4A98-031A-250D-CBFB1D93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BD9DE-6FA7-D067-18F3-C04BBCDB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D33E4-2E0D-1662-B7BF-20E78E7C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DC47E-1E21-2424-6A7B-315D8AA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5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CA65-C705-E6A3-485D-408F56B8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069A2-CE3D-6E6E-685B-1FE020EA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84AF1-31C9-84AC-0250-05744141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3C2AA-F699-ED5D-9FBA-C19002EB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6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332F3-879F-BB3B-698B-B2739723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113C-0FB8-0400-99D8-6F134830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B956-7068-44C2-B72A-60BB293D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8B4E-A384-E57E-E42B-8DF0137C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5B01-185E-04BB-14A7-B258CA51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228C-5F12-7AF1-FC9F-8C1032F39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1407C-424A-E815-0FAD-6132348E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F71BD-8573-007D-3858-3535CBA0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0FE8-99A5-4546-F000-62538D6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2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CAFE-88EA-C3CA-5268-51CB9598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2BC8C-DCDC-6F3B-EC4D-AD7E7D77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F378A-43F4-65AF-61DB-1B261A99D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5D82-7B33-82FC-4CC1-372A7E7A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8B4F-C700-D100-E550-F1A34A23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C4BE6-38EC-0ED9-64CD-D1DBED13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76C-A078-6711-FF3C-E68ACE03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0CDEF-7F11-C385-F99C-1D079A46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33E6-8B7A-63A7-4B43-936C9C06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FD48-7F8C-2C53-C6E5-51FBBC2B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E807-0A14-F9E7-D3C4-243C242B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3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52A6E-A9A4-3335-FD57-B09080704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A70CC-412C-59DD-E5F3-0B522209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2B3D-CE4D-9039-CF20-3EA5A25A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8CD87-FDF1-2A7A-1BE7-FA7D6B71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DFF-8601-30EC-83EF-AD74CA7E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7597A-B7A8-059C-160C-EC7CE288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34A4-186E-5F01-1F5B-80DF3841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DDF5-E321-EF03-3E6D-64F457503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72AB9-64A1-45BC-9C9A-78E398D2F99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1B2B9-24D1-3FFE-9B16-BFA0BAC7B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9AEC6-3A77-F298-9C68-54B2F0065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4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4, Lecture 2: </a:t>
            </a:r>
            <a:r>
              <a:rPr lang="en-US"/>
              <a:t>Flow Control and </a:t>
            </a:r>
            <a:r>
              <a:rPr lang="en-US" dirty="0"/>
              <a:t>Congestion Control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7A72-44B2-732A-AAF8-60764CACA24C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3DEEBE4-E004-4154-1ED2-356727007087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TCP implementation: sliding window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 control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Congestion control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header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84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AC6F-865F-163F-03F7-61352CCEC0E6}"/>
              </a:ext>
            </a:extLst>
          </p:cNvPr>
          <p:cNvSpPr txBox="1">
            <a:spLocks/>
          </p:cNvSpPr>
          <p:nvPr/>
        </p:nvSpPr>
        <p:spPr>
          <a:xfrm>
            <a:off x="798691" y="289325"/>
            <a:ext cx="10515600" cy="732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cs typeface="Calibri" panose="020F0502020204030204" pitchFamily="34" charset="0"/>
              </a:rPr>
              <a:t>Reliably Delivering Multiple Packets</a:t>
            </a:r>
            <a:endParaRPr lang="en-US" dirty="0"/>
          </a:p>
        </p:txBody>
      </p:sp>
      <p:sp>
        <p:nvSpPr>
          <p:cNvPr id="3" name="Google Shape;674;p57">
            <a:extLst>
              <a:ext uri="{FF2B5EF4-FFF2-40B4-BE49-F238E27FC236}">
                <a16:creationId xmlns:a16="http://schemas.microsoft.com/office/drawing/2014/main" id="{BEB040E8-1090-5077-AE96-25BDCEA33FE7}"/>
              </a:ext>
            </a:extLst>
          </p:cNvPr>
          <p:cNvSpPr txBox="1">
            <a:spLocks/>
          </p:cNvSpPr>
          <p:nvPr/>
        </p:nvSpPr>
        <p:spPr>
          <a:xfrm>
            <a:off x="195627" y="1627614"/>
            <a:ext cx="6339643" cy="2995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C00000"/>
                </a:solidFill>
              </a:rPr>
              <a:t>Problem: </a:t>
            </a:r>
            <a:r>
              <a:rPr lang="en-US" dirty="0"/>
              <a:t>How to reliably deliver multiple packets (by using ACKs)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C00000"/>
                </a:solidFill>
              </a:rPr>
              <a:t>Naive approach</a:t>
            </a:r>
            <a:r>
              <a:rPr lang="en-US" dirty="0"/>
              <a:t>: Wait for packet 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dirty="0"/>
              <a:t> to be acked before sending packet 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i+1</a:t>
            </a:r>
            <a:r>
              <a:rPr lang="en-US" dirty="0"/>
              <a:t>.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This is correct, but really slow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Throughput: One packet per RTT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C403B97-DDA7-4770-769C-B47D792E1172}"/>
              </a:ext>
            </a:extLst>
          </p:cNvPr>
          <p:cNvGrpSpPr/>
          <p:nvPr/>
        </p:nvGrpSpPr>
        <p:grpSpPr>
          <a:xfrm>
            <a:off x="6445099" y="1717603"/>
            <a:ext cx="5746898" cy="4307874"/>
            <a:chOff x="6445099" y="1717603"/>
            <a:chExt cx="5746898" cy="4307874"/>
          </a:xfrm>
        </p:grpSpPr>
        <p:cxnSp>
          <p:nvCxnSpPr>
            <p:cNvPr id="36" name="Google Shape;675;p57">
              <a:extLst>
                <a:ext uri="{FF2B5EF4-FFF2-40B4-BE49-F238E27FC236}">
                  <a16:creationId xmlns:a16="http://schemas.microsoft.com/office/drawing/2014/main" id="{959A7424-AC26-A38A-8791-D05D54B11E52}"/>
                </a:ext>
              </a:extLst>
            </p:cNvPr>
            <p:cNvCxnSpPr/>
            <p:nvPr/>
          </p:nvCxnSpPr>
          <p:spPr>
            <a:xfrm>
              <a:off x="6997549" y="1717603"/>
              <a:ext cx="0" cy="403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Google Shape;676;p57">
              <a:extLst>
                <a:ext uri="{FF2B5EF4-FFF2-40B4-BE49-F238E27FC236}">
                  <a16:creationId xmlns:a16="http://schemas.microsoft.com/office/drawing/2014/main" id="{8A4DAD14-D7F5-7B05-77F1-3AD743AAE927}"/>
                </a:ext>
              </a:extLst>
            </p:cNvPr>
            <p:cNvSpPr txBox="1"/>
            <p:nvPr/>
          </p:nvSpPr>
          <p:spPr>
            <a:xfrm>
              <a:off x="6445099" y="5754577"/>
              <a:ext cx="11049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8" name="Google Shape;677;p57">
              <a:extLst>
                <a:ext uri="{FF2B5EF4-FFF2-40B4-BE49-F238E27FC236}">
                  <a16:creationId xmlns:a16="http://schemas.microsoft.com/office/drawing/2014/main" id="{B69F650E-CC95-0121-C53C-C9263BA0071A}"/>
                </a:ext>
              </a:extLst>
            </p:cNvPr>
            <p:cNvCxnSpPr/>
            <p:nvPr/>
          </p:nvCxnSpPr>
          <p:spPr>
            <a:xfrm>
              <a:off x="10018949" y="1717603"/>
              <a:ext cx="0" cy="403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Google Shape;678;p57">
              <a:extLst>
                <a:ext uri="{FF2B5EF4-FFF2-40B4-BE49-F238E27FC236}">
                  <a16:creationId xmlns:a16="http://schemas.microsoft.com/office/drawing/2014/main" id="{7F3E2A76-8D6F-11E2-1F2F-1A0149E7D577}"/>
                </a:ext>
              </a:extLst>
            </p:cNvPr>
            <p:cNvSpPr txBox="1"/>
            <p:nvPr/>
          </p:nvSpPr>
          <p:spPr>
            <a:xfrm>
              <a:off x="9418958" y="5754577"/>
              <a:ext cx="12000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" name="Google Shape;679;p57">
              <a:extLst>
                <a:ext uri="{FF2B5EF4-FFF2-40B4-BE49-F238E27FC236}">
                  <a16:creationId xmlns:a16="http://schemas.microsoft.com/office/drawing/2014/main" id="{1345FFD1-6142-95FA-BF9E-6867392E8C4D}"/>
                </a:ext>
              </a:extLst>
            </p:cNvPr>
            <p:cNvGrpSpPr/>
            <p:nvPr/>
          </p:nvGrpSpPr>
          <p:grpSpPr>
            <a:xfrm>
              <a:off x="6999524" y="1779028"/>
              <a:ext cx="3008700" cy="524199"/>
              <a:chOff x="3039500" y="1868675"/>
              <a:chExt cx="3008700" cy="524199"/>
            </a:xfrm>
          </p:grpSpPr>
          <p:cxnSp>
            <p:nvCxnSpPr>
              <p:cNvPr id="41" name="Google Shape;680;p57">
                <a:extLst>
                  <a:ext uri="{FF2B5EF4-FFF2-40B4-BE49-F238E27FC236}">
                    <a16:creationId xmlns:a16="http://schemas.microsoft.com/office/drawing/2014/main" id="{D42F0BC2-2C73-F33D-B672-C2387C48032A}"/>
                  </a:ext>
                </a:extLst>
              </p:cNvPr>
              <p:cNvCxnSpPr/>
              <p:nvPr/>
            </p:nvCxnSpPr>
            <p:spPr>
              <a:xfrm>
                <a:off x="3039500" y="2023274"/>
                <a:ext cx="3008700" cy="3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2" name="Google Shape;681;p57">
                <a:extLst>
                  <a:ext uri="{FF2B5EF4-FFF2-40B4-BE49-F238E27FC236}">
                    <a16:creationId xmlns:a16="http://schemas.microsoft.com/office/drawing/2014/main" id="{4358E9D1-0DE6-8FC2-F01C-7D2C2A94291D}"/>
                  </a:ext>
                </a:extLst>
              </p:cNvPr>
              <p:cNvSpPr txBox="1"/>
              <p:nvPr/>
            </p:nvSpPr>
            <p:spPr>
              <a:xfrm rot="420251">
                <a:off x="3985312" y="1936474"/>
                <a:ext cx="1129227" cy="284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3" name="Google Shape;682;p57">
              <a:extLst>
                <a:ext uri="{FF2B5EF4-FFF2-40B4-BE49-F238E27FC236}">
                  <a16:creationId xmlns:a16="http://schemas.microsoft.com/office/drawing/2014/main" id="{B90F6068-4CAF-5238-1D1E-27193B34D203}"/>
                </a:ext>
              </a:extLst>
            </p:cNvPr>
            <p:cNvGrpSpPr/>
            <p:nvPr/>
          </p:nvGrpSpPr>
          <p:grpSpPr>
            <a:xfrm>
              <a:off x="6999524" y="2221399"/>
              <a:ext cx="3008700" cy="539028"/>
              <a:chOff x="3039500" y="2311046"/>
              <a:chExt cx="3008700" cy="539028"/>
            </a:xfrm>
          </p:grpSpPr>
          <p:cxnSp>
            <p:nvCxnSpPr>
              <p:cNvPr id="44" name="Google Shape;683;p57">
                <a:extLst>
                  <a:ext uri="{FF2B5EF4-FFF2-40B4-BE49-F238E27FC236}">
                    <a16:creationId xmlns:a16="http://schemas.microsoft.com/office/drawing/2014/main" id="{2243A0F7-5484-A7FD-CCDA-A8357F8E632B}"/>
                  </a:ext>
                </a:extLst>
              </p:cNvPr>
              <p:cNvCxnSpPr/>
              <p:nvPr/>
            </p:nvCxnSpPr>
            <p:spPr>
              <a:xfrm flipH="1">
                <a:off x="3039500" y="2480474"/>
                <a:ext cx="3008700" cy="3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6AA84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5" name="Google Shape;684;p57">
                <a:extLst>
                  <a:ext uri="{FF2B5EF4-FFF2-40B4-BE49-F238E27FC236}">
                    <a16:creationId xmlns:a16="http://schemas.microsoft.com/office/drawing/2014/main" id="{81D6FC77-E0A7-FA8B-42E1-322FE26F3620}"/>
                  </a:ext>
                </a:extLst>
              </p:cNvPr>
              <p:cNvSpPr txBox="1"/>
              <p:nvPr/>
            </p:nvSpPr>
            <p:spPr>
              <a:xfrm rot="-422970">
                <a:off x="3985209" y="2379276"/>
                <a:ext cx="1129337" cy="284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ack (1)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6" name="Google Shape;685;p57">
              <a:extLst>
                <a:ext uri="{FF2B5EF4-FFF2-40B4-BE49-F238E27FC236}">
                  <a16:creationId xmlns:a16="http://schemas.microsoft.com/office/drawing/2014/main" id="{CAE3D608-6315-D1D3-604B-7EF230680EF5}"/>
                </a:ext>
              </a:extLst>
            </p:cNvPr>
            <p:cNvGrpSpPr/>
            <p:nvPr/>
          </p:nvGrpSpPr>
          <p:grpSpPr>
            <a:xfrm>
              <a:off x="6999524" y="2693428"/>
              <a:ext cx="3008700" cy="524199"/>
              <a:chOff x="3039500" y="1868675"/>
              <a:chExt cx="3008700" cy="524199"/>
            </a:xfrm>
          </p:grpSpPr>
          <p:cxnSp>
            <p:nvCxnSpPr>
              <p:cNvPr id="47" name="Google Shape;686;p57">
                <a:extLst>
                  <a:ext uri="{FF2B5EF4-FFF2-40B4-BE49-F238E27FC236}">
                    <a16:creationId xmlns:a16="http://schemas.microsoft.com/office/drawing/2014/main" id="{EC365CEA-3C7D-D386-0AA0-97A949DCC73D}"/>
                  </a:ext>
                </a:extLst>
              </p:cNvPr>
              <p:cNvCxnSpPr/>
              <p:nvPr/>
            </p:nvCxnSpPr>
            <p:spPr>
              <a:xfrm>
                <a:off x="3039500" y="2023274"/>
                <a:ext cx="3008700" cy="3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8" name="Google Shape;687;p57">
                <a:extLst>
                  <a:ext uri="{FF2B5EF4-FFF2-40B4-BE49-F238E27FC236}">
                    <a16:creationId xmlns:a16="http://schemas.microsoft.com/office/drawing/2014/main" id="{6BB13727-2B27-7099-C786-776BC3A81479}"/>
                  </a:ext>
                </a:extLst>
              </p:cNvPr>
              <p:cNvSpPr txBox="1"/>
              <p:nvPr/>
            </p:nvSpPr>
            <p:spPr>
              <a:xfrm rot="420251">
                <a:off x="3985312" y="1936474"/>
                <a:ext cx="1129227" cy="284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9" name="Google Shape;688;p57">
              <a:extLst>
                <a:ext uri="{FF2B5EF4-FFF2-40B4-BE49-F238E27FC236}">
                  <a16:creationId xmlns:a16="http://schemas.microsoft.com/office/drawing/2014/main" id="{13A2DFE8-B7F9-0644-147B-A8DB998673B5}"/>
                </a:ext>
              </a:extLst>
            </p:cNvPr>
            <p:cNvGrpSpPr/>
            <p:nvPr/>
          </p:nvGrpSpPr>
          <p:grpSpPr>
            <a:xfrm>
              <a:off x="6999524" y="3135799"/>
              <a:ext cx="3008700" cy="539028"/>
              <a:chOff x="3039500" y="2311046"/>
              <a:chExt cx="3008700" cy="539028"/>
            </a:xfrm>
          </p:grpSpPr>
          <p:cxnSp>
            <p:nvCxnSpPr>
              <p:cNvPr id="50" name="Google Shape;689;p57">
                <a:extLst>
                  <a:ext uri="{FF2B5EF4-FFF2-40B4-BE49-F238E27FC236}">
                    <a16:creationId xmlns:a16="http://schemas.microsoft.com/office/drawing/2014/main" id="{915E84B1-A26F-8900-8985-C77CB1041BF2}"/>
                  </a:ext>
                </a:extLst>
              </p:cNvPr>
              <p:cNvCxnSpPr/>
              <p:nvPr/>
            </p:nvCxnSpPr>
            <p:spPr>
              <a:xfrm flipH="1">
                <a:off x="3039500" y="2480474"/>
                <a:ext cx="3008700" cy="3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6AA84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1" name="Google Shape;690;p57">
                <a:extLst>
                  <a:ext uri="{FF2B5EF4-FFF2-40B4-BE49-F238E27FC236}">
                    <a16:creationId xmlns:a16="http://schemas.microsoft.com/office/drawing/2014/main" id="{E4E77C28-5C71-8C73-CFF1-4877B5FBFEDA}"/>
                  </a:ext>
                </a:extLst>
              </p:cNvPr>
              <p:cNvSpPr txBox="1"/>
              <p:nvPr/>
            </p:nvSpPr>
            <p:spPr>
              <a:xfrm rot="-422970">
                <a:off x="3985209" y="2379276"/>
                <a:ext cx="1129337" cy="284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ack (2)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2" name="Google Shape;691;p57">
              <a:extLst>
                <a:ext uri="{FF2B5EF4-FFF2-40B4-BE49-F238E27FC236}">
                  <a16:creationId xmlns:a16="http://schemas.microsoft.com/office/drawing/2014/main" id="{947552A8-EAD8-4917-D59A-B3B8EE3E8137}"/>
                </a:ext>
              </a:extLst>
            </p:cNvPr>
            <p:cNvGrpSpPr/>
            <p:nvPr/>
          </p:nvGrpSpPr>
          <p:grpSpPr>
            <a:xfrm>
              <a:off x="6999524" y="3760228"/>
              <a:ext cx="3008700" cy="524199"/>
              <a:chOff x="3039500" y="1868675"/>
              <a:chExt cx="3008700" cy="524199"/>
            </a:xfrm>
          </p:grpSpPr>
          <p:cxnSp>
            <p:nvCxnSpPr>
              <p:cNvPr id="53" name="Google Shape;692;p57">
                <a:extLst>
                  <a:ext uri="{FF2B5EF4-FFF2-40B4-BE49-F238E27FC236}">
                    <a16:creationId xmlns:a16="http://schemas.microsoft.com/office/drawing/2014/main" id="{BD794DDF-399F-F0DF-1387-7E75506F7C49}"/>
                  </a:ext>
                </a:extLst>
              </p:cNvPr>
              <p:cNvCxnSpPr/>
              <p:nvPr/>
            </p:nvCxnSpPr>
            <p:spPr>
              <a:xfrm>
                <a:off x="3039500" y="2023274"/>
                <a:ext cx="3008700" cy="3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4" name="Google Shape;693;p57">
                <a:extLst>
                  <a:ext uri="{FF2B5EF4-FFF2-40B4-BE49-F238E27FC236}">
                    <a16:creationId xmlns:a16="http://schemas.microsoft.com/office/drawing/2014/main" id="{961908CB-846C-C8BC-C364-469D52964A33}"/>
                  </a:ext>
                </a:extLst>
              </p:cNvPr>
              <p:cNvSpPr txBox="1"/>
              <p:nvPr/>
            </p:nvSpPr>
            <p:spPr>
              <a:xfrm rot="420251">
                <a:off x="3985312" y="1936474"/>
                <a:ext cx="1129227" cy="284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5" name="Google Shape;694;p57">
              <a:extLst>
                <a:ext uri="{FF2B5EF4-FFF2-40B4-BE49-F238E27FC236}">
                  <a16:creationId xmlns:a16="http://schemas.microsoft.com/office/drawing/2014/main" id="{895C3E5E-3F4C-38EA-83BD-01809F50C44E}"/>
                </a:ext>
              </a:extLst>
            </p:cNvPr>
            <p:cNvGrpSpPr/>
            <p:nvPr/>
          </p:nvGrpSpPr>
          <p:grpSpPr>
            <a:xfrm>
              <a:off x="6999524" y="4202599"/>
              <a:ext cx="3008700" cy="539028"/>
              <a:chOff x="3039500" y="2311046"/>
              <a:chExt cx="3008700" cy="539028"/>
            </a:xfrm>
          </p:grpSpPr>
          <p:cxnSp>
            <p:nvCxnSpPr>
              <p:cNvPr id="56" name="Google Shape;695;p57">
                <a:extLst>
                  <a:ext uri="{FF2B5EF4-FFF2-40B4-BE49-F238E27FC236}">
                    <a16:creationId xmlns:a16="http://schemas.microsoft.com/office/drawing/2014/main" id="{A487AA71-0AA7-F192-8704-2F80ABDC4F49}"/>
                  </a:ext>
                </a:extLst>
              </p:cNvPr>
              <p:cNvCxnSpPr/>
              <p:nvPr/>
            </p:nvCxnSpPr>
            <p:spPr>
              <a:xfrm flipH="1">
                <a:off x="3039500" y="2480474"/>
                <a:ext cx="3008700" cy="3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6AA84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7" name="Google Shape;696;p57">
                <a:extLst>
                  <a:ext uri="{FF2B5EF4-FFF2-40B4-BE49-F238E27FC236}">
                    <a16:creationId xmlns:a16="http://schemas.microsoft.com/office/drawing/2014/main" id="{7A62E1E1-BC0B-C28E-6D46-D4D2E46F0238}"/>
                  </a:ext>
                </a:extLst>
              </p:cNvPr>
              <p:cNvSpPr txBox="1"/>
              <p:nvPr/>
            </p:nvSpPr>
            <p:spPr>
              <a:xfrm rot="-422970">
                <a:off x="3985209" y="2379276"/>
                <a:ext cx="1129337" cy="284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ack (3)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8" name="Google Shape;697;p57">
              <a:extLst>
                <a:ext uri="{FF2B5EF4-FFF2-40B4-BE49-F238E27FC236}">
                  <a16:creationId xmlns:a16="http://schemas.microsoft.com/office/drawing/2014/main" id="{97A04252-BF07-DFB0-2950-FD3319EF22C4}"/>
                </a:ext>
              </a:extLst>
            </p:cNvPr>
            <p:cNvGrpSpPr/>
            <p:nvPr/>
          </p:nvGrpSpPr>
          <p:grpSpPr>
            <a:xfrm>
              <a:off x="6999524" y="4674628"/>
              <a:ext cx="3008700" cy="524199"/>
              <a:chOff x="3039500" y="1868675"/>
              <a:chExt cx="3008700" cy="524199"/>
            </a:xfrm>
          </p:grpSpPr>
          <p:cxnSp>
            <p:nvCxnSpPr>
              <p:cNvPr id="59" name="Google Shape;698;p57">
                <a:extLst>
                  <a:ext uri="{FF2B5EF4-FFF2-40B4-BE49-F238E27FC236}">
                    <a16:creationId xmlns:a16="http://schemas.microsoft.com/office/drawing/2014/main" id="{2B167875-8F8C-0B26-024D-E3BA03166500}"/>
                  </a:ext>
                </a:extLst>
              </p:cNvPr>
              <p:cNvCxnSpPr/>
              <p:nvPr/>
            </p:nvCxnSpPr>
            <p:spPr>
              <a:xfrm>
                <a:off x="3039500" y="2023274"/>
                <a:ext cx="3008700" cy="3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0" name="Google Shape;699;p57">
                <a:extLst>
                  <a:ext uri="{FF2B5EF4-FFF2-40B4-BE49-F238E27FC236}">
                    <a16:creationId xmlns:a16="http://schemas.microsoft.com/office/drawing/2014/main" id="{EF49B516-F47A-7261-96EF-7C81E0A0F8C0}"/>
                  </a:ext>
                </a:extLst>
              </p:cNvPr>
              <p:cNvSpPr txBox="1"/>
              <p:nvPr/>
            </p:nvSpPr>
            <p:spPr>
              <a:xfrm rot="420251">
                <a:off x="3985312" y="1936474"/>
                <a:ext cx="1129227" cy="284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1" name="Google Shape;700;p57">
              <a:extLst>
                <a:ext uri="{FF2B5EF4-FFF2-40B4-BE49-F238E27FC236}">
                  <a16:creationId xmlns:a16="http://schemas.microsoft.com/office/drawing/2014/main" id="{D91E0748-A486-208D-6BBC-D9B59C3A5440}"/>
                </a:ext>
              </a:extLst>
            </p:cNvPr>
            <p:cNvGrpSpPr/>
            <p:nvPr/>
          </p:nvGrpSpPr>
          <p:grpSpPr>
            <a:xfrm>
              <a:off x="6999524" y="5116999"/>
              <a:ext cx="3008700" cy="539028"/>
              <a:chOff x="3039500" y="2311046"/>
              <a:chExt cx="3008700" cy="539028"/>
            </a:xfrm>
          </p:grpSpPr>
          <p:cxnSp>
            <p:nvCxnSpPr>
              <p:cNvPr id="62" name="Google Shape;701;p57">
                <a:extLst>
                  <a:ext uri="{FF2B5EF4-FFF2-40B4-BE49-F238E27FC236}">
                    <a16:creationId xmlns:a16="http://schemas.microsoft.com/office/drawing/2014/main" id="{C6C46C80-4941-6840-9E62-F43734ED1204}"/>
                  </a:ext>
                </a:extLst>
              </p:cNvPr>
              <p:cNvCxnSpPr/>
              <p:nvPr/>
            </p:nvCxnSpPr>
            <p:spPr>
              <a:xfrm flipH="1">
                <a:off x="3039500" y="2480474"/>
                <a:ext cx="3008700" cy="3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6AA84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3" name="Google Shape;702;p57">
                <a:extLst>
                  <a:ext uri="{FF2B5EF4-FFF2-40B4-BE49-F238E27FC236}">
                    <a16:creationId xmlns:a16="http://schemas.microsoft.com/office/drawing/2014/main" id="{B936CBFF-212D-EC01-1C60-98CD45C38F2D}"/>
                  </a:ext>
                </a:extLst>
              </p:cNvPr>
              <p:cNvSpPr txBox="1"/>
              <p:nvPr/>
            </p:nvSpPr>
            <p:spPr>
              <a:xfrm rot="-422970">
                <a:off x="3985209" y="2379276"/>
                <a:ext cx="1129337" cy="284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ack (4)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4" name="Google Shape;703;p57">
              <a:extLst>
                <a:ext uri="{FF2B5EF4-FFF2-40B4-BE49-F238E27FC236}">
                  <a16:creationId xmlns:a16="http://schemas.microsoft.com/office/drawing/2014/main" id="{16BA7D42-702B-CFBC-7B9F-67114456F345}"/>
                </a:ext>
              </a:extLst>
            </p:cNvPr>
            <p:cNvGrpSpPr/>
            <p:nvPr/>
          </p:nvGrpSpPr>
          <p:grpSpPr>
            <a:xfrm>
              <a:off x="10866524" y="1909008"/>
              <a:ext cx="192000" cy="3747004"/>
              <a:chOff x="2715500" y="931825"/>
              <a:chExt cx="192000" cy="1556000"/>
            </a:xfrm>
          </p:grpSpPr>
          <p:cxnSp>
            <p:nvCxnSpPr>
              <p:cNvPr id="65" name="Google Shape;704;p57">
                <a:extLst>
                  <a:ext uri="{FF2B5EF4-FFF2-40B4-BE49-F238E27FC236}">
                    <a16:creationId xmlns:a16="http://schemas.microsoft.com/office/drawing/2014/main" id="{72E334C3-119D-1C42-0260-C25658614A75}"/>
                  </a:ext>
                </a:extLst>
              </p:cNvPr>
              <p:cNvCxnSpPr/>
              <p:nvPr/>
            </p:nvCxnSpPr>
            <p:spPr>
              <a:xfrm>
                <a:off x="2811500" y="933519"/>
                <a:ext cx="0" cy="1554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705;p57">
                <a:extLst>
                  <a:ext uri="{FF2B5EF4-FFF2-40B4-BE49-F238E27FC236}">
                    <a16:creationId xmlns:a16="http://schemas.microsoft.com/office/drawing/2014/main" id="{1B75C4F4-FC9F-9CD7-8B22-B7588A385FFA}"/>
                  </a:ext>
                </a:extLst>
              </p:cNvPr>
              <p:cNvCxnSpPr/>
              <p:nvPr/>
            </p:nvCxnSpPr>
            <p:spPr>
              <a:xfrm>
                <a:off x="2715500" y="931825"/>
                <a:ext cx="19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706;p57">
                <a:extLst>
                  <a:ext uri="{FF2B5EF4-FFF2-40B4-BE49-F238E27FC236}">
                    <a16:creationId xmlns:a16="http://schemas.microsoft.com/office/drawing/2014/main" id="{16D48CB0-FA27-475F-D9E9-CD115AB3DAFB}"/>
                  </a:ext>
                </a:extLst>
              </p:cNvPr>
              <p:cNvCxnSpPr/>
              <p:nvPr/>
            </p:nvCxnSpPr>
            <p:spPr>
              <a:xfrm>
                <a:off x="2715500" y="2487825"/>
                <a:ext cx="19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8" name="Google Shape;707;p57">
              <a:extLst>
                <a:ext uri="{FF2B5EF4-FFF2-40B4-BE49-F238E27FC236}">
                  <a16:creationId xmlns:a16="http://schemas.microsoft.com/office/drawing/2014/main" id="{5A250AD6-7618-FE34-97F7-F4015D3246C8}"/>
                </a:ext>
              </a:extLst>
            </p:cNvPr>
            <p:cNvSpPr txBox="1"/>
            <p:nvPr/>
          </p:nvSpPr>
          <p:spPr>
            <a:xfrm>
              <a:off x="10995572" y="3320353"/>
              <a:ext cx="1196425" cy="1569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Total time to send 4 packets: 4 * RTT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76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B305C-151F-0E62-B8D7-2FD3B3C1A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DE40-2EC7-1A2D-A647-C5F67EFAEA4C}"/>
              </a:ext>
            </a:extLst>
          </p:cNvPr>
          <p:cNvSpPr txBox="1">
            <a:spLocks/>
          </p:cNvSpPr>
          <p:nvPr/>
        </p:nvSpPr>
        <p:spPr>
          <a:xfrm>
            <a:off x="798691" y="289325"/>
            <a:ext cx="10515600" cy="732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cs typeface="Calibri" panose="020F0502020204030204" pitchFamily="34" charset="0"/>
              </a:rPr>
              <a:t>Reliably Delivering Multiple Packets</a:t>
            </a:r>
            <a:endParaRPr lang="en-US" dirty="0"/>
          </a:p>
        </p:txBody>
      </p:sp>
      <p:sp>
        <p:nvSpPr>
          <p:cNvPr id="3" name="Google Shape;674;p57">
            <a:extLst>
              <a:ext uri="{FF2B5EF4-FFF2-40B4-BE49-F238E27FC236}">
                <a16:creationId xmlns:a16="http://schemas.microsoft.com/office/drawing/2014/main" id="{0C9B73CC-F507-5965-3171-6B39BC0BAF35}"/>
              </a:ext>
            </a:extLst>
          </p:cNvPr>
          <p:cNvSpPr txBox="1">
            <a:spLocks/>
          </p:cNvSpPr>
          <p:nvPr/>
        </p:nvSpPr>
        <p:spPr>
          <a:xfrm>
            <a:off x="225144" y="1210719"/>
            <a:ext cx="6763895" cy="5459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A better approach</a:t>
            </a:r>
            <a:r>
              <a:rPr lang="en-US" sz="2400" dirty="0"/>
              <a:t>: Send more packets while waiting for acks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Have multiple packets </a:t>
            </a:r>
            <a:r>
              <a:rPr lang="en-US" sz="2400" b="1" dirty="0"/>
              <a:t>in-flight (</a:t>
            </a:r>
            <a:r>
              <a:rPr lang="en-US" sz="2400" dirty="0"/>
              <a:t>sent, but has not acked</a:t>
            </a:r>
            <a:r>
              <a:rPr lang="en-US" sz="2400" b="1" dirty="0"/>
              <a:t>) </a:t>
            </a:r>
            <a:r>
              <a:rPr lang="en-US" sz="2400" dirty="0"/>
              <a:t>simultaneously</a:t>
            </a:r>
          </a:p>
          <a:p>
            <a:pPr>
              <a:spcBef>
                <a:spcPts val="600"/>
              </a:spcBef>
            </a:pPr>
            <a:endParaRPr lang="en-US" sz="2400" dirty="0"/>
          </a:p>
          <a:p>
            <a:pPr marL="0" lvl="0" indent="0">
              <a:spcBef>
                <a:spcPts val="600"/>
              </a:spcBef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Problem</a:t>
            </a:r>
            <a:r>
              <a:rPr lang="en-US" sz="2400" dirty="0"/>
              <a:t>: What is them maximum number of packets can be in-flight at any time?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Answer</a:t>
            </a:r>
            <a:r>
              <a:rPr lang="en-US" sz="2400" dirty="0"/>
              <a:t>: Use </a:t>
            </a:r>
            <a:r>
              <a:rPr lang="en-US" sz="2400" i="1" dirty="0">
                <a:solidFill>
                  <a:srgbClr val="C00000"/>
                </a:solidFill>
              </a:rPr>
              <a:t>window-based algorithm </a:t>
            </a:r>
            <a:r>
              <a:rPr lang="en-US" sz="2400" dirty="0"/>
              <a:t>to limit the number of in-flight packets</a:t>
            </a:r>
          </a:p>
          <a:p>
            <a:pPr>
              <a:spcBef>
                <a:spcPts val="600"/>
              </a:spcBef>
            </a:pPr>
            <a:r>
              <a:rPr lang="en" sz="2400" i="1" dirty="0"/>
              <a:t>W</a:t>
            </a:r>
            <a:r>
              <a:rPr lang="en" sz="2400" dirty="0"/>
              <a:t> is the </a:t>
            </a:r>
            <a:r>
              <a:rPr lang="en" sz="2400" b="1" i="1" dirty="0">
                <a:solidFill>
                  <a:srgbClr val="C00000"/>
                </a:solidFill>
              </a:rPr>
              <a:t>size of the window</a:t>
            </a: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dirty="0"/>
              <a:t>To stay inside the window limit: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Start: Send </a:t>
            </a:r>
            <a:r>
              <a:rPr lang="en-US" i="1" dirty="0"/>
              <a:t>W</a:t>
            </a:r>
            <a:r>
              <a:rPr lang="en-US" dirty="0"/>
              <a:t> packets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Each time a packet gets acked, send the next packet in line</a:t>
            </a:r>
            <a:endParaRPr lang="en" i="1" dirty="0"/>
          </a:p>
          <a:p>
            <a:pPr>
              <a:spcBef>
                <a:spcPts val="600"/>
              </a:spcBef>
            </a:pP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090283-2A02-3297-6DB6-61FB0266E418}"/>
              </a:ext>
            </a:extLst>
          </p:cNvPr>
          <p:cNvGrpSpPr/>
          <p:nvPr/>
        </p:nvGrpSpPr>
        <p:grpSpPr>
          <a:xfrm>
            <a:off x="6879160" y="1681744"/>
            <a:ext cx="5249614" cy="4485974"/>
            <a:chOff x="6535270" y="1744497"/>
            <a:chExt cx="5249614" cy="4485974"/>
          </a:xfrm>
        </p:grpSpPr>
        <p:sp>
          <p:nvSpPr>
            <p:cNvPr id="4" name="Google Shape;714;p58">
              <a:extLst>
                <a:ext uri="{FF2B5EF4-FFF2-40B4-BE49-F238E27FC236}">
                  <a16:creationId xmlns:a16="http://schemas.microsoft.com/office/drawing/2014/main" id="{78A9211B-7F03-3AA7-FAEC-2EBDC4EBE10D}"/>
                </a:ext>
              </a:extLst>
            </p:cNvPr>
            <p:cNvSpPr txBox="1"/>
            <p:nvPr/>
          </p:nvSpPr>
          <p:spPr>
            <a:xfrm>
              <a:off x="6535270" y="5948371"/>
              <a:ext cx="1104900" cy="28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" name="Google Shape;715;p58">
              <a:extLst>
                <a:ext uri="{FF2B5EF4-FFF2-40B4-BE49-F238E27FC236}">
                  <a16:creationId xmlns:a16="http://schemas.microsoft.com/office/drawing/2014/main" id="{2C80C278-88C0-D459-9595-82926B489869}"/>
                </a:ext>
              </a:extLst>
            </p:cNvPr>
            <p:cNvSpPr txBox="1"/>
            <p:nvPr/>
          </p:nvSpPr>
          <p:spPr>
            <a:xfrm>
              <a:off x="9509129" y="5948371"/>
              <a:ext cx="1200000" cy="28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" name="Google Shape;716;p58">
              <a:extLst>
                <a:ext uri="{FF2B5EF4-FFF2-40B4-BE49-F238E27FC236}">
                  <a16:creationId xmlns:a16="http://schemas.microsoft.com/office/drawing/2014/main" id="{AC848C97-485D-2DEB-1B6C-F274D3CEF638}"/>
                </a:ext>
              </a:extLst>
            </p:cNvPr>
            <p:cNvCxnSpPr/>
            <p:nvPr/>
          </p:nvCxnSpPr>
          <p:spPr>
            <a:xfrm flipH="1">
              <a:off x="7094827" y="2396132"/>
              <a:ext cx="3008700" cy="38488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" name="Google Shape;717;p58">
              <a:extLst>
                <a:ext uri="{FF2B5EF4-FFF2-40B4-BE49-F238E27FC236}">
                  <a16:creationId xmlns:a16="http://schemas.microsoft.com/office/drawing/2014/main" id="{103B8F2D-1AB1-E069-FA78-91DD450460BF}"/>
                </a:ext>
              </a:extLst>
            </p:cNvPr>
            <p:cNvCxnSpPr/>
            <p:nvPr/>
          </p:nvCxnSpPr>
          <p:spPr>
            <a:xfrm>
              <a:off x="7089695" y="1969452"/>
              <a:ext cx="3008700" cy="38488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" name="Google Shape;718;p58">
              <a:extLst>
                <a:ext uri="{FF2B5EF4-FFF2-40B4-BE49-F238E27FC236}">
                  <a16:creationId xmlns:a16="http://schemas.microsoft.com/office/drawing/2014/main" id="{8BB27445-D469-F24F-D36A-6CC5E9CEDDBA}"/>
                </a:ext>
              </a:extLst>
            </p:cNvPr>
            <p:cNvCxnSpPr/>
            <p:nvPr/>
          </p:nvCxnSpPr>
          <p:spPr>
            <a:xfrm>
              <a:off x="7089695" y="2128153"/>
              <a:ext cx="3008700" cy="38488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Google Shape;719;p58">
              <a:extLst>
                <a:ext uri="{FF2B5EF4-FFF2-40B4-BE49-F238E27FC236}">
                  <a16:creationId xmlns:a16="http://schemas.microsoft.com/office/drawing/2014/main" id="{F532C019-87E7-DDAE-DC0B-EEAE51E06807}"/>
                </a:ext>
              </a:extLst>
            </p:cNvPr>
            <p:cNvCxnSpPr/>
            <p:nvPr/>
          </p:nvCxnSpPr>
          <p:spPr>
            <a:xfrm>
              <a:off x="7089695" y="2286853"/>
              <a:ext cx="3008700" cy="38488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720;p58">
              <a:extLst>
                <a:ext uri="{FF2B5EF4-FFF2-40B4-BE49-F238E27FC236}">
                  <a16:creationId xmlns:a16="http://schemas.microsoft.com/office/drawing/2014/main" id="{701F13FB-9744-928C-C995-38E5AD585846}"/>
                </a:ext>
              </a:extLst>
            </p:cNvPr>
            <p:cNvCxnSpPr/>
            <p:nvPr/>
          </p:nvCxnSpPr>
          <p:spPr>
            <a:xfrm>
              <a:off x="7089695" y="2445554"/>
              <a:ext cx="3008700" cy="38488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721;p58">
              <a:extLst>
                <a:ext uri="{FF2B5EF4-FFF2-40B4-BE49-F238E27FC236}">
                  <a16:creationId xmlns:a16="http://schemas.microsoft.com/office/drawing/2014/main" id="{420C5834-4F0C-9C05-4936-16AA6C05BABF}"/>
                </a:ext>
              </a:extLst>
            </p:cNvPr>
            <p:cNvCxnSpPr/>
            <p:nvPr/>
          </p:nvCxnSpPr>
          <p:spPr>
            <a:xfrm flipH="1">
              <a:off x="7094827" y="2554833"/>
              <a:ext cx="3008700" cy="38488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722;p58">
              <a:extLst>
                <a:ext uri="{FF2B5EF4-FFF2-40B4-BE49-F238E27FC236}">
                  <a16:creationId xmlns:a16="http://schemas.microsoft.com/office/drawing/2014/main" id="{C852E8E2-DA77-1E7E-EE94-BFB7E1F85D69}"/>
                </a:ext>
              </a:extLst>
            </p:cNvPr>
            <p:cNvCxnSpPr/>
            <p:nvPr/>
          </p:nvCxnSpPr>
          <p:spPr>
            <a:xfrm flipH="1">
              <a:off x="7094827" y="2713533"/>
              <a:ext cx="3008700" cy="38488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723;p58">
              <a:extLst>
                <a:ext uri="{FF2B5EF4-FFF2-40B4-BE49-F238E27FC236}">
                  <a16:creationId xmlns:a16="http://schemas.microsoft.com/office/drawing/2014/main" id="{6CCC8892-095C-3239-098C-CF391C6BD9CA}"/>
                </a:ext>
              </a:extLst>
            </p:cNvPr>
            <p:cNvCxnSpPr/>
            <p:nvPr/>
          </p:nvCxnSpPr>
          <p:spPr>
            <a:xfrm flipH="1">
              <a:off x="7094827" y="2872234"/>
              <a:ext cx="3008700" cy="38488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724;p58">
              <a:extLst>
                <a:ext uri="{FF2B5EF4-FFF2-40B4-BE49-F238E27FC236}">
                  <a16:creationId xmlns:a16="http://schemas.microsoft.com/office/drawing/2014/main" id="{A6C46431-5186-D123-8C2B-B084395EC4DC}"/>
                </a:ext>
              </a:extLst>
            </p:cNvPr>
            <p:cNvSpPr txBox="1"/>
            <p:nvPr/>
          </p:nvSpPr>
          <p:spPr>
            <a:xfrm>
              <a:off x="6872181" y="1789494"/>
              <a:ext cx="264300" cy="833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725;p58">
              <a:extLst>
                <a:ext uri="{FF2B5EF4-FFF2-40B4-BE49-F238E27FC236}">
                  <a16:creationId xmlns:a16="http://schemas.microsoft.com/office/drawing/2014/main" id="{3D2DCFFB-0B49-9EF6-6070-A4B65D44DB85}"/>
                </a:ext>
              </a:extLst>
            </p:cNvPr>
            <p:cNvSpPr txBox="1"/>
            <p:nvPr/>
          </p:nvSpPr>
          <p:spPr>
            <a:xfrm>
              <a:off x="10072574" y="2200129"/>
              <a:ext cx="667500" cy="833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ack(1)</a:t>
              </a:r>
              <a:endParaRPr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ack(2)</a:t>
              </a:r>
              <a:endParaRPr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ack(3)</a:t>
              </a:r>
              <a:endParaRPr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ack(4)</a:t>
              </a:r>
              <a:endParaRPr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" name="Google Shape;726;p58">
              <a:extLst>
                <a:ext uri="{FF2B5EF4-FFF2-40B4-BE49-F238E27FC236}">
                  <a16:creationId xmlns:a16="http://schemas.microsoft.com/office/drawing/2014/main" id="{586C4ADD-4901-ACD4-F314-2A58CE59D499}"/>
                </a:ext>
              </a:extLst>
            </p:cNvPr>
            <p:cNvCxnSpPr/>
            <p:nvPr/>
          </p:nvCxnSpPr>
          <p:spPr>
            <a:xfrm>
              <a:off x="10109120" y="1744497"/>
              <a:ext cx="0" cy="4203693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727;p58">
              <a:extLst>
                <a:ext uri="{FF2B5EF4-FFF2-40B4-BE49-F238E27FC236}">
                  <a16:creationId xmlns:a16="http://schemas.microsoft.com/office/drawing/2014/main" id="{2B13D06A-FA64-091D-D139-3DA5D4A00128}"/>
                </a:ext>
              </a:extLst>
            </p:cNvPr>
            <p:cNvCxnSpPr/>
            <p:nvPr/>
          </p:nvCxnSpPr>
          <p:spPr>
            <a:xfrm>
              <a:off x="7087720" y="1744497"/>
              <a:ext cx="0" cy="4203693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" name="Google Shape;728;p58">
              <a:extLst>
                <a:ext uri="{FF2B5EF4-FFF2-40B4-BE49-F238E27FC236}">
                  <a16:creationId xmlns:a16="http://schemas.microsoft.com/office/drawing/2014/main" id="{8BFF48C5-2B48-A835-12CB-1F2CD29F1FB8}"/>
                </a:ext>
              </a:extLst>
            </p:cNvPr>
            <p:cNvGrpSpPr/>
            <p:nvPr/>
          </p:nvGrpSpPr>
          <p:grpSpPr>
            <a:xfrm>
              <a:off x="10558799" y="1966346"/>
              <a:ext cx="192000" cy="1313277"/>
              <a:chOff x="2715500" y="931825"/>
              <a:chExt cx="192000" cy="1556000"/>
            </a:xfrm>
          </p:grpSpPr>
          <p:cxnSp>
            <p:nvCxnSpPr>
              <p:cNvPr id="19" name="Google Shape;729;p58">
                <a:extLst>
                  <a:ext uri="{FF2B5EF4-FFF2-40B4-BE49-F238E27FC236}">
                    <a16:creationId xmlns:a16="http://schemas.microsoft.com/office/drawing/2014/main" id="{4074594A-FBD5-A7EB-EA52-FE1886B1762D}"/>
                  </a:ext>
                </a:extLst>
              </p:cNvPr>
              <p:cNvCxnSpPr/>
              <p:nvPr/>
            </p:nvCxnSpPr>
            <p:spPr>
              <a:xfrm>
                <a:off x="2811500" y="933519"/>
                <a:ext cx="0" cy="1554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730;p58">
                <a:extLst>
                  <a:ext uri="{FF2B5EF4-FFF2-40B4-BE49-F238E27FC236}">
                    <a16:creationId xmlns:a16="http://schemas.microsoft.com/office/drawing/2014/main" id="{F9CECF4D-3434-DBCE-3A45-DCDC83EE6170}"/>
                  </a:ext>
                </a:extLst>
              </p:cNvPr>
              <p:cNvCxnSpPr/>
              <p:nvPr/>
            </p:nvCxnSpPr>
            <p:spPr>
              <a:xfrm>
                <a:off x="2715500" y="931825"/>
                <a:ext cx="19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731;p58">
                <a:extLst>
                  <a:ext uri="{FF2B5EF4-FFF2-40B4-BE49-F238E27FC236}">
                    <a16:creationId xmlns:a16="http://schemas.microsoft.com/office/drawing/2014/main" id="{F30ACEA9-DFA1-F4C0-6F90-D827A04422EF}"/>
                  </a:ext>
                </a:extLst>
              </p:cNvPr>
              <p:cNvCxnSpPr/>
              <p:nvPr/>
            </p:nvCxnSpPr>
            <p:spPr>
              <a:xfrm>
                <a:off x="2715500" y="2487825"/>
                <a:ext cx="19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2" name="Google Shape;732;p58">
              <a:extLst>
                <a:ext uri="{FF2B5EF4-FFF2-40B4-BE49-F238E27FC236}">
                  <a16:creationId xmlns:a16="http://schemas.microsoft.com/office/drawing/2014/main" id="{6C1BD84F-B424-979D-049E-945500ED23A6}"/>
                </a:ext>
              </a:extLst>
            </p:cNvPr>
            <p:cNvSpPr txBox="1"/>
            <p:nvPr/>
          </p:nvSpPr>
          <p:spPr>
            <a:xfrm>
              <a:off x="10784084" y="1964917"/>
              <a:ext cx="1000800" cy="1346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Total time to send 4 packets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1240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B79D-4230-4C47-8D44-37CA1933838D}"/>
              </a:ext>
            </a:extLst>
          </p:cNvPr>
          <p:cNvSpPr txBox="1">
            <a:spLocks/>
          </p:cNvSpPr>
          <p:nvPr/>
        </p:nvSpPr>
        <p:spPr>
          <a:xfrm>
            <a:off x="838199" y="60221"/>
            <a:ext cx="10515600" cy="732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cs typeface="Calibri" panose="020F0502020204030204" pitchFamily="34" charset="0"/>
              </a:rPr>
              <a:t>Window-Based Algorithms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0F7EAE-FE73-89BA-94C2-2987603E5418}"/>
              </a:ext>
            </a:extLst>
          </p:cNvPr>
          <p:cNvGrpSpPr/>
          <p:nvPr/>
        </p:nvGrpSpPr>
        <p:grpSpPr>
          <a:xfrm>
            <a:off x="6777316" y="2814032"/>
            <a:ext cx="5750027" cy="3909807"/>
            <a:chOff x="4032850" y="3492495"/>
            <a:chExt cx="4204804" cy="3214300"/>
          </a:xfrm>
        </p:grpSpPr>
        <p:cxnSp>
          <p:nvCxnSpPr>
            <p:cNvPr id="3" name="Google Shape;745;p60">
              <a:extLst>
                <a:ext uri="{FF2B5EF4-FFF2-40B4-BE49-F238E27FC236}">
                  <a16:creationId xmlns:a16="http://schemas.microsoft.com/office/drawing/2014/main" id="{63175BA9-FB21-3B89-40A9-63041D7B2E24}"/>
                </a:ext>
              </a:extLst>
            </p:cNvPr>
            <p:cNvCxnSpPr/>
            <p:nvPr/>
          </p:nvCxnSpPr>
          <p:spPr>
            <a:xfrm>
              <a:off x="4585300" y="3492495"/>
              <a:ext cx="0" cy="294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" name="Google Shape;746;p60">
              <a:extLst>
                <a:ext uri="{FF2B5EF4-FFF2-40B4-BE49-F238E27FC236}">
                  <a16:creationId xmlns:a16="http://schemas.microsoft.com/office/drawing/2014/main" id="{F9B7F7D4-4968-CED5-FEAE-F96FB17FE3DA}"/>
                </a:ext>
              </a:extLst>
            </p:cNvPr>
            <p:cNvSpPr txBox="1"/>
            <p:nvPr/>
          </p:nvSpPr>
          <p:spPr>
            <a:xfrm>
              <a:off x="4032850" y="6435895"/>
              <a:ext cx="11049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" name="Google Shape;747;p60">
              <a:extLst>
                <a:ext uri="{FF2B5EF4-FFF2-40B4-BE49-F238E27FC236}">
                  <a16:creationId xmlns:a16="http://schemas.microsoft.com/office/drawing/2014/main" id="{2684DB82-C837-CB24-DC82-35E3CAB2F712}"/>
                </a:ext>
              </a:extLst>
            </p:cNvPr>
            <p:cNvCxnSpPr/>
            <p:nvPr/>
          </p:nvCxnSpPr>
          <p:spPr>
            <a:xfrm>
              <a:off x="7606700" y="3492495"/>
              <a:ext cx="0" cy="294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748;p60">
              <a:extLst>
                <a:ext uri="{FF2B5EF4-FFF2-40B4-BE49-F238E27FC236}">
                  <a16:creationId xmlns:a16="http://schemas.microsoft.com/office/drawing/2014/main" id="{3951B12A-8CD6-050F-8992-2F790D79F3F7}"/>
                </a:ext>
              </a:extLst>
            </p:cNvPr>
            <p:cNvSpPr txBox="1"/>
            <p:nvPr/>
          </p:nvSpPr>
          <p:spPr>
            <a:xfrm>
              <a:off x="7006709" y="6435895"/>
              <a:ext cx="12000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" name="Google Shape;749;p60">
              <a:extLst>
                <a:ext uri="{FF2B5EF4-FFF2-40B4-BE49-F238E27FC236}">
                  <a16:creationId xmlns:a16="http://schemas.microsoft.com/office/drawing/2014/main" id="{A779BDFA-0334-5BE4-7CED-3C1518441B53}"/>
                </a:ext>
              </a:extLst>
            </p:cNvPr>
            <p:cNvCxnSpPr/>
            <p:nvPr/>
          </p:nvCxnSpPr>
          <p:spPr>
            <a:xfrm flipH="1">
              <a:off x="4592407" y="4091485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" name="Google Shape;750;p60">
              <a:extLst>
                <a:ext uri="{FF2B5EF4-FFF2-40B4-BE49-F238E27FC236}">
                  <a16:creationId xmlns:a16="http://schemas.microsoft.com/office/drawing/2014/main" id="{933AA9F4-DE70-A278-2CBF-0812F004F0E9}"/>
                </a:ext>
              </a:extLst>
            </p:cNvPr>
            <p:cNvCxnSpPr/>
            <p:nvPr/>
          </p:nvCxnSpPr>
          <p:spPr>
            <a:xfrm>
              <a:off x="4587275" y="3681745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Google Shape;751;p60">
              <a:extLst>
                <a:ext uri="{FF2B5EF4-FFF2-40B4-BE49-F238E27FC236}">
                  <a16:creationId xmlns:a16="http://schemas.microsoft.com/office/drawing/2014/main" id="{C1787D4A-AE35-0F67-521C-28270B2F661D}"/>
                </a:ext>
              </a:extLst>
            </p:cNvPr>
            <p:cNvCxnSpPr/>
            <p:nvPr/>
          </p:nvCxnSpPr>
          <p:spPr>
            <a:xfrm>
              <a:off x="4587275" y="3834145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752;p60">
              <a:extLst>
                <a:ext uri="{FF2B5EF4-FFF2-40B4-BE49-F238E27FC236}">
                  <a16:creationId xmlns:a16="http://schemas.microsoft.com/office/drawing/2014/main" id="{445B2B14-597E-5CD5-9D36-811AE0A75499}"/>
                </a:ext>
              </a:extLst>
            </p:cNvPr>
            <p:cNvCxnSpPr/>
            <p:nvPr/>
          </p:nvCxnSpPr>
          <p:spPr>
            <a:xfrm>
              <a:off x="4587275" y="3986545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753;p60">
              <a:extLst>
                <a:ext uri="{FF2B5EF4-FFF2-40B4-BE49-F238E27FC236}">
                  <a16:creationId xmlns:a16="http://schemas.microsoft.com/office/drawing/2014/main" id="{686AD23E-7259-FF4D-5B80-0AE6773658B9}"/>
                </a:ext>
              </a:extLst>
            </p:cNvPr>
            <p:cNvCxnSpPr/>
            <p:nvPr/>
          </p:nvCxnSpPr>
          <p:spPr>
            <a:xfrm>
              <a:off x="4587275" y="4138945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754;p60">
              <a:extLst>
                <a:ext uri="{FF2B5EF4-FFF2-40B4-BE49-F238E27FC236}">
                  <a16:creationId xmlns:a16="http://schemas.microsoft.com/office/drawing/2014/main" id="{7C5B5D80-7222-9E0C-15D7-4FA877B05932}"/>
                </a:ext>
              </a:extLst>
            </p:cNvPr>
            <p:cNvCxnSpPr/>
            <p:nvPr/>
          </p:nvCxnSpPr>
          <p:spPr>
            <a:xfrm flipH="1">
              <a:off x="4592407" y="4243885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" name="Google Shape;755;p60">
              <a:extLst>
                <a:ext uri="{FF2B5EF4-FFF2-40B4-BE49-F238E27FC236}">
                  <a16:creationId xmlns:a16="http://schemas.microsoft.com/office/drawing/2014/main" id="{E8DBC338-AB0A-31A4-8466-DC37CE7A7E55}"/>
                </a:ext>
              </a:extLst>
            </p:cNvPr>
            <p:cNvSpPr txBox="1"/>
            <p:nvPr/>
          </p:nvSpPr>
          <p:spPr>
            <a:xfrm>
              <a:off x="4369761" y="3508932"/>
              <a:ext cx="264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756;p60">
              <a:extLst>
                <a:ext uri="{FF2B5EF4-FFF2-40B4-BE49-F238E27FC236}">
                  <a16:creationId xmlns:a16="http://schemas.microsoft.com/office/drawing/2014/main" id="{64DF56B1-DE51-C9AA-E1CE-1FEAA90798EF}"/>
                </a:ext>
              </a:extLst>
            </p:cNvPr>
            <p:cNvSpPr txBox="1"/>
            <p:nvPr/>
          </p:nvSpPr>
          <p:spPr>
            <a:xfrm>
              <a:off x="7570154" y="3903264"/>
              <a:ext cx="667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ack(1)</a:t>
              </a:r>
              <a:endParaRPr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ack(2)</a:t>
              </a:r>
              <a:endParaRPr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" name="Google Shape;757;p60">
              <a:extLst>
                <a:ext uri="{FF2B5EF4-FFF2-40B4-BE49-F238E27FC236}">
                  <a16:creationId xmlns:a16="http://schemas.microsoft.com/office/drawing/2014/main" id="{4FEC53A2-26AC-042E-FBBA-BE2EA76FA78F}"/>
                </a:ext>
              </a:extLst>
            </p:cNvPr>
            <p:cNvCxnSpPr/>
            <p:nvPr/>
          </p:nvCxnSpPr>
          <p:spPr>
            <a:xfrm>
              <a:off x="4587275" y="4519945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Google Shape;758;p60">
              <a:extLst>
                <a:ext uri="{FF2B5EF4-FFF2-40B4-BE49-F238E27FC236}">
                  <a16:creationId xmlns:a16="http://schemas.microsoft.com/office/drawing/2014/main" id="{AB60A78D-5D3F-1EB3-7627-42586F6030D1}"/>
                </a:ext>
              </a:extLst>
            </p:cNvPr>
            <p:cNvCxnSpPr/>
            <p:nvPr/>
          </p:nvCxnSpPr>
          <p:spPr>
            <a:xfrm>
              <a:off x="4587275" y="4672345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Google Shape;759;p60">
              <a:extLst>
                <a:ext uri="{FF2B5EF4-FFF2-40B4-BE49-F238E27FC236}">
                  <a16:creationId xmlns:a16="http://schemas.microsoft.com/office/drawing/2014/main" id="{199E1199-23B6-8DF2-77CE-AC21BE5034A9}"/>
                </a:ext>
              </a:extLst>
            </p:cNvPr>
            <p:cNvSpPr txBox="1"/>
            <p:nvPr/>
          </p:nvSpPr>
          <p:spPr>
            <a:xfrm>
              <a:off x="4369761" y="4347132"/>
              <a:ext cx="264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760;p60">
              <a:extLst>
                <a:ext uri="{FF2B5EF4-FFF2-40B4-BE49-F238E27FC236}">
                  <a16:creationId xmlns:a16="http://schemas.microsoft.com/office/drawing/2014/main" id="{B8DA4BF3-2AAF-E488-22A4-03E07717FDDA}"/>
                </a:ext>
              </a:extLst>
            </p:cNvPr>
            <p:cNvSpPr txBox="1"/>
            <p:nvPr/>
          </p:nvSpPr>
          <p:spPr>
            <a:xfrm>
              <a:off x="5658000" y="5974096"/>
              <a:ext cx="87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i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</a:t>
              </a: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= 4</a:t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" name="Google Shape;744;p60">
            <a:extLst>
              <a:ext uri="{FF2B5EF4-FFF2-40B4-BE49-F238E27FC236}">
                <a16:creationId xmlns:a16="http://schemas.microsoft.com/office/drawing/2014/main" id="{C381896A-D0B0-E30B-1AC0-F40D9290F158}"/>
              </a:ext>
            </a:extLst>
          </p:cNvPr>
          <p:cNvSpPr txBox="1">
            <a:spLocks/>
          </p:cNvSpPr>
          <p:nvPr/>
        </p:nvSpPr>
        <p:spPr>
          <a:xfrm>
            <a:off x="618301" y="701011"/>
            <a:ext cx="10955395" cy="16002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/>
              <a:t>Start: Send </a:t>
            </a:r>
            <a:r>
              <a:rPr lang="en-US" i="1" dirty="0"/>
              <a:t>W</a:t>
            </a:r>
            <a:r>
              <a:rPr lang="en-US" dirty="0"/>
              <a:t> = 4 packets		In-flight packets: {1, 2, 3, 4}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/>
              <a:t>When ack(1) arrives: Send 5		In-flight packets: {2, 3, 4, 5}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/>
              <a:t>When ack(2) arrives: Send 6		In-flight packets: {3, 4, 5, 6}</a:t>
            </a:r>
          </a:p>
        </p:txBody>
      </p:sp>
      <p:sp>
        <p:nvSpPr>
          <p:cNvPr id="23" name="Google Shape;766;p61">
            <a:extLst>
              <a:ext uri="{FF2B5EF4-FFF2-40B4-BE49-F238E27FC236}">
                <a16:creationId xmlns:a16="http://schemas.microsoft.com/office/drawing/2014/main" id="{F9775ABE-A54F-98C2-FDF2-38D3E4941116}"/>
              </a:ext>
            </a:extLst>
          </p:cNvPr>
          <p:cNvSpPr txBox="1">
            <a:spLocks/>
          </p:cNvSpPr>
          <p:nvPr/>
        </p:nvSpPr>
        <p:spPr>
          <a:xfrm>
            <a:off x="19598" y="4323851"/>
            <a:ext cx="7861071" cy="2280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Problem</a:t>
            </a:r>
            <a:r>
              <a:rPr lang="en-US" sz="2400" dirty="0"/>
              <a:t>: How big should the window be?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Pick window size </a:t>
            </a:r>
            <a:r>
              <a:rPr lang="en-US" sz="2400" i="1" dirty="0"/>
              <a:t>W</a:t>
            </a:r>
            <a:r>
              <a:rPr lang="en-US" sz="2400" dirty="0"/>
              <a:t> to balance three goals: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400" dirty="0"/>
              <a:t>Take advantage of network capacity ("fill the pipe")...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400" dirty="0"/>
              <a:t>...but don't overload the recipient (</a:t>
            </a:r>
            <a:r>
              <a:rPr lang="en-US" sz="2400" i="1" dirty="0">
                <a:solidFill>
                  <a:srgbClr val="C00000"/>
                </a:solidFill>
              </a:rPr>
              <a:t>flow control</a:t>
            </a:r>
            <a:r>
              <a:rPr lang="en-US" sz="2400" dirty="0"/>
              <a:t>)...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400" dirty="0"/>
              <a:t>...and don't overload links (</a:t>
            </a:r>
            <a:r>
              <a:rPr lang="en-US" sz="2400" i="1" dirty="0">
                <a:solidFill>
                  <a:srgbClr val="C00000"/>
                </a:solidFill>
              </a:rPr>
              <a:t>congestion control</a:t>
            </a:r>
            <a:r>
              <a:rPr lang="en-US" sz="2400" dirty="0"/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EEFCE0-2EEB-B7C3-68F7-DD8E9618AD09}"/>
              </a:ext>
            </a:extLst>
          </p:cNvPr>
          <p:cNvSpPr txBox="1"/>
          <p:nvPr/>
        </p:nvSpPr>
        <p:spPr>
          <a:xfrm>
            <a:off x="0" y="2236788"/>
            <a:ext cx="714721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" sz="2400" i="1" dirty="0"/>
              <a:t>W</a:t>
            </a:r>
            <a:r>
              <a:rPr lang="en" sz="2400" dirty="0"/>
              <a:t> is the </a:t>
            </a:r>
            <a:r>
              <a:rPr lang="en" sz="2400" b="1" i="1" dirty="0">
                <a:solidFill>
                  <a:srgbClr val="C00000"/>
                </a:solidFill>
              </a:rPr>
              <a:t>size of the window</a:t>
            </a:r>
            <a:r>
              <a:rPr lang="en-US" sz="2400" b="1" i="1" dirty="0">
                <a:solidFill>
                  <a:srgbClr val="C00000"/>
                </a:solidFill>
              </a:rPr>
              <a:t>. </a:t>
            </a:r>
            <a:r>
              <a:rPr lang="en-US" sz="2400" dirty="0"/>
              <a:t>To stay inside the window limit: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Start: Send </a:t>
            </a:r>
            <a:r>
              <a:rPr lang="en-US" sz="2400" i="1" dirty="0"/>
              <a:t>W</a:t>
            </a:r>
            <a:r>
              <a:rPr lang="en-US" sz="2400" dirty="0"/>
              <a:t> packets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Each time a packet gets acked, send the next packet in line</a:t>
            </a:r>
            <a:endParaRPr lang="en" sz="2400" i="1" dirty="0"/>
          </a:p>
        </p:txBody>
      </p:sp>
    </p:spTree>
    <p:extLst>
      <p:ext uri="{BB962C8B-B14F-4D97-AF65-F5344CB8AC3E}">
        <p14:creationId xmlns:p14="http://schemas.microsoft.com/office/powerpoint/2010/main" val="208212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F5EFB-D272-4150-A3F5-CBEC3D3E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4972C098-7A58-E77B-F297-2A59A0FD2D75}"/>
              </a:ext>
            </a:extLst>
          </p:cNvPr>
          <p:cNvSpPr txBox="1">
            <a:spLocks/>
          </p:cNvSpPr>
          <p:nvPr/>
        </p:nvSpPr>
        <p:spPr>
          <a:xfrm>
            <a:off x="448235" y="125505"/>
            <a:ext cx="11295529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Setting Window Size (1/3): Filling the Pipe</a:t>
            </a:r>
          </a:p>
        </p:txBody>
      </p:sp>
      <p:sp>
        <p:nvSpPr>
          <p:cNvPr id="3" name="Google Shape;772;p62">
            <a:extLst>
              <a:ext uri="{FF2B5EF4-FFF2-40B4-BE49-F238E27FC236}">
                <a16:creationId xmlns:a16="http://schemas.microsoft.com/office/drawing/2014/main" id="{651F62ED-A68F-435E-20F3-44E0FCBB10EB}"/>
              </a:ext>
            </a:extLst>
          </p:cNvPr>
          <p:cNvSpPr txBox="1">
            <a:spLocks/>
          </p:cNvSpPr>
          <p:nvPr/>
        </p:nvSpPr>
        <p:spPr>
          <a:xfrm>
            <a:off x="52726" y="950258"/>
            <a:ext cx="8192510" cy="59077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First goal: Take advantage of network capacity ("fill the pipe").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sender should never be sitting idle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Set </a:t>
            </a:r>
            <a:r>
              <a:rPr lang="en-US" sz="2400" i="1" dirty="0">
                <a:solidFill>
                  <a:srgbClr val="C00000"/>
                </a:solidFill>
              </a:rPr>
              <a:t>W</a:t>
            </a:r>
            <a:r>
              <a:rPr lang="en-US" sz="2400" dirty="0"/>
              <a:t> large enough to keep the sender constantly busy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How to compute this </a:t>
            </a:r>
            <a:r>
              <a:rPr lang="en-US" sz="2400" i="1" dirty="0"/>
              <a:t>W</a:t>
            </a:r>
            <a:r>
              <a:rPr lang="en-US" sz="2400" dirty="0"/>
              <a:t>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Suppose </a:t>
            </a:r>
            <a:r>
              <a:rPr lang="en-US" sz="2400" dirty="0">
                <a:solidFill>
                  <a:srgbClr val="C00000"/>
                </a:solidFill>
              </a:rPr>
              <a:t>RTT</a:t>
            </a:r>
            <a:r>
              <a:rPr lang="en-US" sz="2400" dirty="0"/>
              <a:t> = 6 seconds, and </a:t>
            </a:r>
            <a:r>
              <a:rPr lang="en-US" sz="2400" dirty="0">
                <a:solidFill>
                  <a:srgbClr val="C00000"/>
                </a:solidFill>
              </a:rPr>
              <a:t>bandwidth</a:t>
            </a:r>
            <a:r>
              <a:rPr lang="en-US" sz="2400" dirty="0"/>
              <a:t> = 1 packets per second; </a:t>
            </a:r>
            <a:r>
              <a:rPr lang="en-US" sz="2000" i="1" dirty="0">
                <a:solidFill>
                  <a:schemeClr val="accent3"/>
                </a:solidFill>
              </a:rPr>
              <a:t>(Bandwidth means how fast packets can be sent without clogging the network)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Let's focus on the very first RTT: For the first 6 seconds, no acks arrive; We want the sender to be constantly busy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How many packets can be sent in 5 seconds?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(6 seconds) × (1 packets per second) = 6 packets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Thus, </a:t>
            </a:r>
            <a:r>
              <a:rPr lang="en-US" i="1" dirty="0"/>
              <a:t>W</a:t>
            </a:r>
            <a:r>
              <a:rPr lang="en-US" dirty="0"/>
              <a:t> = 6 packets keeps the sender busy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More generally: </a:t>
            </a:r>
            <a:r>
              <a:rPr lang="en-US" sz="2400" i="1" dirty="0">
                <a:solidFill>
                  <a:srgbClr val="C00000"/>
                </a:solidFill>
              </a:rPr>
              <a:t>W</a:t>
            </a:r>
            <a:r>
              <a:rPr lang="en-US" sz="2400" dirty="0">
                <a:solidFill>
                  <a:srgbClr val="C00000"/>
                </a:solidFill>
              </a:rPr>
              <a:t> = RTT × bandwidth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A4D339-17FF-30EE-39BA-68EBEEF0C14D}"/>
              </a:ext>
            </a:extLst>
          </p:cNvPr>
          <p:cNvGrpSpPr/>
          <p:nvPr/>
        </p:nvGrpSpPr>
        <p:grpSpPr>
          <a:xfrm>
            <a:off x="6275296" y="2040212"/>
            <a:ext cx="5775478" cy="3214300"/>
            <a:chOff x="914401" y="1834024"/>
            <a:chExt cx="5775478" cy="3214300"/>
          </a:xfrm>
        </p:grpSpPr>
        <p:cxnSp>
          <p:nvCxnSpPr>
            <p:cNvPr id="21" name="Google Shape;779;p63">
              <a:extLst>
                <a:ext uri="{FF2B5EF4-FFF2-40B4-BE49-F238E27FC236}">
                  <a16:creationId xmlns:a16="http://schemas.microsoft.com/office/drawing/2014/main" id="{16014651-3851-6E50-B5AF-D7C22A156959}"/>
                </a:ext>
              </a:extLst>
            </p:cNvPr>
            <p:cNvCxnSpPr/>
            <p:nvPr/>
          </p:nvCxnSpPr>
          <p:spPr>
            <a:xfrm>
              <a:off x="3037525" y="1834024"/>
              <a:ext cx="0" cy="294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780;p63">
              <a:extLst>
                <a:ext uri="{FF2B5EF4-FFF2-40B4-BE49-F238E27FC236}">
                  <a16:creationId xmlns:a16="http://schemas.microsoft.com/office/drawing/2014/main" id="{57C47359-CF55-6712-2E75-028A384D7D04}"/>
                </a:ext>
              </a:extLst>
            </p:cNvPr>
            <p:cNvSpPr txBox="1"/>
            <p:nvPr/>
          </p:nvSpPr>
          <p:spPr>
            <a:xfrm>
              <a:off x="2485075" y="4777424"/>
              <a:ext cx="11049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" name="Google Shape;781;p63">
              <a:extLst>
                <a:ext uri="{FF2B5EF4-FFF2-40B4-BE49-F238E27FC236}">
                  <a16:creationId xmlns:a16="http://schemas.microsoft.com/office/drawing/2014/main" id="{DE0A195C-7E85-16B0-306C-D10FBE8B88DF}"/>
                </a:ext>
              </a:extLst>
            </p:cNvPr>
            <p:cNvCxnSpPr/>
            <p:nvPr/>
          </p:nvCxnSpPr>
          <p:spPr>
            <a:xfrm>
              <a:off x="6058925" y="1834024"/>
              <a:ext cx="0" cy="294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Google Shape;782;p63">
              <a:extLst>
                <a:ext uri="{FF2B5EF4-FFF2-40B4-BE49-F238E27FC236}">
                  <a16:creationId xmlns:a16="http://schemas.microsoft.com/office/drawing/2014/main" id="{182E32CC-FF14-4AE7-60AF-F1405B46A83C}"/>
                </a:ext>
              </a:extLst>
            </p:cNvPr>
            <p:cNvSpPr txBox="1"/>
            <p:nvPr/>
          </p:nvSpPr>
          <p:spPr>
            <a:xfrm>
              <a:off x="5458934" y="4777424"/>
              <a:ext cx="12000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" name="Google Shape;783;p63">
              <a:extLst>
                <a:ext uri="{FF2B5EF4-FFF2-40B4-BE49-F238E27FC236}">
                  <a16:creationId xmlns:a16="http://schemas.microsoft.com/office/drawing/2014/main" id="{BC3A991D-34D0-6E3E-392F-523BB17B9D70}"/>
                </a:ext>
              </a:extLst>
            </p:cNvPr>
            <p:cNvCxnSpPr/>
            <p:nvPr/>
          </p:nvCxnSpPr>
          <p:spPr>
            <a:xfrm flipH="1">
              <a:off x="3044632" y="243301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Google Shape;784;p63">
              <a:extLst>
                <a:ext uri="{FF2B5EF4-FFF2-40B4-BE49-F238E27FC236}">
                  <a16:creationId xmlns:a16="http://schemas.microsoft.com/office/drawing/2014/main" id="{64E1102D-6757-7DC7-873D-067DB8F04BD3}"/>
                </a:ext>
              </a:extLst>
            </p:cNvPr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" name="Google Shape;785;p63">
              <a:extLst>
                <a:ext uri="{FF2B5EF4-FFF2-40B4-BE49-F238E27FC236}">
                  <a16:creationId xmlns:a16="http://schemas.microsoft.com/office/drawing/2014/main" id="{DC022637-ACA2-8B79-1687-06C603C3BB00}"/>
                </a:ext>
              </a:extLst>
            </p:cNvPr>
            <p:cNvSpPr txBox="1"/>
            <p:nvPr/>
          </p:nvSpPr>
          <p:spPr>
            <a:xfrm>
              <a:off x="6022379" y="2244793"/>
              <a:ext cx="66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ack(1)</a:t>
              </a:r>
              <a:endParaRPr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" name="Google Shape;786;p63">
              <a:extLst>
                <a:ext uri="{FF2B5EF4-FFF2-40B4-BE49-F238E27FC236}">
                  <a16:creationId xmlns:a16="http://schemas.microsoft.com/office/drawing/2014/main" id="{9D809819-9DE5-C42A-0D52-54E16C6BFD45}"/>
                </a:ext>
              </a:extLst>
            </p:cNvPr>
            <p:cNvSpPr txBox="1"/>
            <p:nvPr/>
          </p:nvSpPr>
          <p:spPr>
            <a:xfrm>
              <a:off x="2821986" y="2690200"/>
              <a:ext cx="264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dirty="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9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787;p63">
              <a:extLst>
                <a:ext uri="{FF2B5EF4-FFF2-40B4-BE49-F238E27FC236}">
                  <a16:creationId xmlns:a16="http://schemas.microsoft.com/office/drawing/2014/main" id="{3C774E59-A5EF-C356-2AB5-9B52763F3771}"/>
                </a:ext>
              </a:extLst>
            </p:cNvPr>
            <p:cNvSpPr txBox="1"/>
            <p:nvPr/>
          </p:nvSpPr>
          <p:spPr>
            <a:xfrm>
              <a:off x="4110225" y="4315625"/>
              <a:ext cx="87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i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</a:t>
              </a: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= 4</a:t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0" name="Google Shape;788;p63">
              <a:extLst>
                <a:ext uri="{FF2B5EF4-FFF2-40B4-BE49-F238E27FC236}">
                  <a16:creationId xmlns:a16="http://schemas.microsoft.com/office/drawing/2014/main" id="{75D20322-0996-CFCA-D691-48D02549A50C}"/>
                </a:ext>
              </a:extLst>
            </p:cNvPr>
            <p:cNvGrpSpPr/>
            <p:nvPr/>
          </p:nvGrpSpPr>
          <p:grpSpPr>
            <a:xfrm>
              <a:off x="2553775" y="2023264"/>
              <a:ext cx="192000" cy="779400"/>
              <a:chOff x="2715500" y="931825"/>
              <a:chExt cx="192000" cy="1556000"/>
            </a:xfrm>
          </p:grpSpPr>
          <p:cxnSp>
            <p:nvCxnSpPr>
              <p:cNvPr id="31" name="Google Shape;789;p63">
                <a:extLst>
                  <a:ext uri="{FF2B5EF4-FFF2-40B4-BE49-F238E27FC236}">
                    <a16:creationId xmlns:a16="http://schemas.microsoft.com/office/drawing/2014/main" id="{BA9B4B3A-254B-6E0A-A6D5-B55BFE7E02DE}"/>
                  </a:ext>
                </a:extLst>
              </p:cNvPr>
              <p:cNvCxnSpPr/>
              <p:nvPr/>
            </p:nvCxnSpPr>
            <p:spPr>
              <a:xfrm>
                <a:off x="2811500" y="933519"/>
                <a:ext cx="0" cy="1554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790;p63">
                <a:extLst>
                  <a:ext uri="{FF2B5EF4-FFF2-40B4-BE49-F238E27FC236}">
                    <a16:creationId xmlns:a16="http://schemas.microsoft.com/office/drawing/2014/main" id="{AE0ED954-DDB7-F261-9B7D-10875F36B33D}"/>
                  </a:ext>
                </a:extLst>
              </p:cNvPr>
              <p:cNvCxnSpPr/>
              <p:nvPr/>
            </p:nvCxnSpPr>
            <p:spPr>
              <a:xfrm>
                <a:off x="2715500" y="931825"/>
                <a:ext cx="19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791;p63">
                <a:extLst>
                  <a:ext uri="{FF2B5EF4-FFF2-40B4-BE49-F238E27FC236}">
                    <a16:creationId xmlns:a16="http://schemas.microsoft.com/office/drawing/2014/main" id="{F5C9879B-6088-310A-74BD-8DE4439893A5}"/>
                  </a:ext>
                </a:extLst>
              </p:cNvPr>
              <p:cNvCxnSpPr/>
              <p:nvPr/>
            </p:nvCxnSpPr>
            <p:spPr>
              <a:xfrm>
                <a:off x="2715500" y="2487825"/>
                <a:ext cx="19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" name="Google Shape;792;p63">
              <a:extLst>
                <a:ext uri="{FF2B5EF4-FFF2-40B4-BE49-F238E27FC236}">
                  <a16:creationId xmlns:a16="http://schemas.microsoft.com/office/drawing/2014/main" id="{A2224606-74AA-8D74-51BB-7D82946AE4AF}"/>
                </a:ext>
              </a:extLst>
            </p:cNvPr>
            <p:cNvSpPr txBox="1"/>
            <p:nvPr/>
          </p:nvSpPr>
          <p:spPr>
            <a:xfrm>
              <a:off x="914401" y="2212875"/>
              <a:ext cx="168674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The first RTT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" name="Google Shape;793;p63">
              <a:extLst>
                <a:ext uri="{FF2B5EF4-FFF2-40B4-BE49-F238E27FC236}">
                  <a16:creationId xmlns:a16="http://schemas.microsoft.com/office/drawing/2014/main" id="{2F3A28AF-C5EF-571D-2D1D-647334B04A28}"/>
                </a:ext>
              </a:extLst>
            </p:cNvPr>
            <p:cNvCxnSpPr/>
            <p:nvPr/>
          </p:nvCxnSpPr>
          <p:spPr>
            <a:xfrm>
              <a:off x="3039500" y="216968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794;p63">
              <a:extLst>
                <a:ext uri="{FF2B5EF4-FFF2-40B4-BE49-F238E27FC236}">
                  <a16:creationId xmlns:a16="http://schemas.microsoft.com/office/drawing/2014/main" id="{98B8B8ED-19BC-E0A4-0EBF-4EEB8FABC7BB}"/>
                </a:ext>
              </a:extLst>
            </p:cNvPr>
            <p:cNvCxnSpPr/>
            <p:nvPr/>
          </p:nvCxnSpPr>
          <p:spPr>
            <a:xfrm>
              <a:off x="3039500" y="2316093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Google Shape;795;p63">
              <a:extLst>
                <a:ext uri="{FF2B5EF4-FFF2-40B4-BE49-F238E27FC236}">
                  <a16:creationId xmlns:a16="http://schemas.microsoft.com/office/drawing/2014/main" id="{BFC376A0-BD7B-8A68-A60E-A783C9BD54F5}"/>
                </a:ext>
              </a:extLst>
            </p:cNvPr>
            <p:cNvCxnSpPr/>
            <p:nvPr/>
          </p:nvCxnSpPr>
          <p:spPr>
            <a:xfrm>
              <a:off x="3039500" y="2462503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" name="Google Shape;796;p63">
              <a:extLst>
                <a:ext uri="{FF2B5EF4-FFF2-40B4-BE49-F238E27FC236}">
                  <a16:creationId xmlns:a16="http://schemas.microsoft.com/office/drawing/2014/main" id="{DA986CF1-9F68-21AD-7348-1574FB12403A}"/>
                </a:ext>
              </a:extLst>
            </p:cNvPr>
            <p:cNvSpPr txBox="1"/>
            <p:nvPr/>
          </p:nvSpPr>
          <p:spPr>
            <a:xfrm>
              <a:off x="2821986" y="1868433"/>
              <a:ext cx="2643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9" name="Google Shape;797;p63">
              <a:extLst>
                <a:ext uri="{FF2B5EF4-FFF2-40B4-BE49-F238E27FC236}">
                  <a16:creationId xmlns:a16="http://schemas.microsoft.com/office/drawing/2014/main" id="{50A72B2D-7689-62EE-4AF7-647AA46EF910}"/>
                </a:ext>
              </a:extLst>
            </p:cNvPr>
            <p:cNvCxnSpPr/>
            <p:nvPr/>
          </p:nvCxnSpPr>
          <p:spPr>
            <a:xfrm>
              <a:off x="3039500" y="2843503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4" name="Google Shape;797;p63">
            <a:extLst>
              <a:ext uri="{FF2B5EF4-FFF2-40B4-BE49-F238E27FC236}">
                <a16:creationId xmlns:a16="http://schemas.microsoft.com/office/drawing/2014/main" id="{D4433CAC-1728-3A1B-F292-93C7E9B2DB87}"/>
              </a:ext>
            </a:extLst>
          </p:cNvPr>
          <p:cNvCxnSpPr/>
          <p:nvPr/>
        </p:nvCxnSpPr>
        <p:spPr>
          <a:xfrm>
            <a:off x="8389670" y="3202191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Google Shape;786;p63">
            <a:extLst>
              <a:ext uri="{FF2B5EF4-FFF2-40B4-BE49-F238E27FC236}">
                <a16:creationId xmlns:a16="http://schemas.microsoft.com/office/drawing/2014/main" id="{2058684C-BD42-A99C-DA70-9D511DBEA3D5}"/>
              </a:ext>
            </a:extLst>
          </p:cNvPr>
          <p:cNvSpPr txBox="1"/>
          <p:nvPr/>
        </p:nvSpPr>
        <p:spPr>
          <a:xfrm>
            <a:off x="8182881" y="3063891"/>
            <a:ext cx="26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Roboto"/>
                <a:ea typeface="Roboto"/>
                <a:cs typeface="Roboto"/>
                <a:sym typeface="Roboto"/>
              </a:rPr>
              <a:t>6</a:t>
            </a:r>
            <a:endParaRPr sz="9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25034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0A4BEFCF-65DD-1DBF-E438-6A0B245B832E}"/>
              </a:ext>
            </a:extLst>
          </p:cNvPr>
          <p:cNvSpPr txBox="1">
            <a:spLocks/>
          </p:cNvSpPr>
          <p:nvPr/>
        </p:nvSpPr>
        <p:spPr>
          <a:xfrm>
            <a:off x="448235" y="125505"/>
            <a:ext cx="11295529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Setting Window Size (1/3): Filling the Pipe</a:t>
            </a:r>
          </a:p>
        </p:txBody>
      </p:sp>
      <p:sp>
        <p:nvSpPr>
          <p:cNvPr id="3" name="Google Shape;772;p62">
            <a:extLst>
              <a:ext uri="{FF2B5EF4-FFF2-40B4-BE49-F238E27FC236}">
                <a16:creationId xmlns:a16="http://schemas.microsoft.com/office/drawing/2014/main" id="{36738AD4-CE91-10A0-0209-A31D2C5ADA2B}"/>
              </a:ext>
            </a:extLst>
          </p:cNvPr>
          <p:cNvSpPr txBox="1">
            <a:spLocks/>
          </p:cNvSpPr>
          <p:nvPr/>
        </p:nvSpPr>
        <p:spPr>
          <a:xfrm>
            <a:off x="0" y="824752"/>
            <a:ext cx="8192510" cy="6033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2400" i="1" dirty="0">
                <a:solidFill>
                  <a:srgbClr val="C00000"/>
                </a:solidFill>
              </a:rPr>
              <a:t>W</a:t>
            </a:r>
            <a:r>
              <a:rPr lang="en" sz="2400" dirty="0">
                <a:solidFill>
                  <a:srgbClr val="C00000"/>
                </a:solidFill>
              </a:rPr>
              <a:t> = RTT × bandwidth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sender is busy the entire RTT sending W = 6 packets; ack(1) arrives just as the last of the 6 packets leaves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</a:rPr>
              <a:t>What exactly is the bandwidth?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minimum ("bottleneck") link bandwidth along the path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How fast packets can be sent without clogging the network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</a:rPr>
              <a:t>Rewrite the above formula this in terms of </a:t>
            </a:r>
            <a:r>
              <a:rPr lang="en-US" sz="2400" b="1" dirty="0">
                <a:solidFill>
                  <a:srgbClr val="C00000"/>
                </a:solidFill>
              </a:rPr>
              <a:t>bytes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 × (packet size) = RTT × bandwidth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 = window size, in packets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Bandwidth now measured in </a:t>
            </a:r>
            <a:r>
              <a:rPr lang="en-US" sz="2400" b="1" dirty="0"/>
              <a:t>bits/second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</a:rPr>
              <a:t>This gives us an </a:t>
            </a:r>
            <a:r>
              <a:rPr lang="en-US" sz="2400" b="1" i="1" dirty="0">
                <a:solidFill>
                  <a:srgbClr val="C00000"/>
                </a:solidFill>
              </a:rPr>
              <a:t>upper bound </a:t>
            </a:r>
            <a:r>
              <a:rPr lang="en-US" sz="2400" dirty="0">
                <a:solidFill>
                  <a:srgbClr val="C00000"/>
                </a:solidFill>
              </a:rPr>
              <a:t>on the desired size of W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other two conditions (</a:t>
            </a:r>
            <a:r>
              <a:rPr lang="en-US" sz="2400" i="1" dirty="0"/>
              <a:t>don't overload recipient and network</a:t>
            </a:r>
            <a:r>
              <a:rPr lang="en-US" sz="2400" dirty="0"/>
              <a:t>) might impose stricter limits and decrease W.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7697418-E811-61CB-AB8A-9F5DFC4C9460}"/>
              </a:ext>
            </a:extLst>
          </p:cNvPr>
          <p:cNvGrpSpPr/>
          <p:nvPr/>
        </p:nvGrpSpPr>
        <p:grpSpPr>
          <a:xfrm>
            <a:off x="6520511" y="1775011"/>
            <a:ext cx="5508929" cy="3214300"/>
            <a:chOff x="1180950" y="1834024"/>
            <a:chExt cx="5508929" cy="3214300"/>
          </a:xfrm>
        </p:grpSpPr>
        <p:cxnSp>
          <p:nvCxnSpPr>
            <p:cNvPr id="60" name="Google Shape;804;p64">
              <a:extLst>
                <a:ext uri="{FF2B5EF4-FFF2-40B4-BE49-F238E27FC236}">
                  <a16:creationId xmlns:a16="http://schemas.microsoft.com/office/drawing/2014/main" id="{3DC98527-E574-EA80-1DE9-AE2178F4B599}"/>
                </a:ext>
              </a:extLst>
            </p:cNvPr>
            <p:cNvCxnSpPr/>
            <p:nvPr/>
          </p:nvCxnSpPr>
          <p:spPr>
            <a:xfrm>
              <a:off x="3037525" y="1834024"/>
              <a:ext cx="0" cy="294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Google Shape;805;p64">
              <a:extLst>
                <a:ext uri="{FF2B5EF4-FFF2-40B4-BE49-F238E27FC236}">
                  <a16:creationId xmlns:a16="http://schemas.microsoft.com/office/drawing/2014/main" id="{FB2E5C12-2CBE-BF34-79DB-6FEED75413B5}"/>
                </a:ext>
              </a:extLst>
            </p:cNvPr>
            <p:cNvSpPr txBox="1"/>
            <p:nvPr/>
          </p:nvSpPr>
          <p:spPr>
            <a:xfrm>
              <a:off x="2485075" y="4777424"/>
              <a:ext cx="11049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2" name="Google Shape;806;p64">
              <a:extLst>
                <a:ext uri="{FF2B5EF4-FFF2-40B4-BE49-F238E27FC236}">
                  <a16:creationId xmlns:a16="http://schemas.microsoft.com/office/drawing/2014/main" id="{0AFEADA9-478E-142D-02C8-92BDF3FAB1D7}"/>
                </a:ext>
              </a:extLst>
            </p:cNvPr>
            <p:cNvCxnSpPr/>
            <p:nvPr/>
          </p:nvCxnSpPr>
          <p:spPr>
            <a:xfrm>
              <a:off x="6058925" y="1834024"/>
              <a:ext cx="0" cy="294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3" name="Google Shape;807;p64">
              <a:extLst>
                <a:ext uri="{FF2B5EF4-FFF2-40B4-BE49-F238E27FC236}">
                  <a16:creationId xmlns:a16="http://schemas.microsoft.com/office/drawing/2014/main" id="{10A2B6D0-B639-765E-8DC2-3E1B8AF0E97A}"/>
                </a:ext>
              </a:extLst>
            </p:cNvPr>
            <p:cNvSpPr txBox="1"/>
            <p:nvPr/>
          </p:nvSpPr>
          <p:spPr>
            <a:xfrm>
              <a:off x="5458934" y="4777424"/>
              <a:ext cx="12000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4" name="Google Shape;808;p64">
              <a:extLst>
                <a:ext uri="{FF2B5EF4-FFF2-40B4-BE49-F238E27FC236}">
                  <a16:creationId xmlns:a16="http://schemas.microsoft.com/office/drawing/2014/main" id="{5C2561A7-8F70-436D-651D-3F9F2E186C1C}"/>
                </a:ext>
              </a:extLst>
            </p:cNvPr>
            <p:cNvCxnSpPr/>
            <p:nvPr/>
          </p:nvCxnSpPr>
          <p:spPr>
            <a:xfrm flipH="1">
              <a:off x="3044632" y="243301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" name="Google Shape;809;p64">
              <a:extLst>
                <a:ext uri="{FF2B5EF4-FFF2-40B4-BE49-F238E27FC236}">
                  <a16:creationId xmlns:a16="http://schemas.microsoft.com/office/drawing/2014/main" id="{EF82BD71-207A-768D-697A-FBAF26840B39}"/>
                </a:ext>
              </a:extLst>
            </p:cNvPr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" name="Google Shape;810;p64">
              <a:extLst>
                <a:ext uri="{FF2B5EF4-FFF2-40B4-BE49-F238E27FC236}">
                  <a16:creationId xmlns:a16="http://schemas.microsoft.com/office/drawing/2014/main" id="{5436A284-0F2D-B356-3FA5-9B98844E25D9}"/>
                </a:ext>
              </a:extLst>
            </p:cNvPr>
            <p:cNvCxnSpPr/>
            <p:nvPr/>
          </p:nvCxnSpPr>
          <p:spPr>
            <a:xfrm>
              <a:off x="3039500" y="216968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" name="Google Shape;811;p64">
              <a:extLst>
                <a:ext uri="{FF2B5EF4-FFF2-40B4-BE49-F238E27FC236}">
                  <a16:creationId xmlns:a16="http://schemas.microsoft.com/office/drawing/2014/main" id="{4C79FCE3-1762-2680-F595-ED187379E2A2}"/>
                </a:ext>
              </a:extLst>
            </p:cNvPr>
            <p:cNvCxnSpPr/>
            <p:nvPr/>
          </p:nvCxnSpPr>
          <p:spPr>
            <a:xfrm>
              <a:off x="3039500" y="2316093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8" name="Google Shape;812;p64">
              <a:extLst>
                <a:ext uri="{FF2B5EF4-FFF2-40B4-BE49-F238E27FC236}">
                  <a16:creationId xmlns:a16="http://schemas.microsoft.com/office/drawing/2014/main" id="{2A5EBD07-95DE-DD8B-7A42-A13FBABB0730}"/>
                </a:ext>
              </a:extLst>
            </p:cNvPr>
            <p:cNvCxnSpPr/>
            <p:nvPr/>
          </p:nvCxnSpPr>
          <p:spPr>
            <a:xfrm>
              <a:off x="3039500" y="2462503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" name="Google Shape;813;p64">
              <a:extLst>
                <a:ext uri="{FF2B5EF4-FFF2-40B4-BE49-F238E27FC236}">
                  <a16:creationId xmlns:a16="http://schemas.microsoft.com/office/drawing/2014/main" id="{786BAFDC-3970-EE62-34EC-96D0D93BEB42}"/>
                </a:ext>
              </a:extLst>
            </p:cNvPr>
            <p:cNvSpPr txBox="1"/>
            <p:nvPr/>
          </p:nvSpPr>
          <p:spPr>
            <a:xfrm>
              <a:off x="2821986" y="1868433"/>
              <a:ext cx="264300" cy="115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" name="Google Shape;814;p64">
              <a:extLst>
                <a:ext uri="{FF2B5EF4-FFF2-40B4-BE49-F238E27FC236}">
                  <a16:creationId xmlns:a16="http://schemas.microsoft.com/office/drawing/2014/main" id="{1E1EA7B4-7A8A-E291-4572-5F2F88FE0D3F}"/>
                </a:ext>
              </a:extLst>
            </p:cNvPr>
            <p:cNvSpPr txBox="1"/>
            <p:nvPr/>
          </p:nvSpPr>
          <p:spPr>
            <a:xfrm>
              <a:off x="6022379" y="2244793"/>
              <a:ext cx="66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ack(1)</a:t>
              </a:r>
              <a:endParaRPr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1" name="Google Shape;815;p64">
              <a:extLst>
                <a:ext uri="{FF2B5EF4-FFF2-40B4-BE49-F238E27FC236}">
                  <a16:creationId xmlns:a16="http://schemas.microsoft.com/office/drawing/2014/main" id="{90620687-5963-163C-2E31-FCBE4E89F7B9}"/>
                </a:ext>
              </a:extLst>
            </p:cNvPr>
            <p:cNvCxnSpPr/>
            <p:nvPr/>
          </p:nvCxnSpPr>
          <p:spPr>
            <a:xfrm>
              <a:off x="3039500" y="2843503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2" name="Google Shape;816;p64">
              <a:extLst>
                <a:ext uri="{FF2B5EF4-FFF2-40B4-BE49-F238E27FC236}">
                  <a16:creationId xmlns:a16="http://schemas.microsoft.com/office/drawing/2014/main" id="{567FEA0C-7F77-59E0-0AA4-0248022D5E6C}"/>
                </a:ext>
              </a:extLst>
            </p:cNvPr>
            <p:cNvSpPr txBox="1"/>
            <p:nvPr/>
          </p:nvSpPr>
          <p:spPr>
            <a:xfrm>
              <a:off x="4110225" y="4315625"/>
              <a:ext cx="87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i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</a:t>
              </a: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= 6</a:t>
              </a: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3" name="Google Shape;817;p64">
              <a:extLst>
                <a:ext uri="{FF2B5EF4-FFF2-40B4-BE49-F238E27FC236}">
                  <a16:creationId xmlns:a16="http://schemas.microsoft.com/office/drawing/2014/main" id="{472914E7-7651-0574-37ED-2747BE5E9C3F}"/>
                </a:ext>
              </a:extLst>
            </p:cNvPr>
            <p:cNvGrpSpPr/>
            <p:nvPr/>
          </p:nvGrpSpPr>
          <p:grpSpPr>
            <a:xfrm>
              <a:off x="2553775" y="2023264"/>
              <a:ext cx="192000" cy="779400"/>
              <a:chOff x="2715500" y="931825"/>
              <a:chExt cx="192000" cy="1556000"/>
            </a:xfrm>
          </p:grpSpPr>
          <p:cxnSp>
            <p:nvCxnSpPr>
              <p:cNvPr id="74" name="Google Shape;818;p64">
                <a:extLst>
                  <a:ext uri="{FF2B5EF4-FFF2-40B4-BE49-F238E27FC236}">
                    <a16:creationId xmlns:a16="http://schemas.microsoft.com/office/drawing/2014/main" id="{BEE3D80E-8A7F-708E-4790-26F11C37CAAE}"/>
                  </a:ext>
                </a:extLst>
              </p:cNvPr>
              <p:cNvCxnSpPr/>
              <p:nvPr/>
            </p:nvCxnSpPr>
            <p:spPr>
              <a:xfrm>
                <a:off x="2811500" y="933519"/>
                <a:ext cx="0" cy="1554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819;p64">
                <a:extLst>
                  <a:ext uri="{FF2B5EF4-FFF2-40B4-BE49-F238E27FC236}">
                    <a16:creationId xmlns:a16="http://schemas.microsoft.com/office/drawing/2014/main" id="{7486D413-BA97-1EC1-0276-D0236664E29E}"/>
                  </a:ext>
                </a:extLst>
              </p:cNvPr>
              <p:cNvCxnSpPr/>
              <p:nvPr/>
            </p:nvCxnSpPr>
            <p:spPr>
              <a:xfrm>
                <a:off x="2715500" y="931825"/>
                <a:ext cx="19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820;p64">
                <a:extLst>
                  <a:ext uri="{FF2B5EF4-FFF2-40B4-BE49-F238E27FC236}">
                    <a16:creationId xmlns:a16="http://schemas.microsoft.com/office/drawing/2014/main" id="{814EBD2B-E3DF-EA15-015E-1A5F8247E3F4}"/>
                  </a:ext>
                </a:extLst>
              </p:cNvPr>
              <p:cNvCxnSpPr/>
              <p:nvPr/>
            </p:nvCxnSpPr>
            <p:spPr>
              <a:xfrm>
                <a:off x="2715500" y="2487825"/>
                <a:ext cx="19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7" name="Google Shape;821;p64">
              <a:extLst>
                <a:ext uri="{FF2B5EF4-FFF2-40B4-BE49-F238E27FC236}">
                  <a16:creationId xmlns:a16="http://schemas.microsoft.com/office/drawing/2014/main" id="{13F4B623-2A80-71AF-7B76-6FD8039EA3AC}"/>
                </a:ext>
              </a:extLst>
            </p:cNvPr>
            <p:cNvSpPr txBox="1"/>
            <p:nvPr/>
          </p:nvSpPr>
          <p:spPr>
            <a:xfrm>
              <a:off x="1180950" y="2212875"/>
              <a:ext cx="142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The first RTT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8" name="Google Shape;822;p64">
              <a:extLst>
                <a:ext uri="{FF2B5EF4-FFF2-40B4-BE49-F238E27FC236}">
                  <a16:creationId xmlns:a16="http://schemas.microsoft.com/office/drawing/2014/main" id="{293004EE-F08A-DD18-1A51-EF252C769110}"/>
                </a:ext>
              </a:extLst>
            </p:cNvPr>
            <p:cNvCxnSpPr/>
            <p:nvPr/>
          </p:nvCxnSpPr>
          <p:spPr>
            <a:xfrm>
              <a:off x="3039500" y="2590940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" name="Google Shape;823;p64">
              <a:extLst>
                <a:ext uri="{FF2B5EF4-FFF2-40B4-BE49-F238E27FC236}">
                  <a16:creationId xmlns:a16="http://schemas.microsoft.com/office/drawing/2014/main" id="{1ABABC48-1BCC-B22C-9B2B-CD6CEFD4A60B}"/>
                </a:ext>
              </a:extLst>
            </p:cNvPr>
            <p:cNvCxnSpPr/>
            <p:nvPr/>
          </p:nvCxnSpPr>
          <p:spPr>
            <a:xfrm>
              <a:off x="3039500" y="2713388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0395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17FAD812-EB86-6B73-947B-9CECD4F81B90}"/>
              </a:ext>
            </a:extLst>
          </p:cNvPr>
          <p:cNvSpPr txBox="1">
            <a:spLocks/>
          </p:cNvSpPr>
          <p:nvPr/>
        </p:nvSpPr>
        <p:spPr>
          <a:xfrm>
            <a:off x="448235" y="125505"/>
            <a:ext cx="11295529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TCP Sliding Window with Sequence Number</a:t>
            </a:r>
          </a:p>
        </p:txBody>
      </p:sp>
      <p:sp>
        <p:nvSpPr>
          <p:cNvPr id="3" name="Google Shape;1039;p46">
            <a:extLst>
              <a:ext uri="{FF2B5EF4-FFF2-40B4-BE49-F238E27FC236}">
                <a16:creationId xmlns:a16="http://schemas.microsoft.com/office/drawing/2014/main" id="{6E7B3B46-A790-57C7-C74A-40B777140974}"/>
              </a:ext>
            </a:extLst>
          </p:cNvPr>
          <p:cNvSpPr txBox="1">
            <a:spLocks/>
          </p:cNvSpPr>
          <p:nvPr/>
        </p:nvSpPr>
        <p:spPr>
          <a:xfrm>
            <a:off x="448234" y="950258"/>
            <a:ext cx="11295529" cy="28615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When we measured in packets, </a:t>
            </a:r>
            <a:r>
              <a:rPr lang="en-US" sz="2400" i="1" dirty="0"/>
              <a:t>W</a:t>
            </a:r>
            <a:r>
              <a:rPr lang="en-US" sz="2400" dirty="0"/>
              <a:t> was the maximum number of </a:t>
            </a:r>
            <a:r>
              <a:rPr lang="en-US" sz="2400" b="1" dirty="0"/>
              <a:t>packets</a:t>
            </a:r>
            <a:r>
              <a:rPr lang="en-US" sz="2400" dirty="0"/>
              <a:t> in flight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When we measure in bytes, </a:t>
            </a:r>
            <a:r>
              <a:rPr lang="en-US" sz="2400" i="1" dirty="0"/>
              <a:t>W</a:t>
            </a:r>
            <a:r>
              <a:rPr lang="en-US" sz="2400" dirty="0"/>
              <a:t> is the maximum number of </a:t>
            </a:r>
            <a:r>
              <a:rPr lang="en-US" sz="2400" i="1" dirty="0"/>
              <a:t>contiguous</a:t>
            </a:r>
            <a:r>
              <a:rPr lang="en-US" sz="2400" dirty="0"/>
              <a:t> </a:t>
            </a:r>
            <a:r>
              <a:rPr lang="en-US" sz="2400" b="1" dirty="0"/>
              <a:t>bytes</a:t>
            </a:r>
            <a:r>
              <a:rPr lang="en-US" sz="2400" dirty="0"/>
              <a:t> in flight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The window is a range of </a:t>
            </a:r>
            <a:r>
              <a:rPr lang="en-US" sz="2400" i="1" dirty="0"/>
              <a:t>W</a:t>
            </a:r>
            <a:r>
              <a:rPr lang="en-US" sz="2400" dirty="0"/>
              <a:t> contiguous bytes, starting at the </a:t>
            </a:r>
            <a:r>
              <a:rPr lang="en-US" sz="2400" dirty="0">
                <a:solidFill>
                  <a:srgbClr val="C00000"/>
                </a:solidFill>
              </a:rPr>
              <a:t>first unacked byte</a:t>
            </a:r>
            <a:endParaRPr lang="en-US" sz="2400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Only these </a:t>
            </a:r>
            <a:r>
              <a:rPr lang="en-US" sz="2400" i="1" dirty="0"/>
              <a:t>W</a:t>
            </a:r>
            <a:r>
              <a:rPr lang="en-US" sz="2400" dirty="0"/>
              <a:t> bytes are allowed to be in flight.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The window slides right if and only if its </a:t>
            </a:r>
            <a:r>
              <a:rPr lang="en-US" sz="2400" b="1" i="1" dirty="0"/>
              <a:t>leftmost</a:t>
            </a:r>
            <a:r>
              <a:rPr lang="en-US" sz="2400" b="1" dirty="0"/>
              <a:t> bytes are acked</a:t>
            </a:r>
            <a:endParaRPr lang="en-US" sz="2400" dirty="0"/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Example: When 15–18 arrive, we can add 27–30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9D0D466-566B-1D85-49C5-72E40141031F}"/>
              </a:ext>
            </a:extLst>
          </p:cNvPr>
          <p:cNvGrpSpPr/>
          <p:nvPr/>
        </p:nvGrpSpPr>
        <p:grpSpPr>
          <a:xfrm>
            <a:off x="609598" y="4720815"/>
            <a:ext cx="10972800" cy="2011680"/>
            <a:chOff x="877689" y="4079173"/>
            <a:chExt cx="7521069" cy="1731178"/>
          </a:xfrm>
        </p:grpSpPr>
        <p:sp>
          <p:nvSpPr>
            <p:cNvPr id="4" name="Google Shape;983;p46">
              <a:extLst>
                <a:ext uri="{FF2B5EF4-FFF2-40B4-BE49-F238E27FC236}">
                  <a16:creationId xmlns:a16="http://schemas.microsoft.com/office/drawing/2014/main" id="{1DC28142-8B5B-7056-D863-C1DB5FA0A755}"/>
                </a:ext>
              </a:extLst>
            </p:cNvPr>
            <p:cNvSpPr/>
            <p:nvPr/>
          </p:nvSpPr>
          <p:spPr>
            <a:xfrm rot="5400000">
              <a:off x="76000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" name="Google Shape;984;p46">
              <a:extLst>
                <a:ext uri="{FF2B5EF4-FFF2-40B4-BE49-F238E27FC236}">
                  <a16:creationId xmlns:a16="http://schemas.microsoft.com/office/drawing/2014/main" id="{AA75DEAF-658D-BC78-C94F-4D29E4AF9EBA}"/>
                </a:ext>
              </a:extLst>
            </p:cNvPr>
            <p:cNvSpPr/>
            <p:nvPr/>
          </p:nvSpPr>
          <p:spPr>
            <a:xfrm rot="5400000">
              <a:off x="9538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" name="Google Shape;986;p46">
              <a:extLst>
                <a:ext uri="{FF2B5EF4-FFF2-40B4-BE49-F238E27FC236}">
                  <a16:creationId xmlns:a16="http://schemas.microsoft.com/office/drawing/2014/main" id="{6E5C5DEF-A7A7-C14F-092A-FF89F7A07703}"/>
                </a:ext>
              </a:extLst>
            </p:cNvPr>
            <p:cNvSpPr/>
            <p:nvPr/>
          </p:nvSpPr>
          <p:spPr>
            <a:xfrm rot="5400000">
              <a:off x="18283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987;p46">
              <a:extLst>
                <a:ext uri="{FF2B5EF4-FFF2-40B4-BE49-F238E27FC236}">
                  <a16:creationId xmlns:a16="http://schemas.microsoft.com/office/drawing/2014/main" id="{B0E18698-AB37-CBF9-28DF-1C365420C062}"/>
                </a:ext>
              </a:extLst>
            </p:cNvPr>
            <p:cNvSpPr/>
            <p:nvPr/>
          </p:nvSpPr>
          <p:spPr>
            <a:xfrm rot="5400000">
              <a:off x="20032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988;p46">
              <a:extLst>
                <a:ext uri="{FF2B5EF4-FFF2-40B4-BE49-F238E27FC236}">
                  <a16:creationId xmlns:a16="http://schemas.microsoft.com/office/drawing/2014/main" id="{8232BEBE-4DA8-4D1F-D17E-BAD4AAECD8F9}"/>
                </a:ext>
              </a:extLst>
            </p:cNvPr>
            <p:cNvSpPr/>
            <p:nvPr/>
          </p:nvSpPr>
          <p:spPr>
            <a:xfrm rot="5400000">
              <a:off x="21781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989;p46">
              <a:extLst>
                <a:ext uri="{FF2B5EF4-FFF2-40B4-BE49-F238E27FC236}">
                  <a16:creationId xmlns:a16="http://schemas.microsoft.com/office/drawing/2014/main" id="{5241D233-D8CE-551A-54BB-8D849A756724}"/>
                </a:ext>
              </a:extLst>
            </p:cNvPr>
            <p:cNvSpPr/>
            <p:nvPr/>
          </p:nvSpPr>
          <p:spPr>
            <a:xfrm rot="5400000">
              <a:off x="23530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990;p46">
              <a:extLst>
                <a:ext uri="{FF2B5EF4-FFF2-40B4-BE49-F238E27FC236}">
                  <a16:creationId xmlns:a16="http://schemas.microsoft.com/office/drawing/2014/main" id="{94D3CA1C-6E27-F407-FFF4-969298E939CC}"/>
                </a:ext>
              </a:extLst>
            </p:cNvPr>
            <p:cNvSpPr/>
            <p:nvPr/>
          </p:nvSpPr>
          <p:spPr>
            <a:xfrm rot="5400000">
              <a:off x="25279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991;p46">
              <a:extLst>
                <a:ext uri="{FF2B5EF4-FFF2-40B4-BE49-F238E27FC236}">
                  <a16:creationId xmlns:a16="http://schemas.microsoft.com/office/drawing/2014/main" id="{32133156-9005-00B8-1B2F-FB91D141CAD7}"/>
                </a:ext>
              </a:extLst>
            </p:cNvPr>
            <p:cNvSpPr/>
            <p:nvPr/>
          </p:nvSpPr>
          <p:spPr>
            <a:xfrm rot="5400000">
              <a:off x="27028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" name="Google Shape;992;p46">
              <a:extLst>
                <a:ext uri="{FF2B5EF4-FFF2-40B4-BE49-F238E27FC236}">
                  <a16:creationId xmlns:a16="http://schemas.microsoft.com/office/drawing/2014/main" id="{52F6F5F7-1F76-B200-3613-89168182B687}"/>
                </a:ext>
              </a:extLst>
            </p:cNvPr>
            <p:cNvSpPr/>
            <p:nvPr/>
          </p:nvSpPr>
          <p:spPr>
            <a:xfrm rot="5400000">
              <a:off x="28777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993;p46">
              <a:extLst>
                <a:ext uri="{FF2B5EF4-FFF2-40B4-BE49-F238E27FC236}">
                  <a16:creationId xmlns:a16="http://schemas.microsoft.com/office/drawing/2014/main" id="{E3900299-59BD-414A-11EE-FE4127FC7BA3}"/>
                </a:ext>
              </a:extLst>
            </p:cNvPr>
            <p:cNvSpPr/>
            <p:nvPr/>
          </p:nvSpPr>
          <p:spPr>
            <a:xfrm rot="5400000">
              <a:off x="30526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994;p46">
              <a:extLst>
                <a:ext uri="{FF2B5EF4-FFF2-40B4-BE49-F238E27FC236}">
                  <a16:creationId xmlns:a16="http://schemas.microsoft.com/office/drawing/2014/main" id="{827131E7-FACC-2FDF-C779-B66465C962E0}"/>
                </a:ext>
              </a:extLst>
            </p:cNvPr>
            <p:cNvSpPr/>
            <p:nvPr/>
          </p:nvSpPr>
          <p:spPr>
            <a:xfrm rot="5400000">
              <a:off x="32275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995;p46">
              <a:extLst>
                <a:ext uri="{FF2B5EF4-FFF2-40B4-BE49-F238E27FC236}">
                  <a16:creationId xmlns:a16="http://schemas.microsoft.com/office/drawing/2014/main" id="{9CF0DF56-76D4-7D71-BBE9-2B3019B72559}"/>
                </a:ext>
              </a:extLst>
            </p:cNvPr>
            <p:cNvSpPr/>
            <p:nvPr/>
          </p:nvSpPr>
          <p:spPr>
            <a:xfrm rot="5400000">
              <a:off x="34024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996;p46">
              <a:extLst>
                <a:ext uri="{FF2B5EF4-FFF2-40B4-BE49-F238E27FC236}">
                  <a16:creationId xmlns:a16="http://schemas.microsoft.com/office/drawing/2014/main" id="{EBAD53E5-C185-D187-DC2D-47BB9E113BDB}"/>
                </a:ext>
              </a:extLst>
            </p:cNvPr>
            <p:cNvSpPr/>
            <p:nvPr/>
          </p:nvSpPr>
          <p:spPr>
            <a:xfrm rot="5400000">
              <a:off x="35773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997;p46">
              <a:extLst>
                <a:ext uri="{FF2B5EF4-FFF2-40B4-BE49-F238E27FC236}">
                  <a16:creationId xmlns:a16="http://schemas.microsoft.com/office/drawing/2014/main" id="{8A9366BB-3CF3-2633-48A5-0F164B3E9047}"/>
                </a:ext>
              </a:extLst>
            </p:cNvPr>
            <p:cNvSpPr/>
            <p:nvPr/>
          </p:nvSpPr>
          <p:spPr>
            <a:xfrm rot="5400000">
              <a:off x="37522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998;p46">
              <a:extLst>
                <a:ext uri="{FF2B5EF4-FFF2-40B4-BE49-F238E27FC236}">
                  <a16:creationId xmlns:a16="http://schemas.microsoft.com/office/drawing/2014/main" id="{F214C07C-2881-8578-2ACA-F63C3D70C2F4}"/>
                </a:ext>
              </a:extLst>
            </p:cNvPr>
            <p:cNvSpPr/>
            <p:nvPr/>
          </p:nvSpPr>
          <p:spPr>
            <a:xfrm rot="5400000">
              <a:off x="39271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999;p46">
              <a:extLst>
                <a:ext uri="{FF2B5EF4-FFF2-40B4-BE49-F238E27FC236}">
                  <a16:creationId xmlns:a16="http://schemas.microsoft.com/office/drawing/2014/main" id="{D41B6A22-D56D-087F-C70E-28EE59595DCA}"/>
                </a:ext>
              </a:extLst>
            </p:cNvPr>
            <p:cNvSpPr/>
            <p:nvPr/>
          </p:nvSpPr>
          <p:spPr>
            <a:xfrm rot="5400000">
              <a:off x="41020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1000;p46">
              <a:extLst>
                <a:ext uri="{FF2B5EF4-FFF2-40B4-BE49-F238E27FC236}">
                  <a16:creationId xmlns:a16="http://schemas.microsoft.com/office/drawing/2014/main" id="{E6FB07C5-0F46-D94B-93B2-215554A2819D}"/>
                </a:ext>
              </a:extLst>
            </p:cNvPr>
            <p:cNvSpPr/>
            <p:nvPr/>
          </p:nvSpPr>
          <p:spPr>
            <a:xfrm rot="5400000">
              <a:off x="42769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1001;p46">
              <a:extLst>
                <a:ext uri="{FF2B5EF4-FFF2-40B4-BE49-F238E27FC236}">
                  <a16:creationId xmlns:a16="http://schemas.microsoft.com/office/drawing/2014/main" id="{A9170776-494E-45B2-C4ED-6A328E5808B1}"/>
                </a:ext>
              </a:extLst>
            </p:cNvPr>
            <p:cNvSpPr/>
            <p:nvPr/>
          </p:nvSpPr>
          <p:spPr>
            <a:xfrm rot="5400000">
              <a:off x="44518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1002;p46">
              <a:extLst>
                <a:ext uri="{FF2B5EF4-FFF2-40B4-BE49-F238E27FC236}">
                  <a16:creationId xmlns:a16="http://schemas.microsoft.com/office/drawing/2014/main" id="{9161861E-FB04-02C2-FCB6-09A5EFE417C0}"/>
                </a:ext>
              </a:extLst>
            </p:cNvPr>
            <p:cNvSpPr/>
            <p:nvPr/>
          </p:nvSpPr>
          <p:spPr>
            <a:xfrm rot="5400000">
              <a:off x="46267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1003;p46">
              <a:extLst>
                <a:ext uri="{FF2B5EF4-FFF2-40B4-BE49-F238E27FC236}">
                  <a16:creationId xmlns:a16="http://schemas.microsoft.com/office/drawing/2014/main" id="{3D2A300A-16DF-96E9-05BB-701F558DA72E}"/>
                </a:ext>
              </a:extLst>
            </p:cNvPr>
            <p:cNvSpPr/>
            <p:nvPr/>
          </p:nvSpPr>
          <p:spPr>
            <a:xfrm rot="5400000">
              <a:off x="48016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" name="Google Shape;1004;p46">
              <a:extLst>
                <a:ext uri="{FF2B5EF4-FFF2-40B4-BE49-F238E27FC236}">
                  <a16:creationId xmlns:a16="http://schemas.microsoft.com/office/drawing/2014/main" id="{621AD60D-8B03-8256-7507-43C6D4EF3B1A}"/>
                </a:ext>
              </a:extLst>
            </p:cNvPr>
            <p:cNvSpPr/>
            <p:nvPr/>
          </p:nvSpPr>
          <p:spPr>
            <a:xfrm rot="5400000">
              <a:off x="4976589" y="4835301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1005;p46">
              <a:extLst>
                <a:ext uri="{FF2B5EF4-FFF2-40B4-BE49-F238E27FC236}">
                  <a16:creationId xmlns:a16="http://schemas.microsoft.com/office/drawing/2014/main" id="{CC39F611-7E3D-FCBF-A7BE-9AD972E4A061}"/>
                </a:ext>
              </a:extLst>
            </p:cNvPr>
            <p:cNvSpPr/>
            <p:nvPr/>
          </p:nvSpPr>
          <p:spPr>
            <a:xfrm rot="5400000">
              <a:off x="51514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1006;p46">
              <a:extLst>
                <a:ext uri="{FF2B5EF4-FFF2-40B4-BE49-F238E27FC236}">
                  <a16:creationId xmlns:a16="http://schemas.microsoft.com/office/drawing/2014/main" id="{1CA830C6-19EE-D16A-8B1C-5333037189DC}"/>
                </a:ext>
              </a:extLst>
            </p:cNvPr>
            <p:cNvSpPr/>
            <p:nvPr/>
          </p:nvSpPr>
          <p:spPr>
            <a:xfrm rot="5400000">
              <a:off x="53263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1007;p46">
              <a:extLst>
                <a:ext uri="{FF2B5EF4-FFF2-40B4-BE49-F238E27FC236}">
                  <a16:creationId xmlns:a16="http://schemas.microsoft.com/office/drawing/2014/main" id="{EECE64A0-DACA-4853-5860-88F2995BECA1}"/>
                </a:ext>
              </a:extLst>
            </p:cNvPr>
            <p:cNvSpPr/>
            <p:nvPr/>
          </p:nvSpPr>
          <p:spPr>
            <a:xfrm rot="5400000">
              <a:off x="55012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" name="Google Shape;1008;p46">
              <a:extLst>
                <a:ext uri="{FF2B5EF4-FFF2-40B4-BE49-F238E27FC236}">
                  <a16:creationId xmlns:a16="http://schemas.microsoft.com/office/drawing/2014/main" id="{80C2B83A-8FDB-3DA6-8BFC-2E1AE40D27E0}"/>
                </a:ext>
              </a:extLst>
            </p:cNvPr>
            <p:cNvSpPr/>
            <p:nvPr/>
          </p:nvSpPr>
          <p:spPr>
            <a:xfrm rot="5400000">
              <a:off x="56761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1009;p46">
              <a:extLst>
                <a:ext uri="{FF2B5EF4-FFF2-40B4-BE49-F238E27FC236}">
                  <a16:creationId xmlns:a16="http://schemas.microsoft.com/office/drawing/2014/main" id="{8349E025-FDBB-651C-87BB-DC8F3C61728F}"/>
                </a:ext>
              </a:extLst>
            </p:cNvPr>
            <p:cNvSpPr/>
            <p:nvPr/>
          </p:nvSpPr>
          <p:spPr>
            <a:xfrm rot="5400000">
              <a:off x="58510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" name="Google Shape;1010;p46">
              <a:extLst>
                <a:ext uri="{FF2B5EF4-FFF2-40B4-BE49-F238E27FC236}">
                  <a16:creationId xmlns:a16="http://schemas.microsoft.com/office/drawing/2014/main" id="{289EAEC8-6275-9A21-8160-6B86CEBF219B}"/>
                </a:ext>
              </a:extLst>
            </p:cNvPr>
            <p:cNvSpPr/>
            <p:nvPr/>
          </p:nvSpPr>
          <p:spPr>
            <a:xfrm rot="5400000">
              <a:off x="60259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" name="Google Shape;1011;p46">
              <a:extLst>
                <a:ext uri="{FF2B5EF4-FFF2-40B4-BE49-F238E27FC236}">
                  <a16:creationId xmlns:a16="http://schemas.microsoft.com/office/drawing/2014/main" id="{4D7BD194-04B9-2A0C-F1D8-31685234A359}"/>
                </a:ext>
              </a:extLst>
            </p:cNvPr>
            <p:cNvSpPr/>
            <p:nvPr/>
          </p:nvSpPr>
          <p:spPr>
            <a:xfrm rot="5400000">
              <a:off x="62008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" name="Google Shape;1012;p46">
              <a:extLst>
                <a:ext uri="{FF2B5EF4-FFF2-40B4-BE49-F238E27FC236}">
                  <a16:creationId xmlns:a16="http://schemas.microsoft.com/office/drawing/2014/main" id="{6A8C37DB-9F50-7E48-90A2-8F3713E66C7D}"/>
                </a:ext>
              </a:extLst>
            </p:cNvPr>
            <p:cNvSpPr/>
            <p:nvPr/>
          </p:nvSpPr>
          <p:spPr>
            <a:xfrm rot="5400000">
              <a:off x="63757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" name="Google Shape;1013;p46">
              <a:extLst>
                <a:ext uri="{FF2B5EF4-FFF2-40B4-BE49-F238E27FC236}">
                  <a16:creationId xmlns:a16="http://schemas.microsoft.com/office/drawing/2014/main" id="{0FD8F9F8-9AA7-3A7E-8093-1A64CE6EF5A5}"/>
                </a:ext>
              </a:extLst>
            </p:cNvPr>
            <p:cNvSpPr/>
            <p:nvPr/>
          </p:nvSpPr>
          <p:spPr>
            <a:xfrm rot="5400000">
              <a:off x="65506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" name="Google Shape;1014;p46">
              <a:extLst>
                <a:ext uri="{FF2B5EF4-FFF2-40B4-BE49-F238E27FC236}">
                  <a16:creationId xmlns:a16="http://schemas.microsoft.com/office/drawing/2014/main" id="{ACF3C592-BB42-D70A-5D68-A0901A4EA63E}"/>
                </a:ext>
              </a:extLst>
            </p:cNvPr>
            <p:cNvSpPr/>
            <p:nvPr/>
          </p:nvSpPr>
          <p:spPr>
            <a:xfrm rot="5400000">
              <a:off x="67255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" name="Google Shape;1015;p46">
              <a:extLst>
                <a:ext uri="{FF2B5EF4-FFF2-40B4-BE49-F238E27FC236}">
                  <a16:creationId xmlns:a16="http://schemas.microsoft.com/office/drawing/2014/main" id="{109CB3F4-9105-BAC2-4627-1D5E77ECE65C}"/>
                </a:ext>
              </a:extLst>
            </p:cNvPr>
            <p:cNvSpPr/>
            <p:nvPr/>
          </p:nvSpPr>
          <p:spPr>
            <a:xfrm rot="5400000">
              <a:off x="69004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" name="Google Shape;1016;p46">
              <a:extLst>
                <a:ext uri="{FF2B5EF4-FFF2-40B4-BE49-F238E27FC236}">
                  <a16:creationId xmlns:a16="http://schemas.microsoft.com/office/drawing/2014/main" id="{EFBE9034-6191-A7E9-716F-60AF3E6ABD6D}"/>
                </a:ext>
              </a:extLst>
            </p:cNvPr>
            <p:cNvSpPr/>
            <p:nvPr/>
          </p:nvSpPr>
          <p:spPr>
            <a:xfrm rot="5400000">
              <a:off x="70753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Google Shape;1017;p46">
              <a:extLst>
                <a:ext uri="{FF2B5EF4-FFF2-40B4-BE49-F238E27FC236}">
                  <a16:creationId xmlns:a16="http://schemas.microsoft.com/office/drawing/2014/main" id="{5EB520DD-8C0D-029E-3996-F9AADA0A0529}"/>
                </a:ext>
              </a:extLst>
            </p:cNvPr>
            <p:cNvSpPr/>
            <p:nvPr/>
          </p:nvSpPr>
          <p:spPr>
            <a:xfrm rot="5400000">
              <a:off x="72502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" name="Google Shape;1018;p46">
              <a:extLst>
                <a:ext uri="{FF2B5EF4-FFF2-40B4-BE49-F238E27FC236}">
                  <a16:creationId xmlns:a16="http://schemas.microsoft.com/office/drawing/2014/main" id="{4F635A30-710A-A55E-1945-BB10A3FFC06F}"/>
                </a:ext>
              </a:extLst>
            </p:cNvPr>
            <p:cNvSpPr/>
            <p:nvPr/>
          </p:nvSpPr>
          <p:spPr>
            <a:xfrm rot="5400000">
              <a:off x="74251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" name="Google Shape;1019;p46">
              <a:extLst>
                <a:ext uri="{FF2B5EF4-FFF2-40B4-BE49-F238E27FC236}">
                  <a16:creationId xmlns:a16="http://schemas.microsoft.com/office/drawing/2014/main" id="{E0301196-513C-6089-9460-E616BACF65F4}"/>
                </a:ext>
              </a:extLst>
            </p:cNvPr>
            <p:cNvSpPr/>
            <p:nvPr/>
          </p:nvSpPr>
          <p:spPr>
            <a:xfrm rot="5400000">
              <a:off x="77749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" name="Google Shape;1020;p46">
              <a:extLst>
                <a:ext uri="{FF2B5EF4-FFF2-40B4-BE49-F238E27FC236}">
                  <a16:creationId xmlns:a16="http://schemas.microsoft.com/office/drawing/2014/main" id="{9D040F30-BD29-D124-FAA0-1A9C71E72066}"/>
                </a:ext>
              </a:extLst>
            </p:cNvPr>
            <p:cNvSpPr/>
            <p:nvPr/>
          </p:nvSpPr>
          <p:spPr>
            <a:xfrm rot="5400000">
              <a:off x="7949889" y="4835301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" name="Google Shape;1021;p46">
              <a:extLst>
                <a:ext uri="{FF2B5EF4-FFF2-40B4-BE49-F238E27FC236}">
                  <a16:creationId xmlns:a16="http://schemas.microsoft.com/office/drawing/2014/main" id="{B98A0A41-C931-4749-A4CC-A4D65FD684C7}"/>
                </a:ext>
              </a:extLst>
            </p:cNvPr>
            <p:cNvSpPr/>
            <p:nvPr/>
          </p:nvSpPr>
          <p:spPr>
            <a:xfrm rot="5400000">
              <a:off x="6040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" name="Google Shape;1022;p46">
              <a:extLst>
                <a:ext uri="{FF2B5EF4-FFF2-40B4-BE49-F238E27FC236}">
                  <a16:creationId xmlns:a16="http://schemas.microsoft.com/office/drawing/2014/main" id="{A3E23425-3BD1-5F5A-3B31-E00F173B8EA8}"/>
                </a:ext>
              </a:extLst>
            </p:cNvPr>
            <p:cNvSpPr/>
            <p:nvPr/>
          </p:nvSpPr>
          <p:spPr>
            <a:xfrm rot="5400000">
              <a:off x="7789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" name="Google Shape;1023;p46">
              <a:extLst>
                <a:ext uri="{FF2B5EF4-FFF2-40B4-BE49-F238E27FC236}">
                  <a16:creationId xmlns:a16="http://schemas.microsoft.com/office/drawing/2014/main" id="{F82A09C0-82C7-43EC-EBBD-7AB9F9C3ED21}"/>
                </a:ext>
              </a:extLst>
            </p:cNvPr>
            <p:cNvSpPr/>
            <p:nvPr/>
          </p:nvSpPr>
          <p:spPr>
            <a:xfrm rot="5400000">
              <a:off x="4014639" y="3875001"/>
              <a:ext cx="722100" cy="20955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" name="Google Shape;1024;p46">
              <a:extLst>
                <a:ext uri="{FF2B5EF4-FFF2-40B4-BE49-F238E27FC236}">
                  <a16:creationId xmlns:a16="http://schemas.microsoft.com/office/drawing/2014/main" id="{50B4C3E2-1FE4-4471-9485-88C00F8B26C9}"/>
                </a:ext>
              </a:extLst>
            </p:cNvPr>
            <p:cNvSpPr/>
            <p:nvPr/>
          </p:nvSpPr>
          <p:spPr>
            <a:xfrm rot="5400000">
              <a:off x="11287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" name="Google Shape;1025;p46">
              <a:extLst>
                <a:ext uri="{FF2B5EF4-FFF2-40B4-BE49-F238E27FC236}">
                  <a16:creationId xmlns:a16="http://schemas.microsoft.com/office/drawing/2014/main" id="{0DA63DC4-31FA-28B2-DB22-1814A4179B10}"/>
                </a:ext>
              </a:extLst>
            </p:cNvPr>
            <p:cNvSpPr/>
            <p:nvPr/>
          </p:nvSpPr>
          <p:spPr>
            <a:xfrm rot="5400000">
              <a:off x="13036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6" name="Google Shape;1026;p46">
              <a:extLst>
                <a:ext uri="{FF2B5EF4-FFF2-40B4-BE49-F238E27FC236}">
                  <a16:creationId xmlns:a16="http://schemas.microsoft.com/office/drawing/2014/main" id="{4B8B4C10-CE38-042E-B209-6C3A2C582C40}"/>
                </a:ext>
              </a:extLst>
            </p:cNvPr>
            <p:cNvGrpSpPr/>
            <p:nvPr/>
          </p:nvGrpSpPr>
          <p:grpSpPr>
            <a:xfrm>
              <a:off x="877689" y="5433751"/>
              <a:ext cx="2393100" cy="261300"/>
              <a:chOff x="451750" y="1912600"/>
              <a:chExt cx="2393100" cy="261300"/>
            </a:xfrm>
          </p:grpSpPr>
          <p:cxnSp>
            <p:nvCxnSpPr>
              <p:cNvPr id="47" name="Google Shape;1027;p46">
                <a:extLst>
                  <a:ext uri="{FF2B5EF4-FFF2-40B4-BE49-F238E27FC236}">
                    <a16:creationId xmlns:a16="http://schemas.microsoft.com/office/drawing/2014/main" id="{2494665E-FD40-FC8C-5B5F-55FD8E49AD7E}"/>
                  </a:ext>
                </a:extLst>
              </p:cNvPr>
              <p:cNvCxnSpPr/>
              <p:nvPr/>
            </p:nvCxnSpPr>
            <p:spPr>
              <a:xfrm>
                <a:off x="451750" y="2043250"/>
                <a:ext cx="23931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AA84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48" name="Google Shape;1028;p46">
                <a:extLst>
                  <a:ext uri="{FF2B5EF4-FFF2-40B4-BE49-F238E27FC236}">
                    <a16:creationId xmlns:a16="http://schemas.microsoft.com/office/drawing/2014/main" id="{F693979E-67D0-1BA4-5D1F-38A67B3DEAF6}"/>
                  </a:ext>
                </a:extLst>
              </p:cNvPr>
              <p:cNvSpPr txBox="1"/>
              <p:nvPr/>
            </p:nvSpPr>
            <p:spPr>
              <a:xfrm>
                <a:off x="1007800" y="1912600"/>
                <a:ext cx="12810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Sent and acked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9" name="Google Shape;1029;p46">
              <a:extLst>
                <a:ext uri="{FF2B5EF4-FFF2-40B4-BE49-F238E27FC236}">
                  <a16:creationId xmlns:a16="http://schemas.microsoft.com/office/drawing/2014/main" id="{1EF51C62-4FB8-3541-1754-FF4C2A75B98F}"/>
                </a:ext>
              </a:extLst>
            </p:cNvPr>
            <p:cNvSpPr/>
            <p:nvPr/>
          </p:nvSpPr>
          <p:spPr>
            <a:xfrm rot="5400000">
              <a:off x="14785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" name="Google Shape;1030;p46">
              <a:extLst>
                <a:ext uri="{FF2B5EF4-FFF2-40B4-BE49-F238E27FC236}">
                  <a16:creationId xmlns:a16="http://schemas.microsoft.com/office/drawing/2014/main" id="{79FDBE50-6A58-7778-0687-AFACA470234A}"/>
                </a:ext>
              </a:extLst>
            </p:cNvPr>
            <p:cNvSpPr/>
            <p:nvPr/>
          </p:nvSpPr>
          <p:spPr>
            <a:xfrm rot="5400000">
              <a:off x="1653489" y="4835301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1" name="Google Shape;1031;p46">
              <a:extLst>
                <a:ext uri="{FF2B5EF4-FFF2-40B4-BE49-F238E27FC236}">
                  <a16:creationId xmlns:a16="http://schemas.microsoft.com/office/drawing/2014/main" id="{E22BDA07-0B73-6498-424F-992AF89E2676}"/>
                </a:ext>
              </a:extLst>
            </p:cNvPr>
            <p:cNvGrpSpPr/>
            <p:nvPr/>
          </p:nvGrpSpPr>
          <p:grpSpPr>
            <a:xfrm>
              <a:off x="5479596" y="5433751"/>
              <a:ext cx="2919162" cy="261300"/>
              <a:chOff x="4996875" y="1912600"/>
              <a:chExt cx="2975700" cy="261300"/>
            </a:xfrm>
          </p:grpSpPr>
          <p:cxnSp>
            <p:nvCxnSpPr>
              <p:cNvPr id="52" name="Google Shape;1032;p46">
                <a:extLst>
                  <a:ext uri="{FF2B5EF4-FFF2-40B4-BE49-F238E27FC236}">
                    <a16:creationId xmlns:a16="http://schemas.microsoft.com/office/drawing/2014/main" id="{10376461-001C-6B21-7090-898EEAC43E91}"/>
                  </a:ext>
                </a:extLst>
              </p:cNvPr>
              <p:cNvCxnSpPr/>
              <p:nvPr/>
            </p:nvCxnSpPr>
            <p:spPr>
              <a:xfrm>
                <a:off x="4996875" y="2043250"/>
                <a:ext cx="2975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53" name="Google Shape;1033;p46">
                <a:extLst>
                  <a:ext uri="{FF2B5EF4-FFF2-40B4-BE49-F238E27FC236}">
                    <a16:creationId xmlns:a16="http://schemas.microsoft.com/office/drawing/2014/main" id="{BA5F9A8F-486E-37B7-8FCE-18C4FAC12BB9}"/>
                  </a:ext>
                </a:extLst>
              </p:cNvPr>
              <p:cNvSpPr txBox="1"/>
              <p:nvPr/>
            </p:nvSpPr>
            <p:spPr>
              <a:xfrm>
                <a:off x="5955972" y="1912600"/>
                <a:ext cx="10575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999999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 sent yet</a:t>
                </a:r>
                <a:endParaRPr>
                  <a:solidFill>
                    <a:srgbClr val="9999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4" name="Google Shape;1034;p46">
              <a:extLst>
                <a:ext uri="{FF2B5EF4-FFF2-40B4-BE49-F238E27FC236}">
                  <a16:creationId xmlns:a16="http://schemas.microsoft.com/office/drawing/2014/main" id="{D075A391-3224-4B4C-1B9B-89EA112B81AB}"/>
                </a:ext>
              </a:extLst>
            </p:cNvPr>
            <p:cNvGrpSpPr/>
            <p:nvPr/>
          </p:nvGrpSpPr>
          <p:grpSpPr>
            <a:xfrm>
              <a:off x="3327369" y="5316551"/>
              <a:ext cx="2095500" cy="493800"/>
              <a:chOff x="3261268" y="4292900"/>
              <a:chExt cx="2095500" cy="493800"/>
            </a:xfrm>
          </p:grpSpPr>
          <p:cxnSp>
            <p:nvCxnSpPr>
              <p:cNvPr id="55" name="Google Shape;1035;p46">
                <a:extLst>
                  <a:ext uri="{FF2B5EF4-FFF2-40B4-BE49-F238E27FC236}">
                    <a16:creationId xmlns:a16="http://schemas.microsoft.com/office/drawing/2014/main" id="{C0B0A07C-B158-EFC8-281F-B8E760C3F90A}"/>
                  </a:ext>
                </a:extLst>
              </p:cNvPr>
              <p:cNvCxnSpPr/>
              <p:nvPr/>
            </p:nvCxnSpPr>
            <p:spPr>
              <a:xfrm>
                <a:off x="3261268" y="4539800"/>
                <a:ext cx="209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56" name="Google Shape;1036;p46">
                <a:extLst>
                  <a:ext uri="{FF2B5EF4-FFF2-40B4-BE49-F238E27FC236}">
                    <a16:creationId xmlns:a16="http://schemas.microsoft.com/office/drawing/2014/main" id="{DB69F505-54AA-128E-BAFB-B59E296352E1}"/>
                  </a:ext>
                </a:extLst>
              </p:cNvPr>
              <p:cNvSpPr txBox="1"/>
              <p:nvPr/>
            </p:nvSpPr>
            <p:spPr>
              <a:xfrm>
                <a:off x="3940850" y="4292900"/>
                <a:ext cx="736500" cy="493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Window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i="1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</a:t>
                </a: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 bytes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cxnSp>
          <p:nvCxnSpPr>
            <p:cNvPr id="57" name="Google Shape;1037;p46">
              <a:extLst>
                <a:ext uri="{FF2B5EF4-FFF2-40B4-BE49-F238E27FC236}">
                  <a16:creationId xmlns:a16="http://schemas.microsoft.com/office/drawing/2014/main" id="{7D866DA4-29BA-191E-A231-464ED6F989A2}"/>
                </a:ext>
              </a:extLst>
            </p:cNvPr>
            <p:cNvCxnSpPr>
              <a:stCxn id="13" idx="1"/>
              <a:endCxn id="58" idx="2"/>
            </p:cNvCxnSpPr>
            <p:nvPr/>
          </p:nvCxnSpPr>
          <p:spPr>
            <a:xfrm rot="10800000">
              <a:off x="3413739" y="4340601"/>
              <a:ext cx="0" cy="22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58" name="Google Shape;1038;p46">
              <a:extLst>
                <a:ext uri="{FF2B5EF4-FFF2-40B4-BE49-F238E27FC236}">
                  <a16:creationId xmlns:a16="http://schemas.microsoft.com/office/drawing/2014/main" id="{AA489191-E7CF-067F-7805-59C7EA383424}"/>
                </a:ext>
              </a:extLst>
            </p:cNvPr>
            <p:cNvSpPr txBox="1"/>
            <p:nvPr/>
          </p:nvSpPr>
          <p:spPr>
            <a:xfrm>
              <a:off x="2661201" y="4079173"/>
              <a:ext cx="1505100" cy="2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First unacked byte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1257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29C7-9B79-2802-F682-0559215E1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658C68D4-6A90-1D51-9FED-BBC20B973C3C}"/>
              </a:ext>
            </a:extLst>
          </p:cNvPr>
          <p:cNvSpPr txBox="1">
            <a:spLocks/>
          </p:cNvSpPr>
          <p:nvPr/>
        </p:nvSpPr>
        <p:spPr>
          <a:xfrm>
            <a:off x="448235" y="125505"/>
            <a:ext cx="11295529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/>
              <a:t>TCP Sliding Window with Sequence Number</a:t>
            </a:r>
          </a:p>
        </p:txBody>
      </p:sp>
      <p:sp>
        <p:nvSpPr>
          <p:cNvPr id="3" name="Google Shape;1039;p46">
            <a:extLst>
              <a:ext uri="{FF2B5EF4-FFF2-40B4-BE49-F238E27FC236}">
                <a16:creationId xmlns:a16="http://schemas.microsoft.com/office/drawing/2014/main" id="{8D94EA5A-D24F-251D-1723-F6B334EA0C6A}"/>
              </a:ext>
            </a:extLst>
          </p:cNvPr>
          <p:cNvSpPr txBox="1">
            <a:spLocks/>
          </p:cNvSpPr>
          <p:nvPr/>
        </p:nvSpPr>
        <p:spPr>
          <a:xfrm>
            <a:off x="448234" y="950258"/>
            <a:ext cx="11295529" cy="28615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When we measured in packets, </a:t>
            </a:r>
            <a:r>
              <a:rPr lang="en-US" sz="2400" i="1" dirty="0"/>
              <a:t>W</a:t>
            </a:r>
            <a:r>
              <a:rPr lang="en-US" sz="2400" dirty="0"/>
              <a:t> was the maximum number of </a:t>
            </a:r>
            <a:r>
              <a:rPr lang="en-US" sz="2400" b="1" dirty="0"/>
              <a:t>packets</a:t>
            </a:r>
            <a:r>
              <a:rPr lang="en-US" sz="2400" dirty="0"/>
              <a:t> in flight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When we measure in bytes, </a:t>
            </a:r>
            <a:r>
              <a:rPr lang="en-US" sz="2400" i="1" dirty="0"/>
              <a:t>W</a:t>
            </a:r>
            <a:r>
              <a:rPr lang="en-US" sz="2400" dirty="0"/>
              <a:t> is the maximum number of </a:t>
            </a:r>
            <a:r>
              <a:rPr lang="en-US" sz="2400" i="1" dirty="0"/>
              <a:t>contiguous</a:t>
            </a:r>
            <a:r>
              <a:rPr lang="en-US" sz="2400" dirty="0"/>
              <a:t> </a:t>
            </a:r>
            <a:r>
              <a:rPr lang="en-US" sz="2400" b="1" dirty="0"/>
              <a:t>bytes</a:t>
            </a:r>
            <a:r>
              <a:rPr lang="en-US" sz="2400" dirty="0"/>
              <a:t> in flight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The window is a range of </a:t>
            </a:r>
            <a:r>
              <a:rPr lang="en-US" sz="2400" i="1" dirty="0"/>
              <a:t>W</a:t>
            </a:r>
            <a:r>
              <a:rPr lang="en-US" sz="2400" dirty="0"/>
              <a:t> contiguous bytes, starting at the </a:t>
            </a:r>
            <a:r>
              <a:rPr lang="en-US" sz="2400" dirty="0">
                <a:solidFill>
                  <a:srgbClr val="C00000"/>
                </a:solidFill>
              </a:rPr>
              <a:t>first unacked byte</a:t>
            </a:r>
            <a:endParaRPr lang="en-US" sz="2400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Only these </a:t>
            </a:r>
            <a:r>
              <a:rPr lang="en-US" sz="2400" i="1" dirty="0"/>
              <a:t>W</a:t>
            </a:r>
            <a:r>
              <a:rPr lang="en-US" sz="2400" dirty="0"/>
              <a:t> bytes are allowed to be in flight.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The window slides right if and only if its </a:t>
            </a:r>
            <a:r>
              <a:rPr lang="en-US" sz="2400" b="1" i="1" dirty="0"/>
              <a:t>leftmost</a:t>
            </a:r>
            <a:r>
              <a:rPr lang="en-US" sz="2400" b="1" dirty="0"/>
              <a:t> bytes are acked</a:t>
            </a:r>
            <a:endParaRPr lang="en-US" sz="2400" dirty="0"/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Example: When 15–18 arrive, we can add 27–30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8D20CEF-F7CF-CD6E-C39E-132E3C3EF19B}"/>
              </a:ext>
            </a:extLst>
          </p:cNvPr>
          <p:cNvGrpSpPr/>
          <p:nvPr/>
        </p:nvGrpSpPr>
        <p:grpSpPr>
          <a:xfrm>
            <a:off x="609598" y="4720815"/>
            <a:ext cx="10972800" cy="2011680"/>
            <a:chOff x="811586" y="3131722"/>
            <a:chExt cx="7521012" cy="1732128"/>
          </a:xfrm>
        </p:grpSpPr>
        <p:sp>
          <p:nvSpPr>
            <p:cNvPr id="60" name="Google Shape;1044;p47">
              <a:extLst>
                <a:ext uri="{FF2B5EF4-FFF2-40B4-BE49-F238E27FC236}">
                  <a16:creationId xmlns:a16="http://schemas.microsoft.com/office/drawing/2014/main" id="{F2C56A6D-BF86-4FD2-6DDA-AE9ED1A9AF31}"/>
                </a:ext>
              </a:extLst>
            </p:cNvPr>
            <p:cNvSpPr/>
            <p:nvPr/>
          </p:nvSpPr>
          <p:spPr>
            <a:xfrm rot="5400000">
              <a:off x="75339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" name="Google Shape;1045;p47">
              <a:extLst>
                <a:ext uri="{FF2B5EF4-FFF2-40B4-BE49-F238E27FC236}">
                  <a16:creationId xmlns:a16="http://schemas.microsoft.com/office/drawing/2014/main" id="{A20DA744-E306-EB93-B478-A3B4BB1E05C9}"/>
                </a:ext>
              </a:extLst>
            </p:cNvPr>
            <p:cNvSpPr/>
            <p:nvPr/>
          </p:nvSpPr>
          <p:spPr>
            <a:xfrm rot="5400000">
              <a:off x="8877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" name="Google Shape;1048;p47">
              <a:extLst>
                <a:ext uri="{FF2B5EF4-FFF2-40B4-BE49-F238E27FC236}">
                  <a16:creationId xmlns:a16="http://schemas.microsoft.com/office/drawing/2014/main" id="{12240596-45D6-1F7D-52BF-50790891C4FA}"/>
                </a:ext>
              </a:extLst>
            </p:cNvPr>
            <p:cNvSpPr/>
            <p:nvPr/>
          </p:nvSpPr>
          <p:spPr>
            <a:xfrm rot="5400000">
              <a:off x="17622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" name="Google Shape;1049;p47">
              <a:extLst>
                <a:ext uri="{FF2B5EF4-FFF2-40B4-BE49-F238E27FC236}">
                  <a16:creationId xmlns:a16="http://schemas.microsoft.com/office/drawing/2014/main" id="{232FFDB4-1DFF-12DB-7971-580A13759690}"/>
                </a:ext>
              </a:extLst>
            </p:cNvPr>
            <p:cNvSpPr/>
            <p:nvPr/>
          </p:nvSpPr>
          <p:spPr>
            <a:xfrm rot="5400000">
              <a:off x="19371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" name="Google Shape;1050;p47">
              <a:extLst>
                <a:ext uri="{FF2B5EF4-FFF2-40B4-BE49-F238E27FC236}">
                  <a16:creationId xmlns:a16="http://schemas.microsoft.com/office/drawing/2014/main" id="{C76CC69F-13EE-18D8-74AD-E345A4661E6F}"/>
                </a:ext>
              </a:extLst>
            </p:cNvPr>
            <p:cNvSpPr/>
            <p:nvPr/>
          </p:nvSpPr>
          <p:spPr>
            <a:xfrm rot="5400000">
              <a:off x="21120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" name="Google Shape;1051;p47">
              <a:extLst>
                <a:ext uri="{FF2B5EF4-FFF2-40B4-BE49-F238E27FC236}">
                  <a16:creationId xmlns:a16="http://schemas.microsoft.com/office/drawing/2014/main" id="{DCB02BFA-A5E6-E17B-24CD-E82631AD2726}"/>
                </a:ext>
              </a:extLst>
            </p:cNvPr>
            <p:cNvSpPr/>
            <p:nvPr/>
          </p:nvSpPr>
          <p:spPr>
            <a:xfrm rot="5400000">
              <a:off x="22869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" name="Google Shape;1052;p47">
              <a:extLst>
                <a:ext uri="{FF2B5EF4-FFF2-40B4-BE49-F238E27FC236}">
                  <a16:creationId xmlns:a16="http://schemas.microsoft.com/office/drawing/2014/main" id="{7F490CE7-6B37-F40B-69E5-12F2D3872E2F}"/>
                </a:ext>
              </a:extLst>
            </p:cNvPr>
            <p:cNvSpPr/>
            <p:nvPr/>
          </p:nvSpPr>
          <p:spPr>
            <a:xfrm rot="5400000">
              <a:off x="24618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1053;p47">
              <a:extLst>
                <a:ext uri="{FF2B5EF4-FFF2-40B4-BE49-F238E27FC236}">
                  <a16:creationId xmlns:a16="http://schemas.microsoft.com/office/drawing/2014/main" id="{87F897B9-DF3F-2DD4-1BED-DB1B5BD414A2}"/>
                </a:ext>
              </a:extLst>
            </p:cNvPr>
            <p:cNvSpPr/>
            <p:nvPr/>
          </p:nvSpPr>
          <p:spPr>
            <a:xfrm rot="5400000">
              <a:off x="26367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" name="Google Shape;1054;p47">
              <a:extLst>
                <a:ext uri="{FF2B5EF4-FFF2-40B4-BE49-F238E27FC236}">
                  <a16:creationId xmlns:a16="http://schemas.microsoft.com/office/drawing/2014/main" id="{B4A154BB-852E-2FAA-0088-0B164D148862}"/>
                </a:ext>
              </a:extLst>
            </p:cNvPr>
            <p:cNvSpPr/>
            <p:nvPr/>
          </p:nvSpPr>
          <p:spPr>
            <a:xfrm rot="5400000">
              <a:off x="28116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" name="Google Shape;1055;p47">
              <a:extLst>
                <a:ext uri="{FF2B5EF4-FFF2-40B4-BE49-F238E27FC236}">
                  <a16:creationId xmlns:a16="http://schemas.microsoft.com/office/drawing/2014/main" id="{5FDD1480-6DD0-9050-567F-F2D7B51A0798}"/>
                </a:ext>
              </a:extLst>
            </p:cNvPr>
            <p:cNvSpPr/>
            <p:nvPr/>
          </p:nvSpPr>
          <p:spPr>
            <a:xfrm rot="5400000">
              <a:off x="29865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" name="Google Shape;1056;p47">
              <a:extLst>
                <a:ext uri="{FF2B5EF4-FFF2-40B4-BE49-F238E27FC236}">
                  <a16:creationId xmlns:a16="http://schemas.microsoft.com/office/drawing/2014/main" id="{F2A0BEEA-5DDC-8CDC-5A37-9666123DEAEA}"/>
                </a:ext>
              </a:extLst>
            </p:cNvPr>
            <p:cNvSpPr/>
            <p:nvPr/>
          </p:nvSpPr>
          <p:spPr>
            <a:xfrm rot="5400000">
              <a:off x="31614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" name="Google Shape;1057;p47">
              <a:extLst>
                <a:ext uri="{FF2B5EF4-FFF2-40B4-BE49-F238E27FC236}">
                  <a16:creationId xmlns:a16="http://schemas.microsoft.com/office/drawing/2014/main" id="{B7B9569A-63FB-AD1E-80BA-A0D1491E8E48}"/>
                </a:ext>
              </a:extLst>
            </p:cNvPr>
            <p:cNvSpPr/>
            <p:nvPr/>
          </p:nvSpPr>
          <p:spPr>
            <a:xfrm rot="5400000">
              <a:off x="33363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Google Shape;1058;p47">
              <a:extLst>
                <a:ext uri="{FF2B5EF4-FFF2-40B4-BE49-F238E27FC236}">
                  <a16:creationId xmlns:a16="http://schemas.microsoft.com/office/drawing/2014/main" id="{3752DB75-EC66-8724-CA29-83CA10D25F74}"/>
                </a:ext>
              </a:extLst>
            </p:cNvPr>
            <p:cNvSpPr/>
            <p:nvPr/>
          </p:nvSpPr>
          <p:spPr>
            <a:xfrm rot="5400000">
              <a:off x="35112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1059;p47">
              <a:extLst>
                <a:ext uri="{FF2B5EF4-FFF2-40B4-BE49-F238E27FC236}">
                  <a16:creationId xmlns:a16="http://schemas.microsoft.com/office/drawing/2014/main" id="{0A393E84-061F-8B12-BEB8-A953B1C71995}"/>
                </a:ext>
              </a:extLst>
            </p:cNvPr>
            <p:cNvSpPr/>
            <p:nvPr/>
          </p:nvSpPr>
          <p:spPr>
            <a:xfrm rot="5400000">
              <a:off x="36861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" name="Google Shape;1060;p47">
              <a:extLst>
                <a:ext uri="{FF2B5EF4-FFF2-40B4-BE49-F238E27FC236}">
                  <a16:creationId xmlns:a16="http://schemas.microsoft.com/office/drawing/2014/main" id="{438698C2-88DD-978A-EF3F-C24AEB03DD35}"/>
                </a:ext>
              </a:extLst>
            </p:cNvPr>
            <p:cNvSpPr/>
            <p:nvPr/>
          </p:nvSpPr>
          <p:spPr>
            <a:xfrm rot="5400000">
              <a:off x="38610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" name="Google Shape;1061;p47">
              <a:extLst>
                <a:ext uri="{FF2B5EF4-FFF2-40B4-BE49-F238E27FC236}">
                  <a16:creationId xmlns:a16="http://schemas.microsoft.com/office/drawing/2014/main" id="{D18163D7-4490-594E-9097-7BA5AE724082}"/>
                </a:ext>
              </a:extLst>
            </p:cNvPr>
            <p:cNvSpPr/>
            <p:nvPr/>
          </p:nvSpPr>
          <p:spPr>
            <a:xfrm rot="5400000">
              <a:off x="40359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1062;p47">
              <a:extLst>
                <a:ext uri="{FF2B5EF4-FFF2-40B4-BE49-F238E27FC236}">
                  <a16:creationId xmlns:a16="http://schemas.microsoft.com/office/drawing/2014/main" id="{137BF87B-9EC4-0D66-5080-F124259276C9}"/>
                </a:ext>
              </a:extLst>
            </p:cNvPr>
            <p:cNvSpPr/>
            <p:nvPr/>
          </p:nvSpPr>
          <p:spPr>
            <a:xfrm rot="5400000">
              <a:off x="42108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1063;p47">
              <a:extLst>
                <a:ext uri="{FF2B5EF4-FFF2-40B4-BE49-F238E27FC236}">
                  <a16:creationId xmlns:a16="http://schemas.microsoft.com/office/drawing/2014/main" id="{5E7DB1D1-9C96-AC1E-1E6B-312934F5888B}"/>
                </a:ext>
              </a:extLst>
            </p:cNvPr>
            <p:cNvSpPr/>
            <p:nvPr/>
          </p:nvSpPr>
          <p:spPr>
            <a:xfrm rot="5400000">
              <a:off x="43857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1064;p47">
              <a:extLst>
                <a:ext uri="{FF2B5EF4-FFF2-40B4-BE49-F238E27FC236}">
                  <a16:creationId xmlns:a16="http://schemas.microsoft.com/office/drawing/2014/main" id="{D0B93BCA-521C-36B9-88A1-5610C7E95EB8}"/>
                </a:ext>
              </a:extLst>
            </p:cNvPr>
            <p:cNvSpPr/>
            <p:nvPr/>
          </p:nvSpPr>
          <p:spPr>
            <a:xfrm rot="5400000">
              <a:off x="45606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" name="Google Shape;1065;p47">
              <a:extLst>
                <a:ext uri="{FF2B5EF4-FFF2-40B4-BE49-F238E27FC236}">
                  <a16:creationId xmlns:a16="http://schemas.microsoft.com/office/drawing/2014/main" id="{614102E5-C159-042F-DD25-EAE70D50A7B8}"/>
                </a:ext>
              </a:extLst>
            </p:cNvPr>
            <p:cNvSpPr/>
            <p:nvPr/>
          </p:nvSpPr>
          <p:spPr>
            <a:xfrm rot="5400000">
              <a:off x="47355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" name="Google Shape;1066;p47">
              <a:extLst>
                <a:ext uri="{FF2B5EF4-FFF2-40B4-BE49-F238E27FC236}">
                  <a16:creationId xmlns:a16="http://schemas.microsoft.com/office/drawing/2014/main" id="{5C857EE2-62BD-0613-EEB1-8A5494186EA6}"/>
                </a:ext>
              </a:extLst>
            </p:cNvPr>
            <p:cNvSpPr/>
            <p:nvPr/>
          </p:nvSpPr>
          <p:spPr>
            <a:xfrm rot="5400000">
              <a:off x="49104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" name="Google Shape;1067;p47">
              <a:extLst>
                <a:ext uri="{FF2B5EF4-FFF2-40B4-BE49-F238E27FC236}">
                  <a16:creationId xmlns:a16="http://schemas.microsoft.com/office/drawing/2014/main" id="{12E03B35-919F-03A6-4DEB-F0461B214052}"/>
                </a:ext>
              </a:extLst>
            </p:cNvPr>
            <p:cNvSpPr/>
            <p:nvPr/>
          </p:nvSpPr>
          <p:spPr>
            <a:xfrm rot="5400000">
              <a:off x="5085388" y="3887850"/>
              <a:ext cx="722100" cy="1749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" name="Google Shape;1068;p47">
              <a:extLst>
                <a:ext uri="{FF2B5EF4-FFF2-40B4-BE49-F238E27FC236}">
                  <a16:creationId xmlns:a16="http://schemas.microsoft.com/office/drawing/2014/main" id="{B88C113E-6B5F-0690-4C73-FB533237B101}"/>
                </a:ext>
              </a:extLst>
            </p:cNvPr>
            <p:cNvSpPr/>
            <p:nvPr/>
          </p:nvSpPr>
          <p:spPr>
            <a:xfrm rot="5400000">
              <a:off x="5260288" y="3887850"/>
              <a:ext cx="722100" cy="1749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1069;p47">
              <a:extLst>
                <a:ext uri="{FF2B5EF4-FFF2-40B4-BE49-F238E27FC236}">
                  <a16:creationId xmlns:a16="http://schemas.microsoft.com/office/drawing/2014/main" id="{0882C521-6CB8-898B-53A6-D5A0FB4F4EAA}"/>
                </a:ext>
              </a:extLst>
            </p:cNvPr>
            <p:cNvSpPr/>
            <p:nvPr/>
          </p:nvSpPr>
          <p:spPr>
            <a:xfrm rot="5400000">
              <a:off x="5435188" y="3887850"/>
              <a:ext cx="722100" cy="1749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1070;p47">
              <a:extLst>
                <a:ext uri="{FF2B5EF4-FFF2-40B4-BE49-F238E27FC236}">
                  <a16:creationId xmlns:a16="http://schemas.microsoft.com/office/drawing/2014/main" id="{23936855-57D8-2CA1-6D98-09BFF574A44E}"/>
                </a:ext>
              </a:extLst>
            </p:cNvPr>
            <p:cNvSpPr/>
            <p:nvPr/>
          </p:nvSpPr>
          <p:spPr>
            <a:xfrm rot="5400000">
              <a:off x="5610088" y="3887850"/>
              <a:ext cx="722100" cy="1749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" name="Google Shape;1071;p47">
              <a:extLst>
                <a:ext uri="{FF2B5EF4-FFF2-40B4-BE49-F238E27FC236}">
                  <a16:creationId xmlns:a16="http://schemas.microsoft.com/office/drawing/2014/main" id="{835A1A47-F797-70C1-889C-BB8A7A457A94}"/>
                </a:ext>
              </a:extLst>
            </p:cNvPr>
            <p:cNvSpPr/>
            <p:nvPr/>
          </p:nvSpPr>
          <p:spPr>
            <a:xfrm rot="5400000">
              <a:off x="57849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" name="Google Shape;1072;p47">
              <a:extLst>
                <a:ext uri="{FF2B5EF4-FFF2-40B4-BE49-F238E27FC236}">
                  <a16:creationId xmlns:a16="http://schemas.microsoft.com/office/drawing/2014/main" id="{65F85A58-6B6F-7AA8-B920-648DD016DBCF}"/>
                </a:ext>
              </a:extLst>
            </p:cNvPr>
            <p:cNvSpPr/>
            <p:nvPr/>
          </p:nvSpPr>
          <p:spPr>
            <a:xfrm rot="5400000">
              <a:off x="59598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1073;p47">
              <a:extLst>
                <a:ext uri="{FF2B5EF4-FFF2-40B4-BE49-F238E27FC236}">
                  <a16:creationId xmlns:a16="http://schemas.microsoft.com/office/drawing/2014/main" id="{A9C6898F-4B12-A997-6638-76199B3C8774}"/>
                </a:ext>
              </a:extLst>
            </p:cNvPr>
            <p:cNvSpPr/>
            <p:nvPr/>
          </p:nvSpPr>
          <p:spPr>
            <a:xfrm rot="5400000">
              <a:off x="61347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1074;p47">
              <a:extLst>
                <a:ext uri="{FF2B5EF4-FFF2-40B4-BE49-F238E27FC236}">
                  <a16:creationId xmlns:a16="http://schemas.microsoft.com/office/drawing/2014/main" id="{867DFF00-3AE2-B25E-9DF9-51B90AAECD46}"/>
                </a:ext>
              </a:extLst>
            </p:cNvPr>
            <p:cNvSpPr/>
            <p:nvPr/>
          </p:nvSpPr>
          <p:spPr>
            <a:xfrm rot="5400000">
              <a:off x="63096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" name="Google Shape;1075;p47">
              <a:extLst>
                <a:ext uri="{FF2B5EF4-FFF2-40B4-BE49-F238E27FC236}">
                  <a16:creationId xmlns:a16="http://schemas.microsoft.com/office/drawing/2014/main" id="{D8EAE97E-3EE3-E25C-99E9-59541E40B001}"/>
                </a:ext>
              </a:extLst>
            </p:cNvPr>
            <p:cNvSpPr/>
            <p:nvPr/>
          </p:nvSpPr>
          <p:spPr>
            <a:xfrm rot="5400000">
              <a:off x="64845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1076;p47">
              <a:extLst>
                <a:ext uri="{FF2B5EF4-FFF2-40B4-BE49-F238E27FC236}">
                  <a16:creationId xmlns:a16="http://schemas.microsoft.com/office/drawing/2014/main" id="{6DDAC5C5-E354-43DF-65ED-0679499059B1}"/>
                </a:ext>
              </a:extLst>
            </p:cNvPr>
            <p:cNvSpPr/>
            <p:nvPr/>
          </p:nvSpPr>
          <p:spPr>
            <a:xfrm rot="5400000">
              <a:off x="66594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1077;p47">
              <a:extLst>
                <a:ext uri="{FF2B5EF4-FFF2-40B4-BE49-F238E27FC236}">
                  <a16:creationId xmlns:a16="http://schemas.microsoft.com/office/drawing/2014/main" id="{F41F9B7E-B067-4A8F-0646-3200AD0481C1}"/>
                </a:ext>
              </a:extLst>
            </p:cNvPr>
            <p:cNvSpPr/>
            <p:nvPr/>
          </p:nvSpPr>
          <p:spPr>
            <a:xfrm rot="5400000">
              <a:off x="68343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" name="Google Shape;1078;p47">
              <a:extLst>
                <a:ext uri="{FF2B5EF4-FFF2-40B4-BE49-F238E27FC236}">
                  <a16:creationId xmlns:a16="http://schemas.microsoft.com/office/drawing/2014/main" id="{ED373A8F-1D96-E680-AD50-951B784A4126}"/>
                </a:ext>
              </a:extLst>
            </p:cNvPr>
            <p:cNvSpPr/>
            <p:nvPr/>
          </p:nvSpPr>
          <p:spPr>
            <a:xfrm rot="5400000">
              <a:off x="70092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" name="Google Shape;1079;p47">
              <a:extLst>
                <a:ext uri="{FF2B5EF4-FFF2-40B4-BE49-F238E27FC236}">
                  <a16:creationId xmlns:a16="http://schemas.microsoft.com/office/drawing/2014/main" id="{61722893-EC02-2943-221E-B4BE8BC5D2F1}"/>
                </a:ext>
              </a:extLst>
            </p:cNvPr>
            <p:cNvSpPr/>
            <p:nvPr/>
          </p:nvSpPr>
          <p:spPr>
            <a:xfrm rot="5400000">
              <a:off x="71841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1080;p47">
              <a:extLst>
                <a:ext uri="{FF2B5EF4-FFF2-40B4-BE49-F238E27FC236}">
                  <a16:creationId xmlns:a16="http://schemas.microsoft.com/office/drawing/2014/main" id="{8889EC8A-79CD-2474-C3AF-564114819847}"/>
                </a:ext>
              </a:extLst>
            </p:cNvPr>
            <p:cNvSpPr/>
            <p:nvPr/>
          </p:nvSpPr>
          <p:spPr>
            <a:xfrm rot="5400000">
              <a:off x="73590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" name="Google Shape;1081;p47">
              <a:extLst>
                <a:ext uri="{FF2B5EF4-FFF2-40B4-BE49-F238E27FC236}">
                  <a16:creationId xmlns:a16="http://schemas.microsoft.com/office/drawing/2014/main" id="{331C9F30-1855-3C97-A273-0D4AD97B9955}"/>
                </a:ext>
              </a:extLst>
            </p:cNvPr>
            <p:cNvSpPr/>
            <p:nvPr/>
          </p:nvSpPr>
          <p:spPr>
            <a:xfrm rot="5400000">
              <a:off x="77088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" name="Google Shape;1082;p47">
              <a:extLst>
                <a:ext uri="{FF2B5EF4-FFF2-40B4-BE49-F238E27FC236}">
                  <a16:creationId xmlns:a16="http://schemas.microsoft.com/office/drawing/2014/main" id="{9AC336F1-B93D-460F-2A50-552BB0DF4E35}"/>
                </a:ext>
              </a:extLst>
            </p:cNvPr>
            <p:cNvSpPr/>
            <p:nvPr/>
          </p:nvSpPr>
          <p:spPr>
            <a:xfrm rot="5400000">
              <a:off x="78837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" name="Google Shape;1083;p47">
              <a:extLst>
                <a:ext uri="{FF2B5EF4-FFF2-40B4-BE49-F238E27FC236}">
                  <a16:creationId xmlns:a16="http://schemas.microsoft.com/office/drawing/2014/main" id="{275F9DB0-C175-CD5E-6575-E7B3B5B5057A}"/>
                </a:ext>
              </a:extLst>
            </p:cNvPr>
            <p:cNvSpPr/>
            <p:nvPr/>
          </p:nvSpPr>
          <p:spPr>
            <a:xfrm rot="5400000">
              <a:off x="5379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1084;p47">
              <a:extLst>
                <a:ext uri="{FF2B5EF4-FFF2-40B4-BE49-F238E27FC236}">
                  <a16:creationId xmlns:a16="http://schemas.microsoft.com/office/drawing/2014/main" id="{39B6B883-9853-80A0-417F-B15620A6937C}"/>
                </a:ext>
              </a:extLst>
            </p:cNvPr>
            <p:cNvSpPr/>
            <p:nvPr/>
          </p:nvSpPr>
          <p:spPr>
            <a:xfrm rot="5400000">
              <a:off x="7128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" name="Google Shape;1085;p47">
              <a:extLst>
                <a:ext uri="{FF2B5EF4-FFF2-40B4-BE49-F238E27FC236}">
                  <a16:creationId xmlns:a16="http://schemas.microsoft.com/office/drawing/2014/main" id="{94FD1230-FCDA-A273-5E81-977CA743ED75}"/>
                </a:ext>
              </a:extLst>
            </p:cNvPr>
            <p:cNvSpPr/>
            <p:nvPr/>
          </p:nvSpPr>
          <p:spPr>
            <a:xfrm rot="5400000">
              <a:off x="4648138" y="2927550"/>
              <a:ext cx="722100" cy="20955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0" name="Google Shape;1086;p47">
              <a:extLst>
                <a:ext uri="{FF2B5EF4-FFF2-40B4-BE49-F238E27FC236}">
                  <a16:creationId xmlns:a16="http://schemas.microsoft.com/office/drawing/2014/main" id="{35814313-B7E9-9F1E-1E43-475D75FE02FE}"/>
                </a:ext>
              </a:extLst>
            </p:cNvPr>
            <p:cNvGrpSpPr/>
            <p:nvPr/>
          </p:nvGrpSpPr>
          <p:grpSpPr>
            <a:xfrm>
              <a:off x="811586" y="4486300"/>
              <a:ext cx="3148123" cy="261300"/>
              <a:chOff x="811586" y="4486300"/>
              <a:chExt cx="3148123" cy="261300"/>
            </a:xfrm>
          </p:grpSpPr>
          <p:cxnSp>
            <p:nvCxnSpPr>
              <p:cNvPr id="101" name="Google Shape;1087;p47">
                <a:extLst>
                  <a:ext uri="{FF2B5EF4-FFF2-40B4-BE49-F238E27FC236}">
                    <a16:creationId xmlns:a16="http://schemas.microsoft.com/office/drawing/2014/main" id="{3D779BFA-F307-A9C9-38BF-9C7E661458E5}"/>
                  </a:ext>
                </a:extLst>
              </p:cNvPr>
              <p:cNvCxnSpPr/>
              <p:nvPr/>
            </p:nvCxnSpPr>
            <p:spPr>
              <a:xfrm>
                <a:off x="811586" y="4616950"/>
                <a:ext cx="3148123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AA84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2" name="Google Shape;1088;p47">
                <a:extLst>
                  <a:ext uri="{FF2B5EF4-FFF2-40B4-BE49-F238E27FC236}">
                    <a16:creationId xmlns:a16="http://schemas.microsoft.com/office/drawing/2014/main" id="{409C06FE-5C24-8DEB-069A-1D3144010D70}"/>
                  </a:ext>
                </a:extLst>
              </p:cNvPr>
              <p:cNvSpPr txBox="1"/>
              <p:nvPr/>
            </p:nvSpPr>
            <p:spPr>
              <a:xfrm>
                <a:off x="1636750" y="4486300"/>
                <a:ext cx="13230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Sent and acked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3" name="Google Shape;1089;p47">
              <a:extLst>
                <a:ext uri="{FF2B5EF4-FFF2-40B4-BE49-F238E27FC236}">
                  <a16:creationId xmlns:a16="http://schemas.microsoft.com/office/drawing/2014/main" id="{264CF73B-163B-4025-CA1B-FC2C1AA099B3}"/>
                </a:ext>
              </a:extLst>
            </p:cNvPr>
            <p:cNvSpPr/>
            <p:nvPr/>
          </p:nvSpPr>
          <p:spPr>
            <a:xfrm rot="5400000">
              <a:off x="10626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" name="Google Shape;1090;p47">
              <a:extLst>
                <a:ext uri="{FF2B5EF4-FFF2-40B4-BE49-F238E27FC236}">
                  <a16:creationId xmlns:a16="http://schemas.microsoft.com/office/drawing/2014/main" id="{6A7C1971-8B75-115A-FDE3-C6BB7DFCB506}"/>
                </a:ext>
              </a:extLst>
            </p:cNvPr>
            <p:cNvSpPr/>
            <p:nvPr/>
          </p:nvSpPr>
          <p:spPr>
            <a:xfrm rot="5400000">
              <a:off x="12375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" name="Google Shape;1091;p47">
              <a:extLst>
                <a:ext uri="{FF2B5EF4-FFF2-40B4-BE49-F238E27FC236}">
                  <a16:creationId xmlns:a16="http://schemas.microsoft.com/office/drawing/2014/main" id="{E8D6AD03-D1D4-A7D5-D7E9-8243A4B853D8}"/>
                </a:ext>
              </a:extLst>
            </p:cNvPr>
            <p:cNvSpPr/>
            <p:nvPr/>
          </p:nvSpPr>
          <p:spPr>
            <a:xfrm rot="5400000">
              <a:off x="14124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92;p47">
              <a:extLst>
                <a:ext uri="{FF2B5EF4-FFF2-40B4-BE49-F238E27FC236}">
                  <a16:creationId xmlns:a16="http://schemas.microsoft.com/office/drawing/2014/main" id="{9883273D-2EDF-3E8A-4091-AF1BCBA5BB9A}"/>
                </a:ext>
              </a:extLst>
            </p:cNvPr>
            <p:cNvSpPr/>
            <p:nvPr/>
          </p:nvSpPr>
          <p:spPr>
            <a:xfrm rot="5400000">
              <a:off x="15873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7" name="Google Shape;1093;p47">
              <a:extLst>
                <a:ext uri="{FF2B5EF4-FFF2-40B4-BE49-F238E27FC236}">
                  <a16:creationId xmlns:a16="http://schemas.microsoft.com/office/drawing/2014/main" id="{D8C61FF6-3F4A-44FC-CBFA-8142F133AE41}"/>
                </a:ext>
              </a:extLst>
            </p:cNvPr>
            <p:cNvGrpSpPr/>
            <p:nvPr/>
          </p:nvGrpSpPr>
          <p:grpSpPr>
            <a:xfrm>
              <a:off x="6058568" y="4486300"/>
              <a:ext cx="2274030" cy="261300"/>
              <a:chOff x="6058568" y="4486300"/>
              <a:chExt cx="2274030" cy="261300"/>
            </a:xfrm>
          </p:grpSpPr>
          <p:cxnSp>
            <p:nvCxnSpPr>
              <p:cNvPr id="108" name="Google Shape;1094;p47">
                <a:extLst>
                  <a:ext uri="{FF2B5EF4-FFF2-40B4-BE49-F238E27FC236}">
                    <a16:creationId xmlns:a16="http://schemas.microsoft.com/office/drawing/2014/main" id="{2D99FD8B-2633-B94D-429A-243E8D01C36C}"/>
                  </a:ext>
                </a:extLst>
              </p:cNvPr>
              <p:cNvCxnSpPr/>
              <p:nvPr/>
            </p:nvCxnSpPr>
            <p:spPr>
              <a:xfrm>
                <a:off x="6058568" y="4616950"/>
                <a:ext cx="227403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9" name="Google Shape;1095;p47">
                <a:extLst>
                  <a:ext uri="{FF2B5EF4-FFF2-40B4-BE49-F238E27FC236}">
                    <a16:creationId xmlns:a16="http://schemas.microsoft.com/office/drawing/2014/main" id="{0BCCC370-CEE8-66C7-40FA-A2E9D913E22B}"/>
                  </a:ext>
                </a:extLst>
              </p:cNvPr>
              <p:cNvSpPr txBox="1"/>
              <p:nvPr/>
            </p:nvSpPr>
            <p:spPr>
              <a:xfrm>
                <a:off x="6687397" y="4486300"/>
                <a:ext cx="10161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999999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 sent yet</a:t>
                </a:r>
                <a:endParaRPr>
                  <a:solidFill>
                    <a:srgbClr val="9999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0" name="Google Shape;1096;p47">
              <a:extLst>
                <a:ext uri="{FF2B5EF4-FFF2-40B4-BE49-F238E27FC236}">
                  <a16:creationId xmlns:a16="http://schemas.microsoft.com/office/drawing/2014/main" id="{25C7B749-8C27-CC62-351E-BB05EF744ACD}"/>
                </a:ext>
              </a:extLst>
            </p:cNvPr>
            <p:cNvGrpSpPr/>
            <p:nvPr/>
          </p:nvGrpSpPr>
          <p:grpSpPr>
            <a:xfrm>
              <a:off x="3961443" y="4370050"/>
              <a:ext cx="2095500" cy="493800"/>
              <a:chOff x="3261268" y="4292900"/>
              <a:chExt cx="2095500" cy="493800"/>
            </a:xfrm>
          </p:grpSpPr>
          <p:cxnSp>
            <p:nvCxnSpPr>
              <p:cNvPr id="111" name="Google Shape;1097;p47">
                <a:extLst>
                  <a:ext uri="{FF2B5EF4-FFF2-40B4-BE49-F238E27FC236}">
                    <a16:creationId xmlns:a16="http://schemas.microsoft.com/office/drawing/2014/main" id="{3FB146CD-6B8B-D856-4EC8-DC4A4FCEAA60}"/>
                  </a:ext>
                </a:extLst>
              </p:cNvPr>
              <p:cNvCxnSpPr/>
              <p:nvPr/>
            </p:nvCxnSpPr>
            <p:spPr>
              <a:xfrm>
                <a:off x="3261268" y="4539800"/>
                <a:ext cx="209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12" name="Google Shape;1098;p47">
                <a:extLst>
                  <a:ext uri="{FF2B5EF4-FFF2-40B4-BE49-F238E27FC236}">
                    <a16:creationId xmlns:a16="http://schemas.microsoft.com/office/drawing/2014/main" id="{445B22DF-69CA-8AC0-1A9B-E428296C48ED}"/>
                  </a:ext>
                </a:extLst>
              </p:cNvPr>
              <p:cNvSpPr txBox="1"/>
              <p:nvPr/>
            </p:nvSpPr>
            <p:spPr>
              <a:xfrm>
                <a:off x="3940850" y="4292900"/>
                <a:ext cx="736500" cy="493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Window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i="1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</a:t>
                </a: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 bytes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cxnSp>
          <p:nvCxnSpPr>
            <p:cNvPr id="113" name="Google Shape;1099;p47">
              <a:extLst>
                <a:ext uri="{FF2B5EF4-FFF2-40B4-BE49-F238E27FC236}">
                  <a16:creationId xmlns:a16="http://schemas.microsoft.com/office/drawing/2014/main" id="{9A6C9439-9F66-60BB-561F-F7957159466E}"/>
                </a:ext>
              </a:extLst>
            </p:cNvPr>
            <p:cNvCxnSpPr>
              <a:stCxn id="73" idx="1"/>
              <a:endCxn id="114" idx="2"/>
            </p:cNvCxnSpPr>
            <p:nvPr/>
          </p:nvCxnSpPr>
          <p:spPr>
            <a:xfrm rot="10800000">
              <a:off x="4047238" y="3393150"/>
              <a:ext cx="0" cy="22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14" name="Google Shape;1100;p47">
              <a:extLst>
                <a:ext uri="{FF2B5EF4-FFF2-40B4-BE49-F238E27FC236}">
                  <a16:creationId xmlns:a16="http://schemas.microsoft.com/office/drawing/2014/main" id="{D3A05257-F008-4720-BC98-4AC713001E38}"/>
                </a:ext>
              </a:extLst>
            </p:cNvPr>
            <p:cNvSpPr txBox="1"/>
            <p:nvPr/>
          </p:nvSpPr>
          <p:spPr>
            <a:xfrm>
              <a:off x="3294700" y="3131722"/>
              <a:ext cx="1505100" cy="2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First unacked byte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382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1C58-97A6-252B-A51E-405666EF9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3308D969-F4EE-7944-E3FB-E35F3EE84941}"/>
              </a:ext>
            </a:extLst>
          </p:cNvPr>
          <p:cNvSpPr txBox="1">
            <a:spLocks/>
          </p:cNvSpPr>
          <p:nvPr/>
        </p:nvSpPr>
        <p:spPr>
          <a:xfrm>
            <a:off x="448235" y="125505"/>
            <a:ext cx="11295529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TCP Sliding Window and ACK</a:t>
            </a:r>
          </a:p>
        </p:txBody>
      </p:sp>
      <p:sp>
        <p:nvSpPr>
          <p:cNvPr id="3" name="Google Shape;1039;p46">
            <a:extLst>
              <a:ext uri="{FF2B5EF4-FFF2-40B4-BE49-F238E27FC236}">
                <a16:creationId xmlns:a16="http://schemas.microsoft.com/office/drawing/2014/main" id="{F32AC182-14FA-94F3-9C83-CAE25BB34EC5}"/>
              </a:ext>
            </a:extLst>
          </p:cNvPr>
          <p:cNvSpPr txBox="1">
            <a:spLocks/>
          </p:cNvSpPr>
          <p:nvPr/>
        </p:nvSpPr>
        <p:spPr>
          <a:xfrm>
            <a:off x="448234" y="950257"/>
            <a:ext cx="11295529" cy="3444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When we measured in packets, </a:t>
            </a:r>
            <a:r>
              <a:rPr lang="en-US" sz="2400" i="1" dirty="0"/>
              <a:t>W</a:t>
            </a:r>
            <a:r>
              <a:rPr lang="en-US" sz="2400" dirty="0"/>
              <a:t> was the maximum number of </a:t>
            </a:r>
            <a:r>
              <a:rPr lang="en-US" sz="2400" b="1" dirty="0"/>
              <a:t>packets</a:t>
            </a:r>
            <a:r>
              <a:rPr lang="en-US" sz="2400" dirty="0"/>
              <a:t> in flight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When we measure in bytes, </a:t>
            </a:r>
            <a:r>
              <a:rPr lang="en-US" sz="2400" i="1" dirty="0"/>
              <a:t>W</a:t>
            </a:r>
            <a:r>
              <a:rPr lang="en-US" sz="2400" dirty="0"/>
              <a:t> is the maximum number of </a:t>
            </a:r>
            <a:r>
              <a:rPr lang="en-US" sz="2400" i="1" dirty="0"/>
              <a:t>contiguous</a:t>
            </a:r>
            <a:r>
              <a:rPr lang="en-US" sz="2400" dirty="0"/>
              <a:t> </a:t>
            </a:r>
            <a:r>
              <a:rPr lang="en-US" sz="2400" b="1" dirty="0"/>
              <a:t>bytes</a:t>
            </a:r>
            <a:r>
              <a:rPr lang="en-US" sz="2400" dirty="0"/>
              <a:t> in flight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The window is a range of </a:t>
            </a:r>
            <a:r>
              <a:rPr lang="en-US" sz="2400" i="1" dirty="0"/>
              <a:t>W</a:t>
            </a:r>
            <a:r>
              <a:rPr lang="en-US" sz="2400" dirty="0"/>
              <a:t> contiguous bytes, starting at the </a:t>
            </a:r>
            <a:r>
              <a:rPr lang="en-US" sz="2400" dirty="0">
                <a:solidFill>
                  <a:srgbClr val="C00000"/>
                </a:solidFill>
              </a:rPr>
              <a:t>first unacked byte</a:t>
            </a:r>
            <a:endParaRPr lang="en-US" sz="2400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Only these </a:t>
            </a:r>
            <a:r>
              <a:rPr lang="en-US" sz="2400" i="1" dirty="0"/>
              <a:t>W</a:t>
            </a:r>
            <a:r>
              <a:rPr lang="en-US" sz="2400" dirty="0"/>
              <a:t> bytes are allowed to be in flight.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The window slides right if and only if its </a:t>
            </a:r>
            <a:r>
              <a:rPr lang="en-US" sz="2400" b="1" i="1" dirty="0"/>
              <a:t>leftmost</a:t>
            </a:r>
            <a:r>
              <a:rPr lang="en-US" sz="2400" b="1" dirty="0"/>
              <a:t> bytes are acked</a:t>
            </a:r>
            <a:endParaRPr lang="en-US" sz="2400" dirty="0"/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 err="1"/>
              <a:t>Acking</a:t>
            </a:r>
            <a:r>
              <a:rPr lang="en-US" sz="2400" dirty="0"/>
              <a:t> non-leftmost bytes in the window (e.g. 19–22) does not slide the window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The window is determined by the </a:t>
            </a:r>
            <a:r>
              <a:rPr lang="en-US" sz="2400" b="1" dirty="0">
                <a:solidFill>
                  <a:srgbClr val="C00000"/>
                </a:solidFill>
              </a:rPr>
              <a:t>first unacked byte </a:t>
            </a:r>
            <a:r>
              <a:rPr lang="en-US" sz="2400" dirty="0"/>
              <a:t>(e.g. still 15)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5A91E24-F6B1-9D26-9549-F35C1E4042BF}"/>
              </a:ext>
            </a:extLst>
          </p:cNvPr>
          <p:cNvGrpSpPr/>
          <p:nvPr/>
        </p:nvGrpSpPr>
        <p:grpSpPr>
          <a:xfrm>
            <a:off x="609598" y="4720815"/>
            <a:ext cx="10972800" cy="2011680"/>
            <a:chOff x="811588" y="3131722"/>
            <a:chExt cx="7521069" cy="1731178"/>
          </a:xfrm>
        </p:grpSpPr>
        <p:sp>
          <p:nvSpPr>
            <p:cNvPr id="4" name="Google Shape;1105;p48">
              <a:extLst>
                <a:ext uri="{FF2B5EF4-FFF2-40B4-BE49-F238E27FC236}">
                  <a16:creationId xmlns:a16="http://schemas.microsoft.com/office/drawing/2014/main" id="{5F9E4A82-60D6-C3CD-54FD-A689F579C82B}"/>
                </a:ext>
              </a:extLst>
            </p:cNvPr>
            <p:cNvSpPr/>
            <p:nvPr/>
          </p:nvSpPr>
          <p:spPr>
            <a:xfrm rot="5400000">
              <a:off x="75339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" name="Google Shape;1106;p48">
              <a:extLst>
                <a:ext uri="{FF2B5EF4-FFF2-40B4-BE49-F238E27FC236}">
                  <a16:creationId xmlns:a16="http://schemas.microsoft.com/office/drawing/2014/main" id="{8222A5B0-0A14-70E7-CA75-6D57E236922E}"/>
                </a:ext>
              </a:extLst>
            </p:cNvPr>
            <p:cNvSpPr/>
            <p:nvPr/>
          </p:nvSpPr>
          <p:spPr>
            <a:xfrm rot="5400000">
              <a:off x="8877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" name="Google Shape;1109;p48">
              <a:extLst>
                <a:ext uri="{FF2B5EF4-FFF2-40B4-BE49-F238E27FC236}">
                  <a16:creationId xmlns:a16="http://schemas.microsoft.com/office/drawing/2014/main" id="{D19084A9-14C4-AFC1-035B-0475914F3389}"/>
                </a:ext>
              </a:extLst>
            </p:cNvPr>
            <p:cNvSpPr/>
            <p:nvPr/>
          </p:nvSpPr>
          <p:spPr>
            <a:xfrm rot="5400000">
              <a:off x="17622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1110;p48">
              <a:extLst>
                <a:ext uri="{FF2B5EF4-FFF2-40B4-BE49-F238E27FC236}">
                  <a16:creationId xmlns:a16="http://schemas.microsoft.com/office/drawing/2014/main" id="{CC3ACA04-BB0F-3745-C8C2-7C35C61056D3}"/>
                </a:ext>
              </a:extLst>
            </p:cNvPr>
            <p:cNvSpPr/>
            <p:nvPr/>
          </p:nvSpPr>
          <p:spPr>
            <a:xfrm rot="5400000">
              <a:off x="19371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111;p48">
              <a:extLst>
                <a:ext uri="{FF2B5EF4-FFF2-40B4-BE49-F238E27FC236}">
                  <a16:creationId xmlns:a16="http://schemas.microsoft.com/office/drawing/2014/main" id="{9AA714A2-DFCC-27B6-C4A5-4C8B369FAEE6}"/>
                </a:ext>
              </a:extLst>
            </p:cNvPr>
            <p:cNvSpPr/>
            <p:nvPr/>
          </p:nvSpPr>
          <p:spPr>
            <a:xfrm rot="5400000">
              <a:off x="21120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112;p48">
              <a:extLst>
                <a:ext uri="{FF2B5EF4-FFF2-40B4-BE49-F238E27FC236}">
                  <a16:creationId xmlns:a16="http://schemas.microsoft.com/office/drawing/2014/main" id="{323D4000-FBEA-A43A-9BC2-3AB7CB51D3C2}"/>
                </a:ext>
              </a:extLst>
            </p:cNvPr>
            <p:cNvSpPr/>
            <p:nvPr/>
          </p:nvSpPr>
          <p:spPr>
            <a:xfrm rot="5400000">
              <a:off x="22869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1113;p48">
              <a:extLst>
                <a:ext uri="{FF2B5EF4-FFF2-40B4-BE49-F238E27FC236}">
                  <a16:creationId xmlns:a16="http://schemas.microsoft.com/office/drawing/2014/main" id="{F10013E3-E0A5-550C-06E3-E2936D91930A}"/>
                </a:ext>
              </a:extLst>
            </p:cNvPr>
            <p:cNvSpPr/>
            <p:nvPr/>
          </p:nvSpPr>
          <p:spPr>
            <a:xfrm rot="5400000">
              <a:off x="24618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1114;p48">
              <a:extLst>
                <a:ext uri="{FF2B5EF4-FFF2-40B4-BE49-F238E27FC236}">
                  <a16:creationId xmlns:a16="http://schemas.microsoft.com/office/drawing/2014/main" id="{EC8C2E11-CAFF-3B2E-2885-7CFB3DA8C715}"/>
                </a:ext>
              </a:extLst>
            </p:cNvPr>
            <p:cNvSpPr/>
            <p:nvPr/>
          </p:nvSpPr>
          <p:spPr>
            <a:xfrm rot="5400000">
              <a:off x="26367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" name="Google Shape;1115;p48">
              <a:extLst>
                <a:ext uri="{FF2B5EF4-FFF2-40B4-BE49-F238E27FC236}">
                  <a16:creationId xmlns:a16="http://schemas.microsoft.com/office/drawing/2014/main" id="{11CCDE54-E74C-D755-47CD-F65503239B82}"/>
                </a:ext>
              </a:extLst>
            </p:cNvPr>
            <p:cNvSpPr/>
            <p:nvPr/>
          </p:nvSpPr>
          <p:spPr>
            <a:xfrm rot="5400000">
              <a:off x="28116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1116;p48">
              <a:extLst>
                <a:ext uri="{FF2B5EF4-FFF2-40B4-BE49-F238E27FC236}">
                  <a16:creationId xmlns:a16="http://schemas.microsoft.com/office/drawing/2014/main" id="{AC5A8B3F-EB74-65D5-F58F-D220E9A88EBF}"/>
                </a:ext>
              </a:extLst>
            </p:cNvPr>
            <p:cNvSpPr/>
            <p:nvPr/>
          </p:nvSpPr>
          <p:spPr>
            <a:xfrm rot="5400000">
              <a:off x="29865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1117;p48">
              <a:extLst>
                <a:ext uri="{FF2B5EF4-FFF2-40B4-BE49-F238E27FC236}">
                  <a16:creationId xmlns:a16="http://schemas.microsoft.com/office/drawing/2014/main" id="{ECE9BCAE-4CE3-F56B-5ACB-249A4C65F450}"/>
                </a:ext>
              </a:extLst>
            </p:cNvPr>
            <p:cNvSpPr/>
            <p:nvPr/>
          </p:nvSpPr>
          <p:spPr>
            <a:xfrm rot="5400000">
              <a:off x="31614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118;p48">
              <a:extLst>
                <a:ext uri="{FF2B5EF4-FFF2-40B4-BE49-F238E27FC236}">
                  <a16:creationId xmlns:a16="http://schemas.microsoft.com/office/drawing/2014/main" id="{9546906F-166E-E38B-FEBA-A3D401D4E1A6}"/>
                </a:ext>
              </a:extLst>
            </p:cNvPr>
            <p:cNvSpPr/>
            <p:nvPr/>
          </p:nvSpPr>
          <p:spPr>
            <a:xfrm rot="5400000">
              <a:off x="33363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1119;p48">
              <a:extLst>
                <a:ext uri="{FF2B5EF4-FFF2-40B4-BE49-F238E27FC236}">
                  <a16:creationId xmlns:a16="http://schemas.microsoft.com/office/drawing/2014/main" id="{E0082E94-7188-C95B-44A9-E7B9EE1AF810}"/>
                </a:ext>
              </a:extLst>
            </p:cNvPr>
            <p:cNvSpPr/>
            <p:nvPr/>
          </p:nvSpPr>
          <p:spPr>
            <a:xfrm rot="5400000">
              <a:off x="35112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120;p48">
              <a:extLst>
                <a:ext uri="{FF2B5EF4-FFF2-40B4-BE49-F238E27FC236}">
                  <a16:creationId xmlns:a16="http://schemas.microsoft.com/office/drawing/2014/main" id="{E86DBBBB-CAE4-A8AF-2142-112F12A81A65}"/>
                </a:ext>
              </a:extLst>
            </p:cNvPr>
            <p:cNvSpPr/>
            <p:nvPr/>
          </p:nvSpPr>
          <p:spPr>
            <a:xfrm rot="5400000">
              <a:off x="36861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121;p48">
              <a:extLst>
                <a:ext uri="{FF2B5EF4-FFF2-40B4-BE49-F238E27FC236}">
                  <a16:creationId xmlns:a16="http://schemas.microsoft.com/office/drawing/2014/main" id="{C384323A-4CCD-E30A-334C-833A64AD8B3A}"/>
                </a:ext>
              </a:extLst>
            </p:cNvPr>
            <p:cNvSpPr/>
            <p:nvPr/>
          </p:nvSpPr>
          <p:spPr>
            <a:xfrm rot="5400000">
              <a:off x="38610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1122;p48">
              <a:extLst>
                <a:ext uri="{FF2B5EF4-FFF2-40B4-BE49-F238E27FC236}">
                  <a16:creationId xmlns:a16="http://schemas.microsoft.com/office/drawing/2014/main" id="{53CC76D8-0BE8-AE81-81E7-E1964BA70F26}"/>
                </a:ext>
              </a:extLst>
            </p:cNvPr>
            <p:cNvSpPr/>
            <p:nvPr/>
          </p:nvSpPr>
          <p:spPr>
            <a:xfrm rot="5400000">
              <a:off x="40359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1123;p48">
              <a:extLst>
                <a:ext uri="{FF2B5EF4-FFF2-40B4-BE49-F238E27FC236}">
                  <a16:creationId xmlns:a16="http://schemas.microsoft.com/office/drawing/2014/main" id="{C8D1C96C-00D6-30F3-F8D6-E8E2298C25E9}"/>
                </a:ext>
              </a:extLst>
            </p:cNvPr>
            <p:cNvSpPr/>
            <p:nvPr/>
          </p:nvSpPr>
          <p:spPr>
            <a:xfrm rot="5400000">
              <a:off x="42108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1124;p48">
              <a:extLst>
                <a:ext uri="{FF2B5EF4-FFF2-40B4-BE49-F238E27FC236}">
                  <a16:creationId xmlns:a16="http://schemas.microsoft.com/office/drawing/2014/main" id="{A53C2463-0F89-8169-A864-20FF628107D3}"/>
                </a:ext>
              </a:extLst>
            </p:cNvPr>
            <p:cNvSpPr/>
            <p:nvPr/>
          </p:nvSpPr>
          <p:spPr>
            <a:xfrm rot="5400000">
              <a:off x="43857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1125;p48">
              <a:extLst>
                <a:ext uri="{FF2B5EF4-FFF2-40B4-BE49-F238E27FC236}">
                  <a16:creationId xmlns:a16="http://schemas.microsoft.com/office/drawing/2014/main" id="{79FECB4F-71F2-6454-8C2B-DBAA196ADB60}"/>
                </a:ext>
              </a:extLst>
            </p:cNvPr>
            <p:cNvSpPr/>
            <p:nvPr/>
          </p:nvSpPr>
          <p:spPr>
            <a:xfrm rot="5400000">
              <a:off x="45606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1126;p48">
              <a:extLst>
                <a:ext uri="{FF2B5EF4-FFF2-40B4-BE49-F238E27FC236}">
                  <a16:creationId xmlns:a16="http://schemas.microsoft.com/office/drawing/2014/main" id="{9A334471-5CA2-3DEA-6444-47AD80E093C5}"/>
                </a:ext>
              </a:extLst>
            </p:cNvPr>
            <p:cNvSpPr/>
            <p:nvPr/>
          </p:nvSpPr>
          <p:spPr>
            <a:xfrm rot="5400000">
              <a:off x="47355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" name="Google Shape;1127;p48">
              <a:extLst>
                <a:ext uri="{FF2B5EF4-FFF2-40B4-BE49-F238E27FC236}">
                  <a16:creationId xmlns:a16="http://schemas.microsoft.com/office/drawing/2014/main" id="{1592C79F-1ED8-B3C3-125F-89F0D71CA18E}"/>
                </a:ext>
              </a:extLst>
            </p:cNvPr>
            <p:cNvSpPr/>
            <p:nvPr/>
          </p:nvSpPr>
          <p:spPr>
            <a:xfrm rot="5400000">
              <a:off x="49104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1128;p48">
              <a:extLst>
                <a:ext uri="{FF2B5EF4-FFF2-40B4-BE49-F238E27FC236}">
                  <a16:creationId xmlns:a16="http://schemas.microsoft.com/office/drawing/2014/main" id="{AA4409AE-A2D7-C61F-1678-6E7645F67981}"/>
                </a:ext>
              </a:extLst>
            </p:cNvPr>
            <p:cNvSpPr/>
            <p:nvPr/>
          </p:nvSpPr>
          <p:spPr>
            <a:xfrm rot="5400000">
              <a:off x="50853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1129;p48">
              <a:extLst>
                <a:ext uri="{FF2B5EF4-FFF2-40B4-BE49-F238E27FC236}">
                  <a16:creationId xmlns:a16="http://schemas.microsoft.com/office/drawing/2014/main" id="{740BD90D-E300-A06C-6D91-5FB931E7E068}"/>
                </a:ext>
              </a:extLst>
            </p:cNvPr>
            <p:cNvSpPr/>
            <p:nvPr/>
          </p:nvSpPr>
          <p:spPr>
            <a:xfrm rot="5400000">
              <a:off x="52602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1130;p48">
              <a:extLst>
                <a:ext uri="{FF2B5EF4-FFF2-40B4-BE49-F238E27FC236}">
                  <a16:creationId xmlns:a16="http://schemas.microsoft.com/office/drawing/2014/main" id="{5A2DE035-505B-A2F8-F59D-1AFE2E55DEA8}"/>
                </a:ext>
              </a:extLst>
            </p:cNvPr>
            <p:cNvSpPr/>
            <p:nvPr/>
          </p:nvSpPr>
          <p:spPr>
            <a:xfrm rot="5400000">
              <a:off x="54351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" name="Google Shape;1131;p48">
              <a:extLst>
                <a:ext uri="{FF2B5EF4-FFF2-40B4-BE49-F238E27FC236}">
                  <a16:creationId xmlns:a16="http://schemas.microsoft.com/office/drawing/2014/main" id="{AE7E4ECB-20B8-20A6-E8D4-8986A8C97268}"/>
                </a:ext>
              </a:extLst>
            </p:cNvPr>
            <p:cNvSpPr/>
            <p:nvPr/>
          </p:nvSpPr>
          <p:spPr>
            <a:xfrm rot="5400000">
              <a:off x="56100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1132;p48">
              <a:extLst>
                <a:ext uri="{FF2B5EF4-FFF2-40B4-BE49-F238E27FC236}">
                  <a16:creationId xmlns:a16="http://schemas.microsoft.com/office/drawing/2014/main" id="{3B94D6D7-A3A7-A3BC-E3E4-931A1EFB4404}"/>
                </a:ext>
              </a:extLst>
            </p:cNvPr>
            <p:cNvSpPr/>
            <p:nvPr/>
          </p:nvSpPr>
          <p:spPr>
            <a:xfrm rot="5400000">
              <a:off x="57849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" name="Google Shape;1133;p48">
              <a:extLst>
                <a:ext uri="{FF2B5EF4-FFF2-40B4-BE49-F238E27FC236}">
                  <a16:creationId xmlns:a16="http://schemas.microsoft.com/office/drawing/2014/main" id="{88186646-D9C5-5160-1903-DBD6F37DD361}"/>
                </a:ext>
              </a:extLst>
            </p:cNvPr>
            <p:cNvSpPr/>
            <p:nvPr/>
          </p:nvSpPr>
          <p:spPr>
            <a:xfrm rot="5400000">
              <a:off x="59598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" name="Google Shape;1134;p48">
              <a:extLst>
                <a:ext uri="{FF2B5EF4-FFF2-40B4-BE49-F238E27FC236}">
                  <a16:creationId xmlns:a16="http://schemas.microsoft.com/office/drawing/2014/main" id="{94E8F915-4847-C244-BBE7-6D51EB917838}"/>
                </a:ext>
              </a:extLst>
            </p:cNvPr>
            <p:cNvSpPr/>
            <p:nvPr/>
          </p:nvSpPr>
          <p:spPr>
            <a:xfrm rot="5400000">
              <a:off x="61347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" name="Google Shape;1135;p48">
              <a:extLst>
                <a:ext uri="{FF2B5EF4-FFF2-40B4-BE49-F238E27FC236}">
                  <a16:creationId xmlns:a16="http://schemas.microsoft.com/office/drawing/2014/main" id="{FBB1CD5E-D886-EFC8-435D-11FD115E7222}"/>
                </a:ext>
              </a:extLst>
            </p:cNvPr>
            <p:cNvSpPr/>
            <p:nvPr/>
          </p:nvSpPr>
          <p:spPr>
            <a:xfrm rot="5400000">
              <a:off x="63096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" name="Google Shape;1136;p48">
              <a:extLst>
                <a:ext uri="{FF2B5EF4-FFF2-40B4-BE49-F238E27FC236}">
                  <a16:creationId xmlns:a16="http://schemas.microsoft.com/office/drawing/2014/main" id="{43D3B008-1387-A7BA-FE2B-C6912B0F797D}"/>
                </a:ext>
              </a:extLst>
            </p:cNvPr>
            <p:cNvSpPr/>
            <p:nvPr/>
          </p:nvSpPr>
          <p:spPr>
            <a:xfrm rot="5400000">
              <a:off x="64845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" name="Google Shape;1137;p48">
              <a:extLst>
                <a:ext uri="{FF2B5EF4-FFF2-40B4-BE49-F238E27FC236}">
                  <a16:creationId xmlns:a16="http://schemas.microsoft.com/office/drawing/2014/main" id="{AE7EFB2B-D706-53E6-E3C9-566A48D73790}"/>
                </a:ext>
              </a:extLst>
            </p:cNvPr>
            <p:cNvSpPr/>
            <p:nvPr/>
          </p:nvSpPr>
          <p:spPr>
            <a:xfrm rot="5400000">
              <a:off x="66594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" name="Google Shape;1138;p48">
              <a:extLst>
                <a:ext uri="{FF2B5EF4-FFF2-40B4-BE49-F238E27FC236}">
                  <a16:creationId xmlns:a16="http://schemas.microsoft.com/office/drawing/2014/main" id="{46684028-012A-F926-1C26-63380765ACB9}"/>
                </a:ext>
              </a:extLst>
            </p:cNvPr>
            <p:cNvSpPr/>
            <p:nvPr/>
          </p:nvSpPr>
          <p:spPr>
            <a:xfrm rot="5400000">
              <a:off x="68343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" name="Google Shape;1139;p48">
              <a:extLst>
                <a:ext uri="{FF2B5EF4-FFF2-40B4-BE49-F238E27FC236}">
                  <a16:creationId xmlns:a16="http://schemas.microsoft.com/office/drawing/2014/main" id="{FB32EAAC-E79B-8AC1-0F77-BBE97CDE2F06}"/>
                </a:ext>
              </a:extLst>
            </p:cNvPr>
            <p:cNvSpPr/>
            <p:nvPr/>
          </p:nvSpPr>
          <p:spPr>
            <a:xfrm rot="5400000">
              <a:off x="70092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Google Shape;1140;p48">
              <a:extLst>
                <a:ext uri="{FF2B5EF4-FFF2-40B4-BE49-F238E27FC236}">
                  <a16:creationId xmlns:a16="http://schemas.microsoft.com/office/drawing/2014/main" id="{4BDF22B5-C567-638D-4D29-702E9650A8AC}"/>
                </a:ext>
              </a:extLst>
            </p:cNvPr>
            <p:cNvSpPr/>
            <p:nvPr/>
          </p:nvSpPr>
          <p:spPr>
            <a:xfrm rot="5400000">
              <a:off x="71841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" name="Google Shape;1141;p48">
              <a:extLst>
                <a:ext uri="{FF2B5EF4-FFF2-40B4-BE49-F238E27FC236}">
                  <a16:creationId xmlns:a16="http://schemas.microsoft.com/office/drawing/2014/main" id="{0459B112-B4EF-5784-A22F-A4B9E15D7049}"/>
                </a:ext>
              </a:extLst>
            </p:cNvPr>
            <p:cNvSpPr/>
            <p:nvPr/>
          </p:nvSpPr>
          <p:spPr>
            <a:xfrm rot="5400000">
              <a:off x="73590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" name="Google Shape;1142;p48">
              <a:extLst>
                <a:ext uri="{FF2B5EF4-FFF2-40B4-BE49-F238E27FC236}">
                  <a16:creationId xmlns:a16="http://schemas.microsoft.com/office/drawing/2014/main" id="{A9D8407E-495E-0FF5-0F07-5D7BC7E5EEC4}"/>
                </a:ext>
              </a:extLst>
            </p:cNvPr>
            <p:cNvSpPr/>
            <p:nvPr/>
          </p:nvSpPr>
          <p:spPr>
            <a:xfrm rot="5400000">
              <a:off x="77088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" name="Google Shape;1143;p48">
              <a:extLst>
                <a:ext uri="{FF2B5EF4-FFF2-40B4-BE49-F238E27FC236}">
                  <a16:creationId xmlns:a16="http://schemas.microsoft.com/office/drawing/2014/main" id="{D8AC04D0-7850-E618-58A0-8CC5573AB8BB}"/>
                </a:ext>
              </a:extLst>
            </p:cNvPr>
            <p:cNvSpPr/>
            <p:nvPr/>
          </p:nvSpPr>
          <p:spPr>
            <a:xfrm rot="5400000">
              <a:off x="78837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" name="Google Shape;1144;p48">
              <a:extLst>
                <a:ext uri="{FF2B5EF4-FFF2-40B4-BE49-F238E27FC236}">
                  <a16:creationId xmlns:a16="http://schemas.microsoft.com/office/drawing/2014/main" id="{A95896FE-CB15-4221-52C4-305A2E028E92}"/>
                </a:ext>
              </a:extLst>
            </p:cNvPr>
            <p:cNvSpPr/>
            <p:nvPr/>
          </p:nvSpPr>
          <p:spPr>
            <a:xfrm rot="5400000">
              <a:off x="5379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" name="Google Shape;1145;p48">
              <a:extLst>
                <a:ext uri="{FF2B5EF4-FFF2-40B4-BE49-F238E27FC236}">
                  <a16:creationId xmlns:a16="http://schemas.microsoft.com/office/drawing/2014/main" id="{CF17A2BE-5BA4-AD90-7AFF-7BE0F341BEAE}"/>
                </a:ext>
              </a:extLst>
            </p:cNvPr>
            <p:cNvSpPr/>
            <p:nvPr/>
          </p:nvSpPr>
          <p:spPr>
            <a:xfrm rot="5400000">
              <a:off x="7128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" name="Google Shape;1146;p48">
              <a:extLst>
                <a:ext uri="{FF2B5EF4-FFF2-40B4-BE49-F238E27FC236}">
                  <a16:creationId xmlns:a16="http://schemas.microsoft.com/office/drawing/2014/main" id="{BA6F6F22-CB10-2CA3-5E04-B0E4C249BF39}"/>
                </a:ext>
              </a:extLst>
            </p:cNvPr>
            <p:cNvSpPr/>
            <p:nvPr/>
          </p:nvSpPr>
          <p:spPr>
            <a:xfrm rot="5400000">
              <a:off x="3948538" y="2927550"/>
              <a:ext cx="722100" cy="20955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4" name="Google Shape;1147;p48">
              <a:extLst>
                <a:ext uri="{FF2B5EF4-FFF2-40B4-BE49-F238E27FC236}">
                  <a16:creationId xmlns:a16="http://schemas.microsoft.com/office/drawing/2014/main" id="{E696A7BF-FC9B-08F0-F45E-E90AF8A3C396}"/>
                </a:ext>
              </a:extLst>
            </p:cNvPr>
            <p:cNvGrpSpPr/>
            <p:nvPr/>
          </p:nvGrpSpPr>
          <p:grpSpPr>
            <a:xfrm>
              <a:off x="811588" y="4486300"/>
              <a:ext cx="2393100" cy="261300"/>
              <a:chOff x="451750" y="1912600"/>
              <a:chExt cx="2393100" cy="261300"/>
            </a:xfrm>
          </p:grpSpPr>
          <p:cxnSp>
            <p:nvCxnSpPr>
              <p:cNvPr id="45" name="Google Shape;1148;p48">
                <a:extLst>
                  <a:ext uri="{FF2B5EF4-FFF2-40B4-BE49-F238E27FC236}">
                    <a16:creationId xmlns:a16="http://schemas.microsoft.com/office/drawing/2014/main" id="{20DC05E0-4F12-1A68-3989-385E8283B7ED}"/>
                  </a:ext>
                </a:extLst>
              </p:cNvPr>
              <p:cNvCxnSpPr/>
              <p:nvPr/>
            </p:nvCxnSpPr>
            <p:spPr>
              <a:xfrm>
                <a:off x="451750" y="2043250"/>
                <a:ext cx="23931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AA84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46" name="Google Shape;1149;p48">
                <a:extLst>
                  <a:ext uri="{FF2B5EF4-FFF2-40B4-BE49-F238E27FC236}">
                    <a16:creationId xmlns:a16="http://schemas.microsoft.com/office/drawing/2014/main" id="{C01DBF7F-382D-6494-231A-FB159C2E3818}"/>
                  </a:ext>
                </a:extLst>
              </p:cNvPr>
              <p:cNvSpPr txBox="1"/>
              <p:nvPr/>
            </p:nvSpPr>
            <p:spPr>
              <a:xfrm>
                <a:off x="1007800" y="1912600"/>
                <a:ext cx="12810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Sent and acked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" name="Google Shape;1150;p48">
              <a:extLst>
                <a:ext uri="{FF2B5EF4-FFF2-40B4-BE49-F238E27FC236}">
                  <a16:creationId xmlns:a16="http://schemas.microsoft.com/office/drawing/2014/main" id="{1A85F824-78F2-AE28-46B0-17A662440581}"/>
                </a:ext>
              </a:extLst>
            </p:cNvPr>
            <p:cNvSpPr/>
            <p:nvPr/>
          </p:nvSpPr>
          <p:spPr>
            <a:xfrm rot="5400000">
              <a:off x="10626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" name="Google Shape;1151;p48">
              <a:extLst>
                <a:ext uri="{FF2B5EF4-FFF2-40B4-BE49-F238E27FC236}">
                  <a16:creationId xmlns:a16="http://schemas.microsoft.com/office/drawing/2014/main" id="{D0B84F0C-E87F-19E5-49CD-8A00091E6759}"/>
                </a:ext>
              </a:extLst>
            </p:cNvPr>
            <p:cNvSpPr/>
            <p:nvPr/>
          </p:nvSpPr>
          <p:spPr>
            <a:xfrm rot="5400000">
              <a:off x="12375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" name="Google Shape;1152;p48">
              <a:extLst>
                <a:ext uri="{FF2B5EF4-FFF2-40B4-BE49-F238E27FC236}">
                  <a16:creationId xmlns:a16="http://schemas.microsoft.com/office/drawing/2014/main" id="{D02C5923-60B1-47B6-C298-03EEAC550800}"/>
                </a:ext>
              </a:extLst>
            </p:cNvPr>
            <p:cNvSpPr/>
            <p:nvPr/>
          </p:nvSpPr>
          <p:spPr>
            <a:xfrm rot="5400000">
              <a:off x="14124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" name="Google Shape;1153;p48">
              <a:extLst>
                <a:ext uri="{FF2B5EF4-FFF2-40B4-BE49-F238E27FC236}">
                  <a16:creationId xmlns:a16="http://schemas.microsoft.com/office/drawing/2014/main" id="{8EA8A968-460B-2921-2231-B178BD4BA31D}"/>
                </a:ext>
              </a:extLst>
            </p:cNvPr>
            <p:cNvSpPr/>
            <p:nvPr/>
          </p:nvSpPr>
          <p:spPr>
            <a:xfrm rot="5400000">
              <a:off x="15873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1" name="Google Shape;1154;p48">
              <a:extLst>
                <a:ext uri="{FF2B5EF4-FFF2-40B4-BE49-F238E27FC236}">
                  <a16:creationId xmlns:a16="http://schemas.microsoft.com/office/drawing/2014/main" id="{84D881F4-36F0-FABE-4863-22DB16246E93}"/>
                </a:ext>
              </a:extLst>
            </p:cNvPr>
            <p:cNvGrpSpPr/>
            <p:nvPr/>
          </p:nvGrpSpPr>
          <p:grpSpPr>
            <a:xfrm>
              <a:off x="5413495" y="4486300"/>
              <a:ext cx="2919162" cy="261300"/>
              <a:chOff x="4996875" y="1912600"/>
              <a:chExt cx="2975700" cy="261300"/>
            </a:xfrm>
          </p:grpSpPr>
          <p:cxnSp>
            <p:nvCxnSpPr>
              <p:cNvPr id="52" name="Google Shape;1155;p48">
                <a:extLst>
                  <a:ext uri="{FF2B5EF4-FFF2-40B4-BE49-F238E27FC236}">
                    <a16:creationId xmlns:a16="http://schemas.microsoft.com/office/drawing/2014/main" id="{BB652666-CB22-54ED-CBD0-F4459F17B45B}"/>
                  </a:ext>
                </a:extLst>
              </p:cNvPr>
              <p:cNvCxnSpPr/>
              <p:nvPr/>
            </p:nvCxnSpPr>
            <p:spPr>
              <a:xfrm>
                <a:off x="4996875" y="2043250"/>
                <a:ext cx="2975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53" name="Google Shape;1156;p48">
                <a:extLst>
                  <a:ext uri="{FF2B5EF4-FFF2-40B4-BE49-F238E27FC236}">
                    <a16:creationId xmlns:a16="http://schemas.microsoft.com/office/drawing/2014/main" id="{00C59F08-DD65-2387-5E1C-2AEE4C96D471}"/>
                  </a:ext>
                </a:extLst>
              </p:cNvPr>
              <p:cNvSpPr txBox="1"/>
              <p:nvPr/>
            </p:nvSpPr>
            <p:spPr>
              <a:xfrm>
                <a:off x="5955972" y="1912600"/>
                <a:ext cx="10575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999999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 sent yet</a:t>
                </a:r>
                <a:endParaRPr>
                  <a:solidFill>
                    <a:srgbClr val="9999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4" name="Google Shape;1157;p48">
              <a:extLst>
                <a:ext uri="{FF2B5EF4-FFF2-40B4-BE49-F238E27FC236}">
                  <a16:creationId xmlns:a16="http://schemas.microsoft.com/office/drawing/2014/main" id="{7C6221FA-F7C2-A73B-5E45-32C411166F22}"/>
                </a:ext>
              </a:extLst>
            </p:cNvPr>
            <p:cNvGrpSpPr/>
            <p:nvPr/>
          </p:nvGrpSpPr>
          <p:grpSpPr>
            <a:xfrm>
              <a:off x="3261268" y="4369100"/>
              <a:ext cx="2095500" cy="493800"/>
              <a:chOff x="3261268" y="4292900"/>
              <a:chExt cx="2095500" cy="493800"/>
            </a:xfrm>
          </p:grpSpPr>
          <p:cxnSp>
            <p:nvCxnSpPr>
              <p:cNvPr id="55" name="Google Shape;1158;p48">
                <a:extLst>
                  <a:ext uri="{FF2B5EF4-FFF2-40B4-BE49-F238E27FC236}">
                    <a16:creationId xmlns:a16="http://schemas.microsoft.com/office/drawing/2014/main" id="{27DC369B-9C58-D2BA-370A-4D2C3BC3BD48}"/>
                  </a:ext>
                </a:extLst>
              </p:cNvPr>
              <p:cNvCxnSpPr/>
              <p:nvPr/>
            </p:nvCxnSpPr>
            <p:spPr>
              <a:xfrm>
                <a:off x="3261268" y="4539800"/>
                <a:ext cx="209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56" name="Google Shape;1159;p48">
                <a:extLst>
                  <a:ext uri="{FF2B5EF4-FFF2-40B4-BE49-F238E27FC236}">
                    <a16:creationId xmlns:a16="http://schemas.microsoft.com/office/drawing/2014/main" id="{980C377E-553B-BD8C-B06A-BC6A44EBEDE6}"/>
                  </a:ext>
                </a:extLst>
              </p:cNvPr>
              <p:cNvSpPr txBox="1"/>
              <p:nvPr/>
            </p:nvSpPr>
            <p:spPr>
              <a:xfrm>
                <a:off x="3940850" y="4292900"/>
                <a:ext cx="736500" cy="493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Window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i="1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</a:t>
                </a: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 bytes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cxnSp>
          <p:nvCxnSpPr>
            <p:cNvPr id="57" name="Google Shape;1160;p48">
              <a:extLst>
                <a:ext uri="{FF2B5EF4-FFF2-40B4-BE49-F238E27FC236}">
                  <a16:creationId xmlns:a16="http://schemas.microsoft.com/office/drawing/2014/main" id="{1BFAEECF-EA1B-66A7-9407-8C979175B02F}"/>
                </a:ext>
              </a:extLst>
            </p:cNvPr>
            <p:cNvCxnSpPr>
              <a:cxnSpLocks/>
              <a:stCxn id="13" idx="1"/>
              <a:endCxn id="58" idx="2"/>
            </p:cNvCxnSpPr>
            <p:nvPr/>
          </p:nvCxnSpPr>
          <p:spPr>
            <a:xfrm rot="10800000">
              <a:off x="3347638" y="3393150"/>
              <a:ext cx="0" cy="22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58" name="Google Shape;1161;p48">
              <a:extLst>
                <a:ext uri="{FF2B5EF4-FFF2-40B4-BE49-F238E27FC236}">
                  <a16:creationId xmlns:a16="http://schemas.microsoft.com/office/drawing/2014/main" id="{4422712C-3389-DF54-A95C-D70715F5D464}"/>
                </a:ext>
              </a:extLst>
            </p:cNvPr>
            <p:cNvSpPr txBox="1"/>
            <p:nvPr/>
          </p:nvSpPr>
          <p:spPr>
            <a:xfrm>
              <a:off x="2595100" y="3131722"/>
              <a:ext cx="1505100" cy="2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First unacked byte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3" name="Google Shape;1132;p74">
            <a:extLst>
              <a:ext uri="{FF2B5EF4-FFF2-40B4-BE49-F238E27FC236}">
                <a16:creationId xmlns:a16="http://schemas.microsoft.com/office/drawing/2014/main" id="{1B1C9D83-E5DF-12D0-04F9-B26B93A57DBE}"/>
              </a:ext>
            </a:extLst>
          </p:cNvPr>
          <p:cNvSpPr/>
          <p:nvPr/>
        </p:nvSpPr>
        <p:spPr>
          <a:xfrm>
            <a:off x="6133630" y="4390345"/>
            <a:ext cx="2498215" cy="447879"/>
          </a:xfrm>
          <a:prstGeom prst="wedgeRoundRectCallout">
            <a:avLst>
              <a:gd name="adj1" fmla="val -81282"/>
              <a:gd name="adj2" fmla="val 148837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ha</a:t>
            </a:r>
            <a:r>
              <a:rPr lang="en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t is ACK number?</a:t>
            </a:r>
            <a:endParaRPr b="1" dirty="0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0343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AAD8-AC94-2519-E399-31F0846A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3851BF5E-B613-3645-923D-C30A6B37052C}"/>
              </a:ext>
            </a:extLst>
          </p:cNvPr>
          <p:cNvSpPr txBox="1">
            <a:spLocks/>
          </p:cNvSpPr>
          <p:nvPr/>
        </p:nvSpPr>
        <p:spPr>
          <a:xfrm>
            <a:off x="448235" y="125505"/>
            <a:ext cx="11295529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TCP Sliding Window and Loss Detection</a:t>
            </a:r>
          </a:p>
        </p:txBody>
      </p:sp>
      <p:sp>
        <p:nvSpPr>
          <p:cNvPr id="3" name="Google Shape;1039;p46">
            <a:extLst>
              <a:ext uri="{FF2B5EF4-FFF2-40B4-BE49-F238E27FC236}">
                <a16:creationId xmlns:a16="http://schemas.microsoft.com/office/drawing/2014/main" id="{03C87553-4CEE-C0E3-53B6-5C4E75E512F4}"/>
              </a:ext>
            </a:extLst>
          </p:cNvPr>
          <p:cNvSpPr txBox="1">
            <a:spLocks/>
          </p:cNvSpPr>
          <p:nvPr/>
        </p:nvSpPr>
        <p:spPr>
          <a:xfrm>
            <a:off x="448234" y="950258"/>
            <a:ext cx="11295529" cy="2916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Two ways to detect loss and resend. We resend if either condition is true.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In both cases, we always </a:t>
            </a:r>
            <a:r>
              <a:rPr lang="en-US" sz="2400" dirty="0">
                <a:solidFill>
                  <a:srgbClr val="C00000"/>
                </a:solidFill>
              </a:rPr>
              <a:t>resend the first unacked packet </a:t>
            </a:r>
            <a:r>
              <a:rPr lang="en-US" sz="2400" dirty="0"/>
              <a:t>(leftmost part of window)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Ack-based: If 3 duplicate acks are received, resend.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Timer-based: Keep a single timer. If the timer expires, resend.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Set timer by estimating RTT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DB55C93-44A9-7E92-3B43-309FF0949777}"/>
              </a:ext>
            </a:extLst>
          </p:cNvPr>
          <p:cNvGrpSpPr/>
          <p:nvPr/>
        </p:nvGrpSpPr>
        <p:grpSpPr>
          <a:xfrm>
            <a:off x="609598" y="4537935"/>
            <a:ext cx="10972800" cy="2194560"/>
            <a:chOff x="811588" y="3023375"/>
            <a:chExt cx="7521069" cy="1839525"/>
          </a:xfrm>
        </p:grpSpPr>
        <p:sp>
          <p:nvSpPr>
            <p:cNvPr id="116" name="Google Shape;1229;p50">
              <a:extLst>
                <a:ext uri="{FF2B5EF4-FFF2-40B4-BE49-F238E27FC236}">
                  <a16:creationId xmlns:a16="http://schemas.microsoft.com/office/drawing/2014/main" id="{09424B3F-F9EC-46DC-F819-7CE9206F3A76}"/>
                </a:ext>
              </a:extLst>
            </p:cNvPr>
            <p:cNvSpPr/>
            <p:nvPr/>
          </p:nvSpPr>
          <p:spPr>
            <a:xfrm rot="5400000">
              <a:off x="75339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230;p50">
              <a:extLst>
                <a:ext uri="{FF2B5EF4-FFF2-40B4-BE49-F238E27FC236}">
                  <a16:creationId xmlns:a16="http://schemas.microsoft.com/office/drawing/2014/main" id="{193AC07F-7068-CA23-AFC6-112B7A3684F9}"/>
                </a:ext>
              </a:extLst>
            </p:cNvPr>
            <p:cNvSpPr/>
            <p:nvPr/>
          </p:nvSpPr>
          <p:spPr>
            <a:xfrm rot="5400000">
              <a:off x="8877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" name="Google Shape;1231;p50">
              <a:extLst>
                <a:ext uri="{FF2B5EF4-FFF2-40B4-BE49-F238E27FC236}">
                  <a16:creationId xmlns:a16="http://schemas.microsoft.com/office/drawing/2014/main" id="{940270CA-01E6-CA6E-7BA6-7FD1C098CBF7}"/>
                </a:ext>
              </a:extLst>
            </p:cNvPr>
            <p:cNvSpPr/>
            <p:nvPr/>
          </p:nvSpPr>
          <p:spPr>
            <a:xfrm rot="5400000">
              <a:off x="17622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" name="Google Shape;1232;p50">
              <a:extLst>
                <a:ext uri="{FF2B5EF4-FFF2-40B4-BE49-F238E27FC236}">
                  <a16:creationId xmlns:a16="http://schemas.microsoft.com/office/drawing/2014/main" id="{4578DA93-411F-1556-BE4E-25FA909206C3}"/>
                </a:ext>
              </a:extLst>
            </p:cNvPr>
            <p:cNvSpPr/>
            <p:nvPr/>
          </p:nvSpPr>
          <p:spPr>
            <a:xfrm rot="5400000">
              <a:off x="19371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" name="Google Shape;1233;p50">
              <a:extLst>
                <a:ext uri="{FF2B5EF4-FFF2-40B4-BE49-F238E27FC236}">
                  <a16:creationId xmlns:a16="http://schemas.microsoft.com/office/drawing/2014/main" id="{A8DC9657-4FE8-CE19-2770-B3EFB104FC05}"/>
                </a:ext>
              </a:extLst>
            </p:cNvPr>
            <p:cNvSpPr/>
            <p:nvPr/>
          </p:nvSpPr>
          <p:spPr>
            <a:xfrm rot="5400000">
              <a:off x="21120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34;p50">
              <a:extLst>
                <a:ext uri="{FF2B5EF4-FFF2-40B4-BE49-F238E27FC236}">
                  <a16:creationId xmlns:a16="http://schemas.microsoft.com/office/drawing/2014/main" id="{5C906C0B-6321-C795-711C-10E6E74C82E9}"/>
                </a:ext>
              </a:extLst>
            </p:cNvPr>
            <p:cNvSpPr/>
            <p:nvPr/>
          </p:nvSpPr>
          <p:spPr>
            <a:xfrm rot="5400000">
              <a:off x="22869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" name="Google Shape;1235;p50">
              <a:extLst>
                <a:ext uri="{FF2B5EF4-FFF2-40B4-BE49-F238E27FC236}">
                  <a16:creationId xmlns:a16="http://schemas.microsoft.com/office/drawing/2014/main" id="{2DD92310-53AB-E577-A47E-E2E63870AC73}"/>
                </a:ext>
              </a:extLst>
            </p:cNvPr>
            <p:cNvSpPr/>
            <p:nvPr/>
          </p:nvSpPr>
          <p:spPr>
            <a:xfrm rot="5400000">
              <a:off x="24618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6;p50">
              <a:extLst>
                <a:ext uri="{FF2B5EF4-FFF2-40B4-BE49-F238E27FC236}">
                  <a16:creationId xmlns:a16="http://schemas.microsoft.com/office/drawing/2014/main" id="{F364F272-A1E2-07A6-7874-BCC8283B0218}"/>
                </a:ext>
              </a:extLst>
            </p:cNvPr>
            <p:cNvSpPr/>
            <p:nvPr/>
          </p:nvSpPr>
          <p:spPr>
            <a:xfrm rot="5400000">
              <a:off x="26367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37;p50">
              <a:extLst>
                <a:ext uri="{FF2B5EF4-FFF2-40B4-BE49-F238E27FC236}">
                  <a16:creationId xmlns:a16="http://schemas.microsoft.com/office/drawing/2014/main" id="{FD60FEED-420D-B9E5-5DEF-57B0B6D7441A}"/>
                </a:ext>
              </a:extLst>
            </p:cNvPr>
            <p:cNvSpPr/>
            <p:nvPr/>
          </p:nvSpPr>
          <p:spPr>
            <a:xfrm rot="5400000">
              <a:off x="28116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38;p50">
              <a:extLst>
                <a:ext uri="{FF2B5EF4-FFF2-40B4-BE49-F238E27FC236}">
                  <a16:creationId xmlns:a16="http://schemas.microsoft.com/office/drawing/2014/main" id="{9BF1993C-CE00-22F2-F1D2-02E680A3DAD9}"/>
                </a:ext>
              </a:extLst>
            </p:cNvPr>
            <p:cNvSpPr/>
            <p:nvPr/>
          </p:nvSpPr>
          <p:spPr>
            <a:xfrm rot="5400000">
              <a:off x="2986588" y="3887850"/>
              <a:ext cx="722100" cy="1749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39;p50">
              <a:extLst>
                <a:ext uri="{FF2B5EF4-FFF2-40B4-BE49-F238E27FC236}">
                  <a16:creationId xmlns:a16="http://schemas.microsoft.com/office/drawing/2014/main" id="{82A71B42-D904-B935-F8BB-DD48F74FDDEF}"/>
                </a:ext>
              </a:extLst>
            </p:cNvPr>
            <p:cNvSpPr/>
            <p:nvPr/>
          </p:nvSpPr>
          <p:spPr>
            <a:xfrm rot="5400000">
              <a:off x="3161488" y="3887850"/>
              <a:ext cx="722100" cy="1749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40;p50">
              <a:extLst>
                <a:ext uri="{FF2B5EF4-FFF2-40B4-BE49-F238E27FC236}">
                  <a16:creationId xmlns:a16="http://schemas.microsoft.com/office/drawing/2014/main" id="{6B6EF24F-445F-958D-DF64-D57DE630BD5C}"/>
                </a:ext>
              </a:extLst>
            </p:cNvPr>
            <p:cNvSpPr/>
            <p:nvPr/>
          </p:nvSpPr>
          <p:spPr>
            <a:xfrm rot="5400000">
              <a:off x="3336388" y="3887850"/>
              <a:ext cx="722100" cy="1749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1241;p50">
              <a:extLst>
                <a:ext uri="{FF2B5EF4-FFF2-40B4-BE49-F238E27FC236}">
                  <a16:creationId xmlns:a16="http://schemas.microsoft.com/office/drawing/2014/main" id="{D1A50CD8-DA6C-A764-C7E2-51CA34DEDB06}"/>
                </a:ext>
              </a:extLst>
            </p:cNvPr>
            <p:cNvSpPr/>
            <p:nvPr/>
          </p:nvSpPr>
          <p:spPr>
            <a:xfrm rot="5400000">
              <a:off x="3511288" y="3887850"/>
              <a:ext cx="722100" cy="1749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42;p50">
              <a:extLst>
                <a:ext uri="{FF2B5EF4-FFF2-40B4-BE49-F238E27FC236}">
                  <a16:creationId xmlns:a16="http://schemas.microsoft.com/office/drawing/2014/main" id="{21A2A397-1F84-8B99-9BC5-F36DA6CF1F62}"/>
                </a:ext>
              </a:extLst>
            </p:cNvPr>
            <p:cNvSpPr/>
            <p:nvPr/>
          </p:nvSpPr>
          <p:spPr>
            <a:xfrm rot="5400000">
              <a:off x="36861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" name="Google Shape;1243;p50">
              <a:extLst>
                <a:ext uri="{FF2B5EF4-FFF2-40B4-BE49-F238E27FC236}">
                  <a16:creationId xmlns:a16="http://schemas.microsoft.com/office/drawing/2014/main" id="{CD080E9F-2C5B-CCAE-C9D7-D49F49C23AF3}"/>
                </a:ext>
              </a:extLst>
            </p:cNvPr>
            <p:cNvSpPr/>
            <p:nvPr/>
          </p:nvSpPr>
          <p:spPr>
            <a:xfrm rot="5400000">
              <a:off x="38610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" name="Google Shape;1244;p50">
              <a:extLst>
                <a:ext uri="{FF2B5EF4-FFF2-40B4-BE49-F238E27FC236}">
                  <a16:creationId xmlns:a16="http://schemas.microsoft.com/office/drawing/2014/main" id="{0FC56042-4FF7-1409-5F17-21673E6758A4}"/>
                </a:ext>
              </a:extLst>
            </p:cNvPr>
            <p:cNvSpPr/>
            <p:nvPr/>
          </p:nvSpPr>
          <p:spPr>
            <a:xfrm rot="5400000">
              <a:off x="40359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245;p50">
              <a:extLst>
                <a:ext uri="{FF2B5EF4-FFF2-40B4-BE49-F238E27FC236}">
                  <a16:creationId xmlns:a16="http://schemas.microsoft.com/office/drawing/2014/main" id="{74437D4C-B4A9-F68A-3E65-44DB9EFE88AA}"/>
                </a:ext>
              </a:extLst>
            </p:cNvPr>
            <p:cNvSpPr/>
            <p:nvPr/>
          </p:nvSpPr>
          <p:spPr>
            <a:xfrm rot="5400000">
              <a:off x="42108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1246;p50">
              <a:extLst>
                <a:ext uri="{FF2B5EF4-FFF2-40B4-BE49-F238E27FC236}">
                  <a16:creationId xmlns:a16="http://schemas.microsoft.com/office/drawing/2014/main" id="{6953DF5A-3648-62D1-58BA-FFD2CEF47842}"/>
                </a:ext>
              </a:extLst>
            </p:cNvPr>
            <p:cNvSpPr/>
            <p:nvPr/>
          </p:nvSpPr>
          <p:spPr>
            <a:xfrm rot="5400000">
              <a:off x="43857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247;p50">
              <a:extLst>
                <a:ext uri="{FF2B5EF4-FFF2-40B4-BE49-F238E27FC236}">
                  <a16:creationId xmlns:a16="http://schemas.microsoft.com/office/drawing/2014/main" id="{944E17F6-F808-6532-46AB-A2E5205397B9}"/>
                </a:ext>
              </a:extLst>
            </p:cNvPr>
            <p:cNvSpPr/>
            <p:nvPr/>
          </p:nvSpPr>
          <p:spPr>
            <a:xfrm rot="5400000">
              <a:off x="45606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248;p50">
              <a:extLst>
                <a:ext uri="{FF2B5EF4-FFF2-40B4-BE49-F238E27FC236}">
                  <a16:creationId xmlns:a16="http://schemas.microsoft.com/office/drawing/2014/main" id="{28CF1889-5AE3-EE7A-FF04-FC8E6343370E}"/>
                </a:ext>
              </a:extLst>
            </p:cNvPr>
            <p:cNvSpPr/>
            <p:nvPr/>
          </p:nvSpPr>
          <p:spPr>
            <a:xfrm rot="5400000">
              <a:off x="47355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249;p50">
              <a:extLst>
                <a:ext uri="{FF2B5EF4-FFF2-40B4-BE49-F238E27FC236}">
                  <a16:creationId xmlns:a16="http://schemas.microsoft.com/office/drawing/2014/main" id="{ADE26475-F263-DE0A-34BA-D99D585BA03B}"/>
                </a:ext>
              </a:extLst>
            </p:cNvPr>
            <p:cNvSpPr/>
            <p:nvPr/>
          </p:nvSpPr>
          <p:spPr>
            <a:xfrm rot="5400000">
              <a:off x="49104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250;p50">
              <a:extLst>
                <a:ext uri="{FF2B5EF4-FFF2-40B4-BE49-F238E27FC236}">
                  <a16:creationId xmlns:a16="http://schemas.microsoft.com/office/drawing/2014/main" id="{E6887FE4-9AFE-E16A-2789-EDBD1FE43437}"/>
                </a:ext>
              </a:extLst>
            </p:cNvPr>
            <p:cNvSpPr/>
            <p:nvPr/>
          </p:nvSpPr>
          <p:spPr>
            <a:xfrm rot="5400000">
              <a:off x="50853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251;p50">
              <a:extLst>
                <a:ext uri="{FF2B5EF4-FFF2-40B4-BE49-F238E27FC236}">
                  <a16:creationId xmlns:a16="http://schemas.microsoft.com/office/drawing/2014/main" id="{2EEA0BF6-87EA-CA6E-F533-6D46D97A1A04}"/>
                </a:ext>
              </a:extLst>
            </p:cNvPr>
            <p:cNvSpPr/>
            <p:nvPr/>
          </p:nvSpPr>
          <p:spPr>
            <a:xfrm rot="5400000">
              <a:off x="52602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" name="Google Shape;1252;p50">
              <a:extLst>
                <a:ext uri="{FF2B5EF4-FFF2-40B4-BE49-F238E27FC236}">
                  <a16:creationId xmlns:a16="http://schemas.microsoft.com/office/drawing/2014/main" id="{380F2057-2A47-9EC9-EFD2-FBFD144ABBF7}"/>
                </a:ext>
              </a:extLst>
            </p:cNvPr>
            <p:cNvSpPr/>
            <p:nvPr/>
          </p:nvSpPr>
          <p:spPr>
            <a:xfrm rot="5400000">
              <a:off x="54351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253;p50">
              <a:extLst>
                <a:ext uri="{FF2B5EF4-FFF2-40B4-BE49-F238E27FC236}">
                  <a16:creationId xmlns:a16="http://schemas.microsoft.com/office/drawing/2014/main" id="{CBC65238-773C-985F-AAAD-8B887519D8B7}"/>
                </a:ext>
              </a:extLst>
            </p:cNvPr>
            <p:cNvSpPr/>
            <p:nvPr/>
          </p:nvSpPr>
          <p:spPr>
            <a:xfrm rot="5400000">
              <a:off x="56100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" name="Google Shape;1254;p50">
              <a:extLst>
                <a:ext uri="{FF2B5EF4-FFF2-40B4-BE49-F238E27FC236}">
                  <a16:creationId xmlns:a16="http://schemas.microsoft.com/office/drawing/2014/main" id="{42A00AA8-A4D3-2A2D-B2C3-E65F0699EFF8}"/>
                </a:ext>
              </a:extLst>
            </p:cNvPr>
            <p:cNvSpPr/>
            <p:nvPr/>
          </p:nvSpPr>
          <p:spPr>
            <a:xfrm rot="5400000">
              <a:off x="57849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" name="Google Shape;1255;p50">
              <a:extLst>
                <a:ext uri="{FF2B5EF4-FFF2-40B4-BE49-F238E27FC236}">
                  <a16:creationId xmlns:a16="http://schemas.microsoft.com/office/drawing/2014/main" id="{DD7E99C2-857A-21AD-727F-C476242F2AD5}"/>
                </a:ext>
              </a:extLst>
            </p:cNvPr>
            <p:cNvSpPr/>
            <p:nvPr/>
          </p:nvSpPr>
          <p:spPr>
            <a:xfrm rot="5400000">
              <a:off x="59598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256;p50">
              <a:extLst>
                <a:ext uri="{FF2B5EF4-FFF2-40B4-BE49-F238E27FC236}">
                  <a16:creationId xmlns:a16="http://schemas.microsoft.com/office/drawing/2014/main" id="{C25F432B-2382-506B-8003-8E428646B57F}"/>
                </a:ext>
              </a:extLst>
            </p:cNvPr>
            <p:cNvSpPr/>
            <p:nvPr/>
          </p:nvSpPr>
          <p:spPr>
            <a:xfrm rot="5400000">
              <a:off x="61347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257;p50">
              <a:extLst>
                <a:ext uri="{FF2B5EF4-FFF2-40B4-BE49-F238E27FC236}">
                  <a16:creationId xmlns:a16="http://schemas.microsoft.com/office/drawing/2014/main" id="{95317DE6-CB86-ECB3-6F44-007CB69A09F2}"/>
                </a:ext>
              </a:extLst>
            </p:cNvPr>
            <p:cNvSpPr/>
            <p:nvPr/>
          </p:nvSpPr>
          <p:spPr>
            <a:xfrm rot="5400000">
              <a:off x="63096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258;p50">
              <a:extLst>
                <a:ext uri="{FF2B5EF4-FFF2-40B4-BE49-F238E27FC236}">
                  <a16:creationId xmlns:a16="http://schemas.microsoft.com/office/drawing/2014/main" id="{F3F3D73E-9E4A-8869-0426-3372B1C66580}"/>
                </a:ext>
              </a:extLst>
            </p:cNvPr>
            <p:cNvSpPr/>
            <p:nvPr/>
          </p:nvSpPr>
          <p:spPr>
            <a:xfrm rot="5400000">
              <a:off x="64845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259;p50">
              <a:extLst>
                <a:ext uri="{FF2B5EF4-FFF2-40B4-BE49-F238E27FC236}">
                  <a16:creationId xmlns:a16="http://schemas.microsoft.com/office/drawing/2014/main" id="{756C4C1D-00FE-750A-9851-6A8EFCF7EB98}"/>
                </a:ext>
              </a:extLst>
            </p:cNvPr>
            <p:cNvSpPr/>
            <p:nvPr/>
          </p:nvSpPr>
          <p:spPr>
            <a:xfrm rot="5400000">
              <a:off x="66594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260;p50">
              <a:extLst>
                <a:ext uri="{FF2B5EF4-FFF2-40B4-BE49-F238E27FC236}">
                  <a16:creationId xmlns:a16="http://schemas.microsoft.com/office/drawing/2014/main" id="{03908C5D-73D3-19BB-A92C-5693EA884B69}"/>
                </a:ext>
              </a:extLst>
            </p:cNvPr>
            <p:cNvSpPr/>
            <p:nvPr/>
          </p:nvSpPr>
          <p:spPr>
            <a:xfrm rot="5400000">
              <a:off x="68343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" name="Google Shape;1261;p50">
              <a:extLst>
                <a:ext uri="{FF2B5EF4-FFF2-40B4-BE49-F238E27FC236}">
                  <a16:creationId xmlns:a16="http://schemas.microsoft.com/office/drawing/2014/main" id="{AB3E589D-ABD4-1F4F-8CB7-0A908F379E2B}"/>
                </a:ext>
              </a:extLst>
            </p:cNvPr>
            <p:cNvSpPr/>
            <p:nvPr/>
          </p:nvSpPr>
          <p:spPr>
            <a:xfrm rot="5400000">
              <a:off x="70092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" name="Google Shape;1262;p50">
              <a:extLst>
                <a:ext uri="{FF2B5EF4-FFF2-40B4-BE49-F238E27FC236}">
                  <a16:creationId xmlns:a16="http://schemas.microsoft.com/office/drawing/2014/main" id="{CFA7C87A-940A-6395-1C17-318CBB8B0065}"/>
                </a:ext>
              </a:extLst>
            </p:cNvPr>
            <p:cNvSpPr/>
            <p:nvPr/>
          </p:nvSpPr>
          <p:spPr>
            <a:xfrm rot="5400000">
              <a:off x="71841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263;p50">
              <a:extLst>
                <a:ext uri="{FF2B5EF4-FFF2-40B4-BE49-F238E27FC236}">
                  <a16:creationId xmlns:a16="http://schemas.microsoft.com/office/drawing/2014/main" id="{5C1BD763-F469-B09C-EA22-417063789B23}"/>
                </a:ext>
              </a:extLst>
            </p:cNvPr>
            <p:cNvSpPr/>
            <p:nvPr/>
          </p:nvSpPr>
          <p:spPr>
            <a:xfrm rot="5400000">
              <a:off x="73590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" name="Google Shape;1264;p50">
              <a:extLst>
                <a:ext uri="{FF2B5EF4-FFF2-40B4-BE49-F238E27FC236}">
                  <a16:creationId xmlns:a16="http://schemas.microsoft.com/office/drawing/2014/main" id="{10DC0815-34D4-E79A-C8C1-0FC8FF26F6E6}"/>
                </a:ext>
              </a:extLst>
            </p:cNvPr>
            <p:cNvSpPr/>
            <p:nvPr/>
          </p:nvSpPr>
          <p:spPr>
            <a:xfrm rot="5400000">
              <a:off x="77088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265;p50">
              <a:extLst>
                <a:ext uri="{FF2B5EF4-FFF2-40B4-BE49-F238E27FC236}">
                  <a16:creationId xmlns:a16="http://schemas.microsoft.com/office/drawing/2014/main" id="{F7991E73-86A3-8E5D-B63F-DA1289DF340C}"/>
                </a:ext>
              </a:extLst>
            </p:cNvPr>
            <p:cNvSpPr/>
            <p:nvPr/>
          </p:nvSpPr>
          <p:spPr>
            <a:xfrm rot="5400000">
              <a:off x="78837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" name="Google Shape;1266;p50">
              <a:extLst>
                <a:ext uri="{FF2B5EF4-FFF2-40B4-BE49-F238E27FC236}">
                  <a16:creationId xmlns:a16="http://schemas.microsoft.com/office/drawing/2014/main" id="{DA4214B8-CB0E-CA55-D40C-1D85D191E6F7}"/>
                </a:ext>
              </a:extLst>
            </p:cNvPr>
            <p:cNvSpPr/>
            <p:nvPr/>
          </p:nvSpPr>
          <p:spPr>
            <a:xfrm rot="5400000">
              <a:off x="5379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" name="Google Shape;1267;p50">
              <a:extLst>
                <a:ext uri="{FF2B5EF4-FFF2-40B4-BE49-F238E27FC236}">
                  <a16:creationId xmlns:a16="http://schemas.microsoft.com/office/drawing/2014/main" id="{6D4CADE6-9B18-67BD-3921-EEFD0A2E4201}"/>
                </a:ext>
              </a:extLst>
            </p:cNvPr>
            <p:cNvSpPr/>
            <p:nvPr/>
          </p:nvSpPr>
          <p:spPr>
            <a:xfrm rot="5400000">
              <a:off x="7128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268;p50">
              <a:extLst>
                <a:ext uri="{FF2B5EF4-FFF2-40B4-BE49-F238E27FC236}">
                  <a16:creationId xmlns:a16="http://schemas.microsoft.com/office/drawing/2014/main" id="{A996DD3E-8ABC-5215-8792-746514E52B97}"/>
                </a:ext>
              </a:extLst>
            </p:cNvPr>
            <p:cNvSpPr/>
            <p:nvPr/>
          </p:nvSpPr>
          <p:spPr>
            <a:xfrm rot="5400000">
              <a:off x="3948538" y="2927550"/>
              <a:ext cx="722100" cy="20955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6" name="Google Shape;1269;p50">
              <a:extLst>
                <a:ext uri="{FF2B5EF4-FFF2-40B4-BE49-F238E27FC236}">
                  <a16:creationId xmlns:a16="http://schemas.microsoft.com/office/drawing/2014/main" id="{F7AD08CC-A4A7-36AA-B6D8-0AF643B41F12}"/>
                </a:ext>
              </a:extLst>
            </p:cNvPr>
            <p:cNvSpPr/>
            <p:nvPr/>
          </p:nvSpPr>
          <p:spPr>
            <a:xfrm rot="5400000">
              <a:off x="10626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" name="Google Shape;1270;p50">
              <a:extLst>
                <a:ext uri="{FF2B5EF4-FFF2-40B4-BE49-F238E27FC236}">
                  <a16:creationId xmlns:a16="http://schemas.microsoft.com/office/drawing/2014/main" id="{DBE5E24A-802A-3AC6-2B45-E46A78AD8D10}"/>
                </a:ext>
              </a:extLst>
            </p:cNvPr>
            <p:cNvSpPr/>
            <p:nvPr/>
          </p:nvSpPr>
          <p:spPr>
            <a:xfrm rot="5400000">
              <a:off x="12375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8" name="Google Shape;1271;p50">
              <a:extLst>
                <a:ext uri="{FF2B5EF4-FFF2-40B4-BE49-F238E27FC236}">
                  <a16:creationId xmlns:a16="http://schemas.microsoft.com/office/drawing/2014/main" id="{9D1519C6-39AA-5740-1DD4-D85E366BA297}"/>
                </a:ext>
              </a:extLst>
            </p:cNvPr>
            <p:cNvGrpSpPr/>
            <p:nvPr/>
          </p:nvGrpSpPr>
          <p:grpSpPr>
            <a:xfrm>
              <a:off x="811588" y="4486300"/>
              <a:ext cx="2393100" cy="261300"/>
              <a:chOff x="451750" y="1912600"/>
              <a:chExt cx="2393100" cy="261300"/>
            </a:xfrm>
          </p:grpSpPr>
          <p:cxnSp>
            <p:nvCxnSpPr>
              <p:cNvPr id="159" name="Google Shape;1272;p50">
                <a:extLst>
                  <a:ext uri="{FF2B5EF4-FFF2-40B4-BE49-F238E27FC236}">
                    <a16:creationId xmlns:a16="http://schemas.microsoft.com/office/drawing/2014/main" id="{4373B8DD-6D0D-FB71-5096-77BA67E5E857}"/>
                  </a:ext>
                </a:extLst>
              </p:cNvPr>
              <p:cNvCxnSpPr/>
              <p:nvPr/>
            </p:nvCxnSpPr>
            <p:spPr>
              <a:xfrm>
                <a:off x="451750" y="2043250"/>
                <a:ext cx="23931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AA84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60" name="Google Shape;1273;p50">
                <a:extLst>
                  <a:ext uri="{FF2B5EF4-FFF2-40B4-BE49-F238E27FC236}">
                    <a16:creationId xmlns:a16="http://schemas.microsoft.com/office/drawing/2014/main" id="{E2EBC9AB-0424-CBAE-DCE3-31948727CF74}"/>
                  </a:ext>
                </a:extLst>
              </p:cNvPr>
              <p:cNvSpPr txBox="1"/>
              <p:nvPr/>
            </p:nvSpPr>
            <p:spPr>
              <a:xfrm>
                <a:off x="1007800" y="1912600"/>
                <a:ext cx="12810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Sent and acked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61" name="Google Shape;1274;p50">
              <a:extLst>
                <a:ext uri="{FF2B5EF4-FFF2-40B4-BE49-F238E27FC236}">
                  <a16:creationId xmlns:a16="http://schemas.microsoft.com/office/drawing/2014/main" id="{8DBCCD74-6641-5A3A-5650-998B84F62A64}"/>
                </a:ext>
              </a:extLst>
            </p:cNvPr>
            <p:cNvSpPr/>
            <p:nvPr/>
          </p:nvSpPr>
          <p:spPr>
            <a:xfrm rot="5400000">
              <a:off x="14124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2" name="Google Shape;1275;p50">
              <a:extLst>
                <a:ext uri="{FF2B5EF4-FFF2-40B4-BE49-F238E27FC236}">
                  <a16:creationId xmlns:a16="http://schemas.microsoft.com/office/drawing/2014/main" id="{98DC181A-D8A6-E33D-E2E6-EDADCC9D3360}"/>
                </a:ext>
              </a:extLst>
            </p:cNvPr>
            <p:cNvSpPr/>
            <p:nvPr/>
          </p:nvSpPr>
          <p:spPr>
            <a:xfrm rot="5400000">
              <a:off x="15873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3" name="Google Shape;1276;p50">
              <a:extLst>
                <a:ext uri="{FF2B5EF4-FFF2-40B4-BE49-F238E27FC236}">
                  <a16:creationId xmlns:a16="http://schemas.microsoft.com/office/drawing/2014/main" id="{56164ECE-8C22-FCF8-3BBF-B11649D0B55F}"/>
                </a:ext>
              </a:extLst>
            </p:cNvPr>
            <p:cNvGrpSpPr/>
            <p:nvPr/>
          </p:nvGrpSpPr>
          <p:grpSpPr>
            <a:xfrm>
              <a:off x="5413495" y="4486300"/>
              <a:ext cx="2919162" cy="261300"/>
              <a:chOff x="4996875" y="1912600"/>
              <a:chExt cx="2975700" cy="261300"/>
            </a:xfrm>
          </p:grpSpPr>
          <p:cxnSp>
            <p:nvCxnSpPr>
              <p:cNvPr id="164" name="Google Shape;1277;p50">
                <a:extLst>
                  <a:ext uri="{FF2B5EF4-FFF2-40B4-BE49-F238E27FC236}">
                    <a16:creationId xmlns:a16="http://schemas.microsoft.com/office/drawing/2014/main" id="{FBF5955A-7B4E-7D76-1A08-6961C565E70A}"/>
                  </a:ext>
                </a:extLst>
              </p:cNvPr>
              <p:cNvCxnSpPr/>
              <p:nvPr/>
            </p:nvCxnSpPr>
            <p:spPr>
              <a:xfrm>
                <a:off x="4996875" y="2043250"/>
                <a:ext cx="2975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65" name="Google Shape;1278;p50">
                <a:extLst>
                  <a:ext uri="{FF2B5EF4-FFF2-40B4-BE49-F238E27FC236}">
                    <a16:creationId xmlns:a16="http://schemas.microsoft.com/office/drawing/2014/main" id="{AF5E79BB-3F97-E419-E999-E07DFDC4CF5C}"/>
                  </a:ext>
                </a:extLst>
              </p:cNvPr>
              <p:cNvSpPr txBox="1"/>
              <p:nvPr/>
            </p:nvSpPr>
            <p:spPr>
              <a:xfrm>
                <a:off x="5955972" y="1912600"/>
                <a:ext cx="10575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999999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 sent yet</a:t>
                </a:r>
                <a:endParaRPr>
                  <a:solidFill>
                    <a:srgbClr val="9999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66" name="Google Shape;1279;p50">
              <a:extLst>
                <a:ext uri="{FF2B5EF4-FFF2-40B4-BE49-F238E27FC236}">
                  <a16:creationId xmlns:a16="http://schemas.microsoft.com/office/drawing/2014/main" id="{82F00C09-2366-CF7A-BCBD-62F0F7DA1259}"/>
                </a:ext>
              </a:extLst>
            </p:cNvPr>
            <p:cNvGrpSpPr/>
            <p:nvPr/>
          </p:nvGrpSpPr>
          <p:grpSpPr>
            <a:xfrm>
              <a:off x="3261268" y="4369100"/>
              <a:ext cx="2095500" cy="493800"/>
              <a:chOff x="3261268" y="4292900"/>
              <a:chExt cx="2095500" cy="493800"/>
            </a:xfrm>
          </p:grpSpPr>
          <p:cxnSp>
            <p:nvCxnSpPr>
              <p:cNvPr id="167" name="Google Shape;1280;p50">
                <a:extLst>
                  <a:ext uri="{FF2B5EF4-FFF2-40B4-BE49-F238E27FC236}">
                    <a16:creationId xmlns:a16="http://schemas.microsoft.com/office/drawing/2014/main" id="{02C2D914-9D1C-EFB4-D4FB-A46F15F3F713}"/>
                  </a:ext>
                </a:extLst>
              </p:cNvPr>
              <p:cNvCxnSpPr/>
              <p:nvPr/>
            </p:nvCxnSpPr>
            <p:spPr>
              <a:xfrm>
                <a:off x="3261268" y="4539800"/>
                <a:ext cx="209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68" name="Google Shape;1281;p50">
                <a:extLst>
                  <a:ext uri="{FF2B5EF4-FFF2-40B4-BE49-F238E27FC236}">
                    <a16:creationId xmlns:a16="http://schemas.microsoft.com/office/drawing/2014/main" id="{F822AF2A-1D2A-7B72-C0C8-24C0A2263EFD}"/>
                  </a:ext>
                </a:extLst>
              </p:cNvPr>
              <p:cNvSpPr txBox="1"/>
              <p:nvPr/>
            </p:nvSpPr>
            <p:spPr>
              <a:xfrm>
                <a:off x="3940850" y="4292900"/>
                <a:ext cx="736500" cy="493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Window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i="1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</a:t>
                </a: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 bytes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69" name="Google Shape;1282;p50">
              <a:extLst>
                <a:ext uri="{FF2B5EF4-FFF2-40B4-BE49-F238E27FC236}">
                  <a16:creationId xmlns:a16="http://schemas.microsoft.com/office/drawing/2014/main" id="{A815C98C-ECA2-F044-CC51-4FAB0C90D6D6}"/>
                </a:ext>
              </a:extLst>
            </p:cNvPr>
            <p:cNvSpPr txBox="1"/>
            <p:nvPr/>
          </p:nvSpPr>
          <p:spPr>
            <a:xfrm>
              <a:off x="3239950" y="3023375"/>
              <a:ext cx="269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Resend 15–18 if timer expires,</a:t>
              </a:r>
              <a:b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or if 3 copies of ack(15) received.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705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4F5E-3F46-027D-D120-86C29B2C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9A0640ED-D711-E919-F993-4E292E3B44FF}"/>
              </a:ext>
            </a:extLst>
          </p:cNvPr>
          <p:cNvSpPr txBox="1">
            <a:spLocks/>
          </p:cNvSpPr>
          <p:nvPr/>
        </p:nvSpPr>
        <p:spPr>
          <a:xfrm>
            <a:off x="448235" y="125505"/>
            <a:ext cx="11295529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TCP Sliding Window with Additional Restrictions</a:t>
            </a:r>
          </a:p>
        </p:txBody>
      </p:sp>
      <p:sp>
        <p:nvSpPr>
          <p:cNvPr id="3" name="Google Shape;1039;p46">
            <a:extLst>
              <a:ext uri="{FF2B5EF4-FFF2-40B4-BE49-F238E27FC236}">
                <a16:creationId xmlns:a16="http://schemas.microsoft.com/office/drawing/2014/main" id="{2FF5931A-10C0-6468-7891-BA598AEDB673}"/>
              </a:ext>
            </a:extLst>
          </p:cNvPr>
          <p:cNvSpPr txBox="1">
            <a:spLocks/>
          </p:cNvSpPr>
          <p:nvPr/>
        </p:nvSpPr>
        <p:spPr>
          <a:xfrm>
            <a:off x="448234" y="950257"/>
            <a:ext cx="11743766" cy="32355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TCP uses cumulative acks and a sliding window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Cumulative ack: "I have received everything up to (not including) 15."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Thus, first unacked byte is 15, and the sliding window is [</a:t>
            </a:r>
            <a:r>
              <a:rPr lang="en-US" sz="2400" dirty="0">
                <a:solidFill>
                  <a:srgbClr val="C00000"/>
                </a:solidFill>
              </a:rPr>
              <a:t>15, 15 + </a:t>
            </a:r>
            <a:r>
              <a:rPr lang="en-US" sz="2400" i="1" dirty="0">
                <a:solidFill>
                  <a:srgbClr val="C00000"/>
                </a:solidFill>
              </a:rPr>
              <a:t>W - 1</a:t>
            </a:r>
            <a:r>
              <a:rPr lang="en-US" sz="2400" dirty="0"/>
              <a:t>].</a:t>
            </a:r>
          </a:p>
          <a:p>
            <a:pPr marL="114300" lvl="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2400" dirty="0"/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In practice, </a:t>
            </a:r>
            <a:r>
              <a:rPr lang="en-US" sz="2400" i="1" dirty="0"/>
              <a:t>W</a:t>
            </a:r>
            <a:r>
              <a:rPr lang="en-US" sz="2400" dirty="0"/>
              <a:t> is set as the </a:t>
            </a:r>
            <a:r>
              <a:rPr lang="en-US" sz="2400" b="1" dirty="0">
                <a:solidFill>
                  <a:srgbClr val="C00000"/>
                </a:solidFill>
              </a:rPr>
              <a:t>minimum of two values</a:t>
            </a:r>
            <a:r>
              <a:rPr lang="en-US" sz="2400" dirty="0"/>
              <a:t>: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Advertised window (</a:t>
            </a:r>
            <a:r>
              <a:rPr lang="en-US" sz="2400" i="1" dirty="0">
                <a:solidFill>
                  <a:srgbClr val="C00000"/>
                </a:solidFill>
              </a:rPr>
              <a:t>rwnd</a:t>
            </a:r>
            <a:r>
              <a:rPr lang="en-US" sz="2400" dirty="0"/>
              <a:t>, recipient reports their remaining buffer space)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Congestion window (</a:t>
            </a:r>
            <a:r>
              <a:rPr lang="en-US" sz="2400" i="1" dirty="0">
                <a:solidFill>
                  <a:srgbClr val="C00000"/>
                </a:solidFill>
              </a:rPr>
              <a:t>cwnd</a:t>
            </a:r>
            <a:r>
              <a:rPr lang="en-US" sz="2400" dirty="0"/>
              <a:t>, sender magically finds value to avoid network overload)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3C2BF31-F510-556D-BD08-5A95DE5C7EF8}"/>
              </a:ext>
            </a:extLst>
          </p:cNvPr>
          <p:cNvGrpSpPr/>
          <p:nvPr/>
        </p:nvGrpSpPr>
        <p:grpSpPr>
          <a:xfrm>
            <a:off x="609598" y="4720815"/>
            <a:ext cx="10972800" cy="2011680"/>
            <a:chOff x="811586" y="3131722"/>
            <a:chExt cx="7521012" cy="1732128"/>
          </a:xfrm>
        </p:grpSpPr>
        <p:sp>
          <p:nvSpPr>
            <p:cNvPr id="60" name="Google Shape;1044;p47">
              <a:extLst>
                <a:ext uri="{FF2B5EF4-FFF2-40B4-BE49-F238E27FC236}">
                  <a16:creationId xmlns:a16="http://schemas.microsoft.com/office/drawing/2014/main" id="{E6C71EA2-579F-8904-3233-C9C7C1B1D3BF}"/>
                </a:ext>
              </a:extLst>
            </p:cNvPr>
            <p:cNvSpPr/>
            <p:nvPr/>
          </p:nvSpPr>
          <p:spPr>
            <a:xfrm rot="5400000">
              <a:off x="75339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" name="Google Shape;1045;p47">
              <a:extLst>
                <a:ext uri="{FF2B5EF4-FFF2-40B4-BE49-F238E27FC236}">
                  <a16:creationId xmlns:a16="http://schemas.microsoft.com/office/drawing/2014/main" id="{51A2F583-6C77-1BD8-2EF3-A6EEF6B61C1D}"/>
                </a:ext>
              </a:extLst>
            </p:cNvPr>
            <p:cNvSpPr/>
            <p:nvPr/>
          </p:nvSpPr>
          <p:spPr>
            <a:xfrm rot="5400000">
              <a:off x="8877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" name="Google Shape;1048;p47">
              <a:extLst>
                <a:ext uri="{FF2B5EF4-FFF2-40B4-BE49-F238E27FC236}">
                  <a16:creationId xmlns:a16="http://schemas.microsoft.com/office/drawing/2014/main" id="{CCCCC339-5EE1-CD77-27EA-837D338D560A}"/>
                </a:ext>
              </a:extLst>
            </p:cNvPr>
            <p:cNvSpPr/>
            <p:nvPr/>
          </p:nvSpPr>
          <p:spPr>
            <a:xfrm rot="5400000">
              <a:off x="17622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" name="Google Shape;1049;p47">
              <a:extLst>
                <a:ext uri="{FF2B5EF4-FFF2-40B4-BE49-F238E27FC236}">
                  <a16:creationId xmlns:a16="http://schemas.microsoft.com/office/drawing/2014/main" id="{1B35A28D-3F43-C7CA-4D53-35A54ED04B66}"/>
                </a:ext>
              </a:extLst>
            </p:cNvPr>
            <p:cNvSpPr/>
            <p:nvPr/>
          </p:nvSpPr>
          <p:spPr>
            <a:xfrm rot="5400000">
              <a:off x="19371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" name="Google Shape;1050;p47">
              <a:extLst>
                <a:ext uri="{FF2B5EF4-FFF2-40B4-BE49-F238E27FC236}">
                  <a16:creationId xmlns:a16="http://schemas.microsoft.com/office/drawing/2014/main" id="{F2DB6856-3AC8-DF39-8277-F1EF5A3ED36D}"/>
                </a:ext>
              </a:extLst>
            </p:cNvPr>
            <p:cNvSpPr/>
            <p:nvPr/>
          </p:nvSpPr>
          <p:spPr>
            <a:xfrm rot="5400000">
              <a:off x="21120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" name="Google Shape;1051;p47">
              <a:extLst>
                <a:ext uri="{FF2B5EF4-FFF2-40B4-BE49-F238E27FC236}">
                  <a16:creationId xmlns:a16="http://schemas.microsoft.com/office/drawing/2014/main" id="{33AA1213-99C5-1A3D-9424-EEA2B1C01FD9}"/>
                </a:ext>
              </a:extLst>
            </p:cNvPr>
            <p:cNvSpPr/>
            <p:nvPr/>
          </p:nvSpPr>
          <p:spPr>
            <a:xfrm rot="5400000">
              <a:off x="22869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" name="Google Shape;1052;p47">
              <a:extLst>
                <a:ext uri="{FF2B5EF4-FFF2-40B4-BE49-F238E27FC236}">
                  <a16:creationId xmlns:a16="http://schemas.microsoft.com/office/drawing/2014/main" id="{DE76B8CB-12D5-DBAC-3E91-71D0790F511B}"/>
                </a:ext>
              </a:extLst>
            </p:cNvPr>
            <p:cNvSpPr/>
            <p:nvPr/>
          </p:nvSpPr>
          <p:spPr>
            <a:xfrm rot="5400000">
              <a:off x="24618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1053;p47">
              <a:extLst>
                <a:ext uri="{FF2B5EF4-FFF2-40B4-BE49-F238E27FC236}">
                  <a16:creationId xmlns:a16="http://schemas.microsoft.com/office/drawing/2014/main" id="{4CFAB4EE-2A01-8BC1-C731-447D5D6F2E8B}"/>
                </a:ext>
              </a:extLst>
            </p:cNvPr>
            <p:cNvSpPr/>
            <p:nvPr/>
          </p:nvSpPr>
          <p:spPr>
            <a:xfrm rot="5400000">
              <a:off x="26367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" name="Google Shape;1054;p47">
              <a:extLst>
                <a:ext uri="{FF2B5EF4-FFF2-40B4-BE49-F238E27FC236}">
                  <a16:creationId xmlns:a16="http://schemas.microsoft.com/office/drawing/2014/main" id="{04E617D5-ACC6-735A-5FAD-A769B9BBE474}"/>
                </a:ext>
              </a:extLst>
            </p:cNvPr>
            <p:cNvSpPr/>
            <p:nvPr/>
          </p:nvSpPr>
          <p:spPr>
            <a:xfrm rot="5400000">
              <a:off x="28116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" name="Google Shape;1055;p47">
              <a:extLst>
                <a:ext uri="{FF2B5EF4-FFF2-40B4-BE49-F238E27FC236}">
                  <a16:creationId xmlns:a16="http://schemas.microsoft.com/office/drawing/2014/main" id="{E1053694-4635-D2BA-70BA-65AD1B30EAE4}"/>
                </a:ext>
              </a:extLst>
            </p:cNvPr>
            <p:cNvSpPr/>
            <p:nvPr/>
          </p:nvSpPr>
          <p:spPr>
            <a:xfrm rot="5400000">
              <a:off x="29865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" name="Google Shape;1056;p47">
              <a:extLst>
                <a:ext uri="{FF2B5EF4-FFF2-40B4-BE49-F238E27FC236}">
                  <a16:creationId xmlns:a16="http://schemas.microsoft.com/office/drawing/2014/main" id="{9CBF32A9-0009-6C13-4136-50261D580AC2}"/>
                </a:ext>
              </a:extLst>
            </p:cNvPr>
            <p:cNvSpPr/>
            <p:nvPr/>
          </p:nvSpPr>
          <p:spPr>
            <a:xfrm rot="5400000">
              <a:off x="31614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" name="Google Shape;1057;p47">
              <a:extLst>
                <a:ext uri="{FF2B5EF4-FFF2-40B4-BE49-F238E27FC236}">
                  <a16:creationId xmlns:a16="http://schemas.microsoft.com/office/drawing/2014/main" id="{5CC3BD78-9167-9442-F78B-3B4909EED7E7}"/>
                </a:ext>
              </a:extLst>
            </p:cNvPr>
            <p:cNvSpPr/>
            <p:nvPr/>
          </p:nvSpPr>
          <p:spPr>
            <a:xfrm rot="5400000">
              <a:off x="33363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Google Shape;1058;p47">
              <a:extLst>
                <a:ext uri="{FF2B5EF4-FFF2-40B4-BE49-F238E27FC236}">
                  <a16:creationId xmlns:a16="http://schemas.microsoft.com/office/drawing/2014/main" id="{C975CBE1-0E26-3C5F-C753-D7E502B7F8E9}"/>
                </a:ext>
              </a:extLst>
            </p:cNvPr>
            <p:cNvSpPr/>
            <p:nvPr/>
          </p:nvSpPr>
          <p:spPr>
            <a:xfrm rot="5400000">
              <a:off x="3511288" y="3887850"/>
              <a:ext cx="722100" cy="174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1059;p47">
              <a:extLst>
                <a:ext uri="{FF2B5EF4-FFF2-40B4-BE49-F238E27FC236}">
                  <a16:creationId xmlns:a16="http://schemas.microsoft.com/office/drawing/2014/main" id="{559CC7A7-F908-18DF-EA00-49187519A518}"/>
                </a:ext>
              </a:extLst>
            </p:cNvPr>
            <p:cNvSpPr/>
            <p:nvPr/>
          </p:nvSpPr>
          <p:spPr>
            <a:xfrm rot="5400000">
              <a:off x="36861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" name="Google Shape;1060;p47">
              <a:extLst>
                <a:ext uri="{FF2B5EF4-FFF2-40B4-BE49-F238E27FC236}">
                  <a16:creationId xmlns:a16="http://schemas.microsoft.com/office/drawing/2014/main" id="{0505D4FC-932C-13E0-0607-412E6D9CB2D4}"/>
                </a:ext>
              </a:extLst>
            </p:cNvPr>
            <p:cNvSpPr/>
            <p:nvPr/>
          </p:nvSpPr>
          <p:spPr>
            <a:xfrm rot="5400000">
              <a:off x="38610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" name="Google Shape;1061;p47">
              <a:extLst>
                <a:ext uri="{FF2B5EF4-FFF2-40B4-BE49-F238E27FC236}">
                  <a16:creationId xmlns:a16="http://schemas.microsoft.com/office/drawing/2014/main" id="{19158BE8-61BF-426C-63C2-80824D957036}"/>
                </a:ext>
              </a:extLst>
            </p:cNvPr>
            <p:cNvSpPr/>
            <p:nvPr/>
          </p:nvSpPr>
          <p:spPr>
            <a:xfrm rot="5400000">
              <a:off x="40359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1062;p47">
              <a:extLst>
                <a:ext uri="{FF2B5EF4-FFF2-40B4-BE49-F238E27FC236}">
                  <a16:creationId xmlns:a16="http://schemas.microsoft.com/office/drawing/2014/main" id="{13641ABC-51AF-ECB8-6A11-00E64E416EA9}"/>
                </a:ext>
              </a:extLst>
            </p:cNvPr>
            <p:cNvSpPr/>
            <p:nvPr/>
          </p:nvSpPr>
          <p:spPr>
            <a:xfrm rot="5400000">
              <a:off x="42108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1063;p47">
              <a:extLst>
                <a:ext uri="{FF2B5EF4-FFF2-40B4-BE49-F238E27FC236}">
                  <a16:creationId xmlns:a16="http://schemas.microsoft.com/office/drawing/2014/main" id="{77B408CB-77C6-1E25-5DE2-3CBD815681E8}"/>
                </a:ext>
              </a:extLst>
            </p:cNvPr>
            <p:cNvSpPr/>
            <p:nvPr/>
          </p:nvSpPr>
          <p:spPr>
            <a:xfrm rot="5400000">
              <a:off x="43857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1064;p47">
              <a:extLst>
                <a:ext uri="{FF2B5EF4-FFF2-40B4-BE49-F238E27FC236}">
                  <a16:creationId xmlns:a16="http://schemas.microsoft.com/office/drawing/2014/main" id="{93836DCC-C80B-18AC-B732-E38C072DCF05}"/>
                </a:ext>
              </a:extLst>
            </p:cNvPr>
            <p:cNvSpPr/>
            <p:nvPr/>
          </p:nvSpPr>
          <p:spPr>
            <a:xfrm rot="5400000">
              <a:off x="45606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" name="Google Shape;1065;p47">
              <a:extLst>
                <a:ext uri="{FF2B5EF4-FFF2-40B4-BE49-F238E27FC236}">
                  <a16:creationId xmlns:a16="http://schemas.microsoft.com/office/drawing/2014/main" id="{B4C07073-4854-1B16-C96A-95E37BD07325}"/>
                </a:ext>
              </a:extLst>
            </p:cNvPr>
            <p:cNvSpPr/>
            <p:nvPr/>
          </p:nvSpPr>
          <p:spPr>
            <a:xfrm rot="5400000">
              <a:off x="47355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" name="Google Shape;1066;p47">
              <a:extLst>
                <a:ext uri="{FF2B5EF4-FFF2-40B4-BE49-F238E27FC236}">
                  <a16:creationId xmlns:a16="http://schemas.microsoft.com/office/drawing/2014/main" id="{B5A2B55F-8B33-A233-A0BA-BD36D0037A07}"/>
                </a:ext>
              </a:extLst>
            </p:cNvPr>
            <p:cNvSpPr/>
            <p:nvPr/>
          </p:nvSpPr>
          <p:spPr>
            <a:xfrm rot="5400000">
              <a:off x="4910488" y="3887850"/>
              <a:ext cx="722100" cy="1749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" name="Google Shape;1067;p47">
              <a:extLst>
                <a:ext uri="{FF2B5EF4-FFF2-40B4-BE49-F238E27FC236}">
                  <a16:creationId xmlns:a16="http://schemas.microsoft.com/office/drawing/2014/main" id="{FDC3CB9F-92EC-20B8-0BC2-EE42DF183176}"/>
                </a:ext>
              </a:extLst>
            </p:cNvPr>
            <p:cNvSpPr/>
            <p:nvPr/>
          </p:nvSpPr>
          <p:spPr>
            <a:xfrm rot="5400000">
              <a:off x="5085388" y="3887850"/>
              <a:ext cx="722100" cy="1749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" name="Google Shape;1068;p47">
              <a:extLst>
                <a:ext uri="{FF2B5EF4-FFF2-40B4-BE49-F238E27FC236}">
                  <a16:creationId xmlns:a16="http://schemas.microsoft.com/office/drawing/2014/main" id="{3CF79B76-485F-7E9C-EAC0-52CA0F4826BA}"/>
                </a:ext>
              </a:extLst>
            </p:cNvPr>
            <p:cNvSpPr/>
            <p:nvPr/>
          </p:nvSpPr>
          <p:spPr>
            <a:xfrm rot="5400000">
              <a:off x="5260288" y="3887850"/>
              <a:ext cx="722100" cy="1749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1069;p47">
              <a:extLst>
                <a:ext uri="{FF2B5EF4-FFF2-40B4-BE49-F238E27FC236}">
                  <a16:creationId xmlns:a16="http://schemas.microsoft.com/office/drawing/2014/main" id="{1FEF6298-BB2F-2222-E97A-FFB863203203}"/>
                </a:ext>
              </a:extLst>
            </p:cNvPr>
            <p:cNvSpPr/>
            <p:nvPr/>
          </p:nvSpPr>
          <p:spPr>
            <a:xfrm rot="5400000">
              <a:off x="5435188" y="3887850"/>
              <a:ext cx="722100" cy="1749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1070;p47">
              <a:extLst>
                <a:ext uri="{FF2B5EF4-FFF2-40B4-BE49-F238E27FC236}">
                  <a16:creationId xmlns:a16="http://schemas.microsoft.com/office/drawing/2014/main" id="{4BA2EBB8-CC22-3556-D2BF-ADE602A2DD36}"/>
                </a:ext>
              </a:extLst>
            </p:cNvPr>
            <p:cNvSpPr/>
            <p:nvPr/>
          </p:nvSpPr>
          <p:spPr>
            <a:xfrm rot="5400000">
              <a:off x="5610088" y="3887850"/>
              <a:ext cx="722100" cy="1749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" name="Google Shape;1071;p47">
              <a:extLst>
                <a:ext uri="{FF2B5EF4-FFF2-40B4-BE49-F238E27FC236}">
                  <a16:creationId xmlns:a16="http://schemas.microsoft.com/office/drawing/2014/main" id="{4B1A8380-40D3-1805-5820-12B0D47F5A5C}"/>
                </a:ext>
              </a:extLst>
            </p:cNvPr>
            <p:cNvSpPr/>
            <p:nvPr/>
          </p:nvSpPr>
          <p:spPr>
            <a:xfrm rot="5400000">
              <a:off x="57849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" name="Google Shape;1072;p47">
              <a:extLst>
                <a:ext uri="{FF2B5EF4-FFF2-40B4-BE49-F238E27FC236}">
                  <a16:creationId xmlns:a16="http://schemas.microsoft.com/office/drawing/2014/main" id="{03862DF1-DB88-88EF-3EFF-D37430A6C815}"/>
                </a:ext>
              </a:extLst>
            </p:cNvPr>
            <p:cNvSpPr/>
            <p:nvPr/>
          </p:nvSpPr>
          <p:spPr>
            <a:xfrm rot="5400000">
              <a:off x="59598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1073;p47">
              <a:extLst>
                <a:ext uri="{FF2B5EF4-FFF2-40B4-BE49-F238E27FC236}">
                  <a16:creationId xmlns:a16="http://schemas.microsoft.com/office/drawing/2014/main" id="{DF829B7B-FD10-173A-F376-2AFE80DFFB2E}"/>
                </a:ext>
              </a:extLst>
            </p:cNvPr>
            <p:cNvSpPr/>
            <p:nvPr/>
          </p:nvSpPr>
          <p:spPr>
            <a:xfrm rot="5400000">
              <a:off x="61347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1074;p47">
              <a:extLst>
                <a:ext uri="{FF2B5EF4-FFF2-40B4-BE49-F238E27FC236}">
                  <a16:creationId xmlns:a16="http://schemas.microsoft.com/office/drawing/2014/main" id="{DCD7AC7F-81A4-9733-6D0F-3376FB4EE99F}"/>
                </a:ext>
              </a:extLst>
            </p:cNvPr>
            <p:cNvSpPr/>
            <p:nvPr/>
          </p:nvSpPr>
          <p:spPr>
            <a:xfrm rot="5400000">
              <a:off x="63096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" name="Google Shape;1075;p47">
              <a:extLst>
                <a:ext uri="{FF2B5EF4-FFF2-40B4-BE49-F238E27FC236}">
                  <a16:creationId xmlns:a16="http://schemas.microsoft.com/office/drawing/2014/main" id="{3512454C-F94D-B2A6-CBB0-CF310AE0F62C}"/>
                </a:ext>
              </a:extLst>
            </p:cNvPr>
            <p:cNvSpPr/>
            <p:nvPr/>
          </p:nvSpPr>
          <p:spPr>
            <a:xfrm rot="5400000">
              <a:off x="64845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1076;p47">
              <a:extLst>
                <a:ext uri="{FF2B5EF4-FFF2-40B4-BE49-F238E27FC236}">
                  <a16:creationId xmlns:a16="http://schemas.microsoft.com/office/drawing/2014/main" id="{9A94B28A-0CD9-D64F-D2B1-CF24D985E2C5}"/>
                </a:ext>
              </a:extLst>
            </p:cNvPr>
            <p:cNvSpPr/>
            <p:nvPr/>
          </p:nvSpPr>
          <p:spPr>
            <a:xfrm rot="5400000">
              <a:off x="66594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1077;p47">
              <a:extLst>
                <a:ext uri="{FF2B5EF4-FFF2-40B4-BE49-F238E27FC236}">
                  <a16:creationId xmlns:a16="http://schemas.microsoft.com/office/drawing/2014/main" id="{A1A240B8-82D3-3B40-2372-E2F2E5184521}"/>
                </a:ext>
              </a:extLst>
            </p:cNvPr>
            <p:cNvSpPr/>
            <p:nvPr/>
          </p:nvSpPr>
          <p:spPr>
            <a:xfrm rot="5400000">
              <a:off x="68343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" name="Google Shape;1078;p47">
              <a:extLst>
                <a:ext uri="{FF2B5EF4-FFF2-40B4-BE49-F238E27FC236}">
                  <a16:creationId xmlns:a16="http://schemas.microsoft.com/office/drawing/2014/main" id="{F40E563F-45A4-359A-2EF9-DFDFAF1F02D7}"/>
                </a:ext>
              </a:extLst>
            </p:cNvPr>
            <p:cNvSpPr/>
            <p:nvPr/>
          </p:nvSpPr>
          <p:spPr>
            <a:xfrm rot="5400000">
              <a:off x="70092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" name="Google Shape;1079;p47">
              <a:extLst>
                <a:ext uri="{FF2B5EF4-FFF2-40B4-BE49-F238E27FC236}">
                  <a16:creationId xmlns:a16="http://schemas.microsoft.com/office/drawing/2014/main" id="{2A9DBC26-7165-9C40-2D7F-3B6E438E4695}"/>
                </a:ext>
              </a:extLst>
            </p:cNvPr>
            <p:cNvSpPr/>
            <p:nvPr/>
          </p:nvSpPr>
          <p:spPr>
            <a:xfrm rot="5400000">
              <a:off x="71841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1080;p47">
              <a:extLst>
                <a:ext uri="{FF2B5EF4-FFF2-40B4-BE49-F238E27FC236}">
                  <a16:creationId xmlns:a16="http://schemas.microsoft.com/office/drawing/2014/main" id="{FC523AB1-1FB3-9E11-EAC9-75BE00294488}"/>
                </a:ext>
              </a:extLst>
            </p:cNvPr>
            <p:cNvSpPr/>
            <p:nvPr/>
          </p:nvSpPr>
          <p:spPr>
            <a:xfrm rot="5400000">
              <a:off x="73590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" name="Google Shape;1081;p47">
              <a:extLst>
                <a:ext uri="{FF2B5EF4-FFF2-40B4-BE49-F238E27FC236}">
                  <a16:creationId xmlns:a16="http://schemas.microsoft.com/office/drawing/2014/main" id="{936712C9-6EA5-7129-25E8-56B580371D89}"/>
                </a:ext>
              </a:extLst>
            </p:cNvPr>
            <p:cNvSpPr/>
            <p:nvPr/>
          </p:nvSpPr>
          <p:spPr>
            <a:xfrm rot="5400000">
              <a:off x="77088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" name="Google Shape;1082;p47">
              <a:extLst>
                <a:ext uri="{FF2B5EF4-FFF2-40B4-BE49-F238E27FC236}">
                  <a16:creationId xmlns:a16="http://schemas.microsoft.com/office/drawing/2014/main" id="{C846A9BF-AADE-AD03-A10C-FF5B8FEDEB52}"/>
                </a:ext>
              </a:extLst>
            </p:cNvPr>
            <p:cNvSpPr/>
            <p:nvPr/>
          </p:nvSpPr>
          <p:spPr>
            <a:xfrm rot="5400000">
              <a:off x="7883788" y="3887850"/>
              <a:ext cx="722100" cy="1749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7B7B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...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" name="Google Shape;1083;p47">
              <a:extLst>
                <a:ext uri="{FF2B5EF4-FFF2-40B4-BE49-F238E27FC236}">
                  <a16:creationId xmlns:a16="http://schemas.microsoft.com/office/drawing/2014/main" id="{BBCBE528-8A96-3CDB-912A-AABF9CA3DD9C}"/>
                </a:ext>
              </a:extLst>
            </p:cNvPr>
            <p:cNvSpPr/>
            <p:nvPr/>
          </p:nvSpPr>
          <p:spPr>
            <a:xfrm rot="5400000">
              <a:off x="5379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1084;p47">
              <a:extLst>
                <a:ext uri="{FF2B5EF4-FFF2-40B4-BE49-F238E27FC236}">
                  <a16:creationId xmlns:a16="http://schemas.microsoft.com/office/drawing/2014/main" id="{4EDED87D-9832-67F6-040C-1A178D1B34BA}"/>
                </a:ext>
              </a:extLst>
            </p:cNvPr>
            <p:cNvSpPr/>
            <p:nvPr/>
          </p:nvSpPr>
          <p:spPr>
            <a:xfrm rot="5400000">
              <a:off x="7128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" name="Google Shape;1085;p47">
              <a:extLst>
                <a:ext uri="{FF2B5EF4-FFF2-40B4-BE49-F238E27FC236}">
                  <a16:creationId xmlns:a16="http://schemas.microsoft.com/office/drawing/2014/main" id="{C07D8848-311A-2AF2-CF13-6ACB119448DE}"/>
                </a:ext>
              </a:extLst>
            </p:cNvPr>
            <p:cNvSpPr/>
            <p:nvPr/>
          </p:nvSpPr>
          <p:spPr>
            <a:xfrm rot="5400000">
              <a:off x="4648138" y="2927550"/>
              <a:ext cx="722100" cy="20955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0" name="Google Shape;1086;p47">
              <a:extLst>
                <a:ext uri="{FF2B5EF4-FFF2-40B4-BE49-F238E27FC236}">
                  <a16:creationId xmlns:a16="http://schemas.microsoft.com/office/drawing/2014/main" id="{A7E7D270-1D04-8117-BE85-655F62B0BB12}"/>
                </a:ext>
              </a:extLst>
            </p:cNvPr>
            <p:cNvGrpSpPr/>
            <p:nvPr/>
          </p:nvGrpSpPr>
          <p:grpSpPr>
            <a:xfrm>
              <a:off x="811586" y="4486300"/>
              <a:ext cx="3148123" cy="261300"/>
              <a:chOff x="811586" y="4486300"/>
              <a:chExt cx="3148123" cy="261300"/>
            </a:xfrm>
          </p:grpSpPr>
          <p:cxnSp>
            <p:nvCxnSpPr>
              <p:cNvPr id="101" name="Google Shape;1087;p47">
                <a:extLst>
                  <a:ext uri="{FF2B5EF4-FFF2-40B4-BE49-F238E27FC236}">
                    <a16:creationId xmlns:a16="http://schemas.microsoft.com/office/drawing/2014/main" id="{523DDC63-3B66-488D-CEA1-E8C781D367CE}"/>
                  </a:ext>
                </a:extLst>
              </p:cNvPr>
              <p:cNvCxnSpPr/>
              <p:nvPr/>
            </p:nvCxnSpPr>
            <p:spPr>
              <a:xfrm>
                <a:off x="811586" y="4616950"/>
                <a:ext cx="3148123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AA84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2" name="Google Shape;1088;p47">
                <a:extLst>
                  <a:ext uri="{FF2B5EF4-FFF2-40B4-BE49-F238E27FC236}">
                    <a16:creationId xmlns:a16="http://schemas.microsoft.com/office/drawing/2014/main" id="{C5FE76F1-2D78-F2FE-8304-6F8344765C61}"/>
                  </a:ext>
                </a:extLst>
              </p:cNvPr>
              <p:cNvSpPr txBox="1"/>
              <p:nvPr/>
            </p:nvSpPr>
            <p:spPr>
              <a:xfrm>
                <a:off x="1636750" y="4486300"/>
                <a:ext cx="13230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6AA84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Sent and acked</a:t>
                </a:r>
                <a:endParaRPr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3" name="Google Shape;1089;p47">
              <a:extLst>
                <a:ext uri="{FF2B5EF4-FFF2-40B4-BE49-F238E27FC236}">
                  <a16:creationId xmlns:a16="http://schemas.microsoft.com/office/drawing/2014/main" id="{5CFDFC15-1E67-9F0E-3F46-8D73A4358079}"/>
                </a:ext>
              </a:extLst>
            </p:cNvPr>
            <p:cNvSpPr/>
            <p:nvPr/>
          </p:nvSpPr>
          <p:spPr>
            <a:xfrm rot="5400000">
              <a:off x="10626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" name="Google Shape;1090;p47">
              <a:extLst>
                <a:ext uri="{FF2B5EF4-FFF2-40B4-BE49-F238E27FC236}">
                  <a16:creationId xmlns:a16="http://schemas.microsoft.com/office/drawing/2014/main" id="{32BAEA4B-661F-7C11-8128-633C97D6D375}"/>
                </a:ext>
              </a:extLst>
            </p:cNvPr>
            <p:cNvSpPr/>
            <p:nvPr/>
          </p:nvSpPr>
          <p:spPr>
            <a:xfrm rot="5400000">
              <a:off x="12375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" name="Google Shape;1091;p47">
              <a:extLst>
                <a:ext uri="{FF2B5EF4-FFF2-40B4-BE49-F238E27FC236}">
                  <a16:creationId xmlns:a16="http://schemas.microsoft.com/office/drawing/2014/main" id="{E443DA31-DC2B-3C54-BA65-7F00FA62C4EC}"/>
                </a:ext>
              </a:extLst>
            </p:cNvPr>
            <p:cNvSpPr/>
            <p:nvPr/>
          </p:nvSpPr>
          <p:spPr>
            <a:xfrm rot="5400000">
              <a:off x="14124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92;p47">
              <a:extLst>
                <a:ext uri="{FF2B5EF4-FFF2-40B4-BE49-F238E27FC236}">
                  <a16:creationId xmlns:a16="http://schemas.microsoft.com/office/drawing/2014/main" id="{6B7CE61C-1F5E-2ACF-44F2-9C5D88D67D86}"/>
                </a:ext>
              </a:extLst>
            </p:cNvPr>
            <p:cNvSpPr/>
            <p:nvPr/>
          </p:nvSpPr>
          <p:spPr>
            <a:xfrm rot="5400000">
              <a:off x="1587388" y="3887850"/>
              <a:ext cx="722100" cy="1749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7" name="Google Shape;1093;p47">
              <a:extLst>
                <a:ext uri="{FF2B5EF4-FFF2-40B4-BE49-F238E27FC236}">
                  <a16:creationId xmlns:a16="http://schemas.microsoft.com/office/drawing/2014/main" id="{32C3A5D1-A6F4-8BEC-9BA9-5CD6097EB4AC}"/>
                </a:ext>
              </a:extLst>
            </p:cNvPr>
            <p:cNvGrpSpPr/>
            <p:nvPr/>
          </p:nvGrpSpPr>
          <p:grpSpPr>
            <a:xfrm>
              <a:off x="6058568" y="4486300"/>
              <a:ext cx="2274030" cy="261300"/>
              <a:chOff x="6058568" y="4486300"/>
              <a:chExt cx="2274030" cy="261300"/>
            </a:xfrm>
          </p:grpSpPr>
          <p:cxnSp>
            <p:nvCxnSpPr>
              <p:cNvPr id="108" name="Google Shape;1094;p47">
                <a:extLst>
                  <a:ext uri="{FF2B5EF4-FFF2-40B4-BE49-F238E27FC236}">
                    <a16:creationId xmlns:a16="http://schemas.microsoft.com/office/drawing/2014/main" id="{940888B6-7165-A228-020D-FCAD3D31A719}"/>
                  </a:ext>
                </a:extLst>
              </p:cNvPr>
              <p:cNvCxnSpPr/>
              <p:nvPr/>
            </p:nvCxnSpPr>
            <p:spPr>
              <a:xfrm>
                <a:off x="6058568" y="4616950"/>
                <a:ext cx="227403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9" name="Google Shape;1095;p47">
                <a:extLst>
                  <a:ext uri="{FF2B5EF4-FFF2-40B4-BE49-F238E27FC236}">
                    <a16:creationId xmlns:a16="http://schemas.microsoft.com/office/drawing/2014/main" id="{AADF1CD3-B864-FF2F-7F4C-1A4ABB20998F}"/>
                  </a:ext>
                </a:extLst>
              </p:cNvPr>
              <p:cNvSpPr txBox="1"/>
              <p:nvPr/>
            </p:nvSpPr>
            <p:spPr>
              <a:xfrm>
                <a:off x="6687397" y="4486300"/>
                <a:ext cx="1016100" cy="261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999999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 sent yet</a:t>
                </a:r>
                <a:endParaRPr>
                  <a:solidFill>
                    <a:srgbClr val="9999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0" name="Google Shape;1096;p47">
              <a:extLst>
                <a:ext uri="{FF2B5EF4-FFF2-40B4-BE49-F238E27FC236}">
                  <a16:creationId xmlns:a16="http://schemas.microsoft.com/office/drawing/2014/main" id="{EAA29D57-3D2A-9676-BECE-0C9D6547ABD0}"/>
                </a:ext>
              </a:extLst>
            </p:cNvPr>
            <p:cNvGrpSpPr/>
            <p:nvPr/>
          </p:nvGrpSpPr>
          <p:grpSpPr>
            <a:xfrm>
              <a:off x="3961443" y="4370050"/>
              <a:ext cx="2095500" cy="493800"/>
              <a:chOff x="3261268" y="4292900"/>
              <a:chExt cx="2095500" cy="493800"/>
            </a:xfrm>
          </p:grpSpPr>
          <p:cxnSp>
            <p:nvCxnSpPr>
              <p:cNvPr id="111" name="Google Shape;1097;p47">
                <a:extLst>
                  <a:ext uri="{FF2B5EF4-FFF2-40B4-BE49-F238E27FC236}">
                    <a16:creationId xmlns:a16="http://schemas.microsoft.com/office/drawing/2014/main" id="{9BBED9A2-1783-014D-711B-FD83B85D9AEE}"/>
                  </a:ext>
                </a:extLst>
              </p:cNvPr>
              <p:cNvCxnSpPr/>
              <p:nvPr/>
            </p:nvCxnSpPr>
            <p:spPr>
              <a:xfrm>
                <a:off x="3261268" y="4539800"/>
                <a:ext cx="209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12" name="Google Shape;1098;p47">
                <a:extLst>
                  <a:ext uri="{FF2B5EF4-FFF2-40B4-BE49-F238E27FC236}">
                    <a16:creationId xmlns:a16="http://schemas.microsoft.com/office/drawing/2014/main" id="{BA106F2E-6A5B-A23F-A5BE-E8F16927CAEF}"/>
                  </a:ext>
                </a:extLst>
              </p:cNvPr>
              <p:cNvSpPr txBox="1"/>
              <p:nvPr/>
            </p:nvSpPr>
            <p:spPr>
              <a:xfrm>
                <a:off x="3940850" y="4292900"/>
                <a:ext cx="736500" cy="493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27425" tIns="27425" rIns="27425" bIns="27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Window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i="1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</a:t>
                </a:r>
                <a:r>
                  <a:rPr lang="en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 bytes</a:t>
                </a:r>
                <a:endParaRPr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cxnSp>
          <p:nvCxnSpPr>
            <p:cNvPr id="113" name="Google Shape;1099;p47">
              <a:extLst>
                <a:ext uri="{FF2B5EF4-FFF2-40B4-BE49-F238E27FC236}">
                  <a16:creationId xmlns:a16="http://schemas.microsoft.com/office/drawing/2014/main" id="{1DF8A15B-94D8-BA83-AE11-C951BD5D35FB}"/>
                </a:ext>
              </a:extLst>
            </p:cNvPr>
            <p:cNvCxnSpPr>
              <a:stCxn id="73" idx="1"/>
              <a:endCxn id="114" idx="2"/>
            </p:cNvCxnSpPr>
            <p:nvPr/>
          </p:nvCxnSpPr>
          <p:spPr>
            <a:xfrm rot="10800000">
              <a:off x="4047238" y="3393150"/>
              <a:ext cx="0" cy="22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14" name="Google Shape;1100;p47">
              <a:extLst>
                <a:ext uri="{FF2B5EF4-FFF2-40B4-BE49-F238E27FC236}">
                  <a16:creationId xmlns:a16="http://schemas.microsoft.com/office/drawing/2014/main" id="{9BC5D8B6-E908-86B9-272C-78EDBA6F7AF4}"/>
                </a:ext>
              </a:extLst>
            </p:cNvPr>
            <p:cNvSpPr txBox="1"/>
            <p:nvPr/>
          </p:nvSpPr>
          <p:spPr>
            <a:xfrm>
              <a:off x="3294700" y="3131722"/>
              <a:ext cx="1505100" cy="2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First unacked byte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8539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05D3F-D2E5-704D-2B07-2DDDB271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E961-88D1-1D7B-E009-65653682678D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C484F0F-0F1F-10BD-DAF2-6A3543765EC4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implementation: sliding window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Flow control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Congestion control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header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819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63E21-A8E8-4308-D85D-0BB9E53F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42BC143B-0659-790B-D2D1-B6477ECE11F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dirty="0"/>
              <a:t>Setting Window Size (2/3): Don’t Overload Recipient (Flow Control)</a:t>
            </a:r>
          </a:p>
        </p:txBody>
      </p:sp>
      <p:sp>
        <p:nvSpPr>
          <p:cNvPr id="4" name="Google Shape;1080;p71">
            <a:extLst>
              <a:ext uri="{FF2B5EF4-FFF2-40B4-BE49-F238E27FC236}">
                <a16:creationId xmlns:a16="http://schemas.microsoft.com/office/drawing/2014/main" id="{51AFDD52-3B13-98B4-021D-08475826220B}"/>
              </a:ext>
            </a:extLst>
          </p:cNvPr>
          <p:cNvSpPr txBox="1">
            <a:spLocks/>
          </p:cNvSpPr>
          <p:nvPr/>
        </p:nvSpPr>
        <p:spPr>
          <a:xfrm>
            <a:off x="531045" y="658748"/>
            <a:ext cx="11129910" cy="3029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Consider the recipient: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TCP might receive packets out-of-order, but can only deliver packets to the </a:t>
            </a:r>
            <a:r>
              <a:rPr lang="en-US" dirty="0">
                <a:solidFill>
                  <a:srgbClr val="C00000"/>
                </a:solidFill>
              </a:rPr>
              <a:t>application</a:t>
            </a:r>
            <a:r>
              <a:rPr lang="en-US" dirty="0"/>
              <a:t> in order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recipient must </a:t>
            </a:r>
            <a:r>
              <a:rPr lang="en-US" b="1" i="1" dirty="0">
                <a:solidFill>
                  <a:srgbClr val="C00000"/>
                </a:solidFill>
              </a:rPr>
              <a:t>buffer</a:t>
            </a:r>
            <a:r>
              <a:rPr lang="en-US" dirty="0"/>
              <a:t> incoming packets that are out of order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Packets stay in the buffer until all "missing" packets arrive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We have to make sure the recipient doesn't run out of buffer space</a:t>
            </a:r>
          </a:p>
        </p:txBody>
      </p:sp>
      <p:sp>
        <p:nvSpPr>
          <p:cNvPr id="5" name="Google Shape;1082;p71">
            <a:extLst>
              <a:ext uri="{FF2B5EF4-FFF2-40B4-BE49-F238E27FC236}">
                <a16:creationId xmlns:a16="http://schemas.microsoft.com/office/drawing/2014/main" id="{DE180F5B-07FC-0BA2-512D-A22A180AC3B3}"/>
              </a:ext>
            </a:extLst>
          </p:cNvPr>
          <p:cNvSpPr/>
          <p:nvPr/>
        </p:nvSpPr>
        <p:spPr>
          <a:xfrm>
            <a:off x="6927895" y="4249850"/>
            <a:ext cx="4837385" cy="2303349"/>
          </a:xfrm>
          <a:prstGeom prst="wedgeRoundRectCallout">
            <a:avLst>
              <a:gd name="adj1" fmla="val -59537"/>
              <a:gd name="adj2" fmla="val -44670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The application expects 3 next, but the sender gave me 4 and 5.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I'll hold on to 4 and 5 while waiting for 3 to arrive.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B5317F-BC06-8701-6E60-335AADA94075}"/>
              </a:ext>
            </a:extLst>
          </p:cNvPr>
          <p:cNvGrpSpPr/>
          <p:nvPr/>
        </p:nvGrpSpPr>
        <p:grpSpPr>
          <a:xfrm>
            <a:off x="300475" y="3809999"/>
            <a:ext cx="2743200" cy="2743200"/>
            <a:chOff x="971035" y="4764625"/>
            <a:chExt cx="2743200" cy="2743200"/>
          </a:xfrm>
        </p:grpSpPr>
        <p:sp>
          <p:nvSpPr>
            <p:cNvPr id="7" name="Google Shape;1084;p71">
              <a:extLst>
                <a:ext uri="{FF2B5EF4-FFF2-40B4-BE49-F238E27FC236}">
                  <a16:creationId xmlns:a16="http://schemas.microsoft.com/office/drawing/2014/main" id="{02F28D0C-9E6A-3837-7114-EE878CC8DA2E}"/>
                </a:ext>
              </a:extLst>
            </p:cNvPr>
            <p:cNvSpPr/>
            <p:nvPr/>
          </p:nvSpPr>
          <p:spPr>
            <a:xfrm>
              <a:off x="971035" y="4764625"/>
              <a:ext cx="2743200" cy="27432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Recipient Application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085;p71">
              <a:extLst>
                <a:ext uri="{FF2B5EF4-FFF2-40B4-BE49-F238E27FC236}">
                  <a16:creationId xmlns:a16="http://schemas.microsoft.com/office/drawing/2014/main" id="{6D86F424-08D7-DBC9-506E-EEB7BDE69F2A}"/>
                </a:ext>
              </a:extLst>
            </p:cNvPr>
            <p:cNvSpPr/>
            <p:nvPr/>
          </p:nvSpPr>
          <p:spPr>
            <a:xfrm>
              <a:off x="1473955" y="5887923"/>
              <a:ext cx="1737360" cy="6400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1. So I tied an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086;p71">
              <a:extLst>
                <a:ext uri="{FF2B5EF4-FFF2-40B4-BE49-F238E27FC236}">
                  <a16:creationId xmlns:a16="http://schemas.microsoft.com/office/drawing/2014/main" id="{EEF069F3-1316-5D8F-79FF-68BFA9DF4EF4}"/>
                </a:ext>
              </a:extLst>
            </p:cNvPr>
            <p:cNvSpPr/>
            <p:nvPr/>
          </p:nvSpPr>
          <p:spPr>
            <a:xfrm>
              <a:off x="1473955" y="6697874"/>
              <a:ext cx="1737360" cy="6400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2. onion to my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C2DC31-B382-65ED-B7C7-3FA26C26F47C}"/>
              </a:ext>
            </a:extLst>
          </p:cNvPr>
          <p:cNvGrpSpPr/>
          <p:nvPr/>
        </p:nvGrpSpPr>
        <p:grpSpPr>
          <a:xfrm>
            <a:off x="3681775" y="3809999"/>
            <a:ext cx="2743200" cy="2743200"/>
            <a:chOff x="3614185" y="4764625"/>
            <a:chExt cx="2743200" cy="2743200"/>
          </a:xfrm>
        </p:grpSpPr>
        <p:sp>
          <p:nvSpPr>
            <p:cNvPr id="6" name="Google Shape;1083;p71">
              <a:extLst>
                <a:ext uri="{FF2B5EF4-FFF2-40B4-BE49-F238E27FC236}">
                  <a16:creationId xmlns:a16="http://schemas.microsoft.com/office/drawing/2014/main" id="{1F226723-D56B-08A6-225C-49DF45375B20}"/>
                </a:ext>
              </a:extLst>
            </p:cNvPr>
            <p:cNvSpPr/>
            <p:nvPr/>
          </p:nvSpPr>
          <p:spPr>
            <a:xfrm>
              <a:off x="3614185" y="4764625"/>
              <a:ext cx="2743200" cy="2743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Recipient OS</a:t>
              </a:r>
              <a:br>
                <a:rPr lang="en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(running TCP)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1087;p71">
              <a:extLst>
                <a:ext uri="{FF2B5EF4-FFF2-40B4-BE49-F238E27FC236}">
                  <a16:creationId xmlns:a16="http://schemas.microsoft.com/office/drawing/2014/main" id="{5D5B00D2-E8A3-B155-895B-AF3FBB4EA01B}"/>
                </a:ext>
              </a:extLst>
            </p:cNvPr>
            <p:cNvSpPr/>
            <p:nvPr/>
          </p:nvSpPr>
          <p:spPr>
            <a:xfrm>
              <a:off x="4071385" y="5887923"/>
              <a:ext cx="1828800" cy="6400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4. was the style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1088;p71">
              <a:extLst>
                <a:ext uri="{FF2B5EF4-FFF2-40B4-BE49-F238E27FC236}">
                  <a16:creationId xmlns:a16="http://schemas.microsoft.com/office/drawing/2014/main" id="{78B2B702-D25F-2A1A-0C84-A558A62FB29A}"/>
                </a:ext>
              </a:extLst>
            </p:cNvPr>
            <p:cNvSpPr/>
            <p:nvPr/>
          </p:nvSpPr>
          <p:spPr>
            <a:xfrm>
              <a:off x="4071385" y="6697874"/>
              <a:ext cx="1828800" cy="6400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5. at the time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381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21BD-542D-B4F3-46D7-C52FA877F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D9D805B8-2886-8C2A-F635-9C3A2EDB7EE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dirty="0"/>
              <a:t>Setting Window Size (2/3): Don’t Overload Recipient (Flow Control)</a:t>
            </a:r>
          </a:p>
        </p:txBody>
      </p:sp>
      <p:sp>
        <p:nvSpPr>
          <p:cNvPr id="4" name="Google Shape;1080;p71">
            <a:extLst>
              <a:ext uri="{FF2B5EF4-FFF2-40B4-BE49-F238E27FC236}">
                <a16:creationId xmlns:a16="http://schemas.microsoft.com/office/drawing/2014/main" id="{1B25F2DB-922D-1AF3-DF35-E8B4C8862E3C}"/>
              </a:ext>
            </a:extLst>
          </p:cNvPr>
          <p:cNvSpPr txBox="1">
            <a:spLocks/>
          </p:cNvSpPr>
          <p:nvPr/>
        </p:nvSpPr>
        <p:spPr>
          <a:xfrm>
            <a:off x="362042" y="614331"/>
            <a:ext cx="11403237" cy="3195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C00000"/>
                </a:solidFill>
              </a:rPr>
              <a:t>Flow control </a:t>
            </a:r>
            <a:r>
              <a:rPr lang="en-US" sz="2400" dirty="0"/>
              <a:t>ensures the recipient has enough buffer space for out-of-order packets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/>
              <a:t>Recipient</a:t>
            </a:r>
            <a:r>
              <a:rPr lang="en-US" sz="2400" dirty="0"/>
              <a:t> tells the sender how much space it has left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size of remaining space is called the </a:t>
            </a:r>
            <a:r>
              <a:rPr lang="en-US" sz="2400" i="1" dirty="0">
                <a:solidFill>
                  <a:srgbClr val="C00000"/>
                </a:solidFill>
              </a:rPr>
              <a:t>advertised window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This value is carried in </a:t>
            </a:r>
            <a:r>
              <a:rPr lang="en-US" sz="2400" dirty="0">
                <a:solidFill>
                  <a:srgbClr val="C00000"/>
                </a:solidFill>
              </a:rPr>
              <a:t>ACK</a:t>
            </a:r>
            <a:r>
              <a:rPr lang="en-US" sz="2400" dirty="0"/>
              <a:t> messages (</a:t>
            </a:r>
            <a:r>
              <a:rPr lang="en-US" sz="2400" i="1" dirty="0">
                <a:solidFill>
                  <a:srgbClr val="C00000"/>
                </a:solidFill>
              </a:rPr>
              <a:t>rwnd</a:t>
            </a:r>
            <a:r>
              <a:rPr lang="en-US" sz="2400" dirty="0"/>
              <a:t> field in TCP header)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Sender adjusts its window accordingly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Number of packets in flight must be less than the recipient's advertised window</a:t>
            </a:r>
          </a:p>
        </p:txBody>
      </p:sp>
      <p:sp>
        <p:nvSpPr>
          <p:cNvPr id="5" name="Google Shape;1082;p71">
            <a:extLst>
              <a:ext uri="{FF2B5EF4-FFF2-40B4-BE49-F238E27FC236}">
                <a16:creationId xmlns:a16="http://schemas.microsoft.com/office/drawing/2014/main" id="{EFE38967-B822-7231-BE70-F0633F852F29}"/>
              </a:ext>
            </a:extLst>
          </p:cNvPr>
          <p:cNvSpPr/>
          <p:nvPr/>
        </p:nvSpPr>
        <p:spPr>
          <a:xfrm>
            <a:off x="6927895" y="4249850"/>
            <a:ext cx="4837385" cy="2303349"/>
          </a:xfrm>
          <a:prstGeom prst="wedgeRoundRectCallout">
            <a:avLst>
              <a:gd name="adj1" fmla="val -59537"/>
              <a:gd name="adj2" fmla="val -44670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The application expects 3 next, but the sender gave me 4 and 5.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I'll hold on to 4 and 5 while waiting for 3 to arrive.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0C11AE-4EC1-985B-9DCD-2E4E390AE8C6}"/>
              </a:ext>
            </a:extLst>
          </p:cNvPr>
          <p:cNvGrpSpPr/>
          <p:nvPr/>
        </p:nvGrpSpPr>
        <p:grpSpPr>
          <a:xfrm>
            <a:off x="300475" y="3809999"/>
            <a:ext cx="2743200" cy="2743200"/>
            <a:chOff x="971035" y="4764625"/>
            <a:chExt cx="2743200" cy="2743200"/>
          </a:xfrm>
        </p:grpSpPr>
        <p:sp>
          <p:nvSpPr>
            <p:cNvPr id="7" name="Google Shape;1084;p71">
              <a:extLst>
                <a:ext uri="{FF2B5EF4-FFF2-40B4-BE49-F238E27FC236}">
                  <a16:creationId xmlns:a16="http://schemas.microsoft.com/office/drawing/2014/main" id="{13CACF92-1E7D-7106-E77F-1F19D11AF062}"/>
                </a:ext>
              </a:extLst>
            </p:cNvPr>
            <p:cNvSpPr/>
            <p:nvPr/>
          </p:nvSpPr>
          <p:spPr>
            <a:xfrm>
              <a:off x="971035" y="4764625"/>
              <a:ext cx="2743200" cy="27432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Recipient Application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085;p71">
              <a:extLst>
                <a:ext uri="{FF2B5EF4-FFF2-40B4-BE49-F238E27FC236}">
                  <a16:creationId xmlns:a16="http://schemas.microsoft.com/office/drawing/2014/main" id="{3E587EE1-CC96-CBDF-5D16-49F271F4D148}"/>
                </a:ext>
              </a:extLst>
            </p:cNvPr>
            <p:cNvSpPr/>
            <p:nvPr/>
          </p:nvSpPr>
          <p:spPr>
            <a:xfrm>
              <a:off x="1473955" y="5887923"/>
              <a:ext cx="1737360" cy="6400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1. So I tied an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086;p71">
              <a:extLst>
                <a:ext uri="{FF2B5EF4-FFF2-40B4-BE49-F238E27FC236}">
                  <a16:creationId xmlns:a16="http://schemas.microsoft.com/office/drawing/2014/main" id="{159B0ADA-5D1D-551A-6A70-C1D5C10CAAA9}"/>
                </a:ext>
              </a:extLst>
            </p:cNvPr>
            <p:cNvSpPr/>
            <p:nvPr/>
          </p:nvSpPr>
          <p:spPr>
            <a:xfrm>
              <a:off x="1473955" y="6697874"/>
              <a:ext cx="1737360" cy="6400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2. onion to my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37717D-29E8-21EA-5852-D8E85492D8E1}"/>
              </a:ext>
            </a:extLst>
          </p:cNvPr>
          <p:cNvGrpSpPr/>
          <p:nvPr/>
        </p:nvGrpSpPr>
        <p:grpSpPr>
          <a:xfrm>
            <a:off x="3681775" y="3809999"/>
            <a:ext cx="2743200" cy="2743200"/>
            <a:chOff x="3614185" y="4764625"/>
            <a:chExt cx="2743200" cy="2743200"/>
          </a:xfrm>
        </p:grpSpPr>
        <p:sp>
          <p:nvSpPr>
            <p:cNvPr id="6" name="Google Shape;1083;p71">
              <a:extLst>
                <a:ext uri="{FF2B5EF4-FFF2-40B4-BE49-F238E27FC236}">
                  <a16:creationId xmlns:a16="http://schemas.microsoft.com/office/drawing/2014/main" id="{AE9FFD6B-18E6-5EA6-49E5-44C2976FBB58}"/>
                </a:ext>
              </a:extLst>
            </p:cNvPr>
            <p:cNvSpPr/>
            <p:nvPr/>
          </p:nvSpPr>
          <p:spPr>
            <a:xfrm>
              <a:off x="3614185" y="4764625"/>
              <a:ext cx="2743200" cy="2743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Recipient OS</a:t>
              </a:r>
              <a:br>
                <a:rPr lang="en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(running TCP)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1087;p71">
              <a:extLst>
                <a:ext uri="{FF2B5EF4-FFF2-40B4-BE49-F238E27FC236}">
                  <a16:creationId xmlns:a16="http://schemas.microsoft.com/office/drawing/2014/main" id="{141929CC-36FA-87BD-5D74-9E5DA65B07E0}"/>
                </a:ext>
              </a:extLst>
            </p:cNvPr>
            <p:cNvSpPr/>
            <p:nvPr/>
          </p:nvSpPr>
          <p:spPr>
            <a:xfrm>
              <a:off x="4071385" y="5887923"/>
              <a:ext cx="1828800" cy="6400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4. was the style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1088;p71">
              <a:extLst>
                <a:ext uri="{FF2B5EF4-FFF2-40B4-BE49-F238E27FC236}">
                  <a16:creationId xmlns:a16="http://schemas.microsoft.com/office/drawing/2014/main" id="{C4F30B88-C1E4-B44C-7DC5-1722D67ABB4C}"/>
                </a:ext>
              </a:extLst>
            </p:cNvPr>
            <p:cNvSpPr/>
            <p:nvPr/>
          </p:nvSpPr>
          <p:spPr>
            <a:xfrm>
              <a:off x="4071385" y="6697874"/>
              <a:ext cx="1828800" cy="6400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5. at the time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5063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75">
            <a:extLst>
              <a:ext uri="{FF2B5EF4-FFF2-40B4-BE49-F238E27FC236}">
                <a16:creationId xmlns:a16="http://schemas.microsoft.com/office/drawing/2014/main" id="{78F7B284-6B74-F548-982C-C01C5F7D3D9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592052"/>
            <a:ext cx="7587171" cy="4176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Recipient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advertises” free buffer space in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rwnd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 field in TCP header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RcvBuffer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size set via socket options (typical default is 4096 bytes)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Many operating systems auto-adjust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RcvBuffer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Sender limits amount of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unACKed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in-flight”) data to received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rwnd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Guarantees receive buffer will not overflow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C01661-A6D2-E7BC-D198-9E9E87C5A1F4}"/>
              </a:ext>
            </a:extLst>
          </p:cNvPr>
          <p:cNvGrpSpPr/>
          <p:nvPr/>
        </p:nvGrpSpPr>
        <p:grpSpPr>
          <a:xfrm>
            <a:off x="7656662" y="980122"/>
            <a:ext cx="4244112" cy="3614440"/>
            <a:chOff x="6874342" y="1985962"/>
            <a:chExt cx="4244112" cy="3614440"/>
          </a:xfrm>
        </p:grpSpPr>
        <p:grpSp>
          <p:nvGrpSpPr>
            <p:cNvPr id="81" name="Group 72">
              <a:extLst>
                <a:ext uri="{FF2B5EF4-FFF2-40B4-BE49-F238E27FC236}">
                  <a16:creationId xmlns:a16="http://schemas.microsoft.com/office/drawing/2014/main" id="{BCF10484-C4F0-2146-A1F6-01CD23E18E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47517" y="2351087"/>
              <a:ext cx="2578100" cy="2155825"/>
              <a:chOff x="512" y="1294"/>
              <a:chExt cx="1888" cy="1358"/>
            </a:xfrm>
          </p:grpSpPr>
          <p:grpSp>
            <p:nvGrpSpPr>
              <p:cNvPr id="82" name="Group 17">
                <a:extLst>
                  <a:ext uri="{FF2B5EF4-FFF2-40B4-BE49-F238E27FC236}">
                    <a16:creationId xmlns:a16="http://schemas.microsoft.com/office/drawing/2014/main" id="{1B215862-92BC-FD44-8231-FAC4460EC9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2" y="1410"/>
                <a:ext cx="336" cy="130"/>
                <a:chOff x="2003" y="1816"/>
                <a:chExt cx="336" cy="130"/>
              </a:xfrm>
            </p:grpSpPr>
            <p:sp>
              <p:nvSpPr>
                <p:cNvPr id="91" name="Rectangle 18">
                  <a:extLst>
                    <a:ext uri="{FF2B5EF4-FFF2-40B4-BE49-F238E27FC236}">
                      <a16:creationId xmlns:a16="http://schemas.microsoft.com/office/drawing/2014/main" id="{9F916805-82BB-7244-99A5-5F0A5D1650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03" y="1816"/>
                  <a:ext cx="336" cy="130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2" name="Rectangle 19">
                  <a:extLst>
                    <a:ext uri="{FF2B5EF4-FFF2-40B4-BE49-F238E27FC236}">
                      <a16:creationId xmlns:a16="http://schemas.microsoft.com/office/drawing/2014/main" id="{4DA550D0-215D-334C-AB2B-CF8748123D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5" y="1833"/>
                  <a:ext cx="108" cy="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3" name="Rectangle 20">
                  <a:extLst>
                    <a:ext uri="{FF2B5EF4-FFF2-40B4-BE49-F238E27FC236}">
                      <a16:creationId xmlns:a16="http://schemas.microsoft.com/office/drawing/2014/main" id="{B48A6578-4F82-8A4E-B684-CD32D31F82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8" y="1891"/>
                  <a:ext cx="28" cy="35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4" name="Rectangle 21">
                  <a:extLst>
                    <a:ext uri="{FF2B5EF4-FFF2-40B4-BE49-F238E27FC236}">
                      <a16:creationId xmlns:a16="http://schemas.microsoft.com/office/drawing/2014/main" id="{FE3C8549-958F-8C49-9BB2-21BE77A5A3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6" y="1892"/>
                  <a:ext cx="29" cy="35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83" name="Rectangle 52">
                <a:extLst>
                  <a:ext uri="{FF2B5EF4-FFF2-40B4-BE49-F238E27FC236}">
                    <a16:creationId xmlns:a16="http://schemas.microsoft.com/office/drawing/2014/main" id="{4EAEE0E4-1542-A044-B98C-0D8E85284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" y="1522"/>
                <a:ext cx="1871" cy="896"/>
              </a:xfrm>
              <a:prstGeom prst="rect">
                <a:avLst/>
              </a:prstGeom>
              <a:solidFill>
                <a:srgbClr val="0000A8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4" name="Line 53">
                <a:extLst>
                  <a:ext uri="{FF2B5EF4-FFF2-40B4-BE49-F238E27FC236}">
                    <a16:creationId xmlns:a16="http://schemas.microsoft.com/office/drawing/2014/main" id="{1BF4AFA5-7079-8E48-98E5-F01131B6D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" y="1863"/>
                <a:ext cx="18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5" name="AutoShape 54">
                <a:extLst>
                  <a:ext uri="{FF2B5EF4-FFF2-40B4-BE49-F238E27FC236}">
                    <a16:creationId xmlns:a16="http://schemas.microsoft.com/office/drawing/2014/main" id="{01CE49A7-7FEA-2F41-B96C-9C13B3748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0" y="1294"/>
                <a:ext cx="157" cy="288"/>
              </a:xfrm>
              <a:prstGeom prst="upArrow">
                <a:avLst>
                  <a:gd name="adj1" fmla="val 50000"/>
                  <a:gd name="adj2" fmla="val 45860"/>
                </a:avLst>
              </a:prstGeom>
              <a:solidFill>
                <a:srgbClr val="CC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6" name="Rectangle 55" descr="Dark upward diagonal">
                <a:extLst>
                  <a:ext uri="{FF2B5EF4-FFF2-40B4-BE49-F238E27FC236}">
                    <a16:creationId xmlns:a16="http://schemas.microsoft.com/office/drawing/2014/main" id="{E7DBF90D-63AF-CA4B-B765-CCAF65A7F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1856"/>
                <a:ext cx="1848" cy="5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7" name="AutoShape 56">
                <a:extLst>
                  <a:ext uri="{FF2B5EF4-FFF2-40B4-BE49-F238E27FC236}">
                    <a16:creationId xmlns:a16="http://schemas.microsoft.com/office/drawing/2014/main" id="{E85EDD4B-2EB2-CF4B-A7E7-5DB87DD8E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2364"/>
                <a:ext cx="157" cy="288"/>
              </a:xfrm>
              <a:prstGeom prst="upArrow">
                <a:avLst>
                  <a:gd name="adj1" fmla="val 50000"/>
                  <a:gd name="adj2" fmla="val 45860"/>
                </a:avLst>
              </a:prstGeom>
              <a:solidFill>
                <a:srgbClr val="CC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8" name="Text Box 57">
                <a:extLst>
                  <a:ext uri="{FF2B5EF4-FFF2-40B4-BE49-F238E27FC236}">
                    <a16:creationId xmlns:a16="http://schemas.microsoft.com/office/drawing/2014/main" id="{18AF2730-2703-2A49-8B1B-CCB541608D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4" y="1568"/>
                <a:ext cx="124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buffered data</a:t>
                </a:r>
              </a:p>
            </p:txBody>
          </p:sp>
          <p:sp>
            <p:nvSpPr>
              <p:cNvPr id="89" name="Line 58">
                <a:extLst>
                  <a:ext uri="{FF2B5EF4-FFF2-40B4-BE49-F238E27FC236}">
                    <a16:creationId xmlns:a16="http://schemas.microsoft.com/office/drawing/2014/main" id="{3E425F76-602D-884F-B462-CE3703890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" y="1857"/>
                <a:ext cx="1878" cy="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" name="Text Box 59">
                <a:extLst>
                  <a:ext uri="{FF2B5EF4-FFF2-40B4-BE49-F238E27FC236}">
                    <a16:creationId xmlns:a16="http://schemas.microsoft.com/office/drawing/2014/main" id="{FAA57939-600A-5644-BD7E-58580D1D79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3" y="2020"/>
                <a:ext cx="152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free buffer space</a:t>
                </a:r>
              </a:p>
            </p:txBody>
          </p:sp>
        </p:grpSp>
        <p:sp>
          <p:nvSpPr>
            <p:cNvPr id="95" name="Text Box 62">
              <a:extLst>
                <a:ext uri="{FF2B5EF4-FFF2-40B4-BE49-F238E27FC236}">
                  <a16:creationId xmlns:a16="http://schemas.microsoft.com/office/drawing/2014/main" id="{AEFCE47F-E93D-AF44-B3F4-73BB671A7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0104" y="3495674"/>
              <a:ext cx="6731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rwnd</a:t>
              </a:r>
            </a:p>
          </p:txBody>
        </p:sp>
        <p:sp>
          <p:nvSpPr>
            <p:cNvPr id="96" name="Line 64">
              <a:extLst>
                <a:ext uri="{FF2B5EF4-FFF2-40B4-BE49-F238E27FC236}">
                  <a16:creationId xmlns:a16="http://schemas.microsoft.com/office/drawing/2014/main" id="{16902A7E-A0A9-CA44-AA34-DA532E000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1279" y="3228974"/>
              <a:ext cx="0" cy="3222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7" name="Line 65">
              <a:extLst>
                <a:ext uri="{FF2B5EF4-FFF2-40B4-BE49-F238E27FC236}">
                  <a16:creationId xmlns:a16="http://schemas.microsoft.com/office/drawing/2014/main" id="{D648F6B1-0A50-8C4D-A7D2-3CF747C8BA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1279" y="3754437"/>
              <a:ext cx="0" cy="322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" name="Line 66">
              <a:extLst>
                <a:ext uri="{FF2B5EF4-FFF2-40B4-BE49-F238E27FC236}">
                  <a16:creationId xmlns:a16="http://schemas.microsoft.com/office/drawing/2014/main" id="{6D1EA1AA-F1A0-E74F-8EB6-323F135BB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7292" y="4086224"/>
              <a:ext cx="4762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" name="Line 67">
              <a:extLst>
                <a:ext uri="{FF2B5EF4-FFF2-40B4-BE49-F238E27FC236}">
                  <a16:creationId xmlns:a16="http://schemas.microsoft.com/office/drawing/2014/main" id="{1C85352E-17C9-D549-A2BD-57A09913F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6504" y="3217862"/>
              <a:ext cx="1968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0" name="Line 68">
              <a:extLst>
                <a:ext uri="{FF2B5EF4-FFF2-40B4-BE49-F238E27FC236}">
                  <a16:creationId xmlns:a16="http://schemas.microsoft.com/office/drawing/2014/main" id="{EBC9AE0D-2B04-2645-9476-0B3051DF9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39517" y="2692399"/>
              <a:ext cx="4762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1" name="Line 69">
              <a:extLst>
                <a:ext uri="{FF2B5EF4-FFF2-40B4-BE49-F238E27FC236}">
                  <a16:creationId xmlns:a16="http://schemas.microsoft.com/office/drawing/2014/main" id="{C0332117-A4C3-844D-8A08-8B0B485AD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454" y="2697162"/>
              <a:ext cx="0" cy="177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2" name="Line 70">
              <a:extLst>
                <a:ext uri="{FF2B5EF4-FFF2-40B4-BE49-F238E27FC236}">
                  <a16:creationId xmlns:a16="http://schemas.microsoft.com/office/drawing/2014/main" id="{838B5881-D7D0-554D-93A9-E8D16418B8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26867" y="3121024"/>
              <a:ext cx="0" cy="9540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3" name="Text Box 71">
              <a:extLst>
                <a:ext uri="{FF2B5EF4-FFF2-40B4-BE49-F238E27FC236}">
                  <a16:creationId xmlns:a16="http://schemas.microsoft.com/office/drawing/2014/main" id="{76399630-36A1-DE42-B526-233291123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4342" y="2857499"/>
              <a:ext cx="12842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RcvBuffer</a:t>
              </a:r>
            </a:p>
          </p:txBody>
        </p:sp>
        <p:sp>
          <p:nvSpPr>
            <p:cNvPr id="104" name="Text Box 73">
              <a:extLst>
                <a:ext uri="{FF2B5EF4-FFF2-40B4-BE49-F238E27FC236}">
                  <a16:creationId xmlns:a16="http://schemas.microsoft.com/office/drawing/2014/main" id="{B6E3B689-E8B2-BF4B-86DF-927AF5D4F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2610" y="4486274"/>
              <a:ext cx="25250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segment payloads</a:t>
              </a:r>
            </a:p>
          </p:txBody>
        </p:sp>
        <p:sp>
          <p:nvSpPr>
            <p:cNvPr id="105" name="Text Box 74">
              <a:extLst>
                <a:ext uri="{FF2B5EF4-FFF2-40B4-BE49-F238E27FC236}">
                  <a16:creationId xmlns:a16="http://schemas.microsoft.com/office/drawing/2014/main" id="{91F2C3EF-EE52-4542-BF6E-028621EA7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3635" y="1985962"/>
              <a:ext cx="247856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to application process</a:t>
              </a:r>
            </a:p>
          </p:txBody>
        </p:sp>
        <p:sp>
          <p:nvSpPr>
            <p:cNvPr id="106" name="Text Box 76">
              <a:extLst>
                <a:ext uri="{FF2B5EF4-FFF2-40B4-BE49-F238E27FC236}">
                  <a16:creationId xmlns:a16="http://schemas.microsoft.com/office/drawing/2014/main" id="{0CF681A2-AC47-5344-AE94-24FC5FD82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4658" y="5138737"/>
              <a:ext cx="35637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receiver-side buffering</a:t>
              </a:r>
            </a:p>
          </p:txBody>
        </p:sp>
      </p:grpSp>
      <p:sp>
        <p:nvSpPr>
          <p:cNvPr id="5" name="Google Shape;771;p62">
            <a:extLst>
              <a:ext uri="{FF2B5EF4-FFF2-40B4-BE49-F238E27FC236}">
                <a16:creationId xmlns:a16="http://schemas.microsoft.com/office/drawing/2014/main" id="{DDB690AD-FBB6-CDED-4D5B-3453A8AC52A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dirty="0"/>
              <a:t>Setting Window Size (2/3): Don’t Overload Recipient (Flow Control)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E664B1-A8F2-BD2A-4A31-77CE8E97893B}"/>
              </a:ext>
            </a:extLst>
          </p:cNvPr>
          <p:cNvGrpSpPr/>
          <p:nvPr/>
        </p:nvGrpSpPr>
        <p:grpSpPr>
          <a:xfrm>
            <a:off x="7922797" y="4800937"/>
            <a:ext cx="4164772" cy="1950572"/>
            <a:chOff x="363537" y="4127499"/>
            <a:chExt cx="4164772" cy="1950572"/>
          </a:xfrm>
        </p:grpSpPr>
        <p:sp>
          <p:nvSpPr>
            <p:cNvPr id="8" name="Rectangle 110">
              <a:extLst>
                <a:ext uri="{FF2B5EF4-FFF2-40B4-BE49-F238E27FC236}">
                  <a16:creationId xmlns:a16="http://schemas.microsoft.com/office/drawing/2014/main" id="{83DA1324-E8F2-43F6-03CC-01AD55A0F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" y="4397375"/>
              <a:ext cx="4134671" cy="168069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9" name="Text Box 111">
              <a:extLst>
                <a:ext uri="{FF2B5EF4-FFF2-40B4-BE49-F238E27FC236}">
                  <a16:creationId xmlns:a16="http://schemas.microsoft.com/office/drawing/2014/main" id="{F4569A20-B8DD-D937-4867-37F233976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3" y="4549775"/>
              <a:ext cx="4072696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Receiver controls sender, so sender won’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overflow receiver’s buffer by transmitting too much, too fast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" name="Group 112">
              <a:extLst>
                <a:ext uri="{FF2B5EF4-FFF2-40B4-BE49-F238E27FC236}">
                  <a16:creationId xmlns:a16="http://schemas.microsoft.com/office/drawing/2014/main" id="{0706B905-0551-1B1F-E857-6FB6E959A3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438" y="4127499"/>
              <a:ext cx="2003542" cy="523875"/>
              <a:chOff x="3327" y="230"/>
              <a:chExt cx="1176" cy="330"/>
            </a:xfrm>
          </p:grpSpPr>
          <p:sp>
            <p:nvSpPr>
              <p:cNvPr id="11" name="Rectangle 113">
                <a:extLst>
                  <a:ext uri="{FF2B5EF4-FFF2-40B4-BE49-F238E27FC236}">
                    <a16:creationId xmlns:a16="http://schemas.microsoft.com/office/drawing/2014/main" id="{51745935-A022-2D51-55BE-A2E2AA224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9" y="323"/>
                <a:ext cx="1134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" name="Text Box 114">
                <a:extLst>
                  <a:ext uri="{FF2B5EF4-FFF2-40B4-BE49-F238E27FC236}">
                    <a16:creationId xmlns:a16="http://schemas.microsoft.com/office/drawing/2014/main" id="{4EBE3EB6-F1C7-0DE9-92A1-16A9EE3361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7" y="230"/>
                <a:ext cx="113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7487287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6DA1A-ECE7-A669-33D9-E517EE63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1C45-9FE6-C777-790D-06CDC0143991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57C8EAF-80BD-AAFE-A7DF-B607BD69DF4D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implementation: sliding window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 control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Congestion control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header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090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057E9964-3263-8E67-8E1A-C16641A41BA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3" name="Google Shape;1111;p73">
            <a:extLst>
              <a:ext uri="{FF2B5EF4-FFF2-40B4-BE49-F238E27FC236}">
                <a16:creationId xmlns:a16="http://schemas.microsoft.com/office/drawing/2014/main" id="{2B29F3E3-4293-59B2-A18E-799D413A4BCE}"/>
              </a:ext>
            </a:extLst>
          </p:cNvPr>
          <p:cNvSpPr txBox="1">
            <a:spLocks/>
          </p:cNvSpPr>
          <p:nvPr/>
        </p:nvSpPr>
        <p:spPr>
          <a:xfrm>
            <a:off x="624841" y="698074"/>
            <a:ext cx="10931851" cy="28064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Previously, we set </a:t>
            </a:r>
            <a:r>
              <a:rPr lang="en-US" sz="2400" i="1" dirty="0"/>
              <a:t>W</a:t>
            </a:r>
            <a:r>
              <a:rPr lang="en-US" sz="2400" dirty="0"/>
              <a:t> to fully consume the bottleneck link bandwidth.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Example: S–D would set </a:t>
            </a:r>
            <a:r>
              <a:rPr lang="en-US" sz="2400" i="1" dirty="0"/>
              <a:t>W</a:t>
            </a:r>
            <a:r>
              <a:rPr lang="en-US" sz="2400" dirty="0"/>
              <a:t> to send data at 1 Gbps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In practice, the bottleneck is shared with other flows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Example: With the red flow, S–D should only send at 0.5 Gbps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Each sender should only consume </a:t>
            </a:r>
            <a:r>
              <a:rPr lang="en-US" sz="2000" i="1" dirty="0"/>
              <a:t>its share</a:t>
            </a:r>
            <a:r>
              <a:rPr lang="en-US" sz="2000" dirty="0"/>
              <a:t> of the bandwidth </a:t>
            </a:r>
            <a:r>
              <a:rPr lang="en-US" sz="2000" dirty="0">
                <a:sym typeface="Wingdings" panose="05000000000000000000" pitchFamily="2" charset="2"/>
              </a:rPr>
              <a:t> Should reduce window size W</a:t>
            </a:r>
            <a:endParaRPr lang="en-US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But, how do we update the window size?</a:t>
            </a:r>
          </a:p>
        </p:txBody>
      </p:sp>
      <p:sp>
        <p:nvSpPr>
          <p:cNvPr id="16" name="Google Shape;1122;p73">
            <a:extLst>
              <a:ext uri="{FF2B5EF4-FFF2-40B4-BE49-F238E27FC236}">
                <a16:creationId xmlns:a16="http://schemas.microsoft.com/office/drawing/2014/main" id="{1EDF33DD-8F2A-97C6-F883-F389C7D72DBE}"/>
              </a:ext>
            </a:extLst>
          </p:cNvPr>
          <p:cNvSpPr txBox="1"/>
          <p:nvPr/>
        </p:nvSpPr>
        <p:spPr>
          <a:xfrm>
            <a:off x="7087678" y="3024722"/>
            <a:ext cx="4469014" cy="1483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Recall: </a:t>
            </a:r>
            <a:r>
              <a:rPr lang="en" sz="2400" i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W = RTT × bandwidth</a:t>
            </a:r>
            <a:endParaRPr sz="2400" i="1" dirty="0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</a:t>
            </a:r>
            <a:r>
              <a:rPr lang="en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bandwidth are proportional (roughly speaking)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25C740-11E4-7E31-65BB-98FA14D23EF4}"/>
              </a:ext>
            </a:extLst>
          </p:cNvPr>
          <p:cNvGrpSpPr/>
          <p:nvPr/>
        </p:nvGrpSpPr>
        <p:grpSpPr>
          <a:xfrm>
            <a:off x="624841" y="4632274"/>
            <a:ext cx="6054406" cy="1716234"/>
            <a:chOff x="853170" y="4155756"/>
            <a:chExt cx="4875225" cy="1234476"/>
          </a:xfrm>
        </p:grpSpPr>
        <p:cxnSp>
          <p:nvCxnSpPr>
            <p:cNvPr id="4" name="Google Shape;1108;p73">
              <a:extLst>
                <a:ext uri="{FF2B5EF4-FFF2-40B4-BE49-F238E27FC236}">
                  <a16:creationId xmlns:a16="http://schemas.microsoft.com/office/drawing/2014/main" id="{4F656AFF-E99F-5FD4-C9C3-6ABEE7C40704}"/>
                </a:ext>
              </a:extLst>
            </p:cNvPr>
            <p:cNvCxnSpPr/>
            <p:nvPr/>
          </p:nvCxnSpPr>
          <p:spPr>
            <a:xfrm>
              <a:off x="1136032" y="4440234"/>
              <a:ext cx="4306800" cy="0"/>
            </a:xfrm>
            <a:prstGeom prst="straightConnector1">
              <a:avLst/>
            </a:prstGeom>
            <a:noFill/>
            <a:ln w="19050" cap="flat" cmpd="sng">
              <a:solidFill>
                <a:srgbClr val="F1C23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5" name="Google Shape;1109;p73">
              <a:extLst>
                <a:ext uri="{FF2B5EF4-FFF2-40B4-BE49-F238E27FC236}">
                  <a16:creationId xmlns:a16="http://schemas.microsoft.com/office/drawing/2014/main" id="{08900D87-BDBB-E75B-61E9-45F6144042CA}"/>
                </a:ext>
              </a:extLst>
            </p:cNvPr>
            <p:cNvSpPr/>
            <p:nvPr/>
          </p:nvSpPr>
          <p:spPr>
            <a:xfrm>
              <a:off x="1608332" y="4524234"/>
              <a:ext cx="3464022" cy="865998"/>
            </a:xfrm>
            <a:custGeom>
              <a:avLst/>
              <a:gdLst/>
              <a:ahLst/>
              <a:cxnLst/>
              <a:rect l="l" t="t" r="r" b="b"/>
              <a:pathLst>
                <a:path w="131064" h="42919" extrusionOk="0">
                  <a:moveTo>
                    <a:pt x="0" y="41776"/>
                  </a:moveTo>
                  <a:cubicBezTo>
                    <a:pt x="4847" y="35680"/>
                    <a:pt x="13272" y="11444"/>
                    <a:pt x="29083" y="5200"/>
                  </a:cubicBezTo>
                  <a:cubicBezTo>
                    <a:pt x="44895" y="-1044"/>
                    <a:pt x="77872" y="-1975"/>
                    <a:pt x="94869" y="4311"/>
                  </a:cubicBezTo>
                  <a:cubicBezTo>
                    <a:pt x="111866" y="10598"/>
                    <a:pt x="125032" y="36484"/>
                    <a:pt x="131064" y="42919"/>
                  </a:cubicBezTo>
                </a:path>
              </a:pathLst>
            </a:custGeom>
            <a:noFill/>
            <a:ln w="19050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Google Shape;1112;p73">
              <a:extLst>
                <a:ext uri="{FF2B5EF4-FFF2-40B4-BE49-F238E27FC236}">
                  <a16:creationId xmlns:a16="http://schemas.microsoft.com/office/drawing/2014/main" id="{5E484ECB-BEA9-7DAF-28C2-4E233F7E8253}"/>
                </a:ext>
              </a:extLst>
            </p:cNvPr>
            <p:cNvSpPr/>
            <p:nvPr/>
          </p:nvSpPr>
          <p:spPr>
            <a:xfrm>
              <a:off x="2383260" y="4356484"/>
              <a:ext cx="285000" cy="285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" name="Google Shape;1113;p73">
              <a:extLst>
                <a:ext uri="{FF2B5EF4-FFF2-40B4-BE49-F238E27FC236}">
                  <a16:creationId xmlns:a16="http://schemas.microsoft.com/office/drawing/2014/main" id="{B397D7F1-C325-3F3E-0064-538082412F45}"/>
                </a:ext>
              </a:extLst>
            </p:cNvPr>
            <p:cNvCxnSpPr>
              <a:stCxn id="8" idx="6"/>
              <a:endCxn id="6" idx="1"/>
            </p:cNvCxnSpPr>
            <p:nvPr/>
          </p:nvCxnSpPr>
          <p:spPr>
            <a:xfrm>
              <a:off x="1138170" y="4498984"/>
              <a:ext cx="124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1114;p73">
              <a:extLst>
                <a:ext uri="{FF2B5EF4-FFF2-40B4-BE49-F238E27FC236}">
                  <a16:creationId xmlns:a16="http://schemas.microsoft.com/office/drawing/2014/main" id="{E4F18AC2-31AE-5509-4D7E-305B01206C1A}"/>
                </a:ext>
              </a:extLst>
            </p:cNvPr>
            <p:cNvSpPr/>
            <p:nvPr/>
          </p:nvSpPr>
          <p:spPr>
            <a:xfrm>
              <a:off x="853170" y="4356484"/>
              <a:ext cx="285000" cy="2850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115;p73">
              <a:extLst>
                <a:ext uri="{FF2B5EF4-FFF2-40B4-BE49-F238E27FC236}">
                  <a16:creationId xmlns:a16="http://schemas.microsoft.com/office/drawing/2014/main" id="{609A3362-63F6-9369-AB56-30B90AB5AD66}"/>
                </a:ext>
              </a:extLst>
            </p:cNvPr>
            <p:cNvSpPr/>
            <p:nvPr/>
          </p:nvSpPr>
          <p:spPr>
            <a:xfrm>
              <a:off x="3913335" y="4356484"/>
              <a:ext cx="285000" cy="285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" name="Google Shape;1116;p73">
              <a:extLst>
                <a:ext uri="{FF2B5EF4-FFF2-40B4-BE49-F238E27FC236}">
                  <a16:creationId xmlns:a16="http://schemas.microsoft.com/office/drawing/2014/main" id="{B2844AF2-3491-76AE-4569-5C0AA6EE2073}"/>
                </a:ext>
              </a:extLst>
            </p:cNvPr>
            <p:cNvCxnSpPr>
              <a:stCxn id="6" idx="3"/>
              <a:endCxn id="9" idx="1"/>
            </p:cNvCxnSpPr>
            <p:nvPr/>
          </p:nvCxnSpPr>
          <p:spPr>
            <a:xfrm>
              <a:off x="2668260" y="4498984"/>
              <a:ext cx="124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117;p73">
              <a:extLst>
                <a:ext uri="{FF2B5EF4-FFF2-40B4-BE49-F238E27FC236}">
                  <a16:creationId xmlns:a16="http://schemas.microsoft.com/office/drawing/2014/main" id="{96CF1D0F-2780-EA94-5D7E-978CD43ABB97}"/>
                </a:ext>
              </a:extLst>
            </p:cNvPr>
            <p:cNvSpPr/>
            <p:nvPr/>
          </p:nvSpPr>
          <p:spPr>
            <a:xfrm>
              <a:off x="5443395" y="4356484"/>
              <a:ext cx="285000" cy="2850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" name="Google Shape;1118;p73">
              <a:extLst>
                <a:ext uri="{FF2B5EF4-FFF2-40B4-BE49-F238E27FC236}">
                  <a16:creationId xmlns:a16="http://schemas.microsoft.com/office/drawing/2014/main" id="{97CF0289-E9D1-049A-7476-413B3C5F26E2}"/>
                </a:ext>
              </a:extLst>
            </p:cNvPr>
            <p:cNvCxnSpPr>
              <a:stCxn id="9" idx="3"/>
              <a:endCxn id="11" idx="2"/>
            </p:cNvCxnSpPr>
            <p:nvPr/>
          </p:nvCxnSpPr>
          <p:spPr>
            <a:xfrm>
              <a:off x="4198335" y="4498984"/>
              <a:ext cx="124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Google Shape;1119;p73">
              <a:extLst>
                <a:ext uri="{FF2B5EF4-FFF2-40B4-BE49-F238E27FC236}">
                  <a16:creationId xmlns:a16="http://schemas.microsoft.com/office/drawing/2014/main" id="{5444A6B1-BE43-F223-5D57-FA707E888C03}"/>
                </a:ext>
              </a:extLst>
            </p:cNvPr>
            <p:cNvSpPr txBox="1"/>
            <p:nvPr/>
          </p:nvSpPr>
          <p:spPr>
            <a:xfrm>
              <a:off x="1153107" y="4155756"/>
              <a:ext cx="12300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 Gbps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1120;p73">
              <a:extLst>
                <a:ext uri="{FF2B5EF4-FFF2-40B4-BE49-F238E27FC236}">
                  <a16:creationId xmlns:a16="http://schemas.microsoft.com/office/drawing/2014/main" id="{83FF3DDB-3764-A765-C56C-F2A5E674792E}"/>
                </a:ext>
              </a:extLst>
            </p:cNvPr>
            <p:cNvSpPr txBox="1"/>
            <p:nvPr/>
          </p:nvSpPr>
          <p:spPr>
            <a:xfrm>
              <a:off x="2683332" y="4155756"/>
              <a:ext cx="12300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 Gbps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121;p73">
              <a:extLst>
                <a:ext uri="{FF2B5EF4-FFF2-40B4-BE49-F238E27FC236}">
                  <a16:creationId xmlns:a16="http://schemas.microsoft.com/office/drawing/2014/main" id="{CDE9E405-726F-7060-444D-3BD0F93B7E70}"/>
                </a:ext>
              </a:extLst>
            </p:cNvPr>
            <p:cNvSpPr txBox="1"/>
            <p:nvPr/>
          </p:nvSpPr>
          <p:spPr>
            <a:xfrm>
              <a:off x="4198407" y="4155756"/>
              <a:ext cx="12300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5 Gbps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123;p73">
              <a:extLst>
                <a:ext uri="{FF2B5EF4-FFF2-40B4-BE49-F238E27FC236}">
                  <a16:creationId xmlns:a16="http://schemas.microsoft.com/office/drawing/2014/main" id="{57817866-17EC-5390-ABF6-E0305971603E}"/>
                </a:ext>
              </a:extLst>
            </p:cNvPr>
            <p:cNvSpPr txBox="1"/>
            <p:nvPr/>
          </p:nvSpPr>
          <p:spPr>
            <a:xfrm>
              <a:off x="1734807" y="5098384"/>
              <a:ext cx="948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  <a:latin typeface="Roboto"/>
                  <a:ea typeface="Roboto"/>
                  <a:cs typeface="Roboto"/>
                  <a:sym typeface="Roboto"/>
                </a:rPr>
                <a:t>0.5 Gbps</a:t>
              </a:r>
              <a:endParaRPr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124;p73">
              <a:extLst>
                <a:ext uri="{FF2B5EF4-FFF2-40B4-BE49-F238E27FC236}">
                  <a16:creationId xmlns:a16="http://schemas.microsoft.com/office/drawing/2014/main" id="{79840B9A-89F6-3DE1-E59C-4D5AAB9290F2}"/>
                </a:ext>
              </a:extLst>
            </p:cNvPr>
            <p:cNvSpPr txBox="1"/>
            <p:nvPr/>
          </p:nvSpPr>
          <p:spPr>
            <a:xfrm>
              <a:off x="1009107" y="4557209"/>
              <a:ext cx="948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1C232"/>
                  </a:solidFill>
                  <a:latin typeface="Roboto"/>
                  <a:ea typeface="Roboto"/>
                  <a:cs typeface="Roboto"/>
                  <a:sym typeface="Roboto"/>
                </a:rPr>
                <a:t>0.5 Gbps</a:t>
              </a:r>
              <a:endParaRPr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5D0A63E-7475-F944-ACEB-76CF475D9BA7}"/>
              </a:ext>
            </a:extLst>
          </p:cNvPr>
          <p:cNvGrpSpPr/>
          <p:nvPr/>
        </p:nvGrpSpPr>
        <p:grpSpPr>
          <a:xfrm>
            <a:off x="6826889" y="4410467"/>
            <a:ext cx="4621843" cy="2352300"/>
            <a:chOff x="6996227" y="4597075"/>
            <a:chExt cx="4621843" cy="2352300"/>
          </a:xfrm>
        </p:grpSpPr>
        <p:cxnSp>
          <p:nvCxnSpPr>
            <p:cNvPr id="38" name="Google Shape;185;p27">
              <a:extLst>
                <a:ext uri="{FF2B5EF4-FFF2-40B4-BE49-F238E27FC236}">
                  <a16:creationId xmlns:a16="http://schemas.microsoft.com/office/drawing/2014/main" id="{191AEDE0-1767-F97A-2998-7FFE5E1E31C7}"/>
                </a:ext>
              </a:extLst>
            </p:cNvPr>
            <p:cNvCxnSpPr/>
            <p:nvPr/>
          </p:nvCxnSpPr>
          <p:spPr>
            <a:xfrm>
              <a:off x="10327077" y="4597075"/>
              <a:ext cx="0" cy="2352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182;p27">
              <a:extLst>
                <a:ext uri="{FF2B5EF4-FFF2-40B4-BE49-F238E27FC236}">
                  <a16:creationId xmlns:a16="http://schemas.microsoft.com/office/drawing/2014/main" id="{0BD2491C-467C-96D3-BE7E-CC7D1A704173}"/>
                </a:ext>
              </a:extLst>
            </p:cNvPr>
            <p:cNvCxnSpPr/>
            <p:nvPr/>
          </p:nvCxnSpPr>
          <p:spPr>
            <a:xfrm rot="10800000">
              <a:off x="8202227" y="4766514"/>
              <a:ext cx="0" cy="1756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183;p27">
              <a:extLst>
                <a:ext uri="{FF2B5EF4-FFF2-40B4-BE49-F238E27FC236}">
                  <a16:creationId xmlns:a16="http://schemas.microsoft.com/office/drawing/2014/main" id="{7A91C35A-90C4-F4A3-F775-38C8F0AF8159}"/>
                </a:ext>
              </a:extLst>
            </p:cNvPr>
            <p:cNvCxnSpPr/>
            <p:nvPr/>
          </p:nvCxnSpPr>
          <p:spPr>
            <a:xfrm>
              <a:off x="8202227" y="6413850"/>
              <a:ext cx="2344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7" name="Google Shape;184;p27">
              <a:extLst>
                <a:ext uri="{FF2B5EF4-FFF2-40B4-BE49-F238E27FC236}">
                  <a16:creationId xmlns:a16="http://schemas.microsoft.com/office/drawing/2014/main" id="{83A77A46-131A-2D2D-662F-D3D62F9E57EC}"/>
                </a:ext>
              </a:extLst>
            </p:cNvPr>
            <p:cNvSpPr/>
            <p:nvPr/>
          </p:nvSpPr>
          <p:spPr>
            <a:xfrm>
              <a:off x="8202227" y="4820074"/>
              <a:ext cx="2067075" cy="1528434"/>
            </a:xfrm>
            <a:custGeom>
              <a:avLst/>
              <a:gdLst/>
              <a:ahLst/>
              <a:cxnLst/>
              <a:rect l="l" t="t" r="r" b="b"/>
              <a:pathLst>
                <a:path w="82683" h="74286" extrusionOk="0">
                  <a:moveTo>
                    <a:pt x="0" y="74286"/>
                  </a:moveTo>
                  <a:cubicBezTo>
                    <a:pt x="11950" y="72025"/>
                    <a:pt x="57922" y="73102"/>
                    <a:pt x="71702" y="60721"/>
                  </a:cubicBezTo>
                  <a:cubicBezTo>
                    <a:pt x="85483" y="48340"/>
                    <a:pt x="80853" y="10120"/>
                    <a:pt x="82683" y="0"/>
                  </a:cubicBez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Google Shape;186;p27">
              <a:extLst>
                <a:ext uri="{FF2B5EF4-FFF2-40B4-BE49-F238E27FC236}">
                  <a16:creationId xmlns:a16="http://schemas.microsoft.com/office/drawing/2014/main" id="{764CF67B-CAF9-E831-061B-07D10110A5CB}"/>
                </a:ext>
              </a:extLst>
            </p:cNvPr>
            <p:cNvSpPr txBox="1"/>
            <p:nvPr/>
          </p:nvSpPr>
          <p:spPr>
            <a:xfrm>
              <a:off x="8202227" y="6443575"/>
              <a:ext cx="2124900" cy="33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Load (Utilization)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" name="Google Shape;187;p27">
              <a:extLst>
                <a:ext uri="{FF2B5EF4-FFF2-40B4-BE49-F238E27FC236}">
                  <a16:creationId xmlns:a16="http://schemas.microsoft.com/office/drawing/2014/main" id="{99261A9F-9842-FBDE-1379-DB24D85F6DCB}"/>
                </a:ext>
              </a:extLst>
            </p:cNvPr>
            <p:cNvSpPr txBox="1"/>
            <p:nvPr/>
          </p:nvSpPr>
          <p:spPr>
            <a:xfrm>
              <a:off x="10321445" y="6443579"/>
              <a:ext cx="1296625" cy="332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100% load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" name="Google Shape;188;p27">
              <a:extLst>
                <a:ext uri="{FF2B5EF4-FFF2-40B4-BE49-F238E27FC236}">
                  <a16:creationId xmlns:a16="http://schemas.microsoft.com/office/drawing/2014/main" id="{F3BFFD33-3733-764D-8CCE-618FB2839552}"/>
                </a:ext>
              </a:extLst>
            </p:cNvPr>
            <p:cNvSpPr txBox="1"/>
            <p:nvPr/>
          </p:nvSpPr>
          <p:spPr>
            <a:xfrm>
              <a:off x="6996227" y="5233287"/>
              <a:ext cx="1129650" cy="8863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Average Packet Delay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9544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1971-10F9-A713-B750-43273471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B512841A-EB36-D369-23A1-E0AF08154B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16" name="Google Shape;1122;p73">
            <a:extLst>
              <a:ext uri="{FF2B5EF4-FFF2-40B4-BE49-F238E27FC236}">
                <a16:creationId xmlns:a16="http://schemas.microsoft.com/office/drawing/2014/main" id="{8F788E9A-B643-1DF6-EC71-D538AECBADAF}"/>
              </a:ext>
            </a:extLst>
          </p:cNvPr>
          <p:cNvSpPr txBox="1"/>
          <p:nvPr/>
        </p:nvSpPr>
        <p:spPr>
          <a:xfrm>
            <a:off x="7642036" y="4629781"/>
            <a:ext cx="4469014" cy="1483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Recall: </a:t>
            </a:r>
            <a:r>
              <a:rPr lang="en" sz="2400" i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W = RTT × bandwidth</a:t>
            </a:r>
            <a:endParaRPr sz="2400" i="1" dirty="0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</a:t>
            </a:r>
            <a:r>
              <a:rPr lang="en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bandwidth are proportional (roughly speaking)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9CBBAC-70C3-6E5C-E2B9-9A3F6E53EC2C}"/>
              </a:ext>
            </a:extLst>
          </p:cNvPr>
          <p:cNvGrpSpPr/>
          <p:nvPr/>
        </p:nvGrpSpPr>
        <p:grpSpPr>
          <a:xfrm>
            <a:off x="1205709" y="4998994"/>
            <a:ext cx="6054406" cy="1716234"/>
            <a:chOff x="853170" y="4155756"/>
            <a:chExt cx="4875225" cy="1234476"/>
          </a:xfrm>
        </p:grpSpPr>
        <p:cxnSp>
          <p:nvCxnSpPr>
            <p:cNvPr id="4" name="Google Shape;1108;p73">
              <a:extLst>
                <a:ext uri="{FF2B5EF4-FFF2-40B4-BE49-F238E27FC236}">
                  <a16:creationId xmlns:a16="http://schemas.microsoft.com/office/drawing/2014/main" id="{87B09C59-D291-CC98-B48F-53A4E3E0F08E}"/>
                </a:ext>
              </a:extLst>
            </p:cNvPr>
            <p:cNvCxnSpPr/>
            <p:nvPr/>
          </p:nvCxnSpPr>
          <p:spPr>
            <a:xfrm>
              <a:off x="1136032" y="4440234"/>
              <a:ext cx="4306800" cy="0"/>
            </a:xfrm>
            <a:prstGeom prst="straightConnector1">
              <a:avLst/>
            </a:prstGeom>
            <a:noFill/>
            <a:ln w="19050" cap="flat" cmpd="sng">
              <a:solidFill>
                <a:srgbClr val="F1C23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5" name="Google Shape;1109;p73">
              <a:extLst>
                <a:ext uri="{FF2B5EF4-FFF2-40B4-BE49-F238E27FC236}">
                  <a16:creationId xmlns:a16="http://schemas.microsoft.com/office/drawing/2014/main" id="{42DE2855-2AD7-50A0-76A3-85CAC8268B28}"/>
                </a:ext>
              </a:extLst>
            </p:cNvPr>
            <p:cNvSpPr/>
            <p:nvPr/>
          </p:nvSpPr>
          <p:spPr>
            <a:xfrm>
              <a:off x="1608332" y="4524234"/>
              <a:ext cx="3464022" cy="865998"/>
            </a:xfrm>
            <a:custGeom>
              <a:avLst/>
              <a:gdLst/>
              <a:ahLst/>
              <a:cxnLst/>
              <a:rect l="l" t="t" r="r" b="b"/>
              <a:pathLst>
                <a:path w="131064" h="42919" extrusionOk="0">
                  <a:moveTo>
                    <a:pt x="0" y="41776"/>
                  </a:moveTo>
                  <a:cubicBezTo>
                    <a:pt x="4847" y="35680"/>
                    <a:pt x="13272" y="11444"/>
                    <a:pt x="29083" y="5200"/>
                  </a:cubicBezTo>
                  <a:cubicBezTo>
                    <a:pt x="44895" y="-1044"/>
                    <a:pt x="77872" y="-1975"/>
                    <a:pt x="94869" y="4311"/>
                  </a:cubicBezTo>
                  <a:cubicBezTo>
                    <a:pt x="111866" y="10598"/>
                    <a:pt x="125032" y="36484"/>
                    <a:pt x="131064" y="42919"/>
                  </a:cubicBezTo>
                </a:path>
              </a:pathLst>
            </a:custGeom>
            <a:noFill/>
            <a:ln w="19050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Google Shape;1112;p73">
              <a:extLst>
                <a:ext uri="{FF2B5EF4-FFF2-40B4-BE49-F238E27FC236}">
                  <a16:creationId xmlns:a16="http://schemas.microsoft.com/office/drawing/2014/main" id="{C9F186B3-ED72-D28C-99E5-B93E917209C5}"/>
                </a:ext>
              </a:extLst>
            </p:cNvPr>
            <p:cNvSpPr/>
            <p:nvPr/>
          </p:nvSpPr>
          <p:spPr>
            <a:xfrm>
              <a:off x="2383260" y="4356484"/>
              <a:ext cx="285000" cy="285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" name="Google Shape;1113;p73">
              <a:extLst>
                <a:ext uri="{FF2B5EF4-FFF2-40B4-BE49-F238E27FC236}">
                  <a16:creationId xmlns:a16="http://schemas.microsoft.com/office/drawing/2014/main" id="{0DFF0E70-EF6C-5D5F-A541-77566D0F6D8D}"/>
                </a:ext>
              </a:extLst>
            </p:cNvPr>
            <p:cNvCxnSpPr>
              <a:stCxn id="8" idx="6"/>
              <a:endCxn id="6" idx="1"/>
            </p:cNvCxnSpPr>
            <p:nvPr/>
          </p:nvCxnSpPr>
          <p:spPr>
            <a:xfrm>
              <a:off x="1138170" y="4498984"/>
              <a:ext cx="124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1114;p73">
              <a:extLst>
                <a:ext uri="{FF2B5EF4-FFF2-40B4-BE49-F238E27FC236}">
                  <a16:creationId xmlns:a16="http://schemas.microsoft.com/office/drawing/2014/main" id="{42870BB8-6BF8-C70B-02C9-AD87DA3D5A7F}"/>
                </a:ext>
              </a:extLst>
            </p:cNvPr>
            <p:cNvSpPr/>
            <p:nvPr/>
          </p:nvSpPr>
          <p:spPr>
            <a:xfrm>
              <a:off x="853170" y="4356484"/>
              <a:ext cx="285000" cy="2850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115;p73">
              <a:extLst>
                <a:ext uri="{FF2B5EF4-FFF2-40B4-BE49-F238E27FC236}">
                  <a16:creationId xmlns:a16="http://schemas.microsoft.com/office/drawing/2014/main" id="{284F5DA4-651D-ECA7-3FB9-406F49B3F734}"/>
                </a:ext>
              </a:extLst>
            </p:cNvPr>
            <p:cNvSpPr/>
            <p:nvPr/>
          </p:nvSpPr>
          <p:spPr>
            <a:xfrm>
              <a:off x="3913335" y="4356484"/>
              <a:ext cx="285000" cy="285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" name="Google Shape;1116;p73">
              <a:extLst>
                <a:ext uri="{FF2B5EF4-FFF2-40B4-BE49-F238E27FC236}">
                  <a16:creationId xmlns:a16="http://schemas.microsoft.com/office/drawing/2014/main" id="{EA660EC6-6DAC-2E50-81BC-89C8F1417427}"/>
                </a:ext>
              </a:extLst>
            </p:cNvPr>
            <p:cNvCxnSpPr>
              <a:stCxn id="6" idx="3"/>
              <a:endCxn id="9" idx="1"/>
            </p:cNvCxnSpPr>
            <p:nvPr/>
          </p:nvCxnSpPr>
          <p:spPr>
            <a:xfrm>
              <a:off x="2668260" y="4498984"/>
              <a:ext cx="124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117;p73">
              <a:extLst>
                <a:ext uri="{FF2B5EF4-FFF2-40B4-BE49-F238E27FC236}">
                  <a16:creationId xmlns:a16="http://schemas.microsoft.com/office/drawing/2014/main" id="{63B897C0-8658-2C09-0138-E30FCE3A8B74}"/>
                </a:ext>
              </a:extLst>
            </p:cNvPr>
            <p:cNvSpPr/>
            <p:nvPr/>
          </p:nvSpPr>
          <p:spPr>
            <a:xfrm>
              <a:off x="5443395" y="4356484"/>
              <a:ext cx="285000" cy="2850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" name="Google Shape;1118;p73">
              <a:extLst>
                <a:ext uri="{FF2B5EF4-FFF2-40B4-BE49-F238E27FC236}">
                  <a16:creationId xmlns:a16="http://schemas.microsoft.com/office/drawing/2014/main" id="{5E1B4B58-35BD-29EB-BA15-731F09E52B61}"/>
                </a:ext>
              </a:extLst>
            </p:cNvPr>
            <p:cNvCxnSpPr>
              <a:stCxn id="9" idx="3"/>
              <a:endCxn id="11" idx="2"/>
            </p:cNvCxnSpPr>
            <p:nvPr/>
          </p:nvCxnSpPr>
          <p:spPr>
            <a:xfrm>
              <a:off x="4198335" y="4498984"/>
              <a:ext cx="1245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Google Shape;1119;p73">
              <a:extLst>
                <a:ext uri="{FF2B5EF4-FFF2-40B4-BE49-F238E27FC236}">
                  <a16:creationId xmlns:a16="http://schemas.microsoft.com/office/drawing/2014/main" id="{A6B833A5-3907-1607-E1C0-0BF2A6B931C8}"/>
                </a:ext>
              </a:extLst>
            </p:cNvPr>
            <p:cNvSpPr txBox="1"/>
            <p:nvPr/>
          </p:nvSpPr>
          <p:spPr>
            <a:xfrm>
              <a:off x="1153107" y="4155756"/>
              <a:ext cx="12300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 Gbps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1120;p73">
              <a:extLst>
                <a:ext uri="{FF2B5EF4-FFF2-40B4-BE49-F238E27FC236}">
                  <a16:creationId xmlns:a16="http://schemas.microsoft.com/office/drawing/2014/main" id="{350243BF-570C-1F3B-ADA3-7C06EE9B0E26}"/>
                </a:ext>
              </a:extLst>
            </p:cNvPr>
            <p:cNvSpPr txBox="1"/>
            <p:nvPr/>
          </p:nvSpPr>
          <p:spPr>
            <a:xfrm>
              <a:off x="2683332" y="4155756"/>
              <a:ext cx="12300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 Gbps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121;p73">
              <a:extLst>
                <a:ext uri="{FF2B5EF4-FFF2-40B4-BE49-F238E27FC236}">
                  <a16:creationId xmlns:a16="http://schemas.microsoft.com/office/drawing/2014/main" id="{3C1FB971-EBEC-8C0B-1AD8-9B6B543E1B29}"/>
                </a:ext>
              </a:extLst>
            </p:cNvPr>
            <p:cNvSpPr txBox="1"/>
            <p:nvPr/>
          </p:nvSpPr>
          <p:spPr>
            <a:xfrm>
              <a:off x="4198407" y="4155756"/>
              <a:ext cx="12300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5 Gbps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123;p73">
              <a:extLst>
                <a:ext uri="{FF2B5EF4-FFF2-40B4-BE49-F238E27FC236}">
                  <a16:creationId xmlns:a16="http://schemas.microsoft.com/office/drawing/2014/main" id="{953ED613-9AD6-FC51-C91E-60893BB18AFC}"/>
                </a:ext>
              </a:extLst>
            </p:cNvPr>
            <p:cNvSpPr txBox="1"/>
            <p:nvPr/>
          </p:nvSpPr>
          <p:spPr>
            <a:xfrm>
              <a:off x="1734807" y="5098384"/>
              <a:ext cx="948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  <a:latin typeface="Roboto"/>
                  <a:ea typeface="Roboto"/>
                  <a:cs typeface="Roboto"/>
                  <a:sym typeface="Roboto"/>
                </a:rPr>
                <a:t>0.5 Gbps</a:t>
              </a:r>
              <a:endParaRPr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124;p73">
              <a:extLst>
                <a:ext uri="{FF2B5EF4-FFF2-40B4-BE49-F238E27FC236}">
                  <a16:creationId xmlns:a16="http://schemas.microsoft.com/office/drawing/2014/main" id="{3D223492-455B-8A5A-2ED3-4130B85E70D8}"/>
                </a:ext>
              </a:extLst>
            </p:cNvPr>
            <p:cNvSpPr txBox="1"/>
            <p:nvPr/>
          </p:nvSpPr>
          <p:spPr>
            <a:xfrm>
              <a:off x="1009107" y="4557209"/>
              <a:ext cx="948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1C232"/>
                  </a:solidFill>
                  <a:latin typeface="Roboto"/>
                  <a:ea typeface="Roboto"/>
                  <a:cs typeface="Roboto"/>
                  <a:sym typeface="Roboto"/>
                </a:rPr>
                <a:t>0.5 Gbps</a:t>
              </a:r>
              <a:endParaRPr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" name="Google Shape;1130;p74">
            <a:extLst>
              <a:ext uri="{FF2B5EF4-FFF2-40B4-BE49-F238E27FC236}">
                <a16:creationId xmlns:a16="http://schemas.microsoft.com/office/drawing/2014/main" id="{40ED3D55-B2B9-EFCE-B9D7-69CDEA0AFDDD}"/>
              </a:ext>
            </a:extLst>
          </p:cNvPr>
          <p:cNvSpPr txBox="1">
            <a:spLocks/>
          </p:cNvSpPr>
          <p:nvPr/>
        </p:nvSpPr>
        <p:spPr>
          <a:xfrm>
            <a:off x="255426" y="616261"/>
            <a:ext cx="11681148" cy="35875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The </a:t>
            </a:r>
            <a:r>
              <a:rPr lang="en-US" sz="2400" b="1" dirty="0"/>
              <a:t>sender's TCP code </a:t>
            </a:r>
            <a:r>
              <a:rPr lang="en-US" sz="2400" dirty="0"/>
              <a:t>implements a </a:t>
            </a:r>
            <a:r>
              <a:rPr lang="en-US" sz="2400" b="1" dirty="0">
                <a:solidFill>
                  <a:srgbClr val="C00000"/>
                </a:solidFill>
              </a:rPr>
              <a:t>congestion control algorithm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dynamically computes the sender's share of bandwidth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algorithm balances a few goals (e.g. performance, avoid overload, fairness)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Dynamic adjustment: Learn the current congestion level, and adjust rate accordingly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output of the algorithm is a </a:t>
            </a:r>
            <a:r>
              <a:rPr lang="en-US" sz="2400" b="1" dirty="0">
                <a:solidFill>
                  <a:srgbClr val="C00000"/>
                </a:solidFill>
              </a:rPr>
              <a:t>congestion window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(cwnd)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There are network-assisted congestion control algorithms (TCP ECN, ATM, </a:t>
            </a:r>
            <a:r>
              <a:rPr lang="en-US" sz="2400" dirty="0" err="1"/>
              <a:t>DECbit</a:t>
            </a:r>
            <a:r>
              <a:rPr lang="en-US" sz="2400" dirty="0"/>
              <a:t>, etc.):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Routers provide direct feedback to sender/receiver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21" name="Google Shape;1132;p74">
            <a:extLst>
              <a:ext uri="{FF2B5EF4-FFF2-40B4-BE49-F238E27FC236}">
                <a16:creationId xmlns:a16="http://schemas.microsoft.com/office/drawing/2014/main" id="{E5E07C15-03E1-75D4-8411-C1C08A7D5CD2}"/>
              </a:ext>
            </a:extLst>
          </p:cNvPr>
          <p:cNvSpPr/>
          <p:nvPr/>
        </p:nvSpPr>
        <p:spPr>
          <a:xfrm>
            <a:off x="773014" y="4320579"/>
            <a:ext cx="3776952" cy="660863"/>
          </a:xfrm>
          <a:prstGeom prst="wedgeRoundRectCallout">
            <a:avLst>
              <a:gd name="adj1" fmla="val -35419"/>
              <a:gd name="adj2" fmla="val 82423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I have magically decided that </a:t>
            </a:r>
            <a:r>
              <a:rPr lang="en" i="1" dirty="0"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= 7 avoids overloading the network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48278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7F85D9AC-92EB-E209-E9F4-21881A426A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4" name="Google Shape;634;p47">
            <a:extLst>
              <a:ext uri="{FF2B5EF4-FFF2-40B4-BE49-F238E27FC236}">
                <a16:creationId xmlns:a16="http://schemas.microsoft.com/office/drawing/2014/main" id="{D9216B46-D56E-610D-EE07-5A5AC13E3AA7}"/>
              </a:ext>
            </a:extLst>
          </p:cNvPr>
          <p:cNvSpPr txBox="1">
            <a:spLocks/>
          </p:cNvSpPr>
          <p:nvPr/>
        </p:nvSpPr>
        <p:spPr>
          <a:xfrm>
            <a:off x="376521" y="1262903"/>
            <a:ext cx="11596403" cy="5595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Every host </a:t>
            </a:r>
            <a:r>
              <a:rPr lang="en-US" i="1" dirty="0"/>
              <a:t>independently</a:t>
            </a:r>
            <a:r>
              <a:rPr lang="en-US" dirty="0"/>
              <a:t> runs the same algorithm: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Pick an initial rate </a:t>
            </a:r>
            <a:r>
              <a:rPr lang="en-US" sz="2000" i="1" dirty="0"/>
              <a:t>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3"/>
                </a:solidFill>
              </a:rPr>
              <a:t>(</a:t>
            </a:r>
            <a:r>
              <a:rPr lang="en-US" sz="2000" i="1" dirty="0">
                <a:solidFill>
                  <a:schemeClr val="accent3"/>
                </a:solidFill>
              </a:rPr>
              <a:t>How do we pick the initial rate?</a:t>
            </a:r>
            <a:r>
              <a:rPr lang="en-US" sz="2000" dirty="0">
                <a:solidFill>
                  <a:schemeClr val="accent3"/>
                </a:solidFill>
              </a:rPr>
              <a:t>)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Try sending at rate </a:t>
            </a:r>
            <a:r>
              <a:rPr lang="en-US" sz="2000" i="1" dirty="0"/>
              <a:t>R</a:t>
            </a:r>
            <a:r>
              <a:rPr lang="en-US" sz="2000" dirty="0"/>
              <a:t> for some period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Did I experience congestion in this time period? </a:t>
            </a:r>
            <a:r>
              <a:rPr lang="en-US" dirty="0">
                <a:solidFill>
                  <a:schemeClr val="accent3"/>
                </a:solidFill>
              </a:rPr>
              <a:t>(</a:t>
            </a:r>
            <a:r>
              <a:rPr lang="en-US" i="1" dirty="0">
                <a:solidFill>
                  <a:schemeClr val="accent3"/>
                </a:solidFill>
              </a:rPr>
              <a:t>How do we detect congestion: </a:t>
            </a:r>
            <a:r>
              <a:rPr lang="en-US" b="1" i="1" dirty="0">
                <a:solidFill>
                  <a:schemeClr val="accent3"/>
                </a:solidFill>
              </a:rPr>
              <a:t>loss</a:t>
            </a:r>
            <a:r>
              <a:rPr lang="en-US" i="1" dirty="0">
                <a:solidFill>
                  <a:schemeClr val="accent3"/>
                </a:solidFill>
              </a:rPr>
              <a:t> or delay?</a:t>
            </a:r>
            <a:r>
              <a:rPr lang="en-US" dirty="0">
                <a:solidFill>
                  <a:schemeClr val="accent3"/>
                </a:solidFill>
              </a:rPr>
              <a:t>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no, increase </a:t>
            </a:r>
            <a:r>
              <a:rPr lang="en-US" i="1" dirty="0"/>
              <a:t>R</a:t>
            </a:r>
            <a:endParaRPr lang="en-US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yes, reduce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>
                <a:solidFill>
                  <a:schemeClr val="accent3"/>
                </a:solidFill>
              </a:rPr>
              <a:t>(</a:t>
            </a:r>
            <a:r>
              <a:rPr lang="en-US" i="1" dirty="0">
                <a:solidFill>
                  <a:schemeClr val="accent3"/>
                </a:solidFill>
              </a:rPr>
              <a:t>How much do we increase/decrease by?</a:t>
            </a:r>
            <a:r>
              <a:rPr lang="en-US" dirty="0">
                <a:solidFill>
                  <a:schemeClr val="accent3"/>
                </a:solidFill>
              </a:rPr>
              <a:t>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Repeat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Components of a solution: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Discovering an initial rate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Detecting congestion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Reacting to congestion (or lack thereof) by increasing/decreasing rate</a:t>
            </a:r>
          </a:p>
        </p:txBody>
      </p:sp>
      <p:grpSp>
        <p:nvGrpSpPr>
          <p:cNvPr id="5" name="Google Shape;636;p47">
            <a:extLst>
              <a:ext uri="{FF2B5EF4-FFF2-40B4-BE49-F238E27FC236}">
                <a16:creationId xmlns:a16="http://schemas.microsoft.com/office/drawing/2014/main" id="{F5B56541-4F43-4F83-3D6B-C9CCDC9D4E42}"/>
              </a:ext>
            </a:extLst>
          </p:cNvPr>
          <p:cNvGrpSpPr/>
          <p:nvPr/>
        </p:nvGrpSpPr>
        <p:grpSpPr>
          <a:xfrm>
            <a:off x="624172" y="2487475"/>
            <a:ext cx="556928" cy="1732100"/>
            <a:chOff x="496925" y="1413450"/>
            <a:chExt cx="639300" cy="1277700"/>
          </a:xfrm>
        </p:grpSpPr>
        <p:cxnSp>
          <p:nvCxnSpPr>
            <p:cNvPr id="6" name="Google Shape;637;p47">
              <a:extLst>
                <a:ext uri="{FF2B5EF4-FFF2-40B4-BE49-F238E27FC236}">
                  <a16:creationId xmlns:a16="http://schemas.microsoft.com/office/drawing/2014/main" id="{53BB81C9-38F0-D841-9966-2C20B119E28E}"/>
                </a:ext>
              </a:extLst>
            </p:cNvPr>
            <p:cNvCxnSpPr/>
            <p:nvPr/>
          </p:nvCxnSpPr>
          <p:spPr>
            <a:xfrm>
              <a:off x="496925" y="2691025"/>
              <a:ext cx="639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638;p47">
              <a:extLst>
                <a:ext uri="{FF2B5EF4-FFF2-40B4-BE49-F238E27FC236}">
                  <a16:creationId xmlns:a16="http://schemas.microsoft.com/office/drawing/2014/main" id="{B1847E3E-EB90-EA43-A8AA-1E3FBC442C5E}"/>
                </a:ext>
              </a:extLst>
            </p:cNvPr>
            <p:cNvCxnSpPr/>
            <p:nvPr/>
          </p:nvCxnSpPr>
          <p:spPr>
            <a:xfrm>
              <a:off x="496925" y="1413450"/>
              <a:ext cx="275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" name="Google Shape;639;p47">
              <a:extLst>
                <a:ext uri="{FF2B5EF4-FFF2-40B4-BE49-F238E27FC236}">
                  <a16:creationId xmlns:a16="http://schemas.microsoft.com/office/drawing/2014/main" id="{1D76C2B8-8F14-FA7B-B0DB-44ECD7CF647A}"/>
                </a:ext>
              </a:extLst>
            </p:cNvPr>
            <p:cNvCxnSpPr/>
            <p:nvPr/>
          </p:nvCxnSpPr>
          <p:spPr>
            <a:xfrm>
              <a:off x="496925" y="1413450"/>
              <a:ext cx="600" cy="1277700"/>
            </a:xfrm>
            <a:prstGeom prst="curvedConnector3">
              <a:avLst>
                <a:gd name="adj1" fmla="val -488125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01B1B12-9B38-1F9A-F3CF-6A79C5CA0222}"/>
              </a:ext>
            </a:extLst>
          </p:cNvPr>
          <p:cNvSpPr txBox="1"/>
          <p:nvPr/>
        </p:nvSpPr>
        <p:spPr>
          <a:xfrm>
            <a:off x="376522" y="755545"/>
            <a:ext cx="53480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b="1" i="1" dirty="0">
                <a:solidFill>
                  <a:srgbClr val="C00000"/>
                </a:solidFill>
              </a:rPr>
              <a:t>Congestion Control Algorithm Sketch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666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3AFF-6FB1-C967-ED44-42CF51D5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3D7EFADC-B328-E4A7-7B30-4F330159797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855BC3-75F6-0A50-8AEB-F692E0C5C87E}"/>
              </a:ext>
            </a:extLst>
          </p:cNvPr>
          <p:cNvSpPr txBox="1"/>
          <p:nvPr/>
        </p:nvSpPr>
        <p:spPr>
          <a:xfrm>
            <a:off x="376522" y="755545"/>
            <a:ext cx="6205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Discovering an Initial Rate: Slow Start</a:t>
            </a:r>
          </a:p>
        </p:txBody>
      </p:sp>
      <p:sp>
        <p:nvSpPr>
          <p:cNvPr id="3" name="Google Shape;686;p52">
            <a:extLst>
              <a:ext uri="{FF2B5EF4-FFF2-40B4-BE49-F238E27FC236}">
                <a16:creationId xmlns:a16="http://schemas.microsoft.com/office/drawing/2014/main" id="{AEFE5443-DABC-6FDA-F1CF-9A88EB2D5EC4}"/>
              </a:ext>
            </a:extLst>
          </p:cNvPr>
          <p:cNvSpPr txBox="1">
            <a:spLocks/>
          </p:cNvSpPr>
          <p:nvPr/>
        </p:nvSpPr>
        <p:spPr>
          <a:xfrm>
            <a:off x="435911" y="1288024"/>
            <a:ext cx="11320178" cy="2331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 dirty="0"/>
              <a:t>Slow start</a:t>
            </a:r>
            <a:r>
              <a:rPr lang="en-US" sz="2400" dirty="0"/>
              <a:t> is an algorithm for discovering the initial rate: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Start with a small rate (could be much less than actual bandwidth)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Increase exponentially (e.g. double rate each time) until we detect loss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A safe rate is the most recent rate before detecting loss: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○"/>
            </a:pPr>
            <a:r>
              <a:rPr lang="en-US" dirty="0"/>
              <a:t>0.5 × rate when loss occurred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06CE1D9-0377-48C8-C9FE-A66F8415B71C}"/>
              </a:ext>
            </a:extLst>
          </p:cNvPr>
          <p:cNvGrpSpPr/>
          <p:nvPr/>
        </p:nvGrpSpPr>
        <p:grpSpPr>
          <a:xfrm>
            <a:off x="2444000" y="3768445"/>
            <a:ext cx="6226250" cy="2346038"/>
            <a:chOff x="2348750" y="4082770"/>
            <a:chExt cx="6226250" cy="2346038"/>
          </a:xfrm>
        </p:grpSpPr>
        <p:grpSp>
          <p:nvGrpSpPr>
            <p:cNvPr id="9" name="Google Shape;687;p52">
              <a:extLst>
                <a:ext uri="{FF2B5EF4-FFF2-40B4-BE49-F238E27FC236}">
                  <a16:creationId xmlns:a16="http://schemas.microsoft.com/office/drawing/2014/main" id="{257FB71E-1FC7-85BD-C042-AA05986D3B7F}"/>
                </a:ext>
              </a:extLst>
            </p:cNvPr>
            <p:cNvGrpSpPr/>
            <p:nvPr/>
          </p:nvGrpSpPr>
          <p:grpSpPr>
            <a:xfrm>
              <a:off x="2520425" y="4191845"/>
              <a:ext cx="3229292" cy="2199625"/>
              <a:chOff x="2377550" y="2542225"/>
              <a:chExt cx="3229292" cy="2199625"/>
            </a:xfrm>
          </p:grpSpPr>
          <p:sp>
            <p:nvSpPr>
              <p:cNvPr id="10" name="Google Shape;688;p52">
                <a:extLst>
                  <a:ext uri="{FF2B5EF4-FFF2-40B4-BE49-F238E27FC236}">
                    <a16:creationId xmlns:a16="http://schemas.microsoft.com/office/drawing/2014/main" id="{8B98654C-D57F-AE48-DB8B-C42C0366961B}"/>
                  </a:ext>
                </a:extLst>
              </p:cNvPr>
              <p:cNvSpPr/>
              <p:nvPr/>
            </p:nvSpPr>
            <p:spPr>
              <a:xfrm>
                <a:off x="2377550" y="2542225"/>
                <a:ext cx="3229292" cy="2199625"/>
              </a:xfrm>
              <a:custGeom>
                <a:avLst/>
                <a:gdLst/>
                <a:ahLst/>
                <a:cxnLst/>
                <a:rect l="l" t="t" r="r" b="b"/>
                <a:pathLst>
                  <a:path w="152884" h="87985" extrusionOk="0">
                    <a:moveTo>
                      <a:pt x="0" y="87985"/>
                    </a:moveTo>
                    <a:cubicBezTo>
                      <a:pt x="18727" y="85267"/>
                      <a:pt x="86882" y="86343"/>
                      <a:pt x="112363" y="71679"/>
                    </a:cubicBezTo>
                    <a:cubicBezTo>
                      <a:pt x="137844" y="57015"/>
                      <a:pt x="146131" y="11947"/>
                      <a:pt x="152884" y="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1" name="Google Shape;689;p52">
                <a:extLst>
                  <a:ext uri="{FF2B5EF4-FFF2-40B4-BE49-F238E27FC236}">
                    <a16:creationId xmlns:a16="http://schemas.microsoft.com/office/drawing/2014/main" id="{3F7F7BB1-0379-4205-E9FA-0A9961010E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6842" y="2571750"/>
                <a:ext cx="0" cy="114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3" name="Google Shape;691;p52">
              <a:extLst>
                <a:ext uri="{FF2B5EF4-FFF2-40B4-BE49-F238E27FC236}">
                  <a16:creationId xmlns:a16="http://schemas.microsoft.com/office/drawing/2014/main" id="{44DCCADA-8B64-C7A2-43EA-F8EBF51C7AFB}"/>
                </a:ext>
              </a:extLst>
            </p:cNvPr>
            <p:cNvSpPr/>
            <p:nvPr/>
          </p:nvSpPr>
          <p:spPr>
            <a:xfrm>
              <a:off x="2474900" y="6342108"/>
              <a:ext cx="86700" cy="8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692;p52">
              <a:extLst>
                <a:ext uri="{FF2B5EF4-FFF2-40B4-BE49-F238E27FC236}">
                  <a16:creationId xmlns:a16="http://schemas.microsoft.com/office/drawing/2014/main" id="{07E7E3CD-6055-0946-52C7-2408112F0F54}"/>
                </a:ext>
              </a:extLst>
            </p:cNvPr>
            <p:cNvSpPr/>
            <p:nvPr/>
          </p:nvSpPr>
          <p:spPr>
            <a:xfrm>
              <a:off x="3019375" y="6302279"/>
              <a:ext cx="86700" cy="8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693;p52">
              <a:extLst>
                <a:ext uri="{FF2B5EF4-FFF2-40B4-BE49-F238E27FC236}">
                  <a16:creationId xmlns:a16="http://schemas.microsoft.com/office/drawing/2014/main" id="{CABBFE8F-038F-D398-78CF-5C6F84F54C72}"/>
                </a:ext>
              </a:extLst>
            </p:cNvPr>
            <p:cNvSpPr/>
            <p:nvPr/>
          </p:nvSpPr>
          <p:spPr>
            <a:xfrm>
              <a:off x="3557525" y="6262328"/>
              <a:ext cx="86700" cy="8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694;p52">
              <a:extLst>
                <a:ext uri="{FF2B5EF4-FFF2-40B4-BE49-F238E27FC236}">
                  <a16:creationId xmlns:a16="http://schemas.microsoft.com/office/drawing/2014/main" id="{BF41F1BA-018F-83A7-BD15-F8BE347ADBDF}"/>
                </a:ext>
              </a:extLst>
            </p:cNvPr>
            <p:cNvSpPr/>
            <p:nvPr/>
          </p:nvSpPr>
          <p:spPr>
            <a:xfrm>
              <a:off x="4091725" y="6192273"/>
              <a:ext cx="86700" cy="8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695;p52">
              <a:extLst>
                <a:ext uri="{FF2B5EF4-FFF2-40B4-BE49-F238E27FC236}">
                  <a16:creationId xmlns:a16="http://schemas.microsoft.com/office/drawing/2014/main" id="{FFFF0779-B82B-078C-4EE7-979062A21AC7}"/>
                </a:ext>
              </a:extLst>
            </p:cNvPr>
            <p:cNvSpPr/>
            <p:nvPr/>
          </p:nvSpPr>
          <p:spPr>
            <a:xfrm>
              <a:off x="4628175" y="6057954"/>
              <a:ext cx="86700" cy="8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696;p52">
              <a:extLst>
                <a:ext uri="{FF2B5EF4-FFF2-40B4-BE49-F238E27FC236}">
                  <a16:creationId xmlns:a16="http://schemas.microsoft.com/office/drawing/2014/main" id="{94BD4971-7D00-2A24-DB07-E7875348EECC}"/>
                </a:ext>
              </a:extLst>
            </p:cNvPr>
            <p:cNvSpPr/>
            <p:nvPr/>
          </p:nvSpPr>
          <p:spPr>
            <a:xfrm>
              <a:off x="5282000" y="5357170"/>
              <a:ext cx="86700" cy="8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690;p52">
              <a:extLst>
                <a:ext uri="{FF2B5EF4-FFF2-40B4-BE49-F238E27FC236}">
                  <a16:creationId xmlns:a16="http://schemas.microsoft.com/office/drawing/2014/main" id="{0CCB6C9D-F1C1-DE4E-B6CC-2E4DFBE2E17B}"/>
                </a:ext>
              </a:extLst>
            </p:cNvPr>
            <p:cNvSpPr/>
            <p:nvPr/>
          </p:nvSpPr>
          <p:spPr>
            <a:xfrm>
              <a:off x="5706375" y="5357170"/>
              <a:ext cx="86700" cy="8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697;p52">
              <a:extLst>
                <a:ext uri="{FF2B5EF4-FFF2-40B4-BE49-F238E27FC236}">
                  <a16:creationId xmlns:a16="http://schemas.microsoft.com/office/drawing/2014/main" id="{1B5C45AF-03AF-45F0-CB4C-7E68FD3BAB1A}"/>
                </a:ext>
              </a:extLst>
            </p:cNvPr>
            <p:cNvSpPr/>
            <p:nvPr/>
          </p:nvSpPr>
          <p:spPr>
            <a:xfrm>
              <a:off x="5706375" y="4178020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698;p52">
              <a:extLst>
                <a:ext uri="{FF2B5EF4-FFF2-40B4-BE49-F238E27FC236}">
                  <a16:creationId xmlns:a16="http://schemas.microsoft.com/office/drawing/2014/main" id="{5A6A0E28-20DF-4EE5-F8DE-D9316CFD5BC0}"/>
                </a:ext>
              </a:extLst>
            </p:cNvPr>
            <p:cNvSpPr txBox="1"/>
            <p:nvPr/>
          </p:nvSpPr>
          <p:spPr>
            <a:xfrm>
              <a:off x="2348750" y="6001770"/>
              <a:ext cx="33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699;p52">
              <a:extLst>
                <a:ext uri="{FF2B5EF4-FFF2-40B4-BE49-F238E27FC236}">
                  <a16:creationId xmlns:a16="http://schemas.microsoft.com/office/drawing/2014/main" id="{B01DA67B-F251-AC77-2182-B8A66246AB09}"/>
                </a:ext>
              </a:extLst>
            </p:cNvPr>
            <p:cNvSpPr txBox="1"/>
            <p:nvPr/>
          </p:nvSpPr>
          <p:spPr>
            <a:xfrm>
              <a:off x="2902750" y="5985120"/>
              <a:ext cx="33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700;p52">
              <a:extLst>
                <a:ext uri="{FF2B5EF4-FFF2-40B4-BE49-F238E27FC236}">
                  <a16:creationId xmlns:a16="http://schemas.microsoft.com/office/drawing/2014/main" id="{526C6DEC-4904-4D74-B75F-B2338F6C80CB}"/>
                </a:ext>
              </a:extLst>
            </p:cNvPr>
            <p:cNvSpPr txBox="1"/>
            <p:nvPr/>
          </p:nvSpPr>
          <p:spPr>
            <a:xfrm>
              <a:off x="3431375" y="5915070"/>
              <a:ext cx="33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" name="Google Shape;701;p52">
              <a:extLst>
                <a:ext uri="{FF2B5EF4-FFF2-40B4-BE49-F238E27FC236}">
                  <a16:creationId xmlns:a16="http://schemas.microsoft.com/office/drawing/2014/main" id="{3ECCD0BC-661F-E0AA-289B-6402B711973F}"/>
                </a:ext>
              </a:extLst>
            </p:cNvPr>
            <p:cNvSpPr txBox="1"/>
            <p:nvPr/>
          </p:nvSpPr>
          <p:spPr>
            <a:xfrm>
              <a:off x="3965575" y="5867445"/>
              <a:ext cx="33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702;p52">
              <a:extLst>
                <a:ext uri="{FF2B5EF4-FFF2-40B4-BE49-F238E27FC236}">
                  <a16:creationId xmlns:a16="http://schemas.microsoft.com/office/drawing/2014/main" id="{A08273ED-04FF-E739-EF82-2FC4A50C5DD7}"/>
                </a:ext>
              </a:extLst>
            </p:cNvPr>
            <p:cNvSpPr txBox="1"/>
            <p:nvPr/>
          </p:nvSpPr>
          <p:spPr>
            <a:xfrm>
              <a:off x="4502025" y="5724570"/>
              <a:ext cx="33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703;p52">
              <a:extLst>
                <a:ext uri="{FF2B5EF4-FFF2-40B4-BE49-F238E27FC236}">
                  <a16:creationId xmlns:a16="http://schemas.microsoft.com/office/drawing/2014/main" id="{AF625581-160C-807C-CA6F-785CD271BE1C}"/>
                </a:ext>
              </a:extLst>
            </p:cNvPr>
            <p:cNvSpPr txBox="1"/>
            <p:nvPr/>
          </p:nvSpPr>
          <p:spPr>
            <a:xfrm>
              <a:off x="4914750" y="5261920"/>
              <a:ext cx="33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704;p52">
              <a:extLst>
                <a:ext uri="{FF2B5EF4-FFF2-40B4-BE49-F238E27FC236}">
                  <a16:creationId xmlns:a16="http://schemas.microsoft.com/office/drawing/2014/main" id="{7B95EDEF-2F3A-67A4-6B37-064C4C598181}"/>
                </a:ext>
              </a:extLst>
            </p:cNvPr>
            <p:cNvSpPr txBox="1"/>
            <p:nvPr/>
          </p:nvSpPr>
          <p:spPr>
            <a:xfrm>
              <a:off x="5890000" y="5261920"/>
              <a:ext cx="2646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32 was the last safe rate.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" name="Google Shape;705;p52">
              <a:extLst>
                <a:ext uri="{FF2B5EF4-FFF2-40B4-BE49-F238E27FC236}">
                  <a16:creationId xmlns:a16="http://schemas.microsoft.com/office/drawing/2014/main" id="{D8912B51-CB60-222B-C5AE-C557EBA70B95}"/>
                </a:ext>
              </a:extLst>
            </p:cNvPr>
            <p:cNvSpPr txBox="1"/>
            <p:nvPr/>
          </p:nvSpPr>
          <p:spPr>
            <a:xfrm>
              <a:off x="5851000" y="4082770"/>
              <a:ext cx="272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64 – congestion detected!</a:t>
              </a:r>
              <a:endParaRPr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8687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9534-14AC-FC44-1F65-BC1CAEDA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B62CE43A-E06A-60C3-E8CA-0455FE375C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09DDC3-1C1C-297A-BB40-B6A1A8003A1E}"/>
              </a:ext>
            </a:extLst>
          </p:cNvPr>
          <p:cNvSpPr txBox="1"/>
          <p:nvPr/>
        </p:nvSpPr>
        <p:spPr>
          <a:xfrm>
            <a:off x="376522" y="755545"/>
            <a:ext cx="6205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Reacting to Congestion</a:t>
            </a:r>
          </a:p>
        </p:txBody>
      </p:sp>
      <p:sp>
        <p:nvSpPr>
          <p:cNvPr id="3" name="Google Shape;686;p52">
            <a:extLst>
              <a:ext uri="{FF2B5EF4-FFF2-40B4-BE49-F238E27FC236}">
                <a16:creationId xmlns:a16="http://schemas.microsoft.com/office/drawing/2014/main" id="{6AC2F1BD-2F5B-DE08-25D6-47FEBDF978A9}"/>
              </a:ext>
            </a:extLst>
          </p:cNvPr>
          <p:cNvSpPr txBox="1">
            <a:spLocks/>
          </p:cNvSpPr>
          <p:nvPr/>
        </p:nvSpPr>
        <p:spPr>
          <a:xfrm>
            <a:off x="435911" y="1288023"/>
            <a:ext cx="11320178" cy="3617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Rate adjustment: How much do we increase/decrease by?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Critical part of congestion control design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Determines how quickly a host adapts to changes in available bandwidth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Goals for rate adjustment: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Efficiency: High utilization of link bandwidth.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Fairness: Each flow gets an equal share of bandwidth.</a:t>
            </a:r>
          </a:p>
        </p:txBody>
      </p:sp>
    </p:spTree>
    <p:extLst>
      <p:ext uri="{BB962C8B-B14F-4D97-AF65-F5344CB8AC3E}">
        <p14:creationId xmlns:p14="http://schemas.microsoft.com/office/powerpoint/2010/main" val="269145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A806E-C82E-CE7B-BB25-C197C33F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2736B34B-BD08-D7A9-86C7-042ED82DC33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CC341-CD58-5BD2-08FA-53A9BE26F727}"/>
              </a:ext>
            </a:extLst>
          </p:cNvPr>
          <p:cNvSpPr txBox="1"/>
          <p:nvPr/>
        </p:nvSpPr>
        <p:spPr>
          <a:xfrm>
            <a:off x="376522" y="755545"/>
            <a:ext cx="6205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Reacting to Congestion</a:t>
            </a:r>
          </a:p>
        </p:txBody>
      </p:sp>
      <p:sp>
        <p:nvSpPr>
          <p:cNvPr id="3" name="Google Shape;686;p52">
            <a:extLst>
              <a:ext uri="{FF2B5EF4-FFF2-40B4-BE49-F238E27FC236}">
                <a16:creationId xmlns:a16="http://schemas.microsoft.com/office/drawing/2014/main" id="{A18D9615-1EC1-1320-9B4C-C4138C866F35}"/>
              </a:ext>
            </a:extLst>
          </p:cNvPr>
          <p:cNvSpPr txBox="1">
            <a:spLocks/>
          </p:cNvSpPr>
          <p:nvPr/>
        </p:nvSpPr>
        <p:spPr>
          <a:xfrm>
            <a:off x="0" y="1859523"/>
            <a:ext cx="6172201" cy="36840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At a high level, we can either adjust quickly or slowly</a:t>
            </a:r>
            <a:r>
              <a:rPr lang="en-US" sz="2000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●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Fast: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Multiplicative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changes.</a:t>
            </a:r>
          </a:p>
          <a:p>
            <a:pPr marL="914400" marR="0" lvl="1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○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Increase by doubling: R → 2R</a:t>
            </a:r>
          </a:p>
          <a:p>
            <a:pPr marL="914400" marR="0" lvl="1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○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Decrease by halving: R → R/2</a:t>
            </a: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●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Slow: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Additive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changes.</a:t>
            </a:r>
          </a:p>
          <a:p>
            <a:pPr marL="914400" marR="0" lvl="1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○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Increase by adding: R → R + 1</a:t>
            </a:r>
          </a:p>
          <a:p>
            <a:pPr marL="914400" marR="0" lvl="1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○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Decrease by subtracting: R → R – 1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CCE3C-4A47-1952-06F0-C64DEB5786FA}"/>
              </a:ext>
            </a:extLst>
          </p:cNvPr>
          <p:cNvSpPr txBox="1"/>
          <p:nvPr/>
        </p:nvSpPr>
        <p:spPr>
          <a:xfrm>
            <a:off x="6863323" y="1016281"/>
            <a:ext cx="5047129" cy="537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We can combine these rates in four ways:</a:t>
            </a: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●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AIAD:   	Additive Increase, 	</a:t>
            </a:r>
          </a:p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Additive Decrease</a:t>
            </a:r>
          </a:p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●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AIMD:  	Additive Increase, 	</a:t>
            </a:r>
          </a:p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tabLst/>
              <a:defRPr/>
            </a:pPr>
            <a:r>
              <a:rPr lang="en-US" b="1" kern="0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		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Multiplicative Decrease </a:t>
            </a:r>
          </a:p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tabLst/>
              <a:defRPr/>
            </a:pPr>
            <a:r>
              <a:rPr lang="en-US" b="1" kern="0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		</a:t>
            </a: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(TCP uses this)</a:t>
            </a:r>
          </a:p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tabLst/>
              <a:defRPr/>
            </a:pPr>
            <a:endParaRPr kumimoji="0" lang="en-US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●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MIAD: 	Multiplicative Increase, 	</a:t>
            </a:r>
          </a:p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Additive Decrease</a:t>
            </a:r>
          </a:p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Char char="●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MIMD: 	Multiplicative Increase, 	</a:t>
            </a:r>
          </a:p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tabLst/>
              <a:defRPr/>
            </a:pPr>
            <a:r>
              <a:rPr lang="en-US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Multiplicative Decrease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953BA-0052-437D-00BD-63BB4EEEC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6ED81763-BB36-4203-50CE-E9BF5B3DEF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B0080-74B6-B6F8-71D5-E7D77A73549F}"/>
              </a:ext>
            </a:extLst>
          </p:cNvPr>
          <p:cNvSpPr txBox="1"/>
          <p:nvPr/>
        </p:nvSpPr>
        <p:spPr>
          <a:xfrm>
            <a:off x="376522" y="755545"/>
            <a:ext cx="6205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Reacting to Congestion</a:t>
            </a:r>
          </a:p>
        </p:txBody>
      </p:sp>
      <p:sp>
        <p:nvSpPr>
          <p:cNvPr id="3" name="Google Shape;686;p52">
            <a:extLst>
              <a:ext uri="{FF2B5EF4-FFF2-40B4-BE49-F238E27FC236}">
                <a16:creationId xmlns:a16="http://schemas.microsoft.com/office/drawing/2014/main" id="{44BE5849-BAA1-CE49-9386-0A2E9AB53022}"/>
              </a:ext>
            </a:extLst>
          </p:cNvPr>
          <p:cNvSpPr txBox="1">
            <a:spLocks/>
          </p:cNvSpPr>
          <p:nvPr/>
        </p:nvSpPr>
        <p:spPr>
          <a:xfrm>
            <a:off x="3937747" y="742350"/>
            <a:ext cx="8204947" cy="3076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Roboto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Why AIMD? Intuition: Sending too much is worse than sending too little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defRPr/>
            </a:pPr>
            <a:r>
              <a:rPr lang="en-US" sz="2000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Sending too much: Congestion, packets dropped and retransmitted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Sending too little: Somewhat lower throughput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General approach: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Gentle increase when uncongested (exploration)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defRPr/>
            </a:pPr>
            <a:r>
              <a:rPr lang="en-US" sz="2000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Rapid decrease when congestion detected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773A7A-3239-A6A2-D3A6-188751139866}"/>
              </a:ext>
            </a:extLst>
          </p:cNvPr>
          <p:cNvGrpSpPr/>
          <p:nvPr/>
        </p:nvGrpSpPr>
        <p:grpSpPr>
          <a:xfrm>
            <a:off x="1324576" y="3359038"/>
            <a:ext cx="9542847" cy="3411556"/>
            <a:chOff x="1672000" y="2848050"/>
            <a:chExt cx="5779800" cy="2031025"/>
          </a:xfrm>
        </p:grpSpPr>
        <p:cxnSp>
          <p:nvCxnSpPr>
            <p:cNvPr id="4" name="Google Shape;739;p57">
              <a:extLst>
                <a:ext uri="{FF2B5EF4-FFF2-40B4-BE49-F238E27FC236}">
                  <a16:creationId xmlns:a16="http://schemas.microsoft.com/office/drawing/2014/main" id="{7686BFDB-38D5-F5C5-0030-132BBF38EEFD}"/>
                </a:ext>
              </a:extLst>
            </p:cNvPr>
            <p:cNvCxnSpPr/>
            <p:nvPr/>
          </p:nvCxnSpPr>
          <p:spPr>
            <a:xfrm>
              <a:off x="1672000" y="33481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740;p57">
              <a:extLst>
                <a:ext uri="{FF2B5EF4-FFF2-40B4-BE49-F238E27FC236}">
                  <a16:creationId xmlns:a16="http://schemas.microsoft.com/office/drawing/2014/main" id="{CBCB37AB-EB49-AA0E-EC89-0ED437F4F131}"/>
                </a:ext>
              </a:extLst>
            </p:cNvPr>
            <p:cNvCxnSpPr/>
            <p:nvPr/>
          </p:nvCxnSpPr>
          <p:spPr>
            <a:xfrm>
              <a:off x="1672000" y="35005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741;p57">
              <a:extLst>
                <a:ext uri="{FF2B5EF4-FFF2-40B4-BE49-F238E27FC236}">
                  <a16:creationId xmlns:a16="http://schemas.microsoft.com/office/drawing/2014/main" id="{BDE55535-801C-0556-77E0-BC4EB3500C06}"/>
                </a:ext>
              </a:extLst>
            </p:cNvPr>
            <p:cNvCxnSpPr/>
            <p:nvPr/>
          </p:nvCxnSpPr>
          <p:spPr>
            <a:xfrm>
              <a:off x="1672000" y="36529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742;p57">
              <a:extLst>
                <a:ext uri="{FF2B5EF4-FFF2-40B4-BE49-F238E27FC236}">
                  <a16:creationId xmlns:a16="http://schemas.microsoft.com/office/drawing/2014/main" id="{E825E27A-BB11-3D46-BAD4-35D9537C6672}"/>
                </a:ext>
              </a:extLst>
            </p:cNvPr>
            <p:cNvCxnSpPr/>
            <p:nvPr/>
          </p:nvCxnSpPr>
          <p:spPr>
            <a:xfrm>
              <a:off x="1672000" y="38053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743;p57">
              <a:extLst>
                <a:ext uri="{FF2B5EF4-FFF2-40B4-BE49-F238E27FC236}">
                  <a16:creationId xmlns:a16="http://schemas.microsoft.com/office/drawing/2014/main" id="{B4DA3025-C42E-4A6A-7020-B79FAC25B0A9}"/>
                </a:ext>
              </a:extLst>
            </p:cNvPr>
            <p:cNvCxnSpPr/>
            <p:nvPr/>
          </p:nvCxnSpPr>
          <p:spPr>
            <a:xfrm>
              <a:off x="1672000" y="39577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744;p57">
              <a:extLst>
                <a:ext uri="{FF2B5EF4-FFF2-40B4-BE49-F238E27FC236}">
                  <a16:creationId xmlns:a16="http://schemas.microsoft.com/office/drawing/2014/main" id="{E86AC813-4A56-3D90-EA8A-CD8B05D2F2A5}"/>
                </a:ext>
              </a:extLst>
            </p:cNvPr>
            <p:cNvCxnSpPr/>
            <p:nvPr/>
          </p:nvCxnSpPr>
          <p:spPr>
            <a:xfrm>
              <a:off x="1672000" y="41101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745;p57">
              <a:extLst>
                <a:ext uri="{FF2B5EF4-FFF2-40B4-BE49-F238E27FC236}">
                  <a16:creationId xmlns:a16="http://schemas.microsoft.com/office/drawing/2014/main" id="{C373EAA6-27D0-E3D0-30E5-FC1C27F0B884}"/>
                </a:ext>
              </a:extLst>
            </p:cNvPr>
            <p:cNvCxnSpPr/>
            <p:nvPr/>
          </p:nvCxnSpPr>
          <p:spPr>
            <a:xfrm>
              <a:off x="1672000" y="42625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746;p57">
              <a:extLst>
                <a:ext uri="{FF2B5EF4-FFF2-40B4-BE49-F238E27FC236}">
                  <a16:creationId xmlns:a16="http://schemas.microsoft.com/office/drawing/2014/main" id="{4BFF5BBF-6667-594D-9BFE-F6B4EBCE750D}"/>
                </a:ext>
              </a:extLst>
            </p:cNvPr>
            <p:cNvCxnSpPr/>
            <p:nvPr/>
          </p:nvCxnSpPr>
          <p:spPr>
            <a:xfrm>
              <a:off x="1672000" y="44149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747;p57">
              <a:extLst>
                <a:ext uri="{FF2B5EF4-FFF2-40B4-BE49-F238E27FC236}">
                  <a16:creationId xmlns:a16="http://schemas.microsoft.com/office/drawing/2014/main" id="{A33E3F1A-37FE-B7A6-49D7-F229DEFEFB26}"/>
                </a:ext>
              </a:extLst>
            </p:cNvPr>
            <p:cNvCxnSpPr/>
            <p:nvPr/>
          </p:nvCxnSpPr>
          <p:spPr>
            <a:xfrm>
              <a:off x="1672000" y="45673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748;p57">
              <a:extLst>
                <a:ext uri="{FF2B5EF4-FFF2-40B4-BE49-F238E27FC236}">
                  <a16:creationId xmlns:a16="http://schemas.microsoft.com/office/drawing/2014/main" id="{855C5A4C-51E7-EFA4-1BBB-4D73E2B9433E}"/>
                </a:ext>
              </a:extLst>
            </p:cNvPr>
            <p:cNvCxnSpPr/>
            <p:nvPr/>
          </p:nvCxnSpPr>
          <p:spPr>
            <a:xfrm>
              <a:off x="1672000" y="47197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749;p57">
              <a:extLst>
                <a:ext uri="{FF2B5EF4-FFF2-40B4-BE49-F238E27FC236}">
                  <a16:creationId xmlns:a16="http://schemas.microsoft.com/office/drawing/2014/main" id="{CA3C9814-B629-E249-218B-C36DAB340317}"/>
                </a:ext>
              </a:extLst>
            </p:cNvPr>
            <p:cNvCxnSpPr/>
            <p:nvPr/>
          </p:nvCxnSpPr>
          <p:spPr>
            <a:xfrm>
              <a:off x="1672000" y="4872100"/>
              <a:ext cx="57798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752;p57">
              <a:extLst>
                <a:ext uri="{FF2B5EF4-FFF2-40B4-BE49-F238E27FC236}">
                  <a16:creationId xmlns:a16="http://schemas.microsoft.com/office/drawing/2014/main" id="{DBC29301-65A1-141B-FD39-04EC0C9343EC}"/>
                </a:ext>
              </a:extLst>
            </p:cNvPr>
            <p:cNvSpPr/>
            <p:nvPr/>
          </p:nvSpPr>
          <p:spPr>
            <a:xfrm>
              <a:off x="1922425" y="3355100"/>
              <a:ext cx="5291050" cy="1523975"/>
            </a:xfrm>
            <a:custGeom>
              <a:avLst/>
              <a:gdLst/>
              <a:ahLst/>
              <a:cxnLst/>
              <a:rect l="l" t="t" r="r" b="b"/>
              <a:pathLst>
                <a:path w="211642" h="60959" extrusionOk="0">
                  <a:moveTo>
                    <a:pt x="0" y="60959"/>
                  </a:moveTo>
                  <a:lnTo>
                    <a:pt x="63584" y="24249"/>
                  </a:lnTo>
                  <a:lnTo>
                    <a:pt x="63584" y="42555"/>
                  </a:lnTo>
                  <a:lnTo>
                    <a:pt x="116263" y="12141"/>
                  </a:lnTo>
                  <a:lnTo>
                    <a:pt x="116263" y="36743"/>
                  </a:lnTo>
                  <a:lnTo>
                    <a:pt x="179904" y="0"/>
                  </a:lnTo>
                  <a:lnTo>
                    <a:pt x="179904" y="30285"/>
                  </a:lnTo>
                  <a:lnTo>
                    <a:pt x="211642" y="11961"/>
                  </a:lnTo>
                  <a:lnTo>
                    <a:pt x="211642" y="3642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Google Shape;753;p57">
              <a:extLst>
                <a:ext uri="{FF2B5EF4-FFF2-40B4-BE49-F238E27FC236}">
                  <a16:creationId xmlns:a16="http://schemas.microsoft.com/office/drawing/2014/main" id="{EA1E27DD-9778-79B6-AAF3-027C15C9FC17}"/>
                </a:ext>
              </a:extLst>
            </p:cNvPr>
            <p:cNvSpPr txBox="1"/>
            <p:nvPr/>
          </p:nvSpPr>
          <p:spPr>
            <a:xfrm rot="16200000">
              <a:off x="3282475" y="357900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754;p57">
              <a:extLst>
                <a:ext uri="{FF2B5EF4-FFF2-40B4-BE49-F238E27FC236}">
                  <a16:creationId xmlns:a16="http://schemas.microsoft.com/office/drawing/2014/main" id="{B9974B8C-55DC-012C-B572-D3432CF1FD46}"/>
                </a:ext>
              </a:extLst>
            </p:cNvPr>
            <p:cNvSpPr txBox="1"/>
            <p:nvPr/>
          </p:nvSpPr>
          <p:spPr>
            <a:xfrm rot="16200000">
              <a:off x="4597248" y="327532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755;p57">
              <a:extLst>
                <a:ext uri="{FF2B5EF4-FFF2-40B4-BE49-F238E27FC236}">
                  <a16:creationId xmlns:a16="http://schemas.microsoft.com/office/drawing/2014/main" id="{8442831E-B474-30DB-7FBD-A366142A392F}"/>
                </a:ext>
              </a:extLst>
            </p:cNvPr>
            <p:cNvSpPr txBox="1"/>
            <p:nvPr/>
          </p:nvSpPr>
          <p:spPr>
            <a:xfrm rot="16200000">
              <a:off x="6186478" y="29716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756;p57">
              <a:extLst>
                <a:ext uri="{FF2B5EF4-FFF2-40B4-BE49-F238E27FC236}">
                  <a16:creationId xmlns:a16="http://schemas.microsoft.com/office/drawing/2014/main" id="{18B83C31-E449-4E29-99F0-CB727B57D262}"/>
                </a:ext>
              </a:extLst>
            </p:cNvPr>
            <p:cNvSpPr txBox="1"/>
            <p:nvPr/>
          </p:nvSpPr>
          <p:spPr>
            <a:xfrm rot="16200000">
              <a:off x="6976575" y="327532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2747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20328-75EA-AE47-CEFE-6ECCDBBD4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1C2CC446-800F-F059-17D4-7E4E6A90D1F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5" name="Google Shape;634;p47">
            <a:extLst>
              <a:ext uri="{FF2B5EF4-FFF2-40B4-BE49-F238E27FC236}">
                <a16:creationId xmlns:a16="http://schemas.microsoft.com/office/drawing/2014/main" id="{CE362403-27D6-F170-FCB2-8342A32884F6}"/>
              </a:ext>
            </a:extLst>
          </p:cNvPr>
          <p:cNvSpPr txBox="1">
            <a:spLocks/>
          </p:cNvSpPr>
          <p:nvPr/>
        </p:nvSpPr>
        <p:spPr>
          <a:xfrm>
            <a:off x="297798" y="878034"/>
            <a:ext cx="11596403" cy="2665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Pick an initial rate </a:t>
            </a:r>
            <a:r>
              <a:rPr lang="en-US" sz="2000" i="1" dirty="0"/>
              <a:t>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3"/>
                </a:solidFill>
              </a:rPr>
              <a:t>(</a:t>
            </a:r>
            <a:r>
              <a:rPr lang="en-US" sz="2000" i="1" dirty="0">
                <a:solidFill>
                  <a:schemeClr val="accent3"/>
                </a:solidFill>
              </a:rPr>
              <a:t>How do we pick the initial rate? </a:t>
            </a:r>
            <a:r>
              <a:rPr lang="en-US" sz="2000" i="1" dirty="0">
                <a:solidFill>
                  <a:schemeClr val="accent3"/>
                </a:solidFill>
                <a:sym typeface="Wingdings" panose="05000000000000000000" pitchFamily="2" charset="2"/>
              </a:rPr>
              <a:t> </a:t>
            </a:r>
            <a:r>
              <a:rPr lang="en-US" sz="2000" b="1" i="1" dirty="0">
                <a:solidFill>
                  <a:srgbClr val="C00000"/>
                </a:solidFill>
                <a:sym typeface="Wingdings" panose="05000000000000000000" pitchFamily="2" charset="2"/>
              </a:rPr>
              <a:t>Slow start</a:t>
            </a:r>
            <a:r>
              <a:rPr lang="en-US" sz="2000" dirty="0">
                <a:solidFill>
                  <a:schemeClr val="accent3"/>
                </a:solidFill>
              </a:rPr>
              <a:t>)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Try sending at rate </a:t>
            </a:r>
            <a:r>
              <a:rPr lang="en-US" sz="2000" i="1" dirty="0"/>
              <a:t>R</a:t>
            </a:r>
            <a:r>
              <a:rPr lang="en-US" sz="2000" dirty="0"/>
              <a:t> for some period </a:t>
            </a:r>
            <a:endParaRPr lang="en-US" sz="2000" dirty="0">
              <a:solidFill>
                <a:schemeClr val="accent3"/>
              </a:solidFill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Did I experience congestion in this time period? </a:t>
            </a:r>
            <a:r>
              <a:rPr lang="en-US" dirty="0">
                <a:solidFill>
                  <a:schemeClr val="accent3"/>
                </a:solidFill>
              </a:rPr>
              <a:t>(</a:t>
            </a:r>
            <a:r>
              <a:rPr lang="en-US" i="1" dirty="0">
                <a:solidFill>
                  <a:schemeClr val="accent3"/>
                </a:solidFill>
              </a:rPr>
              <a:t>How do we detect congestion: </a:t>
            </a:r>
            <a:r>
              <a:rPr lang="en-US" b="1" i="1" dirty="0">
                <a:solidFill>
                  <a:srgbClr val="C00000"/>
                </a:solidFill>
              </a:rPr>
              <a:t>Packet loss</a:t>
            </a:r>
            <a:r>
              <a:rPr lang="en-US" dirty="0">
                <a:solidFill>
                  <a:schemeClr val="accent3"/>
                </a:solidFill>
              </a:rPr>
              <a:t>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no, increase </a:t>
            </a:r>
            <a:r>
              <a:rPr lang="en-US" i="1" dirty="0"/>
              <a:t>R </a:t>
            </a:r>
            <a:r>
              <a:rPr lang="en-US" dirty="0">
                <a:solidFill>
                  <a:schemeClr val="accent3"/>
                </a:solidFill>
              </a:rPr>
              <a:t>(</a:t>
            </a:r>
            <a:r>
              <a:rPr lang="en-US" i="1" dirty="0">
                <a:solidFill>
                  <a:schemeClr val="accent3"/>
                </a:solidFill>
              </a:rPr>
              <a:t>How much do we increase by? </a:t>
            </a:r>
            <a:r>
              <a:rPr lang="en-US" i="1" dirty="0">
                <a:solidFill>
                  <a:schemeClr val="accent3"/>
                </a:solidFill>
                <a:sym typeface="Wingdings" panose="05000000000000000000" pitchFamily="2" charset="2"/>
              </a:rPr>
              <a:t> </a:t>
            </a:r>
            <a:r>
              <a:rPr lang="en-US" b="1" i="1" dirty="0">
                <a:solidFill>
                  <a:srgbClr val="C00000"/>
                </a:solidFill>
              </a:rPr>
              <a:t>Additive increase</a:t>
            </a:r>
            <a:r>
              <a:rPr lang="en-US" dirty="0">
                <a:solidFill>
                  <a:schemeClr val="accent3"/>
                </a:solidFill>
              </a:rPr>
              <a:t>)</a:t>
            </a:r>
            <a:endParaRPr lang="en-US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yes, reduce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>
                <a:solidFill>
                  <a:schemeClr val="accent3"/>
                </a:solidFill>
              </a:rPr>
              <a:t>(</a:t>
            </a:r>
            <a:r>
              <a:rPr lang="en-US" i="1" dirty="0">
                <a:solidFill>
                  <a:schemeClr val="accent3"/>
                </a:solidFill>
              </a:rPr>
              <a:t>How much do we decrease by? </a:t>
            </a:r>
            <a:r>
              <a:rPr lang="en-US" i="1" dirty="0">
                <a:solidFill>
                  <a:schemeClr val="accent3"/>
                </a:solidFill>
                <a:sym typeface="Wingdings" panose="05000000000000000000" pitchFamily="2" charset="2"/>
              </a:rPr>
              <a:t> </a:t>
            </a:r>
            <a:r>
              <a:rPr lang="en-US" b="1" i="1" dirty="0">
                <a:solidFill>
                  <a:srgbClr val="C00000"/>
                </a:solidFill>
                <a:sym typeface="Wingdings" panose="05000000000000000000" pitchFamily="2" charset="2"/>
              </a:rPr>
              <a:t>Multiplicative decrease</a:t>
            </a:r>
            <a:r>
              <a:rPr lang="en-US" dirty="0">
                <a:solidFill>
                  <a:schemeClr val="accent3"/>
                </a:solidFill>
              </a:rPr>
              <a:t>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Repeat</a:t>
            </a:r>
          </a:p>
        </p:txBody>
      </p:sp>
      <p:grpSp>
        <p:nvGrpSpPr>
          <p:cNvPr id="23" name="Google Shape;636;p47">
            <a:extLst>
              <a:ext uri="{FF2B5EF4-FFF2-40B4-BE49-F238E27FC236}">
                <a16:creationId xmlns:a16="http://schemas.microsoft.com/office/drawing/2014/main" id="{4F5E384A-8DB9-30F1-B612-0974B33699B9}"/>
              </a:ext>
            </a:extLst>
          </p:cNvPr>
          <p:cNvGrpSpPr/>
          <p:nvPr/>
        </p:nvGrpSpPr>
        <p:grpSpPr>
          <a:xfrm>
            <a:off x="572343" y="1533735"/>
            <a:ext cx="556928" cy="1732100"/>
            <a:chOff x="496925" y="1413450"/>
            <a:chExt cx="639300" cy="1277700"/>
          </a:xfrm>
        </p:grpSpPr>
        <p:cxnSp>
          <p:nvCxnSpPr>
            <p:cNvPr id="24" name="Google Shape;637;p47">
              <a:extLst>
                <a:ext uri="{FF2B5EF4-FFF2-40B4-BE49-F238E27FC236}">
                  <a16:creationId xmlns:a16="http://schemas.microsoft.com/office/drawing/2014/main" id="{ED84A5F7-5695-F9CB-E233-4491ACA764CF}"/>
                </a:ext>
              </a:extLst>
            </p:cNvPr>
            <p:cNvCxnSpPr/>
            <p:nvPr/>
          </p:nvCxnSpPr>
          <p:spPr>
            <a:xfrm>
              <a:off x="496925" y="2691025"/>
              <a:ext cx="639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638;p47">
              <a:extLst>
                <a:ext uri="{FF2B5EF4-FFF2-40B4-BE49-F238E27FC236}">
                  <a16:creationId xmlns:a16="http://schemas.microsoft.com/office/drawing/2014/main" id="{2959FFC5-AE8F-0460-8960-A05A638C54C5}"/>
                </a:ext>
              </a:extLst>
            </p:cNvPr>
            <p:cNvCxnSpPr/>
            <p:nvPr/>
          </p:nvCxnSpPr>
          <p:spPr>
            <a:xfrm>
              <a:off x="496925" y="1413450"/>
              <a:ext cx="275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Google Shape;639;p47">
              <a:extLst>
                <a:ext uri="{FF2B5EF4-FFF2-40B4-BE49-F238E27FC236}">
                  <a16:creationId xmlns:a16="http://schemas.microsoft.com/office/drawing/2014/main" id="{A0BC0333-69E8-1814-A81A-D25058F8CF05}"/>
                </a:ext>
              </a:extLst>
            </p:cNvPr>
            <p:cNvCxnSpPr/>
            <p:nvPr/>
          </p:nvCxnSpPr>
          <p:spPr>
            <a:xfrm>
              <a:off x="496925" y="1413450"/>
              <a:ext cx="600" cy="1277700"/>
            </a:xfrm>
            <a:prstGeom prst="curvedConnector3">
              <a:avLst>
                <a:gd name="adj1" fmla="val -488125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" name="Google Shape;1060;p73">
            <a:extLst>
              <a:ext uri="{FF2B5EF4-FFF2-40B4-BE49-F238E27FC236}">
                <a16:creationId xmlns:a16="http://schemas.microsoft.com/office/drawing/2014/main" id="{080A43F2-B7C9-658E-C00E-1EBAA9B6B5B5}"/>
              </a:ext>
            </a:extLst>
          </p:cNvPr>
          <p:cNvSpPr txBox="1"/>
          <p:nvPr/>
        </p:nvSpPr>
        <p:spPr>
          <a:xfrm>
            <a:off x="297798" y="4643621"/>
            <a:ext cx="2555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This algorithm creates a sawtooth-shaped graph as the rate is adjusted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731A46C-A998-500C-2670-476B05D787D2}"/>
              </a:ext>
            </a:extLst>
          </p:cNvPr>
          <p:cNvGrpSpPr/>
          <p:nvPr/>
        </p:nvGrpSpPr>
        <p:grpSpPr>
          <a:xfrm>
            <a:off x="3613206" y="3429000"/>
            <a:ext cx="7641981" cy="3084354"/>
            <a:chOff x="2833278" y="2496175"/>
            <a:chExt cx="5286022" cy="2420625"/>
          </a:xfrm>
        </p:grpSpPr>
        <p:sp>
          <p:nvSpPr>
            <p:cNvPr id="28" name="Google Shape;1050;p73">
              <a:extLst>
                <a:ext uri="{FF2B5EF4-FFF2-40B4-BE49-F238E27FC236}">
                  <a16:creationId xmlns:a16="http://schemas.microsoft.com/office/drawing/2014/main" id="{3AE9DFCD-A57A-A3A5-A160-47342A8703F6}"/>
                </a:ext>
              </a:extLst>
            </p:cNvPr>
            <p:cNvSpPr txBox="1"/>
            <p:nvPr/>
          </p:nvSpPr>
          <p:spPr>
            <a:xfrm rot="16200000">
              <a:off x="4086200" y="315092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1051;p73">
              <a:extLst>
                <a:ext uri="{FF2B5EF4-FFF2-40B4-BE49-F238E27FC236}">
                  <a16:creationId xmlns:a16="http://schemas.microsoft.com/office/drawing/2014/main" id="{0AF4693C-94B8-498E-3B84-3FB851925384}"/>
                </a:ext>
              </a:extLst>
            </p:cNvPr>
            <p:cNvSpPr txBox="1"/>
            <p:nvPr/>
          </p:nvSpPr>
          <p:spPr>
            <a:xfrm rot="16200000">
              <a:off x="5400973" y="29234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" name="Google Shape;1052;p73">
              <a:extLst>
                <a:ext uri="{FF2B5EF4-FFF2-40B4-BE49-F238E27FC236}">
                  <a16:creationId xmlns:a16="http://schemas.microsoft.com/office/drawing/2014/main" id="{472772DD-246B-445A-BB11-0C64F49D2CE8}"/>
                </a:ext>
              </a:extLst>
            </p:cNvPr>
            <p:cNvSpPr txBox="1"/>
            <p:nvPr/>
          </p:nvSpPr>
          <p:spPr>
            <a:xfrm rot="16200000">
              <a:off x="6990203" y="261977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" name="Google Shape;1053;p73">
              <a:extLst>
                <a:ext uri="{FF2B5EF4-FFF2-40B4-BE49-F238E27FC236}">
                  <a16:creationId xmlns:a16="http://schemas.microsoft.com/office/drawing/2014/main" id="{B317256B-DA78-23A7-73C0-45EC3429B09C}"/>
                </a:ext>
              </a:extLst>
            </p:cNvPr>
            <p:cNvSpPr txBox="1"/>
            <p:nvPr/>
          </p:nvSpPr>
          <p:spPr>
            <a:xfrm rot="16200000">
              <a:off x="7780300" y="29234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" name="Google Shape;1054;p73">
              <a:extLst>
                <a:ext uri="{FF2B5EF4-FFF2-40B4-BE49-F238E27FC236}">
                  <a16:creationId xmlns:a16="http://schemas.microsoft.com/office/drawing/2014/main" id="{76E01237-82DE-F112-B628-34D6F2378E29}"/>
                </a:ext>
              </a:extLst>
            </p:cNvPr>
            <p:cNvGrpSpPr/>
            <p:nvPr/>
          </p:nvGrpSpPr>
          <p:grpSpPr>
            <a:xfrm>
              <a:off x="2833278" y="3509594"/>
              <a:ext cx="1484832" cy="1058020"/>
              <a:chOff x="2377550" y="2542225"/>
              <a:chExt cx="3229300" cy="2199625"/>
            </a:xfrm>
          </p:grpSpPr>
          <p:sp>
            <p:nvSpPr>
              <p:cNvPr id="33" name="Google Shape;1055;p73">
                <a:extLst>
                  <a:ext uri="{FF2B5EF4-FFF2-40B4-BE49-F238E27FC236}">
                    <a16:creationId xmlns:a16="http://schemas.microsoft.com/office/drawing/2014/main" id="{2E7E9A85-CC6C-F219-5859-D5BE1BD11AA4}"/>
                  </a:ext>
                </a:extLst>
              </p:cNvPr>
              <p:cNvSpPr/>
              <p:nvPr/>
            </p:nvSpPr>
            <p:spPr>
              <a:xfrm>
                <a:off x="2377550" y="2542225"/>
                <a:ext cx="3229292" cy="2199625"/>
              </a:xfrm>
              <a:custGeom>
                <a:avLst/>
                <a:gdLst/>
                <a:ahLst/>
                <a:cxnLst/>
                <a:rect l="l" t="t" r="r" b="b"/>
                <a:pathLst>
                  <a:path w="152884" h="87985" extrusionOk="0">
                    <a:moveTo>
                      <a:pt x="0" y="87985"/>
                    </a:moveTo>
                    <a:cubicBezTo>
                      <a:pt x="18727" y="85267"/>
                      <a:pt x="86882" y="86343"/>
                      <a:pt x="112363" y="71679"/>
                    </a:cubicBezTo>
                    <a:cubicBezTo>
                      <a:pt x="137844" y="57015"/>
                      <a:pt x="146131" y="11947"/>
                      <a:pt x="152884" y="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4" name="Google Shape;1056;p73">
                <a:extLst>
                  <a:ext uri="{FF2B5EF4-FFF2-40B4-BE49-F238E27FC236}">
                    <a16:creationId xmlns:a16="http://schemas.microsoft.com/office/drawing/2014/main" id="{A188C23F-FFBE-10F5-AFBD-3E41A910DC61}"/>
                  </a:ext>
                </a:extLst>
              </p:cNvPr>
              <p:cNvCxnSpPr/>
              <p:nvPr/>
            </p:nvCxnSpPr>
            <p:spPr>
              <a:xfrm>
                <a:off x="5606850" y="2564250"/>
                <a:ext cx="0" cy="114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5" name="Google Shape;1057;p73">
              <a:extLst>
                <a:ext uri="{FF2B5EF4-FFF2-40B4-BE49-F238E27FC236}">
                  <a16:creationId xmlns:a16="http://schemas.microsoft.com/office/drawing/2014/main" id="{A22F0D7B-6140-A06C-8387-2E9E7EE4DA25}"/>
                </a:ext>
              </a:extLst>
            </p:cNvPr>
            <p:cNvSpPr/>
            <p:nvPr/>
          </p:nvSpPr>
          <p:spPr>
            <a:xfrm>
              <a:off x="4317925" y="3002900"/>
              <a:ext cx="3704300" cy="1058025"/>
            </a:xfrm>
            <a:custGeom>
              <a:avLst/>
              <a:gdLst/>
              <a:ahLst/>
              <a:cxnLst/>
              <a:rect l="l" t="t" r="r" b="b"/>
              <a:pathLst>
                <a:path w="148172" h="42321" extrusionOk="0">
                  <a:moveTo>
                    <a:pt x="0" y="42321"/>
                  </a:moveTo>
                  <a:lnTo>
                    <a:pt x="52663" y="11916"/>
                  </a:lnTo>
                  <a:lnTo>
                    <a:pt x="52663" y="36849"/>
                  </a:lnTo>
                  <a:lnTo>
                    <a:pt x="116488" y="0"/>
                  </a:lnTo>
                  <a:lnTo>
                    <a:pt x="116488" y="30849"/>
                  </a:lnTo>
                  <a:lnTo>
                    <a:pt x="148172" y="12556"/>
                  </a:lnTo>
                  <a:lnTo>
                    <a:pt x="148172" y="36217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6" name="Google Shape;1058;p73">
              <a:extLst>
                <a:ext uri="{FF2B5EF4-FFF2-40B4-BE49-F238E27FC236}">
                  <a16:creationId xmlns:a16="http://schemas.microsoft.com/office/drawing/2014/main" id="{429DE307-8A38-4870-FEFE-C413983A5601}"/>
                </a:ext>
              </a:extLst>
            </p:cNvPr>
            <p:cNvCxnSpPr/>
            <p:nvPr/>
          </p:nvCxnSpPr>
          <p:spPr>
            <a:xfrm>
              <a:off x="2871575" y="4809100"/>
              <a:ext cx="1408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7" name="Google Shape;1059;p73">
              <a:extLst>
                <a:ext uri="{FF2B5EF4-FFF2-40B4-BE49-F238E27FC236}">
                  <a16:creationId xmlns:a16="http://schemas.microsoft.com/office/drawing/2014/main" id="{6154D4C2-6015-3036-4552-B534E984901E}"/>
                </a:ext>
              </a:extLst>
            </p:cNvPr>
            <p:cNvSpPr txBox="1"/>
            <p:nvPr/>
          </p:nvSpPr>
          <p:spPr>
            <a:xfrm>
              <a:off x="3109637" y="4701400"/>
              <a:ext cx="9321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8" name="Google Shape;1061;p73">
              <a:extLst>
                <a:ext uri="{FF2B5EF4-FFF2-40B4-BE49-F238E27FC236}">
                  <a16:creationId xmlns:a16="http://schemas.microsoft.com/office/drawing/2014/main" id="{D762E144-36B7-D76F-24C6-9E429B1400E1}"/>
                </a:ext>
              </a:extLst>
            </p:cNvPr>
            <p:cNvCxnSpPr/>
            <p:nvPr/>
          </p:nvCxnSpPr>
          <p:spPr>
            <a:xfrm>
              <a:off x="4318100" y="4809100"/>
              <a:ext cx="3704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9" name="Google Shape;1062;p73">
              <a:extLst>
                <a:ext uri="{FF2B5EF4-FFF2-40B4-BE49-F238E27FC236}">
                  <a16:creationId xmlns:a16="http://schemas.microsoft.com/office/drawing/2014/main" id="{7894F94E-4D2E-3426-F399-72BCDF2DEF21}"/>
                </a:ext>
              </a:extLst>
            </p:cNvPr>
            <p:cNvSpPr txBox="1"/>
            <p:nvPr/>
          </p:nvSpPr>
          <p:spPr>
            <a:xfrm>
              <a:off x="5905550" y="4701400"/>
              <a:ext cx="5295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AIMD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24DDB15-03E2-6C12-61FC-18ADBEC4A15C}"/>
              </a:ext>
            </a:extLst>
          </p:cNvPr>
          <p:cNvGrpSpPr/>
          <p:nvPr/>
        </p:nvGrpSpPr>
        <p:grpSpPr>
          <a:xfrm>
            <a:off x="3497856" y="3029371"/>
            <a:ext cx="4522435" cy="2169927"/>
            <a:chOff x="3497856" y="3029371"/>
            <a:chExt cx="4522435" cy="216992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A2D828D-E549-C91D-C83C-27CB2F4E1456}"/>
                </a:ext>
              </a:extLst>
            </p:cNvPr>
            <p:cNvSpPr/>
            <p:nvPr/>
          </p:nvSpPr>
          <p:spPr>
            <a:xfrm>
              <a:off x="5287194" y="3851174"/>
              <a:ext cx="927840" cy="1348124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47BB92-867E-6EA8-1FD7-6F0DB9ACA77B}"/>
                </a:ext>
              </a:extLst>
            </p:cNvPr>
            <p:cNvSpPr txBox="1"/>
            <p:nvPr/>
          </p:nvSpPr>
          <p:spPr>
            <a:xfrm>
              <a:off x="3497856" y="3029371"/>
              <a:ext cx="45224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>
                  <a:solidFill>
                    <a:srgbClr val="C00000"/>
                  </a:solidFill>
                </a:rPr>
                <a:t>Q2:How does this loss affect network utilization efficiency?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D9F9D82-3009-CCBB-51E5-5D5F067D78DD}"/>
              </a:ext>
            </a:extLst>
          </p:cNvPr>
          <p:cNvSpPr txBox="1"/>
          <p:nvPr/>
        </p:nvSpPr>
        <p:spPr>
          <a:xfrm>
            <a:off x="5372332" y="1395788"/>
            <a:ext cx="4709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Q1: How long?  </a:t>
            </a:r>
            <a:r>
              <a:rPr lang="en-US" sz="2400" b="1" i="1" dirty="0">
                <a:solidFill>
                  <a:srgbClr val="C00000"/>
                </a:solidFill>
                <a:sym typeface="Wingdings" panose="05000000000000000000" pitchFamily="2" charset="2"/>
              </a:rPr>
              <a:t> </a:t>
            </a:r>
            <a:r>
              <a:rPr lang="en-US" i="1" dirty="0">
                <a:sym typeface="Wingdings" panose="05000000000000000000" pitchFamily="2" charset="2"/>
              </a:rPr>
              <a:t>RTT? or event-driven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3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5A6A47A5-BAF4-4E9E-9ECA-6F88E70670B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B4475-53BA-DD85-1A70-B657B013B554}"/>
              </a:ext>
            </a:extLst>
          </p:cNvPr>
          <p:cNvSpPr txBox="1"/>
          <p:nvPr/>
        </p:nvSpPr>
        <p:spPr>
          <a:xfrm>
            <a:off x="376522" y="755545"/>
            <a:ext cx="6205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C00000"/>
                </a:solidFill>
              </a:rPr>
              <a:t>Windows and Rates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  <p:sp>
        <p:nvSpPr>
          <p:cNvPr id="4" name="Google Shape;1087;p77">
            <a:extLst>
              <a:ext uri="{FF2B5EF4-FFF2-40B4-BE49-F238E27FC236}">
                <a16:creationId xmlns:a16="http://schemas.microsoft.com/office/drawing/2014/main" id="{1FBAC387-E1E1-AAF9-4763-6F144486180B}"/>
              </a:ext>
            </a:extLst>
          </p:cNvPr>
          <p:cNvSpPr txBox="1">
            <a:spLocks/>
          </p:cNvSpPr>
          <p:nvPr/>
        </p:nvSpPr>
        <p:spPr>
          <a:xfrm>
            <a:off x="127747" y="1217209"/>
            <a:ext cx="11936505" cy="5506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Q1: How long is "some period of time"?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Ideally, each iteration lasts for one RTT </a:t>
            </a:r>
            <a:r>
              <a:rPr lang="en-US" sz="2000" dirty="0">
                <a:sym typeface="Wingdings" panose="05000000000000000000" pitchFamily="2" charset="2"/>
              </a:rPr>
              <a:t> RTT is hard to measure, changes dynamically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ym typeface="Wingdings" panose="05000000000000000000" pitchFamily="2" charset="2"/>
              </a:rPr>
              <a:t>CWND updates are </a:t>
            </a:r>
            <a:r>
              <a:rPr lang="en-US" sz="2000" b="1" i="1" dirty="0">
                <a:sym typeface="Wingdings" panose="05000000000000000000" pitchFamily="2" charset="2"/>
              </a:rPr>
              <a:t>event-driven</a:t>
            </a:r>
            <a:r>
              <a:rPr lang="en-US" sz="2000" dirty="0">
                <a:sym typeface="Wingdings" panose="05000000000000000000" pitchFamily="2" charset="2"/>
              </a:rPr>
              <a:t>: Sender adjusts CWND each time something interesting happens in TCP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We </a:t>
            </a:r>
            <a:r>
              <a:rPr lang="en-US" sz="2000" b="1" i="1" dirty="0">
                <a:solidFill>
                  <a:srgbClr val="C00000"/>
                </a:solidFill>
                <a:sym typeface="Wingdings" panose="05000000000000000000" pitchFamily="2" charset="2"/>
              </a:rPr>
              <a:t>get an ack </a:t>
            </a:r>
            <a:r>
              <a:rPr lang="en-US" sz="2000" dirty="0">
                <a:sym typeface="Wingdings" panose="05000000000000000000" pitchFamily="2" charset="2"/>
              </a:rPr>
              <a:t>for new data: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ym typeface="Wingdings" panose="05000000000000000000" pitchFamily="2" charset="2"/>
              </a:rPr>
              <a:t>This means there was no congestion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ym typeface="Wingdings" panose="05000000000000000000" pitchFamily="2" charset="2"/>
              </a:rPr>
              <a:t>Increase</a:t>
            </a:r>
            <a:r>
              <a:rPr lang="en-US" dirty="0">
                <a:sym typeface="Wingdings" panose="05000000000000000000" pitchFamily="2" charset="2"/>
              </a:rPr>
              <a:t> CWND (using </a:t>
            </a:r>
            <a:r>
              <a:rPr lang="en-US" i="1" dirty="0">
                <a:solidFill>
                  <a:srgbClr val="C00000"/>
                </a:solidFill>
                <a:sym typeface="Wingdings" panose="05000000000000000000" pitchFamily="2" charset="2"/>
              </a:rPr>
              <a:t>slow-start</a:t>
            </a:r>
            <a:r>
              <a:rPr lang="en-US" dirty="0">
                <a:sym typeface="Wingdings" panose="05000000000000000000" pitchFamily="2" charset="2"/>
              </a:rPr>
              <a:t>, or </a:t>
            </a:r>
            <a:r>
              <a:rPr lang="en-US" i="1" dirty="0">
                <a:solidFill>
                  <a:srgbClr val="C00000"/>
                </a:solidFill>
                <a:sym typeface="Wingdings" panose="05000000000000000000" pitchFamily="2" charset="2"/>
              </a:rPr>
              <a:t>additive increase </a:t>
            </a:r>
            <a:r>
              <a:rPr lang="en-US" dirty="0">
                <a:sym typeface="Wingdings" panose="05000000000000000000" pitchFamily="2" charset="2"/>
              </a:rPr>
              <a:t>in AIMD)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We get </a:t>
            </a:r>
            <a:r>
              <a:rPr lang="en-US" sz="2000" b="1" i="1" dirty="0">
                <a:solidFill>
                  <a:srgbClr val="C00000"/>
                </a:solidFill>
                <a:sym typeface="Wingdings" panose="05000000000000000000" pitchFamily="2" charset="2"/>
              </a:rPr>
              <a:t>3 duplicate acks </a:t>
            </a:r>
            <a:r>
              <a:rPr lang="en-US" sz="2000" dirty="0">
                <a:sym typeface="Wingdings" panose="05000000000000000000" pitchFamily="2" charset="2"/>
              </a:rPr>
              <a:t>and declare a packet lost: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ym typeface="Wingdings" panose="05000000000000000000" pitchFamily="2" charset="2"/>
              </a:rPr>
              <a:t>Probably an isolated loss, since we're still getting subsequent acks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ym typeface="Wingdings" panose="05000000000000000000" pitchFamily="2" charset="2"/>
              </a:rPr>
              <a:t>Decrease</a:t>
            </a:r>
            <a:r>
              <a:rPr lang="en-US" dirty="0">
                <a:sym typeface="Wingdings" panose="05000000000000000000" pitchFamily="2" charset="2"/>
              </a:rPr>
              <a:t> CWND (multiplicative decrease in AIMD)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The </a:t>
            </a:r>
            <a:r>
              <a:rPr lang="en-US" sz="2000" b="1" i="1" dirty="0">
                <a:solidFill>
                  <a:srgbClr val="C00000"/>
                </a:solidFill>
                <a:sym typeface="Wingdings" panose="05000000000000000000" pitchFamily="2" charset="2"/>
              </a:rPr>
              <a:t>timer expires </a:t>
            </a:r>
            <a:r>
              <a:rPr lang="en-US" sz="2000" dirty="0">
                <a:sym typeface="Wingdings" panose="05000000000000000000" pitchFamily="2" charset="2"/>
              </a:rPr>
              <a:t>and we declare a packet lost: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ym typeface="Wingdings" panose="05000000000000000000" pitchFamily="2" charset="2"/>
              </a:rPr>
              <a:t>We probably lost several packets – didn't get any duplicate acks.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Bad news!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ym typeface="Wingdings" panose="05000000000000000000" pitchFamily="2" charset="2"/>
              </a:rPr>
              <a:t>Abandon current rate and start over from </a:t>
            </a:r>
            <a:r>
              <a:rPr lang="en-US" b="1" dirty="0">
                <a:sym typeface="Wingdings" panose="05000000000000000000" pitchFamily="2" charset="2"/>
              </a:rPr>
              <a:t>slow-start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4592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44BA22D8-BD5D-0869-7451-237491F36A2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96F09-ED1F-6127-9C79-D1A0F4609694}"/>
              </a:ext>
            </a:extLst>
          </p:cNvPr>
          <p:cNvSpPr txBox="1"/>
          <p:nvPr/>
        </p:nvSpPr>
        <p:spPr>
          <a:xfrm>
            <a:off x="376523" y="755545"/>
            <a:ext cx="9439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C00000"/>
                </a:solidFill>
              </a:rPr>
              <a:t>Q2: Event-Driven Slow Start – SSTHRESH (Slow Start Threshold)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AEADB3-90E9-1997-244E-5D10974EE852}"/>
              </a:ext>
            </a:extLst>
          </p:cNvPr>
          <p:cNvGrpSpPr/>
          <p:nvPr/>
        </p:nvGrpSpPr>
        <p:grpSpPr>
          <a:xfrm>
            <a:off x="264969" y="1972755"/>
            <a:ext cx="4058260" cy="4685518"/>
            <a:chOff x="2127387" y="538025"/>
            <a:chExt cx="4265826" cy="4438755"/>
          </a:xfrm>
        </p:grpSpPr>
        <p:sp>
          <p:nvSpPr>
            <p:cNvPr id="4" name="Google Shape;1122;p82">
              <a:extLst>
                <a:ext uri="{FF2B5EF4-FFF2-40B4-BE49-F238E27FC236}">
                  <a16:creationId xmlns:a16="http://schemas.microsoft.com/office/drawing/2014/main" id="{D92BC0F0-5851-98A1-58DD-435E611E8205}"/>
                </a:ext>
              </a:extLst>
            </p:cNvPr>
            <p:cNvSpPr/>
            <p:nvPr/>
          </p:nvSpPr>
          <p:spPr>
            <a:xfrm>
              <a:off x="2905763" y="3207775"/>
              <a:ext cx="3019500" cy="805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" name="Google Shape;1123;p82">
              <a:extLst>
                <a:ext uri="{FF2B5EF4-FFF2-40B4-BE49-F238E27FC236}">
                  <a16:creationId xmlns:a16="http://schemas.microsoft.com/office/drawing/2014/main" id="{BE1721C4-7EC2-56A7-5D5B-48FF3EC43888}"/>
                </a:ext>
              </a:extLst>
            </p:cNvPr>
            <p:cNvSpPr/>
            <p:nvPr/>
          </p:nvSpPr>
          <p:spPr>
            <a:xfrm>
              <a:off x="2905763" y="2369575"/>
              <a:ext cx="3019500" cy="838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" name="Google Shape;1124;p82">
              <a:extLst>
                <a:ext uri="{FF2B5EF4-FFF2-40B4-BE49-F238E27FC236}">
                  <a16:creationId xmlns:a16="http://schemas.microsoft.com/office/drawing/2014/main" id="{131E32F1-13B4-9680-BCDF-43BFD57B2248}"/>
                </a:ext>
              </a:extLst>
            </p:cNvPr>
            <p:cNvSpPr/>
            <p:nvPr/>
          </p:nvSpPr>
          <p:spPr>
            <a:xfrm>
              <a:off x="2905763" y="1531250"/>
              <a:ext cx="3019500" cy="838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1125;p82">
              <a:extLst>
                <a:ext uri="{FF2B5EF4-FFF2-40B4-BE49-F238E27FC236}">
                  <a16:creationId xmlns:a16="http://schemas.microsoft.com/office/drawing/2014/main" id="{947D5EE2-9A8D-5ABE-9433-8F79C6F0E896}"/>
                </a:ext>
              </a:extLst>
            </p:cNvPr>
            <p:cNvSpPr/>
            <p:nvPr/>
          </p:nvSpPr>
          <p:spPr>
            <a:xfrm>
              <a:off x="2907738" y="688550"/>
              <a:ext cx="3019500" cy="8427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127;p82">
              <a:extLst>
                <a:ext uri="{FF2B5EF4-FFF2-40B4-BE49-F238E27FC236}">
                  <a16:creationId xmlns:a16="http://schemas.microsoft.com/office/drawing/2014/main" id="{8285EF1D-D4F5-5EA1-FA79-AA5B309F1644}"/>
                </a:ext>
              </a:extLst>
            </p:cNvPr>
            <p:cNvSpPr txBox="1"/>
            <p:nvPr/>
          </p:nvSpPr>
          <p:spPr>
            <a:xfrm>
              <a:off x="2531363" y="4661900"/>
              <a:ext cx="1041951" cy="314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128;p82">
              <a:extLst>
                <a:ext uri="{FF2B5EF4-FFF2-40B4-BE49-F238E27FC236}">
                  <a16:creationId xmlns:a16="http://schemas.microsoft.com/office/drawing/2014/main" id="{5CF321DD-A8EB-2A49-D95C-2577EDF2D7F6}"/>
                </a:ext>
              </a:extLst>
            </p:cNvPr>
            <p:cNvSpPr txBox="1"/>
            <p:nvPr/>
          </p:nvSpPr>
          <p:spPr>
            <a:xfrm>
              <a:off x="5205888" y="4661900"/>
              <a:ext cx="1187325" cy="314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7425" rIns="91425" bIns="27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" name="Google Shape;1129;p82">
              <a:extLst>
                <a:ext uri="{FF2B5EF4-FFF2-40B4-BE49-F238E27FC236}">
                  <a16:creationId xmlns:a16="http://schemas.microsoft.com/office/drawing/2014/main" id="{BD36518B-08E6-1A54-9D47-3E6E13817692}"/>
                </a:ext>
              </a:extLst>
            </p:cNvPr>
            <p:cNvCxnSpPr/>
            <p:nvPr/>
          </p:nvCxnSpPr>
          <p:spPr>
            <a:xfrm>
              <a:off x="2905763" y="538025"/>
              <a:ext cx="0" cy="41238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30;p82">
              <a:extLst>
                <a:ext uri="{FF2B5EF4-FFF2-40B4-BE49-F238E27FC236}">
                  <a16:creationId xmlns:a16="http://schemas.microsoft.com/office/drawing/2014/main" id="{9ADDC9CB-E50E-E75F-CA7F-B04B2D3C2C0F}"/>
                </a:ext>
              </a:extLst>
            </p:cNvPr>
            <p:cNvCxnSpPr/>
            <p:nvPr/>
          </p:nvCxnSpPr>
          <p:spPr>
            <a:xfrm>
              <a:off x="5927163" y="538025"/>
              <a:ext cx="0" cy="41238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131;p82">
              <a:extLst>
                <a:ext uri="{FF2B5EF4-FFF2-40B4-BE49-F238E27FC236}">
                  <a16:creationId xmlns:a16="http://schemas.microsoft.com/office/drawing/2014/main" id="{EAAE4D11-26D2-E4BC-8A75-1D6D2BF731BA}"/>
                </a:ext>
              </a:extLst>
            </p:cNvPr>
            <p:cNvCxnSpPr/>
            <p:nvPr/>
          </p:nvCxnSpPr>
          <p:spPr>
            <a:xfrm>
              <a:off x="2907738" y="688400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1132;p82">
              <a:extLst>
                <a:ext uri="{FF2B5EF4-FFF2-40B4-BE49-F238E27FC236}">
                  <a16:creationId xmlns:a16="http://schemas.microsoft.com/office/drawing/2014/main" id="{B4E83D91-C518-0887-FDCC-6ACA2824EA4B}"/>
                </a:ext>
              </a:extLst>
            </p:cNvPr>
            <p:cNvCxnSpPr/>
            <p:nvPr/>
          </p:nvCxnSpPr>
          <p:spPr>
            <a:xfrm flipH="1">
              <a:off x="2907738" y="1109881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Google Shape;1133;p82">
              <a:extLst>
                <a:ext uri="{FF2B5EF4-FFF2-40B4-BE49-F238E27FC236}">
                  <a16:creationId xmlns:a16="http://schemas.microsoft.com/office/drawing/2014/main" id="{D3BD45BC-E708-0D66-05D6-027B5D1BAEE5}"/>
                </a:ext>
              </a:extLst>
            </p:cNvPr>
            <p:cNvCxnSpPr/>
            <p:nvPr/>
          </p:nvCxnSpPr>
          <p:spPr>
            <a:xfrm>
              <a:off x="2907738" y="1531363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1134;p82">
              <a:extLst>
                <a:ext uri="{FF2B5EF4-FFF2-40B4-BE49-F238E27FC236}">
                  <a16:creationId xmlns:a16="http://schemas.microsoft.com/office/drawing/2014/main" id="{6F6B2D72-7B7F-9240-6001-642D5462B587}"/>
                </a:ext>
              </a:extLst>
            </p:cNvPr>
            <p:cNvCxnSpPr/>
            <p:nvPr/>
          </p:nvCxnSpPr>
          <p:spPr>
            <a:xfrm flipH="1">
              <a:off x="2907738" y="1952844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Google Shape;1135;p82">
              <a:extLst>
                <a:ext uri="{FF2B5EF4-FFF2-40B4-BE49-F238E27FC236}">
                  <a16:creationId xmlns:a16="http://schemas.microsoft.com/office/drawing/2014/main" id="{92B04ADB-7D53-3C24-10BB-8599AFB10D28}"/>
                </a:ext>
              </a:extLst>
            </p:cNvPr>
            <p:cNvCxnSpPr/>
            <p:nvPr/>
          </p:nvCxnSpPr>
          <p:spPr>
            <a:xfrm>
              <a:off x="2907738" y="1650425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Google Shape;1136;p82">
              <a:extLst>
                <a:ext uri="{FF2B5EF4-FFF2-40B4-BE49-F238E27FC236}">
                  <a16:creationId xmlns:a16="http://schemas.microsoft.com/office/drawing/2014/main" id="{1E905F77-CC5F-945D-8F02-54B3F77BFDF6}"/>
                </a:ext>
              </a:extLst>
            </p:cNvPr>
            <p:cNvCxnSpPr/>
            <p:nvPr/>
          </p:nvCxnSpPr>
          <p:spPr>
            <a:xfrm flipH="1">
              <a:off x="2907738" y="2071906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Google Shape;1137;p82">
              <a:extLst>
                <a:ext uri="{FF2B5EF4-FFF2-40B4-BE49-F238E27FC236}">
                  <a16:creationId xmlns:a16="http://schemas.microsoft.com/office/drawing/2014/main" id="{BFE8BA3D-B1B7-D6BF-481D-F50A8B6D6788}"/>
                </a:ext>
              </a:extLst>
            </p:cNvPr>
            <p:cNvCxnSpPr/>
            <p:nvPr/>
          </p:nvCxnSpPr>
          <p:spPr>
            <a:xfrm>
              <a:off x="2907738" y="2369563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1138;p82">
              <a:extLst>
                <a:ext uri="{FF2B5EF4-FFF2-40B4-BE49-F238E27FC236}">
                  <a16:creationId xmlns:a16="http://schemas.microsoft.com/office/drawing/2014/main" id="{EF1E3A32-3FEA-8488-9079-AAA1FE853AA4}"/>
                </a:ext>
              </a:extLst>
            </p:cNvPr>
            <p:cNvCxnSpPr/>
            <p:nvPr/>
          </p:nvCxnSpPr>
          <p:spPr>
            <a:xfrm flipH="1">
              <a:off x="2907738" y="2791044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1139;p82">
              <a:extLst>
                <a:ext uri="{FF2B5EF4-FFF2-40B4-BE49-F238E27FC236}">
                  <a16:creationId xmlns:a16="http://schemas.microsoft.com/office/drawing/2014/main" id="{520AC2FF-638D-E0D1-2F8B-0D53381CC9EA}"/>
                </a:ext>
              </a:extLst>
            </p:cNvPr>
            <p:cNvCxnSpPr/>
            <p:nvPr/>
          </p:nvCxnSpPr>
          <p:spPr>
            <a:xfrm>
              <a:off x="2907738" y="2488625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1140;p82">
              <a:extLst>
                <a:ext uri="{FF2B5EF4-FFF2-40B4-BE49-F238E27FC236}">
                  <a16:creationId xmlns:a16="http://schemas.microsoft.com/office/drawing/2014/main" id="{0750CA45-6CAC-3779-5891-89BB4C9A06C8}"/>
                </a:ext>
              </a:extLst>
            </p:cNvPr>
            <p:cNvCxnSpPr/>
            <p:nvPr/>
          </p:nvCxnSpPr>
          <p:spPr>
            <a:xfrm flipH="1">
              <a:off x="2907738" y="2910106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Google Shape;1141;p82">
              <a:extLst>
                <a:ext uri="{FF2B5EF4-FFF2-40B4-BE49-F238E27FC236}">
                  <a16:creationId xmlns:a16="http://schemas.microsoft.com/office/drawing/2014/main" id="{7F9B3CDB-95F8-40ED-8BE5-86B8D1AC1627}"/>
                </a:ext>
              </a:extLst>
            </p:cNvPr>
            <p:cNvCxnSpPr/>
            <p:nvPr/>
          </p:nvCxnSpPr>
          <p:spPr>
            <a:xfrm>
              <a:off x="2907738" y="2598163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Google Shape;1142;p82">
              <a:extLst>
                <a:ext uri="{FF2B5EF4-FFF2-40B4-BE49-F238E27FC236}">
                  <a16:creationId xmlns:a16="http://schemas.microsoft.com/office/drawing/2014/main" id="{99A55327-9871-4A8F-4DAA-FB84CD4F97D8}"/>
                </a:ext>
              </a:extLst>
            </p:cNvPr>
            <p:cNvCxnSpPr/>
            <p:nvPr/>
          </p:nvCxnSpPr>
          <p:spPr>
            <a:xfrm flipH="1">
              <a:off x="2907738" y="3019644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Google Shape;1143;p82">
              <a:extLst>
                <a:ext uri="{FF2B5EF4-FFF2-40B4-BE49-F238E27FC236}">
                  <a16:creationId xmlns:a16="http://schemas.microsoft.com/office/drawing/2014/main" id="{759E86A8-EF60-600E-8592-E206D4B047BA}"/>
                </a:ext>
              </a:extLst>
            </p:cNvPr>
            <p:cNvCxnSpPr/>
            <p:nvPr/>
          </p:nvCxnSpPr>
          <p:spPr>
            <a:xfrm>
              <a:off x="2907738" y="2717225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1144;p82">
              <a:extLst>
                <a:ext uri="{FF2B5EF4-FFF2-40B4-BE49-F238E27FC236}">
                  <a16:creationId xmlns:a16="http://schemas.microsoft.com/office/drawing/2014/main" id="{BB6FE883-CB0D-0C5B-2525-84E1D39FFDDF}"/>
                </a:ext>
              </a:extLst>
            </p:cNvPr>
            <p:cNvCxnSpPr/>
            <p:nvPr/>
          </p:nvCxnSpPr>
          <p:spPr>
            <a:xfrm flipH="1">
              <a:off x="2907738" y="3138706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Google Shape;1145;p82">
              <a:extLst>
                <a:ext uri="{FF2B5EF4-FFF2-40B4-BE49-F238E27FC236}">
                  <a16:creationId xmlns:a16="http://schemas.microsoft.com/office/drawing/2014/main" id="{136D3D38-051B-1E34-8BB2-510C3AB09479}"/>
                </a:ext>
              </a:extLst>
            </p:cNvPr>
            <p:cNvCxnSpPr/>
            <p:nvPr/>
          </p:nvCxnSpPr>
          <p:spPr>
            <a:xfrm>
              <a:off x="2907738" y="3207763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" name="Google Shape;1146;p82">
              <a:extLst>
                <a:ext uri="{FF2B5EF4-FFF2-40B4-BE49-F238E27FC236}">
                  <a16:creationId xmlns:a16="http://schemas.microsoft.com/office/drawing/2014/main" id="{C05177A2-1271-F0F3-63A2-5CB6F25BE0BA}"/>
                </a:ext>
              </a:extLst>
            </p:cNvPr>
            <p:cNvCxnSpPr/>
            <p:nvPr/>
          </p:nvCxnSpPr>
          <p:spPr>
            <a:xfrm>
              <a:off x="2907738" y="3326825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" name="Google Shape;1147;p82">
              <a:extLst>
                <a:ext uri="{FF2B5EF4-FFF2-40B4-BE49-F238E27FC236}">
                  <a16:creationId xmlns:a16="http://schemas.microsoft.com/office/drawing/2014/main" id="{B9AC84A2-E2BA-042F-320C-9A35EEDA7AF1}"/>
                </a:ext>
              </a:extLst>
            </p:cNvPr>
            <p:cNvCxnSpPr/>
            <p:nvPr/>
          </p:nvCxnSpPr>
          <p:spPr>
            <a:xfrm>
              <a:off x="2907738" y="3436363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Google Shape;1148;p82">
              <a:extLst>
                <a:ext uri="{FF2B5EF4-FFF2-40B4-BE49-F238E27FC236}">
                  <a16:creationId xmlns:a16="http://schemas.microsoft.com/office/drawing/2014/main" id="{D7721E0D-FFC0-FBB7-69F4-ACD150E693E5}"/>
                </a:ext>
              </a:extLst>
            </p:cNvPr>
            <p:cNvCxnSpPr/>
            <p:nvPr/>
          </p:nvCxnSpPr>
          <p:spPr>
            <a:xfrm>
              <a:off x="2907738" y="3555425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" name="Google Shape;1149;p82">
              <a:extLst>
                <a:ext uri="{FF2B5EF4-FFF2-40B4-BE49-F238E27FC236}">
                  <a16:creationId xmlns:a16="http://schemas.microsoft.com/office/drawing/2014/main" id="{A3DFD8CD-79E3-A490-EB88-94F3F3EF381D}"/>
                </a:ext>
              </a:extLst>
            </p:cNvPr>
            <p:cNvCxnSpPr/>
            <p:nvPr/>
          </p:nvCxnSpPr>
          <p:spPr>
            <a:xfrm>
              <a:off x="2907738" y="3664963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" name="Google Shape;1150;p82">
              <a:extLst>
                <a:ext uri="{FF2B5EF4-FFF2-40B4-BE49-F238E27FC236}">
                  <a16:creationId xmlns:a16="http://schemas.microsoft.com/office/drawing/2014/main" id="{E61B5F6B-1528-21CB-CC54-FD1109694009}"/>
                </a:ext>
              </a:extLst>
            </p:cNvPr>
            <p:cNvCxnSpPr/>
            <p:nvPr/>
          </p:nvCxnSpPr>
          <p:spPr>
            <a:xfrm>
              <a:off x="2907738" y="3784025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Google Shape;1151;p82">
              <a:extLst>
                <a:ext uri="{FF2B5EF4-FFF2-40B4-BE49-F238E27FC236}">
                  <a16:creationId xmlns:a16="http://schemas.microsoft.com/office/drawing/2014/main" id="{2FE33A9C-BB78-3DD2-3C2E-69110B8E50CC}"/>
                </a:ext>
              </a:extLst>
            </p:cNvPr>
            <p:cNvCxnSpPr/>
            <p:nvPr/>
          </p:nvCxnSpPr>
          <p:spPr>
            <a:xfrm>
              <a:off x="2907738" y="3893563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" name="Google Shape;1152;p82">
              <a:extLst>
                <a:ext uri="{FF2B5EF4-FFF2-40B4-BE49-F238E27FC236}">
                  <a16:creationId xmlns:a16="http://schemas.microsoft.com/office/drawing/2014/main" id="{EBDE6A8D-48B7-0058-AA8F-148BDFAF61C2}"/>
                </a:ext>
              </a:extLst>
            </p:cNvPr>
            <p:cNvCxnSpPr/>
            <p:nvPr/>
          </p:nvCxnSpPr>
          <p:spPr>
            <a:xfrm>
              <a:off x="2907738" y="4012625"/>
              <a:ext cx="3019500" cy="38880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" name="Google Shape;1153;p82">
              <a:extLst>
                <a:ext uri="{FF2B5EF4-FFF2-40B4-BE49-F238E27FC236}">
                  <a16:creationId xmlns:a16="http://schemas.microsoft.com/office/drawing/2014/main" id="{5A1BD5A5-65E0-B152-8A57-94DE7399E263}"/>
                </a:ext>
              </a:extLst>
            </p:cNvPr>
            <p:cNvSpPr txBox="1"/>
            <p:nvPr/>
          </p:nvSpPr>
          <p:spPr>
            <a:xfrm>
              <a:off x="2127387" y="592811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CWND = 1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" name="Google Shape;1154;p82">
              <a:extLst>
                <a:ext uri="{FF2B5EF4-FFF2-40B4-BE49-F238E27FC236}">
                  <a16:creationId xmlns:a16="http://schemas.microsoft.com/office/drawing/2014/main" id="{6E196434-CD45-BEF8-6EEE-1639C89685BB}"/>
                </a:ext>
              </a:extLst>
            </p:cNvPr>
            <p:cNvSpPr txBox="1"/>
            <p:nvPr/>
          </p:nvSpPr>
          <p:spPr>
            <a:xfrm>
              <a:off x="2127387" y="1406300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CWND = 2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" name="Google Shape;1155;p82">
              <a:extLst>
                <a:ext uri="{FF2B5EF4-FFF2-40B4-BE49-F238E27FC236}">
                  <a16:creationId xmlns:a16="http://schemas.microsoft.com/office/drawing/2014/main" id="{2B1C98E1-30B3-27EA-56D4-BA750AAE0919}"/>
                </a:ext>
              </a:extLst>
            </p:cNvPr>
            <p:cNvSpPr txBox="1"/>
            <p:nvPr/>
          </p:nvSpPr>
          <p:spPr>
            <a:xfrm>
              <a:off x="2127387" y="2222035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CWND = 3</a:t>
              </a:r>
              <a:endParaRPr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Google Shape;1156;p82">
              <a:extLst>
                <a:ext uri="{FF2B5EF4-FFF2-40B4-BE49-F238E27FC236}">
                  <a16:creationId xmlns:a16="http://schemas.microsoft.com/office/drawing/2014/main" id="{1C07BBAF-7AE3-64A7-51F7-C624AE5CCCB7}"/>
                </a:ext>
              </a:extLst>
            </p:cNvPr>
            <p:cNvSpPr txBox="1"/>
            <p:nvPr/>
          </p:nvSpPr>
          <p:spPr>
            <a:xfrm>
              <a:off x="2127387" y="2374435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CWND = 4</a:t>
              </a:r>
              <a:endParaRPr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" name="Google Shape;1157;p82">
              <a:extLst>
                <a:ext uri="{FF2B5EF4-FFF2-40B4-BE49-F238E27FC236}">
                  <a16:creationId xmlns:a16="http://schemas.microsoft.com/office/drawing/2014/main" id="{22900115-759F-BAB9-3C2F-B343E5DC7E73}"/>
                </a:ext>
              </a:extLst>
            </p:cNvPr>
            <p:cNvSpPr txBox="1"/>
            <p:nvPr/>
          </p:nvSpPr>
          <p:spPr>
            <a:xfrm>
              <a:off x="2127387" y="3022045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CWND = 5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" name="Google Shape;1158;p82">
              <a:extLst>
                <a:ext uri="{FF2B5EF4-FFF2-40B4-BE49-F238E27FC236}">
                  <a16:creationId xmlns:a16="http://schemas.microsoft.com/office/drawing/2014/main" id="{43F387B7-76DF-F89B-925D-911193D678EC}"/>
                </a:ext>
              </a:extLst>
            </p:cNvPr>
            <p:cNvSpPr txBox="1"/>
            <p:nvPr/>
          </p:nvSpPr>
          <p:spPr>
            <a:xfrm>
              <a:off x="2127387" y="3174445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00FF"/>
                  </a:solidFill>
                  <a:latin typeface="Roboto"/>
                  <a:ea typeface="Roboto"/>
                  <a:cs typeface="Roboto"/>
                  <a:sym typeface="Roboto"/>
                </a:rPr>
                <a:t>CWND = 6</a:t>
              </a:r>
              <a:endParaRPr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" name="Google Shape;1159;p82">
              <a:extLst>
                <a:ext uri="{FF2B5EF4-FFF2-40B4-BE49-F238E27FC236}">
                  <a16:creationId xmlns:a16="http://schemas.microsoft.com/office/drawing/2014/main" id="{E49D2EF8-F45D-65C1-8042-36E958B2EE41}"/>
                </a:ext>
              </a:extLst>
            </p:cNvPr>
            <p:cNvSpPr txBox="1"/>
            <p:nvPr/>
          </p:nvSpPr>
          <p:spPr>
            <a:xfrm>
              <a:off x="2127387" y="3326845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00FF"/>
                  </a:solidFill>
                  <a:latin typeface="Roboto"/>
                  <a:ea typeface="Roboto"/>
                  <a:cs typeface="Roboto"/>
                  <a:sym typeface="Roboto"/>
                </a:rPr>
                <a:t>CWND = 7</a:t>
              </a:r>
              <a:endParaRPr sz="12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" name="Google Shape;1160;p82">
              <a:extLst>
                <a:ext uri="{FF2B5EF4-FFF2-40B4-BE49-F238E27FC236}">
                  <a16:creationId xmlns:a16="http://schemas.microsoft.com/office/drawing/2014/main" id="{BFF7C370-40A0-DD48-1B3C-0A9B504A986C}"/>
                </a:ext>
              </a:extLst>
            </p:cNvPr>
            <p:cNvSpPr txBox="1"/>
            <p:nvPr/>
          </p:nvSpPr>
          <p:spPr>
            <a:xfrm>
              <a:off x="2127387" y="3479245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E69138"/>
                  </a:solidFill>
                  <a:latin typeface="Roboto"/>
                  <a:ea typeface="Roboto"/>
                  <a:cs typeface="Roboto"/>
                  <a:sym typeface="Roboto"/>
                </a:rPr>
                <a:t>CWND = 8</a:t>
              </a:r>
              <a:endParaRPr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" name="Google Shape;1161;p82">
              <a:extLst>
                <a:ext uri="{FF2B5EF4-FFF2-40B4-BE49-F238E27FC236}">
                  <a16:creationId xmlns:a16="http://schemas.microsoft.com/office/drawing/2014/main" id="{229A981A-5FBF-7911-A201-1E33393F378F}"/>
                </a:ext>
              </a:extLst>
            </p:cNvPr>
            <p:cNvSpPr txBox="1"/>
            <p:nvPr/>
          </p:nvSpPr>
          <p:spPr>
            <a:xfrm rot="5400000">
              <a:off x="5712387" y="1017511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First RTT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" name="Google Shape;1162;p82">
              <a:extLst>
                <a:ext uri="{FF2B5EF4-FFF2-40B4-BE49-F238E27FC236}">
                  <a16:creationId xmlns:a16="http://schemas.microsoft.com/office/drawing/2014/main" id="{05EFB2FA-C8C0-0220-43F7-A1B526495EF9}"/>
                </a:ext>
              </a:extLst>
            </p:cNvPr>
            <p:cNvSpPr txBox="1"/>
            <p:nvPr/>
          </p:nvSpPr>
          <p:spPr>
            <a:xfrm rot="5400000">
              <a:off x="5671138" y="1856600"/>
              <a:ext cx="831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Second RTT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" name="Google Shape;1163;p82">
              <a:extLst>
                <a:ext uri="{FF2B5EF4-FFF2-40B4-BE49-F238E27FC236}">
                  <a16:creationId xmlns:a16="http://schemas.microsoft.com/office/drawing/2014/main" id="{31866504-CDE5-270F-B5ED-C1FFFF07DFF7}"/>
                </a:ext>
              </a:extLst>
            </p:cNvPr>
            <p:cNvSpPr txBox="1"/>
            <p:nvPr/>
          </p:nvSpPr>
          <p:spPr>
            <a:xfrm rot="5400000">
              <a:off x="5712387" y="2693911"/>
              <a:ext cx="74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Third RTT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" name="Google Shape;1164;p82">
              <a:extLst>
                <a:ext uri="{FF2B5EF4-FFF2-40B4-BE49-F238E27FC236}">
                  <a16:creationId xmlns:a16="http://schemas.microsoft.com/office/drawing/2014/main" id="{26EA2175-6163-9FCE-DC3F-37D88D601365}"/>
                </a:ext>
              </a:extLst>
            </p:cNvPr>
            <p:cNvSpPr txBox="1"/>
            <p:nvPr/>
          </p:nvSpPr>
          <p:spPr>
            <a:xfrm rot="5400000">
              <a:off x="5671138" y="3533000"/>
              <a:ext cx="831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Fourth RTT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246579F-3B4B-A969-8A8B-81CA751EF902}"/>
              </a:ext>
            </a:extLst>
          </p:cNvPr>
          <p:cNvSpPr txBox="1"/>
          <p:nvPr/>
        </p:nvSpPr>
        <p:spPr>
          <a:xfrm>
            <a:off x="1083611" y="1517556"/>
            <a:ext cx="2716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Event-Driven Slow Start</a:t>
            </a:r>
            <a:endParaRPr lang="en-US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EA3761-0F55-678A-B4D8-482B728422D6}"/>
              </a:ext>
            </a:extLst>
          </p:cNvPr>
          <p:cNvSpPr txBox="1"/>
          <p:nvPr/>
        </p:nvSpPr>
        <p:spPr>
          <a:xfrm>
            <a:off x="4323229" y="1162602"/>
            <a:ext cx="7893419" cy="348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3075" lvl="0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When connection begins, increase rate/</a:t>
            </a:r>
            <a:r>
              <a:rPr lang="en-US" sz="2400" b="1" dirty="0">
                <a:solidFill>
                  <a:prstClr val="black"/>
                </a:solidFill>
              </a:rPr>
              <a:t> 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exponentially until first loss event:</a:t>
            </a:r>
          </a:p>
          <a:p>
            <a:pPr marL="80645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Initially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= 1 MSS (Maximum Segment Size)</a:t>
            </a:r>
          </a:p>
          <a:p>
            <a:pPr marL="80645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Double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every RTT</a:t>
            </a:r>
          </a:p>
          <a:p>
            <a:pPr marL="80645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Done by incrementing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for every ACK received</a:t>
            </a:r>
          </a:p>
          <a:p>
            <a:pPr marL="349250" indent="-342900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After detecting the first loss, </a:t>
            </a:r>
            <a:r>
              <a:rPr lang="en-US" altLang="zh-CN" sz="2400" b="1" i="1" dirty="0">
                <a:solidFill>
                  <a:srgbClr val="C00000"/>
                </a:solidFill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"remembers" approximately where congestion occurred, preventing the sender from immediately growing too aggressively again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FDE6CE9-89E6-C605-B9E3-687ABB9104F6}"/>
              </a:ext>
            </a:extLst>
          </p:cNvPr>
          <p:cNvGrpSpPr/>
          <p:nvPr/>
        </p:nvGrpSpPr>
        <p:grpSpPr>
          <a:xfrm>
            <a:off x="4898867" y="4218076"/>
            <a:ext cx="6742141" cy="2636712"/>
            <a:chOff x="2833278" y="2496175"/>
            <a:chExt cx="5286022" cy="2420625"/>
          </a:xfrm>
        </p:grpSpPr>
        <p:sp>
          <p:nvSpPr>
            <p:cNvPr id="52" name="Google Shape;1050;p73">
              <a:extLst>
                <a:ext uri="{FF2B5EF4-FFF2-40B4-BE49-F238E27FC236}">
                  <a16:creationId xmlns:a16="http://schemas.microsoft.com/office/drawing/2014/main" id="{DCB0670E-2892-B9C7-F07F-8460002CFF43}"/>
                </a:ext>
              </a:extLst>
            </p:cNvPr>
            <p:cNvSpPr txBox="1"/>
            <p:nvPr/>
          </p:nvSpPr>
          <p:spPr>
            <a:xfrm rot="16200000">
              <a:off x="4086200" y="315092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" name="Google Shape;1051;p73">
              <a:extLst>
                <a:ext uri="{FF2B5EF4-FFF2-40B4-BE49-F238E27FC236}">
                  <a16:creationId xmlns:a16="http://schemas.microsoft.com/office/drawing/2014/main" id="{16DF4E93-9A24-3566-8E8A-60DCD30D6240}"/>
                </a:ext>
              </a:extLst>
            </p:cNvPr>
            <p:cNvSpPr txBox="1"/>
            <p:nvPr/>
          </p:nvSpPr>
          <p:spPr>
            <a:xfrm rot="16200000">
              <a:off x="5400973" y="29234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" name="Google Shape;1052;p73">
              <a:extLst>
                <a:ext uri="{FF2B5EF4-FFF2-40B4-BE49-F238E27FC236}">
                  <a16:creationId xmlns:a16="http://schemas.microsoft.com/office/drawing/2014/main" id="{81F79DC9-5EE9-B16F-810E-41EADB8964A5}"/>
                </a:ext>
              </a:extLst>
            </p:cNvPr>
            <p:cNvSpPr txBox="1"/>
            <p:nvPr/>
          </p:nvSpPr>
          <p:spPr>
            <a:xfrm rot="16200000">
              <a:off x="6990203" y="261977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" name="Google Shape;1053;p73">
              <a:extLst>
                <a:ext uri="{FF2B5EF4-FFF2-40B4-BE49-F238E27FC236}">
                  <a16:creationId xmlns:a16="http://schemas.microsoft.com/office/drawing/2014/main" id="{6647965B-9CC2-80D0-5EF8-3BEB7F2D4630}"/>
                </a:ext>
              </a:extLst>
            </p:cNvPr>
            <p:cNvSpPr txBox="1"/>
            <p:nvPr/>
          </p:nvSpPr>
          <p:spPr>
            <a:xfrm rot="16200000">
              <a:off x="7780300" y="29234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6" name="Google Shape;1054;p73">
              <a:extLst>
                <a:ext uri="{FF2B5EF4-FFF2-40B4-BE49-F238E27FC236}">
                  <a16:creationId xmlns:a16="http://schemas.microsoft.com/office/drawing/2014/main" id="{1A29657E-EBD1-5CC2-6A88-88FA1CC39DF2}"/>
                </a:ext>
              </a:extLst>
            </p:cNvPr>
            <p:cNvGrpSpPr/>
            <p:nvPr/>
          </p:nvGrpSpPr>
          <p:grpSpPr>
            <a:xfrm>
              <a:off x="2833278" y="3509594"/>
              <a:ext cx="1484832" cy="1058020"/>
              <a:chOff x="2377550" y="2542225"/>
              <a:chExt cx="3229300" cy="2199625"/>
            </a:xfrm>
          </p:grpSpPr>
          <p:sp>
            <p:nvSpPr>
              <p:cNvPr id="62" name="Google Shape;1055;p73">
                <a:extLst>
                  <a:ext uri="{FF2B5EF4-FFF2-40B4-BE49-F238E27FC236}">
                    <a16:creationId xmlns:a16="http://schemas.microsoft.com/office/drawing/2014/main" id="{A4B30329-F21C-1C77-9DD7-0FEB7B071BE2}"/>
                  </a:ext>
                </a:extLst>
              </p:cNvPr>
              <p:cNvSpPr/>
              <p:nvPr/>
            </p:nvSpPr>
            <p:spPr>
              <a:xfrm>
                <a:off x="2377550" y="2542225"/>
                <a:ext cx="3229292" cy="2199625"/>
              </a:xfrm>
              <a:custGeom>
                <a:avLst/>
                <a:gdLst/>
                <a:ahLst/>
                <a:cxnLst/>
                <a:rect l="l" t="t" r="r" b="b"/>
                <a:pathLst>
                  <a:path w="152884" h="87985" extrusionOk="0">
                    <a:moveTo>
                      <a:pt x="0" y="87985"/>
                    </a:moveTo>
                    <a:cubicBezTo>
                      <a:pt x="18727" y="85267"/>
                      <a:pt x="86882" y="86343"/>
                      <a:pt x="112363" y="71679"/>
                    </a:cubicBezTo>
                    <a:cubicBezTo>
                      <a:pt x="137844" y="57015"/>
                      <a:pt x="146131" y="11947"/>
                      <a:pt x="152884" y="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63" name="Google Shape;1056;p73">
                <a:extLst>
                  <a:ext uri="{FF2B5EF4-FFF2-40B4-BE49-F238E27FC236}">
                    <a16:creationId xmlns:a16="http://schemas.microsoft.com/office/drawing/2014/main" id="{05B847A2-2FEE-81A8-2E61-D896DB8AB8AC}"/>
                  </a:ext>
                </a:extLst>
              </p:cNvPr>
              <p:cNvCxnSpPr/>
              <p:nvPr/>
            </p:nvCxnSpPr>
            <p:spPr>
              <a:xfrm>
                <a:off x="5606850" y="2564250"/>
                <a:ext cx="0" cy="114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7" name="Google Shape;1057;p73">
              <a:extLst>
                <a:ext uri="{FF2B5EF4-FFF2-40B4-BE49-F238E27FC236}">
                  <a16:creationId xmlns:a16="http://schemas.microsoft.com/office/drawing/2014/main" id="{D6050039-0ADB-747F-C8B0-6526B81BDAC9}"/>
                </a:ext>
              </a:extLst>
            </p:cNvPr>
            <p:cNvSpPr/>
            <p:nvPr/>
          </p:nvSpPr>
          <p:spPr>
            <a:xfrm>
              <a:off x="4317925" y="3002900"/>
              <a:ext cx="3704300" cy="1058025"/>
            </a:xfrm>
            <a:custGeom>
              <a:avLst/>
              <a:gdLst/>
              <a:ahLst/>
              <a:cxnLst/>
              <a:rect l="l" t="t" r="r" b="b"/>
              <a:pathLst>
                <a:path w="148172" h="42321" extrusionOk="0">
                  <a:moveTo>
                    <a:pt x="0" y="42321"/>
                  </a:moveTo>
                  <a:lnTo>
                    <a:pt x="52663" y="11916"/>
                  </a:lnTo>
                  <a:lnTo>
                    <a:pt x="52663" y="36849"/>
                  </a:lnTo>
                  <a:lnTo>
                    <a:pt x="116488" y="0"/>
                  </a:lnTo>
                  <a:lnTo>
                    <a:pt x="116488" y="30849"/>
                  </a:lnTo>
                  <a:lnTo>
                    <a:pt x="148172" y="12556"/>
                  </a:lnTo>
                  <a:lnTo>
                    <a:pt x="148172" y="36217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8" name="Google Shape;1058;p73">
              <a:extLst>
                <a:ext uri="{FF2B5EF4-FFF2-40B4-BE49-F238E27FC236}">
                  <a16:creationId xmlns:a16="http://schemas.microsoft.com/office/drawing/2014/main" id="{1FA82865-EEFC-FE74-A980-B5147E3F3409}"/>
                </a:ext>
              </a:extLst>
            </p:cNvPr>
            <p:cNvCxnSpPr/>
            <p:nvPr/>
          </p:nvCxnSpPr>
          <p:spPr>
            <a:xfrm>
              <a:off x="2871575" y="4809100"/>
              <a:ext cx="1408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59" name="Google Shape;1059;p73">
              <a:extLst>
                <a:ext uri="{FF2B5EF4-FFF2-40B4-BE49-F238E27FC236}">
                  <a16:creationId xmlns:a16="http://schemas.microsoft.com/office/drawing/2014/main" id="{D9078D6F-D39D-7A0B-E6F5-D12905AEB91A}"/>
                </a:ext>
              </a:extLst>
            </p:cNvPr>
            <p:cNvSpPr txBox="1"/>
            <p:nvPr/>
          </p:nvSpPr>
          <p:spPr>
            <a:xfrm>
              <a:off x="3109637" y="4701400"/>
              <a:ext cx="9321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0" name="Google Shape;1061;p73">
              <a:extLst>
                <a:ext uri="{FF2B5EF4-FFF2-40B4-BE49-F238E27FC236}">
                  <a16:creationId xmlns:a16="http://schemas.microsoft.com/office/drawing/2014/main" id="{DBBE5BE2-5D0C-6981-755D-6E0937F3C41E}"/>
                </a:ext>
              </a:extLst>
            </p:cNvPr>
            <p:cNvCxnSpPr/>
            <p:nvPr/>
          </p:nvCxnSpPr>
          <p:spPr>
            <a:xfrm>
              <a:off x="4318100" y="4809100"/>
              <a:ext cx="3704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61" name="Google Shape;1062;p73">
              <a:extLst>
                <a:ext uri="{FF2B5EF4-FFF2-40B4-BE49-F238E27FC236}">
                  <a16:creationId xmlns:a16="http://schemas.microsoft.com/office/drawing/2014/main" id="{3BB8AAA9-20D4-E2B1-FC6D-4BD4B39114B2}"/>
                </a:ext>
              </a:extLst>
            </p:cNvPr>
            <p:cNvSpPr txBox="1"/>
            <p:nvPr/>
          </p:nvSpPr>
          <p:spPr>
            <a:xfrm>
              <a:off x="5905550" y="4701400"/>
              <a:ext cx="5295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AIMD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2329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E522-A0B1-DF81-79CF-18CFD063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4EF513EC-C96D-19B5-D3FE-A8CA4273738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1E589-2C41-6763-AEF0-6BC22A7C5BC7}"/>
              </a:ext>
            </a:extLst>
          </p:cNvPr>
          <p:cNvSpPr txBox="1"/>
          <p:nvPr/>
        </p:nvSpPr>
        <p:spPr>
          <a:xfrm>
            <a:off x="376523" y="755545"/>
            <a:ext cx="9439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C00000"/>
                </a:solidFill>
              </a:rPr>
              <a:t>Q2: Event-Driven Slow Start – SSTHRESH (Slow Start Threshold)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FC2619-9805-AA7B-D2BF-949827C37F8D}"/>
              </a:ext>
            </a:extLst>
          </p:cNvPr>
          <p:cNvSpPr txBox="1"/>
          <p:nvPr/>
        </p:nvSpPr>
        <p:spPr>
          <a:xfrm>
            <a:off x="376523" y="1162602"/>
            <a:ext cx="11140669" cy="290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3075" lvl="0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When we encounter the packet loss:</a:t>
            </a:r>
          </a:p>
          <a:p>
            <a:pPr marL="930275" lvl="1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Enter TCP recovery phase: </a:t>
            </a:r>
            <a:r>
              <a:rPr lang="en-US" sz="2000" dirty="0"/>
              <a:t>TCP responds to detected packet loss and attempts to restore normal transmission rates while avoiding further congestion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930275" lvl="1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b="1" i="1" dirty="0">
                <a:solidFill>
                  <a:srgbClr val="C00000"/>
                </a:solidFill>
              </a:rPr>
              <a:t>SSTHRESH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helps us remember the last safe rate</a:t>
            </a:r>
          </a:p>
          <a:p>
            <a:pPr marL="473075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b="1" i="1" dirty="0">
                <a:solidFill>
                  <a:srgbClr val="C00000"/>
                </a:solidFill>
              </a:rPr>
              <a:t>SSTHRESH </a:t>
            </a:r>
            <a:r>
              <a:rPr lang="en-US" altLang="zh-CN" sz="2000" dirty="0"/>
              <a:t>serves </a:t>
            </a:r>
            <a:r>
              <a:rPr lang="en-US" altLang="zh-CN" sz="2000" b="1" dirty="0">
                <a:solidFill>
                  <a:srgbClr val="C00000"/>
                </a:solidFill>
              </a:rPr>
              <a:t>3</a:t>
            </a:r>
            <a:r>
              <a:rPr lang="en-US" altLang="zh-CN" sz="2000" dirty="0"/>
              <a:t> primary functions: </a:t>
            </a:r>
          </a:p>
          <a:p>
            <a:pPr marL="587375"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solidFill>
                  <a:srgbClr val="C00000"/>
                </a:solidFill>
              </a:rPr>
              <a:t>1. Phase Transition Control: </a:t>
            </a:r>
            <a:r>
              <a:rPr lang="en-US" sz="2000" dirty="0"/>
              <a:t>Determines when to switch from Slow Start (exponential growth) to Congestion Avoidance (linear growth)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C056FBA-26F6-9937-4051-DAA44F4452CC}"/>
              </a:ext>
            </a:extLst>
          </p:cNvPr>
          <p:cNvGrpSpPr/>
          <p:nvPr/>
        </p:nvGrpSpPr>
        <p:grpSpPr>
          <a:xfrm>
            <a:off x="4628581" y="3972392"/>
            <a:ext cx="6995054" cy="2810352"/>
            <a:chOff x="2525461" y="3911432"/>
            <a:chExt cx="6995054" cy="2810352"/>
          </a:xfrm>
        </p:grpSpPr>
        <p:sp>
          <p:nvSpPr>
            <p:cNvPr id="52" name="Google Shape;1050;p73">
              <a:extLst>
                <a:ext uri="{FF2B5EF4-FFF2-40B4-BE49-F238E27FC236}">
                  <a16:creationId xmlns:a16="http://schemas.microsoft.com/office/drawing/2014/main" id="{5ECAB616-0FF3-C013-BA4E-DFE64795EF1B}"/>
                </a:ext>
              </a:extLst>
            </p:cNvPr>
            <p:cNvSpPr txBox="1"/>
            <p:nvPr/>
          </p:nvSpPr>
          <p:spPr>
            <a:xfrm rot="16200000">
              <a:off x="4166588" y="4604577"/>
              <a:ext cx="503896" cy="27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" name="Google Shape;1051;p73">
              <a:extLst>
                <a:ext uri="{FF2B5EF4-FFF2-40B4-BE49-F238E27FC236}">
                  <a16:creationId xmlns:a16="http://schemas.microsoft.com/office/drawing/2014/main" id="{50C86A5D-0FB2-7C91-4C37-C61E928F8506}"/>
                </a:ext>
              </a:extLst>
            </p:cNvPr>
            <p:cNvSpPr txBox="1"/>
            <p:nvPr/>
          </p:nvSpPr>
          <p:spPr>
            <a:xfrm rot="16200000">
              <a:off x="5843536" y="4356796"/>
              <a:ext cx="503896" cy="27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" name="Google Shape;1052;p73">
              <a:extLst>
                <a:ext uri="{FF2B5EF4-FFF2-40B4-BE49-F238E27FC236}">
                  <a16:creationId xmlns:a16="http://schemas.microsoft.com/office/drawing/2014/main" id="{F5499B4D-CA48-EB3D-0AB5-8FC8E0D05903}"/>
                </a:ext>
              </a:extLst>
            </p:cNvPr>
            <p:cNvSpPr txBox="1"/>
            <p:nvPr/>
          </p:nvSpPr>
          <p:spPr>
            <a:xfrm rot="16200000">
              <a:off x="7870545" y="4026012"/>
              <a:ext cx="503896" cy="27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" name="Google Shape;1053;p73">
              <a:extLst>
                <a:ext uri="{FF2B5EF4-FFF2-40B4-BE49-F238E27FC236}">
                  <a16:creationId xmlns:a16="http://schemas.microsoft.com/office/drawing/2014/main" id="{D0F460D8-0EB0-E105-5B67-86580A0AB99B}"/>
                </a:ext>
              </a:extLst>
            </p:cNvPr>
            <p:cNvSpPr txBox="1"/>
            <p:nvPr/>
          </p:nvSpPr>
          <p:spPr>
            <a:xfrm rot="16200000">
              <a:off x="8878286" y="4356796"/>
              <a:ext cx="503896" cy="27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6" name="Google Shape;1054;p73">
              <a:extLst>
                <a:ext uri="{FF2B5EF4-FFF2-40B4-BE49-F238E27FC236}">
                  <a16:creationId xmlns:a16="http://schemas.microsoft.com/office/drawing/2014/main" id="{922594E4-BA8B-F7CB-E9FD-50C795EF0380}"/>
                </a:ext>
              </a:extLst>
            </p:cNvPr>
            <p:cNvGrpSpPr/>
            <p:nvPr/>
          </p:nvGrpSpPr>
          <p:grpSpPr>
            <a:xfrm>
              <a:off x="2525461" y="5015318"/>
              <a:ext cx="1893853" cy="1152468"/>
              <a:chOff x="2377550" y="2542225"/>
              <a:chExt cx="3229300" cy="2199625"/>
            </a:xfrm>
          </p:grpSpPr>
          <p:sp>
            <p:nvSpPr>
              <p:cNvPr id="62" name="Google Shape;1055;p73">
                <a:extLst>
                  <a:ext uri="{FF2B5EF4-FFF2-40B4-BE49-F238E27FC236}">
                    <a16:creationId xmlns:a16="http://schemas.microsoft.com/office/drawing/2014/main" id="{4F7DF5DD-B5E4-6194-61E9-A156391F3691}"/>
                  </a:ext>
                </a:extLst>
              </p:cNvPr>
              <p:cNvSpPr/>
              <p:nvPr/>
            </p:nvSpPr>
            <p:spPr>
              <a:xfrm>
                <a:off x="2377550" y="2542225"/>
                <a:ext cx="3229292" cy="2199625"/>
              </a:xfrm>
              <a:custGeom>
                <a:avLst/>
                <a:gdLst/>
                <a:ahLst/>
                <a:cxnLst/>
                <a:rect l="l" t="t" r="r" b="b"/>
                <a:pathLst>
                  <a:path w="152884" h="87985" extrusionOk="0">
                    <a:moveTo>
                      <a:pt x="0" y="87985"/>
                    </a:moveTo>
                    <a:cubicBezTo>
                      <a:pt x="18727" y="85267"/>
                      <a:pt x="86882" y="86343"/>
                      <a:pt x="112363" y="71679"/>
                    </a:cubicBezTo>
                    <a:cubicBezTo>
                      <a:pt x="137844" y="57015"/>
                      <a:pt x="146131" y="11947"/>
                      <a:pt x="152884" y="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63" name="Google Shape;1056;p73">
                <a:extLst>
                  <a:ext uri="{FF2B5EF4-FFF2-40B4-BE49-F238E27FC236}">
                    <a16:creationId xmlns:a16="http://schemas.microsoft.com/office/drawing/2014/main" id="{3F8C85DC-0ED0-53A0-FBB3-F8B021309441}"/>
                  </a:ext>
                </a:extLst>
              </p:cNvPr>
              <p:cNvCxnSpPr/>
              <p:nvPr/>
            </p:nvCxnSpPr>
            <p:spPr>
              <a:xfrm>
                <a:off x="5606850" y="2564250"/>
                <a:ext cx="0" cy="114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7" name="Google Shape;1057;p73">
              <a:extLst>
                <a:ext uri="{FF2B5EF4-FFF2-40B4-BE49-F238E27FC236}">
                  <a16:creationId xmlns:a16="http://schemas.microsoft.com/office/drawing/2014/main" id="{DF42D6C2-AB02-CE0E-E786-CF103AC92469}"/>
                </a:ext>
              </a:extLst>
            </p:cNvPr>
            <p:cNvSpPr/>
            <p:nvPr/>
          </p:nvSpPr>
          <p:spPr>
            <a:xfrm>
              <a:off x="4419078" y="4463392"/>
              <a:ext cx="4724708" cy="1152474"/>
            </a:xfrm>
            <a:custGeom>
              <a:avLst/>
              <a:gdLst/>
              <a:ahLst/>
              <a:cxnLst/>
              <a:rect l="l" t="t" r="r" b="b"/>
              <a:pathLst>
                <a:path w="148172" h="42321" extrusionOk="0">
                  <a:moveTo>
                    <a:pt x="0" y="42321"/>
                  </a:moveTo>
                  <a:lnTo>
                    <a:pt x="52663" y="11916"/>
                  </a:lnTo>
                  <a:lnTo>
                    <a:pt x="52663" y="36849"/>
                  </a:lnTo>
                  <a:lnTo>
                    <a:pt x="116488" y="0"/>
                  </a:lnTo>
                  <a:lnTo>
                    <a:pt x="116488" y="30849"/>
                  </a:lnTo>
                  <a:lnTo>
                    <a:pt x="148172" y="12556"/>
                  </a:lnTo>
                  <a:lnTo>
                    <a:pt x="148172" y="36217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8" name="Google Shape;1058;p73">
              <a:extLst>
                <a:ext uri="{FF2B5EF4-FFF2-40B4-BE49-F238E27FC236}">
                  <a16:creationId xmlns:a16="http://schemas.microsoft.com/office/drawing/2014/main" id="{BD7C3A59-16BA-BBAE-7B36-F2BB6718F37C}"/>
                </a:ext>
              </a:extLst>
            </p:cNvPr>
            <p:cNvCxnSpPr/>
            <p:nvPr/>
          </p:nvCxnSpPr>
          <p:spPr>
            <a:xfrm>
              <a:off x="2574308" y="6430829"/>
              <a:ext cx="1796111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59" name="Google Shape;1059;p73">
              <a:extLst>
                <a:ext uri="{FF2B5EF4-FFF2-40B4-BE49-F238E27FC236}">
                  <a16:creationId xmlns:a16="http://schemas.microsoft.com/office/drawing/2014/main" id="{560BFDA6-0CC1-C44B-1D8C-4EC111F2A726}"/>
                </a:ext>
              </a:extLst>
            </p:cNvPr>
            <p:cNvSpPr txBox="1"/>
            <p:nvPr/>
          </p:nvSpPr>
          <p:spPr>
            <a:xfrm>
              <a:off x="2877947" y="6313515"/>
              <a:ext cx="1188862" cy="2346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0" name="Google Shape;1061;p73">
              <a:extLst>
                <a:ext uri="{FF2B5EF4-FFF2-40B4-BE49-F238E27FC236}">
                  <a16:creationId xmlns:a16="http://schemas.microsoft.com/office/drawing/2014/main" id="{026E62B3-C3C0-7E36-60F5-1F5D50AF2C74}"/>
                </a:ext>
              </a:extLst>
            </p:cNvPr>
            <p:cNvCxnSpPr/>
            <p:nvPr/>
          </p:nvCxnSpPr>
          <p:spPr>
            <a:xfrm>
              <a:off x="4419301" y="6430829"/>
              <a:ext cx="4724836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61" name="Google Shape;1062;p73">
              <a:extLst>
                <a:ext uri="{FF2B5EF4-FFF2-40B4-BE49-F238E27FC236}">
                  <a16:creationId xmlns:a16="http://schemas.microsoft.com/office/drawing/2014/main" id="{7DF8D7FD-C10C-726B-D11C-1DA0508730BD}"/>
                </a:ext>
              </a:extLst>
            </p:cNvPr>
            <p:cNvSpPr txBox="1"/>
            <p:nvPr/>
          </p:nvSpPr>
          <p:spPr>
            <a:xfrm>
              <a:off x="5034459" y="6167786"/>
              <a:ext cx="3186130" cy="553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AIMD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(Congestion Avoidance Phase)</a:t>
              </a:r>
              <a:endParaRPr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" name="Google Shape;1169;p83">
              <a:extLst>
                <a:ext uri="{FF2B5EF4-FFF2-40B4-BE49-F238E27FC236}">
                  <a16:creationId xmlns:a16="http://schemas.microsoft.com/office/drawing/2014/main" id="{DEBAFDAC-9E8B-E6AC-85DC-B6B9F2633F68}"/>
                </a:ext>
              </a:extLst>
            </p:cNvPr>
            <p:cNvSpPr/>
            <p:nvPr/>
          </p:nvSpPr>
          <p:spPr>
            <a:xfrm>
              <a:off x="4429652" y="5344809"/>
              <a:ext cx="5090863" cy="299700"/>
            </a:xfrm>
            <a:custGeom>
              <a:avLst/>
              <a:gdLst/>
              <a:ahLst/>
              <a:cxnLst/>
              <a:rect l="l" t="t" r="r" b="b"/>
              <a:pathLst>
                <a:path w="161166" h="11988" extrusionOk="0">
                  <a:moveTo>
                    <a:pt x="0" y="11988"/>
                  </a:moveTo>
                  <a:lnTo>
                    <a:pt x="52613" y="11988"/>
                  </a:lnTo>
                  <a:lnTo>
                    <a:pt x="52613" y="5976"/>
                  </a:lnTo>
                  <a:lnTo>
                    <a:pt x="116458" y="5976"/>
                  </a:lnTo>
                  <a:lnTo>
                    <a:pt x="116458" y="0"/>
                  </a:lnTo>
                  <a:lnTo>
                    <a:pt x="148179" y="0"/>
                  </a:lnTo>
                  <a:lnTo>
                    <a:pt x="148179" y="5746"/>
                  </a:lnTo>
                  <a:lnTo>
                    <a:pt x="161166" y="5746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Google Shape;1184;p83">
              <a:extLst>
                <a:ext uri="{FF2B5EF4-FFF2-40B4-BE49-F238E27FC236}">
                  <a16:creationId xmlns:a16="http://schemas.microsoft.com/office/drawing/2014/main" id="{DBF4CB88-024E-4954-A9D5-3981785EC41A}"/>
                </a:ext>
              </a:extLst>
            </p:cNvPr>
            <p:cNvSpPr txBox="1"/>
            <p:nvPr/>
          </p:nvSpPr>
          <p:spPr>
            <a:xfrm>
              <a:off x="4419077" y="5681534"/>
              <a:ext cx="13564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SSTHRESH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B60B28A1-C2B4-8555-8E82-D25EFE7F5B9B}"/>
              </a:ext>
            </a:extLst>
          </p:cNvPr>
          <p:cNvSpPr txBox="1"/>
          <p:nvPr/>
        </p:nvSpPr>
        <p:spPr>
          <a:xfrm>
            <a:off x="2056304" y="5277806"/>
            <a:ext cx="4089165" cy="39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375" lvl="1"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kumimoji="0" lang="en-US" sz="22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Set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SSTHRESH = CWND/2</a:t>
            </a:r>
          </a:p>
        </p:txBody>
      </p:sp>
    </p:spTree>
    <p:extLst>
      <p:ext uri="{BB962C8B-B14F-4D97-AF65-F5344CB8AC3E}">
        <p14:creationId xmlns:p14="http://schemas.microsoft.com/office/powerpoint/2010/main" val="2542550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D6C8F-6EE3-3E0A-8FD4-E9EE7FC84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5DDE9363-7C04-D75A-9AA3-6AEA390D153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3654B-4C3F-D661-6E30-9FC4F4822CBE}"/>
              </a:ext>
            </a:extLst>
          </p:cNvPr>
          <p:cNvSpPr txBox="1"/>
          <p:nvPr/>
        </p:nvSpPr>
        <p:spPr>
          <a:xfrm>
            <a:off x="376523" y="755545"/>
            <a:ext cx="9439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C00000"/>
                </a:solidFill>
              </a:rPr>
              <a:t>SSTHRESH and TCP Recovery Phases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34D4D4-3C42-C431-5CDE-15305EE7D906}"/>
              </a:ext>
            </a:extLst>
          </p:cNvPr>
          <p:cNvSpPr txBox="1"/>
          <p:nvPr/>
        </p:nvSpPr>
        <p:spPr>
          <a:xfrm>
            <a:off x="525665" y="1297049"/>
            <a:ext cx="11140669" cy="1335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3075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b="1" i="1" dirty="0">
                <a:solidFill>
                  <a:srgbClr val="C00000"/>
                </a:solidFill>
              </a:rPr>
              <a:t>SSTHRESH </a:t>
            </a:r>
            <a:r>
              <a:rPr lang="en-US" altLang="zh-CN" sz="2000" dirty="0"/>
              <a:t>serves </a:t>
            </a:r>
            <a:r>
              <a:rPr lang="en-US" altLang="zh-CN" sz="2000" b="1" dirty="0">
                <a:solidFill>
                  <a:srgbClr val="C00000"/>
                </a:solidFill>
              </a:rPr>
              <a:t>3</a:t>
            </a:r>
            <a:r>
              <a:rPr lang="en-US" altLang="zh-CN" sz="2000" dirty="0"/>
              <a:t> primary functions: </a:t>
            </a:r>
          </a:p>
          <a:p>
            <a:pPr marL="587375"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solidFill>
                  <a:srgbClr val="C00000"/>
                </a:solidFill>
              </a:rPr>
              <a:t>2. Congestion Memory: </a:t>
            </a:r>
            <a:r>
              <a:rPr lang="en-US" altLang="zh-CN" sz="2000" dirty="0"/>
              <a:t>Stores the approximate point where congestion was last detected</a:t>
            </a:r>
          </a:p>
          <a:p>
            <a:pPr marL="587375"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C00000"/>
                </a:solidFill>
              </a:rPr>
              <a:t>3. Recovery Guidance: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Influences behavior during and after congestion recovery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73194A1-0FC7-97B0-DC98-FB654716E9BB}"/>
              </a:ext>
            </a:extLst>
          </p:cNvPr>
          <p:cNvGrpSpPr/>
          <p:nvPr/>
        </p:nvGrpSpPr>
        <p:grpSpPr>
          <a:xfrm>
            <a:off x="4864815" y="3899274"/>
            <a:ext cx="6995054" cy="2810352"/>
            <a:chOff x="2525461" y="3911432"/>
            <a:chExt cx="6995054" cy="2810352"/>
          </a:xfrm>
        </p:grpSpPr>
        <p:sp>
          <p:nvSpPr>
            <p:cNvPr id="52" name="Google Shape;1050;p73">
              <a:extLst>
                <a:ext uri="{FF2B5EF4-FFF2-40B4-BE49-F238E27FC236}">
                  <a16:creationId xmlns:a16="http://schemas.microsoft.com/office/drawing/2014/main" id="{AA64F9EF-5B60-10DA-E520-3B4B12C228B2}"/>
                </a:ext>
              </a:extLst>
            </p:cNvPr>
            <p:cNvSpPr txBox="1"/>
            <p:nvPr/>
          </p:nvSpPr>
          <p:spPr>
            <a:xfrm rot="16200000">
              <a:off x="4166588" y="4604577"/>
              <a:ext cx="503896" cy="27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" name="Google Shape;1051;p73">
              <a:extLst>
                <a:ext uri="{FF2B5EF4-FFF2-40B4-BE49-F238E27FC236}">
                  <a16:creationId xmlns:a16="http://schemas.microsoft.com/office/drawing/2014/main" id="{654ECDE8-CBA1-22FC-383C-88B71265D0E5}"/>
                </a:ext>
              </a:extLst>
            </p:cNvPr>
            <p:cNvSpPr txBox="1"/>
            <p:nvPr/>
          </p:nvSpPr>
          <p:spPr>
            <a:xfrm rot="16200000">
              <a:off x="5843536" y="4356796"/>
              <a:ext cx="503896" cy="27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" name="Google Shape;1052;p73">
              <a:extLst>
                <a:ext uri="{FF2B5EF4-FFF2-40B4-BE49-F238E27FC236}">
                  <a16:creationId xmlns:a16="http://schemas.microsoft.com/office/drawing/2014/main" id="{277D74B3-EF76-9E56-66CE-847599CD1198}"/>
                </a:ext>
              </a:extLst>
            </p:cNvPr>
            <p:cNvSpPr txBox="1"/>
            <p:nvPr/>
          </p:nvSpPr>
          <p:spPr>
            <a:xfrm rot="16200000">
              <a:off x="7870545" y="4026012"/>
              <a:ext cx="503896" cy="27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" name="Google Shape;1053;p73">
              <a:extLst>
                <a:ext uri="{FF2B5EF4-FFF2-40B4-BE49-F238E27FC236}">
                  <a16:creationId xmlns:a16="http://schemas.microsoft.com/office/drawing/2014/main" id="{C11DD0FF-F967-92FB-A7CF-45F67180190D}"/>
                </a:ext>
              </a:extLst>
            </p:cNvPr>
            <p:cNvSpPr txBox="1"/>
            <p:nvPr/>
          </p:nvSpPr>
          <p:spPr>
            <a:xfrm rot="16200000">
              <a:off x="8878286" y="4356796"/>
              <a:ext cx="503896" cy="27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6" name="Google Shape;1054;p73">
              <a:extLst>
                <a:ext uri="{FF2B5EF4-FFF2-40B4-BE49-F238E27FC236}">
                  <a16:creationId xmlns:a16="http://schemas.microsoft.com/office/drawing/2014/main" id="{2C85AEB7-B297-F3C9-0AFA-0DB7A881C833}"/>
                </a:ext>
              </a:extLst>
            </p:cNvPr>
            <p:cNvGrpSpPr/>
            <p:nvPr/>
          </p:nvGrpSpPr>
          <p:grpSpPr>
            <a:xfrm>
              <a:off x="2525461" y="5015318"/>
              <a:ext cx="1893853" cy="1152468"/>
              <a:chOff x="2377550" y="2542225"/>
              <a:chExt cx="3229300" cy="2199625"/>
            </a:xfrm>
          </p:grpSpPr>
          <p:sp>
            <p:nvSpPr>
              <p:cNvPr id="62" name="Google Shape;1055;p73">
                <a:extLst>
                  <a:ext uri="{FF2B5EF4-FFF2-40B4-BE49-F238E27FC236}">
                    <a16:creationId xmlns:a16="http://schemas.microsoft.com/office/drawing/2014/main" id="{82E4BF5A-E3BB-4EF1-C31F-A79A3DFE4C01}"/>
                  </a:ext>
                </a:extLst>
              </p:cNvPr>
              <p:cNvSpPr/>
              <p:nvPr/>
            </p:nvSpPr>
            <p:spPr>
              <a:xfrm>
                <a:off x="2377550" y="2542225"/>
                <a:ext cx="3229292" cy="2199625"/>
              </a:xfrm>
              <a:custGeom>
                <a:avLst/>
                <a:gdLst/>
                <a:ahLst/>
                <a:cxnLst/>
                <a:rect l="l" t="t" r="r" b="b"/>
                <a:pathLst>
                  <a:path w="152884" h="87985" extrusionOk="0">
                    <a:moveTo>
                      <a:pt x="0" y="87985"/>
                    </a:moveTo>
                    <a:cubicBezTo>
                      <a:pt x="18727" y="85267"/>
                      <a:pt x="86882" y="86343"/>
                      <a:pt x="112363" y="71679"/>
                    </a:cubicBezTo>
                    <a:cubicBezTo>
                      <a:pt x="137844" y="57015"/>
                      <a:pt x="146131" y="11947"/>
                      <a:pt x="152884" y="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63" name="Google Shape;1056;p73">
                <a:extLst>
                  <a:ext uri="{FF2B5EF4-FFF2-40B4-BE49-F238E27FC236}">
                    <a16:creationId xmlns:a16="http://schemas.microsoft.com/office/drawing/2014/main" id="{9265A592-1AD3-62EF-1425-857369AF7029}"/>
                  </a:ext>
                </a:extLst>
              </p:cNvPr>
              <p:cNvCxnSpPr/>
              <p:nvPr/>
            </p:nvCxnSpPr>
            <p:spPr>
              <a:xfrm>
                <a:off x="5606850" y="2564250"/>
                <a:ext cx="0" cy="114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7" name="Google Shape;1057;p73">
              <a:extLst>
                <a:ext uri="{FF2B5EF4-FFF2-40B4-BE49-F238E27FC236}">
                  <a16:creationId xmlns:a16="http://schemas.microsoft.com/office/drawing/2014/main" id="{FF71A90F-D496-ACF1-5FD1-DD6E156FC1F4}"/>
                </a:ext>
              </a:extLst>
            </p:cNvPr>
            <p:cNvSpPr/>
            <p:nvPr/>
          </p:nvSpPr>
          <p:spPr>
            <a:xfrm>
              <a:off x="4419078" y="4463392"/>
              <a:ext cx="4724708" cy="1152474"/>
            </a:xfrm>
            <a:custGeom>
              <a:avLst/>
              <a:gdLst/>
              <a:ahLst/>
              <a:cxnLst/>
              <a:rect l="l" t="t" r="r" b="b"/>
              <a:pathLst>
                <a:path w="148172" h="42321" extrusionOk="0">
                  <a:moveTo>
                    <a:pt x="0" y="42321"/>
                  </a:moveTo>
                  <a:lnTo>
                    <a:pt x="52663" y="11916"/>
                  </a:lnTo>
                  <a:lnTo>
                    <a:pt x="52663" y="36849"/>
                  </a:lnTo>
                  <a:lnTo>
                    <a:pt x="116488" y="0"/>
                  </a:lnTo>
                  <a:lnTo>
                    <a:pt x="116488" y="30849"/>
                  </a:lnTo>
                  <a:lnTo>
                    <a:pt x="148172" y="12556"/>
                  </a:lnTo>
                  <a:lnTo>
                    <a:pt x="148172" y="36217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8" name="Google Shape;1058;p73">
              <a:extLst>
                <a:ext uri="{FF2B5EF4-FFF2-40B4-BE49-F238E27FC236}">
                  <a16:creationId xmlns:a16="http://schemas.microsoft.com/office/drawing/2014/main" id="{928E9DB2-FBB9-D585-A5D8-A69CB81855F3}"/>
                </a:ext>
              </a:extLst>
            </p:cNvPr>
            <p:cNvCxnSpPr/>
            <p:nvPr/>
          </p:nvCxnSpPr>
          <p:spPr>
            <a:xfrm>
              <a:off x="2574308" y="6430829"/>
              <a:ext cx="1796111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59" name="Google Shape;1059;p73">
              <a:extLst>
                <a:ext uri="{FF2B5EF4-FFF2-40B4-BE49-F238E27FC236}">
                  <a16:creationId xmlns:a16="http://schemas.microsoft.com/office/drawing/2014/main" id="{C4450186-17B8-4543-DE13-F40B6872C713}"/>
                </a:ext>
              </a:extLst>
            </p:cNvPr>
            <p:cNvSpPr txBox="1"/>
            <p:nvPr/>
          </p:nvSpPr>
          <p:spPr>
            <a:xfrm>
              <a:off x="2877947" y="6313515"/>
              <a:ext cx="1188862" cy="2346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0" name="Google Shape;1061;p73">
              <a:extLst>
                <a:ext uri="{FF2B5EF4-FFF2-40B4-BE49-F238E27FC236}">
                  <a16:creationId xmlns:a16="http://schemas.microsoft.com/office/drawing/2014/main" id="{6A43CD63-2452-FE0F-29A4-02DAAC973D39}"/>
                </a:ext>
              </a:extLst>
            </p:cNvPr>
            <p:cNvCxnSpPr/>
            <p:nvPr/>
          </p:nvCxnSpPr>
          <p:spPr>
            <a:xfrm>
              <a:off x="4419301" y="6430829"/>
              <a:ext cx="4724836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61" name="Google Shape;1062;p73">
              <a:extLst>
                <a:ext uri="{FF2B5EF4-FFF2-40B4-BE49-F238E27FC236}">
                  <a16:creationId xmlns:a16="http://schemas.microsoft.com/office/drawing/2014/main" id="{8F88C94C-9F58-769D-1CB9-B3F10237F676}"/>
                </a:ext>
              </a:extLst>
            </p:cNvPr>
            <p:cNvSpPr txBox="1"/>
            <p:nvPr/>
          </p:nvSpPr>
          <p:spPr>
            <a:xfrm>
              <a:off x="5034459" y="6167786"/>
              <a:ext cx="3186130" cy="553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AIMD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(Congestion Avoidance Phase)</a:t>
              </a:r>
              <a:endParaRPr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" name="Google Shape;1169;p83">
              <a:extLst>
                <a:ext uri="{FF2B5EF4-FFF2-40B4-BE49-F238E27FC236}">
                  <a16:creationId xmlns:a16="http://schemas.microsoft.com/office/drawing/2014/main" id="{2F83F2E8-6A55-D354-D5CD-3FFBEFEB755D}"/>
                </a:ext>
              </a:extLst>
            </p:cNvPr>
            <p:cNvSpPr/>
            <p:nvPr/>
          </p:nvSpPr>
          <p:spPr>
            <a:xfrm>
              <a:off x="4429652" y="5344809"/>
              <a:ext cx="5090863" cy="299700"/>
            </a:xfrm>
            <a:custGeom>
              <a:avLst/>
              <a:gdLst/>
              <a:ahLst/>
              <a:cxnLst/>
              <a:rect l="l" t="t" r="r" b="b"/>
              <a:pathLst>
                <a:path w="161166" h="11988" extrusionOk="0">
                  <a:moveTo>
                    <a:pt x="0" y="11988"/>
                  </a:moveTo>
                  <a:lnTo>
                    <a:pt x="52613" y="11988"/>
                  </a:lnTo>
                  <a:lnTo>
                    <a:pt x="52613" y="5976"/>
                  </a:lnTo>
                  <a:lnTo>
                    <a:pt x="116458" y="5976"/>
                  </a:lnTo>
                  <a:lnTo>
                    <a:pt x="116458" y="0"/>
                  </a:lnTo>
                  <a:lnTo>
                    <a:pt x="148179" y="0"/>
                  </a:lnTo>
                  <a:lnTo>
                    <a:pt x="148179" y="5746"/>
                  </a:lnTo>
                  <a:lnTo>
                    <a:pt x="161166" y="5746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Google Shape;1184;p83">
              <a:extLst>
                <a:ext uri="{FF2B5EF4-FFF2-40B4-BE49-F238E27FC236}">
                  <a16:creationId xmlns:a16="http://schemas.microsoft.com/office/drawing/2014/main" id="{5D82931A-5A66-DBF6-CB7A-240933346699}"/>
                </a:ext>
              </a:extLst>
            </p:cNvPr>
            <p:cNvSpPr txBox="1"/>
            <p:nvPr/>
          </p:nvSpPr>
          <p:spPr>
            <a:xfrm>
              <a:off x="4419077" y="5681534"/>
              <a:ext cx="13564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SSTHRESH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1A53519-DED2-178A-3FF4-12B26F161BB8}"/>
              </a:ext>
            </a:extLst>
          </p:cNvPr>
          <p:cNvSpPr txBox="1"/>
          <p:nvPr/>
        </p:nvSpPr>
        <p:spPr>
          <a:xfrm>
            <a:off x="92243" y="2694113"/>
            <a:ext cx="5345201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/>
              <a:t>Upon packet loss detection (</a:t>
            </a:r>
            <a:r>
              <a:rPr lang="en-US" sz="2000" b="1" i="1" dirty="0">
                <a:solidFill>
                  <a:srgbClr val="C00000"/>
                </a:solidFill>
              </a:rPr>
              <a:t>3 dup ACKs</a:t>
            </a:r>
            <a:r>
              <a:rPr lang="en-US" sz="2000" b="1" dirty="0"/>
              <a:t>):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Fast Recovery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SSTHRESH</a:t>
            </a:r>
            <a:r>
              <a:rPr lang="en-US" sz="2000" dirty="0"/>
              <a:t> = </a:t>
            </a:r>
            <a:r>
              <a:rPr lang="en-US" sz="2000" b="1" dirty="0"/>
              <a:t>cwnd / 2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i="1" dirty="0">
                <a:solidFill>
                  <a:schemeClr val="accent3"/>
                </a:solidFill>
                <a:ea typeface="Roboto"/>
                <a:cs typeface="Roboto"/>
              </a:rPr>
              <a:t>Set new threshold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cwnd = SSTHRESH </a:t>
            </a:r>
            <a:r>
              <a:rPr lang="en-US" sz="2000" i="1" dirty="0">
                <a:solidFill>
                  <a:schemeClr val="accent3"/>
                </a:solidFill>
                <a:ea typeface="Roboto"/>
                <a:cs typeface="Roboto"/>
              </a:rPr>
              <a:t>(Stay at threshold level), </a:t>
            </a:r>
            <a:r>
              <a:rPr lang="en-US" sz="2000" dirty="0"/>
              <a:t>or cwnd = 1 </a:t>
            </a:r>
            <a:r>
              <a:rPr lang="en-US" sz="2000" i="1" dirty="0">
                <a:solidFill>
                  <a:schemeClr val="accent3"/>
                </a:solidFill>
                <a:ea typeface="Roboto"/>
                <a:cs typeface="Roboto"/>
              </a:rPr>
              <a:t>(If dividing by 2 causes CWND to fall below 1, it's okay to round up to 1 packet)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Stay in the </a:t>
            </a:r>
            <a:r>
              <a:rPr lang="en-US" sz="2000" b="1" i="1" dirty="0">
                <a:solidFill>
                  <a:srgbClr val="C00000"/>
                </a:solidFill>
              </a:rPr>
              <a:t>Congestion Avoidance Phase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Network is still working (receiving ACKs), so we assume selective packet loss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05CCF5-D15E-B1C3-66AC-FF4993AD6A86}"/>
              </a:ext>
            </a:extLst>
          </p:cNvPr>
          <p:cNvSpPr txBox="1"/>
          <p:nvPr/>
        </p:nvSpPr>
        <p:spPr>
          <a:xfrm>
            <a:off x="6541714" y="2837094"/>
            <a:ext cx="39201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If sender receives duplicate ACKs but number is less than 3: The connection </a:t>
            </a:r>
            <a:r>
              <a:rPr lang="en-US" b="1" i="1" dirty="0"/>
              <a:t>stays</a:t>
            </a:r>
            <a:r>
              <a:rPr lang="en-US" dirty="0"/>
              <a:t> in its current state</a:t>
            </a:r>
          </a:p>
        </p:txBody>
      </p:sp>
    </p:spTree>
    <p:extLst>
      <p:ext uri="{BB962C8B-B14F-4D97-AF65-F5344CB8AC3E}">
        <p14:creationId xmlns:p14="http://schemas.microsoft.com/office/powerpoint/2010/main" val="3160403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FF0F-137A-8FE9-6893-F38F0F79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D85168E0-67D4-984F-E647-97EDE7C3ABC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7B9C3-FF9C-84D7-D2AB-888006FA196B}"/>
              </a:ext>
            </a:extLst>
          </p:cNvPr>
          <p:cNvSpPr txBox="1"/>
          <p:nvPr/>
        </p:nvSpPr>
        <p:spPr>
          <a:xfrm>
            <a:off x="376523" y="755545"/>
            <a:ext cx="9439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C00000"/>
                </a:solidFill>
              </a:rPr>
              <a:t>SSTHRESH and TCP Recovery Phases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83206F-3C79-A9A8-9113-DFE37C202FA0}"/>
              </a:ext>
            </a:extLst>
          </p:cNvPr>
          <p:cNvSpPr txBox="1"/>
          <p:nvPr/>
        </p:nvSpPr>
        <p:spPr>
          <a:xfrm>
            <a:off x="525665" y="1297049"/>
            <a:ext cx="11140669" cy="1335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3075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b="1" i="1" dirty="0">
                <a:solidFill>
                  <a:srgbClr val="C00000"/>
                </a:solidFill>
              </a:rPr>
              <a:t>SSTHRESH </a:t>
            </a:r>
            <a:r>
              <a:rPr lang="en-US" altLang="zh-CN" sz="2000" dirty="0"/>
              <a:t>serves </a:t>
            </a:r>
            <a:r>
              <a:rPr lang="en-US" altLang="zh-CN" sz="2000" b="1" dirty="0">
                <a:solidFill>
                  <a:srgbClr val="C00000"/>
                </a:solidFill>
              </a:rPr>
              <a:t>3</a:t>
            </a:r>
            <a:r>
              <a:rPr lang="en-US" altLang="zh-CN" sz="2000" dirty="0"/>
              <a:t> primary functions: </a:t>
            </a:r>
          </a:p>
          <a:p>
            <a:pPr marL="587375"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solidFill>
                  <a:srgbClr val="C00000"/>
                </a:solidFill>
              </a:rPr>
              <a:t>2. Congestion Memory: </a:t>
            </a:r>
            <a:r>
              <a:rPr lang="en-US" altLang="zh-CN" sz="2000" dirty="0"/>
              <a:t>Stores the approximate point where congestion was last detected</a:t>
            </a:r>
          </a:p>
          <a:p>
            <a:pPr marL="587375"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C00000"/>
                </a:solidFill>
              </a:rPr>
              <a:t>3. Recovery Guidance: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Influences behavior during and after congestion recovery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05F02-E840-5C0B-CAE2-618965382220}"/>
              </a:ext>
            </a:extLst>
          </p:cNvPr>
          <p:cNvSpPr txBox="1"/>
          <p:nvPr/>
        </p:nvSpPr>
        <p:spPr>
          <a:xfrm>
            <a:off x="89243" y="2712382"/>
            <a:ext cx="53452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/>
              <a:t>Upon packet loss detection (</a:t>
            </a:r>
            <a:r>
              <a:rPr lang="en-US" sz="2000" b="1" i="1" dirty="0">
                <a:solidFill>
                  <a:srgbClr val="C00000"/>
                </a:solidFill>
              </a:rPr>
              <a:t>timeout</a:t>
            </a:r>
            <a:r>
              <a:rPr lang="en-US" sz="2000" b="1" dirty="0"/>
              <a:t>):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SSTHRESH</a:t>
            </a:r>
            <a:r>
              <a:rPr lang="en-US" sz="2000" dirty="0"/>
              <a:t> = </a:t>
            </a:r>
            <a:r>
              <a:rPr lang="en-US" sz="2000" b="1" dirty="0"/>
              <a:t>cwnd / 2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i="1" dirty="0">
                <a:solidFill>
                  <a:schemeClr val="accent3"/>
                </a:solidFill>
                <a:ea typeface="Roboto"/>
                <a:cs typeface="Roboto"/>
              </a:rPr>
              <a:t>Set new threshold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cwnd = 1</a:t>
            </a:r>
            <a:r>
              <a:rPr lang="en-US" sz="2000" dirty="0"/>
              <a:t> </a:t>
            </a:r>
            <a:r>
              <a:rPr lang="en-US" sz="2000" i="1" dirty="0">
                <a:solidFill>
                  <a:schemeClr val="accent3"/>
                </a:solidFill>
                <a:ea typeface="Roboto"/>
                <a:cs typeface="Roboto"/>
              </a:rPr>
              <a:t>(Reset to minimum)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5D80B8-A993-6A4F-5A7C-629CDF11C0F9}"/>
              </a:ext>
            </a:extLst>
          </p:cNvPr>
          <p:cNvGrpSpPr/>
          <p:nvPr/>
        </p:nvGrpSpPr>
        <p:grpSpPr>
          <a:xfrm>
            <a:off x="2100263" y="3104839"/>
            <a:ext cx="9836287" cy="3595206"/>
            <a:chOff x="390403" y="2087725"/>
            <a:chExt cx="8374322" cy="2829075"/>
          </a:xfrm>
        </p:grpSpPr>
        <p:sp>
          <p:nvSpPr>
            <p:cNvPr id="4" name="Google Shape;1227;p88">
              <a:extLst>
                <a:ext uri="{FF2B5EF4-FFF2-40B4-BE49-F238E27FC236}">
                  <a16:creationId xmlns:a16="http://schemas.microsoft.com/office/drawing/2014/main" id="{3E46174B-08C3-D240-E5F6-7C0AB56FC16A}"/>
                </a:ext>
              </a:extLst>
            </p:cNvPr>
            <p:cNvSpPr/>
            <p:nvPr/>
          </p:nvSpPr>
          <p:spPr>
            <a:xfrm>
              <a:off x="1873375" y="3563825"/>
              <a:ext cx="6863450" cy="490175"/>
            </a:xfrm>
            <a:custGeom>
              <a:avLst/>
              <a:gdLst/>
              <a:ahLst/>
              <a:cxnLst/>
              <a:rect l="l" t="t" r="r" b="b"/>
              <a:pathLst>
                <a:path w="274538" h="19607" extrusionOk="0">
                  <a:moveTo>
                    <a:pt x="0" y="19607"/>
                  </a:moveTo>
                  <a:lnTo>
                    <a:pt x="52782" y="19607"/>
                  </a:lnTo>
                  <a:lnTo>
                    <a:pt x="52782" y="14032"/>
                  </a:lnTo>
                  <a:lnTo>
                    <a:pt x="116716" y="14032"/>
                  </a:lnTo>
                  <a:lnTo>
                    <a:pt x="116716" y="9014"/>
                  </a:lnTo>
                  <a:lnTo>
                    <a:pt x="192281" y="9014"/>
                  </a:lnTo>
                  <a:lnTo>
                    <a:pt x="192281" y="14961"/>
                  </a:lnTo>
                  <a:lnTo>
                    <a:pt x="246643" y="14961"/>
                  </a:lnTo>
                  <a:lnTo>
                    <a:pt x="246643" y="0"/>
                  </a:lnTo>
                  <a:lnTo>
                    <a:pt x="274538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Google Shape;1230;p88">
              <a:extLst>
                <a:ext uri="{FF2B5EF4-FFF2-40B4-BE49-F238E27FC236}">
                  <a16:creationId xmlns:a16="http://schemas.microsoft.com/office/drawing/2014/main" id="{07961382-4E2F-1B41-A3C4-5B9A31ADC1CC}"/>
                </a:ext>
              </a:extLst>
            </p:cNvPr>
            <p:cNvSpPr txBox="1"/>
            <p:nvPr/>
          </p:nvSpPr>
          <p:spPr>
            <a:xfrm rot="16200000">
              <a:off x="1643325" y="315092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1231;p88">
              <a:extLst>
                <a:ext uri="{FF2B5EF4-FFF2-40B4-BE49-F238E27FC236}">
                  <a16:creationId xmlns:a16="http://schemas.microsoft.com/office/drawing/2014/main" id="{DDFCCB55-7AB7-27A1-DD0D-C432D832110C}"/>
                </a:ext>
              </a:extLst>
            </p:cNvPr>
            <p:cNvSpPr txBox="1"/>
            <p:nvPr/>
          </p:nvSpPr>
          <p:spPr>
            <a:xfrm rot="16200000">
              <a:off x="2958098" y="29234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232;p88">
              <a:extLst>
                <a:ext uri="{FF2B5EF4-FFF2-40B4-BE49-F238E27FC236}">
                  <a16:creationId xmlns:a16="http://schemas.microsoft.com/office/drawing/2014/main" id="{59594F20-A823-07B0-6E4B-568BCE6B6309}"/>
                </a:ext>
              </a:extLst>
            </p:cNvPr>
            <p:cNvSpPr txBox="1"/>
            <p:nvPr/>
          </p:nvSpPr>
          <p:spPr>
            <a:xfrm rot="16200000">
              <a:off x="4438738" y="2500961"/>
              <a:ext cx="679800" cy="235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Timeout</a:t>
              </a:r>
              <a:endParaRPr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" name="Google Shape;1233;p88">
              <a:extLst>
                <a:ext uri="{FF2B5EF4-FFF2-40B4-BE49-F238E27FC236}">
                  <a16:creationId xmlns:a16="http://schemas.microsoft.com/office/drawing/2014/main" id="{6789851E-3B65-05F5-3DCC-B3E0E5AA9C23}"/>
                </a:ext>
              </a:extLst>
            </p:cNvPr>
            <p:cNvGrpSpPr/>
            <p:nvPr/>
          </p:nvGrpSpPr>
          <p:grpSpPr>
            <a:xfrm>
              <a:off x="390403" y="3509594"/>
              <a:ext cx="1484832" cy="1058020"/>
              <a:chOff x="2377550" y="2542225"/>
              <a:chExt cx="3229300" cy="2199625"/>
            </a:xfrm>
          </p:grpSpPr>
          <p:sp>
            <p:nvSpPr>
              <p:cNvPr id="10" name="Google Shape;1234;p88">
                <a:extLst>
                  <a:ext uri="{FF2B5EF4-FFF2-40B4-BE49-F238E27FC236}">
                    <a16:creationId xmlns:a16="http://schemas.microsoft.com/office/drawing/2014/main" id="{4B4FAADA-2BE2-AC02-E713-6ABA51DFFA02}"/>
                  </a:ext>
                </a:extLst>
              </p:cNvPr>
              <p:cNvSpPr/>
              <p:nvPr/>
            </p:nvSpPr>
            <p:spPr>
              <a:xfrm>
                <a:off x="2377550" y="2542225"/>
                <a:ext cx="3229292" cy="2199625"/>
              </a:xfrm>
              <a:custGeom>
                <a:avLst/>
                <a:gdLst/>
                <a:ahLst/>
                <a:cxnLst/>
                <a:rect l="l" t="t" r="r" b="b"/>
                <a:pathLst>
                  <a:path w="152884" h="87985" extrusionOk="0">
                    <a:moveTo>
                      <a:pt x="0" y="87985"/>
                    </a:moveTo>
                    <a:cubicBezTo>
                      <a:pt x="18727" y="85267"/>
                      <a:pt x="86882" y="86343"/>
                      <a:pt x="112363" y="71679"/>
                    </a:cubicBezTo>
                    <a:cubicBezTo>
                      <a:pt x="137844" y="57015"/>
                      <a:pt x="146131" y="11947"/>
                      <a:pt x="152884" y="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1" name="Google Shape;1235;p88">
                <a:extLst>
                  <a:ext uri="{FF2B5EF4-FFF2-40B4-BE49-F238E27FC236}">
                    <a16:creationId xmlns:a16="http://schemas.microsoft.com/office/drawing/2014/main" id="{F996FF24-B53F-FF69-2F00-76362306234D}"/>
                  </a:ext>
                </a:extLst>
              </p:cNvPr>
              <p:cNvCxnSpPr/>
              <p:nvPr/>
            </p:nvCxnSpPr>
            <p:spPr>
              <a:xfrm>
                <a:off x="5606850" y="2564250"/>
                <a:ext cx="0" cy="114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2" name="Google Shape;1236;p88">
              <a:extLst>
                <a:ext uri="{FF2B5EF4-FFF2-40B4-BE49-F238E27FC236}">
                  <a16:creationId xmlns:a16="http://schemas.microsoft.com/office/drawing/2014/main" id="{347FDA9C-FE2A-8D87-238D-514970A9109B}"/>
                </a:ext>
              </a:extLst>
            </p:cNvPr>
            <p:cNvCxnSpPr/>
            <p:nvPr/>
          </p:nvCxnSpPr>
          <p:spPr>
            <a:xfrm>
              <a:off x="428700" y="4809100"/>
              <a:ext cx="1408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3" name="Google Shape;1237;p88">
              <a:extLst>
                <a:ext uri="{FF2B5EF4-FFF2-40B4-BE49-F238E27FC236}">
                  <a16:creationId xmlns:a16="http://schemas.microsoft.com/office/drawing/2014/main" id="{5330DBFA-7889-BE5C-25C8-64E358BA8090}"/>
                </a:ext>
              </a:extLst>
            </p:cNvPr>
            <p:cNvSpPr txBox="1"/>
            <p:nvPr/>
          </p:nvSpPr>
          <p:spPr>
            <a:xfrm>
              <a:off x="666762" y="4701400"/>
              <a:ext cx="9321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" name="Google Shape;1238;p88">
              <a:extLst>
                <a:ext uri="{FF2B5EF4-FFF2-40B4-BE49-F238E27FC236}">
                  <a16:creationId xmlns:a16="http://schemas.microsoft.com/office/drawing/2014/main" id="{243DB3AE-1C27-3711-5EEA-81014E2B7A9F}"/>
                </a:ext>
              </a:extLst>
            </p:cNvPr>
            <p:cNvCxnSpPr/>
            <p:nvPr/>
          </p:nvCxnSpPr>
          <p:spPr>
            <a:xfrm>
              <a:off x="1875225" y="4809100"/>
              <a:ext cx="2855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" name="Google Shape;1239;p88">
              <a:extLst>
                <a:ext uri="{FF2B5EF4-FFF2-40B4-BE49-F238E27FC236}">
                  <a16:creationId xmlns:a16="http://schemas.microsoft.com/office/drawing/2014/main" id="{918E71CF-247E-DC52-8016-04B50FE09E44}"/>
                </a:ext>
              </a:extLst>
            </p:cNvPr>
            <p:cNvSpPr txBox="1"/>
            <p:nvPr/>
          </p:nvSpPr>
          <p:spPr>
            <a:xfrm>
              <a:off x="3038325" y="4701400"/>
              <a:ext cx="5295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AIMD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1240;p88">
              <a:extLst>
                <a:ext uri="{FF2B5EF4-FFF2-40B4-BE49-F238E27FC236}">
                  <a16:creationId xmlns:a16="http://schemas.microsoft.com/office/drawing/2014/main" id="{B2F7EAFF-68E3-7D4F-B407-F28C3E8ECCBB}"/>
                </a:ext>
              </a:extLst>
            </p:cNvPr>
            <p:cNvSpPr txBox="1"/>
            <p:nvPr/>
          </p:nvSpPr>
          <p:spPr>
            <a:xfrm rot="16200000">
              <a:off x="6429076" y="29234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241;p88">
              <a:extLst>
                <a:ext uri="{FF2B5EF4-FFF2-40B4-BE49-F238E27FC236}">
                  <a16:creationId xmlns:a16="http://schemas.microsoft.com/office/drawing/2014/main" id="{2251F0CF-27C3-A76B-A778-8D5AE037BADB}"/>
                </a:ext>
              </a:extLst>
            </p:cNvPr>
            <p:cNvSpPr txBox="1"/>
            <p:nvPr/>
          </p:nvSpPr>
          <p:spPr>
            <a:xfrm>
              <a:off x="1865013" y="4102200"/>
              <a:ext cx="1139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SSTHRESH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242;p88">
              <a:extLst>
                <a:ext uri="{FF2B5EF4-FFF2-40B4-BE49-F238E27FC236}">
                  <a16:creationId xmlns:a16="http://schemas.microsoft.com/office/drawing/2014/main" id="{10589C94-4028-ECEC-59D2-7C8C0F375F3B}"/>
                </a:ext>
              </a:extLst>
            </p:cNvPr>
            <p:cNvSpPr/>
            <p:nvPr/>
          </p:nvSpPr>
          <p:spPr>
            <a:xfrm>
              <a:off x="1874388" y="3002775"/>
              <a:ext cx="2915000" cy="1569700"/>
            </a:xfrm>
            <a:custGeom>
              <a:avLst/>
              <a:gdLst/>
              <a:ahLst/>
              <a:cxnLst/>
              <a:rect l="l" t="t" r="r" b="b"/>
              <a:pathLst>
                <a:path w="116600" h="62788" extrusionOk="0">
                  <a:moveTo>
                    <a:pt x="0" y="20560"/>
                  </a:moveTo>
                  <a:lnTo>
                    <a:pt x="0" y="42305"/>
                  </a:lnTo>
                  <a:lnTo>
                    <a:pt x="52661" y="11901"/>
                  </a:lnTo>
                  <a:lnTo>
                    <a:pt x="52661" y="36915"/>
                  </a:lnTo>
                  <a:lnTo>
                    <a:pt x="116600" y="0"/>
                  </a:lnTo>
                  <a:lnTo>
                    <a:pt x="116600" y="30875"/>
                  </a:lnTo>
                  <a:lnTo>
                    <a:pt x="116600" y="62788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1243;p88">
              <a:extLst>
                <a:ext uri="{FF2B5EF4-FFF2-40B4-BE49-F238E27FC236}">
                  <a16:creationId xmlns:a16="http://schemas.microsoft.com/office/drawing/2014/main" id="{C5CC8D11-02CA-DBE8-1715-E6055ED9D239}"/>
                </a:ext>
              </a:extLst>
            </p:cNvPr>
            <p:cNvSpPr txBox="1"/>
            <p:nvPr/>
          </p:nvSpPr>
          <p:spPr>
            <a:xfrm>
              <a:off x="4784438" y="3818588"/>
              <a:ext cx="1139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SSTHRESH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1244;p88">
              <a:extLst>
                <a:ext uri="{FF2B5EF4-FFF2-40B4-BE49-F238E27FC236}">
                  <a16:creationId xmlns:a16="http://schemas.microsoft.com/office/drawing/2014/main" id="{DB044A95-7760-CFE3-4890-400D0F556B06}"/>
                </a:ext>
              </a:extLst>
            </p:cNvPr>
            <p:cNvSpPr/>
            <p:nvPr/>
          </p:nvSpPr>
          <p:spPr>
            <a:xfrm>
              <a:off x="4779784" y="3788564"/>
              <a:ext cx="1401000" cy="770975"/>
            </a:xfrm>
            <a:custGeom>
              <a:avLst/>
              <a:gdLst/>
              <a:ahLst/>
              <a:cxnLst/>
              <a:rect l="l" t="t" r="r" b="b"/>
              <a:pathLst>
                <a:path w="56040" h="30839" extrusionOk="0">
                  <a:moveTo>
                    <a:pt x="0" y="30839"/>
                  </a:moveTo>
                  <a:cubicBezTo>
                    <a:pt x="6891" y="29800"/>
                    <a:pt x="32006" y="29743"/>
                    <a:pt x="41346" y="24603"/>
                  </a:cubicBezTo>
                  <a:cubicBezTo>
                    <a:pt x="50686" y="19463"/>
                    <a:pt x="53591" y="4101"/>
                    <a:pt x="56040" y="0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1" name="Google Shape;1245;p88">
              <a:extLst>
                <a:ext uri="{FF2B5EF4-FFF2-40B4-BE49-F238E27FC236}">
                  <a16:creationId xmlns:a16="http://schemas.microsoft.com/office/drawing/2014/main" id="{B6F2C62F-7B9B-44D6-81EF-6EAD06761AFC}"/>
                </a:ext>
              </a:extLst>
            </p:cNvPr>
            <p:cNvCxnSpPr/>
            <p:nvPr/>
          </p:nvCxnSpPr>
          <p:spPr>
            <a:xfrm>
              <a:off x="4772100" y="4809100"/>
              <a:ext cx="1408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2" name="Google Shape;1246;p88">
              <a:extLst>
                <a:ext uri="{FF2B5EF4-FFF2-40B4-BE49-F238E27FC236}">
                  <a16:creationId xmlns:a16="http://schemas.microsoft.com/office/drawing/2014/main" id="{4917DF82-C80B-8562-69C1-D45DB05399A1}"/>
                </a:ext>
              </a:extLst>
            </p:cNvPr>
            <p:cNvSpPr txBox="1"/>
            <p:nvPr/>
          </p:nvSpPr>
          <p:spPr>
            <a:xfrm>
              <a:off x="5010162" y="4701400"/>
              <a:ext cx="9321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" name="Google Shape;1247;p88">
              <a:extLst>
                <a:ext uri="{FF2B5EF4-FFF2-40B4-BE49-F238E27FC236}">
                  <a16:creationId xmlns:a16="http://schemas.microsoft.com/office/drawing/2014/main" id="{41985BF8-2F25-2271-5B8C-34F860681F2A}"/>
                </a:ext>
              </a:extLst>
            </p:cNvPr>
            <p:cNvCxnSpPr/>
            <p:nvPr/>
          </p:nvCxnSpPr>
          <p:spPr>
            <a:xfrm>
              <a:off x="6218625" y="4809100"/>
              <a:ext cx="2546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" name="Google Shape;1248;p88">
              <a:extLst>
                <a:ext uri="{FF2B5EF4-FFF2-40B4-BE49-F238E27FC236}">
                  <a16:creationId xmlns:a16="http://schemas.microsoft.com/office/drawing/2014/main" id="{D17ED650-083C-E690-E565-7B9B8C77FB96}"/>
                </a:ext>
              </a:extLst>
            </p:cNvPr>
            <p:cNvSpPr txBox="1"/>
            <p:nvPr/>
          </p:nvSpPr>
          <p:spPr>
            <a:xfrm>
              <a:off x="7226925" y="4701400"/>
              <a:ext cx="5295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AIMD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1249;p88">
              <a:extLst>
                <a:ext uri="{FF2B5EF4-FFF2-40B4-BE49-F238E27FC236}">
                  <a16:creationId xmlns:a16="http://schemas.microsoft.com/office/drawing/2014/main" id="{B4AB19FD-CF8A-59F1-9282-05BF425BAB43}"/>
                </a:ext>
              </a:extLst>
            </p:cNvPr>
            <p:cNvSpPr/>
            <p:nvPr/>
          </p:nvSpPr>
          <p:spPr>
            <a:xfrm>
              <a:off x="6175025" y="2575988"/>
              <a:ext cx="2424425" cy="1359100"/>
            </a:xfrm>
            <a:custGeom>
              <a:avLst/>
              <a:gdLst/>
              <a:ahLst/>
              <a:cxnLst/>
              <a:rect l="l" t="t" r="r" b="b"/>
              <a:pathLst>
                <a:path w="96977" h="54364" extrusionOk="0">
                  <a:moveTo>
                    <a:pt x="0" y="48649"/>
                  </a:moveTo>
                  <a:lnTo>
                    <a:pt x="20145" y="28504"/>
                  </a:lnTo>
                  <a:lnTo>
                    <a:pt x="20145" y="54364"/>
                  </a:lnTo>
                  <a:lnTo>
                    <a:pt x="74509" y="0"/>
                  </a:lnTo>
                  <a:lnTo>
                    <a:pt x="74509" y="39982"/>
                  </a:lnTo>
                  <a:lnTo>
                    <a:pt x="96977" y="17515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Google Shape;1250;p88">
              <a:extLst>
                <a:ext uri="{FF2B5EF4-FFF2-40B4-BE49-F238E27FC236}">
                  <a16:creationId xmlns:a16="http://schemas.microsoft.com/office/drawing/2014/main" id="{F66DE3B3-6E77-D69F-ACDD-A2960B12D26D}"/>
                </a:ext>
              </a:extLst>
            </p:cNvPr>
            <p:cNvSpPr txBox="1"/>
            <p:nvPr/>
          </p:nvSpPr>
          <p:spPr>
            <a:xfrm rot="16200000">
              <a:off x="7796751" y="221132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6234DAD-D0C9-72B5-D7E8-D2DFEC73758A}"/>
              </a:ext>
            </a:extLst>
          </p:cNvPr>
          <p:cNvSpPr txBox="1"/>
          <p:nvPr/>
        </p:nvSpPr>
        <p:spPr>
          <a:xfrm>
            <a:off x="72778" y="3906928"/>
            <a:ext cx="344691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Switch to the </a:t>
            </a:r>
            <a:r>
              <a:rPr lang="en-US" sz="2000" b="1" i="1" dirty="0">
                <a:solidFill>
                  <a:srgbClr val="C00000"/>
                </a:solidFill>
              </a:rPr>
              <a:t>Slow Start Phase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 ACKs received suggests severe congestion or failure; aggressive response needed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E6F1A78-1F25-32EE-7917-6EB1DD77549B}"/>
              </a:ext>
            </a:extLst>
          </p:cNvPr>
          <p:cNvGrpSpPr/>
          <p:nvPr/>
        </p:nvGrpSpPr>
        <p:grpSpPr>
          <a:xfrm>
            <a:off x="7959250" y="3716351"/>
            <a:ext cx="1203673" cy="1678061"/>
            <a:chOff x="7959250" y="3716351"/>
            <a:chExt cx="1203673" cy="167806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48A6425-624C-1A7E-A4AE-085ECC54A2CA}"/>
                </a:ext>
              </a:extLst>
            </p:cNvPr>
            <p:cNvSpPr txBox="1"/>
            <p:nvPr/>
          </p:nvSpPr>
          <p:spPr>
            <a:xfrm>
              <a:off x="7959250" y="3716351"/>
              <a:ext cx="11572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C00000"/>
                  </a:solidFill>
                </a:rPr>
                <a:t>When and why?</a:t>
              </a:r>
              <a:endParaRPr lang="en-US" sz="2000" b="1" i="1" dirty="0">
                <a:solidFill>
                  <a:srgbClr val="C0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B00CF69-7403-E041-53F3-9FC8340CEE0D}"/>
                </a:ext>
              </a:extLst>
            </p:cNvPr>
            <p:cNvCxnSpPr>
              <a:cxnSpLocks/>
              <a:stCxn id="31" idx="2"/>
              <a:endCxn id="36" idx="1"/>
            </p:cNvCxnSpPr>
            <p:nvPr/>
          </p:nvCxnSpPr>
          <p:spPr>
            <a:xfrm>
              <a:off x="8537894" y="4424237"/>
              <a:ext cx="213395" cy="75619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4493404-5D3E-7467-5F33-4D59BDC82465}"/>
                </a:ext>
              </a:extLst>
            </p:cNvPr>
            <p:cNvSpPr/>
            <p:nvPr/>
          </p:nvSpPr>
          <p:spPr>
            <a:xfrm>
              <a:off x="8680664" y="5143713"/>
              <a:ext cx="482259" cy="250699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580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AF6C-1B4B-4B3C-32B4-B3824C95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236C6073-F219-6644-7500-FA23F6059A3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 (3/3): Don’t Overload </a:t>
            </a:r>
            <a:r>
              <a:rPr lang="en-US" altLang="zh-CN" sz="3200" dirty="0"/>
              <a:t>Network</a:t>
            </a:r>
            <a:r>
              <a:rPr lang="en-US" sz="3200" dirty="0"/>
              <a:t> (</a:t>
            </a:r>
            <a:r>
              <a:rPr lang="en-US" altLang="zh-CN" sz="3200" dirty="0"/>
              <a:t>Congestion</a:t>
            </a:r>
            <a:r>
              <a:rPr lang="en-US" sz="3200" dirty="0"/>
              <a:t> Control)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74B94-D380-D051-C861-92A5C9A80114}"/>
              </a:ext>
            </a:extLst>
          </p:cNvPr>
          <p:cNvSpPr txBox="1"/>
          <p:nvPr/>
        </p:nvSpPr>
        <p:spPr>
          <a:xfrm>
            <a:off x="376523" y="755545"/>
            <a:ext cx="9439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C00000"/>
                </a:solidFill>
              </a:rPr>
              <a:t>SSTHRESH and TCP Recovery Phases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5A9AC5-8368-AE5E-F3AA-91B8947A0DAF}"/>
              </a:ext>
            </a:extLst>
          </p:cNvPr>
          <p:cNvSpPr txBox="1"/>
          <p:nvPr/>
        </p:nvSpPr>
        <p:spPr>
          <a:xfrm>
            <a:off x="525665" y="1297049"/>
            <a:ext cx="11140669" cy="1335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3075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b="1" i="1" dirty="0">
                <a:solidFill>
                  <a:srgbClr val="C00000"/>
                </a:solidFill>
              </a:rPr>
              <a:t>SSTHRESH </a:t>
            </a:r>
            <a:r>
              <a:rPr lang="en-US" altLang="zh-CN" sz="2000" dirty="0"/>
              <a:t>serves </a:t>
            </a:r>
            <a:r>
              <a:rPr lang="en-US" altLang="zh-CN" sz="2000" b="1" dirty="0">
                <a:solidFill>
                  <a:srgbClr val="C00000"/>
                </a:solidFill>
              </a:rPr>
              <a:t>3</a:t>
            </a:r>
            <a:r>
              <a:rPr lang="en-US" altLang="zh-CN" sz="2000" dirty="0"/>
              <a:t> primary functions: </a:t>
            </a:r>
          </a:p>
          <a:p>
            <a:pPr marL="587375"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solidFill>
                  <a:srgbClr val="C00000"/>
                </a:solidFill>
              </a:rPr>
              <a:t>2. Congestion Memory: </a:t>
            </a:r>
            <a:r>
              <a:rPr lang="en-US" altLang="zh-CN" sz="2000" dirty="0"/>
              <a:t>Stores the approximate point where congestion was last detected</a:t>
            </a:r>
          </a:p>
          <a:p>
            <a:pPr marL="587375"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C00000"/>
                </a:solidFill>
              </a:rPr>
              <a:t>3. Recovery Guidance: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Influences behavior during and after congestion recovery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F82571C-0C0F-86E1-5255-073301F586AC}"/>
              </a:ext>
            </a:extLst>
          </p:cNvPr>
          <p:cNvGrpSpPr/>
          <p:nvPr/>
        </p:nvGrpSpPr>
        <p:grpSpPr>
          <a:xfrm>
            <a:off x="2100263" y="3104839"/>
            <a:ext cx="9836287" cy="3595206"/>
            <a:chOff x="390403" y="2087725"/>
            <a:chExt cx="8374322" cy="2829075"/>
          </a:xfrm>
        </p:grpSpPr>
        <p:sp>
          <p:nvSpPr>
            <p:cNvPr id="4" name="Google Shape;1227;p88">
              <a:extLst>
                <a:ext uri="{FF2B5EF4-FFF2-40B4-BE49-F238E27FC236}">
                  <a16:creationId xmlns:a16="http://schemas.microsoft.com/office/drawing/2014/main" id="{A24FD41F-EA88-91F3-5DEF-B27B5161516B}"/>
                </a:ext>
              </a:extLst>
            </p:cNvPr>
            <p:cNvSpPr/>
            <p:nvPr/>
          </p:nvSpPr>
          <p:spPr>
            <a:xfrm>
              <a:off x="1873375" y="3563825"/>
              <a:ext cx="6863450" cy="490175"/>
            </a:xfrm>
            <a:custGeom>
              <a:avLst/>
              <a:gdLst/>
              <a:ahLst/>
              <a:cxnLst/>
              <a:rect l="l" t="t" r="r" b="b"/>
              <a:pathLst>
                <a:path w="274538" h="19607" extrusionOk="0">
                  <a:moveTo>
                    <a:pt x="0" y="19607"/>
                  </a:moveTo>
                  <a:lnTo>
                    <a:pt x="52782" y="19607"/>
                  </a:lnTo>
                  <a:lnTo>
                    <a:pt x="52782" y="14032"/>
                  </a:lnTo>
                  <a:lnTo>
                    <a:pt x="116716" y="14032"/>
                  </a:lnTo>
                  <a:lnTo>
                    <a:pt x="116716" y="9014"/>
                  </a:lnTo>
                  <a:lnTo>
                    <a:pt x="192281" y="9014"/>
                  </a:lnTo>
                  <a:lnTo>
                    <a:pt x="192281" y="14961"/>
                  </a:lnTo>
                  <a:lnTo>
                    <a:pt x="246643" y="14961"/>
                  </a:lnTo>
                  <a:lnTo>
                    <a:pt x="246643" y="0"/>
                  </a:lnTo>
                  <a:lnTo>
                    <a:pt x="274538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Google Shape;1230;p88">
              <a:extLst>
                <a:ext uri="{FF2B5EF4-FFF2-40B4-BE49-F238E27FC236}">
                  <a16:creationId xmlns:a16="http://schemas.microsoft.com/office/drawing/2014/main" id="{739B0FF5-ABB6-6B05-28E3-BB09930AA1FF}"/>
                </a:ext>
              </a:extLst>
            </p:cNvPr>
            <p:cNvSpPr txBox="1"/>
            <p:nvPr/>
          </p:nvSpPr>
          <p:spPr>
            <a:xfrm rot="16200000">
              <a:off x="1643325" y="315092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1231;p88">
              <a:extLst>
                <a:ext uri="{FF2B5EF4-FFF2-40B4-BE49-F238E27FC236}">
                  <a16:creationId xmlns:a16="http://schemas.microsoft.com/office/drawing/2014/main" id="{98FA93D1-533C-4AD3-4040-81C30CE82516}"/>
                </a:ext>
              </a:extLst>
            </p:cNvPr>
            <p:cNvSpPr txBox="1"/>
            <p:nvPr/>
          </p:nvSpPr>
          <p:spPr>
            <a:xfrm rot="16200000">
              <a:off x="2958098" y="29234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232;p88">
              <a:extLst>
                <a:ext uri="{FF2B5EF4-FFF2-40B4-BE49-F238E27FC236}">
                  <a16:creationId xmlns:a16="http://schemas.microsoft.com/office/drawing/2014/main" id="{BD617BD1-8A4B-9E59-B16B-D8C0B948495E}"/>
                </a:ext>
              </a:extLst>
            </p:cNvPr>
            <p:cNvSpPr txBox="1"/>
            <p:nvPr/>
          </p:nvSpPr>
          <p:spPr>
            <a:xfrm rot="16200000">
              <a:off x="4438738" y="2500961"/>
              <a:ext cx="679800" cy="235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Timeout</a:t>
              </a:r>
              <a:endParaRPr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" name="Google Shape;1233;p88">
              <a:extLst>
                <a:ext uri="{FF2B5EF4-FFF2-40B4-BE49-F238E27FC236}">
                  <a16:creationId xmlns:a16="http://schemas.microsoft.com/office/drawing/2014/main" id="{2353E157-839B-C288-0C3C-040571E81A97}"/>
                </a:ext>
              </a:extLst>
            </p:cNvPr>
            <p:cNvGrpSpPr/>
            <p:nvPr/>
          </p:nvGrpSpPr>
          <p:grpSpPr>
            <a:xfrm>
              <a:off x="390403" y="3509594"/>
              <a:ext cx="1484832" cy="1058020"/>
              <a:chOff x="2377550" y="2542225"/>
              <a:chExt cx="3229300" cy="2199625"/>
            </a:xfrm>
          </p:grpSpPr>
          <p:sp>
            <p:nvSpPr>
              <p:cNvPr id="10" name="Google Shape;1234;p88">
                <a:extLst>
                  <a:ext uri="{FF2B5EF4-FFF2-40B4-BE49-F238E27FC236}">
                    <a16:creationId xmlns:a16="http://schemas.microsoft.com/office/drawing/2014/main" id="{38202DE2-3F8E-80A8-9C4D-09EB0DD6191C}"/>
                  </a:ext>
                </a:extLst>
              </p:cNvPr>
              <p:cNvSpPr/>
              <p:nvPr/>
            </p:nvSpPr>
            <p:spPr>
              <a:xfrm>
                <a:off x="2377550" y="2542225"/>
                <a:ext cx="3229292" cy="2199625"/>
              </a:xfrm>
              <a:custGeom>
                <a:avLst/>
                <a:gdLst/>
                <a:ahLst/>
                <a:cxnLst/>
                <a:rect l="l" t="t" r="r" b="b"/>
                <a:pathLst>
                  <a:path w="152884" h="87985" extrusionOk="0">
                    <a:moveTo>
                      <a:pt x="0" y="87985"/>
                    </a:moveTo>
                    <a:cubicBezTo>
                      <a:pt x="18727" y="85267"/>
                      <a:pt x="86882" y="86343"/>
                      <a:pt x="112363" y="71679"/>
                    </a:cubicBezTo>
                    <a:cubicBezTo>
                      <a:pt x="137844" y="57015"/>
                      <a:pt x="146131" y="11947"/>
                      <a:pt x="152884" y="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1" name="Google Shape;1235;p88">
                <a:extLst>
                  <a:ext uri="{FF2B5EF4-FFF2-40B4-BE49-F238E27FC236}">
                    <a16:creationId xmlns:a16="http://schemas.microsoft.com/office/drawing/2014/main" id="{A7A5FFDC-97AE-D06D-714E-B79A652164FE}"/>
                  </a:ext>
                </a:extLst>
              </p:cNvPr>
              <p:cNvCxnSpPr/>
              <p:nvPr/>
            </p:nvCxnSpPr>
            <p:spPr>
              <a:xfrm>
                <a:off x="5606850" y="2564250"/>
                <a:ext cx="0" cy="114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2" name="Google Shape;1236;p88">
              <a:extLst>
                <a:ext uri="{FF2B5EF4-FFF2-40B4-BE49-F238E27FC236}">
                  <a16:creationId xmlns:a16="http://schemas.microsoft.com/office/drawing/2014/main" id="{0E484C24-C8A6-A24A-4FAB-096EA9BDA778}"/>
                </a:ext>
              </a:extLst>
            </p:cNvPr>
            <p:cNvCxnSpPr/>
            <p:nvPr/>
          </p:nvCxnSpPr>
          <p:spPr>
            <a:xfrm>
              <a:off x="428700" y="4809100"/>
              <a:ext cx="1408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3" name="Google Shape;1237;p88">
              <a:extLst>
                <a:ext uri="{FF2B5EF4-FFF2-40B4-BE49-F238E27FC236}">
                  <a16:creationId xmlns:a16="http://schemas.microsoft.com/office/drawing/2014/main" id="{1E40CF8D-91A5-FB6D-1084-FD7014BA9FA9}"/>
                </a:ext>
              </a:extLst>
            </p:cNvPr>
            <p:cNvSpPr txBox="1"/>
            <p:nvPr/>
          </p:nvSpPr>
          <p:spPr>
            <a:xfrm>
              <a:off x="666762" y="4701400"/>
              <a:ext cx="9321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" name="Google Shape;1238;p88">
              <a:extLst>
                <a:ext uri="{FF2B5EF4-FFF2-40B4-BE49-F238E27FC236}">
                  <a16:creationId xmlns:a16="http://schemas.microsoft.com/office/drawing/2014/main" id="{76987D53-ABB1-D742-2EA7-BADA6E843E60}"/>
                </a:ext>
              </a:extLst>
            </p:cNvPr>
            <p:cNvCxnSpPr/>
            <p:nvPr/>
          </p:nvCxnSpPr>
          <p:spPr>
            <a:xfrm>
              <a:off x="1875225" y="4809100"/>
              <a:ext cx="2855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" name="Google Shape;1239;p88">
              <a:extLst>
                <a:ext uri="{FF2B5EF4-FFF2-40B4-BE49-F238E27FC236}">
                  <a16:creationId xmlns:a16="http://schemas.microsoft.com/office/drawing/2014/main" id="{A2EBFAC2-F5BF-7F50-5D58-19A983200C36}"/>
                </a:ext>
              </a:extLst>
            </p:cNvPr>
            <p:cNvSpPr txBox="1"/>
            <p:nvPr/>
          </p:nvSpPr>
          <p:spPr>
            <a:xfrm>
              <a:off x="3038325" y="4701400"/>
              <a:ext cx="5295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AIMD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1240;p88">
              <a:extLst>
                <a:ext uri="{FF2B5EF4-FFF2-40B4-BE49-F238E27FC236}">
                  <a16:creationId xmlns:a16="http://schemas.microsoft.com/office/drawing/2014/main" id="{A10BEDE9-8C42-8686-476F-4CFAC1B488C7}"/>
                </a:ext>
              </a:extLst>
            </p:cNvPr>
            <p:cNvSpPr txBox="1"/>
            <p:nvPr/>
          </p:nvSpPr>
          <p:spPr>
            <a:xfrm rot="16200000">
              <a:off x="6429076" y="2923450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241;p88">
              <a:extLst>
                <a:ext uri="{FF2B5EF4-FFF2-40B4-BE49-F238E27FC236}">
                  <a16:creationId xmlns:a16="http://schemas.microsoft.com/office/drawing/2014/main" id="{79882973-52F0-08F3-E912-7F7363B15ED0}"/>
                </a:ext>
              </a:extLst>
            </p:cNvPr>
            <p:cNvSpPr txBox="1"/>
            <p:nvPr/>
          </p:nvSpPr>
          <p:spPr>
            <a:xfrm>
              <a:off x="1865013" y="4102200"/>
              <a:ext cx="1139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SSTHRESH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242;p88">
              <a:extLst>
                <a:ext uri="{FF2B5EF4-FFF2-40B4-BE49-F238E27FC236}">
                  <a16:creationId xmlns:a16="http://schemas.microsoft.com/office/drawing/2014/main" id="{4C6BA250-356E-52F9-138B-B0A952CC6AFA}"/>
                </a:ext>
              </a:extLst>
            </p:cNvPr>
            <p:cNvSpPr/>
            <p:nvPr/>
          </p:nvSpPr>
          <p:spPr>
            <a:xfrm>
              <a:off x="1874388" y="3002775"/>
              <a:ext cx="2915000" cy="1569700"/>
            </a:xfrm>
            <a:custGeom>
              <a:avLst/>
              <a:gdLst/>
              <a:ahLst/>
              <a:cxnLst/>
              <a:rect l="l" t="t" r="r" b="b"/>
              <a:pathLst>
                <a:path w="116600" h="62788" extrusionOk="0">
                  <a:moveTo>
                    <a:pt x="0" y="20560"/>
                  </a:moveTo>
                  <a:lnTo>
                    <a:pt x="0" y="42305"/>
                  </a:lnTo>
                  <a:lnTo>
                    <a:pt x="52661" y="11901"/>
                  </a:lnTo>
                  <a:lnTo>
                    <a:pt x="52661" y="36915"/>
                  </a:lnTo>
                  <a:lnTo>
                    <a:pt x="116600" y="0"/>
                  </a:lnTo>
                  <a:lnTo>
                    <a:pt x="116600" y="30875"/>
                  </a:lnTo>
                  <a:lnTo>
                    <a:pt x="116600" y="62788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1243;p88">
              <a:extLst>
                <a:ext uri="{FF2B5EF4-FFF2-40B4-BE49-F238E27FC236}">
                  <a16:creationId xmlns:a16="http://schemas.microsoft.com/office/drawing/2014/main" id="{03C32B5D-00A4-B75B-737C-AD43FF60F3C9}"/>
                </a:ext>
              </a:extLst>
            </p:cNvPr>
            <p:cNvSpPr txBox="1"/>
            <p:nvPr/>
          </p:nvSpPr>
          <p:spPr>
            <a:xfrm>
              <a:off x="4784438" y="3818588"/>
              <a:ext cx="1139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SSTHRESH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1244;p88">
              <a:extLst>
                <a:ext uri="{FF2B5EF4-FFF2-40B4-BE49-F238E27FC236}">
                  <a16:creationId xmlns:a16="http://schemas.microsoft.com/office/drawing/2014/main" id="{04D77DE0-EB3B-025F-210F-7E24230C7948}"/>
                </a:ext>
              </a:extLst>
            </p:cNvPr>
            <p:cNvSpPr/>
            <p:nvPr/>
          </p:nvSpPr>
          <p:spPr>
            <a:xfrm>
              <a:off x="4779784" y="3788564"/>
              <a:ext cx="1401000" cy="770975"/>
            </a:xfrm>
            <a:custGeom>
              <a:avLst/>
              <a:gdLst/>
              <a:ahLst/>
              <a:cxnLst/>
              <a:rect l="l" t="t" r="r" b="b"/>
              <a:pathLst>
                <a:path w="56040" h="30839" extrusionOk="0">
                  <a:moveTo>
                    <a:pt x="0" y="30839"/>
                  </a:moveTo>
                  <a:cubicBezTo>
                    <a:pt x="6891" y="29800"/>
                    <a:pt x="32006" y="29743"/>
                    <a:pt x="41346" y="24603"/>
                  </a:cubicBezTo>
                  <a:cubicBezTo>
                    <a:pt x="50686" y="19463"/>
                    <a:pt x="53591" y="4101"/>
                    <a:pt x="56040" y="0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1" name="Google Shape;1245;p88">
              <a:extLst>
                <a:ext uri="{FF2B5EF4-FFF2-40B4-BE49-F238E27FC236}">
                  <a16:creationId xmlns:a16="http://schemas.microsoft.com/office/drawing/2014/main" id="{A54590C3-75D4-559F-58B5-66D5F053E8EF}"/>
                </a:ext>
              </a:extLst>
            </p:cNvPr>
            <p:cNvCxnSpPr/>
            <p:nvPr/>
          </p:nvCxnSpPr>
          <p:spPr>
            <a:xfrm>
              <a:off x="4772100" y="4809100"/>
              <a:ext cx="1408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2" name="Google Shape;1246;p88">
              <a:extLst>
                <a:ext uri="{FF2B5EF4-FFF2-40B4-BE49-F238E27FC236}">
                  <a16:creationId xmlns:a16="http://schemas.microsoft.com/office/drawing/2014/main" id="{D19D6B4B-84E8-5C34-CA5E-9638A12D303F}"/>
                </a:ext>
              </a:extLst>
            </p:cNvPr>
            <p:cNvSpPr txBox="1"/>
            <p:nvPr/>
          </p:nvSpPr>
          <p:spPr>
            <a:xfrm>
              <a:off x="5010162" y="4701400"/>
              <a:ext cx="9321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" name="Google Shape;1247;p88">
              <a:extLst>
                <a:ext uri="{FF2B5EF4-FFF2-40B4-BE49-F238E27FC236}">
                  <a16:creationId xmlns:a16="http://schemas.microsoft.com/office/drawing/2014/main" id="{41E7BEB7-DE4A-8FB4-1CC8-9664CA54C8D6}"/>
                </a:ext>
              </a:extLst>
            </p:cNvPr>
            <p:cNvCxnSpPr/>
            <p:nvPr/>
          </p:nvCxnSpPr>
          <p:spPr>
            <a:xfrm>
              <a:off x="6218625" y="4809100"/>
              <a:ext cx="2546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" name="Google Shape;1248;p88">
              <a:extLst>
                <a:ext uri="{FF2B5EF4-FFF2-40B4-BE49-F238E27FC236}">
                  <a16:creationId xmlns:a16="http://schemas.microsoft.com/office/drawing/2014/main" id="{48CEE959-3758-7678-E28F-41B070596BCA}"/>
                </a:ext>
              </a:extLst>
            </p:cNvPr>
            <p:cNvSpPr txBox="1"/>
            <p:nvPr/>
          </p:nvSpPr>
          <p:spPr>
            <a:xfrm>
              <a:off x="7226925" y="4701400"/>
              <a:ext cx="529500" cy="21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AIMD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1249;p88">
              <a:extLst>
                <a:ext uri="{FF2B5EF4-FFF2-40B4-BE49-F238E27FC236}">
                  <a16:creationId xmlns:a16="http://schemas.microsoft.com/office/drawing/2014/main" id="{2E465386-6709-4042-337A-DA4EC59FD79B}"/>
                </a:ext>
              </a:extLst>
            </p:cNvPr>
            <p:cNvSpPr/>
            <p:nvPr/>
          </p:nvSpPr>
          <p:spPr>
            <a:xfrm>
              <a:off x="6175025" y="2575988"/>
              <a:ext cx="2424425" cy="1359100"/>
            </a:xfrm>
            <a:custGeom>
              <a:avLst/>
              <a:gdLst/>
              <a:ahLst/>
              <a:cxnLst/>
              <a:rect l="l" t="t" r="r" b="b"/>
              <a:pathLst>
                <a:path w="96977" h="54364" extrusionOk="0">
                  <a:moveTo>
                    <a:pt x="0" y="48649"/>
                  </a:moveTo>
                  <a:lnTo>
                    <a:pt x="20145" y="28504"/>
                  </a:lnTo>
                  <a:lnTo>
                    <a:pt x="20145" y="54364"/>
                  </a:lnTo>
                  <a:lnTo>
                    <a:pt x="74509" y="0"/>
                  </a:lnTo>
                  <a:lnTo>
                    <a:pt x="74509" y="39982"/>
                  </a:lnTo>
                  <a:lnTo>
                    <a:pt x="96977" y="17515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Google Shape;1250;p88">
              <a:extLst>
                <a:ext uri="{FF2B5EF4-FFF2-40B4-BE49-F238E27FC236}">
                  <a16:creationId xmlns:a16="http://schemas.microsoft.com/office/drawing/2014/main" id="{C66E0E9E-3180-9DC8-C477-7FC6A508891A}"/>
                </a:ext>
              </a:extLst>
            </p:cNvPr>
            <p:cNvSpPr txBox="1"/>
            <p:nvPr/>
          </p:nvSpPr>
          <p:spPr>
            <a:xfrm rot="16200000">
              <a:off x="7796751" y="2211325"/>
              <a:ext cx="4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Loss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715A898-E223-514D-6D60-20A76F9D99BC}"/>
              </a:ext>
            </a:extLst>
          </p:cNvPr>
          <p:cNvSpPr txBox="1"/>
          <p:nvPr/>
        </p:nvSpPr>
        <p:spPr>
          <a:xfrm>
            <a:off x="0" y="2663857"/>
            <a:ext cx="469939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/>
              <a:t>During slow start</a:t>
            </a:r>
            <a:r>
              <a:rPr lang="en-US" sz="2000" dirty="0"/>
              <a:t>: If </a:t>
            </a:r>
            <a:r>
              <a:rPr lang="en-US" sz="2000" b="1" i="1" dirty="0">
                <a:solidFill>
                  <a:srgbClr val="C00000"/>
                </a:solidFill>
              </a:rPr>
              <a:t>CWND</a:t>
            </a:r>
            <a:r>
              <a:rPr lang="en-US" sz="2000" dirty="0"/>
              <a:t> exceeds </a:t>
            </a:r>
            <a:r>
              <a:rPr lang="en-US" sz="2000" b="1" i="1" dirty="0">
                <a:solidFill>
                  <a:srgbClr val="C00000"/>
                </a:solidFill>
              </a:rPr>
              <a:t>SSTHRESH</a:t>
            </a:r>
            <a:r>
              <a:rPr lang="en-US" sz="2000" dirty="0"/>
              <a:t>, switch to additive increases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C00000"/>
                </a:solidFill>
              </a:rPr>
              <a:t>SSTHRESH</a:t>
            </a:r>
            <a:r>
              <a:rPr lang="en-US" sz="2000" dirty="0"/>
              <a:t> = ∞ for first slow-start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53C48CE-59FE-42FB-A721-508959DE266C}"/>
              </a:ext>
            </a:extLst>
          </p:cNvPr>
          <p:cNvGrpSpPr/>
          <p:nvPr/>
        </p:nvGrpSpPr>
        <p:grpSpPr>
          <a:xfrm>
            <a:off x="7959250" y="3716351"/>
            <a:ext cx="1203673" cy="1678061"/>
            <a:chOff x="7959250" y="3716351"/>
            <a:chExt cx="1203673" cy="167806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AEFD682-0A11-CFB4-6548-B44014EE1E7A}"/>
                </a:ext>
              </a:extLst>
            </p:cNvPr>
            <p:cNvSpPr txBox="1"/>
            <p:nvPr/>
          </p:nvSpPr>
          <p:spPr>
            <a:xfrm>
              <a:off x="7959250" y="3716351"/>
              <a:ext cx="11572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C00000"/>
                  </a:solidFill>
                </a:rPr>
                <a:t>When and why?</a:t>
              </a:r>
              <a:endParaRPr lang="en-US" sz="2000" b="1" i="1" dirty="0">
                <a:solidFill>
                  <a:srgbClr val="C0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B1939BC-3FEA-63DC-CE64-043FE8542D51}"/>
                </a:ext>
              </a:extLst>
            </p:cNvPr>
            <p:cNvCxnSpPr>
              <a:cxnSpLocks/>
              <a:stCxn id="33" idx="2"/>
              <a:endCxn id="35" idx="1"/>
            </p:cNvCxnSpPr>
            <p:nvPr/>
          </p:nvCxnSpPr>
          <p:spPr>
            <a:xfrm>
              <a:off x="8537894" y="4424237"/>
              <a:ext cx="213395" cy="75619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A5398B5-954D-F8C5-11C7-317EC197B6D7}"/>
                </a:ext>
              </a:extLst>
            </p:cNvPr>
            <p:cNvSpPr/>
            <p:nvPr/>
          </p:nvSpPr>
          <p:spPr>
            <a:xfrm>
              <a:off x="8680664" y="5143713"/>
              <a:ext cx="482259" cy="250699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6875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8F5618BC-45F5-D681-3729-74AA77DA6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Summary: TCP Congestion Control</a:t>
            </a:r>
          </a:p>
        </p:txBody>
      </p:sp>
      <p:sp>
        <p:nvSpPr>
          <p:cNvPr id="3" name="Google Shape;1256;p89">
            <a:extLst>
              <a:ext uri="{FF2B5EF4-FFF2-40B4-BE49-F238E27FC236}">
                <a16:creationId xmlns:a16="http://schemas.microsoft.com/office/drawing/2014/main" id="{C5F52F76-1B50-0680-EC00-CD1693FCB865}"/>
              </a:ext>
            </a:extLst>
          </p:cNvPr>
          <p:cNvSpPr txBox="1">
            <a:spLocks/>
          </p:cNvSpPr>
          <p:nvPr/>
        </p:nvSpPr>
        <p:spPr>
          <a:xfrm>
            <a:off x="391662" y="689022"/>
            <a:ext cx="11408675" cy="58628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 i="1" dirty="0"/>
              <a:t>Detecting congestion</a:t>
            </a:r>
            <a:r>
              <a:rPr lang="en-US" sz="2400"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Loss-based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i="1" dirty="0"/>
              <a:t>Discovering an initial rate: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Slow-start. Double rate until loss or safe rate (</a:t>
            </a:r>
            <a:r>
              <a:rPr lang="en-US" sz="2400" i="1" dirty="0"/>
              <a:t>SSTHRESH</a:t>
            </a:r>
            <a:r>
              <a:rPr lang="en-US" sz="2400" dirty="0"/>
              <a:t>) exceeded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Event-driven AIMD: Add 1 to </a:t>
            </a:r>
            <a:r>
              <a:rPr lang="en-US" sz="2400" i="1" dirty="0"/>
              <a:t>CWND</a:t>
            </a:r>
            <a:r>
              <a:rPr lang="en-US" sz="2400" dirty="0"/>
              <a:t> on each ack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 i="1" dirty="0"/>
              <a:t>Adapting rate to congestion: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AIMD (additive increase, multiplicative decrease) approaches fairness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Event-driven: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Add 1/</a:t>
            </a:r>
            <a:r>
              <a:rPr lang="en-US" i="1" dirty="0"/>
              <a:t>CWND</a:t>
            </a:r>
            <a:r>
              <a:rPr lang="en-US" dirty="0"/>
              <a:t> on each ack. After one RTT, </a:t>
            </a:r>
            <a:r>
              <a:rPr lang="en-US" i="1" dirty="0"/>
              <a:t>CWND</a:t>
            </a:r>
            <a:r>
              <a:rPr lang="en-US" dirty="0"/>
              <a:t> will have increased by 1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Divide </a:t>
            </a:r>
            <a:r>
              <a:rPr lang="en-US" i="1" dirty="0"/>
              <a:t>CWND</a:t>
            </a:r>
            <a:r>
              <a:rPr lang="en-US" dirty="0"/>
              <a:t> in half when there are 3 duplicate acks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When a packet is lost on timeout, restart from slow-start</a:t>
            </a:r>
          </a:p>
        </p:txBody>
      </p:sp>
    </p:spTree>
    <p:extLst>
      <p:ext uri="{BB962C8B-B14F-4D97-AF65-F5344CB8AC3E}">
        <p14:creationId xmlns:p14="http://schemas.microsoft.com/office/powerpoint/2010/main" val="1542939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89BF9-4FBD-D656-8863-531544D9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84358732-3058-1B6C-3EED-B413A469882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Summary: TCP Congestion Control State Machine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91E3380-B74E-FB36-16E1-91F2B7B0BBF4}"/>
              </a:ext>
            </a:extLst>
          </p:cNvPr>
          <p:cNvGrpSpPr/>
          <p:nvPr/>
        </p:nvGrpSpPr>
        <p:grpSpPr>
          <a:xfrm>
            <a:off x="1136675" y="1104787"/>
            <a:ext cx="9918650" cy="5110276"/>
            <a:chOff x="530375" y="604725"/>
            <a:chExt cx="8083450" cy="4155325"/>
          </a:xfrm>
        </p:grpSpPr>
        <p:sp>
          <p:nvSpPr>
            <p:cNvPr id="4" name="Google Shape;1292;p46">
              <a:extLst>
                <a:ext uri="{FF2B5EF4-FFF2-40B4-BE49-F238E27FC236}">
                  <a16:creationId xmlns:a16="http://schemas.microsoft.com/office/drawing/2014/main" id="{333DCE91-E0DA-533F-CED4-068566672545}"/>
                </a:ext>
              </a:extLst>
            </p:cNvPr>
            <p:cNvSpPr/>
            <p:nvPr/>
          </p:nvSpPr>
          <p:spPr>
            <a:xfrm>
              <a:off x="6021550" y="940650"/>
              <a:ext cx="1563600" cy="156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Congestion Avoidance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" name="Google Shape;1293;p46">
              <a:extLst>
                <a:ext uri="{FF2B5EF4-FFF2-40B4-BE49-F238E27FC236}">
                  <a16:creationId xmlns:a16="http://schemas.microsoft.com/office/drawing/2014/main" id="{6193EA4E-09FA-8083-76F6-A6F186C61443}"/>
                </a:ext>
              </a:extLst>
            </p:cNvPr>
            <p:cNvSpPr/>
            <p:nvPr/>
          </p:nvSpPr>
          <p:spPr>
            <a:xfrm>
              <a:off x="3790175" y="3196450"/>
              <a:ext cx="1563600" cy="156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Fast Recovery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" name="Google Shape;1294;p46">
              <a:extLst>
                <a:ext uri="{FF2B5EF4-FFF2-40B4-BE49-F238E27FC236}">
                  <a16:creationId xmlns:a16="http://schemas.microsoft.com/office/drawing/2014/main" id="{291B88A9-53A3-F297-FFEA-C915D1EAEA81}"/>
                </a:ext>
              </a:extLst>
            </p:cNvPr>
            <p:cNvSpPr/>
            <p:nvPr/>
          </p:nvSpPr>
          <p:spPr>
            <a:xfrm>
              <a:off x="1323581" y="793458"/>
              <a:ext cx="662750" cy="551875"/>
            </a:xfrm>
            <a:custGeom>
              <a:avLst/>
              <a:gdLst/>
              <a:ahLst/>
              <a:cxnLst/>
              <a:rect l="l" t="t" r="r" b="b"/>
              <a:pathLst>
                <a:path w="26510" h="22075" extrusionOk="0">
                  <a:moveTo>
                    <a:pt x="26511" y="9591"/>
                  </a:moveTo>
                  <a:cubicBezTo>
                    <a:pt x="22134" y="8048"/>
                    <a:pt x="2403" y="-1746"/>
                    <a:pt x="250" y="335"/>
                  </a:cubicBezTo>
                  <a:cubicBezTo>
                    <a:pt x="-1902" y="2416"/>
                    <a:pt x="11372" y="18453"/>
                    <a:pt x="13596" y="220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Google Shape;1295;p46">
              <a:extLst>
                <a:ext uri="{FF2B5EF4-FFF2-40B4-BE49-F238E27FC236}">
                  <a16:creationId xmlns:a16="http://schemas.microsoft.com/office/drawing/2014/main" id="{0AE25F21-C142-914D-DFF1-5309FE8024C9}"/>
                </a:ext>
              </a:extLst>
            </p:cNvPr>
            <p:cNvSpPr/>
            <p:nvPr/>
          </p:nvSpPr>
          <p:spPr>
            <a:xfrm rot="18900000">
              <a:off x="1059880" y="1446511"/>
              <a:ext cx="662744" cy="551870"/>
            </a:xfrm>
            <a:custGeom>
              <a:avLst/>
              <a:gdLst/>
              <a:ahLst/>
              <a:cxnLst/>
              <a:rect l="l" t="t" r="r" b="b"/>
              <a:pathLst>
                <a:path w="26510" h="22075" extrusionOk="0">
                  <a:moveTo>
                    <a:pt x="26511" y="9591"/>
                  </a:moveTo>
                  <a:cubicBezTo>
                    <a:pt x="22134" y="8048"/>
                    <a:pt x="2403" y="-1746"/>
                    <a:pt x="250" y="335"/>
                  </a:cubicBezTo>
                  <a:cubicBezTo>
                    <a:pt x="-1902" y="2416"/>
                    <a:pt x="11372" y="18453"/>
                    <a:pt x="13596" y="220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Google Shape;1296;p46">
              <a:extLst>
                <a:ext uri="{FF2B5EF4-FFF2-40B4-BE49-F238E27FC236}">
                  <a16:creationId xmlns:a16="http://schemas.microsoft.com/office/drawing/2014/main" id="{0A792310-464E-E710-5D2B-7F66E05210AD}"/>
                </a:ext>
              </a:extLst>
            </p:cNvPr>
            <p:cNvSpPr/>
            <p:nvPr/>
          </p:nvSpPr>
          <p:spPr>
            <a:xfrm rot="10800000" flipH="1">
              <a:off x="1323581" y="2111245"/>
              <a:ext cx="662750" cy="551875"/>
            </a:xfrm>
            <a:custGeom>
              <a:avLst/>
              <a:gdLst/>
              <a:ahLst/>
              <a:cxnLst/>
              <a:rect l="l" t="t" r="r" b="b"/>
              <a:pathLst>
                <a:path w="26510" h="22075" extrusionOk="0">
                  <a:moveTo>
                    <a:pt x="26511" y="9591"/>
                  </a:moveTo>
                  <a:cubicBezTo>
                    <a:pt x="22134" y="8048"/>
                    <a:pt x="2403" y="-1746"/>
                    <a:pt x="250" y="335"/>
                  </a:cubicBezTo>
                  <a:cubicBezTo>
                    <a:pt x="-1902" y="2416"/>
                    <a:pt x="11372" y="18453"/>
                    <a:pt x="13596" y="220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Google Shape;1297;p46">
              <a:extLst>
                <a:ext uri="{FF2B5EF4-FFF2-40B4-BE49-F238E27FC236}">
                  <a16:creationId xmlns:a16="http://schemas.microsoft.com/office/drawing/2014/main" id="{3C93C0EB-8224-FBB8-F67E-F571F1042199}"/>
                </a:ext>
              </a:extLst>
            </p:cNvPr>
            <p:cNvSpPr/>
            <p:nvPr/>
          </p:nvSpPr>
          <p:spPr>
            <a:xfrm>
              <a:off x="1558825" y="940650"/>
              <a:ext cx="1563600" cy="156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Slow Start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1298;p46">
              <a:extLst>
                <a:ext uri="{FF2B5EF4-FFF2-40B4-BE49-F238E27FC236}">
                  <a16:creationId xmlns:a16="http://schemas.microsoft.com/office/drawing/2014/main" id="{653B29FF-DF75-829D-ED90-1AE5A2B680D1}"/>
                </a:ext>
              </a:extLst>
            </p:cNvPr>
            <p:cNvSpPr/>
            <p:nvPr/>
          </p:nvSpPr>
          <p:spPr>
            <a:xfrm flipH="1">
              <a:off x="7164074" y="793458"/>
              <a:ext cx="662750" cy="551875"/>
            </a:xfrm>
            <a:custGeom>
              <a:avLst/>
              <a:gdLst/>
              <a:ahLst/>
              <a:cxnLst/>
              <a:rect l="l" t="t" r="r" b="b"/>
              <a:pathLst>
                <a:path w="26510" h="22075" extrusionOk="0">
                  <a:moveTo>
                    <a:pt x="26511" y="9591"/>
                  </a:moveTo>
                  <a:cubicBezTo>
                    <a:pt x="22134" y="8048"/>
                    <a:pt x="2403" y="-1746"/>
                    <a:pt x="250" y="335"/>
                  </a:cubicBezTo>
                  <a:cubicBezTo>
                    <a:pt x="-1902" y="2416"/>
                    <a:pt x="11372" y="18453"/>
                    <a:pt x="13596" y="220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Google Shape;1299;p46">
              <a:extLst>
                <a:ext uri="{FF2B5EF4-FFF2-40B4-BE49-F238E27FC236}">
                  <a16:creationId xmlns:a16="http://schemas.microsoft.com/office/drawing/2014/main" id="{04C0DF54-671D-9003-6DCF-1C4DBBC4DC05}"/>
                </a:ext>
              </a:extLst>
            </p:cNvPr>
            <p:cNvSpPr/>
            <p:nvPr/>
          </p:nvSpPr>
          <p:spPr>
            <a:xfrm rot="10800000">
              <a:off x="7164074" y="2111245"/>
              <a:ext cx="662750" cy="551875"/>
            </a:xfrm>
            <a:custGeom>
              <a:avLst/>
              <a:gdLst/>
              <a:ahLst/>
              <a:cxnLst/>
              <a:rect l="l" t="t" r="r" b="b"/>
              <a:pathLst>
                <a:path w="26510" h="22075" extrusionOk="0">
                  <a:moveTo>
                    <a:pt x="26511" y="9591"/>
                  </a:moveTo>
                  <a:cubicBezTo>
                    <a:pt x="22134" y="8048"/>
                    <a:pt x="2403" y="-1746"/>
                    <a:pt x="250" y="335"/>
                  </a:cubicBezTo>
                  <a:cubicBezTo>
                    <a:pt x="-1902" y="2416"/>
                    <a:pt x="11372" y="18453"/>
                    <a:pt x="13596" y="220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Google Shape;1300;p46">
              <a:extLst>
                <a:ext uri="{FF2B5EF4-FFF2-40B4-BE49-F238E27FC236}">
                  <a16:creationId xmlns:a16="http://schemas.microsoft.com/office/drawing/2014/main" id="{8E0C6A20-89CC-E42B-0F92-55F2815C6B3A}"/>
                </a:ext>
              </a:extLst>
            </p:cNvPr>
            <p:cNvSpPr/>
            <p:nvPr/>
          </p:nvSpPr>
          <p:spPr>
            <a:xfrm rot="18900000">
              <a:off x="3293418" y="3702311"/>
              <a:ext cx="662744" cy="551870"/>
            </a:xfrm>
            <a:custGeom>
              <a:avLst/>
              <a:gdLst/>
              <a:ahLst/>
              <a:cxnLst/>
              <a:rect l="l" t="t" r="r" b="b"/>
              <a:pathLst>
                <a:path w="26510" h="22075" extrusionOk="0">
                  <a:moveTo>
                    <a:pt x="26511" y="9591"/>
                  </a:moveTo>
                  <a:cubicBezTo>
                    <a:pt x="22134" y="8048"/>
                    <a:pt x="2403" y="-1746"/>
                    <a:pt x="250" y="335"/>
                  </a:cubicBezTo>
                  <a:cubicBezTo>
                    <a:pt x="-1902" y="2416"/>
                    <a:pt x="11372" y="18453"/>
                    <a:pt x="13596" y="220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3" name="Google Shape;1301;p46">
              <a:extLst>
                <a:ext uri="{FF2B5EF4-FFF2-40B4-BE49-F238E27FC236}">
                  <a16:creationId xmlns:a16="http://schemas.microsoft.com/office/drawing/2014/main" id="{13BF0F64-CEB2-D38C-2649-42458C1E10C7}"/>
                </a:ext>
              </a:extLst>
            </p:cNvPr>
            <p:cNvCxnSpPr/>
            <p:nvPr/>
          </p:nvCxnSpPr>
          <p:spPr>
            <a:xfrm rot="10800000">
              <a:off x="3016825" y="2118300"/>
              <a:ext cx="1179000" cy="1179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Google Shape;1302;p46">
              <a:extLst>
                <a:ext uri="{FF2B5EF4-FFF2-40B4-BE49-F238E27FC236}">
                  <a16:creationId xmlns:a16="http://schemas.microsoft.com/office/drawing/2014/main" id="{44307ECC-27E9-D547-A958-0C2A5DC535FD}"/>
                </a:ext>
              </a:extLst>
            </p:cNvPr>
            <p:cNvCxnSpPr/>
            <p:nvPr/>
          </p:nvCxnSpPr>
          <p:spPr>
            <a:xfrm rot="10800000">
              <a:off x="2703625" y="2414700"/>
              <a:ext cx="1187400" cy="1187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5" name="Google Shape;1303;p46">
              <a:extLst>
                <a:ext uri="{FF2B5EF4-FFF2-40B4-BE49-F238E27FC236}">
                  <a16:creationId xmlns:a16="http://schemas.microsoft.com/office/drawing/2014/main" id="{1A6C5299-4088-F2C4-B6D5-FA53F4E0840D}"/>
                </a:ext>
              </a:extLst>
            </p:cNvPr>
            <p:cNvCxnSpPr/>
            <p:nvPr/>
          </p:nvCxnSpPr>
          <p:spPr>
            <a:xfrm rot="10800000" flipH="1">
              <a:off x="4957337" y="2127233"/>
              <a:ext cx="1179000" cy="1179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Google Shape;1304;p46">
              <a:extLst>
                <a:ext uri="{FF2B5EF4-FFF2-40B4-BE49-F238E27FC236}">
                  <a16:creationId xmlns:a16="http://schemas.microsoft.com/office/drawing/2014/main" id="{A2F9955E-9E98-9245-53F2-F56A3F9270B3}"/>
                </a:ext>
              </a:extLst>
            </p:cNvPr>
            <p:cNvCxnSpPr/>
            <p:nvPr/>
          </p:nvCxnSpPr>
          <p:spPr>
            <a:xfrm rot="10800000" flipH="1">
              <a:off x="5262137" y="2423633"/>
              <a:ext cx="1187400" cy="1187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7" name="Google Shape;1305;p46">
              <a:extLst>
                <a:ext uri="{FF2B5EF4-FFF2-40B4-BE49-F238E27FC236}">
                  <a16:creationId xmlns:a16="http://schemas.microsoft.com/office/drawing/2014/main" id="{263DD531-1F5A-6917-FF50-A3A5ED37B333}"/>
                </a:ext>
              </a:extLst>
            </p:cNvPr>
            <p:cNvSpPr txBox="1"/>
            <p:nvPr/>
          </p:nvSpPr>
          <p:spPr>
            <a:xfrm>
              <a:off x="1635025" y="604725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Timeout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306;p46">
              <a:extLst>
                <a:ext uri="{FF2B5EF4-FFF2-40B4-BE49-F238E27FC236}">
                  <a16:creationId xmlns:a16="http://schemas.microsoft.com/office/drawing/2014/main" id="{364D1BF1-7E02-6AAC-820B-2296FD2634C7}"/>
                </a:ext>
              </a:extLst>
            </p:cNvPr>
            <p:cNvSpPr txBox="1"/>
            <p:nvPr/>
          </p:nvSpPr>
          <p:spPr>
            <a:xfrm>
              <a:off x="530375" y="1345325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Dup ack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1307;p46">
              <a:extLst>
                <a:ext uri="{FF2B5EF4-FFF2-40B4-BE49-F238E27FC236}">
                  <a16:creationId xmlns:a16="http://schemas.microsoft.com/office/drawing/2014/main" id="{CE94DD7F-92C2-3F9D-5F51-1523C2E6ECE3}"/>
                </a:ext>
              </a:extLst>
            </p:cNvPr>
            <p:cNvSpPr txBox="1"/>
            <p:nvPr/>
          </p:nvSpPr>
          <p:spPr>
            <a:xfrm>
              <a:off x="599875" y="2264038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New ack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1308;p46">
              <a:extLst>
                <a:ext uri="{FF2B5EF4-FFF2-40B4-BE49-F238E27FC236}">
                  <a16:creationId xmlns:a16="http://schemas.microsoft.com/office/drawing/2014/main" id="{04ADACAC-BC57-5B2E-B0FA-54B1B4750039}"/>
                </a:ext>
              </a:extLst>
            </p:cNvPr>
            <p:cNvSpPr txBox="1"/>
            <p:nvPr/>
          </p:nvSpPr>
          <p:spPr>
            <a:xfrm>
              <a:off x="2126425" y="2885250"/>
              <a:ext cx="996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Dup ack x3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1309;p46">
              <a:extLst>
                <a:ext uri="{FF2B5EF4-FFF2-40B4-BE49-F238E27FC236}">
                  <a16:creationId xmlns:a16="http://schemas.microsoft.com/office/drawing/2014/main" id="{4C70B061-62BC-6F2D-CDDF-0D7CC337D781}"/>
                </a:ext>
              </a:extLst>
            </p:cNvPr>
            <p:cNvSpPr txBox="1"/>
            <p:nvPr/>
          </p:nvSpPr>
          <p:spPr>
            <a:xfrm>
              <a:off x="6021550" y="2885250"/>
              <a:ext cx="996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Dup ack x3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1310;p46">
              <a:extLst>
                <a:ext uri="{FF2B5EF4-FFF2-40B4-BE49-F238E27FC236}">
                  <a16:creationId xmlns:a16="http://schemas.microsoft.com/office/drawing/2014/main" id="{C4F545FA-D9B9-B0BE-C8C3-940E4B6DE0B6}"/>
                </a:ext>
              </a:extLst>
            </p:cNvPr>
            <p:cNvSpPr txBox="1"/>
            <p:nvPr/>
          </p:nvSpPr>
          <p:spPr>
            <a:xfrm>
              <a:off x="3643275" y="2504250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Timeout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1311;p46">
              <a:extLst>
                <a:ext uri="{FF2B5EF4-FFF2-40B4-BE49-F238E27FC236}">
                  <a16:creationId xmlns:a16="http://schemas.microsoft.com/office/drawing/2014/main" id="{E864F5CC-5118-E8C6-FC99-48627436C1B7}"/>
                </a:ext>
              </a:extLst>
            </p:cNvPr>
            <p:cNvSpPr txBox="1"/>
            <p:nvPr/>
          </p:nvSpPr>
          <p:spPr>
            <a:xfrm>
              <a:off x="4733800" y="2504250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New ack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" name="Google Shape;1312;p46">
              <a:extLst>
                <a:ext uri="{FF2B5EF4-FFF2-40B4-BE49-F238E27FC236}">
                  <a16:creationId xmlns:a16="http://schemas.microsoft.com/office/drawing/2014/main" id="{E15B6410-F573-12C2-62B4-0850F28F886E}"/>
                </a:ext>
              </a:extLst>
            </p:cNvPr>
            <p:cNvSpPr txBox="1"/>
            <p:nvPr/>
          </p:nvSpPr>
          <p:spPr>
            <a:xfrm>
              <a:off x="7820625" y="2264038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Dup ack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1313;p46">
              <a:extLst>
                <a:ext uri="{FF2B5EF4-FFF2-40B4-BE49-F238E27FC236}">
                  <a16:creationId xmlns:a16="http://schemas.microsoft.com/office/drawing/2014/main" id="{C4E6FA05-9339-C3A2-3C4D-B689F741547B}"/>
                </a:ext>
              </a:extLst>
            </p:cNvPr>
            <p:cNvSpPr txBox="1"/>
            <p:nvPr/>
          </p:nvSpPr>
          <p:spPr>
            <a:xfrm>
              <a:off x="7820625" y="946238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New ack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1314;p46">
              <a:extLst>
                <a:ext uri="{FF2B5EF4-FFF2-40B4-BE49-F238E27FC236}">
                  <a16:creationId xmlns:a16="http://schemas.microsoft.com/office/drawing/2014/main" id="{3BC8CB42-D41D-3868-E3DF-688A49BFDC9A}"/>
                </a:ext>
              </a:extLst>
            </p:cNvPr>
            <p:cNvSpPr txBox="1"/>
            <p:nvPr/>
          </p:nvSpPr>
          <p:spPr>
            <a:xfrm>
              <a:off x="2428225" y="3855088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Dup ack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1315;p46">
              <a:extLst>
                <a:ext uri="{FF2B5EF4-FFF2-40B4-BE49-F238E27FC236}">
                  <a16:creationId xmlns:a16="http://schemas.microsoft.com/office/drawing/2014/main" id="{533D342C-AC99-ADB8-8CD9-738CA0C829FD}"/>
                </a:ext>
              </a:extLst>
            </p:cNvPr>
            <p:cNvSpPr txBox="1"/>
            <p:nvPr/>
          </p:nvSpPr>
          <p:spPr>
            <a:xfrm>
              <a:off x="3746775" y="1325775"/>
              <a:ext cx="1839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i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CWND</a:t>
              </a: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&gt; </a:t>
              </a:r>
              <a:r>
                <a:rPr lang="en" sz="1600" i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SSTHRESH</a:t>
              </a:r>
              <a:endParaRPr sz="16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" name="Google Shape;1316;p46">
              <a:extLst>
                <a:ext uri="{FF2B5EF4-FFF2-40B4-BE49-F238E27FC236}">
                  <a16:creationId xmlns:a16="http://schemas.microsoft.com/office/drawing/2014/main" id="{B86FDED7-119F-89AD-60D0-B9A112F14775}"/>
                </a:ext>
              </a:extLst>
            </p:cNvPr>
            <p:cNvSpPr txBox="1"/>
            <p:nvPr/>
          </p:nvSpPr>
          <p:spPr>
            <a:xfrm>
              <a:off x="4270125" y="1877888"/>
              <a:ext cx="79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Timeout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" name="Google Shape;1317;p46">
              <a:extLst>
                <a:ext uri="{FF2B5EF4-FFF2-40B4-BE49-F238E27FC236}">
                  <a16:creationId xmlns:a16="http://schemas.microsoft.com/office/drawing/2014/main" id="{611C44DC-72EE-BE3B-5897-1D9094476C9C}"/>
                </a:ext>
              </a:extLst>
            </p:cNvPr>
            <p:cNvCxnSpPr/>
            <p:nvPr/>
          </p:nvCxnSpPr>
          <p:spPr>
            <a:xfrm>
              <a:off x="3102950" y="1570050"/>
              <a:ext cx="2937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" name="Google Shape;1318;p46">
              <a:extLst>
                <a:ext uri="{FF2B5EF4-FFF2-40B4-BE49-F238E27FC236}">
                  <a16:creationId xmlns:a16="http://schemas.microsoft.com/office/drawing/2014/main" id="{6CFC623F-09B4-6CCA-29C3-0D07669283C8}"/>
                </a:ext>
              </a:extLst>
            </p:cNvPr>
            <p:cNvCxnSpPr/>
            <p:nvPr/>
          </p:nvCxnSpPr>
          <p:spPr>
            <a:xfrm>
              <a:off x="3102950" y="1874850"/>
              <a:ext cx="2937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1108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189006AD-433E-249B-5DE3-60FB2A0CAC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Setting Window Size: Summary</a:t>
            </a:r>
          </a:p>
        </p:txBody>
      </p:sp>
      <p:sp>
        <p:nvSpPr>
          <p:cNvPr id="3" name="Google Shape;1152;p75">
            <a:extLst>
              <a:ext uri="{FF2B5EF4-FFF2-40B4-BE49-F238E27FC236}">
                <a16:creationId xmlns:a16="http://schemas.microsoft.com/office/drawing/2014/main" id="{9A8F47DD-2B51-A87A-3954-107444B11450}"/>
              </a:ext>
            </a:extLst>
          </p:cNvPr>
          <p:cNvSpPr txBox="1">
            <a:spLocks/>
          </p:cNvSpPr>
          <p:nvPr/>
        </p:nvSpPr>
        <p:spPr>
          <a:xfrm>
            <a:off x="404228" y="1163699"/>
            <a:ext cx="11383543" cy="52572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How big should the window be?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Pick window size </a:t>
            </a:r>
            <a:r>
              <a:rPr lang="en-US" sz="2400" i="1" dirty="0"/>
              <a:t>W</a:t>
            </a:r>
            <a:r>
              <a:rPr lang="en-US" sz="2400" dirty="0"/>
              <a:t> to balance three goals: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400" dirty="0"/>
              <a:t>Take advantage of network capacity ("fill the pipe")... </a:t>
            </a:r>
            <a:r>
              <a:rPr lang="en-US" sz="2000" dirty="0">
                <a:solidFill>
                  <a:schemeClr val="accent3"/>
                </a:solidFill>
              </a:rPr>
              <a:t>(set </a:t>
            </a:r>
            <a:r>
              <a:rPr lang="en-US" sz="2000" i="1" dirty="0">
                <a:solidFill>
                  <a:schemeClr val="accent3"/>
                </a:solidFill>
              </a:rPr>
              <a:t>W</a:t>
            </a:r>
            <a:r>
              <a:rPr lang="en-US" sz="2000" dirty="0">
                <a:solidFill>
                  <a:schemeClr val="accent3"/>
                </a:solidFill>
              </a:rPr>
              <a:t> = RTT × bandwidth)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400" dirty="0"/>
              <a:t>...but don't overload the recipient (</a:t>
            </a:r>
            <a:r>
              <a:rPr lang="en-US" sz="2400" dirty="0">
                <a:solidFill>
                  <a:srgbClr val="C00000"/>
                </a:solidFill>
              </a:rPr>
              <a:t>flow control</a:t>
            </a:r>
            <a:r>
              <a:rPr lang="en-US" sz="2400" dirty="0"/>
              <a:t>)... </a:t>
            </a:r>
            <a:r>
              <a:rPr lang="en-US" sz="2000" dirty="0">
                <a:solidFill>
                  <a:schemeClr val="accent3"/>
                </a:solidFill>
              </a:rPr>
              <a:t>(set </a:t>
            </a:r>
            <a:r>
              <a:rPr lang="en-US" sz="2000" i="1" dirty="0">
                <a:solidFill>
                  <a:schemeClr val="accent3"/>
                </a:solidFill>
              </a:rPr>
              <a:t>W</a:t>
            </a:r>
            <a:r>
              <a:rPr lang="en-US" sz="2000" dirty="0">
                <a:solidFill>
                  <a:schemeClr val="accent3"/>
                </a:solidFill>
              </a:rPr>
              <a:t> = recipient's advertised window)</a:t>
            </a:r>
            <a:endParaRPr lang="en-US" sz="2000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400" dirty="0"/>
              <a:t>...and don't overload links (</a:t>
            </a:r>
            <a:r>
              <a:rPr lang="en-US" sz="2400" dirty="0">
                <a:solidFill>
                  <a:srgbClr val="C00000"/>
                </a:solidFill>
              </a:rPr>
              <a:t>congestion control</a:t>
            </a:r>
            <a:r>
              <a:rPr lang="en-US" sz="2400" dirty="0"/>
              <a:t>). </a:t>
            </a:r>
            <a:r>
              <a:rPr lang="en-US" sz="2000" dirty="0">
                <a:solidFill>
                  <a:schemeClr val="accent3"/>
                </a:solidFill>
              </a:rPr>
              <a:t>(set </a:t>
            </a:r>
            <a:r>
              <a:rPr lang="en-US" sz="2000" i="1" dirty="0">
                <a:solidFill>
                  <a:schemeClr val="accent3"/>
                </a:solidFill>
              </a:rPr>
              <a:t>W</a:t>
            </a:r>
            <a:r>
              <a:rPr lang="en-US" sz="2000" dirty="0">
                <a:solidFill>
                  <a:schemeClr val="accent3"/>
                </a:solidFill>
              </a:rPr>
              <a:t> = sender's congestion window)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</a:rPr>
              <a:t>Ideally: </a:t>
            </a:r>
            <a:r>
              <a:rPr lang="en-US" sz="2400" i="1" dirty="0">
                <a:solidFill>
                  <a:srgbClr val="000000"/>
                </a:solidFill>
              </a:rPr>
              <a:t>W</a:t>
            </a:r>
            <a:r>
              <a:rPr lang="en-US" sz="2400" dirty="0">
                <a:solidFill>
                  <a:srgbClr val="000000"/>
                </a:solidFill>
              </a:rPr>
              <a:t> is set to the minimum of the 3 values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0000"/>
                </a:solidFill>
              </a:rPr>
              <a:t>In practice</a:t>
            </a:r>
            <a:r>
              <a:rPr lang="en-US" sz="2400" dirty="0">
                <a:solidFill>
                  <a:srgbClr val="000000"/>
                </a:solidFill>
              </a:rPr>
              <a:t>: </a:t>
            </a:r>
            <a:r>
              <a:rPr lang="en-US" sz="2400" i="1" dirty="0">
                <a:solidFill>
                  <a:srgbClr val="000000"/>
                </a:solidFill>
              </a:rPr>
              <a:t>W</a:t>
            </a:r>
            <a:r>
              <a:rPr lang="en-US" sz="2400" dirty="0">
                <a:solidFill>
                  <a:srgbClr val="000000"/>
                </a:solidFill>
              </a:rPr>
              <a:t> is the minimum of advertised window (2) and congestion window (3)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000000"/>
                </a:solidFill>
              </a:rPr>
              <a:t>It's hard for the sender to discover the bottleneck bandwidth and calculate (1)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000000"/>
                </a:solidFill>
              </a:rPr>
              <a:t>Congestion window ≤ pipe-filling window</a:t>
            </a:r>
            <a:br>
              <a:rPr lang="en-US" sz="2400" dirty="0">
                <a:solidFill>
                  <a:srgbClr val="000000"/>
                </a:solidFill>
              </a:rPr>
            </a:br>
            <a:r>
              <a:rPr lang="en-US" sz="2400" dirty="0">
                <a:solidFill>
                  <a:srgbClr val="000000"/>
                </a:solidFill>
              </a:rPr>
              <a:t>Equal if we're the only connection, less than if sharing bandwidth with others</a:t>
            </a:r>
          </a:p>
        </p:txBody>
      </p:sp>
    </p:spTree>
    <p:extLst>
      <p:ext uri="{BB962C8B-B14F-4D97-AF65-F5344CB8AC3E}">
        <p14:creationId xmlns:p14="http://schemas.microsoft.com/office/powerpoint/2010/main" val="3395913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69AFE-BCD2-CD6C-C6F7-465AA508B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3CF8-1D24-7D5A-31A7-666B07271558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DD1D377-496F-BA15-B633-467B2295C8BC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implementation: sliding window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 control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Congestion control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TCP header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26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1CD3ADF5-1850-5FC7-8E30-528B6DDC2EB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TCP Header</a:t>
            </a:r>
          </a:p>
        </p:txBody>
      </p:sp>
      <p:sp>
        <p:nvSpPr>
          <p:cNvPr id="3" name="Google Shape;1295;p52">
            <a:extLst>
              <a:ext uri="{FF2B5EF4-FFF2-40B4-BE49-F238E27FC236}">
                <a16:creationId xmlns:a16="http://schemas.microsoft.com/office/drawing/2014/main" id="{FB536A3E-85E1-273D-E9D8-04CC4889A9C6}"/>
              </a:ext>
            </a:extLst>
          </p:cNvPr>
          <p:cNvSpPr txBox="1">
            <a:spLocks/>
          </p:cNvSpPr>
          <p:nvPr/>
        </p:nvSpPr>
        <p:spPr>
          <a:xfrm>
            <a:off x="492640" y="743723"/>
            <a:ext cx="8909700" cy="24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/>
              <a:t>What functions does TCP implement?</a:t>
            </a:r>
          </a:p>
          <a:p>
            <a:pPr marL="457200" indent="-342900">
              <a:spcBef>
                <a:spcPts val="600"/>
              </a:spcBef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F4CCCC"/>
                </a:highlight>
              </a:rPr>
              <a:t>Demultiplexing</a:t>
            </a:r>
            <a:r>
              <a:rPr lang="en-US" dirty="0"/>
              <a:t> 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i="1" dirty="0">
                <a:solidFill>
                  <a:schemeClr val="accent3"/>
                </a:solidFill>
              </a:rPr>
              <a:t>ports</a:t>
            </a:r>
            <a:r>
              <a:rPr lang="en-US" sz="1400" dirty="0">
                <a:solidFill>
                  <a:schemeClr val="accent3"/>
                </a:solidFill>
              </a:rPr>
              <a:t>)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FCE5CD"/>
                </a:highlight>
              </a:rPr>
              <a:t>Reliability</a:t>
            </a:r>
            <a:r>
              <a:rPr lang="en-US" dirty="0"/>
              <a:t> 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i="1" dirty="0">
                <a:solidFill>
                  <a:schemeClr val="accent3"/>
                </a:solidFill>
              </a:rPr>
              <a:t>checksum, sequence and ack numbers</a:t>
            </a:r>
            <a:r>
              <a:rPr lang="en-US" sz="1400" dirty="0">
                <a:solidFill>
                  <a:schemeClr val="accent3"/>
                </a:solidFill>
              </a:rPr>
              <a:t>)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D9EAD3"/>
                </a:highlight>
              </a:rPr>
              <a:t>Connection setup and teardown</a:t>
            </a:r>
            <a:r>
              <a:rPr lang="en-US" dirty="0"/>
              <a:t> 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i="1" dirty="0">
                <a:solidFill>
                  <a:schemeClr val="accent3"/>
                </a:solidFill>
              </a:rPr>
              <a:t>flags</a:t>
            </a:r>
            <a:r>
              <a:rPr lang="en-US" sz="1400" dirty="0">
                <a:solidFill>
                  <a:schemeClr val="accent3"/>
                </a:solidFill>
              </a:rPr>
              <a:t>)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CFE2F3"/>
                </a:highlight>
              </a:rPr>
              <a:t>Flow control</a:t>
            </a:r>
            <a:r>
              <a:rPr lang="en-US" dirty="0"/>
              <a:t> 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i="1" dirty="0">
                <a:solidFill>
                  <a:schemeClr val="accent3"/>
                </a:solidFill>
              </a:rPr>
              <a:t>advertised window/receive window, </a:t>
            </a:r>
            <a:r>
              <a:rPr lang="en-US" sz="1400" b="1" i="1" dirty="0">
                <a:solidFill>
                  <a:schemeClr val="accent3"/>
                </a:solidFill>
              </a:rPr>
              <a:t>rwnd</a:t>
            </a:r>
            <a:r>
              <a:rPr lang="en-US" sz="1400" dirty="0">
                <a:solidFill>
                  <a:schemeClr val="accent3"/>
                </a:solidFill>
              </a:rPr>
              <a:t>)</a:t>
            </a:r>
          </a:p>
        </p:txBody>
      </p:sp>
      <p:graphicFrame>
        <p:nvGraphicFramePr>
          <p:cNvPr id="4" name="Google Shape;1296;p52">
            <a:extLst>
              <a:ext uri="{FF2B5EF4-FFF2-40B4-BE49-F238E27FC236}">
                <a16:creationId xmlns:a16="http://schemas.microsoft.com/office/drawing/2014/main" id="{96D713B4-F407-A420-086F-401CB56961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9843982"/>
              </p:ext>
            </p:extLst>
          </p:nvPr>
        </p:nvGraphicFramePr>
        <p:xfrm>
          <a:off x="1524000" y="3270758"/>
          <a:ext cx="9144000" cy="356615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451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Port (16 bits)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Port (16 bits)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Sequence Number (32 bits)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CE5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Acknowledgment Number (32 bits)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CE5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(8 bits)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Advertised Window (16 bits)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Checksum (16 bits)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CE5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Urgent Pointer (16 bits)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TCP </a:t>
                      </a: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(variable-length)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470398D-EECB-1B23-F7C4-2DF8D52C3766}"/>
              </a:ext>
            </a:extLst>
          </p:cNvPr>
          <p:cNvGrpSpPr/>
          <p:nvPr/>
        </p:nvGrpSpPr>
        <p:grpSpPr>
          <a:xfrm>
            <a:off x="1524000" y="2861077"/>
            <a:ext cx="9144000" cy="366713"/>
            <a:chOff x="4324123" y="1145724"/>
            <a:chExt cx="3935412" cy="366713"/>
          </a:xfrm>
        </p:grpSpPr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380A8952-C510-32D8-BF58-EB223615F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2248" y="1145724"/>
              <a:ext cx="857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C91A150C-A358-DAB8-4280-EDA933316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57290D44-6901-CF4D-FAB0-F287A0BAED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" name="Google Shape;685;p58">
            <a:extLst>
              <a:ext uri="{FF2B5EF4-FFF2-40B4-BE49-F238E27FC236}">
                <a16:creationId xmlns:a16="http://schemas.microsoft.com/office/drawing/2014/main" id="{78FA7A06-BFE9-2DBD-7708-A169E2EBF74D}"/>
              </a:ext>
            </a:extLst>
          </p:cNvPr>
          <p:cNvSpPr txBox="1"/>
          <p:nvPr/>
        </p:nvSpPr>
        <p:spPr>
          <a:xfrm rot="5400000">
            <a:off x="10255730" y="4577201"/>
            <a:ext cx="14589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latin typeface="Roboto"/>
                <a:ea typeface="Roboto"/>
                <a:cs typeface="Roboto"/>
                <a:sym typeface="Roboto"/>
              </a:rPr>
              <a:t>TCP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 Header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682;p58">
            <a:extLst>
              <a:ext uri="{FF2B5EF4-FFF2-40B4-BE49-F238E27FC236}">
                <a16:creationId xmlns:a16="http://schemas.microsoft.com/office/drawing/2014/main" id="{3C28BDE1-2FE7-904A-E27E-04AA34C72AB2}"/>
              </a:ext>
            </a:extLst>
          </p:cNvPr>
          <p:cNvSpPr txBox="1"/>
          <p:nvPr/>
        </p:nvSpPr>
        <p:spPr>
          <a:xfrm>
            <a:off x="10668000" y="6346586"/>
            <a:ext cx="1524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TCP Payload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815F54-4743-C4E9-E5A8-2D5700AB2A79}"/>
              </a:ext>
            </a:extLst>
          </p:cNvPr>
          <p:cNvCxnSpPr>
            <a:cxnSpLocks/>
          </p:cNvCxnSpPr>
          <p:nvPr/>
        </p:nvCxnSpPr>
        <p:spPr>
          <a:xfrm>
            <a:off x="10668000" y="3290542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93671B-0BE0-222B-A5D9-9D1C7FEDEFD1}"/>
              </a:ext>
            </a:extLst>
          </p:cNvPr>
          <p:cNvCxnSpPr>
            <a:cxnSpLocks/>
          </p:cNvCxnSpPr>
          <p:nvPr/>
        </p:nvCxnSpPr>
        <p:spPr>
          <a:xfrm>
            <a:off x="10668000" y="6325494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56E3A0-324E-93D0-C478-1668D07337C2}"/>
              </a:ext>
            </a:extLst>
          </p:cNvPr>
          <p:cNvCxnSpPr>
            <a:cxnSpLocks/>
          </p:cNvCxnSpPr>
          <p:nvPr/>
        </p:nvCxnSpPr>
        <p:spPr>
          <a:xfrm>
            <a:off x="10668000" y="6789398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118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1;p62">
            <a:extLst>
              <a:ext uri="{FF2B5EF4-FFF2-40B4-BE49-F238E27FC236}">
                <a16:creationId xmlns:a16="http://schemas.microsoft.com/office/drawing/2014/main" id="{85D38E3F-38B3-2F6C-9E6F-1965E8350FF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24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TCP Header</a:t>
            </a:r>
          </a:p>
        </p:txBody>
      </p:sp>
      <p:sp>
        <p:nvSpPr>
          <p:cNvPr id="3" name="Google Shape;1302;p53">
            <a:extLst>
              <a:ext uri="{FF2B5EF4-FFF2-40B4-BE49-F238E27FC236}">
                <a16:creationId xmlns:a16="http://schemas.microsoft.com/office/drawing/2014/main" id="{05B392E7-50A1-1A89-A5B5-730C4CD15973}"/>
              </a:ext>
            </a:extLst>
          </p:cNvPr>
          <p:cNvSpPr txBox="1">
            <a:spLocks/>
          </p:cNvSpPr>
          <p:nvPr/>
        </p:nvSpPr>
        <p:spPr>
          <a:xfrm>
            <a:off x="134315" y="528472"/>
            <a:ext cx="11923369" cy="26664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There are 8 flags that can be set in TCP. We care about 4 of them: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SYN: I'm sending my initial sequence number.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ACK: I'm </a:t>
            </a:r>
            <a:r>
              <a:rPr lang="en-US" sz="2400" dirty="0" err="1"/>
              <a:t>acking</a:t>
            </a:r>
            <a:r>
              <a:rPr lang="en-US" sz="2400" dirty="0"/>
              <a:t> data (please look at the ack number).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FIN: I'm done sending data, but will keep receiving data.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RST: I'm done sending and receiving data.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We won't look at the other four: CWR, ECE, URG, PSH.</a:t>
            </a:r>
          </a:p>
        </p:txBody>
      </p:sp>
      <p:graphicFrame>
        <p:nvGraphicFramePr>
          <p:cNvPr id="4" name="Google Shape;1303;p53">
            <a:extLst>
              <a:ext uri="{FF2B5EF4-FFF2-40B4-BE49-F238E27FC236}">
                <a16:creationId xmlns:a16="http://schemas.microsoft.com/office/drawing/2014/main" id="{5E1203D0-9EDA-00AB-03B5-E01FE909A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5372946"/>
              </p:ext>
            </p:extLst>
          </p:nvPr>
        </p:nvGraphicFramePr>
        <p:xfrm>
          <a:off x="1524000" y="3291843"/>
          <a:ext cx="9144000" cy="356615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9451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Port (16)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Port (16)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Sequence Number (32)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Acknowledgment Number (32)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(8)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Advertised Window (16)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Checksum (16)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Urgent Pointer (16)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TCP Options (variable-length)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Google Shape;685;p58">
            <a:extLst>
              <a:ext uri="{FF2B5EF4-FFF2-40B4-BE49-F238E27FC236}">
                <a16:creationId xmlns:a16="http://schemas.microsoft.com/office/drawing/2014/main" id="{357F64A7-7E98-EBC1-8DCF-74357F6F33A7}"/>
              </a:ext>
            </a:extLst>
          </p:cNvPr>
          <p:cNvSpPr txBox="1"/>
          <p:nvPr/>
        </p:nvSpPr>
        <p:spPr>
          <a:xfrm rot="5400000">
            <a:off x="10255730" y="4577201"/>
            <a:ext cx="14589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latin typeface="Roboto"/>
                <a:ea typeface="Roboto"/>
                <a:cs typeface="Roboto"/>
                <a:sym typeface="Roboto"/>
              </a:rPr>
              <a:t>TCP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 Header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682;p58">
            <a:extLst>
              <a:ext uri="{FF2B5EF4-FFF2-40B4-BE49-F238E27FC236}">
                <a16:creationId xmlns:a16="http://schemas.microsoft.com/office/drawing/2014/main" id="{2511D068-646C-F4B1-699F-A59616DC3DF8}"/>
              </a:ext>
            </a:extLst>
          </p:cNvPr>
          <p:cNvSpPr txBox="1"/>
          <p:nvPr/>
        </p:nvSpPr>
        <p:spPr>
          <a:xfrm>
            <a:off x="10668000" y="6346586"/>
            <a:ext cx="1524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TCP Payload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7A9B81-6FD2-A330-9EFF-2530EF623616}"/>
              </a:ext>
            </a:extLst>
          </p:cNvPr>
          <p:cNvCxnSpPr>
            <a:cxnSpLocks/>
          </p:cNvCxnSpPr>
          <p:nvPr/>
        </p:nvCxnSpPr>
        <p:spPr>
          <a:xfrm>
            <a:off x="10668000" y="3290542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9ACFCF-57CA-FAC4-5D41-A93071F55FAB}"/>
              </a:ext>
            </a:extLst>
          </p:cNvPr>
          <p:cNvCxnSpPr>
            <a:cxnSpLocks/>
          </p:cNvCxnSpPr>
          <p:nvPr/>
        </p:nvCxnSpPr>
        <p:spPr>
          <a:xfrm>
            <a:off x="10668000" y="6325494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F6DB84-274B-14DB-90C8-66F5530B1096}"/>
              </a:ext>
            </a:extLst>
          </p:cNvPr>
          <p:cNvCxnSpPr>
            <a:cxnSpLocks/>
          </p:cNvCxnSpPr>
          <p:nvPr/>
        </p:nvCxnSpPr>
        <p:spPr>
          <a:xfrm>
            <a:off x="10668000" y="6789398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71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2628</TotalTime>
  <Words>4239</Words>
  <Application>Microsoft Office PowerPoint</Application>
  <PresentationFormat>Widescreen</PresentationFormat>
  <Paragraphs>813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ＭＳ Ｐゴシック</vt:lpstr>
      <vt:lpstr>Aptos</vt:lpstr>
      <vt:lpstr>Aptos Display</vt:lpstr>
      <vt:lpstr>Arial</vt:lpstr>
      <vt:lpstr>Calibri</vt:lpstr>
      <vt:lpstr>Consolas</vt:lpstr>
      <vt:lpstr>Courier New</vt:lpstr>
      <vt:lpstr>Roboto</vt:lpstr>
      <vt:lpstr>Tahoma</vt:lpstr>
      <vt:lpstr>Wingdings</vt:lpstr>
      <vt:lpstr>Office Theme</vt:lpstr>
      <vt:lpstr>CSC 3511 Security and Networking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424</cp:revision>
  <dcterms:created xsi:type="dcterms:W3CDTF">2025-09-03T22:06:31Z</dcterms:created>
  <dcterms:modified xsi:type="dcterms:W3CDTF">2025-09-19T21:19:15Z</dcterms:modified>
</cp:coreProperties>
</file>