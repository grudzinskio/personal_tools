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505" r:id="rId2"/>
    <p:sldId id="1435" r:id="rId3"/>
    <p:sldId id="1436" r:id="rId4"/>
    <p:sldId id="504" r:id="rId5"/>
    <p:sldId id="1437" r:id="rId6"/>
    <p:sldId id="300" r:id="rId7"/>
    <p:sldId id="301" r:id="rId8"/>
    <p:sldId id="299" r:id="rId9"/>
    <p:sldId id="1438" r:id="rId10"/>
    <p:sldId id="518" r:id="rId11"/>
    <p:sldId id="304" r:id="rId12"/>
    <p:sldId id="1439" r:id="rId13"/>
    <p:sldId id="307" r:id="rId14"/>
    <p:sldId id="308" r:id="rId15"/>
    <p:sldId id="309" r:id="rId16"/>
    <p:sldId id="310" r:id="rId17"/>
    <p:sldId id="311" r:id="rId18"/>
    <p:sldId id="312" r:id="rId19"/>
    <p:sldId id="313" r:id="rId20"/>
    <p:sldId id="314" r:id="rId21"/>
    <p:sldId id="315" r:id="rId22"/>
    <p:sldId id="1440" r:id="rId23"/>
    <p:sldId id="392" r:id="rId24"/>
    <p:sldId id="316" r:id="rId25"/>
    <p:sldId id="319" r:id="rId26"/>
    <p:sldId id="321" r:id="rId27"/>
    <p:sldId id="322" r:id="rId28"/>
    <p:sldId id="323" r:id="rId29"/>
    <p:sldId id="32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079" autoAdjust="0"/>
  </p:normalViewPr>
  <p:slideViewPr>
    <p:cSldViewPr snapToGrid="0">
      <p:cViewPr varScale="1">
        <p:scale>
          <a:sx n="105" d="100"/>
          <a:sy n="105" d="100"/>
        </p:scale>
        <p:origin x="1090" y="91"/>
      </p:cViewPr>
      <p:guideLst/>
    </p:cSldViewPr>
  </p:slideViewPr>
  <p:notesTextViewPr>
    <p:cViewPr>
      <p:scale>
        <a:sx n="1" d="1"/>
        <a:sy n="1" d="1"/>
      </p:scale>
      <p:origin x="0" y="0"/>
    </p:cViewPr>
  </p:notesTextViewPr>
  <p:sorterViewPr>
    <p:cViewPr>
      <p:scale>
        <a:sx n="100" d="100"/>
        <a:sy n="100" d="100"/>
      </p:scale>
      <p:origin x="0" y="-304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D9EA63-885E-4EB8-879A-527FAB291539}" type="datetimeFigureOut">
              <a:rPr lang="en-US" smtClean="0"/>
              <a:t>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035AAC-7370-4508-BC8A-A8FB0FFDBC93}" type="slidenum">
              <a:rPr lang="en-US" smtClean="0"/>
              <a:t>‹#›</a:t>
            </a:fld>
            <a:endParaRPr lang="en-US"/>
          </a:p>
        </p:txBody>
      </p:sp>
    </p:spTree>
    <p:extLst>
      <p:ext uri="{BB962C8B-B14F-4D97-AF65-F5344CB8AC3E}">
        <p14:creationId xmlns:p14="http://schemas.microsoft.com/office/powerpoint/2010/main" val="2637827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0" dirty="0"/>
              <a:t>SHA 1: </a:t>
            </a:r>
            <a:r>
              <a:rPr lang="en-US" sz="1200" b="0" i="0" kern="1200" dirty="0">
                <a:solidFill>
                  <a:schemeClr val="tx1"/>
                </a:solidFill>
                <a:effectLst/>
                <a:latin typeface="+mn-lt"/>
                <a:ea typeface="+mn-ea"/>
                <a:cs typeface="+mn-cs"/>
              </a:rPr>
              <a:t>Secure Hash Algorithm 1</a:t>
            </a:r>
            <a:endParaRPr lang="en-US" b="0" dirty="0"/>
          </a:p>
        </p:txBody>
      </p:sp>
      <p:sp>
        <p:nvSpPr>
          <p:cNvPr id="4" name="Slide Number Placeholder 3"/>
          <p:cNvSpPr>
            <a:spLocks noGrp="1"/>
          </p:cNvSpPr>
          <p:nvPr>
            <p:ph type="sldNum" sz="quarter" idx="5"/>
          </p:nvPr>
        </p:nvSpPr>
        <p:spPr/>
        <p:txBody>
          <a:bodyPr/>
          <a:lstStyle/>
          <a:p>
            <a:fld id="{D7035AAC-7370-4508-BC8A-A8FB0FFDBC93}" type="slidenum">
              <a:rPr lang="en-US" smtClean="0"/>
              <a:t>4</a:t>
            </a:fld>
            <a:endParaRPr lang="en-US"/>
          </a:p>
        </p:txBody>
      </p:sp>
    </p:spTree>
    <p:extLst>
      <p:ext uri="{BB962C8B-B14F-4D97-AF65-F5344CB8AC3E}">
        <p14:creationId xmlns:p14="http://schemas.microsoft.com/office/powerpoint/2010/main" val="130105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BEE89-F272-9E51-501E-E1C60A84C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6ED2F1-C138-A8C4-44E7-513474686AE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D9A8582-E430-983C-A121-758FCA8500C4}"/>
              </a:ext>
            </a:extLst>
          </p:cNvPr>
          <p:cNvSpPr>
            <a:spLocks noGrp="1"/>
          </p:cNvSpPr>
          <p:nvPr>
            <p:ph type="body" idx="1"/>
          </p:nvPr>
        </p:nvSpPr>
        <p:spPr/>
        <p:txBody>
          <a:bodyPr/>
          <a:lstStyle/>
          <a:p>
            <a:r>
              <a:rPr lang="en-US" dirty="0"/>
              <a:t>The initialism "MD" stands for "Message Digest”</a:t>
            </a:r>
          </a:p>
          <a:p>
            <a:r>
              <a:rPr lang="en-US" dirty="0"/>
              <a:t>SHA: Secure Hash Algorithm</a:t>
            </a:r>
          </a:p>
        </p:txBody>
      </p:sp>
      <p:sp>
        <p:nvSpPr>
          <p:cNvPr id="4" name="Slide Number Placeholder 3">
            <a:extLst>
              <a:ext uri="{FF2B5EF4-FFF2-40B4-BE49-F238E27FC236}">
                <a16:creationId xmlns:a16="http://schemas.microsoft.com/office/drawing/2014/main" id="{66EADEDC-57C5-2403-B28E-A6EAEB121D0F}"/>
              </a:ext>
            </a:extLst>
          </p:cNvPr>
          <p:cNvSpPr>
            <a:spLocks noGrp="1"/>
          </p:cNvSpPr>
          <p:nvPr>
            <p:ph type="sldNum" sz="quarter" idx="5"/>
          </p:nvPr>
        </p:nvSpPr>
        <p:spPr/>
        <p:txBody>
          <a:bodyPr/>
          <a:lstStyle/>
          <a:p>
            <a:fld id="{2683CC22-64A4-416D-8B38-22AAE0E6C48F}" type="slidenum">
              <a:rPr lang="en-US" smtClean="0"/>
              <a:t>10</a:t>
            </a:fld>
            <a:endParaRPr lang="en-US"/>
          </a:p>
        </p:txBody>
      </p:sp>
    </p:spTree>
    <p:extLst>
      <p:ext uri="{BB962C8B-B14F-4D97-AF65-F5344CB8AC3E}">
        <p14:creationId xmlns:p14="http://schemas.microsoft.com/office/powerpoint/2010/main" val="3592924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Why digital signatures can provide integrity?</a:t>
            </a:r>
          </a:p>
        </p:txBody>
      </p:sp>
      <p:sp>
        <p:nvSpPr>
          <p:cNvPr id="4" name="Slide Number Placeholder 3"/>
          <p:cNvSpPr>
            <a:spLocks noGrp="1"/>
          </p:cNvSpPr>
          <p:nvPr>
            <p:ph type="sldNum" sz="quarter" idx="5"/>
          </p:nvPr>
        </p:nvSpPr>
        <p:spPr/>
        <p:txBody>
          <a:bodyPr/>
          <a:lstStyle/>
          <a:p>
            <a:fld id="{D7035AAC-7370-4508-BC8A-A8FB0FFDBC93}" type="slidenum">
              <a:rPr lang="en-US" smtClean="0"/>
              <a:t>11</a:t>
            </a:fld>
            <a:endParaRPr lang="en-US"/>
          </a:p>
        </p:txBody>
      </p:sp>
    </p:spTree>
    <p:extLst>
      <p:ext uri="{BB962C8B-B14F-4D97-AF65-F5344CB8AC3E}">
        <p14:creationId xmlns:p14="http://schemas.microsoft.com/office/powerpoint/2010/main" val="2138402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035AAC-7370-4508-BC8A-A8FB0FFDBC93}" type="slidenum">
              <a:rPr lang="en-US" smtClean="0"/>
              <a:t>14</a:t>
            </a:fld>
            <a:endParaRPr lang="en-US"/>
          </a:p>
        </p:txBody>
      </p:sp>
    </p:spTree>
    <p:extLst>
      <p:ext uri="{BB962C8B-B14F-4D97-AF65-F5344CB8AC3E}">
        <p14:creationId xmlns:p14="http://schemas.microsoft.com/office/powerpoint/2010/main" val="82002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28600" indent="-228600">
              <a:buAutoNum type="arabicPeriod"/>
            </a:pPr>
            <a:r>
              <a:rPr lang="en-US" dirty="0"/>
              <a:t>Length Extension Attack: Many hash functions (like MD5 and SHA-1) are vulnerable to length extension attacks. In a length extension attack, if an attacker knows the hash of a message 𝑀 and the internal workings of the hash function, they can create a valid hash for 𝑀∥𝑀′  (where 𝑀′  is an extension of 𝑀) without knowing the actual contents of 𝑀.For example, if the attacker sees a hash of the form 𝐻(𝐾∥𝑀), they could exploit the hash structure to extend 𝑀 with additional data 𝑀′ , resulting in 𝐻(𝐾∥𝑀∥𝑀′) and generate a valid hash for this extended message. This allows them to "forge" a valid tag for a new message derived from 𝑀M without the actual secret key 𝐾K.</a:t>
            </a:r>
          </a:p>
          <a:p>
            <a:pPr marL="228600" indent="-228600">
              <a:buAutoNum type="arabicPeriod"/>
            </a:pPr>
            <a:endParaRPr lang="en-US" dirty="0"/>
          </a:p>
          <a:p>
            <a:pPr marL="228600" indent="-228600">
              <a:buAutoNum type="arabicPeriod"/>
            </a:pPr>
            <a:r>
              <a:rPr lang="en-US" dirty="0"/>
              <a:t>Using Two Keys to Prevent the Attack: NMAC (Nested MAC) uses two different keys, 𝐾1​ and 𝐾2 , and applies the hash function twice in a nested manner: 𝐻(𝐾1∥𝐻(𝐾2∥𝑀)). By doing this, the final output depends on both keys and on the nested structure, which breaks the conditions that length extension attacks rely on. Even if an attacker could perform length extension on 𝐻(𝐾2∥𝑀). the result would not be valid for 𝐻(𝐾1∥𝐻(𝐾2∥𝑀)) because they don’t know 𝐾1 , which is required in the outer hash.</a:t>
            </a:r>
          </a:p>
          <a:p>
            <a:pPr marL="0" indent="0">
              <a:buNone/>
            </a:pPr>
            <a:endParaRPr lang="en-US" dirty="0"/>
          </a:p>
        </p:txBody>
      </p:sp>
      <p:sp>
        <p:nvSpPr>
          <p:cNvPr id="4" name="Slide Number Placeholder 3"/>
          <p:cNvSpPr>
            <a:spLocks noGrp="1"/>
          </p:cNvSpPr>
          <p:nvPr>
            <p:ph type="sldNum" sz="quarter" idx="5"/>
          </p:nvPr>
        </p:nvSpPr>
        <p:spPr/>
        <p:txBody>
          <a:bodyPr/>
          <a:lstStyle/>
          <a:p>
            <a:fld id="{D7035AAC-7370-4508-BC8A-A8FB0FFDBC93}" type="slidenum">
              <a:rPr lang="en-US" smtClean="0"/>
              <a:t>18</a:t>
            </a:fld>
            <a:endParaRPr lang="en-US"/>
          </a:p>
        </p:txBody>
      </p:sp>
    </p:spTree>
    <p:extLst>
      <p:ext uri="{BB962C8B-B14F-4D97-AF65-F5344CB8AC3E}">
        <p14:creationId xmlns:p14="http://schemas.microsoft.com/office/powerpoint/2010/main" val="1416878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200" dirty="0"/>
              <a:t>“Alice”,   A = g</a:t>
            </a:r>
            <a:r>
              <a:rPr lang="en-US" sz="2200" baseline="30000" dirty="0"/>
              <a:t>a</a:t>
            </a:r>
            <a:r>
              <a:rPr lang="en-US" sz="2200" dirty="0"/>
              <a:t>  (mod</a:t>
            </a:r>
            <a:r>
              <a:rPr lang="en-US" sz="2200" baseline="0" dirty="0"/>
              <a:t> p)    ;     “Bob”,  B = </a:t>
            </a:r>
            <a:r>
              <a:rPr lang="en-US" sz="2200" baseline="0" dirty="0" err="1"/>
              <a:t>g</a:t>
            </a:r>
            <a:r>
              <a:rPr lang="en-US" sz="2200" baseline="30000" dirty="0" err="1"/>
              <a:t>b</a:t>
            </a:r>
            <a:r>
              <a:rPr lang="en-US" sz="2200" baseline="0" dirty="0"/>
              <a:t> (mod p)</a:t>
            </a:r>
            <a:r>
              <a:rPr lang="en-US" sz="2200" dirty="0"/>
              <a:t> </a:t>
            </a:r>
          </a:p>
        </p:txBody>
      </p:sp>
      <p:sp>
        <p:nvSpPr>
          <p:cNvPr id="4" name="Slide Number Placeholder 3"/>
          <p:cNvSpPr>
            <a:spLocks noGrp="1"/>
          </p:cNvSpPr>
          <p:nvPr>
            <p:ph type="sldNum" sz="quarter" idx="10"/>
          </p:nvPr>
        </p:nvSpPr>
        <p:spPr/>
        <p:txBody>
          <a:bodyPr/>
          <a:lstStyle/>
          <a:p>
            <a:fld id="{8FF38DAD-5F37-4EA5-A798-26ED1E453939}" type="slidenum">
              <a:rPr lang="en-US" smtClean="0"/>
              <a:pPr/>
              <a:t>23</a:t>
            </a:fld>
            <a:endParaRPr lang="en-US" dirty="0"/>
          </a:p>
        </p:txBody>
      </p:sp>
    </p:spTree>
    <p:extLst>
      <p:ext uri="{BB962C8B-B14F-4D97-AF65-F5344CB8AC3E}">
        <p14:creationId xmlns:p14="http://schemas.microsoft.com/office/powerpoint/2010/main" val="29874613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035AAC-7370-4508-BC8A-A8FB0FFDBC93}" type="slidenum">
              <a:rPr lang="en-US" smtClean="0"/>
              <a:t>25</a:t>
            </a:fld>
            <a:endParaRPr lang="en-US"/>
          </a:p>
        </p:txBody>
      </p:sp>
    </p:spTree>
    <p:extLst>
      <p:ext uri="{BB962C8B-B14F-4D97-AF65-F5344CB8AC3E}">
        <p14:creationId xmlns:p14="http://schemas.microsoft.com/office/powerpoint/2010/main" val="24242157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Alice and Bob already share a PSK, why not just use it to encrypt everything? Why bother with Diffie-Hellman?</a:t>
            </a:r>
          </a:p>
          <a:p>
            <a:endParaRPr lang="en-US" dirty="0"/>
          </a:p>
          <a:p>
            <a:r>
              <a:rPr lang="en-US" dirty="0"/>
              <a:t>Short answer: We need </a:t>
            </a:r>
            <a:r>
              <a:rPr lang="en-US" b="1" dirty="0"/>
              <a:t>forward secrecy</a:t>
            </a:r>
          </a:p>
          <a:p>
            <a:endParaRPr lang="en-US" dirty="0"/>
          </a:p>
          <a:p>
            <a:r>
              <a:rPr lang="en-US" dirty="0"/>
              <a:t>1. What is forward secrecy?</a:t>
            </a:r>
          </a:p>
          <a:p>
            <a:r>
              <a:rPr lang="en-US" dirty="0"/>
              <a:t>Forward secrecy (aka Perfect Forward Secrecy) is a cryptographic feature that ensures past encrypted communications remain secure even if current session keys or long-term private keys are compromised. In other words: Even if an attacker records all your encrypted traffic today and steals your long-term secret key tomorrow, they still cannot decrypt your past conversations. </a:t>
            </a:r>
          </a:p>
          <a:p>
            <a:r>
              <a:rPr lang="en-US" dirty="0"/>
              <a:t>It achieves this by using ephemeral session keys that are unique to each session and are deleted after the session ends, preventing a long-term key compromise from decrypting past messages. </a:t>
            </a:r>
          </a:p>
          <a:p>
            <a:endParaRPr lang="en-US" dirty="0"/>
          </a:p>
          <a:p>
            <a:r>
              <a:rPr lang="en-US" dirty="0"/>
              <a:t>2. </a:t>
            </a:r>
            <a:r>
              <a:rPr lang="en-US" altLang="zh-CN" dirty="0"/>
              <a:t>Consider a</a:t>
            </a:r>
            <a:r>
              <a:rPr lang="zh-CN" altLang="en-US" dirty="0"/>
              <a:t> </a:t>
            </a:r>
            <a:r>
              <a:rPr lang="en-US" altLang="zh-CN" dirty="0"/>
              <a:t>counterexample, </a:t>
            </a:r>
            <a:r>
              <a:rPr lang="en-US" dirty="0"/>
              <a:t>using PSK alone and NO forward secrecy</a:t>
            </a:r>
            <a:r>
              <a:rPr lang="en-US" altLang="zh-CN" dirty="0"/>
              <a:t>:</a:t>
            </a:r>
          </a:p>
          <a:p>
            <a:endParaRPr lang="en-US" altLang="zh-CN" dirty="0"/>
          </a:p>
          <a:p>
            <a:pPr marL="171450" indent="-171450">
              <a:buFont typeface="Arial" panose="020B0604020202020204" pitchFamily="34" charset="0"/>
              <a:buChar char="•"/>
            </a:pPr>
            <a:r>
              <a:rPr lang="en-US" altLang="zh-CN" dirty="0"/>
              <a:t>Alice and Bob encrypt all messages directly with their shared PSK</a:t>
            </a:r>
          </a:p>
          <a:p>
            <a:pPr marL="171450" indent="-171450">
              <a:buFont typeface="Arial" panose="020B0604020202020204" pitchFamily="34" charset="0"/>
              <a:buChar char="•"/>
            </a:pPr>
            <a:r>
              <a:rPr lang="en-US" altLang="zh-CN" dirty="0"/>
              <a:t>They communicate for months, and an attacker records all encrypted traffic</a:t>
            </a:r>
          </a:p>
          <a:p>
            <a:pPr marL="171450" indent="-171450">
              <a:buFont typeface="Arial" panose="020B0604020202020204" pitchFamily="34" charset="0"/>
              <a:buChar char="•"/>
            </a:pPr>
            <a:r>
              <a:rPr lang="en-US" altLang="zh-CN" dirty="0"/>
              <a:t>One day, the PSK gets compromised (laptop stolen, key extracted, etc.)</a:t>
            </a:r>
          </a:p>
          <a:p>
            <a:pPr marL="171450" indent="-171450">
              <a:buFont typeface="Arial" panose="020B0604020202020204" pitchFamily="34" charset="0"/>
              <a:buChar char="•"/>
            </a:pPr>
            <a:r>
              <a:rPr lang="en-US" altLang="zh-CN" dirty="0"/>
              <a:t>Result: The attacker decrypts EVERY past conversation</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3. Consider using PSK + DH:</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t>PSK is used only for authentication via MAC(</a:t>
            </a:r>
            <a:r>
              <a:rPr lang="en-US" dirty="0" err="1"/>
              <a:t>g^a</a:t>
            </a:r>
            <a:r>
              <a:rPr lang="en-US" dirty="0"/>
              <a:t>, </a:t>
            </a:r>
            <a:r>
              <a:rPr lang="en-US" dirty="0" err="1"/>
              <a:t>g^b</a:t>
            </a:r>
            <a:r>
              <a:rPr lang="en-US" dirty="0"/>
              <a:t>)</a:t>
            </a:r>
          </a:p>
          <a:p>
            <a:pPr marL="171450" indent="-171450">
              <a:buFont typeface="Arial" panose="020B0604020202020204" pitchFamily="34" charset="0"/>
              <a:buChar char="•"/>
            </a:pPr>
            <a:r>
              <a:rPr lang="en-US" dirty="0"/>
              <a:t>For each session, they run DH with fresh random ephemeral values</a:t>
            </a:r>
          </a:p>
          <a:p>
            <a:pPr marL="171450" indent="-171450">
              <a:buFont typeface="Arial" panose="020B0604020202020204" pitchFamily="34" charset="0"/>
              <a:buChar char="•"/>
            </a:pPr>
            <a:r>
              <a:rPr lang="en-US" dirty="0"/>
              <a:t>After the session, they delete a and b</a:t>
            </a:r>
          </a:p>
          <a:p>
            <a:pPr marL="171450" indent="-171450">
              <a:buFont typeface="Arial" panose="020B0604020202020204" pitchFamily="34" charset="0"/>
              <a:buChar char="•"/>
            </a:pPr>
            <a:r>
              <a:rPr lang="en-US" dirty="0"/>
              <a:t>Result: Even if PSK is compromised later, past sessions remain secure because a and b were deleted</a:t>
            </a:r>
          </a:p>
        </p:txBody>
      </p:sp>
      <p:sp>
        <p:nvSpPr>
          <p:cNvPr id="4" name="Slide Number Placeholder 3"/>
          <p:cNvSpPr>
            <a:spLocks noGrp="1"/>
          </p:cNvSpPr>
          <p:nvPr>
            <p:ph type="sldNum" sz="quarter" idx="5"/>
          </p:nvPr>
        </p:nvSpPr>
        <p:spPr/>
        <p:txBody>
          <a:bodyPr/>
          <a:lstStyle/>
          <a:p>
            <a:fld id="{D7035AAC-7370-4508-BC8A-A8FB0FFDBC93}" type="slidenum">
              <a:rPr lang="en-US" smtClean="0"/>
              <a:t>28</a:t>
            </a:fld>
            <a:endParaRPr lang="en-US"/>
          </a:p>
        </p:txBody>
      </p:sp>
    </p:spTree>
    <p:extLst>
      <p:ext uri="{BB962C8B-B14F-4D97-AF65-F5344CB8AC3E}">
        <p14:creationId xmlns:p14="http://schemas.microsoft.com/office/powerpoint/2010/main" val="3962344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C89AA-7597-27E6-4B3B-165FD38113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23A250F-C38B-8C9E-643A-C388525BBD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C440C6-A366-34E5-0395-C5FC04FAA4DD}"/>
              </a:ext>
            </a:extLst>
          </p:cNvPr>
          <p:cNvSpPr>
            <a:spLocks noGrp="1"/>
          </p:cNvSpPr>
          <p:nvPr>
            <p:ph type="dt" sz="half" idx="10"/>
          </p:nvPr>
        </p:nvSpPr>
        <p:spPr/>
        <p:txBody>
          <a:bodyPr/>
          <a:lstStyle/>
          <a:p>
            <a:fld id="{00CACD41-E2C3-4974-BF21-7012DD283AB9}" type="datetimeFigureOut">
              <a:rPr lang="en-US" smtClean="0"/>
              <a:t>11/9/2025</a:t>
            </a:fld>
            <a:endParaRPr lang="en-US"/>
          </a:p>
        </p:txBody>
      </p:sp>
      <p:sp>
        <p:nvSpPr>
          <p:cNvPr id="5" name="Footer Placeholder 4">
            <a:extLst>
              <a:ext uri="{FF2B5EF4-FFF2-40B4-BE49-F238E27FC236}">
                <a16:creationId xmlns:a16="http://schemas.microsoft.com/office/drawing/2014/main" id="{5E6F092B-0D35-CF9C-BFD1-3C0A42427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954963-FAD9-7042-D3F6-1D4BFA6DD2BE}"/>
              </a:ext>
            </a:extLst>
          </p:cNvPr>
          <p:cNvSpPr>
            <a:spLocks noGrp="1"/>
          </p:cNvSpPr>
          <p:nvPr>
            <p:ph type="sldNum" sz="quarter" idx="12"/>
          </p:nvPr>
        </p:nvSpPr>
        <p:spPr/>
        <p:txBody>
          <a:bodyPr/>
          <a:lstStyle/>
          <a:p>
            <a:fld id="{12DFDFE6-3E14-4A66-A55D-A29C0C567A80}" type="slidenum">
              <a:rPr lang="en-US" smtClean="0"/>
              <a:t>‹#›</a:t>
            </a:fld>
            <a:endParaRPr lang="en-US"/>
          </a:p>
        </p:txBody>
      </p:sp>
    </p:spTree>
    <p:extLst>
      <p:ext uri="{BB962C8B-B14F-4D97-AF65-F5344CB8AC3E}">
        <p14:creationId xmlns:p14="http://schemas.microsoft.com/office/powerpoint/2010/main" val="2189884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F38FB-4672-84D6-9ECF-2582DAE63D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B6A606-632B-0D99-676A-75C7465286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F1C205-B633-6210-6B52-CF27907E7943}"/>
              </a:ext>
            </a:extLst>
          </p:cNvPr>
          <p:cNvSpPr>
            <a:spLocks noGrp="1"/>
          </p:cNvSpPr>
          <p:nvPr>
            <p:ph type="dt" sz="half" idx="10"/>
          </p:nvPr>
        </p:nvSpPr>
        <p:spPr/>
        <p:txBody>
          <a:bodyPr/>
          <a:lstStyle/>
          <a:p>
            <a:fld id="{00CACD41-E2C3-4974-BF21-7012DD283AB9}" type="datetimeFigureOut">
              <a:rPr lang="en-US" smtClean="0"/>
              <a:t>11/9/2025</a:t>
            </a:fld>
            <a:endParaRPr lang="en-US"/>
          </a:p>
        </p:txBody>
      </p:sp>
      <p:sp>
        <p:nvSpPr>
          <p:cNvPr id="5" name="Footer Placeholder 4">
            <a:extLst>
              <a:ext uri="{FF2B5EF4-FFF2-40B4-BE49-F238E27FC236}">
                <a16:creationId xmlns:a16="http://schemas.microsoft.com/office/drawing/2014/main" id="{F1C5BA43-1D84-ECFF-F89C-11FF7AFF69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C79E1-62C4-76DF-524D-8AFF3321DBC9}"/>
              </a:ext>
            </a:extLst>
          </p:cNvPr>
          <p:cNvSpPr>
            <a:spLocks noGrp="1"/>
          </p:cNvSpPr>
          <p:nvPr>
            <p:ph type="sldNum" sz="quarter" idx="12"/>
          </p:nvPr>
        </p:nvSpPr>
        <p:spPr/>
        <p:txBody>
          <a:bodyPr/>
          <a:lstStyle/>
          <a:p>
            <a:fld id="{12DFDFE6-3E14-4A66-A55D-A29C0C567A80}" type="slidenum">
              <a:rPr lang="en-US" smtClean="0"/>
              <a:t>‹#›</a:t>
            </a:fld>
            <a:endParaRPr lang="en-US"/>
          </a:p>
        </p:txBody>
      </p:sp>
    </p:spTree>
    <p:extLst>
      <p:ext uri="{BB962C8B-B14F-4D97-AF65-F5344CB8AC3E}">
        <p14:creationId xmlns:p14="http://schemas.microsoft.com/office/powerpoint/2010/main" val="226982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5A5D0-102E-A4AB-E12C-D0EF800648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3F1E2F9-7F11-DA53-9500-714C9CD5CA4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91758D-FDCC-1CBC-A227-8C629BDD7FCE}"/>
              </a:ext>
            </a:extLst>
          </p:cNvPr>
          <p:cNvSpPr>
            <a:spLocks noGrp="1"/>
          </p:cNvSpPr>
          <p:nvPr>
            <p:ph type="dt" sz="half" idx="10"/>
          </p:nvPr>
        </p:nvSpPr>
        <p:spPr/>
        <p:txBody>
          <a:bodyPr/>
          <a:lstStyle/>
          <a:p>
            <a:fld id="{00CACD41-E2C3-4974-BF21-7012DD283AB9}" type="datetimeFigureOut">
              <a:rPr lang="en-US" smtClean="0"/>
              <a:t>11/9/2025</a:t>
            </a:fld>
            <a:endParaRPr lang="en-US"/>
          </a:p>
        </p:txBody>
      </p:sp>
      <p:sp>
        <p:nvSpPr>
          <p:cNvPr id="5" name="Footer Placeholder 4">
            <a:extLst>
              <a:ext uri="{FF2B5EF4-FFF2-40B4-BE49-F238E27FC236}">
                <a16:creationId xmlns:a16="http://schemas.microsoft.com/office/drawing/2014/main" id="{2C6B4290-B339-3A27-B1A2-360BA54358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0E67AE-D729-DFD1-9FCC-D33799697262}"/>
              </a:ext>
            </a:extLst>
          </p:cNvPr>
          <p:cNvSpPr>
            <a:spLocks noGrp="1"/>
          </p:cNvSpPr>
          <p:nvPr>
            <p:ph type="sldNum" sz="quarter" idx="12"/>
          </p:nvPr>
        </p:nvSpPr>
        <p:spPr/>
        <p:txBody>
          <a:bodyPr/>
          <a:lstStyle/>
          <a:p>
            <a:fld id="{12DFDFE6-3E14-4A66-A55D-A29C0C567A80}" type="slidenum">
              <a:rPr lang="en-US" smtClean="0"/>
              <a:t>‹#›</a:t>
            </a:fld>
            <a:endParaRPr lang="en-US"/>
          </a:p>
        </p:txBody>
      </p:sp>
    </p:spTree>
    <p:extLst>
      <p:ext uri="{BB962C8B-B14F-4D97-AF65-F5344CB8AC3E}">
        <p14:creationId xmlns:p14="http://schemas.microsoft.com/office/powerpoint/2010/main" val="1757689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01D9D-86AA-1DA0-6F52-CE87D96BE9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410483-B2C1-19A3-C03D-41171D726A1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15B85F0-0D4F-659B-B6E8-07E9ED34A6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126A22F-64C6-7444-0C21-99A54DB9E828}"/>
              </a:ext>
            </a:extLst>
          </p:cNvPr>
          <p:cNvSpPr>
            <a:spLocks noGrp="1"/>
          </p:cNvSpPr>
          <p:nvPr>
            <p:ph type="dt" sz="half" idx="10"/>
          </p:nvPr>
        </p:nvSpPr>
        <p:spPr/>
        <p:txBody>
          <a:bodyPr/>
          <a:lstStyle/>
          <a:p>
            <a:fld id="{00CACD41-E2C3-4974-BF21-7012DD283AB9}" type="datetimeFigureOut">
              <a:rPr lang="en-US" smtClean="0"/>
              <a:t>11/9/2025</a:t>
            </a:fld>
            <a:endParaRPr lang="en-US"/>
          </a:p>
        </p:txBody>
      </p:sp>
      <p:sp>
        <p:nvSpPr>
          <p:cNvPr id="6" name="Footer Placeholder 5">
            <a:extLst>
              <a:ext uri="{FF2B5EF4-FFF2-40B4-BE49-F238E27FC236}">
                <a16:creationId xmlns:a16="http://schemas.microsoft.com/office/drawing/2014/main" id="{2434B0F6-B65C-5EF3-2CE5-CF72001DF4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B24BF5-7203-64E6-7BB9-0B183F33EA82}"/>
              </a:ext>
            </a:extLst>
          </p:cNvPr>
          <p:cNvSpPr>
            <a:spLocks noGrp="1"/>
          </p:cNvSpPr>
          <p:nvPr>
            <p:ph type="sldNum" sz="quarter" idx="12"/>
          </p:nvPr>
        </p:nvSpPr>
        <p:spPr/>
        <p:txBody>
          <a:bodyPr/>
          <a:lstStyle/>
          <a:p>
            <a:fld id="{12DFDFE6-3E14-4A66-A55D-A29C0C567A80}" type="slidenum">
              <a:rPr lang="en-US" smtClean="0"/>
              <a:t>‹#›</a:t>
            </a:fld>
            <a:endParaRPr lang="en-US"/>
          </a:p>
        </p:txBody>
      </p:sp>
    </p:spTree>
    <p:extLst>
      <p:ext uri="{BB962C8B-B14F-4D97-AF65-F5344CB8AC3E}">
        <p14:creationId xmlns:p14="http://schemas.microsoft.com/office/powerpoint/2010/main" val="2907753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5F6B1-44FB-BE0C-62B6-DF2C89F1C08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374C3B-3EAC-2D57-6B7D-C428083FE3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EED756-5EC1-9E6E-2BC5-3BD2EF6158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06FB6D-80D4-9AFB-52E5-49F3522915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8248CB-1C8C-92EB-376F-3A8B023936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F5DB157-3765-A591-B7E4-81438D2B3FF4}"/>
              </a:ext>
            </a:extLst>
          </p:cNvPr>
          <p:cNvSpPr>
            <a:spLocks noGrp="1"/>
          </p:cNvSpPr>
          <p:nvPr>
            <p:ph type="dt" sz="half" idx="10"/>
          </p:nvPr>
        </p:nvSpPr>
        <p:spPr/>
        <p:txBody>
          <a:bodyPr/>
          <a:lstStyle/>
          <a:p>
            <a:fld id="{00CACD41-E2C3-4974-BF21-7012DD283AB9}" type="datetimeFigureOut">
              <a:rPr lang="en-US" smtClean="0"/>
              <a:t>11/9/2025</a:t>
            </a:fld>
            <a:endParaRPr lang="en-US"/>
          </a:p>
        </p:txBody>
      </p:sp>
      <p:sp>
        <p:nvSpPr>
          <p:cNvPr id="8" name="Footer Placeholder 7">
            <a:extLst>
              <a:ext uri="{FF2B5EF4-FFF2-40B4-BE49-F238E27FC236}">
                <a16:creationId xmlns:a16="http://schemas.microsoft.com/office/drawing/2014/main" id="{2663FA94-EC48-6267-BCB9-CE7CCD348A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3E7736C-66C9-366B-DBBA-FED46BA3545A}"/>
              </a:ext>
            </a:extLst>
          </p:cNvPr>
          <p:cNvSpPr>
            <a:spLocks noGrp="1"/>
          </p:cNvSpPr>
          <p:nvPr>
            <p:ph type="sldNum" sz="quarter" idx="12"/>
          </p:nvPr>
        </p:nvSpPr>
        <p:spPr/>
        <p:txBody>
          <a:bodyPr/>
          <a:lstStyle/>
          <a:p>
            <a:fld id="{12DFDFE6-3E14-4A66-A55D-A29C0C567A80}" type="slidenum">
              <a:rPr lang="en-US" smtClean="0"/>
              <a:t>‹#›</a:t>
            </a:fld>
            <a:endParaRPr lang="en-US"/>
          </a:p>
        </p:txBody>
      </p:sp>
    </p:spTree>
    <p:extLst>
      <p:ext uri="{BB962C8B-B14F-4D97-AF65-F5344CB8AC3E}">
        <p14:creationId xmlns:p14="http://schemas.microsoft.com/office/powerpoint/2010/main" val="1059693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4F6F1-C4B2-D0B2-7AFB-9F4D5554FA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8785612-43F3-6319-EA18-DBF8D841F125}"/>
              </a:ext>
            </a:extLst>
          </p:cNvPr>
          <p:cNvSpPr>
            <a:spLocks noGrp="1"/>
          </p:cNvSpPr>
          <p:nvPr>
            <p:ph type="dt" sz="half" idx="10"/>
          </p:nvPr>
        </p:nvSpPr>
        <p:spPr/>
        <p:txBody>
          <a:bodyPr/>
          <a:lstStyle/>
          <a:p>
            <a:fld id="{00CACD41-E2C3-4974-BF21-7012DD283AB9}" type="datetimeFigureOut">
              <a:rPr lang="en-US" smtClean="0"/>
              <a:t>11/9/2025</a:t>
            </a:fld>
            <a:endParaRPr lang="en-US"/>
          </a:p>
        </p:txBody>
      </p:sp>
      <p:sp>
        <p:nvSpPr>
          <p:cNvPr id="4" name="Footer Placeholder 3">
            <a:extLst>
              <a:ext uri="{FF2B5EF4-FFF2-40B4-BE49-F238E27FC236}">
                <a16:creationId xmlns:a16="http://schemas.microsoft.com/office/drawing/2014/main" id="{9E904F2A-69D3-2069-9FD6-109D75C7FA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0843D0-3C88-8FF5-00FC-63CCF3E59338}"/>
              </a:ext>
            </a:extLst>
          </p:cNvPr>
          <p:cNvSpPr>
            <a:spLocks noGrp="1"/>
          </p:cNvSpPr>
          <p:nvPr>
            <p:ph type="sldNum" sz="quarter" idx="12"/>
          </p:nvPr>
        </p:nvSpPr>
        <p:spPr/>
        <p:txBody>
          <a:bodyPr/>
          <a:lstStyle/>
          <a:p>
            <a:fld id="{12DFDFE6-3E14-4A66-A55D-A29C0C567A80}" type="slidenum">
              <a:rPr lang="en-US" smtClean="0"/>
              <a:t>‹#›</a:t>
            </a:fld>
            <a:endParaRPr lang="en-US"/>
          </a:p>
        </p:txBody>
      </p:sp>
    </p:spTree>
    <p:extLst>
      <p:ext uri="{BB962C8B-B14F-4D97-AF65-F5344CB8AC3E}">
        <p14:creationId xmlns:p14="http://schemas.microsoft.com/office/powerpoint/2010/main" val="2489808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CD0ED8-2BC1-E058-3233-2CB55A61008B}"/>
              </a:ext>
            </a:extLst>
          </p:cNvPr>
          <p:cNvSpPr>
            <a:spLocks noGrp="1"/>
          </p:cNvSpPr>
          <p:nvPr>
            <p:ph type="dt" sz="half" idx="10"/>
          </p:nvPr>
        </p:nvSpPr>
        <p:spPr/>
        <p:txBody>
          <a:bodyPr/>
          <a:lstStyle/>
          <a:p>
            <a:fld id="{00CACD41-E2C3-4974-BF21-7012DD283AB9}" type="datetimeFigureOut">
              <a:rPr lang="en-US" smtClean="0"/>
              <a:t>11/9/2025</a:t>
            </a:fld>
            <a:endParaRPr lang="en-US"/>
          </a:p>
        </p:txBody>
      </p:sp>
      <p:sp>
        <p:nvSpPr>
          <p:cNvPr id="3" name="Footer Placeholder 2">
            <a:extLst>
              <a:ext uri="{FF2B5EF4-FFF2-40B4-BE49-F238E27FC236}">
                <a16:creationId xmlns:a16="http://schemas.microsoft.com/office/drawing/2014/main" id="{E90DD15B-52EA-8639-D650-17638EDAF6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CC276E-2FF3-F7DF-E56A-D8557FF85D16}"/>
              </a:ext>
            </a:extLst>
          </p:cNvPr>
          <p:cNvSpPr>
            <a:spLocks noGrp="1"/>
          </p:cNvSpPr>
          <p:nvPr>
            <p:ph type="sldNum" sz="quarter" idx="12"/>
          </p:nvPr>
        </p:nvSpPr>
        <p:spPr/>
        <p:txBody>
          <a:bodyPr/>
          <a:lstStyle/>
          <a:p>
            <a:fld id="{12DFDFE6-3E14-4A66-A55D-A29C0C567A80}" type="slidenum">
              <a:rPr lang="en-US" smtClean="0"/>
              <a:t>‹#›</a:t>
            </a:fld>
            <a:endParaRPr lang="en-US"/>
          </a:p>
        </p:txBody>
      </p:sp>
    </p:spTree>
    <p:extLst>
      <p:ext uri="{BB962C8B-B14F-4D97-AF65-F5344CB8AC3E}">
        <p14:creationId xmlns:p14="http://schemas.microsoft.com/office/powerpoint/2010/main" val="1092185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BF77B-DF7F-1039-2FDE-3CAA47CFC0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FEC513-2670-001B-1398-A757B74AD9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7787C18-8AFD-76F8-5A13-D63EF126C0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3F9F44-C0C9-762C-D3B7-8E9A4E6751AC}"/>
              </a:ext>
            </a:extLst>
          </p:cNvPr>
          <p:cNvSpPr>
            <a:spLocks noGrp="1"/>
          </p:cNvSpPr>
          <p:nvPr>
            <p:ph type="dt" sz="half" idx="10"/>
          </p:nvPr>
        </p:nvSpPr>
        <p:spPr/>
        <p:txBody>
          <a:bodyPr/>
          <a:lstStyle/>
          <a:p>
            <a:fld id="{00CACD41-E2C3-4974-BF21-7012DD283AB9}" type="datetimeFigureOut">
              <a:rPr lang="en-US" smtClean="0"/>
              <a:t>11/9/2025</a:t>
            </a:fld>
            <a:endParaRPr lang="en-US"/>
          </a:p>
        </p:txBody>
      </p:sp>
      <p:sp>
        <p:nvSpPr>
          <p:cNvPr id="6" name="Footer Placeholder 5">
            <a:extLst>
              <a:ext uri="{FF2B5EF4-FFF2-40B4-BE49-F238E27FC236}">
                <a16:creationId xmlns:a16="http://schemas.microsoft.com/office/drawing/2014/main" id="{B5093F5E-A0F4-990A-3099-D31971ED31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9DAA0A-0BFF-05A3-C830-DE2AA69760E1}"/>
              </a:ext>
            </a:extLst>
          </p:cNvPr>
          <p:cNvSpPr>
            <a:spLocks noGrp="1"/>
          </p:cNvSpPr>
          <p:nvPr>
            <p:ph type="sldNum" sz="quarter" idx="12"/>
          </p:nvPr>
        </p:nvSpPr>
        <p:spPr/>
        <p:txBody>
          <a:bodyPr/>
          <a:lstStyle/>
          <a:p>
            <a:fld id="{12DFDFE6-3E14-4A66-A55D-A29C0C567A80}" type="slidenum">
              <a:rPr lang="en-US" smtClean="0"/>
              <a:t>‹#›</a:t>
            </a:fld>
            <a:endParaRPr lang="en-US"/>
          </a:p>
        </p:txBody>
      </p:sp>
    </p:spTree>
    <p:extLst>
      <p:ext uri="{BB962C8B-B14F-4D97-AF65-F5344CB8AC3E}">
        <p14:creationId xmlns:p14="http://schemas.microsoft.com/office/powerpoint/2010/main" val="2463092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6785E-4CD0-1356-B10D-89EB55A9BA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477B4AD-E4CD-FB43-7A4B-5DAD73EB13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BA929ED-DDDC-9046-162C-D396D5127F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CC0AC9-AF9C-496B-BFCB-2E47C55E819B}"/>
              </a:ext>
            </a:extLst>
          </p:cNvPr>
          <p:cNvSpPr>
            <a:spLocks noGrp="1"/>
          </p:cNvSpPr>
          <p:nvPr>
            <p:ph type="dt" sz="half" idx="10"/>
          </p:nvPr>
        </p:nvSpPr>
        <p:spPr/>
        <p:txBody>
          <a:bodyPr/>
          <a:lstStyle/>
          <a:p>
            <a:fld id="{00CACD41-E2C3-4974-BF21-7012DD283AB9}" type="datetimeFigureOut">
              <a:rPr lang="en-US" smtClean="0"/>
              <a:t>11/9/2025</a:t>
            </a:fld>
            <a:endParaRPr lang="en-US"/>
          </a:p>
        </p:txBody>
      </p:sp>
      <p:sp>
        <p:nvSpPr>
          <p:cNvPr id="6" name="Footer Placeholder 5">
            <a:extLst>
              <a:ext uri="{FF2B5EF4-FFF2-40B4-BE49-F238E27FC236}">
                <a16:creationId xmlns:a16="http://schemas.microsoft.com/office/drawing/2014/main" id="{4206D13E-3922-C306-EBBA-33294AEAF1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1149A6-CDA4-763B-5509-DA48E0C177D9}"/>
              </a:ext>
            </a:extLst>
          </p:cNvPr>
          <p:cNvSpPr>
            <a:spLocks noGrp="1"/>
          </p:cNvSpPr>
          <p:nvPr>
            <p:ph type="sldNum" sz="quarter" idx="12"/>
          </p:nvPr>
        </p:nvSpPr>
        <p:spPr/>
        <p:txBody>
          <a:bodyPr/>
          <a:lstStyle/>
          <a:p>
            <a:fld id="{12DFDFE6-3E14-4A66-A55D-A29C0C567A80}" type="slidenum">
              <a:rPr lang="en-US" smtClean="0"/>
              <a:t>‹#›</a:t>
            </a:fld>
            <a:endParaRPr lang="en-US"/>
          </a:p>
        </p:txBody>
      </p:sp>
    </p:spTree>
    <p:extLst>
      <p:ext uri="{BB962C8B-B14F-4D97-AF65-F5344CB8AC3E}">
        <p14:creationId xmlns:p14="http://schemas.microsoft.com/office/powerpoint/2010/main" val="212149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BC605-88D4-0F9C-4F60-310EE2E379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DDE074-2B08-5145-AF9B-B16BFC605E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EBF8A8-94C3-7EA4-D45D-28A79090DA3E}"/>
              </a:ext>
            </a:extLst>
          </p:cNvPr>
          <p:cNvSpPr>
            <a:spLocks noGrp="1"/>
          </p:cNvSpPr>
          <p:nvPr>
            <p:ph type="dt" sz="half" idx="10"/>
          </p:nvPr>
        </p:nvSpPr>
        <p:spPr/>
        <p:txBody>
          <a:bodyPr/>
          <a:lstStyle/>
          <a:p>
            <a:fld id="{00CACD41-E2C3-4974-BF21-7012DD283AB9}" type="datetimeFigureOut">
              <a:rPr lang="en-US" smtClean="0"/>
              <a:t>11/9/2025</a:t>
            </a:fld>
            <a:endParaRPr lang="en-US"/>
          </a:p>
        </p:txBody>
      </p:sp>
      <p:sp>
        <p:nvSpPr>
          <p:cNvPr id="5" name="Footer Placeholder 4">
            <a:extLst>
              <a:ext uri="{FF2B5EF4-FFF2-40B4-BE49-F238E27FC236}">
                <a16:creationId xmlns:a16="http://schemas.microsoft.com/office/drawing/2014/main" id="{D2F1A773-C714-281A-5613-9B053EDD72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827342-3B72-1BDA-2FAE-1B9F8EE354EF}"/>
              </a:ext>
            </a:extLst>
          </p:cNvPr>
          <p:cNvSpPr>
            <a:spLocks noGrp="1"/>
          </p:cNvSpPr>
          <p:nvPr>
            <p:ph type="sldNum" sz="quarter" idx="12"/>
          </p:nvPr>
        </p:nvSpPr>
        <p:spPr/>
        <p:txBody>
          <a:bodyPr/>
          <a:lstStyle/>
          <a:p>
            <a:fld id="{12DFDFE6-3E14-4A66-A55D-A29C0C567A80}" type="slidenum">
              <a:rPr lang="en-US" smtClean="0"/>
              <a:t>‹#›</a:t>
            </a:fld>
            <a:endParaRPr lang="en-US"/>
          </a:p>
        </p:txBody>
      </p:sp>
    </p:spTree>
    <p:extLst>
      <p:ext uri="{BB962C8B-B14F-4D97-AF65-F5344CB8AC3E}">
        <p14:creationId xmlns:p14="http://schemas.microsoft.com/office/powerpoint/2010/main" val="929978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B36272-B555-A18A-4E91-55A0DA4CE0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9DFAACA-DE2A-45E4-D950-C827C61CE4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BC5816-E40E-64C9-39E4-531EA142D23D}"/>
              </a:ext>
            </a:extLst>
          </p:cNvPr>
          <p:cNvSpPr>
            <a:spLocks noGrp="1"/>
          </p:cNvSpPr>
          <p:nvPr>
            <p:ph type="dt" sz="half" idx="10"/>
          </p:nvPr>
        </p:nvSpPr>
        <p:spPr/>
        <p:txBody>
          <a:bodyPr/>
          <a:lstStyle/>
          <a:p>
            <a:fld id="{00CACD41-E2C3-4974-BF21-7012DD283AB9}" type="datetimeFigureOut">
              <a:rPr lang="en-US" smtClean="0"/>
              <a:t>11/9/2025</a:t>
            </a:fld>
            <a:endParaRPr lang="en-US"/>
          </a:p>
        </p:txBody>
      </p:sp>
      <p:sp>
        <p:nvSpPr>
          <p:cNvPr id="5" name="Footer Placeholder 4">
            <a:extLst>
              <a:ext uri="{FF2B5EF4-FFF2-40B4-BE49-F238E27FC236}">
                <a16:creationId xmlns:a16="http://schemas.microsoft.com/office/drawing/2014/main" id="{14B02264-0757-4D19-477B-631B634BAB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D4A300-0194-C143-7967-600097FE7372}"/>
              </a:ext>
            </a:extLst>
          </p:cNvPr>
          <p:cNvSpPr>
            <a:spLocks noGrp="1"/>
          </p:cNvSpPr>
          <p:nvPr>
            <p:ph type="sldNum" sz="quarter" idx="12"/>
          </p:nvPr>
        </p:nvSpPr>
        <p:spPr/>
        <p:txBody>
          <a:bodyPr/>
          <a:lstStyle/>
          <a:p>
            <a:fld id="{12DFDFE6-3E14-4A66-A55D-A29C0C567A80}" type="slidenum">
              <a:rPr lang="en-US" smtClean="0"/>
              <a:t>‹#›</a:t>
            </a:fld>
            <a:endParaRPr lang="en-US"/>
          </a:p>
        </p:txBody>
      </p:sp>
    </p:spTree>
    <p:extLst>
      <p:ext uri="{BB962C8B-B14F-4D97-AF65-F5344CB8AC3E}">
        <p14:creationId xmlns:p14="http://schemas.microsoft.com/office/powerpoint/2010/main" val="3332775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8A8022-576D-E637-28F0-3184AB8712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C8BE467-9BFE-6AAE-001A-754EE5BD4D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378178-8C14-256C-5E72-2D76BBCB69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CACD41-E2C3-4974-BF21-7012DD283AB9}" type="datetimeFigureOut">
              <a:rPr lang="en-US" smtClean="0"/>
              <a:t>11/9/2025</a:t>
            </a:fld>
            <a:endParaRPr lang="en-US"/>
          </a:p>
        </p:txBody>
      </p:sp>
      <p:sp>
        <p:nvSpPr>
          <p:cNvPr id="5" name="Footer Placeholder 4">
            <a:extLst>
              <a:ext uri="{FF2B5EF4-FFF2-40B4-BE49-F238E27FC236}">
                <a16:creationId xmlns:a16="http://schemas.microsoft.com/office/drawing/2014/main" id="{C5C2F6E3-A01E-6FEB-F4E0-DC31DE4F98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02900C8-10FC-D739-7E8D-A2939CC9DE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2DFDFE6-3E14-4A66-A55D-A29C0C567A80}" type="slidenum">
              <a:rPr lang="en-US" smtClean="0"/>
              <a:t>‹#›</a:t>
            </a:fld>
            <a:endParaRPr lang="en-US"/>
          </a:p>
        </p:txBody>
      </p:sp>
    </p:spTree>
    <p:extLst>
      <p:ext uri="{BB962C8B-B14F-4D97-AF65-F5344CB8AC3E}">
        <p14:creationId xmlns:p14="http://schemas.microsoft.com/office/powerpoint/2010/main" val="3235907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hyperlink" Target="https://emn178.github.io/online-tools/sha256.htm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en.wikipedia.org/wiki/SHA-2" TargetMode="External"/><Relationship Id="rId5" Type="http://schemas.openxmlformats.org/officeDocument/2006/relationships/hyperlink" Target="https://emn178.github.io/online-tools/sha1.html" TargetMode="External"/><Relationship Id="rId4" Type="http://schemas.openxmlformats.org/officeDocument/2006/relationships/hyperlink" Target="https://en.wikipedia.org/wiki/SHA-1" TargetMode="External"/><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en.wikipedia.org/wiki/SHA-1" TargetMode="External"/><Relationship Id="rId2" Type="http://schemas.openxmlformats.org/officeDocument/2006/relationships/hyperlink" Target="https://en.wikipedia.org/wiki/MD5" TargetMode="External"/><Relationship Id="rId1" Type="http://schemas.openxmlformats.org/officeDocument/2006/relationships/slideLayout" Target="../slideLayouts/slideLayout2.xml"/><Relationship Id="rId6" Type="http://schemas.openxmlformats.org/officeDocument/2006/relationships/hyperlink" Target="https://en.wikipedia.org/wiki/SHA-3" TargetMode="External"/><Relationship Id="rId5" Type="http://schemas.openxmlformats.org/officeDocument/2006/relationships/hyperlink" Target="https://www.youtube.com/watch?v=XQo6rLdFlCg" TargetMode="External"/><Relationship Id="rId4" Type="http://schemas.openxmlformats.org/officeDocument/2006/relationships/hyperlink" Target="https://en.wikipedia.org/wiki/SHA-2"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en.wikipedia.org/wiki/One-way_compression_function" TargetMode="External"/><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learn.microsoft.com/en-us/dotnet/api/system.security.cryptography.hmacsha256?view=net-9.0"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en.wikipedia.org/wiki/Diffie%E2%80%93Hellman_key_exchange"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en.wikipedia.org/wiki/Elliptic-curve_Diffie%E2%80%93Hellman" TargetMode="External"/><Relationship Id="rId2" Type="http://schemas.openxmlformats.org/officeDocument/2006/relationships/hyperlink" Target="https://en.wikipedia.org/wiki/Forward_secrecy"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A64E1-5610-7CF5-A8AC-8AACF97CA223}"/>
              </a:ext>
            </a:extLst>
          </p:cNvPr>
          <p:cNvSpPr>
            <a:spLocks noGrp="1"/>
          </p:cNvSpPr>
          <p:nvPr>
            <p:ph type="ctrTitle"/>
          </p:nvPr>
        </p:nvSpPr>
        <p:spPr>
          <a:xfrm>
            <a:off x="536448" y="1122363"/>
            <a:ext cx="11119104" cy="2133599"/>
          </a:xfrm>
        </p:spPr>
        <p:txBody>
          <a:bodyPr/>
          <a:lstStyle/>
          <a:p>
            <a:r>
              <a:rPr lang="en-US" dirty="0"/>
              <a:t>CSC 3511 Security and Networking</a:t>
            </a:r>
          </a:p>
        </p:txBody>
      </p:sp>
      <p:sp>
        <p:nvSpPr>
          <p:cNvPr id="3" name="Subtitle 2">
            <a:extLst>
              <a:ext uri="{FF2B5EF4-FFF2-40B4-BE49-F238E27FC236}">
                <a16:creationId xmlns:a16="http://schemas.microsoft.com/office/drawing/2014/main" id="{3A8E7C23-6E8B-EC33-B311-21148E5DBC8C}"/>
              </a:ext>
            </a:extLst>
          </p:cNvPr>
          <p:cNvSpPr>
            <a:spLocks noGrp="1"/>
          </p:cNvSpPr>
          <p:nvPr>
            <p:ph type="subTitle" idx="1"/>
          </p:nvPr>
        </p:nvSpPr>
        <p:spPr>
          <a:xfrm>
            <a:off x="1240325" y="3602039"/>
            <a:ext cx="9711350" cy="1655762"/>
          </a:xfrm>
        </p:spPr>
        <p:txBody>
          <a:bodyPr>
            <a:normAutofit lnSpcReduction="10000"/>
          </a:bodyPr>
          <a:lstStyle/>
          <a:p>
            <a:endParaRPr lang="en-US" dirty="0"/>
          </a:p>
          <a:p>
            <a:endParaRPr lang="en-US" dirty="0"/>
          </a:p>
          <a:p>
            <a:r>
              <a:rPr lang="en-US" dirty="0"/>
              <a:t>Week 11, Lecture 2: Cryptographic Hash, MACs, and Diffie-Hellman Key Exchange</a:t>
            </a:r>
          </a:p>
        </p:txBody>
      </p:sp>
    </p:spTree>
    <p:extLst>
      <p:ext uri="{BB962C8B-B14F-4D97-AF65-F5344CB8AC3E}">
        <p14:creationId xmlns:p14="http://schemas.microsoft.com/office/powerpoint/2010/main" val="1291381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FDA46-17B5-C06A-14FB-592851FD4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E66B9E-F145-8272-AC79-21A51531575B}"/>
              </a:ext>
            </a:extLst>
          </p:cNvPr>
          <p:cNvSpPr txBox="1">
            <a:spLocks/>
          </p:cNvSpPr>
          <p:nvPr/>
        </p:nvSpPr>
        <p:spPr>
          <a:xfrm>
            <a:off x="546662" y="152400"/>
            <a:ext cx="6551791" cy="165099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6000">
                <a:cs typeface="Calibri" panose="020F0502020204030204" pitchFamily="34" charset="0"/>
              </a:rPr>
              <a:t>Roadmap</a:t>
            </a:r>
            <a:endParaRPr lang="en-US" sz="6000" dirty="0"/>
          </a:p>
        </p:txBody>
      </p:sp>
      <p:sp>
        <p:nvSpPr>
          <p:cNvPr id="3" name="Rectangle 4">
            <a:extLst>
              <a:ext uri="{FF2B5EF4-FFF2-40B4-BE49-F238E27FC236}">
                <a16:creationId xmlns:a16="http://schemas.microsoft.com/office/drawing/2014/main" id="{8241F881-9683-06E8-DC86-39A923184FA0}"/>
              </a:ext>
            </a:extLst>
          </p:cNvPr>
          <p:cNvSpPr txBox="1">
            <a:spLocks noChangeArrowheads="1"/>
          </p:cNvSpPr>
          <p:nvPr/>
        </p:nvSpPr>
        <p:spPr>
          <a:xfrm>
            <a:off x="327703" y="1646990"/>
            <a:ext cx="11536594" cy="4978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Bef>
                <a:spcPts val="800"/>
              </a:spcBef>
              <a:spcAft>
                <a:spcPts val="600"/>
              </a:spcAft>
              <a:buClr>
                <a:schemeClr val="bg1">
                  <a:lumMod val="85000"/>
                </a:schemeClr>
              </a:buClr>
            </a:pPr>
            <a:r>
              <a:rPr lang="en-US" altLang="en-US" sz="3600" b="1" i="1" dirty="0">
                <a:latin typeface="Calibri" panose="020F0502020204030204" pitchFamily="34" charset="0"/>
                <a:cs typeface="Calibri" panose="020F0502020204030204" pitchFamily="34" charset="0"/>
              </a:rPr>
              <a:t>Cryptographic Hash</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Message Authentication Codes (MACs)</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Diffie-Hellman Key Exchange</a:t>
            </a:r>
          </a:p>
          <a:p>
            <a:pPr marL="117475" indent="0">
              <a:spcBef>
                <a:spcPts val="800"/>
              </a:spcBef>
              <a:spcAft>
                <a:spcPts val="600"/>
              </a:spcAft>
              <a:buClr>
                <a:schemeClr val="bg1">
                  <a:lumMod val="85000"/>
                </a:schemeClr>
              </a:buClr>
              <a:buNone/>
            </a:pPr>
            <a:endParaRPr lang="en-US" altLang="en-US" sz="3600" b="1" i="1" dirty="0">
              <a:solidFill>
                <a:schemeClr val="bg1">
                  <a:lumMod val="85000"/>
                </a:schemeClr>
              </a:solidFill>
              <a:latin typeface="Calibri" panose="020F0502020204030204" pitchFamily="34" charset="0"/>
              <a:cs typeface="Calibri" panose="020F0502020204030204" pitchFamily="34" charset="0"/>
            </a:endParaRPr>
          </a:p>
          <a:p>
            <a:pPr marL="403225" indent="-285750">
              <a:spcBef>
                <a:spcPts val="800"/>
              </a:spcBef>
              <a:spcAft>
                <a:spcPts val="600"/>
              </a:spcAft>
              <a:buClr>
                <a:schemeClr val="bg1">
                  <a:lumMod val="85000"/>
                </a:schemeClr>
              </a:buClr>
            </a:pPr>
            <a:endParaRPr lang="en-US" altLang="en-US" sz="3600" b="1" i="1" dirty="0">
              <a:solidFill>
                <a:schemeClr val="bg1">
                  <a:lumMod val="8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43897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oogle Shape;318;p38">
            <a:extLst>
              <a:ext uri="{FF2B5EF4-FFF2-40B4-BE49-F238E27FC236}">
                <a16:creationId xmlns:a16="http://schemas.microsoft.com/office/drawing/2014/main" id="{B9535BDF-186D-9491-E704-8269ADB3299D}"/>
              </a:ext>
            </a:extLst>
          </p:cNvPr>
          <p:cNvGraphicFramePr/>
          <p:nvPr>
            <p:extLst>
              <p:ext uri="{D42A27DB-BD31-4B8C-83A1-F6EECF244321}">
                <p14:modId xmlns:p14="http://schemas.microsoft.com/office/powerpoint/2010/main" val="605718400"/>
              </p:ext>
            </p:extLst>
          </p:nvPr>
        </p:nvGraphicFramePr>
        <p:xfrm>
          <a:off x="838199" y="1702807"/>
          <a:ext cx="10515599" cy="3352272"/>
        </p:xfrm>
        <a:graphic>
          <a:graphicData uri="http://schemas.openxmlformats.org/drawingml/2006/table">
            <a:tbl>
              <a:tblPr>
                <a:noFill/>
              </a:tblPr>
              <a:tblGrid>
                <a:gridCol w="2146722">
                  <a:extLst>
                    <a:ext uri="{9D8B030D-6E8A-4147-A177-3AD203B41FA5}">
                      <a16:colId xmlns:a16="http://schemas.microsoft.com/office/drawing/2014/main" val="20000"/>
                    </a:ext>
                  </a:extLst>
                </a:gridCol>
                <a:gridCol w="4000984">
                  <a:extLst>
                    <a:ext uri="{9D8B030D-6E8A-4147-A177-3AD203B41FA5}">
                      <a16:colId xmlns:a16="http://schemas.microsoft.com/office/drawing/2014/main" val="20001"/>
                    </a:ext>
                  </a:extLst>
                </a:gridCol>
                <a:gridCol w="4367893">
                  <a:extLst>
                    <a:ext uri="{9D8B030D-6E8A-4147-A177-3AD203B41FA5}">
                      <a16:colId xmlns:a16="http://schemas.microsoft.com/office/drawing/2014/main" val="20002"/>
                    </a:ext>
                  </a:extLst>
                </a:gridCol>
              </a:tblGrid>
              <a:tr h="599106">
                <a:tc>
                  <a:txBody>
                    <a:bodyPr/>
                    <a:lstStyle/>
                    <a:p>
                      <a:pPr marL="0" lvl="0" indent="0" algn="l" rtl="0">
                        <a:spcBef>
                          <a:spcPts val="0"/>
                        </a:spcBef>
                        <a:spcAft>
                          <a:spcPts val="0"/>
                        </a:spcAft>
                        <a:buNone/>
                      </a:pPr>
                      <a:endParaRPr sz="2200" dirty="0"/>
                    </a:p>
                  </a:txBody>
                  <a:tcPr marL="91425" marR="91425" marT="91425" marB="91425"/>
                </a:tc>
                <a:tc>
                  <a:txBody>
                    <a:bodyPr/>
                    <a:lstStyle/>
                    <a:p>
                      <a:pPr marL="0" lvl="0" indent="0" algn="l" rtl="0">
                        <a:spcBef>
                          <a:spcPts val="0"/>
                        </a:spcBef>
                        <a:spcAft>
                          <a:spcPts val="0"/>
                        </a:spcAft>
                        <a:buNone/>
                      </a:pPr>
                      <a:r>
                        <a:rPr lang="en" sz="2200" b="1" dirty="0"/>
                        <a:t>Symmetric-key</a:t>
                      </a:r>
                      <a:endParaRPr sz="2200" b="1" dirty="0"/>
                    </a:p>
                  </a:txBody>
                  <a:tcPr marL="91425" marR="91425" marT="91425" marB="91425"/>
                </a:tc>
                <a:tc>
                  <a:txBody>
                    <a:bodyPr/>
                    <a:lstStyle/>
                    <a:p>
                      <a:pPr marL="0" lvl="0" indent="0" algn="l" rtl="0">
                        <a:spcBef>
                          <a:spcPts val="0"/>
                        </a:spcBef>
                        <a:spcAft>
                          <a:spcPts val="0"/>
                        </a:spcAft>
                        <a:buNone/>
                      </a:pPr>
                      <a:r>
                        <a:rPr lang="en" sz="2200" b="1"/>
                        <a:t>Asymmetric-key</a:t>
                      </a:r>
                      <a:endParaRPr sz="2200" b="1"/>
                    </a:p>
                  </a:txBody>
                  <a:tcPr marL="91425" marR="91425" marT="91425" marB="91425"/>
                </a:tc>
                <a:extLst>
                  <a:ext uri="{0D108BD9-81ED-4DB2-BD59-A6C34878D82A}">
                    <a16:rowId xmlns:a16="http://schemas.microsoft.com/office/drawing/2014/main" val="10000"/>
                  </a:ext>
                </a:extLst>
              </a:tr>
              <a:tr h="1626218">
                <a:tc>
                  <a:txBody>
                    <a:bodyPr/>
                    <a:lstStyle/>
                    <a:p>
                      <a:pPr marL="0" lvl="0" indent="0" algn="l" rtl="0">
                        <a:spcBef>
                          <a:spcPts val="0"/>
                        </a:spcBef>
                        <a:spcAft>
                          <a:spcPts val="0"/>
                        </a:spcAft>
                        <a:buNone/>
                      </a:pPr>
                      <a:r>
                        <a:rPr lang="en" sz="2200" b="1"/>
                        <a:t>Confidentiality</a:t>
                      </a:r>
                      <a:endParaRPr sz="2200" b="1"/>
                    </a:p>
                  </a:txBody>
                  <a:tcPr marL="91425" marR="91425" marT="91425" marB="91425"/>
                </a:tc>
                <a:tc>
                  <a:txBody>
                    <a:bodyPr/>
                    <a:lstStyle/>
                    <a:p>
                      <a:pPr marL="457200" lvl="0" indent="-330200" algn="l" rtl="0">
                        <a:spcBef>
                          <a:spcPts val="0"/>
                        </a:spcBef>
                        <a:spcAft>
                          <a:spcPts val="0"/>
                        </a:spcAft>
                        <a:buSzPts val="1600"/>
                        <a:buChar char="●"/>
                      </a:pPr>
                      <a:r>
                        <a:rPr lang="en" sz="2200" dirty="0"/>
                        <a:t>One-time pads</a:t>
                      </a:r>
                      <a:endParaRPr sz="2200" dirty="0"/>
                    </a:p>
                    <a:p>
                      <a:pPr marL="457200" lvl="0" indent="-330200" algn="l" rtl="0">
                        <a:spcBef>
                          <a:spcPts val="0"/>
                        </a:spcBef>
                        <a:spcAft>
                          <a:spcPts val="0"/>
                        </a:spcAft>
                        <a:buSzPts val="1600"/>
                        <a:buChar char="●"/>
                      </a:pPr>
                      <a:r>
                        <a:rPr lang="en" sz="2200" dirty="0"/>
                        <a:t>Block ciphers with chaining modes (e.g. AES-CBC)</a:t>
                      </a:r>
                      <a:endParaRPr sz="2200" dirty="0"/>
                    </a:p>
                    <a:p>
                      <a:pPr marL="457200" lvl="0" indent="-330200" algn="l" rtl="0">
                        <a:spcBef>
                          <a:spcPts val="0"/>
                        </a:spcBef>
                        <a:spcAft>
                          <a:spcPts val="0"/>
                        </a:spcAft>
                        <a:buClr>
                          <a:schemeClr val="dk1"/>
                        </a:buClr>
                        <a:buSzPts val="1600"/>
                        <a:buChar char="●"/>
                      </a:pPr>
                      <a:r>
                        <a:rPr lang="en" sz="2200" dirty="0">
                          <a:solidFill>
                            <a:schemeClr val="dk1"/>
                          </a:solidFill>
                        </a:rPr>
                        <a:t>Stream ciphers</a:t>
                      </a:r>
                      <a:endParaRPr sz="2200" dirty="0"/>
                    </a:p>
                  </a:txBody>
                  <a:tcPr marL="91425" marR="91425" marT="91425" marB="91425"/>
                </a:tc>
                <a:tc>
                  <a:txBody>
                    <a:bodyPr/>
                    <a:lstStyle/>
                    <a:p>
                      <a:pPr marL="457200" lvl="0" indent="-330200" algn="l" rtl="0">
                        <a:spcBef>
                          <a:spcPts val="0"/>
                        </a:spcBef>
                        <a:spcAft>
                          <a:spcPts val="0"/>
                        </a:spcAft>
                        <a:buSzPts val="1600"/>
                        <a:buChar char="●"/>
                      </a:pPr>
                      <a:r>
                        <a:rPr lang="en" sz="2200" dirty="0"/>
                        <a:t>RSA encryption</a:t>
                      </a:r>
                      <a:endParaRPr sz="2200" dirty="0"/>
                    </a:p>
                  </a:txBody>
                  <a:tcPr marL="91425" marR="91425" marT="91425" marB="91425"/>
                </a:tc>
                <a:extLst>
                  <a:ext uri="{0D108BD9-81ED-4DB2-BD59-A6C34878D82A}">
                    <a16:rowId xmlns:a16="http://schemas.microsoft.com/office/drawing/2014/main" val="10001"/>
                  </a:ext>
                </a:extLst>
              </a:tr>
              <a:tr h="1126948">
                <a:tc>
                  <a:txBody>
                    <a:bodyPr/>
                    <a:lstStyle/>
                    <a:p>
                      <a:pPr marL="0" lvl="0" indent="0" algn="l" rtl="0">
                        <a:spcBef>
                          <a:spcPts val="0"/>
                        </a:spcBef>
                        <a:spcAft>
                          <a:spcPts val="0"/>
                        </a:spcAft>
                        <a:buNone/>
                      </a:pPr>
                      <a:r>
                        <a:rPr lang="en" sz="2200" b="1"/>
                        <a:t>Integrity,</a:t>
                      </a:r>
                      <a:br>
                        <a:rPr lang="en" sz="2200" b="1"/>
                      </a:br>
                      <a:r>
                        <a:rPr lang="en" sz="2200" b="1"/>
                        <a:t>Authentication</a:t>
                      </a:r>
                      <a:endParaRPr sz="2200" b="1"/>
                    </a:p>
                  </a:txBody>
                  <a:tcPr marL="91425" marR="91425" marT="91425" marB="91425"/>
                </a:tc>
                <a:tc>
                  <a:txBody>
                    <a:bodyPr/>
                    <a:lstStyle/>
                    <a:p>
                      <a:pPr marL="457200" lvl="0" indent="-330200" algn="l" rtl="0">
                        <a:spcBef>
                          <a:spcPts val="0"/>
                        </a:spcBef>
                        <a:spcAft>
                          <a:spcPts val="0"/>
                        </a:spcAft>
                        <a:buSzPts val="1600"/>
                        <a:buChar char="●"/>
                      </a:pPr>
                      <a:r>
                        <a:rPr lang="en" sz="2200" kern="1200" dirty="0">
                          <a:solidFill>
                            <a:srgbClr val="C00000"/>
                          </a:solidFill>
                          <a:latin typeface="+mn-lt"/>
                          <a:ea typeface="+mn-ea"/>
                          <a:cs typeface="+mn-cs"/>
                        </a:rPr>
                        <a:t>MACs (e.g. HMAC)</a:t>
                      </a:r>
                      <a:endParaRPr sz="2200" kern="1200" dirty="0">
                        <a:solidFill>
                          <a:srgbClr val="C00000"/>
                        </a:solidFill>
                        <a:latin typeface="+mn-lt"/>
                        <a:ea typeface="+mn-ea"/>
                        <a:cs typeface="+mn-cs"/>
                      </a:endParaRPr>
                    </a:p>
                  </a:txBody>
                  <a:tcPr marL="91425" marR="91425" marT="91425" marB="91425"/>
                </a:tc>
                <a:tc>
                  <a:txBody>
                    <a:bodyPr/>
                    <a:lstStyle/>
                    <a:p>
                      <a:pPr marL="457200" lvl="0" indent="-330200" algn="l" rtl="0">
                        <a:spcBef>
                          <a:spcPts val="0"/>
                        </a:spcBef>
                        <a:spcAft>
                          <a:spcPts val="0"/>
                        </a:spcAft>
                        <a:buSzPts val="1600"/>
                        <a:buChar char="●"/>
                      </a:pPr>
                      <a:r>
                        <a:rPr lang="en" sz="2200" kern="1200" dirty="0">
                          <a:solidFill>
                            <a:schemeClr val="tx1"/>
                          </a:solidFill>
                          <a:latin typeface="+mn-lt"/>
                          <a:ea typeface="+mn-ea"/>
                          <a:cs typeface="+mn-cs"/>
                        </a:rPr>
                        <a:t>Digital signatures (e.g. RSA signatures)</a:t>
                      </a:r>
                      <a:endParaRPr sz="2200" kern="1200" dirty="0">
                        <a:solidFill>
                          <a:schemeClr val="tx1"/>
                        </a:solidFill>
                        <a:latin typeface="+mn-lt"/>
                        <a:ea typeface="+mn-ea"/>
                        <a:cs typeface="+mn-cs"/>
                      </a:endParaRPr>
                    </a:p>
                  </a:txBody>
                  <a:tcPr marL="91425" marR="91425" marT="91425" marB="91425"/>
                </a:tc>
                <a:extLst>
                  <a:ext uri="{0D108BD9-81ED-4DB2-BD59-A6C34878D82A}">
                    <a16:rowId xmlns:a16="http://schemas.microsoft.com/office/drawing/2014/main" val="10002"/>
                  </a:ext>
                </a:extLst>
              </a:tr>
            </a:tbl>
          </a:graphicData>
        </a:graphic>
      </p:graphicFrame>
      <p:sp>
        <p:nvSpPr>
          <p:cNvPr id="4" name="Google Shape;319;p38">
            <a:extLst>
              <a:ext uri="{FF2B5EF4-FFF2-40B4-BE49-F238E27FC236}">
                <a16:creationId xmlns:a16="http://schemas.microsoft.com/office/drawing/2014/main" id="{2398151F-5A4C-9DD6-AD8C-DD5C547FA2DF}"/>
              </a:ext>
            </a:extLst>
          </p:cNvPr>
          <p:cNvSpPr txBox="1">
            <a:spLocks/>
          </p:cNvSpPr>
          <p:nvPr/>
        </p:nvSpPr>
        <p:spPr>
          <a:xfrm>
            <a:off x="1241779" y="5155193"/>
            <a:ext cx="4788086" cy="1594520"/>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30200">
              <a:spcBef>
                <a:spcPts val="600"/>
              </a:spcBef>
              <a:buSzPts val="1600"/>
              <a:buChar char="●"/>
            </a:pPr>
            <a:r>
              <a:rPr lang="en-US" sz="2200" dirty="0">
                <a:solidFill>
                  <a:srgbClr val="C00000"/>
                </a:solidFill>
              </a:rPr>
              <a:t>Hash functions</a:t>
            </a:r>
          </a:p>
          <a:p>
            <a:pPr marL="457200" indent="-330200">
              <a:spcBef>
                <a:spcPts val="600"/>
              </a:spcBef>
              <a:buSzPts val="1600"/>
              <a:buChar char="●"/>
            </a:pPr>
            <a:r>
              <a:rPr lang="en-US" sz="2000" dirty="0"/>
              <a:t>Pseudorandom number generators</a:t>
            </a:r>
          </a:p>
          <a:p>
            <a:pPr marL="457200" indent="-330200">
              <a:spcBef>
                <a:spcPts val="600"/>
              </a:spcBef>
              <a:spcAft>
                <a:spcPts val="600"/>
              </a:spcAft>
              <a:buSzPts val="1600"/>
              <a:buFont typeface="Arial" panose="020B0604020202020204" pitchFamily="34" charset="0"/>
              <a:buChar char="●"/>
            </a:pPr>
            <a:r>
              <a:rPr lang="en-US" sz="2200" dirty="0">
                <a:solidFill>
                  <a:srgbClr val="C00000"/>
                </a:solidFill>
              </a:rPr>
              <a:t>Public key exchange (e.g. Diffie-Hellman)</a:t>
            </a:r>
          </a:p>
        </p:txBody>
      </p:sp>
      <p:sp>
        <p:nvSpPr>
          <p:cNvPr id="5" name="Google Shape;320;p38">
            <a:extLst>
              <a:ext uri="{FF2B5EF4-FFF2-40B4-BE49-F238E27FC236}">
                <a16:creationId xmlns:a16="http://schemas.microsoft.com/office/drawing/2014/main" id="{D0CFD1B1-49D8-6274-36FE-3EDA96D52DF3}"/>
              </a:ext>
            </a:extLst>
          </p:cNvPr>
          <p:cNvSpPr txBox="1"/>
          <p:nvPr/>
        </p:nvSpPr>
        <p:spPr>
          <a:xfrm>
            <a:off x="6396210" y="5760801"/>
            <a:ext cx="4422750" cy="573973"/>
          </a:xfrm>
          <a:prstGeom prst="rect">
            <a:avLst/>
          </a:prstGeom>
          <a:noFill/>
          <a:ln>
            <a:noFill/>
          </a:ln>
        </p:spPr>
        <p:txBody>
          <a:bodyPr spcFirstLastPara="1" wrap="square" lIns="91425" tIns="91425" rIns="91425" bIns="91425" anchor="t" anchorCtr="0">
            <a:spAutoFit/>
          </a:bodyPr>
          <a:lstStyle/>
          <a:p>
            <a:pPr marL="457200" indent="-330200">
              <a:lnSpc>
                <a:spcPct val="115000"/>
              </a:lnSpc>
              <a:buClr>
                <a:schemeClr val="dk1"/>
              </a:buClr>
              <a:buSzPts val="1600"/>
              <a:buFont typeface="Arial" panose="020B0604020202020204" pitchFamily="34" charset="0"/>
              <a:buChar char="●"/>
            </a:pPr>
            <a:r>
              <a:rPr lang="en" sz="2200" dirty="0"/>
              <a:t>Key management (certificates)</a:t>
            </a:r>
          </a:p>
        </p:txBody>
      </p:sp>
      <p:sp>
        <p:nvSpPr>
          <p:cNvPr id="6" name="Title 1">
            <a:extLst>
              <a:ext uri="{FF2B5EF4-FFF2-40B4-BE49-F238E27FC236}">
                <a16:creationId xmlns:a16="http://schemas.microsoft.com/office/drawing/2014/main" id="{6AA4936E-DC87-10A5-2F76-317BFF058CC1}"/>
              </a:ext>
            </a:extLst>
          </p:cNvPr>
          <p:cNvSpPr txBox="1">
            <a:spLocks/>
          </p:cNvSpPr>
          <p:nvPr/>
        </p:nvSpPr>
        <p:spPr>
          <a:xfrm>
            <a:off x="838200" y="365126"/>
            <a:ext cx="10515600" cy="81669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Cryptography Roadmap</a:t>
            </a:r>
          </a:p>
        </p:txBody>
      </p:sp>
    </p:spTree>
    <p:extLst>
      <p:ext uri="{BB962C8B-B14F-4D97-AF65-F5344CB8AC3E}">
        <p14:creationId xmlns:p14="http://schemas.microsoft.com/office/powerpoint/2010/main" val="3027288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47726-E5EA-3323-AF65-E4B930B6B4F1}"/>
            </a:ext>
          </a:extLst>
        </p:cNvPr>
        <p:cNvGrpSpPr/>
        <p:nvPr/>
      </p:nvGrpSpPr>
      <p:grpSpPr>
        <a:xfrm>
          <a:off x="0" y="0"/>
          <a:ext cx="0" cy="0"/>
          <a:chOff x="0" y="0"/>
          <a:chExt cx="0" cy="0"/>
        </a:xfrm>
      </p:grpSpPr>
      <p:sp>
        <p:nvSpPr>
          <p:cNvPr id="33794" name="Rectangle 2">
            <a:extLst>
              <a:ext uri="{FF2B5EF4-FFF2-40B4-BE49-F238E27FC236}">
                <a16:creationId xmlns:a16="http://schemas.microsoft.com/office/drawing/2014/main" id="{A4BB98DF-56C7-0E15-213A-DD500F5C022C}"/>
              </a:ext>
            </a:extLst>
          </p:cNvPr>
          <p:cNvSpPr>
            <a:spLocks noGrp="1" noChangeArrowheads="1"/>
          </p:cNvSpPr>
          <p:nvPr>
            <p:ph type="title"/>
          </p:nvPr>
        </p:nvSpPr>
        <p:spPr>
          <a:xfrm>
            <a:off x="838200" y="203114"/>
            <a:ext cx="10515600" cy="840522"/>
          </a:xfrm>
        </p:spPr>
        <p:txBody>
          <a:bodyPr/>
          <a:lstStyle/>
          <a:p>
            <a:r>
              <a:rPr lang="en-US" sz="4800" dirty="0"/>
              <a:t>Cryptographic Hash Function: Definition</a:t>
            </a:r>
          </a:p>
        </p:txBody>
      </p:sp>
      <mc:AlternateContent xmlns:mc="http://schemas.openxmlformats.org/markup-compatibility/2006">
        <mc:Choice xmlns:a14="http://schemas.microsoft.com/office/drawing/2010/main" Requires="a14">
          <p:sp>
            <p:nvSpPr>
              <p:cNvPr id="33795" name="Rectangle 3">
                <a:extLst>
                  <a:ext uri="{FF2B5EF4-FFF2-40B4-BE49-F238E27FC236}">
                    <a16:creationId xmlns:a16="http://schemas.microsoft.com/office/drawing/2014/main" id="{C95FE997-9CAB-CBCC-49E4-A6F1D2F8D696}"/>
                  </a:ext>
                </a:extLst>
              </p:cNvPr>
              <p:cNvSpPr>
                <a:spLocks noGrp="1" noChangeArrowheads="1"/>
              </p:cNvSpPr>
              <p:nvPr>
                <p:ph type="body" idx="1"/>
              </p:nvPr>
            </p:nvSpPr>
            <p:spPr>
              <a:xfrm>
                <a:off x="838200" y="1266545"/>
                <a:ext cx="10515600" cy="2134325"/>
              </a:xfrm>
            </p:spPr>
            <p:txBody>
              <a:bodyPr>
                <a:normAutofit/>
              </a:bodyPr>
              <a:lstStyle/>
              <a:p>
                <a:pPr marL="0" indent="0">
                  <a:buNone/>
                </a:pPr>
                <a:r>
                  <a:rPr lang="en-US" dirty="0"/>
                  <a:t>A hash function is a mapping </a:t>
                </a:r>
                <a:r>
                  <a:rPr lang="en-US" b="1" i="1" dirty="0"/>
                  <a:t>H</a:t>
                </a:r>
                <a:r>
                  <a:rPr lang="en-US" dirty="0"/>
                  <a:t> such that:</a:t>
                </a:r>
              </a:p>
              <a:p>
                <a:pPr marL="514350" indent="-514350">
                  <a:buFont typeface="+mj-lt"/>
                  <a:buAutoNum type="arabicPeriod"/>
                </a:pPr>
                <a:r>
                  <a:rPr lang="en-US" dirty="0"/>
                  <a:t>Map binary messages </a:t>
                </a:r>
                <a:r>
                  <a:rPr lang="en-US" b="1" i="1" dirty="0"/>
                  <a:t>M</a:t>
                </a:r>
                <a:r>
                  <a:rPr lang="en-US" dirty="0"/>
                  <a:t> of arbitrary lengths to outputs (digest) of a </a:t>
                </a:r>
                <a:r>
                  <a:rPr lang="en-US" dirty="0">
                    <a:solidFill>
                      <a:srgbClr val="C00000"/>
                    </a:solidFill>
                  </a:rPr>
                  <a:t>fixed length</a:t>
                </a:r>
                <a:r>
                  <a:rPr lang="en-US" dirty="0"/>
                  <a:t>: </a:t>
                </a:r>
                <a14:m>
                  <m:oMath xmlns:m="http://schemas.openxmlformats.org/officeDocument/2006/math">
                    <m:r>
                      <a:rPr lang="en-US" i="1" smtClean="0">
                        <a:latin typeface="Cambria Math" panose="02040503050406030204" pitchFamily="18" charset="0"/>
                      </a:rPr>
                      <m:t>𝐻</m:t>
                    </m:r>
                    <m:r>
                      <a:rPr lang="en-US" i="1" smtClean="0">
                        <a:latin typeface="Cambria Math" panose="02040503050406030204" pitchFamily="18" charset="0"/>
                      </a:rPr>
                      <m:t>:</m:t>
                    </m:r>
                    <m:sSup>
                      <m:sSupPr>
                        <m:ctrlPr>
                          <a:rPr lang="en-US" i="1" smtClean="0">
                            <a:solidFill>
                              <a:srgbClr val="836967"/>
                            </a:solidFill>
                            <a:latin typeface="Cambria Math" panose="02040503050406030204" pitchFamily="18" charset="0"/>
                          </a:rPr>
                        </m:ctrlPr>
                      </m:sSupPr>
                      <m:e>
                        <m:d>
                          <m:dPr>
                            <m:begChr m:val="{"/>
                            <m:endChr m:val="}"/>
                            <m:ctrlPr>
                              <a:rPr lang="en-US" i="1" smtClean="0">
                                <a:solidFill>
                                  <a:srgbClr val="836967"/>
                                </a:solidFill>
                                <a:latin typeface="Cambria Math" panose="02040503050406030204" pitchFamily="18" charset="0"/>
                              </a:rPr>
                            </m:ctrlPr>
                          </m:dPr>
                          <m:e>
                            <m:r>
                              <a:rPr lang="en-US" i="1" smtClean="0">
                                <a:latin typeface="Cambria Math" panose="02040503050406030204" pitchFamily="18" charset="0"/>
                              </a:rPr>
                              <m:t>0,1</m:t>
                            </m:r>
                          </m:e>
                        </m:d>
                      </m:e>
                      <m:sup>
                        <m:r>
                          <a:rPr lang="en-US" i="1" smtClean="0">
                            <a:latin typeface="Cambria Math" panose="02040503050406030204" pitchFamily="18" charset="0"/>
                          </a:rPr>
                          <m:t>∗</m:t>
                        </m:r>
                      </m:sup>
                    </m:sSup>
                    <m:r>
                      <a:rPr lang="en-US" i="1" smtClean="0">
                        <a:latin typeface="Cambria Math" panose="02040503050406030204" pitchFamily="18" charset="0"/>
                      </a:rPr>
                      <m:t>→</m:t>
                    </m:r>
                    <m:sSup>
                      <m:sSupPr>
                        <m:ctrlPr>
                          <a:rPr lang="en-US" i="1" smtClean="0">
                            <a:solidFill>
                              <a:srgbClr val="836967"/>
                            </a:solidFill>
                            <a:latin typeface="Cambria Math" panose="02040503050406030204" pitchFamily="18" charset="0"/>
                          </a:rPr>
                        </m:ctrlPr>
                      </m:sSupPr>
                      <m:e>
                        <m:d>
                          <m:dPr>
                            <m:begChr m:val="{"/>
                            <m:endChr m:val="}"/>
                            <m:ctrlPr>
                              <a:rPr lang="en-US" i="1" smtClean="0">
                                <a:solidFill>
                                  <a:srgbClr val="836967"/>
                                </a:solidFill>
                                <a:latin typeface="Cambria Math" panose="02040503050406030204" pitchFamily="18" charset="0"/>
                              </a:rPr>
                            </m:ctrlPr>
                          </m:dPr>
                          <m:e>
                            <m:r>
                              <a:rPr lang="en-US" i="1" smtClean="0">
                                <a:latin typeface="Cambria Math" panose="02040503050406030204" pitchFamily="18" charset="0"/>
                              </a:rPr>
                              <m:t>0.1</m:t>
                            </m:r>
                          </m:e>
                        </m:d>
                      </m:e>
                      <m:sup>
                        <m:r>
                          <a:rPr lang="en-US" i="1" smtClean="0">
                            <a:latin typeface="Cambria Math" panose="02040503050406030204" pitchFamily="18" charset="0"/>
                          </a:rPr>
                          <m:t>𝑛</m:t>
                        </m:r>
                      </m:sup>
                    </m:sSup>
                  </m:oMath>
                </a14:m>
                <a:r>
                  <a:rPr lang="en-US" dirty="0"/>
                  <a:t> ( </a:t>
                </a:r>
                <a14:m>
                  <m:oMath xmlns:m="http://schemas.openxmlformats.org/officeDocument/2006/math">
                    <m:r>
                      <a:rPr lang="en-US" i="1" dirty="0" smtClean="0">
                        <a:latin typeface="Cambria Math" panose="02040503050406030204" pitchFamily="18" charset="0"/>
                      </a:rPr>
                      <m:t>𝑛</m:t>
                    </m:r>
                  </m:oMath>
                </a14:m>
                <a:r>
                  <a:rPr lang="en-US" dirty="0"/>
                  <a:t> is small, e.g.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 = 256</m:t>
                    </m:r>
                  </m:oMath>
                </a14:m>
                <a:r>
                  <a:rPr lang="en-US" dirty="0"/>
                  <a:t>)</a:t>
                </a:r>
              </a:p>
              <a:p>
                <a:pPr marL="514350" indent="-514350">
                  <a:buFont typeface="+mj-lt"/>
                  <a:buAutoNum type="arabicPeriod"/>
                </a:pPr>
                <a:r>
                  <a:rPr lang="en-US" altLang="zh-CN" dirty="0"/>
                  <a:t>C</a:t>
                </a:r>
                <a:r>
                  <a:rPr lang="en-US" dirty="0"/>
                  <a:t>an be efficiently computed for all </a:t>
                </a:r>
                <a14:m>
                  <m:oMath xmlns:m="http://schemas.openxmlformats.org/officeDocument/2006/math">
                    <m:r>
                      <a:rPr lang="en-US" sz="2800" i="1" dirty="0" smtClean="0">
                        <a:latin typeface="Cambria Math" panose="02040503050406030204" pitchFamily="18" charset="0"/>
                      </a:rPr>
                      <m:t>𝑥</m:t>
                    </m:r>
                  </m:oMath>
                </a14:m>
                <a:endParaRPr lang="en-US" sz="2800" dirty="0"/>
              </a:p>
            </p:txBody>
          </p:sp>
        </mc:Choice>
        <mc:Fallback>
          <p:sp>
            <p:nvSpPr>
              <p:cNvPr id="33795" name="Rectangle 3">
                <a:extLst>
                  <a:ext uri="{FF2B5EF4-FFF2-40B4-BE49-F238E27FC236}">
                    <a16:creationId xmlns:a16="http://schemas.microsoft.com/office/drawing/2014/main" id="{C95FE997-9CAB-CBCC-49E4-A6F1D2F8D696}"/>
                  </a:ext>
                </a:extLst>
              </p:cNvPr>
              <p:cNvSpPr>
                <a:spLocks noGrp="1" noRot="1" noChangeAspect="1" noMove="1" noResize="1" noEditPoints="1" noAdjustHandles="1" noChangeArrowheads="1" noChangeShapeType="1" noTextEdit="1"/>
              </p:cNvSpPr>
              <p:nvPr>
                <p:ph type="body" idx="1"/>
              </p:nvPr>
            </p:nvSpPr>
            <p:spPr>
              <a:xfrm>
                <a:off x="838200" y="1266545"/>
                <a:ext cx="10515600" cy="2134325"/>
              </a:xfrm>
              <a:blipFill>
                <a:blip r:embed="rId3"/>
                <a:stretch>
                  <a:fillRect l="-1217" t="-5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982EAC32-4D1D-1B49-9D02-E3F9B2185450}"/>
                  </a:ext>
                </a:extLst>
              </p:cNvPr>
              <p:cNvSpPr txBox="1">
                <a:spLocks noChangeArrowheads="1"/>
              </p:cNvSpPr>
              <p:nvPr/>
            </p:nvSpPr>
            <p:spPr>
              <a:xfrm>
                <a:off x="0" y="3550339"/>
                <a:ext cx="6166532" cy="33076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spcAft>
                    <a:spcPts val="6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spcAft>
                    <a:spcPts val="6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spcAft>
                    <a:spcPts val="6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spcAft>
                    <a:spcPts val="6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spcAft>
                    <a:spcPts val="6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lang="en-US" sz="2200" i="1" dirty="0" smtClean="0">
                        <a:latin typeface="Cambria Math" panose="02040503050406030204" pitchFamily="18" charset="0"/>
                      </a:rPr>
                      <m:t>𝐻</m:t>
                    </m:r>
                  </m:oMath>
                </a14:m>
                <a:r>
                  <a:rPr lang="en-US" sz="2200" dirty="0"/>
                  <a:t> is called an </a:t>
                </a:r>
                <a:r>
                  <a:rPr lang="en-US" sz="2200" i="1" dirty="0">
                    <a:solidFill>
                      <a:srgbClr val="C00000"/>
                    </a:solidFill>
                  </a:rPr>
                  <a:t>n-bit hash function</a:t>
                </a:r>
                <a:r>
                  <a:rPr lang="en-US" sz="2200" dirty="0"/>
                  <a:t>           </a:t>
                </a:r>
              </a:p>
              <a:p>
                <a14:m>
                  <m:oMath xmlns:m="http://schemas.openxmlformats.org/officeDocument/2006/math">
                    <m:r>
                      <a:rPr lang="en-US" sz="2200" i="1" dirty="0" smtClean="0">
                        <a:latin typeface="Cambria Math" panose="02040503050406030204" pitchFamily="18" charset="0"/>
                      </a:rPr>
                      <m:t>𝐻</m:t>
                    </m:r>
                    <m:r>
                      <a:rPr lang="en-US" sz="2200" i="1" dirty="0" smtClean="0">
                        <a:latin typeface="Cambria Math" panose="02040503050406030204" pitchFamily="18" charset="0"/>
                      </a:rPr>
                      <m:t>(</m:t>
                    </m:r>
                    <m:r>
                      <a:rPr lang="en-US" sz="2200" i="1" dirty="0" smtClean="0">
                        <a:latin typeface="Cambria Math" panose="02040503050406030204" pitchFamily="18" charset="0"/>
                      </a:rPr>
                      <m:t>𝑥</m:t>
                    </m:r>
                    <m:r>
                      <a:rPr lang="en-US" sz="2200" i="1" dirty="0" smtClean="0">
                        <a:latin typeface="Cambria Math" panose="02040503050406030204" pitchFamily="18" charset="0"/>
                      </a:rPr>
                      <m:t>) </m:t>
                    </m:r>
                  </m:oMath>
                </a14:m>
                <a:r>
                  <a:rPr lang="en-US" sz="2200" dirty="0"/>
                  <a:t>is called the </a:t>
                </a:r>
                <a:r>
                  <a:rPr lang="en-US" sz="2200" dirty="0">
                    <a:solidFill>
                      <a:srgbClr val="C00000"/>
                    </a:solidFill>
                  </a:rPr>
                  <a:t>hash</a:t>
                </a:r>
                <a:r>
                  <a:rPr lang="en-US" sz="2200" dirty="0"/>
                  <a:t> or </a:t>
                </a:r>
                <a:r>
                  <a:rPr lang="en-US" sz="2200" dirty="0">
                    <a:solidFill>
                      <a:srgbClr val="C00000"/>
                    </a:solidFill>
                  </a:rPr>
                  <a:t>message digest </a:t>
                </a:r>
                <a:r>
                  <a:rPr lang="en-US" sz="2200" dirty="0"/>
                  <a:t>of </a:t>
                </a:r>
                <a14:m>
                  <m:oMath xmlns:m="http://schemas.openxmlformats.org/officeDocument/2006/math">
                    <m:r>
                      <a:rPr lang="en-US" sz="2200" i="1" dirty="0" smtClean="0">
                        <a:latin typeface="Cambria Math" panose="02040503050406030204" pitchFamily="18" charset="0"/>
                      </a:rPr>
                      <m:t>𝑥</m:t>
                    </m:r>
                  </m:oMath>
                </a14:m>
                <a:endParaRPr lang="en-US" sz="2200" dirty="0"/>
              </a:p>
              <a:p>
                <a:r>
                  <a:rPr lang="en-US" sz="2200" dirty="0"/>
                  <a:t>The description of a hash function is public; there are </a:t>
                </a:r>
                <a:r>
                  <a:rPr lang="en-US" sz="2200" b="1" dirty="0">
                    <a:solidFill>
                      <a:srgbClr val="C00000"/>
                    </a:solidFill>
                  </a:rPr>
                  <a:t>no secret keys</a:t>
                </a:r>
              </a:p>
              <a:p>
                <a:r>
                  <a:rPr lang="en-US" sz="2200" strike="sngStrike" dirty="0">
                    <a:solidFill>
                      <a:srgbClr val="000000"/>
                    </a:solidFill>
                    <a:hlinkClick r:id="rId4">
                      <a:extLst>
                        <a:ext uri="{A12FA001-AC4F-418D-AE19-62706E023703}">
                          <ahyp:hlinkClr xmlns:ahyp="http://schemas.microsoft.com/office/drawing/2018/hyperlinkcolor" val="tx"/>
                        </a:ext>
                      </a:extLst>
                    </a:hlinkClick>
                  </a:rPr>
                  <a:t>SHA-1</a:t>
                </a:r>
                <a:r>
                  <a:rPr lang="en-US" sz="2200" strike="sngStrike" dirty="0">
                    <a:solidFill>
                      <a:srgbClr val="000000"/>
                    </a:solidFill>
                  </a:rPr>
                  <a:t> (n = 160) and SHA-1 </a:t>
                </a:r>
                <a:r>
                  <a:rPr lang="en-US" sz="2200" strike="sngStrike" dirty="0">
                    <a:solidFill>
                      <a:srgbClr val="000000"/>
                    </a:solidFill>
                    <a:hlinkClick r:id="rId5">
                      <a:extLst>
                        <a:ext uri="{A12FA001-AC4F-418D-AE19-62706E023703}">
                          <ahyp:hlinkClr xmlns:ahyp="http://schemas.microsoft.com/office/drawing/2018/hyperlinkcolor" val="tx"/>
                        </a:ext>
                      </a:extLst>
                    </a:hlinkClick>
                  </a:rPr>
                  <a:t>hash calculator</a:t>
                </a:r>
                <a:endParaRPr lang="en-US" sz="2200" strike="sngStrike" dirty="0">
                  <a:solidFill>
                    <a:srgbClr val="000000"/>
                  </a:solidFill>
                </a:endParaRPr>
              </a:p>
              <a:p>
                <a:r>
                  <a:rPr lang="en-US" sz="2200" dirty="0">
                    <a:hlinkClick r:id="rId6"/>
                  </a:rPr>
                  <a:t>SHA-256</a:t>
                </a:r>
                <a:r>
                  <a:rPr lang="en-US" sz="2200" dirty="0"/>
                  <a:t> (n = 256) and SHA-256 </a:t>
                </a:r>
                <a:r>
                  <a:rPr lang="en-US" sz="2200" dirty="0">
                    <a:hlinkClick r:id="rId7"/>
                  </a:rPr>
                  <a:t>hash calculator</a:t>
                </a:r>
                <a:endParaRPr lang="en-US" sz="2200" dirty="0"/>
              </a:p>
              <a:p>
                <a:pPr marL="0" indent="0">
                  <a:buNone/>
                </a:pPr>
                <a:endParaRPr lang="en-US" sz="2200" strike="sngStrike" dirty="0">
                  <a:solidFill>
                    <a:srgbClr val="C00000"/>
                  </a:solidFill>
                </a:endParaRPr>
              </a:p>
              <a:p>
                <a:endParaRPr lang="en-US" sz="2200" b="1" dirty="0">
                  <a:solidFill>
                    <a:srgbClr val="C00000"/>
                  </a:solidFill>
                </a:endParaRPr>
              </a:p>
            </p:txBody>
          </p:sp>
        </mc:Choice>
        <mc:Fallback xmlns="">
          <p:sp>
            <p:nvSpPr>
              <p:cNvPr id="2" name="Rectangle 3">
                <a:extLst>
                  <a:ext uri="{FF2B5EF4-FFF2-40B4-BE49-F238E27FC236}">
                    <a16:creationId xmlns:a16="http://schemas.microsoft.com/office/drawing/2014/main" id="{982EAC32-4D1D-1B49-9D02-E3F9B2185450}"/>
                  </a:ext>
                </a:extLst>
              </p:cNvPr>
              <p:cNvSpPr txBox="1">
                <a:spLocks noRot="1" noChangeAspect="1" noMove="1" noResize="1" noEditPoints="1" noAdjustHandles="1" noChangeArrowheads="1" noChangeShapeType="1" noTextEdit="1"/>
              </p:cNvSpPr>
              <p:nvPr/>
            </p:nvSpPr>
            <p:spPr>
              <a:xfrm>
                <a:off x="0" y="3550339"/>
                <a:ext cx="6166532" cy="3307661"/>
              </a:xfrm>
              <a:prstGeom prst="rect">
                <a:avLst/>
              </a:prstGeom>
              <a:blipFill>
                <a:blip r:embed="rId8"/>
                <a:stretch>
                  <a:fillRect l="-1087" t="-2026" r="-79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1A198C45-A3AC-B029-7D6D-804D25765480}"/>
              </a:ext>
            </a:extLst>
          </p:cNvPr>
          <p:cNvPicPr>
            <a:picLocks noChangeAspect="1"/>
          </p:cNvPicPr>
          <p:nvPr/>
        </p:nvPicPr>
        <p:blipFill>
          <a:blip r:embed="rId9"/>
          <a:stretch>
            <a:fillRect/>
          </a:stretch>
        </p:blipFill>
        <p:spPr>
          <a:xfrm>
            <a:off x="6266033" y="3550339"/>
            <a:ext cx="5638800" cy="2847975"/>
          </a:xfrm>
          <a:prstGeom prst="rect">
            <a:avLst/>
          </a:prstGeom>
        </p:spPr>
      </p:pic>
    </p:spTree>
    <p:extLst>
      <p:ext uri="{BB962C8B-B14F-4D97-AF65-F5344CB8AC3E}">
        <p14:creationId xmlns:p14="http://schemas.microsoft.com/office/powerpoint/2010/main" val="1662264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5467A-F818-A1F9-F3EF-4B5047499B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35393E-1431-B7BA-7A59-500B1F42F3D7}"/>
              </a:ext>
            </a:extLst>
          </p:cNvPr>
          <p:cNvSpPr>
            <a:spLocks noGrp="1"/>
          </p:cNvSpPr>
          <p:nvPr>
            <p:ph type="title"/>
          </p:nvPr>
        </p:nvSpPr>
        <p:spPr>
          <a:xfrm>
            <a:off x="838200" y="154110"/>
            <a:ext cx="10515600" cy="892175"/>
          </a:xfrm>
        </p:spPr>
        <p:txBody>
          <a:bodyPr/>
          <a:lstStyle/>
          <a:p>
            <a:r>
              <a:rPr lang="en-US" dirty="0"/>
              <a:t>Cryptographic Hash Function: Properties</a:t>
            </a:r>
          </a:p>
        </p:txBody>
      </p:sp>
      <p:sp>
        <p:nvSpPr>
          <p:cNvPr id="4" name="Google Shape;411;p54">
            <a:extLst>
              <a:ext uri="{FF2B5EF4-FFF2-40B4-BE49-F238E27FC236}">
                <a16:creationId xmlns:a16="http://schemas.microsoft.com/office/drawing/2014/main" id="{207498E3-58A5-ABC2-3AFD-A18EBC66AA4C}"/>
              </a:ext>
            </a:extLst>
          </p:cNvPr>
          <p:cNvSpPr txBox="1">
            <a:spLocks/>
          </p:cNvSpPr>
          <p:nvPr/>
        </p:nvSpPr>
        <p:spPr>
          <a:xfrm>
            <a:off x="838200" y="1447800"/>
            <a:ext cx="10515600" cy="5045075"/>
          </a:xfrm>
          <a:prstGeom prst="rect">
            <a:avLst/>
          </a:prstGeom>
        </p:spPr>
        <p:txBody>
          <a:bodyPr spcFirstLastPara="1" vert="horz" wrap="square" lIns="91425" tIns="91425" rIns="91425" bIns="91425"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42900">
              <a:spcBef>
                <a:spcPts val="0"/>
              </a:spcBef>
              <a:spcAft>
                <a:spcPts val="600"/>
              </a:spcAft>
              <a:buSzPts val="1800"/>
              <a:buFont typeface="Arial" panose="020B0604020202020204" pitchFamily="34" charset="0"/>
              <a:buChar char="●"/>
            </a:pPr>
            <a:r>
              <a:rPr lang="en-US" b="1" dirty="0"/>
              <a:t>Correctness</a:t>
            </a:r>
            <a:r>
              <a:rPr lang="en-US" dirty="0"/>
              <a:t>: Deterministic</a:t>
            </a:r>
            <a:r>
              <a:rPr lang="en-US" sz="1800" dirty="0"/>
              <a:t> </a:t>
            </a:r>
            <a:r>
              <a:rPr lang="en-US" sz="1800" dirty="0">
                <a:sym typeface="Wingdings" panose="05000000000000000000" pitchFamily="2" charset="2"/>
              </a:rPr>
              <a:t> </a:t>
            </a:r>
            <a:r>
              <a:rPr lang="en-US" dirty="0"/>
              <a:t>Hashing the same input always produces the same output</a:t>
            </a:r>
          </a:p>
          <a:p>
            <a:pPr marL="457200" indent="-342900">
              <a:spcBef>
                <a:spcPts val="0"/>
              </a:spcBef>
              <a:spcAft>
                <a:spcPts val="600"/>
              </a:spcAft>
              <a:buSzPts val="1800"/>
              <a:buFont typeface="Arial" panose="020B0604020202020204" pitchFamily="34" charset="0"/>
              <a:buChar char="●"/>
            </a:pPr>
            <a:r>
              <a:rPr lang="en-US" b="1" dirty="0"/>
              <a:t>Efficiency</a:t>
            </a:r>
            <a:r>
              <a:rPr lang="en-US" dirty="0"/>
              <a:t>: Efficient to compute</a:t>
            </a:r>
          </a:p>
          <a:p>
            <a:pPr marL="457200" indent="-342900">
              <a:spcBef>
                <a:spcPts val="0"/>
              </a:spcBef>
              <a:spcAft>
                <a:spcPts val="600"/>
              </a:spcAft>
              <a:buSzPts val="1800"/>
              <a:buFont typeface="Arial" panose="020B0604020202020204" pitchFamily="34" charset="0"/>
              <a:buChar char="●"/>
            </a:pPr>
            <a:r>
              <a:rPr lang="en-US" b="1" dirty="0"/>
              <a:t>Security: </a:t>
            </a:r>
            <a:r>
              <a:rPr lang="en-US" dirty="0">
                <a:solidFill>
                  <a:srgbClr val="C00000"/>
                </a:solidFill>
              </a:rPr>
              <a:t>Random/unpredictability</a:t>
            </a:r>
            <a:r>
              <a:rPr lang="en-US" dirty="0"/>
              <a:t>, no predictable patterns for how changing the input affects the output</a:t>
            </a:r>
          </a:p>
          <a:p>
            <a:pPr marL="914400" lvl="1" indent="-342900">
              <a:spcBef>
                <a:spcPts val="0"/>
              </a:spcBef>
              <a:spcAft>
                <a:spcPts val="600"/>
              </a:spcAft>
              <a:buSzPts val="1800"/>
              <a:buFont typeface="Arial" panose="020B0604020202020204" pitchFamily="34" charset="0"/>
              <a:buChar char="●"/>
            </a:pPr>
            <a:r>
              <a:rPr lang="en-US" dirty="0"/>
              <a:t>Changing 1 bit in the input causes the output to be completely different</a:t>
            </a:r>
          </a:p>
          <a:p>
            <a:pPr marL="914400" lvl="1" indent="-342900">
              <a:spcBef>
                <a:spcPts val="0"/>
              </a:spcBef>
              <a:spcAft>
                <a:spcPts val="600"/>
              </a:spcAft>
              <a:buSzPts val="1800"/>
              <a:buFont typeface="Arial" panose="020B0604020202020204" pitchFamily="34" charset="0"/>
              <a:buChar char="●"/>
            </a:pPr>
            <a:r>
              <a:rPr lang="en-US" dirty="0"/>
              <a:t>Also called “random oracle” assumption</a:t>
            </a:r>
          </a:p>
          <a:p>
            <a:pPr marL="457200" indent="-342900">
              <a:spcBef>
                <a:spcPts val="0"/>
              </a:spcBef>
              <a:spcAft>
                <a:spcPts val="600"/>
              </a:spcAft>
              <a:buSzPts val="1800"/>
              <a:buFont typeface="Arial" panose="020B0604020202020204" pitchFamily="34" charset="0"/>
              <a:buChar char="●"/>
            </a:pPr>
            <a:r>
              <a:rPr lang="en-US" b="1" dirty="0"/>
              <a:t>Security</a:t>
            </a:r>
            <a:r>
              <a:rPr lang="en-US" dirty="0"/>
              <a:t>: </a:t>
            </a:r>
            <a:r>
              <a:rPr lang="en-US" dirty="0">
                <a:solidFill>
                  <a:srgbClr val="C00000"/>
                </a:solidFill>
              </a:rPr>
              <a:t>One-way-ness</a:t>
            </a:r>
            <a:r>
              <a:rPr lang="en-US" dirty="0"/>
              <a:t> (“preimage resistance”)</a:t>
            </a:r>
          </a:p>
          <a:p>
            <a:pPr marL="457200" indent="-342900">
              <a:spcBef>
                <a:spcPts val="0"/>
              </a:spcBef>
              <a:spcAft>
                <a:spcPts val="600"/>
              </a:spcAft>
              <a:buSzPts val="1800"/>
              <a:buFont typeface="Arial" panose="020B0604020202020204" pitchFamily="34" charset="0"/>
              <a:buChar char="●"/>
            </a:pPr>
            <a:r>
              <a:rPr lang="en-US" b="1" dirty="0"/>
              <a:t>Security</a:t>
            </a:r>
            <a:r>
              <a:rPr lang="en-US" dirty="0"/>
              <a:t>: </a:t>
            </a:r>
            <a:r>
              <a:rPr lang="en-US" dirty="0">
                <a:solidFill>
                  <a:srgbClr val="C00000"/>
                </a:solidFill>
              </a:rPr>
              <a:t>Collision-resistance</a:t>
            </a:r>
          </a:p>
        </p:txBody>
      </p:sp>
    </p:spTree>
    <p:extLst>
      <p:ext uri="{BB962C8B-B14F-4D97-AF65-F5344CB8AC3E}">
        <p14:creationId xmlns:p14="http://schemas.microsoft.com/office/powerpoint/2010/main" val="49127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AD9E3-8DF7-5F75-0308-E5ECED81245C}"/>
              </a:ext>
            </a:extLst>
          </p:cNvPr>
          <p:cNvSpPr>
            <a:spLocks noGrp="1"/>
          </p:cNvSpPr>
          <p:nvPr>
            <p:ph type="title"/>
          </p:nvPr>
        </p:nvSpPr>
        <p:spPr>
          <a:xfrm>
            <a:off x="838199" y="327635"/>
            <a:ext cx="10515600" cy="786667"/>
          </a:xfrm>
        </p:spPr>
        <p:txBody>
          <a:bodyPr>
            <a:normAutofit/>
          </a:bodyPr>
          <a:lstStyle/>
          <a:p>
            <a:r>
              <a:rPr lang="en" sz="3600" dirty="0"/>
              <a:t>Hash Function: One-way-ness or Preimage Resistance</a:t>
            </a:r>
            <a:endParaRPr lang="en-US" sz="3600" dirty="0"/>
          </a:p>
        </p:txBody>
      </p:sp>
      <p:sp>
        <p:nvSpPr>
          <p:cNvPr id="4" name="Google Shape;424;p56">
            <a:extLst>
              <a:ext uri="{FF2B5EF4-FFF2-40B4-BE49-F238E27FC236}">
                <a16:creationId xmlns:a16="http://schemas.microsoft.com/office/drawing/2014/main" id="{99E4E80B-7991-B160-C7EA-937479903D2F}"/>
              </a:ext>
            </a:extLst>
          </p:cNvPr>
          <p:cNvSpPr txBox="1">
            <a:spLocks/>
          </p:cNvSpPr>
          <p:nvPr/>
        </p:nvSpPr>
        <p:spPr>
          <a:xfrm>
            <a:off x="191965" y="1582616"/>
            <a:ext cx="11808069" cy="4554415"/>
          </a:xfrm>
          <a:prstGeom prst="rect">
            <a:avLst/>
          </a:prstGeom>
        </p:spPr>
        <p:txBody>
          <a:bodyPr spcFirstLastPara="1" vert="horz" wrap="square" lIns="91425" tIns="91425" rIns="91425" bIns="91425"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spcBef>
                <a:spcPts val="0"/>
              </a:spcBef>
              <a:spcAft>
                <a:spcPts val="600"/>
              </a:spcAft>
              <a:buSzPts val="1800"/>
              <a:buNone/>
            </a:pPr>
            <a:r>
              <a:rPr lang="en-US" b="1" dirty="0"/>
              <a:t>Informal description of “One-way-ness”: </a:t>
            </a:r>
          </a:p>
          <a:p>
            <a:pPr marL="457200" indent="-342900">
              <a:spcBef>
                <a:spcPts val="0"/>
              </a:spcBef>
              <a:spcAft>
                <a:spcPts val="600"/>
              </a:spcAft>
              <a:buSzPts val="1800"/>
              <a:buFont typeface="Arial" panose="020B0604020202020204" pitchFamily="34" charset="0"/>
              <a:buChar char="●"/>
            </a:pPr>
            <a:r>
              <a:rPr lang="en-US" dirty="0"/>
              <a:t>Given an output y, it is </a:t>
            </a:r>
            <a:r>
              <a:rPr lang="en-US" i="1" dirty="0">
                <a:solidFill>
                  <a:srgbClr val="C00000"/>
                </a:solidFill>
              </a:rPr>
              <a:t>infeasible to find any input x </a:t>
            </a:r>
            <a:r>
              <a:rPr lang="en-US" dirty="0"/>
              <a:t>such that H(x) = y</a:t>
            </a:r>
          </a:p>
          <a:p>
            <a:pPr marL="457200" indent="-342900">
              <a:spcBef>
                <a:spcPts val="0"/>
              </a:spcBef>
              <a:spcAft>
                <a:spcPts val="600"/>
              </a:spcAft>
              <a:buSzPts val="1800"/>
              <a:buFont typeface="Arial" panose="020B0604020202020204" pitchFamily="34" charset="0"/>
              <a:buChar char="●"/>
            </a:pPr>
            <a:r>
              <a:rPr lang="en-US" altLang="zh-CN" dirty="0"/>
              <a:t>e.g., </a:t>
            </a:r>
            <a:r>
              <a:rPr lang="en-US" dirty="0"/>
              <a:t>SHA-256(a) = ca978112ca1bbdcafac231b39a23dc4da786eff8147c4e72b9807785afee48bb</a:t>
            </a:r>
          </a:p>
          <a:p>
            <a:pPr marL="457200" indent="-342900">
              <a:spcBef>
                <a:spcPts val="0"/>
              </a:spcBef>
              <a:spcAft>
                <a:spcPts val="600"/>
              </a:spcAft>
              <a:buSzPts val="1800"/>
              <a:buFont typeface="Arial" panose="020B0604020202020204" pitchFamily="34" charset="0"/>
              <a:buChar char="●"/>
            </a:pPr>
            <a:r>
              <a:rPr lang="en-US" dirty="0"/>
              <a:t>Here’s an output. Can you find an input that hashes to this output? </a:t>
            </a:r>
            <a:r>
              <a:rPr lang="en-US" b="1" i="1" dirty="0">
                <a:solidFill>
                  <a:srgbClr val="C00000"/>
                </a:solidFill>
              </a:rPr>
              <a:t>NO!</a:t>
            </a:r>
          </a:p>
          <a:p>
            <a:pPr marL="914400" lvl="1" indent="-342900">
              <a:spcBef>
                <a:spcPts val="0"/>
              </a:spcBef>
              <a:spcAft>
                <a:spcPts val="600"/>
              </a:spcAft>
              <a:buSzPts val="1800"/>
              <a:buFont typeface="Arial" panose="020B0604020202020204" pitchFamily="34" charset="0"/>
              <a:buChar char="●"/>
            </a:pPr>
            <a:r>
              <a:rPr lang="en-US" dirty="0"/>
              <a:t>Note: The adversary just needs to find </a:t>
            </a:r>
            <a:r>
              <a:rPr lang="en-US" i="1" dirty="0">
                <a:solidFill>
                  <a:srgbClr val="C00000"/>
                </a:solidFill>
              </a:rPr>
              <a:t>any</a:t>
            </a:r>
            <a:r>
              <a:rPr lang="en-US" dirty="0">
                <a:solidFill>
                  <a:srgbClr val="C00000"/>
                </a:solidFill>
              </a:rPr>
              <a:t> input</a:t>
            </a:r>
            <a:r>
              <a:rPr lang="en-US" dirty="0"/>
              <a:t>, not necessarily the input that was actually used to generate the hash</a:t>
            </a:r>
          </a:p>
          <a:p>
            <a:pPr marL="457200" indent="-342900">
              <a:spcBef>
                <a:spcPts val="0"/>
              </a:spcBef>
              <a:spcAft>
                <a:spcPts val="600"/>
              </a:spcAft>
              <a:buSzPts val="1800"/>
              <a:buFont typeface="Arial" panose="020B0604020202020204" pitchFamily="34" charset="0"/>
              <a:buChar char="●"/>
            </a:pPr>
            <a:r>
              <a:rPr lang="en-US" dirty="0"/>
              <a:t>Counterexample: Is H(x) = x</a:t>
            </a:r>
            <a:r>
              <a:rPr lang="en-US" baseline="30000" dirty="0"/>
              <a:t>2</a:t>
            </a:r>
            <a:r>
              <a:rPr lang="en-US" dirty="0"/>
              <a:t> one-way?</a:t>
            </a:r>
          </a:p>
          <a:p>
            <a:pPr marL="914400" lvl="1" indent="-342900">
              <a:spcBef>
                <a:spcPts val="0"/>
              </a:spcBef>
              <a:spcAft>
                <a:spcPts val="600"/>
              </a:spcAft>
              <a:buSzPts val="1800"/>
              <a:buFont typeface="Arial" panose="020B0604020202020204" pitchFamily="34" charset="0"/>
              <a:buChar char="●"/>
            </a:pPr>
            <a:r>
              <a:rPr lang="en-US" dirty="0"/>
              <a:t>No, because given output 100, an attacker can return a number x, </a:t>
            </a:r>
            <a:r>
              <a:rPr lang="en-US" dirty="0" err="1"/>
              <a:t>s.t.</a:t>
            </a:r>
            <a:r>
              <a:rPr lang="en-US" dirty="0"/>
              <a:t> H(x) = 100</a:t>
            </a:r>
          </a:p>
        </p:txBody>
      </p:sp>
    </p:spTree>
    <p:extLst>
      <p:ext uri="{BB962C8B-B14F-4D97-AF65-F5344CB8AC3E}">
        <p14:creationId xmlns:p14="http://schemas.microsoft.com/office/powerpoint/2010/main" val="2520776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B39B6-7672-DFFF-82AC-65391C96601E}"/>
              </a:ext>
            </a:extLst>
          </p:cNvPr>
          <p:cNvSpPr>
            <a:spLocks noGrp="1"/>
          </p:cNvSpPr>
          <p:nvPr>
            <p:ph type="title"/>
          </p:nvPr>
        </p:nvSpPr>
        <p:spPr>
          <a:xfrm>
            <a:off x="838200" y="182881"/>
            <a:ext cx="10515600" cy="892175"/>
          </a:xfrm>
        </p:spPr>
        <p:txBody>
          <a:bodyPr/>
          <a:lstStyle/>
          <a:p>
            <a:r>
              <a:rPr lang="en-US" dirty="0"/>
              <a:t>Hash Function: Collision Resistance</a:t>
            </a:r>
          </a:p>
        </p:txBody>
      </p:sp>
      <p:sp>
        <p:nvSpPr>
          <p:cNvPr id="4" name="Google Shape;432;p57">
            <a:extLst>
              <a:ext uri="{FF2B5EF4-FFF2-40B4-BE49-F238E27FC236}">
                <a16:creationId xmlns:a16="http://schemas.microsoft.com/office/drawing/2014/main" id="{343C7249-F30A-DCBE-3338-7564762C3433}"/>
              </a:ext>
            </a:extLst>
          </p:cNvPr>
          <p:cNvSpPr txBox="1">
            <a:spLocks/>
          </p:cNvSpPr>
          <p:nvPr/>
        </p:nvSpPr>
        <p:spPr>
          <a:xfrm>
            <a:off x="838200" y="1360538"/>
            <a:ext cx="10515600" cy="5180939"/>
          </a:xfrm>
          <a:prstGeom prst="rect">
            <a:avLst/>
          </a:prstGeom>
        </p:spPr>
        <p:txBody>
          <a:bodyPr spcFirstLastPara="1" vert="horz" wrap="square" lIns="91425" tIns="91425" rIns="91425" bIns="91425" rtlCol="0" anchor="t" anchorCtr="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spcBef>
                <a:spcPts val="0"/>
              </a:spcBef>
              <a:spcAft>
                <a:spcPts val="600"/>
              </a:spcAft>
              <a:buSzPts val="1800"/>
              <a:buNone/>
            </a:pPr>
            <a:r>
              <a:rPr lang="en-US" b="1" dirty="0"/>
              <a:t>Informal description of Collision</a:t>
            </a:r>
            <a:r>
              <a:rPr lang="en-US" dirty="0"/>
              <a:t>: </a:t>
            </a:r>
          </a:p>
          <a:p>
            <a:pPr marL="457200" indent="-342900">
              <a:spcBef>
                <a:spcPts val="0"/>
              </a:spcBef>
              <a:spcAft>
                <a:spcPts val="600"/>
              </a:spcAft>
              <a:buSzPts val="1800"/>
              <a:buFont typeface="Arial" panose="020B0604020202020204" pitchFamily="34" charset="0"/>
              <a:buChar char="●"/>
            </a:pPr>
            <a:r>
              <a:rPr lang="en-US" dirty="0"/>
              <a:t>Two different inputs with the same hash value</a:t>
            </a:r>
          </a:p>
          <a:p>
            <a:pPr marL="457200" indent="-342900">
              <a:spcBef>
                <a:spcPts val="0"/>
              </a:spcBef>
              <a:spcAft>
                <a:spcPts val="600"/>
              </a:spcAft>
              <a:buSzPts val="1800"/>
              <a:buFont typeface="Arial" panose="020B0604020202020204" pitchFamily="34" charset="0"/>
              <a:buChar char="●"/>
            </a:pPr>
            <a:r>
              <a:rPr lang="en-US" i="1" dirty="0"/>
              <a:t>x</a:t>
            </a:r>
            <a:r>
              <a:rPr lang="en-US" dirty="0"/>
              <a:t> ≠ </a:t>
            </a:r>
            <a:r>
              <a:rPr lang="en-US" i="1" dirty="0"/>
              <a:t>x</a:t>
            </a:r>
            <a:r>
              <a:rPr lang="en-US" dirty="0"/>
              <a:t>' and </a:t>
            </a:r>
            <a:r>
              <a:rPr lang="en-US" i="1" dirty="0"/>
              <a:t>H</a:t>
            </a:r>
            <a:r>
              <a:rPr lang="en-US" dirty="0"/>
              <a:t>(</a:t>
            </a:r>
            <a:r>
              <a:rPr lang="en-US" i="1" dirty="0"/>
              <a:t>x</a:t>
            </a:r>
            <a:r>
              <a:rPr lang="en-US" dirty="0"/>
              <a:t>) = </a:t>
            </a:r>
            <a:r>
              <a:rPr lang="en-US" i="1" dirty="0"/>
              <a:t>H</a:t>
            </a:r>
            <a:r>
              <a:rPr lang="en-US" dirty="0"/>
              <a:t>(</a:t>
            </a:r>
            <a:r>
              <a:rPr lang="en-US" i="1" dirty="0"/>
              <a:t>x</a:t>
            </a:r>
            <a:r>
              <a:rPr lang="en-US" dirty="0"/>
              <a:t>’)</a:t>
            </a:r>
          </a:p>
          <a:p>
            <a:pPr marL="457200" indent="-342900">
              <a:spcBef>
                <a:spcPts val="0"/>
              </a:spcBef>
              <a:spcAft>
                <a:spcPts val="600"/>
              </a:spcAft>
              <a:buSzPts val="1800"/>
              <a:buFont typeface="Arial" panose="020B0604020202020204" pitchFamily="34" charset="0"/>
              <a:buChar char="●"/>
            </a:pPr>
            <a:endParaRPr lang="en-US" dirty="0"/>
          </a:p>
          <a:p>
            <a:pPr marL="114300" indent="0">
              <a:spcBef>
                <a:spcPts val="0"/>
              </a:spcBef>
              <a:spcAft>
                <a:spcPts val="600"/>
              </a:spcAft>
              <a:buSzPts val="1800"/>
              <a:buNone/>
            </a:pPr>
            <a:r>
              <a:rPr lang="en-US" b="1" dirty="0"/>
              <a:t>Can we design a hash function with no collisions?</a:t>
            </a:r>
          </a:p>
          <a:p>
            <a:pPr marL="457200" indent="-342900">
              <a:spcBef>
                <a:spcPts val="0"/>
              </a:spcBef>
              <a:spcAft>
                <a:spcPts val="600"/>
              </a:spcAft>
              <a:buSzPts val="1800"/>
              <a:buFont typeface="Arial" panose="020B0604020202020204" pitchFamily="34" charset="0"/>
              <a:buChar char="●"/>
            </a:pPr>
            <a:r>
              <a:rPr lang="en-US" b="1" dirty="0">
                <a:solidFill>
                  <a:srgbClr val="C00000"/>
                </a:solidFill>
              </a:rPr>
              <a:t>No!</a:t>
            </a:r>
            <a:r>
              <a:rPr lang="en-US" dirty="0">
                <a:solidFill>
                  <a:srgbClr val="C00000"/>
                </a:solidFill>
              </a:rPr>
              <a:t> </a:t>
            </a:r>
            <a:r>
              <a:rPr lang="en-US" dirty="0"/>
              <a:t>because there are more inputs than outputs </a:t>
            </a:r>
          </a:p>
          <a:p>
            <a:pPr marL="914400" lvl="1" indent="-342900">
              <a:spcBef>
                <a:spcPts val="0"/>
              </a:spcBef>
              <a:spcAft>
                <a:spcPts val="600"/>
              </a:spcAft>
              <a:buSzPts val="1800"/>
              <a:buFont typeface="Arial" panose="020B0604020202020204" pitchFamily="34" charset="0"/>
              <a:buChar char="●"/>
            </a:pPr>
            <a:r>
              <a:rPr lang="en-US" dirty="0"/>
              <a:t>How many inputs? </a:t>
            </a:r>
            <a:r>
              <a:rPr lang="en-US" dirty="0">
                <a:sym typeface="Wingdings" panose="05000000000000000000" pitchFamily="2" charset="2"/>
              </a:rPr>
              <a:t> Infinite</a:t>
            </a:r>
          </a:p>
          <a:p>
            <a:pPr marL="914400" lvl="1" indent="-342900">
              <a:spcBef>
                <a:spcPts val="0"/>
              </a:spcBef>
              <a:spcAft>
                <a:spcPts val="600"/>
              </a:spcAft>
              <a:buSzPts val="1800"/>
              <a:buFont typeface="Arial" panose="020B0604020202020204" pitchFamily="34" charset="0"/>
              <a:buChar char="●"/>
            </a:pPr>
            <a:r>
              <a:rPr lang="en-US" dirty="0"/>
              <a:t>How large is the output space? </a:t>
            </a:r>
            <a:r>
              <a:rPr lang="en-US" dirty="0">
                <a:sym typeface="Wingdings" panose="05000000000000000000" pitchFamily="2" charset="2"/>
              </a:rPr>
              <a:t> Fixed, e.g., SHA-256(), n = 256, 2</a:t>
            </a:r>
            <a:r>
              <a:rPr lang="en-US" baseline="30000" dirty="0">
                <a:sym typeface="Wingdings" panose="05000000000000000000" pitchFamily="2" charset="2"/>
              </a:rPr>
              <a:t>256</a:t>
            </a:r>
            <a:r>
              <a:rPr lang="en-US" dirty="0">
                <a:sym typeface="Wingdings" panose="05000000000000000000" pitchFamily="2" charset="2"/>
              </a:rPr>
              <a:t> outputs</a:t>
            </a:r>
            <a:endParaRPr lang="en-US" dirty="0"/>
          </a:p>
          <a:p>
            <a:pPr marL="457200" indent="-342900">
              <a:spcBef>
                <a:spcPts val="0"/>
              </a:spcBef>
              <a:spcAft>
                <a:spcPts val="600"/>
              </a:spcAft>
              <a:buSzPts val="1800"/>
              <a:buFont typeface="Arial" panose="020B0604020202020204" pitchFamily="34" charset="0"/>
              <a:buChar char="●"/>
            </a:pPr>
            <a:r>
              <a:rPr lang="en-US" dirty="0"/>
              <a:t>However, we want to make finding collisions </a:t>
            </a:r>
            <a:r>
              <a:rPr lang="en-US" i="1" dirty="0">
                <a:solidFill>
                  <a:srgbClr val="C00000"/>
                </a:solidFill>
              </a:rPr>
              <a:t>infeasible</a:t>
            </a:r>
            <a:r>
              <a:rPr lang="en-US" dirty="0"/>
              <a:t> for an attacker</a:t>
            </a:r>
          </a:p>
          <a:p>
            <a:pPr marL="596900" lvl="1" indent="0">
              <a:spcBef>
                <a:spcPts val="0"/>
              </a:spcBef>
              <a:spcAft>
                <a:spcPts val="600"/>
              </a:spcAft>
              <a:buSzPts val="1400"/>
              <a:buNone/>
            </a:pPr>
            <a:endParaRPr lang="en-US" b="1" dirty="0"/>
          </a:p>
          <a:p>
            <a:pPr marL="457200" indent="-342900">
              <a:spcBef>
                <a:spcPts val="0"/>
              </a:spcBef>
              <a:spcAft>
                <a:spcPts val="600"/>
              </a:spcAft>
              <a:buSzPts val="1800"/>
              <a:buFont typeface="Arial" panose="020B0604020202020204" pitchFamily="34" charset="0"/>
              <a:buChar char="●"/>
            </a:pPr>
            <a:r>
              <a:rPr lang="en-US" b="1" dirty="0"/>
              <a:t>Collision resistance</a:t>
            </a:r>
            <a:r>
              <a:rPr lang="en-US" dirty="0"/>
              <a:t>: It is infeasible to find any pair of inputs </a:t>
            </a:r>
            <a:r>
              <a:rPr lang="en-US" i="1" dirty="0"/>
              <a:t>x'</a:t>
            </a:r>
            <a:r>
              <a:rPr lang="en-US" dirty="0"/>
              <a:t> ≠ </a:t>
            </a:r>
            <a:r>
              <a:rPr lang="en-US" i="1" dirty="0"/>
              <a:t>x</a:t>
            </a:r>
            <a:r>
              <a:rPr lang="en-US" dirty="0"/>
              <a:t> such that </a:t>
            </a:r>
            <a:r>
              <a:rPr lang="en-US" i="1" dirty="0"/>
              <a:t>H</a:t>
            </a:r>
            <a:r>
              <a:rPr lang="en-US" dirty="0"/>
              <a:t>(</a:t>
            </a:r>
            <a:r>
              <a:rPr lang="en-US" i="1" dirty="0"/>
              <a:t>x</a:t>
            </a:r>
            <a:r>
              <a:rPr lang="en-US" dirty="0"/>
              <a:t>) = </a:t>
            </a:r>
            <a:r>
              <a:rPr lang="en-US" i="1" dirty="0"/>
              <a:t>H</a:t>
            </a:r>
            <a:r>
              <a:rPr lang="en-US" dirty="0"/>
              <a:t>(</a:t>
            </a:r>
            <a:r>
              <a:rPr lang="en-US" i="1" dirty="0"/>
              <a:t>x</a:t>
            </a:r>
            <a:r>
              <a:rPr lang="en-US" dirty="0"/>
              <a:t>')</a:t>
            </a:r>
          </a:p>
          <a:p>
            <a:pPr marL="457200" indent="-342900">
              <a:spcBef>
                <a:spcPts val="0"/>
              </a:spcBef>
              <a:spcAft>
                <a:spcPts val="600"/>
              </a:spcAft>
              <a:buSzPts val="1800"/>
              <a:buFont typeface="Arial" panose="020B0604020202020204" pitchFamily="34" charset="0"/>
              <a:buChar char="●"/>
            </a:pPr>
            <a:r>
              <a:rPr lang="en-US" dirty="0"/>
              <a:t>Intuition: Can you find </a:t>
            </a:r>
            <a:r>
              <a:rPr lang="en-US" i="1" dirty="0"/>
              <a:t>any</a:t>
            </a:r>
            <a:r>
              <a:rPr lang="en-US" dirty="0"/>
              <a:t> two inputs that collide with the same hash output for </a:t>
            </a:r>
            <a:r>
              <a:rPr lang="en-US" i="1" dirty="0"/>
              <a:t>any</a:t>
            </a:r>
            <a:r>
              <a:rPr lang="en-US" dirty="0"/>
              <a:t> output?</a:t>
            </a:r>
          </a:p>
        </p:txBody>
      </p:sp>
    </p:spTree>
    <p:extLst>
      <p:ext uri="{BB962C8B-B14F-4D97-AF65-F5344CB8AC3E}">
        <p14:creationId xmlns:p14="http://schemas.microsoft.com/office/powerpoint/2010/main" val="395518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9000-D874-EB52-F665-F77AA308A11F}"/>
              </a:ext>
            </a:extLst>
          </p:cNvPr>
          <p:cNvSpPr>
            <a:spLocks noGrp="1"/>
          </p:cNvSpPr>
          <p:nvPr>
            <p:ph type="title"/>
          </p:nvPr>
        </p:nvSpPr>
        <p:spPr>
          <a:xfrm>
            <a:off x="838200" y="136526"/>
            <a:ext cx="10515600" cy="988890"/>
          </a:xfrm>
        </p:spPr>
        <p:txBody>
          <a:bodyPr/>
          <a:lstStyle/>
          <a:p>
            <a:r>
              <a:rPr lang="en" dirty="0"/>
              <a:t>Hash Function: Intuition</a:t>
            </a:r>
            <a:endParaRPr lang="en-US" dirty="0"/>
          </a:p>
        </p:txBody>
      </p:sp>
      <p:sp>
        <p:nvSpPr>
          <p:cNvPr id="4" name="Google Shape;418;p55">
            <a:extLst>
              <a:ext uri="{FF2B5EF4-FFF2-40B4-BE49-F238E27FC236}">
                <a16:creationId xmlns:a16="http://schemas.microsoft.com/office/drawing/2014/main" id="{0B201866-A7A7-B92D-8D5C-F88D6E6B0E59}"/>
              </a:ext>
            </a:extLst>
          </p:cNvPr>
          <p:cNvSpPr txBox="1">
            <a:spLocks/>
          </p:cNvSpPr>
          <p:nvPr/>
        </p:nvSpPr>
        <p:spPr>
          <a:xfrm>
            <a:off x="335573" y="1573822"/>
            <a:ext cx="11520854" cy="4910260"/>
          </a:xfrm>
          <a:prstGeom prst="rect">
            <a:avLst/>
          </a:prstGeom>
        </p:spPr>
        <p:txBody>
          <a:bodyPr spcFirstLastPara="1" vert="horz" wrap="square" lIns="91425" tIns="91425" rIns="91425" bIns="91425" rtlCol="0" anchor="t" anchorCtr="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42900">
              <a:spcBef>
                <a:spcPts val="0"/>
              </a:spcBef>
              <a:spcAft>
                <a:spcPts val="600"/>
              </a:spcAft>
              <a:buSzPts val="1800"/>
              <a:buFont typeface="Arial" panose="020B0604020202020204" pitchFamily="34" charset="0"/>
              <a:buChar char="●"/>
            </a:pPr>
            <a:r>
              <a:rPr lang="en-US" dirty="0"/>
              <a:t>A hash function provides a </a:t>
            </a:r>
            <a:r>
              <a:rPr lang="en-US" b="1" i="1" dirty="0">
                <a:solidFill>
                  <a:srgbClr val="C00000"/>
                </a:solidFill>
              </a:rPr>
              <a:t>fixed-length “fingerprint” </a:t>
            </a:r>
            <a:r>
              <a:rPr lang="en-US" dirty="0"/>
              <a:t>over a sequence of bits</a:t>
            </a:r>
          </a:p>
          <a:p>
            <a:pPr marL="457200" indent="-342900">
              <a:spcBef>
                <a:spcPts val="0"/>
              </a:spcBef>
              <a:spcAft>
                <a:spcPts val="600"/>
              </a:spcAft>
              <a:buSzPts val="1800"/>
              <a:buFont typeface="Arial" panose="020B0604020202020204" pitchFamily="34" charset="0"/>
              <a:buChar char="●"/>
            </a:pPr>
            <a:r>
              <a:rPr lang="en-US" dirty="0"/>
              <a:t>Example: Document comparison</a:t>
            </a:r>
          </a:p>
          <a:p>
            <a:pPr marL="914400" lvl="1" indent="-342900">
              <a:spcBef>
                <a:spcPts val="0"/>
              </a:spcBef>
              <a:spcAft>
                <a:spcPts val="600"/>
              </a:spcAft>
              <a:buSzPts val="1800"/>
              <a:buFont typeface="Arial" panose="020B0604020202020204" pitchFamily="34" charset="0"/>
              <a:buChar char="●"/>
            </a:pPr>
            <a:r>
              <a:rPr lang="en-US" dirty="0"/>
              <a:t>If Alice and Bob both have a 1 GB document, they can both compute a hash over the document and (securely) communicate the hashes to each other</a:t>
            </a:r>
          </a:p>
          <a:p>
            <a:pPr marL="914400" lvl="1" indent="-342900">
              <a:spcBef>
                <a:spcPts val="0"/>
              </a:spcBef>
              <a:spcAft>
                <a:spcPts val="600"/>
              </a:spcAft>
              <a:buSzPts val="1800"/>
              <a:buFont typeface="Arial" panose="020B0604020202020204" pitchFamily="34" charset="0"/>
              <a:buChar char="●"/>
            </a:pPr>
            <a:r>
              <a:rPr lang="en-US" dirty="0"/>
              <a:t>If the hashes are the same, the files must be the same, since they have the same “fingerprint”</a:t>
            </a:r>
          </a:p>
          <a:p>
            <a:pPr marL="914400" lvl="1" indent="-342900">
              <a:spcBef>
                <a:spcPts val="0"/>
              </a:spcBef>
              <a:spcAft>
                <a:spcPts val="600"/>
              </a:spcAft>
              <a:buSzPts val="1800"/>
              <a:buFont typeface="Arial" panose="020B0604020202020204" pitchFamily="34" charset="0"/>
              <a:buChar char="●"/>
            </a:pPr>
            <a:r>
              <a:rPr lang="en-US" dirty="0"/>
              <a:t>If the hashes are different, the files must be different</a:t>
            </a:r>
          </a:p>
          <a:p>
            <a:pPr marL="571500" lvl="1" indent="0">
              <a:spcBef>
                <a:spcPts val="0"/>
              </a:spcBef>
              <a:spcAft>
                <a:spcPts val="600"/>
              </a:spcAft>
              <a:buSzPts val="1800"/>
              <a:buNone/>
            </a:pPr>
            <a:endParaRPr lang="en-US" dirty="0"/>
          </a:p>
          <a:p>
            <a:pPr marL="457200" indent="-342900">
              <a:spcBef>
                <a:spcPts val="0"/>
              </a:spcBef>
              <a:spcAft>
                <a:spcPts val="600"/>
              </a:spcAft>
              <a:buSzPts val="1800"/>
              <a:buFont typeface="Arial" panose="020B0604020202020204" pitchFamily="34" charset="0"/>
              <a:buChar char="●"/>
            </a:pPr>
            <a:r>
              <a:rPr lang="en-US" dirty="0"/>
              <a:t>Example: Lab 10, Task 5</a:t>
            </a:r>
          </a:p>
          <a:p>
            <a:pPr marL="914400" lvl="1" indent="-342900">
              <a:spcBef>
                <a:spcPts val="0"/>
              </a:spcBef>
              <a:spcAft>
                <a:spcPts val="600"/>
              </a:spcAft>
              <a:buSzPts val="1800"/>
              <a:buFont typeface="Arial" panose="020B0604020202020204" pitchFamily="34" charset="0"/>
              <a:buChar char="●"/>
            </a:pPr>
            <a:r>
              <a:rPr lang="en-US" i="1" dirty="0"/>
              <a:t>Do you remember Bob’s bill? How can Bob prevent Trudy from altering his bills?</a:t>
            </a:r>
          </a:p>
          <a:p>
            <a:pPr marL="914400" lvl="1" indent="-342900">
              <a:spcBef>
                <a:spcPts val="0"/>
              </a:spcBef>
              <a:spcAft>
                <a:spcPts val="600"/>
              </a:spcAft>
              <a:buSzPts val="1800"/>
              <a:buFont typeface="Arial" panose="020B0604020202020204" pitchFamily="34" charset="0"/>
              <a:buChar char="●"/>
            </a:pPr>
            <a:r>
              <a:rPr lang="en-US" i="1" dirty="0">
                <a:solidFill>
                  <a:srgbClr val="C00000"/>
                </a:solidFill>
              </a:rPr>
              <a:t>Use a Hash function instead of a checksum!</a:t>
            </a:r>
          </a:p>
        </p:txBody>
      </p:sp>
    </p:spTree>
    <p:extLst>
      <p:ext uri="{BB962C8B-B14F-4D97-AF65-F5344CB8AC3E}">
        <p14:creationId xmlns:p14="http://schemas.microsoft.com/office/powerpoint/2010/main" val="532956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F045A-BDD4-D638-E1DA-4E64694271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DF0D26-864A-578C-E571-8E0E83170F6C}"/>
              </a:ext>
            </a:extLst>
          </p:cNvPr>
          <p:cNvSpPr>
            <a:spLocks noGrp="1"/>
          </p:cNvSpPr>
          <p:nvPr>
            <p:ph type="title"/>
          </p:nvPr>
        </p:nvSpPr>
        <p:spPr>
          <a:xfrm>
            <a:off x="838200" y="114300"/>
            <a:ext cx="10515600" cy="943675"/>
          </a:xfrm>
        </p:spPr>
        <p:txBody>
          <a:bodyPr/>
          <a:lstStyle/>
          <a:p>
            <a:r>
              <a:rPr lang="en-US" dirty="0"/>
              <a:t>Hash Function: Examples</a:t>
            </a:r>
          </a:p>
        </p:txBody>
      </p:sp>
      <p:sp>
        <p:nvSpPr>
          <p:cNvPr id="6" name="TextBox 5">
            <a:extLst>
              <a:ext uri="{FF2B5EF4-FFF2-40B4-BE49-F238E27FC236}">
                <a16:creationId xmlns:a16="http://schemas.microsoft.com/office/drawing/2014/main" id="{525F0AFF-D5AB-13E6-9123-4E88B380BA0C}"/>
              </a:ext>
            </a:extLst>
          </p:cNvPr>
          <p:cNvSpPr txBox="1"/>
          <p:nvPr/>
        </p:nvSpPr>
        <p:spPr>
          <a:xfrm>
            <a:off x="118696" y="1131211"/>
            <a:ext cx="11954608" cy="5001369"/>
          </a:xfrm>
          <a:prstGeom prst="rect">
            <a:avLst/>
          </a:prstGeom>
          <a:noFill/>
        </p:spPr>
        <p:txBody>
          <a:bodyPr wrap="square" rtlCol="0">
            <a:spAutoFit/>
          </a:bodyPr>
          <a:lstStyle/>
          <a:p>
            <a:pPr>
              <a:spcAft>
                <a:spcPts val="600"/>
              </a:spcAft>
            </a:pPr>
            <a:r>
              <a:rPr lang="en-US" sz="2200" b="1" strike="sngStrike" dirty="0">
                <a:solidFill>
                  <a:srgbClr val="C00000"/>
                </a:solidFill>
                <a:hlinkClick r:id="rId2">
                  <a:extLst>
                    <a:ext uri="{A12FA001-AC4F-418D-AE19-62706E023703}">
                      <ahyp:hlinkClr xmlns:ahyp="http://schemas.microsoft.com/office/drawing/2018/hyperlinkcolor" val="tx"/>
                    </a:ext>
                  </a:extLst>
                </a:hlinkClick>
              </a:rPr>
              <a:t>MD5</a:t>
            </a:r>
            <a:r>
              <a:rPr lang="en-US" sz="2200" dirty="0">
                <a:solidFill>
                  <a:srgbClr val="C00000"/>
                </a:solidFill>
              </a:rPr>
              <a:t>:</a:t>
            </a:r>
          </a:p>
          <a:p>
            <a:pPr marL="285750" indent="-285750">
              <a:spcAft>
                <a:spcPts val="600"/>
              </a:spcAft>
              <a:buFont typeface="Arial" panose="020B0604020202020204" pitchFamily="34" charset="0"/>
              <a:buChar char="•"/>
            </a:pPr>
            <a:r>
              <a:rPr lang="en-US" sz="2200" dirty="0"/>
              <a:t>Security: Completely broken</a:t>
            </a:r>
          </a:p>
          <a:p>
            <a:pPr>
              <a:spcAft>
                <a:spcPts val="600"/>
              </a:spcAft>
            </a:pPr>
            <a:r>
              <a:rPr lang="en-US" sz="2200" strike="sngStrike" dirty="0">
                <a:solidFill>
                  <a:srgbClr val="C00000"/>
                </a:solidFill>
                <a:hlinkClick r:id="rId3">
                  <a:extLst>
                    <a:ext uri="{A12FA001-AC4F-418D-AE19-62706E023703}">
                      <ahyp:hlinkClr xmlns:ahyp="http://schemas.microsoft.com/office/drawing/2018/hyperlinkcolor" val="tx"/>
                    </a:ext>
                  </a:extLst>
                </a:hlinkClick>
              </a:rPr>
              <a:t>SHA-1</a:t>
            </a:r>
            <a:r>
              <a:rPr lang="en-US" sz="2200" dirty="0">
                <a:solidFill>
                  <a:srgbClr val="C00000"/>
                </a:solidFill>
              </a:rPr>
              <a:t>: </a:t>
            </a:r>
          </a:p>
          <a:p>
            <a:pPr marL="342900" indent="-342900">
              <a:spcAft>
                <a:spcPts val="600"/>
              </a:spcAft>
              <a:buFont typeface="Arial" panose="020B0604020202020204" pitchFamily="34" charset="0"/>
              <a:buChar char="•"/>
            </a:pPr>
            <a:r>
              <a:rPr lang="en-US" sz="2200" dirty="0"/>
              <a:t>Security: Completely broken in 2017; Was known to be weak before, but still used sometimes</a:t>
            </a:r>
          </a:p>
          <a:p>
            <a:pPr>
              <a:spcAft>
                <a:spcPts val="600"/>
              </a:spcAft>
            </a:pPr>
            <a:r>
              <a:rPr lang="en-US" sz="2200" dirty="0">
                <a:hlinkClick r:id="rId4"/>
              </a:rPr>
              <a:t>SHA-2</a:t>
            </a:r>
            <a:r>
              <a:rPr lang="en-US" sz="2200" dirty="0"/>
              <a:t>:</a:t>
            </a:r>
          </a:p>
          <a:p>
            <a:pPr marL="342900" indent="-342900">
              <a:spcAft>
                <a:spcPts val="600"/>
              </a:spcAft>
              <a:buFont typeface="Arial" panose="020B0604020202020204" pitchFamily="34" charset="0"/>
              <a:buChar char="•"/>
            </a:pPr>
            <a:r>
              <a:rPr lang="en-US" sz="2200" dirty="0"/>
              <a:t>Output: 256 (SHA-256), 384, or 512 bits (sometimes labeled SHA-256, SHA-384, SHA-512)</a:t>
            </a:r>
          </a:p>
          <a:p>
            <a:pPr marL="342900" indent="-342900">
              <a:spcAft>
                <a:spcPts val="600"/>
              </a:spcAft>
              <a:buFont typeface="Arial" panose="020B0604020202020204" pitchFamily="34" charset="0"/>
              <a:buChar char="•"/>
            </a:pPr>
            <a:r>
              <a:rPr lang="en-US" sz="2200" dirty="0"/>
              <a:t>Not currently broken, but some variants are vulnerable to a length extension attack (</a:t>
            </a:r>
            <a:r>
              <a:rPr lang="en-US" sz="2200" dirty="0">
                <a:hlinkClick r:id="rId5"/>
              </a:rPr>
              <a:t>demo</a:t>
            </a:r>
            <a:r>
              <a:rPr lang="en-US" sz="2200" dirty="0"/>
              <a:t>)</a:t>
            </a:r>
          </a:p>
          <a:p>
            <a:pPr marL="342900" indent="-342900">
              <a:spcAft>
                <a:spcPts val="600"/>
              </a:spcAft>
              <a:buFont typeface="Arial" panose="020B0604020202020204" pitchFamily="34" charset="0"/>
              <a:buChar char="•"/>
            </a:pPr>
            <a:r>
              <a:rPr lang="en-US" sz="2200" dirty="0"/>
              <a:t>Current standard</a:t>
            </a:r>
          </a:p>
          <a:p>
            <a:pPr>
              <a:spcAft>
                <a:spcPts val="600"/>
              </a:spcAft>
            </a:pPr>
            <a:r>
              <a:rPr lang="en-US" sz="2200" dirty="0">
                <a:hlinkClick r:id="rId6"/>
              </a:rPr>
              <a:t>SHA-3 (Keccak)</a:t>
            </a:r>
            <a:r>
              <a:rPr lang="en-US" sz="2200" dirty="0"/>
              <a:t>:</a:t>
            </a:r>
          </a:p>
          <a:p>
            <a:pPr marL="342900" indent="-342900">
              <a:spcAft>
                <a:spcPts val="600"/>
              </a:spcAft>
              <a:buFont typeface="Arial" panose="020B0604020202020204" pitchFamily="34" charset="0"/>
              <a:buChar char="•"/>
            </a:pPr>
            <a:r>
              <a:rPr lang="en-US" sz="2200" dirty="0"/>
              <a:t>Output: 256, 384, or 512 bits</a:t>
            </a:r>
          </a:p>
          <a:p>
            <a:pPr marL="342900" indent="-342900">
              <a:spcAft>
                <a:spcPts val="600"/>
              </a:spcAft>
              <a:buFont typeface="Arial" panose="020B0604020202020204" pitchFamily="34" charset="0"/>
              <a:buChar char="•"/>
            </a:pPr>
            <a:r>
              <a:rPr lang="en-US" sz="2200" dirty="0"/>
              <a:t>Current standard (not meant to replace SHA-2, just a different construction)</a:t>
            </a:r>
          </a:p>
          <a:p>
            <a:pPr marL="342900" indent="-342900">
              <a:spcAft>
                <a:spcPts val="600"/>
              </a:spcAft>
              <a:buFont typeface="Arial" panose="020B0604020202020204" pitchFamily="34" charset="0"/>
              <a:buChar char="•"/>
            </a:pPr>
            <a:r>
              <a:rPr lang="en-US" sz="2200" dirty="0"/>
              <a:t>Widely used in the blockchain ecosystem</a:t>
            </a:r>
          </a:p>
        </p:txBody>
      </p:sp>
    </p:spTree>
    <p:extLst>
      <p:ext uri="{BB962C8B-B14F-4D97-AF65-F5344CB8AC3E}">
        <p14:creationId xmlns:p14="http://schemas.microsoft.com/office/powerpoint/2010/main" val="7766367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0B3765F-978A-CB21-0721-7CFC4F3A78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55E3D4-03DA-595D-021F-4D2A59519497}"/>
              </a:ext>
            </a:extLst>
          </p:cNvPr>
          <p:cNvSpPr>
            <a:spLocks noGrp="1"/>
          </p:cNvSpPr>
          <p:nvPr>
            <p:ph type="title"/>
          </p:nvPr>
        </p:nvSpPr>
        <p:spPr>
          <a:xfrm>
            <a:off x="838200" y="313617"/>
            <a:ext cx="10515600" cy="812673"/>
          </a:xfrm>
        </p:spPr>
        <p:txBody>
          <a:bodyPr/>
          <a:lstStyle/>
          <a:p>
            <a:r>
              <a:rPr lang="en-US" dirty="0"/>
              <a:t>Hash Function: Algorithms</a:t>
            </a:r>
          </a:p>
        </p:txBody>
      </p:sp>
      <p:sp>
        <p:nvSpPr>
          <p:cNvPr id="3" name="Content Placeholder 2">
            <a:extLst>
              <a:ext uri="{FF2B5EF4-FFF2-40B4-BE49-F238E27FC236}">
                <a16:creationId xmlns:a16="http://schemas.microsoft.com/office/drawing/2014/main" id="{17CEC805-E988-2BD4-77D7-3ACE5EEA8633}"/>
              </a:ext>
            </a:extLst>
          </p:cNvPr>
          <p:cNvSpPr>
            <a:spLocks noGrp="1"/>
          </p:cNvSpPr>
          <p:nvPr>
            <p:ph idx="1"/>
          </p:nvPr>
        </p:nvSpPr>
        <p:spPr>
          <a:xfrm>
            <a:off x="274572" y="1483097"/>
            <a:ext cx="7690177" cy="4975872"/>
          </a:xfrm>
        </p:spPr>
        <p:txBody>
          <a:bodyPr>
            <a:normAutofit/>
          </a:bodyPr>
          <a:lstStyle/>
          <a:p>
            <a:pPr>
              <a:spcAft>
                <a:spcPts val="600"/>
              </a:spcAft>
            </a:pPr>
            <a:r>
              <a:rPr lang="en-US" dirty="0"/>
              <a:t>Block cipher-based construction: </a:t>
            </a:r>
          </a:p>
          <a:p>
            <a:pPr lvl="1">
              <a:spcAft>
                <a:spcPts val="600"/>
              </a:spcAft>
            </a:pPr>
            <a:r>
              <a:rPr lang="en-US" sz="2800" dirty="0" err="1"/>
              <a:t>e.g</a:t>
            </a:r>
            <a:r>
              <a:rPr lang="en-US" sz="2800" dirty="0"/>
              <a:t>, </a:t>
            </a:r>
            <a:r>
              <a:rPr lang="en-US" sz="2800" dirty="0">
                <a:hlinkClick r:id="rId3"/>
              </a:rPr>
              <a:t>Matyas–Meyer–Oseas</a:t>
            </a:r>
            <a:endParaRPr lang="en-US" sz="2800" dirty="0"/>
          </a:p>
          <a:p>
            <a:pPr lvl="1">
              <a:spcAft>
                <a:spcPts val="600"/>
              </a:spcAft>
            </a:pPr>
            <a:r>
              <a:rPr lang="en-US" altLang="zh-CN" sz="2800" dirty="0"/>
              <a:t>U</a:t>
            </a:r>
            <a:r>
              <a:rPr lang="en-US" sz="2800" dirty="0"/>
              <a:t>sually somewhat slower than using a specially designed one-way compression function in the hash function</a:t>
            </a:r>
          </a:p>
          <a:p>
            <a:pPr lvl="1">
              <a:spcAft>
                <a:spcPts val="600"/>
              </a:spcAft>
            </a:pPr>
            <a:r>
              <a:rPr lang="en-US" sz="2800" dirty="0"/>
              <a:t> In some cases, it is easier because a single implementation of a block cipher can be used for both a block cipher and a hash function </a:t>
            </a:r>
            <a:r>
              <a:rPr lang="en-US" sz="2800" dirty="0">
                <a:sym typeface="Wingdings" panose="05000000000000000000" pitchFamily="2" charset="2"/>
              </a:rPr>
              <a:t>(e.g., save code space in very tiny embedded systems )</a:t>
            </a:r>
            <a:endParaRPr lang="en-US" sz="2800" dirty="0"/>
          </a:p>
        </p:txBody>
      </p:sp>
      <p:pic>
        <p:nvPicPr>
          <p:cNvPr id="1026" name="Picture 2">
            <a:extLst>
              <a:ext uri="{FF2B5EF4-FFF2-40B4-BE49-F238E27FC236}">
                <a16:creationId xmlns:a16="http://schemas.microsoft.com/office/drawing/2014/main" id="{9BC4066A-CDD1-6460-75A7-EF6B140B7F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11226" y="1745399"/>
            <a:ext cx="2381250" cy="19812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5723867-54D6-8A61-D4EA-D558F5C410E8}"/>
              </a:ext>
            </a:extLst>
          </p:cNvPr>
          <p:cNvSpPr txBox="1"/>
          <p:nvPr/>
        </p:nvSpPr>
        <p:spPr>
          <a:xfrm>
            <a:off x="8687351" y="3647868"/>
            <a:ext cx="3429000" cy="646331"/>
          </a:xfrm>
          <a:prstGeom prst="rect">
            <a:avLst/>
          </a:prstGeom>
          <a:noFill/>
        </p:spPr>
        <p:txBody>
          <a:bodyPr wrap="square">
            <a:spAutoFit/>
          </a:bodyPr>
          <a:lstStyle/>
          <a:p>
            <a:pPr algn="ctr"/>
            <a:r>
              <a:rPr lang="en-US" b="0" i="0" dirty="0">
                <a:solidFill>
                  <a:srgbClr val="202122"/>
                </a:solidFill>
                <a:effectLst/>
                <a:latin typeface="Arial" panose="020B0604020202020204" pitchFamily="34" charset="0"/>
              </a:rPr>
              <a:t>The Matyas–Meyer–Oseas one-way compression function</a:t>
            </a:r>
            <a:endParaRPr lang="en-US"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C152FEE-EDA7-E726-FCBD-2985F5B75B53}"/>
                  </a:ext>
                </a:extLst>
              </p:cNvPr>
              <p:cNvSpPr txBox="1"/>
              <p:nvPr/>
            </p:nvSpPr>
            <p:spPr>
              <a:xfrm>
                <a:off x="8687351" y="4448710"/>
                <a:ext cx="3230077" cy="553998"/>
              </a:xfrm>
              <a:prstGeom prst="rect">
                <a:avLst/>
              </a:prstGeom>
              <a:noFill/>
            </p:spPr>
            <p:txBody>
              <a:bodyPr wrap="square" lIns="0" tIns="0" rIns="0" bIns="0" rtlCol="0">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oMath>
                </a14:m>
                <a:r>
                  <a:rPr lang="en-US" dirty="0"/>
                  <a:t>: 𝑎 𝑐𝑜𝑛𝑠𝑡𝑎𝑛𝑡, 𝑝𝑟𝑒−𝑠𝑝𝑒𝑐𝑖𝑓𝑖𝑒𝑑 𝑖𝑛𝑖𝑡𝑖𝑎𝑙 𝑣𝑎𝑙𝑢𝑒</a:t>
                </a:r>
              </a:p>
            </p:txBody>
          </p:sp>
        </mc:Choice>
        <mc:Fallback xmlns="">
          <p:sp>
            <p:nvSpPr>
              <p:cNvPr id="9" name="TextBox 8">
                <a:extLst>
                  <a:ext uri="{FF2B5EF4-FFF2-40B4-BE49-F238E27FC236}">
                    <a16:creationId xmlns:a16="http://schemas.microsoft.com/office/drawing/2014/main" id="{4C152FEE-EDA7-E726-FCBD-2985F5B75B53}"/>
                  </a:ext>
                </a:extLst>
              </p:cNvPr>
              <p:cNvSpPr txBox="1">
                <a:spLocks noRot="1" noChangeAspect="1" noMove="1" noResize="1" noEditPoints="1" noAdjustHandles="1" noChangeArrowheads="1" noChangeShapeType="1" noTextEdit="1"/>
              </p:cNvSpPr>
              <p:nvPr/>
            </p:nvSpPr>
            <p:spPr>
              <a:xfrm>
                <a:off x="8687351" y="4448710"/>
                <a:ext cx="3230077" cy="553998"/>
              </a:xfrm>
              <a:prstGeom prst="rect">
                <a:avLst/>
              </a:prstGeom>
              <a:blipFill>
                <a:blip r:embed="rId5"/>
                <a:stretch>
                  <a:fillRect l="-4340" t="-16484" b="-219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A26B137-7B88-DACD-5CFD-FC4A1B40CDCE}"/>
                  </a:ext>
                </a:extLst>
              </p:cNvPr>
              <p:cNvSpPr txBox="1"/>
              <p:nvPr/>
            </p:nvSpPr>
            <p:spPr>
              <a:xfrm>
                <a:off x="8687351" y="5159580"/>
                <a:ext cx="258404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𝑖</m:t>
                          </m:r>
                        </m:sub>
                      </m:sSub>
                      <m:r>
                        <a:rPr lang="en-US" b="0" i="1" smtClean="0">
                          <a:latin typeface="Cambria Math" panose="02040503050406030204" pitchFamily="18" charset="0"/>
                        </a:rPr>
                        <m:t>= </m:t>
                      </m:r>
                      <m:r>
                        <a:rPr lang="en-US" b="0" i="1" smtClean="0">
                          <a:latin typeface="Cambria Math" panose="02040503050406030204" pitchFamily="18" charset="0"/>
                        </a:rPr>
                        <m:t>𝐸</m:t>
                      </m:r>
                      <m:r>
                        <a:rPr lang="en-US" b="0" i="1" smtClean="0">
                          <a:latin typeface="Cambria Math" panose="02040503050406030204" pitchFamily="18" charset="0"/>
                        </a:rPr>
                        <m:t>(</m:t>
                      </m:r>
                      <m:r>
                        <a:rPr lang="en-US" b="0" i="1" smtClean="0">
                          <a:latin typeface="Cambria Math" panose="02040503050406030204" pitchFamily="18" charset="0"/>
                        </a:rPr>
                        <m:t>𝑔</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𝑖</m:t>
                              </m:r>
                              <m:r>
                                <a:rPr lang="en-US" b="0" i="1" smtClean="0">
                                  <a:latin typeface="Cambria Math" panose="02040503050406030204" pitchFamily="18" charset="0"/>
                                </a:rPr>
                                <m:t>−1</m:t>
                              </m:r>
                            </m:sub>
                          </m:sSub>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𝑚</m:t>
                          </m:r>
                        </m:e>
                        <m:sub>
                          <m:r>
                            <a:rPr lang="en-US" b="0" i="1" smtClean="0">
                              <a:latin typeface="Cambria Math" panose="02040503050406030204" pitchFamily="18" charset="0"/>
                              <a:ea typeface="Cambria Math" panose="02040503050406030204" pitchFamily="18" charset="0"/>
                            </a:rPr>
                            <m:t>𝑖</m:t>
                          </m:r>
                        </m:sub>
                      </m:sSub>
                    </m:oMath>
                  </m:oMathPara>
                </a14:m>
                <a:endParaRPr lang="en-US" dirty="0"/>
              </a:p>
            </p:txBody>
          </p:sp>
        </mc:Choice>
        <mc:Fallback xmlns="">
          <p:sp>
            <p:nvSpPr>
              <p:cNvPr id="10" name="TextBox 9">
                <a:extLst>
                  <a:ext uri="{FF2B5EF4-FFF2-40B4-BE49-F238E27FC236}">
                    <a16:creationId xmlns:a16="http://schemas.microsoft.com/office/drawing/2014/main" id="{5A26B137-7B88-DACD-5CFD-FC4A1B40CDCE}"/>
                  </a:ext>
                </a:extLst>
              </p:cNvPr>
              <p:cNvSpPr txBox="1">
                <a:spLocks noRot="1" noChangeAspect="1" noMove="1" noResize="1" noEditPoints="1" noAdjustHandles="1" noChangeArrowheads="1" noChangeShapeType="1" noTextEdit="1"/>
              </p:cNvSpPr>
              <p:nvPr/>
            </p:nvSpPr>
            <p:spPr>
              <a:xfrm>
                <a:off x="8687351" y="5159580"/>
                <a:ext cx="2584041" cy="276999"/>
              </a:xfrm>
              <a:prstGeom prst="rect">
                <a:avLst/>
              </a:prstGeom>
              <a:blipFill>
                <a:blip r:embed="rId6"/>
                <a:stretch>
                  <a:fillRect l="-1651" t="-2174" r="-708"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D6BB98E-5567-4779-DF9A-CF145946B607}"/>
                  </a:ext>
                </a:extLst>
              </p:cNvPr>
              <p:cNvSpPr txBox="1"/>
              <p:nvPr/>
            </p:nvSpPr>
            <p:spPr>
              <a:xfrm>
                <a:off x="8687351" y="5629068"/>
                <a:ext cx="10790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𝑛</m:t>
                          </m:r>
                        </m:sub>
                      </m:sSub>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m:oMathPara>
                </a14:m>
                <a:endParaRPr lang="en-US" dirty="0"/>
              </a:p>
            </p:txBody>
          </p:sp>
        </mc:Choice>
        <mc:Fallback xmlns="">
          <p:sp>
            <p:nvSpPr>
              <p:cNvPr id="11" name="TextBox 10">
                <a:extLst>
                  <a:ext uri="{FF2B5EF4-FFF2-40B4-BE49-F238E27FC236}">
                    <a16:creationId xmlns:a16="http://schemas.microsoft.com/office/drawing/2014/main" id="{AD6BB98E-5567-4779-DF9A-CF145946B607}"/>
                  </a:ext>
                </a:extLst>
              </p:cNvPr>
              <p:cNvSpPr txBox="1">
                <a:spLocks noRot="1" noChangeAspect="1" noMove="1" noResize="1" noEditPoints="1" noAdjustHandles="1" noChangeArrowheads="1" noChangeShapeType="1" noTextEdit="1"/>
              </p:cNvSpPr>
              <p:nvPr/>
            </p:nvSpPr>
            <p:spPr>
              <a:xfrm>
                <a:off x="8687351" y="5629068"/>
                <a:ext cx="1079078" cy="276999"/>
              </a:xfrm>
              <a:prstGeom prst="rect">
                <a:avLst/>
              </a:prstGeom>
              <a:blipFill>
                <a:blip r:embed="rId7"/>
                <a:stretch>
                  <a:fillRect l="-4520" t="-2174" r="-7910" b="-32609"/>
                </a:stretch>
              </a:blipFill>
            </p:spPr>
            <p:txBody>
              <a:bodyPr/>
              <a:lstStyle/>
              <a:p>
                <a:r>
                  <a:rPr lang="en-US">
                    <a:noFill/>
                  </a:rPr>
                  <a:t> </a:t>
                </a:r>
              </a:p>
            </p:txBody>
          </p:sp>
        </mc:Fallback>
      </mc:AlternateContent>
    </p:spTree>
    <p:extLst>
      <p:ext uri="{BB962C8B-B14F-4D97-AF65-F5344CB8AC3E}">
        <p14:creationId xmlns:p14="http://schemas.microsoft.com/office/powerpoint/2010/main" val="2419892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61AD7-F24A-F2EB-C899-0019A27C5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C4FC4E-8D98-7DAF-45AF-0D6093A72799}"/>
              </a:ext>
            </a:extLst>
          </p:cNvPr>
          <p:cNvSpPr>
            <a:spLocks noGrp="1"/>
          </p:cNvSpPr>
          <p:nvPr>
            <p:ph type="title"/>
          </p:nvPr>
        </p:nvSpPr>
        <p:spPr>
          <a:xfrm>
            <a:off x="838200" y="66188"/>
            <a:ext cx="10515600" cy="813044"/>
          </a:xfrm>
        </p:spPr>
        <p:txBody>
          <a:bodyPr/>
          <a:lstStyle/>
          <a:p>
            <a:r>
              <a:rPr lang="en-US" dirty="0"/>
              <a:t>Does Hash Provide Integrity?</a:t>
            </a:r>
          </a:p>
        </p:txBody>
      </p:sp>
      <p:sp>
        <p:nvSpPr>
          <p:cNvPr id="3" name="Content Placeholder 2">
            <a:extLst>
              <a:ext uri="{FF2B5EF4-FFF2-40B4-BE49-F238E27FC236}">
                <a16:creationId xmlns:a16="http://schemas.microsoft.com/office/drawing/2014/main" id="{9EB446DC-4B5F-24E6-7270-F69619605240}"/>
              </a:ext>
            </a:extLst>
          </p:cNvPr>
          <p:cNvSpPr>
            <a:spLocks noGrp="1"/>
          </p:cNvSpPr>
          <p:nvPr>
            <p:ph idx="1"/>
          </p:nvPr>
        </p:nvSpPr>
        <p:spPr>
          <a:xfrm>
            <a:off x="312723" y="1055078"/>
            <a:ext cx="11346088" cy="5486399"/>
          </a:xfrm>
        </p:spPr>
        <p:txBody>
          <a:bodyPr>
            <a:normAutofit fontScale="92500" lnSpcReduction="10000"/>
          </a:bodyPr>
          <a:lstStyle/>
          <a:p>
            <a:pPr marL="114300" indent="0">
              <a:spcBef>
                <a:spcPts val="0"/>
              </a:spcBef>
              <a:spcAft>
                <a:spcPts val="600"/>
              </a:spcAft>
              <a:buSzPts val="1800"/>
              <a:buNone/>
            </a:pPr>
            <a:r>
              <a:rPr lang="en-US" b="1" dirty="0"/>
              <a:t>Integrity</a:t>
            </a:r>
            <a:r>
              <a:rPr lang="en-US" dirty="0"/>
              <a:t>: An adversary </a:t>
            </a:r>
            <a:r>
              <a:rPr lang="en-US" dirty="0">
                <a:solidFill>
                  <a:srgbClr val="C00000"/>
                </a:solidFill>
              </a:rPr>
              <a:t>cannot </a:t>
            </a:r>
            <a:r>
              <a:rPr lang="en-US" i="1" dirty="0">
                <a:solidFill>
                  <a:srgbClr val="C00000"/>
                </a:solidFill>
              </a:rPr>
              <a:t>change</a:t>
            </a:r>
            <a:r>
              <a:rPr lang="en-US" dirty="0">
                <a:solidFill>
                  <a:srgbClr val="C00000"/>
                </a:solidFill>
              </a:rPr>
              <a:t> </a:t>
            </a:r>
            <a:r>
              <a:rPr lang="en-US" dirty="0"/>
              <a:t>our messages without being detected</a:t>
            </a:r>
          </a:p>
          <a:p>
            <a:pPr marL="114300" lvl="0" indent="0" algn="l" rtl="0">
              <a:spcBef>
                <a:spcPts val="0"/>
              </a:spcBef>
              <a:spcAft>
                <a:spcPts val="600"/>
              </a:spcAft>
              <a:buSzPts val="1800"/>
              <a:buNone/>
            </a:pPr>
            <a:endParaRPr lang="en-US" sz="1100" dirty="0"/>
          </a:p>
          <a:p>
            <a:pPr marL="114300" lvl="0" indent="0" algn="l" rtl="0">
              <a:spcBef>
                <a:spcPts val="0"/>
              </a:spcBef>
              <a:spcAft>
                <a:spcPts val="600"/>
              </a:spcAft>
              <a:buSzPts val="1800"/>
              <a:buNone/>
            </a:pPr>
            <a:r>
              <a:rPr lang="en-US" dirty="0">
                <a:solidFill>
                  <a:srgbClr val="C00000"/>
                </a:solidFill>
              </a:rPr>
              <a:t>It depends on your threat model</a:t>
            </a:r>
            <a:r>
              <a:rPr lang="en-US" dirty="0"/>
              <a:t>. For example:</a:t>
            </a:r>
          </a:p>
          <a:p>
            <a:pPr marL="457200" indent="-342900">
              <a:spcBef>
                <a:spcPts val="0"/>
              </a:spcBef>
              <a:spcAft>
                <a:spcPts val="600"/>
              </a:spcAft>
              <a:buSzPts val="1800"/>
              <a:buChar char="●"/>
            </a:pPr>
            <a:r>
              <a:rPr lang="en-US" dirty="0"/>
              <a:t>Alice and Bob want to communicate over an insecure channel</a:t>
            </a:r>
          </a:p>
          <a:p>
            <a:pPr marL="457200" indent="-342900">
              <a:spcBef>
                <a:spcPts val="0"/>
              </a:spcBef>
              <a:spcAft>
                <a:spcPts val="600"/>
              </a:spcAft>
              <a:buSzPts val="1800"/>
              <a:buChar char="●"/>
            </a:pPr>
            <a:r>
              <a:rPr lang="en-US" dirty="0"/>
              <a:t>Mallory might tamper with messages</a:t>
            </a:r>
          </a:p>
          <a:p>
            <a:pPr marL="114300" lvl="0" indent="0" algn="l" rtl="0">
              <a:spcBef>
                <a:spcPts val="0"/>
              </a:spcBef>
              <a:spcAft>
                <a:spcPts val="600"/>
              </a:spcAft>
              <a:buSzPts val="1800"/>
              <a:buNone/>
            </a:pPr>
            <a:endParaRPr lang="en-US" sz="1100" dirty="0"/>
          </a:p>
          <a:p>
            <a:pPr marL="114300" lvl="0" indent="0" algn="l" rtl="0">
              <a:spcBef>
                <a:spcPts val="0"/>
              </a:spcBef>
              <a:spcAft>
                <a:spcPts val="600"/>
              </a:spcAft>
              <a:buSzPts val="1800"/>
              <a:buNone/>
            </a:pPr>
            <a:r>
              <a:rPr lang="en-US" dirty="0"/>
              <a:t>Idea: Use cryptographic hashes</a:t>
            </a:r>
          </a:p>
          <a:p>
            <a:pPr marL="457200" indent="-342900">
              <a:spcBef>
                <a:spcPts val="0"/>
              </a:spcBef>
              <a:spcAft>
                <a:spcPts val="600"/>
              </a:spcAft>
              <a:buSzPts val="1800"/>
              <a:buChar char="●"/>
            </a:pPr>
            <a:r>
              <a:rPr lang="en-US" dirty="0"/>
              <a:t>Alice sends her message with a cryptographic hash over the channel</a:t>
            </a:r>
          </a:p>
          <a:p>
            <a:pPr marL="457200" indent="-342900">
              <a:spcBef>
                <a:spcPts val="0"/>
              </a:spcBef>
              <a:spcAft>
                <a:spcPts val="600"/>
              </a:spcAft>
              <a:buSzPts val="1800"/>
              <a:buChar char="●"/>
            </a:pPr>
            <a:r>
              <a:rPr lang="en-US" dirty="0"/>
              <a:t>Bob receives the message and computes a hash on the message</a:t>
            </a:r>
          </a:p>
          <a:p>
            <a:pPr marL="457200" indent="-342900">
              <a:spcBef>
                <a:spcPts val="0"/>
              </a:spcBef>
              <a:spcAft>
                <a:spcPts val="600"/>
              </a:spcAft>
              <a:buSzPts val="1800"/>
              <a:buChar char="●"/>
            </a:pPr>
            <a:r>
              <a:rPr lang="en-US" dirty="0"/>
              <a:t>Bob checks that the hash he computed matches the hash sent by Alice</a:t>
            </a:r>
          </a:p>
          <a:p>
            <a:pPr marL="114300" lvl="0" indent="0" algn="l" rtl="0">
              <a:spcBef>
                <a:spcPts val="0"/>
              </a:spcBef>
              <a:spcAft>
                <a:spcPts val="600"/>
              </a:spcAft>
              <a:buSzPts val="1800"/>
              <a:buNone/>
            </a:pPr>
            <a:endParaRPr lang="en-US" sz="1100" dirty="0"/>
          </a:p>
          <a:p>
            <a:pPr marL="114300" lvl="0" indent="0" algn="l" rtl="0">
              <a:spcBef>
                <a:spcPts val="0"/>
              </a:spcBef>
              <a:spcAft>
                <a:spcPts val="600"/>
              </a:spcAft>
              <a:buSzPts val="1800"/>
              <a:buNone/>
            </a:pPr>
            <a:r>
              <a:rPr lang="en-US" dirty="0"/>
              <a:t>Threat model: Mallory can </a:t>
            </a:r>
            <a:r>
              <a:rPr lang="en-US" i="1" dirty="0"/>
              <a:t>modify</a:t>
            </a:r>
            <a:r>
              <a:rPr lang="en-US" dirty="0"/>
              <a:t> the message </a:t>
            </a:r>
            <a:r>
              <a:rPr lang="en-US" b="1" i="1" dirty="0">
                <a:solidFill>
                  <a:srgbClr val="C00000"/>
                </a:solidFill>
              </a:rPr>
              <a:t>and the hash</a:t>
            </a:r>
          </a:p>
          <a:p>
            <a:pPr marL="914400" lvl="1" indent="-342900">
              <a:spcBef>
                <a:spcPts val="0"/>
              </a:spcBef>
              <a:spcAft>
                <a:spcPts val="600"/>
              </a:spcAft>
              <a:buSzPts val="1800"/>
              <a:buChar char="●"/>
            </a:pPr>
            <a:r>
              <a:rPr lang="en-US" b="1" i="1" dirty="0">
                <a:solidFill>
                  <a:srgbClr val="C00000"/>
                </a:solidFill>
              </a:rPr>
              <a:t>No integrity!</a:t>
            </a:r>
          </a:p>
          <a:p>
            <a:pPr marL="914400" lvl="1" indent="-342900">
              <a:spcBef>
                <a:spcPts val="0"/>
              </a:spcBef>
              <a:spcAft>
                <a:spcPts val="600"/>
              </a:spcAft>
              <a:buSzPts val="1800"/>
              <a:buFont typeface="Arial" panose="020B0604020202020204" pitchFamily="34" charset="0"/>
              <a:buChar char="●"/>
            </a:pPr>
            <a:r>
              <a:rPr lang="en-US" b="1" i="1" dirty="0">
                <a:solidFill>
                  <a:srgbClr val="C00000"/>
                </a:solidFill>
              </a:rPr>
              <a:t>Why? </a:t>
            </a:r>
            <a:r>
              <a:rPr lang="en-US" dirty="0"/>
              <a:t>There is </a:t>
            </a:r>
            <a:r>
              <a:rPr lang="en-US" dirty="0">
                <a:solidFill>
                  <a:srgbClr val="C00000"/>
                </a:solidFill>
              </a:rPr>
              <a:t>no secret key </a:t>
            </a:r>
            <a:r>
              <a:rPr lang="en-US" dirty="0"/>
              <a:t>being used as input, so any attacker can compute a hash on any value</a:t>
            </a:r>
          </a:p>
          <a:p>
            <a:pPr marL="914400" lvl="1" indent="-342900">
              <a:spcBef>
                <a:spcPts val="0"/>
              </a:spcBef>
              <a:spcAft>
                <a:spcPts val="600"/>
              </a:spcAft>
              <a:buSzPts val="1800"/>
              <a:buFont typeface="Arial" panose="020B0604020202020204" pitchFamily="34" charset="0"/>
              <a:buChar char="●"/>
            </a:pPr>
            <a:r>
              <a:rPr lang="en-US" dirty="0"/>
              <a:t>Next: Use hashes to design schemes that provide integrity</a:t>
            </a:r>
          </a:p>
        </p:txBody>
      </p:sp>
      <p:cxnSp>
        <p:nvCxnSpPr>
          <p:cNvPr id="18" name="Google Shape;180;p31">
            <a:extLst>
              <a:ext uri="{FF2B5EF4-FFF2-40B4-BE49-F238E27FC236}">
                <a16:creationId xmlns:a16="http://schemas.microsoft.com/office/drawing/2014/main" id="{BA4F5FCF-3A29-0637-F71A-BC90D59E1ED3}"/>
              </a:ext>
            </a:extLst>
          </p:cNvPr>
          <p:cNvCxnSpPr/>
          <p:nvPr/>
        </p:nvCxnSpPr>
        <p:spPr>
          <a:xfrm>
            <a:off x="10168436" y="1833786"/>
            <a:ext cx="0" cy="1253700"/>
          </a:xfrm>
          <a:prstGeom prst="straightConnector1">
            <a:avLst/>
          </a:prstGeom>
          <a:noFill/>
          <a:ln w="9525" cap="flat" cmpd="sng">
            <a:solidFill>
              <a:schemeClr val="dk2"/>
            </a:solidFill>
            <a:prstDash val="solid"/>
            <a:round/>
            <a:headEnd type="none" w="med" len="med"/>
            <a:tailEnd type="none" w="med" len="med"/>
          </a:ln>
        </p:spPr>
      </p:cxnSp>
      <p:cxnSp>
        <p:nvCxnSpPr>
          <p:cNvPr id="19" name="Google Shape;181;p31">
            <a:extLst>
              <a:ext uri="{FF2B5EF4-FFF2-40B4-BE49-F238E27FC236}">
                <a16:creationId xmlns:a16="http://schemas.microsoft.com/office/drawing/2014/main" id="{3E86E76B-5FE6-0836-CC5E-DCD4159C3046}"/>
              </a:ext>
            </a:extLst>
          </p:cNvPr>
          <p:cNvCxnSpPr/>
          <p:nvPr/>
        </p:nvCxnSpPr>
        <p:spPr>
          <a:xfrm>
            <a:off x="11488211" y="1833786"/>
            <a:ext cx="0" cy="1253700"/>
          </a:xfrm>
          <a:prstGeom prst="straightConnector1">
            <a:avLst/>
          </a:prstGeom>
          <a:noFill/>
          <a:ln w="9525" cap="flat" cmpd="sng">
            <a:solidFill>
              <a:schemeClr val="dk2"/>
            </a:solidFill>
            <a:prstDash val="solid"/>
            <a:round/>
            <a:headEnd type="none" w="med" len="med"/>
            <a:tailEnd type="none" w="med" len="med"/>
          </a:ln>
        </p:spPr>
      </p:cxnSp>
      <p:sp>
        <p:nvSpPr>
          <p:cNvPr id="20" name="Google Shape;182;p31">
            <a:extLst>
              <a:ext uri="{FF2B5EF4-FFF2-40B4-BE49-F238E27FC236}">
                <a16:creationId xmlns:a16="http://schemas.microsoft.com/office/drawing/2014/main" id="{2FB17614-6461-0FEA-F3EE-027A8FF48339}"/>
              </a:ext>
            </a:extLst>
          </p:cNvPr>
          <p:cNvSpPr txBox="1"/>
          <p:nvPr/>
        </p:nvSpPr>
        <p:spPr>
          <a:xfrm>
            <a:off x="9802811" y="1425036"/>
            <a:ext cx="2234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Alice</a:t>
            </a:r>
            <a:endParaRPr sz="1800">
              <a:solidFill>
                <a:schemeClr val="dk1"/>
              </a:solidFill>
            </a:endParaRPr>
          </a:p>
        </p:txBody>
      </p:sp>
      <p:sp>
        <p:nvSpPr>
          <p:cNvPr id="21" name="Google Shape;183;p31">
            <a:extLst>
              <a:ext uri="{FF2B5EF4-FFF2-40B4-BE49-F238E27FC236}">
                <a16:creationId xmlns:a16="http://schemas.microsoft.com/office/drawing/2014/main" id="{13912179-9176-B7E8-0013-31C9D508F8A7}"/>
              </a:ext>
            </a:extLst>
          </p:cNvPr>
          <p:cNvSpPr txBox="1"/>
          <p:nvPr/>
        </p:nvSpPr>
        <p:spPr>
          <a:xfrm>
            <a:off x="11144661" y="1425036"/>
            <a:ext cx="666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1"/>
                </a:solidFill>
              </a:rPr>
              <a:t>Bob</a:t>
            </a:r>
            <a:endParaRPr sz="1800" dirty="0">
              <a:solidFill>
                <a:schemeClr val="dk1"/>
              </a:solidFill>
            </a:endParaRPr>
          </a:p>
        </p:txBody>
      </p:sp>
      <p:cxnSp>
        <p:nvCxnSpPr>
          <p:cNvPr id="22" name="Google Shape;184;p31">
            <a:extLst>
              <a:ext uri="{FF2B5EF4-FFF2-40B4-BE49-F238E27FC236}">
                <a16:creationId xmlns:a16="http://schemas.microsoft.com/office/drawing/2014/main" id="{DF196FBB-4740-4077-2C98-94679AA1D4ED}"/>
              </a:ext>
            </a:extLst>
          </p:cNvPr>
          <p:cNvCxnSpPr/>
          <p:nvPr/>
        </p:nvCxnSpPr>
        <p:spPr>
          <a:xfrm>
            <a:off x="10248811" y="2107036"/>
            <a:ext cx="1205400" cy="225000"/>
          </a:xfrm>
          <a:prstGeom prst="straightConnector1">
            <a:avLst/>
          </a:prstGeom>
          <a:noFill/>
          <a:ln w="9525" cap="flat" cmpd="sng">
            <a:solidFill>
              <a:schemeClr val="dk2"/>
            </a:solidFill>
            <a:prstDash val="solid"/>
            <a:round/>
            <a:headEnd type="none" w="med" len="med"/>
            <a:tailEnd type="triangle" w="med" len="med"/>
          </a:ln>
        </p:spPr>
      </p:cxnSp>
      <p:sp>
        <p:nvSpPr>
          <p:cNvPr id="23" name="Google Shape;185;p31">
            <a:extLst>
              <a:ext uri="{FF2B5EF4-FFF2-40B4-BE49-F238E27FC236}">
                <a16:creationId xmlns:a16="http://schemas.microsoft.com/office/drawing/2014/main" id="{CA84D31C-63B0-9850-F22A-B6320ABCF1A0}"/>
              </a:ext>
            </a:extLst>
          </p:cNvPr>
          <p:cNvSpPr txBox="1"/>
          <p:nvPr/>
        </p:nvSpPr>
        <p:spPr>
          <a:xfrm>
            <a:off x="10317011" y="1769461"/>
            <a:ext cx="1719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M, H(M)</a:t>
            </a:r>
            <a:endParaRPr sz="1800">
              <a:solidFill>
                <a:schemeClr val="dk1"/>
              </a:solidFill>
            </a:endParaRPr>
          </a:p>
        </p:txBody>
      </p:sp>
      <p:sp>
        <p:nvSpPr>
          <p:cNvPr id="24" name="Google Shape;186;p31">
            <a:extLst>
              <a:ext uri="{FF2B5EF4-FFF2-40B4-BE49-F238E27FC236}">
                <a16:creationId xmlns:a16="http://schemas.microsoft.com/office/drawing/2014/main" id="{6BF92B99-57EA-C01E-185B-C49E69A9BCC6}"/>
              </a:ext>
            </a:extLst>
          </p:cNvPr>
          <p:cNvSpPr txBox="1"/>
          <p:nvPr/>
        </p:nvSpPr>
        <p:spPr>
          <a:xfrm>
            <a:off x="10325011" y="1769461"/>
            <a:ext cx="5487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rgbClr val="FF0000"/>
                </a:solidFill>
              </a:rPr>
              <a:t>X</a:t>
            </a:r>
            <a:endParaRPr sz="1800" dirty="0">
              <a:solidFill>
                <a:srgbClr val="FF0000"/>
              </a:solidFill>
            </a:endParaRPr>
          </a:p>
          <a:p>
            <a:pPr marL="0" lvl="0" indent="0" algn="l" rtl="0">
              <a:spcBef>
                <a:spcPts val="0"/>
              </a:spcBef>
              <a:spcAft>
                <a:spcPts val="0"/>
              </a:spcAft>
              <a:buNone/>
            </a:pPr>
            <a:r>
              <a:rPr lang="en" sz="1800" dirty="0">
                <a:solidFill>
                  <a:srgbClr val="FF0000"/>
                </a:solidFill>
              </a:rPr>
              <a:t>M</a:t>
            </a:r>
            <a:r>
              <a:rPr lang="en" baseline="30000" dirty="0">
                <a:solidFill>
                  <a:srgbClr val="FF0000"/>
                </a:solidFill>
              </a:rPr>
              <a:t>’</a:t>
            </a:r>
            <a:endParaRPr sz="1800" baseline="30000" dirty="0">
              <a:solidFill>
                <a:srgbClr val="FF0000"/>
              </a:solidFill>
            </a:endParaRPr>
          </a:p>
        </p:txBody>
      </p:sp>
      <p:sp>
        <p:nvSpPr>
          <p:cNvPr id="25" name="Google Shape;187;p31">
            <a:extLst>
              <a:ext uri="{FF2B5EF4-FFF2-40B4-BE49-F238E27FC236}">
                <a16:creationId xmlns:a16="http://schemas.microsoft.com/office/drawing/2014/main" id="{A41009D7-5525-0FA9-6DAA-2E482FFE58F7}"/>
              </a:ext>
            </a:extLst>
          </p:cNvPr>
          <p:cNvSpPr txBox="1"/>
          <p:nvPr/>
        </p:nvSpPr>
        <p:spPr>
          <a:xfrm>
            <a:off x="10706611" y="1693261"/>
            <a:ext cx="952200" cy="954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dirty="0">
                <a:solidFill>
                  <a:srgbClr val="FF0000"/>
                </a:solidFill>
              </a:rPr>
              <a:t>X</a:t>
            </a:r>
            <a:endParaRPr sz="2600" dirty="0">
              <a:solidFill>
                <a:srgbClr val="FF0000"/>
              </a:solidFill>
            </a:endParaRPr>
          </a:p>
          <a:p>
            <a:pPr marL="0" lvl="0" indent="0" algn="l" rtl="0">
              <a:spcBef>
                <a:spcPts val="0"/>
              </a:spcBef>
              <a:spcAft>
                <a:spcPts val="0"/>
              </a:spcAft>
              <a:buNone/>
            </a:pPr>
            <a:endParaRPr sz="600" dirty="0">
              <a:solidFill>
                <a:srgbClr val="FF0000"/>
              </a:solidFill>
            </a:endParaRPr>
          </a:p>
          <a:p>
            <a:pPr marL="0" lvl="0" indent="0" algn="l" rtl="0">
              <a:spcBef>
                <a:spcPts val="0"/>
              </a:spcBef>
              <a:spcAft>
                <a:spcPts val="0"/>
              </a:spcAft>
              <a:buNone/>
            </a:pPr>
            <a:r>
              <a:rPr lang="en" sz="1800" dirty="0">
                <a:solidFill>
                  <a:srgbClr val="FF0000"/>
                </a:solidFill>
              </a:rPr>
              <a:t>H(M</a:t>
            </a:r>
            <a:r>
              <a:rPr lang="en" baseline="30000" dirty="0">
                <a:solidFill>
                  <a:srgbClr val="FF0000"/>
                </a:solidFill>
              </a:rPr>
              <a:t>’</a:t>
            </a:r>
            <a:r>
              <a:rPr lang="en" sz="1800" dirty="0">
                <a:solidFill>
                  <a:srgbClr val="FF0000"/>
                </a:solidFill>
              </a:rPr>
              <a:t>)</a:t>
            </a:r>
            <a:endParaRPr sz="1800" dirty="0">
              <a:solidFill>
                <a:srgbClr val="FF0000"/>
              </a:solidFill>
            </a:endParaRPr>
          </a:p>
        </p:txBody>
      </p:sp>
    </p:spTree>
    <p:extLst>
      <p:ext uri="{BB962C8B-B14F-4D97-AF65-F5344CB8AC3E}">
        <p14:creationId xmlns:p14="http://schemas.microsoft.com/office/powerpoint/2010/main" val="1058692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A016A-EA86-D9C5-F543-12C215B02E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9EF20C-39CC-91A4-DCE3-64AA459D9246}"/>
              </a:ext>
            </a:extLst>
          </p:cNvPr>
          <p:cNvSpPr txBox="1">
            <a:spLocks/>
          </p:cNvSpPr>
          <p:nvPr/>
        </p:nvSpPr>
        <p:spPr>
          <a:xfrm>
            <a:off x="546662" y="152400"/>
            <a:ext cx="6551791" cy="165099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6000">
                <a:cs typeface="Calibri" panose="020F0502020204030204" pitchFamily="34" charset="0"/>
              </a:rPr>
              <a:t>Roadmap</a:t>
            </a:r>
            <a:endParaRPr lang="en-US" sz="6000" dirty="0"/>
          </a:p>
        </p:txBody>
      </p:sp>
      <p:sp>
        <p:nvSpPr>
          <p:cNvPr id="3" name="Rectangle 4">
            <a:extLst>
              <a:ext uri="{FF2B5EF4-FFF2-40B4-BE49-F238E27FC236}">
                <a16:creationId xmlns:a16="http://schemas.microsoft.com/office/drawing/2014/main" id="{CCF1C992-E991-5CE3-5CEB-9F3B491F4E0A}"/>
              </a:ext>
            </a:extLst>
          </p:cNvPr>
          <p:cNvSpPr txBox="1">
            <a:spLocks noChangeArrowheads="1"/>
          </p:cNvSpPr>
          <p:nvPr/>
        </p:nvSpPr>
        <p:spPr>
          <a:xfrm>
            <a:off x="327703" y="1646990"/>
            <a:ext cx="11536594" cy="4978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Cryptographic Hash</a:t>
            </a:r>
          </a:p>
          <a:p>
            <a:pPr marL="403225" indent="-285750">
              <a:spcBef>
                <a:spcPts val="800"/>
              </a:spcBef>
              <a:spcAft>
                <a:spcPts val="600"/>
              </a:spcAft>
              <a:buClr>
                <a:schemeClr val="bg1">
                  <a:lumMod val="85000"/>
                </a:schemeClr>
              </a:buClr>
            </a:pPr>
            <a:r>
              <a:rPr lang="en-US" altLang="en-US" sz="3600" b="1" i="1" dirty="0">
                <a:latin typeface="Calibri" panose="020F0502020204030204" pitchFamily="34" charset="0"/>
                <a:cs typeface="Calibri" panose="020F0502020204030204" pitchFamily="34" charset="0"/>
              </a:rPr>
              <a:t>Message Authentication Codes (MACs)</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Diffie-Hellman Key Exchange</a:t>
            </a:r>
          </a:p>
          <a:p>
            <a:pPr marL="117475" indent="0">
              <a:spcBef>
                <a:spcPts val="800"/>
              </a:spcBef>
              <a:spcAft>
                <a:spcPts val="600"/>
              </a:spcAft>
              <a:buClr>
                <a:schemeClr val="bg1">
                  <a:lumMod val="85000"/>
                </a:schemeClr>
              </a:buClr>
              <a:buNone/>
            </a:pPr>
            <a:endParaRPr lang="en-US" altLang="en-US" sz="3600" b="1" i="1" dirty="0">
              <a:solidFill>
                <a:schemeClr val="bg1">
                  <a:lumMod val="85000"/>
                </a:schemeClr>
              </a:solidFill>
              <a:latin typeface="Calibri" panose="020F0502020204030204" pitchFamily="34" charset="0"/>
              <a:cs typeface="Calibri" panose="020F0502020204030204" pitchFamily="34" charset="0"/>
            </a:endParaRPr>
          </a:p>
          <a:p>
            <a:pPr marL="403225" indent="-285750">
              <a:spcBef>
                <a:spcPts val="800"/>
              </a:spcBef>
              <a:spcAft>
                <a:spcPts val="600"/>
              </a:spcAft>
              <a:buClr>
                <a:schemeClr val="bg1">
                  <a:lumMod val="85000"/>
                </a:schemeClr>
              </a:buClr>
            </a:pPr>
            <a:endParaRPr lang="en-US" altLang="en-US" sz="3600" b="1" i="1" dirty="0">
              <a:solidFill>
                <a:schemeClr val="bg1">
                  <a:lumMod val="8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380900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C6E05-45E7-36E3-5D5E-A7385BEBFEE9}"/>
              </a:ext>
            </a:extLst>
          </p:cNvPr>
          <p:cNvSpPr>
            <a:spLocks noGrp="1"/>
          </p:cNvSpPr>
          <p:nvPr>
            <p:ph type="title"/>
          </p:nvPr>
        </p:nvSpPr>
        <p:spPr>
          <a:xfrm>
            <a:off x="838200" y="136526"/>
            <a:ext cx="10515600" cy="909760"/>
          </a:xfrm>
        </p:spPr>
        <p:txBody>
          <a:bodyPr/>
          <a:lstStyle/>
          <a:p>
            <a:r>
              <a:rPr lang="en" dirty="0"/>
              <a:t>How to Provide Integrity</a:t>
            </a:r>
            <a:endParaRPr lang="en-US" dirty="0"/>
          </a:p>
        </p:txBody>
      </p:sp>
      <p:sp>
        <p:nvSpPr>
          <p:cNvPr id="4" name="Google Shape;501;p66">
            <a:extLst>
              <a:ext uri="{FF2B5EF4-FFF2-40B4-BE49-F238E27FC236}">
                <a16:creationId xmlns:a16="http://schemas.microsoft.com/office/drawing/2014/main" id="{676E8364-15FE-E6A7-2CA7-FB11A3935FD9}"/>
              </a:ext>
            </a:extLst>
          </p:cNvPr>
          <p:cNvSpPr txBox="1">
            <a:spLocks/>
          </p:cNvSpPr>
          <p:nvPr/>
        </p:nvSpPr>
        <p:spPr>
          <a:xfrm>
            <a:off x="197827" y="1484802"/>
            <a:ext cx="11796346" cy="2876184"/>
          </a:xfrm>
          <a:prstGeom prst="rect">
            <a:avLst/>
          </a:prstGeom>
        </p:spPr>
        <p:txBody>
          <a:bodyPr spcFirstLastPara="1" vert="horz" wrap="square" lIns="91425" tIns="91425" rIns="91425" bIns="91425"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42900">
              <a:spcBef>
                <a:spcPts val="0"/>
              </a:spcBef>
              <a:spcAft>
                <a:spcPts val="600"/>
              </a:spcAft>
              <a:buSzPts val="1800"/>
              <a:buFont typeface="Arial" panose="020B0604020202020204" pitchFamily="34" charset="0"/>
              <a:buChar char="●"/>
            </a:pPr>
            <a:r>
              <a:rPr lang="en-US" dirty="0"/>
              <a:t>Alice and Bob want to communicate over an insecure channel</a:t>
            </a:r>
          </a:p>
          <a:p>
            <a:pPr marL="457200" indent="-342900">
              <a:spcBef>
                <a:spcPts val="0"/>
              </a:spcBef>
              <a:spcAft>
                <a:spcPts val="600"/>
              </a:spcAft>
              <a:buSzPts val="1800"/>
              <a:buFont typeface="Arial" panose="020B0604020202020204" pitchFamily="34" charset="0"/>
              <a:buChar char="●"/>
            </a:pPr>
            <a:r>
              <a:rPr lang="en-US" dirty="0"/>
              <a:t>Reminder: We’re in the symmetric-key setting</a:t>
            </a:r>
          </a:p>
          <a:p>
            <a:pPr marL="914400" lvl="1" indent="-342900">
              <a:spcBef>
                <a:spcPts val="0"/>
              </a:spcBef>
              <a:spcAft>
                <a:spcPts val="600"/>
              </a:spcAft>
              <a:buSzPts val="1800"/>
              <a:buFont typeface="Arial" panose="020B0604020202020204" pitchFamily="34" charset="0"/>
              <a:buChar char="●"/>
            </a:pPr>
            <a:r>
              <a:rPr lang="en-US" dirty="0">
                <a:solidFill>
                  <a:srgbClr val="C00000"/>
                </a:solidFill>
              </a:rPr>
              <a:t>Assume</a:t>
            </a:r>
            <a:r>
              <a:rPr lang="en-US" dirty="0"/>
              <a:t> that Alice and Bob share a secret key, and attackers don’t know the key</a:t>
            </a:r>
          </a:p>
          <a:p>
            <a:pPr marL="457200" indent="-342900">
              <a:spcBef>
                <a:spcPts val="0"/>
              </a:spcBef>
              <a:spcAft>
                <a:spcPts val="600"/>
              </a:spcAft>
              <a:buSzPts val="1800"/>
              <a:buFont typeface="Arial" panose="020B0604020202020204" pitchFamily="34" charset="0"/>
              <a:buChar char="●"/>
            </a:pPr>
            <a:r>
              <a:rPr lang="en-US" dirty="0"/>
              <a:t>We want to attach some piece of information to </a:t>
            </a:r>
            <a:r>
              <a:rPr lang="en-US" b="1" i="1" dirty="0"/>
              <a:t>prove</a:t>
            </a:r>
            <a:r>
              <a:rPr lang="en-US" dirty="0"/>
              <a:t> that someone</a:t>
            </a:r>
            <a:r>
              <a:rPr lang="en-US" dirty="0">
                <a:solidFill>
                  <a:srgbClr val="C00000"/>
                </a:solidFill>
              </a:rPr>
              <a:t> with the key </a:t>
            </a:r>
            <a:r>
              <a:rPr lang="en-US" dirty="0"/>
              <a:t>sent this message</a:t>
            </a:r>
          </a:p>
          <a:p>
            <a:pPr marL="457200" indent="-342900">
              <a:spcBef>
                <a:spcPts val="0"/>
              </a:spcBef>
              <a:spcAft>
                <a:spcPts val="600"/>
              </a:spcAft>
              <a:buSzPts val="1800"/>
              <a:buFont typeface="Arial" panose="020B0604020202020204" pitchFamily="34" charset="0"/>
              <a:buChar char="●"/>
            </a:pPr>
            <a:r>
              <a:rPr lang="en-US" dirty="0"/>
              <a:t>This piece of information can only be generated by someone with the key</a:t>
            </a:r>
          </a:p>
        </p:txBody>
      </p:sp>
      <p:pic>
        <p:nvPicPr>
          <p:cNvPr id="3" name="Google Shape;200;p33">
            <a:extLst>
              <a:ext uri="{FF2B5EF4-FFF2-40B4-BE49-F238E27FC236}">
                <a16:creationId xmlns:a16="http://schemas.microsoft.com/office/drawing/2014/main" id="{A7F1646F-D645-AB1F-25E2-75EB65038EEC}"/>
              </a:ext>
            </a:extLst>
          </p:cNvPr>
          <p:cNvPicPr preferRelativeResize="0"/>
          <p:nvPr/>
        </p:nvPicPr>
        <p:blipFill>
          <a:blip r:embed="rId2">
            <a:alphaModFix/>
          </a:blip>
          <a:stretch>
            <a:fillRect/>
          </a:stretch>
        </p:blipFill>
        <p:spPr>
          <a:xfrm>
            <a:off x="2312016" y="4540096"/>
            <a:ext cx="2011680" cy="1828800"/>
          </a:xfrm>
          <a:prstGeom prst="rect">
            <a:avLst/>
          </a:prstGeom>
          <a:noFill/>
          <a:ln>
            <a:noFill/>
          </a:ln>
        </p:spPr>
      </p:pic>
      <p:pic>
        <p:nvPicPr>
          <p:cNvPr id="5" name="Google Shape;95;p20">
            <a:extLst>
              <a:ext uri="{FF2B5EF4-FFF2-40B4-BE49-F238E27FC236}">
                <a16:creationId xmlns:a16="http://schemas.microsoft.com/office/drawing/2014/main" id="{D4B2F835-72DE-8200-E730-8DA919837E1C}"/>
              </a:ext>
            </a:extLst>
          </p:cNvPr>
          <p:cNvPicPr preferRelativeResize="0"/>
          <p:nvPr/>
        </p:nvPicPr>
        <p:blipFill>
          <a:blip r:embed="rId3">
            <a:alphaModFix/>
          </a:blip>
          <a:stretch>
            <a:fillRect/>
          </a:stretch>
        </p:blipFill>
        <p:spPr>
          <a:xfrm>
            <a:off x="7507835" y="4540095"/>
            <a:ext cx="1828800" cy="1828800"/>
          </a:xfrm>
          <a:prstGeom prst="rect">
            <a:avLst/>
          </a:prstGeom>
          <a:noFill/>
          <a:ln>
            <a:noFill/>
          </a:ln>
        </p:spPr>
      </p:pic>
    </p:spTree>
    <p:extLst>
      <p:ext uri="{BB962C8B-B14F-4D97-AF65-F5344CB8AC3E}">
        <p14:creationId xmlns:p14="http://schemas.microsoft.com/office/powerpoint/2010/main" val="1578203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EC670-E4FF-45DF-4AFF-CB125C24DE2A}"/>
              </a:ext>
            </a:extLst>
          </p:cNvPr>
          <p:cNvSpPr>
            <a:spLocks noGrp="1"/>
          </p:cNvSpPr>
          <p:nvPr>
            <p:ph type="title"/>
          </p:nvPr>
        </p:nvSpPr>
        <p:spPr>
          <a:xfrm>
            <a:off x="838200" y="57663"/>
            <a:ext cx="10515600" cy="1057282"/>
          </a:xfrm>
        </p:spPr>
        <p:txBody>
          <a:bodyPr>
            <a:normAutofit fontScale="90000"/>
          </a:bodyPr>
          <a:lstStyle/>
          <a:p>
            <a:r>
              <a:rPr lang="en-US" dirty="0"/>
              <a:t>Message Authentication Codes (MACs): Usage</a:t>
            </a:r>
          </a:p>
        </p:txBody>
      </p:sp>
      <p:sp>
        <p:nvSpPr>
          <p:cNvPr id="4" name="Google Shape;508;p67">
            <a:extLst>
              <a:ext uri="{FF2B5EF4-FFF2-40B4-BE49-F238E27FC236}">
                <a16:creationId xmlns:a16="http://schemas.microsoft.com/office/drawing/2014/main" id="{B6D89DCA-7E45-1065-B631-2261F91C52BD}"/>
              </a:ext>
            </a:extLst>
          </p:cNvPr>
          <p:cNvSpPr txBox="1">
            <a:spLocks/>
          </p:cNvSpPr>
          <p:nvPr/>
        </p:nvSpPr>
        <p:spPr>
          <a:xfrm>
            <a:off x="261204" y="1618593"/>
            <a:ext cx="11669591" cy="2793203"/>
          </a:xfrm>
          <a:prstGeom prst="rect">
            <a:avLst/>
          </a:prstGeom>
        </p:spPr>
        <p:txBody>
          <a:bodyPr spcFirstLastPara="1" vert="horz" wrap="square" lIns="91425" tIns="91425" rIns="91425" bIns="91425"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42900">
              <a:spcBef>
                <a:spcPts val="0"/>
              </a:spcBef>
              <a:spcAft>
                <a:spcPts val="600"/>
              </a:spcAft>
              <a:buSzPts val="1800"/>
              <a:buFont typeface="Arial" panose="020B0604020202020204" pitchFamily="34" charset="0"/>
              <a:buChar char="●"/>
            </a:pPr>
            <a:r>
              <a:rPr lang="en" sz="2600" b="1" dirty="0"/>
              <a:t>Integrity</a:t>
            </a:r>
            <a:r>
              <a:rPr lang="en" sz="2600" dirty="0"/>
              <a:t>: An adversary cannot </a:t>
            </a:r>
            <a:r>
              <a:rPr lang="en" sz="2600" i="1" dirty="0"/>
              <a:t>change</a:t>
            </a:r>
            <a:r>
              <a:rPr lang="en" sz="2600" dirty="0"/>
              <a:t> our messages without being detected</a:t>
            </a:r>
            <a:endParaRPr lang="en-US" sz="2600" dirty="0"/>
          </a:p>
          <a:p>
            <a:pPr marL="457200" indent="-342900">
              <a:spcBef>
                <a:spcPts val="0"/>
              </a:spcBef>
              <a:spcAft>
                <a:spcPts val="600"/>
              </a:spcAft>
              <a:buSzPts val="1800"/>
              <a:buFont typeface="Arial" panose="020B0604020202020204" pitchFamily="34" charset="0"/>
              <a:buChar char="●"/>
            </a:pPr>
            <a:r>
              <a:rPr lang="en-US" sz="2600" dirty="0"/>
              <a:t>Alice wants to send </a:t>
            </a:r>
            <a:r>
              <a:rPr lang="en-US" sz="2600" i="1" dirty="0"/>
              <a:t>M</a:t>
            </a:r>
            <a:r>
              <a:rPr lang="en-US" sz="2600" dirty="0"/>
              <a:t> to Bob, but doesn’t want Mallory to tamper with it</a:t>
            </a:r>
          </a:p>
          <a:p>
            <a:pPr marL="457200" indent="-342900">
              <a:spcBef>
                <a:spcPts val="0"/>
              </a:spcBef>
              <a:spcAft>
                <a:spcPts val="600"/>
              </a:spcAft>
              <a:buSzPts val="1800"/>
              <a:buFont typeface="Arial" panose="020B0604020202020204" pitchFamily="34" charset="0"/>
              <a:buChar char="●"/>
            </a:pPr>
            <a:r>
              <a:rPr lang="en-US" sz="2600" dirty="0"/>
              <a:t>Alice and Bob </a:t>
            </a:r>
            <a:r>
              <a:rPr lang="en-US" sz="2600" dirty="0">
                <a:solidFill>
                  <a:srgbClr val="C00000"/>
                </a:solidFill>
              </a:rPr>
              <a:t>share a secret key</a:t>
            </a:r>
          </a:p>
          <a:p>
            <a:pPr marL="457200" indent="-342900">
              <a:spcBef>
                <a:spcPts val="0"/>
              </a:spcBef>
              <a:spcAft>
                <a:spcPts val="600"/>
              </a:spcAft>
              <a:buSzPts val="1800"/>
              <a:buFont typeface="Arial" panose="020B0604020202020204" pitchFamily="34" charset="0"/>
              <a:buChar char="●"/>
            </a:pPr>
            <a:r>
              <a:rPr lang="en-US" sz="2600" dirty="0"/>
              <a:t>Alice sends </a:t>
            </a:r>
            <a:r>
              <a:rPr lang="en-US" sz="2600" b="1" i="1" dirty="0">
                <a:solidFill>
                  <a:srgbClr val="C00000"/>
                </a:solidFill>
              </a:rPr>
              <a:t>M</a:t>
            </a:r>
            <a:r>
              <a:rPr lang="en-US" sz="2600" b="1" dirty="0">
                <a:solidFill>
                  <a:srgbClr val="C00000"/>
                </a:solidFill>
              </a:rPr>
              <a:t> and </a:t>
            </a:r>
            <a:r>
              <a:rPr lang="en-US" sz="2600" b="1" i="1" dirty="0">
                <a:solidFill>
                  <a:srgbClr val="C00000"/>
                </a:solidFill>
              </a:rPr>
              <a:t>T</a:t>
            </a:r>
            <a:r>
              <a:rPr lang="en-US" sz="2600" b="1" dirty="0">
                <a:solidFill>
                  <a:srgbClr val="C00000"/>
                </a:solidFill>
              </a:rPr>
              <a:t> </a:t>
            </a:r>
            <a:r>
              <a:rPr lang="en-US" sz="2600" dirty="0"/>
              <a:t>= MAC(</a:t>
            </a:r>
            <a:r>
              <a:rPr lang="en-US" sz="2600" i="1" dirty="0"/>
              <a:t>K</a:t>
            </a:r>
            <a:r>
              <a:rPr lang="en-US" sz="2600" dirty="0"/>
              <a:t>, </a:t>
            </a:r>
            <a:r>
              <a:rPr lang="en-US" sz="2600" i="1" dirty="0"/>
              <a:t>M</a:t>
            </a:r>
            <a:r>
              <a:rPr lang="en-US" sz="2600" dirty="0"/>
              <a:t>) to Bob</a:t>
            </a:r>
          </a:p>
          <a:p>
            <a:pPr marL="457200" indent="-342900">
              <a:spcBef>
                <a:spcPts val="0"/>
              </a:spcBef>
              <a:spcAft>
                <a:spcPts val="600"/>
              </a:spcAft>
              <a:buSzPts val="1800"/>
              <a:buFont typeface="Arial" panose="020B0604020202020204" pitchFamily="34" charset="0"/>
              <a:buChar char="●"/>
            </a:pPr>
            <a:r>
              <a:rPr lang="en-US" sz="2600" dirty="0"/>
              <a:t>Bob receives message, recomputes MAC(</a:t>
            </a:r>
            <a:r>
              <a:rPr lang="en-US" sz="2600" i="1" dirty="0"/>
              <a:t>K</a:t>
            </a:r>
            <a:r>
              <a:rPr lang="en-US" sz="2600" dirty="0"/>
              <a:t>, </a:t>
            </a:r>
            <a:r>
              <a:rPr lang="en-US" sz="2600" i="1" dirty="0"/>
              <a:t>M</a:t>
            </a:r>
            <a:r>
              <a:rPr lang="en-US" sz="2600" dirty="0"/>
              <a:t>) and checks that it matches </a:t>
            </a:r>
            <a:r>
              <a:rPr lang="en-US" sz="2600" i="1" dirty="0"/>
              <a:t>T</a:t>
            </a:r>
          </a:p>
          <a:p>
            <a:pPr marL="457200" indent="-342900">
              <a:spcBef>
                <a:spcPts val="0"/>
              </a:spcBef>
              <a:spcAft>
                <a:spcPts val="600"/>
              </a:spcAft>
              <a:buSzPts val="1800"/>
              <a:buFont typeface="Arial" panose="020B0604020202020204" pitchFamily="34" charset="0"/>
              <a:buChar char="●"/>
            </a:pPr>
            <a:r>
              <a:rPr lang="en-US" sz="2600" dirty="0"/>
              <a:t>If the MACs match, Bob is confident the message has not been tampered</a:t>
            </a:r>
          </a:p>
        </p:txBody>
      </p:sp>
      <p:grpSp>
        <p:nvGrpSpPr>
          <p:cNvPr id="29" name="Group 28">
            <a:extLst>
              <a:ext uri="{FF2B5EF4-FFF2-40B4-BE49-F238E27FC236}">
                <a16:creationId xmlns:a16="http://schemas.microsoft.com/office/drawing/2014/main" id="{35218E87-1AE6-D6CC-D787-A979CDE02440}"/>
              </a:ext>
            </a:extLst>
          </p:cNvPr>
          <p:cNvGrpSpPr/>
          <p:nvPr/>
        </p:nvGrpSpPr>
        <p:grpSpPr>
          <a:xfrm>
            <a:off x="1178706" y="4730844"/>
            <a:ext cx="9570798" cy="1993271"/>
            <a:chOff x="1108368" y="4730844"/>
            <a:chExt cx="9570798" cy="1993271"/>
          </a:xfrm>
        </p:grpSpPr>
        <p:sp>
          <p:nvSpPr>
            <p:cNvPr id="5" name="Google Shape;510;p67">
              <a:extLst>
                <a:ext uri="{FF2B5EF4-FFF2-40B4-BE49-F238E27FC236}">
                  <a16:creationId xmlns:a16="http://schemas.microsoft.com/office/drawing/2014/main" id="{AC4E1DEC-B195-CB05-1F45-904336BC72B6}"/>
                </a:ext>
              </a:extLst>
            </p:cNvPr>
            <p:cNvSpPr/>
            <p:nvPr/>
          </p:nvSpPr>
          <p:spPr>
            <a:xfrm>
              <a:off x="6706734" y="5120790"/>
              <a:ext cx="3972432" cy="1439100"/>
            </a:xfrm>
            <a:prstGeom prst="rect">
              <a:avLst/>
            </a:pr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11;p67">
              <a:extLst>
                <a:ext uri="{FF2B5EF4-FFF2-40B4-BE49-F238E27FC236}">
                  <a16:creationId xmlns:a16="http://schemas.microsoft.com/office/drawing/2014/main" id="{25C64E53-EA05-7A9B-1FCF-35EDBE9C8940}"/>
                </a:ext>
              </a:extLst>
            </p:cNvPr>
            <p:cNvSpPr/>
            <p:nvPr/>
          </p:nvSpPr>
          <p:spPr>
            <a:xfrm>
              <a:off x="1108369" y="5156765"/>
              <a:ext cx="3972432" cy="1439100"/>
            </a:xfrm>
            <a:prstGeom prst="rect">
              <a:avLst/>
            </a:pr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12;p67">
              <a:extLst>
                <a:ext uri="{FF2B5EF4-FFF2-40B4-BE49-F238E27FC236}">
                  <a16:creationId xmlns:a16="http://schemas.microsoft.com/office/drawing/2014/main" id="{57DCB78D-A979-C7F3-B18C-C86770DF0EC8}"/>
                </a:ext>
              </a:extLst>
            </p:cNvPr>
            <p:cNvSpPr/>
            <p:nvPr/>
          </p:nvSpPr>
          <p:spPr>
            <a:xfrm>
              <a:off x="1231918" y="6033490"/>
              <a:ext cx="1393887" cy="470100"/>
            </a:xfrm>
            <a:prstGeom prst="rect">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Message</a:t>
              </a:r>
              <a:endParaRPr/>
            </a:p>
          </p:txBody>
        </p:sp>
        <p:sp>
          <p:nvSpPr>
            <p:cNvPr id="8" name="Google Shape;513;p67">
              <a:extLst>
                <a:ext uri="{FF2B5EF4-FFF2-40B4-BE49-F238E27FC236}">
                  <a16:creationId xmlns:a16="http://schemas.microsoft.com/office/drawing/2014/main" id="{52F29DC3-F20F-4C47-EE4C-8F84C40F1051}"/>
                </a:ext>
              </a:extLst>
            </p:cNvPr>
            <p:cNvSpPr/>
            <p:nvPr/>
          </p:nvSpPr>
          <p:spPr>
            <a:xfrm>
              <a:off x="3353693" y="5246022"/>
              <a:ext cx="673737" cy="470100"/>
            </a:xfrm>
            <a:prstGeom prst="rect">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Key</a:t>
              </a:r>
              <a:endParaRPr dirty="0"/>
            </a:p>
          </p:txBody>
        </p:sp>
        <p:sp>
          <p:nvSpPr>
            <p:cNvPr id="9" name="Google Shape;514;p67">
              <a:extLst>
                <a:ext uri="{FF2B5EF4-FFF2-40B4-BE49-F238E27FC236}">
                  <a16:creationId xmlns:a16="http://schemas.microsoft.com/office/drawing/2014/main" id="{FE5230D5-8CE5-5A15-D7C4-9C4BFAE86872}"/>
                </a:ext>
              </a:extLst>
            </p:cNvPr>
            <p:cNvSpPr/>
            <p:nvPr/>
          </p:nvSpPr>
          <p:spPr>
            <a:xfrm>
              <a:off x="2993618" y="6033490"/>
              <a:ext cx="1393887" cy="470100"/>
            </a:xfrm>
            <a:prstGeom prst="rect">
              <a:avLst/>
            </a:prstGeom>
            <a:solidFill>
              <a:srgbClr val="FFF2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t>MAC</a:t>
              </a:r>
              <a:endParaRPr b="1"/>
            </a:p>
          </p:txBody>
        </p:sp>
        <p:cxnSp>
          <p:nvCxnSpPr>
            <p:cNvPr id="10" name="Google Shape;515;p67">
              <a:extLst>
                <a:ext uri="{FF2B5EF4-FFF2-40B4-BE49-F238E27FC236}">
                  <a16:creationId xmlns:a16="http://schemas.microsoft.com/office/drawing/2014/main" id="{E06A57D1-E507-1989-4F8F-6C38CEAA601C}"/>
                </a:ext>
              </a:extLst>
            </p:cNvPr>
            <p:cNvCxnSpPr>
              <a:stCxn id="8" idx="2"/>
              <a:endCxn id="9" idx="0"/>
            </p:cNvCxnSpPr>
            <p:nvPr/>
          </p:nvCxnSpPr>
          <p:spPr>
            <a:xfrm>
              <a:off x="3690562" y="5716122"/>
              <a:ext cx="0" cy="317368"/>
            </a:xfrm>
            <a:prstGeom prst="straightConnector1">
              <a:avLst/>
            </a:prstGeom>
            <a:noFill/>
            <a:ln w="9525" cap="flat" cmpd="sng">
              <a:solidFill>
                <a:srgbClr val="595959"/>
              </a:solidFill>
              <a:prstDash val="solid"/>
              <a:round/>
              <a:headEnd type="none" w="med" len="med"/>
              <a:tailEnd type="triangle" w="med" len="med"/>
            </a:ln>
          </p:spPr>
        </p:cxnSp>
        <p:cxnSp>
          <p:nvCxnSpPr>
            <p:cNvPr id="11" name="Google Shape;516;p67">
              <a:extLst>
                <a:ext uri="{FF2B5EF4-FFF2-40B4-BE49-F238E27FC236}">
                  <a16:creationId xmlns:a16="http://schemas.microsoft.com/office/drawing/2014/main" id="{D05D2A25-0B88-548C-7CDD-3EA038CCA8B0}"/>
                </a:ext>
              </a:extLst>
            </p:cNvPr>
            <p:cNvCxnSpPr>
              <a:endCxn id="9" idx="1"/>
            </p:cNvCxnSpPr>
            <p:nvPr/>
          </p:nvCxnSpPr>
          <p:spPr>
            <a:xfrm>
              <a:off x="2367219" y="6268540"/>
              <a:ext cx="626399" cy="0"/>
            </a:xfrm>
            <a:prstGeom prst="straightConnector1">
              <a:avLst/>
            </a:prstGeom>
            <a:noFill/>
            <a:ln w="9525" cap="flat" cmpd="sng">
              <a:solidFill>
                <a:srgbClr val="595959"/>
              </a:solidFill>
              <a:prstDash val="solid"/>
              <a:round/>
              <a:headEnd type="none" w="med" len="med"/>
              <a:tailEnd type="triangle" w="med" len="med"/>
            </a:ln>
          </p:spPr>
        </p:cxnSp>
        <p:sp>
          <p:nvSpPr>
            <p:cNvPr id="12" name="Google Shape;517;p67">
              <a:extLst>
                <a:ext uri="{FF2B5EF4-FFF2-40B4-BE49-F238E27FC236}">
                  <a16:creationId xmlns:a16="http://schemas.microsoft.com/office/drawing/2014/main" id="{30DB5AB9-6624-25F8-4691-9D58BAC411D7}"/>
                </a:ext>
              </a:extLst>
            </p:cNvPr>
            <p:cNvSpPr/>
            <p:nvPr/>
          </p:nvSpPr>
          <p:spPr>
            <a:xfrm>
              <a:off x="5159783" y="5997515"/>
              <a:ext cx="1393887" cy="470100"/>
            </a:xfrm>
            <a:prstGeom prst="rect">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Message</a:t>
              </a:r>
              <a:endParaRPr/>
            </a:p>
          </p:txBody>
        </p:sp>
        <p:cxnSp>
          <p:nvCxnSpPr>
            <p:cNvPr id="13" name="Google Shape;518;p67">
              <a:extLst>
                <a:ext uri="{FF2B5EF4-FFF2-40B4-BE49-F238E27FC236}">
                  <a16:creationId xmlns:a16="http://schemas.microsoft.com/office/drawing/2014/main" id="{1150D0A8-208D-2D90-D60A-D72705B03B96}"/>
                </a:ext>
              </a:extLst>
            </p:cNvPr>
            <p:cNvCxnSpPr>
              <a:cxnSpLocks/>
              <a:stCxn id="9" idx="3"/>
              <a:endCxn id="23" idx="1"/>
            </p:cNvCxnSpPr>
            <p:nvPr/>
          </p:nvCxnSpPr>
          <p:spPr>
            <a:xfrm>
              <a:off x="4387505" y="6268540"/>
              <a:ext cx="772278" cy="327325"/>
            </a:xfrm>
            <a:prstGeom prst="straightConnector1">
              <a:avLst/>
            </a:prstGeom>
            <a:noFill/>
            <a:ln w="9525" cap="flat" cmpd="sng">
              <a:solidFill>
                <a:srgbClr val="595959"/>
              </a:solidFill>
              <a:prstDash val="solid"/>
              <a:round/>
              <a:headEnd type="none" w="med" len="med"/>
              <a:tailEnd type="triangle" w="med" len="med"/>
            </a:ln>
          </p:spPr>
        </p:cxnSp>
        <p:cxnSp>
          <p:nvCxnSpPr>
            <p:cNvPr id="14" name="Google Shape;520;p67">
              <a:extLst>
                <a:ext uri="{FF2B5EF4-FFF2-40B4-BE49-F238E27FC236}">
                  <a16:creationId xmlns:a16="http://schemas.microsoft.com/office/drawing/2014/main" id="{30EE470B-0CF0-868C-7B8C-476128C280D6}"/>
                </a:ext>
              </a:extLst>
            </p:cNvPr>
            <p:cNvCxnSpPr>
              <a:stCxn id="12" idx="3"/>
              <a:endCxn id="16" idx="1"/>
            </p:cNvCxnSpPr>
            <p:nvPr/>
          </p:nvCxnSpPr>
          <p:spPr>
            <a:xfrm>
              <a:off x="6553670" y="6232565"/>
              <a:ext cx="367813" cy="75"/>
            </a:xfrm>
            <a:prstGeom prst="straightConnector1">
              <a:avLst/>
            </a:prstGeom>
            <a:noFill/>
            <a:ln w="9525" cap="flat" cmpd="sng">
              <a:solidFill>
                <a:srgbClr val="595959"/>
              </a:solidFill>
              <a:prstDash val="solid"/>
              <a:round/>
              <a:headEnd type="none" w="med" len="med"/>
              <a:tailEnd type="triangle" w="med" len="med"/>
            </a:ln>
          </p:spPr>
        </p:cxnSp>
        <p:sp>
          <p:nvSpPr>
            <p:cNvPr id="15" name="Google Shape;522;p67">
              <a:extLst>
                <a:ext uri="{FF2B5EF4-FFF2-40B4-BE49-F238E27FC236}">
                  <a16:creationId xmlns:a16="http://schemas.microsoft.com/office/drawing/2014/main" id="{7A30D86E-4C79-42D9-0686-5898636D9C3E}"/>
                </a:ext>
              </a:extLst>
            </p:cNvPr>
            <p:cNvSpPr/>
            <p:nvPr/>
          </p:nvSpPr>
          <p:spPr>
            <a:xfrm>
              <a:off x="7281558" y="5210047"/>
              <a:ext cx="673737" cy="470100"/>
            </a:xfrm>
            <a:prstGeom prst="rect">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Key</a:t>
              </a:r>
              <a:endParaRPr/>
            </a:p>
          </p:txBody>
        </p:sp>
        <p:sp>
          <p:nvSpPr>
            <p:cNvPr id="16" name="Google Shape;521;p67">
              <a:extLst>
                <a:ext uri="{FF2B5EF4-FFF2-40B4-BE49-F238E27FC236}">
                  <a16:creationId xmlns:a16="http://schemas.microsoft.com/office/drawing/2014/main" id="{781AFC4E-8BC7-E252-EF73-B0083F665843}"/>
                </a:ext>
              </a:extLst>
            </p:cNvPr>
            <p:cNvSpPr/>
            <p:nvPr/>
          </p:nvSpPr>
          <p:spPr>
            <a:xfrm>
              <a:off x="6921483" y="5997590"/>
              <a:ext cx="1393887" cy="470100"/>
            </a:xfrm>
            <a:prstGeom prst="rect">
              <a:avLst/>
            </a:prstGeom>
            <a:solidFill>
              <a:srgbClr val="FFF2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t>Verify</a:t>
              </a:r>
              <a:endParaRPr b="1"/>
            </a:p>
          </p:txBody>
        </p:sp>
        <p:cxnSp>
          <p:nvCxnSpPr>
            <p:cNvPr id="17" name="Google Shape;523;p67">
              <a:extLst>
                <a:ext uri="{FF2B5EF4-FFF2-40B4-BE49-F238E27FC236}">
                  <a16:creationId xmlns:a16="http://schemas.microsoft.com/office/drawing/2014/main" id="{BDBDEE0D-7C5B-C5CD-7AE1-F069D0FA9956}"/>
                </a:ext>
              </a:extLst>
            </p:cNvPr>
            <p:cNvCxnSpPr>
              <a:stCxn id="15" idx="2"/>
              <a:endCxn id="16" idx="0"/>
            </p:cNvCxnSpPr>
            <p:nvPr/>
          </p:nvCxnSpPr>
          <p:spPr>
            <a:xfrm>
              <a:off x="7618427" y="5680147"/>
              <a:ext cx="0" cy="317443"/>
            </a:xfrm>
            <a:prstGeom prst="straightConnector1">
              <a:avLst/>
            </a:prstGeom>
            <a:noFill/>
            <a:ln w="9525" cap="flat" cmpd="sng">
              <a:solidFill>
                <a:srgbClr val="595959"/>
              </a:solidFill>
              <a:prstDash val="solid"/>
              <a:round/>
              <a:headEnd type="none" w="med" len="med"/>
              <a:tailEnd type="triangle" w="med" len="med"/>
            </a:ln>
          </p:spPr>
        </p:cxnSp>
        <p:sp>
          <p:nvSpPr>
            <p:cNvPr id="18" name="Google Shape;524;p67">
              <a:extLst>
                <a:ext uri="{FF2B5EF4-FFF2-40B4-BE49-F238E27FC236}">
                  <a16:creationId xmlns:a16="http://schemas.microsoft.com/office/drawing/2014/main" id="{930FE188-12C8-B662-514A-F5F98B737AB3}"/>
                </a:ext>
              </a:extLst>
            </p:cNvPr>
            <p:cNvSpPr/>
            <p:nvPr/>
          </p:nvSpPr>
          <p:spPr>
            <a:xfrm>
              <a:off x="8683183" y="5997515"/>
              <a:ext cx="1393887" cy="470100"/>
            </a:xfrm>
            <a:prstGeom prst="rect">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Yes/No</a:t>
              </a:r>
              <a:endParaRPr/>
            </a:p>
          </p:txBody>
        </p:sp>
        <p:cxnSp>
          <p:nvCxnSpPr>
            <p:cNvPr id="19" name="Google Shape;525;p67">
              <a:extLst>
                <a:ext uri="{FF2B5EF4-FFF2-40B4-BE49-F238E27FC236}">
                  <a16:creationId xmlns:a16="http://schemas.microsoft.com/office/drawing/2014/main" id="{F16BB524-8B35-A6D8-382E-ADD4A84D87B3}"/>
                </a:ext>
              </a:extLst>
            </p:cNvPr>
            <p:cNvCxnSpPr>
              <a:stCxn id="16" idx="3"/>
              <a:endCxn id="18" idx="1"/>
            </p:cNvCxnSpPr>
            <p:nvPr/>
          </p:nvCxnSpPr>
          <p:spPr>
            <a:xfrm flipV="1">
              <a:off x="8315370" y="6232565"/>
              <a:ext cx="367813" cy="75"/>
            </a:xfrm>
            <a:prstGeom prst="straightConnector1">
              <a:avLst/>
            </a:prstGeom>
            <a:noFill/>
            <a:ln w="9525" cap="flat" cmpd="sng">
              <a:solidFill>
                <a:srgbClr val="595959"/>
              </a:solidFill>
              <a:prstDash val="solid"/>
              <a:round/>
              <a:headEnd type="none" w="med" len="med"/>
              <a:tailEnd type="triangle" w="med" len="med"/>
            </a:ln>
          </p:spPr>
        </p:cxnSp>
        <p:sp>
          <p:nvSpPr>
            <p:cNvPr id="20" name="Google Shape;526;p67">
              <a:extLst>
                <a:ext uri="{FF2B5EF4-FFF2-40B4-BE49-F238E27FC236}">
                  <a16:creationId xmlns:a16="http://schemas.microsoft.com/office/drawing/2014/main" id="{396BA64F-0BFB-E49A-FF82-67E94431F3B0}"/>
                </a:ext>
              </a:extLst>
            </p:cNvPr>
            <p:cNvSpPr txBox="1"/>
            <p:nvPr/>
          </p:nvSpPr>
          <p:spPr>
            <a:xfrm>
              <a:off x="1108368" y="5156765"/>
              <a:ext cx="939695"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Alice</a:t>
              </a:r>
              <a:endParaRPr/>
            </a:p>
          </p:txBody>
        </p:sp>
        <p:sp>
          <p:nvSpPr>
            <p:cNvPr id="21" name="Google Shape;527;p67">
              <a:extLst>
                <a:ext uri="{FF2B5EF4-FFF2-40B4-BE49-F238E27FC236}">
                  <a16:creationId xmlns:a16="http://schemas.microsoft.com/office/drawing/2014/main" id="{34FBD86C-1B4C-E74F-7E98-B083DD340B37}"/>
                </a:ext>
              </a:extLst>
            </p:cNvPr>
            <p:cNvSpPr txBox="1"/>
            <p:nvPr/>
          </p:nvSpPr>
          <p:spPr>
            <a:xfrm>
              <a:off x="9176633" y="5120790"/>
              <a:ext cx="939695" cy="461635"/>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a:t>Bob</a:t>
              </a:r>
              <a:endParaRPr/>
            </a:p>
          </p:txBody>
        </p:sp>
        <p:sp>
          <p:nvSpPr>
            <p:cNvPr id="22" name="Google Shape;528;p67">
              <a:extLst>
                <a:ext uri="{FF2B5EF4-FFF2-40B4-BE49-F238E27FC236}">
                  <a16:creationId xmlns:a16="http://schemas.microsoft.com/office/drawing/2014/main" id="{09C611DB-AB6D-3241-16AC-17E065D1EFF9}"/>
                </a:ext>
              </a:extLst>
            </p:cNvPr>
            <p:cNvSpPr txBox="1"/>
            <p:nvPr/>
          </p:nvSpPr>
          <p:spPr>
            <a:xfrm>
              <a:off x="4600263" y="4730844"/>
              <a:ext cx="2405045" cy="73863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solidFill>
                    <a:srgbClr val="FF0000"/>
                  </a:solidFill>
                </a:rPr>
                <a:t>Insecure </a:t>
              </a:r>
            </a:p>
            <a:p>
              <a:pPr marL="0" lvl="0" indent="0" algn="ctr" rtl="0">
                <a:spcBef>
                  <a:spcPts val="0"/>
                </a:spcBef>
                <a:spcAft>
                  <a:spcPts val="0"/>
                </a:spcAft>
                <a:buNone/>
              </a:pPr>
              <a:r>
                <a:rPr lang="en" dirty="0">
                  <a:solidFill>
                    <a:srgbClr val="FF0000"/>
                  </a:solidFill>
                </a:rPr>
                <a:t>Channel</a:t>
              </a:r>
              <a:endParaRPr dirty="0">
                <a:solidFill>
                  <a:srgbClr val="FF0000"/>
                </a:solidFill>
              </a:endParaRPr>
            </a:p>
          </p:txBody>
        </p:sp>
        <p:sp>
          <p:nvSpPr>
            <p:cNvPr id="23" name="Google Shape;519;p67">
              <a:extLst>
                <a:ext uri="{FF2B5EF4-FFF2-40B4-BE49-F238E27FC236}">
                  <a16:creationId xmlns:a16="http://schemas.microsoft.com/office/drawing/2014/main" id="{D73052B0-5741-971F-583E-91C210E45723}"/>
                </a:ext>
              </a:extLst>
            </p:cNvPr>
            <p:cNvSpPr/>
            <p:nvPr/>
          </p:nvSpPr>
          <p:spPr>
            <a:xfrm>
              <a:off x="5159783" y="6467615"/>
              <a:ext cx="1393887" cy="256500"/>
            </a:xfrm>
            <a:prstGeom prst="rect">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T</a:t>
              </a:r>
              <a:endParaRPr/>
            </a:p>
          </p:txBody>
        </p:sp>
        <p:pic>
          <p:nvPicPr>
            <p:cNvPr id="24" name="Google Shape;529;p67">
              <a:extLst>
                <a:ext uri="{FF2B5EF4-FFF2-40B4-BE49-F238E27FC236}">
                  <a16:creationId xmlns:a16="http://schemas.microsoft.com/office/drawing/2014/main" id="{D5302F00-FCDA-9A2D-4544-6CD4DD6FABE7}"/>
                </a:ext>
              </a:extLst>
            </p:cNvPr>
            <p:cNvPicPr preferRelativeResize="0"/>
            <p:nvPr/>
          </p:nvPicPr>
          <p:blipFill>
            <a:blip r:embed="rId3">
              <a:alphaModFix/>
            </a:blip>
            <a:stretch>
              <a:fillRect/>
            </a:stretch>
          </p:blipFill>
          <p:spPr>
            <a:xfrm flipH="1">
              <a:off x="5460483" y="5484990"/>
              <a:ext cx="578569" cy="369298"/>
            </a:xfrm>
            <a:prstGeom prst="rect">
              <a:avLst/>
            </a:prstGeom>
            <a:noFill/>
            <a:ln>
              <a:noFill/>
            </a:ln>
          </p:spPr>
        </p:pic>
        <p:cxnSp>
          <p:nvCxnSpPr>
            <p:cNvPr id="25" name="Google Shape;530;p67">
              <a:extLst>
                <a:ext uri="{FF2B5EF4-FFF2-40B4-BE49-F238E27FC236}">
                  <a16:creationId xmlns:a16="http://schemas.microsoft.com/office/drawing/2014/main" id="{A23E099C-7893-013E-1D00-4F8DCC1590C5}"/>
                </a:ext>
              </a:extLst>
            </p:cNvPr>
            <p:cNvCxnSpPr>
              <a:stCxn id="23" idx="3"/>
            </p:cNvCxnSpPr>
            <p:nvPr/>
          </p:nvCxnSpPr>
          <p:spPr>
            <a:xfrm flipV="1">
              <a:off x="6553670" y="6321665"/>
              <a:ext cx="344914" cy="274200"/>
            </a:xfrm>
            <a:prstGeom prst="straightConnector1">
              <a:avLst/>
            </a:prstGeom>
            <a:noFill/>
            <a:ln w="9525" cap="flat" cmpd="sng">
              <a:solidFill>
                <a:srgbClr val="595959"/>
              </a:solidFill>
              <a:prstDash val="solid"/>
              <a:round/>
              <a:headEnd type="none" w="med" len="med"/>
              <a:tailEnd type="triangle" w="med" len="med"/>
            </a:ln>
          </p:spPr>
        </p:cxnSp>
      </p:grpSp>
    </p:spTree>
    <p:extLst>
      <p:ext uri="{BB962C8B-B14F-4D97-AF65-F5344CB8AC3E}">
        <p14:creationId xmlns:p14="http://schemas.microsoft.com/office/powerpoint/2010/main" val="4026017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35859-FD3B-8F39-83C7-08BAE21717F7}"/>
              </a:ext>
            </a:extLst>
          </p:cNvPr>
          <p:cNvSpPr>
            <a:spLocks noGrp="1"/>
          </p:cNvSpPr>
          <p:nvPr>
            <p:ph type="title"/>
          </p:nvPr>
        </p:nvSpPr>
        <p:spPr>
          <a:xfrm>
            <a:off x="838200" y="215657"/>
            <a:ext cx="10515600" cy="988890"/>
          </a:xfrm>
        </p:spPr>
        <p:txBody>
          <a:bodyPr/>
          <a:lstStyle/>
          <a:p>
            <a:r>
              <a:rPr lang="en-US" dirty="0"/>
              <a:t>MACs: Definition</a:t>
            </a:r>
          </a:p>
        </p:txBody>
      </p:sp>
      <p:sp>
        <p:nvSpPr>
          <p:cNvPr id="4" name="Google Shape;145;p24">
            <a:extLst>
              <a:ext uri="{FF2B5EF4-FFF2-40B4-BE49-F238E27FC236}">
                <a16:creationId xmlns:a16="http://schemas.microsoft.com/office/drawing/2014/main" id="{DFD60440-4BC6-81BA-B4B6-AF8C1DBB82BE}"/>
              </a:ext>
            </a:extLst>
          </p:cNvPr>
          <p:cNvSpPr txBox="1">
            <a:spLocks/>
          </p:cNvSpPr>
          <p:nvPr/>
        </p:nvSpPr>
        <p:spPr>
          <a:xfrm>
            <a:off x="498231" y="1512278"/>
            <a:ext cx="11195538" cy="4589583"/>
          </a:xfrm>
          <a:prstGeom prst="rect">
            <a:avLst/>
          </a:prstGeom>
        </p:spPr>
        <p:txBody>
          <a:bodyPr spcFirstLastPara="1" vert="horz" wrap="square" lIns="91425" tIns="91425" rIns="91425" bIns="91425"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42900">
              <a:spcBef>
                <a:spcPts val="0"/>
              </a:spcBef>
              <a:spcAft>
                <a:spcPts val="600"/>
              </a:spcAft>
              <a:buSzPts val="1800"/>
              <a:buFont typeface="Arial" panose="020B0604020202020204" pitchFamily="34" charset="0"/>
              <a:buChar char="●"/>
            </a:pPr>
            <a:r>
              <a:rPr lang="en-US" dirty="0"/>
              <a:t>Two parts:</a:t>
            </a:r>
          </a:p>
          <a:p>
            <a:pPr marL="914400" lvl="1" indent="-342900">
              <a:spcBef>
                <a:spcPts val="0"/>
              </a:spcBef>
              <a:spcAft>
                <a:spcPts val="600"/>
              </a:spcAft>
              <a:buSzPts val="1800"/>
              <a:buFont typeface="Arial" panose="020B0604020202020204" pitchFamily="34" charset="0"/>
              <a:buChar char="●"/>
            </a:pPr>
            <a:r>
              <a:rPr lang="en-US" b="1" i="1" dirty="0">
                <a:solidFill>
                  <a:srgbClr val="C00000"/>
                </a:solidFill>
              </a:rPr>
              <a:t>KeyGen() → K</a:t>
            </a:r>
            <a:r>
              <a:rPr lang="en-US" dirty="0"/>
              <a:t>: Generate a key </a:t>
            </a:r>
            <a:r>
              <a:rPr lang="en-US" i="1" dirty="0"/>
              <a:t>K</a:t>
            </a:r>
            <a:endParaRPr lang="en-US" dirty="0"/>
          </a:p>
          <a:p>
            <a:pPr marL="914400" lvl="1" indent="-342900">
              <a:spcBef>
                <a:spcPts val="0"/>
              </a:spcBef>
              <a:spcAft>
                <a:spcPts val="600"/>
              </a:spcAft>
              <a:buSzPts val="1800"/>
              <a:buFont typeface="Arial" panose="020B0604020202020204" pitchFamily="34" charset="0"/>
              <a:buChar char="●"/>
            </a:pPr>
            <a:r>
              <a:rPr lang="en-US" b="1" i="1" dirty="0">
                <a:solidFill>
                  <a:srgbClr val="C00000"/>
                </a:solidFill>
              </a:rPr>
              <a:t>MAC(K, M) → T</a:t>
            </a:r>
            <a:r>
              <a:rPr lang="en-US" dirty="0"/>
              <a:t>: Generate a tag </a:t>
            </a:r>
            <a:r>
              <a:rPr lang="en-US" i="1" dirty="0"/>
              <a:t>T</a:t>
            </a:r>
            <a:r>
              <a:rPr lang="en-US" dirty="0"/>
              <a:t> for the message </a:t>
            </a:r>
            <a:r>
              <a:rPr lang="en-US" i="1" dirty="0"/>
              <a:t>M</a:t>
            </a:r>
            <a:r>
              <a:rPr lang="en-US" dirty="0"/>
              <a:t> using key </a:t>
            </a:r>
            <a:r>
              <a:rPr lang="en-US" i="1" dirty="0"/>
              <a:t>K</a:t>
            </a:r>
            <a:endParaRPr lang="en-US" dirty="0"/>
          </a:p>
          <a:p>
            <a:pPr marL="1371600" lvl="2" indent="-342900">
              <a:spcBef>
                <a:spcPts val="0"/>
              </a:spcBef>
              <a:spcAft>
                <a:spcPts val="600"/>
              </a:spcAft>
              <a:buSzPts val="1800"/>
              <a:buFont typeface="Arial" panose="020B0604020202020204" pitchFamily="34" charset="0"/>
              <a:buChar char="●"/>
            </a:pPr>
            <a:r>
              <a:rPr lang="en-US" dirty="0"/>
              <a:t>Inputs: A secret key and an </a:t>
            </a:r>
            <a:r>
              <a:rPr lang="en-US" b="1" i="1" dirty="0">
                <a:solidFill>
                  <a:srgbClr val="C00000"/>
                </a:solidFill>
              </a:rPr>
              <a:t>arbitrary-length message</a:t>
            </a:r>
          </a:p>
          <a:p>
            <a:pPr marL="1371600" lvl="2" indent="-342900">
              <a:spcBef>
                <a:spcPts val="0"/>
              </a:spcBef>
              <a:spcAft>
                <a:spcPts val="600"/>
              </a:spcAft>
              <a:buSzPts val="1800"/>
              <a:buFont typeface="Arial" panose="020B0604020202020204" pitchFamily="34" charset="0"/>
              <a:buChar char="●"/>
            </a:pPr>
            <a:r>
              <a:rPr lang="en-US" dirty="0"/>
              <a:t>Output: A </a:t>
            </a:r>
            <a:r>
              <a:rPr lang="en-US" b="1" i="1" dirty="0">
                <a:solidFill>
                  <a:srgbClr val="C00000"/>
                </a:solidFill>
              </a:rPr>
              <a:t>fixed-length tag </a:t>
            </a:r>
            <a:r>
              <a:rPr lang="en-US" dirty="0"/>
              <a:t>on the message</a:t>
            </a:r>
          </a:p>
          <a:p>
            <a:pPr marL="457200" indent="-342900">
              <a:spcBef>
                <a:spcPts val="0"/>
              </a:spcBef>
              <a:spcAft>
                <a:spcPts val="600"/>
              </a:spcAft>
              <a:buSzPts val="1800"/>
              <a:buFont typeface="Arial" panose="020B0604020202020204" pitchFamily="34" charset="0"/>
              <a:buChar char="●"/>
            </a:pPr>
            <a:r>
              <a:rPr lang="en-US" dirty="0"/>
              <a:t>Properties</a:t>
            </a:r>
          </a:p>
          <a:p>
            <a:pPr marL="914400" lvl="1" indent="-342900">
              <a:spcBef>
                <a:spcPts val="0"/>
              </a:spcBef>
              <a:spcAft>
                <a:spcPts val="600"/>
              </a:spcAft>
              <a:buSzPts val="1800"/>
              <a:buFont typeface="Arial" panose="020B0604020202020204" pitchFamily="34" charset="0"/>
              <a:buChar char="●"/>
            </a:pPr>
            <a:r>
              <a:rPr lang="en-US" b="1" dirty="0"/>
              <a:t>Correctness</a:t>
            </a:r>
            <a:r>
              <a:rPr lang="en-US" dirty="0"/>
              <a:t>: Determinism</a:t>
            </a:r>
          </a:p>
          <a:p>
            <a:pPr marL="1371600" lvl="2" indent="-342900">
              <a:spcBef>
                <a:spcPts val="0"/>
              </a:spcBef>
              <a:spcAft>
                <a:spcPts val="600"/>
              </a:spcAft>
              <a:buSzPts val="1800"/>
              <a:buFont typeface="Arial" panose="020B0604020202020204" pitchFamily="34" charset="0"/>
              <a:buChar char="●"/>
            </a:pPr>
            <a:r>
              <a:rPr lang="en-US" dirty="0"/>
              <a:t>Note: Some more complicated MAC schemes have an additional Verify(</a:t>
            </a:r>
            <a:r>
              <a:rPr lang="en-US" i="1" dirty="0"/>
              <a:t>K</a:t>
            </a:r>
            <a:r>
              <a:rPr lang="en-US" dirty="0"/>
              <a:t>, </a:t>
            </a:r>
            <a:r>
              <a:rPr lang="en-US" i="1" dirty="0"/>
              <a:t>M</a:t>
            </a:r>
            <a:r>
              <a:rPr lang="en-US" dirty="0"/>
              <a:t>, </a:t>
            </a:r>
            <a:r>
              <a:rPr lang="en-US" i="1" dirty="0"/>
              <a:t>T</a:t>
            </a:r>
            <a:r>
              <a:rPr lang="en-US" dirty="0"/>
              <a:t>) function that don’t require determinism, but this is out of scope</a:t>
            </a:r>
          </a:p>
          <a:p>
            <a:pPr marL="914400" lvl="1" indent="-342900">
              <a:spcBef>
                <a:spcPts val="0"/>
              </a:spcBef>
              <a:spcAft>
                <a:spcPts val="600"/>
              </a:spcAft>
              <a:buSzPts val="1800"/>
              <a:buFont typeface="Arial" panose="020B0604020202020204" pitchFamily="34" charset="0"/>
              <a:buChar char="●"/>
            </a:pPr>
            <a:r>
              <a:rPr lang="en-US" b="1" dirty="0"/>
              <a:t>Efficiency</a:t>
            </a:r>
            <a:r>
              <a:rPr lang="en-US" dirty="0"/>
              <a:t>: Computing a MAC should be efficient</a:t>
            </a:r>
          </a:p>
          <a:p>
            <a:pPr marL="914400" lvl="1" indent="-342900">
              <a:spcBef>
                <a:spcPts val="0"/>
              </a:spcBef>
              <a:spcAft>
                <a:spcPts val="600"/>
              </a:spcAft>
              <a:buSzPts val="1800"/>
              <a:buFont typeface="Arial" panose="020B0604020202020204" pitchFamily="34" charset="0"/>
              <a:buChar char="●"/>
            </a:pPr>
            <a:r>
              <a:rPr lang="en-US" b="1" dirty="0"/>
              <a:t>Security</a:t>
            </a:r>
            <a:r>
              <a:rPr lang="en-US" dirty="0"/>
              <a:t>: </a:t>
            </a:r>
            <a:r>
              <a:rPr lang="en-US" strike="sngStrike" dirty="0"/>
              <a:t>EU-CPA (existentially unforgeable under chosen plaintext attack)</a:t>
            </a:r>
          </a:p>
        </p:txBody>
      </p:sp>
    </p:spTree>
    <p:extLst>
      <p:ext uri="{BB962C8B-B14F-4D97-AF65-F5344CB8AC3E}">
        <p14:creationId xmlns:p14="http://schemas.microsoft.com/office/powerpoint/2010/main" val="354158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6D5F3-4228-9E97-801E-896A1215C247}"/>
              </a:ext>
            </a:extLst>
          </p:cNvPr>
          <p:cNvSpPr>
            <a:spLocks noGrp="1"/>
          </p:cNvSpPr>
          <p:nvPr>
            <p:ph type="title"/>
          </p:nvPr>
        </p:nvSpPr>
        <p:spPr>
          <a:xfrm>
            <a:off x="838200" y="118941"/>
            <a:ext cx="10515600" cy="1024060"/>
          </a:xfrm>
        </p:spPr>
        <p:txBody>
          <a:bodyPr/>
          <a:lstStyle/>
          <a:p>
            <a:r>
              <a:rPr lang="en" dirty="0"/>
              <a:t>Defining Integrity: EU-CPA</a:t>
            </a:r>
            <a:endParaRPr lang="en-US" dirty="0"/>
          </a:p>
        </p:txBody>
      </p:sp>
      <p:sp>
        <p:nvSpPr>
          <p:cNvPr id="4" name="Google Shape;152;p25">
            <a:extLst>
              <a:ext uri="{FF2B5EF4-FFF2-40B4-BE49-F238E27FC236}">
                <a16:creationId xmlns:a16="http://schemas.microsoft.com/office/drawing/2014/main" id="{231A79E4-EE5D-9C96-A027-3DF9F70F4B50}"/>
              </a:ext>
            </a:extLst>
          </p:cNvPr>
          <p:cNvSpPr txBox="1">
            <a:spLocks/>
          </p:cNvSpPr>
          <p:nvPr/>
        </p:nvSpPr>
        <p:spPr>
          <a:xfrm>
            <a:off x="838200" y="1497747"/>
            <a:ext cx="10515600" cy="5241311"/>
          </a:xfrm>
          <a:prstGeom prst="rect">
            <a:avLst/>
          </a:prstGeom>
        </p:spPr>
        <p:txBody>
          <a:bodyPr spcFirstLastPara="1" vert="horz" wrap="square" lIns="91425" tIns="91425" rIns="91425" bIns="91425"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42900">
              <a:spcBef>
                <a:spcPts val="0"/>
              </a:spcBef>
              <a:spcAft>
                <a:spcPts val="600"/>
              </a:spcAft>
              <a:buSzPts val="1800"/>
              <a:buFont typeface="Arial" panose="020B0604020202020204" pitchFamily="34" charset="0"/>
              <a:buChar char="●"/>
            </a:pPr>
            <a:r>
              <a:rPr lang="en-US" dirty="0"/>
              <a:t>A secure MAC is </a:t>
            </a:r>
            <a:r>
              <a:rPr lang="en-US" b="1" dirty="0"/>
              <a:t>existentially unforgeable</a:t>
            </a:r>
            <a:r>
              <a:rPr lang="en-US" dirty="0"/>
              <a:t>: without the key, an attacker cannot create a valid tag on a message</a:t>
            </a:r>
          </a:p>
          <a:p>
            <a:pPr marL="914400" lvl="1" indent="-342900">
              <a:spcBef>
                <a:spcPts val="0"/>
              </a:spcBef>
              <a:spcAft>
                <a:spcPts val="600"/>
              </a:spcAft>
              <a:buSzPts val="1800"/>
              <a:buFont typeface="Arial" panose="020B0604020202020204" pitchFamily="34" charset="0"/>
              <a:buChar char="●"/>
            </a:pPr>
            <a:r>
              <a:rPr lang="en-US" dirty="0"/>
              <a:t>Mallory cannot generate MAC(</a:t>
            </a:r>
            <a:r>
              <a:rPr lang="en-US" i="1" dirty="0"/>
              <a:t>K</a:t>
            </a:r>
            <a:r>
              <a:rPr lang="en-US" dirty="0"/>
              <a:t>, </a:t>
            </a:r>
            <a:r>
              <a:rPr lang="en-US" i="1" dirty="0"/>
              <a:t>M'</a:t>
            </a:r>
            <a:r>
              <a:rPr lang="en-US" dirty="0"/>
              <a:t>) without </a:t>
            </a:r>
            <a:r>
              <a:rPr lang="en-US" i="1" dirty="0"/>
              <a:t>K</a:t>
            </a:r>
          </a:p>
          <a:p>
            <a:pPr marL="914400" lvl="1" indent="-342900">
              <a:spcBef>
                <a:spcPts val="0"/>
              </a:spcBef>
              <a:spcAft>
                <a:spcPts val="600"/>
              </a:spcAft>
              <a:buSzPts val="1800"/>
              <a:buFont typeface="Arial" panose="020B0604020202020204" pitchFamily="34" charset="0"/>
              <a:buChar char="●"/>
            </a:pPr>
            <a:r>
              <a:rPr lang="en-US" dirty="0"/>
              <a:t>Mallory cannot find any </a:t>
            </a:r>
            <a:r>
              <a:rPr lang="en-US" i="1" dirty="0"/>
              <a:t>M'</a:t>
            </a:r>
            <a:r>
              <a:rPr lang="en-US" dirty="0"/>
              <a:t> ≠ </a:t>
            </a:r>
            <a:r>
              <a:rPr lang="en-US" i="1" dirty="0"/>
              <a:t>M</a:t>
            </a:r>
            <a:r>
              <a:rPr lang="en-US" dirty="0"/>
              <a:t> such that MAC(</a:t>
            </a:r>
            <a:r>
              <a:rPr lang="en-US" i="1" dirty="0"/>
              <a:t>K</a:t>
            </a:r>
            <a:r>
              <a:rPr lang="en-US" dirty="0"/>
              <a:t>, </a:t>
            </a:r>
            <a:r>
              <a:rPr lang="en-US" i="1" dirty="0"/>
              <a:t>M'</a:t>
            </a:r>
            <a:r>
              <a:rPr lang="en-US" dirty="0"/>
              <a:t>) = MAC(</a:t>
            </a:r>
            <a:r>
              <a:rPr lang="en-US" i="1" dirty="0"/>
              <a:t>K</a:t>
            </a:r>
            <a:r>
              <a:rPr lang="en-US" dirty="0"/>
              <a:t>, </a:t>
            </a:r>
            <a:r>
              <a:rPr lang="en-US" i="1" dirty="0"/>
              <a:t>M</a:t>
            </a:r>
            <a:r>
              <a:rPr lang="en-US" dirty="0"/>
              <a:t>)</a:t>
            </a:r>
          </a:p>
          <a:p>
            <a:pPr marL="457200" indent="-342900">
              <a:spcBef>
                <a:spcPts val="0"/>
              </a:spcBef>
              <a:spcAft>
                <a:spcPts val="600"/>
              </a:spcAft>
              <a:buSzPts val="1800"/>
              <a:buFont typeface="Arial" panose="020B0604020202020204" pitchFamily="34" charset="0"/>
              <a:buChar char="●"/>
            </a:pPr>
            <a:r>
              <a:rPr lang="en-US" dirty="0"/>
              <a:t>Formally defined by a security game: existential unforgeability under chosen-plaintext attack, or EU-CPA</a:t>
            </a:r>
          </a:p>
          <a:p>
            <a:pPr marL="457200" indent="-342900">
              <a:spcBef>
                <a:spcPts val="0"/>
              </a:spcBef>
              <a:spcAft>
                <a:spcPts val="600"/>
              </a:spcAft>
              <a:buSzPts val="1800"/>
              <a:buFont typeface="Arial" panose="020B0604020202020204" pitchFamily="34" charset="0"/>
              <a:buChar char="●"/>
            </a:pPr>
            <a:r>
              <a:rPr lang="en-US" dirty="0"/>
              <a:t>MACs should be unforgeable under chosen plaintext attack</a:t>
            </a:r>
          </a:p>
          <a:p>
            <a:pPr marL="914400" lvl="1" indent="-342900">
              <a:spcBef>
                <a:spcPts val="0"/>
              </a:spcBef>
              <a:spcAft>
                <a:spcPts val="600"/>
              </a:spcAft>
              <a:buSzPts val="1800"/>
              <a:buFont typeface="Arial" panose="020B0604020202020204" pitchFamily="34" charset="0"/>
              <a:buChar char="●"/>
            </a:pPr>
            <a:r>
              <a:rPr lang="en-US" dirty="0"/>
              <a:t>Intuition: Like IND-CPA, but for integrity and authenticity</a:t>
            </a:r>
          </a:p>
          <a:p>
            <a:pPr marL="914400" lvl="1" indent="-342900">
              <a:spcBef>
                <a:spcPts val="0"/>
              </a:spcBef>
              <a:spcAft>
                <a:spcPts val="600"/>
              </a:spcAft>
              <a:buSzPts val="1800"/>
              <a:buFont typeface="Arial" panose="020B0604020202020204" pitchFamily="34" charset="0"/>
              <a:buChar char="●"/>
            </a:pPr>
            <a:r>
              <a:rPr lang="en-US" dirty="0"/>
              <a:t>Even if Mallory can trick Alice into creating MACs for messages that Mallory chooses, Mallory cannot create a valid MAC on a message that she hasn't seen before</a:t>
            </a:r>
          </a:p>
        </p:txBody>
      </p:sp>
    </p:spTree>
    <p:extLst>
      <p:ext uri="{BB962C8B-B14F-4D97-AF65-F5344CB8AC3E}">
        <p14:creationId xmlns:p14="http://schemas.microsoft.com/office/powerpoint/2010/main" val="2875588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27084-FAE0-02FC-0511-2EB9AFF4AB44}"/>
              </a:ext>
            </a:extLst>
          </p:cNvPr>
          <p:cNvSpPr>
            <a:spLocks noGrp="1"/>
          </p:cNvSpPr>
          <p:nvPr>
            <p:ph type="title"/>
          </p:nvPr>
        </p:nvSpPr>
        <p:spPr>
          <a:xfrm>
            <a:off x="838200" y="203735"/>
            <a:ext cx="10515600" cy="971538"/>
          </a:xfrm>
        </p:spPr>
        <p:txBody>
          <a:bodyPr/>
          <a:lstStyle/>
          <a:p>
            <a:r>
              <a:rPr lang="en" dirty="0"/>
              <a:t>Defining Integrity: EU-CPA</a:t>
            </a:r>
            <a:endParaRPr lang="en-US" dirty="0"/>
          </a:p>
        </p:txBody>
      </p:sp>
      <p:sp>
        <p:nvSpPr>
          <p:cNvPr id="4" name="Google Shape;160;p26">
            <a:extLst>
              <a:ext uri="{FF2B5EF4-FFF2-40B4-BE49-F238E27FC236}">
                <a16:creationId xmlns:a16="http://schemas.microsoft.com/office/drawing/2014/main" id="{D6C0FAB3-5960-D7B4-8C56-88F1BED55815}"/>
              </a:ext>
            </a:extLst>
          </p:cNvPr>
          <p:cNvSpPr txBox="1">
            <a:spLocks/>
          </p:cNvSpPr>
          <p:nvPr/>
        </p:nvSpPr>
        <p:spPr>
          <a:xfrm>
            <a:off x="838200" y="1409700"/>
            <a:ext cx="5142600" cy="4943845"/>
          </a:xfrm>
          <a:prstGeom prst="rect">
            <a:avLst/>
          </a:prstGeom>
        </p:spPr>
        <p:txBody>
          <a:bodyPr spcFirstLastPara="1" vert="horz" wrap="square" lIns="91425" tIns="91425" rIns="91425" bIns="91425" rtlCol="0" anchor="t" anchorCtr="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42900">
              <a:spcBef>
                <a:spcPts val="0"/>
              </a:spcBef>
              <a:spcAft>
                <a:spcPts val="600"/>
              </a:spcAft>
              <a:buSzPts val="1800"/>
              <a:buFont typeface="Arial" panose="020B0604020202020204" pitchFamily="34" charset="0"/>
              <a:buAutoNum type="arabicPeriod"/>
            </a:pPr>
            <a:r>
              <a:rPr lang="en-US" dirty="0"/>
              <a:t>Mallory may send messages to Alice and receive their tags</a:t>
            </a:r>
          </a:p>
          <a:p>
            <a:pPr marL="457200" indent="-342900">
              <a:spcBef>
                <a:spcPts val="0"/>
              </a:spcBef>
              <a:spcAft>
                <a:spcPts val="600"/>
              </a:spcAft>
              <a:buSzPts val="1800"/>
              <a:buFont typeface="Arial" panose="020B0604020202020204" pitchFamily="34" charset="0"/>
              <a:buAutoNum type="arabicPeriod"/>
            </a:pPr>
            <a:r>
              <a:rPr lang="en-US" dirty="0"/>
              <a:t>Eventually, Mallory creates a message-tag pair (</a:t>
            </a:r>
            <a:r>
              <a:rPr lang="en-US" i="1" dirty="0"/>
              <a:t>M'</a:t>
            </a:r>
            <a:r>
              <a:rPr lang="en-US" dirty="0"/>
              <a:t>, </a:t>
            </a:r>
            <a:r>
              <a:rPr lang="en-US" i="1" dirty="0"/>
              <a:t>T'</a:t>
            </a:r>
            <a:r>
              <a:rPr lang="en-US" dirty="0"/>
              <a:t>)</a:t>
            </a:r>
          </a:p>
          <a:p>
            <a:pPr marL="939800" lvl="1" indent="-342900">
              <a:spcBef>
                <a:spcPts val="0"/>
              </a:spcBef>
              <a:spcAft>
                <a:spcPts val="600"/>
              </a:spcAft>
              <a:buSzPts val="1400"/>
            </a:pPr>
            <a:r>
              <a:rPr lang="en-US" i="1" dirty="0"/>
              <a:t>M'</a:t>
            </a:r>
            <a:r>
              <a:rPr lang="en-US" dirty="0"/>
              <a:t> cannot be a message that Mallory requested earlier</a:t>
            </a:r>
          </a:p>
          <a:p>
            <a:pPr marL="939800" lvl="1" indent="-342900">
              <a:spcBef>
                <a:spcPts val="0"/>
              </a:spcBef>
              <a:spcAft>
                <a:spcPts val="600"/>
              </a:spcAft>
              <a:buSzPts val="1400"/>
            </a:pPr>
            <a:r>
              <a:rPr lang="en-US" dirty="0"/>
              <a:t>If </a:t>
            </a:r>
            <a:r>
              <a:rPr lang="en-US" i="1" dirty="0"/>
              <a:t>T'</a:t>
            </a:r>
            <a:r>
              <a:rPr lang="en-US" dirty="0"/>
              <a:t> is a valid tag for </a:t>
            </a:r>
            <a:r>
              <a:rPr lang="en-US" i="1" dirty="0"/>
              <a:t>M'</a:t>
            </a:r>
            <a:r>
              <a:rPr lang="en-US" dirty="0"/>
              <a:t>, then Mallory wins. Otherwise, she loses.</a:t>
            </a:r>
          </a:p>
          <a:p>
            <a:pPr marL="457200" indent="-342900">
              <a:spcBef>
                <a:spcPts val="0"/>
              </a:spcBef>
              <a:spcAft>
                <a:spcPts val="600"/>
              </a:spcAft>
              <a:buSzPts val="1800"/>
              <a:buFont typeface="Arial" panose="020B0604020202020204" pitchFamily="34" charset="0"/>
              <a:buAutoNum type="arabicPeriod"/>
            </a:pPr>
            <a:r>
              <a:rPr lang="en-US" dirty="0"/>
              <a:t>A scheme is EU-CPA secure if for </a:t>
            </a:r>
            <a:r>
              <a:rPr lang="en-US" i="1" dirty="0"/>
              <a:t>all</a:t>
            </a:r>
            <a:r>
              <a:rPr lang="en-US" dirty="0"/>
              <a:t> polynomial time adversaries, the probability of winning is 0 or negligible</a:t>
            </a:r>
          </a:p>
        </p:txBody>
      </p:sp>
      <p:sp>
        <p:nvSpPr>
          <p:cNvPr id="6" name="Google Shape;161;p26">
            <a:extLst>
              <a:ext uri="{FF2B5EF4-FFF2-40B4-BE49-F238E27FC236}">
                <a16:creationId xmlns:a16="http://schemas.microsoft.com/office/drawing/2014/main" id="{DFFCCEA5-2A33-ECE6-67BD-C992C48ED734}"/>
              </a:ext>
            </a:extLst>
          </p:cNvPr>
          <p:cNvSpPr/>
          <p:nvPr/>
        </p:nvSpPr>
        <p:spPr>
          <a:xfrm>
            <a:off x="7438302" y="3298657"/>
            <a:ext cx="3211500" cy="855900"/>
          </a:xfrm>
          <a:prstGeom prst="rect">
            <a:avLst/>
          </a:pr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 name="Google Shape;162;p26">
            <a:extLst>
              <a:ext uri="{FF2B5EF4-FFF2-40B4-BE49-F238E27FC236}">
                <a16:creationId xmlns:a16="http://schemas.microsoft.com/office/drawing/2014/main" id="{37983F68-94F9-B323-DC36-120EA2805D5B}"/>
              </a:ext>
            </a:extLst>
          </p:cNvPr>
          <p:cNvCxnSpPr/>
          <p:nvPr/>
        </p:nvCxnSpPr>
        <p:spPr>
          <a:xfrm>
            <a:off x="7491122" y="3580029"/>
            <a:ext cx="2322300" cy="0"/>
          </a:xfrm>
          <a:prstGeom prst="straightConnector1">
            <a:avLst/>
          </a:prstGeom>
          <a:noFill/>
          <a:ln w="28575" cap="flat" cmpd="sng">
            <a:solidFill>
              <a:srgbClr val="000000"/>
            </a:solidFill>
            <a:prstDash val="solid"/>
            <a:round/>
            <a:headEnd type="none" w="med" len="med"/>
            <a:tailEnd type="triangle" w="med" len="med"/>
          </a:ln>
        </p:spPr>
      </p:cxnSp>
      <p:sp>
        <p:nvSpPr>
          <p:cNvPr id="8" name="Google Shape;163;p26">
            <a:extLst>
              <a:ext uri="{FF2B5EF4-FFF2-40B4-BE49-F238E27FC236}">
                <a16:creationId xmlns:a16="http://schemas.microsoft.com/office/drawing/2014/main" id="{DC0023B1-6CD0-AFF3-E6BC-E2F56E6B6286}"/>
              </a:ext>
            </a:extLst>
          </p:cNvPr>
          <p:cNvSpPr txBox="1"/>
          <p:nvPr/>
        </p:nvSpPr>
        <p:spPr>
          <a:xfrm>
            <a:off x="7491114" y="3188820"/>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i="1" dirty="0">
                <a:solidFill>
                  <a:srgbClr val="000000"/>
                </a:solidFill>
              </a:rPr>
              <a:t>M</a:t>
            </a:r>
            <a:endParaRPr sz="1000" i="1" dirty="0"/>
          </a:p>
        </p:txBody>
      </p:sp>
      <p:cxnSp>
        <p:nvCxnSpPr>
          <p:cNvPr id="9" name="Google Shape;164;p26">
            <a:extLst>
              <a:ext uri="{FF2B5EF4-FFF2-40B4-BE49-F238E27FC236}">
                <a16:creationId xmlns:a16="http://schemas.microsoft.com/office/drawing/2014/main" id="{61EA1ABF-918B-ABCA-3347-3279DDF81709}"/>
              </a:ext>
            </a:extLst>
          </p:cNvPr>
          <p:cNvCxnSpPr/>
          <p:nvPr/>
        </p:nvCxnSpPr>
        <p:spPr>
          <a:xfrm>
            <a:off x="7491114" y="4035437"/>
            <a:ext cx="2322300" cy="0"/>
          </a:xfrm>
          <a:prstGeom prst="straightConnector1">
            <a:avLst/>
          </a:prstGeom>
          <a:noFill/>
          <a:ln w="28575" cap="flat" cmpd="sng">
            <a:solidFill>
              <a:srgbClr val="000000"/>
            </a:solidFill>
            <a:prstDash val="solid"/>
            <a:round/>
            <a:headEnd type="triangle" w="med" len="med"/>
            <a:tailEnd type="none" w="med" len="med"/>
          </a:ln>
        </p:spPr>
      </p:cxnSp>
      <p:sp>
        <p:nvSpPr>
          <p:cNvPr id="10" name="Google Shape;165;p26">
            <a:extLst>
              <a:ext uri="{FF2B5EF4-FFF2-40B4-BE49-F238E27FC236}">
                <a16:creationId xmlns:a16="http://schemas.microsoft.com/office/drawing/2014/main" id="{C949071E-F01A-4DB6-83C3-BC10451F9E6A}"/>
              </a:ext>
            </a:extLst>
          </p:cNvPr>
          <p:cNvSpPr txBox="1"/>
          <p:nvPr/>
        </p:nvSpPr>
        <p:spPr>
          <a:xfrm>
            <a:off x="7491119" y="3683902"/>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a:t>MAC</a:t>
            </a:r>
            <a:r>
              <a:rPr lang="en">
                <a:solidFill>
                  <a:srgbClr val="000000"/>
                </a:solidFill>
              </a:rPr>
              <a:t>(</a:t>
            </a:r>
            <a:r>
              <a:rPr lang="en" i="1">
                <a:solidFill>
                  <a:srgbClr val="000000"/>
                </a:solidFill>
              </a:rPr>
              <a:t>K</a:t>
            </a:r>
            <a:r>
              <a:rPr lang="en">
                <a:solidFill>
                  <a:srgbClr val="000000"/>
                </a:solidFill>
              </a:rPr>
              <a:t>, </a:t>
            </a:r>
            <a:r>
              <a:rPr lang="en" i="1">
                <a:solidFill>
                  <a:srgbClr val="000000"/>
                </a:solidFill>
              </a:rPr>
              <a:t>M</a:t>
            </a:r>
            <a:r>
              <a:rPr lang="en">
                <a:solidFill>
                  <a:srgbClr val="000000"/>
                </a:solidFill>
              </a:rPr>
              <a:t>)</a:t>
            </a:r>
            <a:endParaRPr sz="1000"/>
          </a:p>
        </p:txBody>
      </p:sp>
      <p:sp>
        <p:nvSpPr>
          <p:cNvPr id="11" name="Google Shape;166;p26">
            <a:extLst>
              <a:ext uri="{FF2B5EF4-FFF2-40B4-BE49-F238E27FC236}">
                <a16:creationId xmlns:a16="http://schemas.microsoft.com/office/drawing/2014/main" id="{C3A1263F-F215-4ABE-C947-E7D81E0315E4}"/>
              </a:ext>
            </a:extLst>
          </p:cNvPr>
          <p:cNvSpPr txBox="1"/>
          <p:nvPr/>
        </p:nvSpPr>
        <p:spPr>
          <a:xfrm>
            <a:off x="9869040" y="3550830"/>
            <a:ext cx="7908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solidFill>
                  <a:srgbClr val="000000"/>
                </a:solidFill>
              </a:rPr>
              <a:t>(repeat)</a:t>
            </a:r>
            <a:endParaRPr sz="1200"/>
          </a:p>
        </p:txBody>
      </p:sp>
      <p:sp>
        <p:nvSpPr>
          <p:cNvPr id="12" name="Google Shape;167;p26">
            <a:extLst>
              <a:ext uri="{FF2B5EF4-FFF2-40B4-BE49-F238E27FC236}">
                <a16:creationId xmlns:a16="http://schemas.microsoft.com/office/drawing/2014/main" id="{48B79AB7-6370-A75D-626B-86B55D76AD5E}"/>
              </a:ext>
            </a:extLst>
          </p:cNvPr>
          <p:cNvSpPr txBox="1"/>
          <p:nvPr/>
        </p:nvSpPr>
        <p:spPr>
          <a:xfrm>
            <a:off x="8740679" y="1783080"/>
            <a:ext cx="1368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Alice (challenger)</a:t>
            </a:r>
            <a:endParaRPr sz="1200"/>
          </a:p>
        </p:txBody>
      </p:sp>
      <p:sp>
        <p:nvSpPr>
          <p:cNvPr id="13" name="Google Shape;168;p26">
            <a:extLst>
              <a:ext uri="{FF2B5EF4-FFF2-40B4-BE49-F238E27FC236}">
                <a16:creationId xmlns:a16="http://schemas.microsoft.com/office/drawing/2014/main" id="{D87EE976-13CC-7FB7-9446-324476EF5CE2}"/>
              </a:ext>
            </a:extLst>
          </p:cNvPr>
          <p:cNvSpPr txBox="1"/>
          <p:nvPr/>
        </p:nvSpPr>
        <p:spPr>
          <a:xfrm>
            <a:off x="7238950" y="1783080"/>
            <a:ext cx="1501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Mallory (adversary)</a:t>
            </a:r>
            <a:endParaRPr sz="1200"/>
          </a:p>
        </p:txBody>
      </p:sp>
      <p:cxnSp>
        <p:nvCxnSpPr>
          <p:cNvPr id="14" name="Google Shape;169;p26">
            <a:extLst>
              <a:ext uri="{FF2B5EF4-FFF2-40B4-BE49-F238E27FC236}">
                <a16:creationId xmlns:a16="http://schemas.microsoft.com/office/drawing/2014/main" id="{5D7D997F-6AAC-C21B-F9F2-62A39EEE8A65}"/>
              </a:ext>
            </a:extLst>
          </p:cNvPr>
          <p:cNvCxnSpPr/>
          <p:nvPr/>
        </p:nvCxnSpPr>
        <p:spPr>
          <a:xfrm>
            <a:off x="7523081" y="5385673"/>
            <a:ext cx="0" cy="412200"/>
          </a:xfrm>
          <a:prstGeom prst="straightConnector1">
            <a:avLst/>
          </a:prstGeom>
          <a:noFill/>
          <a:ln w="28575" cap="flat" cmpd="sng">
            <a:solidFill>
              <a:srgbClr val="000000"/>
            </a:solidFill>
            <a:prstDash val="solid"/>
            <a:round/>
            <a:headEnd type="none" w="med" len="med"/>
            <a:tailEnd type="triangle" w="med" len="med"/>
          </a:ln>
        </p:spPr>
      </p:cxnSp>
      <p:sp>
        <p:nvSpPr>
          <p:cNvPr id="15" name="Google Shape;170;p26">
            <a:extLst>
              <a:ext uri="{FF2B5EF4-FFF2-40B4-BE49-F238E27FC236}">
                <a16:creationId xmlns:a16="http://schemas.microsoft.com/office/drawing/2014/main" id="{B8E04004-D9B7-3D66-8173-0F4F76AA9575}"/>
              </a:ext>
            </a:extLst>
          </p:cNvPr>
          <p:cNvSpPr txBox="1"/>
          <p:nvPr/>
        </p:nvSpPr>
        <p:spPr>
          <a:xfrm>
            <a:off x="7523077" y="5348580"/>
            <a:ext cx="18816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a:t>Output (</a:t>
            </a:r>
            <a:r>
              <a:rPr lang="en" i="1"/>
              <a:t>M'</a:t>
            </a:r>
            <a:r>
              <a:rPr lang="en"/>
              <a:t>, </a:t>
            </a:r>
            <a:r>
              <a:rPr lang="en" i="1"/>
              <a:t>T'</a:t>
            </a:r>
            <a:r>
              <a:rPr lang="en"/>
              <a:t>)</a:t>
            </a:r>
            <a:endParaRPr sz="1000"/>
          </a:p>
        </p:txBody>
      </p:sp>
      <p:cxnSp>
        <p:nvCxnSpPr>
          <p:cNvPr id="16" name="Google Shape;171;p26">
            <a:extLst>
              <a:ext uri="{FF2B5EF4-FFF2-40B4-BE49-F238E27FC236}">
                <a16:creationId xmlns:a16="http://schemas.microsoft.com/office/drawing/2014/main" id="{8B000E98-1F76-7BD2-ECED-9A6285AE2A00}"/>
              </a:ext>
            </a:extLst>
          </p:cNvPr>
          <p:cNvCxnSpPr/>
          <p:nvPr/>
        </p:nvCxnSpPr>
        <p:spPr>
          <a:xfrm>
            <a:off x="7395575" y="2152380"/>
            <a:ext cx="0" cy="3452400"/>
          </a:xfrm>
          <a:prstGeom prst="straightConnector1">
            <a:avLst/>
          </a:prstGeom>
          <a:noFill/>
          <a:ln w="28575" cap="flat" cmpd="sng">
            <a:solidFill>
              <a:srgbClr val="000000"/>
            </a:solidFill>
            <a:prstDash val="solid"/>
            <a:round/>
            <a:headEnd type="none" w="med" len="med"/>
            <a:tailEnd type="none" w="med" len="med"/>
          </a:ln>
        </p:spPr>
      </p:cxnSp>
      <p:cxnSp>
        <p:nvCxnSpPr>
          <p:cNvPr id="17" name="Google Shape;172;p26">
            <a:extLst>
              <a:ext uri="{FF2B5EF4-FFF2-40B4-BE49-F238E27FC236}">
                <a16:creationId xmlns:a16="http://schemas.microsoft.com/office/drawing/2014/main" id="{B51D0848-2DBA-DB28-F7BC-A3741A7F2B24}"/>
              </a:ext>
            </a:extLst>
          </p:cNvPr>
          <p:cNvCxnSpPr/>
          <p:nvPr/>
        </p:nvCxnSpPr>
        <p:spPr>
          <a:xfrm>
            <a:off x="9886325" y="2152380"/>
            <a:ext cx="0" cy="3452400"/>
          </a:xfrm>
          <a:prstGeom prst="straightConnector1">
            <a:avLst/>
          </a:prstGeom>
          <a:noFill/>
          <a:ln w="28575" cap="flat" cmpd="sng">
            <a:solidFill>
              <a:srgbClr val="000000"/>
            </a:solidFill>
            <a:prstDash val="solid"/>
            <a:round/>
            <a:headEnd type="none" w="med" len="med"/>
            <a:tailEnd type="none" w="med" len="med"/>
          </a:ln>
        </p:spPr>
      </p:cxnSp>
      <p:sp>
        <p:nvSpPr>
          <p:cNvPr id="18" name="Google Shape;173;p26">
            <a:extLst>
              <a:ext uri="{FF2B5EF4-FFF2-40B4-BE49-F238E27FC236}">
                <a16:creationId xmlns:a16="http://schemas.microsoft.com/office/drawing/2014/main" id="{CA712DA9-4AC3-A308-8791-E7E1898BD0D2}"/>
              </a:ext>
            </a:extLst>
          </p:cNvPr>
          <p:cNvSpPr txBox="1"/>
          <p:nvPr/>
        </p:nvSpPr>
        <p:spPr>
          <a:xfrm>
            <a:off x="9869050" y="2501955"/>
            <a:ext cx="1088509" cy="55089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dirty="0"/>
              <a:t>Keygen(): </a:t>
            </a:r>
            <a:r>
              <a:rPr lang="en" sz="1200" i="1" dirty="0"/>
              <a:t>K</a:t>
            </a:r>
            <a:endParaRPr sz="1200" i="1" dirty="0"/>
          </a:p>
        </p:txBody>
      </p:sp>
    </p:spTree>
    <p:extLst>
      <p:ext uri="{BB962C8B-B14F-4D97-AF65-F5344CB8AC3E}">
        <p14:creationId xmlns:p14="http://schemas.microsoft.com/office/powerpoint/2010/main" val="4053390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8F6AA-8A05-3579-B807-96838D465036}"/>
              </a:ext>
            </a:extLst>
          </p:cNvPr>
          <p:cNvSpPr>
            <a:spLocks noGrp="1"/>
          </p:cNvSpPr>
          <p:nvPr>
            <p:ph type="title"/>
          </p:nvPr>
        </p:nvSpPr>
        <p:spPr>
          <a:xfrm>
            <a:off x="838200" y="66187"/>
            <a:ext cx="10515600" cy="848213"/>
          </a:xfrm>
        </p:spPr>
        <p:txBody>
          <a:bodyPr/>
          <a:lstStyle/>
          <a:p>
            <a:r>
              <a:rPr lang="en-US" dirty="0"/>
              <a:t>MAC Instantiation: NMAC (Nested MAC)</a:t>
            </a:r>
          </a:p>
        </p:txBody>
      </p:sp>
      <p:sp>
        <p:nvSpPr>
          <p:cNvPr id="4" name="Google Shape;179;p27">
            <a:extLst>
              <a:ext uri="{FF2B5EF4-FFF2-40B4-BE49-F238E27FC236}">
                <a16:creationId xmlns:a16="http://schemas.microsoft.com/office/drawing/2014/main" id="{8AE25A82-A196-CA9D-560D-7B2A846C5CB6}"/>
              </a:ext>
            </a:extLst>
          </p:cNvPr>
          <p:cNvSpPr txBox="1">
            <a:spLocks/>
          </p:cNvSpPr>
          <p:nvPr/>
        </p:nvSpPr>
        <p:spPr>
          <a:xfrm>
            <a:off x="662940" y="1046285"/>
            <a:ext cx="10866120" cy="5811715"/>
          </a:xfrm>
          <a:prstGeom prst="rect">
            <a:avLst/>
          </a:prstGeom>
        </p:spPr>
        <p:txBody>
          <a:bodyPr spcFirstLastPara="1" vert="horz" wrap="square" lIns="91425" tIns="91425" rIns="91425" bIns="91425" rtlCol="0" anchor="t" anchorCtr="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spcBef>
                <a:spcPts val="0"/>
              </a:spcBef>
              <a:spcAft>
                <a:spcPts val="600"/>
              </a:spcAft>
              <a:buSzPts val="1800"/>
              <a:buNone/>
            </a:pPr>
            <a:r>
              <a:rPr lang="en-US" b="1" dirty="0"/>
              <a:t>Can we use secure cryptographic hashes to build a secure MAC?</a:t>
            </a:r>
          </a:p>
          <a:p>
            <a:pPr marL="457200" indent="-342900">
              <a:spcBef>
                <a:spcPts val="0"/>
              </a:spcBef>
              <a:spcAft>
                <a:spcPts val="600"/>
              </a:spcAft>
              <a:buSzPts val="1800"/>
              <a:buFont typeface="Arial" panose="020B0604020202020204" pitchFamily="34" charset="0"/>
              <a:buChar char="●"/>
            </a:pPr>
            <a:r>
              <a:rPr lang="en-US" dirty="0"/>
              <a:t>Intuition: Hash output is unpredictable and looks random, so let’s hash the key and the message together</a:t>
            </a:r>
          </a:p>
          <a:p>
            <a:pPr marL="114300" indent="0">
              <a:spcBef>
                <a:spcPts val="0"/>
              </a:spcBef>
              <a:spcAft>
                <a:spcPts val="600"/>
              </a:spcAft>
              <a:buSzPts val="1800"/>
              <a:buNone/>
            </a:pPr>
            <a:endParaRPr lang="en-US" dirty="0"/>
          </a:p>
          <a:p>
            <a:pPr marL="457200" indent="-342900">
              <a:spcBef>
                <a:spcPts val="0"/>
              </a:spcBef>
              <a:spcAft>
                <a:spcPts val="1200"/>
              </a:spcAft>
              <a:buSzPts val="1800"/>
              <a:buFont typeface="Arial" panose="020B0604020202020204" pitchFamily="34" charset="0"/>
              <a:buChar char="●"/>
            </a:pPr>
            <a:r>
              <a:rPr lang="en-US" sz="3000" b="1" i="1" dirty="0"/>
              <a:t>KeyGen():</a:t>
            </a:r>
          </a:p>
          <a:p>
            <a:pPr marL="914400" lvl="1" indent="-342900">
              <a:spcBef>
                <a:spcPts val="0"/>
              </a:spcBef>
              <a:spcAft>
                <a:spcPts val="1200"/>
              </a:spcAft>
              <a:buSzPts val="1800"/>
              <a:buFont typeface="Arial" panose="020B0604020202020204" pitchFamily="34" charset="0"/>
              <a:buChar char="●"/>
            </a:pPr>
            <a:r>
              <a:rPr lang="en-US" sz="3000" dirty="0"/>
              <a:t>Output </a:t>
            </a:r>
            <a:r>
              <a:rPr lang="en-US" sz="3000" b="1" i="1" dirty="0">
                <a:solidFill>
                  <a:srgbClr val="C00000"/>
                </a:solidFill>
              </a:rPr>
              <a:t>two</a:t>
            </a:r>
            <a:r>
              <a:rPr lang="en-US" sz="3000" dirty="0"/>
              <a:t> random, </a:t>
            </a:r>
            <a:r>
              <a:rPr lang="en-US" sz="3000" i="1" dirty="0"/>
              <a:t>n</a:t>
            </a:r>
            <a:r>
              <a:rPr lang="en-US" sz="3000" dirty="0"/>
              <a:t>-bit keys </a:t>
            </a:r>
            <a:r>
              <a:rPr lang="en-US" sz="3000" i="1" dirty="0"/>
              <a:t>K</a:t>
            </a:r>
            <a:r>
              <a:rPr lang="en-US" sz="3000" baseline="-25000" dirty="0"/>
              <a:t>1</a:t>
            </a:r>
            <a:r>
              <a:rPr lang="en-US" sz="3000" dirty="0"/>
              <a:t> and </a:t>
            </a:r>
            <a:r>
              <a:rPr lang="en-US" sz="3000" i="1" dirty="0"/>
              <a:t>K</a:t>
            </a:r>
            <a:r>
              <a:rPr lang="en-US" sz="3000" baseline="-25000" dirty="0"/>
              <a:t>2</a:t>
            </a:r>
            <a:r>
              <a:rPr lang="en-US" sz="3000" dirty="0"/>
              <a:t>, where </a:t>
            </a:r>
            <a:r>
              <a:rPr lang="en-US" sz="3000" i="1" dirty="0"/>
              <a:t>n</a:t>
            </a:r>
            <a:r>
              <a:rPr lang="en-US" sz="3000" dirty="0"/>
              <a:t> is the length of the hash output</a:t>
            </a:r>
          </a:p>
          <a:p>
            <a:pPr marL="457200" indent="-342900">
              <a:spcBef>
                <a:spcPts val="0"/>
              </a:spcBef>
              <a:spcAft>
                <a:spcPts val="1200"/>
              </a:spcAft>
              <a:buSzPts val="1800"/>
              <a:buFont typeface="Arial" panose="020B0604020202020204" pitchFamily="34" charset="0"/>
              <a:buChar char="●"/>
            </a:pPr>
            <a:r>
              <a:rPr lang="en-US" sz="3000" b="1" i="1" dirty="0"/>
              <a:t>NMAC(K</a:t>
            </a:r>
            <a:r>
              <a:rPr lang="en-US" sz="3000" b="1" i="1" baseline="-25000" dirty="0"/>
              <a:t>1</a:t>
            </a:r>
            <a:r>
              <a:rPr lang="en-US" sz="3000" b="1" i="1" dirty="0"/>
              <a:t>, K</a:t>
            </a:r>
            <a:r>
              <a:rPr lang="en-US" sz="3000" b="1" i="1" baseline="-25000" dirty="0"/>
              <a:t>2</a:t>
            </a:r>
            <a:r>
              <a:rPr lang="en-US" sz="3000" b="1" i="1" dirty="0"/>
              <a:t>, M):</a:t>
            </a:r>
          </a:p>
          <a:p>
            <a:pPr marL="914400" lvl="1" indent="-342900">
              <a:spcBef>
                <a:spcPts val="0"/>
              </a:spcBef>
              <a:spcAft>
                <a:spcPts val="1200"/>
              </a:spcAft>
              <a:buSzPts val="1800"/>
              <a:buFont typeface="Arial" panose="020B0604020202020204" pitchFamily="34" charset="0"/>
              <a:buChar char="●"/>
            </a:pPr>
            <a:r>
              <a:rPr lang="en-US" sz="3000" dirty="0"/>
              <a:t>Output </a:t>
            </a:r>
            <a:r>
              <a:rPr lang="en-US" sz="3000" i="1" dirty="0"/>
              <a:t>H</a:t>
            </a:r>
            <a:r>
              <a:rPr lang="en-US" sz="3000" dirty="0"/>
              <a:t>(</a:t>
            </a:r>
            <a:r>
              <a:rPr lang="en-US" sz="3000" i="1" dirty="0"/>
              <a:t>K</a:t>
            </a:r>
            <a:r>
              <a:rPr lang="en-US" sz="3000" baseline="-25000" dirty="0"/>
              <a:t>1</a:t>
            </a:r>
            <a:r>
              <a:rPr lang="en-US" sz="3000" dirty="0"/>
              <a:t> || </a:t>
            </a:r>
            <a:r>
              <a:rPr lang="en-US" sz="3000" i="1" dirty="0"/>
              <a:t>H</a:t>
            </a:r>
            <a:r>
              <a:rPr lang="en-US" sz="3000" dirty="0"/>
              <a:t>(</a:t>
            </a:r>
            <a:r>
              <a:rPr lang="en-US" sz="3000" i="1" dirty="0"/>
              <a:t>K</a:t>
            </a:r>
            <a:r>
              <a:rPr lang="en-US" sz="3000" baseline="-25000" dirty="0"/>
              <a:t>2</a:t>
            </a:r>
            <a:r>
              <a:rPr lang="en-US" sz="3000" dirty="0"/>
              <a:t> || </a:t>
            </a:r>
            <a:r>
              <a:rPr lang="en-US" sz="3000" i="1" dirty="0"/>
              <a:t>M</a:t>
            </a:r>
            <a:r>
              <a:rPr lang="en-US" sz="3000" dirty="0"/>
              <a:t>))</a:t>
            </a:r>
          </a:p>
          <a:p>
            <a:pPr marL="596900" lvl="1" indent="0">
              <a:spcBef>
                <a:spcPts val="0"/>
              </a:spcBef>
              <a:spcAft>
                <a:spcPts val="600"/>
              </a:spcAft>
              <a:buSzPts val="1400"/>
              <a:buNone/>
            </a:pPr>
            <a:endParaRPr lang="en-US" dirty="0"/>
          </a:p>
          <a:p>
            <a:pPr marL="596900" lvl="1" indent="0">
              <a:spcBef>
                <a:spcPts val="0"/>
              </a:spcBef>
              <a:spcAft>
                <a:spcPts val="600"/>
              </a:spcAft>
              <a:buSzPts val="1400"/>
              <a:buNone/>
            </a:pPr>
            <a:endParaRPr lang="en-US" dirty="0"/>
          </a:p>
          <a:p>
            <a:pPr marL="457200" indent="-342900">
              <a:spcBef>
                <a:spcPts val="0"/>
              </a:spcBef>
              <a:spcAft>
                <a:spcPts val="600"/>
              </a:spcAft>
              <a:buSzPts val="1800"/>
              <a:buFont typeface="Arial" panose="020B0604020202020204" pitchFamily="34" charset="0"/>
              <a:buChar char="●"/>
            </a:pPr>
            <a:r>
              <a:rPr lang="en-US" dirty="0">
                <a:solidFill>
                  <a:schemeClr val="bg1">
                    <a:lumMod val="50000"/>
                  </a:schemeClr>
                </a:solidFill>
              </a:rPr>
              <a:t>NMAC is EU-CPA secure if the two keys are different </a:t>
            </a:r>
          </a:p>
          <a:p>
            <a:pPr marL="914400" lvl="1" indent="-342900">
              <a:spcBef>
                <a:spcPts val="0"/>
              </a:spcBef>
              <a:spcAft>
                <a:spcPts val="600"/>
              </a:spcAft>
              <a:buSzPts val="1800"/>
              <a:buFont typeface="Arial" panose="020B0604020202020204" pitchFamily="34" charset="0"/>
              <a:buChar char="●"/>
            </a:pPr>
            <a:r>
              <a:rPr lang="en-US" dirty="0">
                <a:solidFill>
                  <a:schemeClr val="bg1">
                    <a:lumMod val="50000"/>
                  </a:schemeClr>
                </a:solidFill>
              </a:rPr>
              <a:t>Provably secure if the underlying hash function is secure</a:t>
            </a:r>
          </a:p>
          <a:p>
            <a:pPr marL="457200" indent="-342900">
              <a:spcBef>
                <a:spcPts val="0"/>
              </a:spcBef>
              <a:spcAft>
                <a:spcPts val="600"/>
              </a:spcAft>
              <a:buSzPts val="1800"/>
              <a:buFont typeface="Arial" panose="020B0604020202020204" pitchFamily="34" charset="0"/>
              <a:buChar char="●"/>
            </a:pPr>
            <a:r>
              <a:rPr lang="en-US" dirty="0">
                <a:solidFill>
                  <a:schemeClr val="bg1">
                    <a:lumMod val="50000"/>
                  </a:schemeClr>
                </a:solidFill>
              </a:rPr>
              <a:t>Intuition: Using two hashes prevents a length extension attack</a:t>
            </a:r>
          </a:p>
          <a:p>
            <a:pPr marL="914400" lvl="1" indent="-342900">
              <a:spcBef>
                <a:spcPts val="0"/>
              </a:spcBef>
              <a:spcAft>
                <a:spcPts val="600"/>
              </a:spcAft>
              <a:buSzPts val="1800"/>
              <a:buFont typeface="Arial" panose="020B0604020202020204" pitchFamily="34" charset="0"/>
              <a:buChar char="●"/>
            </a:pPr>
            <a:r>
              <a:rPr lang="en-US" dirty="0">
                <a:solidFill>
                  <a:schemeClr val="bg1">
                    <a:lumMod val="50000"/>
                  </a:schemeClr>
                </a:solidFill>
              </a:rPr>
              <a:t>Otherwise, an attacker who sees a tag for </a:t>
            </a:r>
            <a:r>
              <a:rPr lang="en-US" i="1" dirty="0">
                <a:solidFill>
                  <a:schemeClr val="bg1">
                    <a:lumMod val="50000"/>
                  </a:schemeClr>
                </a:solidFill>
              </a:rPr>
              <a:t>M</a:t>
            </a:r>
            <a:r>
              <a:rPr lang="en-US" dirty="0">
                <a:solidFill>
                  <a:schemeClr val="bg1">
                    <a:lumMod val="50000"/>
                  </a:schemeClr>
                </a:solidFill>
              </a:rPr>
              <a:t> could generate a tag for </a:t>
            </a:r>
            <a:r>
              <a:rPr lang="en-US" i="1" dirty="0">
                <a:solidFill>
                  <a:schemeClr val="bg1">
                    <a:lumMod val="50000"/>
                  </a:schemeClr>
                </a:solidFill>
              </a:rPr>
              <a:t>M</a:t>
            </a:r>
            <a:r>
              <a:rPr lang="en-US" dirty="0">
                <a:solidFill>
                  <a:schemeClr val="bg1">
                    <a:lumMod val="50000"/>
                  </a:schemeClr>
                </a:solidFill>
              </a:rPr>
              <a:t> || </a:t>
            </a:r>
            <a:r>
              <a:rPr lang="en-US" i="1" dirty="0">
                <a:solidFill>
                  <a:schemeClr val="bg1">
                    <a:lumMod val="50000"/>
                  </a:schemeClr>
                </a:solidFill>
              </a:rPr>
              <a:t>M'</a:t>
            </a:r>
          </a:p>
        </p:txBody>
      </p:sp>
    </p:spTree>
    <p:extLst>
      <p:ext uri="{BB962C8B-B14F-4D97-AF65-F5344CB8AC3E}">
        <p14:creationId xmlns:p14="http://schemas.microsoft.com/office/powerpoint/2010/main" val="6752978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973DD-0F4A-FE6D-D59A-793274E25296}"/>
              </a:ext>
            </a:extLst>
          </p:cNvPr>
          <p:cNvSpPr>
            <a:spLocks noGrp="1"/>
          </p:cNvSpPr>
          <p:nvPr>
            <p:ph type="title"/>
          </p:nvPr>
        </p:nvSpPr>
        <p:spPr>
          <a:xfrm>
            <a:off x="838200" y="171694"/>
            <a:ext cx="10515600" cy="936137"/>
          </a:xfrm>
        </p:spPr>
        <p:txBody>
          <a:bodyPr/>
          <a:lstStyle/>
          <a:p>
            <a:r>
              <a:rPr lang="en-US" dirty="0"/>
              <a:t>MAC Instantiation: HMAC (Hash-based MAC)</a:t>
            </a:r>
          </a:p>
        </p:txBody>
      </p:sp>
      <p:sp>
        <p:nvSpPr>
          <p:cNvPr id="4" name="Google Shape;186;p28">
            <a:extLst>
              <a:ext uri="{FF2B5EF4-FFF2-40B4-BE49-F238E27FC236}">
                <a16:creationId xmlns:a16="http://schemas.microsoft.com/office/drawing/2014/main" id="{A95A7384-5327-D4F9-C574-F2915CAD8CF5}"/>
              </a:ext>
            </a:extLst>
          </p:cNvPr>
          <p:cNvSpPr txBox="1">
            <a:spLocks/>
          </p:cNvSpPr>
          <p:nvPr/>
        </p:nvSpPr>
        <p:spPr>
          <a:xfrm>
            <a:off x="838200" y="1425601"/>
            <a:ext cx="10515600" cy="5111235"/>
          </a:xfrm>
          <a:prstGeom prst="rect">
            <a:avLst/>
          </a:prstGeom>
        </p:spPr>
        <p:txBody>
          <a:bodyPr spcFirstLastPara="1" vert="horz" wrap="square" lIns="91425" tIns="91425" rIns="91425" bIns="91425" rtlCol="0" anchor="t" anchorCtr="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42900">
              <a:spcBef>
                <a:spcPts val="0"/>
              </a:spcBef>
              <a:spcAft>
                <a:spcPts val="600"/>
              </a:spcAft>
              <a:buSzPts val="1800"/>
              <a:buFont typeface="Arial" panose="020B0604020202020204" pitchFamily="34" charset="0"/>
              <a:buChar char="●"/>
            </a:pPr>
            <a:r>
              <a:rPr lang="en-US" dirty="0"/>
              <a:t>Issues with NMAC:</a:t>
            </a:r>
          </a:p>
          <a:p>
            <a:pPr marL="914400" lvl="1" indent="-342900">
              <a:spcBef>
                <a:spcPts val="0"/>
              </a:spcBef>
              <a:spcAft>
                <a:spcPts val="600"/>
              </a:spcAft>
              <a:buSzPts val="1800"/>
              <a:buFont typeface="Arial" panose="020B0604020202020204" pitchFamily="34" charset="0"/>
              <a:buChar char="●"/>
            </a:pPr>
            <a:r>
              <a:rPr lang="en-US" dirty="0"/>
              <a:t>Recall: NMAC(</a:t>
            </a:r>
            <a:r>
              <a:rPr lang="en-US" i="1" dirty="0"/>
              <a:t>K</a:t>
            </a:r>
            <a:r>
              <a:rPr lang="en-US" sz="1600" dirty="0"/>
              <a:t>1</a:t>
            </a:r>
            <a:r>
              <a:rPr lang="en-US" dirty="0"/>
              <a:t>, </a:t>
            </a:r>
            <a:r>
              <a:rPr lang="en-US" i="1" dirty="0"/>
              <a:t>K</a:t>
            </a:r>
            <a:r>
              <a:rPr lang="en-US" sz="1600" dirty="0"/>
              <a:t>2</a:t>
            </a:r>
            <a:r>
              <a:rPr lang="en-US" dirty="0"/>
              <a:t>, </a:t>
            </a:r>
            <a:r>
              <a:rPr lang="en-US" i="1" dirty="0"/>
              <a:t>M</a:t>
            </a:r>
            <a:r>
              <a:rPr lang="en-US" dirty="0"/>
              <a:t>) = </a:t>
            </a:r>
            <a:r>
              <a:rPr lang="en-US" i="1" dirty="0"/>
              <a:t>H</a:t>
            </a:r>
            <a:r>
              <a:rPr lang="en-US" dirty="0"/>
              <a:t>(</a:t>
            </a:r>
            <a:r>
              <a:rPr lang="en-US" i="1" dirty="0">
                <a:solidFill>
                  <a:srgbClr val="0000FF"/>
                </a:solidFill>
              </a:rPr>
              <a:t>K</a:t>
            </a:r>
            <a:r>
              <a:rPr lang="en-US" sz="1600" dirty="0">
                <a:solidFill>
                  <a:srgbClr val="0000FF"/>
                </a:solidFill>
              </a:rPr>
              <a:t>1</a:t>
            </a:r>
            <a:r>
              <a:rPr lang="en-US" dirty="0"/>
              <a:t> || </a:t>
            </a:r>
            <a:r>
              <a:rPr lang="en-US" i="1" dirty="0"/>
              <a:t>H</a:t>
            </a:r>
            <a:r>
              <a:rPr lang="en-US" dirty="0"/>
              <a:t> (</a:t>
            </a:r>
            <a:r>
              <a:rPr lang="en-US" i="1" dirty="0">
                <a:solidFill>
                  <a:srgbClr val="FF0000"/>
                </a:solidFill>
              </a:rPr>
              <a:t>K</a:t>
            </a:r>
            <a:r>
              <a:rPr lang="en-US" sz="1600" dirty="0">
                <a:solidFill>
                  <a:srgbClr val="FF0000"/>
                </a:solidFill>
              </a:rPr>
              <a:t>2</a:t>
            </a:r>
            <a:r>
              <a:rPr lang="en-US" dirty="0"/>
              <a:t> || </a:t>
            </a:r>
            <a:r>
              <a:rPr lang="en-US" i="1" dirty="0"/>
              <a:t>M</a:t>
            </a:r>
            <a:r>
              <a:rPr lang="en-US" dirty="0"/>
              <a:t>))</a:t>
            </a:r>
          </a:p>
          <a:p>
            <a:pPr marL="914400" lvl="1" indent="-342900">
              <a:spcBef>
                <a:spcPts val="0"/>
              </a:spcBef>
              <a:spcAft>
                <a:spcPts val="600"/>
              </a:spcAft>
              <a:buSzPts val="1800"/>
              <a:buFont typeface="Arial" panose="020B0604020202020204" pitchFamily="34" charset="0"/>
              <a:buChar char="●"/>
            </a:pPr>
            <a:r>
              <a:rPr lang="en-US" dirty="0"/>
              <a:t>We need </a:t>
            </a:r>
            <a:r>
              <a:rPr lang="en-US" i="1" dirty="0">
                <a:solidFill>
                  <a:srgbClr val="C00000"/>
                </a:solidFill>
              </a:rPr>
              <a:t>two</a:t>
            </a:r>
            <a:r>
              <a:rPr lang="en-US" i="1" dirty="0"/>
              <a:t> different keys</a:t>
            </a:r>
            <a:r>
              <a:rPr lang="en-US" dirty="0"/>
              <a:t>, and the </a:t>
            </a:r>
            <a:r>
              <a:rPr lang="en-US" i="1" dirty="0">
                <a:solidFill>
                  <a:srgbClr val="C00000"/>
                </a:solidFill>
              </a:rPr>
              <a:t>length</a:t>
            </a:r>
            <a:r>
              <a:rPr lang="en-US" dirty="0"/>
              <a:t> </a:t>
            </a:r>
            <a:r>
              <a:rPr lang="en-US" i="1" dirty="0"/>
              <a:t>of the keys </a:t>
            </a:r>
            <a:r>
              <a:rPr lang="en-US" dirty="0"/>
              <a:t>must be the same as the length of the hash output (n bits).</a:t>
            </a:r>
          </a:p>
          <a:p>
            <a:pPr marL="457200" indent="-342900">
              <a:spcBef>
                <a:spcPts val="0"/>
              </a:spcBef>
              <a:spcAft>
                <a:spcPts val="600"/>
              </a:spcAft>
              <a:buSzPts val="1800"/>
              <a:buFont typeface="Arial" panose="020B0604020202020204" pitchFamily="34" charset="0"/>
              <a:buChar char="●"/>
            </a:pPr>
            <a:endParaRPr lang="en-US" dirty="0"/>
          </a:p>
          <a:p>
            <a:pPr marL="457200" indent="-342900">
              <a:spcBef>
                <a:spcPts val="0"/>
              </a:spcBef>
              <a:spcAft>
                <a:spcPts val="600"/>
              </a:spcAft>
              <a:buSzPts val="1800"/>
              <a:buFont typeface="Arial" panose="020B0604020202020204" pitchFamily="34" charset="0"/>
              <a:buChar char="●"/>
            </a:pPr>
            <a:r>
              <a:rPr lang="en-US" dirty="0"/>
              <a:t>HMAC(</a:t>
            </a:r>
            <a:r>
              <a:rPr lang="en-US" i="1" dirty="0"/>
              <a:t>K</a:t>
            </a:r>
            <a:r>
              <a:rPr lang="en-US" dirty="0"/>
              <a:t>, </a:t>
            </a:r>
            <a:r>
              <a:rPr lang="en-US" i="1" dirty="0"/>
              <a:t>M</a:t>
            </a:r>
            <a:r>
              <a:rPr lang="en-US" dirty="0"/>
              <a:t>):</a:t>
            </a:r>
          </a:p>
          <a:p>
            <a:pPr marL="914400" lvl="1" indent="-342900">
              <a:spcBef>
                <a:spcPts val="0"/>
              </a:spcBef>
              <a:spcAft>
                <a:spcPts val="600"/>
              </a:spcAft>
              <a:buSzPts val="1800"/>
              <a:buFont typeface="Arial" panose="020B0604020202020204" pitchFamily="34" charset="0"/>
              <a:buChar char="●"/>
            </a:pPr>
            <a:r>
              <a:rPr lang="en-US" dirty="0"/>
              <a:t>Compute </a:t>
            </a:r>
            <a:r>
              <a:rPr lang="en-US" i="1" dirty="0">
                <a:solidFill>
                  <a:srgbClr val="C00000"/>
                </a:solidFill>
              </a:rPr>
              <a:t>K</a:t>
            </a:r>
            <a:r>
              <a:rPr lang="en-US" dirty="0">
                <a:solidFill>
                  <a:srgbClr val="C00000"/>
                </a:solidFill>
              </a:rPr>
              <a:t>' </a:t>
            </a:r>
            <a:r>
              <a:rPr lang="en-US" dirty="0"/>
              <a:t>as a version of </a:t>
            </a:r>
            <a:r>
              <a:rPr lang="en-US" i="1" dirty="0"/>
              <a:t>K</a:t>
            </a:r>
            <a:r>
              <a:rPr lang="en-US" dirty="0"/>
              <a:t> that is the length of the hash output</a:t>
            </a:r>
            <a:endParaRPr lang="en-US" sz="1400" dirty="0"/>
          </a:p>
          <a:p>
            <a:pPr marL="1371600" lvl="2" indent="-342900">
              <a:spcBef>
                <a:spcPts val="0"/>
              </a:spcBef>
              <a:spcAft>
                <a:spcPts val="600"/>
              </a:spcAft>
              <a:buSzPts val="1800"/>
              <a:buFont typeface="Arial" panose="020B0604020202020204" pitchFamily="34" charset="0"/>
              <a:buChar char="●"/>
            </a:pPr>
            <a:r>
              <a:rPr lang="en-US" sz="2200" dirty="0"/>
              <a:t>If </a:t>
            </a:r>
            <a:r>
              <a:rPr lang="en-US" sz="2200" i="1" dirty="0"/>
              <a:t>K</a:t>
            </a:r>
            <a:r>
              <a:rPr lang="en-US" sz="2200" dirty="0"/>
              <a:t> is too short, pad </a:t>
            </a:r>
            <a:r>
              <a:rPr lang="en-US" sz="2200" i="1" dirty="0"/>
              <a:t>K</a:t>
            </a:r>
            <a:r>
              <a:rPr lang="en-US" sz="2200" dirty="0"/>
              <a:t> with 0’s to make it </a:t>
            </a:r>
            <a:r>
              <a:rPr lang="en-US" sz="2200" i="1" dirty="0"/>
              <a:t>n</a:t>
            </a:r>
            <a:r>
              <a:rPr lang="en-US" sz="2200" dirty="0"/>
              <a:t> bits (be careful with keys that are too short, e.g., &lt; 80 bits, and lack randomness, </a:t>
            </a:r>
            <a:r>
              <a:rPr lang="en-US" sz="2200" dirty="0">
                <a:solidFill>
                  <a:srgbClr val="C00000"/>
                </a:solidFill>
              </a:rPr>
              <a:t>not recommended</a:t>
            </a:r>
            <a:r>
              <a:rPr lang="en-US" sz="2200" dirty="0"/>
              <a:t>)</a:t>
            </a:r>
          </a:p>
          <a:p>
            <a:pPr marL="1371600" lvl="2" indent="-342900">
              <a:spcBef>
                <a:spcPts val="0"/>
              </a:spcBef>
              <a:spcAft>
                <a:spcPts val="600"/>
              </a:spcAft>
              <a:buSzPts val="1800"/>
              <a:buFont typeface="Arial" panose="020B0604020202020204" pitchFamily="34" charset="0"/>
              <a:buChar char="●"/>
            </a:pPr>
            <a:r>
              <a:rPr lang="en-US" sz="2200" dirty="0"/>
              <a:t>If </a:t>
            </a:r>
            <a:r>
              <a:rPr lang="en-US" sz="2200" i="1" dirty="0"/>
              <a:t>K</a:t>
            </a:r>
            <a:r>
              <a:rPr lang="en-US" sz="2200" dirty="0"/>
              <a:t> is too long, hash it so it’s </a:t>
            </a:r>
            <a:r>
              <a:rPr lang="en-US" sz="2200" i="1" dirty="0"/>
              <a:t>n</a:t>
            </a:r>
            <a:r>
              <a:rPr lang="en-US" sz="2200" dirty="0"/>
              <a:t> bits</a:t>
            </a:r>
          </a:p>
          <a:p>
            <a:pPr marL="1371600" lvl="2" indent="-342900">
              <a:spcBef>
                <a:spcPts val="0"/>
              </a:spcBef>
              <a:spcAft>
                <a:spcPts val="600"/>
              </a:spcAft>
              <a:buSzPts val="1800"/>
              <a:buFont typeface="Arial" panose="020B0604020202020204" pitchFamily="34" charset="0"/>
              <a:buChar char="●"/>
            </a:pPr>
            <a:r>
              <a:rPr lang="en-US" sz="2200" dirty="0"/>
              <a:t>Recommended key length: For example, HMAC-SHA256, a key length of </a:t>
            </a:r>
            <a:r>
              <a:rPr lang="en-US" sz="2200" dirty="0">
                <a:hlinkClick r:id="rId2"/>
              </a:rPr>
              <a:t>64 bytes</a:t>
            </a:r>
            <a:r>
              <a:rPr lang="en-US" sz="2200" dirty="0"/>
              <a:t> (512 bits) is recommended to achieve the full 256-bit security level</a:t>
            </a:r>
          </a:p>
          <a:p>
            <a:pPr marL="914400" lvl="1" indent="-342900">
              <a:spcBef>
                <a:spcPts val="0"/>
              </a:spcBef>
              <a:spcAft>
                <a:spcPts val="600"/>
              </a:spcAft>
              <a:buSzPts val="1800"/>
              <a:buFont typeface="Arial" panose="020B0604020202020204" pitchFamily="34" charset="0"/>
              <a:buChar char="●"/>
            </a:pPr>
            <a:r>
              <a:rPr lang="en-US" dirty="0"/>
              <a:t>Output </a:t>
            </a:r>
            <a:r>
              <a:rPr lang="en-US" i="1" dirty="0"/>
              <a:t>H</a:t>
            </a:r>
            <a:r>
              <a:rPr lang="en-US" dirty="0"/>
              <a:t>(</a:t>
            </a:r>
            <a:r>
              <a:rPr lang="en-US" dirty="0">
                <a:solidFill>
                  <a:srgbClr val="0000FF"/>
                </a:solidFill>
              </a:rPr>
              <a:t>(</a:t>
            </a:r>
            <a:r>
              <a:rPr lang="en-US" i="1" dirty="0">
                <a:solidFill>
                  <a:srgbClr val="0000FF"/>
                </a:solidFill>
              </a:rPr>
              <a:t>K</a:t>
            </a:r>
            <a:r>
              <a:rPr lang="en-US" dirty="0">
                <a:solidFill>
                  <a:srgbClr val="0000FF"/>
                </a:solidFill>
              </a:rPr>
              <a:t>' ⊕ </a:t>
            </a:r>
            <a:r>
              <a:rPr lang="en-US" i="1" dirty="0" err="1">
                <a:solidFill>
                  <a:srgbClr val="0000FF"/>
                </a:solidFill>
              </a:rPr>
              <a:t>opad</a:t>
            </a:r>
            <a:r>
              <a:rPr lang="en-US" dirty="0">
                <a:solidFill>
                  <a:srgbClr val="0000FF"/>
                </a:solidFill>
              </a:rPr>
              <a:t>)</a:t>
            </a:r>
            <a:r>
              <a:rPr lang="en-US" dirty="0"/>
              <a:t> || </a:t>
            </a:r>
            <a:r>
              <a:rPr lang="en-US" i="1" dirty="0"/>
              <a:t>H</a:t>
            </a:r>
            <a:r>
              <a:rPr lang="en-US" dirty="0"/>
              <a:t>(</a:t>
            </a:r>
            <a:r>
              <a:rPr lang="en-US" dirty="0">
                <a:solidFill>
                  <a:srgbClr val="FF0000"/>
                </a:solidFill>
              </a:rPr>
              <a:t>(</a:t>
            </a:r>
            <a:r>
              <a:rPr lang="en-US" i="1" dirty="0">
                <a:solidFill>
                  <a:srgbClr val="FF0000"/>
                </a:solidFill>
              </a:rPr>
              <a:t>K</a:t>
            </a:r>
            <a:r>
              <a:rPr lang="en-US" dirty="0">
                <a:solidFill>
                  <a:srgbClr val="FF0000"/>
                </a:solidFill>
              </a:rPr>
              <a:t>' ⊕ </a:t>
            </a:r>
            <a:r>
              <a:rPr lang="en-US" i="1" dirty="0" err="1">
                <a:solidFill>
                  <a:srgbClr val="FF0000"/>
                </a:solidFill>
              </a:rPr>
              <a:t>ipad</a:t>
            </a:r>
            <a:r>
              <a:rPr lang="en-US" dirty="0">
                <a:solidFill>
                  <a:srgbClr val="FF0000"/>
                </a:solidFill>
              </a:rPr>
              <a:t>)</a:t>
            </a:r>
            <a:r>
              <a:rPr lang="en-US" dirty="0"/>
              <a:t> || </a:t>
            </a:r>
            <a:r>
              <a:rPr lang="en-US" i="1" dirty="0"/>
              <a:t>M</a:t>
            </a:r>
            <a:r>
              <a:rPr lang="en-US" dirty="0"/>
              <a:t>))</a:t>
            </a:r>
          </a:p>
        </p:txBody>
      </p:sp>
    </p:spTree>
    <p:extLst>
      <p:ext uri="{BB962C8B-B14F-4D97-AF65-F5344CB8AC3E}">
        <p14:creationId xmlns:p14="http://schemas.microsoft.com/office/powerpoint/2010/main" val="33822140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93;p29">
            <a:extLst>
              <a:ext uri="{FF2B5EF4-FFF2-40B4-BE49-F238E27FC236}">
                <a16:creationId xmlns:a16="http://schemas.microsoft.com/office/drawing/2014/main" id="{550720E0-105E-3B6E-2D52-9260353CEA13}"/>
              </a:ext>
            </a:extLst>
          </p:cNvPr>
          <p:cNvSpPr txBox="1">
            <a:spLocks/>
          </p:cNvSpPr>
          <p:nvPr/>
        </p:nvSpPr>
        <p:spPr>
          <a:xfrm>
            <a:off x="-45427" y="1466280"/>
            <a:ext cx="12282854" cy="5251003"/>
          </a:xfrm>
          <a:prstGeom prst="rect">
            <a:avLst/>
          </a:prstGeom>
        </p:spPr>
        <p:txBody>
          <a:bodyPr spcFirstLastPara="1" vert="horz" wrap="square" lIns="91425" tIns="91425" rIns="91425" bIns="91425" rtlCol="0" anchor="t" anchorCtr="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42900">
              <a:spcBef>
                <a:spcPts val="0"/>
              </a:spcBef>
              <a:spcAft>
                <a:spcPts val="600"/>
              </a:spcAft>
              <a:buSzPts val="1800"/>
              <a:buFont typeface="Arial" panose="020B0604020202020204" pitchFamily="34" charset="0"/>
              <a:buChar char="●"/>
            </a:pPr>
            <a:r>
              <a:rPr lang="en-US" dirty="0"/>
              <a:t>HMAC(</a:t>
            </a:r>
            <a:r>
              <a:rPr lang="en-US" i="1" dirty="0"/>
              <a:t>K</a:t>
            </a:r>
            <a:r>
              <a:rPr lang="en-US" dirty="0"/>
              <a:t>, </a:t>
            </a:r>
            <a:r>
              <a:rPr lang="en-US" i="1" dirty="0"/>
              <a:t>M</a:t>
            </a:r>
            <a:r>
              <a:rPr lang="en-US" dirty="0"/>
              <a:t>) = </a:t>
            </a:r>
            <a:r>
              <a:rPr lang="en-US" i="1" dirty="0"/>
              <a:t>H</a:t>
            </a:r>
            <a:r>
              <a:rPr lang="en-US" dirty="0"/>
              <a:t>(</a:t>
            </a:r>
            <a:r>
              <a:rPr lang="en-US" dirty="0">
                <a:solidFill>
                  <a:srgbClr val="0000FF"/>
                </a:solidFill>
              </a:rPr>
              <a:t>(</a:t>
            </a:r>
            <a:r>
              <a:rPr lang="en-US" i="1" dirty="0">
                <a:solidFill>
                  <a:srgbClr val="0000FF"/>
                </a:solidFill>
              </a:rPr>
              <a:t>K</a:t>
            </a:r>
            <a:r>
              <a:rPr lang="en-US" dirty="0">
                <a:solidFill>
                  <a:srgbClr val="0000FF"/>
                </a:solidFill>
              </a:rPr>
              <a:t>' ⊕ </a:t>
            </a:r>
            <a:r>
              <a:rPr lang="en-US" i="1" dirty="0" err="1">
                <a:solidFill>
                  <a:srgbClr val="0000FF"/>
                </a:solidFill>
              </a:rPr>
              <a:t>opad</a:t>
            </a:r>
            <a:r>
              <a:rPr lang="en-US" dirty="0">
                <a:solidFill>
                  <a:srgbClr val="0000FF"/>
                </a:solidFill>
              </a:rPr>
              <a:t>)</a:t>
            </a:r>
            <a:r>
              <a:rPr lang="en-US" dirty="0"/>
              <a:t> || </a:t>
            </a:r>
            <a:r>
              <a:rPr lang="en-US" i="1" dirty="0"/>
              <a:t>H</a:t>
            </a:r>
            <a:r>
              <a:rPr lang="en-US" dirty="0"/>
              <a:t>(</a:t>
            </a:r>
            <a:r>
              <a:rPr lang="en-US" dirty="0">
                <a:solidFill>
                  <a:srgbClr val="FF0000"/>
                </a:solidFill>
              </a:rPr>
              <a:t>(</a:t>
            </a:r>
            <a:r>
              <a:rPr lang="en-US" i="1" dirty="0">
                <a:solidFill>
                  <a:srgbClr val="FF0000"/>
                </a:solidFill>
              </a:rPr>
              <a:t>K</a:t>
            </a:r>
            <a:r>
              <a:rPr lang="en-US" dirty="0">
                <a:solidFill>
                  <a:srgbClr val="FF0000"/>
                </a:solidFill>
              </a:rPr>
              <a:t>' ⊕ </a:t>
            </a:r>
            <a:r>
              <a:rPr lang="en-US" i="1" dirty="0" err="1">
                <a:solidFill>
                  <a:srgbClr val="FF0000"/>
                </a:solidFill>
              </a:rPr>
              <a:t>ipad</a:t>
            </a:r>
            <a:r>
              <a:rPr lang="en-US" dirty="0">
                <a:solidFill>
                  <a:srgbClr val="FF0000"/>
                </a:solidFill>
              </a:rPr>
              <a:t>)</a:t>
            </a:r>
            <a:r>
              <a:rPr lang="en-US" dirty="0"/>
              <a:t> || </a:t>
            </a:r>
            <a:r>
              <a:rPr lang="en-US" i="1" dirty="0"/>
              <a:t>M</a:t>
            </a:r>
            <a:r>
              <a:rPr lang="en-US" dirty="0"/>
              <a:t>))</a:t>
            </a:r>
          </a:p>
          <a:p>
            <a:pPr marL="457200" indent="-342900">
              <a:spcBef>
                <a:spcPts val="0"/>
              </a:spcBef>
              <a:spcAft>
                <a:spcPts val="600"/>
              </a:spcAft>
              <a:buSzPts val="1800"/>
              <a:buFont typeface="Arial" panose="020B0604020202020204" pitchFamily="34" charset="0"/>
              <a:buChar char="●"/>
            </a:pPr>
            <a:r>
              <a:rPr lang="en-US" dirty="0"/>
              <a:t>Use </a:t>
            </a:r>
            <a:r>
              <a:rPr lang="en-US" i="1" dirty="0"/>
              <a:t>K</a:t>
            </a:r>
            <a:r>
              <a:rPr lang="en-US" dirty="0"/>
              <a:t>' to derive two different keys</a:t>
            </a:r>
          </a:p>
          <a:p>
            <a:pPr marL="914400" lvl="1" indent="-342900">
              <a:spcBef>
                <a:spcPts val="0"/>
              </a:spcBef>
              <a:spcAft>
                <a:spcPts val="600"/>
              </a:spcAft>
              <a:buSzPts val="1800"/>
              <a:buFont typeface="Arial" panose="020B0604020202020204" pitchFamily="34" charset="0"/>
              <a:buChar char="●"/>
            </a:pPr>
            <a:r>
              <a:rPr lang="en-US" i="1" dirty="0" err="1"/>
              <a:t>opad</a:t>
            </a:r>
            <a:r>
              <a:rPr lang="en-US" dirty="0"/>
              <a:t> (outer pad) is the hard-coded byte </a:t>
            </a:r>
            <a:r>
              <a:rPr lang="en-US" b="1" dirty="0">
                <a:latin typeface="Courier New"/>
                <a:ea typeface="Courier New"/>
                <a:cs typeface="Courier New"/>
                <a:sym typeface="Courier New"/>
              </a:rPr>
              <a:t>0x5c</a:t>
            </a:r>
            <a:r>
              <a:rPr lang="en-US" dirty="0"/>
              <a:t> repeated until it’s the same length as </a:t>
            </a:r>
            <a:r>
              <a:rPr lang="en-US" i="1" dirty="0"/>
              <a:t>K</a:t>
            </a:r>
            <a:r>
              <a:rPr lang="en-US" dirty="0"/>
              <a:t>’</a:t>
            </a:r>
          </a:p>
          <a:p>
            <a:pPr marL="914400" lvl="1" indent="-342900">
              <a:spcBef>
                <a:spcPts val="0"/>
              </a:spcBef>
              <a:spcAft>
                <a:spcPts val="600"/>
              </a:spcAft>
              <a:buSzPts val="1800"/>
              <a:buFont typeface="Arial" panose="020B0604020202020204" pitchFamily="34" charset="0"/>
              <a:buChar char="●"/>
            </a:pPr>
            <a:r>
              <a:rPr lang="en-US" i="1" dirty="0" err="1"/>
              <a:t>ipad</a:t>
            </a:r>
            <a:r>
              <a:rPr lang="en-US" dirty="0"/>
              <a:t> (inner pad) is the hard-coded byte </a:t>
            </a:r>
            <a:r>
              <a:rPr lang="en-US" b="1" dirty="0">
                <a:latin typeface="Courier New"/>
                <a:ea typeface="Courier New"/>
                <a:cs typeface="Courier New"/>
                <a:sym typeface="Courier New"/>
              </a:rPr>
              <a:t>0x36</a:t>
            </a:r>
            <a:r>
              <a:rPr lang="en-US" dirty="0"/>
              <a:t> repeated until it’s the same length as </a:t>
            </a:r>
            <a:r>
              <a:rPr lang="en-US" i="1" dirty="0"/>
              <a:t>K</a:t>
            </a:r>
            <a:r>
              <a:rPr lang="en-US" dirty="0"/>
              <a:t>’</a:t>
            </a:r>
          </a:p>
          <a:p>
            <a:pPr marL="914400" lvl="1" indent="-342900">
              <a:spcBef>
                <a:spcPts val="0"/>
              </a:spcBef>
              <a:spcAft>
                <a:spcPts val="600"/>
              </a:spcAft>
              <a:buSzPts val="1800"/>
              <a:buFont typeface="Arial" panose="020B0604020202020204" pitchFamily="34" charset="0"/>
              <a:buChar char="●"/>
            </a:pPr>
            <a:r>
              <a:rPr lang="en-US" dirty="0"/>
              <a:t>As long as </a:t>
            </a:r>
            <a:r>
              <a:rPr lang="en-US" i="1" dirty="0" err="1"/>
              <a:t>opad</a:t>
            </a:r>
            <a:r>
              <a:rPr lang="en-US" dirty="0"/>
              <a:t> and </a:t>
            </a:r>
            <a:r>
              <a:rPr lang="en-US" i="1" dirty="0" err="1"/>
              <a:t>ipad</a:t>
            </a:r>
            <a:r>
              <a:rPr lang="en-US" dirty="0"/>
              <a:t> are different, you’ll get two different keys</a:t>
            </a:r>
          </a:p>
          <a:p>
            <a:pPr marL="914400" lvl="1" indent="-342900">
              <a:spcBef>
                <a:spcPts val="0"/>
              </a:spcBef>
              <a:spcAft>
                <a:spcPts val="600"/>
              </a:spcAft>
              <a:buSzPts val="1800"/>
              <a:buFont typeface="Arial" panose="020B0604020202020204" pitchFamily="34" charset="0"/>
              <a:buChar char="●"/>
            </a:pPr>
            <a:r>
              <a:rPr lang="en-US" dirty="0"/>
              <a:t>For paranoia, the designers chose two very different bit patterns, even though they theoretically need only differ in one bit</a:t>
            </a:r>
          </a:p>
          <a:p>
            <a:pPr marL="457200" lvl="0" indent="-342900" algn="l" rtl="0">
              <a:spcBef>
                <a:spcPts val="0"/>
              </a:spcBef>
              <a:spcAft>
                <a:spcPts val="600"/>
              </a:spcAft>
              <a:buSzPts val="1800"/>
              <a:buChar char="●"/>
            </a:pPr>
            <a:r>
              <a:rPr lang="en-US" dirty="0"/>
              <a:t>HMAC is a hash function, so it has the properties of the underlying hash too:</a:t>
            </a:r>
          </a:p>
          <a:p>
            <a:pPr marL="914400" lvl="1" indent="-342900">
              <a:spcBef>
                <a:spcPts val="0"/>
              </a:spcBef>
              <a:spcAft>
                <a:spcPts val="600"/>
              </a:spcAft>
              <a:buSzPts val="1800"/>
              <a:buChar char="●"/>
            </a:pPr>
            <a:r>
              <a:rPr lang="en-US" dirty="0"/>
              <a:t>It is collision resistant</a:t>
            </a:r>
          </a:p>
          <a:p>
            <a:pPr marL="914400" lvl="1" indent="-342900">
              <a:spcBef>
                <a:spcPts val="0"/>
              </a:spcBef>
              <a:spcAft>
                <a:spcPts val="600"/>
              </a:spcAft>
              <a:buSzPts val="1800"/>
              <a:buChar char="●"/>
            </a:pPr>
            <a:r>
              <a:rPr lang="en-US" dirty="0"/>
              <a:t>Given HMAC(</a:t>
            </a:r>
            <a:r>
              <a:rPr lang="en-US" i="1" dirty="0"/>
              <a:t>K</a:t>
            </a:r>
            <a:r>
              <a:rPr lang="en-US" dirty="0"/>
              <a:t>, </a:t>
            </a:r>
            <a:r>
              <a:rPr lang="en-US" i="1" dirty="0"/>
              <a:t>M</a:t>
            </a:r>
            <a:r>
              <a:rPr lang="en-US" dirty="0"/>
              <a:t>) and </a:t>
            </a:r>
            <a:r>
              <a:rPr lang="en-US" i="1" dirty="0"/>
              <a:t>K</a:t>
            </a:r>
            <a:r>
              <a:rPr lang="en-US" dirty="0"/>
              <a:t>, an attacker can’t learn </a:t>
            </a:r>
            <a:r>
              <a:rPr lang="en-US" i="1" dirty="0"/>
              <a:t>M</a:t>
            </a:r>
          </a:p>
          <a:p>
            <a:pPr marL="914400" lvl="1" indent="-342900">
              <a:spcBef>
                <a:spcPts val="0"/>
              </a:spcBef>
              <a:spcAft>
                <a:spcPts val="600"/>
              </a:spcAft>
              <a:buSzPts val="1800"/>
              <a:buChar char="●"/>
            </a:pPr>
            <a:r>
              <a:rPr lang="en-US" dirty="0"/>
              <a:t>If the underlying hash is secure, HMAC doesn’t reveal </a:t>
            </a:r>
            <a:r>
              <a:rPr lang="en-US" i="1" dirty="0"/>
              <a:t>M</a:t>
            </a:r>
            <a:r>
              <a:rPr lang="en-US" dirty="0"/>
              <a:t>, but it is still </a:t>
            </a:r>
            <a:r>
              <a:rPr lang="en-US" dirty="0">
                <a:solidFill>
                  <a:srgbClr val="C00000"/>
                </a:solidFill>
              </a:rPr>
              <a:t>deterministic</a:t>
            </a:r>
            <a:r>
              <a:rPr lang="en-US" dirty="0"/>
              <a:t> </a:t>
            </a:r>
          </a:p>
          <a:p>
            <a:pPr marL="457200" lvl="0" indent="-342900" algn="l" rtl="0">
              <a:spcBef>
                <a:spcPts val="0"/>
              </a:spcBef>
              <a:spcAft>
                <a:spcPts val="600"/>
              </a:spcAft>
              <a:buSzPts val="1800"/>
              <a:buChar char="●"/>
            </a:pPr>
            <a:r>
              <a:rPr lang="en-US" dirty="0"/>
              <a:t>You can’t verify a tag </a:t>
            </a:r>
            <a:r>
              <a:rPr lang="en-US" i="1" dirty="0"/>
              <a:t>T</a:t>
            </a:r>
            <a:r>
              <a:rPr lang="en-US" dirty="0"/>
              <a:t> if you don’t have </a:t>
            </a:r>
            <a:r>
              <a:rPr lang="en-US" i="1" dirty="0"/>
              <a:t>K</a:t>
            </a:r>
          </a:p>
          <a:p>
            <a:pPr marL="914400" lvl="1" indent="-342900">
              <a:spcBef>
                <a:spcPts val="0"/>
              </a:spcBef>
              <a:spcAft>
                <a:spcPts val="600"/>
              </a:spcAft>
              <a:buSzPts val="1800"/>
              <a:buChar char="●"/>
            </a:pPr>
            <a:r>
              <a:rPr lang="en-US" dirty="0"/>
              <a:t>The attacker can’t brute-force the message </a:t>
            </a:r>
            <a:r>
              <a:rPr lang="en-US" i="1" dirty="0"/>
              <a:t>M</a:t>
            </a:r>
            <a:r>
              <a:rPr lang="en-US" dirty="0"/>
              <a:t> without knowing </a:t>
            </a:r>
            <a:r>
              <a:rPr lang="en-US" i="1" dirty="0"/>
              <a:t>K (HMAC-SHA256: 1/2</a:t>
            </a:r>
            <a:r>
              <a:rPr lang="en-US" i="1" baseline="30000" dirty="0"/>
              <a:t>256</a:t>
            </a:r>
            <a:r>
              <a:rPr lang="en-US" i="1" dirty="0"/>
              <a:t>)</a:t>
            </a:r>
            <a:endParaRPr lang="en-US" dirty="0"/>
          </a:p>
        </p:txBody>
      </p:sp>
      <p:sp>
        <p:nvSpPr>
          <p:cNvPr id="6" name="Title 1">
            <a:extLst>
              <a:ext uri="{FF2B5EF4-FFF2-40B4-BE49-F238E27FC236}">
                <a16:creationId xmlns:a16="http://schemas.microsoft.com/office/drawing/2014/main" id="{35568EE4-5677-5117-5930-9A5BE407669A}"/>
              </a:ext>
            </a:extLst>
          </p:cNvPr>
          <p:cNvSpPr txBox="1">
            <a:spLocks/>
          </p:cNvSpPr>
          <p:nvPr/>
        </p:nvSpPr>
        <p:spPr>
          <a:xfrm>
            <a:off x="838200" y="171694"/>
            <a:ext cx="10515600" cy="9361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MAC Instantiation: HMAC (Hash-based MAC)</a:t>
            </a:r>
            <a:endParaRPr lang="en-US" dirty="0"/>
          </a:p>
        </p:txBody>
      </p:sp>
    </p:spTree>
    <p:extLst>
      <p:ext uri="{BB962C8B-B14F-4D97-AF65-F5344CB8AC3E}">
        <p14:creationId xmlns:p14="http://schemas.microsoft.com/office/powerpoint/2010/main" val="8983575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A27DF-4B5D-8503-3EAA-A8C56361CE14}"/>
              </a:ext>
            </a:extLst>
          </p:cNvPr>
          <p:cNvSpPr>
            <a:spLocks noGrp="1"/>
          </p:cNvSpPr>
          <p:nvPr>
            <p:ph type="title"/>
          </p:nvPr>
        </p:nvSpPr>
        <p:spPr>
          <a:xfrm>
            <a:off x="838200" y="110149"/>
            <a:ext cx="10515600" cy="971306"/>
          </a:xfrm>
        </p:spPr>
        <p:txBody>
          <a:bodyPr/>
          <a:lstStyle/>
          <a:p>
            <a:r>
              <a:rPr lang="en" dirty="0"/>
              <a:t>Do MACs provide integrity?</a:t>
            </a:r>
            <a:endParaRPr lang="en-US" dirty="0"/>
          </a:p>
        </p:txBody>
      </p:sp>
      <p:sp>
        <p:nvSpPr>
          <p:cNvPr id="4" name="Google Shape;207;p31">
            <a:extLst>
              <a:ext uri="{FF2B5EF4-FFF2-40B4-BE49-F238E27FC236}">
                <a16:creationId xmlns:a16="http://schemas.microsoft.com/office/drawing/2014/main" id="{B6A6A437-C191-0AE3-0A62-57EAEADFAFD4}"/>
              </a:ext>
            </a:extLst>
          </p:cNvPr>
          <p:cNvSpPr txBox="1">
            <a:spLocks/>
          </p:cNvSpPr>
          <p:nvPr/>
        </p:nvSpPr>
        <p:spPr>
          <a:xfrm>
            <a:off x="446722" y="1417512"/>
            <a:ext cx="11298556" cy="5159134"/>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42900">
              <a:spcBef>
                <a:spcPts val="0"/>
              </a:spcBef>
              <a:spcAft>
                <a:spcPts val="600"/>
              </a:spcAft>
              <a:buSzPts val="1800"/>
              <a:buFont typeface="Arial" panose="020B0604020202020204" pitchFamily="34" charset="0"/>
              <a:buChar char="●"/>
            </a:pPr>
            <a:r>
              <a:rPr lang="en-US" dirty="0"/>
              <a:t>Do MACs provide integrity?</a:t>
            </a:r>
          </a:p>
          <a:p>
            <a:pPr marL="914400" lvl="1" indent="-342900">
              <a:spcBef>
                <a:spcPts val="0"/>
              </a:spcBef>
              <a:spcAft>
                <a:spcPts val="600"/>
              </a:spcAft>
              <a:buSzPts val="1800"/>
              <a:buFont typeface="Arial" panose="020B0604020202020204" pitchFamily="34" charset="0"/>
              <a:buChar char="●"/>
            </a:pPr>
            <a:r>
              <a:rPr lang="en-US" b="1" i="1" dirty="0">
                <a:solidFill>
                  <a:srgbClr val="C00000"/>
                </a:solidFill>
              </a:rPr>
              <a:t>Yes! </a:t>
            </a:r>
            <a:r>
              <a:rPr lang="en-US" dirty="0"/>
              <a:t>An attacker cannot tamper with the message without being detected</a:t>
            </a:r>
          </a:p>
          <a:p>
            <a:pPr marL="457200" indent="-342900">
              <a:spcBef>
                <a:spcPts val="0"/>
              </a:spcBef>
              <a:spcAft>
                <a:spcPts val="600"/>
              </a:spcAft>
              <a:buSzPts val="1800"/>
              <a:buFont typeface="Arial" panose="020B0604020202020204" pitchFamily="34" charset="0"/>
              <a:buChar char="●"/>
            </a:pPr>
            <a:r>
              <a:rPr lang="en-US" dirty="0"/>
              <a:t>Do MACs provide confidentiality?</a:t>
            </a:r>
          </a:p>
          <a:p>
            <a:pPr marL="914400" lvl="1" indent="-342900">
              <a:spcBef>
                <a:spcPts val="0"/>
              </a:spcBef>
              <a:spcAft>
                <a:spcPts val="600"/>
              </a:spcAft>
              <a:buSzPts val="1800"/>
              <a:buFont typeface="Arial" panose="020B0604020202020204" pitchFamily="34" charset="0"/>
              <a:buChar char="●"/>
            </a:pPr>
            <a:r>
              <a:rPr lang="en-US" dirty="0"/>
              <a:t>MACs are </a:t>
            </a:r>
            <a:r>
              <a:rPr lang="en-US" dirty="0">
                <a:solidFill>
                  <a:srgbClr val="C00000"/>
                </a:solidFill>
              </a:rPr>
              <a:t>deterministic</a:t>
            </a:r>
            <a:r>
              <a:rPr lang="en-US" dirty="0"/>
              <a:t> ⇒ Same M &amp; K lead to the same tag T</a:t>
            </a:r>
          </a:p>
          <a:p>
            <a:pPr marL="914400" lvl="1" indent="-342900">
              <a:spcBef>
                <a:spcPts val="0"/>
              </a:spcBef>
              <a:spcAft>
                <a:spcPts val="600"/>
              </a:spcAft>
              <a:buSzPts val="1800"/>
              <a:buFont typeface="Arial" panose="020B0604020202020204" pitchFamily="34" charset="0"/>
              <a:buChar char="●"/>
            </a:pPr>
            <a:r>
              <a:rPr lang="en-US" dirty="0"/>
              <a:t>MACs in general have no confidentiality guarantees; they can leak information about the message</a:t>
            </a:r>
          </a:p>
          <a:p>
            <a:pPr marL="457200" indent="-342900">
              <a:spcBef>
                <a:spcPts val="0"/>
              </a:spcBef>
              <a:spcAft>
                <a:spcPts val="600"/>
              </a:spcAft>
              <a:buSzPts val="1800"/>
              <a:buFont typeface="Arial" panose="020B0604020202020204" pitchFamily="34" charset="0"/>
              <a:buChar char="●"/>
            </a:pPr>
            <a:r>
              <a:rPr lang="en-US" dirty="0"/>
              <a:t>Do MACs provide authenticity?</a:t>
            </a:r>
          </a:p>
          <a:p>
            <a:pPr marL="914400" lvl="1" indent="-342900">
              <a:spcBef>
                <a:spcPts val="0"/>
              </a:spcBef>
              <a:spcAft>
                <a:spcPts val="600"/>
              </a:spcAft>
              <a:buSzPts val="1800"/>
              <a:buFont typeface="Arial" panose="020B0604020202020204" pitchFamily="34" charset="0"/>
              <a:buChar char="●"/>
            </a:pPr>
            <a:r>
              <a:rPr lang="en-US" i="1" dirty="0">
                <a:solidFill>
                  <a:srgbClr val="C00000"/>
                </a:solidFill>
              </a:rPr>
              <a:t>It depends on your threat model</a:t>
            </a:r>
          </a:p>
          <a:p>
            <a:pPr marL="914400" lvl="1" indent="-342900">
              <a:spcBef>
                <a:spcPts val="0"/>
              </a:spcBef>
              <a:spcAft>
                <a:spcPts val="600"/>
              </a:spcAft>
              <a:buSzPts val="1800"/>
              <a:buFont typeface="Arial" panose="020B0604020202020204" pitchFamily="34" charset="0"/>
              <a:buChar char="●"/>
            </a:pPr>
            <a:r>
              <a:rPr lang="en-US" dirty="0"/>
              <a:t>If a message has a valid MAC, you can be sure it came from </a:t>
            </a:r>
            <a:r>
              <a:rPr lang="en-US" i="1" dirty="0"/>
              <a:t>someone with the secret key</a:t>
            </a:r>
            <a:r>
              <a:rPr lang="en-US" dirty="0"/>
              <a:t>, but you can’t narrow it down to one person</a:t>
            </a:r>
          </a:p>
          <a:p>
            <a:pPr marL="914400" lvl="1" indent="-342900">
              <a:spcBef>
                <a:spcPts val="0"/>
              </a:spcBef>
              <a:spcAft>
                <a:spcPts val="600"/>
              </a:spcAft>
              <a:buSzPts val="1800"/>
              <a:buFont typeface="Arial" panose="020B0604020202020204" pitchFamily="34" charset="0"/>
              <a:buChar char="●"/>
            </a:pPr>
            <a:r>
              <a:rPr lang="en-US" dirty="0"/>
              <a:t>If </a:t>
            </a:r>
            <a:r>
              <a:rPr lang="en-US" dirty="0">
                <a:solidFill>
                  <a:srgbClr val="C00000"/>
                </a:solidFill>
              </a:rPr>
              <a:t>only two </a:t>
            </a:r>
            <a:r>
              <a:rPr lang="en-US" dirty="0"/>
              <a:t>people have the secret key, MACs provide authenticity: it has a valid MAC, and it’s not from me, so it must be from the other person</a:t>
            </a:r>
          </a:p>
        </p:txBody>
      </p:sp>
    </p:spTree>
    <p:extLst>
      <p:ext uri="{BB962C8B-B14F-4D97-AF65-F5344CB8AC3E}">
        <p14:creationId xmlns:p14="http://schemas.microsoft.com/office/powerpoint/2010/main" val="31632140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57624-58B8-9AF3-5C04-85DEAF8D7E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CD3653-3383-A3D6-E020-87D120299FED}"/>
              </a:ext>
            </a:extLst>
          </p:cNvPr>
          <p:cNvSpPr txBox="1">
            <a:spLocks/>
          </p:cNvSpPr>
          <p:nvPr/>
        </p:nvSpPr>
        <p:spPr>
          <a:xfrm>
            <a:off x="546662" y="152400"/>
            <a:ext cx="6551791" cy="165099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6000">
                <a:cs typeface="Calibri" panose="020F0502020204030204" pitchFamily="34" charset="0"/>
              </a:rPr>
              <a:t>Roadmap</a:t>
            </a:r>
            <a:endParaRPr lang="en-US" sz="6000" dirty="0"/>
          </a:p>
        </p:txBody>
      </p:sp>
      <p:sp>
        <p:nvSpPr>
          <p:cNvPr id="3" name="Rectangle 4">
            <a:extLst>
              <a:ext uri="{FF2B5EF4-FFF2-40B4-BE49-F238E27FC236}">
                <a16:creationId xmlns:a16="http://schemas.microsoft.com/office/drawing/2014/main" id="{C76BA14A-7227-3D0C-7A72-D23A7DC1E406}"/>
              </a:ext>
            </a:extLst>
          </p:cNvPr>
          <p:cNvSpPr txBox="1">
            <a:spLocks noChangeArrowheads="1"/>
          </p:cNvSpPr>
          <p:nvPr/>
        </p:nvSpPr>
        <p:spPr>
          <a:xfrm>
            <a:off x="327703" y="1646990"/>
            <a:ext cx="11536594" cy="4978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Cryptographic Hash</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Message Authentication Codes (MACs)</a:t>
            </a:r>
          </a:p>
          <a:p>
            <a:pPr marL="403225" indent="-285750">
              <a:spcBef>
                <a:spcPts val="800"/>
              </a:spcBef>
              <a:spcAft>
                <a:spcPts val="600"/>
              </a:spcAft>
              <a:buClr>
                <a:schemeClr val="bg1">
                  <a:lumMod val="85000"/>
                </a:schemeClr>
              </a:buClr>
            </a:pPr>
            <a:r>
              <a:rPr lang="en-US" altLang="en-US" sz="3600" b="1" i="1" dirty="0">
                <a:latin typeface="Calibri" panose="020F0502020204030204" pitchFamily="34" charset="0"/>
                <a:cs typeface="Calibri" panose="020F0502020204030204" pitchFamily="34" charset="0"/>
              </a:rPr>
              <a:t>Diffie-Hellman Key Exchange</a:t>
            </a:r>
          </a:p>
          <a:p>
            <a:pPr marL="117475" indent="0">
              <a:spcBef>
                <a:spcPts val="800"/>
              </a:spcBef>
              <a:spcAft>
                <a:spcPts val="600"/>
              </a:spcAft>
              <a:buClr>
                <a:schemeClr val="bg1">
                  <a:lumMod val="85000"/>
                </a:schemeClr>
              </a:buClr>
              <a:buNone/>
            </a:pPr>
            <a:endParaRPr lang="en-US" altLang="en-US" sz="3600" b="1" i="1" dirty="0">
              <a:solidFill>
                <a:schemeClr val="bg1">
                  <a:lumMod val="85000"/>
                </a:schemeClr>
              </a:solidFill>
              <a:latin typeface="Calibri" panose="020F0502020204030204" pitchFamily="34" charset="0"/>
              <a:cs typeface="Calibri" panose="020F0502020204030204" pitchFamily="34" charset="0"/>
            </a:endParaRPr>
          </a:p>
          <a:p>
            <a:pPr marL="403225" indent="-285750">
              <a:spcBef>
                <a:spcPts val="800"/>
              </a:spcBef>
              <a:spcAft>
                <a:spcPts val="600"/>
              </a:spcAft>
              <a:buClr>
                <a:schemeClr val="bg1">
                  <a:lumMod val="85000"/>
                </a:schemeClr>
              </a:buClr>
            </a:pPr>
            <a:endParaRPr lang="en-US" altLang="en-US" sz="3600" b="1" i="1" dirty="0">
              <a:solidFill>
                <a:schemeClr val="bg1">
                  <a:lumMod val="8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24060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124"/>
            <a:ext cx="11277600" cy="1143000"/>
          </a:xfrm>
        </p:spPr>
        <p:txBody>
          <a:bodyPr>
            <a:normAutofit fontScale="90000"/>
          </a:bodyPr>
          <a:lstStyle/>
          <a:p>
            <a:r>
              <a:rPr lang="en-US" dirty="0"/>
              <a:t>The </a:t>
            </a:r>
            <a:r>
              <a:rPr lang="en-US" dirty="0">
                <a:hlinkClick r:id="rId3"/>
              </a:rPr>
              <a:t>Diffie-Hellman</a:t>
            </a:r>
            <a:r>
              <a:rPr lang="en-US" dirty="0"/>
              <a:t> Key Exchange Protocol  </a:t>
            </a:r>
            <a:r>
              <a:rPr lang="en-US" sz="3600" dirty="0"/>
              <a:t>(informally)</a:t>
            </a:r>
            <a:endParaRPr lang="en-US" dirty="0"/>
          </a:p>
        </p:txBody>
      </p:sp>
      <p:sp>
        <p:nvSpPr>
          <p:cNvPr id="3" name="Content Placeholder 2"/>
          <p:cNvSpPr>
            <a:spLocks noGrp="1"/>
          </p:cNvSpPr>
          <p:nvPr>
            <p:ph idx="1"/>
          </p:nvPr>
        </p:nvSpPr>
        <p:spPr>
          <a:xfrm>
            <a:off x="3706720" y="2264008"/>
            <a:ext cx="5630711" cy="1142999"/>
          </a:xfrm>
        </p:spPr>
        <p:txBody>
          <a:bodyPr>
            <a:normAutofit/>
          </a:bodyPr>
          <a:lstStyle/>
          <a:p>
            <a:pPr marL="0" indent="0">
              <a:buNone/>
            </a:pPr>
            <a:r>
              <a:rPr lang="en-US" sz="2400" dirty="0"/>
              <a:t>Fix a large prime  p (e.g. 2048 digits)</a:t>
            </a:r>
          </a:p>
          <a:p>
            <a:pPr marL="0" indent="0">
              <a:buNone/>
            </a:pPr>
            <a:r>
              <a:rPr lang="en-US" sz="2400" dirty="0"/>
              <a:t>Fix an integer (generator)   g   in   {1, …, p}</a:t>
            </a:r>
          </a:p>
        </p:txBody>
      </p:sp>
      <p:sp>
        <p:nvSpPr>
          <p:cNvPr id="4" name="TextBox 3"/>
          <p:cNvSpPr txBox="1"/>
          <p:nvPr/>
        </p:nvSpPr>
        <p:spPr>
          <a:xfrm>
            <a:off x="609601" y="2717801"/>
            <a:ext cx="1125629" cy="584775"/>
          </a:xfrm>
          <a:prstGeom prst="rect">
            <a:avLst/>
          </a:prstGeom>
          <a:noFill/>
        </p:spPr>
        <p:txBody>
          <a:bodyPr wrap="none" rtlCol="0">
            <a:spAutoFit/>
          </a:bodyPr>
          <a:lstStyle/>
          <a:p>
            <a:r>
              <a:rPr lang="en-US" sz="3200" b="1" u="sng" dirty="0"/>
              <a:t>Alice</a:t>
            </a:r>
          </a:p>
        </p:txBody>
      </p:sp>
      <p:sp>
        <p:nvSpPr>
          <p:cNvPr id="5" name="TextBox 4"/>
          <p:cNvSpPr txBox="1"/>
          <p:nvPr/>
        </p:nvSpPr>
        <p:spPr>
          <a:xfrm>
            <a:off x="10160001" y="2717801"/>
            <a:ext cx="915635" cy="584775"/>
          </a:xfrm>
          <a:prstGeom prst="rect">
            <a:avLst/>
          </a:prstGeom>
          <a:noFill/>
        </p:spPr>
        <p:txBody>
          <a:bodyPr wrap="none" rtlCol="0">
            <a:spAutoFit/>
          </a:bodyPr>
          <a:lstStyle/>
          <a:p>
            <a:r>
              <a:rPr lang="en-US" sz="3200" b="1" u="sng" dirty="0"/>
              <a:t>Bob</a:t>
            </a:r>
          </a:p>
        </p:txBody>
      </p:sp>
      <p:sp>
        <p:nvSpPr>
          <p:cNvPr id="6" name="TextBox 5"/>
          <p:cNvSpPr txBox="1"/>
          <p:nvPr/>
        </p:nvSpPr>
        <p:spPr>
          <a:xfrm>
            <a:off x="561089" y="3327401"/>
            <a:ext cx="4524957" cy="584775"/>
          </a:xfrm>
          <a:prstGeom prst="rect">
            <a:avLst/>
          </a:prstGeom>
          <a:noFill/>
        </p:spPr>
        <p:txBody>
          <a:bodyPr wrap="none" rtlCol="0">
            <a:spAutoFit/>
          </a:bodyPr>
          <a:lstStyle/>
          <a:p>
            <a:r>
              <a:rPr lang="en-US" sz="2667" dirty="0"/>
              <a:t>choose random </a:t>
            </a:r>
            <a:r>
              <a:rPr lang="en-US" sz="3200" b="1" dirty="0"/>
              <a:t>a</a:t>
            </a:r>
            <a:r>
              <a:rPr lang="en-US" sz="2667" dirty="0"/>
              <a:t> in {1,…,p-1}</a:t>
            </a:r>
          </a:p>
        </p:txBody>
      </p:sp>
      <p:sp>
        <p:nvSpPr>
          <p:cNvPr id="7" name="TextBox 6"/>
          <p:cNvSpPr txBox="1"/>
          <p:nvPr/>
        </p:nvSpPr>
        <p:spPr>
          <a:xfrm>
            <a:off x="7518400" y="3327401"/>
            <a:ext cx="4539384" cy="584775"/>
          </a:xfrm>
          <a:prstGeom prst="rect">
            <a:avLst/>
          </a:prstGeom>
          <a:noFill/>
        </p:spPr>
        <p:txBody>
          <a:bodyPr wrap="none" rtlCol="0">
            <a:spAutoFit/>
          </a:bodyPr>
          <a:lstStyle/>
          <a:p>
            <a:r>
              <a:rPr lang="en-US" sz="2667" dirty="0"/>
              <a:t>choose random </a:t>
            </a:r>
            <a:r>
              <a:rPr lang="en-US" sz="3200" b="1" dirty="0"/>
              <a:t>b</a:t>
            </a:r>
            <a:r>
              <a:rPr lang="en-US" sz="2667" dirty="0"/>
              <a:t> in {1,…,p-1}</a:t>
            </a:r>
          </a:p>
        </p:txBody>
      </p:sp>
      <p:cxnSp>
        <p:nvCxnSpPr>
          <p:cNvPr id="9" name="Straight Arrow Connector 8"/>
          <p:cNvCxnSpPr/>
          <p:nvPr/>
        </p:nvCxnSpPr>
        <p:spPr>
          <a:xfrm flipH="1">
            <a:off x="1117600" y="5257800"/>
            <a:ext cx="92456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a:off x="1117600" y="4546600"/>
            <a:ext cx="92456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356443" y="5765801"/>
            <a:ext cx="2892138" cy="584775"/>
          </a:xfrm>
          <a:prstGeom prst="rect">
            <a:avLst/>
          </a:prstGeom>
          <a:noFill/>
        </p:spPr>
        <p:txBody>
          <a:bodyPr wrap="none" rtlCol="0">
            <a:spAutoFit/>
          </a:bodyPr>
          <a:lstStyle/>
          <a:p>
            <a:r>
              <a:rPr lang="en-US" sz="3200" b="1" dirty="0" err="1"/>
              <a:t>k</a:t>
            </a:r>
            <a:r>
              <a:rPr lang="en-US" sz="3200" b="1" baseline="-25000" dirty="0" err="1"/>
              <a:t>AB</a:t>
            </a:r>
            <a:r>
              <a:rPr lang="en-US" sz="3200" b="1" dirty="0"/>
              <a:t> = g</a:t>
            </a:r>
            <a:r>
              <a:rPr lang="en-US" sz="3733" b="1" baseline="30000" dirty="0"/>
              <a:t>ab</a:t>
            </a:r>
            <a:r>
              <a:rPr lang="en-US" sz="3200" b="1" dirty="0"/>
              <a:t>  </a:t>
            </a:r>
            <a:r>
              <a:rPr lang="en-US" sz="2400" dirty="0"/>
              <a:t>(mod p)</a:t>
            </a:r>
            <a:endParaRPr lang="en-US" sz="2400" baseline="-25000" dirty="0"/>
          </a:p>
        </p:txBody>
      </p:sp>
      <p:sp>
        <p:nvSpPr>
          <p:cNvPr id="12" name="TextBox 11"/>
          <p:cNvSpPr txBox="1"/>
          <p:nvPr/>
        </p:nvSpPr>
        <p:spPr>
          <a:xfrm>
            <a:off x="7620001" y="5679733"/>
            <a:ext cx="4148893" cy="666786"/>
          </a:xfrm>
          <a:prstGeom prst="rect">
            <a:avLst/>
          </a:prstGeom>
          <a:noFill/>
        </p:spPr>
        <p:txBody>
          <a:bodyPr wrap="none" rtlCol="0">
            <a:spAutoFit/>
          </a:bodyPr>
          <a:lstStyle/>
          <a:p>
            <a:r>
              <a:rPr lang="en-US" sz="3200" dirty="0"/>
              <a:t>=      </a:t>
            </a:r>
            <a:r>
              <a:rPr lang="en-US" sz="3733" dirty="0"/>
              <a:t>(</a:t>
            </a:r>
            <a:r>
              <a:rPr lang="en-US" sz="3200" dirty="0" err="1"/>
              <a:t>g</a:t>
            </a:r>
            <a:r>
              <a:rPr lang="en-US" sz="3733" baseline="30000" dirty="0" err="1"/>
              <a:t>a</a:t>
            </a:r>
            <a:r>
              <a:rPr lang="en-US" sz="3733" dirty="0"/>
              <a:t>)</a:t>
            </a:r>
            <a:r>
              <a:rPr lang="en-US" sz="3733" baseline="50000" dirty="0"/>
              <a:t>b</a:t>
            </a:r>
            <a:r>
              <a:rPr lang="en-US" sz="3733" dirty="0"/>
              <a:t>     </a:t>
            </a:r>
            <a:r>
              <a:rPr lang="en-US" sz="3200" dirty="0"/>
              <a:t>=</a:t>
            </a:r>
            <a:r>
              <a:rPr lang="en-US" sz="3733" dirty="0"/>
              <a:t>  </a:t>
            </a:r>
            <a:r>
              <a:rPr lang="en-US" sz="3200" b="1" dirty="0" err="1"/>
              <a:t>A</a:t>
            </a:r>
            <a:r>
              <a:rPr lang="en-US" sz="3733" b="1" baseline="30000" dirty="0" err="1"/>
              <a:t>b</a:t>
            </a:r>
            <a:r>
              <a:rPr lang="en-US" sz="3733" baseline="30000" dirty="0"/>
              <a:t> </a:t>
            </a:r>
            <a:r>
              <a:rPr lang="en-US" sz="3733" dirty="0"/>
              <a:t> </a:t>
            </a:r>
            <a:r>
              <a:rPr lang="en-US" sz="2133" dirty="0"/>
              <a:t>(mod p)</a:t>
            </a:r>
            <a:endParaRPr lang="en-US" sz="2133" baseline="30000" dirty="0"/>
          </a:p>
        </p:txBody>
      </p:sp>
      <p:sp>
        <p:nvSpPr>
          <p:cNvPr id="13" name="TextBox 12"/>
          <p:cNvSpPr txBox="1"/>
          <p:nvPr/>
        </p:nvSpPr>
        <p:spPr>
          <a:xfrm>
            <a:off x="304800" y="5695267"/>
            <a:ext cx="3783408" cy="666786"/>
          </a:xfrm>
          <a:prstGeom prst="rect">
            <a:avLst/>
          </a:prstGeom>
          <a:noFill/>
        </p:spPr>
        <p:txBody>
          <a:bodyPr wrap="none" rtlCol="0">
            <a:spAutoFit/>
          </a:bodyPr>
          <a:lstStyle/>
          <a:p>
            <a:r>
              <a:rPr lang="en-US" sz="3200" dirty="0"/>
              <a:t>  </a:t>
            </a:r>
            <a:r>
              <a:rPr lang="en-US" sz="3200" b="1" dirty="0"/>
              <a:t>B</a:t>
            </a:r>
            <a:r>
              <a:rPr lang="en-US" sz="3733" b="1" baseline="30000" dirty="0"/>
              <a:t>a</a:t>
            </a:r>
            <a:r>
              <a:rPr lang="en-US" sz="3733" baseline="30000" dirty="0"/>
              <a:t>  </a:t>
            </a:r>
            <a:r>
              <a:rPr lang="en-US" sz="2133" dirty="0"/>
              <a:t>(mod p)   </a:t>
            </a:r>
            <a:r>
              <a:rPr lang="en-US" sz="3200" dirty="0"/>
              <a:t>=    </a:t>
            </a:r>
            <a:r>
              <a:rPr lang="en-US" sz="3733" dirty="0"/>
              <a:t>(</a:t>
            </a:r>
            <a:r>
              <a:rPr lang="en-US" sz="3200" dirty="0" err="1"/>
              <a:t>g</a:t>
            </a:r>
            <a:r>
              <a:rPr lang="en-US" sz="3733" baseline="30000" dirty="0" err="1"/>
              <a:t>b</a:t>
            </a:r>
            <a:r>
              <a:rPr lang="en-US" sz="3733" dirty="0"/>
              <a:t>)</a:t>
            </a:r>
            <a:r>
              <a:rPr lang="en-US" sz="3733" baseline="50000" dirty="0"/>
              <a:t>a</a:t>
            </a:r>
            <a:r>
              <a:rPr lang="en-US" sz="3733" dirty="0"/>
              <a:t>  </a:t>
            </a:r>
            <a:r>
              <a:rPr lang="en-US" sz="3200" dirty="0"/>
              <a:t>=</a:t>
            </a:r>
            <a:endParaRPr lang="en-US" sz="3200" baseline="30000"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722359C-698D-4FE2-FD1D-05BFE216E950}"/>
                  </a:ext>
                </a:extLst>
              </p:cNvPr>
              <p:cNvSpPr txBox="1"/>
              <p:nvPr/>
            </p:nvSpPr>
            <p:spPr>
              <a:xfrm>
                <a:off x="4797570" y="4177268"/>
                <a:ext cx="1885659" cy="369332"/>
              </a:xfrm>
              <a:prstGeom prst="rect">
                <a:avLst/>
              </a:prstGeom>
              <a:noFill/>
            </p:spPr>
            <p:txBody>
              <a:bodyPr wrap="square">
                <a:spAutoFit/>
              </a:bodyPr>
              <a:lstStyle/>
              <a:p>
                <a:pPr algn="ctr"/>
                <a14:m>
                  <m:oMath xmlns:m="http://schemas.openxmlformats.org/officeDocument/2006/math">
                    <m:sSup>
                      <m:sSupPr>
                        <m:ctrlPr>
                          <a:rPr lang="en-US" sz="1800" i="1" smtClean="0">
                            <a:latin typeface="Cambria Math" panose="02040503050406030204" pitchFamily="18" charset="0"/>
                          </a:rPr>
                        </m:ctrlPr>
                      </m:sSupPr>
                      <m:e>
                        <m:r>
                          <a:rPr lang="en-US" sz="1800" b="0" i="1" smtClean="0">
                            <a:latin typeface="Cambria Math" panose="02040503050406030204" pitchFamily="18" charset="0"/>
                          </a:rPr>
                          <m:t>𝐴</m:t>
                        </m:r>
                        <m:r>
                          <a:rPr lang="en-US" sz="1800" b="0" i="1" smtClean="0">
                            <a:latin typeface="Cambria Math" panose="02040503050406030204" pitchFamily="18" charset="0"/>
                          </a:rPr>
                          <m:t>= </m:t>
                        </m:r>
                        <m:r>
                          <a:rPr lang="en-US" sz="1800" b="0" i="1" smtClean="0">
                            <a:latin typeface="Cambria Math" panose="02040503050406030204" pitchFamily="18" charset="0"/>
                          </a:rPr>
                          <m:t>𝑔</m:t>
                        </m:r>
                      </m:e>
                      <m:sup>
                        <m:r>
                          <a:rPr lang="en-US" sz="1800" b="0" i="1" smtClean="0">
                            <a:latin typeface="Cambria Math" panose="02040503050406030204" pitchFamily="18" charset="0"/>
                          </a:rPr>
                          <m:t>𝑎</m:t>
                        </m:r>
                      </m:sup>
                    </m:sSup>
                    <m:r>
                      <a:rPr lang="en-US" sz="1800" b="0" i="1" smtClean="0">
                        <a:latin typeface="Cambria Math" panose="02040503050406030204" pitchFamily="18" charset="0"/>
                      </a:rPr>
                      <m:t>(</m:t>
                    </m:r>
                    <m:r>
                      <a:rPr lang="en-US" sz="1800" b="0" i="1" smtClean="0">
                        <a:latin typeface="Cambria Math" panose="02040503050406030204" pitchFamily="18" charset="0"/>
                      </a:rPr>
                      <m:t>𝑚𝑜𝑑</m:t>
                    </m:r>
                    <m:r>
                      <a:rPr lang="en-US" sz="1800" b="0" i="1" smtClean="0">
                        <a:latin typeface="Cambria Math" panose="02040503050406030204" pitchFamily="18" charset="0"/>
                      </a:rPr>
                      <m:t> </m:t>
                    </m:r>
                    <m:r>
                      <a:rPr lang="en-US" sz="1800" b="0" i="1" smtClean="0">
                        <a:latin typeface="Cambria Math" panose="02040503050406030204" pitchFamily="18" charset="0"/>
                      </a:rPr>
                      <m:t>𝑝</m:t>
                    </m:r>
                    <m:r>
                      <a:rPr lang="en-US" sz="1800" b="0" i="1" smtClean="0">
                        <a:latin typeface="Cambria Math" panose="02040503050406030204" pitchFamily="18" charset="0"/>
                      </a:rPr>
                      <m:t>)</m:t>
                    </m:r>
                  </m:oMath>
                </a14:m>
                <a:r>
                  <a:rPr lang="en-US" sz="1800" dirty="0"/>
                  <a:t> </a:t>
                </a:r>
                <a:endParaRPr lang="en-US" dirty="0"/>
              </a:p>
            </p:txBody>
          </p:sp>
        </mc:Choice>
        <mc:Fallback xmlns="">
          <p:sp>
            <p:nvSpPr>
              <p:cNvPr id="15" name="TextBox 14">
                <a:extLst>
                  <a:ext uri="{FF2B5EF4-FFF2-40B4-BE49-F238E27FC236}">
                    <a16:creationId xmlns:a16="http://schemas.microsoft.com/office/drawing/2014/main" id="{A722359C-698D-4FE2-FD1D-05BFE216E950}"/>
                  </a:ext>
                </a:extLst>
              </p:cNvPr>
              <p:cNvSpPr txBox="1">
                <a:spLocks noRot="1" noChangeAspect="1" noMove="1" noResize="1" noEditPoints="1" noAdjustHandles="1" noChangeArrowheads="1" noChangeShapeType="1" noTextEdit="1"/>
              </p:cNvSpPr>
              <p:nvPr/>
            </p:nvSpPr>
            <p:spPr>
              <a:xfrm>
                <a:off x="4797570" y="4177268"/>
                <a:ext cx="1885659" cy="369332"/>
              </a:xfrm>
              <a:prstGeom prst="rect">
                <a:avLst/>
              </a:prstGeom>
              <a:blipFill>
                <a:blip r:embed="rId4"/>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2F36010-2003-5F56-7C90-D0AF6A6B32B9}"/>
                  </a:ext>
                </a:extLst>
              </p:cNvPr>
              <p:cNvSpPr txBox="1"/>
              <p:nvPr/>
            </p:nvSpPr>
            <p:spPr>
              <a:xfrm>
                <a:off x="4797570" y="4919905"/>
                <a:ext cx="1885659" cy="374270"/>
              </a:xfrm>
              <a:prstGeom prst="rect">
                <a:avLst/>
              </a:prstGeom>
              <a:noFill/>
            </p:spPr>
            <p:txBody>
              <a:bodyPr wrap="square">
                <a:spAutoFit/>
              </a:bodyPr>
              <a:lstStyle/>
              <a:p>
                <a:pPr algn="ctr"/>
                <a14:m>
                  <m:oMath xmlns:m="http://schemas.openxmlformats.org/officeDocument/2006/math">
                    <m:sSup>
                      <m:sSupPr>
                        <m:ctrlPr>
                          <a:rPr lang="en-US" sz="1800" i="1" smtClean="0">
                            <a:latin typeface="Cambria Math" panose="02040503050406030204" pitchFamily="18" charset="0"/>
                          </a:rPr>
                        </m:ctrlPr>
                      </m:sSupPr>
                      <m:e>
                        <m:r>
                          <a:rPr lang="en-US" sz="1800" b="0" i="1" smtClean="0">
                            <a:latin typeface="Cambria Math" panose="02040503050406030204" pitchFamily="18" charset="0"/>
                          </a:rPr>
                          <m:t>𝐵</m:t>
                        </m:r>
                        <m:r>
                          <a:rPr lang="en-US" sz="1800" b="0" i="1" smtClean="0">
                            <a:latin typeface="Cambria Math" panose="02040503050406030204" pitchFamily="18" charset="0"/>
                          </a:rPr>
                          <m:t>= </m:t>
                        </m:r>
                        <m:r>
                          <a:rPr lang="en-US" sz="1800" b="0" i="1" smtClean="0">
                            <a:latin typeface="Cambria Math" panose="02040503050406030204" pitchFamily="18" charset="0"/>
                          </a:rPr>
                          <m:t>𝑔</m:t>
                        </m:r>
                      </m:e>
                      <m:sup>
                        <m:r>
                          <a:rPr lang="en-US" sz="1800" b="0" i="1" smtClean="0">
                            <a:latin typeface="Cambria Math" panose="02040503050406030204" pitchFamily="18" charset="0"/>
                          </a:rPr>
                          <m:t>𝑏</m:t>
                        </m:r>
                      </m:sup>
                    </m:sSup>
                    <m:r>
                      <a:rPr lang="en-US" sz="1800" b="0" i="1" smtClean="0">
                        <a:latin typeface="Cambria Math" panose="02040503050406030204" pitchFamily="18" charset="0"/>
                      </a:rPr>
                      <m:t>(</m:t>
                    </m:r>
                    <m:r>
                      <a:rPr lang="en-US" sz="1800" b="0" i="1" smtClean="0">
                        <a:latin typeface="Cambria Math" panose="02040503050406030204" pitchFamily="18" charset="0"/>
                      </a:rPr>
                      <m:t>𝑚𝑜𝑑</m:t>
                    </m:r>
                    <m:r>
                      <a:rPr lang="en-US" sz="1800" b="0" i="1" smtClean="0">
                        <a:latin typeface="Cambria Math" panose="02040503050406030204" pitchFamily="18" charset="0"/>
                      </a:rPr>
                      <m:t> </m:t>
                    </m:r>
                    <m:r>
                      <a:rPr lang="en-US" sz="1800" b="0" i="1" smtClean="0">
                        <a:latin typeface="Cambria Math" panose="02040503050406030204" pitchFamily="18" charset="0"/>
                      </a:rPr>
                      <m:t>𝑝</m:t>
                    </m:r>
                    <m:r>
                      <a:rPr lang="en-US" sz="1800" b="0" i="1" smtClean="0">
                        <a:latin typeface="Cambria Math" panose="02040503050406030204" pitchFamily="18" charset="0"/>
                      </a:rPr>
                      <m:t>)</m:t>
                    </m:r>
                  </m:oMath>
                </a14:m>
                <a:r>
                  <a:rPr lang="en-US" sz="1800" dirty="0"/>
                  <a:t> </a:t>
                </a:r>
                <a:endParaRPr lang="en-US" dirty="0"/>
              </a:p>
            </p:txBody>
          </p:sp>
        </mc:Choice>
        <mc:Fallback xmlns="">
          <p:sp>
            <p:nvSpPr>
              <p:cNvPr id="16" name="TextBox 15">
                <a:extLst>
                  <a:ext uri="{FF2B5EF4-FFF2-40B4-BE49-F238E27FC236}">
                    <a16:creationId xmlns:a16="http://schemas.microsoft.com/office/drawing/2014/main" id="{52F36010-2003-5F56-7C90-D0AF6A6B32B9}"/>
                  </a:ext>
                </a:extLst>
              </p:cNvPr>
              <p:cNvSpPr txBox="1">
                <a:spLocks noRot="1" noChangeAspect="1" noMove="1" noResize="1" noEditPoints="1" noAdjustHandles="1" noChangeArrowheads="1" noChangeShapeType="1" noTextEdit="1"/>
              </p:cNvSpPr>
              <p:nvPr/>
            </p:nvSpPr>
            <p:spPr>
              <a:xfrm>
                <a:off x="4797570" y="4919905"/>
                <a:ext cx="1885659" cy="374270"/>
              </a:xfrm>
              <a:prstGeom prst="rect">
                <a:avLst/>
              </a:prstGeom>
              <a:blipFill>
                <a:blip r:embed="rId5"/>
                <a:stretch>
                  <a:fillRect b="-14754"/>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F6591C0E-12EC-54B4-EC50-C2E84AA8483B}"/>
              </a:ext>
            </a:extLst>
          </p:cNvPr>
          <p:cNvSpPr txBox="1"/>
          <p:nvPr/>
        </p:nvSpPr>
        <p:spPr>
          <a:xfrm>
            <a:off x="457200" y="1213288"/>
            <a:ext cx="10810324" cy="523220"/>
          </a:xfrm>
          <a:prstGeom prst="rect">
            <a:avLst/>
          </a:prstGeom>
          <a:noFill/>
        </p:spPr>
        <p:txBody>
          <a:bodyPr wrap="square">
            <a:spAutoFit/>
          </a:bodyPr>
          <a:lstStyle/>
          <a:p>
            <a:pPr marL="457200" indent="-457200">
              <a:buFont typeface="Arial" panose="020B0604020202020204" pitchFamily="34" charset="0"/>
              <a:buChar char="•"/>
            </a:pPr>
            <a:r>
              <a:rPr lang="en-US" sz="2800" dirty="0"/>
              <a:t>Generate a </a:t>
            </a:r>
            <a:r>
              <a:rPr lang="en-US" sz="2800" dirty="0">
                <a:solidFill>
                  <a:srgbClr val="C00000"/>
                </a:solidFill>
              </a:rPr>
              <a:t>symmetric</a:t>
            </a:r>
            <a:r>
              <a:rPr lang="en-US" sz="2800" dirty="0"/>
              <a:t> cryptographic key over a </a:t>
            </a:r>
            <a:r>
              <a:rPr lang="en-US" sz="2800" dirty="0">
                <a:solidFill>
                  <a:srgbClr val="C00000"/>
                </a:solidFill>
              </a:rPr>
              <a:t>public</a:t>
            </a:r>
            <a:r>
              <a:rPr lang="en-US" sz="2800" dirty="0"/>
              <a:t> channel</a:t>
            </a:r>
          </a:p>
        </p:txBody>
      </p:sp>
    </p:spTree>
    <p:extLst>
      <p:ext uri="{BB962C8B-B14F-4D97-AF65-F5344CB8AC3E}">
        <p14:creationId xmlns:p14="http://schemas.microsoft.com/office/powerpoint/2010/main" val="955277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64CB4-A9EE-9F29-4F7F-2ECCFB858C29}"/>
              </a:ext>
            </a:extLst>
          </p:cNvPr>
          <p:cNvSpPr>
            <a:spLocks noGrp="1"/>
          </p:cNvSpPr>
          <p:nvPr>
            <p:ph type="title"/>
          </p:nvPr>
        </p:nvSpPr>
        <p:spPr>
          <a:xfrm>
            <a:off x="838200" y="92564"/>
            <a:ext cx="10515600" cy="900967"/>
          </a:xfrm>
        </p:spPr>
        <p:txBody>
          <a:bodyPr>
            <a:normAutofit/>
          </a:bodyPr>
          <a:lstStyle/>
          <a:p>
            <a:pPr>
              <a:spcAft>
                <a:spcPts val="600"/>
              </a:spcAft>
            </a:pPr>
            <a:r>
              <a:rPr lang="en" sz="4000" dirty="0"/>
              <a:t>Discrete Log Problem and Diffie-Hellman Problem</a:t>
            </a:r>
          </a:p>
        </p:txBody>
      </p:sp>
      <p:sp>
        <p:nvSpPr>
          <p:cNvPr id="3" name="Content Placeholder 2">
            <a:extLst>
              <a:ext uri="{FF2B5EF4-FFF2-40B4-BE49-F238E27FC236}">
                <a16:creationId xmlns:a16="http://schemas.microsoft.com/office/drawing/2014/main" id="{8DC30930-4C50-0837-D1BA-8DDDE75E0784}"/>
              </a:ext>
            </a:extLst>
          </p:cNvPr>
          <p:cNvSpPr>
            <a:spLocks noGrp="1"/>
          </p:cNvSpPr>
          <p:nvPr>
            <p:ph idx="1"/>
          </p:nvPr>
        </p:nvSpPr>
        <p:spPr>
          <a:xfrm>
            <a:off x="300990" y="2127855"/>
            <a:ext cx="11590020" cy="2602289"/>
          </a:xfrm>
        </p:spPr>
        <p:txBody>
          <a:bodyPr>
            <a:normAutofit/>
          </a:bodyPr>
          <a:lstStyle/>
          <a:p>
            <a:pPr marL="457200" lvl="0" indent="-342900" algn="l" rtl="0">
              <a:spcBef>
                <a:spcPts val="0"/>
              </a:spcBef>
              <a:spcAft>
                <a:spcPts val="600"/>
              </a:spcAft>
              <a:buSzPts val="1800"/>
              <a:buChar char="●"/>
            </a:pPr>
            <a:r>
              <a:rPr lang="en-US" dirty="0"/>
              <a:t>Assume everyone knows a </a:t>
            </a:r>
            <a:r>
              <a:rPr lang="en-US" b="1" dirty="0">
                <a:solidFill>
                  <a:srgbClr val="C00000"/>
                </a:solidFill>
              </a:rPr>
              <a:t>large prime </a:t>
            </a:r>
            <a:r>
              <a:rPr lang="en-US" b="1" i="1" dirty="0">
                <a:solidFill>
                  <a:srgbClr val="C00000"/>
                </a:solidFill>
              </a:rPr>
              <a:t>p</a:t>
            </a:r>
            <a:r>
              <a:rPr lang="en-US" b="1" dirty="0">
                <a:solidFill>
                  <a:srgbClr val="C00000"/>
                </a:solidFill>
              </a:rPr>
              <a:t> </a:t>
            </a:r>
            <a:r>
              <a:rPr lang="en-US" dirty="0"/>
              <a:t>(e.g. 2048 bits long) and a </a:t>
            </a:r>
            <a:r>
              <a:rPr lang="en-US" b="1" dirty="0">
                <a:solidFill>
                  <a:srgbClr val="C00000"/>
                </a:solidFill>
              </a:rPr>
              <a:t>generator </a:t>
            </a:r>
            <a:r>
              <a:rPr lang="en-US" b="1" i="1" dirty="0">
                <a:solidFill>
                  <a:srgbClr val="C00000"/>
                </a:solidFill>
              </a:rPr>
              <a:t>g</a:t>
            </a:r>
          </a:p>
          <a:p>
            <a:pPr marL="914400" lvl="1" indent="-342900">
              <a:spcBef>
                <a:spcPts val="0"/>
              </a:spcBef>
              <a:spcAft>
                <a:spcPts val="600"/>
              </a:spcAft>
              <a:buSzPts val="1800"/>
              <a:buChar char="●"/>
            </a:pPr>
            <a:r>
              <a:rPr lang="en-US" dirty="0"/>
              <a:t>Don’t worry about what a generator </a:t>
            </a:r>
            <a:r>
              <a:rPr lang="en-US" b="1" i="1" dirty="0"/>
              <a:t>g</a:t>
            </a:r>
            <a:r>
              <a:rPr lang="en-US" dirty="0"/>
              <a:t> is; just treat it as a number.</a:t>
            </a:r>
          </a:p>
          <a:p>
            <a:pPr marL="457200" lvl="0" indent="-342900" algn="l" rtl="0">
              <a:spcBef>
                <a:spcPts val="0"/>
              </a:spcBef>
              <a:spcAft>
                <a:spcPts val="600"/>
              </a:spcAft>
              <a:buSzPts val="1800"/>
              <a:buChar char="●"/>
            </a:pPr>
            <a:r>
              <a:rPr lang="en-US" b="1" dirty="0"/>
              <a:t>Discrete logarithm problem</a:t>
            </a:r>
            <a:r>
              <a:rPr lang="en-US" dirty="0"/>
              <a:t> (</a:t>
            </a:r>
            <a:r>
              <a:rPr lang="en-US" b="1" dirty="0"/>
              <a:t>discrete log problem</a:t>
            </a:r>
            <a:r>
              <a:rPr lang="en-US" dirty="0"/>
              <a:t>): </a:t>
            </a:r>
          </a:p>
          <a:p>
            <a:pPr marL="914400" lvl="1" indent="-342900">
              <a:spcBef>
                <a:spcPts val="0"/>
              </a:spcBef>
              <a:spcAft>
                <a:spcPts val="600"/>
              </a:spcAft>
              <a:buSzPts val="1800"/>
              <a:buChar char="●"/>
            </a:pPr>
            <a:r>
              <a:rPr lang="en-US" sz="2800" dirty="0"/>
              <a:t>Given </a:t>
            </a:r>
            <a:r>
              <a:rPr lang="en-US" sz="2800" i="1" dirty="0"/>
              <a:t>g, p</a:t>
            </a:r>
            <a:r>
              <a:rPr lang="en-US" sz="2800" dirty="0"/>
              <a:t>, </a:t>
            </a:r>
            <a:r>
              <a:rPr lang="en-US" sz="2800" i="1" dirty="0"/>
              <a:t>g</a:t>
            </a:r>
            <a:r>
              <a:rPr lang="en-US" sz="2800" i="1" baseline="30000" dirty="0"/>
              <a:t>a</a:t>
            </a:r>
            <a:r>
              <a:rPr lang="en-US" sz="2800" i="1" dirty="0"/>
              <a:t> </a:t>
            </a:r>
            <a:r>
              <a:rPr lang="en-US" sz="2800" dirty="0"/>
              <a:t>mod </a:t>
            </a:r>
            <a:r>
              <a:rPr lang="en-US" sz="2800" i="1" dirty="0"/>
              <a:t>p </a:t>
            </a:r>
            <a:r>
              <a:rPr lang="en-US" sz="2800" dirty="0"/>
              <a:t>for random </a:t>
            </a:r>
            <a:r>
              <a:rPr lang="en-US" sz="2800" i="1" dirty="0"/>
              <a:t>a</a:t>
            </a:r>
            <a:r>
              <a:rPr lang="en-US" sz="2800" dirty="0"/>
              <a:t>, it is </a:t>
            </a:r>
            <a:r>
              <a:rPr lang="en-US" sz="2800" dirty="0">
                <a:solidFill>
                  <a:srgbClr val="C00000"/>
                </a:solidFill>
              </a:rPr>
              <a:t>computationally hard to find </a:t>
            </a:r>
            <a:r>
              <a:rPr lang="en-US" sz="2800" i="1" dirty="0">
                <a:solidFill>
                  <a:srgbClr val="C00000"/>
                </a:solidFill>
              </a:rPr>
              <a:t>a</a:t>
            </a:r>
          </a:p>
          <a:p>
            <a:pPr marL="571500" lvl="1" indent="0">
              <a:spcBef>
                <a:spcPts val="0"/>
              </a:spcBef>
              <a:spcAft>
                <a:spcPts val="600"/>
              </a:spcAft>
              <a:buSzPts val="1800"/>
              <a:buNone/>
            </a:pPr>
            <a:endParaRPr lang="en-US" dirty="0"/>
          </a:p>
        </p:txBody>
      </p:sp>
    </p:spTree>
    <p:extLst>
      <p:ext uri="{BB962C8B-B14F-4D97-AF65-F5344CB8AC3E}">
        <p14:creationId xmlns:p14="http://schemas.microsoft.com/office/powerpoint/2010/main" val="2205488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1087C-F848-15E0-AD46-44E3554510EF}"/>
              </a:ext>
            </a:extLst>
          </p:cNvPr>
          <p:cNvSpPr>
            <a:spLocks noGrp="1"/>
          </p:cNvSpPr>
          <p:nvPr>
            <p:ph type="title"/>
          </p:nvPr>
        </p:nvSpPr>
        <p:spPr>
          <a:xfrm>
            <a:off x="838200" y="44712"/>
            <a:ext cx="10515600" cy="904419"/>
          </a:xfrm>
        </p:spPr>
        <p:txBody>
          <a:bodyPr>
            <a:normAutofit/>
          </a:bodyPr>
          <a:lstStyle/>
          <a:p>
            <a:r>
              <a:rPr lang="en" sz="4000" dirty="0"/>
              <a:t>Diffie-Hellman Key Exchange Protocol</a:t>
            </a:r>
            <a:endParaRPr lang="en-US" sz="4000" dirty="0"/>
          </a:p>
        </p:txBody>
      </p:sp>
      <p:sp>
        <p:nvSpPr>
          <p:cNvPr id="4" name="Google Shape;130;p25">
            <a:extLst>
              <a:ext uri="{FF2B5EF4-FFF2-40B4-BE49-F238E27FC236}">
                <a16:creationId xmlns:a16="http://schemas.microsoft.com/office/drawing/2014/main" id="{7C7F58DC-2C9A-BB5E-9729-0841FAD24543}"/>
              </a:ext>
            </a:extLst>
          </p:cNvPr>
          <p:cNvSpPr/>
          <p:nvPr/>
        </p:nvSpPr>
        <p:spPr>
          <a:xfrm>
            <a:off x="1717769" y="3547930"/>
            <a:ext cx="1466700" cy="280725"/>
          </a:xfrm>
          <a:custGeom>
            <a:avLst/>
            <a:gdLst/>
            <a:ahLst/>
            <a:cxnLst/>
            <a:rect l="l" t="t" r="r" b="b"/>
            <a:pathLst>
              <a:path w="58668" h="11229" extrusionOk="0">
                <a:moveTo>
                  <a:pt x="0" y="11229"/>
                </a:moveTo>
                <a:lnTo>
                  <a:pt x="58668" y="11229"/>
                </a:lnTo>
                <a:lnTo>
                  <a:pt x="58668" y="0"/>
                </a:lnTo>
              </a:path>
            </a:pathLst>
          </a:custGeom>
          <a:noFill/>
          <a:ln w="9525" cap="flat" cmpd="sng">
            <a:solidFill>
              <a:schemeClr val="dk2"/>
            </a:solidFill>
            <a:prstDash val="solid"/>
            <a:round/>
            <a:headEnd type="none" w="med" len="med"/>
            <a:tailEnd type="triangle" w="med" len="med"/>
          </a:ln>
        </p:spPr>
        <p:txBody>
          <a:bodyPr/>
          <a:lstStyle/>
          <a:p>
            <a:endParaRPr lang="en-US" sz="2200"/>
          </a:p>
        </p:txBody>
      </p:sp>
      <p:cxnSp>
        <p:nvCxnSpPr>
          <p:cNvPr id="6" name="Google Shape;133;p25">
            <a:extLst>
              <a:ext uri="{FF2B5EF4-FFF2-40B4-BE49-F238E27FC236}">
                <a16:creationId xmlns:a16="http://schemas.microsoft.com/office/drawing/2014/main" id="{5266E531-345C-A8EC-2C4C-17653D7C39AD}"/>
              </a:ext>
            </a:extLst>
          </p:cNvPr>
          <p:cNvCxnSpPr/>
          <p:nvPr/>
        </p:nvCxnSpPr>
        <p:spPr>
          <a:xfrm>
            <a:off x="4835547" y="2296421"/>
            <a:ext cx="0" cy="3309600"/>
          </a:xfrm>
          <a:prstGeom prst="straightConnector1">
            <a:avLst/>
          </a:prstGeom>
          <a:noFill/>
          <a:ln w="9525" cap="flat" cmpd="sng">
            <a:solidFill>
              <a:schemeClr val="dk2"/>
            </a:solidFill>
            <a:prstDash val="solid"/>
            <a:round/>
            <a:headEnd type="none" w="med" len="med"/>
            <a:tailEnd type="none" w="med" len="med"/>
          </a:ln>
        </p:spPr>
      </p:cxnSp>
      <p:cxnSp>
        <p:nvCxnSpPr>
          <p:cNvPr id="7" name="Google Shape;134;p25">
            <a:extLst>
              <a:ext uri="{FF2B5EF4-FFF2-40B4-BE49-F238E27FC236}">
                <a16:creationId xmlns:a16="http://schemas.microsoft.com/office/drawing/2014/main" id="{D520ECF3-6936-1905-BBEF-FBCD1E2BB7DD}"/>
              </a:ext>
            </a:extLst>
          </p:cNvPr>
          <p:cNvCxnSpPr/>
          <p:nvPr/>
        </p:nvCxnSpPr>
        <p:spPr>
          <a:xfrm>
            <a:off x="7456822" y="2296421"/>
            <a:ext cx="0" cy="3309600"/>
          </a:xfrm>
          <a:prstGeom prst="straightConnector1">
            <a:avLst/>
          </a:prstGeom>
          <a:noFill/>
          <a:ln w="9525" cap="flat" cmpd="sng">
            <a:solidFill>
              <a:schemeClr val="dk2"/>
            </a:solidFill>
            <a:prstDash val="solid"/>
            <a:round/>
            <a:headEnd type="none" w="med" len="med"/>
            <a:tailEnd type="none" w="med" len="med"/>
          </a:ln>
        </p:spPr>
      </p:cxnSp>
      <p:sp>
        <p:nvSpPr>
          <p:cNvPr id="8" name="Google Shape;135;p25">
            <a:extLst>
              <a:ext uri="{FF2B5EF4-FFF2-40B4-BE49-F238E27FC236}">
                <a16:creationId xmlns:a16="http://schemas.microsoft.com/office/drawing/2014/main" id="{0F464DC3-0B3B-6534-806B-45B4CAEEFB4E}"/>
              </a:ext>
            </a:extLst>
          </p:cNvPr>
          <p:cNvSpPr txBox="1"/>
          <p:nvPr/>
        </p:nvSpPr>
        <p:spPr>
          <a:xfrm>
            <a:off x="2778522" y="1855904"/>
            <a:ext cx="810900" cy="52319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dirty="0"/>
              <a:t>Alice</a:t>
            </a:r>
            <a:endParaRPr sz="2200" dirty="0"/>
          </a:p>
        </p:txBody>
      </p:sp>
      <p:sp>
        <p:nvSpPr>
          <p:cNvPr id="9" name="Google Shape;136;p25">
            <a:extLst>
              <a:ext uri="{FF2B5EF4-FFF2-40B4-BE49-F238E27FC236}">
                <a16:creationId xmlns:a16="http://schemas.microsoft.com/office/drawing/2014/main" id="{B4FD92A9-C7AF-BFF8-D112-9A1A25EC5BC9}"/>
              </a:ext>
            </a:extLst>
          </p:cNvPr>
          <p:cNvSpPr txBox="1"/>
          <p:nvPr/>
        </p:nvSpPr>
        <p:spPr>
          <a:xfrm>
            <a:off x="5740723" y="2296421"/>
            <a:ext cx="810900" cy="37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dirty="0">
                <a:solidFill>
                  <a:srgbClr val="FFFFFF"/>
                </a:solidFill>
                <a:latin typeface="Lato"/>
                <a:ea typeface="Lato"/>
                <a:cs typeface="Lato"/>
                <a:sym typeface="Lato"/>
              </a:rPr>
              <a:t>Mallory</a:t>
            </a:r>
            <a:endParaRPr sz="2200" dirty="0">
              <a:solidFill>
                <a:srgbClr val="FFFFFF"/>
              </a:solidFill>
              <a:latin typeface="Lato"/>
              <a:ea typeface="Lato"/>
              <a:cs typeface="Lato"/>
              <a:sym typeface="Lato"/>
            </a:endParaRPr>
          </a:p>
        </p:txBody>
      </p:sp>
      <p:sp>
        <p:nvSpPr>
          <p:cNvPr id="10" name="Google Shape;137;p25">
            <a:extLst>
              <a:ext uri="{FF2B5EF4-FFF2-40B4-BE49-F238E27FC236}">
                <a16:creationId xmlns:a16="http://schemas.microsoft.com/office/drawing/2014/main" id="{3ED9B7E5-42EE-3008-D1B8-5B8B85F06C6A}"/>
              </a:ext>
            </a:extLst>
          </p:cNvPr>
          <p:cNvSpPr txBox="1"/>
          <p:nvPr/>
        </p:nvSpPr>
        <p:spPr>
          <a:xfrm>
            <a:off x="8895719" y="1855904"/>
            <a:ext cx="810900" cy="52319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dirty="0"/>
              <a:t>Bob</a:t>
            </a:r>
            <a:endParaRPr sz="2200" dirty="0"/>
          </a:p>
        </p:txBody>
      </p:sp>
      <p:sp>
        <p:nvSpPr>
          <p:cNvPr id="11" name="Google Shape;138;p25">
            <a:extLst>
              <a:ext uri="{FF2B5EF4-FFF2-40B4-BE49-F238E27FC236}">
                <a16:creationId xmlns:a16="http://schemas.microsoft.com/office/drawing/2014/main" id="{C15A0AB9-D6B1-7B07-3ACB-3FC72BDF298A}"/>
              </a:ext>
            </a:extLst>
          </p:cNvPr>
          <p:cNvSpPr txBox="1"/>
          <p:nvPr/>
        </p:nvSpPr>
        <p:spPr>
          <a:xfrm>
            <a:off x="1455017" y="2382120"/>
            <a:ext cx="3383280" cy="289306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dirty="0"/>
              <a:t>Generate </a:t>
            </a:r>
            <a:r>
              <a:rPr lang="en" sz="2200" i="1" dirty="0">
                <a:solidFill>
                  <a:srgbClr val="E69138"/>
                </a:solidFill>
              </a:rPr>
              <a:t>a</a:t>
            </a:r>
            <a:endParaRPr sz="2200" i="1" dirty="0">
              <a:solidFill>
                <a:srgbClr val="E69138"/>
              </a:solidFill>
            </a:endParaRPr>
          </a:p>
          <a:p>
            <a:pPr marL="0" lvl="0" indent="0" algn="ctr" rtl="0">
              <a:spcBef>
                <a:spcPts val="0"/>
              </a:spcBef>
              <a:spcAft>
                <a:spcPts val="0"/>
              </a:spcAft>
              <a:buNone/>
            </a:pPr>
            <a:endParaRPr sz="2200" dirty="0"/>
          </a:p>
          <a:p>
            <a:pPr marL="0" lvl="0" indent="0" algn="ctr" rtl="0">
              <a:spcBef>
                <a:spcPts val="0"/>
              </a:spcBef>
              <a:spcAft>
                <a:spcPts val="0"/>
              </a:spcAft>
              <a:buNone/>
            </a:pPr>
            <a:r>
              <a:rPr lang="en" sz="2200" dirty="0"/>
              <a:t>Calculate </a:t>
            </a:r>
            <a:r>
              <a:rPr lang="en" sz="2200" i="1" dirty="0"/>
              <a:t>g</a:t>
            </a:r>
            <a:r>
              <a:rPr lang="en" sz="2200" i="1" baseline="30000" dirty="0">
                <a:solidFill>
                  <a:srgbClr val="E69138"/>
                </a:solidFill>
              </a:rPr>
              <a:t>a</a:t>
            </a:r>
            <a:r>
              <a:rPr lang="en" sz="2200" dirty="0"/>
              <a:t> mod </a:t>
            </a:r>
            <a:r>
              <a:rPr lang="en" sz="2200" i="1" dirty="0"/>
              <a:t>p</a:t>
            </a:r>
            <a:endParaRPr sz="2200" i="1" dirty="0"/>
          </a:p>
          <a:p>
            <a:pPr marL="0" lvl="0" indent="0" algn="ctr" rtl="0">
              <a:spcBef>
                <a:spcPts val="0"/>
              </a:spcBef>
              <a:spcAft>
                <a:spcPts val="0"/>
              </a:spcAft>
              <a:buNone/>
            </a:pPr>
            <a:endParaRPr sz="2200" dirty="0"/>
          </a:p>
          <a:p>
            <a:pPr marL="0" lvl="0" indent="0" algn="ctr" rtl="0">
              <a:spcBef>
                <a:spcPts val="0"/>
              </a:spcBef>
              <a:spcAft>
                <a:spcPts val="0"/>
              </a:spcAft>
              <a:buNone/>
            </a:pPr>
            <a:endParaRPr sz="2200" dirty="0"/>
          </a:p>
          <a:p>
            <a:pPr marL="0" lvl="0" indent="0" algn="ctr" rtl="0">
              <a:spcBef>
                <a:spcPts val="0"/>
              </a:spcBef>
              <a:spcAft>
                <a:spcPts val="0"/>
              </a:spcAft>
              <a:buNone/>
            </a:pPr>
            <a:r>
              <a:rPr lang="en" sz="2200" dirty="0"/>
              <a:t>Receive </a:t>
            </a:r>
            <a:r>
              <a:rPr lang="en" sz="2200" i="1" dirty="0"/>
              <a:t>g</a:t>
            </a:r>
            <a:r>
              <a:rPr lang="en" sz="2200" i="1" baseline="30000" dirty="0">
                <a:solidFill>
                  <a:srgbClr val="1155CC"/>
                </a:solidFill>
              </a:rPr>
              <a:t>b</a:t>
            </a:r>
            <a:r>
              <a:rPr lang="en" sz="2200" dirty="0"/>
              <a:t> mod </a:t>
            </a:r>
            <a:r>
              <a:rPr lang="en" sz="2200" i="1" dirty="0"/>
              <a:t>p</a:t>
            </a:r>
            <a:endParaRPr sz="2200" i="1" dirty="0"/>
          </a:p>
          <a:p>
            <a:pPr marL="0" lvl="0" indent="0" algn="ctr" rtl="0">
              <a:spcBef>
                <a:spcPts val="0"/>
              </a:spcBef>
              <a:spcAft>
                <a:spcPts val="0"/>
              </a:spcAft>
              <a:buNone/>
            </a:pPr>
            <a:endParaRPr sz="2200" dirty="0"/>
          </a:p>
          <a:p>
            <a:pPr marL="0" lvl="0" indent="0" algn="ctr" rtl="0">
              <a:spcBef>
                <a:spcPts val="0"/>
              </a:spcBef>
              <a:spcAft>
                <a:spcPts val="0"/>
              </a:spcAft>
              <a:buNone/>
            </a:pPr>
            <a:r>
              <a:rPr lang="en" sz="2200" dirty="0"/>
              <a:t>Calculate (</a:t>
            </a:r>
            <a:r>
              <a:rPr lang="en" sz="2200" i="1" dirty="0"/>
              <a:t>g</a:t>
            </a:r>
            <a:r>
              <a:rPr lang="en" sz="2200" i="1" baseline="30000" dirty="0">
                <a:solidFill>
                  <a:srgbClr val="1155CC"/>
                </a:solidFill>
              </a:rPr>
              <a:t>b</a:t>
            </a:r>
            <a:r>
              <a:rPr lang="en" sz="2200" dirty="0"/>
              <a:t>)</a:t>
            </a:r>
            <a:r>
              <a:rPr lang="en" sz="2200" i="1" baseline="30000" dirty="0">
                <a:solidFill>
                  <a:srgbClr val="E69138"/>
                </a:solidFill>
              </a:rPr>
              <a:t>a</a:t>
            </a:r>
            <a:r>
              <a:rPr lang="en" sz="2200" dirty="0"/>
              <a:t> mod </a:t>
            </a:r>
            <a:r>
              <a:rPr lang="en" sz="2200" i="1" dirty="0"/>
              <a:t>p</a:t>
            </a:r>
            <a:endParaRPr sz="2200" i="1" dirty="0"/>
          </a:p>
        </p:txBody>
      </p:sp>
      <p:sp>
        <p:nvSpPr>
          <p:cNvPr id="12" name="Google Shape;139;p25">
            <a:extLst>
              <a:ext uri="{FF2B5EF4-FFF2-40B4-BE49-F238E27FC236}">
                <a16:creationId xmlns:a16="http://schemas.microsoft.com/office/drawing/2014/main" id="{4FA80B9B-AF4F-622E-8C44-1C53CC308E28}"/>
              </a:ext>
            </a:extLst>
          </p:cNvPr>
          <p:cNvSpPr txBox="1"/>
          <p:nvPr/>
        </p:nvSpPr>
        <p:spPr>
          <a:xfrm>
            <a:off x="7609529" y="2382120"/>
            <a:ext cx="3383280" cy="289306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dirty="0"/>
              <a:t>Generate </a:t>
            </a:r>
            <a:r>
              <a:rPr lang="en" sz="2200" i="1" dirty="0">
                <a:solidFill>
                  <a:srgbClr val="1155CC"/>
                </a:solidFill>
              </a:rPr>
              <a:t>b</a:t>
            </a:r>
            <a:endParaRPr sz="2200" i="1" dirty="0">
              <a:solidFill>
                <a:srgbClr val="1155CC"/>
              </a:solidFill>
            </a:endParaRPr>
          </a:p>
          <a:p>
            <a:pPr marL="0" lvl="0" indent="0" algn="ctr" rtl="0">
              <a:spcBef>
                <a:spcPts val="0"/>
              </a:spcBef>
              <a:spcAft>
                <a:spcPts val="0"/>
              </a:spcAft>
              <a:buNone/>
            </a:pPr>
            <a:endParaRPr sz="2200" dirty="0"/>
          </a:p>
          <a:p>
            <a:pPr marL="0" lvl="0" indent="0" algn="ctr" rtl="0">
              <a:spcBef>
                <a:spcPts val="0"/>
              </a:spcBef>
              <a:spcAft>
                <a:spcPts val="0"/>
              </a:spcAft>
              <a:buNone/>
            </a:pPr>
            <a:r>
              <a:rPr lang="en" sz="2200" dirty="0"/>
              <a:t>Calculate </a:t>
            </a:r>
            <a:r>
              <a:rPr lang="en" sz="2200" i="1" dirty="0"/>
              <a:t>g</a:t>
            </a:r>
            <a:r>
              <a:rPr lang="en" sz="2200" i="1" baseline="30000" dirty="0">
                <a:solidFill>
                  <a:srgbClr val="1155CC"/>
                </a:solidFill>
              </a:rPr>
              <a:t>b</a:t>
            </a:r>
            <a:r>
              <a:rPr lang="en" sz="2200" dirty="0"/>
              <a:t> mod </a:t>
            </a:r>
            <a:r>
              <a:rPr lang="en" sz="2200" i="1" dirty="0"/>
              <a:t>p</a:t>
            </a:r>
            <a:endParaRPr lang="en-US" sz="2200" i="1" dirty="0"/>
          </a:p>
          <a:p>
            <a:pPr marL="0" lvl="0" indent="0" algn="ctr" rtl="0">
              <a:spcBef>
                <a:spcPts val="0"/>
              </a:spcBef>
              <a:spcAft>
                <a:spcPts val="0"/>
              </a:spcAft>
              <a:buNone/>
            </a:pPr>
            <a:endParaRPr lang="en-US" sz="2200" dirty="0"/>
          </a:p>
          <a:p>
            <a:pPr marL="0" lvl="0" indent="0" algn="ctr" rtl="0">
              <a:spcBef>
                <a:spcPts val="0"/>
              </a:spcBef>
              <a:spcAft>
                <a:spcPts val="0"/>
              </a:spcAft>
              <a:buNone/>
            </a:pPr>
            <a:endParaRPr sz="2200" dirty="0"/>
          </a:p>
          <a:p>
            <a:pPr marL="0" lvl="0" indent="0" algn="ctr" rtl="0">
              <a:spcBef>
                <a:spcPts val="0"/>
              </a:spcBef>
              <a:spcAft>
                <a:spcPts val="0"/>
              </a:spcAft>
              <a:buNone/>
            </a:pPr>
            <a:r>
              <a:rPr lang="en" sz="2200" dirty="0"/>
              <a:t>Receive </a:t>
            </a:r>
            <a:r>
              <a:rPr lang="en" sz="2200" i="1" dirty="0"/>
              <a:t>g</a:t>
            </a:r>
            <a:r>
              <a:rPr lang="en" sz="2200" i="1" baseline="30000" dirty="0">
                <a:solidFill>
                  <a:srgbClr val="E69138"/>
                </a:solidFill>
              </a:rPr>
              <a:t>a</a:t>
            </a:r>
            <a:r>
              <a:rPr lang="en" sz="2200" dirty="0"/>
              <a:t> mod </a:t>
            </a:r>
            <a:r>
              <a:rPr lang="en" sz="2200" i="1" dirty="0"/>
              <a:t>p</a:t>
            </a:r>
            <a:endParaRPr sz="2200" i="1" dirty="0"/>
          </a:p>
          <a:p>
            <a:pPr marL="0" lvl="0" indent="0" algn="ctr" rtl="0">
              <a:spcBef>
                <a:spcPts val="0"/>
              </a:spcBef>
              <a:spcAft>
                <a:spcPts val="0"/>
              </a:spcAft>
              <a:buNone/>
            </a:pPr>
            <a:endParaRPr sz="2200" dirty="0"/>
          </a:p>
          <a:p>
            <a:pPr marL="0" lvl="0" indent="0" algn="ctr" rtl="0">
              <a:spcBef>
                <a:spcPts val="0"/>
              </a:spcBef>
              <a:spcAft>
                <a:spcPts val="0"/>
              </a:spcAft>
              <a:buNone/>
            </a:pPr>
            <a:r>
              <a:rPr lang="en" sz="2200" dirty="0"/>
              <a:t>Calculate (</a:t>
            </a:r>
            <a:r>
              <a:rPr lang="en" sz="2200" i="1" dirty="0"/>
              <a:t>g</a:t>
            </a:r>
            <a:r>
              <a:rPr lang="en" sz="2200" i="1" baseline="30000" dirty="0">
                <a:solidFill>
                  <a:srgbClr val="E69138"/>
                </a:solidFill>
              </a:rPr>
              <a:t>a</a:t>
            </a:r>
            <a:r>
              <a:rPr lang="en" sz="2200" dirty="0"/>
              <a:t>)</a:t>
            </a:r>
            <a:r>
              <a:rPr lang="en" sz="2200" i="1" baseline="30000" dirty="0">
                <a:solidFill>
                  <a:srgbClr val="1155CC"/>
                </a:solidFill>
              </a:rPr>
              <a:t>b</a:t>
            </a:r>
            <a:r>
              <a:rPr lang="en" sz="2200" dirty="0"/>
              <a:t> mod </a:t>
            </a:r>
            <a:r>
              <a:rPr lang="en" sz="2200" i="1" dirty="0"/>
              <a:t>p</a:t>
            </a:r>
            <a:endParaRPr sz="2200" i="1" dirty="0"/>
          </a:p>
        </p:txBody>
      </p:sp>
      <p:grpSp>
        <p:nvGrpSpPr>
          <p:cNvPr id="13" name="Google Shape;140;p25">
            <a:extLst>
              <a:ext uri="{FF2B5EF4-FFF2-40B4-BE49-F238E27FC236}">
                <a16:creationId xmlns:a16="http://schemas.microsoft.com/office/drawing/2014/main" id="{32C0B9B8-E573-DD29-DD2E-DE4DCFB66070}"/>
              </a:ext>
            </a:extLst>
          </p:cNvPr>
          <p:cNvGrpSpPr/>
          <p:nvPr/>
        </p:nvGrpSpPr>
        <p:grpSpPr>
          <a:xfrm>
            <a:off x="4529092" y="3250077"/>
            <a:ext cx="3333000" cy="1034575"/>
            <a:chOff x="2961600" y="2321275"/>
            <a:chExt cx="3333000" cy="1034575"/>
          </a:xfrm>
        </p:grpSpPr>
        <p:cxnSp>
          <p:nvCxnSpPr>
            <p:cNvPr id="14" name="Google Shape;141;p25">
              <a:extLst>
                <a:ext uri="{FF2B5EF4-FFF2-40B4-BE49-F238E27FC236}">
                  <a16:creationId xmlns:a16="http://schemas.microsoft.com/office/drawing/2014/main" id="{307CBDA7-776D-5587-BB4B-298C3DFEBDFC}"/>
                </a:ext>
              </a:extLst>
            </p:cNvPr>
            <p:cNvCxnSpPr/>
            <p:nvPr/>
          </p:nvCxnSpPr>
          <p:spPr>
            <a:xfrm>
              <a:off x="2961600" y="2544650"/>
              <a:ext cx="3333000" cy="811200"/>
            </a:xfrm>
            <a:prstGeom prst="straightConnector1">
              <a:avLst/>
            </a:prstGeom>
            <a:noFill/>
            <a:ln w="9525" cap="flat" cmpd="sng">
              <a:solidFill>
                <a:schemeClr val="dk2"/>
              </a:solidFill>
              <a:prstDash val="solid"/>
              <a:round/>
              <a:headEnd type="none" w="med" len="med"/>
              <a:tailEnd type="triangle" w="med" len="med"/>
            </a:ln>
          </p:spPr>
        </p:cxnSp>
        <p:sp>
          <p:nvSpPr>
            <p:cNvPr id="15" name="Google Shape;142;p25">
              <a:extLst>
                <a:ext uri="{FF2B5EF4-FFF2-40B4-BE49-F238E27FC236}">
                  <a16:creationId xmlns:a16="http://schemas.microsoft.com/office/drawing/2014/main" id="{66A37D21-21A6-BC0C-B7C7-169C572868C4}"/>
                </a:ext>
              </a:extLst>
            </p:cNvPr>
            <p:cNvSpPr txBox="1"/>
            <p:nvPr/>
          </p:nvSpPr>
          <p:spPr>
            <a:xfrm>
              <a:off x="3448324" y="2321275"/>
              <a:ext cx="680825" cy="52319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i="1" dirty="0"/>
                <a:t>g</a:t>
              </a:r>
              <a:r>
                <a:rPr lang="en" sz="2200" i="1" baseline="30000" dirty="0">
                  <a:solidFill>
                    <a:srgbClr val="E69138"/>
                  </a:solidFill>
                </a:rPr>
                <a:t>a</a:t>
              </a:r>
              <a:endParaRPr sz="2200" i="1" baseline="30000" dirty="0">
                <a:solidFill>
                  <a:srgbClr val="E69138"/>
                </a:solidFill>
                <a:latin typeface="Lato"/>
                <a:ea typeface="Lato"/>
                <a:cs typeface="Lato"/>
                <a:sym typeface="Lato"/>
              </a:endParaRPr>
            </a:p>
          </p:txBody>
        </p:sp>
      </p:grpSp>
      <p:grpSp>
        <p:nvGrpSpPr>
          <p:cNvPr id="16" name="Google Shape;143;p25">
            <a:extLst>
              <a:ext uri="{FF2B5EF4-FFF2-40B4-BE49-F238E27FC236}">
                <a16:creationId xmlns:a16="http://schemas.microsoft.com/office/drawing/2014/main" id="{5550B7EA-7692-A3CF-689B-975C78D821AD}"/>
              </a:ext>
            </a:extLst>
          </p:cNvPr>
          <p:cNvGrpSpPr/>
          <p:nvPr/>
        </p:nvGrpSpPr>
        <p:grpSpPr>
          <a:xfrm>
            <a:off x="4449138" y="3285853"/>
            <a:ext cx="3403500" cy="1005175"/>
            <a:chOff x="2891100" y="2321275"/>
            <a:chExt cx="3403500" cy="1005175"/>
          </a:xfrm>
        </p:grpSpPr>
        <p:cxnSp>
          <p:nvCxnSpPr>
            <p:cNvPr id="17" name="Google Shape;144;p25">
              <a:extLst>
                <a:ext uri="{FF2B5EF4-FFF2-40B4-BE49-F238E27FC236}">
                  <a16:creationId xmlns:a16="http://schemas.microsoft.com/office/drawing/2014/main" id="{FBF27C17-1C2D-0D65-8558-9B5A5EE6BD21}"/>
                </a:ext>
              </a:extLst>
            </p:cNvPr>
            <p:cNvCxnSpPr/>
            <p:nvPr/>
          </p:nvCxnSpPr>
          <p:spPr>
            <a:xfrm flipH="1">
              <a:off x="2891100" y="2544650"/>
              <a:ext cx="3403500" cy="781800"/>
            </a:xfrm>
            <a:prstGeom prst="straightConnector1">
              <a:avLst/>
            </a:prstGeom>
            <a:noFill/>
            <a:ln w="9525" cap="flat" cmpd="sng">
              <a:solidFill>
                <a:schemeClr val="dk2"/>
              </a:solidFill>
              <a:prstDash val="solid"/>
              <a:round/>
              <a:headEnd type="none" w="med" len="med"/>
              <a:tailEnd type="triangle" w="med" len="med"/>
            </a:ln>
          </p:spPr>
        </p:cxnSp>
        <p:sp>
          <p:nvSpPr>
            <p:cNvPr id="18" name="Google Shape;145;p25">
              <a:extLst>
                <a:ext uri="{FF2B5EF4-FFF2-40B4-BE49-F238E27FC236}">
                  <a16:creationId xmlns:a16="http://schemas.microsoft.com/office/drawing/2014/main" id="{A9C9B63F-2B88-2758-66C8-3CEB280EED89}"/>
                </a:ext>
              </a:extLst>
            </p:cNvPr>
            <p:cNvSpPr txBox="1"/>
            <p:nvPr/>
          </p:nvSpPr>
          <p:spPr>
            <a:xfrm>
              <a:off x="5293675" y="2321275"/>
              <a:ext cx="599674" cy="52319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i="1" dirty="0"/>
                <a:t>g</a:t>
              </a:r>
              <a:r>
                <a:rPr lang="en" sz="2200" i="1" baseline="30000" dirty="0">
                  <a:solidFill>
                    <a:srgbClr val="1155CC"/>
                  </a:solidFill>
                </a:rPr>
                <a:t>b</a:t>
              </a:r>
              <a:endParaRPr sz="2200" i="1" baseline="30000" dirty="0">
                <a:solidFill>
                  <a:srgbClr val="1155CC"/>
                </a:solidFill>
              </a:endParaRPr>
            </a:p>
          </p:txBody>
        </p:sp>
      </p:grpSp>
      <p:sp>
        <p:nvSpPr>
          <p:cNvPr id="19" name="Google Shape;146;p25">
            <a:extLst>
              <a:ext uri="{FF2B5EF4-FFF2-40B4-BE49-F238E27FC236}">
                <a16:creationId xmlns:a16="http://schemas.microsoft.com/office/drawing/2014/main" id="{BB7B6C18-23ED-01FA-BB12-2141426E0054}"/>
              </a:ext>
            </a:extLst>
          </p:cNvPr>
          <p:cNvSpPr txBox="1"/>
          <p:nvPr/>
        </p:nvSpPr>
        <p:spPr>
          <a:xfrm>
            <a:off x="2210463" y="5418322"/>
            <a:ext cx="1861121" cy="52319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i="1" dirty="0">
                <a:solidFill>
                  <a:srgbClr val="E69138"/>
                </a:solidFill>
              </a:rPr>
              <a:t>a</a:t>
            </a:r>
            <a:r>
              <a:rPr lang="en" sz="2200" dirty="0"/>
              <a:t>, </a:t>
            </a:r>
            <a:r>
              <a:rPr lang="en" sz="2200" i="1" dirty="0"/>
              <a:t>g</a:t>
            </a:r>
            <a:r>
              <a:rPr lang="en" sz="2200" i="1" baseline="30000" dirty="0">
                <a:solidFill>
                  <a:srgbClr val="E69138"/>
                </a:solidFill>
              </a:rPr>
              <a:t>a</a:t>
            </a:r>
            <a:r>
              <a:rPr lang="en" sz="2200" dirty="0"/>
              <a:t>, </a:t>
            </a:r>
            <a:r>
              <a:rPr lang="en" sz="2200" i="1" dirty="0"/>
              <a:t>g</a:t>
            </a:r>
            <a:r>
              <a:rPr lang="en" sz="2200" i="1" baseline="30000" dirty="0">
                <a:solidFill>
                  <a:srgbClr val="1155CC"/>
                </a:solidFill>
              </a:rPr>
              <a:t>b</a:t>
            </a:r>
            <a:r>
              <a:rPr lang="en" sz="2200" dirty="0"/>
              <a:t> ⇒ </a:t>
            </a:r>
            <a:r>
              <a:rPr lang="en" sz="2200" i="1" dirty="0"/>
              <a:t>g</a:t>
            </a:r>
            <a:r>
              <a:rPr lang="en" sz="2200" i="1" baseline="30000" dirty="0">
                <a:solidFill>
                  <a:srgbClr val="E69138"/>
                </a:solidFill>
              </a:rPr>
              <a:t>a</a:t>
            </a:r>
            <a:r>
              <a:rPr lang="en" sz="2200" i="1" baseline="30000" dirty="0">
                <a:solidFill>
                  <a:srgbClr val="1155CC"/>
                </a:solidFill>
              </a:rPr>
              <a:t>b</a:t>
            </a:r>
            <a:endParaRPr sz="2200" i="1" baseline="30000" dirty="0">
              <a:solidFill>
                <a:srgbClr val="1155CC"/>
              </a:solidFill>
            </a:endParaRPr>
          </a:p>
        </p:txBody>
      </p:sp>
      <p:sp>
        <p:nvSpPr>
          <p:cNvPr id="20" name="Google Shape;147;p25">
            <a:extLst>
              <a:ext uri="{FF2B5EF4-FFF2-40B4-BE49-F238E27FC236}">
                <a16:creationId xmlns:a16="http://schemas.microsoft.com/office/drawing/2014/main" id="{32138584-7386-67E0-5ABE-FDB1CEFCD8D8}"/>
              </a:ext>
            </a:extLst>
          </p:cNvPr>
          <p:cNvSpPr txBox="1"/>
          <p:nvPr/>
        </p:nvSpPr>
        <p:spPr>
          <a:xfrm>
            <a:off x="7852638" y="5421881"/>
            <a:ext cx="2419877" cy="52319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i="1" dirty="0">
                <a:solidFill>
                  <a:srgbClr val="1155CC"/>
                </a:solidFill>
              </a:rPr>
              <a:t>b</a:t>
            </a:r>
            <a:r>
              <a:rPr lang="en" sz="2200" dirty="0"/>
              <a:t>, </a:t>
            </a:r>
            <a:r>
              <a:rPr lang="en" sz="2200" i="1" dirty="0"/>
              <a:t>g</a:t>
            </a:r>
            <a:r>
              <a:rPr lang="en" sz="2200" i="1" baseline="30000" dirty="0">
                <a:solidFill>
                  <a:srgbClr val="E69138"/>
                </a:solidFill>
              </a:rPr>
              <a:t>a</a:t>
            </a:r>
            <a:r>
              <a:rPr lang="en" sz="2200" dirty="0"/>
              <a:t>, </a:t>
            </a:r>
            <a:r>
              <a:rPr lang="en" sz="2200" i="1" dirty="0"/>
              <a:t>g</a:t>
            </a:r>
            <a:r>
              <a:rPr lang="en" sz="2200" i="1" baseline="30000" dirty="0">
                <a:solidFill>
                  <a:srgbClr val="1155CC"/>
                </a:solidFill>
              </a:rPr>
              <a:t>b</a:t>
            </a:r>
            <a:r>
              <a:rPr lang="en" sz="2200" dirty="0"/>
              <a:t> ⇒ </a:t>
            </a:r>
            <a:r>
              <a:rPr lang="en" sz="2200" i="1" dirty="0"/>
              <a:t>g</a:t>
            </a:r>
            <a:r>
              <a:rPr lang="en" sz="2200" i="1" baseline="30000" dirty="0">
                <a:solidFill>
                  <a:srgbClr val="E69138"/>
                </a:solidFill>
              </a:rPr>
              <a:t>a</a:t>
            </a:r>
            <a:r>
              <a:rPr lang="en" sz="2200" i="1" baseline="30000" dirty="0">
                <a:solidFill>
                  <a:srgbClr val="1155CC"/>
                </a:solidFill>
              </a:rPr>
              <a:t>b</a:t>
            </a:r>
            <a:endParaRPr sz="2200" i="1" baseline="30000" dirty="0">
              <a:solidFill>
                <a:srgbClr val="1155CC"/>
              </a:solidFill>
            </a:endParaRPr>
          </a:p>
        </p:txBody>
      </p:sp>
      <p:grpSp>
        <p:nvGrpSpPr>
          <p:cNvPr id="21" name="Google Shape;148;p25">
            <a:extLst>
              <a:ext uri="{FF2B5EF4-FFF2-40B4-BE49-F238E27FC236}">
                <a16:creationId xmlns:a16="http://schemas.microsoft.com/office/drawing/2014/main" id="{942C3303-D2F0-FDE1-2B1D-9ECAE067EE0F}"/>
              </a:ext>
            </a:extLst>
          </p:cNvPr>
          <p:cNvGrpSpPr/>
          <p:nvPr/>
        </p:nvGrpSpPr>
        <p:grpSpPr>
          <a:xfrm>
            <a:off x="5393172" y="5434553"/>
            <a:ext cx="1547700" cy="523190"/>
            <a:chOff x="3760750" y="4003125"/>
            <a:chExt cx="1547700" cy="523190"/>
          </a:xfrm>
        </p:grpSpPr>
        <p:sp>
          <p:nvSpPr>
            <p:cNvPr id="22" name="Google Shape;149;p25">
              <a:extLst>
                <a:ext uri="{FF2B5EF4-FFF2-40B4-BE49-F238E27FC236}">
                  <a16:creationId xmlns:a16="http://schemas.microsoft.com/office/drawing/2014/main" id="{78145968-5A3E-C917-1EDA-6A60198AD304}"/>
                </a:ext>
              </a:extLst>
            </p:cNvPr>
            <p:cNvSpPr txBox="1"/>
            <p:nvPr/>
          </p:nvSpPr>
          <p:spPr>
            <a:xfrm>
              <a:off x="3760750" y="4003125"/>
              <a:ext cx="1547700" cy="52319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i="1" dirty="0"/>
                <a:t>g</a:t>
              </a:r>
              <a:r>
                <a:rPr lang="en" sz="2200" i="1" baseline="30000" dirty="0">
                  <a:solidFill>
                    <a:srgbClr val="E69138"/>
                  </a:solidFill>
                </a:rPr>
                <a:t>a</a:t>
              </a:r>
              <a:r>
                <a:rPr lang="en" sz="2200" dirty="0"/>
                <a:t>, </a:t>
              </a:r>
              <a:r>
                <a:rPr lang="en" sz="2200" i="1" dirty="0"/>
                <a:t>g</a:t>
              </a:r>
              <a:r>
                <a:rPr lang="en" sz="2200" i="1" baseline="30000" dirty="0">
                  <a:solidFill>
                    <a:srgbClr val="1155CC"/>
                  </a:solidFill>
                </a:rPr>
                <a:t>b</a:t>
              </a:r>
              <a:r>
                <a:rPr lang="en" sz="2200" dirty="0"/>
                <a:t> ⇒ </a:t>
              </a:r>
              <a:r>
                <a:rPr lang="en" sz="2200" i="1" dirty="0"/>
                <a:t>g</a:t>
              </a:r>
              <a:r>
                <a:rPr lang="en" sz="2200" i="1" baseline="30000" dirty="0">
                  <a:solidFill>
                    <a:srgbClr val="E69138"/>
                  </a:solidFill>
                </a:rPr>
                <a:t>a</a:t>
              </a:r>
              <a:r>
                <a:rPr lang="en" sz="2200" i="1" baseline="30000" dirty="0">
                  <a:solidFill>
                    <a:srgbClr val="1155CC"/>
                  </a:solidFill>
                </a:rPr>
                <a:t>b</a:t>
              </a:r>
              <a:endParaRPr sz="2200" i="1" baseline="30000" dirty="0">
                <a:solidFill>
                  <a:srgbClr val="1155CC"/>
                </a:solidFill>
              </a:endParaRPr>
            </a:p>
          </p:txBody>
        </p:sp>
        <p:cxnSp>
          <p:nvCxnSpPr>
            <p:cNvPr id="23" name="Google Shape;150;p25">
              <a:extLst>
                <a:ext uri="{FF2B5EF4-FFF2-40B4-BE49-F238E27FC236}">
                  <a16:creationId xmlns:a16="http://schemas.microsoft.com/office/drawing/2014/main" id="{9F47232B-426D-C3E4-2FA2-80B01BC25E2A}"/>
                </a:ext>
              </a:extLst>
            </p:cNvPr>
            <p:cNvCxnSpPr/>
            <p:nvPr/>
          </p:nvCxnSpPr>
          <p:spPr>
            <a:xfrm rot="10800000" flipH="1">
              <a:off x="4532463" y="4136925"/>
              <a:ext cx="161400" cy="155700"/>
            </a:xfrm>
            <a:prstGeom prst="straightConnector1">
              <a:avLst/>
            </a:prstGeom>
            <a:noFill/>
            <a:ln w="19050" cap="flat" cmpd="sng">
              <a:solidFill>
                <a:schemeClr val="dk1"/>
              </a:solidFill>
              <a:prstDash val="solid"/>
              <a:round/>
              <a:headEnd type="none" w="med" len="med"/>
              <a:tailEnd type="none" w="med" len="med"/>
            </a:ln>
          </p:spPr>
        </p:cxnSp>
      </p:grpSp>
      <p:sp>
        <p:nvSpPr>
          <p:cNvPr id="24" name="Google Shape;151;p25">
            <a:extLst>
              <a:ext uri="{FF2B5EF4-FFF2-40B4-BE49-F238E27FC236}">
                <a16:creationId xmlns:a16="http://schemas.microsoft.com/office/drawing/2014/main" id="{8C481B88-1465-A902-EBC3-74ADC0ED4527}"/>
              </a:ext>
            </a:extLst>
          </p:cNvPr>
          <p:cNvSpPr txBox="1"/>
          <p:nvPr/>
        </p:nvSpPr>
        <p:spPr>
          <a:xfrm>
            <a:off x="5673015" y="1406162"/>
            <a:ext cx="810900" cy="52319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dirty="0"/>
              <a:t>Eve</a:t>
            </a:r>
            <a:endParaRPr sz="2200" dirty="0"/>
          </a:p>
        </p:txBody>
      </p:sp>
      <p:sp>
        <p:nvSpPr>
          <p:cNvPr id="25" name="Google Shape;152;p25">
            <a:extLst>
              <a:ext uri="{FF2B5EF4-FFF2-40B4-BE49-F238E27FC236}">
                <a16:creationId xmlns:a16="http://schemas.microsoft.com/office/drawing/2014/main" id="{36B3F2BB-29DF-D333-C66C-E1782768B4BE}"/>
              </a:ext>
            </a:extLst>
          </p:cNvPr>
          <p:cNvSpPr txBox="1"/>
          <p:nvPr/>
        </p:nvSpPr>
        <p:spPr>
          <a:xfrm>
            <a:off x="5130011" y="909825"/>
            <a:ext cx="1856283" cy="52319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dirty="0"/>
              <a:t>Public: </a:t>
            </a:r>
            <a:r>
              <a:rPr lang="en" sz="2200" i="1" dirty="0"/>
              <a:t>g</a:t>
            </a:r>
            <a:r>
              <a:rPr lang="en" sz="2200" dirty="0"/>
              <a:t>, </a:t>
            </a:r>
            <a:r>
              <a:rPr lang="en" sz="2200" i="1" dirty="0"/>
              <a:t>p</a:t>
            </a:r>
            <a:endParaRPr sz="2200" i="1" dirty="0"/>
          </a:p>
        </p:txBody>
      </p:sp>
      <p:sp>
        <p:nvSpPr>
          <p:cNvPr id="26" name="Google Shape;153;p25">
            <a:extLst>
              <a:ext uri="{FF2B5EF4-FFF2-40B4-BE49-F238E27FC236}">
                <a16:creationId xmlns:a16="http://schemas.microsoft.com/office/drawing/2014/main" id="{C0F41AD5-9CC2-F5A4-537F-8627892B4D12}"/>
              </a:ext>
            </a:extLst>
          </p:cNvPr>
          <p:cNvSpPr txBox="1"/>
          <p:nvPr/>
        </p:nvSpPr>
        <p:spPr>
          <a:xfrm>
            <a:off x="1087265" y="5944538"/>
            <a:ext cx="4157702" cy="861744"/>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b="1" dirty="0"/>
              <a:t>Shared symmetric key is </a:t>
            </a:r>
          </a:p>
          <a:p>
            <a:pPr marL="0" lvl="0" indent="0" algn="ctr" rtl="0">
              <a:spcBef>
                <a:spcPts val="0"/>
              </a:spcBef>
              <a:spcAft>
                <a:spcPts val="0"/>
              </a:spcAft>
              <a:buNone/>
            </a:pPr>
            <a:r>
              <a:rPr lang="en" sz="2200" b="1" dirty="0"/>
              <a:t>K=</a:t>
            </a:r>
            <a:r>
              <a:rPr lang="en" sz="2200" b="1" i="1" dirty="0">
                <a:solidFill>
                  <a:schemeClr val="dk1"/>
                </a:solidFill>
              </a:rPr>
              <a:t>g</a:t>
            </a:r>
            <a:r>
              <a:rPr lang="en" sz="2200" b="1" i="1" baseline="30000" dirty="0">
                <a:solidFill>
                  <a:srgbClr val="E69138"/>
                </a:solidFill>
              </a:rPr>
              <a:t>a</a:t>
            </a:r>
            <a:r>
              <a:rPr lang="en" sz="2200" b="1" i="1" baseline="30000" dirty="0">
                <a:solidFill>
                  <a:srgbClr val="1155CC"/>
                </a:solidFill>
              </a:rPr>
              <a:t>b</a:t>
            </a:r>
            <a:endParaRPr sz="2200" b="1" dirty="0"/>
          </a:p>
        </p:txBody>
      </p:sp>
      <p:sp>
        <p:nvSpPr>
          <p:cNvPr id="29" name="Google Shape;156;p25">
            <a:extLst>
              <a:ext uri="{FF2B5EF4-FFF2-40B4-BE49-F238E27FC236}">
                <a16:creationId xmlns:a16="http://schemas.microsoft.com/office/drawing/2014/main" id="{EF1060B0-25B4-5AF7-A753-9A64E3B8304F}"/>
              </a:ext>
            </a:extLst>
          </p:cNvPr>
          <p:cNvSpPr txBox="1"/>
          <p:nvPr/>
        </p:nvSpPr>
        <p:spPr>
          <a:xfrm>
            <a:off x="310966" y="2482940"/>
            <a:ext cx="1611704" cy="861744"/>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2200" dirty="0"/>
              <a:t>Private parameter</a:t>
            </a:r>
            <a:endParaRPr sz="2200" dirty="0"/>
          </a:p>
        </p:txBody>
      </p:sp>
      <p:cxnSp>
        <p:nvCxnSpPr>
          <p:cNvPr id="30" name="Google Shape;157;p25">
            <a:extLst>
              <a:ext uri="{FF2B5EF4-FFF2-40B4-BE49-F238E27FC236}">
                <a16:creationId xmlns:a16="http://schemas.microsoft.com/office/drawing/2014/main" id="{FEA67CF6-A943-17C4-4B69-04112DF12240}"/>
              </a:ext>
            </a:extLst>
          </p:cNvPr>
          <p:cNvCxnSpPr>
            <a:cxnSpLocks/>
          </p:cNvCxnSpPr>
          <p:nvPr/>
        </p:nvCxnSpPr>
        <p:spPr>
          <a:xfrm flipV="1">
            <a:off x="1949397" y="2617071"/>
            <a:ext cx="393900" cy="58495"/>
          </a:xfrm>
          <a:prstGeom prst="straightConnector1">
            <a:avLst/>
          </a:prstGeom>
          <a:noFill/>
          <a:ln w="9525" cap="flat" cmpd="sng">
            <a:solidFill>
              <a:srgbClr val="595959"/>
            </a:solidFill>
            <a:prstDash val="solid"/>
            <a:round/>
            <a:headEnd type="none" w="med" len="med"/>
            <a:tailEnd type="triangle" w="med" len="med"/>
          </a:ln>
        </p:spPr>
      </p:cxnSp>
      <p:sp>
        <p:nvSpPr>
          <p:cNvPr id="31" name="Google Shape;158;p25">
            <a:extLst>
              <a:ext uri="{FF2B5EF4-FFF2-40B4-BE49-F238E27FC236}">
                <a16:creationId xmlns:a16="http://schemas.microsoft.com/office/drawing/2014/main" id="{151A0BA4-50F3-7F70-7C5A-151A6CA5C138}"/>
              </a:ext>
            </a:extLst>
          </p:cNvPr>
          <p:cNvSpPr txBox="1"/>
          <p:nvPr/>
        </p:nvSpPr>
        <p:spPr>
          <a:xfrm>
            <a:off x="338328" y="3505770"/>
            <a:ext cx="1535504" cy="861744"/>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2200" dirty="0"/>
              <a:t>Public parameter</a:t>
            </a:r>
            <a:endParaRPr sz="2200" dirty="0"/>
          </a:p>
        </p:txBody>
      </p:sp>
      <p:sp>
        <p:nvSpPr>
          <p:cNvPr id="33" name="Google Shape;160;p25">
            <a:extLst>
              <a:ext uri="{FF2B5EF4-FFF2-40B4-BE49-F238E27FC236}">
                <a16:creationId xmlns:a16="http://schemas.microsoft.com/office/drawing/2014/main" id="{99F8ED63-3582-9B27-00DB-620F104874B0}"/>
              </a:ext>
            </a:extLst>
          </p:cNvPr>
          <p:cNvSpPr txBox="1"/>
          <p:nvPr/>
        </p:nvSpPr>
        <p:spPr>
          <a:xfrm>
            <a:off x="7177065" y="5888421"/>
            <a:ext cx="4157703" cy="861744"/>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b="1" dirty="0"/>
              <a:t>Shared symmetric key is </a:t>
            </a:r>
          </a:p>
          <a:p>
            <a:pPr marL="0" lvl="0" indent="0" algn="ctr" rtl="0">
              <a:spcBef>
                <a:spcPts val="0"/>
              </a:spcBef>
              <a:spcAft>
                <a:spcPts val="0"/>
              </a:spcAft>
              <a:buNone/>
            </a:pPr>
            <a:r>
              <a:rPr lang="en" sz="2200" b="1" dirty="0"/>
              <a:t>K=</a:t>
            </a:r>
            <a:r>
              <a:rPr lang="en" sz="2200" b="1" i="1" dirty="0">
                <a:solidFill>
                  <a:schemeClr val="dk1"/>
                </a:solidFill>
              </a:rPr>
              <a:t>g</a:t>
            </a:r>
            <a:r>
              <a:rPr lang="en" sz="2200" b="1" i="1" baseline="30000" dirty="0">
                <a:solidFill>
                  <a:srgbClr val="E69138"/>
                </a:solidFill>
              </a:rPr>
              <a:t>a</a:t>
            </a:r>
            <a:r>
              <a:rPr lang="en" sz="2200" b="1" i="1" baseline="30000" dirty="0">
                <a:solidFill>
                  <a:srgbClr val="1155CC"/>
                </a:solidFill>
              </a:rPr>
              <a:t>b</a:t>
            </a:r>
            <a:endParaRPr sz="2200" b="1" dirty="0"/>
          </a:p>
        </p:txBody>
      </p:sp>
      <p:pic>
        <p:nvPicPr>
          <p:cNvPr id="3" name="Google Shape;200;p33">
            <a:extLst>
              <a:ext uri="{FF2B5EF4-FFF2-40B4-BE49-F238E27FC236}">
                <a16:creationId xmlns:a16="http://schemas.microsoft.com/office/drawing/2014/main" id="{AB326926-5B60-0ED7-F028-264C1985E73D}"/>
              </a:ext>
            </a:extLst>
          </p:cNvPr>
          <p:cNvPicPr preferRelativeResize="0"/>
          <p:nvPr/>
        </p:nvPicPr>
        <p:blipFill>
          <a:blip r:embed="rId3">
            <a:alphaModFix/>
          </a:blip>
          <a:stretch>
            <a:fillRect/>
          </a:stretch>
        </p:blipFill>
        <p:spPr>
          <a:xfrm>
            <a:off x="2385987" y="647322"/>
            <a:ext cx="1554480" cy="1371600"/>
          </a:xfrm>
          <a:prstGeom prst="rect">
            <a:avLst/>
          </a:prstGeom>
          <a:noFill/>
          <a:ln>
            <a:noFill/>
          </a:ln>
        </p:spPr>
      </p:pic>
      <p:pic>
        <p:nvPicPr>
          <p:cNvPr id="5" name="Google Shape;95;p20">
            <a:extLst>
              <a:ext uri="{FF2B5EF4-FFF2-40B4-BE49-F238E27FC236}">
                <a16:creationId xmlns:a16="http://schemas.microsoft.com/office/drawing/2014/main" id="{FD624BF4-FF98-06A7-4AE8-2F2523D54E54}"/>
              </a:ext>
            </a:extLst>
          </p:cNvPr>
          <p:cNvPicPr preferRelativeResize="0"/>
          <p:nvPr/>
        </p:nvPicPr>
        <p:blipFill>
          <a:blip r:embed="rId4">
            <a:alphaModFix/>
          </a:blip>
          <a:stretch>
            <a:fillRect/>
          </a:stretch>
        </p:blipFill>
        <p:spPr>
          <a:xfrm>
            <a:off x="8523929" y="564126"/>
            <a:ext cx="1554480" cy="1371600"/>
          </a:xfrm>
          <a:prstGeom prst="rect">
            <a:avLst/>
          </a:prstGeom>
          <a:noFill/>
          <a:ln>
            <a:noFill/>
          </a:ln>
        </p:spPr>
      </p:pic>
    </p:spTree>
    <p:extLst>
      <p:ext uri="{BB962C8B-B14F-4D97-AF65-F5344CB8AC3E}">
        <p14:creationId xmlns:p14="http://schemas.microsoft.com/office/powerpoint/2010/main" val="460016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F9FBC-53C0-2416-030C-8A94D5BAA30F}"/>
              </a:ext>
            </a:extLst>
          </p:cNvPr>
          <p:cNvSpPr>
            <a:spLocks noGrp="1"/>
          </p:cNvSpPr>
          <p:nvPr>
            <p:ph type="title"/>
          </p:nvPr>
        </p:nvSpPr>
        <p:spPr>
          <a:xfrm>
            <a:off x="856422" y="42347"/>
            <a:ext cx="10515600" cy="790577"/>
          </a:xfrm>
        </p:spPr>
        <p:txBody>
          <a:bodyPr/>
          <a:lstStyle/>
          <a:p>
            <a:r>
              <a:rPr lang="en" dirty="0"/>
              <a:t>Diffie-Hellman Key Exchange Protocol</a:t>
            </a:r>
            <a:endParaRPr lang="en-US" dirty="0"/>
          </a:p>
        </p:txBody>
      </p:sp>
      <p:sp>
        <p:nvSpPr>
          <p:cNvPr id="4" name="Google Shape;172;p27">
            <a:extLst>
              <a:ext uri="{FF2B5EF4-FFF2-40B4-BE49-F238E27FC236}">
                <a16:creationId xmlns:a16="http://schemas.microsoft.com/office/drawing/2014/main" id="{26454B90-BF42-0F5D-A328-02B085954812}"/>
              </a:ext>
            </a:extLst>
          </p:cNvPr>
          <p:cNvSpPr/>
          <p:nvPr/>
        </p:nvSpPr>
        <p:spPr>
          <a:xfrm>
            <a:off x="1241150" y="3288637"/>
            <a:ext cx="1466700" cy="280725"/>
          </a:xfrm>
          <a:custGeom>
            <a:avLst/>
            <a:gdLst/>
            <a:ahLst/>
            <a:cxnLst/>
            <a:rect l="l" t="t" r="r" b="b"/>
            <a:pathLst>
              <a:path w="58668" h="11229" extrusionOk="0">
                <a:moveTo>
                  <a:pt x="0" y="11229"/>
                </a:moveTo>
                <a:lnTo>
                  <a:pt x="58668" y="11229"/>
                </a:lnTo>
                <a:lnTo>
                  <a:pt x="58668" y="0"/>
                </a:lnTo>
              </a:path>
            </a:pathLst>
          </a:custGeom>
          <a:noFill/>
          <a:ln w="9525" cap="flat" cmpd="sng">
            <a:solidFill>
              <a:schemeClr val="dk2"/>
            </a:solidFill>
            <a:prstDash val="solid"/>
            <a:round/>
            <a:headEnd type="none" w="med" len="med"/>
            <a:tailEnd type="triangle" w="med" len="med"/>
          </a:ln>
        </p:spPr>
        <p:txBody>
          <a:bodyPr/>
          <a:lstStyle/>
          <a:p>
            <a:endParaRPr lang="en-US"/>
          </a:p>
        </p:txBody>
      </p:sp>
      <p:cxnSp>
        <p:nvCxnSpPr>
          <p:cNvPr id="5" name="Google Shape;174;p27">
            <a:extLst>
              <a:ext uri="{FF2B5EF4-FFF2-40B4-BE49-F238E27FC236}">
                <a16:creationId xmlns:a16="http://schemas.microsoft.com/office/drawing/2014/main" id="{0A8125B0-DFFA-E781-73F4-C2C98C30D661}"/>
              </a:ext>
            </a:extLst>
          </p:cNvPr>
          <p:cNvCxnSpPr/>
          <p:nvPr/>
        </p:nvCxnSpPr>
        <p:spPr>
          <a:xfrm>
            <a:off x="4722536" y="2079565"/>
            <a:ext cx="0" cy="3309600"/>
          </a:xfrm>
          <a:prstGeom prst="straightConnector1">
            <a:avLst/>
          </a:prstGeom>
          <a:noFill/>
          <a:ln w="9525" cap="flat" cmpd="sng">
            <a:solidFill>
              <a:schemeClr val="dk2"/>
            </a:solidFill>
            <a:prstDash val="solid"/>
            <a:round/>
            <a:headEnd type="none" w="med" len="med"/>
            <a:tailEnd type="none" w="med" len="med"/>
          </a:ln>
        </p:spPr>
      </p:cxnSp>
      <p:cxnSp>
        <p:nvCxnSpPr>
          <p:cNvPr id="6" name="Google Shape;175;p27">
            <a:extLst>
              <a:ext uri="{FF2B5EF4-FFF2-40B4-BE49-F238E27FC236}">
                <a16:creationId xmlns:a16="http://schemas.microsoft.com/office/drawing/2014/main" id="{051A9995-D0FE-EB7F-3B12-75B2E53034D6}"/>
              </a:ext>
            </a:extLst>
          </p:cNvPr>
          <p:cNvCxnSpPr/>
          <p:nvPr/>
        </p:nvCxnSpPr>
        <p:spPr>
          <a:xfrm>
            <a:off x="8079848" y="2079565"/>
            <a:ext cx="0" cy="3309600"/>
          </a:xfrm>
          <a:prstGeom prst="straightConnector1">
            <a:avLst/>
          </a:prstGeom>
          <a:noFill/>
          <a:ln w="9525" cap="flat" cmpd="sng">
            <a:solidFill>
              <a:schemeClr val="dk2"/>
            </a:solidFill>
            <a:prstDash val="solid"/>
            <a:round/>
            <a:headEnd type="none" w="med" len="med"/>
            <a:tailEnd type="none" w="med" len="med"/>
          </a:ln>
        </p:spPr>
      </p:cxnSp>
      <p:sp>
        <p:nvSpPr>
          <p:cNvPr id="7" name="Google Shape;176;p27">
            <a:extLst>
              <a:ext uri="{FF2B5EF4-FFF2-40B4-BE49-F238E27FC236}">
                <a16:creationId xmlns:a16="http://schemas.microsoft.com/office/drawing/2014/main" id="{4EC970C8-1FD0-6F40-3BCA-A34B222B59DB}"/>
              </a:ext>
            </a:extLst>
          </p:cNvPr>
          <p:cNvSpPr txBox="1"/>
          <p:nvPr/>
        </p:nvSpPr>
        <p:spPr>
          <a:xfrm>
            <a:off x="2557387" y="1888968"/>
            <a:ext cx="8109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t>Alice</a:t>
            </a:r>
            <a:endParaRPr dirty="0"/>
          </a:p>
        </p:txBody>
      </p:sp>
      <p:sp>
        <p:nvSpPr>
          <p:cNvPr id="8" name="Google Shape;177;p27">
            <a:extLst>
              <a:ext uri="{FF2B5EF4-FFF2-40B4-BE49-F238E27FC236}">
                <a16:creationId xmlns:a16="http://schemas.microsoft.com/office/drawing/2014/main" id="{24C30FEA-542E-444B-E595-034CB5536FED}"/>
              </a:ext>
            </a:extLst>
          </p:cNvPr>
          <p:cNvSpPr txBox="1"/>
          <p:nvPr/>
        </p:nvSpPr>
        <p:spPr>
          <a:xfrm>
            <a:off x="5821143" y="2101068"/>
            <a:ext cx="810900" cy="37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rgbClr val="FFFFFF"/>
                </a:solidFill>
                <a:latin typeface="Lato"/>
                <a:ea typeface="Lato"/>
                <a:cs typeface="Lato"/>
                <a:sym typeface="Lato"/>
              </a:rPr>
              <a:t>Mallory</a:t>
            </a:r>
            <a:endParaRPr>
              <a:solidFill>
                <a:srgbClr val="FFFFFF"/>
              </a:solidFill>
              <a:latin typeface="Lato"/>
              <a:ea typeface="Lato"/>
              <a:cs typeface="Lato"/>
              <a:sym typeface="Lato"/>
            </a:endParaRPr>
          </a:p>
        </p:txBody>
      </p:sp>
      <p:sp>
        <p:nvSpPr>
          <p:cNvPr id="9" name="Google Shape;178;p27">
            <a:extLst>
              <a:ext uri="{FF2B5EF4-FFF2-40B4-BE49-F238E27FC236}">
                <a16:creationId xmlns:a16="http://schemas.microsoft.com/office/drawing/2014/main" id="{C785D05F-FA60-FC95-C568-CA5BE65F7704}"/>
              </a:ext>
            </a:extLst>
          </p:cNvPr>
          <p:cNvSpPr txBox="1"/>
          <p:nvPr/>
        </p:nvSpPr>
        <p:spPr>
          <a:xfrm>
            <a:off x="9868870" y="1972495"/>
            <a:ext cx="8109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Bob</a:t>
            </a:r>
            <a:endParaRPr/>
          </a:p>
        </p:txBody>
      </p:sp>
      <p:sp>
        <p:nvSpPr>
          <p:cNvPr id="10" name="Google Shape;179;p27">
            <a:extLst>
              <a:ext uri="{FF2B5EF4-FFF2-40B4-BE49-F238E27FC236}">
                <a16:creationId xmlns:a16="http://schemas.microsoft.com/office/drawing/2014/main" id="{78FEFD70-7039-36D7-9A87-666BD5CF60A7}"/>
              </a:ext>
            </a:extLst>
          </p:cNvPr>
          <p:cNvSpPr txBox="1"/>
          <p:nvPr/>
        </p:nvSpPr>
        <p:spPr>
          <a:xfrm>
            <a:off x="1729181" y="2431037"/>
            <a:ext cx="2557129" cy="267762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t>Generate </a:t>
            </a:r>
            <a:r>
              <a:rPr lang="en" i="1" dirty="0">
                <a:solidFill>
                  <a:srgbClr val="E69138"/>
                </a:solidFill>
              </a:rPr>
              <a:t>a</a:t>
            </a:r>
            <a:endParaRPr i="1" dirty="0">
              <a:solidFill>
                <a:srgbClr val="E69138"/>
              </a:solidFill>
            </a:endParaRPr>
          </a:p>
          <a:p>
            <a:pPr marL="0" lvl="0" indent="0" algn="ctr" rtl="0">
              <a:spcBef>
                <a:spcPts val="0"/>
              </a:spcBef>
              <a:spcAft>
                <a:spcPts val="0"/>
              </a:spcAft>
              <a:buNone/>
            </a:pPr>
            <a:endParaRPr dirty="0"/>
          </a:p>
          <a:p>
            <a:pPr marL="0" lvl="0" indent="0" algn="ctr" rtl="0">
              <a:spcBef>
                <a:spcPts val="0"/>
              </a:spcBef>
              <a:spcAft>
                <a:spcPts val="0"/>
              </a:spcAft>
              <a:buNone/>
            </a:pPr>
            <a:r>
              <a:rPr lang="en" dirty="0"/>
              <a:t>Calculate </a:t>
            </a:r>
            <a:r>
              <a:rPr lang="en" i="1" dirty="0"/>
              <a:t>g</a:t>
            </a:r>
            <a:r>
              <a:rPr lang="en" i="1" baseline="30000" dirty="0">
                <a:solidFill>
                  <a:srgbClr val="E69138"/>
                </a:solidFill>
              </a:rPr>
              <a:t>a</a:t>
            </a:r>
            <a:r>
              <a:rPr lang="en" dirty="0"/>
              <a:t> mod </a:t>
            </a:r>
            <a:r>
              <a:rPr lang="en" i="1" dirty="0"/>
              <a:t>p</a:t>
            </a:r>
            <a:endParaRPr i="1" dirty="0"/>
          </a:p>
          <a:p>
            <a:pPr marL="0" lvl="0" indent="0" algn="ctr" rtl="0">
              <a:spcBef>
                <a:spcPts val="0"/>
              </a:spcBef>
              <a:spcAft>
                <a:spcPts val="0"/>
              </a:spcAft>
              <a:buNone/>
            </a:pPr>
            <a:endParaRPr dirty="0"/>
          </a:p>
          <a:p>
            <a:pPr marL="0" lvl="0" indent="0" algn="ctr" rtl="0">
              <a:spcBef>
                <a:spcPts val="0"/>
              </a:spcBef>
              <a:spcAft>
                <a:spcPts val="0"/>
              </a:spcAft>
              <a:buNone/>
            </a:pPr>
            <a:endParaRPr dirty="0"/>
          </a:p>
          <a:p>
            <a:pPr marL="0" lvl="0" indent="0" algn="ctr" rtl="0">
              <a:spcBef>
                <a:spcPts val="0"/>
              </a:spcBef>
              <a:spcAft>
                <a:spcPts val="0"/>
              </a:spcAft>
              <a:buNone/>
            </a:pPr>
            <a:endParaRPr dirty="0"/>
          </a:p>
          <a:p>
            <a:pPr marL="0" lvl="0" indent="0" algn="ctr" rtl="0">
              <a:spcBef>
                <a:spcPts val="0"/>
              </a:spcBef>
              <a:spcAft>
                <a:spcPts val="0"/>
              </a:spcAft>
              <a:buNone/>
            </a:pPr>
            <a:r>
              <a:rPr lang="en" dirty="0"/>
              <a:t>Receive </a:t>
            </a:r>
            <a:r>
              <a:rPr lang="en" i="1" dirty="0"/>
              <a:t>g</a:t>
            </a:r>
            <a:r>
              <a:rPr lang="en" i="1" baseline="30000" dirty="0">
                <a:solidFill>
                  <a:srgbClr val="1155CC"/>
                </a:solidFill>
              </a:rPr>
              <a:t>b</a:t>
            </a:r>
            <a:r>
              <a:rPr lang="en" dirty="0"/>
              <a:t> mod </a:t>
            </a:r>
            <a:r>
              <a:rPr lang="en" i="1" dirty="0"/>
              <a:t>p</a:t>
            </a:r>
            <a:endParaRPr i="1" dirty="0"/>
          </a:p>
          <a:p>
            <a:pPr marL="0" lvl="0" indent="0" algn="ctr" rtl="0">
              <a:spcBef>
                <a:spcPts val="0"/>
              </a:spcBef>
              <a:spcAft>
                <a:spcPts val="0"/>
              </a:spcAft>
              <a:buNone/>
            </a:pPr>
            <a:endParaRPr dirty="0"/>
          </a:p>
          <a:p>
            <a:pPr marL="0" lvl="0" indent="0" algn="ctr" rtl="0">
              <a:spcBef>
                <a:spcPts val="0"/>
              </a:spcBef>
              <a:spcAft>
                <a:spcPts val="0"/>
              </a:spcAft>
              <a:buNone/>
            </a:pPr>
            <a:r>
              <a:rPr lang="en" dirty="0"/>
              <a:t>Calculate (</a:t>
            </a:r>
            <a:r>
              <a:rPr lang="en" i="1" dirty="0"/>
              <a:t>g</a:t>
            </a:r>
            <a:r>
              <a:rPr lang="en" i="1" baseline="30000" dirty="0">
                <a:solidFill>
                  <a:srgbClr val="1155CC"/>
                </a:solidFill>
              </a:rPr>
              <a:t>b</a:t>
            </a:r>
            <a:r>
              <a:rPr lang="en" dirty="0"/>
              <a:t>)</a:t>
            </a:r>
            <a:r>
              <a:rPr lang="en" i="1" baseline="30000" dirty="0">
                <a:solidFill>
                  <a:srgbClr val="E69138"/>
                </a:solidFill>
              </a:rPr>
              <a:t>a</a:t>
            </a:r>
            <a:r>
              <a:rPr lang="en" dirty="0"/>
              <a:t> mod </a:t>
            </a:r>
            <a:r>
              <a:rPr lang="en" i="1" dirty="0"/>
              <a:t>p</a:t>
            </a:r>
            <a:endParaRPr i="1" dirty="0"/>
          </a:p>
        </p:txBody>
      </p:sp>
      <p:sp>
        <p:nvSpPr>
          <p:cNvPr id="11" name="Google Shape;180;p27">
            <a:extLst>
              <a:ext uri="{FF2B5EF4-FFF2-40B4-BE49-F238E27FC236}">
                <a16:creationId xmlns:a16="http://schemas.microsoft.com/office/drawing/2014/main" id="{79B2FDD1-5D35-4CF8-C9C0-96B934D0F188}"/>
              </a:ext>
            </a:extLst>
          </p:cNvPr>
          <p:cNvSpPr txBox="1"/>
          <p:nvPr/>
        </p:nvSpPr>
        <p:spPr>
          <a:xfrm>
            <a:off x="9008349" y="2477268"/>
            <a:ext cx="2553535" cy="267762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t>Generate </a:t>
            </a:r>
            <a:r>
              <a:rPr lang="en" i="1" dirty="0">
                <a:solidFill>
                  <a:srgbClr val="1155CC"/>
                </a:solidFill>
              </a:rPr>
              <a:t>b</a:t>
            </a:r>
            <a:endParaRPr i="1" dirty="0">
              <a:solidFill>
                <a:srgbClr val="1155CC"/>
              </a:solidFill>
            </a:endParaRPr>
          </a:p>
          <a:p>
            <a:pPr marL="0" lvl="0" indent="0" algn="ctr" rtl="0">
              <a:spcBef>
                <a:spcPts val="0"/>
              </a:spcBef>
              <a:spcAft>
                <a:spcPts val="0"/>
              </a:spcAft>
              <a:buNone/>
            </a:pPr>
            <a:endParaRPr dirty="0"/>
          </a:p>
          <a:p>
            <a:pPr marL="0" lvl="0" indent="0" algn="ctr" rtl="0">
              <a:spcBef>
                <a:spcPts val="0"/>
              </a:spcBef>
              <a:spcAft>
                <a:spcPts val="0"/>
              </a:spcAft>
              <a:buNone/>
            </a:pPr>
            <a:r>
              <a:rPr lang="en" dirty="0"/>
              <a:t>Calculate </a:t>
            </a:r>
            <a:r>
              <a:rPr lang="en" i="1" dirty="0"/>
              <a:t>g</a:t>
            </a:r>
            <a:r>
              <a:rPr lang="en" i="1" baseline="30000" dirty="0">
                <a:solidFill>
                  <a:srgbClr val="1155CC"/>
                </a:solidFill>
              </a:rPr>
              <a:t>b</a:t>
            </a:r>
            <a:r>
              <a:rPr lang="en" dirty="0"/>
              <a:t> mod </a:t>
            </a:r>
            <a:r>
              <a:rPr lang="en" i="1" dirty="0"/>
              <a:t>p</a:t>
            </a:r>
            <a:endParaRPr i="1" dirty="0"/>
          </a:p>
          <a:p>
            <a:pPr marL="0" lvl="0" indent="0" algn="ctr" rtl="0">
              <a:spcBef>
                <a:spcPts val="0"/>
              </a:spcBef>
              <a:spcAft>
                <a:spcPts val="0"/>
              </a:spcAft>
              <a:buNone/>
            </a:pPr>
            <a:endParaRPr dirty="0"/>
          </a:p>
          <a:p>
            <a:pPr marL="0" lvl="0" indent="0" algn="ctr" rtl="0">
              <a:spcBef>
                <a:spcPts val="0"/>
              </a:spcBef>
              <a:spcAft>
                <a:spcPts val="0"/>
              </a:spcAft>
              <a:buNone/>
            </a:pPr>
            <a:endParaRPr dirty="0"/>
          </a:p>
          <a:p>
            <a:pPr marL="0" lvl="0" indent="0" algn="ctr" rtl="0">
              <a:spcBef>
                <a:spcPts val="0"/>
              </a:spcBef>
              <a:spcAft>
                <a:spcPts val="0"/>
              </a:spcAft>
              <a:buNone/>
            </a:pPr>
            <a:endParaRPr dirty="0"/>
          </a:p>
          <a:p>
            <a:pPr marL="0" lvl="0" indent="0" algn="ctr" rtl="0">
              <a:spcBef>
                <a:spcPts val="0"/>
              </a:spcBef>
              <a:spcAft>
                <a:spcPts val="0"/>
              </a:spcAft>
              <a:buNone/>
            </a:pPr>
            <a:r>
              <a:rPr lang="en" dirty="0"/>
              <a:t>Receive </a:t>
            </a:r>
            <a:r>
              <a:rPr lang="en" i="1" dirty="0"/>
              <a:t>g</a:t>
            </a:r>
            <a:r>
              <a:rPr lang="en" i="1" baseline="30000" dirty="0">
                <a:solidFill>
                  <a:srgbClr val="E69138"/>
                </a:solidFill>
              </a:rPr>
              <a:t>a</a:t>
            </a:r>
            <a:r>
              <a:rPr lang="en" dirty="0"/>
              <a:t> mod </a:t>
            </a:r>
            <a:r>
              <a:rPr lang="en" i="1" dirty="0"/>
              <a:t>p</a:t>
            </a:r>
            <a:endParaRPr i="1" dirty="0"/>
          </a:p>
          <a:p>
            <a:pPr marL="0" lvl="0" indent="0" algn="ctr" rtl="0">
              <a:spcBef>
                <a:spcPts val="0"/>
              </a:spcBef>
              <a:spcAft>
                <a:spcPts val="0"/>
              </a:spcAft>
              <a:buNone/>
            </a:pPr>
            <a:endParaRPr dirty="0"/>
          </a:p>
          <a:p>
            <a:pPr marL="0" lvl="0" indent="0" algn="ctr" rtl="0">
              <a:spcBef>
                <a:spcPts val="0"/>
              </a:spcBef>
              <a:spcAft>
                <a:spcPts val="0"/>
              </a:spcAft>
              <a:buNone/>
            </a:pPr>
            <a:r>
              <a:rPr lang="en" dirty="0"/>
              <a:t>Calculate (</a:t>
            </a:r>
            <a:r>
              <a:rPr lang="en" i="1" dirty="0"/>
              <a:t>g</a:t>
            </a:r>
            <a:r>
              <a:rPr lang="en" i="1" baseline="30000" dirty="0">
                <a:solidFill>
                  <a:srgbClr val="E69138"/>
                </a:solidFill>
              </a:rPr>
              <a:t>a</a:t>
            </a:r>
            <a:r>
              <a:rPr lang="en" dirty="0"/>
              <a:t>)</a:t>
            </a:r>
            <a:r>
              <a:rPr lang="en" i="1" baseline="30000" dirty="0">
                <a:solidFill>
                  <a:srgbClr val="1155CC"/>
                </a:solidFill>
              </a:rPr>
              <a:t>b</a:t>
            </a:r>
            <a:r>
              <a:rPr lang="en" dirty="0"/>
              <a:t> mod </a:t>
            </a:r>
            <a:r>
              <a:rPr lang="en" i="1" dirty="0"/>
              <a:t>p</a:t>
            </a:r>
            <a:endParaRPr i="1" dirty="0"/>
          </a:p>
        </p:txBody>
      </p:sp>
      <p:grpSp>
        <p:nvGrpSpPr>
          <p:cNvPr id="12" name="Google Shape;181;p27">
            <a:extLst>
              <a:ext uri="{FF2B5EF4-FFF2-40B4-BE49-F238E27FC236}">
                <a16:creationId xmlns:a16="http://schemas.microsoft.com/office/drawing/2014/main" id="{4BB2286C-CC93-561B-FA01-8BFEABC0F3FC}"/>
              </a:ext>
            </a:extLst>
          </p:cNvPr>
          <p:cNvGrpSpPr/>
          <p:nvPr/>
        </p:nvGrpSpPr>
        <p:grpSpPr>
          <a:xfrm>
            <a:off x="4711598" y="2960238"/>
            <a:ext cx="3333000" cy="1034575"/>
            <a:chOff x="2961600" y="2321275"/>
            <a:chExt cx="3333000" cy="1034575"/>
          </a:xfrm>
        </p:grpSpPr>
        <p:cxnSp>
          <p:nvCxnSpPr>
            <p:cNvPr id="13" name="Google Shape;182;p27">
              <a:extLst>
                <a:ext uri="{FF2B5EF4-FFF2-40B4-BE49-F238E27FC236}">
                  <a16:creationId xmlns:a16="http://schemas.microsoft.com/office/drawing/2014/main" id="{9CBA149D-7BBE-947B-88F0-8F45E817AF77}"/>
                </a:ext>
              </a:extLst>
            </p:cNvPr>
            <p:cNvCxnSpPr/>
            <p:nvPr/>
          </p:nvCxnSpPr>
          <p:spPr>
            <a:xfrm>
              <a:off x="2961600" y="2544650"/>
              <a:ext cx="3333000" cy="811200"/>
            </a:xfrm>
            <a:prstGeom prst="straightConnector1">
              <a:avLst/>
            </a:prstGeom>
            <a:noFill/>
            <a:ln w="9525" cap="flat" cmpd="sng">
              <a:solidFill>
                <a:schemeClr val="dk2"/>
              </a:solidFill>
              <a:prstDash val="solid"/>
              <a:round/>
              <a:headEnd type="none" w="med" len="med"/>
              <a:tailEnd type="triangle" w="med" len="med"/>
            </a:ln>
          </p:spPr>
        </p:cxnSp>
        <p:sp>
          <p:nvSpPr>
            <p:cNvPr id="14" name="Google Shape;183;p27">
              <a:extLst>
                <a:ext uri="{FF2B5EF4-FFF2-40B4-BE49-F238E27FC236}">
                  <a16:creationId xmlns:a16="http://schemas.microsoft.com/office/drawing/2014/main" id="{9C0548AE-5E75-53EF-3C42-A961C747AC3E}"/>
                </a:ext>
              </a:extLst>
            </p:cNvPr>
            <p:cNvSpPr txBox="1"/>
            <p:nvPr/>
          </p:nvSpPr>
          <p:spPr>
            <a:xfrm>
              <a:off x="3448325" y="2321275"/>
              <a:ext cx="411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g</a:t>
              </a:r>
              <a:r>
                <a:rPr lang="en" i="1" baseline="30000">
                  <a:solidFill>
                    <a:srgbClr val="E69138"/>
                  </a:solidFill>
                </a:rPr>
                <a:t>a</a:t>
              </a:r>
              <a:endParaRPr i="1" baseline="30000">
                <a:solidFill>
                  <a:srgbClr val="E69138"/>
                </a:solidFill>
                <a:latin typeface="Lato"/>
                <a:ea typeface="Lato"/>
                <a:cs typeface="Lato"/>
                <a:sym typeface="Lato"/>
              </a:endParaRPr>
            </a:p>
          </p:txBody>
        </p:sp>
      </p:grpSp>
      <p:grpSp>
        <p:nvGrpSpPr>
          <p:cNvPr id="15" name="Google Shape;184;p27">
            <a:extLst>
              <a:ext uri="{FF2B5EF4-FFF2-40B4-BE49-F238E27FC236}">
                <a16:creationId xmlns:a16="http://schemas.microsoft.com/office/drawing/2014/main" id="{44708A6B-5BE5-9EC0-E6E8-11EA6A2D363C}"/>
              </a:ext>
            </a:extLst>
          </p:cNvPr>
          <p:cNvGrpSpPr/>
          <p:nvPr/>
        </p:nvGrpSpPr>
        <p:grpSpPr>
          <a:xfrm>
            <a:off x="4676348" y="2957662"/>
            <a:ext cx="3403500" cy="1005175"/>
            <a:chOff x="2891100" y="2321275"/>
            <a:chExt cx="3403500" cy="1005175"/>
          </a:xfrm>
        </p:grpSpPr>
        <p:cxnSp>
          <p:nvCxnSpPr>
            <p:cNvPr id="16" name="Google Shape;185;p27">
              <a:extLst>
                <a:ext uri="{FF2B5EF4-FFF2-40B4-BE49-F238E27FC236}">
                  <a16:creationId xmlns:a16="http://schemas.microsoft.com/office/drawing/2014/main" id="{3AA3C6D5-1832-9DBC-1583-D3074C5B1B42}"/>
                </a:ext>
              </a:extLst>
            </p:cNvPr>
            <p:cNvCxnSpPr/>
            <p:nvPr/>
          </p:nvCxnSpPr>
          <p:spPr>
            <a:xfrm flipH="1">
              <a:off x="2891100" y="2544650"/>
              <a:ext cx="3403500" cy="781800"/>
            </a:xfrm>
            <a:prstGeom prst="straightConnector1">
              <a:avLst/>
            </a:prstGeom>
            <a:noFill/>
            <a:ln w="9525" cap="flat" cmpd="sng">
              <a:solidFill>
                <a:schemeClr val="dk2"/>
              </a:solidFill>
              <a:prstDash val="solid"/>
              <a:round/>
              <a:headEnd type="none" w="med" len="med"/>
              <a:tailEnd type="triangle" w="med" len="med"/>
            </a:ln>
          </p:spPr>
        </p:cxnSp>
        <p:sp>
          <p:nvSpPr>
            <p:cNvPr id="17" name="Google Shape;186;p27">
              <a:extLst>
                <a:ext uri="{FF2B5EF4-FFF2-40B4-BE49-F238E27FC236}">
                  <a16:creationId xmlns:a16="http://schemas.microsoft.com/office/drawing/2014/main" id="{0E4D7010-40E9-499D-9949-C9C13EE2E886}"/>
                </a:ext>
              </a:extLst>
            </p:cNvPr>
            <p:cNvSpPr txBox="1"/>
            <p:nvPr/>
          </p:nvSpPr>
          <p:spPr>
            <a:xfrm>
              <a:off x="5293675" y="2321275"/>
              <a:ext cx="411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g</a:t>
              </a:r>
              <a:r>
                <a:rPr lang="en" i="1" baseline="30000">
                  <a:solidFill>
                    <a:srgbClr val="1155CC"/>
                  </a:solidFill>
                </a:rPr>
                <a:t>b</a:t>
              </a:r>
              <a:endParaRPr i="1" baseline="30000">
                <a:solidFill>
                  <a:srgbClr val="1155CC"/>
                </a:solidFill>
              </a:endParaRPr>
            </a:p>
          </p:txBody>
        </p:sp>
      </p:grpSp>
      <p:sp>
        <p:nvSpPr>
          <p:cNvPr id="18" name="Google Shape;187;p27">
            <a:extLst>
              <a:ext uri="{FF2B5EF4-FFF2-40B4-BE49-F238E27FC236}">
                <a16:creationId xmlns:a16="http://schemas.microsoft.com/office/drawing/2014/main" id="{D1751DBB-A821-8BA4-39A2-C353499A65B8}"/>
              </a:ext>
            </a:extLst>
          </p:cNvPr>
          <p:cNvSpPr txBox="1"/>
          <p:nvPr/>
        </p:nvSpPr>
        <p:spPr>
          <a:xfrm>
            <a:off x="2188987" y="5217473"/>
            <a:ext cx="1547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solidFill>
                  <a:srgbClr val="E69138"/>
                </a:solidFill>
              </a:rPr>
              <a:t>a</a:t>
            </a:r>
            <a:r>
              <a:rPr lang="en"/>
              <a:t>, </a:t>
            </a:r>
            <a:r>
              <a:rPr lang="en" i="1"/>
              <a:t>g</a:t>
            </a:r>
            <a:r>
              <a:rPr lang="en" i="1" baseline="30000">
                <a:solidFill>
                  <a:srgbClr val="E69138"/>
                </a:solidFill>
              </a:rPr>
              <a:t>a</a:t>
            </a:r>
            <a:r>
              <a:rPr lang="en"/>
              <a:t>, </a:t>
            </a:r>
            <a:r>
              <a:rPr lang="en" i="1"/>
              <a:t>g</a:t>
            </a:r>
            <a:r>
              <a:rPr lang="en" i="1" baseline="30000">
                <a:solidFill>
                  <a:srgbClr val="1155CC"/>
                </a:solidFill>
              </a:rPr>
              <a:t>b</a:t>
            </a:r>
            <a:r>
              <a:rPr lang="en"/>
              <a:t> ⇒ </a:t>
            </a:r>
            <a:r>
              <a:rPr lang="en" i="1"/>
              <a:t>g</a:t>
            </a:r>
            <a:r>
              <a:rPr lang="en" i="1" baseline="30000">
                <a:solidFill>
                  <a:srgbClr val="E69138"/>
                </a:solidFill>
              </a:rPr>
              <a:t>a</a:t>
            </a:r>
            <a:r>
              <a:rPr lang="en" i="1" baseline="30000">
                <a:solidFill>
                  <a:srgbClr val="1155CC"/>
                </a:solidFill>
              </a:rPr>
              <a:t>b</a:t>
            </a:r>
            <a:endParaRPr i="1" baseline="30000">
              <a:solidFill>
                <a:srgbClr val="1155CC"/>
              </a:solidFill>
            </a:endParaRPr>
          </a:p>
        </p:txBody>
      </p:sp>
      <p:sp>
        <p:nvSpPr>
          <p:cNvPr id="19" name="Google Shape;188;p27">
            <a:extLst>
              <a:ext uri="{FF2B5EF4-FFF2-40B4-BE49-F238E27FC236}">
                <a16:creationId xmlns:a16="http://schemas.microsoft.com/office/drawing/2014/main" id="{1D832BD5-D2BB-9A3A-C834-3E3FB14E1BAC}"/>
              </a:ext>
            </a:extLst>
          </p:cNvPr>
          <p:cNvSpPr txBox="1"/>
          <p:nvPr/>
        </p:nvSpPr>
        <p:spPr>
          <a:xfrm>
            <a:off x="9511266" y="5210568"/>
            <a:ext cx="1547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dirty="0">
                <a:solidFill>
                  <a:srgbClr val="1155CC"/>
                </a:solidFill>
              </a:rPr>
              <a:t>b</a:t>
            </a:r>
            <a:r>
              <a:rPr lang="en" dirty="0"/>
              <a:t>, </a:t>
            </a:r>
            <a:r>
              <a:rPr lang="en" i="1" dirty="0"/>
              <a:t>g</a:t>
            </a:r>
            <a:r>
              <a:rPr lang="en" i="1" baseline="30000" dirty="0">
                <a:solidFill>
                  <a:srgbClr val="E69138"/>
                </a:solidFill>
              </a:rPr>
              <a:t>a</a:t>
            </a:r>
            <a:r>
              <a:rPr lang="en" dirty="0"/>
              <a:t>, </a:t>
            </a:r>
            <a:r>
              <a:rPr lang="en" i="1" dirty="0"/>
              <a:t>g</a:t>
            </a:r>
            <a:r>
              <a:rPr lang="en" i="1" baseline="30000" dirty="0">
                <a:solidFill>
                  <a:srgbClr val="1155CC"/>
                </a:solidFill>
              </a:rPr>
              <a:t>b</a:t>
            </a:r>
            <a:r>
              <a:rPr lang="en" dirty="0"/>
              <a:t> ⇒ </a:t>
            </a:r>
            <a:r>
              <a:rPr lang="en" i="1" dirty="0"/>
              <a:t>g</a:t>
            </a:r>
            <a:r>
              <a:rPr lang="en" i="1" baseline="30000" dirty="0">
                <a:solidFill>
                  <a:srgbClr val="E69138"/>
                </a:solidFill>
              </a:rPr>
              <a:t>a</a:t>
            </a:r>
            <a:r>
              <a:rPr lang="en" i="1" baseline="30000" dirty="0">
                <a:solidFill>
                  <a:srgbClr val="1155CC"/>
                </a:solidFill>
              </a:rPr>
              <a:t>b</a:t>
            </a:r>
            <a:endParaRPr i="1" baseline="30000" dirty="0">
              <a:solidFill>
                <a:srgbClr val="1155CC"/>
              </a:solidFill>
            </a:endParaRPr>
          </a:p>
        </p:txBody>
      </p:sp>
      <p:grpSp>
        <p:nvGrpSpPr>
          <p:cNvPr id="20" name="Google Shape;189;p27">
            <a:extLst>
              <a:ext uri="{FF2B5EF4-FFF2-40B4-BE49-F238E27FC236}">
                <a16:creationId xmlns:a16="http://schemas.microsoft.com/office/drawing/2014/main" id="{2A04FC3D-A7E2-A68E-A34F-F7E9A6101D50}"/>
              </a:ext>
            </a:extLst>
          </p:cNvPr>
          <p:cNvGrpSpPr/>
          <p:nvPr/>
        </p:nvGrpSpPr>
        <p:grpSpPr>
          <a:xfrm>
            <a:off x="5415342" y="4869768"/>
            <a:ext cx="1547700" cy="400200"/>
            <a:chOff x="3760750" y="4003125"/>
            <a:chExt cx="1547700" cy="400200"/>
          </a:xfrm>
        </p:grpSpPr>
        <p:sp>
          <p:nvSpPr>
            <p:cNvPr id="21" name="Google Shape;190;p27">
              <a:extLst>
                <a:ext uri="{FF2B5EF4-FFF2-40B4-BE49-F238E27FC236}">
                  <a16:creationId xmlns:a16="http://schemas.microsoft.com/office/drawing/2014/main" id="{CD55A905-D0B1-0245-26CD-58E9BBAEC3A6}"/>
                </a:ext>
              </a:extLst>
            </p:cNvPr>
            <p:cNvSpPr txBox="1"/>
            <p:nvPr/>
          </p:nvSpPr>
          <p:spPr>
            <a:xfrm>
              <a:off x="3760750" y="4003125"/>
              <a:ext cx="1547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g</a:t>
              </a:r>
              <a:r>
                <a:rPr lang="en" i="1" baseline="30000">
                  <a:solidFill>
                    <a:srgbClr val="E69138"/>
                  </a:solidFill>
                </a:rPr>
                <a:t>a</a:t>
              </a:r>
              <a:r>
                <a:rPr lang="en"/>
                <a:t>, </a:t>
              </a:r>
              <a:r>
                <a:rPr lang="en" i="1"/>
                <a:t>g</a:t>
              </a:r>
              <a:r>
                <a:rPr lang="en" i="1" baseline="30000">
                  <a:solidFill>
                    <a:srgbClr val="1155CC"/>
                  </a:solidFill>
                </a:rPr>
                <a:t>b</a:t>
              </a:r>
              <a:r>
                <a:rPr lang="en"/>
                <a:t> ⇒ </a:t>
              </a:r>
              <a:r>
                <a:rPr lang="en" i="1"/>
                <a:t>g</a:t>
              </a:r>
              <a:r>
                <a:rPr lang="en" i="1" baseline="30000">
                  <a:solidFill>
                    <a:srgbClr val="E69138"/>
                  </a:solidFill>
                </a:rPr>
                <a:t>a</a:t>
              </a:r>
              <a:r>
                <a:rPr lang="en" i="1" baseline="30000">
                  <a:solidFill>
                    <a:srgbClr val="1155CC"/>
                  </a:solidFill>
                </a:rPr>
                <a:t>b</a:t>
              </a:r>
              <a:endParaRPr i="1" baseline="30000">
                <a:solidFill>
                  <a:srgbClr val="1155CC"/>
                </a:solidFill>
              </a:endParaRPr>
            </a:p>
          </p:txBody>
        </p:sp>
        <p:cxnSp>
          <p:nvCxnSpPr>
            <p:cNvPr id="22" name="Google Shape;191;p27">
              <a:extLst>
                <a:ext uri="{FF2B5EF4-FFF2-40B4-BE49-F238E27FC236}">
                  <a16:creationId xmlns:a16="http://schemas.microsoft.com/office/drawing/2014/main" id="{3C557808-9108-6D44-FE95-D1CFCBC269E4}"/>
                </a:ext>
              </a:extLst>
            </p:cNvPr>
            <p:cNvCxnSpPr/>
            <p:nvPr/>
          </p:nvCxnSpPr>
          <p:spPr>
            <a:xfrm rot="10800000" flipH="1">
              <a:off x="4532463" y="4136925"/>
              <a:ext cx="161400" cy="155700"/>
            </a:xfrm>
            <a:prstGeom prst="straightConnector1">
              <a:avLst/>
            </a:prstGeom>
            <a:noFill/>
            <a:ln w="19050" cap="flat" cmpd="sng">
              <a:solidFill>
                <a:schemeClr val="dk1"/>
              </a:solidFill>
              <a:prstDash val="solid"/>
              <a:round/>
              <a:headEnd type="none" w="med" len="med"/>
              <a:tailEnd type="none" w="med" len="med"/>
            </a:ln>
          </p:spPr>
        </p:cxnSp>
      </p:grpSp>
      <p:sp>
        <p:nvSpPr>
          <p:cNvPr id="23" name="Google Shape;192;p27">
            <a:extLst>
              <a:ext uri="{FF2B5EF4-FFF2-40B4-BE49-F238E27FC236}">
                <a16:creationId xmlns:a16="http://schemas.microsoft.com/office/drawing/2014/main" id="{73568876-46D9-4BBE-1ABB-4F164EFE66F1}"/>
              </a:ext>
            </a:extLst>
          </p:cNvPr>
          <p:cNvSpPr txBox="1"/>
          <p:nvPr/>
        </p:nvSpPr>
        <p:spPr>
          <a:xfrm>
            <a:off x="4771643" y="2109230"/>
            <a:ext cx="3038367" cy="101563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i="1" dirty="0">
                <a:solidFill>
                  <a:srgbClr val="C00000"/>
                </a:solidFill>
              </a:rPr>
              <a:t>Q: What if Mallory can actively change messages (malicious attacker)? </a:t>
            </a:r>
            <a:endParaRPr b="1" i="1" dirty="0">
              <a:solidFill>
                <a:srgbClr val="C00000"/>
              </a:solidFill>
            </a:endParaRPr>
          </a:p>
        </p:txBody>
      </p:sp>
      <p:sp>
        <p:nvSpPr>
          <p:cNvPr id="24" name="Google Shape;193;p27">
            <a:extLst>
              <a:ext uri="{FF2B5EF4-FFF2-40B4-BE49-F238E27FC236}">
                <a16:creationId xmlns:a16="http://schemas.microsoft.com/office/drawing/2014/main" id="{8EB3B9FA-370E-26B0-E447-895097418563}"/>
              </a:ext>
            </a:extLst>
          </p:cNvPr>
          <p:cNvSpPr txBox="1"/>
          <p:nvPr/>
        </p:nvSpPr>
        <p:spPr>
          <a:xfrm>
            <a:off x="5454751" y="1702045"/>
            <a:ext cx="1508291"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t>Public: </a:t>
            </a:r>
            <a:r>
              <a:rPr lang="en" i="1" dirty="0"/>
              <a:t>g</a:t>
            </a:r>
            <a:r>
              <a:rPr lang="en" dirty="0"/>
              <a:t>, </a:t>
            </a:r>
            <a:r>
              <a:rPr lang="en" i="1" dirty="0"/>
              <a:t>p</a:t>
            </a:r>
            <a:endParaRPr i="1" dirty="0"/>
          </a:p>
        </p:txBody>
      </p:sp>
      <p:sp>
        <p:nvSpPr>
          <p:cNvPr id="27" name="Google Shape;196;p27">
            <a:extLst>
              <a:ext uri="{FF2B5EF4-FFF2-40B4-BE49-F238E27FC236}">
                <a16:creationId xmlns:a16="http://schemas.microsoft.com/office/drawing/2014/main" id="{2402FC61-2039-AEF1-0559-9E967FAE57FD}"/>
              </a:ext>
            </a:extLst>
          </p:cNvPr>
          <p:cNvSpPr txBox="1"/>
          <p:nvPr/>
        </p:nvSpPr>
        <p:spPr>
          <a:xfrm>
            <a:off x="340799" y="2495787"/>
            <a:ext cx="1388381" cy="738633"/>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dirty="0"/>
              <a:t>Private parameter</a:t>
            </a:r>
            <a:endParaRPr dirty="0"/>
          </a:p>
        </p:txBody>
      </p:sp>
      <p:cxnSp>
        <p:nvCxnSpPr>
          <p:cNvPr id="28" name="Google Shape;197;p27">
            <a:extLst>
              <a:ext uri="{FF2B5EF4-FFF2-40B4-BE49-F238E27FC236}">
                <a16:creationId xmlns:a16="http://schemas.microsoft.com/office/drawing/2014/main" id="{E5C68177-9891-A4C3-7416-78266FBCA389}"/>
              </a:ext>
            </a:extLst>
          </p:cNvPr>
          <p:cNvCxnSpPr>
            <a:cxnSpLocks/>
            <a:stCxn id="27" idx="3"/>
          </p:cNvCxnSpPr>
          <p:nvPr/>
        </p:nvCxnSpPr>
        <p:spPr>
          <a:xfrm flipV="1">
            <a:off x="1729180" y="2637692"/>
            <a:ext cx="635951" cy="227412"/>
          </a:xfrm>
          <a:prstGeom prst="straightConnector1">
            <a:avLst/>
          </a:prstGeom>
          <a:noFill/>
          <a:ln w="9525" cap="flat" cmpd="sng">
            <a:solidFill>
              <a:srgbClr val="595959"/>
            </a:solidFill>
            <a:prstDash val="solid"/>
            <a:round/>
            <a:headEnd type="none" w="med" len="med"/>
            <a:tailEnd type="triangle" w="med" len="med"/>
          </a:ln>
        </p:spPr>
      </p:cxnSp>
      <p:sp>
        <p:nvSpPr>
          <p:cNvPr id="29" name="Google Shape;198;p27">
            <a:extLst>
              <a:ext uri="{FF2B5EF4-FFF2-40B4-BE49-F238E27FC236}">
                <a16:creationId xmlns:a16="http://schemas.microsoft.com/office/drawing/2014/main" id="{20B3FFC5-5E31-D523-DE53-7AAD02667805}"/>
              </a:ext>
            </a:extLst>
          </p:cNvPr>
          <p:cNvSpPr txBox="1"/>
          <p:nvPr/>
        </p:nvSpPr>
        <p:spPr>
          <a:xfrm>
            <a:off x="340799" y="3369650"/>
            <a:ext cx="1388381" cy="738633"/>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dirty="0"/>
              <a:t>Public parameter</a:t>
            </a:r>
            <a:endParaRPr dirty="0"/>
          </a:p>
        </p:txBody>
      </p:sp>
      <p:sp>
        <p:nvSpPr>
          <p:cNvPr id="31" name="Google Shape;200;p27">
            <a:extLst>
              <a:ext uri="{FF2B5EF4-FFF2-40B4-BE49-F238E27FC236}">
                <a16:creationId xmlns:a16="http://schemas.microsoft.com/office/drawing/2014/main" id="{E00B51E6-F5CA-C20E-452A-367B9E816EE2}"/>
              </a:ext>
            </a:extLst>
          </p:cNvPr>
          <p:cNvSpPr txBox="1"/>
          <p:nvPr/>
        </p:nvSpPr>
        <p:spPr>
          <a:xfrm>
            <a:off x="717572" y="6086611"/>
            <a:ext cx="4145943" cy="52319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dirty="0"/>
              <a:t>Shared symmetric key is K=</a:t>
            </a:r>
            <a:r>
              <a:rPr lang="en" sz="2200" b="1" i="1" dirty="0">
                <a:solidFill>
                  <a:schemeClr val="dk1"/>
                </a:solidFill>
              </a:rPr>
              <a:t>g</a:t>
            </a:r>
            <a:r>
              <a:rPr lang="en" sz="2200" b="1" i="1" baseline="30000" dirty="0">
                <a:solidFill>
                  <a:srgbClr val="E69138"/>
                </a:solidFill>
              </a:rPr>
              <a:t>a</a:t>
            </a:r>
            <a:r>
              <a:rPr lang="en" sz="2200" b="1" i="1" baseline="30000" dirty="0">
                <a:solidFill>
                  <a:srgbClr val="1155CC"/>
                </a:solidFill>
              </a:rPr>
              <a:t>b</a:t>
            </a:r>
            <a:endParaRPr sz="2200" b="1" dirty="0"/>
          </a:p>
        </p:txBody>
      </p:sp>
      <p:sp>
        <p:nvSpPr>
          <p:cNvPr id="32" name="Google Shape;201;p27">
            <a:extLst>
              <a:ext uri="{FF2B5EF4-FFF2-40B4-BE49-F238E27FC236}">
                <a16:creationId xmlns:a16="http://schemas.microsoft.com/office/drawing/2014/main" id="{8DA58511-15E4-42FE-5BB8-2BF2360A02BC}"/>
              </a:ext>
            </a:extLst>
          </p:cNvPr>
          <p:cNvSpPr txBox="1"/>
          <p:nvPr/>
        </p:nvSpPr>
        <p:spPr>
          <a:xfrm>
            <a:off x="7965831" y="6092675"/>
            <a:ext cx="4145944" cy="52319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dirty="0"/>
              <a:t>Shared symmetric key is K=</a:t>
            </a:r>
            <a:r>
              <a:rPr lang="en" sz="2200" b="1" i="1" dirty="0">
                <a:solidFill>
                  <a:schemeClr val="dk1"/>
                </a:solidFill>
              </a:rPr>
              <a:t>g</a:t>
            </a:r>
            <a:r>
              <a:rPr lang="en" sz="2200" b="1" i="1" baseline="30000" dirty="0">
                <a:solidFill>
                  <a:srgbClr val="E69138"/>
                </a:solidFill>
              </a:rPr>
              <a:t>a</a:t>
            </a:r>
            <a:r>
              <a:rPr lang="en" sz="2200" b="1" i="1" baseline="30000" dirty="0">
                <a:solidFill>
                  <a:srgbClr val="1155CC"/>
                </a:solidFill>
              </a:rPr>
              <a:t>b</a:t>
            </a:r>
            <a:endParaRPr sz="2200" b="1" dirty="0"/>
          </a:p>
        </p:txBody>
      </p:sp>
      <p:pic>
        <p:nvPicPr>
          <p:cNvPr id="3" name="Google Shape;200;p33">
            <a:extLst>
              <a:ext uri="{FF2B5EF4-FFF2-40B4-BE49-F238E27FC236}">
                <a16:creationId xmlns:a16="http://schemas.microsoft.com/office/drawing/2014/main" id="{B704C8FE-C34A-D799-10DE-15106329C75A}"/>
              </a:ext>
            </a:extLst>
          </p:cNvPr>
          <p:cNvPicPr preferRelativeResize="0"/>
          <p:nvPr/>
        </p:nvPicPr>
        <p:blipFill>
          <a:blip r:embed="rId2">
            <a:alphaModFix/>
          </a:blip>
          <a:stretch>
            <a:fillRect/>
          </a:stretch>
        </p:blipFill>
        <p:spPr>
          <a:xfrm>
            <a:off x="2228521" y="658413"/>
            <a:ext cx="1554480" cy="1371600"/>
          </a:xfrm>
          <a:prstGeom prst="rect">
            <a:avLst/>
          </a:prstGeom>
          <a:noFill/>
          <a:ln>
            <a:noFill/>
          </a:ln>
        </p:spPr>
      </p:pic>
      <p:pic>
        <p:nvPicPr>
          <p:cNvPr id="25" name="Google Shape;95;p20">
            <a:extLst>
              <a:ext uri="{FF2B5EF4-FFF2-40B4-BE49-F238E27FC236}">
                <a16:creationId xmlns:a16="http://schemas.microsoft.com/office/drawing/2014/main" id="{CF2AAF58-DF2A-90BC-96A1-7458D61C066C}"/>
              </a:ext>
            </a:extLst>
          </p:cNvPr>
          <p:cNvPicPr preferRelativeResize="0"/>
          <p:nvPr/>
        </p:nvPicPr>
        <p:blipFill>
          <a:blip r:embed="rId3">
            <a:alphaModFix/>
          </a:blip>
          <a:stretch>
            <a:fillRect/>
          </a:stretch>
        </p:blipFill>
        <p:spPr>
          <a:xfrm>
            <a:off x="9497080" y="675146"/>
            <a:ext cx="1554480" cy="1371600"/>
          </a:xfrm>
          <a:prstGeom prst="rect">
            <a:avLst/>
          </a:prstGeom>
          <a:noFill/>
          <a:ln>
            <a:noFill/>
          </a:ln>
        </p:spPr>
      </p:pic>
    </p:spTree>
    <p:extLst>
      <p:ext uri="{BB962C8B-B14F-4D97-AF65-F5344CB8AC3E}">
        <p14:creationId xmlns:p14="http://schemas.microsoft.com/office/powerpoint/2010/main" val="3148092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24E85-1CE2-9841-EEA7-89B708D95A9E}"/>
              </a:ext>
            </a:extLst>
          </p:cNvPr>
          <p:cNvSpPr>
            <a:spLocks noGrp="1"/>
          </p:cNvSpPr>
          <p:nvPr>
            <p:ph type="title"/>
          </p:nvPr>
        </p:nvSpPr>
        <p:spPr>
          <a:xfrm>
            <a:off x="838199" y="53227"/>
            <a:ext cx="10515600" cy="694820"/>
          </a:xfrm>
        </p:spPr>
        <p:txBody>
          <a:bodyPr>
            <a:normAutofit fontScale="90000"/>
          </a:bodyPr>
          <a:lstStyle/>
          <a:p>
            <a:r>
              <a:rPr lang="en-US" dirty="0"/>
              <a:t>Diffie-Hellman: </a:t>
            </a:r>
            <a:r>
              <a:rPr lang="en-US" dirty="0">
                <a:solidFill>
                  <a:srgbClr val="C00000"/>
                </a:solidFill>
              </a:rPr>
              <a:t>Man-in-the-middle Attack</a:t>
            </a:r>
            <a:endParaRPr lang="en-US" dirty="0"/>
          </a:p>
        </p:txBody>
      </p:sp>
      <p:cxnSp>
        <p:nvCxnSpPr>
          <p:cNvPr id="6" name="Google Shape;208;p28">
            <a:extLst>
              <a:ext uri="{FF2B5EF4-FFF2-40B4-BE49-F238E27FC236}">
                <a16:creationId xmlns:a16="http://schemas.microsoft.com/office/drawing/2014/main" id="{FF362113-477A-1661-5A1F-D82BD5C920CB}"/>
              </a:ext>
            </a:extLst>
          </p:cNvPr>
          <p:cNvCxnSpPr/>
          <p:nvPr/>
        </p:nvCxnSpPr>
        <p:spPr>
          <a:xfrm>
            <a:off x="3917588" y="3103000"/>
            <a:ext cx="0" cy="3309600"/>
          </a:xfrm>
          <a:prstGeom prst="straightConnector1">
            <a:avLst/>
          </a:prstGeom>
          <a:noFill/>
          <a:ln w="9525" cap="flat" cmpd="sng">
            <a:solidFill>
              <a:schemeClr val="dk2"/>
            </a:solidFill>
            <a:prstDash val="solid"/>
            <a:round/>
            <a:headEnd type="none" w="med" len="med"/>
            <a:tailEnd type="none" w="med" len="med"/>
          </a:ln>
        </p:spPr>
      </p:cxnSp>
      <p:cxnSp>
        <p:nvCxnSpPr>
          <p:cNvPr id="7" name="Google Shape;209;p28">
            <a:extLst>
              <a:ext uri="{FF2B5EF4-FFF2-40B4-BE49-F238E27FC236}">
                <a16:creationId xmlns:a16="http://schemas.microsoft.com/office/drawing/2014/main" id="{F7A41DF4-1D93-F966-0649-75071228757D}"/>
              </a:ext>
            </a:extLst>
          </p:cNvPr>
          <p:cNvCxnSpPr/>
          <p:nvPr/>
        </p:nvCxnSpPr>
        <p:spPr>
          <a:xfrm>
            <a:off x="8018901" y="3101662"/>
            <a:ext cx="0" cy="3309600"/>
          </a:xfrm>
          <a:prstGeom prst="straightConnector1">
            <a:avLst/>
          </a:prstGeom>
          <a:noFill/>
          <a:ln w="9525" cap="flat" cmpd="sng">
            <a:solidFill>
              <a:schemeClr val="dk2"/>
            </a:solidFill>
            <a:prstDash val="solid"/>
            <a:round/>
            <a:headEnd type="none" w="med" len="med"/>
            <a:tailEnd type="none" w="med" len="med"/>
          </a:ln>
        </p:spPr>
      </p:cxnSp>
      <p:sp>
        <p:nvSpPr>
          <p:cNvPr id="8" name="Google Shape;210;p28">
            <a:extLst>
              <a:ext uri="{FF2B5EF4-FFF2-40B4-BE49-F238E27FC236}">
                <a16:creationId xmlns:a16="http://schemas.microsoft.com/office/drawing/2014/main" id="{07E35BC2-0E6C-80AC-BD60-CAF876664565}"/>
              </a:ext>
            </a:extLst>
          </p:cNvPr>
          <p:cNvSpPr txBox="1"/>
          <p:nvPr/>
        </p:nvSpPr>
        <p:spPr>
          <a:xfrm>
            <a:off x="1707080" y="2406237"/>
            <a:ext cx="8109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t>Alice</a:t>
            </a:r>
            <a:endParaRPr dirty="0"/>
          </a:p>
        </p:txBody>
      </p:sp>
      <p:sp>
        <p:nvSpPr>
          <p:cNvPr id="9" name="Google Shape;211;p28">
            <a:extLst>
              <a:ext uri="{FF2B5EF4-FFF2-40B4-BE49-F238E27FC236}">
                <a16:creationId xmlns:a16="http://schemas.microsoft.com/office/drawing/2014/main" id="{C0A80DAF-17F4-CE6F-416D-828F505805C9}"/>
              </a:ext>
            </a:extLst>
          </p:cNvPr>
          <p:cNvSpPr txBox="1"/>
          <p:nvPr/>
        </p:nvSpPr>
        <p:spPr>
          <a:xfrm>
            <a:off x="9264354" y="2406237"/>
            <a:ext cx="8109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t>Bob</a:t>
            </a:r>
            <a:endParaRPr dirty="0"/>
          </a:p>
        </p:txBody>
      </p:sp>
      <p:sp>
        <p:nvSpPr>
          <p:cNvPr id="10" name="Google Shape;212;p28">
            <a:extLst>
              <a:ext uri="{FF2B5EF4-FFF2-40B4-BE49-F238E27FC236}">
                <a16:creationId xmlns:a16="http://schemas.microsoft.com/office/drawing/2014/main" id="{00ECB0A4-ED53-BD78-1EE7-5EE47D27BB30}"/>
              </a:ext>
            </a:extLst>
          </p:cNvPr>
          <p:cNvSpPr txBox="1"/>
          <p:nvPr/>
        </p:nvSpPr>
        <p:spPr>
          <a:xfrm>
            <a:off x="991070" y="3270037"/>
            <a:ext cx="2439550" cy="267762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t>Generate </a:t>
            </a:r>
            <a:r>
              <a:rPr lang="en" i="1" dirty="0">
                <a:solidFill>
                  <a:srgbClr val="E69138"/>
                </a:solidFill>
              </a:rPr>
              <a:t>a</a:t>
            </a:r>
            <a:endParaRPr i="1" dirty="0">
              <a:solidFill>
                <a:srgbClr val="E69138"/>
              </a:solidFill>
            </a:endParaRPr>
          </a:p>
          <a:p>
            <a:pPr marL="0" lvl="0" indent="0" algn="ctr" rtl="0">
              <a:spcBef>
                <a:spcPts val="0"/>
              </a:spcBef>
              <a:spcAft>
                <a:spcPts val="0"/>
              </a:spcAft>
              <a:buNone/>
            </a:pPr>
            <a:endParaRPr dirty="0"/>
          </a:p>
          <a:p>
            <a:pPr marL="0" lvl="0" indent="0" algn="ctr" rtl="0">
              <a:spcBef>
                <a:spcPts val="0"/>
              </a:spcBef>
              <a:spcAft>
                <a:spcPts val="0"/>
              </a:spcAft>
              <a:buNone/>
            </a:pPr>
            <a:r>
              <a:rPr lang="en" dirty="0"/>
              <a:t>Calculate </a:t>
            </a:r>
            <a:r>
              <a:rPr lang="en" i="1" dirty="0"/>
              <a:t>g</a:t>
            </a:r>
            <a:r>
              <a:rPr lang="en" i="1" baseline="30000" dirty="0">
                <a:solidFill>
                  <a:srgbClr val="E69138"/>
                </a:solidFill>
              </a:rPr>
              <a:t>a</a:t>
            </a:r>
            <a:r>
              <a:rPr lang="en" dirty="0"/>
              <a:t> mod </a:t>
            </a:r>
            <a:r>
              <a:rPr lang="en" i="1" dirty="0"/>
              <a:t>p</a:t>
            </a:r>
            <a:endParaRPr i="1" dirty="0"/>
          </a:p>
          <a:p>
            <a:pPr marL="0" lvl="0" indent="0" algn="ctr" rtl="0">
              <a:spcBef>
                <a:spcPts val="0"/>
              </a:spcBef>
              <a:spcAft>
                <a:spcPts val="0"/>
              </a:spcAft>
              <a:buNone/>
            </a:pPr>
            <a:endParaRPr dirty="0"/>
          </a:p>
          <a:p>
            <a:pPr marL="0" lvl="0" indent="0" algn="ctr" rtl="0">
              <a:spcBef>
                <a:spcPts val="0"/>
              </a:spcBef>
              <a:spcAft>
                <a:spcPts val="0"/>
              </a:spcAft>
              <a:buNone/>
            </a:pPr>
            <a:endParaRPr dirty="0"/>
          </a:p>
          <a:p>
            <a:pPr marL="0" lvl="0" indent="0" algn="ctr" rtl="0">
              <a:spcBef>
                <a:spcPts val="0"/>
              </a:spcBef>
              <a:spcAft>
                <a:spcPts val="0"/>
              </a:spcAft>
              <a:buNone/>
            </a:pPr>
            <a:endParaRPr dirty="0"/>
          </a:p>
          <a:p>
            <a:pPr marL="0" lvl="0" indent="0" algn="ctr" rtl="0">
              <a:spcBef>
                <a:spcPts val="0"/>
              </a:spcBef>
              <a:spcAft>
                <a:spcPts val="0"/>
              </a:spcAft>
              <a:buNone/>
            </a:pPr>
            <a:r>
              <a:rPr lang="en" dirty="0"/>
              <a:t>Receive </a:t>
            </a:r>
            <a:r>
              <a:rPr lang="en" i="1" dirty="0"/>
              <a:t>g</a:t>
            </a:r>
            <a:r>
              <a:rPr lang="en" i="1" baseline="30000" dirty="0">
                <a:solidFill>
                  <a:srgbClr val="CC0000"/>
                </a:solidFill>
              </a:rPr>
              <a:t>m</a:t>
            </a:r>
            <a:r>
              <a:rPr lang="en" dirty="0"/>
              <a:t> mod </a:t>
            </a:r>
            <a:r>
              <a:rPr lang="en" i="1" dirty="0"/>
              <a:t>p</a:t>
            </a:r>
            <a:endParaRPr i="1" dirty="0"/>
          </a:p>
          <a:p>
            <a:pPr marL="0" lvl="0" indent="0" algn="ctr" rtl="0">
              <a:spcBef>
                <a:spcPts val="0"/>
              </a:spcBef>
              <a:spcAft>
                <a:spcPts val="0"/>
              </a:spcAft>
              <a:buNone/>
            </a:pPr>
            <a:endParaRPr dirty="0"/>
          </a:p>
          <a:p>
            <a:pPr marL="0" lvl="0" indent="0" algn="ctr" rtl="0">
              <a:spcBef>
                <a:spcPts val="0"/>
              </a:spcBef>
              <a:spcAft>
                <a:spcPts val="0"/>
              </a:spcAft>
              <a:buNone/>
            </a:pPr>
            <a:r>
              <a:rPr lang="en" dirty="0"/>
              <a:t>Calculate (</a:t>
            </a:r>
            <a:r>
              <a:rPr lang="en" i="1" dirty="0"/>
              <a:t>g</a:t>
            </a:r>
            <a:r>
              <a:rPr lang="en" i="1" baseline="30000" dirty="0">
                <a:solidFill>
                  <a:srgbClr val="CC0000"/>
                </a:solidFill>
              </a:rPr>
              <a:t>m</a:t>
            </a:r>
            <a:r>
              <a:rPr lang="en" dirty="0"/>
              <a:t>)</a:t>
            </a:r>
            <a:r>
              <a:rPr lang="en" i="1" baseline="30000" dirty="0">
                <a:solidFill>
                  <a:srgbClr val="E69138"/>
                </a:solidFill>
              </a:rPr>
              <a:t>a</a:t>
            </a:r>
            <a:r>
              <a:rPr lang="en" dirty="0"/>
              <a:t> mod </a:t>
            </a:r>
            <a:r>
              <a:rPr lang="en" i="1" dirty="0"/>
              <a:t>p</a:t>
            </a:r>
            <a:endParaRPr i="1" dirty="0"/>
          </a:p>
        </p:txBody>
      </p:sp>
      <p:sp>
        <p:nvSpPr>
          <p:cNvPr id="11" name="Google Shape;213;p28">
            <a:extLst>
              <a:ext uri="{FF2B5EF4-FFF2-40B4-BE49-F238E27FC236}">
                <a16:creationId xmlns:a16="http://schemas.microsoft.com/office/drawing/2014/main" id="{5E1ED3FB-F7F7-1FF4-F697-734C28772516}"/>
              </a:ext>
            </a:extLst>
          </p:cNvPr>
          <p:cNvSpPr txBox="1"/>
          <p:nvPr/>
        </p:nvSpPr>
        <p:spPr>
          <a:xfrm>
            <a:off x="8433592" y="3290500"/>
            <a:ext cx="2584891" cy="267762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t>Generate </a:t>
            </a:r>
            <a:r>
              <a:rPr lang="en" i="1" dirty="0">
                <a:solidFill>
                  <a:srgbClr val="1155CC"/>
                </a:solidFill>
              </a:rPr>
              <a:t>b</a:t>
            </a:r>
            <a:endParaRPr i="1" dirty="0">
              <a:solidFill>
                <a:srgbClr val="1155CC"/>
              </a:solidFill>
            </a:endParaRPr>
          </a:p>
          <a:p>
            <a:pPr marL="0" lvl="0" indent="0" algn="ctr" rtl="0">
              <a:spcBef>
                <a:spcPts val="0"/>
              </a:spcBef>
              <a:spcAft>
                <a:spcPts val="0"/>
              </a:spcAft>
              <a:buNone/>
            </a:pPr>
            <a:endParaRPr dirty="0"/>
          </a:p>
          <a:p>
            <a:pPr marL="0" lvl="0" indent="0" algn="ctr" rtl="0">
              <a:spcBef>
                <a:spcPts val="0"/>
              </a:spcBef>
              <a:spcAft>
                <a:spcPts val="0"/>
              </a:spcAft>
              <a:buNone/>
            </a:pPr>
            <a:r>
              <a:rPr lang="en" dirty="0"/>
              <a:t>Calculate </a:t>
            </a:r>
            <a:r>
              <a:rPr lang="en" i="1" dirty="0"/>
              <a:t>g</a:t>
            </a:r>
            <a:r>
              <a:rPr lang="en" i="1" baseline="30000" dirty="0">
                <a:solidFill>
                  <a:srgbClr val="1155CC"/>
                </a:solidFill>
              </a:rPr>
              <a:t>b</a:t>
            </a:r>
            <a:r>
              <a:rPr lang="en" dirty="0"/>
              <a:t> mod </a:t>
            </a:r>
            <a:r>
              <a:rPr lang="en" i="1" dirty="0"/>
              <a:t>p</a:t>
            </a:r>
            <a:endParaRPr i="1" dirty="0"/>
          </a:p>
          <a:p>
            <a:pPr marL="0" lvl="0" indent="0" algn="ctr" rtl="0">
              <a:spcBef>
                <a:spcPts val="0"/>
              </a:spcBef>
              <a:spcAft>
                <a:spcPts val="0"/>
              </a:spcAft>
              <a:buNone/>
            </a:pPr>
            <a:endParaRPr dirty="0"/>
          </a:p>
          <a:p>
            <a:pPr marL="0" lvl="0" indent="0" algn="ctr" rtl="0">
              <a:spcBef>
                <a:spcPts val="0"/>
              </a:spcBef>
              <a:spcAft>
                <a:spcPts val="0"/>
              </a:spcAft>
              <a:buNone/>
            </a:pPr>
            <a:endParaRPr dirty="0"/>
          </a:p>
          <a:p>
            <a:pPr marL="0" lvl="0" indent="0" algn="ctr" rtl="0">
              <a:spcBef>
                <a:spcPts val="0"/>
              </a:spcBef>
              <a:spcAft>
                <a:spcPts val="0"/>
              </a:spcAft>
              <a:buNone/>
            </a:pPr>
            <a:endParaRPr dirty="0"/>
          </a:p>
          <a:p>
            <a:pPr marL="0" lvl="0" indent="0" algn="ctr" rtl="0">
              <a:spcBef>
                <a:spcPts val="0"/>
              </a:spcBef>
              <a:spcAft>
                <a:spcPts val="0"/>
              </a:spcAft>
              <a:buNone/>
            </a:pPr>
            <a:r>
              <a:rPr lang="en" dirty="0"/>
              <a:t>Receive </a:t>
            </a:r>
            <a:r>
              <a:rPr lang="en" i="1" dirty="0">
                <a:solidFill>
                  <a:schemeClr val="dk1"/>
                </a:solidFill>
              </a:rPr>
              <a:t>g</a:t>
            </a:r>
            <a:r>
              <a:rPr lang="en" i="1" baseline="30000" dirty="0">
                <a:solidFill>
                  <a:srgbClr val="CC0000"/>
                </a:solidFill>
              </a:rPr>
              <a:t>m</a:t>
            </a:r>
            <a:r>
              <a:rPr lang="en" dirty="0"/>
              <a:t> mod </a:t>
            </a:r>
            <a:r>
              <a:rPr lang="en" i="1" dirty="0"/>
              <a:t>p</a:t>
            </a:r>
            <a:endParaRPr i="1" dirty="0"/>
          </a:p>
          <a:p>
            <a:pPr marL="0" lvl="0" indent="0" algn="ctr" rtl="0">
              <a:spcBef>
                <a:spcPts val="0"/>
              </a:spcBef>
              <a:spcAft>
                <a:spcPts val="0"/>
              </a:spcAft>
              <a:buNone/>
            </a:pPr>
            <a:endParaRPr dirty="0"/>
          </a:p>
          <a:p>
            <a:pPr marL="0" lvl="0" indent="0" algn="ctr" rtl="0">
              <a:spcBef>
                <a:spcPts val="0"/>
              </a:spcBef>
              <a:spcAft>
                <a:spcPts val="0"/>
              </a:spcAft>
              <a:buNone/>
            </a:pPr>
            <a:r>
              <a:rPr lang="en" dirty="0"/>
              <a:t>Calculate (</a:t>
            </a:r>
            <a:r>
              <a:rPr lang="en" i="1" dirty="0"/>
              <a:t>g</a:t>
            </a:r>
            <a:r>
              <a:rPr lang="en" i="1" baseline="30000" dirty="0">
                <a:solidFill>
                  <a:srgbClr val="CC0000"/>
                </a:solidFill>
              </a:rPr>
              <a:t>m</a:t>
            </a:r>
            <a:r>
              <a:rPr lang="en" dirty="0"/>
              <a:t>)</a:t>
            </a:r>
            <a:r>
              <a:rPr lang="en" i="1" baseline="30000" dirty="0">
                <a:solidFill>
                  <a:srgbClr val="1155CC"/>
                </a:solidFill>
              </a:rPr>
              <a:t>b</a:t>
            </a:r>
            <a:r>
              <a:rPr lang="en" dirty="0"/>
              <a:t> mod </a:t>
            </a:r>
            <a:r>
              <a:rPr lang="en" i="1" dirty="0"/>
              <a:t>p</a:t>
            </a:r>
            <a:endParaRPr i="1" dirty="0"/>
          </a:p>
        </p:txBody>
      </p:sp>
      <p:sp>
        <p:nvSpPr>
          <p:cNvPr id="12" name="Google Shape;214;p28">
            <a:extLst>
              <a:ext uri="{FF2B5EF4-FFF2-40B4-BE49-F238E27FC236}">
                <a16:creationId xmlns:a16="http://schemas.microsoft.com/office/drawing/2014/main" id="{134B0307-1A32-6501-2CFA-4931E346934D}"/>
              </a:ext>
            </a:extLst>
          </p:cNvPr>
          <p:cNvSpPr txBox="1"/>
          <p:nvPr/>
        </p:nvSpPr>
        <p:spPr>
          <a:xfrm>
            <a:off x="1036643" y="6180445"/>
            <a:ext cx="2149075"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dirty="0">
                <a:solidFill>
                  <a:srgbClr val="E69138"/>
                </a:solidFill>
              </a:rPr>
              <a:t>a</a:t>
            </a:r>
            <a:r>
              <a:rPr lang="en" dirty="0"/>
              <a:t>, </a:t>
            </a:r>
            <a:r>
              <a:rPr lang="en" i="1" dirty="0"/>
              <a:t>g</a:t>
            </a:r>
            <a:r>
              <a:rPr lang="en" i="1" baseline="30000" dirty="0">
                <a:solidFill>
                  <a:srgbClr val="E69138"/>
                </a:solidFill>
              </a:rPr>
              <a:t>a</a:t>
            </a:r>
            <a:r>
              <a:rPr lang="en" dirty="0"/>
              <a:t>, </a:t>
            </a:r>
            <a:r>
              <a:rPr lang="en" i="1" dirty="0"/>
              <a:t>g</a:t>
            </a:r>
            <a:r>
              <a:rPr lang="en" i="1" baseline="30000" dirty="0">
                <a:solidFill>
                  <a:srgbClr val="CC0000"/>
                </a:solidFill>
              </a:rPr>
              <a:t>m</a:t>
            </a:r>
            <a:r>
              <a:rPr lang="en" dirty="0"/>
              <a:t> ⇒ </a:t>
            </a:r>
            <a:r>
              <a:rPr lang="en" i="1" dirty="0"/>
              <a:t>g</a:t>
            </a:r>
            <a:r>
              <a:rPr lang="en" i="1" baseline="30000" dirty="0">
                <a:solidFill>
                  <a:srgbClr val="E69138"/>
                </a:solidFill>
              </a:rPr>
              <a:t>a</a:t>
            </a:r>
            <a:r>
              <a:rPr lang="en" i="1" baseline="30000" dirty="0">
                <a:solidFill>
                  <a:srgbClr val="CC0000"/>
                </a:solidFill>
              </a:rPr>
              <a:t>m</a:t>
            </a:r>
            <a:endParaRPr i="1" baseline="30000" dirty="0">
              <a:solidFill>
                <a:srgbClr val="CC0000"/>
              </a:solidFill>
            </a:endParaRPr>
          </a:p>
        </p:txBody>
      </p:sp>
      <p:sp>
        <p:nvSpPr>
          <p:cNvPr id="13" name="Google Shape;215;p28">
            <a:extLst>
              <a:ext uri="{FF2B5EF4-FFF2-40B4-BE49-F238E27FC236}">
                <a16:creationId xmlns:a16="http://schemas.microsoft.com/office/drawing/2014/main" id="{B6581161-3F64-7851-8404-D25B714BF31E}"/>
              </a:ext>
            </a:extLst>
          </p:cNvPr>
          <p:cNvSpPr txBox="1"/>
          <p:nvPr/>
        </p:nvSpPr>
        <p:spPr>
          <a:xfrm>
            <a:off x="8704100" y="6180444"/>
            <a:ext cx="1931407"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dirty="0">
                <a:solidFill>
                  <a:srgbClr val="1155CC"/>
                </a:solidFill>
              </a:rPr>
              <a:t>b</a:t>
            </a:r>
            <a:r>
              <a:rPr lang="en" dirty="0"/>
              <a:t>, </a:t>
            </a:r>
            <a:r>
              <a:rPr lang="en" i="1" dirty="0"/>
              <a:t>g</a:t>
            </a:r>
            <a:r>
              <a:rPr lang="en" i="1" baseline="30000" dirty="0">
                <a:solidFill>
                  <a:srgbClr val="1155CC"/>
                </a:solidFill>
              </a:rPr>
              <a:t>b</a:t>
            </a:r>
            <a:r>
              <a:rPr lang="en" dirty="0"/>
              <a:t>, g</a:t>
            </a:r>
            <a:r>
              <a:rPr lang="en" i="1" baseline="30000" dirty="0">
                <a:solidFill>
                  <a:srgbClr val="CC0000"/>
                </a:solidFill>
              </a:rPr>
              <a:t>m</a:t>
            </a:r>
            <a:r>
              <a:rPr lang="en" dirty="0"/>
              <a:t> ⇒ </a:t>
            </a:r>
            <a:r>
              <a:rPr lang="en" i="1" dirty="0"/>
              <a:t>g</a:t>
            </a:r>
            <a:r>
              <a:rPr lang="en" i="1" baseline="30000" dirty="0">
                <a:solidFill>
                  <a:srgbClr val="1155CC"/>
                </a:solidFill>
              </a:rPr>
              <a:t>b</a:t>
            </a:r>
            <a:r>
              <a:rPr lang="en" i="1" baseline="30000" dirty="0">
                <a:solidFill>
                  <a:srgbClr val="CC0000"/>
                </a:solidFill>
              </a:rPr>
              <a:t>m</a:t>
            </a:r>
            <a:endParaRPr i="1" baseline="30000" dirty="0">
              <a:solidFill>
                <a:srgbClr val="CC0000"/>
              </a:solidFill>
            </a:endParaRPr>
          </a:p>
        </p:txBody>
      </p:sp>
      <p:sp>
        <p:nvSpPr>
          <p:cNvPr id="14" name="Google Shape;216;p28">
            <a:extLst>
              <a:ext uri="{FF2B5EF4-FFF2-40B4-BE49-F238E27FC236}">
                <a16:creationId xmlns:a16="http://schemas.microsoft.com/office/drawing/2014/main" id="{FFF38676-8270-D6D5-70CF-6292704737BF}"/>
              </a:ext>
            </a:extLst>
          </p:cNvPr>
          <p:cNvSpPr txBox="1"/>
          <p:nvPr/>
        </p:nvSpPr>
        <p:spPr>
          <a:xfrm>
            <a:off x="4035036" y="6202665"/>
            <a:ext cx="1892133"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dirty="0">
                <a:solidFill>
                  <a:srgbClr val="CC0000"/>
                </a:solidFill>
              </a:rPr>
              <a:t>m</a:t>
            </a:r>
            <a:r>
              <a:rPr lang="en" dirty="0"/>
              <a:t>, </a:t>
            </a:r>
            <a:r>
              <a:rPr lang="en" i="1" dirty="0"/>
              <a:t>g</a:t>
            </a:r>
            <a:r>
              <a:rPr lang="en" i="1" baseline="30000" dirty="0">
                <a:solidFill>
                  <a:srgbClr val="CC0000"/>
                </a:solidFill>
              </a:rPr>
              <a:t>m</a:t>
            </a:r>
            <a:r>
              <a:rPr lang="en" dirty="0"/>
              <a:t>, </a:t>
            </a:r>
            <a:r>
              <a:rPr lang="en" i="1" dirty="0"/>
              <a:t>g</a:t>
            </a:r>
            <a:r>
              <a:rPr lang="en" i="1" baseline="30000" dirty="0">
                <a:solidFill>
                  <a:srgbClr val="E69138"/>
                </a:solidFill>
              </a:rPr>
              <a:t>a</a:t>
            </a:r>
            <a:r>
              <a:rPr lang="en" dirty="0"/>
              <a:t> ⇒ </a:t>
            </a:r>
            <a:r>
              <a:rPr lang="en" i="1" dirty="0"/>
              <a:t>g</a:t>
            </a:r>
            <a:r>
              <a:rPr lang="en" i="1" baseline="30000" dirty="0">
                <a:solidFill>
                  <a:srgbClr val="E69138"/>
                </a:solidFill>
              </a:rPr>
              <a:t>a</a:t>
            </a:r>
            <a:r>
              <a:rPr lang="en" i="1" baseline="30000" dirty="0">
                <a:solidFill>
                  <a:srgbClr val="CC0000"/>
                </a:solidFill>
              </a:rPr>
              <a:t>m</a:t>
            </a:r>
            <a:endParaRPr i="1" baseline="30000" dirty="0">
              <a:solidFill>
                <a:srgbClr val="CC0000"/>
              </a:solidFill>
            </a:endParaRPr>
          </a:p>
        </p:txBody>
      </p:sp>
      <p:sp>
        <p:nvSpPr>
          <p:cNvPr id="15" name="Google Shape;217;p28">
            <a:extLst>
              <a:ext uri="{FF2B5EF4-FFF2-40B4-BE49-F238E27FC236}">
                <a16:creationId xmlns:a16="http://schemas.microsoft.com/office/drawing/2014/main" id="{1B06F707-BE3A-67B6-2631-B6DD85F00115}"/>
              </a:ext>
            </a:extLst>
          </p:cNvPr>
          <p:cNvSpPr txBox="1"/>
          <p:nvPr/>
        </p:nvSpPr>
        <p:spPr>
          <a:xfrm>
            <a:off x="5409599" y="2383741"/>
            <a:ext cx="1086427"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dirty="0">
                <a:solidFill>
                  <a:srgbClr val="C00000"/>
                </a:solidFill>
              </a:rPr>
              <a:t>Mallory</a:t>
            </a:r>
            <a:endParaRPr b="1" dirty="0">
              <a:solidFill>
                <a:srgbClr val="C00000"/>
              </a:solidFill>
            </a:endParaRPr>
          </a:p>
        </p:txBody>
      </p:sp>
      <p:sp>
        <p:nvSpPr>
          <p:cNvPr id="16" name="Google Shape;218;p28">
            <a:extLst>
              <a:ext uri="{FF2B5EF4-FFF2-40B4-BE49-F238E27FC236}">
                <a16:creationId xmlns:a16="http://schemas.microsoft.com/office/drawing/2014/main" id="{B69B1378-42A6-73AA-3A48-94750EE13BAD}"/>
              </a:ext>
            </a:extLst>
          </p:cNvPr>
          <p:cNvSpPr txBox="1"/>
          <p:nvPr/>
        </p:nvSpPr>
        <p:spPr>
          <a:xfrm>
            <a:off x="5042161" y="2753973"/>
            <a:ext cx="1821302"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t>Public: </a:t>
            </a:r>
            <a:r>
              <a:rPr lang="en" i="1" dirty="0"/>
              <a:t>g</a:t>
            </a:r>
            <a:r>
              <a:rPr lang="en" dirty="0"/>
              <a:t>, </a:t>
            </a:r>
            <a:r>
              <a:rPr lang="en" i="1" dirty="0"/>
              <a:t>p</a:t>
            </a:r>
            <a:endParaRPr i="1" dirty="0"/>
          </a:p>
        </p:txBody>
      </p:sp>
      <p:sp>
        <p:nvSpPr>
          <p:cNvPr id="17" name="Google Shape;219;p28">
            <a:extLst>
              <a:ext uri="{FF2B5EF4-FFF2-40B4-BE49-F238E27FC236}">
                <a16:creationId xmlns:a16="http://schemas.microsoft.com/office/drawing/2014/main" id="{CA395156-0C67-D6A8-19D2-AFF67B4C4406}"/>
              </a:ext>
            </a:extLst>
          </p:cNvPr>
          <p:cNvSpPr txBox="1"/>
          <p:nvPr/>
        </p:nvSpPr>
        <p:spPr>
          <a:xfrm>
            <a:off x="4813325" y="3530628"/>
            <a:ext cx="2227687" cy="101563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t>Generate </a:t>
            </a:r>
            <a:r>
              <a:rPr lang="en" i="1" dirty="0">
                <a:solidFill>
                  <a:srgbClr val="CC0000"/>
                </a:solidFill>
              </a:rPr>
              <a:t>m</a:t>
            </a:r>
            <a:endParaRPr i="1" dirty="0">
              <a:solidFill>
                <a:srgbClr val="CC0000"/>
              </a:solidFill>
            </a:endParaRPr>
          </a:p>
          <a:p>
            <a:pPr marL="0" lvl="0" indent="0" algn="ctr" rtl="0">
              <a:spcBef>
                <a:spcPts val="0"/>
              </a:spcBef>
              <a:spcAft>
                <a:spcPts val="0"/>
              </a:spcAft>
              <a:buNone/>
            </a:pPr>
            <a:endParaRPr dirty="0"/>
          </a:p>
          <a:p>
            <a:pPr marL="0" lvl="0" indent="0" algn="ctr" rtl="0">
              <a:spcBef>
                <a:spcPts val="0"/>
              </a:spcBef>
              <a:spcAft>
                <a:spcPts val="0"/>
              </a:spcAft>
              <a:buNone/>
            </a:pPr>
            <a:r>
              <a:rPr lang="en" dirty="0"/>
              <a:t>Calculate </a:t>
            </a:r>
            <a:r>
              <a:rPr lang="en" i="1" dirty="0"/>
              <a:t>g</a:t>
            </a:r>
            <a:r>
              <a:rPr lang="en" i="1" baseline="30000" dirty="0">
                <a:solidFill>
                  <a:srgbClr val="CC0000"/>
                </a:solidFill>
              </a:rPr>
              <a:t>m</a:t>
            </a:r>
            <a:r>
              <a:rPr lang="en" dirty="0"/>
              <a:t> mod </a:t>
            </a:r>
            <a:r>
              <a:rPr lang="en" i="1" dirty="0"/>
              <a:t>p</a:t>
            </a:r>
            <a:endParaRPr dirty="0"/>
          </a:p>
        </p:txBody>
      </p:sp>
      <p:sp>
        <p:nvSpPr>
          <p:cNvPr id="18" name="Google Shape;220;p28">
            <a:extLst>
              <a:ext uri="{FF2B5EF4-FFF2-40B4-BE49-F238E27FC236}">
                <a16:creationId xmlns:a16="http://schemas.microsoft.com/office/drawing/2014/main" id="{22318BCE-8A8D-3151-280F-0681B60739FF}"/>
              </a:ext>
            </a:extLst>
          </p:cNvPr>
          <p:cNvSpPr txBox="1"/>
          <p:nvPr/>
        </p:nvSpPr>
        <p:spPr>
          <a:xfrm>
            <a:off x="4010313" y="4839550"/>
            <a:ext cx="19425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Receive </a:t>
            </a:r>
            <a:r>
              <a:rPr lang="en" i="1"/>
              <a:t>g</a:t>
            </a:r>
            <a:r>
              <a:rPr lang="en" i="1" baseline="30000">
                <a:solidFill>
                  <a:srgbClr val="E69138"/>
                </a:solidFill>
              </a:rPr>
              <a:t>a</a:t>
            </a:r>
            <a:r>
              <a:rPr lang="en"/>
              <a:t> mod p</a:t>
            </a:r>
            <a:endParaRPr/>
          </a:p>
          <a:p>
            <a:pPr marL="0" lvl="0" indent="0" algn="ctr" rtl="0">
              <a:spcBef>
                <a:spcPts val="0"/>
              </a:spcBef>
              <a:spcAft>
                <a:spcPts val="0"/>
              </a:spcAft>
              <a:buNone/>
            </a:pPr>
            <a:endParaRPr/>
          </a:p>
          <a:p>
            <a:pPr marL="0" lvl="0" indent="0" algn="ctr" rtl="0">
              <a:spcBef>
                <a:spcPts val="0"/>
              </a:spcBef>
              <a:spcAft>
                <a:spcPts val="0"/>
              </a:spcAft>
              <a:buNone/>
            </a:pPr>
            <a:r>
              <a:rPr lang="en"/>
              <a:t>Calculate (</a:t>
            </a:r>
            <a:r>
              <a:rPr lang="en" i="1"/>
              <a:t>g</a:t>
            </a:r>
            <a:r>
              <a:rPr lang="en" i="1" baseline="30000">
                <a:solidFill>
                  <a:srgbClr val="E69138"/>
                </a:solidFill>
              </a:rPr>
              <a:t>a</a:t>
            </a:r>
            <a:r>
              <a:rPr lang="en"/>
              <a:t>)</a:t>
            </a:r>
            <a:r>
              <a:rPr lang="en" i="1" baseline="30000">
                <a:solidFill>
                  <a:srgbClr val="CC0000"/>
                </a:solidFill>
              </a:rPr>
              <a:t>m</a:t>
            </a:r>
            <a:r>
              <a:rPr lang="en"/>
              <a:t> mod p</a:t>
            </a:r>
            <a:endParaRPr/>
          </a:p>
        </p:txBody>
      </p:sp>
      <p:sp>
        <p:nvSpPr>
          <p:cNvPr id="19" name="Google Shape;221;p28">
            <a:extLst>
              <a:ext uri="{FF2B5EF4-FFF2-40B4-BE49-F238E27FC236}">
                <a16:creationId xmlns:a16="http://schemas.microsoft.com/office/drawing/2014/main" id="{06ADE9FF-F13D-FEAC-156F-A86F667A2741}"/>
              </a:ext>
            </a:extLst>
          </p:cNvPr>
          <p:cNvSpPr txBox="1"/>
          <p:nvPr/>
        </p:nvSpPr>
        <p:spPr>
          <a:xfrm>
            <a:off x="5952813" y="4839550"/>
            <a:ext cx="19425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Receive </a:t>
            </a:r>
            <a:r>
              <a:rPr lang="en" i="1"/>
              <a:t>g</a:t>
            </a:r>
            <a:r>
              <a:rPr lang="en" i="1" baseline="30000">
                <a:solidFill>
                  <a:srgbClr val="1155CC"/>
                </a:solidFill>
              </a:rPr>
              <a:t>b</a:t>
            </a:r>
            <a:r>
              <a:rPr lang="en"/>
              <a:t> mod p</a:t>
            </a:r>
            <a:endParaRPr/>
          </a:p>
          <a:p>
            <a:pPr marL="0" lvl="0" indent="0" algn="ctr" rtl="0">
              <a:spcBef>
                <a:spcPts val="0"/>
              </a:spcBef>
              <a:spcAft>
                <a:spcPts val="0"/>
              </a:spcAft>
              <a:buNone/>
            </a:pPr>
            <a:endParaRPr/>
          </a:p>
          <a:p>
            <a:pPr marL="0" lvl="0" indent="0" algn="ctr" rtl="0">
              <a:spcBef>
                <a:spcPts val="0"/>
              </a:spcBef>
              <a:spcAft>
                <a:spcPts val="0"/>
              </a:spcAft>
              <a:buNone/>
            </a:pPr>
            <a:r>
              <a:rPr lang="en"/>
              <a:t>Calculate (</a:t>
            </a:r>
            <a:r>
              <a:rPr lang="en" i="1"/>
              <a:t>g</a:t>
            </a:r>
            <a:r>
              <a:rPr lang="en" i="1" baseline="30000">
                <a:solidFill>
                  <a:srgbClr val="1155CC"/>
                </a:solidFill>
              </a:rPr>
              <a:t>b</a:t>
            </a:r>
            <a:r>
              <a:rPr lang="en"/>
              <a:t>)</a:t>
            </a:r>
            <a:r>
              <a:rPr lang="en" i="1" baseline="30000">
                <a:solidFill>
                  <a:srgbClr val="CC0000"/>
                </a:solidFill>
              </a:rPr>
              <a:t>m</a:t>
            </a:r>
            <a:r>
              <a:rPr lang="en"/>
              <a:t> mod p</a:t>
            </a:r>
            <a:endParaRPr/>
          </a:p>
        </p:txBody>
      </p:sp>
      <p:cxnSp>
        <p:nvCxnSpPr>
          <p:cNvPr id="20" name="Google Shape;222;p28">
            <a:extLst>
              <a:ext uri="{FF2B5EF4-FFF2-40B4-BE49-F238E27FC236}">
                <a16:creationId xmlns:a16="http://schemas.microsoft.com/office/drawing/2014/main" id="{93665B0F-D8B1-0EDE-81CC-A54C6E8368D6}"/>
              </a:ext>
            </a:extLst>
          </p:cNvPr>
          <p:cNvCxnSpPr/>
          <p:nvPr/>
        </p:nvCxnSpPr>
        <p:spPr>
          <a:xfrm flipH="1">
            <a:off x="3485138" y="4181450"/>
            <a:ext cx="1446600" cy="862800"/>
          </a:xfrm>
          <a:prstGeom prst="straightConnector1">
            <a:avLst/>
          </a:prstGeom>
          <a:noFill/>
          <a:ln w="9525" cap="flat" cmpd="sng">
            <a:solidFill>
              <a:schemeClr val="dk2"/>
            </a:solidFill>
            <a:prstDash val="solid"/>
            <a:round/>
            <a:headEnd type="none" w="med" len="med"/>
            <a:tailEnd type="triangle" w="med" len="med"/>
          </a:ln>
        </p:spPr>
      </p:cxnSp>
      <p:cxnSp>
        <p:nvCxnSpPr>
          <p:cNvPr id="21" name="Google Shape;223;p28">
            <a:extLst>
              <a:ext uri="{FF2B5EF4-FFF2-40B4-BE49-F238E27FC236}">
                <a16:creationId xmlns:a16="http://schemas.microsoft.com/office/drawing/2014/main" id="{B7A6FFB1-2048-753F-DDB0-8FE92A377E24}"/>
              </a:ext>
            </a:extLst>
          </p:cNvPr>
          <p:cNvCxnSpPr/>
          <p:nvPr/>
        </p:nvCxnSpPr>
        <p:spPr>
          <a:xfrm>
            <a:off x="3491788" y="4194725"/>
            <a:ext cx="630300" cy="855900"/>
          </a:xfrm>
          <a:prstGeom prst="straightConnector1">
            <a:avLst/>
          </a:prstGeom>
          <a:noFill/>
          <a:ln w="9525" cap="flat" cmpd="sng">
            <a:solidFill>
              <a:schemeClr val="dk2"/>
            </a:solidFill>
            <a:prstDash val="solid"/>
            <a:round/>
            <a:headEnd type="none" w="med" len="med"/>
            <a:tailEnd type="triangle" w="med" len="med"/>
          </a:ln>
        </p:spPr>
      </p:cxnSp>
      <p:cxnSp>
        <p:nvCxnSpPr>
          <p:cNvPr id="22" name="Google Shape;224;p28">
            <a:extLst>
              <a:ext uri="{FF2B5EF4-FFF2-40B4-BE49-F238E27FC236}">
                <a16:creationId xmlns:a16="http://schemas.microsoft.com/office/drawing/2014/main" id="{3D08464F-4767-DC0B-B75B-CFBEEF65EE1D}"/>
              </a:ext>
            </a:extLst>
          </p:cNvPr>
          <p:cNvCxnSpPr/>
          <p:nvPr/>
        </p:nvCxnSpPr>
        <p:spPr>
          <a:xfrm>
            <a:off x="7011288" y="4188088"/>
            <a:ext cx="1446600" cy="862800"/>
          </a:xfrm>
          <a:prstGeom prst="straightConnector1">
            <a:avLst/>
          </a:prstGeom>
          <a:noFill/>
          <a:ln w="9525" cap="flat" cmpd="sng">
            <a:solidFill>
              <a:schemeClr val="dk2"/>
            </a:solidFill>
            <a:prstDash val="solid"/>
            <a:round/>
            <a:headEnd type="none" w="med" len="med"/>
            <a:tailEnd type="triangle" w="med" len="med"/>
          </a:ln>
        </p:spPr>
      </p:cxnSp>
      <p:cxnSp>
        <p:nvCxnSpPr>
          <p:cNvPr id="23" name="Google Shape;225;p28">
            <a:extLst>
              <a:ext uri="{FF2B5EF4-FFF2-40B4-BE49-F238E27FC236}">
                <a16:creationId xmlns:a16="http://schemas.microsoft.com/office/drawing/2014/main" id="{5676B649-D5DB-3C6F-9714-2647C38F112C}"/>
              </a:ext>
            </a:extLst>
          </p:cNvPr>
          <p:cNvCxnSpPr/>
          <p:nvPr/>
        </p:nvCxnSpPr>
        <p:spPr>
          <a:xfrm flipH="1">
            <a:off x="7820938" y="4201363"/>
            <a:ext cx="630300" cy="855900"/>
          </a:xfrm>
          <a:prstGeom prst="straightConnector1">
            <a:avLst/>
          </a:prstGeom>
          <a:noFill/>
          <a:ln w="9525" cap="flat" cmpd="sng">
            <a:solidFill>
              <a:schemeClr val="dk2"/>
            </a:solidFill>
            <a:prstDash val="solid"/>
            <a:round/>
            <a:headEnd type="none" w="med" len="med"/>
            <a:tailEnd type="triangle" w="med" len="med"/>
          </a:ln>
        </p:spPr>
      </p:cxnSp>
      <p:sp>
        <p:nvSpPr>
          <p:cNvPr id="24" name="Google Shape;226;p28">
            <a:extLst>
              <a:ext uri="{FF2B5EF4-FFF2-40B4-BE49-F238E27FC236}">
                <a16:creationId xmlns:a16="http://schemas.microsoft.com/office/drawing/2014/main" id="{71462F4A-5500-BA76-3B19-46167F727843}"/>
              </a:ext>
            </a:extLst>
          </p:cNvPr>
          <p:cNvSpPr txBox="1"/>
          <p:nvPr/>
        </p:nvSpPr>
        <p:spPr>
          <a:xfrm>
            <a:off x="6193420" y="6202664"/>
            <a:ext cx="1745097"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dirty="0">
                <a:solidFill>
                  <a:srgbClr val="CC0000"/>
                </a:solidFill>
              </a:rPr>
              <a:t>m</a:t>
            </a:r>
            <a:r>
              <a:rPr lang="en" dirty="0"/>
              <a:t>, </a:t>
            </a:r>
            <a:r>
              <a:rPr lang="en" i="1" dirty="0"/>
              <a:t>g</a:t>
            </a:r>
            <a:r>
              <a:rPr lang="en" i="1" baseline="30000" dirty="0">
                <a:solidFill>
                  <a:srgbClr val="CC0000"/>
                </a:solidFill>
              </a:rPr>
              <a:t>m</a:t>
            </a:r>
            <a:r>
              <a:rPr lang="en" dirty="0"/>
              <a:t>, </a:t>
            </a:r>
            <a:r>
              <a:rPr lang="en" i="1" dirty="0"/>
              <a:t>g</a:t>
            </a:r>
            <a:r>
              <a:rPr lang="en" i="1" baseline="30000" dirty="0">
                <a:solidFill>
                  <a:srgbClr val="1155CC"/>
                </a:solidFill>
              </a:rPr>
              <a:t>b</a:t>
            </a:r>
            <a:r>
              <a:rPr lang="en" dirty="0"/>
              <a:t> ⇒ </a:t>
            </a:r>
            <a:r>
              <a:rPr lang="en" i="1" dirty="0"/>
              <a:t>g</a:t>
            </a:r>
            <a:r>
              <a:rPr lang="en" i="1" baseline="30000" dirty="0">
                <a:solidFill>
                  <a:srgbClr val="1155CC"/>
                </a:solidFill>
              </a:rPr>
              <a:t>b</a:t>
            </a:r>
            <a:r>
              <a:rPr lang="en" i="1" baseline="30000" dirty="0">
                <a:solidFill>
                  <a:srgbClr val="CC0000"/>
                </a:solidFill>
              </a:rPr>
              <a:t>m</a:t>
            </a:r>
            <a:endParaRPr i="1" baseline="30000" dirty="0">
              <a:solidFill>
                <a:srgbClr val="CC0000"/>
              </a:solidFill>
            </a:endParaRPr>
          </a:p>
        </p:txBody>
      </p:sp>
      <p:pic>
        <p:nvPicPr>
          <p:cNvPr id="3" name="Google Shape;344;p46">
            <a:extLst>
              <a:ext uri="{FF2B5EF4-FFF2-40B4-BE49-F238E27FC236}">
                <a16:creationId xmlns:a16="http://schemas.microsoft.com/office/drawing/2014/main" id="{DFF75D93-EC66-CA7E-62C6-5E6B3DA01F30}"/>
              </a:ext>
            </a:extLst>
          </p:cNvPr>
          <p:cNvPicPr preferRelativeResize="0"/>
          <p:nvPr/>
        </p:nvPicPr>
        <p:blipFill>
          <a:blip r:embed="rId2">
            <a:alphaModFix/>
          </a:blip>
          <a:stretch>
            <a:fillRect/>
          </a:stretch>
        </p:blipFill>
        <p:spPr>
          <a:xfrm>
            <a:off x="5176679" y="1034637"/>
            <a:ext cx="1554480" cy="1371600"/>
          </a:xfrm>
          <a:prstGeom prst="rect">
            <a:avLst/>
          </a:prstGeom>
          <a:noFill/>
          <a:ln>
            <a:noFill/>
          </a:ln>
        </p:spPr>
      </p:pic>
      <p:pic>
        <p:nvPicPr>
          <p:cNvPr id="4" name="Google Shape;200;p33">
            <a:extLst>
              <a:ext uri="{FF2B5EF4-FFF2-40B4-BE49-F238E27FC236}">
                <a16:creationId xmlns:a16="http://schemas.microsoft.com/office/drawing/2014/main" id="{215F77F2-5C27-4DE7-B511-9526473A4929}"/>
              </a:ext>
            </a:extLst>
          </p:cNvPr>
          <p:cNvPicPr preferRelativeResize="0"/>
          <p:nvPr/>
        </p:nvPicPr>
        <p:blipFill>
          <a:blip r:embed="rId3">
            <a:alphaModFix/>
          </a:blip>
          <a:stretch>
            <a:fillRect/>
          </a:stretch>
        </p:blipFill>
        <p:spPr>
          <a:xfrm>
            <a:off x="1333940" y="1034637"/>
            <a:ext cx="1554480" cy="1371600"/>
          </a:xfrm>
          <a:prstGeom prst="rect">
            <a:avLst/>
          </a:prstGeom>
          <a:noFill/>
          <a:ln>
            <a:noFill/>
          </a:ln>
        </p:spPr>
      </p:pic>
      <p:pic>
        <p:nvPicPr>
          <p:cNvPr id="5" name="Google Shape;95;p20">
            <a:extLst>
              <a:ext uri="{FF2B5EF4-FFF2-40B4-BE49-F238E27FC236}">
                <a16:creationId xmlns:a16="http://schemas.microsoft.com/office/drawing/2014/main" id="{833D0731-099C-E7F5-421A-063F58EBDA02}"/>
              </a:ext>
            </a:extLst>
          </p:cNvPr>
          <p:cNvPicPr preferRelativeResize="0"/>
          <p:nvPr/>
        </p:nvPicPr>
        <p:blipFill>
          <a:blip r:embed="rId4">
            <a:alphaModFix/>
          </a:blip>
          <a:stretch>
            <a:fillRect/>
          </a:stretch>
        </p:blipFill>
        <p:spPr>
          <a:xfrm>
            <a:off x="8892563" y="1034637"/>
            <a:ext cx="1554480" cy="1371600"/>
          </a:xfrm>
          <a:prstGeom prst="rect">
            <a:avLst/>
          </a:prstGeom>
          <a:noFill/>
          <a:ln>
            <a:noFill/>
          </a:ln>
        </p:spPr>
      </p:pic>
    </p:spTree>
    <p:extLst>
      <p:ext uri="{BB962C8B-B14F-4D97-AF65-F5344CB8AC3E}">
        <p14:creationId xmlns:p14="http://schemas.microsoft.com/office/powerpoint/2010/main" val="6295168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C700A-2DC6-9602-0C82-625BB9A12448}"/>
              </a:ext>
            </a:extLst>
          </p:cNvPr>
          <p:cNvSpPr>
            <a:spLocks noGrp="1"/>
          </p:cNvSpPr>
          <p:nvPr>
            <p:ph type="title"/>
          </p:nvPr>
        </p:nvSpPr>
        <p:spPr>
          <a:xfrm>
            <a:off x="838200" y="180487"/>
            <a:ext cx="10515600" cy="900967"/>
          </a:xfrm>
        </p:spPr>
        <p:txBody>
          <a:bodyPr/>
          <a:lstStyle/>
          <a:p>
            <a:r>
              <a:rPr lang="en" dirty="0"/>
              <a:t>Diffie-Hellman: Issues</a:t>
            </a:r>
            <a:endParaRPr lang="en-US" dirty="0"/>
          </a:p>
        </p:txBody>
      </p:sp>
      <p:sp>
        <p:nvSpPr>
          <p:cNvPr id="4" name="Google Shape;235;p29">
            <a:extLst>
              <a:ext uri="{FF2B5EF4-FFF2-40B4-BE49-F238E27FC236}">
                <a16:creationId xmlns:a16="http://schemas.microsoft.com/office/drawing/2014/main" id="{8332E01B-217A-89A5-D378-AF4BF79203FD}"/>
              </a:ext>
            </a:extLst>
          </p:cNvPr>
          <p:cNvSpPr txBox="1">
            <a:spLocks/>
          </p:cNvSpPr>
          <p:nvPr/>
        </p:nvSpPr>
        <p:spPr>
          <a:xfrm>
            <a:off x="584688" y="1081454"/>
            <a:ext cx="11022623" cy="5712531"/>
          </a:xfrm>
          <a:prstGeom prst="rect">
            <a:avLst/>
          </a:prstGeom>
        </p:spPr>
        <p:txBody>
          <a:bodyPr spcFirstLastPara="1" vert="horz" wrap="square" lIns="91425" tIns="91425" rIns="91425" bIns="91425" rtlCol="0" anchor="t" anchorCtr="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600"/>
              </a:spcAft>
              <a:buNone/>
            </a:pPr>
            <a:r>
              <a:rPr lang="en-US" b="1" dirty="0">
                <a:solidFill>
                  <a:srgbClr val="C00000"/>
                </a:solidFill>
              </a:rPr>
              <a:t>Issues:</a:t>
            </a:r>
          </a:p>
          <a:p>
            <a:pPr>
              <a:spcAft>
                <a:spcPts val="600"/>
              </a:spcAft>
            </a:pPr>
            <a:r>
              <a:rPr lang="en-US" b="1" dirty="0"/>
              <a:t>No Authentication</a:t>
            </a:r>
            <a:r>
              <a:rPr lang="en-US" dirty="0"/>
              <a:t>: DH doesn't verify who you're exchanging keys with </a:t>
            </a:r>
          </a:p>
          <a:p>
            <a:pPr lvl="1">
              <a:spcAft>
                <a:spcPts val="600"/>
              </a:spcAft>
            </a:pPr>
            <a:r>
              <a:rPr lang="en-US" dirty="0"/>
              <a:t>Vulnerable to Man-in-the-Middle (</a:t>
            </a:r>
            <a:r>
              <a:rPr lang="en-US" dirty="0">
                <a:solidFill>
                  <a:srgbClr val="C00000"/>
                </a:solidFill>
              </a:rPr>
              <a:t>MITM</a:t>
            </a:r>
            <a:r>
              <a:rPr lang="en-US" dirty="0"/>
              <a:t>) attacks</a:t>
            </a:r>
          </a:p>
          <a:p>
            <a:pPr>
              <a:spcAft>
                <a:spcPts val="600"/>
              </a:spcAft>
            </a:pPr>
            <a:r>
              <a:rPr lang="en-US" b="1" dirty="0"/>
              <a:t>Active Protocol</a:t>
            </a:r>
            <a:r>
              <a:rPr lang="en-US" dirty="0"/>
              <a:t>: Both parties must be online simultaneously </a:t>
            </a:r>
          </a:p>
          <a:p>
            <a:pPr lvl="1">
              <a:spcAft>
                <a:spcPts val="600"/>
              </a:spcAft>
            </a:pPr>
            <a:r>
              <a:rPr lang="en-US" dirty="0"/>
              <a:t>Cannot encrypt a message for someone who's offline</a:t>
            </a:r>
          </a:p>
          <a:p>
            <a:pPr marL="0" indent="0">
              <a:spcAft>
                <a:spcPts val="600"/>
              </a:spcAft>
              <a:buNone/>
            </a:pPr>
            <a:endParaRPr lang="en-US" sz="500" b="1" dirty="0">
              <a:solidFill>
                <a:srgbClr val="C00000"/>
              </a:solidFill>
            </a:endParaRPr>
          </a:p>
          <a:p>
            <a:pPr marL="0" indent="0">
              <a:spcAft>
                <a:spcPts val="600"/>
              </a:spcAft>
              <a:buNone/>
            </a:pPr>
            <a:r>
              <a:rPr lang="en-US" b="1" dirty="0">
                <a:solidFill>
                  <a:srgbClr val="C00000"/>
                </a:solidFill>
              </a:rPr>
              <a:t>Solutions to MITM Attacks:</a:t>
            </a:r>
          </a:p>
          <a:p>
            <a:pPr>
              <a:spcAft>
                <a:spcPts val="600"/>
              </a:spcAft>
            </a:pPr>
            <a:r>
              <a:rPr lang="en-US" b="1" dirty="0"/>
              <a:t>Digital Signatures</a:t>
            </a:r>
            <a:r>
              <a:rPr lang="en-US" dirty="0"/>
              <a:t>: Sign DH public parameters (</a:t>
            </a:r>
            <a:r>
              <a:rPr lang="en-US" i="1" dirty="0"/>
              <a:t>g</a:t>
            </a:r>
            <a:r>
              <a:rPr lang="en-US" i="1" baseline="30000" dirty="0">
                <a:solidFill>
                  <a:srgbClr val="E69138"/>
                </a:solidFill>
              </a:rPr>
              <a:t>a</a:t>
            </a:r>
            <a:r>
              <a:rPr lang="en-US" dirty="0"/>
              <a:t> mod </a:t>
            </a:r>
            <a:r>
              <a:rPr lang="en-US" i="1" dirty="0"/>
              <a:t>p, </a:t>
            </a:r>
            <a:r>
              <a:rPr lang="en-US" i="1" dirty="0" err="1"/>
              <a:t>g</a:t>
            </a:r>
            <a:r>
              <a:rPr lang="en-US" i="1" baseline="30000" dirty="0" err="1">
                <a:solidFill>
                  <a:srgbClr val="1155CC"/>
                </a:solidFill>
              </a:rPr>
              <a:t>b</a:t>
            </a:r>
            <a:r>
              <a:rPr lang="en-US" dirty="0"/>
              <a:t> mod </a:t>
            </a:r>
            <a:r>
              <a:rPr lang="en-US" i="1" dirty="0"/>
              <a:t>p</a:t>
            </a:r>
            <a:r>
              <a:rPr lang="en-US" dirty="0"/>
              <a:t>) with certificate-based authentication </a:t>
            </a:r>
          </a:p>
          <a:p>
            <a:pPr lvl="1">
              <a:spcAft>
                <a:spcPts val="600"/>
              </a:spcAft>
            </a:pPr>
            <a:r>
              <a:rPr lang="en-US" dirty="0"/>
              <a:t>Used in TLS/HTTPS (next week)</a:t>
            </a:r>
          </a:p>
          <a:p>
            <a:pPr>
              <a:spcAft>
                <a:spcPts val="600"/>
              </a:spcAft>
            </a:pPr>
            <a:r>
              <a:rPr lang="en-US" b="1" dirty="0"/>
              <a:t>Pre-Shared Keys (PSK)</a:t>
            </a:r>
            <a:r>
              <a:rPr lang="en-US" dirty="0"/>
              <a:t>: Authenticate DH public parameters using MAC </a:t>
            </a:r>
          </a:p>
          <a:p>
            <a:pPr lvl="1">
              <a:spcAft>
                <a:spcPts val="600"/>
              </a:spcAft>
            </a:pPr>
            <a:r>
              <a:rPr lang="en-US" dirty="0"/>
              <a:t>PSK provides authentication, DH provides </a:t>
            </a:r>
            <a:r>
              <a:rPr lang="en-US" i="1" dirty="0"/>
              <a:t>forward secrecy</a:t>
            </a:r>
          </a:p>
          <a:p>
            <a:pPr lvl="1">
              <a:spcAft>
                <a:spcPts val="600"/>
              </a:spcAft>
            </a:pPr>
            <a:r>
              <a:rPr lang="en-US" dirty="0"/>
              <a:t>Used in VPNs and IoT devices</a:t>
            </a:r>
          </a:p>
        </p:txBody>
      </p:sp>
    </p:spTree>
    <p:extLst>
      <p:ext uri="{BB962C8B-B14F-4D97-AF65-F5344CB8AC3E}">
        <p14:creationId xmlns:p14="http://schemas.microsoft.com/office/powerpoint/2010/main" val="38460232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AE193-247C-7630-E8A4-8E0FECC7DA94}"/>
              </a:ext>
            </a:extLst>
          </p:cNvPr>
          <p:cNvSpPr>
            <a:spLocks noGrp="1"/>
          </p:cNvSpPr>
          <p:nvPr>
            <p:ph type="title"/>
          </p:nvPr>
        </p:nvSpPr>
        <p:spPr>
          <a:xfrm>
            <a:off x="838198" y="0"/>
            <a:ext cx="10515600" cy="878884"/>
          </a:xfrm>
        </p:spPr>
        <p:txBody>
          <a:bodyPr/>
          <a:lstStyle/>
          <a:p>
            <a:r>
              <a:rPr lang="en" dirty="0"/>
              <a:t>Summary: Diffie-Hellman Key Exchange</a:t>
            </a:r>
            <a:endParaRPr lang="en-US" dirty="0"/>
          </a:p>
        </p:txBody>
      </p:sp>
      <p:sp>
        <p:nvSpPr>
          <p:cNvPr id="4" name="Google Shape;242;p30">
            <a:extLst>
              <a:ext uri="{FF2B5EF4-FFF2-40B4-BE49-F238E27FC236}">
                <a16:creationId xmlns:a16="http://schemas.microsoft.com/office/drawing/2014/main" id="{E6886568-F9D1-FE85-1831-830E7AD1E3F1}"/>
              </a:ext>
            </a:extLst>
          </p:cNvPr>
          <p:cNvSpPr txBox="1">
            <a:spLocks/>
          </p:cNvSpPr>
          <p:nvPr/>
        </p:nvSpPr>
        <p:spPr>
          <a:xfrm>
            <a:off x="838200" y="956931"/>
            <a:ext cx="10515599" cy="5784112"/>
          </a:xfrm>
          <a:prstGeom prst="rect">
            <a:avLst/>
          </a:prstGeom>
        </p:spPr>
        <p:txBody>
          <a:bodyPr spcFirstLastPara="1" vert="horz" wrap="square" lIns="91425" tIns="91425" rIns="91425" bIns="91425" rtlCol="0" anchor="t" anchorCtr="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42900">
              <a:spcBef>
                <a:spcPts val="0"/>
              </a:spcBef>
              <a:spcAft>
                <a:spcPts val="600"/>
              </a:spcAft>
              <a:buSzPts val="1800"/>
              <a:buFont typeface="Arial" panose="020B0604020202020204" pitchFamily="34" charset="0"/>
              <a:buChar char="●"/>
            </a:pPr>
            <a:r>
              <a:rPr lang="en-US" dirty="0"/>
              <a:t>Algorithm:</a:t>
            </a:r>
          </a:p>
          <a:p>
            <a:pPr marL="914400" lvl="1" indent="-342900">
              <a:spcBef>
                <a:spcPts val="0"/>
              </a:spcBef>
              <a:spcAft>
                <a:spcPts val="600"/>
              </a:spcAft>
              <a:buSzPts val="1800"/>
              <a:buFont typeface="Arial" panose="020B0604020202020204" pitchFamily="34" charset="0"/>
              <a:buChar char="●"/>
            </a:pPr>
            <a:r>
              <a:rPr lang="en-US" dirty="0"/>
              <a:t>Alice chooses </a:t>
            </a:r>
            <a:r>
              <a:rPr lang="en-US" i="1" dirty="0">
                <a:solidFill>
                  <a:srgbClr val="E69138"/>
                </a:solidFill>
              </a:rPr>
              <a:t>a</a:t>
            </a:r>
            <a:r>
              <a:rPr lang="en-US" dirty="0"/>
              <a:t> and sends </a:t>
            </a:r>
            <a:r>
              <a:rPr lang="en-US" i="1" dirty="0"/>
              <a:t>g</a:t>
            </a:r>
            <a:r>
              <a:rPr lang="en-US" i="1" baseline="30000" dirty="0">
                <a:solidFill>
                  <a:srgbClr val="E69138"/>
                </a:solidFill>
              </a:rPr>
              <a:t>a</a:t>
            </a:r>
            <a:r>
              <a:rPr lang="en-US" dirty="0"/>
              <a:t> mod </a:t>
            </a:r>
            <a:r>
              <a:rPr lang="en-US" i="1" dirty="0"/>
              <a:t>p</a:t>
            </a:r>
            <a:r>
              <a:rPr lang="en-US" dirty="0"/>
              <a:t> to Bob</a:t>
            </a:r>
          </a:p>
          <a:p>
            <a:pPr marL="914400" lvl="1" indent="-342900">
              <a:spcBef>
                <a:spcPts val="0"/>
              </a:spcBef>
              <a:spcAft>
                <a:spcPts val="600"/>
              </a:spcAft>
              <a:buSzPts val="1800"/>
              <a:buFont typeface="Arial" panose="020B0604020202020204" pitchFamily="34" charset="0"/>
              <a:buChar char="●"/>
            </a:pPr>
            <a:r>
              <a:rPr lang="en-US" dirty="0"/>
              <a:t>Bob chooses </a:t>
            </a:r>
            <a:r>
              <a:rPr lang="en-US" i="1" dirty="0">
                <a:solidFill>
                  <a:srgbClr val="1155CC"/>
                </a:solidFill>
              </a:rPr>
              <a:t>b</a:t>
            </a:r>
            <a:r>
              <a:rPr lang="en-US" dirty="0"/>
              <a:t> and sends </a:t>
            </a:r>
            <a:r>
              <a:rPr lang="en-US" i="1" dirty="0" err="1"/>
              <a:t>g</a:t>
            </a:r>
            <a:r>
              <a:rPr lang="en-US" i="1" baseline="30000" dirty="0" err="1">
                <a:solidFill>
                  <a:srgbClr val="1155CC"/>
                </a:solidFill>
              </a:rPr>
              <a:t>b</a:t>
            </a:r>
            <a:r>
              <a:rPr lang="en-US" dirty="0"/>
              <a:t> mod </a:t>
            </a:r>
            <a:r>
              <a:rPr lang="en-US" i="1" dirty="0"/>
              <a:t>p</a:t>
            </a:r>
            <a:r>
              <a:rPr lang="en-US" dirty="0"/>
              <a:t> to Alice</a:t>
            </a:r>
          </a:p>
          <a:p>
            <a:pPr marL="914400" lvl="1" indent="-342900">
              <a:spcBef>
                <a:spcPts val="0"/>
              </a:spcBef>
              <a:spcAft>
                <a:spcPts val="600"/>
              </a:spcAft>
              <a:buSzPts val="1800"/>
              <a:buFont typeface="Arial" panose="020B0604020202020204" pitchFamily="34" charset="0"/>
              <a:buChar char="●"/>
            </a:pPr>
            <a:r>
              <a:rPr lang="en-US" dirty="0"/>
              <a:t>Their shared secret is (</a:t>
            </a:r>
            <a:r>
              <a:rPr lang="en-US" i="1" dirty="0"/>
              <a:t>g</a:t>
            </a:r>
            <a:r>
              <a:rPr lang="en-US" i="1" baseline="30000" dirty="0">
                <a:solidFill>
                  <a:srgbClr val="E69138"/>
                </a:solidFill>
              </a:rPr>
              <a:t>a</a:t>
            </a:r>
            <a:r>
              <a:rPr lang="en-US" dirty="0"/>
              <a:t>)</a:t>
            </a:r>
            <a:r>
              <a:rPr lang="en-US" i="1" baseline="30000" dirty="0">
                <a:solidFill>
                  <a:srgbClr val="1155CC"/>
                </a:solidFill>
              </a:rPr>
              <a:t>b</a:t>
            </a:r>
            <a:r>
              <a:rPr lang="en-US" dirty="0"/>
              <a:t> = (</a:t>
            </a:r>
            <a:r>
              <a:rPr lang="en-US" i="1" dirty="0" err="1"/>
              <a:t>g</a:t>
            </a:r>
            <a:r>
              <a:rPr lang="en-US" i="1" baseline="30000" dirty="0" err="1">
                <a:solidFill>
                  <a:srgbClr val="1155CC"/>
                </a:solidFill>
              </a:rPr>
              <a:t>b</a:t>
            </a:r>
            <a:r>
              <a:rPr lang="en-US" dirty="0"/>
              <a:t>)</a:t>
            </a:r>
            <a:r>
              <a:rPr lang="en-US" i="1" baseline="30000" dirty="0">
                <a:solidFill>
                  <a:srgbClr val="E69138"/>
                </a:solidFill>
              </a:rPr>
              <a:t>a</a:t>
            </a:r>
            <a:r>
              <a:rPr lang="en-US" dirty="0"/>
              <a:t> = </a:t>
            </a:r>
            <a:r>
              <a:rPr lang="en-US" i="1" dirty="0"/>
              <a:t>g</a:t>
            </a:r>
            <a:r>
              <a:rPr lang="en-US" i="1" baseline="30000" dirty="0">
                <a:solidFill>
                  <a:srgbClr val="E69138"/>
                </a:solidFill>
              </a:rPr>
              <a:t>a</a:t>
            </a:r>
            <a:r>
              <a:rPr lang="en-US" i="1" baseline="30000" dirty="0">
                <a:solidFill>
                  <a:srgbClr val="1155CC"/>
                </a:solidFill>
              </a:rPr>
              <a:t>b</a:t>
            </a:r>
            <a:r>
              <a:rPr lang="en-US" dirty="0"/>
              <a:t> mod </a:t>
            </a:r>
            <a:r>
              <a:rPr lang="en-US" i="1" dirty="0"/>
              <a:t>p</a:t>
            </a:r>
            <a:endParaRPr lang="en-US" dirty="0"/>
          </a:p>
          <a:p>
            <a:pPr marL="114300" indent="0">
              <a:spcBef>
                <a:spcPts val="0"/>
              </a:spcBef>
              <a:spcAft>
                <a:spcPts val="600"/>
              </a:spcAft>
              <a:buSzPts val="1800"/>
              <a:buNone/>
            </a:pPr>
            <a:endParaRPr lang="en-US" sz="1200" dirty="0"/>
          </a:p>
          <a:p>
            <a:pPr marL="457200" indent="-342900">
              <a:spcBef>
                <a:spcPts val="0"/>
              </a:spcBef>
              <a:spcAft>
                <a:spcPts val="600"/>
              </a:spcAft>
              <a:buSzPts val="1800"/>
              <a:buFont typeface="Arial" panose="020B0604020202020204" pitchFamily="34" charset="0"/>
              <a:buChar char="●"/>
            </a:pPr>
            <a:r>
              <a:rPr lang="en-US" dirty="0"/>
              <a:t>Diffie-Hellman provides </a:t>
            </a:r>
            <a:r>
              <a:rPr lang="en-US" dirty="0">
                <a:hlinkClick r:id="rId2"/>
              </a:rPr>
              <a:t>forward secrecy</a:t>
            </a:r>
            <a:r>
              <a:rPr lang="en-US" dirty="0"/>
              <a:t>: Nothing is saved or can be recorded that can ever recover the key</a:t>
            </a:r>
          </a:p>
          <a:p>
            <a:pPr marL="914400" lvl="1" indent="-342900">
              <a:spcBef>
                <a:spcPts val="0"/>
              </a:spcBef>
              <a:spcAft>
                <a:spcPts val="600"/>
              </a:spcAft>
              <a:buSzPts val="1800"/>
              <a:buFont typeface="Arial" panose="020B0604020202020204" pitchFamily="34" charset="0"/>
              <a:buChar char="●"/>
            </a:pPr>
            <a:r>
              <a:rPr lang="en-US" sz="2600" dirty="0"/>
              <a:t>Forward secrecy (aka Perfect forward secrecy): a cryptographic feature that ensures </a:t>
            </a:r>
            <a:r>
              <a:rPr lang="en-US" sz="2600" i="1" dirty="0">
                <a:solidFill>
                  <a:srgbClr val="C00000"/>
                </a:solidFill>
              </a:rPr>
              <a:t>past</a:t>
            </a:r>
            <a:r>
              <a:rPr lang="en-US" sz="2600" dirty="0"/>
              <a:t> encrypted communications remain secure even if current session keys or long-term private keys are compromised</a:t>
            </a:r>
          </a:p>
          <a:p>
            <a:pPr marL="114300" indent="0">
              <a:spcBef>
                <a:spcPts val="0"/>
              </a:spcBef>
              <a:spcAft>
                <a:spcPts val="600"/>
              </a:spcAft>
              <a:buSzPts val="1800"/>
              <a:buNone/>
            </a:pPr>
            <a:endParaRPr lang="en-US" sz="1200" dirty="0"/>
          </a:p>
          <a:p>
            <a:pPr marL="457200" indent="-342900">
              <a:spcBef>
                <a:spcPts val="0"/>
              </a:spcBef>
              <a:spcAft>
                <a:spcPts val="600"/>
              </a:spcAft>
              <a:buSzPts val="1800"/>
              <a:buFont typeface="Arial" panose="020B0604020202020204" pitchFamily="34" charset="0"/>
              <a:buChar char="●"/>
            </a:pPr>
            <a:r>
              <a:rPr lang="en-US" dirty="0"/>
              <a:t>Diffie-Hellman can be performed over other mathematical groups, such as </a:t>
            </a:r>
            <a:r>
              <a:rPr lang="en-US" altLang="zh-CN" dirty="0">
                <a:hlinkClick r:id="rId3"/>
              </a:rPr>
              <a:t>E</a:t>
            </a:r>
            <a:r>
              <a:rPr lang="en-US" dirty="0">
                <a:hlinkClick r:id="rId3"/>
              </a:rPr>
              <a:t>lliptic-curve Diffie-Hellman (ECDH)</a:t>
            </a:r>
            <a:endParaRPr lang="en-US" dirty="0"/>
          </a:p>
          <a:p>
            <a:pPr marL="114300" indent="0">
              <a:spcBef>
                <a:spcPts val="0"/>
              </a:spcBef>
              <a:spcAft>
                <a:spcPts val="600"/>
              </a:spcAft>
              <a:buSzPts val="1800"/>
              <a:buNone/>
            </a:pPr>
            <a:endParaRPr lang="en-US" sz="1200" dirty="0"/>
          </a:p>
          <a:p>
            <a:pPr marL="457200" indent="-342900">
              <a:spcBef>
                <a:spcPts val="0"/>
              </a:spcBef>
              <a:spcAft>
                <a:spcPts val="600"/>
              </a:spcAft>
              <a:buSzPts val="1800"/>
              <a:buFont typeface="Arial" panose="020B0604020202020204" pitchFamily="34" charset="0"/>
              <a:buChar char="●"/>
            </a:pPr>
            <a:r>
              <a:rPr lang="en-US" dirty="0"/>
              <a:t>Issues</a:t>
            </a:r>
          </a:p>
          <a:p>
            <a:pPr marL="914400" lvl="1" indent="-342900">
              <a:spcBef>
                <a:spcPts val="0"/>
              </a:spcBef>
              <a:spcAft>
                <a:spcPts val="600"/>
              </a:spcAft>
              <a:buSzPts val="1800"/>
              <a:buFont typeface="Arial" panose="020B0604020202020204" pitchFamily="34" charset="0"/>
              <a:buChar char="●"/>
            </a:pPr>
            <a:r>
              <a:rPr lang="en-US" dirty="0"/>
              <a:t>Does not provide authenticity</a:t>
            </a:r>
          </a:p>
          <a:p>
            <a:pPr marL="914400" lvl="1" indent="-342900">
              <a:spcBef>
                <a:spcPts val="0"/>
              </a:spcBef>
              <a:spcAft>
                <a:spcPts val="600"/>
              </a:spcAft>
              <a:buSzPts val="1800"/>
              <a:buFont typeface="Arial" panose="020B0604020202020204" pitchFamily="34" charset="0"/>
              <a:buChar char="●"/>
            </a:pPr>
            <a:r>
              <a:rPr lang="en-US" i="1" dirty="0"/>
              <a:t>Not</a:t>
            </a:r>
            <a:r>
              <a:rPr lang="en-US" dirty="0"/>
              <a:t> secure against MITM</a:t>
            </a:r>
          </a:p>
          <a:p>
            <a:pPr marL="914400" lvl="1" indent="-342900">
              <a:spcBef>
                <a:spcPts val="0"/>
              </a:spcBef>
              <a:spcAft>
                <a:spcPts val="600"/>
              </a:spcAft>
              <a:buSzPts val="1800"/>
              <a:buFont typeface="Arial" panose="020B0604020202020204" pitchFamily="34" charset="0"/>
              <a:buChar char="●"/>
            </a:pPr>
            <a:r>
              <a:rPr lang="en-US" dirty="0"/>
              <a:t>Both parties must be online</a:t>
            </a:r>
          </a:p>
        </p:txBody>
      </p:sp>
    </p:spTree>
    <p:extLst>
      <p:ext uri="{BB962C8B-B14F-4D97-AF65-F5344CB8AC3E}">
        <p14:creationId xmlns:p14="http://schemas.microsoft.com/office/powerpoint/2010/main" val="14482457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1391</TotalTime>
  <Words>3433</Words>
  <Application>Microsoft Office PowerPoint</Application>
  <PresentationFormat>Widescreen</PresentationFormat>
  <Paragraphs>415</Paragraphs>
  <Slides>29</Slides>
  <Notes>8</Notes>
  <HiddenSlides>3</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Aptos</vt:lpstr>
      <vt:lpstr>Aptos Display</vt:lpstr>
      <vt:lpstr>Arial</vt:lpstr>
      <vt:lpstr>Calibri</vt:lpstr>
      <vt:lpstr>Cambria Math</vt:lpstr>
      <vt:lpstr>Courier New</vt:lpstr>
      <vt:lpstr>Lato</vt:lpstr>
      <vt:lpstr>Wingdings</vt:lpstr>
      <vt:lpstr>Office Theme</vt:lpstr>
      <vt:lpstr>CSC 3511 Security and Networking</vt:lpstr>
      <vt:lpstr>PowerPoint Presentation</vt:lpstr>
      <vt:lpstr>PowerPoint Presentation</vt:lpstr>
      <vt:lpstr>Cryptographic Hash Function: Definition</vt:lpstr>
      <vt:lpstr>Cryptographic Hash Function: Properties</vt:lpstr>
      <vt:lpstr>Hash Function: One-way-ness or Preimage Resistance</vt:lpstr>
      <vt:lpstr>Hash Function: Collision Resistance</vt:lpstr>
      <vt:lpstr>Hash Function: Intuition</vt:lpstr>
      <vt:lpstr>Hash Function: Examples</vt:lpstr>
      <vt:lpstr>Hash Function: Algorithms</vt:lpstr>
      <vt:lpstr>Does Hash Provide Integrity?</vt:lpstr>
      <vt:lpstr>PowerPoint Presentation</vt:lpstr>
      <vt:lpstr>How to Provide Integrity</vt:lpstr>
      <vt:lpstr>Message Authentication Codes (MACs): Usage</vt:lpstr>
      <vt:lpstr>MACs: Definition</vt:lpstr>
      <vt:lpstr>Defining Integrity: EU-CPA</vt:lpstr>
      <vt:lpstr>Defining Integrity: EU-CPA</vt:lpstr>
      <vt:lpstr>MAC Instantiation: NMAC (Nested MAC)</vt:lpstr>
      <vt:lpstr>MAC Instantiation: HMAC (Hash-based MAC)</vt:lpstr>
      <vt:lpstr>PowerPoint Presentation</vt:lpstr>
      <vt:lpstr>Do MACs provide integrity?</vt:lpstr>
      <vt:lpstr>PowerPoint Presentation</vt:lpstr>
      <vt:lpstr>The Diffie-Hellman Key Exchange Protocol  (informally)</vt:lpstr>
      <vt:lpstr>Discrete Log Problem and Diffie-Hellman Problem</vt:lpstr>
      <vt:lpstr>Diffie-Hellman Key Exchange Protocol</vt:lpstr>
      <vt:lpstr>Diffie-Hellman Key Exchange Protocol</vt:lpstr>
      <vt:lpstr>Diffie-Hellman: Man-in-the-middle Attack</vt:lpstr>
      <vt:lpstr>Diffie-Hellman: Issues</vt:lpstr>
      <vt:lpstr>Summary: Diffie-Hellman Key Exchange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Liao, Zhonghao</dc:creator>
  <cp:lastModifiedBy>Liao, Zhonghao</cp:lastModifiedBy>
  <cp:revision>249</cp:revision>
  <dcterms:created xsi:type="dcterms:W3CDTF">2024-11-04T19:47:12Z</dcterms:created>
  <dcterms:modified xsi:type="dcterms:W3CDTF">2025-11-09T17:17:49Z</dcterms:modified>
</cp:coreProperties>
</file>