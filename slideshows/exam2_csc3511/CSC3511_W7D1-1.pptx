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1435" r:id="rId3"/>
    <p:sldId id="1446" r:id="rId4"/>
    <p:sldId id="1452" r:id="rId5"/>
    <p:sldId id="1453" r:id="rId6"/>
    <p:sldId id="1215" r:id="rId7"/>
    <p:sldId id="1454" r:id="rId8"/>
    <p:sldId id="1455" r:id="rId9"/>
    <p:sldId id="1457" r:id="rId10"/>
    <p:sldId id="1458" r:id="rId11"/>
    <p:sldId id="1459" r:id="rId12"/>
    <p:sldId id="1460" r:id="rId13"/>
    <p:sldId id="1226" r:id="rId14"/>
    <p:sldId id="1456" r:id="rId15"/>
    <p:sldId id="1461" r:id="rId16"/>
    <p:sldId id="1462" r:id="rId17"/>
    <p:sldId id="1201" r:id="rId18"/>
    <p:sldId id="1202" r:id="rId19"/>
    <p:sldId id="1203" r:id="rId20"/>
    <p:sldId id="1204" r:id="rId21"/>
    <p:sldId id="1463" r:id="rId22"/>
    <p:sldId id="1465" r:id="rId23"/>
    <p:sldId id="1464" r:id="rId24"/>
    <p:sldId id="1208" r:id="rId25"/>
    <p:sldId id="1211" r:id="rId26"/>
    <p:sldId id="1210" r:id="rId27"/>
    <p:sldId id="1212" r:id="rId28"/>
    <p:sldId id="121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18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40" d="100"/>
        <a:sy n="140" d="100"/>
      </p:scale>
      <p:origin x="0" y="-56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325D3-F1C7-4B36-A88F-5BFB155084BF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CB26F-7BF5-4DA6-BA18-A0B7008BF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hosts cannot sense the presence of the switch</a:t>
            </a:r>
            <a:r>
              <a:rPr lang="en-US" altLang="zh-CN" dirty="0"/>
              <a:t>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5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CDB3-CC7D-344E-3B7C-5F2460A9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3E3F9-3422-2B2A-8C62-997599832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E1465-A89C-6497-74E0-FC496F9A5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4EE88-50A4-4705-F430-C1DD2B6C1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443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672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043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884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663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27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 IP conflicts: If another device has same IP, it will respond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69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28B9-3890-D9FF-D9DF-5B7FE41A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FD1A4-D1BE-A890-87D6-2C1E5CEFE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AFEB0-4BAA-F867-8DF9-8912805E7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Layer 2 switches: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IP address; Operate purely at Layer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Completely transparent to network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Forward frames based on MAC table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Advanced switches, e.g., managed layer 2 switches or L3 switches: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Have ONE or MORE IP addresses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Used for: network management and configuration, SSH,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Out of the scope of this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82BF-8498-6F79-6524-BBFA9E34D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6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subnet mask to check local vs non-local?</a:t>
            </a:r>
          </a:p>
          <a:p>
            <a:endParaRPr lang="en-US" dirty="0"/>
          </a:p>
          <a:p>
            <a:r>
              <a:rPr lang="en-US" dirty="0"/>
              <a:t>A subnet mask tells you which part of an IP address is the "network" and which part is the "host“. If two IP addresses have the same network portion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they're on the same subnet (local)</a:t>
            </a:r>
          </a:p>
          <a:p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Host IP 192.168.1.5</a:t>
            </a:r>
          </a:p>
          <a:p>
            <a:r>
              <a:rPr lang="en-US" dirty="0"/>
              <a:t>Subnet mask: 255.255.255.0</a:t>
            </a:r>
          </a:p>
          <a:p>
            <a:r>
              <a:rPr lang="en-US" dirty="0"/>
              <a:t>Destination IP: 192.168.1.100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Apply subnet mask (AND operation, extract the network portion) to host IP and destination IP:</a:t>
            </a:r>
            <a:br>
              <a:rPr lang="en-US" dirty="0"/>
            </a:br>
            <a:r>
              <a:rPr lang="en-US" dirty="0"/>
              <a:t>Host IP 192.168.1.5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Network portion: </a:t>
            </a:r>
            <a:r>
              <a:rPr lang="en-US" b="1" dirty="0"/>
              <a:t>192.168.1</a:t>
            </a:r>
            <a:endParaRPr lang="en-US" dirty="0"/>
          </a:p>
          <a:p>
            <a:r>
              <a:rPr lang="en-US" dirty="0"/>
              <a:t>Destination 192.168.1.100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Network portion: </a:t>
            </a:r>
            <a:r>
              <a:rPr lang="en-US" b="1" dirty="0"/>
              <a:t>192.168.1</a:t>
            </a:r>
          </a:p>
          <a:p>
            <a:r>
              <a:rPr lang="en-US" b="1" dirty="0"/>
              <a:t>MATCH </a:t>
            </a:r>
            <a:r>
              <a:rPr lang="en-US" b="1" dirty="0">
                <a:sym typeface="Wingdings" panose="05000000000000000000" pitchFamily="2" charset="2"/>
              </a:rPr>
              <a:t></a:t>
            </a:r>
            <a:r>
              <a:rPr lang="en-US" b="1" dirty="0"/>
              <a:t> Local!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07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456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03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751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469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29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98F-B827-13AD-265C-514C2162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41564-4F01-3DA7-30A5-41B69602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C639-4AB9-F4D6-CFBA-209FE857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7A7F-9979-7B59-A463-DCEBBA95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0F76-7128-32CE-27E0-EA7B842C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79D5-059D-19DB-300F-B545C4C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1340-A1E9-7CE3-85EA-7F1CF2ED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81CF-4E42-18FC-F8CF-942C82B5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239-A774-E47F-618D-51D208E6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47-A921-E0AB-5A62-7830ED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E5C-05CB-8274-A918-075C19B6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43FC-A248-C72E-7C55-AF40C95C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89F5-84BE-3CEF-33F5-F2CA26EE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C82B-F092-F737-C6EC-4508B148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E09F0-8AE5-6C3F-D940-15869CCF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2350-D4AF-4F3C-CEE2-B8734DE1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F635-D032-EB3F-AA91-8B620152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D8E9-1DD1-0647-572D-88AADC9B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9E6-F832-C7D5-DD5F-43E7579F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2CA5-C7DE-C955-B48A-7E0F3888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08E-669F-CB28-260B-7835440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4474-5433-09FA-BE28-C0DC57B6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D488-42FB-58FC-4155-0D56C39B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34D41-5957-DB0E-CB35-AC6249E0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25178-5D33-EBD1-4C79-986B42DA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3E2A5-4A98-031A-250D-CBFB1D9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BD9DE-6FA7-D067-18F3-C04BBCD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33E4-2E0D-1662-B7BF-20E78E7C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DC47E-1E21-2424-6A7B-315D8A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A65-C705-E6A3-485D-408F56B8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69A2-CE3D-6E6E-685B-1FE020E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4AF1-31C9-84AC-0250-05744141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3C2AA-F699-ED5D-9FBA-C19002E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2F3-879F-BB3B-698B-B27397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113C-0FB8-0400-99D8-6F134830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B956-7068-44C2-B72A-60BB293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8B4E-A384-E57E-E42B-8DF0137C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5B01-185E-04BB-14A7-B258CA51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228C-5F12-7AF1-FC9F-8C1032F3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407C-424A-E815-0FAD-6132348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F71BD-8573-007D-3858-3535CBA0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0FE8-99A5-4546-F000-62538D6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FE-88EA-C3CA-5268-51CB959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BC8C-DCDC-6F3B-EC4D-AD7E7D77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F378A-43F4-65AF-61DB-1B261A9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5D82-7B33-82FC-4CC1-372A7E7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8B4F-C700-D100-E550-F1A34A23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C4BE6-38EC-0ED9-64CD-D1DBED13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76C-A078-6711-FF3C-E68ACE03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CDEF-7F11-C385-F99C-1D079A46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33E6-8B7A-63A7-4B43-936C9C06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FD48-7F8C-2C53-C6E5-51FBBC2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E807-0A14-F9E7-D3C4-243C242B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A6E-A9A4-3335-FD57-B0908070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A70CC-412C-59DD-E5F3-0B522209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2B3D-CE4D-9039-CF20-3EA5A25A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CD87-FDF1-2A7A-1BE7-FA7D6B7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DFF-8601-30EC-83EF-AD74CA7E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7597A-B7A8-059C-160C-EC7CE288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34A4-186E-5F01-1F5B-80DF3841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DDF5-E321-EF03-3E6D-64F457503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72AB9-64A1-45BC-9C9A-78E398D2F99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B2B9-24D1-3FFE-9B16-BFA0BAC7B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9AEC6-3A77-F298-9C68-54B2F0065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Multilayer_switch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therwan.com/support/featured-articles/understanding-the-difference-between-layer-2-and-layer-3-switches-explained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7, Lecture 1: Link Layer, Switches, and ARP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DA46-17B5-C06A-14FB-592851FD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6B9E-F145-8272-AC79-21A51531575B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41F881-9683-06E8-DC86-39A923184FA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Layer 2 Networks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Switches and Self-learning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104389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C81F9505-371A-CD27-F70A-D2EF14C860BE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Layer 2 Networks</a:t>
            </a:r>
            <a:endParaRPr lang="en-US" dirty="0">
              <a:latin typeface="+mn-lt"/>
            </a:endParaRPr>
          </a:p>
        </p:txBody>
      </p:sp>
      <p:sp>
        <p:nvSpPr>
          <p:cNvPr id="3" name="Google Shape;811;p53">
            <a:extLst>
              <a:ext uri="{FF2B5EF4-FFF2-40B4-BE49-F238E27FC236}">
                <a16:creationId xmlns:a16="http://schemas.microsoft.com/office/drawing/2014/main" id="{3D8A0268-84ED-4C01-F176-4F4D18BFBB67}"/>
              </a:ext>
            </a:extLst>
          </p:cNvPr>
          <p:cNvSpPr txBox="1">
            <a:spLocks/>
          </p:cNvSpPr>
          <p:nvPr/>
        </p:nvSpPr>
        <p:spPr>
          <a:xfrm>
            <a:off x="362618" y="943767"/>
            <a:ext cx="9011478" cy="41706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We could use more than one wire in a local network: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Previously: Layer 2 operating on a single shared link with multiple computers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Now: We introduce </a:t>
            </a:r>
            <a:r>
              <a:rPr lang="en-US" sz="2000" b="1" dirty="0"/>
              <a:t>multiple links </a:t>
            </a:r>
            <a:r>
              <a:rPr lang="en-US" sz="2000" dirty="0"/>
              <a:t>and build a network entirely using Layer 2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C00000"/>
                </a:solidFill>
              </a:rPr>
              <a:t>Switches</a:t>
            </a:r>
            <a:r>
              <a:rPr lang="en-US" sz="2000" dirty="0"/>
              <a:t> interconnect these links: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Create a larger local network by connecting multiple links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Switches forward frames between different network segments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500" b="1" dirty="0">
              <a:solidFill>
                <a:srgbClr val="C0000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C00000"/>
                </a:solidFill>
              </a:rPr>
              <a:t>Packet forwarding </a:t>
            </a:r>
            <a:r>
              <a:rPr lang="en-US" sz="2000" dirty="0"/>
              <a:t>and routing (e.g., Spanning Tree Protocol)</a:t>
            </a:r>
            <a:r>
              <a:rPr lang="en-US" sz="2000" b="1" dirty="0"/>
              <a:t> </a:t>
            </a:r>
            <a:r>
              <a:rPr lang="en-US" sz="2000" dirty="0"/>
              <a:t>in Layer 2: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Forwarding uses MAC addresses as destinations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Switches maintain MAC address tables to forward frames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8E46A38-2575-DB95-CC05-A298E5F03298}"/>
              </a:ext>
            </a:extLst>
          </p:cNvPr>
          <p:cNvGrpSpPr/>
          <p:nvPr/>
        </p:nvGrpSpPr>
        <p:grpSpPr>
          <a:xfrm>
            <a:off x="7908957" y="2514476"/>
            <a:ext cx="3909391" cy="808011"/>
            <a:chOff x="5618238" y="1696650"/>
            <a:chExt cx="2723400" cy="589800"/>
          </a:xfrm>
        </p:grpSpPr>
        <p:sp>
          <p:nvSpPr>
            <p:cNvPr id="4" name="Google Shape;268;p28">
              <a:extLst>
                <a:ext uri="{FF2B5EF4-FFF2-40B4-BE49-F238E27FC236}">
                  <a16:creationId xmlns:a16="http://schemas.microsoft.com/office/drawing/2014/main" id="{0AC79A76-7D3D-DBC3-0C8D-0D41AAF1C84D}"/>
                </a:ext>
              </a:extLst>
            </p:cNvPr>
            <p:cNvSpPr/>
            <p:nvPr/>
          </p:nvSpPr>
          <p:spPr>
            <a:xfrm>
              <a:off x="5618238" y="20014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269;p28">
              <a:extLst>
                <a:ext uri="{FF2B5EF4-FFF2-40B4-BE49-F238E27FC236}">
                  <a16:creationId xmlns:a16="http://schemas.microsoft.com/office/drawing/2014/main" id="{464E2BE5-6CF0-43B4-2FC0-3078906D761D}"/>
                </a:ext>
              </a:extLst>
            </p:cNvPr>
            <p:cNvSpPr/>
            <p:nvPr/>
          </p:nvSpPr>
          <p:spPr>
            <a:xfrm>
              <a:off x="6227838" y="20014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70;p28">
              <a:extLst>
                <a:ext uri="{FF2B5EF4-FFF2-40B4-BE49-F238E27FC236}">
                  <a16:creationId xmlns:a16="http://schemas.microsoft.com/office/drawing/2014/main" id="{5F40129D-8FE2-B9B2-B0F3-FF630074D743}"/>
                </a:ext>
              </a:extLst>
            </p:cNvPr>
            <p:cNvSpPr/>
            <p:nvPr/>
          </p:nvSpPr>
          <p:spPr>
            <a:xfrm>
              <a:off x="6837438" y="20014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271;p28">
              <a:extLst>
                <a:ext uri="{FF2B5EF4-FFF2-40B4-BE49-F238E27FC236}">
                  <a16:creationId xmlns:a16="http://schemas.microsoft.com/office/drawing/2014/main" id="{215FD4F0-2A9A-292D-DD0B-49E586A26B50}"/>
                </a:ext>
              </a:extLst>
            </p:cNvPr>
            <p:cNvSpPr/>
            <p:nvPr/>
          </p:nvSpPr>
          <p:spPr>
            <a:xfrm>
              <a:off x="7447038" y="20014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272;p28">
              <a:extLst>
                <a:ext uri="{FF2B5EF4-FFF2-40B4-BE49-F238E27FC236}">
                  <a16:creationId xmlns:a16="http://schemas.microsoft.com/office/drawing/2014/main" id="{12832D8D-28E0-FC50-6393-0934B4EBD92E}"/>
                </a:ext>
              </a:extLst>
            </p:cNvPr>
            <p:cNvSpPr/>
            <p:nvPr/>
          </p:nvSpPr>
          <p:spPr>
            <a:xfrm>
              <a:off x="8056638" y="200145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" name="Google Shape;273;p28">
              <a:extLst>
                <a:ext uri="{FF2B5EF4-FFF2-40B4-BE49-F238E27FC236}">
                  <a16:creationId xmlns:a16="http://schemas.microsoft.com/office/drawing/2014/main" id="{87A925BB-0977-A6DE-D92E-FDEFF84D9B7A}"/>
                </a:ext>
              </a:extLst>
            </p:cNvPr>
            <p:cNvCxnSpPr/>
            <p:nvPr/>
          </p:nvCxnSpPr>
          <p:spPr>
            <a:xfrm rot="10800000">
              <a:off x="5760750" y="1696650"/>
              <a:ext cx="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4;p28">
              <a:extLst>
                <a:ext uri="{FF2B5EF4-FFF2-40B4-BE49-F238E27FC236}">
                  <a16:creationId xmlns:a16="http://schemas.microsoft.com/office/drawing/2014/main" id="{B1CE3302-6194-C706-73E4-B842F9B37887}"/>
                </a:ext>
              </a:extLst>
            </p:cNvPr>
            <p:cNvCxnSpPr/>
            <p:nvPr/>
          </p:nvCxnSpPr>
          <p:spPr>
            <a:xfrm rot="10800000">
              <a:off x="6370350" y="1696650"/>
              <a:ext cx="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75;p28">
              <a:extLst>
                <a:ext uri="{FF2B5EF4-FFF2-40B4-BE49-F238E27FC236}">
                  <a16:creationId xmlns:a16="http://schemas.microsoft.com/office/drawing/2014/main" id="{4B37883E-7BAD-E40E-2D03-0468DB53E364}"/>
                </a:ext>
              </a:extLst>
            </p:cNvPr>
            <p:cNvCxnSpPr/>
            <p:nvPr/>
          </p:nvCxnSpPr>
          <p:spPr>
            <a:xfrm rot="10800000">
              <a:off x="6979950" y="1696650"/>
              <a:ext cx="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76;p28">
              <a:extLst>
                <a:ext uri="{FF2B5EF4-FFF2-40B4-BE49-F238E27FC236}">
                  <a16:creationId xmlns:a16="http://schemas.microsoft.com/office/drawing/2014/main" id="{74E0D597-7B78-0FF0-CB4C-800610C3B9D1}"/>
                </a:ext>
              </a:extLst>
            </p:cNvPr>
            <p:cNvCxnSpPr/>
            <p:nvPr/>
          </p:nvCxnSpPr>
          <p:spPr>
            <a:xfrm rot="10800000">
              <a:off x="7589550" y="1696650"/>
              <a:ext cx="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277;p28">
              <a:extLst>
                <a:ext uri="{FF2B5EF4-FFF2-40B4-BE49-F238E27FC236}">
                  <a16:creationId xmlns:a16="http://schemas.microsoft.com/office/drawing/2014/main" id="{EF561C64-BBF1-F4C9-4C0E-593A3EBCE339}"/>
                </a:ext>
              </a:extLst>
            </p:cNvPr>
            <p:cNvCxnSpPr/>
            <p:nvPr/>
          </p:nvCxnSpPr>
          <p:spPr>
            <a:xfrm rot="10800000">
              <a:off x="8199150" y="1696650"/>
              <a:ext cx="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278;p28">
              <a:extLst>
                <a:ext uri="{FF2B5EF4-FFF2-40B4-BE49-F238E27FC236}">
                  <a16:creationId xmlns:a16="http://schemas.microsoft.com/office/drawing/2014/main" id="{B844357F-AD46-DFF2-9113-9DAE84CDBC68}"/>
                </a:ext>
              </a:extLst>
            </p:cNvPr>
            <p:cNvCxnSpPr/>
            <p:nvPr/>
          </p:nvCxnSpPr>
          <p:spPr>
            <a:xfrm>
              <a:off x="5751200" y="1696650"/>
              <a:ext cx="2457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879C23-56F2-6987-8598-F737E94FD7CF}"/>
              </a:ext>
            </a:extLst>
          </p:cNvPr>
          <p:cNvGrpSpPr/>
          <p:nvPr/>
        </p:nvGrpSpPr>
        <p:grpSpPr>
          <a:xfrm>
            <a:off x="8044741" y="4200899"/>
            <a:ext cx="3637800" cy="1278425"/>
            <a:chOff x="7634043" y="4190998"/>
            <a:chExt cx="3637800" cy="1278425"/>
          </a:xfrm>
        </p:grpSpPr>
        <p:sp>
          <p:nvSpPr>
            <p:cNvPr id="33" name="Google Shape;812;p53">
              <a:extLst>
                <a:ext uri="{FF2B5EF4-FFF2-40B4-BE49-F238E27FC236}">
                  <a16:creationId xmlns:a16="http://schemas.microsoft.com/office/drawing/2014/main" id="{E8519CC9-1ACE-1AF5-E6A4-2BBF64FD4694}"/>
                </a:ext>
              </a:extLst>
            </p:cNvPr>
            <p:cNvSpPr/>
            <p:nvPr/>
          </p:nvSpPr>
          <p:spPr>
            <a:xfrm>
              <a:off x="9310455" y="4803423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" name="Google Shape;813;p53">
              <a:extLst>
                <a:ext uri="{FF2B5EF4-FFF2-40B4-BE49-F238E27FC236}">
                  <a16:creationId xmlns:a16="http://schemas.microsoft.com/office/drawing/2014/main" id="{529F3308-B661-7002-8C3B-C7941D5B91E3}"/>
                </a:ext>
              </a:extLst>
            </p:cNvPr>
            <p:cNvSpPr/>
            <p:nvPr/>
          </p:nvSpPr>
          <p:spPr>
            <a:xfrm>
              <a:off x="8472255" y="4803423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5" name="Google Shape;814;p53">
              <a:extLst>
                <a:ext uri="{FF2B5EF4-FFF2-40B4-BE49-F238E27FC236}">
                  <a16:creationId xmlns:a16="http://schemas.microsoft.com/office/drawing/2014/main" id="{0E3B84F5-CC01-C280-0686-1227C9AE84FA}"/>
                </a:ext>
              </a:extLst>
            </p:cNvPr>
            <p:cNvCxnSpPr>
              <a:stCxn id="34" idx="3"/>
              <a:endCxn id="33" idx="1"/>
            </p:cNvCxnSpPr>
            <p:nvPr/>
          </p:nvCxnSpPr>
          <p:spPr>
            <a:xfrm>
              <a:off x="8757255" y="4945923"/>
              <a:ext cx="553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Google Shape;815;p53">
              <a:extLst>
                <a:ext uri="{FF2B5EF4-FFF2-40B4-BE49-F238E27FC236}">
                  <a16:creationId xmlns:a16="http://schemas.microsoft.com/office/drawing/2014/main" id="{4944846A-F513-092D-6418-FDFABF668EAD}"/>
                </a:ext>
              </a:extLst>
            </p:cNvPr>
            <p:cNvSpPr/>
            <p:nvPr/>
          </p:nvSpPr>
          <p:spPr>
            <a:xfrm>
              <a:off x="7634043" y="4803423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7" name="Google Shape;816;p53">
              <a:extLst>
                <a:ext uri="{FF2B5EF4-FFF2-40B4-BE49-F238E27FC236}">
                  <a16:creationId xmlns:a16="http://schemas.microsoft.com/office/drawing/2014/main" id="{0044B4C3-9EED-95B0-2B67-FBF9F3902438}"/>
                </a:ext>
              </a:extLst>
            </p:cNvPr>
            <p:cNvCxnSpPr>
              <a:stCxn id="36" idx="6"/>
              <a:endCxn id="34" idx="1"/>
            </p:cNvCxnSpPr>
            <p:nvPr/>
          </p:nvCxnSpPr>
          <p:spPr>
            <a:xfrm>
              <a:off x="7919043" y="4945923"/>
              <a:ext cx="553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" name="Google Shape;817;p53">
              <a:extLst>
                <a:ext uri="{FF2B5EF4-FFF2-40B4-BE49-F238E27FC236}">
                  <a16:creationId xmlns:a16="http://schemas.microsoft.com/office/drawing/2014/main" id="{2B23180B-28BA-88B5-453D-2956CC0E59C6}"/>
                </a:ext>
              </a:extLst>
            </p:cNvPr>
            <p:cNvSpPr/>
            <p:nvPr/>
          </p:nvSpPr>
          <p:spPr>
            <a:xfrm>
              <a:off x="10148655" y="4422423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" name="Google Shape;818;p53">
              <a:extLst>
                <a:ext uri="{FF2B5EF4-FFF2-40B4-BE49-F238E27FC236}">
                  <a16:creationId xmlns:a16="http://schemas.microsoft.com/office/drawing/2014/main" id="{A31CEE00-7425-B066-F98B-140C4155238A}"/>
                </a:ext>
              </a:extLst>
            </p:cNvPr>
            <p:cNvSpPr/>
            <p:nvPr/>
          </p:nvSpPr>
          <p:spPr>
            <a:xfrm>
              <a:off x="10148655" y="5184423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0" name="Google Shape;819;p53">
              <a:extLst>
                <a:ext uri="{FF2B5EF4-FFF2-40B4-BE49-F238E27FC236}">
                  <a16:creationId xmlns:a16="http://schemas.microsoft.com/office/drawing/2014/main" id="{1B52A9E3-C1EC-4AD4-8E68-BE82D4D5F9A7}"/>
                </a:ext>
              </a:extLst>
            </p:cNvPr>
            <p:cNvCxnSpPr>
              <a:stCxn id="33" idx="3"/>
              <a:endCxn id="38" idx="1"/>
            </p:cNvCxnSpPr>
            <p:nvPr/>
          </p:nvCxnSpPr>
          <p:spPr>
            <a:xfrm rot="10800000" flipH="1">
              <a:off x="9595455" y="4564923"/>
              <a:ext cx="553200" cy="381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820;p53">
              <a:extLst>
                <a:ext uri="{FF2B5EF4-FFF2-40B4-BE49-F238E27FC236}">
                  <a16:creationId xmlns:a16="http://schemas.microsoft.com/office/drawing/2014/main" id="{A94E17E7-3340-62B2-9098-6D4831817DD0}"/>
                </a:ext>
              </a:extLst>
            </p:cNvPr>
            <p:cNvCxnSpPr>
              <a:stCxn id="33" idx="3"/>
              <a:endCxn id="39" idx="1"/>
            </p:cNvCxnSpPr>
            <p:nvPr/>
          </p:nvCxnSpPr>
          <p:spPr>
            <a:xfrm>
              <a:off x="9595455" y="4945923"/>
              <a:ext cx="553200" cy="381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" name="Google Shape;821;p53">
              <a:extLst>
                <a:ext uri="{FF2B5EF4-FFF2-40B4-BE49-F238E27FC236}">
                  <a16:creationId xmlns:a16="http://schemas.microsoft.com/office/drawing/2014/main" id="{D288F5CB-80A5-8037-3E22-2E069026102F}"/>
                </a:ext>
              </a:extLst>
            </p:cNvPr>
            <p:cNvSpPr/>
            <p:nvPr/>
          </p:nvSpPr>
          <p:spPr>
            <a:xfrm>
              <a:off x="10986843" y="4190998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" name="Google Shape;822;p53">
              <a:extLst>
                <a:ext uri="{FF2B5EF4-FFF2-40B4-BE49-F238E27FC236}">
                  <a16:creationId xmlns:a16="http://schemas.microsoft.com/office/drawing/2014/main" id="{A549FF44-91D9-A883-4DA3-12DEE65522D6}"/>
                </a:ext>
              </a:extLst>
            </p:cNvPr>
            <p:cNvSpPr/>
            <p:nvPr/>
          </p:nvSpPr>
          <p:spPr>
            <a:xfrm>
              <a:off x="10986843" y="4648198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" name="Google Shape;823;p53">
              <a:extLst>
                <a:ext uri="{FF2B5EF4-FFF2-40B4-BE49-F238E27FC236}">
                  <a16:creationId xmlns:a16="http://schemas.microsoft.com/office/drawing/2014/main" id="{449D9916-2A5A-6A1E-83FA-14D9AC60191C}"/>
                </a:ext>
              </a:extLst>
            </p:cNvPr>
            <p:cNvCxnSpPr>
              <a:stCxn id="38" idx="3"/>
              <a:endCxn id="42" idx="2"/>
            </p:cNvCxnSpPr>
            <p:nvPr/>
          </p:nvCxnSpPr>
          <p:spPr>
            <a:xfrm rot="10800000" flipH="1">
              <a:off x="10433655" y="4333623"/>
              <a:ext cx="553200" cy="23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824;p53">
              <a:extLst>
                <a:ext uri="{FF2B5EF4-FFF2-40B4-BE49-F238E27FC236}">
                  <a16:creationId xmlns:a16="http://schemas.microsoft.com/office/drawing/2014/main" id="{81A32B66-BD26-2A44-B729-BAFDF0A8C8C9}"/>
                </a:ext>
              </a:extLst>
            </p:cNvPr>
            <p:cNvCxnSpPr>
              <a:stCxn id="38" idx="3"/>
              <a:endCxn id="43" idx="2"/>
            </p:cNvCxnSpPr>
            <p:nvPr/>
          </p:nvCxnSpPr>
          <p:spPr>
            <a:xfrm>
              <a:off x="10433655" y="4564923"/>
              <a:ext cx="553200" cy="22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825;p53">
              <a:extLst>
                <a:ext uri="{FF2B5EF4-FFF2-40B4-BE49-F238E27FC236}">
                  <a16:creationId xmlns:a16="http://schemas.microsoft.com/office/drawing/2014/main" id="{7B2EC7B0-B262-6544-B8E3-8A9F68B0DC93}"/>
                </a:ext>
              </a:extLst>
            </p:cNvPr>
            <p:cNvSpPr/>
            <p:nvPr/>
          </p:nvSpPr>
          <p:spPr>
            <a:xfrm>
              <a:off x="10986843" y="5181598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7" name="Google Shape;826;p53">
              <a:extLst>
                <a:ext uri="{FF2B5EF4-FFF2-40B4-BE49-F238E27FC236}">
                  <a16:creationId xmlns:a16="http://schemas.microsoft.com/office/drawing/2014/main" id="{996707A0-B340-598A-8F48-598CBF4606BC}"/>
                </a:ext>
              </a:extLst>
            </p:cNvPr>
            <p:cNvCxnSpPr>
              <a:stCxn id="39" idx="3"/>
              <a:endCxn id="46" idx="2"/>
            </p:cNvCxnSpPr>
            <p:nvPr/>
          </p:nvCxnSpPr>
          <p:spPr>
            <a:xfrm rot="10800000" flipH="1">
              <a:off x="10433655" y="5324223"/>
              <a:ext cx="553200" cy="2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A9FCF97-C1B4-F0E5-7912-3F82D2C1C6E1}"/>
              </a:ext>
            </a:extLst>
          </p:cNvPr>
          <p:cNvSpPr txBox="1"/>
          <p:nvPr/>
        </p:nvSpPr>
        <p:spPr>
          <a:xfrm>
            <a:off x="10097222" y="5476499"/>
            <a:ext cx="1209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Switches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A46DEC-7D4D-30D5-C08F-C7FE0A4C559B}"/>
              </a:ext>
            </a:extLst>
          </p:cNvPr>
          <p:cNvSpPr txBox="1"/>
          <p:nvPr/>
        </p:nvSpPr>
        <p:spPr>
          <a:xfrm>
            <a:off x="362618" y="5436134"/>
            <a:ext cx="901147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i="1" u="sng" dirty="0">
                <a:solidFill>
                  <a:srgbClr val="C00000"/>
                </a:solidFill>
              </a:rPr>
              <a:t>Q1: </a:t>
            </a:r>
            <a:r>
              <a:rPr lang="en-US" sz="2200" dirty="0"/>
              <a:t>If switches can forward packets like routers, why do we need routers?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sz="500" dirty="0"/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i="1" u="sng" dirty="0">
                <a:solidFill>
                  <a:srgbClr val="C00000"/>
                </a:solidFill>
              </a:rPr>
              <a:t>Q2: </a:t>
            </a:r>
            <a:r>
              <a:rPr lang="en-US" sz="2200" dirty="0"/>
              <a:t>Could we scale Layer 2 switching to the entire Internet?</a:t>
            </a:r>
          </a:p>
        </p:txBody>
      </p:sp>
    </p:spTree>
    <p:extLst>
      <p:ext uri="{BB962C8B-B14F-4D97-AF65-F5344CB8AC3E}">
        <p14:creationId xmlns:p14="http://schemas.microsoft.com/office/powerpoint/2010/main" val="109380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98055EF-D694-3B9F-F9A3-2270E7952DA1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Switches vs. Routers</a:t>
            </a:r>
          </a:p>
        </p:txBody>
      </p:sp>
      <p:pic>
        <p:nvPicPr>
          <p:cNvPr id="1026" name="Picture 2" descr="difference between switch and router">
            <a:extLst>
              <a:ext uri="{FF2B5EF4-FFF2-40B4-BE49-F238E27FC236}">
                <a16:creationId xmlns:a16="http://schemas.microsoft.com/office/drawing/2014/main" id="{EC3D973B-7078-B666-FBE1-8BA6D0029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339" y="401077"/>
            <a:ext cx="4790661" cy="269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A6B771E-7CED-B98F-8C51-4ECA40863A66}"/>
              </a:ext>
            </a:extLst>
          </p:cNvPr>
          <p:cNvSpPr txBox="1"/>
          <p:nvPr/>
        </p:nvSpPr>
        <p:spPr>
          <a:xfrm>
            <a:off x="804793" y="4145948"/>
            <a:ext cx="910623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Routers (Layer 3)</a:t>
            </a:r>
            <a:r>
              <a:rPr lang="en-US" dirty="0"/>
              <a:t>: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Designed to interconnect </a:t>
            </a:r>
            <a:r>
              <a:rPr lang="en-US" b="1" i="1" dirty="0">
                <a:solidFill>
                  <a:srgbClr val="C00000"/>
                </a:solidFill>
              </a:rPr>
              <a:t>different networks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Intelligent path selection between networks using logical addresses (IP address)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Hierarchical IP addressing enables route aggregation and Internet-scale routing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More complex, requires configuration, but </a:t>
            </a:r>
            <a:r>
              <a:rPr lang="en-US" b="1" dirty="0">
                <a:solidFill>
                  <a:srgbClr val="C00000"/>
                </a:solidFill>
              </a:rPr>
              <a:t>scales</a:t>
            </a:r>
            <a:r>
              <a:rPr lang="en-US" dirty="0"/>
              <a:t> globally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07C9C8-8691-664D-456F-80C2E10F40A7}"/>
              </a:ext>
            </a:extLst>
          </p:cNvPr>
          <p:cNvSpPr txBox="1"/>
          <p:nvPr/>
        </p:nvSpPr>
        <p:spPr>
          <a:xfrm>
            <a:off x="804793" y="1748450"/>
            <a:ext cx="910623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Switches (Layer 2)</a:t>
            </a:r>
            <a:r>
              <a:rPr lang="en-US" dirty="0"/>
              <a:t>: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Connect devices within a </a:t>
            </a:r>
            <a:r>
              <a:rPr lang="en-US" b="1" i="1" dirty="0">
                <a:solidFill>
                  <a:srgbClr val="C00000"/>
                </a:solidFill>
              </a:rPr>
              <a:t>local network (LAN)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Fast, simple forwarding based on MAC addresses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dirty="0"/>
              <a:t>Transparent</a:t>
            </a:r>
            <a:r>
              <a:rPr lang="en-US" dirty="0"/>
              <a:t>: hosts unaware of presence of switches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Random and unique MAC addresses means no scalability beyond local networks </a:t>
            </a:r>
            <a:endParaRPr lang="en-US" dirty="0">
              <a:sym typeface="Wingdings" panose="05000000000000000000" pitchFamily="2" charset="2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Switches must remember every single device; Can't group addresses together (E.g., </a:t>
            </a:r>
            <a:r>
              <a:rPr lang="en-US" i="1" dirty="0">
                <a:sym typeface="Wingdings" panose="05000000000000000000" pitchFamily="2" charset="2"/>
              </a:rPr>
              <a:t>Can't say "all devices starting with XX go to output port 1"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16B08-EDE3-94D3-0A6D-1A1D6F2E50A6}"/>
              </a:ext>
            </a:extLst>
          </p:cNvPr>
          <p:cNvSpPr txBox="1"/>
          <p:nvPr/>
        </p:nvSpPr>
        <p:spPr>
          <a:xfrm>
            <a:off x="1051205" y="984108"/>
            <a:ext cx="6609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A switch connects devices within a single network using MAC addresses; while a router connects multiple networks</a:t>
            </a:r>
            <a:endParaRPr lang="en-US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6692A0-42CC-3ABC-B0CD-A942B4324A7D}"/>
              </a:ext>
            </a:extLst>
          </p:cNvPr>
          <p:cNvSpPr txBox="1"/>
          <p:nvPr/>
        </p:nvSpPr>
        <p:spPr>
          <a:xfrm>
            <a:off x="2526034" y="6020909"/>
            <a:ext cx="7139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Modern convergence of switches and routers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Layer 3 switches </a:t>
            </a:r>
            <a:r>
              <a:rPr lang="en-US" dirty="0"/>
              <a:t>blur the lines, but fundamental scalability differences remain</a:t>
            </a:r>
          </a:p>
        </p:txBody>
      </p:sp>
    </p:spTree>
    <p:extLst>
      <p:ext uri="{BB962C8B-B14F-4D97-AF65-F5344CB8AC3E}">
        <p14:creationId xmlns:p14="http://schemas.microsoft.com/office/powerpoint/2010/main" val="215562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E930-8065-8F28-2D8E-B139F36A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C1E220A-A588-80D0-D667-CA9C7DDD7CAE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Why Layer 2 Cannot Scale to Internet</a:t>
            </a:r>
            <a:endParaRPr lang="en-US" dirty="0"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D012C0-6B18-521B-8FD1-CDA27B190067}"/>
              </a:ext>
            </a:extLst>
          </p:cNvPr>
          <p:cNvGrpSpPr/>
          <p:nvPr/>
        </p:nvGrpSpPr>
        <p:grpSpPr>
          <a:xfrm>
            <a:off x="6503928" y="1144208"/>
            <a:ext cx="5303062" cy="3594342"/>
            <a:chOff x="6470650" y="0"/>
            <a:chExt cx="5721350" cy="3830183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D9294E7-B613-312A-0E61-4A60EAD77C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0650" y="0"/>
              <a:ext cx="572135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D77188-D98F-6D6C-6761-0D73AED4090C}"/>
                </a:ext>
              </a:extLst>
            </p:cNvPr>
            <p:cNvSpPr txBox="1"/>
            <p:nvPr/>
          </p:nvSpPr>
          <p:spPr>
            <a:xfrm>
              <a:off x="7931894" y="3436617"/>
              <a:ext cx="2501662" cy="393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Reference </a:t>
              </a:r>
              <a:r>
                <a:rPr lang="en-US" b="1" dirty="0">
                  <a:hlinkClick r:id="rId3"/>
                </a:rPr>
                <a:t>Link</a:t>
              </a:r>
              <a:endParaRPr lang="en-US" b="1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2BDCF4E-AA2E-7329-D5B8-DF1074A96D44}"/>
              </a:ext>
            </a:extLst>
          </p:cNvPr>
          <p:cNvSpPr txBox="1"/>
          <p:nvPr/>
        </p:nvSpPr>
        <p:spPr>
          <a:xfrm>
            <a:off x="486064" y="5112968"/>
            <a:ext cx="1007605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Layer 3 (IP) solves these problems: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Hierarchical addressing: IPs assigned by geographic location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Route aggregation (Longest Prefix Matching): 10.0.0.0/8 = 16M addresses in </a:t>
            </a:r>
            <a:r>
              <a:rPr lang="en-US" sz="2000" dirty="0">
                <a:solidFill>
                  <a:srgbClr val="C00000"/>
                </a:solidFill>
              </a:rPr>
              <a:t>ONE</a:t>
            </a:r>
            <a:r>
              <a:rPr lang="en-US" sz="2000" dirty="0"/>
              <a:t> entry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Result: BGP handles 900K+ routes efficiently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2AF91-4DF1-DEA0-9615-2E74FB0FBB2C}"/>
              </a:ext>
            </a:extLst>
          </p:cNvPr>
          <p:cNvSpPr txBox="1"/>
          <p:nvPr/>
        </p:nvSpPr>
        <p:spPr>
          <a:xfrm>
            <a:off x="488820" y="927652"/>
            <a:ext cx="65383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Layer 2 cannot scale to Internet-size networks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Problem: MAC addresses have no structure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 route aggregation: Every MAC needs separate forwarding table entry; </a:t>
            </a:r>
            <a:r>
              <a:rPr lang="en-US" sz="2000" i="1" dirty="0"/>
              <a:t>Internet: 5 billion devices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 hierarchy: Can't build efficient routing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Can't say “all US traffic → this way”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Must know exact path to every MAC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Broadcast storms: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DHCP/ARP flood entire network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/>
              <a:t>millions of broadcast messages/second</a:t>
            </a:r>
          </a:p>
        </p:txBody>
      </p:sp>
    </p:spTree>
    <p:extLst>
      <p:ext uri="{BB962C8B-B14F-4D97-AF65-F5344CB8AC3E}">
        <p14:creationId xmlns:p14="http://schemas.microsoft.com/office/powerpoint/2010/main" val="402295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">
            <a:extLst>
              <a:ext uri="{FF2B5EF4-FFF2-40B4-BE49-F238E27FC236}">
                <a16:creationId xmlns:a16="http://schemas.microsoft.com/office/drawing/2014/main" id="{3FDF2C75-B699-464D-B545-BA7F3D06285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42387"/>
            <a:ext cx="5500150" cy="25261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  <a:cs typeface="+mn-cs"/>
              </a:rPr>
              <a:t>“Dominant” wired LAN technology: 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  <a:cs typeface="+mn-cs"/>
              </a:rPr>
              <a:t>First widely used LAN technology (1980s)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  <a:cs typeface="+mn-cs"/>
              </a:rPr>
              <a:t>Simpler, cheap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  <a:cs typeface="+mn-cs"/>
              </a:rPr>
              <a:t>Kept up with speed race: 10 Mbps – 400 Gbps 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34" charset="-128"/>
                <a:cs typeface="+mn-cs"/>
              </a:rPr>
              <a:t>Single chip, multiple speeds (e.g., Broadcom  BCM5761)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568888-29C5-517A-2FE2-1A15B05C18F3}"/>
              </a:ext>
            </a:extLst>
          </p:cNvPr>
          <p:cNvGrpSpPr/>
          <p:nvPr/>
        </p:nvGrpSpPr>
        <p:grpSpPr>
          <a:xfrm>
            <a:off x="927552" y="3219929"/>
            <a:ext cx="3200556" cy="3574751"/>
            <a:chOff x="7391322" y="3111307"/>
            <a:chExt cx="3200556" cy="357475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017809-CEB9-60A6-9839-ABB51254D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1861" y="3111307"/>
              <a:ext cx="2819478" cy="305443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AA4EED-FFC3-6A86-8E7C-40A8D50135F9}"/>
                </a:ext>
              </a:extLst>
            </p:cNvPr>
            <p:cNvSpPr txBox="1"/>
            <p:nvPr/>
          </p:nvSpPr>
          <p:spPr>
            <a:xfrm>
              <a:off x="7391322" y="6101283"/>
              <a:ext cx="3200556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Bob Metcalfe: Ethernet co-inventor, </a:t>
              </a:r>
            </a:p>
            <a:p>
              <a:r>
                <a:rPr lang="en-US" sz="1600" dirty="0"/>
                <a:t>2022 ACM Turing Award recipient</a:t>
              </a:r>
            </a:p>
          </p:txBody>
        </p:sp>
      </p:grpSp>
      <p:sp>
        <p:nvSpPr>
          <p:cNvPr id="8" name="Title 5">
            <a:extLst>
              <a:ext uri="{FF2B5EF4-FFF2-40B4-BE49-F238E27FC236}">
                <a16:creationId xmlns:a16="http://schemas.microsoft.com/office/drawing/2014/main" id="{C373FDB3-E9F4-76CC-8A7E-AD4E0268C60F}"/>
              </a:ext>
            </a:extLst>
          </p:cNvPr>
          <p:cNvSpPr txBox="1">
            <a:spLocks/>
          </p:cNvSpPr>
          <p:nvPr/>
        </p:nvSpPr>
        <p:spPr>
          <a:xfrm>
            <a:off x="506184" y="102674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Ethernet and Ethernet Physical Topology</a:t>
            </a:r>
            <a:endParaRPr lang="en-US" dirty="0">
              <a:latin typeface="+mn-lt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474E23A-A6A8-CE2A-A846-5336821B4974}"/>
              </a:ext>
            </a:extLst>
          </p:cNvPr>
          <p:cNvSpPr txBox="1">
            <a:spLocks noChangeArrowheads="1"/>
          </p:cNvSpPr>
          <p:nvPr/>
        </p:nvSpPr>
        <p:spPr>
          <a:xfrm>
            <a:off x="5438788" y="842387"/>
            <a:ext cx="6753212" cy="925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17BFAA-7FE8-E3DB-FC7B-4F8CD69E42D3}"/>
              </a:ext>
            </a:extLst>
          </p:cNvPr>
          <p:cNvSpPr txBox="1"/>
          <p:nvPr/>
        </p:nvSpPr>
        <p:spPr>
          <a:xfrm>
            <a:off x="6095999" y="842387"/>
            <a:ext cx="5433691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Bus: popular through mid 90s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All nodes in same collision domain (can collide with each other)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735F5AA-5689-2730-9A30-C9662908A959}"/>
              </a:ext>
            </a:extLst>
          </p:cNvPr>
          <p:cNvGrpSpPr/>
          <p:nvPr/>
        </p:nvGrpSpPr>
        <p:grpSpPr>
          <a:xfrm>
            <a:off x="6346218" y="1563812"/>
            <a:ext cx="4396215" cy="1719437"/>
            <a:chOff x="935445" y="3937346"/>
            <a:chExt cx="4396215" cy="1719437"/>
          </a:xfrm>
        </p:grpSpPr>
        <p:sp>
          <p:nvSpPr>
            <p:cNvPr id="13" name="Line 32">
              <a:extLst>
                <a:ext uri="{FF2B5EF4-FFF2-40B4-BE49-F238E27FC236}">
                  <a16:creationId xmlns:a16="http://schemas.microsoft.com/office/drawing/2014/main" id="{9A609E72-AE81-77F2-01BD-1F2436D13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9150" y="4343745"/>
              <a:ext cx="616233" cy="1201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Box 41">
              <a:extLst>
                <a:ext uri="{FF2B5EF4-FFF2-40B4-BE49-F238E27FC236}">
                  <a16:creationId xmlns:a16="http://schemas.microsoft.com/office/drawing/2014/main" id="{AF2709E6-402F-5E99-9877-77312BBB0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445" y="4519515"/>
              <a:ext cx="23583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bus: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coaxial cable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9580F-4544-56B5-F4A4-4E54318DB185}"/>
                </a:ext>
              </a:extLst>
            </p:cNvPr>
            <p:cNvGrpSpPr/>
            <p:nvPr/>
          </p:nvGrpSpPr>
          <p:grpSpPr>
            <a:xfrm>
              <a:off x="4166894" y="4287302"/>
              <a:ext cx="468488" cy="103894"/>
              <a:chOff x="3160889" y="5723468"/>
              <a:chExt cx="468488" cy="103894"/>
            </a:xfrm>
          </p:grpSpPr>
          <p:sp>
            <p:nvSpPr>
              <p:cNvPr id="16" name="Rectangle 37">
                <a:extLst>
                  <a:ext uri="{FF2B5EF4-FFF2-40B4-BE49-F238E27FC236}">
                    <a16:creationId xmlns:a16="http://schemas.microsoft.com/office/drawing/2014/main" id="{15B9F89E-C096-7F84-1601-0F0EDB688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34167" y="5650190"/>
                <a:ext cx="103894" cy="250450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36DA022-E603-FD8A-E250-3C77C88B0F17}"/>
                  </a:ext>
                </a:extLst>
              </p:cNvPr>
              <p:cNvCxnSpPr/>
              <p:nvPr/>
            </p:nvCxnSpPr>
            <p:spPr>
              <a:xfrm>
                <a:off x="3403599" y="5774267"/>
                <a:ext cx="2257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E4BDD03-2DC7-D435-A4FC-7AE294E39E25}"/>
                </a:ext>
              </a:extLst>
            </p:cNvPr>
            <p:cNvGrpSpPr/>
            <p:nvPr/>
          </p:nvGrpSpPr>
          <p:grpSpPr>
            <a:xfrm>
              <a:off x="3867737" y="4868680"/>
              <a:ext cx="468488" cy="103894"/>
              <a:chOff x="3160889" y="5723468"/>
              <a:chExt cx="468488" cy="103894"/>
            </a:xfrm>
          </p:grpSpPr>
          <p:sp>
            <p:nvSpPr>
              <p:cNvPr id="19" name="Rectangle 37">
                <a:extLst>
                  <a:ext uri="{FF2B5EF4-FFF2-40B4-BE49-F238E27FC236}">
                    <a16:creationId xmlns:a16="http://schemas.microsoft.com/office/drawing/2014/main" id="{6BBD59AF-96EF-83D1-E2AD-FC8BE5924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34167" y="5650190"/>
                <a:ext cx="103894" cy="250450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96FCF1D-5474-0E97-EBE9-F793DDA4E13C}"/>
                  </a:ext>
                </a:extLst>
              </p:cNvPr>
              <p:cNvCxnSpPr/>
              <p:nvPr/>
            </p:nvCxnSpPr>
            <p:spPr>
              <a:xfrm>
                <a:off x="3403599" y="5774267"/>
                <a:ext cx="2257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6E0479B-325D-697E-E6BE-3FCA61062BDC}"/>
                </a:ext>
              </a:extLst>
            </p:cNvPr>
            <p:cNvGrpSpPr/>
            <p:nvPr/>
          </p:nvGrpSpPr>
          <p:grpSpPr>
            <a:xfrm>
              <a:off x="3557291" y="5489569"/>
              <a:ext cx="468488" cy="103894"/>
              <a:chOff x="3160889" y="5723468"/>
              <a:chExt cx="468488" cy="103894"/>
            </a:xfrm>
          </p:grpSpPr>
          <p:sp>
            <p:nvSpPr>
              <p:cNvPr id="22" name="Rectangle 37">
                <a:extLst>
                  <a:ext uri="{FF2B5EF4-FFF2-40B4-BE49-F238E27FC236}">
                    <a16:creationId xmlns:a16="http://schemas.microsoft.com/office/drawing/2014/main" id="{6511BF7C-F3DE-FA6D-BA20-6EF5C212B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34167" y="5650190"/>
                <a:ext cx="103894" cy="250450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9AC6A98-54D8-F2B2-6BEA-EDF8B8FB074A}"/>
                  </a:ext>
                </a:extLst>
              </p:cNvPr>
              <p:cNvCxnSpPr/>
              <p:nvPr/>
            </p:nvCxnSpPr>
            <p:spPr>
              <a:xfrm>
                <a:off x="3403599" y="5774267"/>
                <a:ext cx="2257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54">
              <a:extLst>
                <a:ext uri="{FF2B5EF4-FFF2-40B4-BE49-F238E27FC236}">
                  <a16:creationId xmlns:a16="http://schemas.microsoft.com/office/drawing/2014/main" id="{47DB9A8F-C47E-9A16-3924-0EF64D768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0847" y="5135905"/>
              <a:ext cx="640071" cy="517525"/>
              <a:chOff x="-44" y="1473"/>
              <a:chExt cx="981" cy="1105"/>
            </a:xfrm>
          </p:grpSpPr>
          <p:pic>
            <p:nvPicPr>
              <p:cNvPr id="25" name="Picture 55" descr="desktop_computer_stylized_medium">
                <a:extLst>
                  <a:ext uri="{FF2B5EF4-FFF2-40B4-BE49-F238E27FC236}">
                    <a16:creationId xmlns:a16="http://schemas.microsoft.com/office/drawing/2014/main" id="{80E8C19F-8D04-28F7-3DC2-AAD0283AD0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Freeform 56">
                <a:extLst>
                  <a:ext uri="{FF2B5EF4-FFF2-40B4-BE49-F238E27FC236}">
                    <a16:creationId xmlns:a16="http://schemas.microsoft.com/office/drawing/2014/main" id="{1296F896-6E1A-882A-3B77-03239BDD96C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49">
              <a:extLst>
                <a:ext uri="{FF2B5EF4-FFF2-40B4-BE49-F238E27FC236}">
                  <a16:creationId xmlns:a16="http://schemas.microsoft.com/office/drawing/2014/main" id="{056A3704-044F-1303-7A77-761499C18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7407" y="4515020"/>
              <a:ext cx="640071" cy="517525"/>
              <a:chOff x="-44" y="1473"/>
              <a:chExt cx="981" cy="1105"/>
            </a:xfrm>
          </p:grpSpPr>
          <p:pic>
            <p:nvPicPr>
              <p:cNvPr id="28" name="Picture 50" descr="desktop_computer_stylized_medium">
                <a:extLst>
                  <a:ext uri="{FF2B5EF4-FFF2-40B4-BE49-F238E27FC236}">
                    <a16:creationId xmlns:a16="http://schemas.microsoft.com/office/drawing/2014/main" id="{A7DF78BC-9BA9-65E9-E64F-FDC89379AF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Freeform 51">
                <a:extLst>
                  <a:ext uri="{FF2B5EF4-FFF2-40B4-BE49-F238E27FC236}">
                    <a16:creationId xmlns:a16="http://schemas.microsoft.com/office/drawing/2014/main" id="{1321B732-4CDF-AB07-5295-9BB04D784E8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49">
              <a:extLst>
                <a:ext uri="{FF2B5EF4-FFF2-40B4-BE49-F238E27FC236}">
                  <a16:creationId xmlns:a16="http://schemas.microsoft.com/office/drawing/2014/main" id="{176F800F-EB4B-D713-83BD-993CD4F60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571" y="3937346"/>
              <a:ext cx="640071" cy="517525"/>
              <a:chOff x="-44" y="1473"/>
              <a:chExt cx="981" cy="1105"/>
            </a:xfrm>
          </p:grpSpPr>
          <p:pic>
            <p:nvPicPr>
              <p:cNvPr id="31" name="Picture 50" descr="desktop_computer_stylized_medium">
                <a:extLst>
                  <a:ext uri="{FF2B5EF4-FFF2-40B4-BE49-F238E27FC236}">
                    <a16:creationId xmlns:a16="http://schemas.microsoft.com/office/drawing/2014/main" id="{F0839A13-4CCA-9015-2E65-6CD2E8C8CE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Freeform 51">
                <a:extLst>
                  <a:ext uri="{FF2B5EF4-FFF2-40B4-BE49-F238E27FC236}">
                    <a16:creationId xmlns:a16="http://schemas.microsoft.com/office/drawing/2014/main" id="{48FAC3BC-024F-B40E-5D69-D8E000089D5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95F56FF-D5F7-6CA7-B8C9-4D4786B19428}"/>
                </a:ext>
              </a:extLst>
            </p:cNvPr>
            <p:cNvGrpSpPr/>
            <p:nvPr/>
          </p:nvGrpSpPr>
          <p:grpSpPr>
            <a:xfrm rot="10800000">
              <a:off x="4121737" y="5286369"/>
              <a:ext cx="468488" cy="103894"/>
              <a:chOff x="3160889" y="5723468"/>
              <a:chExt cx="468488" cy="103894"/>
            </a:xfrm>
          </p:grpSpPr>
          <p:sp>
            <p:nvSpPr>
              <p:cNvPr id="34" name="Rectangle 37">
                <a:extLst>
                  <a:ext uri="{FF2B5EF4-FFF2-40B4-BE49-F238E27FC236}">
                    <a16:creationId xmlns:a16="http://schemas.microsoft.com/office/drawing/2014/main" id="{D162FD2B-FD95-3D2B-4D90-E2AF0BF8C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34167" y="5650190"/>
                <a:ext cx="103894" cy="250450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D290AE2-3877-4196-71B8-DE6AFE2358D6}"/>
                  </a:ext>
                </a:extLst>
              </p:cNvPr>
              <p:cNvCxnSpPr/>
              <p:nvPr/>
            </p:nvCxnSpPr>
            <p:spPr>
              <a:xfrm>
                <a:off x="3403599" y="5774267"/>
                <a:ext cx="2257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9F28555-354E-F3DB-F113-B74F64A936AF}"/>
                </a:ext>
              </a:extLst>
            </p:cNvPr>
            <p:cNvGrpSpPr/>
            <p:nvPr/>
          </p:nvGrpSpPr>
          <p:grpSpPr>
            <a:xfrm rot="10800000">
              <a:off x="4466048" y="4620324"/>
              <a:ext cx="468488" cy="103894"/>
              <a:chOff x="3160889" y="5723468"/>
              <a:chExt cx="468488" cy="103894"/>
            </a:xfrm>
          </p:grpSpPr>
          <p:sp>
            <p:nvSpPr>
              <p:cNvPr id="37" name="Rectangle 37">
                <a:extLst>
                  <a:ext uri="{FF2B5EF4-FFF2-40B4-BE49-F238E27FC236}">
                    <a16:creationId xmlns:a16="http://schemas.microsoft.com/office/drawing/2014/main" id="{DBD1A498-A976-7093-6DDF-7BA5E5355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34167" y="5650190"/>
                <a:ext cx="103894" cy="250450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150C255-08EC-0638-D913-B931EE646463}"/>
                  </a:ext>
                </a:extLst>
              </p:cNvPr>
              <p:cNvCxnSpPr/>
              <p:nvPr/>
            </p:nvCxnSpPr>
            <p:spPr>
              <a:xfrm>
                <a:off x="3403599" y="5774267"/>
                <a:ext cx="22577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44">
              <a:extLst>
                <a:ext uri="{FF2B5EF4-FFF2-40B4-BE49-F238E27FC236}">
                  <a16:creationId xmlns:a16="http://schemas.microsoft.com/office/drawing/2014/main" id="{F69D25B3-FF16-5002-ADAB-2B30AF9941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460" y="4390841"/>
              <a:ext cx="711200" cy="601662"/>
              <a:chOff x="-44" y="1473"/>
              <a:chExt cx="981" cy="1105"/>
            </a:xfrm>
          </p:grpSpPr>
          <p:pic>
            <p:nvPicPr>
              <p:cNvPr id="40" name="Picture 45" descr="desktop_computer_stylized_medium">
                <a:extLst>
                  <a:ext uri="{FF2B5EF4-FFF2-40B4-BE49-F238E27FC236}">
                    <a16:creationId xmlns:a16="http://schemas.microsoft.com/office/drawing/2014/main" id="{337EC543-8E88-8D17-1CB1-D7972AAF6E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" name="Freeform 46">
                <a:extLst>
                  <a:ext uri="{FF2B5EF4-FFF2-40B4-BE49-F238E27FC236}">
                    <a16:creationId xmlns:a16="http://schemas.microsoft.com/office/drawing/2014/main" id="{416DF5E0-6C40-D1F6-ECC4-EDA7C2EFCD5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4">
              <a:extLst>
                <a:ext uri="{FF2B5EF4-FFF2-40B4-BE49-F238E27FC236}">
                  <a16:creationId xmlns:a16="http://schemas.microsoft.com/office/drawing/2014/main" id="{E3ED8660-7DFC-6A7C-2430-9E181F863D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3912" y="5056708"/>
              <a:ext cx="711200" cy="600075"/>
              <a:chOff x="-44" y="1473"/>
              <a:chExt cx="981" cy="1105"/>
            </a:xfrm>
          </p:grpSpPr>
          <p:pic>
            <p:nvPicPr>
              <p:cNvPr id="43" name="Picture 42" descr="desktop_computer_stylized_medium">
                <a:extLst>
                  <a:ext uri="{FF2B5EF4-FFF2-40B4-BE49-F238E27FC236}">
                    <a16:creationId xmlns:a16="http://schemas.microsoft.com/office/drawing/2014/main" id="{8F49025F-A8E1-979A-A181-BF485A781E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" name="Freeform 46">
                <a:extLst>
                  <a:ext uri="{FF2B5EF4-FFF2-40B4-BE49-F238E27FC236}">
                    <a16:creationId xmlns:a16="http://schemas.microsoft.com/office/drawing/2014/main" id="{AB1BDC8F-5B2B-3775-981C-B061BE556B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03CC1D-2BD0-6978-2741-61C968AE7FEE}"/>
              </a:ext>
            </a:extLst>
          </p:cNvPr>
          <p:cNvSpPr txBox="1"/>
          <p:nvPr/>
        </p:nvSpPr>
        <p:spPr>
          <a:xfrm>
            <a:off x="6095999" y="3277740"/>
            <a:ext cx="543369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Switched: prevails today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Active link-layer 2 switch in center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“spoke” runs a (separate) Ethernet protocol (nodes do not collide with each other)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465FE6-784F-DDE5-831B-C3EA79E794A0}"/>
              </a:ext>
            </a:extLst>
          </p:cNvPr>
          <p:cNvGrpSpPr/>
          <p:nvPr/>
        </p:nvGrpSpPr>
        <p:grpSpPr>
          <a:xfrm>
            <a:off x="7445829" y="4688877"/>
            <a:ext cx="3876109" cy="2073959"/>
            <a:chOff x="6296294" y="3889527"/>
            <a:chExt cx="4903947" cy="2516574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8E235F1-54A6-B346-4E19-66B387CB77DE}"/>
                </a:ext>
              </a:extLst>
            </p:cNvPr>
            <p:cNvCxnSpPr>
              <a:cxnSpLocks/>
              <a:stCxn id="68" idx="2"/>
            </p:cNvCxnSpPr>
            <p:nvPr/>
          </p:nvCxnSpPr>
          <p:spPr>
            <a:xfrm>
              <a:off x="7906769" y="4630890"/>
              <a:ext cx="2249" cy="12602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69CF4F8-1655-B540-7C3D-79B3CE3F0161}"/>
                </a:ext>
              </a:extLst>
            </p:cNvPr>
            <p:cNvCxnSpPr>
              <a:cxnSpLocks/>
            </p:cNvCxnSpPr>
            <p:nvPr/>
          </p:nvCxnSpPr>
          <p:spPr>
            <a:xfrm>
              <a:off x="6945441" y="5100170"/>
              <a:ext cx="21448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 Box 42">
              <a:extLst>
                <a:ext uri="{FF2B5EF4-FFF2-40B4-BE49-F238E27FC236}">
                  <a16:creationId xmlns:a16="http://schemas.microsoft.com/office/drawing/2014/main" id="{64BB6C31-E91C-911F-6FA7-9B58DDB58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Arial" charset="0"/>
                </a:rPr>
                <a:t>switched</a:t>
              </a:r>
            </a:p>
          </p:txBody>
        </p:sp>
        <p:sp>
          <p:nvSpPr>
            <p:cNvPr id="52" name="Rectangle 37">
              <a:extLst>
                <a:ext uri="{FF2B5EF4-FFF2-40B4-BE49-F238E27FC236}">
                  <a16:creationId xmlns:a16="http://schemas.microsoft.com/office/drawing/2014/main" id="{3FCE4C41-659C-AAC7-A0C8-877093EAD1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970879" y="497609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rPr>
                <a:t> </a:t>
              </a:r>
            </a:p>
          </p:txBody>
        </p:sp>
        <p:grpSp>
          <p:nvGrpSpPr>
            <p:cNvPr id="53" name="Group 49">
              <a:extLst>
                <a:ext uri="{FF2B5EF4-FFF2-40B4-BE49-F238E27FC236}">
                  <a16:creationId xmlns:a16="http://schemas.microsoft.com/office/drawing/2014/main" id="{3D5F57CD-5BE5-9019-CB68-A069E7B13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id="74" name="Picture 50" descr="desktop_computer_stylized_medium">
                <a:extLst>
                  <a:ext uri="{FF2B5EF4-FFF2-40B4-BE49-F238E27FC236}">
                    <a16:creationId xmlns:a16="http://schemas.microsoft.com/office/drawing/2014/main" id="{DADA334B-88B6-13A5-E33E-B09410B976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51">
                <a:extLst>
                  <a:ext uri="{FF2B5EF4-FFF2-40B4-BE49-F238E27FC236}">
                    <a16:creationId xmlns:a16="http://schemas.microsoft.com/office/drawing/2014/main" id="{CA698F3B-08E0-9C1A-9AAB-F9EC18FD651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Rectangle 37">
              <a:extLst>
                <a:ext uri="{FF2B5EF4-FFF2-40B4-BE49-F238E27FC236}">
                  <a16:creationId xmlns:a16="http://schemas.microsoft.com/office/drawing/2014/main" id="{BDCCC4A0-C7CC-CD59-A9B5-B8FE0D38EF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36293" y="496987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5" name="Group 49">
              <a:extLst>
                <a:ext uri="{FF2B5EF4-FFF2-40B4-BE49-F238E27FC236}">
                  <a16:creationId xmlns:a16="http://schemas.microsoft.com/office/drawing/2014/main" id="{17930F82-0F66-9F2D-F88E-3094B29A0E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id="72" name="Picture 50" descr="desktop_computer_stylized_medium">
                <a:extLst>
                  <a:ext uri="{FF2B5EF4-FFF2-40B4-BE49-F238E27FC236}">
                    <a16:creationId xmlns:a16="http://schemas.microsoft.com/office/drawing/2014/main" id="{E52544B6-FC20-D6D1-713B-937FEF5833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" name="Freeform 51">
                <a:extLst>
                  <a:ext uri="{FF2B5EF4-FFF2-40B4-BE49-F238E27FC236}">
                    <a16:creationId xmlns:a16="http://schemas.microsoft.com/office/drawing/2014/main" id="{01FFE033-6A8F-57F7-1E3B-E951A3267C6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6" name="Rectangle 37">
              <a:extLst>
                <a:ext uri="{FF2B5EF4-FFF2-40B4-BE49-F238E27FC236}">
                  <a16:creationId xmlns:a16="http://schemas.microsoft.com/office/drawing/2014/main" id="{727F0C1B-77EF-0B11-1E91-381576AF34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61470" y="566974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rPr>
                <a:t> </a:t>
              </a:r>
            </a:p>
          </p:txBody>
        </p:sp>
        <p:grpSp>
          <p:nvGrpSpPr>
            <p:cNvPr id="57" name="Group 49">
              <a:extLst>
                <a:ext uri="{FF2B5EF4-FFF2-40B4-BE49-F238E27FC236}">
                  <a16:creationId xmlns:a16="http://schemas.microsoft.com/office/drawing/2014/main" id="{CDD6C135-B046-36A0-79E8-FA354E412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id="70" name="Picture 50" descr="desktop_computer_stylized_medium">
                <a:extLst>
                  <a:ext uri="{FF2B5EF4-FFF2-40B4-BE49-F238E27FC236}">
                    <a16:creationId xmlns:a16="http://schemas.microsoft.com/office/drawing/2014/main" id="{16ABC913-1FBE-2AEF-BD46-1357E54786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" name="Freeform 51">
                <a:extLst>
                  <a:ext uri="{FF2B5EF4-FFF2-40B4-BE49-F238E27FC236}">
                    <a16:creationId xmlns:a16="http://schemas.microsoft.com/office/drawing/2014/main" id="{C79C365F-E6C5-9770-D01E-09659792E89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7C1499D5-19E1-C233-D1F2-BD6693F397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7859915" y="438844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rPr>
                <a:t> </a:t>
              </a:r>
            </a:p>
          </p:txBody>
        </p:sp>
        <p:grpSp>
          <p:nvGrpSpPr>
            <p:cNvPr id="59" name="Group 44">
              <a:extLst>
                <a:ext uri="{FF2B5EF4-FFF2-40B4-BE49-F238E27FC236}">
                  <a16:creationId xmlns:a16="http://schemas.microsoft.com/office/drawing/2014/main" id="{6A34BDF0-0A6E-624A-2FCC-418D5EED93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id="68" name="Picture 45" descr="desktop_computer_stylized_medium">
                <a:extLst>
                  <a:ext uri="{FF2B5EF4-FFF2-40B4-BE49-F238E27FC236}">
                    <a16:creationId xmlns:a16="http://schemas.microsoft.com/office/drawing/2014/main" id="{084B2EAD-7C19-3168-A63B-9451F51AC5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" name="Freeform 46">
                <a:extLst>
                  <a:ext uri="{FF2B5EF4-FFF2-40B4-BE49-F238E27FC236}">
                    <a16:creationId xmlns:a16="http://schemas.microsoft.com/office/drawing/2014/main" id="{A5C08CAD-545A-CA12-6E68-FA24298AED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C29361E-0436-E0E4-4B5F-00280E65EE58}"/>
                </a:ext>
              </a:extLst>
            </p:cNvPr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60B53C3-9AEB-E90F-7139-4A32856E2A4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 112">
                <a:extLst>
                  <a:ext uri="{FF2B5EF4-FFF2-40B4-BE49-F238E27FC236}">
                    <a16:creationId xmlns:a16="http://schemas.microsoft.com/office/drawing/2014/main" id="{309A83C5-E51E-0050-B5F3-6C7D7E89D557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84EF00D-DC0D-C38C-3D81-1FE0CA05FABA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4" name="Freeform 114">
                  <a:extLst>
                    <a:ext uri="{FF2B5EF4-FFF2-40B4-BE49-F238E27FC236}">
                      <a16:creationId xmlns:a16="http://schemas.microsoft.com/office/drawing/2014/main" id="{D2F7DD2B-9B7C-BA9D-3E20-DCFA2201301C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Freeform 115">
                  <a:extLst>
                    <a:ext uri="{FF2B5EF4-FFF2-40B4-BE49-F238E27FC236}">
                      <a16:creationId xmlns:a16="http://schemas.microsoft.com/office/drawing/2014/main" id="{0ECC5777-A4F8-A834-1922-26EE5C3E5473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Freeform 116">
                  <a:extLst>
                    <a:ext uri="{FF2B5EF4-FFF2-40B4-BE49-F238E27FC236}">
                      <a16:creationId xmlns:a16="http://schemas.microsoft.com/office/drawing/2014/main" id="{E7992876-EE8A-47BB-E1E3-63DF309BFA89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Freeform 117">
                  <a:extLst>
                    <a:ext uri="{FF2B5EF4-FFF2-40B4-BE49-F238E27FC236}">
                      <a16:creationId xmlns:a16="http://schemas.microsoft.com/office/drawing/2014/main" id="{8466D3B7-95A9-5E21-5307-51293F99C32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1937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F7150-11E1-4E49-FD8F-0D4856E6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A119-4C91-122C-1A2D-8D1555DFC6CF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35A41F-D26C-F9A2-93D8-1F4FB40C2036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 2 Networks</a:t>
            </a: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Switches and Self-learning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323918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FF8A-B7C2-80F8-4314-8DB573FB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">
            <a:extLst>
              <a:ext uri="{FF2B5EF4-FFF2-40B4-BE49-F238E27FC236}">
                <a16:creationId xmlns:a16="http://schemas.microsoft.com/office/drawing/2014/main" id="{AFF0AFDF-DD1D-7573-B099-EBCDDFDF4930}"/>
              </a:ext>
            </a:extLst>
          </p:cNvPr>
          <p:cNvSpPr txBox="1">
            <a:spLocks noChangeArrowheads="1"/>
          </p:cNvSpPr>
          <p:nvPr/>
        </p:nvSpPr>
        <p:spPr>
          <a:xfrm>
            <a:off x="41331" y="1117242"/>
            <a:ext cx="7218868" cy="5560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None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Switch is a </a:t>
            </a:r>
            <a:r>
              <a:rPr lang="en-US" altLang="ja-JP" sz="2000" dirty="0">
                <a:solidFill>
                  <a:srgbClr val="C00000"/>
                </a:solidFill>
              </a:rPr>
              <a:t>link-layer</a:t>
            </a:r>
            <a:r>
              <a:rPr lang="en-US" altLang="ja-JP" sz="2000" dirty="0">
                <a:solidFill>
                  <a:prstClr val="black"/>
                </a:solidFill>
              </a:rPr>
              <a:t> device: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Hosts have dedicated, direct connection to switch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Store, buffer, and forward Ethernet frames</a:t>
            </a:r>
          </a:p>
          <a:p>
            <a:pPr marL="130175" indent="0">
              <a:spcAft>
                <a:spcPts val="600"/>
              </a:spcAft>
              <a:buClrTx/>
              <a:buNone/>
              <a:defRPr/>
            </a:pPr>
            <a:endParaRPr lang="en-US" altLang="ja-JP" sz="2000" dirty="0">
              <a:solidFill>
                <a:prstClr val="black"/>
              </a:solidFill>
            </a:endParaRPr>
          </a:p>
          <a:p>
            <a:pPr marL="130175" indent="0">
              <a:spcAft>
                <a:spcPts val="600"/>
              </a:spcAft>
              <a:buClrTx/>
              <a:buNone/>
              <a:defRPr/>
            </a:pPr>
            <a:r>
              <a:rPr lang="en-US" altLang="ja-JP" sz="2000" b="1" i="1" dirty="0">
                <a:solidFill>
                  <a:srgbClr val="C00000"/>
                </a:solidFill>
              </a:rPr>
              <a:t>Switches vs. Routers</a:t>
            </a:r>
            <a:r>
              <a:rPr lang="en-US" altLang="ja-JP" sz="2000" dirty="0">
                <a:solidFill>
                  <a:prstClr val="black"/>
                </a:solidFill>
              </a:rPr>
              <a:t>: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Router forwarding tables: Must be </a:t>
            </a:r>
            <a:r>
              <a:rPr lang="en-US" altLang="ja-JP" sz="2000" b="1" i="1" dirty="0">
                <a:solidFill>
                  <a:prstClr val="black"/>
                </a:solidFill>
              </a:rPr>
              <a:t>manually</a:t>
            </a:r>
            <a:r>
              <a:rPr lang="en-US" altLang="ja-JP" sz="2000" dirty="0">
                <a:solidFill>
                  <a:prstClr val="black"/>
                </a:solidFill>
              </a:rPr>
              <a:t> configured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Network admin configures IP routing tables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Requires knowledge of network topology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Switch MAC Address Table (aka switch table or forwarding table for switches):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Plug-and-play: No configuration needed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altLang="ja-JP" sz="2000" dirty="0">
                <a:solidFill>
                  <a:prstClr val="black"/>
                </a:solidFill>
              </a:rPr>
              <a:t>Learns MAC addresses by observing traffic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altLang="ja-JP" sz="2000" b="1" i="1" dirty="0">
                <a:solidFill>
                  <a:prstClr val="black"/>
                </a:solidFill>
              </a:rPr>
              <a:t>Automatically</a:t>
            </a:r>
            <a:r>
              <a:rPr lang="en-US" altLang="ja-JP" sz="2000" dirty="0">
                <a:solidFill>
                  <a:prstClr val="black"/>
                </a:solidFill>
              </a:rPr>
              <a:t> builds forwarding table </a:t>
            </a:r>
            <a:r>
              <a:rPr lang="en-US" altLang="ja-JP" sz="20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en-US" altLang="ja-JP" sz="2000" dirty="0">
                <a:solidFill>
                  <a:prstClr val="black"/>
                </a:solidFill>
              </a:rPr>
              <a:t> </a:t>
            </a:r>
            <a:r>
              <a:rPr lang="en-US" altLang="ja-JP" sz="2000" b="1" i="1" dirty="0">
                <a:solidFill>
                  <a:srgbClr val="C00000"/>
                </a:solidFill>
              </a:rPr>
              <a:t>Self-learning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A4F5751B-44E5-5F5A-6973-F7E3B0264599}"/>
              </a:ext>
            </a:extLst>
          </p:cNvPr>
          <p:cNvSpPr txBox="1">
            <a:spLocks/>
          </p:cNvSpPr>
          <p:nvPr/>
        </p:nvSpPr>
        <p:spPr>
          <a:xfrm>
            <a:off x="506185" y="179848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Ethernet Switch</a:t>
            </a:r>
            <a:endParaRPr lang="en-US" dirty="0">
              <a:latin typeface="+mn-lt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C65EB3C-28A5-3599-3DA7-81F81B0C14B5}"/>
              </a:ext>
            </a:extLst>
          </p:cNvPr>
          <p:cNvSpPr txBox="1">
            <a:spLocks noChangeArrowheads="1"/>
          </p:cNvSpPr>
          <p:nvPr/>
        </p:nvSpPr>
        <p:spPr>
          <a:xfrm>
            <a:off x="5438788" y="842387"/>
            <a:ext cx="6753212" cy="925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buClr>
                <a:srgbClr val="0000A3"/>
              </a:buClr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219C2E8-A468-7AB9-14C3-0BDD2DE986BC}"/>
              </a:ext>
            </a:extLst>
          </p:cNvPr>
          <p:cNvSpPr txBox="1"/>
          <p:nvPr/>
        </p:nvSpPr>
        <p:spPr>
          <a:xfrm>
            <a:off x="7363327" y="4661377"/>
            <a:ext cx="4663669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Dedicated wires for each connection </a:t>
            </a:r>
            <a:r>
              <a:rPr lang="en-US" altLang="zh-CN" dirty="0">
                <a:sym typeface="Wingdings" panose="05000000000000000000" pitchFamily="2" charset="2"/>
              </a:rPr>
              <a:t> </a:t>
            </a:r>
            <a:r>
              <a:rPr lang="en-US" altLang="zh-CN" dirty="0"/>
              <a:t>Each link is point-to-point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No shared medium = impossible to collide!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Each port has its own buffer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S</a:t>
            </a:r>
            <a:r>
              <a:rPr lang="en-US" dirty="0"/>
              <a:t>witching: A-to-A’ and B-to-B’ can transmit simultaneously, </a:t>
            </a:r>
            <a:r>
              <a:rPr lang="en-US" dirty="0">
                <a:solidFill>
                  <a:srgbClr val="C00000"/>
                </a:solidFill>
              </a:rPr>
              <a:t>without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collisions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3C60B34A-EEEF-DD32-A401-0E90701F6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920" y="631572"/>
            <a:ext cx="4072481" cy="40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5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969E-ADD8-B7DB-B047-A4CFA582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8E4A2B05-059C-F89E-00F9-5C2E8B2D56DE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Self-learning and Forwarding</a:t>
            </a:r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CC198-694C-6714-3AD2-8ADFBF16AD04}"/>
              </a:ext>
            </a:extLst>
          </p:cNvPr>
          <p:cNvSpPr txBox="1"/>
          <p:nvPr/>
        </p:nvSpPr>
        <p:spPr>
          <a:xfrm>
            <a:off x="1197626" y="1003279"/>
            <a:ext cx="979674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i="1" u="sng" dirty="0">
                <a:solidFill>
                  <a:srgbClr val="C00000"/>
                </a:solidFill>
              </a:rPr>
              <a:t>Q: </a:t>
            </a:r>
            <a:r>
              <a:rPr lang="en-US" sz="2000" dirty="0"/>
              <a:t>How to </a:t>
            </a:r>
            <a:r>
              <a:rPr lang="en-US" sz="2000" b="1" i="1" dirty="0">
                <a:solidFill>
                  <a:srgbClr val="C00000"/>
                </a:solidFill>
              </a:rPr>
              <a:t>“learn” </a:t>
            </a:r>
            <a:r>
              <a:rPr lang="en-US" sz="2000" dirty="0"/>
              <a:t>and build a forwarding table?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i="1" dirty="0">
                <a:solidFill>
                  <a:srgbClr val="C00000"/>
                </a:solidFill>
              </a:rPr>
              <a:t>Key idea</a:t>
            </a:r>
            <a:r>
              <a:rPr lang="en-US" sz="2000" dirty="0"/>
              <a:t>: When you receive a data packet, you get a clue about where the </a:t>
            </a:r>
            <a:r>
              <a:rPr lang="en-US" sz="2000" i="1" dirty="0">
                <a:solidFill>
                  <a:srgbClr val="C00000"/>
                </a:solidFill>
              </a:rPr>
              <a:t>sender</a:t>
            </a:r>
            <a:r>
              <a:rPr lang="en-US" sz="2000" dirty="0"/>
              <a:t> is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a packet from host A comes from the west...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...then host A must be to my west!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Use this idea to add a table entry for the sender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 more packets get sent, more table entries get added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Note: The packet only helps you learn about the sender, not the receiver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17F890-A113-4BCC-5BBE-EF8B00940A46}"/>
              </a:ext>
            </a:extLst>
          </p:cNvPr>
          <p:cNvGrpSpPr/>
          <p:nvPr/>
        </p:nvGrpSpPr>
        <p:grpSpPr>
          <a:xfrm>
            <a:off x="1833581" y="4429133"/>
            <a:ext cx="8524837" cy="2255295"/>
            <a:chOff x="293475" y="2856050"/>
            <a:chExt cx="6532525" cy="2125295"/>
          </a:xfrm>
        </p:grpSpPr>
        <p:graphicFrame>
          <p:nvGraphicFramePr>
            <p:cNvPr id="2" name="Google Shape;918;p60">
              <a:extLst>
                <a:ext uri="{FF2B5EF4-FFF2-40B4-BE49-F238E27FC236}">
                  <a16:creationId xmlns:a16="http://schemas.microsoft.com/office/drawing/2014/main" id="{C347DE90-D36A-329C-857B-9FBAF45AFC2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91179207"/>
                </p:ext>
              </p:extLst>
            </p:nvPr>
          </p:nvGraphicFramePr>
          <p:xfrm>
            <a:off x="4244682" y="4361000"/>
            <a:ext cx="919763" cy="620345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429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707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To: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Next-hop: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graphicFrame>
          <p:nvGraphicFramePr>
            <p:cNvPr id="7" name="Google Shape;919;p60">
              <a:extLst>
                <a:ext uri="{FF2B5EF4-FFF2-40B4-BE49-F238E27FC236}">
                  <a16:creationId xmlns:a16="http://schemas.microsoft.com/office/drawing/2014/main" id="{D448BDE5-35EF-5FCE-F663-985445928EF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35496903"/>
                </p:ext>
              </p:extLst>
            </p:nvPr>
          </p:nvGraphicFramePr>
          <p:xfrm>
            <a:off x="4244682" y="4361000"/>
            <a:ext cx="919763" cy="620345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429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707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To: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Next-hop: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A</a:t>
                        </a:r>
                        <a:endParaRPr sz="1200"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S1</a:t>
                        </a:r>
                        <a:endParaRPr sz="1200"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8" name="Google Shape;922;p60">
              <a:extLst>
                <a:ext uri="{FF2B5EF4-FFF2-40B4-BE49-F238E27FC236}">
                  <a16:creationId xmlns:a16="http://schemas.microsoft.com/office/drawing/2014/main" id="{6FDF3678-A5F5-A757-6D06-F96CE8EC53E1}"/>
                </a:ext>
              </a:extLst>
            </p:cNvPr>
            <p:cNvSpPr/>
            <p:nvPr/>
          </p:nvSpPr>
          <p:spPr>
            <a:xfrm>
              <a:off x="4692400" y="36385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" name="Google Shape;923;p60">
              <a:extLst>
                <a:ext uri="{FF2B5EF4-FFF2-40B4-BE49-F238E27FC236}">
                  <a16:creationId xmlns:a16="http://schemas.microsoft.com/office/drawing/2014/main" id="{D9AA6C7C-8D14-6029-F1EE-285CDF0B059D}"/>
                </a:ext>
              </a:extLst>
            </p:cNvPr>
            <p:cNvCxnSpPr>
              <a:stCxn id="14" idx="3"/>
              <a:endCxn id="8" idx="1"/>
            </p:cNvCxnSpPr>
            <p:nvPr/>
          </p:nvCxnSpPr>
          <p:spPr>
            <a:xfrm>
              <a:off x="3320800" y="3790900"/>
              <a:ext cx="137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925;p60">
              <a:extLst>
                <a:ext uri="{FF2B5EF4-FFF2-40B4-BE49-F238E27FC236}">
                  <a16:creationId xmlns:a16="http://schemas.microsoft.com/office/drawing/2014/main" id="{746F723D-F884-72D1-645F-3022DDD68467}"/>
                </a:ext>
              </a:extLst>
            </p:cNvPr>
            <p:cNvCxnSpPr>
              <a:stCxn id="8" idx="3"/>
              <a:endCxn id="15" idx="1"/>
            </p:cNvCxnSpPr>
            <p:nvPr/>
          </p:nvCxnSpPr>
          <p:spPr>
            <a:xfrm rot="10800000" flipH="1">
              <a:off x="4997200" y="3409900"/>
              <a:ext cx="1524000" cy="381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927;p60">
              <a:extLst>
                <a:ext uri="{FF2B5EF4-FFF2-40B4-BE49-F238E27FC236}">
                  <a16:creationId xmlns:a16="http://schemas.microsoft.com/office/drawing/2014/main" id="{D34DF385-16CD-6EDF-CB6B-3ED89758C0BF}"/>
                </a:ext>
              </a:extLst>
            </p:cNvPr>
            <p:cNvCxnSpPr>
              <a:stCxn id="8" idx="3"/>
              <a:endCxn id="16" idx="1"/>
            </p:cNvCxnSpPr>
            <p:nvPr/>
          </p:nvCxnSpPr>
          <p:spPr>
            <a:xfrm>
              <a:off x="4997200" y="3790900"/>
              <a:ext cx="1524000" cy="381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929;p60">
              <a:extLst>
                <a:ext uri="{FF2B5EF4-FFF2-40B4-BE49-F238E27FC236}">
                  <a16:creationId xmlns:a16="http://schemas.microsoft.com/office/drawing/2014/main" id="{9F2BC582-384B-86D2-EFD2-202F1A849C99}"/>
                </a:ext>
              </a:extLst>
            </p:cNvPr>
            <p:cNvCxnSpPr/>
            <p:nvPr/>
          </p:nvCxnSpPr>
          <p:spPr>
            <a:xfrm>
              <a:off x="3397000" y="3714700"/>
              <a:ext cx="305400" cy="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924;p60">
              <a:extLst>
                <a:ext uri="{FF2B5EF4-FFF2-40B4-BE49-F238E27FC236}">
                  <a16:creationId xmlns:a16="http://schemas.microsoft.com/office/drawing/2014/main" id="{9755D054-AE23-B5F8-7DCC-1A57DBBCB41C}"/>
                </a:ext>
              </a:extLst>
            </p:cNvPr>
            <p:cNvSpPr/>
            <p:nvPr/>
          </p:nvSpPr>
          <p:spPr>
            <a:xfrm>
              <a:off x="3016000" y="36385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926;p60">
              <a:extLst>
                <a:ext uri="{FF2B5EF4-FFF2-40B4-BE49-F238E27FC236}">
                  <a16:creationId xmlns:a16="http://schemas.microsoft.com/office/drawing/2014/main" id="{32CCD8FB-D604-B782-CBB3-C09ECCE4D5F9}"/>
                </a:ext>
              </a:extLst>
            </p:cNvPr>
            <p:cNvSpPr/>
            <p:nvPr/>
          </p:nvSpPr>
          <p:spPr>
            <a:xfrm>
              <a:off x="6521200" y="32575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928;p60">
              <a:extLst>
                <a:ext uri="{FF2B5EF4-FFF2-40B4-BE49-F238E27FC236}">
                  <a16:creationId xmlns:a16="http://schemas.microsoft.com/office/drawing/2014/main" id="{177A272E-8A51-07D4-8565-34A99A98C324}"/>
                </a:ext>
              </a:extLst>
            </p:cNvPr>
            <p:cNvSpPr/>
            <p:nvPr/>
          </p:nvSpPr>
          <p:spPr>
            <a:xfrm>
              <a:off x="6521200" y="40195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S4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930;p60">
              <a:extLst>
                <a:ext uri="{FF2B5EF4-FFF2-40B4-BE49-F238E27FC236}">
                  <a16:creationId xmlns:a16="http://schemas.microsoft.com/office/drawing/2014/main" id="{4675940B-A697-C09F-ABC0-99C46F48EED7}"/>
                </a:ext>
              </a:extLst>
            </p:cNvPr>
            <p:cNvSpPr/>
            <p:nvPr/>
          </p:nvSpPr>
          <p:spPr>
            <a:xfrm>
              <a:off x="2634100" y="4011102"/>
              <a:ext cx="1068600" cy="2370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From: A, To: B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931;p60">
              <a:extLst>
                <a:ext uri="{FF2B5EF4-FFF2-40B4-BE49-F238E27FC236}">
                  <a16:creationId xmlns:a16="http://schemas.microsoft.com/office/drawing/2014/main" id="{6534725F-911C-6871-3B64-352D3E67B325}"/>
                </a:ext>
              </a:extLst>
            </p:cNvPr>
            <p:cNvSpPr/>
            <p:nvPr/>
          </p:nvSpPr>
          <p:spPr>
            <a:xfrm>
              <a:off x="4310500" y="4011102"/>
              <a:ext cx="1068600" cy="2370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From: A, To: B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932;p60">
              <a:extLst>
                <a:ext uri="{FF2B5EF4-FFF2-40B4-BE49-F238E27FC236}">
                  <a16:creationId xmlns:a16="http://schemas.microsoft.com/office/drawing/2014/main" id="{93C88C74-60C8-CE8A-F4FB-C30660BABD2E}"/>
                </a:ext>
              </a:extLst>
            </p:cNvPr>
            <p:cNvSpPr/>
            <p:nvPr/>
          </p:nvSpPr>
          <p:spPr>
            <a:xfrm>
              <a:off x="293475" y="2856050"/>
              <a:ext cx="4018500" cy="593400"/>
            </a:xfrm>
            <a:prstGeom prst="wedgeRoundRectCallout">
              <a:avLst>
                <a:gd name="adj1" fmla="val 62910"/>
                <a:gd name="adj2" fmla="val 59531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packet from A came from S1 (to my west)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Therefore, A must be toward S1 (to my west)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050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E81F-18FE-C815-E00D-7E04915C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2DE28B0-7AAD-363C-FBAA-960DEE424A4B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Self-learning and Forwarding</a:t>
            </a:r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77E92-DD99-6F6C-2029-BC0E5E744079}"/>
              </a:ext>
            </a:extLst>
          </p:cNvPr>
          <p:cNvSpPr txBox="1"/>
          <p:nvPr/>
        </p:nvSpPr>
        <p:spPr>
          <a:xfrm>
            <a:off x="1197626" y="1003279"/>
            <a:ext cx="979674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i="1" u="sng" dirty="0">
                <a:solidFill>
                  <a:srgbClr val="C00000"/>
                </a:solidFill>
              </a:rPr>
              <a:t>Q:</a:t>
            </a:r>
            <a:r>
              <a:rPr lang="en-US" sz="2000" dirty="0"/>
              <a:t> How to forward a frame?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i="1" dirty="0">
                <a:solidFill>
                  <a:srgbClr val="C00000"/>
                </a:solidFill>
              </a:rPr>
              <a:t>Key idea</a:t>
            </a:r>
            <a:r>
              <a:rPr lang="en-US" sz="2000" dirty="0"/>
              <a:t>: Use the destination to decide the next-hop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 destination exists in the table: Forward to corresponding next-hop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the destination is not in the table: </a:t>
            </a:r>
            <a:r>
              <a:rPr lang="en-US" sz="2000" i="1" dirty="0">
                <a:solidFill>
                  <a:srgbClr val="C00000"/>
                </a:solidFill>
              </a:rPr>
              <a:t>Flood</a:t>
            </a:r>
            <a:r>
              <a:rPr lang="en-US" sz="2000" dirty="0"/>
              <a:t> of all ports (except incoming port)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EAFFF2-5666-F6F9-F73B-DDC4A223C44A}"/>
              </a:ext>
            </a:extLst>
          </p:cNvPr>
          <p:cNvGrpSpPr/>
          <p:nvPr/>
        </p:nvGrpSpPr>
        <p:grpSpPr>
          <a:xfrm>
            <a:off x="628672" y="3345732"/>
            <a:ext cx="10934656" cy="3144446"/>
            <a:chOff x="271900" y="2190700"/>
            <a:chExt cx="8382900" cy="2817600"/>
          </a:xfrm>
        </p:grpSpPr>
        <p:graphicFrame>
          <p:nvGraphicFramePr>
            <p:cNvPr id="5" name="Google Shape;937;p61">
              <a:extLst>
                <a:ext uri="{FF2B5EF4-FFF2-40B4-BE49-F238E27FC236}">
                  <a16:creationId xmlns:a16="http://schemas.microsoft.com/office/drawing/2014/main" id="{24069037-1821-B13F-5EB5-965F974C87A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2082759"/>
                </p:ext>
              </p:extLst>
            </p:nvPr>
          </p:nvGraphicFramePr>
          <p:xfrm>
            <a:off x="1882482" y="3370400"/>
            <a:ext cx="920174" cy="589865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429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707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S2's Table</a:t>
                        </a:r>
                        <a:endParaRPr sz="1200"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To: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Next-hop: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200"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6" name="Google Shape;940;p61">
              <a:extLst>
                <a:ext uri="{FF2B5EF4-FFF2-40B4-BE49-F238E27FC236}">
                  <a16:creationId xmlns:a16="http://schemas.microsoft.com/office/drawing/2014/main" id="{C76FB737-3CCC-0FC6-0AF7-AAAFEC15222A}"/>
                </a:ext>
              </a:extLst>
            </p:cNvPr>
            <p:cNvSpPr/>
            <p:nvPr/>
          </p:nvSpPr>
          <p:spPr>
            <a:xfrm>
              <a:off x="2330200" y="26479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" name="Google Shape;941;p61">
              <a:extLst>
                <a:ext uri="{FF2B5EF4-FFF2-40B4-BE49-F238E27FC236}">
                  <a16:creationId xmlns:a16="http://schemas.microsoft.com/office/drawing/2014/main" id="{F2308D54-F1A4-E556-241F-B0370EEA2155}"/>
                </a:ext>
              </a:extLst>
            </p:cNvPr>
            <p:cNvCxnSpPr>
              <a:stCxn id="24" idx="3"/>
              <a:endCxn id="6" idx="1"/>
            </p:cNvCxnSpPr>
            <p:nvPr/>
          </p:nvCxnSpPr>
          <p:spPr>
            <a:xfrm>
              <a:off x="958600" y="2800300"/>
              <a:ext cx="137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943;p61">
              <a:extLst>
                <a:ext uri="{FF2B5EF4-FFF2-40B4-BE49-F238E27FC236}">
                  <a16:creationId xmlns:a16="http://schemas.microsoft.com/office/drawing/2014/main" id="{025E9BE0-339B-35BD-E296-C35779D67975}"/>
                </a:ext>
              </a:extLst>
            </p:cNvPr>
            <p:cNvCxnSpPr>
              <a:stCxn id="6" idx="3"/>
              <a:endCxn id="25" idx="1"/>
            </p:cNvCxnSpPr>
            <p:nvPr/>
          </p:nvCxnSpPr>
          <p:spPr>
            <a:xfrm rot="10800000" flipH="1">
              <a:off x="2635000" y="2343100"/>
              <a:ext cx="990600" cy="457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945;p61">
              <a:extLst>
                <a:ext uri="{FF2B5EF4-FFF2-40B4-BE49-F238E27FC236}">
                  <a16:creationId xmlns:a16="http://schemas.microsoft.com/office/drawing/2014/main" id="{0AD8855E-8A2E-1305-B16E-0E502B1C4648}"/>
                </a:ext>
              </a:extLst>
            </p:cNvPr>
            <p:cNvCxnSpPr>
              <a:stCxn id="6" idx="3"/>
              <a:endCxn id="26" idx="1"/>
            </p:cNvCxnSpPr>
            <p:nvPr/>
          </p:nvCxnSpPr>
          <p:spPr>
            <a:xfrm>
              <a:off x="2635000" y="2800300"/>
              <a:ext cx="990600" cy="457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947;p61">
              <a:extLst>
                <a:ext uri="{FF2B5EF4-FFF2-40B4-BE49-F238E27FC236}">
                  <a16:creationId xmlns:a16="http://schemas.microsoft.com/office/drawing/2014/main" id="{C3D6629E-0CDF-6F14-283A-610A1CD48B84}"/>
                </a:ext>
              </a:extLst>
            </p:cNvPr>
            <p:cNvCxnSpPr/>
            <p:nvPr/>
          </p:nvCxnSpPr>
          <p:spPr>
            <a:xfrm>
              <a:off x="1034800" y="2724100"/>
              <a:ext cx="305400" cy="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" name="Google Shape;942;p61">
              <a:extLst>
                <a:ext uri="{FF2B5EF4-FFF2-40B4-BE49-F238E27FC236}">
                  <a16:creationId xmlns:a16="http://schemas.microsoft.com/office/drawing/2014/main" id="{8FD510BD-0B5C-0714-8E8C-BDF3A7F7E477}"/>
                </a:ext>
              </a:extLst>
            </p:cNvPr>
            <p:cNvSpPr/>
            <p:nvPr/>
          </p:nvSpPr>
          <p:spPr>
            <a:xfrm>
              <a:off x="653800" y="26479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944;p61">
              <a:extLst>
                <a:ext uri="{FF2B5EF4-FFF2-40B4-BE49-F238E27FC236}">
                  <a16:creationId xmlns:a16="http://schemas.microsoft.com/office/drawing/2014/main" id="{30F4094B-470E-64D2-D724-0F85A9AEBC8F}"/>
                </a:ext>
              </a:extLst>
            </p:cNvPr>
            <p:cNvSpPr/>
            <p:nvPr/>
          </p:nvSpPr>
          <p:spPr>
            <a:xfrm>
              <a:off x="3625600" y="21907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946;p61">
              <a:extLst>
                <a:ext uri="{FF2B5EF4-FFF2-40B4-BE49-F238E27FC236}">
                  <a16:creationId xmlns:a16="http://schemas.microsoft.com/office/drawing/2014/main" id="{15353561-B5E4-1BE8-6B29-36BC3203DAAA}"/>
                </a:ext>
              </a:extLst>
            </p:cNvPr>
            <p:cNvSpPr/>
            <p:nvPr/>
          </p:nvSpPr>
          <p:spPr>
            <a:xfrm>
              <a:off x="3625600" y="31051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S5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948;p61">
              <a:extLst>
                <a:ext uri="{FF2B5EF4-FFF2-40B4-BE49-F238E27FC236}">
                  <a16:creationId xmlns:a16="http://schemas.microsoft.com/office/drawing/2014/main" id="{BCAFB4CC-7C53-C13C-91A5-BE6B141E9AF5}"/>
                </a:ext>
              </a:extLst>
            </p:cNvPr>
            <p:cNvSpPr/>
            <p:nvPr/>
          </p:nvSpPr>
          <p:spPr>
            <a:xfrm>
              <a:off x="1948300" y="3020502"/>
              <a:ext cx="1068600" cy="2370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From: A, To: B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949;p61">
              <a:extLst>
                <a:ext uri="{FF2B5EF4-FFF2-40B4-BE49-F238E27FC236}">
                  <a16:creationId xmlns:a16="http://schemas.microsoft.com/office/drawing/2014/main" id="{1AE5F51F-5173-2712-EA64-BC0EC182D1BC}"/>
                </a:ext>
              </a:extLst>
            </p:cNvPr>
            <p:cNvSpPr/>
            <p:nvPr/>
          </p:nvSpPr>
          <p:spPr>
            <a:xfrm>
              <a:off x="3625600" y="26479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S4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9" name="Google Shape;950;p61">
              <a:extLst>
                <a:ext uri="{FF2B5EF4-FFF2-40B4-BE49-F238E27FC236}">
                  <a16:creationId xmlns:a16="http://schemas.microsoft.com/office/drawing/2014/main" id="{B18949D3-32ED-8556-8C14-BA2D40A63383}"/>
                </a:ext>
              </a:extLst>
            </p:cNvPr>
            <p:cNvCxnSpPr>
              <a:stCxn id="6" idx="3"/>
              <a:endCxn id="28" idx="1"/>
            </p:cNvCxnSpPr>
            <p:nvPr/>
          </p:nvCxnSpPr>
          <p:spPr>
            <a:xfrm>
              <a:off x="2635000" y="2800300"/>
              <a:ext cx="99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" name="Google Shape;951;p61">
              <a:extLst>
                <a:ext uri="{FF2B5EF4-FFF2-40B4-BE49-F238E27FC236}">
                  <a16:creationId xmlns:a16="http://schemas.microsoft.com/office/drawing/2014/main" id="{ED701EFC-43BA-0B35-10F1-8C4EEADBACC3}"/>
                </a:ext>
              </a:extLst>
            </p:cNvPr>
            <p:cNvSpPr/>
            <p:nvPr/>
          </p:nvSpPr>
          <p:spPr>
            <a:xfrm>
              <a:off x="271900" y="3020502"/>
              <a:ext cx="1068600" cy="2370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From: A, To: B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" name="Google Shape;952;p61">
              <a:extLst>
                <a:ext uri="{FF2B5EF4-FFF2-40B4-BE49-F238E27FC236}">
                  <a16:creationId xmlns:a16="http://schemas.microsoft.com/office/drawing/2014/main" id="{D8390369-9CF2-1D99-5502-277B9D58ACC4}"/>
                </a:ext>
              </a:extLst>
            </p:cNvPr>
            <p:cNvCxnSpPr/>
            <p:nvPr/>
          </p:nvCxnSpPr>
          <p:spPr>
            <a:xfrm rot="10800000" flipH="1">
              <a:off x="2939800" y="2438250"/>
              <a:ext cx="289200" cy="13260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Google Shape;953;p61">
              <a:extLst>
                <a:ext uri="{FF2B5EF4-FFF2-40B4-BE49-F238E27FC236}">
                  <a16:creationId xmlns:a16="http://schemas.microsoft.com/office/drawing/2014/main" id="{B6BFFC32-AFDF-DDAE-1054-BD4AFE3355A4}"/>
                </a:ext>
              </a:extLst>
            </p:cNvPr>
            <p:cNvCxnSpPr/>
            <p:nvPr/>
          </p:nvCxnSpPr>
          <p:spPr>
            <a:xfrm>
              <a:off x="2939800" y="2723250"/>
              <a:ext cx="305400" cy="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Google Shape;954;p61">
              <a:extLst>
                <a:ext uri="{FF2B5EF4-FFF2-40B4-BE49-F238E27FC236}">
                  <a16:creationId xmlns:a16="http://schemas.microsoft.com/office/drawing/2014/main" id="{0E6100C6-C566-263D-3AEB-857884C14E32}"/>
                </a:ext>
              </a:extLst>
            </p:cNvPr>
            <p:cNvCxnSpPr/>
            <p:nvPr/>
          </p:nvCxnSpPr>
          <p:spPr>
            <a:xfrm>
              <a:off x="2939800" y="2876500"/>
              <a:ext cx="289200" cy="13260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aphicFrame>
          <p:nvGraphicFramePr>
            <p:cNvPr id="34" name="Google Shape;955;p61">
              <a:extLst>
                <a:ext uri="{FF2B5EF4-FFF2-40B4-BE49-F238E27FC236}">
                  <a16:creationId xmlns:a16="http://schemas.microsoft.com/office/drawing/2014/main" id="{3DC3620E-9FB8-D3D3-C4FA-FC3A75E6D0D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60086339"/>
                </p:ext>
              </p:extLst>
            </p:nvPr>
          </p:nvGraphicFramePr>
          <p:xfrm>
            <a:off x="6606882" y="3370400"/>
            <a:ext cx="920174" cy="589865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429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707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S2's Table</a:t>
                        </a:r>
                        <a:endParaRPr sz="1200"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To: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Next-hop: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B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S3</a:t>
                        </a:r>
                        <a:endParaRPr sz="1200"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35" name="Google Shape;956;p61">
              <a:extLst>
                <a:ext uri="{FF2B5EF4-FFF2-40B4-BE49-F238E27FC236}">
                  <a16:creationId xmlns:a16="http://schemas.microsoft.com/office/drawing/2014/main" id="{9958ED85-9631-F33C-A92E-3C0EA26874E7}"/>
                </a:ext>
              </a:extLst>
            </p:cNvPr>
            <p:cNvSpPr/>
            <p:nvPr/>
          </p:nvSpPr>
          <p:spPr>
            <a:xfrm>
              <a:off x="7054600" y="26479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6" name="Google Shape;957;p61">
              <a:extLst>
                <a:ext uri="{FF2B5EF4-FFF2-40B4-BE49-F238E27FC236}">
                  <a16:creationId xmlns:a16="http://schemas.microsoft.com/office/drawing/2014/main" id="{D4905FDB-C991-5804-D1F2-00E673C647C7}"/>
                </a:ext>
              </a:extLst>
            </p:cNvPr>
            <p:cNvCxnSpPr>
              <a:stCxn id="40" idx="3"/>
              <a:endCxn id="35" idx="1"/>
            </p:cNvCxnSpPr>
            <p:nvPr/>
          </p:nvCxnSpPr>
          <p:spPr>
            <a:xfrm>
              <a:off x="5683000" y="2800300"/>
              <a:ext cx="137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959;p61">
              <a:extLst>
                <a:ext uri="{FF2B5EF4-FFF2-40B4-BE49-F238E27FC236}">
                  <a16:creationId xmlns:a16="http://schemas.microsoft.com/office/drawing/2014/main" id="{275C9F67-B95D-6975-0A5A-F40E47BF6F00}"/>
                </a:ext>
              </a:extLst>
            </p:cNvPr>
            <p:cNvCxnSpPr>
              <a:stCxn id="35" idx="3"/>
              <a:endCxn id="41" idx="1"/>
            </p:cNvCxnSpPr>
            <p:nvPr/>
          </p:nvCxnSpPr>
          <p:spPr>
            <a:xfrm rot="10800000" flipH="1">
              <a:off x="7359400" y="2343100"/>
              <a:ext cx="990600" cy="457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961;p61">
              <a:extLst>
                <a:ext uri="{FF2B5EF4-FFF2-40B4-BE49-F238E27FC236}">
                  <a16:creationId xmlns:a16="http://schemas.microsoft.com/office/drawing/2014/main" id="{BCD7BA41-C4EF-1484-0F8F-1894AEB4E06A}"/>
                </a:ext>
              </a:extLst>
            </p:cNvPr>
            <p:cNvCxnSpPr>
              <a:stCxn id="35" idx="3"/>
              <a:endCxn id="42" idx="1"/>
            </p:cNvCxnSpPr>
            <p:nvPr/>
          </p:nvCxnSpPr>
          <p:spPr>
            <a:xfrm>
              <a:off x="7359400" y="2800300"/>
              <a:ext cx="990600" cy="457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963;p61">
              <a:extLst>
                <a:ext uri="{FF2B5EF4-FFF2-40B4-BE49-F238E27FC236}">
                  <a16:creationId xmlns:a16="http://schemas.microsoft.com/office/drawing/2014/main" id="{B35E975E-A8F2-B126-684C-E8A9B14B1BC7}"/>
                </a:ext>
              </a:extLst>
            </p:cNvPr>
            <p:cNvCxnSpPr/>
            <p:nvPr/>
          </p:nvCxnSpPr>
          <p:spPr>
            <a:xfrm>
              <a:off x="5759200" y="2724100"/>
              <a:ext cx="305400" cy="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" name="Google Shape;958;p61">
              <a:extLst>
                <a:ext uri="{FF2B5EF4-FFF2-40B4-BE49-F238E27FC236}">
                  <a16:creationId xmlns:a16="http://schemas.microsoft.com/office/drawing/2014/main" id="{032AF120-07D2-C1A4-A3A4-EEED46845EA0}"/>
                </a:ext>
              </a:extLst>
            </p:cNvPr>
            <p:cNvSpPr/>
            <p:nvPr/>
          </p:nvSpPr>
          <p:spPr>
            <a:xfrm>
              <a:off x="5378200" y="26479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" name="Google Shape;960;p61">
              <a:extLst>
                <a:ext uri="{FF2B5EF4-FFF2-40B4-BE49-F238E27FC236}">
                  <a16:creationId xmlns:a16="http://schemas.microsoft.com/office/drawing/2014/main" id="{326B85FD-E471-7561-5772-21A6DCE58E84}"/>
                </a:ext>
              </a:extLst>
            </p:cNvPr>
            <p:cNvSpPr/>
            <p:nvPr/>
          </p:nvSpPr>
          <p:spPr>
            <a:xfrm>
              <a:off x="8350000" y="21907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S3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" name="Google Shape;962;p61">
              <a:extLst>
                <a:ext uri="{FF2B5EF4-FFF2-40B4-BE49-F238E27FC236}">
                  <a16:creationId xmlns:a16="http://schemas.microsoft.com/office/drawing/2014/main" id="{E8462EDE-EFC5-26DD-4005-CE5FFE2C1908}"/>
                </a:ext>
              </a:extLst>
            </p:cNvPr>
            <p:cNvSpPr/>
            <p:nvPr/>
          </p:nvSpPr>
          <p:spPr>
            <a:xfrm>
              <a:off x="8350000" y="31051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S5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" name="Google Shape;964;p61">
              <a:extLst>
                <a:ext uri="{FF2B5EF4-FFF2-40B4-BE49-F238E27FC236}">
                  <a16:creationId xmlns:a16="http://schemas.microsoft.com/office/drawing/2014/main" id="{9165BBD1-28E9-F517-64D6-1928F6C4A2A9}"/>
                </a:ext>
              </a:extLst>
            </p:cNvPr>
            <p:cNvSpPr/>
            <p:nvPr/>
          </p:nvSpPr>
          <p:spPr>
            <a:xfrm>
              <a:off x="6672700" y="3020502"/>
              <a:ext cx="1068600" cy="2370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From: A, To: B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" name="Google Shape;965;p61">
              <a:extLst>
                <a:ext uri="{FF2B5EF4-FFF2-40B4-BE49-F238E27FC236}">
                  <a16:creationId xmlns:a16="http://schemas.microsoft.com/office/drawing/2014/main" id="{F5C9A5ED-9886-B1A2-AA5E-4AF1FEC38C02}"/>
                </a:ext>
              </a:extLst>
            </p:cNvPr>
            <p:cNvSpPr/>
            <p:nvPr/>
          </p:nvSpPr>
          <p:spPr>
            <a:xfrm>
              <a:off x="8350000" y="2647900"/>
              <a:ext cx="304800" cy="3048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S4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" name="Google Shape;966;p61">
              <a:extLst>
                <a:ext uri="{FF2B5EF4-FFF2-40B4-BE49-F238E27FC236}">
                  <a16:creationId xmlns:a16="http://schemas.microsoft.com/office/drawing/2014/main" id="{A32456C7-E44C-CA02-251F-53338843F822}"/>
                </a:ext>
              </a:extLst>
            </p:cNvPr>
            <p:cNvCxnSpPr>
              <a:stCxn id="35" idx="3"/>
              <a:endCxn id="44" idx="1"/>
            </p:cNvCxnSpPr>
            <p:nvPr/>
          </p:nvCxnSpPr>
          <p:spPr>
            <a:xfrm>
              <a:off x="7359400" y="2800300"/>
              <a:ext cx="990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967;p61">
              <a:extLst>
                <a:ext uri="{FF2B5EF4-FFF2-40B4-BE49-F238E27FC236}">
                  <a16:creationId xmlns:a16="http://schemas.microsoft.com/office/drawing/2014/main" id="{D1F4BA1D-7691-FB8B-1368-543C1C40A769}"/>
                </a:ext>
              </a:extLst>
            </p:cNvPr>
            <p:cNvSpPr/>
            <p:nvPr/>
          </p:nvSpPr>
          <p:spPr>
            <a:xfrm>
              <a:off x="4996300" y="3020502"/>
              <a:ext cx="1068600" cy="2370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From: A, To: B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7" name="Google Shape;968;p61">
              <a:extLst>
                <a:ext uri="{FF2B5EF4-FFF2-40B4-BE49-F238E27FC236}">
                  <a16:creationId xmlns:a16="http://schemas.microsoft.com/office/drawing/2014/main" id="{B42A45C1-EC92-8B09-A571-7275E263A340}"/>
                </a:ext>
              </a:extLst>
            </p:cNvPr>
            <p:cNvCxnSpPr/>
            <p:nvPr/>
          </p:nvCxnSpPr>
          <p:spPr>
            <a:xfrm rot="10800000" flipH="1">
              <a:off x="7664200" y="2438250"/>
              <a:ext cx="289200" cy="132600"/>
            </a:xfrm>
            <a:prstGeom prst="straightConnector1">
              <a:avLst/>
            </a:prstGeom>
            <a:noFill/>
            <a:ln w="19050" cap="flat" cmpd="sng">
              <a:solidFill>
                <a:srgbClr val="FF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" name="Google Shape;969;p61">
              <a:extLst>
                <a:ext uri="{FF2B5EF4-FFF2-40B4-BE49-F238E27FC236}">
                  <a16:creationId xmlns:a16="http://schemas.microsoft.com/office/drawing/2014/main" id="{B7CD9E91-4164-F3B3-59F6-B607C8869DE6}"/>
                </a:ext>
              </a:extLst>
            </p:cNvPr>
            <p:cNvSpPr txBox="1"/>
            <p:nvPr/>
          </p:nvSpPr>
          <p:spPr>
            <a:xfrm>
              <a:off x="413800" y="4171900"/>
              <a:ext cx="3516600" cy="8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Case 1: No entry for B (destination) in table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Flood the packet to all ports</a:t>
              </a:r>
              <a:b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(except incoming port)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" name="Google Shape;970;p61">
              <a:extLst>
                <a:ext uri="{FF2B5EF4-FFF2-40B4-BE49-F238E27FC236}">
                  <a16:creationId xmlns:a16="http://schemas.microsoft.com/office/drawing/2014/main" id="{ABAB365A-8487-20A7-E05C-365D8D8A522E}"/>
                </a:ext>
              </a:extLst>
            </p:cNvPr>
            <p:cNvSpPr txBox="1"/>
            <p:nvPr/>
          </p:nvSpPr>
          <p:spPr>
            <a:xfrm>
              <a:off x="5138200" y="4171900"/>
              <a:ext cx="3516600" cy="8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Case 2: Entry for B (destination) is in table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Use table entry to forward to next-hop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4742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1FA4-1EE4-D267-B77C-A5DDE9F3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D47A51AA-E3DF-648D-4BDA-BE06DE918882}"/>
              </a:ext>
            </a:extLst>
          </p:cNvPr>
          <p:cNvSpPr txBox="1">
            <a:spLocks/>
          </p:cNvSpPr>
          <p:nvPr/>
        </p:nvSpPr>
        <p:spPr>
          <a:xfrm>
            <a:off x="822765" y="49735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Self-learning and Forwarding</a:t>
            </a:r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0F50B-D331-3A43-AC2C-D3B088C24E3D}"/>
              </a:ext>
            </a:extLst>
          </p:cNvPr>
          <p:cNvSpPr txBox="1"/>
          <p:nvPr/>
        </p:nvSpPr>
        <p:spPr>
          <a:xfrm>
            <a:off x="1197626" y="709622"/>
            <a:ext cx="979674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Let’s build the forwarding table using “self-learning”: </a:t>
            </a:r>
            <a:endParaRPr lang="en-US" sz="20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Host A wants to send a frame to host B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All tables start empty. Nobody has an entry for B, so the packet gets flooded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Along the way, everyone gets a clue about A's location, and adds a table entry for A</a:t>
            </a:r>
          </a:p>
        </p:txBody>
      </p:sp>
      <p:sp>
        <p:nvSpPr>
          <p:cNvPr id="107" name="Google Shape;975;p62">
            <a:extLst>
              <a:ext uri="{FF2B5EF4-FFF2-40B4-BE49-F238E27FC236}">
                <a16:creationId xmlns:a16="http://schemas.microsoft.com/office/drawing/2014/main" id="{F0A449EF-5B81-0384-715A-CACD3278BB61}"/>
              </a:ext>
            </a:extLst>
          </p:cNvPr>
          <p:cNvSpPr/>
          <p:nvPr/>
        </p:nvSpPr>
        <p:spPr>
          <a:xfrm>
            <a:off x="4836122" y="4555041"/>
            <a:ext cx="304800" cy="304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A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978;p62">
            <a:extLst>
              <a:ext uri="{FF2B5EF4-FFF2-40B4-BE49-F238E27FC236}">
                <a16:creationId xmlns:a16="http://schemas.microsoft.com/office/drawing/2014/main" id="{9EFA0FBC-E036-E4FC-5B99-F2F7D94A80B1}"/>
              </a:ext>
            </a:extLst>
          </p:cNvPr>
          <p:cNvSpPr/>
          <p:nvPr/>
        </p:nvSpPr>
        <p:spPr>
          <a:xfrm>
            <a:off x="6131522" y="4555041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S1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979;p62">
            <a:extLst>
              <a:ext uri="{FF2B5EF4-FFF2-40B4-BE49-F238E27FC236}">
                <a16:creationId xmlns:a16="http://schemas.microsoft.com/office/drawing/2014/main" id="{A12C6708-302A-C37D-815F-7A7FAF3EC40D}"/>
              </a:ext>
            </a:extLst>
          </p:cNvPr>
          <p:cNvSpPr/>
          <p:nvPr/>
        </p:nvSpPr>
        <p:spPr>
          <a:xfrm>
            <a:off x="7960322" y="3945441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S2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980;p62">
            <a:extLst>
              <a:ext uri="{FF2B5EF4-FFF2-40B4-BE49-F238E27FC236}">
                <a16:creationId xmlns:a16="http://schemas.microsoft.com/office/drawing/2014/main" id="{AFB49162-4F99-52E6-35C0-675ED714D26B}"/>
              </a:ext>
            </a:extLst>
          </p:cNvPr>
          <p:cNvSpPr/>
          <p:nvPr/>
        </p:nvSpPr>
        <p:spPr>
          <a:xfrm>
            <a:off x="7960322" y="5164641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S4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981;p62">
            <a:extLst>
              <a:ext uri="{FF2B5EF4-FFF2-40B4-BE49-F238E27FC236}">
                <a16:creationId xmlns:a16="http://schemas.microsoft.com/office/drawing/2014/main" id="{21276441-B49F-D96F-61B3-9B91CCADF0FA}"/>
              </a:ext>
            </a:extLst>
          </p:cNvPr>
          <p:cNvSpPr/>
          <p:nvPr/>
        </p:nvSpPr>
        <p:spPr>
          <a:xfrm>
            <a:off x="9789122" y="3945441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S3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982;p62">
            <a:extLst>
              <a:ext uri="{FF2B5EF4-FFF2-40B4-BE49-F238E27FC236}">
                <a16:creationId xmlns:a16="http://schemas.microsoft.com/office/drawing/2014/main" id="{0771BEFF-590C-6D1E-9E31-2DE208A3BEC2}"/>
              </a:ext>
            </a:extLst>
          </p:cNvPr>
          <p:cNvSpPr/>
          <p:nvPr/>
        </p:nvSpPr>
        <p:spPr>
          <a:xfrm>
            <a:off x="9789122" y="5164641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S5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983;p62">
            <a:extLst>
              <a:ext uri="{FF2B5EF4-FFF2-40B4-BE49-F238E27FC236}">
                <a16:creationId xmlns:a16="http://schemas.microsoft.com/office/drawing/2014/main" id="{3FAF5815-FC64-7623-9241-6837472ED92C}"/>
              </a:ext>
            </a:extLst>
          </p:cNvPr>
          <p:cNvCxnSpPr>
            <a:stCxn id="107" idx="6"/>
            <a:endCxn id="108" idx="1"/>
          </p:cNvCxnSpPr>
          <p:nvPr/>
        </p:nvCxnSpPr>
        <p:spPr>
          <a:xfrm>
            <a:off x="5140922" y="4707441"/>
            <a:ext cx="9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984;p62">
            <a:extLst>
              <a:ext uri="{FF2B5EF4-FFF2-40B4-BE49-F238E27FC236}">
                <a16:creationId xmlns:a16="http://schemas.microsoft.com/office/drawing/2014/main" id="{EBB40479-0A4B-CAA8-74B8-75218C022FD4}"/>
              </a:ext>
            </a:extLst>
          </p:cNvPr>
          <p:cNvSpPr/>
          <p:nvPr/>
        </p:nvSpPr>
        <p:spPr>
          <a:xfrm>
            <a:off x="11084522" y="3945441"/>
            <a:ext cx="304800" cy="304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985;p62">
            <a:extLst>
              <a:ext uri="{FF2B5EF4-FFF2-40B4-BE49-F238E27FC236}">
                <a16:creationId xmlns:a16="http://schemas.microsoft.com/office/drawing/2014/main" id="{21DE8814-D605-920C-15F2-9BFE49FE70B0}"/>
              </a:ext>
            </a:extLst>
          </p:cNvPr>
          <p:cNvSpPr/>
          <p:nvPr/>
        </p:nvSpPr>
        <p:spPr>
          <a:xfrm>
            <a:off x="11084522" y="5164641"/>
            <a:ext cx="304800" cy="304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986;p62">
            <a:extLst>
              <a:ext uri="{FF2B5EF4-FFF2-40B4-BE49-F238E27FC236}">
                <a16:creationId xmlns:a16="http://schemas.microsoft.com/office/drawing/2014/main" id="{E7FA9263-D9D5-E157-BB0C-0B71387C20D4}"/>
              </a:ext>
            </a:extLst>
          </p:cNvPr>
          <p:cNvCxnSpPr>
            <a:stCxn id="111" idx="3"/>
            <a:endCxn id="114" idx="2"/>
          </p:cNvCxnSpPr>
          <p:nvPr/>
        </p:nvCxnSpPr>
        <p:spPr>
          <a:xfrm>
            <a:off x="10093922" y="4097841"/>
            <a:ext cx="9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987;p62">
            <a:extLst>
              <a:ext uri="{FF2B5EF4-FFF2-40B4-BE49-F238E27FC236}">
                <a16:creationId xmlns:a16="http://schemas.microsoft.com/office/drawing/2014/main" id="{BEB4C6E7-6B83-16A8-4C3E-B8412ED86513}"/>
              </a:ext>
            </a:extLst>
          </p:cNvPr>
          <p:cNvCxnSpPr>
            <a:stCxn id="112" idx="3"/>
            <a:endCxn id="115" idx="2"/>
          </p:cNvCxnSpPr>
          <p:nvPr/>
        </p:nvCxnSpPr>
        <p:spPr>
          <a:xfrm>
            <a:off x="10093922" y="5317041"/>
            <a:ext cx="9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988;p62">
            <a:extLst>
              <a:ext uri="{FF2B5EF4-FFF2-40B4-BE49-F238E27FC236}">
                <a16:creationId xmlns:a16="http://schemas.microsoft.com/office/drawing/2014/main" id="{92EF08A6-FB54-3426-1CAE-CE54770390B4}"/>
              </a:ext>
            </a:extLst>
          </p:cNvPr>
          <p:cNvCxnSpPr>
            <a:stCxn id="110" idx="3"/>
            <a:endCxn id="112" idx="1"/>
          </p:cNvCxnSpPr>
          <p:nvPr/>
        </p:nvCxnSpPr>
        <p:spPr>
          <a:xfrm>
            <a:off x="8265122" y="5317041"/>
            <a:ext cx="152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989;p62">
            <a:extLst>
              <a:ext uri="{FF2B5EF4-FFF2-40B4-BE49-F238E27FC236}">
                <a16:creationId xmlns:a16="http://schemas.microsoft.com/office/drawing/2014/main" id="{7B4D5E23-E3A7-17D3-90E9-D5B3176DE295}"/>
              </a:ext>
            </a:extLst>
          </p:cNvPr>
          <p:cNvCxnSpPr>
            <a:stCxn id="109" idx="3"/>
            <a:endCxn id="111" idx="1"/>
          </p:cNvCxnSpPr>
          <p:nvPr/>
        </p:nvCxnSpPr>
        <p:spPr>
          <a:xfrm>
            <a:off x="8265122" y="4097841"/>
            <a:ext cx="152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990;p62">
            <a:extLst>
              <a:ext uri="{FF2B5EF4-FFF2-40B4-BE49-F238E27FC236}">
                <a16:creationId xmlns:a16="http://schemas.microsoft.com/office/drawing/2014/main" id="{1C2FEFC2-106D-8AAC-E373-94D4497EE55E}"/>
              </a:ext>
            </a:extLst>
          </p:cNvPr>
          <p:cNvCxnSpPr>
            <a:stCxn id="108" idx="3"/>
            <a:endCxn id="109" idx="1"/>
          </p:cNvCxnSpPr>
          <p:nvPr/>
        </p:nvCxnSpPr>
        <p:spPr>
          <a:xfrm rot="10800000" flipH="1">
            <a:off x="6436322" y="4097841"/>
            <a:ext cx="1524000" cy="60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991;p62">
            <a:extLst>
              <a:ext uri="{FF2B5EF4-FFF2-40B4-BE49-F238E27FC236}">
                <a16:creationId xmlns:a16="http://schemas.microsoft.com/office/drawing/2014/main" id="{6D2CC5D5-2379-F4AC-143E-D8DE2A31DFB2}"/>
              </a:ext>
            </a:extLst>
          </p:cNvPr>
          <p:cNvCxnSpPr>
            <a:stCxn id="108" idx="3"/>
            <a:endCxn id="110" idx="1"/>
          </p:cNvCxnSpPr>
          <p:nvPr/>
        </p:nvCxnSpPr>
        <p:spPr>
          <a:xfrm>
            <a:off x="6436322" y="4707441"/>
            <a:ext cx="1524000" cy="60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22" name="Google Shape;992;p62">
            <a:extLst>
              <a:ext uri="{FF2B5EF4-FFF2-40B4-BE49-F238E27FC236}">
                <a16:creationId xmlns:a16="http://schemas.microsoft.com/office/drawing/2014/main" id="{185E8D9A-AD9C-AADF-9FE0-093B151C2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269980"/>
              </p:ext>
            </p:extLst>
          </p:nvPr>
        </p:nvGraphicFramePr>
        <p:xfrm>
          <a:off x="7512591" y="56218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3" name="Google Shape;993;p62">
            <a:extLst>
              <a:ext uri="{FF2B5EF4-FFF2-40B4-BE49-F238E27FC236}">
                <a16:creationId xmlns:a16="http://schemas.microsoft.com/office/drawing/2014/main" id="{D0D13A36-CD38-9CF6-C160-84F839595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9039236"/>
              </p:ext>
            </p:extLst>
          </p:nvPr>
        </p:nvGraphicFramePr>
        <p:xfrm>
          <a:off x="9341391" y="56218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4" name="Google Shape;994;p62">
            <a:extLst>
              <a:ext uri="{FF2B5EF4-FFF2-40B4-BE49-F238E27FC236}">
                <a16:creationId xmlns:a16="http://schemas.microsoft.com/office/drawing/2014/main" id="{F1F3C8F6-A8A7-B246-17B7-47BFF4521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257090"/>
              </p:ext>
            </p:extLst>
          </p:nvPr>
        </p:nvGraphicFramePr>
        <p:xfrm>
          <a:off x="9341379" y="29153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5" name="Google Shape;995;p62">
            <a:extLst>
              <a:ext uri="{FF2B5EF4-FFF2-40B4-BE49-F238E27FC236}">
                <a16:creationId xmlns:a16="http://schemas.microsoft.com/office/drawing/2014/main" id="{6A1BA8D8-5725-76A5-7EF5-86185A59E3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450152"/>
              </p:ext>
            </p:extLst>
          </p:nvPr>
        </p:nvGraphicFramePr>
        <p:xfrm>
          <a:off x="7512604" y="29153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6" name="Google Shape;996;p62">
            <a:extLst>
              <a:ext uri="{FF2B5EF4-FFF2-40B4-BE49-F238E27FC236}">
                <a16:creationId xmlns:a16="http://schemas.microsoft.com/office/drawing/2014/main" id="{6051493E-8013-232A-4FEB-DFC7A63181BA}"/>
              </a:ext>
            </a:extLst>
          </p:cNvPr>
          <p:cNvSpPr/>
          <p:nvPr/>
        </p:nvSpPr>
        <p:spPr>
          <a:xfrm>
            <a:off x="4454222" y="4982768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997;p62">
            <a:extLst>
              <a:ext uri="{FF2B5EF4-FFF2-40B4-BE49-F238E27FC236}">
                <a16:creationId xmlns:a16="http://schemas.microsoft.com/office/drawing/2014/main" id="{2C1AE7F4-A4CF-CFF0-103A-01185970F763}"/>
              </a:ext>
            </a:extLst>
          </p:cNvPr>
          <p:cNvSpPr/>
          <p:nvPr/>
        </p:nvSpPr>
        <p:spPr>
          <a:xfrm>
            <a:off x="5749622" y="4982768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998;p62">
            <a:extLst>
              <a:ext uri="{FF2B5EF4-FFF2-40B4-BE49-F238E27FC236}">
                <a16:creationId xmlns:a16="http://schemas.microsoft.com/office/drawing/2014/main" id="{A7536C0F-371A-402D-DCA6-78F50E154ED2}"/>
              </a:ext>
            </a:extLst>
          </p:cNvPr>
          <p:cNvSpPr/>
          <p:nvPr/>
        </p:nvSpPr>
        <p:spPr>
          <a:xfrm>
            <a:off x="7568322" y="4326431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999;p62">
            <a:extLst>
              <a:ext uri="{FF2B5EF4-FFF2-40B4-BE49-F238E27FC236}">
                <a16:creationId xmlns:a16="http://schemas.microsoft.com/office/drawing/2014/main" id="{1FC0AB84-0860-F8D4-5BB2-13E49078BE05}"/>
              </a:ext>
            </a:extLst>
          </p:cNvPr>
          <p:cNvSpPr/>
          <p:nvPr/>
        </p:nvSpPr>
        <p:spPr>
          <a:xfrm>
            <a:off x="9407197" y="4326431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000;p62">
            <a:extLst>
              <a:ext uri="{FF2B5EF4-FFF2-40B4-BE49-F238E27FC236}">
                <a16:creationId xmlns:a16="http://schemas.microsoft.com/office/drawing/2014/main" id="{3549F64F-4AE2-3AD3-567E-63B1F6E41EC1}"/>
              </a:ext>
            </a:extLst>
          </p:cNvPr>
          <p:cNvSpPr/>
          <p:nvPr/>
        </p:nvSpPr>
        <p:spPr>
          <a:xfrm>
            <a:off x="10702622" y="4326431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001;p62">
            <a:extLst>
              <a:ext uri="{FF2B5EF4-FFF2-40B4-BE49-F238E27FC236}">
                <a16:creationId xmlns:a16="http://schemas.microsoft.com/office/drawing/2014/main" id="{B226DA63-CA1C-F555-C9F9-ACE6A3C394B2}"/>
              </a:ext>
            </a:extLst>
          </p:cNvPr>
          <p:cNvSpPr/>
          <p:nvPr/>
        </p:nvSpPr>
        <p:spPr>
          <a:xfrm>
            <a:off x="7568322" y="4859831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002;p62">
            <a:extLst>
              <a:ext uri="{FF2B5EF4-FFF2-40B4-BE49-F238E27FC236}">
                <a16:creationId xmlns:a16="http://schemas.microsoft.com/office/drawing/2014/main" id="{5060E324-E78F-B0F6-7F84-169C683F1EC8}"/>
              </a:ext>
            </a:extLst>
          </p:cNvPr>
          <p:cNvSpPr/>
          <p:nvPr/>
        </p:nvSpPr>
        <p:spPr>
          <a:xfrm>
            <a:off x="9407197" y="4859831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003;p62">
            <a:extLst>
              <a:ext uri="{FF2B5EF4-FFF2-40B4-BE49-F238E27FC236}">
                <a16:creationId xmlns:a16="http://schemas.microsoft.com/office/drawing/2014/main" id="{17786D99-3A2C-3850-4CF5-C2878CD216B1}"/>
              </a:ext>
            </a:extLst>
          </p:cNvPr>
          <p:cNvSpPr/>
          <p:nvPr/>
        </p:nvSpPr>
        <p:spPr>
          <a:xfrm>
            <a:off x="10702622" y="4859831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4" name="Google Shape;1004;p62">
            <a:extLst>
              <a:ext uri="{FF2B5EF4-FFF2-40B4-BE49-F238E27FC236}">
                <a16:creationId xmlns:a16="http://schemas.microsoft.com/office/drawing/2014/main" id="{D8473CEF-B7C8-B1E3-63AE-C591DDE00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4720427"/>
              </p:ext>
            </p:extLst>
          </p:nvPr>
        </p:nvGraphicFramePr>
        <p:xfrm>
          <a:off x="5683804" y="35249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5" name="Google Shape;1005;p62">
            <a:extLst>
              <a:ext uri="{FF2B5EF4-FFF2-40B4-BE49-F238E27FC236}">
                <a16:creationId xmlns:a16="http://schemas.microsoft.com/office/drawing/2014/main" id="{6B2209DF-72DB-D536-DB9C-3AA5D416CF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260287"/>
              </p:ext>
            </p:extLst>
          </p:nvPr>
        </p:nvGraphicFramePr>
        <p:xfrm>
          <a:off x="5683804" y="35249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S1's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6" name="Google Shape;1006;p62">
            <a:extLst>
              <a:ext uri="{FF2B5EF4-FFF2-40B4-BE49-F238E27FC236}">
                <a16:creationId xmlns:a16="http://schemas.microsoft.com/office/drawing/2014/main" id="{368D72E4-11E6-DEED-8391-D4C62C9C3D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768257"/>
              </p:ext>
            </p:extLst>
          </p:nvPr>
        </p:nvGraphicFramePr>
        <p:xfrm>
          <a:off x="7512604" y="29153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S2's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S1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7" name="Google Shape;1007;p62">
            <a:extLst>
              <a:ext uri="{FF2B5EF4-FFF2-40B4-BE49-F238E27FC236}">
                <a16:creationId xmlns:a16="http://schemas.microsoft.com/office/drawing/2014/main" id="{2987803E-8EDE-138C-A6F0-2A1D823CF9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02130"/>
              </p:ext>
            </p:extLst>
          </p:nvPr>
        </p:nvGraphicFramePr>
        <p:xfrm>
          <a:off x="9341379" y="29153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S2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8" name="Google Shape;1008;p62">
            <a:extLst>
              <a:ext uri="{FF2B5EF4-FFF2-40B4-BE49-F238E27FC236}">
                <a16:creationId xmlns:a16="http://schemas.microsoft.com/office/drawing/2014/main" id="{13A19DA3-C649-07EC-5DF6-4FED53B0D9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653569"/>
              </p:ext>
            </p:extLst>
          </p:nvPr>
        </p:nvGraphicFramePr>
        <p:xfrm>
          <a:off x="7512591" y="56218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S4's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S1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" name="Google Shape;1009;p62">
            <a:extLst>
              <a:ext uri="{FF2B5EF4-FFF2-40B4-BE49-F238E27FC236}">
                <a16:creationId xmlns:a16="http://schemas.microsoft.com/office/drawing/2014/main" id="{D318D33B-90C5-590C-B10E-39C820AACB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355945"/>
              </p:ext>
            </p:extLst>
          </p:nvPr>
        </p:nvGraphicFramePr>
        <p:xfrm>
          <a:off x="9341391" y="5621841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S5's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S4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40" name="Google Shape;1010;p62">
            <a:extLst>
              <a:ext uri="{FF2B5EF4-FFF2-40B4-BE49-F238E27FC236}">
                <a16:creationId xmlns:a16="http://schemas.microsoft.com/office/drawing/2014/main" id="{53177E2F-7C67-FE9D-87D5-444ADBE127E4}"/>
              </a:ext>
            </a:extLst>
          </p:cNvPr>
          <p:cNvCxnSpPr/>
          <p:nvPr/>
        </p:nvCxnSpPr>
        <p:spPr>
          <a:xfrm>
            <a:off x="5217122" y="4631241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011;p62">
            <a:extLst>
              <a:ext uri="{FF2B5EF4-FFF2-40B4-BE49-F238E27FC236}">
                <a16:creationId xmlns:a16="http://schemas.microsoft.com/office/drawing/2014/main" id="{82BDB97F-B501-4FB9-7B51-7E79FD35102A}"/>
              </a:ext>
            </a:extLst>
          </p:cNvPr>
          <p:cNvCxnSpPr/>
          <p:nvPr/>
        </p:nvCxnSpPr>
        <p:spPr>
          <a:xfrm>
            <a:off x="8341322" y="4021641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012;p62">
            <a:extLst>
              <a:ext uri="{FF2B5EF4-FFF2-40B4-BE49-F238E27FC236}">
                <a16:creationId xmlns:a16="http://schemas.microsoft.com/office/drawing/2014/main" id="{22E96DAE-2448-0CD1-899E-EE5D0F2A3BB0}"/>
              </a:ext>
            </a:extLst>
          </p:cNvPr>
          <p:cNvCxnSpPr/>
          <p:nvPr/>
        </p:nvCxnSpPr>
        <p:spPr>
          <a:xfrm>
            <a:off x="8341322" y="5240841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013;p62">
            <a:extLst>
              <a:ext uri="{FF2B5EF4-FFF2-40B4-BE49-F238E27FC236}">
                <a16:creationId xmlns:a16="http://schemas.microsoft.com/office/drawing/2014/main" id="{1C9C423F-1B72-B66A-FBEB-18F581908250}"/>
              </a:ext>
            </a:extLst>
          </p:cNvPr>
          <p:cNvCxnSpPr/>
          <p:nvPr/>
        </p:nvCxnSpPr>
        <p:spPr>
          <a:xfrm>
            <a:off x="10170122" y="4021641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014;p62">
            <a:extLst>
              <a:ext uri="{FF2B5EF4-FFF2-40B4-BE49-F238E27FC236}">
                <a16:creationId xmlns:a16="http://schemas.microsoft.com/office/drawing/2014/main" id="{F34FFB54-AB86-AE0D-056E-6F1EF1A05A27}"/>
              </a:ext>
            </a:extLst>
          </p:cNvPr>
          <p:cNvCxnSpPr/>
          <p:nvPr/>
        </p:nvCxnSpPr>
        <p:spPr>
          <a:xfrm>
            <a:off x="10170122" y="5240841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" name="Google Shape;1015;p62">
            <a:extLst>
              <a:ext uri="{FF2B5EF4-FFF2-40B4-BE49-F238E27FC236}">
                <a16:creationId xmlns:a16="http://schemas.microsoft.com/office/drawing/2014/main" id="{5A5B94E2-B147-B621-0B92-4D19A0139946}"/>
              </a:ext>
            </a:extLst>
          </p:cNvPr>
          <p:cNvCxnSpPr/>
          <p:nvPr/>
        </p:nvCxnSpPr>
        <p:spPr>
          <a:xfrm rot="10800000" flipH="1">
            <a:off x="6512522" y="4457466"/>
            <a:ext cx="364800" cy="1452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1016;p62">
            <a:extLst>
              <a:ext uri="{FF2B5EF4-FFF2-40B4-BE49-F238E27FC236}">
                <a16:creationId xmlns:a16="http://schemas.microsoft.com/office/drawing/2014/main" id="{F2067D9B-BF19-8A55-4426-56771A704842}"/>
              </a:ext>
            </a:extLst>
          </p:cNvPr>
          <p:cNvCxnSpPr/>
          <p:nvPr/>
        </p:nvCxnSpPr>
        <p:spPr>
          <a:xfrm>
            <a:off x="6512522" y="4812216"/>
            <a:ext cx="364800" cy="1452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31FA034-4445-466A-9C56-EB13443DDEFF}"/>
              </a:ext>
            </a:extLst>
          </p:cNvPr>
          <p:cNvSpPr txBox="1"/>
          <p:nvPr/>
        </p:nvSpPr>
        <p:spPr>
          <a:xfrm>
            <a:off x="84804" y="2692248"/>
            <a:ext cx="437951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b="0" i="0" dirty="0">
                <a:effectLst/>
              </a:rPr>
              <a:t>A forwards the packet to S1 (Port 1)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S1 </a:t>
            </a:r>
            <a:r>
              <a:rPr lang="en-US" i="1" dirty="0">
                <a:solidFill>
                  <a:srgbClr val="C00000"/>
                </a:solidFill>
              </a:rPr>
              <a:t>learns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A must be toward Port 1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S1 floods this packet out of all ports (except the incoming port)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S2 and S4: Both receive the “From A, to B” packet from S1; </a:t>
            </a:r>
            <a:r>
              <a:rPr lang="en-US" i="1" dirty="0">
                <a:solidFill>
                  <a:srgbClr val="C00000"/>
                </a:solidFill>
              </a:rPr>
              <a:t>Add a mapping for A</a:t>
            </a:r>
            <a:r>
              <a:rPr lang="en-US" dirty="0"/>
              <a:t> to their forwarding tables; Flood…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S3 and S5: </a:t>
            </a:r>
            <a:r>
              <a:rPr lang="en-US" i="1" dirty="0">
                <a:solidFill>
                  <a:srgbClr val="C00000"/>
                </a:solidFill>
              </a:rPr>
              <a:t>Update</a:t>
            </a:r>
            <a:r>
              <a:rPr lang="en-US" dirty="0"/>
              <a:t> forwarding tables; Flood the packet… (except…)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C: Receives packet; Check the header; Drop the packet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B: Receives this packet</a:t>
            </a:r>
          </a:p>
        </p:txBody>
      </p:sp>
    </p:spTree>
    <p:extLst>
      <p:ext uri="{BB962C8B-B14F-4D97-AF65-F5344CB8AC3E}">
        <p14:creationId xmlns:p14="http://schemas.microsoft.com/office/powerpoint/2010/main" val="356413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A52A-7FE0-3CE9-607D-E8AFB2AC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5E586866-ED5F-8070-1042-2AA8E89A1627}"/>
              </a:ext>
            </a:extLst>
          </p:cNvPr>
          <p:cNvSpPr txBox="1">
            <a:spLocks/>
          </p:cNvSpPr>
          <p:nvPr/>
        </p:nvSpPr>
        <p:spPr>
          <a:xfrm>
            <a:off x="822765" y="49735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Self-learning and Forwarding</a:t>
            </a:r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EA8D8-CC50-926F-17E8-CFEC95457D2B}"/>
              </a:ext>
            </a:extLst>
          </p:cNvPr>
          <p:cNvSpPr txBox="1"/>
          <p:nvPr/>
        </p:nvSpPr>
        <p:spPr>
          <a:xfrm>
            <a:off x="1070909" y="970308"/>
            <a:ext cx="100501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When host B wants to reply to host A: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packet can get directly forwarded to A (no flooding) using the forwarding tables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Switches along the B-to-A path get a clue about B's location, and add a table entry for B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116EA6A-ECC5-60D2-84DE-F11BB9436BD9}"/>
              </a:ext>
            </a:extLst>
          </p:cNvPr>
          <p:cNvSpPr txBox="1"/>
          <p:nvPr/>
        </p:nvSpPr>
        <p:spPr>
          <a:xfrm>
            <a:off x="84804" y="2692248"/>
            <a:ext cx="4541296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altLang="zh-CN" b="0" i="0" dirty="0">
                <a:effectLst/>
              </a:rPr>
              <a:t>B</a:t>
            </a:r>
            <a:r>
              <a:rPr lang="en-US" b="0" i="0" dirty="0">
                <a:effectLst/>
              </a:rPr>
              <a:t> forwards the packet to S3 (Port 2)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S3 </a:t>
            </a:r>
            <a:r>
              <a:rPr lang="en-US" i="1" dirty="0">
                <a:solidFill>
                  <a:srgbClr val="C00000"/>
                </a:solidFill>
              </a:rPr>
              <a:t>learns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B must be toward Port 2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S3 </a:t>
            </a:r>
            <a:r>
              <a:rPr lang="en-US" dirty="0">
                <a:solidFill>
                  <a:srgbClr val="C00000"/>
                </a:solidFill>
              </a:rPr>
              <a:t>forwards</a:t>
            </a:r>
            <a:r>
              <a:rPr lang="en-US" dirty="0"/>
              <a:t> the packet along the next-hop to A (instead of flooding the packet)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S2: Adds a mapping for B to its forwarding table; </a:t>
            </a:r>
            <a:r>
              <a:rPr lang="en-US" dirty="0">
                <a:solidFill>
                  <a:srgbClr val="C00000"/>
                </a:solidFill>
              </a:rPr>
              <a:t>Forwards</a:t>
            </a:r>
            <a:r>
              <a:rPr lang="en-US" dirty="0"/>
              <a:t> packet to S1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dirty="0"/>
              <a:t>S1: Adds a mapping for B to its forwarding table; </a:t>
            </a:r>
            <a:r>
              <a:rPr lang="en-US" dirty="0">
                <a:solidFill>
                  <a:srgbClr val="C00000"/>
                </a:solidFill>
              </a:rPr>
              <a:t>Forwards</a:t>
            </a:r>
            <a:r>
              <a:rPr lang="en-US" dirty="0"/>
              <a:t> packet to 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dirty="0"/>
          </a:p>
        </p:txBody>
      </p:sp>
      <p:graphicFrame>
        <p:nvGraphicFramePr>
          <p:cNvPr id="2" name="Google Shape;1022;p63">
            <a:extLst>
              <a:ext uri="{FF2B5EF4-FFF2-40B4-BE49-F238E27FC236}">
                <a16:creationId xmlns:a16="http://schemas.microsoft.com/office/drawing/2014/main" id="{26DDDA33-B5A4-360C-635A-556572BA90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3983199"/>
              </p:ext>
            </p:extLst>
          </p:nvPr>
        </p:nvGraphicFramePr>
        <p:xfrm>
          <a:off x="5855683" y="32789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oogle Shape;1023;p63">
            <a:extLst>
              <a:ext uri="{FF2B5EF4-FFF2-40B4-BE49-F238E27FC236}">
                <a16:creationId xmlns:a16="http://schemas.microsoft.com/office/drawing/2014/main" id="{56350DD0-D51E-848F-5456-B21BD5C8B8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537654"/>
              </p:ext>
            </p:extLst>
          </p:nvPr>
        </p:nvGraphicFramePr>
        <p:xfrm>
          <a:off x="7684483" y="26693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Google Shape;1024;p63">
            <a:extLst>
              <a:ext uri="{FF2B5EF4-FFF2-40B4-BE49-F238E27FC236}">
                <a16:creationId xmlns:a16="http://schemas.microsoft.com/office/drawing/2014/main" id="{6F3B24CE-A0BB-AA6B-554B-5D5936B07F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1950517"/>
              </p:ext>
            </p:extLst>
          </p:nvPr>
        </p:nvGraphicFramePr>
        <p:xfrm>
          <a:off x="9513258" y="26693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Google Shape;1025;p63">
            <a:extLst>
              <a:ext uri="{FF2B5EF4-FFF2-40B4-BE49-F238E27FC236}">
                <a16:creationId xmlns:a16="http://schemas.microsoft.com/office/drawing/2014/main" id="{A587C6DE-5137-7D1E-CD66-FB635F30ED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078841"/>
              </p:ext>
            </p:extLst>
          </p:nvPr>
        </p:nvGraphicFramePr>
        <p:xfrm>
          <a:off x="7684470" y="53758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S4's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S1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Google Shape;1026;p63">
            <a:extLst>
              <a:ext uri="{FF2B5EF4-FFF2-40B4-BE49-F238E27FC236}">
                <a16:creationId xmlns:a16="http://schemas.microsoft.com/office/drawing/2014/main" id="{01D9B541-C5E1-01BD-A80E-CCD6522681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818973"/>
              </p:ext>
            </p:extLst>
          </p:nvPr>
        </p:nvGraphicFramePr>
        <p:xfrm>
          <a:off x="9513270" y="53758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S5's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S4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1029;p63">
            <a:extLst>
              <a:ext uri="{FF2B5EF4-FFF2-40B4-BE49-F238E27FC236}">
                <a16:creationId xmlns:a16="http://schemas.microsoft.com/office/drawing/2014/main" id="{77A56954-DA26-AD3A-9B3B-28706F51F9A1}"/>
              </a:ext>
            </a:extLst>
          </p:cNvPr>
          <p:cNvSpPr/>
          <p:nvPr/>
        </p:nvSpPr>
        <p:spPr>
          <a:xfrm>
            <a:off x="5008001" y="4309018"/>
            <a:ext cx="304800" cy="304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030;p63">
            <a:extLst>
              <a:ext uri="{FF2B5EF4-FFF2-40B4-BE49-F238E27FC236}">
                <a16:creationId xmlns:a16="http://schemas.microsoft.com/office/drawing/2014/main" id="{FAAC17B7-46F8-1816-EDB2-4855AAD92D5C}"/>
              </a:ext>
            </a:extLst>
          </p:cNvPr>
          <p:cNvSpPr/>
          <p:nvPr/>
        </p:nvSpPr>
        <p:spPr>
          <a:xfrm>
            <a:off x="6303401" y="4309018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S1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031;p63">
            <a:extLst>
              <a:ext uri="{FF2B5EF4-FFF2-40B4-BE49-F238E27FC236}">
                <a16:creationId xmlns:a16="http://schemas.microsoft.com/office/drawing/2014/main" id="{5B5B1089-874C-DFDE-B79A-5C637F06CADC}"/>
              </a:ext>
            </a:extLst>
          </p:cNvPr>
          <p:cNvSpPr/>
          <p:nvPr/>
        </p:nvSpPr>
        <p:spPr>
          <a:xfrm>
            <a:off x="8132201" y="3699418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S2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032;p63">
            <a:extLst>
              <a:ext uri="{FF2B5EF4-FFF2-40B4-BE49-F238E27FC236}">
                <a16:creationId xmlns:a16="http://schemas.microsoft.com/office/drawing/2014/main" id="{967A8D10-69B0-99B8-60B3-4DBF548A9192}"/>
              </a:ext>
            </a:extLst>
          </p:cNvPr>
          <p:cNvSpPr/>
          <p:nvPr/>
        </p:nvSpPr>
        <p:spPr>
          <a:xfrm>
            <a:off x="8132201" y="4918618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S4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033;p63">
            <a:extLst>
              <a:ext uri="{FF2B5EF4-FFF2-40B4-BE49-F238E27FC236}">
                <a16:creationId xmlns:a16="http://schemas.microsoft.com/office/drawing/2014/main" id="{BECC6DB5-0FA7-D472-86AC-CC70EB4ED07F}"/>
              </a:ext>
            </a:extLst>
          </p:cNvPr>
          <p:cNvSpPr/>
          <p:nvPr/>
        </p:nvSpPr>
        <p:spPr>
          <a:xfrm>
            <a:off x="9961001" y="3699418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S3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034;p63">
            <a:extLst>
              <a:ext uri="{FF2B5EF4-FFF2-40B4-BE49-F238E27FC236}">
                <a16:creationId xmlns:a16="http://schemas.microsoft.com/office/drawing/2014/main" id="{5D180604-DD63-3743-BFF6-34EBFC6E2F5C}"/>
              </a:ext>
            </a:extLst>
          </p:cNvPr>
          <p:cNvSpPr/>
          <p:nvPr/>
        </p:nvSpPr>
        <p:spPr>
          <a:xfrm>
            <a:off x="9961001" y="4918618"/>
            <a:ext cx="304800" cy="304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S5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1035;p63">
            <a:extLst>
              <a:ext uri="{FF2B5EF4-FFF2-40B4-BE49-F238E27FC236}">
                <a16:creationId xmlns:a16="http://schemas.microsoft.com/office/drawing/2014/main" id="{59D427F9-C49D-559D-184C-61607CA7CC0B}"/>
              </a:ext>
            </a:extLst>
          </p:cNvPr>
          <p:cNvCxnSpPr>
            <a:stCxn id="9" idx="6"/>
            <a:endCxn id="10" idx="1"/>
          </p:cNvCxnSpPr>
          <p:nvPr/>
        </p:nvCxnSpPr>
        <p:spPr>
          <a:xfrm>
            <a:off x="5312801" y="4461418"/>
            <a:ext cx="9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036;p63">
            <a:extLst>
              <a:ext uri="{FF2B5EF4-FFF2-40B4-BE49-F238E27FC236}">
                <a16:creationId xmlns:a16="http://schemas.microsoft.com/office/drawing/2014/main" id="{4D453F83-8AE2-7DA9-7295-347697C11164}"/>
              </a:ext>
            </a:extLst>
          </p:cNvPr>
          <p:cNvSpPr/>
          <p:nvPr/>
        </p:nvSpPr>
        <p:spPr>
          <a:xfrm>
            <a:off x="11256401" y="3699418"/>
            <a:ext cx="304800" cy="304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1037;p63">
            <a:extLst>
              <a:ext uri="{FF2B5EF4-FFF2-40B4-BE49-F238E27FC236}">
                <a16:creationId xmlns:a16="http://schemas.microsoft.com/office/drawing/2014/main" id="{1A393BF8-6734-3715-F911-2CF246ECFDC6}"/>
              </a:ext>
            </a:extLst>
          </p:cNvPr>
          <p:cNvSpPr/>
          <p:nvPr/>
        </p:nvSpPr>
        <p:spPr>
          <a:xfrm>
            <a:off x="11256401" y="4918618"/>
            <a:ext cx="304800" cy="304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1038;p63">
            <a:extLst>
              <a:ext uri="{FF2B5EF4-FFF2-40B4-BE49-F238E27FC236}">
                <a16:creationId xmlns:a16="http://schemas.microsoft.com/office/drawing/2014/main" id="{20D4ECB2-090A-63F7-502F-DDF885B3F775}"/>
              </a:ext>
            </a:extLst>
          </p:cNvPr>
          <p:cNvCxnSpPr>
            <a:stCxn id="13" idx="3"/>
            <a:endCxn id="16" idx="2"/>
          </p:cNvCxnSpPr>
          <p:nvPr/>
        </p:nvCxnSpPr>
        <p:spPr>
          <a:xfrm>
            <a:off x="10265801" y="3851818"/>
            <a:ext cx="9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039;p63">
            <a:extLst>
              <a:ext uri="{FF2B5EF4-FFF2-40B4-BE49-F238E27FC236}">
                <a16:creationId xmlns:a16="http://schemas.microsoft.com/office/drawing/2014/main" id="{0B1B3173-3DDB-20A5-4656-C28EACBC5EFF}"/>
              </a:ext>
            </a:extLst>
          </p:cNvPr>
          <p:cNvCxnSpPr>
            <a:stCxn id="14" idx="3"/>
            <a:endCxn id="17" idx="2"/>
          </p:cNvCxnSpPr>
          <p:nvPr/>
        </p:nvCxnSpPr>
        <p:spPr>
          <a:xfrm>
            <a:off x="10265801" y="5071018"/>
            <a:ext cx="990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040;p63">
            <a:extLst>
              <a:ext uri="{FF2B5EF4-FFF2-40B4-BE49-F238E27FC236}">
                <a16:creationId xmlns:a16="http://schemas.microsoft.com/office/drawing/2014/main" id="{37DC6FB7-3AF9-AE6C-EB43-0211EDAA5BA6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8437001" y="5071018"/>
            <a:ext cx="152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041;p63">
            <a:extLst>
              <a:ext uri="{FF2B5EF4-FFF2-40B4-BE49-F238E27FC236}">
                <a16:creationId xmlns:a16="http://schemas.microsoft.com/office/drawing/2014/main" id="{A033DCA8-EE29-7082-6E22-533DAAA2D047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8437001" y="3851818"/>
            <a:ext cx="152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042;p63">
            <a:extLst>
              <a:ext uri="{FF2B5EF4-FFF2-40B4-BE49-F238E27FC236}">
                <a16:creationId xmlns:a16="http://schemas.microsoft.com/office/drawing/2014/main" id="{78291D03-8509-6D8A-610F-3618591DDF7D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rot="10800000" flipH="1">
            <a:off x="6608201" y="3851818"/>
            <a:ext cx="1524000" cy="60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043;p63">
            <a:extLst>
              <a:ext uri="{FF2B5EF4-FFF2-40B4-BE49-F238E27FC236}">
                <a16:creationId xmlns:a16="http://schemas.microsoft.com/office/drawing/2014/main" id="{5DC9BF45-E329-02AD-9B0D-4646F0002579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608201" y="4461418"/>
            <a:ext cx="1524000" cy="609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044;p63">
            <a:extLst>
              <a:ext uri="{FF2B5EF4-FFF2-40B4-BE49-F238E27FC236}">
                <a16:creationId xmlns:a16="http://schemas.microsoft.com/office/drawing/2014/main" id="{AAC1A998-7F88-8C15-3719-FCDEE359F591}"/>
              </a:ext>
            </a:extLst>
          </p:cNvPr>
          <p:cNvSpPr/>
          <p:nvPr/>
        </p:nvSpPr>
        <p:spPr>
          <a:xfrm>
            <a:off x="4626101" y="4736745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1045;p63">
            <a:extLst>
              <a:ext uri="{FF2B5EF4-FFF2-40B4-BE49-F238E27FC236}">
                <a16:creationId xmlns:a16="http://schemas.microsoft.com/office/drawing/2014/main" id="{EC1375E7-7FE4-ECF2-671F-C71999732913}"/>
              </a:ext>
            </a:extLst>
          </p:cNvPr>
          <p:cNvSpPr/>
          <p:nvPr/>
        </p:nvSpPr>
        <p:spPr>
          <a:xfrm>
            <a:off x="7740201" y="4080408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046;p63">
            <a:extLst>
              <a:ext uri="{FF2B5EF4-FFF2-40B4-BE49-F238E27FC236}">
                <a16:creationId xmlns:a16="http://schemas.microsoft.com/office/drawing/2014/main" id="{E1D9F4CB-8A04-5899-CF4E-F6E09CBB6103}"/>
              </a:ext>
            </a:extLst>
          </p:cNvPr>
          <p:cNvSpPr/>
          <p:nvPr/>
        </p:nvSpPr>
        <p:spPr>
          <a:xfrm>
            <a:off x="9579076" y="4080408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1047;p63">
            <a:extLst>
              <a:ext uri="{FF2B5EF4-FFF2-40B4-BE49-F238E27FC236}">
                <a16:creationId xmlns:a16="http://schemas.microsoft.com/office/drawing/2014/main" id="{4CF685BF-B889-630C-383D-A6105C33A884}"/>
              </a:ext>
            </a:extLst>
          </p:cNvPr>
          <p:cNvSpPr/>
          <p:nvPr/>
        </p:nvSpPr>
        <p:spPr>
          <a:xfrm>
            <a:off x="10874501" y="4080408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" name="Google Shape;1048;p63">
            <a:extLst>
              <a:ext uri="{FF2B5EF4-FFF2-40B4-BE49-F238E27FC236}">
                <a16:creationId xmlns:a16="http://schemas.microsoft.com/office/drawing/2014/main" id="{D77C9288-FE95-2ECD-3FAE-130CDB39712A}"/>
              </a:ext>
            </a:extLst>
          </p:cNvPr>
          <p:cNvCxnSpPr/>
          <p:nvPr/>
        </p:nvCxnSpPr>
        <p:spPr>
          <a:xfrm>
            <a:off x="5922401" y="4385218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9" name="Google Shape;1049;p63">
            <a:extLst>
              <a:ext uri="{FF2B5EF4-FFF2-40B4-BE49-F238E27FC236}">
                <a16:creationId xmlns:a16="http://schemas.microsoft.com/office/drawing/2014/main" id="{DBC32801-7FA8-CD5E-7B42-89F89D5F35BF}"/>
              </a:ext>
            </a:extLst>
          </p:cNvPr>
          <p:cNvCxnSpPr/>
          <p:nvPr/>
        </p:nvCxnSpPr>
        <p:spPr>
          <a:xfrm>
            <a:off x="9580001" y="3775618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0" name="Google Shape;1050;p63">
            <a:extLst>
              <a:ext uri="{FF2B5EF4-FFF2-40B4-BE49-F238E27FC236}">
                <a16:creationId xmlns:a16="http://schemas.microsoft.com/office/drawing/2014/main" id="{FB6D4F23-B432-939C-FEE9-F605D61E40A2}"/>
              </a:ext>
            </a:extLst>
          </p:cNvPr>
          <p:cNvCxnSpPr/>
          <p:nvPr/>
        </p:nvCxnSpPr>
        <p:spPr>
          <a:xfrm>
            <a:off x="10875401" y="3775618"/>
            <a:ext cx="3054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1" name="Google Shape;1051;p63">
            <a:extLst>
              <a:ext uri="{FF2B5EF4-FFF2-40B4-BE49-F238E27FC236}">
                <a16:creationId xmlns:a16="http://schemas.microsoft.com/office/drawing/2014/main" id="{7C5A6E5E-CDA7-F98D-E387-47F21497F6B0}"/>
              </a:ext>
            </a:extLst>
          </p:cNvPr>
          <p:cNvCxnSpPr/>
          <p:nvPr/>
        </p:nvCxnSpPr>
        <p:spPr>
          <a:xfrm rot="10800000" flipH="1">
            <a:off x="7691201" y="3775618"/>
            <a:ext cx="364800" cy="1452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32" name="Google Shape;1053;p63">
            <a:extLst>
              <a:ext uri="{FF2B5EF4-FFF2-40B4-BE49-F238E27FC236}">
                <a16:creationId xmlns:a16="http://schemas.microsoft.com/office/drawing/2014/main" id="{86C5E710-02FE-54A1-C406-D75CC4D2C1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1580385"/>
              </p:ext>
            </p:extLst>
          </p:nvPr>
        </p:nvGraphicFramePr>
        <p:xfrm>
          <a:off x="5855683" y="32789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S1's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S2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Google Shape;1054;p63">
            <a:extLst>
              <a:ext uri="{FF2B5EF4-FFF2-40B4-BE49-F238E27FC236}">
                <a16:creationId xmlns:a16="http://schemas.microsoft.com/office/drawing/2014/main" id="{5414A2E9-BF21-A886-DC49-419ACEE7AF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585688"/>
              </p:ext>
            </p:extLst>
          </p:nvPr>
        </p:nvGraphicFramePr>
        <p:xfrm>
          <a:off x="7684483" y="26693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S2's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S1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Google Shape;1055;p63">
            <a:extLst>
              <a:ext uri="{FF2B5EF4-FFF2-40B4-BE49-F238E27FC236}">
                <a16:creationId xmlns:a16="http://schemas.microsoft.com/office/drawing/2014/main" id="{F880EC49-428B-B9A2-6686-C47472F453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547046"/>
              </p:ext>
            </p:extLst>
          </p:nvPr>
        </p:nvGraphicFramePr>
        <p:xfrm>
          <a:off x="9513258" y="2669318"/>
          <a:ext cx="1200275" cy="877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S3's Table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S2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Google Shape;1056;p63">
            <a:extLst>
              <a:ext uri="{FF2B5EF4-FFF2-40B4-BE49-F238E27FC236}">
                <a16:creationId xmlns:a16="http://schemas.microsoft.com/office/drawing/2014/main" id="{7C9B5863-C124-09FA-94A4-02A2B05694F3}"/>
              </a:ext>
            </a:extLst>
          </p:cNvPr>
          <p:cNvSpPr/>
          <p:nvPr/>
        </p:nvSpPr>
        <p:spPr>
          <a:xfrm>
            <a:off x="5921501" y="4736745"/>
            <a:ext cx="1068600" cy="237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3445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102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latin typeface="+mn-lt"/>
                <a:ea typeface="ＭＳ Ｐゴシック" charset="0"/>
              </a:rPr>
              <a:t>Self-Learning and Forwarding Algorithm</a:t>
            </a:r>
            <a:endParaRPr lang="en-US" sz="4400" b="0" dirty="0">
              <a:latin typeface="+mn-lt"/>
            </a:endParaRPr>
          </a:p>
        </p:txBody>
      </p:sp>
      <p:sp>
        <p:nvSpPr>
          <p:cNvPr id="74" name="Rectangle 3">
            <a:extLst>
              <a:ext uri="{FF2B5EF4-FFF2-40B4-BE49-F238E27FC236}">
                <a16:creationId xmlns:a16="http://schemas.microsoft.com/office/drawing/2014/main" id="{9D301D7F-691E-9442-B7E1-16D484F2E6B3}"/>
              </a:ext>
            </a:extLst>
          </p:cNvPr>
          <p:cNvSpPr txBox="1">
            <a:spLocks noChangeArrowheads="1"/>
          </p:cNvSpPr>
          <p:nvPr/>
        </p:nvSpPr>
        <p:spPr>
          <a:xfrm>
            <a:off x="57442" y="1753408"/>
            <a:ext cx="7234610" cy="47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None/>
              <a:defRPr/>
            </a:pPr>
            <a:r>
              <a:rPr lang="en-US" sz="2200" i="1" dirty="0">
                <a:solidFill>
                  <a:prstClr val="black"/>
                </a:solidFill>
              </a:rPr>
              <a:t>Step 1: </a:t>
            </a:r>
            <a:r>
              <a:rPr lang="en-US" sz="2200" i="1" dirty="0">
                <a:solidFill>
                  <a:srgbClr val="C00000"/>
                </a:solidFill>
              </a:rPr>
              <a:t>Learn</a:t>
            </a:r>
            <a:r>
              <a:rPr lang="en-US" sz="2200" i="1" dirty="0">
                <a:solidFill>
                  <a:prstClr val="black"/>
                </a:solidFill>
              </a:rPr>
              <a:t> (from source MAC)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</a:rPr>
              <a:t>Record incoming port and source MAC address in table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sz="2000" dirty="0">
                <a:solidFill>
                  <a:prstClr val="black"/>
                </a:solidFill>
              </a:rPr>
              <a:t>“</a:t>
            </a:r>
            <a:r>
              <a:rPr lang="en-US" sz="2000" dirty="0" err="1">
                <a:solidFill>
                  <a:prstClr val="black"/>
                </a:solidFill>
              </a:rPr>
              <a:t>MAC_source_addr</a:t>
            </a:r>
            <a:r>
              <a:rPr lang="en-US" sz="2000" dirty="0">
                <a:solidFill>
                  <a:prstClr val="black"/>
                </a:solidFill>
              </a:rPr>
              <a:t> is reachable via port X”</a:t>
            </a:r>
          </a:p>
          <a:p>
            <a:pPr marL="130175" indent="0">
              <a:spcAft>
                <a:spcPts val="600"/>
              </a:spcAft>
              <a:buClrTx/>
              <a:buNone/>
              <a:defRPr/>
            </a:pPr>
            <a:r>
              <a:rPr lang="en-US" sz="2200" i="1" dirty="0">
                <a:solidFill>
                  <a:prstClr val="black"/>
                </a:solidFill>
              </a:rPr>
              <a:t>Step 2: </a:t>
            </a:r>
            <a:r>
              <a:rPr lang="en-US" sz="2200" i="1" dirty="0">
                <a:solidFill>
                  <a:srgbClr val="C00000"/>
                </a:solidFill>
              </a:rPr>
              <a:t>Forward</a:t>
            </a:r>
            <a:r>
              <a:rPr lang="en-US" sz="2200" i="1" dirty="0">
                <a:solidFill>
                  <a:prstClr val="black"/>
                </a:solidFill>
              </a:rPr>
              <a:t> (using destination MAC)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</a:rPr>
              <a:t>Look up destination MAC address in table</a:t>
            </a:r>
          </a:p>
          <a:p>
            <a:pPr marL="130175" indent="0">
              <a:spcAft>
                <a:spcPts val="600"/>
              </a:spcAft>
              <a:buClrTx/>
              <a:buNone/>
              <a:defRPr/>
            </a:pPr>
            <a:r>
              <a:rPr lang="en-US" sz="2200" dirty="0">
                <a:solidFill>
                  <a:prstClr val="black"/>
                </a:solidFill>
              </a:rPr>
              <a:t>Step 3: Forwarding decision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200" b="1" i="1" dirty="0">
                <a:solidFill>
                  <a:prstClr val="black"/>
                </a:solidFill>
              </a:rPr>
              <a:t>if</a:t>
            </a:r>
            <a:r>
              <a:rPr lang="en-US" sz="2200" dirty="0">
                <a:solidFill>
                  <a:prstClr val="black"/>
                </a:solidFill>
              </a:rPr>
              <a:t> entry found for destination: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sz="2000" dirty="0">
                <a:solidFill>
                  <a:prstClr val="black"/>
                </a:solidFill>
              </a:rPr>
              <a:t>forward frame out the port indicated in table entry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200" b="1" i="1" dirty="0">
                <a:solidFill>
                  <a:prstClr val="black"/>
                </a:solidFill>
              </a:rPr>
              <a:t>else</a:t>
            </a:r>
            <a:r>
              <a:rPr lang="en-US" sz="2200" dirty="0">
                <a:solidFill>
                  <a:prstClr val="black"/>
                </a:solidFill>
              </a:rPr>
              <a:t> (destination unknown): </a:t>
            </a:r>
          </a:p>
          <a:p>
            <a:pPr lvl="1">
              <a:spcAft>
                <a:spcPts val="600"/>
              </a:spcAft>
              <a:buClrTx/>
              <a:defRPr/>
            </a:pPr>
            <a:r>
              <a:rPr lang="en-US" sz="2200" dirty="0">
                <a:solidFill>
                  <a:prstClr val="black"/>
                </a:solidFill>
              </a:rPr>
              <a:t>flood </a:t>
            </a:r>
            <a:r>
              <a:rPr lang="en-US" sz="22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en-US" sz="2200" dirty="0">
                <a:solidFill>
                  <a:prstClr val="black"/>
                </a:solidFill>
              </a:rPr>
              <a:t> forward on all ports except arriving port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69CE8-AC84-861E-AB93-E5B59A80D2EF}"/>
              </a:ext>
            </a:extLst>
          </p:cNvPr>
          <p:cNvSpPr txBox="1"/>
          <p:nvPr/>
        </p:nvSpPr>
        <p:spPr>
          <a:xfrm>
            <a:off x="0" y="1168576"/>
            <a:ext cx="42468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When frame received at switch: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9BEEC0F-F377-54E1-8DF5-CF609891D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622" y="2692090"/>
            <a:ext cx="5042615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source MAC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build 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Forwarding: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destination MAC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make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Plug-and-play: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configuration needed, learns automatically </a:t>
            </a:r>
          </a:p>
        </p:txBody>
      </p:sp>
    </p:spTree>
    <p:extLst>
      <p:ext uri="{BB962C8B-B14F-4D97-AF65-F5344CB8AC3E}">
        <p14:creationId xmlns:p14="http://schemas.microsoft.com/office/powerpoint/2010/main" val="30739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6052-5F07-946F-BB60-0A11518F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A598-0BBF-6E63-AAF9-573E58F20337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707417B-2298-03A2-7C46-9DC4ADC4C114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 2 Networks</a:t>
            </a: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Switches and Self-learning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157109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9EEC4-D76E-9FB8-65A9-2F783525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EAA6F8D6-E033-986C-AF99-A5DA8A8F18C8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ARP: Connect Layer 2 and Layer 3</a:t>
            </a:r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8BE65-A50B-8B07-47B1-DC7B012D0740}"/>
              </a:ext>
            </a:extLst>
          </p:cNvPr>
          <p:cNvSpPr txBox="1"/>
          <p:nvPr/>
        </p:nvSpPr>
        <p:spPr>
          <a:xfrm>
            <a:off x="405507" y="1300841"/>
            <a:ext cx="7760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Recall: Packet gets passed down the stack, picking up more headers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Layer 3 fills in the IP addresses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Then, Layer 2 needs to fill in the MAC addresses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C84D7C-F800-E0A3-2E7A-DCEA118B51CB}"/>
              </a:ext>
            </a:extLst>
          </p:cNvPr>
          <p:cNvSpPr txBox="1"/>
          <p:nvPr/>
        </p:nvSpPr>
        <p:spPr>
          <a:xfrm>
            <a:off x="804793" y="3804918"/>
            <a:ext cx="90198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If the destination IP is in our local network: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Find the </a:t>
            </a:r>
            <a:r>
              <a:rPr lang="en-US" sz="2000" b="1" i="1" dirty="0">
                <a:solidFill>
                  <a:srgbClr val="C00000"/>
                </a:solidFill>
              </a:rPr>
              <a:t>destination's</a:t>
            </a:r>
            <a:r>
              <a:rPr lang="en-US" sz="2000" dirty="0"/>
              <a:t> MAC address, and send to destination on Layer 2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If the destination IP is </a:t>
            </a:r>
            <a:r>
              <a:rPr lang="en-US" sz="2000" i="1" dirty="0"/>
              <a:t>not</a:t>
            </a:r>
            <a:r>
              <a:rPr lang="en-US" sz="2000" dirty="0"/>
              <a:t> in our local network: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Find the </a:t>
            </a:r>
            <a:r>
              <a:rPr lang="en-US" sz="2000" b="1" i="1" dirty="0">
                <a:solidFill>
                  <a:srgbClr val="C00000"/>
                </a:solidFill>
              </a:rPr>
              <a:t>router's</a:t>
            </a:r>
            <a:r>
              <a:rPr lang="en-US" sz="2000" dirty="0"/>
              <a:t> MAC address, and </a:t>
            </a:r>
            <a:r>
              <a:rPr lang="en-US" sz="2000" b="1" i="1" dirty="0">
                <a:solidFill>
                  <a:srgbClr val="C00000"/>
                </a:solidFill>
              </a:rPr>
              <a:t>send to the router </a:t>
            </a:r>
            <a:r>
              <a:rPr lang="en-US" sz="2000" dirty="0"/>
              <a:t>on Layer 2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Router can forward our packet toward the destination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1C506A-BB0A-682E-6996-F72CFFBC0CFA}"/>
              </a:ext>
            </a:extLst>
          </p:cNvPr>
          <p:cNvGrpSpPr/>
          <p:nvPr/>
        </p:nvGrpSpPr>
        <p:grpSpPr>
          <a:xfrm>
            <a:off x="7328062" y="1194517"/>
            <a:ext cx="4513433" cy="3103421"/>
            <a:chOff x="6992107" y="3694914"/>
            <a:chExt cx="4513433" cy="3103421"/>
          </a:xfrm>
        </p:grpSpPr>
        <p:sp>
          <p:nvSpPr>
            <p:cNvPr id="2" name="Google Shape;158;p26">
              <a:extLst>
                <a:ext uri="{FF2B5EF4-FFF2-40B4-BE49-F238E27FC236}">
                  <a16:creationId xmlns:a16="http://schemas.microsoft.com/office/drawing/2014/main" id="{F9707F42-D1E6-865F-7399-BF80E9B1A290}"/>
                </a:ext>
              </a:extLst>
            </p:cNvPr>
            <p:cNvSpPr/>
            <p:nvPr/>
          </p:nvSpPr>
          <p:spPr>
            <a:xfrm>
              <a:off x="9168983" y="6104253"/>
              <a:ext cx="2336557" cy="694082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Payload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59;p26">
              <a:extLst>
                <a:ext uri="{FF2B5EF4-FFF2-40B4-BE49-F238E27FC236}">
                  <a16:creationId xmlns:a16="http://schemas.microsoft.com/office/drawing/2014/main" id="{3BAAFAFF-8539-1A2F-384F-457A614E121A}"/>
                </a:ext>
              </a:extLst>
            </p:cNvPr>
            <p:cNvSpPr/>
            <p:nvPr/>
          </p:nvSpPr>
          <p:spPr>
            <a:xfrm>
              <a:off x="9168983" y="5662626"/>
              <a:ext cx="2336557" cy="441627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Server's IP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61;p26">
              <a:extLst>
                <a:ext uri="{FF2B5EF4-FFF2-40B4-BE49-F238E27FC236}">
                  <a16:creationId xmlns:a16="http://schemas.microsoft.com/office/drawing/2014/main" id="{54C58A5F-F412-AFCE-6D8C-52820742A8CB}"/>
                </a:ext>
              </a:extLst>
            </p:cNvPr>
            <p:cNvSpPr/>
            <p:nvPr/>
          </p:nvSpPr>
          <p:spPr>
            <a:xfrm>
              <a:off x="9168983" y="5220999"/>
              <a:ext cx="2336557" cy="441627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My IP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62;p26">
              <a:extLst>
                <a:ext uri="{FF2B5EF4-FFF2-40B4-BE49-F238E27FC236}">
                  <a16:creationId xmlns:a16="http://schemas.microsoft.com/office/drawing/2014/main" id="{3B6AB969-66A4-FAFB-C08E-101694D431CF}"/>
                </a:ext>
              </a:extLst>
            </p:cNvPr>
            <p:cNvSpPr/>
            <p:nvPr/>
          </p:nvSpPr>
          <p:spPr>
            <a:xfrm>
              <a:off x="9168983" y="4779371"/>
              <a:ext cx="2336557" cy="4416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???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63;p26">
              <a:extLst>
                <a:ext uri="{FF2B5EF4-FFF2-40B4-BE49-F238E27FC236}">
                  <a16:creationId xmlns:a16="http://schemas.microsoft.com/office/drawing/2014/main" id="{E4DB8EC2-522A-87D2-947D-CE2B5EDC3DAD}"/>
                </a:ext>
              </a:extLst>
            </p:cNvPr>
            <p:cNvSpPr/>
            <p:nvPr/>
          </p:nvSpPr>
          <p:spPr>
            <a:xfrm>
              <a:off x="9168983" y="4337744"/>
              <a:ext cx="2336557" cy="4416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My MAC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164;p26">
              <a:extLst>
                <a:ext uri="{FF2B5EF4-FFF2-40B4-BE49-F238E27FC236}">
                  <a16:creationId xmlns:a16="http://schemas.microsoft.com/office/drawing/2014/main" id="{9DA77864-666F-F550-3A61-040D8ADC02A6}"/>
                </a:ext>
              </a:extLst>
            </p:cNvPr>
            <p:cNvSpPr txBox="1"/>
            <p:nvPr/>
          </p:nvSpPr>
          <p:spPr>
            <a:xfrm>
              <a:off x="6992107" y="5653849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Destination IP: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165;p26">
              <a:extLst>
                <a:ext uri="{FF2B5EF4-FFF2-40B4-BE49-F238E27FC236}">
                  <a16:creationId xmlns:a16="http://schemas.microsoft.com/office/drawing/2014/main" id="{79AED5C0-EB67-D271-DC8C-BB436926B7A2}"/>
                </a:ext>
              </a:extLst>
            </p:cNvPr>
            <p:cNvSpPr txBox="1"/>
            <p:nvPr/>
          </p:nvSpPr>
          <p:spPr>
            <a:xfrm>
              <a:off x="6992107" y="5212226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Source IP: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166;p26">
              <a:extLst>
                <a:ext uri="{FF2B5EF4-FFF2-40B4-BE49-F238E27FC236}">
                  <a16:creationId xmlns:a16="http://schemas.microsoft.com/office/drawing/2014/main" id="{09F549AE-B49C-F65C-D4F5-F0E3A4FC8F43}"/>
                </a:ext>
              </a:extLst>
            </p:cNvPr>
            <p:cNvSpPr txBox="1"/>
            <p:nvPr/>
          </p:nvSpPr>
          <p:spPr>
            <a:xfrm>
              <a:off x="6992107" y="4779368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Destination MAC: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67;p26">
              <a:extLst>
                <a:ext uri="{FF2B5EF4-FFF2-40B4-BE49-F238E27FC236}">
                  <a16:creationId xmlns:a16="http://schemas.microsoft.com/office/drawing/2014/main" id="{A2E9A806-493A-6397-BD2F-9C695876C729}"/>
                </a:ext>
              </a:extLst>
            </p:cNvPr>
            <p:cNvSpPr txBox="1"/>
            <p:nvPr/>
          </p:nvSpPr>
          <p:spPr>
            <a:xfrm>
              <a:off x="6992107" y="4337744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Source MAC: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69;p26">
              <a:extLst>
                <a:ext uri="{FF2B5EF4-FFF2-40B4-BE49-F238E27FC236}">
                  <a16:creationId xmlns:a16="http://schemas.microsoft.com/office/drawing/2014/main" id="{3C1F0C02-0A3E-DFD7-84AE-73B57D6968E5}"/>
                </a:ext>
              </a:extLst>
            </p:cNvPr>
            <p:cNvSpPr txBox="1"/>
            <p:nvPr/>
          </p:nvSpPr>
          <p:spPr>
            <a:xfrm>
              <a:off x="9380556" y="3694914"/>
              <a:ext cx="191340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What goes here?</a:t>
              </a:r>
              <a:endParaRPr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E02D579D-0849-2796-E709-34C37218F159}"/>
                </a:ext>
              </a:extLst>
            </p:cNvPr>
            <p:cNvCxnSpPr>
              <a:cxnSpLocks/>
              <a:stCxn id="17" idx="3"/>
              <a:endCxn id="10" idx="3"/>
            </p:cNvCxnSpPr>
            <p:nvPr/>
          </p:nvCxnSpPr>
          <p:spPr>
            <a:xfrm>
              <a:off x="11293965" y="3925732"/>
              <a:ext cx="211575" cy="1074453"/>
            </a:xfrm>
            <a:prstGeom prst="bentConnector3">
              <a:avLst>
                <a:gd name="adj1" fmla="val 208047"/>
              </a:avLst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6D77EDD-1387-29BB-5307-78AD6C72A7A8}"/>
              </a:ext>
            </a:extLst>
          </p:cNvPr>
          <p:cNvSpPr txBox="1"/>
          <p:nvPr/>
        </p:nvSpPr>
        <p:spPr>
          <a:xfrm>
            <a:off x="405507" y="3162524"/>
            <a:ext cx="6094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i="1" u="sng" dirty="0">
                <a:solidFill>
                  <a:srgbClr val="C00000"/>
                </a:solidFill>
              </a:rPr>
              <a:t>Q: </a:t>
            </a:r>
            <a:r>
              <a:rPr lang="en-US" altLang="zh-CN" sz="2200" dirty="0"/>
              <a:t>How to fill in the </a:t>
            </a:r>
            <a:r>
              <a:rPr lang="en-US" sz="2200" dirty="0"/>
              <a:t>destination MAC address?</a:t>
            </a:r>
          </a:p>
        </p:txBody>
      </p:sp>
    </p:spTree>
    <p:extLst>
      <p:ext uri="{BB962C8B-B14F-4D97-AF65-F5344CB8AC3E}">
        <p14:creationId xmlns:p14="http://schemas.microsoft.com/office/powerpoint/2010/main" val="100077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09DA-C494-0105-690A-D8E749AD5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09C2D7-1259-75F1-8B96-D85B9201B085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ARP: Connect Layer 2 and Layer 3</a:t>
            </a:r>
            <a:endParaRPr lang="en-US" dirty="0">
              <a:latin typeface="+mn-lt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43CB937-62E5-C6C1-C9E5-E1BAFBB45C6C}"/>
              </a:ext>
            </a:extLst>
          </p:cNvPr>
          <p:cNvGrpSpPr/>
          <p:nvPr/>
        </p:nvGrpSpPr>
        <p:grpSpPr>
          <a:xfrm>
            <a:off x="7300561" y="2733575"/>
            <a:ext cx="4513433" cy="3103421"/>
            <a:chOff x="6992107" y="3694914"/>
            <a:chExt cx="4513433" cy="3103421"/>
          </a:xfrm>
        </p:grpSpPr>
        <p:sp>
          <p:nvSpPr>
            <p:cNvPr id="2" name="Google Shape;158;p26">
              <a:extLst>
                <a:ext uri="{FF2B5EF4-FFF2-40B4-BE49-F238E27FC236}">
                  <a16:creationId xmlns:a16="http://schemas.microsoft.com/office/drawing/2014/main" id="{B4420497-1930-580C-99E1-2D7269C9C3A0}"/>
                </a:ext>
              </a:extLst>
            </p:cNvPr>
            <p:cNvSpPr/>
            <p:nvPr/>
          </p:nvSpPr>
          <p:spPr>
            <a:xfrm>
              <a:off x="9168983" y="6104253"/>
              <a:ext cx="2336557" cy="694082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Payload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59;p26">
              <a:extLst>
                <a:ext uri="{FF2B5EF4-FFF2-40B4-BE49-F238E27FC236}">
                  <a16:creationId xmlns:a16="http://schemas.microsoft.com/office/drawing/2014/main" id="{5582208D-13BD-9993-82CB-9CB50625F502}"/>
                </a:ext>
              </a:extLst>
            </p:cNvPr>
            <p:cNvSpPr/>
            <p:nvPr/>
          </p:nvSpPr>
          <p:spPr>
            <a:xfrm>
              <a:off x="9168983" y="5662626"/>
              <a:ext cx="2336557" cy="441627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Server's IP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61;p26">
              <a:extLst>
                <a:ext uri="{FF2B5EF4-FFF2-40B4-BE49-F238E27FC236}">
                  <a16:creationId xmlns:a16="http://schemas.microsoft.com/office/drawing/2014/main" id="{A4BFDDEA-5006-0915-FFED-00DC35B29765}"/>
                </a:ext>
              </a:extLst>
            </p:cNvPr>
            <p:cNvSpPr/>
            <p:nvPr/>
          </p:nvSpPr>
          <p:spPr>
            <a:xfrm>
              <a:off x="9168983" y="5220999"/>
              <a:ext cx="2336557" cy="441627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My IP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62;p26">
              <a:extLst>
                <a:ext uri="{FF2B5EF4-FFF2-40B4-BE49-F238E27FC236}">
                  <a16:creationId xmlns:a16="http://schemas.microsoft.com/office/drawing/2014/main" id="{BAE2C044-30DC-63A8-E01E-71F9CF3E6872}"/>
                </a:ext>
              </a:extLst>
            </p:cNvPr>
            <p:cNvSpPr/>
            <p:nvPr/>
          </p:nvSpPr>
          <p:spPr>
            <a:xfrm>
              <a:off x="9168983" y="4779371"/>
              <a:ext cx="2336557" cy="4416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???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63;p26">
              <a:extLst>
                <a:ext uri="{FF2B5EF4-FFF2-40B4-BE49-F238E27FC236}">
                  <a16:creationId xmlns:a16="http://schemas.microsoft.com/office/drawing/2014/main" id="{07AD2B1E-83CE-31DE-C998-1BCE101F845B}"/>
                </a:ext>
              </a:extLst>
            </p:cNvPr>
            <p:cNvSpPr/>
            <p:nvPr/>
          </p:nvSpPr>
          <p:spPr>
            <a:xfrm>
              <a:off x="9168983" y="4337744"/>
              <a:ext cx="2336557" cy="4416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My MAC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164;p26">
              <a:extLst>
                <a:ext uri="{FF2B5EF4-FFF2-40B4-BE49-F238E27FC236}">
                  <a16:creationId xmlns:a16="http://schemas.microsoft.com/office/drawing/2014/main" id="{2161DABE-0AF3-80BE-3DE9-A1C81F17B768}"/>
                </a:ext>
              </a:extLst>
            </p:cNvPr>
            <p:cNvSpPr txBox="1"/>
            <p:nvPr/>
          </p:nvSpPr>
          <p:spPr>
            <a:xfrm>
              <a:off x="6992107" y="5653849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Destination IP: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165;p26">
              <a:extLst>
                <a:ext uri="{FF2B5EF4-FFF2-40B4-BE49-F238E27FC236}">
                  <a16:creationId xmlns:a16="http://schemas.microsoft.com/office/drawing/2014/main" id="{70C44CD1-CA45-859F-6DBB-3059A1520041}"/>
                </a:ext>
              </a:extLst>
            </p:cNvPr>
            <p:cNvSpPr txBox="1"/>
            <p:nvPr/>
          </p:nvSpPr>
          <p:spPr>
            <a:xfrm>
              <a:off x="6992107" y="5212226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Source IP: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166;p26">
              <a:extLst>
                <a:ext uri="{FF2B5EF4-FFF2-40B4-BE49-F238E27FC236}">
                  <a16:creationId xmlns:a16="http://schemas.microsoft.com/office/drawing/2014/main" id="{570F838C-4E40-DE66-F93F-E895AF602798}"/>
                </a:ext>
              </a:extLst>
            </p:cNvPr>
            <p:cNvSpPr txBox="1"/>
            <p:nvPr/>
          </p:nvSpPr>
          <p:spPr>
            <a:xfrm>
              <a:off x="6992107" y="4779368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Destination MAC: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67;p26">
              <a:extLst>
                <a:ext uri="{FF2B5EF4-FFF2-40B4-BE49-F238E27FC236}">
                  <a16:creationId xmlns:a16="http://schemas.microsoft.com/office/drawing/2014/main" id="{F35EC9B3-B5ED-1002-09E9-0D036BA3BA8E}"/>
                </a:ext>
              </a:extLst>
            </p:cNvPr>
            <p:cNvSpPr txBox="1"/>
            <p:nvPr/>
          </p:nvSpPr>
          <p:spPr>
            <a:xfrm>
              <a:off x="6992107" y="4337744"/>
              <a:ext cx="2143477" cy="449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Source MAC: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69;p26">
              <a:extLst>
                <a:ext uri="{FF2B5EF4-FFF2-40B4-BE49-F238E27FC236}">
                  <a16:creationId xmlns:a16="http://schemas.microsoft.com/office/drawing/2014/main" id="{E45198C5-C2F0-95D4-5BCE-A7B8E62DCE60}"/>
                </a:ext>
              </a:extLst>
            </p:cNvPr>
            <p:cNvSpPr txBox="1"/>
            <p:nvPr/>
          </p:nvSpPr>
          <p:spPr>
            <a:xfrm>
              <a:off x="9380556" y="3694914"/>
              <a:ext cx="191340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What goes here?</a:t>
              </a:r>
              <a:endParaRPr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BB8D3108-E102-6D15-652E-45D8CAE8D958}"/>
                </a:ext>
              </a:extLst>
            </p:cNvPr>
            <p:cNvCxnSpPr>
              <a:cxnSpLocks/>
              <a:stCxn id="17" idx="3"/>
              <a:endCxn id="10" idx="3"/>
            </p:cNvCxnSpPr>
            <p:nvPr/>
          </p:nvCxnSpPr>
          <p:spPr>
            <a:xfrm>
              <a:off x="11293965" y="3925732"/>
              <a:ext cx="211575" cy="1074453"/>
            </a:xfrm>
            <a:prstGeom prst="bentConnector3">
              <a:avLst>
                <a:gd name="adj1" fmla="val 208047"/>
              </a:avLst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89BB4DF-FE94-CC30-5C1B-FB047202293E}"/>
              </a:ext>
            </a:extLst>
          </p:cNvPr>
          <p:cNvSpPr txBox="1"/>
          <p:nvPr/>
        </p:nvSpPr>
        <p:spPr>
          <a:xfrm>
            <a:off x="1290441" y="1027158"/>
            <a:ext cx="9611117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200" b="1" i="1" u="sng" dirty="0">
                <a:solidFill>
                  <a:srgbClr val="C00000"/>
                </a:solidFill>
              </a:rPr>
              <a:t>Q: </a:t>
            </a:r>
            <a:r>
              <a:rPr lang="en-US" altLang="zh-CN" sz="2200" dirty="0"/>
              <a:t>How do we send packets to the destination (local) or the router (non-local)?</a:t>
            </a:r>
          </a:p>
          <a:p>
            <a:pPr>
              <a:spcAft>
                <a:spcPts val="600"/>
              </a:spcAft>
            </a:pPr>
            <a:endParaRPr lang="en-US" altLang="zh-CN" sz="500" dirty="0"/>
          </a:p>
          <a:p>
            <a:pPr>
              <a:spcAft>
                <a:spcPts val="600"/>
              </a:spcAft>
            </a:pPr>
            <a:r>
              <a:rPr lang="en-US" altLang="zh-CN" sz="2200" b="1" i="1" u="sng" dirty="0">
                <a:solidFill>
                  <a:srgbClr val="C00000"/>
                </a:solidFill>
              </a:rPr>
              <a:t>A: </a:t>
            </a:r>
            <a:r>
              <a:rPr lang="en-US" altLang="zh-CN" sz="2200" dirty="0"/>
              <a:t>We need some way to translate IP addresses to MAC addresses.</a:t>
            </a:r>
          </a:p>
        </p:txBody>
      </p:sp>
      <p:sp>
        <p:nvSpPr>
          <p:cNvPr id="5" name="Google Shape;209;p29">
            <a:extLst>
              <a:ext uri="{FF2B5EF4-FFF2-40B4-BE49-F238E27FC236}">
                <a16:creationId xmlns:a16="http://schemas.microsoft.com/office/drawing/2014/main" id="{AA127604-B423-DFFA-5101-D79A51498B49}"/>
              </a:ext>
            </a:extLst>
          </p:cNvPr>
          <p:cNvSpPr txBox="1">
            <a:spLocks/>
          </p:cNvSpPr>
          <p:nvPr/>
        </p:nvSpPr>
        <p:spPr>
          <a:xfrm>
            <a:off x="107051" y="2354959"/>
            <a:ext cx="7393780" cy="4240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ARP</a:t>
            </a:r>
            <a:r>
              <a:rPr lang="en-US" sz="2000" dirty="0"/>
              <a:t> translates Layer 3 IP addresses to Layer 2 MAC addresses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Example: Alice knows Bob's IP address is 1.2.3.4</a:t>
            </a:r>
            <a:br>
              <a:rPr lang="en-US" sz="2000" dirty="0"/>
            </a:br>
            <a:r>
              <a:rPr lang="en-US" sz="2000" dirty="0"/>
              <a:t>	       She wants to know Bob's MAC address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Steps of the protocol: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000" dirty="0"/>
              <a:t>Alice checks her </a:t>
            </a:r>
            <a:r>
              <a:rPr lang="en-US" sz="2000" b="1" i="1" dirty="0"/>
              <a:t>cache</a:t>
            </a:r>
            <a:r>
              <a:rPr lang="en-US" sz="2000" dirty="0"/>
              <a:t> (ARP table) to see if she already knows Bob's MAC address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000" dirty="0"/>
              <a:t>If Bob's MAC address is not in the cache, Alice </a:t>
            </a:r>
            <a:r>
              <a:rPr lang="en-US" sz="2000" b="1" dirty="0">
                <a:solidFill>
                  <a:srgbClr val="C00000"/>
                </a:solidFill>
              </a:rPr>
              <a:t>broadcasts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"What is the MAC address of 1.2.3.4?"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000" dirty="0"/>
              <a:t>Bob responds by unicasting to Alice:</a:t>
            </a:r>
            <a:br>
              <a:rPr lang="en-US" sz="2000" dirty="0"/>
            </a:br>
            <a:r>
              <a:rPr lang="en-US" sz="2000" dirty="0"/>
              <a:t>"My IP is 1.2.3.4 and my MAC address is </a:t>
            </a:r>
            <a:r>
              <a:rPr lang="en-US" sz="2000" dirty="0">
                <a:ea typeface="Consolas"/>
                <a:cs typeface="Consolas"/>
                <a:sym typeface="Consolas"/>
              </a:rPr>
              <a:t>ca:fe:f0:0d:be:ef</a:t>
            </a:r>
            <a:r>
              <a:rPr lang="en-US" sz="2000" dirty="0"/>
              <a:t>."</a:t>
            </a:r>
            <a:br>
              <a:rPr lang="en-US" sz="2000" dirty="0"/>
            </a:br>
            <a:r>
              <a:rPr lang="en-US" sz="2000" dirty="0"/>
              <a:t>Everyone else does nothing.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sz="2000" dirty="0"/>
              <a:t>Alice caches the result</a:t>
            </a:r>
          </a:p>
        </p:txBody>
      </p:sp>
    </p:spTree>
    <p:extLst>
      <p:ext uri="{BB962C8B-B14F-4D97-AF65-F5344CB8AC3E}">
        <p14:creationId xmlns:p14="http://schemas.microsoft.com/office/powerpoint/2010/main" val="1889312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71" y="2654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latin typeface="+mn-lt"/>
                <a:ea typeface="ＭＳ Ｐゴシック" charset="0"/>
              </a:rPr>
              <a:t>ARP: </a:t>
            </a:r>
            <a:r>
              <a:rPr lang="en-US" altLang="zh-CN" b="0" kern="0" dirty="0">
                <a:latin typeface="+mn-lt"/>
                <a:ea typeface="ＭＳ Ｐゴシック" charset="0"/>
              </a:rPr>
              <a:t>A</a:t>
            </a:r>
            <a:r>
              <a:rPr lang="en-US" b="0" kern="0" dirty="0">
                <a:latin typeface="+mn-lt"/>
                <a:ea typeface="ＭＳ Ｐゴシック" charset="0"/>
              </a:rPr>
              <a:t>ddress Resolution Protocol</a:t>
            </a:r>
            <a:endParaRPr lang="en-US" sz="4400" b="0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1271A-DBC6-204B-8B80-84096104E623}"/>
              </a:ext>
            </a:extLst>
          </p:cNvPr>
          <p:cNvSpPr txBox="1">
            <a:spLocks noChangeArrowheads="1"/>
          </p:cNvSpPr>
          <p:nvPr/>
        </p:nvSpPr>
        <p:spPr>
          <a:xfrm>
            <a:off x="4939955" y="1805400"/>
            <a:ext cx="6901141" cy="1044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ARP table: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each node (host, router) on LAN has table</a:t>
            </a:r>
          </a:p>
          <a:p>
            <a:pPr marL="0" indent="0">
              <a:buNone/>
              <a:defRPr/>
            </a:pPr>
            <a:r>
              <a:rPr lang="en-US" sz="2200" dirty="0">
                <a:solidFill>
                  <a:prstClr val="black"/>
                </a:solidFill>
              </a:rPr>
              <a:t>                &lt; IP address; MAC address; TTL&gt;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DB7D2E6-BC71-6342-8A7E-D3134900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575" y="941979"/>
            <a:ext cx="110343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+mn-cs"/>
              </a:rPr>
              <a:t>How to determine interface’s MAC address, knowing its IP address?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4E1640-4B0D-3C3F-78DC-CC9D92D745C9}"/>
              </a:ext>
            </a:extLst>
          </p:cNvPr>
          <p:cNvGrpSpPr/>
          <p:nvPr/>
        </p:nvGrpSpPr>
        <p:grpSpPr>
          <a:xfrm>
            <a:off x="276263" y="2327571"/>
            <a:ext cx="4847955" cy="3126202"/>
            <a:chOff x="43830" y="2313387"/>
            <a:chExt cx="4847955" cy="312620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6F90A8E-A97F-4B47-8617-1E0B801A3FBF}"/>
                </a:ext>
              </a:extLst>
            </p:cNvPr>
            <p:cNvGrpSpPr/>
            <p:nvPr/>
          </p:nvGrpSpPr>
          <p:grpSpPr>
            <a:xfrm>
              <a:off x="43830" y="2639722"/>
              <a:ext cx="4847955" cy="2799867"/>
              <a:chOff x="3970059" y="2973174"/>
              <a:chExt cx="6053187" cy="3638349"/>
            </a:xfrm>
          </p:grpSpPr>
          <p:sp>
            <p:nvSpPr>
              <p:cNvPr id="51" name="Line 19">
                <a:extLst>
                  <a:ext uri="{FF2B5EF4-FFF2-40B4-BE49-F238E27FC236}">
                    <a16:creationId xmlns:a16="http://schemas.microsoft.com/office/drawing/2014/main" id="{EFCCF237-D462-A848-A2F9-0B5DDED1E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1134" y="4423877"/>
                <a:ext cx="901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2" name="Line 20">
                <a:extLst>
                  <a:ext uri="{FF2B5EF4-FFF2-40B4-BE49-F238E27FC236}">
                    <a16:creationId xmlns:a16="http://schemas.microsoft.com/office/drawing/2014/main" id="{26F73C0C-F34D-EB41-919F-BDF66A1E5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35625" y="3504024"/>
                <a:ext cx="0" cy="6556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3" name="Line 22">
                <a:extLst>
                  <a:ext uri="{FF2B5EF4-FFF2-40B4-BE49-F238E27FC236}">
                    <a16:creationId xmlns:a16="http://schemas.microsoft.com/office/drawing/2014/main" id="{F5CD6898-8663-6D43-BAA6-A8946A48A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11994" y="5451266"/>
                <a:ext cx="0" cy="4381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4" name="Freeform 8">
                <a:extLst>
                  <a:ext uri="{FF2B5EF4-FFF2-40B4-BE49-F238E27FC236}">
                    <a16:creationId xmlns:a16="http://schemas.microsoft.com/office/drawing/2014/main" id="{BC091F0C-CFB4-544C-B235-9FB23A12B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8337" y="3746015"/>
                <a:ext cx="2046288" cy="2049462"/>
              </a:xfrm>
              <a:custGeom>
                <a:avLst/>
                <a:gdLst>
                  <a:gd name="T0" fmla="*/ 2147483647 w 1292"/>
                  <a:gd name="T1" fmla="*/ 2147483647 h 1255"/>
                  <a:gd name="T2" fmla="*/ 2147483647 w 1292"/>
                  <a:gd name="T3" fmla="*/ 2147483647 h 1255"/>
                  <a:gd name="T4" fmla="*/ 2147483647 w 1292"/>
                  <a:gd name="T5" fmla="*/ 2147483647 h 1255"/>
                  <a:gd name="T6" fmla="*/ 2147483647 w 1292"/>
                  <a:gd name="T7" fmla="*/ 2147483647 h 1255"/>
                  <a:gd name="T8" fmla="*/ 2147483647 w 1292"/>
                  <a:gd name="T9" fmla="*/ 2147483647 h 1255"/>
                  <a:gd name="T10" fmla="*/ 2147483647 w 1292"/>
                  <a:gd name="T11" fmla="*/ 2147483647 h 1255"/>
                  <a:gd name="T12" fmla="*/ 2147483647 w 1292"/>
                  <a:gd name="T13" fmla="*/ 2147483647 h 1255"/>
                  <a:gd name="T14" fmla="*/ 2147483647 w 1292"/>
                  <a:gd name="T15" fmla="*/ 2147483647 h 1255"/>
                  <a:gd name="T16" fmla="*/ 2147483647 w 1292"/>
                  <a:gd name="T17" fmla="*/ 2147483647 h 1255"/>
                  <a:gd name="T18" fmla="*/ 2147483647 w 1292"/>
                  <a:gd name="T19" fmla="*/ 2147483647 h 1255"/>
                  <a:gd name="T20" fmla="*/ 2147483647 w 1292"/>
                  <a:gd name="T21" fmla="*/ 2147483647 h 1255"/>
                  <a:gd name="T22" fmla="*/ 2147483647 w 1292"/>
                  <a:gd name="T23" fmla="*/ 2147483647 h 125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92" h="1255">
                    <a:moveTo>
                      <a:pt x="239" y="7"/>
                    </a:moveTo>
                    <a:cubicBezTo>
                      <a:pt x="120" y="14"/>
                      <a:pt x="70" y="71"/>
                      <a:pt x="35" y="157"/>
                    </a:cubicBezTo>
                    <a:cubicBezTo>
                      <a:pt x="0" y="243"/>
                      <a:pt x="26" y="411"/>
                      <a:pt x="29" y="523"/>
                    </a:cubicBezTo>
                    <a:cubicBezTo>
                      <a:pt x="32" y="635"/>
                      <a:pt x="17" y="771"/>
                      <a:pt x="53" y="829"/>
                    </a:cubicBezTo>
                    <a:cubicBezTo>
                      <a:pt x="89" y="887"/>
                      <a:pt x="146" y="821"/>
                      <a:pt x="245" y="871"/>
                    </a:cubicBezTo>
                    <a:cubicBezTo>
                      <a:pt x="344" y="921"/>
                      <a:pt x="522" y="1068"/>
                      <a:pt x="647" y="1129"/>
                    </a:cubicBezTo>
                    <a:cubicBezTo>
                      <a:pt x="772" y="1190"/>
                      <a:pt x="903" y="1255"/>
                      <a:pt x="995" y="1237"/>
                    </a:cubicBezTo>
                    <a:cubicBezTo>
                      <a:pt x="1087" y="1219"/>
                      <a:pt x="1153" y="1153"/>
                      <a:pt x="1199" y="1021"/>
                    </a:cubicBezTo>
                    <a:cubicBezTo>
                      <a:pt x="1245" y="889"/>
                      <a:pt x="1270" y="580"/>
                      <a:pt x="1271" y="445"/>
                    </a:cubicBezTo>
                    <a:cubicBezTo>
                      <a:pt x="1272" y="310"/>
                      <a:pt x="1292" y="266"/>
                      <a:pt x="1205" y="211"/>
                    </a:cubicBezTo>
                    <a:cubicBezTo>
                      <a:pt x="1118" y="156"/>
                      <a:pt x="908" y="150"/>
                      <a:pt x="749" y="115"/>
                    </a:cubicBezTo>
                    <a:cubicBezTo>
                      <a:pt x="590" y="80"/>
                      <a:pt x="358" y="0"/>
                      <a:pt x="239" y="7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5" name="Line 21">
                <a:extLst>
                  <a:ext uri="{FF2B5EF4-FFF2-40B4-BE49-F238E27FC236}">
                    <a16:creationId xmlns:a16="http://schemas.microsoft.com/office/drawing/2014/main" id="{1F2D744C-309E-1748-8CEF-A191DA937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599225" y="4472884"/>
                <a:ext cx="79692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6" name="Text Box 24">
                <a:extLst>
                  <a:ext uri="{FF2B5EF4-FFF2-40B4-BE49-F238E27FC236}">
                    <a16:creationId xmlns:a16="http://schemas.microsoft.com/office/drawing/2014/main" id="{CBB39874-5BD1-5D4B-8E31-25BEBA292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43047" y="3460537"/>
                <a:ext cx="1998238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1A-2F-BB-76-09-AD</a:t>
                </a:r>
              </a:p>
            </p:txBody>
          </p:sp>
          <p:sp>
            <p:nvSpPr>
              <p:cNvPr id="57" name="Line 26">
                <a:extLst>
                  <a:ext uri="{FF2B5EF4-FFF2-40B4-BE49-F238E27FC236}">
                    <a16:creationId xmlns:a16="http://schemas.microsoft.com/office/drawing/2014/main" id="{7C2882E3-6473-EB4E-9538-2CCE1D1E6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57727" y="4588902"/>
                <a:ext cx="0" cy="3730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8" name="Text Box 27">
                <a:extLst>
                  <a:ext uri="{FF2B5EF4-FFF2-40B4-BE49-F238E27FC236}">
                    <a16:creationId xmlns:a16="http://schemas.microsoft.com/office/drawing/2014/main" id="{5C7845EB-10F3-1149-A9A1-1A0A55753B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61597" y="4931465"/>
                <a:ext cx="1961649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58-23-D7-FA-20-B0</a:t>
                </a:r>
              </a:p>
            </p:txBody>
          </p:sp>
          <p:sp>
            <p:nvSpPr>
              <p:cNvPr id="59" name="Line 28">
                <a:extLst>
                  <a:ext uri="{FF2B5EF4-FFF2-40B4-BE49-F238E27FC236}">
                    <a16:creationId xmlns:a16="http://schemas.microsoft.com/office/drawing/2014/main" id="{8915AAD7-DFE8-3C4C-854D-2C0B5A246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15181" y="5886035"/>
                <a:ext cx="3603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Text Box 29">
                <a:extLst>
                  <a:ext uri="{FF2B5EF4-FFF2-40B4-BE49-F238E27FC236}">
                    <a16:creationId xmlns:a16="http://schemas.microsoft.com/office/drawing/2014/main" id="{07636FFE-5FCF-0A44-960C-F51BD2EC9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7522" y="5730174"/>
                <a:ext cx="1935869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0C-C4-11-6F-E3-98</a:t>
                </a:r>
              </a:p>
            </p:txBody>
          </p:sp>
          <p:sp>
            <p:nvSpPr>
              <p:cNvPr id="61" name="Line 30">
                <a:extLst>
                  <a:ext uri="{FF2B5EF4-FFF2-40B4-BE49-F238E27FC236}">
                    <a16:creationId xmlns:a16="http://schemas.microsoft.com/office/drawing/2014/main" id="{65842429-83E8-C843-8F18-759730DAB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7634" y="4579452"/>
                <a:ext cx="0" cy="3730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Text Box 31">
                <a:extLst>
                  <a:ext uri="{FF2B5EF4-FFF2-40B4-BE49-F238E27FC236}">
                    <a16:creationId xmlns:a16="http://schemas.microsoft.com/office/drawing/2014/main" id="{7472F3E3-B59C-CE45-A51F-F369BE06C2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0059" y="4954102"/>
                <a:ext cx="1935869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71-65-F7-2B-08-53</a:t>
                </a:r>
              </a:p>
            </p:txBody>
          </p:sp>
          <p:sp>
            <p:nvSpPr>
              <p:cNvPr id="63" name="Text Box 32">
                <a:extLst>
                  <a:ext uri="{FF2B5EF4-FFF2-40B4-BE49-F238E27FC236}">
                    <a16:creationId xmlns:a16="http://schemas.microsoft.com/office/drawing/2014/main" id="{76E01186-F965-E044-8ADB-FE380CAFC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63947" y="4420079"/>
                <a:ext cx="2173356" cy="4799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   LAN</a:t>
                </a:r>
              </a:p>
            </p:txBody>
          </p:sp>
          <p:sp>
            <p:nvSpPr>
              <p:cNvPr id="64" name="Rectangle 37">
                <a:extLst>
                  <a:ext uri="{FF2B5EF4-FFF2-40B4-BE49-F238E27FC236}">
                    <a16:creationId xmlns:a16="http://schemas.microsoft.com/office/drawing/2014/main" id="{54AF773F-51B4-F84F-A15B-941A3EE37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253" y="3505846"/>
                <a:ext cx="16033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65" name="Group 44">
                <a:extLst>
                  <a:ext uri="{FF2B5EF4-FFF2-40B4-BE49-F238E27FC236}">
                    <a16:creationId xmlns:a16="http://schemas.microsoft.com/office/drawing/2014/main" id="{85EE06A5-9204-7B4E-B07F-32BA1B5EDB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82623" y="2973174"/>
                <a:ext cx="812800" cy="658813"/>
                <a:chOff x="-44" y="1473"/>
                <a:chExt cx="981" cy="1105"/>
              </a:xfrm>
            </p:grpSpPr>
            <p:pic>
              <p:nvPicPr>
                <p:cNvPr id="83" name="Picture 45" descr="desktop_computer_stylized_medium">
                  <a:extLst>
                    <a:ext uri="{FF2B5EF4-FFF2-40B4-BE49-F238E27FC236}">
                      <a16:creationId xmlns:a16="http://schemas.microsoft.com/office/drawing/2014/main" id="{23C296A6-6B32-A64A-9411-85507BE075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4" name="Freeform 46">
                  <a:extLst>
                    <a:ext uri="{FF2B5EF4-FFF2-40B4-BE49-F238E27FC236}">
                      <a16:creationId xmlns:a16="http://schemas.microsoft.com/office/drawing/2014/main" id="{42ECB958-418E-FB44-BE70-E256C588C7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66" name="Rectangle 37">
                <a:extLst>
                  <a:ext uri="{FF2B5EF4-FFF2-40B4-BE49-F238E27FC236}">
                    <a16:creationId xmlns:a16="http://schemas.microsoft.com/office/drawing/2014/main" id="{BAB24AC1-02B1-BF40-BED4-B66E7B0C5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749555" y="4292181"/>
                <a:ext cx="16033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7" name="Rectangle 37">
                <a:extLst>
                  <a:ext uri="{FF2B5EF4-FFF2-40B4-BE49-F238E27FC236}">
                    <a16:creationId xmlns:a16="http://schemas.microsoft.com/office/drawing/2014/main" id="{6A5793AF-4220-9B4D-8408-5F7BDDF46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0078" y="5759156"/>
                <a:ext cx="16033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8" name="Rectangle 37">
                <a:extLst>
                  <a:ext uri="{FF2B5EF4-FFF2-40B4-BE49-F238E27FC236}">
                    <a16:creationId xmlns:a16="http://schemas.microsoft.com/office/drawing/2014/main" id="{6D089618-C037-1B4F-A97C-2B85FEFFE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184260" y="4354101"/>
                <a:ext cx="16033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69" name="Group 38">
                <a:extLst>
                  <a:ext uri="{FF2B5EF4-FFF2-40B4-BE49-F238E27FC236}">
                    <a16:creationId xmlns:a16="http://schemas.microsoft.com/office/drawing/2014/main" id="{4EFC04DC-8B24-2C45-BBD0-44DC6D0A36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74834" y="4046052"/>
                <a:ext cx="812800" cy="658813"/>
                <a:chOff x="-44" y="1473"/>
                <a:chExt cx="981" cy="1105"/>
              </a:xfrm>
            </p:grpSpPr>
            <p:pic>
              <p:nvPicPr>
                <p:cNvPr id="81" name="Picture 39" descr="desktop_computer_stylized_medium">
                  <a:extLst>
                    <a:ext uri="{FF2B5EF4-FFF2-40B4-BE49-F238E27FC236}">
                      <a16:creationId xmlns:a16="http://schemas.microsoft.com/office/drawing/2014/main" id="{39121052-FCC5-AA42-AFDF-F25E678CE14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2" name="Freeform 40">
                  <a:extLst>
                    <a:ext uri="{FF2B5EF4-FFF2-40B4-BE49-F238E27FC236}">
                      <a16:creationId xmlns:a16="http://schemas.microsoft.com/office/drawing/2014/main" id="{24F752F7-3499-2C4B-A0BA-F2D78B1142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70" name="Group 47">
                <a:extLst>
                  <a:ext uri="{FF2B5EF4-FFF2-40B4-BE49-F238E27FC236}">
                    <a16:creationId xmlns:a16="http://schemas.microsoft.com/office/drawing/2014/main" id="{5EBEAAB9-CDB4-CE49-8310-6B2AA6304E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32469" y="4201422"/>
                <a:ext cx="812800" cy="658812"/>
                <a:chOff x="-26" y="1473"/>
                <a:chExt cx="981" cy="1105"/>
              </a:xfrm>
            </p:grpSpPr>
            <p:pic>
              <p:nvPicPr>
                <p:cNvPr id="79" name="Picture 48" descr="desktop_computer_stylized_medium">
                  <a:extLst>
                    <a:ext uri="{FF2B5EF4-FFF2-40B4-BE49-F238E27FC236}">
                      <a16:creationId xmlns:a16="http://schemas.microsoft.com/office/drawing/2014/main" id="{A09AFECC-5A0F-0A4B-892C-44745CBEA39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26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0" name="Freeform 49">
                  <a:extLst>
                    <a:ext uri="{FF2B5EF4-FFF2-40B4-BE49-F238E27FC236}">
                      <a16:creationId xmlns:a16="http://schemas.microsoft.com/office/drawing/2014/main" id="{787BFF11-9679-4D43-96E9-7D4B1E9F39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</p:grp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AF83B3ED-014E-C54B-8E5B-330331DC8FB4}"/>
                  </a:ext>
                </a:extLst>
              </p:cNvPr>
              <p:cNvCxnSpPr/>
              <p:nvPr/>
            </p:nvCxnSpPr>
            <p:spPr>
              <a:xfrm flipH="1">
                <a:off x="6872122" y="3639236"/>
                <a:ext cx="254833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41">
                <a:extLst>
                  <a:ext uri="{FF2B5EF4-FFF2-40B4-BE49-F238E27FC236}">
                    <a16:creationId xmlns:a16="http://schemas.microsoft.com/office/drawing/2014/main" id="{D892522E-B65A-3B4E-B03F-858DF69A79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84944" y="5952710"/>
                <a:ext cx="812800" cy="658813"/>
                <a:chOff x="-44" y="1473"/>
                <a:chExt cx="981" cy="1105"/>
              </a:xfrm>
            </p:grpSpPr>
            <p:pic>
              <p:nvPicPr>
                <p:cNvPr id="77" name="Picture 42" descr="desktop_computer_stylized_medium">
                  <a:extLst>
                    <a:ext uri="{FF2B5EF4-FFF2-40B4-BE49-F238E27FC236}">
                      <a16:creationId xmlns:a16="http://schemas.microsoft.com/office/drawing/2014/main" id="{87EA0D93-21F4-2F41-BC21-3244E9F9EFB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8" name="Freeform 43">
                  <a:extLst>
                    <a:ext uri="{FF2B5EF4-FFF2-40B4-BE49-F238E27FC236}">
                      <a16:creationId xmlns:a16="http://schemas.microsoft.com/office/drawing/2014/main" id="{AC4ED98E-24ED-7845-948B-F37EC77BB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73" name="Text Box 33">
                <a:extLst>
                  <a:ext uri="{FF2B5EF4-FFF2-40B4-BE49-F238E27FC236}">
                    <a16:creationId xmlns:a16="http://schemas.microsoft.com/office/drawing/2014/main" id="{AD56C76B-D256-BA45-B5C6-9C69CF3125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19858" y="3246090"/>
                <a:ext cx="1425483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137.196.7.78</a:t>
                </a:r>
              </a:p>
            </p:txBody>
          </p:sp>
          <p:sp>
            <p:nvSpPr>
              <p:cNvPr id="74" name="Text Box 36">
                <a:extLst>
                  <a:ext uri="{FF2B5EF4-FFF2-40B4-BE49-F238E27FC236}">
                    <a16:creationId xmlns:a16="http://schemas.microsoft.com/office/drawing/2014/main" id="{9FE2DD02-437B-BD40-B8BC-D8F1E3FD10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56009" y="5130248"/>
                <a:ext cx="1425483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137.196.7.14</a:t>
                </a:r>
              </a:p>
            </p:txBody>
          </p:sp>
          <p:sp>
            <p:nvSpPr>
              <p:cNvPr id="75" name="Text Box 39">
                <a:extLst>
                  <a:ext uri="{FF2B5EF4-FFF2-40B4-BE49-F238E27FC236}">
                    <a16:creationId xmlns:a16="http://schemas.microsoft.com/office/drawing/2014/main" id="{EC007CEB-B2AD-9C40-859B-963764C166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99276" y="5947742"/>
                <a:ext cx="1425483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137.196.7.88</a:t>
                </a:r>
              </a:p>
            </p:txBody>
          </p:sp>
          <p:sp>
            <p:nvSpPr>
              <p:cNvPr id="76" name="Text Box 31">
                <a:extLst>
                  <a:ext uri="{FF2B5EF4-FFF2-40B4-BE49-F238E27FC236}">
                    <a16:creationId xmlns:a16="http://schemas.microsoft.com/office/drawing/2014/main" id="{BAA1C6E0-33E8-604C-BF4C-E7F8EED04B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4753" y="5170004"/>
                <a:ext cx="1425483" cy="399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137.196.7.23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546546A-4C05-6448-B20D-C122FF754D91}"/>
                </a:ext>
              </a:extLst>
            </p:cNvPr>
            <p:cNvGrpSpPr/>
            <p:nvPr/>
          </p:nvGrpSpPr>
          <p:grpSpPr>
            <a:xfrm>
              <a:off x="541648" y="2313387"/>
              <a:ext cx="3653512" cy="2923999"/>
              <a:chOff x="1446381" y="2663687"/>
              <a:chExt cx="3653512" cy="2923999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1BA5E9CA-3EEB-3D4C-94D2-116047F3B04D}"/>
                  </a:ext>
                </a:extLst>
              </p:cNvPr>
              <p:cNvGrpSpPr/>
              <p:nvPr/>
            </p:nvGrpSpPr>
            <p:grpSpPr>
              <a:xfrm>
                <a:off x="2754559" y="2663687"/>
                <a:ext cx="479618" cy="437323"/>
                <a:chOff x="2317237" y="2601212"/>
                <a:chExt cx="479618" cy="437323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833F027A-1BC4-FF42-ABAF-326F9EBCDE7B}"/>
                    </a:ext>
                  </a:extLst>
                </p:cNvPr>
                <p:cNvSpPr/>
                <p:nvPr/>
              </p:nvSpPr>
              <p:spPr>
                <a:xfrm>
                  <a:off x="2381605" y="2654222"/>
                  <a:ext cx="344557" cy="384313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8CF5883-3135-F546-978F-2F1DF5A5FEDF}"/>
                    </a:ext>
                  </a:extLst>
                </p:cNvPr>
                <p:cNvSpPr txBox="1"/>
                <p:nvPr/>
              </p:nvSpPr>
              <p:spPr>
                <a:xfrm>
                  <a:off x="2317237" y="2601212"/>
                  <a:ext cx="4796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ARP</a:t>
                  </a: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49241A8B-79A4-9A44-84FC-DDD5D1C7E66D}"/>
                  </a:ext>
                </a:extLst>
              </p:cNvPr>
              <p:cNvGrpSpPr/>
              <p:nvPr/>
            </p:nvGrpSpPr>
            <p:grpSpPr>
              <a:xfrm>
                <a:off x="2463958" y="5150363"/>
                <a:ext cx="479618" cy="437323"/>
                <a:chOff x="2317237" y="2601212"/>
                <a:chExt cx="479618" cy="437323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1AA52BDC-E20B-CD42-92BD-D934D34CDE0F}"/>
                    </a:ext>
                  </a:extLst>
                </p:cNvPr>
                <p:cNvSpPr/>
                <p:nvPr/>
              </p:nvSpPr>
              <p:spPr>
                <a:xfrm>
                  <a:off x="2381605" y="2654222"/>
                  <a:ext cx="344557" cy="384313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004BA43-DD92-2D48-A37B-B5AB88E8275D}"/>
                    </a:ext>
                  </a:extLst>
                </p:cNvPr>
                <p:cNvSpPr txBox="1"/>
                <p:nvPr/>
              </p:nvSpPr>
              <p:spPr>
                <a:xfrm>
                  <a:off x="2317237" y="2601212"/>
                  <a:ext cx="4796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ARP</a:t>
                  </a: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80B40655-D207-4B43-BDBC-5A8A359EB4BE}"/>
                  </a:ext>
                </a:extLst>
              </p:cNvPr>
              <p:cNvGrpSpPr/>
              <p:nvPr/>
            </p:nvGrpSpPr>
            <p:grpSpPr>
              <a:xfrm>
                <a:off x="1446381" y="3530757"/>
                <a:ext cx="479618" cy="437323"/>
                <a:chOff x="2317237" y="2601212"/>
                <a:chExt cx="479618" cy="437323"/>
              </a:xfrm>
            </p:grpSpPr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B09CB092-EC49-C748-9C60-C6C7BE5D230F}"/>
                    </a:ext>
                  </a:extLst>
                </p:cNvPr>
                <p:cNvSpPr/>
                <p:nvPr/>
              </p:nvSpPr>
              <p:spPr>
                <a:xfrm>
                  <a:off x="2381605" y="2654222"/>
                  <a:ext cx="344557" cy="384313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310B648-0A48-B341-982E-67DBE3BC8F8C}"/>
                    </a:ext>
                  </a:extLst>
                </p:cNvPr>
                <p:cNvSpPr txBox="1"/>
                <p:nvPr/>
              </p:nvSpPr>
              <p:spPr>
                <a:xfrm>
                  <a:off x="2317237" y="2601212"/>
                  <a:ext cx="4796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ARP</a:t>
                  </a:r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391EF928-0B96-E94A-9865-02E6EC100722}"/>
                  </a:ext>
                </a:extLst>
              </p:cNvPr>
              <p:cNvGrpSpPr/>
              <p:nvPr/>
            </p:nvGrpSpPr>
            <p:grpSpPr>
              <a:xfrm>
                <a:off x="4620275" y="3785389"/>
                <a:ext cx="479618" cy="437323"/>
                <a:chOff x="2317237" y="2601212"/>
                <a:chExt cx="479618" cy="437323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C271BF07-D4F0-984E-AF46-10383E6D9CCD}"/>
                    </a:ext>
                  </a:extLst>
                </p:cNvPr>
                <p:cNvSpPr/>
                <p:nvPr/>
              </p:nvSpPr>
              <p:spPr>
                <a:xfrm>
                  <a:off x="2381605" y="2654222"/>
                  <a:ext cx="344557" cy="384313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023F87F-F1C6-B24D-8EDA-F5FC3A9ACD24}"/>
                    </a:ext>
                  </a:extLst>
                </p:cNvPr>
                <p:cNvSpPr txBox="1"/>
                <p:nvPr/>
              </p:nvSpPr>
              <p:spPr>
                <a:xfrm>
                  <a:off x="2317237" y="2601212"/>
                  <a:ext cx="4796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ARP</a:t>
                  </a:r>
                </a:p>
              </p:txBody>
            </p:sp>
          </p:grp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F65606-910A-EF5B-84DE-04884F0977A9}"/>
              </a:ext>
            </a:extLst>
          </p:cNvPr>
          <p:cNvSpPr txBox="1"/>
          <p:nvPr/>
        </p:nvSpPr>
        <p:spPr>
          <a:xfrm>
            <a:off x="5163483" y="4644088"/>
            <a:ext cx="6454083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</a:rPr>
              <a:t>IP/MAC address mappings for some LAN nodes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</a:rPr>
              <a:t>TTL (Time To Live): time after which address mapping will be forgotten (typically 20 min)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19AD6E-CCB2-7B8A-669C-1B33BFB2EECD}"/>
              </a:ext>
            </a:extLst>
          </p:cNvPr>
          <p:cNvGrpSpPr/>
          <p:nvPr/>
        </p:nvGrpSpPr>
        <p:grpSpPr>
          <a:xfrm>
            <a:off x="6082748" y="2948292"/>
            <a:ext cx="5425048" cy="1367343"/>
            <a:chOff x="1186072" y="3311953"/>
            <a:chExt cx="3690728" cy="137367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8EED68-8B99-8149-BE3A-7592A9B47C9B}"/>
                </a:ext>
              </a:extLst>
            </p:cNvPr>
            <p:cNvSpPr txBox="1"/>
            <p:nvPr/>
          </p:nvSpPr>
          <p:spPr>
            <a:xfrm>
              <a:off x="3664223" y="3615962"/>
              <a:ext cx="1166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TTL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B9F5C8F-DB10-6B09-15A7-F68A222AB978}"/>
                </a:ext>
              </a:extLst>
            </p:cNvPr>
            <p:cNvGrpSpPr/>
            <p:nvPr/>
          </p:nvGrpSpPr>
          <p:grpSpPr>
            <a:xfrm>
              <a:off x="1186072" y="3311953"/>
              <a:ext cx="3690728" cy="1373671"/>
              <a:chOff x="404194" y="2544417"/>
              <a:chExt cx="3690728" cy="1373671"/>
            </a:xfrm>
          </p:grpSpPr>
          <p:sp>
            <p:nvSpPr>
              <p:cNvPr id="22" name="Freeform 15">
                <a:extLst>
                  <a:ext uri="{FF2B5EF4-FFF2-40B4-BE49-F238E27FC236}">
                    <a16:creationId xmlns:a16="http://schemas.microsoft.com/office/drawing/2014/main" id="{DEE9E571-8E40-5B46-2B20-3BEA2F69A088}"/>
                  </a:ext>
                </a:extLst>
              </p:cNvPr>
              <p:cNvSpPr/>
              <p:nvPr/>
            </p:nvSpPr>
            <p:spPr>
              <a:xfrm>
                <a:off x="3617843" y="2842867"/>
                <a:ext cx="477079" cy="1075221"/>
              </a:xfrm>
              <a:custGeom>
                <a:avLst/>
                <a:gdLst>
                  <a:gd name="connsiteX0" fmla="*/ 477079 w 477079"/>
                  <a:gd name="connsiteY0" fmla="*/ 357808 h 1166191"/>
                  <a:gd name="connsiteX1" fmla="*/ 0 w 477079"/>
                  <a:gd name="connsiteY1" fmla="*/ 0 h 1166191"/>
                  <a:gd name="connsiteX2" fmla="*/ 13253 w 477079"/>
                  <a:gd name="connsiteY2" fmla="*/ 1166191 h 1166191"/>
                  <a:gd name="connsiteX3" fmla="*/ 384314 w 477079"/>
                  <a:gd name="connsiteY3" fmla="*/ 649356 h 1166191"/>
                  <a:gd name="connsiteX0" fmla="*/ 477079 w 477079"/>
                  <a:gd name="connsiteY0" fmla="*/ 357808 h 1051327"/>
                  <a:gd name="connsiteX1" fmla="*/ 0 w 477079"/>
                  <a:gd name="connsiteY1" fmla="*/ 0 h 1051327"/>
                  <a:gd name="connsiteX2" fmla="*/ 13253 w 477079"/>
                  <a:gd name="connsiteY2" fmla="*/ 1051327 h 1051327"/>
                  <a:gd name="connsiteX3" fmla="*/ 384314 w 477079"/>
                  <a:gd name="connsiteY3" fmla="*/ 649356 h 1051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7079" h="1051327">
                    <a:moveTo>
                      <a:pt x="477079" y="357808"/>
                    </a:moveTo>
                    <a:lnTo>
                      <a:pt x="0" y="0"/>
                    </a:lnTo>
                    <a:lnTo>
                      <a:pt x="13253" y="1051327"/>
                    </a:lnTo>
                    <a:lnTo>
                      <a:pt x="384314" y="649356"/>
                    </a:lnTo>
                  </a:path>
                </a:pathLst>
              </a:custGeom>
              <a:gradFill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0D1603E-3B71-A72A-240A-EB0FCAE342D9}"/>
                  </a:ext>
                </a:extLst>
              </p:cNvPr>
              <p:cNvGrpSpPr/>
              <p:nvPr/>
            </p:nvGrpSpPr>
            <p:grpSpPr>
              <a:xfrm>
                <a:off x="404194" y="2544417"/>
                <a:ext cx="3379301" cy="1368152"/>
                <a:chOff x="404194" y="2544417"/>
                <a:chExt cx="3379301" cy="1368152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1F40FEF-68A6-0489-1019-F0E8857D13DB}"/>
                    </a:ext>
                  </a:extLst>
                </p:cNvPr>
                <p:cNvSpPr/>
                <p:nvPr/>
              </p:nvSpPr>
              <p:spPr>
                <a:xfrm>
                  <a:off x="450575" y="2849217"/>
                  <a:ext cx="3180521" cy="10601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46D3A71-9471-ACE1-0C89-019415A4625F}"/>
                    </a:ext>
                  </a:extLst>
                </p:cNvPr>
                <p:cNvSpPr txBox="1"/>
                <p:nvPr/>
              </p:nvSpPr>
              <p:spPr>
                <a:xfrm>
                  <a:off x="530088" y="2544417"/>
                  <a:ext cx="27962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ARP table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220BFB6-A2EF-32BB-A08F-AA9FD4AA17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24" y="3173896"/>
                  <a:ext cx="318052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932ED3A-AA50-A0EB-005A-E0A980FEC2BC}"/>
                    </a:ext>
                  </a:extLst>
                </p:cNvPr>
                <p:cNvSpPr txBox="1"/>
                <p:nvPr/>
              </p:nvSpPr>
              <p:spPr>
                <a:xfrm>
                  <a:off x="404194" y="2829339"/>
                  <a:ext cx="934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 addr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94FD0C6-868D-9A00-69AB-DBE6C3C59465}"/>
                    </a:ext>
                  </a:extLst>
                </p:cNvPr>
                <p:cNvSpPr txBox="1"/>
                <p:nvPr/>
              </p:nvSpPr>
              <p:spPr>
                <a:xfrm>
                  <a:off x="1616766" y="2849217"/>
                  <a:ext cx="11661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MAC addr</a:t>
                  </a: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2B04EFB-2BFE-2E30-ED85-99F04E7869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25218" y="2849218"/>
                  <a:ext cx="0" cy="106335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8BDBA3D0-FEFF-8289-E27D-C0C8EFEDD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0152" y="2848944"/>
                  <a:ext cx="0" cy="10604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5866E19-AC21-94A9-E107-71943C7B984D}"/>
                    </a:ext>
                  </a:extLst>
                </p:cNvPr>
                <p:cNvSpPr txBox="1"/>
                <p:nvPr/>
              </p:nvSpPr>
              <p:spPr>
                <a:xfrm>
                  <a:off x="3074505" y="2855842"/>
                  <a:ext cx="7089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TTL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B0E3076-3A52-0C44-3A1B-4373500A027E}"/>
                </a:ext>
              </a:extLst>
            </p:cNvPr>
            <p:cNvGrpSpPr/>
            <p:nvPr/>
          </p:nvGrpSpPr>
          <p:grpSpPr>
            <a:xfrm>
              <a:off x="1217886" y="3923211"/>
              <a:ext cx="3224987" cy="384314"/>
              <a:chOff x="1217886" y="3818281"/>
              <a:chExt cx="3224987" cy="384314"/>
            </a:xfrm>
          </p:grpSpPr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C2F5861E-044C-2996-B735-82B7407583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7886" y="3818281"/>
                <a:ext cx="696611" cy="321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137.196.7.14</a:t>
                </a:r>
              </a:p>
            </p:txBody>
          </p:sp>
          <p:sp>
            <p:nvSpPr>
              <p:cNvPr id="34" name="Text Box 27">
                <a:extLst>
                  <a:ext uri="{FF2B5EF4-FFF2-40B4-BE49-F238E27FC236}">
                    <a16:creationId xmlns:a16="http://schemas.microsoft.com/office/drawing/2014/main" id="{2E98C26E-60D7-501A-DF19-D5CF4AD1A4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7388" y="3897795"/>
                <a:ext cx="1739900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58-23-D7-FA-20-B0</a:t>
                </a:r>
              </a:p>
            </p:txBody>
          </p:sp>
          <p:sp>
            <p:nvSpPr>
              <p:cNvPr id="35" name="Text Box 27">
                <a:extLst>
                  <a:ext uri="{FF2B5EF4-FFF2-40B4-BE49-F238E27FC236}">
                    <a16:creationId xmlns:a16="http://schemas.microsoft.com/office/drawing/2014/main" id="{DB3F6054-75A5-52B8-D680-D11CD9181E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0049" y="3891169"/>
                <a:ext cx="482824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500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120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 table 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IP addr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MAC addr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 wants to send datagram to B</a:t>
            </a:r>
          </a:p>
          <a:p>
            <a:pPr marL="35242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MAC address not in A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ARP table, so A uses ARP to find B’s MAC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1775" marR="0" lvl="0" indent="-2317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broadcasts ARP query, containing B's IP addr</a:t>
              </a:r>
            </a:p>
            <a:p>
              <a:pPr marL="404813" marR="0" lvl="1" indent="-2349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destination MAC address = FF-FF-FF-FF-FF-FF</a:t>
              </a:r>
            </a:p>
            <a:p>
              <a:pPr marL="404813" marR="0" lvl="1" indent="-23495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all nodes on LAN receive ARP query 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ourier New" panose="02070309020205020404" pitchFamily="49" charset="0"/>
                </a:rPr>
                <a:t>Source MAC: 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71-65-F7-2B-08-53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ourier New" panose="02070309020205020404" pitchFamily="49" charset="0"/>
                </a:rPr>
                <a:t>Source IP: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137.196.7.23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Courier New" panose="02070309020205020404" pitchFamily="49" charset="0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IP address: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137.196.7.14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2BD21F-B726-4F40-9D4F-27BF9ABCB338}"/>
              </a:ext>
            </a:extLst>
          </p:cNvPr>
          <p:cNvGrpSpPr/>
          <p:nvPr/>
        </p:nvGrpSpPr>
        <p:grpSpPr>
          <a:xfrm>
            <a:off x="5367131" y="3596877"/>
            <a:ext cx="2849218" cy="2007707"/>
            <a:chOff x="437322" y="4803913"/>
            <a:chExt cx="2849218" cy="2007707"/>
          </a:xfrm>
        </p:grpSpPr>
        <p:sp>
          <p:nvSpPr>
            <p:cNvPr id="102" name="Right Arrow 101">
              <a:extLst>
                <a:ext uri="{FF2B5EF4-FFF2-40B4-BE49-F238E27FC236}">
                  <a16:creationId xmlns:a16="http://schemas.microsoft.com/office/drawing/2014/main" id="{F6B69C75-3517-234C-9022-322822C8ECE4}"/>
                </a:ext>
              </a:extLst>
            </p:cNvPr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Right Arrow 100">
              <a:extLst>
                <a:ext uri="{FF2B5EF4-FFF2-40B4-BE49-F238E27FC236}">
                  <a16:creationId xmlns:a16="http://schemas.microsoft.com/office/drawing/2014/main" id="{E2103C84-F9BB-754A-8DB4-9EED1407A0E5}"/>
                </a:ext>
              </a:extLst>
            </p:cNvPr>
            <p:cNvSpPr/>
            <p:nvPr/>
          </p:nvSpPr>
          <p:spPr>
            <a:xfrm rot="16200000">
              <a:off x="1408044" y="5105399"/>
              <a:ext cx="775252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9DD04DE-490A-BF4D-A7E2-3A174C7DB200}"/>
              </a:ext>
            </a:extLst>
          </p:cNvPr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6289879-A092-1D48-94AB-CCE5CC88B4FF}"/>
                </a:ext>
              </a:extLst>
            </p:cNvPr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6F7794D-4F3F-5742-9DD7-7030CC3F326A}"/>
                </a:ext>
              </a:extLst>
            </p:cNvPr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urier New" panose="02070309020205020404" pitchFamily="49" charset="0"/>
              </a:rPr>
              <a:t>Ethernet frame (sent to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FF-FF-FF-FF-FF-FF)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4325B6C-77CF-7FBD-F730-BD06D336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71" y="2654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latin typeface="+mn-lt"/>
                <a:ea typeface="ＭＳ Ｐゴシック" charset="0"/>
              </a:rPr>
              <a:t>ARP: </a:t>
            </a:r>
            <a:r>
              <a:rPr lang="en-US" altLang="zh-CN" b="0" kern="0" dirty="0">
                <a:latin typeface="+mn-lt"/>
                <a:ea typeface="ＭＳ Ｐゴシック" charset="0"/>
              </a:rPr>
              <a:t>A</a:t>
            </a:r>
            <a:r>
              <a:rPr lang="en-US" b="0" kern="0" dirty="0">
                <a:latin typeface="+mn-lt"/>
                <a:ea typeface="ＭＳ Ｐゴシック" charset="0"/>
              </a:rPr>
              <a:t>ddress Resolution Protocol</a:t>
            </a:r>
            <a:endParaRPr lang="en-US" sz="4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163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1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 table 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IP addr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MAC addr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 wants to send datagram to B</a:t>
            </a:r>
          </a:p>
          <a:p>
            <a:pPr marL="35242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MAC address not in A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ARP table, so A uses ARP to find B’s MAC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replies to A with ARP response, giving its MAC address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IP address: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137.196.7.14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MAC address: 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 58-23-D7-FA-20-B0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9DD04DE-490A-BF4D-A7E2-3A174C7DB200}"/>
                </a:ext>
              </a:extLst>
            </p:cNvPr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6289879-A092-1D48-94AB-CCE5CC88B4FF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6F7794D-4F3F-5742-9DD7-7030CC3F326A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urier New" panose="02070309020205020404" pitchFamily="49" charset="0"/>
              </a:rPr>
              <a:t>ARP message into Ethernet frame (sent to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71-65-F7-2B-08-53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E08BBC5-2D5E-73D1-6761-EC95763B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71" y="2654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latin typeface="+mn-lt"/>
                <a:ea typeface="ＭＳ Ｐゴシック" charset="0"/>
              </a:rPr>
              <a:t>ARP: </a:t>
            </a:r>
            <a:r>
              <a:rPr lang="en-US" altLang="zh-CN" b="0" kern="0" dirty="0">
                <a:latin typeface="+mn-lt"/>
                <a:ea typeface="ＭＳ Ｐゴシック" charset="0"/>
              </a:rPr>
              <a:t>A</a:t>
            </a:r>
            <a:r>
              <a:rPr lang="en-US" b="0" kern="0" dirty="0">
                <a:latin typeface="+mn-lt"/>
                <a:ea typeface="ＭＳ Ｐゴシック" charset="0"/>
              </a:rPr>
              <a:t>ddress Resolution Protocol</a:t>
            </a:r>
            <a:endParaRPr lang="en-US" sz="4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0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543" y="62368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75628" y="3311953"/>
            <a:ext cx="4801172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ARP table in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A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IP addr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MAC addr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A wants to send datagram to B</a:t>
            </a:r>
          </a:p>
          <a:p>
            <a:pPr marL="35242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MAC address not in A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ARP table, so A uses ARP to find B’s MAC address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receives B’s reply, adds B entry into its local ARP table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39055-4138-5345-8C30-F70330025618}"/>
              </a:ext>
            </a:extLst>
          </p:cNvPr>
          <p:cNvGrpSpPr/>
          <p:nvPr/>
        </p:nvGrpSpPr>
        <p:grpSpPr>
          <a:xfrm>
            <a:off x="73432" y="3938576"/>
            <a:ext cx="4189812" cy="368536"/>
            <a:chOff x="878979" y="3803442"/>
            <a:chExt cx="4189812" cy="368536"/>
          </a:xfrm>
        </p:grpSpPr>
        <p:sp>
          <p:nvSpPr>
            <p:cNvPr id="73" name="Text Box 36">
              <a:extLst>
                <a:ext uri="{FF2B5EF4-FFF2-40B4-BE49-F238E27FC236}">
                  <a16:creationId xmlns:a16="http://schemas.microsoft.com/office/drawing/2014/main" id="{1DADF13F-2D2F-5443-842A-4A233EADB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979" y="3803442"/>
              <a:ext cx="12187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137.196.7.14</a:t>
              </a:r>
            </a:p>
          </p:txBody>
        </p:sp>
        <p:sp>
          <p:nvSpPr>
            <p:cNvPr id="77" name="Text Box 27">
              <a:extLst>
                <a:ext uri="{FF2B5EF4-FFF2-40B4-BE49-F238E27FC236}">
                  <a16:creationId xmlns:a16="http://schemas.microsoft.com/office/drawing/2014/main" id="{82505451-0901-AA46-96C0-FED04AABF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2182" y="3835815"/>
              <a:ext cx="17399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58-23-D7-FA-20-B0</a:t>
              </a:r>
            </a:p>
          </p:txBody>
        </p:sp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ED5A362E-E35A-6241-9A98-218C81894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967" y="3864201"/>
              <a:ext cx="48282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500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866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2BE7-0889-3C36-FDEF-5DC7D2A6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B855DA3E-091D-CF3F-8A32-4B3A21B9DCAE}"/>
              </a:ext>
            </a:extLst>
          </p:cNvPr>
          <p:cNvSpPr txBox="1">
            <a:spLocks/>
          </p:cNvSpPr>
          <p:nvPr/>
        </p:nvSpPr>
        <p:spPr>
          <a:xfrm>
            <a:off x="804793" y="190760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Using ARP in Routers and Hosts</a:t>
            </a:r>
            <a:endParaRPr lang="en-US" dirty="0"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AE9C8B-EA6D-D51A-73BD-0D56B07EC65B}"/>
              </a:ext>
            </a:extLst>
          </p:cNvPr>
          <p:cNvSpPr txBox="1"/>
          <p:nvPr/>
        </p:nvSpPr>
        <p:spPr>
          <a:xfrm>
            <a:off x="804793" y="927652"/>
            <a:ext cx="54403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200" b="1" dirty="0">
                <a:solidFill>
                  <a:srgbClr val="C00000"/>
                </a:solidFill>
              </a:rPr>
              <a:t>ARP runs directly on Layer 2 (not Layer 3)</a:t>
            </a:r>
            <a:endParaRPr lang="en-US" altLang="zh-CN" sz="2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BC1055-A42D-9B4F-5BDA-00A6925C488D}"/>
              </a:ext>
            </a:extLst>
          </p:cNvPr>
          <p:cNvGrpSpPr/>
          <p:nvPr/>
        </p:nvGrpSpPr>
        <p:grpSpPr>
          <a:xfrm>
            <a:off x="1152739" y="1494384"/>
            <a:ext cx="9886522" cy="1830200"/>
            <a:chOff x="982965" y="1720838"/>
            <a:chExt cx="6887024" cy="2156814"/>
          </a:xfrm>
        </p:grpSpPr>
        <p:sp>
          <p:nvSpPr>
            <p:cNvPr id="9" name="Google Shape;277;p34">
              <a:extLst>
                <a:ext uri="{FF2B5EF4-FFF2-40B4-BE49-F238E27FC236}">
                  <a16:creationId xmlns:a16="http://schemas.microsoft.com/office/drawing/2014/main" id="{2D7520C6-8F01-4E3B-2DD7-2B6363638411}"/>
                </a:ext>
              </a:extLst>
            </p:cNvPr>
            <p:cNvSpPr/>
            <p:nvPr/>
          </p:nvSpPr>
          <p:spPr>
            <a:xfrm>
              <a:off x="2379992" y="2114438"/>
              <a:ext cx="1895100" cy="3936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Consolas"/>
                  <a:ea typeface="Consolas"/>
                  <a:cs typeface="Consolas"/>
                  <a:sym typeface="Consolas"/>
                </a:rPr>
                <a:t>FF:FF:FF:FF:FF:FF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" name="Google Shape;278;p34">
              <a:extLst>
                <a:ext uri="{FF2B5EF4-FFF2-40B4-BE49-F238E27FC236}">
                  <a16:creationId xmlns:a16="http://schemas.microsoft.com/office/drawing/2014/main" id="{F8A8535B-8C15-A9E0-D89F-864534AB6EAF}"/>
                </a:ext>
              </a:extLst>
            </p:cNvPr>
            <p:cNvSpPr/>
            <p:nvPr/>
          </p:nvSpPr>
          <p:spPr>
            <a:xfrm>
              <a:off x="2379992" y="1720838"/>
              <a:ext cx="1895100" cy="3936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Alice's MAC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279;p34">
              <a:extLst>
                <a:ext uri="{FF2B5EF4-FFF2-40B4-BE49-F238E27FC236}">
                  <a16:creationId xmlns:a16="http://schemas.microsoft.com/office/drawing/2014/main" id="{D51B9721-8343-A78D-1943-3A7DD31665CA}"/>
                </a:ext>
              </a:extLst>
            </p:cNvPr>
            <p:cNvSpPr txBox="1"/>
            <p:nvPr/>
          </p:nvSpPr>
          <p:spPr>
            <a:xfrm>
              <a:off x="982965" y="2114435"/>
              <a:ext cx="1369938" cy="544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Destination MAC: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280;p34">
              <a:extLst>
                <a:ext uri="{FF2B5EF4-FFF2-40B4-BE49-F238E27FC236}">
                  <a16:creationId xmlns:a16="http://schemas.microsoft.com/office/drawing/2014/main" id="{D404153F-0E8B-078B-118D-60FA4ABA0FD8}"/>
                </a:ext>
              </a:extLst>
            </p:cNvPr>
            <p:cNvSpPr txBox="1"/>
            <p:nvPr/>
          </p:nvSpPr>
          <p:spPr>
            <a:xfrm>
              <a:off x="982965" y="1720838"/>
              <a:ext cx="1369938" cy="544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Source MAC: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281;p34">
              <a:extLst>
                <a:ext uri="{FF2B5EF4-FFF2-40B4-BE49-F238E27FC236}">
                  <a16:creationId xmlns:a16="http://schemas.microsoft.com/office/drawing/2014/main" id="{C3720FFB-9EBB-948D-2598-1E84470A0B08}"/>
                </a:ext>
              </a:extLst>
            </p:cNvPr>
            <p:cNvSpPr txBox="1"/>
            <p:nvPr/>
          </p:nvSpPr>
          <p:spPr>
            <a:xfrm>
              <a:off x="4349159" y="1842425"/>
              <a:ext cx="3420300" cy="544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ARP </a:t>
              </a:r>
              <a:r>
                <a:rPr lang="en" sz="1800" i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requests</a:t>
              </a: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(aka </a:t>
              </a:r>
              <a:r>
                <a:rPr lang="en" sz="1800" i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solicitations</a:t>
              </a: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) are broadcast</a:t>
              </a:r>
              <a:endParaRPr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282;p34">
              <a:extLst>
                <a:ext uri="{FF2B5EF4-FFF2-40B4-BE49-F238E27FC236}">
                  <a16:creationId xmlns:a16="http://schemas.microsoft.com/office/drawing/2014/main" id="{C87A7ADF-8C5F-4D51-5DC3-6774D987C6F9}"/>
                </a:ext>
              </a:extLst>
            </p:cNvPr>
            <p:cNvSpPr/>
            <p:nvPr/>
          </p:nvSpPr>
          <p:spPr>
            <a:xfrm>
              <a:off x="2379992" y="3333638"/>
              <a:ext cx="1895100" cy="3936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Alice's MAC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283;p34">
              <a:extLst>
                <a:ext uri="{FF2B5EF4-FFF2-40B4-BE49-F238E27FC236}">
                  <a16:creationId xmlns:a16="http://schemas.microsoft.com/office/drawing/2014/main" id="{D693206E-658C-E009-7BD5-C5D7ABE757DD}"/>
                </a:ext>
              </a:extLst>
            </p:cNvPr>
            <p:cNvSpPr/>
            <p:nvPr/>
          </p:nvSpPr>
          <p:spPr>
            <a:xfrm>
              <a:off x="2379992" y="2940038"/>
              <a:ext cx="1895100" cy="3936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Bob's MAC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84;p34">
              <a:extLst>
                <a:ext uri="{FF2B5EF4-FFF2-40B4-BE49-F238E27FC236}">
                  <a16:creationId xmlns:a16="http://schemas.microsoft.com/office/drawing/2014/main" id="{3F7FB493-90F4-391F-B84C-CE467942DEE6}"/>
                </a:ext>
              </a:extLst>
            </p:cNvPr>
            <p:cNvSpPr txBox="1"/>
            <p:nvPr/>
          </p:nvSpPr>
          <p:spPr>
            <a:xfrm>
              <a:off x="982965" y="3333635"/>
              <a:ext cx="1369938" cy="544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Destination MAC: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" name="Google Shape;285;p34">
              <a:extLst>
                <a:ext uri="{FF2B5EF4-FFF2-40B4-BE49-F238E27FC236}">
                  <a16:creationId xmlns:a16="http://schemas.microsoft.com/office/drawing/2014/main" id="{BD1C8249-C0D6-7067-865B-B6C0A78C46C3}"/>
                </a:ext>
              </a:extLst>
            </p:cNvPr>
            <p:cNvSpPr txBox="1"/>
            <p:nvPr/>
          </p:nvSpPr>
          <p:spPr>
            <a:xfrm>
              <a:off x="1016766" y="2940038"/>
              <a:ext cx="1336137" cy="544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Source MAC: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286;p34">
              <a:extLst>
                <a:ext uri="{FF2B5EF4-FFF2-40B4-BE49-F238E27FC236}">
                  <a16:creationId xmlns:a16="http://schemas.microsoft.com/office/drawing/2014/main" id="{114BEEF6-458F-4C78-6A67-1B5A93AAB1EA}"/>
                </a:ext>
              </a:extLst>
            </p:cNvPr>
            <p:cNvSpPr txBox="1"/>
            <p:nvPr/>
          </p:nvSpPr>
          <p:spPr>
            <a:xfrm>
              <a:off x="4349159" y="3061625"/>
              <a:ext cx="3520830" cy="544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ARP </a:t>
              </a:r>
              <a:r>
                <a:rPr lang="en" sz="1800" i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responses</a:t>
              </a: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(aka </a:t>
              </a:r>
              <a:r>
                <a:rPr lang="en" sz="1800" i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advertisements</a:t>
              </a: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) are unicast</a:t>
              </a:r>
              <a:endParaRPr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" name="Google Shape;287;p34">
            <a:extLst>
              <a:ext uri="{FF2B5EF4-FFF2-40B4-BE49-F238E27FC236}">
                <a16:creationId xmlns:a16="http://schemas.microsoft.com/office/drawing/2014/main" id="{51D2DAE5-F03F-C9AE-73E9-9250A31261C7}"/>
              </a:ext>
            </a:extLst>
          </p:cNvPr>
          <p:cNvSpPr txBox="1">
            <a:spLocks/>
          </p:cNvSpPr>
          <p:nvPr/>
        </p:nvSpPr>
        <p:spPr>
          <a:xfrm>
            <a:off x="1025417" y="3866855"/>
            <a:ext cx="10439488" cy="2569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dirty="0"/>
              <a:t>Note: </a:t>
            </a:r>
            <a:r>
              <a:rPr lang="en-US" altLang="zh-CN" sz="2200" dirty="0"/>
              <a:t>Any router/host</a:t>
            </a:r>
            <a:r>
              <a:rPr lang="en-US" sz="2200" dirty="0"/>
              <a:t> can broadcast an unsolicited response ("Gratuitous ARP")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Device broadcasts its own IP-to-MAC mapping without being asked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Common when device boots up or changes IP/MAC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Purpose: Announce presence, detect IP conflicts, update neighbors' ARP caches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Example: "My IP is 1.2.3.4, and my MAC is ca:fe:f0:0d:be:ef"</a:t>
            </a: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03654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15244-9F96-C74C-9DE2-D2D384C4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9B7893CD-4BC9-631E-FB08-4C63FEBA4FED}"/>
              </a:ext>
            </a:extLst>
          </p:cNvPr>
          <p:cNvSpPr txBox="1">
            <a:spLocks/>
          </p:cNvSpPr>
          <p:nvPr/>
        </p:nvSpPr>
        <p:spPr>
          <a:xfrm>
            <a:off x="506185" y="69631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Connecting ARP and Forwarding Tables</a:t>
            </a:r>
            <a:endParaRPr lang="en-US" dirty="0">
              <a:latin typeface="+mn-lt"/>
            </a:endParaRPr>
          </a:p>
        </p:txBody>
      </p:sp>
      <p:sp>
        <p:nvSpPr>
          <p:cNvPr id="27" name="Google Shape;287;p34">
            <a:extLst>
              <a:ext uri="{FF2B5EF4-FFF2-40B4-BE49-F238E27FC236}">
                <a16:creationId xmlns:a16="http://schemas.microsoft.com/office/drawing/2014/main" id="{E699FE42-13A6-9B42-9C46-D8103D650E18}"/>
              </a:ext>
            </a:extLst>
          </p:cNvPr>
          <p:cNvSpPr txBox="1">
            <a:spLocks/>
          </p:cNvSpPr>
          <p:nvPr/>
        </p:nvSpPr>
        <p:spPr>
          <a:xfrm>
            <a:off x="631072" y="2674527"/>
            <a:ext cx="10929856" cy="4183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200" dirty="0"/>
              <a:t>The </a:t>
            </a:r>
            <a:r>
              <a:rPr lang="en-US" sz="2200" dirty="0"/>
              <a:t>router’s forwarding table contains a single entry, mapping the entire subnet’s range of IP addresses to be direct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dirty="0"/>
              <a:t>If the router (R1) receives a packet whose destination (e.g., H1) is in this local range: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The router runs ARP (or look in our cached ARP table)  to find the corresponding MAC address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H1 replies through S1 with its MAC address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Uses Layer 2 to send the unicast Ethernet frames to the correct host on the link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R1 sends packet in </a:t>
            </a:r>
            <a:r>
              <a:rPr lang="en-US" sz="1800" b="1" dirty="0">
                <a:solidFill>
                  <a:srgbClr val="C00000"/>
                </a:solidFill>
              </a:rPr>
              <a:t>frame</a:t>
            </a:r>
            <a:r>
              <a:rPr lang="en-US" sz="1800" dirty="0"/>
              <a:t> (</a:t>
            </a:r>
            <a:r>
              <a:rPr lang="en-US" sz="1800" dirty="0" err="1"/>
              <a:t>dest</a:t>
            </a:r>
            <a:r>
              <a:rPr lang="en-US" sz="1800" dirty="0"/>
              <a:t> MAC = H1's MAC) to S1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S1 looks up H1's MAC in its table &amp;&amp; S1 forwards to H1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Router </a:t>
            </a:r>
            <a:r>
              <a:rPr lang="en-US" sz="2200" b="1" dirty="0">
                <a:solidFill>
                  <a:srgbClr val="C00000"/>
                </a:solidFill>
              </a:rPr>
              <a:t>doesn't "skip" </a:t>
            </a:r>
            <a:r>
              <a:rPr lang="en-US" sz="2200" dirty="0"/>
              <a:t>the switch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the switch is transparent but still in the data path!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F5CF7D0-CBBE-C97C-C932-8DDA10DDF484}"/>
              </a:ext>
            </a:extLst>
          </p:cNvPr>
          <p:cNvGrpSpPr/>
          <p:nvPr/>
        </p:nvGrpSpPr>
        <p:grpSpPr>
          <a:xfrm>
            <a:off x="-96350" y="927652"/>
            <a:ext cx="12384700" cy="1781339"/>
            <a:chOff x="-162445" y="927652"/>
            <a:chExt cx="12384700" cy="1781339"/>
          </a:xfrm>
        </p:grpSpPr>
        <p:sp>
          <p:nvSpPr>
            <p:cNvPr id="8" name="Google Shape;307;p35">
              <a:extLst>
                <a:ext uri="{FF2B5EF4-FFF2-40B4-BE49-F238E27FC236}">
                  <a16:creationId xmlns:a16="http://schemas.microsoft.com/office/drawing/2014/main" id="{5EA7CB26-3A24-5E4E-A42D-3BE8DA65A479}"/>
                </a:ext>
              </a:extLst>
            </p:cNvPr>
            <p:cNvSpPr txBox="1"/>
            <p:nvPr/>
          </p:nvSpPr>
          <p:spPr>
            <a:xfrm>
              <a:off x="2670894" y="2277594"/>
              <a:ext cx="13432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192.0.2.254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308;p35">
              <a:extLst>
                <a:ext uri="{FF2B5EF4-FFF2-40B4-BE49-F238E27FC236}">
                  <a16:creationId xmlns:a16="http://schemas.microsoft.com/office/drawing/2014/main" id="{AE808695-8FEF-6739-66EE-C7FEB83125F6}"/>
                </a:ext>
              </a:extLst>
            </p:cNvPr>
            <p:cNvSpPr txBox="1"/>
            <p:nvPr/>
          </p:nvSpPr>
          <p:spPr>
            <a:xfrm>
              <a:off x="4979593" y="1195095"/>
              <a:ext cx="11120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192.0.2.1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956;p61">
              <a:extLst>
                <a:ext uri="{FF2B5EF4-FFF2-40B4-BE49-F238E27FC236}">
                  <a16:creationId xmlns:a16="http://schemas.microsoft.com/office/drawing/2014/main" id="{9D362F3D-DBE7-6D06-3A3E-83C0F315A7F5}"/>
                </a:ext>
              </a:extLst>
            </p:cNvPr>
            <p:cNvSpPr/>
            <p:nvPr/>
          </p:nvSpPr>
          <p:spPr>
            <a:xfrm>
              <a:off x="3143728" y="1678535"/>
              <a:ext cx="397581" cy="3401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" name="Google Shape;957;p61">
              <a:extLst>
                <a:ext uri="{FF2B5EF4-FFF2-40B4-BE49-F238E27FC236}">
                  <a16:creationId xmlns:a16="http://schemas.microsoft.com/office/drawing/2014/main" id="{1D34FA89-2A60-01EE-E32A-AEB4AF7877A4}"/>
                </a:ext>
              </a:extLst>
            </p:cNvPr>
            <p:cNvCxnSpPr>
              <a:stCxn id="28" idx="3"/>
              <a:endCxn id="13" idx="1"/>
            </p:cNvCxnSpPr>
            <p:nvPr/>
          </p:nvCxnSpPr>
          <p:spPr>
            <a:xfrm>
              <a:off x="2558542" y="1848614"/>
              <a:ext cx="585186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59;p61">
              <a:extLst>
                <a:ext uri="{FF2B5EF4-FFF2-40B4-BE49-F238E27FC236}">
                  <a16:creationId xmlns:a16="http://schemas.microsoft.com/office/drawing/2014/main" id="{99B47633-1800-70A9-5C45-1A17A53EA974}"/>
                </a:ext>
              </a:extLst>
            </p:cNvPr>
            <p:cNvCxnSpPr>
              <a:cxnSpLocks/>
              <a:stCxn id="13" idx="3"/>
              <a:endCxn id="29" idx="1"/>
            </p:cNvCxnSpPr>
            <p:nvPr/>
          </p:nvCxnSpPr>
          <p:spPr>
            <a:xfrm flipV="1">
              <a:off x="3541309" y="1338854"/>
              <a:ext cx="1023707" cy="50976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61;p61">
              <a:extLst>
                <a:ext uri="{FF2B5EF4-FFF2-40B4-BE49-F238E27FC236}">
                  <a16:creationId xmlns:a16="http://schemas.microsoft.com/office/drawing/2014/main" id="{80524960-1C1A-7BF7-049A-7064C860EC0E}"/>
                </a:ext>
              </a:extLst>
            </p:cNvPr>
            <p:cNvCxnSpPr>
              <a:cxnSpLocks/>
              <a:stCxn id="13" idx="3"/>
              <a:endCxn id="30" idx="1"/>
            </p:cNvCxnSpPr>
            <p:nvPr/>
          </p:nvCxnSpPr>
          <p:spPr>
            <a:xfrm>
              <a:off x="3541309" y="1848614"/>
              <a:ext cx="1020021" cy="516829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Google Shape;958;p61">
              <a:extLst>
                <a:ext uri="{FF2B5EF4-FFF2-40B4-BE49-F238E27FC236}">
                  <a16:creationId xmlns:a16="http://schemas.microsoft.com/office/drawing/2014/main" id="{955F27FA-D65E-0AFC-AC26-08071B72AC12}"/>
                </a:ext>
              </a:extLst>
            </p:cNvPr>
            <p:cNvSpPr/>
            <p:nvPr/>
          </p:nvSpPr>
          <p:spPr>
            <a:xfrm>
              <a:off x="2160961" y="1678535"/>
              <a:ext cx="397581" cy="34015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960;p61">
              <a:extLst>
                <a:ext uri="{FF2B5EF4-FFF2-40B4-BE49-F238E27FC236}">
                  <a16:creationId xmlns:a16="http://schemas.microsoft.com/office/drawing/2014/main" id="{24BCE022-8B29-31B6-3241-66C26E9351FE}"/>
                </a:ext>
              </a:extLst>
            </p:cNvPr>
            <p:cNvSpPr/>
            <p:nvPr/>
          </p:nvSpPr>
          <p:spPr>
            <a:xfrm>
              <a:off x="4565016" y="1168775"/>
              <a:ext cx="466161" cy="3401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H11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962;p61">
              <a:extLst>
                <a:ext uri="{FF2B5EF4-FFF2-40B4-BE49-F238E27FC236}">
                  <a16:creationId xmlns:a16="http://schemas.microsoft.com/office/drawing/2014/main" id="{0EB07B2F-F145-5249-F22D-87CE25F3BB89}"/>
                </a:ext>
              </a:extLst>
            </p:cNvPr>
            <p:cNvSpPr/>
            <p:nvPr/>
          </p:nvSpPr>
          <p:spPr>
            <a:xfrm>
              <a:off x="4561330" y="2195364"/>
              <a:ext cx="466161" cy="3401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H13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965;p61">
              <a:extLst>
                <a:ext uri="{FF2B5EF4-FFF2-40B4-BE49-F238E27FC236}">
                  <a16:creationId xmlns:a16="http://schemas.microsoft.com/office/drawing/2014/main" id="{8ED57659-B578-7088-5E13-481E0588755A}"/>
                </a:ext>
              </a:extLst>
            </p:cNvPr>
            <p:cNvSpPr/>
            <p:nvPr/>
          </p:nvSpPr>
          <p:spPr>
            <a:xfrm>
              <a:off x="4561330" y="1682070"/>
              <a:ext cx="466161" cy="3401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H12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2" name="Google Shape;966;p61">
              <a:extLst>
                <a:ext uri="{FF2B5EF4-FFF2-40B4-BE49-F238E27FC236}">
                  <a16:creationId xmlns:a16="http://schemas.microsoft.com/office/drawing/2014/main" id="{222B6502-2863-0CEB-E8EB-1BAA204B56B8}"/>
                </a:ext>
              </a:extLst>
            </p:cNvPr>
            <p:cNvCxnSpPr>
              <a:cxnSpLocks/>
              <a:stCxn id="13" idx="3"/>
              <a:endCxn id="31" idx="1"/>
            </p:cNvCxnSpPr>
            <p:nvPr/>
          </p:nvCxnSpPr>
          <p:spPr>
            <a:xfrm>
              <a:off x="3541309" y="1848614"/>
              <a:ext cx="1020021" cy="3535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Google Shape;308;p35">
              <a:extLst>
                <a:ext uri="{FF2B5EF4-FFF2-40B4-BE49-F238E27FC236}">
                  <a16:creationId xmlns:a16="http://schemas.microsoft.com/office/drawing/2014/main" id="{F6779EFF-B7ED-CD81-F88C-ED864955D840}"/>
                </a:ext>
              </a:extLst>
            </p:cNvPr>
            <p:cNvSpPr txBox="1"/>
            <p:nvPr/>
          </p:nvSpPr>
          <p:spPr>
            <a:xfrm>
              <a:off x="4979593" y="1687450"/>
              <a:ext cx="11120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192.0.2.2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" name="Google Shape;308;p35">
              <a:extLst>
                <a:ext uri="{FF2B5EF4-FFF2-40B4-BE49-F238E27FC236}">
                  <a16:creationId xmlns:a16="http://schemas.microsoft.com/office/drawing/2014/main" id="{A9BE026B-0058-BAF4-F6BD-1E800C939CFA}"/>
                </a:ext>
              </a:extLst>
            </p:cNvPr>
            <p:cNvSpPr txBox="1"/>
            <p:nvPr/>
          </p:nvSpPr>
          <p:spPr>
            <a:xfrm>
              <a:off x="4979593" y="2191499"/>
              <a:ext cx="11120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192.0.2.3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" name="Google Shape;956;p61">
              <a:extLst>
                <a:ext uri="{FF2B5EF4-FFF2-40B4-BE49-F238E27FC236}">
                  <a16:creationId xmlns:a16="http://schemas.microsoft.com/office/drawing/2014/main" id="{59024169-7E77-2DFC-A337-5CF3C36B7361}"/>
                </a:ext>
              </a:extLst>
            </p:cNvPr>
            <p:cNvSpPr/>
            <p:nvPr/>
          </p:nvSpPr>
          <p:spPr>
            <a:xfrm>
              <a:off x="1178195" y="1678535"/>
              <a:ext cx="397581" cy="3401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8" name="Google Shape;957;p61">
              <a:extLst>
                <a:ext uri="{FF2B5EF4-FFF2-40B4-BE49-F238E27FC236}">
                  <a16:creationId xmlns:a16="http://schemas.microsoft.com/office/drawing/2014/main" id="{F59FEF2C-52AD-18F1-7C2F-9EB6A20BF4A8}"/>
                </a:ext>
              </a:extLst>
            </p:cNvPr>
            <p:cNvCxnSpPr>
              <a:cxnSpLocks/>
              <a:stCxn id="28" idx="1"/>
              <a:endCxn id="47" idx="3"/>
            </p:cNvCxnSpPr>
            <p:nvPr/>
          </p:nvCxnSpPr>
          <p:spPr>
            <a:xfrm flipH="1">
              <a:off x="1575776" y="1848614"/>
              <a:ext cx="585185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7B180B1-886C-1825-820E-C352AF066006}"/>
                </a:ext>
              </a:extLst>
            </p:cNvPr>
            <p:cNvCxnSpPr>
              <a:cxnSpLocks/>
              <a:stCxn id="55" idx="3"/>
              <a:endCxn id="47" idx="1"/>
            </p:cNvCxnSpPr>
            <p:nvPr/>
          </p:nvCxnSpPr>
          <p:spPr>
            <a:xfrm>
              <a:off x="804593" y="1848614"/>
              <a:ext cx="373602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Google Shape;958;p61">
              <a:extLst>
                <a:ext uri="{FF2B5EF4-FFF2-40B4-BE49-F238E27FC236}">
                  <a16:creationId xmlns:a16="http://schemas.microsoft.com/office/drawing/2014/main" id="{68AE2520-0D03-E4EC-77C6-431A19BF7D8A}"/>
                </a:ext>
              </a:extLst>
            </p:cNvPr>
            <p:cNvSpPr/>
            <p:nvPr/>
          </p:nvSpPr>
          <p:spPr>
            <a:xfrm>
              <a:off x="157023" y="1678535"/>
              <a:ext cx="647570" cy="3401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dirty="0"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lang="en" altLang="zh-CN" dirty="0">
                  <a:latin typeface="Roboto"/>
                  <a:ea typeface="Roboto"/>
                  <a:cs typeface="Roboto"/>
                  <a:sym typeface="Roboto"/>
                </a:rPr>
                <a:t>21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aphicFrame>
          <p:nvGraphicFramePr>
            <p:cNvPr id="67" name="Google Shape;321;p36">
              <a:extLst>
                <a:ext uri="{FF2B5EF4-FFF2-40B4-BE49-F238E27FC236}">
                  <a16:creationId xmlns:a16="http://schemas.microsoft.com/office/drawing/2014/main" id="{091B52BC-7736-BB57-DE51-05B850AE7B2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2516650"/>
                </p:ext>
              </p:extLst>
            </p:nvPr>
          </p:nvGraphicFramePr>
          <p:xfrm>
            <a:off x="6387674" y="1021012"/>
            <a:ext cx="3033197" cy="10971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49374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53945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53000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R1's </a:t>
                        </a:r>
                        <a:r>
                          <a:rPr lang="en-US" altLang="zh-C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Forwarding </a:t>
                        </a: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Table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91425" marR="91425" marT="45700" marB="45700"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53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Destination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91425" marR="91425" marT="45700" marB="45700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 Hop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91425" marR="91425" marT="45700" marB="45700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5300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solidFill>
                              <a:schemeClr val="accent2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192.0.2.0/24</a:t>
                        </a:r>
                        <a:endParaRPr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91425" marR="91425" marT="45700" marB="45700"/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Direct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91425" marR="91425" marT="45700" marB="45700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68" name="Google Shape;322;p36">
              <a:extLst>
                <a:ext uri="{FF2B5EF4-FFF2-40B4-BE49-F238E27FC236}">
                  <a16:creationId xmlns:a16="http://schemas.microsoft.com/office/drawing/2014/main" id="{A72648EE-6CC4-3FE0-8C3E-A9F990868CD9}"/>
                </a:ext>
              </a:extLst>
            </p:cNvPr>
            <p:cNvSpPr txBox="1"/>
            <p:nvPr/>
          </p:nvSpPr>
          <p:spPr>
            <a:xfrm>
              <a:off x="9584355" y="1579554"/>
              <a:ext cx="24066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...and addresses can be </a:t>
              </a:r>
              <a:r>
                <a:rPr lang="en" sz="1800" b="1" i="1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aggregated</a:t>
              </a: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!</a:t>
              </a:r>
              <a:endParaRPr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9" name="Google Shape;327;p36">
              <a:extLst>
                <a:ext uri="{FF2B5EF4-FFF2-40B4-BE49-F238E27FC236}">
                  <a16:creationId xmlns:a16="http://schemas.microsoft.com/office/drawing/2014/main" id="{70E56400-F4BB-631A-5FAC-973861723E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44432" y="2067047"/>
              <a:ext cx="324872" cy="302338"/>
            </a:xfrm>
            <a:prstGeom prst="straightConnector1">
              <a:avLst/>
            </a:prstGeom>
            <a:noFill/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" name="Google Shape;328;p36">
              <a:extLst>
                <a:ext uri="{FF2B5EF4-FFF2-40B4-BE49-F238E27FC236}">
                  <a16:creationId xmlns:a16="http://schemas.microsoft.com/office/drawing/2014/main" id="{5A080845-A84F-83D7-49E8-8A93CE6728D4}"/>
                </a:ext>
              </a:extLst>
            </p:cNvPr>
            <p:cNvSpPr txBox="1"/>
            <p:nvPr/>
          </p:nvSpPr>
          <p:spPr>
            <a:xfrm>
              <a:off x="7353293" y="2376606"/>
              <a:ext cx="1538686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Our </a:t>
              </a:r>
              <a:r>
                <a:rPr lang="en" b="1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subnet</a:t>
              </a:r>
              <a:endParaRPr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306;p35">
              <a:extLst>
                <a:ext uri="{FF2B5EF4-FFF2-40B4-BE49-F238E27FC236}">
                  <a16:creationId xmlns:a16="http://schemas.microsoft.com/office/drawing/2014/main" id="{AFF8C870-0E7D-61AC-3084-0A16B6FABB1F}"/>
                </a:ext>
              </a:extLst>
            </p:cNvPr>
            <p:cNvSpPr txBox="1"/>
            <p:nvPr/>
          </p:nvSpPr>
          <p:spPr>
            <a:xfrm>
              <a:off x="9584355" y="927652"/>
              <a:ext cx="2637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IP forwarding table contains IP addresses...</a:t>
              </a:r>
              <a:endParaRPr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307;p35">
              <a:extLst>
                <a:ext uri="{FF2B5EF4-FFF2-40B4-BE49-F238E27FC236}">
                  <a16:creationId xmlns:a16="http://schemas.microsoft.com/office/drawing/2014/main" id="{73A04D5D-0897-1BA8-ED6E-03A5B92EBC5F}"/>
                </a:ext>
              </a:extLst>
            </p:cNvPr>
            <p:cNvSpPr txBox="1"/>
            <p:nvPr/>
          </p:nvSpPr>
          <p:spPr>
            <a:xfrm>
              <a:off x="-162445" y="2139094"/>
              <a:ext cx="13432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190.1.3.21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307;p35">
              <a:extLst>
                <a:ext uri="{FF2B5EF4-FFF2-40B4-BE49-F238E27FC236}">
                  <a16:creationId xmlns:a16="http://schemas.microsoft.com/office/drawing/2014/main" id="{D1847212-45BD-FC26-B501-01B9A3D638DD}"/>
                </a:ext>
              </a:extLst>
            </p:cNvPr>
            <p:cNvSpPr txBox="1"/>
            <p:nvPr/>
          </p:nvSpPr>
          <p:spPr>
            <a:xfrm>
              <a:off x="904152" y="1097731"/>
              <a:ext cx="13432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190.1.3.250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A979A95-07EA-362B-83F2-B4D2D256048E}"/>
                </a:ext>
              </a:extLst>
            </p:cNvPr>
            <p:cNvSpPr/>
            <p:nvPr/>
          </p:nvSpPr>
          <p:spPr>
            <a:xfrm>
              <a:off x="2051441" y="1780033"/>
              <a:ext cx="137160" cy="13716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2CD0CD4-B7A1-B38D-40C4-AA49567D1836}"/>
                </a:ext>
              </a:extLst>
            </p:cNvPr>
            <p:cNvSpPr/>
            <p:nvPr/>
          </p:nvSpPr>
          <p:spPr>
            <a:xfrm>
              <a:off x="2501275" y="1766617"/>
              <a:ext cx="137160" cy="13716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73ADB342-5EBC-011A-37EE-75D9587BF33A}"/>
                </a:ext>
              </a:extLst>
            </p:cNvPr>
            <p:cNvCxnSpPr>
              <a:cxnSpLocks/>
              <a:stCxn id="87" idx="0"/>
              <a:endCxn id="86" idx="2"/>
            </p:cNvCxnSpPr>
            <p:nvPr/>
          </p:nvCxnSpPr>
          <p:spPr>
            <a:xfrm flipH="1" flipV="1">
              <a:off x="1575776" y="1374730"/>
              <a:ext cx="544245" cy="405303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9DA29FC-CB86-95AA-EB54-EA9533964228}"/>
                </a:ext>
              </a:extLst>
            </p:cNvPr>
            <p:cNvCxnSpPr>
              <a:cxnSpLocks/>
              <a:stCxn id="28" idx="3"/>
              <a:endCxn id="8" idx="0"/>
            </p:cNvCxnSpPr>
            <p:nvPr/>
          </p:nvCxnSpPr>
          <p:spPr>
            <a:xfrm>
              <a:off x="2558542" y="1848614"/>
              <a:ext cx="783976" cy="42898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9FCEA049-CB91-85E8-9290-D6DE44E068C5}"/>
              </a:ext>
            </a:extLst>
          </p:cNvPr>
          <p:cNvSpPr txBox="1"/>
          <p:nvPr/>
        </p:nvSpPr>
        <p:spPr>
          <a:xfrm>
            <a:off x="2868413" y="1077584"/>
            <a:ext cx="1080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 IP address</a:t>
            </a:r>
          </a:p>
        </p:txBody>
      </p:sp>
    </p:spTree>
    <p:extLst>
      <p:ext uri="{BB962C8B-B14F-4D97-AF65-F5344CB8AC3E}">
        <p14:creationId xmlns:p14="http://schemas.microsoft.com/office/powerpoint/2010/main" val="3764032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5AAC0-325C-CF96-A3AB-3E60744E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B9B9A1F9-6781-2095-5D05-7A21DA1A872C}"/>
              </a:ext>
            </a:extLst>
          </p:cNvPr>
          <p:cNvSpPr txBox="1">
            <a:spLocks/>
          </p:cNvSpPr>
          <p:nvPr/>
        </p:nvSpPr>
        <p:spPr>
          <a:xfrm>
            <a:off x="506185" y="52738"/>
            <a:ext cx="11179629" cy="7368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+mn-lt"/>
              </a:rPr>
              <a:t>Using ARP in Hosts</a:t>
            </a:r>
            <a:endParaRPr lang="en-US" dirty="0"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226810-34E1-D7F7-D478-C4CE9D99C1D0}"/>
              </a:ext>
            </a:extLst>
          </p:cNvPr>
          <p:cNvSpPr txBox="1"/>
          <p:nvPr/>
        </p:nvSpPr>
        <p:spPr>
          <a:xfrm>
            <a:off x="506185" y="692189"/>
            <a:ext cx="10215156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200" dirty="0"/>
              <a:t>How do hosts forward packets?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200" dirty="0"/>
              <a:t>Determine if destination is local (same LAN) or non-local: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200" dirty="0"/>
              <a:t>Uses subnet mask to check. (See note at bottom of slide for example)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200" dirty="0"/>
              <a:t>Use ARP based on destination: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200" dirty="0"/>
              <a:t>If destination IP is </a:t>
            </a:r>
            <a:r>
              <a:rPr lang="en-US" altLang="zh-CN" sz="2200" b="1" i="1" dirty="0">
                <a:solidFill>
                  <a:srgbClr val="C00000"/>
                </a:solidFill>
              </a:rPr>
              <a:t>local</a:t>
            </a:r>
            <a:r>
              <a:rPr lang="en-US" altLang="zh-CN" sz="2200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altLang="zh-CN" sz="2200" dirty="0"/>
              <a:t>	Use ARP to find MAC of destination. Send packet to destination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200" dirty="0"/>
              <a:t>If destination IP is </a:t>
            </a:r>
            <a:r>
              <a:rPr lang="en-US" altLang="zh-CN" sz="2200" b="1" i="1" dirty="0">
                <a:solidFill>
                  <a:srgbClr val="C00000"/>
                </a:solidFill>
              </a:rPr>
              <a:t>non-local</a:t>
            </a:r>
            <a:r>
              <a:rPr lang="en-US" altLang="zh-CN" sz="2200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altLang="zh-CN" sz="2200" dirty="0"/>
              <a:t>	Use ARP to find MAC of router. Send packet to router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2FF59-5BCD-46B9-383D-7F91F6EEACE1}"/>
              </a:ext>
            </a:extLst>
          </p:cNvPr>
          <p:cNvSpPr txBox="1"/>
          <p:nvPr/>
        </p:nvSpPr>
        <p:spPr>
          <a:xfrm>
            <a:off x="2478549" y="4096828"/>
            <a:ext cx="72349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i="1" u="sng" dirty="0">
                <a:solidFill>
                  <a:srgbClr val="C00000"/>
                </a:solidFill>
              </a:rPr>
              <a:t>Q: </a:t>
            </a:r>
            <a:r>
              <a:rPr lang="en-US" sz="2000" b="1" i="1" dirty="0"/>
              <a:t>How does host know router's IP and subnet mask?</a:t>
            </a:r>
          </a:p>
          <a:p>
            <a:pPr>
              <a:spcAft>
                <a:spcPts val="600"/>
              </a:spcAft>
            </a:pPr>
            <a:r>
              <a:rPr lang="en-US" sz="2000" b="1" i="1" u="sng" dirty="0">
                <a:solidFill>
                  <a:srgbClr val="C00000"/>
                </a:solidFill>
              </a:rPr>
              <a:t>A: </a:t>
            </a:r>
            <a:r>
              <a:rPr lang="en-US" sz="2000" dirty="0"/>
              <a:t>DHCP provides all network configuration: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IP address for the host (e.g., </a:t>
            </a:r>
            <a:r>
              <a:rPr lang="en-US" sz="2000" b="1" i="1" dirty="0">
                <a:latin typeface="Consolas" panose="020B0609020204030204" pitchFamily="49" charset="0"/>
              </a:rPr>
              <a:t>192.168.1.5</a:t>
            </a:r>
            <a:r>
              <a:rPr lang="en-US" sz="2000" dirty="0"/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Subnet mask (e.g., </a:t>
            </a:r>
            <a:r>
              <a:rPr lang="en-US" sz="2000" b="1" i="1" dirty="0">
                <a:latin typeface="Consolas" panose="020B0609020204030204" pitchFamily="49" charset="0"/>
              </a:rPr>
              <a:t>255.255.255.0</a:t>
            </a:r>
            <a:r>
              <a:rPr lang="en-US" sz="2000" dirty="0"/>
              <a:t>)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Default gateway (router's IP, e.g., </a:t>
            </a:r>
            <a:r>
              <a:rPr lang="en-US" sz="2000" b="1" i="1" dirty="0">
                <a:latin typeface="Consolas" panose="020B0609020204030204" pitchFamily="49" charset="0"/>
              </a:rPr>
              <a:t>192.168.1.1</a:t>
            </a:r>
            <a:r>
              <a:rPr lang="en-US" sz="2000" dirty="0"/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DNS server(s) (e.g., </a:t>
            </a:r>
            <a:r>
              <a:rPr lang="en-US" sz="2000" b="1" i="1" dirty="0">
                <a:latin typeface="Consolas" panose="020B0609020204030204" pitchFamily="49" charset="0"/>
              </a:rPr>
              <a:t>8.8.8.8</a:t>
            </a:r>
            <a:r>
              <a:rPr lang="en-US" sz="2000" dirty="0"/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Lease time (how long IP is valid)</a:t>
            </a:r>
          </a:p>
        </p:txBody>
      </p:sp>
    </p:spTree>
    <p:extLst>
      <p:ext uri="{BB962C8B-B14F-4D97-AF65-F5344CB8AC3E}">
        <p14:creationId xmlns:p14="http://schemas.microsoft.com/office/powerpoint/2010/main" val="4222607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12" y="135897"/>
            <a:ext cx="10515600" cy="1072686"/>
          </a:xfrm>
        </p:spPr>
        <p:txBody>
          <a:bodyPr>
            <a:normAutofit/>
          </a:bodyPr>
          <a:lstStyle/>
          <a:p>
            <a:r>
              <a:rPr lang="en-US" sz="3400" b="0" kern="0" dirty="0">
                <a:latin typeface="+mn-lt"/>
                <a:ea typeface="ＭＳ Ｐゴシック" charset="0"/>
              </a:rPr>
              <a:t>Sending to Another Network: </a:t>
            </a:r>
            <a:br>
              <a:rPr lang="en-US" sz="3400" b="0" kern="0" dirty="0">
                <a:latin typeface="+mn-lt"/>
                <a:ea typeface="ＭＳ Ｐゴシック" charset="0"/>
              </a:rPr>
            </a:br>
            <a:r>
              <a:rPr lang="en-US" sz="3400" b="0" kern="0" dirty="0">
                <a:latin typeface="+mn-lt"/>
                <a:ea typeface="ＭＳ Ｐゴシック" charset="0"/>
              </a:rPr>
              <a:t>MAC = Next Hop, IP = Final Destination</a:t>
            </a:r>
            <a:endParaRPr lang="en-US" sz="3400" b="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AutoShape 153">
            <a:extLst>
              <a:ext uri="{FF2B5EF4-FFF2-40B4-BE49-F238E27FC236}">
                <a16:creationId xmlns:a16="http://schemas.microsoft.com/office/drawing/2014/main" id="{C1DEC24C-BFB2-6B4F-BA81-EEC3A6A9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282" y="340415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90" name="Group 151">
            <a:extLst>
              <a:ext uri="{FF2B5EF4-FFF2-40B4-BE49-F238E27FC236}">
                <a16:creationId xmlns:a16="http://schemas.microsoft.com/office/drawing/2014/main" id="{B486901D-4BFD-A447-BC3C-D5DADB46F879}"/>
              </a:ext>
            </a:extLst>
          </p:cNvPr>
          <p:cNvGrpSpPr>
            <a:grpSpLocks/>
          </p:cNvGrpSpPr>
          <p:nvPr/>
        </p:nvGrpSpPr>
        <p:grpSpPr bwMode="auto"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191" name="Group 150">
              <a:extLst>
                <a:ext uri="{FF2B5EF4-FFF2-40B4-BE49-F238E27FC236}">
                  <a16:creationId xmlns:a16="http://schemas.microsoft.com/office/drawing/2014/main" id="{DB9AC85E-9F88-E44B-86D1-FA4DC8294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93" name="Rectangle 123">
                <a:extLst>
                  <a:ext uri="{FF2B5EF4-FFF2-40B4-BE49-F238E27FC236}">
                    <a16:creationId xmlns:a16="http://schemas.microsoft.com/office/drawing/2014/main" id="{82C7BD2C-0748-4943-8169-C0860563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Line 124">
                <a:extLst>
                  <a:ext uri="{FF2B5EF4-FFF2-40B4-BE49-F238E27FC236}">
                    <a16:creationId xmlns:a16="http://schemas.microsoft.com/office/drawing/2014/main" id="{CEC87B94-6EC9-8B4B-B829-61592882D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Line 125">
                <a:extLst>
                  <a:ext uri="{FF2B5EF4-FFF2-40B4-BE49-F238E27FC236}">
                    <a16:creationId xmlns:a16="http://schemas.microsoft.com/office/drawing/2014/main" id="{0397BBAB-8DE8-C34D-93BF-78BBA0802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92" name="Text Box 126">
              <a:extLst>
                <a:ext uri="{FF2B5EF4-FFF2-40B4-BE49-F238E27FC236}">
                  <a16:creationId xmlns:a16="http://schemas.microsoft.com/office/drawing/2014/main" id="{3CF80CC5-5CA2-3F49-8AE1-D6488278A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196" name="Group 141">
            <a:extLst>
              <a:ext uri="{FF2B5EF4-FFF2-40B4-BE49-F238E27FC236}">
                <a16:creationId xmlns:a16="http://schemas.microsoft.com/office/drawing/2014/main" id="{43D6CC11-6A15-DA4D-A6B4-3A498BA39B16}"/>
              </a:ext>
            </a:extLst>
          </p:cNvPr>
          <p:cNvGrpSpPr>
            <a:grpSpLocks/>
          </p:cNvGrpSpPr>
          <p:nvPr/>
        </p:nvGrpSpPr>
        <p:grpSpPr bwMode="auto">
          <a:xfrm>
            <a:off x="3166920" y="3221588"/>
            <a:ext cx="146050" cy="385762"/>
            <a:chOff x="1272" y="1762"/>
            <a:chExt cx="92" cy="243"/>
          </a:xfrm>
        </p:grpSpPr>
        <p:sp>
          <p:nvSpPr>
            <p:cNvPr id="197" name="Line 127">
              <a:extLst>
                <a:ext uri="{FF2B5EF4-FFF2-40B4-BE49-F238E27FC236}">
                  <a16:creationId xmlns:a16="http://schemas.microsoft.com/office/drawing/2014/main" id="{CFF4232C-6C8D-CA46-B8DF-55A6B990E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98" name="Line 128">
              <a:extLst>
                <a:ext uri="{FF2B5EF4-FFF2-40B4-BE49-F238E27FC236}">
                  <a16:creationId xmlns:a16="http://schemas.microsoft.com/office/drawing/2014/main" id="{0FC90CB0-074D-124C-8085-60D0348E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9" name="Rectangle 143">
            <a:extLst>
              <a:ext uri="{FF2B5EF4-FFF2-40B4-BE49-F238E27FC236}">
                <a16:creationId xmlns:a16="http://schemas.microsoft.com/office/drawing/2014/main" id="{F8580D94-0394-A442-8CB6-1546E5F04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 creates IP datagram with IP source A, destination B </a:t>
            </a:r>
          </a:p>
        </p:txBody>
      </p:sp>
      <p:sp>
        <p:nvSpPr>
          <p:cNvPr id="200" name="Rectangle 144">
            <a:extLst>
              <a:ext uri="{FF2B5EF4-FFF2-40B4-BE49-F238E27FC236}">
                <a16:creationId xmlns:a16="http://schemas.microsoft.com/office/drawing/2014/main" id="{093EF9D2-90C4-4246-A4CE-501547C4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 creates link-layer frame containing A-to-B IP datagram</a:t>
            </a:r>
          </a:p>
          <a:p>
            <a:pPr marL="574675" marR="0" lvl="1" indent="-231775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R's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MAC address is frame’s destination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201" name="Group 152">
            <a:extLst>
              <a:ext uri="{FF2B5EF4-FFF2-40B4-BE49-F238E27FC236}">
                <a16:creationId xmlns:a16="http://schemas.microsoft.com/office/drawing/2014/main" id="{30393C52-80B1-B34B-82FD-6D6AFC8693EE}"/>
              </a:ext>
            </a:extLst>
          </p:cNvPr>
          <p:cNvGrpSpPr>
            <a:grpSpLocks/>
          </p:cNvGrpSpPr>
          <p:nvPr/>
        </p:nvGrpSpPr>
        <p:grpSpPr bwMode="auto"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202" name="Text Box 135">
              <a:extLst>
                <a:ext uri="{FF2B5EF4-FFF2-40B4-BE49-F238E27FC236}">
                  <a16:creationId xmlns:a16="http://schemas.microsoft.com/office/drawing/2014/main" id="{374D8384-205B-1346-973B-C4A7A0B52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74-29-9C-E8-FF-55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MAC dest: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E6-E9-00-17-BB-4B</a:t>
              </a:r>
            </a:p>
          </p:txBody>
        </p:sp>
        <p:grpSp>
          <p:nvGrpSpPr>
            <p:cNvPr id="203" name="Group 145">
              <a:extLst>
                <a:ext uri="{FF2B5EF4-FFF2-40B4-BE49-F238E27FC236}">
                  <a16:creationId xmlns:a16="http://schemas.microsoft.com/office/drawing/2014/main" id="{324C4549-7D5D-384F-879F-F56865A6A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08" name="Rectangle 138">
                <a:extLst>
                  <a:ext uri="{FF2B5EF4-FFF2-40B4-BE49-F238E27FC236}">
                    <a16:creationId xmlns:a16="http://schemas.microsoft.com/office/drawing/2014/main" id="{792B456E-98EA-6B4A-876C-B0AFF8E18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1508FFC8-F29B-B547-818C-4E76AD809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0" name="Line 133">
                <a:extLst>
                  <a:ext uri="{FF2B5EF4-FFF2-40B4-BE49-F238E27FC236}">
                    <a16:creationId xmlns:a16="http://schemas.microsoft.com/office/drawing/2014/main" id="{9D7FBAE4-C7D6-034D-9F66-0E702A18B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1" name="Line 134">
                <a:extLst>
                  <a:ext uri="{FF2B5EF4-FFF2-40B4-BE49-F238E27FC236}">
                    <a16:creationId xmlns:a16="http://schemas.microsoft.com/office/drawing/2014/main" id="{9A8B4FC8-4A21-FC48-8F5C-42315337A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2" name="Line 139">
                <a:extLst>
                  <a:ext uri="{FF2B5EF4-FFF2-40B4-BE49-F238E27FC236}">
                    <a16:creationId xmlns:a16="http://schemas.microsoft.com/office/drawing/2014/main" id="{1BD450FA-6D95-6745-8EF4-368B3B851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3" name="Line 140">
                <a:extLst>
                  <a:ext uri="{FF2B5EF4-FFF2-40B4-BE49-F238E27FC236}">
                    <a16:creationId xmlns:a16="http://schemas.microsoft.com/office/drawing/2014/main" id="{0D4EB437-69D7-4C47-A77B-9756687B8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4" name="Line 146">
              <a:extLst>
                <a:ext uri="{FF2B5EF4-FFF2-40B4-BE49-F238E27FC236}">
                  <a16:creationId xmlns:a16="http://schemas.microsoft.com/office/drawing/2014/main" id="{39B1C57E-A0B3-D648-A52F-CE4868DFC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5" name="Line 147">
              <a:extLst>
                <a:ext uri="{FF2B5EF4-FFF2-40B4-BE49-F238E27FC236}">
                  <a16:creationId xmlns:a16="http://schemas.microsoft.com/office/drawing/2014/main" id="{5B09FD8B-0878-5849-9CD0-9079BE5AB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Line 148">
              <a:extLst>
                <a:ext uri="{FF2B5EF4-FFF2-40B4-BE49-F238E27FC236}">
                  <a16:creationId xmlns:a16="http://schemas.microsoft.com/office/drawing/2014/main" id="{F9CDF104-5CA2-3D47-B4A6-1BF38DE29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149">
              <a:extLst>
                <a:ext uri="{FF2B5EF4-FFF2-40B4-BE49-F238E27FC236}">
                  <a16:creationId xmlns:a16="http://schemas.microsoft.com/office/drawing/2014/main" id="{FA91BD8F-96F1-D84D-B88C-4AD05CA4A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67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99" grpId="0"/>
      <p:bldP spid="20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6" name="Rectangle 76">
            <a:extLst>
              <a:ext uri="{FF2B5EF4-FFF2-40B4-BE49-F238E27FC236}">
                <a16:creationId xmlns:a16="http://schemas.microsoft.com/office/drawing/2014/main" id="{0C39CCFA-046E-A446-84EF-1BEA3B8C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F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sent from A to R</a:t>
            </a:r>
          </a:p>
        </p:txBody>
      </p:sp>
      <p:grpSp>
        <p:nvGrpSpPr>
          <p:cNvPr id="217" name="Group 100">
            <a:extLst>
              <a:ext uri="{FF2B5EF4-FFF2-40B4-BE49-F238E27FC236}">
                <a16:creationId xmlns:a16="http://schemas.microsoft.com/office/drawing/2014/main" id="{26593A8D-E362-224D-9E7E-B61DB7194FD2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18" name="Freeform 93">
              <a:extLst>
                <a:ext uri="{FF2B5EF4-FFF2-40B4-BE49-F238E27FC236}">
                  <a16:creationId xmlns:a16="http://schemas.microsoft.com/office/drawing/2014/main" id="{42C52F5E-B581-5146-A523-9B4DBBF2A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Rectangle 94">
              <a:extLst>
                <a:ext uri="{FF2B5EF4-FFF2-40B4-BE49-F238E27FC236}">
                  <a16:creationId xmlns:a16="http://schemas.microsoft.com/office/drawing/2014/main" id="{1FCD4D83-89D6-3841-86ED-D90DD589A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Text Box 95">
              <a:extLst>
                <a:ext uri="{FF2B5EF4-FFF2-40B4-BE49-F238E27FC236}">
                  <a16:creationId xmlns:a16="http://schemas.microsoft.com/office/drawing/2014/main" id="{AF3AB9C7-326F-214C-B68F-8E9DBB6D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21" name="Line 98">
              <a:extLst>
                <a:ext uri="{FF2B5EF4-FFF2-40B4-BE49-F238E27FC236}">
                  <a16:creationId xmlns:a16="http://schemas.microsoft.com/office/drawing/2014/main" id="{B4AA6736-B872-464D-8F00-A2300EE0D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Line 99">
              <a:extLst>
                <a:ext uri="{FF2B5EF4-FFF2-40B4-BE49-F238E27FC236}">
                  <a16:creationId xmlns:a16="http://schemas.microsoft.com/office/drawing/2014/main" id="{CB139325-F501-DB43-B9CC-6A6C52C7F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23" name="Rectangle 101">
            <a:extLst>
              <a:ext uri="{FF2B5EF4-FFF2-40B4-BE49-F238E27FC236}">
                <a16:creationId xmlns:a16="http://schemas.microsoft.com/office/drawing/2014/main" id="{8EBFBDEF-AAA3-4340-9162-016BC02B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F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received at R, datagram removed, passed up to IP</a:t>
            </a:r>
          </a:p>
        </p:txBody>
      </p:sp>
      <p:grpSp>
        <p:nvGrpSpPr>
          <p:cNvPr id="224" name="Group 131">
            <a:extLst>
              <a:ext uri="{FF2B5EF4-FFF2-40B4-BE49-F238E27FC236}">
                <a16:creationId xmlns:a16="http://schemas.microsoft.com/office/drawing/2014/main" id="{95486488-4C25-234D-AE46-F14C0273A412}"/>
              </a:ext>
            </a:extLst>
          </p:cNvPr>
          <p:cNvGrpSpPr>
            <a:grpSpLocks/>
          </p:cNvGrpSpPr>
          <p:nvPr/>
        </p:nvGrpSpPr>
        <p:grpSpPr bwMode="auto"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225" name="Text Box 79">
              <a:extLst>
                <a:ext uri="{FF2B5EF4-FFF2-40B4-BE49-F238E27FC236}">
                  <a16:creationId xmlns:a16="http://schemas.microsoft.com/office/drawing/2014/main" id="{D2216B94-937D-4644-A4B0-B59D607E0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74-29-9C-E8-FF-55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MAC dest: E6-E9-00-17-BB-4B</a:t>
              </a:r>
            </a:p>
          </p:txBody>
        </p:sp>
        <p:grpSp>
          <p:nvGrpSpPr>
            <p:cNvPr id="226" name="Group 80">
              <a:extLst>
                <a:ext uri="{FF2B5EF4-FFF2-40B4-BE49-F238E27FC236}">
                  <a16:creationId xmlns:a16="http://schemas.microsoft.com/office/drawing/2014/main" id="{74FDF8C0-9447-DE41-BACB-360101EE6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91B41E0A-F429-5E45-AC76-2FCB31FCC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1C3169C4-E630-6A41-9685-666E6C384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CED1F1A7-B695-6E4E-9FA6-5AA850143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08886298-54D3-1A46-8429-10B826D2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F5285889-1D2B-B547-B316-981ED840C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17AB5318-1DFA-814E-B7AA-B0A13DDAB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7" name="Line 87">
              <a:extLst>
                <a:ext uri="{FF2B5EF4-FFF2-40B4-BE49-F238E27FC236}">
                  <a16:creationId xmlns:a16="http://schemas.microsoft.com/office/drawing/2014/main" id="{D3C56A82-378C-D642-AF1E-FDE107787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Line 88">
              <a:extLst>
                <a:ext uri="{FF2B5EF4-FFF2-40B4-BE49-F238E27FC236}">
                  <a16:creationId xmlns:a16="http://schemas.microsoft.com/office/drawing/2014/main" id="{DFF54215-DE96-B14B-BA21-CC331FD76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9">
              <a:extLst>
                <a:ext uri="{FF2B5EF4-FFF2-40B4-BE49-F238E27FC236}">
                  <a16:creationId xmlns:a16="http://schemas.microsoft.com/office/drawing/2014/main" id="{A24A71FF-A793-E749-AC22-A4A0D350F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Line 90">
              <a:extLst>
                <a:ext uri="{FF2B5EF4-FFF2-40B4-BE49-F238E27FC236}">
                  <a16:creationId xmlns:a16="http://schemas.microsoft.com/office/drawing/2014/main" id="{C1F3029F-74E1-934A-94C0-39E2BE291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130">
              <a:extLst>
                <a:ext uri="{FF2B5EF4-FFF2-40B4-BE49-F238E27FC236}">
                  <a16:creationId xmlns:a16="http://schemas.microsoft.com/office/drawing/2014/main" id="{EB155DAE-47C1-D14B-8A96-D3690043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254" name="Group 68">
            <a:extLst>
              <a:ext uri="{FF2B5EF4-FFF2-40B4-BE49-F238E27FC236}">
                <a16:creationId xmlns:a16="http://schemas.microsoft.com/office/drawing/2014/main" id="{1A75D45F-AC9A-1841-96BB-54AD4F3B3AA3}"/>
              </a:ext>
            </a:extLst>
          </p:cNvPr>
          <p:cNvGrpSpPr>
            <a:grpSpLocks/>
          </p:cNvGrpSpPr>
          <p:nvPr/>
        </p:nvGrpSpPr>
        <p:grpSpPr bwMode="auto"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255" name="Rectangle 69">
              <a:extLst>
                <a:ext uri="{FF2B5EF4-FFF2-40B4-BE49-F238E27FC236}">
                  <a16:creationId xmlns:a16="http://schemas.microsoft.com/office/drawing/2014/main" id="{F9CA10E0-D12F-234C-A388-A4AA3D27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Line 70">
              <a:extLst>
                <a:ext uri="{FF2B5EF4-FFF2-40B4-BE49-F238E27FC236}">
                  <a16:creationId xmlns:a16="http://schemas.microsoft.com/office/drawing/2014/main" id="{F89DE28D-1CB2-694F-BB37-0E108EEA4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7" name="Line 71">
              <a:extLst>
                <a:ext uri="{FF2B5EF4-FFF2-40B4-BE49-F238E27FC236}">
                  <a16:creationId xmlns:a16="http://schemas.microsoft.com/office/drawing/2014/main" id="{E471EBCA-2760-5D46-BDF2-79AA0D584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8" name="Group 146">
            <a:extLst>
              <a:ext uri="{FF2B5EF4-FFF2-40B4-BE49-F238E27FC236}">
                <a16:creationId xmlns:a16="http://schemas.microsoft.com/office/drawing/2014/main" id="{6236AA8D-2F27-404F-95A3-EBA53FD8D9F3}"/>
              </a:ext>
            </a:extLst>
          </p:cNvPr>
          <p:cNvGrpSpPr>
            <a:grpSpLocks/>
          </p:cNvGrpSpPr>
          <p:nvPr/>
        </p:nvGrpSpPr>
        <p:grpSpPr bwMode="auto">
          <a:xfrm>
            <a:off x="4139501" y="2695932"/>
            <a:ext cx="2011363" cy="979488"/>
            <a:chOff x="4493" y="1480"/>
            <a:chExt cx="1267" cy="617"/>
          </a:xfrm>
        </p:grpSpPr>
        <p:sp>
          <p:nvSpPr>
            <p:cNvPr id="259" name="Line 143">
              <a:extLst>
                <a:ext uri="{FF2B5EF4-FFF2-40B4-BE49-F238E27FC236}">
                  <a16:creationId xmlns:a16="http://schemas.microsoft.com/office/drawing/2014/main" id="{5AC998EC-DB9D-8148-9F1F-2192C496A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Line 144">
              <a:extLst>
                <a:ext uri="{FF2B5EF4-FFF2-40B4-BE49-F238E27FC236}">
                  <a16:creationId xmlns:a16="http://schemas.microsoft.com/office/drawing/2014/main" id="{5CE2DD15-1141-5C45-87A0-DFED66E19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Text Box 145">
              <a:extLst>
                <a:ext uri="{FF2B5EF4-FFF2-40B4-BE49-F238E27FC236}">
                  <a16:creationId xmlns:a16="http://schemas.microsoft.com/office/drawing/2014/main" id="{078DCCF7-88A5-9245-8B08-6E0254E6A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 src: 111.111.111.111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 IP dest: 222.222.222.222</a:t>
              </a: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67179CDD-2FE4-175B-2387-F68FD93F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12" y="135897"/>
            <a:ext cx="10515600" cy="1072686"/>
          </a:xfrm>
        </p:spPr>
        <p:txBody>
          <a:bodyPr>
            <a:normAutofit/>
          </a:bodyPr>
          <a:lstStyle/>
          <a:p>
            <a:r>
              <a:rPr lang="en-US" sz="3400" b="0" kern="0" dirty="0">
                <a:latin typeface="+mn-lt"/>
                <a:ea typeface="ＭＳ Ｐゴシック" charset="0"/>
              </a:rPr>
              <a:t>Sending to Another Network: </a:t>
            </a:r>
            <a:br>
              <a:rPr lang="en-US" sz="3400" b="0" kern="0" dirty="0">
                <a:latin typeface="+mn-lt"/>
                <a:ea typeface="ＭＳ Ｐゴシック" charset="0"/>
              </a:rPr>
            </a:br>
            <a:r>
              <a:rPr lang="en-US" sz="3400" b="0" kern="0" dirty="0">
                <a:latin typeface="+mn-lt"/>
                <a:ea typeface="ＭＳ Ｐゴシック" charset="0"/>
              </a:rPr>
              <a:t>MAC = Next Hop, IP = Final Destination</a:t>
            </a:r>
            <a:endParaRPr lang="en-US" sz="3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70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13287 L 0.0405 0.16296 L 0.0849 0.16296 C 0.08451 0.11319 0.08464 0.04792 0.08438 -0.00139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AutoShape 2">
            <a:extLst>
              <a:ext uri="{FF2B5EF4-FFF2-40B4-BE49-F238E27FC236}">
                <a16:creationId xmlns:a16="http://schemas.microsoft.com/office/drawing/2014/main" id="{9B1750D3-DB25-3942-83ED-EDC62E26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51" y="3383377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17" name="Group 68">
            <a:extLst>
              <a:ext uri="{FF2B5EF4-FFF2-40B4-BE49-F238E27FC236}">
                <a16:creationId xmlns:a16="http://schemas.microsoft.com/office/drawing/2014/main" id="{A2F9C891-FC37-7441-9AFE-1BF07B00CE9A}"/>
              </a:ext>
            </a:extLst>
          </p:cNvPr>
          <p:cNvGrpSpPr>
            <a:grpSpLocks/>
          </p:cNvGrpSpPr>
          <p:nvPr/>
        </p:nvGrpSpPr>
        <p:grpSpPr bwMode="auto"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219" name="Rectangle 69">
              <a:extLst>
                <a:ext uri="{FF2B5EF4-FFF2-40B4-BE49-F238E27FC236}">
                  <a16:creationId xmlns:a16="http://schemas.microsoft.com/office/drawing/2014/main" id="{ABC7D2F8-BDEC-3A4D-901B-F82A6FF73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Line 70">
              <a:extLst>
                <a:ext uri="{FF2B5EF4-FFF2-40B4-BE49-F238E27FC236}">
                  <a16:creationId xmlns:a16="http://schemas.microsoft.com/office/drawing/2014/main" id="{AEEBCCC1-7FAE-2146-9E61-16642152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1" name="Line 71">
              <a:extLst>
                <a:ext uri="{FF2B5EF4-FFF2-40B4-BE49-F238E27FC236}">
                  <a16:creationId xmlns:a16="http://schemas.microsoft.com/office/drawing/2014/main" id="{D75FD9FE-4060-BA43-A7C5-75A49C035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8" name="Text Box 72">
            <a:extLst>
              <a:ext uri="{FF2B5EF4-FFF2-40B4-BE49-F238E27FC236}">
                <a16:creationId xmlns:a16="http://schemas.microsoft.com/office/drawing/2014/main" id="{5DDEAD0E-76B7-8043-B2C1-C9DF8A6B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IP src: 111.111.111.111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   IP dest: 222.222.222.222</a:t>
            </a:r>
          </a:p>
        </p:txBody>
      </p:sp>
      <p:grpSp>
        <p:nvGrpSpPr>
          <p:cNvPr id="222" name="Group 73">
            <a:extLst>
              <a:ext uri="{FF2B5EF4-FFF2-40B4-BE49-F238E27FC236}">
                <a16:creationId xmlns:a16="http://schemas.microsoft.com/office/drawing/2014/main" id="{D580AA98-14C0-524D-A89D-3790585B59D3}"/>
              </a:ext>
            </a:extLst>
          </p:cNvPr>
          <p:cNvGrpSpPr>
            <a:grpSpLocks/>
          </p:cNvGrpSpPr>
          <p:nvPr/>
        </p:nvGrpSpPr>
        <p:grpSpPr bwMode="auto">
          <a:xfrm>
            <a:off x="6639063" y="3191289"/>
            <a:ext cx="146050" cy="385763"/>
            <a:chOff x="1272" y="1762"/>
            <a:chExt cx="92" cy="243"/>
          </a:xfrm>
        </p:grpSpPr>
        <p:sp>
          <p:nvSpPr>
            <p:cNvPr id="223" name="Line 74">
              <a:extLst>
                <a:ext uri="{FF2B5EF4-FFF2-40B4-BE49-F238E27FC236}">
                  <a16:creationId xmlns:a16="http://schemas.microsoft.com/office/drawing/2014/main" id="{4C748A70-B8F0-294E-9362-22CA5C645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Line 75">
              <a:extLst>
                <a:ext uri="{FF2B5EF4-FFF2-40B4-BE49-F238E27FC236}">
                  <a16:creationId xmlns:a16="http://schemas.microsoft.com/office/drawing/2014/main" id="{9048F87D-3F66-C248-A9C5-CCD0E7322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25" name="Group 78">
            <a:extLst>
              <a:ext uri="{FF2B5EF4-FFF2-40B4-BE49-F238E27FC236}">
                <a16:creationId xmlns:a16="http://schemas.microsoft.com/office/drawing/2014/main" id="{1261332F-D264-364F-88EB-BFD606F41948}"/>
              </a:ext>
            </a:extLst>
          </p:cNvPr>
          <p:cNvGrpSpPr>
            <a:grpSpLocks/>
          </p:cNvGrpSpPr>
          <p:nvPr/>
        </p:nvGrpSpPr>
        <p:grpSpPr bwMode="auto"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226" name="Text Box 79">
              <a:extLst>
                <a:ext uri="{FF2B5EF4-FFF2-40B4-BE49-F238E27FC236}">
                  <a16:creationId xmlns:a16="http://schemas.microsoft.com/office/drawing/2014/main" id="{28E9361B-9039-124A-9DC6-D122A7A2D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MAC src: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1A-23-F9-CD-06-9B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 MAC dest: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49-BD-D2-C7-56-2A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7" name="Group 80">
              <a:extLst>
                <a:ext uri="{FF2B5EF4-FFF2-40B4-BE49-F238E27FC236}">
                  <a16:creationId xmlns:a16="http://schemas.microsoft.com/office/drawing/2014/main" id="{5F78FAD6-835B-074E-B7D5-09F7C0E39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C3C06B5D-372C-AA47-A9A2-8B1419255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F41D6B8B-E033-6742-9F0C-113ECBA9E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8BEAB215-C9F8-034E-91D4-A6DDCCCF7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D3243B3D-1034-1F41-B1B4-AA332FBDC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753D2944-83E6-4545-AF25-FEA73A5C2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31BF5A48-20D7-BF42-A1EF-C3E489580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8" name="Line 87">
              <a:extLst>
                <a:ext uri="{FF2B5EF4-FFF2-40B4-BE49-F238E27FC236}">
                  <a16:creationId xmlns:a16="http://schemas.microsoft.com/office/drawing/2014/main" id="{C5350C7E-16CE-C341-8351-C1500E39D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29" name="Line 88">
              <a:extLst>
                <a:ext uri="{FF2B5EF4-FFF2-40B4-BE49-F238E27FC236}">
                  <a16:creationId xmlns:a16="http://schemas.microsoft.com/office/drawing/2014/main" id="{7383055F-34B4-384A-8524-0E5C772EB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Line 89">
              <a:extLst>
                <a:ext uri="{FF2B5EF4-FFF2-40B4-BE49-F238E27FC236}">
                  <a16:creationId xmlns:a16="http://schemas.microsoft.com/office/drawing/2014/main" id="{681D829B-43B8-1746-8FBA-1B62381E3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90">
              <a:extLst>
                <a:ext uri="{FF2B5EF4-FFF2-40B4-BE49-F238E27FC236}">
                  <a16:creationId xmlns:a16="http://schemas.microsoft.com/office/drawing/2014/main" id="{52C55227-72D6-FC49-8335-2193E937F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2" name="Rectangle 76">
            <a:extLst>
              <a:ext uri="{FF2B5EF4-FFF2-40B4-BE49-F238E27FC236}">
                <a16:creationId xmlns:a16="http://schemas.microsoft.com/office/drawing/2014/main" id="{A9A61F84-DCC9-0442-B3AD-28B3BF3D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determines outgoing interface, passes datagram with IP source A, destination B to link layer </a:t>
            </a:r>
          </a:p>
        </p:txBody>
      </p:sp>
      <p:sp>
        <p:nvSpPr>
          <p:cNvPr id="253" name="Rectangle 77">
            <a:extLst>
              <a:ext uri="{FF2B5EF4-FFF2-40B4-BE49-F238E27FC236}">
                <a16:creationId xmlns:a16="http://schemas.microsoft.com/office/drawing/2014/main" id="{806738DB-9A7E-A345-80F1-AC4CD01DA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creates link-layer frame containing A-to-B IP datagram. Frame destination address: B's MAC address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F78E9DF9-F08A-F96D-4260-517A0CF1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12" y="135897"/>
            <a:ext cx="10515600" cy="1072686"/>
          </a:xfrm>
        </p:spPr>
        <p:txBody>
          <a:bodyPr>
            <a:normAutofit/>
          </a:bodyPr>
          <a:lstStyle/>
          <a:p>
            <a:r>
              <a:rPr lang="en-US" sz="3400" b="0" kern="0" dirty="0">
                <a:latin typeface="+mn-lt"/>
                <a:ea typeface="ＭＳ Ｐゴシック" charset="0"/>
              </a:rPr>
              <a:t>Sending to Another Network: </a:t>
            </a:r>
            <a:br>
              <a:rPr lang="en-US" sz="3400" b="0" kern="0" dirty="0">
                <a:latin typeface="+mn-lt"/>
                <a:ea typeface="ＭＳ Ｐゴシック" charset="0"/>
              </a:rPr>
            </a:br>
            <a:r>
              <a:rPr lang="en-US" sz="3400" b="0" kern="0" dirty="0">
                <a:latin typeface="+mn-lt"/>
                <a:ea typeface="ＭＳ Ｐゴシック" charset="0"/>
              </a:rPr>
              <a:t>MAC = Next Hop, IP = Final Destination</a:t>
            </a:r>
            <a:endParaRPr lang="en-US" sz="3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763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215" grpId="1" animBg="1"/>
      <p:bldP spid="252" grpId="0"/>
      <p:bldP spid="25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87" name="Group 99">
            <a:extLst>
              <a:ext uri="{FF2B5EF4-FFF2-40B4-BE49-F238E27FC236}">
                <a16:creationId xmlns:a16="http://schemas.microsoft.com/office/drawing/2014/main" id="{149E1102-1775-9C40-A82F-CA67E8AC3B7D}"/>
              </a:ext>
            </a:extLst>
          </p:cNvPr>
          <p:cNvGrpSpPr>
            <a:grpSpLocks/>
          </p:cNvGrpSpPr>
          <p:nvPr/>
        </p:nvGrpSpPr>
        <p:grpSpPr bwMode="auto"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189" name="Group 61">
              <a:extLst>
                <a:ext uri="{FF2B5EF4-FFF2-40B4-BE49-F238E27FC236}">
                  <a16:creationId xmlns:a16="http://schemas.microsoft.com/office/drawing/2014/main" id="{80947A02-3E38-7744-9D3B-796971D86D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206" name="Group 62">
                <a:extLst>
                  <a:ext uri="{FF2B5EF4-FFF2-40B4-BE49-F238E27FC236}">
                    <a16:creationId xmlns:a16="http://schemas.microsoft.com/office/drawing/2014/main" id="{2C306763-C23D-394C-B9CB-A453BB6212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209" name="Line 64">
                  <a:extLst>
                    <a:ext uri="{FF2B5EF4-FFF2-40B4-BE49-F238E27FC236}">
                      <a16:creationId xmlns:a16="http://schemas.microsoft.com/office/drawing/2014/main" id="{F381FEB3-A7BA-3548-97B5-DF6631000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0" name="Line 65">
                  <a:extLst>
                    <a:ext uri="{FF2B5EF4-FFF2-40B4-BE49-F238E27FC236}">
                      <a16:creationId xmlns:a16="http://schemas.microsoft.com/office/drawing/2014/main" id="{48BDFC0F-8101-BE4D-913A-7A1AB9920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07" name="Text Box 66">
                <a:extLst>
                  <a:ext uri="{FF2B5EF4-FFF2-40B4-BE49-F238E27FC236}">
                    <a16:creationId xmlns:a16="http://schemas.microsoft.com/office/drawing/2014/main" id="{115C73F4-7033-6248-9366-1B2132172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IP src: 111.111.111.111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 IP dest: 222.222.222.222</a:t>
                </a:r>
              </a:p>
            </p:txBody>
          </p:sp>
        </p:grpSp>
        <p:grpSp>
          <p:nvGrpSpPr>
            <p:cNvPr id="191" name="Group 72">
              <a:extLst>
                <a:ext uri="{FF2B5EF4-FFF2-40B4-BE49-F238E27FC236}">
                  <a16:creationId xmlns:a16="http://schemas.microsoft.com/office/drawing/2014/main" id="{F55ED3F7-1CC5-5C4A-820C-1DF5F3282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92" name="Text Box 73">
                <a:extLst>
                  <a:ext uri="{FF2B5EF4-FFF2-40B4-BE49-F238E27FC236}">
                    <a16:creationId xmlns:a16="http://schemas.microsoft.com/office/drawing/2014/main" id="{5DD14730-A902-F44B-9C3C-51E4CF51F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MAC src: 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1A-23-F9-CD-06-9B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MAC dest: 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49-BD-D2-C7-56-2A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93" name="Group 74">
                <a:extLst>
                  <a:ext uri="{FF2B5EF4-FFF2-40B4-BE49-F238E27FC236}">
                    <a16:creationId xmlns:a16="http://schemas.microsoft.com/office/drawing/2014/main" id="{E61CC039-B56A-9D4C-AF28-707D673CA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98" name="Rectangle 75">
                  <a:extLst>
                    <a:ext uri="{FF2B5EF4-FFF2-40B4-BE49-F238E27FC236}">
                      <a16:creationId xmlns:a16="http://schemas.microsoft.com/office/drawing/2014/main" id="{9B79D222-9680-2547-8547-368ADC49A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99" name="Rectangle 76">
                  <a:extLst>
                    <a:ext uri="{FF2B5EF4-FFF2-40B4-BE49-F238E27FC236}">
                      <a16:creationId xmlns:a16="http://schemas.microsoft.com/office/drawing/2014/main" id="{E433AB76-2AFC-2C42-BD43-7C73DA563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0" name="Line 77">
                  <a:extLst>
                    <a:ext uri="{FF2B5EF4-FFF2-40B4-BE49-F238E27FC236}">
                      <a16:creationId xmlns:a16="http://schemas.microsoft.com/office/drawing/2014/main" id="{36CCAF09-1127-1542-BE8D-2FC029319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1" name="Line 78">
                  <a:extLst>
                    <a:ext uri="{FF2B5EF4-FFF2-40B4-BE49-F238E27FC236}">
                      <a16:creationId xmlns:a16="http://schemas.microsoft.com/office/drawing/2014/main" id="{630B8E56-957F-7845-BDC3-FB921DFE6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2" name="Line 79">
                  <a:extLst>
                    <a:ext uri="{FF2B5EF4-FFF2-40B4-BE49-F238E27FC236}">
                      <a16:creationId xmlns:a16="http://schemas.microsoft.com/office/drawing/2014/main" id="{DE10D221-5D35-F64B-A0FC-014829FAD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3" name="Line 80">
                  <a:extLst>
                    <a:ext uri="{FF2B5EF4-FFF2-40B4-BE49-F238E27FC236}">
                      <a16:creationId xmlns:a16="http://schemas.microsoft.com/office/drawing/2014/main" id="{8636BFF3-AEB5-1447-A7AA-E7BFA2359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94" name="Line 81">
                <a:extLst>
                  <a:ext uri="{FF2B5EF4-FFF2-40B4-BE49-F238E27FC236}">
                    <a16:creationId xmlns:a16="http://schemas.microsoft.com/office/drawing/2014/main" id="{CE7452E4-0FD6-D244-9E83-39D133879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Line 82">
                <a:extLst>
                  <a:ext uri="{FF2B5EF4-FFF2-40B4-BE49-F238E27FC236}">
                    <a16:creationId xmlns:a16="http://schemas.microsoft.com/office/drawing/2014/main" id="{9A9ABF67-FDC9-3640-90D1-F635D4F11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Line 83">
                <a:extLst>
                  <a:ext uri="{FF2B5EF4-FFF2-40B4-BE49-F238E27FC236}">
                    <a16:creationId xmlns:a16="http://schemas.microsoft.com/office/drawing/2014/main" id="{11A36B1B-5EF9-BE4E-B102-BDF2F8D1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Line 84">
                <a:extLst>
                  <a:ext uri="{FF2B5EF4-FFF2-40B4-BE49-F238E27FC236}">
                    <a16:creationId xmlns:a16="http://schemas.microsoft.com/office/drawing/2014/main" id="{DBFE7F51-9B86-5F41-A7BB-3339CA991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ransmits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link-layer frame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74BA2DA1-F394-464B-8C5F-E81836E1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determines outgoing interface, passes datagram with IP source A, destination B to link layer </a:t>
            </a:r>
          </a:p>
        </p:txBody>
      </p:sp>
      <p:sp>
        <p:nvSpPr>
          <p:cNvPr id="256" name="Rectangle 77">
            <a:extLst>
              <a:ext uri="{FF2B5EF4-FFF2-40B4-BE49-F238E27FC236}">
                <a16:creationId xmlns:a16="http://schemas.microsoft.com/office/drawing/2014/main" id="{690603EC-6A8E-7B49-94C4-6F92D9F2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 creates link-layer frame containing A-to-B IP datagram. Frame destination address: B's MAC address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D742D9-83F5-6539-4CB9-D8FA6A5D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12" y="135897"/>
            <a:ext cx="10515600" cy="1072686"/>
          </a:xfrm>
        </p:spPr>
        <p:txBody>
          <a:bodyPr>
            <a:normAutofit/>
          </a:bodyPr>
          <a:lstStyle/>
          <a:p>
            <a:r>
              <a:rPr lang="en-US" sz="3400" b="0" kern="0" dirty="0">
                <a:latin typeface="+mn-lt"/>
                <a:ea typeface="ＭＳ Ｐゴシック" charset="0"/>
              </a:rPr>
              <a:t>Sending to Another Network: </a:t>
            </a:r>
            <a:br>
              <a:rPr lang="en-US" sz="3400" b="0" kern="0" dirty="0">
                <a:latin typeface="+mn-lt"/>
                <a:ea typeface="ＭＳ Ｐゴシック" charset="0"/>
              </a:rPr>
            </a:br>
            <a:r>
              <a:rPr lang="en-US" sz="3400" b="0" kern="0" dirty="0">
                <a:latin typeface="+mn-lt"/>
                <a:ea typeface="ＭＳ Ｐゴシック" charset="0"/>
              </a:rPr>
              <a:t>MAC = Next Hop, IP = Final Destination</a:t>
            </a:r>
            <a:endParaRPr lang="en-US" sz="3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655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0.00023 L 1.04167E-6 0.19838 L 0.13489 0.11782 C 0.13489 0.06597 0.13607 0.01042 0.13607 -0.0414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  <a:cs typeface="+mn-cs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Eth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2" name="Rectangle 76">
            <a:extLst>
              <a:ext uri="{FF2B5EF4-FFF2-40B4-BE49-F238E27FC236}">
                <a16:creationId xmlns:a16="http://schemas.microsoft.com/office/drawing/2014/main" id="{5FBC6133-DD27-3241-A408-966313D3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receives frame, extracts IP datagram destination B </a:t>
            </a:r>
          </a:p>
        </p:txBody>
      </p: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passes datagram up protocol stack to IP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5808B4-288B-1A47-80DE-79C749B11A60}"/>
              </a:ext>
            </a:extLst>
          </p:cNvPr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97" name="Group 61">
              <a:extLst>
                <a:ext uri="{FF2B5EF4-FFF2-40B4-BE49-F238E27FC236}">
                  <a16:creationId xmlns:a16="http://schemas.microsoft.com/office/drawing/2014/main" id="{590253FA-B20A-BC47-9991-7C88D4928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139" name="Group 62">
                <a:extLst>
                  <a:ext uri="{FF2B5EF4-FFF2-40B4-BE49-F238E27FC236}">
                    <a16:creationId xmlns:a16="http://schemas.microsoft.com/office/drawing/2014/main" id="{16EF4841-6756-4D46-9546-277539335C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148" name="Line 64">
                  <a:extLst>
                    <a:ext uri="{FF2B5EF4-FFF2-40B4-BE49-F238E27FC236}">
                      <a16:creationId xmlns:a16="http://schemas.microsoft.com/office/drawing/2014/main" id="{7371DDB5-904C-874E-8170-C30D59BE5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3" name="Line 65">
                  <a:extLst>
                    <a:ext uri="{FF2B5EF4-FFF2-40B4-BE49-F238E27FC236}">
                      <a16:creationId xmlns:a16="http://schemas.microsoft.com/office/drawing/2014/main" id="{6FF50978-C793-0044-BB29-ED02AA8DB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41" name="Text Box 66">
                <a:extLst>
                  <a:ext uri="{FF2B5EF4-FFF2-40B4-BE49-F238E27FC236}">
                    <a16:creationId xmlns:a16="http://schemas.microsoft.com/office/drawing/2014/main" id="{CF1AC934-0101-A144-8086-FDAE559CA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IP src: 111.111.111.111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  IP dest: 222.222.222.222</a:t>
                </a:r>
              </a:p>
            </p:txBody>
          </p:sp>
        </p:grpSp>
        <p:sp>
          <p:nvSpPr>
            <p:cNvPr id="134" name="Rectangle 76">
              <a:extLst>
                <a:ext uri="{FF2B5EF4-FFF2-40B4-BE49-F238E27FC236}">
                  <a16:creationId xmlns:a16="http://schemas.microsoft.com/office/drawing/2014/main" id="{5CAD8B39-F5FB-0F41-BB58-2958DF33F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77">
              <a:extLst>
                <a:ext uri="{FF2B5EF4-FFF2-40B4-BE49-F238E27FC236}">
                  <a16:creationId xmlns:a16="http://schemas.microsoft.com/office/drawing/2014/main" id="{D811A9F1-AA7D-C549-A785-729344EC6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8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Line 78">
              <a:extLst>
                <a:ext uri="{FF2B5EF4-FFF2-40B4-BE49-F238E27FC236}">
                  <a16:creationId xmlns:a16="http://schemas.microsoft.com/office/drawing/2014/main" id="{2F881AFC-357E-514E-AD8A-1BD2337E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2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965AF9CB-B38A-5341-85A1-FE1D132A8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948" y="3182110"/>
              <a:ext cx="3175" cy="746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Line 84">
              <a:extLst>
                <a:ext uri="{FF2B5EF4-FFF2-40B4-BE49-F238E27FC236}">
                  <a16:creationId xmlns:a16="http://schemas.microsoft.com/office/drawing/2014/main" id="{246C53EB-6FD6-D440-9F52-35BA7E016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998" y="3359910"/>
              <a:ext cx="3175" cy="568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68E55E15-C59A-F431-3FDA-AE2B70E6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12" y="135897"/>
            <a:ext cx="10515600" cy="1072686"/>
          </a:xfrm>
        </p:spPr>
        <p:txBody>
          <a:bodyPr>
            <a:normAutofit/>
          </a:bodyPr>
          <a:lstStyle/>
          <a:p>
            <a:r>
              <a:rPr lang="en-US" sz="3400" b="0" kern="0" dirty="0">
                <a:latin typeface="+mn-lt"/>
                <a:ea typeface="ＭＳ Ｐゴシック" charset="0"/>
              </a:rPr>
              <a:t>Sending to Another Network: </a:t>
            </a:r>
            <a:br>
              <a:rPr lang="en-US" sz="3400" b="0" kern="0" dirty="0">
                <a:latin typeface="+mn-lt"/>
                <a:ea typeface="ＭＳ Ｐゴシック" charset="0"/>
              </a:rPr>
            </a:br>
            <a:r>
              <a:rPr lang="en-US" sz="3400" b="0" kern="0" dirty="0">
                <a:latin typeface="+mn-lt"/>
                <a:ea typeface="ＭＳ Ｐゴシック" charset="0"/>
              </a:rPr>
              <a:t>MAC = Next Hop, IP = Final Destination</a:t>
            </a:r>
            <a:endParaRPr lang="en-US" sz="3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496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0052 -0.0407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03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6189</TotalTime>
  <Words>3347</Words>
  <Application>Microsoft Office PowerPoint</Application>
  <PresentationFormat>Widescreen</PresentationFormat>
  <Paragraphs>716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游ゴシック</vt:lpstr>
      <vt:lpstr>Aptos</vt:lpstr>
      <vt:lpstr>Aptos Display</vt:lpstr>
      <vt:lpstr>Arial</vt:lpstr>
      <vt:lpstr>Calibri</vt:lpstr>
      <vt:lpstr>Comic Sans MS</vt:lpstr>
      <vt:lpstr>Consolas</vt:lpstr>
      <vt:lpstr>Roboto</vt:lpstr>
      <vt:lpstr>Wingdings</vt:lpstr>
      <vt:lpstr>Office Theme</vt:lpstr>
      <vt:lpstr>CSC 3511 Security and Networking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Self-Learning and Forwarding Algorithm</vt:lpstr>
      <vt:lpstr>PowerPoint Presentation</vt:lpstr>
      <vt:lpstr>PowerPoint Presentation</vt:lpstr>
      <vt:lpstr>PowerPoint Presentation</vt:lpstr>
      <vt:lpstr>ARP: Address Resolution Protocol</vt:lpstr>
      <vt:lpstr>ARP: Address Resolution Protocol</vt:lpstr>
      <vt:lpstr>ARP: Address Resolution Protocol</vt:lpstr>
      <vt:lpstr>ARP Protocol in Action</vt:lpstr>
      <vt:lpstr>PowerPoint Presentation</vt:lpstr>
      <vt:lpstr>PowerPoint Presentation</vt:lpstr>
      <vt:lpstr>PowerPoint Presentation</vt:lpstr>
      <vt:lpstr>Sending to Another Network:  MAC = Next Hop, IP = Final Destination</vt:lpstr>
      <vt:lpstr>Sending to Another Network:  MAC = Next Hop, IP = Final Destination</vt:lpstr>
      <vt:lpstr>Sending to Another Network:  MAC = Next Hop, IP = Final Destination</vt:lpstr>
      <vt:lpstr>Sending to Another Network:  MAC = Next Hop, IP = Final Destination</vt:lpstr>
      <vt:lpstr>Sending to Another Network:  MAC = Next Hop, IP = Final Destination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730</cp:revision>
  <dcterms:created xsi:type="dcterms:W3CDTF">2025-09-03T22:06:31Z</dcterms:created>
  <dcterms:modified xsi:type="dcterms:W3CDTF">2025-10-13T16:25:20Z</dcterms:modified>
</cp:coreProperties>
</file>