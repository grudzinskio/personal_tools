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7" r:id="rId2"/>
    <p:sldId id="1253" r:id="rId3"/>
    <p:sldId id="1112" r:id="rId4"/>
    <p:sldId id="1254" r:id="rId5"/>
    <p:sldId id="1255" r:id="rId6"/>
    <p:sldId id="1256" r:id="rId7"/>
    <p:sldId id="1257" r:id="rId8"/>
    <p:sldId id="1258" r:id="rId9"/>
    <p:sldId id="1259" r:id="rId10"/>
    <p:sldId id="1213" r:id="rId11"/>
    <p:sldId id="1116" r:id="rId12"/>
    <p:sldId id="1125" r:id="rId13"/>
    <p:sldId id="1117" r:id="rId14"/>
    <p:sldId id="1119" r:id="rId15"/>
    <p:sldId id="1260" r:id="rId16"/>
    <p:sldId id="1261" r:id="rId17"/>
    <p:sldId id="1262" r:id="rId18"/>
    <p:sldId id="1263" r:id="rId19"/>
    <p:sldId id="1264" r:id="rId20"/>
    <p:sldId id="1265" r:id="rId21"/>
    <p:sldId id="1266" r:id="rId22"/>
    <p:sldId id="1252" r:id="rId23"/>
    <p:sldId id="1121" r:id="rId24"/>
    <p:sldId id="1122" r:id="rId25"/>
    <p:sldId id="1124" r:id="rId26"/>
    <p:sldId id="1158"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339" autoAdjust="0"/>
  </p:normalViewPr>
  <p:slideViewPr>
    <p:cSldViewPr snapToGrid="0">
      <p:cViewPr varScale="1">
        <p:scale>
          <a:sx n="68" d="100"/>
          <a:sy n="68" d="100"/>
        </p:scale>
        <p:origin x="66" y="20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5325D3-F1C7-4B36-A88F-5BFB155084BF}" type="datetimeFigureOut">
              <a:rPr lang="en-US" smtClean="0"/>
              <a:t>9/15/2025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DCB26F-7BF5-4DA6-BA18-A0B7008BFCA0}" type="slidenum">
              <a:rPr lang="en-US" smtClean="0"/>
              <a:t>‹#›</a:t>
            </a:fld>
            <a:endParaRPr lang="en-US"/>
          </a:p>
        </p:txBody>
      </p:sp>
    </p:spTree>
    <p:extLst>
      <p:ext uri="{BB962C8B-B14F-4D97-AF65-F5344CB8AC3E}">
        <p14:creationId xmlns:p14="http://schemas.microsoft.com/office/powerpoint/2010/main" val="1805550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22697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2573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Example DNS Query:</a:t>
            </a:r>
            <a:endParaRPr lang="en-US" dirty="0"/>
          </a:p>
          <a:p>
            <a:pPr>
              <a:buFont typeface="Arial" panose="020B0604020202020204" pitchFamily="34" charset="0"/>
              <a:buChar char="•"/>
            </a:pPr>
            <a:r>
              <a:rPr lang="en-US" dirty="0"/>
              <a:t>When you type www.example.com into your browser, your computer first queries a </a:t>
            </a:r>
            <a:r>
              <a:rPr lang="en-US" b="1" dirty="0"/>
              <a:t>root DNS server</a:t>
            </a:r>
            <a:r>
              <a:rPr lang="en-US" dirty="0"/>
              <a:t>.</a:t>
            </a:r>
          </a:p>
          <a:p>
            <a:pPr>
              <a:buFont typeface="Arial" panose="020B0604020202020204" pitchFamily="34" charset="0"/>
              <a:buChar char="•"/>
            </a:pPr>
            <a:r>
              <a:rPr lang="en-US" dirty="0"/>
              <a:t>The root DNS server responds with the address of the .com TLD server.</a:t>
            </a:r>
          </a:p>
          <a:p>
            <a:r>
              <a:rPr lang="en-US" b="1" dirty="0"/>
              <a:t>Role of the TLD Server:</a:t>
            </a:r>
            <a:endParaRPr lang="en-US" dirty="0"/>
          </a:p>
          <a:p>
            <a:pPr>
              <a:buFont typeface="Arial" panose="020B0604020202020204" pitchFamily="34" charset="0"/>
              <a:buChar char="•"/>
            </a:pPr>
            <a:r>
              <a:rPr lang="en-US" dirty="0"/>
              <a:t>Your computer then queries the .com TLD server. This server checks its records and determines which DNS server is authoritative for example.com.</a:t>
            </a:r>
          </a:p>
          <a:p>
            <a:pPr>
              <a:buFont typeface="Arial" panose="020B0604020202020204" pitchFamily="34" charset="0"/>
              <a:buChar char="•"/>
            </a:pPr>
            <a:r>
              <a:rPr lang="en-US" dirty="0"/>
              <a:t>The .com TLD server responds with the IP address of the authoritative DNS server for example.com.</a:t>
            </a:r>
          </a:p>
          <a:p>
            <a:r>
              <a:rPr lang="en-US" b="1" dirty="0"/>
              <a:t>Final Step - Finding the IP Address:</a:t>
            </a:r>
            <a:endParaRPr lang="en-US" dirty="0"/>
          </a:p>
          <a:p>
            <a:pPr>
              <a:buFont typeface="Arial" panose="020B0604020202020204" pitchFamily="34" charset="0"/>
              <a:buChar char="•"/>
            </a:pPr>
            <a:r>
              <a:rPr lang="en-US" dirty="0"/>
              <a:t>Your computer queries the authoritative DNS server for example.com to get the final IP address of www.example.com.</a:t>
            </a:r>
          </a:p>
          <a:p>
            <a:pPr>
              <a:buFont typeface="Arial" panose="020B0604020202020204" pitchFamily="34" charset="0"/>
              <a:buChar char="•"/>
            </a:pPr>
            <a:r>
              <a:rPr lang="en-US" dirty="0"/>
              <a:t>Once it receives the IP address, your browser can connect to the website.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6137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7836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53891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25058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BA46A-03AC-AD2D-9C81-9F5D14C2E1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D3AC18-8DC2-1D77-2F39-C07CCF4749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FA458F-C6AC-6C02-5EF3-19032824FC23}"/>
              </a:ext>
            </a:extLst>
          </p:cNvPr>
          <p:cNvSpPr>
            <a:spLocks noGrp="1"/>
          </p:cNvSpPr>
          <p:nvPr>
            <p:ph type="body" idx="1"/>
          </p:nvPr>
        </p:nvSpPr>
        <p:spPr/>
        <p:txBody>
          <a:bodyPr/>
          <a:lstStyle/>
          <a:p>
            <a:r>
              <a:rPr lang="en-US" b="1" dirty="0"/>
              <a:t>Type:</a:t>
            </a:r>
          </a:p>
          <a:p>
            <a:endParaRPr lang="en-US" b="1" dirty="0"/>
          </a:p>
          <a:p>
            <a:pPr lvl="1"/>
            <a:r>
              <a:rPr lang="en-US" b="1" dirty="0"/>
              <a:t>A</a:t>
            </a:r>
            <a:r>
              <a:rPr lang="en-US" dirty="0"/>
              <a:t>: Direct hostname → IP mapping </a:t>
            </a:r>
          </a:p>
          <a:p>
            <a:pPr lvl="1"/>
            <a:r>
              <a:rPr lang="en-US" b="1" dirty="0"/>
              <a:t>NS</a:t>
            </a:r>
            <a:r>
              <a:rPr lang="en-US" dirty="0"/>
              <a:t>: Domain → DNS server responsible </a:t>
            </a:r>
          </a:p>
          <a:p>
            <a:pPr lvl="1"/>
            <a:r>
              <a:rPr lang="en-US" b="1" dirty="0"/>
              <a:t>CNAME</a:t>
            </a:r>
            <a:r>
              <a:rPr lang="en-US" dirty="0"/>
              <a:t>: Alias → real hostname </a:t>
            </a:r>
          </a:p>
          <a:p>
            <a:pPr lvl="1"/>
            <a:r>
              <a:rPr lang="en-US" b="1" dirty="0"/>
              <a:t>MX</a:t>
            </a:r>
            <a:r>
              <a:rPr lang="en-US" dirty="0"/>
              <a:t>: Domain → mail server for that domain</a:t>
            </a:r>
          </a:p>
        </p:txBody>
      </p:sp>
      <p:sp>
        <p:nvSpPr>
          <p:cNvPr id="4" name="Slide Number Placeholder 3">
            <a:extLst>
              <a:ext uri="{FF2B5EF4-FFF2-40B4-BE49-F238E27FC236}">
                <a16:creationId xmlns:a16="http://schemas.microsoft.com/office/drawing/2014/main" id="{FC107D9B-A620-5D19-C4A5-0495A01103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2075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Optional task: If you have interest, please try the following commands: dig 8.8.8.8 and dig -x 8.8.8.8</a:t>
            </a:r>
          </a:p>
          <a:p>
            <a:endParaRPr lang="en-US" altLang="zh-CN" dirty="0"/>
          </a:p>
          <a:p>
            <a:r>
              <a:rPr lang="en-US" altLang="zh-CN" dirty="0"/>
              <a:t>What’s the difference between outputs?</a:t>
            </a:r>
          </a:p>
          <a:p>
            <a:endParaRPr lang="en-US" altLang="zh-CN" dirty="0"/>
          </a:p>
          <a:p>
            <a:r>
              <a:rPr lang="en-US" dirty="0"/>
              <a:t>dig &lt;hostname&gt; → </a:t>
            </a:r>
            <a:r>
              <a:rPr lang="en-US" b="1" dirty="0"/>
              <a:t>Forward lookup</a:t>
            </a:r>
            <a:r>
              <a:rPr lang="en-US" dirty="0"/>
              <a:t> (hostname → IP).</a:t>
            </a:r>
          </a:p>
          <a:p>
            <a:r>
              <a:rPr lang="en-US" dirty="0"/>
              <a:t>dig &lt;IP&gt; (without -x) → Still treated as a </a:t>
            </a:r>
            <a:r>
              <a:rPr lang="en-US" b="1" dirty="0"/>
              <a:t>hostname</a:t>
            </a:r>
            <a:r>
              <a:rPr lang="en-US" dirty="0"/>
              <a:t>, so it doesn’t work the way you expect.</a:t>
            </a:r>
          </a:p>
          <a:p>
            <a:r>
              <a:rPr lang="en-US" dirty="0"/>
              <a:t>dig -x &lt;IP&gt; → </a:t>
            </a:r>
            <a:r>
              <a:rPr lang="en-US" b="1" dirty="0"/>
              <a:t>Reverse lookup</a:t>
            </a:r>
            <a:r>
              <a:rPr lang="en-US" dirty="0"/>
              <a:t> (IP → hostname). The –x flag tells dig to do a PTR (pointer) query. It asks: “Does this IP address map to a hostname?”</a:t>
            </a:r>
          </a:p>
          <a:p>
            <a:endParaRPr lang="en-US" altLang="zh-CN" dirty="0"/>
          </a:p>
          <a:p>
            <a:endParaRPr lang="en-US" dirty="0"/>
          </a:p>
        </p:txBody>
      </p:sp>
      <p:sp>
        <p:nvSpPr>
          <p:cNvPr id="4" name="Slide Number Placeholder 3"/>
          <p:cNvSpPr>
            <a:spLocks noGrp="1"/>
          </p:cNvSpPr>
          <p:nvPr>
            <p:ph type="sldNum" sz="quarter" idx="5"/>
          </p:nvPr>
        </p:nvSpPr>
        <p:spPr/>
        <p:txBody>
          <a:bodyPr/>
          <a:lstStyle/>
          <a:p>
            <a:fld id="{B5DCB26F-7BF5-4DA6-BA18-A0B7008BFCA0}" type="slidenum">
              <a:rPr lang="en-US" smtClean="0"/>
              <a:t>16</a:t>
            </a:fld>
            <a:endParaRPr lang="en-US"/>
          </a:p>
        </p:txBody>
      </p:sp>
    </p:spTree>
    <p:extLst>
      <p:ext uri="{BB962C8B-B14F-4D97-AF65-F5344CB8AC3E}">
        <p14:creationId xmlns:p14="http://schemas.microsoft.com/office/powerpoint/2010/main" val="3918024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A464E"/>
                </a:solidFill>
                <a:effectLst/>
                <a:highlight>
                  <a:srgbClr val="FFFFFF"/>
                </a:highlight>
                <a:latin typeface="system-ui"/>
              </a:rPr>
              <a:t>The </a:t>
            </a:r>
            <a:r>
              <a:rPr lang="en-US" b="1" i="0" dirty="0">
                <a:solidFill>
                  <a:srgbClr val="4A464E"/>
                </a:solidFill>
                <a:effectLst/>
                <a:highlight>
                  <a:srgbClr val="FFFFFF"/>
                </a:highlight>
                <a:latin typeface="system-ui"/>
              </a:rPr>
              <a:t>authority section</a:t>
            </a:r>
            <a:r>
              <a:rPr lang="en-US" b="0" i="0" dirty="0">
                <a:solidFill>
                  <a:srgbClr val="4A464E"/>
                </a:solidFill>
                <a:effectLst/>
                <a:highlight>
                  <a:srgbClr val="FFFFFF"/>
                </a:highlight>
                <a:latin typeface="system-ui"/>
              </a:rPr>
              <a:t> contains 13 records. The first one has key </a:t>
            </a:r>
            <a:r>
              <a:rPr lang="en-US" dirty="0"/>
              <a:t>.</a:t>
            </a:r>
            <a:r>
              <a:rPr lang="en-US" dirty="0" err="1"/>
              <a:t>edu</a:t>
            </a:r>
            <a:r>
              <a:rPr lang="en-US" b="0" i="0" dirty="0">
                <a:solidFill>
                  <a:srgbClr val="4A464E"/>
                </a:solidFill>
                <a:effectLst/>
                <a:highlight>
                  <a:srgbClr val="FFFFFF"/>
                </a:highlight>
                <a:latin typeface="system-ui"/>
              </a:rPr>
              <a:t>, type </a:t>
            </a:r>
            <a:r>
              <a:rPr lang="en-US" dirty="0"/>
              <a:t>NS</a:t>
            </a:r>
            <a:r>
              <a:rPr lang="en-US" b="0" i="0" dirty="0">
                <a:solidFill>
                  <a:srgbClr val="4A464E"/>
                </a:solidFill>
                <a:effectLst/>
                <a:highlight>
                  <a:srgbClr val="FFFFFF"/>
                </a:highlight>
                <a:latin typeface="system-ui"/>
              </a:rPr>
              <a:t>, and value </a:t>
            </a:r>
            <a:r>
              <a:rPr lang="en-US" dirty="0"/>
              <a:t>d.edu-servers.net</a:t>
            </a:r>
            <a:r>
              <a:rPr lang="en-US" b="0" i="0" dirty="0">
                <a:solidFill>
                  <a:srgbClr val="4A464E"/>
                </a:solidFill>
                <a:effectLst/>
                <a:highlight>
                  <a:srgbClr val="FFFFFF"/>
                </a:highlight>
                <a:latin typeface="system-ui"/>
              </a:rPr>
              <a:t>. This is the root server giving us the </a:t>
            </a:r>
            <a:r>
              <a:rPr lang="en-US" b="1" i="0" dirty="0">
                <a:solidFill>
                  <a:srgbClr val="4A464E"/>
                </a:solidFill>
                <a:effectLst/>
                <a:highlight>
                  <a:srgbClr val="FFFFFF"/>
                </a:highlight>
                <a:latin typeface="system-ui"/>
              </a:rPr>
              <a:t>zone and the domain name of the next name server we should contact</a:t>
            </a:r>
            <a:r>
              <a:rPr lang="en-US" b="0" i="0" dirty="0">
                <a:solidFill>
                  <a:srgbClr val="4A464E"/>
                </a:solidFill>
                <a:effectLst/>
                <a:highlight>
                  <a:srgbClr val="FFFFFF"/>
                </a:highlight>
                <a:latin typeface="system-ui"/>
              </a:rPr>
              <a:t>. Each record in this section corresponds to a potential name server we could ask next.</a:t>
            </a:r>
          </a:p>
          <a:p>
            <a:endParaRPr lang="en-US" dirty="0"/>
          </a:p>
          <a:p>
            <a:endParaRPr lang="en-US" dirty="0"/>
          </a:p>
          <a:p>
            <a:r>
              <a:rPr lang="en-US" dirty="0"/>
              <a:t>The </a:t>
            </a:r>
            <a:r>
              <a:rPr lang="en-US" b="1" dirty="0"/>
              <a:t>additional section </a:t>
            </a:r>
            <a:r>
              <a:rPr lang="en-US" dirty="0"/>
              <a:t>is used to provide IP Addresses of Name Servers: If the query response in the Authority Section lists the name servers (NS records) responsible for a domain, the Additional Section often includes the corresponding A (IPv4) or AAAA (IPv6) records for these name servers. This allows the DNS resolver to know the IP addresses of those name servers without needing to perform additional lookups.</a:t>
            </a:r>
          </a:p>
        </p:txBody>
      </p:sp>
      <p:sp>
        <p:nvSpPr>
          <p:cNvPr id="4" name="Slide Number Placeholder 3"/>
          <p:cNvSpPr>
            <a:spLocks noGrp="1"/>
          </p:cNvSpPr>
          <p:nvPr>
            <p:ph type="sldNum" sz="quarter" idx="5"/>
          </p:nvPr>
        </p:nvSpPr>
        <p:spPr/>
        <p:txBody>
          <a:bodyPr/>
          <a:lstStyle/>
          <a:p>
            <a:fld id="{B5DCB26F-7BF5-4DA6-BA18-A0B7008BFCA0}" type="slidenum">
              <a:rPr lang="en-US" smtClean="0"/>
              <a:t>20</a:t>
            </a:fld>
            <a:endParaRPr lang="en-US"/>
          </a:p>
        </p:txBody>
      </p:sp>
    </p:spTree>
    <p:extLst>
      <p:ext uri="{BB962C8B-B14F-4D97-AF65-F5344CB8AC3E}">
        <p14:creationId xmlns:p14="http://schemas.microsoft.com/office/powerpoint/2010/main" val="22269516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0150-4928-5267-BBDB-03A17CE9FB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434808-9E49-650A-3AD1-7C552397B8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9379EA-AFF5-7665-A6E9-F569A9DCA4C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An AAAA (Quad-A) DNS record </a:t>
            </a:r>
            <a:r>
              <a:rPr lang="en-US" dirty="0"/>
              <a:t>maps a domain name to a server's IPv6 address</a:t>
            </a:r>
            <a:r>
              <a:rPr lang="en-US" sz="1200" b="0" i="0" kern="1200" dirty="0">
                <a:solidFill>
                  <a:schemeClr val="tx1"/>
                </a:solidFill>
                <a:effectLst/>
                <a:latin typeface="+mn-lt"/>
                <a:ea typeface="+mn-ea"/>
                <a:cs typeface="+mn-cs"/>
              </a:rPr>
              <a:t>, similar to how type A record map to IPv4 addresses.</a:t>
            </a:r>
            <a:endParaRPr lang="en-US" dirty="0"/>
          </a:p>
        </p:txBody>
      </p:sp>
      <p:sp>
        <p:nvSpPr>
          <p:cNvPr id="4" name="Slide Number Placeholder 3">
            <a:extLst>
              <a:ext uri="{FF2B5EF4-FFF2-40B4-BE49-F238E27FC236}">
                <a16:creationId xmlns:a16="http://schemas.microsoft.com/office/drawing/2014/main" id="{5183A530-EDCE-4A30-7433-A9A0BC99349E}"/>
              </a:ext>
            </a:extLst>
          </p:cNvPr>
          <p:cNvSpPr>
            <a:spLocks noGrp="1"/>
          </p:cNvSpPr>
          <p:nvPr>
            <p:ph type="sldNum" sz="quarter" idx="5"/>
          </p:nvPr>
        </p:nvSpPr>
        <p:spPr/>
        <p:txBody>
          <a:bodyPr/>
          <a:lstStyle/>
          <a:p>
            <a:fld id="{B5DCB26F-7BF5-4DA6-BA18-A0B7008BFCA0}" type="slidenum">
              <a:rPr lang="en-US" smtClean="0"/>
              <a:t>21</a:t>
            </a:fld>
            <a:endParaRPr lang="en-US"/>
          </a:p>
        </p:txBody>
      </p:sp>
    </p:spTree>
    <p:extLst>
      <p:ext uri="{BB962C8B-B14F-4D97-AF65-F5344CB8AC3E}">
        <p14:creationId xmlns:p14="http://schemas.microsoft.com/office/powerpoint/2010/main" val="31593974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A464E"/>
                </a:solidFill>
                <a:effectLst/>
                <a:highlight>
                  <a:srgbClr val="FFFFFF"/>
                </a:highlight>
                <a:latin typeface="system-ui"/>
              </a:rPr>
              <a:t>The </a:t>
            </a:r>
            <a:r>
              <a:rPr lang="en-US" b="1" i="0" dirty="0">
                <a:solidFill>
                  <a:srgbClr val="4A464E"/>
                </a:solidFill>
                <a:effectLst/>
                <a:highlight>
                  <a:srgbClr val="FFFFFF"/>
                </a:highlight>
                <a:latin typeface="system-ui"/>
              </a:rPr>
              <a:t>first root server </a:t>
            </a:r>
            <a:r>
              <a:rPr lang="en-US" b="0" i="0" dirty="0">
                <a:solidFill>
                  <a:srgbClr val="4A464E"/>
                </a:solidFill>
                <a:effectLst/>
                <a:highlight>
                  <a:srgbClr val="FFFFFF"/>
                </a:highlight>
                <a:latin typeface="system-ui"/>
              </a:rPr>
              <a:t>has domain </a:t>
            </a:r>
            <a:r>
              <a:rPr lang="en-US" dirty="0"/>
              <a:t>a.root-servers.net</a:t>
            </a:r>
            <a:r>
              <a:rPr lang="en-US" b="0" i="0" dirty="0">
                <a:solidFill>
                  <a:srgbClr val="4A464E"/>
                </a:solidFill>
                <a:effectLst/>
                <a:highlight>
                  <a:srgbClr val="FFFFFF"/>
                </a:highlight>
                <a:latin typeface="system-ui"/>
              </a:rPr>
              <a:t> and IP address </a:t>
            </a:r>
            <a:r>
              <a:rPr lang="en-US" b="1" dirty="0">
                <a:solidFill>
                  <a:srgbClr val="C00000"/>
                </a:solidFill>
              </a:rPr>
              <a:t>198.41.0.4</a:t>
            </a:r>
            <a:r>
              <a:rPr lang="en-US" b="0" i="0" dirty="0">
                <a:solidFill>
                  <a:srgbClr val="4A464E"/>
                </a:solidFill>
                <a:effectLst/>
                <a:highlight>
                  <a:srgbClr val="FFFFFF"/>
                </a:highlight>
                <a:latin typeface="system-ui"/>
              </a:rPr>
              <a:t>. We can use </a:t>
            </a:r>
            <a:r>
              <a:rPr lang="en-US" dirty="0"/>
              <a:t>dig</a:t>
            </a:r>
            <a:r>
              <a:rPr lang="en-US" b="0" i="0" dirty="0">
                <a:solidFill>
                  <a:srgbClr val="4A464E"/>
                </a:solidFill>
                <a:effectLst/>
                <a:highlight>
                  <a:srgbClr val="FFFFFF"/>
                </a:highlight>
                <a:latin typeface="system-ui"/>
              </a:rPr>
              <a:t> to send a DNS request to this address, asking for the IP address of www.</a:t>
            </a:r>
            <a:r>
              <a:rPr lang="en-US" dirty="0"/>
              <a:t>msoe.edu</a:t>
            </a:r>
            <a:endParaRPr lang="en-US" b="0" i="0" dirty="0">
              <a:solidFill>
                <a:srgbClr val="4A464E"/>
              </a:solidFill>
              <a:effectLst/>
              <a:highlight>
                <a:srgbClr val="FFFFFF"/>
              </a:highlight>
              <a:latin typeface="system-ui"/>
            </a:endParaRPr>
          </a:p>
          <a:p>
            <a:endParaRPr lang="en-US" b="0" i="0" dirty="0">
              <a:solidFill>
                <a:srgbClr val="4A464E"/>
              </a:solidFill>
              <a:effectLst/>
              <a:highlight>
                <a:srgbClr val="FFFFFF"/>
              </a:highlight>
              <a:latin typeface="system-ui"/>
            </a:endParaRPr>
          </a:p>
          <a:p>
            <a:r>
              <a:rPr lang="en-US" b="0" i="0" dirty="0">
                <a:solidFill>
                  <a:srgbClr val="4A464E"/>
                </a:solidFill>
                <a:effectLst/>
                <a:highlight>
                  <a:srgbClr val="FFFFFF"/>
                </a:highlight>
                <a:latin typeface="system-ui"/>
              </a:rPr>
              <a:t>The </a:t>
            </a:r>
            <a:r>
              <a:rPr lang="en-US" b="1" i="0" dirty="0">
                <a:solidFill>
                  <a:srgbClr val="4A464E"/>
                </a:solidFill>
                <a:effectLst/>
                <a:highlight>
                  <a:srgbClr val="FFFFFF"/>
                </a:highlight>
                <a:latin typeface="system-ui"/>
              </a:rPr>
              <a:t>question section</a:t>
            </a:r>
            <a:r>
              <a:rPr lang="en-US" b="0" i="0" dirty="0">
                <a:solidFill>
                  <a:srgbClr val="4A464E"/>
                </a:solidFill>
                <a:effectLst/>
                <a:highlight>
                  <a:srgbClr val="FFFFFF"/>
                </a:highlight>
                <a:latin typeface="system-ui"/>
              </a:rPr>
              <a:t> contains 1 record (you can verify by seeing </a:t>
            </a:r>
            <a:r>
              <a:rPr lang="en-US" dirty="0"/>
              <a:t>QUERY: 1</a:t>
            </a:r>
            <a:r>
              <a:rPr lang="en-US" b="0" i="0" dirty="0">
                <a:solidFill>
                  <a:srgbClr val="4A464E"/>
                </a:solidFill>
                <a:effectLst/>
                <a:highlight>
                  <a:srgbClr val="FFFFFF"/>
                </a:highlight>
                <a:latin typeface="system-ui"/>
              </a:rPr>
              <a:t> in the header). It has key </a:t>
            </a:r>
            <a:r>
              <a:rPr lang="en-US" sz="1200" dirty="0">
                <a:solidFill>
                  <a:schemeClr val="accent2">
                    <a:lumMod val="75000"/>
                  </a:schemeClr>
                </a:solidFill>
              </a:rPr>
              <a:t>www.msoe.edu</a:t>
            </a:r>
            <a:r>
              <a:rPr lang="en-US" b="0" i="0" dirty="0">
                <a:solidFill>
                  <a:srgbClr val="4A464E"/>
                </a:solidFill>
                <a:effectLst/>
                <a:highlight>
                  <a:srgbClr val="FFFFFF"/>
                </a:highlight>
                <a:latin typeface="system-ui"/>
              </a:rPr>
              <a:t>, type </a:t>
            </a:r>
            <a:r>
              <a:rPr lang="en-US" dirty="0"/>
              <a:t>A</a:t>
            </a:r>
            <a:r>
              <a:rPr lang="en-US" b="0" i="0" dirty="0">
                <a:solidFill>
                  <a:srgbClr val="4A464E"/>
                </a:solidFill>
                <a:effectLst/>
                <a:highlight>
                  <a:srgbClr val="FFFFFF"/>
                </a:highlight>
                <a:latin typeface="system-ui"/>
              </a:rPr>
              <a:t>, and a blank value. This represents the domain we queried for (the value is blank because we don’t know the corresponding IP address).</a:t>
            </a:r>
          </a:p>
          <a:p>
            <a:endParaRPr lang="en-US" b="0" i="0" dirty="0">
              <a:solidFill>
                <a:srgbClr val="4A464E"/>
              </a:solidFill>
              <a:effectLst/>
              <a:highlight>
                <a:srgbClr val="FFFFFF"/>
              </a:highlight>
              <a:latin typeface="system-ui"/>
            </a:endParaRPr>
          </a:p>
          <a:p>
            <a:r>
              <a:rPr lang="en-US" b="0" i="0" dirty="0">
                <a:solidFill>
                  <a:srgbClr val="4A464E"/>
                </a:solidFill>
                <a:effectLst/>
                <a:highlight>
                  <a:srgbClr val="FFFFFF"/>
                </a:highlight>
                <a:latin typeface="system-ui"/>
              </a:rPr>
              <a:t>The </a:t>
            </a:r>
            <a:r>
              <a:rPr lang="en-US" b="1" i="0" dirty="0">
                <a:solidFill>
                  <a:srgbClr val="4A464E"/>
                </a:solidFill>
                <a:effectLst/>
                <a:highlight>
                  <a:srgbClr val="FFFFFF"/>
                </a:highlight>
                <a:latin typeface="system-ui"/>
              </a:rPr>
              <a:t>answer section</a:t>
            </a:r>
            <a:r>
              <a:rPr lang="en-US" b="0" i="0" dirty="0">
                <a:solidFill>
                  <a:srgbClr val="4A464E"/>
                </a:solidFill>
                <a:effectLst/>
                <a:highlight>
                  <a:srgbClr val="FFFFFF"/>
                </a:highlight>
                <a:latin typeface="system-ui"/>
              </a:rPr>
              <a:t> is blank (</a:t>
            </a:r>
            <a:r>
              <a:rPr lang="en-US" dirty="0"/>
              <a:t>ANSWER: 0</a:t>
            </a:r>
            <a:r>
              <a:rPr lang="en-US" b="0" i="0" dirty="0">
                <a:solidFill>
                  <a:srgbClr val="4A464E"/>
                </a:solidFill>
                <a:effectLst/>
                <a:highlight>
                  <a:srgbClr val="FFFFFF"/>
                </a:highlight>
                <a:latin typeface="system-ui"/>
              </a:rPr>
              <a:t> in the header), because the root server didn’t provide a direct answer to our query.</a:t>
            </a:r>
          </a:p>
          <a:p>
            <a:endParaRPr lang="en-US" b="0" i="0" dirty="0">
              <a:solidFill>
                <a:srgbClr val="4A464E"/>
              </a:solidFill>
              <a:effectLst/>
              <a:highlight>
                <a:srgbClr val="FFFFFF"/>
              </a:highlight>
              <a:latin typeface="system-ui"/>
            </a:endParaRPr>
          </a:p>
          <a:p>
            <a:r>
              <a:rPr lang="en-US" b="0" i="0" dirty="0">
                <a:solidFill>
                  <a:srgbClr val="4A464E"/>
                </a:solidFill>
                <a:effectLst/>
                <a:highlight>
                  <a:srgbClr val="FFFFFF"/>
                </a:highlight>
                <a:latin typeface="system-ui"/>
              </a:rPr>
              <a:t>The </a:t>
            </a:r>
            <a:r>
              <a:rPr lang="en-US" b="1" i="0" dirty="0">
                <a:solidFill>
                  <a:srgbClr val="4A464E"/>
                </a:solidFill>
                <a:effectLst/>
                <a:highlight>
                  <a:srgbClr val="FFFFFF"/>
                </a:highlight>
                <a:latin typeface="system-ui"/>
              </a:rPr>
              <a:t>authority section</a:t>
            </a:r>
            <a:r>
              <a:rPr lang="en-US" b="0" i="0" dirty="0">
                <a:solidFill>
                  <a:srgbClr val="4A464E"/>
                </a:solidFill>
                <a:effectLst/>
                <a:highlight>
                  <a:srgbClr val="FFFFFF"/>
                </a:highlight>
                <a:latin typeface="system-ui"/>
              </a:rPr>
              <a:t> contains 13 records. The first one has key </a:t>
            </a:r>
            <a:r>
              <a:rPr lang="en-US" dirty="0"/>
              <a:t>.</a:t>
            </a:r>
            <a:r>
              <a:rPr lang="en-US" dirty="0" err="1"/>
              <a:t>edu</a:t>
            </a:r>
            <a:r>
              <a:rPr lang="en-US" b="0" i="0" dirty="0">
                <a:solidFill>
                  <a:srgbClr val="4A464E"/>
                </a:solidFill>
                <a:effectLst/>
                <a:highlight>
                  <a:srgbClr val="FFFFFF"/>
                </a:highlight>
                <a:latin typeface="system-ui"/>
              </a:rPr>
              <a:t>, type </a:t>
            </a:r>
            <a:r>
              <a:rPr lang="en-US" dirty="0"/>
              <a:t>NS</a:t>
            </a:r>
            <a:r>
              <a:rPr lang="en-US" b="0" i="0" dirty="0">
                <a:solidFill>
                  <a:srgbClr val="4A464E"/>
                </a:solidFill>
                <a:effectLst/>
                <a:highlight>
                  <a:srgbClr val="FFFFFF"/>
                </a:highlight>
                <a:latin typeface="system-ui"/>
              </a:rPr>
              <a:t>, and value </a:t>
            </a:r>
            <a:r>
              <a:rPr lang="en-US" dirty="0"/>
              <a:t>d.edu-servers.net</a:t>
            </a:r>
            <a:r>
              <a:rPr lang="en-US" b="0" i="0" dirty="0">
                <a:solidFill>
                  <a:srgbClr val="4A464E"/>
                </a:solidFill>
                <a:effectLst/>
                <a:highlight>
                  <a:srgbClr val="FFFFFF"/>
                </a:highlight>
                <a:latin typeface="system-ui"/>
              </a:rPr>
              <a:t>. This is the root server giving us the </a:t>
            </a:r>
            <a:r>
              <a:rPr lang="en-US" b="1" i="0" dirty="0">
                <a:solidFill>
                  <a:srgbClr val="4A464E"/>
                </a:solidFill>
                <a:effectLst/>
                <a:highlight>
                  <a:srgbClr val="FFFFFF"/>
                </a:highlight>
                <a:latin typeface="system-ui"/>
              </a:rPr>
              <a:t>zone and the domain name of the next name server we should contact</a:t>
            </a:r>
            <a:r>
              <a:rPr lang="en-US" b="0" i="0" dirty="0">
                <a:solidFill>
                  <a:srgbClr val="4A464E"/>
                </a:solidFill>
                <a:effectLst/>
                <a:highlight>
                  <a:srgbClr val="FFFFFF"/>
                </a:highlight>
                <a:latin typeface="system-ui"/>
              </a:rPr>
              <a:t>. Each record in this section corresponds to a potential name server we could ask next.</a:t>
            </a:r>
          </a:p>
          <a:p>
            <a:endParaRPr lang="en-US" b="0" i="0" dirty="0">
              <a:solidFill>
                <a:srgbClr val="4A464E"/>
              </a:solidFill>
              <a:effectLst/>
              <a:highlight>
                <a:srgbClr val="FFFFFF"/>
              </a:highlight>
              <a:latin typeface="system-ui"/>
            </a:endParaRPr>
          </a:p>
          <a:p>
            <a:r>
              <a:rPr lang="en-US" dirty="0"/>
              <a:t>The </a:t>
            </a:r>
            <a:r>
              <a:rPr lang="en-US" b="1" dirty="0"/>
              <a:t>additional section </a:t>
            </a:r>
            <a:r>
              <a:rPr lang="en-US" dirty="0"/>
              <a:t>is used to provide IP Addresses of Name Servers: If the query response in the Authority Section lists the name servers (NS records) responsible for a domain, the Additional Section often includes the corresponding A (IPv4) or AAAA (IPv6) records for these name servers. This allows the DNS resolver to know the IP addresses of those name servers without needing to perform additional lookups.</a:t>
            </a:r>
            <a:br>
              <a:rPr lang="en-US" dirty="0"/>
            </a:br>
            <a:br>
              <a:rPr lang="en-US" dirty="0"/>
            </a:br>
            <a:r>
              <a:rPr lang="en-US" dirty="0"/>
              <a:t>Note: Even though the dig command reveals that the IP address for msoe.edu is 69.20.113.171, entering this IP address directly into a browser does not lead you to the website. This happens due to several potential reasons:</a:t>
            </a:r>
            <a:br>
              <a:rPr lang="en-US" dirty="0"/>
            </a:br>
            <a:r>
              <a:rPr lang="en-US" b="1" dirty="0"/>
              <a:t>Virtual Hosting or Shared Hosting</a:t>
            </a:r>
            <a:r>
              <a:rPr lang="en-US" dirty="0"/>
              <a:t>:</a:t>
            </a:r>
          </a:p>
          <a:p>
            <a:pPr>
              <a:buFont typeface="Arial" panose="020B0604020202020204" pitchFamily="34" charset="0"/>
              <a:buChar char="•"/>
            </a:pPr>
            <a:r>
              <a:rPr lang="en-US" dirty="0"/>
              <a:t>Many websites are hosted on servers that use </a:t>
            </a:r>
            <a:r>
              <a:rPr lang="en-US" b="1" dirty="0"/>
              <a:t>virtual hosting</a:t>
            </a:r>
            <a:r>
              <a:rPr lang="en-US" dirty="0"/>
              <a:t> or </a:t>
            </a:r>
            <a:r>
              <a:rPr lang="en-US" b="1" dirty="0"/>
              <a:t>shared hosting</a:t>
            </a:r>
            <a:r>
              <a:rPr lang="en-US" dirty="0"/>
              <a:t>. This means a single server with one IP address hosts multiple websites.</a:t>
            </a:r>
          </a:p>
          <a:p>
            <a:pPr>
              <a:buFont typeface="Arial" panose="020B0604020202020204" pitchFamily="34" charset="0"/>
              <a:buChar char="•"/>
            </a:pPr>
            <a:r>
              <a:rPr lang="en-US" dirty="0"/>
              <a:t>When you type a domain name like msoe.edu in your browser, the browser sends an HTTP request with a </a:t>
            </a:r>
            <a:r>
              <a:rPr lang="en-US" b="1" dirty="0"/>
              <a:t>Host header</a:t>
            </a:r>
            <a:r>
              <a:rPr lang="en-US" dirty="0"/>
              <a:t> that tells the server which website you want to access. The server uses this information to serve the correct website.</a:t>
            </a:r>
          </a:p>
          <a:p>
            <a:pPr>
              <a:buFont typeface="Arial" panose="020B0604020202020204" pitchFamily="34" charset="0"/>
              <a:buChar char="•"/>
            </a:pPr>
            <a:r>
              <a:rPr lang="en-US" dirty="0"/>
              <a:t>However, if you enter the IP address directly, there is no Host header specifying msoe.edu, so the server doesn't know which website to serve and might show a default page or nothing at all.</a:t>
            </a:r>
          </a:p>
          <a:p>
            <a:r>
              <a:rPr lang="en-US" b="1" dirty="0"/>
              <a:t>IP Address is Not Directly Mapped to a Web Server</a:t>
            </a:r>
            <a:r>
              <a:rPr lang="en-US" dirty="0"/>
              <a:t>:</a:t>
            </a:r>
          </a:p>
          <a:p>
            <a:pPr>
              <a:buFont typeface="Arial" panose="020B0604020202020204" pitchFamily="34" charset="0"/>
              <a:buChar char="•"/>
            </a:pPr>
            <a:r>
              <a:rPr lang="en-US" dirty="0"/>
              <a:t>The IP address 69.20.113.171 might not directly map to a web server that is configured to serve the content for msoe.edu. Instead, it could be an intermediary or load balancer that requires the domain name to route traffic properly.</a:t>
            </a:r>
          </a:p>
          <a:p>
            <a:r>
              <a:rPr lang="en-US" b="1" dirty="0"/>
              <a:t>Firewall or Security Restrictions</a:t>
            </a:r>
            <a:r>
              <a:rPr lang="en-US" dirty="0"/>
              <a:t>:</a:t>
            </a:r>
          </a:p>
          <a:p>
            <a:pPr>
              <a:buFont typeface="Arial" panose="020B0604020202020204" pitchFamily="34" charset="0"/>
              <a:buChar char="•"/>
            </a:pPr>
            <a:r>
              <a:rPr lang="en-US" dirty="0"/>
              <a:t>The server at 69.20.113.171 could have security measures or firewall settings that prevent direct access via IP. This is often done to prevent direct attacks on the IP address and to ensure that requests come through legitimate DNS queries.</a:t>
            </a:r>
          </a:p>
          <a:p>
            <a:endParaRPr lang="en-US" dirty="0"/>
          </a:p>
          <a:p>
            <a:endParaRPr lang="en-US" dirty="0"/>
          </a:p>
          <a:p>
            <a:r>
              <a:rPr lang="en-US" dirty="0"/>
              <a:t>A DNS CNAME (Canonical Name) record is an alias that points a domain name or subdomain to another domain name, not an IP address. When a client queries a CNAME record, it performs a second lookup to find the A (or AAAA) record of the target domain to get the actual IP address, allowing multiple hostnames to refer to a single server's IP address.</a:t>
            </a:r>
            <a:br>
              <a:rPr lang="en-US" dirty="0"/>
            </a:b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32338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7822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33987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78218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7315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4C98F-B827-13AD-265C-514C216220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A41564-4F01-3DA7-30A5-41B696027D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298C639-4AB9-F4D6-CFBA-209FE857A5B2}"/>
              </a:ext>
            </a:extLst>
          </p:cNvPr>
          <p:cNvSpPr>
            <a:spLocks noGrp="1"/>
          </p:cNvSpPr>
          <p:nvPr>
            <p:ph type="dt" sz="half" idx="10"/>
          </p:nvPr>
        </p:nvSpPr>
        <p:spPr/>
        <p:txBody>
          <a:bodyPr/>
          <a:lstStyle/>
          <a:p>
            <a:fld id="{40272AB9-64A1-45BC-9C9A-78E398D2F99B}" type="datetimeFigureOut">
              <a:rPr lang="en-US" smtClean="0"/>
              <a:t>9/15/2025</a:t>
            </a:fld>
            <a:endParaRPr lang="en-US"/>
          </a:p>
        </p:txBody>
      </p:sp>
      <p:sp>
        <p:nvSpPr>
          <p:cNvPr id="5" name="Footer Placeholder 4">
            <a:extLst>
              <a:ext uri="{FF2B5EF4-FFF2-40B4-BE49-F238E27FC236}">
                <a16:creationId xmlns:a16="http://schemas.microsoft.com/office/drawing/2014/main" id="{07777A7F-9979-7B59-A463-DCEBBA95BB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9F0F76-7128-32CE-27E0-EA7B842C8520}"/>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748364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F79D5-059D-19DB-300F-B545C4C45F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D31340-A1E9-7CE3-85EA-7F1CF2ED7B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0681CF-4E42-18FC-F8CF-942C82B56AA5}"/>
              </a:ext>
            </a:extLst>
          </p:cNvPr>
          <p:cNvSpPr>
            <a:spLocks noGrp="1"/>
          </p:cNvSpPr>
          <p:nvPr>
            <p:ph type="dt" sz="half" idx="10"/>
          </p:nvPr>
        </p:nvSpPr>
        <p:spPr/>
        <p:txBody>
          <a:bodyPr/>
          <a:lstStyle/>
          <a:p>
            <a:fld id="{40272AB9-64A1-45BC-9C9A-78E398D2F99B}" type="datetimeFigureOut">
              <a:rPr lang="en-US" smtClean="0"/>
              <a:t>9/15/2025</a:t>
            </a:fld>
            <a:endParaRPr lang="en-US"/>
          </a:p>
        </p:txBody>
      </p:sp>
      <p:sp>
        <p:nvSpPr>
          <p:cNvPr id="5" name="Footer Placeholder 4">
            <a:extLst>
              <a:ext uri="{FF2B5EF4-FFF2-40B4-BE49-F238E27FC236}">
                <a16:creationId xmlns:a16="http://schemas.microsoft.com/office/drawing/2014/main" id="{D62C2239-A774-E47F-618D-51D208E68E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14B347-A921-E0AB-5A62-7830EDC846C5}"/>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552133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3AE5C-05CB-8274-A918-075C19B6A7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07643FC-A248-C72E-7C55-AF40C95C9E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FC89F5-84BE-3CEF-33F5-F2CA26EE8B32}"/>
              </a:ext>
            </a:extLst>
          </p:cNvPr>
          <p:cNvSpPr>
            <a:spLocks noGrp="1"/>
          </p:cNvSpPr>
          <p:nvPr>
            <p:ph type="dt" sz="half" idx="10"/>
          </p:nvPr>
        </p:nvSpPr>
        <p:spPr/>
        <p:txBody>
          <a:bodyPr/>
          <a:lstStyle/>
          <a:p>
            <a:fld id="{40272AB9-64A1-45BC-9C9A-78E398D2F99B}" type="datetimeFigureOut">
              <a:rPr lang="en-US" smtClean="0"/>
              <a:t>9/15/2025</a:t>
            </a:fld>
            <a:endParaRPr lang="en-US"/>
          </a:p>
        </p:txBody>
      </p:sp>
      <p:sp>
        <p:nvSpPr>
          <p:cNvPr id="5" name="Footer Placeholder 4">
            <a:extLst>
              <a:ext uri="{FF2B5EF4-FFF2-40B4-BE49-F238E27FC236}">
                <a16:creationId xmlns:a16="http://schemas.microsoft.com/office/drawing/2014/main" id="{144EC82B-F092-F737-C6EC-4508B148A6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AE09F0-8AE5-6C3F-D940-15869CCF5AB3}"/>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88112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02350-D4AF-4F3C-CEE2-B8734DE147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23F635-D032-EB3F-AA91-8B6201523B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5D6D8E9-1DD1-0647-572D-88AADC9B0E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ABC9E6-F832-C7D5-DD5F-43E7579F9B16}"/>
              </a:ext>
            </a:extLst>
          </p:cNvPr>
          <p:cNvSpPr>
            <a:spLocks noGrp="1"/>
          </p:cNvSpPr>
          <p:nvPr>
            <p:ph type="dt" sz="half" idx="10"/>
          </p:nvPr>
        </p:nvSpPr>
        <p:spPr/>
        <p:txBody>
          <a:bodyPr/>
          <a:lstStyle/>
          <a:p>
            <a:fld id="{40272AB9-64A1-45BC-9C9A-78E398D2F99B}" type="datetimeFigureOut">
              <a:rPr lang="en-US" smtClean="0"/>
              <a:t>9/15/2025</a:t>
            </a:fld>
            <a:endParaRPr lang="en-US"/>
          </a:p>
        </p:txBody>
      </p:sp>
      <p:sp>
        <p:nvSpPr>
          <p:cNvPr id="6" name="Footer Placeholder 5">
            <a:extLst>
              <a:ext uri="{FF2B5EF4-FFF2-40B4-BE49-F238E27FC236}">
                <a16:creationId xmlns:a16="http://schemas.microsoft.com/office/drawing/2014/main" id="{AF1C2CA5-C7DE-C955-B48A-7E0F3888C0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A8908E-669F-CB28-260B-78354401EF72}"/>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961818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24474-5433-09FA-BE28-C0DC57B646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4AD488-42FB-58FC-4155-0D56C39BE0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634D41-5957-DB0E-CB35-AC6249E0A5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425178-5D33-EBD1-4C79-986B42DAD0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B3E2A5-4A98-031A-250D-CBFB1D9384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FBD9DE-6FA7-D067-18F3-C04BBCDB0753}"/>
              </a:ext>
            </a:extLst>
          </p:cNvPr>
          <p:cNvSpPr>
            <a:spLocks noGrp="1"/>
          </p:cNvSpPr>
          <p:nvPr>
            <p:ph type="dt" sz="half" idx="10"/>
          </p:nvPr>
        </p:nvSpPr>
        <p:spPr/>
        <p:txBody>
          <a:bodyPr/>
          <a:lstStyle/>
          <a:p>
            <a:fld id="{40272AB9-64A1-45BC-9C9A-78E398D2F99B}" type="datetimeFigureOut">
              <a:rPr lang="en-US" smtClean="0"/>
              <a:t>9/15/2025</a:t>
            </a:fld>
            <a:endParaRPr lang="en-US"/>
          </a:p>
        </p:txBody>
      </p:sp>
      <p:sp>
        <p:nvSpPr>
          <p:cNvPr id="8" name="Footer Placeholder 7">
            <a:extLst>
              <a:ext uri="{FF2B5EF4-FFF2-40B4-BE49-F238E27FC236}">
                <a16:creationId xmlns:a16="http://schemas.microsoft.com/office/drawing/2014/main" id="{525D33E4-2E0D-1662-B7BF-20E78E7C805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EDC47E-1E21-2424-6A7B-315D8AAFB6E4}"/>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043752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BCA65-C705-E6A3-485D-408F56B817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F069A2-CE3D-6E6E-685B-1FE020EA8296}"/>
              </a:ext>
            </a:extLst>
          </p:cNvPr>
          <p:cNvSpPr>
            <a:spLocks noGrp="1"/>
          </p:cNvSpPr>
          <p:nvPr>
            <p:ph type="dt" sz="half" idx="10"/>
          </p:nvPr>
        </p:nvSpPr>
        <p:spPr/>
        <p:txBody>
          <a:bodyPr/>
          <a:lstStyle/>
          <a:p>
            <a:fld id="{40272AB9-64A1-45BC-9C9A-78E398D2F99B}" type="datetimeFigureOut">
              <a:rPr lang="en-US" smtClean="0"/>
              <a:t>9/15/2025</a:t>
            </a:fld>
            <a:endParaRPr lang="en-US"/>
          </a:p>
        </p:txBody>
      </p:sp>
      <p:sp>
        <p:nvSpPr>
          <p:cNvPr id="4" name="Footer Placeholder 3">
            <a:extLst>
              <a:ext uri="{FF2B5EF4-FFF2-40B4-BE49-F238E27FC236}">
                <a16:creationId xmlns:a16="http://schemas.microsoft.com/office/drawing/2014/main" id="{AF684AF1-31C9-84AC-0250-05744141CA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33C2AA-F699-ED5D-9FBA-C19002EBB900}"/>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2759563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0332F3-879F-BB3B-698B-B2739723538A}"/>
              </a:ext>
            </a:extLst>
          </p:cNvPr>
          <p:cNvSpPr>
            <a:spLocks noGrp="1"/>
          </p:cNvSpPr>
          <p:nvPr>
            <p:ph type="dt" sz="half" idx="10"/>
          </p:nvPr>
        </p:nvSpPr>
        <p:spPr/>
        <p:txBody>
          <a:bodyPr/>
          <a:lstStyle/>
          <a:p>
            <a:fld id="{40272AB9-64A1-45BC-9C9A-78E398D2F99B}" type="datetimeFigureOut">
              <a:rPr lang="en-US" smtClean="0"/>
              <a:t>9/15/2025</a:t>
            </a:fld>
            <a:endParaRPr lang="en-US"/>
          </a:p>
        </p:txBody>
      </p:sp>
      <p:sp>
        <p:nvSpPr>
          <p:cNvPr id="3" name="Footer Placeholder 2">
            <a:extLst>
              <a:ext uri="{FF2B5EF4-FFF2-40B4-BE49-F238E27FC236}">
                <a16:creationId xmlns:a16="http://schemas.microsoft.com/office/drawing/2014/main" id="{F72D113C-0FB8-0400-99D8-6F134830DD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50B956-7068-44C2-B72A-60BB293DD6C3}"/>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079993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E8B4E-A384-E57E-E42B-8DF0137C30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095B01-185E-04BB-14A7-B258CA51CA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3B7228C-5F12-7AF1-FC9F-8C1032F39B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61407C-424A-E815-0FAD-6132348EB71D}"/>
              </a:ext>
            </a:extLst>
          </p:cNvPr>
          <p:cNvSpPr>
            <a:spLocks noGrp="1"/>
          </p:cNvSpPr>
          <p:nvPr>
            <p:ph type="dt" sz="half" idx="10"/>
          </p:nvPr>
        </p:nvSpPr>
        <p:spPr/>
        <p:txBody>
          <a:bodyPr/>
          <a:lstStyle/>
          <a:p>
            <a:fld id="{40272AB9-64A1-45BC-9C9A-78E398D2F99B}" type="datetimeFigureOut">
              <a:rPr lang="en-US" smtClean="0"/>
              <a:t>9/15/2025</a:t>
            </a:fld>
            <a:endParaRPr lang="en-US"/>
          </a:p>
        </p:txBody>
      </p:sp>
      <p:sp>
        <p:nvSpPr>
          <p:cNvPr id="6" name="Footer Placeholder 5">
            <a:extLst>
              <a:ext uri="{FF2B5EF4-FFF2-40B4-BE49-F238E27FC236}">
                <a16:creationId xmlns:a16="http://schemas.microsoft.com/office/drawing/2014/main" id="{3ACF71BD-8573-007D-3858-3535CBA02C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6C0FE8-99A5-4546-F000-62538D60DED5}"/>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2418224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DCAFE-88EA-C3CA-5268-51CB959800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02BC8C-DCDC-6F3B-EC4D-AD7E7D77A7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3F378A-43F4-65AF-61DB-1B261A99D1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315D82-7B33-82FC-4CC1-372A7E7A8053}"/>
              </a:ext>
            </a:extLst>
          </p:cNvPr>
          <p:cNvSpPr>
            <a:spLocks noGrp="1"/>
          </p:cNvSpPr>
          <p:nvPr>
            <p:ph type="dt" sz="half" idx="10"/>
          </p:nvPr>
        </p:nvSpPr>
        <p:spPr/>
        <p:txBody>
          <a:bodyPr/>
          <a:lstStyle/>
          <a:p>
            <a:fld id="{40272AB9-64A1-45BC-9C9A-78E398D2F99B}" type="datetimeFigureOut">
              <a:rPr lang="en-US" smtClean="0"/>
              <a:t>9/15/2025</a:t>
            </a:fld>
            <a:endParaRPr lang="en-US"/>
          </a:p>
        </p:txBody>
      </p:sp>
      <p:sp>
        <p:nvSpPr>
          <p:cNvPr id="6" name="Footer Placeholder 5">
            <a:extLst>
              <a:ext uri="{FF2B5EF4-FFF2-40B4-BE49-F238E27FC236}">
                <a16:creationId xmlns:a16="http://schemas.microsoft.com/office/drawing/2014/main" id="{FE298B4F-C700-D100-E550-F1A34A2385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1C4BE6-38EC-0ED9-64CD-D1DBED13BB35}"/>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4174029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2276C-A078-6711-FF3C-E68ACE035B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E0CDEF-7F11-C385-F99C-1D079A4669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B133E6-8B7A-63A7-4B43-936C9C063E95}"/>
              </a:ext>
            </a:extLst>
          </p:cNvPr>
          <p:cNvSpPr>
            <a:spLocks noGrp="1"/>
          </p:cNvSpPr>
          <p:nvPr>
            <p:ph type="dt" sz="half" idx="10"/>
          </p:nvPr>
        </p:nvSpPr>
        <p:spPr/>
        <p:txBody>
          <a:bodyPr/>
          <a:lstStyle/>
          <a:p>
            <a:fld id="{40272AB9-64A1-45BC-9C9A-78E398D2F99B}" type="datetimeFigureOut">
              <a:rPr lang="en-US" smtClean="0"/>
              <a:t>9/15/2025</a:t>
            </a:fld>
            <a:endParaRPr lang="en-US"/>
          </a:p>
        </p:txBody>
      </p:sp>
      <p:sp>
        <p:nvSpPr>
          <p:cNvPr id="5" name="Footer Placeholder 4">
            <a:extLst>
              <a:ext uri="{FF2B5EF4-FFF2-40B4-BE49-F238E27FC236}">
                <a16:creationId xmlns:a16="http://schemas.microsoft.com/office/drawing/2014/main" id="{125BFD48-7F8C-2C53-C6E5-51FBBC2B9F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F0E807-0A14-F9E7-D3C4-243C242BF739}"/>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1195637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852A6E-A9A4-3335-FD57-B09080704F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BA70CC-412C-59DD-E5F3-0B5222096D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402B3D-CE4D-9039-CF20-3EA5A25A1B97}"/>
              </a:ext>
            </a:extLst>
          </p:cNvPr>
          <p:cNvSpPr>
            <a:spLocks noGrp="1"/>
          </p:cNvSpPr>
          <p:nvPr>
            <p:ph type="dt" sz="half" idx="10"/>
          </p:nvPr>
        </p:nvSpPr>
        <p:spPr/>
        <p:txBody>
          <a:bodyPr/>
          <a:lstStyle/>
          <a:p>
            <a:fld id="{40272AB9-64A1-45BC-9C9A-78E398D2F99B}" type="datetimeFigureOut">
              <a:rPr lang="en-US" smtClean="0"/>
              <a:t>9/15/2025</a:t>
            </a:fld>
            <a:endParaRPr lang="en-US"/>
          </a:p>
        </p:txBody>
      </p:sp>
      <p:sp>
        <p:nvSpPr>
          <p:cNvPr id="5" name="Footer Placeholder 4">
            <a:extLst>
              <a:ext uri="{FF2B5EF4-FFF2-40B4-BE49-F238E27FC236}">
                <a16:creationId xmlns:a16="http://schemas.microsoft.com/office/drawing/2014/main" id="{FCD8CD87-FDF1-2A7A-1BE7-FA7D6B712F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428DFF-8601-30EC-83EF-AD74CA7EE220}"/>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1216345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87597A-B7A8-059C-160C-EC7CE2886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2534A4-186E-5F01-1F5B-80DF3841A5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ABDDF5-E321-EF03-3E6D-64F457503C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272AB9-64A1-45BC-9C9A-78E398D2F99B}" type="datetimeFigureOut">
              <a:rPr lang="en-US" smtClean="0"/>
              <a:t>9/15/2025</a:t>
            </a:fld>
            <a:endParaRPr lang="en-US"/>
          </a:p>
        </p:txBody>
      </p:sp>
      <p:sp>
        <p:nvSpPr>
          <p:cNvPr id="5" name="Footer Placeholder 4">
            <a:extLst>
              <a:ext uri="{FF2B5EF4-FFF2-40B4-BE49-F238E27FC236}">
                <a16:creationId xmlns:a16="http://schemas.microsoft.com/office/drawing/2014/main" id="{B231B2B9-24D1-3FFE-9B16-BFA0BAC7B4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E29AEC6-3A77-F298-9C68-54B2F00650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125542-7130-46B0-9D6D-1892C1FCB086}" type="slidenum">
              <a:rPr lang="en-US" smtClean="0"/>
              <a:t>‹#›</a:t>
            </a:fld>
            <a:endParaRPr lang="en-US"/>
          </a:p>
        </p:txBody>
      </p:sp>
    </p:spTree>
    <p:extLst>
      <p:ext uri="{BB962C8B-B14F-4D97-AF65-F5344CB8AC3E}">
        <p14:creationId xmlns:p14="http://schemas.microsoft.com/office/powerpoint/2010/main" val="1928646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www.msoe.edu/" TargetMode="External"/><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hyperlink" Target="https://www.configserverfirewall.com/windows-10/dig-command-windows/"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A64E1-5610-7CF5-A8AC-8AACF97CA223}"/>
              </a:ext>
            </a:extLst>
          </p:cNvPr>
          <p:cNvSpPr>
            <a:spLocks noGrp="1"/>
          </p:cNvSpPr>
          <p:nvPr>
            <p:ph type="ctrTitle"/>
          </p:nvPr>
        </p:nvSpPr>
        <p:spPr>
          <a:xfrm>
            <a:off x="536448" y="1122363"/>
            <a:ext cx="11119104" cy="2133599"/>
          </a:xfrm>
        </p:spPr>
        <p:txBody>
          <a:bodyPr/>
          <a:lstStyle/>
          <a:p>
            <a:r>
              <a:rPr lang="en-US" dirty="0"/>
              <a:t>CSC 3511 Security and Networking</a:t>
            </a:r>
          </a:p>
        </p:txBody>
      </p:sp>
      <p:sp>
        <p:nvSpPr>
          <p:cNvPr id="3" name="Subtitle 2">
            <a:extLst>
              <a:ext uri="{FF2B5EF4-FFF2-40B4-BE49-F238E27FC236}">
                <a16:creationId xmlns:a16="http://schemas.microsoft.com/office/drawing/2014/main" id="{3A8E7C23-6E8B-EC33-B311-21148E5DBC8C}"/>
              </a:ext>
            </a:extLst>
          </p:cNvPr>
          <p:cNvSpPr>
            <a:spLocks noGrp="1"/>
          </p:cNvSpPr>
          <p:nvPr>
            <p:ph type="subTitle" idx="1"/>
          </p:nvPr>
        </p:nvSpPr>
        <p:spPr>
          <a:xfrm>
            <a:off x="1524000" y="3602039"/>
            <a:ext cx="9144000" cy="1655762"/>
          </a:xfrm>
        </p:spPr>
        <p:txBody>
          <a:bodyPr/>
          <a:lstStyle/>
          <a:p>
            <a:endParaRPr lang="en-US" dirty="0"/>
          </a:p>
          <a:p>
            <a:endParaRPr lang="en-US" dirty="0"/>
          </a:p>
          <a:p>
            <a:r>
              <a:rPr lang="en-US" dirty="0"/>
              <a:t>Week 3, Lecture 1: Domain Name System </a:t>
            </a:r>
          </a:p>
        </p:txBody>
      </p:sp>
    </p:spTree>
    <p:extLst>
      <p:ext uri="{BB962C8B-B14F-4D97-AF65-F5344CB8AC3E}">
        <p14:creationId xmlns:p14="http://schemas.microsoft.com/office/powerpoint/2010/main" val="1291381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47A72-44B2-732A-AAF8-60764CACA24C}"/>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33DEEBE4-E004-4154-1ED2-356727007087}"/>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buClr>
                <a:schemeClr val="bg1">
                  <a:lumMod val="85000"/>
                </a:schemeClr>
              </a:buClr>
            </a:pPr>
            <a:r>
              <a:rPr lang="en-US" altLang="en-US" sz="3600" b="1" i="1" dirty="0">
                <a:latin typeface="Calibri" panose="020F0502020204030204" pitchFamily="34" charset="0"/>
                <a:cs typeface="Calibri" panose="020F0502020204030204" pitchFamily="34" charset="0"/>
              </a:rPr>
              <a:t>What is DNS for?</a:t>
            </a:r>
            <a:endParaRPr lang="en-US" altLang="ja-JP" sz="3600" b="1" i="1" dirty="0">
              <a:latin typeface="Calibri" panose="020F0502020204030204" pitchFamily="34" charset="0"/>
              <a:cs typeface="Calibri" panose="020F0502020204030204" pitchFamily="34" charset="0"/>
            </a:endParaRPr>
          </a:p>
          <a:p>
            <a:pPr marL="403225" indent="-285750">
              <a:spcBef>
                <a:spcPts val="800"/>
              </a:spcBef>
              <a:buClr>
                <a:schemeClr val="bg1">
                  <a:lumMod val="85000"/>
                </a:schemeClr>
              </a:buClr>
            </a:pPr>
            <a:r>
              <a:rPr lang="en-US" altLang="en-US" sz="3600" i="1" dirty="0">
                <a:solidFill>
                  <a:schemeClr val="bg1">
                    <a:lumMod val="85000"/>
                  </a:schemeClr>
                </a:solidFill>
                <a:latin typeface="Calibri" panose="020F0502020204030204" pitchFamily="34" charset="0"/>
                <a:cs typeface="Calibri" panose="020F0502020204030204" pitchFamily="34" charset="0"/>
              </a:rPr>
              <a:t>Design and implementation</a:t>
            </a:r>
          </a:p>
        </p:txBody>
      </p:sp>
    </p:spTree>
    <p:extLst>
      <p:ext uri="{BB962C8B-B14F-4D97-AF65-F5344CB8AC3E}">
        <p14:creationId xmlns:p14="http://schemas.microsoft.com/office/powerpoint/2010/main" val="2735847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DNS: Domain Name System</a:t>
            </a:r>
            <a:endParaRPr lang="en-US" sz="4400" dirty="0">
              <a:cs typeface="Calibri" panose="020F0502020204030204" pitchFamily="34" charset="0"/>
            </a:endParaRPr>
          </a:p>
        </p:txBody>
      </p:sp>
      <p:sp>
        <p:nvSpPr>
          <p:cNvPr id="127" name="Rectangle 3">
            <a:extLst>
              <a:ext uri="{FF2B5EF4-FFF2-40B4-BE49-F238E27FC236}">
                <a16:creationId xmlns:a16="http://schemas.microsoft.com/office/drawing/2014/main" id="{35F7BF1A-0385-C246-9EE3-5E4E54C86490}"/>
              </a:ext>
            </a:extLst>
          </p:cNvPr>
          <p:cNvSpPr txBox="1">
            <a:spLocks noChangeArrowheads="1"/>
          </p:cNvSpPr>
          <p:nvPr/>
        </p:nvSpPr>
        <p:spPr>
          <a:xfrm>
            <a:off x="142241" y="1336419"/>
            <a:ext cx="5655694" cy="4751938"/>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People:</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many identifiers:</a:t>
            </a:r>
          </a:p>
          <a:p>
            <a:pPr marL="695325" marR="0" lvl="1" indent="-2317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SSN, name, passport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Internet hosts, routers:</a:t>
            </a:r>
          </a:p>
          <a:p>
            <a:pPr lvl="1">
              <a:buClrTx/>
              <a:defRPr/>
            </a:pPr>
            <a:r>
              <a:rPr lang="en-US" altLang="ja-JP" dirty="0">
                <a:solidFill>
                  <a:prstClr val="black"/>
                </a:solidFill>
                <a:latin typeface="Calibri" panose="020F0502020204030204"/>
                <a:ea typeface="ＭＳ Ｐゴシック" panose="020B0600070205080204" pitchFamily="34" charset="-128"/>
              </a:rPr>
              <a:t>Human-readable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names (host name), e.g.,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hlinkClick r:id="rId3"/>
              </a:rPr>
              <a:t>www.msoe</a:t>
            </a:r>
            <a:r>
              <a:rPr lang="en-US" altLang="ja-JP" dirty="0">
                <a:solidFill>
                  <a:prstClr val="black"/>
                </a:solidFill>
                <a:latin typeface="Calibri" panose="020F0502020204030204"/>
                <a:ea typeface="ＭＳ Ｐゴシック" panose="020B0600070205080204" pitchFamily="34" charset="-128"/>
                <a:hlinkClick r:id="rId3"/>
              </a:rPr>
              <a:t>.</a:t>
            </a:r>
            <a:r>
              <a:rPr lang="en-US" altLang="ja-JP" dirty="0" err="1">
                <a:solidFill>
                  <a:prstClr val="black"/>
                </a:solidFill>
                <a:latin typeface="Calibri" panose="020F0502020204030204"/>
                <a:ea typeface="ＭＳ Ｐゴシック" panose="020B0600070205080204" pitchFamily="34" charset="-128"/>
                <a:hlinkClick r:id="rId3"/>
              </a:rPr>
              <a:t>edu</a:t>
            </a:r>
            <a:r>
              <a:rPr lang="en-US" altLang="ja-JP" dirty="0">
                <a:solidFill>
                  <a:prstClr val="black"/>
                </a:solidFill>
                <a:latin typeface="Calibri" panose="020F0502020204030204"/>
                <a:ea typeface="ＭＳ Ｐゴシック" panose="020B0600070205080204" pitchFamily="34" charset="-128"/>
              </a:rPr>
              <a:t> - contains no relevant routing information</a:t>
            </a:r>
            <a:endPar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lvl="1">
              <a:buClrTx/>
              <a:defRPr/>
            </a:pPr>
            <a:r>
              <a:rPr lang="en-US" altLang="en-US" dirty="0">
                <a:latin typeface="Calibri" panose="020F0502020204030204"/>
                <a:ea typeface="ＭＳ Ｐゴシック" panose="020B0600070205080204" pitchFamily="34" charset="-128"/>
              </a:rPr>
              <a:t>IP address (8.8.8.8) </a:t>
            </a:r>
            <a:r>
              <a:rPr lang="en-US" altLang="en-US" dirty="0">
                <a:solidFill>
                  <a:prstClr val="black"/>
                </a:solidFill>
                <a:latin typeface="Calibri" panose="020F0502020204030204"/>
                <a:ea typeface="ＭＳ Ｐゴシック" panose="020B0600070205080204" pitchFamily="34" charset="-128"/>
              </a:rPr>
              <a:t>- used for </a:t>
            </a:r>
            <a:r>
              <a:rPr lang="en-US" altLang="zh-CN" dirty="0">
                <a:solidFill>
                  <a:prstClr val="black"/>
                </a:solidFill>
                <a:latin typeface="Calibri" panose="020F0502020204030204"/>
                <a:ea typeface="ＭＳ Ｐゴシック" panose="020B0600070205080204" pitchFamily="34" charset="-128"/>
              </a:rPr>
              <a:t>machines to route</a:t>
            </a:r>
            <a:r>
              <a:rPr lang="en-US" altLang="en-US" dirty="0">
                <a:solidFill>
                  <a:prstClr val="black"/>
                </a:solidFill>
                <a:latin typeface="Calibri" panose="020F0502020204030204"/>
                <a:ea typeface="ＭＳ Ｐゴシック" panose="020B0600070205080204" pitchFamily="34" charset="-128"/>
              </a:rPr>
              <a:t> datagrams but </a:t>
            </a:r>
            <a:r>
              <a:rPr lang="en-US" altLang="en-US" dirty="0">
                <a:solidFill>
                  <a:srgbClr val="C00000"/>
                </a:solidFill>
                <a:latin typeface="Calibri" panose="020F0502020204030204"/>
                <a:ea typeface="ＭＳ Ｐゴシック" panose="020B0600070205080204" pitchFamily="34" charset="-128"/>
              </a:rPr>
              <a:t>Hard to remember</a:t>
            </a:r>
            <a:endParaRPr kumimoji="0" lang="en-US" altLang="ja-JP" sz="24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1" u="sng"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Q:</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how to map between name and IP address, and vice versa ?</a:t>
            </a:r>
          </a:p>
        </p:txBody>
      </p:sp>
      <p:sp>
        <p:nvSpPr>
          <p:cNvPr id="128" name="Rectangle 4">
            <a:extLst>
              <a:ext uri="{FF2B5EF4-FFF2-40B4-BE49-F238E27FC236}">
                <a16:creationId xmlns:a16="http://schemas.microsoft.com/office/drawing/2014/main" id="{3851BC29-45CA-8744-BD4D-21254F83A516}"/>
              </a:ext>
            </a:extLst>
          </p:cNvPr>
          <p:cNvSpPr txBox="1">
            <a:spLocks noChangeArrowheads="1"/>
          </p:cNvSpPr>
          <p:nvPr/>
        </p:nvSpPr>
        <p:spPr>
          <a:xfrm>
            <a:off x="5682920" y="1083543"/>
            <a:ext cx="6088112" cy="2770811"/>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Domain Name System (DNS):</a:t>
            </a:r>
          </a:p>
          <a:p>
            <a:pPr marR="0" lvl="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Application-layer protocol:</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hosts, DNS servers communicate to </a:t>
            </a: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resolve</a:t>
            </a:r>
            <a:r>
              <a:rPr kumimoji="0" lang="en-US" altLang="en-US" sz="28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mn-cs"/>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names (address/name translation)</a:t>
            </a:r>
          </a:p>
          <a:p>
            <a:pPr lvl="0">
              <a:buClrTx/>
              <a:buFont typeface="Arial" panose="020B0604020202020204" pitchFamily="34" charset="0"/>
              <a:buChar char="•"/>
              <a:defRPr/>
            </a:pPr>
            <a:r>
              <a:rPr lang="en-US" altLang="en-US" dirty="0">
                <a:solidFill>
                  <a:prstClr val="black"/>
                </a:solidFill>
                <a:latin typeface="Calibri" panose="020F0502020204030204"/>
                <a:ea typeface="ＭＳ Ｐゴシック" panose="020B0600070205080204" pitchFamily="34" charset="-128"/>
              </a:rPr>
              <a:t>A distributed database implemented in hierarchy of many name servers</a:t>
            </a:r>
          </a:p>
          <a:p>
            <a:pPr marR="0" lvl="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36" name="Group 35">
            <a:extLst>
              <a:ext uri="{FF2B5EF4-FFF2-40B4-BE49-F238E27FC236}">
                <a16:creationId xmlns:a16="http://schemas.microsoft.com/office/drawing/2014/main" id="{5512B9AA-17F2-82C3-D28B-5FC3052B08AD}"/>
              </a:ext>
            </a:extLst>
          </p:cNvPr>
          <p:cNvGrpSpPr/>
          <p:nvPr/>
        </p:nvGrpSpPr>
        <p:grpSpPr>
          <a:xfrm>
            <a:off x="7447151" y="4184419"/>
            <a:ext cx="4206369" cy="2533585"/>
            <a:chOff x="5130670" y="1405250"/>
            <a:chExt cx="4206369" cy="2533585"/>
          </a:xfrm>
        </p:grpSpPr>
        <p:sp>
          <p:nvSpPr>
            <p:cNvPr id="21" name="Google Shape;160;p26">
              <a:extLst>
                <a:ext uri="{FF2B5EF4-FFF2-40B4-BE49-F238E27FC236}">
                  <a16:creationId xmlns:a16="http://schemas.microsoft.com/office/drawing/2014/main" id="{EF41D053-93DD-AFED-EA4B-36D81FF79806}"/>
                </a:ext>
              </a:extLst>
            </p:cNvPr>
            <p:cNvSpPr/>
            <p:nvPr/>
          </p:nvSpPr>
          <p:spPr>
            <a:xfrm>
              <a:off x="5462600" y="3424850"/>
              <a:ext cx="1369200" cy="5049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Physical</a:t>
              </a:r>
              <a:endParaRPr>
                <a:latin typeface="Roboto"/>
                <a:ea typeface="Roboto"/>
                <a:cs typeface="Roboto"/>
                <a:sym typeface="Roboto"/>
              </a:endParaRPr>
            </a:p>
          </p:txBody>
        </p:sp>
        <p:sp>
          <p:nvSpPr>
            <p:cNvPr id="22" name="Google Shape;161;p26">
              <a:extLst>
                <a:ext uri="{FF2B5EF4-FFF2-40B4-BE49-F238E27FC236}">
                  <a16:creationId xmlns:a16="http://schemas.microsoft.com/office/drawing/2014/main" id="{F0692A1D-C2D4-6A1F-F489-F25B0ED00073}"/>
                </a:ext>
              </a:extLst>
            </p:cNvPr>
            <p:cNvSpPr/>
            <p:nvPr/>
          </p:nvSpPr>
          <p:spPr>
            <a:xfrm>
              <a:off x="5462600" y="2919950"/>
              <a:ext cx="1369200" cy="5049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Data Link</a:t>
              </a:r>
              <a:endParaRPr>
                <a:latin typeface="Roboto"/>
                <a:ea typeface="Roboto"/>
                <a:cs typeface="Roboto"/>
                <a:sym typeface="Roboto"/>
              </a:endParaRPr>
            </a:p>
          </p:txBody>
        </p:sp>
        <p:sp>
          <p:nvSpPr>
            <p:cNvPr id="23" name="Google Shape;162;p26">
              <a:extLst>
                <a:ext uri="{FF2B5EF4-FFF2-40B4-BE49-F238E27FC236}">
                  <a16:creationId xmlns:a16="http://schemas.microsoft.com/office/drawing/2014/main" id="{BA9AD72B-46AF-F4C9-79F3-AA61A5453C85}"/>
                </a:ext>
              </a:extLst>
            </p:cNvPr>
            <p:cNvSpPr/>
            <p:nvPr/>
          </p:nvSpPr>
          <p:spPr>
            <a:xfrm>
              <a:off x="5462600" y="2415050"/>
              <a:ext cx="1369200" cy="5049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Network</a:t>
              </a:r>
              <a:endParaRPr>
                <a:latin typeface="Roboto"/>
                <a:ea typeface="Roboto"/>
                <a:cs typeface="Roboto"/>
                <a:sym typeface="Roboto"/>
              </a:endParaRPr>
            </a:p>
          </p:txBody>
        </p:sp>
        <p:sp>
          <p:nvSpPr>
            <p:cNvPr id="24" name="Google Shape;163;p26">
              <a:extLst>
                <a:ext uri="{FF2B5EF4-FFF2-40B4-BE49-F238E27FC236}">
                  <a16:creationId xmlns:a16="http://schemas.microsoft.com/office/drawing/2014/main" id="{FF86BBD4-6227-5A3E-6778-859DCE555F43}"/>
                </a:ext>
              </a:extLst>
            </p:cNvPr>
            <p:cNvSpPr/>
            <p:nvPr/>
          </p:nvSpPr>
          <p:spPr>
            <a:xfrm>
              <a:off x="5462600" y="1910150"/>
              <a:ext cx="1369200" cy="504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Transport</a:t>
              </a:r>
              <a:endParaRPr>
                <a:latin typeface="Roboto"/>
                <a:ea typeface="Roboto"/>
                <a:cs typeface="Roboto"/>
                <a:sym typeface="Roboto"/>
              </a:endParaRPr>
            </a:p>
          </p:txBody>
        </p:sp>
        <p:sp>
          <p:nvSpPr>
            <p:cNvPr id="25" name="Google Shape;164;p26">
              <a:extLst>
                <a:ext uri="{FF2B5EF4-FFF2-40B4-BE49-F238E27FC236}">
                  <a16:creationId xmlns:a16="http://schemas.microsoft.com/office/drawing/2014/main" id="{552032A7-92D5-FA7A-6DAE-A4C7C466ADC8}"/>
                </a:ext>
              </a:extLst>
            </p:cNvPr>
            <p:cNvSpPr/>
            <p:nvPr/>
          </p:nvSpPr>
          <p:spPr>
            <a:xfrm>
              <a:off x="5462600" y="1405250"/>
              <a:ext cx="1369200" cy="504900"/>
            </a:xfrm>
            <a:prstGeom prst="rect">
              <a:avLst/>
            </a:prstGeom>
            <a:solidFill>
              <a:srgbClr val="B4A7D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Roboto"/>
                  <a:ea typeface="Roboto"/>
                  <a:cs typeface="Roboto"/>
                  <a:sym typeface="Roboto"/>
                </a:rPr>
                <a:t>Application</a:t>
              </a:r>
              <a:endParaRPr dirty="0">
                <a:latin typeface="Roboto"/>
                <a:ea typeface="Roboto"/>
                <a:cs typeface="Roboto"/>
                <a:sym typeface="Roboto"/>
              </a:endParaRPr>
            </a:p>
          </p:txBody>
        </p:sp>
        <p:sp>
          <p:nvSpPr>
            <p:cNvPr id="26" name="Google Shape;165;p26">
              <a:extLst>
                <a:ext uri="{FF2B5EF4-FFF2-40B4-BE49-F238E27FC236}">
                  <a16:creationId xmlns:a16="http://schemas.microsoft.com/office/drawing/2014/main" id="{B9D64D3C-84F0-B600-5C1F-C666ED1E6CB1}"/>
                </a:ext>
              </a:extLst>
            </p:cNvPr>
            <p:cNvSpPr txBox="1"/>
            <p:nvPr/>
          </p:nvSpPr>
          <p:spPr>
            <a:xfrm>
              <a:off x="5130670" y="1457600"/>
              <a:ext cx="299400"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dk1"/>
                  </a:solidFill>
                  <a:latin typeface="Roboto"/>
                  <a:ea typeface="Roboto"/>
                  <a:cs typeface="Roboto"/>
                  <a:sym typeface="Roboto"/>
                </a:rPr>
                <a:t>5</a:t>
              </a:r>
              <a:endParaRPr dirty="0">
                <a:solidFill>
                  <a:schemeClr val="dk1"/>
                </a:solidFill>
                <a:latin typeface="Roboto"/>
                <a:ea typeface="Roboto"/>
                <a:cs typeface="Roboto"/>
                <a:sym typeface="Roboto"/>
              </a:endParaRPr>
            </a:p>
          </p:txBody>
        </p:sp>
        <p:sp>
          <p:nvSpPr>
            <p:cNvPr id="27" name="Google Shape;166;p26">
              <a:extLst>
                <a:ext uri="{FF2B5EF4-FFF2-40B4-BE49-F238E27FC236}">
                  <a16:creationId xmlns:a16="http://schemas.microsoft.com/office/drawing/2014/main" id="{DF585344-A202-0EFA-1817-3478E00AF730}"/>
                </a:ext>
              </a:extLst>
            </p:cNvPr>
            <p:cNvSpPr txBox="1"/>
            <p:nvPr/>
          </p:nvSpPr>
          <p:spPr>
            <a:xfrm>
              <a:off x="5130670" y="1962500"/>
              <a:ext cx="299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28" name="Google Shape;167;p26">
              <a:extLst>
                <a:ext uri="{FF2B5EF4-FFF2-40B4-BE49-F238E27FC236}">
                  <a16:creationId xmlns:a16="http://schemas.microsoft.com/office/drawing/2014/main" id="{6BA93FD1-5BD9-6496-B74C-878122904447}"/>
                </a:ext>
              </a:extLst>
            </p:cNvPr>
            <p:cNvSpPr txBox="1"/>
            <p:nvPr/>
          </p:nvSpPr>
          <p:spPr>
            <a:xfrm>
              <a:off x="5130670" y="2467400"/>
              <a:ext cx="299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3</a:t>
              </a:r>
              <a:endParaRPr>
                <a:solidFill>
                  <a:schemeClr val="dk1"/>
                </a:solidFill>
                <a:latin typeface="Roboto"/>
                <a:ea typeface="Roboto"/>
                <a:cs typeface="Roboto"/>
                <a:sym typeface="Roboto"/>
              </a:endParaRPr>
            </a:p>
          </p:txBody>
        </p:sp>
        <p:sp>
          <p:nvSpPr>
            <p:cNvPr id="29" name="Google Shape;168;p26">
              <a:extLst>
                <a:ext uri="{FF2B5EF4-FFF2-40B4-BE49-F238E27FC236}">
                  <a16:creationId xmlns:a16="http://schemas.microsoft.com/office/drawing/2014/main" id="{8C3E3094-CCBC-9DDA-E7EA-B467A29543E7}"/>
                </a:ext>
              </a:extLst>
            </p:cNvPr>
            <p:cNvSpPr txBox="1"/>
            <p:nvPr/>
          </p:nvSpPr>
          <p:spPr>
            <a:xfrm>
              <a:off x="5130670" y="2972300"/>
              <a:ext cx="299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30" name="Google Shape;169;p26">
              <a:extLst>
                <a:ext uri="{FF2B5EF4-FFF2-40B4-BE49-F238E27FC236}">
                  <a16:creationId xmlns:a16="http://schemas.microsoft.com/office/drawing/2014/main" id="{1B7EC839-D668-4388-711A-A0F02C4F5F61}"/>
                </a:ext>
              </a:extLst>
            </p:cNvPr>
            <p:cNvSpPr txBox="1"/>
            <p:nvPr/>
          </p:nvSpPr>
          <p:spPr>
            <a:xfrm>
              <a:off x="5130670" y="3477200"/>
              <a:ext cx="299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31" name="Google Shape;170;p26">
              <a:extLst>
                <a:ext uri="{FF2B5EF4-FFF2-40B4-BE49-F238E27FC236}">
                  <a16:creationId xmlns:a16="http://schemas.microsoft.com/office/drawing/2014/main" id="{AEC81114-C91B-FAA2-A57B-761CF9608548}"/>
                </a:ext>
              </a:extLst>
            </p:cNvPr>
            <p:cNvSpPr txBox="1"/>
            <p:nvPr/>
          </p:nvSpPr>
          <p:spPr>
            <a:xfrm>
              <a:off x="6859025" y="1457600"/>
              <a:ext cx="1949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(DNS, HTTP)</a:t>
              </a:r>
              <a:endParaRPr>
                <a:solidFill>
                  <a:schemeClr val="dk1"/>
                </a:solidFill>
                <a:latin typeface="Roboto"/>
                <a:ea typeface="Roboto"/>
                <a:cs typeface="Roboto"/>
                <a:sym typeface="Roboto"/>
              </a:endParaRPr>
            </a:p>
          </p:txBody>
        </p:sp>
        <p:sp>
          <p:nvSpPr>
            <p:cNvPr id="32" name="Google Shape;171;p26">
              <a:extLst>
                <a:ext uri="{FF2B5EF4-FFF2-40B4-BE49-F238E27FC236}">
                  <a16:creationId xmlns:a16="http://schemas.microsoft.com/office/drawing/2014/main" id="{45F3F9D6-4FA4-9613-2AB3-CA31F3F29400}"/>
                </a:ext>
              </a:extLst>
            </p:cNvPr>
            <p:cNvSpPr txBox="1"/>
            <p:nvPr/>
          </p:nvSpPr>
          <p:spPr>
            <a:xfrm>
              <a:off x="6859025" y="1962500"/>
              <a:ext cx="1949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dirty="0">
                  <a:solidFill>
                    <a:schemeClr val="dk1"/>
                  </a:solidFill>
                  <a:latin typeface="Roboto"/>
                  <a:ea typeface="Roboto"/>
                  <a:cs typeface="Roboto"/>
                  <a:sym typeface="Roboto"/>
                </a:rPr>
                <a:t>(TCP, UDP)</a:t>
              </a:r>
              <a:endParaRPr dirty="0">
                <a:solidFill>
                  <a:schemeClr val="dk1"/>
                </a:solidFill>
                <a:latin typeface="Roboto"/>
                <a:ea typeface="Roboto"/>
                <a:cs typeface="Roboto"/>
                <a:sym typeface="Roboto"/>
              </a:endParaRPr>
            </a:p>
          </p:txBody>
        </p:sp>
        <p:sp>
          <p:nvSpPr>
            <p:cNvPr id="33" name="Google Shape;172;p26">
              <a:extLst>
                <a:ext uri="{FF2B5EF4-FFF2-40B4-BE49-F238E27FC236}">
                  <a16:creationId xmlns:a16="http://schemas.microsoft.com/office/drawing/2014/main" id="{8B26A75B-9542-814A-0B0E-15B50549F805}"/>
                </a:ext>
              </a:extLst>
            </p:cNvPr>
            <p:cNvSpPr txBox="1"/>
            <p:nvPr/>
          </p:nvSpPr>
          <p:spPr>
            <a:xfrm>
              <a:off x="6859025" y="2467400"/>
              <a:ext cx="1949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(IP)</a:t>
              </a:r>
              <a:endParaRPr>
                <a:solidFill>
                  <a:schemeClr val="dk1"/>
                </a:solidFill>
                <a:latin typeface="Roboto"/>
                <a:ea typeface="Roboto"/>
                <a:cs typeface="Roboto"/>
                <a:sym typeface="Roboto"/>
              </a:endParaRPr>
            </a:p>
          </p:txBody>
        </p:sp>
        <p:sp>
          <p:nvSpPr>
            <p:cNvPr id="34" name="Google Shape;173;p26">
              <a:extLst>
                <a:ext uri="{FF2B5EF4-FFF2-40B4-BE49-F238E27FC236}">
                  <a16:creationId xmlns:a16="http://schemas.microsoft.com/office/drawing/2014/main" id="{DEB4C557-8AC5-51ED-8D15-20F5E850F430}"/>
                </a:ext>
              </a:extLst>
            </p:cNvPr>
            <p:cNvSpPr txBox="1"/>
            <p:nvPr/>
          </p:nvSpPr>
          <p:spPr>
            <a:xfrm>
              <a:off x="6859025" y="2972300"/>
              <a:ext cx="1949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(Ethernet)</a:t>
              </a:r>
              <a:endParaRPr>
                <a:solidFill>
                  <a:schemeClr val="dk1"/>
                </a:solidFill>
                <a:latin typeface="Roboto"/>
                <a:ea typeface="Roboto"/>
                <a:cs typeface="Roboto"/>
                <a:sym typeface="Roboto"/>
              </a:endParaRPr>
            </a:p>
          </p:txBody>
        </p:sp>
        <p:sp>
          <p:nvSpPr>
            <p:cNvPr id="35" name="Google Shape;174;p26">
              <a:extLst>
                <a:ext uri="{FF2B5EF4-FFF2-40B4-BE49-F238E27FC236}">
                  <a16:creationId xmlns:a16="http://schemas.microsoft.com/office/drawing/2014/main" id="{3A1AB63B-84EB-08F5-60A2-C3B12C22F6FF}"/>
                </a:ext>
              </a:extLst>
            </p:cNvPr>
            <p:cNvSpPr txBox="1"/>
            <p:nvPr/>
          </p:nvSpPr>
          <p:spPr>
            <a:xfrm>
              <a:off x="6859024" y="3477200"/>
              <a:ext cx="2478015"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dirty="0">
                  <a:solidFill>
                    <a:schemeClr val="dk1"/>
                  </a:solidFill>
                  <a:latin typeface="Roboto"/>
                  <a:ea typeface="Roboto"/>
                  <a:cs typeface="Roboto"/>
                  <a:sym typeface="Roboto"/>
                </a:rPr>
                <a:t>(Optical fiber, copper)</a:t>
              </a:r>
              <a:endParaRPr dirty="0">
                <a:solidFill>
                  <a:schemeClr val="dk1"/>
                </a:solidFill>
                <a:latin typeface="Roboto"/>
                <a:ea typeface="Roboto"/>
                <a:cs typeface="Roboto"/>
                <a:sym typeface="Roboto"/>
              </a:endParaRPr>
            </a:p>
          </p:txBody>
        </p:sp>
      </p:grpSp>
    </p:spTree>
    <p:extLst>
      <p:ext uri="{BB962C8B-B14F-4D97-AF65-F5344CB8AC3E}">
        <p14:creationId xmlns:p14="http://schemas.microsoft.com/office/powerpoint/2010/main" val="3548561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7">
                                            <p:txEl>
                                              <p:pRg st="2" end="2"/>
                                            </p:txEl>
                                          </p:spTgt>
                                        </p:tgtEl>
                                        <p:attrNameLst>
                                          <p:attrName>style.visibility</p:attrName>
                                        </p:attrNameLst>
                                      </p:cBhvr>
                                      <p:to>
                                        <p:strVal val="visible"/>
                                      </p:to>
                                    </p:set>
                                    <p:animEffect transition="in" filter="dissolve">
                                      <p:cBhvr>
                                        <p:cTn id="7" dur="500"/>
                                        <p:tgtEl>
                                          <p:spTgt spid="127">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27">
                                            <p:txEl>
                                              <p:pRg st="3" end="3"/>
                                            </p:txEl>
                                          </p:spTgt>
                                        </p:tgtEl>
                                        <p:attrNameLst>
                                          <p:attrName>style.visibility</p:attrName>
                                        </p:attrNameLst>
                                      </p:cBhvr>
                                      <p:to>
                                        <p:strVal val="visible"/>
                                      </p:to>
                                    </p:set>
                                    <p:animEffect transition="in" filter="dissolve">
                                      <p:cBhvr>
                                        <p:cTn id="10" dur="500"/>
                                        <p:tgtEl>
                                          <p:spTgt spid="127">
                                            <p:txEl>
                                              <p:pRg st="3" end="3"/>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27">
                                            <p:txEl>
                                              <p:pRg st="4" end="4"/>
                                            </p:txEl>
                                          </p:spTgt>
                                        </p:tgtEl>
                                        <p:attrNameLst>
                                          <p:attrName>style.visibility</p:attrName>
                                        </p:attrNameLst>
                                      </p:cBhvr>
                                      <p:to>
                                        <p:strVal val="visible"/>
                                      </p:to>
                                    </p:set>
                                    <p:animEffect transition="in" filter="dissolve">
                                      <p:cBhvr>
                                        <p:cTn id="13" dur="500"/>
                                        <p:tgtEl>
                                          <p:spTgt spid="127">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27">
                                            <p:txEl>
                                              <p:pRg st="5" end="5"/>
                                            </p:txEl>
                                          </p:spTgt>
                                        </p:tgtEl>
                                        <p:attrNameLst>
                                          <p:attrName>style.visibility</p:attrName>
                                        </p:attrNameLst>
                                      </p:cBhvr>
                                      <p:to>
                                        <p:strVal val="visible"/>
                                      </p:to>
                                    </p:set>
                                    <p:animEffect transition="in" filter="dissolve">
                                      <p:cBhvr>
                                        <p:cTn id="18" dur="500"/>
                                        <p:tgtEl>
                                          <p:spTgt spid="127">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28">
                                            <p:txEl>
                                              <p:pRg st="0" end="0"/>
                                            </p:txEl>
                                          </p:spTgt>
                                        </p:tgtEl>
                                        <p:attrNameLst>
                                          <p:attrName>style.visibility</p:attrName>
                                        </p:attrNameLst>
                                      </p:cBhvr>
                                      <p:to>
                                        <p:strVal val="visible"/>
                                      </p:to>
                                    </p:set>
                                    <p:animEffect transition="in" filter="dissolve">
                                      <p:cBhvr>
                                        <p:cTn id="23" dur="500"/>
                                        <p:tgtEl>
                                          <p:spTgt spid="128">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28">
                                            <p:txEl>
                                              <p:pRg st="1" end="1"/>
                                            </p:txEl>
                                          </p:spTgt>
                                        </p:tgtEl>
                                        <p:attrNameLst>
                                          <p:attrName>style.visibility</p:attrName>
                                        </p:attrNameLst>
                                      </p:cBhvr>
                                      <p:to>
                                        <p:strVal val="visible"/>
                                      </p:to>
                                    </p:set>
                                    <p:animEffect transition="in" filter="dissolve">
                                      <p:cBhvr>
                                        <p:cTn id="28" dur="500"/>
                                        <p:tgtEl>
                                          <p:spTgt spid="128">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128">
                                            <p:txEl>
                                              <p:pRg st="2" end="2"/>
                                            </p:txEl>
                                          </p:spTgt>
                                        </p:tgtEl>
                                        <p:attrNameLst>
                                          <p:attrName>style.visibility</p:attrName>
                                        </p:attrNameLst>
                                      </p:cBhvr>
                                      <p:to>
                                        <p:strVal val="visible"/>
                                      </p:to>
                                    </p:set>
                                    <p:animEffect transition="in" filter="dissolve">
                                      <p:cBhvr>
                                        <p:cTn id="33" dur="500"/>
                                        <p:tgtEl>
                                          <p:spTgt spid="12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5649B-6514-850D-104A-7A567B2792C4}"/>
              </a:ext>
            </a:extLst>
          </p:cNvPr>
          <p:cNvSpPr>
            <a:spLocks noGrp="1"/>
          </p:cNvSpPr>
          <p:nvPr>
            <p:ph type="title"/>
          </p:nvPr>
        </p:nvSpPr>
        <p:spPr/>
        <p:txBody>
          <a:bodyPr/>
          <a:lstStyle/>
          <a:p>
            <a:r>
              <a:rPr lang="en-US" altLang="zh-CN" dirty="0"/>
              <a:t>DNS: Definition</a:t>
            </a:r>
            <a:endParaRPr lang="en-US" dirty="0"/>
          </a:p>
        </p:txBody>
      </p:sp>
      <p:sp>
        <p:nvSpPr>
          <p:cNvPr id="3" name="Google Shape;186;p28">
            <a:extLst>
              <a:ext uri="{FF2B5EF4-FFF2-40B4-BE49-F238E27FC236}">
                <a16:creationId xmlns:a16="http://schemas.microsoft.com/office/drawing/2014/main" id="{B6386F22-4C44-474A-8DDA-7E13B036D0A3}"/>
              </a:ext>
            </a:extLst>
          </p:cNvPr>
          <p:cNvSpPr txBox="1">
            <a:spLocks/>
          </p:cNvSpPr>
          <p:nvPr/>
        </p:nvSpPr>
        <p:spPr>
          <a:xfrm>
            <a:off x="838200" y="1408040"/>
            <a:ext cx="10515600" cy="40176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Clr>
                <a:schemeClr val="dk1"/>
              </a:buClr>
              <a:buSzPts val="1100"/>
              <a:buFont typeface="Arial"/>
              <a:buNone/>
            </a:pPr>
            <a:r>
              <a:rPr lang="en-US" b="1" dirty="0"/>
              <a:t>DNS (Domain Name System)</a:t>
            </a:r>
            <a:r>
              <a:rPr lang="en-US" dirty="0"/>
              <a:t>: An application layer protocol for translating human-readable domain names to IP addresses</a:t>
            </a:r>
          </a:p>
          <a:p>
            <a:pPr marL="0" indent="0">
              <a:spcBef>
                <a:spcPts val="600"/>
              </a:spcBef>
              <a:spcAft>
                <a:spcPts val="600"/>
              </a:spcAft>
              <a:buClr>
                <a:schemeClr val="dk1"/>
              </a:buClr>
              <a:buSzPts val="1100"/>
              <a:buFont typeface="Arial"/>
              <a:buNone/>
            </a:pPr>
            <a:r>
              <a:rPr lang="en-US" dirty="0"/>
              <a:t>Usage:</a:t>
            </a:r>
          </a:p>
          <a:p>
            <a:pPr marL="457200" indent="-342900">
              <a:spcBef>
                <a:spcPts val="600"/>
              </a:spcBef>
              <a:spcAft>
                <a:spcPts val="600"/>
              </a:spcAft>
              <a:buSzPts val="1800"/>
              <a:buFont typeface="Arial" panose="020B0604020202020204" pitchFamily="34" charset="0"/>
              <a:buChar char="●"/>
            </a:pPr>
            <a:r>
              <a:rPr lang="en-US" dirty="0"/>
              <a:t>You want to send a packet to a certain domain (e.g. you type a www.google.com into your browser)</a:t>
            </a:r>
          </a:p>
          <a:p>
            <a:pPr marL="457200" indent="-342900">
              <a:spcBef>
                <a:spcPts val="0"/>
              </a:spcBef>
              <a:spcAft>
                <a:spcPts val="600"/>
              </a:spcAft>
              <a:buSzPts val="1800"/>
              <a:buFont typeface="Arial" panose="020B0604020202020204" pitchFamily="34" charset="0"/>
              <a:buChar char="●"/>
            </a:pPr>
            <a:r>
              <a:rPr lang="en-US" dirty="0"/>
              <a:t>Your computer performs a </a:t>
            </a:r>
            <a:r>
              <a:rPr lang="en-US" b="1" dirty="0">
                <a:solidFill>
                  <a:srgbClr val="C00000"/>
                </a:solidFill>
              </a:rPr>
              <a:t>DNS lookup</a:t>
            </a:r>
            <a:r>
              <a:rPr lang="en-US" dirty="0">
                <a:solidFill>
                  <a:srgbClr val="C00000"/>
                </a:solidFill>
              </a:rPr>
              <a:t> </a:t>
            </a:r>
            <a:r>
              <a:rPr lang="en-US" dirty="0"/>
              <a:t>to translate the domain name to an IP address</a:t>
            </a:r>
          </a:p>
          <a:p>
            <a:pPr marL="457200" indent="-342900">
              <a:spcBef>
                <a:spcPts val="0"/>
              </a:spcBef>
              <a:spcAft>
                <a:spcPts val="600"/>
              </a:spcAft>
              <a:buSzPts val="1800"/>
              <a:buFont typeface="Arial" panose="020B0604020202020204" pitchFamily="34" charset="0"/>
              <a:buChar char="●"/>
            </a:pPr>
            <a:r>
              <a:rPr lang="en-US" dirty="0"/>
              <a:t>Your computer sends the packet to the corresponding IP address</a:t>
            </a:r>
          </a:p>
        </p:txBody>
      </p:sp>
      <p:grpSp>
        <p:nvGrpSpPr>
          <p:cNvPr id="8" name="Group 7">
            <a:extLst>
              <a:ext uri="{FF2B5EF4-FFF2-40B4-BE49-F238E27FC236}">
                <a16:creationId xmlns:a16="http://schemas.microsoft.com/office/drawing/2014/main" id="{BB34F819-93BA-6C88-94CC-B1FE4E22E6C5}"/>
              </a:ext>
            </a:extLst>
          </p:cNvPr>
          <p:cNvGrpSpPr/>
          <p:nvPr/>
        </p:nvGrpSpPr>
        <p:grpSpPr>
          <a:xfrm>
            <a:off x="2891562" y="5656490"/>
            <a:ext cx="6408875" cy="564300"/>
            <a:chOff x="3385070" y="5449960"/>
            <a:chExt cx="6408875" cy="564300"/>
          </a:xfrm>
        </p:grpSpPr>
        <p:sp>
          <p:nvSpPr>
            <p:cNvPr id="4" name="Google Shape;187;p28">
              <a:extLst>
                <a:ext uri="{FF2B5EF4-FFF2-40B4-BE49-F238E27FC236}">
                  <a16:creationId xmlns:a16="http://schemas.microsoft.com/office/drawing/2014/main" id="{7A7C3930-064F-A794-E230-D379F692B200}"/>
                </a:ext>
              </a:extLst>
            </p:cNvPr>
            <p:cNvSpPr txBox="1"/>
            <p:nvPr/>
          </p:nvSpPr>
          <p:spPr>
            <a:xfrm>
              <a:off x="7851445" y="5552560"/>
              <a:ext cx="1942500" cy="4617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800">
                  <a:solidFill>
                    <a:schemeClr val="dk1"/>
                  </a:solidFill>
                  <a:latin typeface="Roboto"/>
                  <a:ea typeface="Roboto"/>
                  <a:cs typeface="Roboto"/>
                  <a:sym typeface="Roboto"/>
                </a:rPr>
                <a:t>74.125.25.99</a:t>
              </a:r>
              <a:endParaRPr sz="1800">
                <a:latin typeface="Roboto"/>
                <a:ea typeface="Roboto"/>
                <a:cs typeface="Roboto"/>
                <a:sym typeface="Roboto"/>
              </a:endParaRPr>
            </a:p>
          </p:txBody>
        </p:sp>
        <p:sp>
          <p:nvSpPr>
            <p:cNvPr id="5" name="Google Shape;188;p28">
              <a:extLst>
                <a:ext uri="{FF2B5EF4-FFF2-40B4-BE49-F238E27FC236}">
                  <a16:creationId xmlns:a16="http://schemas.microsoft.com/office/drawing/2014/main" id="{FCAF51C3-C7CA-064A-E63D-71C7F253BB2E}"/>
                </a:ext>
              </a:extLst>
            </p:cNvPr>
            <p:cNvSpPr txBox="1"/>
            <p:nvPr/>
          </p:nvSpPr>
          <p:spPr>
            <a:xfrm>
              <a:off x="3385070" y="5552560"/>
              <a:ext cx="2188800" cy="4617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800" dirty="0">
                  <a:solidFill>
                    <a:schemeClr val="dk1"/>
                  </a:solidFill>
                  <a:latin typeface="Roboto"/>
                  <a:ea typeface="Roboto"/>
                  <a:cs typeface="Roboto"/>
                  <a:sym typeface="Roboto"/>
                </a:rPr>
                <a:t>www.google.com</a:t>
              </a:r>
              <a:endParaRPr sz="1800" dirty="0">
                <a:latin typeface="Roboto"/>
                <a:ea typeface="Roboto"/>
                <a:cs typeface="Roboto"/>
                <a:sym typeface="Roboto"/>
              </a:endParaRPr>
            </a:p>
          </p:txBody>
        </p:sp>
        <p:cxnSp>
          <p:nvCxnSpPr>
            <p:cNvPr id="6" name="Google Shape;189;p28">
              <a:extLst>
                <a:ext uri="{FF2B5EF4-FFF2-40B4-BE49-F238E27FC236}">
                  <a16:creationId xmlns:a16="http://schemas.microsoft.com/office/drawing/2014/main" id="{211D082A-2A8C-A69F-E143-571E7D567F6C}"/>
                </a:ext>
              </a:extLst>
            </p:cNvPr>
            <p:cNvCxnSpPr>
              <a:endCxn id="4" idx="1"/>
            </p:cNvCxnSpPr>
            <p:nvPr/>
          </p:nvCxnSpPr>
          <p:spPr>
            <a:xfrm>
              <a:off x="5573845" y="5783410"/>
              <a:ext cx="2277600" cy="0"/>
            </a:xfrm>
            <a:prstGeom prst="straightConnector1">
              <a:avLst/>
            </a:prstGeom>
            <a:noFill/>
            <a:ln w="19050" cap="flat" cmpd="sng">
              <a:solidFill>
                <a:schemeClr val="dk1"/>
              </a:solidFill>
              <a:prstDash val="solid"/>
              <a:round/>
              <a:headEnd type="none" w="med" len="med"/>
              <a:tailEnd type="triangle" w="med" len="med"/>
            </a:ln>
          </p:spPr>
        </p:cxnSp>
        <p:sp>
          <p:nvSpPr>
            <p:cNvPr id="7" name="Google Shape;190;p28">
              <a:extLst>
                <a:ext uri="{FF2B5EF4-FFF2-40B4-BE49-F238E27FC236}">
                  <a16:creationId xmlns:a16="http://schemas.microsoft.com/office/drawing/2014/main" id="{599AAE88-28B3-18BF-A1F5-8CC21C57CBBF}"/>
                </a:ext>
              </a:extLst>
            </p:cNvPr>
            <p:cNvSpPr txBox="1"/>
            <p:nvPr/>
          </p:nvSpPr>
          <p:spPr>
            <a:xfrm>
              <a:off x="5573795" y="5449960"/>
              <a:ext cx="22299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DNS</a:t>
              </a:r>
              <a:endParaRPr>
                <a:latin typeface="Roboto"/>
                <a:ea typeface="Roboto"/>
                <a:cs typeface="Roboto"/>
                <a:sym typeface="Roboto"/>
              </a:endParaRPr>
            </a:p>
          </p:txBody>
        </p:sp>
      </p:grpSp>
    </p:spTree>
    <p:extLst>
      <p:ext uri="{BB962C8B-B14F-4D97-AF65-F5344CB8AC3E}">
        <p14:creationId xmlns:p14="http://schemas.microsoft.com/office/powerpoint/2010/main" val="2927387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F36AA-DA4C-D7CF-FF56-A1C76E9F4CF5}"/>
              </a:ext>
            </a:extLst>
          </p:cNvPr>
          <p:cNvSpPr>
            <a:spLocks noGrp="1"/>
          </p:cNvSpPr>
          <p:nvPr>
            <p:ph type="title"/>
          </p:nvPr>
        </p:nvSpPr>
        <p:spPr>
          <a:xfrm>
            <a:off x="838200" y="19684"/>
            <a:ext cx="10515600" cy="1325563"/>
          </a:xfrm>
        </p:spPr>
        <p:txBody>
          <a:bodyPr/>
          <a:lstStyle/>
          <a:p>
            <a:r>
              <a:rPr lang="en-US" dirty="0"/>
              <a:t>Goals of DNS</a:t>
            </a:r>
          </a:p>
        </p:txBody>
      </p:sp>
      <p:sp>
        <p:nvSpPr>
          <p:cNvPr id="3" name="Google Shape;239;p35">
            <a:extLst>
              <a:ext uri="{FF2B5EF4-FFF2-40B4-BE49-F238E27FC236}">
                <a16:creationId xmlns:a16="http://schemas.microsoft.com/office/drawing/2014/main" id="{17723D2E-824C-535B-6F5D-D7807C5249A4}"/>
              </a:ext>
            </a:extLst>
          </p:cNvPr>
          <p:cNvSpPr txBox="1">
            <a:spLocks/>
          </p:cNvSpPr>
          <p:nvPr/>
        </p:nvSpPr>
        <p:spPr>
          <a:xfrm>
            <a:off x="838200" y="1060767"/>
            <a:ext cx="10515600" cy="5289233"/>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spcBef>
                <a:spcPts val="600"/>
              </a:spcBef>
              <a:spcAft>
                <a:spcPts val="600"/>
              </a:spcAft>
              <a:buSzPts val="1800"/>
              <a:buNone/>
            </a:pPr>
            <a:r>
              <a:rPr lang="en-US" dirty="0"/>
              <a:t>DNS must be </a:t>
            </a:r>
            <a:r>
              <a:rPr lang="en-US" b="1" dirty="0">
                <a:solidFill>
                  <a:srgbClr val="C00000"/>
                </a:solidFill>
              </a:rPr>
              <a:t>scalable</a:t>
            </a:r>
          </a:p>
          <a:p>
            <a:pPr marL="457200" indent="-342900">
              <a:spcBef>
                <a:spcPts val="600"/>
              </a:spcBef>
              <a:spcAft>
                <a:spcPts val="600"/>
              </a:spcAft>
              <a:buSzPts val="1800"/>
              <a:buFont typeface="Arial" panose="020B0604020202020204" pitchFamily="34" charset="0"/>
              <a:buChar char="●"/>
            </a:pPr>
            <a:r>
              <a:rPr lang="en-US" dirty="0"/>
              <a:t>Many hosts/names; Many lookups; Many updates</a:t>
            </a:r>
          </a:p>
          <a:p>
            <a:pPr marL="114300" indent="0">
              <a:spcBef>
                <a:spcPts val="600"/>
              </a:spcBef>
              <a:spcAft>
                <a:spcPts val="600"/>
              </a:spcAft>
              <a:buSzPts val="1800"/>
              <a:buNone/>
            </a:pPr>
            <a:endParaRPr lang="en-US" dirty="0"/>
          </a:p>
          <a:p>
            <a:pPr marL="114300" indent="0">
              <a:spcBef>
                <a:spcPts val="600"/>
              </a:spcBef>
              <a:spcAft>
                <a:spcPts val="600"/>
              </a:spcAft>
              <a:buSzPts val="1800"/>
              <a:buNone/>
            </a:pPr>
            <a:r>
              <a:rPr lang="en-US" dirty="0"/>
              <a:t>DNS must be </a:t>
            </a:r>
            <a:r>
              <a:rPr lang="en-US" b="1" dirty="0">
                <a:solidFill>
                  <a:srgbClr val="C00000"/>
                </a:solidFill>
              </a:rPr>
              <a:t>highly available</a:t>
            </a:r>
            <a:endParaRPr lang="en-US" dirty="0">
              <a:solidFill>
                <a:srgbClr val="C00000"/>
              </a:solidFill>
            </a:endParaRPr>
          </a:p>
          <a:p>
            <a:pPr marL="457200" indent="-342900">
              <a:spcBef>
                <a:spcPts val="600"/>
              </a:spcBef>
              <a:spcAft>
                <a:spcPts val="600"/>
              </a:spcAft>
              <a:buSzPts val="1800"/>
              <a:buFont typeface="Arial" panose="020B0604020202020204" pitchFamily="34" charset="0"/>
              <a:buChar char="●"/>
            </a:pPr>
            <a:r>
              <a:rPr lang="en-US" dirty="0"/>
              <a:t>No single point of failure </a:t>
            </a:r>
            <a:r>
              <a:rPr lang="en-US" dirty="0">
                <a:sym typeface="Wingdings" panose="05000000000000000000" pitchFamily="2" charset="2"/>
              </a:rPr>
              <a:t> replication?</a:t>
            </a:r>
          </a:p>
          <a:p>
            <a:pPr marL="114300" indent="0">
              <a:spcBef>
                <a:spcPts val="600"/>
              </a:spcBef>
              <a:spcAft>
                <a:spcPts val="600"/>
              </a:spcAft>
              <a:buSzPts val="1800"/>
              <a:buNone/>
            </a:pPr>
            <a:endParaRPr lang="en-US" dirty="0"/>
          </a:p>
          <a:p>
            <a:pPr marL="114300" indent="0">
              <a:spcBef>
                <a:spcPts val="600"/>
              </a:spcBef>
              <a:spcAft>
                <a:spcPts val="600"/>
              </a:spcAft>
              <a:buSzPts val="1800"/>
              <a:buNone/>
            </a:pPr>
            <a:r>
              <a:rPr lang="en-US" dirty="0"/>
              <a:t>DNS must be </a:t>
            </a:r>
            <a:r>
              <a:rPr lang="en-US" b="1" dirty="0">
                <a:solidFill>
                  <a:srgbClr val="C00000"/>
                </a:solidFill>
              </a:rPr>
              <a:t>lightweight</a:t>
            </a:r>
            <a:r>
              <a:rPr lang="en-US" dirty="0"/>
              <a:t> and </a:t>
            </a:r>
            <a:r>
              <a:rPr lang="en-US" dirty="0">
                <a:solidFill>
                  <a:srgbClr val="C00000"/>
                </a:solidFill>
              </a:rPr>
              <a:t>fast</a:t>
            </a:r>
          </a:p>
          <a:p>
            <a:pPr marL="457200" indent="-342900">
              <a:spcBef>
                <a:spcPts val="600"/>
              </a:spcBef>
              <a:spcAft>
                <a:spcPts val="600"/>
              </a:spcAft>
              <a:buSzPts val="1800"/>
              <a:buFont typeface="Arial" panose="020B0604020202020204" pitchFamily="34" charset="0"/>
              <a:buChar char="●"/>
            </a:pPr>
            <a:r>
              <a:rPr lang="en-US" dirty="0"/>
              <a:t>Connections often start with a name lookup (e.g. user typing domain in browser)</a:t>
            </a:r>
          </a:p>
          <a:p>
            <a:pPr marL="457200" indent="-342900">
              <a:spcBef>
                <a:spcPts val="0"/>
              </a:spcBef>
              <a:spcAft>
                <a:spcPts val="600"/>
              </a:spcAft>
              <a:buSzPts val="1800"/>
              <a:buFont typeface="Arial" panose="020B0604020202020204" pitchFamily="34" charset="0"/>
              <a:buChar char="●"/>
            </a:pPr>
            <a:r>
              <a:rPr lang="en-US" dirty="0"/>
              <a:t>If DNS is slow, every connection is slow</a:t>
            </a:r>
          </a:p>
        </p:txBody>
      </p:sp>
    </p:spTree>
    <p:extLst>
      <p:ext uri="{BB962C8B-B14F-4D97-AF65-F5344CB8AC3E}">
        <p14:creationId xmlns:p14="http://schemas.microsoft.com/office/powerpoint/2010/main" val="3594838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DA0E7-A3E4-8937-36C1-675A9A782B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EDD25F-68AF-2730-4A68-9ADD777284F5}"/>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8056CC5B-BB3C-B9E9-E5B2-1DCA0323DDA4}"/>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buClr>
                <a:schemeClr val="bg1">
                  <a:lumMod val="85000"/>
                </a:schemeClr>
              </a:buClr>
            </a:pPr>
            <a:r>
              <a:rPr lang="en-US" altLang="en-US" sz="3600" i="1" dirty="0">
                <a:solidFill>
                  <a:schemeClr val="bg1">
                    <a:lumMod val="85000"/>
                  </a:schemeClr>
                </a:solidFill>
                <a:latin typeface="Calibri" panose="020F0502020204030204" pitchFamily="34" charset="0"/>
                <a:cs typeface="Calibri" panose="020F0502020204030204" pitchFamily="34" charset="0"/>
              </a:rPr>
              <a:t>What is DNS for?</a:t>
            </a:r>
            <a:endParaRPr lang="en-US" altLang="ja-JP" sz="3600" i="1" dirty="0">
              <a:solidFill>
                <a:schemeClr val="bg1">
                  <a:lumMod val="85000"/>
                </a:schemeClr>
              </a:solidFill>
              <a:latin typeface="Calibri" panose="020F0502020204030204" pitchFamily="34" charset="0"/>
              <a:cs typeface="Calibri" panose="020F0502020204030204" pitchFamily="34" charset="0"/>
            </a:endParaRPr>
          </a:p>
          <a:p>
            <a:pPr marL="403225" indent="-285750">
              <a:spcBef>
                <a:spcPts val="800"/>
              </a:spcBef>
              <a:buClr>
                <a:schemeClr val="bg1">
                  <a:lumMod val="85000"/>
                </a:schemeClr>
              </a:buClr>
            </a:pPr>
            <a:r>
              <a:rPr lang="en-US" altLang="en-US" sz="3600" b="1" i="1" dirty="0">
                <a:latin typeface="Calibri" panose="020F0502020204030204" pitchFamily="34" charset="0"/>
                <a:cs typeface="Calibri" panose="020F0502020204030204" pitchFamily="34" charset="0"/>
              </a:rPr>
              <a:t>Design and implementation</a:t>
            </a:r>
          </a:p>
        </p:txBody>
      </p:sp>
    </p:spTree>
    <p:extLst>
      <p:ext uri="{BB962C8B-B14F-4D97-AF65-F5344CB8AC3E}">
        <p14:creationId xmlns:p14="http://schemas.microsoft.com/office/powerpoint/2010/main" val="1450175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55;p37">
            <a:extLst>
              <a:ext uri="{FF2B5EF4-FFF2-40B4-BE49-F238E27FC236}">
                <a16:creationId xmlns:a16="http://schemas.microsoft.com/office/drawing/2014/main" id="{EE0DCA9A-DA2B-A92D-3B25-15B31C958300}"/>
              </a:ext>
            </a:extLst>
          </p:cNvPr>
          <p:cNvSpPr txBox="1">
            <a:spLocks/>
          </p:cNvSpPr>
          <p:nvPr/>
        </p:nvSpPr>
        <p:spPr>
          <a:xfrm>
            <a:off x="0" y="150186"/>
            <a:ext cx="12192000" cy="934721"/>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The First Trial: A Single </a:t>
            </a:r>
            <a:r>
              <a:rPr lang="en-US" dirty="0"/>
              <a:t>DNS Name Server</a:t>
            </a:r>
          </a:p>
        </p:txBody>
      </p:sp>
      <p:sp>
        <p:nvSpPr>
          <p:cNvPr id="3" name="Google Shape;256;p37">
            <a:extLst>
              <a:ext uri="{FF2B5EF4-FFF2-40B4-BE49-F238E27FC236}">
                <a16:creationId xmlns:a16="http://schemas.microsoft.com/office/drawing/2014/main" id="{67463775-45BE-B4B7-FA1C-EFC5F64DA27A}"/>
              </a:ext>
            </a:extLst>
          </p:cNvPr>
          <p:cNvSpPr txBox="1">
            <a:spLocks/>
          </p:cNvSpPr>
          <p:nvPr/>
        </p:nvSpPr>
        <p:spPr>
          <a:xfrm>
            <a:off x="156200" y="1084907"/>
            <a:ext cx="11879600" cy="2344093"/>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600"/>
              </a:spcAft>
              <a:buClr>
                <a:schemeClr val="dk1"/>
              </a:buClr>
              <a:buSzPts val="1100"/>
              <a:buNone/>
            </a:pPr>
            <a:r>
              <a:rPr lang="en-US" sz="2400" dirty="0"/>
              <a:t>DNS is a client-server, request-response protocol.</a:t>
            </a:r>
          </a:p>
          <a:p>
            <a:pPr>
              <a:spcAft>
                <a:spcPts val="600"/>
              </a:spcAft>
            </a:pPr>
            <a:r>
              <a:rPr lang="en-US" sz="2400" dirty="0"/>
              <a:t>To perform a DNS lookup, you (the client) send a DNS query:</a:t>
            </a:r>
            <a:br>
              <a:rPr lang="en-US" sz="2400" dirty="0"/>
            </a:br>
            <a:r>
              <a:rPr lang="en-US" sz="2400" dirty="0"/>
              <a:t>"What is the IP address of www.google.com?"</a:t>
            </a:r>
          </a:p>
          <a:p>
            <a:pPr>
              <a:spcBef>
                <a:spcPts val="0"/>
              </a:spcBef>
              <a:spcAft>
                <a:spcPts val="600"/>
              </a:spcAft>
            </a:pPr>
            <a:r>
              <a:rPr lang="en-US" sz="2400" dirty="0"/>
              <a:t>The name server sends a DNS response with the answer:</a:t>
            </a:r>
            <a:br>
              <a:rPr lang="en-US" sz="2400" dirty="0"/>
            </a:br>
            <a:r>
              <a:rPr lang="en-US" sz="2400" dirty="0"/>
              <a:t>"The IP address of www.google.com is 74.125.25.99."</a:t>
            </a:r>
            <a:endParaRPr lang="en-US" sz="2400" b="1" dirty="0"/>
          </a:p>
        </p:txBody>
      </p:sp>
      <p:sp>
        <p:nvSpPr>
          <p:cNvPr id="5" name="TextBox 4">
            <a:extLst>
              <a:ext uri="{FF2B5EF4-FFF2-40B4-BE49-F238E27FC236}">
                <a16:creationId xmlns:a16="http://schemas.microsoft.com/office/drawing/2014/main" id="{240BE90F-29F9-7E14-3C5C-14306511B49C}"/>
              </a:ext>
            </a:extLst>
          </p:cNvPr>
          <p:cNvSpPr txBox="1"/>
          <p:nvPr/>
        </p:nvSpPr>
        <p:spPr>
          <a:xfrm>
            <a:off x="6466840" y="3510510"/>
            <a:ext cx="5355600" cy="2908489"/>
          </a:xfrm>
          <a:prstGeom prst="rect">
            <a:avLst/>
          </a:prstGeom>
          <a:noFill/>
        </p:spPr>
        <p:txBody>
          <a:bodyPr wrap="square">
            <a:spAutoFit/>
          </a:bodyPr>
          <a:lstStyle/>
          <a:p>
            <a:pPr marL="0" indent="0">
              <a:spcAft>
                <a:spcPts val="600"/>
              </a:spcAft>
              <a:buClr>
                <a:schemeClr val="dk1"/>
              </a:buClr>
              <a:buSzPts val="1100"/>
              <a:buFont typeface="Arial" panose="020B0604020202020204" pitchFamily="34" charset="0"/>
              <a:buNone/>
            </a:pPr>
            <a:r>
              <a:rPr lang="en-US" sz="2400" b="1" dirty="0">
                <a:solidFill>
                  <a:srgbClr val="C00000"/>
                </a:solidFill>
              </a:rPr>
              <a:t>Issues</a:t>
            </a:r>
            <a:r>
              <a:rPr lang="en-US" sz="2400" dirty="0"/>
              <a:t>:</a:t>
            </a:r>
          </a:p>
          <a:p>
            <a:pPr marL="285750" indent="-285750">
              <a:spcAft>
                <a:spcPts val="600"/>
              </a:spcAft>
              <a:buFont typeface="Arial" panose="020B0604020202020204" pitchFamily="34" charset="0"/>
              <a:buChar char="•"/>
            </a:pPr>
            <a:r>
              <a:rPr lang="en-US" sz="2400" dirty="0"/>
              <a:t>Too many requests: one name server can't handle every DNS request from the entire Internet</a:t>
            </a:r>
          </a:p>
          <a:p>
            <a:pPr marL="285750" indent="-285750">
              <a:spcAft>
                <a:spcPts val="600"/>
              </a:spcAft>
              <a:buFont typeface="Arial" panose="020B0604020202020204" pitchFamily="34" charset="0"/>
              <a:buChar char="•"/>
            </a:pPr>
            <a:r>
              <a:rPr lang="en-US" sz="2400" dirty="0"/>
              <a:t>Single point of failure</a:t>
            </a:r>
          </a:p>
          <a:p>
            <a:pPr marL="285750" indent="-285750">
              <a:spcBef>
                <a:spcPts val="0"/>
              </a:spcBef>
              <a:spcAft>
                <a:spcPts val="600"/>
              </a:spcAft>
              <a:buFont typeface="Arial" panose="020B0604020202020204" pitchFamily="34" charset="0"/>
              <a:buChar char="•"/>
            </a:pPr>
            <a:r>
              <a:rPr lang="en-US" sz="2400" dirty="0"/>
              <a:t>If there are many name servers, how do you know which one to contact?</a:t>
            </a:r>
          </a:p>
        </p:txBody>
      </p:sp>
      <p:sp>
        <p:nvSpPr>
          <p:cNvPr id="7" name="TextBox 6">
            <a:extLst>
              <a:ext uri="{FF2B5EF4-FFF2-40B4-BE49-F238E27FC236}">
                <a16:creationId xmlns:a16="http://schemas.microsoft.com/office/drawing/2014/main" id="{18037C8A-16F6-A103-3B08-C09EFF05A743}"/>
              </a:ext>
            </a:extLst>
          </p:cNvPr>
          <p:cNvSpPr txBox="1"/>
          <p:nvPr/>
        </p:nvSpPr>
        <p:spPr>
          <a:xfrm>
            <a:off x="156200" y="3510510"/>
            <a:ext cx="5777240" cy="2831544"/>
          </a:xfrm>
          <a:prstGeom prst="rect">
            <a:avLst/>
          </a:prstGeom>
          <a:noFill/>
        </p:spPr>
        <p:txBody>
          <a:bodyPr wrap="square">
            <a:spAutoFit/>
          </a:bodyPr>
          <a:lstStyle/>
          <a:p>
            <a:pPr marL="0" indent="0">
              <a:spcAft>
                <a:spcPts val="600"/>
              </a:spcAft>
              <a:buClr>
                <a:schemeClr val="dk1"/>
              </a:buClr>
              <a:buSzPts val="1100"/>
              <a:buFont typeface="Arial" panose="020B0604020202020204" pitchFamily="34" charset="0"/>
              <a:buNone/>
            </a:pPr>
            <a:r>
              <a:rPr lang="en-US" sz="2400" b="1" dirty="0">
                <a:solidFill>
                  <a:srgbClr val="C00000"/>
                </a:solidFill>
              </a:rPr>
              <a:t>Name server</a:t>
            </a:r>
            <a:r>
              <a:rPr lang="en-US" sz="2400" dirty="0"/>
              <a:t>: A server on the Internet responsible for answering DNS requests</a:t>
            </a:r>
          </a:p>
          <a:p>
            <a:pPr marL="342900" indent="-342900">
              <a:spcAft>
                <a:spcPts val="600"/>
              </a:spcAft>
              <a:buFont typeface="Arial" panose="020B0604020202020204" pitchFamily="34" charset="0"/>
              <a:buChar char="•"/>
            </a:pPr>
            <a:r>
              <a:rPr lang="en-US" sz="2400" dirty="0"/>
              <a:t>Name servers have domain names and IP addresses too</a:t>
            </a:r>
          </a:p>
          <a:p>
            <a:pPr marL="342900" indent="-342900">
              <a:spcBef>
                <a:spcPts val="0"/>
              </a:spcBef>
              <a:spcAft>
                <a:spcPts val="600"/>
              </a:spcAft>
              <a:buFont typeface="Arial" panose="020B0604020202020204" pitchFamily="34" charset="0"/>
              <a:buChar char="•"/>
            </a:pPr>
            <a:r>
              <a:rPr lang="en-US" sz="2400" dirty="0"/>
              <a:t>Example: There's a name server with name a.edu-servers.net and IP 192.5.6.30.</a:t>
            </a:r>
          </a:p>
        </p:txBody>
      </p:sp>
    </p:spTree>
    <p:extLst>
      <p:ext uri="{BB962C8B-B14F-4D97-AF65-F5344CB8AC3E}">
        <p14:creationId xmlns:p14="http://schemas.microsoft.com/office/powerpoint/2010/main" val="879306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EAD53-5CCE-1866-5514-FA0894CEB9B5}"/>
              </a:ext>
            </a:extLst>
          </p:cNvPr>
          <p:cNvSpPr>
            <a:spLocks noGrp="1"/>
          </p:cNvSpPr>
          <p:nvPr>
            <p:ph type="title"/>
          </p:nvPr>
        </p:nvSpPr>
        <p:spPr>
          <a:xfrm>
            <a:off x="838200" y="0"/>
            <a:ext cx="10515600" cy="1325563"/>
          </a:xfrm>
        </p:spPr>
        <p:txBody>
          <a:bodyPr/>
          <a:lstStyle/>
          <a:p>
            <a:r>
              <a:rPr lang="en-US" dirty="0"/>
              <a:t>DNS Name Server Hierarchy</a:t>
            </a:r>
          </a:p>
        </p:txBody>
      </p:sp>
      <p:sp>
        <p:nvSpPr>
          <p:cNvPr id="3" name="Google Shape;262;p38">
            <a:extLst>
              <a:ext uri="{FF2B5EF4-FFF2-40B4-BE49-F238E27FC236}">
                <a16:creationId xmlns:a16="http://schemas.microsoft.com/office/drawing/2014/main" id="{C4F8114B-48F1-E6DC-8745-42D2D15F584E}"/>
              </a:ext>
            </a:extLst>
          </p:cNvPr>
          <p:cNvSpPr txBox="1">
            <a:spLocks/>
          </p:cNvSpPr>
          <p:nvPr/>
        </p:nvSpPr>
        <p:spPr>
          <a:xfrm>
            <a:off x="0" y="1040448"/>
            <a:ext cx="12192000" cy="2220912"/>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Clr>
                <a:schemeClr val="dk1"/>
              </a:buClr>
              <a:buSzPts val="1100"/>
              <a:buFont typeface="Arial"/>
              <a:buNone/>
            </a:pPr>
            <a:r>
              <a:rPr lang="en-US" sz="2200" b="1" dirty="0">
                <a:solidFill>
                  <a:srgbClr val="C00000"/>
                </a:solidFill>
              </a:rPr>
              <a:t>Idea #1</a:t>
            </a:r>
            <a:r>
              <a:rPr lang="en-US" sz="2200" dirty="0"/>
              <a:t>: If one name server doesn't know the answer to your query, the name server can direct you to another name server</a:t>
            </a:r>
          </a:p>
          <a:p>
            <a:pPr marL="457200" indent="-342900">
              <a:spcBef>
                <a:spcPts val="600"/>
              </a:spcBef>
              <a:spcAft>
                <a:spcPts val="600"/>
              </a:spcAft>
              <a:buSzPts val="1800"/>
              <a:buFont typeface="Arial" panose="020B0604020202020204" pitchFamily="34" charset="0"/>
              <a:buChar char="●"/>
            </a:pPr>
            <a:r>
              <a:rPr lang="en-US" sz="2200" dirty="0"/>
              <a:t>Analogy: If I don't know the answer to your question, I will direct you to a friend who can help.</a:t>
            </a:r>
          </a:p>
          <a:p>
            <a:pPr marL="0" indent="0">
              <a:spcBef>
                <a:spcPts val="600"/>
              </a:spcBef>
              <a:spcAft>
                <a:spcPts val="600"/>
              </a:spcAft>
              <a:buClr>
                <a:schemeClr val="dk1"/>
              </a:buClr>
              <a:buSzPts val="1100"/>
              <a:buFont typeface="Arial"/>
              <a:buNone/>
            </a:pPr>
            <a:r>
              <a:rPr lang="en-US" sz="2200" b="1" dirty="0">
                <a:solidFill>
                  <a:srgbClr val="C00000"/>
                </a:solidFill>
              </a:rPr>
              <a:t>Idea #2</a:t>
            </a:r>
            <a:r>
              <a:rPr lang="en-US" sz="2200" dirty="0"/>
              <a:t>: Arrange the name servers in a tree hierarchy</a:t>
            </a:r>
          </a:p>
          <a:p>
            <a:pPr marL="457200" indent="-342900">
              <a:spcBef>
                <a:spcPts val="600"/>
              </a:spcBef>
              <a:spcAft>
                <a:spcPts val="600"/>
              </a:spcAft>
              <a:buSzPts val="1800"/>
              <a:buFont typeface="Arial" panose="020B0604020202020204" pitchFamily="34" charset="0"/>
              <a:buChar char="●"/>
            </a:pPr>
            <a:r>
              <a:rPr lang="en-US" sz="2200" dirty="0"/>
              <a:t>Intuition: Name servers will direct you down the tree until you receive the answer to your query</a:t>
            </a:r>
          </a:p>
        </p:txBody>
      </p:sp>
      <p:grpSp>
        <p:nvGrpSpPr>
          <p:cNvPr id="39" name="Group 38">
            <a:extLst>
              <a:ext uri="{FF2B5EF4-FFF2-40B4-BE49-F238E27FC236}">
                <a16:creationId xmlns:a16="http://schemas.microsoft.com/office/drawing/2014/main" id="{7E18357A-F05C-ED9E-23EB-990B999492EE}"/>
              </a:ext>
            </a:extLst>
          </p:cNvPr>
          <p:cNvGrpSpPr/>
          <p:nvPr/>
        </p:nvGrpSpPr>
        <p:grpSpPr>
          <a:xfrm>
            <a:off x="366496" y="3703558"/>
            <a:ext cx="11459008" cy="2910601"/>
            <a:chOff x="704709" y="3703558"/>
            <a:chExt cx="11459008" cy="2910601"/>
          </a:xfrm>
        </p:grpSpPr>
        <p:grpSp>
          <p:nvGrpSpPr>
            <p:cNvPr id="4" name="Google Shape;263;p38">
              <a:extLst>
                <a:ext uri="{FF2B5EF4-FFF2-40B4-BE49-F238E27FC236}">
                  <a16:creationId xmlns:a16="http://schemas.microsoft.com/office/drawing/2014/main" id="{415D3337-604B-F335-2998-502AF6E5B5A3}"/>
                </a:ext>
              </a:extLst>
            </p:cNvPr>
            <p:cNvGrpSpPr/>
            <p:nvPr/>
          </p:nvGrpSpPr>
          <p:grpSpPr>
            <a:xfrm>
              <a:off x="2139450" y="3703558"/>
              <a:ext cx="7635280" cy="2910601"/>
              <a:chOff x="1590000" y="3073639"/>
              <a:chExt cx="6073725" cy="1890236"/>
            </a:xfrm>
          </p:grpSpPr>
          <p:sp>
            <p:nvSpPr>
              <p:cNvPr id="5" name="Google Shape;264;p38">
                <a:extLst>
                  <a:ext uri="{FF2B5EF4-FFF2-40B4-BE49-F238E27FC236}">
                    <a16:creationId xmlns:a16="http://schemas.microsoft.com/office/drawing/2014/main" id="{DA4B3669-E92C-C7DD-1940-73C6D3DE2DE8}"/>
                  </a:ext>
                </a:extLst>
              </p:cNvPr>
              <p:cNvSpPr txBox="1"/>
              <p:nvPr/>
            </p:nvSpPr>
            <p:spPr>
              <a:xfrm>
                <a:off x="3922400" y="3073639"/>
                <a:ext cx="12381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 (root)</a:t>
                </a:r>
                <a:endParaRPr>
                  <a:latin typeface="Roboto"/>
                  <a:ea typeface="Roboto"/>
                  <a:cs typeface="Roboto"/>
                  <a:sym typeface="Roboto"/>
                </a:endParaRPr>
              </a:p>
            </p:txBody>
          </p:sp>
          <p:sp>
            <p:nvSpPr>
              <p:cNvPr id="6" name="Google Shape;265;p38">
                <a:extLst>
                  <a:ext uri="{FF2B5EF4-FFF2-40B4-BE49-F238E27FC236}">
                    <a16:creationId xmlns:a16="http://schemas.microsoft.com/office/drawing/2014/main" id="{71CA741D-8A8B-6533-2287-A4E3F9A37A37}"/>
                  </a:ext>
                </a:extLst>
              </p:cNvPr>
              <p:cNvSpPr txBox="1"/>
              <p:nvPr/>
            </p:nvSpPr>
            <p:spPr>
              <a:xfrm>
                <a:off x="2576875" y="3905309"/>
                <a:ext cx="6684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.edu</a:t>
                </a:r>
                <a:endParaRPr>
                  <a:latin typeface="Roboto"/>
                  <a:ea typeface="Roboto"/>
                  <a:cs typeface="Roboto"/>
                  <a:sym typeface="Roboto"/>
                </a:endParaRPr>
              </a:p>
            </p:txBody>
          </p:sp>
          <p:sp>
            <p:nvSpPr>
              <p:cNvPr id="7" name="Google Shape;266;p38">
                <a:extLst>
                  <a:ext uri="{FF2B5EF4-FFF2-40B4-BE49-F238E27FC236}">
                    <a16:creationId xmlns:a16="http://schemas.microsoft.com/office/drawing/2014/main" id="{5C6FC6CF-B274-90A2-5F14-B6EE7780D827}"/>
                  </a:ext>
                </a:extLst>
              </p:cNvPr>
              <p:cNvSpPr txBox="1"/>
              <p:nvPr/>
            </p:nvSpPr>
            <p:spPr>
              <a:xfrm>
                <a:off x="4207250" y="3905309"/>
                <a:ext cx="6684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oboto"/>
                    <a:ea typeface="Roboto"/>
                    <a:cs typeface="Roboto"/>
                    <a:sym typeface="Roboto"/>
                  </a:rPr>
                  <a:t>.gov</a:t>
                </a:r>
                <a:endParaRPr dirty="0">
                  <a:latin typeface="Roboto"/>
                  <a:ea typeface="Roboto"/>
                  <a:cs typeface="Roboto"/>
                  <a:sym typeface="Roboto"/>
                </a:endParaRPr>
              </a:p>
            </p:txBody>
          </p:sp>
          <p:sp>
            <p:nvSpPr>
              <p:cNvPr id="8" name="Google Shape;267;p38">
                <a:extLst>
                  <a:ext uri="{FF2B5EF4-FFF2-40B4-BE49-F238E27FC236}">
                    <a16:creationId xmlns:a16="http://schemas.microsoft.com/office/drawing/2014/main" id="{E03F5569-F69A-EE4D-277A-F7A7EDB7A780}"/>
                  </a:ext>
                </a:extLst>
              </p:cNvPr>
              <p:cNvSpPr txBox="1"/>
              <p:nvPr/>
            </p:nvSpPr>
            <p:spPr>
              <a:xfrm>
                <a:off x="5837625" y="3905309"/>
                <a:ext cx="6684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.com</a:t>
                </a:r>
                <a:endParaRPr>
                  <a:latin typeface="Roboto"/>
                  <a:ea typeface="Roboto"/>
                  <a:cs typeface="Roboto"/>
                  <a:sym typeface="Roboto"/>
                </a:endParaRPr>
              </a:p>
            </p:txBody>
          </p:sp>
          <p:sp>
            <p:nvSpPr>
              <p:cNvPr id="9" name="Google Shape;268;p38">
                <a:extLst>
                  <a:ext uri="{FF2B5EF4-FFF2-40B4-BE49-F238E27FC236}">
                    <a16:creationId xmlns:a16="http://schemas.microsoft.com/office/drawing/2014/main" id="{06327BB0-75A1-04CA-46E0-01221F469AB0}"/>
                  </a:ext>
                </a:extLst>
              </p:cNvPr>
              <p:cNvSpPr txBox="1"/>
              <p:nvPr/>
            </p:nvSpPr>
            <p:spPr>
              <a:xfrm>
                <a:off x="6506025" y="4570275"/>
                <a:ext cx="11577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oboto"/>
                    <a:ea typeface="Roboto"/>
                    <a:cs typeface="Roboto"/>
                    <a:sym typeface="Roboto"/>
                  </a:rPr>
                  <a:t>google.com</a:t>
                </a:r>
                <a:endParaRPr dirty="0">
                  <a:latin typeface="Roboto"/>
                  <a:ea typeface="Roboto"/>
                  <a:cs typeface="Roboto"/>
                  <a:sym typeface="Roboto"/>
                </a:endParaRPr>
              </a:p>
            </p:txBody>
          </p:sp>
          <p:sp>
            <p:nvSpPr>
              <p:cNvPr id="10" name="Google Shape;269;p38">
                <a:extLst>
                  <a:ext uri="{FF2B5EF4-FFF2-40B4-BE49-F238E27FC236}">
                    <a16:creationId xmlns:a16="http://schemas.microsoft.com/office/drawing/2014/main" id="{99967462-EEE1-5E77-0145-1B725034E7D5}"/>
                  </a:ext>
                </a:extLst>
              </p:cNvPr>
              <p:cNvSpPr txBox="1"/>
              <p:nvPr/>
            </p:nvSpPr>
            <p:spPr>
              <a:xfrm>
                <a:off x="5208400" y="4570275"/>
                <a:ext cx="1218765"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oboto"/>
                    <a:ea typeface="Roboto"/>
                    <a:cs typeface="Roboto"/>
                    <a:sym typeface="Roboto"/>
                  </a:rPr>
                  <a:t>chatgpt.com</a:t>
                </a:r>
                <a:endParaRPr dirty="0">
                  <a:latin typeface="Roboto"/>
                  <a:ea typeface="Roboto"/>
                  <a:cs typeface="Roboto"/>
                  <a:sym typeface="Roboto"/>
                </a:endParaRPr>
              </a:p>
            </p:txBody>
          </p:sp>
          <p:sp>
            <p:nvSpPr>
              <p:cNvPr id="11" name="Google Shape;270;p38">
                <a:extLst>
                  <a:ext uri="{FF2B5EF4-FFF2-40B4-BE49-F238E27FC236}">
                    <a16:creationId xmlns:a16="http://schemas.microsoft.com/office/drawing/2014/main" id="{0A984D24-E2E0-9548-5FA5-FC6457ADD82A}"/>
                  </a:ext>
                </a:extLst>
              </p:cNvPr>
              <p:cNvSpPr txBox="1"/>
              <p:nvPr/>
            </p:nvSpPr>
            <p:spPr>
              <a:xfrm>
                <a:off x="4024975" y="4570275"/>
                <a:ext cx="10434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oboto"/>
                    <a:ea typeface="Roboto"/>
                    <a:cs typeface="Roboto"/>
                    <a:sym typeface="Roboto"/>
                  </a:rPr>
                  <a:t>usda.gov</a:t>
                </a:r>
                <a:endParaRPr dirty="0">
                  <a:latin typeface="Roboto"/>
                  <a:ea typeface="Roboto"/>
                  <a:cs typeface="Roboto"/>
                  <a:sym typeface="Roboto"/>
                </a:endParaRPr>
              </a:p>
            </p:txBody>
          </p:sp>
          <p:sp>
            <p:nvSpPr>
              <p:cNvPr id="12" name="Google Shape;271;p38">
                <a:extLst>
                  <a:ext uri="{FF2B5EF4-FFF2-40B4-BE49-F238E27FC236}">
                    <a16:creationId xmlns:a16="http://schemas.microsoft.com/office/drawing/2014/main" id="{67ED6439-37D6-1DA2-3390-CA289854534C}"/>
                  </a:ext>
                </a:extLst>
              </p:cNvPr>
              <p:cNvSpPr txBox="1"/>
              <p:nvPr/>
            </p:nvSpPr>
            <p:spPr>
              <a:xfrm>
                <a:off x="3026350" y="4570275"/>
                <a:ext cx="8586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mit.edu</a:t>
                </a:r>
                <a:endParaRPr>
                  <a:latin typeface="Roboto"/>
                  <a:ea typeface="Roboto"/>
                  <a:cs typeface="Roboto"/>
                  <a:sym typeface="Roboto"/>
                </a:endParaRPr>
              </a:p>
            </p:txBody>
          </p:sp>
          <p:sp>
            <p:nvSpPr>
              <p:cNvPr id="13" name="Google Shape;272;p38">
                <a:extLst>
                  <a:ext uri="{FF2B5EF4-FFF2-40B4-BE49-F238E27FC236}">
                    <a16:creationId xmlns:a16="http://schemas.microsoft.com/office/drawing/2014/main" id="{EB453368-484F-8144-35C2-EFA2FC16DE6A}"/>
                  </a:ext>
                </a:extLst>
              </p:cNvPr>
              <p:cNvSpPr txBox="1"/>
              <p:nvPr/>
            </p:nvSpPr>
            <p:spPr>
              <a:xfrm>
                <a:off x="1590000" y="4570275"/>
                <a:ext cx="12963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oboto"/>
                    <a:ea typeface="Roboto"/>
                    <a:cs typeface="Roboto"/>
                    <a:sym typeface="Roboto"/>
                  </a:rPr>
                  <a:t>msoe.edu</a:t>
                </a:r>
                <a:endParaRPr dirty="0">
                  <a:latin typeface="Roboto"/>
                  <a:ea typeface="Roboto"/>
                  <a:cs typeface="Roboto"/>
                  <a:sym typeface="Roboto"/>
                </a:endParaRPr>
              </a:p>
            </p:txBody>
          </p:sp>
          <p:cxnSp>
            <p:nvCxnSpPr>
              <p:cNvPr id="14" name="Google Shape;273;p38">
                <a:extLst>
                  <a:ext uri="{FF2B5EF4-FFF2-40B4-BE49-F238E27FC236}">
                    <a16:creationId xmlns:a16="http://schemas.microsoft.com/office/drawing/2014/main" id="{48840277-E1D8-E4C3-D362-E413DF534AD8}"/>
                  </a:ext>
                </a:extLst>
              </p:cNvPr>
              <p:cNvCxnSpPr>
                <a:stCxn id="5" idx="2"/>
                <a:endCxn id="6" idx="0"/>
              </p:cNvCxnSpPr>
              <p:nvPr/>
            </p:nvCxnSpPr>
            <p:spPr>
              <a:xfrm flipH="1">
                <a:off x="2910950" y="3467239"/>
                <a:ext cx="1630500" cy="438000"/>
              </a:xfrm>
              <a:prstGeom prst="straightConnector1">
                <a:avLst/>
              </a:prstGeom>
              <a:noFill/>
              <a:ln w="9525" cap="flat" cmpd="sng">
                <a:solidFill>
                  <a:srgbClr val="000000"/>
                </a:solidFill>
                <a:prstDash val="solid"/>
                <a:round/>
                <a:headEnd type="none" w="med" len="med"/>
                <a:tailEnd type="none" w="med" len="med"/>
              </a:ln>
            </p:spPr>
          </p:cxnSp>
          <p:cxnSp>
            <p:nvCxnSpPr>
              <p:cNvPr id="15" name="Google Shape;274;p38">
                <a:extLst>
                  <a:ext uri="{FF2B5EF4-FFF2-40B4-BE49-F238E27FC236}">
                    <a16:creationId xmlns:a16="http://schemas.microsoft.com/office/drawing/2014/main" id="{32B097D5-E119-56CE-ECE9-09B0A3BFC7C3}"/>
                  </a:ext>
                </a:extLst>
              </p:cNvPr>
              <p:cNvCxnSpPr>
                <a:stCxn id="5" idx="2"/>
                <a:endCxn id="7" idx="0"/>
              </p:cNvCxnSpPr>
              <p:nvPr/>
            </p:nvCxnSpPr>
            <p:spPr>
              <a:xfrm>
                <a:off x="4541450" y="3467239"/>
                <a:ext cx="0" cy="438000"/>
              </a:xfrm>
              <a:prstGeom prst="straightConnector1">
                <a:avLst/>
              </a:prstGeom>
              <a:noFill/>
              <a:ln w="9525" cap="flat" cmpd="sng">
                <a:solidFill>
                  <a:srgbClr val="000000"/>
                </a:solidFill>
                <a:prstDash val="solid"/>
                <a:round/>
                <a:headEnd type="none" w="med" len="med"/>
                <a:tailEnd type="none" w="med" len="med"/>
              </a:ln>
            </p:spPr>
          </p:cxnSp>
          <p:cxnSp>
            <p:nvCxnSpPr>
              <p:cNvPr id="16" name="Google Shape;275;p38">
                <a:extLst>
                  <a:ext uri="{FF2B5EF4-FFF2-40B4-BE49-F238E27FC236}">
                    <a16:creationId xmlns:a16="http://schemas.microsoft.com/office/drawing/2014/main" id="{5BBC57C4-F1BD-252B-CF44-205B76214ED2}"/>
                  </a:ext>
                </a:extLst>
              </p:cNvPr>
              <p:cNvCxnSpPr>
                <a:stCxn id="5" idx="2"/>
                <a:endCxn id="8" idx="0"/>
              </p:cNvCxnSpPr>
              <p:nvPr/>
            </p:nvCxnSpPr>
            <p:spPr>
              <a:xfrm>
                <a:off x="4541450" y="3467239"/>
                <a:ext cx="1630500" cy="438000"/>
              </a:xfrm>
              <a:prstGeom prst="straightConnector1">
                <a:avLst/>
              </a:prstGeom>
              <a:noFill/>
              <a:ln w="9525" cap="flat" cmpd="sng">
                <a:solidFill>
                  <a:srgbClr val="000000"/>
                </a:solidFill>
                <a:prstDash val="solid"/>
                <a:round/>
                <a:headEnd type="none" w="med" len="med"/>
                <a:tailEnd type="none" w="med" len="med"/>
              </a:ln>
            </p:spPr>
          </p:cxnSp>
          <p:cxnSp>
            <p:nvCxnSpPr>
              <p:cNvPr id="17" name="Google Shape;276;p38">
                <a:extLst>
                  <a:ext uri="{FF2B5EF4-FFF2-40B4-BE49-F238E27FC236}">
                    <a16:creationId xmlns:a16="http://schemas.microsoft.com/office/drawing/2014/main" id="{6122B791-5C6A-AB45-ABD3-D0DC21C03184}"/>
                  </a:ext>
                </a:extLst>
              </p:cNvPr>
              <p:cNvCxnSpPr>
                <a:stCxn id="6" idx="2"/>
                <a:endCxn id="13" idx="0"/>
              </p:cNvCxnSpPr>
              <p:nvPr/>
            </p:nvCxnSpPr>
            <p:spPr>
              <a:xfrm flipH="1">
                <a:off x="2238175" y="4298909"/>
                <a:ext cx="672900" cy="271500"/>
              </a:xfrm>
              <a:prstGeom prst="straightConnector1">
                <a:avLst/>
              </a:prstGeom>
              <a:noFill/>
              <a:ln w="9525" cap="flat" cmpd="sng">
                <a:solidFill>
                  <a:srgbClr val="000000"/>
                </a:solidFill>
                <a:prstDash val="solid"/>
                <a:round/>
                <a:headEnd type="none" w="med" len="med"/>
                <a:tailEnd type="none" w="med" len="med"/>
              </a:ln>
            </p:spPr>
          </p:cxnSp>
          <p:cxnSp>
            <p:nvCxnSpPr>
              <p:cNvPr id="18" name="Google Shape;277;p38">
                <a:extLst>
                  <a:ext uri="{FF2B5EF4-FFF2-40B4-BE49-F238E27FC236}">
                    <a16:creationId xmlns:a16="http://schemas.microsoft.com/office/drawing/2014/main" id="{29BE4A5E-59CF-8819-76E5-34B06711D9E8}"/>
                  </a:ext>
                </a:extLst>
              </p:cNvPr>
              <p:cNvCxnSpPr>
                <a:stCxn id="6" idx="2"/>
                <a:endCxn id="12" idx="0"/>
              </p:cNvCxnSpPr>
              <p:nvPr/>
            </p:nvCxnSpPr>
            <p:spPr>
              <a:xfrm>
                <a:off x="2911075" y="4298909"/>
                <a:ext cx="544500" cy="271500"/>
              </a:xfrm>
              <a:prstGeom prst="straightConnector1">
                <a:avLst/>
              </a:prstGeom>
              <a:noFill/>
              <a:ln w="9525" cap="flat" cmpd="sng">
                <a:solidFill>
                  <a:srgbClr val="000000"/>
                </a:solidFill>
                <a:prstDash val="solid"/>
                <a:round/>
                <a:headEnd type="none" w="med" len="med"/>
                <a:tailEnd type="none" w="med" len="med"/>
              </a:ln>
            </p:spPr>
          </p:cxnSp>
          <p:cxnSp>
            <p:nvCxnSpPr>
              <p:cNvPr id="19" name="Google Shape;278;p38">
                <a:extLst>
                  <a:ext uri="{FF2B5EF4-FFF2-40B4-BE49-F238E27FC236}">
                    <a16:creationId xmlns:a16="http://schemas.microsoft.com/office/drawing/2014/main" id="{710469DF-BC17-6049-49CD-CB393D17E1B7}"/>
                  </a:ext>
                </a:extLst>
              </p:cNvPr>
              <p:cNvCxnSpPr>
                <a:stCxn id="7" idx="2"/>
                <a:endCxn id="11" idx="0"/>
              </p:cNvCxnSpPr>
              <p:nvPr/>
            </p:nvCxnSpPr>
            <p:spPr>
              <a:xfrm>
                <a:off x="4541450" y="4298909"/>
                <a:ext cx="5100" cy="271500"/>
              </a:xfrm>
              <a:prstGeom prst="straightConnector1">
                <a:avLst/>
              </a:prstGeom>
              <a:noFill/>
              <a:ln w="9525" cap="flat" cmpd="sng">
                <a:solidFill>
                  <a:srgbClr val="000000"/>
                </a:solidFill>
                <a:prstDash val="solid"/>
                <a:round/>
                <a:headEnd type="none" w="med" len="med"/>
                <a:tailEnd type="none" w="med" len="med"/>
              </a:ln>
            </p:spPr>
          </p:cxnSp>
          <p:cxnSp>
            <p:nvCxnSpPr>
              <p:cNvPr id="20" name="Google Shape;279;p38">
                <a:extLst>
                  <a:ext uri="{FF2B5EF4-FFF2-40B4-BE49-F238E27FC236}">
                    <a16:creationId xmlns:a16="http://schemas.microsoft.com/office/drawing/2014/main" id="{0175EAD7-962A-24F6-9AF2-F8305E8B272E}"/>
                  </a:ext>
                </a:extLst>
              </p:cNvPr>
              <p:cNvCxnSpPr>
                <a:cxnSpLocks/>
                <a:stCxn id="8" idx="2"/>
                <a:endCxn id="10" idx="0"/>
              </p:cNvCxnSpPr>
              <p:nvPr/>
            </p:nvCxnSpPr>
            <p:spPr>
              <a:xfrm flipH="1">
                <a:off x="5817783" y="4298909"/>
                <a:ext cx="354043" cy="271366"/>
              </a:xfrm>
              <a:prstGeom prst="straightConnector1">
                <a:avLst/>
              </a:prstGeom>
              <a:noFill/>
              <a:ln w="9525" cap="flat" cmpd="sng">
                <a:solidFill>
                  <a:srgbClr val="000000"/>
                </a:solidFill>
                <a:prstDash val="solid"/>
                <a:round/>
                <a:headEnd type="none" w="med" len="med"/>
                <a:tailEnd type="none" w="med" len="med"/>
              </a:ln>
            </p:spPr>
          </p:cxnSp>
          <p:cxnSp>
            <p:nvCxnSpPr>
              <p:cNvPr id="21" name="Google Shape;280;p38">
                <a:extLst>
                  <a:ext uri="{FF2B5EF4-FFF2-40B4-BE49-F238E27FC236}">
                    <a16:creationId xmlns:a16="http://schemas.microsoft.com/office/drawing/2014/main" id="{D42F837C-9E25-2892-D4E5-414110FB014B}"/>
                  </a:ext>
                </a:extLst>
              </p:cNvPr>
              <p:cNvCxnSpPr>
                <a:stCxn id="8" idx="2"/>
                <a:endCxn id="9" idx="0"/>
              </p:cNvCxnSpPr>
              <p:nvPr/>
            </p:nvCxnSpPr>
            <p:spPr>
              <a:xfrm>
                <a:off x="6171825" y="4298909"/>
                <a:ext cx="913200" cy="271500"/>
              </a:xfrm>
              <a:prstGeom prst="straightConnector1">
                <a:avLst/>
              </a:prstGeom>
              <a:noFill/>
              <a:ln w="9525" cap="flat" cmpd="sng">
                <a:solidFill>
                  <a:srgbClr val="000000"/>
                </a:solidFill>
                <a:prstDash val="solid"/>
                <a:round/>
                <a:headEnd type="none" w="med" len="med"/>
                <a:tailEnd type="none" w="med" len="med"/>
              </a:ln>
            </p:spPr>
          </p:cxnSp>
        </p:grpSp>
        <p:sp>
          <p:nvSpPr>
            <p:cNvPr id="24" name="TextBox 23">
              <a:extLst>
                <a:ext uri="{FF2B5EF4-FFF2-40B4-BE49-F238E27FC236}">
                  <a16:creationId xmlns:a16="http://schemas.microsoft.com/office/drawing/2014/main" id="{8E1BFCD7-CEB1-3AF3-B55D-B3D5ED76EFEF}"/>
                </a:ext>
              </a:extLst>
            </p:cNvPr>
            <p:cNvSpPr txBox="1"/>
            <p:nvPr/>
          </p:nvSpPr>
          <p:spPr>
            <a:xfrm>
              <a:off x="9774730" y="3733302"/>
              <a:ext cx="77149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Root</a:t>
              </a:r>
            </a:p>
          </p:txBody>
        </p:sp>
        <p:sp>
          <p:nvSpPr>
            <p:cNvPr id="25" name="TextBox 24">
              <a:extLst>
                <a:ext uri="{FF2B5EF4-FFF2-40B4-BE49-F238E27FC236}">
                  <a16:creationId xmlns:a16="http://schemas.microsoft.com/office/drawing/2014/main" id="{86094E89-F4A1-A714-A53F-D032663B5DA2}"/>
                </a:ext>
              </a:extLst>
            </p:cNvPr>
            <p:cNvSpPr txBox="1"/>
            <p:nvPr/>
          </p:nvSpPr>
          <p:spPr>
            <a:xfrm>
              <a:off x="9774730" y="5033961"/>
              <a:ext cx="238898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Top Level Domain</a:t>
              </a:r>
            </a:p>
          </p:txBody>
        </p:sp>
        <p:sp>
          <p:nvSpPr>
            <p:cNvPr id="26" name="TextBox 25">
              <a:extLst>
                <a:ext uri="{FF2B5EF4-FFF2-40B4-BE49-F238E27FC236}">
                  <a16:creationId xmlns:a16="http://schemas.microsoft.com/office/drawing/2014/main" id="{F41F8271-E627-0835-17F0-FA1D5D1D197A}"/>
                </a:ext>
              </a:extLst>
            </p:cNvPr>
            <p:cNvSpPr txBox="1"/>
            <p:nvPr/>
          </p:nvSpPr>
          <p:spPr>
            <a:xfrm>
              <a:off x="9774730" y="6080291"/>
              <a:ext cx="183569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Authoritative</a:t>
              </a:r>
            </a:p>
          </p:txBody>
        </p:sp>
        <p:grpSp>
          <p:nvGrpSpPr>
            <p:cNvPr id="27" name="Group 89">
              <a:extLst>
                <a:ext uri="{FF2B5EF4-FFF2-40B4-BE49-F238E27FC236}">
                  <a16:creationId xmlns:a16="http://schemas.microsoft.com/office/drawing/2014/main" id="{182911E4-A2B3-A0B5-9352-344493F26CE6}"/>
                </a:ext>
              </a:extLst>
            </p:cNvPr>
            <p:cNvGrpSpPr>
              <a:grpSpLocks/>
            </p:cNvGrpSpPr>
            <p:nvPr/>
          </p:nvGrpSpPr>
          <p:grpSpPr bwMode="auto">
            <a:xfrm>
              <a:off x="704709" y="4309627"/>
              <a:ext cx="883580" cy="766310"/>
              <a:chOff x="-44" y="1473"/>
              <a:chExt cx="981" cy="1105"/>
            </a:xfrm>
          </p:grpSpPr>
          <p:pic>
            <p:nvPicPr>
              <p:cNvPr id="28" name="Picture 90" descr="desktop_computer_stylized_medium">
                <a:extLst>
                  <a:ext uri="{FF2B5EF4-FFF2-40B4-BE49-F238E27FC236}">
                    <a16:creationId xmlns:a16="http://schemas.microsoft.com/office/drawing/2014/main" id="{C5D5EE3E-37B2-F6A6-2204-C0616A93C1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Freeform 91">
                <a:extLst>
                  <a:ext uri="{FF2B5EF4-FFF2-40B4-BE49-F238E27FC236}">
                    <a16:creationId xmlns:a16="http://schemas.microsoft.com/office/drawing/2014/main" id="{D1E30BB7-4CC0-5A0A-88B6-DF2ABD78A07C}"/>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cxnSp>
          <p:nvCxnSpPr>
            <p:cNvPr id="31" name="Google Shape;511;p47">
              <a:extLst>
                <a:ext uri="{FF2B5EF4-FFF2-40B4-BE49-F238E27FC236}">
                  <a16:creationId xmlns:a16="http://schemas.microsoft.com/office/drawing/2014/main" id="{4DF23705-9510-33E6-4BAE-5BE2198CFBB9}"/>
                </a:ext>
              </a:extLst>
            </p:cNvPr>
            <p:cNvCxnSpPr/>
            <p:nvPr/>
          </p:nvCxnSpPr>
          <p:spPr>
            <a:xfrm rot="10800000" flipH="1">
              <a:off x="1645777" y="3960042"/>
              <a:ext cx="3271663" cy="606070"/>
            </a:xfrm>
            <a:prstGeom prst="straightConnector1">
              <a:avLst/>
            </a:prstGeom>
            <a:noFill/>
            <a:ln w="19050" cap="flat" cmpd="sng">
              <a:solidFill>
                <a:srgbClr val="000000"/>
              </a:solidFill>
              <a:prstDash val="solid"/>
              <a:round/>
              <a:headEnd type="none" w="med" len="med"/>
              <a:tailEnd type="triangle" w="med" len="med"/>
            </a:ln>
          </p:spPr>
        </p:cxnSp>
        <p:cxnSp>
          <p:nvCxnSpPr>
            <p:cNvPr id="33" name="Google Shape;511;p47">
              <a:extLst>
                <a:ext uri="{FF2B5EF4-FFF2-40B4-BE49-F238E27FC236}">
                  <a16:creationId xmlns:a16="http://schemas.microsoft.com/office/drawing/2014/main" id="{EF68A1F4-1B81-64AE-E3F8-D260A186DDDE}"/>
                </a:ext>
              </a:extLst>
            </p:cNvPr>
            <p:cNvCxnSpPr>
              <a:cxnSpLocks/>
            </p:cNvCxnSpPr>
            <p:nvPr/>
          </p:nvCxnSpPr>
          <p:spPr>
            <a:xfrm>
              <a:off x="1645776" y="4734045"/>
              <a:ext cx="1571934" cy="530749"/>
            </a:xfrm>
            <a:prstGeom prst="straightConnector1">
              <a:avLst/>
            </a:prstGeom>
            <a:noFill/>
            <a:ln w="19050" cap="flat" cmpd="sng">
              <a:solidFill>
                <a:srgbClr val="000000"/>
              </a:solidFill>
              <a:prstDash val="solid"/>
              <a:round/>
              <a:headEnd type="none" w="med" len="med"/>
              <a:tailEnd type="triangle" w="med" len="med"/>
            </a:ln>
          </p:spPr>
        </p:cxnSp>
        <p:cxnSp>
          <p:nvCxnSpPr>
            <p:cNvPr id="36" name="Google Shape;511;p47">
              <a:extLst>
                <a:ext uri="{FF2B5EF4-FFF2-40B4-BE49-F238E27FC236}">
                  <a16:creationId xmlns:a16="http://schemas.microsoft.com/office/drawing/2014/main" id="{6DDE28FD-0094-3124-BF0C-341B01AE00D5}"/>
                </a:ext>
              </a:extLst>
            </p:cNvPr>
            <p:cNvCxnSpPr>
              <a:cxnSpLocks/>
            </p:cNvCxnSpPr>
            <p:nvPr/>
          </p:nvCxnSpPr>
          <p:spPr>
            <a:xfrm>
              <a:off x="1613233" y="5075937"/>
              <a:ext cx="400836" cy="1121663"/>
            </a:xfrm>
            <a:prstGeom prst="straightConnector1">
              <a:avLst/>
            </a:prstGeom>
            <a:noFill/>
            <a:ln w="19050" cap="flat" cmpd="sng">
              <a:solidFill>
                <a:srgbClr val="000000"/>
              </a:solidFill>
              <a:prstDash val="solid"/>
              <a:round/>
              <a:headEnd type="none" w="med" len="med"/>
              <a:tailEnd type="triangle" w="med" len="med"/>
            </a:ln>
          </p:spPr>
        </p:cxnSp>
      </p:grpSp>
    </p:spTree>
    <p:extLst>
      <p:ext uri="{BB962C8B-B14F-4D97-AF65-F5344CB8AC3E}">
        <p14:creationId xmlns:p14="http://schemas.microsoft.com/office/powerpoint/2010/main" val="4205037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2DE59-C097-2102-9E08-28B673C0B1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A6366F-A891-23C6-FAF0-F2832A7EA1B0}"/>
              </a:ext>
            </a:extLst>
          </p:cNvPr>
          <p:cNvSpPr>
            <a:spLocks noGrp="1"/>
          </p:cNvSpPr>
          <p:nvPr>
            <p:ph type="title"/>
          </p:nvPr>
        </p:nvSpPr>
        <p:spPr>
          <a:xfrm>
            <a:off x="838200" y="0"/>
            <a:ext cx="10515600" cy="1325563"/>
          </a:xfrm>
        </p:spPr>
        <p:txBody>
          <a:bodyPr/>
          <a:lstStyle/>
          <a:p>
            <a:r>
              <a:rPr lang="en-US" dirty="0"/>
              <a:t>DNS Name Server Hierarchy</a:t>
            </a:r>
          </a:p>
        </p:txBody>
      </p:sp>
      <p:grpSp>
        <p:nvGrpSpPr>
          <p:cNvPr id="4" name="Google Shape;263;p38">
            <a:extLst>
              <a:ext uri="{FF2B5EF4-FFF2-40B4-BE49-F238E27FC236}">
                <a16:creationId xmlns:a16="http://schemas.microsoft.com/office/drawing/2014/main" id="{18DEC913-4A24-CDB8-EFBB-DB526C224330}"/>
              </a:ext>
            </a:extLst>
          </p:cNvPr>
          <p:cNvGrpSpPr/>
          <p:nvPr/>
        </p:nvGrpSpPr>
        <p:grpSpPr>
          <a:xfrm>
            <a:off x="370800" y="3703558"/>
            <a:ext cx="7635280" cy="2910601"/>
            <a:chOff x="1590000" y="3073639"/>
            <a:chExt cx="6073725" cy="1890236"/>
          </a:xfrm>
        </p:grpSpPr>
        <p:sp>
          <p:nvSpPr>
            <p:cNvPr id="5" name="Google Shape;264;p38">
              <a:extLst>
                <a:ext uri="{FF2B5EF4-FFF2-40B4-BE49-F238E27FC236}">
                  <a16:creationId xmlns:a16="http://schemas.microsoft.com/office/drawing/2014/main" id="{961BEB62-6217-1629-E1A9-0643F6B03DEE}"/>
                </a:ext>
              </a:extLst>
            </p:cNvPr>
            <p:cNvSpPr txBox="1"/>
            <p:nvPr/>
          </p:nvSpPr>
          <p:spPr>
            <a:xfrm>
              <a:off x="3922400" y="3073639"/>
              <a:ext cx="12381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 (root)</a:t>
              </a:r>
              <a:endParaRPr>
                <a:latin typeface="Roboto"/>
                <a:ea typeface="Roboto"/>
                <a:cs typeface="Roboto"/>
                <a:sym typeface="Roboto"/>
              </a:endParaRPr>
            </a:p>
          </p:txBody>
        </p:sp>
        <p:sp>
          <p:nvSpPr>
            <p:cNvPr id="6" name="Google Shape;265;p38">
              <a:extLst>
                <a:ext uri="{FF2B5EF4-FFF2-40B4-BE49-F238E27FC236}">
                  <a16:creationId xmlns:a16="http://schemas.microsoft.com/office/drawing/2014/main" id="{F372E22F-2B08-79E8-B9DF-5B9B3506BC61}"/>
                </a:ext>
              </a:extLst>
            </p:cNvPr>
            <p:cNvSpPr txBox="1"/>
            <p:nvPr/>
          </p:nvSpPr>
          <p:spPr>
            <a:xfrm>
              <a:off x="2576875" y="3905309"/>
              <a:ext cx="6684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.edu</a:t>
              </a:r>
              <a:endParaRPr>
                <a:latin typeface="Roboto"/>
                <a:ea typeface="Roboto"/>
                <a:cs typeface="Roboto"/>
                <a:sym typeface="Roboto"/>
              </a:endParaRPr>
            </a:p>
          </p:txBody>
        </p:sp>
        <p:sp>
          <p:nvSpPr>
            <p:cNvPr id="7" name="Google Shape;266;p38">
              <a:extLst>
                <a:ext uri="{FF2B5EF4-FFF2-40B4-BE49-F238E27FC236}">
                  <a16:creationId xmlns:a16="http://schemas.microsoft.com/office/drawing/2014/main" id="{F4521768-5C79-B373-9E92-880499111D88}"/>
                </a:ext>
              </a:extLst>
            </p:cNvPr>
            <p:cNvSpPr txBox="1"/>
            <p:nvPr/>
          </p:nvSpPr>
          <p:spPr>
            <a:xfrm>
              <a:off x="4207250" y="3905309"/>
              <a:ext cx="6684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oboto"/>
                  <a:ea typeface="Roboto"/>
                  <a:cs typeface="Roboto"/>
                  <a:sym typeface="Roboto"/>
                </a:rPr>
                <a:t>.gov</a:t>
              </a:r>
              <a:endParaRPr dirty="0">
                <a:latin typeface="Roboto"/>
                <a:ea typeface="Roboto"/>
                <a:cs typeface="Roboto"/>
                <a:sym typeface="Roboto"/>
              </a:endParaRPr>
            </a:p>
          </p:txBody>
        </p:sp>
        <p:sp>
          <p:nvSpPr>
            <p:cNvPr id="8" name="Google Shape;267;p38">
              <a:extLst>
                <a:ext uri="{FF2B5EF4-FFF2-40B4-BE49-F238E27FC236}">
                  <a16:creationId xmlns:a16="http://schemas.microsoft.com/office/drawing/2014/main" id="{88CEDE19-09EA-6846-2C38-F529D3AA4CE9}"/>
                </a:ext>
              </a:extLst>
            </p:cNvPr>
            <p:cNvSpPr txBox="1"/>
            <p:nvPr/>
          </p:nvSpPr>
          <p:spPr>
            <a:xfrm>
              <a:off x="5837625" y="3905309"/>
              <a:ext cx="6684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.com</a:t>
              </a:r>
              <a:endParaRPr>
                <a:latin typeface="Roboto"/>
                <a:ea typeface="Roboto"/>
                <a:cs typeface="Roboto"/>
                <a:sym typeface="Roboto"/>
              </a:endParaRPr>
            </a:p>
          </p:txBody>
        </p:sp>
        <p:sp>
          <p:nvSpPr>
            <p:cNvPr id="9" name="Google Shape;268;p38">
              <a:extLst>
                <a:ext uri="{FF2B5EF4-FFF2-40B4-BE49-F238E27FC236}">
                  <a16:creationId xmlns:a16="http://schemas.microsoft.com/office/drawing/2014/main" id="{4CED09A5-B9FB-48BB-52A7-2C6FDEF1EA80}"/>
                </a:ext>
              </a:extLst>
            </p:cNvPr>
            <p:cNvSpPr txBox="1"/>
            <p:nvPr/>
          </p:nvSpPr>
          <p:spPr>
            <a:xfrm>
              <a:off x="6506025" y="4570275"/>
              <a:ext cx="11577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google.com</a:t>
              </a:r>
              <a:endParaRPr>
                <a:latin typeface="Roboto"/>
                <a:ea typeface="Roboto"/>
                <a:cs typeface="Roboto"/>
                <a:sym typeface="Roboto"/>
              </a:endParaRPr>
            </a:p>
          </p:txBody>
        </p:sp>
        <p:sp>
          <p:nvSpPr>
            <p:cNvPr id="10" name="Google Shape;269;p38">
              <a:extLst>
                <a:ext uri="{FF2B5EF4-FFF2-40B4-BE49-F238E27FC236}">
                  <a16:creationId xmlns:a16="http://schemas.microsoft.com/office/drawing/2014/main" id="{80E4DDF3-1022-B6CD-FC64-4AB9BE9FD7DA}"/>
                </a:ext>
              </a:extLst>
            </p:cNvPr>
            <p:cNvSpPr txBox="1"/>
            <p:nvPr/>
          </p:nvSpPr>
          <p:spPr>
            <a:xfrm>
              <a:off x="5208400" y="4570275"/>
              <a:ext cx="1218765"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oboto"/>
                  <a:ea typeface="Roboto"/>
                  <a:cs typeface="Roboto"/>
                  <a:sym typeface="Roboto"/>
                </a:rPr>
                <a:t>chatgpt.com</a:t>
              </a:r>
              <a:endParaRPr dirty="0">
                <a:latin typeface="Roboto"/>
                <a:ea typeface="Roboto"/>
                <a:cs typeface="Roboto"/>
                <a:sym typeface="Roboto"/>
              </a:endParaRPr>
            </a:p>
          </p:txBody>
        </p:sp>
        <p:sp>
          <p:nvSpPr>
            <p:cNvPr id="11" name="Google Shape;270;p38">
              <a:extLst>
                <a:ext uri="{FF2B5EF4-FFF2-40B4-BE49-F238E27FC236}">
                  <a16:creationId xmlns:a16="http://schemas.microsoft.com/office/drawing/2014/main" id="{39963C29-52C3-3402-F727-BF651BC0C65E}"/>
                </a:ext>
              </a:extLst>
            </p:cNvPr>
            <p:cNvSpPr txBox="1"/>
            <p:nvPr/>
          </p:nvSpPr>
          <p:spPr>
            <a:xfrm>
              <a:off x="4024975" y="4570275"/>
              <a:ext cx="10434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oboto"/>
                  <a:ea typeface="Roboto"/>
                  <a:cs typeface="Roboto"/>
                  <a:sym typeface="Roboto"/>
                </a:rPr>
                <a:t>usda.gov</a:t>
              </a:r>
              <a:endParaRPr dirty="0">
                <a:latin typeface="Roboto"/>
                <a:ea typeface="Roboto"/>
                <a:cs typeface="Roboto"/>
                <a:sym typeface="Roboto"/>
              </a:endParaRPr>
            </a:p>
          </p:txBody>
        </p:sp>
        <p:sp>
          <p:nvSpPr>
            <p:cNvPr id="12" name="Google Shape;271;p38">
              <a:extLst>
                <a:ext uri="{FF2B5EF4-FFF2-40B4-BE49-F238E27FC236}">
                  <a16:creationId xmlns:a16="http://schemas.microsoft.com/office/drawing/2014/main" id="{8AB7F087-B3E2-BDC7-5A9C-454C76074DA4}"/>
                </a:ext>
              </a:extLst>
            </p:cNvPr>
            <p:cNvSpPr txBox="1"/>
            <p:nvPr/>
          </p:nvSpPr>
          <p:spPr>
            <a:xfrm>
              <a:off x="3026350" y="4570275"/>
              <a:ext cx="8586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mit.edu</a:t>
              </a:r>
              <a:endParaRPr>
                <a:latin typeface="Roboto"/>
                <a:ea typeface="Roboto"/>
                <a:cs typeface="Roboto"/>
                <a:sym typeface="Roboto"/>
              </a:endParaRPr>
            </a:p>
          </p:txBody>
        </p:sp>
        <p:sp>
          <p:nvSpPr>
            <p:cNvPr id="13" name="Google Shape;272;p38">
              <a:extLst>
                <a:ext uri="{FF2B5EF4-FFF2-40B4-BE49-F238E27FC236}">
                  <a16:creationId xmlns:a16="http://schemas.microsoft.com/office/drawing/2014/main" id="{8BE8AAC6-AA0A-758E-707C-3EE199AC77A9}"/>
                </a:ext>
              </a:extLst>
            </p:cNvPr>
            <p:cNvSpPr txBox="1"/>
            <p:nvPr/>
          </p:nvSpPr>
          <p:spPr>
            <a:xfrm>
              <a:off x="1590000" y="4570275"/>
              <a:ext cx="12963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oboto"/>
                  <a:ea typeface="Roboto"/>
                  <a:cs typeface="Roboto"/>
                  <a:sym typeface="Roboto"/>
                </a:rPr>
                <a:t>msoe.edu</a:t>
              </a:r>
              <a:endParaRPr dirty="0">
                <a:latin typeface="Roboto"/>
                <a:ea typeface="Roboto"/>
                <a:cs typeface="Roboto"/>
                <a:sym typeface="Roboto"/>
              </a:endParaRPr>
            </a:p>
          </p:txBody>
        </p:sp>
        <p:cxnSp>
          <p:nvCxnSpPr>
            <p:cNvPr id="14" name="Google Shape;273;p38">
              <a:extLst>
                <a:ext uri="{FF2B5EF4-FFF2-40B4-BE49-F238E27FC236}">
                  <a16:creationId xmlns:a16="http://schemas.microsoft.com/office/drawing/2014/main" id="{151450FF-4C01-3E2D-B1AD-32BBBC22171C}"/>
                </a:ext>
              </a:extLst>
            </p:cNvPr>
            <p:cNvCxnSpPr>
              <a:stCxn id="5" idx="2"/>
              <a:endCxn id="6" idx="0"/>
            </p:cNvCxnSpPr>
            <p:nvPr/>
          </p:nvCxnSpPr>
          <p:spPr>
            <a:xfrm flipH="1">
              <a:off x="2910950" y="3467239"/>
              <a:ext cx="1630500" cy="438000"/>
            </a:xfrm>
            <a:prstGeom prst="straightConnector1">
              <a:avLst/>
            </a:prstGeom>
            <a:noFill/>
            <a:ln w="9525" cap="flat" cmpd="sng">
              <a:solidFill>
                <a:srgbClr val="000000"/>
              </a:solidFill>
              <a:prstDash val="solid"/>
              <a:round/>
              <a:headEnd type="none" w="med" len="med"/>
              <a:tailEnd type="none" w="med" len="med"/>
            </a:ln>
          </p:spPr>
        </p:cxnSp>
        <p:cxnSp>
          <p:nvCxnSpPr>
            <p:cNvPr id="15" name="Google Shape;274;p38">
              <a:extLst>
                <a:ext uri="{FF2B5EF4-FFF2-40B4-BE49-F238E27FC236}">
                  <a16:creationId xmlns:a16="http://schemas.microsoft.com/office/drawing/2014/main" id="{BDCDC3FA-0C82-944B-657C-63D39BAED57D}"/>
                </a:ext>
              </a:extLst>
            </p:cNvPr>
            <p:cNvCxnSpPr>
              <a:stCxn id="5" idx="2"/>
              <a:endCxn id="7" idx="0"/>
            </p:cNvCxnSpPr>
            <p:nvPr/>
          </p:nvCxnSpPr>
          <p:spPr>
            <a:xfrm>
              <a:off x="4541450" y="3467239"/>
              <a:ext cx="0" cy="438000"/>
            </a:xfrm>
            <a:prstGeom prst="straightConnector1">
              <a:avLst/>
            </a:prstGeom>
            <a:noFill/>
            <a:ln w="9525" cap="flat" cmpd="sng">
              <a:solidFill>
                <a:srgbClr val="000000"/>
              </a:solidFill>
              <a:prstDash val="solid"/>
              <a:round/>
              <a:headEnd type="none" w="med" len="med"/>
              <a:tailEnd type="none" w="med" len="med"/>
            </a:ln>
          </p:spPr>
        </p:cxnSp>
        <p:cxnSp>
          <p:nvCxnSpPr>
            <p:cNvPr id="16" name="Google Shape;275;p38">
              <a:extLst>
                <a:ext uri="{FF2B5EF4-FFF2-40B4-BE49-F238E27FC236}">
                  <a16:creationId xmlns:a16="http://schemas.microsoft.com/office/drawing/2014/main" id="{A73FEDCE-FDD1-D1D8-C03B-87E1863C11AB}"/>
                </a:ext>
              </a:extLst>
            </p:cNvPr>
            <p:cNvCxnSpPr>
              <a:stCxn id="5" idx="2"/>
              <a:endCxn id="8" idx="0"/>
            </p:cNvCxnSpPr>
            <p:nvPr/>
          </p:nvCxnSpPr>
          <p:spPr>
            <a:xfrm>
              <a:off x="4541450" y="3467239"/>
              <a:ext cx="1630500" cy="438000"/>
            </a:xfrm>
            <a:prstGeom prst="straightConnector1">
              <a:avLst/>
            </a:prstGeom>
            <a:noFill/>
            <a:ln w="9525" cap="flat" cmpd="sng">
              <a:solidFill>
                <a:srgbClr val="000000"/>
              </a:solidFill>
              <a:prstDash val="solid"/>
              <a:round/>
              <a:headEnd type="none" w="med" len="med"/>
              <a:tailEnd type="none" w="med" len="med"/>
            </a:ln>
          </p:spPr>
        </p:cxnSp>
        <p:cxnSp>
          <p:nvCxnSpPr>
            <p:cNvPr id="17" name="Google Shape;276;p38">
              <a:extLst>
                <a:ext uri="{FF2B5EF4-FFF2-40B4-BE49-F238E27FC236}">
                  <a16:creationId xmlns:a16="http://schemas.microsoft.com/office/drawing/2014/main" id="{EA720F37-23B0-272C-6A13-E9A6A2F4B30A}"/>
                </a:ext>
              </a:extLst>
            </p:cNvPr>
            <p:cNvCxnSpPr>
              <a:stCxn id="6" idx="2"/>
              <a:endCxn id="13" idx="0"/>
            </p:cNvCxnSpPr>
            <p:nvPr/>
          </p:nvCxnSpPr>
          <p:spPr>
            <a:xfrm flipH="1">
              <a:off x="2238175" y="4298909"/>
              <a:ext cx="672900" cy="271500"/>
            </a:xfrm>
            <a:prstGeom prst="straightConnector1">
              <a:avLst/>
            </a:prstGeom>
            <a:noFill/>
            <a:ln w="9525" cap="flat" cmpd="sng">
              <a:solidFill>
                <a:srgbClr val="000000"/>
              </a:solidFill>
              <a:prstDash val="solid"/>
              <a:round/>
              <a:headEnd type="none" w="med" len="med"/>
              <a:tailEnd type="none" w="med" len="med"/>
            </a:ln>
          </p:spPr>
        </p:cxnSp>
        <p:cxnSp>
          <p:nvCxnSpPr>
            <p:cNvPr id="18" name="Google Shape;277;p38">
              <a:extLst>
                <a:ext uri="{FF2B5EF4-FFF2-40B4-BE49-F238E27FC236}">
                  <a16:creationId xmlns:a16="http://schemas.microsoft.com/office/drawing/2014/main" id="{33944700-365E-25DC-0BFA-9225AB0BCE77}"/>
                </a:ext>
              </a:extLst>
            </p:cNvPr>
            <p:cNvCxnSpPr>
              <a:stCxn id="6" idx="2"/>
              <a:endCxn id="12" idx="0"/>
            </p:cNvCxnSpPr>
            <p:nvPr/>
          </p:nvCxnSpPr>
          <p:spPr>
            <a:xfrm>
              <a:off x="2911075" y="4298909"/>
              <a:ext cx="544500" cy="271500"/>
            </a:xfrm>
            <a:prstGeom prst="straightConnector1">
              <a:avLst/>
            </a:prstGeom>
            <a:noFill/>
            <a:ln w="9525" cap="flat" cmpd="sng">
              <a:solidFill>
                <a:srgbClr val="000000"/>
              </a:solidFill>
              <a:prstDash val="solid"/>
              <a:round/>
              <a:headEnd type="none" w="med" len="med"/>
              <a:tailEnd type="none" w="med" len="med"/>
            </a:ln>
          </p:spPr>
        </p:cxnSp>
        <p:cxnSp>
          <p:nvCxnSpPr>
            <p:cNvPr id="19" name="Google Shape;278;p38">
              <a:extLst>
                <a:ext uri="{FF2B5EF4-FFF2-40B4-BE49-F238E27FC236}">
                  <a16:creationId xmlns:a16="http://schemas.microsoft.com/office/drawing/2014/main" id="{3C812EB0-20A6-143A-F238-AB3C42595F8F}"/>
                </a:ext>
              </a:extLst>
            </p:cNvPr>
            <p:cNvCxnSpPr>
              <a:stCxn id="7" idx="2"/>
              <a:endCxn id="11" idx="0"/>
            </p:cNvCxnSpPr>
            <p:nvPr/>
          </p:nvCxnSpPr>
          <p:spPr>
            <a:xfrm>
              <a:off x="4541450" y="4298909"/>
              <a:ext cx="5100" cy="271500"/>
            </a:xfrm>
            <a:prstGeom prst="straightConnector1">
              <a:avLst/>
            </a:prstGeom>
            <a:noFill/>
            <a:ln w="9525" cap="flat" cmpd="sng">
              <a:solidFill>
                <a:srgbClr val="000000"/>
              </a:solidFill>
              <a:prstDash val="solid"/>
              <a:round/>
              <a:headEnd type="none" w="med" len="med"/>
              <a:tailEnd type="none" w="med" len="med"/>
            </a:ln>
          </p:spPr>
        </p:cxnSp>
        <p:cxnSp>
          <p:nvCxnSpPr>
            <p:cNvPr id="20" name="Google Shape;279;p38">
              <a:extLst>
                <a:ext uri="{FF2B5EF4-FFF2-40B4-BE49-F238E27FC236}">
                  <a16:creationId xmlns:a16="http://schemas.microsoft.com/office/drawing/2014/main" id="{C66B6BE6-E1A8-0260-9DF2-FE534C807E0E}"/>
                </a:ext>
              </a:extLst>
            </p:cNvPr>
            <p:cNvCxnSpPr>
              <a:cxnSpLocks/>
              <a:stCxn id="8" idx="2"/>
              <a:endCxn id="10" idx="0"/>
            </p:cNvCxnSpPr>
            <p:nvPr/>
          </p:nvCxnSpPr>
          <p:spPr>
            <a:xfrm flipH="1">
              <a:off x="5817783" y="4298909"/>
              <a:ext cx="354043" cy="271366"/>
            </a:xfrm>
            <a:prstGeom prst="straightConnector1">
              <a:avLst/>
            </a:prstGeom>
            <a:noFill/>
            <a:ln w="9525" cap="flat" cmpd="sng">
              <a:solidFill>
                <a:srgbClr val="000000"/>
              </a:solidFill>
              <a:prstDash val="solid"/>
              <a:round/>
              <a:headEnd type="none" w="med" len="med"/>
              <a:tailEnd type="none" w="med" len="med"/>
            </a:ln>
          </p:spPr>
        </p:cxnSp>
        <p:cxnSp>
          <p:nvCxnSpPr>
            <p:cNvPr id="21" name="Google Shape;280;p38">
              <a:extLst>
                <a:ext uri="{FF2B5EF4-FFF2-40B4-BE49-F238E27FC236}">
                  <a16:creationId xmlns:a16="http://schemas.microsoft.com/office/drawing/2014/main" id="{21A796AF-E823-99CC-3351-C94A45712501}"/>
                </a:ext>
              </a:extLst>
            </p:cNvPr>
            <p:cNvCxnSpPr>
              <a:stCxn id="8" idx="2"/>
              <a:endCxn id="9" idx="0"/>
            </p:cNvCxnSpPr>
            <p:nvPr/>
          </p:nvCxnSpPr>
          <p:spPr>
            <a:xfrm>
              <a:off x="6171825" y="4298909"/>
              <a:ext cx="913200" cy="271500"/>
            </a:xfrm>
            <a:prstGeom prst="straightConnector1">
              <a:avLst/>
            </a:prstGeom>
            <a:noFill/>
            <a:ln w="9525" cap="flat" cmpd="sng">
              <a:solidFill>
                <a:srgbClr val="000000"/>
              </a:solidFill>
              <a:prstDash val="solid"/>
              <a:round/>
              <a:headEnd type="none" w="med" len="med"/>
              <a:tailEnd type="none" w="med" len="med"/>
            </a:ln>
          </p:spPr>
        </p:cxnSp>
      </p:grpSp>
      <p:sp>
        <p:nvSpPr>
          <p:cNvPr id="24" name="TextBox 23">
            <a:extLst>
              <a:ext uri="{FF2B5EF4-FFF2-40B4-BE49-F238E27FC236}">
                <a16:creationId xmlns:a16="http://schemas.microsoft.com/office/drawing/2014/main" id="{12ECCDF3-1CE9-AB29-EF20-719E67CC62B1}"/>
              </a:ext>
            </a:extLst>
          </p:cNvPr>
          <p:cNvSpPr txBox="1"/>
          <p:nvPr/>
        </p:nvSpPr>
        <p:spPr>
          <a:xfrm>
            <a:off x="8629920" y="3775759"/>
            <a:ext cx="77149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Root</a:t>
            </a:r>
          </a:p>
        </p:txBody>
      </p:sp>
      <p:sp>
        <p:nvSpPr>
          <p:cNvPr id="25" name="TextBox 24">
            <a:extLst>
              <a:ext uri="{FF2B5EF4-FFF2-40B4-BE49-F238E27FC236}">
                <a16:creationId xmlns:a16="http://schemas.microsoft.com/office/drawing/2014/main" id="{86A52469-1775-AFF8-3566-045AF8214A59}"/>
              </a:ext>
            </a:extLst>
          </p:cNvPr>
          <p:cNvSpPr txBox="1"/>
          <p:nvPr/>
        </p:nvSpPr>
        <p:spPr>
          <a:xfrm>
            <a:off x="8629920" y="5056371"/>
            <a:ext cx="238898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Top Level Domain</a:t>
            </a:r>
          </a:p>
        </p:txBody>
      </p:sp>
      <p:sp>
        <p:nvSpPr>
          <p:cNvPr id="26" name="TextBox 25">
            <a:extLst>
              <a:ext uri="{FF2B5EF4-FFF2-40B4-BE49-F238E27FC236}">
                <a16:creationId xmlns:a16="http://schemas.microsoft.com/office/drawing/2014/main" id="{66E9AC23-0972-0EF3-A0F4-47BB3107060E}"/>
              </a:ext>
            </a:extLst>
          </p:cNvPr>
          <p:cNvSpPr txBox="1"/>
          <p:nvPr/>
        </p:nvSpPr>
        <p:spPr>
          <a:xfrm>
            <a:off x="8629920" y="6080291"/>
            <a:ext cx="183569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Authoritative</a:t>
            </a:r>
          </a:p>
        </p:txBody>
      </p:sp>
      <p:sp>
        <p:nvSpPr>
          <p:cNvPr id="22" name="Google Shape;286;p39">
            <a:extLst>
              <a:ext uri="{FF2B5EF4-FFF2-40B4-BE49-F238E27FC236}">
                <a16:creationId xmlns:a16="http://schemas.microsoft.com/office/drawing/2014/main" id="{FD4DC6B5-638B-2783-FD72-CEB72DD75DB4}"/>
              </a:ext>
            </a:extLst>
          </p:cNvPr>
          <p:cNvSpPr txBox="1">
            <a:spLocks/>
          </p:cNvSpPr>
          <p:nvPr/>
        </p:nvSpPr>
        <p:spPr>
          <a:xfrm>
            <a:off x="963299" y="1215445"/>
            <a:ext cx="10515600" cy="1325563"/>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dirty="0"/>
              <a:t>Each box is a name server. The label represents which queries the name server is responsible for answering</a:t>
            </a:r>
          </a:p>
        </p:txBody>
      </p:sp>
      <p:sp>
        <p:nvSpPr>
          <p:cNvPr id="23" name="Google Shape;305;p39">
            <a:extLst>
              <a:ext uri="{FF2B5EF4-FFF2-40B4-BE49-F238E27FC236}">
                <a16:creationId xmlns:a16="http://schemas.microsoft.com/office/drawing/2014/main" id="{8982F722-A9C0-C968-A6A8-0CAD9FC15225}"/>
              </a:ext>
            </a:extLst>
          </p:cNvPr>
          <p:cNvSpPr txBox="1"/>
          <p:nvPr/>
        </p:nvSpPr>
        <p:spPr>
          <a:xfrm>
            <a:off x="912666" y="2289435"/>
            <a:ext cx="4686232" cy="132340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600"/>
              </a:spcBef>
              <a:spcAft>
                <a:spcPts val="0"/>
              </a:spcAft>
              <a:buNone/>
            </a:pPr>
            <a:r>
              <a:rPr lang="en" sz="2000" dirty="0">
                <a:solidFill>
                  <a:srgbClr val="C00000"/>
                </a:solidFill>
                <a:latin typeface="Roboto"/>
                <a:ea typeface="Roboto"/>
                <a:cs typeface="Roboto"/>
                <a:sym typeface="Roboto"/>
              </a:rPr>
              <a:t>This name server is responsible for .edu queries like </a:t>
            </a:r>
            <a:r>
              <a:rPr lang="en-US" sz="2000" dirty="0">
                <a:solidFill>
                  <a:srgbClr val="C00000"/>
                </a:solidFill>
                <a:latin typeface="Roboto"/>
                <a:ea typeface="Roboto"/>
                <a:cs typeface="Roboto"/>
                <a:sym typeface="Roboto"/>
              </a:rPr>
              <a:t>www.msoe.edu</a:t>
            </a:r>
            <a:r>
              <a:rPr lang="en" sz="2000" dirty="0">
                <a:solidFill>
                  <a:srgbClr val="C00000"/>
                </a:solidFill>
                <a:latin typeface="Roboto"/>
                <a:ea typeface="Roboto"/>
                <a:cs typeface="Roboto"/>
                <a:sym typeface="Roboto"/>
              </a:rPr>
              <a:t>, but not a query like mail.google.com.</a:t>
            </a:r>
            <a:endParaRPr sz="2000" dirty="0">
              <a:solidFill>
                <a:srgbClr val="C00000"/>
              </a:solidFill>
            </a:endParaRPr>
          </a:p>
        </p:txBody>
      </p:sp>
      <p:cxnSp>
        <p:nvCxnSpPr>
          <p:cNvPr id="28" name="Connector: Elbow 27">
            <a:extLst>
              <a:ext uri="{FF2B5EF4-FFF2-40B4-BE49-F238E27FC236}">
                <a16:creationId xmlns:a16="http://schemas.microsoft.com/office/drawing/2014/main" id="{305105EB-79F5-1797-1CF0-283231BB3137}"/>
              </a:ext>
            </a:extLst>
          </p:cNvPr>
          <p:cNvCxnSpPr>
            <a:cxnSpLocks/>
            <a:stCxn id="23" idx="2"/>
            <a:endCxn id="6" idx="3"/>
          </p:cNvCxnSpPr>
          <p:nvPr/>
        </p:nvCxnSpPr>
        <p:spPr>
          <a:xfrm rot="5400000">
            <a:off x="2016535" y="4047957"/>
            <a:ext cx="1674361" cy="804135"/>
          </a:xfrm>
          <a:prstGeom prst="bent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3273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DNS: root </a:t>
            </a:r>
            <a:r>
              <a:rPr lang="en-US" altLang="en-US" dirty="0">
                <a:ea typeface="ＭＳ Ｐゴシック" panose="020B0600070205080204" pitchFamily="34" charset="-128"/>
                <a:cs typeface="Calibri" panose="020F0502020204030204" pitchFamily="34" charset="0"/>
              </a:rPr>
              <a:t>n</a:t>
            </a:r>
            <a:r>
              <a:rPr lang="en-US" altLang="en-US" sz="4400" dirty="0">
                <a:ea typeface="ＭＳ Ｐゴシック" panose="020B0600070205080204" pitchFamily="34" charset="-128"/>
                <a:cs typeface="Calibri" panose="020F0502020204030204" pitchFamily="34" charset="0"/>
              </a:rPr>
              <a:t>ame </a:t>
            </a:r>
            <a:r>
              <a:rPr lang="en-US" altLang="en-US" dirty="0">
                <a:ea typeface="ＭＳ Ｐゴシック" panose="020B0600070205080204" pitchFamily="34" charset="-128"/>
                <a:cs typeface="Calibri" panose="020F0502020204030204" pitchFamily="34" charset="0"/>
              </a:rPr>
              <a:t>s</a:t>
            </a:r>
            <a:r>
              <a:rPr lang="en-US" altLang="en-US" sz="4400" dirty="0">
                <a:ea typeface="ＭＳ Ｐゴシック" panose="020B0600070205080204" pitchFamily="34" charset="-128"/>
                <a:cs typeface="Calibri" panose="020F0502020204030204" pitchFamily="34" charset="0"/>
              </a:rPr>
              <a:t>ervers</a:t>
            </a:r>
            <a:endParaRPr lang="en-US" sz="4400" dirty="0">
              <a:cs typeface="Calibri" panose="020F0502020204030204" pitchFamily="34" charset="0"/>
            </a:endParaRPr>
          </a:p>
        </p:txBody>
      </p:sp>
      <p:pic>
        <p:nvPicPr>
          <p:cNvPr id="2" name="Picture 1">
            <a:extLst>
              <a:ext uri="{FF2B5EF4-FFF2-40B4-BE49-F238E27FC236}">
                <a16:creationId xmlns:a16="http://schemas.microsoft.com/office/drawing/2014/main" id="{AF7EF7A5-82F4-A842-BA4B-88DB1EA46A55}"/>
              </a:ext>
            </a:extLst>
          </p:cNvPr>
          <p:cNvPicPr>
            <a:picLocks noChangeAspect="1"/>
          </p:cNvPicPr>
          <p:nvPr/>
        </p:nvPicPr>
        <p:blipFill>
          <a:blip r:embed="rId3"/>
          <a:stretch>
            <a:fillRect/>
          </a:stretch>
        </p:blipFill>
        <p:spPr>
          <a:xfrm>
            <a:off x="5930900" y="2856025"/>
            <a:ext cx="6261100" cy="3200400"/>
          </a:xfrm>
          <a:prstGeom prst="rect">
            <a:avLst/>
          </a:prstGeom>
        </p:spPr>
      </p:pic>
      <p:sp>
        <p:nvSpPr>
          <p:cNvPr id="31" name="Rectangle 3">
            <a:extLst>
              <a:ext uri="{FF2B5EF4-FFF2-40B4-BE49-F238E27FC236}">
                <a16:creationId xmlns:a16="http://schemas.microsoft.com/office/drawing/2014/main" id="{C4E20309-5EA1-134A-A365-0B330A5879DC}"/>
              </a:ext>
            </a:extLst>
          </p:cNvPr>
          <p:cNvSpPr txBox="1">
            <a:spLocks noChangeArrowheads="1"/>
          </p:cNvSpPr>
          <p:nvPr/>
        </p:nvSpPr>
        <p:spPr>
          <a:xfrm>
            <a:off x="240474" y="1513670"/>
            <a:ext cx="5444283" cy="472457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Official, contact-of-last-resort by name servers that can not resolve name</a:t>
            </a:r>
          </a:p>
          <a:p>
            <a:pPr marL="57150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8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Incredibly important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Internet function</a:t>
            </a:r>
          </a:p>
          <a:p>
            <a:pPr marL="660400" marR="0" lvl="1" indent="-342900" algn="l" defTabSz="914400" rtl="0" eaLnBrk="1" fontAlgn="auto" latinLnBrk="0" hangingPunct="1">
              <a:lnSpc>
                <a:spcPct val="90000"/>
              </a:lnSpc>
              <a:spcBef>
                <a:spcPts val="500"/>
              </a:spcBef>
              <a:spcAft>
                <a:spcPts val="0"/>
              </a:spcAft>
              <a:buClrTx/>
              <a:buSzTx/>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Internet couldn’t function without it!</a:t>
            </a:r>
          </a:p>
          <a:p>
            <a:pPr marL="660400" marR="0" lvl="1" indent="-342900" algn="l" defTabSz="914400" rtl="0" eaLnBrk="1" fontAlgn="auto" latinLnBrk="0" hangingPunct="1">
              <a:lnSpc>
                <a:spcPct val="90000"/>
              </a:lnSpc>
              <a:spcBef>
                <a:spcPts val="500"/>
              </a:spcBef>
              <a:spcAft>
                <a:spcPts val="0"/>
              </a:spcAft>
              <a:buClrTx/>
              <a:buSzTx/>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DNSSEC – provides security (authentication, message integrity)</a:t>
            </a:r>
          </a:p>
          <a:p>
            <a:pPr marL="57150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ICANN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(Internet Corporation for Assigned Names and Numbers)</a:t>
            </a: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manages root DNS domain</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Rectangle 20">
            <a:extLst>
              <a:ext uri="{FF2B5EF4-FFF2-40B4-BE49-F238E27FC236}">
                <a16:creationId xmlns:a16="http://schemas.microsoft.com/office/drawing/2014/main" id="{8ADC63BB-C973-3942-8EC6-3C13E2B3867C}"/>
              </a:ext>
            </a:extLst>
          </p:cNvPr>
          <p:cNvSpPr>
            <a:spLocks noChangeArrowheads="1"/>
          </p:cNvSpPr>
          <p:nvPr/>
        </p:nvSpPr>
        <p:spPr bwMode="auto">
          <a:xfrm>
            <a:off x="6423186" y="1752600"/>
            <a:ext cx="5142916" cy="11987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13 logical root name “</a:t>
            </a:r>
            <a:r>
              <a:rPr kumimoji="0" lang="en-US" altLang="ja-JP" sz="24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servers” worldwide each “server” replicated many times (~200 servers in US)</a:t>
            </a:r>
            <a:endParaRPr kumimoji="0" lang="en-US" altLang="ja-JP"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endParaRPr>
          </a:p>
        </p:txBody>
      </p:sp>
    </p:spTree>
    <p:extLst>
      <p:ext uri="{BB962C8B-B14F-4D97-AF65-F5344CB8AC3E}">
        <p14:creationId xmlns:p14="http://schemas.microsoft.com/office/powerpoint/2010/main" val="714005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
                                            <p:txEl>
                                              <p:pRg st="1" end="1"/>
                                            </p:txEl>
                                          </p:spTgt>
                                        </p:tgtEl>
                                        <p:attrNameLst>
                                          <p:attrName>style.visibility</p:attrName>
                                        </p:attrNameLst>
                                      </p:cBhvr>
                                      <p:to>
                                        <p:strVal val="visible"/>
                                      </p:to>
                                    </p:set>
                                    <p:animEffect transition="in" filter="dissolve">
                                      <p:cBhvr>
                                        <p:cTn id="7" dur="500"/>
                                        <p:tgtEl>
                                          <p:spTgt spid="31">
                                            <p:txEl>
                                              <p:pRg st="1" end="1"/>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1">
                                            <p:txEl>
                                              <p:pRg st="2" end="2"/>
                                            </p:txEl>
                                          </p:spTgt>
                                        </p:tgtEl>
                                        <p:attrNameLst>
                                          <p:attrName>style.visibility</p:attrName>
                                        </p:attrNameLst>
                                      </p:cBhvr>
                                      <p:to>
                                        <p:strVal val="visible"/>
                                      </p:to>
                                    </p:set>
                                    <p:animEffect transition="in" filter="dissolve">
                                      <p:cBhvr>
                                        <p:cTn id="10" dur="500"/>
                                        <p:tgtEl>
                                          <p:spTgt spid="31">
                                            <p:txEl>
                                              <p:pRg st="2" end="2"/>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1">
                                            <p:txEl>
                                              <p:pRg st="3" end="3"/>
                                            </p:txEl>
                                          </p:spTgt>
                                        </p:tgtEl>
                                        <p:attrNameLst>
                                          <p:attrName>style.visibility</p:attrName>
                                        </p:attrNameLst>
                                      </p:cBhvr>
                                      <p:to>
                                        <p:strVal val="visible"/>
                                      </p:to>
                                    </p:set>
                                    <p:animEffect transition="in" filter="dissolve">
                                      <p:cBhvr>
                                        <p:cTn id="13" dur="500"/>
                                        <p:tgtEl>
                                          <p:spTgt spid="31">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31">
                                            <p:txEl>
                                              <p:pRg st="4" end="4"/>
                                            </p:txEl>
                                          </p:spTgt>
                                        </p:tgtEl>
                                        <p:attrNameLst>
                                          <p:attrName>style.visibility</p:attrName>
                                        </p:attrNameLst>
                                      </p:cBhvr>
                                      <p:to>
                                        <p:strVal val="visible"/>
                                      </p:to>
                                    </p:set>
                                    <p:animEffect transition="in" filter="dissolve">
                                      <p:cBhvr>
                                        <p:cTn id="18" dur="500"/>
                                        <p:tgtEl>
                                          <p:spTgt spid="31">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dissolve">
                                      <p:cBhvr>
                                        <p:cTn id="23" dur="500"/>
                                        <p:tgtEl>
                                          <p:spTgt spid="2"/>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dissolve">
                                      <p:cBhvr>
                                        <p:cTn id="2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uiExpand="1" build="p"/>
      <p:bldP spid="3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9990"/>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Top-Level Domain, and </a:t>
            </a:r>
            <a:r>
              <a:rPr lang="en-US" altLang="en-US" dirty="0">
                <a:ea typeface="ＭＳ Ｐゴシック" panose="020B0600070205080204" pitchFamily="34" charset="-128"/>
                <a:cs typeface="Calibri" panose="020F0502020204030204" pitchFamily="34" charset="0"/>
              </a:rPr>
              <a:t>a</a:t>
            </a:r>
            <a:r>
              <a:rPr lang="en-US" altLang="en-US" sz="4400" dirty="0">
                <a:ea typeface="ＭＳ Ｐゴシック" panose="020B0600070205080204" pitchFamily="34" charset="-128"/>
                <a:cs typeface="Calibri" panose="020F0502020204030204" pitchFamily="34" charset="0"/>
              </a:rPr>
              <a:t>uthoritative </a:t>
            </a:r>
            <a:r>
              <a:rPr lang="en-US" altLang="en-US" dirty="0">
                <a:ea typeface="ＭＳ Ｐゴシック" panose="020B0600070205080204" pitchFamily="34" charset="-128"/>
                <a:cs typeface="Calibri" panose="020F0502020204030204" pitchFamily="34" charset="0"/>
              </a:rPr>
              <a:t>s</a:t>
            </a:r>
            <a:r>
              <a:rPr lang="en-US" altLang="en-US" sz="4400" dirty="0">
                <a:ea typeface="ＭＳ Ｐゴシック" panose="020B0600070205080204" pitchFamily="34" charset="-128"/>
                <a:cs typeface="Calibri" panose="020F0502020204030204" pitchFamily="34" charset="0"/>
              </a:rPr>
              <a:t>ervers</a:t>
            </a:r>
            <a:endParaRPr lang="en-US" sz="4400" dirty="0">
              <a:cs typeface="Calibri" panose="020F0502020204030204" pitchFamily="34" charset="0"/>
            </a:endParaRPr>
          </a:p>
        </p:txBody>
      </p:sp>
      <p:sp>
        <p:nvSpPr>
          <p:cNvPr id="7" name="Rectangle 3">
            <a:extLst>
              <a:ext uri="{FF2B5EF4-FFF2-40B4-BE49-F238E27FC236}">
                <a16:creationId xmlns:a16="http://schemas.microsoft.com/office/drawing/2014/main" id="{500E43FE-C520-D344-A4CF-6105B63E22D6}"/>
              </a:ext>
            </a:extLst>
          </p:cNvPr>
          <p:cNvSpPr txBox="1">
            <a:spLocks noChangeArrowheads="1"/>
          </p:cNvSpPr>
          <p:nvPr/>
        </p:nvSpPr>
        <p:spPr>
          <a:xfrm>
            <a:off x="168529" y="879124"/>
            <a:ext cx="10868375" cy="3100209"/>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288"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Top-Level Domain (TLD) servers:</a:t>
            </a:r>
          </a:p>
          <a:p>
            <a:pPr marL="515937" marR="0" lvl="1" indent="-342900" algn="l" defTabSz="914400" rtl="0" eaLnBrk="1" fontAlgn="auto" latinLnBrk="0" hangingPunct="1">
              <a:lnSpc>
                <a:spcPct val="90000"/>
              </a:lnSpc>
              <a:spcBef>
                <a:spcPts val="400"/>
              </a:spcBef>
              <a:spcAft>
                <a:spcPts val="0"/>
              </a:spcAft>
              <a:buClrTx/>
              <a:buSzTx/>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Responsible for managing the top-level domains such as .com, .org, .net, .edu, .aero, .jobs, .museums, and all top-level country domains, e.g.: .cn, .uk, .fr, .ca, .jp</a:t>
            </a:r>
          </a:p>
          <a:p>
            <a:pPr marL="515937" marR="0" lvl="1" indent="-342900" algn="l" defTabSz="914400" rtl="0" eaLnBrk="1" fontAlgn="auto" latinLnBrk="0" hangingPunct="1">
              <a:lnSpc>
                <a:spcPct val="90000"/>
              </a:lnSpc>
              <a:spcBef>
                <a:spcPts val="400"/>
              </a:spcBef>
              <a:spcAft>
                <a:spcPts val="0"/>
              </a:spcAft>
              <a:buClrTx/>
              <a:buSzTx/>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Maintain a directory of which DNS servers are authoritative for each domain under their TLD</a:t>
            </a:r>
          </a:p>
          <a:p>
            <a:pPr marL="515937" marR="0" lvl="1" indent="-342900" algn="l" defTabSz="914400" rtl="0" eaLnBrk="1" fontAlgn="auto" latinLnBrk="0" hangingPunct="1">
              <a:lnSpc>
                <a:spcPct val="90000"/>
              </a:lnSpc>
              <a:spcBef>
                <a:spcPts val="400"/>
              </a:spcBef>
              <a:spcAft>
                <a:spcPts val="0"/>
              </a:spcAft>
              <a:buClrTx/>
              <a:buSzTx/>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Network Solutions: authoritative registry for .com, .net TLD</a:t>
            </a:r>
          </a:p>
          <a:p>
            <a:pPr marL="515937" marR="0" lvl="1" indent="-342900" algn="l" defTabSz="914400" rtl="0" eaLnBrk="1" fontAlgn="auto" latinLnBrk="0" hangingPunct="1">
              <a:lnSpc>
                <a:spcPct val="90000"/>
              </a:lnSpc>
              <a:spcBef>
                <a:spcPts val="400"/>
              </a:spcBef>
              <a:spcAft>
                <a:spcPts val="0"/>
              </a:spcAft>
              <a:buClrTx/>
              <a:buSzTx/>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Educause: .edu TLD</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 name="Rectangle 3">
            <a:extLst>
              <a:ext uri="{FF2B5EF4-FFF2-40B4-BE49-F238E27FC236}">
                <a16:creationId xmlns:a16="http://schemas.microsoft.com/office/drawing/2014/main" id="{ED24547E-6033-E341-B415-9EEF0C28B3B1}"/>
              </a:ext>
            </a:extLst>
          </p:cNvPr>
          <p:cNvSpPr txBox="1">
            <a:spLocks noChangeArrowheads="1"/>
          </p:cNvSpPr>
          <p:nvPr/>
        </p:nvSpPr>
        <p:spPr>
          <a:xfrm>
            <a:off x="168530" y="4639733"/>
            <a:ext cx="10868375" cy="1829515"/>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2200"/>
              </a:spcBef>
              <a:spcAft>
                <a:spcPts val="0"/>
              </a:spcAft>
              <a:buClr>
                <a:srgbClr val="0000A3"/>
              </a:buClr>
              <a:buSzTx/>
              <a:buFont typeface="Wingdings" pitchFamily="2" charset="2"/>
              <a:buNone/>
              <a:tabLst/>
              <a:defRPr/>
            </a:pPr>
            <a:r>
              <a:rPr kumimoji="0" lang="en-US" altLang="zh-CN"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A</a:t>
            </a: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uthoritative DNS servers: </a:t>
            </a:r>
          </a:p>
          <a:p>
            <a:pPr marL="515937" marR="0" lvl="1" indent="-342900" algn="l" defTabSz="914400" rtl="0" eaLnBrk="1" fontAlgn="auto" latinLnBrk="0" hangingPunct="1">
              <a:lnSpc>
                <a:spcPct val="90000"/>
              </a:lnSpc>
              <a:spcBef>
                <a:spcPts val="500"/>
              </a:spcBef>
              <a:spcAft>
                <a:spcPts val="0"/>
              </a:spcAft>
              <a:buClrTx/>
              <a:buSzTx/>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Organization’</a:t>
            </a:r>
            <a:r>
              <a:rPr kumimoji="0" lang="en-US" altLang="ja-JP"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s own DNS server(s), providing authoritative hostname to IP mappings for organization’s named hosts </a:t>
            </a:r>
          </a:p>
          <a:p>
            <a:pPr marL="515937" marR="0" lvl="1" indent="-342900" algn="l" defTabSz="914400" rtl="0" eaLnBrk="1" fontAlgn="auto" latinLnBrk="0" hangingPunct="1">
              <a:lnSpc>
                <a:spcPct val="90000"/>
              </a:lnSpc>
              <a:spcBef>
                <a:spcPts val="500"/>
              </a:spcBef>
              <a:spcAft>
                <a:spcPts val="0"/>
              </a:spcAft>
              <a:buClrTx/>
              <a:buSzTx/>
              <a:tabLst/>
              <a:defRPr/>
            </a:pPr>
            <a:r>
              <a:rPr lang="en-US" altLang="en-US" dirty="0">
                <a:solidFill>
                  <a:prstClr val="black"/>
                </a:solidFill>
                <a:latin typeface="Calibri" panose="020F0502020204030204" pitchFamily="34" charset="0"/>
                <a:ea typeface="ＭＳ Ｐゴシック" panose="020B0600070205080204" pitchFamily="34" charset="-128"/>
                <a:cs typeface="Calibri" panose="020F0502020204030204" pitchFamily="34" charset="0"/>
              </a:rPr>
              <a:t>C</a:t>
            </a:r>
            <a:r>
              <a:rPr kumimoji="0" lang="en-US" altLang="en-US" sz="24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an be maintained by organization or service provider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pic>
        <p:nvPicPr>
          <p:cNvPr id="2" name="Picture 1">
            <a:extLst>
              <a:ext uri="{FF2B5EF4-FFF2-40B4-BE49-F238E27FC236}">
                <a16:creationId xmlns:a16="http://schemas.microsoft.com/office/drawing/2014/main" id="{0326F0AB-9C7D-C946-94B2-B58E3B0956D7}"/>
              </a:ext>
            </a:extLst>
          </p:cNvPr>
          <p:cNvPicPr>
            <a:picLocks noChangeAspect="1"/>
          </p:cNvPicPr>
          <p:nvPr/>
        </p:nvPicPr>
        <p:blipFill>
          <a:blip r:embed="rId3"/>
          <a:stretch>
            <a:fillRect/>
          </a:stretch>
        </p:blipFill>
        <p:spPr>
          <a:xfrm>
            <a:off x="6265332" y="3122476"/>
            <a:ext cx="5317067" cy="1606470"/>
          </a:xfrm>
          <a:prstGeom prst="rect">
            <a:avLst/>
          </a:prstGeom>
        </p:spPr>
      </p:pic>
      <p:grpSp>
        <p:nvGrpSpPr>
          <p:cNvPr id="12" name="Group 11">
            <a:extLst>
              <a:ext uri="{FF2B5EF4-FFF2-40B4-BE49-F238E27FC236}">
                <a16:creationId xmlns:a16="http://schemas.microsoft.com/office/drawing/2014/main" id="{16353F64-060B-1F4E-AD0A-5FBB20E02BE4}"/>
              </a:ext>
            </a:extLst>
          </p:cNvPr>
          <p:cNvGrpSpPr/>
          <p:nvPr/>
        </p:nvGrpSpPr>
        <p:grpSpPr>
          <a:xfrm>
            <a:off x="4180114" y="1382174"/>
            <a:ext cx="7199086" cy="2597159"/>
            <a:chOff x="4419600" y="1744133"/>
            <a:chExt cx="6959600" cy="2235200"/>
          </a:xfrm>
        </p:grpSpPr>
        <p:sp>
          <p:nvSpPr>
            <p:cNvPr id="4" name="Rectangle 3">
              <a:extLst>
                <a:ext uri="{FF2B5EF4-FFF2-40B4-BE49-F238E27FC236}">
                  <a16:creationId xmlns:a16="http://schemas.microsoft.com/office/drawing/2014/main" id="{6C93592B-610F-B041-9201-B6C557DB96B0}"/>
                </a:ext>
              </a:extLst>
            </p:cNvPr>
            <p:cNvSpPr/>
            <p:nvPr/>
          </p:nvSpPr>
          <p:spPr>
            <a:xfrm>
              <a:off x="6366933" y="3742267"/>
              <a:ext cx="5012267" cy="237066"/>
            </a:xfrm>
            <a:prstGeom prst="rect">
              <a:avLst/>
            </a:prstGeom>
            <a:solidFill>
              <a:srgbClr val="FBBFC7">
                <a:alpha val="4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0259AE09-DC39-F54E-8B9C-A94C202C2543}"/>
                </a:ext>
              </a:extLst>
            </p:cNvPr>
            <p:cNvCxnSpPr/>
            <p:nvPr/>
          </p:nvCxnSpPr>
          <p:spPr>
            <a:xfrm>
              <a:off x="4419600" y="1744133"/>
              <a:ext cx="1998133" cy="1998133"/>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E01D7C10-72B2-BE47-9B8C-600F740CAFCE}"/>
              </a:ext>
            </a:extLst>
          </p:cNvPr>
          <p:cNvGrpSpPr/>
          <p:nvPr/>
        </p:nvGrpSpPr>
        <p:grpSpPr>
          <a:xfrm>
            <a:off x="5050971" y="4233333"/>
            <a:ext cx="6463696" cy="575734"/>
            <a:chOff x="5249333" y="4233333"/>
            <a:chExt cx="6265334" cy="575734"/>
          </a:xfrm>
        </p:grpSpPr>
        <p:sp>
          <p:nvSpPr>
            <p:cNvPr id="8" name="Rectangle 7">
              <a:extLst>
                <a:ext uri="{FF2B5EF4-FFF2-40B4-BE49-F238E27FC236}">
                  <a16:creationId xmlns:a16="http://schemas.microsoft.com/office/drawing/2014/main" id="{5B251AA5-C4FF-7E4A-BCEA-7D8B252E12F3}"/>
                </a:ext>
              </a:extLst>
            </p:cNvPr>
            <p:cNvSpPr/>
            <p:nvPr/>
          </p:nvSpPr>
          <p:spPr>
            <a:xfrm>
              <a:off x="6248400" y="4233333"/>
              <a:ext cx="5266267" cy="372534"/>
            </a:xfrm>
            <a:prstGeom prst="rect">
              <a:avLst/>
            </a:prstGeom>
            <a:solidFill>
              <a:srgbClr val="FBBFC7">
                <a:alpha val="4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1" name="Straight Connector 10">
              <a:extLst>
                <a:ext uri="{FF2B5EF4-FFF2-40B4-BE49-F238E27FC236}">
                  <a16:creationId xmlns:a16="http://schemas.microsoft.com/office/drawing/2014/main" id="{491835C5-DBDE-9A48-8554-EF6EB2FAD701}"/>
                </a:ext>
              </a:extLst>
            </p:cNvPr>
            <p:cNvCxnSpPr>
              <a:cxnSpLocks/>
            </p:cNvCxnSpPr>
            <p:nvPr/>
          </p:nvCxnSpPr>
          <p:spPr>
            <a:xfrm flipV="1">
              <a:off x="5249333" y="4267199"/>
              <a:ext cx="999068" cy="541868"/>
            </a:xfrm>
            <a:prstGeom prst="line">
              <a:avLst/>
            </a:prstGeom>
            <a:ln w="0">
              <a:solidFill>
                <a:srgbClr val="C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49174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par>
                                <p:cTn id="8" presetID="9" presetClass="entr" presetSubtype="0" fill="hold"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dissolve">
                                      <p:cBhvr>
                                        <p:cTn id="10" dur="500"/>
                                        <p:tgtEl>
                                          <p:spTgt spid="5">
                                            <p:txEl>
                                              <p:pRg st="0" end="0"/>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Effect transition="in" filter="dissolve">
                                      <p:cBhvr>
                                        <p:cTn id="13" dur="500"/>
                                        <p:tgtEl>
                                          <p:spTgt spid="5">
                                            <p:txEl>
                                              <p:pRg st="1" end="1"/>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dissolve">
                                      <p:cBhvr>
                                        <p:cTn id="16" dur="500"/>
                                        <p:tgtEl>
                                          <p:spTgt spid="5">
                                            <p:txEl>
                                              <p:pRg st="2" end="2"/>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dissolve">
                                      <p:cBhvr>
                                        <p:cTn id="1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838200" y="0"/>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Local DNS name </a:t>
            </a:r>
            <a:r>
              <a:rPr lang="en-US" altLang="en-US" dirty="0">
                <a:ea typeface="ＭＳ Ｐゴシック" panose="020B0600070205080204" pitchFamily="34" charset="-128"/>
                <a:cs typeface="Calibri" panose="020F0502020204030204" pitchFamily="34" charset="0"/>
              </a:rPr>
              <a:t>s</a:t>
            </a:r>
            <a:r>
              <a:rPr lang="en-US" altLang="en-US" sz="4400" dirty="0">
                <a:ea typeface="ＭＳ Ｐゴシック" panose="020B0600070205080204" pitchFamily="34" charset="-128"/>
                <a:cs typeface="Calibri" panose="020F0502020204030204" pitchFamily="34" charset="0"/>
              </a:rPr>
              <a:t>ervers</a:t>
            </a:r>
            <a:endParaRPr lang="en-US" sz="4400" dirty="0">
              <a:cs typeface="Calibri" panose="020F0502020204030204" pitchFamily="34" charset="0"/>
            </a:endParaRPr>
          </a:p>
        </p:txBody>
      </p:sp>
      <p:sp>
        <p:nvSpPr>
          <p:cNvPr id="5" name="Rectangle 3">
            <a:extLst>
              <a:ext uri="{FF2B5EF4-FFF2-40B4-BE49-F238E27FC236}">
                <a16:creationId xmlns:a16="http://schemas.microsoft.com/office/drawing/2014/main" id="{2BB20960-3674-7943-92CD-05431EA8487B}"/>
              </a:ext>
            </a:extLst>
          </p:cNvPr>
          <p:cNvSpPr txBox="1">
            <a:spLocks noChangeArrowheads="1"/>
          </p:cNvSpPr>
          <p:nvPr/>
        </p:nvSpPr>
        <p:spPr>
          <a:xfrm>
            <a:off x="138976" y="814621"/>
            <a:ext cx="11907520" cy="3228451"/>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8737" marR="0" lvl="0" indent="0" algn="l" defTabSz="914400" rtl="0" eaLnBrk="1" fontAlgn="auto" latinLnBrk="0" hangingPunct="1">
              <a:lnSpc>
                <a:spcPct val="90000"/>
              </a:lnSpc>
              <a:spcBef>
                <a:spcPts val="1000"/>
              </a:spcBef>
              <a:spcAft>
                <a:spcPts val="600"/>
              </a:spcAft>
              <a:buClrTx/>
              <a:buSzTx/>
              <a:buNone/>
              <a:tabLst/>
              <a:defRPr/>
            </a:pPr>
            <a:r>
              <a:rPr kumimoji="0" lang="en-US" altLang="en-US" sz="3200" b="0" i="0" u="none" strike="noStrike" kern="1200" cap="none" spc="0" normalizeH="0" baseline="0" noProof="0" dirty="0">
                <a:ln>
                  <a:noFill/>
                </a:ln>
                <a:solidFill>
                  <a:prstClr val="black"/>
                </a:solidFill>
                <a:effectLst/>
                <a:uLnTx/>
                <a:uFillTx/>
                <a:ea typeface="ＭＳ Ｐゴシック" panose="020B0600070205080204" pitchFamily="34" charset="-128"/>
              </a:rPr>
              <a:t>When host makes DNS query, it is sent to its </a:t>
            </a:r>
            <a:r>
              <a:rPr kumimoji="0" lang="en-US" altLang="en-US" sz="3200" b="0" i="1" u="none" strike="noStrike" kern="1200" cap="none" spc="0" normalizeH="0" baseline="0" noProof="0" dirty="0">
                <a:ln>
                  <a:noFill/>
                </a:ln>
                <a:solidFill>
                  <a:srgbClr val="C00000"/>
                </a:solidFill>
                <a:effectLst/>
                <a:uLnTx/>
                <a:uFillTx/>
                <a:ea typeface="ＭＳ Ｐゴシック" panose="020B0600070205080204" pitchFamily="34" charset="-128"/>
              </a:rPr>
              <a:t>local</a:t>
            </a:r>
            <a:r>
              <a:rPr kumimoji="0" lang="en-US" altLang="en-US" sz="3200" b="0" i="0" u="none" strike="noStrike" kern="1200" cap="none" spc="0" normalizeH="0" baseline="0" noProof="0" dirty="0">
                <a:ln>
                  <a:noFill/>
                </a:ln>
                <a:solidFill>
                  <a:srgbClr val="C00000"/>
                </a:solidFill>
                <a:effectLst/>
                <a:uLnTx/>
                <a:uFillTx/>
                <a:ea typeface="ＭＳ Ｐゴシック" panose="020B0600070205080204" pitchFamily="34" charset="-128"/>
              </a:rPr>
              <a:t> DNS server</a:t>
            </a:r>
          </a:p>
          <a:p>
            <a:pPr marR="0" lvl="1" algn="l" defTabSz="914400" rtl="0" eaLnBrk="1" fontAlgn="auto" latinLnBrk="0" hangingPunct="1">
              <a:lnSpc>
                <a:spcPct val="90000"/>
              </a:lnSpc>
              <a:spcBef>
                <a:spcPts val="500"/>
              </a:spcBef>
              <a:spcAft>
                <a:spcPts val="600"/>
              </a:spcAft>
              <a:buClrTx/>
              <a:buSzTx/>
              <a:tabLst/>
              <a:defRPr/>
            </a:pPr>
            <a:r>
              <a:rPr kumimoji="0" lang="en-US" altLang="en-US" sz="2200" b="0" i="0" u="none" strike="noStrike" kern="1200" cap="none" spc="0" normalizeH="0" baseline="0" noProof="0" dirty="0">
                <a:ln>
                  <a:noFill/>
                </a:ln>
                <a:solidFill>
                  <a:prstClr val="black"/>
                </a:solidFill>
                <a:effectLst/>
                <a:uLnTx/>
                <a:uFillTx/>
                <a:ea typeface="ＭＳ Ｐゴシック" panose="020B0600070205080204" pitchFamily="34" charset="-128"/>
              </a:rPr>
              <a:t>Local DNS server returns reply:</a:t>
            </a:r>
          </a:p>
          <a:p>
            <a:pPr marL="1254125" marR="0" lvl="2" indent="-342900" algn="l" defTabSz="914400" rtl="0" eaLnBrk="1" fontAlgn="auto" latinLnBrk="0" hangingPunct="1">
              <a:lnSpc>
                <a:spcPct val="90000"/>
              </a:lnSpc>
              <a:spcBef>
                <a:spcPts val="500"/>
              </a:spcBef>
              <a:spcAft>
                <a:spcPts val="600"/>
              </a:spcAft>
              <a:buSzTx/>
              <a:tabLst/>
              <a:defRPr/>
            </a:pPr>
            <a:r>
              <a:rPr kumimoji="0" lang="en-US" altLang="en-US" b="0" i="0" u="none" strike="noStrike" kern="1200" cap="none" spc="0" normalizeH="0" baseline="0" noProof="0" dirty="0">
                <a:ln>
                  <a:noFill/>
                </a:ln>
                <a:solidFill>
                  <a:prstClr val="black"/>
                </a:solidFill>
                <a:effectLst/>
                <a:uLnTx/>
                <a:uFillTx/>
                <a:ea typeface="ＭＳ Ｐゴシック" panose="020B0600070205080204" pitchFamily="34" charset="-128"/>
              </a:rPr>
              <a:t>From its local </a:t>
            </a:r>
            <a:r>
              <a:rPr kumimoji="0" lang="en-US" altLang="en-US" b="0" i="0" u="none" strike="noStrike" kern="1200" cap="none" spc="0" normalizeH="0" baseline="0" noProof="0" dirty="0">
                <a:ln>
                  <a:noFill/>
                </a:ln>
                <a:solidFill>
                  <a:srgbClr val="C00000"/>
                </a:solidFill>
                <a:effectLst/>
                <a:uLnTx/>
                <a:uFillTx/>
                <a:ea typeface="ＭＳ Ｐゴシック" panose="020B0600070205080204" pitchFamily="34" charset="-128"/>
              </a:rPr>
              <a:t>cache</a:t>
            </a:r>
            <a:r>
              <a:rPr kumimoji="0" lang="en-US" altLang="en-US" b="0" i="0" u="none" strike="noStrike" kern="1200" cap="none" spc="0" normalizeH="0" baseline="0" noProof="0" dirty="0">
                <a:ln>
                  <a:noFill/>
                </a:ln>
                <a:solidFill>
                  <a:prstClr val="black"/>
                </a:solidFill>
                <a:effectLst/>
                <a:uLnTx/>
                <a:uFillTx/>
                <a:ea typeface="ＭＳ Ｐゴシック" panose="020B0600070205080204" pitchFamily="34" charset="-128"/>
              </a:rPr>
              <a:t> of recent name-to-address translation pairs (possibly out of date!)</a:t>
            </a:r>
          </a:p>
          <a:p>
            <a:pPr marL="1254125" lvl="2" indent="-342900">
              <a:spcAft>
                <a:spcPts val="600"/>
              </a:spcAft>
              <a:defRPr/>
            </a:pPr>
            <a:r>
              <a:rPr kumimoji="0" lang="en-US" altLang="en-US" b="0" i="0" u="none" strike="noStrike" kern="1200" cap="none" spc="0" normalizeH="0" baseline="0" noProof="0" dirty="0">
                <a:ln>
                  <a:noFill/>
                </a:ln>
                <a:solidFill>
                  <a:prstClr val="black"/>
                </a:solidFill>
                <a:effectLst/>
                <a:uLnTx/>
                <a:uFillTx/>
                <a:ea typeface="ＭＳ Ｐゴシック" panose="020B0600070205080204" pitchFamily="34" charset="-128"/>
              </a:rPr>
              <a:t>Forwarding request into DNS hierarchy for resolution</a:t>
            </a:r>
            <a:r>
              <a:rPr lang="en-US" altLang="en-US" dirty="0">
                <a:solidFill>
                  <a:prstClr val="black"/>
                </a:solidFill>
                <a:ea typeface="ＭＳ Ｐゴシック" panose="020B0600070205080204" pitchFamily="34" charset="-128"/>
              </a:rPr>
              <a:t>. Once resolved, the local DNS server </a:t>
            </a:r>
            <a:r>
              <a:rPr lang="en-US" altLang="en-US" dirty="0">
                <a:solidFill>
                  <a:srgbClr val="C00000"/>
                </a:solidFill>
                <a:ea typeface="ＭＳ Ｐゴシック" panose="020B0600070205080204" pitchFamily="34" charset="-128"/>
              </a:rPr>
              <a:t>caches</a:t>
            </a:r>
            <a:r>
              <a:rPr lang="en-US" altLang="en-US" dirty="0">
                <a:solidFill>
                  <a:prstClr val="black"/>
                </a:solidFill>
                <a:ea typeface="ＭＳ Ｐゴシック" panose="020B0600070205080204" pitchFamily="34" charset="-128"/>
              </a:rPr>
              <a:t> the response for future queries to speed up access for you and other users on the network.</a:t>
            </a:r>
            <a:endParaRPr kumimoji="0" lang="en-US" altLang="en-US" b="0" i="0" u="none" strike="noStrike" kern="1200" cap="none" spc="0" normalizeH="0" baseline="0" noProof="0" dirty="0">
              <a:ln>
                <a:noFill/>
              </a:ln>
              <a:solidFill>
                <a:prstClr val="black"/>
              </a:solidFill>
              <a:effectLst/>
              <a:uLnTx/>
              <a:uFillTx/>
              <a:ea typeface="ＭＳ Ｐゴシック" panose="020B0600070205080204" pitchFamily="34" charset="-128"/>
            </a:endParaRPr>
          </a:p>
          <a:p>
            <a:pPr marR="0" lvl="1" algn="l" defTabSz="914400" rtl="0" eaLnBrk="1" fontAlgn="auto" latinLnBrk="0" hangingPunct="1">
              <a:lnSpc>
                <a:spcPct val="90000"/>
              </a:lnSpc>
              <a:spcBef>
                <a:spcPts val="500"/>
              </a:spcBef>
              <a:spcAft>
                <a:spcPts val="600"/>
              </a:spcAft>
              <a:buClrTx/>
              <a:buSzTx/>
              <a:tabLst/>
              <a:defRPr/>
            </a:pPr>
            <a:r>
              <a:rPr kumimoji="0" lang="en-US" altLang="en-US" sz="2000" b="0" i="0" u="none" strike="noStrike" kern="1200" cap="none" spc="0" normalizeH="0" baseline="0" noProof="0" dirty="0">
                <a:ln>
                  <a:noFill/>
                </a:ln>
                <a:solidFill>
                  <a:prstClr val="black"/>
                </a:solidFill>
                <a:effectLst/>
                <a:uLnTx/>
                <a:uFillTx/>
                <a:ea typeface="ＭＳ Ｐゴシック" panose="020B0600070205080204" pitchFamily="34" charset="-128"/>
              </a:rPr>
              <a:t>Each ISP has local DNS name server; to find yours: </a:t>
            </a:r>
          </a:p>
          <a:p>
            <a:pPr marL="1254125" marR="0" lvl="2" indent="-342900" algn="l" defTabSz="914400" rtl="0" eaLnBrk="1" fontAlgn="auto" latinLnBrk="0" hangingPunct="1">
              <a:lnSpc>
                <a:spcPct val="90000"/>
              </a:lnSpc>
              <a:spcBef>
                <a:spcPts val="500"/>
              </a:spcBef>
              <a:spcAft>
                <a:spcPts val="600"/>
              </a:spcAft>
              <a:buSzTx/>
              <a:tabLst/>
              <a:defRPr/>
            </a:pPr>
            <a:r>
              <a:rPr kumimoji="0" lang="en-US" altLang="en-US"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MacOS: </a:t>
            </a:r>
            <a:r>
              <a:rPr kumimoji="0" lang="en-US" b="0" i="0" u="none" strike="noStrike" kern="1200" cap="none" spc="0" normalizeH="0" baseline="0" noProof="0" dirty="0">
                <a:ln>
                  <a:noFill/>
                </a:ln>
                <a:solidFill>
                  <a:prstClr val="black"/>
                </a:solidFill>
                <a:effectLst/>
                <a:uLnTx/>
                <a:uFillTx/>
                <a:latin typeface="Courier" pitchFamily="2" charset="0"/>
                <a:cs typeface="+mn-cs"/>
              </a:rPr>
              <a:t>% scutil --dns</a:t>
            </a:r>
          </a:p>
          <a:p>
            <a:pPr marR="0" lvl="2" algn="l" defTabSz="914400" rtl="0" eaLnBrk="1" fontAlgn="auto" latinLnBrk="0" hangingPunct="1">
              <a:lnSpc>
                <a:spcPct val="90000"/>
              </a:lnSpc>
              <a:spcBef>
                <a:spcPts val="500"/>
              </a:spcBef>
              <a:spcAft>
                <a:spcPts val="600"/>
              </a:spcAft>
              <a:buSzTx/>
              <a:tabLst/>
              <a:defRPr/>
            </a:pPr>
            <a:r>
              <a:rPr kumimoji="0" lang="en-US" b="0" i="0" u="none" strike="noStrike" kern="1200" cap="none" spc="0" normalizeH="0" baseline="0" noProof="0" dirty="0">
                <a:ln>
                  <a:noFill/>
                </a:ln>
                <a:solidFill>
                  <a:prstClr val="black"/>
                </a:solidFill>
                <a:effectLst/>
                <a:uLnTx/>
                <a:uFillTx/>
                <a:latin typeface="Calibri" panose="020F0502020204030204"/>
                <a:cs typeface="+mn-cs"/>
              </a:rPr>
              <a:t>Windows: </a:t>
            </a:r>
            <a:r>
              <a:rPr kumimoji="0" lang="en-US" b="0" i="0" u="none" strike="noStrike" kern="1200" cap="none" spc="0" normalizeH="0" baseline="0" noProof="0" dirty="0">
                <a:ln>
                  <a:noFill/>
                </a:ln>
                <a:solidFill>
                  <a:prstClr val="black"/>
                </a:solidFill>
                <a:effectLst/>
                <a:uLnTx/>
                <a:uFillTx/>
                <a:latin typeface="Courier" pitchFamily="2" charset="0"/>
                <a:cs typeface="+mn-cs"/>
              </a:rPr>
              <a:t>&gt;ipconfig /all</a:t>
            </a:r>
          </a:p>
        </p:txBody>
      </p:sp>
      <p:grpSp>
        <p:nvGrpSpPr>
          <p:cNvPr id="114" name="Group 113">
            <a:extLst>
              <a:ext uri="{FF2B5EF4-FFF2-40B4-BE49-F238E27FC236}">
                <a16:creationId xmlns:a16="http://schemas.microsoft.com/office/drawing/2014/main" id="{F2DFE69A-FBE5-F6EA-95A8-D305EDA1DEEF}"/>
              </a:ext>
            </a:extLst>
          </p:cNvPr>
          <p:cNvGrpSpPr/>
          <p:nvPr/>
        </p:nvGrpSpPr>
        <p:grpSpPr>
          <a:xfrm>
            <a:off x="268416" y="3835638"/>
            <a:ext cx="11830021" cy="2910601"/>
            <a:chOff x="268416" y="3835638"/>
            <a:chExt cx="11830021" cy="2910601"/>
          </a:xfrm>
        </p:grpSpPr>
        <p:grpSp>
          <p:nvGrpSpPr>
            <p:cNvPr id="3" name="Google Shape;263;p38">
              <a:extLst>
                <a:ext uri="{FF2B5EF4-FFF2-40B4-BE49-F238E27FC236}">
                  <a16:creationId xmlns:a16="http://schemas.microsoft.com/office/drawing/2014/main" id="{AD7ECDA3-F4A5-B494-3471-C60E68D367DA}"/>
                </a:ext>
              </a:extLst>
            </p:cNvPr>
            <p:cNvGrpSpPr/>
            <p:nvPr/>
          </p:nvGrpSpPr>
          <p:grpSpPr>
            <a:xfrm>
              <a:off x="4463157" y="3835638"/>
              <a:ext cx="7635280" cy="2910601"/>
              <a:chOff x="1590000" y="3073639"/>
              <a:chExt cx="6073725" cy="1890236"/>
            </a:xfrm>
          </p:grpSpPr>
          <p:sp>
            <p:nvSpPr>
              <p:cNvPr id="16" name="Google Shape;264;p38">
                <a:extLst>
                  <a:ext uri="{FF2B5EF4-FFF2-40B4-BE49-F238E27FC236}">
                    <a16:creationId xmlns:a16="http://schemas.microsoft.com/office/drawing/2014/main" id="{EDF0A27D-F196-7337-8C89-64B9D37948B1}"/>
                  </a:ext>
                </a:extLst>
              </p:cNvPr>
              <p:cNvSpPr txBox="1"/>
              <p:nvPr/>
            </p:nvSpPr>
            <p:spPr>
              <a:xfrm>
                <a:off x="3922400" y="3073639"/>
                <a:ext cx="12381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 (root)</a:t>
                </a:r>
                <a:endParaRPr>
                  <a:latin typeface="Roboto"/>
                  <a:ea typeface="Roboto"/>
                  <a:cs typeface="Roboto"/>
                  <a:sym typeface="Roboto"/>
                </a:endParaRPr>
              </a:p>
            </p:txBody>
          </p:sp>
          <p:sp>
            <p:nvSpPr>
              <p:cNvPr id="17" name="Google Shape;265;p38">
                <a:extLst>
                  <a:ext uri="{FF2B5EF4-FFF2-40B4-BE49-F238E27FC236}">
                    <a16:creationId xmlns:a16="http://schemas.microsoft.com/office/drawing/2014/main" id="{52A77349-8E56-C0B0-64AE-274522997139}"/>
                  </a:ext>
                </a:extLst>
              </p:cNvPr>
              <p:cNvSpPr txBox="1"/>
              <p:nvPr/>
            </p:nvSpPr>
            <p:spPr>
              <a:xfrm>
                <a:off x="2576875" y="3905309"/>
                <a:ext cx="6684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.edu</a:t>
                </a:r>
                <a:endParaRPr>
                  <a:latin typeface="Roboto"/>
                  <a:ea typeface="Roboto"/>
                  <a:cs typeface="Roboto"/>
                  <a:sym typeface="Roboto"/>
                </a:endParaRPr>
              </a:p>
            </p:txBody>
          </p:sp>
          <p:sp>
            <p:nvSpPr>
              <p:cNvPr id="18" name="Google Shape;266;p38">
                <a:extLst>
                  <a:ext uri="{FF2B5EF4-FFF2-40B4-BE49-F238E27FC236}">
                    <a16:creationId xmlns:a16="http://schemas.microsoft.com/office/drawing/2014/main" id="{C4D44868-56FD-70C4-4EA4-4DA6CFA8E046}"/>
                  </a:ext>
                </a:extLst>
              </p:cNvPr>
              <p:cNvSpPr txBox="1"/>
              <p:nvPr/>
            </p:nvSpPr>
            <p:spPr>
              <a:xfrm>
                <a:off x="4207250" y="3905309"/>
                <a:ext cx="6684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oboto"/>
                    <a:ea typeface="Roboto"/>
                    <a:cs typeface="Roboto"/>
                    <a:sym typeface="Roboto"/>
                  </a:rPr>
                  <a:t>.gov</a:t>
                </a:r>
                <a:endParaRPr dirty="0">
                  <a:latin typeface="Roboto"/>
                  <a:ea typeface="Roboto"/>
                  <a:cs typeface="Roboto"/>
                  <a:sym typeface="Roboto"/>
                </a:endParaRPr>
              </a:p>
            </p:txBody>
          </p:sp>
          <p:sp>
            <p:nvSpPr>
              <p:cNvPr id="19" name="Google Shape;267;p38">
                <a:extLst>
                  <a:ext uri="{FF2B5EF4-FFF2-40B4-BE49-F238E27FC236}">
                    <a16:creationId xmlns:a16="http://schemas.microsoft.com/office/drawing/2014/main" id="{EB8B568A-2754-869D-2BBB-EBFB2C9F6035}"/>
                  </a:ext>
                </a:extLst>
              </p:cNvPr>
              <p:cNvSpPr txBox="1"/>
              <p:nvPr/>
            </p:nvSpPr>
            <p:spPr>
              <a:xfrm>
                <a:off x="5837625" y="3905309"/>
                <a:ext cx="6684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.com</a:t>
                </a:r>
                <a:endParaRPr>
                  <a:latin typeface="Roboto"/>
                  <a:ea typeface="Roboto"/>
                  <a:cs typeface="Roboto"/>
                  <a:sym typeface="Roboto"/>
                </a:endParaRPr>
              </a:p>
            </p:txBody>
          </p:sp>
          <p:sp>
            <p:nvSpPr>
              <p:cNvPr id="20" name="Google Shape;268;p38">
                <a:extLst>
                  <a:ext uri="{FF2B5EF4-FFF2-40B4-BE49-F238E27FC236}">
                    <a16:creationId xmlns:a16="http://schemas.microsoft.com/office/drawing/2014/main" id="{65AC2C09-BFE7-DCFC-C2ED-FDDFD808FB74}"/>
                  </a:ext>
                </a:extLst>
              </p:cNvPr>
              <p:cNvSpPr txBox="1"/>
              <p:nvPr/>
            </p:nvSpPr>
            <p:spPr>
              <a:xfrm>
                <a:off x="6506025" y="4570275"/>
                <a:ext cx="11577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oboto"/>
                    <a:ea typeface="Roboto"/>
                    <a:cs typeface="Roboto"/>
                    <a:sym typeface="Roboto"/>
                  </a:rPr>
                  <a:t>google.com</a:t>
                </a:r>
                <a:endParaRPr dirty="0">
                  <a:latin typeface="Roboto"/>
                  <a:ea typeface="Roboto"/>
                  <a:cs typeface="Roboto"/>
                  <a:sym typeface="Roboto"/>
                </a:endParaRPr>
              </a:p>
            </p:txBody>
          </p:sp>
          <p:sp>
            <p:nvSpPr>
              <p:cNvPr id="21" name="Google Shape;269;p38">
                <a:extLst>
                  <a:ext uri="{FF2B5EF4-FFF2-40B4-BE49-F238E27FC236}">
                    <a16:creationId xmlns:a16="http://schemas.microsoft.com/office/drawing/2014/main" id="{95AA6CA3-1D7E-9B7C-B6CF-3C348C1D675E}"/>
                  </a:ext>
                </a:extLst>
              </p:cNvPr>
              <p:cNvSpPr txBox="1"/>
              <p:nvPr/>
            </p:nvSpPr>
            <p:spPr>
              <a:xfrm>
                <a:off x="5208400" y="4570275"/>
                <a:ext cx="1218765"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oboto"/>
                    <a:ea typeface="Roboto"/>
                    <a:cs typeface="Roboto"/>
                    <a:sym typeface="Roboto"/>
                  </a:rPr>
                  <a:t>chatgpt.com</a:t>
                </a:r>
                <a:endParaRPr dirty="0">
                  <a:latin typeface="Roboto"/>
                  <a:ea typeface="Roboto"/>
                  <a:cs typeface="Roboto"/>
                  <a:sym typeface="Roboto"/>
                </a:endParaRPr>
              </a:p>
            </p:txBody>
          </p:sp>
          <p:sp>
            <p:nvSpPr>
              <p:cNvPr id="22" name="Google Shape;270;p38">
                <a:extLst>
                  <a:ext uri="{FF2B5EF4-FFF2-40B4-BE49-F238E27FC236}">
                    <a16:creationId xmlns:a16="http://schemas.microsoft.com/office/drawing/2014/main" id="{0A6AB752-39E6-AB46-D26B-CD81B1432A59}"/>
                  </a:ext>
                </a:extLst>
              </p:cNvPr>
              <p:cNvSpPr txBox="1"/>
              <p:nvPr/>
            </p:nvSpPr>
            <p:spPr>
              <a:xfrm>
                <a:off x="4024975" y="4570275"/>
                <a:ext cx="10434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oboto"/>
                    <a:ea typeface="Roboto"/>
                    <a:cs typeface="Roboto"/>
                    <a:sym typeface="Roboto"/>
                  </a:rPr>
                  <a:t>usda.gov</a:t>
                </a:r>
                <a:endParaRPr dirty="0">
                  <a:latin typeface="Roboto"/>
                  <a:ea typeface="Roboto"/>
                  <a:cs typeface="Roboto"/>
                  <a:sym typeface="Roboto"/>
                </a:endParaRPr>
              </a:p>
            </p:txBody>
          </p:sp>
          <p:sp>
            <p:nvSpPr>
              <p:cNvPr id="23" name="Google Shape;271;p38">
                <a:extLst>
                  <a:ext uri="{FF2B5EF4-FFF2-40B4-BE49-F238E27FC236}">
                    <a16:creationId xmlns:a16="http://schemas.microsoft.com/office/drawing/2014/main" id="{7B55B090-1224-B93C-129E-864EB521B3F1}"/>
                  </a:ext>
                </a:extLst>
              </p:cNvPr>
              <p:cNvSpPr txBox="1"/>
              <p:nvPr/>
            </p:nvSpPr>
            <p:spPr>
              <a:xfrm>
                <a:off x="3026350" y="4570275"/>
                <a:ext cx="8586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mit.edu</a:t>
                </a:r>
                <a:endParaRPr>
                  <a:latin typeface="Roboto"/>
                  <a:ea typeface="Roboto"/>
                  <a:cs typeface="Roboto"/>
                  <a:sym typeface="Roboto"/>
                </a:endParaRPr>
              </a:p>
            </p:txBody>
          </p:sp>
          <p:sp>
            <p:nvSpPr>
              <p:cNvPr id="24" name="Google Shape;272;p38">
                <a:extLst>
                  <a:ext uri="{FF2B5EF4-FFF2-40B4-BE49-F238E27FC236}">
                    <a16:creationId xmlns:a16="http://schemas.microsoft.com/office/drawing/2014/main" id="{B87EC70C-DA5F-E8BD-2BDF-2F45735AA448}"/>
                  </a:ext>
                </a:extLst>
              </p:cNvPr>
              <p:cNvSpPr txBox="1"/>
              <p:nvPr/>
            </p:nvSpPr>
            <p:spPr>
              <a:xfrm>
                <a:off x="1590000" y="4570275"/>
                <a:ext cx="1296300" cy="393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oboto"/>
                    <a:ea typeface="Roboto"/>
                    <a:cs typeface="Roboto"/>
                    <a:sym typeface="Roboto"/>
                  </a:rPr>
                  <a:t>msoe.edu</a:t>
                </a:r>
                <a:endParaRPr dirty="0">
                  <a:latin typeface="Roboto"/>
                  <a:ea typeface="Roboto"/>
                  <a:cs typeface="Roboto"/>
                  <a:sym typeface="Roboto"/>
                </a:endParaRPr>
              </a:p>
            </p:txBody>
          </p:sp>
          <p:cxnSp>
            <p:nvCxnSpPr>
              <p:cNvPr id="25" name="Google Shape;273;p38">
                <a:extLst>
                  <a:ext uri="{FF2B5EF4-FFF2-40B4-BE49-F238E27FC236}">
                    <a16:creationId xmlns:a16="http://schemas.microsoft.com/office/drawing/2014/main" id="{E38B3CB8-4CB8-E491-B9E5-D5E587677C4A}"/>
                  </a:ext>
                </a:extLst>
              </p:cNvPr>
              <p:cNvCxnSpPr>
                <a:stCxn id="16" idx="2"/>
                <a:endCxn id="17" idx="0"/>
              </p:cNvCxnSpPr>
              <p:nvPr/>
            </p:nvCxnSpPr>
            <p:spPr>
              <a:xfrm flipH="1">
                <a:off x="2910950" y="3467239"/>
                <a:ext cx="1630500" cy="438000"/>
              </a:xfrm>
              <a:prstGeom prst="straightConnector1">
                <a:avLst/>
              </a:prstGeom>
              <a:noFill/>
              <a:ln w="9525" cap="flat" cmpd="sng">
                <a:solidFill>
                  <a:srgbClr val="000000"/>
                </a:solidFill>
                <a:prstDash val="solid"/>
                <a:round/>
                <a:headEnd type="none" w="med" len="med"/>
                <a:tailEnd type="none" w="med" len="med"/>
              </a:ln>
            </p:spPr>
          </p:cxnSp>
          <p:cxnSp>
            <p:nvCxnSpPr>
              <p:cNvPr id="26" name="Google Shape;274;p38">
                <a:extLst>
                  <a:ext uri="{FF2B5EF4-FFF2-40B4-BE49-F238E27FC236}">
                    <a16:creationId xmlns:a16="http://schemas.microsoft.com/office/drawing/2014/main" id="{CD91FEC9-7168-9CC6-E40B-31A2169FC7EC}"/>
                  </a:ext>
                </a:extLst>
              </p:cNvPr>
              <p:cNvCxnSpPr>
                <a:stCxn id="16" idx="2"/>
                <a:endCxn id="18" idx="0"/>
              </p:cNvCxnSpPr>
              <p:nvPr/>
            </p:nvCxnSpPr>
            <p:spPr>
              <a:xfrm>
                <a:off x="4541450" y="3467239"/>
                <a:ext cx="0" cy="438000"/>
              </a:xfrm>
              <a:prstGeom prst="straightConnector1">
                <a:avLst/>
              </a:prstGeom>
              <a:noFill/>
              <a:ln w="9525" cap="flat" cmpd="sng">
                <a:solidFill>
                  <a:srgbClr val="000000"/>
                </a:solidFill>
                <a:prstDash val="solid"/>
                <a:round/>
                <a:headEnd type="none" w="med" len="med"/>
                <a:tailEnd type="none" w="med" len="med"/>
              </a:ln>
            </p:spPr>
          </p:cxnSp>
          <p:cxnSp>
            <p:nvCxnSpPr>
              <p:cNvPr id="27" name="Google Shape;275;p38">
                <a:extLst>
                  <a:ext uri="{FF2B5EF4-FFF2-40B4-BE49-F238E27FC236}">
                    <a16:creationId xmlns:a16="http://schemas.microsoft.com/office/drawing/2014/main" id="{FC50EA6A-2DBF-9C57-A852-E7E339213F9E}"/>
                  </a:ext>
                </a:extLst>
              </p:cNvPr>
              <p:cNvCxnSpPr>
                <a:stCxn id="16" idx="2"/>
                <a:endCxn id="19" idx="0"/>
              </p:cNvCxnSpPr>
              <p:nvPr/>
            </p:nvCxnSpPr>
            <p:spPr>
              <a:xfrm>
                <a:off x="4541450" y="3467239"/>
                <a:ext cx="1630500" cy="438000"/>
              </a:xfrm>
              <a:prstGeom prst="straightConnector1">
                <a:avLst/>
              </a:prstGeom>
              <a:noFill/>
              <a:ln w="9525" cap="flat" cmpd="sng">
                <a:solidFill>
                  <a:srgbClr val="000000"/>
                </a:solidFill>
                <a:prstDash val="solid"/>
                <a:round/>
                <a:headEnd type="none" w="med" len="med"/>
                <a:tailEnd type="none" w="med" len="med"/>
              </a:ln>
            </p:spPr>
          </p:cxnSp>
          <p:cxnSp>
            <p:nvCxnSpPr>
              <p:cNvPr id="28" name="Google Shape;276;p38">
                <a:extLst>
                  <a:ext uri="{FF2B5EF4-FFF2-40B4-BE49-F238E27FC236}">
                    <a16:creationId xmlns:a16="http://schemas.microsoft.com/office/drawing/2014/main" id="{26AE6142-2F9C-23C1-8250-0CDC49FFD988}"/>
                  </a:ext>
                </a:extLst>
              </p:cNvPr>
              <p:cNvCxnSpPr>
                <a:stCxn id="17" idx="2"/>
                <a:endCxn id="24" idx="0"/>
              </p:cNvCxnSpPr>
              <p:nvPr/>
            </p:nvCxnSpPr>
            <p:spPr>
              <a:xfrm flipH="1">
                <a:off x="2238175" y="4298909"/>
                <a:ext cx="672900" cy="271500"/>
              </a:xfrm>
              <a:prstGeom prst="straightConnector1">
                <a:avLst/>
              </a:prstGeom>
              <a:noFill/>
              <a:ln w="9525" cap="flat" cmpd="sng">
                <a:solidFill>
                  <a:srgbClr val="000000"/>
                </a:solidFill>
                <a:prstDash val="solid"/>
                <a:round/>
                <a:headEnd type="none" w="med" len="med"/>
                <a:tailEnd type="none" w="med" len="med"/>
              </a:ln>
            </p:spPr>
          </p:cxnSp>
          <p:cxnSp>
            <p:nvCxnSpPr>
              <p:cNvPr id="29" name="Google Shape;277;p38">
                <a:extLst>
                  <a:ext uri="{FF2B5EF4-FFF2-40B4-BE49-F238E27FC236}">
                    <a16:creationId xmlns:a16="http://schemas.microsoft.com/office/drawing/2014/main" id="{0E617EF4-14FF-59D5-3DFA-C5FF6C7E15C8}"/>
                  </a:ext>
                </a:extLst>
              </p:cNvPr>
              <p:cNvCxnSpPr>
                <a:stCxn id="17" idx="2"/>
                <a:endCxn id="23" idx="0"/>
              </p:cNvCxnSpPr>
              <p:nvPr/>
            </p:nvCxnSpPr>
            <p:spPr>
              <a:xfrm>
                <a:off x="2911075" y="4298909"/>
                <a:ext cx="544500" cy="271500"/>
              </a:xfrm>
              <a:prstGeom prst="straightConnector1">
                <a:avLst/>
              </a:prstGeom>
              <a:noFill/>
              <a:ln w="9525" cap="flat" cmpd="sng">
                <a:solidFill>
                  <a:srgbClr val="000000"/>
                </a:solidFill>
                <a:prstDash val="solid"/>
                <a:round/>
                <a:headEnd type="none" w="med" len="med"/>
                <a:tailEnd type="none" w="med" len="med"/>
              </a:ln>
            </p:spPr>
          </p:cxnSp>
          <p:cxnSp>
            <p:nvCxnSpPr>
              <p:cNvPr id="30" name="Google Shape;278;p38">
                <a:extLst>
                  <a:ext uri="{FF2B5EF4-FFF2-40B4-BE49-F238E27FC236}">
                    <a16:creationId xmlns:a16="http://schemas.microsoft.com/office/drawing/2014/main" id="{8B3FC75A-E7F5-A33E-E636-575F848D8EA8}"/>
                  </a:ext>
                </a:extLst>
              </p:cNvPr>
              <p:cNvCxnSpPr>
                <a:stCxn id="18" idx="2"/>
                <a:endCxn id="22" idx="0"/>
              </p:cNvCxnSpPr>
              <p:nvPr/>
            </p:nvCxnSpPr>
            <p:spPr>
              <a:xfrm>
                <a:off x="4541450" y="4298909"/>
                <a:ext cx="5100" cy="271500"/>
              </a:xfrm>
              <a:prstGeom prst="straightConnector1">
                <a:avLst/>
              </a:prstGeom>
              <a:noFill/>
              <a:ln w="9525" cap="flat" cmpd="sng">
                <a:solidFill>
                  <a:srgbClr val="000000"/>
                </a:solidFill>
                <a:prstDash val="solid"/>
                <a:round/>
                <a:headEnd type="none" w="med" len="med"/>
                <a:tailEnd type="none" w="med" len="med"/>
              </a:ln>
            </p:spPr>
          </p:cxnSp>
          <p:cxnSp>
            <p:nvCxnSpPr>
              <p:cNvPr id="31" name="Google Shape;279;p38">
                <a:extLst>
                  <a:ext uri="{FF2B5EF4-FFF2-40B4-BE49-F238E27FC236}">
                    <a16:creationId xmlns:a16="http://schemas.microsoft.com/office/drawing/2014/main" id="{2AFEAB86-9922-B880-DC0B-EB15C59F4006}"/>
                  </a:ext>
                </a:extLst>
              </p:cNvPr>
              <p:cNvCxnSpPr>
                <a:cxnSpLocks/>
                <a:stCxn id="19" idx="2"/>
                <a:endCxn id="21" idx="0"/>
              </p:cNvCxnSpPr>
              <p:nvPr/>
            </p:nvCxnSpPr>
            <p:spPr>
              <a:xfrm flipH="1">
                <a:off x="5817783" y="4298909"/>
                <a:ext cx="354043" cy="271366"/>
              </a:xfrm>
              <a:prstGeom prst="straightConnector1">
                <a:avLst/>
              </a:prstGeom>
              <a:noFill/>
              <a:ln w="9525" cap="flat" cmpd="sng">
                <a:solidFill>
                  <a:srgbClr val="000000"/>
                </a:solidFill>
                <a:prstDash val="solid"/>
                <a:round/>
                <a:headEnd type="none" w="med" len="med"/>
                <a:tailEnd type="none" w="med" len="med"/>
              </a:ln>
            </p:spPr>
          </p:cxnSp>
          <p:cxnSp>
            <p:nvCxnSpPr>
              <p:cNvPr id="32" name="Google Shape;280;p38">
                <a:extLst>
                  <a:ext uri="{FF2B5EF4-FFF2-40B4-BE49-F238E27FC236}">
                    <a16:creationId xmlns:a16="http://schemas.microsoft.com/office/drawing/2014/main" id="{30A99DD5-31A5-9091-6F86-5967ABEB105C}"/>
                  </a:ext>
                </a:extLst>
              </p:cNvPr>
              <p:cNvCxnSpPr>
                <a:stCxn id="19" idx="2"/>
                <a:endCxn id="20" idx="0"/>
              </p:cNvCxnSpPr>
              <p:nvPr/>
            </p:nvCxnSpPr>
            <p:spPr>
              <a:xfrm>
                <a:off x="6171825" y="4298909"/>
                <a:ext cx="913200" cy="271500"/>
              </a:xfrm>
              <a:prstGeom prst="straightConnector1">
                <a:avLst/>
              </a:prstGeom>
              <a:noFill/>
              <a:ln w="9525" cap="flat" cmpd="sng">
                <a:solidFill>
                  <a:srgbClr val="000000"/>
                </a:solidFill>
                <a:prstDash val="solid"/>
                <a:round/>
                <a:headEnd type="none" w="med" len="med"/>
                <a:tailEnd type="none" w="med" len="med"/>
              </a:ln>
            </p:spPr>
          </p:cxnSp>
        </p:grpSp>
        <p:cxnSp>
          <p:nvCxnSpPr>
            <p:cNvPr id="11" name="Google Shape;511;p47">
              <a:extLst>
                <a:ext uri="{FF2B5EF4-FFF2-40B4-BE49-F238E27FC236}">
                  <a16:creationId xmlns:a16="http://schemas.microsoft.com/office/drawing/2014/main" id="{59E4814B-29F7-33A8-AC9E-19B5822D98D7}"/>
                </a:ext>
              </a:extLst>
            </p:cNvPr>
            <p:cNvCxnSpPr/>
            <p:nvPr/>
          </p:nvCxnSpPr>
          <p:spPr>
            <a:xfrm rot="10800000" flipH="1">
              <a:off x="3969484" y="4092122"/>
              <a:ext cx="3271663" cy="606070"/>
            </a:xfrm>
            <a:prstGeom prst="straightConnector1">
              <a:avLst/>
            </a:prstGeom>
            <a:noFill/>
            <a:ln w="19050" cap="flat" cmpd="sng">
              <a:solidFill>
                <a:srgbClr val="000000"/>
              </a:solidFill>
              <a:prstDash val="solid"/>
              <a:round/>
              <a:headEnd type="none" w="med" len="med"/>
              <a:tailEnd type="triangle" w="med" len="med"/>
            </a:ln>
          </p:spPr>
        </p:cxnSp>
        <p:cxnSp>
          <p:nvCxnSpPr>
            <p:cNvPr id="12" name="Google Shape;511;p47">
              <a:extLst>
                <a:ext uri="{FF2B5EF4-FFF2-40B4-BE49-F238E27FC236}">
                  <a16:creationId xmlns:a16="http://schemas.microsoft.com/office/drawing/2014/main" id="{07B2C30C-C51E-713B-CA40-0BCA9E9ADFDE}"/>
                </a:ext>
              </a:extLst>
            </p:cNvPr>
            <p:cNvCxnSpPr>
              <a:cxnSpLocks/>
            </p:cNvCxnSpPr>
            <p:nvPr/>
          </p:nvCxnSpPr>
          <p:spPr>
            <a:xfrm>
              <a:off x="3969483" y="4866125"/>
              <a:ext cx="1571934" cy="530749"/>
            </a:xfrm>
            <a:prstGeom prst="straightConnector1">
              <a:avLst/>
            </a:prstGeom>
            <a:noFill/>
            <a:ln w="19050" cap="flat" cmpd="sng">
              <a:solidFill>
                <a:srgbClr val="000000"/>
              </a:solidFill>
              <a:prstDash val="solid"/>
              <a:round/>
              <a:headEnd type="none" w="med" len="med"/>
              <a:tailEnd type="triangle" w="med" len="med"/>
            </a:ln>
          </p:spPr>
        </p:cxnSp>
        <p:cxnSp>
          <p:nvCxnSpPr>
            <p:cNvPr id="13" name="Google Shape;511;p47">
              <a:extLst>
                <a:ext uri="{FF2B5EF4-FFF2-40B4-BE49-F238E27FC236}">
                  <a16:creationId xmlns:a16="http://schemas.microsoft.com/office/drawing/2014/main" id="{8C837066-13CB-01F2-593C-FCC70EADCEAB}"/>
                </a:ext>
              </a:extLst>
            </p:cNvPr>
            <p:cNvCxnSpPr>
              <a:cxnSpLocks/>
            </p:cNvCxnSpPr>
            <p:nvPr/>
          </p:nvCxnSpPr>
          <p:spPr>
            <a:xfrm>
              <a:off x="3936940" y="5208017"/>
              <a:ext cx="400836" cy="1121663"/>
            </a:xfrm>
            <a:prstGeom prst="straightConnector1">
              <a:avLst/>
            </a:prstGeom>
            <a:noFill/>
            <a:ln w="19050" cap="flat" cmpd="sng">
              <a:solidFill>
                <a:srgbClr val="000000"/>
              </a:solidFill>
              <a:prstDash val="solid"/>
              <a:round/>
              <a:headEnd type="none" w="med" len="med"/>
              <a:tailEnd type="triangle" w="med" len="med"/>
            </a:ln>
          </p:spPr>
        </p:cxnSp>
        <p:grpSp>
          <p:nvGrpSpPr>
            <p:cNvPr id="70" name="Group 89">
              <a:extLst>
                <a:ext uri="{FF2B5EF4-FFF2-40B4-BE49-F238E27FC236}">
                  <a16:creationId xmlns:a16="http://schemas.microsoft.com/office/drawing/2014/main" id="{348F9EB5-6A61-D5D7-424C-344E39644675}"/>
                </a:ext>
              </a:extLst>
            </p:cNvPr>
            <p:cNvGrpSpPr>
              <a:grpSpLocks/>
            </p:cNvGrpSpPr>
            <p:nvPr/>
          </p:nvGrpSpPr>
          <p:grpSpPr bwMode="auto">
            <a:xfrm>
              <a:off x="661687" y="4516561"/>
              <a:ext cx="883580" cy="766310"/>
              <a:chOff x="-44" y="1473"/>
              <a:chExt cx="981" cy="1105"/>
            </a:xfrm>
          </p:grpSpPr>
          <p:pic>
            <p:nvPicPr>
              <p:cNvPr id="71" name="Picture 90" descr="desktop_computer_stylized_medium">
                <a:extLst>
                  <a:ext uri="{FF2B5EF4-FFF2-40B4-BE49-F238E27FC236}">
                    <a16:creationId xmlns:a16="http://schemas.microsoft.com/office/drawing/2014/main" id="{A3658DA6-156F-F200-499C-0B27CB4BFB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Freeform 91">
                <a:extLst>
                  <a:ext uri="{FF2B5EF4-FFF2-40B4-BE49-F238E27FC236}">
                    <a16:creationId xmlns:a16="http://schemas.microsoft.com/office/drawing/2014/main" id="{C68271A1-E2DC-7DDA-B5E9-9201AD9B218B}"/>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73" name="Text Box 5">
              <a:extLst>
                <a:ext uri="{FF2B5EF4-FFF2-40B4-BE49-F238E27FC236}">
                  <a16:creationId xmlns:a16="http://schemas.microsoft.com/office/drawing/2014/main" id="{462EC67F-EBE9-A4D4-5548-D5FCEB0825EE}"/>
                </a:ext>
              </a:extLst>
            </p:cNvPr>
            <p:cNvSpPr txBox="1">
              <a:spLocks noChangeArrowheads="1"/>
            </p:cNvSpPr>
            <p:nvPr/>
          </p:nvSpPr>
          <p:spPr bwMode="auto">
            <a:xfrm>
              <a:off x="268416" y="5271364"/>
              <a:ext cx="181652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requesting host at</a:t>
              </a: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dsac.msoe.edu</a:t>
              </a:r>
            </a:p>
          </p:txBody>
        </p:sp>
        <p:grpSp>
          <p:nvGrpSpPr>
            <p:cNvPr id="74" name="Group 24">
              <a:extLst>
                <a:ext uri="{FF2B5EF4-FFF2-40B4-BE49-F238E27FC236}">
                  <a16:creationId xmlns:a16="http://schemas.microsoft.com/office/drawing/2014/main" id="{2535B327-3301-9B18-DAE7-E869E5D32331}"/>
                </a:ext>
              </a:extLst>
            </p:cNvPr>
            <p:cNvGrpSpPr>
              <a:grpSpLocks/>
            </p:cNvGrpSpPr>
            <p:nvPr/>
          </p:nvGrpSpPr>
          <p:grpSpPr bwMode="auto">
            <a:xfrm>
              <a:off x="2055065" y="5269828"/>
              <a:ext cx="1876425" cy="554038"/>
              <a:chOff x="2838" y="2132"/>
              <a:chExt cx="1182" cy="349"/>
            </a:xfrm>
          </p:grpSpPr>
          <p:sp>
            <p:nvSpPr>
              <p:cNvPr id="75" name="Rectangle 25">
                <a:extLst>
                  <a:ext uri="{FF2B5EF4-FFF2-40B4-BE49-F238E27FC236}">
                    <a16:creationId xmlns:a16="http://schemas.microsoft.com/office/drawing/2014/main" id="{504DF268-EBB6-7FA1-09C3-0CA6C35A95E8}"/>
                  </a:ext>
                </a:extLst>
              </p:cNvPr>
              <p:cNvSpPr>
                <a:spLocks noChangeArrowheads="1"/>
              </p:cNvSpPr>
              <p:nvPr/>
            </p:nvSpPr>
            <p:spPr bwMode="auto">
              <a:xfrm>
                <a:off x="2838" y="2178"/>
                <a:ext cx="1182" cy="3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6" name="Text Box 26">
                <a:extLst>
                  <a:ext uri="{FF2B5EF4-FFF2-40B4-BE49-F238E27FC236}">
                    <a16:creationId xmlns:a16="http://schemas.microsoft.com/office/drawing/2014/main" id="{2C7C19B0-C239-A9E6-ECE7-AE9E052C9352}"/>
                  </a:ext>
                </a:extLst>
              </p:cNvPr>
              <p:cNvSpPr txBox="1">
                <a:spLocks noChangeArrowheads="1"/>
              </p:cNvSpPr>
              <p:nvPr/>
            </p:nvSpPr>
            <p:spPr bwMode="auto">
              <a:xfrm>
                <a:off x="2887" y="2132"/>
                <a:ext cx="1085"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local DNS server</a:t>
                </a: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dns.msoe.edu</a:t>
                </a:r>
              </a:p>
            </p:txBody>
          </p:sp>
        </p:grpSp>
        <p:grpSp>
          <p:nvGrpSpPr>
            <p:cNvPr id="77" name="Group 158">
              <a:extLst>
                <a:ext uri="{FF2B5EF4-FFF2-40B4-BE49-F238E27FC236}">
                  <a16:creationId xmlns:a16="http://schemas.microsoft.com/office/drawing/2014/main" id="{FD228A64-F8C0-2432-F244-4F85D2FBC231}"/>
                </a:ext>
              </a:extLst>
            </p:cNvPr>
            <p:cNvGrpSpPr>
              <a:grpSpLocks/>
            </p:cNvGrpSpPr>
            <p:nvPr/>
          </p:nvGrpSpPr>
          <p:grpSpPr bwMode="auto">
            <a:xfrm>
              <a:off x="3086939" y="4437972"/>
              <a:ext cx="390525" cy="641350"/>
              <a:chOff x="4140" y="429"/>
              <a:chExt cx="1425" cy="2396"/>
            </a:xfrm>
          </p:grpSpPr>
          <p:sp>
            <p:nvSpPr>
              <p:cNvPr id="78" name="Freeform 159">
                <a:extLst>
                  <a:ext uri="{FF2B5EF4-FFF2-40B4-BE49-F238E27FC236}">
                    <a16:creationId xmlns:a16="http://schemas.microsoft.com/office/drawing/2014/main" id="{4AF8D554-30B9-8CDB-F001-A431B8943495}"/>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 name="Rectangle 160">
                <a:extLst>
                  <a:ext uri="{FF2B5EF4-FFF2-40B4-BE49-F238E27FC236}">
                    <a16:creationId xmlns:a16="http://schemas.microsoft.com/office/drawing/2014/main" id="{BC608DAD-E872-EE80-F36A-E3D9B8EBD6E5}"/>
                  </a:ext>
                </a:extLst>
              </p:cNvPr>
              <p:cNvSpPr>
                <a:spLocks noChangeArrowheads="1"/>
              </p:cNvSpPr>
              <p:nvPr/>
            </p:nvSpPr>
            <p:spPr bwMode="auto">
              <a:xfrm>
                <a:off x="4204"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 name="Freeform 161">
                <a:extLst>
                  <a:ext uri="{FF2B5EF4-FFF2-40B4-BE49-F238E27FC236}">
                    <a16:creationId xmlns:a16="http://schemas.microsoft.com/office/drawing/2014/main" id="{6FE4F4A4-B6C2-A22C-8577-CF83CE4B896D}"/>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 name="Freeform 162">
                <a:extLst>
                  <a:ext uri="{FF2B5EF4-FFF2-40B4-BE49-F238E27FC236}">
                    <a16:creationId xmlns:a16="http://schemas.microsoft.com/office/drawing/2014/main" id="{C0923054-F5E0-B02D-417B-3B91CB6122B3}"/>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2" name="Rectangle 163">
                <a:extLst>
                  <a:ext uri="{FF2B5EF4-FFF2-40B4-BE49-F238E27FC236}">
                    <a16:creationId xmlns:a16="http://schemas.microsoft.com/office/drawing/2014/main" id="{7BD8F4C1-7EBB-ECDD-54D3-271650C89E3C}"/>
                  </a:ext>
                </a:extLst>
              </p:cNvPr>
              <p:cNvSpPr>
                <a:spLocks noChangeArrowheads="1"/>
              </p:cNvSpPr>
              <p:nvPr/>
            </p:nvSpPr>
            <p:spPr bwMode="auto">
              <a:xfrm>
                <a:off x="4210" y="696"/>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3" name="Group 164">
                <a:extLst>
                  <a:ext uri="{FF2B5EF4-FFF2-40B4-BE49-F238E27FC236}">
                    <a16:creationId xmlns:a16="http://schemas.microsoft.com/office/drawing/2014/main" id="{279F3F65-7D14-CE12-2485-599759B350FE}"/>
                  </a:ext>
                </a:extLst>
              </p:cNvPr>
              <p:cNvGrpSpPr>
                <a:grpSpLocks/>
              </p:cNvGrpSpPr>
              <p:nvPr/>
            </p:nvGrpSpPr>
            <p:grpSpPr bwMode="auto">
              <a:xfrm>
                <a:off x="4749" y="668"/>
                <a:ext cx="581" cy="145"/>
                <a:chOff x="614" y="2568"/>
                <a:chExt cx="725" cy="139"/>
              </a:xfrm>
            </p:grpSpPr>
            <p:sp>
              <p:nvSpPr>
                <p:cNvPr id="108" name="AutoShape 165">
                  <a:extLst>
                    <a:ext uri="{FF2B5EF4-FFF2-40B4-BE49-F238E27FC236}">
                      <a16:creationId xmlns:a16="http://schemas.microsoft.com/office/drawing/2014/main" id="{DA396999-6925-9FF1-CE74-21FA748474A1}"/>
                    </a:ext>
                  </a:extLst>
                </p:cNvPr>
                <p:cNvSpPr>
                  <a:spLocks noChangeArrowheads="1"/>
                </p:cNvSpPr>
                <p:nvPr/>
              </p:nvSpPr>
              <p:spPr bwMode="auto">
                <a:xfrm>
                  <a:off x="613" y="2566"/>
                  <a:ext cx="723"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9" name="AutoShape 166">
                  <a:extLst>
                    <a:ext uri="{FF2B5EF4-FFF2-40B4-BE49-F238E27FC236}">
                      <a16:creationId xmlns:a16="http://schemas.microsoft.com/office/drawing/2014/main" id="{A40BAECB-F5A7-CFBA-8B9F-7C01AC09676E}"/>
                    </a:ext>
                  </a:extLst>
                </p:cNvPr>
                <p:cNvSpPr>
                  <a:spLocks noChangeArrowheads="1"/>
                </p:cNvSpPr>
                <p:nvPr/>
              </p:nvSpPr>
              <p:spPr bwMode="auto">
                <a:xfrm>
                  <a:off x="628" y="2583"/>
                  <a:ext cx="694"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4" name="Rectangle 167">
                <a:extLst>
                  <a:ext uri="{FF2B5EF4-FFF2-40B4-BE49-F238E27FC236}">
                    <a16:creationId xmlns:a16="http://schemas.microsoft.com/office/drawing/2014/main" id="{B7F9622E-950F-944B-9400-AEA57A140B94}"/>
                  </a:ext>
                </a:extLst>
              </p:cNvPr>
              <p:cNvSpPr>
                <a:spLocks noChangeArrowheads="1"/>
              </p:cNvSpPr>
              <p:nvPr/>
            </p:nvSpPr>
            <p:spPr bwMode="auto">
              <a:xfrm>
                <a:off x="4227" y="1016"/>
                <a:ext cx="591"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5" name="Group 168">
                <a:extLst>
                  <a:ext uri="{FF2B5EF4-FFF2-40B4-BE49-F238E27FC236}">
                    <a16:creationId xmlns:a16="http://schemas.microsoft.com/office/drawing/2014/main" id="{82092DB1-F71A-8454-0132-EE17769D6B92}"/>
                  </a:ext>
                </a:extLst>
              </p:cNvPr>
              <p:cNvGrpSpPr>
                <a:grpSpLocks/>
              </p:cNvGrpSpPr>
              <p:nvPr/>
            </p:nvGrpSpPr>
            <p:grpSpPr bwMode="auto">
              <a:xfrm>
                <a:off x="4747" y="994"/>
                <a:ext cx="581" cy="134"/>
                <a:chOff x="614" y="2568"/>
                <a:chExt cx="725" cy="139"/>
              </a:xfrm>
            </p:grpSpPr>
            <p:sp>
              <p:nvSpPr>
                <p:cNvPr id="106" name="AutoShape 169">
                  <a:extLst>
                    <a:ext uri="{FF2B5EF4-FFF2-40B4-BE49-F238E27FC236}">
                      <a16:creationId xmlns:a16="http://schemas.microsoft.com/office/drawing/2014/main" id="{9F4447C9-C657-87E7-6BD3-EA82E01F0B8B}"/>
                    </a:ext>
                  </a:extLst>
                </p:cNvPr>
                <p:cNvSpPr>
                  <a:spLocks noChangeArrowheads="1"/>
                </p:cNvSpPr>
                <p:nvPr/>
              </p:nvSpPr>
              <p:spPr bwMode="auto">
                <a:xfrm>
                  <a:off x="616" y="2566"/>
                  <a:ext cx="723" cy="14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7" name="AutoShape 170">
                  <a:extLst>
                    <a:ext uri="{FF2B5EF4-FFF2-40B4-BE49-F238E27FC236}">
                      <a16:creationId xmlns:a16="http://schemas.microsoft.com/office/drawing/2014/main" id="{1CC81008-C607-5345-933E-01F52D502B56}"/>
                    </a:ext>
                  </a:extLst>
                </p:cNvPr>
                <p:cNvSpPr>
                  <a:spLocks noChangeArrowheads="1"/>
                </p:cNvSpPr>
                <p:nvPr/>
              </p:nvSpPr>
              <p:spPr bwMode="auto">
                <a:xfrm>
                  <a:off x="630" y="2585"/>
                  <a:ext cx="694"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6" name="Rectangle 171">
                <a:extLst>
                  <a:ext uri="{FF2B5EF4-FFF2-40B4-BE49-F238E27FC236}">
                    <a16:creationId xmlns:a16="http://schemas.microsoft.com/office/drawing/2014/main" id="{6B4C56E8-44EF-6532-BD6D-AE80693F6A4C}"/>
                  </a:ext>
                </a:extLst>
              </p:cNvPr>
              <p:cNvSpPr>
                <a:spLocks noChangeArrowheads="1"/>
              </p:cNvSpPr>
              <p:nvPr/>
            </p:nvSpPr>
            <p:spPr bwMode="auto">
              <a:xfrm>
                <a:off x="4215" y="1360"/>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 name="Rectangle 172">
                <a:extLst>
                  <a:ext uri="{FF2B5EF4-FFF2-40B4-BE49-F238E27FC236}">
                    <a16:creationId xmlns:a16="http://schemas.microsoft.com/office/drawing/2014/main" id="{3169379D-330D-A2EB-7102-A2D85C4A889F}"/>
                  </a:ext>
                </a:extLst>
              </p:cNvPr>
              <p:cNvSpPr>
                <a:spLocks noChangeArrowheads="1"/>
              </p:cNvSpPr>
              <p:nvPr/>
            </p:nvSpPr>
            <p:spPr bwMode="auto">
              <a:xfrm>
                <a:off x="4227" y="1657"/>
                <a:ext cx="597"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8" name="Group 173">
                <a:extLst>
                  <a:ext uri="{FF2B5EF4-FFF2-40B4-BE49-F238E27FC236}">
                    <a16:creationId xmlns:a16="http://schemas.microsoft.com/office/drawing/2014/main" id="{BCCEE45E-5E5D-6EB9-1EF1-FB229EF1FB34}"/>
                  </a:ext>
                </a:extLst>
              </p:cNvPr>
              <p:cNvGrpSpPr>
                <a:grpSpLocks/>
              </p:cNvGrpSpPr>
              <p:nvPr/>
            </p:nvGrpSpPr>
            <p:grpSpPr bwMode="auto">
              <a:xfrm>
                <a:off x="4735" y="1627"/>
                <a:ext cx="582" cy="151"/>
                <a:chOff x="614" y="2568"/>
                <a:chExt cx="725" cy="139"/>
              </a:xfrm>
            </p:grpSpPr>
            <p:sp>
              <p:nvSpPr>
                <p:cNvPr id="104" name="AutoShape 174">
                  <a:extLst>
                    <a:ext uri="{FF2B5EF4-FFF2-40B4-BE49-F238E27FC236}">
                      <a16:creationId xmlns:a16="http://schemas.microsoft.com/office/drawing/2014/main" id="{E4FD766C-F84A-B5C3-DEDD-F8727E7FD7CB}"/>
                    </a:ext>
                  </a:extLst>
                </p:cNvPr>
                <p:cNvSpPr>
                  <a:spLocks noChangeArrowheads="1"/>
                </p:cNvSpPr>
                <p:nvPr/>
              </p:nvSpPr>
              <p:spPr bwMode="auto">
                <a:xfrm>
                  <a:off x="616" y="2568"/>
                  <a:ext cx="722" cy="13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5" name="AutoShape 175">
                  <a:extLst>
                    <a:ext uri="{FF2B5EF4-FFF2-40B4-BE49-F238E27FC236}">
                      <a16:creationId xmlns:a16="http://schemas.microsoft.com/office/drawing/2014/main" id="{014C2258-B640-676F-2537-FE1D5010FADF}"/>
                    </a:ext>
                  </a:extLst>
                </p:cNvPr>
                <p:cNvSpPr>
                  <a:spLocks noChangeArrowheads="1"/>
                </p:cNvSpPr>
                <p:nvPr/>
              </p:nvSpPr>
              <p:spPr bwMode="auto">
                <a:xfrm>
                  <a:off x="630" y="2584"/>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9" name="Freeform 176">
                <a:extLst>
                  <a:ext uri="{FF2B5EF4-FFF2-40B4-BE49-F238E27FC236}">
                    <a16:creationId xmlns:a16="http://schemas.microsoft.com/office/drawing/2014/main" id="{8B617895-C140-8185-8DB7-E09F9D7D9DB4}"/>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90" name="Group 177">
                <a:extLst>
                  <a:ext uri="{FF2B5EF4-FFF2-40B4-BE49-F238E27FC236}">
                    <a16:creationId xmlns:a16="http://schemas.microsoft.com/office/drawing/2014/main" id="{BEECE850-80BB-DD32-3F58-BD9D94EC0EFF}"/>
                  </a:ext>
                </a:extLst>
              </p:cNvPr>
              <p:cNvGrpSpPr>
                <a:grpSpLocks/>
              </p:cNvGrpSpPr>
              <p:nvPr/>
            </p:nvGrpSpPr>
            <p:grpSpPr bwMode="auto">
              <a:xfrm>
                <a:off x="4739" y="1327"/>
                <a:ext cx="582" cy="139"/>
                <a:chOff x="614" y="2568"/>
                <a:chExt cx="725" cy="139"/>
              </a:xfrm>
            </p:grpSpPr>
            <p:sp>
              <p:nvSpPr>
                <p:cNvPr id="102" name="AutoShape 178">
                  <a:extLst>
                    <a:ext uri="{FF2B5EF4-FFF2-40B4-BE49-F238E27FC236}">
                      <a16:creationId xmlns:a16="http://schemas.microsoft.com/office/drawing/2014/main" id="{EFD264AF-6945-32D0-44A5-52C893844CE9}"/>
                    </a:ext>
                  </a:extLst>
                </p:cNvPr>
                <p:cNvSpPr>
                  <a:spLocks noChangeArrowheads="1"/>
                </p:cNvSpPr>
                <p:nvPr/>
              </p:nvSpPr>
              <p:spPr bwMode="auto">
                <a:xfrm>
                  <a:off x="611" y="2566"/>
                  <a:ext cx="729"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3" name="AutoShape 179">
                  <a:extLst>
                    <a:ext uri="{FF2B5EF4-FFF2-40B4-BE49-F238E27FC236}">
                      <a16:creationId xmlns:a16="http://schemas.microsoft.com/office/drawing/2014/main" id="{AF6634B3-A4F2-F816-3494-CC9C14A1CBBE}"/>
                    </a:ext>
                  </a:extLst>
                </p:cNvPr>
                <p:cNvSpPr>
                  <a:spLocks noChangeArrowheads="1"/>
                </p:cNvSpPr>
                <p:nvPr/>
              </p:nvSpPr>
              <p:spPr bwMode="auto">
                <a:xfrm>
                  <a:off x="626"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91" name="Rectangle 180">
                <a:extLst>
                  <a:ext uri="{FF2B5EF4-FFF2-40B4-BE49-F238E27FC236}">
                    <a16:creationId xmlns:a16="http://schemas.microsoft.com/office/drawing/2014/main" id="{5604C77F-21BE-7510-5873-72E668480EDC}"/>
                  </a:ext>
                </a:extLst>
              </p:cNvPr>
              <p:cNvSpPr>
                <a:spLocks noChangeArrowheads="1"/>
              </p:cNvSpPr>
              <p:nvPr/>
            </p:nvSpPr>
            <p:spPr bwMode="auto">
              <a:xfrm>
                <a:off x="5252" y="429"/>
                <a:ext cx="64" cy="2289"/>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2" name="Freeform 181">
                <a:extLst>
                  <a:ext uri="{FF2B5EF4-FFF2-40B4-BE49-F238E27FC236}">
                    <a16:creationId xmlns:a16="http://schemas.microsoft.com/office/drawing/2014/main" id="{DA5FF9EE-D037-80B1-C489-9A41052EEB17}"/>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3" name="Freeform 182">
                <a:extLst>
                  <a:ext uri="{FF2B5EF4-FFF2-40B4-BE49-F238E27FC236}">
                    <a16:creationId xmlns:a16="http://schemas.microsoft.com/office/drawing/2014/main" id="{807DAA4C-E949-44ED-0968-92C260381BDE}"/>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4" name="Oval 183">
                <a:extLst>
                  <a:ext uri="{FF2B5EF4-FFF2-40B4-BE49-F238E27FC236}">
                    <a16:creationId xmlns:a16="http://schemas.microsoft.com/office/drawing/2014/main" id="{64DEF641-32A1-E641-4779-6D1756FAECC5}"/>
                  </a:ext>
                </a:extLst>
              </p:cNvPr>
              <p:cNvSpPr>
                <a:spLocks noChangeArrowheads="1"/>
              </p:cNvSpPr>
              <p:nvPr/>
            </p:nvSpPr>
            <p:spPr bwMode="auto">
              <a:xfrm>
                <a:off x="5519" y="2611"/>
                <a:ext cx="46"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Freeform 184">
                <a:extLst>
                  <a:ext uri="{FF2B5EF4-FFF2-40B4-BE49-F238E27FC236}">
                    <a16:creationId xmlns:a16="http://schemas.microsoft.com/office/drawing/2014/main" id="{7DF9DACE-A649-2AAB-4358-174A1D1949CC}"/>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AutoShape 185">
                <a:extLst>
                  <a:ext uri="{FF2B5EF4-FFF2-40B4-BE49-F238E27FC236}">
                    <a16:creationId xmlns:a16="http://schemas.microsoft.com/office/drawing/2014/main" id="{810711E4-83C5-F195-B7C3-7F0C3D192D43}"/>
                  </a:ext>
                </a:extLst>
              </p:cNvPr>
              <p:cNvSpPr>
                <a:spLocks noChangeArrowheads="1"/>
              </p:cNvSpPr>
              <p:nvPr/>
            </p:nvSpPr>
            <p:spPr bwMode="auto">
              <a:xfrm>
                <a:off x="4140" y="2677"/>
                <a:ext cx="1199"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7" name="AutoShape 186">
                <a:extLst>
                  <a:ext uri="{FF2B5EF4-FFF2-40B4-BE49-F238E27FC236}">
                    <a16:creationId xmlns:a16="http://schemas.microsoft.com/office/drawing/2014/main" id="{DA635565-867C-D508-7E89-AF3EF9567F11}"/>
                  </a:ext>
                </a:extLst>
              </p:cNvPr>
              <p:cNvSpPr>
                <a:spLocks noChangeArrowheads="1"/>
              </p:cNvSpPr>
              <p:nvPr/>
            </p:nvSpPr>
            <p:spPr bwMode="auto">
              <a:xfrm>
                <a:off x="4204" y="2712"/>
                <a:ext cx="1072" cy="83"/>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 name="Oval 187">
                <a:extLst>
                  <a:ext uri="{FF2B5EF4-FFF2-40B4-BE49-F238E27FC236}">
                    <a16:creationId xmlns:a16="http://schemas.microsoft.com/office/drawing/2014/main" id="{A9E3B179-E3CE-456F-E21F-02E2D5696B1C}"/>
                  </a:ext>
                </a:extLst>
              </p:cNvPr>
              <p:cNvSpPr>
                <a:spLocks noChangeArrowheads="1"/>
              </p:cNvSpPr>
              <p:nvPr/>
            </p:nvSpPr>
            <p:spPr bwMode="auto">
              <a:xfrm>
                <a:off x="4308" y="2380"/>
                <a:ext cx="156" cy="14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9" name="Oval 188">
                <a:extLst>
                  <a:ext uri="{FF2B5EF4-FFF2-40B4-BE49-F238E27FC236}">
                    <a16:creationId xmlns:a16="http://schemas.microsoft.com/office/drawing/2014/main" id="{B509D277-7BFC-2CA3-ACDD-399098A22B6C}"/>
                  </a:ext>
                </a:extLst>
              </p:cNvPr>
              <p:cNvSpPr>
                <a:spLocks noChangeArrowheads="1"/>
              </p:cNvSpPr>
              <p:nvPr/>
            </p:nvSpPr>
            <p:spPr bwMode="auto">
              <a:xfrm>
                <a:off x="4488" y="2386"/>
                <a:ext cx="156"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00" name="Oval 189">
                <a:extLst>
                  <a:ext uri="{FF2B5EF4-FFF2-40B4-BE49-F238E27FC236}">
                    <a16:creationId xmlns:a16="http://schemas.microsoft.com/office/drawing/2014/main" id="{03FF3EDA-A8EF-7D60-0941-69FE271F1D90}"/>
                  </a:ext>
                </a:extLst>
              </p:cNvPr>
              <p:cNvSpPr>
                <a:spLocks noChangeArrowheads="1"/>
              </p:cNvSpPr>
              <p:nvPr/>
            </p:nvSpPr>
            <p:spPr bwMode="auto">
              <a:xfrm>
                <a:off x="4661" y="2380"/>
                <a:ext cx="156"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1" name="Rectangle 190">
                <a:extLst>
                  <a:ext uri="{FF2B5EF4-FFF2-40B4-BE49-F238E27FC236}">
                    <a16:creationId xmlns:a16="http://schemas.microsoft.com/office/drawing/2014/main" id="{D203BE6B-263E-F33C-7459-84A0BADB2AFC}"/>
                  </a:ext>
                </a:extLst>
              </p:cNvPr>
              <p:cNvSpPr>
                <a:spLocks noChangeArrowheads="1"/>
              </p:cNvSpPr>
              <p:nvPr/>
            </p:nvSpPr>
            <p:spPr bwMode="auto">
              <a:xfrm>
                <a:off x="5061" y="1835"/>
                <a:ext cx="87"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cxnSp>
          <p:nvCxnSpPr>
            <p:cNvPr id="110" name="Google Shape;511;p47">
              <a:extLst>
                <a:ext uri="{FF2B5EF4-FFF2-40B4-BE49-F238E27FC236}">
                  <a16:creationId xmlns:a16="http://schemas.microsoft.com/office/drawing/2014/main" id="{2FC524BF-0ED6-69A8-DDEA-17F68DE364ED}"/>
                </a:ext>
              </a:extLst>
            </p:cNvPr>
            <p:cNvCxnSpPr>
              <a:cxnSpLocks/>
            </p:cNvCxnSpPr>
            <p:nvPr/>
          </p:nvCxnSpPr>
          <p:spPr>
            <a:xfrm>
              <a:off x="1782191" y="4866125"/>
              <a:ext cx="1113639" cy="0"/>
            </a:xfrm>
            <a:prstGeom prst="straightConnector1">
              <a:avLst/>
            </a:prstGeom>
            <a:noFill/>
            <a:ln w="57150" cap="flat" cmpd="sng">
              <a:solidFill>
                <a:srgbClr val="C00000"/>
              </a:solidFill>
              <a:prstDash val="solid"/>
              <a:round/>
              <a:headEnd type="none" w="med" len="med"/>
              <a:tailEnd type="triangle" w="med" len="med"/>
            </a:ln>
          </p:spPr>
        </p:cxnSp>
      </p:grpSp>
      <p:sp>
        <p:nvSpPr>
          <p:cNvPr id="116" name="TextBox 115">
            <a:extLst>
              <a:ext uri="{FF2B5EF4-FFF2-40B4-BE49-F238E27FC236}">
                <a16:creationId xmlns:a16="http://schemas.microsoft.com/office/drawing/2014/main" id="{2C4D7DFD-5C34-728A-8E4B-7FCB47238C21}"/>
              </a:ext>
            </a:extLst>
          </p:cNvPr>
          <p:cNvSpPr txBox="1"/>
          <p:nvPr/>
        </p:nvSpPr>
        <p:spPr>
          <a:xfrm>
            <a:off x="90600" y="5823866"/>
            <a:ext cx="3903980" cy="1006429"/>
          </a:xfrm>
          <a:prstGeom prst="rect">
            <a:avLst/>
          </a:prstGeom>
          <a:noFill/>
        </p:spPr>
        <p:txBody>
          <a:bodyPr wrap="square">
            <a:spAutoFit/>
          </a:bodyPr>
          <a:lstStyle/>
          <a:p>
            <a:pPr marL="58737" marR="0" lvl="0" algn="l" defTabSz="914400" rtl="0" eaLnBrk="1" fontAlgn="auto" latinLnBrk="0" hangingPunct="1">
              <a:lnSpc>
                <a:spcPct val="90000"/>
              </a:lnSpc>
              <a:spcBef>
                <a:spcPts val="1000"/>
              </a:spcBef>
              <a:spcAft>
                <a:spcPts val="0"/>
              </a:spcAft>
              <a:buClrTx/>
              <a:buSzTx/>
              <a:tabLst/>
              <a:defRPr/>
            </a:pPr>
            <a:r>
              <a:rPr kumimoji="0" lang="en-US" altLang="en-US" sz="2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Local DNS server (aka Recursive Resolver) doesn’t strictly belong to hierarchy</a:t>
            </a:r>
          </a:p>
        </p:txBody>
      </p:sp>
    </p:spTree>
    <p:extLst>
      <p:ext uri="{BB962C8B-B14F-4D97-AF65-F5344CB8AC3E}">
        <p14:creationId xmlns:p14="http://schemas.microsoft.com/office/powerpoint/2010/main" val="766675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dissolve">
                                      <p:cBhvr>
                                        <p:cTn id="7" dur="500"/>
                                        <p:tgtEl>
                                          <p:spTgt spid="5">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dissolve">
                                      <p:cBhvr>
                                        <p:cTn id="10" dur="500"/>
                                        <p:tgtEl>
                                          <p:spTgt spid="5">
                                            <p:txEl>
                                              <p:pRg st="2" end="2"/>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dissolve">
                                      <p:cBhvr>
                                        <p:cTn id="13" dur="500"/>
                                        <p:tgtEl>
                                          <p:spTgt spid="5">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Effect transition="in" filter="dissolve">
                                      <p:cBhvr>
                                        <p:cTn id="18" dur="500"/>
                                        <p:tgtEl>
                                          <p:spTgt spid="5">
                                            <p:txEl>
                                              <p:pRg st="4" end="4"/>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animEffect transition="in" filter="dissolve">
                                      <p:cBhvr>
                                        <p:cTn id="21" dur="500"/>
                                        <p:tgtEl>
                                          <p:spTgt spid="5">
                                            <p:txEl>
                                              <p:pRg st="5" end="5"/>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5">
                                            <p:txEl>
                                              <p:pRg st="6" end="6"/>
                                            </p:txEl>
                                          </p:spTgt>
                                        </p:tgtEl>
                                        <p:attrNameLst>
                                          <p:attrName>style.visibility</p:attrName>
                                        </p:attrNameLst>
                                      </p:cBhvr>
                                      <p:to>
                                        <p:strVal val="visible"/>
                                      </p:to>
                                    </p:set>
                                    <p:animEffect transition="in" filter="dissolve">
                                      <p:cBhvr>
                                        <p:cTn id="24"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DNS Name Resolution: Iterated Query</a:t>
            </a:r>
            <a:endParaRPr lang="en-US" sz="4400" dirty="0">
              <a:cs typeface="Calibri" panose="020F0502020204030204" pitchFamily="34" charset="0"/>
            </a:endParaRPr>
          </a:p>
        </p:txBody>
      </p:sp>
      <p:sp>
        <p:nvSpPr>
          <p:cNvPr id="5" name="Rectangle 67">
            <a:extLst>
              <a:ext uri="{FF2B5EF4-FFF2-40B4-BE49-F238E27FC236}">
                <a16:creationId xmlns:a16="http://schemas.microsoft.com/office/drawing/2014/main" id="{B2D75AD3-AD5C-7747-A9C2-6EF45A12CB21}"/>
              </a:ext>
            </a:extLst>
          </p:cNvPr>
          <p:cNvSpPr txBox="1">
            <a:spLocks noChangeArrowheads="1"/>
          </p:cNvSpPr>
          <p:nvPr/>
        </p:nvSpPr>
        <p:spPr>
          <a:xfrm>
            <a:off x="684201" y="1617338"/>
            <a:ext cx="5664200" cy="106113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Example: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host at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engineering.mit.edu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wants IP address for</a:t>
            </a:r>
            <a:r>
              <a:rPr lang="en-US" altLang="en-US" sz="2400" dirty="0">
                <a:solidFill>
                  <a:prstClr val="black"/>
                </a:solidFill>
                <a:latin typeface="Calibri" panose="020F0502020204030204"/>
                <a:ea typeface="ＭＳ Ｐゴシック" panose="020B0600070205080204" pitchFamily="34" charset="-128"/>
              </a:rPr>
              <a:t>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dsac.msoe.edu</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6" name="Rectangle 69">
            <a:extLst>
              <a:ext uri="{FF2B5EF4-FFF2-40B4-BE49-F238E27FC236}">
                <a16:creationId xmlns:a16="http://schemas.microsoft.com/office/drawing/2014/main" id="{EB73751A-16ED-6643-8E9C-1B1DDF5D83E6}"/>
              </a:ext>
            </a:extLst>
          </p:cNvPr>
          <p:cNvSpPr>
            <a:spLocks noChangeArrowheads="1"/>
          </p:cNvSpPr>
          <p:nvPr/>
        </p:nvSpPr>
        <p:spPr bwMode="auto">
          <a:xfrm>
            <a:off x="858433" y="2824122"/>
            <a:ext cx="4183126" cy="261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600"/>
              </a:spcAft>
              <a:buClrTx/>
              <a:buSzTx/>
              <a:buFontTx/>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Iterated query:</a:t>
            </a:r>
          </a:p>
          <a:p>
            <a:pPr marL="514350" marR="0" lvl="0" indent="-457200" algn="l" defTabSz="914400" rtl="0" eaLnBrk="1" fontAlgn="auto" latinLnBrk="0" hangingPunct="1">
              <a:lnSpc>
                <a:spcPct val="85000"/>
              </a:lnSpc>
              <a:spcBef>
                <a:spcPts val="0"/>
              </a:spcBef>
              <a:spcAft>
                <a:spcPts val="600"/>
              </a:spcAft>
              <a:buSzPct val="100000"/>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Contacted server replies with name of server to contact</a:t>
            </a:r>
          </a:p>
          <a:p>
            <a:pPr marL="514350" marR="0" lvl="0" indent="-457200" algn="l" defTabSz="914400" rtl="0" eaLnBrk="1" fontAlgn="auto" latinLnBrk="0" hangingPunct="1">
              <a:lnSpc>
                <a:spcPct val="85000"/>
              </a:lnSpc>
              <a:spcBef>
                <a:spcPts val="0"/>
              </a:spcBef>
              <a:spcAft>
                <a:spcPts val="600"/>
              </a:spcAft>
              <a:buSzPct val="100000"/>
              <a:buFont typeface="Arial" panose="020B0604020202020204" pitchFamily="34" charset="0"/>
              <a:buChar char="•"/>
              <a:tabLst/>
              <a:defRPr/>
            </a:pP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 don’t know this name, but ask this server”</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71" name="Text Box 5">
            <a:extLst>
              <a:ext uri="{FF2B5EF4-FFF2-40B4-BE49-F238E27FC236}">
                <a16:creationId xmlns:a16="http://schemas.microsoft.com/office/drawing/2014/main" id="{5980C4D7-7160-6843-9829-B4A4351B5715}"/>
              </a:ext>
            </a:extLst>
          </p:cNvPr>
          <p:cNvSpPr txBox="1">
            <a:spLocks noChangeArrowheads="1"/>
          </p:cNvSpPr>
          <p:nvPr/>
        </p:nvSpPr>
        <p:spPr bwMode="auto">
          <a:xfrm>
            <a:off x="4953226" y="3848735"/>
            <a:ext cx="185499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requesting host at</a:t>
            </a: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engineering.mit.edu</a:t>
            </a:r>
          </a:p>
        </p:txBody>
      </p:sp>
      <p:sp>
        <p:nvSpPr>
          <p:cNvPr id="172" name="Text Box 6">
            <a:extLst>
              <a:ext uri="{FF2B5EF4-FFF2-40B4-BE49-F238E27FC236}">
                <a16:creationId xmlns:a16="http://schemas.microsoft.com/office/drawing/2014/main" id="{0572A6CE-4DDA-D648-8802-F03C444E2A8C}"/>
              </a:ext>
            </a:extLst>
          </p:cNvPr>
          <p:cNvSpPr txBox="1">
            <a:spLocks noChangeArrowheads="1"/>
          </p:cNvSpPr>
          <p:nvPr/>
        </p:nvSpPr>
        <p:spPr bwMode="auto">
          <a:xfrm>
            <a:off x="10333030" y="4237785"/>
            <a:ext cx="15760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1"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dsac.msoe.edu</a:t>
            </a:r>
          </a:p>
        </p:txBody>
      </p:sp>
      <p:sp>
        <p:nvSpPr>
          <p:cNvPr id="173" name="Text Box 17">
            <a:extLst>
              <a:ext uri="{FF2B5EF4-FFF2-40B4-BE49-F238E27FC236}">
                <a16:creationId xmlns:a16="http://schemas.microsoft.com/office/drawing/2014/main" id="{82144ED5-2C8E-184D-A863-C3B672AB3D76}"/>
              </a:ext>
            </a:extLst>
          </p:cNvPr>
          <p:cNvSpPr txBox="1">
            <a:spLocks noChangeArrowheads="1"/>
          </p:cNvSpPr>
          <p:nvPr/>
        </p:nvSpPr>
        <p:spPr bwMode="auto">
          <a:xfrm>
            <a:off x="8172896" y="1322438"/>
            <a:ext cx="20113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root DNS server</a:t>
            </a: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4" name="Line 18">
            <a:extLst>
              <a:ext uri="{FF2B5EF4-FFF2-40B4-BE49-F238E27FC236}">
                <a16:creationId xmlns:a16="http://schemas.microsoft.com/office/drawing/2014/main" id="{0055E9E5-6DE8-1543-9989-1B8A533D4002}"/>
              </a:ext>
            </a:extLst>
          </p:cNvPr>
          <p:cNvSpPr>
            <a:spLocks noChangeShapeType="1"/>
          </p:cNvSpPr>
          <p:nvPr/>
        </p:nvSpPr>
        <p:spPr bwMode="auto">
          <a:xfrm flipV="1">
            <a:off x="6489235" y="3275781"/>
            <a:ext cx="1196994"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5" name="Line 19">
            <a:extLst>
              <a:ext uri="{FF2B5EF4-FFF2-40B4-BE49-F238E27FC236}">
                <a16:creationId xmlns:a16="http://schemas.microsoft.com/office/drawing/2014/main" id="{5959B616-2817-F149-AD5A-71429EF235D4}"/>
              </a:ext>
            </a:extLst>
          </p:cNvPr>
          <p:cNvSpPr>
            <a:spLocks noChangeShapeType="1"/>
          </p:cNvSpPr>
          <p:nvPr/>
        </p:nvSpPr>
        <p:spPr bwMode="auto">
          <a:xfrm flipV="1">
            <a:off x="7968785" y="2005693"/>
            <a:ext cx="914400" cy="97155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6" name="Line 20">
            <a:extLst>
              <a:ext uri="{FF2B5EF4-FFF2-40B4-BE49-F238E27FC236}">
                <a16:creationId xmlns:a16="http://schemas.microsoft.com/office/drawing/2014/main" id="{6EF73249-815F-C548-BC5E-38E4ACE60E79}"/>
              </a:ext>
            </a:extLst>
          </p:cNvPr>
          <p:cNvSpPr>
            <a:spLocks noChangeShapeType="1"/>
          </p:cNvSpPr>
          <p:nvPr/>
        </p:nvSpPr>
        <p:spPr bwMode="auto">
          <a:xfrm flipV="1">
            <a:off x="8254535" y="3167743"/>
            <a:ext cx="1485900" cy="9525"/>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7" name="Line 21">
            <a:extLst>
              <a:ext uri="{FF2B5EF4-FFF2-40B4-BE49-F238E27FC236}">
                <a16:creationId xmlns:a16="http://schemas.microsoft.com/office/drawing/2014/main" id="{CEC0960C-844E-6F44-83D5-7DC0B1F8A218}"/>
              </a:ext>
            </a:extLst>
          </p:cNvPr>
          <p:cNvSpPr>
            <a:spLocks noChangeShapeType="1"/>
          </p:cNvSpPr>
          <p:nvPr/>
        </p:nvSpPr>
        <p:spPr bwMode="auto">
          <a:xfrm flipH="1" flipV="1">
            <a:off x="8254535" y="3339193"/>
            <a:ext cx="1419225"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8" name="Line 22">
            <a:extLst>
              <a:ext uri="{FF2B5EF4-FFF2-40B4-BE49-F238E27FC236}">
                <a16:creationId xmlns:a16="http://schemas.microsoft.com/office/drawing/2014/main" id="{1CAC12BF-7C29-F640-93E6-9DF1650DE0DF}"/>
              </a:ext>
            </a:extLst>
          </p:cNvPr>
          <p:cNvSpPr>
            <a:spLocks noChangeShapeType="1"/>
          </p:cNvSpPr>
          <p:nvPr/>
        </p:nvSpPr>
        <p:spPr bwMode="auto">
          <a:xfrm flipH="1">
            <a:off x="8178335" y="2234293"/>
            <a:ext cx="733425" cy="76200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9" name="Line 23">
            <a:extLst>
              <a:ext uri="{FF2B5EF4-FFF2-40B4-BE49-F238E27FC236}">
                <a16:creationId xmlns:a16="http://schemas.microsoft.com/office/drawing/2014/main" id="{349E5526-4318-4744-A470-D0A69AD70F4D}"/>
              </a:ext>
            </a:extLst>
          </p:cNvPr>
          <p:cNvSpPr>
            <a:spLocks noChangeShapeType="1"/>
          </p:cNvSpPr>
          <p:nvPr/>
        </p:nvSpPr>
        <p:spPr bwMode="auto">
          <a:xfrm flipH="1">
            <a:off x="6381511" y="3439703"/>
            <a:ext cx="1319232"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80" name="Group 24">
            <a:extLst>
              <a:ext uri="{FF2B5EF4-FFF2-40B4-BE49-F238E27FC236}">
                <a16:creationId xmlns:a16="http://schemas.microsoft.com/office/drawing/2014/main" id="{25257205-98B6-614F-8BDC-3E790117BE54}"/>
              </a:ext>
            </a:extLst>
          </p:cNvPr>
          <p:cNvGrpSpPr>
            <a:grpSpLocks/>
          </p:cNvGrpSpPr>
          <p:nvPr/>
        </p:nvGrpSpPr>
        <p:grpSpPr bwMode="auto">
          <a:xfrm>
            <a:off x="6759111" y="3847199"/>
            <a:ext cx="1876425" cy="554038"/>
            <a:chOff x="2838" y="2132"/>
            <a:chExt cx="1182" cy="349"/>
          </a:xfrm>
        </p:grpSpPr>
        <p:sp>
          <p:nvSpPr>
            <p:cNvPr id="181" name="Rectangle 25">
              <a:extLst>
                <a:ext uri="{FF2B5EF4-FFF2-40B4-BE49-F238E27FC236}">
                  <a16:creationId xmlns:a16="http://schemas.microsoft.com/office/drawing/2014/main" id="{D65FCF25-F405-B748-88E8-10A3D839696D}"/>
                </a:ext>
              </a:extLst>
            </p:cNvPr>
            <p:cNvSpPr>
              <a:spLocks noChangeArrowheads="1"/>
            </p:cNvSpPr>
            <p:nvPr/>
          </p:nvSpPr>
          <p:spPr bwMode="auto">
            <a:xfrm>
              <a:off x="2838" y="2178"/>
              <a:ext cx="1182" cy="3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2" name="Text Box 26">
              <a:extLst>
                <a:ext uri="{FF2B5EF4-FFF2-40B4-BE49-F238E27FC236}">
                  <a16:creationId xmlns:a16="http://schemas.microsoft.com/office/drawing/2014/main" id="{E1FF55F2-CAA3-F740-9BE9-AB0BAF4EF8AA}"/>
                </a:ext>
              </a:extLst>
            </p:cNvPr>
            <p:cNvSpPr txBox="1">
              <a:spLocks noChangeArrowheads="1"/>
            </p:cNvSpPr>
            <p:nvPr/>
          </p:nvSpPr>
          <p:spPr bwMode="auto">
            <a:xfrm>
              <a:off x="2887" y="2132"/>
              <a:ext cx="1085"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local DNS server</a:t>
              </a: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dns.mit.edu</a:t>
              </a:r>
            </a:p>
          </p:txBody>
        </p:sp>
      </p:grpSp>
      <p:sp>
        <p:nvSpPr>
          <p:cNvPr id="183" name="Text Box 27">
            <a:extLst>
              <a:ext uri="{FF2B5EF4-FFF2-40B4-BE49-F238E27FC236}">
                <a16:creationId xmlns:a16="http://schemas.microsoft.com/office/drawing/2014/main" id="{89A9D659-504E-DE4E-B6CF-35E06A82EE2D}"/>
              </a:ext>
            </a:extLst>
          </p:cNvPr>
          <p:cNvSpPr txBox="1">
            <a:spLocks noChangeArrowheads="1"/>
          </p:cNvSpPr>
          <p:nvPr/>
        </p:nvSpPr>
        <p:spPr bwMode="auto">
          <a:xfrm>
            <a:off x="6939499" y="288670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1</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84" name="Text Box 28">
            <a:extLst>
              <a:ext uri="{FF2B5EF4-FFF2-40B4-BE49-F238E27FC236}">
                <a16:creationId xmlns:a16="http://schemas.microsoft.com/office/drawing/2014/main" id="{72F042CE-6C6C-7040-AA88-05028C2434FF}"/>
              </a:ext>
            </a:extLst>
          </p:cNvPr>
          <p:cNvSpPr txBox="1">
            <a:spLocks noChangeArrowheads="1"/>
          </p:cNvSpPr>
          <p:nvPr/>
        </p:nvSpPr>
        <p:spPr bwMode="auto">
          <a:xfrm>
            <a:off x="8108485" y="222318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2</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85" name="Text Box 29">
            <a:extLst>
              <a:ext uri="{FF2B5EF4-FFF2-40B4-BE49-F238E27FC236}">
                <a16:creationId xmlns:a16="http://schemas.microsoft.com/office/drawing/2014/main" id="{E4355CE5-EFAB-8E4F-AA84-68513D8FC7D8}"/>
              </a:ext>
            </a:extLst>
          </p:cNvPr>
          <p:cNvSpPr txBox="1">
            <a:spLocks noChangeArrowheads="1"/>
          </p:cNvSpPr>
          <p:nvPr/>
        </p:nvSpPr>
        <p:spPr bwMode="auto">
          <a:xfrm>
            <a:off x="8546635" y="246130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3</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86" name="Text Box 30">
            <a:extLst>
              <a:ext uri="{FF2B5EF4-FFF2-40B4-BE49-F238E27FC236}">
                <a16:creationId xmlns:a16="http://schemas.microsoft.com/office/drawing/2014/main" id="{61F544AA-6B92-714B-84C9-4070F63CA344}"/>
              </a:ext>
            </a:extLst>
          </p:cNvPr>
          <p:cNvSpPr txBox="1">
            <a:spLocks noChangeArrowheads="1"/>
          </p:cNvSpPr>
          <p:nvPr/>
        </p:nvSpPr>
        <p:spPr bwMode="auto">
          <a:xfrm>
            <a:off x="8860960" y="287088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4</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87" name="Text Box 31">
            <a:extLst>
              <a:ext uri="{FF2B5EF4-FFF2-40B4-BE49-F238E27FC236}">
                <a16:creationId xmlns:a16="http://schemas.microsoft.com/office/drawing/2014/main" id="{30095F9A-09A7-2540-B6C0-0D32BAB456CE}"/>
              </a:ext>
            </a:extLst>
          </p:cNvPr>
          <p:cNvSpPr txBox="1">
            <a:spLocks noChangeArrowheads="1"/>
          </p:cNvSpPr>
          <p:nvPr/>
        </p:nvSpPr>
        <p:spPr bwMode="auto">
          <a:xfrm>
            <a:off x="8891123" y="335824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5</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88" name="Text Box 32">
            <a:extLst>
              <a:ext uri="{FF2B5EF4-FFF2-40B4-BE49-F238E27FC236}">
                <a16:creationId xmlns:a16="http://schemas.microsoft.com/office/drawing/2014/main" id="{AB8F7B88-B6E0-EF40-999E-00C192F32485}"/>
              </a:ext>
            </a:extLst>
          </p:cNvPr>
          <p:cNvSpPr txBox="1">
            <a:spLocks noChangeArrowheads="1"/>
          </p:cNvSpPr>
          <p:nvPr/>
        </p:nvSpPr>
        <p:spPr bwMode="auto">
          <a:xfrm>
            <a:off x="9488023" y="439805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6</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89" name="Text Box 60">
            <a:extLst>
              <a:ext uri="{FF2B5EF4-FFF2-40B4-BE49-F238E27FC236}">
                <a16:creationId xmlns:a16="http://schemas.microsoft.com/office/drawing/2014/main" id="{9260634C-BE01-F74D-BF1A-744B534DD2DB}"/>
              </a:ext>
            </a:extLst>
          </p:cNvPr>
          <p:cNvSpPr txBox="1">
            <a:spLocks noChangeArrowheads="1"/>
          </p:cNvSpPr>
          <p:nvPr/>
        </p:nvSpPr>
        <p:spPr bwMode="auto">
          <a:xfrm>
            <a:off x="8921285" y="5214030"/>
            <a:ext cx="23971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authoritative DNS server</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lvl="0" algn="ctr" eaLnBrk="0" fontAlgn="base" hangingPunct="0">
              <a:spcBef>
                <a:spcPct val="0"/>
              </a:spcBef>
              <a:spcAft>
                <a:spcPct val="0"/>
              </a:spcAft>
              <a:defRPr/>
            </a:pPr>
            <a:r>
              <a:rPr kumimoji="0" lang="en-US" altLang="en-US" sz="16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dsac.msoe.edu</a:t>
            </a: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0" name="Text Box 61">
            <a:extLst>
              <a:ext uri="{FF2B5EF4-FFF2-40B4-BE49-F238E27FC236}">
                <a16:creationId xmlns:a16="http://schemas.microsoft.com/office/drawing/2014/main" id="{6085ED00-1F5E-0643-A173-419315EE3A9F}"/>
              </a:ext>
            </a:extLst>
          </p:cNvPr>
          <p:cNvSpPr txBox="1">
            <a:spLocks noChangeArrowheads="1"/>
          </p:cNvSpPr>
          <p:nvPr/>
        </p:nvSpPr>
        <p:spPr bwMode="auto">
          <a:xfrm>
            <a:off x="8860960" y="442821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7</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91" name="Text Box 62">
            <a:extLst>
              <a:ext uri="{FF2B5EF4-FFF2-40B4-BE49-F238E27FC236}">
                <a16:creationId xmlns:a16="http://schemas.microsoft.com/office/drawing/2014/main" id="{31298658-8B21-7440-B171-ED6F192C91C6}"/>
              </a:ext>
            </a:extLst>
          </p:cNvPr>
          <p:cNvSpPr txBox="1">
            <a:spLocks noChangeArrowheads="1"/>
          </p:cNvSpPr>
          <p:nvPr/>
        </p:nvSpPr>
        <p:spPr bwMode="auto">
          <a:xfrm>
            <a:off x="6940022" y="3470502"/>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8</a:t>
            </a:r>
            <a:endParaRPr kumimoji="0" lang="en-US" altLang="en-US" sz="2400" b="0" i="0" u="none" strike="noStrike" kern="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sp>
        <p:nvSpPr>
          <p:cNvPr id="192" name="Line 63">
            <a:extLst>
              <a:ext uri="{FF2B5EF4-FFF2-40B4-BE49-F238E27FC236}">
                <a16:creationId xmlns:a16="http://schemas.microsoft.com/office/drawing/2014/main" id="{10C66233-6CC9-374E-8305-B82B34B37643}"/>
              </a:ext>
            </a:extLst>
          </p:cNvPr>
          <p:cNvSpPr>
            <a:spLocks noChangeShapeType="1"/>
          </p:cNvSpPr>
          <p:nvPr/>
        </p:nvSpPr>
        <p:spPr bwMode="auto">
          <a:xfrm>
            <a:off x="8187860" y="3499530"/>
            <a:ext cx="1493838" cy="1314450"/>
          </a:xfrm>
          <a:prstGeom prst="line">
            <a:avLst/>
          </a:prstGeom>
          <a:noFill/>
          <a:ln w="254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3" name="Line 64">
            <a:extLst>
              <a:ext uri="{FF2B5EF4-FFF2-40B4-BE49-F238E27FC236}">
                <a16:creationId xmlns:a16="http://schemas.microsoft.com/office/drawing/2014/main" id="{BAF9BA4A-0868-F849-BA68-582D117DCF0D}"/>
              </a:ext>
            </a:extLst>
          </p:cNvPr>
          <p:cNvSpPr>
            <a:spLocks noChangeShapeType="1"/>
          </p:cNvSpPr>
          <p:nvPr/>
        </p:nvSpPr>
        <p:spPr bwMode="auto">
          <a:xfrm flipH="1" flipV="1">
            <a:off x="8148173" y="3624943"/>
            <a:ext cx="1493837" cy="1301750"/>
          </a:xfrm>
          <a:prstGeom prst="line">
            <a:avLst/>
          </a:prstGeom>
          <a:noFill/>
          <a:ln w="254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4" name="Text Box 65">
            <a:extLst>
              <a:ext uri="{FF2B5EF4-FFF2-40B4-BE49-F238E27FC236}">
                <a16:creationId xmlns:a16="http://schemas.microsoft.com/office/drawing/2014/main" id="{8797BCED-3D71-5A4B-8881-BCE8144E87C2}"/>
              </a:ext>
            </a:extLst>
          </p:cNvPr>
          <p:cNvSpPr txBox="1">
            <a:spLocks noChangeArrowheads="1"/>
          </p:cNvSpPr>
          <p:nvPr/>
        </p:nvSpPr>
        <p:spPr bwMode="auto">
          <a:xfrm>
            <a:off x="8974583" y="2608490"/>
            <a:ext cx="20113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TLD DNS server</a:t>
            </a: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95" name="Group 86">
            <a:extLst>
              <a:ext uri="{FF2B5EF4-FFF2-40B4-BE49-F238E27FC236}">
                <a16:creationId xmlns:a16="http://schemas.microsoft.com/office/drawing/2014/main" id="{75CA10E2-E46A-8244-A966-A51F3D99FE14}"/>
              </a:ext>
            </a:extLst>
          </p:cNvPr>
          <p:cNvGrpSpPr>
            <a:grpSpLocks/>
          </p:cNvGrpSpPr>
          <p:nvPr/>
        </p:nvGrpSpPr>
        <p:grpSpPr bwMode="auto">
          <a:xfrm flipH="1">
            <a:off x="10659797" y="4619665"/>
            <a:ext cx="787391" cy="614055"/>
            <a:chOff x="-44" y="1473"/>
            <a:chExt cx="981" cy="1105"/>
          </a:xfrm>
        </p:grpSpPr>
        <p:pic>
          <p:nvPicPr>
            <p:cNvPr id="196" name="Picture 87" descr="desktop_computer_stylized_medium">
              <a:extLst>
                <a:ext uri="{FF2B5EF4-FFF2-40B4-BE49-F238E27FC236}">
                  <a16:creationId xmlns:a16="http://schemas.microsoft.com/office/drawing/2014/main" id="{71723812-15F4-5248-BF42-895CB471AE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7" name="Freeform 88">
              <a:extLst>
                <a:ext uri="{FF2B5EF4-FFF2-40B4-BE49-F238E27FC236}">
                  <a16:creationId xmlns:a16="http://schemas.microsoft.com/office/drawing/2014/main" id="{4B3596A6-2AD0-DC45-8E8C-2A75454E7B16}"/>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98" name="Group 89">
            <a:extLst>
              <a:ext uri="{FF2B5EF4-FFF2-40B4-BE49-F238E27FC236}">
                <a16:creationId xmlns:a16="http://schemas.microsoft.com/office/drawing/2014/main" id="{06C72D69-BC87-104E-99A1-1FE2BBFDF3AB}"/>
              </a:ext>
            </a:extLst>
          </p:cNvPr>
          <p:cNvGrpSpPr>
            <a:grpSpLocks/>
          </p:cNvGrpSpPr>
          <p:nvPr/>
        </p:nvGrpSpPr>
        <p:grpSpPr bwMode="auto">
          <a:xfrm>
            <a:off x="5483417" y="3053085"/>
            <a:ext cx="883580" cy="766310"/>
            <a:chOff x="-44" y="1473"/>
            <a:chExt cx="981" cy="1105"/>
          </a:xfrm>
        </p:grpSpPr>
        <p:pic>
          <p:nvPicPr>
            <p:cNvPr id="199" name="Picture 90" descr="desktop_computer_stylized_medium">
              <a:extLst>
                <a:ext uri="{FF2B5EF4-FFF2-40B4-BE49-F238E27FC236}">
                  <a16:creationId xmlns:a16="http://schemas.microsoft.com/office/drawing/2014/main" id="{8EECB2CE-1B4C-2746-A9F6-C35C4B9609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0" name="Freeform 91">
              <a:extLst>
                <a:ext uri="{FF2B5EF4-FFF2-40B4-BE49-F238E27FC236}">
                  <a16:creationId xmlns:a16="http://schemas.microsoft.com/office/drawing/2014/main" id="{D65AC841-4780-A94B-9F97-1107EEE46B3D}"/>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01" name="Group 125">
            <a:extLst>
              <a:ext uri="{FF2B5EF4-FFF2-40B4-BE49-F238E27FC236}">
                <a16:creationId xmlns:a16="http://schemas.microsoft.com/office/drawing/2014/main" id="{724CF7FE-3214-0741-AD8D-7483973CF725}"/>
              </a:ext>
            </a:extLst>
          </p:cNvPr>
          <p:cNvGrpSpPr>
            <a:grpSpLocks/>
          </p:cNvGrpSpPr>
          <p:nvPr/>
        </p:nvGrpSpPr>
        <p:grpSpPr bwMode="auto">
          <a:xfrm>
            <a:off x="9794410" y="4528230"/>
            <a:ext cx="390525" cy="641350"/>
            <a:chOff x="4140" y="429"/>
            <a:chExt cx="1425" cy="2396"/>
          </a:xfrm>
        </p:grpSpPr>
        <p:sp>
          <p:nvSpPr>
            <p:cNvPr id="202" name="Freeform 126">
              <a:extLst>
                <a:ext uri="{FF2B5EF4-FFF2-40B4-BE49-F238E27FC236}">
                  <a16:creationId xmlns:a16="http://schemas.microsoft.com/office/drawing/2014/main" id="{430EC70E-0BF7-F44C-8DEF-C9A33626DAB5}"/>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3" name="Rectangle 127">
              <a:extLst>
                <a:ext uri="{FF2B5EF4-FFF2-40B4-BE49-F238E27FC236}">
                  <a16:creationId xmlns:a16="http://schemas.microsoft.com/office/drawing/2014/main" id="{6C288CD0-9AED-1548-9DEF-7CF8E72A0FEF}"/>
                </a:ext>
              </a:extLst>
            </p:cNvPr>
            <p:cNvSpPr>
              <a:spLocks noChangeArrowheads="1"/>
            </p:cNvSpPr>
            <p:nvPr/>
          </p:nvSpPr>
          <p:spPr bwMode="auto">
            <a:xfrm>
              <a:off x="4204"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4" name="Freeform 128">
              <a:extLst>
                <a:ext uri="{FF2B5EF4-FFF2-40B4-BE49-F238E27FC236}">
                  <a16:creationId xmlns:a16="http://schemas.microsoft.com/office/drawing/2014/main" id="{08551039-74E8-F44D-8449-133AF9BF857D}"/>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5" name="Freeform 129">
              <a:extLst>
                <a:ext uri="{FF2B5EF4-FFF2-40B4-BE49-F238E27FC236}">
                  <a16:creationId xmlns:a16="http://schemas.microsoft.com/office/drawing/2014/main" id="{D41FFC6C-D9E1-E74F-BF15-4894E774B64F}"/>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6" name="Rectangle 130">
              <a:extLst>
                <a:ext uri="{FF2B5EF4-FFF2-40B4-BE49-F238E27FC236}">
                  <a16:creationId xmlns:a16="http://schemas.microsoft.com/office/drawing/2014/main" id="{4AA5429D-F727-884E-96D1-EA63944E58CA}"/>
                </a:ext>
              </a:extLst>
            </p:cNvPr>
            <p:cNvSpPr>
              <a:spLocks noChangeArrowheads="1"/>
            </p:cNvSpPr>
            <p:nvPr/>
          </p:nvSpPr>
          <p:spPr bwMode="auto">
            <a:xfrm>
              <a:off x="4210" y="696"/>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07" name="Group 131">
              <a:extLst>
                <a:ext uri="{FF2B5EF4-FFF2-40B4-BE49-F238E27FC236}">
                  <a16:creationId xmlns:a16="http://schemas.microsoft.com/office/drawing/2014/main" id="{9CE31B7B-945E-6B44-B446-849D24418C13}"/>
                </a:ext>
              </a:extLst>
            </p:cNvPr>
            <p:cNvGrpSpPr>
              <a:grpSpLocks/>
            </p:cNvGrpSpPr>
            <p:nvPr/>
          </p:nvGrpSpPr>
          <p:grpSpPr bwMode="auto">
            <a:xfrm>
              <a:off x="4749" y="668"/>
              <a:ext cx="581" cy="145"/>
              <a:chOff x="614" y="2568"/>
              <a:chExt cx="725" cy="139"/>
            </a:xfrm>
          </p:grpSpPr>
          <p:sp>
            <p:nvSpPr>
              <p:cNvPr id="232" name="AutoShape 132">
                <a:extLst>
                  <a:ext uri="{FF2B5EF4-FFF2-40B4-BE49-F238E27FC236}">
                    <a16:creationId xmlns:a16="http://schemas.microsoft.com/office/drawing/2014/main" id="{FA2F0F31-D516-1C43-8236-266B26AEF700}"/>
                  </a:ext>
                </a:extLst>
              </p:cNvPr>
              <p:cNvSpPr>
                <a:spLocks noChangeArrowheads="1"/>
              </p:cNvSpPr>
              <p:nvPr/>
            </p:nvSpPr>
            <p:spPr bwMode="auto">
              <a:xfrm>
                <a:off x="613" y="2566"/>
                <a:ext cx="723"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3" name="AutoShape 133">
                <a:extLst>
                  <a:ext uri="{FF2B5EF4-FFF2-40B4-BE49-F238E27FC236}">
                    <a16:creationId xmlns:a16="http://schemas.microsoft.com/office/drawing/2014/main" id="{6EC2A0FB-C35E-CF41-B938-33BF0264E127}"/>
                  </a:ext>
                </a:extLst>
              </p:cNvPr>
              <p:cNvSpPr>
                <a:spLocks noChangeArrowheads="1"/>
              </p:cNvSpPr>
              <p:nvPr/>
            </p:nvSpPr>
            <p:spPr bwMode="auto">
              <a:xfrm>
                <a:off x="628" y="2583"/>
                <a:ext cx="694"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08" name="Rectangle 134">
              <a:extLst>
                <a:ext uri="{FF2B5EF4-FFF2-40B4-BE49-F238E27FC236}">
                  <a16:creationId xmlns:a16="http://schemas.microsoft.com/office/drawing/2014/main" id="{9298A98E-EDE0-4B4A-9352-BE6FAE720E5D}"/>
                </a:ext>
              </a:extLst>
            </p:cNvPr>
            <p:cNvSpPr>
              <a:spLocks noChangeArrowheads="1"/>
            </p:cNvSpPr>
            <p:nvPr/>
          </p:nvSpPr>
          <p:spPr bwMode="auto">
            <a:xfrm>
              <a:off x="4227" y="1016"/>
              <a:ext cx="591"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09" name="Group 135">
              <a:extLst>
                <a:ext uri="{FF2B5EF4-FFF2-40B4-BE49-F238E27FC236}">
                  <a16:creationId xmlns:a16="http://schemas.microsoft.com/office/drawing/2014/main" id="{C311DEB1-8226-3E48-8DA5-613E18CFA3A2}"/>
                </a:ext>
              </a:extLst>
            </p:cNvPr>
            <p:cNvGrpSpPr>
              <a:grpSpLocks/>
            </p:cNvGrpSpPr>
            <p:nvPr/>
          </p:nvGrpSpPr>
          <p:grpSpPr bwMode="auto">
            <a:xfrm>
              <a:off x="4747" y="994"/>
              <a:ext cx="581" cy="134"/>
              <a:chOff x="614" y="2568"/>
              <a:chExt cx="725" cy="139"/>
            </a:xfrm>
          </p:grpSpPr>
          <p:sp>
            <p:nvSpPr>
              <p:cNvPr id="230" name="AutoShape 136">
                <a:extLst>
                  <a:ext uri="{FF2B5EF4-FFF2-40B4-BE49-F238E27FC236}">
                    <a16:creationId xmlns:a16="http://schemas.microsoft.com/office/drawing/2014/main" id="{E45D0285-F719-874E-AD50-E3F288277507}"/>
                  </a:ext>
                </a:extLst>
              </p:cNvPr>
              <p:cNvSpPr>
                <a:spLocks noChangeArrowheads="1"/>
              </p:cNvSpPr>
              <p:nvPr/>
            </p:nvSpPr>
            <p:spPr bwMode="auto">
              <a:xfrm>
                <a:off x="616" y="2566"/>
                <a:ext cx="723" cy="14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1" name="AutoShape 137">
                <a:extLst>
                  <a:ext uri="{FF2B5EF4-FFF2-40B4-BE49-F238E27FC236}">
                    <a16:creationId xmlns:a16="http://schemas.microsoft.com/office/drawing/2014/main" id="{BE16FE12-6196-EF46-A169-0C2675EA5172}"/>
                  </a:ext>
                </a:extLst>
              </p:cNvPr>
              <p:cNvSpPr>
                <a:spLocks noChangeArrowheads="1"/>
              </p:cNvSpPr>
              <p:nvPr/>
            </p:nvSpPr>
            <p:spPr bwMode="auto">
              <a:xfrm>
                <a:off x="630" y="2585"/>
                <a:ext cx="694"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10" name="Rectangle 138">
              <a:extLst>
                <a:ext uri="{FF2B5EF4-FFF2-40B4-BE49-F238E27FC236}">
                  <a16:creationId xmlns:a16="http://schemas.microsoft.com/office/drawing/2014/main" id="{A7531C2D-AF11-3642-9C87-3B93BEDD636F}"/>
                </a:ext>
              </a:extLst>
            </p:cNvPr>
            <p:cNvSpPr>
              <a:spLocks noChangeArrowheads="1"/>
            </p:cNvSpPr>
            <p:nvPr/>
          </p:nvSpPr>
          <p:spPr bwMode="auto">
            <a:xfrm>
              <a:off x="4215" y="1360"/>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1" name="Rectangle 139">
              <a:extLst>
                <a:ext uri="{FF2B5EF4-FFF2-40B4-BE49-F238E27FC236}">
                  <a16:creationId xmlns:a16="http://schemas.microsoft.com/office/drawing/2014/main" id="{06C1B7AC-1454-714B-A50F-7F9B42D779C2}"/>
                </a:ext>
              </a:extLst>
            </p:cNvPr>
            <p:cNvSpPr>
              <a:spLocks noChangeArrowheads="1"/>
            </p:cNvSpPr>
            <p:nvPr/>
          </p:nvSpPr>
          <p:spPr bwMode="auto">
            <a:xfrm>
              <a:off x="4227" y="1657"/>
              <a:ext cx="597"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12" name="Group 140">
              <a:extLst>
                <a:ext uri="{FF2B5EF4-FFF2-40B4-BE49-F238E27FC236}">
                  <a16:creationId xmlns:a16="http://schemas.microsoft.com/office/drawing/2014/main" id="{86C62EBF-E65E-4D4B-884D-BA39C6A8B294}"/>
                </a:ext>
              </a:extLst>
            </p:cNvPr>
            <p:cNvGrpSpPr>
              <a:grpSpLocks/>
            </p:cNvGrpSpPr>
            <p:nvPr/>
          </p:nvGrpSpPr>
          <p:grpSpPr bwMode="auto">
            <a:xfrm>
              <a:off x="4735" y="1627"/>
              <a:ext cx="582" cy="151"/>
              <a:chOff x="614" y="2568"/>
              <a:chExt cx="725" cy="139"/>
            </a:xfrm>
          </p:grpSpPr>
          <p:sp>
            <p:nvSpPr>
              <p:cNvPr id="228" name="AutoShape 141">
                <a:extLst>
                  <a:ext uri="{FF2B5EF4-FFF2-40B4-BE49-F238E27FC236}">
                    <a16:creationId xmlns:a16="http://schemas.microsoft.com/office/drawing/2014/main" id="{A3E87978-B7EB-E644-B3A8-D8FDCF7E81E2}"/>
                  </a:ext>
                </a:extLst>
              </p:cNvPr>
              <p:cNvSpPr>
                <a:spLocks noChangeArrowheads="1"/>
              </p:cNvSpPr>
              <p:nvPr/>
            </p:nvSpPr>
            <p:spPr bwMode="auto">
              <a:xfrm>
                <a:off x="616" y="2568"/>
                <a:ext cx="722" cy="13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9" name="AutoShape 142">
                <a:extLst>
                  <a:ext uri="{FF2B5EF4-FFF2-40B4-BE49-F238E27FC236}">
                    <a16:creationId xmlns:a16="http://schemas.microsoft.com/office/drawing/2014/main" id="{91E0D4CD-2CBB-DD47-8147-BE3E03C9659B}"/>
                  </a:ext>
                </a:extLst>
              </p:cNvPr>
              <p:cNvSpPr>
                <a:spLocks noChangeArrowheads="1"/>
              </p:cNvSpPr>
              <p:nvPr/>
            </p:nvSpPr>
            <p:spPr bwMode="auto">
              <a:xfrm>
                <a:off x="630" y="2584"/>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13" name="Freeform 143">
              <a:extLst>
                <a:ext uri="{FF2B5EF4-FFF2-40B4-BE49-F238E27FC236}">
                  <a16:creationId xmlns:a16="http://schemas.microsoft.com/office/drawing/2014/main" id="{0D682965-15A3-3541-A789-479A4780020A}"/>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14" name="Group 144">
              <a:extLst>
                <a:ext uri="{FF2B5EF4-FFF2-40B4-BE49-F238E27FC236}">
                  <a16:creationId xmlns:a16="http://schemas.microsoft.com/office/drawing/2014/main" id="{0C8D690A-21E1-4146-83A5-7245CAEA839E}"/>
                </a:ext>
              </a:extLst>
            </p:cNvPr>
            <p:cNvGrpSpPr>
              <a:grpSpLocks/>
            </p:cNvGrpSpPr>
            <p:nvPr/>
          </p:nvGrpSpPr>
          <p:grpSpPr bwMode="auto">
            <a:xfrm>
              <a:off x="4739" y="1327"/>
              <a:ext cx="582" cy="139"/>
              <a:chOff x="614" y="2568"/>
              <a:chExt cx="725" cy="139"/>
            </a:xfrm>
          </p:grpSpPr>
          <p:sp>
            <p:nvSpPr>
              <p:cNvPr id="226" name="AutoShape 145">
                <a:extLst>
                  <a:ext uri="{FF2B5EF4-FFF2-40B4-BE49-F238E27FC236}">
                    <a16:creationId xmlns:a16="http://schemas.microsoft.com/office/drawing/2014/main" id="{7C15E592-E347-A846-AC9F-C18905A61775}"/>
                  </a:ext>
                </a:extLst>
              </p:cNvPr>
              <p:cNvSpPr>
                <a:spLocks noChangeArrowheads="1"/>
              </p:cNvSpPr>
              <p:nvPr/>
            </p:nvSpPr>
            <p:spPr bwMode="auto">
              <a:xfrm>
                <a:off x="611" y="2566"/>
                <a:ext cx="729"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7" name="AutoShape 146">
                <a:extLst>
                  <a:ext uri="{FF2B5EF4-FFF2-40B4-BE49-F238E27FC236}">
                    <a16:creationId xmlns:a16="http://schemas.microsoft.com/office/drawing/2014/main" id="{3D0AF765-217C-594C-B21E-869B0884A29A}"/>
                  </a:ext>
                </a:extLst>
              </p:cNvPr>
              <p:cNvSpPr>
                <a:spLocks noChangeArrowheads="1"/>
              </p:cNvSpPr>
              <p:nvPr/>
            </p:nvSpPr>
            <p:spPr bwMode="auto">
              <a:xfrm>
                <a:off x="626"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15" name="Rectangle 147">
              <a:extLst>
                <a:ext uri="{FF2B5EF4-FFF2-40B4-BE49-F238E27FC236}">
                  <a16:creationId xmlns:a16="http://schemas.microsoft.com/office/drawing/2014/main" id="{4C635A33-8E8F-7D44-92DB-F6F09BFD8CF3}"/>
                </a:ext>
              </a:extLst>
            </p:cNvPr>
            <p:cNvSpPr>
              <a:spLocks noChangeArrowheads="1"/>
            </p:cNvSpPr>
            <p:nvPr/>
          </p:nvSpPr>
          <p:spPr bwMode="auto">
            <a:xfrm>
              <a:off x="5252" y="429"/>
              <a:ext cx="64" cy="2289"/>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6" name="Freeform 148">
              <a:extLst>
                <a:ext uri="{FF2B5EF4-FFF2-40B4-BE49-F238E27FC236}">
                  <a16:creationId xmlns:a16="http://schemas.microsoft.com/office/drawing/2014/main" id="{4B503159-D00F-C640-B18B-72CCC4B303A9}"/>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7" name="Freeform 149">
              <a:extLst>
                <a:ext uri="{FF2B5EF4-FFF2-40B4-BE49-F238E27FC236}">
                  <a16:creationId xmlns:a16="http://schemas.microsoft.com/office/drawing/2014/main" id="{83A278D9-086C-BE47-BA0D-A1CB49B9DC52}"/>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8" name="Oval 150">
              <a:extLst>
                <a:ext uri="{FF2B5EF4-FFF2-40B4-BE49-F238E27FC236}">
                  <a16:creationId xmlns:a16="http://schemas.microsoft.com/office/drawing/2014/main" id="{71B59C46-33D8-EC4A-A0CA-4AF6B7EE7363}"/>
                </a:ext>
              </a:extLst>
            </p:cNvPr>
            <p:cNvSpPr>
              <a:spLocks noChangeArrowheads="1"/>
            </p:cNvSpPr>
            <p:nvPr/>
          </p:nvSpPr>
          <p:spPr bwMode="auto">
            <a:xfrm>
              <a:off x="5519" y="2611"/>
              <a:ext cx="46"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9" name="Freeform 151">
              <a:extLst>
                <a:ext uri="{FF2B5EF4-FFF2-40B4-BE49-F238E27FC236}">
                  <a16:creationId xmlns:a16="http://schemas.microsoft.com/office/drawing/2014/main" id="{3C577FAB-12B4-CA48-B90D-D923F716873D}"/>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0" name="AutoShape 152">
              <a:extLst>
                <a:ext uri="{FF2B5EF4-FFF2-40B4-BE49-F238E27FC236}">
                  <a16:creationId xmlns:a16="http://schemas.microsoft.com/office/drawing/2014/main" id="{0744BC6B-A26A-7E49-A677-B90EDB08F57C}"/>
                </a:ext>
              </a:extLst>
            </p:cNvPr>
            <p:cNvSpPr>
              <a:spLocks noChangeArrowheads="1"/>
            </p:cNvSpPr>
            <p:nvPr/>
          </p:nvSpPr>
          <p:spPr bwMode="auto">
            <a:xfrm>
              <a:off x="4140" y="2677"/>
              <a:ext cx="1199"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1" name="AutoShape 153">
              <a:extLst>
                <a:ext uri="{FF2B5EF4-FFF2-40B4-BE49-F238E27FC236}">
                  <a16:creationId xmlns:a16="http://schemas.microsoft.com/office/drawing/2014/main" id="{574AC8BD-9D1C-FB42-BD21-1A786B862E34}"/>
                </a:ext>
              </a:extLst>
            </p:cNvPr>
            <p:cNvSpPr>
              <a:spLocks noChangeArrowheads="1"/>
            </p:cNvSpPr>
            <p:nvPr/>
          </p:nvSpPr>
          <p:spPr bwMode="auto">
            <a:xfrm>
              <a:off x="4204" y="2712"/>
              <a:ext cx="1072" cy="83"/>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2" name="Oval 154">
              <a:extLst>
                <a:ext uri="{FF2B5EF4-FFF2-40B4-BE49-F238E27FC236}">
                  <a16:creationId xmlns:a16="http://schemas.microsoft.com/office/drawing/2014/main" id="{5AFE8D2C-0569-3047-AB73-8A9B37AF1F22}"/>
                </a:ext>
              </a:extLst>
            </p:cNvPr>
            <p:cNvSpPr>
              <a:spLocks noChangeArrowheads="1"/>
            </p:cNvSpPr>
            <p:nvPr/>
          </p:nvSpPr>
          <p:spPr bwMode="auto">
            <a:xfrm>
              <a:off x="4308" y="2380"/>
              <a:ext cx="156" cy="14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3" name="Oval 155">
              <a:extLst>
                <a:ext uri="{FF2B5EF4-FFF2-40B4-BE49-F238E27FC236}">
                  <a16:creationId xmlns:a16="http://schemas.microsoft.com/office/drawing/2014/main" id="{83B0123B-44CF-B845-B272-496DEB2388A1}"/>
                </a:ext>
              </a:extLst>
            </p:cNvPr>
            <p:cNvSpPr>
              <a:spLocks noChangeArrowheads="1"/>
            </p:cNvSpPr>
            <p:nvPr/>
          </p:nvSpPr>
          <p:spPr bwMode="auto">
            <a:xfrm>
              <a:off x="4488" y="2386"/>
              <a:ext cx="156"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24" name="Oval 156">
              <a:extLst>
                <a:ext uri="{FF2B5EF4-FFF2-40B4-BE49-F238E27FC236}">
                  <a16:creationId xmlns:a16="http://schemas.microsoft.com/office/drawing/2014/main" id="{FF7ABF78-07FF-FD40-9233-2EC92E7CBA90}"/>
                </a:ext>
              </a:extLst>
            </p:cNvPr>
            <p:cNvSpPr>
              <a:spLocks noChangeArrowheads="1"/>
            </p:cNvSpPr>
            <p:nvPr/>
          </p:nvSpPr>
          <p:spPr bwMode="auto">
            <a:xfrm>
              <a:off x="4661" y="2380"/>
              <a:ext cx="156"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5" name="Rectangle 157">
              <a:extLst>
                <a:ext uri="{FF2B5EF4-FFF2-40B4-BE49-F238E27FC236}">
                  <a16:creationId xmlns:a16="http://schemas.microsoft.com/office/drawing/2014/main" id="{D41F5C27-E8BB-6440-8D30-59C3961E0B15}"/>
                </a:ext>
              </a:extLst>
            </p:cNvPr>
            <p:cNvSpPr>
              <a:spLocks noChangeArrowheads="1"/>
            </p:cNvSpPr>
            <p:nvPr/>
          </p:nvSpPr>
          <p:spPr bwMode="auto">
            <a:xfrm>
              <a:off x="5061" y="1835"/>
              <a:ext cx="87"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34" name="Group 158">
            <a:extLst>
              <a:ext uri="{FF2B5EF4-FFF2-40B4-BE49-F238E27FC236}">
                <a16:creationId xmlns:a16="http://schemas.microsoft.com/office/drawing/2014/main" id="{AEB56919-E56B-7E4E-A7D7-98A288C3B252}"/>
              </a:ext>
            </a:extLst>
          </p:cNvPr>
          <p:cNvGrpSpPr>
            <a:grpSpLocks/>
          </p:cNvGrpSpPr>
          <p:nvPr/>
        </p:nvGrpSpPr>
        <p:grpSpPr bwMode="auto">
          <a:xfrm>
            <a:off x="7790985" y="3015343"/>
            <a:ext cx="390525" cy="641350"/>
            <a:chOff x="4140" y="429"/>
            <a:chExt cx="1425" cy="2396"/>
          </a:xfrm>
        </p:grpSpPr>
        <p:sp>
          <p:nvSpPr>
            <p:cNvPr id="235" name="Freeform 159">
              <a:extLst>
                <a:ext uri="{FF2B5EF4-FFF2-40B4-BE49-F238E27FC236}">
                  <a16:creationId xmlns:a16="http://schemas.microsoft.com/office/drawing/2014/main" id="{86964676-09BA-2F4D-8E07-76EACFD1A54A}"/>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6" name="Rectangle 160">
              <a:extLst>
                <a:ext uri="{FF2B5EF4-FFF2-40B4-BE49-F238E27FC236}">
                  <a16:creationId xmlns:a16="http://schemas.microsoft.com/office/drawing/2014/main" id="{FFAAD933-7081-1940-82D8-3553DCB0848F}"/>
                </a:ext>
              </a:extLst>
            </p:cNvPr>
            <p:cNvSpPr>
              <a:spLocks noChangeArrowheads="1"/>
            </p:cNvSpPr>
            <p:nvPr/>
          </p:nvSpPr>
          <p:spPr bwMode="auto">
            <a:xfrm>
              <a:off x="4204"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7" name="Freeform 161">
              <a:extLst>
                <a:ext uri="{FF2B5EF4-FFF2-40B4-BE49-F238E27FC236}">
                  <a16:creationId xmlns:a16="http://schemas.microsoft.com/office/drawing/2014/main" id="{D61BDCB9-8C30-1C44-A8F2-0EC386728742}"/>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8" name="Freeform 162">
              <a:extLst>
                <a:ext uri="{FF2B5EF4-FFF2-40B4-BE49-F238E27FC236}">
                  <a16:creationId xmlns:a16="http://schemas.microsoft.com/office/drawing/2014/main" id="{3E122E01-84B9-6E48-861A-BEEBD7F67210}"/>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9" name="Rectangle 163">
              <a:extLst>
                <a:ext uri="{FF2B5EF4-FFF2-40B4-BE49-F238E27FC236}">
                  <a16:creationId xmlns:a16="http://schemas.microsoft.com/office/drawing/2014/main" id="{3AD89C6E-5869-C84E-94DF-DD538886311B}"/>
                </a:ext>
              </a:extLst>
            </p:cNvPr>
            <p:cNvSpPr>
              <a:spLocks noChangeArrowheads="1"/>
            </p:cNvSpPr>
            <p:nvPr/>
          </p:nvSpPr>
          <p:spPr bwMode="auto">
            <a:xfrm>
              <a:off x="4210" y="696"/>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40" name="Group 164">
              <a:extLst>
                <a:ext uri="{FF2B5EF4-FFF2-40B4-BE49-F238E27FC236}">
                  <a16:creationId xmlns:a16="http://schemas.microsoft.com/office/drawing/2014/main" id="{919F3CC7-4090-E54D-9BA9-E092A8C81028}"/>
                </a:ext>
              </a:extLst>
            </p:cNvPr>
            <p:cNvGrpSpPr>
              <a:grpSpLocks/>
            </p:cNvGrpSpPr>
            <p:nvPr/>
          </p:nvGrpSpPr>
          <p:grpSpPr bwMode="auto">
            <a:xfrm>
              <a:off x="4749" y="668"/>
              <a:ext cx="581" cy="145"/>
              <a:chOff x="614" y="2568"/>
              <a:chExt cx="725" cy="139"/>
            </a:xfrm>
          </p:grpSpPr>
          <p:sp>
            <p:nvSpPr>
              <p:cNvPr id="265" name="AutoShape 165">
                <a:extLst>
                  <a:ext uri="{FF2B5EF4-FFF2-40B4-BE49-F238E27FC236}">
                    <a16:creationId xmlns:a16="http://schemas.microsoft.com/office/drawing/2014/main" id="{EAE6002E-6A1D-0B48-BA81-7D9DEC70453A}"/>
                  </a:ext>
                </a:extLst>
              </p:cNvPr>
              <p:cNvSpPr>
                <a:spLocks noChangeArrowheads="1"/>
              </p:cNvSpPr>
              <p:nvPr/>
            </p:nvSpPr>
            <p:spPr bwMode="auto">
              <a:xfrm>
                <a:off x="613" y="2566"/>
                <a:ext cx="723"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6" name="AutoShape 166">
                <a:extLst>
                  <a:ext uri="{FF2B5EF4-FFF2-40B4-BE49-F238E27FC236}">
                    <a16:creationId xmlns:a16="http://schemas.microsoft.com/office/drawing/2014/main" id="{CAA5444A-9857-9149-867E-5562C085E14D}"/>
                  </a:ext>
                </a:extLst>
              </p:cNvPr>
              <p:cNvSpPr>
                <a:spLocks noChangeArrowheads="1"/>
              </p:cNvSpPr>
              <p:nvPr/>
            </p:nvSpPr>
            <p:spPr bwMode="auto">
              <a:xfrm>
                <a:off x="628" y="2583"/>
                <a:ext cx="694"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41" name="Rectangle 167">
              <a:extLst>
                <a:ext uri="{FF2B5EF4-FFF2-40B4-BE49-F238E27FC236}">
                  <a16:creationId xmlns:a16="http://schemas.microsoft.com/office/drawing/2014/main" id="{93E34643-2646-D44C-9D6D-91A5B1C18A70}"/>
                </a:ext>
              </a:extLst>
            </p:cNvPr>
            <p:cNvSpPr>
              <a:spLocks noChangeArrowheads="1"/>
            </p:cNvSpPr>
            <p:nvPr/>
          </p:nvSpPr>
          <p:spPr bwMode="auto">
            <a:xfrm>
              <a:off x="4227" y="1016"/>
              <a:ext cx="591"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42" name="Group 168">
              <a:extLst>
                <a:ext uri="{FF2B5EF4-FFF2-40B4-BE49-F238E27FC236}">
                  <a16:creationId xmlns:a16="http://schemas.microsoft.com/office/drawing/2014/main" id="{652E8D93-E5DE-A34F-9D29-89AB07D0566D}"/>
                </a:ext>
              </a:extLst>
            </p:cNvPr>
            <p:cNvGrpSpPr>
              <a:grpSpLocks/>
            </p:cNvGrpSpPr>
            <p:nvPr/>
          </p:nvGrpSpPr>
          <p:grpSpPr bwMode="auto">
            <a:xfrm>
              <a:off x="4747" y="994"/>
              <a:ext cx="581" cy="134"/>
              <a:chOff x="614" y="2568"/>
              <a:chExt cx="725" cy="139"/>
            </a:xfrm>
          </p:grpSpPr>
          <p:sp>
            <p:nvSpPr>
              <p:cNvPr id="263" name="AutoShape 169">
                <a:extLst>
                  <a:ext uri="{FF2B5EF4-FFF2-40B4-BE49-F238E27FC236}">
                    <a16:creationId xmlns:a16="http://schemas.microsoft.com/office/drawing/2014/main" id="{AA26172B-FDFE-3D4E-9541-B9BC052C10D3}"/>
                  </a:ext>
                </a:extLst>
              </p:cNvPr>
              <p:cNvSpPr>
                <a:spLocks noChangeArrowheads="1"/>
              </p:cNvSpPr>
              <p:nvPr/>
            </p:nvSpPr>
            <p:spPr bwMode="auto">
              <a:xfrm>
                <a:off x="616" y="2566"/>
                <a:ext cx="723" cy="14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4" name="AutoShape 170">
                <a:extLst>
                  <a:ext uri="{FF2B5EF4-FFF2-40B4-BE49-F238E27FC236}">
                    <a16:creationId xmlns:a16="http://schemas.microsoft.com/office/drawing/2014/main" id="{521BB6A8-6D33-7E40-B79B-A911E9D1C5DD}"/>
                  </a:ext>
                </a:extLst>
              </p:cNvPr>
              <p:cNvSpPr>
                <a:spLocks noChangeArrowheads="1"/>
              </p:cNvSpPr>
              <p:nvPr/>
            </p:nvSpPr>
            <p:spPr bwMode="auto">
              <a:xfrm>
                <a:off x="630" y="2585"/>
                <a:ext cx="694"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43" name="Rectangle 171">
              <a:extLst>
                <a:ext uri="{FF2B5EF4-FFF2-40B4-BE49-F238E27FC236}">
                  <a16:creationId xmlns:a16="http://schemas.microsoft.com/office/drawing/2014/main" id="{FF73D9CC-AAAC-D341-85A2-89BC26B91B86}"/>
                </a:ext>
              </a:extLst>
            </p:cNvPr>
            <p:cNvSpPr>
              <a:spLocks noChangeArrowheads="1"/>
            </p:cNvSpPr>
            <p:nvPr/>
          </p:nvSpPr>
          <p:spPr bwMode="auto">
            <a:xfrm>
              <a:off x="4215" y="1360"/>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44" name="Rectangle 172">
              <a:extLst>
                <a:ext uri="{FF2B5EF4-FFF2-40B4-BE49-F238E27FC236}">
                  <a16:creationId xmlns:a16="http://schemas.microsoft.com/office/drawing/2014/main" id="{B810EEDB-015F-FD45-9174-E980EC5FAAC1}"/>
                </a:ext>
              </a:extLst>
            </p:cNvPr>
            <p:cNvSpPr>
              <a:spLocks noChangeArrowheads="1"/>
            </p:cNvSpPr>
            <p:nvPr/>
          </p:nvSpPr>
          <p:spPr bwMode="auto">
            <a:xfrm>
              <a:off x="4227" y="1657"/>
              <a:ext cx="597"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45" name="Group 173">
              <a:extLst>
                <a:ext uri="{FF2B5EF4-FFF2-40B4-BE49-F238E27FC236}">
                  <a16:creationId xmlns:a16="http://schemas.microsoft.com/office/drawing/2014/main" id="{2E72AE40-DCC2-4948-AD2E-564A2B8A82AA}"/>
                </a:ext>
              </a:extLst>
            </p:cNvPr>
            <p:cNvGrpSpPr>
              <a:grpSpLocks/>
            </p:cNvGrpSpPr>
            <p:nvPr/>
          </p:nvGrpSpPr>
          <p:grpSpPr bwMode="auto">
            <a:xfrm>
              <a:off x="4735" y="1627"/>
              <a:ext cx="582" cy="151"/>
              <a:chOff x="614" y="2568"/>
              <a:chExt cx="725" cy="139"/>
            </a:xfrm>
          </p:grpSpPr>
          <p:sp>
            <p:nvSpPr>
              <p:cNvPr id="261" name="AutoShape 174">
                <a:extLst>
                  <a:ext uri="{FF2B5EF4-FFF2-40B4-BE49-F238E27FC236}">
                    <a16:creationId xmlns:a16="http://schemas.microsoft.com/office/drawing/2014/main" id="{D9D1958B-0DAA-074E-A39D-ABDA1EA5B0E0}"/>
                  </a:ext>
                </a:extLst>
              </p:cNvPr>
              <p:cNvSpPr>
                <a:spLocks noChangeArrowheads="1"/>
              </p:cNvSpPr>
              <p:nvPr/>
            </p:nvSpPr>
            <p:spPr bwMode="auto">
              <a:xfrm>
                <a:off x="616" y="2568"/>
                <a:ext cx="722" cy="13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2" name="AutoShape 175">
                <a:extLst>
                  <a:ext uri="{FF2B5EF4-FFF2-40B4-BE49-F238E27FC236}">
                    <a16:creationId xmlns:a16="http://schemas.microsoft.com/office/drawing/2014/main" id="{8EFD2DEF-75B3-4B4C-BB17-5FDA1DFD916E}"/>
                  </a:ext>
                </a:extLst>
              </p:cNvPr>
              <p:cNvSpPr>
                <a:spLocks noChangeArrowheads="1"/>
              </p:cNvSpPr>
              <p:nvPr/>
            </p:nvSpPr>
            <p:spPr bwMode="auto">
              <a:xfrm>
                <a:off x="630" y="2584"/>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46" name="Freeform 176">
              <a:extLst>
                <a:ext uri="{FF2B5EF4-FFF2-40B4-BE49-F238E27FC236}">
                  <a16:creationId xmlns:a16="http://schemas.microsoft.com/office/drawing/2014/main" id="{A52917D9-2F4F-8A4E-A096-B778F3B9769B}"/>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47" name="Group 177">
              <a:extLst>
                <a:ext uri="{FF2B5EF4-FFF2-40B4-BE49-F238E27FC236}">
                  <a16:creationId xmlns:a16="http://schemas.microsoft.com/office/drawing/2014/main" id="{8476C934-1025-054C-BF2F-A686380677C4}"/>
                </a:ext>
              </a:extLst>
            </p:cNvPr>
            <p:cNvGrpSpPr>
              <a:grpSpLocks/>
            </p:cNvGrpSpPr>
            <p:nvPr/>
          </p:nvGrpSpPr>
          <p:grpSpPr bwMode="auto">
            <a:xfrm>
              <a:off x="4739" y="1327"/>
              <a:ext cx="582" cy="139"/>
              <a:chOff x="614" y="2568"/>
              <a:chExt cx="725" cy="139"/>
            </a:xfrm>
          </p:grpSpPr>
          <p:sp>
            <p:nvSpPr>
              <p:cNvPr id="259" name="AutoShape 178">
                <a:extLst>
                  <a:ext uri="{FF2B5EF4-FFF2-40B4-BE49-F238E27FC236}">
                    <a16:creationId xmlns:a16="http://schemas.microsoft.com/office/drawing/2014/main" id="{8DF96225-9AB2-AB48-9090-A03A165D9032}"/>
                  </a:ext>
                </a:extLst>
              </p:cNvPr>
              <p:cNvSpPr>
                <a:spLocks noChangeArrowheads="1"/>
              </p:cNvSpPr>
              <p:nvPr/>
            </p:nvSpPr>
            <p:spPr bwMode="auto">
              <a:xfrm>
                <a:off x="611" y="2566"/>
                <a:ext cx="729"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0" name="AutoShape 179">
                <a:extLst>
                  <a:ext uri="{FF2B5EF4-FFF2-40B4-BE49-F238E27FC236}">
                    <a16:creationId xmlns:a16="http://schemas.microsoft.com/office/drawing/2014/main" id="{B48F8DCA-7FC5-4D49-89FD-957B141759A4}"/>
                  </a:ext>
                </a:extLst>
              </p:cNvPr>
              <p:cNvSpPr>
                <a:spLocks noChangeArrowheads="1"/>
              </p:cNvSpPr>
              <p:nvPr/>
            </p:nvSpPr>
            <p:spPr bwMode="auto">
              <a:xfrm>
                <a:off x="626"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48" name="Rectangle 180">
              <a:extLst>
                <a:ext uri="{FF2B5EF4-FFF2-40B4-BE49-F238E27FC236}">
                  <a16:creationId xmlns:a16="http://schemas.microsoft.com/office/drawing/2014/main" id="{82DD01ED-CC62-8E44-B4AF-5AB162B45768}"/>
                </a:ext>
              </a:extLst>
            </p:cNvPr>
            <p:cNvSpPr>
              <a:spLocks noChangeArrowheads="1"/>
            </p:cNvSpPr>
            <p:nvPr/>
          </p:nvSpPr>
          <p:spPr bwMode="auto">
            <a:xfrm>
              <a:off x="5252" y="429"/>
              <a:ext cx="64" cy="2289"/>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49" name="Freeform 181">
              <a:extLst>
                <a:ext uri="{FF2B5EF4-FFF2-40B4-BE49-F238E27FC236}">
                  <a16:creationId xmlns:a16="http://schemas.microsoft.com/office/drawing/2014/main" id="{02E0A0DA-75BD-A54E-BFBE-1053BAA47ACC}"/>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0" name="Freeform 182">
              <a:extLst>
                <a:ext uri="{FF2B5EF4-FFF2-40B4-BE49-F238E27FC236}">
                  <a16:creationId xmlns:a16="http://schemas.microsoft.com/office/drawing/2014/main" id="{553CF65B-1E90-FF47-BBE8-B5344DE42874}"/>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1" name="Oval 183">
              <a:extLst>
                <a:ext uri="{FF2B5EF4-FFF2-40B4-BE49-F238E27FC236}">
                  <a16:creationId xmlns:a16="http://schemas.microsoft.com/office/drawing/2014/main" id="{1CFB15AC-59D4-2B42-9567-80D6F30EC5B3}"/>
                </a:ext>
              </a:extLst>
            </p:cNvPr>
            <p:cNvSpPr>
              <a:spLocks noChangeArrowheads="1"/>
            </p:cNvSpPr>
            <p:nvPr/>
          </p:nvSpPr>
          <p:spPr bwMode="auto">
            <a:xfrm>
              <a:off x="5519" y="2611"/>
              <a:ext cx="46"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2" name="Freeform 184">
              <a:extLst>
                <a:ext uri="{FF2B5EF4-FFF2-40B4-BE49-F238E27FC236}">
                  <a16:creationId xmlns:a16="http://schemas.microsoft.com/office/drawing/2014/main" id="{377D0A48-37B0-984B-9D70-F4CA7EE8ACE4}"/>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3" name="AutoShape 185">
              <a:extLst>
                <a:ext uri="{FF2B5EF4-FFF2-40B4-BE49-F238E27FC236}">
                  <a16:creationId xmlns:a16="http://schemas.microsoft.com/office/drawing/2014/main" id="{1DF08F1A-8088-4349-B9B6-80E5278DDB04}"/>
                </a:ext>
              </a:extLst>
            </p:cNvPr>
            <p:cNvSpPr>
              <a:spLocks noChangeArrowheads="1"/>
            </p:cNvSpPr>
            <p:nvPr/>
          </p:nvSpPr>
          <p:spPr bwMode="auto">
            <a:xfrm>
              <a:off x="4140" y="2677"/>
              <a:ext cx="1199"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4" name="AutoShape 186">
              <a:extLst>
                <a:ext uri="{FF2B5EF4-FFF2-40B4-BE49-F238E27FC236}">
                  <a16:creationId xmlns:a16="http://schemas.microsoft.com/office/drawing/2014/main" id="{AB1FF07F-165E-5C42-A46F-20C492B2AFAF}"/>
                </a:ext>
              </a:extLst>
            </p:cNvPr>
            <p:cNvSpPr>
              <a:spLocks noChangeArrowheads="1"/>
            </p:cNvSpPr>
            <p:nvPr/>
          </p:nvSpPr>
          <p:spPr bwMode="auto">
            <a:xfrm>
              <a:off x="4204" y="2712"/>
              <a:ext cx="1072" cy="83"/>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 name="Oval 187">
              <a:extLst>
                <a:ext uri="{FF2B5EF4-FFF2-40B4-BE49-F238E27FC236}">
                  <a16:creationId xmlns:a16="http://schemas.microsoft.com/office/drawing/2014/main" id="{246533F9-312A-7949-B6A5-04845D4051FD}"/>
                </a:ext>
              </a:extLst>
            </p:cNvPr>
            <p:cNvSpPr>
              <a:spLocks noChangeArrowheads="1"/>
            </p:cNvSpPr>
            <p:nvPr/>
          </p:nvSpPr>
          <p:spPr bwMode="auto">
            <a:xfrm>
              <a:off x="4308" y="2380"/>
              <a:ext cx="156" cy="14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6" name="Oval 188">
              <a:extLst>
                <a:ext uri="{FF2B5EF4-FFF2-40B4-BE49-F238E27FC236}">
                  <a16:creationId xmlns:a16="http://schemas.microsoft.com/office/drawing/2014/main" id="{97B4BE6D-9A58-6C4D-98DB-90F92956E1C8}"/>
                </a:ext>
              </a:extLst>
            </p:cNvPr>
            <p:cNvSpPr>
              <a:spLocks noChangeArrowheads="1"/>
            </p:cNvSpPr>
            <p:nvPr/>
          </p:nvSpPr>
          <p:spPr bwMode="auto">
            <a:xfrm>
              <a:off x="4488" y="2386"/>
              <a:ext cx="156"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57" name="Oval 189">
              <a:extLst>
                <a:ext uri="{FF2B5EF4-FFF2-40B4-BE49-F238E27FC236}">
                  <a16:creationId xmlns:a16="http://schemas.microsoft.com/office/drawing/2014/main" id="{B4E35ECA-82AF-A74F-9E87-BC1C1318FEF5}"/>
                </a:ext>
              </a:extLst>
            </p:cNvPr>
            <p:cNvSpPr>
              <a:spLocks noChangeArrowheads="1"/>
            </p:cNvSpPr>
            <p:nvPr/>
          </p:nvSpPr>
          <p:spPr bwMode="auto">
            <a:xfrm>
              <a:off x="4661" y="2380"/>
              <a:ext cx="156"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8" name="Rectangle 190">
              <a:extLst>
                <a:ext uri="{FF2B5EF4-FFF2-40B4-BE49-F238E27FC236}">
                  <a16:creationId xmlns:a16="http://schemas.microsoft.com/office/drawing/2014/main" id="{32338498-7D1E-F249-A1B6-782EAA13ADB5}"/>
                </a:ext>
              </a:extLst>
            </p:cNvPr>
            <p:cNvSpPr>
              <a:spLocks noChangeArrowheads="1"/>
            </p:cNvSpPr>
            <p:nvPr/>
          </p:nvSpPr>
          <p:spPr bwMode="auto">
            <a:xfrm>
              <a:off x="5061" y="1835"/>
              <a:ext cx="87"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67" name="Group 224">
            <a:extLst>
              <a:ext uri="{FF2B5EF4-FFF2-40B4-BE49-F238E27FC236}">
                <a16:creationId xmlns:a16="http://schemas.microsoft.com/office/drawing/2014/main" id="{3B18C9CF-4DB3-9A45-9F2E-A9E7637C3843}"/>
              </a:ext>
            </a:extLst>
          </p:cNvPr>
          <p:cNvGrpSpPr>
            <a:grpSpLocks/>
          </p:cNvGrpSpPr>
          <p:nvPr/>
        </p:nvGrpSpPr>
        <p:grpSpPr bwMode="auto">
          <a:xfrm>
            <a:off x="8945098" y="1753280"/>
            <a:ext cx="390525" cy="641350"/>
            <a:chOff x="4140" y="429"/>
            <a:chExt cx="1425" cy="2396"/>
          </a:xfrm>
        </p:grpSpPr>
        <p:sp>
          <p:nvSpPr>
            <p:cNvPr id="268" name="Freeform 225">
              <a:extLst>
                <a:ext uri="{FF2B5EF4-FFF2-40B4-BE49-F238E27FC236}">
                  <a16:creationId xmlns:a16="http://schemas.microsoft.com/office/drawing/2014/main" id="{8DE393E4-949F-5A47-87BC-37206D62F2A1}"/>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9" name="Rectangle 226">
              <a:extLst>
                <a:ext uri="{FF2B5EF4-FFF2-40B4-BE49-F238E27FC236}">
                  <a16:creationId xmlns:a16="http://schemas.microsoft.com/office/drawing/2014/main" id="{45AACD86-831C-7245-8042-0EAB26DDB86A}"/>
                </a:ext>
              </a:extLst>
            </p:cNvPr>
            <p:cNvSpPr>
              <a:spLocks noChangeArrowheads="1"/>
            </p:cNvSpPr>
            <p:nvPr/>
          </p:nvSpPr>
          <p:spPr bwMode="auto">
            <a:xfrm>
              <a:off x="4204"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0" name="Freeform 227">
              <a:extLst>
                <a:ext uri="{FF2B5EF4-FFF2-40B4-BE49-F238E27FC236}">
                  <a16:creationId xmlns:a16="http://schemas.microsoft.com/office/drawing/2014/main" id="{641EE52D-59FB-874A-8BE7-992D8AB3828E}"/>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1" name="Freeform 228">
              <a:extLst>
                <a:ext uri="{FF2B5EF4-FFF2-40B4-BE49-F238E27FC236}">
                  <a16:creationId xmlns:a16="http://schemas.microsoft.com/office/drawing/2014/main" id="{745C23B7-E3E7-3244-8E92-2A519BCE450C}"/>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2" name="Rectangle 229">
              <a:extLst>
                <a:ext uri="{FF2B5EF4-FFF2-40B4-BE49-F238E27FC236}">
                  <a16:creationId xmlns:a16="http://schemas.microsoft.com/office/drawing/2014/main" id="{53F1BA0D-FC18-8F40-B02C-5E5456D41E93}"/>
                </a:ext>
              </a:extLst>
            </p:cNvPr>
            <p:cNvSpPr>
              <a:spLocks noChangeArrowheads="1"/>
            </p:cNvSpPr>
            <p:nvPr/>
          </p:nvSpPr>
          <p:spPr bwMode="auto">
            <a:xfrm>
              <a:off x="4210" y="696"/>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73" name="Group 230">
              <a:extLst>
                <a:ext uri="{FF2B5EF4-FFF2-40B4-BE49-F238E27FC236}">
                  <a16:creationId xmlns:a16="http://schemas.microsoft.com/office/drawing/2014/main" id="{3BF69572-674D-F94F-AF3E-6360341D0997}"/>
                </a:ext>
              </a:extLst>
            </p:cNvPr>
            <p:cNvGrpSpPr>
              <a:grpSpLocks/>
            </p:cNvGrpSpPr>
            <p:nvPr/>
          </p:nvGrpSpPr>
          <p:grpSpPr bwMode="auto">
            <a:xfrm>
              <a:off x="4749" y="668"/>
              <a:ext cx="581" cy="145"/>
              <a:chOff x="614" y="2568"/>
              <a:chExt cx="725" cy="139"/>
            </a:xfrm>
          </p:grpSpPr>
          <p:sp>
            <p:nvSpPr>
              <p:cNvPr id="298" name="AutoShape 231">
                <a:extLst>
                  <a:ext uri="{FF2B5EF4-FFF2-40B4-BE49-F238E27FC236}">
                    <a16:creationId xmlns:a16="http://schemas.microsoft.com/office/drawing/2014/main" id="{7A3AB9B6-ED54-E640-B88B-6349E66AEC34}"/>
                  </a:ext>
                </a:extLst>
              </p:cNvPr>
              <p:cNvSpPr>
                <a:spLocks noChangeArrowheads="1"/>
              </p:cNvSpPr>
              <p:nvPr/>
            </p:nvSpPr>
            <p:spPr bwMode="auto">
              <a:xfrm>
                <a:off x="613" y="2566"/>
                <a:ext cx="723"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9" name="AutoShape 232">
                <a:extLst>
                  <a:ext uri="{FF2B5EF4-FFF2-40B4-BE49-F238E27FC236}">
                    <a16:creationId xmlns:a16="http://schemas.microsoft.com/office/drawing/2014/main" id="{41885595-164B-5A49-B50B-F202B13B92B8}"/>
                  </a:ext>
                </a:extLst>
              </p:cNvPr>
              <p:cNvSpPr>
                <a:spLocks noChangeArrowheads="1"/>
              </p:cNvSpPr>
              <p:nvPr/>
            </p:nvSpPr>
            <p:spPr bwMode="auto">
              <a:xfrm>
                <a:off x="627" y="2583"/>
                <a:ext cx="694"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74" name="Rectangle 233">
              <a:extLst>
                <a:ext uri="{FF2B5EF4-FFF2-40B4-BE49-F238E27FC236}">
                  <a16:creationId xmlns:a16="http://schemas.microsoft.com/office/drawing/2014/main" id="{1DC47301-CD25-F742-824D-B95A7C78B145}"/>
                </a:ext>
              </a:extLst>
            </p:cNvPr>
            <p:cNvSpPr>
              <a:spLocks noChangeArrowheads="1"/>
            </p:cNvSpPr>
            <p:nvPr/>
          </p:nvSpPr>
          <p:spPr bwMode="auto">
            <a:xfrm>
              <a:off x="4227" y="1016"/>
              <a:ext cx="591"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75" name="Group 234">
              <a:extLst>
                <a:ext uri="{FF2B5EF4-FFF2-40B4-BE49-F238E27FC236}">
                  <a16:creationId xmlns:a16="http://schemas.microsoft.com/office/drawing/2014/main" id="{ABA534FC-B51E-B545-893B-AA2D360102D0}"/>
                </a:ext>
              </a:extLst>
            </p:cNvPr>
            <p:cNvGrpSpPr>
              <a:grpSpLocks/>
            </p:cNvGrpSpPr>
            <p:nvPr/>
          </p:nvGrpSpPr>
          <p:grpSpPr bwMode="auto">
            <a:xfrm>
              <a:off x="4747" y="994"/>
              <a:ext cx="581" cy="134"/>
              <a:chOff x="614" y="2568"/>
              <a:chExt cx="725" cy="139"/>
            </a:xfrm>
          </p:grpSpPr>
          <p:sp>
            <p:nvSpPr>
              <p:cNvPr id="296" name="AutoShape 235">
                <a:extLst>
                  <a:ext uri="{FF2B5EF4-FFF2-40B4-BE49-F238E27FC236}">
                    <a16:creationId xmlns:a16="http://schemas.microsoft.com/office/drawing/2014/main" id="{BF3259EE-323A-7B46-BA99-522FF89692DE}"/>
                  </a:ext>
                </a:extLst>
              </p:cNvPr>
              <p:cNvSpPr>
                <a:spLocks noChangeArrowheads="1"/>
              </p:cNvSpPr>
              <p:nvPr/>
            </p:nvSpPr>
            <p:spPr bwMode="auto">
              <a:xfrm>
                <a:off x="616" y="2566"/>
                <a:ext cx="723" cy="14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7" name="AutoShape 236">
                <a:extLst>
                  <a:ext uri="{FF2B5EF4-FFF2-40B4-BE49-F238E27FC236}">
                    <a16:creationId xmlns:a16="http://schemas.microsoft.com/office/drawing/2014/main" id="{773E2C4B-E371-8849-89F1-CB3467DA2283}"/>
                  </a:ext>
                </a:extLst>
              </p:cNvPr>
              <p:cNvSpPr>
                <a:spLocks noChangeArrowheads="1"/>
              </p:cNvSpPr>
              <p:nvPr/>
            </p:nvSpPr>
            <p:spPr bwMode="auto">
              <a:xfrm>
                <a:off x="630" y="2585"/>
                <a:ext cx="694"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76" name="Rectangle 237">
              <a:extLst>
                <a:ext uri="{FF2B5EF4-FFF2-40B4-BE49-F238E27FC236}">
                  <a16:creationId xmlns:a16="http://schemas.microsoft.com/office/drawing/2014/main" id="{65673162-6BD4-FA45-AD7B-65DCCB503847}"/>
                </a:ext>
              </a:extLst>
            </p:cNvPr>
            <p:cNvSpPr>
              <a:spLocks noChangeArrowheads="1"/>
            </p:cNvSpPr>
            <p:nvPr/>
          </p:nvSpPr>
          <p:spPr bwMode="auto">
            <a:xfrm>
              <a:off x="4215" y="1360"/>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7" name="Rectangle 238">
              <a:extLst>
                <a:ext uri="{FF2B5EF4-FFF2-40B4-BE49-F238E27FC236}">
                  <a16:creationId xmlns:a16="http://schemas.microsoft.com/office/drawing/2014/main" id="{EB910949-1BF1-2E43-B251-2F5F6D2BC577}"/>
                </a:ext>
              </a:extLst>
            </p:cNvPr>
            <p:cNvSpPr>
              <a:spLocks noChangeArrowheads="1"/>
            </p:cNvSpPr>
            <p:nvPr/>
          </p:nvSpPr>
          <p:spPr bwMode="auto">
            <a:xfrm>
              <a:off x="4227" y="1657"/>
              <a:ext cx="597"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78" name="Group 239">
              <a:extLst>
                <a:ext uri="{FF2B5EF4-FFF2-40B4-BE49-F238E27FC236}">
                  <a16:creationId xmlns:a16="http://schemas.microsoft.com/office/drawing/2014/main" id="{4ABA0E07-42B3-1C4B-A798-B21B74119139}"/>
                </a:ext>
              </a:extLst>
            </p:cNvPr>
            <p:cNvGrpSpPr>
              <a:grpSpLocks/>
            </p:cNvGrpSpPr>
            <p:nvPr/>
          </p:nvGrpSpPr>
          <p:grpSpPr bwMode="auto">
            <a:xfrm>
              <a:off x="4735" y="1627"/>
              <a:ext cx="582" cy="151"/>
              <a:chOff x="614" y="2568"/>
              <a:chExt cx="725" cy="139"/>
            </a:xfrm>
          </p:grpSpPr>
          <p:sp>
            <p:nvSpPr>
              <p:cNvPr id="294" name="AutoShape 240">
                <a:extLst>
                  <a:ext uri="{FF2B5EF4-FFF2-40B4-BE49-F238E27FC236}">
                    <a16:creationId xmlns:a16="http://schemas.microsoft.com/office/drawing/2014/main" id="{833C6885-DF73-A44C-AF35-71696A34447D}"/>
                  </a:ext>
                </a:extLst>
              </p:cNvPr>
              <p:cNvSpPr>
                <a:spLocks noChangeArrowheads="1"/>
              </p:cNvSpPr>
              <p:nvPr/>
            </p:nvSpPr>
            <p:spPr bwMode="auto">
              <a:xfrm>
                <a:off x="616" y="2568"/>
                <a:ext cx="722" cy="13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5" name="AutoShape 241">
                <a:extLst>
                  <a:ext uri="{FF2B5EF4-FFF2-40B4-BE49-F238E27FC236}">
                    <a16:creationId xmlns:a16="http://schemas.microsoft.com/office/drawing/2014/main" id="{00053469-6811-F146-9041-0E9ADB93CF5D}"/>
                  </a:ext>
                </a:extLst>
              </p:cNvPr>
              <p:cNvSpPr>
                <a:spLocks noChangeArrowheads="1"/>
              </p:cNvSpPr>
              <p:nvPr/>
            </p:nvSpPr>
            <p:spPr bwMode="auto">
              <a:xfrm>
                <a:off x="630" y="2584"/>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79" name="Freeform 242">
              <a:extLst>
                <a:ext uri="{FF2B5EF4-FFF2-40B4-BE49-F238E27FC236}">
                  <a16:creationId xmlns:a16="http://schemas.microsoft.com/office/drawing/2014/main" id="{E93D621E-BD5E-4F41-B292-1FF1D9FD9897}"/>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80" name="Group 243">
              <a:extLst>
                <a:ext uri="{FF2B5EF4-FFF2-40B4-BE49-F238E27FC236}">
                  <a16:creationId xmlns:a16="http://schemas.microsoft.com/office/drawing/2014/main" id="{D2A4152B-1063-5545-AFB4-C764C9E38D4B}"/>
                </a:ext>
              </a:extLst>
            </p:cNvPr>
            <p:cNvGrpSpPr>
              <a:grpSpLocks/>
            </p:cNvGrpSpPr>
            <p:nvPr/>
          </p:nvGrpSpPr>
          <p:grpSpPr bwMode="auto">
            <a:xfrm>
              <a:off x="4739" y="1327"/>
              <a:ext cx="582" cy="139"/>
              <a:chOff x="614" y="2568"/>
              <a:chExt cx="725" cy="139"/>
            </a:xfrm>
          </p:grpSpPr>
          <p:sp>
            <p:nvSpPr>
              <p:cNvPr id="292" name="AutoShape 244">
                <a:extLst>
                  <a:ext uri="{FF2B5EF4-FFF2-40B4-BE49-F238E27FC236}">
                    <a16:creationId xmlns:a16="http://schemas.microsoft.com/office/drawing/2014/main" id="{91B44A19-99F5-3246-B452-E6974C388207}"/>
                  </a:ext>
                </a:extLst>
              </p:cNvPr>
              <p:cNvSpPr>
                <a:spLocks noChangeArrowheads="1"/>
              </p:cNvSpPr>
              <p:nvPr/>
            </p:nvSpPr>
            <p:spPr bwMode="auto">
              <a:xfrm>
                <a:off x="611" y="2566"/>
                <a:ext cx="729"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3" name="AutoShape 245">
                <a:extLst>
                  <a:ext uri="{FF2B5EF4-FFF2-40B4-BE49-F238E27FC236}">
                    <a16:creationId xmlns:a16="http://schemas.microsoft.com/office/drawing/2014/main" id="{CE7C0896-4736-8044-B538-F09471477D4A}"/>
                  </a:ext>
                </a:extLst>
              </p:cNvPr>
              <p:cNvSpPr>
                <a:spLocks noChangeArrowheads="1"/>
              </p:cNvSpPr>
              <p:nvPr/>
            </p:nvSpPr>
            <p:spPr bwMode="auto">
              <a:xfrm>
                <a:off x="625"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81" name="Rectangle 246">
              <a:extLst>
                <a:ext uri="{FF2B5EF4-FFF2-40B4-BE49-F238E27FC236}">
                  <a16:creationId xmlns:a16="http://schemas.microsoft.com/office/drawing/2014/main" id="{1D6C13B5-BF0F-554A-9CE4-3F075F93792E}"/>
                </a:ext>
              </a:extLst>
            </p:cNvPr>
            <p:cNvSpPr>
              <a:spLocks noChangeArrowheads="1"/>
            </p:cNvSpPr>
            <p:nvPr/>
          </p:nvSpPr>
          <p:spPr bwMode="auto">
            <a:xfrm>
              <a:off x="5252" y="429"/>
              <a:ext cx="64" cy="2289"/>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2" name="Freeform 247">
              <a:extLst>
                <a:ext uri="{FF2B5EF4-FFF2-40B4-BE49-F238E27FC236}">
                  <a16:creationId xmlns:a16="http://schemas.microsoft.com/office/drawing/2014/main" id="{0F3FBF0A-EAF4-094D-A874-245423181CE6}"/>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3" name="Freeform 248">
              <a:extLst>
                <a:ext uri="{FF2B5EF4-FFF2-40B4-BE49-F238E27FC236}">
                  <a16:creationId xmlns:a16="http://schemas.microsoft.com/office/drawing/2014/main" id="{EC002925-BD09-784A-9BB4-2AD299FA2E8C}"/>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4" name="Oval 249">
              <a:extLst>
                <a:ext uri="{FF2B5EF4-FFF2-40B4-BE49-F238E27FC236}">
                  <a16:creationId xmlns:a16="http://schemas.microsoft.com/office/drawing/2014/main" id="{21E73907-A81B-E540-A734-D855A8052176}"/>
                </a:ext>
              </a:extLst>
            </p:cNvPr>
            <p:cNvSpPr>
              <a:spLocks noChangeArrowheads="1"/>
            </p:cNvSpPr>
            <p:nvPr/>
          </p:nvSpPr>
          <p:spPr bwMode="auto">
            <a:xfrm>
              <a:off x="5519" y="2611"/>
              <a:ext cx="46"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5" name="Freeform 250">
              <a:extLst>
                <a:ext uri="{FF2B5EF4-FFF2-40B4-BE49-F238E27FC236}">
                  <a16:creationId xmlns:a16="http://schemas.microsoft.com/office/drawing/2014/main" id="{7B38A468-42E7-2245-BA7B-6136A4486608}"/>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6" name="AutoShape 251">
              <a:extLst>
                <a:ext uri="{FF2B5EF4-FFF2-40B4-BE49-F238E27FC236}">
                  <a16:creationId xmlns:a16="http://schemas.microsoft.com/office/drawing/2014/main" id="{F798831B-76D3-634B-A1D7-73487DB6F3DC}"/>
                </a:ext>
              </a:extLst>
            </p:cNvPr>
            <p:cNvSpPr>
              <a:spLocks noChangeArrowheads="1"/>
            </p:cNvSpPr>
            <p:nvPr/>
          </p:nvSpPr>
          <p:spPr bwMode="auto">
            <a:xfrm>
              <a:off x="4140" y="2677"/>
              <a:ext cx="1199"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7" name="AutoShape 252">
              <a:extLst>
                <a:ext uri="{FF2B5EF4-FFF2-40B4-BE49-F238E27FC236}">
                  <a16:creationId xmlns:a16="http://schemas.microsoft.com/office/drawing/2014/main" id="{93B2ADD1-628A-5B4D-960D-449954DF90D0}"/>
                </a:ext>
              </a:extLst>
            </p:cNvPr>
            <p:cNvSpPr>
              <a:spLocks noChangeArrowheads="1"/>
            </p:cNvSpPr>
            <p:nvPr/>
          </p:nvSpPr>
          <p:spPr bwMode="auto">
            <a:xfrm>
              <a:off x="4204" y="2712"/>
              <a:ext cx="1072" cy="83"/>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8" name="Oval 253">
              <a:extLst>
                <a:ext uri="{FF2B5EF4-FFF2-40B4-BE49-F238E27FC236}">
                  <a16:creationId xmlns:a16="http://schemas.microsoft.com/office/drawing/2014/main" id="{359740D7-3452-8745-AD4F-78F1EAE69A21}"/>
                </a:ext>
              </a:extLst>
            </p:cNvPr>
            <p:cNvSpPr>
              <a:spLocks noChangeArrowheads="1"/>
            </p:cNvSpPr>
            <p:nvPr/>
          </p:nvSpPr>
          <p:spPr bwMode="auto">
            <a:xfrm>
              <a:off x="4308" y="2380"/>
              <a:ext cx="156" cy="14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9" name="Oval 254">
              <a:extLst>
                <a:ext uri="{FF2B5EF4-FFF2-40B4-BE49-F238E27FC236}">
                  <a16:creationId xmlns:a16="http://schemas.microsoft.com/office/drawing/2014/main" id="{6953048C-3B45-C945-95BD-05D0D95F965C}"/>
                </a:ext>
              </a:extLst>
            </p:cNvPr>
            <p:cNvSpPr>
              <a:spLocks noChangeArrowheads="1"/>
            </p:cNvSpPr>
            <p:nvPr/>
          </p:nvSpPr>
          <p:spPr bwMode="auto">
            <a:xfrm>
              <a:off x="4488" y="2386"/>
              <a:ext cx="156"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0" name="Oval 255">
              <a:extLst>
                <a:ext uri="{FF2B5EF4-FFF2-40B4-BE49-F238E27FC236}">
                  <a16:creationId xmlns:a16="http://schemas.microsoft.com/office/drawing/2014/main" id="{FCF3244C-B9E8-DF49-A3D0-C0D2140BA811}"/>
                </a:ext>
              </a:extLst>
            </p:cNvPr>
            <p:cNvSpPr>
              <a:spLocks noChangeArrowheads="1"/>
            </p:cNvSpPr>
            <p:nvPr/>
          </p:nvSpPr>
          <p:spPr bwMode="auto">
            <a:xfrm>
              <a:off x="4661" y="2380"/>
              <a:ext cx="156"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1" name="Rectangle 256">
              <a:extLst>
                <a:ext uri="{FF2B5EF4-FFF2-40B4-BE49-F238E27FC236}">
                  <a16:creationId xmlns:a16="http://schemas.microsoft.com/office/drawing/2014/main" id="{66CCCCC0-CA45-934C-8FFC-B89439DE40D5}"/>
                </a:ext>
              </a:extLst>
            </p:cNvPr>
            <p:cNvSpPr>
              <a:spLocks noChangeArrowheads="1"/>
            </p:cNvSpPr>
            <p:nvPr/>
          </p:nvSpPr>
          <p:spPr bwMode="auto">
            <a:xfrm>
              <a:off x="5061" y="1835"/>
              <a:ext cx="87"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00" name="Group 257">
            <a:extLst>
              <a:ext uri="{FF2B5EF4-FFF2-40B4-BE49-F238E27FC236}">
                <a16:creationId xmlns:a16="http://schemas.microsoft.com/office/drawing/2014/main" id="{6D88D42C-B784-1546-97B0-1AA7D6A27EC3}"/>
              </a:ext>
            </a:extLst>
          </p:cNvPr>
          <p:cNvGrpSpPr>
            <a:grpSpLocks/>
          </p:cNvGrpSpPr>
          <p:nvPr/>
        </p:nvGrpSpPr>
        <p:grpSpPr bwMode="auto">
          <a:xfrm>
            <a:off x="9761073" y="3005818"/>
            <a:ext cx="390525" cy="641350"/>
            <a:chOff x="4140" y="429"/>
            <a:chExt cx="1425" cy="2396"/>
          </a:xfrm>
        </p:grpSpPr>
        <p:sp>
          <p:nvSpPr>
            <p:cNvPr id="301" name="Freeform 258">
              <a:extLst>
                <a:ext uri="{FF2B5EF4-FFF2-40B4-BE49-F238E27FC236}">
                  <a16:creationId xmlns:a16="http://schemas.microsoft.com/office/drawing/2014/main" id="{702EC307-F8E6-434D-B445-B2F47A942B29}"/>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2" name="Rectangle 259">
              <a:extLst>
                <a:ext uri="{FF2B5EF4-FFF2-40B4-BE49-F238E27FC236}">
                  <a16:creationId xmlns:a16="http://schemas.microsoft.com/office/drawing/2014/main" id="{07437252-B53D-9D40-813F-304E5CD00EF6}"/>
                </a:ext>
              </a:extLst>
            </p:cNvPr>
            <p:cNvSpPr>
              <a:spLocks noChangeArrowheads="1"/>
            </p:cNvSpPr>
            <p:nvPr/>
          </p:nvSpPr>
          <p:spPr bwMode="auto">
            <a:xfrm>
              <a:off x="4204"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3" name="Freeform 260">
              <a:extLst>
                <a:ext uri="{FF2B5EF4-FFF2-40B4-BE49-F238E27FC236}">
                  <a16:creationId xmlns:a16="http://schemas.microsoft.com/office/drawing/2014/main" id="{EC373583-A9BD-FC4E-A47E-4602AA39D0E7}"/>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4" name="Freeform 261">
              <a:extLst>
                <a:ext uri="{FF2B5EF4-FFF2-40B4-BE49-F238E27FC236}">
                  <a16:creationId xmlns:a16="http://schemas.microsoft.com/office/drawing/2014/main" id="{D1E0B0A0-C834-9D4D-9DDD-D4222C1817F6}"/>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5" name="Rectangle 262">
              <a:extLst>
                <a:ext uri="{FF2B5EF4-FFF2-40B4-BE49-F238E27FC236}">
                  <a16:creationId xmlns:a16="http://schemas.microsoft.com/office/drawing/2014/main" id="{B2DA4C56-6E4F-4F46-A99C-698FAADDBECE}"/>
                </a:ext>
              </a:extLst>
            </p:cNvPr>
            <p:cNvSpPr>
              <a:spLocks noChangeArrowheads="1"/>
            </p:cNvSpPr>
            <p:nvPr/>
          </p:nvSpPr>
          <p:spPr bwMode="auto">
            <a:xfrm>
              <a:off x="4210" y="696"/>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6" name="Group 263">
              <a:extLst>
                <a:ext uri="{FF2B5EF4-FFF2-40B4-BE49-F238E27FC236}">
                  <a16:creationId xmlns:a16="http://schemas.microsoft.com/office/drawing/2014/main" id="{0476FEFE-2DC6-2148-99D9-A5C054B12CD7}"/>
                </a:ext>
              </a:extLst>
            </p:cNvPr>
            <p:cNvGrpSpPr>
              <a:grpSpLocks/>
            </p:cNvGrpSpPr>
            <p:nvPr/>
          </p:nvGrpSpPr>
          <p:grpSpPr bwMode="auto">
            <a:xfrm>
              <a:off x="4749" y="668"/>
              <a:ext cx="581" cy="145"/>
              <a:chOff x="614" y="2568"/>
              <a:chExt cx="725" cy="139"/>
            </a:xfrm>
          </p:grpSpPr>
          <p:sp>
            <p:nvSpPr>
              <p:cNvPr id="331" name="AutoShape 264">
                <a:extLst>
                  <a:ext uri="{FF2B5EF4-FFF2-40B4-BE49-F238E27FC236}">
                    <a16:creationId xmlns:a16="http://schemas.microsoft.com/office/drawing/2014/main" id="{81145D7E-D3D7-0D4C-A411-943EBD5AA0F6}"/>
                  </a:ext>
                </a:extLst>
              </p:cNvPr>
              <p:cNvSpPr>
                <a:spLocks noChangeArrowheads="1"/>
              </p:cNvSpPr>
              <p:nvPr/>
            </p:nvSpPr>
            <p:spPr bwMode="auto">
              <a:xfrm>
                <a:off x="613" y="2566"/>
                <a:ext cx="723"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2" name="AutoShape 265">
                <a:extLst>
                  <a:ext uri="{FF2B5EF4-FFF2-40B4-BE49-F238E27FC236}">
                    <a16:creationId xmlns:a16="http://schemas.microsoft.com/office/drawing/2014/main" id="{67891F44-03D3-CF47-86FB-FB0C31AF6556}"/>
                  </a:ext>
                </a:extLst>
              </p:cNvPr>
              <p:cNvSpPr>
                <a:spLocks noChangeArrowheads="1"/>
              </p:cNvSpPr>
              <p:nvPr/>
            </p:nvSpPr>
            <p:spPr bwMode="auto">
              <a:xfrm>
                <a:off x="627" y="2583"/>
                <a:ext cx="694"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7" name="Rectangle 266">
              <a:extLst>
                <a:ext uri="{FF2B5EF4-FFF2-40B4-BE49-F238E27FC236}">
                  <a16:creationId xmlns:a16="http://schemas.microsoft.com/office/drawing/2014/main" id="{1D029B33-0C7B-864F-B801-978A4B8FD5E1}"/>
                </a:ext>
              </a:extLst>
            </p:cNvPr>
            <p:cNvSpPr>
              <a:spLocks noChangeArrowheads="1"/>
            </p:cNvSpPr>
            <p:nvPr/>
          </p:nvSpPr>
          <p:spPr bwMode="auto">
            <a:xfrm>
              <a:off x="4227" y="1016"/>
              <a:ext cx="591"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08" name="Group 267">
              <a:extLst>
                <a:ext uri="{FF2B5EF4-FFF2-40B4-BE49-F238E27FC236}">
                  <a16:creationId xmlns:a16="http://schemas.microsoft.com/office/drawing/2014/main" id="{8A3352FE-9285-9E4C-BF29-D635003DF954}"/>
                </a:ext>
              </a:extLst>
            </p:cNvPr>
            <p:cNvGrpSpPr>
              <a:grpSpLocks/>
            </p:cNvGrpSpPr>
            <p:nvPr/>
          </p:nvGrpSpPr>
          <p:grpSpPr bwMode="auto">
            <a:xfrm>
              <a:off x="4747" y="994"/>
              <a:ext cx="581" cy="134"/>
              <a:chOff x="614" y="2568"/>
              <a:chExt cx="725" cy="139"/>
            </a:xfrm>
          </p:grpSpPr>
          <p:sp>
            <p:nvSpPr>
              <p:cNvPr id="329" name="AutoShape 268">
                <a:extLst>
                  <a:ext uri="{FF2B5EF4-FFF2-40B4-BE49-F238E27FC236}">
                    <a16:creationId xmlns:a16="http://schemas.microsoft.com/office/drawing/2014/main" id="{CC6637ED-E66A-004E-AE38-F32E55EC540F}"/>
                  </a:ext>
                </a:extLst>
              </p:cNvPr>
              <p:cNvSpPr>
                <a:spLocks noChangeArrowheads="1"/>
              </p:cNvSpPr>
              <p:nvPr/>
            </p:nvSpPr>
            <p:spPr bwMode="auto">
              <a:xfrm>
                <a:off x="616" y="2566"/>
                <a:ext cx="723" cy="14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0" name="AutoShape 269">
                <a:extLst>
                  <a:ext uri="{FF2B5EF4-FFF2-40B4-BE49-F238E27FC236}">
                    <a16:creationId xmlns:a16="http://schemas.microsoft.com/office/drawing/2014/main" id="{99FAA76E-7386-FC45-ACF1-30D129724B32}"/>
                  </a:ext>
                </a:extLst>
              </p:cNvPr>
              <p:cNvSpPr>
                <a:spLocks noChangeArrowheads="1"/>
              </p:cNvSpPr>
              <p:nvPr/>
            </p:nvSpPr>
            <p:spPr bwMode="auto">
              <a:xfrm>
                <a:off x="630" y="2585"/>
                <a:ext cx="694"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9" name="Rectangle 270">
              <a:extLst>
                <a:ext uri="{FF2B5EF4-FFF2-40B4-BE49-F238E27FC236}">
                  <a16:creationId xmlns:a16="http://schemas.microsoft.com/office/drawing/2014/main" id="{AFCC8C61-44F6-2242-8855-E7238EE55A1B}"/>
                </a:ext>
              </a:extLst>
            </p:cNvPr>
            <p:cNvSpPr>
              <a:spLocks noChangeArrowheads="1"/>
            </p:cNvSpPr>
            <p:nvPr/>
          </p:nvSpPr>
          <p:spPr bwMode="auto">
            <a:xfrm>
              <a:off x="4215" y="1360"/>
              <a:ext cx="597" cy="42"/>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0" name="Rectangle 271">
              <a:extLst>
                <a:ext uri="{FF2B5EF4-FFF2-40B4-BE49-F238E27FC236}">
                  <a16:creationId xmlns:a16="http://schemas.microsoft.com/office/drawing/2014/main" id="{5F416F68-F5C3-E047-86DD-2B69313C981C}"/>
                </a:ext>
              </a:extLst>
            </p:cNvPr>
            <p:cNvSpPr>
              <a:spLocks noChangeArrowheads="1"/>
            </p:cNvSpPr>
            <p:nvPr/>
          </p:nvSpPr>
          <p:spPr bwMode="auto">
            <a:xfrm>
              <a:off x="4227" y="1657"/>
              <a:ext cx="597" cy="47"/>
            </a:xfrm>
            <a:prstGeom prst="rect">
              <a:avLst/>
            </a:prstGeom>
            <a:solidFill>
              <a:srgbClr val="000000"/>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11" name="Group 272">
              <a:extLst>
                <a:ext uri="{FF2B5EF4-FFF2-40B4-BE49-F238E27FC236}">
                  <a16:creationId xmlns:a16="http://schemas.microsoft.com/office/drawing/2014/main" id="{63D616E2-37F9-FA41-93A3-EC867A9C9DF3}"/>
                </a:ext>
              </a:extLst>
            </p:cNvPr>
            <p:cNvGrpSpPr>
              <a:grpSpLocks/>
            </p:cNvGrpSpPr>
            <p:nvPr/>
          </p:nvGrpSpPr>
          <p:grpSpPr bwMode="auto">
            <a:xfrm>
              <a:off x="4735" y="1627"/>
              <a:ext cx="582" cy="151"/>
              <a:chOff x="614" y="2568"/>
              <a:chExt cx="725" cy="139"/>
            </a:xfrm>
          </p:grpSpPr>
          <p:sp>
            <p:nvSpPr>
              <p:cNvPr id="327" name="AutoShape 273">
                <a:extLst>
                  <a:ext uri="{FF2B5EF4-FFF2-40B4-BE49-F238E27FC236}">
                    <a16:creationId xmlns:a16="http://schemas.microsoft.com/office/drawing/2014/main" id="{666D6CE3-43E0-B641-9B47-80DA04FB01A3}"/>
                  </a:ext>
                </a:extLst>
              </p:cNvPr>
              <p:cNvSpPr>
                <a:spLocks noChangeArrowheads="1"/>
              </p:cNvSpPr>
              <p:nvPr/>
            </p:nvSpPr>
            <p:spPr bwMode="auto">
              <a:xfrm>
                <a:off x="616" y="2568"/>
                <a:ext cx="722" cy="13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8" name="AutoShape 274">
                <a:extLst>
                  <a:ext uri="{FF2B5EF4-FFF2-40B4-BE49-F238E27FC236}">
                    <a16:creationId xmlns:a16="http://schemas.microsoft.com/office/drawing/2014/main" id="{D94D4D24-3A62-4346-A4B0-AF4901D56184}"/>
                  </a:ext>
                </a:extLst>
              </p:cNvPr>
              <p:cNvSpPr>
                <a:spLocks noChangeArrowheads="1"/>
              </p:cNvSpPr>
              <p:nvPr/>
            </p:nvSpPr>
            <p:spPr bwMode="auto">
              <a:xfrm>
                <a:off x="630" y="2584"/>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12" name="Freeform 275">
              <a:extLst>
                <a:ext uri="{FF2B5EF4-FFF2-40B4-BE49-F238E27FC236}">
                  <a16:creationId xmlns:a16="http://schemas.microsoft.com/office/drawing/2014/main" id="{5502E20D-D3F9-1445-AE1A-C5A9B7BBB8AC}"/>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13" name="Group 276">
              <a:extLst>
                <a:ext uri="{FF2B5EF4-FFF2-40B4-BE49-F238E27FC236}">
                  <a16:creationId xmlns:a16="http://schemas.microsoft.com/office/drawing/2014/main" id="{88289607-2CB3-6846-972E-267A38967E1B}"/>
                </a:ext>
              </a:extLst>
            </p:cNvPr>
            <p:cNvGrpSpPr>
              <a:grpSpLocks/>
            </p:cNvGrpSpPr>
            <p:nvPr/>
          </p:nvGrpSpPr>
          <p:grpSpPr bwMode="auto">
            <a:xfrm>
              <a:off x="4739" y="1327"/>
              <a:ext cx="582" cy="139"/>
              <a:chOff x="614" y="2568"/>
              <a:chExt cx="725" cy="139"/>
            </a:xfrm>
          </p:grpSpPr>
          <p:sp>
            <p:nvSpPr>
              <p:cNvPr id="325" name="AutoShape 277">
                <a:extLst>
                  <a:ext uri="{FF2B5EF4-FFF2-40B4-BE49-F238E27FC236}">
                    <a16:creationId xmlns:a16="http://schemas.microsoft.com/office/drawing/2014/main" id="{4D384432-D7DC-704B-9036-8E7B3A29347C}"/>
                  </a:ext>
                </a:extLst>
              </p:cNvPr>
              <p:cNvSpPr>
                <a:spLocks noChangeArrowheads="1"/>
              </p:cNvSpPr>
              <p:nvPr/>
            </p:nvSpPr>
            <p:spPr bwMode="auto">
              <a:xfrm>
                <a:off x="611" y="2566"/>
                <a:ext cx="729" cy="142"/>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6" name="AutoShape 278">
                <a:extLst>
                  <a:ext uri="{FF2B5EF4-FFF2-40B4-BE49-F238E27FC236}">
                    <a16:creationId xmlns:a16="http://schemas.microsoft.com/office/drawing/2014/main" id="{D9C2A3A1-5244-A14A-8274-DFC1383E58E8}"/>
                  </a:ext>
                </a:extLst>
              </p:cNvPr>
              <p:cNvSpPr>
                <a:spLocks noChangeArrowheads="1"/>
              </p:cNvSpPr>
              <p:nvPr/>
            </p:nvSpPr>
            <p:spPr bwMode="auto">
              <a:xfrm>
                <a:off x="625"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14" name="Rectangle 279">
              <a:extLst>
                <a:ext uri="{FF2B5EF4-FFF2-40B4-BE49-F238E27FC236}">
                  <a16:creationId xmlns:a16="http://schemas.microsoft.com/office/drawing/2014/main" id="{B1F8DD2B-C939-2C43-B20B-2B1AD74D4219}"/>
                </a:ext>
              </a:extLst>
            </p:cNvPr>
            <p:cNvSpPr>
              <a:spLocks noChangeArrowheads="1"/>
            </p:cNvSpPr>
            <p:nvPr/>
          </p:nvSpPr>
          <p:spPr bwMode="auto">
            <a:xfrm>
              <a:off x="5252" y="429"/>
              <a:ext cx="64" cy="2289"/>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5" name="Freeform 280">
              <a:extLst>
                <a:ext uri="{FF2B5EF4-FFF2-40B4-BE49-F238E27FC236}">
                  <a16:creationId xmlns:a16="http://schemas.microsoft.com/office/drawing/2014/main" id="{F16DC7B2-4515-5543-B12A-6165D6E2E911}"/>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6" name="Freeform 281">
              <a:extLst>
                <a:ext uri="{FF2B5EF4-FFF2-40B4-BE49-F238E27FC236}">
                  <a16:creationId xmlns:a16="http://schemas.microsoft.com/office/drawing/2014/main" id="{004AE2FC-7231-E64A-BEBE-ADCA412A09EA}"/>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7" name="Oval 282">
              <a:extLst>
                <a:ext uri="{FF2B5EF4-FFF2-40B4-BE49-F238E27FC236}">
                  <a16:creationId xmlns:a16="http://schemas.microsoft.com/office/drawing/2014/main" id="{5A6BAD53-D0CF-DF42-803B-A591FE492858}"/>
                </a:ext>
              </a:extLst>
            </p:cNvPr>
            <p:cNvSpPr>
              <a:spLocks noChangeArrowheads="1"/>
            </p:cNvSpPr>
            <p:nvPr/>
          </p:nvSpPr>
          <p:spPr bwMode="auto">
            <a:xfrm>
              <a:off x="5519" y="2611"/>
              <a:ext cx="46"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8" name="Freeform 283">
              <a:extLst>
                <a:ext uri="{FF2B5EF4-FFF2-40B4-BE49-F238E27FC236}">
                  <a16:creationId xmlns:a16="http://schemas.microsoft.com/office/drawing/2014/main" id="{37D6350E-473C-2F48-8443-85DB0303DB8B}"/>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9" name="AutoShape 284">
              <a:extLst>
                <a:ext uri="{FF2B5EF4-FFF2-40B4-BE49-F238E27FC236}">
                  <a16:creationId xmlns:a16="http://schemas.microsoft.com/office/drawing/2014/main" id="{BC07E322-3708-CF4A-90EA-569EBA34D238}"/>
                </a:ext>
              </a:extLst>
            </p:cNvPr>
            <p:cNvSpPr>
              <a:spLocks noChangeArrowheads="1"/>
            </p:cNvSpPr>
            <p:nvPr/>
          </p:nvSpPr>
          <p:spPr bwMode="auto">
            <a:xfrm>
              <a:off x="4140" y="2677"/>
              <a:ext cx="1199" cy="148"/>
            </a:xfrm>
            <a:prstGeom prst="roundRect">
              <a:avLst>
                <a:gd name="adj" fmla="val 50000"/>
              </a:avLst>
            </a:prstGeom>
            <a:solidFill>
              <a:srgbClr val="DDDDDD"/>
            </a:soli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0" name="AutoShape 285">
              <a:extLst>
                <a:ext uri="{FF2B5EF4-FFF2-40B4-BE49-F238E27FC236}">
                  <a16:creationId xmlns:a16="http://schemas.microsoft.com/office/drawing/2014/main" id="{13CC96E0-B269-1C41-8B8A-26D7B49CC21B}"/>
                </a:ext>
              </a:extLst>
            </p:cNvPr>
            <p:cNvSpPr>
              <a:spLocks noChangeArrowheads="1"/>
            </p:cNvSpPr>
            <p:nvPr/>
          </p:nvSpPr>
          <p:spPr bwMode="auto">
            <a:xfrm>
              <a:off x="4204" y="2712"/>
              <a:ext cx="1072" cy="83"/>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1" name="Oval 286">
              <a:extLst>
                <a:ext uri="{FF2B5EF4-FFF2-40B4-BE49-F238E27FC236}">
                  <a16:creationId xmlns:a16="http://schemas.microsoft.com/office/drawing/2014/main" id="{B778BB94-7A1A-2A49-A8EF-9BB086F52551}"/>
                </a:ext>
              </a:extLst>
            </p:cNvPr>
            <p:cNvSpPr>
              <a:spLocks noChangeArrowheads="1"/>
            </p:cNvSpPr>
            <p:nvPr/>
          </p:nvSpPr>
          <p:spPr bwMode="auto">
            <a:xfrm>
              <a:off x="4308" y="2380"/>
              <a:ext cx="156" cy="14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2" name="Oval 287">
              <a:extLst>
                <a:ext uri="{FF2B5EF4-FFF2-40B4-BE49-F238E27FC236}">
                  <a16:creationId xmlns:a16="http://schemas.microsoft.com/office/drawing/2014/main" id="{F501B229-B7EF-6B41-9F50-357DBD63388F}"/>
                </a:ext>
              </a:extLst>
            </p:cNvPr>
            <p:cNvSpPr>
              <a:spLocks noChangeArrowheads="1"/>
            </p:cNvSpPr>
            <p:nvPr/>
          </p:nvSpPr>
          <p:spPr bwMode="auto">
            <a:xfrm>
              <a:off x="4488" y="2386"/>
              <a:ext cx="156"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3" name="Oval 288">
              <a:extLst>
                <a:ext uri="{FF2B5EF4-FFF2-40B4-BE49-F238E27FC236}">
                  <a16:creationId xmlns:a16="http://schemas.microsoft.com/office/drawing/2014/main" id="{B00DA42E-62A3-B349-A633-497D458569F4}"/>
                </a:ext>
              </a:extLst>
            </p:cNvPr>
            <p:cNvSpPr>
              <a:spLocks noChangeArrowheads="1"/>
            </p:cNvSpPr>
            <p:nvPr/>
          </p:nvSpPr>
          <p:spPr bwMode="auto">
            <a:xfrm>
              <a:off x="4661" y="2380"/>
              <a:ext cx="156"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4" name="Rectangle 289">
              <a:extLst>
                <a:ext uri="{FF2B5EF4-FFF2-40B4-BE49-F238E27FC236}">
                  <a16:creationId xmlns:a16="http://schemas.microsoft.com/office/drawing/2014/main" id="{238D91CD-38E8-4C4C-BE90-4508D42E5587}"/>
                </a:ext>
              </a:extLst>
            </p:cNvPr>
            <p:cNvSpPr>
              <a:spLocks noChangeArrowheads="1"/>
            </p:cNvSpPr>
            <p:nvPr/>
          </p:nvSpPr>
          <p:spPr bwMode="auto">
            <a:xfrm>
              <a:off x="5061" y="1835"/>
              <a:ext cx="87" cy="759"/>
            </a:xfrm>
            <a:prstGeom prst="rect">
              <a:avLst/>
            </a:prstGeom>
            <a:solidFill>
              <a:srgbClr val="292929"/>
            </a:solidFill>
            <a:ln w="952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3333CC"/>
                </a:buClr>
                <a:buSzPct val="85000"/>
                <a:buFont typeface="ZapfDingbats"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Tree>
    <p:extLst>
      <p:ext uri="{BB962C8B-B14F-4D97-AF65-F5344CB8AC3E}">
        <p14:creationId xmlns:p14="http://schemas.microsoft.com/office/powerpoint/2010/main" val="145072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7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8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7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8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7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8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7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8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7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8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92"/>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8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93"/>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19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79"/>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83" grpId="0"/>
      <p:bldP spid="184" grpId="0"/>
      <p:bldP spid="185" grpId="0"/>
      <p:bldP spid="186" grpId="0"/>
      <p:bldP spid="187" grpId="0"/>
      <p:bldP spid="188" grpId="0"/>
      <p:bldP spid="190" grpId="0"/>
      <p:bldP spid="19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Caching DNS Information</a:t>
            </a:r>
            <a:endParaRPr lang="en-US" sz="4400" dirty="0">
              <a:cs typeface="Calibri" panose="020F0502020204030204" pitchFamily="34" charset="0"/>
            </a:endParaRPr>
          </a:p>
        </p:txBody>
      </p:sp>
      <p:sp>
        <p:nvSpPr>
          <p:cNvPr id="167" name="Rectangle 3">
            <a:extLst>
              <a:ext uri="{FF2B5EF4-FFF2-40B4-BE49-F238E27FC236}">
                <a16:creationId xmlns:a16="http://schemas.microsoft.com/office/drawing/2014/main" id="{796C1A8B-325B-1A4B-BF89-EF3A65965833}"/>
              </a:ext>
            </a:extLst>
          </p:cNvPr>
          <p:cNvSpPr txBox="1">
            <a:spLocks noChangeArrowheads="1"/>
          </p:cNvSpPr>
          <p:nvPr/>
        </p:nvSpPr>
        <p:spPr>
          <a:xfrm>
            <a:off x="591068" y="1183947"/>
            <a:ext cx="11009864" cy="512212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marR="0" lvl="0" indent="-457200" algn="l" defTabSz="914400" rtl="0" eaLnBrk="1" fontAlgn="auto" latinLnBrk="0" hangingPunct="1">
              <a:lnSpc>
                <a:spcPct val="90000"/>
              </a:lnSpc>
              <a:spcBef>
                <a:spcPts val="1000"/>
              </a:spcBef>
              <a:spcAft>
                <a:spcPts val="600"/>
              </a:spcAft>
              <a:buClrTx/>
              <a:buSzTx/>
              <a:buFont typeface="Arial" panose="020B0604020202020204" pitchFamily="34" charset="0"/>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Once (any) name server learns mapping, it </a:t>
            </a:r>
            <a:r>
              <a:rPr kumimoji="0" lang="en-US" altLang="en-US" sz="32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caches</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mapping, and </a:t>
            </a:r>
            <a:r>
              <a:rPr lang="en-US" altLang="en-US" sz="3200" i="1" dirty="0">
                <a:solidFill>
                  <a:srgbClr val="C00000"/>
                </a:solidFill>
                <a:latin typeface="Calibri" panose="020F0502020204030204"/>
                <a:ea typeface="ＭＳ Ｐゴシック" panose="020B0600070205080204" pitchFamily="34" charset="-128"/>
              </a:rPr>
              <a:t>im</a:t>
            </a:r>
            <a:r>
              <a:rPr kumimoji="0" lang="en-US" altLang="en-US" sz="32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mediately</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returns a cached mapping in response to a query</a:t>
            </a:r>
          </a:p>
          <a:p>
            <a:pPr marR="0" lvl="1" algn="l" defTabSz="914400" rtl="0" eaLnBrk="1" fontAlgn="auto" latinLnBrk="0" hangingPunct="1">
              <a:lnSpc>
                <a:spcPct val="90000"/>
              </a:lnSpc>
              <a:spcBef>
                <a:spcPts val="500"/>
              </a:spcBef>
              <a:spcAft>
                <a:spcPts val="600"/>
              </a:spcAft>
              <a:buClrTx/>
              <a:buSzTx/>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Caching improves response time</a:t>
            </a:r>
          </a:p>
          <a:p>
            <a:pPr marR="0" lvl="1" algn="l" defTabSz="914400" rtl="0" eaLnBrk="1" fontAlgn="auto" latinLnBrk="0" hangingPunct="1">
              <a:lnSpc>
                <a:spcPct val="90000"/>
              </a:lnSpc>
              <a:spcBef>
                <a:spcPts val="500"/>
              </a:spcBef>
              <a:spcAft>
                <a:spcPts val="600"/>
              </a:spcAft>
              <a:buClrTx/>
              <a:buSzTx/>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Cache entries timeout (disappear) after some time (time to live -TTL)</a:t>
            </a:r>
          </a:p>
          <a:p>
            <a:pPr lvl="1">
              <a:spcAft>
                <a:spcPts val="600"/>
              </a:spcAft>
              <a:buClrTx/>
              <a:defRPr/>
            </a:pPr>
            <a:r>
              <a:rPr lang="en-US" altLang="en-US" sz="2800" dirty="0">
                <a:solidFill>
                  <a:prstClr val="black"/>
                </a:solidFill>
                <a:ea typeface="ＭＳ Ｐゴシック" panose="020B0600070205080204" pitchFamily="34" charset="-128"/>
              </a:rPr>
              <a:t>Top-Level Domain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TLD) servers typically cached in local name servers</a:t>
            </a:r>
          </a:p>
          <a:p>
            <a:pPr marL="514350" marR="0" lvl="0" indent="-457200" algn="l" defTabSz="914400" rtl="0" eaLnBrk="1" fontAlgn="auto" latinLnBrk="0" hangingPunct="1">
              <a:lnSpc>
                <a:spcPct val="90000"/>
              </a:lnSpc>
              <a:spcBef>
                <a:spcPts val="1000"/>
              </a:spcBef>
              <a:spcAft>
                <a:spcPts val="600"/>
              </a:spcAft>
              <a:buClrTx/>
              <a:buSzTx/>
              <a:buFont typeface="Arial" panose="020B0604020202020204" pitchFamily="34" charset="0"/>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Cached entries may be </a:t>
            </a: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out-of-date</a:t>
            </a: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R="0" lvl="1" algn="l" defTabSz="914400" rtl="0" eaLnBrk="1" fontAlgn="auto" latinLnBrk="0" hangingPunct="1">
              <a:lnSpc>
                <a:spcPct val="90000"/>
              </a:lnSpc>
              <a:spcBef>
                <a:spcPts val="500"/>
              </a:spcBef>
              <a:spcAft>
                <a:spcPts val="600"/>
              </a:spcAft>
              <a:buClrTx/>
              <a:buSzTx/>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If named host changes IP address, may not be known Internet-wide until all TTLs expire!</a:t>
            </a:r>
          </a:p>
          <a:p>
            <a:pPr marR="0" lvl="1" algn="l" defTabSz="914400" rtl="0" eaLnBrk="1" fontAlgn="auto" latinLnBrk="0" hangingPunct="1">
              <a:lnSpc>
                <a:spcPct val="90000"/>
              </a:lnSpc>
              <a:spcBef>
                <a:spcPts val="500"/>
              </a:spcBef>
              <a:spcAft>
                <a:spcPts val="600"/>
              </a:spcAft>
              <a:buClrTx/>
              <a:buSzTx/>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Tree>
    <p:extLst>
      <p:ext uri="{BB962C8B-B14F-4D97-AF65-F5344CB8AC3E}">
        <p14:creationId xmlns:p14="http://schemas.microsoft.com/office/powerpoint/2010/main" val="2994961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7">
                                            <p:txEl>
                                              <p:pRg st="1" end="1"/>
                                            </p:txEl>
                                          </p:spTgt>
                                        </p:tgtEl>
                                        <p:attrNameLst>
                                          <p:attrName>style.visibility</p:attrName>
                                        </p:attrNameLst>
                                      </p:cBhvr>
                                      <p:to>
                                        <p:strVal val="visible"/>
                                      </p:to>
                                    </p:set>
                                    <p:animEffect transition="in" filter="dissolve">
                                      <p:cBhvr>
                                        <p:cTn id="7" dur="500"/>
                                        <p:tgtEl>
                                          <p:spTgt spid="167">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67">
                                            <p:txEl>
                                              <p:pRg st="2" end="2"/>
                                            </p:txEl>
                                          </p:spTgt>
                                        </p:tgtEl>
                                        <p:attrNameLst>
                                          <p:attrName>style.visibility</p:attrName>
                                        </p:attrNameLst>
                                      </p:cBhvr>
                                      <p:to>
                                        <p:strVal val="visible"/>
                                      </p:to>
                                    </p:set>
                                    <p:animEffect transition="in" filter="dissolve">
                                      <p:cBhvr>
                                        <p:cTn id="10" dur="500"/>
                                        <p:tgtEl>
                                          <p:spTgt spid="167">
                                            <p:txEl>
                                              <p:pRg st="2" end="2"/>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67">
                                            <p:txEl>
                                              <p:pRg st="3" end="3"/>
                                            </p:txEl>
                                          </p:spTgt>
                                        </p:tgtEl>
                                        <p:attrNameLst>
                                          <p:attrName>style.visibility</p:attrName>
                                        </p:attrNameLst>
                                      </p:cBhvr>
                                      <p:to>
                                        <p:strVal val="visible"/>
                                      </p:to>
                                    </p:set>
                                    <p:animEffect transition="in" filter="dissolve">
                                      <p:cBhvr>
                                        <p:cTn id="13" dur="500"/>
                                        <p:tgtEl>
                                          <p:spTgt spid="167">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67">
                                            <p:txEl>
                                              <p:pRg st="4" end="4"/>
                                            </p:txEl>
                                          </p:spTgt>
                                        </p:tgtEl>
                                        <p:attrNameLst>
                                          <p:attrName>style.visibility</p:attrName>
                                        </p:attrNameLst>
                                      </p:cBhvr>
                                      <p:to>
                                        <p:strVal val="visible"/>
                                      </p:to>
                                    </p:set>
                                    <p:animEffect transition="in" filter="dissolve">
                                      <p:cBhvr>
                                        <p:cTn id="18" dur="500"/>
                                        <p:tgtEl>
                                          <p:spTgt spid="167">
                                            <p:txEl>
                                              <p:pRg st="4" end="4"/>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167">
                                            <p:txEl>
                                              <p:pRg st="5" end="5"/>
                                            </p:txEl>
                                          </p:spTgt>
                                        </p:tgtEl>
                                        <p:attrNameLst>
                                          <p:attrName>style.visibility</p:attrName>
                                        </p:attrNameLst>
                                      </p:cBhvr>
                                      <p:to>
                                        <p:strVal val="visible"/>
                                      </p:to>
                                    </p:set>
                                    <p:animEffect transition="in" filter="dissolve">
                                      <p:cBhvr>
                                        <p:cTn id="21" dur="500"/>
                                        <p:tgtEl>
                                          <p:spTgt spid="1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6E4B5-CE84-546A-2F81-51A22424110A}"/>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3D92332-4EC7-37D3-9EFC-4F15D9FBD005}"/>
              </a:ext>
            </a:extLst>
          </p:cNvPr>
          <p:cNvSpPr>
            <a:spLocks noGrp="1"/>
          </p:cNvSpPr>
          <p:nvPr>
            <p:ph type="title"/>
          </p:nvPr>
        </p:nvSpPr>
        <p:spPr>
          <a:xfrm>
            <a:off x="838200" y="30413"/>
            <a:ext cx="10515600" cy="894622"/>
          </a:xfrm>
        </p:spPr>
        <p:txBody>
          <a:bodyPr>
            <a:normAutofit/>
          </a:bodyPr>
          <a:lstStyle/>
          <a:p>
            <a:r>
              <a:rPr lang="en-US" altLang="en-US" sz="4400" dirty="0">
                <a:ea typeface="ＭＳ Ｐゴシック" panose="020B0600070205080204" pitchFamily="34" charset="-128"/>
                <a:cs typeface="Calibri" panose="020F0502020204030204" pitchFamily="34" charset="0"/>
              </a:rPr>
              <a:t>DNS Records</a:t>
            </a:r>
            <a:endParaRPr lang="en-US" sz="4400" dirty="0">
              <a:cs typeface="Calibri" panose="020F0502020204030204" pitchFamily="34" charset="0"/>
            </a:endParaRPr>
          </a:p>
        </p:txBody>
      </p:sp>
      <p:sp>
        <p:nvSpPr>
          <p:cNvPr id="14" name="Rectangle 4">
            <a:extLst>
              <a:ext uri="{FF2B5EF4-FFF2-40B4-BE49-F238E27FC236}">
                <a16:creationId xmlns:a16="http://schemas.microsoft.com/office/drawing/2014/main" id="{EABE06EE-F13A-68F3-7857-8D97A27EC883}"/>
              </a:ext>
            </a:extLst>
          </p:cNvPr>
          <p:cNvSpPr txBox="1">
            <a:spLocks noChangeArrowheads="1"/>
          </p:cNvSpPr>
          <p:nvPr/>
        </p:nvSpPr>
        <p:spPr>
          <a:xfrm>
            <a:off x="429817" y="4114343"/>
            <a:ext cx="3460376" cy="2438857"/>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288" lvl="0" indent="0">
              <a:buNone/>
              <a:defRPr/>
            </a:pPr>
            <a:r>
              <a:rPr kumimoji="0" lang="en-US" altLang="en-US" sz="2200" b="1" i="0" u="none" strike="noStrike" kern="1200" cap="none" spc="0" normalizeH="0" baseline="0" noProof="0" dirty="0">
                <a:ln>
                  <a:noFill/>
                </a:ln>
                <a:solidFill>
                  <a:srgbClr val="CC0000"/>
                </a:solidFill>
                <a:effectLst/>
                <a:uLnTx/>
                <a:uFillTx/>
                <a:ea typeface="ＭＳ Ｐゴシック" panose="020B0600070205080204" pitchFamily="34" charset="-128"/>
              </a:rPr>
              <a:t>type=NS </a:t>
            </a:r>
            <a:r>
              <a:rPr lang="en-US" altLang="en-US" sz="2200" dirty="0">
                <a:solidFill>
                  <a:srgbClr val="C00000"/>
                </a:solidFill>
                <a:ea typeface="ＭＳ Ｐゴシック" panose="020B0600070205080204" pitchFamily="34" charset="-128"/>
              </a:rPr>
              <a:t>(</a:t>
            </a:r>
            <a:r>
              <a:rPr lang="en-US" sz="2200" dirty="0">
                <a:solidFill>
                  <a:srgbClr val="C00000"/>
                </a:solidFill>
                <a:ea typeface="ＭＳ Ｐゴシック" panose="020B0600070205080204" pitchFamily="34" charset="-128"/>
              </a:rPr>
              <a:t>"Name Server" Record</a:t>
            </a:r>
            <a:r>
              <a:rPr lang="en-US" altLang="en-US" sz="2200" dirty="0">
                <a:solidFill>
                  <a:srgbClr val="C00000"/>
                </a:solidFill>
                <a:ea typeface="ＭＳ Ｐゴシック" panose="020B0600070205080204" pitchFamily="34" charset="-128"/>
              </a:rPr>
              <a:t>)</a:t>
            </a:r>
          </a:p>
          <a:p>
            <a:pPr marL="400050" marR="0" lvl="1" indent="-342900" algn="l" defTabSz="914400" rtl="0" eaLnBrk="1" fontAlgn="auto" latinLnBrk="0" hangingPunct="1">
              <a:lnSpc>
                <a:spcPct val="90000"/>
              </a:lnSpc>
              <a:spcBef>
                <a:spcPts val="500"/>
              </a:spcBef>
              <a:spcAft>
                <a:spcPts val="0"/>
              </a:spcAft>
              <a:buClrTx/>
              <a:buSzTx/>
              <a:tabLst/>
              <a:defRPr/>
            </a:pPr>
            <a:r>
              <a:rPr kumimoji="0" lang="en-US" altLang="en-US" sz="2200" b="0" i="0" u="none" strike="noStrike" kern="1200" cap="none" spc="0" normalizeH="0" baseline="0" noProof="0" dirty="0">
                <a:ln>
                  <a:noFill/>
                </a:ln>
                <a:solidFill>
                  <a:prstClr val="black"/>
                </a:solidFill>
                <a:effectLst/>
                <a:uLnTx/>
                <a:uFillTx/>
                <a:ea typeface="ＭＳ Ｐゴシック" panose="020B0600070205080204" pitchFamily="34" charset="-128"/>
              </a:rPr>
              <a:t>name is </a:t>
            </a:r>
            <a:r>
              <a:rPr kumimoji="0" lang="en-US" altLang="en-US" sz="2200" b="1" i="0" u="none" strike="noStrike" kern="1200" cap="none" spc="0" normalizeH="0" baseline="0" noProof="0" dirty="0">
                <a:ln>
                  <a:noFill/>
                </a:ln>
                <a:solidFill>
                  <a:prstClr val="black"/>
                </a:solidFill>
                <a:effectLst/>
                <a:uLnTx/>
                <a:uFillTx/>
                <a:ea typeface="ＭＳ Ｐゴシック" panose="020B0600070205080204" pitchFamily="34" charset="-128"/>
              </a:rPr>
              <a:t>domain</a:t>
            </a:r>
            <a:r>
              <a:rPr kumimoji="0" lang="en-US" altLang="en-US" sz="2200" b="0" i="0" u="none" strike="noStrike" kern="1200" cap="none" spc="0" normalizeH="0" baseline="0" noProof="0" dirty="0">
                <a:ln>
                  <a:noFill/>
                </a:ln>
                <a:solidFill>
                  <a:prstClr val="black"/>
                </a:solidFill>
                <a:effectLst/>
                <a:uLnTx/>
                <a:uFillTx/>
                <a:ea typeface="ＭＳ Ｐゴシック" panose="020B0600070205080204" pitchFamily="34" charset="-128"/>
              </a:rPr>
              <a:t> (e.g., foo.com)</a:t>
            </a:r>
          </a:p>
          <a:p>
            <a:pPr marL="400050" marR="0" lvl="1" indent="-342900" algn="l" defTabSz="914400" rtl="0" eaLnBrk="1" fontAlgn="auto" latinLnBrk="0" hangingPunct="1">
              <a:lnSpc>
                <a:spcPct val="90000"/>
              </a:lnSpc>
              <a:spcBef>
                <a:spcPts val="500"/>
              </a:spcBef>
              <a:spcAft>
                <a:spcPts val="0"/>
              </a:spcAft>
              <a:buClrTx/>
              <a:buSzTx/>
              <a:tabLst/>
              <a:defRPr/>
            </a:pPr>
            <a:r>
              <a:rPr kumimoji="0" lang="en-US" altLang="en-US" sz="2200" b="0" i="0" u="none" strike="noStrike" kern="1200" cap="none" spc="0" normalizeH="0" baseline="0" noProof="0" dirty="0">
                <a:ln>
                  <a:noFill/>
                </a:ln>
                <a:solidFill>
                  <a:prstClr val="black"/>
                </a:solidFill>
                <a:effectLst/>
                <a:uLnTx/>
                <a:uFillTx/>
                <a:ea typeface="ＭＳ Ｐゴシック" panose="020B0600070205080204" pitchFamily="34" charset="-128"/>
              </a:rPr>
              <a:t>value is hostname of authoritative name server for this domain</a:t>
            </a:r>
          </a:p>
        </p:txBody>
      </p:sp>
      <p:sp>
        <p:nvSpPr>
          <p:cNvPr id="17" name="Rectangle 8">
            <a:extLst>
              <a:ext uri="{FF2B5EF4-FFF2-40B4-BE49-F238E27FC236}">
                <a16:creationId xmlns:a16="http://schemas.microsoft.com/office/drawing/2014/main" id="{5D7DC1D5-B2F1-1AC5-1B46-ABD057AB4E34}"/>
              </a:ext>
            </a:extLst>
          </p:cNvPr>
          <p:cNvSpPr>
            <a:spLocks noChangeArrowheads="1"/>
          </p:cNvSpPr>
          <p:nvPr/>
        </p:nvSpPr>
        <p:spPr bwMode="auto">
          <a:xfrm>
            <a:off x="429817" y="2757420"/>
            <a:ext cx="4030396"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lvl="0">
              <a:buClr>
                <a:srgbClr val="000099"/>
              </a:buClr>
              <a:buSzPct val="75000"/>
              <a:defRPr/>
            </a:pPr>
            <a:r>
              <a:rPr kumimoji="0" lang="en-US" altLang="en-US" sz="2200" b="1" i="0" u="none" strike="noStrike" kern="1200" cap="none" spc="0" normalizeH="0" baseline="0" noProof="0" dirty="0">
                <a:ln>
                  <a:noFill/>
                </a:ln>
                <a:solidFill>
                  <a:srgbClr val="CC0000"/>
                </a:solidFill>
                <a:effectLst/>
                <a:uLnTx/>
                <a:uFillTx/>
                <a:latin typeface="Calibri" panose="020F0502020204030204"/>
              </a:rPr>
              <a:t>type=A</a:t>
            </a:r>
            <a:r>
              <a:rPr lang="en-US" altLang="en-US" sz="2200" b="1" dirty="0">
                <a:solidFill>
                  <a:srgbClr val="CC0000"/>
                </a:solidFill>
                <a:latin typeface="Calibri" panose="020F0502020204030204"/>
              </a:rPr>
              <a:t> </a:t>
            </a:r>
            <a:r>
              <a:rPr lang="en-US" altLang="en-US" sz="2200" dirty="0">
                <a:solidFill>
                  <a:srgbClr val="C00000"/>
                </a:solidFill>
                <a:latin typeface="Calibri" panose="020F0502020204030204"/>
              </a:rPr>
              <a:t>("Address" Record)</a:t>
            </a:r>
            <a:endParaRPr kumimoji="0" lang="en-US" altLang="en-US" sz="2200" i="0" u="none" strike="noStrike" kern="1200" cap="none" spc="0" normalizeH="0" baseline="0" noProof="0" dirty="0">
              <a:ln>
                <a:noFill/>
              </a:ln>
              <a:solidFill>
                <a:srgbClr val="C00000"/>
              </a:solidFill>
              <a:effectLst/>
              <a:uLnTx/>
              <a:uFillTx/>
              <a:latin typeface="Calibri" panose="020F0502020204030204"/>
            </a:endParaRPr>
          </a:p>
          <a:p>
            <a:pPr marL="428625" marR="0" lvl="1" indent="-342900" algn="l" defTabSz="914400" rtl="0" eaLnBrk="1" fontAlgn="auto" latinLnBrk="0" hangingPunct="1">
              <a:lnSpc>
                <a:spcPct val="100000"/>
              </a:lnSpc>
              <a:spcBef>
                <a:spcPts val="0"/>
              </a:spcBef>
              <a:spcAft>
                <a:spcPts val="0"/>
              </a:spcAft>
              <a:buSzTx/>
              <a:buFont typeface="Arial" panose="020B0604020202020204" pitchFamily="34" charset="0"/>
              <a:buChar char="•"/>
              <a:tabLst/>
              <a:defRPr/>
            </a:pPr>
            <a:r>
              <a:rPr kumimoji="0" lang="en-US" altLang="en-US" sz="2200" b="0" i="0" u="none" strike="noStrike" kern="1200" cap="none" spc="0" normalizeH="0" baseline="0" noProof="0" dirty="0">
                <a:ln>
                  <a:noFill/>
                </a:ln>
                <a:solidFill>
                  <a:prstClr val="black"/>
                </a:solidFill>
                <a:effectLst/>
                <a:uLnTx/>
                <a:uFillTx/>
                <a:latin typeface="Courier" pitchFamily="2" charset="0"/>
              </a:rPr>
              <a:t>name</a:t>
            </a:r>
            <a:r>
              <a:rPr kumimoji="0" lang="en-US" altLang="en-US" sz="2200" b="0" i="0" u="none" strike="noStrike" kern="1200" cap="none" spc="0" normalizeH="0" baseline="0" noProof="0" dirty="0">
                <a:ln>
                  <a:noFill/>
                </a:ln>
                <a:solidFill>
                  <a:prstClr val="black"/>
                </a:solidFill>
                <a:effectLst/>
                <a:uLnTx/>
                <a:uFillTx/>
                <a:latin typeface="Calibri" panose="020F0502020204030204"/>
              </a:rPr>
              <a:t> is hostname</a:t>
            </a:r>
          </a:p>
          <a:p>
            <a:pPr marL="428625" marR="0" lvl="1" indent="-342900" algn="l" defTabSz="914400" rtl="0" eaLnBrk="1" fontAlgn="auto" latinLnBrk="0" hangingPunct="1">
              <a:lnSpc>
                <a:spcPct val="100000"/>
              </a:lnSpc>
              <a:spcBef>
                <a:spcPts val="0"/>
              </a:spcBef>
              <a:spcAft>
                <a:spcPts val="0"/>
              </a:spcAft>
              <a:buSzTx/>
              <a:buFont typeface="Arial" panose="020B0604020202020204" pitchFamily="34" charset="0"/>
              <a:buChar char="•"/>
              <a:tabLst/>
              <a:defRPr/>
            </a:pPr>
            <a:r>
              <a:rPr kumimoji="0" lang="en-US" altLang="en-US" sz="2200" b="0" i="0" u="none" strike="noStrike" kern="1200" cap="none" spc="0" normalizeH="0" baseline="0" noProof="0" dirty="0">
                <a:ln>
                  <a:noFill/>
                </a:ln>
                <a:solidFill>
                  <a:prstClr val="black"/>
                </a:solidFill>
                <a:effectLst/>
                <a:uLnTx/>
                <a:uFillTx/>
                <a:latin typeface="Courier" pitchFamily="2" charset="0"/>
              </a:rPr>
              <a:t>value</a:t>
            </a:r>
            <a:r>
              <a:rPr kumimoji="0" lang="en-US" altLang="en-US" sz="2200" b="0" i="0" u="none" strike="noStrike" kern="1200" cap="none" spc="0" normalizeH="0" baseline="0" noProof="0" dirty="0">
                <a:ln>
                  <a:noFill/>
                </a:ln>
                <a:solidFill>
                  <a:prstClr val="black"/>
                </a:solidFill>
                <a:effectLst/>
                <a:uLnTx/>
                <a:uFillTx/>
                <a:latin typeface="Calibri" panose="020F0502020204030204"/>
              </a:rPr>
              <a:t> is IP address</a:t>
            </a:r>
          </a:p>
        </p:txBody>
      </p:sp>
      <p:grpSp>
        <p:nvGrpSpPr>
          <p:cNvPr id="11" name="Group 10">
            <a:extLst>
              <a:ext uri="{FF2B5EF4-FFF2-40B4-BE49-F238E27FC236}">
                <a16:creationId xmlns:a16="http://schemas.microsoft.com/office/drawing/2014/main" id="{A35E99BB-5DF5-BB1B-9873-E01B38D3904D}"/>
              </a:ext>
            </a:extLst>
          </p:cNvPr>
          <p:cNvGrpSpPr/>
          <p:nvPr/>
        </p:nvGrpSpPr>
        <p:grpSpPr>
          <a:xfrm>
            <a:off x="1439227" y="747563"/>
            <a:ext cx="9712325" cy="1155700"/>
            <a:chOff x="1347787" y="1270000"/>
            <a:chExt cx="9712325" cy="1155700"/>
          </a:xfrm>
        </p:grpSpPr>
        <p:sp>
          <p:nvSpPr>
            <p:cNvPr id="13" name="Rectangle 3">
              <a:extLst>
                <a:ext uri="{FF2B5EF4-FFF2-40B4-BE49-F238E27FC236}">
                  <a16:creationId xmlns:a16="http://schemas.microsoft.com/office/drawing/2014/main" id="{74F6F442-F256-B72C-7CF4-3F3615337ECB}"/>
                </a:ext>
              </a:extLst>
            </p:cNvPr>
            <p:cNvSpPr txBox="1">
              <a:spLocks noChangeArrowheads="1"/>
            </p:cNvSpPr>
            <p:nvPr/>
          </p:nvSpPr>
          <p:spPr>
            <a:xfrm>
              <a:off x="1347787" y="1358900"/>
              <a:ext cx="9574213" cy="51435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DNS:</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distributed database storing resource records </a:t>
              </a: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(RR)</a:t>
              </a:r>
            </a:p>
          </p:txBody>
        </p:sp>
        <p:sp>
          <p:nvSpPr>
            <p:cNvPr id="15" name="Text Box 6">
              <a:extLst>
                <a:ext uri="{FF2B5EF4-FFF2-40B4-BE49-F238E27FC236}">
                  <a16:creationId xmlns:a16="http://schemas.microsoft.com/office/drawing/2014/main" id="{87A5EA27-B9C2-4529-8235-3813857EF784}"/>
                </a:ext>
              </a:extLst>
            </p:cNvPr>
            <p:cNvSpPr txBox="1">
              <a:spLocks noChangeArrowheads="1"/>
            </p:cNvSpPr>
            <p:nvPr/>
          </p:nvSpPr>
          <p:spPr bwMode="auto">
            <a:xfrm>
              <a:off x="2659063" y="1860128"/>
              <a:ext cx="84010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RR format: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r>
                <a:rPr kumimoji="0" lang="en-US" altLang="en-US" sz="2400" b="0"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name, [TTL], class, value, type</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 name="Rectangle 1">
              <a:extLst>
                <a:ext uri="{FF2B5EF4-FFF2-40B4-BE49-F238E27FC236}">
                  <a16:creationId xmlns:a16="http://schemas.microsoft.com/office/drawing/2014/main" id="{F6AE7824-6DA8-AB57-C03F-5046360B0914}"/>
                </a:ext>
              </a:extLst>
            </p:cNvPr>
            <p:cNvSpPr/>
            <p:nvPr/>
          </p:nvSpPr>
          <p:spPr>
            <a:xfrm>
              <a:off x="1358900" y="1270000"/>
              <a:ext cx="9690100" cy="115570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4" name="TextBox 3">
            <a:extLst>
              <a:ext uri="{FF2B5EF4-FFF2-40B4-BE49-F238E27FC236}">
                <a16:creationId xmlns:a16="http://schemas.microsoft.com/office/drawing/2014/main" id="{E8C018CF-152F-A0C6-9AA8-53AB30355820}"/>
              </a:ext>
            </a:extLst>
          </p:cNvPr>
          <p:cNvSpPr txBox="1"/>
          <p:nvPr/>
        </p:nvSpPr>
        <p:spPr>
          <a:xfrm>
            <a:off x="4671285" y="1991428"/>
            <a:ext cx="7442200" cy="830997"/>
          </a:xfrm>
          <a:prstGeom prst="rect">
            <a:avLst/>
          </a:prstGeom>
          <a:noFill/>
        </p:spPr>
        <p:txBody>
          <a:bodyPr wrap="square">
            <a:spAutoFit/>
          </a:bodyPr>
          <a:lstStyle/>
          <a:p>
            <a:r>
              <a:rPr lang="en-US" sz="2400" dirty="0">
                <a:solidFill>
                  <a:schemeClr val="accent2">
                    <a:lumMod val="75000"/>
                  </a:schemeClr>
                </a:solidFill>
              </a:rPr>
              <a:t>;; </a:t>
            </a:r>
            <a:r>
              <a:rPr lang="en-US" sz="2400" dirty="0">
                <a:solidFill>
                  <a:srgbClr val="00B050"/>
                </a:solidFill>
              </a:rPr>
              <a:t>AUTHORITY SECTION:</a:t>
            </a:r>
          </a:p>
          <a:p>
            <a:r>
              <a:rPr lang="en-US" sz="2400" dirty="0" err="1">
                <a:solidFill>
                  <a:schemeClr val="accent2">
                    <a:lumMod val="75000"/>
                  </a:schemeClr>
                </a:solidFill>
              </a:rPr>
              <a:t>edu</a:t>
            </a:r>
            <a:r>
              <a:rPr lang="en-US" sz="2400" dirty="0">
                <a:solidFill>
                  <a:schemeClr val="accent2">
                    <a:lumMod val="75000"/>
                  </a:schemeClr>
                </a:solidFill>
              </a:rPr>
              <a:t>.                    172800  IN      NS      d.edu-servers.net.</a:t>
            </a:r>
            <a:endParaRPr lang="en-US" sz="2200" dirty="0">
              <a:solidFill>
                <a:schemeClr val="accent2">
                  <a:lumMod val="75000"/>
                </a:schemeClr>
              </a:solidFill>
            </a:endParaRPr>
          </a:p>
        </p:txBody>
      </p:sp>
      <p:sp>
        <p:nvSpPr>
          <p:cNvPr id="6" name="TextBox 5">
            <a:extLst>
              <a:ext uri="{FF2B5EF4-FFF2-40B4-BE49-F238E27FC236}">
                <a16:creationId xmlns:a16="http://schemas.microsoft.com/office/drawing/2014/main" id="{4A1FCB53-C4D9-3F9C-8668-077BB60EB356}"/>
              </a:ext>
            </a:extLst>
          </p:cNvPr>
          <p:cNvSpPr txBox="1"/>
          <p:nvPr/>
        </p:nvSpPr>
        <p:spPr>
          <a:xfrm>
            <a:off x="4343625" y="4656642"/>
            <a:ext cx="8097520" cy="2092881"/>
          </a:xfrm>
          <a:prstGeom prst="rect">
            <a:avLst/>
          </a:prstGeom>
          <a:noFill/>
        </p:spPr>
        <p:txBody>
          <a:bodyPr wrap="square">
            <a:spAutoFit/>
          </a:bodyPr>
          <a:lstStyle/>
          <a:p>
            <a:pPr>
              <a:spcAft>
                <a:spcPts val="600"/>
              </a:spcAft>
            </a:pPr>
            <a:r>
              <a:rPr lang="en-US" altLang="zh-CN" sz="2200" b="1" dirty="0">
                <a:solidFill>
                  <a:srgbClr val="C00000"/>
                </a:solidFill>
              </a:rPr>
              <a:t>class</a:t>
            </a:r>
            <a:r>
              <a:rPr lang="en-US" altLang="zh-CN" sz="2200" dirty="0"/>
              <a:t>: </a:t>
            </a:r>
            <a:r>
              <a:rPr lang="en-US" sz="2200" dirty="0"/>
              <a:t>DNS was designed to support different </a:t>
            </a:r>
            <a:r>
              <a:rPr lang="en-US" sz="2200" b="1" dirty="0"/>
              <a:t>types</a:t>
            </a:r>
            <a:r>
              <a:rPr lang="en-US" sz="2200" dirty="0"/>
              <a:t> of networks</a:t>
            </a:r>
          </a:p>
          <a:p>
            <a:pPr marL="285750" indent="-285750">
              <a:spcAft>
                <a:spcPts val="600"/>
              </a:spcAft>
              <a:buFont typeface="Arial" panose="020B0604020202020204" pitchFamily="34" charset="0"/>
              <a:buChar char="•"/>
            </a:pPr>
            <a:r>
              <a:rPr lang="en-US" sz="2200" dirty="0"/>
              <a:t>CH = Chaos (used for some diagnostic queries)</a:t>
            </a:r>
          </a:p>
          <a:p>
            <a:pPr marL="285750" indent="-285750">
              <a:spcAft>
                <a:spcPts val="600"/>
              </a:spcAft>
              <a:buFont typeface="Arial" panose="020B0604020202020204" pitchFamily="34" charset="0"/>
              <a:buChar char="•"/>
            </a:pPr>
            <a:r>
              <a:rPr lang="en-US" sz="2200" dirty="0"/>
              <a:t>HS = Hesiod (used by some Unix systems)</a:t>
            </a:r>
          </a:p>
          <a:p>
            <a:pPr marL="285750" indent="-285750">
              <a:spcAft>
                <a:spcPts val="600"/>
              </a:spcAft>
              <a:buFont typeface="Arial" panose="020B0604020202020204" pitchFamily="34" charset="0"/>
              <a:buChar char="•"/>
            </a:pPr>
            <a:r>
              <a:rPr lang="en-US" sz="2200" dirty="0"/>
              <a:t>NONE = Used in dynamic updates</a:t>
            </a:r>
            <a:r>
              <a:rPr lang="en-US" sz="2200" b="1" dirty="0"/>
              <a:t> </a:t>
            </a:r>
          </a:p>
          <a:p>
            <a:pPr marL="285750" indent="-285750">
              <a:spcAft>
                <a:spcPts val="600"/>
              </a:spcAft>
              <a:buFont typeface="Arial" panose="020B0604020202020204" pitchFamily="34" charset="0"/>
              <a:buChar char="•"/>
            </a:pPr>
            <a:r>
              <a:rPr lang="en-US" sz="2200" b="1" dirty="0"/>
              <a:t>99.9% of DNS records use "IN"</a:t>
            </a:r>
            <a:r>
              <a:rPr lang="en-US" sz="2200" dirty="0"/>
              <a:t> (Internet class)</a:t>
            </a:r>
          </a:p>
        </p:txBody>
      </p:sp>
      <p:grpSp>
        <p:nvGrpSpPr>
          <p:cNvPr id="19" name="Group 18">
            <a:extLst>
              <a:ext uri="{FF2B5EF4-FFF2-40B4-BE49-F238E27FC236}">
                <a16:creationId xmlns:a16="http://schemas.microsoft.com/office/drawing/2014/main" id="{9D38FC20-5234-878D-AC05-5C0BA68E47FE}"/>
              </a:ext>
            </a:extLst>
          </p:cNvPr>
          <p:cNvGrpSpPr/>
          <p:nvPr/>
        </p:nvGrpSpPr>
        <p:grpSpPr>
          <a:xfrm>
            <a:off x="9323296" y="2740251"/>
            <a:ext cx="2661694" cy="571574"/>
            <a:chOff x="9439837" y="4775460"/>
            <a:chExt cx="2661694" cy="571574"/>
          </a:xfrm>
        </p:grpSpPr>
        <p:sp>
          <p:nvSpPr>
            <p:cNvPr id="5" name="TextBox 4">
              <a:extLst>
                <a:ext uri="{FF2B5EF4-FFF2-40B4-BE49-F238E27FC236}">
                  <a16:creationId xmlns:a16="http://schemas.microsoft.com/office/drawing/2014/main" id="{B346721E-C807-BEB8-AB54-547D010D72D9}"/>
                </a:ext>
              </a:extLst>
            </p:cNvPr>
            <p:cNvSpPr txBox="1"/>
            <p:nvPr/>
          </p:nvSpPr>
          <p:spPr>
            <a:xfrm>
              <a:off x="9925349" y="4977702"/>
              <a:ext cx="2176182" cy="369332"/>
            </a:xfrm>
            <a:prstGeom prst="rect">
              <a:avLst/>
            </a:prstGeom>
            <a:noFill/>
          </p:spPr>
          <p:txBody>
            <a:bodyPr wrap="square">
              <a:spAutoFit/>
            </a:bodyPr>
            <a:lstStyle/>
            <a:p>
              <a:r>
                <a:rPr lang="en-US" sz="1800" dirty="0"/>
                <a:t>Value (name server)</a:t>
              </a:r>
            </a:p>
          </p:txBody>
        </p:sp>
        <p:cxnSp>
          <p:nvCxnSpPr>
            <p:cNvPr id="8" name="Connector: Elbow 7">
              <a:extLst>
                <a:ext uri="{FF2B5EF4-FFF2-40B4-BE49-F238E27FC236}">
                  <a16:creationId xmlns:a16="http://schemas.microsoft.com/office/drawing/2014/main" id="{23347D4D-D9F8-331C-D771-80345372E62B}"/>
                </a:ext>
              </a:extLst>
            </p:cNvPr>
            <p:cNvCxnSpPr>
              <a:cxnSpLocks/>
              <a:stCxn id="5" idx="1"/>
            </p:cNvCxnSpPr>
            <p:nvPr/>
          </p:nvCxnSpPr>
          <p:spPr>
            <a:xfrm rot="10800000">
              <a:off x="9439837" y="4775460"/>
              <a:ext cx="485513" cy="386908"/>
            </a:xfrm>
            <a:prstGeom prst="bentConnector3">
              <a:avLst>
                <a:gd name="adj1" fmla="val 99854"/>
              </a:avLst>
            </a:prstGeom>
            <a:ln w="57150">
              <a:tailEnd type="triangle"/>
            </a:ln>
          </p:spPr>
          <p:style>
            <a:lnRef idx="2">
              <a:schemeClr val="accent2"/>
            </a:lnRef>
            <a:fillRef idx="0">
              <a:schemeClr val="accent2"/>
            </a:fillRef>
            <a:effectRef idx="1">
              <a:schemeClr val="accent2"/>
            </a:effectRef>
            <a:fontRef idx="minor">
              <a:schemeClr val="tx1"/>
            </a:fontRef>
          </p:style>
        </p:cxnSp>
      </p:grpSp>
      <p:grpSp>
        <p:nvGrpSpPr>
          <p:cNvPr id="20" name="Group 19">
            <a:extLst>
              <a:ext uri="{FF2B5EF4-FFF2-40B4-BE49-F238E27FC236}">
                <a16:creationId xmlns:a16="http://schemas.microsoft.com/office/drawing/2014/main" id="{7137BA51-40D7-62DB-54AE-A055A49351FE}"/>
              </a:ext>
            </a:extLst>
          </p:cNvPr>
          <p:cNvGrpSpPr/>
          <p:nvPr/>
        </p:nvGrpSpPr>
        <p:grpSpPr>
          <a:xfrm>
            <a:off x="8543365" y="2736863"/>
            <a:ext cx="2693484" cy="990748"/>
            <a:chOff x="9408047" y="4356286"/>
            <a:chExt cx="2693484" cy="990748"/>
          </a:xfrm>
        </p:grpSpPr>
        <p:sp>
          <p:nvSpPr>
            <p:cNvPr id="21" name="TextBox 20">
              <a:extLst>
                <a:ext uri="{FF2B5EF4-FFF2-40B4-BE49-F238E27FC236}">
                  <a16:creationId xmlns:a16="http://schemas.microsoft.com/office/drawing/2014/main" id="{A5E364A5-14CB-B819-DAF8-D1940105983B}"/>
                </a:ext>
              </a:extLst>
            </p:cNvPr>
            <p:cNvSpPr txBox="1"/>
            <p:nvPr/>
          </p:nvSpPr>
          <p:spPr>
            <a:xfrm>
              <a:off x="9925349" y="4977702"/>
              <a:ext cx="2176182" cy="369332"/>
            </a:xfrm>
            <a:prstGeom prst="rect">
              <a:avLst/>
            </a:prstGeom>
            <a:noFill/>
          </p:spPr>
          <p:txBody>
            <a:bodyPr wrap="square">
              <a:spAutoFit/>
            </a:bodyPr>
            <a:lstStyle/>
            <a:p>
              <a:r>
                <a:rPr lang="en-US" dirty="0"/>
                <a:t>Type</a:t>
              </a:r>
              <a:r>
                <a:rPr lang="en-US" sz="1800" dirty="0"/>
                <a:t> (name server)</a:t>
              </a:r>
            </a:p>
          </p:txBody>
        </p:sp>
        <p:cxnSp>
          <p:nvCxnSpPr>
            <p:cNvPr id="22" name="Connector: Elbow 21">
              <a:extLst>
                <a:ext uri="{FF2B5EF4-FFF2-40B4-BE49-F238E27FC236}">
                  <a16:creationId xmlns:a16="http://schemas.microsoft.com/office/drawing/2014/main" id="{7BB5B4C8-8D55-6333-14A6-1D0265EA886C}"/>
                </a:ext>
              </a:extLst>
            </p:cNvPr>
            <p:cNvCxnSpPr>
              <a:cxnSpLocks/>
              <a:stCxn id="21" idx="1"/>
            </p:cNvCxnSpPr>
            <p:nvPr/>
          </p:nvCxnSpPr>
          <p:spPr>
            <a:xfrm rot="10800000">
              <a:off x="9408047" y="4356286"/>
              <a:ext cx="517302" cy="806082"/>
            </a:xfrm>
            <a:prstGeom prst="bentConnector2">
              <a:avLst/>
            </a:prstGeom>
            <a:ln w="57150">
              <a:tailEnd type="triangle"/>
            </a:ln>
          </p:spPr>
          <p:style>
            <a:lnRef idx="2">
              <a:schemeClr val="accent2"/>
            </a:lnRef>
            <a:fillRef idx="0">
              <a:schemeClr val="accent2"/>
            </a:fillRef>
            <a:effectRef idx="1">
              <a:schemeClr val="accent2"/>
            </a:effectRef>
            <a:fontRef idx="minor">
              <a:schemeClr val="tx1"/>
            </a:fontRef>
          </p:style>
        </p:cxnSp>
      </p:grpSp>
      <p:grpSp>
        <p:nvGrpSpPr>
          <p:cNvPr id="26" name="Group 25">
            <a:extLst>
              <a:ext uri="{FF2B5EF4-FFF2-40B4-BE49-F238E27FC236}">
                <a16:creationId xmlns:a16="http://schemas.microsoft.com/office/drawing/2014/main" id="{E6DE1A73-85EF-D2C4-5549-6A1EC5B6FCDB}"/>
              </a:ext>
            </a:extLst>
          </p:cNvPr>
          <p:cNvGrpSpPr/>
          <p:nvPr/>
        </p:nvGrpSpPr>
        <p:grpSpPr>
          <a:xfrm>
            <a:off x="7844118" y="2767121"/>
            <a:ext cx="2733414" cy="1374688"/>
            <a:chOff x="9368117" y="3972346"/>
            <a:chExt cx="2733414" cy="1374688"/>
          </a:xfrm>
        </p:grpSpPr>
        <p:sp>
          <p:nvSpPr>
            <p:cNvPr id="27" name="TextBox 26">
              <a:extLst>
                <a:ext uri="{FF2B5EF4-FFF2-40B4-BE49-F238E27FC236}">
                  <a16:creationId xmlns:a16="http://schemas.microsoft.com/office/drawing/2014/main" id="{8B4B7A00-59C3-AF37-126B-4E413B8247B2}"/>
                </a:ext>
              </a:extLst>
            </p:cNvPr>
            <p:cNvSpPr txBox="1"/>
            <p:nvPr/>
          </p:nvSpPr>
          <p:spPr>
            <a:xfrm>
              <a:off x="9925349" y="4977702"/>
              <a:ext cx="2176182" cy="369332"/>
            </a:xfrm>
            <a:prstGeom prst="rect">
              <a:avLst/>
            </a:prstGeom>
            <a:noFill/>
          </p:spPr>
          <p:txBody>
            <a:bodyPr wrap="square">
              <a:spAutoFit/>
            </a:bodyPr>
            <a:lstStyle/>
            <a:p>
              <a:r>
                <a:rPr lang="en-US" sz="1800" dirty="0"/>
                <a:t>Class (Internet)</a:t>
              </a:r>
            </a:p>
          </p:txBody>
        </p:sp>
        <p:cxnSp>
          <p:nvCxnSpPr>
            <p:cNvPr id="28" name="Connector: Elbow 27">
              <a:extLst>
                <a:ext uri="{FF2B5EF4-FFF2-40B4-BE49-F238E27FC236}">
                  <a16:creationId xmlns:a16="http://schemas.microsoft.com/office/drawing/2014/main" id="{BC8F5563-E14D-AB7D-CE6A-045897DA6824}"/>
                </a:ext>
              </a:extLst>
            </p:cNvPr>
            <p:cNvCxnSpPr>
              <a:cxnSpLocks/>
              <a:stCxn id="27" idx="1"/>
            </p:cNvCxnSpPr>
            <p:nvPr/>
          </p:nvCxnSpPr>
          <p:spPr>
            <a:xfrm rot="10800000">
              <a:off x="9368117" y="3972346"/>
              <a:ext cx="557232" cy="1190022"/>
            </a:xfrm>
            <a:prstGeom prst="bentConnector2">
              <a:avLst/>
            </a:prstGeom>
            <a:ln w="57150">
              <a:tailEnd type="triangle"/>
            </a:ln>
          </p:spPr>
          <p:style>
            <a:lnRef idx="2">
              <a:schemeClr val="accent2"/>
            </a:lnRef>
            <a:fillRef idx="0">
              <a:schemeClr val="accent2"/>
            </a:fillRef>
            <a:effectRef idx="1">
              <a:schemeClr val="accent2"/>
            </a:effectRef>
            <a:fontRef idx="minor">
              <a:schemeClr val="tx1"/>
            </a:fontRef>
          </p:style>
        </p:cxnSp>
      </p:grpSp>
      <p:grpSp>
        <p:nvGrpSpPr>
          <p:cNvPr id="45" name="Group 44">
            <a:extLst>
              <a:ext uri="{FF2B5EF4-FFF2-40B4-BE49-F238E27FC236}">
                <a16:creationId xmlns:a16="http://schemas.microsoft.com/office/drawing/2014/main" id="{B09D69CA-CD65-E107-3B90-31ED4915DDA9}"/>
              </a:ext>
            </a:extLst>
          </p:cNvPr>
          <p:cNvGrpSpPr/>
          <p:nvPr/>
        </p:nvGrpSpPr>
        <p:grpSpPr>
          <a:xfrm>
            <a:off x="5747593" y="2767121"/>
            <a:ext cx="2934110" cy="1766868"/>
            <a:chOff x="5609254" y="2769086"/>
            <a:chExt cx="2934110" cy="1766868"/>
          </a:xfrm>
        </p:grpSpPr>
        <p:sp>
          <p:nvSpPr>
            <p:cNvPr id="24" name="TextBox 23">
              <a:extLst>
                <a:ext uri="{FF2B5EF4-FFF2-40B4-BE49-F238E27FC236}">
                  <a16:creationId xmlns:a16="http://schemas.microsoft.com/office/drawing/2014/main" id="{43207131-124C-E7AA-482C-381AA69072A7}"/>
                </a:ext>
              </a:extLst>
            </p:cNvPr>
            <p:cNvSpPr txBox="1"/>
            <p:nvPr/>
          </p:nvSpPr>
          <p:spPr>
            <a:xfrm>
              <a:off x="5609254" y="4166622"/>
              <a:ext cx="2934110" cy="369332"/>
            </a:xfrm>
            <a:prstGeom prst="rect">
              <a:avLst/>
            </a:prstGeom>
            <a:noFill/>
          </p:spPr>
          <p:txBody>
            <a:bodyPr wrap="square">
              <a:spAutoFit/>
            </a:bodyPr>
            <a:lstStyle/>
            <a:p>
              <a:r>
                <a:rPr lang="en-US" sz="1800" dirty="0"/>
                <a:t>TTL (time to live in seconds)</a:t>
              </a:r>
            </a:p>
          </p:txBody>
        </p:sp>
        <p:cxnSp>
          <p:nvCxnSpPr>
            <p:cNvPr id="43" name="Straight Arrow Connector 42">
              <a:extLst>
                <a:ext uri="{FF2B5EF4-FFF2-40B4-BE49-F238E27FC236}">
                  <a16:creationId xmlns:a16="http://schemas.microsoft.com/office/drawing/2014/main" id="{35E70667-9568-D892-C12F-F18119203EE9}"/>
                </a:ext>
              </a:extLst>
            </p:cNvPr>
            <p:cNvCxnSpPr>
              <a:cxnSpLocks/>
              <a:stCxn id="24" idx="0"/>
            </p:cNvCxnSpPr>
            <p:nvPr/>
          </p:nvCxnSpPr>
          <p:spPr>
            <a:xfrm flipH="1" flipV="1">
              <a:off x="7064890" y="2769086"/>
              <a:ext cx="11419" cy="1397536"/>
            </a:xfrm>
            <a:prstGeom prst="straightConnector1">
              <a:avLst/>
            </a:prstGeom>
            <a:ln w="57150">
              <a:tailEnd type="triangle"/>
            </a:ln>
          </p:spPr>
          <p:style>
            <a:lnRef idx="2">
              <a:schemeClr val="accent2"/>
            </a:lnRef>
            <a:fillRef idx="0">
              <a:schemeClr val="accent2"/>
            </a:fillRef>
            <a:effectRef idx="1">
              <a:schemeClr val="accent2"/>
            </a:effectRef>
            <a:fontRef idx="minor">
              <a:schemeClr val="tx1"/>
            </a:fontRef>
          </p:style>
        </p:cxnSp>
      </p:grpSp>
      <p:grpSp>
        <p:nvGrpSpPr>
          <p:cNvPr id="53" name="Group 52">
            <a:extLst>
              <a:ext uri="{FF2B5EF4-FFF2-40B4-BE49-F238E27FC236}">
                <a16:creationId xmlns:a16="http://schemas.microsoft.com/office/drawing/2014/main" id="{32144164-06ED-08AD-D98C-D253AD63634D}"/>
              </a:ext>
            </a:extLst>
          </p:cNvPr>
          <p:cNvGrpSpPr/>
          <p:nvPr/>
        </p:nvGrpSpPr>
        <p:grpSpPr>
          <a:xfrm>
            <a:off x="4254494" y="2845273"/>
            <a:ext cx="1653584" cy="1206804"/>
            <a:chOff x="4362943" y="2890139"/>
            <a:chExt cx="1653584" cy="1206804"/>
          </a:xfrm>
        </p:grpSpPr>
        <p:sp>
          <p:nvSpPr>
            <p:cNvPr id="48" name="TextBox 47">
              <a:extLst>
                <a:ext uri="{FF2B5EF4-FFF2-40B4-BE49-F238E27FC236}">
                  <a16:creationId xmlns:a16="http://schemas.microsoft.com/office/drawing/2014/main" id="{EDC192AC-AAF8-1D35-5383-CA836C85A8B5}"/>
                </a:ext>
              </a:extLst>
            </p:cNvPr>
            <p:cNvSpPr txBox="1"/>
            <p:nvPr/>
          </p:nvSpPr>
          <p:spPr>
            <a:xfrm>
              <a:off x="4362943" y="3727611"/>
              <a:ext cx="1653584" cy="369332"/>
            </a:xfrm>
            <a:prstGeom prst="rect">
              <a:avLst/>
            </a:prstGeom>
            <a:noFill/>
          </p:spPr>
          <p:txBody>
            <a:bodyPr wrap="square">
              <a:spAutoFit/>
            </a:bodyPr>
            <a:lstStyle/>
            <a:p>
              <a:pPr algn="ctr"/>
              <a:r>
                <a:rPr lang="en-US" sz="1800" dirty="0"/>
                <a:t>Domain name</a:t>
              </a:r>
            </a:p>
          </p:txBody>
        </p:sp>
        <p:cxnSp>
          <p:nvCxnSpPr>
            <p:cNvPr id="49" name="Straight Arrow Connector 48">
              <a:extLst>
                <a:ext uri="{FF2B5EF4-FFF2-40B4-BE49-F238E27FC236}">
                  <a16:creationId xmlns:a16="http://schemas.microsoft.com/office/drawing/2014/main" id="{5743425C-71D7-94E8-F5B9-6D4331486C4A}"/>
                </a:ext>
              </a:extLst>
            </p:cNvPr>
            <p:cNvCxnSpPr>
              <a:cxnSpLocks/>
              <a:stCxn id="48" idx="0"/>
            </p:cNvCxnSpPr>
            <p:nvPr/>
          </p:nvCxnSpPr>
          <p:spPr>
            <a:xfrm flipV="1">
              <a:off x="5189735" y="2890139"/>
              <a:ext cx="0" cy="837472"/>
            </a:xfrm>
            <a:prstGeom prst="straightConnector1">
              <a:avLst/>
            </a:prstGeom>
            <a:ln w="57150">
              <a:tailEnd type="triangle"/>
            </a:ln>
          </p:spPr>
          <p:style>
            <a:lnRef idx="2">
              <a:schemeClr val="accent2"/>
            </a:lnRef>
            <a:fillRef idx="0">
              <a:schemeClr val="accent2"/>
            </a:fillRef>
            <a:effectRef idx="1">
              <a:schemeClr val="accent2"/>
            </a:effectRef>
            <a:fontRef idx="minor">
              <a:schemeClr val="tx1"/>
            </a:fontRef>
          </p:style>
        </p:cxnSp>
      </p:grpSp>
    </p:spTree>
    <p:extLst>
      <p:ext uri="{BB962C8B-B14F-4D97-AF65-F5344CB8AC3E}">
        <p14:creationId xmlns:p14="http://schemas.microsoft.com/office/powerpoint/2010/main" val="560322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3E727-7FB8-B6D2-C5B5-1F665A073CC6}"/>
              </a:ext>
            </a:extLst>
          </p:cNvPr>
          <p:cNvSpPr>
            <a:spLocks noGrp="1"/>
          </p:cNvSpPr>
          <p:nvPr>
            <p:ph type="title"/>
          </p:nvPr>
        </p:nvSpPr>
        <p:spPr>
          <a:xfrm>
            <a:off x="838200" y="0"/>
            <a:ext cx="10515600" cy="773393"/>
          </a:xfrm>
        </p:spPr>
        <p:txBody>
          <a:bodyPr/>
          <a:lstStyle/>
          <a:p>
            <a:r>
              <a:rPr lang="en-US" dirty="0"/>
              <a:t>DNS Lookup Walkthrough</a:t>
            </a:r>
          </a:p>
        </p:txBody>
      </p:sp>
      <p:sp>
        <p:nvSpPr>
          <p:cNvPr id="3" name="TextBox 2">
            <a:extLst>
              <a:ext uri="{FF2B5EF4-FFF2-40B4-BE49-F238E27FC236}">
                <a16:creationId xmlns:a16="http://schemas.microsoft.com/office/drawing/2014/main" id="{EC15D29B-2409-0599-8773-5FAB12F856F4}"/>
              </a:ext>
            </a:extLst>
          </p:cNvPr>
          <p:cNvSpPr txBox="1"/>
          <p:nvPr/>
        </p:nvSpPr>
        <p:spPr>
          <a:xfrm>
            <a:off x="387991" y="835510"/>
            <a:ext cx="7826829" cy="369332"/>
          </a:xfrm>
          <a:prstGeom prst="rect">
            <a:avLst/>
          </a:prstGeom>
          <a:noFill/>
        </p:spPr>
        <p:txBody>
          <a:bodyPr wrap="square">
            <a:spAutoFit/>
          </a:bodyPr>
          <a:lstStyle/>
          <a:p>
            <a:r>
              <a:rPr lang="en-US" b="1" dirty="0"/>
              <a:t>$ dig </a:t>
            </a:r>
            <a:r>
              <a:rPr lang="en-US" b="1" dirty="0">
                <a:solidFill>
                  <a:srgbClr val="C00000"/>
                </a:solidFill>
              </a:rPr>
              <a:t>+</a:t>
            </a:r>
            <a:r>
              <a:rPr lang="en-US" b="1" dirty="0" err="1">
                <a:solidFill>
                  <a:srgbClr val="C00000"/>
                </a:solidFill>
              </a:rPr>
              <a:t>norecurse</a:t>
            </a:r>
            <a:r>
              <a:rPr lang="en-US" b="1" dirty="0">
                <a:solidFill>
                  <a:srgbClr val="C00000"/>
                </a:solidFill>
              </a:rPr>
              <a:t> </a:t>
            </a:r>
            <a:r>
              <a:rPr lang="en-US" b="1" dirty="0"/>
              <a:t>www.msoe.edu @198.41.0.4</a:t>
            </a:r>
          </a:p>
        </p:txBody>
      </p:sp>
      <p:grpSp>
        <p:nvGrpSpPr>
          <p:cNvPr id="10" name="Group 9">
            <a:extLst>
              <a:ext uri="{FF2B5EF4-FFF2-40B4-BE49-F238E27FC236}">
                <a16:creationId xmlns:a16="http://schemas.microsoft.com/office/drawing/2014/main" id="{EFAF2998-7C21-45A1-F63A-3A7D75AC7A68}"/>
              </a:ext>
            </a:extLst>
          </p:cNvPr>
          <p:cNvGrpSpPr/>
          <p:nvPr/>
        </p:nvGrpSpPr>
        <p:grpSpPr>
          <a:xfrm>
            <a:off x="4068826" y="507987"/>
            <a:ext cx="8123174" cy="2708403"/>
            <a:chOff x="3786622" y="633493"/>
            <a:chExt cx="8123174" cy="2708403"/>
          </a:xfrm>
        </p:grpSpPr>
        <p:sp>
          <p:nvSpPr>
            <p:cNvPr id="5" name="Google Shape;758;p66">
              <a:extLst>
                <a:ext uri="{FF2B5EF4-FFF2-40B4-BE49-F238E27FC236}">
                  <a16:creationId xmlns:a16="http://schemas.microsoft.com/office/drawing/2014/main" id="{F0B83E57-E49A-4E08-8C16-11C6602E0689}"/>
                </a:ext>
              </a:extLst>
            </p:cNvPr>
            <p:cNvSpPr txBox="1"/>
            <p:nvPr/>
          </p:nvSpPr>
          <p:spPr>
            <a:xfrm>
              <a:off x="6436660" y="633493"/>
              <a:ext cx="5473136" cy="2708403"/>
            </a:xfrm>
            <a:prstGeom prst="rect">
              <a:avLst/>
            </a:prstGeom>
            <a:solidFill>
              <a:schemeClr val="bg1"/>
            </a:solidFill>
            <a:ln>
              <a:noFill/>
            </a:ln>
          </p:spPr>
          <p:txBody>
            <a:bodyPr spcFirstLastPara="1" wrap="square" lIns="91425" tIns="91425" rIns="91425" bIns="91425" anchor="t" anchorCtr="0">
              <a:spAutoFit/>
            </a:bodyPr>
            <a:lstStyle/>
            <a:p>
              <a:pPr marL="285750" lvl="0" indent="-285750" algn="l" rtl="0">
                <a:spcBef>
                  <a:spcPts val="0"/>
                </a:spcBef>
                <a:spcAft>
                  <a:spcPts val="600"/>
                </a:spcAft>
                <a:buClr>
                  <a:schemeClr val="dk1"/>
                </a:buClr>
                <a:buSzPts val="1100"/>
                <a:buFont typeface="Arial" panose="020B0604020202020204" pitchFamily="34" charset="0"/>
                <a:buChar char="•"/>
              </a:pPr>
              <a:r>
                <a:rPr lang="en" dirty="0">
                  <a:solidFill>
                    <a:srgbClr val="C00000"/>
                  </a:solidFill>
                  <a:latin typeface="Roboto"/>
                  <a:ea typeface="Roboto"/>
                  <a:cs typeface="Roboto"/>
                  <a:sym typeface="Roboto"/>
                </a:rPr>
                <a:t>DNS queries always start with a request to the root name server</a:t>
              </a:r>
            </a:p>
            <a:p>
              <a:pPr marL="285750" lvl="0" indent="-285750" algn="l" rtl="0">
                <a:spcBef>
                  <a:spcPts val="0"/>
                </a:spcBef>
                <a:spcAft>
                  <a:spcPts val="600"/>
                </a:spcAft>
                <a:buClr>
                  <a:schemeClr val="dk1"/>
                </a:buClr>
                <a:buSzPts val="1100"/>
                <a:buFont typeface="Arial" panose="020B0604020202020204" pitchFamily="34" charset="0"/>
                <a:buChar char="•"/>
              </a:pPr>
              <a:r>
                <a:rPr lang="en" dirty="0">
                  <a:solidFill>
                    <a:srgbClr val="C00000"/>
                  </a:solidFill>
                  <a:latin typeface="Roboto"/>
                  <a:ea typeface="Roboto"/>
                  <a:cs typeface="Roboto"/>
                  <a:sym typeface="Roboto"/>
                </a:rPr>
                <a:t>The IP address of the root name server is usually hard-coded into local DNS servers</a:t>
              </a:r>
            </a:p>
            <a:p>
              <a:pPr marL="285750" lvl="0" indent="-285750" algn="l" rtl="0">
                <a:spcBef>
                  <a:spcPts val="0"/>
                </a:spcBef>
                <a:spcAft>
                  <a:spcPts val="600"/>
                </a:spcAft>
                <a:buClr>
                  <a:schemeClr val="dk1"/>
                </a:buClr>
                <a:buSzPts val="1100"/>
                <a:buFont typeface="Arial" panose="020B0604020202020204" pitchFamily="34" charset="0"/>
                <a:buChar char="•"/>
              </a:pPr>
              <a:r>
                <a:rPr lang="en-US" dirty="0">
                  <a:solidFill>
                    <a:srgbClr val="C00000"/>
                  </a:solidFill>
                  <a:latin typeface="Roboto"/>
                  <a:ea typeface="Roboto"/>
                  <a:cs typeface="Roboto"/>
                  <a:sym typeface="Roboto"/>
                </a:rPr>
                <a:t>You can try this at home! Use the dig utility in your terminal</a:t>
              </a:r>
            </a:p>
            <a:p>
              <a:pPr marL="285750" lvl="0" indent="-285750" algn="l" rtl="0">
                <a:spcBef>
                  <a:spcPts val="0"/>
                </a:spcBef>
                <a:spcAft>
                  <a:spcPts val="600"/>
                </a:spcAft>
                <a:buClr>
                  <a:schemeClr val="dk1"/>
                </a:buClr>
                <a:buSzPts val="1100"/>
                <a:buFont typeface="Arial" panose="020B0604020202020204" pitchFamily="34" charset="0"/>
                <a:buChar char="•"/>
              </a:pPr>
              <a:r>
                <a:rPr lang="en-US" dirty="0">
                  <a:solidFill>
                    <a:srgbClr val="C00000"/>
                  </a:solidFill>
                  <a:latin typeface="Roboto"/>
                  <a:ea typeface="Roboto"/>
                  <a:cs typeface="Roboto"/>
                  <a:sym typeface="Roboto"/>
                </a:rPr>
                <a:t>Remember to set the +</a:t>
              </a:r>
              <a:r>
                <a:rPr lang="en-US" b="1" dirty="0" err="1">
                  <a:solidFill>
                    <a:srgbClr val="C00000"/>
                  </a:solidFill>
                  <a:latin typeface="Roboto"/>
                  <a:ea typeface="Roboto"/>
                  <a:cs typeface="Roboto"/>
                  <a:sym typeface="Roboto"/>
                </a:rPr>
                <a:t>norecurse</a:t>
              </a:r>
              <a:r>
                <a:rPr lang="en-US" dirty="0">
                  <a:solidFill>
                    <a:srgbClr val="C00000"/>
                  </a:solidFill>
                  <a:latin typeface="Roboto"/>
                  <a:ea typeface="Roboto"/>
                  <a:cs typeface="Roboto"/>
                  <a:sym typeface="Roboto"/>
                </a:rPr>
                <a:t> flag so you can traverse the name server hierarchy yourself</a:t>
              </a:r>
            </a:p>
          </p:txBody>
        </p:sp>
        <p:sp>
          <p:nvSpPr>
            <p:cNvPr id="6" name="Rectangle 5">
              <a:extLst>
                <a:ext uri="{FF2B5EF4-FFF2-40B4-BE49-F238E27FC236}">
                  <a16:creationId xmlns:a16="http://schemas.microsoft.com/office/drawing/2014/main" id="{66101D48-4A7B-BD03-0E24-936BF0E0B7BF}"/>
                </a:ext>
              </a:extLst>
            </p:cNvPr>
            <p:cNvSpPr/>
            <p:nvPr/>
          </p:nvSpPr>
          <p:spPr>
            <a:xfrm>
              <a:off x="3786622" y="989133"/>
              <a:ext cx="1332479" cy="253400"/>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A68E6206-0332-936A-C062-FB8D1F838840}"/>
                </a:ext>
              </a:extLst>
            </p:cNvPr>
            <p:cNvCxnSpPr>
              <a:cxnSpLocks/>
              <a:stCxn id="5" idx="1"/>
              <a:endCxn id="6" idx="3"/>
            </p:cNvCxnSpPr>
            <p:nvPr/>
          </p:nvCxnSpPr>
          <p:spPr>
            <a:xfrm flipH="1" flipV="1">
              <a:off x="5119101" y="1115833"/>
              <a:ext cx="1317559" cy="87186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1" name="Group 20">
            <a:extLst>
              <a:ext uri="{FF2B5EF4-FFF2-40B4-BE49-F238E27FC236}">
                <a16:creationId xmlns:a16="http://schemas.microsoft.com/office/drawing/2014/main" id="{ED78A931-2DD2-518D-5EA6-BC534F1538AA}"/>
              </a:ext>
            </a:extLst>
          </p:cNvPr>
          <p:cNvGrpSpPr/>
          <p:nvPr/>
        </p:nvGrpSpPr>
        <p:grpSpPr>
          <a:xfrm>
            <a:off x="198499" y="1281380"/>
            <a:ext cx="11059309" cy="5528585"/>
            <a:chOff x="198499" y="1281380"/>
            <a:chExt cx="11059309" cy="5528585"/>
          </a:xfrm>
        </p:grpSpPr>
        <p:sp>
          <p:nvSpPr>
            <p:cNvPr id="11" name="TextBox 10">
              <a:extLst>
                <a:ext uri="{FF2B5EF4-FFF2-40B4-BE49-F238E27FC236}">
                  <a16:creationId xmlns:a16="http://schemas.microsoft.com/office/drawing/2014/main" id="{DB964279-F595-0433-CF9D-C05B7CAFA3A8}"/>
                </a:ext>
              </a:extLst>
            </p:cNvPr>
            <p:cNvSpPr txBox="1"/>
            <p:nvPr/>
          </p:nvSpPr>
          <p:spPr>
            <a:xfrm>
              <a:off x="585660" y="1331542"/>
              <a:ext cx="8298809" cy="5478423"/>
            </a:xfrm>
            <a:prstGeom prst="rect">
              <a:avLst/>
            </a:prstGeom>
            <a:noFill/>
          </p:spPr>
          <p:txBody>
            <a:bodyPr wrap="square">
              <a:spAutoFit/>
            </a:bodyPr>
            <a:lstStyle/>
            <a:p>
              <a:r>
                <a:rPr lang="en-US" sz="1400" dirty="0">
                  <a:solidFill>
                    <a:schemeClr val="accent2">
                      <a:lumMod val="75000"/>
                    </a:schemeClr>
                  </a:solidFill>
                </a:rPr>
                <a:t>; &lt;&lt;&gt;&gt; </a:t>
              </a:r>
              <a:r>
                <a:rPr lang="en-US" sz="1400" dirty="0" err="1">
                  <a:solidFill>
                    <a:schemeClr val="accent2">
                      <a:lumMod val="75000"/>
                    </a:schemeClr>
                  </a:solidFill>
                </a:rPr>
                <a:t>DiG</a:t>
              </a:r>
              <a:r>
                <a:rPr lang="en-US" sz="1400" dirty="0">
                  <a:solidFill>
                    <a:schemeClr val="accent2">
                      <a:lumMod val="75000"/>
                    </a:schemeClr>
                  </a:solidFill>
                </a:rPr>
                <a:t> 9.16.28 &lt;&lt;&gt;&gt; +</a:t>
              </a:r>
              <a:r>
                <a:rPr lang="en-US" sz="1400" dirty="0" err="1">
                  <a:solidFill>
                    <a:schemeClr val="accent2">
                      <a:lumMod val="75000"/>
                    </a:schemeClr>
                  </a:solidFill>
                </a:rPr>
                <a:t>norecurse</a:t>
              </a:r>
              <a:r>
                <a:rPr lang="en-US" sz="1400" dirty="0">
                  <a:solidFill>
                    <a:schemeClr val="accent2">
                      <a:lumMod val="75000"/>
                    </a:schemeClr>
                  </a:solidFill>
                </a:rPr>
                <a:t> www.msoe.edu @198.41.0.4</a:t>
              </a:r>
            </a:p>
            <a:p>
              <a:r>
                <a:rPr lang="en-US" sz="1400" dirty="0">
                  <a:solidFill>
                    <a:schemeClr val="accent2">
                      <a:lumMod val="75000"/>
                    </a:schemeClr>
                  </a:solidFill>
                </a:rPr>
                <a:t>;; global options: +</a:t>
              </a:r>
              <a:r>
                <a:rPr lang="en-US" sz="1400" dirty="0" err="1">
                  <a:solidFill>
                    <a:schemeClr val="accent2">
                      <a:lumMod val="75000"/>
                    </a:schemeClr>
                  </a:solidFill>
                </a:rPr>
                <a:t>cmd</a:t>
              </a:r>
              <a:endParaRPr lang="en-US" sz="1400" dirty="0">
                <a:solidFill>
                  <a:schemeClr val="accent2">
                    <a:lumMod val="75000"/>
                  </a:schemeClr>
                </a:solidFill>
              </a:endParaRPr>
            </a:p>
            <a:p>
              <a:r>
                <a:rPr lang="en-US" sz="1400" dirty="0">
                  <a:solidFill>
                    <a:schemeClr val="accent2">
                      <a:lumMod val="75000"/>
                    </a:schemeClr>
                  </a:solidFill>
                </a:rPr>
                <a:t>;; Got answer:</a:t>
              </a:r>
            </a:p>
            <a:p>
              <a:r>
                <a:rPr lang="en-US" sz="1400" dirty="0">
                  <a:solidFill>
                    <a:schemeClr val="accent2">
                      <a:lumMod val="75000"/>
                    </a:schemeClr>
                  </a:solidFill>
                </a:rPr>
                <a:t>;; -&gt;&gt;HEADER&lt;&lt;- opcode: QUERY, status: NOERROR, </a:t>
              </a:r>
              <a:r>
                <a:rPr lang="en-US" sz="1400" b="1" dirty="0">
                  <a:solidFill>
                    <a:srgbClr val="00B050"/>
                  </a:solidFill>
                </a:rPr>
                <a:t>id: 7193</a:t>
              </a:r>
            </a:p>
            <a:p>
              <a:r>
                <a:rPr lang="en-US" sz="1400" dirty="0">
                  <a:solidFill>
                    <a:schemeClr val="accent2">
                      <a:lumMod val="75000"/>
                    </a:schemeClr>
                  </a:solidFill>
                </a:rPr>
                <a:t>;; flags: </a:t>
              </a:r>
              <a:r>
                <a:rPr lang="en-US" sz="1400" dirty="0" err="1">
                  <a:solidFill>
                    <a:schemeClr val="accent2">
                      <a:lumMod val="75000"/>
                    </a:schemeClr>
                  </a:solidFill>
                </a:rPr>
                <a:t>qr</a:t>
              </a:r>
              <a:r>
                <a:rPr lang="en-US" sz="1400" dirty="0">
                  <a:solidFill>
                    <a:schemeClr val="accent2">
                      <a:lumMod val="75000"/>
                    </a:schemeClr>
                  </a:solidFill>
                </a:rPr>
                <a:t>; </a:t>
              </a:r>
              <a:r>
                <a:rPr lang="en-US" sz="1400" b="1" dirty="0">
                  <a:solidFill>
                    <a:srgbClr val="00B050"/>
                  </a:solidFill>
                </a:rPr>
                <a:t>QUERY: 1</a:t>
              </a:r>
              <a:r>
                <a:rPr lang="en-US" sz="1400" dirty="0">
                  <a:solidFill>
                    <a:schemeClr val="accent2">
                      <a:lumMod val="75000"/>
                    </a:schemeClr>
                  </a:solidFill>
                </a:rPr>
                <a:t>, </a:t>
              </a:r>
              <a:r>
                <a:rPr lang="en-US" sz="1400" b="1" dirty="0">
                  <a:solidFill>
                    <a:srgbClr val="00B050"/>
                  </a:solidFill>
                </a:rPr>
                <a:t>ANSWER: 0, AUTHORITY: 13, ADDITIONAL: 27</a:t>
              </a:r>
            </a:p>
            <a:p>
              <a:endParaRPr lang="en-US" sz="1400" dirty="0">
                <a:solidFill>
                  <a:schemeClr val="accent2">
                    <a:lumMod val="75000"/>
                  </a:schemeClr>
                </a:solidFill>
              </a:endParaRPr>
            </a:p>
            <a:p>
              <a:r>
                <a:rPr lang="en-US" sz="1400" dirty="0">
                  <a:solidFill>
                    <a:schemeClr val="accent2">
                      <a:lumMod val="75000"/>
                    </a:schemeClr>
                  </a:solidFill>
                </a:rPr>
                <a:t>;; </a:t>
              </a:r>
              <a:r>
                <a:rPr lang="en-US" sz="1400" b="1" dirty="0">
                  <a:solidFill>
                    <a:srgbClr val="FF0000"/>
                  </a:solidFill>
                </a:rPr>
                <a:t>QUESTION SECTION</a:t>
              </a:r>
              <a:r>
                <a:rPr lang="en-US" sz="1400" dirty="0">
                  <a:solidFill>
                    <a:srgbClr val="FF0000"/>
                  </a:solidFill>
                </a:rPr>
                <a:t>:</a:t>
              </a:r>
            </a:p>
            <a:p>
              <a:r>
                <a:rPr lang="en-US" sz="1400" dirty="0">
                  <a:solidFill>
                    <a:schemeClr val="accent2">
                      <a:lumMod val="75000"/>
                    </a:schemeClr>
                  </a:solidFill>
                </a:rPr>
                <a:t>;www.msoe.edu.                  IN      A</a:t>
              </a:r>
            </a:p>
            <a:p>
              <a:endParaRPr lang="en-US" sz="1400" dirty="0">
                <a:solidFill>
                  <a:schemeClr val="accent2">
                    <a:lumMod val="75000"/>
                  </a:schemeClr>
                </a:solidFill>
              </a:endParaRPr>
            </a:p>
            <a:p>
              <a:r>
                <a:rPr lang="en-US" sz="1400" dirty="0">
                  <a:solidFill>
                    <a:schemeClr val="accent2">
                      <a:lumMod val="75000"/>
                    </a:schemeClr>
                  </a:solidFill>
                </a:rPr>
                <a:t>;; </a:t>
              </a:r>
              <a:r>
                <a:rPr lang="en-US" sz="1400" b="1" dirty="0">
                  <a:solidFill>
                    <a:srgbClr val="00B050"/>
                  </a:solidFill>
                </a:rPr>
                <a:t>AUTHORITY SECTION</a:t>
              </a:r>
              <a:r>
                <a:rPr lang="en-US" sz="1400" dirty="0">
                  <a:solidFill>
                    <a:srgbClr val="00B050"/>
                  </a:solidFill>
                </a:rPr>
                <a:t>:</a:t>
              </a:r>
            </a:p>
            <a:p>
              <a:r>
                <a:rPr lang="en-US" sz="1400" dirty="0" err="1">
                  <a:solidFill>
                    <a:schemeClr val="accent2">
                      <a:lumMod val="75000"/>
                    </a:schemeClr>
                  </a:solidFill>
                </a:rPr>
                <a:t>edu</a:t>
              </a:r>
              <a:r>
                <a:rPr lang="en-US" sz="1400" dirty="0">
                  <a:solidFill>
                    <a:schemeClr val="accent2">
                      <a:lumMod val="75000"/>
                    </a:schemeClr>
                  </a:solidFill>
                </a:rPr>
                <a:t>.                    172800  IN      NS      d.edu-servers.net.</a:t>
              </a:r>
            </a:p>
            <a:p>
              <a:r>
                <a:rPr lang="en-US" sz="1400" dirty="0" err="1">
                  <a:solidFill>
                    <a:schemeClr val="accent2">
                      <a:lumMod val="75000"/>
                    </a:schemeClr>
                  </a:solidFill>
                </a:rPr>
                <a:t>edu</a:t>
              </a:r>
              <a:r>
                <a:rPr lang="en-US" sz="1400" dirty="0">
                  <a:solidFill>
                    <a:schemeClr val="accent2">
                      <a:lumMod val="75000"/>
                    </a:schemeClr>
                  </a:solidFill>
                </a:rPr>
                <a:t>.                    172800  IN      NS      b.edu-servers.net.</a:t>
              </a:r>
            </a:p>
            <a:p>
              <a:r>
                <a:rPr lang="en-US" sz="1400" dirty="0" err="1">
                  <a:solidFill>
                    <a:schemeClr val="accent2">
                      <a:lumMod val="75000"/>
                    </a:schemeClr>
                  </a:solidFill>
                </a:rPr>
                <a:t>edu</a:t>
              </a:r>
              <a:r>
                <a:rPr lang="en-US" sz="1400" dirty="0">
                  <a:solidFill>
                    <a:schemeClr val="accent2">
                      <a:lumMod val="75000"/>
                    </a:schemeClr>
                  </a:solidFill>
                </a:rPr>
                <a:t>.                    172800  IN      NS      f.edu-servers.net.</a:t>
              </a:r>
            </a:p>
            <a:p>
              <a:r>
                <a:rPr lang="en-US" sz="1400" dirty="0">
                  <a:solidFill>
                    <a:schemeClr val="accent2">
                      <a:lumMod val="75000"/>
                    </a:schemeClr>
                  </a:solidFill>
                </a:rPr>
                <a:t>……</a:t>
              </a:r>
            </a:p>
            <a:p>
              <a:endParaRPr lang="en-US" sz="1400" dirty="0">
                <a:solidFill>
                  <a:schemeClr val="accent2">
                    <a:lumMod val="75000"/>
                  </a:schemeClr>
                </a:solidFill>
              </a:endParaRPr>
            </a:p>
            <a:p>
              <a:r>
                <a:rPr lang="en-US" sz="1400" dirty="0">
                  <a:solidFill>
                    <a:schemeClr val="accent2">
                      <a:lumMod val="75000"/>
                    </a:schemeClr>
                  </a:solidFill>
                </a:rPr>
                <a:t>;; </a:t>
              </a:r>
              <a:r>
                <a:rPr lang="en-US" sz="1400" b="1" dirty="0">
                  <a:solidFill>
                    <a:srgbClr val="00B050"/>
                  </a:solidFill>
                </a:rPr>
                <a:t>ADDITIONAL SECTION</a:t>
              </a:r>
              <a:r>
                <a:rPr lang="en-US" sz="1400" dirty="0">
                  <a:solidFill>
                    <a:srgbClr val="00B050"/>
                  </a:solidFill>
                </a:rPr>
                <a:t>:</a:t>
              </a:r>
            </a:p>
            <a:p>
              <a:r>
                <a:rPr lang="en-US" sz="1400" dirty="0">
                  <a:solidFill>
                    <a:schemeClr val="accent2">
                      <a:lumMod val="75000"/>
                    </a:schemeClr>
                  </a:solidFill>
                </a:rPr>
                <a:t>d.edu-servers.net.      172800  IN      A       192.31.80.30</a:t>
              </a:r>
            </a:p>
            <a:p>
              <a:r>
                <a:rPr lang="en-US" sz="1400" dirty="0">
                  <a:solidFill>
                    <a:schemeClr val="accent2">
                      <a:lumMod val="75000"/>
                    </a:schemeClr>
                  </a:solidFill>
                </a:rPr>
                <a:t>d.edu-servers.net.      172800  IN      AAAA    2001:500:856e::30</a:t>
              </a:r>
            </a:p>
            <a:p>
              <a:r>
                <a:rPr lang="en-US" sz="1400" dirty="0">
                  <a:solidFill>
                    <a:schemeClr val="accent2">
                      <a:lumMod val="75000"/>
                    </a:schemeClr>
                  </a:solidFill>
                </a:rPr>
                <a:t>b.edu-servers.net.      172800  IN      A       192.33.14.30</a:t>
              </a:r>
            </a:p>
            <a:p>
              <a:r>
                <a:rPr lang="en-US" sz="1400" dirty="0">
                  <a:solidFill>
                    <a:schemeClr val="accent2">
                      <a:lumMod val="75000"/>
                    </a:schemeClr>
                  </a:solidFill>
                </a:rPr>
                <a:t>……</a:t>
              </a:r>
            </a:p>
            <a:p>
              <a:endParaRPr lang="en-US" sz="1400" dirty="0">
                <a:solidFill>
                  <a:schemeClr val="accent2">
                    <a:lumMod val="75000"/>
                  </a:schemeClr>
                </a:solidFill>
              </a:endParaRPr>
            </a:p>
            <a:p>
              <a:r>
                <a:rPr lang="en-US" sz="1400" dirty="0">
                  <a:solidFill>
                    <a:schemeClr val="accent2">
                      <a:lumMod val="75000"/>
                    </a:schemeClr>
                  </a:solidFill>
                </a:rPr>
                <a:t>;; Query time: 20 msec</a:t>
              </a:r>
            </a:p>
            <a:p>
              <a:r>
                <a:rPr lang="en-US" sz="1400" dirty="0">
                  <a:solidFill>
                    <a:schemeClr val="accent2">
                      <a:lumMod val="75000"/>
                    </a:schemeClr>
                  </a:solidFill>
                </a:rPr>
                <a:t>;; SERVER: 198.41.0.4#53(198.41.0.4)</a:t>
              </a:r>
            </a:p>
            <a:p>
              <a:r>
                <a:rPr lang="en-US" sz="1400" dirty="0">
                  <a:solidFill>
                    <a:schemeClr val="accent2">
                      <a:lumMod val="75000"/>
                    </a:schemeClr>
                  </a:solidFill>
                </a:rPr>
                <a:t>;; WHEN: Mon Sep 16 16:44:43 Central Daylight Time 2024</a:t>
              </a:r>
            </a:p>
            <a:p>
              <a:r>
                <a:rPr lang="en-US" sz="1400" dirty="0">
                  <a:solidFill>
                    <a:schemeClr val="accent2">
                      <a:lumMod val="75000"/>
                    </a:schemeClr>
                  </a:solidFill>
                </a:rPr>
                <a:t>;; MSG SIZE  </a:t>
              </a:r>
              <a:r>
                <a:rPr lang="en-US" sz="1400" dirty="0" err="1">
                  <a:solidFill>
                    <a:schemeClr val="accent2">
                      <a:lumMod val="75000"/>
                    </a:schemeClr>
                  </a:solidFill>
                </a:rPr>
                <a:t>rcvd</a:t>
              </a:r>
              <a:r>
                <a:rPr lang="en-US" sz="1400" dirty="0">
                  <a:solidFill>
                    <a:schemeClr val="accent2">
                      <a:lumMod val="75000"/>
                    </a:schemeClr>
                  </a:solidFill>
                </a:rPr>
                <a:t>: 836</a:t>
              </a:r>
            </a:p>
          </p:txBody>
        </p:sp>
        <p:sp>
          <p:nvSpPr>
            <p:cNvPr id="14" name="Google Shape;767;p67">
              <a:extLst>
                <a:ext uri="{FF2B5EF4-FFF2-40B4-BE49-F238E27FC236}">
                  <a16:creationId xmlns:a16="http://schemas.microsoft.com/office/drawing/2014/main" id="{C812204B-9A3F-3915-C310-4E6173E4A6ED}"/>
                </a:ext>
              </a:extLst>
            </p:cNvPr>
            <p:cNvSpPr/>
            <p:nvPr/>
          </p:nvSpPr>
          <p:spPr>
            <a:xfrm>
              <a:off x="198499" y="1281380"/>
              <a:ext cx="6695359" cy="5528585"/>
            </a:xfrm>
            <a:prstGeom prst="roundRect">
              <a:avLst>
                <a:gd name="adj" fmla="val 4102"/>
              </a:avLst>
            </a:prstGeom>
            <a:noFill/>
            <a:ln w="57150"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 name="Google Shape;768;p67">
              <a:extLst>
                <a:ext uri="{FF2B5EF4-FFF2-40B4-BE49-F238E27FC236}">
                  <a16:creationId xmlns:a16="http://schemas.microsoft.com/office/drawing/2014/main" id="{10D54355-07A6-78F1-A1B7-CB029419B03B}"/>
                </a:ext>
              </a:extLst>
            </p:cNvPr>
            <p:cNvCxnSpPr>
              <a:cxnSpLocks/>
              <a:stCxn id="16" idx="1"/>
              <a:endCxn id="14" idx="3"/>
            </p:cNvCxnSpPr>
            <p:nvPr/>
          </p:nvCxnSpPr>
          <p:spPr>
            <a:xfrm flipH="1">
              <a:off x="6893858" y="4045672"/>
              <a:ext cx="1256922" cy="1"/>
            </a:xfrm>
            <a:prstGeom prst="straightConnector1">
              <a:avLst/>
            </a:prstGeom>
            <a:noFill/>
            <a:ln w="57150" cap="flat" cmpd="sng">
              <a:solidFill>
                <a:srgbClr val="C00000"/>
              </a:solidFill>
              <a:prstDash val="solid"/>
              <a:round/>
              <a:headEnd type="none" w="med" len="med"/>
              <a:tailEnd type="triangle" w="med" len="med"/>
            </a:ln>
          </p:spPr>
        </p:cxnSp>
        <p:sp>
          <p:nvSpPr>
            <p:cNvPr id="16" name="Google Shape;769;p67">
              <a:extLst>
                <a:ext uri="{FF2B5EF4-FFF2-40B4-BE49-F238E27FC236}">
                  <a16:creationId xmlns:a16="http://schemas.microsoft.com/office/drawing/2014/main" id="{F85871EA-3E29-F4E6-4B74-21C510AD0418}"/>
                </a:ext>
              </a:extLst>
            </p:cNvPr>
            <p:cNvSpPr txBox="1"/>
            <p:nvPr/>
          </p:nvSpPr>
          <p:spPr>
            <a:xfrm>
              <a:off x="8150780" y="3676355"/>
              <a:ext cx="3107028"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rgbClr val="C00000"/>
                  </a:solidFill>
                  <a:latin typeface="Roboto"/>
                  <a:ea typeface="Roboto"/>
                  <a:cs typeface="Roboto"/>
                  <a:sym typeface="Roboto"/>
                </a:rPr>
                <a:t>Here's the DNS response from the root name server</a:t>
              </a:r>
              <a:endParaRPr dirty="0">
                <a:solidFill>
                  <a:srgbClr val="C00000"/>
                </a:solidFill>
                <a:latin typeface="Roboto"/>
                <a:ea typeface="Roboto"/>
                <a:cs typeface="Roboto"/>
                <a:sym typeface="Roboto"/>
              </a:endParaRPr>
            </a:p>
          </p:txBody>
        </p:sp>
      </p:grpSp>
    </p:spTree>
    <p:extLst>
      <p:ext uri="{BB962C8B-B14F-4D97-AF65-F5344CB8AC3E}">
        <p14:creationId xmlns:p14="http://schemas.microsoft.com/office/powerpoint/2010/main" val="3831777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74BBC-0379-1CB9-6A0C-91E1126FC7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8E180-E7AC-A451-C6E7-1E052DBC67EF}"/>
              </a:ext>
            </a:extLst>
          </p:cNvPr>
          <p:cNvSpPr>
            <a:spLocks noGrp="1"/>
          </p:cNvSpPr>
          <p:nvPr>
            <p:ph type="title"/>
          </p:nvPr>
        </p:nvSpPr>
        <p:spPr>
          <a:xfrm>
            <a:off x="838200" y="0"/>
            <a:ext cx="10515600" cy="773393"/>
          </a:xfrm>
        </p:spPr>
        <p:txBody>
          <a:bodyPr/>
          <a:lstStyle/>
          <a:p>
            <a:r>
              <a:rPr lang="en-US" dirty="0"/>
              <a:t>DNS Lookup Walkthrough</a:t>
            </a:r>
          </a:p>
        </p:txBody>
      </p:sp>
      <p:sp>
        <p:nvSpPr>
          <p:cNvPr id="3" name="TextBox 2">
            <a:extLst>
              <a:ext uri="{FF2B5EF4-FFF2-40B4-BE49-F238E27FC236}">
                <a16:creationId xmlns:a16="http://schemas.microsoft.com/office/drawing/2014/main" id="{77665FF3-6554-EA97-1140-41605C58AF26}"/>
              </a:ext>
            </a:extLst>
          </p:cNvPr>
          <p:cNvSpPr txBox="1"/>
          <p:nvPr/>
        </p:nvSpPr>
        <p:spPr>
          <a:xfrm>
            <a:off x="74672" y="865377"/>
            <a:ext cx="8298809" cy="5478423"/>
          </a:xfrm>
          <a:prstGeom prst="rect">
            <a:avLst/>
          </a:prstGeom>
          <a:noFill/>
        </p:spPr>
        <p:txBody>
          <a:bodyPr wrap="square">
            <a:spAutoFit/>
          </a:bodyPr>
          <a:lstStyle/>
          <a:p>
            <a:r>
              <a:rPr lang="en-US" sz="1400" dirty="0">
                <a:solidFill>
                  <a:schemeClr val="accent2">
                    <a:lumMod val="75000"/>
                  </a:schemeClr>
                </a:solidFill>
              </a:rPr>
              <a:t>; &lt;&lt;&gt;&gt; </a:t>
            </a:r>
            <a:r>
              <a:rPr lang="en-US" sz="1400" dirty="0" err="1">
                <a:solidFill>
                  <a:schemeClr val="accent2">
                    <a:lumMod val="75000"/>
                  </a:schemeClr>
                </a:solidFill>
              </a:rPr>
              <a:t>DiG</a:t>
            </a:r>
            <a:r>
              <a:rPr lang="en-US" sz="1400" dirty="0">
                <a:solidFill>
                  <a:schemeClr val="accent2">
                    <a:lumMod val="75000"/>
                  </a:schemeClr>
                </a:solidFill>
              </a:rPr>
              <a:t> 9.16.28 &lt;&lt;&gt;&gt; +</a:t>
            </a:r>
            <a:r>
              <a:rPr lang="en-US" sz="1400" dirty="0" err="1">
                <a:solidFill>
                  <a:schemeClr val="accent2">
                    <a:lumMod val="75000"/>
                  </a:schemeClr>
                </a:solidFill>
              </a:rPr>
              <a:t>norecurse</a:t>
            </a:r>
            <a:r>
              <a:rPr lang="en-US" sz="1400" dirty="0">
                <a:solidFill>
                  <a:schemeClr val="accent2">
                    <a:lumMod val="75000"/>
                  </a:schemeClr>
                </a:solidFill>
              </a:rPr>
              <a:t> www.msoe.edu @198.41.0.4</a:t>
            </a:r>
          </a:p>
          <a:p>
            <a:r>
              <a:rPr lang="en-US" sz="1400" dirty="0">
                <a:solidFill>
                  <a:schemeClr val="accent2">
                    <a:lumMod val="75000"/>
                  </a:schemeClr>
                </a:solidFill>
              </a:rPr>
              <a:t>;; global options: +</a:t>
            </a:r>
            <a:r>
              <a:rPr lang="en-US" sz="1400" dirty="0" err="1">
                <a:solidFill>
                  <a:schemeClr val="accent2">
                    <a:lumMod val="75000"/>
                  </a:schemeClr>
                </a:solidFill>
              </a:rPr>
              <a:t>cmd</a:t>
            </a:r>
            <a:endParaRPr lang="en-US" sz="1400" dirty="0">
              <a:solidFill>
                <a:schemeClr val="accent2">
                  <a:lumMod val="75000"/>
                </a:schemeClr>
              </a:solidFill>
            </a:endParaRPr>
          </a:p>
          <a:p>
            <a:r>
              <a:rPr lang="en-US" sz="1400" dirty="0">
                <a:solidFill>
                  <a:schemeClr val="accent2">
                    <a:lumMod val="75000"/>
                  </a:schemeClr>
                </a:solidFill>
              </a:rPr>
              <a:t>;; Got answer:</a:t>
            </a:r>
          </a:p>
          <a:p>
            <a:r>
              <a:rPr lang="en-US" sz="1400" dirty="0">
                <a:solidFill>
                  <a:schemeClr val="accent2">
                    <a:lumMod val="75000"/>
                  </a:schemeClr>
                </a:solidFill>
              </a:rPr>
              <a:t>;; -&gt;&gt;HEADER&lt;&lt;- opcode: QUERY, status: NOERROR, </a:t>
            </a:r>
            <a:r>
              <a:rPr lang="en-US" sz="1400" b="1" dirty="0">
                <a:solidFill>
                  <a:srgbClr val="00B050"/>
                </a:solidFill>
              </a:rPr>
              <a:t>id: 7193</a:t>
            </a:r>
          </a:p>
          <a:p>
            <a:r>
              <a:rPr lang="en-US" sz="1400" dirty="0">
                <a:solidFill>
                  <a:schemeClr val="accent2">
                    <a:lumMod val="75000"/>
                  </a:schemeClr>
                </a:solidFill>
              </a:rPr>
              <a:t>;; flags: </a:t>
            </a:r>
            <a:r>
              <a:rPr lang="en-US" sz="1400" dirty="0" err="1">
                <a:solidFill>
                  <a:schemeClr val="accent2">
                    <a:lumMod val="75000"/>
                  </a:schemeClr>
                </a:solidFill>
              </a:rPr>
              <a:t>qr</a:t>
            </a:r>
            <a:r>
              <a:rPr lang="en-US" sz="1400" dirty="0">
                <a:solidFill>
                  <a:schemeClr val="accent2">
                    <a:lumMod val="75000"/>
                  </a:schemeClr>
                </a:solidFill>
              </a:rPr>
              <a:t>; </a:t>
            </a:r>
            <a:r>
              <a:rPr lang="en-US" sz="1400" b="1" dirty="0">
                <a:solidFill>
                  <a:srgbClr val="00B050"/>
                </a:solidFill>
              </a:rPr>
              <a:t>QUERY: 1</a:t>
            </a:r>
            <a:r>
              <a:rPr lang="en-US" sz="1400" dirty="0">
                <a:solidFill>
                  <a:schemeClr val="accent2">
                    <a:lumMod val="75000"/>
                  </a:schemeClr>
                </a:solidFill>
              </a:rPr>
              <a:t>, </a:t>
            </a:r>
            <a:r>
              <a:rPr lang="en-US" sz="1400" b="1" dirty="0">
                <a:solidFill>
                  <a:srgbClr val="00B050"/>
                </a:solidFill>
              </a:rPr>
              <a:t>ANSWER: 0, AUTHORITY: 13, ADDITIONAL: 27</a:t>
            </a:r>
          </a:p>
          <a:p>
            <a:endParaRPr lang="en-US" sz="1400" dirty="0">
              <a:solidFill>
                <a:schemeClr val="accent2">
                  <a:lumMod val="75000"/>
                </a:schemeClr>
              </a:solidFill>
            </a:endParaRPr>
          </a:p>
          <a:p>
            <a:r>
              <a:rPr lang="en-US" sz="1400" dirty="0">
                <a:solidFill>
                  <a:schemeClr val="accent2">
                    <a:lumMod val="75000"/>
                  </a:schemeClr>
                </a:solidFill>
              </a:rPr>
              <a:t>;; </a:t>
            </a:r>
            <a:r>
              <a:rPr lang="en-US" sz="1400" b="1" dirty="0">
                <a:solidFill>
                  <a:srgbClr val="FF0000"/>
                </a:solidFill>
              </a:rPr>
              <a:t>QUESTION SECTION</a:t>
            </a:r>
            <a:r>
              <a:rPr lang="en-US" sz="1400" dirty="0">
                <a:solidFill>
                  <a:srgbClr val="FF0000"/>
                </a:solidFill>
              </a:rPr>
              <a:t>:</a:t>
            </a:r>
          </a:p>
          <a:p>
            <a:r>
              <a:rPr lang="en-US" sz="1400" dirty="0">
                <a:solidFill>
                  <a:schemeClr val="accent2">
                    <a:lumMod val="75000"/>
                  </a:schemeClr>
                </a:solidFill>
              </a:rPr>
              <a:t>;www.msoe.edu.                  IN      A</a:t>
            </a:r>
          </a:p>
          <a:p>
            <a:endParaRPr lang="en-US" sz="1400" dirty="0">
              <a:solidFill>
                <a:schemeClr val="accent2">
                  <a:lumMod val="75000"/>
                </a:schemeClr>
              </a:solidFill>
            </a:endParaRPr>
          </a:p>
          <a:p>
            <a:r>
              <a:rPr lang="en-US" sz="1400" dirty="0">
                <a:solidFill>
                  <a:schemeClr val="accent2">
                    <a:lumMod val="75000"/>
                  </a:schemeClr>
                </a:solidFill>
              </a:rPr>
              <a:t>;; </a:t>
            </a:r>
            <a:r>
              <a:rPr lang="en-US" sz="1400" b="1" dirty="0">
                <a:solidFill>
                  <a:srgbClr val="00B050"/>
                </a:solidFill>
              </a:rPr>
              <a:t>AUTHORITY SECTION</a:t>
            </a:r>
            <a:r>
              <a:rPr lang="en-US" sz="1400" dirty="0">
                <a:solidFill>
                  <a:srgbClr val="00B050"/>
                </a:solidFill>
              </a:rPr>
              <a:t>:</a:t>
            </a:r>
          </a:p>
          <a:p>
            <a:r>
              <a:rPr lang="en-US" sz="1400" dirty="0" err="1">
                <a:solidFill>
                  <a:schemeClr val="accent2">
                    <a:lumMod val="75000"/>
                  </a:schemeClr>
                </a:solidFill>
              </a:rPr>
              <a:t>edu</a:t>
            </a:r>
            <a:r>
              <a:rPr lang="en-US" sz="1400" dirty="0">
                <a:solidFill>
                  <a:schemeClr val="accent2">
                    <a:lumMod val="75000"/>
                  </a:schemeClr>
                </a:solidFill>
              </a:rPr>
              <a:t>.                    172800  IN      NS      d.edu-servers.net.</a:t>
            </a:r>
          </a:p>
          <a:p>
            <a:r>
              <a:rPr lang="en-US" sz="1400" dirty="0" err="1">
                <a:solidFill>
                  <a:schemeClr val="accent2">
                    <a:lumMod val="75000"/>
                  </a:schemeClr>
                </a:solidFill>
              </a:rPr>
              <a:t>edu</a:t>
            </a:r>
            <a:r>
              <a:rPr lang="en-US" sz="1400" dirty="0">
                <a:solidFill>
                  <a:schemeClr val="accent2">
                    <a:lumMod val="75000"/>
                  </a:schemeClr>
                </a:solidFill>
              </a:rPr>
              <a:t>.                    172800  IN      NS      b.edu-servers.net.</a:t>
            </a:r>
          </a:p>
          <a:p>
            <a:r>
              <a:rPr lang="en-US" sz="1400" dirty="0" err="1">
                <a:solidFill>
                  <a:schemeClr val="accent2">
                    <a:lumMod val="75000"/>
                  </a:schemeClr>
                </a:solidFill>
              </a:rPr>
              <a:t>edu</a:t>
            </a:r>
            <a:r>
              <a:rPr lang="en-US" sz="1400" dirty="0">
                <a:solidFill>
                  <a:schemeClr val="accent2">
                    <a:lumMod val="75000"/>
                  </a:schemeClr>
                </a:solidFill>
              </a:rPr>
              <a:t>.                    172800  IN      NS      f.edu-servers.net.</a:t>
            </a:r>
          </a:p>
          <a:p>
            <a:r>
              <a:rPr lang="en-US" sz="1400" dirty="0">
                <a:solidFill>
                  <a:schemeClr val="accent2">
                    <a:lumMod val="75000"/>
                  </a:schemeClr>
                </a:solidFill>
              </a:rPr>
              <a:t>……</a:t>
            </a:r>
          </a:p>
          <a:p>
            <a:endParaRPr lang="en-US" sz="1400" dirty="0">
              <a:solidFill>
                <a:schemeClr val="accent2">
                  <a:lumMod val="75000"/>
                </a:schemeClr>
              </a:solidFill>
            </a:endParaRPr>
          </a:p>
          <a:p>
            <a:r>
              <a:rPr lang="en-US" sz="1400" dirty="0">
                <a:solidFill>
                  <a:schemeClr val="accent2">
                    <a:lumMod val="75000"/>
                  </a:schemeClr>
                </a:solidFill>
              </a:rPr>
              <a:t>;; </a:t>
            </a:r>
            <a:r>
              <a:rPr lang="en-US" sz="1400" b="1" dirty="0">
                <a:solidFill>
                  <a:srgbClr val="00B050"/>
                </a:solidFill>
              </a:rPr>
              <a:t>ADDITIONAL SECTION</a:t>
            </a:r>
            <a:r>
              <a:rPr lang="en-US" sz="1400" dirty="0">
                <a:solidFill>
                  <a:srgbClr val="00B050"/>
                </a:solidFill>
              </a:rPr>
              <a:t>:</a:t>
            </a:r>
          </a:p>
          <a:p>
            <a:r>
              <a:rPr lang="en-US" sz="1400" dirty="0">
                <a:solidFill>
                  <a:schemeClr val="accent2">
                    <a:lumMod val="75000"/>
                  </a:schemeClr>
                </a:solidFill>
              </a:rPr>
              <a:t>d.edu-servers.net.      172800  IN      A       192.31.80.30</a:t>
            </a:r>
          </a:p>
          <a:p>
            <a:r>
              <a:rPr lang="en-US" sz="1400" dirty="0">
                <a:solidFill>
                  <a:schemeClr val="accent2">
                    <a:lumMod val="75000"/>
                  </a:schemeClr>
                </a:solidFill>
              </a:rPr>
              <a:t>d.edu-servers.net.      172800  IN      AAAA    2001:500:856e::30</a:t>
            </a:r>
          </a:p>
          <a:p>
            <a:r>
              <a:rPr lang="en-US" sz="1400" dirty="0">
                <a:solidFill>
                  <a:schemeClr val="accent2">
                    <a:lumMod val="75000"/>
                  </a:schemeClr>
                </a:solidFill>
              </a:rPr>
              <a:t>b.edu-servers.net.      172800  IN      A       192.33.14.30</a:t>
            </a:r>
          </a:p>
          <a:p>
            <a:r>
              <a:rPr lang="en-US" sz="1400" dirty="0">
                <a:solidFill>
                  <a:schemeClr val="accent2">
                    <a:lumMod val="75000"/>
                  </a:schemeClr>
                </a:solidFill>
              </a:rPr>
              <a:t>……</a:t>
            </a:r>
          </a:p>
          <a:p>
            <a:endParaRPr lang="en-US" sz="1400" dirty="0">
              <a:solidFill>
                <a:schemeClr val="accent2">
                  <a:lumMod val="75000"/>
                </a:schemeClr>
              </a:solidFill>
            </a:endParaRPr>
          </a:p>
          <a:p>
            <a:r>
              <a:rPr lang="en-US" sz="1400" dirty="0">
                <a:solidFill>
                  <a:schemeClr val="accent2">
                    <a:lumMod val="75000"/>
                  </a:schemeClr>
                </a:solidFill>
              </a:rPr>
              <a:t>;; Query time: 20 msec</a:t>
            </a:r>
          </a:p>
          <a:p>
            <a:r>
              <a:rPr lang="en-US" sz="1400" dirty="0">
                <a:solidFill>
                  <a:schemeClr val="accent2">
                    <a:lumMod val="75000"/>
                  </a:schemeClr>
                </a:solidFill>
              </a:rPr>
              <a:t>;; SERVER: 198.41.0.4#53(198.41.0.4)</a:t>
            </a:r>
          </a:p>
          <a:p>
            <a:r>
              <a:rPr lang="en-US" sz="1400" dirty="0">
                <a:solidFill>
                  <a:schemeClr val="accent2">
                    <a:lumMod val="75000"/>
                  </a:schemeClr>
                </a:solidFill>
              </a:rPr>
              <a:t>;; WHEN: Mon Sep 16 16:44:43 Central Daylight Time 2024</a:t>
            </a:r>
          </a:p>
          <a:p>
            <a:r>
              <a:rPr lang="en-US" sz="1400" dirty="0">
                <a:solidFill>
                  <a:schemeClr val="accent2">
                    <a:lumMod val="75000"/>
                  </a:schemeClr>
                </a:solidFill>
              </a:rPr>
              <a:t>;; MSG SIZE  </a:t>
            </a:r>
            <a:r>
              <a:rPr lang="en-US" sz="1400" dirty="0" err="1">
                <a:solidFill>
                  <a:schemeClr val="accent2">
                    <a:lumMod val="75000"/>
                  </a:schemeClr>
                </a:solidFill>
              </a:rPr>
              <a:t>rcvd</a:t>
            </a:r>
            <a:r>
              <a:rPr lang="en-US" sz="1400" dirty="0">
                <a:solidFill>
                  <a:schemeClr val="accent2">
                    <a:lumMod val="75000"/>
                  </a:schemeClr>
                </a:solidFill>
              </a:rPr>
              <a:t>: 836</a:t>
            </a:r>
          </a:p>
        </p:txBody>
      </p:sp>
      <p:grpSp>
        <p:nvGrpSpPr>
          <p:cNvPr id="4" name="Google Shape;776;p68">
            <a:extLst>
              <a:ext uri="{FF2B5EF4-FFF2-40B4-BE49-F238E27FC236}">
                <a16:creationId xmlns:a16="http://schemas.microsoft.com/office/drawing/2014/main" id="{583660D5-6524-8A36-6608-AE5D35B5F7DC}"/>
              </a:ext>
            </a:extLst>
          </p:cNvPr>
          <p:cNvGrpSpPr/>
          <p:nvPr/>
        </p:nvGrpSpPr>
        <p:grpSpPr>
          <a:xfrm>
            <a:off x="74672" y="1551516"/>
            <a:ext cx="10485751" cy="479450"/>
            <a:chOff x="248825" y="1810775"/>
            <a:chExt cx="9290984" cy="393600"/>
          </a:xfrm>
        </p:grpSpPr>
        <p:sp>
          <p:nvSpPr>
            <p:cNvPr id="5" name="Google Shape;777;p68">
              <a:extLst>
                <a:ext uri="{FF2B5EF4-FFF2-40B4-BE49-F238E27FC236}">
                  <a16:creationId xmlns:a16="http://schemas.microsoft.com/office/drawing/2014/main" id="{D4E106DA-8FCD-E25F-7320-082BF8402A7B}"/>
                </a:ext>
              </a:extLst>
            </p:cNvPr>
            <p:cNvSpPr/>
            <p:nvPr/>
          </p:nvSpPr>
          <p:spPr>
            <a:xfrm>
              <a:off x="248825" y="1810775"/>
              <a:ext cx="5929500" cy="393600"/>
            </a:xfrm>
            <a:prstGeom prst="roundRect">
              <a:avLst>
                <a:gd name="adj" fmla="val 16667"/>
              </a:avLst>
            </a:prstGeom>
            <a:noFill/>
            <a:ln w="57150"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00000"/>
                </a:solidFill>
              </a:endParaRPr>
            </a:p>
          </p:txBody>
        </p:sp>
        <p:cxnSp>
          <p:nvCxnSpPr>
            <p:cNvPr id="6" name="Google Shape;778;p68">
              <a:extLst>
                <a:ext uri="{FF2B5EF4-FFF2-40B4-BE49-F238E27FC236}">
                  <a16:creationId xmlns:a16="http://schemas.microsoft.com/office/drawing/2014/main" id="{7AC9D83F-3B29-1BDF-FAEE-A97B87F4ED73}"/>
                </a:ext>
              </a:extLst>
            </p:cNvPr>
            <p:cNvCxnSpPr>
              <a:cxnSpLocks/>
              <a:stCxn id="7" idx="1"/>
              <a:endCxn id="5" idx="3"/>
            </p:cNvCxnSpPr>
            <p:nvPr/>
          </p:nvCxnSpPr>
          <p:spPr>
            <a:xfrm flipH="1">
              <a:off x="6178325" y="2004321"/>
              <a:ext cx="748603" cy="3254"/>
            </a:xfrm>
            <a:prstGeom prst="straightConnector1">
              <a:avLst/>
            </a:prstGeom>
            <a:noFill/>
            <a:ln w="57150" cap="flat" cmpd="sng">
              <a:solidFill>
                <a:srgbClr val="C00000"/>
              </a:solidFill>
              <a:prstDash val="solid"/>
              <a:round/>
              <a:headEnd type="none" w="med" len="med"/>
              <a:tailEnd type="triangle" w="med" len="med"/>
            </a:ln>
          </p:spPr>
        </p:cxnSp>
        <p:sp>
          <p:nvSpPr>
            <p:cNvPr id="7" name="Google Shape;779;p68">
              <a:extLst>
                <a:ext uri="{FF2B5EF4-FFF2-40B4-BE49-F238E27FC236}">
                  <a16:creationId xmlns:a16="http://schemas.microsoft.com/office/drawing/2014/main" id="{0007EFAC-66E8-F1B8-827C-0A8F19958478}"/>
                </a:ext>
              </a:extLst>
            </p:cNvPr>
            <p:cNvSpPr txBox="1"/>
            <p:nvPr/>
          </p:nvSpPr>
          <p:spPr>
            <a:xfrm>
              <a:off x="6926928" y="1814833"/>
              <a:ext cx="2612881" cy="37897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dirty="0">
                  <a:solidFill>
                    <a:srgbClr val="C00000"/>
                  </a:solidFill>
                  <a:latin typeface="Roboto"/>
                  <a:ea typeface="Roboto"/>
                  <a:cs typeface="Roboto"/>
                  <a:sym typeface="Roboto"/>
                </a:rPr>
                <a:t>Here's the DNS header</a:t>
              </a:r>
              <a:endParaRPr b="1" dirty="0">
                <a:solidFill>
                  <a:srgbClr val="C00000"/>
                </a:solidFill>
                <a:latin typeface="Roboto"/>
                <a:ea typeface="Roboto"/>
                <a:cs typeface="Roboto"/>
                <a:sym typeface="Roboto"/>
              </a:endParaRPr>
            </a:p>
          </p:txBody>
        </p:sp>
      </p:grpSp>
      <p:sp>
        <p:nvSpPr>
          <p:cNvPr id="10" name="Google Shape;779;p68">
            <a:extLst>
              <a:ext uri="{FF2B5EF4-FFF2-40B4-BE49-F238E27FC236}">
                <a16:creationId xmlns:a16="http://schemas.microsoft.com/office/drawing/2014/main" id="{A1D97350-1F3C-19BD-45F1-77EF341BEE4E}"/>
              </a:ext>
            </a:extLst>
          </p:cNvPr>
          <p:cNvSpPr txBox="1"/>
          <p:nvPr/>
        </p:nvSpPr>
        <p:spPr>
          <a:xfrm>
            <a:off x="7611540" y="2110078"/>
            <a:ext cx="4177047" cy="1523464"/>
          </a:xfrm>
          <a:prstGeom prst="rect">
            <a:avLst/>
          </a:prstGeom>
          <a:noFill/>
          <a:ln>
            <a:noFill/>
          </a:ln>
        </p:spPr>
        <p:txBody>
          <a:bodyPr spcFirstLastPara="1" wrap="square" lIns="91425" tIns="91425" rIns="91425" bIns="91425" anchor="t" anchorCtr="0">
            <a:spAutoFit/>
          </a:bodyPr>
          <a:lstStyle/>
          <a:p>
            <a:pPr marL="285750" lvl="0" indent="-285750" algn="l" rtl="0">
              <a:spcBef>
                <a:spcPts val="0"/>
              </a:spcBef>
              <a:spcAft>
                <a:spcPts val="600"/>
              </a:spcAft>
              <a:buFont typeface="Arial" panose="020B0604020202020204" pitchFamily="34" charset="0"/>
              <a:buChar char="•"/>
            </a:pPr>
            <a:r>
              <a:rPr lang="en" dirty="0">
                <a:latin typeface="Roboto"/>
                <a:ea typeface="Roboto"/>
                <a:cs typeface="Roboto"/>
                <a:sym typeface="Roboto"/>
              </a:rPr>
              <a:t>id: 7193 </a:t>
            </a:r>
            <a:r>
              <a:rPr lang="en" dirty="0">
                <a:latin typeface="Roboto"/>
                <a:ea typeface="Roboto"/>
                <a:cs typeface="Roboto"/>
                <a:sym typeface="Wingdings" panose="05000000000000000000" pitchFamily="2" charset="2"/>
              </a:rPr>
              <a:t> 16-bit ID number</a:t>
            </a:r>
          </a:p>
          <a:p>
            <a:pPr marL="285750" lvl="0" indent="-285750" algn="l" rtl="0">
              <a:spcBef>
                <a:spcPts val="0"/>
              </a:spcBef>
              <a:spcAft>
                <a:spcPts val="600"/>
              </a:spcAft>
              <a:buFont typeface="Arial" panose="020B0604020202020204" pitchFamily="34" charset="0"/>
              <a:buChar char="•"/>
            </a:pPr>
            <a:r>
              <a:rPr lang="en" dirty="0">
                <a:latin typeface="Roboto"/>
                <a:ea typeface="Roboto"/>
                <a:cs typeface="Roboto"/>
                <a:sym typeface="Wingdings" panose="05000000000000000000" pitchFamily="2" charset="2"/>
              </a:rPr>
              <a:t>flags: qr  This is a query record</a:t>
            </a:r>
          </a:p>
          <a:p>
            <a:pPr marL="285750" lvl="0" indent="-285750" algn="l" rtl="0">
              <a:spcBef>
                <a:spcPts val="0"/>
              </a:spcBef>
              <a:spcAft>
                <a:spcPts val="600"/>
              </a:spcAft>
              <a:buFont typeface="Arial" panose="020B0604020202020204" pitchFamily="34" charset="0"/>
              <a:buChar char="•"/>
            </a:pPr>
            <a:r>
              <a:rPr lang="en" dirty="0">
                <a:latin typeface="Roboto"/>
                <a:ea typeface="Roboto"/>
                <a:cs typeface="Roboto"/>
                <a:sym typeface="Wingdings" panose="05000000000000000000" pitchFamily="2" charset="2"/>
              </a:rPr>
              <a:t>QUERY, ANSWER, AUTHORITY, ADDITIONAL  record counts</a:t>
            </a:r>
            <a:endParaRPr dirty="0">
              <a:latin typeface="Roboto"/>
              <a:ea typeface="Roboto"/>
              <a:cs typeface="Roboto"/>
              <a:sym typeface="Roboto"/>
            </a:endParaRPr>
          </a:p>
        </p:txBody>
      </p:sp>
    </p:spTree>
    <p:extLst>
      <p:ext uri="{BB962C8B-B14F-4D97-AF65-F5344CB8AC3E}">
        <p14:creationId xmlns:p14="http://schemas.microsoft.com/office/powerpoint/2010/main" val="28178079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23A50-E839-60A0-FC0B-E2C75DCDEE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F24AB8-D218-62DA-0877-CAB0CD6F5EF3}"/>
              </a:ext>
            </a:extLst>
          </p:cNvPr>
          <p:cNvSpPr>
            <a:spLocks noGrp="1"/>
          </p:cNvSpPr>
          <p:nvPr>
            <p:ph type="title"/>
          </p:nvPr>
        </p:nvSpPr>
        <p:spPr>
          <a:xfrm>
            <a:off x="838200" y="0"/>
            <a:ext cx="10515600" cy="773393"/>
          </a:xfrm>
        </p:spPr>
        <p:txBody>
          <a:bodyPr/>
          <a:lstStyle/>
          <a:p>
            <a:r>
              <a:rPr lang="en-US" dirty="0"/>
              <a:t>DNS Lookup Walkthrough</a:t>
            </a:r>
          </a:p>
        </p:txBody>
      </p:sp>
      <p:sp>
        <p:nvSpPr>
          <p:cNvPr id="3" name="TextBox 2">
            <a:extLst>
              <a:ext uri="{FF2B5EF4-FFF2-40B4-BE49-F238E27FC236}">
                <a16:creationId xmlns:a16="http://schemas.microsoft.com/office/drawing/2014/main" id="{4B63DC12-5EB9-A2F6-4DE2-FDB413AF7707}"/>
              </a:ext>
            </a:extLst>
          </p:cNvPr>
          <p:cNvSpPr txBox="1"/>
          <p:nvPr/>
        </p:nvSpPr>
        <p:spPr>
          <a:xfrm>
            <a:off x="431055" y="838483"/>
            <a:ext cx="8298809" cy="5478423"/>
          </a:xfrm>
          <a:prstGeom prst="rect">
            <a:avLst/>
          </a:prstGeom>
          <a:noFill/>
        </p:spPr>
        <p:txBody>
          <a:bodyPr wrap="square">
            <a:spAutoFit/>
          </a:bodyPr>
          <a:lstStyle/>
          <a:p>
            <a:r>
              <a:rPr lang="en-US" sz="1400" dirty="0">
                <a:solidFill>
                  <a:schemeClr val="accent2">
                    <a:lumMod val="75000"/>
                  </a:schemeClr>
                </a:solidFill>
              </a:rPr>
              <a:t>; &lt;&lt;&gt;&gt; </a:t>
            </a:r>
            <a:r>
              <a:rPr lang="en-US" sz="1400" dirty="0" err="1">
                <a:solidFill>
                  <a:schemeClr val="accent2">
                    <a:lumMod val="75000"/>
                  </a:schemeClr>
                </a:solidFill>
              </a:rPr>
              <a:t>DiG</a:t>
            </a:r>
            <a:r>
              <a:rPr lang="en-US" sz="1400" dirty="0">
                <a:solidFill>
                  <a:schemeClr val="accent2">
                    <a:lumMod val="75000"/>
                  </a:schemeClr>
                </a:solidFill>
              </a:rPr>
              <a:t> 9.16.28 &lt;&lt;&gt;&gt; +</a:t>
            </a:r>
            <a:r>
              <a:rPr lang="en-US" sz="1400" dirty="0" err="1">
                <a:solidFill>
                  <a:schemeClr val="accent2">
                    <a:lumMod val="75000"/>
                  </a:schemeClr>
                </a:solidFill>
              </a:rPr>
              <a:t>norecurse</a:t>
            </a:r>
            <a:r>
              <a:rPr lang="en-US" sz="1400" dirty="0">
                <a:solidFill>
                  <a:schemeClr val="accent2">
                    <a:lumMod val="75000"/>
                  </a:schemeClr>
                </a:solidFill>
              </a:rPr>
              <a:t> www.msoe.edu @198.41.0.4</a:t>
            </a:r>
          </a:p>
          <a:p>
            <a:r>
              <a:rPr lang="en-US" sz="1400" dirty="0">
                <a:solidFill>
                  <a:schemeClr val="accent2">
                    <a:lumMod val="75000"/>
                  </a:schemeClr>
                </a:solidFill>
              </a:rPr>
              <a:t>;; global options: +</a:t>
            </a:r>
            <a:r>
              <a:rPr lang="en-US" sz="1400" dirty="0" err="1">
                <a:solidFill>
                  <a:schemeClr val="accent2">
                    <a:lumMod val="75000"/>
                  </a:schemeClr>
                </a:solidFill>
              </a:rPr>
              <a:t>cmd</a:t>
            </a:r>
            <a:endParaRPr lang="en-US" sz="1400" dirty="0">
              <a:solidFill>
                <a:schemeClr val="accent2">
                  <a:lumMod val="75000"/>
                </a:schemeClr>
              </a:solidFill>
            </a:endParaRPr>
          </a:p>
          <a:p>
            <a:r>
              <a:rPr lang="en-US" sz="1400" dirty="0">
                <a:solidFill>
                  <a:schemeClr val="accent2">
                    <a:lumMod val="75000"/>
                  </a:schemeClr>
                </a:solidFill>
              </a:rPr>
              <a:t>;; Got answer:</a:t>
            </a:r>
          </a:p>
          <a:p>
            <a:r>
              <a:rPr lang="en-US" sz="1400" dirty="0">
                <a:solidFill>
                  <a:schemeClr val="accent2">
                    <a:lumMod val="75000"/>
                  </a:schemeClr>
                </a:solidFill>
              </a:rPr>
              <a:t>;; -&gt;&gt;HEADER&lt;&lt;- opcode: QUERY, status: NOERROR, </a:t>
            </a:r>
            <a:r>
              <a:rPr lang="en-US" sz="1400" b="1" dirty="0">
                <a:solidFill>
                  <a:srgbClr val="00B050"/>
                </a:solidFill>
              </a:rPr>
              <a:t>id: 7193</a:t>
            </a:r>
          </a:p>
          <a:p>
            <a:r>
              <a:rPr lang="en-US" sz="1400" dirty="0">
                <a:solidFill>
                  <a:schemeClr val="accent2">
                    <a:lumMod val="75000"/>
                  </a:schemeClr>
                </a:solidFill>
              </a:rPr>
              <a:t>;; flags: </a:t>
            </a:r>
            <a:r>
              <a:rPr lang="en-US" sz="1400" dirty="0" err="1">
                <a:solidFill>
                  <a:schemeClr val="accent2">
                    <a:lumMod val="75000"/>
                  </a:schemeClr>
                </a:solidFill>
              </a:rPr>
              <a:t>qr</a:t>
            </a:r>
            <a:r>
              <a:rPr lang="en-US" sz="1400" dirty="0">
                <a:solidFill>
                  <a:schemeClr val="accent2">
                    <a:lumMod val="75000"/>
                  </a:schemeClr>
                </a:solidFill>
              </a:rPr>
              <a:t>; </a:t>
            </a:r>
            <a:r>
              <a:rPr lang="en-US" sz="1400" b="1" dirty="0">
                <a:solidFill>
                  <a:srgbClr val="00B050"/>
                </a:solidFill>
              </a:rPr>
              <a:t>QUERY: 1</a:t>
            </a:r>
            <a:r>
              <a:rPr lang="en-US" sz="1400" dirty="0">
                <a:solidFill>
                  <a:schemeClr val="accent2">
                    <a:lumMod val="75000"/>
                  </a:schemeClr>
                </a:solidFill>
              </a:rPr>
              <a:t>, </a:t>
            </a:r>
            <a:r>
              <a:rPr lang="en-US" sz="1400" b="1" dirty="0">
                <a:solidFill>
                  <a:srgbClr val="00B050"/>
                </a:solidFill>
              </a:rPr>
              <a:t>ANSWER: 0, AUTHORITY: 13, ADDITIONAL: 27</a:t>
            </a:r>
          </a:p>
          <a:p>
            <a:endParaRPr lang="en-US" sz="1400" dirty="0">
              <a:solidFill>
                <a:schemeClr val="accent2">
                  <a:lumMod val="75000"/>
                </a:schemeClr>
              </a:solidFill>
            </a:endParaRPr>
          </a:p>
          <a:p>
            <a:r>
              <a:rPr lang="en-US" sz="1400" dirty="0">
                <a:solidFill>
                  <a:schemeClr val="accent2">
                    <a:lumMod val="75000"/>
                  </a:schemeClr>
                </a:solidFill>
              </a:rPr>
              <a:t>;; </a:t>
            </a:r>
            <a:r>
              <a:rPr lang="en-US" sz="1400" b="1" dirty="0">
                <a:solidFill>
                  <a:srgbClr val="FF0000"/>
                </a:solidFill>
              </a:rPr>
              <a:t>QUESTION SECTION</a:t>
            </a:r>
            <a:r>
              <a:rPr lang="en-US" sz="1400" dirty="0">
                <a:solidFill>
                  <a:srgbClr val="FF0000"/>
                </a:solidFill>
              </a:rPr>
              <a:t>:</a:t>
            </a:r>
          </a:p>
          <a:p>
            <a:r>
              <a:rPr lang="en-US" sz="1400" dirty="0">
                <a:solidFill>
                  <a:schemeClr val="accent2">
                    <a:lumMod val="75000"/>
                  </a:schemeClr>
                </a:solidFill>
              </a:rPr>
              <a:t>;www.msoe.edu.                  IN      A</a:t>
            </a:r>
          </a:p>
          <a:p>
            <a:endParaRPr lang="en-US" sz="1400" dirty="0">
              <a:solidFill>
                <a:schemeClr val="accent2">
                  <a:lumMod val="75000"/>
                </a:schemeClr>
              </a:solidFill>
            </a:endParaRPr>
          </a:p>
          <a:p>
            <a:r>
              <a:rPr lang="en-US" sz="1400" dirty="0">
                <a:solidFill>
                  <a:schemeClr val="accent2">
                    <a:lumMod val="75000"/>
                  </a:schemeClr>
                </a:solidFill>
              </a:rPr>
              <a:t>;; </a:t>
            </a:r>
            <a:r>
              <a:rPr lang="en-US" sz="1400" b="1" dirty="0">
                <a:solidFill>
                  <a:srgbClr val="00B050"/>
                </a:solidFill>
              </a:rPr>
              <a:t>AUTHORITY SECTION</a:t>
            </a:r>
            <a:r>
              <a:rPr lang="en-US" sz="1400" dirty="0">
                <a:solidFill>
                  <a:srgbClr val="00B050"/>
                </a:solidFill>
              </a:rPr>
              <a:t>:</a:t>
            </a:r>
          </a:p>
          <a:p>
            <a:r>
              <a:rPr lang="en-US" sz="1400" dirty="0" err="1">
                <a:solidFill>
                  <a:schemeClr val="accent2">
                    <a:lumMod val="75000"/>
                  </a:schemeClr>
                </a:solidFill>
              </a:rPr>
              <a:t>edu</a:t>
            </a:r>
            <a:r>
              <a:rPr lang="en-US" sz="1400" dirty="0">
                <a:solidFill>
                  <a:schemeClr val="accent2">
                    <a:lumMod val="75000"/>
                  </a:schemeClr>
                </a:solidFill>
              </a:rPr>
              <a:t>.                    172800  IN      NS      d.edu-servers.net.</a:t>
            </a:r>
          </a:p>
          <a:p>
            <a:r>
              <a:rPr lang="en-US" sz="1400" dirty="0" err="1">
                <a:solidFill>
                  <a:schemeClr val="accent2">
                    <a:lumMod val="75000"/>
                  </a:schemeClr>
                </a:solidFill>
              </a:rPr>
              <a:t>edu</a:t>
            </a:r>
            <a:r>
              <a:rPr lang="en-US" sz="1400" dirty="0">
                <a:solidFill>
                  <a:schemeClr val="accent2">
                    <a:lumMod val="75000"/>
                  </a:schemeClr>
                </a:solidFill>
              </a:rPr>
              <a:t>.                    172800  IN      NS      b.edu-servers.net.</a:t>
            </a:r>
          </a:p>
          <a:p>
            <a:r>
              <a:rPr lang="en-US" sz="1400" dirty="0" err="1">
                <a:solidFill>
                  <a:schemeClr val="accent2">
                    <a:lumMod val="75000"/>
                  </a:schemeClr>
                </a:solidFill>
              </a:rPr>
              <a:t>edu</a:t>
            </a:r>
            <a:r>
              <a:rPr lang="en-US" sz="1400" dirty="0">
                <a:solidFill>
                  <a:schemeClr val="accent2">
                    <a:lumMod val="75000"/>
                  </a:schemeClr>
                </a:solidFill>
              </a:rPr>
              <a:t>.                    172800  IN      NS      f.edu-servers.net.</a:t>
            </a:r>
          </a:p>
          <a:p>
            <a:r>
              <a:rPr lang="en-US" sz="1400" dirty="0">
                <a:solidFill>
                  <a:schemeClr val="accent2">
                    <a:lumMod val="75000"/>
                  </a:schemeClr>
                </a:solidFill>
              </a:rPr>
              <a:t>……</a:t>
            </a:r>
          </a:p>
          <a:p>
            <a:endParaRPr lang="en-US" sz="1400" dirty="0">
              <a:solidFill>
                <a:schemeClr val="accent2">
                  <a:lumMod val="75000"/>
                </a:schemeClr>
              </a:solidFill>
            </a:endParaRPr>
          </a:p>
          <a:p>
            <a:r>
              <a:rPr lang="en-US" sz="1400" dirty="0">
                <a:solidFill>
                  <a:schemeClr val="accent2">
                    <a:lumMod val="75000"/>
                  </a:schemeClr>
                </a:solidFill>
              </a:rPr>
              <a:t>;; </a:t>
            </a:r>
            <a:r>
              <a:rPr lang="en-US" sz="1400" b="1" dirty="0">
                <a:solidFill>
                  <a:srgbClr val="00B050"/>
                </a:solidFill>
              </a:rPr>
              <a:t>ADDITIONAL SECTION</a:t>
            </a:r>
            <a:r>
              <a:rPr lang="en-US" sz="1400" dirty="0">
                <a:solidFill>
                  <a:srgbClr val="00B050"/>
                </a:solidFill>
              </a:rPr>
              <a:t>:</a:t>
            </a:r>
          </a:p>
          <a:p>
            <a:r>
              <a:rPr lang="en-US" sz="1400" dirty="0">
                <a:solidFill>
                  <a:schemeClr val="accent2">
                    <a:lumMod val="75000"/>
                  </a:schemeClr>
                </a:solidFill>
              </a:rPr>
              <a:t>d.edu-servers.net.      172800  IN      A       192.31.80.30</a:t>
            </a:r>
          </a:p>
          <a:p>
            <a:r>
              <a:rPr lang="en-US" sz="1400" dirty="0">
                <a:solidFill>
                  <a:schemeClr val="accent2">
                    <a:lumMod val="75000"/>
                  </a:schemeClr>
                </a:solidFill>
              </a:rPr>
              <a:t>d.edu-servers.net.      172800  IN      AAAA    2001:500:856e::30</a:t>
            </a:r>
          </a:p>
          <a:p>
            <a:r>
              <a:rPr lang="en-US" sz="1400" dirty="0">
                <a:solidFill>
                  <a:schemeClr val="accent2">
                    <a:lumMod val="75000"/>
                  </a:schemeClr>
                </a:solidFill>
              </a:rPr>
              <a:t>b.edu-servers.net.      172800  IN      A       192.33.14.30</a:t>
            </a:r>
          </a:p>
          <a:p>
            <a:r>
              <a:rPr lang="en-US" sz="1400" dirty="0">
                <a:solidFill>
                  <a:schemeClr val="accent2">
                    <a:lumMod val="75000"/>
                  </a:schemeClr>
                </a:solidFill>
              </a:rPr>
              <a:t>……</a:t>
            </a:r>
          </a:p>
          <a:p>
            <a:endParaRPr lang="en-US" sz="1400" dirty="0">
              <a:solidFill>
                <a:schemeClr val="accent2">
                  <a:lumMod val="75000"/>
                </a:schemeClr>
              </a:solidFill>
            </a:endParaRPr>
          </a:p>
          <a:p>
            <a:r>
              <a:rPr lang="en-US" sz="1400" dirty="0">
                <a:solidFill>
                  <a:schemeClr val="accent2">
                    <a:lumMod val="75000"/>
                  </a:schemeClr>
                </a:solidFill>
              </a:rPr>
              <a:t>;; Query time: 20 msec</a:t>
            </a:r>
          </a:p>
          <a:p>
            <a:r>
              <a:rPr lang="en-US" sz="1400" dirty="0">
                <a:solidFill>
                  <a:schemeClr val="accent2">
                    <a:lumMod val="75000"/>
                  </a:schemeClr>
                </a:solidFill>
              </a:rPr>
              <a:t>;; SERVER: 198.41.0.4#53(198.41.0.4)</a:t>
            </a:r>
          </a:p>
          <a:p>
            <a:r>
              <a:rPr lang="en-US" sz="1400" dirty="0">
                <a:solidFill>
                  <a:schemeClr val="accent2">
                    <a:lumMod val="75000"/>
                  </a:schemeClr>
                </a:solidFill>
              </a:rPr>
              <a:t>;; WHEN: Mon Sep 16 16:44:43 Central Daylight Time 2024</a:t>
            </a:r>
          </a:p>
          <a:p>
            <a:r>
              <a:rPr lang="en-US" sz="1400" dirty="0">
                <a:solidFill>
                  <a:schemeClr val="accent2">
                    <a:lumMod val="75000"/>
                  </a:schemeClr>
                </a:solidFill>
              </a:rPr>
              <a:t>;; MSG SIZE  </a:t>
            </a:r>
            <a:r>
              <a:rPr lang="en-US" sz="1400" dirty="0" err="1">
                <a:solidFill>
                  <a:schemeClr val="accent2">
                    <a:lumMod val="75000"/>
                  </a:schemeClr>
                </a:solidFill>
              </a:rPr>
              <a:t>rcvd</a:t>
            </a:r>
            <a:r>
              <a:rPr lang="en-US" sz="1400" dirty="0">
                <a:solidFill>
                  <a:schemeClr val="accent2">
                    <a:lumMod val="75000"/>
                  </a:schemeClr>
                </a:solidFill>
              </a:rPr>
              <a:t>: 836</a:t>
            </a:r>
          </a:p>
        </p:txBody>
      </p:sp>
      <p:grpSp>
        <p:nvGrpSpPr>
          <p:cNvPr id="4" name="Google Shape;776;p68">
            <a:extLst>
              <a:ext uri="{FF2B5EF4-FFF2-40B4-BE49-F238E27FC236}">
                <a16:creationId xmlns:a16="http://schemas.microsoft.com/office/drawing/2014/main" id="{71A7A124-31FA-3248-4850-CC290659953A}"/>
              </a:ext>
            </a:extLst>
          </p:cNvPr>
          <p:cNvGrpSpPr/>
          <p:nvPr/>
        </p:nvGrpSpPr>
        <p:grpSpPr>
          <a:xfrm>
            <a:off x="74672" y="2018094"/>
            <a:ext cx="12117328" cy="4687505"/>
            <a:chOff x="248825" y="2193808"/>
            <a:chExt cx="10736656" cy="3848163"/>
          </a:xfrm>
        </p:grpSpPr>
        <p:sp>
          <p:nvSpPr>
            <p:cNvPr id="5" name="Google Shape;777;p68">
              <a:extLst>
                <a:ext uri="{FF2B5EF4-FFF2-40B4-BE49-F238E27FC236}">
                  <a16:creationId xmlns:a16="http://schemas.microsoft.com/office/drawing/2014/main" id="{5FE9F15F-4BAB-1214-BEF9-1FAA0E1F5123}"/>
                </a:ext>
              </a:extLst>
            </p:cNvPr>
            <p:cNvSpPr/>
            <p:nvPr/>
          </p:nvSpPr>
          <p:spPr>
            <a:xfrm>
              <a:off x="248825" y="2193808"/>
              <a:ext cx="5929500" cy="3848163"/>
            </a:xfrm>
            <a:prstGeom prst="roundRect">
              <a:avLst>
                <a:gd name="adj" fmla="val 16667"/>
              </a:avLst>
            </a:prstGeom>
            <a:noFill/>
            <a:ln w="57150"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00000"/>
                </a:solidFill>
              </a:endParaRPr>
            </a:p>
          </p:txBody>
        </p:sp>
        <p:cxnSp>
          <p:nvCxnSpPr>
            <p:cNvPr id="6" name="Google Shape;778;p68">
              <a:extLst>
                <a:ext uri="{FF2B5EF4-FFF2-40B4-BE49-F238E27FC236}">
                  <a16:creationId xmlns:a16="http://schemas.microsoft.com/office/drawing/2014/main" id="{1529C6BC-03CD-4A83-46D6-19E063037ACA}"/>
                </a:ext>
              </a:extLst>
            </p:cNvPr>
            <p:cNvCxnSpPr>
              <a:cxnSpLocks/>
              <a:stCxn id="7" idx="1"/>
              <a:endCxn id="5" idx="3"/>
            </p:cNvCxnSpPr>
            <p:nvPr/>
          </p:nvCxnSpPr>
          <p:spPr>
            <a:xfrm flipH="1">
              <a:off x="6178325" y="4117889"/>
              <a:ext cx="814768" cy="1"/>
            </a:xfrm>
            <a:prstGeom prst="straightConnector1">
              <a:avLst/>
            </a:prstGeom>
            <a:noFill/>
            <a:ln w="57150" cap="flat" cmpd="sng">
              <a:solidFill>
                <a:srgbClr val="C00000"/>
              </a:solidFill>
              <a:prstDash val="solid"/>
              <a:round/>
              <a:headEnd type="none" w="med" len="med"/>
              <a:tailEnd type="triangle" w="med" len="med"/>
            </a:ln>
          </p:spPr>
        </p:cxnSp>
        <p:sp>
          <p:nvSpPr>
            <p:cNvPr id="7" name="Google Shape;779;p68">
              <a:extLst>
                <a:ext uri="{FF2B5EF4-FFF2-40B4-BE49-F238E27FC236}">
                  <a16:creationId xmlns:a16="http://schemas.microsoft.com/office/drawing/2014/main" id="{78A2664A-9A40-D82E-F120-2ECCBC85747C}"/>
                </a:ext>
              </a:extLst>
            </p:cNvPr>
            <p:cNvSpPr txBox="1"/>
            <p:nvPr/>
          </p:nvSpPr>
          <p:spPr>
            <a:xfrm>
              <a:off x="6993092" y="3814702"/>
              <a:ext cx="3992389" cy="60637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dirty="0">
                  <a:solidFill>
                    <a:srgbClr val="C00000"/>
                  </a:solidFill>
                  <a:latin typeface="Roboto"/>
                  <a:ea typeface="Roboto"/>
                  <a:cs typeface="Roboto"/>
                  <a:sym typeface="Roboto"/>
                </a:rPr>
                <a:t>Here's the DNS payload. It's a collection of resource records (one per line)</a:t>
              </a:r>
              <a:endParaRPr b="1" dirty="0">
                <a:solidFill>
                  <a:srgbClr val="C00000"/>
                </a:solidFill>
                <a:latin typeface="Roboto"/>
                <a:ea typeface="Roboto"/>
                <a:cs typeface="Roboto"/>
                <a:sym typeface="Roboto"/>
              </a:endParaRPr>
            </a:p>
          </p:txBody>
        </p:sp>
      </p:grpSp>
    </p:spTree>
    <p:extLst>
      <p:ext uri="{BB962C8B-B14F-4D97-AF65-F5344CB8AC3E}">
        <p14:creationId xmlns:p14="http://schemas.microsoft.com/office/powerpoint/2010/main" val="678160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6A7AD-BA71-4BD2-DB36-ED382E202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9FBAA7-8411-B11C-ACA8-E9E8A4C598CB}"/>
              </a:ext>
            </a:extLst>
          </p:cNvPr>
          <p:cNvSpPr>
            <a:spLocks noGrp="1"/>
          </p:cNvSpPr>
          <p:nvPr>
            <p:ph type="title"/>
          </p:nvPr>
        </p:nvSpPr>
        <p:spPr>
          <a:xfrm>
            <a:off x="838200" y="0"/>
            <a:ext cx="10515600" cy="773393"/>
          </a:xfrm>
        </p:spPr>
        <p:txBody>
          <a:bodyPr/>
          <a:lstStyle/>
          <a:p>
            <a:r>
              <a:rPr lang="en-US" dirty="0"/>
              <a:t>DNS Lookup Walkthrough</a:t>
            </a:r>
          </a:p>
        </p:txBody>
      </p:sp>
      <p:sp>
        <p:nvSpPr>
          <p:cNvPr id="3" name="TextBox 2">
            <a:extLst>
              <a:ext uri="{FF2B5EF4-FFF2-40B4-BE49-F238E27FC236}">
                <a16:creationId xmlns:a16="http://schemas.microsoft.com/office/drawing/2014/main" id="{767FCEFA-D390-4242-F8F0-8F22D39C95D9}"/>
              </a:ext>
            </a:extLst>
          </p:cNvPr>
          <p:cNvSpPr txBox="1"/>
          <p:nvPr/>
        </p:nvSpPr>
        <p:spPr>
          <a:xfrm>
            <a:off x="431055" y="838483"/>
            <a:ext cx="8298809" cy="5478423"/>
          </a:xfrm>
          <a:prstGeom prst="rect">
            <a:avLst/>
          </a:prstGeom>
          <a:noFill/>
        </p:spPr>
        <p:txBody>
          <a:bodyPr wrap="square">
            <a:spAutoFit/>
          </a:bodyPr>
          <a:lstStyle/>
          <a:p>
            <a:r>
              <a:rPr lang="en-US" sz="1400" dirty="0">
                <a:solidFill>
                  <a:schemeClr val="accent2">
                    <a:lumMod val="75000"/>
                  </a:schemeClr>
                </a:solidFill>
              </a:rPr>
              <a:t>; &lt;&lt;&gt;&gt; </a:t>
            </a:r>
            <a:r>
              <a:rPr lang="en-US" sz="1400" dirty="0" err="1">
                <a:solidFill>
                  <a:schemeClr val="accent2">
                    <a:lumMod val="75000"/>
                  </a:schemeClr>
                </a:solidFill>
              </a:rPr>
              <a:t>DiG</a:t>
            </a:r>
            <a:r>
              <a:rPr lang="en-US" sz="1400" dirty="0">
                <a:solidFill>
                  <a:schemeClr val="accent2">
                    <a:lumMod val="75000"/>
                  </a:schemeClr>
                </a:solidFill>
              </a:rPr>
              <a:t> 9.16.28 &lt;&lt;&gt;&gt; +</a:t>
            </a:r>
            <a:r>
              <a:rPr lang="en-US" sz="1400" dirty="0" err="1">
                <a:solidFill>
                  <a:schemeClr val="accent2">
                    <a:lumMod val="75000"/>
                  </a:schemeClr>
                </a:solidFill>
              </a:rPr>
              <a:t>norecurse</a:t>
            </a:r>
            <a:r>
              <a:rPr lang="en-US" sz="1400" dirty="0">
                <a:solidFill>
                  <a:schemeClr val="accent2">
                    <a:lumMod val="75000"/>
                  </a:schemeClr>
                </a:solidFill>
              </a:rPr>
              <a:t> www.msoe.edu @198.41.0.4</a:t>
            </a:r>
          </a:p>
          <a:p>
            <a:r>
              <a:rPr lang="en-US" sz="1400" dirty="0">
                <a:solidFill>
                  <a:schemeClr val="accent2">
                    <a:lumMod val="75000"/>
                  </a:schemeClr>
                </a:solidFill>
              </a:rPr>
              <a:t>;; global options: +</a:t>
            </a:r>
            <a:r>
              <a:rPr lang="en-US" sz="1400" dirty="0" err="1">
                <a:solidFill>
                  <a:schemeClr val="accent2">
                    <a:lumMod val="75000"/>
                  </a:schemeClr>
                </a:solidFill>
              </a:rPr>
              <a:t>cmd</a:t>
            </a:r>
            <a:endParaRPr lang="en-US" sz="1400" dirty="0">
              <a:solidFill>
                <a:schemeClr val="accent2">
                  <a:lumMod val="75000"/>
                </a:schemeClr>
              </a:solidFill>
            </a:endParaRPr>
          </a:p>
          <a:p>
            <a:r>
              <a:rPr lang="en-US" sz="1400" dirty="0">
                <a:solidFill>
                  <a:schemeClr val="accent2">
                    <a:lumMod val="75000"/>
                  </a:schemeClr>
                </a:solidFill>
              </a:rPr>
              <a:t>;; Got answer:</a:t>
            </a:r>
          </a:p>
          <a:p>
            <a:r>
              <a:rPr lang="en-US" sz="1400" dirty="0">
                <a:solidFill>
                  <a:schemeClr val="accent2">
                    <a:lumMod val="75000"/>
                  </a:schemeClr>
                </a:solidFill>
              </a:rPr>
              <a:t>;; -&gt;&gt;HEADER&lt;&lt;- opcode: QUERY, status: NOERROR, </a:t>
            </a:r>
            <a:r>
              <a:rPr lang="en-US" sz="1400" b="1" dirty="0">
                <a:solidFill>
                  <a:srgbClr val="00B050"/>
                </a:solidFill>
              </a:rPr>
              <a:t>id: 7193</a:t>
            </a:r>
          </a:p>
          <a:p>
            <a:r>
              <a:rPr lang="en-US" sz="1400" dirty="0">
                <a:solidFill>
                  <a:schemeClr val="accent2">
                    <a:lumMod val="75000"/>
                  </a:schemeClr>
                </a:solidFill>
              </a:rPr>
              <a:t>;; flags: </a:t>
            </a:r>
            <a:r>
              <a:rPr lang="en-US" sz="1400" dirty="0" err="1">
                <a:solidFill>
                  <a:schemeClr val="accent2">
                    <a:lumMod val="75000"/>
                  </a:schemeClr>
                </a:solidFill>
              </a:rPr>
              <a:t>qr</a:t>
            </a:r>
            <a:r>
              <a:rPr lang="en-US" sz="1400" dirty="0">
                <a:solidFill>
                  <a:schemeClr val="accent2">
                    <a:lumMod val="75000"/>
                  </a:schemeClr>
                </a:solidFill>
              </a:rPr>
              <a:t>; </a:t>
            </a:r>
            <a:r>
              <a:rPr lang="en-US" sz="1400" b="1" dirty="0">
                <a:solidFill>
                  <a:srgbClr val="00B050"/>
                </a:solidFill>
              </a:rPr>
              <a:t>QUERY: 1</a:t>
            </a:r>
            <a:r>
              <a:rPr lang="en-US" sz="1400" dirty="0">
                <a:solidFill>
                  <a:schemeClr val="accent2">
                    <a:lumMod val="75000"/>
                  </a:schemeClr>
                </a:solidFill>
              </a:rPr>
              <a:t>, </a:t>
            </a:r>
            <a:r>
              <a:rPr lang="en-US" sz="1400" b="1" dirty="0">
                <a:solidFill>
                  <a:srgbClr val="00B050"/>
                </a:solidFill>
              </a:rPr>
              <a:t>ANSWER: 0, AUTHORITY: 13, ADDITIONAL: 27</a:t>
            </a:r>
          </a:p>
          <a:p>
            <a:endParaRPr lang="en-US" sz="1400" dirty="0">
              <a:solidFill>
                <a:schemeClr val="accent2">
                  <a:lumMod val="75000"/>
                </a:schemeClr>
              </a:solidFill>
            </a:endParaRPr>
          </a:p>
          <a:p>
            <a:r>
              <a:rPr lang="en-US" sz="1400" dirty="0">
                <a:solidFill>
                  <a:schemeClr val="accent2">
                    <a:lumMod val="75000"/>
                  </a:schemeClr>
                </a:solidFill>
              </a:rPr>
              <a:t>;; </a:t>
            </a:r>
            <a:r>
              <a:rPr lang="en-US" sz="1400" b="1" dirty="0">
                <a:solidFill>
                  <a:srgbClr val="FF0000"/>
                </a:solidFill>
              </a:rPr>
              <a:t>QUESTION SECTION</a:t>
            </a:r>
            <a:r>
              <a:rPr lang="en-US" sz="1400" dirty="0">
                <a:solidFill>
                  <a:srgbClr val="FF0000"/>
                </a:solidFill>
              </a:rPr>
              <a:t>:</a:t>
            </a:r>
          </a:p>
          <a:p>
            <a:r>
              <a:rPr lang="en-US" sz="1400" dirty="0">
                <a:solidFill>
                  <a:schemeClr val="accent2">
                    <a:lumMod val="75000"/>
                  </a:schemeClr>
                </a:solidFill>
              </a:rPr>
              <a:t>;www.msoe.edu.                  IN      A</a:t>
            </a:r>
          </a:p>
          <a:p>
            <a:endParaRPr lang="en-US" sz="1400" dirty="0">
              <a:solidFill>
                <a:schemeClr val="accent2">
                  <a:lumMod val="75000"/>
                </a:schemeClr>
              </a:solidFill>
            </a:endParaRPr>
          </a:p>
          <a:p>
            <a:r>
              <a:rPr lang="en-US" sz="1400" dirty="0">
                <a:solidFill>
                  <a:schemeClr val="accent2">
                    <a:lumMod val="75000"/>
                  </a:schemeClr>
                </a:solidFill>
              </a:rPr>
              <a:t>;; </a:t>
            </a:r>
            <a:r>
              <a:rPr lang="en-US" sz="1400" b="1" dirty="0">
                <a:solidFill>
                  <a:srgbClr val="00B050"/>
                </a:solidFill>
              </a:rPr>
              <a:t>AUTHORITY SECTION</a:t>
            </a:r>
            <a:r>
              <a:rPr lang="en-US" sz="1400" dirty="0">
                <a:solidFill>
                  <a:srgbClr val="00B050"/>
                </a:solidFill>
              </a:rPr>
              <a:t>:</a:t>
            </a:r>
          </a:p>
          <a:p>
            <a:r>
              <a:rPr lang="en-US" sz="1400" dirty="0" err="1">
                <a:solidFill>
                  <a:schemeClr val="accent2">
                    <a:lumMod val="75000"/>
                  </a:schemeClr>
                </a:solidFill>
              </a:rPr>
              <a:t>edu</a:t>
            </a:r>
            <a:r>
              <a:rPr lang="en-US" sz="1400" dirty="0">
                <a:solidFill>
                  <a:schemeClr val="accent2">
                    <a:lumMod val="75000"/>
                  </a:schemeClr>
                </a:solidFill>
              </a:rPr>
              <a:t>.                    172800  IN      NS      d.edu-servers.net.</a:t>
            </a:r>
          </a:p>
          <a:p>
            <a:r>
              <a:rPr lang="en-US" sz="1400" dirty="0" err="1">
                <a:solidFill>
                  <a:schemeClr val="accent2">
                    <a:lumMod val="75000"/>
                  </a:schemeClr>
                </a:solidFill>
              </a:rPr>
              <a:t>edu</a:t>
            </a:r>
            <a:r>
              <a:rPr lang="en-US" sz="1400" dirty="0">
                <a:solidFill>
                  <a:schemeClr val="accent2">
                    <a:lumMod val="75000"/>
                  </a:schemeClr>
                </a:solidFill>
              </a:rPr>
              <a:t>.                    172800  IN      NS      b.edu-servers.net.</a:t>
            </a:r>
          </a:p>
          <a:p>
            <a:r>
              <a:rPr lang="en-US" sz="1400" dirty="0" err="1">
                <a:solidFill>
                  <a:schemeClr val="accent2">
                    <a:lumMod val="75000"/>
                  </a:schemeClr>
                </a:solidFill>
              </a:rPr>
              <a:t>edu</a:t>
            </a:r>
            <a:r>
              <a:rPr lang="en-US" sz="1400" dirty="0">
                <a:solidFill>
                  <a:schemeClr val="accent2">
                    <a:lumMod val="75000"/>
                  </a:schemeClr>
                </a:solidFill>
              </a:rPr>
              <a:t>.                    172800  IN      NS      f.edu-servers.net.</a:t>
            </a:r>
          </a:p>
          <a:p>
            <a:r>
              <a:rPr lang="en-US" sz="1400" dirty="0">
                <a:solidFill>
                  <a:schemeClr val="accent2">
                    <a:lumMod val="75000"/>
                  </a:schemeClr>
                </a:solidFill>
              </a:rPr>
              <a:t>……</a:t>
            </a:r>
          </a:p>
          <a:p>
            <a:endParaRPr lang="en-US" sz="1400" dirty="0">
              <a:solidFill>
                <a:schemeClr val="accent2">
                  <a:lumMod val="75000"/>
                </a:schemeClr>
              </a:solidFill>
            </a:endParaRPr>
          </a:p>
          <a:p>
            <a:r>
              <a:rPr lang="en-US" sz="1400" dirty="0">
                <a:solidFill>
                  <a:schemeClr val="accent2">
                    <a:lumMod val="75000"/>
                  </a:schemeClr>
                </a:solidFill>
              </a:rPr>
              <a:t>;; </a:t>
            </a:r>
            <a:r>
              <a:rPr lang="en-US" sz="1400" b="1" dirty="0">
                <a:solidFill>
                  <a:srgbClr val="00B050"/>
                </a:solidFill>
              </a:rPr>
              <a:t>ADDITIONAL SECTION</a:t>
            </a:r>
            <a:r>
              <a:rPr lang="en-US" sz="1400" dirty="0">
                <a:solidFill>
                  <a:srgbClr val="00B050"/>
                </a:solidFill>
              </a:rPr>
              <a:t>:</a:t>
            </a:r>
          </a:p>
          <a:p>
            <a:r>
              <a:rPr lang="en-US" sz="1400" dirty="0">
                <a:solidFill>
                  <a:schemeClr val="accent2">
                    <a:lumMod val="75000"/>
                  </a:schemeClr>
                </a:solidFill>
              </a:rPr>
              <a:t>d.edu-servers.net.      172800  IN      A       192.31.80.30</a:t>
            </a:r>
          </a:p>
          <a:p>
            <a:r>
              <a:rPr lang="en-US" sz="1400" dirty="0">
                <a:solidFill>
                  <a:schemeClr val="accent2">
                    <a:lumMod val="75000"/>
                  </a:schemeClr>
                </a:solidFill>
              </a:rPr>
              <a:t>d.edu-servers.net.      172800  IN      AAAA    2001:500:856e::30</a:t>
            </a:r>
          </a:p>
          <a:p>
            <a:r>
              <a:rPr lang="en-US" sz="1400" dirty="0">
                <a:solidFill>
                  <a:schemeClr val="accent2">
                    <a:lumMod val="75000"/>
                  </a:schemeClr>
                </a:solidFill>
              </a:rPr>
              <a:t>b.edu-servers.net.      172800  IN      A       192.33.14.30</a:t>
            </a:r>
          </a:p>
          <a:p>
            <a:r>
              <a:rPr lang="en-US" sz="1400" dirty="0">
                <a:solidFill>
                  <a:schemeClr val="accent2">
                    <a:lumMod val="75000"/>
                  </a:schemeClr>
                </a:solidFill>
              </a:rPr>
              <a:t>……</a:t>
            </a:r>
          </a:p>
          <a:p>
            <a:endParaRPr lang="en-US" sz="1400" dirty="0">
              <a:solidFill>
                <a:schemeClr val="accent2">
                  <a:lumMod val="75000"/>
                </a:schemeClr>
              </a:solidFill>
            </a:endParaRPr>
          </a:p>
          <a:p>
            <a:r>
              <a:rPr lang="en-US" sz="1400" dirty="0">
                <a:solidFill>
                  <a:schemeClr val="accent2">
                    <a:lumMod val="75000"/>
                  </a:schemeClr>
                </a:solidFill>
              </a:rPr>
              <a:t>;; Query time: 20 msec</a:t>
            </a:r>
          </a:p>
          <a:p>
            <a:r>
              <a:rPr lang="en-US" sz="1400" dirty="0">
                <a:solidFill>
                  <a:schemeClr val="accent2">
                    <a:lumMod val="75000"/>
                  </a:schemeClr>
                </a:solidFill>
              </a:rPr>
              <a:t>;; SERVER: 198.41.0.4#53(198.41.0.4)</a:t>
            </a:r>
          </a:p>
          <a:p>
            <a:r>
              <a:rPr lang="en-US" sz="1400" dirty="0">
                <a:solidFill>
                  <a:schemeClr val="accent2">
                    <a:lumMod val="75000"/>
                  </a:schemeClr>
                </a:solidFill>
              </a:rPr>
              <a:t>;; WHEN: Mon Sep 16 16:44:43 Central Daylight Time 2024</a:t>
            </a:r>
          </a:p>
          <a:p>
            <a:r>
              <a:rPr lang="en-US" sz="1400" dirty="0">
                <a:solidFill>
                  <a:schemeClr val="accent2">
                    <a:lumMod val="75000"/>
                  </a:schemeClr>
                </a:solidFill>
              </a:rPr>
              <a:t>;; MSG SIZE  </a:t>
            </a:r>
            <a:r>
              <a:rPr lang="en-US" sz="1400" dirty="0" err="1">
                <a:solidFill>
                  <a:schemeClr val="accent2">
                    <a:lumMod val="75000"/>
                  </a:schemeClr>
                </a:solidFill>
              </a:rPr>
              <a:t>rcvd</a:t>
            </a:r>
            <a:r>
              <a:rPr lang="en-US" sz="1400" dirty="0">
                <a:solidFill>
                  <a:schemeClr val="accent2">
                    <a:lumMod val="75000"/>
                  </a:schemeClr>
                </a:solidFill>
              </a:rPr>
              <a:t>: 836</a:t>
            </a:r>
          </a:p>
        </p:txBody>
      </p:sp>
      <p:grpSp>
        <p:nvGrpSpPr>
          <p:cNvPr id="4" name="Google Shape;776;p68">
            <a:extLst>
              <a:ext uri="{FF2B5EF4-FFF2-40B4-BE49-F238E27FC236}">
                <a16:creationId xmlns:a16="http://schemas.microsoft.com/office/drawing/2014/main" id="{54ED48DA-7EC8-5018-E672-983D817BAB6F}"/>
              </a:ext>
            </a:extLst>
          </p:cNvPr>
          <p:cNvGrpSpPr/>
          <p:nvPr/>
        </p:nvGrpSpPr>
        <p:grpSpPr>
          <a:xfrm>
            <a:off x="74672" y="2018097"/>
            <a:ext cx="10527115" cy="3292291"/>
            <a:chOff x="248825" y="2193808"/>
            <a:chExt cx="9327635" cy="2702773"/>
          </a:xfrm>
        </p:grpSpPr>
        <p:sp>
          <p:nvSpPr>
            <p:cNvPr id="5" name="Google Shape;777;p68">
              <a:extLst>
                <a:ext uri="{FF2B5EF4-FFF2-40B4-BE49-F238E27FC236}">
                  <a16:creationId xmlns:a16="http://schemas.microsoft.com/office/drawing/2014/main" id="{24335507-B632-D10F-BA56-619AE5928A93}"/>
                </a:ext>
              </a:extLst>
            </p:cNvPr>
            <p:cNvSpPr/>
            <p:nvPr/>
          </p:nvSpPr>
          <p:spPr>
            <a:xfrm>
              <a:off x="248825" y="2193808"/>
              <a:ext cx="5929500" cy="587909"/>
            </a:xfrm>
            <a:prstGeom prst="roundRect">
              <a:avLst>
                <a:gd name="adj" fmla="val 16667"/>
              </a:avLst>
            </a:prstGeom>
            <a:noFill/>
            <a:ln w="57150"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00000"/>
                </a:solidFill>
              </a:endParaRPr>
            </a:p>
          </p:txBody>
        </p:sp>
        <p:cxnSp>
          <p:nvCxnSpPr>
            <p:cNvPr id="6" name="Google Shape;778;p68">
              <a:extLst>
                <a:ext uri="{FF2B5EF4-FFF2-40B4-BE49-F238E27FC236}">
                  <a16:creationId xmlns:a16="http://schemas.microsoft.com/office/drawing/2014/main" id="{07B2611B-2AB4-A629-9B3A-A595AEB1AFC5}"/>
                </a:ext>
              </a:extLst>
            </p:cNvPr>
            <p:cNvCxnSpPr>
              <a:cxnSpLocks/>
              <a:stCxn id="7" idx="1"/>
              <a:endCxn id="5" idx="2"/>
            </p:cNvCxnSpPr>
            <p:nvPr/>
          </p:nvCxnSpPr>
          <p:spPr>
            <a:xfrm flipH="1" flipV="1">
              <a:off x="3213575" y="2781717"/>
              <a:ext cx="2370496" cy="1470578"/>
            </a:xfrm>
            <a:prstGeom prst="straightConnector1">
              <a:avLst/>
            </a:prstGeom>
            <a:noFill/>
            <a:ln w="57150" cap="flat" cmpd="sng">
              <a:solidFill>
                <a:srgbClr val="C00000"/>
              </a:solidFill>
              <a:prstDash val="solid"/>
              <a:round/>
              <a:headEnd type="none" w="med" len="med"/>
              <a:tailEnd type="triangle" w="med" len="med"/>
            </a:ln>
          </p:spPr>
        </p:cxnSp>
        <p:sp>
          <p:nvSpPr>
            <p:cNvPr id="7" name="Google Shape;779;p68">
              <a:extLst>
                <a:ext uri="{FF2B5EF4-FFF2-40B4-BE49-F238E27FC236}">
                  <a16:creationId xmlns:a16="http://schemas.microsoft.com/office/drawing/2014/main" id="{40395010-BB6A-32BD-6B1C-D4C8D8EBD2AE}"/>
                </a:ext>
              </a:extLst>
            </p:cNvPr>
            <p:cNvSpPr txBox="1"/>
            <p:nvPr/>
          </p:nvSpPr>
          <p:spPr>
            <a:xfrm>
              <a:off x="5584071" y="3608009"/>
              <a:ext cx="3992389" cy="128857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dirty="0">
                  <a:solidFill>
                    <a:srgbClr val="C00000"/>
                  </a:solidFill>
                  <a:latin typeface="Roboto"/>
                  <a:ea typeface="Roboto"/>
                  <a:cs typeface="Roboto"/>
                  <a:sym typeface="Roboto"/>
                </a:rPr>
                <a:t>Here's the question section. The name is www.msoe.edu, the type is A, and the value is blank. It shows that we are looking for the IP address of www.msoe.edu.</a:t>
              </a:r>
            </a:p>
          </p:txBody>
        </p:sp>
      </p:grpSp>
      <p:sp>
        <p:nvSpPr>
          <p:cNvPr id="11" name="Rectangle 8">
            <a:extLst>
              <a:ext uri="{FF2B5EF4-FFF2-40B4-BE49-F238E27FC236}">
                <a16:creationId xmlns:a16="http://schemas.microsoft.com/office/drawing/2014/main" id="{F27F32D8-00E6-164C-AF1B-42A66EA35043}"/>
              </a:ext>
            </a:extLst>
          </p:cNvPr>
          <p:cNvSpPr>
            <a:spLocks noChangeArrowheads="1"/>
          </p:cNvSpPr>
          <p:nvPr/>
        </p:nvSpPr>
        <p:spPr bwMode="auto">
          <a:xfrm>
            <a:off x="6096000" y="5441667"/>
            <a:ext cx="4030396"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lvl="0">
              <a:buClr>
                <a:srgbClr val="000099"/>
              </a:buClr>
              <a:buSzPct val="75000"/>
              <a:defRPr/>
            </a:pPr>
            <a:r>
              <a:rPr kumimoji="0" lang="en-US" altLang="en-US" sz="2200" b="1" i="0" u="none" strike="noStrike" kern="1200" cap="none" spc="0" normalizeH="0" baseline="0" noProof="0" dirty="0">
                <a:ln>
                  <a:noFill/>
                </a:ln>
                <a:solidFill>
                  <a:srgbClr val="CC0000"/>
                </a:solidFill>
                <a:effectLst/>
                <a:uLnTx/>
                <a:uFillTx/>
                <a:latin typeface="Calibri" panose="020F0502020204030204"/>
              </a:rPr>
              <a:t>type=A</a:t>
            </a:r>
            <a:r>
              <a:rPr lang="en-US" altLang="en-US" sz="2200" b="1" dirty="0">
                <a:solidFill>
                  <a:srgbClr val="CC0000"/>
                </a:solidFill>
                <a:latin typeface="Calibri" panose="020F0502020204030204"/>
              </a:rPr>
              <a:t> </a:t>
            </a:r>
            <a:r>
              <a:rPr lang="en-US" altLang="en-US" sz="2200" dirty="0">
                <a:solidFill>
                  <a:srgbClr val="C00000"/>
                </a:solidFill>
                <a:latin typeface="Calibri" panose="020F0502020204030204"/>
              </a:rPr>
              <a:t>("Address" Record)</a:t>
            </a:r>
            <a:endParaRPr kumimoji="0" lang="en-US" altLang="en-US" sz="2200" i="0" u="none" strike="noStrike" kern="1200" cap="none" spc="0" normalizeH="0" baseline="0" noProof="0" dirty="0">
              <a:ln>
                <a:noFill/>
              </a:ln>
              <a:solidFill>
                <a:srgbClr val="C00000"/>
              </a:solidFill>
              <a:effectLst/>
              <a:uLnTx/>
              <a:uFillTx/>
              <a:latin typeface="Calibri" panose="020F0502020204030204"/>
            </a:endParaRPr>
          </a:p>
          <a:p>
            <a:pPr marL="428625" marR="0" lvl="1" indent="-342900" algn="l" defTabSz="914400" rtl="0" eaLnBrk="1" fontAlgn="auto" latinLnBrk="0" hangingPunct="1">
              <a:lnSpc>
                <a:spcPct val="100000"/>
              </a:lnSpc>
              <a:spcBef>
                <a:spcPts val="0"/>
              </a:spcBef>
              <a:spcAft>
                <a:spcPts val="0"/>
              </a:spcAft>
              <a:buSzTx/>
              <a:buFont typeface="Arial" panose="020B0604020202020204" pitchFamily="34" charset="0"/>
              <a:buChar char="•"/>
              <a:tabLst/>
              <a:defRPr/>
            </a:pPr>
            <a:r>
              <a:rPr kumimoji="0" lang="en-US" altLang="en-US" sz="2200" b="0" i="0" u="none" strike="noStrike" kern="1200" cap="none" spc="0" normalizeH="0" baseline="0" noProof="0" dirty="0">
                <a:ln>
                  <a:noFill/>
                </a:ln>
                <a:solidFill>
                  <a:prstClr val="black"/>
                </a:solidFill>
                <a:effectLst/>
                <a:uLnTx/>
                <a:uFillTx/>
                <a:latin typeface="Courier" pitchFamily="2" charset="0"/>
              </a:rPr>
              <a:t>name</a:t>
            </a:r>
            <a:r>
              <a:rPr kumimoji="0" lang="en-US" altLang="en-US" sz="2200" b="0" i="0" u="none" strike="noStrike" kern="1200" cap="none" spc="0" normalizeH="0" baseline="0" noProof="0" dirty="0">
                <a:ln>
                  <a:noFill/>
                </a:ln>
                <a:solidFill>
                  <a:prstClr val="black"/>
                </a:solidFill>
                <a:effectLst/>
                <a:uLnTx/>
                <a:uFillTx/>
                <a:latin typeface="Calibri" panose="020F0502020204030204"/>
              </a:rPr>
              <a:t> is hostname</a:t>
            </a:r>
          </a:p>
          <a:p>
            <a:pPr marL="428625" marR="0" lvl="1" indent="-342900" algn="l" defTabSz="914400" rtl="0" eaLnBrk="1" fontAlgn="auto" latinLnBrk="0" hangingPunct="1">
              <a:lnSpc>
                <a:spcPct val="100000"/>
              </a:lnSpc>
              <a:spcBef>
                <a:spcPts val="0"/>
              </a:spcBef>
              <a:spcAft>
                <a:spcPts val="0"/>
              </a:spcAft>
              <a:buSzTx/>
              <a:buFont typeface="Arial" panose="020B0604020202020204" pitchFamily="34" charset="0"/>
              <a:buChar char="•"/>
              <a:tabLst/>
              <a:defRPr/>
            </a:pPr>
            <a:r>
              <a:rPr kumimoji="0" lang="en-US" altLang="en-US" sz="2200" b="0" i="0" u="none" strike="noStrike" kern="1200" cap="none" spc="0" normalizeH="0" baseline="0" noProof="0" dirty="0">
                <a:ln>
                  <a:noFill/>
                </a:ln>
                <a:solidFill>
                  <a:prstClr val="black"/>
                </a:solidFill>
                <a:effectLst/>
                <a:uLnTx/>
                <a:uFillTx/>
                <a:latin typeface="Courier" pitchFamily="2" charset="0"/>
              </a:rPr>
              <a:t>value</a:t>
            </a:r>
            <a:r>
              <a:rPr kumimoji="0" lang="en-US" altLang="en-US" sz="2200" b="0" i="0" u="none" strike="noStrike" kern="1200" cap="none" spc="0" normalizeH="0" baseline="0" noProof="0" dirty="0">
                <a:ln>
                  <a:noFill/>
                </a:ln>
                <a:solidFill>
                  <a:prstClr val="black"/>
                </a:solidFill>
                <a:effectLst/>
                <a:uLnTx/>
                <a:uFillTx/>
                <a:latin typeface="Calibri" panose="020F0502020204030204"/>
              </a:rPr>
              <a:t> is IP address</a:t>
            </a:r>
          </a:p>
        </p:txBody>
      </p:sp>
      <p:grpSp>
        <p:nvGrpSpPr>
          <p:cNvPr id="12" name="Google Shape;830;p73">
            <a:extLst>
              <a:ext uri="{FF2B5EF4-FFF2-40B4-BE49-F238E27FC236}">
                <a16:creationId xmlns:a16="http://schemas.microsoft.com/office/drawing/2014/main" id="{FD1132FC-1333-178B-FA4A-56DA3868B9FF}"/>
              </a:ext>
            </a:extLst>
          </p:cNvPr>
          <p:cNvGrpSpPr/>
          <p:nvPr/>
        </p:nvGrpSpPr>
        <p:grpSpPr>
          <a:xfrm>
            <a:off x="2143670" y="602583"/>
            <a:ext cx="9973658" cy="2124000"/>
            <a:chOff x="649518" y="2341775"/>
            <a:chExt cx="9973658" cy="2124000"/>
          </a:xfrm>
        </p:grpSpPr>
        <p:sp>
          <p:nvSpPr>
            <p:cNvPr id="13" name="Google Shape;831;p73">
              <a:extLst>
                <a:ext uri="{FF2B5EF4-FFF2-40B4-BE49-F238E27FC236}">
                  <a16:creationId xmlns:a16="http://schemas.microsoft.com/office/drawing/2014/main" id="{B8259153-89D0-CE06-8523-084A72C5A39F}"/>
                </a:ext>
              </a:extLst>
            </p:cNvPr>
            <p:cNvSpPr/>
            <p:nvPr/>
          </p:nvSpPr>
          <p:spPr>
            <a:xfrm>
              <a:off x="649518" y="3482199"/>
              <a:ext cx="1028700" cy="210000"/>
            </a:xfrm>
            <a:prstGeom prst="roundRect">
              <a:avLst>
                <a:gd name="adj" fmla="val 16667"/>
              </a:avLst>
            </a:prstGeom>
            <a:noFill/>
            <a:ln w="57150"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832;p73">
              <a:extLst>
                <a:ext uri="{FF2B5EF4-FFF2-40B4-BE49-F238E27FC236}">
                  <a16:creationId xmlns:a16="http://schemas.microsoft.com/office/drawing/2014/main" id="{B0742F2B-F0FC-5665-092F-97885F863988}"/>
                </a:ext>
              </a:extLst>
            </p:cNvPr>
            <p:cNvSpPr/>
            <p:nvPr/>
          </p:nvSpPr>
          <p:spPr>
            <a:xfrm flipH="1" flipV="1">
              <a:off x="1132507" y="2933626"/>
              <a:ext cx="5252143" cy="543201"/>
            </a:xfrm>
            <a:custGeom>
              <a:avLst/>
              <a:gdLst/>
              <a:ahLst/>
              <a:cxnLst/>
              <a:rect l="l" t="t" r="r" b="b"/>
              <a:pathLst>
                <a:path w="75635" h="35172" extrusionOk="0">
                  <a:moveTo>
                    <a:pt x="75635" y="0"/>
                  </a:moveTo>
                  <a:lnTo>
                    <a:pt x="75635" y="35172"/>
                  </a:lnTo>
                  <a:lnTo>
                    <a:pt x="0" y="35172"/>
                  </a:lnTo>
                </a:path>
              </a:pathLst>
            </a:custGeom>
            <a:noFill/>
            <a:ln w="57150" cap="flat" cmpd="sng">
              <a:solidFill>
                <a:srgbClr val="C00000"/>
              </a:solidFill>
              <a:prstDash val="solid"/>
              <a:round/>
              <a:headEnd type="triangle" w="med" len="med"/>
              <a:tailEnd type="none" w="med" len="med"/>
            </a:ln>
          </p:spPr>
          <p:txBody>
            <a:bodyPr/>
            <a:lstStyle/>
            <a:p>
              <a:endParaRPr lang="en-US"/>
            </a:p>
          </p:txBody>
        </p:sp>
        <p:sp>
          <p:nvSpPr>
            <p:cNvPr id="15" name="Google Shape;833;p73">
              <a:extLst>
                <a:ext uri="{FF2B5EF4-FFF2-40B4-BE49-F238E27FC236}">
                  <a16:creationId xmlns:a16="http://schemas.microsoft.com/office/drawing/2014/main" id="{DE2A57B1-0E6C-4E89-2B91-257ED5916CDD}"/>
                </a:ext>
              </a:extLst>
            </p:cNvPr>
            <p:cNvSpPr txBox="1"/>
            <p:nvPr/>
          </p:nvSpPr>
          <p:spPr>
            <a:xfrm>
              <a:off x="6384649" y="2341775"/>
              <a:ext cx="4238527"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rgbClr val="C00000"/>
                  </a:solidFill>
                  <a:latin typeface="Roboto"/>
                  <a:ea typeface="Roboto"/>
                  <a:cs typeface="Roboto"/>
                  <a:sym typeface="Roboto"/>
                </a:rPr>
                <a:t>The answer section is blank, because the root name server did not return the answer we're looking for.</a:t>
              </a:r>
              <a:endParaRPr dirty="0">
                <a:solidFill>
                  <a:srgbClr val="C00000"/>
                </a:solidFill>
                <a:latin typeface="Roboto"/>
                <a:ea typeface="Roboto"/>
                <a:cs typeface="Roboto"/>
                <a:sym typeface="Roboto"/>
              </a:endParaRPr>
            </a:p>
            <a:p>
              <a:pPr marL="0" lvl="0" indent="0" algn="l" rtl="0">
                <a:spcBef>
                  <a:spcPts val="0"/>
                </a:spcBef>
                <a:spcAft>
                  <a:spcPts val="0"/>
                </a:spcAft>
                <a:buNone/>
              </a:pPr>
              <a:endParaRPr dirty="0">
                <a:solidFill>
                  <a:srgbClr val="C00000"/>
                </a:solidFill>
                <a:latin typeface="Roboto"/>
                <a:ea typeface="Roboto"/>
                <a:cs typeface="Roboto"/>
                <a:sym typeface="Roboto"/>
              </a:endParaRPr>
            </a:p>
            <a:p>
              <a:pPr marL="0" lvl="0" indent="0" algn="l" rtl="0">
                <a:spcBef>
                  <a:spcPts val="0"/>
                </a:spcBef>
                <a:spcAft>
                  <a:spcPts val="0"/>
                </a:spcAft>
                <a:buNone/>
              </a:pPr>
              <a:r>
                <a:rPr lang="en" dirty="0">
                  <a:solidFill>
                    <a:srgbClr val="C00000"/>
                  </a:solidFill>
                  <a:latin typeface="Roboto"/>
                  <a:ea typeface="Roboto"/>
                  <a:cs typeface="Roboto"/>
                  <a:sym typeface="Roboto"/>
                </a:rPr>
                <a:t>We can confirm this by checking the header, which says there are 0 records in the answer section.</a:t>
              </a:r>
              <a:endParaRPr dirty="0">
                <a:solidFill>
                  <a:srgbClr val="C00000"/>
                </a:solidFill>
                <a:latin typeface="Roboto"/>
                <a:ea typeface="Roboto"/>
                <a:cs typeface="Roboto"/>
                <a:sym typeface="Roboto"/>
              </a:endParaRPr>
            </a:p>
          </p:txBody>
        </p:sp>
      </p:grpSp>
    </p:spTree>
    <p:extLst>
      <p:ext uri="{BB962C8B-B14F-4D97-AF65-F5344CB8AC3E}">
        <p14:creationId xmlns:p14="http://schemas.microsoft.com/office/powerpoint/2010/main" val="2681524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1B3C6-3270-C5A0-324D-17CF435A1C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35F564-64B1-CB81-8607-E670A33EE850}"/>
              </a:ext>
            </a:extLst>
          </p:cNvPr>
          <p:cNvSpPr>
            <a:spLocks noGrp="1"/>
          </p:cNvSpPr>
          <p:nvPr>
            <p:ph type="title"/>
          </p:nvPr>
        </p:nvSpPr>
        <p:spPr>
          <a:xfrm>
            <a:off x="838200" y="0"/>
            <a:ext cx="10515600" cy="773393"/>
          </a:xfrm>
        </p:spPr>
        <p:txBody>
          <a:bodyPr/>
          <a:lstStyle/>
          <a:p>
            <a:r>
              <a:rPr lang="en-US" dirty="0"/>
              <a:t>DNS Lookup Walkthrough</a:t>
            </a:r>
          </a:p>
        </p:txBody>
      </p:sp>
      <p:sp>
        <p:nvSpPr>
          <p:cNvPr id="3" name="TextBox 2">
            <a:extLst>
              <a:ext uri="{FF2B5EF4-FFF2-40B4-BE49-F238E27FC236}">
                <a16:creationId xmlns:a16="http://schemas.microsoft.com/office/drawing/2014/main" id="{EEFF1D29-8947-7305-5F5A-CD3BC2D95B45}"/>
              </a:ext>
            </a:extLst>
          </p:cNvPr>
          <p:cNvSpPr txBox="1"/>
          <p:nvPr/>
        </p:nvSpPr>
        <p:spPr>
          <a:xfrm>
            <a:off x="431055" y="838483"/>
            <a:ext cx="8298809" cy="5478423"/>
          </a:xfrm>
          <a:prstGeom prst="rect">
            <a:avLst/>
          </a:prstGeom>
          <a:noFill/>
        </p:spPr>
        <p:txBody>
          <a:bodyPr wrap="square">
            <a:spAutoFit/>
          </a:bodyPr>
          <a:lstStyle/>
          <a:p>
            <a:r>
              <a:rPr lang="en-US" sz="1400" dirty="0">
                <a:solidFill>
                  <a:schemeClr val="accent2">
                    <a:lumMod val="75000"/>
                  </a:schemeClr>
                </a:solidFill>
              </a:rPr>
              <a:t>; &lt;&lt;&gt;&gt; </a:t>
            </a:r>
            <a:r>
              <a:rPr lang="en-US" sz="1400" dirty="0" err="1">
                <a:solidFill>
                  <a:schemeClr val="accent2">
                    <a:lumMod val="75000"/>
                  </a:schemeClr>
                </a:solidFill>
              </a:rPr>
              <a:t>DiG</a:t>
            </a:r>
            <a:r>
              <a:rPr lang="en-US" sz="1400" dirty="0">
                <a:solidFill>
                  <a:schemeClr val="accent2">
                    <a:lumMod val="75000"/>
                  </a:schemeClr>
                </a:solidFill>
              </a:rPr>
              <a:t> 9.16.28 &lt;&lt;&gt;&gt; +</a:t>
            </a:r>
            <a:r>
              <a:rPr lang="en-US" sz="1400" dirty="0" err="1">
                <a:solidFill>
                  <a:schemeClr val="accent2">
                    <a:lumMod val="75000"/>
                  </a:schemeClr>
                </a:solidFill>
              </a:rPr>
              <a:t>norecurse</a:t>
            </a:r>
            <a:r>
              <a:rPr lang="en-US" sz="1400" dirty="0">
                <a:solidFill>
                  <a:schemeClr val="accent2">
                    <a:lumMod val="75000"/>
                  </a:schemeClr>
                </a:solidFill>
              </a:rPr>
              <a:t> www.msoe.edu @198.41.0.4</a:t>
            </a:r>
          </a:p>
          <a:p>
            <a:r>
              <a:rPr lang="en-US" sz="1400" dirty="0">
                <a:solidFill>
                  <a:schemeClr val="accent2">
                    <a:lumMod val="75000"/>
                  </a:schemeClr>
                </a:solidFill>
              </a:rPr>
              <a:t>;; global options: +</a:t>
            </a:r>
            <a:r>
              <a:rPr lang="en-US" sz="1400" dirty="0" err="1">
                <a:solidFill>
                  <a:schemeClr val="accent2">
                    <a:lumMod val="75000"/>
                  </a:schemeClr>
                </a:solidFill>
              </a:rPr>
              <a:t>cmd</a:t>
            </a:r>
            <a:endParaRPr lang="en-US" sz="1400" dirty="0">
              <a:solidFill>
                <a:schemeClr val="accent2">
                  <a:lumMod val="75000"/>
                </a:schemeClr>
              </a:solidFill>
            </a:endParaRPr>
          </a:p>
          <a:p>
            <a:r>
              <a:rPr lang="en-US" sz="1400" dirty="0">
                <a:solidFill>
                  <a:schemeClr val="accent2">
                    <a:lumMod val="75000"/>
                  </a:schemeClr>
                </a:solidFill>
              </a:rPr>
              <a:t>;; Got answer:</a:t>
            </a:r>
          </a:p>
          <a:p>
            <a:r>
              <a:rPr lang="en-US" sz="1400" dirty="0">
                <a:solidFill>
                  <a:schemeClr val="accent2">
                    <a:lumMod val="75000"/>
                  </a:schemeClr>
                </a:solidFill>
              </a:rPr>
              <a:t>;; -&gt;&gt;HEADER&lt;&lt;- opcode: QUERY, status: NOERROR, </a:t>
            </a:r>
            <a:r>
              <a:rPr lang="en-US" sz="1400" b="1" dirty="0">
                <a:solidFill>
                  <a:srgbClr val="00B050"/>
                </a:solidFill>
              </a:rPr>
              <a:t>id: 7193</a:t>
            </a:r>
          </a:p>
          <a:p>
            <a:r>
              <a:rPr lang="en-US" sz="1400" dirty="0">
                <a:solidFill>
                  <a:schemeClr val="accent2">
                    <a:lumMod val="75000"/>
                  </a:schemeClr>
                </a:solidFill>
              </a:rPr>
              <a:t>;; flags: </a:t>
            </a:r>
            <a:r>
              <a:rPr lang="en-US" sz="1400" dirty="0" err="1">
                <a:solidFill>
                  <a:schemeClr val="accent2">
                    <a:lumMod val="75000"/>
                  </a:schemeClr>
                </a:solidFill>
              </a:rPr>
              <a:t>qr</a:t>
            </a:r>
            <a:r>
              <a:rPr lang="en-US" sz="1400" dirty="0">
                <a:solidFill>
                  <a:schemeClr val="accent2">
                    <a:lumMod val="75000"/>
                  </a:schemeClr>
                </a:solidFill>
              </a:rPr>
              <a:t>; </a:t>
            </a:r>
            <a:r>
              <a:rPr lang="en-US" sz="1400" b="1" dirty="0">
                <a:solidFill>
                  <a:srgbClr val="00B050"/>
                </a:solidFill>
              </a:rPr>
              <a:t>QUERY: 1</a:t>
            </a:r>
            <a:r>
              <a:rPr lang="en-US" sz="1400" dirty="0">
                <a:solidFill>
                  <a:schemeClr val="accent2">
                    <a:lumMod val="75000"/>
                  </a:schemeClr>
                </a:solidFill>
              </a:rPr>
              <a:t>, </a:t>
            </a:r>
            <a:r>
              <a:rPr lang="en-US" sz="1400" b="1" dirty="0">
                <a:solidFill>
                  <a:srgbClr val="00B050"/>
                </a:solidFill>
              </a:rPr>
              <a:t>ANSWER: 0, AUTHORITY: 13, ADDITIONAL: 27</a:t>
            </a:r>
          </a:p>
          <a:p>
            <a:endParaRPr lang="en-US" sz="1400" dirty="0">
              <a:solidFill>
                <a:schemeClr val="accent2">
                  <a:lumMod val="75000"/>
                </a:schemeClr>
              </a:solidFill>
            </a:endParaRPr>
          </a:p>
          <a:p>
            <a:r>
              <a:rPr lang="en-US" sz="1400" dirty="0">
                <a:solidFill>
                  <a:schemeClr val="accent2">
                    <a:lumMod val="75000"/>
                  </a:schemeClr>
                </a:solidFill>
              </a:rPr>
              <a:t>;; </a:t>
            </a:r>
            <a:r>
              <a:rPr lang="en-US" sz="1400" b="1" dirty="0">
                <a:solidFill>
                  <a:srgbClr val="FF0000"/>
                </a:solidFill>
              </a:rPr>
              <a:t>QUESTION SECTION</a:t>
            </a:r>
            <a:r>
              <a:rPr lang="en-US" sz="1400" dirty="0">
                <a:solidFill>
                  <a:srgbClr val="FF0000"/>
                </a:solidFill>
              </a:rPr>
              <a:t>:</a:t>
            </a:r>
          </a:p>
          <a:p>
            <a:r>
              <a:rPr lang="en-US" sz="1400" dirty="0">
                <a:solidFill>
                  <a:schemeClr val="accent2">
                    <a:lumMod val="75000"/>
                  </a:schemeClr>
                </a:solidFill>
              </a:rPr>
              <a:t>;www.msoe.edu.                  IN      A</a:t>
            </a:r>
          </a:p>
          <a:p>
            <a:endParaRPr lang="en-US" sz="1400" dirty="0">
              <a:solidFill>
                <a:schemeClr val="accent2">
                  <a:lumMod val="75000"/>
                </a:schemeClr>
              </a:solidFill>
            </a:endParaRPr>
          </a:p>
          <a:p>
            <a:r>
              <a:rPr lang="en-US" sz="1400" dirty="0">
                <a:solidFill>
                  <a:schemeClr val="accent2">
                    <a:lumMod val="75000"/>
                  </a:schemeClr>
                </a:solidFill>
              </a:rPr>
              <a:t>;; </a:t>
            </a:r>
            <a:r>
              <a:rPr lang="en-US" sz="1400" b="1" dirty="0">
                <a:solidFill>
                  <a:srgbClr val="00B050"/>
                </a:solidFill>
              </a:rPr>
              <a:t>AUTHORITY SECTION</a:t>
            </a:r>
            <a:r>
              <a:rPr lang="en-US" sz="1400" dirty="0">
                <a:solidFill>
                  <a:srgbClr val="00B050"/>
                </a:solidFill>
              </a:rPr>
              <a:t>:</a:t>
            </a:r>
          </a:p>
          <a:p>
            <a:r>
              <a:rPr lang="en-US" sz="1400" dirty="0" err="1">
                <a:solidFill>
                  <a:schemeClr val="accent2">
                    <a:lumMod val="75000"/>
                  </a:schemeClr>
                </a:solidFill>
              </a:rPr>
              <a:t>edu</a:t>
            </a:r>
            <a:r>
              <a:rPr lang="en-US" sz="1400" dirty="0">
                <a:solidFill>
                  <a:schemeClr val="accent2">
                    <a:lumMod val="75000"/>
                  </a:schemeClr>
                </a:solidFill>
              </a:rPr>
              <a:t>.                    172800  IN      NS      d.edu-servers.net.</a:t>
            </a:r>
          </a:p>
          <a:p>
            <a:r>
              <a:rPr lang="en-US" sz="1400" dirty="0" err="1">
                <a:solidFill>
                  <a:schemeClr val="accent2">
                    <a:lumMod val="75000"/>
                  </a:schemeClr>
                </a:solidFill>
              </a:rPr>
              <a:t>edu</a:t>
            </a:r>
            <a:r>
              <a:rPr lang="en-US" sz="1400" dirty="0">
                <a:solidFill>
                  <a:schemeClr val="accent2">
                    <a:lumMod val="75000"/>
                  </a:schemeClr>
                </a:solidFill>
              </a:rPr>
              <a:t>.                    172800  IN      NS      b.edu-servers.net.</a:t>
            </a:r>
          </a:p>
          <a:p>
            <a:r>
              <a:rPr lang="en-US" sz="1400" dirty="0" err="1">
                <a:solidFill>
                  <a:schemeClr val="accent2">
                    <a:lumMod val="75000"/>
                  </a:schemeClr>
                </a:solidFill>
              </a:rPr>
              <a:t>edu</a:t>
            </a:r>
            <a:r>
              <a:rPr lang="en-US" sz="1400" dirty="0">
                <a:solidFill>
                  <a:schemeClr val="accent2">
                    <a:lumMod val="75000"/>
                  </a:schemeClr>
                </a:solidFill>
              </a:rPr>
              <a:t>.                    172800  IN      NS      f.edu-servers.net.</a:t>
            </a:r>
          </a:p>
          <a:p>
            <a:r>
              <a:rPr lang="en-US" sz="1400" dirty="0">
                <a:solidFill>
                  <a:schemeClr val="accent2">
                    <a:lumMod val="75000"/>
                  </a:schemeClr>
                </a:solidFill>
              </a:rPr>
              <a:t>……</a:t>
            </a:r>
          </a:p>
          <a:p>
            <a:endParaRPr lang="en-US" sz="1400" dirty="0">
              <a:solidFill>
                <a:schemeClr val="accent2">
                  <a:lumMod val="75000"/>
                </a:schemeClr>
              </a:solidFill>
            </a:endParaRPr>
          </a:p>
          <a:p>
            <a:r>
              <a:rPr lang="en-US" sz="1400" dirty="0">
                <a:solidFill>
                  <a:schemeClr val="accent2">
                    <a:lumMod val="75000"/>
                  </a:schemeClr>
                </a:solidFill>
              </a:rPr>
              <a:t>;; </a:t>
            </a:r>
            <a:r>
              <a:rPr lang="en-US" sz="1400" b="1" dirty="0">
                <a:solidFill>
                  <a:srgbClr val="00B050"/>
                </a:solidFill>
              </a:rPr>
              <a:t>ADDITIONAL SECTION</a:t>
            </a:r>
            <a:r>
              <a:rPr lang="en-US" sz="1400" dirty="0">
                <a:solidFill>
                  <a:srgbClr val="00B050"/>
                </a:solidFill>
              </a:rPr>
              <a:t>:</a:t>
            </a:r>
          </a:p>
          <a:p>
            <a:r>
              <a:rPr lang="en-US" sz="1400" dirty="0">
                <a:solidFill>
                  <a:schemeClr val="accent2">
                    <a:lumMod val="75000"/>
                  </a:schemeClr>
                </a:solidFill>
              </a:rPr>
              <a:t>d.edu-servers.net.      172800  IN      A       192.31.80.30</a:t>
            </a:r>
          </a:p>
          <a:p>
            <a:r>
              <a:rPr lang="en-US" sz="1400" dirty="0">
                <a:solidFill>
                  <a:schemeClr val="accent2">
                    <a:lumMod val="75000"/>
                  </a:schemeClr>
                </a:solidFill>
              </a:rPr>
              <a:t>d.edu-servers.net.      172800  IN      AAAA    2001:500:856e::30</a:t>
            </a:r>
          </a:p>
          <a:p>
            <a:r>
              <a:rPr lang="en-US" sz="1400" dirty="0">
                <a:solidFill>
                  <a:schemeClr val="accent2">
                    <a:lumMod val="75000"/>
                  </a:schemeClr>
                </a:solidFill>
              </a:rPr>
              <a:t>b.edu-servers.net.      172800  IN      A       192.33.14.30</a:t>
            </a:r>
          </a:p>
          <a:p>
            <a:r>
              <a:rPr lang="en-US" sz="1400" dirty="0">
                <a:solidFill>
                  <a:schemeClr val="accent2">
                    <a:lumMod val="75000"/>
                  </a:schemeClr>
                </a:solidFill>
              </a:rPr>
              <a:t>……</a:t>
            </a:r>
          </a:p>
          <a:p>
            <a:endParaRPr lang="en-US" sz="1400" dirty="0">
              <a:solidFill>
                <a:schemeClr val="accent2">
                  <a:lumMod val="75000"/>
                </a:schemeClr>
              </a:solidFill>
            </a:endParaRPr>
          </a:p>
          <a:p>
            <a:r>
              <a:rPr lang="en-US" sz="1400" dirty="0">
                <a:solidFill>
                  <a:schemeClr val="accent2">
                    <a:lumMod val="75000"/>
                  </a:schemeClr>
                </a:solidFill>
              </a:rPr>
              <a:t>;; Query time: 20 msec</a:t>
            </a:r>
          </a:p>
          <a:p>
            <a:r>
              <a:rPr lang="en-US" sz="1400" dirty="0">
                <a:solidFill>
                  <a:schemeClr val="accent2">
                    <a:lumMod val="75000"/>
                  </a:schemeClr>
                </a:solidFill>
              </a:rPr>
              <a:t>;; SERVER: 198.41.0.4#53(198.41.0.4)</a:t>
            </a:r>
          </a:p>
          <a:p>
            <a:r>
              <a:rPr lang="en-US" sz="1400" dirty="0">
                <a:solidFill>
                  <a:schemeClr val="accent2">
                    <a:lumMod val="75000"/>
                  </a:schemeClr>
                </a:solidFill>
              </a:rPr>
              <a:t>;; WHEN: Mon Sep 16 16:44:43 Central Daylight Time 2024</a:t>
            </a:r>
          </a:p>
          <a:p>
            <a:r>
              <a:rPr lang="en-US" sz="1400" dirty="0">
                <a:solidFill>
                  <a:schemeClr val="accent2">
                    <a:lumMod val="75000"/>
                  </a:schemeClr>
                </a:solidFill>
              </a:rPr>
              <a:t>;; MSG SIZE  </a:t>
            </a:r>
            <a:r>
              <a:rPr lang="en-US" sz="1400" dirty="0" err="1">
                <a:solidFill>
                  <a:schemeClr val="accent2">
                    <a:lumMod val="75000"/>
                  </a:schemeClr>
                </a:solidFill>
              </a:rPr>
              <a:t>rcvd</a:t>
            </a:r>
            <a:r>
              <a:rPr lang="en-US" sz="1400" dirty="0">
                <a:solidFill>
                  <a:schemeClr val="accent2">
                    <a:lumMod val="75000"/>
                  </a:schemeClr>
                </a:solidFill>
              </a:rPr>
              <a:t>: 836</a:t>
            </a:r>
          </a:p>
        </p:txBody>
      </p:sp>
      <p:grpSp>
        <p:nvGrpSpPr>
          <p:cNvPr id="17" name="Group 16">
            <a:extLst>
              <a:ext uri="{FF2B5EF4-FFF2-40B4-BE49-F238E27FC236}">
                <a16:creationId xmlns:a16="http://schemas.microsoft.com/office/drawing/2014/main" id="{22C54A22-6902-781F-64E6-8E6DE5E56497}"/>
              </a:ext>
            </a:extLst>
          </p:cNvPr>
          <p:cNvGrpSpPr/>
          <p:nvPr/>
        </p:nvGrpSpPr>
        <p:grpSpPr>
          <a:xfrm>
            <a:off x="279421" y="2748830"/>
            <a:ext cx="11481524" cy="2517630"/>
            <a:chOff x="279421" y="2748830"/>
            <a:chExt cx="11481524" cy="2517630"/>
          </a:xfrm>
        </p:grpSpPr>
        <p:sp>
          <p:nvSpPr>
            <p:cNvPr id="9" name="Google Shape;841;p74">
              <a:extLst>
                <a:ext uri="{FF2B5EF4-FFF2-40B4-BE49-F238E27FC236}">
                  <a16:creationId xmlns:a16="http://schemas.microsoft.com/office/drawing/2014/main" id="{B8CCE7FB-F874-141B-0F74-CEC0044E829E}"/>
                </a:ext>
              </a:extLst>
            </p:cNvPr>
            <p:cNvSpPr/>
            <p:nvPr/>
          </p:nvSpPr>
          <p:spPr>
            <a:xfrm>
              <a:off x="279421" y="2748830"/>
              <a:ext cx="6947637" cy="2517630"/>
            </a:xfrm>
            <a:prstGeom prst="roundRect">
              <a:avLst>
                <a:gd name="adj" fmla="val 7638"/>
              </a:avLst>
            </a:prstGeom>
            <a:noFill/>
            <a:ln w="57150"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00000"/>
                </a:solidFill>
              </a:endParaRPr>
            </a:p>
          </p:txBody>
        </p:sp>
        <p:cxnSp>
          <p:nvCxnSpPr>
            <p:cNvPr id="10" name="Google Shape;842;p74">
              <a:extLst>
                <a:ext uri="{FF2B5EF4-FFF2-40B4-BE49-F238E27FC236}">
                  <a16:creationId xmlns:a16="http://schemas.microsoft.com/office/drawing/2014/main" id="{E3C70325-E077-E4DB-D429-7D642E638501}"/>
                </a:ext>
              </a:extLst>
            </p:cNvPr>
            <p:cNvCxnSpPr>
              <a:endCxn id="9" idx="3"/>
            </p:cNvCxnSpPr>
            <p:nvPr/>
          </p:nvCxnSpPr>
          <p:spPr>
            <a:xfrm rot="10800000">
              <a:off x="7227058" y="4007645"/>
              <a:ext cx="1008931" cy="0"/>
            </a:xfrm>
            <a:prstGeom prst="straightConnector1">
              <a:avLst/>
            </a:prstGeom>
            <a:noFill/>
            <a:ln w="57150" cap="flat" cmpd="sng">
              <a:solidFill>
                <a:srgbClr val="C00000"/>
              </a:solidFill>
              <a:prstDash val="solid"/>
              <a:round/>
              <a:headEnd type="none" w="med" len="med"/>
              <a:tailEnd type="triangle" w="med" len="med"/>
            </a:ln>
          </p:spPr>
        </p:cxnSp>
        <p:sp>
          <p:nvSpPr>
            <p:cNvPr id="16" name="Google Shape;843;p74">
              <a:extLst>
                <a:ext uri="{FF2B5EF4-FFF2-40B4-BE49-F238E27FC236}">
                  <a16:creationId xmlns:a16="http://schemas.microsoft.com/office/drawing/2014/main" id="{2FE98EB7-1ECE-1BA0-E75E-12E8958AA529}"/>
                </a:ext>
              </a:extLst>
            </p:cNvPr>
            <p:cNvSpPr txBox="1"/>
            <p:nvPr/>
          </p:nvSpPr>
          <p:spPr>
            <a:xfrm>
              <a:off x="8162755" y="3245288"/>
              <a:ext cx="3598190" cy="184662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dirty="0">
                  <a:solidFill>
                    <a:srgbClr val="C00000"/>
                  </a:solidFill>
                  <a:latin typeface="Roboto"/>
                  <a:ea typeface="Roboto"/>
                  <a:cs typeface="Roboto"/>
                  <a:sym typeface="Roboto"/>
                </a:rPr>
                <a:t>The authority and additional sections tell the local DNS server where to look next</a:t>
              </a:r>
              <a:endParaRPr b="1" dirty="0">
                <a:solidFill>
                  <a:srgbClr val="C00000"/>
                </a:solidFill>
                <a:latin typeface="Roboto"/>
                <a:ea typeface="Roboto"/>
                <a:cs typeface="Roboto"/>
                <a:sym typeface="Roboto"/>
              </a:endParaRPr>
            </a:p>
            <a:p>
              <a:pPr marL="0" lvl="0" indent="0" algn="l" rtl="0">
                <a:spcBef>
                  <a:spcPts val="0"/>
                </a:spcBef>
                <a:spcAft>
                  <a:spcPts val="0"/>
                </a:spcAft>
                <a:buNone/>
              </a:pPr>
              <a:endParaRPr b="1" dirty="0">
                <a:solidFill>
                  <a:srgbClr val="C00000"/>
                </a:solidFill>
                <a:latin typeface="Roboto"/>
                <a:ea typeface="Roboto"/>
                <a:cs typeface="Roboto"/>
                <a:sym typeface="Roboto"/>
              </a:endParaRPr>
            </a:p>
            <a:p>
              <a:pPr marL="0" lvl="0" indent="0" algn="l" rtl="0">
                <a:spcBef>
                  <a:spcPts val="0"/>
                </a:spcBef>
                <a:spcAft>
                  <a:spcPts val="0"/>
                </a:spcAft>
                <a:buNone/>
              </a:pPr>
              <a:r>
                <a:rPr lang="en" b="1" dirty="0">
                  <a:solidFill>
                    <a:srgbClr val="C00000"/>
                  </a:solidFill>
                  <a:latin typeface="Roboto"/>
                  <a:ea typeface="Roboto"/>
                  <a:cs typeface="Roboto"/>
                  <a:sym typeface="Roboto"/>
                </a:rPr>
                <a:t>Note that there are multiple .edu name servers for redundancy</a:t>
              </a:r>
              <a:endParaRPr b="1" dirty="0">
                <a:solidFill>
                  <a:srgbClr val="C00000"/>
                </a:solidFill>
                <a:latin typeface="Roboto"/>
                <a:ea typeface="Roboto"/>
                <a:cs typeface="Roboto"/>
                <a:sym typeface="Roboto"/>
              </a:endParaRPr>
            </a:p>
          </p:txBody>
        </p:sp>
      </p:grpSp>
    </p:spTree>
    <p:extLst>
      <p:ext uri="{BB962C8B-B14F-4D97-AF65-F5344CB8AC3E}">
        <p14:creationId xmlns:p14="http://schemas.microsoft.com/office/powerpoint/2010/main" val="19692673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1EA7D-D137-F329-C637-3C02594E4F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26DFB0-A471-4111-2A2B-7B5661255DF1}"/>
              </a:ext>
            </a:extLst>
          </p:cNvPr>
          <p:cNvSpPr>
            <a:spLocks noGrp="1"/>
          </p:cNvSpPr>
          <p:nvPr>
            <p:ph type="title"/>
          </p:nvPr>
        </p:nvSpPr>
        <p:spPr>
          <a:xfrm>
            <a:off x="838200" y="0"/>
            <a:ext cx="10515600" cy="773393"/>
          </a:xfrm>
        </p:spPr>
        <p:txBody>
          <a:bodyPr/>
          <a:lstStyle/>
          <a:p>
            <a:r>
              <a:rPr lang="en-US" dirty="0"/>
              <a:t>DNS Lookup Walkthrough</a:t>
            </a:r>
          </a:p>
        </p:txBody>
      </p:sp>
      <p:sp>
        <p:nvSpPr>
          <p:cNvPr id="3" name="TextBox 2">
            <a:extLst>
              <a:ext uri="{FF2B5EF4-FFF2-40B4-BE49-F238E27FC236}">
                <a16:creationId xmlns:a16="http://schemas.microsoft.com/office/drawing/2014/main" id="{AE33FD68-CAD0-C9CA-E351-114B69D917DE}"/>
              </a:ext>
            </a:extLst>
          </p:cNvPr>
          <p:cNvSpPr txBox="1"/>
          <p:nvPr/>
        </p:nvSpPr>
        <p:spPr>
          <a:xfrm>
            <a:off x="431055" y="838483"/>
            <a:ext cx="8298809" cy="5478423"/>
          </a:xfrm>
          <a:prstGeom prst="rect">
            <a:avLst/>
          </a:prstGeom>
          <a:noFill/>
        </p:spPr>
        <p:txBody>
          <a:bodyPr wrap="square">
            <a:spAutoFit/>
          </a:bodyPr>
          <a:lstStyle/>
          <a:p>
            <a:r>
              <a:rPr lang="en-US" sz="1400" dirty="0">
                <a:solidFill>
                  <a:schemeClr val="accent2">
                    <a:lumMod val="75000"/>
                  </a:schemeClr>
                </a:solidFill>
              </a:rPr>
              <a:t>; &lt;&lt;&gt;&gt; </a:t>
            </a:r>
            <a:r>
              <a:rPr lang="en-US" sz="1400" dirty="0" err="1">
                <a:solidFill>
                  <a:schemeClr val="accent2">
                    <a:lumMod val="75000"/>
                  </a:schemeClr>
                </a:solidFill>
              </a:rPr>
              <a:t>DiG</a:t>
            </a:r>
            <a:r>
              <a:rPr lang="en-US" sz="1400" dirty="0">
                <a:solidFill>
                  <a:schemeClr val="accent2">
                    <a:lumMod val="75000"/>
                  </a:schemeClr>
                </a:solidFill>
              </a:rPr>
              <a:t> 9.16.28 &lt;&lt;&gt;&gt; +</a:t>
            </a:r>
            <a:r>
              <a:rPr lang="en-US" sz="1400" dirty="0" err="1">
                <a:solidFill>
                  <a:schemeClr val="accent2">
                    <a:lumMod val="75000"/>
                  </a:schemeClr>
                </a:solidFill>
              </a:rPr>
              <a:t>norecurse</a:t>
            </a:r>
            <a:r>
              <a:rPr lang="en-US" sz="1400" dirty="0">
                <a:solidFill>
                  <a:schemeClr val="accent2">
                    <a:lumMod val="75000"/>
                  </a:schemeClr>
                </a:solidFill>
              </a:rPr>
              <a:t> www.msoe.edu @198.41.0.4</a:t>
            </a:r>
          </a:p>
          <a:p>
            <a:r>
              <a:rPr lang="en-US" sz="1400" dirty="0">
                <a:solidFill>
                  <a:schemeClr val="accent2">
                    <a:lumMod val="75000"/>
                  </a:schemeClr>
                </a:solidFill>
              </a:rPr>
              <a:t>;; global options: +</a:t>
            </a:r>
            <a:r>
              <a:rPr lang="en-US" sz="1400" dirty="0" err="1">
                <a:solidFill>
                  <a:schemeClr val="accent2">
                    <a:lumMod val="75000"/>
                  </a:schemeClr>
                </a:solidFill>
              </a:rPr>
              <a:t>cmd</a:t>
            </a:r>
            <a:endParaRPr lang="en-US" sz="1400" dirty="0">
              <a:solidFill>
                <a:schemeClr val="accent2">
                  <a:lumMod val="75000"/>
                </a:schemeClr>
              </a:solidFill>
            </a:endParaRPr>
          </a:p>
          <a:p>
            <a:r>
              <a:rPr lang="en-US" sz="1400" dirty="0">
                <a:solidFill>
                  <a:schemeClr val="accent2">
                    <a:lumMod val="75000"/>
                  </a:schemeClr>
                </a:solidFill>
              </a:rPr>
              <a:t>;; Got answer:</a:t>
            </a:r>
          </a:p>
          <a:p>
            <a:r>
              <a:rPr lang="en-US" sz="1400" dirty="0">
                <a:solidFill>
                  <a:schemeClr val="accent2">
                    <a:lumMod val="75000"/>
                  </a:schemeClr>
                </a:solidFill>
              </a:rPr>
              <a:t>;; -&gt;&gt;HEADER&lt;&lt;- opcode: QUERY, status: NOERROR, </a:t>
            </a:r>
            <a:r>
              <a:rPr lang="en-US" sz="1400" b="1" dirty="0">
                <a:solidFill>
                  <a:srgbClr val="00B050"/>
                </a:solidFill>
              </a:rPr>
              <a:t>id: 7193</a:t>
            </a:r>
          </a:p>
          <a:p>
            <a:r>
              <a:rPr lang="en-US" sz="1400" dirty="0">
                <a:solidFill>
                  <a:schemeClr val="accent2">
                    <a:lumMod val="75000"/>
                  </a:schemeClr>
                </a:solidFill>
              </a:rPr>
              <a:t>;; flags: </a:t>
            </a:r>
            <a:r>
              <a:rPr lang="en-US" sz="1400" dirty="0" err="1">
                <a:solidFill>
                  <a:schemeClr val="accent2">
                    <a:lumMod val="75000"/>
                  </a:schemeClr>
                </a:solidFill>
              </a:rPr>
              <a:t>qr</a:t>
            </a:r>
            <a:r>
              <a:rPr lang="en-US" sz="1400" dirty="0">
                <a:solidFill>
                  <a:schemeClr val="accent2">
                    <a:lumMod val="75000"/>
                  </a:schemeClr>
                </a:solidFill>
              </a:rPr>
              <a:t>; </a:t>
            </a:r>
            <a:r>
              <a:rPr lang="en-US" sz="1400" b="1" dirty="0">
                <a:solidFill>
                  <a:srgbClr val="00B050"/>
                </a:solidFill>
              </a:rPr>
              <a:t>QUERY: 1</a:t>
            </a:r>
            <a:r>
              <a:rPr lang="en-US" sz="1400" dirty="0">
                <a:solidFill>
                  <a:schemeClr val="accent2">
                    <a:lumMod val="75000"/>
                  </a:schemeClr>
                </a:solidFill>
              </a:rPr>
              <a:t>, </a:t>
            </a:r>
            <a:r>
              <a:rPr lang="en-US" sz="1400" b="1" dirty="0">
                <a:solidFill>
                  <a:srgbClr val="00B050"/>
                </a:solidFill>
              </a:rPr>
              <a:t>ANSWER: 0, AUTHORITY: 13, ADDITIONAL: 27</a:t>
            </a:r>
          </a:p>
          <a:p>
            <a:endParaRPr lang="en-US" sz="1400" dirty="0">
              <a:solidFill>
                <a:schemeClr val="accent2">
                  <a:lumMod val="75000"/>
                </a:schemeClr>
              </a:solidFill>
            </a:endParaRPr>
          </a:p>
          <a:p>
            <a:r>
              <a:rPr lang="en-US" sz="1400" dirty="0">
                <a:solidFill>
                  <a:schemeClr val="accent2">
                    <a:lumMod val="75000"/>
                  </a:schemeClr>
                </a:solidFill>
              </a:rPr>
              <a:t>;; </a:t>
            </a:r>
            <a:r>
              <a:rPr lang="en-US" sz="1400" b="1" dirty="0">
                <a:solidFill>
                  <a:srgbClr val="FF0000"/>
                </a:solidFill>
              </a:rPr>
              <a:t>QUESTION SECTION</a:t>
            </a:r>
            <a:r>
              <a:rPr lang="en-US" sz="1400" dirty="0">
                <a:solidFill>
                  <a:srgbClr val="FF0000"/>
                </a:solidFill>
              </a:rPr>
              <a:t>:</a:t>
            </a:r>
          </a:p>
          <a:p>
            <a:r>
              <a:rPr lang="en-US" sz="1400" dirty="0">
                <a:solidFill>
                  <a:schemeClr val="accent2">
                    <a:lumMod val="75000"/>
                  </a:schemeClr>
                </a:solidFill>
              </a:rPr>
              <a:t>;www.msoe.edu.                  IN      A</a:t>
            </a:r>
          </a:p>
          <a:p>
            <a:endParaRPr lang="en-US" sz="1400" dirty="0">
              <a:solidFill>
                <a:schemeClr val="accent2">
                  <a:lumMod val="75000"/>
                </a:schemeClr>
              </a:solidFill>
            </a:endParaRPr>
          </a:p>
          <a:p>
            <a:r>
              <a:rPr lang="en-US" sz="1400" dirty="0">
                <a:solidFill>
                  <a:schemeClr val="accent2">
                    <a:lumMod val="75000"/>
                  </a:schemeClr>
                </a:solidFill>
              </a:rPr>
              <a:t>;; </a:t>
            </a:r>
            <a:r>
              <a:rPr lang="en-US" sz="1400" b="1" dirty="0">
                <a:solidFill>
                  <a:srgbClr val="00B050"/>
                </a:solidFill>
              </a:rPr>
              <a:t>AUTHORITY SECTION</a:t>
            </a:r>
            <a:r>
              <a:rPr lang="en-US" sz="1400" dirty="0">
                <a:solidFill>
                  <a:srgbClr val="00B050"/>
                </a:solidFill>
              </a:rPr>
              <a:t>:</a:t>
            </a:r>
          </a:p>
          <a:p>
            <a:r>
              <a:rPr lang="en-US" sz="1400" dirty="0" err="1">
                <a:solidFill>
                  <a:schemeClr val="accent2">
                    <a:lumMod val="75000"/>
                  </a:schemeClr>
                </a:solidFill>
              </a:rPr>
              <a:t>edu</a:t>
            </a:r>
            <a:r>
              <a:rPr lang="en-US" sz="1400" dirty="0">
                <a:solidFill>
                  <a:schemeClr val="accent2">
                    <a:lumMod val="75000"/>
                  </a:schemeClr>
                </a:solidFill>
              </a:rPr>
              <a:t>.                    172800  IN      NS      d.edu-servers.net.</a:t>
            </a:r>
          </a:p>
          <a:p>
            <a:r>
              <a:rPr lang="en-US" sz="1400" dirty="0" err="1">
                <a:solidFill>
                  <a:schemeClr val="accent2">
                    <a:lumMod val="75000"/>
                  </a:schemeClr>
                </a:solidFill>
              </a:rPr>
              <a:t>edu</a:t>
            </a:r>
            <a:r>
              <a:rPr lang="en-US" sz="1400" dirty="0">
                <a:solidFill>
                  <a:schemeClr val="accent2">
                    <a:lumMod val="75000"/>
                  </a:schemeClr>
                </a:solidFill>
              </a:rPr>
              <a:t>.                    172800  IN      NS      b.edu-servers.net.</a:t>
            </a:r>
          </a:p>
          <a:p>
            <a:r>
              <a:rPr lang="en-US" sz="1400" dirty="0" err="1">
                <a:solidFill>
                  <a:schemeClr val="accent2">
                    <a:lumMod val="75000"/>
                  </a:schemeClr>
                </a:solidFill>
              </a:rPr>
              <a:t>edu</a:t>
            </a:r>
            <a:r>
              <a:rPr lang="en-US" sz="1400" dirty="0">
                <a:solidFill>
                  <a:schemeClr val="accent2">
                    <a:lumMod val="75000"/>
                  </a:schemeClr>
                </a:solidFill>
              </a:rPr>
              <a:t>.                    172800  IN      NS      f.edu-servers.net.</a:t>
            </a:r>
          </a:p>
          <a:p>
            <a:r>
              <a:rPr lang="en-US" sz="1400" dirty="0">
                <a:solidFill>
                  <a:schemeClr val="accent2">
                    <a:lumMod val="75000"/>
                  </a:schemeClr>
                </a:solidFill>
              </a:rPr>
              <a:t>……</a:t>
            </a:r>
          </a:p>
          <a:p>
            <a:endParaRPr lang="en-US" sz="1400" dirty="0">
              <a:solidFill>
                <a:schemeClr val="accent2">
                  <a:lumMod val="75000"/>
                </a:schemeClr>
              </a:solidFill>
            </a:endParaRPr>
          </a:p>
          <a:p>
            <a:r>
              <a:rPr lang="en-US" sz="1400" dirty="0">
                <a:solidFill>
                  <a:schemeClr val="accent2">
                    <a:lumMod val="75000"/>
                  </a:schemeClr>
                </a:solidFill>
              </a:rPr>
              <a:t>;; </a:t>
            </a:r>
            <a:r>
              <a:rPr lang="en-US" sz="1400" b="1" dirty="0">
                <a:solidFill>
                  <a:srgbClr val="00B050"/>
                </a:solidFill>
              </a:rPr>
              <a:t>ADDITIONAL SECTION</a:t>
            </a:r>
            <a:r>
              <a:rPr lang="en-US" sz="1400" dirty="0">
                <a:solidFill>
                  <a:srgbClr val="00B050"/>
                </a:solidFill>
              </a:rPr>
              <a:t>:</a:t>
            </a:r>
          </a:p>
          <a:p>
            <a:r>
              <a:rPr lang="en-US" sz="1400" dirty="0">
                <a:solidFill>
                  <a:schemeClr val="accent2">
                    <a:lumMod val="75000"/>
                  </a:schemeClr>
                </a:solidFill>
              </a:rPr>
              <a:t>d.edu-servers.net.      172800  IN      A       192.31.80.30</a:t>
            </a:r>
          </a:p>
          <a:p>
            <a:r>
              <a:rPr lang="en-US" sz="1400" dirty="0">
                <a:solidFill>
                  <a:schemeClr val="accent2">
                    <a:lumMod val="75000"/>
                  </a:schemeClr>
                </a:solidFill>
              </a:rPr>
              <a:t>d.edu-servers.net.      172800  IN      AAAA    2001:500:856e::30</a:t>
            </a:r>
          </a:p>
          <a:p>
            <a:r>
              <a:rPr lang="en-US" sz="1400" dirty="0">
                <a:solidFill>
                  <a:schemeClr val="accent2">
                    <a:lumMod val="75000"/>
                  </a:schemeClr>
                </a:solidFill>
              </a:rPr>
              <a:t>b.edu-servers.net.      172800  IN      A       192.33.14.30</a:t>
            </a:r>
          </a:p>
          <a:p>
            <a:r>
              <a:rPr lang="en-US" sz="1400" dirty="0">
                <a:solidFill>
                  <a:schemeClr val="accent2">
                    <a:lumMod val="75000"/>
                  </a:schemeClr>
                </a:solidFill>
              </a:rPr>
              <a:t>……</a:t>
            </a:r>
          </a:p>
          <a:p>
            <a:endParaRPr lang="en-US" sz="1400" dirty="0">
              <a:solidFill>
                <a:schemeClr val="accent2">
                  <a:lumMod val="75000"/>
                </a:schemeClr>
              </a:solidFill>
            </a:endParaRPr>
          </a:p>
          <a:p>
            <a:r>
              <a:rPr lang="en-US" sz="1400" dirty="0">
                <a:solidFill>
                  <a:schemeClr val="accent2">
                    <a:lumMod val="75000"/>
                  </a:schemeClr>
                </a:solidFill>
              </a:rPr>
              <a:t>;; Query time: 20 msec</a:t>
            </a:r>
          </a:p>
          <a:p>
            <a:r>
              <a:rPr lang="en-US" sz="1400" dirty="0">
                <a:solidFill>
                  <a:schemeClr val="accent2">
                    <a:lumMod val="75000"/>
                  </a:schemeClr>
                </a:solidFill>
              </a:rPr>
              <a:t>;; SERVER: 198.41.0.4#53(198.41.0.4)</a:t>
            </a:r>
          </a:p>
          <a:p>
            <a:r>
              <a:rPr lang="en-US" sz="1400" dirty="0">
                <a:solidFill>
                  <a:schemeClr val="accent2">
                    <a:lumMod val="75000"/>
                  </a:schemeClr>
                </a:solidFill>
              </a:rPr>
              <a:t>;; WHEN: Mon Sep 16 16:44:43 Central Daylight Time 2024</a:t>
            </a:r>
          </a:p>
          <a:p>
            <a:r>
              <a:rPr lang="en-US" sz="1400" dirty="0">
                <a:solidFill>
                  <a:schemeClr val="accent2">
                    <a:lumMod val="75000"/>
                  </a:schemeClr>
                </a:solidFill>
              </a:rPr>
              <a:t>;; MSG SIZE  </a:t>
            </a:r>
            <a:r>
              <a:rPr lang="en-US" sz="1400" dirty="0" err="1">
                <a:solidFill>
                  <a:schemeClr val="accent2">
                    <a:lumMod val="75000"/>
                  </a:schemeClr>
                </a:solidFill>
              </a:rPr>
              <a:t>rcvd</a:t>
            </a:r>
            <a:r>
              <a:rPr lang="en-US" sz="1400" dirty="0">
                <a:solidFill>
                  <a:schemeClr val="accent2">
                    <a:lumMod val="75000"/>
                  </a:schemeClr>
                </a:solidFill>
              </a:rPr>
              <a:t>: 836</a:t>
            </a:r>
          </a:p>
        </p:txBody>
      </p:sp>
      <p:grpSp>
        <p:nvGrpSpPr>
          <p:cNvPr id="17" name="Group 16">
            <a:extLst>
              <a:ext uri="{FF2B5EF4-FFF2-40B4-BE49-F238E27FC236}">
                <a16:creationId xmlns:a16="http://schemas.microsoft.com/office/drawing/2014/main" id="{05985B0B-0F6A-D221-986B-3EC7E5E37CB3}"/>
              </a:ext>
            </a:extLst>
          </p:cNvPr>
          <p:cNvGrpSpPr/>
          <p:nvPr/>
        </p:nvGrpSpPr>
        <p:grpSpPr>
          <a:xfrm>
            <a:off x="279421" y="3245288"/>
            <a:ext cx="11481524" cy="1299819"/>
            <a:chOff x="279421" y="3245288"/>
            <a:chExt cx="11481524" cy="1299819"/>
          </a:xfrm>
        </p:grpSpPr>
        <p:sp>
          <p:nvSpPr>
            <p:cNvPr id="9" name="Google Shape;841;p74">
              <a:extLst>
                <a:ext uri="{FF2B5EF4-FFF2-40B4-BE49-F238E27FC236}">
                  <a16:creationId xmlns:a16="http://schemas.microsoft.com/office/drawing/2014/main" id="{4F8DB74A-9C4C-5CAB-D0AA-E6D31E751E6E}"/>
                </a:ext>
              </a:extLst>
            </p:cNvPr>
            <p:cNvSpPr/>
            <p:nvPr/>
          </p:nvSpPr>
          <p:spPr>
            <a:xfrm>
              <a:off x="279421" y="4249271"/>
              <a:ext cx="6947637" cy="295836"/>
            </a:xfrm>
            <a:prstGeom prst="roundRect">
              <a:avLst>
                <a:gd name="adj" fmla="val 7638"/>
              </a:avLst>
            </a:prstGeom>
            <a:noFill/>
            <a:ln w="57150"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00000"/>
                </a:solidFill>
              </a:endParaRPr>
            </a:p>
          </p:txBody>
        </p:sp>
        <p:cxnSp>
          <p:nvCxnSpPr>
            <p:cNvPr id="10" name="Google Shape;842;p74">
              <a:extLst>
                <a:ext uri="{FF2B5EF4-FFF2-40B4-BE49-F238E27FC236}">
                  <a16:creationId xmlns:a16="http://schemas.microsoft.com/office/drawing/2014/main" id="{AB77DC6A-F4EE-D22B-AB39-FF27649ED7CB}"/>
                </a:ext>
              </a:extLst>
            </p:cNvPr>
            <p:cNvCxnSpPr>
              <a:cxnSpLocks/>
              <a:endCxn id="9" idx="3"/>
            </p:cNvCxnSpPr>
            <p:nvPr/>
          </p:nvCxnSpPr>
          <p:spPr>
            <a:xfrm flipH="1">
              <a:off x="7227058" y="4007645"/>
              <a:ext cx="1008932" cy="389544"/>
            </a:xfrm>
            <a:prstGeom prst="straightConnector1">
              <a:avLst/>
            </a:prstGeom>
            <a:noFill/>
            <a:ln w="57150" cap="flat" cmpd="sng">
              <a:solidFill>
                <a:srgbClr val="C00000"/>
              </a:solidFill>
              <a:prstDash val="solid"/>
              <a:round/>
              <a:headEnd type="none" w="med" len="med"/>
              <a:tailEnd type="triangle" w="med" len="med"/>
            </a:ln>
          </p:spPr>
        </p:cxnSp>
        <p:sp>
          <p:nvSpPr>
            <p:cNvPr id="16" name="Google Shape;843;p74">
              <a:extLst>
                <a:ext uri="{FF2B5EF4-FFF2-40B4-BE49-F238E27FC236}">
                  <a16:creationId xmlns:a16="http://schemas.microsoft.com/office/drawing/2014/main" id="{B3D6B7E6-1CF3-12FC-0344-0227017008F1}"/>
                </a:ext>
              </a:extLst>
            </p:cNvPr>
            <p:cNvSpPr txBox="1"/>
            <p:nvPr/>
          </p:nvSpPr>
          <p:spPr>
            <a:xfrm>
              <a:off x="8162755" y="3245288"/>
              <a:ext cx="3598190" cy="101563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dirty="0">
                  <a:solidFill>
                    <a:srgbClr val="C00000"/>
                  </a:solidFill>
                  <a:latin typeface="Roboto"/>
                  <a:ea typeface="Roboto"/>
                  <a:cs typeface="Roboto"/>
                  <a:sym typeface="Roboto"/>
                </a:rPr>
                <a:t>This A record helpfully tells us the IP address of the next name server we mean to contact.</a:t>
              </a:r>
            </a:p>
          </p:txBody>
        </p:sp>
      </p:grpSp>
    </p:spTree>
    <p:extLst>
      <p:ext uri="{BB962C8B-B14F-4D97-AF65-F5344CB8AC3E}">
        <p14:creationId xmlns:p14="http://schemas.microsoft.com/office/powerpoint/2010/main" val="31349112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533399" y="365520"/>
            <a:ext cx="4981975" cy="894622"/>
          </a:xfrm>
        </p:spPr>
        <p:txBody>
          <a:bodyPr>
            <a:normAutofit fontScale="90000"/>
          </a:bodyPr>
          <a:lstStyle/>
          <a:p>
            <a:r>
              <a:rPr lang="en-US" altLang="en-US" sz="4400" dirty="0">
                <a:ea typeface="ＭＳ Ｐゴシック" panose="020B0600070205080204" pitchFamily="34" charset="-128"/>
                <a:cs typeface="Calibri" panose="020F0502020204030204" pitchFamily="34" charset="0"/>
              </a:rPr>
              <a:t>DNS sample query </a:t>
            </a:r>
            <a:br>
              <a:rPr lang="en-US" altLang="en-US" sz="4400" dirty="0">
                <a:ea typeface="ＭＳ Ｐゴシック" panose="020B0600070205080204" pitchFamily="34" charset="-128"/>
                <a:cs typeface="Calibri" panose="020F0502020204030204" pitchFamily="34" charset="0"/>
              </a:rPr>
            </a:br>
            <a:r>
              <a:rPr lang="en-US" altLang="en-US" sz="4400" dirty="0">
                <a:ea typeface="ＭＳ Ｐゴシック" panose="020B0600070205080204" pitchFamily="34" charset="-128"/>
                <a:cs typeface="Calibri" panose="020F0502020204030204" pitchFamily="34" charset="0"/>
              </a:rPr>
              <a:t>(using </a:t>
            </a:r>
            <a:r>
              <a:rPr lang="en-US" altLang="en-US" sz="4400" dirty="0">
                <a:ea typeface="ＭＳ Ｐゴシック" panose="020B0600070205080204" pitchFamily="34" charset="-128"/>
                <a:cs typeface="Calibri" panose="020F0502020204030204" pitchFamily="34" charset="0"/>
                <a:hlinkClick r:id="rId3"/>
              </a:rPr>
              <a:t>dig</a:t>
            </a:r>
            <a:r>
              <a:rPr lang="en-US" altLang="en-US" sz="4400" dirty="0">
                <a:ea typeface="ＭＳ Ｐゴシック" panose="020B0600070205080204" pitchFamily="34" charset="-128"/>
                <a:cs typeface="Calibri" panose="020F0502020204030204" pitchFamily="34" charset="0"/>
              </a:rPr>
              <a:t> utility)</a:t>
            </a:r>
            <a:endParaRPr lang="en-US" sz="4400" dirty="0">
              <a:cs typeface="Calibri" panose="020F0502020204030204" pitchFamily="34" charset="0"/>
            </a:endParaRPr>
          </a:p>
        </p:txBody>
      </p:sp>
      <p:sp>
        <p:nvSpPr>
          <p:cNvPr id="4" name="TextBox 3">
            <a:extLst>
              <a:ext uri="{FF2B5EF4-FFF2-40B4-BE49-F238E27FC236}">
                <a16:creationId xmlns:a16="http://schemas.microsoft.com/office/drawing/2014/main" id="{33B54463-E616-2D57-65A2-83500ABB5C13}"/>
              </a:ext>
            </a:extLst>
          </p:cNvPr>
          <p:cNvSpPr txBox="1"/>
          <p:nvPr/>
        </p:nvSpPr>
        <p:spPr>
          <a:xfrm>
            <a:off x="387991" y="1625662"/>
            <a:ext cx="7826829" cy="523220"/>
          </a:xfrm>
          <a:prstGeom prst="rect">
            <a:avLst/>
          </a:prstGeom>
          <a:noFill/>
        </p:spPr>
        <p:txBody>
          <a:bodyPr wrap="square">
            <a:spAutoFit/>
          </a:bodyPr>
          <a:lstStyle/>
          <a:p>
            <a:r>
              <a:rPr lang="en-US" sz="1200" dirty="0">
                <a:solidFill>
                  <a:schemeClr val="accent2">
                    <a:lumMod val="75000"/>
                  </a:schemeClr>
                </a:solidFill>
              </a:rPr>
              <a:t>$ </a:t>
            </a:r>
            <a:r>
              <a:rPr lang="en-US" sz="1200" dirty="0">
                <a:solidFill>
                  <a:srgbClr val="FF0000"/>
                </a:solidFill>
              </a:rPr>
              <a:t>dig </a:t>
            </a:r>
            <a:r>
              <a:rPr lang="en-US" sz="1600" b="1" dirty="0">
                <a:solidFill>
                  <a:srgbClr val="FF0000"/>
                </a:solidFill>
              </a:rPr>
              <a:t>+</a:t>
            </a:r>
            <a:r>
              <a:rPr lang="en-US" sz="1600" b="1" dirty="0" err="1">
                <a:solidFill>
                  <a:srgbClr val="FF0000"/>
                </a:solidFill>
              </a:rPr>
              <a:t>norecurse</a:t>
            </a:r>
            <a:r>
              <a:rPr lang="en-US" sz="1600" b="1" dirty="0">
                <a:solidFill>
                  <a:srgbClr val="FF0000"/>
                </a:solidFill>
              </a:rPr>
              <a:t> </a:t>
            </a:r>
            <a:r>
              <a:rPr lang="en-US" sz="1200" dirty="0">
                <a:solidFill>
                  <a:srgbClr val="FF0000"/>
                </a:solidFill>
              </a:rPr>
              <a:t>www.msoe.edu @198.41.0.4</a:t>
            </a:r>
          </a:p>
          <a:p>
            <a:endParaRPr lang="en-US" sz="1200" dirty="0">
              <a:solidFill>
                <a:schemeClr val="accent2">
                  <a:lumMod val="75000"/>
                </a:schemeClr>
              </a:solidFill>
            </a:endParaRPr>
          </a:p>
        </p:txBody>
      </p:sp>
      <p:grpSp>
        <p:nvGrpSpPr>
          <p:cNvPr id="19" name="Group 18">
            <a:extLst>
              <a:ext uri="{FF2B5EF4-FFF2-40B4-BE49-F238E27FC236}">
                <a16:creationId xmlns:a16="http://schemas.microsoft.com/office/drawing/2014/main" id="{23CFE5CC-3CF1-3193-567C-C7EFCB26FF4E}"/>
              </a:ext>
            </a:extLst>
          </p:cNvPr>
          <p:cNvGrpSpPr/>
          <p:nvPr/>
        </p:nvGrpSpPr>
        <p:grpSpPr>
          <a:xfrm>
            <a:off x="5482716" y="0"/>
            <a:ext cx="4981975" cy="6858000"/>
            <a:chOff x="5482716" y="0"/>
            <a:chExt cx="4981975" cy="6858000"/>
          </a:xfrm>
        </p:grpSpPr>
        <p:grpSp>
          <p:nvGrpSpPr>
            <p:cNvPr id="16" name="Group 15">
              <a:extLst>
                <a:ext uri="{FF2B5EF4-FFF2-40B4-BE49-F238E27FC236}">
                  <a16:creationId xmlns:a16="http://schemas.microsoft.com/office/drawing/2014/main" id="{3AC85C58-6B80-7489-DE6D-F22FE7E1F159}"/>
                </a:ext>
              </a:extLst>
            </p:cNvPr>
            <p:cNvGrpSpPr/>
            <p:nvPr/>
          </p:nvGrpSpPr>
          <p:grpSpPr>
            <a:xfrm>
              <a:off x="5482716" y="0"/>
              <a:ext cx="4981975" cy="6858000"/>
              <a:chOff x="5482716" y="0"/>
              <a:chExt cx="4981975" cy="6858000"/>
            </a:xfrm>
          </p:grpSpPr>
          <p:pic>
            <p:nvPicPr>
              <p:cNvPr id="6" name="Picture 5">
                <a:extLst>
                  <a:ext uri="{FF2B5EF4-FFF2-40B4-BE49-F238E27FC236}">
                    <a16:creationId xmlns:a16="http://schemas.microsoft.com/office/drawing/2014/main" id="{800B2F97-B0CB-7D15-0BC1-C80850749B2A}"/>
                  </a:ext>
                </a:extLst>
              </p:cNvPr>
              <p:cNvPicPr>
                <a:picLocks noChangeAspect="1"/>
              </p:cNvPicPr>
              <p:nvPr/>
            </p:nvPicPr>
            <p:blipFill>
              <a:blip r:embed="rId4"/>
              <a:stretch>
                <a:fillRect/>
              </a:stretch>
            </p:blipFill>
            <p:spPr>
              <a:xfrm>
                <a:off x="5482716" y="0"/>
                <a:ext cx="4981975" cy="6858000"/>
              </a:xfrm>
              <a:prstGeom prst="rect">
                <a:avLst/>
              </a:prstGeom>
            </p:spPr>
          </p:pic>
          <p:sp>
            <p:nvSpPr>
              <p:cNvPr id="2" name="Rectangle 1">
                <a:extLst>
                  <a:ext uri="{FF2B5EF4-FFF2-40B4-BE49-F238E27FC236}">
                    <a16:creationId xmlns:a16="http://schemas.microsoft.com/office/drawing/2014/main" id="{097E5692-E409-EF38-3206-12C7459587F8}"/>
                  </a:ext>
                </a:extLst>
              </p:cNvPr>
              <p:cNvSpPr/>
              <p:nvPr/>
            </p:nvSpPr>
            <p:spPr>
              <a:xfrm>
                <a:off x="5687568" y="888046"/>
                <a:ext cx="694944" cy="215330"/>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23287C3-09DF-0ED4-6F65-6053B788806A}"/>
                  </a:ext>
                </a:extLst>
              </p:cNvPr>
              <p:cNvSpPr/>
              <p:nvPr/>
            </p:nvSpPr>
            <p:spPr>
              <a:xfrm>
                <a:off x="8869680" y="705166"/>
                <a:ext cx="694944" cy="215330"/>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7B816B57-EEDC-A75B-FBF5-49D20A551CA7}"/>
                </a:ext>
              </a:extLst>
            </p:cNvPr>
            <p:cNvSpPr/>
            <p:nvPr/>
          </p:nvSpPr>
          <p:spPr>
            <a:xfrm>
              <a:off x="7198323" y="888046"/>
              <a:ext cx="694944" cy="215330"/>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630D72B-B577-6C12-6399-A30A070F40E1}"/>
                </a:ext>
              </a:extLst>
            </p:cNvPr>
            <p:cNvSpPr/>
            <p:nvPr/>
          </p:nvSpPr>
          <p:spPr>
            <a:xfrm>
              <a:off x="7545794" y="4591366"/>
              <a:ext cx="760005" cy="254954"/>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A79D4D27-357A-27D5-3355-9B4A16AF4E67}"/>
              </a:ext>
            </a:extLst>
          </p:cNvPr>
          <p:cNvGrpSpPr/>
          <p:nvPr/>
        </p:nvGrpSpPr>
        <p:grpSpPr>
          <a:xfrm>
            <a:off x="3087884" y="579704"/>
            <a:ext cx="5576970" cy="1569630"/>
            <a:chOff x="2921508" y="579704"/>
            <a:chExt cx="5576970" cy="1569630"/>
          </a:xfrm>
        </p:grpSpPr>
        <p:sp>
          <p:nvSpPr>
            <p:cNvPr id="7" name="Google Shape;758;p66">
              <a:extLst>
                <a:ext uri="{FF2B5EF4-FFF2-40B4-BE49-F238E27FC236}">
                  <a16:creationId xmlns:a16="http://schemas.microsoft.com/office/drawing/2014/main" id="{E77F6A74-D650-6B03-CE20-4E9A53458387}"/>
                </a:ext>
              </a:extLst>
            </p:cNvPr>
            <p:cNvSpPr txBox="1"/>
            <p:nvPr/>
          </p:nvSpPr>
          <p:spPr>
            <a:xfrm>
              <a:off x="4854778" y="579704"/>
              <a:ext cx="3643700" cy="1569630"/>
            </a:xfrm>
            <a:prstGeom prst="rect">
              <a:avLst/>
            </a:prstGeom>
            <a:solidFill>
              <a:schemeClr val="bg1"/>
            </a:solid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dirty="0">
                  <a:solidFill>
                    <a:srgbClr val="C00000"/>
                  </a:solidFill>
                  <a:latin typeface="Roboto"/>
                  <a:ea typeface="Roboto"/>
                  <a:cs typeface="Roboto"/>
                  <a:sym typeface="Roboto"/>
                </a:rPr>
                <a:t>DNS queries always start with a request to the root name server. The IP address of the root name server is usually hard-coded into recursive resolvers</a:t>
              </a:r>
              <a:endParaRPr dirty="0">
                <a:solidFill>
                  <a:srgbClr val="C00000"/>
                </a:solidFill>
                <a:latin typeface="Roboto"/>
                <a:ea typeface="Roboto"/>
                <a:cs typeface="Roboto"/>
                <a:sym typeface="Roboto"/>
              </a:endParaRPr>
            </a:p>
          </p:txBody>
        </p:sp>
        <p:sp>
          <p:nvSpPr>
            <p:cNvPr id="8" name="Rectangle 7">
              <a:extLst>
                <a:ext uri="{FF2B5EF4-FFF2-40B4-BE49-F238E27FC236}">
                  <a16:creationId xmlns:a16="http://schemas.microsoft.com/office/drawing/2014/main" id="{31CB9AFC-3ABB-E253-BED1-0023FCB09AEC}"/>
                </a:ext>
              </a:extLst>
            </p:cNvPr>
            <p:cNvSpPr/>
            <p:nvPr/>
          </p:nvSpPr>
          <p:spPr>
            <a:xfrm>
              <a:off x="2921508" y="1652069"/>
              <a:ext cx="949452" cy="260717"/>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299FD8FB-F56A-DA8B-6D7A-F4115119CBCE}"/>
                </a:ext>
              </a:extLst>
            </p:cNvPr>
            <p:cNvCxnSpPr>
              <a:cxnSpLocks/>
              <a:stCxn id="7" idx="1"/>
              <a:endCxn id="8" idx="3"/>
            </p:cNvCxnSpPr>
            <p:nvPr/>
          </p:nvCxnSpPr>
          <p:spPr>
            <a:xfrm flipH="1">
              <a:off x="3870960" y="1364519"/>
              <a:ext cx="983818" cy="417909"/>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21" name="TextBox 20">
            <a:extLst>
              <a:ext uri="{FF2B5EF4-FFF2-40B4-BE49-F238E27FC236}">
                <a16:creationId xmlns:a16="http://schemas.microsoft.com/office/drawing/2014/main" id="{D9B2DD0B-98D3-48FE-EA9C-8055CB070746}"/>
              </a:ext>
            </a:extLst>
          </p:cNvPr>
          <p:cNvSpPr txBox="1"/>
          <p:nvPr/>
        </p:nvSpPr>
        <p:spPr>
          <a:xfrm>
            <a:off x="183165" y="2043571"/>
            <a:ext cx="4954716" cy="4708981"/>
          </a:xfrm>
          <a:prstGeom prst="rect">
            <a:avLst/>
          </a:prstGeom>
          <a:noFill/>
        </p:spPr>
        <p:txBody>
          <a:bodyPr wrap="square">
            <a:spAutoFit/>
          </a:bodyPr>
          <a:lstStyle/>
          <a:p>
            <a:r>
              <a:rPr lang="en-US" sz="1200" dirty="0">
                <a:solidFill>
                  <a:schemeClr val="accent2">
                    <a:lumMod val="75000"/>
                  </a:schemeClr>
                </a:solidFill>
              </a:rPr>
              <a:t>; &lt;&lt;&gt;&gt; </a:t>
            </a:r>
            <a:r>
              <a:rPr lang="en-US" sz="1200" dirty="0" err="1">
                <a:solidFill>
                  <a:schemeClr val="accent2">
                    <a:lumMod val="75000"/>
                  </a:schemeClr>
                </a:solidFill>
              </a:rPr>
              <a:t>DiG</a:t>
            </a:r>
            <a:r>
              <a:rPr lang="en-US" sz="1200" dirty="0">
                <a:solidFill>
                  <a:schemeClr val="accent2">
                    <a:lumMod val="75000"/>
                  </a:schemeClr>
                </a:solidFill>
              </a:rPr>
              <a:t> 9.16.28 &lt;&lt;&gt;&gt; +</a:t>
            </a:r>
            <a:r>
              <a:rPr lang="en-US" sz="1200" dirty="0" err="1">
                <a:solidFill>
                  <a:schemeClr val="accent2">
                    <a:lumMod val="75000"/>
                  </a:schemeClr>
                </a:solidFill>
              </a:rPr>
              <a:t>norecurse</a:t>
            </a:r>
            <a:r>
              <a:rPr lang="en-US" sz="1200" dirty="0">
                <a:solidFill>
                  <a:schemeClr val="accent2">
                    <a:lumMod val="75000"/>
                  </a:schemeClr>
                </a:solidFill>
              </a:rPr>
              <a:t> www.msoe.edu @198.41.0.4</a:t>
            </a:r>
          </a:p>
          <a:p>
            <a:r>
              <a:rPr lang="en-US" sz="1200" dirty="0">
                <a:solidFill>
                  <a:schemeClr val="accent2">
                    <a:lumMod val="75000"/>
                  </a:schemeClr>
                </a:solidFill>
              </a:rPr>
              <a:t>;; global options: +</a:t>
            </a:r>
            <a:r>
              <a:rPr lang="en-US" sz="1200" dirty="0" err="1">
                <a:solidFill>
                  <a:schemeClr val="accent2">
                    <a:lumMod val="75000"/>
                  </a:schemeClr>
                </a:solidFill>
              </a:rPr>
              <a:t>cmd</a:t>
            </a:r>
            <a:endParaRPr lang="en-US" sz="1200" dirty="0">
              <a:solidFill>
                <a:schemeClr val="accent2">
                  <a:lumMod val="75000"/>
                </a:schemeClr>
              </a:solidFill>
            </a:endParaRPr>
          </a:p>
          <a:p>
            <a:r>
              <a:rPr lang="en-US" sz="1200" dirty="0">
                <a:solidFill>
                  <a:schemeClr val="accent2">
                    <a:lumMod val="75000"/>
                  </a:schemeClr>
                </a:solidFill>
              </a:rPr>
              <a:t>;; Got answer:</a:t>
            </a:r>
          </a:p>
          <a:p>
            <a:r>
              <a:rPr lang="en-US" sz="1200" dirty="0">
                <a:solidFill>
                  <a:schemeClr val="accent2">
                    <a:lumMod val="75000"/>
                  </a:schemeClr>
                </a:solidFill>
              </a:rPr>
              <a:t>;; -&gt;&gt;HEADER&lt;&lt;- opcode: QUERY, status: NOERROR, </a:t>
            </a:r>
            <a:r>
              <a:rPr lang="en-US" sz="1200" b="1" dirty="0">
                <a:solidFill>
                  <a:srgbClr val="00B050"/>
                </a:solidFill>
              </a:rPr>
              <a:t>id: 7193</a:t>
            </a:r>
          </a:p>
          <a:p>
            <a:r>
              <a:rPr lang="en-US" sz="1200" dirty="0">
                <a:solidFill>
                  <a:schemeClr val="accent2">
                    <a:lumMod val="75000"/>
                  </a:schemeClr>
                </a:solidFill>
              </a:rPr>
              <a:t>;; flags: </a:t>
            </a:r>
            <a:r>
              <a:rPr lang="en-US" sz="1200" dirty="0" err="1">
                <a:solidFill>
                  <a:schemeClr val="accent2">
                    <a:lumMod val="75000"/>
                  </a:schemeClr>
                </a:solidFill>
              </a:rPr>
              <a:t>qr</a:t>
            </a:r>
            <a:r>
              <a:rPr lang="en-US" sz="1200" dirty="0">
                <a:solidFill>
                  <a:schemeClr val="accent2">
                    <a:lumMod val="75000"/>
                  </a:schemeClr>
                </a:solidFill>
              </a:rPr>
              <a:t>; </a:t>
            </a:r>
            <a:r>
              <a:rPr lang="en-US" sz="1200" b="1" dirty="0">
                <a:solidFill>
                  <a:srgbClr val="00B050"/>
                </a:solidFill>
              </a:rPr>
              <a:t>QUERY: 1</a:t>
            </a:r>
            <a:r>
              <a:rPr lang="en-US" sz="1200" dirty="0">
                <a:solidFill>
                  <a:schemeClr val="accent2">
                    <a:lumMod val="75000"/>
                  </a:schemeClr>
                </a:solidFill>
              </a:rPr>
              <a:t>, </a:t>
            </a:r>
            <a:r>
              <a:rPr lang="en-US" sz="1200" b="1" dirty="0">
                <a:solidFill>
                  <a:srgbClr val="00B050"/>
                </a:solidFill>
              </a:rPr>
              <a:t>ANSWER: 0, AUTHORITY: 13, ADDITIONAL: 27</a:t>
            </a:r>
          </a:p>
          <a:p>
            <a:endParaRPr lang="en-US" sz="1200" dirty="0">
              <a:solidFill>
                <a:schemeClr val="accent2">
                  <a:lumMod val="75000"/>
                </a:schemeClr>
              </a:solidFill>
            </a:endParaRPr>
          </a:p>
          <a:p>
            <a:r>
              <a:rPr lang="en-US" sz="1200" dirty="0">
                <a:solidFill>
                  <a:schemeClr val="accent2">
                    <a:lumMod val="75000"/>
                  </a:schemeClr>
                </a:solidFill>
              </a:rPr>
              <a:t>;; </a:t>
            </a:r>
            <a:r>
              <a:rPr lang="en-US" sz="1200" b="1" dirty="0">
                <a:solidFill>
                  <a:srgbClr val="FF0000"/>
                </a:solidFill>
              </a:rPr>
              <a:t>QUESTION SECTION</a:t>
            </a:r>
            <a:r>
              <a:rPr lang="en-US" sz="1200" dirty="0">
                <a:solidFill>
                  <a:srgbClr val="FF0000"/>
                </a:solidFill>
              </a:rPr>
              <a:t>:</a:t>
            </a:r>
          </a:p>
          <a:p>
            <a:r>
              <a:rPr lang="en-US" sz="1200" dirty="0">
                <a:solidFill>
                  <a:schemeClr val="accent2">
                    <a:lumMod val="75000"/>
                  </a:schemeClr>
                </a:solidFill>
              </a:rPr>
              <a:t>;www.msoe.edu.                  IN      A</a:t>
            </a:r>
          </a:p>
          <a:p>
            <a:endParaRPr lang="en-US" sz="1200" dirty="0">
              <a:solidFill>
                <a:schemeClr val="accent2">
                  <a:lumMod val="75000"/>
                </a:schemeClr>
              </a:solidFill>
            </a:endParaRPr>
          </a:p>
          <a:p>
            <a:r>
              <a:rPr lang="en-US" sz="1200" dirty="0">
                <a:solidFill>
                  <a:schemeClr val="accent2">
                    <a:lumMod val="75000"/>
                  </a:schemeClr>
                </a:solidFill>
              </a:rPr>
              <a:t>;; </a:t>
            </a:r>
            <a:r>
              <a:rPr lang="en-US" sz="1200" b="1" dirty="0">
                <a:solidFill>
                  <a:srgbClr val="00B050"/>
                </a:solidFill>
              </a:rPr>
              <a:t>AUTHORITY SECTION</a:t>
            </a:r>
            <a:r>
              <a:rPr lang="en-US" sz="1200" dirty="0">
                <a:solidFill>
                  <a:srgbClr val="00B050"/>
                </a:solidFill>
              </a:rPr>
              <a:t>:</a:t>
            </a:r>
          </a:p>
          <a:p>
            <a:r>
              <a:rPr lang="en-US" sz="1200" dirty="0" err="1">
                <a:solidFill>
                  <a:schemeClr val="accent2">
                    <a:lumMod val="75000"/>
                  </a:schemeClr>
                </a:solidFill>
              </a:rPr>
              <a:t>edu</a:t>
            </a:r>
            <a:r>
              <a:rPr lang="en-US" sz="1200" dirty="0">
                <a:solidFill>
                  <a:schemeClr val="accent2">
                    <a:lumMod val="75000"/>
                  </a:schemeClr>
                </a:solidFill>
              </a:rPr>
              <a:t>.                    172800  IN      NS      d.edu-servers.net.</a:t>
            </a:r>
          </a:p>
          <a:p>
            <a:r>
              <a:rPr lang="en-US" sz="1200" dirty="0" err="1">
                <a:solidFill>
                  <a:schemeClr val="accent2">
                    <a:lumMod val="75000"/>
                  </a:schemeClr>
                </a:solidFill>
              </a:rPr>
              <a:t>edu</a:t>
            </a:r>
            <a:r>
              <a:rPr lang="en-US" sz="1200" dirty="0">
                <a:solidFill>
                  <a:schemeClr val="accent2">
                    <a:lumMod val="75000"/>
                  </a:schemeClr>
                </a:solidFill>
              </a:rPr>
              <a:t>.                    172800  IN      NS      b.edu-servers.net.</a:t>
            </a:r>
          </a:p>
          <a:p>
            <a:r>
              <a:rPr lang="en-US" sz="1200" dirty="0" err="1">
                <a:solidFill>
                  <a:schemeClr val="accent2">
                    <a:lumMod val="75000"/>
                  </a:schemeClr>
                </a:solidFill>
              </a:rPr>
              <a:t>edu</a:t>
            </a:r>
            <a:r>
              <a:rPr lang="en-US" sz="1200" dirty="0">
                <a:solidFill>
                  <a:schemeClr val="accent2">
                    <a:lumMod val="75000"/>
                  </a:schemeClr>
                </a:solidFill>
              </a:rPr>
              <a:t>.                    172800  IN      NS      f.edu-servers.net.</a:t>
            </a:r>
          </a:p>
          <a:p>
            <a:r>
              <a:rPr lang="en-US" sz="1200" dirty="0">
                <a:solidFill>
                  <a:schemeClr val="accent2">
                    <a:lumMod val="75000"/>
                  </a:schemeClr>
                </a:solidFill>
              </a:rPr>
              <a:t>……</a:t>
            </a:r>
          </a:p>
          <a:p>
            <a:endParaRPr lang="en-US" sz="1200" dirty="0">
              <a:solidFill>
                <a:schemeClr val="accent2">
                  <a:lumMod val="75000"/>
                </a:schemeClr>
              </a:solidFill>
            </a:endParaRPr>
          </a:p>
          <a:p>
            <a:r>
              <a:rPr lang="en-US" sz="1200" dirty="0">
                <a:solidFill>
                  <a:schemeClr val="accent2">
                    <a:lumMod val="75000"/>
                  </a:schemeClr>
                </a:solidFill>
              </a:rPr>
              <a:t>;; </a:t>
            </a:r>
            <a:r>
              <a:rPr lang="en-US" sz="1200" b="1" dirty="0">
                <a:solidFill>
                  <a:srgbClr val="00B050"/>
                </a:solidFill>
              </a:rPr>
              <a:t>ADDITIONAL SECTION</a:t>
            </a:r>
            <a:r>
              <a:rPr lang="en-US" sz="1200" dirty="0">
                <a:solidFill>
                  <a:srgbClr val="00B050"/>
                </a:solidFill>
              </a:rPr>
              <a:t>:</a:t>
            </a:r>
          </a:p>
          <a:p>
            <a:r>
              <a:rPr lang="en-US" sz="1200" dirty="0">
                <a:solidFill>
                  <a:schemeClr val="accent2">
                    <a:lumMod val="75000"/>
                  </a:schemeClr>
                </a:solidFill>
              </a:rPr>
              <a:t>d.edu-servers.net.      172800  IN      A       192.31.80.30</a:t>
            </a:r>
          </a:p>
          <a:p>
            <a:r>
              <a:rPr lang="en-US" sz="1200" dirty="0">
                <a:solidFill>
                  <a:schemeClr val="accent2">
                    <a:lumMod val="75000"/>
                  </a:schemeClr>
                </a:solidFill>
              </a:rPr>
              <a:t>d.edu-servers.net.      172800  IN      AAAA    2001:500:856e::30</a:t>
            </a:r>
          </a:p>
          <a:p>
            <a:r>
              <a:rPr lang="en-US" sz="1200" dirty="0">
                <a:solidFill>
                  <a:schemeClr val="accent2">
                    <a:lumMod val="75000"/>
                  </a:schemeClr>
                </a:solidFill>
              </a:rPr>
              <a:t>b.edu-servers.net.      172800  IN      A       192.33.14.30</a:t>
            </a:r>
          </a:p>
          <a:p>
            <a:r>
              <a:rPr lang="en-US" sz="1200" dirty="0">
                <a:solidFill>
                  <a:schemeClr val="accent2">
                    <a:lumMod val="75000"/>
                  </a:schemeClr>
                </a:solidFill>
              </a:rPr>
              <a:t>……</a:t>
            </a:r>
          </a:p>
          <a:p>
            <a:endParaRPr lang="en-US" sz="1200" dirty="0">
              <a:solidFill>
                <a:schemeClr val="accent2">
                  <a:lumMod val="75000"/>
                </a:schemeClr>
              </a:solidFill>
            </a:endParaRPr>
          </a:p>
          <a:p>
            <a:r>
              <a:rPr lang="en-US" sz="1200" dirty="0">
                <a:solidFill>
                  <a:schemeClr val="accent2">
                    <a:lumMod val="75000"/>
                  </a:schemeClr>
                </a:solidFill>
              </a:rPr>
              <a:t>;; Query time: 20 msec</a:t>
            </a:r>
          </a:p>
          <a:p>
            <a:r>
              <a:rPr lang="en-US" sz="1200" dirty="0">
                <a:solidFill>
                  <a:schemeClr val="accent2">
                    <a:lumMod val="75000"/>
                  </a:schemeClr>
                </a:solidFill>
              </a:rPr>
              <a:t>;; SERVER: 198.41.0.4#53(198.41.0.4)</a:t>
            </a:r>
          </a:p>
          <a:p>
            <a:r>
              <a:rPr lang="en-US" sz="1200" dirty="0">
                <a:solidFill>
                  <a:schemeClr val="accent2">
                    <a:lumMod val="75000"/>
                  </a:schemeClr>
                </a:solidFill>
              </a:rPr>
              <a:t>;; WHEN: Mon Sep 16 16:44:43 Central Daylight Time 2024</a:t>
            </a:r>
          </a:p>
          <a:p>
            <a:r>
              <a:rPr lang="en-US" sz="1200" dirty="0">
                <a:solidFill>
                  <a:schemeClr val="accent2">
                    <a:lumMod val="75000"/>
                  </a:schemeClr>
                </a:solidFill>
              </a:rPr>
              <a:t>;; MSG SIZE  </a:t>
            </a:r>
            <a:r>
              <a:rPr lang="en-US" sz="1200" dirty="0" err="1">
                <a:solidFill>
                  <a:schemeClr val="accent2">
                    <a:lumMod val="75000"/>
                  </a:schemeClr>
                </a:solidFill>
              </a:rPr>
              <a:t>rcvd</a:t>
            </a:r>
            <a:r>
              <a:rPr lang="en-US" sz="1200" dirty="0">
                <a:solidFill>
                  <a:schemeClr val="accent2">
                    <a:lumMod val="75000"/>
                  </a:schemeClr>
                </a:solidFill>
              </a:rPr>
              <a:t>: 836</a:t>
            </a:r>
          </a:p>
        </p:txBody>
      </p:sp>
    </p:spTree>
    <p:extLst>
      <p:ext uri="{BB962C8B-B14F-4D97-AF65-F5344CB8AC3E}">
        <p14:creationId xmlns:p14="http://schemas.microsoft.com/office/powerpoint/2010/main" val="1129064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C9A6680-5220-C94B-B54B-8246CBDC5236}"/>
              </a:ext>
            </a:extLst>
          </p:cNvPr>
          <p:cNvGrpSpPr/>
          <p:nvPr/>
        </p:nvGrpSpPr>
        <p:grpSpPr>
          <a:xfrm>
            <a:off x="6272212" y="1937767"/>
            <a:ext cx="3671888" cy="4505323"/>
            <a:chOff x="6272212" y="1937767"/>
            <a:chExt cx="3671888" cy="4505323"/>
          </a:xfrm>
        </p:grpSpPr>
        <p:sp>
          <p:nvSpPr>
            <p:cNvPr id="20" name="Rectangle 12">
              <a:extLst>
                <a:ext uri="{FF2B5EF4-FFF2-40B4-BE49-F238E27FC236}">
                  <a16:creationId xmlns:a16="http://schemas.microsoft.com/office/drawing/2014/main" id="{99BE727C-D65D-1B40-96AC-483DEC4F567E}"/>
                </a:ext>
              </a:extLst>
            </p:cNvPr>
            <p:cNvSpPr>
              <a:spLocks noChangeArrowheads="1"/>
            </p:cNvSpPr>
            <p:nvPr/>
          </p:nvSpPr>
          <p:spPr bwMode="auto">
            <a:xfrm>
              <a:off x="6297612" y="2339402"/>
              <a:ext cx="3614738" cy="4103688"/>
            </a:xfrm>
            <a:prstGeom prst="rect">
              <a:avLst/>
            </a:prstGeom>
            <a:solidFill>
              <a:schemeClr val="bg1"/>
            </a:solidFill>
            <a:ln w="19050">
              <a:solidFill>
                <a:schemeClr val="tx1"/>
              </a:solidFill>
              <a:miter lim="800000"/>
              <a:headEnd/>
              <a:tailEnd/>
            </a:ln>
            <a:effectLst>
              <a:outerShdw blurRad="50800" dist="38100" dir="18900000" sx="101000" sy="101000" algn="bl" rotWithShape="0">
                <a:srgbClr val="0000A3">
                  <a:alpha val="40000"/>
                </a:srgb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Line 13">
              <a:extLst>
                <a:ext uri="{FF2B5EF4-FFF2-40B4-BE49-F238E27FC236}">
                  <a16:creationId xmlns:a16="http://schemas.microsoft.com/office/drawing/2014/main" id="{D3137C12-F806-3641-A910-12D839D30810}"/>
                </a:ext>
              </a:extLst>
            </p:cNvPr>
            <p:cNvSpPr>
              <a:spLocks noChangeShapeType="1"/>
            </p:cNvSpPr>
            <p:nvPr/>
          </p:nvSpPr>
          <p:spPr bwMode="auto">
            <a:xfrm>
              <a:off x="6286500" y="5766814"/>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Line 14">
              <a:extLst>
                <a:ext uri="{FF2B5EF4-FFF2-40B4-BE49-F238E27FC236}">
                  <a16:creationId xmlns:a16="http://schemas.microsoft.com/office/drawing/2014/main" id="{EDBF86F0-1464-CB44-8885-0806AB78A64D}"/>
                </a:ext>
              </a:extLst>
            </p:cNvPr>
            <p:cNvSpPr>
              <a:spLocks noChangeShapeType="1"/>
            </p:cNvSpPr>
            <p:nvPr/>
          </p:nvSpPr>
          <p:spPr bwMode="auto">
            <a:xfrm>
              <a:off x="6297612" y="5081014"/>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Line 15">
              <a:extLst>
                <a:ext uri="{FF2B5EF4-FFF2-40B4-BE49-F238E27FC236}">
                  <a16:creationId xmlns:a16="http://schemas.microsoft.com/office/drawing/2014/main" id="{B63A2FA5-43E4-954D-9AB5-1D874BF6FD87}"/>
                </a:ext>
              </a:extLst>
            </p:cNvPr>
            <p:cNvSpPr>
              <a:spLocks noChangeShapeType="1"/>
            </p:cNvSpPr>
            <p:nvPr/>
          </p:nvSpPr>
          <p:spPr bwMode="auto">
            <a:xfrm>
              <a:off x="6286500" y="4395214"/>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Line 16">
              <a:extLst>
                <a:ext uri="{FF2B5EF4-FFF2-40B4-BE49-F238E27FC236}">
                  <a16:creationId xmlns:a16="http://schemas.microsoft.com/office/drawing/2014/main" id="{AAF4D57F-AE3F-9647-BE59-19E830D1D27D}"/>
                </a:ext>
              </a:extLst>
            </p:cNvPr>
            <p:cNvSpPr>
              <a:spLocks noChangeShapeType="1"/>
            </p:cNvSpPr>
            <p:nvPr/>
          </p:nvSpPr>
          <p:spPr bwMode="auto">
            <a:xfrm>
              <a:off x="6286500" y="3720527"/>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Line 17">
              <a:extLst>
                <a:ext uri="{FF2B5EF4-FFF2-40B4-BE49-F238E27FC236}">
                  <a16:creationId xmlns:a16="http://schemas.microsoft.com/office/drawing/2014/main" id="{679A37C6-A060-1A4E-9044-88577B96F0A5}"/>
                </a:ext>
              </a:extLst>
            </p:cNvPr>
            <p:cNvSpPr>
              <a:spLocks noChangeShapeType="1"/>
            </p:cNvSpPr>
            <p:nvPr/>
          </p:nvSpPr>
          <p:spPr bwMode="auto">
            <a:xfrm>
              <a:off x="6284912" y="3263327"/>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Line 18">
              <a:extLst>
                <a:ext uri="{FF2B5EF4-FFF2-40B4-BE49-F238E27FC236}">
                  <a16:creationId xmlns:a16="http://schemas.microsoft.com/office/drawing/2014/main" id="{673541D1-57E3-2945-9429-F011927643EA}"/>
                </a:ext>
              </a:extLst>
            </p:cNvPr>
            <p:cNvSpPr>
              <a:spLocks noChangeShapeType="1"/>
            </p:cNvSpPr>
            <p:nvPr/>
          </p:nvSpPr>
          <p:spPr bwMode="auto">
            <a:xfrm>
              <a:off x="6272212" y="2812477"/>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Line 19">
              <a:extLst>
                <a:ext uri="{FF2B5EF4-FFF2-40B4-BE49-F238E27FC236}">
                  <a16:creationId xmlns:a16="http://schemas.microsoft.com/office/drawing/2014/main" id="{54CFADCD-AE37-1644-BF88-67FE47DB3E96}"/>
                </a:ext>
              </a:extLst>
            </p:cNvPr>
            <p:cNvSpPr>
              <a:spLocks noChangeShapeType="1"/>
            </p:cNvSpPr>
            <p:nvPr/>
          </p:nvSpPr>
          <p:spPr bwMode="auto">
            <a:xfrm>
              <a:off x="8104187" y="2350514"/>
              <a:ext cx="3175" cy="13604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Box 20">
              <a:extLst>
                <a:ext uri="{FF2B5EF4-FFF2-40B4-BE49-F238E27FC236}">
                  <a16:creationId xmlns:a16="http://schemas.microsoft.com/office/drawing/2014/main" id="{3D1A7AB7-6B0B-CF47-A475-00A1549B5634}"/>
                </a:ext>
              </a:extLst>
            </p:cNvPr>
            <p:cNvSpPr txBox="1">
              <a:spLocks noChangeArrowheads="1"/>
            </p:cNvSpPr>
            <p:nvPr/>
          </p:nvSpPr>
          <p:spPr bwMode="auto">
            <a:xfrm>
              <a:off x="6542087" y="2410839"/>
              <a:ext cx="13356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Identification</a:t>
              </a:r>
            </a:p>
          </p:txBody>
        </p:sp>
        <p:sp>
          <p:nvSpPr>
            <p:cNvPr id="29" name="Text Box 21">
              <a:extLst>
                <a:ext uri="{FF2B5EF4-FFF2-40B4-BE49-F238E27FC236}">
                  <a16:creationId xmlns:a16="http://schemas.microsoft.com/office/drawing/2014/main" id="{F6CD8852-97C9-AA40-BE0D-939C3F2037C6}"/>
                </a:ext>
              </a:extLst>
            </p:cNvPr>
            <p:cNvSpPr txBox="1">
              <a:spLocks noChangeArrowheads="1"/>
            </p:cNvSpPr>
            <p:nvPr/>
          </p:nvSpPr>
          <p:spPr bwMode="auto">
            <a:xfrm>
              <a:off x="8666162" y="2410839"/>
              <a:ext cx="6848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Flags</a:t>
              </a:r>
            </a:p>
          </p:txBody>
        </p:sp>
        <p:sp>
          <p:nvSpPr>
            <p:cNvPr id="30" name="Text Box 22">
              <a:extLst>
                <a:ext uri="{FF2B5EF4-FFF2-40B4-BE49-F238E27FC236}">
                  <a16:creationId xmlns:a16="http://schemas.microsoft.com/office/drawing/2014/main" id="{8E843694-5A82-3146-BF88-2166E2F008E6}"/>
                </a:ext>
              </a:extLst>
            </p:cNvPr>
            <p:cNvSpPr txBox="1">
              <a:spLocks noChangeArrowheads="1"/>
            </p:cNvSpPr>
            <p:nvPr/>
          </p:nvSpPr>
          <p:spPr bwMode="auto">
            <a:xfrm>
              <a:off x="6398591" y="2868039"/>
              <a:ext cx="15728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lvl="0" indent="0" algn="ctr"/>
              <a:r>
                <a:rPr lang="en-US" sz="1600" dirty="0">
                  <a:solidFill>
                    <a:schemeClr val="dk1"/>
                  </a:solidFill>
                  <a:latin typeface="Roboto"/>
                  <a:ea typeface="Roboto"/>
                  <a:cs typeface="Roboto"/>
                  <a:sym typeface="Roboto"/>
                </a:rPr>
                <a:t>Question count</a:t>
              </a:r>
            </a:p>
          </p:txBody>
        </p:sp>
        <p:sp>
          <p:nvSpPr>
            <p:cNvPr id="31" name="Text Box 23">
              <a:extLst>
                <a:ext uri="{FF2B5EF4-FFF2-40B4-BE49-F238E27FC236}">
                  <a16:creationId xmlns:a16="http://schemas.microsoft.com/office/drawing/2014/main" id="{647BB3F6-ABB6-7745-BEE2-09BC405C08B2}"/>
                </a:ext>
              </a:extLst>
            </p:cNvPr>
            <p:cNvSpPr txBox="1">
              <a:spLocks noChangeArrowheads="1"/>
            </p:cNvSpPr>
            <p:nvPr/>
          </p:nvSpPr>
          <p:spPr bwMode="auto">
            <a:xfrm>
              <a:off x="6937361" y="3778849"/>
              <a:ext cx="243207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Question Records</a:t>
              </a:r>
            </a:p>
            <a:p>
              <a:pPr marL="342900" marR="0" lvl="0" indent="-34290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(variable # of questions)</a:t>
              </a:r>
            </a:p>
          </p:txBody>
        </p:sp>
        <p:sp>
          <p:nvSpPr>
            <p:cNvPr id="32" name="Text Box 26">
              <a:extLst>
                <a:ext uri="{FF2B5EF4-FFF2-40B4-BE49-F238E27FC236}">
                  <a16:creationId xmlns:a16="http://schemas.microsoft.com/office/drawing/2014/main" id="{43C35098-F1D5-F844-AD59-9E1AB2E6B0E1}"/>
                </a:ext>
              </a:extLst>
            </p:cNvPr>
            <p:cNvSpPr txBox="1">
              <a:spLocks noChangeArrowheads="1"/>
            </p:cNvSpPr>
            <p:nvPr/>
          </p:nvSpPr>
          <p:spPr bwMode="auto">
            <a:xfrm>
              <a:off x="8163372" y="3323652"/>
              <a:ext cx="168026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lvl="0" indent="0" algn="ctr"/>
              <a:r>
                <a:rPr lang="en-US" sz="1600" dirty="0">
                  <a:solidFill>
                    <a:schemeClr val="dk1"/>
                  </a:solidFill>
                  <a:latin typeface="Roboto"/>
                  <a:ea typeface="Roboto"/>
                  <a:cs typeface="Roboto"/>
                  <a:sym typeface="Roboto"/>
                </a:rPr>
                <a:t>Additional count</a:t>
              </a:r>
            </a:p>
          </p:txBody>
        </p:sp>
        <p:sp>
          <p:nvSpPr>
            <p:cNvPr id="33" name="Text Box 27">
              <a:extLst>
                <a:ext uri="{FF2B5EF4-FFF2-40B4-BE49-F238E27FC236}">
                  <a16:creationId xmlns:a16="http://schemas.microsoft.com/office/drawing/2014/main" id="{C77DED5D-F85E-BD49-A1EA-E279AC50D936}"/>
                </a:ext>
              </a:extLst>
            </p:cNvPr>
            <p:cNvSpPr txBox="1">
              <a:spLocks noChangeArrowheads="1"/>
            </p:cNvSpPr>
            <p:nvPr/>
          </p:nvSpPr>
          <p:spPr bwMode="auto">
            <a:xfrm>
              <a:off x="6414404" y="3325239"/>
              <a:ext cx="158569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lvl="0" indent="0" algn="ctr"/>
              <a:r>
                <a:rPr lang="en-US" sz="1600" dirty="0">
                  <a:solidFill>
                    <a:schemeClr val="dk1"/>
                  </a:solidFill>
                  <a:latin typeface="Roboto"/>
                  <a:ea typeface="Roboto"/>
                  <a:cs typeface="Roboto"/>
                  <a:sym typeface="Roboto"/>
                </a:rPr>
                <a:t>Authority count</a:t>
              </a:r>
            </a:p>
          </p:txBody>
        </p:sp>
        <p:sp>
          <p:nvSpPr>
            <p:cNvPr id="34" name="Text Box 28">
              <a:extLst>
                <a:ext uri="{FF2B5EF4-FFF2-40B4-BE49-F238E27FC236}">
                  <a16:creationId xmlns:a16="http://schemas.microsoft.com/office/drawing/2014/main" id="{570DB478-D786-3F43-96D9-4A3EFE52D168}"/>
                </a:ext>
              </a:extLst>
            </p:cNvPr>
            <p:cNvSpPr txBox="1">
              <a:spLocks noChangeArrowheads="1"/>
            </p:cNvSpPr>
            <p:nvPr/>
          </p:nvSpPr>
          <p:spPr bwMode="auto">
            <a:xfrm>
              <a:off x="8274859" y="2877564"/>
              <a:ext cx="14414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lvl="0" indent="0" algn="ctr"/>
              <a:r>
                <a:rPr lang="en-US" sz="1600" dirty="0">
                  <a:solidFill>
                    <a:schemeClr val="dk1"/>
                  </a:solidFill>
                  <a:latin typeface="Roboto"/>
                  <a:ea typeface="Roboto"/>
                  <a:cs typeface="Roboto"/>
                  <a:sym typeface="Roboto"/>
                </a:rPr>
                <a:t>Answer count</a:t>
              </a:r>
            </a:p>
          </p:txBody>
        </p:sp>
        <p:sp>
          <p:nvSpPr>
            <p:cNvPr id="35" name="Text Box 30">
              <a:extLst>
                <a:ext uri="{FF2B5EF4-FFF2-40B4-BE49-F238E27FC236}">
                  <a16:creationId xmlns:a16="http://schemas.microsoft.com/office/drawing/2014/main" id="{EC9CAD9A-2ACC-E841-964A-C51614A31DF5}"/>
                </a:ext>
              </a:extLst>
            </p:cNvPr>
            <p:cNvSpPr txBox="1">
              <a:spLocks noChangeArrowheads="1"/>
            </p:cNvSpPr>
            <p:nvPr/>
          </p:nvSpPr>
          <p:spPr bwMode="auto">
            <a:xfrm>
              <a:off x="7177009" y="4447766"/>
              <a:ext cx="195277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ctr" defTabSz="914400" rtl="0" eaLnBrk="1" fontAlgn="auto" latinLnBrk="0" hangingPunct="1">
                <a:lnSpc>
                  <a:spcPct val="100000"/>
                </a:lnSpc>
                <a:spcBef>
                  <a:spcPts val="0"/>
                </a:spcBef>
                <a:spcAft>
                  <a:spcPts val="0"/>
                </a:spcAft>
                <a:buClrTx/>
                <a:buSzTx/>
                <a:buFontTx/>
                <a:buNone/>
                <a:tabLst/>
                <a:defRPr/>
              </a:pPr>
              <a:r>
                <a:rPr lang="en-US" altLang="zh-CN" sz="1600" dirty="0">
                  <a:solidFill>
                    <a:prstClr val="black"/>
                  </a:solidFill>
                </a:rPr>
                <a:t>Answer</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Records</a:t>
              </a:r>
            </a:p>
            <a:p>
              <a:pPr marL="342900" marR="0" lvl="0" indent="-34290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(variable # of RRs)</a:t>
              </a:r>
            </a:p>
          </p:txBody>
        </p:sp>
        <p:sp>
          <p:nvSpPr>
            <p:cNvPr id="36" name="Text Box 31">
              <a:extLst>
                <a:ext uri="{FF2B5EF4-FFF2-40B4-BE49-F238E27FC236}">
                  <a16:creationId xmlns:a16="http://schemas.microsoft.com/office/drawing/2014/main" id="{C50AEEC2-E934-374F-AD10-414E9A36FC33}"/>
                </a:ext>
              </a:extLst>
            </p:cNvPr>
            <p:cNvSpPr txBox="1">
              <a:spLocks noChangeArrowheads="1"/>
            </p:cNvSpPr>
            <p:nvPr/>
          </p:nvSpPr>
          <p:spPr bwMode="auto">
            <a:xfrm>
              <a:off x="7185024" y="5133565"/>
              <a:ext cx="18950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Authority Records</a:t>
              </a:r>
            </a:p>
            <a:p>
              <a:pPr marL="342900" marR="0" lvl="0" indent="-34290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(variable # of RRs)</a:t>
              </a:r>
            </a:p>
          </p:txBody>
        </p:sp>
        <p:sp>
          <p:nvSpPr>
            <p:cNvPr id="37" name="Text Box 32">
              <a:extLst>
                <a:ext uri="{FF2B5EF4-FFF2-40B4-BE49-F238E27FC236}">
                  <a16:creationId xmlns:a16="http://schemas.microsoft.com/office/drawing/2014/main" id="{0F454706-890A-194D-A8B9-1F027F5A53E2}"/>
                </a:ext>
              </a:extLst>
            </p:cNvPr>
            <p:cNvSpPr txBox="1">
              <a:spLocks noChangeArrowheads="1"/>
            </p:cNvSpPr>
            <p:nvPr/>
          </p:nvSpPr>
          <p:spPr bwMode="auto">
            <a:xfrm>
              <a:off x="7156169" y="5817777"/>
              <a:ext cx="195277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ctr" defTabSz="914400" rtl="0" eaLnBrk="1" fontAlgn="auto" latinLnBrk="0" hangingPunct="1">
                <a:lnSpc>
                  <a:spcPct val="100000"/>
                </a:lnSpc>
                <a:spcBef>
                  <a:spcPts val="0"/>
                </a:spcBef>
                <a:spcAft>
                  <a:spcPts val="0"/>
                </a:spcAft>
                <a:buClrTx/>
                <a:buSzTx/>
                <a:buFontTx/>
                <a:buNone/>
                <a:tabLst/>
                <a:defRPr/>
              </a:pPr>
              <a:r>
                <a:rPr lang="en-US" altLang="en-US" sz="1600" dirty="0">
                  <a:solidFill>
                    <a:prstClr val="black"/>
                  </a:solidFill>
                </a:rPr>
                <a:t>Additional</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Records</a:t>
              </a:r>
            </a:p>
            <a:p>
              <a:pPr marL="342900" marR="0" lvl="0" indent="-34290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(variable # of RRs)</a:t>
              </a:r>
            </a:p>
          </p:txBody>
        </p:sp>
        <p:grpSp>
          <p:nvGrpSpPr>
            <p:cNvPr id="40" name="Group 60">
              <a:extLst>
                <a:ext uri="{FF2B5EF4-FFF2-40B4-BE49-F238E27FC236}">
                  <a16:creationId xmlns:a16="http://schemas.microsoft.com/office/drawing/2014/main" id="{B20DF2CE-5427-7642-BC04-9D36B08A468C}"/>
                </a:ext>
              </a:extLst>
            </p:cNvPr>
            <p:cNvGrpSpPr>
              <a:grpSpLocks/>
            </p:cNvGrpSpPr>
            <p:nvPr/>
          </p:nvGrpSpPr>
          <p:grpSpPr bwMode="auto">
            <a:xfrm>
              <a:off x="6302375" y="1937767"/>
              <a:ext cx="1747837" cy="276226"/>
              <a:chOff x="2691" y="1194"/>
              <a:chExt cx="1101" cy="174"/>
            </a:xfrm>
          </p:grpSpPr>
          <p:sp>
            <p:nvSpPr>
              <p:cNvPr id="41" name="Text Box 57">
                <a:extLst>
                  <a:ext uri="{FF2B5EF4-FFF2-40B4-BE49-F238E27FC236}">
                    <a16:creationId xmlns:a16="http://schemas.microsoft.com/office/drawing/2014/main" id="{4CC1EC8B-ED8A-534D-B8AB-0E3E39481892}"/>
                  </a:ext>
                </a:extLst>
              </p:cNvPr>
              <p:cNvSpPr txBox="1">
                <a:spLocks noChangeArrowheads="1"/>
              </p:cNvSpPr>
              <p:nvPr/>
            </p:nvSpPr>
            <p:spPr bwMode="auto">
              <a:xfrm>
                <a:off x="3032" y="1194"/>
                <a:ext cx="45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2 bytes</a:t>
                </a:r>
              </a:p>
            </p:txBody>
          </p:sp>
          <p:sp>
            <p:nvSpPr>
              <p:cNvPr id="42" name="Line 58">
                <a:extLst>
                  <a:ext uri="{FF2B5EF4-FFF2-40B4-BE49-F238E27FC236}">
                    <a16:creationId xmlns:a16="http://schemas.microsoft.com/office/drawing/2014/main" id="{FD720698-F5B3-5C47-A102-5E4786459A22}"/>
                  </a:ext>
                </a:extLst>
              </p:cNvPr>
              <p:cNvSpPr>
                <a:spLocks noChangeShapeType="1"/>
              </p:cNvSpPr>
              <p:nvPr/>
            </p:nvSpPr>
            <p:spPr bwMode="auto">
              <a:xfrm>
                <a:off x="3465" y="1284"/>
                <a:ext cx="3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Line 59">
                <a:extLst>
                  <a:ext uri="{FF2B5EF4-FFF2-40B4-BE49-F238E27FC236}">
                    <a16:creationId xmlns:a16="http://schemas.microsoft.com/office/drawing/2014/main" id="{5FE43354-E99E-6549-837E-529B4A967BBD}"/>
                  </a:ext>
                </a:extLst>
              </p:cNvPr>
              <p:cNvSpPr>
                <a:spLocks noChangeShapeType="1"/>
              </p:cNvSpPr>
              <p:nvPr/>
            </p:nvSpPr>
            <p:spPr bwMode="auto">
              <a:xfrm flipH="1" flipV="1">
                <a:off x="2691" y="1284"/>
                <a:ext cx="3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4" name="Group 61">
              <a:extLst>
                <a:ext uri="{FF2B5EF4-FFF2-40B4-BE49-F238E27FC236}">
                  <a16:creationId xmlns:a16="http://schemas.microsoft.com/office/drawing/2014/main" id="{7B6CBFB9-B999-324E-91C4-CB7BCE5D8665}"/>
                </a:ext>
              </a:extLst>
            </p:cNvPr>
            <p:cNvGrpSpPr>
              <a:grpSpLocks/>
            </p:cNvGrpSpPr>
            <p:nvPr/>
          </p:nvGrpSpPr>
          <p:grpSpPr bwMode="auto">
            <a:xfrm>
              <a:off x="8077200" y="1937767"/>
              <a:ext cx="1747837" cy="276226"/>
              <a:chOff x="2691" y="1194"/>
              <a:chExt cx="1101" cy="174"/>
            </a:xfrm>
          </p:grpSpPr>
          <p:sp>
            <p:nvSpPr>
              <p:cNvPr id="45" name="Text Box 62">
                <a:extLst>
                  <a:ext uri="{FF2B5EF4-FFF2-40B4-BE49-F238E27FC236}">
                    <a16:creationId xmlns:a16="http://schemas.microsoft.com/office/drawing/2014/main" id="{E2F0F997-6116-0C45-BA9F-CBA730A15961}"/>
                  </a:ext>
                </a:extLst>
              </p:cNvPr>
              <p:cNvSpPr txBox="1">
                <a:spLocks noChangeArrowheads="1"/>
              </p:cNvSpPr>
              <p:nvPr/>
            </p:nvSpPr>
            <p:spPr bwMode="auto">
              <a:xfrm>
                <a:off x="3032" y="1194"/>
                <a:ext cx="45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2 bytes</a:t>
                </a:r>
              </a:p>
            </p:txBody>
          </p:sp>
          <p:sp>
            <p:nvSpPr>
              <p:cNvPr id="46" name="Line 63">
                <a:extLst>
                  <a:ext uri="{FF2B5EF4-FFF2-40B4-BE49-F238E27FC236}">
                    <a16:creationId xmlns:a16="http://schemas.microsoft.com/office/drawing/2014/main" id="{17A912FD-E8A8-8442-8F53-5994F27165BE}"/>
                  </a:ext>
                </a:extLst>
              </p:cNvPr>
              <p:cNvSpPr>
                <a:spLocks noChangeShapeType="1"/>
              </p:cNvSpPr>
              <p:nvPr/>
            </p:nvSpPr>
            <p:spPr bwMode="auto">
              <a:xfrm>
                <a:off x="3465" y="1284"/>
                <a:ext cx="3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Line 64">
                <a:extLst>
                  <a:ext uri="{FF2B5EF4-FFF2-40B4-BE49-F238E27FC236}">
                    <a16:creationId xmlns:a16="http://schemas.microsoft.com/office/drawing/2014/main" id="{07B7A39C-E852-2B4C-941E-0B488FF8CD3B}"/>
                  </a:ext>
                </a:extLst>
              </p:cNvPr>
              <p:cNvSpPr>
                <a:spLocks noChangeShapeType="1"/>
              </p:cNvSpPr>
              <p:nvPr/>
            </p:nvSpPr>
            <p:spPr bwMode="auto">
              <a:xfrm flipH="1" flipV="1">
                <a:off x="2691" y="1284"/>
                <a:ext cx="3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838200" y="362678"/>
            <a:ext cx="10515600" cy="894622"/>
          </a:xfrm>
        </p:spPr>
        <p:txBody>
          <a:bodyPr>
            <a:normAutofit/>
          </a:bodyPr>
          <a:lstStyle/>
          <a:p>
            <a:r>
              <a:rPr lang="en-US" altLang="en-US" sz="4400" dirty="0">
                <a:ea typeface="ＭＳ Ｐゴシック" panose="020B0600070205080204" pitchFamily="34" charset="-128"/>
              </a:rPr>
              <a:t>DNS Protocol Messages</a:t>
            </a:r>
            <a:endParaRPr lang="en-US" sz="4400" dirty="0">
              <a:cs typeface="Calibri" panose="020F0502020204030204" pitchFamily="34" charset="0"/>
            </a:endParaRPr>
          </a:p>
        </p:txBody>
      </p:sp>
      <p:sp>
        <p:nvSpPr>
          <p:cNvPr id="10" name="Rectangle 3">
            <a:extLst>
              <a:ext uri="{FF2B5EF4-FFF2-40B4-BE49-F238E27FC236}">
                <a16:creationId xmlns:a16="http://schemas.microsoft.com/office/drawing/2014/main" id="{CD167590-D12C-F842-94F3-26CF0F3023F4}"/>
              </a:ext>
            </a:extLst>
          </p:cNvPr>
          <p:cNvSpPr txBox="1">
            <a:spLocks noChangeArrowheads="1"/>
          </p:cNvSpPr>
          <p:nvPr/>
        </p:nvSpPr>
        <p:spPr>
          <a:xfrm>
            <a:off x="693057" y="1391557"/>
            <a:ext cx="10393362" cy="51435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DNS</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query</a:t>
            </a:r>
            <a:r>
              <a:rPr kumimoji="0" lang="en-US" altLang="en-US" sz="32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mn-cs"/>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and </a:t>
            </a: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reply</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messages, both have same  </a:t>
            </a: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format:</a:t>
            </a:r>
            <a:endPar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p:txBody>
      </p:sp>
      <p:sp>
        <p:nvSpPr>
          <p:cNvPr id="11" name="Rectangle 4">
            <a:extLst>
              <a:ext uri="{FF2B5EF4-FFF2-40B4-BE49-F238E27FC236}">
                <a16:creationId xmlns:a16="http://schemas.microsoft.com/office/drawing/2014/main" id="{F978C79B-5602-8E43-829C-44002A5A2D5E}"/>
              </a:ext>
            </a:extLst>
          </p:cNvPr>
          <p:cNvSpPr>
            <a:spLocks noChangeArrowheads="1"/>
          </p:cNvSpPr>
          <p:nvPr/>
        </p:nvSpPr>
        <p:spPr bwMode="auto">
          <a:xfrm>
            <a:off x="676560" y="2495675"/>
            <a:ext cx="5266419" cy="36702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lvl="0">
              <a:buSzPct val="100000"/>
              <a:defRPr/>
            </a:pPr>
            <a:r>
              <a:rPr kumimoji="0" lang="en-US" sz="2000" b="1" i="0" u="none" strike="noStrike" kern="1200" cap="none" spc="0" normalizeH="0" baseline="0" noProof="0" dirty="0">
                <a:ln>
                  <a:noFill/>
                </a:ln>
                <a:effectLst/>
                <a:uLnTx/>
                <a:uFillTx/>
                <a:ea typeface="ＭＳ Ｐゴシック" charset="0"/>
                <a:cs typeface="ＭＳ Ｐゴシック" charset="0"/>
              </a:rPr>
              <a:t>Identification</a:t>
            </a:r>
            <a:r>
              <a:rPr kumimoji="0" lang="en-US" sz="2000" b="0" i="0" u="none" strike="noStrike" kern="1200" cap="none" spc="0" normalizeH="0" baseline="0" noProof="0" dirty="0">
                <a:ln>
                  <a:noFill/>
                </a:ln>
                <a:effectLst/>
                <a:uLnTx/>
                <a:uFillTx/>
                <a:ea typeface="ＭＳ Ｐゴシック" charset="0"/>
                <a:cs typeface="ＭＳ Ｐゴシック" charset="0"/>
              </a:rPr>
              <a:t> (ID number): </a:t>
            </a:r>
          </a:p>
          <a:p>
            <a:pPr marL="800100" lvl="1" indent="-342900">
              <a:buSzPct val="100000"/>
              <a:buFont typeface="Arial" panose="020B0604020202020204" pitchFamily="34" charset="0"/>
              <a:buChar char="•"/>
              <a:defRPr/>
            </a:pPr>
            <a:r>
              <a:rPr kumimoji="0" lang="en-US" sz="2000" b="0" i="0" u="none" strike="noStrike" kern="1200" cap="none" spc="0" normalizeH="0" baseline="0" noProof="0" dirty="0">
                <a:ln>
                  <a:noFill/>
                </a:ln>
                <a:effectLst/>
                <a:uLnTx/>
                <a:uFillTx/>
                <a:ea typeface="ＭＳ Ｐゴシック" charset="0"/>
                <a:cs typeface="ＭＳ Ｐゴシック" charset="0"/>
              </a:rPr>
              <a:t>16-bit </a:t>
            </a:r>
            <a:r>
              <a:rPr kumimoji="0" lang="en-US" altLang="zh-CN" sz="2000" b="0" i="0" u="none" strike="noStrike" kern="1200" cap="none" spc="0" normalizeH="0" baseline="0" noProof="0" dirty="0">
                <a:ln>
                  <a:noFill/>
                </a:ln>
                <a:effectLst/>
                <a:uLnTx/>
                <a:uFillTx/>
                <a:ea typeface="ＭＳ Ｐゴシック" charset="0"/>
                <a:cs typeface="ＭＳ Ｐゴシック" charset="0"/>
              </a:rPr>
              <a:t>number</a:t>
            </a:r>
            <a:r>
              <a:rPr kumimoji="0" lang="en-US" sz="2000" b="0" i="0" u="none" strike="noStrike" kern="1200" cap="none" spc="0" normalizeH="0" baseline="0" noProof="0" dirty="0">
                <a:ln>
                  <a:noFill/>
                </a:ln>
                <a:effectLst/>
                <a:uLnTx/>
                <a:uFillTx/>
                <a:ea typeface="ＭＳ Ｐゴシック" charset="0"/>
                <a:cs typeface="ＭＳ Ｐゴシック" charset="0"/>
              </a:rPr>
              <a:t> for query, reply to query uses </a:t>
            </a:r>
            <a:r>
              <a:rPr kumimoji="0" lang="en-US" sz="2000" i="0" u="none" strike="noStrike" kern="1200" cap="none" spc="0" normalizeH="0" baseline="0" noProof="0" dirty="0">
                <a:ln>
                  <a:noFill/>
                </a:ln>
                <a:solidFill>
                  <a:srgbClr val="C00000"/>
                </a:solidFill>
                <a:effectLst/>
                <a:uLnTx/>
                <a:uFillTx/>
                <a:ea typeface="ＭＳ Ｐゴシック" charset="0"/>
                <a:cs typeface="ＭＳ Ｐゴシック" charset="0"/>
              </a:rPr>
              <a:t>same </a:t>
            </a:r>
            <a:r>
              <a:rPr lang="en-US" altLang="zh-CN" sz="2000" dirty="0">
                <a:solidFill>
                  <a:srgbClr val="C00000"/>
                </a:solidFill>
                <a:ea typeface="ＭＳ Ｐゴシック" charset="0"/>
                <a:cs typeface="ＭＳ Ｐゴシック" charset="0"/>
              </a:rPr>
              <a:t>number</a:t>
            </a:r>
            <a:endParaRPr kumimoji="0" lang="en-US" sz="2000" i="0" u="none" strike="noStrike" kern="1200" cap="none" spc="0" normalizeH="0" baseline="0" noProof="0" dirty="0">
              <a:ln>
                <a:noFill/>
              </a:ln>
              <a:solidFill>
                <a:srgbClr val="C00000"/>
              </a:solidFill>
              <a:effectLst/>
              <a:uLnTx/>
              <a:uFillTx/>
              <a:ea typeface="ＭＳ Ｐゴシック" charset="0"/>
              <a:cs typeface="ＭＳ Ｐゴシック" charset="0"/>
            </a:endParaRPr>
          </a:p>
          <a:p>
            <a:pPr marR="0" lvl="0" algn="l" defTabSz="914400" rtl="0" eaLnBrk="1" fontAlgn="auto" latinLnBrk="0" hangingPunct="1">
              <a:lnSpc>
                <a:spcPct val="100000"/>
              </a:lnSpc>
              <a:spcBef>
                <a:spcPts val="0"/>
              </a:spcBef>
              <a:spcAft>
                <a:spcPts val="0"/>
              </a:spcAft>
              <a:buSzPct val="100000"/>
              <a:tabLst/>
              <a:defRPr/>
            </a:pPr>
            <a:r>
              <a:rPr kumimoji="0" lang="en-US" sz="2000" b="1" i="0" u="none" strike="noStrike" kern="1200" cap="none" spc="0" normalizeH="0" baseline="0" noProof="0" dirty="0">
                <a:ln>
                  <a:noFill/>
                </a:ln>
                <a:effectLst/>
                <a:uLnTx/>
                <a:uFillTx/>
                <a:ea typeface="ＭＳ Ｐゴシック" charset="0"/>
                <a:cs typeface="ＭＳ Ｐゴシック" charset="0"/>
              </a:rPr>
              <a:t>Flags</a:t>
            </a:r>
            <a:r>
              <a:rPr kumimoji="0" lang="en-US" sz="2000" b="0" i="0" u="none" strike="noStrike" kern="1200" cap="none" spc="0" normalizeH="0" baseline="0" noProof="0" dirty="0">
                <a:ln>
                  <a:noFill/>
                </a:ln>
                <a:effectLst/>
                <a:uLnTx/>
                <a:uFillTx/>
                <a:ea typeface="ＭＳ Ｐゴシック" charset="0"/>
                <a:cs typeface="ＭＳ Ｐゴシック" charset="0"/>
              </a:rPr>
              <a:t>:</a:t>
            </a:r>
          </a:p>
          <a:p>
            <a:pPr marL="800100" lvl="1" indent="-342900">
              <a:buSzPct val="100000"/>
              <a:buFont typeface="Arial" panose="020B0604020202020204" pitchFamily="34" charset="0"/>
              <a:buChar char="•"/>
              <a:defRPr/>
            </a:pPr>
            <a:r>
              <a:rPr lang="en-US" sz="2000" dirty="0">
                <a:solidFill>
                  <a:srgbClr val="C00000"/>
                </a:solidFill>
                <a:ea typeface="ＭＳ Ｐゴシック" charset="0"/>
                <a:cs typeface="ＭＳ Ｐゴシック" charset="0"/>
              </a:rPr>
              <a:t>QR bit</a:t>
            </a:r>
            <a:r>
              <a:rPr lang="en-US" sz="2000" dirty="0">
                <a:ea typeface="ＭＳ Ｐゴシック" charset="0"/>
                <a:cs typeface="ＭＳ Ｐゴシック" charset="0"/>
              </a:rPr>
              <a:t>: 0 in queries, 1 in responses</a:t>
            </a:r>
          </a:p>
          <a:p>
            <a:pPr marL="800100" lvl="1" indent="-342900">
              <a:buSzPct val="100000"/>
              <a:buFont typeface="Arial" panose="020B0604020202020204" pitchFamily="34" charset="0"/>
              <a:buChar char="•"/>
              <a:defRPr/>
            </a:pPr>
            <a:r>
              <a:rPr lang="en-US" sz="2000" dirty="0">
                <a:ea typeface="ＭＳ Ｐゴシック" charset="0"/>
                <a:cs typeface="ＭＳ Ｐゴシック" charset="0"/>
              </a:rPr>
              <a:t>RD bit: 1 if we want the recursive resolver to do the lookup for us, and 0 otherwise</a:t>
            </a:r>
          </a:p>
          <a:p>
            <a:pPr>
              <a:defRPr/>
            </a:pPr>
            <a:r>
              <a:rPr lang="en-US" sz="2000" b="1" dirty="0">
                <a:ea typeface="ＭＳ Ｐゴシック" charset="0"/>
                <a:cs typeface="ＭＳ Ｐゴシック" charset="0"/>
              </a:rPr>
              <a:t>Counts</a:t>
            </a:r>
            <a:r>
              <a:rPr lang="en-US" sz="2000" dirty="0">
                <a:ea typeface="ＭＳ Ｐゴシック" charset="0"/>
                <a:cs typeface="ＭＳ Ｐゴシック" charset="0"/>
              </a:rPr>
              <a:t>: </a:t>
            </a:r>
          </a:p>
          <a:p>
            <a:pPr marL="800100" lvl="1" indent="-342900">
              <a:buFont typeface="Arial" panose="020B0604020202020204" pitchFamily="34" charset="0"/>
              <a:buChar char="•"/>
              <a:defRPr/>
            </a:pPr>
            <a:r>
              <a:rPr lang="en-US" sz="2000" dirty="0">
                <a:ea typeface="ＭＳ Ｐゴシック" charset="0"/>
                <a:cs typeface="ＭＳ Ｐゴシック" charset="0"/>
              </a:rPr>
              <a:t>The number of records of each type in the DNS payload</a:t>
            </a:r>
          </a:p>
          <a:p>
            <a:pPr marL="115887" indent="-342900">
              <a:buFont typeface="Arial" panose="020B0604020202020204" pitchFamily="34" charset="0"/>
              <a:buChar char="•"/>
              <a:defRPr/>
            </a:pPr>
            <a:endParaRPr lang="en-US" sz="2000" dirty="0">
              <a:ea typeface="ＭＳ Ｐゴシック" charset="0"/>
              <a:cs typeface="ＭＳ Ｐゴシック" charset="0"/>
            </a:endParaRPr>
          </a:p>
        </p:txBody>
      </p:sp>
      <p:sp>
        <p:nvSpPr>
          <p:cNvPr id="3" name="Google Shape;685;p58">
            <a:extLst>
              <a:ext uri="{FF2B5EF4-FFF2-40B4-BE49-F238E27FC236}">
                <a16:creationId xmlns:a16="http://schemas.microsoft.com/office/drawing/2014/main" id="{D925D675-5E05-882D-53DD-AFCE3751496A}"/>
              </a:ext>
            </a:extLst>
          </p:cNvPr>
          <p:cNvSpPr txBox="1"/>
          <p:nvPr/>
        </p:nvSpPr>
        <p:spPr>
          <a:xfrm rot="5400000">
            <a:off x="9526194" y="2815022"/>
            <a:ext cx="1458914"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dirty="0">
                <a:latin typeface="Roboto"/>
                <a:ea typeface="Roboto"/>
                <a:cs typeface="Roboto"/>
                <a:sym typeface="Roboto"/>
              </a:rPr>
              <a:t>DNS Header</a:t>
            </a:r>
            <a:endParaRPr b="1" dirty="0">
              <a:latin typeface="Roboto"/>
              <a:ea typeface="Roboto"/>
              <a:cs typeface="Roboto"/>
              <a:sym typeface="Roboto"/>
            </a:endParaRPr>
          </a:p>
        </p:txBody>
      </p:sp>
      <p:sp>
        <p:nvSpPr>
          <p:cNvPr id="5" name="Google Shape;682;p58">
            <a:extLst>
              <a:ext uri="{FF2B5EF4-FFF2-40B4-BE49-F238E27FC236}">
                <a16:creationId xmlns:a16="http://schemas.microsoft.com/office/drawing/2014/main" id="{01621028-1F0A-FCD9-2130-C38A07BC13BC}"/>
              </a:ext>
            </a:extLst>
          </p:cNvPr>
          <p:cNvSpPr txBox="1"/>
          <p:nvPr/>
        </p:nvSpPr>
        <p:spPr>
          <a:xfrm rot="5400000">
            <a:off x="8894369" y="4928779"/>
            <a:ext cx="2722563"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dirty="0">
                <a:latin typeface="Roboto"/>
                <a:ea typeface="Roboto"/>
                <a:cs typeface="Roboto"/>
                <a:sym typeface="Roboto"/>
              </a:rPr>
              <a:t>DNS Payload</a:t>
            </a:r>
            <a:endParaRPr b="1" dirty="0">
              <a:latin typeface="Roboto"/>
              <a:ea typeface="Roboto"/>
              <a:cs typeface="Roboto"/>
              <a:sym typeface="Roboto"/>
            </a:endParaRPr>
          </a:p>
        </p:txBody>
      </p:sp>
      <p:cxnSp>
        <p:nvCxnSpPr>
          <p:cNvPr id="7" name="Straight Connector 6">
            <a:extLst>
              <a:ext uri="{FF2B5EF4-FFF2-40B4-BE49-F238E27FC236}">
                <a16:creationId xmlns:a16="http://schemas.microsoft.com/office/drawing/2014/main" id="{50B30FCE-7424-947E-6979-F5A4CC92E278}"/>
              </a:ext>
            </a:extLst>
          </p:cNvPr>
          <p:cNvCxnSpPr>
            <a:cxnSpLocks/>
          </p:cNvCxnSpPr>
          <p:nvPr/>
        </p:nvCxnSpPr>
        <p:spPr>
          <a:xfrm>
            <a:off x="9912350" y="2339402"/>
            <a:ext cx="548005" cy="0"/>
          </a:xfrm>
          <a:prstGeom prst="line">
            <a:avLst/>
          </a:prstGeom>
          <a:ln w="762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757C73E-6BE5-9F47-29D3-62DCCF0297E4}"/>
              </a:ext>
            </a:extLst>
          </p:cNvPr>
          <p:cNvCxnSpPr>
            <a:cxnSpLocks/>
          </p:cNvCxnSpPr>
          <p:nvPr/>
        </p:nvCxnSpPr>
        <p:spPr>
          <a:xfrm>
            <a:off x="9912350" y="3711002"/>
            <a:ext cx="548005" cy="0"/>
          </a:xfrm>
          <a:prstGeom prst="line">
            <a:avLst/>
          </a:prstGeom>
          <a:ln w="762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57A5CBDD-7A03-0AF5-2081-93195965AB6D}"/>
              </a:ext>
            </a:extLst>
          </p:cNvPr>
          <p:cNvCxnSpPr>
            <a:cxnSpLocks/>
          </p:cNvCxnSpPr>
          <p:nvPr/>
        </p:nvCxnSpPr>
        <p:spPr>
          <a:xfrm>
            <a:off x="9918700" y="6443090"/>
            <a:ext cx="548005" cy="0"/>
          </a:xfrm>
          <a:prstGeom prst="line">
            <a:avLst/>
          </a:prstGeom>
          <a:ln w="76200">
            <a:solidFill>
              <a:srgbClr val="C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1549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dissolv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dissolve">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dissolve">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dissolve">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dissolve">
                                      <p:cBhvr>
                                        <p:cTn id="27"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Picture 40">
            <a:extLst>
              <a:ext uri="{FF2B5EF4-FFF2-40B4-BE49-F238E27FC236}">
                <a16:creationId xmlns:a16="http://schemas.microsoft.com/office/drawing/2014/main" id="{6CBD9C23-ECDC-51A1-F18A-DDF2CD4C688C}"/>
              </a:ext>
            </a:extLst>
          </p:cNvPr>
          <p:cNvPicPr>
            <a:picLocks noChangeAspect="1"/>
          </p:cNvPicPr>
          <p:nvPr/>
        </p:nvPicPr>
        <p:blipFill>
          <a:blip r:embed="rId3"/>
          <a:stretch>
            <a:fillRect/>
          </a:stretch>
        </p:blipFill>
        <p:spPr>
          <a:xfrm>
            <a:off x="7190105" y="0"/>
            <a:ext cx="4981975" cy="6858000"/>
          </a:xfrm>
          <a:prstGeom prst="rect">
            <a:avLst/>
          </a:prstGeom>
        </p:spPr>
      </p:pic>
      <p:sp>
        <p:nvSpPr>
          <p:cNvPr id="48" name="Text Box 4">
            <a:extLst>
              <a:ext uri="{FF2B5EF4-FFF2-40B4-BE49-F238E27FC236}">
                <a16:creationId xmlns:a16="http://schemas.microsoft.com/office/drawing/2014/main" id="{95042E94-C8A0-BE46-8EB4-39429E2BF4C4}"/>
              </a:ext>
            </a:extLst>
          </p:cNvPr>
          <p:cNvSpPr txBox="1">
            <a:spLocks noChangeArrowheads="1"/>
          </p:cNvSpPr>
          <p:nvPr/>
        </p:nvSpPr>
        <p:spPr bwMode="auto">
          <a:xfrm>
            <a:off x="325120" y="3329118"/>
            <a:ext cx="2162504" cy="617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85000"/>
              </a:lnSpc>
              <a:spcBef>
                <a:spcPct val="0"/>
              </a:spcBef>
              <a:spcAft>
                <a:spcPts val="0"/>
              </a:spcAft>
              <a:buClrTx/>
              <a:buSzTx/>
              <a:buFontTx/>
              <a:buNone/>
              <a:tabLst/>
              <a:defRPr/>
            </a:pPr>
            <a:r>
              <a:rPr kumimoji="0" lang="en-US" altLang="en-US"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Name, type fields for a query</a:t>
            </a:r>
          </a:p>
        </p:txBody>
      </p:sp>
      <p:sp>
        <p:nvSpPr>
          <p:cNvPr id="49" name="Text Box 5">
            <a:extLst>
              <a:ext uri="{FF2B5EF4-FFF2-40B4-BE49-F238E27FC236}">
                <a16:creationId xmlns:a16="http://schemas.microsoft.com/office/drawing/2014/main" id="{4E613433-F917-A147-AF5A-4DF4F76E7E09}"/>
              </a:ext>
            </a:extLst>
          </p:cNvPr>
          <p:cNvSpPr txBox="1">
            <a:spLocks noChangeArrowheads="1"/>
          </p:cNvSpPr>
          <p:nvPr/>
        </p:nvSpPr>
        <p:spPr bwMode="auto">
          <a:xfrm>
            <a:off x="442516" y="4049763"/>
            <a:ext cx="2048283" cy="621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85000"/>
              </a:lnSpc>
              <a:spcBef>
                <a:spcPct val="0"/>
              </a:spcBef>
              <a:spcAft>
                <a:spcPts val="0"/>
              </a:spcAft>
              <a:buClrTx/>
              <a:buSzTx/>
              <a:buFontTx/>
              <a:buNone/>
              <a:tabLst/>
              <a:defRPr/>
            </a:pPr>
            <a:r>
              <a:rPr kumimoji="0" lang="en-US" altLang="en-US"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RRs in response to query</a:t>
            </a:r>
          </a:p>
        </p:txBody>
      </p:sp>
      <p:sp>
        <p:nvSpPr>
          <p:cNvPr id="50" name="Text Box 6">
            <a:extLst>
              <a:ext uri="{FF2B5EF4-FFF2-40B4-BE49-F238E27FC236}">
                <a16:creationId xmlns:a16="http://schemas.microsoft.com/office/drawing/2014/main" id="{3FD623A6-A024-6347-B591-DAC5D82FD136}"/>
              </a:ext>
            </a:extLst>
          </p:cNvPr>
          <p:cNvSpPr txBox="1">
            <a:spLocks noChangeArrowheads="1"/>
          </p:cNvSpPr>
          <p:nvPr/>
        </p:nvSpPr>
        <p:spPr bwMode="auto">
          <a:xfrm>
            <a:off x="1956" y="4718407"/>
            <a:ext cx="2506531" cy="617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85000"/>
              </a:lnSpc>
              <a:spcBef>
                <a:spcPct val="0"/>
              </a:spcBef>
              <a:spcAft>
                <a:spcPts val="0"/>
              </a:spcAft>
              <a:buClrTx/>
              <a:buSzTx/>
              <a:buFontTx/>
              <a:buNone/>
              <a:tabLst/>
              <a:defRPr/>
            </a:pPr>
            <a:r>
              <a:rPr kumimoji="0" lang="en-US" altLang="en-US"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Records for authoritative servers</a:t>
            </a:r>
          </a:p>
        </p:txBody>
      </p:sp>
      <p:sp>
        <p:nvSpPr>
          <p:cNvPr id="51" name="Text Box 7">
            <a:extLst>
              <a:ext uri="{FF2B5EF4-FFF2-40B4-BE49-F238E27FC236}">
                <a16:creationId xmlns:a16="http://schemas.microsoft.com/office/drawing/2014/main" id="{4B8555F6-7100-944F-9974-2E826BBBD80C}"/>
              </a:ext>
            </a:extLst>
          </p:cNvPr>
          <p:cNvSpPr txBox="1">
            <a:spLocks noChangeArrowheads="1"/>
          </p:cNvSpPr>
          <p:nvPr/>
        </p:nvSpPr>
        <p:spPr bwMode="auto">
          <a:xfrm>
            <a:off x="-110527" y="5392336"/>
            <a:ext cx="2613799" cy="621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85000"/>
              </a:lnSpc>
              <a:spcBef>
                <a:spcPct val="0"/>
              </a:spcBef>
              <a:spcAft>
                <a:spcPts val="0"/>
              </a:spcAft>
              <a:buClrTx/>
              <a:buSzTx/>
              <a:buFontTx/>
              <a:buNone/>
              <a:tabLst/>
              <a:defRPr/>
            </a:pPr>
            <a:r>
              <a:rPr kumimoji="0" lang="en-US" altLang="en-US"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Additional “ </a:t>
            </a:r>
            <a:r>
              <a:rPr kumimoji="0" lang="en-US" altLang="ja-JP"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helpful” </a:t>
            </a:r>
            <a:r>
              <a:rPr kumimoji="0" lang="en-US" altLang="en-US"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info that may be used</a:t>
            </a:r>
          </a:p>
        </p:txBody>
      </p:sp>
      <p:sp>
        <p:nvSpPr>
          <p:cNvPr id="52" name="Line 37">
            <a:extLst>
              <a:ext uri="{FF2B5EF4-FFF2-40B4-BE49-F238E27FC236}">
                <a16:creationId xmlns:a16="http://schemas.microsoft.com/office/drawing/2014/main" id="{F803F024-9C8E-164E-BC96-48776D3FA40F}"/>
              </a:ext>
            </a:extLst>
          </p:cNvPr>
          <p:cNvSpPr>
            <a:spLocks noChangeShapeType="1"/>
          </p:cNvSpPr>
          <p:nvPr/>
        </p:nvSpPr>
        <p:spPr bwMode="auto">
          <a:xfrm flipH="1">
            <a:off x="2514838" y="5657312"/>
            <a:ext cx="548640" cy="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Line 38">
            <a:extLst>
              <a:ext uri="{FF2B5EF4-FFF2-40B4-BE49-F238E27FC236}">
                <a16:creationId xmlns:a16="http://schemas.microsoft.com/office/drawing/2014/main" id="{316EAAA0-F793-2043-BFB7-87E6DFAFF73D}"/>
              </a:ext>
            </a:extLst>
          </p:cNvPr>
          <p:cNvSpPr>
            <a:spLocks noChangeShapeType="1"/>
          </p:cNvSpPr>
          <p:nvPr/>
        </p:nvSpPr>
        <p:spPr bwMode="auto">
          <a:xfrm flipH="1">
            <a:off x="2514838" y="4998499"/>
            <a:ext cx="548640" cy="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Line 39">
            <a:extLst>
              <a:ext uri="{FF2B5EF4-FFF2-40B4-BE49-F238E27FC236}">
                <a16:creationId xmlns:a16="http://schemas.microsoft.com/office/drawing/2014/main" id="{408447E0-07FB-1341-9B44-D1DA4C6774E2}"/>
              </a:ext>
            </a:extLst>
          </p:cNvPr>
          <p:cNvSpPr>
            <a:spLocks noChangeShapeType="1"/>
          </p:cNvSpPr>
          <p:nvPr/>
        </p:nvSpPr>
        <p:spPr bwMode="auto">
          <a:xfrm flipH="1">
            <a:off x="2522775" y="4339687"/>
            <a:ext cx="548640" cy="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Line 40">
            <a:extLst>
              <a:ext uri="{FF2B5EF4-FFF2-40B4-BE49-F238E27FC236}">
                <a16:creationId xmlns:a16="http://schemas.microsoft.com/office/drawing/2014/main" id="{F708B0A3-0C69-D745-B00F-2DDF2924D4FD}"/>
              </a:ext>
            </a:extLst>
          </p:cNvPr>
          <p:cNvSpPr>
            <a:spLocks noChangeShapeType="1"/>
          </p:cNvSpPr>
          <p:nvPr/>
        </p:nvSpPr>
        <p:spPr bwMode="auto">
          <a:xfrm flipH="1">
            <a:off x="2508488" y="3614199"/>
            <a:ext cx="548640" cy="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4" name="Title 1">
            <a:extLst>
              <a:ext uri="{FF2B5EF4-FFF2-40B4-BE49-F238E27FC236}">
                <a16:creationId xmlns:a16="http://schemas.microsoft.com/office/drawing/2014/main" id="{95E186ED-4245-C448-9822-1199EA93DC2B}"/>
              </a:ext>
            </a:extLst>
          </p:cNvPr>
          <p:cNvSpPr>
            <a:spLocks noGrp="1"/>
          </p:cNvSpPr>
          <p:nvPr>
            <p:ph type="title"/>
          </p:nvPr>
        </p:nvSpPr>
        <p:spPr>
          <a:xfrm>
            <a:off x="838200" y="362678"/>
            <a:ext cx="10515600" cy="894622"/>
          </a:xfrm>
        </p:spPr>
        <p:txBody>
          <a:bodyPr>
            <a:normAutofit/>
          </a:bodyPr>
          <a:lstStyle/>
          <a:p>
            <a:r>
              <a:rPr lang="en-US" altLang="en-US" sz="4400" dirty="0">
                <a:ea typeface="ＭＳ Ｐゴシック" panose="020B0600070205080204" pitchFamily="34" charset="-128"/>
              </a:rPr>
              <a:t>DNS Protocol Messages</a:t>
            </a:r>
            <a:endParaRPr lang="en-US" sz="4400" dirty="0">
              <a:cs typeface="Calibri" panose="020F0502020204030204" pitchFamily="34" charset="0"/>
            </a:endParaRPr>
          </a:p>
        </p:txBody>
      </p:sp>
      <p:grpSp>
        <p:nvGrpSpPr>
          <p:cNvPr id="7" name="Group 6">
            <a:extLst>
              <a:ext uri="{FF2B5EF4-FFF2-40B4-BE49-F238E27FC236}">
                <a16:creationId xmlns:a16="http://schemas.microsoft.com/office/drawing/2014/main" id="{490F1D7F-3EA7-62DB-F941-70FEA04EF8FE}"/>
              </a:ext>
            </a:extLst>
          </p:cNvPr>
          <p:cNvGrpSpPr/>
          <p:nvPr/>
        </p:nvGrpSpPr>
        <p:grpSpPr>
          <a:xfrm>
            <a:off x="3057128" y="1462279"/>
            <a:ext cx="3671888" cy="4505323"/>
            <a:chOff x="6272212" y="1937767"/>
            <a:chExt cx="3671888" cy="4505323"/>
          </a:xfrm>
        </p:grpSpPr>
        <p:sp>
          <p:nvSpPr>
            <p:cNvPr id="8" name="Rectangle 12">
              <a:extLst>
                <a:ext uri="{FF2B5EF4-FFF2-40B4-BE49-F238E27FC236}">
                  <a16:creationId xmlns:a16="http://schemas.microsoft.com/office/drawing/2014/main" id="{403B038C-09E7-5CFD-BA4F-7E0DA8FC9755}"/>
                </a:ext>
              </a:extLst>
            </p:cNvPr>
            <p:cNvSpPr>
              <a:spLocks noChangeArrowheads="1"/>
            </p:cNvSpPr>
            <p:nvPr/>
          </p:nvSpPr>
          <p:spPr bwMode="auto">
            <a:xfrm>
              <a:off x="6297612" y="2339402"/>
              <a:ext cx="3614738" cy="4103688"/>
            </a:xfrm>
            <a:prstGeom prst="rect">
              <a:avLst/>
            </a:prstGeom>
            <a:solidFill>
              <a:schemeClr val="bg1"/>
            </a:solidFill>
            <a:ln w="19050">
              <a:solidFill>
                <a:schemeClr val="tx1"/>
              </a:solidFill>
              <a:miter lim="800000"/>
              <a:headEnd/>
              <a:tailEnd/>
            </a:ln>
            <a:effectLst>
              <a:outerShdw blurRad="50800" dist="38100" dir="18900000" sx="101000" sy="101000" algn="bl" rotWithShape="0">
                <a:srgbClr val="0000A3">
                  <a:alpha val="40000"/>
                </a:srgb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9" name="Line 13">
              <a:extLst>
                <a:ext uri="{FF2B5EF4-FFF2-40B4-BE49-F238E27FC236}">
                  <a16:creationId xmlns:a16="http://schemas.microsoft.com/office/drawing/2014/main" id="{A295670D-915B-0108-EEA3-A126AD50D0F7}"/>
                </a:ext>
              </a:extLst>
            </p:cNvPr>
            <p:cNvSpPr>
              <a:spLocks noChangeShapeType="1"/>
            </p:cNvSpPr>
            <p:nvPr/>
          </p:nvSpPr>
          <p:spPr bwMode="auto">
            <a:xfrm>
              <a:off x="6286500" y="5766814"/>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Line 14">
              <a:extLst>
                <a:ext uri="{FF2B5EF4-FFF2-40B4-BE49-F238E27FC236}">
                  <a16:creationId xmlns:a16="http://schemas.microsoft.com/office/drawing/2014/main" id="{297D0E0C-9917-DD3A-A039-C632A00E932D}"/>
                </a:ext>
              </a:extLst>
            </p:cNvPr>
            <p:cNvSpPr>
              <a:spLocks noChangeShapeType="1"/>
            </p:cNvSpPr>
            <p:nvPr/>
          </p:nvSpPr>
          <p:spPr bwMode="auto">
            <a:xfrm>
              <a:off x="6297612" y="5081014"/>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Line 15">
              <a:extLst>
                <a:ext uri="{FF2B5EF4-FFF2-40B4-BE49-F238E27FC236}">
                  <a16:creationId xmlns:a16="http://schemas.microsoft.com/office/drawing/2014/main" id="{2F166853-3BBB-B22E-415C-EEBDDBBB5138}"/>
                </a:ext>
              </a:extLst>
            </p:cNvPr>
            <p:cNvSpPr>
              <a:spLocks noChangeShapeType="1"/>
            </p:cNvSpPr>
            <p:nvPr/>
          </p:nvSpPr>
          <p:spPr bwMode="auto">
            <a:xfrm>
              <a:off x="6286500" y="4395214"/>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Line 16">
              <a:extLst>
                <a:ext uri="{FF2B5EF4-FFF2-40B4-BE49-F238E27FC236}">
                  <a16:creationId xmlns:a16="http://schemas.microsoft.com/office/drawing/2014/main" id="{5AD8EA73-399D-BE1E-6D75-E35154F76D19}"/>
                </a:ext>
              </a:extLst>
            </p:cNvPr>
            <p:cNvSpPr>
              <a:spLocks noChangeShapeType="1"/>
            </p:cNvSpPr>
            <p:nvPr/>
          </p:nvSpPr>
          <p:spPr bwMode="auto">
            <a:xfrm>
              <a:off x="6286500" y="3720527"/>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Line 17">
              <a:extLst>
                <a:ext uri="{FF2B5EF4-FFF2-40B4-BE49-F238E27FC236}">
                  <a16:creationId xmlns:a16="http://schemas.microsoft.com/office/drawing/2014/main" id="{814EC2C3-4B02-0233-BB7F-DB0BD3B0BA6B}"/>
                </a:ext>
              </a:extLst>
            </p:cNvPr>
            <p:cNvSpPr>
              <a:spLocks noChangeShapeType="1"/>
            </p:cNvSpPr>
            <p:nvPr/>
          </p:nvSpPr>
          <p:spPr bwMode="auto">
            <a:xfrm>
              <a:off x="6284912" y="3263327"/>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Line 18">
              <a:extLst>
                <a:ext uri="{FF2B5EF4-FFF2-40B4-BE49-F238E27FC236}">
                  <a16:creationId xmlns:a16="http://schemas.microsoft.com/office/drawing/2014/main" id="{A5DAAC7C-7AFD-1B04-620C-4225AA979F82}"/>
                </a:ext>
              </a:extLst>
            </p:cNvPr>
            <p:cNvSpPr>
              <a:spLocks noChangeShapeType="1"/>
            </p:cNvSpPr>
            <p:nvPr/>
          </p:nvSpPr>
          <p:spPr bwMode="auto">
            <a:xfrm>
              <a:off x="6272212" y="2812477"/>
              <a:ext cx="3646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Line 19">
              <a:extLst>
                <a:ext uri="{FF2B5EF4-FFF2-40B4-BE49-F238E27FC236}">
                  <a16:creationId xmlns:a16="http://schemas.microsoft.com/office/drawing/2014/main" id="{D1FF7BCF-CE66-4759-D6C6-766742A6F0D9}"/>
                </a:ext>
              </a:extLst>
            </p:cNvPr>
            <p:cNvSpPr>
              <a:spLocks noChangeShapeType="1"/>
            </p:cNvSpPr>
            <p:nvPr/>
          </p:nvSpPr>
          <p:spPr bwMode="auto">
            <a:xfrm>
              <a:off x="8104187" y="2350514"/>
              <a:ext cx="3175" cy="13604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Box 20">
              <a:extLst>
                <a:ext uri="{FF2B5EF4-FFF2-40B4-BE49-F238E27FC236}">
                  <a16:creationId xmlns:a16="http://schemas.microsoft.com/office/drawing/2014/main" id="{93C756CD-16AF-2719-6E33-068AE454D284}"/>
                </a:ext>
              </a:extLst>
            </p:cNvPr>
            <p:cNvSpPr txBox="1">
              <a:spLocks noChangeArrowheads="1"/>
            </p:cNvSpPr>
            <p:nvPr/>
          </p:nvSpPr>
          <p:spPr bwMode="auto">
            <a:xfrm>
              <a:off x="6542087" y="2410839"/>
              <a:ext cx="13356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Identification</a:t>
              </a:r>
            </a:p>
          </p:txBody>
        </p:sp>
        <p:sp>
          <p:nvSpPr>
            <p:cNvPr id="18" name="Text Box 21">
              <a:extLst>
                <a:ext uri="{FF2B5EF4-FFF2-40B4-BE49-F238E27FC236}">
                  <a16:creationId xmlns:a16="http://schemas.microsoft.com/office/drawing/2014/main" id="{07AC5ABA-AB65-3705-4EB3-5BE9CA64809B}"/>
                </a:ext>
              </a:extLst>
            </p:cNvPr>
            <p:cNvSpPr txBox="1">
              <a:spLocks noChangeArrowheads="1"/>
            </p:cNvSpPr>
            <p:nvPr/>
          </p:nvSpPr>
          <p:spPr bwMode="auto">
            <a:xfrm>
              <a:off x="8666162" y="2410839"/>
              <a:ext cx="6848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Flags</a:t>
              </a:r>
            </a:p>
          </p:txBody>
        </p:sp>
        <p:sp>
          <p:nvSpPr>
            <p:cNvPr id="19" name="Text Box 22">
              <a:extLst>
                <a:ext uri="{FF2B5EF4-FFF2-40B4-BE49-F238E27FC236}">
                  <a16:creationId xmlns:a16="http://schemas.microsoft.com/office/drawing/2014/main" id="{A29A53CC-CAF5-F812-742C-5BE8F92C0CC3}"/>
                </a:ext>
              </a:extLst>
            </p:cNvPr>
            <p:cNvSpPr txBox="1">
              <a:spLocks noChangeArrowheads="1"/>
            </p:cNvSpPr>
            <p:nvPr/>
          </p:nvSpPr>
          <p:spPr bwMode="auto">
            <a:xfrm>
              <a:off x="6398591" y="2868039"/>
              <a:ext cx="15728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lvl="0" indent="0" algn="ctr"/>
              <a:r>
                <a:rPr lang="en-US" sz="1600" dirty="0">
                  <a:solidFill>
                    <a:schemeClr val="dk1"/>
                  </a:solidFill>
                  <a:latin typeface="Roboto"/>
                  <a:ea typeface="Roboto"/>
                  <a:cs typeface="Roboto"/>
                  <a:sym typeface="Roboto"/>
                </a:rPr>
                <a:t>Question count</a:t>
              </a:r>
            </a:p>
          </p:txBody>
        </p:sp>
        <p:sp>
          <p:nvSpPr>
            <p:cNvPr id="20" name="Text Box 23">
              <a:extLst>
                <a:ext uri="{FF2B5EF4-FFF2-40B4-BE49-F238E27FC236}">
                  <a16:creationId xmlns:a16="http://schemas.microsoft.com/office/drawing/2014/main" id="{6FD35BCE-BC06-EA86-B6DF-B24EF17AB981}"/>
                </a:ext>
              </a:extLst>
            </p:cNvPr>
            <p:cNvSpPr txBox="1">
              <a:spLocks noChangeArrowheads="1"/>
            </p:cNvSpPr>
            <p:nvPr/>
          </p:nvSpPr>
          <p:spPr bwMode="auto">
            <a:xfrm>
              <a:off x="6937361" y="3778849"/>
              <a:ext cx="243207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Question Records</a:t>
              </a:r>
            </a:p>
            <a:p>
              <a:pPr marL="342900" marR="0" lvl="0" indent="-34290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(variable # of questions)</a:t>
              </a:r>
            </a:p>
          </p:txBody>
        </p:sp>
        <p:sp>
          <p:nvSpPr>
            <p:cNvPr id="21" name="Text Box 26">
              <a:extLst>
                <a:ext uri="{FF2B5EF4-FFF2-40B4-BE49-F238E27FC236}">
                  <a16:creationId xmlns:a16="http://schemas.microsoft.com/office/drawing/2014/main" id="{5F88F8F9-E47D-C496-E4B5-42983F4F47B9}"/>
                </a:ext>
              </a:extLst>
            </p:cNvPr>
            <p:cNvSpPr txBox="1">
              <a:spLocks noChangeArrowheads="1"/>
            </p:cNvSpPr>
            <p:nvPr/>
          </p:nvSpPr>
          <p:spPr bwMode="auto">
            <a:xfrm>
              <a:off x="8163372" y="3323652"/>
              <a:ext cx="168026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lvl="0" indent="0" algn="ctr"/>
              <a:r>
                <a:rPr lang="en-US" sz="1600" dirty="0">
                  <a:solidFill>
                    <a:schemeClr val="dk1"/>
                  </a:solidFill>
                  <a:latin typeface="Roboto"/>
                  <a:ea typeface="Roboto"/>
                  <a:cs typeface="Roboto"/>
                  <a:sym typeface="Roboto"/>
                </a:rPr>
                <a:t>Additional count</a:t>
              </a:r>
            </a:p>
          </p:txBody>
        </p:sp>
        <p:sp>
          <p:nvSpPr>
            <p:cNvPr id="22" name="Text Box 27">
              <a:extLst>
                <a:ext uri="{FF2B5EF4-FFF2-40B4-BE49-F238E27FC236}">
                  <a16:creationId xmlns:a16="http://schemas.microsoft.com/office/drawing/2014/main" id="{A74B37BE-FEFF-506F-3A40-97F2F2148D84}"/>
                </a:ext>
              </a:extLst>
            </p:cNvPr>
            <p:cNvSpPr txBox="1">
              <a:spLocks noChangeArrowheads="1"/>
            </p:cNvSpPr>
            <p:nvPr/>
          </p:nvSpPr>
          <p:spPr bwMode="auto">
            <a:xfrm>
              <a:off x="6414404" y="3325239"/>
              <a:ext cx="158569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lvl="0" indent="0" algn="ctr"/>
              <a:r>
                <a:rPr lang="en-US" sz="1600" dirty="0">
                  <a:solidFill>
                    <a:schemeClr val="dk1"/>
                  </a:solidFill>
                  <a:latin typeface="Roboto"/>
                  <a:ea typeface="Roboto"/>
                  <a:cs typeface="Roboto"/>
                  <a:sym typeface="Roboto"/>
                </a:rPr>
                <a:t>Authority count</a:t>
              </a:r>
            </a:p>
          </p:txBody>
        </p:sp>
        <p:sp>
          <p:nvSpPr>
            <p:cNvPr id="23" name="Text Box 28">
              <a:extLst>
                <a:ext uri="{FF2B5EF4-FFF2-40B4-BE49-F238E27FC236}">
                  <a16:creationId xmlns:a16="http://schemas.microsoft.com/office/drawing/2014/main" id="{7C6338E4-61C3-07B5-325D-963B4E254F19}"/>
                </a:ext>
              </a:extLst>
            </p:cNvPr>
            <p:cNvSpPr txBox="1">
              <a:spLocks noChangeArrowheads="1"/>
            </p:cNvSpPr>
            <p:nvPr/>
          </p:nvSpPr>
          <p:spPr bwMode="auto">
            <a:xfrm>
              <a:off x="8274859" y="2877564"/>
              <a:ext cx="14414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lvl="0" indent="0" algn="ctr"/>
              <a:r>
                <a:rPr lang="en-US" sz="1600" dirty="0">
                  <a:solidFill>
                    <a:schemeClr val="dk1"/>
                  </a:solidFill>
                  <a:latin typeface="Roboto"/>
                  <a:ea typeface="Roboto"/>
                  <a:cs typeface="Roboto"/>
                  <a:sym typeface="Roboto"/>
                </a:rPr>
                <a:t>Answer count</a:t>
              </a:r>
            </a:p>
          </p:txBody>
        </p:sp>
        <p:sp>
          <p:nvSpPr>
            <p:cNvPr id="24" name="Text Box 30">
              <a:extLst>
                <a:ext uri="{FF2B5EF4-FFF2-40B4-BE49-F238E27FC236}">
                  <a16:creationId xmlns:a16="http://schemas.microsoft.com/office/drawing/2014/main" id="{FDFCE6D7-7D53-9CE6-FD10-C473BB27B4AD}"/>
                </a:ext>
              </a:extLst>
            </p:cNvPr>
            <p:cNvSpPr txBox="1">
              <a:spLocks noChangeArrowheads="1"/>
            </p:cNvSpPr>
            <p:nvPr/>
          </p:nvSpPr>
          <p:spPr bwMode="auto">
            <a:xfrm>
              <a:off x="7177009" y="4447766"/>
              <a:ext cx="195277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ctr" defTabSz="914400" rtl="0" eaLnBrk="1" fontAlgn="auto" latinLnBrk="0" hangingPunct="1">
                <a:lnSpc>
                  <a:spcPct val="100000"/>
                </a:lnSpc>
                <a:spcBef>
                  <a:spcPts val="0"/>
                </a:spcBef>
                <a:spcAft>
                  <a:spcPts val="0"/>
                </a:spcAft>
                <a:buClrTx/>
                <a:buSzTx/>
                <a:buFontTx/>
                <a:buNone/>
                <a:tabLst/>
                <a:defRPr/>
              </a:pPr>
              <a:r>
                <a:rPr lang="en-US" altLang="zh-CN" sz="1600" dirty="0">
                  <a:solidFill>
                    <a:prstClr val="black"/>
                  </a:solidFill>
                </a:rPr>
                <a:t>Answer</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Records</a:t>
              </a:r>
            </a:p>
            <a:p>
              <a:pPr marL="342900" marR="0" lvl="0" indent="-34290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(variable # of RRs)</a:t>
              </a:r>
            </a:p>
          </p:txBody>
        </p:sp>
        <p:sp>
          <p:nvSpPr>
            <p:cNvPr id="25" name="Text Box 31">
              <a:extLst>
                <a:ext uri="{FF2B5EF4-FFF2-40B4-BE49-F238E27FC236}">
                  <a16:creationId xmlns:a16="http://schemas.microsoft.com/office/drawing/2014/main" id="{E5B9E7C1-4BC8-5868-E935-1B24C6A041FA}"/>
                </a:ext>
              </a:extLst>
            </p:cNvPr>
            <p:cNvSpPr txBox="1">
              <a:spLocks noChangeArrowheads="1"/>
            </p:cNvSpPr>
            <p:nvPr/>
          </p:nvSpPr>
          <p:spPr bwMode="auto">
            <a:xfrm>
              <a:off x="7185024" y="5133565"/>
              <a:ext cx="18950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Authority Records</a:t>
              </a:r>
            </a:p>
            <a:p>
              <a:pPr marL="342900" marR="0" lvl="0" indent="-34290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(variable # of RRs)</a:t>
              </a:r>
            </a:p>
          </p:txBody>
        </p:sp>
        <p:sp>
          <p:nvSpPr>
            <p:cNvPr id="26" name="Text Box 32">
              <a:extLst>
                <a:ext uri="{FF2B5EF4-FFF2-40B4-BE49-F238E27FC236}">
                  <a16:creationId xmlns:a16="http://schemas.microsoft.com/office/drawing/2014/main" id="{68C7504B-B944-D736-A0EC-1EEC8357DE0D}"/>
                </a:ext>
              </a:extLst>
            </p:cNvPr>
            <p:cNvSpPr txBox="1">
              <a:spLocks noChangeArrowheads="1"/>
            </p:cNvSpPr>
            <p:nvPr/>
          </p:nvSpPr>
          <p:spPr bwMode="auto">
            <a:xfrm>
              <a:off x="7156169" y="5817777"/>
              <a:ext cx="195277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ctr" defTabSz="914400" rtl="0" eaLnBrk="1" fontAlgn="auto" latinLnBrk="0" hangingPunct="1">
                <a:lnSpc>
                  <a:spcPct val="100000"/>
                </a:lnSpc>
                <a:spcBef>
                  <a:spcPts val="0"/>
                </a:spcBef>
                <a:spcAft>
                  <a:spcPts val="0"/>
                </a:spcAft>
                <a:buClrTx/>
                <a:buSzTx/>
                <a:buFontTx/>
                <a:buNone/>
                <a:tabLst/>
                <a:defRPr/>
              </a:pPr>
              <a:r>
                <a:rPr lang="en-US" altLang="en-US" sz="1600" dirty="0">
                  <a:solidFill>
                    <a:prstClr val="black"/>
                  </a:solidFill>
                </a:rPr>
                <a:t>Additional</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Records</a:t>
              </a:r>
            </a:p>
            <a:p>
              <a:pPr marL="342900" marR="0" lvl="0" indent="-34290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(variable # of RRs)</a:t>
              </a:r>
            </a:p>
          </p:txBody>
        </p:sp>
        <p:grpSp>
          <p:nvGrpSpPr>
            <p:cNvPr id="27" name="Group 60">
              <a:extLst>
                <a:ext uri="{FF2B5EF4-FFF2-40B4-BE49-F238E27FC236}">
                  <a16:creationId xmlns:a16="http://schemas.microsoft.com/office/drawing/2014/main" id="{28429FA7-24D6-E02A-326E-7B543C96AA47}"/>
                </a:ext>
              </a:extLst>
            </p:cNvPr>
            <p:cNvGrpSpPr>
              <a:grpSpLocks/>
            </p:cNvGrpSpPr>
            <p:nvPr/>
          </p:nvGrpSpPr>
          <p:grpSpPr bwMode="auto">
            <a:xfrm>
              <a:off x="6302375" y="1937767"/>
              <a:ext cx="1747837" cy="276226"/>
              <a:chOff x="2691" y="1194"/>
              <a:chExt cx="1101" cy="174"/>
            </a:xfrm>
          </p:grpSpPr>
          <p:sp>
            <p:nvSpPr>
              <p:cNvPr id="32" name="Text Box 57">
                <a:extLst>
                  <a:ext uri="{FF2B5EF4-FFF2-40B4-BE49-F238E27FC236}">
                    <a16:creationId xmlns:a16="http://schemas.microsoft.com/office/drawing/2014/main" id="{2C91573E-676B-8D7F-44FA-FACB69D70484}"/>
                  </a:ext>
                </a:extLst>
              </p:cNvPr>
              <p:cNvSpPr txBox="1">
                <a:spLocks noChangeArrowheads="1"/>
              </p:cNvSpPr>
              <p:nvPr/>
            </p:nvSpPr>
            <p:spPr bwMode="auto">
              <a:xfrm>
                <a:off x="3032" y="1194"/>
                <a:ext cx="45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2 bytes</a:t>
                </a:r>
              </a:p>
            </p:txBody>
          </p:sp>
          <p:sp>
            <p:nvSpPr>
              <p:cNvPr id="33" name="Line 58">
                <a:extLst>
                  <a:ext uri="{FF2B5EF4-FFF2-40B4-BE49-F238E27FC236}">
                    <a16:creationId xmlns:a16="http://schemas.microsoft.com/office/drawing/2014/main" id="{A6D698D3-5E0B-5157-DB2D-4E66B8BA11E0}"/>
                  </a:ext>
                </a:extLst>
              </p:cNvPr>
              <p:cNvSpPr>
                <a:spLocks noChangeShapeType="1"/>
              </p:cNvSpPr>
              <p:nvPr/>
            </p:nvSpPr>
            <p:spPr bwMode="auto">
              <a:xfrm>
                <a:off x="3465" y="1284"/>
                <a:ext cx="3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Line 59">
                <a:extLst>
                  <a:ext uri="{FF2B5EF4-FFF2-40B4-BE49-F238E27FC236}">
                    <a16:creationId xmlns:a16="http://schemas.microsoft.com/office/drawing/2014/main" id="{FA8FC575-DCA7-9F02-3224-D514430FB562}"/>
                  </a:ext>
                </a:extLst>
              </p:cNvPr>
              <p:cNvSpPr>
                <a:spLocks noChangeShapeType="1"/>
              </p:cNvSpPr>
              <p:nvPr/>
            </p:nvSpPr>
            <p:spPr bwMode="auto">
              <a:xfrm flipH="1" flipV="1">
                <a:off x="2691" y="1284"/>
                <a:ext cx="3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8" name="Group 61">
              <a:extLst>
                <a:ext uri="{FF2B5EF4-FFF2-40B4-BE49-F238E27FC236}">
                  <a16:creationId xmlns:a16="http://schemas.microsoft.com/office/drawing/2014/main" id="{1BE91680-7DA9-D6D7-CF83-353303260E2D}"/>
                </a:ext>
              </a:extLst>
            </p:cNvPr>
            <p:cNvGrpSpPr>
              <a:grpSpLocks/>
            </p:cNvGrpSpPr>
            <p:nvPr/>
          </p:nvGrpSpPr>
          <p:grpSpPr bwMode="auto">
            <a:xfrm>
              <a:off x="8077200" y="1937767"/>
              <a:ext cx="1747837" cy="276226"/>
              <a:chOff x="2691" y="1194"/>
              <a:chExt cx="1101" cy="174"/>
            </a:xfrm>
          </p:grpSpPr>
          <p:sp>
            <p:nvSpPr>
              <p:cNvPr id="29" name="Text Box 62">
                <a:extLst>
                  <a:ext uri="{FF2B5EF4-FFF2-40B4-BE49-F238E27FC236}">
                    <a16:creationId xmlns:a16="http://schemas.microsoft.com/office/drawing/2014/main" id="{1D2CC910-BFB8-DB7E-6131-8402142AA466}"/>
                  </a:ext>
                </a:extLst>
              </p:cNvPr>
              <p:cNvSpPr txBox="1">
                <a:spLocks noChangeArrowheads="1"/>
              </p:cNvSpPr>
              <p:nvPr/>
            </p:nvSpPr>
            <p:spPr bwMode="auto">
              <a:xfrm>
                <a:off x="3032" y="1194"/>
                <a:ext cx="45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2 bytes</a:t>
                </a:r>
              </a:p>
            </p:txBody>
          </p:sp>
          <p:sp>
            <p:nvSpPr>
              <p:cNvPr id="30" name="Line 63">
                <a:extLst>
                  <a:ext uri="{FF2B5EF4-FFF2-40B4-BE49-F238E27FC236}">
                    <a16:creationId xmlns:a16="http://schemas.microsoft.com/office/drawing/2014/main" id="{633F28BC-4481-4F13-4528-BDF32FDD2950}"/>
                  </a:ext>
                </a:extLst>
              </p:cNvPr>
              <p:cNvSpPr>
                <a:spLocks noChangeShapeType="1"/>
              </p:cNvSpPr>
              <p:nvPr/>
            </p:nvSpPr>
            <p:spPr bwMode="auto">
              <a:xfrm>
                <a:off x="3465" y="1284"/>
                <a:ext cx="3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Line 64">
                <a:extLst>
                  <a:ext uri="{FF2B5EF4-FFF2-40B4-BE49-F238E27FC236}">
                    <a16:creationId xmlns:a16="http://schemas.microsoft.com/office/drawing/2014/main" id="{97EB4DF3-E86C-D1ED-1A85-954D3A5B2E8A}"/>
                  </a:ext>
                </a:extLst>
              </p:cNvPr>
              <p:cNvSpPr>
                <a:spLocks noChangeShapeType="1"/>
              </p:cNvSpPr>
              <p:nvPr/>
            </p:nvSpPr>
            <p:spPr bwMode="auto">
              <a:xfrm flipH="1" flipV="1">
                <a:off x="2691" y="1284"/>
                <a:ext cx="3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35" name="Google Shape;685;p58">
            <a:extLst>
              <a:ext uri="{FF2B5EF4-FFF2-40B4-BE49-F238E27FC236}">
                <a16:creationId xmlns:a16="http://schemas.microsoft.com/office/drawing/2014/main" id="{DA0DBD64-68D7-2987-283C-E3FC13331F71}"/>
              </a:ext>
            </a:extLst>
          </p:cNvPr>
          <p:cNvSpPr txBox="1"/>
          <p:nvPr/>
        </p:nvSpPr>
        <p:spPr>
          <a:xfrm rot="5400000">
            <a:off x="6311110" y="2339534"/>
            <a:ext cx="1458914"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dirty="0">
                <a:latin typeface="Roboto"/>
                <a:ea typeface="Roboto"/>
                <a:cs typeface="Roboto"/>
                <a:sym typeface="Roboto"/>
              </a:rPr>
              <a:t>DNS Header</a:t>
            </a:r>
            <a:endParaRPr b="1" dirty="0">
              <a:latin typeface="Roboto"/>
              <a:ea typeface="Roboto"/>
              <a:cs typeface="Roboto"/>
              <a:sym typeface="Roboto"/>
            </a:endParaRPr>
          </a:p>
        </p:txBody>
      </p:sp>
      <p:sp>
        <p:nvSpPr>
          <p:cNvPr id="36" name="Google Shape;682;p58">
            <a:extLst>
              <a:ext uri="{FF2B5EF4-FFF2-40B4-BE49-F238E27FC236}">
                <a16:creationId xmlns:a16="http://schemas.microsoft.com/office/drawing/2014/main" id="{C3D9F462-0028-AEC7-92BC-7D7ED6485313}"/>
              </a:ext>
            </a:extLst>
          </p:cNvPr>
          <p:cNvSpPr txBox="1"/>
          <p:nvPr/>
        </p:nvSpPr>
        <p:spPr>
          <a:xfrm rot="5400000">
            <a:off x="5679285" y="4453291"/>
            <a:ext cx="2722563"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dirty="0">
                <a:latin typeface="Roboto"/>
                <a:ea typeface="Roboto"/>
                <a:cs typeface="Roboto"/>
                <a:sym typeface="Roboto"/>
              </a:rPr>
              <a:t>DNS Payload</a:t>
            </a:r>
            <a:endParaRPr b="1" dirty="0">
              <a:latin typeface="Roboto"/>
              <a:ea typeface="Roboto"/>
              <a:cs typeface="Roboto"/>
              <a:sym typeface="Roboto"/>
            </a:endParaRPr>
          </a:p>
        </p:txBody>
      </p:sp>
      <p:cxnSp>
        <p:nvCxnSpPr>
          <p:cNvPr id="37" name="Straight Connector 36">
            <a:extLst>
              <a:ext uri="{FF2B5EF4-FFF2-40B4-BE49-F238E27FC236}">
                <a16:creationId xmlns:a16="http://schemas.microsoft.com/office/drawing/2014/main" id="{7A4CED25-BA2D-FB70-FEC8-349CA43D5EE2}"/>
              </a:ext>
            </a:extLst>
          </p:cNvPr>
          <p:cNvCxnSpPr>
            <a:cxnSpLocks/>
          </p:cNvCxnSpPr>
          <p:nvPr/>
        </p:nvCxnSpPr>
        <p:spPr>
          <a:xfrm>
            <a:off x="6697266" y="1863914"/>
            <a:ext cx="548005" cy="0"/>
          </a:xfrm>
          <a:prstGeom prst="line">
            <a:avLst/>
          </a:prstGeom>
          <a:ln w="762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7B73C041-E89B-A67E-8E43-CF76FBF1D60F}"/>
              </a:ext>
            </a:extLst>
          </p:cNvPr>
          <p:cNvCxnSpPr>
            <a:cxnSpLocks/>
          </p:cNvCxnSpPr>
          <p:nvPr/>
        </p:nvCxnSpPr>
        <p:spPr>
          <a:xfrm>
            <a:off x="6697266" y="3235514"/>
            <a:ext cx="548005" cy="0"/>
          </a:xfrm>
          <a:prstGeom prst="line">
            <a:avLst/>
          </a:prstGeom>
          <a:ln w="762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020F9D3E-694B-2EE8-D623-247CE0129C75}"/>
              </a:ext>
            </a:extLst>
          </p:cNvPr>
          <p:cNvCxnSpPr>
            <a:cxnSpLocks/>
          </p:cNvCxnSpPr>
          <p:nvPr/>
        </p:nvCxnSpPr>
        <p:spPr>
          <a:xfrm>
            <a:off x="6703616" y="5967602"/>
            <a:ext cx="548005" cy="0"/>
          </a:xfrm>
          <a:prstGeom prst="line">
            <a:avLst/>
          </a:prstGeom>
          <a:ln w="76200">
            <a:solidFill>
              <a:srgbClr val="C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68597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47BCAC2-4B0D-C24F-A1AA-5CFB26132E0B}"/>
              </a:ext>
            </a:extLst>
          </p:cNvPr>
          <p:cNvSpPr>
            <a:spLocks noGrp="1"/>
          </p:cNvSpPr>
          <p:nvPr>
            <p:ph type="title"/>
          </p:nvPr>
        </p:nvSpPr>
        <p:spPr>
          <a:xfrm>
            <a:off x="838200" y="362678"/>
            <a:ext cx="10515600" cy="894622"/>
          </a:xfrm>
        </p:spPr>
        <p:txBody>
          <a:bodyPr>
            <a:normAutofit/>
          </a:bodyPr>
          <a:lstStyle/>
          <a:p>
            <a:r>
              <a:rPr lang="en-US" altLang="en-US" sz="4400" dirty="0">
                <a:ea typeface="ＭＳ Ｐゴシック" panose="020B0600070205080204" pitchFamily="34" charset="-128"/>
              </a:rPr>
              <a:t>DNS Security</a:t>
            </a:r>
            <a:endParaRPr lang="en-US" sz="4400" dirty="0">
              <a:cs typeface="Calibri" panose="020F0502020204030204" pitchFamily="34" charset="0"/>
            </a:endParaRPr>
          </a:p>
        </p:txBody>
      </p:sp>
      <p:sp>
        <p:nvSpPr>
          <p:cNvPr id="5" name="Content Placeholder 5">
            <a:extLst>
              <a:ext uri="{FF2B5EF4-FFF2-40B4-BE49-F238E27FC236}">
                <a16:creationId xmlns:a16="http://schemas.microsoft.com/office/drawing/2014/main" id="{81829ECA-BDD6-AD44-8D36-9BB88442CDAB}"/>
              </a:ext>
            </a:extLst>
          </p:cNvPr>
          <p:cNvSpPr txBox="1">
            <a:spLocks/>
          </p:cNvSpPr>
          <p:nvPr/>
        </p:nvSpPr>
        <p:spPr>
          <a:xfrm>
            <a:off x="838200" y="1526094"/>
            <a:ext cx="5025571" cy="4648200"/>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288"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22228B"/>
                </a:solidFill>
                <a:effectLst/>
                <a:uLnTx/>
                <a:uFillTx/>
                <a:latin typeface="Calibri" panose="020F0502020204030204"/>
                <a:ea typeface="ＭＳ Ｐゴシック" panose="020B0600070205080204" pitchFamily="34" charset="-128"/>
                <a:cs typeface="+mn-cs"/>
              </a:rPr>
              <a:t>DDoS attacks</a:t>
            </a:r>
          </a:p>
          <a:p>
            <a:pPr marR="0" lvl="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Bombard root servers with traffic</a:t>
            </a:r>
          </a:p>
          <a:p>
            <a:pPr marL="690562" marR="0" lvl="1" indent="-342900" algn="l" defTabSz="914400" rtl="0" eaLnBrk="1" fontAlgn="auto" latinLnBrk="0" hangingPunct="1">
              <a:lnSpc>
                <a:spcPct val="90000"/>
              </a:lnSpc>
              <a:spcBef>
                <a:spcPts val="500"/>
              </a:spcBef>
              <a:spcAft>
                <a:spcPts val="0"/>
              </a:spcAft>
              <a:buClrTx/>
              <a:buSzTx/>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Not successful to date</a:t>
            </a:r>
          </a:p>
          <a:p>
            <a:pPr marL="690562" marR="0" lvl="1" indent="-342900" algn="l" defTabSz="914400" rtl="0" eaLnBrk="1" fontAlgn="auto" latinLnBrk="0" hangingPunct="1">
              <a:lnSpc>
                <a:spcPct val="90000"/>
              </a:lnSpc>
              <a:spcBef>
                <a:spcPts val="500"/>
              </a:spcBef>
              <a:spcAft>
                <a:spcPts val="0"/>
              </a:spcAft>
              <a:buClrTx/>
              <a:buSzTx/>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Traffic filtering</a:t>
            </a:r>
          </a:p>
          <a:p>
            <a:pPr marL="690562" marR="0" lvl="1" indent="-342900" algn="l" defTabSz="914400" rtl="0" eaLnBrk="1" fontAlgn="auto" latinLnBrk="0" hangingPunct="1">
              <a:lnSpc>
                <a:spcPct val="90000"/>
              </a:lnSpc>
              <a:spcBef>
                <a:spcPts val="500"/>
              </a:spcBef>
              <a:spcAft>
                <a:spcPts val="0"/>
              </a:spcAft>
              <a:buClrTx/>
              <a:buSzTx/>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Local DNS servers cache IPs of TLD servers, allowing root server bypass</a:t>
            </a:r>
          </a:p>
          <a:p>
            <a:pPr marR="0" lvl="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Bombard TLD servers</a:t>
            </a:r>
          </a:p>
          <a:p>
            <a:pPr marL="690562" marR="0" lvl="1" indent="-342900" algn="l" defTabSz="914400" rtl="0" eaLnBrk="1" fontAlgn="auto" latinLnBrk="0" hangingPunct="1">
              <a:lnSpc>
                <a:spcPct val="90000"/>
              </a:lnSpc>
              <a:spcBef>
                <a:spcPts val="500"/>
              </a:spcBef>
              <a:spcAft>
                <a:spcPts val="0"/>
              </a:spcAft>
              <a:buClrTx/>
              <a:buSzTx/>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Potentially more dangerous</a:t>
            </a:r>
          </a:p>
          <a:p>
            <a:pPr marL="352425" marR="0" lvl="0" indent="-222250" algn="l" defTabSz="914400" rtl="0" eaLnBrk="1" fontAlgn="auto" latinLnBrk="0" hangingPunct="1">
              <a:lnSpc>
                <a:spcPct val="90000"/>
              </a:lnSpc>
              <a:spcBef>
                <a:spcPts val="1000"/>
              </a:spcBef>
              <a:spcAft>
                <a:spcPts val="0"/>
              </a:spcAft>
              <a:buClr>
                <a:srgbClr val="0000A3"/>
              </a:buClr>
              <a:buSzTx/>
              <a:buFont typeface="Comic Sans MS" panose="030F0902030302020204" pitchFamily="66" charset="0"/>
              <a:buAutoNum type="arabicPeriod"/>
              <a:tabLst/>
              <a:defRPr/>
            </a:pPr>
            <a:endParaRPr kumimoji="0" lang="en-US" altLang="en-US" sz="28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sp>
        <p:nvSpPr>
          <p:cNvPr id="7" name="Content Placeholder 6">
            <a:extLst>
              <a:ext uri="{FF2B5EF4-FFF2-40B4-BE49-F238E27FC236}">
                <a16:creationId xmlns:a16="http://schemas.microsoft.com/office/drawing/2014/main" id="{5A84F48D-B139-BA49-B127-5134E112078B}"/>
              </a:ext>
            </a:extLst>
          </p:cNvPr>
          <p:cNvSpPr txBox="1">
            <a:spLocks/>
          </p:cNvSpPr>
          <p:nvPr/>
        </p:nvSpPr>
        <p:spPr bwMode="auto">
          <a:xfrm>
            <a:off x="6096000" y="1526094"/>
            <a:ext cx="4760686" cy="2672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Gill Sans MT" pitchFamily="34" charset="0"/>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pitchFamily="34" charset="0"/>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8"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8"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8" charset="0"/>
              </a:defRPr>
            </a:lvl9pPr>
          </a:lstStyle>
          <a:p>
            <a:pPr marL="14288" marR="0" lvl="0" indent="0"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sz="3200" b="0" i="0" u="none" strike="noStrike" kern="0" cap="none" spc="0" normalizeH="0" baseline="0" noProof="0" dirty="0">
                <a:ln>
                  <a:noFill/>
                </a:ln>
                <a:solidFill>
                  <a:srgbClr val="2D2DB9">
                    <a:lumMod val="75000"/>
                  </a:srgbClr>
                </a:solidFill>
                <a:effectLst/>
                <a:uLnTx/>
                <a:uFillTx/>
                <a:latin typeface="Calibri" panose="020F0502020204030204"/>
                <a:ea typeface="ＭＳ Ｐゴシック" charset="0"/>
              </a:rPr>
              <a:t>Spoofing attacks</a:t>
            </a:r>
          </a:p>
          <a:p>
            <a:pPr marR="0" lvl="0" algn="l" defTabSz="914400" rtl="0" eaLnBrk="0" fontAlgn="base" latinLnBrk="0" hangingPunct="0">
              <a:lnSpc>
                <a:spcPct val="85000"/>
              </a:lnSpc>
              <a:spcBef>
                <a:spcPct val="20000"/>
              </a:spcBef>
              <a:spcAft>
                <a:spcPct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intercept DNS queries, returning bogus replies</a:t>
            </a:r>
          </a:p>
          <a:p>
            <a:pPr marR="0" lvl="1" algn="l" defTabSz="914400" rtl="0" eaLnBrk="0" fontAlgn="base" latinLnBrk="0" hangingPunct="0">
              <a:lnSpc>
                <a:spcPct val="85000"/>
              </a:lnSpc>
              <a:spcBef>
                <a:spcPct val="20000"/>
              </a:spcBef>
              <a:spcAft>
                <a:spcPct val="0"/>
              </a:spcAft>
              <a:buClrTx/>
              <a:buSzPct val="100000"/>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DNS cache poisoning</a:t>
            </a:r>
          </a:p>
          <a:p>
            <a:pPr marR="0" lvl="1" algn="l" defTabSz="914400" rtl="0" eaLnBrk="0" fontAlgn="base" latinLnBrk="0" hangingPunct="0">
              <a:lnSpc>
                <a:spcPct val="85000"/>
              </a:lnSpc>
              <a:spcBef>
                <a:spcPct val="20000"/>
              </a:spcBef>
              <a:spcAft>
                <a:spcPct val="0"/>
              </a:spcAft>
              <a:buClrTx/>
              <a:buSzPct val="100000"/>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RFC 4033: DNSSEC authentication services</a:t>
            </a:r>
          </a:p>
        </p:txBody>
      </p:sp>
      <p:sp>
        <p:nvSpPr>
          <p:cNvPr id="2" name="TextBox 1">
            <a:extLst>
              <a:ext uri="{FF2B5EF4-FFF2-40B4-BE49-F238E27FC236}">
                <a16:creationId xmlns:a16="http://schemas.microsoft.com/office/drawing/2014/main" id="{5833D08E-D79B-7F84-EE03-F0C126DCE6D4}"/>
              </a:ext>
            </a:extLst>
          </p:cNvPr>
          <p:cNvSpPr txBox="1"/>
          <p:nvPr/>
        </p:nvSpPr>
        <p:spPr>
          <a:xfrm>
            <a:off x="7330440" y="5273040"/>
            <a:ext cx="2133600" cy="646331"/>
          </a:xfrm>
          <a:prstGeom prst="rect">
            <a:avLst/>
          </a:prstGeom>
          <a:noFill/>
        </p:spPr>
        <p:txBody>
          <a:bodyPr wrap="square" rtlCol="0">
            <a:spAutoFit/>
          </a:bodyPr>
          <a:lstStyle/>
          <a:p>
            <a:r>
              <a:rPr lang="en-US" i="1" dirty="0">
                <a:solidFill>
                  <a:srgbClr val="C00000"/>
                </a:solidFill>
              </a:rPr>
              <a:t>We will discuss this topic in Week 9</a:t>
            </a:r>
          </a:p>
        </p:txBody>
      </p:sp>
    </p:spTree>
    <p:extLst>
      <p:ext uri="{BB962C8B-B14F-4D97-AF65-F5344CB8AC3E}">
        <p14:creationId xmlns:p14="http://schemas.microsoft.com/office/powerpoint/2010/main" val="2137063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 name="Title 1">
            <a:extLst>
              <a:ext uri="{FF2B5EF4-FFF2-40B4-BE49-F238E27FC236}">
                <a16:creationId xmlns:a16="http://schemas.microsoft.com/office/drawing/2014/main" id="{EDBA5A8F-4260-B240-9E01-AE8471BDC45B}"/>
              </a:ext>
            </a:extLst>
          </p:cNvPr>
          <p:cNvSpPr>
            <a:spLocks noGrp="1"/>
          </p:cNvSpPr>
          <p:nvPr>
            <p:ph type="title"/>
          </p:nvPr>
        </p:nvSpPr>
        <p:spPr>
          <a:xfrm>
            <a:off x="838200" y="451821"/>
            <a:ext cx="10515600" cy="894622"/>
          </a:xfrm>
        </p:spPr>
        <p:txBody>
          <a:bodyPr>
            <a:normAutofit/>
          </a:bodyPr>
          <a:lstStyle/>
          <a:p>
            <a:pPr lvl="0" eaLnBrk="0" fontAlgn="base" hangingPunct="0">
              <a:lnSpc>
                <a:spcPct val="100000"/>
              </a:lnSpc>
              <a:spcAft>
                <a:spcPct val="0"/>
              </a:spcAft>
            </a:pPr>
            <a:r>
              <a:rPr lang="en-US" altLang="en-US" sz="4400" dirty="0">
                <a:ea typeface="ＭＳ Ｐゴシック" panose="020B0600070205080204" pitchFamily="34" charset="-128"/>
                <a:cs typeface="+mn-cs"/>
              </a:rPr>
              <a:t>Application Layer Summary</a:t>
            </a:r>
            <a:endParaRPr lang="en-US" altLang="en-US" sz="5400" dirty="0">
              <a:ea typeface="ＭＳ Ｐゴシック" panose="020B0600070205080204" pitchFamily="34" charset="-128"/>
              <a:cs typeface="+mn-cs"/>
            </a:endParaRPr>
          </a:p>
        </p:txBody>
      </p:sp>
      <p:sp>
        <p:nvSpPr>
          <p:cNvPr id="25" name="Rectangle 3">
            <a:extLst>
              <a:ext uri="{FF2B5EF4-FFF2-40B4-BE49-F238E27FC236}">
                <a16:creationId xmlns:a16="http://schemas.microsoft.com/office/drawing/2014/main" id="{130235C8-CBF2-BC40-8C2F-CC9AFE97994B}"/>
              </a:ext>
            </a:extLst>
          </p:cNvPr>
          <p:cNvSpPr>
            <a:spLocks noGrp="1" noChangeArrowheads="1"/>
          </p:cNvSpPr>
          <p:nvPr>
            <p:ph sz="half" idx="1"/>
          </p:nvPr>
        </p:nvSpPr>
        <p:spPr>
          <a:xfrm>
            <a:off x="838200" y="1957000"/>
            <a:ext cx="5710084" cy="4763840"/>
          </a:xfrm>
        </p:spPr>
        <p:txBody>
          <a:bodyPr>
            <a:normAutofit fontScale="92500" lnSpcReduction="10000"/>
          </a:bodyPr>
          <a:lstStyle/>
          <a:p>
            <a:pPr marL="339725" indent="-342900">
              <a:spcAft>
                <a:spcPts val="600"/>
              </a:spcAft>
              <a:buSzPct val="100000"/>
              <a:defRPr/>
            </a:pPr>
            <a:r>
              <a:rPr lang="en-US" dirty="0"/>
              <a:t>Application architectures</a:t>
            </a:r>
          </a:p>
          <a:p>
            <a:pPr marL="796925" lvl="1" indent="-342900">
              <a:spcAft>
                <a:spcPts val="600"/>
              </a:spcAft>
              <a:buSzPct val="100000"/>
              <a:defRPr/>
            </a:pPr>
            <a:r>
              <a:rPr lang="en-US" dirty="0"/>
              <a:t>Client-server</a:t>
            </a:r>
          </a:p>
          <a:p>
            <a:pPr marL="796925" lvl="1" indent="-342900">
              <a:spcAft>
                <a:spcPts val="600"/>
              </a:spcAft>
              <a:buSzPct val="100000"/>
              <a:defRPr/>
            </a:pPr>
            <a:r>
              <a:rPr lang="en-US" dirty="0"/>
              <a:t>P2P</a:t>
            </a:r>
          </a:p>
          <a:p>
            <a:pPr marL="339725" indent="-342900">
              <a:spcAft>
                <a:spcPts val="600"/>
              </a:spcAft>
              <a:buSzPct val="100000"/>
              <a:defRPr/>
            </a:pPr>
            <a:r>
              <a:rPr lang="en-US" dirty="0"/>
              <a:t>Network performance:</a:t>
            </a:r>
          </a:p>
          <a:p>
            <a:pPr marL="796925" lvl="1" indent="-342900">
              <a:spcAft>
                <a:spcPts val="600"/>
              </a:spcAft>
              <a:buSzPct val="100000"/>
              <a:defRPr/>
            </a:pPr>
            <a:r>
              <a:rPr lang="en-US" dirty="0"/>
              <a:t>Delay, packet loss, throughput</a:t>
            </a:r>
          </a:p>
          <a:p>
            <a:pPr marL="339725" indent="-342900">
              <a:spcAft>
                <a:spcPts val="600"/>
              </a:spcAft>
              <a:defRPr/>
            </a:pPr>
            <a:r>
              <a:rPr lang="en-US" dirty="0"/>
              <a:t>Cache</a:t>
            </a:r>
          </a:p>
          <a:p>
            <a:pPr marL="339725" indent="-342900">
              <a:spcAft>
                <a:spcPts val="600"/>
              </a:spcAft>
              <a:defRPr/>
            </a:pPr>
            <a:r>
              <a:rPr lang="en-US" dirty="0"/>
              <a:t>Cookie</a:t>
            </a:r>
          </a:p>
          <a:p>
            <a:pPr marL="339725" marR="0" lvl="0" indent="-342900" fontAlgn="auto">
              <a:spcAft>
                <a:spcPts val="600"/>
              </a:spcAft>
              <a:buSzPct val="100000"/>
              <a:tabLst/>
              <a:defRPr/>
            </a:pPr>
            <a:r>
              <a:rPr lang="en-US" dirty="0"/>
              <a:t>Specific protocols:</a:t>
            </a:r>
          </a:p>
          <a:p>
            <a:pPr marL="796925" lvl="1" indent="-342900">
              <a:spcAft>
                <a:spcPts val="600"/>
              </a:spcAft>
              <a:buSzPct val="100000"/>
              <a:defRPr/>
            </a:pPr>
            <a:r>
              <a:rPr kumimoji="0" lang="en-US" b="1" i="0" u="none" strike="noStrike" kern="1200" cap="none" spc="0" normalizeH="0" baseline="0" noProof="0" dirty="0">
                <a:ln>
                  <a:noFill/>
                </a:ln>
                <a:solidFill>
                  <a:srgbClr val="000000"/>
                </a:solidFill>
                <a:effectLst/>
                <a:uLnTx/>
                <a:uFillTx/>
                <a:ea typeface="ＭＳ Ｐゴシック" charset="0"/>
                <a:cs typeface="ＭＳ Ｐゴシック" charset="0"/>
              </a:rPr>
              <a:t>HTTP</a:t>
            </a:r>
          </a:p>
          <a:p>
            <a:pPr marL="796925" lvl="1" indent="-342900">
              <a:spcAft>
                <a:spcPts val="600"/>
              </a:spcAft>
              <a:buSzPct val="100000"/>
              <a:defRPr/>
            </a:pPr>
            <a:r>
              <a:rPr kumimoji="0" lang="en-US" sz="2400" b="1" i="0" u="none" strike="noStrike" kern="1200" cap="none" spc="0" normalizeH="0" baseline="0" noProof="0" dirty="0">
                <a:ln>
                  <a:noFill/>
                </a:ln>
                <a:solidFill>
                  <a:srgbClr val="000000"/>
                </a:solidFill>
                <a:effectLst/>
                <a:uLnTx/>
                <a:uFillTx/>
                <a:ea typeface="ＭＳ Ｐゴシック" charset="0"/>
                <a:cs typeface="ＭＳ Ｐゴシック" charset="0"/>
              </a:rPr>
              <a:t>DNS</a:t>
            </a:r>
          </a:p>
        </p:txBody>
      </p:sp>
      <p:sp>
        <p:nvSpPr>
          <p:cNvPr id="26" name="Rectangle 4">
            <a:extLst>
              <a:ext uri="{FF2B5EF4-FFF2-40B4-BE49-F238E27FC236}">
                <a16:creationId xmlns:a16="http://schemas.microsoft.com/office/drawing/2014/main" id="{228601A5-E42C-D440-B994-5748EBF18265}"/>
              </a:ext>
            </a:extLst>
          </p:cNvPr>
          <p:cNvSpPr txBox="1">
            <a:spLocks noChangeArrowheads="1"/>
          </p:cNvSpPr>
          <p:nvPr/>
        </p:nvSpPr>
        <p:spPr>
          <a:xfrm>
            <a:off x="704849" y="1392072"/>
            <a:ext cx="10157592" cy="676275"/>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mj-lt"/>
                <a:ea typeface="ＭＳ Ｐゴシック" panose="020B0600070205080204" pitchFamily="34" charset="-128"/>
                <a:cs typeface="+mn-cs"/>
              </a:rPr>
              <a:t>Our study of network application layer is now complete!</a:t>
            </a:r>
          </a:p>
        </p:txBody>
      </p:sp>
      <p:sp>
        <p:nvSpPr>
          <p:cNvPr id="27" name="Rectangle 5">
            <a:extLst>
              <a:ext uri="{FF2B5EF4-FFF2-40B4-BE49-F238E27FC236}">
                <a16:creationId xmlns:a16="http://schemas.microsoft.com/office/drawing/2014/main" id="{64F252F4-9047-6D40-8B28-18D2E55365CA}"/>
              </a:ext>
            </a:extLst>
          </p:cNvPr>
          <p:cNvSpPr>
            <a:spLocks noChangeArrowheads="1"/>
          </p:cNvSpPr>
          <p:nvPr/>
        </p:nvSpPr>
        <p:spPr bwMode="auto">
          <a:xfrm>
            <a:off x="7332866" y="2611545"/>
            <a:ext cx="4652810" cy="36766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spcAft>
                <a:spcPts val="600"/>
              </a:spcAft>
              <a:buSzPct val="100000"/>
              <a:defRPr/>
            </a:pPr>
            <a:r>
              <a:rPr lang="en-US" sz="2800" b="1" i="1" dirty="0">
                <a:solidFill>
                  <a:srgbClr val="C00000"/>
                </a:solidFill>
                <a:latin typeface="+mj-lt"/>
                <a:ea typeface="ＭＳ Ｐゴシック" charset="0"/>
                <a:cs typeface="ＭＳ Ｐゴシック" charset="0"/>
              </a:rPr>
              <a:t>Next:</a:t>
            </a:r>
          </a:p>
          <a:p>
            <a:pPr marL="457200" indent="-457200">
              <a:spcAft>
                <a:spcPts val="600"/>
              </a:spcAft>
              <a:buSzPct val="100000"/>
              <a:buFont typeface="Arial" panose="020B0604020202020204" pitchFamily="34" charset="0"/>
              <a:buChar char="•"/>
              <a:defRPr/>
            </a:pPr>
            <a:r>
              <a:rPr lang="en-US" sz="2800" dirty="0">
                <a:solidFill>
                  <a:srgbClr val="000000"/>
                </a:solidFill>
                <a:latin typeface="Calibri" panose="020F0502020204030204"/>
                <a:ea typeface="ＭＳ Ｐゴシック" charset="0"/>
                <a:cs typeface="ＭＳ Ｐゴシック" charset="0"/>
              </a:rPr>
              <a:t>Transport layer service</a:t>
            </a:r>
          </a:p>
          <a:p>
            <a:pPr marL="800100" lvl="1" indent="-342900">
              <a:spcAft>
                <a:spcPts val="600"/>
              </a:spcAft>
              <a:buFont typeface="Arial" panose="020B0604020202020204" pitchFamily="34" charset="0"/>
              <a:buChar char="•"/>
              <a:defRPr/>
            </a:pPr>
            <a:r>
              <a:rPr lang="en-US" sz="2400" dirty="0">
                <a:solidFill>
                  <a:srgbClr val="000000"/>
                </a:solidFill>
                <a:latin typeface="Calibri" panose="020F0502020204030204"/>
                <a:ea typeface="ＭＳ Ｐゴシック" charset="0"/>
                <a:cs typeface="ＭＳ Ｐゴシック" charset="0"/>
              </a:rPr>
              <a:t>Connection-oriented, reliable: TCP</a:t>
            </a:r>
          </a:p>
          <a:p>
            <a:pPr marL="800100" lvl="1" indent="-342900">
              <a:spcAft>
                <a:spcPts val="600"/>
              </a:spcAft>
              <a:buFont typeface="Arial" panose="020B0604020202020204" pitchFamily="34" charset="0"/>
              <a:buChar char="•"/>
              <a:defRPr/>
            </a:pPr>
            <a:r>
              <a:rPr lang="en-US" sz="2400" dirty="0">
                <a:solidFill>
                  <a:srgbClr val="000000"/>
                </a:solidFill>
                <a:latin typeface="Calibri" panose="020F0502020204030204"/>
                <a:ea typeface="ＭＳ Ｐゴシック" charset="0"/>
                <a:cs typeface="ＭＳ Ｐゴシック" charset="0"/>
              </a:rPr>
              <a:t>Unreliable, datagrams: UDP</a:t>
            </a:r>
          </a:p>
          <a:p>
            <a:pPr marL="457200" marR="0" lvl="0" indent="-457200" algn="l" defTabSz="914400" rtl="0" eaLnBrk="1" fontAlgn="auto" latinLnBrk="0" hangingPunct="1">
              <a:lnSpc>
                <a:spcPct val="100000"/>
              </a:lnSpc>
              <a:spcBef>
                <a:spcPts val="0"/>
              </a:spcBef>
              <a:spcAft>
                <a:spcPts val="600"/>
              </a:spcAft>
              <a:buSzPct val="100000"/>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ＭＳ Ｐゴシック" charset="0"/>
              </a:rPr>
              <a:t>Socket programming: </a:t>
            </a:r>
          </a:p>
          <a:p>
            <a:pPr marL="914400" lvl="1" indent="-457200">
              <a:spcAft>
                <a:spcPts val="600"/>
              </a:spcAft>
              <a:buSzPct val="100000"/>
              <a:buFont typeface="Arial" panose="020B0604020202020204" pitchFamily="34" charset="0"/>
              <a:buChar char="•"/>
              <a:defRPr/>
            </a:pPr>
            <a:r>
              <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ＭＳ Ｐゴシック" charset="0"/>
              </a:rPr>
              <a:t>TCP, UDP sockets</a:t>
            </a:r>
          </a:p>
        </p:txBody>
      </p:sp>
    </p:spTree>
    <p:extLst>
      <p:ext uri="{BB962C8B-B14F-4D97-AF65-F5344CB8AC3E}">
        <p14:creationId xmlns:p14="http://schemas.microsoft.com/office/powerpoint/2010/main" val="4058411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468</TotalTime>
  <Words>4278</Words>
  <Application>Microsoft Office PowerPoint</Application>
  <PresentationFormat>Widescreen</PresentationFormat>
  <Paragraphs>533</Paragraphs>
  <Slides>26</Slides>
  <Notes>15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26</vt:i4>
      </vt:variant>
    </vt:vector>
  </HeadingPairs>
  <TitlesOfParts>
    <vt:vector size="39" baseType="lpstr">
      <vt:lpstr>Courier</vt:lpstr>
      <vt:lpstr>ＭＳ Ｐゴシック</vt:lpstr>
      <vt:lpstr>system-ui</vt:lpstr>
      <vt:lpstr>ZapfDingbats</vt:lpstr>
      <vt:lpstr>Aptos</vt:lpstr>
      <vt:lpstr>Aptos Display</vt:lpstr>
      <vt:lpstr>Arial</vt:lpstr>
      <vt:lpstr>Calibri</vt:lpstr>
      <vt:lpstr>Comic Sans MS</vt:lpstr>
      <vt:lpstr>Gill Sans MT</vt:lpstr>
      <vt:lpstr>Roboto</vt:lpstr>
      <vt:lpstr>Wingdings</vt:lpstr>
      <vt:lpstr>Office Theme</vt:lpstr>
      <vt:lpstr>CSC 3511 Security and Networking</vt:lpstr>
      <vt:lpstr>PowerPoint Presentation</vt:lpstr>
      <vt:lpstr>DNS: Domain Name System</vt:lpstr>
      <vt:lpstr>DNS: Definition</vt:lpstr>
      <vt:lpstr>Goals of DNS</vt:lpstr>
      <vt:lpstr>PowerPoint Presentation</vt:lpstr>
      <vt:lpstr>PowerPoint Presentation</vt:lpstr>
      <vt:lpstr>DNS Name Server Hierarchy</vt:lpstr>
      <vt:lpstr>DNS Name Server Hierarchy</vt:lpstr>
      <vt:lpstr>DNS: root name servers</vt:lpstr>
      <vt:lpstr>Top-Level Domain, and authoritative servers</vt:lpstr>
      <vt:lpstr>Local DNS name servers</vt:lpstr>
      <vt:lpstr>DNS Name Resolution: Iterated Query</vt:lpstr>
      <vt:lpstr>Caching DNS Information</vt:lpstr>
      <vt:lpstr>DNS Records</vt:lpstr>
      <vt:lpstr>DNS Lookup Walkthrough</vt:lpstr>
      <vt:lpstr>DNS Lookup Walkthrough</vt:lpstr>
      <vt:lpstr>DNS Lookup Walkthrough</vt:lpstr>
      <vt:lpstr>DNS Lookup Walkthrough</vt:lpstr>
      <vt:lpstr>DNS Lookup Walkthrough</vt:lpstr>
      <vt:lpstr>DNS Lookup Walkthrough</vt:lpstr>
      <vt:lpstr>DNS sample query  (using dig utility)</vt:lpstr>
      <vt:lpstr>DNS Protocol Messages</vt:lpstr>
      <vt:lpstr>DNS Protocol Messages</vt:lpstr>
      <vt:lpstr>DNS Security</vt:lpstr>
      <vt:lpstr>Application Layer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Liao, Zhonghao</dc:creator>
  <cp:lastModifiedBy>Liao, Zhonghao</cp:lastModifiedBy>
  <cp:revision>140</cp:revision>
  <dcterms:created xsi:type="dcterms:W3CDTF">2025-09-03T22:06:31Z</dcterms:created>
  <dcterms:modified xsi:type="dcterms:W3CDTF">2025-09-15T17:20:09Z</dcterms:modified>
</cp:coreProperties>
</file>