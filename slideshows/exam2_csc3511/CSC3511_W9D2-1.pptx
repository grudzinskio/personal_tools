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98" r:id="rId2"/>
    <p:sldId id="1435" r:id="rId3"/>
    <p:sldId id="258" r:id="rId4"/>
    <p:sldId id="1436" r:id="rId5"/>
    <p:sldId id="1437" r:id="rId6"/>
    <p:sldId id="1438" r:id="rId7"/>
    <p:sldId id="259" r:id="rId8"/>
    <p:sldId id="263" r:id="rId9"/>
    <p:sldId id="1439" r:id="rId10"/>
    <p:sldId id="260" r:id="rId11"/>
    <p:sldId id="261" r:id="rId12"/>
    <p:sldId id="262" r:id="rId13"/>
    <p:sldId id="1440" r:id="rId14"/>
    <p:sldId id="1441" r:id="rId15"/>
    <p:sldId id="286" r:id="rId16"/>
    <p:sldId id="1442" r:id="rId17"/>
    <p:sldId id="268" r:id="rId18"/>
    <p:sldId id="1443" r:id="rId19"/>
    <p:sldId id="1444" r:id="rId20"/>
    <p:sldId id="1445" r:id="rId21"/>
    <p:sldId id="1446" r:id="rId22"/>
    <p:sldId id="1447" r:id="rId23"/>
    <p:sldId id="1449" r:id="rId24"/>
    <p:sldId id="1450" r:id="rId25"/>
    <p:sldId id="1451" r:id="rId26"/>
    <p:sldId id="1448" r:id="rId27"/>
    <p:sldId id="1452" r:id="rId28"/>
    <p:sldId id="1453" r:id="rId29"/>
    <p:sldId id="270" r:id="rId30"/>
    <p:sldId id="264" r:id="rId31"/>
    <p:sldId id="271" r:id="rId32"/>
    <p:sldId id="287" r:id="rId33"/>
    <p:sldId id="272" r:id="rId34"/>
    <p:sldId id="273" r:id="rId35"/>
    <p:sldId id="274" r:id="rId36"/>
    <p:sldId id="276" r:id="rId37"/>
    <p:sldId id="277" r:id="rId38"/>
    <p:sldId id="27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36" autoAdjust="0"/>
  </p:normalViewPr>
  <p:slideViewPr>
    <p:cSldViewPr snapToGrid="0">
      <p:cViewPr varScale="1">
        <p:scale>
          <a:sx n="97" d="100"/>
          <a:sy n="97" d="100"/>
        </p:scale>
        <p:origin x="1411" y="86"/>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9EA63-885E-4EB8-879A-527FAB291539}" type="datetimeFigureOut">
              <a:rPr lang="en-US" smtClean="0"/>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035AAC-7370-4508-BC8A-A8FB0FFDBC93}" type="slidenum">
              <a:rPr lang="en-US" smtClean="0"/>
              <a:t>‹#›</a:t>
            </a:fld>
            <a:endParaRPr lang="en-US"/>
          </a:p>
        </p:txBody>
      </p:sp>
    </p:spTree>
    <p:extLst>
      <p:ext uri="{BB962C8B-B14F-4D97-AF65-F5344CB8AC3E}">
        <p14:creationId xmlns:p14="http://schemas.microsoft.com/office/powerpoint/2010/main" val="2637827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Kasiski_examination"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en.wikipedia.org/wiki/Friedman_tes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8</a:t>
            </a:fld>
            <a:endParaRPr lang="en-US"/>
          </a:p>
        </p:txBody>
      </p:sp>
    </p:spTree>
    <p:extLst>
      <p:ext uri="{BB962C8B-B14F-4D97-AF65-F5344CB8AC3E}">
        <p14:creationId xmlns:p14="http://schemas.microsoft.com/office/powerpoint/2010/main" val="2818113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t>
            </a:r>
            <a:r>
              <a:rPr lang="en-US" b="1" dirty="0"/>
              <a:t>super important </a:t>
            </a:r>
            <a:r>
              <a:rPr lang="en-US" dirty="0"/>
              <a:t>to think about threat models when designing secure systems because if our attacker couldn’t read or modify messages, then we wouldn’t even need to be here.</a:t>
            </a:r>
          </a:p>
          <a:p>
            <a:endParaRPr lang="en-US" dirty="0"/>
          </a:p>
          <a:p>
            <a:r>
              <a:rPr lang="en-US" dirty="0"/>
              <a:t>There’s lots of different models, here’s a couple! Maybe Eve can do more than just eavesdrop. For example, chosen plaintext is a common model because these problems commonly occur in the real world. Here’s two additional powers Eve can have. For instance, if Eve walks up to Alice and asks whether Alice can encrypt the word “</a:t>
            </a:r>
            <a:r>
              <a:rPr lang="en-US" dirty="0" err="1"/>
              <a:t>Evanbot</a:t>
            </a:r>
            <a:r>
              <a:rPr lang="en-US" dirty="0"/>
              <a:t>”, if Alice correctly encrypts and sends the encrypted “</a:t>
            </a:r>
            <a:r>
              <a:rPr lang="en-US" dirty="0" err="1"/>
              <a:t>Evanbot</a:t>
            </a:r>
            <a:r>
              <a:rPr lang="en-US" dirty="0"/>
              <a:t>” back, then yes, Eve has the first power of chosen-plaintext). </a:t>
            </a:r>
          </a:p>
          <a:p>
            <a:r>
              <a:rPr lang="en-US" dirty="0"/>
              <a:t>The second example is whether Eve can trick Bob by asking hey, can you tell me what the decrypted value of &lt;insert garbage here&gt; is? And if Bob </a:t>
            </a:r>
            <a:r>
              <a:rPr lang="en-US" dirty="0" err="1"/>
              <a:t>dutifying</a:t>
            </a:r>
            <a:r>
              <a:rPr lang="en-US" dirty="0"/>
              <a:t> responds yes, then this is chosen-ciphertext.</a:t>
            </a:r>
          </a:p>
          <a:p>
            <a:endParaRPr lang="en-US" dirty="0"/>
          </a:p>
          <a:p>
            <a:r>
              <a:rPr lang="en-US" dirty="0"/>
              <a:t>Why would this happen? It turns out these vulnerabilities that exist in real life. We’re not being mean to write harder exam questions, it’s because this actually simulates real life pretty well. </a:t>
            </a:r>
          </a:p>
          <a:p>
            <a:endParaRPr lang="en-US" dirty="0"/>
          </a:p>
        </p:txBody>
      </p:sp>
      <p:sp>
        <p:nvSpPr>
          <p:cNvPr id="4" name="Slide Number Placeholder 3"/>
          <p:cNvSpPr>
            <a:spLocks noGrp="1"/>
          </p:cNvSpPr>
          <p:nvPr>
            <p:ph type="sldNum" sz="quarter" idx="5"/>
          </p:nvPr>
        </p:nvSpPr>
        <p:spPr/>
        <p:txBody>
          <a:bodyPr/>
          <a:lstStyle/>
          <a:p>
            <a:fld id="{D7035AAC-7370-4508-BC8A-A8FB0FFDBC93}" type="slidenum">
              <a:rPr lang="en-US" smtClean="0"/>
              <a:t>13</a:t>
            </a:fld>
            <a:endParaRPr lang="en-US"/>
          </a:p>
        </p:txBody>
      </p:sp>
    </p:spTree>
    <p:extLst>
      <p:ext uri="{BB962C8B-B14F-4D97-AF65-F5344CB8AC3E}">
        <p14:creationId xmlns:p14="http://schemas.microsoft.com/office/powerpoint/2010/main" val="4172384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3E91-90D3-B281-3F0C-9B7EB3299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928B4-D607-EC14-4590-DB3C69E57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C9AF8-8481-50A9-793D-2C026F5EA93F}"/>
              </a:ext>
            </a:extLst>
          </p:cNvPr>
          <p:cNvSpPr>
            <a:spLocks noGrp="1"/>
          </p:cNvSpPr>
          <p:nvPr>
            <p:ph type="body" idx="1"/>
          </p:nvPr>
        </p:nvSpPr>
        <p:spPr/>
        <p:txBody>
          <a:bodyPr/>
          <a:lstStyle/>
          <a:p>
            <a:pPr marL="0" lvl="0" indent="0" algn="l" rtl="0">
              <a:spcBef>
                <a:spcPts val="0"/>
              </a:spcBef>
              <a:spcAft>
                <a:spcPts val="0"/>
              </a:spcAft>
              <a:buNone/>
            </a:pPr>
            <a:r>
              <a:rPr lang="en-US" dirty="0"/>
              <a:t>Chosen plaintext: For any message, Alice will faithfully encrypt.</a:t>
            </a:r>
          </a:p>
          <a:p>
            <a:pPr marL="0" lvl="0" indent="0" algn="l" rtl="0">
              <a:spcBef>
                <a:spcPts val="0"/>
              </a:spcBef>
              <a:spcAft>
                <a:spcPts val="0"/>
              </a:spcAft>
              <a:buNone/>
            </a:pPr>
            <a:r>
              <a:rPr lang="en-US" dirty="0"/>
              <a:t>You can pick whichever model depending on who you think your attackers are. In the real world, cryptographers use chosen plaintext-ciphertext because the security guarantees from working under that model are strongest.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don’t we choose the other ones? Well, this is the model that we believe best replicates real life as we want for this class. We’re not as interested in what Eve wants to do, but rather what Eve can do. In our model, we believe that it’s not super helpful for Eve to have the second power, but you can have your own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chosen plaintext-ciphertext model:  real-world attackers often have this level of power, e.g., Padding Oracle Attack</a:t>
            </a:r>
          </a:p>
        </p:txBody>
      </p:sp>
      <p:sp>
        <p:nvSpPr>
          <p:cNvPr id="4" name="Slide Number Placeholder 3">
            <a:extLst>
              <a:ext uri="{FF2B5EF4-FFF2-40B4-BE49-F238E27FC236}">
                <a16:creationId xmlns:a16="http://schemas.microsoft.com/office/drawing/2014/main" id="{ADDDD84E-210E-8163-A5C3-DB6DF661546A}"/>
              </a:ext>
            </a:extLst>
          </p:cNvPr>
          <p:cNvSpPr>
            <a:spLocks noGrp="1"/>
          </p:cNvSpPr>
          <p:nvPr>
            <p:ph type="sldNum" sz="quarter" idx="5"/>
          </p:nvPr>
        </p:nvSpPr>
        <p:spPr/>
        <p:txBody>
          <a:bodyPr/>
          <a:lstStyle/>
          <a:p>
            <a:fld id="{D7035AAC-7370-4508-BC8A-A8FB0FFDBC93}" type="slidenum">
              <a:rPr lang="en-US" smtClean="0"/>
              <a:t>14</a:t>
            </a:fld>
            <a:endParaRPr lang="en-US"/>
          </a:p>
        </p:txBody>
      </p:sp>
    </p:spTree>
    <p:extLst>
      <p:ext uri="{BB962C8B-B14F-4D97-AF65-F5344CB8AC3E}">
        <p14:creationId xmlns:p14="http://schemas.microsoft.com/office/powerpoint/2010/main" val="2770970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19 to page 27 are not required</a:t>
            </a:r>
          </a:p>
        </p:txBody>
      </p:sp>
      <p:sp>
        <p:nvSpPr>
          <p:cNvPr id="4" name="Slide Number Placeholder 3"/>
          <p:cNvSpPr>
            <a:spLocks noGrp="1"/>
          </p:cNvSpPr>
          <p:nvPr>
            <p:ph type="sldNum" sz="quarter" idx="5"/>
          </p:nvPr>
        </p:nvSpPr>
        <p:spPr/>
        <p:txBody>
          <a:bodyPr/>
          <a:lstStyle/>
          <a:p>
            <a:fld id="{D7035AAC-7370-4508-BC8A-A8FB0FFDBC93}" type="slidenum">
              <a:rPr lang="en-US" smtClean="0"/>
              <a:t>19</a:t>
            </a:fld>
            <a:endParaRPr lang="en-US"/>
          </a:p>
        </p:txBody>
      </p:sp>
    </p:spTree>
    <p:extLst>
      <p:ext uri="{BB962C8B-B14F-4D97-AF65-F5344CB8AC3E}">
        <p14:creationId xmlns:p14="http://schemas.microsoft.com/office/powerpoint/2010/main" val="316001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EF173-33CC-33A0-BD44-F26E77A15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CE0BB-F6C9-3D04-41B9-1E608BA50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903B8B-394A-F8D3-40F9-BBA173E6FE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6AA8AD-7A1C-AF35-2482-23679EDE2D4E}"/>
              </a:ext>
            </a:extLst>
          </p:cNvPr>
          <p:cNvSpPr>
            <a:spLocks noGrp="1"/>
          </p:cNvSpPr>
          <p:nvPr>
            <p:ph type="sldNum" sz="quarter" idx="5"/>
          </p:nvPr>
        </p:nvSpPr>
        <p:spPr/>
        <p:txBody>
          <a:bodyPr/>
          <a:lstStyle/>
          <a:p>
            <a:fld id="{D7035AAC-7370-4508-BC8A-A8FB0FFDBC93}" type="slidenum">
              <a:rPr lang="en-US" smtClean="0"/>
              <a:t>20</a:t>
            </a:fld>
            <a:endParaRPr lang="en-US"/>
          </a:p>
        </p:txBody>
      </p:sp>
    </p:spTree>
    <p:extLst>
      <p:ext uri="{BB962C8B-B14F-4D97-AF65-F5344CB8AC3E}">
        <p14:creationId xmlns:p14="http://schemas.microsoft.com/office/powerpoint/2010/main" val="1031320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A9C40-038A-75DE-55FF-F82BDAF86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E473B-062D-0BF0-1EA7-2E76C863A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20A0F-B889-250C-F6D5-180861C6E3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C4D46-1A86-A918-94C0-2F85ADB6CBCA}"/>
              </a:ext>
            </a:extLst>
          </p:cNvPr>
          <p:cNvSpPr>
            <a:spLocks noGrp="1"/>
          </p:cNvSpPr>
          <p:nvPr>
            <p:ph type="sldNum" sz="quarter" idx="5"/>
          </p:nvPr>
        </p:nvSpPr>
        <p:spPr/>
        <p:txBody>
          <a:bodyPr/>
          <a:lstStyle/>
          <a:p>
            <a:fld id="{D7035AAC-7370-4508-BC8A-A8FB0FFDBC93}" type="slidenum">
              <a:rPr lang="en-US" smtClean="0"/>
              <a:t>21</a:t>
            </a:fld>
            <a:endParaRPr lang="en-US"/>
          </a:p>
        </p:txBody>
      </p:sp>
    </p:spTree>
    <p:extLst>
      <p:ext uri="{BB962C8B-B14F-4D97-AF65-F5344CB8AC3E}">
        <p14:creationId xmlns:p14="http://schemas.microsoft.com/office/powerpoint/2010/main" val="1269327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f(c): This represents the frequency of each character 𝑐c in the ciphertext. By counting how often each letter appears in the encrypted text, you can begin to infer possible shifts used in the Caesar cipher.</a:t>
            </a:r>
          </a:p>
          <a:p>
            <a:endParaRPr lang="en-US" dirty="0"/>
          </a:p>
          <a:p>
            <a:r>
              <a:rPr lang="en-US" dirty="0"/>
              <a:t>φ(i): This function, φ, measures the correlation between the frequency of letters in the ciphertext and the expected frequency of letters in English, assuming the Caesar cipher shift (key) is 𝑖i. The idea is that English text has a known frequency distribution of letters, and a correct shift should align ciphertext character frequencies closely with this distribution.</a:t>
            </a:r>
          </a:p>
          <a:p>
            <a:endParaRPr lang="en-US" dirty="0"/>
          </a:p>
          <a:p>
            <a:r>
              <a:rPr lang="en-US" dirty="0"/>
              <a:t>The formula for φ(i) sums the products of 𝑓(𝑐)f(c), the frequency of each letter in the ciphertext, and 𝑝(𝑐−𝑖)p(c−i), the frequency of the corresponding English letter adjusted by the shift 𝑖i.</a:t>
            </a:r>
          </a:p>
          <a:p>
            <a:endParaRPr lang="en-US" dirty="0"/>
          </a:p>
          <a:p>
            <a:r>
              <a:rPr lang="en-US" dirty="0"/>
              <a:t>The φ function uses weights (e.g., 0.1, 0.3, etc.) to emphasize certain letters in the English language that are more common, improving the alignment measurement.</a:t>
            </a:r>
          </a:p>
          <a:p>
            <a:endParaRPr lang="en-US" dirty="0"/>
          </a:p>
          <a:p>
            <a:r>
              <a:rPr lang="en-US" dirty="0"/>
              <a:t>Why do we focus on p(6 – i) , p(7-i), ..., p(25-i): </a:t>
            </a:r>
          </a:p>
          <a:p>
            <a:endParaRPr lang="en-US" dirty="0"/>
          </a:p>
          <a:p>
            <a:pPr marL="228600" indent="-228600">
              <a:buAutoNum type="arabicPeriod"/>
            </a:pPr>
            <a:r>
              <a:rPr lang="en-US" dirty="0"/>
              <a:t>Common English Letter Frequencies: Certain letters in English (like E, T, A, O, I, N, etc.) are more frequent than others. By focusing on these high-frequency letters, we increase the likelihood of matching the ciphertext's most common letters to their corresponding plaintext letters, even when shifted.</a:t>
            </a:r>
          </a:p>
          <a:p>
            <a:pPr marL="228600" indent="-228600">
              <a:buAutoNum type="arabicPeriod"/>
            </a:pPr>
            <a:r>
              <a:rPr lang="en-US" dirty="0"/>
              <a:t>Weighted Matching: The formula weights certain positions more heavily (e.g., 0.3 for 𝑝(14−𝑖)p(14−i) and 0.2 for 𝑝(17−𝑖)p(17−i)) to emphasize the contribution of these common letters. This improves the accuracy of the match between the observed frequencies in the ciphertext and the expected frequencies in English, as these letters provide stronger clues.</a:t>
            </a:r>
          </a:p>
          <a:p>
            <a:pPr marL="228600" indent="-228600">
              <a:buAutoNum type="arabicPeriod"/>
            </a:pPr>
            <a:r>
              <a:rPr lang="en-US" dirty="0"/>
              <a:t>Shifted Correlation: By examining 𝑝(𝑐−𝑖)p(c−i) for each possible shift 𝑖i, we align the ciphertext with various hypothetical English distributions. If we use the most frequent English letters, we can detect the shift that most closely resembles natural English text.</a:t>
            </a:r>
          </a:p>
          <a:p>
            <a:pPr marL="228600" indent="-228600">
              <a:buAutoNum type="arabicPeriod"/>
            </a:pPr>
            <a:r>
              <a:rPr lang="en-US" dirty="0"/>
              <a:t>Efficiency: Focusing on specific values like 𝑝(6−𝑖)p(6−i) through 𝑝(25−𝑖)p(25−i) rather than all possible letters reduces the computational load and increases the likelihood of identifying the correct key by leveraging known letter distributions effectively.</a:t>
            </a:r>
          </a:p>
        </p:txBody>
      </p:sp>
      <p:sp>
        <p:nvSpPr>
          <p:cNvPr id="4" name="Slide Number Placeholder 3"/>
          <p:cNvSpPr>
            <a:spLocks noGrp="1"/>
          </p:cNvSpPr>
          <p:nvPr>
            <p:ph type="sldNum" sz="quarter" idx="5"/>
          </p:nvPr>
        </p:nvSpPr>
        <p:spPr/>
        <p:txBody>
          <a:bodyPr/>
          <a:lstStyle/>
          <a:p>
            <a:fld id="{D7035AAC-7370-4508-BC8A-A8FB0FFDBC93}" type="slidenum">
              <a:rPr lang="en-US" smtClean="0"/>
              <a:t>35</a:t>
            </a:fld>
            <a:endParaRPr lang="en-US"/>
          </a:p>
        </p:txBody>
      </p:sp>
    </p:spTree>
    <p:extLst>
      <p:ext uri="{BB962C8B-B14F-4D97-AF65-F5344CB8AC3E}">
        <p14:creationId xmlns:p14="http://schemas.microsoft.com/office/powerpoint/2010/main" val="1576780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r>
              <a:rPr lang="en-US" dirty="0"/>
              <a:t>Determine the Key Length: To apply frequency analysis effectively, you first need to know the length of the key. This can be estimated using methods like the </a:t>
            </a:r>
            <a:r>
              <a:rPr lang="en-US" dirty="0" err="1"/>
              <a:t>Kasiski</a:t>
            </a:r>
            <a:r>
              <a:rPr lang="en-US" dirty="0"/>
              <a:t> Examination (</a:t>
            </a:r>
            <a:r>
              <a:rPr lang="en-US" dirty="0" err="1">
                <a:hlinkClick r:id="rId3"/>
              </a:rPr>
              <a:t>Kasiski</a:t>
            </a:r>
            <a:r>
              <a:rPr lang="en-US" dirty="0">
                <a:hlinkClick r:id="rId3"/>
              </a:rPr>
              <a:t> examination - Wikipedia</a:t>
            </a:r>
            <a:r>
              <a:rPr lang="en-US" dirty="0"/>
              <a:t>) or the Friedman Test (</a:t>
            </a:r>
            <a:r>
              <a:rPr lang="en-US" dirty="0">
                <a:hlinkClick r:id="rId4"/>
              </a:rPr>
              <a:t>Friedman test - Wikipedia</a:t>
            </a:r>
            <a:r>
              <a:rPr lang="en-US" dirty="0"/>
              <a:t>) (Index of Coincidence). Once you know the key length (let’s say it’s 𝑛n), you can proceed to analyze the ciphertext.</a:t>
            </a:r>
          </a:p>
          <a:p>
            <a:pPr marL="228600" indent="-228600">
              <a:buAutoNum type="arabicPeriod"/>
            </a:pPr>
            <a:endParaRPr lang="en-US" dirty="0"/>
          </a:p>
          <a:p>
            <a:pPr marL="228600" indent="-228600">
              <a:buAutoNum type="arabicPeriod"/>
            </a:pPr>
            <a:r>
              <a:rPr lang="en-US" dirty="0"/>
              <a:t>Divide the Ciphertext into Key-Length Groups: Divide the ciphertext into 𝑛n groups, where each group corresponds to characters encrypted with the same letter of the key. </a:t>
            </a:r>
          </a:p>
          <a:p>
            <a:pPr marL="685800" lvl="1" indent="-228600">
              <a:buAutoNum type="arabicPeriod"/>
            </a:pPr>
            <a:r>
              <a:rPr lang="en-US" dirty="0"/>
              <a:t>For example, if the key length is 4, then split the ciphertext into four separate groups, where: The first group contains all characters encrypted with the first letter of the key. The second group contains all characters encrypted with the second letter of the key, and so on. </a:t>
            </a:r>
          </a:p>
          <a:p>
            <a:pPr marL="685800" lvl="1" indent="-228600">
              <a:buAutoNum type="arabicPeriod"/>
            </a:pPr>
            <a:endParaRPr lang="en-US" dirty="0"/>
          </a:p>
          <a:p>
            <a:pPr marL="228600" lvl="0" indent="-228600">
              <a:buAutoNum type="arabicPeriod"/>
            </a:pPr>
            <a:r>
              <a:rPr lang="en-US" dirty="0"/>
              <a:t>Analyze Each Group Separately: Each group can be thought of as a Caesar cipher, where each letter in the group was shifted by a specific amount according to the corresponding letter in the key. </a:t>
            </a:r>
          </a:p>
          <a:p>
            <a:pPr marL="685800" lvl="1" indent="-228600">
              <a:buAutoNum type="arabicPeriod"/>
            </a:pPr>
            <a:r>
              <a:rPr lang="en-US" dirty="0"/>
              <a:t>For each group, apply frequency analysis as if it were a separate Caesar cipher. In English text, certain letters (like E, T, A, O, N, and R) appear more frequently than others. By comparing the frequency distribution in each group to typical English frequencies, you can make educated guesses about the shift value.</a:t>
            </a:r>
          </a:p>
          <a:p>
            <a:pPr marL="685800" lvl="1" indent="-228600">
              <a:buAutoNum type="arabicPeriod"/>
            </a:pPr>
            <a:endParaRPr lang="en-US" dirty="0"/>
          </a:p>
          <a:p>
            <a:pPr marL="228600" lvl="0" indent="-228600">
              <a:buAutoNum type="arabicPeriod"/>
            </a:pPr>
            <a:r>
              <a:rPr lang="en-US" dirty="0"/>
              <a:t>Frequency Distribution Matching: </a:t>
            </a:r>
          </a:p>
          <a:p>
            <a:pPr marL="685800" lvl="1" indent="-228600">
              <a:buAutoNum type="arabicPeriod"/>
            </a:pPr>
            <a:r>
              <a:rPr lang="en-US" dirty="0"/>
              <a:t>For each group, calculate the frequency of each letter. This will give you a frequency distribution for that group.</a:t>
            </a:r>
          </a:p>
          <a:p>
            <a:pPr marL="685800" lvl="1" indent="-228600">
              <a:buAutoNum type="arabicPeriod"/>
            </a:pPr>
            <a:r>
              <a:rPr lang="en-US" dirty="0"/>
              <a:t>Compare this distribution to the expected distribution of letters in English. English text has a known letter frequency order (e.g., E is the most common letter, followed by T, A, etc.).</a:t>
            </a:r>
          </a:p>
          <a:p>
            <a:pPr marL="685800" lvl="1" indent="-228600">
              <a:buAutoNum type="arabicPeriod"/>
            </a:pPr>
            <a:r>
              <a:rPr lang="en-US" dirty="0"/>
              <a:t>Shift the letters in each group by different amounts until the distribution matches the typical English distribution as closely as possible.</a:t>
            </a:r>
          </a:p>
          <a:p>
            <a:pPr marL="685800" lvl="1" indent="-228600">
              <a:buAutoNum type="arabicPeriod"/>
            </a:pPr>
            <a:endParaRPr lang="en-US" dirty="0"/>
          </a:p>
          <a:p>
            <a:pPr marL="228600" lvl="0" indent="-228600">
              <a:buAutoNum type="arabicPeriod"/>
            </a:pPr>
            <a:r>
              <a:rPr lang="en-US" dirty="0"/>
              <a:t>Determine the Shift for Each Group (i.e., Each Letter in the Key): The amount you need to shift each group’s frequency distribution to align with English frequencies is the shift for that group, which corresponds to a letter in the key.</a:t>
            </a:r>
          </a:p>
          <a:p>
            <a:pPr marL="685800" lvl="1" indent="-228600">
              <a:buAutoNum type="arabicPeriod"/>
            </a:pPr>
            <a:r>
              <a:rPr lang="en-US" dirty="0"/>
              <a:t>For example, if the most frequent letter in a group is "K" but you expect it to align with "E" (the most common letter in English), the shift is likely to be 𝐾−𝐸K−E (in alphabetical index positions).</a:t>
            </a:r>
          </a:p>
          <a:p>
            <a:pPr marL="685800" lvl="1" indent="-228600">
              <a:buAutoNum type="arabicPeriod"/>
            </a:pPr>
            <a:endParaRPr lang="en-US" dirty="0"/>
          </a:p>
          <a:p>
            <a:pPr marL="228600" lvl="0" indent="-228600">
              <a:buAutoNum type="arabicPeriod"/>
            </a:pPr>
            <a:r>
              <a:rPr lang="en-US" dirty="0"/>
              <a:t>Reconstruct the Key: After determining the shifts for each group, you can reconstruct the key by mapping each shift to a letter. For example, if you determined the shifts as 3, 15, 7, and 12, you’d convert these to letters (D, P, H, and M if using a 0-indexed alphabet). This gives you the key for the Vigenère cipher, which you can then use to decrypt the entire ciphertext.</a:t>
            </a:r>
          </a:p>
        </p:txBody>
      </p:sp>
      <p:sp>
        <p:nvSpPr>
          <p:cNvPr id="4" name="Slide Number Placeholder 3"/>
          <p:cNvSpPr>
            <a:spLocks noGrp="1"/>
          </p:cNvSpPr>
          <p:nvPr>
            <p:ph type="sldNum" sz="quarter" idx="5"/>
          </p:nvPr>
        </p:nvSpPr>
        <p:spPr/>
        <p:txBody>
          <a:bodyPr/>
          <a:lstStyle/>
          <a:p>
            <a:fld id="{D7035AAC-7370-4508-BC8A-A8FB0FFDBC93}" type="slidenum">
              <a:rPr lang="en-US" smtClean="0"/>
              <a:t>38</a:t>
            </a:fld>
            <a:endParaRPr lang="en-US"/>
          </a:p>
        </p:txBody>
      </p:sp>
    </p:spTree>
    <p:extLst>
      <p:ext uri="{BB962C8B-B14F-4D97-AF65-F5344CB8AC3E}">
        <p14:creationId xmlns:p14="http://schemas.microsoft.com/office/powerpoint/2010/main" val="2296328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C89AA-7597-27E6-4B3B-165FD38113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3A250F-C38B-8C9E-643A-C388525BB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C440C6-A366-34E5-0395-C5FC04FAA4DD}"/>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5E6F092B-0D35-CF9C-BFD1-3C0A42427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54963-FAD9-7042-D3F6-1D4BFA6DD2BE}"/>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189884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F38FB-4672-84D6-9ECF-2582DAE63D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B6A606-632B-0D99-676A-75C7465286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F1C205-B633-6210-6B52-CF27907E7943}"/>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F1C5BA43-1D84-ECFF-F89C-11FF7AFF6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C79E1-62C4-76DF-524D-8AFF3321DBC9}"/>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26982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5A5D0-102E-A4AB-E12C-D0EF80064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F1E2F9-7F11-DA53-9500-714C9CD5CA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1758D-FDCC-1CBC-A227-8C629BDD7FCE}"/>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2C6B4290-B339-3A27-B1A2-360BA5435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E67AE-D729-DFD1-9FCC-D3379969726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757689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01D9D-86AA-1DA0-6F52-CE87D96BE9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410483-B2C1-19A3-C03D-41171D726A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5B85F0-0D4F-659B-B6E8-07E9ED34A6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26A22F-64C6-7444-0C21-99A54DB9E828}"/>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6" name="Footer Placeholder 5">
            <a:extLst>
              <a:ext uri="{FF2B5EF4-FFF2-40B4-BE49-F238E27FC236}">
                <a16:creationId xmlns:a16="http://schemas.microsoft.com/office/drawing/2014/main" id="{2434B0F6-B65C-5EF3-2CE5-CF72001DF4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B24BF5-7203-64E6-7BB9-0B183F33EA8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90775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F6B1-44FB-BE0C-62B6-DF2C89F1C0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374C3B-3EAC-2D57-6B7D-C428083FE3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ED756-5EC1-9E6E-2BC5-3BD2EF6158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06FB6D-80D4-9AFB-52E5-49F352291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8248CB-1C8C-92EB-376F-3A8B023936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5DB157-3765-A591-B7E4-81438D2B3FF4}"/>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8" name="Footer Placeholder 7">
            <a:extLst>
              <a:ext uri="{FF2B5EF4-FFF2-40B4-BE49-F238E27FC236}">
                <a16:creationId xmlns:a16="http://schemas.microsoft.com/office/drawing/2014/main" id="{2663FA94-EC48-6267-BCB9-CE7CCD348A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E7736C-66C9-366B-DBBA-FED46BA3545A}"/>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059693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4F6F1-C4B2-D0B2-7AFB-9F4D5554FA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785612-43F3-6319-EA18-DBF8D841F125}"/>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4" name="Footer Placeholder 3">
            <a:extLst>
              <a:ext uri="{FF2B5EF4-FFF2-40B4-BE49-F238E27FC236}">
                <a16:creationId xmlns:a16="http://schemas.microsoft.com/office/drawing/2014/main" id="{9E904F2A-69D3-2069-9FD6-109D75C7FA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0843D0-3C88-8FF5-00FC-63CCF3E59338}"/>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48980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D0ED8-2BC1-E058-3233-2CB55A61008B}"/>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3" name="Footer Placeholder 2">
            <a:extLst>
              <a:ext uri="{FF2B5EF4-FFF2-40B4-BE49-F238E27FC236}">
                <a16:creationId xmlns:a16="http://schemas.microsoft.com/office/drawing/2014/main" id="{E90DD15B-52EA-8639-D650-17638EDAF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CC276E-2FF3-F7DF-E56A-D8557FF85D16}"/>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109218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BF77B-DF7F-1039-2FDE-3CAA47CFC0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FEC513-2670-001B-1398-A757B74AD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787C18-8AFD-76F8-5A13-D63EF126C0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F9F44-C0C9-762C-D3B7-8E9A4E6751AC}"/>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6" name="Footer Placeholder 5">
            <a:extLst>
              <a:ext uri="{FF2B5EF4-FFF2-40B4-BE49-F238E27FC236}">
                <a16:creationId xmlns:a16="http://schemas.microsoft.com/office/drawing/2014/main" id="{B5093F5E-A0F4-990A-3099-D31971ED3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9DAA0A-0BFF-05A3-C830-DE2AA69760E1}"/>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463092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785E-4CD0-1356-B10D-89EB55A9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77B4AD-E4CD-FB43-7A4B-5DAD73EB13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A929ED-DDDC-9046-162C-D396D5127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C0AC9-AF9C-496B-BFCB-2E47C55E819B}"/>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6" name="Footer Placeholder 5">
            <a:extLst>
              <a:ext uri="{FF2B5EF4-FFF2-40B4-BE49-F238E27FC236}">
                <a16:creationId xmlns:a16="http://schemas.microsoft.com/office/drawing/2014/main" id="{4206D13E-3922-C306-EBBA-33294AEAF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1149A6-CDA4-763B-5509-DA48E0C177D9}"/>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21214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C605-88D4-0F9C-4F60-310EE2E379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DE074-2B08-5145-AF9B-B16BFC605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BF8A8-94C3-7EA4-D45D-28A79090DA3E}"/>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D2F1A773-C714-281A-5613-9B053EDD72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827342-3B72-1BDA-2FAE-1B9F8EE354EF}"/>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92997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B36272-B555-A18A-4E91-55A0DA4CE0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FAACA-DE2A-45E4-D950-C827C61CE4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C5816-E40E-64C9-39E4-531EA142D23D}"/>
              </a:ext>
            </a:extLst>
          </p:cNvPr>
          <p:cNvSpPr>
            <a:spLocks noGrp="1"/>
          </p:cNvSpPr>
          <p:nvPr>
            <p:ph type="dt" sz="half" idx="10"/>
          </p:nvPr>
        </p:nvSpPr>
        <p:spPr/>
        <p:txBody>
          <a:body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14B02264-0757-4D19-477B-631B634BA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D4A300-0194-C143-7967-600097FE7372}"/>
              </a:ext>
            </a:extLst>
          </p:cNvPr>
          <p:cNvSpPr>
            <a:spLocks noGrp="1"/>
          </p:cNvSpPr>
          <p:nvPr>
            <p:ph type="sldNum" sz="quarter" idx="12"/>
          </p:nvPr>
        </p:nvSpPr>
        <p:spPr/>
        <p:txBody>
          <a:bodyPr/>
          <a:lstStyle/>
          <a:p>
            <a:fld id="{12DFDFE6-3E14-4A66-A55D-A29C0C567A80}" type="slidenum">
              <a:rPr lang="en-US" smtClean="0"/>
              <a:t>‹#›</a:t>
            </a:fld>
            <a:endParaRPr lang="en-US"/>
          </a:p>
        </p:txBody>
      </p:sp>
    </p:spTree>
    <p:extLst>
      <p:ext uri="{BB962C8B-B14F-4D97-AF65-F5344CB8AC3E}">
        <p14:creationId xmlns:p14="http://schemas.microsoft.com/office/powerpoint/2010/main" val="3332775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A8022-576D-E637-28F0-3184AB8712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8BE467-9BFE-6AAE-001A-754EE5BD4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78178-8C14-256C-5E72-2D76BBCB6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CACD41-E2C3-4974-BF21-7012DD283AB9}" type="datetimeFigureOut">
              <a:rPr lang="en-US" smtClean="0"/>
              <a:t>10/30/2025</a:t>
            </a:fld>
            <a:endParaRPr lang="en-US"/>
          </a:p>
        </p:txBody>
      </p:sp>
      <p:sp>
        <p:nvSpPr>
          <p:cNvPr id="5" name="Footer Placeholder 4">
            <a:extLst>
              <a:ext uri="{FF2B5EF4-FFF2-40B4-BE49-F238E27FC236}">
                <a16:creationId xmlns:a16="http://schemas.microsoft.com/office/drawing/2014/main" id="{C5C2F6E3-A01E-6FEB-F4E0-DC31DE4F9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02900C8-10FC-D739-7E8D-A2939CC9D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DFDFE6-3E14-4A66-A55D-A29C0C567A80}" type="slidenum">
              <a:rPr lang="en-US" smtClean="0"/>
              <a:t>‹#›</a:t>
            </a:fld>
            <a:endParaRPr lang="en-US"/>
          </a:p>
        </p:txBody>
      </p:sp>
    </p:spTree>
    <p:extLst>
      <p:ext uri="{BB962C8B-B14F-4D97-AF65-F5344CB8AC3E}">
        <p14:creationId xmlns:p14="http://schemas.microsoft.com/office/powerpoint/2010/main" val="323590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PlayStation_3_homebrew"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Alice_and_Bob"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Kerckhoffs%27s_principle" TargetMode="External"/><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hyperlink" Target="https://en.wikipedia.org/wiki/Claude_Shannon" TargetMode="Externa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midway-island.com/mdy-stories/af-midway/#:~:text=The%20ruse%20worked.,miles%20away%20when%20it%20happened."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Ciphertext_indistinguishability"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9, Lecture 2: Introduction to Cryptography</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DA46-17B5-C06A-14FB-592851FD4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66B9E-F145-8272-AC79-21A51531575B}"/>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241F881-9683-06E8-DC86-39A923184FA0}"/>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What is Cryptography?</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Definitions and Cryptography Roadmap</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Symmetric-Key Encryption</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Caesar Cipher</a:t>
            </a: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389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D8E86-EF7B-2FAB-3974-199D65F44380}"/>
              </a:ext>
            </a:extLst>
          </p:cNvPr>
          <p:cNvSpPr txBox="1">
            <a:spLocks/>
          </p:cNvSpPr>
          <p:nvPr/>
        </p:nvSpPr>
        <p:spPr>
          <a:xfrm>
            <a:off x="838200" y="131031"/>
            <a:ext cx="10515600" cy="8187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What is cryptography</a:t>
            </a:r>
            <a:endParaRPr lang="en-US" dirty="0"/>
          </a:p>
        </p:txBody>
      </p:sp>
      <p:sp>
        <p:nvSpPr>
          <p:cNvPr id="3" name="Content Placeholder 2">
            <a:extLst>
              <a:ext uri="{FF2B5EF4-FFF2-40B4-BE49-F238E27FC236}">
                <a16:creationId xmlns:a16="http://schemas.microsoft.com/office/drawing/2014/main" id="{39B5EF43-ED4F-897B-5AB0-D21D9B9004C3}"/>
              </a:ext>
            </a:extLst>
          </p:cNvPr>
          <p:cNvSpPr txBox="1">
            <a:spLocks/>
          </p:cNvSpPr>
          <p:nvPr/>
        </p:nvSpPr>
        <p:spPr>
          <a:xfrm>
            <a:off x="838200" y="1110532"/>
            <a:ext cx="10515600" cy="178773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sz="2400" dirty="0"/>
              <a:t>Older definition: The study of secure communication over insecure channels</a:t>
            </a:r>
          </a:p>
          <a:p>
            <a:pPr>
              <a:spcAft>
                <a:spcPts val="600"/>
              </a:spcAft>
            </a:pPr>
            <a:r>
              <a:rPr lang="en-US" sz="2400" dirty="0"/>
              <a:t>Newer definition: Provide rigorous guarantees about the </a:t>
            </a:r>
            <a:r>
              <a:rPr lang="en-US" sz="2400" i="1" dirty="0">
                <a:solidFill>
                  <a:srgbClr val="C00000"/>
                </a:solidFill>
              </a:rPr>
              <a:t>data</a:t>
            </a:r>
            <a:r>
              <a:rPr lang="en-US" sz="2400" dirty="0"/>
              <a:t> and </a:t>
            </a:r>
            <a:r>
              <a:rPr lang="en-US" sz="2400" i="1" dirty="0">
                <a:solidFill>
                  <a:srgbClr val="C00000"/>
                </a:solidFill>
              </a:rPr>
              <a:t>computation</a:t>
            </a:r>
            <a:r>
              <a:rPr lang="en-US" sz="2400" dirty="0"/>
              <a:t> in the presence of an attacker</a:t>
            </a:r>
          </a:p>
          <a:p>
            <a:pPr lvl="1">
              <a:spcAft>
                <a:spcPts val="600"/>
              </a:spcAft>
            </a:pPr>
            <a:r>
              <a:rPr lang="en-US" sz="2000" dirty="0"/>
              <a:t>Not just </a:t>
            </a:r>
            <a:r>
              <a:rPr lang="en-US" sz="2000" b="1" dirty="0"/>
              <a:t>confidentiality</a:t>
            </a:r>
            <a:r>
              <a:rPr lang="en-US" sz="2000" dirty="0"/>
              <a:t> but also </a:t>
            </a:r>
            <a:r>
              <a:rPr lang="en-US" sz="2000" b="1" dirty="0"/>
              <a:t>integrity</a:t>
            </a:r>
            <a:r>
              <a:rPr lang="en-US" sz="2000" dirty="0"/>
              <a:t> and </a:t>
            </a:r>
            <a:r>
              <a:rPr lang="en-US" sz="2000" b="1" dirty="0"/>
              <a:t>authenticity</a:t>
            </a:r>
          </a:p>
        </p:txBody>
      </p:sp>
      <p:sp>
        <p:nvSpPr>
          <p:cNvPr id="5" name="TextBox 4">
            <a:extLst>
              <a:ext uri="{FF2B5EF4-FFF2-40B4-BE49-F238E27FC236}">
                <a16:creationId xmlns:a16="http://schemas.microsoft.com/office/drawing/2014/main" id="{54360148-9F07-504A-DE13-C218E89EDA9B}"/>
              </a:ext>
            </a:extLst>
          </p:cNvPr>
          <p:cNvSpPr txBox="1"/>
          <p:nvPr/>
        </p:nvSpPr>
        <p:spPr>
          <a:xfrm>
            <a:off x="1" y="3147500"/>
            <a:ext cx="5324168" cy="3016210"/>
          </a:xfrm>
          <a:prstGeom prst="rect">
            <a:avLst/>
          </a:prstGeom>
          <a:noFill/>
        </p:spPr>
        <p:txBody>
          <a:bodyPr wrap="square">
            <a:spAutoFit/>
          </a:bodyPr>
          <a:lstStyle/>
          <a:p>
            <a:pPr>
              <a:spcAft>
                <a:spcPts val="600"/>
              </a:spcAft>
            </a:pPr>
            <a:r>
              <a:rPr lang="en-US" sz="2000" dirty="0"/>
              <a:t>Modern cryptography involves a lot of math:</a:t>
            </a:r>
          </a:p>
          <a:p>
            <a:pPr marL="342900" indent="-342900">
              <a:spcAft>
                <a:spcPts val="600"/>
              </a:spcAft>
              <a:buFont typeface="Arial" panose="020B0604020202020204" pitchFamily="34" charset="0"/>
              <a:buChar char="•"/>
            </a:pPr>
            <a:r>
              <a:rPr lang="en-US" sz="2000" dirty="0"/>
              <a:t>Discrete Math</a:t>
            </a:r>
          </a:p>
          <a:p>
            <a:pPr marL="342900" indent="-342900">
              <a:spcAft>
                <a:spcPts val="600"/>
              </a:spcAft>
              <a:buFont typeface="Arial" panose="020B0604020202020204" pitchFamily="34" charset="0"/>
              <a:buChar char="•"/>
            </a:pPr>
            <a:r>
              <a:rPr lang="en-US" sz="2000" dirty="0"/>
              <a:t>Probability Theory</a:t>
            </a:r>
          </a:p>
          <a:p>
            <a:pPr marL="342900" indent="-342900">
              <a:spcAft>
                <a:spcPts val="600"/>
              </a:spcAft>
              <a:buFont typeface="Arial" panose="020B0604020202020204" pitchFamily="34" charset="0"/>
              <a:buChar char="•"/>
            </a:pPr>
            <a:r>
              <a:rPr lang="en-US" sz="2000" dirty="0"/>
              <a:t>Linear Algebra</a:t>
            </a:r>
          </a:p>
          <a:p>
            <a:pPr marL="342900" indent="-342900">
              <a:spcAft>
                <a:spcPts val="600"/>
              </a:spcAft>
              <a:buFont typeface="Arial" panose="020B0604020202020204" pitchFamily="34" charset="0"/>
              <a:buChar char="•"/>
            </a:pPr>
            <a:r>
              <a:rPr lang="en-US" sz="2000" dirty="0"/>
              <a:t>Abstract Algebra</a:t>
            </a:r>
          </a:p>
          <a:p>
            <a:pPr marL="342900" indent="-342900">
              <a:spcAft>
                <a:spcPts val="600"/>
              </a:spcAft>
              <a:buFont typeface="Arial" panose="020B0604020202020204" pitchFamily="34" charset="0"/>
              <a:buChar char="•"/>
            </a:pPr>
            <a:r>
              <a:rPr lang="en-US" sz="2000" dirty="0"/>
              <a:t>Number Theory, and more…</a:t>
            </a:r>
          </a:p>
          <a:p>
            <a:pPr>
              <a:spcAft>
                <a:spcPts val="600"/>
              </a:spcAft>
            </a:pPr>
            <a:r>
              <a:rPr lang="en" sz="2000" dirty="0"/>
              <a:t>We will teach you the basic building blocks of cryptography without going into the details</a:t>
            </a:r>
            <a:endParaRPr lang="en-US" sz="2000" dirty="0"/>
          </a:p>
        </p:txBody>
      </p:sp>
      <p:sp>
        <p:nvSpPr>
          <p:cNvPr id="7" name="TextBox 6">
            <a:extLst>
              <a:ext uri="{FF2B5EF4-FFF2-40B4-BE49-F238E27FC236}">
                <a16:creationId xmlns:a16="http://schemas.microsoft.com/office/drawing/2014/main" id="{0990F940-F3BF-93DB-A4CD-6D195A70A0DB}"/>
              </a:ext>
            </a:extLst>
          </p:cNvPr>
          <p:cNvSpPr txBox="1"/>
          <p:nvPr/>
        </p:nvSpPr>
        <p:spPr>
          <a:xfrm>
            <a:off x="5834832" y="3147500"/>
            <a:ext cx="6357168" cy="3046988"/>
          </a:xfrm>
          <a:prstGeom prst="rect">
            <a:avLst/>
          </a:prstGeom>
          <a:noFill/>
        </p:spPr>
        <p:txBody>
          <a:bodyPr wrap="square">
            <a:spAutoFit/>
          </a:bodyPr>
          <a:lstStyle/>
          <a:p>
            <a:pPr>
              <a:spcAft>
                <a:spcPts val="600"/>
              </a:spcAft>
            </a:pPr>
            <a:r>
              <a:rPr lang="en-US" dirty="0"/>
              <a:t>It’s very easy to make a mistake that makes your code insecure</a:t>
            </a:r>
          </a:p>
          <a:p>
            <a:pPr marL="285750" indent="-285750">
              <a:spcAft>
                <a:spcPts val="600"/>
              </a:spcAft>
              <a:buFont typeface="Arial" panose="020B0604020202020204" pitchFamily="34" charset="0"/>
              <a:buChar char="•"/>
            </a:pPr>
            <a:r>
              <a:rPr lang="en-US" dirty="0"/>
              <a:t>Lots of tricky </a:t>
            </a:r>
            <a:r>
              <a:rPr lang="en-US" b="1" i="1" dirty="0">
                <a:solidFill>
                  <a:srgbClr val="C00000"/>
                </a:solidFill>
              </a:rPr>
              <a:t>edge cases </a:t>
            </a:r>
            <a:r>
              <a:rPr lang="en-US" dirty="0"/>
              <a:t>that we won't cover</a:t>
            </a:r>
          </a:p>
          <a:p>
            <a:pPr marL="285750" indent="-285750">
              <a:spcAft>
                <a:spcPts val="600"/>
              </a:spcAft>
              <a:buFont typeface="Arial" panose="020B0604020202020204" pitchFamily="34" charset="0"/>
              <a:buChar char="•"/>
            </a:pPr>
            <a:r>
              <a:rPr lang="en-US" dirty="0"/>
              <a:t>One small bug could compromise the security of your code (</a:t>
            </a:r>
            <a:r>
              <a:rPr lang="en-US" dirty="0">
                <a:hlinkClick r:id="rId2"/>
              </a:rPr>
              <a:t>SONY PlayStation 3 Hack</a:t>
            </a:r>
            <a:r>
              <a:rPr lang="en-US" dirty="0"/>
              <a:t>)</a:t>
            </a:r>
          </a:p>
          <a:p>
            <a:pPr>
              <a:spcAft>
                <a:spcPts val="600"/>
              </a:spcAft>
            </a:pPr>
            <a:endParaRPr lang="en" dirty="0"/>
          </a:p>
          <a:p>
            <a:pPr>
              <a:spcAft>
                <a:spcPts val="600"/>
              </a:spcAft>
            </a:pPr>
            <a:r>
              <a:rPr lang="en" b="1" dirty="0">
                <a:solidFill>
                  <a:srgbClr val="C00000"/>
                </a:solidFill>
              </a:rPr>
              <a:t>Never try to write your own cryptographic algorithms:</a:t>
            </a:r>
          </a:p>
          <a:p>
            <a:pPr marL="285750" indent="-285750">
              <a:spcAft>
                <a:spcPts val="600"/>
              </a:spcAft>
              <a:buFont typeface="Arial" panose="020B0604020202020204" pitchFamily="34" charset="0"/>
              <a:buChar char="•"/>
            </a:pPr>
            <a:r>
              <a:rPr lang="en-US" dirty="0"/>
              <a:t>Use existing well-vetted cryptographic libraries</a:t>
            </a:r>
          </a:p>
          <a:p>
            <a:pPr marL="285750" indent="-285750">
              <a:spcAft>
                <a:spcPts val="600"/>
              </a:spcAft>
              <a:buFont typeface="Arial" panose="020B0604020202020204" pitchFamily="34" charset="0"/>
              <a:buChar char="•"/>
            </a:pPr>
            <a:r>
              <a:rPr lang="en-US" dirty="0"/>
              <a:t>This portion of the class is mostly about making you a good consumer of cryptography</a:t>
            </a:r>
          </a:p>
        </p:txBody>
      </p:sp>
    </p:spTree>
    <p:extLst>
      <p:ext uri="{BB962C8B-B14F-4D97-AF65-F5344CB8AC3E}">
        <p14:creationId xmlns:p14="http://schemas.microsoft.com/office/powerpoint/2010/main" val="3740531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42C1-9DEC-7ACA-5CD6-62573B5A3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B5B1E-E972-A45D-793D-0A7CA146E401}"/>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6E97963D-7BE0-A689-DC94-0B87EDE3CFAE}"/>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What is Cryptography?</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Definitions and Cryptography Roadmap</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Symmetric-Key Encryption</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Caesar Cipher</a:t>
            </a: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7530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8156A-8C43-4034-A47F-32FD22DED6C0}"/>
              </a:ext>
            </a:extLst>
          </p:cNvPr>
          <p:cNvSpPr txBox="1">
            <a:spLocks/>
          </p:cNvSpPr>
          <p:nvPr/>
        </p:nvSpPr>
        <p:spPr>
          <a:xfrm>
            <a:off x="838200" y="131031"/>
            <a:ext cx="10515600" cy="8187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Meet Alice, Bob, Eve, and Mallory </a:t>
            </a:r>
            <a:endParaRPr lang="en-US" dirty="0"/>
          </a:p>
        </p:txBody>
      </p:sp>
      <p:pic>
        <p:nvPicPr>
          <p:cNvPr id="3" name="Google Shape;124;p24">
            <a:extLst>
              <a:ext uri="{FF2B5EF4-FFF2-40B4-BE49-F238E27FC236}">
                <a16:creationId xmlns:a16="http://schemas.microsoft.com/office/drawing/2014/main" id="{6037A3D7-5644-A172-B20B-93E40396BD97}"/>
              </a:ext>
            </a:extLst>
          </p:cNvPr>
          <p:cNvPicPr preferRelativeResize="0"/>
          <p:nvPr/>
        </p:nvPicPr>
        <p:blipFill rotWithShape="1">
          <a:blip r:embed="rId2">
            <a:alphaModFix/>
          </a:blip>
          <a:srcRect b="15419"/>
          <a:stretch/>
        </p:blipFill>
        <p:spPr>
          <a:xfrm>
            <a:off x="2696497" y="3365229"/>
            <a:ext cx="6799006" cy="3445453"/>
          </a:xfrm>
          <a:prstGeom prst="rect">
            <a:avLst/>
          </a:prstGeom>
          <a:noFill/>
          <a:ln>
            <a:noFill/>
          </a:ln>
        </p:spPr>
      </p:pic>
      <p:sp>
        <p:nvSpPr>
          <p:cNvPr id="5" name="TextBox 4">
            <a:extLst>
              <a:ext uri="{FF2B5EF4-FFF2-40B4-BE49-F238E27FC236}">
                <a16:creationId xmlns:a16="http://schemas.microsoft.com/office/drawing/2014/main" id="{47619A68-43A0-0960-E73F-BE9942354984}"/>
              </a:ext>
            </a:extLst>
          </p:cNvPr>
          <p:cNvSpPr txBox="1"/>
          <p:nvPr/>
        </p:nvSpPr>
        <p:spPr>
          <a:xfrm>
            <a:off x="485082" y="1087682"/>
            <a:ext cx="10515600" cy="2277547"/>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sz="2200" dirty="0"/>
              <a:t>Alice and Bob: The main characters trying to send messages to each other over an insecure communication channel </a:t>
            </a:r>
          </a:p>
          <a:p>
            <a:pPr marL="342900" indent="-342900">
              <a:spcAft>
                <a:spcPts val="600"/>
              </a:spcAft>
              <a:buFont typeface="Arial" panose="020B0604020202020204" pitchFamily="34" charset="0"/>
              <a:buChar char="•"/>
            </a:pPr>
            <a:r>
              <a:rPr lang="en-US" sz="2200" dirty="0"/>
              <a:t>Eve: A passive attacker (</a:t>
            </a:r>
            <a:r>
              <a:rPr lang="en-US" sz="2200" dirty="0">
                <a:solidFill>
                  <a:srgbClr val="C00000"/>
                </a:solidFill>
              </a:rPr>
              <a:t>eavesdropper</a:t>
            </a:r>
            <a:r>
              <a:rPr lang="en-US" sz="2200" dirty="0"/>
              <a:t>) who can observe and read data sent over the channel, but cannot modify it</a:t>
            </a:r>
          </a:p>
          <a:p>
            <a:pPr marL="342900" indent="-342900">
              <a:spcAft>
                <a:spcPts val="600"/>
              </a:spcAft>
              <a:buFont typeface="Arial" panose="020B0604020202020204" pitchFamily="34" charset="0"/>
              <a:buChar char="•"/>
            </a:pPr>
            <a:r>
              <a:rPr lang="en-US" sz="2200" dirty="0"/>
              <a:t>Mallory: An active attacker (man-in-the-middle) who can intercept, read, modify, and even inject data sent over the channel</a:t>
            </a:r>
          </a:p>
        </p:txBody>
      </p:sp>
    </p:spTree>
    <p:extLst>
      <p:ext uri="{BB962C8B-B14F-4D97-AF65-F5344CB8AC3E}">
        <p14:creationId xmlns:p14="http://schemas.microsoft.com/office/powerpoint/2010/main" val="1814779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35FD-85C0-3A74-E556-8C76C22FA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ED35F-6AAB-D663-C953-61DECDA6E59E}"/>
              </a:ext>
            </a:extLst>
          </p:cNvPr>
          <p:cNvSpPr txBox="1">
            <a:spLocks/>
          </p:cNvSpPr>
          <p:nvPr/>
        </p:nvSpPr>
        <p:spPr>
          <a:xfrm>
            <a:off x="838200" y="131031"/>
            <a:ext cx="10515600" cy="81873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Meet Alice, Bob, Eve, and Mallory </a:t>
            </a:r>
            <a:endParaRPr lang="en-US" dirty="0"/>
          </a:p>
        </p:txBody>
      </p:sp>
      <p:pic>
        <p:nvPicPr>
          <p:cNvPr id="3" name="Google Shape;124;p24">
            <a:extLst>
              <a:ext uri="{FF2B5EF4-FFF2-40B4-BE49-F238E27FC236}">
                <a16:creationId xmlns:a16="http://schemas.microsoft.com/office/drawing/2014/main" id="{63BD7FEA-40AF-4E7A-C5C6-9D4D688321BF}"/>
              </a:ext>
            </a:extLst>
          </p:cNvPr>
          <p:cNvPicPr preferRelativeResize="0"/>
          <p:nvPr/>
        </p:nvPicPr>
        <p:blipFill rotWithShape="1">
          <a:blip r:embed="rId2">
            <a:alphaModFix/>
          </a:blip>
          <a:srcRect b="15419"/>
          <a:stretch/>
        </p:blipFill>
        <p:spPr>
          <a:xfrm>
            <a:off x="6762136" y="2072148"/>
            <a:ext cx="5356123" cy="2853813"/>
          </a:xfrm>
          <a:prstGeom prst="rect">
            <a:avLst/>
          </a:prstGeom>
          <a:noFill/>
          <a:ln>
            <a:noFill/>
          </a:ln>
        </p:spPr>
      </p:pic>
      <p:sp>
        <p:nvSpPr>
          <p:cNvPr id="7" name="TextBox 6">
            <a:extLst>
              <a:ext uri="{FF2B5EF4-FFF2-40B4-BE49-F238E27FC236}">
                <a16:creationId xmlns:a16="http://schemas.microsoft.com/office/drawing/2014/main" id="{51B8E954-5A17-EC75-05EF-AB68D678A7D4}"/>
              </a:ext>
            </a:extLst>
          </p:cNvPr>
          <p:cNvSpPr txBox="1"/>
          <p:nvPr/>
        </p:nvSpPr>
        <p:spPr>
          <a:xfrm>
            <a:off x="484238" y="1074308"/>
            <a:ext cx="6094770" cy="5355312"/>
          </a:xfrm>
          <a:prstGeom prst="rect">
            <a:avLst/>
          </a:prstGeom>
          <a:noFill/>
        </p:spPr>
        <p:txBody>
          <a:bodyPr wrap="square">
            <a:spAutoFit/>
          </a:bodyPr>
          <a:lstStyle/>
          <a:p>
            <a:pPr>
              <a:spcAft>
                <a:spcPts val="600"/>
              </a:spcAft>
            </a:pPr>
            <a:r>
              <a:rPr lang="en-US" sz="2000" dirty="0"/>
              <a:t>We often describe cryptographic problems using a common cast of characters (</a:t>
            </a:r>
            <a:r>
              <a:rPr lang="en-US" sz="2000" dirty="0">
                <a:hlinkClick r:id="rId3"/>
              </a:rPr>
              <a:t>Alice and Bob</a:t>
            </a:r>
            <a:r>
              <a:rPr lang="en-US" sz="2000" dirty="0"/>
              <a:t>)</a:t>
            </a:r>
          </a:p>
          <a:p>
            <a:pPr>
              <a:spcAft>
                <a:spcPts val="600"/>
              </a:spcAft>
            </a:pPr>
            <a:endParaRPr lang="en-US" sz="600" dirty="0"/>
          </a:p>
          <a:p>
            <a:pPr>
              <a:spcAft>
                <a:spcPts val="600"/>
              </a:spcAft>
            </a:pPr>
            <a:r>
              <a:rPr lang="en-US" sz="2000" dirty="0"/>
              <a:t>For example:</a:t>
            </a:r>
          </a:p>
          <a:p>
            <a:pPr marL="342900" indent="-342900">
              <a:spcAft>
                <a:spcPts val="600"/>
              </a:spcAft>
              <a:buFont typeface="Arial" panose="020B0604020202020204" pitchFamily="34" charset="0"/>
              <a:buChar char="•"/>
            </a:pPr>
            <a:r>
              <a:rPr lang="en-US" sz="2000" dirty="0"/>
              <a:t>Alice wants to send a message to Bob.</a:t>
            </a:r>
          </a:p>
          <a:p>
            <a:pPr marL="342900" indent="-342900">
              <a:spcAft>
                <a:spcPts val="600"/>
              </a:spcAft>
              <a:buFont typeface="Arial" panose="020B0604020202020204" pitchFamily="34" charset="0"/>
              <a:buChar char="•"/>
            </a:pPr>
            <a:r>
              <a:rPr lang="en-US" sz="2000" dirty="0"/>
              <a:t>However, Eve is going to eavesdrop on the communication channel.</a:t>
            </a:r>
          </a:p>
          <a:p>
            <a:pPr marL="342900" indent="-342900">
              <a:spcAft>
                <a:spcPts val="600"/>
              </a:spcAft>
              <a:buFont typeface="Arial" panose="020B0604020202020204" pitchFamily="34" charset="0"/>
              <a:buChar char="•"/>
            </a:pPr>
            <a:r>
              <a:rPr lang="en-US" sz="2000" dirty="0"/>
              <a:t>How does Alice send the message to Bob without Eve learning about the message? </a:t>
            </a:r>
          </a:p>
          <a:p>
            <a:pPr>
              <a:spcAft>
                <a:spcPts val="600"/>
              </a:spcAft>
            </a:pPr>
            <a:endParaRPr lang="en-US" sz="600" dirty="0"/>
          </a:p>
          <a:p>
            <a:pPr>
              <a:spcAft>
                <a:spcPts val="600"/>
              </a:spcAft>
            </a:pPr>
            <a:r>
              <a:rPr lang="en-US" sz="2000" dirty="0"/>
              <a:t>Another example:</a:t>
            </a:r>
          </a:p>
          <a:p>
            <a:pPr marL="342900" indent="-342900">
              <a:spcAft>
                <a:spcPts val="600"/>
              </a:spcAft>
              <a:buFont typeface="Arial" panose="020B0604020202020204" pitchFamily="34" charset="0"/>
              <a:buChar char="•"/>
            </a:pPr>
            <a:r>
              <a:rPr lang="en-US" sz="2000" dirty="0"/>
              <a:t>Bob wants to send a message to Alice.</a:t>
            </a:r>
          </a:p>
          <a:p>
            <a:pPr marL="342900" indent="-342900">
              <a:spcAft>
                <a:spcPts val="600"/>
              </a:spcAft>
              <a:buFont typeface="Arial" panose="020B0604020202020204" pitchFamily="34" charset="0"/>
              <a:buChar char="•"/>
            </a:pPr>
            <a:r>
              <a:rPr lang="en-US" sz="2000" dirty="0"/>
              <a:t>However, Mallory is going to tamper with the communication channel.</a:t>
            </a:r>
          </a:p>
          <a:p>
            <a:pPr marL="342900" indent="-342900">
              <a:spcAft>
                <a:spcPts val="600"/>
              </a:spcAft>
              <a:buFont typeface="Arial" panose="020B0604020202020204" pitchFamily="34" charset="0"/>
              <a:buChar char="•"/>
            </a:pPr>
            <a:r>
              <a:rPr lang="en-US" sz="2000" dirty="0"/>
              <a:t>How does Bob send the message to Alice without Mallory changing the message?</a:t>
            </a:r>
          </a:p>
        </p:txBody>
      </p:sp>
    </p:spTree>
    <p:extLst>
      <p:ext uri="{BB962C8B-B14F-4D97-AF65-F5344CB8AC3E}">
        <p14:creationId xmlns:p14="http://schemas.microsoft.com/office/powerpoint/2010/main" val="73883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09812-984F-A834-48C7-DD56CA789DBD}"/>
              </a:ext>
            </a:extLst>
          </p:cNvPr>
          <p:cNvSpPr txBox="1">
            <a:spLocks/>
          </p:cNvSpPr>
          <p:nvPr/>
        </p:nvSpPr>
        <p:spPr>
          <a:xfrm>
            <a:off x="838200" y="210268"/>
            <a:ext cx="10515600" cy="8221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dirty="0"/>
              <a:t>Three Goals of Cryptography</a:t>
            </a:r>
            <a:endParaRPr lang="en-US" dirty="0"/>
          </a:p>
        </p:txBody>
      </p:sp>
      <p:sp>
        <p:nvSpPr>
          <p:cNvPr id="3" name="Content Placeholder 2">
            <a:extLst>
              <a:ext uri="{FF2B5EF4-FFF2-40B4-BE49-F238E27FC236}">
                <a16:creationId xmlns:a16="http://schemas.microsoft.com/office/drawing/2014/main" id="{EB069A89-CEA1-CE27-B506-3380ED5AACA3}"/>
              </a:ext>
            </a:extLst>
          </p:cNvPr>
          <p:cNvSpPr txBox="1">
            <a:spLocks/>
          </p:cNvSpPr>
          <p:nvPr/>
        </p:nvSpPr>
        <p:spPr>
          <a:xfrm>
            <a:off x="619432" y="1583863"/>
            <a:ext cx="10953136" cy="36902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sz="2400" dirty="0"/>
              <a:t>In cryptography, there are three common properties that we want on our data</a:t>
            </a:r>
          </a:p>
          <a:p>
            <a:pPr marL="457200" indent="-342900">
              <a:spcBef>
                <a:spcPts val="0"/>
              </a:spcBef>
              <a:spcAft>
                <a:spcPts val="600"/>
              </a:spcAft>
              <a:buSzPts val="1800"/>
              <a:buFont typeface="Arial" panose="020B0604020202020204" pitchFamily="34" charset="0"/>
              <a:buChar char="●"/>
            </a:pPr>
            <a:r>
              <a:rPr lang="en-US" sz="2400" b="1" dirty="0"/>
              <a:t>Confidentiality</a:t>
            </a:r>
            <a:r>
              <a:rPr lang="en-US" sz="2400" dirty="0"/>
              <a:t>: An adversary cannot </a:t>
            </a:r>
            <a:r>
              <a:rPr lang="en-US" sz="2400" i="1" dirty="0"/>
              <a:t>read</a:t>
            </a:r>
            <a:r>
              <a:rPr lang="en-US" sz="2400" dirty="0"/>
              <a:t> our messages</a:t>
            </a:r>
          </a:p>
          <a:p>
            <a:pPr marL="457200" indent="-342900">
              <a:spcBef>
                <a:spcPts val="0"/>
              </a:spcBef>
              <a:spcAft>
                <a:spcPts val="600"/>
              </a:spcAft>
              <a:buSzPts val="1800"/>
              <a:buFont typeface="Arial" panose="020B0604020202020204" pitchFamily="34" charset="0"/>
              <a:buChar char="●"/>
            </a:pPr>
            <a:r>
              <a:rPr lang="en-US" sz="2400" b="1" dirty="0"/>
              <a:t>Integrity</a:t>
            </a:r>
            <a:r>
              <a:rPr lang="en-US" sz="2400" dirty="0"/>
              <a:t>: An adversary cannot </a:t>
            </a:r>
            <a:r>
              <a:rPr lang="en-US" sz="2400" i="1" dirty="0"/>
              <a:t>change</a:t>
            </a:r>
            <a:r>
              <a:rPr lang="en-US" sz="2400" dirty="0"/>
              <a:t> our messages without being detected</a:t>
            </a:r>
          </a:p>
          <a:p>
            <a:pPr marL="457200" indent="-342900">
              <a:spcBef>
                <a:spcPts val="0"/>
              </a:spcBef>
              <a:spcAft>
                <a:spcPts val="600"/>
              </a:spcAft>
              <a:buSzPts val="1800"/>
              <a:buFont typeface="Arial" panose="020B0604020202020204" pitchFamily="34" charset="0"/>
              <a:buChar char="●"/>
            </a:pPr>
            <a:r>
              <a:rPr lang="en-US" sz="2400" b="1" dirty="0"/>
              <a:t>Authenticity</a:t>
            </a:r>
            <a:r>
              <a:rPr lang="en-US" sz="2400" dirty="0"/>
              <a:t>: I can prove that this message came from the person who claims to have written it</a:t>
            </a:r>
          </a:p>
          <a:p>
            <a:pPr marL="914400" lvl="1" indent="-342900">
              <a:spcBef>
                <a:spcPts val="0"/>
              </a:spcBef>
              <a:spcAft>
                <a:spcPts val="600"/>
              </a:spcAft>
              <a:buSzPts val="1800"/>
              <a:buFont typeface="Arial" panose="020B0604020202020204" pitchFamily="34" charset="0"/>
              <a:buChar char="●"/>
            </a:pPr>
            <a:r>
              <a:rPr lang="en-US" dirty="0"/>
              <a:t>Integrity and authenticity are closely related properties:</a:t>
            </a:r>
          </a:p>
          <a:p>
            <a:pPr marL="1485900" lvl="2" indent="-457200">
              <a:spcBef>
                <a:spcPts val="0"/>
              </a:spcBef>
              <a:spcAft>
                <a:spcPts val="600"/>
              </a:spcAft>
              <a:buSzPts val="1800"/>
              <a:buFont typeface="+mj-lt"/>
              <a:buAutoNum type="arabicPeriod"/>
            </a:pPr>
            <a:r>
              <a:rPr lang="en-US" sz="2400" dirty="0"/>
              <a:t>Before I can prove that a message came from a certain person, I have to prove that the message wasn’t changed!</a:t>
            </a:r>
          </a:p>
          <a:p>
            <a:pPr marL="1485900" lvl="2" indent="-457200">
              <a:spcBef>
                <a:spcPts val="0"/>
              </a:spcBef>
              <a:spcAft>
                <a:spcPts val="600"/>
              </a:spcAft>
              <a:buSzPts val="1800"/>
              <a:buFont typeface="+mj-lt"/>
              <a:buAutoNum type="arabicPeriod"/>
            </a:pPr>
            <a:r>
              <a:rPr lang="en-US" sz="2400" dirty="0"/>
              <a:t>But they’re not identical properties. Later we’ll see some edge cases</a:t>
            </a:r>
          </a:p>
        </p:txBody>
      </p:sp>
    </p:spTree>
    <p:extLst>
      <p:ext uri="{BB962C8B-B14F-4D97-AF65-F5344CB8AC3E}">
        <p14:creationId xmlns:p14="http://schemas.microsoft.com/office/powerpoint/2010/main" val="1422123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D676C-7199-1D47-39C0-1E7F9F5D8B74}"/>
              </a:ext>
            </a:extLst>
          </p:cNvPr>
          <p:cNvSpPr txBox="1">
            <a:spLocks/>
          </p:cNvSpPr>
          <p:nvPr/>
        </p:nvSpPr>
        <p:spPr>
          <a:xfrm>
            <a:off x="838200" y="276635"/>
            <a:ext cx="10515600" cy="70413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Keys</a:t>
            </a:r>
          </a:p>
        </p:txBody>
      </p:sp>
      <p:sp>
        <p:nvSpPr>
          <p:cNvPr id="3" name="Content Placeholder 2">
            <a:extLst>
              <a:ext uri="{FF2B5EF4-FFF2-40B4-BE49-F238E27FC236}">
                <a16:creationId xmlns:a16="http://schemas.microsoft.com/office/drawing/2014/main" id="{BEC3BC6E-271B-E201-B5C2-0E995E31715B}"/>
              </a:ext>
            </a:extLst>
          </p:cNvPr>
          <p:cNvSpPr txBox="1">
            <a:spLocks/>
          </p:cNvSpPr>
          <p:nvPr/>
        </p:nvSpPr>
        <p:spPr>
          <a:xfrm>
            <a:off x="100781" y="1434795"/>
            <a:ext cx="11990438" cy="22744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sz="2400" dirty="0"/>
              <a:t>The most basic building block of any cryptographic scheme: The </a:t>
            </a:r>
            <a:r>
              <a:rPr lang="en-US" sz="2400" b="1" dirty="0"/>
              <a:t>key</a:t>
            </a:r>
          </a:p>
          <a:p>
            <a:pPr marL="457200" indent="-342900">
              <a:spcBef>
                <a:spcPts val="0"/>
              </a:spcBef>
              <a:spcAft>
                <a:spcPts val="600"/>
              </a:spcAft>
              <a:buSzPts val="1800"/>
              <a:buFont typeface="Arial" panose="020B0604020202020204" pitchFamily="34" charset="0"/>
              <a:buChar char="●"/>
            </a:pPr>
            <a:r>
              <a:rPr lang="en-US" sz="2400" dirty="0"/>
              <a:t>We can use the key in our algorithms to secure messages</a:t>
            </a:r>
          </a:p>
          <a:p>
            <a:pPr marL="457200" indent="-342900">
              <a:spcBef>
                <a:spcPts val="0"/>
              </a:spcBef>
              <a:spcAft>
                <a:spcPts val="600"/>
              </a:spcAft>
              <a:buSzPts val="1800"/>
              <a:buFont typeface="Arial" panose="020B0604020202020204" pitchFamily="34" charset="0"/>
              <a:buChar char="●"/>
            </a:pPr>
            <a:r>
              <a:rPr lang="en-US" sz="2400" dirty="0"/>
              <a:t>Two models of keys:</a:t>
            </a:r>
          </a:p>
          <a:p>
            <a:pPr marL="914400" lvl="1" indent="-342900">
              <a:spcBef>
                <a:spcPts val="0"/>
              </a:spcBef>
              <a:spcAft>
                <a:spcPts val="600"/>
              </a:spcAft>
              <a:buSzPts val="1800"/>
              <a:buFont typeface="Arial" panose="020B0604020202020204" pitchFamily="34" charset="0"/>
              <a:buChar char="●"/>
            </a:pPr>
            <a:r>
              <a:rPr lang="en-US" b="1" dirty="0"/>
              <a:t>Symmetric key model</a:t>
            </a:r>
            <a:r>
              <a:rPr lang="en-US" dirty="0"/>
              <a:t>: Alice and Bob both know the value of </a:t>
            </a:r>
            <a:r>
              <a:rPr lang="en-US" dirty="0">
                <a:solidFill>
                  <a:srgbClr val="C00000"/>
                </a:solidFill>
              </a:rPr>
              <a:t>the same secret key</a:t>
            </a:r>
          </a:p>
          <a:p>
            <a:pPr marL="914400" lvl="1" indent="-342900">
              <a:spcBef>
                <a:spcPts val="0"/>
              </a:spcBef>
              <a:spcAft>
                <a:spcPts val="600"/>
              </a:spcAft>
              <a:buSzPts val="1800"/>
              <a:buFont typeface="Arial" panose="020B0604020202020204" pitchFamily="34" charset="0"/>
              <a:buChar char="●"/>
            </a:pPr>
            <a:r>
              <a:rPr lang="en-US" b="1" dirty="0"/>
              <a:t>Asymmetric key model</a:t>
            </a:r>
            <a:r>
              <a:rPr lang="en-US" dirty="0"/>
              <a:t>: A user has </a:t>
            </a:r>
            <a:r>
              <a:rPr lang="en-US" dirty="0">
                <a:solidFill>
                  <a:srgbClr val="C00000"/>
                </a:solidFill>
              </a:rPr>
              <a:t>two keys</a:t>
            </a:r>
            <a:r>
              <a:rPr lang="en-US" dirty="0"/>
              <a:t>, a private key and a public key</a:t>
            </a:r>
          </a:p>
        </p:txBody>
      </p:sp>
      <p:pic>
        <p:nvPicPr>
          <p:cNvPr id="8" name="Picture 7">
            <a:extLst>
              <a:ext uri="{FF2B5EF4-FFF2-40B4-BE49-F238E27FC236}">
                <a16:creationId xmlns:a16="http://schemas.microsoft.com/office/drawing/2014/main" id="{80E0B008-18DB-3028-75D5-594DAE8D9BE3}"/>
              </a:ext>
            </a:extLst>
          </p:cNvPr>
          <p:cNvPicPr>
            <a:picLocks noChangeAspect="1"/>
          </p:cNvPicPr>
          <p:nvPr/>
        </p:nvPicPr>
        <p:blipFill>
          <a:blip r:embed="rId3"/>
          <a:stretch>
            <a:fillRect/>
          </a:stretch>
        </p:blipFill>
        <p:spPr>
          <a:xfrm>
            <a:off x="197720" y="3951440"/>
            <a:ext cx="5213693" cy="2468880"/>
          </a:xfrm>
          <a:prstGeom prst="rect">
            <a:avLst/>
          </a:prstGeom>
        </p:spPr>
      </p:pic>
      <p:pic>
        <p:nvPicPr>
          <p:cNvPr id="1032" name="Picture 8">
            <a:extLst>
              <a:ext uri="{FF2B5EF4-FFF2-40B4-BE49-F238E27FC236}">
                <a16:creationId xmlns:a16="http://schemas.microsoft.com/office/drawing/2014/main" id="{A74CD4D2-F038-06F2-B61F-9E7B62A8D5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6772" y="3951440"/>
            <a:ext cx="5268406" cy="246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807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866344-BCDB-0BF6-08A4-D6D99F822271}"/>
              </a:ext>
            </a:extLst>
          </p:cNvPr>
          <p:cNvSpPr txBox="1">
            <a:spLocks/>
          </p:cNvSpPr>
          <p:nvPr/>
        </p:nvSpPr>
        <p:spPr>
          <a:xfrm>
            <a:off x="838200" y="276635"/>
            <a:ext cx="10515600" cy="70413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dirty="0"/>
              <a:t>Security Principle: Kerckhoff’s Principle</a:t>
            </a:r>
            <a:endParaRPr lang="en-US" dirty="0"/>
          </a:p>
        </p:txBody>
      </p:sp>
      <p:grpSp>
        <p:nvGrpSpPr>
          <p:cNvPr id="10" name="Group 9">
            <a:extLst>
              <a:ext uri="{FF2B5EF4-FFF2-40B4-BE49-F238E27FC236}">
                <a16:creationId xmlns:a16="http://schemas.microsoft.com/office/drawing/2014/main" id="{55E2CF8E-D7E8-BBCA-329A-AE94B22ECDC6}"/>
              </a:ext>
            </a:extLst>
          </p:cNvPr>
          <p:cNvGrpSpPr/>
          <p:nvPr/>
        </p:nvGrpSpPr>
        <p:grpSpPr>
          <a:xfrm>
            <a:off x="9614412" y="2004237"/>
            <a:ext cx="2284156" cy="3179821"/>
            <a:chOff x="9776644" y="3214227"/>
            <a:chExt cx="2284156" cy="3179821"/>
          </a:xfrm>
        </p:grpSpPr>
        <p:pic>
          <p:nvPicPr>
            <p:cNvPr id="2050" name="Picture 2" descr="Kerckhoffs's principle - Wikipedia">
              <a:extLst>
                <a:ext uri="{FF2B5EF4-FFF2-40B4-BE49-F238E27FC236}">
                  <a16:creationId xmlns:a16="http://schemas.microsoft.com/office/drawing/2014/main" id="{06C82F0F-3E70-FB7B-5C4C-0D969E75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8609" y="3214227"/>
              <a:ext cx="1838528" cy="2743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26DCFF6-AEB0-1E62-F01D-381BB67377D5}"/>
                </a:ext>
              </a:extLst>
            </p:cNvPr>
            <p:cNvSpPr txBox="1"/>
            <p:nvPr/>
          </p:nvSpPr>
          <p:spPr>
            <a:xfrm>
              <a:off x="9776644" y="6024716"/>
              <a:ext cx="2284156" cy="369332"/>
            </a:xfrm>
            <a:prstGeom prst="rect">
              <a:avLst/>
            </a:prstGeom>
            <a:noFill/>
          </p:spPr>
          <p:txBody>
            <a:bodyPr wrap="square">
              <a:spAutoFit/>
            </a:bodyPr>
            <a:lstStyle/>
            <a:p>
              <a:pPr algn="ctr"/>
              <a:r>
                <a:rPr lang="en-US" b="0" i="0" dirty="0">
                  <a:solidFill>
                    <a:srgbClr val="202122"/>
                  </a:solidFill>
                  <a:effectLst/>
                  <a:latin typeface="Arial" panose="020B0604020202020204" pitchFamily="34" charset="0"/>
                  <a:hlinkClick r:id="rId3"/>
                </a:rPr>
                <a:t>Auguste Kerckhoffs</a:t>
              </a:r>
              <a:endParaRPr lang="en-US" dirty="0"/>
            </a:p>
          </p:txBody>
        </p:sp>
      </p:grpSp>
      <p:sp>
        <p:nvSpPr>
          <p:cNvPr id="9" name="TextBox 8">
            <a:extLst>
              <a:ext uri="{FF2B5EF4-FFF2-40B4-BE49-F238E27FC236}">
                <a16:creationId xmlns:a16="http://schemas.microsoft.com/office/drawing/2014/main" id="{EAAE1EA3-C4AC-15B6-109B-6999DD3CA5E6}"/>
              </a:ext>
            </a:extLst>
          </p:cNvPr>
          <p:cNvSpPr txBox="1"/>
          <p:nvPr/>
        </p:nvSpPr>
        <p:spPr>
          <a:xfrm>
            <a:off x="196183" y="1270245"/>
            <a:ext cx="6691313" cy="530914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000" dirty="0"/>
              <a:t>Kerckhoff’s principle says:</a:t>
            </a:r>
          </a:p>
          <a:p>
            <a:pPr marL="742950" lvl="1" indent="-285750">
              <a:spcAft>
                <a:spcPts val="600"/>
              </a:spcAft>
              <a:buFont typeface="Arial" panose="020B0604020202020204" pitchFamily="34" charset="0"/>
              <a:buChar char="•"/>
            </a:pPr>
            <a:r>
              <a:rPr lang="en-US" dirty="0"/>
              <a:t>Cryptosystems should remain secure even when the attacker knows </a:t>
            </a:r>
            <a:r>
              <a:rPr lang="en-US" b="1" dirty="0">
                <a:solidFill>
                  <a:srgbClr val="C00000"/>
                </a:solidFill>
              </a:rPr>
              <a:t>all internal details </a:t>
            </a:r>
            <a:r>
              <a:rPr lang="en-US" dirty="0"/>
              <a:t>of the system</a:t>
            </a:r>
          </a:p>
          <a:p>
            <a:pPr marL="742950" lvl="1" indent="-285750">
              <a:spcAft>
                <a:spcPts val="600"/>
              </a:spcAft>
              <a:buFont typeface="Arial" panose="020B0604020202020204" pitchFamily="34" charset="0"/>
              <a:buChar char="•"/>
            </a:pPr>
            <a:r>
              <a:rPr lang="en-US" dirty="0"/>
              <a:t>The </a:t>
            </a:r>
            <a:r>
              <a:rPr lang="en-US" b="1" dirty="0">
                <a:solidFill>
                  <a:srgbClr val="C00000"/>
                </a:solidFill>
              </a:rPr>
              <a:t>key</a:t>
            </a:r>
            <a:r>
              <a:rPr lang="en-US" dirty="0"/>
              <a:t> should be the only thing that must be kept secret</a:t>
            </a:r>
          </a:p>
          <a:p>
            <a:pPr marL="742950" lvl="1" indent="-285750">
              <a:spcAft>
                <a:spcPts val="600"/>
              </a:spcAft>
              <a:buFont typeface="Arial" panose="020B0604020202020204" pitchFamily="34" charset="0"/>
              <a:buChar char="•"/>
            </a:pPr>
            <a:r>
              <a:rPr lang="en-US" dirty="0"/>
              <a:t>The system should be designed to make it easy to change keys that are leaked (or suspected to be leaked)</a:t>
            </a:r>
          </a:p>
          <a:p>
            <a:pPr marL="742950" lvl="1" indent="-285750">
              <a:spcAft>
                <a:spcPts val="600"/>
              </a:spcAft>
              <a:buFont typeface="Arial" panose="020B0604020202020204" pitchFamily="34" charset="0"/>
              <a:buChar char="•"/>
            </a:pPr>
            <a:r>
              <a:rPr lang="en-US" dirty="0"/>
              <a:t>If your secrets are leaked, it is usually a lot easier to change the key than to replace every instance of the running software</a:t>
            </a:r>
          </a:p>
          <a:p>
            <a:pPr marL="285750" indent="-285750">
              <a:spcAft>
                <a:spcPts val="600"/>
              </a:spcAft>
              <a:buFont typeface="Arial" panose="020B0604020202020204" pitchFamily="34" charset="0"/>
              <a:buChar char="•"/>
            </a:pPr>
            <a:r>
              <a:rPr lang="en-US" sz="2000" dirty="0"/>
              <a:t>Our assumption: The attacker knows all the algorithms we use. The only information the attacker is missing is the </a:t>
            </a:r>
            <a:r>
              <a:rPr lang="en-US" sz="2000" b="1" i="1" dirty="0">
                <a:solidFill>
                  <a:srgbClr val="C00000"/>
                </a:solidFill>
              </a:rPr>
              <a:t>secret key(s)</a:t>
            </a:r>
            <a:r>
              <a:rPr lang="en-US" sz="2000" b="1" i="1" dirty="0"/>
              <a:t>.</a:t>
            </a:r>
          </a:p>
          <a:p>
            <a:pPr marL="285750" indent="-285750">
              <a:spcAft>
                <a:spcPts val="600"/>
              </a:spcAft>
              <a:buFont typeface="Arial" panose="020B0604020202020204" pitchFamily="34" charset="0"/>
              <a:buChar char="•"/>
            </a:pPr>
            <a:r>
              <a:rPr lang="en-US" sz="2000" dirty="0"/>
              <a:t>This principle is closely related to Shannon’s Maxim:</a:t>
            </a:r>
          </a:p>
          <a:p>
            <a:pPr marL="742950" lvl="1" indent="-285750">
              <a:spcAft>
                <a:spcPts val="600"/>
              </a:spcAft>
              <a:buFont typeface="Arial" panose="020B0604020202020204" pitchFamily="34" charset="0"/>
              <a:buChar char="•"/>
            </a:pPr>
            <a:r>
              <a:rPr lang="en-US" sz="2000" dirty="0"/>
              <a:t>"one ought to design systems under the assumption that the enemy will immediately gain full familiarity with them"</a:t>
            </a:r>
          </a:p>
        </p:txBody>
      </p:sp>
      <p:grpSp>
        <p:nvGrpSpPr>
          <p:cNvPr id="12" name="Group 11">
            <a:extLst>
              <a:ext uri="{FF2B5EF4-FFF2-40B4-BE49-F238E27FC236}">
                <a16:creationId xmlns:a16="http://schemas.microsoft.com/office/drawing/2014/main" id="{07B8BBDA-3CC5-939A-44EC-713060ACE904}"/>
              </a:ext>
            </a:extLst>
          </p:cNvPr>
          <p:cNvGrpSpPr/>
          <p:nvPr/>
        </p:nvGrpSpPr>
        <p:grpSpPr>
          <a:xfrm>
            <a:off x="7022559" y="2004237"/>
            <a:ext cx="2198077" cy="3185041"/>
            <a:chOff x="6579318" y="1909294"/>
            <a:chExt cx="2198077" cy="3185041"/>
          </a:xfrm>
        </p:grpSpPr>
        <p:pic>
          <p:nvPicPr>
            <p:cNvPr id="2052" name="Picture 4">
              <a:extLst>
                <a:ext uri="{FF2B5EF4-FFF2-40B4-BE49-F238E27FC236}">
                  <a16:creationId xmlns:a16="http://schemas.microsoft.com/office/drawing/2014/main" id="{2FB97996-A179-031C-D921-C63A74CB1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9318" y="1909294"/>
              <a:ext cx="2198077" cy="27432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8C24B35-1842-A9B2-AE3E-78F4DCA98685}"/>
                </a:ext>
              </a:extLst>
            </p:cNvPr>
            <p:cNvSpPr txBox="1"/>
            <p:nvPr/>
          </p:nvSpPr>
          <p:spPr>
            <a:xfrm>
              <a:off x="6759092" y="4725003"/>
              <a:ext cx="1838528" cy="369332"/>
            </a:xfrm>
            <a:prstGeom prst="rect">
              <a:avLst/>
            </a:prstGeom>
            <a:noFill/>
          </p:spPr>
          <p:txBody>
            <a:bodyPr wrap="square" rtlCol="0">
              <a:spAutoFit/>
            </a:bodyPr>
            <a:lstStyle/>
            <a:p>
              <a:pPr algn="ctr"/>
              <a:r>
                <a:rPr lang="en-US" altLang="zh-CN" dirty="0">
                  <a:hlinkClick r:id="rId5"/>
                </a:rPr>
                <a:t>Claude Shannon</a:t>
              </a:r>
              <a:endParaRPr lang="en-US" dirty="0"/>
            </a:p>
          </p:txBody>
        </p:sp>
      </p:grpSp>
    </p:spTree>
    <p:extLst>
      <p:ext uri="{BB962C8B-B14F-4D97-AF65-F5344CB8AC3E}">
        <p14:creationId xmlns:p14="http://schemas.microsoft.com/office/powerpoint/2010/main" val="75998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AA21-0A3E-7E3D-E918-48D6E62278C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Confidentiality</a:t>
            </a:r>
            <a:endParaRPr lang="en-US" dirty="0"/>
          </a:p>
        </p:txBody>
      </p:sp>
      <p:sp>
        <p:nvSpPr>
          <p:cNvPr id="5" name="Google Shape;177;p31">
            <a:extLst>
              <a:ext uri="{FF2B5EF4-FFF2-40B4-BE49-F238E27FC236}">
                <a16:creationId xmlns:a16="http://schemas.microsoft.com/office/drawing/2014/main" id="{B0442FFA-8968-DB4E-00FE-08046A702F2B}"/>
              </a:ext>
            </a:extLst>
          </p:cNvPr>
          <p:cNvSpPr txBox="1">
            <a:spLocks/>
          </p:cNvSpPr>
          <p:nvPr/>
        </p:nvSpPr>
        <p:spPr>
          <a:xfrm>
            <a:off x="838200" y="1148521"/>
            <a:ext cx="10515600" cy="3223234"/>
          </a:xfrm>
          <a:prstGeom prst="rect">
            <a:avLst/>
          </a:prstGeom>
        </p:spPr>
        <p:txBody>
          <a:bodyPr spcFirstLastPara="1" vert="horz" wrap="square" lIns="91425" tIns="91425" rIns="91425" bIns="91425" rtlCol="0" anchor="t" anchorCtr="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1200"/>
              </a:spcAft>
              <a:buSzPts val="1800"/>
              <a:buFont typeface="Arial" panose="020B0604020202020204" pitchFamily="34" charset="0"/>
              <a:buChar char="●"/>
            </a:pPr>
            <a:r>
              <a:rPr lang="en-US" sz="3100" b="1" dirty="0"/>
              <a:t>Confidentiality</a:t>
            </a:r>
            <a:r>
              <a:rPr lang="en-US" sz="3100" dirty="0"/>
              <a:t>: An adversary </a:t>
            </a:r>
            <a:r>
              <a:rPr lang="en-US" sz="3100" b="1" i="1" dirty="0">
                <a:solidFill>
                  <a:srgbClr val="C00000"/>
                </a:solidFill>
              </a:rPr>
              <a:t>cannot read </a:t>
            </a:r>
            <a:r>
              <a:rPr lang="en-US" sz="3100" dirty="0"/>
              <a:t>our messages</a:t>
            </a:r>
          </a:p>
          <a:p>
            <a:pPr marL="457200" indent="-342900">
              <a:spcBef>
                <a:spcPts val="0"/>
              </a:spcBef>
              <a:spcAft>
                <a:spcPts val="1200"/>
              </a:spcAft>
              <a:buSzPts val="1800"/>
              <a:buFont typeface="Arial" panose="020B0604020202020204" pitchFamily="34" charset="0"/>
              <a:buChar char="●"/>
            </a:pPr>
            <a:r>
              <a:rPr lang="en-US" sz="3100" dirty="0"/>
              <a:t>Schemes provide confidentiality by </a:t>
            </a:r>
            <a:r>
              <a:rPr lang="en-US" sz="3100" dirty="0">
                <a:solidFill>
                  <a:srgbClr val="C00000"/>
                </a:solidFill>
              </a:rPr>
              <a:t>encrypting</a:t>
            </a:r>
            <a:r>
              <a:rPr lang="en-US" sz="3100" dirty="0"/>
              <a:t> messages</a:t>
            </a:r>
          </a:p>
          <a:p>
            <a:pPr marL="457200" indent="-342900">
              <a:spcBef>
                <a:spcPts val="0"/>
              </a:spcBef>
              <a:spcAft>
                <a:spcPts val="1200"/>
              </a:spcAft>
              <a:buSzPts val="1800"/>
              <a:buFont typeface="Arial" panose="020B0604020202020204" pitchFamily="34" charset="0"/>
              <a:buChar char="●"/>
            </a:pPr>
            <a:r>
              <a:rPr lang="en-US" sz="3100" dirty="0"/>
              <a:t>Analogy: Locking and unlocking the message</a:t>
            </a:r>
          </a:p>
          <a:p>
            <a:pPr marL="914400" lvl="1" indent="-342900">
              <a:spcBef>
                <a:spcPts val="0"/>
              </a:spcBef>
              <a:spcAft>
                <a:spcPts val="1200"/>
              </a:spcAft>
              <a:buSzPts val="1800"/>
              <a:buFont typeface="Arial" panose="020B0604020202020204" pitchFamily="34" charset="0"/>
              <a:buChar char="●"/>
            </a:pPr>
            <a:r>
              <a:rPr lang="en-US" dirty="0"/>
              <a:t>Alice uses the key to lock (</a:t>
            </a:r>
            <a:r>
              <a:rPr lang="en-US" b="1" dirty="0"/>
              <a:t>encrypt</a:t>
            </a:r>
            <a:r>
              <a:rPr lang="en-US" dirty="0"/>
              <a:t>) the message (</a:t>
            </a:r>
            <a:r>
              <a:rPr lang="en-US" b="1" dirty="0"/>
              <a:t>plaintext</a:t>
            </a:r>
            <a:r>
              <a:rPr lang="en-US" dirty="0"/>
              <a:t>) in a box</a:t>
            </a:r>
          </a:p>
          <a:p>
            <a:pPr marL="914400" lvl="1" indent="-342900">
              <a:spcBef>
                <a:spcPts val="0"/>
              </a:spcBef>
              <a:spcAft>
                <a:spcPts val="1200"/>
              </a:spcAft>
              <a:buSzPts val="1800"/>
              <a:buFont typeface="Arial" panose="020B0604020202020204" pitchFamily="34" charset="0"/>
              <a:buChar char="●"/>
            </a:pPr>
            <a:r>
              <a:rPr lang="en-US" dirty="0"/>
              <a:t>Alice sends the locked message (</a:t>
            </a:r>
            <a:r>
              <a:rPr lang="en-US" b="1" dirty="0"/>
              <a:t>ciphertext</a:t>
            </a:r>
            <a:r>
              <a:rPr lang="en-US" dirty="0"/>
              <a:t>) over the insecure channel</a:t>
            </a:r>
          </a:p>
          <a:p>
            <a:pPr marL="914400" lvl="1" indent="-342900">
              <a:spcBef>
                <a:spcPts val="0"/>
              </a:spcBef>
              <a:spcAft>
                <a:spcPts val="1200"/>
              </a:spcAft>
              <a:buSzPts val="1800"/>
              <a:buFont typeface="Arial" panose="020B0604020202020204" pitchFamily="34" charset="0"/>
              <a:buChar char="●"/>
            </a:pPr>
            <a:r>
              <a:rPr lang="en-US" dirty="0"/>
              <a:t>Eve sees the locked box, but cannot access the message without the key</a:t>
            </a:r>
          </a:p>
          <a:p>
            <a:pPr marL="914400" lvl="1" indent="-342900">
              <a:spcBef>
                <a:spcPts val="0"/>
              </a:spcBef>
              <a:spcAft>
                <a:spcPts val="1200"/>
              </a:spcAft>
              <a:buSzPts val="1800"/>
              <a:buFont typeface="Arial" panose="020B0604020202020204" pitchFamily="34" charset="0"/>
              <a:buChar char="●"/>
            </a:pPr>
            <a:r>
              <a:rPr lang="en-US" dirty="0"/>
              <a:t>Bob receives the locked message and uses the key to unlock (</a:t>
            </a:r>
            <a:r>
              <a:rPr lang="en-US" b="1" dirty="0"/>
              <a:t>decrypt</a:t>
            </a:r>
            <a:r>
              <a:rPr lang="en-US" dirty="0"/>
              <a:t>) the message</a:t>
            </a:r>
          </a:p>
        </p:txBody>
      </p:sp>
      <p:grpSp>
        <p:nvGrpSpPr>
          <p:cNvPr id="46" name="Group 45">
            <a:extLst>
              <a:ext uri="{FF2B5EF4-FFF2-40B4-BE49-F238E27FC236}">
                <a16:creationId xmlns:a16="http://schemas.microsoft.com/office/drawing/2014/main" id="{3DEB022D-DC6B-E7B6-EEB3-E7F68B4B19DB}"/>
              </a:ext>
            </a:extLst>
          </p:cNvPr>
          <p:cNvGrpSpPr/>
          <p:nvPr/>
        </p:nvGrpSpPr>
        <p:grpSpPr>
          <a:xfrm>
            <a:off x="1684124" y="4550589"/>
            <a:ext cx="8610699" cy="2119060"/>
            <a:chOff x="1684124" y="4550589"/>
            <a:chExt cx="8610699" cy="2119060"/>
          </a:xfrm>
        </p:grpSpPr>
        <p:sp>
          <p:nvSpPr>
            <p:cNvPr id="3" name="Google Shape;174;p31">
              <a:extLst>
                <a:ext uri="{FF2B5EF4-FFF2-40B4-BE49-F238E27FC236}">
                  <a16:creationId xmlns:a16="http://schemas.microsoft.com/office/drawing/2014/main" id="{D1892923-C518-985C-7A70-854A8F0E000A}"/>
                </a:ext>
              </a:extLst>
            </p:cNvPr>
            <p:cNvSpPr/>
            <p:nvPr/>
          </p:nvSpPr>
          <p:spPr>
            <a:xfrm>
              <a:off x="6968824" y="455058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5;p31">
              <a:extLst>
                <a:ext uri="{FF2B5EF4-FFF2-40B4-BE49-F238E27FC236}">
                  <a16:creationId xmlns:a16="http://schemas.microsoft.com/office/drawing/2014/main" id="{31184547-1848-5F4D-555A-DEB915565C7F}"/>
                </a:ext>
              </a:extLst>
            </p:cNvPr>
            <p:cNvSpPr/>
            <p:nvPr/>
          </p:nvSpPr>
          <p:spPr>
            <a:xfrm>
              <a:off x="1774924" y="455058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9;p31">
              <a:extLst>
                <a:ext uri="{FF2B5EF4-FFF2-40B4-BE49-F238E27FC236}">
                  <a16:creationId xmlns:a16="http://schemas.microsoft.com/office/drawing/2014/main" id="{91113D27-A9E3-9833-1F14-8D81146B7F55}"/>
                </a:ext>
              </a:extLst>
            </p:cNvPr>
            <p:cNvSpPr/>
            <p:nvPr/>
          </p:nvSpPr>
          <p:spPr>
            <a:xfrm>
              <a:off x="1898474" y="542731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sp>
          <p:nvSpPr>
            <p:cNvPr id="7" name="Google Shape;180;p31">
              <a:extLst>
                <a:ext uri="{FF2B5EF4-FFF2-40B4-BE49-F238E27FC236}">
                  <a16:creationId xmlns:a16="http://schemas.microsoft.com/office/drawing/2014/main" id="{F82B2918-CA26-85D1-8FA3-8E216C537109}"/>
                </a:ext>
              </a:extLst>
            </p:cNvPr>
            <p:cNvSpPr/>
            <p:nvPr/>
          </p:nvSpPr>
          <p:spPr>
            <a:xfrm>
              <a:off x="3953424" y="4646264"/>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8" name="Google Shape;181;p31">
              <a:extLst>
                <a:ext uri="{FF2B5EF4-FFF2-40B4-BE49-F238E27FC236}">
                  <a16:creationId xmlns:a16="http://schemas.microsoft.com/office/drawing/2014/main" id="{3C857218-E7BA-9865-ECC5-DA56413AF84B}"/>
                </a:ext>
              </a:extLst>
            </p:cNvPr>
            <p:cNvSpPr/>
            <p:nvPr/>
          </p:nvSpPr>
          <p:spPr>
            <a:xfrm>
              <a:off x="3660174" y="542731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Lock</a:t>
              </a:r>
              <a:endParaRPr dirty="0"/>
            </a:p>
          </p:txBody>
        </p:sp>
        <p:cxnSp>
          <p:nvCxnSpPr>
            <p:cNvPr id="9" name="Google Shape;182;p31">
              <a:extLst>
                <a:ext uri="{FF2B5EF4-FFF2-40B4-BE49-F238E27FC236}">
                  <a16:creationId xmlns:a16="http://schemas.microsoft.com/office/drawing/2014/main" id="{99B91737-3593-671B-D199-63621C2CF2D5}"/>
                </a:ext>
              </a:extLst>
            </p:cNvPr>
            <p:cNvCxnSpPr>
              <a:stCxn id="7" idx="2"/>
              <a:endCxn id="8" idx="0"/>
            </p:cNvCxnSpPr>
            <p:nvPr/>
          </p:nvCxnSpPr>
          <p:spPr>
            <a:xfrm>
              <a:off x="4227774" y="5116364"/>
              <a:ext cx="0" cy="31110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183;p31">
              <a:extLst>
                <a:ext uri="{FF2B5EF4-FFF2-40B4-BE49-F238E27FC236}">
                  <a16:creationId xmlns:a16="http://schemas.microsoft.com/office/drawing/2014/main" id="{B2ABDC89-E1B0-A877-2805-EBBC8A178986}"/>
                </a:ext>
              </a:extLst>
            </p:cNvPr>
            <p:cNvCxnSpPr>
              <a:endCxn id="8" idx="1"/>
            </p:cNvCxnSpPr>
            <p:nvPr/>
          </p:nvCxnSpPr>
          <p:spPr>
            <a:xfrm>
              <a:off x="3033774" y="5662364"/>
              <a:ext cx="626400" cy="0"/>
            </a:xfrm>
            <a:prstGeom prst="straightConnector1">
              <a:avLst/>
            </a:prstGeom>
            <a:noFill/>
            <a:ln w="9525" cap="flat" cmpd="sng">
              <a:solidFill>
                <a:schemeClr val="dk2"/>
              </a:solidFill>
              <a:prstDash val="solid"/>
              <a:round/>
              <a:headEnd type="none" w="med" len="med"/>
              <a:tailEnd type="triangle" w="med" len="med"/>
            </a:ln>
          </p:spPr>
        </p:cxnSp>
        <p:sp>
          <p:nvSpPr>
            <p:cNvPr id="11" name="Google Shape;184;p31">
              <a:extLst>
                <a:ext uri="{FF2B5EF4-FFF2-40B4-BE49-F238E27FC236}">
                  <a16:creationId xmlns:a16="http://schemas.microsoft.com/office/drawing/2014/main" id="{887F0102-7D3A-26A7-A408-7DF3D5609546}"/>
                </a:ext>
              </a:extLst>
            </p:cNvPr>
            <p:cNvSpPr/>
            <p:nvPr/>
          </p:nvSpPr>
          <p:spPr>
            <a:xfrm>
              <a:off x="5421874" y="542731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Message in locked box</a:t>
              </a:r>
              <a:endParaRPr sz="1400" dirty="0"/>
            </a:p>
          </p:txBody>
        </p:sp>
        <p:cxnSp>
          <p:nvCxnSpPr>
            <p:cNvPr id="12" name="Google Shape;185;p31">
              <a:extLst>
                <a:ext uri="{FF2B5EF4-FFF2-40B4-BE49-F238E27FC236}">
                  <a16:creationId xmlns:a16="http://schemas.microsoft.com/office/drawing/2014/main" id="{6D341489-9AF5-546A-9EA3-1B744D0D1695}"/>
                </a:ext>
              </a:extLst>
            </p:cNvPr>
            <p:cNvCxnSpPr>
              <a:stCxn id="8" idx="3"/>
              <a:endCxn id="11" idx="1"/>
            </p:cNvCxnSpPr>
            <p:nvPr/>
          </p:nvCxnSpPr>
          <p:spPr>
            <a:xfrm>
              <a:off x="4795374" y="5662364"/>
              <a:ext cx="626400" cy="0"/>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186;p31">
              <a:extLst>
                <a:ext uri="{FF2B5EF4-FFF2-40B4-BE49-F238E27FC236}">
                  <a16:creationId xmlns:a16="http://schemas.microsoft.com/office/drawing/2014/main" id="{D3854419-7764-CB4F-7F32-0DB720A01B1B}"/>
                </a:ext>
              </a:extLst>
            </p:cNvPr>
            <p:cNvCxnSpPr>
              <a:stCxn id="11" idx="3"/>
              <a:endCxn id="15" idx="1"/>
            </p:cNvCxnSpPr>
            <p:nvPr/>
          </p:nvCxnSpPr>
          <p:spPr>
            <a:xfrm>
              <a:off x="6557074" y="5662364"/>
              <a:ext cx="626400" cy="0"/>
            </a:xfrm>
            <a:prstGeom prst="straightConnector1">
              <a:avLst/>
            </a:prstGeom>
            <a:noFill/>
            <a:ln w="9525" cap="flat" cmpd="sng">
              <a:solidFill>
                <a:schemeClr val="dk2"/>
              </a:solidFill>
              <a:prstDash val="solid"/>
              <a:round/>
              <a:headEnd type="none" w="med" len="med"/>
              <a:tailEnd type="triangle" w="med" len="med"/>
            </a:ln>
          </p:spPr>
        </p:cxnSp>
        <p:sp>
          <p:nvSpPr>
            <p:cNvPr id="14" name="Google Shape;188;p31">
              <a:extLst>
                <a:ext uri="{FF2B5EF4-FFF2-40B4-BE49-F238E27FC236}">
                  <a16:creationId xmlns:a16="http://schemas.microsoft.com/office/drawing/2014/main" id="{C92A23E8-3C8B-1FC8-AA16-41FAA4E1A5EA}"/>
                </a:ext>
              </a:extLst>
            </p:cNvPr>
            <p:cNvSpPr/>
            <p:nvPr/>
          </p:nvSpPr>
          <p:spPr>
            <a:xfrm>
              <a:off x="7476824" y="4646339"/>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15" name="Google Shape;187;p31">
              <a:extLst>
                <a:ext uri="{FF2B5EF4-FFF2-40B4-BE49-F238E27FC236}">
                  <a16:creationId xmlns:a16="http://schemas.microsoft.com/office/drawing/2014/main" id="{69CCB453-E3F3-A439-C720-F021E6A124DF}"/>
                </a:ext>
              </a:extLst>
            </p:cNvPr>
            <p:cNvSpPr/>
            <p:nvPr/>
          </p:nvSpPr>
          <p:spPr>
            <a:xfrm>
              <a:off x="7183574" y="5427389"/>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Unlock</a:t>
              </a:r>
              <a:endParaRPr/>
            </a:p>
          </p:txBody>
        </p:sp>
        <p:cxnSp>
          <p:nvCxnSpPr>
            <p:cNvPr id="16" name="Google Shape;189;p31">
              <a:extLst>
                <a:ext uri="{FF2B5EF4-FFF2-40B4-BE49-F238E27FC236}">
                  <a16:creationId xmlns:a16="http://schemas.microsoft.com/office/drawing/2014/main" id="{BB621075-2F08-1FB5-4D6E-276EBD450369}"/>
                </a:ext>
              </a:extLst>
            </p:cNvPr>
            <p:cNvCxnSpPr>
              <a:stCxn id="14" idx="2"/>
              <a:endCxn id="15" idx="0"/>
            </p:cNvCxnSpPr>
            <p:nvPr/>
          </p:nvCxnSpPr>
          <p:spPr>
            <a:xfrm>
              <a:off x="7751174" y="5116439"/>
              <a:ext cx="0" cy="311100"/>
            </a:xfrm>
            <a:prstGeom prst="straightConnector1">
              <a:avLst/>
            </a:prstGeom>
            <a:noFill/>
            <a:ln w="9525" cap="flat" cmpd="sng">
              <a:solidFill>
                <a:schemeClr val="dk2"/>
              </a:solidFill>
              <a:prstDash val="solid"/>
              <a:round/>
              <a:headEnd type="none" w="med" len="med"/>
              <a:tailEnd type="triangle" w="med" len="med"/>
            </a:ln>
          </p:spPr>
        </p:cxnSp>
        <p:sp>
          <p:nvSpPr>
            <p:cNvPr id="17" name="Google Shape;190;p31">
              <a:extLst>
                <a:ext uri="{FF2B5EF4-FFF2-40B4-BE49-F238E27FC236}">
                  <a16:creationId xmlns:a16="http://schemas.microsoft.com/office/drawing/2014/main" id="{3B0DD5E8-6BBA-A19C-636B-F1BD6F555910}"/>
                </a:ext>
              </a:extLst>
            </p:cNvPr>
            <p:cNvSpPr/>
            <p:nvPr/>
          </p:nvSpPr>
          <p:spPr>
            <a:xfrm>
              <a:off x="8945274" y="542731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cxnSp>
          <p:nvCxnSpPr>
            <p:cNvPr id="18" name="Google Shape;191;p31">
              <a:extLst>
                <a:ext uri="{FF2B5EF4-FFF2-40B4-BE49-F238E27FC236}">
                  <a16:creationId xmlns:a16="http://schemas.microsoft.com/office/drawing/2014/main" id="{E1350FCB-42D7-C9B8-BD3A-E28546ECBCEB}"/>
                </a:ext>
              </a:extLst>
            </p:cNvPr>
            <p:cNvCxnSpPr>
              <a:stCxn id="15" idx="3"/>
              <a:endCxn id="17" idx="1"/>
            </p:cNvCxnSpPr>
            <p:nvPr/>
          </p:nvCxnSpPr>
          <p:spPr>
            <a:xfrm>
              <a:off x="8318774" y="5662439"/>
              <a:ext cx="626400" cy="0"/>
            </a:xfrm>
            <a:prstGeom prst="straightConnector1">
              <a:avLst/>
            </a:prstGeom>
            <a:noFill/>
            <a:ln w="9525" cap="flat" cmpd="sng">
              <a:solidFill>
                <a:schemeClr val="dk2"/>
              </a:solidFill>
              <a:prstDash val="solid"/>
              <a:round/>
              <a:headEnd type="none" w="med" len="med"/>
              <a:tailEnd type="triangle" w="med" len="med"/>
            </a:ln>
          </p:spPr>
        </p:cxnSp>
        <p:sp>
          <p:nvSpPr>
            <p:cNvPr id="19" name="Google Shape;192;p31">
              <a:extLst>
                <a:ext uri="{FF2B5EF4-FFF2-40B4-BE49-F238E27FC236}">
                  <a16:creationId xmlns:a16="http://schemas.microsoft.com/office/drawing/2014/main" id="{F0143B79-CDFE-5C15-040A-8BDEB97B8DF8}"/>
                </a:ext>
              </a:extLst>
            </p:cNvPr>
            <p:cNvSpPr txBox="1"/>
            <p:nvPr/>
          </p:nvSpPr>
          <p:spPr>
            <a:xfrm>
              <a:off x="1774924" y="4550589"/>
              <a:ext cx="76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Alice</a:t>
              </a:r>
              <a:endParaRPr/>
            </a:p>
          </p:txBody>
        </p:sp>
        <p:sp>
          <p:nvSpPr>
            <p:cNvPr id="20" name="Google Shape;193;p31">
              <a:extLst>
                <a:ext uri="{FF2B5EF4-FFF2-40B4-BE49-F238E27FC236}">
                  <a16:creationId xmlns:a16="http://schemas.microsoft.com/office/drawing/2014/main" id="{99FE6647-6465-CF68-6A5B-181E263D9F4E}"/>
                </a:ext>
              </a:extLst>
            </p:cNvPr>
            <p:cNvSpPr txBox="1"/>
            <p:nvPr/>
          </p:nvSpPr>
          <p:spPr>
            <a:xfrm>
              <a:off x="9438724" y="4550589"/>
              <a:ext cx="7653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t>Bob</a:t>
              </a:r>
              <a:endParaRPr/>
            </a:p>
          </p:txBody>
        </p:sp>
        <p:sp>
          <p:nvSpPr>
            <p:cNvPr id="21" name="Google Shape;194;p31">
              <a:extLst>
                <a:ext uri="{FF2B5EF4-FFF2-40B4-BE49-F238E27FC236}">
                  <a16:creationId xmlns:a16="http://schemas.microsoft.com/office/drawing/2014/main" id="{DEBD9225-F965-6A41-2336-87DD4B2A725B}"/>
                </a:ext>
              </a:extLst>
            </p:cNvPr>
            <p:cNvSpPr txBox="1"/>
            <p:nvPr/>
          </p:nvSpPr>
          <p:spPr>
            <a:xfrm>
              <a:off x="5028450" y="4860701"/>
              <a:ext cx="19587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C00000"/>
                  </a:solidFill>
                </a:rPr>
                <a:t>Insecure Channel</a:t>
              </a:r>
              <a:endParaRPr dirty="0">
                <a:solidFill>
                  <a:srgbClr val="C00000"/>
                </a:solidFill>
              </a:endParaRPr>
            </a:p>
          </p:txBody>
        </p:sp>
        <p:sp>
          <p:nvSpPr>
            <p:cNvPr id="23" name="Google Shape;193;p30">
              <a:extLst>
                <a:ext uri="{FF2B5EF4-FFF2-40B4-BE49-F238E27FC236}">
                  <a16:creationId xmlns:a16="http://schemas.microsoft.com/office/drawing/2014/main" id="{C525608D-F940-4FC3-D285-6BB9758218F3}"/>
                </a:ext>
              </a:extLst>
            </p:cNvPr>
            <p:cNvSpPr/>
            <p:nvPr/>
          </p:nvSpPr>
          <p:spPr>
            <a:xfrm>
              <a:off x="3516245" y="6151311"/>
              <a:ext cx="1423058"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Encryption Algorithm</a:t>
              </a:r>
              <a:endParaRPr dirty="0"/>
            </a:p>
          </p:txBody>
        </p:sp>
        <p:sp>
          <p:nvSpPr>
            <p:cNvPr id="24" name="Google Shape;196;p30">
              <a:extLst>
                <a:ext uri="{FF2B5EF4-FFF2-40B4-BE49-F238E27FC236}">
                  <a16:creationId xmlns:a16="http://schemas.microsoft.com/office/drawing/2014/main" id="{644BC867-8613-CC7A-7EC7-4ED6993797C2}"/>
                </a:ext>
              </a:extLst>
            </p:cNvPr>
            <p:cNvSpPr/>
            <p:nvPr/>
          </p:nvSpPr>
          <p:spPr>
            <a:xfrm>
              <a:off x="5207524" y="6151311"/>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Ciphertext</a:t>
              </a:r>
              <a:endParaRPr dirty="0"/>
            </a:p>
          </p:txBody>
        </p:sp>
        <p:sp>
          <p:nvSpPr>
            <p:cNvPr id="25" name="Google Shape;199;p30">
              <a:extLst>
                <a:ext uri="{FF2B5EF4-FFF2-40B4-BE49-F238E27FC236}">
                  <a16:creationId xmlns:a16="http://schemas.microsoft.com/office/drawing/2014/main" id="{B9D9FDE8-84E8-CDF2-AF30-CD6E0E6FBB0F}"/>
                </a:ext>
              </a:extLst>
            </p:cNvPr>
            <p:cNvSpPr/>
            <p:nvPr/>
          </p:nvSpPr>
          <p:spPr>
            <a:xfrm>
              <a:off x="7019774" y="6129138"/>
              <a:ext cx="14628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Decryption Algorithm</a:t>
              </a:r>
              <a:endParaRPr/>
            </a:p>
          </p:txBody>
        </p:sp>
        <p:cxnSp>
          <p:nvCxnSpPr>
            <p:cNvPr id="27" name="Straight Arrow Connector 26">
              <a:extLst>
                <a:ext uri="{FF2B5EF4-FFF2-40B4-BE49-F238E27FC236}">
                  <a16:creationId xmlns:a16="http://schemas.microsoft.com/office/drawing/2014/main" id="{E5805B6F-800A-917E-A89E-307E67FB84A5}"/>
                </a:ext>
              </a:extLst>
            </p:cNvPr>
            <p:cNvCxnSpPr>
              <a:cxnSpLocks/>
              <a:stCxn id="8" idx="2"/>
              <a:endCxn id="23" idx="0"/>
            </p:cNvCxnSpPr>
            <p:nvPr/>
          </p:nvCxnSpPr>
          <p:spPr>
            <a:xfrm>
              <a:off x="4227774" y="5897414"/>
              <a:ext cx="0" cy="253897"/>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553897D-846D-13FA-80FD-172DFD1EB48A}"/>
                </a:ext>
              </a:extLst>
            </p:cNvPr>
            <p:cNvCxnSpPr>
              <a:cxnSpLocks/>
              <a:stCxn id="11" idx="2"/>
              <a:endCxn id="24" idx="0"/>
            </p:cNvCxnSpPr>
            <p:nvPr/>
          </p:nvCxnSpPr>
          <p:spPr>
            <a:xfrm>
              <a:off x="5989474" y="5897414"/>
              <a:ext cx="0" cy="253897"/>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5647D6-7D21-E7C3-6A7F-C0227D7CE6FD}"/>
                </a:ext>
              </a:extLst>
            </p:cNvPr>
            <p:cNvCxnSpPr>
              <a:cxnSpLocks/>
              <a:stCxn id="15" idx="2"/>
              <a:endCxn id="25" idx="0"/>
            </p:cNvCxnSpPr>
            <p:nvPr/>
          </p:nvCxnSpPr>
          <p:spPr>
            <a:xfrm>
              <a:off x="7751174" y="5897489"/>
              <a:ext cx="0" cy="231649"/>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6" name="Google Shape;196;p30">
              <a:extLst>
                <a:ext uri="{FF2B5EF4-FFF2-40B4-BE49-F238E27FC236}">
                  <a16:creationId xmlns:a16="http://schemas.microsoft.com/office/drawing/2014/main" id="{E629268F-1498-7F01-BC1D-5D0FB8483D0E}"/>
                </a:ext>
              </a:extLst>
            </p:cNvPr>
            <p:cNvSpPr/>
            <p:nvPr/>
          </p:nvSpPr>
          <p:spPr>
            <a:xfrm>
              <a:off x="1684124" y="6151311"/>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t>Plaintext</a:t>
              </a:r>
              <a:endParaRPr dirty="0"/>
            </a:p>
          </p:txBody>
        </p:sp>
        <p:sp>
          <p:nvSpPr>
            <p:cNvPr id="37" name="Google Shape;196;p30">
              <a:extLst>
                <a:ext uri="{FF2B5EF4-FFF2-40B4-BE49-F238E27FC236}">
                  <a16:creationId xmlns:a16="http://schemas.microsoft.com/office/drawing/2014/main" id="{16E1AE89-E54F-C4E8-7FBB-2205E127C358}"/>
                </a:ext>
              </a:extLst>
            </p:cNvPr>
            <p:cNvSpPr/>
            <p:nvPr/>
          </p:nvSpPr>
          <p:spPr>
            <a:xfrm>
              <a:off x="8730923" y="6129138"/>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cxnSp>
          <p:nvCxnSpPr>
            <p:cNvPr id="38" name="Straight Arrow Connector 37">
              <a:extLst>
                <a:ext uri="{FF2B5EF4-FFF2-40B4-BE49-F238E27FC236}">
                  <a16:creationId xmlns:a16="http://schemas.microsoft.com/office/drawing/2014/main" id="{0A624120-77AA-6FD8-1CBD-9F2CD6F8F78E}"/>
                </a:ext>
              </a:extLst>
            </p:cNvPr>
            <p:cNvCxnSpPr>
              <a:cxnSpLocks/>
              <a:stCxn id="6" idx="2"/>
              <a:endCxn id="36" idx="0"/>
            </p:cNvCxnSpPr>
            <p:nvPr/>
          </p:nvCxnSpPr>
          <p:spPr>
            <a:xfrm>
              <a:off x="2466074" y="5897414"/>
              <a:ext cx="0" cy="253897"/>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9EA791B-309F-B62B-AF94-DA29129F502E}"/>
                </a:ext>
              </a:extLst>
            </p:cNvPr>
            <p:cNvCxnSpPr>
              <a:cxnSpLocks/>
              <a:stCxn id="17" idx="2"/>
              <a:endCxn id="37" idx="0"/>
            </p:cNvCxnSpPr>
            <p:nvPr/>
          </p:nvCxnSpPr>
          <p:spPr>
            <a:xfrm flipH="1">
              <a:off x="9512873" y="5897414"/>
              <a:ext cx="1" cy="231724"/>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9187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30E2-91B1-9D7F-5CDB-2F58DBDB9D9D}"/>
              </a:ext>
            </a:extLst>
          </p:cNvPr>
          <p:cNvSpPr txBox="1">
            <a:spLocks/>
          </p:cNvSpPr>
          <p:nvPr/>
        </p:nvSpPr>
        <p:spPr>
          <a:xfrm>
            <a:off x="838200" y="165674"/>
            <a:ext cx="10515600" cy="75575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Integrity (and Authenticity)</a:t>
            </a:r>
          </a:p>
        </p:txBody>
      </p:sp>
      <p:sp>
        <p:nvSpPr>
          <p:cNvPr id="22" name="Google Shape;252;p34">
            <a:extLst>
              <a:ext uri="{FF2B5EF4-FFF2-40B4-BE49-F238E27FC236}">
                <a16:creationId xmlns:a16="http://schemas.microsoft.com/office/drawing/2014/main" id="{CA0FC929-4766-E3EC-170E-0422D5AE0E44}"/>
              </a:ext>
            </a:extLst>
          </p:cNvPr>
          <p:cNvSpPr txBox="1">
            <a:spLocks/>
          </p:cNvSpPr>
          <p:nvPr/>
        </p:nvSpPr>
        <p:spPr>
          <a:xfrm>
            <a:off x="348301" y="922839"/>
            <a:ext cx="11495398" cy="3108085"/>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lnSpc>
                <a:spcPct val="80000"/>
              </a:lnSpc>
              <a:spcBef>
                <a:spcPts val="0"/>
              </a:spcBef>
              <a:spcAft>
                <a:spcPts val="1200"/>
              </a:spcAft>
              <a:buSzPts val="1800"/>
              <a:buFont typeface="Arial" panose="020B0604020202020204" pitchFamily="34" charset="0"/>
              <a:buChar char="●"/>
            </a:pPr>
            <a:r>
              <a:rPr lang="en-US" sz="2000" dirty="0"/>
              <a:t>Integrity: An adversary </a:t>
            </a:r>
            <a:r>
              <a:rPr lang="en-US" sz="2000" b="1" i="1" dirty="0">
                <a:solidFill>
                  <a:srgbClr val="C00000"/>
                </a:solidFill>
              </a:rPr>
              <a:t>cannot change </a:t>
            </a:r>
            <a:r>
              <a:rPr lang="en-US" sz="2000" dirty="0"/>
              <a:t>our messages without being detected.</a:t>
            </a:r>
          </a:p>
          <a:p>
            <a:pPr marL="457200" indent="-342900">
              <a:lnSpc>
                <a:spcPct val="80000"/>
              </a:lnSpc>
              <a:spcBef>
                <a:spcPts val="0"/>
              </a:spcBef>
              <a:spcAft>
                <a:spcPts val="1200"/>
              </a:spcAft>
              <a:buSzPts val="1800"/>
              <a:buFont typeface="Arial" panose="020B0604020202020204" pitchFamily="34" charset="0"/>
              <a:buChar char="●"/>
            </a:pPr>
            <a:r>
              <a:rPr lang="en-US" sz="2000" dirty="0"/>
              <a:t>Schemes provide integrity by </a:t>
            </a:r>
            <a:r>
              <a:rPr lang="en-US" sz="2000" dirty="0">
                <a:solidFill>
                  <a:srgbClr val="C00000"/>
                </a:solidFill>
              </a:rPr>
              <a:t>adding a tag or signature </a:t>
            </a:r>
            <a:r>
              <a:rPr lang="en-US" sz="2000" dirty="0"/>
              <a:t>on messages</a:t>
            </a:r>
          </a:p>
          <a:p>
            <a:pPr marL="457200" indent="-342900">
              <a:lnSpc>
                <a:spcPct val="80000"/>
              </a:lnSpc>
              <a:spcBef>
                <a:spcPts val="0"/>
              </a:spcBef>
              <a:spcAft>
                <a:spcPts val="1200"/>
              </a:spcAft>
              <a:buSzPts val="1800"/>
              <a:buFont typeface="Arial" panose="020B0604020202020204" pitchFamily="34" charset="0"/>
              <a:buChar char="●"/>
            </a:pPr>
            <a:r>
              <a:rPr lang="en-US" sz="2000" dirty="0"/>
              <a:t>Analogy: Adding a seal on the message</a:t>
            </a:r>
          </a:p>
          <a:p>
            <a:pPr marL="914400" lvl="1" indent="-342900">
              <a:lnSpc>
                <a:spcPct val="80000"/>
              </a:lnSpc>
              <a:spcBef>
                <a:spcPts val="0"/>
              </a:spcBef>
              <a:spcAft>
                <a:spcPts val="1200"/>
              </a:spcAft>
              <a:buSzPts val="1800"/>
              <a:buFont typeface="Arial" panose="020B0604020202020204" pitchFamily="34" charset="0"/>
              <a:buChar char="●"/>
            </a:pPr>
            <a:r>
              <a:rPr lang="en-US" sz="2000" dirty="0"/>
              <a:t>Alice uses the key to add a special seal on the message (e.g. puts tape on the envelope)</a:t>
            </a:r>
          </a:p>
          <a:p>
            <a:pPr marL="914400" lvl="1" indent="-342900">
              <a:lnSpc>
                <a:spcPct val="80000"/>
              </a:lnSpc>
              <a:spcBef>
                <a:spcPts val="0"/>
              </a:spcBef>
              <a:spcAft>
                <a:spcPts val="1200"/>
              </a:spcAft>
              <a:buSzPts val="1800"/>
              <a:buFont typeface="Arial" panose="020B0604020202020204" pitchFamily="34" charset="0"/>
              <a:buChar char="●"/>
            </a:pPr>
            <a:r>
              <a:rPr lang="en-US" sz="2000" dirty="0"/>
              <a:t>Alice sends the message and the seal over the insecure channel</a:t>
            </a:r>
          </a:p>
          <a:p>
            <a:pPr marL="914400" lvl="1" indent="-342900">
              <a:lnSpc>
                <a:spcPct val="80000"/>
              </a:lnSpc>
              <a:spcBef>
                <a:spcPts val="0"/>
              </a:spcBef>
              <a:spcAft>
                <a:spcPts val="1200"/>
              </a:spcAft>
              <a:buSzPts val="1800"/>
              <a:buFont typeface="Arial" panose="020B0604020202020204" pitchFamily="34" charset="0"/>
              <a:buChar char="●"/>
            </a:pPr>
            <a:r>
              <a:rPr lang="en-US" sz="2000" dirty="0"/>
              <a:t>If Mallory tampers with the message, she’ll break the seal (e.g. break the tape on the envelope)</a:t>
            </a:r>
          </a:p>
          <a:p>
            <a:pPr marL="914400" lvl="1" indent="-342900">
              <a:lnSpc>
                <a:spcPct val="80000"/>
              </a:lnSpc>
              <a:spcBef>
                <a:spcPts val="0"/>
              </a:spcBef>
              <a:spcAft>
                <a:spcPts val="1200"/>
              </a:spcAft>
              <a:buSzPts val="1800"/>
              <a:buFont typeface="Arial" panose="020B0604020202020204" pitchFamily="34" charset="0"/>
              <a:buChar char="●"/>
            </a:pPr>
            <a:r>
              <a:rPr lang="en-US" sz="2000" dirty="0"/>
              <a:t>Without the key, Mallory cannot create her own seal</a:t>
            </a:r>
          </a:p>
          <a:p>
            <a:pPr marL="914400" lvl="1" indent="-342900">
              <a:lnSpc>
                <a:spcPct val="80000"/>
              </a:lnSpc>
              <a:spcBef>
                <a:spcPts val="0"/>
              </a:spcBef>
              <a:spcAft>
                <a:spcPts val="1200"/>
              </a:spcAft>
              <a:buSzPts val="1800"/>
              <a:buFont typeface="Arial" panose="020B0604020202020204" pitchFamily="34" charset="0"/>
              <a:buChar char="●"/>
            </a:pPr>
            <a:r>
              <a:rPr lang="en-US" sz="2000" dirty="0"/>
              <a:t>Bob receives the message and the seal and checks that the seal has not been broken</a:t>
            </a:r>
          </a:p>
        </p:txBody>
      </p:sp>
      <p:grpSp>
        <p:nvGrpSpPr>
          <p:cNvPr id="65" name="Group 64">
            <a:extLst>
              <a:ext uri="{FF2B5EF4-FFF2-40B4-BE49-F238E27FC236}">
                <a16:creationId xmlns:a16="http://schemas.microsoft.com/office/drawing/2014/main" id="{D055108B-7D07-A8B4-9BFF-A099A7665E0C}"/>
              </a:ext>
            </a:extLst>
          </p:cNvPr>
          <p:cNvGrpSpPr/>
          <p:nvPr/>
        </p:nvGrpSpPr>
        <p:grpSpPr>
          <a:xfrm>
            <a:off x="1579725" y="4123199"/>
            <a:ext cx="8618574" cy="2684038"/>
            <a:chOff x="1579725" y="4123199"/>
            <a:chExt cx="8618574" cy="2684038"/>
          </a:xfrm>
        </p:grpSpPr>
        <p:sp>
          <p:nvSpPr>
            <p:cNvPr id="3" name="Google Shape;249;p34">
              <a:extLst>
                <a:ext uri="{FF2B5EF4-FFF2-40B4-BE49-F238E27FC236}">
                  <a16:creationId xmlns:a16="http://schemas.microsoft.com/office/drawing/2014/main" id="{CF57028A-8BDA-EF2D-B31F-020EF925D241}"/>
                </a:ext>
              </a:extLst>
            </p:cNvPr>
            <p:cNvSpPr/>
            <p:nvPr/>
          </p:nvSpPr>
          <p:spPr>
            <a:xfrm>
              <a:off x="6864926" y="412319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50;p34">
              <a:extLst>
                <a:ext uri="{FF2B5EF4-FFF2-40B4-BE49-F238E27FC236}">
                  <a16:creationId xmlns:a16="http://schemas.microsoft.com/office/drawing/2014/main" id="{8B8DB47E-F1C3-F409-3AAA-FA86965CA9A0}"/>
                </a:ext>
              </a:extLst>
            </p:cNvPr>
            <p:cNvSpPr/>
            <p:nvPr/>
          </p:nvSpPr>
          <p:spPr>
            <a:xfrm>
              <a:off x="1671026" y="412319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4;p34">
              <a:extLst>
                <a:ext uri="{FF2B5EF4-FFF2-40B4-BE49-F238E27FC236}">
                  <a16:creationId xmlns:a16="http://schemas.microsoft.com/office/drawing/2014/main" id="{C974686A-7CAC-ABC4-13BF-07799DD54DE5}"/>
                </a:ext>
              </a:extLst>
            </p:cNvPr>
            <p:cNvSpPr/>
            <p:nvPr/>
          </p:nvSpPr>
          <p:spPr>
            <a:xfrm>
              <a:off x="1794075"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sp>
          <p:nvSpPr>
            <p:cNvPr id="6" name="Google Shape;255;p34">
              <a:extLst>
                <a:ext uri="{FF2B5EF4-FFF2-40B4-BE49-F238E27FC236}">
                  <a16:creationId xmlns:a16="http://schemas.microsoft.com/office/drawing/2014/main" id="{D86C9E58-AA6E-B835-FFA3-86C85BC68820}"/>
                </a:ext>
              </a:extLst>
            </p:cNvPr>
            <p:cNvSpPr/>
            <p:nvPr/>
          </p:nvSpPr>
          <p:spPr>
            <a:xfrm>
              <a:off x="3849526" y="4218874"/>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7" name="Google Shape;256;p34">
              <a:extLst>
                <a:ext uri="{FF2B5EF4-FFF2-40B4-BE49-F238E27FC236}">
                  <a16:creationId xmlns:a16="http://schemas.microsoft.com/office/drawing/2014/main" id="{8F04179F-E5CF-7AA1-989E-70425388D048}"/>
                </a:ext>
              </a:extLst>
            </p:cNvPr>
            <p:cNvSpPr/>
            <p:nvPr/>
          </p:nvSpPr>
          <p:spPr>
            <a:xfrm>
              <a:off x="3563648"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Seal</a:t>
              </a:r>
              <a:endParaRPr/>
            </a:p>
          </p:txBody>
        </p:sp>
        <p:cxnSp>
          <p:nvCxnSpPr>
            <p:cNvPr id="8" name="Google Shape;257;p34">
              <a:extLst>
                <a:ext uri="{FF2B5EF4-FFF2-40B4-BE49-F238E27FC236}">
                  <a16:creationId xmlns:a16="http://schemas.microsoft.com/office/drawing/2014/main" id="{6CB2CF10-21C9-FF1F-75D3-5B418F635AF8}"/>
                </a:ext>
              </a:extLst>
            </p:cNvPr>
            <p:cNvCxnSpPr>
              <a:stCxn id="6" idx="2"/>
              <a:endCxn id="7" idx="0"/>
            </p:cNvCxnSpPr>
            <p:nvPr/>
          </p:nvCxnSpPr>
          <p:spPr>
            <a:xfrm>
              <a:off x="4123876" y="4688974"/>
              <a:ext cx="7372" cy="310950"/>
            </a:xfrm>
            <a:prstGeom prst="straightConnector1">
              <a:avLst/>
            </a:prstGeom>
            <a:noFill/>
            <a:ln w="9525" cap="flat" cmpd="sng">
              <a:solidFill>
                <a:schemeClr val="dk2"/>
              </a:solidFill>
              <a:prstDash val="solid"/>
              <a:round/>
              <a:headEnd type="none" w="med" len="med"/>
              <a:tailEnd type="triangle" w="med" len="med"/>
            </a:ln>
          </p:spPr>
        </p:cxnSp>
        <p:cxnSp>
          <p:nvCxnSpPr>
            <p:cNvPr id="9" name="Google Shape;258;p34">
              <a:extLst>
                <a:ext uri="{FF2B5EF4-FFF2-40B4-BE49-F238E27FC236}">
                  <a16:creationId xmlns:a16="http://schemas.microsoft.com/office/drawing/2014/main" id="{FF83353D-43A4-22AE-8929-E89C32EC5346}"/>
                </a:ext>
              </a:extLst>
            </p:cNvPr>
            <p:cNvCxnSpPr>
              <a:endCxn id="7" idx="1"/>
            </p:cNvCxnSpPr>
            <p:nvPr/>
          </p:nvCxnSpPr>
          <p:spPr>
            <a:xfrm>
              <a:off x="2929876" y="5234974"/>
              <a:ext cx="633772" cy="0"/>
            </a:xfrm>
            <a:prstGeom prst="straightConnector1">
              <a:avLst/>
            </a:prstGeom>
            <a:noFill/>
            <a:ln w="9525" cap="flat" cmpd="sng">
              <a:solidFill>
                <a:schemeClr val="dk2"/>
              </a:solidFill>
              <a:prstDash val="solid"/>
              <a:round/>
              <a:headEnd type="none" w="med" len="med"/>
              <a:tailEnd type="triangle" w="med" len="med"/>
            </a:ln>
          </p:spPr>
        </p:cxnSp>
        <p:sp>
          <p:nvSpPr>
            <p:cNvPr id="10" name="Google Shape;259;p34">
              <a:extLst>
                <a:ext uri="{FF2B5EF4-FFF2-40B4-BE49-F238E27FC236}">
                  <a16:creationId xmlns:a16="http://schemas.microsoft.com/office/drawing/2014/main" id="{07107C11-14B8-6998-9DA7-B1289F1937DB}"/>
                </a:ext>
              </a:extLst>
            </p:cNvPr>
            <p:cNvSpPr/>
            <p:nvPr/>
          </p:nvSpPr>
          <p:spPr>
            <a:xfrm>
              <a:off x="5321663"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cxnSp>
          <p:nvCxnSpPr>
            <p:cNvPr id="11" name="Google Shape;260;p34">
              <a:extLst>
                <a:ext uri="{FF2B5EF4-FFF2-40B4-BE49-F238E27FC236}">
                  <a16:creationId xmlns:a16="http://schemas.microsoft.com/office/drawing/2014/main" id="{8D9B1FDD-6A29-E61A-008B-CC10CFEF9C3B}"/>
                </a:ext>
              </a:extLst>
            </p:cNvPr>
            <p:cNvCxnSpPr>
              <a:stCxn id="7" idx="3"/>
              <a:endCxn id="10" idx="1"/>
            </p:cNvCxnSpPr>
            <p:nvPr/>
          </p:nvCxnSpPr>
          <p:spPr>
            <a:xfrm>
              <a:off x="4698848" y="5234974"/>
              <a:ext cx="622815" cy="0"/>
            </a:xfrm>
            <a:prstGeom prst="straightConnector1">
              <a:avLst/>
            </a:prstGeom>
            <a:noFill/>
            <a:ln w="9525" cap="flat" cmpd="sng">
              <a:solidFill>
                <a:schemeClr val="dk2"/>
              </a:solidFill>
              <a:prstDash val="solid"/>
              <a:round/>
              <a:headEnd type="none" w="med" len="med"/>
              <a:tailEnd type="triangle" w="med" len="med"/>
            </a:ln>
          </p:spPr>
        </p:cxnSp>
        <p:cxnSp>
          <p:nvCxnSpPr>
            <p:cNvPr id="12" name="Google Shape;261;p34">
              <a:extLst>
                <a:ext uri="{FF2B5EF4-FFF2-40B4-BE49-F238E27FC236}">
                  <a16:creationId xmlns:a16="http://schemas.microsoft.com/office/drawing/2014/main" id="{11611A64-D85F-242B-3B90-12D81F8F619B}"/>
                </a:ext>
              </a:extLst>
            </p:cNvPr>
            <p:cNvCxnSpPr>
              <a:stCxn id="10" idx="3"/>
              <a:endCxn id="14" idx="1"/>
            </p:cNvCxnSpPr>
            <p:nvPr/>
          </p:nvCxnSpPr>
          <p:spPr>
            <a:xfrm>
              <a:off x="6456863" y="5234974"/>
              <a:ext cx="630187" cy="75"/>
            </a:xfrm>
            <a:prstGeom prst="straightConnector1">
              <a:avLst/>
            </a:prstGeom>
            <a:noFill/>
            <a:ln w="9525" cap="flat" cmpd="sng">
              <a:solidFill>
                <a:schemeClr val="dk2"/>
              </a:solidFill>
              <a:prstDash val="solid"/>
              <a:round/>
              <a:headEnd type="none" w="med" len="med"/>
              <a:tailEnd type="triangle" w="med" len="med"/>
            </a:ln>
          </p:spPr>
        </p:cxnSp>
        <p:sp>
          <p:nvSpPr>
            <p:cNvPr id="13" name="Google Shape;263;p34">
              <a:extLst>
                <a:ext uri="{FF2B5EF4-FFF2-40B4-BE49-F238E27FC236}">
                  <a16:creationId xmlns:a16="http://schemas.microsoft.com/office/drawing/2014/main" id="{95725BDD-FEC0-2456-7FD8-E0E1AA41F56E}"/>
                </a:ext>
              </a:extLst>
            </p:cNvPr>
            <p:cNvSpPr/>
            <p:nvPr/>
          </p:nvSpPr>
          <p:spPr>
            <a:xfrm>
              <a:off x="7372926" y="4218949"/>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14" name="Google Shape;262;p34">
              <a:extLst>
                <a:ext uri="{FF2B5EF4-FFF2-40B4-BE49-F238E27FC236}">
                  <a16:creationId xmlns:a16="http://schemas.microsoft.com/office/drawing/2014/main" id="{B56DD5B8-0B59-E035-7E71-BDA0E06567B1}"/>
                </a:ext>
              </a:extLst>
            </p:cNvPr>
            <p:cNvSpPr/>
            <p:nvPr/>
          </p:nvSpPr>
          <p:spPr>
            <a:xfrm>
              <a:off x="7087050" y="4999999"/>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Check Seal</a:t>
              </a:r>
              <a:endParaRPr dirty="0"/>
            </a:p>
          </p:txBody>
        </p:sp>
        <p:cxnSp>
          <p:nvCxnSpPr>
            <p:cNvPr id="15" name="Google Shape;264;p34">
              <a:extLst>
                <a:ext uri="{FF2B5EF4-FFF2-40B4-BE49-F238E27FC236}">
                  <a16:creationId xmlns:a16="http://schemas.microsoft.com/office/drawing/2014/main" id="{E99CF48B-2DB7-CC5D-BE78-3D0EA51E230F}"/>
                </a:ext>
              </a:extLst>
            </p:cNvPr>
            <p:cNvCxnSpPr>
              <a:stCxn id="13" idx="2"/>
              <a:endCxn id="14" idx="0"/>
            </p:cNvCxnSpPr>
            <p:nvPr/>
          </p:nvCxnSpPr>
          <p:spPr>
            <a:xfrm>
              <a:off x="7647276" y="4689049"/>
              <a:ext cx="7374" cy="310950"/>
            </a:xfrm>
            <a:prstGeom prst="straightConnector1">
              <a:avLst/>
            </a:prstGeom>
            <a:noFill/>
            <a:ln w="9525" cap="flat" cmpd="sng">
              <a:solidFill>
                <a:schemeClr val="dk2"/>
              </a:solidFill>
              <a:prstDash val="solid"/>
              <a:round/>
              <a:headEnd type="none" w="med" len="med"/>
              <a:tailEnd type="triangle" w="med" len="med"/>
            </a:ln>
          </p:spPr>
        </p:cxnSp>
        <p:sp>
          <p:nvSpPr>
            <p:cNvPr id="16" name="Google Shape;265;p34">
              <a:extLst>
                <a:ext uri="{FF2B5EF4-FFF2-40B4-BE49-F238E27FC236}">
                  <a16:creationId xmlns:a16="http://schemas.microsoft.com/office/drawing/2014/main" id="{813500FC-80FD-6992-308E-4FB8B781ABA4}"/>
                </a:ext>
              </a:extLst>
            </p:cNvPr>
            <p:cNvSpPr/>
            <p:nvPr/>
          </p:nvSpPr>
          <p:spPr>
            <a:xfrm>
              <a:off x="8848749"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cxnSp>
          <p:nvCxnSpPr>
            <p:cNvPr id="17" name="Google Shape;266;p34">
              <a:extLst>
                <a:ext uri="{FF2B5EF4-FFF2-40B4-BE49-F238E27FC236}">
                  <a16:creationId xmlns:a16="http://schemas.microsoft.com/office/drawing/2014/main" id="{AFB76E62-1A66-0BA4-80D0-38F3DA58DE88}"/>
                </a:ext>
              </a:extLst>
            </p:cNvPr>
            <p:cNvCxnSpPr>
              <a:stCxn id="14" idx="3"/>
              <a:endCxn id="16" idx="1"/>
            </p:cNvCxnSpPr>
            <p:nvPr/>
          </p:nvCxnSpPr>
          <p:spPr>
            <a:xfrm flipV="1">
              <a:off x="8222250" y="5234974"/>
              <a:ext cx="626499" cy="75"/>
            </a:xfrm>
            <a:prstGeom prst="straightConnector1">
              <a:avLst/>
            </a:prstGeom>
            <a:noFill/>
            <a:ln w="9525" cap="flat" cmpd="sng">
              <a:solidFill>
                <a:schemeClr val="dk2"/>
              </a:solidFill>
              <a:prstDash val="solid"/>
              <a:round/>
              <a:headEnd type="none" w="med" len="med"/>
              <a:tailEnd type="triangle" w="med" len="med"/>
            </a:ln>
          </p:spPr>
        </p:cxnSp>
        <p:sp>
          <p:nvSpPr>
            <p:cNvPr id="18" name="Google Shape;267;p34">
              <a:extLst>
                <a:ext uri="{FF2B5EF4-FFF2-40B4-BE49-F238E27FC236}">
                  <a16:creationId xmlns:a16="http://schemas.microsoft.com/office/drawing/2014/main" id="{4EBDA10F-56D3-2EBA-19A5-CA4DD550131C}"/>
                </a:ext>
              </a:extLst>
            </p:cNvPr>
            <p:cNvSpPr txBox="1"/>
            <p:nvPr/>
          </p:nvSpPr>
          <p:spPr>
            <a:xfrm>
              <a:off x="1671026" y="4123199"/>
              <a:ext cx="7653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Alice</a:t>
              </a:r>
              <a:endParaRPr/>
            </a:p>
          </p:txBody>
        </p:sp>
        <p:sp>
          <p:nvSpPr>
            <p:cNvPr id="19" name="Google Shape;268;p34">
              <a:extLst>
                <a:ext uri="{FF2B5EF4-FFF2-40B4-BE49-F238E27FC236}">
                  <a16:creationId xmlns:a16="http://schemas.microsoft.com/office/drawing/2014/main" id="{4B1C1BDD-83FC-5B87-C81E-2D7620DAAF92}"/>
                </a:ext>
              </a:extLst>
            </p:cNvPr>
            <p:cNvSpPr txBox="1"/>
            <p:nvPr/>
          </p:nvSpPr>
          <p:spPr>
            <a:xfrm>
              <a:off x="9334826" y="4123199"/>
              <a:ext cx="765300" cy="461635"/>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t>Bob</a:t>
              </a:r>
              <a:endParaRPr/>
            </a:p>
          </p:txBody>
        </p:sp>
        <p:sp>
          <p:nvSpPr>
            <p:cNvPr id="20" name="Google Shape;269;p34">
              <a:extLst>
                <a:ext uri="{FF2B5EF4-FFF2-40B4-BE49-F238E27FC236}">
                  <a16:creationId xmlns:a16="http://schemas.microsoft.com/office/drawing/2014/main" id="{FB863A1C-4749-E4C7-224B-E67A1E11E54A}"/>
                </a:ext>
              </a:extLst>
            </p:cNvPr>
            <p:cNvSpPr txBox="1"/>
            <p:nvPr/>
          </p:nvSpPr>
          <p:spPr>
            <a:xfrm>
              <a:off x="4906226" y="4123199"/>
              <a:ext cx="19587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C00000"/>
                  </a:solidFill>
                </a:rPr>
                <a:t>Insecure Channel</a:t>
              </a:r>
              <a:endParaRPr dirty="0">
                <a:solidFill>
                  <a:srgbClr val="C00000"/>
                </a:solidFill>
              </a:endParaRPr>
            </a:p>
          </p:txBody>
        </p:sp>
        <p:sp>
          <p:nvSpPr>
            <p:cNvPr id="21" name="Google Shape;270;p34">
              <a:extLst>
                <a:ext uri="{FF2B5EF4-FFF2-40B4-BE49-F238E27FC236}">
                  <a16:creationId xmlns:a16="http://schemas.microsoft.com/office/drawing/2014/main" id="{73BE257D-C237-C3BB-BE82-351DC42FE69C}"/>
                </a:ext>
              </a:extLst>
            </p:cNvPr>
            <p:cNvSpPr/>
            <p:nvPr/>
          </p:nvSpPr>
          <p:spPr>
            <a:xfrm>
              <a:off x="5321663" y="5470024"/>
              <a:ext cx="1135200" cy="25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Seal</a:t>
              </a:r>
              <a:endParaRPr/>
            </a:p>
          </p:txBody>
        </p:sp>
        <p:sp>
          <p:nvSpPr>
            <p:cNvPr id="23" name="Google Shape;193;p30">
              <a:extLst>
                <a:ext uri="{FF2B5EF4-FFF2-40B4-BE49-F238E27FC236}">
                  <a16:creationId xmlns:a16="http://schemas.microsoft.com/office/drawing/2014/main" id="{479FB264-C9D9-C4A5-24E1-20A980ED3806}"/>
                </a:ext>
              </a:extLst>
            </p:cNvPr>
            <p:cNvSpPr/>
            <p:nvPr/>
          </p:nvSpPr>
          <p:spPr>
            <a:xfrm>
              <a:off x="3419719" y="6043431"/>
              <a:ext cx="1423058"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Create Tag</a:t>
              </a:r>
              <a:endParaRPr dirty="0"/>
            </a:p>
          </p:txBody>
        </p:sp>
        <p:sp>
          <p:nvSpPr>
            <p:cNvPr id="25" name="Google Shape;199;p30">
              <a:extLst>
                <a:ext uri="{FF2B5EF4-FFF2-40B4-BE49-F238E27FC236}">
                  <a16:creationId xmlns:a16="http://schemas.microsoft.com/office/drawing/2014/main" id="{6771A7BC-A1E6-BFEF-FC19-CE11846B14BB}"/>
                </a:ext>
              </a:extLst>
            </p:cNvPr>
            <p:cNvSpPr/>
            <p:nvPr/>
          </p:nvSpPr>
          <p:spPr>
            <a:xfrm>
              <a:off x="6923250" y="6038412"/>
              <a:ext cx="14628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Verify Tag</a:t>
              </a:r>
              <a:endParaRPr dirty="0"/>
            </a:p>
          </p:txBody>
        </p:sp>
        <p:cxnSp>
          <p:nvCxnSpPr>
            <p:cNvPr id="26" name="Straight Arrow Connector 25">
              <a:extLst>
                <a:ext uri="{FF2B5EF4-FFF2-40B4-BE49-F238E27FC236}">
                  <a16:creationId xmlns:a16="http://schemas.microsoft.com/office/drawing/2014/main" id="{335DFF6D-0B42-3536-6A3E-497E461C8291}"/>
                </a:ext>
              </a:extLst>
            </p:cNvPr>
            <p:cNvCxnSpPr>
              <a:cxnSpLocks/>
              <a:stCxn id="7" idx="2"/>
              <a:endCxn id="23" idx="0"/>
            </p:cNvCxnSpPr>
            <p:nvPr/>
          </p:nvCxnSpPr>
          <p:spPr>
            <a:xfrm>
              <a:off x="4131248" y="5470024"/>
              <a:ext cx="0" cy="573407"/>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00922A6-55DF-0771-21FF-4D934F92651F}"/>
                </a:ext>
              </a:extLst>
            </p:cNvPr>
            <p:cNvCxnSpPr>
              <a:cxnSpLocks/>
              <a:stCxn id="21" idx="2"/>
              <a:endCxn id="49" idx="0"/>
            </p:cNvCxnSpPr>
            <p:nvPr/>
          </p:nvCxnSpPr>
          <p:spPr>
            <a:xfrm>
              <a:off x="5889263" y="5726524"/>
              <a:ext cx="0" cy="358180"/>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AB7FFC1-E818-6FFC-825D-83FA7AC3B171}"/>
                </a:ext>
              </a:extLst>
            </p:cNvPr>
            <p:cNvCxnSpPr>
              <a:cxnSpLocks/>
              <a:stCxn id="14" idx="2"/>
              <a:endCxn id="25" idx="0"/>
            </p:cNvCxnSpPr>
            <p:nvPr/>
          </p:nvCxnSpPr>
          <p:spPr>
            <a:xfrm>
              <a:off x="7654650" y="5470099"/>
              <a:ext cx="0" cy="568313"/>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9" name="Google Shape;196;p30">
              <a:extLst>
                <a:ext uri="{FF2B5EF4-FFF2-40B4-BE49-F238E27FC236}">
                  <a16:creationId xmlns:a16="http://schemas.microsoft.com/office/drawing/2014/main" id="{08417CEA-8967-E51B-9AF3-0424E969C1F3}"/>
                </a:ext>
              </a:extLst>
            </p:cNvPr>
            <p:cNvSpPr/>
            <p:nvPr/>
          </p:nvSpPr>
          <p:spPr>
            <a:xfrm>
              <a:off x="1579725" y="6060585"/>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t>Plaintext</a:t>
              </a:r>
              <a:endParaRPr dirty="0"/>
            </a:p>
          </p:txBody>
        </p:sp>
        <p:sp>
          <p:nvSpPr>
            <p:cNvPr id="30" name="Google Shape;196;p30">
              <a:extLst>
                <a:ext uri="{FF2B5EF4-FFF2-40B4-BE49-F238E27FC236}">
                  <a16:creationId xmlns:a16="http://schemas.microsoft.com/office/drawing/2014/main" id="{DA73C927-963B-1E63-4ADD-71161A45C551}"/>
                </a:ext>
              </a:extLst>
            </p:cNvPr>
            <p:cNvSpPr/>
            <p:nvPr/>
          </p:nvSpPr>
          <p:spPr>
            <a:xfrm>
              <a:off x="8634399" y="603239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cxnSp>
          <p:nvCxnSpPr>
            <p:cNvPr id="31" name="Straight Arrow Connector 30">
              <a:extLst>
                <a:ext uri="{FF2B5EF4-FFF2-40B4-BE49-F238E27FC236}">
                  <a16:creationId xmlns:a16="http://schemas.microsoft.com/office/drawing/2014/main" id="{C86E2588-83F9-E418-FB7C-EAF1A2ED2493}"/>
                </a:ext>
              </a:extLst>
            </p:cNvPr>
            <p:cNvCxnSpPr>
              <a:cxnSpLocks/>
              <a:stCxn id="5" idx="2"/>
              <a:endCxn id="29" idx="0"/>
            </p:cNvCxnSpPr>
            <p:nvPr/>
          </p:nvCxnSpPr>
          <p:spPr>
            <a:xfrm>
              <a:off x="2361675" y="5470024"/>
              <a:ext cx="0" cy="590561"/>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6EAD621D-8A5C-E81A-CA6E-D9D14EC0D921}"/>
                </a:ext>
              </a:extLst>
            </p:cNvPr>
            <p:cNvCxnSpPr>
              <a:cxnSpLocks/>
              <a:stCxn id="16" idx="2"/>
              <a:endCxn id="30" idx="0"/>
            </p:cNvCxnSpPr>
            <p:nvPr/>
          </p:nvCxnSpPr>
          <p:spPr>
            <a:xfrm>
              <a:off x="9416349" y="5470024"/>
              <a:ext cx="0" cy="562375"/>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9" name="Google Shape;259;p34">
              <a:extLst>
                <a:ext uri="{FF2B5EF4-FFF2-40B4-BE49-F238E27FC236}">
                  <a16:creationId xmlns:a16="http://schemas.microsoft.com/office/drawing/2014/main" id="{ACE0C58A-6327-FDD2-5F89-625B0045D4D9}"/>
                </a:ext>
              </a:extLst>
            </p:cNvPr>
            <p:cNvSpPr/>
            <p:nvPr/>
          </p:nvSpPr>
          <p:spPr>
            <a:xfrm>
              <a:off x="5321663" y="608470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sp>
          <p:nvSpPr>
            <p:cNvPr id="50" name="Google Shape;270;p34">
              <a:extLst>
                <a:ext uri="{FF2B5EF4-FFF2-40B4-BE49-F238E27FC236}">
                  <a16:creationId xmlns:a16="http://schemas.microsoft.com/office/drawing/2014/main" id="{4665E9D2-216C-5287-1956-AB4E18140CED}"/>
                </a:ext>
              </a:extLst>
            </p:cNvPr>
            <p:cNvSpPr/>
            <p:nvPr/>
          </p:nvSpPr>
          <p:spPr>
            <a:xfrm>
              <a:off x="5321663" y="6550737"/>
              <a:ext cx="1135200" cy="25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Tag</a:t>
              </a:r>
              <a:endParaRPr dirty="0"/>
            </a:p>
          </p:txBody>
        </p:sp>
      </p:grpSp>
    </p:spTree>
    <p:extLst>
      <p:ext uri="{BB962C8B-B14F-4D97-AF65-F5344CB8AC3E}">
        <p14:creationId xmlns:p14="http://schemas.microsoft.com/office/powerpoint/2010/main" val="96017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78;p35">
            <a:extLst>
              <a:ext uri="{FF2B5EF4-FFF2-40B4-BE49-F238E27FC236}">
                <a16:creationId xmlns:a16="http://schemas.microsoft.com/office/drawing/2014/main" id="{F6C93510-9DD5-855C-21E0-7331E7C74C2D}"/>
              </a:ext>
            </a:extLst>
          </p:cNvPr>
          <p:cNvSpPr txBox="1">
            <a:spLocks/>
          </p:cNvSpPr>
          <p:nvPr/>
        </p:nvSpPr>
        <p:spPr>
          <a:xfrm>
            <a:off x="838200" y="1032387"/>
            <a:ext cx="10515600" cy="2813103"/>
          </a:xfrm>
          <a:prstGeom prst="rect">
            <a:avLst/>
          </a:prstGeom>
        </p:spPr>
        <p:txBody>
          <a:bodyPr spcFirstLastPara="1" vert="horz" wrap="square" lIns="91425" tIns="91425" rIns="91425" bIns="91425" rtlCol="0" anchor="t" anchorCtr="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1200"/>
              </a:spcAft>
              <a:buSzPts val="1800"/>
              <a:buFont typeface="Arial" panose="020B0604020202020204" pitchFamily="34" charset="0"/>
              <a:buChar char="●"/>
            </a:pPr>
            <a:r>
              <a:rPr lang="en-US" dirty="0"/>
              <a:t>Schemes provide integrity by adding a </a:t>
            </a:r>
            <a:r>
              <a:rPr lang="en-US" b="1" dirty="0"/>
              <a:t>tag</a:t>
            </a:r>
            <a:r>
              <a:rPr lang="en-US" dirty="0"/>
              <a:t> or </a:t>
            </a:r>
            <a:r>
              <a:rPr lang="en-US" b="1" dirty="0"/>
              <a:t>signature</a:t>
            </a:r>
            <a:r>
              <a:rPr lang="en-US" dirty="0"/>
              <a:t> on messages</a:t>
            </a:r>
          </a:p>
          <a:p>
            <a:pPr marL="914400" lvl="1" indent="-342900">
              <a:spcBef>
                <a:spcPts val="0"/>
              </a:spcBef>
              <a:spcAft>
                <a:spcPts val="1200"/>
              </a:spcAft>
              <a:buSzPts val="1800"/>
              <a:buFont typeface="Arial" panose="020B0604020202020204" pitchFamily="34" charset="0"/>
              <a:buChar char="●"/>
            </a:pPr>
            <a:r>
              <a:rPr lang="en-US" dirty="0"/>
              <a:t>Alice uses the key to generate a special tag for the message</a:t>
            </a:r>
          </a:p>
          <a:p>
            <a:pPr marL="914400" lvl="1" indent="-342900">
              <a:spcBef>
                <a:spcPts val="0"/>
              </a:spcBef>
              <a:spcAft>
                <a:spcPts val="1200"/>
              </a:spcAft>
              <a:buSzPts val="1800"/>
              <a:buFont typeface="Arial" panose="020B0604020202020204" pitchFamily="34" charset="0"/>
              <a:buChar char="●"/>
            </a:pPr>
            <a:r>
              <a:rPr lang="en-US" dirty="0"/>
              <a:t>Alice sends the message and the tag over the insecure channel</a:t>
            </a:r>
          </a:p>
          <a:p>
            <a:pPr marL="914400" lvl="1" indent="-342900">
              <a:spcBef>
                <a:spcPts val="0"/>
              </a:spcBef>
              <a:spcAft>
                <a:spcPts val="1200"/>
              </a:spcAft>
              <a:buSzPts val="1800"/>
              <a:buFont typeface="Arial" panose="020B0604020202020204" pitchFamily="34" charset="0"/>
              <a:buChar char="●"/>
            </a:pPr>
            <a:r>
              <a:rPr lang="en-US" dirty="0"/>
              <a:t>If Mallory tampers with the message, the tag will no longer be valid</a:t>
            </a:r>
          </a:p>
          <a:p>
            <a:pPr marL="914400" lvl="1" indent="-342900">
              <a:spcBef>
                <a:spcPts val="0"/>
              </a:spcBef>
              <a:spcAft>
                <a:spcPts val="1200"/>
              </a:spcAft>
              <a:buSzPts val="1800"/>
              <a:buFont typeface="Arial" panose="020B0604020202020204" pitchFamily="34" charset="0"/>
              <a:buChar char="●"/>
            </a:pPr>
            <a:r>
              <a:rPr lang="en-US" dirty="0"/>
              <a:t>Bob receives the message and the tag and checks that the tag is still valid</a:t>
            </a:r>
          </a:p>
          <a:p>
            <a:pPr marL="457200" indent="-342900">
              <a:spcBef>
                <a:spcPts val="0"/>
              </a:spcBef>
              <a:spcAft>
                <a:spcPts val="1200"/>
              </a:spcAft>
              <a:buSzPts val="1800"/>
              <a:buFont typeface="Arial" panose="020B0604020202020204" pitchFamily="34" charset="0"/>
              <a:buChar char="●"/>
            </a:pPr>
            <a:r>
              <a:rPr lang="en-US" dirty="0"/>
              <a:t>More on </a:t>
            </a:r>
            <a:r>
              <a:rPr lang="en-US" altLang="zh-CN" dirty="0"/>
              <a:t>I</a:t>
            </a:r>
            <a:r>
              <a:rPr lang="en-US" dirty="0"/>
              <a:t>ntegrity and Authenticity in a future lecture</a:t>
            </a:r>
          </a:p>
        </p:txBody>
      </p:sp>
      <p:grpSp>
        <p:nvGrpSpPr>
          <p:cNvPr id="23" name="Group 22">
            <a:extLst>
              <a:ext uri="{FF2B5EF4-FFF2-40B4-BE49-F238E27FC236}">
                <a16:creationId xmlns:a16="http://schemas.microsoft.com/office/drawing/2014/main" id="{0F4FEB21-2C0A-68F0-2D03-34A951176C0B}"/>
              </a:ext>
            </a:extLst>
          </p:cNvPr>
          <p:cNvGrpSpPr/>
          <p:nvPr/>
        </p:nvGrpSpPr>
        <p:grpSpPr>
          <a:xfrm>
            <a:off x="1579725" y="4123199"/>
            <a:ext cx="8618574" cy="2684038"/>
            <a:chOff x="1579725" y="4123199"/>
            <a:chExt cx="8618574" cy="2684038"/>
          </a:xfrm>
        </p:grpSpPr>
        <p:sp>
          <p:nvSpPr>
            <p:cNvPr id="24" name="Google Shape;249;p34">
              <a:extLst>
                <a:ext uri="{FF2B5EF4-FFF2-40B4-BE49-F238E27FC236}">
                  <a16:creationId xmlns:a16="http://schemas.microsoft.com/office/drawing/2014/main" id="{920793AD-E924-72EC-FDD8-EEDCBA4E0E69}"/>
                </a:ext>
              </a:extLst>
            </p:cNvPr>
            <p:cNvSpPr/>
            <p:nvPr/>
          </p:nvSpPr>
          <p:spPr>
            <a:xfrm>
              <a:off x="6864926" y="412319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0;p34">
              <a:extLst>
                <a:ext uri="{FF2B5EF4-FFF2-40B4-BE49-F238E27FC236}">
                  <a16:creationId xmlns:a16="http://schemas.microsoft.com/office/drawing/2014/main" id="{884FFB02-108C-FE46-D1C0-1579CCC1A962}"/>
                </a:ext>
              </a:extLst>
            </p:cNvPr>
            <p:cNvSpPr/>
            <p:nvPr/>
          </p:nvSpPr>
          <p:spPr>
            <a:xfrm>
              <a:off x="1671026" y="4123199"/>
              <a:ext cx="3235200" cy="1439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54;p34">
              <a:extLst>
                <a:ext uri="{FF2B5EF4-FFF2-40B4-BE49-F238E27FC236}">
                  <a16:creationId xmlns:a16="http://schemas.microsoft.com/office/drawing/2014/main" id="{3E0F9191-E1CA-4C2C-CCEF-461DE23F6B06}"/>
                </a:ext>
              </a:extLst>
            </p:cNvPr>
            <p:cNvSpPr/>
            <p:nvPr/>
          </p:nvSpPr>
          <p:spPr>
            <a:xfrm>
              <a:off x="1794075"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sp>
          <p:nvSpPr>
            <p:cNvPr id="27" name="Google Shape;255;p34">
              <a:extLst>
                <a:ext uri="{FF2B5EF4-FFF2-40B4-BE49-F238E27FC236}">
                  <a16:creationId xmlns:a16="http://schemas.microsoft.com/office/drawing/2014/main" id="{D1EB1776-1EBD-AF15-B488-BF45C87D4AAF}"/>
                </a:ext>
              </a:extLst>
            </p:cNvPr>
            <p:cNvSpPr/>
            <p:nvPr/>
          </p:nvSpPr>
          <p:spPr>
            <a:xfrm>
              <a:off x="3849526" y="4218874"/>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28" name="Google Shape;256;p34">
              <a:extLst>
                <a:ext uri="{FF2B5EF4-FFF2-40B4-BE49-F238E27FC236}">
                  <a16:creationId xmlns:a16="http://schemas.microsoft.com/office/drawing/2014/main" id="{88226144-C5BF-D6BC-371A-2492C897E454}"/>
                </a:ext>
              </a:extLst>
            </p:cNvPr>
            <p:cNvSpPr/>
            <p:nvPr/>
          </p:nvSpPr>
          <p:spPr>
            <a:xfrm>
              <a:off x="3563648"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Create Seal</a:t>
              </a:r>
              <a:endParaRPr/>
            </a:p>
          </p:txBody>
        </p:sp>
        <p:cxnSp>
          <p:nvCxnSpPr>
            <p:cNvPr id="29" name="Google Shape;257;p34">
              <a:extLst>
                <a:ext uri="{FF2B5EF4-FFF2-40B4-BE49-F238E27FC236}">
                  <a16:creationId xmlns:a16="http://schemas.microsoft.com/office/drawing/2014/main" id="{E5C04760-88A1-2ECC-4241-73C650E7D3D8}"/>
                </a:ext>
              </a:extLst>
            </p:cNvPr>
            <p:cNvCxnSpPr>
              <a:stCxn id="27" idx="2"/>
              <a:endCxn id="28" idx="0"/>
            </p:cNvCxnSpPr>
            <p:nvPr/>
          </p:nvCxnSpPr>
          <p:spPr>
            <a:xfrm>
              <a:off x="4123876" y="4688974"/>
              <a:ext cx="7372" cy="310950"/>
            </a:xfrm>
            <a:prstGeom prst="straightConnector1">
              <a:avLst/>
            </a:prstGeom>
            <a:noFill/>
            <a:ln w="9525" cap="flat" cmpd="sng">
              <a:solidFill>
                <a:schemeClr val="dk2"/>
              </a:solidFill>
              <a:prstDash val="solid"/>
              <a:round/>
              <a:headEnd type="none" w="med" len="med"/>
              <a:tailEnd type="triangle" w="med" len="med"/>
            </a:ln>
          </p:spPr>
        </p:cxnSp>
        <p:cxnSp>
          <p:nvCxnSpPr>
            <p:cNvPr id="30" name="Google Shape;258;p34">
              <a:extLst>
                <a:ext uri="{FF2B5EF4-FFF2-40B4-BE49-F238E27FC236}">
                  <a16:creationId xmlns:a16="http://schemas.microsoft.com/office/drawing/2014/main" id="{C3E0EB70-436C-776D-242C-B008D4C0E85D}"/>
                </a:ext>
              </a:extLst>
            </p:cNvPr>
            <p:cNvCxnSpPr>
              <a:endCxn id="28" idx="1"/>
            </p:cNvCxnSpPr>
            <p:nvPr/>
          </p:nvCxnSpPr>
          <p:spPr>
            <a:xfrm>
              <a:off x="2929876" y="5234974"/>
              <a:ext cx="633772" cy="0"/>
            </a:xfrm>
            <a:prstGeom prst="straightConnector1">
              <a:avLst/>
            </a:prstGeom>
            <a:noFill/>
            <a:ln w="9525" cap="flat" cmpd="sng">
              <a:solidFill>
                <a:schemeClr val="dk2"/>
              </a:solidFill>
              <a:prstDash val="solid"/>
              <a:round/>
              <a:headEnd type="none" w="med" len="med"/>
              <a:tailEnd type="triangle" w="med" len="med"/>
            </a:ln>
          </p:spPr>
        </p:cxnSp>
        <p:sp>
          <p:nvSpPr>
            <p:cNvPr id="31" name="Google Shape;259;p34">
              <a:extLst>
                <a:ext uri="{FF2B5EF4-FFF2-40B4-BE49-F238E27FC236}">
                  <a16:creationId xmlns:a16="http://schemas.microsoft.com/office/drawing/2014/main" id="{494E8ACA-D336-AB06-E22F-4358E16AAD3C}"/>
                </a:ext>
              </a:extLst>
            </p:cNvPr>
            <p:cNvSpPr/>
            <p:nvPr/>
          </p:nvSpPr>
          <p:spPr>
            <a:xfrm>
              <a:off x="5321663"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cxnSp>
          <p:nvCxnSpPr>
            <p:cNvPr id="32" name="Google Shape;260;p34">
              <a:extLst>
                <a:ext uri="{FF2B5EF4-FFF2-40B4-BE49-F238E27FC236}">
                  <a16:creationId xmlns:a16="http://schemas.microsoft.com/office/drawing/2014/main" id="{DD2BD438-C030-F905-4AFE-D748F44F6158}"/>
                </a:ext>
              </a:extLst>
            </p:cNvPr>
            <p:cNvCxnSpPr>
              <a:stCxn id="28" idx="3"/>
              <a:endCxn id="31" idx="1"/>
            </p:cNvCxnSpPr>
            <p:nvPr/>
          </p:nvCxnSpPr>
          <p:spPr>
            <a:xfrm>
              <a:off x="4698848" y="5234974"/>
              <a:ext cx="622815" cy="0"/>
            </a:xfrm>
            <a:prstGeom prst="straightConnector1">
              <a:avLst/>
            </a:prstGeom>
            <a:noFill/>
            <a:ln w="9525" cap="flat" cmpd="sng">
              <a:solidFill>
                <a:schemeClr val="dk2"/>
              </a:solidFill>
              <a:prstDash val="solid"/>
              <a:round/>
              <a:headEnd type="none" w="med" len="med"/>
              <a:tailEnd type="triangle" w="med" len="med"/>
            </a:ln>
          </p:spPr>
        </p:cxnSp>
        <p:cxnSp>
          <p:nvCxnSpPr>
            <p:cNvPr id="33" name="Google Shape;261;p34">
              <a:extLst>
                <a:ext uri="{FF2B5EF4-FFF2-40B4-BE49-F238E27FC236}">
                  <a16:creationId xmlns:a16="http://schemas.microsoft.com/office/drawing/2014/main" id="{98BE8CD1-8EEB-1F18-0A00-C22CB64704DA}"/>
                </a:ext>
              </a:extLst>
            </p:cNvPr>
            <p:cNvCxnSpPr>
              <a:stCxn id="31" idx="3"/>
              <a:endCxn id="35" idx="1"/>
            </p:cNvCxnSpPr>
            <p:nvPr/>
          </p:nvCxnSpPr>
          <p:spPr>
            <a:xfrm>
              <a:off x="6456863" y="5234974"/>
              <a:ext cx="630187" cy="75"/>
            </a:xfrm>
            <a:prstGeom prst="straightConnector1">
              <a:avLst/>
            </a:prstGeom>
            <a:noFill/>
            <a:ln w="9525" cap="flat" cmpd="sng">
              <a:solidFill>
                <a:schemeClr val="dk2"/>
              </a:solidFill>
              <a:prstDash val="solid"/>
              <a:round/>
              <a:headEnd type="none" w="med" len="med"/>
              <a:tailEnd type="triangle" w="med" len="med"/>
            </a:ln>
          </p:spPr>
        </p:cxnSp>
        <p:sp>
          <p:nvSpPr>
            <p:cNvPr id="34" name="Google Shape;263;p34">
              <a:extLst>
                <a:ext uri="{FF2B5EF4-FFF2-40B4-BE49-F238E27FC236}">
                  <a16:creationId xmlns:a16="http://schemas.microsoft.com/office/drawing/2014/main" id="{2B1D92CC-3218-D049-CD5C-28D3D0BA14A8}"/>
                </a:ext>
              </a:extLst>
            </p:cNvPr>
            <p:cNvSpPr/>
            <p:nvPr/>
          </p:nvSpPr>
          <p:spPr>
            <a:xfrm>
              <a:off x="7372926" y="4218949"/>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sp>
          <p:nvSpPr>
            <p:cNvPr id="35" name="Google Shape;262;p34">
              <a:extLst>
                <a:ext uri="{FF2B5EF4-FFF2-40B4-BE49-F238E27FC236}">
                  <a16:creationId xmlns:a16="http://schemas.microsoft.com/office/drawing/2014/main" id="{9722ECC8-17B9-DC5B-EC44-A2FD52720505}"/>
                </a:ext>
              </a:extLst>
            </p:cNvPr>
            <p:cNvSpPr/>
            <p:nvPr/>
          </p:nvSpPr>
          <p:spPr>
            <a:xfrm>
              <a:off x="7087050" y="4999999"/>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Check Seal</a:t>
              </a:r>
              <a:endParaRPr dirty="0"/>
            </a:p>
          </p:txBody>
        </p:sp>
        <p:cxnSp>
          <p:nvCxnSpPr>
            <p:cNvPr id="36" name="Google Shape;264;p34">
              <a:extLst>
                <a:ext uri="{FF2B5EF4-FFF2-40B4-BE49-F238E27FC236}">
                  <a16:creationId xmlns:a16="http://schemas.microsoft.com/office/drawing/2014/main" id="{D7DC2BD3-5738-38B8-C4A2-EF9D6DFBD6A7}"/>
                </a:ext>
              </a:extLst>
            </p:cNvPr>
            <p:cNvCxnSpPr>
              <a:stCxn id="34" idx="2"/>
              <a:endCxn id="35" idx="0"/>
            </p:cNvCxnSpPr>
            <p:nvPr/>
          </p:nvCxnSpPr>
          <p:spPr>
            <a:xfrm>
              <a:off x="7647276" y="4689049"/>
              <a:ext cx="7374" cy="310950"/>
            </a:xfrm>
            <a:prstGeom prst="straightConnector1">
              <a:avLst/>
            </a:prstGeom>
            <a:noFill/>
            <a:ln w="9525" cap="flat" cmpd="sng">
              <a:solidFill>
                <a:schemeClr val="dk2"/>
              </a:solidFill>
              <a:prstDash val="solid"/>
              <a:round/>
              <a:headEnd type="none" w="med" len="med"/>
              <a:tailEnd type="triangle" w="med" len="med"/>
            </a:ln>
          </p:spPr>
        </p:cxnSp>
        <p:sp>
          <p:nvSpPr>
            <p:cNvPr id="37" name="Google Shape;265;p34">
              <a:extLst>
                <a:ext uri="{FF2B5EF4-FFF2-40B4-BE49-F238E27FC236}">
                  <a16:creationId xmlns:a16="http://schemas.microsoft.com/office/drawing/2014/main" id="{A20CF233-612C-5B7C-D4D6-92B9BEB0A62D}"/>
                </a:ext>
              </a:extLst>
            </p:cNvPr>
            <p:cNvSpPr/>
            <p:nvPr/>
          </p:nvSpPr>
          <p:spPr>
            <a:xfrm>
              <a:off x="8848749" y="499992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Message</a:t>
              </a:r>
              <a:endParaRPr/>
            </a:p>
          </p:txBody>
        </p:sp>
        <p:cxnSp>
          <p:nvCxnSpPr>
            <p:cNvPr id="38" name="Google Shape;266;p34">
              <a:extLst>
                <a:ext uri="{FF2B5EF4-FFF2-40B4-BE49-F238E27FC236}">
                  <a16:creationId xmlns:a16="http://schemas.microsoft.com/office/drawing/2014/main" id="{2F3BCDE8-42EB-3C5C-C499-1369BC4D3B26}"/>
                </a:ext>
              </a:extLst>
            </p:cNvPr>
            <p:cNvCxnSpPr>
              <a:stCxn id="35" idx="3"/>
              <a:endCxn id="37" idx="1"/>
            </p:cNvCxnSpPr>
            <p:nvPr/>
          </p:nvCxnSpPr>
          <p:spPr>
            <a:xfrm flipV="1">
              <a:off x="8222250" y="5234974"/>
              <a:ext cx="626499" cy="75"/>
            </a:xfrm>
            <a:prstGeom prst="straightConnector1">
              <a:avLst/>
            </a:prstGeom>
            <a:noFill/>
            <a:ln w="9525" cap="flat" cmpd="sng">
              <a:solidFill>
                <a:schemeClr val="dk2"/>
              </a:solidFill>
              <a:prstDash val="solid"/>
              <a:round/>
              <a:headEnd type="none" w="med" len="med"/>
              <a:tailEnd type="triangle" w="med" len="med"/>
            </a:ln>
          </p:spPr>
        </p:cxnSp>
        <p:sp>
          <p:nvSpPr>
            <p:cNvPr id="39" name="Google Shape;267;p34">
              <a:extLst>
                <a:ext uri="{FF2B5EF4-FFF2-40B4-BE49-F238E27FC236}">
                  <a16:creationId xmlns:a16="http://schemas.microsoft.com/office/drawing/2014/main" id="{C388903B-FE39-AD86-E558-8FD1E24E1009}"/>
                </a:ext>
              </a:extLst>
            </p:cNvPr>
            <p:cNvSpPr txBox="1"/>
            <p:nvPr/>
          </p:nvSpPr>
          <p:spPr>
            <a:xfrm>
              <a:off x="1671026" y="4123199"/>
              <a:ext cx="7653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Alice</a:t>
              </a:r>
              <a:endParaRPr/>
            </a:p>
          </p:txBody>
        </p:sp>
        <p:sp>
          <p:nvSpPr>
            <p:cNvPr id="40" name="Google Shape;268;p34">
              <a:extLst>
                <a:ext uri="{FF2B5EF4-FFF2-40B4-BE49-F238E27FC236}">
                  <a16:creationId xmlns:a16="http://schemas.microsoft.com/office/drawing/2014/main" id="{F6764E09-A7EC-EC1F-5084-4E034ED868DB}"/>
                </a:ext>
              </a:extLst>
            </p:cNvPr>
            <p:cNvSpPr txBox="1"/>
            <p:nvPr/>
          </p:nvSpPr>
          <p:spPr>
            <a:xfrm>
              <a:off x="9334826" y="4123199"/>
              <a:ext cx="765300" cy="461635"/>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t>Bob</a:t>
              </a:r>
              <a:endParaRPr/>
            </a:p>
          </p:txBody>
        </p:sp>
        <p:sp>
          <p:nvSpPr>
            <p:cNvPr id="41" name="Google Shape;269;p34">
              <a:extLst>
                <a:ext uri="{FF2B5EF4-FFF2-40B4-BE49-F238E27FC236}">
                  <a16:creationId xmlns:a16="http://schemas.microsoft.com/office/drawing/2014/main" id="{6596E87C-6FB4-0402-D281-A751B5C3D308}"/>
                </a:ext>
              </a:extLst>
            </p:cNvPr>
            <p:cNvSpPr txBox="1"/>
            <p:nvPr/>
          </p:nvSpPr>
          <p:spPr>
            <a:xfrm>
              <a:off x="4906226" y="4123199"/>
              <a:ext cx="19587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C00000"/>
                  </a:solidFill>
                </a:rPr>
                <a:t>Insecure Channel</a:t>
              </a:r>
              <a:endParaRPr dirty="0">
                <a:solidFill>
                  <a:srgbClr val="C00000"/>
                </a:solidFill>
              </a:endParaRPr>
            </a:p>
          </p:txBody>
        </p:sp>
        <p:sp>
          <p:nvSpPr>
            <p:cNvPr id="42" name="Google Shape;270;p34">
              <a:extLst>
                <a:ext uri="{FF2B5EF4-FFF2-40B4-BE49-F238E27FC236}">
                  <a16:creationId xmlns:a16="http://schemas.microsoft.com/office/drawing/2014/main" id="{1F48A3BD-6B2C-F61F-525E-DB511D6115D2}"/>
                </a:ext>
              </a:extLst>
            </p:cNvPr>
            <p:cNvSpPr/>
            <p:nvPr/>
          </p:nvSpPr>
          <p:spPr>
            <a:xfrm>
              <a:off x="5321663" y="5470024"/>
              <a:ext cx="1135200" cy="25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Seal</a:t>
              </a:r>
              <a:endParaRPr/>
            </a:p>
          </p:txBody>
        </p:sp>
        <p:sp>
          <p:nvSpPr>
            <p:cNvPr id="43" name="Google Shape;193;p30">
              <a:extLst>
                <a:ext uri="{FF2B5EF4-FFF2-40B4-BE49-F238E27FC236}">
                  <a16:creationId xmlns:a16="http://schemas.microsoft.com/office/drawing/2014/main" id="{991C7E15-C4E0-BC87-C9BD-1D1E39FE6BFD}"/>
                </a:ext>
              </a:extLst>
            </p:cNvPr>
            <p:cNvSpPr/>
            <p:nvPr/>
          </p:nvSpPr>
          <p:spPr>
            <a:xfrm>
              <a:off x="3419719" y="6043431"/>
              <a:ext cx="1423058"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Create Tag</a:t>
              </a:r>
              <a:endParaRPr dirty="0"/>
            </a:p>
          </p:txBody>
        </p:sp>
        <p:sp>
          <p:nvSpPr>
            <p:cNvPr id="44" name="Google Shape;199;p30">
              <a:extLst>
                <a:ext uri="{FF2B5EF4-FFF2-40B4-BE49-F238E27FC236}">
                  <a16:creationId xmlns:a16="http://schemas.microsoft.com/office/drawing/2014/main" id="{224E38C9-6692-2F81-A60A-D51FAFB46A6A}"/>
                </a:ext>
              </a:extLst>
            </p:cNvPr>
            <p:cNvSpPr/>
            <p:nvPr/>
          </p:nvSpPr>
          <p:spPr>
            <a:xfrm>
              <a:off x="6923250" y="6038412"/>
              <a:ext cx="14628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Verify Tag</a:t>
              </a:r>
              <a:endParaRPr dirty="0"/>
            </a:p>
          </p:txBody>
        </p:sp>
        <p:cxnSp>
          <p:nvCxnSpPr>
            <p:cNvPr id="45" name="Straight Arrow Connector 44">
              <a:extLst>
                <a:ext uri="{FF2B5EF4-FFF2-40B4-BE49-F238E27FC236}">
                  <a16:creationId xmlns:a16="http://schemas.microsoft.com/office/drawing/2014/main" id="{A45935BF-E3C0-1EAC-E878-DF1A972EE32F}"/>
                </a:ext>
              </a:extLst>
            </p:cNvPr>
            <p:cNvCxnSpPr>
              <a:cxnSpLocks/>
              <a:stCxn id="28" idx="2"/>
              <a:endCxn id="43" idx="0"/>
            </p:cNvCxnSpPr>
            <p:nvPr/>
          </p:nvCxnSpPr>
          <p:spPr>
            <a:xfrm>
              <a:off x="4131248" y="5470024"/>
              <a:ext cx="0" cy="573407"/>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420417B-6339-8557-BA31-25CF6006E29C}"/>
                </a:ext>
              </a:extLst>
            </p:cNvPr>
            <p:cNvCxnSpPr>
              <a:cxnSpLocks/>
              <a:stCxn id="42" idx="2"/>
              <a:endCxn id="52" idx="0"/>
            </p:cNvCxnSpPr>
            <p:nvPr/>
          </p:nvCxnSpPr>
          <p:spPr>
            <a:xfrm>
              <a:off x="5889263" y="5726524"/>
              <a:ext cx="0" cy="358180"/>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925744EA-86C3-3E84-6A71-B5FA1E7E1F44}"/>
                </a:ext>
              </a:extLst>
            </p:cNvPr>
            <p:cNvCxnSpPr>
              <a:cxnSpLocks/>
              <a:stCxn id="35" idx="2"/>
              <a:endCxn id="44" idx="0"/>
            </p:cNvCxnSpPr>
            <p:nvPr/>
          </p:nvCxnSpPr>
          <p:spPr>
            <a:xfrm>
              <a:off x="7654650" y="5470099"/>
              <a:ext cx="0" cy="568313"/>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8" name="Google Shape;196;p30">
              <a:extLst>
                <a:ext uri="{FF2B5EF4-FFF2-40B4-BE49-F238E27FC236}">
                  <a16:creationId xmlns:a16="http://schemas.microsoft.com/office/drawing/2014/main" id="{8768E0D5-3FA0-9590-BC3E-65BC407D3BF1}"/>
                </a:ext>
              </a:extLst>
            </p:cNvPr>
            <p:cNvSpPr/>
            <p:nvPr/>
          </p:nvSpPr>
          <p:spPr>
            <a:xfrm>
              <a:off x="1579725" y="6060585"/>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t>Plaintext</a:t>
              </a:r>
              <a:endParaRPr dirty="0"/>
            </a:p>
          </p:txBody>
        </p:sp>
        <p:sp>
          <p:nvSpPr>
            <p:cNvPr id="49" name="Google Shape;196;p30">
              <a:extLst>
                <a:ext uri="{FF2B5EF4-FFF2-40B4-BE49-F238E27FC236}">
                  <a16:creationId xmlns:a16="http://schemas.microsoft.com/office/drawing/2014/main" id="{94279A61-6978-58AD-1E5A-BDB77EB07E7A}"/>
                </a:ext>
              </a:extLst>
            </p:cNvPr>
            <p:cNvSpPr/>
            <p:nvPr/>
          </p:nvSpPr>
          <p:spPr>
            <a:xfrm>
              <a:off x="8634399" y="603239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cxnSp>
          <p:nvCxnSpPr>
            <p:cNvPr id="50" name="Straight Arrow Connector 49">
              <a:extLst>
                <a:ext uri="{FF2B5EF4-FFF2-40B4-BE49-F238E27FC236}">
                  <a16:creationId xmlns:a16="http://schemas.microsoft.com/office/drawing/2014/main" id="{1F9941A6-9B43-442A-CCEE-4E7EB0D08D16}"/>
                </a:ext>
              </a:extLst>
            </p:cNvPr>
            <p:cNvCxnSpPr>
              <a:cxnSpLocks/>
              <a:stCxn id="26" idx="2"/>
              <a:endCxn id="48" idx="0"/>
            </p:cNvCxnSpPr>
            <p:nvPr/>
          </p:nvCxnSpPr>
          <p:spPr>
            <a:xfrm>
              <a:off x="2361675" y="5470024"/>
              <a:ext cx="0" cy="590561"/>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7684C98-46F8-14A0-F07C-1EE708F9D94B}"/>
                </a:ext>
              </a:extLst>
            </p:cNvPr>
            <p:cNvCxnSpPr>
              <a:cxnSpLocks/>
              <a:stCxn id="37" idx="2"/>
              <a:endCxn id="49" idx="0"/>
            </p:cNvCxnSpPr>
            <p:nvPr/>
          </p:nvCxnSpPr>
          <p:spPr>
            <a:xfrm>
              <a:off x="9416349" y="5470024"/>
              <a:ext cx="0" cy="562375"/>
            </a:xfrm>
            <a:prstGeom prst="straightConnector1">
              <a:avLst/>
            </a:prstGeom>
            <a:ln>
              <a:solidFill>
                <a:srgbClr val="C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2" name="Google Shape;259;p34">
              <a:extLst>
                <a:ext uri="{FF2B5EF4-FFF2-40B4-BE49-F238E27FC236}">
                  <a16:creationId xmlns:a16="http://schemas.microsoft.com/office/drawing/2014/main" id="{94EA26C6-CB4C-75AE-B41B-F0172572F9A7}"/>
                </a:ext>
              </a:extLst>
            </p:cNvPr>
            <p:cNvSpPr/>
            <p:nvPr/>
          </p:nvSpPr>
          <p:spPr>
            <a:xfrm>
              <a:off x="5321663" y="6084704"/>
              <a:ext cx="11352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Message</a:t>
              </a:r>
              <a:endParaRPr dirty="0"/>
            </a:p>
          </p:txBody>
        </p:sp>
        <p:sp>
          <p:nvSpPr>
            <p:cNvPr id="53" name="Google Shape;270;p34">
              <a:extLst>
                <a:ext uri="{FF2B5EF4-FFF2-40B4-BE49-F238E27FC236}">
                  <a16:creationId xmlns:a16="http://schemas.microsoft.com/office/drawing/2014/main" id="{5A43B2C8-7C10-4512-24F3-CB57FAAA5C54}"/>
                </a:ext>
              </a:extLst>
            </p:cNvPr>
            <p:cNvSpPr/>
            <p:nvPr/>
          </p:nvSpPr>
          <p:spPr>
            <a:xfrm>
              <a:off x="5321663" y="6550737"/>
              <a:ext cx="1135200" cy="25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Tag</a:t>
              </a:r>
              <a:endParaRPr dirty="0"/>
            </a:p>
          </p:txBody>
        </p:sp>
      </p:grpSp>
      <p:sp>
        <p:nvSpPr>
          <p:cNvPr id="54" name="Title 1">
            <a:extLst>
              <a:ext uri="{FF2B5EF4-FFF2-40B4-BE49-F238E27FC236}">
                <a16:creationId xmlns:a16="http://schemas.microsoft.com/office/drawing/2014/main" id="{B5CC6C9B-5A42-099E-6E41-34FD8B2AF80E}"/>
              </a:ext>
            </a:extLst>
          </p:cNvPr>
          <p:cNvSpPr txBox="1">
            <a:spLocks/>
          </p:cNvSpPr>
          <p:nvPr/>
        </p:nvSpPr>
        <p:spPr>
          <a:xfrm>
            <a:off x="838200" y="165674"/>
            <a:ext cx="10515600" cy="75575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Integrity (and Authenticity)</a:t>
            </a:r>
          </a:p>
        </p:txBody>
      </p:sp>
    </p:spTree>
    <p:extLst>
      <p:ext uri="{BB962C8B-B14F-4D97-AF65-F5344CB8AC3E}">
        <p14:creationId xmlns:p14="http://schemas.microsoft.com/office/powerpoint/2010/main" val="422348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7A16-2A91-4928-4D24-F069B90EACB8}"/>
              </a:ext>
            </a:extLst>
          </p:cNvPr>
          <p:cNvSpPr txBox="1">
            <a:spLocks/>
          </p:cNvSpPr>
          <p:nvPr/>
        </p:nvSpPr>
        <p:spPr>
          <a:xfrm>
            <a:off x="838200" y="165674"/>
            <a:ext cx="10515600" cy="75575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Threat Models</a:t>
            </a:r>
          </a:p>
        </p:txBody>
      </p:sp>
      <p:sp>
        <p:nvSpPr>
          <p:cNvPr id="3" name="Google Shape;289;p34">
            <a:extLst>
              <a:ext uri="{FF2B5EF4-FFF2-40B4-BE49-F238E27FC236}">
                <a16:creationId xmlns:a16="http://schemas.microsoft.com/office/drawing/2014/main" id="{694AF828-16C4-C779-2FCB-1C4950978B0B}"/>
              </a:ext>
            </a:extLst>
          </p:cNvPr>
          <p:cNvSpPr txBox="1">
            <a:spLocks/>
          </p:cNvSpPr>
          <p:nvPr/>
        </p:nvSpPr>
        <p:spPr>
          <a:xfrm>
            <a:off x="707319" y="1157400"/>
            <a:ext cx="10646481" cy="1677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pPr>
            <a:r>
              <a:rPr lang="en-US" sz="2200" dirty="0"/>
              <a:t>What if Eve can do more than eavesdrop?</a:t>
            </a:r>
          </a:p>
          <a:p>
            <a:pPr marL="457200" indent="-342900">
              <a:spcBef>
                <a:spcPts val="0"/>
              </a:spcBef>
              <a:spcAft>
                <a:spcPts val="600"/>
              </a:spcAft>
              <a:buSzPts val="1800"/>
            </a:pPr>
            <a:r>
              <a:rPr lang="en-US" sz="2200" dirty="0"/>
              <a:t>Real-world schemes are often vulnerable to more sophisticated attackers, so cryptographers have created more sophisticated threat models too</a:t>
            </a:r>
          </a:p>
          <a:p>
            <a:pPr marL="457200" indent="-342900">
              <a:spcBef>
                <a:spcPts val="0"/>
              </a:spcBef>
              <a:spcAft>
                <a:spcPts val="600"/>
              </a:spcAft>
              <a:buSzPts val="1800"/>
            </a:pPr>
            <a:r>
              <a:rPr lang="en-US" sz="2200" dirty="0"/>
              <a:t>Some threat models for analyzing </a:t>
            </a:r>
            <a:r>
              <a:rPr lang="en-US" sz="2200" b="1" dirty="0"/>
              <a:t>confidentiality</a:t>
            </a:r>
            <a:r>
              <a:rPr lang="en-US" sz="2200" dirty="0"/>
              <a:t>:</a:t>
            </a:r>
          </a:p>
        </p:txBody>
      </p:sp>
      <p:graphicFrame>
        <p:nvGraphicFramePr>
          <p:cNvPr id="4" name="Google Shape;291;p34">
            <a:extLst>
              <a:ext uri="{FF2B5EF4-FFF2-40B4-BE49-F238E27FC236}">
                <a16:creationId xmlns:a16="http://schemas.microsoft.com/office/drawing/2014/main" id="{693DB8B5-7780-FB0B-8D85-0964AC43D007}"/>
              </a:ext>
            </a:extLst>
          </p:cNvPr>
          <p:cNvGraphicFramePr/>
          <p:nvPr>
            <p:extLst>
              <p:ext uri="{D42A27DB-BD31-4B8C-83A1-F6EECF244321}">
                <p14:modId xmlns:p14="http://schemas.microsoft.com/office/powerpoint/2010/main" val="1557531483"/>
              </p:ext>
            </p:extLst>
          </p:nvPr>
        </p:nvGraphicFramePr>
        <p:xfrm>
          <a:off x="945724" y="3070674"/>
          <a:ext cx="10300552" cy="3383130"/>
        </p:xfrm>
        <a:graphic>
          <a:graphicData uri="http://schemas.openxmlformats.org/drawingml/2006/table">
            <a:tbl>
              <a:tblPr>
                <a:noFill/>
              </a:tblPr>
              <a:tblGrid>
                <a:gridCol w="2340390">
                  <a:extLst>
                    <a:ext uri="{9D8B030D-6E8A-4147-A177-3AD203B41FA5}">
                      <a16:colId xmlns:a16="http://schemas.microsoft.com/office/drawing/2014/main" val="20000"/>
                    </a:ext>
                  </a:extLst>
                </a:gridCol>
                <a:gridCol w="2601120">
                  <a:extLst>
                    <a:ext uri="{9D8B030D-6E8A-4147-A177-3AD203B41FA5}">
                      <a16:colId xmlns:a16="http://schemas.microsoft.com/office/drawing/2014/main" val="20001"/>
                    </a:ext>
                  </a:extLst>
                </a:gridCol>
                <a:gridCol w="2679521">
                  <a:extLst>
                    <a:ext uri="{9D8B030D-6E8A-4147-A177-3AD203B41FA5}">
                      <a16:colId xmlns:a16="http://schemas.microsoft.com/office/drawing/2014/main" val="20002"/>
                    </a:ext>
                  </a:extLst>
                </a:gridCol>
                <a:gridCol w="2679521">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a:t>Can Eve trick Alice into encrypting messages of Eve’s choosing?</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a:solidFill>
                            <a:schemeClr val="dk1"/>
                          </a:solidFill>
                        </a:rPr>
                        <a:t>Can Eve trick Bob into decrypting messages of Eve’s choosing?</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a:solidFill>
                            <a:schemeClr val="dk1"/>
                          </a:solidFill>
                        </a:rPr>
                        <a:t>Can Eve eavesdrop on Alice's encrypted communications?</a:t>
                      </a:r>
                      <a:endParaRPr>
                        <a:solidFill>
                          <a:schemeClr val="dk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b="1"/>
                        <a:t>Ciphertext-only</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b="1" dirty="0"/>
                        <a:t>Chosen-plaintext</a:t>
                      </a:r>
                    </a:p>
                    <a:p>
                      <a:pPr marL="0" lvl="0" indent="0" algn="l" rtl="0">
                        <a:spcBef>
                          <a:spcPts val="0"/>
                        </a:spcBef>
                        <a:spcAft>
                          <a:spcPts val="0"/>
                        </a:spcAft>
                        <a:buNone/>
                      </a:pPr>
                      <a:r>
                        <a:rPr lang="en" b="1" dirty="0"/>
                        <a:t>(</a:t>
                      </a:r>
                      <a:r>
                        <a:rPr lang="en" b="1" dirty="0">
                          <a:hlinkClick r:id="rId3"/>
                        </a:rPr>
                        <a:t>AF is short of water</a:t>
                      </a:r>
                      <a:r>
                        <a:rPr lang="en" b="1" dirty="0"/>
                        <a:t>)</a:t>
                      </a:r>
                      <a:endParaRPr b="1"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b="1"/>
                        <a:t>Chosen-ciphertext</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b="1"/>
                        <a:t>Chosen plaintext-ciphertext</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dirty="0"/>
                        <a:t>Yes</a:t>
                      </a: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32129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8F19-5845-29B6-EA74-0732399CE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0F519-6216-BA2C-99FF-DCEFEE94FE3E}"/>
              </a:ext>
            </a:extLst>
          </p:cNvPr>
          <p:cNvSpPr txBox="1">
            <a:spLocks/>
          </p:cNvSpPr>
          <p:nvPr/>
        </p:nvSpPr>
        <p:spPr>
          <a:xfrm>
            <a:off x="838200" y="165674"/>
            <a:ext cx="10515600" cy="75575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Threat Models</a:t>
            </a:r>
          </a:p>
        </p:txBody>
      </p:sp>
      <p:sp>
        <p:nvSpPr>
          <p:cNvPr id="3" name="Google Shape;289;p34">
            <a:extLst>
              <a:ext uri="{FF2B5EF4-FFF2-40B4-BE49-F238E27FC236}">
                <a16:creationId xmlns:a16="http://schemas.microsoft.com/office/drawing/2014/main" id="{948DB475-CC3E-F550-742D-0B3A12E6975C}"/>
              </a:ext>
            </a:extLst>
          </p:cNvPr>
          <p:cNvSpPr txBox="1">
            <a:spLocks/>
          </p:cNvSpPr>
          <p:nvPr/>
        </p:nvSpPr>
        <p:spPr>
          <a:xfrm>
            <a:off x="0" y="1270795"/>
            <a:ext cx="12192000" cy="192960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0" indent="-342900">
              <a:spcBef>
                <a:spcPts val="0"/>
              </a:spcBef>
              <a:spcAft>
                <a:spcPts val="600"/>
              </a:spcAft>
              <a:buSzPts val="1800"/>
              <a:buChar char="●"/>
            </a:pPr>
            <a:r>
              <a:rPr lang="en-US" dirty="0"/>
              <a:t>In this class, we’ll focus primarily on chosen plaintext attacks, for simplicity</a:t>
            </a:r>
          </a:p>
          <a:p>
            <a:pPr marL="457200" lvl="0" indent="-342900">
              <a:spcBef>
                <a:spcPts val="0"/>
              </a:spcBef>
              <a:spcAft>
                <a:spcPts val="600"/>
              </a:spcAft>
              <a:buSzPts val="1800"/>
              <a:buChar char="●"/>
            </a:pPr>
            <a:r>
              <a:rPr lang="en-US" dirty="0"/>
              <a:t>In practice, cryptographers use the </a:t>
            </a:r>
            <a:r>
              <a:rPr lang="en-US" b="1" dirty="0"/>
              <a:t>chosen plaintext-ciphertext model</a:t>
            </a:r>
          </a:p>
          <a:p>
            <a:pPr marL="914400" lvl="1" indent="-342900">
              <a:spcBef>
                <a:spcPts val="0"/>
              </a:spcBef>
              <a:spcAft>
                <a:spcPts val="600"/>
              </a:spcAft>
              <a:buSzPts val="1800"/>
              <a:buChar char="●"/>
            </a:pPr>
            <a:r>
              <a:rPr lang="en-US" dirty="0"/>
              <a:t>It’s the most powerful</a:t>
            </a:r>
          </a:p>
          <a:p>
            <a:pPr marL="914400" lvl="1" indent="-342900">
              <a:spcBef>
                <a:spcPts val="0"/>
              </a:spcBef>
              <a:spcAft>
                <a:spcPts val="600"/>
              </a:spcAft>
              <a:buSzPts val="1800"/>
              <a:buChar char="●"/>
            </a:pPr>
            <a:r>
              <a:rPr lang="en-US" dirty="0"/>
              <a:t>It can actually be defended against</a:t>
            </a:r>
          </a:p>
        </p:txBody>
      </p:sp>
      <p:graphicFrame>
        <p:nvGraphicFramePr>
          <p:cNvPr id="4" name="Google Shape;291;p34">
            <a:extLst>
              <a:ext uri="{FF2B5EF4-FFF2-40B4-BE49-F238E27FC236}">
                <a16:creationId xmlns:a16="http://schemas.microsoft.com/office/drawing/2014/main" id="{893C901C-C9FA-665C-087D-2808AB2852DC}"/>
              </a:ext>
            </a:extLst>
          </p:cNvPr>
          <p:cNvGraphicFramePr/>
          <p:nvPr>
            <p:extLst>
              <p:ext uri="{D42A27DB-BD31-4B8C-83A1-F6EECF244321}">
                <p14:modId xmlns:p14="http://schemas.microsoft.com/office/powerpoint/2010/main" val="2654199002"/>
              </p:ext>
            </p:extLst>
          </p:nvPr>
        </p:nvGraphicFramePr>
        <p:xfrm>
          <a:off x="945724" y="3583516"/>
          <a:ext cx="10300552" cy="3108810"/>
        </p:xfrm>
        <a:graphic>
          <a:graphicData uri="http://schemas.openxmlformats.org/drawingml/2006/table">
            <a:tbl>
              <a:tblPr>
                <a:noFill/>
              </a:tblPr>
              <a:tblGrid>
                <a:gridCol w="2340390">
                  <a:extLst>
                    <a:ext uri="{9D8B030D-6E8A-4147-A177-3AD203B41FA5}">
                      <a16:colId xmlns:a16="http://schemas.microsoft.com/office/drawing/2014/main" val="20000"/>
                    </a:ext>
                  </a:extLst>
                </a:gridCol>
                <a:gridCol w="2601120">
                  <a:extLst>
                    <a:ext uri="{9D8B030D-6E8A-4147-A177-3AD203B41FA5}">
                      <a16:colId xmlns:a16="http://schemas.microsoft.com/office/drawing/2014/main" val="20001"/>
                    </a:ext>
                  </a:extLst>
                </a:gridCol>
                <a:gridCol w="2679521">
                  <a:extLst>
                    <a:ext uri="{9D8B030D-6E8A-4147-A177-3AD203B41FA5}">
                      <a16:colId xmlns:a16="http://schemas.microsoft.com/office/drawing/2014/main" val="20002"/>
                    </a:ext>
                  </a:extLst>
                </a:gridCol>
                <a:gridCol w="2679521">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dirty="0"/>
                        <a:t>Can Eve trick Alice into encrypting messages of Eve’s choosing?</a:t>
                      </a: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a:solidFill>
                            <a:schemeClr val="dk1"/>
                          </a:solidFill>
                        </a:rPr>
                        <a:t>Can Eve trick Bob into decrypting messages of Eve’s choosing?</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
                          <a:solidFill>
                            <a:schemeClr val="dk1"/>
                          </a:solidFill>
                        </a:rPr>
                        <a:t>Can Eve eavesdrop on Alice's encrypted communications?</a:t>
                      </a:r>
                      <a:endParaRPr>
                        <a:solidFill>
                          <a:schemeClr val="dk1"/>
                        </a:solidFill>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b="1"/>
                        <a:t>Ciphertext-only</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b="1" dirty="0"/>
                        <a:t>Chosen-plaintext</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lvl="0" indent="0" algn="ctr" rtl="0">
                        <a:spcBef>
                          <a:spcPts val="0"/>
                        </a:spcBef>
                        <a:spcAft>
                          <a:spcPts val="0"/>
                        </a:spcAft>
                        <a:buNone/>
                      </a:pPr>
                      <a:r>
                        <a:rPr lang="en" dirty="0"/>
                        <a:t>Yes</a:t>
                      </a: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b="1"/>
                        <a:t>Chosen-ciphertext</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No</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b="1"/>
                        <a:t>Chosen plaintext-ciphertext</a:t>
                      </a:r>
                      <a:endParaRPr b="1"/>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a:t>Yes</a:t>
                      </a:r>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 dirty="0"/>
                        <a:t>Yes</a:t>
                      </a: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36382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318;p38">
            <a:extLst>
              <a:ext uri="{FF2B5EF4-FFF2-40B4-BE49-F238E27FC236}">
                <a16:creationId xmlns:a16="http://schemas.microsoft.com/office/drawing/2014/main" id="{B9535BDF-186D-9491-E704-8269ADB3299D}"/>
              </a:ext>
            </a:extLst>
          </p:cNvPr>
          <p:cNvGraphicFramePr/>
          <p:nvPr>
            <p:extLst>
              <p:ext uri="{D42A27DB-BD31-4B8C-83A1-F6EECF244321}">
                <p14:modId xmlns:p14="http://schemas.microsoft.com/office/powerpoint/2010/main" val="2414911956"/>
              </p:ext>
            </p:extLst>
          </p:nvPr>
        </p:nvGraphicFramePr>
        <p:xfrm>
          <a:off x="838199" y="1702807"/>
          <a:ext cx="10515599" cy="3352272"/>
        </p:xfrm>
        <a:graphic>
          <a:graphicData uri="http://schemas.openxmlformats.org/drawingml/2006/table">
            <a:tbl>
              <a:tblPr>
                <a:noFill/>
              </a:tblPr>
              <a:tblGrid>
                <a:gridCol w="2146722">
                  <a:extLst>
                    <a:ext uri="{9D8B030D-6E8A-4147-A177-3AD203B41FA5}">
                      <a16:colId xmlns:a16="http://schemas.microsoft.com/office/drawing/2014/main" val="20000"/>
                    </a:ext>
                  </a:extLst>
                </a:gridCol>
                <a:gridCol w="4000984">
                  <a:extLst>
                    <a:ext uri="{9D8B030D-6E8A-4147-A177-3AD203B41FA5}">
                      <a16:colId xmlns:a16="http://schemas.microsoft.com/office/drawing/2014/main" val="20001"/>
                    </a:ext>
                  </a:extLst>
                </a:gridCol>
                <a:gridCol w="4367893">
                  <a:extLst>
                    <a:ext uri="{9D8B030D-6E8A-4147-A177-3AD203B41FA5}">
                      <a16:colId xmlns:a16="http://schemas.microsoft.com/office/drawing/2014/main" val="20002"/>
                    </a:ext>
                  </a:extLst>
                </a:gridCol>
              </a:tblGrid>
              <a:tr h="599106">
                <a:tc>
                  <a:txBody>
                    <a:bodyPr/>
                    <a:lstStyle/>
                    <a:p>
                      <a:pPr marL="0" lvl="0" indent="0" algn="l" rtl="0">
                        <a:spcBef>
                          <a:spcPts val="0"/>
                        </a:spcBef>
                        <a:spcAft>
                          <a:spcPts val="0"/>
                        </a:spcAft>
                        <a:buNone/>
                      </a:pPr>
                      <a:endParaRPr sz="2200" dirty="0"/>
                    </a:p>
                  </a:txBody>
                  <a:tcPr marL="91425" marR="91425" marT="91425" marB="91425"/>
                </a:tc>
                <a:tc>
                  <a:txBody>
                    <a:bodyPr/>
                    <a:lstStyle/>
                    <a:p>
                      <a:pPr marL="0" lvl="0" indent="0" algn="l" rtl="0">
                        <a:spcBef>
                          <a:spcPts val="0"/>
                        </a:spcBef>
                        <a:spcAft>
                          <a:spcPts val="0"/>
                        </a:spcAft>
                        <a:buNone/>
                      </a:pPr>
                      <a:r>
                        <a:rPr lang="en" sz="2200" b="1" dirty="0"/>
                        <a:t>Symmetric-key</a:t>
                      </a:r>
                      <a:endParaRPr sz="2200" b="1" dirty="0"/>
                    </a:p>
                  </a:txBody>
                  <a:tcPr marL="91425" marR="91425" marT="91425" marB="91425"/>
                </a:tc>
                <a:tc>
                  <a:txBody>
                    <a:bodyPr/>
                    <a:lstStyle/>
                    <a:p>
                      <a:pPr marL="0" lvl="0" indent="0" algn="l" rtl="0">
                        <a:spcBef>
                          <a:spcPts val="0"/>
                        </a:spcBef>
                        <a:spcAft>
                          <a:spcPts val="0"/>
                        </a:spcAft>
                        <a:buNone/>
                      </a:pPr>
                      <a:r>
                        <a:rPr lang="en" sz="2200" b="1"/>
                        <a:t>Asymmetric-key</a:t>
                      </a:r>
                      <a:endParaRPr sz="2200" b="1"/>
                    </a:p>
                  </a:txBody>
                  <a:tcPr marL="91425" marR="91425" marT="91425" marB="91425"/>
                </a:tc>
                <a:extLst>
                  <a:ext uri="{0D108BD9-81ED-4DB2-BD59-A6C34878D82A}">
                    <a16:rowId xmlns:a16="http://schemas.microsoft.com/office/drawing/2014/main" val="10000"/>
                  </a:ext>
                </a:extLst>
              </a:tr>
              <a:tr h="1626218">
                <a:tc>
                  <a:txBody>
                    <a:bodyPr/>
                    <a:lstStyle/>
                    <a:p>
                      <a:pPr marL="0" lvl="0" indent="0" algn="l" rtl="0">
                        <a:spcBef>
                          <a:spcPts val="0"/>
                        </a:spcBef>
                        <a:spcAft>
                          <a:spcPts val="0"/>
                        </a:spcAft>
                        <a:buNone/>
                      </a:pPr>
                      <a:r>
                        <a:rPr lang="en" sz="2200" b="1"/>
                        <a:t>Confidentiality</a:t>
                      </a:r>
                      <a:endParaRPr sz="2200" b="1"/>
                    </a:p>
                  </a:txBody>
                  <a:tcPr marL="91425" marR="91425" marT="91425" marB="91425"/>
                </a:tc>
                <a:tc>
                  <a:txBody>
                    <a:bodyPr/>
                    <a:lstStyle/>
                    <a:p>
                      <a:pPr marL="457200" lvl="0" indent="-330200" algn="l" rtl="0">
                        <a:spcBef>
                          <a:spcPts val="0"/>
                        </a:spcBef>
                        <a:spcAft>
                          <a:spcPts val="0"/>
                        </a:spcAft>
                        <a:buSzPts val="1600"/>
                        <a:buChar char="●"/>
                      </a:pPr>
                      <a:r>
                        <a:rPr lang="en" sz="2200" dirty="0"/>
                        <a:t>One-time pads</a:t>
                      </a:r>
                      <a:endParaRPr sz="2200" dirty="0"/>
                    </a:p>
                    <a:p>
                      <a:pPr marL="457200" lvl="0" indent="-330200" algn="l" rtl="0">
                        <a:spcBef>
                          <a:spcPts val="0"/>
                        </a:spcBef>
                        <a:spcAft>
                          <a:spcPts val="0"/>
                        </a:spcAft>
                        <a:buSzPts val="1600"/>
                        <a:buChar char="●"/>
                      </a:pPr>
                      <a:r>
                        <a:rPr lang="en" sz="2200" dirty="0"/>
                        <a:t>Block ciphers with chaining modes (e.g. AES-CBC)</a:t>
                      </a:r>
                      <a:endParaRPr sz="2200" dirty="0"/>
                    </a:p>
                    <a:p>
                      <a:pPr marL="457200" lvl="0" indent="-330200" algn="l" rtl="0">
                        <a:spcBef>
                          <a:spcPts val="0"/>
                        </a:spcBef>
                        <a:spcAft>
                          <a:spcPts val="0"/>
                        </a:spcAft>
                        <a:buClr>
                          <a:schemeClr val="dk1"/>
                        </a:buClr>
                        <a:buSzPts val="1600"/>
                        <a:buChar char="●"/>
                      </a:pPr>
                      <a:r>
                        <a:rPr lang="en" sz="2200" dirty="0">
                          <a:solidFill>
                            <a:schemeClr val="dk1"/>
                          </a:solidFill>
                        </a:rPr>
                        <a:t>Stream ciphers</a:t>
                      </a:r>
                      <a:endParaRPr sz="2200" dirty="0"/>
                    </a:p>
                  </a:txBody>
                  <a:tcPr marL="91425" marR="91425" marT="91425" marB="91425"/>
                </a:tc>
                <a:tc>
                  <a:txBody>
                    <a:bodyPr/>
                    <a:lstStyle/>
                    <a:p>
                      <a:pPr marL="457200" lvl="0" indent="-330200" algn="l" rtl="0">
                        <a:spcBef>
                          <a:spcPts val="0"/>
                        </a:spcBef>
                        <a:spcAft>
                          <a:spcPts val="0"/>
                        </a:spcAft>
                        <a:buSzPts val="1600"/>
                        <a:buChar char="●"/>
                      </a:pPr>
                      <a:r>
                        <a:rPr lang="en" sz="2200"/>
                        <a:t>RSA encryption</a:t>
                      </a:r>
                      <a:endParaRPr sz="2200"/>
                    </a:p>
                    <a:p>
                      <a:pPr marL="457200" lvl="0" indent="-330200" algn="l" rtl="0">
                        <a:spcBef>
                          <a:spcPts val="0"/>
                        </a:spcBef>
                        <a:spcAft>
                          <a:spcPts val="0"/>
                        </a:spcAft>
                        <a:buSzPts val="1600"/>
                        <a:buChar char="●"/>
                      </a:pPr>
                      <a:r>
                        <a:rPr lang="en" sz="2200"/>
                        <a:t>ElGamal encryption</a:t>
                      </a:r>
                      <a:endParaRPr sz="2200"/>
                    </a:p>
                  </a:txBody>
                  <a:tcPr marL="91425" marR="91425" marT="91425" marB="91425"/>
                </a:tc>
                <a:extLst>
                  <a:ext uri="{0D108BD9-81ED-4DB2-BD59-A6C34878D82A}">
                    <a16:rowId xmlns:a16="http://schemas.microsoft.com/office/drawing/2014/main" val="10001"/>
                  </a:ext>
                </a:extLst>
              </a:tr>
              <a:tr h="1126948">
                <a:tc>
                  <a:txBody>
                    <a:bodyPr/>
                    <a:lstStyle/>
                    <a:p>
                      <a:pPr marL="0" lvl="0" indent="0" algn="l" rtl="0">
                        <a:spcBef>
                          <a:spcPts val="0"/>
                        </a:spcBef>
                        <a:spcAft>
                          <a:spcPts val="0"/>
                        </a:spcAft>
                        <a:buNone/>
                      </a:pPr>
                      <a:r>
                        <a:rPr lang="en" sz="2200" b="1"/>
                        <a:t>Integrity,</a:t>
                      </a:r>
                      <a:br>
                        <a:rPr lang="en" sz="2200" b="1"/>
                      </a:br>
                      <a:r>
                        <a:rPr lang="en" sz="2200" b="1"/>
                        <a:t>Authentication</a:t>
                      </a:r>
                      <a:endParaRPr sz="2200" b="1"/>
                    </a:p>
                  </a:txBody>
                  <a:tcPr marL="91425" marR="91425" marT="91425" marB="91425"/>
                </a:tc>
                <a:tc>
                  <a:txBody>
                    <a:bodyPr/>
                    <a:lstStyle/>
                    <a:p>
                      <a:pPr marL="457200" lvl="0" indent="-330200" algn="l" rtl="0">
                        <a:spcBef>
                          <a:spcPts val="0"/>
                        </a:spcBef>
                        <a:spcAft>
                          <a:spcPts val="0"/>
                        </a:spcAft>
                        <a:buSzPts val="1600"/>
                        <a:buChar char="●"/>
                      </a:pPr>
                      <a:r>
                        <a:rPr lang="en" sz="2200" dirty="0"/>
                        <a:t>MACs (e.g. HMAC)</a:t>
                      </a:r>
                      <a:endParaRPr sz="2200" dirty="0"/>
                    </a:p>
                  </a:txBody>
                  <a:tcPr marL="91425" marR="91425" marT="91425" marB="91425"/>
                </a:tc>
                <a:tc>
                  <a:txBody>
                    <a:bodyPr/>
                    <a:lstStyle/>
                    <a:p>
                      <a:pPr marL="457200" lvl="0" indent="-330200" algn="l" rtl="0">
                        <a:spcBef>
                          <a:spcPts val="0"/>
                        </a:spcBef>
                        <a:spcAft>
                          <a:spcPts val="0"/>
                        </a:spcAft>
                        <a:buSzPts val="1600"/>
                        <a:buChar char="●"/>
                      </a:pPr>
                      <a:r>
                        <a:rPr lang="en" sz="2200" dirty="0"/>
                        <a:t>Digital signatures (e.g. RSA signatures)</a:t>
                      </a:r>
                      <a:endParaRPr sz="2200" dirty="0"/>
                    </a:p>
                  </a:txBody>
                  <a:tcPr marL="91425" marR="91425" marT="91425" marB="91425"/>
                </a:tc>
                <a:extLst>
                  <a:ext uri="{0D108BD9-81ED-4DB2-BD59-A6C34878D82A}">
                    <a16:rowId xmlns:a16="http://schemas.microsoft.com/office/drawing/2014/main" val="10002"/>
                  </a:ext>
                </a:extLst>
              </a:tr>
            </a:tbl>
          </a:graphicData>
        </a:graphic>
      </p:graphicFrame>
      <p:sp>
        <p:nvSpPr>
          <p:cNvPr id="4" name="Google Shape;319;p38">
            <a:extLst>
              <a:ext uri="{FF2B5EF4-FFF2-40B4-BE49-F238E27FC236}">
                <a16:creationId xmlns:a16="http://schemas.microsoft.com/office/drawing/2014/main" id="{2398151F-5A4C-9DD6-AD8C-DD5C547FA2DF}"/>
              </a:ext>
            </a:extLst>
          </p:cNvPr>
          <p:cNvSpPr txBox="1">
            <a:spLocks/>
          </p:cNvSpPr>
          <p:nvPr/>
        </p:nvSpPr>
        <p:spPr>
          <a:xfrm>
            <a:off x="1241779" y="5310469"/>
            <a:ext cx="4788086" cy="143924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9900" indent="-342900">
              <a:spcBef>
                <a:spcPts val="0"/>
              </a:spcBef>
              <a:spcAft>
                <a:spcPts val="600"/>
              </a:spcAft>
              <a:buSzPts val="1600"/>
            </a:pPr>
            <a:r>
              <a:rPr lang="en-US" sz="2000" dirty="0"/>
              <a:t>Hash functions</a:t>
            </a:r>
          </a:p>
          <a:p>
            <a:pPr marL="469900" indent="-342900">
              <a:spcBef>
                <a:spcPts val="0"/>
              </a:spcBef>
              <a:spcAft>
                <a:spcPts val="600"/>
              </a:spcAft>
              <a:buSzPts val="1600"/>
            </a:pPr>
            <a:r>
              <a:rPr lang="en-US" sz="2000" dirty="0"/>
              <a:t>Pseudorandom number generators</a:t>
            </a:r>
          </a:p>
          <a:p>
            <a:pPr marL="469900" indent="-342900">
              <a:spcBef>
                <a:spcPts val="0"/>
              </a:spcBef>
              <a:spcAft>
                <a:spcPts val="600"/>
              </a:spcAft>
              <a:buSzPts val="1600"/>
            </a:pPr>
            <a:r>
              <a:rPr lang="en-US" sz="2000" dirty="0"/>
              <a:t>Public key exchange (e.g. Diffie-Hellman)</a:t>
            </a:r>
          </a:p>
        </p:txBody>
      </p:sp>
      <p:sp>
        <p:nvSpPr>
          <p:cNvPr id="5" name="Google Shape;320;p38">
            <a:extLst>
              <a:ext uri="{FF2B5EF4-FFF2-40B4-BE49-F238E27FC236}">
                <a16:creationId xmlns:a16="http://schemas.microsoft.com/office/drawing/2014/main" id="{D0CFD1B1-49D8-6274-36FE-3EDA96D52DF3}"/>
              </a:ext>
            </a:extLst>
          </p:cNvPr>
          <p:cNvSpPr txBox="1"/>
          <p:nvPr/>
        </p:nvSpPr>
        <p:spPr>
          <a:xfrm>
            <a:off x="6396210" y="5760801"/>
            <a:ext cx="4422750" cy="538579"/>
          </a:xfrm>
          <a:prstGeom prst="rect">
            <a:avLst/>
          </a:prstGeom>
          <a:noFill/>
          <a:ln>
            <a:noFill/>
          </a:ln>
        </p:spPr>
        <p:txBody>
          <a:bodyPr spcFirstLastPara="1" wrap="square" lIns="91425" tIns="91425" rIns="91425" bIns="91425" anchor="t" anchorCtr="0">
            <a:spAutoFit/>
          </a:bodyPr>
          <a:lstStyle/>
          <a:p>
            <a:pPr marL="469900" lvl="0" indent="-342900" algn="l" rtl="0">
              <a:lnSpc>
                <a:spcPct val="115000"/>
              </a:lnSpc>
              <a:spcBef>
                <a:spcPts val="0"/>
              </a:spcBef>
              <a:spcAft>
                <a:spcPts val="0"/>
              </a:spcAft>
              <a:buClr>
                <a:schemeClr val="dk1"/>
              </a:buClr>
              <a:buSzPts val="1600"/>
              <a:buFont typeface="Arial" panose="020B0604020202020204" pitchFamily="34" charset="0"/>
              <a:buChar char="•"/>
            </a:pPr>
            <a:r>
              <a:rPr lang="en" sz="2000" dirty="0">
                <a:solidFill>
                  <a:schemeClr val="dk1"/>
                </a:solidFill>
              </a:rPr>
              <a:t>Key management (certificates)</a:t>
            </a:r>
          </a:p>
        </p:txBody>
      </p:sp>
      <p:sp>
        <p:nvSpPr>
          <p:cNvPr id="6" name="Title 1">
            <a:extLst>
              <a:ext uri="{FF2B5EF4-FFF2-40B4-BE49-F238E27FC236}">
                <a16:creationId xmlns:a16="http://schemas.microsoft.com/office/drawing/2014/main" id="{6AA4936E-DC87-10A5-2F76-317BFF058CC1}"/>
              </a:ext>
            </a:extLst>
          </p:cNvPr>
          <p:cNvSpPr txBox="1">
            <a:spLocks/>
          </p:cNvSpPr>
          <p:nvPr/>
        </p:nvSpPr>
        <p:spPr>
          <a:xfrm>
            <a:off x="838200" y="365126"/>
            <a:ext cx="10515600" cy="8166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Cryptography Roadmap</a:t>
            </a:r>
          </a:p>
        </p:txBody>
      </p:sp>
    </p:spTree>
    <p:extLst>
      <p:ext uri="{BB962C8B-B14F-4D97-AF65-F5344CB8AC3E}">
        <p14:creationId xmlns:p14="http://schemas.microsoft.com/office/powerpoint/2010/main" val="3396010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52C8E-7032-B135-BE39-81840C78C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E6C51-3FA8-6683-B8A6-60B1B29FACD7}"/>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E6A38228-9A12-AFAF-9B5D-83AF7E08DBD2}"/>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What is Cryptography?</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Definitions and Cryptography Roadmap</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Symmetric-Key Encryption</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Caesar Cipher</a:t>
            </a:r>
          </a:p>
        </p:txBody>
      </p:sp>
    </p:spTree>
    <p:extLst>
      <p:ext uri="{BB962C8B-B14F-4D97-AF65-F5344CB8AC3E}">
        <p14:creationId xmlns:p14="http://schemas.microsoft.com/office/powerpoint/2010/main" val="2473116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7813B56-E428-FF0B-F331-C83485AAE2F7}"/>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Symmetric-Key Encryption</a:t>
            </a:r>
          </a:p>
        </p:txBody>
      </p:sp>
      <p:sp>
        <p:nvSpPr>
          <p:cNvPr id="5" name="TextBox 4">
            <a:extLst>
              <a:ext uri="{FF2B5EF4-FFF2-40B4-BE49-F238E27FC236}">
                <a16:creationId xmlns:a16="http://schemas.microsoft.com/office/drawing/2014/main" id="{059B6F3A-5FFF-3EF2-8DCC-EBA94D0D1DC0}"/>
              </a:ext>
            </a:extLst>
          </p:cNvPr>
          <p:cNvSpPr txBox="1"/>
          <p:nvPr/>
        </p:nvSpPr>
        <p:spPr>
          <a:xfrm>
            <a:off x="838200" y="969388"/>
            <a:ext cx="10515599" cy="360098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200" dirty="0"/>
              <a:t>The next few schemes are symmetric-key encryption schemes:</a:t>
            </a:r>
          </a:p>
          <a:p>
            <a:pPr marL="742950" lvl="1" indent="-285750">
              <a:spcAft>
                <a:spcPts val="600"/>
              </a:spcAft>
              <a:buFont typeface="Arial" panose="020B0604020202020204" pitchFamily="34" charset="0"/>
              <a:buChar char="•"/>
            </a:pPr>
            <a:r>
              <a:rPr lang="en-US" sz="2200" dirty="0"/>
              <a:t>Encryption schemes aim to provide confidentiality (but not integrity or authentication)</a:t>
            </a:r>
          </a:p>
          <a:p>
            <a:pPr marL="742950" lvl="1" indent="-285750">
              <a:spcAft>
                <a:spcPts val="600"/>
              </a:spcAft>
              <a:buFont typeface="Arial" panose="020B0604020202020204" pitchFamily="34" charset="0"/>
              <a:buChar char="•"/>
            </a:pPr>
            <a:r>
              <a:rPr lang="en-US" sz="2200" dirty="0"/>
              <a:t>Symmetric-key means Alice and Bob share the same secret key that the attacker doesn’t know</a:t>
            </a:r>
          </a:p>
          <a:p>
            <a:pPr marL="742950" lvl="1" indent="-285750">
              <a:spcAft>
                <a:spcPts val="600"/>
              </a:spcAft>
              <a:buFont typeface="Arial" panose="020B0604020202020204" pitchFamily="34" charset="0"/>
              <a:buChar char="•"/>
            </a:pPr>
            <a:r>
              <a:rPr lang="en-US" sz="2200" dirty="0"/>
              <a:t>Don’t worry about how Alice and Bob share the key for now</a:t>
            </a:r>
          </a:p>
          <a:p>
            <a:pPr marL="285750" indent="-285750">
              <a:spcAft>
                <a:spcPts val="600"/>
              </a:spcAft>
              <a:buFont typeface="Arial" panose="020B0604020202020204" pitchFamily="34" charset="0"/>
              <a:buChar char="•"/>
            </a:pPr>
            <a:r>
              <a:rPr lang="en-US" sz="2200" dirty="0"/>
              <a:t>For modern schemes, we’re going to assume that messages are bitstrings</a:t>
            </a:r>
          </a:p>
          <a:p>
            <a:pPr marL="742950" lvl="1" indent="-285750">
              <a:spcAft>
                <a:spcPts val="600"/>
              </a:spcAft>
              <a:buFont typeface="Arial" panose="020B0604020202020204" pitchFamily="34" charset="0"/>
              <a:buChar char="•"/>
            </a:pPr>
            <a:r>
              <a:rPr lang="en-US" sz="2200" dirty="0"/>
              <a:t>Bitstring: A sequence of bits (0 or 1), e.g. 11010101001001010</a:t>
            </a:r>
          </a:p>
          <a:p>
            <a:pPr marL="742950" lvl="1" indent="-285750">
              <a:spcAft>
                <a:spcPts val="600"/>
              </a:spcAft>
              <a:buFont typeface="Arial" panose="020B0604020202020204" pitchFamily="34" charset="0"/>
              <a:buChar char="•"/>
            </a:pPr>
            <a:r>
              <a:rPr lang="en-US" sz="2200" dirty="0"/>
              <a:t>Text, images, etc. can usually be converted into bitstrings before encryption</a:t>
            </a:r>
          </a:p>
        </p:txBody>
      </p:sp>
      <p:grpSp>
        <p:nvGrpSpPr>
          <p:cNvPr id="72" name="Group 71">
            <a:extLst>
              <a:ext uri="{FF2B5EF4-FFF2-40B4-BE49-F238E27FC236}">
                <a16:creationId xmlns:a16="http://schemas.microsoft.com/office/drawing/2014/main" id="{4FC40332-1682-D8B8-CA4D-2AD103E491C9}"/>
              </a:ext>
            </a:extLst>
          </p:cNvPr>
          <p:cNvGrpSpPr/>
          <p:nvPr/>
        </p:nvGrpSpPr>
        <p:grpSpPr>
          <a:xfrm>
            <a:off x="1429768" y="4971217"/>
            <a:ext cx="9332461" cy="1508761"/>
            <a:chOff x="1319842" y="4548523"/>
            <a:chExt cx="9332461" cy="1508761"/>
          </a:xfrm>
        </p:grpSpPr>
        <p:sp>
          <p:nvSpPr>
            <p:cNvPr id="7" name="Google Shape;174;p31">
              <a:extLst>
                <a:ext uri="{FF2B5EF4-FFF2-40B4-BE49-F238E27FC236}">
                  <a16:creationId xmlns:a16="http://schemas.microsoft.com/office/drawing/2014/main" id="{6278651E-9044-CF60-AEA7-C656481D4FCC}"/>
                </a:ext>
              </a:extLst>
            </p:cNvPr>
            <p:cNvSpPr/>
            <p:nvPr/>
          </p:nvSpPr>
          <p:spPr>
            <a:xfrm>
              <a:off x="6994703" y="4548524"/>
              <a:ext cx="3657600" cy="150876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5;p31">
              <a:extLst>
                <a:ext uri="{FF2B5EF4-FFF2-40B4-BE49-F238E27FC236}">
                  <a16:creationId xmlns:a16="http://schemas.microsoft.com/office/drawing/2014/main" id="{18C79A61-B8ED-6DF3-9257-031F8320C954}"/>
                </a:ext>
              </a:extLst>
            </p:cNvPr>
            <p:cNvSpPr/>
            <p:nvPr/>
          </p:nvSpPr>
          <p:spPr>
            <a:xfrm>
              <a:off x="1319842" y="4548523"/>
              <a:ext cx="3657600" cy="1507201"/>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0;p31">
              <a:extLst>
                <a:ext uri="{FF2B5EF4-FFF2-40B4-BE49-F238E27FC236}">
                  <a16:creationId xmlns:a16="http://schemas.microsoft.com/office/drawing/2014/main" id="{7517F99E-A55C-592D-3550-70570A403900}"/>
                </a:ext>
              </a:extLst>
            </p:cNvPr>
            <p:cNvSpPr/>
            <p:nvPr/>
          </p:nvSpPr>
          <p:spPr>
            <a:xfrm>
              <a:off x="3757936" y="4650076"/>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cxnSp>
          <p:nvCxnSpPr>
            <p:cNvPr id="12" name="Google Shape;182;p31">
              <a:extLst>
                <a:ext uri="{FF2B5EF4-FFF2-40B4-BE49-F238E27FC236}">
                  <a16:creationId xmlns:a16="http://schemas.microsoft.com/office/drawing/2014/main" id="{A13782CE-C978-9058-F10B-22409FD98170}"/>
                </a:ext>
              </a:extLst>
            </p:cNvPr>
            <p:cNvCxnSpPr>
              <a:cxnSpLocks/>
              <a:stCxn id="10" idx="2"/>
              <a:endCxn id="25" idx="0"/>
            </p:cNvCxnSpPr>
            <p:nvPr/>
          </p:nvCxnSpPr>
          <p:spPr>
            <a:xfrm>
              <a:off x="4032286" y="5120176"/>
              <a:ext cx="0" cy="305073"/>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183;p31">
              <a:extLst>
                <a:ext uri="{FF2B5EF4-FFF2-40B4-BE49-F238E27FC236}">
                  <a16:creationId xmlns:a16="http://schemas.microsoft.com/office/drawing/2014/main" id="{B50813A2-764A-14EC-12C4-07BE6EEF3D89}"/>
                </a:ext>
              </a:extLst>
            </p:cNvPr>
            <p:cNvCxnSpPr>
              <a:cxnSpLocks/>
              <a:stCxn id="61" idx="3"/>
              <a:endCxn id="25" idx="1"/>
            </p:cNvCxnSpPr>
            <p:nvPr/>
          </p:nvCxnSpPr>
          <p:spPr>
            <a:xfrm>
              <a:off x="2991995" y="5684418"/>
              <a:ext cx="328762" cy="0"/>
            </a:xfrm>
            <a:prstGeom prst="straightConnector1">
              <a:avLst/>
            </a:prstGeom>
            <a:noFill/>
            <a:ln w="9525" cap="flat" cmpd="sng">
              <a:solidFill>
                <a:schemeClr val="dk2"/>
              </a:solidFill>
              <a:prstDash val="solid"/>
              <a:round/>
              <a:headEnd type="none" w="med" len="med"/>
              <a:tailEnd type="triangle" w="med" len="med"/>
            </a:ln>
          </p:spPr>
        </p:cxnSp>
        <p:cxnSp>
          <p:nvCxnSpPr>
            <p:cNvPr id="15" name="Google Shape;185;p31">
              <a:extLst>
                <a:ext uri="{FF2B5EF4-FFF2-40B4-BE49-F238E27FC236}">
                  <a16:creationId xmlns:a16="http://schemas.microsoft.com/office/drawing/2014/main" id="{95693181-B00F-5CED-F4B8-C2E8212AAB7F}"/>
                </a:ext>
              </a:extLst>
            </p:cNvPr>
            <p:cNvCxnSpPr>
              <a:cxnSpLocks/>
              <a:stCxn id="25" idx="3"/>
              <a:endCxn id="26" idx="1"/>
            </p:cNvCxnSpPr>
            <p:nvPr/>
          </p:nvCxnSpPr>
          <p:spPr>
            <a:xfrm>
              <a:off x="4743815" y="5684418"/>
              <a:ext cx="460307" cy="0"/>
            </a:xfrm>
            <a:prstGeom prst="straightConnector1">
              <a:avLst/>
            </a:prstGeom>
            <a:noFill/>
            <a:ln w="9525" cap="flat" cmpd="sng">
              <a:solidFill>
                <a:schemeClr val="dk2"/>
              </a:solidFill>
              <a:prstDash val="solid"/>
              <a:round/>
              <a:headEnd type="none" w="med" len="med"/>
              <a:tailEnd type="triangle" w="med" len="med"/>
            </a:ln>
          </p:spPr>
        </p:cxnSp>
        <p:cxnSp>
          <p:nvCxnSpPr>
            <p:cNvPr id="16" name="Google Shape;186;p31">
              <a:extLst>
                <a:ext uri="{FF2B5EF4-FFF2-40B4-BE49-F238E27FC236}">
                  <a16:creationId xmlns:a16="http://schemas.microsoft.com/office/drawing/2014/main" id="{5CAF8823-B93D-5EEA-FD31-145687D942AC}"/>
                </a:ext>
              </a:extLst>
            </p:cNvPr>
            <p:cNvCxnSpPr>
              <a:cxnSpLocks/>
              <a:stCxn id="26" idx="3"/>
              <a:endCxn id="27" idx="1"/>
            </p:cNvCxnSpPr>
            <p:nvPr/>
          </p:nvCxnSpPr>
          <p:spPr>
            <a:xfrm>
              <a:off x="6768022" y="5684418"/>
              <a:ext cx="422916" cy="0"/>
            </a:xfrm>
            <a:prstGeom prst="straightConnector1">
              <a:avLst/>
            </a:prstGeom>
            <a:noFill/>
            <a:ln w="9525" cap="flat" cmpd="sng">
              <a:solidFill>
                <a:schemeClr val="dk2"/>
              </a:solidFill>
              <a:prstDash val="solid"/>
              <a:round/>
              <a:headEnd type="none" w="med" len="med"/>
              <a:tailEnd type="triangle" w="med" len="med"/>
            </a:ln>
          </p:spPr>
        </p:cxnSp>
        <p:sp>
          <p:nvSpPr>
            <p:cNvPr id="17" name="Google Shape;188;p31">
              <a:extLst>
                <a:ext uri="{FF2B5EF4-FFF2-40B4-BE49-F238E27FC236}">
                  <a16:creationId xmlns:a16="http://schemas.microsoft.com/office/drawing/2014/main" id="{3CBA49F0-CE60-EA8F-110C-9A9A041A3727}"/>
                </a:ext>
              </a:extLst>
            </p:cNvPr>
            <p:cNvSpPr/>
            <p:nvPr/>
          </p:nvSpPr>
          <p:spPr>
            <a:xfrm>
              <a:off x="7647988" y="4650076"/>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Key</a:t>
              </a:r>
              <a:endParaRPr dirty="0"/>
            </a:p>
          </p:txBody>
        </p:sp>
        <p:cxnSp>
          <p:nvCxnSpPr>
            <p:cNvPr id="19" name="Google Shape;189;p31">
              <a:extLst>
                <a:ext uri="{FF2B5EF4-FFF2-40B4-BE49-F238E27FC236}">
                  <a16:creationId xmlns:a16="http://schemas.microsoft.com/office/drawing/2014/main" id="{29F432A9-DD52-B898-A3EB-493A007AF51E}"/>
                </a:ext>
              </a:extLst>
            </p:cNvPr>
            <p:cNvCxnSpPr>
              <a:cxnSpLocks/>
              <a:stCxn id="17" idx="2"/>
              <a:endCxn id="27" idx="0"/>
            </p:cNvCxnSpPr>
            <p:nvPr/>
          </p:nvCxnSpPr>
          <p:spPr>
            <a:xfrm>
              <a:off x="7922338" y="5120176"/>
              <a:ext cx="0" cy="305073"/>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91;p31">
              <a:extLst>
                <a:ext uri="{FF2B5EF4-FFF2-40B4-BE49-F238E27FC236}">
                  <a16:creationId xmlns:a16="http://schemas.microsoft.com/office/drawing/2014/main" id="{F34D02FF-6CDD-E0EF-369E-6AB949BF5859}"/>
                </a:ext>
              </a:extLst>
            </p:cNvPr>
            <p:cNvCxnSpPr>
              <a:cxnSpLocks/>
              <a:stCxn id="27" idx="3"/>
              <a:endCxn id="32" idx="1"/>
            </p:cNvCxnSpPr>
            <p:nvPr/>
          </p:nvCxnSpPr>
          <p:spPr>
            <a:xfrm>
              <a:off x="8653738" y="5684418"/>
              <a:ext cx="358226" cy="0"/>
            </a:xfrm>
            <a:prstGeom prst="straightConnector1">
              <a:avLst/>
            </a:prstGeom>
            <a:noFill/>
            <a:ln w="9525" cap="flat" cmpd="sng">
              <a:solidFill>
                <a:schemeClr val="dk2"/>
              </a:solidFill>
              <a:prstDash val="solid"/>
              <a:round/>
              <a:headEnd type="none" w="med" len="med"/>
              <a:tailEnd type="triangle" w="med" len="med"/>
            </a:ln>
          </p:spPr>
        </p:cxnSp>
        <p:sp>
          <p:nvSpPr>
            <p:cNvPr id="22" name="Google Shape;192;p31">
              <a:extLst>
                <a:ext uri="{FF2B5EF4-FFF2-40B4-BE49-F238E27FC236}">
                  <a16:creationId xmlns:a16="http://schemas.microsoft.com/office/drawing/2014/main" id="{EC60FB1C-5D92-D0A3-E678-E97C8885B97F}"/>
                </a:ext>
              </a:extLst>
            </p:cNvPr>
            <p:cNvSpPr txBox="1"/>
            <p:nvPr/>
          </p:nvSpPr>
          <p:spPr>
            <a:xfrm>
              <a:off x="1319842" y="4548523"/>
              <a:ext cx="76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Alice</a:t>
              </a:r>
              <a:endParaRPr dirty="0"/>
            </a:p>
          </p:txBody>
        </p:sp>
        <p:sp>
          <p:nvSpPr>
            <p:cNvPr id="23" name="Google Shape;193;p31">
              <a:extLst>
                <a:ext uri="{FF2B5EF4-FFF2-40B4-BE49-F238E27FC236}">
                  <a16:creationId xmlns:a16="http://schemas.microsoft.com/office/drawing/2014/main" id="{91EDE53C-85F6-DAD6-D53F-6D3781238129}"/>
                </a:ext>
              </a:extLst>
            </p:cNvPr>
            <p:cNvSpPr txBox="1"/>
            <p:nvPr/>
          </p:nvSpPr>
          <p:spPr>
            <a:xfrm>
              <a:off x="9887003" y="4548524"/>
              <a:ext cx="7653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dirty="0"/>
                <a:t>Bob</a:t>
              </a:r>
              <a:endParaRPr dirty="0"/>
            </a:p>
          </p:txBody>
        </p:sp>
        <p:sp>
          <p:nvSpPr>
            <p:cNvPr id="24" name="Google Shape;194;p31">
              <a:extLst>
                <a:ext uri="{FF2B5EF4-FFF2-40B4-BE49-F238E27FC236}">
                  <a16:creationId xmlns:a16="http://schemas.microsoft.com/office/drawing/2014/main" id="{16077584-15AB-F754-5075-95516F1F78F3}"/>
                </a:ext>
              </a:extLst>
            </p:cNvPr>
            <p:cNvSpPr txBox="1"/>
            <p:nvPr/>
          </p:nvSpPr>
          <p:spPr>
            <a:xfrm>
              <a:off x="5054329" y="4858636"/>
              <a:ext cx="19587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C00000"/>
                  </a:solidFill>
                </a:rPr>
                <a:t>Insecure Channel</a:t>
              </a:r>
              <a:endParaRPr dirty="0">
                <a:solidFill>
                  <a:srgbClr val="C00000"/>
                </a:solidFill>
              </a:endParaRPr>
            </a:p>
          </p:txBody>
        </p:sp>
        <p:sp>
          <p:nvSpPr>
            <p:cNvPr id="25" name="Google Shape;193;p30">
              <a:extLst>
                <a:ext uri="{FF2B5EF4-FFF2-40B4-BE49-F238E27FC236}">
                  <a16:creationId xmlns:a16="http://schemas.microsoft.com/office/drawing/2014/main" id="{4F1B13BA-F7F4-E811-5266-B30E6154C7BF}"/>
                </a:ext>
              </a:extLst>
            </p:cNvPr>
            <p:cNvSpPr/>
            <p:nvPr/>
          </p:nvSpPr>
          <p:spPr>
            <a:xfrm>
              <a:off x="3320757" y="5425249"/>
              <a:ext cx="1423058"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Encryption Algorithm</a:t>
              </a:r>
              <a:endParaRPr dirty="0"/>
            </a:p>
          </p:txBody>
        </p:sp>
        <p:sp>
          <p:nvSpPr>
            <p:cNvPr id="26" name="Google Shape;196;p30">
              <a:extLst>
                <a:ext uri="{FF2B5EF4-FFF2-40B4-BE49-F238E27FC236}">
                  <a16:creationId xmlns:a16="http://schemas.microsoft.com/office/drawing/2014/main" id="{A9161541-2D0C-338E-F080-6A078D225A3B}"/>
                </a:ext>
              </a:extLst>
            </p:cNvPr>
            <p:cNvSpPr/>
            <p:nvPr/>
          </p:nvSpPr>
          <p:spPr>
            <a:xfrm>
              <a:off x="5204122"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Ciphertext</a:t>
              </a:r>
              <a:endParaRPr dirty="0"/>
            </a:p>
          </p:txBody>
        </p:sp>
        <p:sp>
          <p:nvSpPr>
            <p:cNvPr id="27" name="Google Shape;199;p30">
              <a:extLst>
                <a:ext uri="{FF2B5EF4-FFF2-40B4-BE49-F238E27FC236}">
                  <a16:creationId xmlns:a16="http://schemas.microsoft.com/office/drawing/2014/main" id="{DBF6E9F9-408F-C6DB-7F42-FB52FEF63F4D}"/>
                </a:ext>
              </a:extLst>
            </p:cNvPr>
            <p:cNvSpPr/>
            <p:nvPr/>
          </p:nvSpPr>
          <p:spPr>
            <a:xfrm>
              <a:off x="7190938" y="5425249"/>
              <a:ext cx="14628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Decryption Algorithm</a:t>
              </a:r>
              <a:endParaRPr dirty="0"/>
            </a:p>
          </p:txBody>
        </p:sp>
        <p:sp>
          <p:nvSpPr>
            <p:cNvPr id="32" name="Google Shape;196;p30">
              <a:extLst>
                <a:ext uri="{FF2B5EF4-FFF2-40B4-BE49-F238E27FC236}">
                  <a16:creationId xmlns:a16="http://schemas.microsoft.com/office/drawing/2014/main" id="{5F578445-0239-DDEB-3E3B-C231003D0EBB}"/>
                </a:ext>
              </a:extLst>
            </p:cNvPr>
            <p:cNvSpPr/>
            <p:nvPr/>
          </p:nvSpPr>
          <p:spPr>
            <a:xfrm>
              <a:off x="9011964"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sp>
          <p:nvSpPr>
            <p:cNvPr id="61" name="Google Shape;196;p30">
              <a:extLst>
                <a:ext uri="{FF2B5EF4-FFF2-40B4-BE49-F238E27FC236}">
                  <a16:creationId xmlns:a16="http://schemas.microsoft.com/office/drawing/2014/main" id="{C4EFBD0B-31DF-2771-CC5C-E238E9C7FF6E}"/>
                </a:ext>
              </a:extLst>
            </p:cNvPr>
            <p:cNvSpPr/>
            <p:nvPr/>
          </p:nvSpPr>
          <p:spPr>
            <a:xfrm>
              <a:off x="1428095"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grpSp>
    </p:spTree>
    <p:extLst>
      <p:ext uri="{BB962C8B-B14F-4D97-AF65-F5344CB8AC3E}">
        <p14:creationId xmlns:p14="http://schemas.microsoft.com/office/powerpoint/2010/main" val="2953052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F02D-10B1-F8C7-6ECF-C5AEF3E578D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9FFCD0E-A730-F95D-9EAA-D58E3AC002A1}"/>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Symmetric-Key Encryption</a:t>
            </a:r>
          </a:p>
        </p:txBody>
      </p:sp>
      <p:sp>
        <p:nvSpPr>
          <p:cNvPr id="5" name="TextBox 4">
            <a:extLst>
              <a:ext uri="{FF2B5EF4-FFF2-40B4-BE49-F238E27FC236}">
                <a16:creationId xmlns:a16="http://schemas.microsoft.com/office/drawing/2014/main" id="{B8B278E7-0919-8CAA-7A01-058D052A0C1E}"/>
              </a:ext>
            </a:extLst>
          </p:cNvPr>
          <p:cNvSpPr txBox="1"/>
          <p:nvPr/>
        </p:nvSpPr>
        <p:spPr>
          <a:xfrm>
            <a:off x="498175" y="1043937"/>
            <a:ext cx="11195648" cy="1647823"/>
          </a:xfrm>
          <a:prstGeom prst="rect">
            <a:avLst/>
          </a:prstGeom>
          <a:noFill/>
        </p:spPr>
        <p:txBody>
          <a:bodyPr wrap="square">
            <a:spAutoFit/>
          </a:bodyPr>
          <a:lstStyle/>
          <a:p>
            <a:pPr marL="457200" indent="-342900">
              <a:lnSpc>
                <a:spcPct val="80000"/>
              </a:lnSpc>
              <a:spcAft>
                <a:spcPts val="1200"/>
              </a:spcAft>
              <a:buSzPts val="1800"/>
              <a:buFont typeface="Arial" panose="020B0604020202020204" pitchFamily="34" charset="0"/>
              <a:buChar char="●"/>
            </a:pPr>
            <a:r>
              <a:rPr lang="en-US" sz="2200" dirty="0"/>
              <a:t>A symmetric-key encryption scheme has three algorithms:</a:t>
            </a:r>
          </a:p>
          <a:p>
            <a:pPr marL="914400" lvl="1" indent="-342900">
              <a:lnSpc>
                <a:spcPct val="80000"/>
              </a:lnSpc>
              <a:spcAft>
                <a:spcPts val="1200"/>
              </a:spcAft>
              <a:buSzPts val="1800"/>
              <a:buFont typeface="Arial" panose="020B0604020202020204" pitchFamily="34" charset="0"/>
              <a:buChar char="●"/>
            </a:pPr>
            <a:r>
              <a:rPr lang="en-US" sz="2200" dirty="0" err="1"/>
              <a:t>KeyGen</a:t>
            </a:r>
            <a:r>
              <a:rPr lang="en-US" sz="2200" dirty="0"/>
              <a:t>() → </a:t>
            </a:r>
            <a:r>
              <a:rPr lang="en-US" sz="2200" i="1" dirty="0"/>
              <a:t>K</a:t>
            </a:r>
            <a:r>
              <a:rPr lang="en-US" sz="2200" dirty="0"/>
              <a:t>: Generate a </a:t>
            </a:r>
            <a:r>
              <a:rPr lang="en-US" sz="2200" b="1" dirty="0"/>
              <a:t>key</a:t>
            </a:r>
            <a:r>
              <a:rPr lang="en-US" sz="2200" dirty="0"/>
              <a:t> </a:t>
            </a:r>
            <a:r>
              <a:rPr lang="en-US" sz="2200" i="1" dirty="0"/>
              <a:t>K</a:t>
            </a:r>
          </a:p>
          <a:p>
            <a:pPr marL="914400" lvl="1" indent="-342900">
              <a:lnSpc>
                <a:spcPct val="80000"/>
              </a:lnSpc>
              <a:spcAft>
                <a:spcPts val="1200"/>
              </a:spcAft>
              <a:buSzPts val="1800"/>
              <a:buFont typeface="Arial" panose="020B0604020202020204" pitchFamily="34" charset="0"/>
              <a:buChar char="●"/>
            </a:pPr>
            <a:r>
              <a:rPr lang="en-US" sz="2200" dirty="0"/>
              <a:t>Enc(</a:t>
            </a:r>
            <a:r>
              <a:rPr lang="en-US" sz="2200" i="1" dirty="0"/>
              <a:t>K</a:t>
            </a:r>
            <a:r>
              <a:rPr lang="en-US" sz="2200" dirty="0"/>
              <a:t>, </a:t>
            </a:r>
            <a:r>
              <a:rPr lang="en-US" sz="2200" i="1" dirty="0"/>
              <a:t>M</a:t>
            </a:r>
            <a:r>
              <a:rPr lang="en-US" sz="2200" dirty="0"/>
              <a:t>) → </a:t>
            </a:r>
            <a:r>
              <a:rPr lang="en-US" sz="2200" i="1" dirty="0"/>
              <a:t>C</a:t>
            </a:r>
            <a:r>
              <a:rPr lang="en-US" sz="2200" dirty="0"/>
              <a:t>: Encrypt a </a:t>
            </a:r>
            <a:r>
              <a:rPr lang="en-US" sz="2200" b="1" dirty="0"/>
              <a:t>plaintext</a:t>
            </a:r>
            <a:r>
              <a:rPr lang="en-US" sz="2200" dirty="0"/>
              <a:t> </a:t>
            </a:r>
            <a:r>
              <a:rPr lang="en-US" sz="2200" i="1" dirty="0"/>
              <a:t>M</a:t>
            </a:r>
            <a:r>
              <a:rPr lang="en-US" sz="2200" dirty="0"/>
              <a:t> using the key </a:t>
            </a:r>
            <a:r>
              <a:rPr lang="en-US" sz="2200" i="1" dirty="0"/>
              <a:t>K</a:t>
            </a:r>
            <a:r>
              <a:rPr lang="en-US" sz="2200" dirty="0"/>
              <a:t> to produce </a:t>
            </a:r>
            <a:r>
              <a:rPr lang="en-US" sz="2200" b="1" dirty="0"/>
              <a:t>ciphertext</a:t>
            </a:r>
            <a:r>
              <a:rPr lang="en-US" sz="2200" dirty="0"/>
              <a:t> </a:t>
            </a:r>
            <a:r>
              <a:rPr lang="en-US" sz="2200" i="1" dirty="0"/>
              <a:t>C</a:t>
            </a:r>
          </a:p>
          <a:p>
            <a:pPr marL="914400" lvl="1" indent="-342900">
              <a:lnSpc>
                <a:spcPct val="80000"/>
              </a:lnSpc>
              <a:spcAft>
                <a:spcPts val="1200"/>
              </a:spcAft>
              <a:buSzPts val="1800"/>
              <a:buFont typeface="Arial" panose="020B0604020202020204" pitchFamily="34" charset="0"/>
              <a:buChar char="●"/>
            </a:pPr>
            <a:r>
              <a:rPr lang="en-US" sz="2200" dirty="0"/>
              <a:t>Dec(</a:t>
            </a:r>
            <a:r>
              <a:rPr lang="en-US" sz="2200" i="1" dirty="0"/>
              <a:t>K</a:t>
            </a:r>
            <a:r>
              <a:rPr lang="en-US" sz="2200" dirty="0"/>
              <a:t>, </a:t>
            </a:r>
            <a:r>
              <a:rPr lang="en-US" sz="2200" i="1" dirty="0"/>
              <a:t>C</a:t>
            </a:r>
            <a:r>
              <a:rPr lang="en-US" sz="2200" dirty="0"/>
              <a:t>) → </a:t>
            </a:r>
            <a:r>
              <a:rPr lang="en-US" sz="2200" i="1" dirty="0"/>
              <a:t>M</a:t>
            </a:r>
            <a:r>
              <a:rPr lang="en-US" sz="2200" dirty="0"/>
              <a:t>: Decrypt a ciphertext </a:t>
            </a:r>
            <a:r>
              <a:rPr lang="en-US" sz="2200" i="1" dirty="0"/>
              <a:t>C</a:t>
            </a:r>
            <a:r>
              <a:rPr lang="en-US" sz="2200" dirty="0"/>
              <a:t> using the key </a:t>
            </a:r>
            <a:r>
              <a:rPr lang="en-US" sz="2200" i="1" dirty="0"/>
              <a:t>K</a:t>
            </a:r>
            <a:endParaRPr lang="en-US" sz="2200" dirty="0"/>
          </a:p>
        </p:txBody>
      </p:sp>
      <p:grpSp>
        <p:nvGrpSpPr>
          <p:cNvPr id="72" name="Group 71">
            <a:extLst>
              <a:ext uri="{FF2B5EF4-FFF2-40B4-BE49-F238E27FC236}">
                <a16:creationId xmlns:a16="http://schemas.microsoft.com/office/drawing/2014/main" id="{6EA3FDB4-FF6E-CE64-9EC8-C9AAA73534D3}"/>
              </a:ext>
            </a:extLst>
          </p:cNvPr>
          <p:cNvGrpSpPr/>
          <p:nvPr/>
        </p:nvGrpSpPr>
        <p:grpSpPr>
          <a:xfrm>
            <a:off x="1429768" y="5321207"/>
            <a:ext cx="9332461" cy="1508761"/>
            <a:chOff x="1319842" y="4548523"/>
            <a:chExt cx="9332461" cy="1508761"/>
          </a:xfrm>
        </p:grpSpPr>
        <p:sp>
          <p:nvSpPr>
            <p:cNvPr id="7" name="Google Shape;174;p31">
              <a:extLst>
                <a:ext uri="{FF2B5EF4-FFF2-40B4-BE49-F238E27FC236}">
                  <a16:creationId xmlns:a16="http://schemas.microsoft.com/office/drawing/2014/main" id="{707C2C80-9AAE-66C4-B9F0-A7164FA3F2DB}"/>
                </a:ext>
              </a:extLst>
            </p:cNvPr>
            <p:cNvSpPr/>
            <p:nvPr/>
          </p:nvSpPr>
          <p:spPr>
            <a:xfrm>
              <a:off x="6994703" y="4548524"/>
              <a:ext cx="3657600" cy="150876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5;p31">
              <a:extLst>
                <a:ext uri="{FF2B5EF4-FFF2-40B4-BE49-F238E27FC236}">
                  <a16:creationId xmlns:a16="http://schemas.microsoft.com/office/drawing/2014/main" id="{78641677-02FF-52B9-C0C7-0DBDE2C87783}"/>
                </a:ext>
              </a:extLst>
            </p:cNvPr>
            <p:cNvSpPr/>
            <p:nvPr/>
          </p:nvSpPr>
          <p:spPr>
            <a:xfrm>
              <a:off x="1319842" y="4548523"/>
              <a:ext cx="3657600" cy="1507201"/>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0;p31">
              <a:extLst>
                <a:ext uri="{FF2B5EF4-FFF2-40B4-BE49-F238E27FC236}">
                  <a16:creationId xmlns:a16="http://schemas.microsoft.com/office/drawing/2014/main" id="{A7B5D41D-61EB-A449-013D-1E0613D07B61}"/>
                </a:ext>
              </a:extLst>
            </p:cNvPr>
            <p:cNvSpPr/>
            <p:nvPr/>
          </p:nvSpPr>
          <p:spPr>
            <a:xfrm>
              <a:off x="3757936" y="4650076"/>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Key</a:t>
              </a:r>
              <a:endParaRPr/>
            </a:p>
          </p:txBody>
        </p:sp>
        <p:cxnSp>
          <p:nvCxnSpPr>
            <p:cNvPr id="12" name="Google Shape;182;p31">
              <a:extLst>
                <a:ext uri="{FF2B5EF4-FFF2-40B4-BE49-F238E27FC236}">
                  <a16:creationId xmlns:a16="http://schemas.microsoft.com/office/drawing/2014/main" id="{75E4A27A-2B68-4D87-887F-58584BB3A577}"/>
                </a:ext>
              </a:extLst>
            </p:cNvPr>
            <p:cNvCxnSpPr>
              <a:cxnSpLocks/>
              <a:stCxn id="10" idx="2"/>
              <a:endCxn id="25" idx="0"/>
            </p:cNvCxnSpPr>
            <p:nvPr/>
          </p:nvCxnSpPr>
          <p:spPr>
            <a:xfrm>
              <a:off x="4032286" y="5120176"/>
              <a:ext cx="0" cy="305073"/>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183;p31">
              <a:extLst>
                <a:ext uri="{FF2B5EF4-FFF2-40B4-BE49-F238E27FC236}">
                  <a16:creationId xmlns:a16="http://schemas.microsoft.com/office/drawing/2014/main" id="{0104251D-6E9A-EC94-1F84-BBB84D6C986B}"/>
                </a:ext>
              </a:extLst>
            </p:cNvPr>
            <p:cNvCxnSpPr>
              <a:cxnSpLocks/>
              <a:stCxn id="61" idx="3"/>
              <a:endCxn id="25" idx="1"/>
            </p:cNvCxnSpPr>
            <p:nvPr/>
          </p:nvCxnSpPr>
          <p:spPr>
            <a:xfrm>
              <a:off x="2991995" y="5684418"/>
              <a:ext cx="328762" cy="0"/>
            </a:xfrm>
            <a:prstGeom prst="straightConnector1">
              <a:avLst/>
            </a:prstGeom>
            <a:noFill/>
            <a:ln w="9525" cap="flat" cmpd="sng">
              <a:solidFill>
                <a:schemeClr val="dk2"/>
              </a:solidFill>
              <a:prstDash val="solid"/>
              <a:round/>
              <a:headEnd type="none" w="med" len="med"/>
              <a:tailEnd type="triangle" w="med" len="med"/>
            </a:ln>
          </p:spPr>
        </p:cxnSp>
        <p:cxnSp>
          <p:nvCxnSpPr>
            <p:cNvPr id="15" name="Google Shape;185;p31">
              <a:extLst>
                <a:ext uri="{FF2B5EF4-FFF2-40B4-BE49-F238E27FC236}">
                  <a16:creationId xmlns:a16="http://schemas.microsoft.com/office/drawing/2014/main" id="{3283E043-4491-032A-78AA-ACF58A1044BB}"/>
                </a:ext>
              </a:extLst>
            </p:cNvPr>
            <p:cNvCxnSpPr>
              <a:cxnSpLocks/>
              <a:stCxn id="25" idx="3"/>
              <a:endCxn id="26" idx="1"/>
            </p:cNvCxnSpPr>
            <p:nvPr/>
          </p:nvCxnSpPr>
          <p:spPr>
            <a:xfrm>
              <a:off x="4743815" y="5684418"/>
              <a:ext cx="460307" cy="0"/>
            </a:xfrm>
            <a:prstGeom prst="straightConnector1">
              <a:avLst/>
            </a:prstGeom>
            <a:noFill/>
            <a:ln w="9525" cap="flat" cmpd="sng">
              <a:solidFill>
                <a:schemeClr val="dk2"/>
              </a:solidFill>
              <a:prstDash val="solid"/>
              <a:round/>
              <a:headEnd type="none" w="med" len="med"/>
              <a:tailEnd type="triangle" w="med" len="med"/>
            </a:ln>
          </p:spPr>
        </p:cxnSp>
        <p:cxnSp>
          <p:nvCxnSpPr>
            <p:cNvPr id="16" name="Google Shape;186;p31">
              <a:extLst>
                <a:ext uri="{FF2B5EF4-FFF2-40B4-BE49-F238E27FC236}">
                  <a16:creationId xmlns:a16="http://schemas.microsoft.com/office/drawing/2014/main" id="{ED28A5DE-EC69-A2E6-E556-83772F173853}"/>
                </a:ext>
              </a:extLst>
            </p:cNvPr>
            <p:cNvCxnSpPr>
              <a:cxnSpLocks/>
              <a:stCxn id="26" idx="3"/>
              <a:endCxn id="27" idx="1"/>
            </p:cNvCxnSpPr>
            <p:nvPr/>
          </p:nvCxnSpPr>
          <p:spPr>
            <a:xfrm>
              <a:off x="6768022" y="5684418"/>
              <a:ext cx="422916" cy="0"/>
            </a:xfrm>
            <a:prstGeom prst="straightConnector1">
              <a:avLst/>
            </a:prstGeom>
            <a:noFill/>
            <a:ln w="9525" cap="flat" cmpd="sng">
              <a:solidFill>
                <a:schemeClr val="dk2"/>
              </a:solidFill>
              <a:prstDash val="solid"/>
              <a:round/>
              <a:headEnd type="none" w="med" len="med"/>
              <a:tailEnd type="triangle" w="med" len="med"/>
            </a:ln>
          </p:spPr>
        </p:cxnSp>
        <p:sp>
          <p:nvSpPr>
            <p:cNvPr id="17" name="Google Shape;188;p31">
              <a:extLst>
                <a:ext uri="{FF2B5EF4-FFF2-40B4-BE49-F238E27FC236}">
                  <a16:creationId xmlns:a16="http://schemas.microsoft.com/office/drawing/2014/main" id="{5901F20A-E321-4F7F-0379-1D87377BC12B}"/>
                </a:ext>
              </a:extLst>
            </p:cNvPr>
            <p:cNvSpPr/>
            <p:nvPr/>
          </p:nvSpPr>
          <p:spPr>
            <a:xfrm>
              <a:off x="7647988" y="4650076"/>
              <a:ext cx="548700" cy="47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Key</a:t>
              </a:r>
              <a:endParaRPr dirty="0"/>
            </a:p>
          </p:txBody>
        </p:sp>
        <p:cxnSp>
          <p:nvCxnSpPr>
            <p:cNvPr id="19" name="Google Shape;189;p31">
              <a:extLst>
                <a:ext uri="{FF2B5EF4-FFF2-40B4-BE49-F238E27FC236}">
                  <a16:creationId xmlns:a16="http://schemas.microsoft.com/office/drawing/2014/main" id="{35FC3A85-74F7-DD44-AFC8-03547CB47F07}"/>
                </a:ext>
              </a:extLst>
            </p:cNvPr>
            <p:cNvCxnSpPr>
              <a:cxnSpLocks/>
              <a:stCxn id="17" idx="2"/>
              <a:endCxn id="27" idx="0"/>
            </p:cNvCxnSpPr>
            <p:nvPr/>
          </p:nvCxnSpPr>
          <p:spPr>
            <a:xfrm>
              <a:off x="7922338" y="5120176"/>
              <a:ext cx="0" cy="305073"/>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91;p31">
              <a:extLst>
                <a:ext uri="{FF2B5EF4-FFF2-40B4-BE49-F238E27FC236}">
                  <a16:creationId xmlns:a16="http://schemas.microsoft.com/office/drawing/2014/main" id="{B6C5090B-95FF-3831-97FC-C71503F79A85}"/>
                </a:ext>
              </a:extLst>
            </p:cNvPr>
            <p:cNvCxnSpPr>
              <a:cxnSpLocks/>
              <a:stCxn id="27" idx="3"/>
              <a:endCxn id="32" idx="1"/>
            </p:cNvCxnSpPr>
            <p:nvPr/>
          </p:nvCxnSpPr>
          <p:spPr>
            <a:xfrm>
              <a:off x="8653738" y="5684418"/>
              <a:ext cx="358226" cy="0"/>
            </a:xfrm>
            <a:prstGeom prst="straightConnector1">
              <a:avLst/>
            </a:prstGeom>
            <a:noFill/>
            <a:ln w="9525" cap="flat" cmpd="sng">
              <a:solidFill>
                <a:schemeClr val="dk2"/>
              </a:solidFill>
              <a:prstDash val="solid"/>
              <a:round/>
              <a:headEnd type="none" w="med" len="med"/>
              <a:tailEnd type="triangle" w="med" len="med"/>
            </a:ln>
          </p:spPr>
        </p:cxnSp>
        <p:sp>
          <p:nvSpPr>
            <p:cNvPr id="22" name="Google Shape;192;p31">
              <a:extLst>
                <a:ext uri="{FF2B5EF4-FFF2-40B4-BE49-F238E27FC236}">
                  <a16:creationId xmlns:a16="http://schemas.microsoft.com/office/drawing/2014/main" id="{6F71AC7D-6AC6-120B-6D31-5E813A52BA2A}"/>
                </a:ext>
              </a:extLst>
            </p:cNvPr>
            <p:cNvSpPr txBox="1"/>
            <p:nvPr/>
          </p:nvSpPr>
          <p:spPr>
            <a:xfrm>
              <a:off x="1319842" y="4548523"/>
              <a:ext cx="76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Alice</a:t>
              </a:r>
              <a:endParaRPr dirty="0"/>
            </a:p>
          </p:txBody>
        </p:sp>
        <p:sp>
          <p:nvSpPr>
            <p:cNvPr id="23" name="Google Shape;193;p31">
              <a:extLst>
                <a:ext uri="{FF2B5EF4-FFF2-40B4-BE49-F238E27FC236}">
                  <a16:creationId xmlns:a16="http://schemas.microsoft.com/office/drawing/2014/main" id="{48227766-3EC4-4FA8-1308-49C5E705B5C6}"/>
                </a:ext>
              </a:extLst>
            </p:cNvPr>
            <p:cNvSpPr txBox="1"/>
            <p:nvPr/>
          </p:nvSpPr>
          <p:spPr>
            <a:xfrm>
              <a:off x="9887003" y="4548524"/>
              <a:ext cx="7653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dirty="0"/>
                <a:t>Bob</a:t>
              </a:r>
              <a:endParaRPr dirty="0"/>
            </a:p>
          </p:txBody>
        </p:sp>
        <p:sp>
          <p:nvSpPr>
            <p:cNvPr id="24" name="Google Shape;194;p31">
              <a:extLst>
                <a:ext uri="{FF2B5EF4-FFF2-40B4-BE49-F238E27FC236}">
                  <a16:creationId xmlns:a16="http://schemas.microsoft.com/office/drawing/2014/main" id="{47B00728-1313-1B7D-BAEE-E1D1CC2DEB8B}"/>
                </a:ext>
              </a:extLst>
            </p:cNvPr>
            <p:cNvSpPr txBox="1"/>
            <p:nvPr/>
          </p:nvSpPr>
          <p:spPr>
            <a:xfrm>
              <a:off x="5054329" y="4858636"/>
              <a:ext cx="19587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rgbClr val="C00000"/>
                  </a:solidFill>
                </a:rPr>
                <a:t>Insecure Channel</a:t>
              </a:r>
              <a:endParaRPr dirty="0">
                <a:solidFill>
                  <a:srgbClr val="C00000"/>
                </a:solidFill>
              </a:endParaRPr>
            </a:p>
          </p:txBody>
        </p:sp>
        <p:sp>
          <p:nvSpPr>
            <p:cNvPr id="25" name="Google Shape;193;p30">
              <a:extLst>
                <a:ext uri="{FF2B5EF4-FFF2-40B4-BE49-F238E27FC236}">
                  <a16:creationId xmlns:a16="http://schemas.microsoft.com/office/drawing/2014/main" id="{00846D2B-C2FD-7CA4-24C4-3C49734D89F8}"/>
                </a:ext>
              </a:extLst>
            </p:cNvPr>
            <p:cNvSpPr/>
            <p:nvPr/>
          </p:nvSpPr>
          <p:spPr>
            <a:xfrm>
              <a:off x="3320757" y="5425249"/>
              <a:ext cx="1423058"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Encryption Algorithm</a:t>
              </a:r>
              <a:endParaRPr dirty="0"/>
            </a:p>
          </p:txBody>
        </p:sp>
        <p:sp>
          <p:nvSpPr>
            <p:cNvPr id="26" name="Google Shape;196;p30">
              <a:extLst>
                <a:ext uri="{FF2B5EF4-FFF2-40B4-BE49-F238E27FC236}">
                  <a16:creationId xmlns:a16="http://schemas.microsoft.com/office/drawing/2014/main" id="{9BE155F9-9B71-B83C-97D0-994D9FEF6147}"/>
                </a:ext>
              </a:extLst>
            </p:cNvPr>
            <p:cNvSpPr/>
            <p:nvPr/>
          </p:nvSpPr>
          <p:spPr>
            <a:xfrm>
              <a:off x="5204122"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Ciphertext</a:t>
              </a:r>
              <a:endParaRPr dirty="0"/>
            </a:p>
          </p:txBody>
        </p:sp>
        <p:sp>
          <p:nvSpPr>
            <p:cNvPr id="27" name="Google Shape;199;p30">
              <a:extLst>
                <a:ext uri="{FF2B5EF4-FFF2-40B4-BE49-F238E27FC236}">
                  <a16:creationId xmlns:a16="http://schemas.microsoft.com/office/drawing/2014/main" id="{002ED3BB-48AD-3C3D-D9FB-675E1C0A2CDE}"/>
                </a:ext>
              </a:extLst>
            </p:cNvPr>
            <p:cNvSpPr/>
            <p:nvPr/>
          </p:nvSpPr>
          <p:spPr>
            <a:xfrm>
              <a:off x="7190938" y="5425249"/>
              <a:ext cx="14628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Decryption Algorithm</a:t>
              </a:r>
              <a:endParaRPr dirty="0"/>
            </a:p>
          </p:txBody>
        </p:sp>
        <p:sp>
          <p:nvSpPr>
            <p:cNvPr id="32" name="Google Shape;196;p30">
              <a:extLst>
                <a:ext uri="{FF2B5EF4-FFF2-40B4-BE49-F238E27FC236}">
                  <a16:creationId xmlns:a16="http://schemas.microsoft.com/office/drawing/2014/main" id="{30E1A5D7-4100-8BFC-0D9D-32795EBEC139}"/>
                </a:ext>
              </a:extLst>
            </p:cNvPr>
            <p:cNvSpPr/>
            <p:nvPr/>
          </p:nvSpPr>
          <p:spPr>
            <a:xfrm>
              <a:off x="9011964"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sp>
          <p:nvSpPr>
            <p:cNvPr id="61" name="Google Shape;196;p30">
              <a:extLst>
                <a:ext uri="{FF2B5EF4-FFF2-40B4-BE49-F238E27FC236}">
                  <a16:creationId xmlns:a16="http://schemas.microsoft.com/office/drawing/2014/main" id="{4B9A14A6-1E6E-D4C9-33D3-DC55502B7922}"/>
                </a:ext>
              </a:extLst>
            </p:cNvPr>
            <p:cNvSpPr/>
            <p:nvPr/>
          </p:nvSpPr>
          <p:spPr>
            <a:xfrm>
              <a:off x="1428095" y="5425249"/>
              <a:ext cx="1563900" cy="51833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Plaintext</a:t>
              </a:r>
              <a:endParaRPr dirty="0"/>
            </a:p>
          </p:txBody>
        </p:sp>
      </p:grpSp>
      <p:sp>
        <p:nvSpPr>
          <p:cNvPr id="3" name="Google Shape;363;p41">
            <a:extLst>
              <a:ext uri="{FF2B5EF4-FFF2-40B4-BE49-F238E27FC236}">
                <a16:creationId xmlns:a16="http://schemas.microsoft.com/office/drawing/2014/main" id="{6EB2D196-267B-B9C9-C2C7-52A0A281B2B0}"/>
              </a:ext>
            </a:extLst>
          </p:cNvPr>
          <p:cNvSpPr txBox="1">
            <a:spLocks/>
          </p:cNvSpPr>
          <p:nvPr/>
        </p:nvSpPr>
        <p:spPr>
          <a:xfrm>
            <a:off x="498175" y="2694640"/>
            <a:ext cx="10855625" cy="262656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Bef>
                <a:spcPts val="0"/>
              </a:spcBef>
              <a:spcAft>
                <a:spcPts val="600"/>
              </a:spcAft>
              <a:buSzPts val="1800"/>
              <a:buFont typeface="Arial" panose="020B0604020202020204" pitchFamily="34" charset="0"/>
              <a:buChar char="●"/>
            </a:pPr>
            <a:r>
              <a:rPr lang="en-US" sz="2200" dirty="0"/>
              <a:t>What properties do we want from a symmetric encryption scheme?</a:t>
            </a:r>
          </a:p>
          <a:p>
            <a:pPr marL="914400" lvl="1" indent="-342900">
              <a:spcBef>
                <a:spcPts val="0"/>
              </a:spcBef>
              <a:spcAft>
                <a:spcPts val="600"/>
              </a:spcAft>
              <a:buSzPts val="1800"/>
              <a:buFont typeface="Arial" panose="020B0604020202020204" pitchFamily="34" charset="0"/>
              <a:buChar char="●"/>
            </a:pPr>
            <a:r>
              <a:rPr lang="en-US" sz="2200" b="1" dirty="0"/>
              <a:t>Correctness</a:t>
            </a:r>
            <a:r>
              <a:rPr lang="en-US" sz="2200" dirty="0"/>
              <a:t>: Decrypting a ciphertext should result in the message that was originally encrypted</a:t>
            </a:r>
          </a:p>
          <a:p>
            <a:pPr marL="1371600" lvl="2" indent="-317500">
              <a:spcBef>
                <a:spcPts val="0"/>
              </a:spcBef>
              <a:spcAft>
                <a:spcPts val="600"/>
              </a:spcAft>
              <a:buSzPts val="1400"/>
              <a:buFont typeface="Arial" panose="020B0604020202020204" pitchFamily="34" charset="0"/>
              <a:buChar char="■"/>
            </a:pPr>
            <a:r>
              <a:rPr lang="en-US" sz="2200" dirty="0"/>
              <a:t>Dec(</a:t>
            </a:r>
            <a:r>
              <a:rPr lang="en-US" sz="2200" i="1" dirty="0"/>
              <a:t>K</a:t>
            </a:r>
            <a:r>
              <a:rPr lang="en-US" sz="2200" dirty="0"/>
              <a:t>, Enc(</a:t>
            </a:r>
            <a:r>
              <a:rPr lang="en-US" sz="2200" i="1" dirty="0"/>
              <a:t>K</a:t>
            </a:r>
            <a:r>
              <a:rPr lang="en-US" sz="2200" dirty="0"/>
              <a:t>, </a:t>
            </a:r>
            <a:r>
              <a:rPr lang="en-US" sz="2200" i="1" dirty="0"/>
              <a:t>M</a:t>
            </a:r>
            <a:r>
              <a:rPr lang="en-US" sz="2200" dirty="0"/>
              <a:t>)) = </a:t>
            </a:r>
            <a:r>
              <a:rPr lang="en-US" sz="2200" i="1" dirty="0"/>
              <a:t>M</a:t>
            </a:r>
            <a:r>
              <a:rPr lang="en-US" sz="2200" dirty="0"/>
              <a:t> for all </a:t>
            </a:r>
            <a:r>
              <a:rPr lang="en-US" sz="2200" i="1" dirty="0"/>
              <a:t>K</a:t>
            </a:r>
            <a:r>
              <a:rPr lang="en-US" sz="2200" dirty="0"/>
              <a:t> ← </a:t>
            </a:r>
            <a:r>
              <a:rPr lang="en-US" sz="2200" dirty="0" err="1"/>
              <a:t>KeyGen</a:t>
            </a:r>
            <a:r>
              <a:rPr lang="en-US" sz="2200" dirty="0"/>
              <a:t>() and all </a:t>
            </a:r>
            <a:r>
              <a:rPr lang="en-US" sz="2200" i="1" dirty="0"/>
              <a:t>M</a:t>
            </a:r>
          </a:p>
          <a:p>
            <a:pPr marL="914400" lvl="1" indent="-342900">
              <a:spcBef>
                <a:spcPts val="0"/>
              </a:spcBef>
              <a:spcAft>
                <a:spcPts val="600"/>
              </a:spcAft>
              <a:buSzPts val="1800"/>
              <a:buFont typeface="Arial" panose="020B0604020202020204" pitchFamily="34" charset="0"/>
              <a:buChar char="●"/>
            </a:pPr>
            <a:r>
              <a:rPr lang="en-US" sz="2200" b="1" dirty="0"/>
              <a:t>Efficiency: </a:t>
            </a:r>
            <a:r>
              <a:rPr lang="en-US" sz="2200" dirty="0"/>
              <a:t>Encryption/decryption algorithms should be fast: &gt;1 Gbps on a standard computer</a:t>
            </a:r>
          </a:p>
          <a:p>
            <a:pPr marL="914400" lvl="1" indent="-342900">
              <a:spcBef>
                <a:spcPts val="0"/>
              </a:spcBef>
              <a:spcAft>
                <a:spcPts val="600"/>
              </a:spcAft>
              <a:buSzPts val="1800"/>
              <a:buFont typeface="Arial" panose="020B0604020202020204" pitchFamily="34" charset="0"/>
              <a:buChar char="●"/>
            </a:pPr>
            <a:r>
              <a:rPr lang="en-US" sz="2200" b="1" dirty="0"/>
              <a:t>Security: </a:t>
            </a:r>
            <a:r>
              <a:rPr lang="en-US" sz="2200" b="1" i="1" dirty="0">
                <a:solidFill>
                  <a:srgbClr val="C00000"/>
                </a:solidFill>
              </a:rPr>
              <a:t>Confidentiality</a:t>
            </a:r>
            <a:r>
              <a:rPr lang="en-US" sz="2200" dirty="0"/>
              <a:t> of M from attackers who don't know K</a:t>
            </a:r>
          </a:p>
        </p:txBody>
      </p:sp>
    </p:spTree>
    <p:extLst>
      <p:ext uri="{BB962C8B-B14F-4D97-AF65-F5344CB8AC3E}">
        <p14:creationId xmlns:p14="http://schemas.microsoft.com/office/powerpoint/2010/main" val="4141691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7C3BA0F-94A3-0937-D8B8-82FF4432E610}"/>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a:t>
            </a:r>
          </a:p>
        </p:txBody>
      </p:sp>
      <p:sp>
        <p:nvSpPr>
          <p:cNvPr id="3" name="TextBox 2">
            <a:extLst>
              <a:ext uri="{FF2B5EF4-FFF2-40B4-BE49-F238E27FC236}">
                <a16:creationId xmlns:a16="http://schemas.microsoft.com/office/drawing/2014/main" id="{A248866B-585C-73DD-83C5-E8FA7B4D942C}"/>
              </a:ext>
            </a:extLst>
          </p:cNvPr>
          <p:cNvSpPr txBox="1"/>
          <p:nvPr/>
        </p:nvSpPr>
        <p:spPr>
          <a:xfrm>
            <a:off x="838197" y="1086093"/>
            <a:ext cx="10515599" cy="1554272"/>
          </a:xfrm>
          <a:prstGeom prst="rect">
            <a:avLst/>
          </a:prstGeom>
          <a:noFill/>
        </p:spPr>
        <p:txBody>
          <a:bodyPr wrap="square" rtlCol="0">
            <a:spAutoFit/>
          </a:bodyPr>
          <a:lstStyle/>
          <a:p>
            <a:pPr>
              <a:spcAft>
                <a:spcPts val="600"/>
              </a:spcAft>
            </a:pPr>
            <a:r>
              <a:rPr lang="en-US" sz="2000" dirty="0"/>
              <a:t>Recall our definition of confidentiality from earlier: “An adversary cannot read our messages”</a:t>
            </a:r>
          </a:p>
          <a:p>
            <a:pPr>
              <a:spcAft>
                <a:spcPts val="600"/>
              </a:spcAft>
            </a:pPr>
            <a:r>
              <a:rPr lang="en-US" sz="2000" dirty="0"/>
              <a:t>This definition isn’t very specific:</a:t>
            </a:r>
          </a:p>
          <a:p>
            <a:pPr marL="342900" indent="-342900">
              <a:spcAft>
                <a:spcPts val="600"/>
              </a:spcAft>
              <a:buFont typeface="Arial" panose="020B0604020202020204" pitchFamily="34" charset="0"/>
              <a:buChar char="•"/>
            </a:pPr>
            <a:r>
              <a:rPr lang="en-US" sz="2000" dirty="0"/>
              <a:t>What if Eve can read the first half of Alice’s message, but not the second half?</a:t>
            </a:r>
          </a:p>
          <a:p>
            <a:pPr marL="342900" indent="-342900">
              <a:spcAft>
                <a:spcPts val="600"/>
              </a:spcAft>
              <a:buFont typeface="Arial" panose="020B0604020202020204" pitchFamily="34" charset="0"/>
              <a:buChar char="•"/>
            </a:pPr>
            <a:r>
              <a:rPr lang="en-US" sz="2000" dirty="0"/>
              <a:t>What if Eve figures out that Alice’s message starts with “Dear Bob”?</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9507A4C-7771-C262-12F3-CAE6261154FE}"/>
                  </a:ext>
                </a:extLst>
              </p:cNvPr>
              <p:cNvSpPr txBox="1"/>
              <p:nvPr/>
            </p:nvSpPr>
            <p:spPr>
              <a:xfrm>
                <a:off x="838197" y="2784073"/>
                <a:ext cx="10515599" cy="3985706"/>
              </a:xfrm>
              <a:prstGeom prst="rect">
                <a:avLst/>
              </a:prstGeom>
              <a:noFill/>
            </p:spPr>
            <p:txBody>
              <a:bodyPr wrap="square" rtlCol="0">
                <a:spAutoFit/>
              </a:bodyPr>
              <a:lstStyle/>
              <a:p>
                <a:pPr>
                  <a:spcAft>
                    <a:spcPts val="600"/>
                  </a:spcAft>
                </a:pPr>
                <a:r>
                  <a:rPr lang="en-US" sz="2000" dirty="0"/>
                  <a:t>A better definition of confidentiality: The ciphertext should not give the attacker any additional information about the plaintext, beyond what the attacker already knew.</a:t>
                </a:r>
              </a:p>
              <a:p>
                <a:pPr>
                  <a:spcAft>
                    <a:spcPts val="600"/>
                  </a:spcAft>
                </a:pPr>
                <a:endParaRPr lang="en-US" sz="400" dirty="0"/>
              </a:p>
              <a:p>
                <a:pPr>
                  <a:spcAft>
                    <a:spcPts val="600"/>
                  </a:spcAft>
                </a:pPr>
                <a:r>
                  <a:rPr lang="en-US" sz="2000" dirty="0"/>
                  <a:t>We make this precise with an experiment/security game (aka, indistinguishability game):</a:t>
                </a:r>
              </a:p>
              <a:p>
                <a:pPr marL="457200" indent="-457200">
                  <a:spcAft>
                    <a:spcPts val="600"/>
                  </a:spcAft>
                  <a:buFont typeface="+mj-lt"/>
                  <a:buAutoNum type="arabicPeriod"/>
                </a:pPr>
                <a:r>
                  <a:rPr lang="en-US" sz="2000" b="1" dirty="0">
                    <a:solidFill>
                      <a:srgbClr val="C00000"/>
                    </a:solidFill>
                  </a:rPr>
                  <a:t>Eve chooses </a:t>
                </a:r>
                <a:r>
                  <a:rPr lang="en-US" sz="2000" dirty="0"/>
                  <a:t>two messages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𝑀</m:t>
                        </m:r>
                      </m:e>
                      <m:sub>
                        <m:r>
                          <a:rPr lang="en-US" sz="2000" b="0" i="1" dirty="0" smtClean="0">
                            <a:latin typeface="Cambria Math" panose="02040503050406030204" pitchFamily="18" charset="0"/>
                          </a:rPr>
                          <m:t>0</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of the same length</a:t>
                </a:r>
              </a:p>
              <a:p>
                <a:pPr marL="457200" indent="-457200">
                  <a:spcAft>
                    <a:spcPts val="600"/>
                  </a:spcAft>
                  <a:buFont typeface="+mj-lt"/>
                  <a:buAutoNum type="arabicPeriod"/>
                </a:pPr>
                <a:r>
                  <a:rPr lang="en-US" sz="2000" dirty="0"/>
                  <a:t>Alice chooses one message at random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𝑏</m:t>
                        </m:r>
                      </m:sub>
                    </m:sSub>
                  </m:oMath>
                </a14:m>
                <a:r>
                  <a:rPr lang="en-US" sz="2000" dirty="0"/>
                  <a:t>, encrypts it, and sends the ciphertext</a:t>
                </a:r>
              </a:p>
              <a:p>
                <a:pPr marL="457200" indent="-457200">
                  <a:spcAft>
                    <a:spcPts val="600"/>
                  </a:spcAft>
                  <a:buFont typeface="+mj-lt"/>
                  <a:buAutoNum type="arabicPeriod"/>
                </a:pPr>
                <a:r>
                  <a:rPr lang="en-US" sz="2000" dirty="0"/>
                  <a:t>Eve knows either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was sent, but doesn't know which</a:t>
                </a:r>
              </a:p>
              <a:p>
                <a:pPr marL="457200" indent="-457200">
                  <a:spcAft>
                    <a:spcPts val="600"/>
                  </a:spcAft>
                  <a:buFont typeface="+mj-lt"/>
                  <a:buAutoNum type="arabicPeriod"/>
                </a:pPr>
                <a:r>
                  <a:rPr lang="en-US" sz="2000" b="1" dirty="0">
                    <a:solidFill>
                      <a:srgbClr val="C00000"/>
                    </a:solidFill>
                  </a:rPr>
                  <a:t>Eve reads the ciphertext </a:t>
                </a:r>
                <a:r>
                  <a:rPr lang="en-US" sz="2000" dirty="0"/>
                  <a:t>and tries to guess which message was sent</a:t>
                </a:r>
              </a:p>
              <a:p>
                <a:pPr marL="457200" indent="-457200">
                  <a:spcAft>
                    <a:spcPts val="600"/>
                  </a:spcAft>
                  <a:buFont typeface="+mj-lt"/>
                  <a:buAutoNum type="arabicPeriod"/>
                </a:pPr>
                <a:r>
                  <a:rPr lang="en-US" sz="2000" dirty="0"/>
                  <a:t>If the probability that Eve correctly guesses which message was sent is 1/2, then the encryption scheme is confidential</a:t>
                </a:r>
              </a:p>
              <a:p>
                <a:pPr>
                  <a:spcAft>
                    <a:spcPts val="600"/>
                  </a:spcAft>
                </a:pPr>
                <a:endParaRPr lang="en-US" sz="400" dirty="0"/>
              </a:p>
              <a:p>
                <a:pPr>
                  <a:spcAft>
                    <a:spcPts val="600"/>
                  </a:spcAft>
                </a:pPr>
                <a:r>
                  <a:rPr lang="en-US" sz="2000" i="1" dirty="0">
                    <a:solidFill>
                      <a:srgbClr val="C00000"/>
                    </a:solidFill>
                  </a:rPr>
                  <a:t>Why do we define/play the game this way?</a:t>
                </a:r>
              </a:p>
            </p:txBody>
          </p:sp>
        </mc:Choice>
        <mc:Fallback xmlns="">
          <p:sp>
            <p:nvSpPr>
              <p:cNvPr id="6" name="TextBox 5">
                <a:extLst>
                  <a:ext uri="{FF2B5EF4-FFF2-40B4-BE49-F238E27FC236}">
                    <a16:creationId xmlns:a16="http://schemas.microsoft.com/office/drawing/2014/main" id="{E9507A4C-7771-C262-12F3-CAE6261154FE}"/>
                  </a:ext>
                </a:extLst>
              </p:cNvPr>
              <p:cNvSpPr txBox="1">
                <a:spLocks noRot="1" noChangeAspect="1" noMove="1" noResize="1" noEditPoints="1" noAdjustHandles="1" noChangeArrowheads="1" noChangeShapeType="1" noTextEdit="1"/>
              </p:cNvSpPr>
              <p:nvPr/>
            </p:nvSpPr>
            <p:spPr>
              <a:xfrm>
                <a:off x="838197" y="2784073"/>
                <a:ext cx="10515599" cy="3985706"/>
              </a:xfrm>
              <a:prstGeom prst="rect">
                <a:avLst/>
              </a:prstGeom>
              <a:blipFill>
                <a:blip r:embed="rId3"/>
                <a:stretch>
                  <a:fillRect l="-580" t="-917" b="-1835"/>
                </a:stretch>
              </a:blipFill>
            </p:spPr>
            <p:txBody>
              <a:bodyPr/>
              <a:lstStyle/>
              <a:p>
                <a:r>
                  <a:rPr lang="en-US">
                    <a:noFill/>
                  </a:rPr>
                  <a:t> </a:t>
                </a:r>
              </a:p>
            </p:txBody>
          </p:sp>
        </mc:Fallback>
      </mc:AlternateContent>
    </p:spTree>
    <p:extLst>
      <p:ext uri="{BB962C8B-B14F-4D97-AF65-F5344CB8AC3E}">
        <p14:creationId xmlns:p14="http://schemas.microsoft.com/office/powerpoint/2010/main" val="2457600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9806-961E-4AB7-E049-D2F3E7DA257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8AD0FA03-8643-8EFB-B9DB-2F0F624F9BDD}"/>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a:t>
            </a:r>
          </a:p>
        </p:txBody>
      </p:sp>
      <p:sp>
        <p:nvSpPr>
          <p:cNvPr id="6" name="TextBox 5">
            <a:extLst>
              <a:ext uri="{FF2B5EF4-FFF2-40B4-BE49-F238E27FC236}">
                <a16:creationId xmlns:a16="http://schemas.microsoft.com/office/drawing/2014/main" id="{F260B54E-6D85-D0F7-F8BA-3E0424E941D3}"/>
              </a:ext>
            </a:extLst>
          </p:cNvPr>
          <p:cNvSpPr txBox="1"/>
          <p:nvPr/>
        </p:nvSpPr>
        <p:spPr>
          <a:xfrm>
            <a:off x="601292" y="1078269"/>
            <a:ext cx="10989414" cy="3031599"/>
          </a:xfrm>
          <a:prstGeom prst="rect">
            <a:avLst/>
          </a:prstGeom>
          <a:noFill/>
        </p:spPr>
        <p:txBody>
          <a:bodyPr wrap="square" rtlCol="0">
            <a:spAutoFit/>
          </a:bodyPr>
          <a:lstStyle/>
          <a:p>
            <a:pPr>
              <a:spcAft>
                <a:spcPts val="600"/>
              </a:spcAft>
            </a:pPr>
            <a:r>
              <a:rPr lang="en-US" sz="2000" dirty="0"/>
              <a:t>A better definition of confidentiality  (Semantic Security): The </a:t>
            </a:r>
            <a:r>
              <a:rPr lang="en-US" sz="2000" b="1" dirty="0">
                <a:solidFill>
                  <a:srgbClr val="C00000"/>
                </a:solidFill>
              </a:rPr>
              <a:t>ciphertext should not give the attacker any additional information about the plaintext</a:t>
            </a:r>
            <a:r>
              <a:rPr lang="en-US" sz="2000" dirty="0"/>
              <a:t>, beyond what the attacker already knew.</a:t>
            </a:r>
          </a:p>
          <a:p>
            <a:pPr>
              <a:spcAft>
                <a:spcPts val="600"/>
              </a:spcAft>
            </a:pPr>
            <a:endParaRPr lang="en-US" sz="600" dirty="0"/>
          </a:p>
          <a:p>
            <a:pPr>
              <a:spcAft>
                <a:spcPts val="600"/>
              </a:spcAft>
            </a:pPr>
            <a:r>
              <a:rPr lang="en-US" sz="2000" dirty="0"/>
              <a:t>Intuition</a:t>
            </a:r>
          </a:p>
          <a:p>
            <a:pPr marL="285750" indent="-285750">
              <a:spcAft>
                <a:spcPts val="600"/>
              </a:spcAft>
              <a:buFont typeface="Arial" panose="020B0604020202020204" pitchFamily="34" charset="0"/>
              <a:buChar char="•"/>
            </a:pPr>
            <a:r>
              <a:rPr lang="en-US" sz="2000" dirty="0"/>
              <a:t>If the scheme is confidential, Eve can only guess with probability 1/2, which is no different than if Alice hadn’t sent the ciphertext at all</a:t>
            </a:r>
          </a:p>
          <a:p>
            <a:pPr marL="285750" indent="-285750">
              <a:spcAft>
                <a:spcPts val="600"/>
              </a:spcAft>
              <a:buFont typeface="Arial" panose="020B0604020202020204" pitchFamily="34" charset="0"/>
              <a:buChar char="•"/>
            </a:pPr>
            <a:r>
              <a:rPr lang="en-US" sz="2000" dirty="0"/>
              <a:t>The ciphertext gave Eve no additional information about which plaintext was sent!</a:t>
            </a:r>
          </a:p>
          <a:p>
            <a:pPr marL="285750" indent="-285750">
              <a:spcAft>
                <a:spcPts val="600"/>
              </a:spcAft>
              <a:buFont typeface="Arial" panose="020B0604020202020204" pitchFamily="34" charset="0"/>
              <a:buChar char="•"/>
            </a:pPr>
            <a:r>
              <a:rPr lang="en-US" sz="2000" dirty="0"/>
              <a:t>In other words:  The ciphertext is indistinguishable: an adversary cannot tell which of two messages was encrypted, even when they get to choose what those two messages are.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25D23BD-455C-F712-E087-FD6D1690D493}"/>
                  </a:ext>
                </a:extLst>
              </p:cNvPr>
              <p:cNvSpPr txBox="1"/>
              <p:nvPr/>
            </p:nvSpPr>
            <p:spPr>
              <a:xfrm>
                <a:off x="838199" y="4247252"/>
                <a:ext cx="10515599" cy="2416046"/>
              </a:xfrm>
              <a:prstGeom prst="rect">
                <a:avLst/>
              </a:prstGeom>
              <a:noFill/>
            </p:spPr>
            <p:txBody>
              <a:bodyPr wrap="square">
                <a:spAutoFit/>
              </a:bodyPr>
              <a:lstStyle/>
              <a:p>
                <a:pPr>
                  <a:spcAft>
                    <a:spcPts val="600"/>
                  </a:spcAft>
                </a:pPr>
                <a:r>
                  <a:rPr lang="en-US" sz="1800" dirty="0"/>
                  <a:t>We make this precise with an experiment/security game (aka, indistinguishability game):</a:t>
                </a:r>
              </a:p>
              <a:p>
                <a:pPr marL="457200" indent="-457200">
                  <a:spcAft>
                    <a:spcPts val="600"/>
                  </a:spcAft>
                  <a:buFont typeface="+mj-lt"/>
                  <a:buAutoNum type="arabicPeriod"/>
                </a:pPr>
                <a:r>
                  <a:rPr lang="en-US" sz="1800" b="1" dirty="0">
                    <a:solidFill>
                      <a:srgbClr val="C00000"/>
                    </a:solidFill>
                  </a:rPr>
                  <a:t>Eve chooses </a:t>
                </a:r>
                <a:r>
                  <a:rPr lang="en-US" sz="1800" dirty="0"/>
                  <a:t>two messages </a:t>
                </a:r>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𝑀</m:t>
                        </m:r>
                      </m:e>
                      <m:sub>
                        <m:r>
                          <a:rPr lang="en-US" sz="1800" b="0" i="1" dirty="0" smtClean="0">
                            <a:latin typeface="Cambria Math" panose="02040503050406030204" pitchFamily="18" charset="0"/>
                          </a:rPr>
                          <m:t>0</m:t>
                        </m:r>
                      </m:sub>
                    </m:sSub>
                  </m:oMath>
                </a14:m>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𝑀</m:t>
                        </m:r>
                      </m:e>
                      <m:sub>
                        <m:r>
                          <a:rPr lang="en-US" sz="1800" b="0" i="1" dirty="0" smtClean="0">
                            <a:latin typeface="Cambria Math" panose="02040503050406030204" pitchFamily="18" charset="0"/>
                          </a:rPr>
                          <m:t>1</m:t>
                        </m:r>
                      </m:sub>
                    </m:sSub>
                  </m:oMath>
                </a14:m>
                <a:r>
                  <a:rPr lang="en-US" sz="1800" dirty="0"/>
                  <a:t> of the same length</a:t>
                </a:r>
              </a:p>
              <a:p>
                <a:pPr marL="457200" indent="-457200">
                  <a:spcAft>
                    <a:spcPts val="600"/>
                  </a:spcAft>
                  <a:buFont typeface="+mj-lt"/>
                  <a:buAutoNum type="arabicPeriod"/>
                </a:pPr>
                <a:r>
                  <a:rPr lang="en-US" sz="1800" dirty="0"/>
                  <a:t>Alice chooses one message at random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𝑀</m:t>
                        </m:r>
                      </m:e>
                      <m:sub>
                        <m:r>
                          <a:rPr lang="en-US" sz="1800" b="0" i="1" dirty="0" smtClean="0">
                            <a:latin typeface="Cambria Math" panose="02040503050406030204" pitchFamily="18" charset="0"/>
                          </a:rPr>
                          <m:t>𝑏</m:t>
                        </m:r>
                      </m:sub>
                    </m:sSub>
                  </m:oMath>
                </a14:m>
                <a:r>
                  <a:rPr lang="en-US" sz="1800" dirty="0"/>
                  <a:t>, encrypts it, and sends the ciphertext</a:t>
                </a:r>
              </a:p>
              <a:p>
                <a:pPr marL="457200" indent="-457200">
                  <a:spcAft>
                    <a:spcPts val="600"/>
                  </a:spcAft>
                  <a:buFont typeface="+mj-lt"/>
                  <a:buAutoNum type="arabicPeriod"/>
                </a:pPr>
                <a:r>
                  <a:rPr lang="en-US" sz="1800" dirty="0"/>
                  <a:t>Eve knows either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𝑀</m:t>
                        </m:r>
                      </m:e>
                      <m:sub>
                        <m:r>
                          <a:rPr lang="en-US" sz="1800" i="1" dirty="0">
                            <a:latin typeface="Cambria Math" panose="02040503050406030204" pitchFamily="18" charset="0"/>
                          </a:rPr>
                          <m:t>0</m:t>
                        </m:r>
                      </m:sub>
                    </m:sSub>
                  </m:oMath>
                </a14:m>
                <a:r>
                  <a:rPr lang="en-US" sz="1800" dirty="0"/>
                  <a:t> or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𝑀</m:t>
                        </m:r>
                      </m:e>
                      <m:sub>
                        <m:r>
                          <a:rPr lang="en-US" sz="1800" b="0" i="1" dirty="0" smtClean="0">
                            <a:latin typeface="Cambria Math" panose="02040503050406030204" pitchFamily="18" charset="0"/>
                          </a:rPr>
                          <m:t>1</m:t>
                        </m:r>
                      </m:sub>
                    </m:sSub>
                  </m:oMath>
                </a14:m>
                <a:r>
                  <a:rPr lang="en-US" sz="1800" dirty="0"/>
                  <a:t> was sent, but doesn't know which</a:t>
                </a:r>
              </a:p>
              <a:p>
                <a:pPr marL="457200" indent="-457200">
                  <a:spcAft>
                    <a:spcPts val="600"/>
                  </a:spcAft>
                  <a:buFont typeface="+mj-lt"/>
                  <a:buAutoNum type="arabicPeriod"/>
                </a:pPr>
                <a:r>
                  <a:rPr lang="en-US" sz="1800" b="1" dirty="0">
                    <a:solidFill>
                      <a:srgbClr val="C00000"/>
                    </a:solidFill>
                  </a:rPr>
                  <a:t>Eve reads the ciphertext </a:t>
                </a:r>
                <a:r>
                  <a:rPr lang="en-US" sz="1800" dirty="0"/>
                  <a:t>and tries to guess which message was sent</a:t>
                </a:r>
              </a:p>
              <a:p>
                <a:pPr marL="457200" indent="-457200">
                  <a:spcAft>
                    <a:spcPts val="600"/>
                  </a:spcAft>
                  <a:buFont typeface="+mj-lt"/>
                  <a:buAutoNum type="arabicPeriod"/>
                </a:pPr>
                <a:r>
                  <a:rPr lang="en-US" sz="1800" dirty="0"/>
                  <a:t>If the probability that Eve correctly guesses which message was sent is 1/2, then the encryption scheme is confidential</a:t>
                </a:r>
              </a:p>
            </p:txBody>
          </p:sp>
        </mc:Choice>
        <mc:Fallback xmlns="">
          <p:sp>
            <p:nvSpPr>
              <p:cNvPr id="5" name="TextBox 4">
                <a:extLst>
                  <a:ext uri="{FF2B5EF4-FFF2-40B4-BE49-F238E27FC236}">
                    <a16:creationId xmlns:a16="http://schemas.microsoft.com/office/drawing/2014/main" id="{B25D23BD-455C-F712-E087-FD6D1690D493}"/>
                  </a:ext>
                </a:extLst>
              </p:cNvPr>
              <p:cNvSpPr txBox="1">
                <a:spLocks noRot="1" noChangeAspect="1" noMove="1" noResize="1" noEditPoints="1" noAdjustHandles="1" noChangeArrowheads="1" noChangeShapeType="1" noTextEdit="1"/>
              </p:cNvSpPr>
              <p:nvPr/>
            </p:nvSpPr>
            <p:spPr>
              <a:xfrm>
                <a:off x="838199" y="4247252"/>
                <a:ext cx="10515599" cy="2416046"/>
              </a:xfrm>
              <a:prstGeom prst="rect">
                <a:avLst/>
              </a:prstGeom>
              <a:blipFill>
                <a:blip r:embed="rId3"/>
                <a:stretch>
                  <a:fillRect l="-464" t="-1263" b="-3283"/>
                </a:stretch>
              </a:blipFill>
            </p:spPr>
            <p:txBody>
              <a:bodyPr/>
              <a:lstStyle/>
              <a:p>
                <a:r>
                  <a:rPr lang="en-US">
                    <a:noFill/>
                  </a:rPr>
                  <a:t> </a:t>
                </a:r>
              </a:p>
            </p:txBody>
          </p:sp>
        </mc:Fallback>
      </mc:AlternateContent>
    </p:spTree>
    <p:extLst>
      <p:ext uri="{BB962C8B-B14F-4D97-AF65-F5344CB8AC3E}">
        <p14:creationId xmlns:p14="http://schemas.microsoft.com/office/powerpoint/2010/main" val="3874013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53373-554B-7139-1D60-8781545E2AE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9B8FF45-2891-A83B-907C-F88D697040C0}"/>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p:sp>
        <p:nvSpPr>
          <p:cNvPr id="6" name="TextBox 5">
            <a:extLst>
              <a:ext uri="{FF2B5EF4-FFF2-40B4-BE49-F238E27FC236}">
                <a16:creationId xmlns:a16="http://schemas.microsoft.com/office/drawing/2014/main" id="{4883D5A5-6D02-BB8E-D9D1-651FF0979FFB}"/>
              </a:ext>
            </a:extLst>
          </p:cNvPr>
          <p:cNvSpPr txBox="1"/>
          <p:nvPr/>
        </p:nvSpPr>
        <p:spPr>
          <a:xfrm>
            <a:off x="838200" y="1094155"/>
            <a:ext cx="10515599" cy="5555367"/>
          </a:xfrm>
          <a:prstGeom prst="rect">
            <a:avLst/>
          </a:prstGeom>
          <a:noFill/>
        </p:spPr>
        <p:txBody>
          <a:bodyPr wrap="square" rtlCol="0">
            <a:spAutoFit/>
          </a:bodyPr>
          <a:lstStyle/>
          <a:p>
            <a:pPr>
              <a:spcAft>
                <a:spcPts val="600"/>
              </a:spcAft>
            </a:pPr>
            <a:r>
              <a:rPr lang="en-US" sz="2000" dirty="0"/>
              <a:t>Let's think about confidentiality from another perspective:</a:t>
            </a:r>
          </a:p>
          <a:p>
            <a:pPr marL="342900" indent="-342900">
              <a:spcAft>
                <a:spcPts val="600"/>
              </a:spcAft>
              <a:buFont typeface="Arial" panose="020B0604020202020204" pitchFamily="34" charset="0"/>
              <a:buChar char="•"/>
            </a:pPr>
            <a:r>
              <a:rPr lang="en-US" sz="2000" dirty="0"/>
              <a:t>Recall our threat model: Eve can also perform a chosen plaintext attack</a:t>
            </a:r>
          </a:p>
          <a:p>
            <a:pPr marL="800100" lvl="1" indent="-342900">
              <a:spcAft>
                <a:spcPts val="600"/>
              </a:spcAft>
              <a:buFont typeface="Arial" panose="020B0604020202020204" pitchFamily="34" charset="0"/>
              <a:buChar char="•"/>
            </a:pPr>
            <a:r>
              <a:rPr lang="en-US" sz="2000" dirty="0"/>
              <a:t>Eve can trick Alice into encrypting arbitrary messages of Eve's choice</a:t>
            </a:r>
          </a:p>
          <a:p>
            <a:pPr marL="342900" indent="-342900">
              <a:spcAft>
                <a:spcPts val="600"/>
              </a:spcAft>
              <a:buFont typeface="Arial" panose="020B0604020202020204" pitchFamily="34" charset="0"/>
              <a:buChar char="•"/>
            </a:pPr>
            <a:r>
              <a:rPr lang="en-US" sz="2000" dirty="0"/>
              <a:t>We can adapt our experiment to account for this threat model</a:t>
            </a:r>
          </a:p>
          <a:p>
            <a:pPr>
              <a:spcAft>
                <a:spcPts val="600"/>
              </a:spcAft>
            </a:pPr>
            <a:endParaRPr lang="en-US" sz="2000" dirty="0"/>
          </a:p>
          <a:p>
            <a:pPr>
              <a:spcAft>
                <a:spcPts val="600"/>
              </a:spcAft>
            </a:pPr>
            <a:r>
              <a:rPr lang="en-US" sz="2000" dirty="0"/>
              <a:t>A specific (formal and more accurate) definition of confidentiality: Even if Eve is able to trick Alice into encrypting other messages, Eve can still only guess what message Alice sent with probability ½</a:t>
            </a:r>
          </a:p>
          <a:p>
            <a:pPr>
              <a:spcAft>
                <a:spcPts val="600"/>
              </a:spcAft>
            </a:pPr>
            <a:endParaRPr lang="en-US" sz="2000" dirty="0"/>
          </a:p>
          <a:p>
            <a:pPr>
              <a:spcAft>
                <a:spcPts val="600"/>
              </a:spcAft>
            </a:pPr>
            <a:r>
              <a:rPr lang="en-US" sz="2000" dirty="0"/>
              <a:t>This definition is called </a:t>
            </a:r>
            <a:r>
              <a:rPr lang="en-US" sz="2000" b="1" dirty="0">
                <a:solidFill>
                  <a:srgbClr val="C00000"/>
                </a:solidFill>
              </a:rPr>
              <a:t>IND-CPA</a:t>
            </a:r>
            <a:r>
              <a:rPr lang="en-US" sz="2000" dirty="0"/>
              <a:t> (indistinguishability under chosen plaintext attack):</a:t>
            </a:r>
          </a:p>
          <a:p>
            <a:pPr marL="342900" indent="-342900">
              <a:spcAft>
                <a:spcPts val="600"/>
              </a:spcAft>
              <a:buFont typeface="Arial" panose="020B0604020202020204" pitchFamily="34" charset="0"/>
              <a:buChar char="•"/>
            </a:pPr>
            <a:r>
              <a:rPr lang="en-US" sz="2000" dirty="0"/>
              <a:t>Proven to be equivalent to semantic security</a:t>
            </a:r>
          </a:p>
          <a:p>
            <a:pPr marL="342900" indent="-342900">
              <a:spcAft>
                <a:spcPts val="600"/>
              </a:spcAft>
              <a:buFont typeface="Arial" panose="020B0604020202020204" pitchFamily="34" charset="0"/>
              <a:buChar char="•"/>
            </a:pPr>
            <a:r>
              <a:rPr lang="en-US" sz="2000" dirty="0"/>
              <a:t>More commonly used in modern cryptography courses and research: easy to use in proofs; easy to extend to </a:t>
            </a:r>
            <a:r>
              <a:rPr lang="en-US" sz="2000" dirty="0">
                <a:hlinkClick r:id="rId3"/>
              </a:rPr>
              <a:t>IND-CCA, IND-CCA2, </a:t>
            </a:r>
            <a:r>
              <a:rPr lang="en-US" sz="2000" dirty="0"/>
              <a:t>etc.</a:t>
            </a:r>
          </a:p>
          <a:p>
            <a:pPr>
              <a:spcAft>
                <a:spcPts val="600"/>
              </a:spcAft>
            </a:pPr>
            <a:endParaRPr lang="en-US" sz="2000" i="1" dirty="0"/>
          </a:p>
          <a:p>
            <a:pPr>
              <a:spcAft>
                <a:spcPts val="600"/>
              </a:spcAft>
            </a:pPr>
            <a:r>
              <a:rPr lang="en-US" sz="2000" i="1" dirty="0"/>
              <a:t>Let’s improve our security game!</a:t>
            </a:r>
          </a:p>
        </p:txBody>
      </p:sp>
    </p:spTree>
    <p:extLst>
      <p:ext uri="{BB962C8B-B14F-4D97-AF65-F5344CB8AC3E}">
        <p14:creationId xmlns:p14="http://schemas.microsoft.com/office/powerpoint/2010/main" val="2380577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7380EC2-503B-DB06-D3F4-72EE9A0736CC}"/>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p:sp>
        <p:nvSpPr>
          <p:cNvPr id="3" name="Google Shape;410;p45">
            <a:extLst>
              <a:ext uri="{FF2B5EF4-FFF2-40B4-BE49-F238E27FC236}">
                <a16:creationId xmlns:a16="http://schemas.microsoft.com/office/drawing/2014/main" id="{34CDA2AE-AFD5-64EA-FB1E-63C3892A6DE8}"/>
              </a:ext>
            </a:extLst>
          </p:cNvPr>
          <p:cNvSpPr txBox="1">
            <a:spLocks/>
          </p:cNvSpPr>
          <p:nvPr/>
        </p:nvSpPr>
        <p:spPr>
          <a:xfrm>
            <a:off x="838200" y="1260575"/>
            <a:ext cx="5142600" cy="37656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spcBef>
                <a:spcPts val="0"/>
              </a:spcBef>
              <a:spcAft>
                <a:spcPts val="600"/>
              </a:spcAft>
              <a:buSzPts val="1800"/>
              <a:buFont typeface="+mj-lt"/>
              <a:buAutoNum type="arabicPeriod"/>
            </a:pPr>
            <a:r>
              <a:rPr lang="en-US" sz="2000" dirty="0"/>
              <a:t>Eve may choose plaintexts to send to Alice and receives their ciphertexts</a:t>
            </a:r>
          </a:p>
        </p:txBody>
      </p:sp>
      <p:grpSp>
        <p:nvGrpSpPr>
          <p:cNvPr id="15" name="Group 14">
            <a:extLst>
              <a:ext uri="{FF2B5EF4-FFF2-40B4-BE49-F238E27FC236}">
                <a16:creationId xmlns:a16="http://schemas.microsoft.com/office/drawing/2014/main" id="{AB025A39-0E57-3294-F867-2D36C7CF8831}"/>
              </a:ext>
            </a:extLst>
          </p:cNvPr>
          <p:cNvGrpSpPr/>
          <p:nvPr/>
        </p:nvGrpSpPr>
        <p:grpSpPr>
          <a:xfrm>
            <a:off x="7932911" y="1260575"/>
            <a:ext cx="3420889" cy="3821700"/>
            <a:chOff x="7942949" y="1596313"/>
            <a:chExt cx="3420889" cy="3821700"/>
          </a:xfrm>
        </p:grpSpPr>
        <p:sp>
          <p:nvSpPr>
            <p:cNvPr id="4" name="Google Shape;411;p45">
              <a:extLst>
                <a:ext uri="{FF2B5EF4-FFF2-40B4-BE49-F238E27FC236}">
                  <a16:creationId xmlns:a16="http://schemas.microsoft.com/office/drawing/2014/main" id="{06B443F3-90C5-49DD-E3CE-8CBFE0F971F8}"/>
                </a:ext>
              </a:extLst>
            </p:cNvPr>
            <p:cNvSpPr/>
            <p:nvPr/>
          </p:nvSpPr>
          <p:spPr>
            <a:xfrm>
              <a:off x="8142300" y="2121290"/>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412;p45">
              <a:extLst>
                <a:ext uri="{FF2B5EF4-FFF2-40B4-BE49-F238E27FC236}">
                  <a16:creationId xmlns:a16="http://schemas.microsoft.com/office/drawing/2014/main" id="{4382200F-E749-2A2B-4118-CA7A7D78660F}"/>
                </a:ext>
              </a:extLst>
            </p:cNvPr>
            <p:cNvCxnSpPr/>
            <p:nvPr/>
          </p:nvCxnSpPr>
          <p:spPr>
            <a:xfrm>
              <a:off x="8195120" y="2402662"/>
              <a:ext cx="2322300" cy="0"/>
            </a:xfrm>
            <a:prstGeom prst="straightConnector1">
              <a:avLst/>
            </a:prstGeom>
            <a:noFill/>
            <a:ln w="28575" cap="flat" cmpd="sng">
              <a:solidFill>
                <a:schemeClr val="dk1"/>
              </a:solidFill>
              <a:prstDash val="solid"/>
              <a:round/>
              <a:headEnd type="none" w="med" len="med"/>
              <a:tailEnd type="triangle" w="med" len="med"/>
            </a:ln>
          </p:spPr>
        </p:cxnSp>
        <p:sp>
          <p:nvSpPr>
            <p:cNvPr id="6" name="Google Shape;413;p45">
              <a:extLst>
                <a:ext uri="{FF2B5EF4-FFF2-40B4-BE49-F238E27FC236}">
                  <a16:creationId xmlns:a16="http://schemas.microsoft.com/office/drawing/2014/main" id="{43CC74B4-FF72-F4A1-7CC6-1C396AA1F40D}"/>
                </a:ext>
              </a:extLst>
            </p:cNvPr>
            <p:cNvSpPr txBox="1"/>
            <p:nvPr/>
          </p:nvSpPr>
          <p:spPr>
            <a:xfrm>
              <a:off x="8195125" y="2109146"/>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7" name="Google Shape;414;p45">
              <a:extLst>
                <a:ext uri="{FF2B5EF4-FFF2-40B4-BE49-F238E27FC236}">
                  <a16:creationId xmlns:a16="http://schemas.microsoft.com/office/drawing/2014/main" id="{29A5B9FE-DD9B-7002-4CC3-8F9349F4C2FB}"/>
                </a:ext>
              </a:extLst>
            </p:cNvPr>
            <p:cNvCxnSpPr/>
            <p:nvPr/>
          </p:nvCxnSpPr>
          <p:spPr>
            <a:xfrm>
              <a:off x="8195112" y="2858070"/>
              <a:ext cx="2322300" cy="0"/>
            </a:xfrm>
            <a:prstGeom prst="straightConnector1">
              <a:avLst/>
            </a:prstGeom>
            <a:noFill/>
            <a:ln w="28575" cap="flat" cmpd="sng">
              <a:solidFill>
                <a:schemeClr val="dk1"/>
              </a:solidFill>
              <a:prstDash val="solid"/>
              <a:round/>
              <a:headEnd type="triangle" w="med" len="med"/>
              <a:tailEnd type="none" w="med" len="med"/>
            </a:ln>
          </p:spPr>
        </p:cxnSp>
        <p:sp>
          <p:nvSpPr>
            <p:cNvPr id="8" name="Google Shape;415;p45">
              <a:extLst>
                <a:ext uri="{FF2B5EF4-FFF2-40B4-BE49-F238E27FC236}">
                  <a16:creationId xmlns:a16="http://schemas.microsoft.com/office/drawing/2014/main" id="{40DFF557-730F-CB35-A7D5-425F13AC9672}"/>
                </a:ext>
              </a:extLst>
            </p:cNvPr>
            <p:cNvSpPr txBox="1"/>
            <p:nvPr/>
          </p:nvSpPr>
          <p:spPr>
            <a:xfrm>
              <a:off x="8195117" y="2506535"/>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9" name="Google Shape;416;p45">
              <a:extLst>
                <a:ext uri="{FF2B5EF4-FFF2-40B4-BE49-F238E27FC236}">
                  <a16:creationId xmlns:a16="http://schemas.microsoft.com/office/drawing/2014/main" id="{0DA7BACC-7572-8085-483A-A91B676230E5}"/>
                </a:ext>
              </a:extLst>
            </p:cNvPr>
            <p:cNvSpPr txBox="1"/>
            <p:nvPr/>
          </p:nvSpPr>
          <p:spPr>
            <a:xfrm>
              <a:off x="10573038" y="2373463"/>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10" name="Google Shape;417;p45">
              <a:extLst>
                <a:ext uri="{FF2B5EF4-FFF2-40B4-BE49-F238E27FC236}">
                  <a16:creationId xmlns:a16="http://schemas.microsoft.com/office/drawing/2014/main" id="{7CF76AA7-52B0-59F4-7383-48EDB21EE1FB}"/>
                </a:ext>
              </a:extLst>
            </p:cNvPr>
            <p:cNvSpPr txBox="1"/>
            <p:nvPr/>
          </p:nvSpPr>
          <p:spPr>
            <a:xfrm>
              <a:off x="9444677" y="1596313"/>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11" name="Google Shape;418;p45">
              <a:extLst>
                <a:ext uri="{FF2B5EF4-FFF2-40B4-BE49-F238E27FC236}">
                  <a16:creationId xmlns:a16="http://schemas.microsoft.com/office/drawing/2014/main" id="{0E10D2A5-ABBC-0BB8-E437-C0E6BC4F35C2}"/>
                </a:ext>
              </a:extLst>
            </p:cNvPr>
            <p:cNvSpPr txBox="1"/>
            <p:nvPr/>
          </p:nvSpPr>
          <p:spPr>
            <a:xfrm>
              <a:off x="7942949" y="1596313"/>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12" name="Google Shape;419;p45">
              <a:extLst>
                <a:ext uri="{FF2B5EF4-FFF2-40B4-BE49-F238E27FC236}">
                  <a16:creationId xmlns:a16="http://schemas.microsoft.com/office/drawing/2014/main" id="{3003F99A-4E7C-DDE5-B75B-CF53E1913CDE}"/>
                </a:ext>
              </a:extLst>
            </p:cNvPr>
            <p:cNvCxnSpPr/>
            <p:nvPr/>
          </p:nvCxnSpPr>
          <p:spPr>
            <a:xfrm>
              <a:off x="8099573" y="1965613"/>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13" name="Google Shape;420;p45">
              <a:extLst>
                <a:ext uri="{FF2B5EF4-FFF2-40B4-BE49-F238E27FC236}">
                  <a16:creationId xmlns:a16="http://schemas.microsoft.com/office/drawing/2014/main" id="{A62B5790-6633-BD20-1D81-B42E86E98467}"/>
                </a:ext>
              </a:extLst>
            </p:cNvPr>
            <p:cNvCxnSpPr/>
            <p:nvPr/>
          </p:nvCxnSpPr>
          <p:spPr>
            <a:xfrm>
              <a:off x="10590323" y="1965613"/>
              <a:ext cx="0" cy="34524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021541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A20E-A9B9-07C1-EDCB-F3D117366AA7}"/>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C43C018-0FF6-3AF9-8E2A-307D2C91F8CF}"/>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mc:AlternateContent xmlns:mc="http://schemas.openxmlformats.org/markup-compatibility/2006" xmlns:a14="http://schemas.microsoft.com/office/drawing/2010/main">
        <mc:Choice Requires="a14">
          <p:sp>
            <p:nvSpPr>
              <p:cNvPr id="3" name="Google Shape;410;p45">
                <a:extLst>
                  <a:ext uri="{FF2B5EF4-FFF2-40B4-BE49-F238E27FC236}">
                    <a16:creationId xmlns:a16="http://schemas.microsoft.com/office/drawing/2014/main" id="{6B2F15FB-0C7F-75AF-7C0A-10BD41E1D6BC}"/>
                  </a:ext>
                </a:extLst>
              </p:cNvPr>
              <p:cNvSpPr txBox="1">
                <a:spLocks/>
              </p:cNvSpPr>
              <p:nvPr/>
            </p:nvSpPr>
            <p:spPr>
              <a:xfrm>
                <a:off x="838200" y="1260575"/>
                <a:ext cx="5142600" cy="37656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spcBef>
                    <a:spcPts val="0"/>
                  </a:spcBef>
                  <a:spcAft>
                    <a:spcPts val="600"/>
                  </a:spcAft>
                  <a:buSzPts val="1800"/>
                  <a:buFont typeface="+mj-lt"/>
                  <a:buAutoNum type="arabicPeriod"/>
                </a:pPr>
                <a:r>
                  <a:rPr lang="en-US" sz="2000" dirty="0"/>
                  <a:t>Eve may choose plaintexts to send to Alice and receives their ciphertexts</a:t>
                </a:r>
              </a:p>
              <a:p>
                <a:pPr marL="571500" indent="-457200">
                  <a:spcBef>
                    <a:spcPts val="0"/>
                  </a:spcBef>
                  <a:spcAft>
                    <a:spcPts val="600"/>
                  </a:spcAft>
                  <a:buSzPts val="1800"/>
                  <a:buFont typeface="+mj-lt"/>
                  <a:buAutoNum type="arabicPeriod"/>
                </a:pPr>
                <a:r>
                  <a:rPr lang="en-US" sz="2000" dirty="0"/>
                  <a:t>Eve issues a pair of plaintexts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Alice</a:t>
                </a:r>
              </a:p>
              <a:p>
                <a:pPr marL="571500" indent="-457200">
                  <a:spcBef>
                    <a:spcPts val="0"/>
                  </a:spcBef>
                  <a:spcAft>
                    <a:spcPts val="600"/>
                  </a:spcAft>
                  <a:buSzPts val="1800"/>
                  <a:buFont typeface="+mj-lt"/>
                  <a:buAutoNum type="arabicPeriod"/>
                </a:pPr>
                <a:endParaRPr lang="en-US" sz="2000" dirty="0"/>
              </a:p>
            </p:txBody>
          </p:sp>
        </mc:Choice>
        <mc:Fallback xmlns="">
          <p:sp>
            <p:nvSpPr>
              <p:cNvPr id="3" name="Google Shape;410;p45">
                <a:extLst>
                  <a:ext uri="{FF2B5EF4-FFF2-40B4-BE49-F238E27FC236}">
                    <a16:creationId xmlns:a16="http://schemas.microsoft.com/office/drawing/2014/main" id="{6B2F15FB-0C7F-75AF-7C0A-10BD41E1D6BC}"/>
                  </a:ext>
                </a:extLst>
              </p:cNvPr>
              <p:cNvSpPr txBox="1">
                <a:spLocks noRot="1" noChangeAspect="1" noMove="1" noResize="1" noEditPoints="1" noAdjustHandles="1" noChangeArrowheads="1" noChangeShapeType="1" noTextEdit="1"/>
              </p:cNvSpPr>
              <p:nvPr/>
            </p:nvSpPr>
            <p:spPr>
              <a:xfrm>
                <a:off x="838200" y="1260575"/>
                <a:ext cx="5142600" cy="3765600"/>
              </a:xfrm>
              <a:prstGeom prst="rect">
                <a:avLst/>
              </a:prstGeom>
              <a:blipFill>
                <a:blip r:embed="rId2"/>
                <a:stretch>
                  <a:fillRect t="-324"/>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B3FEADD7-C099-1CBA-17B2-AC43C1C14DCF}"/>
              </a:ext>
            </a:extLst>
          </p:cNvPr>
          <p:cNvGrpSpPr/>
          <p:nvPr/>
        </p:nvGrpSpPr>
        <p:grpSpPr>
          <a:xfrm>
            <a:off x="7932911" y="1260575"/>
            <a:ext cx="3420889" cy="3821700"/>
            <a:chOff x="5524451" y="1094425"/>
            <a:chExt cx="3420889" cy="3821700"/>
          </a:xfrm>
        </p:grpSpPr>
        <p:sp>
          <p:nvSpPr>
            <p:cNvPr id="14" name="Google Shape;428;p46">
              <a:extLst>
                <a:ext uri="{FF2B5EF4-FFF2-40B4-BE49-F238E27FC236}">
                  <a16:creationId xmlns:a16="http://schemas.microsoft.com/office/drawing/2014/main" id="{1A76CC84-6828-4599-E086-79CC785938A0}"/>
                </a:ext>
              </a:extLst>
            </p:cNvPr>
            <p:cNvSpPr/>
            <p:nvPr/>
          </p:nvSpPr>
          <p:spPr>
            <a:xfrm>
              <a:off x="5723802" y="1619402"/>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429;p46">
              <a:extLst>
                <a:ext uri="{FF2B5EF4-FFF2-40B4-BE49-F238E27FC236}">
                  <a16:creationId xmlns:a16="http://schemas.microsoft.com/office/drawing/2014/main" id="{D3CF849C-4565-6F43-E26A-F267761F2973}"/>
                </a:ext>
              </a:extLst>
            </p:cNvPr>
            <p:cNvCxnSpPr/>
            <p:nvPr/>
          </p:nvCxnSpPr>
          <p:spPr>
            <a:xfrm>
              <a:off x="5776622" y="1900774"/>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7" name="Google Shape;430;p46">
              <a:extLst>
                <a:ext uri="{FF2B5EF4-FFF2-40B4-BE49-F238E27FC236}">
                  <a16:creationId xmlns:a16="http://schemas.microsoft.com/office/drawing/2014/main" id="{2D356BC2-4B52-047C-30D0-08FC74C42413}"/>
                </a:ext>
              </a:extLst>
            </p:cNvPr>
            <p:cNvSpPr txBox="1"/>
            <p:nvPr/>
          </p:nvSpPr>
          <p:spPr>
            <a:xfrm>
              <a:off x="5776627" y="16072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18" name="Google Shape;431;p46">
              <a:extLst>
                <a:ext uri="{FF2B5EF4-FFF2-40B4-BE49-F238E27FC236}">
                  <a16:creationId xmlns:a16="http://schemas.microsoft.com/office/drawing/2014/main" id="{8E3503A8-5B6C-7FB0-F982-51E7D466D874}"/>
                </a:ext>
              </a:extLst>
            </p:cNvPr>
            <p:cNvCxnSpPr/>
            <p:nvPr/>
          </p:nvCxnSpPr>
          <p:spPr>
            <a:xfrm>
              <a:off x="5776614" y="2356182"/>
              <a:ext cx="2322300" cy="0"/>
            </a:xfrm>
            <a:prstGeom prst="straightConnector1">
              <a:avLst/>
            </a:prstGeom>
            <a:noFill/>
            <a:ln w="28575" cap="flat" cmpd="sng">
              <a:solidFill>
                <a:schemeClr val="dk1"/>
              </a:solidFill>
              <a:prstDash val="solid"/>
              <a:round/>
              <a:headEnd type="triangle" w="med" len="med"/>
              <a:tailEnd type="none" w="med" len="med"/>
            </a:ln>
          </p:spPr>
        </p:cxnSp>
        <p:sp>
          <p:nvSpPr>
            <p:cNvPr id="19" name="Google Shape;432;p46">
              <a:extLst>
                <a:ext uri="{FF2B5EF4-FFF2-40B4-BE49-F238E27FC236}">
                  <a16:creationId xmlns:a16="http://schemas.microsoft.com/office/drawing/2014/main" id="{4A6E185A-F529-90AA-2DA3-AD4D79378EDE}"/>
                </a:ext>
              </a:extLst>
            </p:cNvPr>
            <p:cNvSpPr txBox="1"/>
            <p:nvPr/>
          </p:nvSpPr>
          <p:spPr>
            <a:xfrm>
              <a:off x="5776619" y="2004647"/>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20" name="Google Shape;433;p46">
              <a:extLst>
                <a:ext uri="{FF2B5EF4-FFF2-40B4-BE49-F238E27FC236}">
                  <a16:creationId xmlns:a16="http://schemas.microsoft.com/office/drawing/2014/main" id="{104459EC-AB0E-F0BD-0B07-BF3DD22B7A42}"/>
                </a:ext>
              </a:extLst>
            </p:cNvPr>
            <p:cNvSpPr txBox="1"/>
            <p:nvPr/>
          </p:nvSpPr>
          <p:spPr>
            <a:xfrm>
              <a:off x="8154540" y="1871575"/>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21" name="Google Shape;434;p46">
              <a:extLst>
                <a:ext uri="{FF2B5EF4-FFF2-40B4-BE49-F238E27FC236}">
                  <a16:creationId xmlns:a16="http://schemas.microsoft.com/office/drawing/2014/main" id="{F3A0D0BA-D054-D5CE-BF96-B39D4BFA165D}"/>
                </a:ext>
              </a:extLst>
            </p:cNvPr>
            <p:cNvSpPr txBox="1"/>
            <p:nvPr/>
          </p:nvSpPr>
          <p:spPr>
            <a:xfrm>
              <a:off x="7026179" y="1094425"/>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22" name="Google Shape;435;p46">
              <a:extLst>
                <a:ext uri="{FF2B5EF4-FFF2-40B4-BE49-F238E27FC236}">
                  <a16:creationId xmlns:a16="http://schemas.microsoft.com/office/drawing/2014/main" id="{7DD4FBF5-EEF9-9363-0EF4-7104563AF192}"/>
                </a:ext>
              </a:extLst>
            </p:cNvPr>
            <p:cNvSpPr txBox="1"/>
            <p:nvPr/>
          </p:nvSpPr>
          <p:spPr>
            <a:xfrm>
              <a:off x="5524451" y="1094425"/>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23" name="Google Shape;436;p46">
              <a:extLst>
                <a:ext uri="{FF2B5EF4-FFF2-40B4-BE49-F238E27FC236}">
                  <a16:creationId xmlns:a16="http://schemas.microsoft.com/office/drawing/2014/main" id="{A5FFFD54-E9AC-5B7B-D305-0DD8AA863CA3}"/>
                </a:ext>
              </a:extLst>
            </p:cNvPr>
            <p:cNvCxnSpPr/>
            <p:nvPr/>
          </p:nvCxnSpPr>
          <p:spPr>
            <a:xfrm>
              <a:off x="5776613" y="2847578"/>
              <a:ext cx="2322300" cy="0"/>
            </a:xfrm>
            <a:prstGeom prst="straightConnector1">
              <a:avLst/>
            </a:prstGeom>
            <a:noFill/>
            <a:ln w="28575" cap="flat" cmpd="sng">
              <a:solidFill>
                <a:schemeClr val="dk1"/>
              </a:solidFill>
              <a:prstDash val="solid"/>
              <a:round/>
              <a:headEnd type="none" w="med" len="med"/>
              <a:tailEnd type="triangle" w="med" len="med"/>
            </a:ln>
          </p:spPr>
        </p:cxnSp>
        <p:sp>
          <p:nvSpPr>
            <p:cNvPr id="24" name="Google Shape;437;p46">
              <a:extLst>
                <a:ext uri="{FF2B5EF4-FFF2-40B4-BE49-F238E27FC236}">
                  <a16:creationId xmlns:a16="http://schemas.microsoft.com/office/drawing/2014/main" id="{49F06A93-CF9C-C945-C33D-339E1D609A19}"/>
                </a:ext>
              </a:extLst>
            </p:cNvPr>
            <p:cNvSpPr txBox="1"/>
            <p:nvPr/>
          </p:nvSpPr>
          <p:spPr>
            <a:xfrm>
              <a:off x="5776618" y="2496043"/>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r>
                <a:rPr lang="en" sz="800">
                  <a:solidFill>
                    <a:schemeClr val="dk1"/>
                  </a:solidFill>
                </a:rPr>
                <a:t>0</a:t>
              </a:r>
              <a:r>
                <a:rPr lang="en">
                  <a:solidFill>
                    <a:schemeClr val="dk1"/>
                  </a:solidFill>
                </a:rPr>
                <a:t> and </a:t>
              </a:r>
              <a:r>
                <a:rPr lang="en" i="1">
                  <a:solidFill>
                    <a:schemeClr val="dk1"/>
                  </a:solidFill>
                </a:rPr>
                <a:t>M</a:t>
              </a:r>
              <a:r>
                <a:rPr lang="en" sz="800">
                  <a:solidFill>
                    <a:schemeClr val="dk1"/>
                  </a:solidFill>
                </a:rPr>
                <a:t>1</a:t>
              </a:r>
              <a:endParaRPr sz="1000"/>
            </a:p>
          </p:txBody>
        </p:sp>
        <p:cxnSp>
          <p:nvCxnSpPr>
            <p:cNvPr id="25" name="Google Shape;438;p46">
              <a:extLst>
                <a:ext uri="{FF2B5EF4-FFF2-40B4-BE49-F238E27FC236}">
                  <a16:creationId xmlns:a16="http://schemas.microsoft.com/office/drawing/2014/main" id="{73193564-562E-6879-B09B-6916D66FE774}"/>
                </a:ext>
              </a:extLst>
            </p:cNvPr>
            <p:cNvCxnSpPr/>
            <p:nvPr/>
          </p:nvCxnSpPr>
          <p:spPr>
            <a:xfrm>
              <a:off x="5681075" y="1463725"/>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26" name="Google Shape;439;p46">
              <a:extLst>
                <a:ext uri="{FF2B5EF4-FFF2-40B4-BE49-F238E27FC236}">
                  <a16:creationId xmlns:a16="http://schemas.microsoft.com/office/drawing/2014/main" id="{9EE1060E-9BC5-6DC4-B43F-956D5448BFEC}"/>
                </a:ext>
              </a:extLst>
            </p:cNvPr>
            <p:cNvCxnSpPr/>
            <p:nvPr/>
          </p:nvCxnSpPr>
          <p:spPr>
            <a:xfrm>
              <a:off x="8171825" y="1463725"/>
              <a:ext cx="0" cy="34524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20348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9063-F518-11E1-2A02-1ADCD6E7ABB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CF99B50-3E72-E9F6-F0A1-D22834DC0463}"/>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mc:AlternateContent xmlns:mc="http://schemas.openxmlformats.org/markup-compatibility/2006" xmlns:a14="http://schemas.microsoft.com/office/drawing/2010/main">
        <mc:Choice Requires="a14">
          <p:sp>
            <p:nvSpPr>
              <p:cNvPr id="3" name="Google Shape;410;p45">
                <a:extLst>
                  <a:ext uri="{FF2B5EF4-FFF2-40B4-BE49-F238E27FC236}">
                    <a16:creationId xmlns:a16="http://schemas.microsoft.com/office/drawing/2014/main" id="{903F647C-52C6-8DB1-6CCA-E913D9A50D14}"/>
                  </a:ext>
                </a:extLst>
              </p:cNvPr>
              <p:cNvSpPr txBox="1">
                <a:spLocks/>
              </p:cNvSpPr>
              <p:nvPr/>
            </p:nvSpPr>
            <p:spPr>
              <a:xfrm>
                <a:off x="838200" y="1260575"/>
                <a:ext cx="5142600" cy="37656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spcBef>
                    <a:spcPts val="0"/>
                  </a:spcBef>
                  <a:spcAft>
                    <a:spcPts val="600"/>
                  </a:spcAft>
                  <a:buSzPts val="1800"/>
                  <a:buFont typeface="+mj-lt"/>
                  <a:buAutoNum type="arabicPeriod"/>
                </a:pPr>
                <a:r>
                  <a:rPr lang="en-US" sz="2000" dirty="0"/>
                  <a:t>Eve may choose plaintexts to send to Alice and receives their ciphertexts</a:t>
                </a:r>
              </a:p>
              <a:p>
                <a:pPr marL="571500" indent="-457200">
                  <a:spcBef>
                    <a:spcPts val="0"/>
                  </a:spcBef>
                  <a:spcAft>
                    <a:spcPts val="600"/>
                  </a:spcAft>
                  <a:buSzPts val="1800"/>
                  <a:buFont typeface="+mj-lt"/>
                  <a:buAutoNum type="arabicPeriod"/>
                </a:pPr>
                <a:r>
                  <a:rPr lang="en-US" sz="2000" dirty="0"/>
                  <a:t>Eve issues a pair of plaintexts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Alice</a:t>
                </a:r>
              </a:p>
              <a:p>
                <a:pPr marL="571500" indent="-457200">
                  <a:spcBef>
                    <a:spcPts val="0"/>
                  </a:spcBef>
                  <a:spcAft>
                    <a:spcPts val="600"/>
                  </a:spcAft>
                  <a:buSzPts val="1800"/>
                  <a:buFont typeface="+mj-lt"/>
                  <a:buAutoNum type="arabicPeriod"/>
                </a:pPr>
                <a:r>
                  <a:rPr lang="en-US" sz="2000" dirty="0"/>
                  <a:t>Alice </a:t>
                </a:r>
                <a:r>
                  <a:rPr lang="en-US" sz="2000" b="1" i="1" dirty="0">
                    <a:solidFill>
                      <a:srgbClr val="C00000"/>
                    </a:solidFill>
                  </a:rPr>
                  <a:t>randomly chooses </a:t>
                </a:r>
                <a:r>
                  <a:rPr lang="en-US" sz="2000" dirty="0"/>
                  <a:t>either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encrypt and sends the encryption back</a:t>
                </a:r>
              </a:p>
              <a:p>
                <a:pPr marL="1028700" lvl="1" indent="-457200">
                  <a:spcBef>
                    <a:spcPts val="0"/>
                  </a:spcBef>
                  <a:spcAft>
                    <a:spcPts val="600"/>
                  </a:spcAft>
                  <a:buSzPts val="1800"/>
                  <a:buFont typeface="+mj-lt"/>
                  <a:buAutoNum type="alphaLcParenR"/>
                </a:pPr>
                <a:r>
                  <a:rPr lang="en-US" sz="1600" dirty="0"/>
                  <a:t>Alice does not tell Eve which one was encrypted!</a:t>
                </a:r>
              </a:p>
              <a:p>
                <a:pPr marL="571500" indent="-457200">
                  <a:spcBef>
                    <a:spcPts val="0"/>
                  </a:spcBef>
                  <a:spcAft>
                    <a:spcPts val="600"/>
                  </a:spcAft>
                  <a:buSzPts val="1800"/>
                  <a:buFont typeface="+mj-lt"/>
                  <a:buAutoNum type="arabicPeriod"/>
                </a:pPr>
                <a:endParaRPr lang="en-US" sz="2000" dirty="0"/>
              </a:p>
              <a:p>
                <a:pPr marL="571500" indent="-457200">
                  <a:spcBef>
                    <a:spcPts val="0"/>
                  </a:spcBef>
                  <a:spcAft>
                    <a:spcPts val="600"/>
                  </a:spcAft>
                  <a:buSzPts val="1800"/>
                  <a:buFont typeface="+mj-lt"/>
                  <a:buAutoNum type="arabicPeriod"/>
                </a:pPr>
                <a:endParaRPr lang="en-US" sz="2000" dirty="0"/>
              </a:p>
            </p:txBody>
          </p:sp>
        </mc:Choice>
        <mc:Fallback xmlns="">
          <p:sp>
            <p:nvSpPr>
              <p:cNvPr id="3" name="Google Shape;410;p45">
                <a:extLst>
                  <a:ext uri="{FF2B5EF4-FFF2-40B4-BE49-F238E27FC236}">
                    <a16:creationId xmlns:a16="http://schemas.microsoft.com/office/drawing/2014/main" id="{903F647C-52C6-8DB1-6CCA-E913D9A50D14}"/>
                  </a:ext>
                </a:extLst>
              </p:cNvPr>
              <p:cNvSpPr txBox="1">
                <a:spLocks noRot="1" noChangeAspect="1" noMove="1" noResize="1" noEditPoints="1" noAdjustHandles="1" noChangeArrowheads="1" noChangeShapeType="1" noTextEdit="1"/>
              </p:cNvSpPr>
              <p:nvPr/>
            </p:nvSpPr>
            <p:spPr>
              <a:xfrm>
                <a:off x="838200" y="1260575"/>
                <a:ext cx="5142600" cy="3765600"/>
              </a:xfrm>
              <a:prstGeom prst="rect">
                <a:avLst/>
              </a:prstGeom>
              <a:blipFill>
                <a:blip r:embed="rId2"/>
                <a:stretch>
                  <a:fillRect t="-324" r="-474"/>
                </a:stretch>
              </a:blipFill>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33F20B01-FD3F-ACA5-FC1C-98F0469E3ECE}"/>
              </a:ext>
            </a:extLst>
          </p:cNvPr>
          <p:cNvGrpSpPr/>
          <p:nvPr/>
        </p:nvGrpSpPr>
        <p:grpSpPr>
          <a:xfrm>
            <a:off x="7892729" y="1260575"/>
            <a:ext cx="3461071" cy="3821700"/>
            <a:chOff x="5524451" y="1094425"/>
            <a:chExt cx="3461071" cy="3821700"/>
          </a:xfrm>
        </p:grpSpPr>
        <p:sp>
          <p:nvSpPr>
            <p:cNvPr id="4" name="Google Shape;447;p47">
              <a:extLst>
                <a:ext uri="{FF2B5EF4-FFF2-40B4-BE49-F238E27FC236}">
                  <a16:creationId xmlns:a16="http://schemas.microsoft.com/office/drawing/2014/main" id="{681A9E89-AFC7-3F9A-8999-5EA810BAC0A1}"/>
                </a:ext>
              </a:extLst>
            </p:cNvPr>
            <p:cNvSpPr/>
            <p:nvPr/>
          </p:nvSpPr>
          <p:spPr>
            <a:xfrm>
              <a:off x="5723802" y="1619402"/>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448;p47">
              <a:extLst>
                <a:ext uri="{FF2B5EF4-FFF2-40B4-BE49-F238E27FC236}">
                  <a16:creationId xmlns:a16="http://schemas.microsoft.com/office/drawing/2014/main" id="{47F7A3F5-2C25-526F-0107-24E7F8E3EE3A}"/>
                </a:ext>
              </a:extLst>
            </p:cNvPr>
            <p:cNvCxnSpPr/>
            <p:nvPr/>
          </p:nvCxnSpPr>
          <p:spPr>
            <a:xfrm>
              <a:off x="5776622" y="1900774"/>
              <a:ext cx="2322300" cy="0"/>
            </a:xfrm>
            <a:prstGeom prst="straightConnector1">
              <a:avLst/>
            </a:prstGeom>
            <a:noFill/>
            <a:ln w="28575" cap="flat" cmpd="sng">
              <a:solidFill>
                <a:schemeClr val="dk1"/>
              </a:solidFill>
              <a:prstDash val="solid"/>
              <a:round/>
              <a:headEnd type="none" w="med" len="med"/>
              <a:tailEnd type="triangle" w="med" len="med"/>
            </a:ln>
          </p:spPr>
        </p:cxnSp>
        <p:sp>
          <p:nvSpPr>
            <p:cNvPr id="6" name="Google Shape;449;p47">
              <a:extLst>
                <a:ext uri="{FF2B5EF4-FFF2-40B4-BE49-F238E27FC236}">
                  <a16:creationId xmlns:a16="http://schemas.microsoft.com/office/drawing/2014/main" id="{193E227E-B2EA-204D-CD55-F09EDA4C30AA}"/>
                </a:ext>
              </a:extLst>
            </p:cNvPr>
            <p:cNvSpPr txBox="1"/>
            <p:nvPr/>
          </p:nvSpPr>
          <p:spPr>
            <a:xfrm>
              <a:off x="5776627" y="16072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7" name="Google Shape;450;p47">
              <a:extLst>
                <a:ext uri="{FF2B5EF4-FFF2-40B4-BE49-F238E27FC236}">
                  <a16:creationId xmlns:a16="http://schemas.microsoft.com/office/drawing/2014/main" id="{158D02EB-0D86-C622-0DAD-EE87FF84682B}"/>
                </a:ext>
              </a:extLst>
            </p:cNvPr>
            <p:cNvCxnSpPr/>
            <p:nvPr/>
          </p:nvCxnSpPr>
          <p:spPr>
            <a:xfrm>
              <a:off x="5776614" y="2356182"/>
              <a:ext cx="2322300" cy="0"/>
            </a:xfrm>
            <a:prstGeom prst="straightConnector1">
              <a:avLst/>
            </a:prstGeom>
            <a:noFill/>
            <a:ln w="28575" cap="flat" cmpd="sng">
              <a:solidFill>
                <a:schemeClr val="dk1"/>
              </a:solidFill>
              <a:prstDash val="solid"/>
              <a:round/>
              <a:headEnd type="triangle" w="med" len="med"/>
              <a:tailEnd type="none" w="med" len="med"/>
            </a:ln>
          </p:spPr>
        </p:cxnSp>
        <p:sp>
          <p:nvSpPr>
            <p:cNvPr id="8" name="Google Shape;451;p47">
              <a:extLst>
                <a:ext uri="{FF2B5EF4-FFF2-40B4-BE49-F238E27FC236}">
                  <a16:creationId xmlns:a16="http://schemas.microsoft.com/office/drawing/2014/main" id="{B4586A8B-712B-10C7-6C0C-957A447BD54F}"/>
                </a:ext>
              </a:extLst>
            </p:cNvPr>
            <p:cNvSpPr txBox="1"/>
            <p:nvPr/>
          </p:nvSpPr>
          <p:spPr>
            <a:xfrm>
              <a:off x="5776619" y="2004647"/>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9" name="Google Shape;452;p47">
              <a:extLst>
                <a:ext uri="{FF2B5EF4-FFF2-40B4-BE49-F238E27FC236}">
                  <a16:creationId xmlns:a16="http://schemas.microsoft.com/office/drawing/2014/main" id="{18C17ACB-ACEC-B56D-96AD-800207C64ED3}"/>
                </a:ext>
              </a:extLst>
            </p:cNvPr>
            <p:cNvSpPr txBox="1"/>
            <p:nvPr/>
          </p:nvSpPr>
          <p:spPr>
            <a:xfrm>
              <a:off x="8154540" y="1871575"/>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10" name="Google Shape;453;p47">
              <a:extLst>
                <a:ext uri="{FF2B5EF4-FFF2-40B4-BE49-F238E27FC236}">
                  <a16:creationId xmlns:a16="http://schemas.microsoft.com/office/drawing/2014/main" id="{92680220-E87F-3058-5ECF-511026C700D5}"/>
                </a:ext>
              </a:extLst>
            </p:cNvPr>
            <p:cNvSpPr txBox="1"/>
            <p:nvPr/>
          </p:nvSpPr>
          <p:spPr>
            <a:xfrm>
              <a:off x="7026179" y="1094425"/>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11" name="Google Shape;454;p47">
              <a:extLst>
                <a:ext uri="{FF2B5EF4-FFF2-40B4-BE49-F238E27FC236}">
                  <a16:creationId xmlns:a16="http://schemas.microsoft.com/office/drawing/2014/main" id="{443CA47C-DDCE-07CB-81E4-64279F7391F9}"/>
                </a:ext>
              </a:extLst>
            </p:cNvPr>
            <p:cNvSpPr txBox="1"/>
            <p:nvPr/>
          </p:nvSpPr>
          <p:spPr>
            <a:xfrm>
              <a:off x="5524451" y="1094425"/>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12" name="Google Shape;455;p47">
              <a:extLst>
                <a:ext uri="{FF2B5EF4-FFF2-40B4-BE49-F238E27FC236}">
                  <a16:creationId xmlns:a16="http://schemas.microsoft.com/office/drawing/2014/main" id="{23FA0092-A438-0158-9F9B-1A90EAD855D1}"/>
                </a:ext>
              </a:extLst>
            </p:cNvPr>
            <p:cNvCxnSpPr/>
            <p:nvPr/>
          </p:nvCxnSpPr>
          <p:spPr>
            <a:xfrm>
              <a:off x="5776613" y="2847578"/>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3" name="Google Shape;456;p47">
              <a:extLst>
                <a:ext uri="{FF2B5EF4-FFF2-40B4-BE49-F238E27FC236}">
                  <a16:creationId xmlns:a16="http://schemas.microsoft.com/office/drawing/2014/main" id="{4D36740B-A715-553D-C973-DF5DBF0B34DE}"/>
                </a:ext>
              </a:extLst>
            </p:cNvPr>
            <p:cNvSpPr txBox="1"/>
            <p:nvPr/>
          </p:nvSpPr>
          <p:spPr>
            <a:xfrm>
              <a:off x="5776618" y="2496043"/>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r>
                <a:rPr lang="en" sz="800">
                  <a:solidFill>
                    <a:schemeClr val="dk1"/>
                  </a:solidFill>
                </a:rPr>
                <a:t>0</a:t>
              </a:r>
              <a:r>
                <a:rPr lang="en">
                  <a:solidFill>
                    <a:schemeClr val="dk1"/>
                  </a:solidFill>
                </a:rPr>
                <a:t> and </a:t>
              </a:r>
              <a:r>
                <a:rPr lang="en" i="1">
                  <a:solidFill>
                    <a:schemeClr val="dk1"/>
                  </a:solidFill>
                </a:rPr>
                <a:t>M</a:t>
              </a:r>
              <a:r>
                <a:rPr lang="en" sz="800">
                  <a:solidFill>
                    <a:schemeClr val="dk1"/>
                  </a:solidFill>
                </a:rPr>
                <a:t>1</a:t>
              </a:r>
              <a:endParaRPr sz="1000"/>
            </a:p>
          </p:txBody>
        </p:sp>
        <p:cxnSp>
          <p:nvCxnSpPr>
            <p:cNvPr id="15" name="Google Shape;457;p47">
              <a:extLst>
                <a:ext uri="{FF2B5EF4-FFF2-40B4-BE49-F238E27FC236}">
                  <a16:creationId xmlns:a16="http://schemas.microsoft.com/office/drawing/2014/main" id="{9AF00C84-9B72-EA89-7EF6-4622A71378CC}"/>
                </a:ext>
              </a:extLst>
            </p:cNvPr>
            <p:cNvCxnSpPr/>
            <p:nvPr/>
          </p:nvCxnSpPr>
          <p:spPr>
            <a:xfrm>
              <a:off x="5776604" y="3302986"/>
              <a:ext cx="2322300" cy="0"/>
            </a:xfrm>
            <a:prstGeom prst="straightConnector1">
              <a:avLst/>
            </a:prstGeom>
            <a:noFill/>
            <a:ln w="28575" cap="flat" cmpd="sng">
              <a:solidFill>
                <a:schemeClr val="dk1"/>
              </a:solidFill>
              <a:prstDash val="solid"/>
              <a:round/>
              <a:headEnd type="triangle" w="med" len="med"/>
              <a:tailEnd type="none" w="med" len="med"/>
            </a:ln>
          </p:spPr>
        </p:cxnSp>
        <p:sp>
          <p:nvSpPr>
            <p:cNvPr id="27" name="Google Shape;458;p47">
              <a:extLst>
                <a:ext uri="{FF2B5EF4-FFF2-40B4-BE49-F238E27FC236}">
                  <a16:creationId xmlns:a16="http://schemas.microsoft.com/office/drawing/2014/main" id="{CF9EA57B-E7EE-EEB2-1B39-EAFD58E2C51B}"/>
                </a:ext>
              </a:extLst>
            </p:cNvPr>
            <p:cNvSpPr txBox="1"/>
            <p:nvPr/>
          </p:nvSpPr>
          <p:spPr>
            <a:xfrm>
              <a:off x="5776609" y="2951451"/>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sz="800" i="1">
                  <a:solidFill>
                    <a:schemeClr val="dk1"/>
                  </a:solidFill>
                </a:rPr>
                <a:t>b</a:t>
              </a:r>
              <a:r>
                <a:rPr lang="en">
                  <a:solidFill>
                    <a:schemeClr val="dk1"/>
                  </a:solidFill>
                </a:rPr>
                <a:t>)</a:t>
              </a:r>
              <a:endParaRPr sz="1000"/>
            </a:p>
          </p:txBody>
        </p:sp>
        <p:cxnSp>
          <p:nvCxnSpPr>
            <p:cNvPr id="29" name="Google Shape;459;p47">
              <a:extLst>
                <a:ext uri="{FF2B5EF4-FFF2-40B4-BE49-F238E27FC236}">
                  <a16:creationId xmlns:a16="http://schemas.microsoft.com/office/drawing/2014/main" id="{9923DE77-DEDA-BE01-8A77-A63A7AD74986}"/>
                </a:ext>
              </a:extLst>
            </p:cNvPr>
            <p:cNvCxnSpPr/>
            <p:nvPr/>
          </p:nvCxnSpPr>
          <p:spPr>
            <a:xfrm>
              <a:off x="5681075" y="1463725"/>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460;p47">
              <a:extLst>
                <a:ext uri="{FF2B5EF4-FFF2-40B4-BE49-F238E27FC236}">
                  <a16:creationId xmlns:a16="http://schemas.microsoft.com/office/drawing/2014/main" id="{AFF521BF-176A-4FDB-2687-822514353D62}"/>
                </a:ext>
              </a:extLst>
            </p:cNvPr>
            <p:cNvCxnSpPr/>
            <p:nvPr/>
          </p:nvCxnSpPr>
          <p:spPr>
            <a:xfrm>
              <a:off x="8171825" y="1463725"/>
              <a:ext cx="0" cy="3452400"/>
            </a:xfrm>
            <a:prstGeom prst="straightConnector1">
              <a:avLst/>
            </a:prstGeom>
            <a:noFill/>
            <a:ln w="28575" cap="flat" cmpd="sng">
              <a:solidFill>
                <a:schemeClr val="dk1"/>
              </a:solidFill>
              <a:prstDash val="solid"/>
              <a:round/>
              <a:headEnd type="none" w="med" len="med"/>
              <a:tailEnd type="none" w="med" len="med"/>
            </a:ln>
          </p:spPr>
        </p:cxnSp>
        <p:sp>
          <p:nvSpPr>
            <p:cNvPr id="31" name="Google Shape;461;p47">
              <a:extLst>
                <a:ext uri="{FF2B5EF4-FFF2-40B4-BE49-F238E27FC236}">
                  <a16:creationId xmlns:a16="http://schemas.microsoft.com/office/drawing/2014/main" id="{1153DD87-2D04-4477-C9A1-AAF9986435AB}"/>
                </a:ext>
              </a:extLst>
            </p:cNvPr>
            <p:cNvSpPr txBox="1"/>
            <p:nvPr/>
          </p:nvSpPr>
          <p:spPr>
            <a:xfrm>
              <a:off x="8194722" y="2800296"/>
              <a:ext cx="7908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a:solidFill>
                    <a:schemeClr val="dk1"/>
                  </a:solidFill>
                </a:rPr>
                <a:t>pick </a:t>
              </a:r>
              <a:r>
                <a:rPr lang="en" sz="1200" i="1">
                  <a:solidFill>
                    <a:schemeClr val="dk1"/>
                  </a:solidFill>
                </a:rPr>
                <a:t>b</a:t>
              </a:r>
              <a:endParaRPr sz="1200" i="1"/>
            </a:p>
          </p:txBody>
        </p:sp>
      </p:grpSp>
    </p:spTree>
    <p:extLst>
      <p:ext uri="{BB962C8B-B14F-4D97-AF65-F5344CB8AC3E}">
        <p14:creationId xmlns:p14="http://schemas.microsoft.com/office/powerpoint/2010/main" val="3660716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9EF28-75CD-C390-411A-5B386738C62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3AE8CFB-DDBE-F0A5-97B7-04540F435381}"/>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mc:AlternateContent xmlns:mc="http://schemas.openxmlformats.org/markup-compatibility/2006" xmlns:a14="http://schemas.microsoft.com/office/drawing/2010/main">
        <mc:Choice Requires="a14">
          <p:sp>
            <p:nvSpPr>
              <p:cNvPr id="3" name="Google Shape;410;p45">
                <a:extLst>
                  <a:ext uri="{FF2B5EF4-FFF2-40B4-BE49-F238E27FC236}">
                    <a16:creationId xmlns:a16="http://schemas.microsoft.com/office/drawing/2014/main" id="{3481639E-6567-5ABB-8D1D-5D3224452890}"/>
                  </a:ext>
                </a:extLst>
              </p:cNvPr>
              <p:cNvSpPr txBox="1">
                <a:spLocks/>
              </p:cNvSpPr>
              <p:nvPr/>
            </p:nvSpPr>
            <p:spPr>
              <a:xfrm>
                <a:off x="838200" y="1260575"/>
                <a:ext cx="5142600" cy="37656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spcBef>
                    <a:spcPts val="0"/>
                  </a:spcBef>
                  <a:spcAft>
                    <a:spcPts val="600"/>
                  </a:spcAft>
                  <a:buSzPts val="1800"/>
                  <a:buFont typeface="+mj-lt"/>
                  <a:buAutoNum type="arabicPeriod"/>
                </a:pPr>
                <a:r>
                  <a:rPr lang="en-US" sz="2000" dirty="0"/>
                  <a:t>Eve may choose plaintexts to send to Alice and receives their ciphertexts</a:t>
                </a:r>
              </a:p>
              <a:p>
                <a:pPr marL="571500" indent="-457200">
                  <a:spcBef>
                    <a:spcPts val="0"/>
                  </a:spcBef>
                  <a:spcAft>
                    <a:spcPts val="600"/>
                  </a:spcAft>
                  <a:buSzPts val="1800"/>
                  <a:buFont typeface="+mj-lt"/>
                  <a:buAutoNum type="arabicPeriod"/>
                </a:pPr>
                <a:r>
                  <a:rPr lang="en-US" sz="2000" dirty="0"/>
                  <a:t>Eve issues a pair of plaintexts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Alice</a:t>
                </a:r>
              </a:p>
              <a:p>
                <a:pPr marL="571500" indent="-457200">
                  <a:spcBef>
                    <a:spcPts val="0"/>
                  </a:spcBef>
                  <a:spcAft>
                    <a:spcPts val="600"/>
                  </a:spcAft>
                  <a:buSzPts val="1800"/>
                  <a:buFont typeface="+mj-lt"/>
                  <a:buAutoNum type="arabicPeriod"/>
                </a:pPr>
                <a:r>
                  <a:rPr lang="en-US" sz="2000" dirty="0"/>
                  <a:t>Alice </a:t>
                </a:r>
                <a:r>
                  <a:rPr lang="en-US" sz="2000" b="1" i="1" dirty="0">
                    <a:solidFill>
                      <a:srgbClr val="C00000"/>
                    </a:solidFill>
                  </a:rPr>
                  <a:t>randomly chooses </a:t>
                </a:r>
                <a:r>
                  <a:rPr lang="en-US" sz="2000" dirty="0"/>
                  <a:t>either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encrypt and sends the encryption back</a:t>
                </a:r>
              </a:p>
              <a:p>
                <a:pPr marL="1028700" lvl="1" indent="-457200">
                  <a:spcBef>
                    <a:spcPts val="0"/>
                  </a:spcBef>
                  <a:spcAft>
                    <a:spcPts val="600"/>
                  </a:spcAft>
                  <a:buSzPts val="1800"/>
                  <a:buFont typeface="+mj-lt"/>
                  <a:buAutoNum type="alphaLcParenR"/>
                </a:pPr>
                <a:r>
                  <a:rPr lang="en-US" sz="1600" dirty="0"/>
                  <a:t>Alice does not tell Eve which one was encrypted!</a:t>
                </a:r>
              </a:p>
              <a:p>
                <a:pPr marL="571500" indent="-457200">
                  <a:spcBef>
                    <a:spcPts val="0"/>
                  </a:spcBef>
                  <a:spcAft>
                    <a:spcPts val="600"/>
                  </a:spcAft>
                  <a:buSzPts val="1800"/>
                  <a:buFont typeface="+mj-lt"/>
                  <a:buAutoNum type="arabicPeriod"/>
                </a:pPr>
                <a:r>
                  <a:rPr lang="en-US" sz="2000" dirty="0"/>
                  <a:t>Eve may </a:t>
                </a:r>
                <a:r>
                  <a:rPr lang="en-US" sz="2000" b="1" i="1" dirty="0">
                    <a:solidFill>
                      <a:srgbClr val="C00000"/>
                    </a:solidFill>
                  </a:rPr>
                  <a:t>again choose plaintexts </a:t>
                </a:r>
                <a:r>
                  <a:rPr lang="en-US" sz="2000" dirty="0"/>
                  <a:t>to send to Alice and receives their ciphertexts</a:t>
                </a:r>
              </a:p>
              <a:p>
                <a:pPr marL="571500" indent="-457200">
                  <a:spcBef>
                    <a:spcPts val="0"/>
                  </a:spcBef>
                  <a:spcAft>
                    <a:spcPts val="600"/>
                  </a:spcAft>
                  <a:buSzPts val="1800"/>
                  <a:buFont typeface="+mj-lt"/>
                  <a:buAutoNum type="arabicPeriod"/>
                </a:pPr>
                <a:endParaRPr lang="en-US" sz="2000" dirty="0"/>
              </a:p>
              <a:p>
                <a:pPr marL="571500" indent="-457200">
                  <a:spcBef>
                    <a:spcPts val="0"/>
                  </a:spcBef>
                  <a:spcAft>
                    <a:spcPts val="600"/>
                  </a:spcAft>
                  <a:buSzPts val="1800"/>
                  <a:buFont typeface="+mj-lt"/>
                  <a:buAutoNum type="arabicPeriod"/>
                </a:pPr>
                <a:endParaRPr lang="en-US" sz="2000" dirty="0"/>
              </a:p>
              <a:p>
                <a:pPr marL="571500" indent="-457200">
                  <a:spcBef>
                    <a:spcPts val="0"/>
                  </a:spcBef>
                  <a:spcAft>
                    <a:spcPts val="600"/>
                  </a:spcAft>
                  <a:buSzPts val="1800"/>
                  <a:buFont typeface="+mj-lt"/>
                  <a:buAutoNum type="arabicPeriod"/>
                </a:pPr>
                <a:endParaRPr lang="en-US" sz="2000" dirty="0"/>
              </a:p>
            </p:txBody>
          </p:sp>
        </mc:Choice>
        <mc:Fallback xmlns="">
          <p:sp>
            <p:nvSpPr>
              <p:cNvPr id="3" name="Google Shape;410;p45">
                <a:extLst>
                  <a:ext uri="{FF2B5EF4-FFF2-40B4-BE49-F238E27FC236}">
                    <a16:creationId xmlns:a16="http://schemas.microsoft.com/office/drawing/2014/main" id="{3481639E-6567-5ABB-8D1D-5D3224452890}"/>
                  </a:ext>
                </a:extLst>
              </p:cNvPr>
              <p:cNvSpPr txBox="1">
                <a:spLocks noRot="1" noChangeAspect="1" noMove="1" noResize="1" noEditPoints="1" noAdjustHandles="1" noChangeArrowheads="1" noChangeShapeType="1" noTextEdit="1"/>
              </p:cNvSpPr>
              <p:nvPr/>
            </p:nvSpPr>
            <p:spPr>
              <a:xfrm>
                <a:off x="838200" y="1260575"/>
                <a:ext cx="5142600" cy="3765600"/>
              </a:xfrm>
              <a:prstGeom prst="rect">
                <a:avLst/>
              </a:prstGeom>
              <a:blipFill>
                <a:blip r:embed="rId2"/>
                <a:stretch>
                  <a:fillRect t="-324" r="-474"/>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FB425A3A-C00A-73D5-93E4-6DA3B07F7F89}"/>
              </a:ext>
            </a:extLst>
          </p:cNvPr>
          <p:cNvGrpSpPr/>
          <p:nvPr/>
        </p:nvGrpSpPr>
        <p:grpSpPr>
          <a:xfrm>
            <a:off x="7892729" y="1260575"/>
            <a:ext cx="3461071" cy="3821700"/>
            <a:chOff x="6211202" y="1458809"/>
            <a:chExt cx="3461071" cy="3821700"/>
          </a:xfrm>
        </p:grpSpPr>
        <p:sp>
          <p:nvSpPr>
            <p:cNvPr id="14" name="Google Shape;469;p48">
              <a:extLst>
                <a:ext uri="{FF2B5EF4-FFF2-40B4-BE49-F238E27FC236}">
                  <a16:creationId xmlns:a16="http://schemas.microsoft.com/office/drawing/2014/main" id="{1D84466A-0401-CD88-19E3-C35534A5C214}"/>
                </a:ext>
              </a:extLst>
            </p:cNvPr>
            <p:cNvSpPr/>
            <p:nvPr/>
          </p:nvSpPr>
          <p:spPr>
            <a:xfrm>
              <a:off x="6410553" y="1983786"/>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470;p48">
              <a:extLst>
                <a:ext uri="{FF2B5EF4-FFF2-40B4-BE49-F238E27FC236}">
                  <a16:creationId xmlns:a16="http://schemas.microsoft.com/office/drawing/2014/main" id="{FF220031-4D73-3FA8-D1DF-63016B9200AF}"/>
                </a:ext>
              </a:extLst>
            </p:cNvPr>
            <p:cNvCxnSpPr/>
            <p:nvPr/>
          </p:nvCxnSpPr>
          <p:spPr>
            <a:xfrm>
              <a:off x="6463373" y="2265158"/>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7" name="Google Shape;471;p48">
              <a:extLst>
                <a:ext uri="{FF2B5EF4-FFF2-40B4-BE49-F238E27FC236}">
                  <a16:creationId xmlns:a16="http://schemas.microsoft.com/office/drawing/2014/main" id="{FECDF2B9-8A5C-F05C-D888-9868FBC9D367}"/>
                </a:ext>
              </a:extLst>
            </p:cNvPr>
            <p:cNvSpPr txBox="1"/>
            <p:nvPr/>
          </p:nvSpPr>
          <p:spPr>
            <a:xfrm>
              <a:off x="6463378" y="1971642"/>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18" name="Google Shape;472;p48">
              <a:extLst>
                <a:ext uri="{FF2B5EF4-FFF2-40B4-BE49-F238E27FC236}">
                  <a16:creationId xmlns:a16="http://schemas.microsoft.com/office/drawing/2014/main" id="{C1D0AC19-435D-F64F-0E29-DFA704357934}"/>
                </a:ext>
              </a:extLst>
            </p:cNvPr>
            <p:cNvCxnSpPr/>
            <p:nvPr/>
          </p:nvCxnSpPr>
          <p:spPr>
            <a:xfrm>
              <a:off x="6463365" y="2720566"/>
              <a:ext cx="2322300" cy="0"/>
            </a:xfrm>
            <a:prstGeom prst="straightConnector1">
              <a:avLst/>
            </a:prstGeom>
            <a:noFill/>
            <a:ln w="28575" cap="flat" cmpd="sng">
              <a:solidFill>
                <a:schemeClr val="dk1"/>
              </a:solidFill>
              <a:prstDash val="solid"/>
              <a:round/>
              <a:headEnd type="triangle" w="med" len="med"/>
              <a:tailEnd type="none" w="med" len="med"/>
            </a:ln>
          </p:spPr>
        </p:cxnSp>
        <p:sp>
          <p:nvSpPr>
            <p:cNvPr id="19" name="Google Shape;473;p48">
              <a:extLst>
                <a:ext uri="{FF2B5EF4-FFF2-40B4-BE49-F238E27FC236}">
                  <a16:creationId xmlns:a16="http://schemas.microsoft.com/office/drawing/2014/main" id="{9A140629-464C-DE86-BCB9-24016518F4A4}"/>
                </a:ext>
              </a:extLst>
            </p:cNvPr>
            <p:cNvSpPr txBox="1"/>
            <p:nvPr/>
          </p:nvSpPr>
          <p:spPr>
            <a:xfrm>
              <a:off x="6463370" y="2369031"/>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20" name="Google Shape;474;p48">
              <a:extLst>
                <a:ext uri="{FF2B5EF4-FFF2-40B4-BE49-F238E27FC236}">
                  <a16:creationId xmlns:a16="http://schemas.microsoft.com/office/drawing/2014/main" id="{A920AF2D-4C70-5296-907F-5329B3F1E270}"/>
                </a:ext>
              </a:extLst>
            </p:cNvPr>
            <p:cNvSpPr txBox="1"/>
            <p:nvPr/>
          </p:nvSpPr>
          <p:spPr>
            <a:xfrm>
              <a:off x="8841291" y="2235959"/>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21" name="Google Shape;475;p48">
              <a:extLst>
                <a:ext uri="{FF2B5EF4-FFF2-40B4-BE49-F238E27FC236}">
                  <a16:creationId xmlns:a16="http://schemas.microsoft.com/office/drawing/2014/main" id="{DE9A9D08-5984-72D8-A14E-0DA854CBD812}"/>
                </a:ext>
              </a:extLst>
            </p:cNvPr>
            <p:cNvSpPr/>
            <p:nvPr/>
          </p:nvSpPr>
          <p:spPr>
            <a:xfrm>
              <a:off x="6410553" y="3812586"/>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76;p48">
              <a:extLst>
                <a:ext uri="{FF2B5EF4-FFF2-40B4-BE49-F238E27FC236}">
                  <a16:creationId xmlns:a16="http://schemas.microsoft.com/office/drawing/2014/main" id="{9FD84626-3A40-2779-0406-480DC5501ABA}"/>
                </a:ext>
              </a:extLst>
            </p:cNvPr>
            <p:cNvSpPr txBox="1"/>
            <p:nvPr/>
          </p:nvSpPr>
          <p:spPr>
            <a:xfrm>
              <a:off x="7712930" y="1458809"/>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23" name="Google Shape;477;p48">
              <a:extLst>
                <a:ext uri="{FF2B5EF4-FFF2-40B4-BE49-F238E27FC236}">
                  <a16:creationId xmlns:a16="http://schemas.microsoft.com/office/drawing/2014/main" id="{109B4179-9D63-B8BA-688A-005B3DDFD67C}"/>
                </a:ext>
              </a:extLst>
            </p:cNvPr>
            <p:cNvSpPr txBox="1"/>
            <p:nvPr/>
          </p:nvSpPr>
          <p:spPr>
            <a:xfrm>
              <a:off x="6211202" y="1458809"/>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24" name="Google Shape;478;p48">
              <a:extLst>
                <a:ext uri="{FF2B5EF4-FFF2-40B4-BE49-F238E27FC236}">
                  <a16:creationId xmlns:a16="http://schemas.microsoft.com/office/drawing/2014/main" id="{9FFDCFF2-8515-C3CA-3A79-FC0DAD3A74A0}"/>
                </a:ext>
              </a:extLst>
            </p:cNvPr>
            <p:cNvCxnSpPr/>
            <p:nvPr/>
          </p:nvCxnSpPr>
          <p:spPr>
            <a:xfrm>
              <a:off x="6463364" y="3211962"/>
              <a:ext cx="2322300" cy="0"/>
            </a:xfrm>
            <a:prstGeom prst="straightConnector1">
              <a:avLst/>
            </a:prstGeom>
            <a:noFill/>
            <a:ln w="28575" cap="flat" cmpd="sng">
              <a:solidFill>
                <a:schemeClr val="dk1"/>
              </a:solidFill>
              <a:prstDash val="solid"/>
              <a:round/>
              <a:headEnd type="none" w="med" len="med"/>
              <a:tailEnd type="triangle" w="med" len="med"/>
            </a:ln>
          </p:spPr>
        </p:cxnSp>
        <p:sp>
          <p:nvSpPr>
            <p:cNvPr id="25" name="Google Shape;479;p48">
              <a:extLst>
                <a:ext uri="{FF2B5EF4-FFF2-40B4-BE49-F238E27FC236}">
                  <a16:creationId xmlns:a16="http://schemas.microsoft.com/office/drawing/2014/main" id="{7F4E5B26-FBF3-8DEE-03E3-CCC3342BFA75}"/>
                </a:ext>
              </a:extLst>
            </p:cNvPr>
            <p:cNvSpPr txBox="1"/>
            <p:nvPr/>
          </p:nvSpPr>
          <p:spPr>
            <a:xfrm>
              <a:off x="6463369" y="2860427"/>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r>
                <a:rPr lang="en" sz="800">
                  <a:solidFill>
                    <a:schemeClr val="dk1"/>
                  </a:solidFill>
                </a:rPr>
                <a:t>0</a:t>
              </a:r>
              <a:r>
                <a:rPr lang="en">
                  <a:solidFill>
                    <a:schemeClr val="dk1"/>
                  </a:solidFill>
                </a:rPr>
                <a:t> and </a:t>
              </a:r>
              <a:r>
                <a:rPr lang="en" i="1">
                  <a:solidFill>
                    <a:schemeClr val="dk1"/>
                  </a:solidFill>
                </a:rPr>
                <a:t>M</a:t>
              </a:r>
              <a:r>
                <a:rPr lang="en" sz="800">
                  <a:solidFill>
                    <a:schemeClr val="dk1"/>
                  </a:solidFill>
                </a:rPr>
                <a:t>1</a:t>
              </a:r>
              <a:endParaRPr sz="1000"/>
            </a:p>
          </p:txBody>
        </p:sp>
        <p:cxnSp>
          <p:nvCxnSpPr>
            <p:cNvPr id="26" name="Google Shape;480;p48">
              <a:extLst>
                <a:ext uri="{FF2B5EF4-FFF2-40B4-BE49-F238E27FC236}">
                  <a16:creationId xmlns:a16="http://schemas.microsoft.com/office/drawing/2014/main" id="{922A20EA-44D6-4360-87CD-53EA82235F0A}"/>
                </a:ext>
              </a:extLst>
            </p:cNvPr>
            <p:cNvCxnSpPr/>
            <p:nvPr/>
          </p:nvCxnSpPr>
          <p:spPr>
            <a:xfrm>
              <a:off x="6463355" y="3667370"/>
              <a:ext cx="2322300" cy="0"/>
            </a:xfrm>
            <a:prstGeom prst="straightConnector1">
              <a:avLst/>
            </a:prstGeom>
            <a:noFill/>
            <a:ln w="28575" cap="flat" cmpd="sng">
              <a:solidFill>
                <a:schemeClr val="dk1"/>
              </a:solidFill>
              <a:prstDash val="solid"/>
              <a:round/>
              <a:headEnd type="triangle" w="med" len="med"/>
              <a:tailEnd type="none" w="med" len="med"/>
            </a:ln>
          </p:spPr>
        </p:cxnSp>
        <p:sp>
          <p:nvSpPr>
            <p:cNvPr id="28" name="Google Shape;481;p48">
              <a:extLst>
                <a:ext uri="{FF2B5EF4-FFF2-40B4-BE49-F238E27FC236}">
                  <a16:creationId xmlns:a16="http://schemas.microsoft.com/office/drawing/2014/main" id="{577A9B75-6CE0-FB53-1482-25EA3193339E}"/>
                </a:ext>
              </a:extLst>
            </p:cNvPr>
            <p:cNvSpPr txBox="1"/>
            <p:nvPr/>
          </p:nvSpPr>
          <p:spPr>
            <a:xfrm>
              <a:off x="6463360" y="3315835"/>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sz="800" i="1">
                  <a:solidFill>
                    <a:schemeClr val="dk1"/>
                  </a:solidFill>
                </a:rPr>
                <a:t>b</a:t>
              </a:r>
              <a:r>
                <a:rPr lang="en">
                  <a:solidFill>
                    <a:schemeClr val="dk1"/>
                  </a:solidFill>
                </a:rPr>
                <a:t>)</a:t>
              </a:r>
              <a:endParaRPr sz="1000"/>
            </a:p>
          </p:txBody>
        </p:sp>
        <p:cxnSp>
          <p:nvCxnSpPr>
            <p:cNvPr id="32" name="Google Shape;482;p48">
              <a:extLst>
                <a:ext uri="{FF2B5EF4-FFF2-40B4-BE49-F238E27FC236}">
                  <a16:creationId xmlns:a16="http://schemas.microsoft.com/office/drawing/2014/main" id="{0045ABA7-428C-59C7-93C4-215E450E4F65}"/>
                </a:ext>
              </a:extLst>
            </p:cNvPr>
            <p:cNvCxnSpPr/>
            <p:nvPr/>
          </p:nvCxnSpPr>
          <p:spPr>
            <a:xfrm>
              <a:off x="6463373" y="4093958"/>
              <a:ext cx="2322300" cy="0"/>
            </a:xfrm>
            <a:prstGeom prst="straightConnector1">
              <a:avLst/>
            </a:prstGeom>
            <a:noFill/>
            <a:ln w="28575" cap="flat" cmpd="sng">
              <a:solidFill>
                <a:schemeClr val="dk1"/>
              </a:solidFill>
              <a:prstDash val="solid"/>
              <a:round/>
              <a:headEnd type="none" w="med" len="med"/>
              <a:tailEnd type="triangle" w="med" len="med"/>
            </a:ln>
          </p:spPr>
        </p:cxnSp>
        <p:sp>
          <p:nvSpPr>
            <p:cNvPr id="34" name="Google Shape;483;p48">
              <a:extLst>
                <a:ext uri="{FF2B5EF4-FFF2-40B4-BE49-F238E27FC236}">
                  <a16:creationId xmlns:a16="http://schemas.microsoft.com/office/drawing/2014/main" id="{11B6E579-AB71-D94E-A241-B6B2C1971027}"/>
                </a:ext>
              </a:extLst>
            </p:cNvPr>
            <p:cNvSpPr txBox="1"/>
            <p:nvPr/>
          </p:nvSpPr>
          <p:spPr>
            <a:xfrm>
              <a:off x="6463378" y="3800442"/>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35" name="Google Shape;484;p48">
              <a:extLst>
                <a:ext uri="{FF2B5EF4-FFF2-40B4-BE49-F238E27FC236}">
                  <a16:creationId xmlns:a16="http://schemas.microsoft.com/office/drawing/2014/main" id="{493FAD21-E7D9-8BD1-71AA-080000855B98}"/>
                </a:ext>
              </a:extLst>
            </p:cNvPr>
            <p:cNvCxnSpPr/>
            <p:nvPr/>
          </p:nvCxnSpPr>
          <p:spPr>
            <a:xfrm>
              <a:off x="6463365" y="4549366"/>
              <a:ext cx="2322300" cy="0"/>
            </a:xfrm>
            <a:prstGeom prst="straightConnector1">
              <a:avLst/>
            </a:prstGeom>
            <a:noFill/>
            <a:ln w="28575" cap="flat" cmpd="sng">
              <a:solidFill>
                <a:schemeClr val="dk1"/>
              </a:solidFill>
              <a:prstDash val="solid"/>
              <a:round/>
              <a:headEnd type="triangle" w="med" len="med"/>
              <a:tailEnd type="none" w="med" len="med"/>
            </a:ln>
          </p:spPr>
        </p:cxnSp>
        <p:sp>
          <p:nvSpPr>
            <p:cNvPr id="36" name="Google Shape;485;p48">
              <a:extLst>
                <a:ext uri="{FF2B5EF4-FFF2-40B4-BE49-F238E27FC236}">
                  <a16:creationId xmlns:a16="http://schemas.microsoft.com/office/drawing/2014/main" id="{1C47EE5E-0C98-DAAF-2A35-36BDAEEC2015}"/>
                </a:ext>
              </a:extLst>
            </p:cNvPr>
            <p:cNvSpPr txBox="1"/>
            <p:nvPr/>
          </p:nvSpPr>
          <p:spPr>
            <a:xfrm>
              <a:off x="6463370" y="4197831"/>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cxnSp>
          <p:nvCxnSpPr>
            <p:cNvPr id="37" name="Google Shape;486;p48">
              <a:extLst>
                <a:ext uri="{FF2B5EF4-FFF2-40B4-BE49-F238E27FC236}">
                  <a16:creationId xmlns:a16="http://schemas.microsoft.com/office/drawing/2014/main" id="{24BEEFD8-D0F4-BCF1-03D5-6878B64E1474}"/>
                </a:ext>
              </a:extLst>
            </p:cNvPr>
            <p:cNvCxnSpPr/>
            <p:nvPr/>
          </p:nvCxnSpPr>
          <p:spPr>
            <a:xfrm>
              <a:off x="6367826" y="1828109"/>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38" name="Google Shape;487;p48">
              <a:extLst>
                <a:ext uri="{FF2B5EF4-FFF2-40B4-BE49-F238E27FC236}">
                  <a16:creationId xmlns:a16="http://schemas.microsoft.com/office/drawing/2014/main" id="{0DB2C006-E1C9-352C-8E51-23288067956D}"/>
                </a:ext>
              </a:extLst>
            </p:cNvPr>
            <p:cNvCxnSpPr/>
            <p:nvPr/>
          </p:nvCxnSpPr>
          <p:spPr>
            <a:xfrm>
              <a:off x="8858576" y="1828109"/>
              <a:ext cx="0" cy="3452400"/>
            </a:xfrm>
            <a:prstGeom prst="straightConnector1">
              <a:avLst/>
            </a:prstGeom>
            <a:noFill/>
            <a:ln w="28575" cap="flat" cmpd="sng">
              <a:solidFill>
                <a:schemeClr val="dk1"/>
              </a:solidFill>
              <a:prstDash val="solid"/>
              <a:round/>
              <a:headEnd type="none" w="med" len="med"/>
              <a:tailEnd type="none" w="med" len="med"/>
            </a:ln>
          </p:spPr>
        </p:cxnSp>
        <p:sp>
          <p:nvSpPr>
            <p:cNvPr id="39" name="Google Shape;488;p48">
              <a:extLst>
                <a:ext uri="{FF2B5EF4-FFF2-40B4-BE49-F238E27FC236}">
                  <a16:creationId xmlns:a16="http://schemas.microsoft.com/office/drawing/2014/main" id="{B6AE88B2-A285-4A0D-86A3-46235BAE6691}"/>
                </a:ext>
              </a:extLst>
            </p:cNvPr>
            <p:cNvSpPr txBox="1"/>
            <p:nvPr/>
          </p:nvSpPr>
          <p:spPr>
            <a:xfrm>
              <a:off x="8841291" y="4064759"/>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40" name="Google Shape;489;p48">
              <a:extLst>
                <a:ext uri="{FF2B5EF4-FFF2-40B4-BE49-F238E27FC236}">
                  <a16:creationId xmlns:a16="http://schemas.microsoft.com/office/drawing/2014/main" id="{43624721-A31E-BC92-F1A9-2DFB4A338F7B}"/>
                </a:ext>
              </a:extLst>
            </p:cNvPr>
            <p:cNvSpPr txBox="1"/>
            <p:nvPr/>
          </p:nvSpPr>
          <p:spPr>
            <a:xfrm>
              <a:off x="8881473" y="3164680"/>
              <a:ext cx="7908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a:solidFill>
                    <a:schemeClr val="dk1"/>
                  </a:solidFill>
                </a:rPr>
                <a:t>pick </a:t>
              </a:r>
              <a:r>
                <a:rPr lang="en" sz="1200" i="1">
                  <a:solidFill>
                    <a:schemeClr val="dk1"/>
                  </a:solidFill>
                </a:rPr>
                <a:t>b</a:t>
              </a:r>
              <a:endParaRPr sz="1200" i="1"/>
            </a:p>
          </p:txBody>
        </p:sp>
      </p:grpSp>
    </p:spTree>
    <p:extLst>
      <p:ext uri="{BB962C8B-B14F-4D97-AF65-F5344CB8AC3E}">
        <p14:creationId xmlns:p14="http://schemas.microsoft.com/office/powerpoint/2010/main" val="3436805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E8BB7163-9A6A-D5D7-8949-C613631083F6}"/>
              </a:ext>
            </a:extLst>
          </p:cNvPr>
          <p:cNvGrpSpPr/>
          <p:nvPr/>
        </p:nvGrpSpPr>
        <p:grpSpPr>
          <a:xfrm>
            <a:off x="7892729" y="1260575"/>
            <a:ext cx="3461071" cy="4222573"/>
            <a:chOff x="7923892" y="1506936"/>
            <a:chExt cx="3461071" cy="4222573"/>
          </a:xfrm>
        </p:grpSpPr>
        <p:sp>
          <p:nvSpPr>
            <p:cNvPr id="2" name="Google Shape;497;p49">
              <a:extLst>
                <a:ext uri="{FF2B5EF4-FFF2-40B4-BE49-F238E27FC236}">
                  <a16:creationId xmlns:a16="http://schemas.microsoft.com/office/drawing/2014/main" id="{068AE891-6722-18BE-354F-DE9190A9FFD4}"/>
                </a:ext>
              </a:extLst>
            </p:cNvPr>
            <p:cNvSpPr/>
            <p:nvPr/>
          </p:nvSpPr>
          <p:spPr>
            <a:xfrm>
              <a:off x="8123243" y="2031913"/>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 name="Google Shape;498;p49">
              <a:extLst>
                <a:ext uri="{FF2B5EF4-FFF2-40B4-BE49-F238E27FC236}">
                  <a16:creationId xmlns:a16="http://schemas.microsoft.com/office/drawing/2014/main" id="{94C5B730-0DCB-5CD0-BD5E-51986CF316F6}"/>
                </a:ext>
              </a:extLst>
            </p:cNvPr>
            <p:cNvCxnSpPr/>
            <p:nvPr/>
          </p:nvCxnSpPr>
          <p:spPr>
            <a:xfrm>
              <a:off x="8176063" y="2313285"/>
              <a:ext cx="2322300" cy="0"/>
            </a:xfrm>
            <a:prstGeom prst="straightConnector1">
              <a:avLst/>
            </a:prstGeom>
            <a:noFill/>
            <a:ln w="28575" cap="flat" cmpd="sng">
              <a:solidFill>
                <a:schemeClr val="dk1"/>
              </a:solidFill>
              <a:prstDash val="solid"/>
              <a:round/>
              <a:headEnd type="none" w="med" len="med"/>
              <a:tailEnd type="triangle" w="med" len="med"/>
            </a:ln>
          </p:spPr>
        </p:cxnSp>
        <p:sp>
          <p:nvSpPr>
            <p:cNvPr id="4" name="Google Shape;499;p49">
              <a:extLst>
                <a:ext uri="{FF2B5EF4-FFF2-40B4-BE49-F238E27FC236}">
                  <a16:creationId xmlns:a16="http://schemas.microsoft.com/office/drawing/2014/main" id="{63BA1F3E-CD67-143A-02A3-97C624CAB754}"/>
                </a:ext>
              </a:extLst>
            </p:cNvPr>
            <p:cNvSpPr txBox="1"/>
            <p:nvPr/>
          </p:nvSpPr>
          <p:spPr>
            <a:xfrm>
              <a:off x="8176068" y="2019769"/>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dirty="0">
                  <a:solidFill>
                    <a:schemeClr val="dk1"/>
                  </a:solidFill>
                </a:rPr>
                <a:t>M</a:t>
              </a:r>
              <a:endParaRPr sz="1000" i="1" dirty="0"/>
            </a:p>
          </p:txBody>
        </p:sp>
        <p:cxnSp>
          <p:nvCxnSpPr>
            <p:cNvPr id="5" name="Google Shape;500;p49">
              <a:extLst>
                <a:ext uri="{FF2B5EF4-FFF2-40B4-BE49-F238E27FC236}">
                  <a16:creationId xmlns:a16="http://schemas.microsoft.com/office/drawing/2014/main" id="{C4945CB9-5EA7-7D66-DCC7-B18D7CC05BA2}"/>
                </a:ext>
              </a:extLst>
            </p:cNvPr>
            <p:cNvCxnSpPr/>
            <p:nvPr/>
          </p:nvCxnSpPr>
          <p:spPr>
            <a:xfrm>
              <a:off x="8176055" y="2768693"/>
              <a:ext cx="2322300" cy="0"/>
            </a:xfrm>
            <a:prstGeom prst="straightConnector1">
              <a:avLst/>
            </a:prstGeom>
            <a:noFill/>
            <a:ln w="28575" cap="flat" cmpd="sng">
              <a:solidFill>
                <a:schemeClr val="dk1"/>
              </a:solidFill>
              <a:prstDash val="solid"/>
              <a:round/>
              <a:headEnd type="triangle" w="med" len="med"/>
              <a:tailEnd type="none" w="med" len="med"/>
            </a:ln>
          </p:spPr>
        </p:cxnSp>
        <p:sp>
          <p:nvSpPr>
            <p:cNvPr id="6" name="Google Shape;501;p49">
              <a:extLst>
                <a:ext uri="{FF2B5EF4-FFF2-40B4-BE49-F238E27FC236}">
                  <a16:creationId xmlns:a16="http://schemas.microsoft.com/office/drawing/2014/main" id="{FF07C58A-2248-B643-C2A3-DE01AE066C0C}"/>
                </a:ext>
              </a:extLst>
            </p:cNvPr>
            <p:cNvSpPr txBox="1"/>
            <p:nvPr/>
          </p:nvSpPr>
          <p:spPr>
            <a:xfrm>
              <a:off x="8176060" y="24171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7" name="Google Shape;502;p49">
              <a:extLst>
                <a:ext uri="{FF2B5EF4-FFF2-40B4-BE49-F238E27FC236}">
                  <a16:creationId xmlns:a16="http://schemas.microsoft.com/office/drawing/2014/main" id="{E1E2C9BB-3532-2346-DB26-B3C4C81C4484}"/>
                </a:ext>
              </a:extLst>
            </p:cNvPr>
            <p:cNvSpPr txBox="1"/>
            <p:nvPr/>
          </p:nvSpPr>
          <p:spPr>
            <a:xfrm>
              <a:off x="10553981" y="2284086"/>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8" name="Google Shape;503;p49">
              <a:extLst>
                <a:ext uri="{FF2B5EF4-FFF2-40B4-BE49-F238E27FC236}">
                  <a16:creationId xmlns:a16="http://schemas.microsoft.com/office/drawing/2014/main" id="{AE725565-8AC2-5DDF-843D-1074E6C96C2E}"/>
                </a:ext>
              </a:extLst>
            </p:cNvPr>
            <p:cNvSpPr/>
            <p:nvPr/>
          </p:nvSpPr>
          <p:spPr>
            <a:xfrm>
              <a:off x="8123243" y="3860713"/>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04;p49">
              <a:extLst>
                <a:ext uri="{FF2B5EF4-FFF2-40B4-BE49-F238E27FC236}">
                  <a16:creationId xmlns:a16="http://schemas.microsoft.com/office/drawing/2014/main" id="{9649FE8B-CA0B-75C2-101A-A9E7EFE9C811}"/>
                </a:ext>
              </a:extLst>
            </p:cNvPr>
            <p:cNvSpPr txBox="1"/>
            <p:nvPr/>
          </p:nvSpPr>
          <p:spPr>
            <a:xfrm>
              <a:off x="9425620" y="1506936"/>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10" name="Google Shape;505;p49">
              <a:extLst>
                <a:ext uri="{FF2B5EF4-FFF2-40B4-BE49-F238E27FC236}">
                  <a16:creationId xmlns:a16="http://schemas.microsoft.com/office/drawing/2014/main" id="{ADBAE18D-728F-F2F2-31A1-09DD16DF7E3E}"/>
                </a:ext>
              </a:extLst>
            </p:cNvPr>
            <p:cNvSpPr txBox="1"/>
            <p:nvPr/>
          </p:nvSpPr>
          <p:spPr>
            <a:xfrm>
              <a:off x="7923892" y="1506936"/>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11" name="Google Shape;506;p49">
              <a:extLst>
                <a:ext uri="{FF2B5EF4-FFF2-40B4-BE49-F238E27FC236}">
                  <a16:creationId xmlns:a16="http://schemas.microsoft.com/office/drawing/2014/main" id="{2E2A9FFB-A0FC-F5B8-3E7F-55C21B1EDCDA}"/>
                </a:ext>
              </a:extLst>
            </p:cNvPr>
            <p:cNvCxnSpPr/>
            <p:nvPr/>
          </p:nvCxnSpPr>
          <p:spPr>
            <a:xfrm>
              <a:off x="8176054" y="3260089"/>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2" name="Google Shape;507;p49">
              <a:extLst>
                <a:ext uri="{FF2B5EF4-FFF2-40B4-BE49-F238E27FC236}">
                  <a16:creationId xmlns:a16="http://schemas.microsoft.com/office/drawing/2014/main" id="{55655BD6-491D-6664-9360-14788FCA977D}"/>
                </a:ext>
              </a:extLst>
            </p:cNvPr>
            <p:cNvSpPr txBox="1"/>
            <p:nvPr/>
          </p:nvSpPr>
          <p:spPr>
            <a:xfrm>
              <a:off x="8176059" y="2908554"/>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r>
                <a:rPr lang="en" sz="800">
                  <a:solidFill>
                    <a:schemeClr val="dk1"/>
                  </a:solidFill>
                </a:rPr>
                <a:t>0</a:t>
              </a:r>
              <a:r>
                <a:rPr lang="en">
                  <a:solidFill>
                    <a:schemeClr val="dk1"/>
                  </a:solidFill>
                </a:rPr>
                <a:t> and </a:t>
              </a:r>
              <a:r>
                <a:rPr lang="en" i="1">
                  <a:solidFill>
                    <a:schemeClr val="dk1"/>
                  </a:solidFill>
                </a:rPr>
                <a:t>M</a:t>
              </a:r>
              <a:r>
                <a:rPr lang="en" sz="800">
                  <a:solidFill>
                    <a:schemeClr val="dk1"/>
                  </a:solidFill>
                </a:rPr>
                <a:t>1</a:t>
              </a:r>
              <a:endParaRPr sz="1000"/>
            </a:p>
          </p:txBody>
        </p:sp>
        <p:cxnSp>
          <p:nvCxnSpPr>
            <p:cNvPr id="13" name="Google Shape;508;p49">
              <a:extLst>
                <a:ext uri="{FF2B5EF4-FFF2-40B4-BE49-F238E27FC236}">
                  <a16:creationId xmlns:a16="http://schemas.microsoft.com/office/drawing/2014/main" id="{01C57794-139C-619C-2D66-AD5DA54D2FA5}"/>
                </a:ext>
              </a:extLst>
            </p:cNvPr>
            <p:cNvCxnSpPr/>
            <p:nvPr/>
          </p:nvCxnSpPr>
          <p:spPr>
            <a:xfrm>
              <a:off x="8176045" y="3715497"/>
              <a:ext cx="2322300" cy="0"/>
            </a:xfrm>
            <a:prstGeom prst="straightConnector1">
              <a:avLst/>
            </a:prstGeom>
            <a:noFill/>
            <a:ln w="28575" cap="flat" cmpd="sng">
              <a:solidFill>
                <a:schemeClr val="dk1"/>
              </a:solidFill>
              <a:prstDash val="solid"/>
              <a:round/>
              <a:headEnd type="triangle" w="med" len="med"/>
              <a:tailEnd type="none" w="med" len="med"/>
            </a:ln>
          </p:spPr>
        </p:cxnSp>
        <p:sp>
          <p:nvSpPr>
            <p:cNvPr id="14" name="Google Shape;509;p49">
              <a:extLst>
                <a:ext uri="{FF2B5EF4-FFF2-40B4-BE49-F238E27FC236}">
                  <a16:creationId xmlns:a16="http://schemas.microsoft.com/office/drawing/2014/main" id="{65A182E6-A361-4BE8-5A4A-7BF5525C9A67}"/>
                </a:ext>
              </a:extLst>
            </p:cNvPr>
            <p:cNvSpPr txBox="1"/>
            <p:nvPr/>
          </p:nvSpPr>
          <p:spPr>
            <a:xfrm>
              <a:off x="8176050" y="3363962"/>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sz="800" i="1">
                  <a:solidFill>
                    <a:schemeClr val="dk1"/>
                  </a:solidFill>
                </a:rPr>
                <a:t>b</a:t>
              </a:r>
              <a:r>
                <a:rPr lang="en">
                  <a:solidFill>
                    <a:schemeClr val="dk1"/>
                  </a:solidFill>
                </a:rPr>
                <a:t>)</a:t>
              </a:r>
              <a:endParaRPr sz="1000"/>
            </a:p>
          </p:txBody>
        </p:sp>
        <p:cxnSp>
          <p:nvCxnSpPr>
            <p:cNvPr id="15" name="Google Shape;510;p49">
              <a:extLst>
                <a:ext uri="{FF2B5EF4-FFF2-40B4-BE49-F238E27FC236}">
                  <a16:creationId xmlns:a16="http://schemas.microsoft.com/office/drawing/2014/main" id="{834E28FF-7626-A670-05AD-7C6FDE5BF503}"/>
                </a:ext>
              </a:extLst>
            </p:cNvPr>
            <p:cNvCxnSpPr/>
            <p:nvPr/>
          </p:nvCxnSpPr>
          <p:spPr>
            <a:xfrm>
              <a:off x="8176063" y="4142085"/>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6" name="Google Shape;511;p49">
              <a:extLst>
                <a:ext uri="{FF2B5EF4-FFF2-40B4-BE49-F238E27FC236}">
                  <a16:creationId xmlns:a16="http://schemas.microsoft.com/office/drawing/2014/main" id="{97C7B0B3-4C0C-94D0-6817-1E39CF131648}"/>
                </a:ext>
              </a:extLst>
            </p:cNvPr>
            <p:cNvSpPr txBox="1"/>
            <p:nvPr/>
          </p:nvSpPr>
          <p:spPr>
            <a:xfrm>
              <a:off x="8176068" y="3848569"/>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17" name="Google Shape;512;p49">
              <a:extLst>
                <a:ext uri="{FF2B5EF4-FFF2-40B4-BE49-F238E27FC236}">
                  <a16:creationId xmlns:a16="http://schemas.microsoft.com/office/drawing/2014/main" id="{F3CE44DE-B736-CFD5-F707-203CB7A94C86}"/>
                </a:ext>
              </a:extLst>
            </p:cNvPr>
            <p:cNvCxnSpPr/>
            <p:nvPr/>
          </p:nvCxnSpPr>
          <p:spPr>
            <a:xfrm>
              <a:off x="8176055" y="4597493"/>
              <a:ext cx="2322300" cy="0"/>
            </a:xfrm>
            <a:prstGeom prst="straightConnector1">
              <a:avLst/>
            </a:prstGeom>
            <a:noFill/>
            <a:ln w="28575" cap="flat" cmpd="sng">
              <a:solidFill>
                <a:schemeClr val="dk1"/>
              </a:solidFill>
              <a:prstDash val="solid"/>
              <a:round/>
              <a:headEnd type="triangle" w="med" len="med"/>
              <a:tailEnd type="none" w="med" len="med"/>
            </a:ln>
          </p:spPr>
        </p:cxnSp>
        <p:sp>
          <p:nvSpPr>
            <p:cNvPr id="18" name="Google Shape;513;p49">
              <a:extLst>
                <a:ext uri="{FF2B5EF4-FFF2-40B4-BE49-F238E27FC236}">
                  <a16:creationId xmlns:a16="http://schemas.microsoft.com/office/drawing/2014/main" id="{D9D7B9CD-6C2F-0E14-77C3-D721FD38FE3B}"/>
                </a:ext>
              </a:extLst>
            </p:cNvPr>
            <p:cNvSpPr txBox="1"/>
            <p:nvPr/>
          </p:nvSpPr>
          <p:spPr>
            <a:xfrm>
              <a:off x="8176060" y="42459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cxnSp>
          <p:nvCxnSpPr>
            <p:cNvPr id="19" name="Google Shape;514;p49">
              <a:extLst>
                <a:ext uri="{FF2B5EF4-FFF2-40B4-BE49-F238E27FC236}">
                  <a16:creationId xmlns:a16="http://schemas.microsoft.com/office/drawing/2014/main" id="{B789FFF5-3AE4-F868-109B-B410625FBFEC}"/>
                </a:ext>
              </a:extLst>
            </p:cNvPr>
            <p:cNvCxnSpPr/>
            <p:nvPr/>
          </p:nvCxnSpPr>
          <p:spPr>
            <a:xfrm>
              <a:off x="8208022" y="5109529"/>
              <a:ext cx="0" cy="412200"/>
            </a:xfrm>
            <a:prstGeom prst="straightConnector1">
              <a:avLst/>
            </a:prstGeom>
            <a:noFill/>
            <a:ln w="28575" cap="flat" cmpd="sng">
              <a:solidFill>
                <a:schemeClr val="dk1"/>
              </a:solidFill>
              <a:prstDash val="solid"/>
              <a:round/>
              <a:headEnd type="none" w="med" len="med"/>
              <a:tailEnd type="triangle" w="med" len="med"/>
            </a:ln>
          </p:spPr>
        </p:cxnSp>
        <p:sp>
          <p:nvSpPr>
            <p:cNvPr id="20" name="Google Shape;515;p49">
              <a:extLst>
                <a:ext uri="{FF2B5EF4-FFF2-40B4-BE49-F238E27FC236}">
                  <a16:creationId xmlns:a16="http://schemas.microsoft.com/office/drawing/2014/main" id="{96505193-21F0-8317-CB36-2CF561068580}"/>
                </a:ext>
              </a:extLst>
            </p:cNvPr>
            <p:cNvSpPr txBox="1"/>
            <p:nvPr/>
          </p:nvSpPr>
          <p:spPr>
            <a:xfrm>
              <a:off x="8208018" y="5072436"/>
              <a:ext cx="2235742" cy="65707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dirty="0">
                  <a:solidFill>
                    <a:schemeClr val="dk1"/>
                  </a:solidFill>
                </a:rPr>
                <a:t>Guess </a:t>
              </a:r>
              <a:r>
                <a:rPr lang="en" i="1" dirty="0">
                  <a:solidFill>
                    <a:schemeClr val="dk1"/>
                  </a:solidFill>
                </a:rPr>
                <a:t>b</a:t>
              </a:r>
              <a:r>
                <a:rPr lang="en" dirty="0">
                  <a:solidFill>
                    <a:schemeClr val="dk1"/>
                  </a:solidFill>
                </a:rPr>
                <a:t> = 0 or </a:t>
              </a:r>
              <a:r>
                <a:rPr lang="en" i="1" dirty="0">
                  <a:solidFill>
                    <a:schemeClr val="dk1"/>
                  </a:solidFill>
                </a:rPr>
                <a:t>b</a:t>
              </a:r>
              <a:r>
                <a:rPr lang="en" dirty="0">
                  <a:solidFill>
                    <a:schemeClr val="dk1"/>
                  </a:solidFill>
                </a:rPr>
                <a:t> = 1</a:t>
              </a:r>
              <a:endParaRPr sz="1000" dirty="0"/>
            </a:p>
          </p:txBody>
        </p:sp>
        <p:cxnSp>
          <p:nvCxnSpPr>
            <p:cNvPr id="21" name="Google Shape;516;p49">
              <a:extLst>
                <a:ext uri="{FF2B5EF4-FFF2-40B4-BE49-F238E27FC236}">
                  <a16:creationId xmlns:a16="http://schemas.microsoft.com/office/drawing/2014/main" id="{B10687C4-5FCE-B950-692F-6F0633304D01}"/>
                </a:ext>
              </a:extLst>
            </p:cNvPr>
            <p:cNvCxnSpPr/>
            <p:nvPr/>
          </p:nvCxnSpPr>
          <p:spPr>
            <a:xfrm>
              <a:off x="8080516" y="1876236"/>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22" name="Google Shape;517;p49">
              <a:extLst>
                <a:ext uri="{FF2B5EF4-FFF2-40B4-BE49-F238E27FC236}">
                  <a16:creationId xmlns:a16="http://schemas.microsoft.com/office/drawing/2014/main" id="{73965B39-E1AE-BEB3-2434-F883B7C940FC}"/>
                </a:ext>
              </a:extLst>
            </p:cNvPr>
            <p:cNvCxnSpPr/>
            <p:nvPr/>
          </p:nvCxnSpPr>
          <p:spPr>
            <a:xfrm>
              <a:off x="10571266" y="1876236"/>
              <a:ext cx="0" cy="3452400"/>
            </a:xfrm>
            <a:prstGeom prst="straightConnector1">
              <a:avLst/>
            </a:prstGeom>
            <a:noFill/>
            <a:ln w="28575" cap="flat" cmpd="sng">
              <a:solidFill>
                <a:schemeClr val="dk1"/>
              </a:solidFill>
              <a:prstDash val="solid"/>
              <a:round/>
              <a:headEnd type="none" w="med" len="med"/>
              <a:tailEnd type="none" w="med" len="med"/>
            </a:ln>
          </p:spPr>
        </p:cxnSp>
        <p:sp>
          <p:nvSpPr>
            <p:cNvPr id="23" name="Google Shape;518;p49">
              <a:extLst>
                <a:ext uri="{FF2B5EF4-FFF2-40B4-BE49-F238E27FC236}">
                  <a16:creationId xmlns:a16="http://schemas.microsoft.com/office/drawing/2014/main" id="{9596AC9D-E458-F32C-E4E1-3759D3191FBB}"/>
                </a:ext>
              </a:extLst>
            </p:cNvPr>
            <p:cNvSpPr txBox="1"/>
            <p:nvPr/>
          </p:nvSpPr>
          <p:spPr>
            <a:xfrm>
              <a:off x="10553981" y="4112886"/>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24" name="Google Shape;519;p49">
              <a:extLst>
                <a:ext uri="{FF2B5EF4-FFF2-40B4-BE49-F238E27FC236}">
                  <a16:creationId xmlns:a16="http://schemas.microsoft.com/office/drawing/2014/main" id="{064F3607-D626-AC96-1E7F-653430B796C4}"/>
                </a:ext>
              </a:extLst>
            </p:cNvPr>
            <p:cNvSpPr txBox="1"/>
            <p:nvPr/>
          </p:nvSpPr>
          <p:spPr>
            <a:xfrm>
              <a:off x="10594163" y="3212807"/>
              <a:ext cx="7908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a:solidFill>
                    <a:schemeClr val="dk1"/>
                  </a:solidFill>
                </a:rPr>
                <a:t>pick </a:t>
              </a:r>
              <a:r>
                <a:rPr lang="en" sz="1200" i="1">
                  <a:solidFill>
                    <a:schemeClr val="dk1"/>
                  </a:solidFill>
                </a:rPr>
                <a:t>b</a:t>
              </a:r>
              <a:endParaRPr sz="1200" i="1"/>
            </a:p>
          </p:txBody>
        </p:sp>
      </p:grpSp>
      <p:sp>
        <p:nvSpPr>
          <p:cNvPr id="27" name="Rectangle 2">
            <a:extLst>
              <a:ext uri="{FF2B5EF4-FFF2-40B4-BE49-F238E27FC236}">
                <a16:creationId xmlns:a16="http://schemas.microsoft.com/office/drawing/2014/main" id="{12A6B958-FAFD-D440-E5F7-56E222588E6D}"/>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mc:AlternateContent xmlns:mc="http://schemas.openxmlformats.org/markup-compatibility/2006" xmlns:a14="http://schemas.microsoft.com/office/drawing/2010/main">
        <mc:Choice Requires="a14">
          <p:sp>
            <p:nvSpPr>
              <p:cNvPr id="29" name="Google Shape;410;p45">
                <a:extLst>
                  <a:ext uri="{FF2B5EF4-FFF2-40B4-BE49-F238E27FC236}">
                    <a16:creationId xmlns:a16="http://schemas.microsoft.com/office/drawing/2014/main" id="{815586B7-417E-F263-F6F9-26C1FDF9CB44}"/>
                  </a:ext>
                </a:extLst>
              </p:cNvPr>
              <p:cNvSpPr txBox="1">
                <a:spLocks/>
              </p:cNvSpPr>
              <p:nvPr/>
            </p:nvSpPr>
            <p:spPr>
              <a:xfrm>
                <a:off x="838200" y="1260575"/>
                <a:ext cx="5142600" cy="3765600"/>
              </a:xfrm>
              <a:prstGeom prst="rect">
                <a:avLst/>
              </a:prstGeom>
            </p:spPr>
            <p:txBody>
              <a:bodyPr spcFirstLastPara="1" wrap="square" lIns="91425" tIns="91425" rIns="91425" bIns="91425" anchor="t"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spcBef>
                    <a:spcPts val="0"/>
                  </a:spcBef>
                  <a:spcAft>
                    <a:spcPts val="600"/>
                  </a:spcAft>
                  <a:buSzPts val="1800"/>
                  <a:buFont typeface="+mj-lt"/>
                  <a:buAutoNum type="arabicPeriod"/>
                </a:pPr>
                <a:r>
                  <a:rPr lang="en-US" sz="2000" dirty="0"/>
                  <a:t>Eve may choose plaintexts to send to Alice and receives their ciphertexts</a:t>
                </a:r>
              </a:p>
              <a:p>
                <a:pPr marL="571500" indent="-457200">
                  <a:spcBef>
                    <a:spcPts val="0"/>
                  </a:spcBef>
                  <a:spcAft>
                    <a:spcPts val="600"/>
                  </a:spcAft>
                  <a:buSzPts val="1800"/>
                  <a:buFont typeface="+mj-lt"/>
                  <a:buAutoNum type="arabicPeriod"/>
                </a:pPr>
                <a:r>
                  <a:rPr lang="en-US" sz="2000" dirty="0"/>
                  <a:t>Eve issues a pair of plaintexts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Alice</a:t>
                </a:r>
              </a:p>
              <a:p>
                <a:pPr marL="571500" indent="-457200">
                  <a:spcBef>
                    <a:spcPts val="0"/>
                  </a:spcBef>
                  <a:spcAft>
                    <a:spcPts val="600"/>
                  </a:spcAft>
                  <a:buSzPts val="1800"/>
                  <a:buFont typeface="+mj-lt"/>
                  <a:buAutoNum type="arabicPeriod"/>
                </a:pPr>
                <a:r>
                  <a:rPr lang="en-US" sz="2000" dirty="0"/>
                  <a:t>Alice </a:t>
                </a:r>
                <a:r>
                  <a:rPr lang="en-US" sz="2000" b="1" i="1" dirty="0">
                    <a:solidFill>
                      <a:srgbClr val="C00000"/>
                    </a:solidFill>
                  </a:rPr>
                  <a:t>randomly chooses </a:t>
                </a:r>
                <a:r>
                  <a:rPr lang="en-US" sz="2000" dirty="0"/>
                  <a:t>either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to encrypt and sends the encryption back</a:t>
                </a:r>
              </a:p>
              <a:p>
                <a:pPr marL="1028700" lvl="1" indent="-457200">
                  <a:spcBef>
                    <a:spcPts val="0"/>
                  </a:spcBef>
                  <a:spcAft>
                    <a:spcPts val="600"/>
                  </a:spcAft>
                  <a:buSzPts val="1800"/>
                  <a:buFont typeface="+mj-lt"/>
                  <a:buAutoNum type="alphaLcParenR"/>
                </a:pPr>
                <a:r>
                  <a:rPr lang="en-US" sz="1600" dirty="0"/>
                  <a:t>Alice does not tell Eve which one was encrypted!</a:t>
                </a:r>
              </a:p>
              <a:p>
                <a:pPr marL="571500" indent="-457200">
                  <a:spcBef>
                    <a:spcPts val="0"/>
                  </a:spcBef>
                  <a:spcAft>
                    <a:spcPts val="600"/>
                  </a:spcAft>
                  <a:buSzPts val="1800"/>
                  <a:buFont typeface="+mj-lt"/>
                  <a:buAutoNum type="arabicPeriod"/>
                </a:pPr>
                <a:r>
                  <a:rPr lang="en-US" sz="2000" dirty="0"/>
                  <a:t>Eve may </a:t>
                </a:r>
                <a:r>
                  <a:rPr lang="en-US" sz="2000" b="1" i="1" dirty="0">
                    <a:solidFill>
                      <a:srgbClr val="C00000"/>
                    </a:solidFill>
                  </a:rPr>
                  <a:t>again choose plaintexts </a:t>
                </a:r>
                <a:r>
                  <a:rPr lang="en-US" sz="2000" dirty="0"/>
                  <a:t>to send to Alice and receives their ciphertexts</a:t>
                </a:r>
              </a:p>
              <a:p>
                <a:pPr marL="571500" indent="-457200">
                  <a:spcBef>
                    <a:spcPts val="0"/>
                  </a:spcBef>
                  <a:spcAft>
                    <a:spcPts val="600"/>
                  </a:spcAft>
                  <a:buSzPts val="1800"/>
                  <a:buFont typeface="+mj-lt"/>
                  <a:buAutoNum type="arabicPeriod"/>
                </a:pPr>
                <a:r>
                  <a:rPr lang="en-US" sz="2000" dirty="0"/>
                  <a:t>Eventually, Eve </a:t>
                </a:r>
                <a:r>
                  <a:rPr lang="en-US" sz="2000" b="1" i="1" dirty="0">
                    <a:solidFill>
                      <a:srgbClr val="C00000"/>
                    </a:solidFill>
                  </a:rPr>
                  <a:t>outputs a guess </a:t>
                </a:r>
                <a:r>
                  <a:rPr lang="en-US" sz="2000" dirty="0"/>
                  <a:t>as to whether Alice encrypted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a:t>
                </a:r>
              </a:p>
              <a:p>
                <a:pPr marL="571500" indent="-457200">
                  <a:spcBef>
                    <a:spcPts val="0"/>
                  </a:spcBef>
                  <a:spcAft>
                    <a:spcPts val="600"/>
                  </a:spcAft>
                  <a:buSzPts val="1800"/>
                  <a:buFont typeface="+mj-lt"/>
                  <a:buAutoNum type="arabicPeriod"/>
                </a:pPr>
                <a:endParaRPr lang="en-US" sz="2000" dirty="0"/>
              </a:p>
              <a:p>
                <a:pPr marL="571500" indent="-457200">
                  <a:spcBef>
                    <a:spcPts val="0"/>
                  </a:spcBef>
                  <a:spcAft>
                    <a:spcPts val="600"/>
                  </a:spcAft>
                  <a:buSzPts val="1800"/>
                  <a:buFont typeface="+mj-lt"/>
                  <a:buAutoNum type="arabicPeriod"/>
                </a:pPr>
                <a:endParaRPr lang="en-US" sz="2000" dirty="0"/>
              </a:p>
            </p:txBody>
          </p:sp>
        </mc:Choice>
        <mc:Fallback xmlns="">
          <p:sp>
            <p:nvSpPr>
              <p:cNvPr id="29" name="Google Shape;410;p45">
                <a:extLst>
                  <a:ext uri="{FF2B5EF4-FFF2-40B4-BE49-F238E27FC236}">
                    <a16:creationId xmlns:a16="http://schemas.microsoft.com/office/drawing/2014/main" id="{815586B7-417E-F263-F6F9-26C1FDF9CB44}"/>
                  </a:ext>
                </a:extLst>
              </p:cNvPr>
              <p:cNvSpPr txBox="1">
                <a:spLocks noRot="1" noChangeAspect="1" noMove="1" noResize="1" noEditPoints="1" noAdjustHandles="1" noChangeArrowheads="1" noChangeShapeType="1" noTextEdit="1"/>
              </p:cNvSpPr>
              <p:nvPr/>
            </p:nvSpPr>
            <p:spPr>
              <a:xfrm>
                <a:off x="838200" y="1260575"/>
                <a:ext cx="5142600" cy="3765600"/>
              </a:xfrm>
              <a:prstGeom prst="rect">
                <a:avLst/>
              </a:prstGeom>
              <a:blipFill>
                <a:blip r:embed="rId2"/>
                <a:stretch>
                  <a:fillRect t="-485" r="-830"/>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32544115-A908-4C1E-E3E4-CCF857630BC5}"/>
              </a:ext>
            </a:extLst>
          </p:cNvPr>
          <p:cNvSpPr txBox="1"/>
          <p:nvPr/>
        </p:nvSpPr>
        <p:spPr>
          <a:xfrm>
            <a:off x="836627" y="4863168"/>
            <a:ext cx="6094854" cy="1615827"/>
          </a:xfrm>
          <a:prstGeom prst="rect">
            <a:avLst/>
          </a:prstGeom>
          <a:noFill/>
        </p:spPr>
        <p:txBody>
          <a:bodyPr wrap="square">
            <a:spAutoFit/>
          </a:bodyPr>
          <a:lstStyle/>
          <a:p>
            <a:pPr>
              <a:spcAft>
                <a:spcPts val="600"/>
              </a:spcAft>
            </a:pPr>
            <a:r>
              <a:rPr lang="en-US" sz="2200" dirty="0"/>
              <a:t>The security guarantee becomes stronger:</a:t>
            </a:r>
          </a:p>
          <a:p>
            <a:pPr marL="285750" indent="-285750">
              <a:spcAft>
                <a:spcPts val="600"/>
              </a:spcAft>
              <a:buFont typeface="Arial" panose="020B0604020202020204" pitchFamily="34" charset="0"/>
              <a:buChar char="•"/>
            </a:pPr>
            <a:r>
              <a:rPr lang="en-US" dirty="0"/>
              <a:t>Even if Eve (adversary) can encrypt whatever they want, whenever they want, before and after seeing the challenge ciphertext, they </a:t>
            </a:r>
            <a:r>
              <a:rPr lang="en-US" b="1" dirty="0">
                <a:solidFill>
                  <a:srgbClr val="C00000"/>
                </a:solidFill>
              </a:rPr>
              <a:t>STILL</a:t>
            </a:r>
            <a:r>
              <a:rPr lang="en-US" dirty="0"/>
              <a:t> cannot tell which of two messages was encrypted</a:t>
            </a:r>
          </a:p>
        </p:txBody>
      </p:sp>
    </p:spTree>
    <p:extLst>
      <p:ext uri="{BB962C8B-B14F-4D97-AF65-F5344CB8AC3E}">
        <p14:creationId xmlns:p14="http://schemas.microsoft.com/office/powerpoint/2010/main" val="239715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84E55-63DB-45E9-6E29-0660F414515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9EB5654-8500-7090-82B8-155AC10F0792}"/>
              </a:ext>
            </a:extLst>
          </p:cNvPr>
          <p:cNvSpPr txBox="1">
            <a:spLocks noChangeArrowheads="1"/>
          </p:cNvSpPr>
          <p:nvPr/>
        </p:nvSpPr>
        <p:spPr>
          <a:xfrm>
            <a:off x="838200" y="194702"/>
            <a:ext cx="10515600" cy="74768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Defining Confidentiality: IND-CPA </a:t>
            </a:r>
          </a:p>
        </p:txBody>
      </p:sp>
      <mc:AlternateContent xmlns:mc="http://schemas.openxmlformats.org/markup-compatibility/2006" xmlns:a14="http://schemas.microsoft.com/office/drawing/2010/main">
        <mc:Choice Requires="a14">
          <p:sp>
            <p:nvSpPr>
              <p:cNvPr id="3" name="Google Shape;410;p45">
                <a:extLst>
                  <a:ext uri="{FF2B5EF4-FFF2-40B4-BE49-F238E27FC236}">
                    <a16:creationId xmlns:a16="http://schemas.microsoft.com/office/drawing/2014/main" id="{30E64CC3-71C4-C606-2BC3-878016F46D66}"/>
                  </a:ext>
                </a:extLst>
              </p:cNvPr>
              <p:cNvSpPr txBox="1">
                <a:spLocks/>
              </p:cNvSpPr>
              <p:nvPr/>
            </p:nvSpPr>
            <p:spPr>
              <a:xfrm>
                <a:off x="336885" y="1260575"/>
                <a:ext cx="7280823" cy="5009596"/>
              </a:xfrm>
              <a:prstGeom prst="rect">
                <a:avLst/>
              </a:prstGeom>
            </p:spPr>
            <p:txBody>
              <a:bodyPr spcFirstLastPara="1" wrap="square" lIns="91425" tIns="91425" rIns="91425" bIns="91425"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0"/>
                  </a:spcBef>
                  <a:spcAft>
                    <a:spcPts val="600"/>
                  </a:spcAft>
                  <a:buSzPts val="1800"/>
                  <a:buNone/>
                </a:pPr>
                <a:r>
                  <a:rPr lang="en-US" sz="2000" dirty="0"/>
                  <a:t>How does Eve guess whether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0</m:t>
                        </m:r>
                      </m:sub>
                    </m:sSub>
                  </m:oMath>
                </a14:m>
                <a:r>
                  <a:rPr lang="en-US" sz="2000" dirty="0"/>
                  <a:t> or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b="0" i="1" dirty="0" smtClean="0">
                            <a:latin typeface="Cambria Math" panose="02040503050406030204" pitchFamily="18" charset="0"/>
                          </a:rPr>
                          <m:t>1</m:t>
                        </m:r>
                      </m:sub>
                    </m:sSub>
                  </m:oMath>
                </a14:m>
                <a:r>
                  <a:rPr lang="en-US" sz="2000" dirty="0"/>
                  <a:t> was encrypted? What strategy does she use?</a:t>
                </a:r>
              </a:p>
              <a:p>
                <a:pPr marL="457200" indent="-342900">
                  <a:spcBef>
                    <a:spcPts val="0"/>
                  </a:spcBef>
                  <a:spcAft>
                    <a:spcPts val="600"/>
                  </a:spcAft>
                  <a:buSzPts val="1800"/>
                </a:pPr>
                <a:r>
                  <a:rPr lang="en-US" sz="2000" dirty="0"/>
                  <a:t>We don’t assume she uses a particular strategy; Eve could use any possible strategy</a:t>
                </a:r>
              </a:p>
              <a:p>
                <a:pPr marL="114300" indent="0">
                  <a:spcBef>
                    <a:spcPts val="0"/>
                  </a:spcBef>
                  <a:spcAft>
                    <a:spcPts val="600"/>
                  </a:spcAft>
                  <a:buSzPts val="1800"/>
                  <a:buNone/>
                </a:pPr>
                <a:endParaRPr lang="en-US" sz="2000" dirty="0"/>
              </a:p>
              <a:p>
                <a:pPr marL="114300" indent="0">
                  <a:spcBef>
                    <a:spcPts val="0"/>
                  </a:spcBef>
                  <a:spcAft>
                    <a:spcPts val="600"/>
                  </a:spcAft>
                  <a:buSzPts val="1800"/>
                  <a:buNone/>
                </a:pPr>
                <a:r>
                  <a:rPr lang="en-US" sz="2000" dirty="0"/>
                  <a:t>An encryption scheme is IND-CPA secure if for all polynomial time attackers Eve:</a:t>
                </a:r>
              </a:p>
              <a:p>
                <a:pPr marL="457200" indent="-342900">
                  <a:spcBef>
                    <a:spcPts val="0"/>
                  </a:spcBef>
                  <a:spcAft>
                    <a:spcPts val="600"/>
                  </a:spcAft>
                  <a:buSzPts val="1800"/>
                </a:pPr>
                <a:r>
                  <a:rPr lang="en-US" sz="2000" dirty="0"/>
                  <a:t>Eve can win with probability ≤ 1/2 + Ɛ, where Ɛ is negligible (e.g., Ɛ ≤ </a:t>
                </a:r>
                <a:r>
                  <a:rPr lang="en" sz="2000" dirty="0"/>
                  <a:t>1/2</a:t>
                </a:r>
                <a:r>
                  <a:rPr lang="en" sz="2000" baseline="30000" dirty="0"/>
                  <a:t>128</a:t>
                </a:r>
                <a:r>
                  <a:rPr lang="en-US" sz="2000" dirty="0"/>
                  <a:t>)</a:t>
                </a:r>
              </a:p>
              <a:p>
                <a:pPr marL="114300" indent="0">
                  <a:spcBef>
                    <a:spcPts val="0"/>
                  </a:spcBef>
                  <a:spcAft>
                    <a:spcPts val="600"/>
                  </a:spcAft>
                  <a:buSzPts val="1800"/>
                  <a:buNone/>
                </a:pPr>
                <a:endParaRPr lang="en-US" sz="2000" dirty="0"/>
              </a:p>
              <a:p>
                <a:pPr marL="114300" indent="0">
                  <a:spcBef>
                    <a:spcPts val="0"/>
                  </a:spcBef>
                  <a:spcAft>
                    <a:spcPts val="600"/>
                  </a:spcAft>
                  <a:buSzPts val="1800"/>
                  <a:buNone/>
                </a:pPr>
                <a:r>
                  <a:rPr lang="en-US" sz="2000" dirty="0"/>
                  <a:t>Proving insecurity: There exists at least one strategy that can win the IND-CPA game with probability &gt; 1/2 </a:t>
                </a:r>
              </a:p>
              <a:p>
                <a:pPr marL="457200" indent="-342900">
                  <a:spcBef>
                    <a:spcPts val="0"/>
                  </a:spcBef>
                  <a:spcAft>
                    <a:spcPts val="600"/>
                  </a:spcAft>
                  <a:buSzPts val="1800"/>
                </a:pPr>
                <a:r>
                  <a:rPr lang="en-US" sz="2000" dirty="0"/>
                  <a:t>1/2 is the probability of winning by random guessing</a:t>
                </a:r>
              </a:p>
              <a:p>
                <a:pPr marL="457200" indent="-342900">
                  <a:spcBef>
                    <a:spcPts val="0"/>
                  </a:spcBef>
                  <a:spcAft>
                    <a:spcPts val="600"/>
                  </a:spcAft>
                  <a:buSzPts val="1800"/>
                </a:pPr>
                <a:r>
                  <a:rPr lang="en-US" sz="2000" dirty="0"/>
                  <a:t>If you can do better than random (e.g., </a:t>
                </a:r>
                <a:r>
                  <a:rPr lang="en" sz="2000" dirty="0"/>
                  <a:t>Ɛ = 1/100</a:t>
                </a:r>
                <a:r>
                  <a:rPr lang="en-US" sz="2000" dirty="0"/>
                  <a:t>), then the ciphertext has leaked information, and Eve is able to learn it and use it to gain an advantage!</a:t>
                </a:r>
              </a:p>
            </p:txBody>
          </p:sp>
        </mc:Choice>
        <mc:Fallback xmlns="">
          <p:sp>
            <p:nvSpPr>
              <p:cNvPr id="3" name="Google Shape;410;p45">
                <a:extLst>
                  <a:ext uri="{FF2B5EF4-FFF2-40B4-BE49-F238E27FC236}">
                    <a16:creationId xmlns:a16="http://schemas.microsoft.com/office/drawing/2014/main" id="{30E64CC3-71C4-C606-2BC3-878016F46D66}"/>
                  </a:ext>
                </a:extLst>
              </p:cNvPr>
              <p:cNvSpPr txBox="1">
                <a:spLocks noRot="1" noChangeAspect="1" noMove="1" noResize="1" noEditPoints="1" noAdjustHandles="1" noChangeArrowheads="1" noChangeShapeType="1" noTextEdit="1"/>
              </p:cNvSpPr>
              <p:nvPr/>
            </p:nvSpPr>
            <p:spPr>
              <a:xfrm>
                <a:off x="336885" y="1260575"/>
                <a:ext cx="7280823" cy="5009596"/>
              </a:xfrm>
              <a:prstGeom prst="rect">
                <a:avLst/>
              </a:prstGeom>
              <a:blipFill>
                <a:blip r:embed="rId2"/>
                <a:stretch>
                  <a:fillRect t="-730" r="-1590"/>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8D3F6555-FFA1-17C8-BE13-89E41D863111}"/>
              </a:ext>
            </a:extLst>
          </p:cNvPr>
          <p:cNvGrpSpPr/>
          <p:nvPr/>
        </p:nvGrpSpPr>
        <p:grpSpPr>
          <a:xfrm>
            <a:off x="7892729" y="1260575"/>
            <a:ext cx="3461071" cy="4222573"/>
            <a:chOff x="7923892" y="1506936"/>
            <a:chExt cx="3461071" cy="4222573"/>
          </a:xfrm>
        </p:grpSpPr>
        <p:sp>
          <p:nvSpPr>
            <p:cNvPr id="16" name="Google Shape;497;p49">
              <a:extLst>
                <a:ext uri="{FF2B5EF4-FFF2-40B4-BE49-F238E27FC236}">
                  <a16:creationId xmlns:a16="http://schemas.microsoft.com/office/drawing/2014/main" id="{3686245F-5826-58F2-1901-4B12AD756305}"/>
                </a:ext>
              </a:extLst>
            </p:cNvPr>
            <p:cNvSpPr/>
            <p:nvPr/>
          </p:nvSpPr>
          <p:spPr>
            <a:xfrm>
              <a:off x="8123243" y="2031913"/>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498;p49">
              <a:extLst>
                <a:ext uri="{FF2B5EF4-FFF2-40B4-BE49-F238E27FC236}">
                  <a16:creationId xmlns:a16="http://schemas.microsoft.com/office/drawing/2014/main" id="{D18C0FB3-7BD2-D641-9D66-37C8A6319E65}"/>
                </a:ext>
              </a:extLst>
            </p:cNvPr>
            <p:cNvCxnSpPr/>
            <p:nvPr/>
          </p:nvCxnSpPr>
          <p:spPr>
            <a:xfrm>
              <a:off x="8176063" y="2313285"/>
              <a:ext cx="2322300" cy="0"/>
            </a:xfrm>
            <a:prstGeom prst="straightConnector1">
              <a:avLst/>
            </a:prstGeom>
            <a:noFill/>
            <a:ln w="28575" cap="flat" cmpd="sng">
              <a:solidFill>
                <a:schemeClr val="dk1"/>
              </a:solidFill>
              <a:prstDash val="solid"/>
              <a:round/>
              <a:headEnd type="none" w="med" len="med"/>
              <a:tailEnd type="triangle" w="med" len="med"/>
            </a:ln>
          </p:spPr>
        </p:cxnSp>
        <p:sp>
          <p:nvSpPr>
            <p:cNvPr id="18" name="Google Shape;499;p49">
              <a:extLst>
                <a:ext uri="{FF2B5EF4-FFF2-40B4-BE49-F238E27FC236}">
                  <a16:creationId xmlns:a16="http://schemas.microsoft.com/office/drawing/2014/main" id="{2F4998AD-9FE9-18E9-4FC2-DDBD9C5D81BF}"/>
                </a:ext>
              </a:extLst>
            </p:cNvPr>
            <p:cNvSpPr txBox="1"/>
            <p:nvPr/>
          </p:nvSpPr>
          <p:spPr>
            <a:xfrm>
              <a:off x="8176068" y="2019769"/>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dirty="0">
                  <a:solidFill>
                    <a:schemeClr val="dk1"/>
                  </a:solidFill>
                </a:rPr>
                <a:t>M</a:t>
              </a:r>
              <a:endParaRPr sz="1000" i="1" dirty="0"/>
            </a:p>
          </p:txBody>
        </p:sp>
        <p:cxnSp>
          <p:nvCxnSpPr>
            <p:cNvPr id="19" name="Google Shape;500;p49">
              <a:extLst>
                <a:ext uri="{FF2B5EF4-FFF2-40B4-BE49-F238E27FC236}">
                  <a16:creationId xmlns:a16="http://schemas.microsoft.com/office/drawing/2014/main" id="{D364B3C3-F060-2D97-5FD3-39BDA9258466}"/>
                </a:ext>
              </a:extLst>
            </p:cNvPr>
            <p:cNvCxnSpPr/>
            <p:nvPr/>
          </p:nvCxnSpPr>
          <p:spPr>
            <a:xfrm>
              <a:off x="8176055" y="2768693"/>
              <a:ext cx="2322300" cy="0"/>
            </a:xfrm>
            <a:prstGeom prst="straightConnector1">
              <a:avLst/>
            </a:prstGeom>
            <a:noFill/>
            <a:ln w="28575" cap="flat" cmpd="sng">
              <a:solidFill>
                <a:schemeClr val="dk1"/>
              </a:solidFill>
              <a:prstDash val="solid"/>
              <a:round/>
              <a:headEnd type="triangle" w="med" len="med"/>
              <a:tailEnd type="none" w="med" len="med"/>
            </a:ln>
          </p:spPr>
        </p:cxnSp>
        <p:sp>
          <p:nvSpPr>
            <p:cNvPr id="20" name="Google Shape;501;p49">
              <a:extLst>
                <a:ext uri="{FF2B5EF4-FFF2-40B4-BE49-F238E27FC236}">
                  <a16:creationId xmlns:a16="http://schemas.microsoft.com/office/drawing/2014/main" id="{E4E63F66-C261-882D-95AF-29380044EA84}"/>
                </a:ext>
              </a:extLst>
            </p:cNvPr>
            <p:cNvSpPr txBox="1"/>
            <p:nvPr/>
          </p:nvSpPr>
          <p:spPr>
            <a:xfrm>
              <a:off x="8176060" y="24171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sp>
          <p:nvSpPr>
            <p:cNvPr id="21" name="Google Shape;502;p49">
              <a:extLst>
                <a:ext uri="{FF2B5EF4-FFF2-40B4-BE49-F238E27FC236}">
                  <a16:creationId xmlns:a16="http://schemas.microsoft.com/office/drawing/2014/main" id="{D5357A67-9FA2-FA2D-3D71-3C864023A2E3}"/>
                </a:ext>
              </a:extLst>
            </p:cNvPr>
            <p:cNvSpPr txBox="1"/>
            <p:nvPr/>
          </p:nvSpPr>
          <p:spPr>
            <a:xfrm>
              <a:off x="10553981" y="2284086"/>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22" name="Google Shape;503;p49">
              <a:extLst>
                <a:ext uri="{FF2B5EF4-FFF2-40B4-BE49-F238E27FC236}">
                  <a16:creationId xmlns:a16="http://schemas.microsoft.com/office/drawing/2014/main" id="{F74F9E50-5007-1DDE-7D53-FE826EA213B4}"/>
                </a:ext>
              </a:extLst>
            </p:cNvPr>
            <p:cNvSpPr/>
            <p:nvPr/>
          </p:nvSpPr>
          <p:spPr>
            <a:xfrm>
              <a:off x="8123243" y="3860713"/>
              <a:ext cx="3211500" cy="855900"/>
            </a:xfrm>
            <a:prstGeom prst="rect">
              <a:avLst/>
            </a:pr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04;p49">
              <a:extLst>
                <a:ext uri="{FF2B5EF4-FFF2-40B4-BE49-F238E27FC236}">
                  <a16:creationId xmlns:a16="http://schemas.microsoft.com/office/drawing/2014/main" id="{20AEAA29-6B55-6B20-F36F-ED1E4FFD4EEA}"/>
                </a:ext>
              </a:extLst>
            </p:cNvPr>
            <p:cNvSpPr txBox="1"/>
            <p:nvPr/>
          </p:nvSpPr>
          <p:spPr>
            <a:xfrm>
              <a:off x="9425620" y="1506936"/>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Alice (challenger)</a:t>
              </a:r>
              <a:endParaRPr sz="1200"/>
            </a:p>
          </p:txBody>
        </p:sp>
        <p:sp>
          <p:nvSpPr>
            <p:cNvPr id="24" name="Google Shape;505;p49">
              <a:extLst>
                <a:ext uri="{FF2B5EF4-FFF2-40B4-BE49-F238E27FC236}">
                  <a16:creationId xmlns:a16="http://schemas.microsoft.com/office/drawing/2014/main" id="{0B25C1F2-C777-FC4B-C738-E244D0BB2264}"/>
                </a:ext>
              </a:extLst>
            </p:cNvPr>
            <p:cNvSpPr txBox="1"/>
            <p:nvPr/>
          </p:nvSpPr>
          <p:spPr>
            <a:xfrm>
              <a:off x="7923892" y="1506936"/>
              <a:ext cx="1368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Eve (adversary)</a:t>
              </a:r>
              <a:endParaRPr sz="1200"/>
            </a:p>
          </p:txBody>
        </p:sp>
        <p:cxnSp>
          <p:nvCxnSpPr>
            <p:cNvPr id="25" name="Google Shape;506;p49">
              <a:extLst>
                <a:ext uri="{FF2B5EF4-FFF2-40B4-BE49-F238E27FC236}">
                  <a16:creationId xmlns:a16="http://schemas.microsoft.com/office/drawing/2014/main" id="{9BF86617-C493-82CF-7C07-BCDDDC6FFCC7}"/>
                </a:ext>
              </a:extLst>
            </p:cNvPr>
            <p:cNvCxnSpPr/>
            <p:nvPr/>
          </p:nvCxnSpPr>
          <p:spPr>
            <a:xfrm>
              <a:off x="8176054" y="3260089"/>
              <a:ext cx="2322300" cy="0"/>
            </a:xfrm>
            <a:prstGeom prst="straightConnector1">
              <a:avLst/>
            </a:prstGeom>
            <a:noFill/>
            <a:ln w="28575" cap="flat" cmpd="sng">
              <a:solidFill>
                <a:schemeClr val="dk1"/>
              </a:solidFill>
              <a:prstDash val="solid"/>
              <a:round/>
              <a:headEnd type="none" w="med" len="med"/>
              <a:tailEnd type="triangle" w="med" len="med"/>
            </a:ln>
          </p:spPr>
        </p:cxnSp>
        <p:sp>
          <p:nvSpPr>
            <p:cNvPr id="26" name="Google Shape;507;p49">
              <a:extLst>
                <a:ext uri="{FF2B5EF4-FFF2-40B4-BE49-F238E27FC236}">
                  <a16:creationId xmlns:a16="http://schemas.microsoft.com/office/drawing/2014/main" id="{CCA62A11-C17C-134D-EF7B-C214E24E4B8C}"/>
                </a:ext>
              </a:extLst>
            </p:cNvPr>
            <p:cNvSpPr txBox="1"/>
            <p:nvPr/>
          </p:nvSpPr>
          <p:spPr>
            <a:xfrm>
              <a:off x="8176059" y="2908554"/>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r>
                <a:rPr lang="en" sz="800">
                  <a:solidFill>
                    <a:schemeClr val="dk1"/>
                  </a:solidFill>
                </a:rPr>
                <a:t>0</a:t>
              </a:r>
              <a:r>
                <a:rPr lang="en">
                  <a:solidFill>
                    <a:schemeClr val="dk1"/>
                  </a:solidFill>
                </a:rPr>
                <a:t> and </a:t>
              </a:r>
              <a:r>
                <a:rPr lang="en" i="1">
                  <a:solidFill>
                    <a:schemeClr val="dk1"/>
                  </a:solidFill>
                </a:rPr>
                <a:t>M</a:t>
              </a:r>
              <a:r>
                <a:rPr lang="en" sz="800">
                  <a:solidFill>
                    <a:schemeClr val="dk1"/>
                  </a:solidFill>
                </a:rPr>
                <a:t>1</a:t>
              </a:r>
              <a:endParaRPr sz="1000"/>
            </a:p>
          </p:txBody>
        </p:sp>
        <p:cxnSp>
          <p:nvCxnSpPr>
            <p:cNvPr id="27" name="Google Shape;508;p49">
              <a:extLst>
                <a:ext uri="{FF2B5EF4-FFF2-40B4-BE49-F238E27FC236}">
                  <a16:creationId xmlns:a16="http://schemas.microsoft.com/office/drawing/2014/main" id="{9F70745F-0B9A-1D53-97AE-67E5BDACDEB4}"/>
                </a:ext>
              </a:extLst>
            </p:cNvPr>
            <p:cNvCxnSpPr/>
            <p:nvPr/>
          </p:nvCxnSpPr>
          <p:spPr>
            <a:xfrm>
              <a:off x="8176045" y="3715497"/>
              <a:ext cx="2322300" cy="0"/>
            </a:xfrm>
            <a:prstGeom prst="straightConnector1">
              <a:avLst/>
            </a:prstGeom>
            <a:noFill/>
            <a:ln w="28575" cap="flat" cmpd="sng">
              <a:solidFill>
                <a:schemeClr val="dk1"/>
              </a:solidFill>
              <a:prstDash val="solid"/>
              <a:round/>
              <a:headEnd type="triangle" w="med" len="med"/>
              <a:tailEnd type="none" w="med" len="med"/>
            </a:ln>
          </p:spPr>
        </p:cxnSp>
        <p:sp>
          <p:nvSpPr>
            <p:cNvPr id="28" name="Google Shape;509;p49">
              <a:extLst>
                <a:ext uri="{FF2B5EF4-FFF2-40B4-BE49-F238E27FC236}">
                  <a16:creationId xmlns:a16="http://schemas.microsoft.com/office/drawing/2014/main" id="{1453157D-C6F0-3DCB-4BEB-CFE0E7CDF3AB}"/>
                </a:ext>
              </a:extLst>
            </p:cNvPr>
            <p:cNvSpPr txBox="1"/>
            <p:nvPr/>
          </p:nvSpPr>
          <p:spPr>
            <a:xfrm>
              <a:off x="8176050" y="3363962"/>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sz="800" i="1">
                  <a:solidFill>
                    <a:schemeClr val="dk1"/>
                  </a:solidFill>
                </a:rPr>
                <a:t>b</a:t>
              </a:r>
              <a:r>
                <a:rPr lang="en">
                  <a:solidFill>
                    <a:schemeClr val="dk1"/>
                  </a:solidFill>
                </a:rPr>
                <a:t>)</a:t>
              </a:r>
              <a:endParaRPr sz="1000"/>
            </a:p>
          </p:txBody>
        </p:sp>
        <p:cxnSp>
          <p:nvCxnSpPr>
            <p:cNvPr id="29" name="Google Shape;510;p49">
              <a:extLst>
                <a:ext uri="{FF2B5EF4-FFF2-40B4-BE49-F238E27FC236}">
                  <a16:creationId xmlns:a16="http://schemas.microsoft.com/office/drawing/2014/main" id="{4B66C758-4940-72B7-6443-60F5B77CA024}"/>
                </a:ext>
              </a:extLst>
            </p:cNvPr>
            <p:cNvCxnSpPr/>
            <p:nvPr/>
          </p:nvCxnSpPr>
          <p:spPr>
            <a:xfrm>
              <a:off x="8176063" y="4142085"/>
              <a:ext cx="2322300" cy="0"/>
            </a:xfrm>
            <a:prstGeom prst="straightConnector1">
              <a:avLst/>
            </a:prstGeom>
            <a:noFill/>
            <a:ln w="28575" cap="flat" cmpd="sng">
              <a:solidFill>
                <a:schemeClr val="dk1"/>
              </a:solidFill>
              <a:prstDash val="solid"/>
              <a:round/>
              <a:headEnd type="none" w="med" len="med"/>
              <a:tailEnd type="triangle" w="med" len="med"/>
            </a:ln>
          </p:spPr>
        </p:cxnSp>
        <p:sp>
          <p:nvSpPr>
            <p:cNvPr id="30" name="Google Shape;511;p49">
              <a:extLst>
                <a:ext uri="{FF2B5EF4-FFF2-40B4-BE49-F238E27FC236}">
                  <a16:creationId xmlns:a16="http://schemas.microsoft.com/office/drawing/2014/main" id="{1699E0EC-1B1A-934A-9043-D4F1B5327944}"/>
                </a:ext>
              </a:extLst>
            </p:cNvPr>
            <p:cNvSpPr txBox="1"/>
            <p:nvPr/>
          </p:nvSpPr>
          <p:spPr>
            <a:xfrm>
              <a:off x="8176068" y="3848569"/>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i="1">
                  <a:solidFill>
                    <a:schemeClr val="dk1"/>
                  </a:solidFill>
                </a:rPr>
                <a:t>M</a:t>
              </a:r>
              <a:endParaRPr sz="1000" i="1"/>
            </a:p>
          </p:txBody>
        </p:sp>
        <p:cxnSp>
          <p:nvCxnSpPr>
            <p:cNvPr id="31" name="Google Shape;512;p49">
              <a:extLst>
                <a:ext uri="{FF2B5EF4-FFF2-40B4-BE49-F238E27FC236}">
                  <a16:creationId xmlns:a16="http://schemas.microsoft.com/office/drawing/2014/main" id="{444D4BB0-8A3E-66EB-3693-AB72C95D1D10}"/>
                </a:ext>
              </a:extLst>
            </p:cNvPr>
            <p:cNvCxnSpPr/>
            <p:nvPr/>
          </p:nvCxnSpPr>
          <p:spPr>
            <a:xfrm>
              <a:off x="8176055" y="4597493"/>
              <a:ext cx="2322300" cy="0"/>
            </a:xfrm>
            <a:prstGeom prst="straightConnector1">
              <a:avLst/>
            </a:prstGeom>
            <a:noFill/>
            <a:ln w="28575" cap="flat" cmpd="sng">
              <a:solidFill>
                <a:schemeClr val="dk1"/>
              </a:solidFill>
              <a:prstDash val="solid"/>
              <a:round/>
              <a:headEnd type="triangle" w="med" len="med"/>
              <a:tailEnd type="none" w="med" len="med"/>
            </a:ln>
          </p:spPr>
        </p:cxnSp>
        <p:sp>
          <p:nvSpPr>
            <p:cNvPr id="32" name="Google Shape;513;p49">
              <a:extLst>
                <a:ext uri="{FF2B5EF4-FFF2-40B4-BE49-F238E27FC236}">
                  <a16:creationId xmlns:a16="http://schemas.microsoft.com/office/drawing/2014/main" id="{CD9D2D0B-9DB9-6BCF-C6B5-585B88F1D080}"/>
                </a:ext>
              </a:extLst>
            </p:cNvPr>
            <p:cNvSpPr txBox="1"/>
            <p:nvPr/>
          </p:nvSpPr>
          <p:spPr>
            <a:xfrm>
              <a:off x="8176060" y="4245958"/>
              <a:ext cx="23223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a:solidFill>
                    <a:schemeClr val="dk1"/>
                  </a:solidFill>
                </a:rPr>
                <a:t>Enc(</a:t>
              </a:r>
              <a:r>
                <a:rPr lang="en" i="1">
                  <a:solidFill>
                    <a:schemeClr val="dk1"/>
                  </a:solidFill>
                </a:rPr>
                <a:t>K</a:t>
              </a:r>
              <a:r>
                <a:rPr lang="en">
                  <a:solidFill>
                    <a:schemeClr val="dk1"/>
                  </a:solidFill>
                </a:rPr>
                <a:t>, </a:t>
              </a:r>
              <a:r>
                <a:rPr lang="en" i="1">
                  <a:solidFill>
                    <a:schemeClr val="dk1"/>
                  </a:solidFill>
                </a:rPr>
                <a:t>M</a:t>
              </a:r>
              <a:r>
                <a:rPr lang="en">
                  <a:solidFill>
                    <a:schemeClr val="dk1"/>
                  </a:solidFill>
                </a:rPr>
                <a:t>)</a:t>
              </a:r>
              <a:endParaRPr sz="1000"/>
            </a:p>
          </p:txBody>
        </p:sp>
        <p:cxnSp>
          <p:nvCxnSpPr>
            <p:cNvPr id="33" name="Google Shape;514;p49">
              <a:extLst>
                <a:ext uri="{FF2B5EF4-FFF2-40B4-BE49-F238E27FC236}">
                  <a16:creationId xmlns:a16="http://schemas.microsoft.com/office/drawing/2014/main" id="{26A7FD17-7271-841E-4F9A-24C73C0ADEF9}"/>
                </a:ext>
              </a:extLst>
            </p:cNvPr>
            <p:cNvCxnSpPr/>
            <p:nvPr/>
          </p:nvCxnSpPr>
          <p:spPr>
            <a:xfrm>
              <a:off x="8208022" y="5109529"/>
              <a:ext cx="0" cy="412200"/>
            </a:xfrm>
            <a:prstGeom prst="straightConnector1">
              <a:avLst/>
            </a:prstGeom>
            <a:noFill/>
            <a:ln w="28575" cap="flat" cmpd="sng">
              <a:solidFill>
                <a:schemeClr val="dk1"/>
              </a:solidFill>
              <a:prstDash val="solid"/>
              <a:round/>
              <a:headEnd type="none" w="med" len="med"/>
              <a:tailEnd type="triangle" w="med" len="med"/>
            </a:ln>
          </p:spPr>
        </p:cxnSp>
        <p:sp>
          <p:nvSpPr>
            <p:cNvPr id="34" name="Google Shape;515;p49">
              <a:extLst>
                <a:ext uri="{FF2B5EF4-FFF2-40B4-BE49-F238E27FC236}">
                  <a16:creationId xmlns:a16="http://schemas.microsoft.com/office/drawing/2014/main" id="{75F2BED5-FE31-62C2-0918-6CFDFEACC248}"/>
                </a:ext>
              </a:extLst>
            </p:cNvPr>
            <p:cNvSpPr txBox="1"/>
            <p:nvPr/>
          </p:nvSpPr>
          <p:spPr>
            <a:xfrm>
              <a:off x="8208018" y="5072436"/>
              <a:ext cx="2235742" cy="65707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dirty="0">
                  <a:solidFill>
                    <a:schemeClr val="dk1"/>
                  </a:solidFill>
                </a:rPr>
                <a:t>Guess </a:t>
              </a:r>
              <a:r>
                <a:rPr lang="en" i="1" dirty="0">
                  <a:solidFill>
                    <a:schemeClr val="dk1"/>
                  </a:solidFill>
                </a:rPr>
                <a:t>b</a:t>
              </a:r>
              <a:r>
                <a:rPr lang="en" dirty="0">
                  <a:solidFill>
                    <a:schemeClr val="dk1"/>
                  </a:solidFill>
                </a:rPr>
                <a:t> = 0 or </a:t>
              </a:r>
              <a:r>
                <a:rPr lang="en" i="1" dirty="0">
                  <a:solidFill>
                    <a:schemeClr val="dk1"/>
                  </a:solidFill>
                </a:rPr>
                <a:t>b</a:t>
              </a:r>
              <a:r>
                <a:rPr lang="en" dirty="0">
                  <a:solidFill>
                    <a:schemeClr val="dk1"/>
                  </a:solidFill>
                </a:rPr>
                <a:t> = 1</a:t>
              </a:r>
              <a:endParaRPr sz="1000" dirty="0"/>
            </a:p>
          </p:txBody>
        </p:sp>
        <p:cxnSp>
          <p:nvCxnSpPr>
            <p:cNvPr id="35" name="Google Shape;516;p49">
              <a:extLst>
                <a:ext uri="{FF2B5EF4-FFF2-40B4-BE49-F238E27FC236}">
                  <a16:creationId xmlns:a16="http://schemas.microsoft.com/office/drawing/2014/main" id="{6C54427D-28CE-1177-9F52-49B6F8493156}"/>
                </a:ext>
              </a:extLst>
            </p:cNvPr>
            <p:cNvCxnSpPr/>
            <p:nvPr/>
          </p:nvCxnSpPr>
          <p:spPr>
            <a:xfrm>
              <a:off x="8080516" y="1876236"/>
              <a:ext cx="0" cy="3452400"/>
            </a:xfrm>
            <a:prstGeom prst="straightConnector1">
              <a:avLst/>
            </a:prstGeom>
            <a:noFill/>
            <a:ln w="28575" cap="flat" cmpd="sng">
              <a:solidFill>
                <a:schemeClr val="dk1"/>
              </a:solidFill>
              <a:prstDash val="solid"/>
              <a:round/>
              <a:headEnd type="none" w="med" len="med"/>
              <a:tailEnd type="none" w="med" len="med"/>
            </a:ln>
          </p:spPr>
        </p:cxnSp>
        <p:cxnSp>
          <p:nvCxnSpPr>
            <p:cNvPr id="36" name="Google Shape;517;p49">
              <a:extLst>
                <a:ext uri="{FF2B5EF4-FFF2-40B4-BE49-F238E27FC236}">
                  <a16:creationId xmlns:a16="http://schemas.microsoft.com/office/drawing/2014/main" id="{EE1C47EA-C561-298F-D33C-D191FE11C042}"/>
                </a:ext>
              </a:extLst>
            </p:cNvPr>
            <p:cNvCxnSpPr/>
            <p:nvPr/>
          </p:nvCxnSpPr>
          <p:spPr>
            <a:xfrm>
              <a:off x="10571266" y="1876236"/>
              <a:ext cx="0" cy="3452400"/>
            </a:xfrm>
            <a:prstGeom prst="straightConnector1">
              <a:avLst/>
            </a:prstGeom>
            <a:noFill/>
            <a:ln w="28575" cap="flat" cmpd="sng">
              <a:solidFill>
                <a:schemeClr val="dk1"/>
              </a:solidFill>
              <a:prstDash val="solid"/>
              <a:round/>
              <a:headEnd type="none" w="med" len="med"/>
              <a:tailEnd type="none" w="med" len="med"/>
            </a:ln>
          </p:spPr>
        </p:cxnSp>
        <p:sp>
          <p:nvSpPr>
            <p:cNvPr id="37" name="Google Shape;518;p49">
              <a:extLst>
                <a:ext uri="{FF2B5EF4-FFF2-40B4-BE49-F238E27FC236}">
                  <a16:creationId xmlns:a16="http://schemas.microsoft.com/office/drawing/2014/main" id="{203647A7-9A6C-5FC7-727F-DE45C244CC94}"/>
                </a:ext>
              </a:extLst>
            </p:cNvPr>
            <p:cNvSpPr txBox="1"/>
            <p:nvPr/>
          </p:nvSpPr>
          <p:spPr>
            <a:xfrm>
              <a:off x="10553981" y="4112886"/>
              <a:ext cx="7908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solidFill>
                    <a:schemeClr val="dk1"/>
                  </a:solidFill>
                </a:rPr>
                <a:t>(repeat)</a:t>
              </a:r>
              <a:endParaRPr sz="1200"/>
            </a:p>
          </p:txBody>
        </p:sp>
        <p:sp>
          <p:nvSpPr>
            <p:cNvPr id="38" name="Google Shape;519;p49">
              <a:extLst>
                <a:ext uri="{FF2B5EF4-FFF2-40B4-BE49-F238E27FC236}">
                  <a16:creationId xmlns:a16="http://schemas.microsoft.com/office/drawing/2014/main" id="{A1D4E5D9-86CB-A591-1AA1-17E8C7F3C906}"/>
                </a:ext>
              </a:extLst>
            </p:cNvPr>
            <p:cNvSpPr txBox="1"/>
            <p:nvPr/>
          </p:nvSpPr>
          <p:spPr>
            <a:xfrm>
              <a:off x="10594163" y="3212807"/>
              <a:ext cx="7908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200">
                  <a:solidFill>
                    <a:schemeClr val="dk1"/>
                  </a:solidFill>
                </a:rPr>
                <a:t>pick </a:t>
              </a:r>
              <a:r>
                <a:rPr lang="en" sz="1200" i="1">
                  <a:solidFill>
                    <a:schemeClr val="dk1"/>
                  </a:solidFill>
                </a:rPr>
                <a:t>b</a:t>
              </a:r>
              <a:endParaRPr sz="1200" i="1"/>
            </a:p>
          </p:txBody>
        </p:sp>
      </p:grpSp>
    </p:spTree>
    <p:extLst>
      <p:ext uri="{BB962C8B-B14F-4D97-AF65-F5344CB8AC3E}">
        <p14:creationId xmlns:p14="http://schemas.microsoft.com/office/powerpoint/2010/main" val="3666512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E57AA-29B3-7AD4-F5DF-06F857AE0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B2761-D38A-F17C-443D-E2A9047DF4B4}"/>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82E1163A-D132-D591-9629-9A02058822B2}"/>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What is Cryptography?</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Definitions and Cryptography Roadmap</a:t>
            </a:r>
          </a:p>
          <a:p>
            <a:pPr marL="403225" indent="-285750">
              <a:spcBef>
                <a:spcPts val="800"/>
              </a:spcBef>
              <a:spcAft>
                <a:spcPts val="600"/>
              </a:spcAft>
              <a:buClr>
                <a:schemeClr val="bg1">
                  <a:lumMod val="85000"/>
                </a:schemeClr>
              </a:buClr>
            </a:pPr>
            <a:r>
              <a:rPr lang="en-US" altLang="en-US" sz="3600" b="1" i="1" dirty="0">
                <a:solidFill>
                  <a:schemeClr val="bg1">
                    <a:lumMod val="85000"/>
                  </a:schemeClr>
                </a:solidFill>
                <a:latin typeface="Calibri" panose="020F0502020204030204" pitchFamily="34" charset="0"/>
                <a:cs typeface="Calibri" panose="020F0502020204030204" pitchFamily="34" charset="0"/>
              </a:rPr>
              <a:t>Symmetric-Key Encryption</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Caesar Cipher</a:t>
            </a:r>
          </a:p>
          <a:p>
            <a:pPr marL="403225" indent="-285750">
              <a:spcBef>
                <a:spcPts val="800"/>
              </a:spcBef>
              <a:spcAft>
                <a:spcPts val="600"/>
              </a:spcAft>
              <a:buClr>
                <a:schemeClr val="bg1">
                  <a:lumMod val="85000"/>
                </a:schemeClr>
              </a:buClr>
            </a:pPr>
            <a:endParaRPr lang="en-US" altLang="en-US" sz="3600" b="1"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7681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4BC7985-AF4B-D3CD-771D-C662209A3088}"/>
              </a:ext>
            </a:extLst>
          </p:cNvPr>
          <p:cNvSpPr txBox="1">
            <a:spLocks noChangeArrowheads="1"/>
          </p:cNvSpPr>
          <p:nvPr/>
        </p:nvSpPr>
        <p:spPr>
          <a:xfrm>
            <a:off x="838200" y="206995"/>
            <a:ext cx="10515600" cy="7692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Caesar Cipher</a:t>
            </a:r>
          </a:p>
        </p:txBody>
      </p:sp>
      <p:sp>
        <p:nvSpPr>
          <p:cNvPr id="3" name="Rectangle 3">
            <a:extLst>
              <a:ext uri="{FF2B5EF4-FFF2-40B4-BE49-F238E27FC236}">
                <a16:creationId xmlns:a16="http://schemas.microsoft.com/office/drawing/2014/main" id="{637F94AD-9C99-C126-41F2-8ECEE2AABA71}"/>
              </a:ext>
            </a:extLst>
          </p:cNvPr>
          <p:cNvSpPr txBox="1">
            <a:spLocks noChangeArrowheads="1"/>
          </p:cNvSpPr>
          <p:nvPr/>
        </p:nvSpPr>
        <p:spPr>
          <a:xfrm>
            <a:off x="405064" y="1134405"/>
            <a:ext cx="8575110" cy="5516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Change characters in plaintext to produce ciphertext</a:t>
            </a:r>
          </a:p>
          <a:p>
            <a:r>
              <a:rPr lang="en-US" altLang="en-US" dirty="0"/>
              <a:t>Caesar cipher</a:t>
            </a:r>
          </a:p>
          <a:p>
            <a:pPr lvl="1"/>
            <a:r>
              <a:rPr lang="en-US" altLang="en-US" dirty="0"/>
              <a:t>Used by Julius Caesar over 2,000 years ago</a:t>
            </a:r>
          </a:p>
          <a:p>
            <a:pPr lvl="1"/>
            <a:r>
              <a:rPr lang="en-US" altLang="en-US" dirty="0"/>
              <a:t>Simple idea: Shift each letter by a fixed number of positions in the alphabet</a:t>
            </a:r>
          </a:p>
          <a:p>
            <a:r>
              <a:rPr lang="en-US" altLang="en-US" dirty="0"/>
              <a:t>Example:</a:t>
            </a:r>
          </a:p>
          <a:p>
            <a:pPr lvl="1"/>
            <a:r>
              <a:rPr lang="en-US" altLang="en-US" dirty="0"/>
              <a:t>Key is 3 (right shift each letter by 3 positions)</a:t>
            </a:r>
          </a:p>
          <a:p>
            <a:pPr lvl="1"/>
            <a:r>
              <a:rPr lang="en-US" altLang="en-US" dirty="0"/>
              <a:t>Encryption rule: Replace each letter with the letter 3 positions ahead</a:t>
            </a:r>
          </a:p>
          <a:p>
            <a:pPr lvl="1"/>
            <a:r>
              <a:rPr lang="en-US" altLang="en-US" dirty="0"/>
              <a:t>Plaintext is:         </a:t>
            </a:r>
            <a:r>
              <a:rPr lang="en-US" altLang="en-US" dirty="0">
                <a:latin typeface="Courier" pitchFamily="2" charset="0"/>
              </a:rPr>
              <a:t>HELLO WORLD</a:t>
            </a:r>
            <a:endParaRPr lang="en-US" altLang="en-US" dirty="0"/>
          </a:p>
          <a:p>
            <a:pPr lvl="1"/>
            <a:r>
              <a:rPr lang="en-US" altLang="en-US" dirty="0"/>
              <a:t>Ciphertext is:     </a:t>
            </a:r>
            <a:r>
              <a:rPr lang="en-US" altLang="en-US" dirty="0">
                <a:latin typeface="Courier" pitchFamily="2" charset="0"/>
              </a:rPr>
              <a:t>KHOOR ZRUOG</a:t>
            </a:r>
          </a:p>
          <a:p>
            <a:pPr lvl="2"/>
            <a:r>
              <a:rPr lang="en-US" altLang="en-US" dirty="0">
                <a:latin typeface="Courier" pitchFamily="2" charset="0"/>
              </a:rPr>
              <a:t>H + 3 </a:t>
            </a:r>
            <a:r>
              <a:rPr lang="en-US" altLang="en-US" dirty="0">
                <a:latin typeface="Courier" pitchFamily="2" charset="0"/>
                <a:sym typeface="Wingdings" panose="05000000000000000000" pitchFamily="2" charset="2"/>
              </a:rPr>
              <a:t> K</a:t>
            </a:r>
          </a:p>
          <a:p>
            <a:pPr lvl="2"/>
            <a:r>
              <a:rPr lang="en-US" altLang="en-US" dirty="0">
                <a:latin typeface="Courier" pitchFamily="2" charset="0"/>
                <a:sym typeface="Wingdings" panose="05000000000000000000" pitchFamily="2" charset="2"/>
              </a:rPr>
              <a:t>E + 3  H</a:t>
            </a:r>
          </a:p>
          <a:p>
            <a:pPr lvl="2"/>
            <a:r>
              <a:rPr lang="en-US" altLang="en-US" dirty="0">
                <a:latin typeface="Courier" pitchFamily="2" charset="0"/>
                <a:sym typeface="Wingdings" panose="05000000000000000000" pitchFamily="2" charset="2"/>
              </a:rPr>
              <a:t>…</a:t>
            </a:r>
            <a:endParaRPr lang="en-US" altLang="en-US" dirty="0"/>
          </a:p>
        </p:txBody>
      </p:sp>
      <p:graphicFrame>
        <p:nvGraphicFramePr>
          <p:cNvPr id="5" name="Google Shape;661;p61">
            <a:extLst>
              <a:ext uri="{FF2B5EF4-FFF2-40B4-BE49-F238E27FC236}">
                <a16:creationId xmlns:a16="http://schemas.microsoft.com/office/drawing/2014/main" id="{DF018BEA-0275-DF2E-F509-2E44EDBFF14D}"/>
              </a:ext>
            </a:extLst>
          </p:cNvPr>
          <p:cNvGraphicFramePr/>
          <p:nvPr>
            <p:extLst>
              <p:ext uri="{D42A27DB-BD31-4B8C-83A1-F6EECF244321}">
                <p14:modId xmlns:p14="http://schemas.microsoft.com/office/powerpoint/2010/main" val="1240777635"/>
              </p:ext>
            </p:extLst>
          </p:nvPr>
        </p:nvGraphicFramePr>
        <p:xfrm>
          <a:off x="9076427" y="1753256"/>
          <a:ext cx="2565332" cy="4351332"/>
        </p:xfrm>
        <a:graphic>
          <a:graphicData uri="http://schemas.openxmlformats.org/drawingml/2006/table">
            <a:tbl>
              <a:tblPr>
                <a:noFill/>
              </a:tblPr>
              <a:tblGrid>
                <a:gridCol w="641333">
                  <a:extLst>
                    <a:ext uri="{9D8B030D-6E8A-4147-A177-3AD203B41FA5}">
                      <a16:colId xmlns:a16="http://schemas.microsoft.com/office/drawing/2014/main" val="20000"/>
                    </a:ext>
                  </a:extLst>
                </a:gridCol>
                <a:gridCol w="641333">
                  <a:extLst>
                    <a:ext uri="{9D8B030D-6E8A-4147-A177-3AD203B41FA5}">
                      <a16:colId xmlns:a16="http://schemas.microsoft.com/office/drawing/2014/main" val="20001"/>
                    </a:ext>
                  </a:extLst>
                </a:gridCol>
                <a:gridCol w="641333">
                  <a:extLst>
                    <a:ext uri="{9D8B030D-6E8A-4147-A177-3AD203B41FA5}">
                      <a16:colId xmlns:a16="http://schemas.microsoft.com/office/drawing/2014/main" val="20002"/>
                    </a:ext>
                  </a:extLst>
                </a:gridCol>
                <a:gridCol w="641333">
                  <a:extLst>
                    <a:ext uri="{9D8B030D-6E8A-4147-A177-3AD203B41FA5}">
                      <a16:colId xmlns:a16="http://schemas.microsoft.com/office/drawing/2014/main" val="20003"/>
                    </a:ext>
                  </a:extLst>
                </a:gridCol>
              </a:tblGrid>
              <a:tr h="324498">
                <a:tc gridSpan="4">
                  <a:txBody>
                    <a:bodyPr/>
                    <a:lstStyle/>
                    <a:p>
                      <a:pPr marL="0" lvl="0" indent="0" algn="ctr" rtl="0">
                        <a:spcBef>
                          <a:spcPts val="0"/>
                        </a:spcBef>
                        <a:spcAft>
                          <a:spcPts val="0"/>
                        </a:spcAft>
                        <a:buNone/>
                      </a:pPr>
                      <a:r>
                        <a:rPr lang="en" sz="1200" i="1" dirty="0"/>
                        <a:t>K</a:t>
                      </a:r>
                      <a:r>
                        <a:rPr lang="en" sz="1200" dirty="0"/>
                        <a:t> = 3</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7631">
                <a:tc>
                  <a:txBody>
                    <a:bodyPr/>
                    <a:lstStyle/>
                    <a:p>
                      <a:pPr marL="0" lvl="0" indent="0" algn="l" rtl="0">
                        <a:spcBef>
                          <a:spcPts val="0"/>
                        </a:spcBef>
                        <a:spcAft>
                          <a:spcPts val="0"/>
                        </a:spcAft>
                        <a:buNone/>
                      </a:pPr>
                      <a:r>
                        <a:rPr lang="en" sz="1200" i="1" dirty="0"/>
                        <a:t>PT</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CT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PT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CT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287631">
                <a:tc>
                  <a:txBody>
                    <a:bodyPr/>
                    <a:lstStyle/>
                    <a:p>
                      <a:pPr marL="0" lvl="0" indent="0" algn="l" rtl="0">
                        <a:spcBef>
                          <a:spcPts val="0"/>
                        </a:spcBef>
                        <a:spcAft>
                          <a:spcPts val="0"/>
                        </a:spcAft>
                        <a:buNone/>
                      </a:pPr>
                      <a:r>
                        <a:rPr lang="en" sz="1200"/>
                        <a:t>A</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D</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N</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Q</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287631">
                <a:tc>
                  <a:txBody>
                    <a:bodyPr/>
                    <a:lstStyle/>
                    <a:p>
                      <a:pPr marL="0" lvl="0" indent="0" algn="l" rtl="0">
                        <a:spcBef>
                          <a:spcPts val="0"/>
                        </a:spcBef>
                        <a:spcAft>
                          <a:spcPts val="0"/>
                        </a:spcAft>
                        <a:buNone/>
                      </a:pPr>
                      <a:r>
                        <a:rPr lang="en" sz="1200"/>
                        <a:t>B</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E</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O</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R</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287631">
                <a:tc>
                  <a:txBody>
                    <a:bodyPr/>
                    <a:lstStyle/>
                    <a:p>
                      <a:pPr marL="0" lvl="0" indent="0" algn="l" rtl="0">
                        <a:spcBef>
                          <a:spcPts val="0"/>
                        </a:spcBef>
                        <a:spcAft>
                          <a:spcPts val="0"/>
                        </a:spcAft>
                        <a:buNone/>
                      </a:pPr>
                      <a:r>
                        <a:rPr lang="en" sz="1200"/>
                        <a:t>C</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F</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P</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S</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287631">
                <a:tc>
                  <a:txBody>
                    <a:bodyPr/>
                    <a:lstStyle/>
                    <a:p>
                      <a:pPr marL="0" lvl="0" indent="0" algn="l" rtl="0">
                        <a:spcBef>
                          <a:spcPts val="0"/>
                        </a:spcBef>
                        <a:spcAft>
                          <a:spcPts val="0"/>
                        </a:spcAft>
                        <a:buNone/>
                      </a:pPr>
                      <a:r>
                        <a:rPr lang="en" sz="1200" dirty="0"/>
                        <a:t>D</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G</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Q</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T</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287631">
                <a:tc>
                  <a:txBody>
                    <a:bodyPr/>
                    <a:lstStyle/>
                    <a:p>
                      <a:pPr marL="0" lvl="0" indent="0" algn="l" rtl="0">
                        <a:spcBef>
                          <a:spcPts val="0"/>
                        </a:spcBef>
                        <a:spcAft>
                          <a:spcPts val="0"/>
                        </a:spcAft>
                        <a:buNone/>
                      </a:pPr>
                      <a:r>
                        <a:rPr lang="en" sz="1200" dirty="0"/>
                        <a:t>E</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lvl="0" indent="0" algn="l" rtl="0">
                        <a:spcBef>
                          <a:spcPts val="0"/>
                        </a:spcBef>
                        <a:spcAft>
                          <a:spcPts val="0"/>
                        </a:spcAft>
                        <a:buNone/>
                      </a:pPr>
                      <a:r>
                        <a:rPr lang="en" sz="1200" dirty="0"/>
                        <a:t>H</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R</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U</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287631">
                <a:tc>
                  <a:txBody>
                    <a:bodyPr/>
                    <a:lstStyle/>
                    <a:p>
                      <a:pPr marL="0" lvl="0" indent="0" algn="l" rtl="0">
                        <a:spcBef>
                          <a:spcPts val="0"/>
                        </a:spcBef>
                        <a:spcAft>
                          <a:spcPts val="0"/>
                        </a:spcAft>
                        <a:buNone/>
                      </a:pPr>
                      <a:r>
                        <a:rPr lang="en" sz="1200" dirty="0"/>
                        <a:t>F</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I</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S</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dirty="0"/>
                        <a:t>V</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287631">
                <a:tc>
                  <a:txBody>
                    <a:bodyPr/>
                    <a:lstStyle/>
                    <a:p>
                      <a:pPr marL="0" lvl="0" indent="0" algn="l" rtl="0">
                        <a:spcBef>
                          <a:spcPts val="0"/>
                        </a:spcBef>
                        <a:spcAft>
                          <a:spcPts val="0"/>
                        </a:spcAft>
                        <a:buNone/>
                      </a:pPr>
                      <a:r>
                        <a:rPr lang="en" sz="1200"/>
                        <a:t>G</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J</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T</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W</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r h="287631">
                <a:tc>
                  <a:txBody>
                    <a:bodyPr/>
                    <a:lstStyle/>
                    <a:p>
                      <a:pPr marL="0" lvl="0" indent="0" algn="l" rtl="0">
                        <a:spcBef>
                          <a:spcPts val="0"/>
                        </a:spcBef>
                        <a:spcAft>
                          <a:spcPts val="0"/>
                        </a:spcAft>
                        <a:buNone/>
                      </a:pPr>
                      <a:r>
                        <a:rPr lang="en" sz="1200" dirty="0"/>
                        <a:t>H</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lvl="0" indent="0" algn="l" rtl="0">
                        <a:spcBef>
                          <a:spcPts val="0"/>
                        </a:spcBef>
                        <a:spcAft>
                          <a:spcPts val="0"/>
                        </a:spcAft>
                        <a:buNone/>
                      </a:pPr>
                      <a:r>
                        <a:rPr lang="en" sz="1200"/>
                        <a:t>K</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U</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X</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287631">
                <a:tc>
                  <a:txBody>
                    <a:bodyPr/>
                    <a:lstStyle/>
                    <a:p>
                      <a:pPr marL="0" lvl="0" indent="0" algn="l" rtl="0">
                        <a:spcBef>
                          <a:spcPts val="0"/>
                        </a:spcBef>
                        <a:spcAft>
                          <a:spcPts val="0"/>
                        </a:spcAft>
                        <a:buNone/>
                      </a:pPr>
                      <a:r>
                        <a:rPr lang="en" sz="1200"/>
                        <a:t>I</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L</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V</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Y</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0"/>
                  </a:ext>
                </a:extLst>
              </a:tr>
              <a:tr h="287631">
                <a:tc>
                  <a:txBody>
                    <a:bodyPr/>
                    <a:lstStyle/>
                    <a:p>
                      <a:pPr marL="0" lvl="0" indent="0" algn="l" rtl="0">
                        <a:spcBef>
                          <a:spcPts val="0"/>
                        </a:spcBef>
                        <a:spcAft>
                          <a:spcPts val="0"/>
                        </a:spcAft>
                        <a:buNone/>
                      </a:pPr>
                      <a:r>
                        <a:rPr lang="en" sz="1200"/>
                        <a:t>J</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M</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W</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Z</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1"/>
                  </a:ext>
                </a:extLst>
              </a:tr>
              <a:tr h="287631">
                <a:tc>
                  <a:txBody>
                    <a:bodyPr/>
                    <a:lstStyle/>
                    <a:p>
                      <a:pPr marL="0" lvl="0" indent="0" algn="l" rtl="0">
                        <a:spcBef>
                          <a:spcPts val="0"/>
                        </a:spcBef>
                        <a:spcAft>
                          <a:spcPts val="0"/>
                        </a:spcAft>
                        <a:buNone/>
                      </a:pPr>
                      <a:r>
                        <a:rPr lang="en" sz="1200"/>
                        <a:t>K</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N</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X</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A</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2"/>
                  </a:ext>
                </a:extLst>
              </a:tr>
              <a:tr h="287631">
                <a:tc>
                  <a:txBody>
                    <a:bodyPr/>
                    <a:lstStyle/>
                    <a:p>
                      <a:pPr marL="0" lvl="0" indent="0" algn="l" rtl="0">
                        <a:spcBef>
                          <a:spcPts val="0"/>
                        </a:spcBef>
                        <a:spcAft>
                          <a:spcPts val="0"/>
                        </a:spcAft>
                        <a:buNone/>
                      </a:pPr>
                      <a:r>
                        <a:rPr lang="en" sz="1200"/>
                        <a:t>L</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O</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Y</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B</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3"/>
                  </a:ext>
                </a:extLst>
              </a:tr>
              <a:tr h="287631">
                <a:tc>
                  <a:txBody>
                    <a:bodyPr/>
                    <a:lstStyle/>
                    <a:p>
                      <a:pPr marL="0" lvl="0" indent="0" algn="l" rtl="0">
                        <a:spcBef>
                          <a:spcPts val="0"/>
                        </a:spcBef>
                        <a:spcAft>
                          <a:spcPts val="0"/>
                        </a:spcAft>
                        <a:buNone/>
                      </a:pPr>
                      <a:r>
                        <a:rPr lang="en" sz="1200"/>
                        <a:t>M</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P</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Z</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dirty="0"/>
                        <a:t>C</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486516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7AE3693-A7EC-574D-2C38-6D8470534094}"/>
              </a:ext>
            </a:extLst>
          </p:cNvPr>
          <p:cNvSpPr txBox="1">
            <a:spLocks noChangeArrowheads="1"/>
          </p:cNvSpPr>
          <p:nvPr/>
        </p:nvSpPr>
        <p:spPr>
          <a:xfrm>
            <a:off x="838200" y="261997"/>
            <a:ext cx="10515600" cy="7486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Formalizing Cryptosystems</a:t>
            </a:r>
          </a:p>
        </p:txBody>
      </p:sp>
      <p:sp>
        <p:nvSpPr>
          <p:cNvPr id="3" name="Rectangle 3">
            <a:extLst>
              <a:ext uri="{FF2B5EF4-FFF2-40B4-BE49-F238E27FC236}">
                <a16:creationId xmlns:a16="http://schemas.microsoft.com/office/drawing/2014/main" id="{1559EE14-59FC-3D2F-F6F2-B1AB7A822237}"/>
              </a:ext>
            </a:extLst>
          </p:cNvPr>
          <p:cNvSpPr txBox="1">
            <a:spLocks noChangeArrowheads="1"/>
          </p:cNvSpPr>
          <p:nvPr/>
        </p:nvSpPr>
        <p:spPr>
          <a:xfrm>
            <a:off x="1022111" y="1158732"/>
            <a:ext cx="10147777" cy="25744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200" dirty="0"/>
              <a:t>A cryptosystem is defined by five components (</a:t>
            </a:r>
            <a:r>
              <a:rPr lang="en-US" altLang="en-US" sz="2200" dirty="0">
                <a:latin typeface="Lucida Calligraphy" panose="03010101010101010101" pitchFamily="66" charset="77"/>
              </a:rPr>
              <a:t>E</a:t>
            </a:r>
            <a:r>
              <a:rPr lang="en-US" altLang="en-US" sz="2200" dirty="0"/>
              <a:t>, </a:t>
            </a:r>
            <a:r>
              <a:rPr lang="en-US" altLang="en-US" sz="2200" dirty="0">
                <a:latin typeface="Lucida Calligraphy" panose="03010101010101010101" pitchFamily="66" charset="77"/>
              </a:rPr>
              <a:t>D</a:t>
            </a:r>
            <a:r>
              <a:rPr lang="en-US" altLang="en-US" sz="2200" dirty="0"/>
              <a:t>, </a:t>
            </a:r>
            <a:r>
              <a:rPr lang="en-US" altLang="en-US" sz="2200" dirty="0">
                <a:latin typeface="Lucida Calligraphy" panose="03010101010101010101" pitchFamily="66" charset="77"/>
              </a:rPr>
              <a:t>M</a:t>
            </a:r>
            <a:r>
              <a:rPr lang="en-US" altLang="en-US" sz="2200" dirty="0"/>
              <a:t>, </a:t>
            </a:r>
            <a:r>
              <a:rPr lang="en-US" altLang="en-US" sz="2200" dirty="0">
                <a:latin typeface="Lucida Calligraphy" panose="03010101010101010101" pitchFamily="66" charset="77"/>
              </a:rPr>
              <a:t>K</a:t>
            </a:r>
            <a:r>
              <a:rPr lang="en-US" altLang="en-US" sz="2200" dirty="0"/>
              <a:t>, </a:t>
            </a:r>
            <a:r>
              <a:rPr lang="en-US" altLang="en-US" sz="2200" dirty="0">
                <a:latin typeface="Lucida Calligraphy" panose="03010101010101010101" pitchFamily="66" charset="77"/>
              </a:rPr>
              <a:t>C</a:t>
            </a:r>
            <a:r>
              <a:rPr lang="en-US" altLang="en-US" sz="2200" dirty="0"/>
              <a:t>)</a:t>
            </a:r>
          </a:p>
          <a:p>
            <a:r>
              <a:rPr lang="en-US" altLang="en-US" sz="2200" dirty="0">
                <a:latin typeface="Lucida Calligraphy" panose="03010101010101010101" pitchFamily="66" charset="77"/>
              </a:rPr>
              <a:t>M </a:t>
            </a:r>
            <a:r>
              <a:rPr lang="en-US" altLang="en-US" sz="2200" dirty="0"/>
              <a:t>: message (plaintexts) space </a:t>
            </a:r>
            <a:r>
              <a:rPr lang="en-US" altLang="en-US" sz="2200" dirty="0">
                <a:sym typeface="Wingdings" panose="05000000000000000000" pitchFamily="2" charset="2"/>
              </a:rPr>
              <a:t> what can we encrypt?</a:t>
            </a:r>
            <a:r>
              <a:rPr lang="en-US" altLang="en-US" sz="2200" dirty="0"/>
              <a:t> </a:t>
            </a:r>
          </a:p>
          <a:p>
            <a:r>
              <a:rPr lang="en-US" altLang="en-US" sz="2200" dirty="0">
                <a:latin typeface="Lucida Calligraphy" panose="03010101010101010101" pitchFamily="66" charset="77"/>
              </a:rPr>
              <a:t>K </a:t>
            </a:r>
            <a:r>
              <a:rPr lang="en-US" altLang="en-US" sz="2200" dirty="0"/>
              <a:t>: key space </a:t>
            </a:r>
            <a:r>
              <a:rPr lang="en-US" altLang="en-US" sz="2200" dirty="0">
                <a:sym typeface="Wingdings" panose="05000000000000000000" pitchFamily="2" charset="2"/>
              </a:rPr>
              <a:t> what are the possible keys?</a:t>
            </a:r>
            <a:endParaRPr lang="en-US" altLang="en-US" sz="2200" dirty="0"/>
          </a:p>
          <a:p>
            <a:r>
              <a:rPr lang="en-US" altLang="en-US" sz="2200" dirty="0">
                <a:latin typeface="Lucida Calligraphy" panose="03010101010101010101" pitchFamily="66" charset="77"/>
              </a:rPr>
              <a:t>C</a:t>
            </a:r>
            <a:r>
              <a:rPr lang="en-US" altLang="en-US" sz="2200" dirty="0"/>
              <a:t> :set of ciphertexts </a:t>
            </a:r>
            <a:r>
              <a:rPr lang="en-US" altLang="en-US" sz="2200" dirty="0">
                <a:sym typeface="Wingdings" panose="05000000000000000000" pitchFamily="2" charset="2"/>
              </a:rPr>
              <a:t> what does encryption produce?</a:t>
            </a:r>
            <a:endParaRPr lang="en-US" altLang="en-US" sz="2200" dirty="0"/>
          </a:p>
          <a:p>
            <a:r>
              <a:rPr lang="en-US" altLang="en-US" sz="2200" dirty="0">
                <a:latin typeface="Lucida Calligraphy" panose="03010101010101010101" pitchFamily="66" charset="77"/>
              </a:rPr>
              <a:t>E</a:t>
            </a:r>
            <a:r>
              <a:rPr lang="en-US" altLang="en-US" sz="2200" dirty="0"/>
              <a:t> :set of encryption functions </a:t>
            </a:r>
            <a:r>
              <a:rPr lang="en-US" altLang="en-US" sz="2200" i="1" dirty="0"/>
              <a:t>e</a:t>
            </a:r>
            <a:r>
              <a:rPr lang="en-US" altLang="en-US" sz="2200" dirty="0"/>
              <a:t>: </a:t>
            </a:r>
            <a:r>
              <a:rPr lang="en-US" altLang="en-US" sz="2200" dirty="0">
                <a:latin typeface="Lucida Calligraphy" panose="03010101010101010101" pitchFamily="66" charset="77"/>
              </a:rPr>
              <a:t>M</a:t>
            </a:r>
            <a:r>
              <a:rPr lang="en-US" altLang="en-US" sz="2200" dirty="0"/>
              <a:t> </a:t>
            </a:r>
            <a:r>
              <a:rPr lang="en-US" altLang="en-US" sz="2200" dirty="0">
                <a:sym typeface="Symbol" pitchFamily="2" charset="2"/>
              </a:rPr>
              <a:t> </a:t>
            </a:r>
            <a:r>
              <a:rPr lang="en-US" altLang="en-US" sz="2200" dirty="0">
                <a:latin typeface="Lucida Calligraphy" panose="03010101010101010101" pitchFamily="66" charset="77"/>
              </a:rPr>
              <a:t>K</a:t>
            </a:r>
            <a:r>
              <a:rPr lang="en-US" altLang="en-US" sz="2200" dirty="0"/>
              <a:t> </a:t>
            </a:r>
            <a:r>
              <a:rPr lang="en-US" altLang="en-US" sz="2200" dirty="0">
                <a:sym typeface="Symbol" pitchFamily="2" charset="2"/>
              </a:rPr>
              <a:t></a:t>
            </a:r>
            <a:r>
              <a:rPr lang="en-US" altLang="en-US" sz="2200" dirty="0"/>
              <a:t> </a:t>
            </a:r>
            <a:r>
              <a:rPr lang="en-US" altLang="en-US" sz="2200" dirty="0">
                <a:latin typeface="Lucida Calligraphy" panose="03010101010101010101" pitchFamily="66" charset="77"/>
              </a:rPr>
              <a:t>C </a:t>
            </a:r>
            <a:r>
              <a:rPr lang="en-US" altLang="en-US" sz="2200" dirty="0">
                <a:latin typeface="Lucida Calligraphy" panose="03010101010101010101" pitchFamily="66" charset="77"/>
                <a:sym typeface="Wingdings" panose="05000000000000000000" pitchFamily="2" charset="2"/>
              </a:rPr>
              <a:t> </a:t>
            </a:r>
            <a:r>
              <a:rPr lang="en-US" altLang="en-US" sz="2200" dirty="0">
                <a:sym typeface="Wingdings" panose="05000000000000000000" pitchFamily="2" charset="2"/>
              </a:rPr>
              <a:t>How to encrypt the message?</a:t>
            </a:r>
            <a:endParaRPr lang="en-US" altLang="en-US" sz="2200" dirty="0"/>
          </a:p>
          <a:p>
            <a:r>
              <a:rPr lang="en-US" altLang="en-US" sz="2200" dirty="0">
                <a:latin typeface="Lucida Calligraphy" panose="03010101010101010101" pitchFamily="66" charset="77"/>
              </a:rPr>
              <a:t>D</a:t>
            </a:r>
            <a:r>
              <a:rPr lang="en-US" altLang="en-US" sz="2200" dirty="0"/>
              <a:t> :set of decryption functions </a:t>
            </a:r>
            <a:r>
              <a:rPr lang="en-US" altLang="en-US" sz="2200" i="1" dirty="0"/>
              <a:t>d</a:t>
            </a:r>
            <a:r>
              <a:rPr lang="en-US" altLang="en-US" sz="2200" dirty="0"/>
              <a:t>: </a:t>
            </a:r>
            <a:r>
              <a:rPr lang="en-US" altLang="en-US" sz="2200" dirty="0">
                <a:latin typeface="Lucida Calligraphy" panose="03010101010101010101" pitchFamily="66" charset="77"/>
              </a:rPr>
              <a:t>C</a:t>
            </a:r>
            <a:r>
              <a:rPr lang="en-US" altLang="en-US" sz="2200" dirty="0"/>
              <a:t> </a:t>
            </a:r>
            <a:r>
              <a:rPr lang="en-US" altLang="en-US" sz="2200" dirty="0">
                <a:sym typeface="Symbol" pitchFamily="2" charset="2"/>
              </a:rPr>
              <a:t> </a:t>
            </a:r>
            <a:r>
              <a:rPr lang="en-US" altLang="en-US" sz="2200" dirty="0">
                <a:latin typeface="Lucida Calligraphy" panose="03010101010101010101" pitchFamily="66" charset="77"/>
              </a:rPr>
              <a:t>K</a:t>
            </a:r>
            <a:r>
              <a:rPr lang="en-US" altLang="en-US" sz="2200" dirty="0"/>
              <a:t> </a:t>
            </a:r>
            <a:r>
              <a:rPr lang="en-US" altLang="en-US" sz="2200" dirty="0">
                <a:sym typeface="Symbol" pitchFamily="2" charset="2"/>
              </a:rPr>
              <a:t></a:t>
            </a:r>
            <a:r>
              <a:rPr lang="en-US" altLang="en-US" sz="2200" dirty="0"/>
              <a:t> </a:t>
            </a:r>
            <a:r>
              <a:rPr lang="en-US" altLang="en-US" sz="2200" dirty="0">
                <a:latin typeface="Lucida Calligraphy" panose="03010101010101010101" pitchFamily="66" charset="77"/>
              </a:rPr>
              <a:t>M </a:t>
            </a:r>
            <a:r>
              <a:rPr lang="en-US" altLang="en-US" sz="2200" dirty="0">
                <a:latin typeface="Lucida Calligraphy" panose="03010101010101010101" pitchFamily="66" charset="77"/>
                <a:sym typeface="Wingdings" panose="05000000000000000000" pitchFamily="2" charset="2"/>
              </a:rPr>
              <a:t> </a:t>
            </a:r>
            <a:r>
              <a:rPr lang="en-US" altLang="en-US" sz="2200" dirty="0">
                <a:sym typeface="Wingdings" panose="05000000000000000000" pitchFamily="2" charset="2"/>
              </a:rPr>
              <a:t>How to decrypt the message?</a:t>
            </a:r>
            <a:endParaRPr lang="en-US" altLang="en-US" sz="2200" dirty="0"/>
          </a:p>
        </p:txBody>
      </p:sp>
      <p:sp>
        <p:nvSpPr>
          <p:cNvPr id="4" name="Rectangle 3">
            <a:extLst>
              <a:ext uri="{FF2B5EF4-FFF2-40B4-BE49-F238E27FC236}">
                <a16:creationId xmlns:a16="http://schemas.microsoft.com/office/drawing/2014/main" id="{7964EA4A-AEDD-0BED-8929-73647B64C058}"/>
              </a:ext>
            </a:extLst>
          </p:cNvPr>
          <p:cNvSpPr txBox="1">
            <a:spLocks noChangeArrowheads="1"/>
          </p:cNvSpPr>
          <p:nvPr/>
        </p:nvSpPr>
        <p:spPr>
          <a:xfrm>
            <a:off x="1022111" y="3881307"/>
            <a:ext cx="10515600" cy="26294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200" dirty="0"/>
              <a:t>Example: Caesar cipher</a:t>
            </a:r>
          </a:p>
          <a:p>
            <a:r>
              <a:rPr lang="en-US" altLang="en-US" sz="2200" dirty="0">
                <a:latin typeface="Lucida Calligraphy" panose="03010101010101010101" pitchFamily="66" charset="77"/>
              </a:rPr>
              <a:t>M</a:t>
            </a:r>
            <a:r>
              <a:rPr lang="en-US" altLang="en-US" sz="2200" dirty="0"/>
              <a:t> = { sequences of letters }</a:t>
            </a:r>
          </a:p>
          <a:p>
            <a:r>
              <a:rPr lang="en-US" altLang="en-US" sz="2200" dirty="0">
                <a:latin typeface="Lucida Calligraphy" panose="03010101010101010101" pitchFamily="66" charset="77"/>
              </a:rPr>
              <a:t>K</a:t>
            </a:r>
            <a:r>
              <a:rPr lang="en-US" altLang="en-US" sz="2200" dirty="0"/>
              <a:t> = { </a:t>
            </a:r>
            <a:r>
              <a:rPr lang="en-US" altLang="en-US" sz="2200" i="1" dirty="0"/>
              <a:t>i</a:t>
            </a:r>
            <a:r>
              <a:rPr lang="en-US" altLang="en-US" sz="2200" dirty="0"/>
              <a:t> | </a:t>
            </a:r>
            <a:r>
              <a:rPr lang="en-US" altLang="en-US" sz="2200" i="1" dirty="0"/>
              <a:t>i</a:t>
            </a:r>
            <a:r>
              <a:rPr lang="en-US" altLang="en-US" sz="2200" dirty="0"/>
              <a:t> is an integer and 0 ≤ </a:t>
            </a:r>
            <a:r>
              <a:rPr lang="en-US" altLang="en-US" sz="2200" i="1" dirty="0"/>
              <a:t>i</a:t>
            </a:r>
            <a:r>
              <a:rPr lang="en-US" altLang="en-US" sz="2200" dirty="0"/>
              <a:t> ≤ 25 }</a:t>
            </a:r>
          </a:p>
          <a:p>
            <a:r>
              <a:rPr lang="en-US" altLang="en-US" sz="2200" dirty="0">
                <a:latin typeface="Lucida Calligraphy" panose="03010101010101010101" pitchFamily="66" charset="77"/>
              </a:rPr>
              <a:t>C</a:t>
            </a:r>
            <a:r>
              <a:rPr lang="en-US" altLang="en-US" sz="2200" dirty="0"/>
              <a:t> = </a:t>
            </a:r>
            <a:r>
              <a:rPr lang="en-US" altLang="en-US" sz="2200" dirty="0">
                <a:latin typeface="Lucida Calligraphy" panose="03010101010101010101" pitchFamily="66" charset="77"/>
              </a:rPr>
              <a:t>M</a:t>
            </a:r>
            <a:endParaRPr lang="en-US" altLang="en-US" sz="2200" dirty="0"/>
          </a:p>
          <a:p>
            <a:r>
              <a:rPr lang="en-US" altLang="en-US" sz="2200" dirty="0">
                <a:latin typeface="Lucida Calligraphy" panose="03010101010101010101" pitchFamily="66" charset="77"/>
              </a:rPr>
              <a:t>E</a:t>
            </a:r>
            <a:r>
              <a:rPr lang="en-US" altLang="en-US" sz="2200" dirty="0"/>
              <a:t> = { </a:t>
            </a:r>
            <a:r>
              <a:rPr lang="en-US" altLang="en-US" sz="2200" i="1" dirty="0"/>
              <a:t>E</a:t>
            </a:r>
            <a:r>
              <a:rPr lang="en-US" altLang="en-US" sz="2200" i="1" baseline="-25000" dirty="0"/>
              <a:t>k</a:t>
            </a:r>
            <a:r>
              <a:rPr lang="en-US" altLang="en-US" sz="2200" dirty="0"/>
              <a:t> | </a:t>
            </a:r>
            <a:r>
              <a:rPr lang="en-US" altLang="en-US" sz="2200" i="1" dirty="0"/>
              <a:t>k</a:t>
            </a:r>
            <a:r>
              <a:rPr lang="en-US" altLang="en-US" sz="2200" dirty="0"/>
              <a:t> </a:t>
            </a:r>
            <a:r>
              <a:rPr lang="en-US" altLang="en-US" sz="2200" dirty="0">
                <a:sym typeface="Symbol" pitchFamily="2" charset="2"/>
              </a:rPr>
              <a:t></a:t>
            </a:r>
            <a:r>
              <a:rPr lang="en-US" altLang="en-US" sz="2200" dirty="0"/>
              <a:t> </a:t>
            </a:r>
            <a:r>
              <a:rPr lang="en-US" altLang="en-US" sz="2200" dirty="0">
                <a:latin typeface="Lucida Calligraphy" panose="03010101010101010101" pitchFamily="66" charset="77"/>
              </a:rPr>
              <a:t>K</a:t>
            </a:r>
            <a:r>
              <a:rPr lang="en-US" altLang="en-US" sz="2200" dirty="0"/>
              <a:t> and for all letters </a:t>
            </a:r>
            <a:r>
              <a:rPr lang="en-US" altLang="en-US" sz="2200" i="1" dirty="0"/>
              <a:t>m</a:t>
            </a:r>
            <a:r>
              <a:rPr lang="en-US" altLang="en-US" sz="2200" dirty="0"/>
              <a:t>, </a:t>
            </a:r>
            <a:r>
              <a:rPr lang="en-US" altLang="en-US" sz="2200" i="1" dirty="0"/>
              <a:t>E</a:t>
            </a:r>
            <a:r>
              <a:rPr lang="en-US" altLang="en-US" sz="2200" i="1" baseline="-25000" dirty="0"/>
              <a:t>k</a:t>
            </a:r>
            <a:r>
              <a:rPr lang="en-US" altLang="en-US" sz="2200" dirty="0"/>
              <a:t>(</a:t>
            </a:r>
            <a:r>
              <a:rPr lang="en-US" altLang="en-US" sz="2200" i="1" dirty="0"/>
              <a:t>m</a:t>
            </a:r>
            <a:r>
              <a:rPr lang="en-US" altLang="en-US" sz="2200" dirty="0"/>
              <a:t>) = (</a:t>
            </a:r>
            <a:r>
              <a:rPr lang="en-US" altLang="en-US" sz="2200" i="1" dirty="0"/>
              <a:t>m</a:t>
            </a:r>
            <a:r>
              <a:rPr lang="en-US" altLang="en-US" sz="2200" dirty="0"/>
              <a:t> + </a:t>
            </a:r>
            <a:r>
              <a:rPr lang="en-US" altLang="en-US" sz="2200" i="1" dirty="0"/>
              <a:t>k</a:t>
            </a:r>
            <a:r>
              <a:rPr lang="en-US" altLang="en-US" sz="2200" dirty="0"/>
              <a:t>) mod 26 }</a:t>
            </a:r>
          </a:p>
          <a:p>
            <a:r>
              <a:rPr lang="en-US" altLang="en-US" sz="2200" dirty="0">
                <a:latin typeface="Lucida Calligraphy" panose="03010101010101010101" pitchFamily="66" charset="77"/>
              </a:rPr>
              <a:t>D</a:t>
            </a:r>
            <a:r>
              <a:rPr lang="en-US" altLang="en-US" sz="2200" dirty="0"/>
              <a:t> = { </a:t>
            </a:r>
            <a:r>
              <a:rPr lang="en-US" altLang="en-US" sz="2200" i="1" dirty="0"/>
              <a:t>D</a:t>
            </a:r>
            <a:r>
              <a:rPr lang="en-US" altLang="en-US" sz="2200" i="1" baseline="-25000" dirty="0"/>
              <a:t>k</a:t>
            </a:r>
            <a:r>
              <a:rPr lang="en-US" altLang="en-US" sz="2200" dirty="0"/>
              <a:t> | </a:t>
            </a:r>
            <a:r>
              <a:rPr lang="en-US" altLang="en-US" sz="2200" i="1" dirty="0"/>
              <a:t>k</a:t>
            </a:r>
            <a:r>
              <a:rPr lang="en-US" altLang="en-US" sz="2200" dirty="0"/>
              <a:t> </a:t>
            </a:r>
            <a:r>
              <a:rPr lang="en-US" altLang="en-US" sz="2200" dirty="0">
                <a:sym typeface="Symbol" pitchFamily="2" charset="2"/>
              </a:rPr>
              <a:t></a:t>
            </a:r>
            <a:r>
              <a:rPr lang="en-US" altLang="en-US" sz="2200" dirty="0"/>
              <a:t> </a:t>
            </a:r>
            <a:r>
              <a:rPr lang="en-US" altLang="en-US" sz="2200" dirty="0">
                <a:latin typeface="Lucida Calligraphy" panose="03010101010101010101" pitchFamily="66" charset="77"/>
              </a:rPr>
              <a:t>K</a:t>
            </a:r>
            <a:r>
              <a:rPr lang="en-US" altLang="en-US" sz="2200" dirty="0"/>
              <a:t> and for all letters </a:t>
            </a:r>
            <a:r>
              <a:rPr lang="en-US" altLang="en-US" sz="2200" i="1" dirty="0"/>
              <a:t>c</a:t>
            </a:r>
            <a:r>
              <a:rPr lang="en-US" altLang="en-US" sz="2200" dirty="0"/>
              <a:t>, </a:t>
            </a:r>
            <a:r>
              <a:rPr lang="en-US" altLang="en-US" sz="2200" i="1" dirty="0"/>
              <a:t>D</a:t>
            </a:r>
            <a:r>
              <a:rPr lang="en-US" altLang="en-US" sz="2200" i="1" baseline="-25000" dirty="0"/>
              <a:t>k</a:t>
            </a:r>
            <a:r>
              <a:rPr lang="en-US" altLang="en-US" sz="2200" dirty="0"/>
              <a:t>(</a:t>
            </a:r>
            <a:r>
              <a:rPr lang="en-US" altLang="en-US" sz="2200" i="1" dirty="0"/>
              <a:t>c</a:t>
            </a:r>
            <a:r>
              <a:rPr lang="en-US" altLang="en-US" sz="2200" dirty="0"/>
              <a:t>) = (</a:t>
            </a:r>
            <a:r>
              <a:rPr lang="en-US" altLang="en-US" sz="2200" i="1" dirty="0"/>
              <a:t>c</a:t>
            </a:r>
            <a:r>
              <a:rPr lang="en-US" altLang="en-US" sz="2200" dirty="0"/>
              <a:t> – </a:t>
            </a:r>
            <a:r>
              <a:rPr lang="en-US" altLang="en-US" sz="2200" i="1" dirty="0"/>
              <a:t>k</a:t>
            </a:r>
            <a:r>
              <a:rPr lang="en-US" altLang="en-US" sz="2200" dirty="0"/>
              <a:t>) mod 26 }</a:t>
            </a:r>
          </a:p>
        </p:txBody>
      </p:sp>
    </p:spTree>
    <p:extLst>
      <p:ext uri="{BB962C8B-B14F-4D97-AF65-F5344CB8AC3E}">
        <p14:creationId xmlns:p14="http://schemas.microsoft.com/office/powerpoint/2010/main" val="3733377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E534AFD-4E4A-122B-9BF7-6699BFCEC50D}"/>
              </a:ext>
            </a:extLst>
          </p:cNvPr>
          <p:cNvSpPr txBox="1">
            <a:spLocks noChangeArrowheads="1"/>
          </p:cNvSpPr>
          <p:nvPr/>
        </p:nvSpPr>
        <p:spPr>
          <a:xfrm>
            <a:off x="838200" y="303249"/>
            <a:ext cx="10515600" cy="7211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Attacks on the Caesar Cipher</a:t>
            </a:r>
          </a:p>
        </p:txBody>
      </p:sp>
      <p:sp>
        <p:nvSpPr>
          <p:cNvPr id="3" name="Rectangle 3">
            <a:extLst>
              <a:ext uri="{FF2B5EF4-FFF2-40B4-BE49-F238E27FC236}">
                <a16:creationId xmlns:a16="http://schemas.microsoft.com/office/drawing/2014/main" id="{16388EF0-C468-3E74-6D73-F6018E091B49}"/>
              </a:ext>
            </a:extLst>
          </p:cNvPr>
          <p:cNvSpPr txBox="1">
            <a:spLocks noChangeArrowheads="1"/>
          </p:cNvSpPr>
          <p:nvPr/>
        </p:nvSpPr>
        <p:spPr>
          <a:xfrm>
            <a:off x="838200" y="1825625"/>
            <a:ext cx="11039856" cy="35988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Eve sees the ciphertext </a:t>
            </a:r>
            <a:r>
              <a:rPr lang="en-US" altLang="en-US" b="1" i="1" dirty="0"/>
              <a:t>JCKN ECGUCT</a:t>
            </a:r>
            <a:r>
              <a:rPr lang="en-US" altLang="en-US" dirty="0"/>
              <a:t>, but doesn’t know the key K</a:t>
            </a:r>
          </a:p>
          <a:p>
            <a:r>
              <a:rPr lang="en-US" altLang="en-US" dirty="0"/>
              <a:t>If you were Eve, how would you try to break this algorithm?</a:t>
            </a:r>
          </a:p>
          <a:p>
            <a:endParaRPr lang="en-US" altLang="en-US" dirty="0"/>
          </a:p>
          <a:p>
            <a:r>
              <a:rPr lang="en-US" altLang="en-US" dirty="0"/>
              <a:t>Exhaustive search (Brute-force attack)</a:t>
            </a:r>
          </a:p>
          <a:p>
            <a:pPr lvl="1"/>
            <a:r>
              <a:rPr lang="en-US" altLang="en-US" dirty="0"/>
              <a:t>If the key space is small enough, try all possible keys until you find the right one</a:t>
            </a:r>
          </a:p>
          <a:p>
            <a:pPr lvl="1"/>
            <a:r>
              <a:rPr lang="en-US" altLang="en-US" dirty="0"/>
              <a:t>Caesar cipher has 26 possible keys </a:t>
            </a:r>
            <a:r>
              <a:rPr lang="en-US" altLang="en-US" dirty="0">
                <a:sym typeface="Wingdings" panose="05000000000000000000" pitchFamily="2" charset="2"/>
              </a:rPr>
              <a:t></a:t>
            </a:r>
            <a:r>
              <a:rPr lang="en-US" altLang="en-US" dirty="0"/>
              <a:t> Try all 26 possible keys!</a:t>
            </a:r>
          </a:p>
        </p:txBody>
      </p:sp>
    </p:spTree>
    <p:extLst>
      <p:ext uri="{BB962C8B-B14F-4D97-AF65-F5344CB8AC3E}">
        <p14:creationId xmlns:p14="http://schemas.microsoft.com/office/powerpoint/2010/main" val="89728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16388EF0-C468-3E74-6D73-F6018E091B49}"/>
              </a:ext>
            </a:extLst>
          </p:cNvPr>
          <p:cNvSpPr txBox="1">
            <a:spLocks noChangeArrowheads="1"/>
          </p:cNvSpPr>
          <p:nvPr/>
        </p:nvSpPr>
        <p:spPr>
          <a:xfrm>
            <a:off x="313944" y="1710531"/>
            <a:ext cx="11039856" cy="36387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ltLang="en-US" dirty="0"/>
              <a:t>Eve sees the ciphertext </a:t>
            </a:r>
            <a:r>
              <a:rPr lang="en-US" altLang="en-US" b="1" i="1" dirty="0"/>
              <a:t>JCKN ECGUCT</a:t>
            </a:r>
            <a:r>
              <a:rPr lang="en-US" altLang="en-US" dirty="0"/>
              <a:t>, but doesn’t know the key K</a:t>
            </a:r>
          </a:p>
          <a:p>
            <a:pPr>
              <a:spcAft>
                <a:spcPts val="600"/>
              </a:spcAft>
            </a:pPr>
            <a:r>
              <a:rPr lang="en-US" altLang="en-US" dirty="0"/>
              <a:t>If you were Eve, how would you try to break this algorithm?</a:t>
            </a:r>
          </a:p>
          <a:p>
            <a:pPr>
              <a:spcAft>
                <a:spcPts val="600"/>
              </a:spcAft>
            </a:pPr>
            <a:r>
              <a:rPr lang="en-US" altLang="en-US" dirty="0"/>
              <a:t>Chosen-plaintext attack: Eve tricks Alice into encrypting plaintext of her choice</a:t>
            </a:r>
          </a:p>
          <a:p>
            <a:pPr lvl="1">
              <a:spcAft>
                <a:spcPts val="600"/>
              </a:spcAft>
            </a:pPr>
            <a:r>
              <a:rPr lang="en-US" altLang="en-US" dirty="0"/>
              <a:t>Eve sends a message M = AAA and receives C = CCC</a:t>
            </a:r>
          </a:p>
          <a:p>
            <a:pPr lvl="1">
              <a:spcAft>
                <a:spcPts val="600"/>
              </a:spcAft>
            </a:pPr>
            <a:r>
              <a:rPr lang="en-US" altLang="en-US" dirty="0"/>
              <a:t>Eve can deduce the key: C is 2 letters after A, so K = 2</a:t>
            </a:r>
          </a:p>
          <a:p>
            <a:pPr lvl="1">
              <a:spcAft>
                <a:spcPts val="600"/>
              </a:spcAft>
            </a:pPr>
            <a:r>
              <a:rPr lang="en-US" altLang="en-US" dirty="0"/>
              <a:t>Eve has the key, so she can decrypt the ciphertext</a:t>
            </a:r>
          </a:p>
        </p:txBody>
      </p:sp>
      <p:sp>
        <p:nvSpPr>
          <p:cNvPr id="4" name="Rectangle 2">
            <a:extLst>
              <a:ext uri="{FF2B5EF4-FFF2-40B4-BE49-F238E27FC236}">
                <a16:creationId xmlns:a16="http://schemas.microsoft.com/office/drawing/2014/main" id="{42570B57-2C35-0C4E-35F1-E817C8EEFCA7}"/>
              </a:ext>
            </a:extLst>
          </p:cNvPr>
          <p:cNvSpPr txBox="1">
            <a:spLocks noChangeArrowheads="1"/>
          </p:cNvSpPr>
          <p:nvPr/>
        </p:nvSpPr>
        <p:spPr>
          <a:xfrm>
            <a:off x="838200" y="303249"/>
            <a:ext cx="10515600" cy="7211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Attacks on the Caesar Cipher</a:t>
            </a:r>
          </a:p>
        </p:txBody>
      </p:sp>
    </p:spTree>
    <p:extLst>
      <p:ext uri="{BB962C8B-B14F-4D97-AF65-F5344CB8AC3E}">
        <p14:creationId xmlns:p14="http://schemas.microsoft.com/office/powerpoint/2010/main" val="3407833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0C451EFD-6233-8B68-2992-160872100152}"/>
              </a:ext>
            </a:extLst>
          </p:cNvPr>
          <p:cNvSpPr txBox="1">
            <a:spLocks noChangeArrowheads="1"/>
          </p:cNvSpPr>
          <p:nvPr/>
        </p:nvSpPr>
        <p:spPr>
          <a:xfrm>
            <a:off x="186033" y="1087793"/>
            <a:ext cx="1080516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ltLang="en-US" dirty="0"/>
              <a:t>Eve sees the ciphertext </a:t>
            </a:r>
            <a:r>
              <a:rPr lang="en-US" altLang="en-US" b="1" i="1" dirty="0"/>
              <a:t>JCKN ECGUCT</a:t>
            </a:r>
            <a:r>
              <a:rPr lang="en-US" altLang="en-US" dirty="0"/>
              <a:t>, but doesn’t know the key K</a:t>
            </a:r>
          </a:p>
          <a:p>
            <a:pPr>
              <a:spcAft>
                <a:spcPts val="600"/>
              </a:spcAft>
            </a:pPr>
            <a:r>
              <a:rPr lang="en-US" altLang="en-US" dirty="0"/>
              <a:t>If you were Eve, how would you try to break this algorithm?</a:t>
            </a:r>
          </a:p>
          <a:p>
            <a:pPr>
              <a:spcAft>
                <a:spcPts val="600"/>
              </a:spcAft>
              <a:tabLst>
                <a:tab pos="915988" algn="l"/>
                <a:tab pos="1374775" algn="l"/>
                <a:tab pos="2290763" algn="l"/>
                <a:tab pos="2749550" algn="l"/>
                <a:tab pos="3652838" algn="l"/>
                <a:tab pos="4111625" algn="l"/>
                <a:tab pos="5027613" algn="l"/>
                <a:tab pos="5486400" algn="l"/>
              </a:tabLst>
            </a:pPr>
            <a:r>
              <a:rPr lang="en-US" altLang="en-US" b="1" dirty="0"/>
              <a:t>Statistical Attack</a:t>
            </a:r>
            <a:r>
              <a:rPr lang="en-US" altLang="en-US" dirty="0"/>
              <a:t>:</a:t>
            </a:r>
          </a:p>
          <a:p>
            <a:pPr lvl="1">
              <a:spcAft>
                <a:spcPts val="600"/>
              </a:spcAft>
              <a:tabLst>
                <a:tab pos="915988" algn="l"/>
                <a:tab pos="1374775" algn="l"/>
                <a:tab pos="2290763" algn="l"/>
                <a:tab pos="2749550" algn="l"/>
                <a:tab pos="3652838" algn="l"/>
                <a:tab pos="4111625" algn="l"/>
                <a:tab pos="5027613" algn="l"/>
                <a:tab pos="5486400" algn="l"/>
              </a:tabLst>
            </a:pPr>
            <a:r>
              <a:rPr lang="en-US" altLang="en-US" dirty="0"/>
              <a:t>Compute frequency of each letter in ciphertext:</a:t>
            </a:r>
          </a:p>
          <a:p>
            <a:pPr lvl="1">
              <a:spcAft>
                <a:spcPts val="600"/>
              </a:spcAft>
              <a:buFont typeface="Arial" panose="020B0604020202020204" pitchFamily="34" charset="0"/>
              <a:buNone/>
              <a:tabLst>
                <a:tab pos="915988" algn="l"/>
                <a:tab pos="1374775" algn="l"/>
                <a:tab pos="2290763" algn="l"/>
                <a:tab pos="2749550" algn="l"/>
                <a:tab pos="3652838" algn="l"/>
                <a:tab pos="4111625" algn="l"/>
                <a:tab pos="5027613" algn="l"/>
                <a:tab pos="5486400" algn="l"/>
              </a:tabLst>
            </a:pPr>
            <a:r>
              <a:rPr lang="en-US" altLang="en-US" dirty="0"/>
              <a:t>		</a:t>
            </a:r>
            <a:r>
              <a:rPr lang="en-US" altLang="en-US" dirty="0">
                <a:latin typeface="Courier" pitchFamily="2" charset="0"/>
              </a:rPr>
              <a:t>G</a:t>
            </a:r>
            <a:r>
              <a:rPr lang="en-US" altLang="en-US" dirty="0"/>
              <a:t>	0.1	</a:t>
            </a:r>
            <a:r>
              <a:rPr lang="en-US" altLang="en-US" dirty="0">
                <a:latin typeface="Courier" pitchFamily="2" charset="0"/>
              </a:rPr>
              <a:t>H</a:t>
            </a:r>
            <a:r>
              <a:rPr lang="en-US" altLang="en-US" dirty="0"/>
              <a:t>	0.1	</a:t>
            </a:r>
            <a:r>
              <a:rPr lang="en-US" altLang="en-US" dirty="0">
                <a:latin typeface="Courier" pitchFamily="2" charset="0"/>
              </a:rPr>
              <a:t>K</a:t>
            </a:r>
            <a:r>
              <a:rPr lang="en-US" altLang="en-US" dirty="0"/>
              <a:t>	0.1	</a:t>
            </a:r>
            <a:r>
              <a:rPr lang="en-US" altLang="en-US" dirty="0">
                <a:latin typeface="Courier" pitchFamily="2" charset="0"/>
              </a:rPr>
              <a:t>O</a:t>
            </a:r>
            <a:r>
              <a:rPr lang="en-US" altLang="en-US" dirty="0"/>
              <a:t>	0.3</a:t>
            </a:r>
          </a:p>
          <a:p>
            <a:pPr lvl="1">
              <a:spcAft>
                <a:spcPts val="600"/>
              </a:spcAft>
              <a:buFont typeface="Arial" panose="020B0604020202020204" pitchFamily="34" charset="0"/>
              <a:buNone/>
              <a:tabLst>
                <a:tab pos="915988" algn="l"/>
                <a:tab pos="1374775" algn="l"/>
                <a:tab pos="2290763" algn="l"/>
                <a:tab pos="2749550" algn="l"/>
                <a:tab pos="3652838" algn="l"/>
                <a:tab pos="4111625" algn="l"/>
                <a:tab pos="5027613" algn="l"/>
                <a:tab pos="5486400" algn="l"/>
              </a:tabLst>
            </a:pPr>
            <a:r>
              <a:rPr lang="en-US" altLang="en-US" dirty="0"/>
              <a:t>		</a:t>
            </a:r>
            <a:r>
              <a:rPr lang="en-US" altLang="en-US" dirty="0">
                <a:latin typeface="Courier" pitchFamily="2" charset="0"/>
              </a:rPr>
              <a:t>R</a:t>
            </a:r>
            <a:r>
              <a:rPr lang="en-US" altLang="en-US" dirty="0"/>
              <a:t>	0.2	</a:t>
            </a:r>
            <a:r>
              <a:rPr lang="en-US" altLang="en-US" dirty="0">
                <a:latin typeface="Courier" pitchFamily="2" charset="0"/>
              </a:rPr>
              <a:t>U</a:t>
            </a:r>
            <a:r>
              <a:rPr lang="en-US" altLang="en-US" dirty="0"/>
              <a:t>	0.1	</a:t>
            </a:r>
            <a:r>
              <a:rPr lang="en-US" altLang="en-US" dirty="0">
                <a:latin typeface="Courier" pitchFamily="2" charset="0"/>
              </a:rPr>
              <a:t>Z</a:t>
            </a:r>
            <a:r>
              <a:rPr lang="en-US" altLang="en-US" dirty="0"/>
              <a:t>	0.1</a:t>
            </a:r>
          </a:p>
          <a:p>
            <a:pPr lvl="1">
              <a:spcAft>
                <a:spcPts val="600"/>
              </a:spcAft>
              <a:tabLst>
                <a:tab pos="915988" algn="l"/>
                <a:tab pos="1374775" algn="l"/>
                <a:tab pos="2290763" algn="l"/>
                <a:tab pos="2749550" algn="l"/>
                <a:tab pos="3652838" algn="l"/>
                <a:tab pos="4111625" algn="l"/>
                <a:tab pos="5027613" algn="l"/>
                <a:tab pos="5486400" algn="l"/>
              </a:tabLst>
            </a:pPr>
            <a:r>
              <a:rPr lang="en-US" altLang="en-US" dirty="0"/>
              <a:t>Apply 1-gram model of English</a:t>
            </a:r>
          </a:p>
          <a:p>
            <a:pPr lvl="2">
              <a:spcAft>
                <a:spcPts val="600"/>
              </a:spcAft>
              <a:tabLst>
                <a:tab pos="915988" algn="l"/>
                <a:tab pos="1374775" algn="l"/>
                <a:tab pos="2290763" algn="l"/>
                <a:tab pos="2749550" algn="l"/>
                <a:tab pos="3652838" algn="l"/>
                <a:tab pos="4111625" algn="l"/>
                <a:tab pos="5027613" algn="l"/>
                <a:tab pos="5486400" algn="l"/>
              </a:tabLst>
            </a:pPr>
            <a:r>
              <a:rPr lang="en-US" altLang="en-US" dirty="0"/>
              <a:t>Frequency of characters (1-grams) in English is on next slide</a:t>
            </a:r>
          </a:p>
        </p:txBody>
      </p:sp>
      <p:sp>
        <p:nvSpPr>
          <p:cNvPr id="4" name="Rectangle 2">
            <a:extLst>
              <a:ext uri="{FF2B5EF4-FFF2-40B4-BE49-F238E27FC236}">
                <a16:creationId xmlns:a16="http://schemas.microsoft.com/office/drawing/2014/main" id="{019A23DA-7950-88B7-761B-32CC95419A92}"/>
              </a:ext>
            </a:extLst>
          </p:cNvPr>
          <p:cNvSpPr txBox="1">
            <a:spLocks noChangeArrowheads="1"/>
          </p:cNvSpPr>
          <p:nvPr/>
        </p:nvSpPr>
        <p:spPr>
          <a:xfrm>
            <a:off x="838200" y="121945"/>
            <a:ext cx="10515600" cy="7211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Attacks on the Caesar Cipher</a:t>
            </a:r>
          </a:p>
        </p:txBody>
      </p:sp>
      <p:graphicFrame>
        <p:nvGraphicFramePr>
          <p:cNvPr id="5" name="Google Shape;661;p61">
            <a:extLst>
              <a:ext uri="{FF2B5EF4-FFF2-40B4-BE49-F238E27FC236}">
                <a16:creationId xmlns:a16="http://schemas.microsoft.com/office/drawing/2014/main" id="{43066023-CC6D-6C86-2859-9EADD1CB053B}"/>
              </a:ext>
            </a:extLst>
          </p:cNvPr>
          <p:cNvGraphicFramePr/>
          <p:nvPr>
            <p:extLst>
              <p:ext uri="{D42A27DB-BD31-4B8C-83A1-F6EECF244321}">
                <p14:modId xmlns:p14="http://schemas.microsoft.com/office/powerpoint/2010/main" val="1612654889"/>
              </p:ext>
            </p:extLst>
          </p:nvPr>
        </p:nvGraphicFramePr>
        <p:xfrm>
          <a:off x="9163138" y="2312932"/>
          <a:ext cx="2565332" cy="4351332"/>
        </p:xfrm>
        <a:graphic>
          <a:graphicData uri="http://schemas.openxmlformats.org/drawingml/2006/table">
            <a:tbl>
              <a:tblPr>
                <a:noFill/>
              </a:tblPr>
              <a:tblGrid>
                <a:gridCol w="641333">
                  <a:extLst>
                    <a:ext uri="{9D8B030D-6E8A-4147-A177-3AD203B41FA5}">
                      <a16:colId xmlns:a16="http://schemas.microsoft.com/office/drawing/2014/main" val="20000"/>
                    </a:ext>
                  </a:extLst>
                </a:gridCol>
                <a:gridCol w="641333">
                  <a:extLst>
                    <a:ext uri="{9D8B030D-6E8A-4147-A177-3AD203B41FA5}">
                      <a16:colId xmlns:a16="http://schemas.microsoft.com/office/drawing/2014/main" val="20001"/>
                    </a:ext>
                  </a:extLst>
                </a:gridCol>
                <a:gridCol w="641333">
                  <a:extLst>
                    <a:ext uri="{9D8B030D-6E8A-4147-A177-3AD203B41FA5}">
                      <a16:colId xmlns:a16="http://schemas.microsoft.com/office/drawing/2014/main" val="20002"/>
                    </a:ext>
                  </a:extLst>
                </a:gridCol>
                <a:gridCol w="641333">
                  <a:extLst>
                    <a:ext uri="{9D8B030D-6E8A-4147-A177-3AD203B41FA5}">
                      <a16:colId xmlns:a16="http://schemas.microsoft.com/office/drawing/2014/main" val="20003"/>
                    </a:ext>
                  </a:extLst>
                </a:gridCol>
              </a:tblGrid>
              <a:tr h="324498">
                <a:tc gridSpan="4">
                  <a:txBody>
                    <a:bodyPr/>
                    <a:lstStyle/>
                    <a:p>
                      <a:pPr marL="0" lvl="0" indent="0" algn="ctr" rtl="0">
                        <a:spcBef>
                          <a:spcPts val="0"/>
                        </a:spcBef>
                        <a:spcAft>
                          <a:spcPts val="0"/>
                        </a:spcAft>
                        <a:buNone/>
                      </a:pPr>
                      <a:r>
                        <a:rPr lang="en" sz="1200" i="1" dirty="0"/>
                        <a:t>K</a:t>
                      </a:r>
                      <a:r>
                        <a:rPr lang="en" sz="1200" dirty="0"/>
                        <a:t> = 3</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7631">
                <a:tc>
                  <a:txBody>
                    <a:bodyPr/>
                    <a:lstStyle/>
                    <a:p>
                      <a:pPr marL="0" lvl="0" indent="0" algn="l" rtl="0">
                        <a:spcBef>
                          <a:spcPts val="0"/>
                        </a:spcBef>
                        <a:spcAft>
                          <a:spcPts val="0"/>
                        </a:spcAft>
                        <a:buNone/>
                      </a:pPr>
                      <a:r>
                        <a:rPr lang="en" sz="1200" i="1" dirty="0"/>
                        <a:t>PT</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CT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PT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i="1" dirty="0"/>
                        <a:t>CT</a:t>
                      </a:r>
                      <a:endParaRPr sz="1200" i="1"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287631">
                <a:tc>
                  <a:txBody>
                    <a:bodyPr/>
                    <a:lstStyle/>
                    <a:p>
                      <a:pPr marL="0" lvl="0" indent="0" algn="l" rtl="0">
                        <a:spcBef>
                          <a:spcPts val="0"/>
                        </a:spcBef>
                        <a:spcAft>
                          <a:spcPts val="0"/>
                        </a:spcAft>
                        <a:buNone/>
                      </a:pPr>
                      <a:r>
                        <a:rPr lang="en" sz="1200"/>
                        <a:t>A</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D</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N</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Q</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287631">
                <a:tc>
                  <a:txBody>
                    <a:bodyPr/>
                    <a:lstStyle/>
                    <a:p>
                      <a:pPr marL="0" lvl="0" indent="0" algn="l" rtl="0">
                        <a:spcBef>
                          <a:spcPts val="0"/>
                        </a:spcBef>
                        <a:spcAft>
                          <a:spcPts val="0"/>
                        </a:spcAft>
                        <a:buNone/>
                      </a:pPr>
                      <a:r>
                        <a:rPr lang="en" sz="1200"/>
                        <a:t>B</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E</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O</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R</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287631">
                <a:tc>
                  <a:txBody>
                    <a:bodyPr/>
                    <a:lstStyle/>
                    <a:p>
                      <a:pPr marL="0" lvl="0" indent="0" algn="l" rtl="0">
                        <a:spcBef>
                          <a:spcPts val="0"/>
                        </a:spcBef>
                        <a:spcAft>
                          <a:spcPts val="0"/>
                        </a:spcAft>
                        <a:buNone/>
                      </a:pPr>
                      <a:r>
                        <a:rPr lang="en" sz="1200"/>
                        <a:t>C</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F</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P</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S</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287631">
                <a:tc>
                  <a:txBody>
                    <a:bodyPr/>
                    <a:lstStyle/>
                    <a:p>
                      <a:pPr marL="0" lvl="0" indent="0" algn="l" rtl="0">
                        <a:spcBef>
                          <a:spcPts val="0"/>
                        </a:spcBef>
                        <a:spcAft>
                          <a:spcPts val="0"/>
                        </a:spcAft>
                        <a:buNone/>
                      </a:pPr>
                      <a:r>
                        <a:rPr lang="en" sz="1200" dirty="0"/>
                        <a:t>D</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G</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Q</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T</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287631">
                <a:tc>
                  <a:txBody>
                    <a:bodyPr/>
                    <a:lstStyle/>
                    <a:p>
                      <a:pPr marL="0" lvl="0" indent="0" algn="l" rtl="0">
                        <a:spcBef>
                          <a:spcPts val="0"/>
                        </a:spcBef>
                        <a:spcAft>
                          <a:spcPts val="0"/>
                        </a:spcAft>
                        <a:buNone/>
                      </a:pPr>
                      <a:r>
                        <a:rPr lang="en" sz="1200" dirty="0"/>
                        <a:t>E</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lvl="0" indent="0" algn="l" rtl="0">
                        <a:spcBef>
                          <a:spcPts val="0"/>
                        </a:spcBef>
                        <a:spcAft>
                          <a:spcPts val="0"/>
                        </a:spcAft>
                        <a:buNone/>
                      </a:pPr>
                      <a:r>
                        <a:rPr lang="en" sz="1200" dirty="0"/>
                        <a:t>H</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R</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U</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287631">
                <a:tc>
                  <a:txBody>
                    <a:bodyPr/>
                    <a:lstStyle/>
                    <a:p>
                      <a:pPr marL="0" lvl="0" indent="0" algn="l" rtl="0">
                        <a:spcBef>
                          <a:spcPts val="0"/>
                        </a:spcBef>
                        <a:spcAft>
                          <a:spcPts val="0"/>
                        </a:spcAft>
                        <a:buNone/>
                      </a:pPr>
                      <a:r>
                        <a:rPr lang="en" sz="1200" dirty="0"/>
                        <a:t>F</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I</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S</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dirty="0"/>
                        <a:t>V</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287631">
                <a:tc>
                  <a:txBody>
                    <a:bodyPr/>
                    <a:lstStyle/>
                    <a:p>
                      <a:pPr marL="0" lvl="0" indent="0" algn="l" rtl="0">
                        <a:spcBef>
                          <a:spcPts val="0"/>
                        </a:spcBef>
                        <a:spcAft>
                          <a:spcPts val="0"/>
                        </a:spcAft>
                        <a:buNone/>
                      </a:pPr>
                      <a:r>
                        <a:rPr lang="en" sz="1200"/>
                        <a:t>G</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J</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T</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W</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r h="287631">
                <a:tc>
                  <a:txBody>
                    <a:bodyPr/>
                    <a:lstStyle/>
                    <a:p>
                      <a:pPr marL="0" lvl="0" indent="0" algn="l" rtl="0">
                        <a:spcBef>
                          <a:spcPts val="0"/>
                        </a:spcBef>
                        <a:spcAft>
                          <a:spcPts val="0"/>
                        </a:spcAft>
                        <a:buNone/>
                      </a:pPr>
                      <a:r>
                        <a:rPr lang="en" sz="1200" dirty="0"/>
                        <a:t>H</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lvl="0" indent="0" algn="l" rtl="0">
                        <a:spcBef>
                          <a:spcPts val="0"/>
                        </a:spcBef>
                        <a:spcAft>
                          <a:spcPts val="0"/>
                        </a:spcAft>
                        <a:buNone/>
                      </a:pPr>
                      <a:r>
                        <a:rPr lang="en" sz="1200"/>
                        <a:t>K</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U</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X</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287631">
                <a:tc>
                  <a:txBody>
                    <a:bodyPr/>
                    <a:lstStyle/>
                    <a:p>
                      <a:pPr marL="0" lvl="0" indent="0" algn="l" rtl="0">
                        <a:spcBef>
                          <a:spcPts val="0"/>
                        </a:spcBef>
                        <a:spcAft>
                          <a:spcPts val="0"/>
                        </a:spcAft>
                        <a:buNone/>
                      </a:pPr>
                      <a:r>
                        <a:rPr lang="en" sz="1200"/>
                        <a:t>I</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L</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V</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Y</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0"/>
                  </a:ext>
                </a:extLst>
              </a:tr>
              <a:tr h="287631">
                <a:tc>
                  <a:txBody>
                    <a:bodyPr/>
                    <a:lstStyle/>
                    <a:p>
                      <a:pPr marL="0" lvl="0" indent="0" algn="l" rtl="0">
                        <a:spcBef>
                          <a:spcPts val="0"/>
                        </a:spcBef>
                        <a:spcAft>
                          <a:spcPts val="0"/>
                        </a:spcAft>
                        <a:buNone/>
                      </a:pPr>
                      <a:r>
                        <a:rPr lang="en" sz="1200"/>
                        <a:t>J</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M</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W</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Z</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1"/>
                  </a:ext>
                </a:extLst>
              </a:tr>
              <a:tr h="287631">
                <a:tc>
                  <a:txBody>
                    <a:bodyPr/>
                    <a:lstStyle/>
                    <a:p>
                      <a:pPr marL="0" lvl="0" indent="0" algn="l" rtl="0">
                        <a:spcBef>
                          <a:spcPts val="0"/>
                        </a:spcBef>
                        <a:spcAft>
                          <a:spcPts val="0"/>
                        </a:spcAft>
                        <a:buNone/>
                      </a:pPr>
                      <a:r>
                        <a:rPr lang="en" sz="1200"/>
                        <a:t>K</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N</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X</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A</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2"/>
                  </a:ext>
                </a:extLst>
              </a:tr>
              <a:tr h="287631">
                <a:tc>
                  <a:txBody>
                    <a:bodyPr/>
                    <a:lstStyle/>
                    <a:p>
                      <a:pPr marL="0" lvl="0" indent="0" algn="l" rtl="0">
                        <a:spcBef>
                          <a:spcPts val="0"/>
                        </a:spcBef>
                        <a:spcAft>
                          <a:spcPts val="0"/>
                        </a:spcAft>
                        <a:buNone/>
                      </a:pPr>
                      <a:r>
                        <a:rPr lang="en" sz="1200"/>
                        <a:t>L</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O</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Y</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B</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3"/>
                  </a:ext>
                </a:extLst>
              </a:tr>
              <a:tr h="287631">
                <a:tc>
                  <a:txBody>
                    <a:bodyPr/>
                    <a:lstStyle/>
                    <a:p>
                      <a:pPr marL="0" lvl="0" indent="0" algn="l" rtl="0">
                        <a:spcBef>
                          <a:spcPts val="0"/>
                        </a:spcBef>
                        <a:spcAft>
                          <a:spcPts val="0"/>
                        </a:spcAft>
                        <a:buNone/>
                      </a:pPr>
                      <a:r>
                        <a:rPr lang="en" sz="1200"/>
                        <a:t>M</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P</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a:t>Z</a:t>
                      </a:r>
                      <a:endParaRPr sz="120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indent="0" algn="l" rtl="0">
                        <a:spcBef>
                          <a:spcPts val="0"/>
                        </a:spcBef>
                        <a:spcAft>
                          <a:spcPts val="0"/>
                        </a:spcAft>
                        <a:buNone/>
                      </a:pPr>
                      <a:r>
                        <a:rPr lang="en" sz="1200" dirty="0"/>
                        <a:t>C</a:t>
                      </a:r>
                      <a:endParaRPr sz="1200" dirty="0"/>
                    </a:p>
                  </a:txBody>
                  <a:tcPr marL="91425" marR="91425" marT="27425" marB="27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5323001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E1A520E-791F-AB5D-48C9-4BCF9EB8CA36}"/>
              </a:ext>
            </a:extLst>
          </p:cNvPr>
          <p:cNvSpPr txBox="1">
            <a:spLocks noChangeArrowheads="1"/>
          </p:cNvSpPr>
          <p:nvPr/>
        </p:nvSpPr>
        <p:spPr>
          <a:xfrm>
            <a:off x="914400" y="347971"/>
            <a:ext cx="10363200" cy="77776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Character Frequencies in English</a:t>
            </a:r>
          </a:p>
        </p:txBody>
      </p:sp>
      <p:graphicFrame>
        <p:nvGraphicFramePr>
          <p:cNvPr id="3" name="Group 101">
            <a:extLst>
              <a:ext uri="{FF2B5EF4-FFF2-40B4-BE49-F238E27FC236}">
                <a16:creationId xmlns:a16="http://schemas.microsoft.com/office/drawing/2014/main" id="{54237244-D088-F79A-0253-1AA0590B4EB0}"/>
              </a:ext>
            </a:extLst>
          </p:cNvPr>
          <p:cNvGraphicFramePr>
            <a:graphicFrameLocks/>
          </p:cNvGraphicFramePr>
          <p:nvPr>
            <p:extLst>
              <p:ext uri="{D42A27DB-BD31-4B8C-83A1-F6EECF244321}">
                <p14:modId xmlns:p14="http://schemas.microsoft.com/office/powerpoint/2010/main" val="2767303734"/>
              </p:ext>
            </p:extLst>
          </p:nvPr>
        </p:nvGraphicFramePr>
        <p:xfrm>
          <a:off x="1079292" y="1752601"/>
          <a:ext cx="10198308" cy="4368545"/>
        </p:xfrm>
        <a:graphic>
          <a:graphicData uri="http://schemas.openxmlformats.org/drawingml/2006/table">
            <a:tbl>
              <a:tblPr/>
              <a:tblGrid>
                <a:gridCol w="799867">
                  <a:extLst>
                    <a:ext uri="{9D8B030D-6E8A-4147-A177-3AD203B41FA5}">
                      <a16:colId xmlns:a16="http://schemas.microsoft.com/office/drawing/2014/main" val="3624483997"/>
                    </a:ext>
                  </a:extLst>
                </a:gridCol>
                <a:gridCol w="1749710">
                  <a:extLst>
                    <a:ext uri="{9D8B030D-6E8A-4147-A177-3AD203B41FA5}">
                      <a16:colId xmlns:a16="http://schemas.microsoft.com/office/drawing/2014/main" val="3938866242"/>
                    </a:ext>
                  </a:extLst>
                </a:gridCol>
                <a:gridCol w="849859">
                  <a:extLst>
                    <a:ext uri="{9D8B030D-6E8A-4147-A177-3AD203B41FA5}">
                      <a16:colId xmlns:a16="http://schemas.microsoft.com/office/drawing/2014/main" val="46523168"/>
                    </a:ext>
                  </a:extLst>
                </a:gridCol>
                <a:gridCol w="1699718">
                  <a:extLst>
                    <a:ext uri="{9D8B030D-6E8A-4147-A177-3AD203B41FA5}">
                      <a16:colId xmlns:a16="http://schemas.microsoft.com/office/drawing/2014/main" val="3249433871"/>
                    </a:ext>
                  </a:extLst>
                </a:gridCol>
                <a:gridCol w="799867">
                  <a:extLst>
                    <a:ext uri="{9D8B030D-6E8A-4147-A177-3AD203B41FA5}">
                      <a16:colId xmlns:a16="http://schemas.microsoft.com/office/drawing/2014/main" val="253915185"/>
                    </a:ext>
                  </a:extLst>
                </a:gridCol>
                <a:gridCol w="1749710">
                  <a:extLst>
                    <a:ext uri="{9D8B030D-6E8A-4147-A177-3AD203B41FA5}">
                      <a16:colId xmlns:a16="http://schemas.microsoft.com/office/drawing/2014/main" val="3205146843"/>
                    </a:ext>
                  </a:extLst>
                </a:gridCol>
                <a:gridCol w="749876">
                  <a:extLst>
                    <a:ext uri="{9D8B030D-6E8A-4147-A177-3AD203B41FA5}">
                      <a16:colId xmlns:a16="http://schemas.microsoft.com/office/drawing/2014/main" val="4006046674"/>
                    </a:ext>
                  </a:extLst>
                </a:gridCol>
                <a:gridCol w="1799701">
                  <a:extLst>
                    <a:ext uri="{9D8B030D-6E8A-4147-A177-3AD203B41FA5}">
                      <a16:colId xmlns:a16="http://schemas.microsoft.com/office/drawing/2014/main" val="618754167"/>
                    </a:ext>
                  </a:extLst>
                </a:gridCol>
              </a:tblGrid>
              <a:tr h="660815">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a</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0.07984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h</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0.06384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0.06876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0.09058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0452625"/>
                  </a:ext>
                </a:extLst>
              </a:tr>
              <a:tr h="619067">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b</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0.01511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i</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0.07000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0.07691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u</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0.02844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144387"/>
                  </a:ext>
                </a:extLst>
              </a:tr>
              <a:tr h="617399">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c</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0.02504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j</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0.00131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p</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0.01741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v</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0.01056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5716851"/>
                  </a:ext>
                </a:extLst>
              </a:tr>
              <a:tr h="617399">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d</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0.04260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k</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0.00741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0.00107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0.02304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04817834"/>
                  </a:ext>
                </a:extLst>
              </a:tr>
              <a:tr h="617399">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e</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0.12452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l</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0.03961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r</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0.05912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0.00159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8452859"/>
                  </a:ext>
                </a:extLst>
              </a:tr>
              <a:tr h="619067">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f</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0.02262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m</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0.02629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0.06333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0.02028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5958624"/>
                  </a:ext>
                </a:extLst>
              </a:tr>
              <a:tr h="617399">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g</a:t>
                      </a:r>
                      <a:endParaRPr kumimoji="0" lang="en-US" altLang="en-US" sz="2800" b="0" i="0"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0.02013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mn-lt"/>
                        </a:rPr>
                        <a:t>z</a:t>
                      </a:r>
                      <a:endParaRPr kumimoji="0" lang="en-US" altLang="en-US" sz="2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n-lt"/>
                        </a:rPr>
                        <a:t>0.00057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7833180"/>
                  </a:ext>
                </a:extLst>
              </a:tr>
            </a:tbl>
          </a:graphicData>
        </a:graphic>
      </p:graphicFrame>
    </p:spTree>
    <p:extLst>
      <p:ext uri="{BB962C8B-B14F-4D97-AF65-F5344CB8AC3E}">
        <p14:creationId xmlns:p14="http://schemas.microsoft.com/office/powerpoint/2010/main" val="407463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144782E-2D62-AC58-B984-471F8CDC4670}"/>
              </a:ext>
            </a:extLst>
          </p:cNvPr>
          <p:cNvSpPr txBox="1">
            <a:spLocks noChangeArrowheads="1"/>
          </p:cNvSpPr>
          <p:nvPr/>
        </p:nvSpPr>
        <p:spPr>
          <a:xfrm>
            <a:off x="838200" y="365126"/>
            <a:ext cx="10515600" cy="7699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800" dirty="0"/>
              <a:t>Breaking Caesar Cipher: Frequency Analysis Attack</a:t>
            </a:r>
          </a:p>
        </p:txBody>
      </p:sp>
      <p:sp>
        <p:nvSpPr>
          <p:cNvPr id="5" name="TextBox 4">
            <a:extLst>
              <a:ext uri="{FF2B5EF4-FFF2-40B4-BE49-F238E27FC236}">
                <a16:creationId xmlns:a16="http://schemas.microsoft.com/office/drawing/2014/main" id="{5A90853C-49D8-970A-5E9A-16FAC7E2F8FE}"/>
              </a:ext>
            </a:extLst>
          </p:cNvPr>
          <p:cNvSpPr txBox="1"/>
          <p:nvPr/>
        </p:nvSpPr>
        <p:spPr>
          <a:xfrm>
            <a:off x="419100" y="1592318"/>
            <a:ext cx="11353800" cy="4401205"/>
          </a:xfrm>
          <a:prstGeom prst="rect">
            <a:avLst/>
          </a:prstGeom>
          <a:noFill/>
        </p:spPr>
        <p:txBody>
          <a:bodyPr wrap="square">
            <a:spAutoFit/>
          </a:bodyPr>
          <a:lstStyle/>
          <a:p>
            <a:pPr>
              <a:spcAft>
                <a:spcPts val="1200"/>
              </a:spcAft>
              <a:buNone/>
            </a:pPr>
            <a:r>
              <a:rPr lang="en-US" sz="2000" dirty="0"/>
              <a:t>The Weakness: </a:t>
            </a:r>
            <a:r>
              <a:rPr lang="en-US" sz="2000" b="1" dirty="0"/>
              <a:t>Letter patterns remain visible</a:t>
            </a:r>
          </a:p>
          <a:p>
            <a:pPr marL="342900" indent="-342900">
              <a:spcAft>
                <a:spcPts val="1200"/>
              </a:spcAft>
              <a:buFont typeface="Arial" panose="020B0604020202020204" pitchFamily="34" charset="0"/>
              <a:buChar char="•"/>
            </a:pPr>
            <a:r>
              <a:rPr lang="en-US" sz="2000" dirty="0"/>
              <a:t>Even though letters are shifted, their </a:t>
            </a:r>
            <a:r>
              <a:rPr lang="en-US" sz="2000" b="1" dirty="0"/>
              <a:t>relative frequencies</a:t>
            </a:r>
            <a:r>
              <a:rPr lang="en-US" sz="2000" dirty="0"/>
              <a:t> stay the same!</a:t>
            </a:r>
          </a:p>
          <a:p>
            <a:pPr>
              <a:spcAft>
                <a:spcPts val="1200"/>
              </a:spcAft>
              <a:buNone/>
            </a:pPr>
            <a:r>
              <a:rPr lang="en-US" sz="2000" dirty="0"/>
              <a:t>How the Attack Works:</a:t>
            </a:r>
          </a:p>
          <a:p>
            <a:pPr marL="457200" indent="-457200">
              <a:spcAft>
                <a:spcPts val="1200"/>
              </a:spcAft>
              <a:buFont typeface="+mj-lt"/>
              <a:buAutoNum type="arabicPeriod"/>
            </a:pPr>
            <a:r>
              <a:rPr lang="en-US" sz="2000" dirty="0"/>
              <a:t>Collect ciphertext letter frequencies; Let f(c) = frequency of letter c in the </a:t>
            </a:r>
            <a:r>
              <a:rPr lang="en-US" sz="2000" b="1" dirty="0"/>
              <a:t>ciphertext</a:t>
            </a:r>
          </a:p>
          <a:p>
            <a:pPr marL="457200" indent="-457200">
              <a:spcAft>
                <a:spcPts val="1200"/>
              </a:spcAft>
              <a:buFont typeface="+mj-lt"/>
              <a:buAutoNum type="arabicPeriod"/>
            </a:pPr>
            <a:r>
              <a:rPr lang="en-US" sz="2000" dirty="0"/>
              <a:t> Compare against known English letter frequencies; Let p(x) = frequency of letter x in the </a:t>
            </a:r>
            <a:r>
              <a:rPr lang="en-US" sz="2000" b="1" dirty="0"/>
              <a:t>English</a:t>
            </a:r>
          </a:p>
          <a:p>
            <a:pPr marL="457200" indent="-457200">
              <a:spcAft>
                <a:spcPts val="1200"/>
              </a:spcAft>
              <a:buFont typeface="+mj-lt"/>
              <a:buAutoNum type="arabicPeriod"/>
            </a:pPr>
            <a:r>
              <a:rPr lang="en-US" sz="2000" dirty="0"/>
              <a:t>Try all 26 possible keys: For each possible shift/key i (0~25), calculate how well it matches English</a:t>
            </a:r>
          </a:p>
          <a:p>
            <a:pPr marL="914400" lvl="1" indent="-457200">
              <a:spcAft>
                <a:spcPts val="1200"/>
              </a:spcAft>
              <a:buFont typeface="+mj-lt"/>
              <a:buAutoNum type="alphaLcParenR"/>
            </a:pPr>
            <a:r>
              <a:rPr lang="en-US" altLang="en-US" sz="2000" dirty="0">
                <a:sym typeface="Symbol" pitchFamily="2" charset="2"/>
              </a:rPr>
              <a:t>(</a:t>
            </a:r>
            <a:r>
              <a:rPr lang="en-US" altLang="en-US" sz="2000" i="1" dirty="0">
                <a:sym typeface="Symbol" pitchFamily="2" charset="2"/>
              </a:rPr>
              <a:t>i</a:t>
            </a:r>
            <a:r>
              <a:rPr lang="en-US" altLang="en-US" sz="2000" dirty="0">
                <a:sym typeface="Symbol" pitchFamily="2" charset="2"/>
              </a:rPr>
              <a:t>): correlation of frequency of letters in ciphertext with corresponding letters in English, assuming key is </a:t>
            </a:r>
            <a:r>
              <a:rPr lang="en-US" altLang="en-US" sz="2000" i="1" dirty="0">
                <a:sym typeface="Symbol" pitchFamily="2" charset="2"/>
              </a:rPr>
              <a:t>i</a:t>
            </a:r>
          </a:p>
          <a:p>
            <a:pPr marL="914400" lvl="1" indent="-457200">
              <a:spcAft>
                <a:spcPts val="1200"/>
              </a:spcAft>
              <a:buFont typeface="+mj-lt"/>
              <a:buAutoNum type="alphaLcParenR"/>
            </a:pPr>
            <a:r>
              <a:rPr lang="en-US" altLang="en-US" sz="2000" dirty="0">
                <a:sym typeface="Symbol" pitchFamily="2" charset="2"/>
              </a:rPr>
              <a:t></a:t>
            </a:r>
            <a:r>
              <a:rPr lang="en-US" altLang="en-US" sz="2000" dirty="0"/>
              <a:t>(</a:t>
            </a:r>
            <a:r>
              <a:rPr lang="en-US" altLang="en-US" sz="2000" i="1" dirty="0"/>
              <a:t>i</a:t>
            </a:r>
            <a:r>
              <a:rPr lang="en-US" altLang="en-US" sz="2000" dirty="0"/>
              <a:t>) = </a:t>
            </a:r>
            <a:r>
              <a:rPr lang="en-US" altLang="en-US" sz="2000" dirty="0">
                <a:sym typeface="Symbol" pitchFamily="2" charset="2"/>
              </a:rPr>
              <a:t></a:t>
            </a:r>
            <a:r>
              <a:rPr lang="en-US" altLang="en-US" sz="2000" baseline="-25000" dirty="0"/>
              <a:t>0 ≤ </a:t>
            </a:r>
            <a:r>
              <a:rPr lang="en-US" altLang="en-US" sz="2000" i="1" baseline="-25000" dirty="0"/>
              <a:t>c</a:t>
            </a:r>
            <a:r>
              <a:rPr lang="en-US" altLang="en-US" sz="2000" baseline="-25000" dirty="0"/>
              <a:t> ≤ 25</a:t>
            </a:r>
            <a:r>
              <a:rPr lang="en-US" altLang="en-US" sz="2000" dirty="0"/>
              <a:t> </a:t>
            </a:r>
            <a:r>
              <a:rPr lang="en-US" altLang="en-US" sz="2000" i="1" dirty="0"/>
              <a:t>f</a:t>
            </a:r>
            <a:r>
              <a:rPr lang="en-US" altLang="en-US" sz="2000" dirty="0"/>
              <a:t>(</a:t>
            </a:r>
            <a:r>
              <a:rPr lang="en-US" altLang="en-US" sz="2000" i="1" dirty="0"/>
              <a:t>c</a:t>
            </a:r>
            <a:r>
              <a:rPr lang="en-US" altLang="en-US" sz="2000" dirty="0"/>
              <a:t>)</a:t>
            </a:r>
            <a:r>
              <a:rPr lang="en-US" altLang="en-US" sz="2000" i="1" dirty="0"/>
              <a:t>p</a:t>
            </a:r>
            <a:r>
              <a:rPr lang="en-US" altLang="en-US" sz="2000" dirty="0"/>
              <a:t>(</a:t>
            </a:r>
            <a:r>
              <a:rPr lang="en-US" altLang="en-US" sz="2000" i="1" dirty="0"/>
              <a:t>c</a:t>
            </a:r>
            <a:r>
              <a:rPr lang="en-US" altLang="en-US" sz="2000" dirty="0"/>
              <a:t> – </a:t>
            </a:r>
            <a:r>
              <a:rPr lang="en-US" altLang="en-US" sz="2000" i="1" dirty="0"/>
              <a:t>i</a:t>
            </a:r>
            <a:r>
              <a:rPr lang="en-US" altLang="en-US" sz="2000" dirty="0"/>
              <a:t>)</a:t>
            </a:r>
            <a:endParaRPr lang="en-US" altLang="en-US" sz="2000" dirty="0">
              <a:sym typeface="Symbol" pitchFamily="2" charset="2"/>
            </a:endParaRPr>
          </a:p>
          <a:p>
            <a:pPr marL="457200" indent="-457200">
              <a:spcAft>
                <a:spcPts val="1200"/>
              </a:spcAft>
              <a:buFont typeface="+mj-lt"/>
              <a:buAutoNum type="arabicPeriod"/>
            </a:pPr>
            <a:r>
              <a:rPr lang="en-US" sz="2000" dirty="0"/>
              <a:t>Pick the key with highest correlation: The </a:t>
            </a:r>
            <a:r>
              <a:rPr lang="en-US" sz="2000" b="1" dirty="0">
                <a:solidFill>
                  <a:srgbClr val="C00000"/>
                </a:solidFill>
              </a:rPr>
              <a:t>i</a:t>
            </a:r>
            <a:r>
              <a:rPr lang="en-US" sz="2000" dirty="0"/>
              <a:t> that gives the highest </a:t>
            </a:r>
            <a:r>
              <a:rPr lang="en-US" altLang="en-US" sz="2000" dirty="0">
                <a:sym typeface="Symbol" pitchFamily="2" charset="2"/>
              </a:rPr>
              <a:t></a:t>
            </a:r>
            <a:r>
              <a:rPr lang="en-US" altLang="en-US" sz="2000" dirty="0"/>
              <a:t>(</a:t>
            </a:r>
            <a:r>
              <a:rPr lang="en-US" altLang="en-US" sz="2000" i="1" dirty="0"/>
              <a:t>i</a:t>
            </a:r>
            <a:r>
              <a:rPr lang="en-US" altLang="en-US" sz="2000" dirty="0"/>
              <a:t>) </a:t>
            </a:r>
            <a:r>
              <a:rPr lang="en-US" sz="2000" dirty="0"/>
              <a:t>is likely the correct key!</a:t>
            </a:r>
          </a:p>
        </p:txBody>
      </p:sp>
    </p:spTree>
    <p:extLst>
      <p:ext uri="{BB962C8B-B14F-4D97-AF65-F5344CB8AC3E}">
        <p14:creationId xmlns:p14="http://schemas.microsoft.com/office/powerpoint/2010/main" val="644121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A9BF998-3215-7196-8E52-63EA4F994115}"/>
              </a:ext>
            </a:extLst>
          </p:cNvPr>
          <p:cNvSpPr txBox="1">
            <a:spLocks noChangeArrowheads="1"/>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Correlation of </a:t>
            </a:r>
            <a:r>
              <a:rPr lang="en-US" altLang="en-US" dirty="0">
                <a:sym typeface="Symbol" pitchFamily="2" charset="2"/>
              </a:rPr>
              <a:t></a:t>
            </a:r>
            <a:r>
              <a:rPr lang="en-US" altLang="en-US" dirty="0"/>
              <a:t>(</a:t>
            </a:r>
            <a:r>
              <a:rPr lang="en-US" altLang="en-US" i="1" dirty="0"/>
              <a:t>i</a:t>
            </a:r>
            <a:r>
              <a:rPr lang="en-US" altLang="en-US" dirty="0"/>
              <a:t>) and Result</a:t>
            </a:r>
          </a:p>
        </p:txBody>
      </p:sp>
      <p:sp>
        <p:nvSpPr>
          <p:cNvPr id="3" name="Rectangle 3">
            <a:extLst>
              <a:ext uri="{FF2B5EF4-FFF2-40B4-BE49-F238E27FC236}">
                <a16:creationId xmlns:a16="http://schemas.microsoft.com/office/drawing/2014/main" id="{D3FD94C3-1C24-D1AF-CB20-0EE214E10B83}"/>
              </a:ext>
            </a:extLst>
          </p:cNvPr>
          <p:cNvSpPr txBox="1">
            <a:spLocks noChangeArrowheads="1"/>
          </p:cNvSpPr>
          <p:nvPr/>
        </p:nvSpPr>
        <p:spPr>
          <a:xfrm>
            <a:off x="7233745" y="1494549"/>
            <a:ext cx="4750675" cy="5071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dirty="0"/>
              <a:t>Most probable keys, based on </a:t>
            </a:r>
            <a:r>
              <a:rPr lang="en-US" altLang="en-US" sz="2000" dirty="0">
                <a:sym typeface="Symbol" pitchFamily="2" charset="2"/>
              </a:rPr>
              <a:t>:</a:t>
            </a:r>
          </a:p>
          <a:p>
            <a:r>
              <a:rPr lang="en-US" altLang="en-US" sz="2400" i="1" dirty="0"/>
              <a:t>i</a:t>
            </a:r>
            <a:r>
              <a:rPr lang="en-US" altLang="en-US" sz="2400" dirty="0"/>
              <a:t> = 6, </a:t>
            </a:r>
            <a:r>
              <a:rPr lang="en-US" altLang="en-US" sz="2400" dirty="0">
                <a:sym typeface="Symbol" pitchFamily="2" charset="2"/>
              </a:rPr>
              <a:t></a:t>
            </a:r>
            <a:r>
              <a:rPr lang="en-US" altLang="en-US" sz="2400" dirty="0"/>
              <a:t>(</a:t>
            </a:r>
            <a:r>
              <a:rPr lang="en-US" altLang="en-US" sz="2400" i="1" dirty="0"/>
              <a:t>i</a:t>
            </a:r>
            <a:r>
              <a:rPr lang="en-US" altLang="en-US" sz="2400" dirty="0"/>
              <a:t>) = 0.0676</a:t>
            </a:r>
          </a:p>
          <a:p>
            <a:pPr lvl="1"/>
            <a:r>
              <a:rPr lang="en-US" altLang="en-US" dirty="0"/>
              <a:t>plaintext </a:t>
            </a:r>
            <a:r>
              <a:rPr lang="en-US" altLang="en-US" dirty="0">
                <a:latin typeface="Courier" pitchFamily="2" charset="0"/>
              </a:rPr>
              <a:t>EBIIL TLOLA</a:t>
            </a:r>
            <a:endParaRPr lang="en-US" altLang="en-US" dirty="0"/>
          </a:p>
          <a:p>
            <a:r>
              <a:rPr lang="en-US" altLang="en-US" sz="2400" i="1" dirty="0"/>
              <a:t>i</a:t>
            </a:r>
            <a:r>
              <a:rPr lang="en-US" altLang="en-US" sz="2400" dirty="0"/>
              <a:t> = 10, </a:t>
            </a:r>
            <a:r>
              <a:rPr lang="en-US" altLang="en-US" sz="2400" dirty="0">
                <a:sym typeface="Symbol" pitchFamily="2" charset="2"/>
              </a:rPr>
              <a:t></a:t>
            </a:r>
            <a:r>
              <a:rPr lang="en-US" altLang="en-US" sz="2400" dirty="0"/>
              <a:t>(</a:t>
            </a:r>
            <a:r>
              <a:rPr lang="en-US" altLang="en-US" sz="2400" i="1" dirty="0"/>
              <a:t>i</a:t>
            </a:r>
            <a:r>
              <a:rPr lang="en-US" altLang="en-US" sz="2400" dirty="0"/>
              <a:t>) = 0.0631</a:t>
            </a:r>
          </a:p>
          <a:p>
            <a:pPr lvl="1"/>
            <a:r>
              <a:rPr lang="en-US" altLang="en-US" dirty="0"/>
              <a:t>plaintext </a:t>
            </a:r>
            <a:r>
              <a:rPr lang="en-US" altLang="en-US" dirty="0">
                <a:latin typeface="Courier" pitchFamily="2" charset="0"/>
              </a:rPr>
              <a:t>AXEEH PHKEW</a:t>
            </a:r>
            <a:endParaRPr lang="en-US" altLang="en-US" dirty="0"/>
          </a:p>
          <a:p>
            <a:r>
              <a:rPr lang="en-US" altLang="en-US" sz="2400" i="1" dirty="0"/>
              <a:t>i</a:t>
            </a:r>
            <a:r>
              <a:rPr lang="en-US" altLang="en-US" sz="2400" dirty="0"/>
              <a:t> = 14, </a:t>
            </a:r>
            <a:r>
              <a:rPr lang="en-US" altLang="en-US" sz="2400" dirty="0">
                <a:sym typeface="Symbol" pitchFamily="2" charset="2"/>
              </a:rPr>
              <a:t></a:t>
            </a:r>
            <a:r>
              <a:rPr lang="en-US" altLang="en-US" sz="2400" dirty="0"/>
              <a:t>(</a:t>
            </a:r>
            <a:r>
              <a:rPr lang="en-US" altLang="en-US" sz="2400" i="1" dirty="0"/>
              <a:t>i</a:t>
            </a:r>
            <a:r>
              <a:rPr lang="en-US" altLang="en-US" sz="2400" dirty="0"/>
              <a:t>) = 0.0561</a:t>
            </a:r>
          </a:p>
          <a:p>
            <a:pPr lvl="1"/>
            <a:r>
              <a:rPr lang="en-US" altLang="en-US" dirty="0"/>
              <a:t>plaintext </a:t>
            </a:r>
            <a:r>
              <a:rPr lang="en-US" altLang="en-US" dirty="0">
                <a:latin typeface="Courier" pitchFamily="2" charset="0"/>
              </a:rPr>
              <a:t>WTAAD LDGAS</a:t>
            </a:r>
          </a:p>
          <a:p>
            <a:r>
              <a:rPr lang="en-US" altLang="en-US" sz="2400" i="1" dirty="0"/>
              <a:t>i</a:t>
            </a:r>
            <a:r>
              <a:rPr lang="en-US" altLang="en-US" sz="2400" dirty="0"/>
              <a:t> = 3, </a:t>
            </a:r>
            <a:r>
              <a:rPr lang="en-US" altLang="en-US" sz="2400" dirty="0">
                <a:sym typeface="Symbol" pitchFamily="2" charset="2"/>
              </a:rPr>
              <a:t></a:t>
            </a:r>
            <a:r>
              <a:rPr lang="en-US" altLang="en-US" sz="2400" dirty="0"/>
              <a:t>(</a:t>
            </a:r>
            <a:r>
              <a:rPr lang="en-US" altLang="en-US" sz="2400" i="1" dirty="0"/>
              <a:t>i</a:t>
            </a:r>
            <a:r>
              <a:rPr lang="en-US" altLang="en-US" sz="2400" dirty="0"/>
              <a:t>) = 0.0586</a:t>
            </a:r>
          </a:p>
          <a:p>
            <a:pPr lvl="1"/>
            <a:r>
              <a:rPr lang="en-US" altLang="en-US" dirty="0"/>
              <a:t>plaintext </a:t>
            </a:r>
            <a:r>
              <a:rPr lang="en-US" altLang="en-US" dirty="0">
                <a:latin typeface="Courier" pitchFamily="2" charset="0"/>
              </a:rPr>
              <a:t>HELLO WORLD</a:t>
            </a:r>
          </a:p>
          <a:p>
            <a:pPr marL="457200" lvl="1" indent="0">
              <a:buNone/>
            </a:pPr>
            <a:endParaRPr lang="en-US" altLang="en-US" dirty="0"/>
          </a:p>
          <a:p>
            <a:pPr marL="0" indent="0">
              <a:buNone/>
            </a:pPr>
            <a:r>
              <a:rPr lang="en-US" altLang="en-US" sz="2000" b="1" dirty="0">
                <a:solidFill>
                  <a:srgbClr val="C00000"/>
                </a:solidFill>
              </a:rPr>
              <a:t>Only English phrase is for </a:t>
            </a:r>
            <a:r>
              <a:rPr lang="en-US" altLang="en-US" sz="2000" b="1" i="1" dirty="0">
                <a:solidFill>
                  <a:srgbClr val="C00000"/>
                </a:solidFill>
              </a:rPr>
              <a:t>i</a:t>
            </a:r>
            <a:r>
              <a:rPr lang="en-US" altLang="en-US" sz="2000" b="1" dirty="0">
                <a:solidFill>
                  <a:srgbClr val="C00000"/>
                </a:solidFill>
              </a:rPr>
              <a:t> = 3</a:t>
            </a:r>
          </a:p>
          <a:p>
            <a:r>
              <a:rPr lang="en-US" altLang="en-US" sz="2400" dirty="0"/>
              <a:t>That’s the key (3 or ‘</a:t>
            </a:r>
            <a:r>
              <a:rPr lang="en-US" altLang="en-US" sz="2400" dirty="0">
                <a:latin typeface="Courier" pitchFamily="2" charset="0"/>
              </a:rPr>
              <a:t>D</a:t>
            </a:r>
            <a:r>
              <a:rPr lang="en-US" altLang="en-US" sz="2400" dirty="0"/>
              <a:t>’)</a:t>
            </a:r>
            <a:endParaRPr lang="en-US" altLang="en-US" sz="2400" dirty="0">
              <a:sym typeface="Symbol" pitchFamily="2" charset="2"/>
            </a:endParaRPr>
          </a:p>
        </p:txBody>
      </p:sp>
      <p:graphicFrame>
        <p:nvGraphicFramePr>
          <p:cNvPr id="4" name="Group 175">
            <a:extLst>
              <a:ext uri="{FF2B5EF4-FFF2-40B4-BE49-F238E27FC236}">
                <a16:creationId xmlns:a16="http://schemas.microsoft.com/office/drawing/2014/main" id="{5F460297-BD2B-E9C8-D369-CBDE87EA707D}"/>
              </a:ext>
            </a:extLst>
          </p:cNvPr>
          <p:cNvGraphicFramePr>
            <a:graphicFrameLocks/>
          </p:cNvGraphicFramePr>
          <p:nvPr>
            <p:extLst>
              <p:ext uri="{D42A27DB-BD31-4B8C-83A1-F6EECF244321}">
                <p14:modId xmlns:p14="http://schemas.microsoft.com/office/powerpoint/2010/main" val="3275200970"/>
              </p:ext>
            </p:extLst>
          </p:nvPr>
        </p:nvGraphicFramePr>
        <p:xfrm>
          <a:off x="381001" y="1973043"/>
          <a:ext cx="6311461" cy="4114800"/>
        </p:xfrm>
        <a:graphic>
          <a:graphicData uri="http://schemas.openxmlformats.org/drawingml/2006/table">
            <a:tbl>
              <a:tblPr/>
              <a:tblGrid>
                <a:gridCol w="433139">
                  <a:extLst>
                    <a:ext uri="{9D8B030D-6E8A-4147-A177-3AD203B41FA5}">
                      <a16:colId xmlns:a16="http://schemas.microsoft.com/office/drawing/2014/main" val="936647219"/>
                    </a:ext>
                  </a:extLst>
                </a:gridCol>
                <a:gridCol w="1144726">
                  <a:extLst>
                    <a:ext uri="{9D8B030D-6E8A-4147-A177-3AD203B41FA5}">
                      <a16:colId xmlns:a16="http://schemas.microsoft.com/office/drawing/2014/main" val="3676467202"/>
                    </a:ext>
                  </a:extLst>
                </a:gridCol>
                <a:gridCol w="464078">
                  <a:extLst>
                    <a:ext uri="{9D8B030D-6E8A-4147-A177-3AD203B41FA5}">
                      <a16:colId xmlns:a16="http://schemas.microsoft.com/office/drawing/2014/main" val="2845649828"/>
                    </a:ext>
                  </a:extLst>
                </a:gridCol>
                <a:gridCol w="1113787">
                  <a:extLst>
                    <a:ext uri="{9D8B030D-6E8A-4147-A177-3AD203B41FA5}">
                      <a16:colId xmlns:a16="http://schemas.microsoft.com/office/drawing/2014/main" val="1257571125"/>
                    </a:ext>
                  </a:extLst>
                </a:gridCol>
                <a:gridCol w="556894">
                  <a:extLst>
                    <a:ext uri="{9D8B030D-6E8A-4147-A177-3AD203B41FA5}">
                      <a16:colId xmlns:a16="http://schemas.microsoft.com/office/drawing/2014/main" val="2800288084"/>
                    </a:ext>
                  </a:extLst>
                </a:gridCol>
                <a:gridCol w="1020972">
                  <a:extLst>
                    <a:ext uri="{9D8B030D-6E8A-4147-A177-3AD203B41FA5}">
                      <a16:colId xmlns:a16="http://schemas.microsoft.com/office/drawing/2014/main" val="3586287096"/>
                    </a:ext>
                  </a:extLst>
                </a:gridCol>
                <a:gridCol w="525955">
                  <a:extLst>
                    <a:ext uri="{9D8B030D-6E8A-4147-A177-3AD203B41FA5}">
                      <a16:colId xmlns:a16="http://schemas.microsoft.com/office/drawing/2014/main" val="4184097010"/>
                    </a:ext>
                  </a:extLst>
                </a:gridCol>
                <a:gridCol w="1051910">
                  <a:extLst>
                    <a:ext uri="{9D8B030D-6E8A-4147-A177-3AD203B41FA5}">
                      <a16:colId xmlns:a16="http://schemas.microsoft.com/office/drawing/2014/main" val="3211507796"/>
                    </a:ext>
                  </a:extLst>
                </a:gridCol>
              </a:tblGrid>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dirty="0" err="1">
                          <a:ln>
                            <a:noFill/>
                          </a:ln>
                          <a:solidFill>
                            <a:schemeClr val="tx1"/>
                          </a:solidFill>
                          <a:effectLst/>
                          <a:latin typeface="+mn-lt"/>
                        </a:rPr>
                        <a:t>i</a:t>
                      </a:r>
                      <a:endParaRPr kumimoji="0" lang="en-US" altLang="en-US" sz="1800" b="1" i="1" u="none" strike="noStrike" cap="none" normalizeH="0" baseline="0" dirty="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mn-lt"/>
                          <a:sym typeface="Symbol" pitchFamily="2" charset="2"/>
                        </a:rPr>
                        <a:t></a:t>
                      </a:r>
                      <a:r>
                        <a:rPr kumimoji="0" lang="en-US" altLang="en-US" sz="1800" b="1" i="0" u="none" strike="noStrike" cap="none" normalizeH="0" baseline="0">
                          <a:ln>
                            <a:noFill/>
                          </a:ln>
                          <a:solidFill>
                            <a:schemeClr val="tx1"/>
                          </a:solidFill>
                          <a:effectLst/>
                          <a:latin typeface="+mn-lt"/>
                        </a:rPr>
                        <a:t>(</a:t>
                      </a:r>
                      <a:r>
                        <a:rPr kumimoji="0" lang="en-US" altLang="en-US" sz="1800" b="1" i="1" u="none" strike="noStrike" cap="none" normalizeH="0" baseline="0">
                          <a:ln>
                            <a:noFill/>
                          </a:ln>
                          <a:solidFill>
                            <a:schemeClr val="tx1"/>
                          </a:solidFill>
                          <a:effectLst/>
                          <a:latin typeface="+mn-lt"/>
                        </a:rPr>
                        <a:t>i</a:t>
                      </a:r>
                      <a:r>
                        <a:rPr kumimoji="0" lang="en-US" altLang="en-US" sz="1800" b="1" i="0" u="none" strike="noStrike" cap="none" normalizeH="0" baseline="0">
                          <a:ln>
                            <a:noFill/>
                          </a:ln>
                          <a:solidFill>
                            <a:schemeClr val="tx1"/>
                          </a:solidFill>
                          <a:effectLst/>
                          <a:latin typeface="+mn-lt"/>
                        </a:rPr>
                        <a:t>)</a:t>
                      </a:r>
                      <a:endParaRPr kumimoji="0" lang="en-US" altLang="en-US" sz="1800" b="1" i="1"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mn-lt"/>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mn-lt"/>
                          <a:sym typeface="Symbol" pitchFamily="2" charset="2"/>
                        </a:rPr>
                        <a:t></a:t>
                      </a:r>
                      <a:r>
                        <a:rPr kumimoji="0" lang="en-US" altLang="en-US" sz="1800" b="1" i="0" u="none" strike="noStrike" cap="none" normalizeH="0" baseline="0">
                          <a:ln>
                            <a:noFill/>
                          </a:ln>
                          <a:solidFill>
                            <a:schemeClr val="tx1"/>
                          </a:solidFill>
                          <a:effectLst/>
                          <a:latin typeface="+mn-lt"/>
                        </a:rPr>
                        <a:t>(</a:t>
                      </a:r>
                      <a:r>
                        <a:rPr kumimoji="0" lang="en-US" altLang="en-US" sz="1800" b="1" i="1" u="none" strike="noStrike" cap="none" normalizeH="0" baseline="0">
                          <a:ln>
                            <a:noFill/>
                          </a:ln>
                          <a:solidFill>
                            <a:schemeClr val="tx1"/>
                          </a:solidFill>
                          <a:effectLst/>
                          <a:latin typeface="+mn-lt"/>
                        </a:rPr>
                        <a:t>i</a:t>
                      </a:r>
                      <a:r>
                        <a:rPr kumimoji="0" lang="en-US" altLang="en-US" sz="1800" b="1" i="0" u="none" strike="noStrike" cap="none" normalizeH="0" baseline="0">
                          <a:ln>
                            <a:noFill/>
                          </a:ln>
                          <a:solidFill>
                            <a:schemeClr val="tx1"/>
                          </a:solidFill>
                          <a:effectLst/>
                          <a:latin typeface="+mn-lt"/>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mn-lt"/>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mn-lt"/>
                          <a:sym typeface="Symbol" pitchFamily="2" charset="2"/>
                        </a:rPr>
                        <a:t></a:t>
                      </a:r>
                      <a:r>
                        <a:rPr kumimoji="0" lang="en-US" altLang="en-US" sz="1800" b="1" i="0" u="none" strike="noStrike" cap="none" normalizeH="0" baseline="0">
                          <a:ln>
                            <a:noFill/>
                          </a:ln>
                          <a:solidFill>
                            <a:schemeClr val="tx1"/>
                          </a:solidFill>
                          <a:effectLst/>
                          <a:latin typeface="+mn-lt"/>
                        </a:rPr>
                        <a:t>(</a:t>
                      </a:r>
                      <a:r>
                        <a:rPr kumimoji="0" lang="en-US" altLang="en-US" sz="1800" b="1" i="1" u="none" strike="noStrike" cap="none" normalizeH="0" baseline="0">
                          <a:ln>
                            <a:noFill/>
                          </a:ln>
                          <a:solidFill>
                            <a:schemeClr val="tx1"/>
                          </a:solidFill>
                          <a:effectLst/>
                          <a:latin typeface="+mn-lt"/>
                        </a:rPr>
                        <a:t>i</a:t>
                      </a:r>
                      <a:r>
                        <a:rPr kumimoji="0" lang="en-US" altLang="en-US" sz="1800" b="1" i="0" u="none" strike="noStrike" cap="none" normalizeH="0" baseline="0">
                          <a:ln>
                            <a:noFill/>
                          </a:ln>
                          <a:solidFill>
                            <a:schemeClr val="tx1"/>
                          </a:solidFill>
                          <a:effectLst/>
                          <a:latin typeface="+mn-lt"/>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mn-lt"/>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mn-lt"/>
                          <a:sym typeface="Symbol" pitchFamily="2" charset="2"/>
                        </a:rPr>
                        <a:t></a:t>
                      </a:r>
                      <a:r>
                        <a:rPr kumimoji="0" lang="en-US" altLang="en-US" sz="1800" b="1" i="0" u="none" strike="noStrike" cap="none" normalizeH="0" baseline="0">
                          <a:ln>
                            <a:noFill/>
                          </a:ln>
                          <a:solidFill>
                            <a:schemeClr val="tx1"/>
                          </a:solidFill>
                          <a:effectLst/>
                          <a:latin typeface="+mn-lt"/>
                        </a:rPr>
                        <a:t>(</a:t>
                      </a:r>
                      <a:r>
                        <a:rPr kumimoji="0" lang="en-US" altLang="en-US" sz="1800" b="1" i="1" u="none" strike="noStrike" cap="none" normalizeH="0" baseline="0">
                          <a:ln>
                            <a:noFill/>
                          </a:ln>
                          <a:solidFill>
                            <a:schemeClr val="tx1"/>
                          </a:solidFill>
                          <a:effectLst/>
                          <a:latin typeface="+mn-lt"/>
                        </a:rPr>
                        <a:t>i</a:t>
                      </a:r>
                      <a:r>
                        <a:rPr kumimoji="0" lang="en-US" altLang="en-US" sz="1800" b="1" i="0" u="none" strike="noStrike" cap="none" normalizeH="0" baseline="0">
                          <a:ln>
                            <a:noFill/>
                          </a:ln>
                          <a:solidFill>
                            <a:schemeClr val="tx1"/>
                          </a:solidFill>
                          <a:effectLst/>
                          <a:latin typeface="+mn-lt"/>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42205405"/>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0.0469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0.0461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0.0505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6613252"/>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0.0194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0.0561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0.0287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1834287"/>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0.0396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0.0286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0.0215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0.0526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6265002"/>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0.0586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0.0631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0.0398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4633038"/>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0.0259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0.0280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4019966"/>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0.0165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0.0320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7433848"/>
                  </a:ext>
                </a:extLst>
              </a:tr>
              <a:tr h="514350">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0.0676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mn-lt"/>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itchFamily="2" charset="0"/>
                        </a:defRPr>
                      </a:lvl1pPr>
                      <a:lvl2pPr>
                        <a:spcBef>
                          <a:spcPct val="20000"/>
                        </a:spcBef>
                        <a:defRPr sz="2400">
                          <a:solidFill>
                            <a:schemeClr val="tx1"/>
                          </a:solidFill>
                          <a:latin typeface="Times" pitchFamily="2" charset="0"/>
                        </a:defRPr>
                      </a:lvl2pPr>
                      <a:lvl3pPr>
                        <a:spcBef>
                          <a:spcPct val="20000"/>
                        </a:spcBef>
                        <a:defRPr sz="2000">
                          <a:solidFill>
                            <a:schemeClr val="tx1"/>
                          </a:solidFill>
                          <a:latin typeface="Times" pitchFamily="2" charset="0"/>
                        </a:defRPr>
                      </a:lvl3pPr>
                      <a:lvl4pPr>
                        <a:spcBef>
                          <a:spcPct val="20000"/>
                        </a:spcBef>
                        <a:defRPr>
                          <a:solidFill>
                            <a:schemeClr val="tx1"/>
                          </a:solidFill>
                          <a:latin typeface="Times" pitchFamily="2" charset="0"/>
                        </a:defRPr>
                      </a:lvl4pPr>
                      <a:lvl5pPr>
                        <a:spcBef>
                          <a:spcPct val="20000"/>
                        </a:spcBef>
                        <a:defRPr>
                          <a:solidFill>
                            <a:schemeClr val="tx1"/>
                          </a:solidFill>
                          <a:latin typeface="Times" pitchFamily="2" charset="0"/>
                        </a:defRPr>
                      </a:lvl5pPr>
                      <a:lvl6pPr fontAlgn="base">
                        <a:spcBef>
                          <a:spcPct val="20000"/>
                        </a:spcBef>
                        <a:spcAft>
                          <a:spcPct val="0"/>
                        </a:spcAft>
                        <a:defRPr>
                          <a:solidFill>
                            <a:schemeClr val="tx1"/>
                          </a:solidFill>
                          <a:latin typeface="Times" pitchFamily="2" charset="0"/>
                        </a:defRPr>
                      </a:lvl6pPr>
                      <a:lvl7pPr fontAlgn="base">
                        <a:spcBef>
                          <a:spcPct val="20000"/>
                        </a:spcBef>
                        <a:spcAft>
                          <a:spcPct val="0"/>
                        </a:spcAft>
                        <a:defRPr>
                          <a:solidFill>
                            <a:schemeClr val="tx1"/>
                          </a:solidFill>
                          <a:latin typeface="Times" pitchFamily="2" charset="0"/>
                        </a:defRPr>
                      </a:lvl7pPr>
                      <a:lvl8pPr fontAlgn="base">
                        <a:spcBef>
                          <a:spcPct val="20000"/>
                        </a:spcBef>
                        <a:spcAft>
                          <a:spcPct val="0"/>
                        </a:spcAft>
                        <a:defRPr>
                          <a:solidFill>
                            <a:schemeClr val="tx1"/>
                          </a:solidFill>
                          <a:latin typeface="Times" pitchFamily="2" charset="0"/>
                        </a:defRPr>
                      </a:lvl8pPr>
                      <a:lvl9pPr fontAlgn="base">
                        <a:spcBef>
                          <a:spcPct val="20000"/>
                        </a:spcBef>
                        <a:spcAft>
                          <a:spcPct val="0"/>
                        </a:spcAft>
                        <a:defRPr>
                          <a:solidFill>
                            <a:schemeClr val="tx1"/>
                          </a:solidFill>
                          <a:latin typeface="Times" pitchFamily="2"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0.0443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3858599"/>
                  </a:ext>
                </a:extLst>
              </a:tr>
            </a:tbl>
          </a:graphicData>
        </a:graphic>
      </p:graphicFrame>
    </p:spTree>
    <p:extLst>
      <p:ext uri="{BB962C8B-B14F-4D97-AF65-F5344CB8AC3E}">
        <p14:creationId xmlns:p14="http://schemas.microsoft.com/office/powerpoint/2010/main" val="33285252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AD47E96-ACDA-C070-8709-551C578878EC}"/>
              </a:ext>
            </a:extLst>
          </p:cNvPr>
          <p:cNvSpPr txBox="1">
            <a:spLocks noChangeArrowheads="1"/>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Caesar’s Problem</a:t>
            </a:r>
          </a:p>
        </p:txBody>
      </p:sp>
      <p:sp>
        <p:nvSpPr>
          <p:cNvPr id="3" name="Rectangle 3">
            <a:extLst>
              <a:ext uri="{FF2B5EF4-FFF2-40B4-BE49-F238E27FC236}">
                <a16:creationId xmlns:a16="http://schemas.microsoft.com/office/drawing/2014/main" id="{85AFA5F9-A63D-1332-63B7-8750C128268E}"/>
              </a:ext>
            </a:extLst>
          </p:cNvPr>
          <p:cNvSpPr txBox="1">
            <a:spLocks noChangeArrowheads="1"/>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ltLang="en-US" dirty="0"/>
              <a:t>Key is too short</a:t>
            </a:r>
          </a:p>
          <a:p>
            <a:pPr lvl="1">
              <a:spcAft>
                <a:spcPts val="600"/>
              </a:spcAft>
            </a:pPr>
            <a:r>
              <a:rPr lang="en-US" altLang="en-US" dirty="0"/>
              <a:t>Can be found by exhaustive search</a:t>
            </a:r>
          </a:p>
          <a:p>
            <a:pPr lvl="1">
              <a:spcAft>
                <a:spcPts val="600"/>
              </a:spcAft>
            </a:pPr>
            <a:r>
              <a:rPr lang="en-US" altLang="en-US" dirty="0"/>
              <a:t>Statistical frequencies not concealed well</a:t>
            </a:r>
          </a:p>
          <a:p>
            <a:pPr lvl="2">
              <a:spcAft>
                <a:spcPts val="600"/>
              </a:spcAft>
            </a:pPr>
            <a:r>
              <a:rPr lang="en-US" altLang="en-US" dirty="0"/>
              <a:t>They look too much like regular English letters</a:t>
            </a:r>
          </a:p>
          <a:p>
            <a:pPr>
              <a:spcAft>
                <a:spcPts val="600"/>
              </a:spcAft>
            </a:pPr>
            <a:r>
              <a:rPr lang="en-US" altLang="en-US" dirty="0"/>
              <a:t>So, make it longer</a:t>
            </a:r>
          </a:p>
          <a:p>
            <a:pPr lvl="1">
              <a:spcAft>
                <a:spcPts val="600"/>
              </a:spcAft>
            </a:pPr>
            <a:r>
              <a:rPr lang="en-US" altLang="en-US" dirty="0"/>
              <a:t>Multiple letters in key</a:t>
            </a:r>
          </a:p>
          <a:p>
            <a:pPr lvl="1">
              <a:spcAft>
                <a:spcPts val="600"/>
              </a:spcAft>
            </a:pPr>
            <a:r>
              <a:rPr lang="en-US" altLang="en-US" dirty="0"/>
              <a:t>Idea is to smooth the statistical frequencies to make cryptanalysis harder</a:t>
            </a:r>
          </a:p>
        </p:txBody>
      </p:sp>
    </p:spTree>
    <p:extLst>
      <p:ext uri="{BB962C8B-B14F-4D97-AF65-F5344CB8AC3E}">
        <p14:creationId xmlns:p14="http://schemas.microsoft.com/office/powerpoint/2010/main" val="1125592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2D2E628-D9E3-DF68-D897-0234D5F7AC3A}"/>
              </a:ext>
            </a:extLst>
          </p:cNvPr>
          <p:cNvSpPr txBox="1">
            <a:spLocks noChangeArrowheads="1"/>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err="1"/>
              <a:t>Vigènere</a:t>
            </a:r>
            <a:r>
              <a:rPr lang="en-US" altLang="en-US" dirty="0"/>
              <a:t> Cipher</a:t>
            </a:r>
          </a:p>
        </p:txBody>
      </p:sp>
      <p:sp>
        <p:nvSpPr>
          <p:cNvPr id="3" name="Rectangle 3">
            <a:extLst>
              <a:ext uri="{FF2B5EF4-FFF2-40B4-BE49-F238E27FC236}">
                <a16:creationId xmlns:a16="http://schemas.microsoft.com/office/drawing/2014/main" id="{67EBCE81-8F3C-4A31-8157-2494758F07DF}"/>
              </a:ext>
            </a:extLst>
          </p:cNvPr>
          <p:cNvSpPr txBox="1">
            <a:spLocks noChangeArrowheads="1"/>
          </p:cNvSpPr>
          <p:nvPr/>
        </p:nvSpPr>
        <p:spPr>
          <a:xfrm>
            <a:off x="838200" y="1185545"/>
            <a:ext cx="10515600" cy="26092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Like Caesar cipher, but use a phrase</a:t>
            </a:r>
          </a:p>
          <a:p>
            <a:pPr lvl="1"/>
            <a:r>
              <a:rPr lang="en-US" altLang="en-US" dirty="0"/>
              <a:t>So, it’s effectively multiple Caesar ciphers </a:t>
            </a:r>
          </a:p>
          <a:p>
            <a:pPr lvl="1"/>
            <a:r>
              <a:rPr lang="en-US" altLang="en-US" dirty="0"/>
              <a:t>Usually, the key is a repeating keyword</a:t>
            </a:r>
          </a:p>
          <a:p>
            <a:r>
              <a:rPr lang="en-US" altLang="en-US" dirty="0"/>
              <a:t>Example</a:t>
            </a:r>
          </a:p>
          <a:p>
            <a:pPr lvl="1"/>
            <a:r>
              <a:rPr lang="en-US" altLang="en-US" dirty="0"/>
              <a:t>Message:  </a:t>
            </a:r>
            <a:r>
              <a:rPr lang="fr-FR" altLang="en-US" dirty="0">
                <a:latin typeface="Courier" pitchFamily="2" charset="0"/>
              </a:rPr>
              <a:t>A T </a:t>
            </a:r>
            <a:r>
              <a:rPr lang="fr-FR" altLang="en-US" dirty="0" err="1">
                <a:latin typeface="Courier" pitchFamily="2" charset="0"/>
              </a:rPr>
              <a:t>T</a:t>
            </a:r>
            <a:r>
              <a:rPr lang="fr-FR" altLang="en-US" dirty="0">
                <a:latin typeface="Courier" pitchFamily="2" charset="0"/>
              </a:rPr>
              <a:t> A C K A T D A W N</a:t>
            </a:r>
            <a:endParaRPr lang="en-US" altLang="en-US" dirty="0">
              <a:latin typeface="Courier" pitchFamily="2" charset="0"/>
            </a:endParaRPr>
          </a:p>
          <a:p>
            <a:pPr lvl="1"/>
            <a:r>
              <a:rPr lang="en-US" altLang="en-US" dirty="0"/>
              <a:t>Key:              </a:t>
            </a:r>
            <a:r>
              <a:rPr lang="pt-BR" altLang="en-US" dirty="0">
                <a:solidFill>
                  <a:srgbClr val="FF0000"/>
                </a:solidFill>
              </a:rPr>
              <a:t>L   E   M  O  N   </a:t>
            </a:r>
            <a:r>
              <a:rPr lang="pt-BR" altLang="en-US" dirty="0"/>
              <a:t>L   E   M  O  N    L   E</a:t>
            </a:r>
            <a:endParaRPr lang="en-US" altLang="en-US" dirty="0">
              <a:latin typeface="Courier" pitchFamily="2" charset="0"/>
            </a:endParaRPr>
          </a:p>
        </p:txBody>
      </p:sp>
      <p:sp>
        <p:nvSpPr>
          <p:cNvPr id="4" name="TextBox 3">
            <a:extLst>
              <a:ext uri="{FF2B5EF4-FFF2-40B4-BE49-F238E27FC236}">
                <a16:creationId xmlns:a16="http://schemas.microsoft.com/office/drawing/2014/main" id="{FE1BB3DC-7633-8E91-5C0C-93093AECCC6C}"/>
              </a:ext>
            </a:extLst>
          </p:cNvPr>
          <p:cNvSpPr txBox="1"/>
          <p:nvPr/>
        </p:nvSpPr>
        <p:spPr>
          <a:xfrm>
            <a:off x="838200" y="3794760"/>
            <a:ext cx="11140440" cy="2862322"/>
          </a:xfrm>
          <a:prstGeom prst="rect">
            <a:avLst/>
          </a:prstGeom>
          <a:noFill/>
        </p:spPr>
        <p:txBody>
          <a:bodyPr wrap="square">
            <a:spAutoFit/>
          </a:bodyPr>
          <a:lstStyle/>
          <a:p>
            <a:r>
              <a:rPr lang="en-US" sz="2000" dirty="0"/>
              <a:t>Encrypt:</a:t>
            </a:r>
          </a:p>
          <a:p>
            <a:pPr marL="285750" indent="-285750">
              <a:buFont typeface="Arial" panose="020B0604020202020204" pitchFamily="34" charset="0"/>
              <a:buChar char="•"/>
            </a:pPr>
            <a:r>
              <a:rPr lang="en-US" sz="2000" dirty="0"/>
              <a:t> Convert Letters to Numbers</a:t>
            </a:r>
          </a:p>
          <a:p>
            <a:r>
              <a:rPr lang="en-US" sz="2000" dirty="0"/>
              <a:t>	(0+11) % 26 = 11                (19+4) % 26 = 23                (19+12) % 26 = 5                (0+14) % 26 = 14                	(2+13) % 26 = 15                (10+11) % 26 = 21                (0+4) % 26 = 4                    (19+12) % 26 = 5                	(3+14) % 26 = 17                (0+13) % 26 = 13                (22+11) % 26 = 7                (13+4) % 26 = 17</a:t>
            </a:r>
          </a:p>
          <a:p>
            <a:endParaRPr lang="en-US" sz="2000" dirty="0"/>
          </a:p>
          <a:p>
            <a:pPr marL="285750" indent="-285750">
              <a:buFont typeface="Arial" panose="020B0604020202020204" pitchFamily="34" charset="0"/>
              <a:buChar char="•"/>
            </a:pPr>
            <a:r>
              <a:rPr lang="en-US" sz="2000" dirty="0"/>
              <a:t>Convert Numbers back to Letters:</a:t>
            </a:r>
          </a:p>
          <a:p>
            <a:r>
              <a:rPr lang="en-US" sz="2000" dirty="0"/>
              <a:t>	Ciphertext: L X F O P V E F R N H R</a:t>
            </a:r>
          </a:p>
          <a:p>
            <a:endParaRPr lang="en-US" sz="2000" dirty="0"/>
          </a:p>
        </p:txBody>
      </p:sp>
    </p:spTree>
    <p:extLst>
      <p:ext uri="{BB962C8B-B14F-4D97-AF65-F5344CB8AC3E}">
        <p14:creationId xmlns:p14="http://schemas.microsoft.com/office/powerpoint/2010/main" val="3211307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709</TotalTime>
  <Words>5210</Words>
  <Application>Microsoft Office PowerPoint</Application>
  <PresentationFormat>Widescreen</PresentationFormat>
  <Paragraphs>761</Paragraphs>
  <Slides>38</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Courier</vt:lpstr>
      <vt:lpstr>Aptos</vt:lpstr>
      <vt:lpstr>Aptos Display</vt:lpstr>
      <vt:lpstr>Arial</vt:lpstr>
      <vt:lpstr>Calibri</vt:lpstr>
      <vt:lpstr>Cambria Math</vt:lpstr>
      <vt:lpstr>Lucida Calligraphy</vt:lpstr>
      <vt:lpstr>Symbol</vt:lpstr>
      <vt:lpstr>Wingdings</vt:lpstr>
      <vt:lpstr>Office Theme</vt:lpstr>
      <vt:lpstr>CSC 3511 Security and Networking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173</cp:revision>
  <dcterms:created xsi:type="dcterms:W3CDTF">2024-11-04T19:47:12Z</dcterms:created>
  <dcterms:modified xsi:type="dcterms:W3CDTF">2025-10-30T05:49:21Z</dcterms:modified>
</cp:coreProperties>
</file>