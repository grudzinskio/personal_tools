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1410" r:id="rId3"/>
    <p:sldId id="1395" r:id="rId4"/>
    <p:sldId id="1062" r:id="rId5"/>
    <p:sldId id="1058" r:id="rId6"/>
    <p:sldId id="1069" r:id="rId7"/>
    <p:sldId id="1397" r:id="rId8"/>
    <p:sldId id="1396" r:id="rId9"/>
    <p:sldId id="1195" r:id="rId10"/>
    <p:sldId id="1199" r:id="rId11"/>
    <p:sldId id="1398" r:id="rId12"/>
    <p:sldId id="1399" r:id="rId13"/>
    <p:sldId id="1400" r:id="rId14"/>
    <p:sldId id="1401" r:id="rId15"/>
    <p:sldId id="1254" r:id="rId16"/>
    <p:sldId id="1383" r:id="rId17"/>
    <p:sldId id="1384" r:id="rId18"/>
    <p:sldId id="1390" r:id="rId19"/>
    <p:sldId id="1391" r:id="rId20"/>
    <p:sldId id="1392" r:id="rId21"/>
    <p:sldId id="1389" r:id="rId22"/>
    <p:sldId id="1385" r:id="rId23"/>
    <p:sldId id="1402" r:id="rId24"/>
    <p:sldId id="1403" r:id="rId25"/>
    <p:sldId id="1404" r:id="rId26"/>
    <p:sldId id="1405" r:id="rId27"/>
    <p:sldId id="1406" r:id="rId28"/>
    <p:sldId id="1407" r:id="rId29"/>
    <p:sldId id="1408" r:id="rId30"/>
    <p:sldId id="1409" r:id="rId31"/>
    <p:sldId id="1229" r:id="rId32"/>
    <p:sldId id="1230" r:id="rId33"/>
    <p:sldId id="1352" r:id="rId34"/>
    <p:sldId id="1353" r:id="rId35"/>
    <p:sldId id="1354" r:id="rId36"/>
    <p:sldId id="1355" r:id="rId37"/>
    <p:sldId id="1356" r:id="rId38"/>
    <p:sldId id="1357" r:id="rId39"/>
    <p:sldId id="1358" r:id="rId40"/>
    <p:sldId id="1359" r:id="rId41"/>
    <p:sldId id="1300" r:id="rId42"/>
    <p:sldId id="1360" r:id="rId43"/>
    <p:sldId id="1361" r:id="rId44"/>
    <p:sldId id="1233" r:id="rId45"/>
    <p:sldId id="123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50" autoAdjust="0"/>
  </p:normalViewPr>
  <p:slideViewPr>
    <p:cSldViewPr snapToGrid="0">
      <p:cViewPr varScale="1">
        <p:scale>
          <a:sx n="100" d="100"/>
          <a:sy n="100" d="100"/>
        </p:scale>
        <p:origin x="1282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8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325D3-F1C7-4B36-A88F-5BFB155084B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CB26F-7BF5-4DA6-BA18-A0B7008BF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16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858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Not required:</a:t>
            </a:r>
          </a:p>
          <a:p>
            <a:pPr>
              <a:buNone/>
            </a:pPr>
            <a:endParaRPr lang="en-US" altLang="en-US" sz="3200" i="1" dirty="0">
              <a:solidFill>
                <a:srgbClr val="CC0000"/>
              </a:solidFill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>
              <a:buNone/>
            </a:pPr>
            <a:endParaRPr lang="en-US" altLang="en-US" sz="3200" i="1" dirty="0">
              <a:solidFill>
                <a:srgbClr val="CC0000"/>
              </a:solidFill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Priority scheduling: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Arriving traffic is classified into multiple queues 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header fields can be used for classification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US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 packet from highest priority queue that has buffered packets (FCFS within priority class)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endParaRPr lang="en-US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i="1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Round Robin (RR) scheduling: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Classify arriving traffic and put them into multiple queues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Router cyclically, repeatedly  scans class queues, sending one complete packet from each class (if available) in turn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i="1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Weighted Fair Queuing (WFQ): </a:t>
            </a:r>
          </a:p>
          <a:p>
            <a:pPr marL="228600" indent="-228600">
              <a:buAutoNum type="arabicPeriod"/>
            </a:pPr>
            <a:r>
              <a:rPr lang="en-US" dirty="0"/>
              <a:t>Classify arriving traffic and put them into multiple queues</a:t>
            </a:r>
          </a:p>
          <a:p>
            <a:pPr marL="228600" indent="-228600">
              <a:buAutoNum type="arabicPeriod"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Assign each queue a weight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Each class, i, has weight, </a:t>
            </a:r>
            <a:r>
              <a:rPr lang="en-US" dirty="0" err="1"/>
              <a:t>wi</a:t>
            </a:r>
            <a:r>
              <a:rPr lang="en-US" dirty="0"/>
              <a:t>, and gets weighted amount of service in each cycle: </a:t>
            </a:r>
            <a:r>
              <a:rPr kumimoji="0" lang="en-US" alt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</a:t>
            </a:r>
            <a:r>
              <a:rPr kumimoji="0" lang="en-US" altLang="en-US" sz="1200" b="0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</a:t>
            </a:r>
            <a:r>
              <a:rPr kumimoji="0" lang="en-US" altLang="en-US" sz="12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dirty="0"/>
              <a:t>/ Sum(</a:t>
            </a:r>
            <a:r>
              <a:rPr lang="en-US" dirty="0" err="1"/>
              <a:t>wj</a:t>
            </a:r>
            <a:r>
              <a:rPr lang="en-US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pPr marL="228600" indent="-228600"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541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router, how does it know which output port to send an incoming packet 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24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"Destination-based forwarding" refers to the process of using a forwarding table that maps destination IP address ranges to specific output link interfaces in a router. The router checks the destination address of each incoming packet and uses the table to determine which link interface to forward the packet to.</a:t>
            </a:r>
          </a:p>
          <a:p>
            <a:endParaRPr lang="en-US" dirty="0"/>
          </a:p>
          <a:p>
            <a:endParaRPr lang="en-US" dirty="0"/>
          </a:p>
          <a:p>
            <a:pPr algn="l"/>
            <a:r>
              <a:rPr lang="en-US" sz="1800" b="0" i="0" u="none" strike="noStrike" baseline="0" dirty="0">
                <a:latin typeface="TimesLTPro-Roman"/>
              </a:rPr>
              <a:t>Let’s now consider the “simplest” case that the output port to which an incoming packet is to be switched is based on the packet’s destination address:</a:t>
            </a:r>
          </a:p>
          <a:p>
            <a:pPr algn="l"/>
            <a:endParaRPr lang="en-US" sz="1800" b="0" i="0" u="none" strike="noStrike" baseline="0" dirty="0">
              <a:latin typeface="TimesLTPro-Roman"/>
            </a:endParaRPr>
          </a:p>
          <a:p>
            <a:pPr algn="l"/>
            <a:r>
              <a:rPr lang="en-US" sz="1800" b="0" i="0" u="none" strike="noStrike" baseline="0" dirty="0">
                <a:latin typeface="TimesLTPro-Roman"/>
              </a:rPr>
              <a:t>1. A brute-force implementation of the forwarding table would have one entry for every possible destination address. Since there are more than 4 billion possible addresses, this option is totally out of the question.</a:t>
            </a:r>
            <a:endParaRPr lang="en-US" dirty="0"/>
          </a:p>
          <a:p>
            <a:pPr algn="l"/>
            <a:r>
              <a:rPr lang="en-US" sz="1800" b="0" i="0" u="none" strike="noStrike" baseline="0" dirty="0">
                <a:latin typeface="TimesLTPro-Roman"/>
              </a:rPr>
              <a:t>2. As an example of how this issue of scale can be handled, let’s suppose that our router has four links, numbered 0 through 3, and that packets are to be forwarded to the link interfaces as above table.</a:t>
            </a:r>
          </a:p>
          <a:p>
            <a:pPr algn="l"/>
            <a:endParaRPr lang="en-US" sz="1800" b="0" i="0" u="none" strike="noStrike" baseline="0" dirty="0">
              <a:latin typeface="TimesLTPro-Roman"/>
            </a:endParaRPr>
          </a:p>
          <a:p>
            <a:r>
              <a:rPr lang="en-US" dirty="0"/>
              <a:t>The question refers to the situation where the destination address ranges in a forwarding table don't align perfectly into clean, non-overlapping ranges. This could occur when IP address ranges overlap, or when subnets don't fit neatly into fixed-length ranges.</a:t>
            </a:r>
          </a:p>
          <a:p>
            <a:r>
              <a:rPr lang="en-US" dirty="0"/>
              <a:t>In such cases, it becomes more difficult to decide which interface to forward the packet to because a packet might match multiple ranges, leading to ambiguity or additional processing to determine the most specific match. In networking, this is often handled by the </a:t>
            </a:r>
            <a:r>
              <a:rPr lang="en-US" b="1" dirty="0"/>
              <a:t>longest prefix match</a:t>
            </a:r>
            <a:r>
              <a:rPr lang="en-US" dirty="0"/>
              <a:t> rule, where the forwarding decision is based on </a:t>
            </a:r>
            <a:r>
              <a:rPr lang="en-US" b="1" dirty="0"/>
              <a:t>the range with the longest matching bits </a:t>
            </a:r>
            <a:r>
              <a:rPr lang="en-US" dirty="0"/>
              <a:t>(most specific match) between the destination IP address and the entries in the forwarding table.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599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64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BA5C-7260-E279-35BC-12B931267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33075-04D3-DEAE-B3C9-CD708BD42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09EEA-2263-5B43-8D1F-D83615D76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31973-92DC-65C3-851A-ECB1A6514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241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7F83F-6A83-9CBF-F7BB-DFA24B8B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417C7-0802-0460-8944-16CFBFBBC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08DD7-23BD-CAC3-2BF6-466CC2FB1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2AFCD-0EF1-7565-5663-CD59F754F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370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3EC0-0DAE-3E05-D4A3-D037FF1D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90129-FC39-0B27-3C4F-C66118814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E6089-14E5-ED07-616C-F2403897E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09B9F-47BB-79A3-D403-0E40CEF7C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6626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44868-5034-0D0B-38F4-DAF66D49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7B092-6B29-91CE-2CDB-9F90E77AF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409AB-82BB-DAAA-E9FB-86B5F2590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A1CB6-4AF3-7FAD-2A94-56BC125D2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371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protocols for routing packets within a local network are called intra-domain routing protocols, or interior gateway protocols (IGPs). Real-world examples include OSPF (Open Shortest Path First) and IS-IS (Intermediate System to Intermediate System).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protocols for routing packets across different networks are called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inter-domain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routing protocols, 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exterior gateway protocols (EGPs)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order to support sending packets across different local networks, every network needs to agree to use the same protocol for routing packets between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644CF-37F4-22C3-4617-6B0396DF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57AD6-6F0F-20F9-4611-12DF430F7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DB034-E6CF-085A-90BD-CB698DC2A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DD4F4-B794-99AB-4B4E-5EAE6A008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44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E1DA-B8D8-F012-A287-D40C44A2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CF7D9-366F-B01C-D04E-31C6EFB07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A475A-8DE0-B8DB-FA41-6482CE864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81527-7B21-2390-70D3-89911EB82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02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362E-92AB-DBA6-11A8-947039AF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28837-7D99-F8D7-C29A-B958B2BFD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AAE1A-574D-119B-C956-F2C1D4359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01C62-1342-0865-F98C-D599A37CD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44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D4DF6-F908-BE96-5D7A-A976FED3E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53812-69DB-C225-2E82-9013775A6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A29C3-DEC9-D005-D19F-E6856202B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02CE1-1A96-C2AC-655A-62CF5266F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15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03AD-CE13-9A95-D657-04E29551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DB297-0551-10E1-DC37-F22C94018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C955D-0F4F-A383-96F4-933B6E050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83A14-8B37-2726-BE38-1657EA218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86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797ED-4050-8668-6EA8-335F96B8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91553-C9EF-C8C3-CBD9-A634A6C19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A46F4-23CD-458A-B3DD-AB3CB751C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B582C-BF15-C795-81EC-083E836F6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82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8D77-5F13-25F5-D46B-DD0801D9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29ACE-8F78-1A77-1E6E-4121A2327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3A32F-823B-3A4F-366B-ACAAE6626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18FC5-63D0-B291-E99E-047B0CF4D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CB26F-7BF5-4DA6-BA18-A0B7008BFCA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68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0880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913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5773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2194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407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4199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5076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030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530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8670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3778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155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78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98F-B827-13AD-265C-514C21622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41564-4F01-3DA7-30A5-41B69602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C639-4AB9-F4D6-CFBA-209FE857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7A7F-9979-7B59-A463-DCEBBA95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0F76-7128-32CE-27E0-EA7B842C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79D5-059D-19DB-300F-B545C4C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1340-A1E9-7CE3-85EA-7F1CF2ED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81CF-4E42-18FC-F8CF-942C82B5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239-A774-E47F-618D-51D208E6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4B347-A921-E0AB-5A62-7830ED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33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AE5C-05CB-8274-A918-075C19B6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43FC-A248-C72E-7C55-AF40C95C9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C89F5-84BE-3CEF-33F5-F2CA26EE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EC82B-F092-F737-C6EC-4508B148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E09F0-8AE5-6C3F-D940-15869CCF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2350-D4AF-4F3C-CEE2-B8734DE1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3F635-D032-EB3F-AA91-8B6201523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6D8E9-1DD1-0647-572D-88AADC9B0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BC9E6-F832-C7D5-DD5F-43E7579F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2CA5-C7DE-C955-B48A-7E0F3888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908E-669F-CB28-260B-78354401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4474-5433-09FA-BE28-C0DC57B6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AD488-42FB-58FC-4155-0D56C39BE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34D41-5957-DB0E-CB35-AC6249E0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25178-5D33-EBD1-4C79-986B42DA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3E2A5-4A98-031A-250D-CBFB1D938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BD9DE-6FA7-D067-18F3-C04BBCDB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D33E4-2E0D-1662-B7BF-20E78E7C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DC47E-1E21-2424-6A7B-315D8AAF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A65-C705-E6A3-485D-408F56B8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69A2-CE3D-6E6E-685B-1FE020EA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84AF1-31C9-84AC-0250-05744141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3C2AA-F699-ED5D-9FBA-C19002E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6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332F3-879F-BB3B-698B-B2739723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D113C-0FB8-0400-99D8-6F134830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B956-7068-44C2-B72A-60BB293D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8B4E-A384-E57E-E42B-8DF0137C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5B01-185E-04BB-14A7-B258CA51C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7228C-5F12-7AF1-FC9F-8C1032F39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1407C-424A-E815-0FAD-6132348E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F71BD-8573-007D-3858-3535CBA0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C0FE8-99A5-4546-F000-62538D60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24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AFE-88EA-C3CA-5268-51CB9598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2BC8C-DCDC-6F3B-EC4D-AD7E7D77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F378A-43F4-65AF-61DB-1B261A99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5D82-7B33-82FC-4CC1-372A7E7A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8B4F-C700-D100-E550-F1A34A23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C4BE6-38EC-0ED9-64CD-D1DBED13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76C-A078-6711-FF3C-E68ACE03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0CDEF-7F11-C385-F99C-1D079A46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33E6-8B7A-63A7-4B43-936C9C06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FD48-7F8C-2C53-C6E5-51FBBC2B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E807-0A14-F9E7-D3C4-243C242B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3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52A6E-A9A4-3335-FD57-B09080704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A70CC-412C-59DD-E5F3-0B522209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2B3D-CE4D-9039-CF20-3EA5A25A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8CD87-FDF1-2A7A-1BE7-FA7D6B71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DFF-8601-30EC-83EF-AD74CA7E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7597A-B7A8-059C-160C-EC7CE288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34A4-186E-5F01-1F5B-80DF3841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BDDF5-E321-EF03-3E6D-64F457503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72AB9-64A1-45BC-9C9A-78E398D2F99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1B2B9-24D1-3FFE-9B16-BFA0BAC7B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9AEC6-3A77-F298-9C68-54B2F0065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25542-7130-46B0-9D6D-1892C1FCB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4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5, Lecture 2: Forwarding and Routing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AEDC7-CF31-2F1C-D6CD-ECD2EFD8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3EF8-136D-1232-52F9-C7E666108528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2525F1-5E8E-BBFF-8759-00A7CD399EDA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Packet Forwarding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the Routing Problem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 Protocol: Link State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8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057E-B89F-C9E3-7D65-57539D931E92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6940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Review: Router Architecture</a:t>
            </a:r>
            <a:endParaRPr lang="en-US" dirty="0"/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BD19ACCA-EB74-6FDD-FF5B-DEAED5C3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83" y="1117477"/>
            <a:ext cx="48329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Generic router architecture:</a:t>
            </a:r>
          </a:p>
        </p:txBody>
      </p:sp>
      <p:grpSp>
        <p:nvGrpSpPr>
          <p:cNvPr id="4" name="Group 60">
            <a:extLst>
              <a:ext uri="{FF2B5EF4-FFF2-40B4-BE49-F238E27FC236}">
                <a16:creationId xmlns:a16="http://schemas.microsoft.com/office/drawing/2014/main" id="{2A0E4E78-A41E-F4F5-B2E4-3FF13A79C048}"/>
              </a:ext>
            </a:extLst>
          </p:cNvPr>
          <p:cNvGrpSpPr>
            <a:grpSpLocks/>
          </p:cNvGrpSpPr>
          <p:nvPr/>
        </p:nvGrpSpPr>
        <p:grpSpPr bwMode="auto">
          <a:xfrm>
            <a:off x="4340142" y="2841641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5">
              <a:extLst>
                <a:ext uri="{FF2B5EF4-FFF2-40B4-BE49-F238E27FC236}">
                  <a16:creationId xmlns:a16="http://schemas.microsoft.com/office/drawing/2014/main" id="{BEF834DC-FA9C-FD11-D353-C824D8C83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Text Box 48">
              <a:extLst>
                <a:ext uri="{FF2B5EF4-FFF2-40B4-BE49-F238E27FC236}">
                  <a16:creationId xmlns:a16="http://schemas.microsoft.com/office/drawing/2014/main" id="{06054197-C445-88CB-F9CA-9F1D844D4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B1CA098-84B3-444C-04EF-D2673D37E091}"/>
              </a:ext>
            </a:extLst>
          </p:cNvPr>
          <p:cNvGrpSpPr/>
          <p:nvPr/>
        </p:nvGrpSpPr>
        <p:grpSpPr>
          <a:xfrm>
            <a:off x="4357605" y="1879616"/>
            <a:ext cx="1590675" cy="1090613"/>
            <a:chOff x="4342365" y="2504247"/>
            <a:chExt cx="1590675" cy="1090613"/>
          </a:xfrm>
        </p:grpSpPr>
        <p:sp>
          <p:nvSpPr>
            <p:cNvPr id="8" name="Rectangle 46">
              <a:extLst>
                <a:ext uri="{FF2B5EF4-FFF2-40B4-BE49-F238E27FC236}">
                  <a16:creationId xmlns:a16="http://schemas.microsoft.com/office/drawing/2014/main" id="{A9F14CA3-7343-258E-883F-BD39C37FA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365" y="2504247"/>
              <a:ext cx="1590675" cy="6477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" name="Text Box 47">
              <a:extLst>
                <a:ext uri="{FF2B5EF4-FFF2-40B4-BE49-F238E27FC236}">
                  <a16:creationId xmlns:a16="http://schemas.microsoft.com/office/drawing/2014/main" id="{21BDC039-FD67-0427-7272-22FE14ACE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165" y="2545522"/>
              <a:ext cx="1187450" cy="55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routing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processor</a:t>
              </a:r>
            </a:p>
          </p:txBody>
        </p:sp>
        <p:sp>
          <p:nvSpPr>
            <p:cNvPr id="10" name="Line 50">
              <a:extLst>
                <a:ext uri="{FF2B5EF4-FFF2-40B4-BE49-F238E27FC236}">
                  <a16:creationId xmlns:a16="http://schemas.microsoft.com/office/drawing/2014/main" id="{9C21460D-E126-A2A3-6698-1AFDDAFB7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1027" y="3023360"/>
              <a:ext cx="19050" cy="5715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7">
            <a:extLst>
              <a:ext uri="{FF2B5EF4-FFF2-40B4-BE49-F238E27FC236}">
                <a16:creationId xmlns:a16="http://schemas.microsoft.com/office/drawing/2014/main" id="{DD2E700B-5183-442E-E81B-45BF5500ADAA}"/>
              </a:ext>
            </a:extLst>
          </p:cNvPr>
          <p:cNvGrpSpPr>
            <a:grpSpLocks/>
          </p:cNvGrpSpPr>
          <p:nvPr/>
        </p:nvGrpSpPr>
        <p:grpSpPr bwMode="auto">
          <a:xfrm>
            <a:off x="2297030" y="2855929"/>
            <a:ext cx="2033587" cy="566737"/>
            <a:chOff x="930" y="1989"/>
            <a:chExt cx="1482" cy="357"/>
          </a:xfrm>
        </p:grpSpPr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E81C1016-F099-1F94-0B62-AC1B61F5E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89"/>
              <a:ext cx="1086" cy="3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E94E6EA-480A-A651-EF71-1C2C952F7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4A035C8F-EEEE-D1B1-71A8-6AB115AA5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73D58602-DAE7-F372-C9FA-C1876E8F6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B36CAAB8-486F-B67D-BEDB-94ACCBD9C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169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8">
            <a:extLst>
              <a:ext uri="{FF2B5EF4-FFF2-40B4-BE49-F238E27FC236}">
                <a16:creationId xmlns:a16="http://schemas.microsoft.com/office/drawing/2014/main" id="{CA705D38-BE7D-2BE7-F468-0745CB0B43E8}"/>
              </a:ext>
            </a:extLst>
          </p:cNvPr>
          <p:cNvGrpSpPr>
            <a:grpSpLocks/>
          </p:cNvGrpSpPr>
          <p:nvPr/>
        </p:nvGrpSpPr>
        <p:grpSpPr bwMode="auto">
          <a:xfrm>
            <a:off x="2285917" y="4594241"/>
            <a:ext cx="2058988" cy="566738"/>
            <a:chOff x="930" y="1989"/>
            <a:chExt cx="1482" cy="357"/>
          </a:xfrm>
        </p:grpSpPr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77F827D5-C540-C792-528B-0F3BAB880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89"/>
              <a:ext cx="1088" cy="3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4D61B24A-5E84-EFE3-E7A0-BF9EF0A82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089"/>
              <a:ext cx="337" cy="1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Rectangle 21">
              <a:extLst>
                <a:ext uri="{FF2B5EF4-FFF2-40B4-BE49-F238E27FC236}">
                  <a16:creationId xmlns:a16="http://schemas.microsoft.com/office/drawing/2014/main" id="{64A62634-100E-0E7A-FFC6-17141C688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" y="2025"/>
              <a:ext cx="273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Rectangle 22">
              <a:extLst>
                <a:ext uri="{FF2B5EF4-FFF2-40B4-BE49-F238E27FC236}">
                  <a16:creationId xmlns:a16="http://schemas.microsoft.com/office/drawing/2014/main" id="{840C4A1D-8EA2-E2B2-2BD3-C5B4EB7C2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2023"/>
              <a:ext cx="274" cy="2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A2A9FC7A-66A4-6A89-8E9C-E4614881B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169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" name="Group 29">
            <a:extLst>
              <a:ext uri="{FF2B5EF4-FFF2-40B4-BE49-F238E27FC236}">
                <a16:creationId xmlns:a16="http://schemas.microsoft.com/office/drawing/2014/main" id="{1A5DCAC3-B367-59FC-FEFE-EE8158521AEA}"/>
              </a:ext>
            </a:extLst>
          </p:cNvPr>
          <p:cNvGrpSpPr>
            <a:grpSpLocks/>
          </p:cNvGrpSpPr>
          <p:nvPr/>
        </p:nvGrpSpPr>
        <p:grpSpPr bwMode="auto">
          <a:xfrm rot="2656396">
            <a:off x="2916155" y="3746516"/>
            <a:ext cx="546100" cy="546100"/>
            <a:chOff x="354" y="2715"/>
            <a:chExt cx="344" cy="344"/>
          </a:xfrm>
        </p:grpSpPr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7265A1BB-5D37-41DD-E4A4-A2A6A1B8D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Oval 26">
              <a:extLst>
                <a:ext uri="{FF2B5EF4-FFF2-40B4-BE49-F238E27FC236}">
                  <a16:creationId xmlns:a16="http://schemas.microsoft.com/office/drawing/2014/main" id="{0FCE494D-BF2A-C009-F558-A52572672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Oval 27">
              <a:extLst>
                <a:ext uri="{FF2B5EF4-FFF2-40B4-BE49-F238E27FC236}">
                  <a16:creationId xmlns:a16="http://schemas.microsoft.com/office/drawing/2014/main" id="{D62B33D4-C774-9046-3168-123FC9F83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Oval 28">
              <a:extLst>
                <a:ext uri="{FF2B5EF4-FFF2-40B4-BE49-F238E27FC236}">
                  <a16:creationId xmlns:a16="http://schemas.microsoft.com/office/drawing/2014/main" id="{95B5A639-2E48-03D4-450D-1B6F84A7A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8" name="Text Box 57">
            <a:extLst>
              <a:ext uri="{FF2B5EF4-FFF2-40B4-BE49-F238E27FC236}">
                <a16:creationId xmlns:a16="http://schemas.microsoft.com/office/drawing/2014/main" id="{69CC7E24-1DE7-ECC6-EAB6-6915DB879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255" y="5240354"/>
            <a:ext cx="191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input ports</a:t>
            </a:r>
          </a:p>
        </p:txBody>
      </p:sp>
      <p:grpSp>
        <p:nvGrpSpPr>
          <p:cNvPr id="29" name="Group 37">
            <a:extLst>
              <a:ext uri="{FF2B5EF4-FFF2-40B4-BE49-F238E27FC236}">
                <a16:creationId xmlns:a16="http://schemas.microsoft.com/office/drawing/2014/main" id="{5FFF72C8-A5D8-648A-88EC-C0BC1811E1F8}"/>
              </a:ext>
            </a:extLst>
          </p:cNvPr>
          <p:cNvGrpSpPr>
            <a:grpSpLocks/>
          </p:cNvGrpSpPr>
          <p:nvPr/>
        </p:nvGrpSpPr>
        <p:grpSpPr bwMode="auto">
          <a:xfrm>
            <a:off x="5897480" y="2860691"/>
            <a:ext cx="1957387" cy="566738"/>
            <a:chOff x="-51" y="2454"/>
            <a:chExt cx="1482" cy="3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0" name="Group 36">
              <a:extLst>
                <a:ext uri="{FF2B5EF4-FFF2-40B4-BE49-F238E27FC236}">
                  <a16:creationId xmlns:a16="http://schemas.microsoft.com/office/drawing/2014/main" id="{AFC6DB93-E60A-9EAB-C53B-29A360207FD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695A46A-016C-D5C5-87A2-9B58BB3A9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55109BB-F503-890D-8ADB-36EB4BD1D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8" cy="1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C2ADEE4-1F76-A731-952A-941CE02FC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0FC5136-1690-B413-0182-1BC64B2D4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1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C880DC8D-1B4F-3E44-2DF6-6938F94DF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" name="Group 38">
            <a:extLst>
              <a:ext uri="{FF2B5EF4-FFF2-40B4-BE49-F238E27FC236}">
                <a16:creationId xmlns:a16="http://schemas.microsoft.com/office/drawing/2014/main" id="{CFC34FD5-61CA-22CF-4FF8-FFD3B5009EB8}"/>
              </a:ext>
            </a:extLst>
          </p:cNvPr>
          <p:cNvGrpSpPr>
            <a:grpSpLocks/>
          </p:cNvGrpSpPr>
          <p:nvPr/>
        </p:nvGrpSpPr>
        <p:grpSpPr bwMode="auto">
          <a:xfrm>
            <a:off x="5916530" y="4594241"/>
            <a:ext cx="2011362" cy="566738"/>
            <a:chOff x="-51" y="2454"/>
            <a:chExt cx="1482" cy="357"/>
          </a:xfrm>
        </p:grpSpPr>
        <p:grpSp>
          <p:nvGrpSpPr>
            <p:cNvPr id="37" name="Group 39">
              <a:extLst>
                <a:ext uri="{FF2B5EF4-FFF2-40B4-BE49-F238E27FC236}">
                  <a16:creationId xmlns:a16="http://schemas.microsoft.com/office/drawing/2014/main" id="{8A29D22C-1DA0-8D38-BBA3-C332E93906D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39" name="Rectangle 40">
                <a:extLst>
                  <a:ext uri="{FF2B5EF4-FFF2-40B4-BE49-F238E27FC236}">
                    <a16:creationId xmlns:a16="http://schemas.microsoft.com/office/drawing/2014/main" id="{9E7AB546-B507-CD90-ED1D-1A8B9C440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Rectangle 41">
                <a:extLst>
                  <a:ext uri="{FF2B5EF4-FFF2-40B4-BE49-F238E27FC236}">
                    <a16:creationId xmlns:a16="http://schemas.microsoft.com/office/drawing/2014/main" id="{BA35B544-E919-AEDE-9663-2BD503EC8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Rectangle 42">
                <a:extLst>
                  <a:ext uri="{FF2B5EF4-FFF2-40B4-BE49-F238E27FC236}">
                    <a16:creationId xmlns:a16="http://schemas.microsoft.com/office/drawing/2014/main" id="{7C56B132-6507-268A-CB01-98156A49D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Rectangle 43">
                <a:extLst>
                  <a:ext uri="{FF2B5EF4-FFF2-40B4-BE49-F238E27FC236}">
                    <a16:creationId xmlns:a16="http://schemas.microsoft.com/office/drawing/2014/main" id="{B245C516-9416-D04D-7712-4E7FC95D3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Line 44">
              <a:extLst>
                <a:ext uri="{FF2B5EF4-FFF2-40B4-BE49-F238E27FC236}">
                  <a16:creationId xmlns:a16="http://schemas.microsoft.com/office/drawing/2014/main" id="{370015F3-B6B1-553D-C866-8EC10DB06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Group 51">
            <a:extLst>
              <a:ext uri="{FF2B5EF4-FFF2-40B4-BE49-F238E27FC236}">
                <a16:creationId xmlns:a16="http://schemas.microsoft.com/office/drawing/2014/main" id="{20508BE1-3123-569F-1C8D-7BCF62060F83}"/>
              </a:ext>
            </a:extLst>
          </p:cNvPr>
          <p:cNvGrpSpPr>
            <a:grpSpLocks/>
          </p:cNvGrpSpPr>
          <p:nvPr/>
        </p:nvGrpSpPr>
        <p:grpSpPr bwMode="auto">
          <a:xfrm rot="2656396">
            <a:off x="6783305" y="3736991"/>
            <a:ext cx="546100" cy="546100"/>
            <a:chOff x="354" y="2715"/>
            <a:chExt cx="344" cy="344"/>
          </a:xfrm>
        </p:grpSpPr>
        <p:sp>
          <p:nvSpPr>
            <p:cNvPr id="44" name="Oval 52">
              <a:extLst>
                <a:ext uri="{FF2B5EF4-FFF2-40B4-BE49-F238E27FC236}">
                  <a16:creationId xmlns:a16="http://schemas.microsoft.com/office/drawing/2014/main" id="{6AFD3559-6204-5B47-2526-6F1C745F0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2715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Oval 53">
              <a:extLst>
                <a:ext uri="{FF2B5EF4-FFF2-40B4-BE49-F238E27FC236}">
                  <a16:creationId xmlns:a16="http://schemas.microsoft.com/office/drawing/2014/main" id="{4CA7B6FC-31C2-6454-E9DC-EEBB1C240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" y="281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Oval 54">
              <a:extLst>
                <a:ext uri="{FF2B5EF4-FFF2-40B4-BE49-F238E27FC236}">
                  <a16:creationId xmlns:a16="http://schemas.microsoft.com/office/drawing/2014/main" id="{B79D109F-FB93-B86A-CF11-00DFA041D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" y="290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55">
              <a:extLst>
                <a:ext uri="{FF2B5EF4-FFF2-40B4-BE49-F238E27FC236}">
                  <a16:creationId xmlns:a16="http://schemas.microsoft.com/office/drawing/2014/main" id="{0525442F-325C-84E0-7CC2-D357D5F10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00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" name="Text Box 58">
            <a:extLst>
              <a:ext uri="{FF2B5EF4-FFF2-40B4-BE49-F238E27FC236}">
                <a16:creationId xmlns:a16="http://schemas.microsoft.com/office/drawing/2014/main" id="{5D2A4F94-964C-3F23-8287-C011A31B9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567" y="5281629"/>
            <a:ext cx="205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output ports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8AE6A8D-9FC7-0BFA-7FEF-471609BD368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5916" y="2651141"/>
            <a:ext cx="9144000" cy="12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36F652D-0C96-BDDA-C5C9-CBF62B6BA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2891" y="2684479"/>
            <a:ext cx="282620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Forwarding, data plane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(hardware): operates in nanosecond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F66AD8-EEF0-9CD2-5EFD-AEB288417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645" y="1582101"/>
            <a:ext cx="272645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Routing, control plane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(software)</a:t>
            </a:r>
            <a:r>
              <a:rPr lang="en-US" altLang="en-US" sz="2000" dirty="0">
                <a:solidFill>
                  <a:prstClr val="black"/>
                </a:solidFill>
              </a:rPr>
              <a:t>: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operates in millisecond time frame</a:t>
            </a:r>
          </a:p>
        </p:txBody>
      </p:sp>
      <p:sp>
        <p:nvSpPr>
          <p:cNvPr id="52" name="Freeform 10">
            <a:extLst>
              <a:ext uri="{FF2B5EF4-FFF2-40B4-BE49-F238E27FC236}">
                <a16:creationId xmlns:a16="http://schemas.microsoft.com/office/drawing/2014/main" id="{2555199C-0485-EC56-6230-0F576738AF2E}"/>
              </a:ext>
            </a:extLst>
          </p:cNvPr>
          <p:cNvSpPr>
            <a:spLocks/>
          </p:cNvSpPr>
          <p:nvPr/>
        </p:nvSpPr>
        <p:spPr bwMode="auto">
          <a:xfrm>
            <a:off x="3751180" y="2174891"/>
            <a:ext cx="512762" cy="73025"/>
          </a:xfrm>
          <a:custGeom>
            <a:avLst/>
            <a:gdLst>
              <a:gd name="T0" fmla="*/ 487003 w 512919"/>
              <a:gd name="T1" fmla="*/ 70891 h 73266"/>
              <a:gd name="T2" fmla="*/ 511349 w 512919"/>
              <a:gd name="T3" fmla="*/ 0 h 73266"/>
              <a:gd name="T4" fmla="*/ 146098 w 512919"/>
              <a:gd name="T5" fmla="*/ 11815 h 73266"/>
              <a:gd name="T6" fmla="*/ 97399 w 512919"/>
              <a:gd name="T7" fmla="*/ 23630 h 73266"/>
              <a:gd name="T8" fmla="*/ 0 w 512919"/>
              <a:gd name="T9" fmla="*/ 11815 h 73266"/>
              <a:gd name="T10" fmla="*/ 0 w 512919"/>
              <a:gd name="T11" fmla="*/ 11815 h 73266"/>
              <a:gd name="T12" fmla="*/ 511349 w 512919"/>
              <a:gd name="T13" fmla="*/ 11815 h 732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12919"/>
              <a:gd name="T22" fmla="*/ 0 h 73266"/>
              <a:gd name="T23" fmla="*/ 512919 w 512919"/>
              <a:gd name="T24" fmla="*/ 73266 h 732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12919" h="73266">
                <a:moveTo>
                  <a:pt x="488494" y="73266"/>
                </a:moveTo>
                <a:lnTo>
                  <a:pt x="512919" y="0"/>
                </a:lnTo>
                <a:cubicBezTo>
                  <a:pt x="390795" y="4070"/>
                  <a:pt x="268529" y="5036"/>
                  <a:pt x="146548" y="12211"/>
                </a:cubicBezTo>
                <a:cubicBezTo>
                  <a:pt x="129793" y="13196"/>
                  <a:pt x="114483" y="24422"/>
                  <a:pt x="97699" y="24422"/>
                </a:cubicBezTo>
                <a:cubicBezTo>
                  <a:pt x="64879" y="24422"/>
                  <a:pt x="0" y="12211"/>
                  <a:pt x="0" y="12211"/>
                </a:cubicBezTo>
                <a:lnTo>
                  <a:pt x="512919" y="122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3" name="Elbow Connector 58">
            <a:extLst>
              <a:ext uri="{FF2B5EF4-FFF2-40B4-BE49-F238E27FC236}">
                <a16:creationId xmlns:a16="http://schemas.microsoft.com/office/drawing/2014/main" id="{88880716-8D66-6002-14FB-4D62B7F3424C}"/>
              </a:ext>
            </a:extLst>
          </p:cNvPr>
          <p:cNvCxnSpPr>
            <a:cxnSpLocks noChangeShapeType="1"/>
            <a:endCxn id="21" idx="0"/>
          </p:cNvCxnSpPr>
          <p:nvPr/>
        </p:nvCxnSpPr>
        <p:spPr bwMode="auto">
          <a:xfrm rot="5400000">
            <a:off x="2767723" y="3237723"/>
            <a:ext cx="2473325" cy="347662"/>
          </a:xfrm>
          <a:prstGeom prst="bentConnector3">
            <a:avLst>
              <a:gd name="adj1" fmla="val -60"/>
            </a:avLst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F876F36-2C9D-107F-C887-19D8037F2D0A}"/>
              </a:ext>
            </a:extLst>
          </p:cNvPr>
          <p:cNvSpPr txBox="1"/>
          <p:nvPr/>
        </p:nvSpPr>
        <p:spPr>
          <a:xfrm>
            <a:off x="943387" y="3445215"/>
            <a:ext cx="1490199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Input</a:t>
            </a:r>
            <a:r>
              <a:rPr lang="en-US" altLang="en-US" i="1" kern="0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port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(e.g.,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Ethernet)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68EDF8-D17C-0DB3-CAA8-E3904F7C4BDE}"/>
              </a:ext>
            </a:extLst>
          </p:cNvPr>
          <p:cNvSpPr txBox="1"/>
          <p:nvPr/>
        </p:nvSpPr>
        <p:spPr>
          <a:xfrm>
            <a:off x="7690926" y="3445215"/>
            <a:ext cx="1431719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kern="0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put</a:t>
            </a:r>
            <a:r>
              <a:rPr lang="en-US" altLang="en-US" i="1" kern="0" dirty="0">
                <a:solidFill>
                  <a:srgbClr val="C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port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(e.g.,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Ethernet)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073878-0D8B-0EFB-8D71-8AE47ABAB9A1}"/>
              </a:ext>
            </a:extLst>
          </p:cNvPr>
          <p:cNvSpPr txBox="1"/>
          <p:nvPr/>
        </p:nvSpPr>
        <p:spPr>
          <a:xfrm>
            <a:off x="3467549" y="5705272"/>
            <a:ext cx="3370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Input ports and output ports are connected via switching fabrics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559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396" y="42241"/>
            <a:ext cx="10515600" cy="885692"/>
          </a:xfrm>
        </p:spPr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49AA64-AF8F-4818-7914-53190C57552F}"/>
              </a:ext>
            </a:extLst>
          </p:cNvPr>
          <p:cNvGrpSpPr/>
          <p:nvPr/>
        </p:nvGrpSpPr>
        <p:grpSpPr>
          <a:xfrm>
            <a:off x="5915806" y="3515467"/>
            <a:ext cx="4078658" cy="1047064"/>
            <a:chOff x="4762932" y="4484392"/>
            <a:chExt cx="4078658" cy="1047064"/>
          </a:xfrm>
        </p:grpSpPr>
        <p:grpSp>
          <p:nvGrpSpPr>
            <p:cNvPr id="311" name="Group 80">
              <a:extLst>
                <a:ext uri="{FF2B5EF4-FFF2-40B4-BE49-F238E27FC236}">
                  <a16:creationId xmlns:a16="http://schemas.microsoft.com/office/drawing/2014/main" id="{3ECBEF50-5AB0-494A-8A71-7779C83BEB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9281" y="4484392"/>
              <a:ext cx="1093120" cy="215900"/>
              <a:chOff x="876" y="2800"/>
              <a:chExt cx="788" cy="175"/>
            </a:xfrm>
          </p:grpSpPr>
          <p:sp>
            <p:nvSpPr>
              <p:cNvPr id="312" name="Rectangle 81">
                <a:extLst>
                  <a:ext uri="{FF2B5EF4-FFF2-40B4-BE49-F238E27FC236}">
                    <a16:creationId xmlns:a16="http://schemas.microsoft.com/office/drawing/2014/main" id="{37D52850-F316-4144-A0B4-19C304D68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3" name="Rectangle 82">
                <a:extLst>
                  <a:ext uri="{FF2B5EF4-FFF2-40B4-BE49-F238E27FC236}">
                    <a16:creationId xmlns:a16="http://schemas.microsoft.com/office/drawing/2014/main" id="{69439B26-261D-744E-9369-27374726E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4" name="Rectangle 83">
                <a:extLst>
                  <a:ext uri="{FF2B5EF4-FFF2-40B4-BE49-F238E27FC236}">
                    <a16:creationId xmlns:a16="http://schemas.microsoft.com/office/drawing/2014/main" id="{1B510572-6B31-7748-A75A-BF9B27F84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5" name="Rectangle 84">
                <a:extLst>
                  <a:ext uri="{FF2B5EF4-FFF2-40B4-BE49-F238E27FC236}">
                    <a16:creationId xmlns:a16="http://schemas.microsoft.com/office/drawing/2014/main" id="{09923AAC-D18D-164E-B81F-A06E6E34C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6" name="Line 85">
                <a:extLst>
                  <a:ext uri="{FF2B5EF4-FFF2-40B4-BE49-F238E27FC236}">
                    <a16:creationId xmlns:a16="http://schemas.microsoft.com/office/drawing/2014/main" id="{7260ED2A-03CA-CD4D-ADAC-6C8DFBED0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17" name="Group 86">
              <a:extLst>
                <a:ext uri="{FF2B5EF4-FFF2-40B4-BE49-F238E27FC236}">
                  <a16:creationId xmlns:a16="http://schemas.microsoft.com/office/drawing/2014/main" id="{BE86221D-4C38-2645-B32F-F1F6D4B51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7694" y="4879680"/>
              <a:ext cx="1094506" cy="215900"/>
              <a:chOff x="876" y="2800"/>
              <a:chExt cx="789" cy="175"/>
            </a:xfrm>
          </p:grpSpPr>
          <p:sp>
            <p:nvSpPr>
              <p:cNvPr id="318" name="Rectangle 87">
                <a:extLst>
                  <a:ext uri="{FF2B5EF4-FFF2-40B4-BE49-F238E27FC236}">
                    <a16:creationId xmlns:a16="http://schemas.microsoft.com/office/drawing/2014/main" id="{996C6DCD-B0C9-FD49-B834-5736A5B7D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Rectangle 88">
                <a:extLst>
                  <a:ext uri="{FF2B5EF4-FFF2-40B4-BE49-F238E27FC236}">
                    <a16:creationId xmlns:a16="http://schemas.microsoft.com/office/drawing/2014/main" id="{4C49FD79-8AA8-374F-9E0F-16366ADC4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Rectangle 89">
                <a:extLst>
                  <a:ext uri="{FF2B5EF4-FFF2-40B4-BE49-F238E27FC236}">
                    <a16:creationId xmlns:a16="http://schemas.microsoft.com/office/drawing/2014/main" id="{30AA73C6-743D-744D-8076-CEB84412F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1" name="Rectangle 90">
                <a:extLst>
                  <a:ext uri="{FF2B5EF4-FFF2-40B4-BE49-F238E27FC236}">
                    <a16:creationId xmlns:a16="http://schemas.microsoft.com/office/drawing/2014/main" id="{4090BF92-DB22-2543-BF40-68E82A14D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Line 91">
                <a:extLst>
                  <a:ext uri="{FF2B5EF4-FFF2-40B4-BE49-F238E27FC236}">
                    <a16:creationId xmlns:a16="http://schemas.microsoft.com/office/drawing/2014/main" id="{A9CC5C11-4FA7-CD4B-974B-BE7F20975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8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23" name="Group 92">
              <a:extLst>
                <a:ext uri="{FF2B5EF4-FFF2-40B4-BE49-F238E27FC236}">
                  <a16:creationId xmlns:a16="http://schemas.microsoft.com/office/drawing/2014/main" id="{7F0C30F0-93C0-7B41-A148-F2583C4327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932" y="5306717"/>
              <a:ext cx="1079248" cy="215900"/>
              <a:chOff x="876" y="2800"/>
              <a:chExt cx="778" cy="175"/>
            </a:xfrm>
          </p:grpSpPr>
          <p:sp>
            <p:nvSpPr>
              <p:cNvPr id="324" name="Rectangle 93">
                <a:extLst>
                  <a:ext uri="{FF2B5EF4-FFF2-40B4-BE49-F238E27FC236}">
                    <a16:creationId xmlns:a16="http://schemas.microsoft.com/office/drawing/2014/main" id="{FE2D31CC-2899-6644-8262-069C836FE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5" name="Rectangle 94">
                <a:extLst>
                  <a:ext uri="{FF2B5EF4-FFF2-40B4-BE49-F238E27FC236}">
                    <a16:creationId xmlns:a16="http://schemas.microsoft.com/office/drawing/2014/main" id="{E084BCAF-AF68-F044-95BA-E9DD3AB8A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Rectangle 95">
                <a:extLst>
                  <a:ext uri="{FF2B5EF4-FFF2-40B4-BE49-F238E27FC236}">
                    <a16:creationId xmlns:a16="http://schemas.microsoft.com/office/drawing/2014/main" id="{21E8CE31-B88B-E249-802C-CD6E7DB90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7" name="Rectangle 96">
                <a:extLst>
                  <a:ext uri="{FF2B5EF4-FFF2-40B4-BE49-F238E27FC236}">
                    <a16:creationId xmlns:a16="http://schemas.microsoft.com/office/drawing/2014/main" id="{1D496C77-4D8A-4B49-BD5B-56233FC90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Line 97">
                <a:extLst>
                  <a:ext uri="{FF2B5EF4-FFF2-40B4-BE49-F238E27FC236}">
                    <a16:creationId xmlns:a16="http://schemas.microsoft.com/office/drawing/2014/main" id="{A04C69F2-C1EE-854B-B285-27D90EB90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7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9" name="Line 98">
              <a:extLst>
                <a:ext uri="{FF2B5EF4-FFF2-40B4-BE49-F238E27FC236}">
                  <a16:creationId xmlns:a16="http://schemas.microsoft.com/office/drawing/2014/main" id="{C1BD91B1-20FC-3B4C-8D6A-F8B58DCC0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8461" y="4492509"/>
              <a:ext cx="0" cy="10033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0" name="Group 99">
              <a:extLst>
                <a:ext uri="{FF2B5EF4-FFF2-40B4-BE49-F238E27FC236}">
                  <a16:creationId xmlns:a16="http://schemas.microsoft.com/office/drawing/2014/main" id="{81F4A5FC-EF4D-2A48-8784-1750FC54BE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6300" y="4501349"/>
              <a:ext cx="1030288" cy="215900"/>
              <a:chOff x="367" y="3463"/>
              <a:chExt cx="649" cy="136"/>
            </a:xfrm>
          </p:grpSpPr>
          <p:sp>
            <p:nvSpPr>
              <p:cNvPr id="331" name="Rectangle 100">
                <a:extLst>
                  <a:ext uri="{FF2B5EF4-FFF2-40B4-BE49-F238E27FC236}">
                    <a16:creationId xmlns:a16="http://schemas.microsoft.com/office/drawing/2014/main" id="{2FA335FE-AECE-F547-B1ED-C257408CFF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Rectangle 101">
                <a:extLst>
                  <a:ext uri="{FF2B5EF4-FFF2-40B4-BE49-F238E27FC236}">
                    <a16:creationId xmlns:a16="http://schemas.microsoft.com/office/drawing/2014/main" id="{5F80436E-3841-8349-8966-AB341E01A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3" name="Rectangle 102">
                <a:extLst>
                  <a:ext uri="{FF2B5EF4-FFF2-40B4-BE49-F238E27FC236}">
                    <a16:creationId xmlns:a16="http://schemas.microsoft.com/office/drawing/2014/main" id="{36262B26-2B10-664E-B485-2B0BF6B95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4" name="Rectangle 103">
                <a:extLst>
                  <a:ext uri="{FF2B5EF4-FFF2-40B4-BE49-F238E27FC236}">
                    <a16:creationId xmlns:a16="http://schemas.microsoft.com/office/drawing/2014/main" id="{B2511842-B5CE-E242-9E79-819A629F7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5" name="Line 104">
                <a:extLst>
                  <a:ext uri="{FF2B5EF4-FFF2-40B4-BE49-F238E27FC236}">
                    <a16:creationId xmlns:a16="http://schemas.microsoft.com/office/drawing/2014/main" id="{CAAFBF8F-0301-0F4D-9DF5-B3DD1EC8C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" y="3527"/>
                <a:ext cx="6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36" name="Group 105">
              <a:extLst>
                <a:ext uri="{FF2B5EF4-FFF2-40B4-BE49-F238E27FC236}">
                  <a16:creationId xmlns:a16="http://schemas.microsoft.com/office/drawing/2014/main" id="{7BFAB449-E2DA-3147-849E-09A6366B09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6775" y="4893462"/>
              <a:ext cx="1044574" cy="215900"/>
              <a:chOff x="358" y="3463"/>
              <a:chExt cx="658" cy="136"/>
            </a:xfrm>
          </p:grpSpPr>
          <p:sp>
            <p:nvSpPr>
              <p:cNvPr id="337" name="Rectangle 106">
                <a:extLst>
                  <a:ext uri="{FF2B5EF4-FFF2-40B4-BE49-F238E27FC236}">
                    <a16:creationId xmlns:a16="http://schemas.microsoft.com/office/drawing/2014/main" id="{9C435B71-B7F9-FB4C-83FD-6F3745D78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8" name="Rectangle 107">
                <a:extLst>
                  <a:ext uri="{FF2B5EF4-FFF2-40B4-BE49-F238E27FC236}">
                    <a16:creationId xmlns:a16="http://schemas.microsoft.com/office/drawing/2014/main" id="{09CF7D3E-B128-CD40-817F-B76520EE2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9" name="Rectangle 108">
                <a:extLst>
                  <a:ext uri="{FF2B5EF4-FFF2-40B4-BE49-F238E27FC236}">
                    <a16:creationId xmlns:a16="http://schemas.microsoft.com/office/drawing/2014/main" id="{86FC5905-2FC0-E848-B8C8-C68F4ACE3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0" name="Rectangle 109">
                <a:extLst>
                  <a:ext uri="{FF2B5EF4-FFF2-40B4-BE49-F238E27FC236}">
                    <a16:creationId xmlns:a16="http://schemas.microsoft.com/office/drawing/2014/main" id="{D25B9F48-5027-6E4E-BF5B-3A43EB204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1" name="Line 110">
                <a:extLst>
                  <a:ext uri="{FF2B5EF4-FFF2-40B4-BE49-F238E27FC236}">
                    <a16:creationId xmlns:a16="http://schemas.microsoft.com/office/drawing/2014/main" id="{9C3B50DE-BC7E-DC41-A996-2C8F99ABF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" y="3527"/>
                <a:ext cx="65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42" name="Group 111">
              <a:extLst>
                <a:ext uri="{FF2B5EF4-FFF2-40B4-BE49-F238E27FC236}">
                  <a16:creationId xmlns:a16="http://schemas.microsoft.com/office/drawing/2014/main" id="{7DF99D71-DDE6-BB4A-B28F-8F67E7B81B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5368" y="5315556"/>
              <a:ext cx="1046163" cy="215900"/>
              <a:chOff x="357" y="3463"/>
              <a:chExt cx="659" cy="136"/>
            </a:xfrm>
          </p:grpSpPr>
          <p:sp>
            <p:nvSpPr>
              <p:cNvPr id="343" name="Rectangle 112">
                <a:extLst>
                  <a:ext uri="{FF2B5EF4-FFF2-40B4-BE49-F238E27FC236}">
                    <a16:creationId xmlns:a16="http://schemas.microsoft.com/office/drawing/2014/main" id="{DADCADDA-AA8E-4A44-881D-9DC078380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4" name="Rectangle 113">
                <a:extLst>
                  <a:ext uri="{FF2B5EF4-FFF2-40B4-BE49-F238E27FC236}">
                    <a16:creationId xmlns:a16="http://schemas.microsoft.com/office/drawing/2014/main" id="{7B071F8D-7A94-0545-B654-6656D3617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5" name="Rectangle 114">
                <a:extLst>
                  <a:ext uri="{FF2B5EF4-FFF2-40B4-BE49-F238E27FC236}">
                    <a16:creationId xmlns:a16="http://schemas.microsoft.com/office/drawing/2014/main" id="{030036A2-20DE-2444-AEBC-ED30EF2E2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6" name="Rectangle 115">
                <a:extLst>
                  <a:ext uri="{FF2B5EF4-FFF2-40B4-BE49-F238E27FC236}">
                    <a16:creationId xmlns:a16="http://schemas.microsoft.com/office/drawing/2014/main" id="{618626AC-F6A7-144F-9ECD-C4110EE9D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7" name="Line 116">
                <a:extLst>
                  <a:ext uri="{FF2B5EF4-FFF2-40B4-BE49-F238E27FC236}">
                    <a16:creationId xmlns:a16="http://schemas.microsoft.com/office/drawing/2014/main" id="{75B1015E-550F-F445-8AAB-4865BC07F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7" y="3527"/>
                <a:ext cx="65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8" name="Text Box 117">
              <a:extLst>
                <a:ext uri="{FF2B5EF4-FFF2-40B4-BE49-F238E27FC236}">
                  <a16:creationId xmlns:a16="http://schemas.microsoft.com/office/drawing/2014/main" id="{65D98CB2-870D-B84B-9B0C-A2C174F40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3223" y="4509339"/>
              <a:ext cx="185836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Bus: </a:t>
              </a:r>
              <a:r>
                <a:rPr lang="en-US" altLang="zh-CN" sz="1800" dirty="0"/>
                <a:t>D</a:t>
              </a:r>
              <a:r>
                <a:rPr lang="en-US" sz="1800" dirty="0"/>
                <a:t>atagram forwarded via a shared bus</a:t>
              </a:r>
            </a:p>
          </p:txBody>
        </p:sp>
        <p:sp>
          <p:nvSpPr>
            <p:cNvPr id="403" name="Freeform 172">
              <a:extLst>
                <a:ext uri="{FF2B5EF4-FFF2-40B4-BE49-F238E27FC236}">
                  <a16:creationId xmlns:a16="http://schemas.microsoft.com/office/drawing/2014/main" id="{FCB8CAB7-7CE5-7648-B2F4-FF9B29F4C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9952" y="4547566"/>
              <a:ext cx="2006600" cy="400050"/>
            </a:xfrm>
            <a:custGeom>
              <a:avLst/>
              <a:gdLst>
                <a:gd name="T0" fmla="*/ 0 w 1264"/>
                <a:gd name="T1" fmla="*/ 2147483647 h 252"/>
                <a:gd name="T2" fmla="*/ 2147483647 w 1264"/>
                <a:gd name="T3" fmla="*/ 0 h 252"/>
                <a:gd name="T4" fmla="*/ 2147483647 w 1264"/>
                <a:gd name="T5" fmla="*/ 2147483647 h 252"/>
                <a:gd name="T6" fmla="*/ 2147483647 w 1264"/>
                <a:gd name="T7" fmla="*/ 2147483647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4"/>
                <a:gd name="T13" fmla="*/ 0 h 252"/>
                <a:gd name="T14" fmla="*/ 1264 w 1264"/>
                <a:gd name="T15" fmla="*/ 252 h 2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4" h="252">
                  <a:moveTo>
                    <a:pt x="0" y="2"/>
                  </a:moveTo>
                  <a:lnTo>
                    <a:pt x="622" y="0"/>
                  </a:lnTo>
                  <a:lnTo>
                    <a:pt x="616" y="246"/>
                  </a:lnTo>
                  <a:lnTo>
                    <a:pt x="1264" y="252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1E24DDED-AAB8-1742-BEAA-647483FFA1F1}"/>
              </a:ext>
            </a:extLst>
          </p:cNvPr>
          <p:cNvGrpSpPr/>
          <p:nvPr/>
        </p:nvGrpSpPr>
        <p:grpSpPr>
          <a:xfrm>
            <a:off x="5341936" y="4665661"/>
            <a:ext cx="6607620" cy="2096154"/>
            <a:chOff x="2922420" y="4485654"/>
            <a:chExt cx="6607620" cy="2096154"/>
          </a:xfrm>
        </p:grpSpPr>
        <p:grpSp>
          <p:nvGrpSpPr>
            <p:cNvPr id="349" name="Group 118">
              <a:extLst>
                <a:ext uri="{FF2B5EF4-FFF2-40B4-BE49-F238E27FC236}">
                  <a16:creationId xmlns:a16="http://schemas.microsoft.com/office/drawing/2014/main" id="{2404D93A-580B-0343-A0B1-94D96A295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9465" y="4485654"/>
              <a:ext cx="890587" cy="215900"/>
              <a:chOff x="876" y="2800"/>
              <a:chExt cx="642" cy="175"/>
            </a:xfrm>
          </p:grpSpPr>
          <p:sp>
            <p:nvSpPr>
              <p:cNvPr id="350" name="Rectangle 119">
                <a:extLst>
                  <a:ext uri="{FF2B5EF4-FFF2-40B4-BE49-F238E27FC236}">
                    <a16:creationId xmlns:a16="http://schemas.microsoft.com/office/drawing/2014/main" id="{DEAD9689-A93F-3A40-A1F0-D7AE2D9E4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1" name="Rectangle 120">
                <a:extLst>
                  <a:ext uri="{FF2B5EF4-FFF2-40B4-BE49-F238E27FC236}">
                    <a16:creationId xmlns:a16="http://schemas.microsoft.com/office/drawing/2014/main" id="{B3FFEF5C-2CF8-3F48-AA70-FCA4463DD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2" name="Rectangle 121">
                <a:extLst>
                  <a:ext uri="{FF2B5EF4-FFF2-40B4-BE49-F238E27FC236}">
                    <a16:creationId xmlns:a16="http://schemas.microsoft.com/office/drawing/2014/main" id="{6DA8F41A-C8D0-E84A-BE1E-E5D24606E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3" name="Rectangle 122">
                <a:extLst>
                  <a:ext uri="{FF2B5EF4-FFF2-40B4-BE49-F238E27FC236}">
                    <a16:creationId xmlns:a16="http://schemas.microsoft.com/office/drawing/2014/main" id="{71D1CE81-6E07-EF41-B20A-E71DD5427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Line 123">
                <a:extLst>
                  <a:ext uri="{FF2B5EF4-FFF2-40B4-BE49-F238E27FC236}">
                    <a16:creationId xmlns:a16="http://schemas.microsoft.com/office/drawing/2014/main" id="{FDFD10E9-723C-CD4E-9B1E-C974437C0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55" name="Group 124">
              <a:extLst>
                <a:ext uri="{FF2B5EF4-FFF2-40B4-BE49-F238E27FC236}">
                  <a16:creationId xmlns:a16="http://schemas.microsoft.com/office/drawing/2014/main" id="{531A9996-A8C0-EB41-BF87-89DBD438FC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5652" y="4880941"/>
              <a:ext cx="890588" cy="215900"/>
              <a:chOff x="876" y="2800"/>
              <a:chExt cx="642" cy="175"/>
            </a:xfrm>
          </p:grpSpPr>
          <p:sp>
            <p:nvSpPr>
              <p:cNvPr id="356" name="Rectangle 125">
                <a:extLst>
                  <a:ext uri="{FF2B5EF4-FFF2-40B4-BE49-F238E27FC236}">
                    <a16:creationId xmlns:a16="http://schemas.microsoft.com/office/drawing/2014/main" id="{2467BB19-E02A-7B43-9CA4-9F0EB6D87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7" name="Rectangle 126">
                <a:extLst>
                  <a:ext uri="{FF2B5EF4-FFF2-40B4-BE49-F238E27FC236}">
                    <a16:creationId xmlns:a16="http://schemas.microsoft.com/office/drawing/2014/main" id="{962D332A-F4A3-2648-892A-BD845A64A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Rectangle 127">
                <a:extLst>
                  <a:ext uri="{FF2B5EF4-FFF2-40B4-BE49-F238E27FC236}">
                    <a16:creationId xmlns:a16="http://schemas.microsoft.com/office/drawing/2014/main" id="{72283283-9F77-C548-B1DC-7BED275E1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9" name="Rectangle 128">
                <a:extLst>
                  <a:ext uri="{FF2B5EF4-FFF2-40B4-BE49-F238E27FC236}">
                    <a16:creationId xmlns:a16="http://schemas.microsoft.com/office/drawing/2014/main" id="{97305BF1-8C59-FD41-8C7C-DBF2671DC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Line 129">
                <a:extLst>
                  <a:ext uri="{FF2B5EF4-FFF2-40B4-BE49-F238E27FC236}">
                    <a16:creationId xmlns:a16="http://schemas.microsoft.com/office/drawing/2014/main" id="{EDA7687B-3958-E947-B115-E7E60D777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61" name="Group 130">
              <a:extLst>
                <a:ext uri="{FF2B5EF4-FFF2-40B4-BE49-F238E27FC236}">
                  <a16:creationId xmlns:a16="http://schemas.microsoft.com/office/drawing/2014/main" id="{1D80AFC0-343E-BE4A-A3A1-7940B6D336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890" y="5307979"/>
              <a:ext cx="890587" cy="215900"/>
              <a:chOff x="876" y="2800"/>
              <a:chExt cx="642" cy="175"/>
            </a:xfrm>
          </p:grpSpPr>
          <p:sp>
            <p:nvSpPr>
              <p:cNvPr id="362" name="Rectangle 131">
                <a:extLst>
                  <a:ext uri="{FF2B5EF4-FFF2-40B4-BE49-F238E27FC236}">
                    <a16:creationId xmlns:a16="http://schemas.microsoft.com/office/drawing/2014/main" id="{41CC58A8-B68E-884F-BD23-08890CD10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3" name="Rectangle 132">
                <a:extLst>
                  <a:ext uri="{FF2B5EF4-FFF2-40B4-BE49-F238E27FC236}">
                    <a16:creationId xmlns:a16="http://schemas.microsoft.com/office/drawing/2014/main" id="{328A28BC-2B66-004E-8A4C-0C3533209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4" name="Rectangle 133">
                <a:extLst>
                  <a:ext uri="{FF2B5EF4-FFF2-40B4-BE49-F238E27FC236}">
                    <a16:creationId xmlns:a16="http://schemas.microsoft.com/office/drawing/2014/main" id="{D3427F60-4900-B545-B8F2-23A9D4F79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5" name="Rectangle 134">
                <a:extLst>
                  <a:ext uri="{FF2B5EF4-FFF2-40B4-BE49-F238E27FC236}">
                    <a16:creationId xmlns:a16="http://schemas.microsoft.com/office/drawing/2014/main" id="{808AFD0A-2342-6644-842D-FE9FD6D74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6" name="Line 135">
                <a:extLst>
                  <a:ext uri="{FF2B5EF4-FFF2-40B4-BE49-F238E27FC236}">
                    <a16:creationId xmlns:a16="http://schemas.microsoft.com/office/drawing/2014/main" id="{AA67B89E-6553-F34F-9540-BB2888CF4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67" name="Group 154">
              <a:extLst>
                <a:ext uri="{FF2B5EF4-FFF2-40B4-BE49-F238E27FC236}">
                  <a16:creationId xmlns:a16="http://schemas.microsoft.com/office/drawing/2014/main" id="{FCB38C9C-3886-1647-B1BB-77C45B97E5F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564840" y="5504829"/>
              <a:ext cx="895350" cy="1035050"/>
              <a:chOff x="2954" y="2776"/>
              <a:chExt cx="564" cy="652"/>
            </a:xfrm>
          </p:grpSpPr>
          <p:grpSp>
            <p:nvGrpSpPr>
              <p:cNvPr id="368" name="Group 136">
                <a:extLst>
                  <a:ext uri="{FF2B5EF4-FFF2-40B4-BE49-F238E27FC236}">
                    <a16:creationId xmlns:a16="http://schemas.microsoft.com/office/drawing/2014/main" id="{EC3B7F3C-2CB6-0642-A702-4D975C6E9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381" name="Rectangle 137">
                  <a:extLst>
                    <a:ext uri="{FF2B5EF4-FFF2-40B4-BE49-F238E27FC236}">
                      <a16:creationId xmlns:a16="http://schemas.microsoft.com/office/drawing/2014/main" id="{333322CF-B6EA-B147-806E-4AA261E43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2" name="Rectangle 138">
                  <a:extLst>
                    <a:ext uri="{FF2B5EF4-FFF2-40B4-BE49-F238E27FC236}">
                      <a16:creationId xmlns:a16="http://schemas.microsoft.com/office/drawing/2014/main" id="{884DB2A1-6022-954E-B68C-90C304DB2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3" name="Rectangle 139">
                  <a:extLst>
                    <a:ext uri="{FF2B5EF4-FFF2-40B4-BE49-F238E27FC236}">
                      <a16:creationId xmlns:a16="http://schemas.microsoft.com/office/drawing/2014/main" id="{39F0096A-6580-4B46-9B00-336282120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4" name="Rectangle 140">
                  <a:extLst>
                    <a:ext uri="{FF2B5EF4-FFF2-40B4-BE49-F238E27FC236}">
                      <a16:creationId xmlns:a16="http://schemas.microsoft.com/office/drawing/2014/main" id="{A02D0A4D-FA88-0445-B282-F1BA4FAC99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5" name="Line 141">
                  <a:extLst>
                    <a:ext uri="{FF2B5EF4-FFF2-40B4-BE49-F238E27FC236}">
                      <a16:creationId xmlns:a16="http://schemas.microsoft.com/office/drawing/2014/main" id="{89AD7EED-2D5A-5F4B-82F9-B59964C7DA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69" name="Group 142">
                <a:extLst>
                  <a:ext uri="{FF2B5EF4-FFF2-40B4-BE49-F238E27FC236}">
                    <a16:creationId xmlns:a16="http://schemas.microsoft.com/office/drawing/2014/main" id="{971C6EFA-672B-694C-8BB8-27DE8BB10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376" name="Rectangle 143">
                  <a:extLst>
                    <a:ext uri="{FF2B5EF4-FFF2-40B4-BE49-F238E27FC236}">
                      <a16:creationId xmlns:a16="http://schemas.microsoft.com/office/drawing/2014/main" id="{E55A46DF-72A8-7647-876D-A80F15CE8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7" name="Rectangle 144">
                  <a:extLst>
                    <a:ext uri="{FF2B5EF4-FFF2-40B4-BE49-F238E27FC236}">
                      <a16:creationId xmlns:a16="http://schemas.microsoft.com/office/drawing/2014/main" id="{D24335F7-9D53-044A-AB88-2B9DF89C1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8" name="Rectangle 145">
                  <a:extLst>
                    <a:ext uri="{FF2B5EF4-FFF2-40B4-BE49-F238E27FC236}">
                      <a16:creationId xmlns:a16="http://schemas.microsoft.com/office/drawing/2014/main" id="{6AEA3435-AA43-9F49-9087-3A3338DAF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9" name="Rectangle 146">
                  <a:extLst>
                    <a:ext uri="{FF2B5EF4-FFF2-40B4-BE49-F238E27FC236}">
                      <a16:creationId xmlns:a16="http://schemas.microsoft.com/office/drawing/2014/main" id="{177A053B-0BAE-0640-AB44-0E043F06D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0" name="Line 147">
                  <a:extLst>
                    <a:ext uri="{FF2B5EF4-FFF2-40B4-BE49-F238E27FC236}">
                      <a16:creationId xmlns:a16="http://schemas.microsoft.com/office/drawing/2014/main" id="{8AEFB38B-7DDC-9F44-A516-7DAA76A7E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70" name="Group 148">
                <a:extLst>
                  <a:ext uri="{FF2B5EF4-FFF2-40B4-BE49-F238E27FC236}">
                    <a16:creationId xmlns:a16="http://schemas.microsoft.com/office/drawing/2014/main" id="{FD714310-89A4-394D-B783-5EC2CA17AE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371" name="Rectangle 149">
                  <a:extLst>
                    <a:ext uri="{FF2B5EF4-FFF2-40B4-BE49-F238E27FC236}">
                      <a16:creationId xmlns:a16="http://schemas.microsoft.com/office/drawing/2014/main" id="{ADDE511B-C129-9D4B-A35E-5B6716868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Rectangle 150">
                  <a:extLst>
                    <a:ext uri="{FF2B5EF4-FFF2-40B4-BE49-F238E27FC236}">
                      <a16:creationId xmlns:a16="http://schemas.microsoft.com/office/drawing/2014/main" id="{1926829B-5C2B-7B46-AAD2-DCC04D10C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3" name="Rectangle 151">
                  <a:extLst>
                    <a:ext uri="{FF2B5EF4-FFF2-40B4-BE49-F238E27FC236}">
                      <a16:creationId xmlns:a16="http://schemas.microsoft.com/office/drawing/2014/main" id="{5166BAC0-36EC-054B-AEAE-4083E2973B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4" name="Rectangle 152">
                  <a:extLst>
                    <a:ext uri="{FF2B5EF4-FFF2-40B4-BE49-F238E27FC236}">
                      <a16:creationId xmlns:a16="http://schemas.microsoft.com/office/drawing/2014/main" id="{B8D687ED-21A3-5844-8144-FC4568CCB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5" name="Line 153">
                  <a:extLst>
                    <a:ext uri="{FF2B5EF4-FFF2-40B4-BE49-F238E27FC236}">
                      <a16:creationId xmlns:a16="http://schemas.microsoft.com/office/drawing/2014/main" id="{B0B99B84-F7F0-474D-9C17-F45572185C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386" name="Line 155">
              <a:extLst>
                <a:ext uri="{FF2B5EF4-FFF2-40B4-BE49-F238E27FC236}">
                  <a16:creationId xmlns:a16="http://schemas.microsoft.com/office/drawing/2014/main" id="{03C8D9EA-BBBC-B346-8BF2-359A0A507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0052" y="4592016"/>
              <a:ext cx="10636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Line 156">
              <a:extLst>
                <a:ext uri="{FF2B5EF4-FFF2-40B4-BE49-F238E27FC236}">
                  <a16:creationId xmlns:a16="http://schemas.microsoft.com/office/drawing/2014/main" id="{A11B99D5-398C-2B4F-8426-2A7897D26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21952" y="4979366"/>
              <a:ext cx="1111250" cy="3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8" name="Line 157">
              <a:extLst>
                <a:ext uri="{FF2B5EF4-FFF2-40B4-BE49-F238E27FC236}">
                  <a16:creationId xmlns:a16="http://schemas.microsoft.com/office/drawing/2014/main" id="{E19B9C74-C0F9-9C48-96BC-5083BFA42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952" y="5411166"/>
              <a:ext cx="11017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Line 158">
              <a:extLst>
                <a:ext uri="{FF2B5EF4-FFF2-40B4-BE49-F238E27FC236}">
                  <a16:creationId xmlns:a16="http://schemas.microsoft.com/office/drawing/2014/main" id="{972BC1ED-3C65-0D48-80B7-F3828BC10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04527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Line 159">
              <a:extLst>
                <a:ext uri="{FF2B5EF4-FFF2-40B4-BE49-F238E27FC236}">
                  <a16:creationId xmlns:a16="http://schemas.microsoft.com/office/drawing/2014/main" id="{C423A751-C773-8948-92DB-5C00303B0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26802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Line 160">
              <a:extLst>
                <a:ext uri="{FF2B5EF4-FFF2-40B4-BE49-F238E27FC236}">
                  <a16:creationId xmlns:a16="http://schemas.microsoft.com/office/drawing/2014/main" id="{2109E4A3-3D73-694A-B332-08F4B9DB2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3677" y="4582491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Oval 161">
              <a:extLst>
                <a:ext uri="{FF2B5EF4-FFF2-40B4-BE49-F238E27FC236}">
                  <a16:creationId xmlns:a16="http://schemas.microsoft.com/office/drawing/2014/main" id="{560F0CCD-566F-2848-BC28-48AB5BC46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Oval 162">
              <a:extLst>
                <a:ext uri="{FF2B5EF4-FFF2-40B4-BE49-F238E27FC236}">
                  <a16:creationId xmlns:a16="http://schemas.microsoft.com/office/drawing/2014/main" id="{6B545151-450A-F94D-A4C6-78382BC89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Oval 163">
              <a:extLst>
                <a:ext uri="{FF2B5EF4-FFF2-40B4-BE49-F238E27FC236}">
                  <a16:creationId xmlns:a16="http://schemas.microsoft.com/office/drawing/2014/main" id="{EA145C17-3847-3E48-8C50-06E7F086C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90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Oval 164">
              <a:extLst>
                <a:ext uri="{FF2B5EF4-FFF2-40B4-BE49-F238E27FC236}">
                  <a16:creationId xmlns:a16="http://schemas.microsoft.com/office/drawing/2014/main" id="{D583174B-E718-A249-BE75-33AB9B1F6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Oval 165">
              <a:extLst>
                <a:ext uri="{FF2B5EF4-FFF2-40B4-BE49-F238E27FC236}">
                  <a16:creationId xmlns:a16="http://schemas.microsoft.com/office/drawing/2014/main" id="{FC9B88BE-9FFF-DE40-8BFE-38035460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Oval 166">
              <a:extLst>
                <a:ext uri="{FF2B5EF4-FFF2-40B4-BE49-F238E27FC236}">
                  <a16:creationId xmlns:a16="http://schemas.microsoft.com/office/drawing/2014/main" id="{6F896AF1-2C34-3149-8329-09390CA6B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35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67">
              <a:extLst>
                <a:ext uri="{FF2B5EF4-FFF2-40B4-BE49-F238E27FC236}">
                  <a16:creationId xmlns:a16="http://schemas.microsoft.com/office/drawing/2014/main" id="{54294AED-0555-D244-94AB-1E755BFB4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Oval 168">
              <a:extLst>
                <a:ext uri="{FF2B5EF4-FFF2-40B4-BE49-F238E27FC236}">
                  <a16:creationId xmlns:a16="http://schemas.microsoft.com/office/drawing/2014/main" id="{89BB0930-936E-2C4A-B203-3AF50935C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Oval 169">
              <a:extLst>
                <a:ext uri="{FF2B5EF4-FFF2-40B4-BE49-F238E27FC236}">
                  <a16:creationId xmlns:a16="http://schemas.microsoft.com/office/drawing/2014/main" id="{54A896D0-B039-1C43-B23B-699A69438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877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Text Box 170">
              <a:extLst>
                <a:ext uri="{FF2B5EF4-FFF2-40B4-BE49-F238E27FC236}">
                  <a16:creationId xmlns:a16="http://schemas.microsoft.com/office/drawing/2014/main" id="{D7A7FAC4-A795-2344-B8A6-A06C12033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2420" y="4642816"/>
              <a:ext cx="4797547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Interconnection network</a:t>
              </a:r>
              <a:r>
                <a:rPr lang="en-US" altLang="en-US" sz="2000" kern="0" dirty="0">
                  <a:solidFill>
                    <a:srgbClr val="000000"/>
                  </a:solidFill>
                </a:rPr>
                <a:t>: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2000" i="1" dirty="0">
                  <a:solidFill>
                    <a:prstClr val="black"/>
                  </a:solidFill>
                  <a:latin typeface="Calibri" panose="020F0502020204030204"/>
                </a:rPr>
                <a:t>n x n </a:t>
              </a:r>
              <a:r>
                <a:rPr lang="en-US" sz="2000" dirty="0">
                  <a:solidFill>
                    <a:prstClr val="black"/>
                  </a:solidFill>
                  <a:latin typeface="Calibri" panose="020F0502020204030204"/>
                </a:rPr>
                <a:t>multistage switch built from smaller-sized switches</a:t>
              </a: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 panose="020F0502020204030204"/>
                </a:rPr>
                <a:t>fragment datagram into fixed length cells</a:t>
              </a:r>
            </a:p>
            <a:p>
              <a:pPr marL="285750" lvl="0" indent="-2857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 panose="020F0502020204030204"/>
                </a:rPr>
                <a:t>switch cells through the fabric, reassemble datagram at exit</a:t>
              </a:r>
            </a:p>
          </p:txBody>
        </p:sp>
        <p:sp>
          <p:nvSpPr>
            <p:cNvPr id="404" name="Freeform 173">
              <a:extLst>
                <a:ext uri="{FF2B5EF4-FFF2-40B4-BE49-F238E27FC236}">
                  <a16:creationId xmlns:a16="http://schemas.microsoft.com/office/drawing/2014/main" id="{7731649A-7A0C-FF4B-AE01-BDFE9F590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7077" y="4538041"/>
              <a:ext cx="1543050" cy="2014538"/>
            </a:xfrm>
            <a:custGeom>
              <a:avLst/>
              <a:gdLst>
                <a:gd name="T0" fmla="*/ 0 w 972"/>
                <a:gd name="T1" fmla="*/ 2147483647 h 1266"/>
                <a:gd name="T2" fmla="*/ 2147483647 w 972"/>
                <a:gd name="T3" fmla="*/ 0 h 1266"/>
                <a:gd name="T4" fmla="*/ 2147483647 w 972"/>
                <a:gd name="T5" fmla="*/ 2147483647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12" name="Content Placeholder 2">
            <a:extLst>
              <a:ext uri="{FF2B5EF4-FFF2-40B4-BE49-F238E27FC236}">
                <a16:creationId xmlns:a16="http://schemas.microsoft.com/office/drawing/2014/main" id="{B6082DFD-51BE-9044-ABA0-EB366AEB6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19" y="835577"/>
            <a:ext cx="11035748" cy="2495799"/>
          </a:xfrm>
        </p:spPr>
        <p:txBody>
          <a:bodyPr>
            <a:normAutofit/>
          </a:bodyPr>
          <a:lstStyle/>
          <a:p>
            <a:pPr marL="398462" indent="-457200">
              <a:spcAft>
                <a:spcPts val="600"/>
              </a:spcAft>
              <a:defRPr/>
            </a:pPr>
            <a:r>
              <a:rPr lang="en-US" sz="2400" dirty="0"/>
              <a:t>Transfer packet from input link to appropriate output link</a:t>
            </a:r>
          </a:p>
          <a:p>
            <a:pPr marL="398462" indent="-457200"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/>
              </a:rPr>
              <a:t>Switching rate: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rate at which packets can be transfer from inputs to outputs</a:t>
            </a:r>
          </a:p>
          <a:p>
            <a:pPr marL="806450" lvl="1" indent="-342900"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Often measured as multiple of input/output line rate</a:t>
            </a:r>
          </a:p>
          <a:p>
            <a:pPr marL="806450" lvl="1" indent="-342900"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 inputs: switching rate </a:t>
            </a:r>
            <a:r>
              <a:rPr lang="en-US" i="1" dirty="0">
                <a:solidFill>
                  <a:srgbClr val="C00000"/>
                </a:solidFill>
                <a:latin typeface="Calibri" panose="020F0502020204030204"/>
              </a:rPr>
              <a:t>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times line rate </a:t>
            </a:r>
            <a:r>
              <a:rPr lang="en-US" i="1" dirty="0">
                <a:solidFill>
                  <a:srgbClr val="C00000"/>
                </a:solidFill>
                <a:latin typeface="Calibri" panose="020F0502020204030204"/>
              </a:rPr>
              <a:t>R</a:t>
            </a:r>
          </a:p>
          <a:p>
            <a:pPr marL="463550" indent="-457200">
              <a:spcAft>
                <a:spcPts val="600"/>
              </a:spcAft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Three major types of switching fabrics:</a:t>
            </a:r>
            <a:endParaRPr lang="en-US" sz="2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D7F37AC-D3FC-7883-C14C-3EAAC4947EAF}"/>
              </a:ext>
            </a:extLst>
          </p:cNvPr>
          <p:cNvGrpSpPr/>
          <p:nvPr/>
        </p:nvGrpSpPr>
        <p:grpSpPr>
          <a:xfrm>
            <a:off x="135494" y="3516293"/>
            <a:ext cx="5232764" cy="2343150"/>
            <a:chOff x="2670431" y="3943350"/>
            <a:chExt cx="5232764" cy="2343150"/>
          </a:xfrm>
        </p:grpSpPr>
        <p:grpSp>
          <p:nvGrpSpPr>
            <p:cNvPr id="5" name="Group 60">
              <a:extLst>
                <a:ext uri="{FF2B5EF4-FFF2-40B4-BE49-F238E27FC236}">
                  <a16:creationId xmlns:a16="http://schemas.microsoft.com/office/drawing/2014/main" id="{879BF756-F225-7CD5-514C-7B0DE0C50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0432" y="3943350"/>
              <a:ext cx="1609725" cy="2343150"/>
              <a:chOff x="2418" y="1882"/>
              <a:chExt cx="1014" cy="147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Rectangle 45">
                <a:extLst>
                  <a:ext uri="{FF2B5EF4-FFF2-40B4-BE49-F238E27FC236}">
                    <a16:creationId xmlns:a16="http://schemas.microsoft.com/office/drawing/2014/main" id="{ECA237A5-FD82-643C-D83C-174C15AB1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8" y="1882"/>
                <a:ext cx="1014" cy="14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" name="Text Box 48">
                <a:extLst>
                  <a:ext uri="{FF2B5EF4-FFF2-40B4-BE49-F238E27FC236}">
                    <a16:creationId xmlns:a16="http://schemas.microsoft.com/office/drawing/2014/main" id="{0CC28A82-B61B-252D-9B8F-188CB17E8D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5" y="2418"/>
                <a:ext cx="876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high-speed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switching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fabric</a:t>
                </a:r>
              </a:p>
            </p:txBody>
          </p:sp>
        </p:grpSp>
        <p:sp>
          <p:nvSpPr>
            <p:cNvPr id="8" name="Text Box 57">
              <a:extLst>
                <a:ext uri="{FF2B5EF4-FFF2-40B4-BE49-F238E27FC236}">
                  <a16:creationId xmlns:a16="http://schemas.microsoft.com/office/drawing/2014/main" id="{37DC1F5F-8CC7-6B87-C988-F19F79400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431" y="4859666"/>
              <a:ext cx="97975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 input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ports</a:t>
              </a:r>
            </a:p>
          </p:txBody>
        </p:sp>
        <p:grpSp>
          <p:nvGrpSpPr>
            <p:cNvPr id="9" name="Group 38">
              <a:extLst>
                <a:ext uri="{FF2B5EF4-FFF2-40B4-BE49-F238E27FC236}">
                  <a16:creationId xmlns:a16="http://schemas.microsoft.com/office/drawing/2014/main" id="{E286BCF4-0703-EF73-3818-5C56C15D83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9007" y="5709203"/>
              <a:ext cx="1472095" cy="386798"/>
              <a:chOff x="-51" y="2454"/>
              <a:chExt cx="1482" cy="357"/>
            </a:xfrm>
          </p:grpSpPr>
          <p:grpSp>
            <p:nvGrpSpPr>
              <p:cNvPr id="10" name="Group 39">
                <a:extLst>
                  <a:ext uri="{FF2B5EF4-FFF2-40B4-BE49-F238E27FC236}">
                    <a16:creationId xmlns:a16="http://schemas.microsoft.com/office/drawing/2014/main" id="{521310F4-A15F-4CD9-7FBA-08D913688A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71" y="2454"/>
                <a:ext cx="1086" cy="357"/>
                <a:chOff x="171" y="2454"/>
                <a:chExt cx="1086" cy="357"/>
              </a:xfrm>
            </p:grpSpPr>
            <p:sp>
              <p:nvSpPr>
                <p:cNvPr id="12" name="Rectangle 40">
                  <a:extLst>
                    <a:ext uri="{FF2B5EF4-FFF2-40B4-BE49-F238E27FC236}">
                      <a16:creationId xmlns:a16="http://schemas.microsoft.com/office/drawing/2014/main" id="{64BE8F1C-B9C7-FB50-458F-D66401787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" y="2454"/>
                  <a:ext cx="1084" cy="35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" name="Rectangle 41">
                  <a:extLst>
                    <a:ext uri="{FF2B5EF4-FFF2-40B4-BE49-F238E27FC236}">
                      <a16:creationId xmlns:a16="http://schemas.microsoft.com/office/drawing/2014/main" id="{F413E30C-5C29-AE73-F6EC-0F4BA3DE2C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" y="2554"/>
                  <a:ext cx="337" cy="1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" name="Rectangle 42">
                  <a:extLst>
                    <a:ext uri="{FF2B5EF4-FFF2-40B4-BE49-F238E27FC236}">
                      <a16:creationId xmlns:a16="http://schemas.microsoft.com/office/drawing/2014/main" id="{F9C050AB-7A65-5077-8B89-4A82377F5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2" y="2490"/>
                  <a:ext cx="274" cy="27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3C6CD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" name="Rectangle 43">
                  <a:extLst>
                    <a:ext uri="{FF2B5EF4-FFF2-40B4-BE49-F238E27FC236}">
                      <a16:creationId xmlns:a16="http://schemas.microsoft.com/office/drawing/2014/main" id="{1C346703-351B-1841-99CC-08A706310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3" y="2488"/>
                  <a:ext cx="274" cy="27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1" name="Line 44">
                <a:extLst>
                  <a:ext uri="{FF2B5EF4-FFF2-40B4-BE49-F238E27FC236}">
                    <a16:creationId xmlns:a16="http://schemas.microsoft.com/office/drawing/2014/main" id="{6F2275C5-F880-C08E-E49C-2E4ADEE44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1" y="2634"/>
                <a:ext cx="14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 Box 57">
              <a:extLst>
                <a:ext uri="{FF2B5EF4-FFF2-40B4-BE49-F238E27FC236}">
                  <a16:creationId xmlns:a16="http://schemas.microsoft.com/office/drawing/2014/main" id="{B77A6923-4D54-B59F-1D07-C7710D332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9378" y="4864446"/>
              <a:ext cx="112082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 output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ports</a:t>
              </a:r>
            </a:p>
          </p:txBody>
        </p:sp>
        <p:grpSp>
          <p:nvGrpSpPr>
            <p:cNvPr id="17" name="Group 38">
              <a:extLst>
                <a:ext uri="{FF2B5EF4-FFF2-40B4-BE49-F238E27FC236}">
                  <a16:creationId xmlns:a16="http://schemas.microsoft.com/office/drawing/2014/main" id="{72C92B13-851E-3460-39F0-DA09EEE49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55633" y="4072559"/>
              <a:ext cx="1472095" cy="386798"/>
              <a:chOff x="-51" y="2454"/>
              <a:chExt cx="1482" cy="357"/>
            </a:xfrm>
          </p:grpSpPr>
          <p:grpSp>
            <p:nvGrpSpPr>
              <p:cNvPr id="18" name="Group 39">
                <a:extLst>
                  <a:ext uri="{FF2B5EF4-FFF2-40B4-BE49-F238E27FC236}">
                    <a16:creationId xmlns:a16="http://schemas.microsoft.com/office/drawing/2014/main" id="{A612C739-4310-C341-9386-547077E255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71" y="2454"/>
                <a:ext cx="1086" cy="357"/>
                <a:chOff x="171" y="2454"/>
                <a:chExt cx="1086" cy="357"/>
              </a:xfrm>
            </p:grpSpPr>
            <p:sp>
              <p:nvSpPr>
                <p:cNvPr id="20" name="Rectangle 40">
                  <a:extLst>
                    <a:ext uri="{FF2B5EF4-FFF2-40B4-BE49-F238E27FC236}">
                      <a16:creationId xmlns:a16="http://schemas.microsoft.com/office/drawing/2014/main" id="{2136B3FE-FB1D-09DE-9084-13B0261840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" y="2454"/>
                  <a:ext cx="1084" cy="35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" name="Rectangle 41">
                  <a:extLst>
                    <a:ext uri="{FF2B5EF4-FFF2-40B4-BE49-F238E27FC236}">
                      <a16:creationId xmlns:a16="http://schemas.microsoft.com/office/drawing/2014/main" id="{40972140-D910-5600-0B2A-13792C30AB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" y="2554"/>
                  <a:ext cx="337" cy="16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2" name="Rectangle 42">
                  <a:extLst>
                    <a:ext uri="{FF2B5EF4-FFF2-40B4-BE49-F238E27FC236}">
                      <a16:creationId xmlns:a16="http://schemas.microsoft.com/office/drawing/2014/main" id="{8EAACFED-8720-F917-005B-14006D06C8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2" y="2490"/>
                  <a:ext cx="274" cy="27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3C6CD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3" name="Rectangle 43">
                  <a:extLst>
                    <a:ext uri="{FF2B5EF4-FFF2-40B4-BE49-F238E27FC236}">
                      <a16:creationId xmlns:a16="http://schemas.microsoft.com/office/drawing/2014/main" id="{227DDD43-760C-0B68-03F7-467E8F37D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3" y="2488"/>
                  <a:ext cx="274" cy="27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9" name="Line 44">
                <a:extLst>
                  <a:ext uri="{FF2B5EF4-FFF2-40B4-BE49-F238E27FC236}">
                    <a16:creationId xmlns:a16="http://schemas.microsoft.com/office/drawing/2014/main" id="{5AAC3A6A-A1F2-4DE1-277A-D639D0E8B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1" y="2634"/>
                <a:ext cx="14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2B054A-7A7A-134D-871B-A9D953887D74}"/>
                </a:ext>
              </a:extLst>
            </p:cNvPr>
            <p:cNvSpPr txBox="1"/>
            <p:nvPr/>
          </p:nvSpPr>
          <p:spPr>
            <a:xfrm rot="5400000">
              <a:off x="6248400" y="4708389"/>
              <a:ext cx="92764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 .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2149B-4285-4DAA-3C4B-6D085054635D}"/>
                </a:ext>
              </a:extLst>
            </p:cNvPr>
            <p:cNvSpPr txBox="1"/>
            <p:nvPr/>
          </p:nvSpPr>
          <p:spPr>
            <a:xfrm rot="5400000">
              <a:off x="3472070" y="4715016"/>
              <a:ext cx="92764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. . . </a:t>
              </a:r>
            </a:p>
          </p:txBody>
        </p:sp>
        <p:grpSp>
          <p:nvGrpSpPr>
            <p:cNvPr id="26" name="Group 39">
              <a:extLst>
                <a:ext uri="{FF2B5EF4-FFF2-40B4-BE49-F238E27FC236}">
                  <a16:creationId xmlns:a16="http://schemas.microsoft.com/office/drawing/2014/main" id="{63575B63-E3EA-B71B-0C71-224C00A6AB42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3242010" y="4065933"/>
              <a:ext cx="1078742" cy="386798"/>
              <a:chOff x="171" y="2454"/>
              <a:chExt cx="1086" cy="357"/>
            </a:xfrm>
          </p:grpSpPr>
          <p:sp>
            <p:nvSpPr>
              <p:cNvPr id="27" name="Rectangle 40">
                <a:extLst>
                  <a:ext uri="{FF2B5EF4-FFF2-40B4-BE49-F238E27FC236}">
                    <a16:creationId xmlns:a16="http://schemas.microsoft.com/office/drawing/2014/main" id="{A147797E-F0FB-DE4F-A11D-042EE7934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" name="Rectangle 41">
                <a:extLst>
                  <a:ext uri="{FF2B5EF4-FFF2-40B4-BE49-F238E27FC236}">
                    <a16:creationId xmlns:a16="http://schemas.microsoft.com/office/drawing/2014/main" id="{04DF8C36-D305-2707-5F93-146F83535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" name="Rectangle 42">
                <a:extLst>
                  <a:ext uri="{FF2B5EF4-FFF2-40B4-BE49-F238E27FC236}">
                    <a16:creationId xmlns:a16="http://schemas.microsoft.com/office/drawing/2014/main" id="{FFF15F09-0536-715A-88A1-2817063F0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Rectangle 43">
                <a:extLst>
                  <a:ext uri="{FF2B5EF4-FFF2-40B4-BE49-F238E27FC236}">
                    <a16:creationId xmlns:a16="http://schemas.microsoft.com/office/drawing/2014/main" id="{42439D20-1CDD-B9BB-2343-161F0154A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" name="Line 44">
              <a:extLst>
                <a:ext uri="{FF2B5EF4-FFF2-40B4-BE49-F238E27FC236}">
                  <a16:creationId xmlns:a16="http://schemas.microsoft.com/office/drawing/2014/main" id="{5F4DB21F-DA65-F1AA-EF01-EBA836147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1494" y="4260957"/>
              <a:ext cx="14720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" name="Group 39">
              <a:extLst>
                <a:ext uri="{FF2B5EF4-FFF2-40B4-BE49-F238E27FC236}">
                  <a16:creationId xmlns:a16="http://schemas.microsoft.com/office/drawing/2014/main" id="{9E1821CC-0BCF-48C7-D21E-4ED4E18307F8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3248636" y="5729080"/>
              <a:ext cx="1078742" cy="386798"/>
              <a:chOff x="171" y="2454"/>
              <a:chExt cx="1086" cy="357"/>
            </a:xfrm>
          </p:grpSpPr>
          <p:sp>
            <p:nvSpPr>
              <p:cNvPr id="33" name="Rectangle 40">
                <a:extLst>
                  <a:ext uri="{FF2B5EF4-FFF2-40B4-BE49-F238E27FC236}">
                    <a16:creationId xmlns:a16="http://schemas.microsoft.com/office/drawing/2014/main" id="{9EECCF23-6B0E-7ADB-1A00-FD946C258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41">
                <a:extLst>
                  <a:ext uri="{FF2B5EF4-FFF2-40B4-BE49-F238E27FC236}">
                    <a16:creationId xmlns:a16="http://schemas.microsoft.com/office/drawing/2014/main" id="{FF091380-61CB-7C1E-0458-21950B81B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Rectangle 42">
                <a:extLst>
                  <a:ext uri="{FF2B5EF4-FFF2-40B4-BE49-F238E27FC236}">
                    <a16:creationId xmlns:a16="http://schemas.microsoft.com/office/drawing/2014/main" id="{13F11ABA-01DA-96D0-3073-31EA56DEB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Rectangle 43">
                <a:extLst>
                  <a:ext uri="{FF2B5EF4-FFF2-40B4-BE49-F238E27FC236}">
                    <a16:creationId xmlns:a16="http://schemas.microsoft.com/office/drawing/2014/main" id="{73204BF8-1907-8836-1A62-700FACB64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" name="Line 44">
              <a:extLst>
                <a:ext uri="{FF2B5EF4-FFF2-40B4-BE49-F238E27FC236}">
                  <a16:creationId xmlns:a16="http://schemas.microsoft.com/office/drawing/2014/main" id="{55B526AF-875A-35D1-479A-E125DAC79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8120" y="5924104"/>
              <a:ext cx="14720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D15E963-9F27-278B-30C5-931B8EC79623}"/>
                </a:ext>
              </a:extLst>
            </p:cNvPr>
            <p:cNvSpPr txBox="1"/>
            <p:nvPr/>
          </p:nvSpPr>
          <p:spPr>
            <a:xfrm>
              <a:off x="2756452" y="408167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E3991A-9B11-5555-1D6F-16B18A3C6E1F}"/>
                </a:ext>
              </a:extLst>
            </p:cNvPr>
            <p:cNvSpPr txBox="1"/>
            <p:nvPr/>
          </p:nvSpPr>
          <p:spPr>
            <a:xfrm>
              <a:off x="2749826" y="571831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F0C0EBC-826E-8155-E800-44036383887E}"/>
                </a:ext>
              </a:extLst>
            </p:cNvPr>
            <p:cNvSpPr txBox="1"/>
            <p:nvPr/>
          </p:nvSpPr>
          <p:spPr>
            <a:xfrm>
              <a:off x="7593495" y="4081671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4ECB9C3-1E70-27AF-5B0F-2940333F62EE}"/>
                </a:ext>
              </a:extLst>
            </p:cNvPr>
            <p:cNvSpPr txBox="1"/>
            <p:nvPr/>
          </p:nvSpPr>
          <p:spPr>
            <a:xfrm>
              <a:off x="7586868" y="5718315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1792AB-C655-F4EC-2783-81F1A45EDAED}"/>
                </a:ext>
              </a:extLst>
            </p:cNvPr>
            <p:cNvSpPr txBox="1"/>
            <p:nvPr/>
          </p:nvSpPr>
          <p:spPr>
            <a:xfrm>
              <a:off x="4611758" y="4094922"/>
              <a:ext cx="13311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(rate: NR, ideally)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50396F-8EEC-5AD9-1005-94619F9C6E87}"/>
              </a:ext>
            </a:extLst>
          </p:cNvPr>
          <p:cNvGrpSpPr/>
          <p:nvPr/>
        </p:nvGrpSpPr>
        <p:grpSpPr>
          <a:xfrm>
            <a:off x="7742161" y="1854048"/>
            <a:ext cx="4386420" cy="1477328"/>
            <a:chOff x="7695255" y="2086317"/>
            <a:chExt cx="4386420" cy="147732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D7B28A1-7CC4-EC46-9F15-0A766D5FA67A}"/>
                </a:ext>
              </a:extLst>
            </p:cNvPr>
            <p:cNvGrpSpPr/>
            <p:nvPr/>
          </p:nvGrpSpPr>
          <p:grpSpPr>
            <a:xfrm>
              <a:off x="7695255" y="2250779"/>
              <a:ext cx="2798763" cy="1176338"/>
              <a:chOff x="1968777" y="4452316"/>
              <a:chExt cx="2798763" cy="1176338"/>
            </a:xfrm>
          </p:grpSpPr>
          <p:grpSp>
            <p:nvGrpSpPr>
              <p:cNvPr id="272" name="Group 30">
                <a:extLst>
                  <a:ext uri="{FF2B5EF4-FFF2-40B4-BE49-F238E27FC236}">
                    <a16:creationId xmlns:a16="http://schemas.microsoft.com/office/drawing/2014/main" id="{3C7C2E39-B8FC-2E4E-8EA7-9980DBE089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1177" y="4534866"/>
                <a:ext cx="890588" cy="215900"/>
                <a:chOff x="876" y="2800"/>
                <a:chExt cx="642" cy="175"/>
              </a:xfrm>
            </p:grpSpPr>
            <p:sp>
              <p:nvSpPr>
                <p:cNvPr id="273" name="Rectangle 7">
                  <a:extLst>
                    <a:ext uri="{FF2B5EF4-FFF2-40B4-BE49-F238E27FC236}">
                      <a16:creationId xmlns:a16="http://schemas.microsoft.com/office/drawing/2014/main" id="{1C7F0720-4AD3-7241-A18F-1322594DDD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5" y="2800"/>
                  <a:ext cx="485" cy="17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4" name="Rectangle 8">
                  <a:extLst>
                    <a:ext uri="{FF2B5EF4-FFF2-40B4-BE49-F238E27FC236}">
                      <a16:creationId xmlns:a16="http://schemas.microsoft.com/office/drawing/2014/main" id="{6355CF5C-E1D3-BA4C-9C14-531EDEA373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5" y="2849"/>
                  <a:ext cx="151" cy="78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5" name="Rectangle 9">
                  <a:extLst>
                    <a:ext uri="{FF2B5EF4-FFF2-40B4-BE49-F238E27FC236}">
                      <a16:creationId xmlns:a16="http://schemas.microsoft.com/office/drawing/2014/main" id="{41497BCF-AE4C-5744-A422-5C5FDE760F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7" y="2818"/>
                  <a:ext cx="124" cy="13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6" name="Rectangle 10">
                  <a:extLst>
                    <a:ext uri="{FF2B5EF4-FFF2-40B4-BE49-F238E27FC236}">
                      <a16:creationId xmlns:a16="http://schemas.microsoft.com/office/drawing/2014/main" id="{BC5034A8-3C30-BA4E-9BC2-0F43C7DAE0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3" y="2815"/>
                  <a:ext cx="125" cy="13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7" name="Line 11">
                  <a:extLst>
                    <a:ext uri="{FF2B5EF4-FFF2-40B4-BE49-F238E27FC236}">
                      <a16:creationId xmlns:a16="http://schemas.microsoft.com/office/drawing/2014/main" id="{B5DB05AA-F635-D242-8616-F8A3AA1232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76" y="2882"/>
                  <a:ext cx="642" cy="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278" name="Group 45">
                <a:extLst>
                  <a:ext uri="{FF2B5EF4-FFF2-40B4-BE49-F238E27FC236}">
                    <a16:creationId xmlns:a16="http://schemas.microsoft.com/office/drawing/2014/main" id="{8F35E416-2B65-1B4A-A2ED-DF0FCBEF83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97365" y="4930154"/>
                <a:ext cx="890587" cy="215900"/>
                <a:chOff x="876" y="2800"/>
                <a:chExt cx="642" cy="175"/>
              </a:xfrm>
            </p:grpSpPr>
            <p:sp>
              <p:nvSpPr>
                <p:cNvPr id="279" name="Rectangle 46">
                  <a:extLst>
                    <a:ext uri="{FF2B5EF4-FFF2-40B4-BE49-F238E27FC236}">
                      <a16:creationId xmlns:a16="http://schemas.microsoft.com/office/drawing/2014/main" id="{38918ABB-CEF1-BE45-AEE3-24901AE839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5" y="2800"/>
                  <a:ext cx="485" cy="17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0" name="Rectangle 47">
                  <a:extLst>
                    <a:ext uri="{FF2B5EF4-FFF2-40B4-BE49-F238E27FC236}">
                      <a16:creationId xmlns:a16="http://schemas.microsoft.com/office/drawing/2014/main" id="{FA6EFB7D-6BC0-FB42-BB60-753DA2C2FA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5" y="2849"/>
                  <a:ext cx="151" cy="78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1" name="Rectangle 48">
                  <a:extLst>
                    <a:ext uri="{FF2B5EF4-FFF2-40B4-BE49-F238E27FC236}">
                      <a16:creationId xmlns:a16="http://schemas.microsoft.com/office/drawing/2014/main" id="{E6160B5F-9E39-C440-A991-AFCD9768C2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7" y="2818"/>
                  <a:ext cx="124" cy="13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2" name="Rectangle 49">
                  <a:extLst>
                    <a:ext uri="{FF2B5EF4-FFF2-40B4-BE49-F238E27FC236}">
                      <a16:creationId xmlns:a16="http://schemas.microsoft.com/office/drawing/2014/main" id="{732D2AFE-3597-644A-97A1-28DD2F90A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3" y="2815"/>
                  <a:ext cx="125" cy="13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3" name="Line 50">
                  <a:extLst>
                    <a:ext uri="{FF2B5EF4-FFF2-40B4-BE49-F238E27FC236}">
                      <a16:creationId xmlns:a16="http://schemas.microsoft.com/office/drawing/2014/main" id="{F3A2C82B-D735-2341-9B29-100DEE8F8C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76" y="2882"/>
                  <a:ext cx="642" cy="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284" name="Group 51">
                <a:extLst>
                  <a:ext uri="{FF2B5EF4-FFF2-40B4-BE49-F238E27FC236}">
                    <a16:creationId xmlns:a16="http://schemas.microsoft.com/office/drawing/2014/main" id="{6BA36712-4E6B-3D4E-ABC4-0CE286CF56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92602" y="5357191"/>
                <a:ext cx="890588" cy="215900"/>
                <a:chOff x="876" y="2800"/>
                <a:chExt cx="642" cy="175"/>
              </a:xfrm>
            </p:grpSpPr>
            <p:sp>
              <p:nvSpPr>
                <p:cNvPr id="285" name="Rectangle 52">
                  <a:extLst>
                    <a:ext uri="{FF2B5EF4-FFF2-40B4-BE49-F238E27FC236}">
                      <a16:creationId xmlns:a16="http://schemas.microsoft.com/office/drawing/2014/main" id="{129DC514-3311-A645-A11D-4FF6C0B87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25" y="2800"/>
                  <a:ext cx="485" cy="17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6" name="Rectangle 53">
                  <a:extLst>
                    <a:ext uri="{FF2B5EF4-FFF2-40B4-BE49-F238E27FC236}">
                      <a16:creationId xmlns:a16="http://schemas.microsoft.com/office/drawing/2014/main" id="{E067EF7E-DADF-0B4B-A13F-44B8E3407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5" y="2849"/>
                  <a:ext cx="151" cy="78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7" name="Rectangle 54">
                  <a:extLst>
                    <a:ext uri="{FF2B5EF4-FFF2-40B4-BE49-F238E27FC236}">
                      <a16:creationId xmlns:a16="http://schemas.microsoft.com/office/drawing/2014/main" id="{9301E58F-0697-8D42-8D86-7240128C54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7" y="2818"/>
                  <a:ext cx="124" cy="13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8" name="Rectangle 55">
                  <a:extLst>
                    <a:ext uri="{FF2B5EF4-FFF2-40B4-BE49-F238E27FC236}">
                      <a16:creationId xmlns:a16="http://schemas.microsoft.com/office/drawing/2014/main" id="{91AC650D-8A42-5745-8F86-B02FF0476B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3" y="2815"/>
                  <a:ext cx="125" cy="13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89" name="Line 56">
                  <a:extLst>
                    <a:ext uri="{FF2B5EF4-FFF2-40B4-BE49-F238E27FC236}">
                      <a16:creationId xmlns:a16="http://schemas.microsoft.com/office/drawing/2014/main" id="{F9808253-1247-4A4E-96D0-B5614778EF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76" y="2882"/>
                  <a:ext cx="642" cy="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90" name="Rectangle 57">
                <a:extLst>
                  <a:ext uri="{FF2B5EF4-FFF2-40B4-BE49-F238E27FC236}">
                    <a16:creationId xmlns:a16="http://schemas.microsoft.com/office/drawing/2014/main" id="{41269D84-F7BD-3F4B-9EE9-23A8785FC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0015" y="4452316"/>
                <a:ext cx="704850" cy="117633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91" name="Group 64">
                <a:extLst>
                  <a:ext uri="{FF2B5EF4-FFF2-40B4-BE49-F238E27FC236}">
                    <a16:creationId xmlns:a16="http://schemas.microsoft.com/office/drawing/2014/main" id="{F48BF83F-9F4E-FD44-89AF-AD40F44A1B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9627" y="4533279"/>
                <a:ext cx="890588" cy="215900"/>
                <a:chOff x="455" y="3463"/>
                <a:chExt cx="561" cy="136"/>
              </a:xfrm>
            </p:grpSpPr>
            <p:sp>
              <p:nvSpPr>
                <p:cNvPr id="292" name="Rectangle 59">
                  <a:extLst>
                    <a:ext uri="{FF2B5EF4-FFF2-40B4-BE49-F238E27FC236}">
                      <a16:creationId xmlns:a16="http://schemas.microsoft.com/office/drawing/2014/main" id="{4E120DDC-4D03-F842-94AF-27555EDB5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" y="3463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3" name="Rectangle 60">
                  <a:extLst>
                    <a:ext uri="{FF2B5EF4-FFF2-40B4-BE49-F238E27FC236}">
                      <a16:creationId xmlns:a16="http://schemas.microsoft.com/office/drawing/2014/main" id="{3E424F24-DEF2-7747-8B32-D2D41DCCB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1" y="3500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4" name="Rectangle 61">
                  <a:extLst>
                    <a:ext uri="{FF2B5EF4-FFF2-40B4-BE49-F238E27FC236}">
                      <a16:creationId xmlns:a16="http://schemas.microsoft.com/office/drawing/2014/main" id="{FCB1CF36-46B1-EA41-94AF-564D1A453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4" y="3477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5" name="Rectangle 62">
                  <a:extLst>
                    <a:ext uri="{FF2B5EF4-FFF2-40B4-BE49-F238E27FC236}">
                      <a16:creationId xmlns:a16="http://schemas.microsoft.com/office/drawing/2014/main" id="{1B49B267-612F-D84F-B02E-C419C0367B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480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6" name="Line 63">
                  <a:extLst>
                    <a:ext uri="{FF2B5EF4-FFF2-40B4-BE49-F238E27FC236}">
                      <a16:creationId xmlns:a16="http://schemas.microsoft.com/office/drawing/2014/main" id="{DCB1F4FA-6E22-F34F-B286-A108C325D3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5" y="3527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297" name="Group 65">
                <a:extLst>
                  <a:ext uri="{FF2B5EF4-FFF2-40B4-BE49-F238E27FC236}">
                    <a16:creationId xmlns:a16="http://schemas.microsoft.com/office/drawing/2014/main" id="{719D39D4-FB51-7642-A36C-2BA36F1698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4390" y="4925391"/>
                <a:ext cx="890587" cy="215900"/>
                <a:chOff x="455" y="3463"/>
                <a:chExt cx="561" cy="136"/>
              </a:xfrm>
            </p:grpSpPr>
            <p:sp>
              <p:nvSpPr>
                <p:cNvPr id="298" name="Rectangle 66">
                  <a:extLst>
                    <a:ext uri="{FF2B5EF4-FFF2-40B4-BE49-F238E27FC236}">
                      <a16:creationId xmlns:a16="http://schemas.microsoft.com/office/drawing/2014/main" id="{95FB090C-CEEB-C642-B6E3-796C33946B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" y="3463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9" name="Rectangle 67">
                  <a:extLst>
                    <a:ext uri="{FF2B5EF4-FFF2-40B4-BE49-F238E27FC236}">
                      <a16:creationId xmlns:a16="http://schemas.microsoft.com/office/drawing/2014/main" id="{90EE24D2-2A23-8A4B-AA6C-77A540AF26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1" y="3500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0" name="Rectangle 68">
                  <a:extLst>
                    <a:ext uri="{FF2B5EF4-FFF2-40B4-BE49-F238E27FC236}">
                      <a16:creationId xmlns:a16="http://schemas.microsoft.com/office/drawing/2014/main" id="{0EE5C8FE-A545-1047-B033-D000FCC810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4" y="3477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1" name="Rectangle 69">
                  <a:extLst>
                    <a:ext uri="{FF2B5EF4-FFF2-40B4-BE49-F238E27FC236}">
                      <a16:creationId xmlns:a16="http://schemas.microsoft.com/office/drawing/2014/main" id="{4875E736-57B1-E048-9DED-51F8EBE441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480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2" name="Line 70">
                  <a:extLst>
                    <a:ext uri="{FF2B5EF4-FFF2-40B4-BE49-F238E27FC236}">
                      <a16:creationId xmlns:a16="http://schemas.microsoft.com/office/drawing/2014/main" id="{F1131A5F-4FDC-6741-B569-1128DD469C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5" y="3527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03" name="Group 71">
                <a:extLst>
                  <a:ext uri="{FF2B5EF4-FFF2-40B4-BE49-F238E27FC236}">
                    <a16:creationId xmlns:a16="http://schemas.microsoft.com/office/drawing/2014/main" id="{563249F4-CC55-FB4F-A620-0484EEFEF1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9627" y="5352429"/>
                <a:ext cx="890588" cy="215900"/>
                <a:chOff x="455" y="3463"/>
                <a:chExt cx="561" cy="136"/>
              </a:xfrm>
            </p:grpSpPr>
            <p:sp>
              <p:nvSpPr>
                <p:cNvPr id="304" name="Rectangle 72">
                  <a:extLst>
                    <a:ext uri="{FF2B5EF4-FFF2-40B4-BE49-F238E27FC236}">
                      <a16:creationId xmlns:a16="http://schemas.microsoft.com/office/drawing/2014/main" id="{C3C1DBA4-7D91-0449-AD0B-AD923E3486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" y="3463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5" name="Rectangle 73">
                  <a:extLst>
                    <a:ext uri="{FF2B5EF4-FFF2-40B4-BE49-F238E27FC236}">
                      <a16:creationId xmlns:a16="http://schemas.microsoft.com/office/drawing/2014/main" id="{0745B999-1569-3C4A-B569-9ACA756333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1" y="3500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6" name="Rectangle 74">
                  <a:extLst>
                    <a:ext uri="{FF2B5EF4-FFF2-40B4-BE49-F238E27FC236}">
                      <a16:creationId xmlns:a16="http://schemas.microsoft.com/office/drawing/2014/main" id="{521FB59F-393E-8043-969B-F33591006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4" y="3477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7" name="Rectangle 75">
                  <a:extLst>
                    <a:ext uri="{FF2B5EF4-FFF2-40B4-BE49-F238E27FC236}">
                      <a16:creationId xmlns:a16="http://schemas.microsoft.com/office/drawing/2014/main" id="{8BDC1A78-9913-4044-AD8A-150F041266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480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8" name="Line 76">
                  <a:extLst>
                    <a:ext uri="{FF2B5EF4-FFF2-40B4-BE49-F238E27FC236}">
                      <a16:creationId xmlns:a16="http://schemas.microsoft.com/office/drawing/2014/main" id="{7CD69A6B-8BD5-4A41-B066-4747BB61C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5" y="3527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10" name="Text Box 79">
                <a:extLst>
                  <a:ext uri="{FF2B5EF4-FFF2-40B4-BE49-F238E27FC236}">
                    <a16:creationId xmlns:a16="http://schemas.microsoft.com/office/drawing/2014/main" id="{021CED6C-C2DB-174F-9D8D-6ABDA56141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960" y="5026518"/>
                <a:ext cx="83067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1400" kern="0" dirty="0">
                    <a:solidFill>
                      <a:srgbClr val="000000"/>
                    </a:solidFill>
                  </a:rPr>
                  <a:t>Memory</a:t>
                </a:r>
                <a:endPara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2" name="Freeform 171">
                <a:extLst>
                  <a:ext uri="{FF2B5EF4-FFF2-40B4-BE49-F238E27FC236}">
                    <a16:creationId xmlns:a16="http://schemas.microsoft.com/office/drawing/2014/main" id="{7EB6C5B2-8711-C447-BA49-C9D20140F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8777" y="4577729"/>
                <a:ext cx="2798763" cy="412750"/>
              </a:xfrm>
              <a:custGeom>
                <a:avLst/>
                <a:gdLst>
                  <a:gd name="T0" fmla="*/ 0 w 1763"/>
                  <a:gd name="T1" fmla="*/ 0 h 260"/>
                  <a:gd name="T2" fmla="*/ 2147483647 w 1763"/>
                  <a:gd name="T3" fmla="*/ 0 h 260"/>
                  <a:gd name="T4" fmla="*/ 2147483647 w 1763"/>
                  <a:gd name="T5" fmla="*/ 2147483647 h 260"/>
                  <a:gd name="T6" fmla="*/ 2147483647 w 1763"/>
                  <a:gd name="T7" fmla="*/ 2147483647 h 2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63"/>
                  <a:gd name="T13" fmla="*/ 0 h 260"/>
                  <a:gd name="T14" fmla="*/ 1763 w 1763"/>
                  <a:gd name="T15" fmla="*/ 260 h 2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63" h="260">
                    <a:moveTo>
                      <a:pt x="0" y="0"/>
                    </a:moveTo>
                    <a:lnTo>
                      <a:pt x="689" y="0"/>
                    </a:lnTo>
                    <a:lnTo>
                      <a:pt x="1054" y="260"/>
                    </a:lnTo>
                    <a:lnTo>
                      <a:pt x="1763" y="26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AD26897-4BD1-5FFB-11D2-3DDB9B17A91B}"/>
                </a:ext>
              </a:extLst>
            </p:cNvPr>
            <p:cNvSpPr txBox="1"/>
            <p:nvPr/>
          </p:nvSpPr>
          <p:spPr>
            <a:xfrm>
              <a:off x="10439791" y="2086317"/>
              <a:ext cx="164188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ea typeface="ＭＳ Ｐゴシック" panose="020B0600070205080204" pitchFamily="34" charset="-128"/>
                  <a:cs typeface="ＭＳ Ｐゴシック" panose="020B0600070205080204" pitchFamily="34" charset="-128"/>
                </a:rPr>
                <a:t>Traditional computers with switching under direct control of CPU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6912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56" y="4283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Input Port Functions</a:t>
            </a:r>
            <a:endParaRPr lang="en-US" sz="4800" dirty="0"/>
          </a:p>
        </p:txBody>
      </p:sp>
      <p:sp>
        <p:nvSpPr>
          <p:cNvPr id="91" name="Rectangle 12">
            <a:extLst>
              <a:ext uri="{FF2B5EF4-FFF2-40B4-BE49-F238E27FC236}">
                <a16:creationId xmlns:a16="http://schemas.microsoft.com/office/drawing/2014/main" id="{C1168DD7-29CD-D740-BA24-DFE4997DE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988" y="1213748"/>
            <a:ext cx="4568825" cy="1836737"/>
          </a:xfrm>
          <a:prstGeom prst="rect">
            <a:avLst/>
          </a:prstGeom>
          <a:solidFill>
            <a:srgbClr val="FFFFFF"/>
          </a:solidFill>
          <a:ln w="19050">
            <a:solidFill>
              <a:srgbClr val="5F5F5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Rectangle 13">
            <a:extLst>
              <a:ext uri="{FF2B5EF4-FFF2-40B4-BE49-F238E27FC236}">
                <a16:creationId xmlns:a16="http://schemas.microsoft.com/office/drawing/2014/main" id="{FA527A42-DFE8-B84B-AE0F-B6C04FC91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1563" y="1728098"/>
            <a:ext cx="1417638" cy="828675"/>
          </a:xfrm>
          <a:prstGeom prst="rect">
            <a:avLst/>
          </a:prstGeom>
          <a:solidFill>
            <a:srgbClr val="FFFFFF"/>
          </a:solidFill>
          <a:ln w="28575">
            <a:solidFill>
              <a:srgbClr val="00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termination</a:t>
            </a:r>
          </a:p>
        </p:txBody>
      </p:sp>
      <p:sp>
        <p:nvSpPr>
          <p:cNvPr id="94" name="Rectangle 15">
            <a:extLst>
              <a:ext uri="{FF2B5EF4-FFF2-40B4-BE49-F238E27FC236}">
                <a16:creationId xmlns:a16="http://schemas.microsoft.com/office/drawing/2014/main" id="{90BCF5CF-E087-0C43-9B12-173780FEE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538" y="1350273"/>
            <a:ext cx="1247775" cy="150495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16">
            <a:extLst>
              <a:ext uri="{FF2B5EF4-FFF2-40B4-BE49-F238E27FC236}">
                <a16:creationId xmlns:a16="http://schemas.microsoft.com/office/drawing/2014/main" id="{273874E2-0AAC-C144-B2A5-D7EF20CCA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9763" y="2139260"/>
            <a:ext cx="4238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6" name="Line 30">
            <a:extLst>
              <a:ext uri="{FF2B5EF4-FFF2-40B4-BE49-F238E27FC236}">
                <a16:creationId xmlns:a16="http://schemas.microsoft.com/office/drawing/2014/main" id="{B6E9D844-FAAD-2A4E-88E0-E214101BB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251" y="2118623"/>
            <a:ext cx="1905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7" name="Line 31">
            <a:extLst>
              <a:ext uri="{FF2B5EF4-FFF2-40B4-BE49-F238E27FC236}">
                <a16:creationId xmlns:a16="http://schemas.microsoft.com/office/drawing/2014/main" id="{8977AE01-852B-534D-A20E-EFF02DB5A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1276" y="2075760"/>
            <a:ext cx="1905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8" name="Line 32">
            <a:extLst>
              <a:ext uri="{FF2B5EF4-FFF2-40B4-BE49-F238E27FC236}">
                <a16:creationId xmlns:a16="http://schemas.microsoft.com/office/drawing/2014/main" id="{13983755-8FAE-1741-9303-C0E4E248C6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1926" y="2117035"/>
            <a:ext cx="7366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35">
            <a:extLst>
              <a:ext uri="{FF2B5EF4-FFF2-40B4-BE49-F238E27FC236}">
                <a16:creationId xmlns:a16="http://schemas.microsoft.com/office/drawing/2014/main" id="{926A7C49-4C7D-7F4F-9A0E-6A7815DA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8288" y="1362973"/>
            <a:ext cx="12509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lookup,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forwarding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queueing</a:t>
            </a:r>
          </a:p>
        </p:txBody>
      </p:sp>
      <p:sp>
        <p:nvSpPr>
          <p:cNvPr id="101" name="Rectangle 4">
            <a:extLst>
              <a:ext uri="{FF2B5EF4-FFF2-40B4-BE49-F238E27FC236}">
                <a16:creationId xmlns:a16="http://schemas.microsoft.com/office/drawing/2014/main" id="{E1140E62-CB4B-6047-AA5C-851F17E9C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5406" y="3228865"/>
            <a:ext cx="5723283" cy="2956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Decentralized switching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Using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header field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values, lookup output port using forwarding table in input port memory </a:t>
            </a: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(“match plus action”)</a:t>
            </a:r>
          </a:p>
          <a:p>
            <a:pPr marR="0" lvl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Destination-based forwarding: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forward based only on destination IP address (traditional)</a:t>
            </a: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R="0" lvl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forward based on any set of header field values</a:t>
            </a:r>
          </a:p>
        </p:txBody>
      </p:sp>
      <p:sp>
        <p:nvSpPr>
          <p:cNvPr id="102" name="Text Box 5">
            <a:extLst>
              <a:ext uri="{FF2B5EF4-FFF2-40B4-BE49-F238E27FC236}">
                <a16:creationId xmlns:a16="http://schemas.microsoft.com/office/drawing/2014/main" id="{CF874965-76FC-A440-815F-5C111BA47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71" y="3140973"/>
            <a:ext cx="284171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 layer: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" sz="2000" dirty="0"/>
              <a:t>Decode the optical /electrical signal into 1s and 0s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4" name="Line 45">
            <a:extLst>
              <a:ext uri="{FF2B5EF4-FFF2-40B4-BE49-F238E27FC236}">
                <a16:creationId xmlns:a16="http://schemas.microsoft.com/office/drawing/2014/main" id="{C28D9927-E6BA-644D-AEC8-2218FA4AE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7413" y="597798"/>
            <a:ext cx="11113" cy="286543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5" name="Rectangle 46">
            <a:extLst>
              <a:ext uri="{FF2B5EF4-FFF2-40B4-BE49-F238E27FC236}">
                <a16:creationId xmlns:a16="http://schemas.microsoft.com/office/drawing/2014/main" id="{60DADEEF-0CD4-B448-8A66-E2060FA8C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488" y="1726510"/>
            <a:ext cx="1055688" cy="828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switch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fabric</a:t>
            </a:r>
          </a:p>
        </p:txBody>
      </p:sp>
      <p:grpSp>
        <p:nvGrpSpPr>
          <p:cNvPr id="106" name="Group 56">
            <a:extLst>
              <a:ext uri="{FF2B5EF4-FFF2-40B4-BE49-F238E27FC236}">
                <a16:creationId xmlns:a16="http://schemas.microsoft.com/office/drawing/2014/main" id="{B68F5DD4-EE62-1647-8EBF-81CFFA9C7F14}"/>
              </a:ext>
            </a:extLst>
          </p:cNvPr>
          <p:cNvGrpSpPr>
            <a:grpSpLocks/>
          </p:cNvGrpSpPr>
          <p:nvPr/>
        </p:nvGrpSpPr>
        <p:grpSpPr bwMode="auto">
          <a:xfrm>
            <a:off x="5563538" y="1969398"/>
            <a:ext cx="993775" cy="468312"/>
            <a:chOff x="310" y="3526"/>
            <a:chExt cx="1040" cy="457"/>
          </a:xfrm>
        </p:grpSpPr>
        <p:sp>
          <p:nvSpPr>
            <p:cNvPr id="107" name="Rectangle 47">
              <a:extLst>
                <a:ext uri="{FF2B5EF4-FFF2-40B4-BE49-F238E27FC236}">
                  <a16:creationId xmlns:a16="http://schemas.microsoft.com/office/drawing/2014/main" id="{091252DD-E9F8-F043-8F13-9AD537E45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" y="3526"/>
              <a:ext cx="1040" cy="457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Line 48">
              <a:extLst>
                <a:ext uri="{FF2B5EF4-FFF2-40B4-BE49-F238E27FC236}">
                  <a16:creationId xmlns:a16="http://schemas.microsoft.com/office/drawing/2014/main" id="{8B8D0A07-01A4-B34B-A4DB-264DA4558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" y="3535"/>
              <a:ext cx="2" cy="437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Line 49">
              <a:extLst>
                <a:ext uri="{FF2B5EF4-FFF2-40B4-BE49-F238E27FC236}">
                  <a16:creationId xmlns:a16="http://schemas.microsoft.com/office/drawing/2014/main" id="{CCD0BAFD-2F01-BB4A-80D7-9DD3A6312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" y="3538"/>
              <a:ext cx="2" cy="435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Line 50">
              <a:extLst>
                <a:ext uri="{FF2B5EF4-FFF2-40B4-BE49-F238E27FC236}">
                  <a16:creationId xmlns:a16="http://schemas.microsoft.com/office/drawing/2014/main" id="{7F30AE35-07B8-C647-93E6-FBCF5A109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534"/>
              <a:ext cx="2" cy="437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Line 51">
              <a:extLst>
                <a:ext uri="{FF2B5EF4-FFF2-40B4-BE49-F238E27FC236}">
                  <a16:creationId xmlns:a16="http://schemas.microsoft.com/office/drawing/2014/main" id="{F3DA64D2-455B-5648-BA10-FC52CD131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" y="3535"/>
              <a:ext cx="2" cy="437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Line 52">
              <a:extLst>
                <a:ext uri="{FF2B5EF4-FFF2-40B4-BE49-F238E27FC236}">
                  <a16:creationId xmlns:a16="http://schemas.microsoft.com/office/drawing/2014/main" id="{106B00DE-F07D-CE47-8C50-C1CD1CD0A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" y="3534"/>
              <a:ext cx="2" cy="437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3" name="Line 53">
              <a:extLst>
                <a:ext uri="{FF2B5EF4-FFF2-40B4-BE49-F238E27FC236}">
                  <a16:creationId xmlns:a16="http://schemas.microsoft.com/office/drawing/2014/main" id="{0DED29BC-7052-8643-8C69-2F8864DFA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3534"/>
              <a:ext cx="2" cy="437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4" name="Line 54">
              <a:extLst>
                <a:ext uri="{FF2B5EF4-FFF2-40B4-BE49-F238E27FC236}">
                  <a16:creationId xmlns:a16="http://schemas.microsoft.com/office/drawing/2014/main" id="{86C73DAC-8DDF-A54A-942C-8BC351167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3535"/>
              <a:ext cx="2" cy="437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Line 55">
              <a:extLst>
                <a:ext uri="{FF2B5EF4-FFF2-40B4-BE49-F238E27FC236}">
                  <a16:creationId xmlns:a16="http://schemas.microsoft.com/office/drawing/2014/main" id="{18BE7814-C3C9-1A4C-AD5B-3274395DD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9" y="3538"/>
              <a:ext cx="2" cy="435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16" name="Line 58">
            <a:extLst>
              <a:ext uri="{FF2B5EF4-FFF2-40B4-BE49-F238E27FC236}">
                <a16:creationId xmlns:a16="http://schemas.microsoft.com/office/drawing/2014/main" id="{4B5F466A-2158-BD4D-B0D3-450398480C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4301" y="2650435"/>
            <a:ext cx="446087" cy="4905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Line 60">
            <a:extLst>
              <a:ext uri="{FF2B5EF4-FFF2-40B4-BE49-F238E27FC236}">
                <a16:creationId xmlns:a16="http://schemas.microsoft.com/office/drawing/2014/main" id="{FFF5D7A3-77C9-D34E-AC43-6A097D73FE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68351" y="2977459"/>
            <a:ext cx="544510" cy="830056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8F2E2A-C657-CE42-826A-8464B8BEB733}"/>
              </a:ext>
            </a:extLst>
          </p:cNvPr>
          <p:cNvGrpSpPr/>
          <p:nvPr/>
        </p:nvGrpSpPr>
        <p:grpSpPr>
          <a:xfrm>
            <a:off x="3708143" y="1359728"/>
            <a:ext cx="3256765" cy="5060459"/>
            <a:chOff x="3677663" y="1664528"/>
            <a:chExt cx="3256765" cy="5060459"/>
          </a:xfrm>
        </p:grpSpPr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2EA30939-880D-1A4E-ADA4-26E2CC521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937" y="1947588"/>
              <a:ext cx="105568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link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layer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(receive)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13133BD-446D-E742-B2AD-72DE39321A8A}"/>
                </a:ext>
              </a:extLst>
            </p:cNvPr>
            <p:cNvGrpSpPr/>
            <p:nvPr/>
          </p:nvGrpSpPr>
          <p:grpSpPr>
            <a:xfrm>
              <a:off x="3677663" y="1664528"/>
              <a:ext cx="3256765" cy="5060459"/>
              <a:chOff x="3677663" y="1664528"/>
              <a:chExt cx="3256765" cy="5060459"/>
            </a:xfrm>
          </p:grpSpPr>
          <p:sp>
            <p:nvSpPr>
              <p:cNvPr id="35" name="Rectangle 14">
                <a:extLst>
                  <a:ext uri="{FF2B5EF4-FFF2-40B4-BE49-F238E27FC236}">
                    <a16:creationId xmlns:a16="http://schemas.microsoft.com/office/drawing/2014/main" id="{79A46D4C-DBCD-A54B-9BA8-1AEED3D13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5096" y="1664528"/>
                <a:ext cx="1152525" cy="1409700"/>
              </a:xfrm>
              <a:prstGeom prst="rect">
                <a:avLst/>
              </a:prstGeom>
              <a:noFill/>
              <a:ln w="28575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Line 30">
                <a:extLst>
                  <a:ext uri="{FF2B5EF4-FFF2-40B4-BE49-F238E27FC236}">
                    <a16:creationId xmlns:a16="http://schemas.microsoft.com/office/drawing/2014/main" id="{42D89CE3-6D54-8D4C-A4FF-D8068693F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771" y="2423423"/>
                <a:ext cx="190500" cy="158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Text Box 6">
                <a:extLst>
                  <a:ext uri="{FF2B5EF4-FFF2-40B4-BE49-F238E27FC236}">
                    <a16:creationId xmlns:a16="http://schemas.microsoft.com/office/drawing/2014/main" id="{29D9E7A0-6D99-F942-B6C6-24EF09651B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7663" y="4785995"/>
                <a:ext cx="3256765" cy="193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 layer:</a:t>
                </a:r>
              </a:p>
              <a:p>
                <a:pPr marL="342900" marR="0" lvl="0" indent="-34290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E.g., Ethernet</a:t>
                </a: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" dirty="0"/>
                  <a:t>Perform link-layer operations</a:t>
                </a:r>
                <a:r>
                  <a:rPr lang="en-US" kern="0" dirty="0">
                    <a:solidFill>
                      <a:srgbClr val="000000"/>
                    </a:solidFill>
                    <a:latin typeface="Calibri" panose="020F0502020204030204"/>
                  </a:rPr>
                  <a:t> </a:t>
                </a:r>
                <a:r>
                  <a: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(next week)</a:t>
                </a: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Line 59">
                <a:extLst>
                  <a:ext uri="{FF2B5EF4-FFF2-40B4-BE49-F238E27FC236}">
                    <a16:creationId xmlns:a16="http://schemas.microsoft.com/office/drawing/2014/main" id="{67FB4697-6647-C242-8EBD-81171A391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56759" y="3220208"/>
                <a:ext cx="4745" cy="1487556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720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28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Output Port Queuing</a:t>
            </a:r>
            <a:endParaRPr lang="en-US" dirty="0"/>
          </a:p>
        </p:txBody>
      </p:sp>
      <p:sp>
        <p:nvSpPr>
          <p:cNvPr id="142" name="Rectangle 3">
            <a:extLst>
              <a:ext uri="{FF2B5EF4-FFF2-40B4-BE49-F238E27FC236}">
                <a16:creationId xmlns:a16="http://schemas.microsoft.com/office/drawing/2014/main" id="{913FC5A4-1E19-7B47-9F20-2A2FD0E7A215}"/>
              </a:ext>
            </a:extLst>
          </p:cNvPr>
          <p:cNvSpPr txBox="1">
            <a:spLocks noChangeArrowheads="1"/>
          </p:cNvSpPr>
          <p:nvPr/>
        </p:nvSpPr>
        <p:spPr>
          <a:xfrm>
            <a:off x="9158" y="2933825"/>
            <a:ext cx="6866317" cy="3325647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Buffering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required when datagrams arrive from fabric faster than link transmission rate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 policy: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 datagrams if no free buffers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600" i="1" dirty="0">
                <a:solidFill>
                  <a:srgbClr val="CC0000"/>
                </a:solidFill>
                <a:latin typeface="Calibri" panose="020F0502020204030204"/>
              </a:rPr>
              <a:t>Scheduling discipline</a:t>
            </a:r>
            <a:r>
              <a:rPr lang="en-US" sz="2600" dirty="0">
                <a:solidFill>
                  <a:prstClr val="black"/>
                </a:solidFill>
                <a:latin typeface="Calibri" panose="020F0502020204030204"/>
              </a:rPr>
              <a:t> chooses among queued datagrams for transmission</a:t>
            </a:r>
          </a:p>
        </p:txBody>
      </p:sp>
      <p:sp>
        <p:nvSpPr>
          <p:cNvPr id="191" name="Rectangle 3">
            <a:extLst>
              <a:ext uri="{FF2B5EF4-FFF2-40B4-BE49-F238E27FC236}">
                <a16:creationId xmlns:a16="http://schemas.microsoft.com/office/drawing/2014/main" id="{655E40F4-C569-5647-83A5-4E4AC0D12CE4}"/>
              </a:ext>
            </a:extLst>
          </p:cNvPr>
          <p:cNvSpPr txBox="1">
            <a:spLocks noChangeArrowheads="1"/>
          </p:cNvSpPr>
          <p:nvPr/>
        </p:nvSpPr>
        <p:spPr>
          <a:xfrm>
            <a:off x="938650" y="5182135"/>
            <a:ext cx="5131875" cy="128900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ACDE6A-9FE9-BD4D-9835-19E2A389BF2D}"/>
              </a:ext>
            </a:extLst>
          </p:cNvPr>
          <p:cNvGrpSpPr/>
          <p:nvPr/>
        </p:nvGrpSpPr>
        <p:grpSpPr>
          <a:xfrm>
            <a:off x="5720646" y="2880610"/>
            <a:ext cx="6260260" cy="1051053"/>
            <a:chOff x="5578283" y="3768360"/>
            <a:chExt cx="6260260" cy="1051053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0FDEEE0-B9AF-9D4C-ACC2-98B5C1037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5539" y="3768360"/>
              <a:ext cx="4453004" cy="86793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can be lost due to congestion, 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lack of buffers</a:t>
              </a: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2B8D69F4-7226-5D4D-A695-DB1CC7F30950}"/>
                </a:ext>
              </a:extLst>
            </p:cNvPr>
            <p:cNvSpPr/>
            <p:nvPr/>
          </p:nvSpPr>
          <p:spPr>
            <a:xfrm rot="19398156">
              <a:off x="5578283" y="4334781"/>
              <a:ext cx="1932328" cy="484632"/>
            </a:xfrm>
            <a:prstGeom prst="rightArrow">
              <a:avLst/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88476A-12F9-364B-B461-B0624DF38E97}"/>
              </a:ext>
            </a:extLst>
          </p:cNvPr>
          <p:cNvGrpSpPr/>
          <p:nvPr/>
        </p:nvGrpSpPr>
        <p:grpSpPr>
          <a:xfrm>
            <a:off x="6475251" y="4548440"/>
            <a:ext cx="5690482" cy="1922514"/>
            <a:chOff x="6243711" y="4868190"/>
            <a:chExt cx="5327395" cy="192251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EC532F3-AD2F-834B-A210-0023284DA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197" y="4868190"/>
              <a:ext cx="4341909" cy="1922514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2200" dirty="0">
                  <a:solidFill>
                    <a:srgbClr val="000000"/>
                  </a:solidFill>
                  <a:latin typeface="+mn-lt"/>
                </a:rPr>
                <a:t>Scheduling</a:t>
              </a:r>
              <a:r>
                <a:rPr kumimoji="0" lang="en-US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+mn-cs"/>
                </a:rPr>
                <a:t> policies: performance</a:t>
              </a:r>
              <a:r>
                <a:rPr lang="en-US" altLang="en-US" sz="2200" dirty="0">
                  <a:solidFill>
                    <a:srgbClr val="000000"/>
                  </a:solidFill>
                  <a:latin typeface="+mn-lt"/>
                </a:rPr>
                <a:t> vs.</a:t>
              </a:r>
              <a:r>
                <a:rPr kumimoji="0" lang="en-US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panose="020B0600070205080204" pitchFamily="34" charset="-128"/>
                  <a:cs typeface="+mn-cs"/>
                </a:rPr>
                <a:t> network neutrality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en-US" sz="2200" dirty="0">
                  <a:latin typeface="+mn-lt"/>
                  <a:cs typeface="ＭＳ Ｐゴシック" panose="020B0600070205080204" pitchFamily="34" charset="-128"/>
                </a:rPr>
                <a:t>First come, first served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en-US" sz="2200" dirty="0">
                  <a:latin typeface="+mn-lt"/>
                  <a:cs typeface="ＭＳ Ｐゴシック" panose="020B0600070205080204" pitchFamily="34" charset="-128"/>
                </a:rPr>
                <a:t>Priority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en-US" sz="2200" dirty="0">
                  <a:latin typeface="+mn-lt"/>
                  <a:cs typeface="ＭＳ Ｐゴシック" panose="020B0600070205080204" pitchFamily="34" charset="-128"/>
                </a:rPr>
                <a:t>Round Robin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en-US" sz="2200" dirty="0">
                  <a:latin typeface="+mn-lt"/>
                  <a:cs typeface="ＭＳ Ｐゴシック" panose="020B0600070205080204" pitchFamily="34" charset="-128"/>
                </a:rPr>
                <a:t>Weighted fair queueing, etc.</a:t>
              </a:r>
            </a:p>
          </p:txBody>
        </p:sp>
        <p:sp>
          <p:nvSpPr>
            <p:cNvPr id="192" name="Right Arrow 191">
              <a:extLst>
                <a:ext uri="{FF2B5EF4-FFF2-40B4-BE49-F238E27FC236}">
                  <a16:creationId xmlns:a16="http://schemas.microsoft.com/office/drawing/2014/main" id="{0BB35D2A-3275-9A47-BFA6-3685C1F9CA7F}"/>
                </a:ext>
              </a:extLst>
            </p:cNvPr>
            <p:cNvSpPr/>
            <p:nvPr/>
          </p:nvSpPr>
          <p:spPr>
            <a:xfrm>
              <a:off x="6243711" y="5512190"/>
              <a:ext cx="978408" cy="484632"/>
            </a:xfrm>
            <a:prstGeom prst="rightArrow">
              <a:avLst/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D5CAC8-4273-BF4C-A720-130BA9B77F38}"/>
              </a:ext>
            </a:extLst>
          </p:cNvPr>
          <p:cNvGrpSpPr/>
          <p:nvPr/>
        </p:nvGrpSpPr>
        <p:grpSpPr>
          <a:xfrm>
            <a:off x="2539157" y="993609"/>
            <a:ext cx="7113685" cy="1695796"/>
            <a:chOff x="763318" y="1529542"/>
            <a:chExt cx="7113685" cy="1695796"/>
          </a:xfrm>
        </p:grpSpPr>
        <p:sp>
          <p:nvSpPr>
            <p:cNvPr id="168" name="Rectangle 5">
              <a:extLst>
                <a:ext uri="{FF2B5EF4-FFF2-40B4-BE49-F238E27FC236}">
                  <a16:creationId xmlns:a16="http://schemas.microsoft.com/office/drawing/2014/main" id="{9B163D0F-CA1A-3E4C-BF5C-777B168A4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123" y="1529542"/>
              <a:ext cx="4568825" cy="167917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D9ABA473-56A4-9140-B810-39DA1BF9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711" y="1946056"/>
              <a:ext cx="1417637" cy="8286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termination</a:t>
              </a:r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A93445FD-0A38-824D-AD5C-D69A392C9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023" y="1673006"/>
              <a:ext cx="1152525" cy="14097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Line 10">
              <a:extLst>
                <a:ext uri="{FF2B5EF4-FFF2-40B4-BE49-F238E27FC236}">
                  <a16:creationId xmlns:a16="http://schemas.microsoft.com/office/drawing/2014/main" id="{F251D37A-1EA2-C048-A7C5-11851E554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0223" y="2392143"/>
              <a:ext cx="190500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11">
              <a:extLst>
                <a:ext uri="{FF2B5EF4-FFF2-40B4-BE49-F238E27FC236}">
                  <a16:creationId xmlns:a16="http://schemas.microsoft.com/office/drawing/2014/main" id="{E70C16AE-A78C-2644-ACA1-5A2B601BF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3723" y="2349281"/>
              <a:ext cx="190500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Rectangle 13">
              <a:extLst>
                <a:ext uri="{FF2B5EF4-FFF2-40B4-BE49-F238E27FC236}">
                  <a16:creationId xmlns:a16="http://schemas.microsoft.com/office/drawing/2014/main" id="{A66255F7-4CD5-DF46-8B83-7D17A0565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61" y="1982568"/>
              <a:ext cx="1055687" cy="828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layer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(send)</a:t>
              </a:r>
            </a:p>
          </p:txBody>
        </p:sp>
        <p:sp>
          <p:nvSpPr>
            <p:cNvPr id="175" name="Rectangle 16">
              <a:extLst>
                <a:ext uri="{FF2B5EF4-FFF2-40B4-BE49-F238E27FC236}">
                  <a16:creationId xmlns:a16="http://schemas.microsoft.com/office/drawing/2014/main" id="{DDB93494-97A6-8A4A-91E9-BC29A5AE3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18" y="1925822"/>
              <a:ext cx="1055688" cy="828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rate: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NR)</a:t>
              </a:r>
            </a:p>
          </p:txBody>
        </p:sp>
        <p:grpSp>
          <p:nvGrpSpPr>
            <p:cNvPr id="176" name="Group 28">
              <a:extLst>
                <a:ext uri="{FF2B5EF4-FFF2-40B4-BE49-F238E27FC236}">
                  <a16:creationId xmlns:a16="http://schemas.microsoft.com/office/drawing/2014/main" id="{D9BF0A2B-C5F9-A740-8460-7E12116245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7523" y="1623793"/>
              <a:ext cx="1247775" cy="1504950"/>
              <a:chOff x="3180" y="909"/>
              <a:chExt cx="786" cy="948"/>
            </a:xfrm>
          </p:grpSpPr>
          <p:sp>
            <p:nvSpPr>
              <p:cNvPr id="177" name="Rectangle 8">
                <a:extLst>
                  <a:ext uri="{FF2B5EF4-FFF2-40B4-BE49-F238E27FC236}">
                    <a16:creationId xmlns:a16="http://schemas.microsoft.com/office/drawing/2014/main" id="{DD4D9539-6E74-FE4C-939B-205C9E71D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909"/>
                <a:ext cx="786" cy="94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Text Box 14">
                <a:extLst>
                  <a:ext uri="{FF2B5EF4-FFF2-40B4-BE49-F238E27FC236}">
                    <a16:creationId xmlns:a16="http://schemas.microsoft.com/office/drawing/2014/main" id="{AE54DBDF-A7F9-704B-B392-E2740194A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2" y="917"/>
                <a:ext cx="724" cy="9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datagram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buffer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queueing</a:t>
                </a:r>
              </a:p>
            </p:txBody>
          </p:sp>
          <p:grpSp>
            <p:nvGrpSpPr>
              <p:cNvPr id="179" name="Group 17">
                <a:extLst>
                  <a:ext uri="{FF2B5EF4-FFF2-40B4-BE49-F238E27FC236}">
                    <a16:creationId xmlns:a16="http://schemas.microsoft.com/office/drawing/2014/main" id="{06F8403D-BA10-5144-A155-19FE3754BE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0" y="1299"/>
                <a:ext cx="626" cy="295"/>
                <a:chOff x="310" y="3526"/>
                <a:chExt cx="1040" cy="457"/>
              </a:xfrm>
            </p:grpSpPr>
            <p:sp>
              <p:nvSpPr>
                <p:cNvPr id="180" name="Rectangle 18">
                  <a:extLst>
                    <a:ext uri="{FF2B5EF4-FFF2-40B4-BE49-F238E27FC236}">
                      <a16:creationId xmlns:a16="http://schemas.microsoft.com/office/drawing/2014/main" id="{9A795CC1-826F-4C44-9993-319F64F49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" y="3526"/>
                  <a:ext cx="1040" cy="457"/>
                </a:xfrm>
                <a:prstGeom prst="rect">
                  <a:avLst/>
                </a:prstGeom>
                <a:solidFill>
                  <a:srgbClr val="FF0000"/>
                </a:solidFill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1" name="Line 19">
                  <a:extLst>
                    <a:ext uri="{FF2B5EF4-FFF2-40B4-BE49-F238E27FC236}">
                      <a16:creationId xmlns:a16="http://schemas.microsoft.com/office/drawing/2014/main" id="{4731A973-BD75-D041-B879-015ABFDDD7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2" name="Line 20">
                  <a:extLst>
                    <a:ext uri="{FF2B5EF4-FFF2-40B4-BE49-F238E27FC236}">
                      <a16:creationId xmlns:a16="http://schemas.microsoft.com/office/drawing/2014/main" id="{E25B9F25-22CB-0447-9AC4-9FC92218F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8" y="3538"/>
                  <a:ext cx="2" cy="435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3" name="Line 21">
                  <a:extLst>
                    <a:ext uri="{FF2B5EF4-FFF2-40B4-BE49-F238E27FC236}">
                      <a16:creationId xmlns:a16="http://schemas.microsoft.com/office/drawing/2014/main" id="{91851468-4893-D34C-9AE7-1771C894A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1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4" name="Line 22">
                  <a:extLst>
                    <a:ext uri="{FF2B5EF4-FFF2-40B4-BE49-F238E27FC236}">
                      <a16:creationId xmlns:a16="http://schemas.microsoft.com/office/drawing/2014/main" id="{24979CFA-E6E8-6443-8031-1C8E87B15C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2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5" name="Line 23">
                  <a:extLst>
                    <a:ext uri="{FF2B5EF4-FFF2-40B4-BE49-F238E27FC236}">
                      <a16:creationId xmlns:a16="http://schemas.microsoft.com/office/drawing/2014/main" id="{DD3375EE-F46C-7845-8A16-1C39FA3943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5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6" name="Line 24">
                  <a:extLst>
                    <a:ext uri="{FF2B5EF4-FFF2-40B4-BE49-F238E27FC236}">
                      <a16:creationId xmlns:a16="http://schemas.microsoft.com/office/drawing/2014/main" id="{2CF7F543-916F-574B-9CF5-E75F82B8E6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6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7" name="Line 25">
                  <a:extLst>
                    <a:ext uri="{FF2B5EF4-FFF2-40B4-BE49-F238E27FC236}">
                      <a16:creationId xmlns:a16="http://schemas.microsoft.com/office/drawing/2014/main" id="{5571B680-4F31-6A43-B505-CB421081C0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21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8" name="Line 26">
                  <a:extLst>
                    <a:ext uri="{FF2B5EF4-FFF2-40B4-BE49-F238E27FC236}">
                      <a16:creationId xmlns:a16="http://schemas.microsoft.com/office/drawing/2014/main" id="{87E5063B-F80B-F542-9BC3-D9BE9AAED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9" y="3538"/>
                  <a:ext cx="2" cy="435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89" name="Line 27">
              <a:extLst>
                <a:ext uri="{FF2B5EF4-FFF2-40B4-BE49-F238E27FC236}">
                  <a16:creationId xmlns:a16="http://schemas.microsoft.com/office/drawing/2014/main" id="{AC914BE7-EF9D-D444-B3B1-4333D5182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016" y="1579418"/>
              <a:ext cx="0" cy="16459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9">
              <a:extLst>
                <a:ext uri="{FF2B5EF4-FFF2-40B4-BE49-F238E27FC236}">
                  <a16:creationId xmlns:a16="http://schemas.microsoft.com/office/drawing/2014/main" id="{CBD25FB7-BD31-354A-B607-0A105E81B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598" y="2435006"/>
              <a:ext cx="92551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2077A03-5191-4C4E-9229-0F4C5ED20B83}"/>
                </a:ext>
              </a:extLst>
            </p:cNvPr>
            <p:cNvCxnSpPr/>
            <p:nvPr/>
          </p:nvCxnSpPr>
          <p:spPr>
            <a:xfrm>
              <a:off x="6846225" y="2394066"/>
              <a:ext cx="1030778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49EDB8-5525-2E4A-8DBC-6D03E6692746}"/>
                </a:ext>
              </a:extLst>
            </p:cNvPr>
            <p:cNvSpPr txBox="1"/>
            <p:nvPr/>
          </p:nvSpPr>
          <p:spPr>
            <a:xfrm flipH="1">
              <a:off x="7215448" y="2377441"/>
              <a:ext cx="315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2737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DA1EDD6-8C71-1C61-ECA0-F212899FAF37}"/>
              </a:ext>
            </a:extLst>
          </p:cNvPr>
          <p:cNvSpPr txBox="1">
            <a:spLocks/>
          </p:cNvSpPr>
          <p:nvPr/>
        </p:nvSpPr>
        <p:spPr>
          <a:xfrm>
            <a:off x="838200" y="115284"/>
            <a:ext cx="10515600" cy="799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ea typeface="ＭＳ Ｐゴシック" panose="020B0600070205080204" pitchFamily="34" charset="-128"/>
              </a:rPr>
              <a:t>Forwarding Pipeline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A78D0B3-01A5-7645-E03A-D42EEFF1704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09165"/>
            <a:ext cx="7789237" cy="4265161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lvl="0" indent="0">
              <a:buClrTx/>
              <a:buSzPct val="100000"/>
              <a:buNone/>
              <a:defRPr/>
            </a:pPr>
            <a:r>
              <a:rPr lang="en" sz="2400" dirty="0"/>
              <a:t>When a packet arrives, what does the input linecard need to do?</a:t>
            </a:r>
          </a:p>
          <a:p>
            <a:pPr marL="587375" lvl="0" indent="-457200">
              <a:buClrTx/>
              <a:buSzPct val="100000"/>
              <a:buFont typeface="+mj-lt"/>
              <a:buAutoNum type="arabicPeriod"/>
              <a:defRPr/>
            </a:pPr>
            <a:r>
              <a:rPr lang="en" sz="2400" dirty="0"/>
              <a:t>Input port: Receive signals and assemble data packets </a:t>
            </a:r>
          </a:p>
          <a:p>
            <a:pPr marL="587375" lvl="0" indent="-457200">
              <a:buClrTx/>
              <a:buSzPct val="100000"/>
              <a:buFont typeface="+mj-lt"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</a:rPr>
              <a:t>Process the packet:</a:t>
            </a:r>
          </a:p>
          <a:p>
            <a:pPr marL="930275" lvl="1" indent="-457200">
              <a:buClrTx/>
              <a:buSzPct val="100000"/>
              <a:buFont typeface="+mj-lt"/>
              <a:buAutoNum type="arabicPeriod"/>
              <a:defRPr/>
            </a:pPr>
            <a:r>
              <a:rPr lang="en-US" sz="2000" dirty="0">
                <a:solidFill>
                  <a:prstClr val="black"/>
                </a:solidFill>
              </a:rPr>
              <a:t>Parse the packet to understand its headers, e.g. IPv4 or IPv6</a:t>
            </a:r>
          </a:p>
          <a:p>
            <a:pPr marL="930275" lvl="1" indent="-457200">
              <a:buClrTx/>
              <a:buSzPct val="100000"/>
              <a:buFont typeface="+mj-lt"/>
              <a:buAutoNum type="arabicPeriod"/>
              <a:defRPr/>
            </a:pPr>
            <a:r>
              <a:rPr lang="en-US" sz="2000" dirty="0">
                <a:solidFill>
                  <a:prstClr val="black"/>
                </a:solidFill>
              </a:rPr>
              <a:t>Look up the next hop in the </a:t>
            </a:r>
            <a:r>
              <a:rPr lang="en-US" sz="2000" b="1" i="1" dirty="0">
                <a:solidFill>
                  <a:srgbClr val="C00000"/>
                </a:solidFill>
              </a:rPr>
              <a:t>forwarding table</a:t>
            </a:r>
            <a:endParaRPr lang="en-US" sz="2000" dirty="0">
              <a:solidFill>
                <a:prstClr val="black"/>
              </a:solidFill>
            </a:endParaRPr>
          </a:p>
          <a:p>
            <a:pPr marL="930275" lvl="1" indent="-457200">
              <a:buClrTx/>
              <a:buSzPct val="100000"/>
              <a:buFont typeface="+mj-lt"/>
              <a:buAutoNum type="arabicPeriod"/>
              <a:defRPr/>
            </a:pPr>
            <a:r>
              <a:rPr lang="en-US" sz="2000" b="1" i="1" dirty="0">
                <a:solidFill>
                  <a:prstClr val="black"/>
                </a:solidFill>
              </a:rPr>
              <a:t>Update the packet</a:t>
            </a:r>
            <a:r>
              <a:rPr lang="en-US" sz="2000" dirty="0">
                <a:solidFill>
                  <a:prstClr val="black"/>
                </a:solidFill>
              </a:rPr>
              <a:t>:</a:t>
            </a:r>
            <a:r>
              <a:rPr lang="zh-CN" alt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Decrement TTL, update checksum, fragment packet if it's too big, etc.</a:t>
            </a:r>
          </a:p>
          <a:p>
            <a:pPr marL="587375" indent="-457200">
              <a:buClrTx/>
              <a:buSzPct val="100000"/>
              <a:buFont typeface="+mj-lt"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</a:rPr>
              <a:t>Send the packet onwards:</a:t>
            </a:r>
          </a:p>
          <a:p>
            <a:pPr marL="930275" lvl="1" indent="-457200">
              <a:buClrTx/>
              <a:buSzPct val="100000"/>
              <a:buFont typeface="+mj-lt"/>
              <a:buAutoNum type="arabicPeriod"/>
              <a:defRPr/>
            </a:pPr>
            <a:r>
              <a:rPr lang="en-US" sz="2000" dirty="0">
                <a:solidFill>
                  <a:prstClr val="black"/>
                </a:solidFill>
              </a:rPr>
              <a:t>Fabric interconnect chip sends packets to other linecards via inter-chassis links</a:t>
            </a:r>
          </a:p>
          <a:p>
            <a:pPr marL="587375" lvl="0" indent="-457200">
              <a:buClrTx/>
              <a:buSzPct val="100000"/>
              <a:buFont typeface="+mj-lt"/>
              <a:buAutoNum type="arabicPeriod"/>
              <a:defRPr/>
            </a:pPr>
            <a:endParaRPr lang="en-US" sz="2400" dirty="0">
              <a:solidFill>
                <a:prstClr val="black"/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BE687D9-FEA5-32B2-A8FC-B0AA4553F16C}"/>
              </a:ext>
            </a:extLst>
          </p:cNvPr>
          <p:cNvGrpSpPr/>
          <p:nvPr/>
        </p:nvGrpSpPr>
        <p:grpSpPr>
          <a:xfrm>
            <a:off x="7673825" y="576772"/>
            <a:ext cx="4416510" cy="4403371"/>
            <a:chOff x="4435403" y="1560455"/>
            <a:chExt cx="6252367" cy="5144156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E84C3B8-7DC6-4F4C-581B-ED3CDD8EEE45}"/>
                </a:ext>
              </a:extLst>
            </p:cNvPr>
            <p:cNvGrpSpPr/>
            <p:nvPr/>
          </p:nvGrpSpPr>
          <p:grpSpPr>
            <a:xfrm>
              <a:off x="4435403" y="1560455"/>
              <a:ext cx="6252367" cy="4161865"/>
              <a:chOff x="769852" y="2122890"/>
              <a:chExt cx="3826800" cy="3134150"/>
            </a:xfrm>
          </p:grpSpPr>
          <p:sp>
            <p:nvSpPr>
              <p:cNvPr id="54" name="Google Shape;382;p36">
                <a:extLst>
                  <a:ext uri="{FF2B5EF4-FFF2-40B4-BE49-F238E27FC236}">
                    <a16:creationId xmlns:a16="http://schemas.microsoft.com/office/drawing/2014/main" id="{5AA29626-EFF6-B4A3-205E-29B3C50B3E6C}"/>
                  </a:ext>
                </a:extLst>
              </p:cNvPr>
              <p:cNvSpPr/>
              <p:nvPr/>
            </p:nvSpPr>
            <p:spPr>
              <a:xfrm>
                <a:off x="769852" y="2122890"/>
                <a:ext cx="3826800" cy="22899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Linecard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5" name="Google Shape;383;p36">
                <a:extLst>
                  <a:ext uri="{FF2B5EF4-FFF2-40B4-BE49-F238E27FC236}">
                    <a16:creationId xmlns:a16="http://schemas.microsoft.com/office/drawing/2014/main" id="{5978DAC4-BF24-5EDA-9032-121308087AB5}"/>
                  </a:ext>
                </a:extLst>
              </p:cNvPr>
              <p:cNvSpPr/>
              <p:nvPr/>
            </p:nvSpPr>
            <p:spPr>
              <a:xfrm>
                <a:off x="1082427" y="2484640"/>
                <a:ext cx="244500" cy="2445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6" name="Google Shape;384;p36">
                <a:extLst>
                  <a:ext uri="{FF2B5EF4-FFF2-40B4-BE49-F238E27FC236}">
                    <a16:creationId xmlns:a16="http://schemas.microsoft.com/office/drawing/2014/main" id="{0B72427C-E903-654E-DA82-6FC003A5741F}"/>
                  </a:ext>
                </a:extLst>
              </p:cNvPr>
              <p:cNvSpPr/>
              <p:nvPr/>
            </p:nvSpPr>
            <p:spPr>
              <a:xfrm>
                <a:off x="1539627" y="2484640"/>
                <a:ext cx="244500" cy="2445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7" name="Google Shape;385;p36">
                <a:extLst>
                  <a:ext uri="{FF2B5EF4-FFF2-40B4-BE49-F238E27FC236}">
                    <a16:creationId xmlns:a16="http://schemas.microsoft.com/office/drawing/2014/main" id="{33FA1474-2B99-1BCC-72E7-DEA2B040098E}"/>
                  </a:ext>
                </a:extLst>
              </p:cNvPr>
              <p:cNvSpPr/>
              <p:nvPr/>
            </p:nvSpPr>
            <p:spPr>
              <a:xfrm>
                <a:off x="1996827" y="2484640"/>
                <a:ext cx="244500" cy="2445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8" name="Google Shape;386;p36">
                <a:extLst>
                  <a:ext uri="{FF2B5EF4-FFF2-40B4-BE49-F238E27FC236}">
                    <a16:creationId xmlns:a16="http://schemas.microsoft.com/office/drawing/2014/main" id="{D993F205-AC0A-0B12-9A01-E3AE6E205647}"/>
                  </a:ext>
                </a:extLst>
              </p:cNvPr>
              <p:cNvSpPr/>
              <p:nvPr/>
            </p:nvSpPr>
            <p:spPr>
              <a:xfrm>
                <a:off x="2454027" y="2484640"/>
                <a:ext cx="244500" cy="2445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9" name="Google Shape;387;p36">
                <a:extLst>
                  <a:ext uri="{FF2B5EF4-FFF2-40B4-BE49-F238E27FC236}">
                    <a16:creationId xmlns:a16="http://schemas.microsoft.com/office/drawing/2014/main" id="{90ED395C-E5C2-063C-2366-EB05FD85ADF3}"/>
                  </a:ext>
                </a:extLst>
              </p:cNvPr>
              <p:cNvSpPr/>
              <p:nvPr/>
            </p:nvSpPr>
            <p:spPr>
              <a:xfrm>
                <a:off x="2911227" y="2484640"/>
                <a:ext cx="244500" cy="2445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0" name="Google Shape;388;p36">
                <a:extLst>
                  <a:ext uri="{FF2B5EF4-FFF2-40B4-BE49-F238E27FC236}">
                    <a16:creationId xmlns:a16="http://schemas.microsoft.com/office/drawing/2014/main" id="{CC16D654-BF27-08D9-88EE-FC056548D1F6}"/>
                  </a:ext>
                </a:extLst>
              </p:cNvPr>
              <p:cNvSpPr/>
              <p:nvPr/>
            </p:nvSpPr>
            <p:spPr>
              <a:xfrm>
                <a:off x="3368427" y="2484640"/>
                <a:ext cx="244500" cy="2445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1" name="Google Shape;389;p36">
                <a:extLst>
                  <a:ext uri="{FF2B5EF4-FFF2-40B4-BE49-F238E27FC236}">
                    <a16:creationId xmlns:a16="http://schemas.microsoft.com/office/drawing/2014/main" id="{3BBB9187-6017-A606-15A3-D249809FC4B0}"/>
                  </a:ext>
                </a:extLst>
              </p:cNvPr>
              <p:cNvSpPr/>
              <p:nvPr/>
            </p:nvSpPr>
            <p:spPr>
              <a:xfrm>
                <a:off x="3749427" y="2242840"/>
                <a:ext cx="722700" cy="4863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CPU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62" name="Google Shape;390;p36">
                <a:extLst>
                  <a:ext uri="{FF2B5EF4-FFF2-40B4-BE49-F238E27FC236}">
                    <a16:creationId xmlns:a16="http://schemas.microsoft.com/office/drawing/2014/main" id="{BF90D447-9A3F-0611-97F9-61319C54EE49}"/>
                  </a:ext>
                </a:extLst>
              </p:cNvPr>
              <p:cNvCxnSpPr>
                <a:stCxn id="55" idx="2"/>
                <a:endCxn id="65" idx="0"/>
              </p:cNvCxnSpPr>
              <p:nvPr/>
            </p:nvCxnSpPr>
            <p:spPr>
              <a:xfrm>
                <a:off x="1204677" y="2729140"/>
                <a:ext cx="457200" cy="20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392;p36">
                <a:extLst>
                  <a:ext uri="{FF2B5EF4-FFF2-40B4-BE49-F238E27FC236}">
                    <a16:creationId xmlns:a16="http://schemas.microsoft.com/office/drawing/2014/main" id="{DE3BB95A-2EF9-477B-63EA-12D47CF40E3C}"/>
                  </a:ext>
                </a:extLst>
              </p:cNvPr>
              <p:cNvCxnSpPr>
                <a:stCxn id="56" idx="2"/>
                <a:endCxn id="65" idx="0"/>
              </p:cNvCxnSpPr>
              <p:nvPr/>
            </p:nvCxnSpPr>
            <p:spPr>
              <a:xfrm>
                <a:off x="1661877" y="2729140"/>
                <a:ext cx="0" cy="20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393;p36">
                <a:extLst>
                  <a:ext uri="{FF2B5EF4-FFF2-40B4-BE49-F238E27FC236}">
                    <a16:creationId xmlns:a16="http://schemas.microsoft.com/office/drawing/2014/main" id="{39EE462B-4414-14A1-67F8-43EA1C96EF2A}"/>
                  </a:ext>
                </a:extLst>
              </p:cNvPr>
              <p:cNvCxnSpPr>
                <a:stCxn id="57" idx="2"/>
                <a:endCxn id="65" idx="0"/>
              </p:cNvCxnSpPr>
              <p:nvPr/>
            </p:nvCxnSpPr>
            <p:spPr>
              <a:xfrm flipH="1">
                <a:off x="1661877" y="2729140"/>
                <a:ext cx="457200" cy="20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5" name="Google Shape;391;p36">
                <a:extLst>
                  <a:ext uri="{FF2B5EF4-FFF2-40B4-BE49-F238E27FC236}">
                    <a16:creationId xmlns:a16="http://schemas.microsoft.com/office/drawing/2014/main" id="{29C82BCE-5203-2D2F-A301-440F98C497CF}"/>
                  </a:ext>
                </a:extLst>
              </p:cNvPr>
              <p:cNvSpPr/>
              <p:nvPr/>
            </p:nvSpPr>
            <p:spPr>
              <a:xfrm>
                <a:off x="1082427" y="2933440"/>
                <a:ext cx="1158900" cy="7782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Forwarding Chip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66" name="Google Shape;394;p36">
                <a:extLst>
                  <a:ext uri="{FF2B5EF4-FFF2-40B4-BE49-F238E27FC236}">
                    <a16:creationId xmlns:a16="http://schemas.microsoft.com/office/drawing/2014/main" id="{56907FBA-EE35-F82A-E50E-8EFEFE665D98}"/>
                  </a:ext>
                </a:extLst>
              </p:cNvPr>
              <p:cNvCxnSpPr>
                <a:stCxn id="58" idx="2"/>
                <a:endCxn id="69" idx="0"/>
              </p:cNvCxnSpPr>
              <p:nvPr/>
            </p:nvCxnSpPr>
            <p:spPr>
              <a:xfrm>
                <a:off x="2576277" y="2729140"/>
                <a:ext cx="457200" cy="20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396;p36">
                <a:extLst>
                  <a:ext uri="{FF2B5EF4-FFF2-40B4-BE49-F238E27FC236}">
                    <a16:creationId xmlns:a16="http://schemas.microsoft.com/office/drawing/2014/main" id="{DA259FD8-76FF-4D02-2885-470EFEFF9D59}"/>
                  </a:ext>
                </a:extLst>
              </p:cNvPr>
              <p:cNvCxnSpPr>
                <a:stCxn id="59" idx="2"/>
                <a:endCxn id="69" idx="0"/>
              </p:cNvCxnSpPr>
              <p:nvPr/>
            </p:nvCxnSpPr>
            <p:spPr>
              <a:xfrm>
                <a:off x="3033477" y="2729140"/>
                <a:ext cx="0" cy="20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397;p36">
                <a:extLst>
                  <a:ext uri="{FF2B5EF4-FFF2-40B4-BE49-F238E27FC236}">
                    <a16:creationId xmlns:a16="http://schemas.microsoft.com/office/drawing/2014/main" id="{3B0630DF-8BAF-1979-E32E-BAD32B0DBADB}"/>
                  </a:ext>
                </a:extLst>
              </p:cNvPr>
              <p:cNvCxnSpPr>
                <a:stCxn id="60" idx="2"/>
                <a:endCxn id="69" idx="0"/>
              </p:cNvCxnSpPr>
              <p:nvPr/>
            </p:nvCxnSpPr>
            <p:spPr>
              <a:xfrm flipH="1">
                <a:off x="3033477" y="2729140"/>
                <a:ext cx="457200" cy="20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9" name="Google Shape;395;p36">
                <a:extLst>
                  <a:ext uri="{FF2B5EF4-FFF2-40B4-BE49-F238E27FC236}">
                    <a16:creationId xmlns:a16="http://schemas.microsoft.com/office/drawing/2014/main" id="{BA823C79-3A90-FE73-04CB-17D06125941D}"/>
                  </a:ext>
                </a:extLst>
              </p:cNvPr>
              <p:cNvSpPr/>
              <p:nvPr/>
            </p:nvSpPr>
            <p:spPr>
              <a:xfrm>
                <a:off x="2454027" y="2933440"/>
                <a:ext cx="1158900" cy="7782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Forwarding Chip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0" name="Google Shape;398;p36">
                <a:extLst>
                  <a:ext uri="{FF2B5EF4-FFF2-40B4-BE49-F238E27FC236}">
                    <a16:creationId xmlns:a16="http://schemas.microsoft.com/office/drawing/2014/main" id="{B453DF8D-50B4-B8A2-0064-28695B732EBF}"/>
                  </a:ext>
                </a:extLst>
              </p:cNvPr>
              <p:cNvSpPr/>
              <p:nvPr/>
            </p:nvSpPr>
            <p:spPr>
              <a:xfrm>
                <a:off x="1082427" y="3936740"/>
                <a:ext cx="2530500" cy="778200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latin typeface="Roboto"/>
                    <a:ea typeface="Roboto"/>
                    <a:cs typeface="Roboto"/>
                    <a:sym typeface="Roboto"/>
                  </a:rPr>
                  <a:t>Fabric Chip(s)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71" name="Google Shape;399;p36">
                <a:extLst>
                  <a:ext uri="{FF2B5EF4-FFF2-40B4-BE49-F238E27FC236}">
                    <a16:creationId xmlns:a16="http://schemas.microsoft.com/office/drawing/2014/main" id="{53B475DE-1875-0856-E8F7-6B2B8B47EE9D}"/>
                  </a:ext>
                </a:extLst>
              </p:cNvPr>
              <p:cNvCxnSpPr/>
              <p:nvPr/>
            </p:nvCxnSpPr>
            <p:spPr>
              <a:xfrm>
                <a:off x="2347677" y="4714940"/>
                <a:ext cx="0" cy="54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Google Shape;400;p36">
                <a:extLst>
                  <a:ext uri="{FF2B5EF4-FFF2-40B4-BE49-F238E27FC236}">
                    <a16:creationId xmlns:a16="http://schemas.microsoft.com/office/drawing/2014/main" id="{088AFC27-329C-00CF-BD2E-08E53EB2AF0E}"/>
                  </a:ext>
                </a:extLst>
              </p:cNvPr>
              <p:cNvSpPr txBox="1"/>
              <p:nvPr/>
            </p:nvSpPr>
            <p:spPr>
              <a:xfrm>
                <a:off x="2427052" y="5041640"/>
                <a:ext cx="7668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To Fabric</a:t>
                </a:r>
                <a:endParaRPr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3" name="Google Shape;352;p35">
              <a:extLst>
                <a:ext uri="{FF2B5EF4-FFF2-40B4-BE49-F238E27FC236}">
                  <a16:creationId xmlns:a16="http://schemas.microsoft.com/office/drawing/2014/main" id="{96F2001B-27E5-B212-000F-B21BB57E1F72}"/>
                </a:ext>
              </a:extLst>
            </p:cNvPr>
            <p:cNvSpPr/>
            <p:nvPr/>
          </p:nvSpPr>
          <p:spPr>
            <a:xfrm rot="5400000">
              <a:off x="6509603" y="4732048"/>
              <a:ext cx="982291" cy="2962835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Fabric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BBBC9D0-F5C2-8842-D71C-73A4145A8A11}"/>
              </a:ext>
            </a:extLst>
          </p:cNvPr>
          <p:cNvGrpSpPr/>
          <p:nvPr/>
        </p:nvGrpSpPr>
        <p:grpSpPr>
          <a:xfrm>
            <a:off x="535760" y="5074326"/>
            <a:ext cx="11120480" cy="1668390"/>
            <a:chOff x="535760" y="5074326"/>
            <a:chExt cx="11120480" cy="1668390"/>
          </a:xfrm>
        </p:grpSpPr>
        <p:sp>
          <p:nvSpPr>
            <p:cNvPr id="6" name="Google Shape;966;p51">
              <a:extLst>
                <a:ext uri="{FF2B5EF4-FFF2-40B4-BE49-F238E27FC236}">
                  <a16:creationId xmlns:a16="http://schemas.microsoft.com/office/drawing/2014/main" id="{3D78C01B-5890-7F04-BE4F-4C1F127AF3FC}"/>
                </a:ext>
              </a:extLst>
            </p:cNvPr>
            <p:cNvSpPr/>
            <p:nvPr/>
          </p:nvSpPr>
          <p:spPr>
            <a:xfrm>
              <a:off x="750226" y="5249362"/>
              <a:ext cx="2127587" cy="1031866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967;p51">
              <a:extLst>
                <a:ext uri="{FF2B5EF4-FFF2-40B4-BE49-F238E27FC236}">
                  <a16:creationId xmlns:a16="http://schemas.microsoft.com/office/drawing/2014/main" id="{43C1F779-14EF-B14A-CE87-EBE43D04F427}"/>
                </a:ext>
              </a:extLst>
            </p:cNvPr>
            <p:cNvSpPr/>
            <p:nvPr/>
          </p:nvSpPr>
          <p:spPr>
            <a:xfrm>
              <a:off x="1073174" y="5464315"/>
              <a:ext cx="680673" cy="60196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PHY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968;p51">
              <a:extLst>
                <a:ext uri="{FF2B5EF4-FFF2-40B4-BE49-F238E27FC236}">
                  <a16:creationId xmlns:a16="http://schemas.microsoft.com/office/drawing/2014/main" id="{1A201A13-24FD-2B8B-CDB1-E47BDDEB149D}"/>
                </a:ext>
              </a:extLst>
            </p:cNvPr>
            <p:cNvSpPr/>
            <p:nvPr/>
          </p:nvSpPr>
          <p:spPr>
            <a:xfrm>
              <a:off x="2052820" y="5464315"/>
              <a:ext cx="680673" cy="60196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MAC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969;p51">
              <a:extLst>
                <a:ext uri="{FF2B5EF4-FFF2-40B4-BE49-F238E27FC236}">
                  <a16:creationId xmlns:a16="http://schemas.microsoft.com/office/drawing/2014/main" id="{9330E64A-1D62-A8F3-D5E7-809A87AAF302}"/>
                </a:ext>
              </a:extLst>
            </p:cNvPr>
            <p:cNvSpPr/>
            <p:nvPr/>
          </p:nvSpPr>
          <p:spPr>
            <a:xfrm>
              <a:off x="3078605" y="5249362"/>
              <a:ext cx="3819589" cy="10318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970;p51">
              <a:extLst>
                <a:ext uri="{FF2B5EF4-FFF2-40B4-BE49-F238E27FC236}">
                  <a16:creationId xmlns:a16="http://schemas.microsoft.com/office/drawing/2014/main" id="{54E5EDBD-6D62-2CDE-52AE-3AF2D87B3786}"/>
                </a:ext>
              </a:extLst>
            </p:cNvPr>
            <p:cNvSpPr/>
            <p:nvPr/>
          </p:nvSpPr>
          <p:spPr>
            <a:xfrm>
              <a:off x="3314384" y="5464315"/>
              <a:ext cx="947057" cy="60196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Parse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971;p51">
              <a:extLst>
                <a:ext uri="{FF2B5EF4-FFF2-40B4-BE49-F238E27FC236}">
                  <a16:creationId xmlns:a16="http://schemas.microsoft.com/office/drawing/2014/main" id="{901138CB-32E3-6BAD-3463-777F9D5A1E69}"/>
                </a:ext>
              </a:extLst>
            </p:cNvPr>
            <p:cNvSpPr/>
            <p:nvPr/>
          </p:nvSpPr>
          <p:spPr>
            <a:xfrm>
              <a:off x="4521825" y="5464315"/>
              <a:ext cx="947057" cy="60196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Lookup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972;p51">
              <a:extLst>
                <a:ext uri="{FF2B5EF4-FFF2-40B4-BE49-F238E27FC236}">
                  <a16:creationId xmlns:a16="http://schemas.microsoft.com/office/drawing/2014/main" id="{33CE1F89-576F-1076-E7F2-91937CF9732B}"/>
                </a:ext>
              </a:extLst>
            </p:cNvPr>
            <p:cNvSpPr/>
            <p:nvPr/>
          </p:nvSpPr>
          <p:spPr>
            <a:xfrm>
              <a:off x="5816097" y="5464315"/>
              <a:ext cx="947057" cy="60196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Actions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973;p51">
              <a:extLst>
                <a:ext uri="{FF2B5EF4-FFF2-40B4-BE49-F238E27FC236}">
                  <a16:creationId xmlns:a16="http://schemas.microsoft.com/office/drawing/2014/main" id="{E4CEBFF1-C3E9-B048-8E96-F19533559609}"/>
                </a:ext>
              </a:extLst>
            </p:cNvPr>
            <p:cNvSpPr/>
            <p:nvPr/>
          </p:nvSpPr>
          <p:spPr>
            <a:xfrm>
              <a:off x="8505204" y="5249362"/>
              <a:ext cx="1359410" cy="10318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Fabric Interconnect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" name="Google Shape;974;p51">
              <a:extLst>
                <a:ext uri="{FF2B5EF4-FFF2-40B4-BE49-F238E27FC236}">
                  <a16:creationId xmlns:a16="http://schemas.microsoft.com/office/drawing/2014/main" id="{26D09EC5-3418-8508-F8EF-D5AC48E5BC63}"/>
                </a:ext>
              </a:extLst>
            </p:cNvPr>
            <p:cNvCxnSpPr>
              <a:stCxn id="13" idx="3"/>
            </p:cNvCxnSpPr>
            <p:nvPr/>
          </p:nvCxnSpPr>
          <p:spPr>
            <a:xfrm rot="10800000" flipH="1">
              <a:off x="9864613" y="5074326"/>
              <a:ext cx="583102" cy="690969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975;p51">
              <a:extLst>
                <a:ext uri="{FF2B5EF4-FFF2-40B4-BE49-F238E27FC236}">
                  <a16:creationId xmlns:a16="http://schemas.microsoft.com/office/drawing/2014/main" id="{46390D73-3199-8F0B-D23E-6C65163C42B0}"/>
                </a:ext>
              </a:extLst>
            </p:cNvPr>
            <p:cNvCxnSpPr>
              <a:stCxn id="13" idx="3"/>
            </p:cNvCxnSpPr>
            <p:nvPr/>
          </p:nvCxnSpPr>
          <p:spPr>
            <a:xfrm rot="10800000" flipH="1">
              <a:off x="9864613" y="5554701"/>
              <a:ext cx="662862" cy="21059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976;p51">
              <a:extLst>
                <a:ext uri="{FF2B5EF4-FFF2-40B4-BE49-F238E27FC236}">
                  <a16:creationId xmlns:a16="http://schemas.microsoft.com/office/drawing/2014/main" id="{515CF15E-C8D9-7AC8-B47A-0405C7940758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9864613" y="5765295"/>
              <a:ext cx="612528" cy="19453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977;p51">
              <a:extLst>
                <a:ext uri="{FF2B5EF4-FFF2-40B4-BE49-F238E27FC236}">
                  <a16:creationId xmlns:a16="http://schemas.microsoft.com/office/drawing/2014/main" id="{34D1C3FA-E6BA-8D5B-0228-7BB46D00EA29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9864613" y="5765295"/>
              <a:ext cx="480111" cy="56892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978;p51">
              <a:extLst>
                <a:ext uri="{FF2B5EF4-FFF2-40B4-BE49-F238E27FC236}">
                  <a16:creationId xmlns:a16="http://schemas.microsoft.com/office/drawing/2014/main" id="{0ADAF2F6-CD9C-F5C5-126F-E28E7B9FF42E}"/>
                </a:ext>
              </a:extLst>
            </p:cNvPr>
            <p:cNvSpPr txBox="1"/>
            <p:nvPr/>
          </p:nvSpPr>
          <p:spPr>
            <a:xfrm>
              <a:off x="10689050" y="5435640"/>
              <a:ext cx="967190" cy="659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To other linecards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979;p51">
              <a:extLst>
                <a:ext uri="{FF2B5EF4-FFF2-40B4-BE49-F238E27FC236}">
                  <a16:creationId xmlns:a16="http://schemas.microsoft.com/office/drawing/2014/main" id="{313F257E-3BD3-A555-818A-22E89AF673EC}"/>
                </a:ext>
              </a:extLst>
            </p:cNvPr>
            <p:cNvSpPr txBox="1"/>
            <p:nvPr/>
          </p:nvSpPr>
          <p:spPr>
            <a:xfrm>
              <a:off x="1277754" y="6413290"/>
              <a:ext cx="1072505" cy="3294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Hardware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980;p51">
              <a:extLst>
                <a:ext uri="{FF2B5EF4-FFF2-40B4-BE49-F238E27FC236}">
                  <a16:creationId xmlns:a16="http://schemas.microsoft.com/office/drawing/2014/main" id="{B7984C4C-97D8-38BB-218E-6F89BB0DCDBE}"/>
                </a:ext>
              </a:extLst>
            </p:cNvPr>
            <p:cNvSpPr txBox="1"/>
            <p:nvPr/>
          </p:nvSpPr>
          <p:spPr>
            <a:xfrm>
              <a:off x="4128443" y="6413290"/>
              <a:ext cx="1733818" cy="3294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Forwarding Chip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981;p51">
              <a:extLst>
                <a:ext uri="{FF2B5EF4-FFF2-40B4-BE49-F238E27FC236}">
                  <a16:creationId xmlns:a16="http://schemas.microsoft.com/office/drawing/2014/main" id="{EE146A44-1D71-4ED2-4789-EBCA26476E4D}"/>
                </a:ext>
              </a:extLst>
            </p:cNvPr>
            <p:cNvSpPr txBox="1"/>
            <p:nvPr/>
          </p:nvSpPr>
          <p:spPr>
            <a:xfrm>
              <a:off x="8317988" y="6413290"/>
              <a:ext cx="1359410" cy="3294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Fabric Chip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" name="Google Shape;982;p51">
              <a:extLst>
                <a:ext uri="{FF2B5EF4-FFF2-40B4-BE49-F238E27FC236}">
                  <a16:creationId xmlns:a16="http://schemas.microsoft.com/office/drawing/2014/main" id="{31E6CE42-8535-FD05-D906-7EDA78F18707}"/>
                </a:ext>
              </a:extLst>
            </p:cNvPr>
            <p:cNvCxnSpPr>
              <a:endCxn id="7" idx="1"/>
            </p:cNvCxnSpPr>
            <p:nvPr/>
          </p:nvCxnSpPr>
          <p:spPr>
            <a:xfrm>
              <a:off x="535760" y="5765295"/>
              <a:ext cx="537414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Google Shape;983;p51">
              <a:extLst>
                <a:ext uri="{FF2B5EF4-FFF2-40B4-BE49-F238E27FC236}">
                  <a16:creationId xmlns:a16="http://schemas.microsoft.com/office/drawing/2014/main" id="{8B20811E-AF9B-4CA7-8273-78A334E36E6D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1753847" y="5765295"/>
              <a:ext cx="298908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Google Shape;984;p51">
              <a:extLst>
                <a:ext uri="{FF2B5EF4-FFF2-40B4-BE49-F238E27FC236}">
                  <a16:creationId xmlns:a16="http://schemas.microsoft.com/office/drawing/2014/main" id="{6C0DEB2E-D584-1B57-FC34-B4C69D220EA9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>
              <a:off x="2733493" y="5765295"/>
              <a:ext cx="580779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985;p51">
              <a:extLst>
                <a:ext uri="{FF2B5EF4-FFF2-40B4-BE49-F238E27FC236}">
                  <a16:creationId xmlns:a16="http://schemas.microsoft.com/office/drawing/2014/main" id="{A81B50F0-416D-1ED3-8CD5-F309CA8DD4A3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>
              <a:off x="4261441" y="5765295"/>
              <a:ext cx="260576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Google Shape;986;p51">
              <a:extLst>
                <a:ext uri="{FF2B5EF4-FFF2-40B4-BE49-F238E27FC236}">
                  <a16:creationId xmlns:a16="http://schemas.microsoft.com/office/drawing/2014/main" id="{54DA8470-16A7-F43E-E76F-DF338EC36034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5468881" y="5765295"/>
              <a:ext cx="347306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5" name="Google Shape;1015;p52">
              <a:extLst>
                <a:ext uri="{FF2B5EF4-FFF2-40B4-BE49-F238E27FC236}">
                  <a16:creationId xmlns:a16="http://schemas.microsoft.com/office/drawing/2014/main" id="{29E32970-AA7B-5E82-7FF9-4B49B6F40CBE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6790999" y="5763031"/>
              <a:ext cx="307986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6" name="Google Shape;1016;p52">
              <a:extLst>
                <a:ext uri="{FF2B5EF4-FFF2-40B4-BE49-F238E27FC236}">
                  <a16:creationId xmlns:a16="http://schemas.microsoft.com/office/drawing/2014/main" id="{A699E5F2-5E37-C288-D98F-CE1E7E7688CB}"/>
                </a:ext>
              </a:extLst>
            </p:cNvPr>
            <p:cNvSpPr/>
            <p:nvPr/>
          </p:nvSpPr>
          <p:spPr>
            <a:xfrm>
              <a:off x="7098985" y="5566231"/>
              <a:ext cx="1098117" cy="3936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Queuing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7" name="Google Shape;1017;p52">
              <a:extLst>
                <a:ext uri="{FF2B5EF4-FFF2-40B4-BE49-F238E27FC236}">
                  <a16:creationId xmlns:a16="http://schemas.microsoft.com/office/drawing/2014/main" id="{B21DF6D1-0EFF-F737-4B48-20890C8A9574}"/>
                </a:ext>
              </a:extLst>
            </p:cNvPr>
            <p:cNvCxnSpPr>
              <a:cxnSpLocks/>
            </p:cNvCxnSpPr>
            <p:nvPr/>
          </p:nvCxnSpPr>
          <p:spPr>
            <a:xfrm>
              <a:off x="8197104" y="5763031"/>
              <a:ext cx="308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18977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8132-BF91-414F-4E09-A288F743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749731"/>
          </a:xfrm>
        </p:spPr>
        <p:txBody>
          <a:bodyPr/>
          <a:lstStyle/>
          <a:p>
            <a:r>
              <a:rPr lang="en-US" dirty="0"/>
              <a:t>Efficient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DCB89-3C89-D8FD-C0DF-514AC999A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1" y="1040764"/>
            <a:ext cx="7924796" cy="5641975"/>
          </a:xfrm>
        </p:spPr>
        <p:txBody>
          <a:bodyPr>
            <a:normAutofit/>
          </a:bodyPr>
          <a:lstStyle/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The forwarding table is a map (key-value pairs)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How do we do fast lookups?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Challenges: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Entries can contain a range of addresses, not just one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Ranges might overlap; A destination can match multiple </a:t>
            </a:r>
            <a:r>
              <a:rPr lang="en-US" sz="2400" dirty="0">
                <a:latin typeface="+mj-lt"/>
              </a:rPr>
              <a:t>entries. E.g., output port 5 connects to hosts in </a:t>
            </a:r>
            <a:r>
              <a:rPr lang="en" sz="2400" dirty="0">
                <a:latin typeface="+mj-lt"/>
                <a:ea typeface="Roboto"/>
                <a:cs typeface="Roboto"/>
                <a:sym typeface="Roboto"/>
              </a:rPr>
              <a:t>2.1.1.0/24</a:t>
            </a:r>
            <a:endParaRPr lang="en-US" sz="2400" dirty="0">
              <a:latin typeface="+mj-lt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/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Naive solution: Write out the whole range: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Table gets really big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If a route changes, we have to update tons of entries. E.g., </a:t>
            </a:r>
            <a:r>
              <a:rPr lang="en" sz="2400" dirty="0">
                <a:ea typeface="Roboto"/>
                <a:cs typeface="Roboto"/>
                <a:sym typeface="Roboto"/>
              </a:rPr>
              <a:t>2.1.1.0/24 connects to port 6?</a:t>
            </a:r>
            <a:endParaRPr lang="en-US" sz="2400" dirty="0"/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We need something smarter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85CA02-52C0-B5D9-47BB-1FAD50F71BC3}"/>
              </a:ext>
            </a:extLst>
          </p:cNvPr>
          <p:cNvGrpSpPr/>
          <p:nvPr/>
        </p:nvGrpSpPr>
        <p:grpSpPr>
          <a:xfrm>
            <a:off x="8991600" y="1259450"/>
            <a:ext cx="2278379" cy="4829214"/>
            <a:chOff x="8909607" y="1168010"/>
            <a:chExt cx="939638" cy="4456267"/>
          </a:xfrm>
        </p:grpSpPr>
        <p:graphicFrame>
          <p:nvGraphicFramePr>
            <p:cNvPr id="4" name="Google Shape;1067;p56">
              <a:extLst>
                <a:ext uri="{FF2B5EF4-FFF2-40B4-BE49-F238E27FC236}">
                  <a16:creationId xmlns:a16="http://schemas.microsoft.com/office/drawing/2014/main" id="{3E06055B-BCEA-D21D-C3E4-7F8F6FB470B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20695408"/>
                </p:ext>
              </p:extLst>
            </p:nvPr>
          </p:nvGraphicFramePr>
          <p:xfrm>
            <a:off x="8909607" y="1168010"/>
            <a:ext cx="939638" cy="69183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1913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701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21925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R2's Table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Destination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Port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2.1.1.0/24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graphicFrame>
          <p:nvGraphicFramePr>
            <p:cNvPr id="5" name="Google Shape;1068;p56">
              <a:extLst>
                <a:ext uri="{FF2B5EF4-FFF2-40B4-BE49-F238E27FC236}">
                  <a16:creationId xmlns:a16="http://schemas.microsoft.com/office/drawing/2014/main" id="{A1BE3539-ED74-1172-FB43-11A80B1429A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38276935"/>
                </p:ext>
              </p:extLst>
            </p:nvPr>
          </p:nvGraphicFramePr>
          <p:xfrm>
            <a:off x="8909607" y="2350685"/>
            <a:ext cx="939637" cy="3273592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19136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701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21925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R2's Table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Destination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Port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2.1.1.0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2.1.1.1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2.1.1.2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2.1.1.3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2.1.1.4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...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...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2.1.1.252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2.1.1.253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2.1.1.254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2.1.1.255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5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cxnSp>
          <p:nvCxnSpPr>
            <p:cNvPr id="6" name="Google Shape;1069;p56">
              <a:extLst>
                <a:ext uri="{FF2B5EF4-FFF2-40B4-BE49-F238E27FC236}">
                  <a16:creationId xmlns:a16="http://schemas.microsoft.com/office/drawing/2014/main" id="{3F87E40B-9C38-FF58-8094-6645E388A236}"/>
                </a:ext>
              </a:extLst>
            </p:cNvPr>
            <p:cNvCxnSpPr/>
            <p:nvPr/>
          </p:nvCxnSpPr>
          <p:spPr>
            <a:xfrm>
              <a:off x="9616933" y="1859840"/>
              <a:ext cx="0" cy="488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69618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12">
            <a:extLst>
              <a:ext uri="{FF2B5EF4-FFF2-40B4-BE49-F238E27FC236}">
                <a16:creationId xmlns:a16="http://schemas.microsoft.com/office/drawing/2014/main" id="{39713235-40E8-FD43-A0F7-09AF038C8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321" y="2129804"/>
            <a:ext cx="370277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hat happens if ranges don’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divide up so nicely?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packets with a destination address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a subset in this first range should go to interface 3?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6C911F9-D713-DF44-9F74-E50D01F6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1" y="3826868"/>
            <a:ext cx="7998799" cy="237132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25C7E65-E330-D54C-9458-A2526E45EE84}"/>
              </a:ext>
            </a:extLst>
          </p:cNvPr>
          <p:cNvGrpSpPr/>
          <p:nvPr/>
        </p:nvGrpSpPr>
        <p:grpSpPr>
          <a:xfrm>
            <a:off x="1" y="1943077"/>
            <a:ext cx="8275320" cy="1473983"/>
            <a:chOff x="898734" y="1108364"/>
            <a:chExt cx="9699993" cy="204458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B2C9B1D-B13F-2A44-BFD7-FE059F60C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8734" y="1186912"/>
              <a:ext cx="9594790" cy="196603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FAB1BC2-A9DF-384B-9E93-78C77805E9B5}"/>
                </a:ext>
              </a:extLst>
            </p:cNvPr>
            <p:cNvSpPr/>
            <p:nvPr/>
          </p:nvSpPr>
          <p:spPr>
            <a:xfrm>
              <a:off x="1039091" y="1108364"/>
              <a:ext cx="9559636" cy="2355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Destination-based Forwarding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FBC640-7D8A-6C4E-A73D-113F295A0D69}"/>
              </a:ext>
            </a:extLst>
          </p:cNvPr>
          <p:cNvGrpSpPr/>
          <p:nvPr/>
        </p:nvGrpSpPr>
        <p:grpSpPr>
          <a:xfrm>
            <a:off x="213902" y="3257616"/>
            <a:ext cx="7757765" cy="925144"/>
            <a:chOff x="1038514" y="2679128"/>
            <a:chExt cx="9093336" cy="128327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6512AEA-D127-3748-A1EB-EB563AC9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8514" y="2679128"/>
              <a:ext cx="9093336" cy="128327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F59FBD-8B2C-9141-A4D8-C536B3311F8A}"/>
                </a:ext>
              </a:extLst>
            </p:cNvPr>
            <p:cNvSpPr txBox="1"/>
            <p:nvPr/>
          </p:nvSpPr>
          <p:spPr>
            <a:xfrm>
              <a:off x="8451272" y="3131128"/>
              <a:ext cx="886691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EB3B978-1058-A4D5-F942-39DEC01B5041}"/>
              </a:ext>
            </a:extLst>
          </p:cNvPr>
          <p:cNvSpPr txBox="1"/>
          <p:nvPr/>
        </p:nvSpPr>
        <p:spPr>
          <a:xfrm>
            <a:off x="838200" y="771761"/>
            <a:ext cx="1065276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Maps destination IP address ranges to specific output link interfaces in a router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Router checks the </a:t>
            </a:r>
            <a:r>
              <a:rPr lang="en-US" sz="2400" b="1" i="1" dirty="0">
                <a:solidFill>
                  <a:srgbClr val="C00000"/>
                </a:solidFill>
              </a:rPr>
              <a:t>destination address </a:t>
            </a:r>
            <a:r>
              <a:rPr lang="en-US" sz="2400" dirty="0"/>
              <a:t>of each incoming packet and uses the table to determine which link interface to forward the packet to</a:t>
            </a:r>
            <a:endParaRPr lang="en-US" sz="2200" dirty="0"/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D4467D25-609C-2468-ADB3-E55CCAACE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321" y="4549676"/>
            <a:ext cx="370277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Split the first address range into multiple pieces</a:t>
            </a:r>
            <a:r>
              <a:rPr kumimoji="0" lang="en-US" alt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add new entries. Or a more elegant way: </a:t>
            </a:r>
            <a:r>
              <a:rPr kumimoji="0" lang="en-US" altLang="en-US" sz="2400" b="1" i="1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longest prefix matching </a:t>
            </a:r>
            <a:endParaRPr kumimoji="0" lang="en-US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91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0.00052 0.10717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534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7.40741E-7 L 0.00013 -0.0541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1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Longest Prefix </a:t>
            </a:r>
            <a:r>
              <a:rPr lang="en-US" altLang="zh-CN" sz="4800" dirty="0"/>
              <a:t>M</a:t>
            </a:r>
            <a:r>
              <a:rPr lang="en-US" sz="4800" dirty="0"/>
              <a:t>atching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E44CD3A5-49DD-2B46-B559-9C4E98374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65" y="833038"/>
            <a:ext cx="1175206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14300" lvl="0">
              <a:spcBef>
                <a:spcPts val="600"/>
              </a:spcBef>
              <a:spcAft>
                <a:spcPts val="600"/>
              </a:spcAft>
              <a:buSzPts val="1800"/>
            </a:pPr>
            <a:r>
              <a:rPr lang="en" dirty="0"/>
              <a:t>We want a fast implementation of </a:t>
            </a:r>
            <a:r>
              <a:rPr lang="en" b="1" dirty="0"/>
              <a:t>longest prefix matching</a:t>
            </a:r>
            <a:endParaRPr lang="en-US" dirty="0"/>
          </a:p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Instead of using explicit ranges, use </a:t>
            </a:r>
            <a:r>
              <a:rPr lang="en-US" b="1" i="1" dirty="0">
                <a:solidFill>
                  <a:srgbClr val="C00000"/>
                </a:solidFill>
              </a:rPr>
              <a:t>longest address prefix </a:t>
            </a:r>
            <a:r>
              <a:rPr lang="en-US" dirty="0"/>
              <a:t>that matches destination address</a:t>
            </a:r>
          </a:p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multiple prefixes, take the most specific (longest) match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no prefixes, take the default route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there's no default route, drop the packet.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D13401-BB00-AB4B-8905-3EDC38C55E44}"/>
              </a:ext>
            </a:extLst>
          </p:cNvPr>
          <p:cNvGrpSpPr/>
          <p:nvPr/>
        </p:nvGrpSpPr>
        <p:grpSpPr>
          <a:xfrm>
            <a:off x="2666981" y="3571400"/>
            <a:ext cx="7479325" cy="2180038"/>
            <a:chOff x="2674601" y="3416024"/>
            <a:chExt cx="7479325" cy="2180038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084DF81F-7378-3F4D-A220-97031D2E8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601" y="3464838"/>
              <a:ext cx="4941530" cy="2131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 Address Range                        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11001000  00010111  00010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11001000  00010111  00011000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11001000  00010111  00011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otherwise 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" pitchFamily="2" charset="0"/>
                  <a:ea typeface="ＭＳ Ｐゴシック" panose="020B0600070205080204" pitchFamily="34" charset="-128"/>
                  <a:cs typeface="+mn-cs"/>
                </a:rPr>
                <a:t>           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18A563AC-C70D-754B-9962-4D998D015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214" y="3473174"/>
              <a:ext cx="7459662" cy="2106613"/>
            </a:xfrm>
            <a:prstGeom prst="rect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19C2B9AB-8F02-2544-B27E-9D6069612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5214" y="3908149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1B9BD71E-C1AB-FC44-BE8C-E92F41BE2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5376" y="4338362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7AE74685-5721-6E44-8BC4-DAB3E347B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976" y="4757462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1B853A8E-6A07-CB4D-BE12-092786F59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6801" y="5187674"/>
              <a:ext cx="744855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BAAA8C9E-1166-D244-A56D-14E88DC72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9371" y="3444875"/>
              <a:ext cx="0" cy="2117725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C361938E-509D-884C-8F4D-604CDBAF4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8439" y="3416024"/>
              <a:ext cx="1543050" cy="2155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Link interface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94CEDC-B1A5-454C-B4F6-F22FC77EEC2F}"/>
                </a:ext>
              </a:extLst>
            </p:cNvPr>
            <p:cNvSpPr txBox="1"/>
            <p:nvPr/>
          </p:nvSpPr>
          <p:spPr>
            <a:xfrm>
              <a:off x="6763327" y="4003965"/>
              <a:ext cx="1745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********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9CA6F6A-B810-954D-9B23-669157310E2A}"/>
                </a:ext>
              </a:extLst>
            </p:cNvPr>
            <p:cNvSpPr txBox="1"/>
            <p:nvPr/>
          </p:nvSpPr>
          <p:spPr>
            <a:xfrm>
              <a:off x="6089074" y="4005707"/>
              <a:ext cx="595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***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FB0E5B5-4700-1A4A-82D3-4BA23D91D949}"/>
                </a:ext>
              </a:extLst>
            </p:cNvPr>
            <p:cNvSpPr txBox="1"/>
            <p:nvPr/>
          </p:nvSpPr>
          <p:spPr>
            <a:xfrm>
              <a:off x="6760005" y="4816765"/>
              <a:ext cx="1745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********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C3E062A-D38F-7B4C-985F-9BC7311B996F}"/>
                </a:ext>
              </a:extLst>
            </p:cNvPr>
            <p:cNvSpPr txBox="1"/>
            <p:nvPr/>
          </p:nvSpPr>
          <p:spPr>
            <a:xfrm>
              <a:off x="6083018" y="4846641"/>
              <a:ext cx="595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***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0CB68ED-9DC5-4A42-912A-6465AD307681}"/>
                </a:ext>
              </a:extLst>
            </p:cNvPr>
            <p:cNvSpPr txBox="1"/>
            <p:nvPr/>
          </p:nvSpPr>
          <p:spPr>
            <a:xfrm>
              <a:off x="6760005" y="4423065"/>
              <a:ext cx="1745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********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655AE30-180F-9548-B5CE-B9911AA53A47}"/>
              </a:ext>
            </a:extLst>
          </p:cNvPr>
          <p:cNvGrpSpPr/>
          <p:nvPr/>
        </p:nvGrpSpPr>
        <p:grpSpPr>
          <a:xfrm>
            <a:off x="782083" y="5902985"/>
            <a:ext cx="9305341" cy="903606"/>
            <a:chOff x="789703" y="5747609"/>
            <a:chExt cx="9305341" cy="903606"/>
          </a:xfrm>
        </p:grpSpPr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E22026F2-CBCE-4449-A0AD-13CF7F44B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2981" y="6281883"/>
              <a:ext cx="55611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11001000  00010111  000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11000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  10101010 </a:t>
              </a:r>
            </a:p>
          </p:txBody>
        </p:sp>
        <p:sp>
          <p:nvSpPr>
            <p:cNvPr id="34" name="Text Box 8">
              <a:extLst>
                <a:ext uri="{FF2B5EF4-FFF2-40B4-BE49-F238E27FC236}">
                  <a16:creationId xmlns:a16="http://schemas.microsoft.com/office/drawing/2014/main" id="{6696C1A2-2B66-F046-9D91-AA81C2DE6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703" y="5882891"/>
              <a:ext cx="163628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examples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:</a:t>
              </a:r>
            </a:p>
          </p:txBody>
        </p:sp>
        <p:sp>
          <p:nvSpPr>
            <p:cNvPr id="36" name="Text Box 15">
              <a:extLst>
                <a:ext uri="{FF2B5EF4-FFF2-40B4-BE49-F238E27FC236}">
                  <a16:creationId xmlns:a16="http://schemas.microsoft.com/office/drawing/2014/main" id="{17622A77-4021-6543-9813-C7EEB4480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6060" y="5747609"/>
              <a:ext cx="19089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which interface?</a:t>
              </a:r>
            </a:p>
          </p:txBody>
        </p:sp>
        <p:sp>
          <p:nvSpPr>
            <p:cNvPr id="37" name="Text Box 16">
              <a:extLst>
                <a:ext uri="{FF2B5EF4-FFF2-40B4-BE49-F238E27FC236}">
                  <a16:creationId xmlns:a16="http://schemas.microsoft.com/office/drawing/2014/main" id="{F7507BD5-2837-2641-B60E-9FEB90A54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8869" y="6233982"/>
              <a:ext cx="19089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which interface?</a:t>
              </a:r>
            </a:p>
          </p:txBody>
        </p:sp>
        <p:sp>
          <p:nvSpPr>
            <p:cNvPr id="44" name="Text Box 9">
              <a:extLst>
                <a:ext uri="{FF2B5EF4-FFF2-40B4-BE49-F238E27FC236}">
                  <a16:creationId xmlns:a16="http://schemas.microsoft.com/office/drawing/2014/main" id="{E0486002-663A-3642-8A25-05280FEF8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165" y="5802809"/>
              <a:ext cx="55611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11001000  00010111  00010110  10100001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118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28BC6-1801-2A00-B9DF-59838405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FCBC-586D-D72C-8883-4E84C28D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1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Longest Prefix </a:t>
            </a:r>
            <a:r>
              <a:rPr lang="en-US" altLang="zh-CN" sz="4800" dirty="0"/>
              <a:t>M</a:t>
            </a:r>
            <a:r>
              <a:rPr lang="en-US" sz="4800" dirty="0"/>
              <a:t>atching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5BAB098C-D892-A740-FFC9-DDB9F9FC1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65" y="833038"/>
            <a:ext cx="1175206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Instead of using explicit ranges, use </a:t>
            </a:r>
            <a:r>
              <a:rPr lang="en-US" b="1" i="1" dirty="0">
                <a:solidFill>
                  <a:srgbClr val="C00000"/>
                </a:solidFill>
              </a:rPr>
              <a:t>longest address prefix </a:t>
            </a:r>
            <a:r>
              <a:rPr lang="en-US" dirty="0"/>
              <a:t>that matches destination address</a:t>
            </a:r>
          </a:p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multiple prefixes, take the most specific (longest) match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no prefixes, take the default route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there's no default route, drop the packet.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B025D3-E6C1-F862-62E5-892D5C5B1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601" y="3464838"/>
            <a:ext cx="4941530" cy="213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Destination Address Range          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11001000  00010111  00011000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11001000  00010111  00011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otherwise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itchFamily="2" charset="0"/>
                <a:ea typeface="ＭＳ Ｐゴシック" panose="020B0600070205080204" pitchFamily="34" charset="-128"/>
                <a:cs typeface="+mn-cs"/>
              </a:rPr>
              <a:t>           </a:t>
            </a: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7CC74A6E-5013-6928-6F29-FC9B0D628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214" y="3473174"/>
            <a:ext cx="7459662" cy="2106613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Line 25">
            <a:extLst>
              <a:ext uri="{FF2B5EF4-FFF2-40B4-BE49-F238E27FC236}">
                <a16:creationId xmlns:a16="http://schemas.microsoft.com/office/drawing/2014/main" id="{5DF23487-45E4-A09B-E69A-F676523E6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5214" y="3908149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26">
            <a:extLst>
              <a:ext uri="{FF2B5EF4-FFF2-40B4-BE49-F238E27FC236}">
                <a16:creationId xmlns:a16="http://schemas.microsoft.com/office/drawing/2014/main" id="{6B3E34C3-FD35-E573-837F-3E03025EA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76" y="4338362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27">
            <a:extLst>
              <a:ext uri="{FF2B5EF4-FFF2-40B4-BE49-F238E27FC236}">
                <a16:creationId xmlns:a16="http://schemas.microsoft.com/office/drawing/2014/main" id="{95D5AE3B-9BAE-D68D-41B3-96A5516C9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976" y="4757462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ne 28">
            <a:extLst>
              <a:ext uri="{FF2B5EF4-FFF2-40B4-BE49-F238E27FC236}">
                <a16:creationId xmlns:a16="http://schemas.microsoft.com/office/drawing/2014/main" id="{D69D6008-D343-6A52-82CC-0808B43DA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801" y="5187674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F05E0364-EE38-55E2-A5CB-E82E0BCC1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9371" y="3444875"/>
            <a:ext cx="0" cy="211772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08B16DA5-A697-9323-5713-762628B37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439" y="3416024"/>
            <a:ext cx="154305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Link interface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85961B17-67B7-682E-E21B-8F0EEE310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981" y="6281883"/>
            <a:ext cx="55611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11001000  00010111  00011000  10101010 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B120180D-A30B-D6F0-52F3-BC65D65D3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03" y="5882891"/>
            <a:ext cx="1636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5930C9D5-6E9E-4942-14F8-23A86FDB2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060" y="5747609"/>
            <a:ext cx="1908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which interface?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D5120BA5-A125-8535-A466-64AAFE82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869" y="6233982"/>
            <a:ext cx="1908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which interface?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1860C1-87F3-B3CF-C28D-9A2E63C4B4D1}"/>
              </a:ext>
            </a:extLst>
          </p:cNvPr>
          <p:cNvSpPr txBox="1"/>
          <p:nvPr/>
        </p:nvSpPr>
        <p:spPr>
          <a:xfrm>
            <a:off x="6763327" y="40039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CABA2B-E067-467D-74AF-80B585F45A7C}"/>
              </a:ext>
            </a:extLst>
          </p:cNvPr>
          <p:cNvSpPr txBox="1"/>
          <p:nvPr/>
        </p:nvSpPr>
        <p:spPr>
          <a:xfrm>
            <a:off x="6089074" y="4005707"/>
            <a:ext cx="59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7C29DD-D19C-CE70-FCC3-A7F56E122298}"/>
              </a:ext>
            </a:extLst>
          </p:cNvPr>
          <p:cNvSpPr txBox="1"/>
          <p:nvPr/>
        </p:nvSpPr>
        <p:spPr>
          <a:xfrm>
            <a:off x="6760005" y="48167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3110BA-660A-39D8-4EA8-014D7E0858A6}"/>
              </a:ext>
            </a:extLst>
          </p:cNvPr>
          <p:cNvSpPr txBox="1"/>
          <p:nvPr/>
        </p:nvSpPr>
        <p:spPr>
          <a:xfrm>
            <a:off x="6083018" y="4846641"/>
            <a:ext cx="59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4DA253-AAF3-9A52-90AE-8FFF06DD2870}"/>
              </a:ext>
            </a:extLst>
          </p:cNvPr>
          <p:cNvSpPr txBox="1"/>
          <p:nvPr/>
        </p:nvSpPr>
        <p:spPr>
          <a:xfrm>
            <a:off x="6760005" y="44230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1072C287-B876-187C-D231-F600BF85F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165" y="5802809"/>
            <a:ext cx="55611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11001000  00010111  00010110  10100001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99F4853-3C1F-2795-EE67-CE8F8E38E7BF}"/>
              </a:ext>
            </a:extLst>
          </p:cNvPr>
          <p:cNvGrpSpPr/>
          <p:nvPr/>
        </p:nvGrpSpPr>
        <p:grpSpPr>
          <a:xfrm>
            <a:off x="803563" y="3297382"/>
            <a:ext cx="9670473" cy="3560618"/>
            <a:chOff x="803563" y="3297382"/>
            <a:chExt cx="9670473" cy="3560618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5811375-D145-EBBC-7B32-29E50F456F3F}"/>
                </a:ext>
              </a:extLst>
            </p:cNvPr>
            <p:cNvSpPr/>
            <p:nvPr/>
          </p:nvSpPr>
          <p:spPr>
            <a:xfrm>
              <a:off x="845127" y="3297382"/>
              <a:ext cx="9628909" cy="1122218"/>
            </a:xfrm>
            <a:custGeom>
              <a:avLst/>
              <a:gdLst>
                <a:gd name="connsiteX0" fmla="*/ 110837 w 9628909"/>
                <a:gd name="connsiteY0" fmla="*/ 0 h 1136073"/>
                <a:gd name="connsiteX1" fmla="*/ 9628909 w 9628909"/>
                <a:gd name="connsiteY1" fmla="*/ 13854 h 1136073"/>
                <a:gd name="connsiteX2" fmla="*/ 9628909 w 9628909"/>
                <a:gd name="connsiteY2" fmla="*/ 1122218 h 1136073"/>
                <a:gd name="connsiteX3" fmla="*/ 5334000 w 9628909"/>
                <a:gd name="connsiteY3" fmla="*/ 1136073 h 1136073"/>
                <a:gd name="connsiteX4" fmla="*/ 5320146 w 9628909"/>
                <a:gd name="connsiteY4" fmla="*/ 651163 h 1136073"/>
                <a:gd name="connsiteX5" fmla="*/ 1856509 w 9628909"/>
                <a:gd name="connsiteY5" fmla="*/ 651163 h 1136073"/>
                <a:gd name="connsiteX6" fmla="*/ 1870364 w 9628909"/>
                <a:gd name="connsiteY6" fmla="*/ 1122218 h 1136073"/>
                <a:gd name="connsiteX7" fmla="*/ 0 w 9628909"/>
                <a:gd name="connsiteY7" fmla="*/ 1080654 h 1136073"/>
                <a:gd name="connsiteX8" fmla="*/ 110837 w 9628909"/>
                <a:gd name="connsiteY8" fmla="*/ 0 h 1136073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20146 w 9628909"/>
                <a:gd name="connsiteY4" fmla="*/ 651163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75564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28909" h="1122218">
                  <a:moveTo>
                    <a:pt x="110837" y="0"/>
                  </a:moveTo>
                  <a:lnTo>
                    <a:pt x="9628909" y="13854"/>
                  </a:lnTo>
                  <a:lnTo>
                    <a:pt x="9628909" y="1122218"/>
                  </a:lnTo>
                  <a:lnTo>
                    <a:pt x="5389418" y="1108364"/>
                  </a:lnTo>
                  <a:lnTo>
                    <a:pt x="5375564" y="665017"/>
                  </a:lnTo>
                  <a:lnTo>
                    <a:pt x="1856509" y="651163"/>
                  </a:lnTo>
                  <a:lnTo>
                    <a:pt x="1870364" y="1122218"/>
                  </a:lnTo>
                  <a:lnTo>
                    <a:pt x="0" y="1080654"/>
                  </a:lnTo>
                  <a:lnTo>
                    <a:pt x="110837" y="0"/>
                  </a:lnTo>
                  <a:close/>
                </a:path>
              </a:pathLst>
            </a:custGeom>
            <a:solidFill>
              <a:schemeClr val="bg1"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F14BA03-BEC4-F499-17C8-8566943ACBD2}"/>
                </a:ext>
              </a:extLst>
            </p:cNvPr>
            <p:cNvSpPr/>
            <p:nvPr/>
          </p:nvSpPr>
          <p:spPr>
            <a:xfrm>
              <a:off x="1634837" y="4364180"/>
              <a:ext cx="8756072" cy="1399309"/>
            </a:xfrm>
            <a:prstGeom prst="rect">
              <a:avLst/>
            </a:prstGeom>
            <a:solidFill>
              <a:schemeClr val="bg1"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936EFD3B-9533-D4E3-3756-EC7DD4D38E1D}"/>
                </a:ext>
              </a:extLst>
            </p:cNvPr>
            <p:cNvSpPr/>
            <p:nvPr/>
          </p:nvSpPr>
          <p:spPr>
            <a:xfrm flipV="1">
              <a:off x="803563" y="5735782"/>
              <a:ext cx="9628909" cy="1122218"/>
            </a:xfrm>
            <a:custGeom>
              <a:avLst/>
              <a:gdLst>
                <a:gd name="connsiteX0" fmla="*/ 110837 w 9628909"/>
                <a:gd name="connsiteY0" fmla="*/ 0 h 1136073"/>
                <a:gd name="connsiteX1" fmla="*/ 9628909 w 9628909"/>
                <a:gd name="connsiteY1" fmla="*/ 13854 h 1136073"/>
                <a:gd name="connsiteX2" fmla="*/ 9628909 w 9628909"/>
                <a:gd name="connsiteY2" fmla="*/ 1122218 h 1136073"/>
                <a:gd name="connsiteX3" fmla="*/ 5334000 w 9628909"/>
                <a:gd name="connsiteY3" fmla="*/ 1136073 h 1136073"/>
                <a:gd name="connsiteX4" fmla="*/ 5320146 w 9628909"/>
                <a:gd name="connsiteY4" fmla="*/ 651163 h 1136073"/>
                <a:gd name="connsiteX5" fmla="*/ 1856509 w 9628909"/>
                <a:gd name="connsiteY5" fmla="*/ 651163 h 1136073"/>
                <a:gd name="connsiteX6" fmla="*/ 1870364 w 9628909"/>
                <a:gd name="connsiteY6" fmla="*/ 1122218 h 1136073"/>
                <a:gd name="connsiteX7" fmla="*/ 0 w 9628909"/>
                <a:gd name="connsiteY7" fmla="*/ 1080654 h 1136073"/>
                <a:gd name="connsiteX8" fmla="*/ 110837 w 9628909"/>
                <a:gd name="connsiteY8" fmla="*/ 0 h 1136073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20146 w 9628909"/>
                <a:gd name="connsiteY4" fmla="*/ 651163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75564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417128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417128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394363 w 9628909"/>
                <a:gd name="connsiteY4" fmla="*/ 668811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246 w 9628909"/>
                <a:gd name="connsiteY3" fmla="*/ 1094510 h 1122218"/>
                <a:gd name="connsiteX4" fmla="*/ 5394363 w 9628909"/>
                <a:gd name="connsiteY4" fmla="*/ 668811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28909" h="1122218">
                  <a:moveTo>
                    <a:pt x="110837" y="0"/>
                  </a:moveTo>
                  <a:lnTo>
                    <a:pt x="9628909" y="13854"/>
                  </a:lnTo>
                  <a:lnTo>
                    <a:pt x="9628909" y="1122218"/>
                  </a:lnTo>
                  <a:lnTo>
                    <a:pt x="5389246" y="1094510"/>
                  </a:lnTo>
                  <a:cubicBezTo>
                    <a:pt x="5390952" y="952610"/>
                    <a:pt x="5392657" y="810711"/>
                    <a:pt x="5394363" y="668811"/>
                  </a:cubicBezTo>
                  <a:lnTo>
                    <a:pt x="1856509" y="651163"/>
                  </a:lnTo>
                  <a:lnTo>
                    <a:pt x="1870364" y="1122218"/>
                  </a:lnTo>
                  <a:lnTo>
                    <a:pt x="0" y="1080654"/>
                  </a:lnTo>
                  <a:lnTo>
                    <a:pt x="110837" y="0"/>
                  </a:lnTo>
                  <a:close/>
                </a:path>
              </a:pathLst>
            </a:cu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974E64D-67AA-43D8-5B2F-8804B6E7BF01}"/>
              </a:ext>
            </a:extLst>
          </p:cNvPr>
          <p:cNvGrpSpPr/>
          <p:nvPr/>
        </p:nvGrpSpPr>
        <p:grpSpPr>
          <a:xfrm>
            <a:off x="2701636" y="3972790"/>
            <a:ext cx="3505199" cy="2150919"/>
            <a:chOff x="2701636" y="3972790"/>
            <a:chExt cx="3505199" cy="215091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F39408B-F512-EDF1-4C61-EF63BDE46E60}"/>
                </a:ext>
              </a:extLst>
            </p:cNvPr>
            <p:cNvSpPr/>
            <p:nvPr/>
          </p:nvSpPr>
          <p:spPr>
            <a:xfrm>
              <a:off x="2701636" y="5791200"/>
              <a:ext cx="3491346" cy="332509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62114E6-C1BD-DF1D-AE8C-6928F876EC1A}"/>
                </a:ext>
              </a:extLst>
            </p:cNvPr>
            <p:cNvSpPr/>
            <p:nvPr/>
          </p:nvSpPr>
          <p:spPr>
            <a:xfrm>
              <a:off x="2715489" y="3972790"/>
              <a:ext cx="3491346" cy="332509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Up-Down Arrow 4">
              <a:extLst>
                <a:ext uri="{FF2B5EF4-FFF2-40B4-BE49-F238E27FC236}">
                  <a16:creationId xmlns:a16="http://schemas.microsoft.com/office/drawing/2014/main" id="{B62A23BD-B3BA-B615-E9F4-DD830A8B80E7}"/>
                </a:ext>
              </a:extLst>
            </p:cNvPr>
            <p:cNvSpPr/>
            <p:nvPr/>
          </p:nvSpPr>
          <p:spPr>
            <a:xfrm>
              <a:off x="4419600" y="4350327"/>
              <a:ext cx="290946" cy="1427018"/>
            </a:xfrm>
            <a:prstGeom prst="up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D743C76-DBB5-4085-F36E-20987B5CAB32}"/>
                </a:ext>
              </a:extLst>
            </p:cNvPr>
            <p:cNvSpPr txBox="1"/>
            <p:nvPr/>
          </p:nvSpPr>
          <p:spPr>
            <a:xfrm>
              <a:off x="4031673" y="4738255"/>
              <a:ext cx="106606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241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EE05-B8EE-5347-7C92-90D47A49B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9448-D4A0-3028-EF2C-9D93A7495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1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Longest Prefix </a:t>
            </a:r>
            <a:r>
              <a:rPr lang="en-US" altLang="zh-CN" sz="4800" dirty="0"/>
              <a:t>M</a:t>
            </a:r>
            <a:r>
              <a:rPr lang="en-US" sz="4800" dirty="0"/>
              <a:t>atching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DF3F79EE-DEA7-A3F3-5FEA-DBE27F626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65" y="833038"/>
            <a:ext cx="1175206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Instead of using explicit ranges, use </a:t>
            </a:r>
            <a:r>
              <a:rPr lang="en-US" b="1" i="1" dirty="0">
                <a:solidFill>
                  <a:srgbClr val="C00000"/>
                </a:solidFill>
              </a:rPr>
              <a:t>longest address prefix </a:t>
            </a:r>
            <a:r>
              <a:rPr lang="en-US" dirty="0"/>
              <a:t>that matches destination address</a:t>
            </a:r>
          </a:p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multiple prefixes, take the most specific (longest) match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no prefixes, take the default route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there's no default route, drop the packet.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80865D-5C54-304A-C971-AB433812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601" y="3464838"/>
            <a:ext cx="4941530" cy="213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Destination Address Range          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11001000  00010111  00011000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11001000  00010111  00011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otherwise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itchFamily="2" charset="0"/>
                <a:ea typeface="ＭＳ Ｐゴシック" panose="020B0600070205080204" pitchFamily="34" charset="-128"/>
                <a:cs typeface="+mn-cs"/>
              </a:rPr>
              <a:t>           </a:t>
            </a: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967A9936-B1CD-349E-F082-A4408053C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214" y="3473174"/>
            <a:ext cx="7459662" cy="2106613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Line 25">
            <a:extLst>
              <a:ext uri="{FF2B5EF4-FFF2-40B4-BE49-F238E27FC236}">
                <a16:creationId xmlns:a16="http://schemas.microsoft.com/office/drawing/2014/main" id="{FD7EFCC2-B691-CF3A-D1AE-BBA7FCB2D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5214" y="3908149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26">
            <a:extLst>
              <a:ext uri="{FF2B5EF4-FFF2-40B4-BE49-F238E27FC236}">
                <a16:creationId xmlns:a16="http://schemas.microsoft.com/office/drawing/2014/main" id="{611A8037-1277-E1A9-8F81-8F36101C9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76" y="4338362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27">
            <a:extLst>
              <a:ext uri="{FF2B5EF4-FFF2-40B4-BE49-F238E27FC236}">
                <a16:creationId xmlns:a16="http://schemas.microsoft.com/office/drawing/2014/main" id="{C42CB02C-7A88-23CF-67C7-4FB82E303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976" y="4757462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ne 28">
            <a:extLst>
              <a:ext uri="{FF2B5EF4-FFF2-40B4-BE49-F238E27FC236}">
                <a16:creationId xmlns:a16="http://schemas.microsoft.com/office/drawing/2014/main" id="{12655E0E-7A57-23CF-22CA-7EACF069A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801" y="5187674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5DBE81CF-4D37-8833-ADE8-B9104BE95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9371" y="3444875"/>
            <a:ext cx="0" cy="211772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FF997C2F-33DF-680C-090C-5309859CC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439" y="3416024"/>
            <a:ext cx="154305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Link interface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2613A4A7-ADB6-3876-8534-0E55C5B53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981" y="6281883"/>
            <a:ext cx="55611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11001000  00010111  00011000  10101010 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8BE10120-0C93-7052-372B-3C83F8170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03" y="5882891"/>
            <a:ext cx="1636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ABBFB142-9249-EA23-3F18-2D3BBFD03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060" y="5747609"/>
            <a:ext cx="1908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which interface?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32585153-6F55-2805-113C-32EA97B7E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869" y="6233982"/>
            <a:ext cx="1908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which interface?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67D311-5B55-A1F8-91F4-C07E8BDC55C5}"/>
              </a:ext>
            </a:extLst>
          </p:cNvPr>
          <p:cNvSpPr txBox="1"/>
          <p:nvPr/>
        </p:nvSpPr>
        <p:spPr>
          <a:xfrm>
            <a:off x="6763327" y="40039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39257-8F11-A0D4-8B5A-F24121464F97}"/>
              </a:ext>
            </a:extLst>
          </p:cNvPr>
          <p:cNvSpPr txBox="1"/>
          <p:nvPr/>
        </p:nvSpPr>
        <p:spPr>
          <a:xfrm>
            <a:off x="6089074" y="4005707"/>
            <a:ext cx="59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A9A9FF-6326-9270-F97A-7B1DC8862454}"/>
              </a:ext>
            </a:extLst>
          </p:cNvPr>
          <p:cNvSpPr txBox="1"/>
          <p:nvPr/>
        </p:nvSpPr>
        <p:spPr>
          <a:xfrm>
            <a:off x="6760005" y="48167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2AC319-87FD-5328-084D-B5B04F2D6B25}"/>
              </a:ext>
            </a:extLst>
          </p:cNvPr>
          <p:cNvSpPr txBox="1"/>
          <p:nvPr/>
        </p:nvSpPr>
        <p:spPr>
          <a:xfrm>
            <a:off x="6083018" y="4846641"/>
            <a:ext cx="59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C50298-107C-62B6-012C-9AD5E5981E29}"/>
              </a:ext>
            </a:extLst>
          </p:cNvPr>
          <p:cNvSpPr txBox="1"/>
          <p:nvPr/>
        </p:nvSpPr>
        <p:spPr>
          <a:xfrm>
            <a:off x="6760005" y="44230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171C9063-7466-E4F3-EFBE-DD6809394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165" y="5802809"/>
            <a:ext cx="55611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11001000  00010111  00010110  10100001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37A3CB-52CD-59E7-61F5-41BCD26EA9FD}"/>
              </a:ext>
            </a:extLst>
          </p:cNvPr>
          <p:cNvGrpSpPr/>
          <p:nvPr/>
        </p:nvGrpSpPr>
        <p:grpSpPr>
          <a:xfrm>
            <a:off x="858982" y="3297383"/>
            <a:ext cx="9628910" cy="3560617"/>
            <a:chOff x="858982" y="3297383"/>
            <a:chExt cx="9628910" cy="3560617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C150A3F3-0D5C-E8BC-DB91-9CB6E0C43096}"/>
                </a:ext>
              </a:extLst>
            </p:cNvPr>
            <p:cNvSpPr/>
            <p:nvPr/>
          </p:nvSpPr>
          <p:spPr>
            <a:xfrm>
              <a:off x="858982" y="3297383"/>
              <a:ext cx="9628910" cy="1944054"/>
            </a:xfrm>
            <a:custGeom>
              <a:avLst/>
              <a:gdLst>
                <a:gd name="connsiteX0" fmla="*/ 110837 w 9628909"/>
                <a:gd name="connsiteY0" fmla="*/ 0 h 1136073"/>
                <a:gd name="connsiteX1" fmla="*/ 9628909 w 9628909"/>
                <a:gd name="connsiteY1" fmla="*/ 13854 h 1136073"/>
                <a:gd name="connsiteX2" fmla="*/ 9628909 w 9628909"/>
                <a:gd name="connsiteY2" fmla="*/ 1122218 h 1136073"/>
                <a:gd name="connsiteX3" fmla="*/ 5334000 w 9628909"/>
                <a:gd name="connsiteY3" fmla="*/ 1136073 h 1136073"/>
                <a:gd name="connsiteX4" fmla="*/ 5320146 w 9628909"/>
                <a:gd name="connsiteY4" fmla="*/ 651163 h 1136073"/>
                <a:gd name="connsiteX5" fmla="*/ 1856509 w 9628909"/>
                <a:gd name="connsiteY5" fmla="*/ 651163 h 1136073"/>
                <a:gd name="connsiteX6" fmla="*/ 1870364 w 9628909"/>
                <a:gd name="connsiteY6" fmla="*/ 1122218 h 1136073"/>
                <a:gd name="connsiteX7" fmla="*/ 0 w 9628909"/>
                <a:gd name="connsiteY7" fmla="*/ 1080654 h 1136073"/>
                <a:gd name="connsiteX8" fmla="*/ 110837 w 9628909"/>
                <a:gd name="connsiteY8" fmla="*/ 0 h 1136073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20146 w 9628909"/>
                <a:gd name="connsiteY4" fmla="*/ 651163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75564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731818"/>
                <a:gd name="connsiteX1" fmla="*/ 9628909 w 9628909"/>
                <a:gd name="connsiteY1" fmla="*/ 13854 h 1731818"/>
                <a:gd name="connsiteX2" fmla="*/ 9628909 w 9628909"/>
                <a:gd name="connsiteY2" fmla="*/ 1122218 h 1731818"/>
                <a:gd name="connsiteX3" fmla="*/ 5389418 w 9628909"/>
                <a:gd name="connsiteY3" fmla="*/ 1108364 h 1731818"/>
                <a:gd name="connsiteX4" fmla="*/ 5375564 w 9628909"/>
                <a:gd name="connsiteY4" fmla="*/ 665017 h 1731818"/>
                <a:gd name="connsiteX5" fmla="*/ 1856509 w 9628909"/>
                <a:gd name="connsiteY5" fmla="*/ 651163 h 1731818"/>
                <a:gd name="connsiteX6" fmla="*/ 1828801 w 9628909"/>
                <a:gd name="connsiteY6" fmla="*/ 1731818 h 1731818"/>
                <a:gd name="connsiteX7" fmla="*/ 0 w 9628909"/>
                <a:gd name="connsiteY7" fmla="*/ 1080654 h 1731818"/>
                <a:gd name="connsiteX8" fmla="*/ 110837 w 9628909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108364 h 1731818"/>
                <a:gd name="connsiteX4" fmla="*/ 5264727 w 9518072"/>
                <a:gd name="connsiteY4" fmla="*/ 665017 h 1731818"/>
                <a:gd name="connsiteX5" fmla="*/ 1745672 w 9518072"/>
                <a:gd name="connsiteY5" fmla="*/ 651163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264727 w 9518072"/>
                <a:gd name="connsiteY4" fmla="*/ 665017 h 1731818"/>
                <a:gd name="connsiteX5" fmla="*/ 1745672 w 9518072"/>
                <a:gd name="connsiteY5" fmla="*/ 651163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264727 w 9518072"/>
                <a:gd name="connsiteY4" fmla="*/ 1482435 h 1731818"/>
                <a:gd name="connsiteX5" fmla="*/ 1745672 w 9518072"/>
                <a:gd name="connsiteY5" fmla="*/ 651163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264727 w 9518072"/>
                <a:gd name="connsiteY4" fmla="*/ 1482435 h 1731818"/>
                <a:gd name="connsiteX5" fmla="*/ 1759526 w 9518072"/>
                <a:gd name="connsiteY5" fmla="*/ 1482436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306291 w 9518072"/>
                <a:gd name="connsiteY4" fmla="*/ 1510144 h 1731818"/>
                <a:gd name="connsiteX5" fmla="*/ 1759526 w 9518072"/>
                <a:gd name="connsiteY5" fmla="*/ 1482436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31927"/>
                <a:gd name="connsiteY0" fmla="*/ 0 h 1925782"/>
                <a:gd name="connsiteX1" fmla="*/ 9518072 w 9531927"/>
                <a:gd name="connsiteY1" fmla="*/ 13854 h 1925782"/>
                <a:gd name="connsiteX2" fmla="*/ 9531927 w 9531927"/>
                <a:gd name="connsiteY2" fmla="*/ 1925782 h 1925782"/>
                <a:gd name="connsiteX3" fmla="*/ 5278581 w 9531927"/>
                <a:gd name="connsiteY3" fmla="*/ 1662545 h 1925782"/>
                <a:gd name="connsiteX4" fmla="*/ 5306291 w 9531927"/>
                <a:gd name="connsiteY4" fmla="*/ 1510144 h 1925782"/>
                <a:gd name="connsiteX5" fmla="*/ 1759526 w 9531927"/>
                <a:gd name="connsiteY5" fmla="*/ 1482436 h 1925782"/>
                <a:gd name="connsiteX6" fmla="*/ 1717964 w 9531927"/>
                <a:gd name="connsiteY6" fmla="*/ 1731818 h 1925782"/>
                <a:gd name="connsiteX7" fmla="*/ 152399 w 9531927"/>
                <a:gd name="connsiteY7" fmla="*/ 1634836 h 1925782"/>
                <a:gd name="connsiteX8" fmla="*/ 0 w 9531927"/>
                <a:gd name="connsiteY8" fmla="*/ 0 h 1925782"/>
                <a:gd name="connsiteX0" fmla="*/ 0 w 9531927"/>
                <a:gd name="connsiteY0" fmla="*/ 0 h 1939636"/>
                <a:gd name="connsiteX1" fmla="*/ 9518072 w 9531927"/>
                <a:gd name="connsiteY1" fmla="*/ 13854 h 1939636"/>
                <a:gd name="connsiteX2" fmla="*/ 9531927 w 9531927"/>
                <a:gd name="connsiteY2" fmla="*/ 1925782 h 1939636"/>
                <a:gd name="connsiteX3" fmla="*/ 5292436 w 9531927"/>
                <a:gd name="connsiteY3" fmla="*/ 1939636 h 1939636"/>
                <a:gd name="connsiteX4" fmla="*/ 5306291 w 9531927"/>
                <a:gd name="connsiteY4" fmla="*/ 1510144 h 1939636"/>
                <a:gd name="connsiteX5" fmla="*/ 1759526 w 9531927"/>
                <a:gd name="connsiteY5" fmla="*/ 1482436 h 1939636"/>
                <a:gd name="connsiteX6" fmla="*/ 1717964 w 9531927"/>
                <a:gd name="connsiteY6" fmla="*/ 1731818 h 1939636"/>
                <a:gd name="connsiteX7" fmla="*/ 152399 w 9531927"/>
                <a:gd name="connsiteY7" fmla="*/ 1634836 h 1939636"/>
                <a:gd name="connsiteX8" fmla="*/ 0 w 9531927"/>
                <a:gd name="connsiteY8" fmla="*/ 0 h 1939636"/>
                <a:gd name="connsiteX0" fmla="*/ 0 w 9531927"/>
                <a:gd name="connsiteY0" fmla="*/ 0 h 1939637"/>
                <a:gd name="connsiteX1" fmla="*/ 9518072 w 9531927"/>
                <a:gd name="connsiteY1" fmla="*/ 13854 h 1939637"/>
                <a:gd name="connsiteX2" fmla="*/ 9531927 w 9531927"/>
                <a:gd name="connsiteY2" fmla="*/ 1925782 h 1939637"/>
                <a:gd name="connsiteX3" fmla="*/ 5292436 w 9531927"/>
                <a:gd name="connsiteY3" fmla="*/ 1939636 h 1939637"/>
                <a:gd name="connsiteX4" fmla="*/ 5306291 w 9531927"/>
                <a:gd name="connsiteY4" fmla="*/ 1510144 h 1939637"/>
                <a:gd name="connsiteX5" fmla="*/ 1759526 w 9531927"/>
                <a:gd name="connsiteY5" fmla="*/ 1482436 h 1939637"/>
                <a:gd name="connsiteX6" fmla="*/ 1704109 w 9531927"/>
                <a:gd name="connsiteY6" fmla="*/ 1939637 h 1939637"/>
                <a:gd name="connsiteX7" fmla="*/ 152399 w 9531927"/>
                <a:gd name="connsiteY7" fmla="*/ 1634836 h 1939637"/>
                <a:gd name="connsiteX8" fmla="*/ 0 w 9531927"/>
                <a:gd name="connsiteY8" fmla="*/ 0 h 1939637"/>
                <a:gd name="connsiteX0" fmla="*/ 96983 w 9628910"/>
                <a:gd name="connsiteY0" fmla="*/ 0 h 1939637"/>
                <a:gd name="connsiteX1" fmla="*/ 9615055 w 9628910"/>
                <a:gd name="connsiteY1" fmla="*/ 13854 h 1939637"/>
                <a:gd name="connsiteX2" fmla="*/ 9628910 w 9628910"/>
                <a:gd name="connsiteY2" fmla="*/ 1925782 h 1939637"/>
                <a:gd name="connsiteX3" fmla="*/ 5389419 w 9628910"/>
                <a:gd name="connsiteY3" fmla="*/ 1939636 h 1939637"/>
                <a:gd name="connsiteX4" fmla="*/ 5403274 w 9628910"/>
                <a:gd name="connsiteY4" fmla="*/ 1510144 h 1939637"/>
                <a:gd name="connsiteX5" fmla="*/ 1856509 w 9628910"/>
                <a:gd name="connsiteY5" fmla="*/ 1482436 h 1939637"/>
                <a:gd name="connsiteX6" fmla="*/ 1801092 w 9628910"/>
                <a:gd name="connsiteY6" fmla="*/ 1939637 h 1939637"/>
                <a:gd name="connsiteX7" fmla="*/ 0 w 9628910"/>
                <a:gd name="connsiteY7" fmla="*/ 1884218 h 1939637"/>
                <a:gd name="connsiteX8" fmla="*/ 96983 w 9628910"/>
                <a:gd name="connsiteY8" fmla="*/ 0 h 1939637"/>
                <a:gd name="connsiteX0" fmla="*/ 96983 w 9628910"/>
                <a:gd name="connsiteY0" fmla="*/ 0 h 1944054"/>
                <a:gd name="connsiteX1" fmla="*/ 9615055 w 9628910"/>
                <a:gd name="connsiteY1" fmla="*/ 13854 h 1944054"/>
                <a:gd name="connsiteX2" fmla="*/ 9628910 w 9628910"/>
                <a:gd name="connsiteY2" fmla="*/ 1925782 h 1944054"/>
                <a:gd name="connsiteX3" fmla="*/ 5349662 w 9628910"/>
                <a:gd name="connsiteY3" fmla="*/ 1944054 h 1944054"/>
                <a:gd name="connsiteX4" fmla="*/ 5403274 w 9628910"/>
                <a:gd name="connsiteY4" fmla="*/ 1510144 h 1944054"/>
                <a:gd name="connsiteX5" fmla="*/ 1856509 w 9628910"/>
                <a:gd name="connsiteY5" fmla="*/ 1482436 h 1944054"/>
                <a:gd name="connsiteX6" fmla="*/ 1801092 w 9628910"/>
                <a:gd name="connsiteY6" fmla="*/ 1939637 h 1944054"/>
                <a:gd name="connsiteX7" fmla="*/ 0 w 9628910"/>
                <a:gd name="connsiteY7" fmla="*/ 1884218 h 1944054"/>
                <a:gd name="connsiteX8" fmla="*/ 96983 w 9628910"/>
                <a:gd name="connsiteY8" fmla="*/ 0 h 1944054"/>
                <a:gd name="connsiteX0" fmla="*/ 96983 w 9628910"/>
                <a:gd name="connsiteY0" fmla="*/ 0 h 1944054"/>
                <a:gd name="connsiteX1" fmla="*/ 9615055 w 9628910"/>
                <a:gd name="connsiteY1" fmla="*/ 13854 h 1944054"/>
                <a:gd name="connsiteX2" fmla="*/ 9628910 w 9628910"/>
                <a:gd name="connsiteY2" fmla="*/ 1925782 h 1944054"/>
                <a:gd name="connsiteX3" fmla="*/ 5349662 w 9628910"/>
                <a:gd name="connsiteY3" fmla="*/ 1944054 h 1944054"/>
                <a:gd name="connsiteX4" fmla="*/ 5341431 w 9628910"/>
                <a:gd name="connsiteY4" fmla="*/ 1505726 h 1944054"/>
                <a:gd name="connsiteX5" fmla="*/ 1856509 w 9628910"/>
                <a:gd name="connsiteY5" fmla="*/ 1482436 h 1944054"/>
                <a:gd name="connsiteX6" fmla="*/ 1801092 w 9628910"/>
                <a:gd name="connsiteY6" fmla="*/ 1939637 h 1944054"/>
                <a:gd name="connsiteX7" fmla="*/ 0 w 9628910"/>
                <a:gd name="connsiteY7" fmla="*/ 1884218 h 1944054"/>
                <a:gd name="connsiteX8" fmla="*/ 96983 w 9628910"/>
                <a:gd name="connsiteY8" fmla="*/ 0 h 194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28910" h="1944054">
                  <a:moveTo>
                    <a:pt x="96983" y="0"/>
                  </a:moveTo>
                  <a:lnTo>
                    <a:pt x="9615055" y="13854"/>
                  </a:lnTo>
                  <a:lnTo>
                    <a:pt x="9628910" y="1925782"/>
                  </a:lnTo>
                  <a:lnTo>
                    <a:pt x="5349662" y="1944054"/>
                  </a:lnTo>
                  <a:lnTo>
                    <a:pt x="5341431" y="1505726"/>
                  </a:lnTo>
                  <a:lnTo>
                    <a:pt x="1856509" y="1482436"/>
                  </a:lnTo>
                  <a:lnTo>
                    <a:pt x="1801092" y="1939637"/>
                  </a:lnTo>
                  <a:lnTo>
                    <a:pt x="0" y="1884218"/>
                  </a:lnTo>
                  <a:lnTo>
                    <a:pt x="96983" y="0"/>
                  </a:lnTo>
                  <a:close/>
                </a:path>
              </a:pathLst>
            </a:custGeom>
            <a:solidFill>
              <a:schemeClr val="bg1"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E781A5F-5843-72B1-816A-F2088954FEE8}"/>
                </a:ext>
              </a:extLst>
            </p:cNvPr>
            <p:cNvSpPr/>
            <p:nvPr/>
          </p:nvSpPr>
          <p:spPr>
            <a:xfrm>
              <a:off x="2299855" y="5112326"/>
              <a:ext cx="8118764" cy="1052948"/>
            </a:xfrm>
            <a:prstGeom prst="rect">
              <a:avLst/>
            </a:prstGeom>
            <a:solidFill>
              <a:schemeClr val="bg1"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4490BFCC-DE2C-1D18-2856-BB3B8578ED2B}"/>
                </a:ext>
              </a:extLst>
            </p:cNvPr>
            <p:cNvSpPr/>
            <p:nvPr/>
          </p:nvSpPr>
          <p:spPr>
            <a:xfrm flipV="1">
              <a:off x="900546" y="5915892"/>
              <a:ext cx="9531927" cy="942108"/>
            </a:xfrm>
            <a:custGeom>
              <a:avLst/>
              <a:gdLst>
                <a:gd name="connsiteX0" fmla="*/ 110837 w 9628909"/>
                <a:gd name="connsiteY0" fmla="*/ 0 h 1136073"/>
                <a:gd name="connsiteX1" fmla="*/ 9628909 w 9628909"/>
                <a:gd name="connsiteY1" fmla="*/ 13854 h 1136073"/>
                <a:gd name="connsiteX2" fmla="*/ 9628909 w 9628909"/>
                <a:gd name="connsiteY2" fmla="*/ 1122218 h 1136073"/>
                <a:gd name="connsiteX3" fmla="*/ 5334000 w 9628909"/>
                <a:gd name="connsiteY3" fmla="*/ 1136073 h 1136073"/>
                <a:gd name="connsiteX4" fmla="*/ 5320146 w 9628909"/>
                <a:gd name="connsiteY4" fmla="*/ 651163 h 1136073"/>
                <a:gd name="connsiteX5" fmla="*/ 1856509 w 9628909"/>
                <a:gd name="connsiteY5" fmla="*/ 651163 h 1136073"/>
                <a:gd name="connsiteX6" fmla="*/ 1870364 w 9628909"/>
                <a:gd name="connsiteY6" fmla="*/ 1122218 h 1136073"/>
                <a:gd name="connsiteX7" fmla="*/ 0 w 9628909"/>
                <a:gd name="connsiteY7" fmla="*/ 1080654 h 1136073"/>
                <a:gd name="connsiteX8" fmla="*/ 110837 w 9628909"/>
                <a:gd name="connsiteY8" fmla="*/ 0 h 1136073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20146 w 9628909"/>
                <a:gd name="connsiteY4" fmla="*/ 651163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75564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417128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417128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417128 w 9628909"/>
                <a:gd name="connsiteY4" fmla="*/ 6650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430982 w 9628909"/>
                <a:gd name="connsiteY4" fmla="*/ 2078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17127 w 9628909"/>
                <a:gd name="connsiteY3" fmla="*/ 692728 h 1122218"/>
                <a:gd name="connsiteX4" fmla="*/ 5430982 w 9628909"/>
                <a:gd name="connsiteY4" fmla="*/ 2078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665018 h 1122218"/>
                <a:gd name="connsiteX3" fmla="*/ 5417127 w 9628909"/>
                <a:gd name="connsiteY3" fmla="*/ 692728 h 1122218"/>
                <a:gd name="connsiteX4" fmla="*/ 5430982 w 9628909"/>
                <a:gd name="connsiteY4" fmla="*/ 2078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080654"/>
                <a:gd name="connsiteX1" fmla="*/ 9628909 w 9628909"/>
                <a:gd name="connsiteY1" fmla="*/ 13854 h 1080654"/>
                <a:gd name="connsiteX2" fmla="*/ 9628909 w 9628909"/>
                <a:gd name="connsiteY2" fmla="*/ 665018 h 1080654"/>
                <a:gd name="connsiteX3" fmla="*/ 5417127 w 9628909"/>
                <a:gd name="connsiteY3" fmla="*/ 692728 h 1080654"/>
                <a:gd name="connsiteX4" fmla="*/ 5430982 w 9628909"/>
                <a:gd name="connsiteY4" fmla="*/ 207817 h 1080654"/>
                <a:gd name="connsiteX5" fmla="*/ 1884218 w 9628909"/>
                <a:gd name="connsiteY5" fmla="*/ 138545 h 1080654"/>
                <a:gd name="connsiteX6" fmla="*/ 1884219 w 9628909"/>
                <a:gd name="connsiteY6" fmla="*/ 665018 h 1080654"/>
                <a:gd name="connsiteX7" fmla="*/ 0 w 9628909"/>
                <a:gd name="connsiteY7" fmla="*/ 1080654 h 1080654"/>
                <a:gd name="connsiteX8" fmla="*/ 110837 w 9628909"/>
                <a:gd name="connsiteY8" fmla="*/ 0 h 1080654"/>
                <a:gd name="connsiteX0" fmla="*/ 69274 w 9587346"/>
                <a:gd name="connsiteY0" fmla="*/ 0 h 692728"/>
                <a:gd name="connsiteX1" fmla="*/ 9587346 w 9587346"/>
                <a:gd name="connsiteY1" fmla="*/ 13854 h 692728"/>
                <a:gd name="connsiteX2" fmla="*/ 9587346 w 9587346"/>
                <a:gd name="connsiteY2" fmla="*/ 665018 h 692728"/>
                <a:gd name="connsiteX3" fmla="*/ 5375564 w 9587346"/>
                <a:gd name="connsiteY3" fmla="*/ 692728 h 692728"/>
                <a:gd name="connsiteX4" fmla="*/ 5389419 w 9587346"/>
                <a:gd name="connsiteY4" fmla="*/ 207817 h 692728"/>
                <a:gd name="connsiteX5" fmla="*/ 1842655 w 9587346"/>
                <a:gd name="connsiteY5" fmla="*/ 138545 h 692728"/>
                <a:gd name="connsiteX6" fmla="*/ 1842656 w 9587346"/>
                <a:gd name="connsiteY6" fmla="*/ 665018 h 692728"/>
                <a:gd name="connsiteX7" fmla="*/ 0 w 9587346"/>
                <a:gd name="connsiteY7" fmla="*/ 526472 h 692728"/>
                <a:gd name="connsiteX8" fmla="*/ 69274 w 9587346"/>
                <a:gd name="connsiteY8" fmla="*/ 0 h 69272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87236 w 9531927"/>
                <a:gd name="connsiteY5" fmla="*/ 138545 h 942108"/>
                <a:gd name="connsiteX6" fmla="*/ 1787237 w 9531927"/>
                <a:gd name="connsiteY6" fmla="*/ 665018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87236 w 9531927"/>
                <a:gd name="connsiteY5" fmla="*/ 138545 h 942108"/>
                <a:gd name="connsiteX6" fmla="*/ 1759528 w 9531927"/>
                <a:gd name="connsiteY6" fmla="*/ 748145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87236 w 9531927"/>
                <a:gd name="connsiteY5" fmla="*/ 138545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289224 w 9531927"/>
                <a:gd name="connsiteY3" fmla="*/ 652972 h 942108"/>
                <a:gd name="connsiteX4" fmla="*/ 5334000 w 9531927"/>
                <a:gd name="connsiteY4" fmla="*/ 207817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289224 w 9531927"/>
                <a:gd name="connsiteY3" fmla="*/ 652972 h 942108"/>
                <a:gd name="connsiteX4" fmla="*/ 5298661 w 9531927"/>
                <a:gd name="connsiteY4" fmla="*/ 198982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1927" h="942108">
                  <a:moveTo>
                    <a:pt x="13855" y="0"/>
                  </a:moveTo>
                  <a:lnTo>
                    <a:pt x="9531927" y="13854"/>
                  </a:lnTo>
                  <a:lnTo>
                    <a:pt x="9531927" y="665018"/>
                  </a:lnTo>
                  <a:lnTo>
                    <a:pt x="5289224" y="652972"/>
                  </a:lnTo>
                  <a:lnTo>
                    <a:pt x="5298661" y="198982"/>
                  </a:lnTo>
                  <a:lnTo>
                    <a:pt x="1717964" y="221672"/>
                  </a:lnTo>
                  <a:cubicBezTo>
                    <a:pt x="1717964" y="397163"/>
                    <a:pt x="1759528" y="711200"/>
                    <a:pt x="1759528" y="886691"/>
                  </a:cubicBezTo>
                  <a:lnTo>
                    <a:pt x="0" y="9421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985DE11-FFBA-AA0C-2FA5-38F86650362B}"/>
              </a:ext>
            </a:extLst>
          </p:cNvPr>
          <p:cNvGrpSpPr/>
          <p:nvPr/>
        </p:nvGrpSpPr>
        <p:grpSpPr>
          <a:xfrm>
            <a:off x="2701636" y="4804081"/>
            <a:ext cx="3505199" cy="1804550"/>
            <a:chOff x="2701636" y="4319159"/>
            <a:chExt cx="3505199" cy="180455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4CB5AE0-CE53-593E-EE6C-467A8DF9BA96}"/>
                </a:ext>
              </a:extLst>
            </p:cNvPr>
            <p:cNvSpPr/>
            <p:nvPr/>
          </p:nvSpPr>
          <p:spPr>
            <a:xfrm>
              <a:off x="2701636" y="5791200"/>
              <a:ext cx="3491346" cy="332509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20DAB22-D0E5-A6B6-3898-7418D85A0EB0}"/>
                </a:ext>
              </a:extLst>
            </p:cNvPr>
            <p:cNvSpPr/>
            <p:nvPr/>
          </p:nvSpPr>
          <p:spPr>
            <a:xfrm>
              <a:off x="2715489" y="4319159"/>
              <a:ext cx="3491346" cy="332509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Up-Down Arrow 4">
              <a:extLst>
                <a:ext uri="{FF2B5EF4-FFF2-40B4-BE49-F238E27FC236}">
                  <a16:creationId xmlns:a16="http://schemas.microsoft.com/office/drawing/2014/main" id="{FF6798FA-9F9F-70EA-FE85-DB64AEA79322}"/>
                </a:ext>
              </a:extLst>
            </p:cNvPr>
            <p:cNvSpPr/>
            <p:nvPr/>
          </p:nvSpPr>
          <p:spPr>
            <a:xfrm>
              <a:off x="4419600" y="4682823"/>
              <a:ext cx="290945" cy="1094521"/>
            </a:xfrm>
            <a:prstGeom prst="up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E2A874A-5FA9-941A-B174-A86C05982C4F}"/>
                </a:ext>
              </a:extLst>
            </p:cNvPr>
            <p:cNvSpPr txBox="1"/>
            <p:nvPr/>
          </p:nvSpPr>
          <p:spPr>
            <a:xfrm>
              <a:off x="4031673" y="5029209"/>
              <a:ext cx="106606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910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37F6-74C9-64C4-5A1B-AB4EF063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73A2-7B99-D5DE-A204-5B2A074A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1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Longest Prefix </a:t>
            </a:r>
            <a:r>
              <a:rPr lang="en-US" altLang="zh-CN" sz="4800" dirty="0"/>
              <a:t>M</a:t>
            </a:r>
            <a:r>
              <a:rPr lang="en-US" sz="4800" dirty="0"/>
              <a:t>atching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2109E756-10E4-6161-BA88-97868DCA3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65" y="833038"/>
            <a:ext cx="1175206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Instead of using explicit ranges, use </a:t>
            </a:r>
            <a:r>
              <a:rPr lang="en-US" b="1" i="1" dirty="0">
                <a:solidFill>
                  <a:srgbClr val="C00000"/>
                </a:solidFill>
              </a:rPr>
              <a:t>longest address prefix </a:t>
            </a:r>
            <a:r>
              <a:rPr lang="en-US" dirty="0"/>
              <a:t>that matches destination address</a:t>
            </a:r>
          </a:p>
          <a:p>
            <a:pPr marL="571500" lvl="0" indent="-4572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multiple prefixes, take the most specific (longest) match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 address matches no prefixes, take the default route</a:t>
            </a:r>
          </a:p>
          <a:p>
            <a:pPr marL="571500" lvl="0" indent="-4572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If there's no default route, drop the packet.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9382BA-AD8E-D7EB-5178-FCD483FE1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601" y="3464838"/>
            <a:ext cx="4941530" cy="2131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Destination Address Range                       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11001000  00010111  00011000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11001000  00010111  00011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otherwise 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itchFamily="2" charset="0"/>
                <a:ea typeface="ＭＳ Ｐゴシック" panose="020B0600070205080204" pitchFamily="34" charset="-128"/>
                <a:cs typeface="+mn-cs"/>
              </a:rPr>
              <a:t>           </a:t>
            </a: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5D9F04FB-D9E5-35EB-6DB5-B2D0CA5B2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5214" y="3473174"/>
            <a:ext cx="7459662" cy="2106613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Line 25">
            <a:extLst>
              <a:ext uri="{FF2B5EF4-FFF2-40B4-BE49-F238E27FC236}">
                <a16:creationId xmlns:a16="http://schemas.microsoft.com/office/drawing/2014/main" id="{D22D32B4-BA60-2E8E-D514-B2F95A700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5214" y="3908149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26">
            <a:extLst>
              <a:ext uri="{FF2B5EF4-FFF2-40B4-BE49-F238E27FC236}">
                <a16:creationId xmlns:a16="http://schemas.microsoft.com/office/drawing/2014/main" id="{2349BEF9-4D20-32B7-A23F-010906978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376" y="4338362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27">
            <a:extLst>
              <a:ext uri="{FF2B5EF4-FFF2-40B4-BE49-F238E27FC236}">
                <a16:creationId xmlns:a16="http://schemas.microsoft.com/office/drawing/2014/main" id="{9706E857-EE30-CF7A-B7D4-7DF91109B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976" y="4757462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ne 28">
            <a:extLst>
              <a:ext uri="{FF2B5EF4-FFF2-40B4-BE49-F238E27FC236}">
                <a16:creationId xmlns:a16="http://schemas.microsoft.com/office/drawing/2014/main" id="{E4AF0663-226D-8E15-B146-421AABC06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801" y="5187674"/>
            <a:ext cx="744855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F52C9E98-3507-2555-695E-EDFD6FD3F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9371" y="3444875"/>
            <a:ext cx="0" cy="2117725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2C39D8DC-FA81-739E-ED9B-BBD806395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8439" y="3416024"/>
            <a:ext cx="154305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Link interface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2F07757C-3441-6A15-199E-B57D1129C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981" y="6281883"/>
            <a:ext cx="55611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11001000  00010111  00011000  10101010 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401FEE3B-D399-F2C1-DF52-26CB11B7B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03" y="5882891"/>
            <a:ext cx="1636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A3FAE40D-AD0A-3F24-9A82-46955AFE0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060" y="5747609"/>
            <a:ext cx="1908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which interface?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E4DF0072-F1CF-C7B1-DA75-B11AE5EEE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869" y="6233982"/>
            <a:ext cx="19089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which interface?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D4358D-5052-DADC-7C1C-B5D2332DE11A}"/>
              </a:ext>
            </a:extLst>
          </p:cNvPr>
          <p:cNvSpPr txBox="1"/>
          <p:nvPr/>
        </p:nvSpPr>
        <p:spPr>
          <a:xfrm>
            <a:off x="6763327" y="40039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EEFF0-6A75-EB5F-CE1C-D631C2F38812}"/>
              </a:ext>
            </a:extLst>
          </p:cNvPr>
          <p:cNvSpPr txBox="1"/>
          <p:nvPr/>
        </p:nvSpPr>
        <p:spPr>
          <a:xfrm>
            <a:off x="6089074" y="4005707"/>
            <a:ext cx="59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1BED6-D9AE-9F0F-8C94-DD83078D7671}"/>
              </a:ext>
            </a:extLst>
          </p:cNvPr>
          <p:cNvSpPr txBox="1"/>
          <p:nvPr/>
        </p:nvSpPr>
        <p:spPr>
          <a:xfrm>
            <a:off x="6760005" y="48167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977FAB-24DF-2DD1-EF65-B5E8BCA20103}"/>
              </a:ext>
            </a:extLst>
          </p:cNvPr>
          <p:cNvSpPr txBox="1"/>
          <p:nvPr/>
        </p:nvSpPr>
        <p:spPr>
          <a:xfrm>
            <a:off x="6083018" y="4846641"/>
            <a:ext cx="595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92AD88-E34E-3A5B-32F5-930D6DE49FA1}"/>
              </a:ext>
            </a:extLst>
          </p:cNvPr>
          <p:cNvSpPr txBox="1"/>
          <p:nvPr/>
        </p:nvSpPr>
        <p:spPr>
          <a:xfrm>
            <a:off x="6760005" y="4423065"/>
            <a:ext cx="174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********</a:t>
            </a: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86F7A8FD-C858-CDCC-3B02-F476C0AD8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165" y="5802809"/>
            <a:ext cx="55611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11001000  00010111  00010110  10100001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9DFA3D5-425E-AA2A-2BAD-E3A62DE713C2}"/>
              </a:ext>
            </a:extLst>
          </p:cNvPr>
          <p:cNvGrpSpPr/>
          <p:nvPr/>
        </p:nvGrpSpPr>
        <p:grpSpPr>
          <a:xfrm>
            <a:off x="858981" y="3297382"/>
            <a:ext cx="9615055" cy="3560618"/>
            <a:chOff x="858981" y="3297382"/>
            <a:chExt cx="9615055" cy="3560618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EB1426E4-B655-A059-5567-B900A4E160CA}"/>
                </a:ext>
              </a:extLst>
            </p:cNvPr>
            <p:cNvSpPr/>
            <p:nvPr/>
          </p:nvSpPr>
          <p:spPr>
            <a:xfrm>
              <a:off x="858981" y="3297382"/>
              <a:ext cx="9615055" cy="1884218"/>
            </a:xfrm>
            <a:custGeom>
              <a:avLst/>
              <a:gdLst>
                <a:gd name="connsiteX0" fmla="*/ 110837 w 9628909"/>
                <a:gd name="connsiteY0" fmla="*/ 0 h 1136073"/>
                <a:gd name="connsiteX1" fmla="*/ 9628909 w 9628909"/>
                <a:gd name="connsiteY1" fmla="*/ 13854 h 1136073"/>
                <a:gd name="connsiteX2" fmla="*/ 9628909 w 9628909"/>
                <a:gd name="connsiteY2" fmla="*/ 1122218 h 1136073"/>
                <a:gd name="connsiteX3" fmla="*/ 5334000 w 9628909"/>
                <a:gd name="connsiteY3" fmla="*/ 1136073 h 1136073"/>
                <a:gd name="connsiteX4" fmla="*/ 5320146 w 9628909"/>
                <a:gd name="connsiteY4" fmla="*/ 651163 h 1136073"/>
                <a:gd name="connsiteX5" fmla="*/ 1856509 w 9628909"/>
                <a:gd name="connsiteY5" fmla="*/ 651163 h 1136073"/>
                <a:gd name="connsiteX6" fmla="*/ 1870364 w 9628909"/>
                <a:gd name="connsiteY6" fmla="*/ 1122218 h 1136073"/>
                <a:gd name="connsiteX7" fmla="*/ 0 w 9628909"/>
                <a:gd name="connsiteY7" fmla="*/ 1080654 h 1136073"/>
                <a:gd name="connsiteX8" fmla="*/ 110837 w 9628909"/>
                <a:gd name="connsiteY8" fmla="*/ 0 h 1136073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20146 w 9628909"/>
                <a:gd name="connsiteY4" fmla="*/ 651163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75564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731818"/>
                <a:gd name="connsiteX1" fmla="*/ 9628909 w 9628909"/>
                <a:gd name="connsiteY1" fmla="*/ 13854 h 1731818"/>
                <a:gd name="connsiteX2" fmla="*/ 9628909 w 9628909"/>
                <a:gd name="connsiteY2" fmla="*/ 1122218 h 1731818"/>
                <a:gd name="connsiteX3" fmla="*/ 5389418 w 9628909"/>
                <a:gd name="connsiteY3" fmla="*/ 1108364 h 1731818"/>
                <a:gd name="connsiteX4" fmla="*/ 5375564 w 9628909"/>
                <a:gd name="connsiteY4" fmla="*/ 665017 h 1731818"/>
                <a:gd name="connsiteX5" fmla="*/ 1856509 w 9628909"/>
                <a:gd name="connsiteY5" fmla="*/ 651163 h 1731818"/>
                <a:gd name="connsiteX6" fmla="*/ 1828801 w 9628909"/>
                <a:gd name="connsiteY6" fmla="*/ 1731818 h 1731818"/>
                <a:gd name="connsiteX7" fmla="*/ 0 w 9628909"/>
                <a:gd name="connsiteY7" fmla="*/ 1080654 h 1731818"/>
                <a:gd name="connsiteX8" fmla="*/ 110837 w 9628909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108364 h 1731818"/>
                <a:gd name="connsiteX4" fmla="*/ 5264727 w 9518072"/>
                <a:gd name="connsiteY4" fmla="*/ 665017 h 1731818"/>
                <a:gd name="connsiteX5" fmla="*/ 1745672 w 9518072"/>
                <a:gd name="connsiteY5" fmla="*/ 651163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264727 w 9518072"/>
                <a:gd name="connsiteY4" fmla="*/ 665017 h 1731818"/>
                <a:gd name="connsiteX5" fmla="*/ 1745672 w 9518072"/>
                <a:gd name="connsiteY5" fmla="*/ 651163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264727 w 9518072"/>
                <a:gd name="connsiteY4" fmla="*/ 1482435 h 1731818"/>
                <a:gd name="connsiteX5" fmla="*/ 1745672 w 9518072"/>
                <a:gd name="connsiteY5" fmla="*/ 651163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264727 w 9518072"/>
                <a:gd name="connsiteY4" fmla="*/ 1482435 h 1731818"/>
                <a:gd name="connsiteX5" fmla="*/ 1759526 w 9518072"/>
                <a:gd name="connsiteY5" fmla="*/ 1482436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18072"/>
                <a:gd name="connsiteY0" fmla="*/ 0 h 1731818"/>
                <a:gd name="connsiteX1" fmla="*/ 9518072 w 9518072"/>
                <a:gd name="connsiteY1" fmla="*/ 13854 h 1731818"/>
                <a:gd name="connsiteX2" fmla="*/ 9518072 w 9518072"/>
                <a:gd name="connsiteY2" fmla="*/ 1122218 h 1731818"/>
                <a:gd name="connsiteX3" fmla="*/ 5278581 w 9518072"/>
                <a:gd name="connsiteY3" fmla="*/ 1662545 h 1731818"/>
                <a:gd name="connsiteX4" fmla="*/ 5306291 w 9518072"/>
                <a:gd name="connsiteY4" fmla="*/ 1510144 h 1731818"/>
                <a:gd name="connsiteX5" fmla="*/ 1759526 w 9518072"/>
                <a:gd name="connsiteY5" fmla="*/ 1482436 h 1731818"/>
                <a:gd name="connsiteX6" fmla="*/ 1717964 w 9518072"/>
                <a:gd name="connsiteY6" fmla="*/ 1731818 h 1731818"/>
                <a:gd name="connsiteX7" fmla="*/ 152399 w 9518072"/>
                <a:gd name="connsiteY7" fmla="*/ 1634836 h 1731818"/>
                <a:gd name="connsiteX8" fmla="*/ 0 w 9518072"/>
                <a:gd name="connsiteY8" fmla="*/ 0 h 1731818"/>
                <a:gd name="connsiteX0" fmla="*/ 0 w 9531927"/>
                <a:gd name="connsiteY0" fmla="*/ 0 h 1925782"/>
                <a:gd name="connsiteX1" fmla="*/ 9518072 w 9531927"/>
                <a:gd name="connsiteY1" fmla="*/ 13854 h 1925782"/>
                <a:gd name="connsiteX2" fmla="*/ 9531927 w 9531927"/>
                <a:gd name="connsiteY2" fmla="*/ 1925782 h 1925782"/>
                <a:gd name="connsiteX3" fmla="*/ 5278581 w 9531927"/>
                <a:gd name="connsiteY3" fmla="*/ 1662545 h 1925782"/>
                <a:gd name="connsiteX4" fmla="*/ 5306291 w 9531927"/>
                <a:gd name="connsiteY4" fmla="*/ 1510144 h 1925782"/>
                <a:gd name="connsiteX5" fmla="*/ 1759526 w 9531927"/>
                <a:gd name="connsiteY5" fmla="*/ 1482436 h 1925782"/>
                <a:gd name="connsiteX6" fmla="*/ 1717964 w 9531927"/>
                <a:gd name="connsiteY6" fmla="*/ 1731818 h 1925782"/>
                <a:gd name="connsiteX7" fmla="*/ 152399 w 9531927"/>
                <a:gd name="connsiteY7" fmla="*/ 1634836 h 1925782"/>
                <a:gd name="connsiteX8" fmla="*/ 0 w 9531927"/>
                <a:gd name="connsiteY8" fmla="*/ 0 h 1925782"/>
                <a:gd name="connsiteX0" fmla="*/ 0 w 9531927"/>
                <a:gd name="connsiteY0" fmla="*/ 0 h 1939636"/>
                <a:gd name="connsiteX1" fmla="*/ 9518072 w 9531927"/>
                <a:gd name="connsiteY1" fmla="*/ 13854 h 1939636"/>
                <a:gd name="connsiteX2" fmla="*/ 9531927 w 9531927"/>
                <a:gd name="connsiteY2" fmla="*/ 1925782 h 1939636"/>
                <a:gd name="connsiteX3" fmla="*/ 5292436 w 9531927"/>
                <a:gd name="connsiteY3" fmla="*/ 1939636 h 1939636"/>
                <a:gd name="connsiteX4" fmla="*/ 5306291 w 9531927"/>
                <a:gd name="connsiteY4" fmla="*/ 1510144 h 1939636"/>
                <a:gd name="connsiteX5" fmla="*/ 1759526 w 9531927"/>
                <a:gd name="connsiteY5" fmla="*/ 1482436 h 1939636"/>
                <a:gd name="connsiteX6" fmla="*/ 1717964 w 9531927"/>
                <a:gd name="connsiteY6" fmla="*/ 1731818 h 1939636"/>
                <a:gd name="connsiteX7" fmla="*/ 152399 w 9531927"/>
                <a:gd name="connsiteY7" fmla="*/ 1634836 h 1939636"/>
                <a:gd name="connsiteX8" fmla="*/ 0 w 9531927"/>
                <a:gd name="connsiteY8" fmla="*/ 0 h 1939636"/>
                <a:gd name="connsiteX0" fmla="*/ 0 w 9531927"/>
                <a:gd name="connsiteY0" fmla="*/ 0 h 1939637"/>
                <a:gd name="connsiteX1" fmla="*/ 9518072 w 9531927"/>
                <a:gd name="connsiteY1" fmla="*/ 13854 h 1939637"/>
                <a:gd name="connsiteX2" fmla="*/ 9531927 w 9531927"/>
                <a:gd name="connsiteY2" fmla="*/ 1925782 h 1939637"/>
                <a:gd name="connsiteX3" fmla="*/ 5292436 w 9531927"/>
                <a:gd name="connsiteY3" fmla="*/ 1939636 h 1939637"/>
                <a:gd name="connsiteX4" fmla="*/ 5306291 w 9531927"/>
                <a:gd name="connsiteY4" fmla="*/ 1510144 h 1939637"/>
                <a:gd name="connsiteX5" fmla="*/ 1759526 w 9531927"/>
                <a:gd name="connsiteY5" fmla="*/ 1482436 h 1939637"/>
                <a:gd name="connsiteX6" fmla="*/ 1704109 w 9531927"/>
                <a:gd name="connsiteY6" fmla="*/ 1939637 h 1939637"/>
                <a:gd name="connsiteX7" fmla="*/ 152399 w 9531927"/>
                <a:gd name="connsiteY7" fmla="*/ 1634836 h 1939637"/>
                <a:gd name="connsiteX8" fmla="*/ 0 w 9531927"/>
                <a:gd name="connsiteY8" fmla="*/ 0 h 1939637"/>
                <a:gd name="connsiteX0" fmla="*/ 96983 w 9628910"/>
                <a:gd name="connsiteY0" fmla="*/ 0 h 1939637"/>
                <a:gd name="connsiteX1" fmla="*/ 9615055 w 9628910"/>
                <a:gd name="connsiteY1" fmla="*/ 13854 h 1939637"/>
                <a:gd name="connsiteX2" fmla="*/ 9628910 w 9628910"/>
                <a:gd name="connsiteY2" fmla="*/ 1925782 h 1939637"/>
                <a:gd name="connsiteX3" fmla="*/ 5389419 w 9628910"/>
                <a:gd name="connsiteY3" fmla="*/ 1939636 h 1939637"/>
                <a:gd name="connsiteX4" fmla="*/ 5403274 w 9628910"/>
                <a:gd name="connsiteY4" fmla="*/ 1510144 h 1939637"/>
                <a:gd name="connsiteX5" fmla="*/ 1856509 w 9628910"/>
                <a:gd name="connsiteY5" fmla="*/ 1482436 h 1939637"/>
                <a:gd name="connsiteX6" fmla="*/ 1801092 w 9628910"/>
                <a:gd name="connsiteY6" fmla="*/ 1939637 h 1939637"/>
                <a:gd name="connsiteX7" fmla="*/ 0 w 9628910"/>
                <a:gd name="connsiteY7" fmla="*/ 1884218 h 1939637"/>
                <a:gd name="connsiteX8" fmla="*/ 96983 w 9628910"/>
                <a:gd name="connsiteY8" fmla="*/ 0 h 1939637"/>
                <a:gd name="connsiteX0" fmla="*/ 96983 w 9628910"/>
                <a:gd name="connsiteY0" fmla="*/ 0 h 1944054"/>
                <a:gd name="connsiteX1" fmla="*/ 9615055 w 9628910"/>
                <a:gd name="connsiteY1" fmla="*/ 13854 h 1944054"/>
                <a:gd name="connsiteX2" fmla="*/ 9628910 w 9628910"/>
                <a:gd name="connsiteY2" fmla="*/ 1925782 h 1944054"/>
                <a:gd name="connsiteX3" fmla="*/ 5349662 w 9628910"/>
                <a:gd name="connsiteY3" fmla="*/ 1944054 h 1944054"/>
                <a:gd name="connsiteX4" fmla="*/ 5403274 w 9628910"/>
                <a:gd name="connsiteY4" fmla="*/ 1510144 h 1944054"/>
                <a:gd name="connsiteX5" fmla="*/ 1856509 w 9628910"/>
                <a:gd name="connsiteY5" fmla="*/ 1482436 h 1944054"/>
                <a:gd name="connsiteX6" fmla="*/ 1801092 w 9628910"/>
                <a:gd name="connsiteY6" fmla="*/ 1939637 h 1944054"/>
                <a:gd name="connsiteX7" fmla="*/ 0 w 9628910"/>
                <a:gd name="connsiteY7" fmla="*/ 1884218 h 1944054"/>
                <a:gd name="connsiteX8" fmla="*/ 96983 w 9628910"/>
                <a:gd name="connsiteY8" fmla="*/ 0 h 1944054"/>
                <a:gd name="connsiteX0" fmla="*/ 96983 w 9628910"/>
                <a:gd name="connsiteY0" fmla="*/ 0 h 1944054"/>
                <a:gd name="connsiteX1" fmla="*/ 9615055 w 9628910"/>
                <a:gd name="connsiteY1" fmla="*/ 13854 h 1944054"/>
                <a:gd name="connsiteX2" fmla="*/ 9628910 w 9628910"/>
                <a:gd name="connsiteY2" fmla="*/ 1925782 h 1944054"/>
                <a:gd name="connsiteX3" fmla="*/ 5349662 w 9628910"/>
                <a:gd name="connsiteY3" fmla="*/ 1944054 h 1944054"/>
                <a:gd name="connsiteX4" fmla="*/ 5341431 w 9628910"/>
                <a:gd name="connsiteY4" fmla="*/ 1505726 h 1944054"/>
                <a:gd name="connsiteX5" fmla="*/ 1856509 w 9628910"/>
                <a:gd name="connsiteY5" fmla="*/ 1482436 h 1944054"/>
                <a:gd name="connsiteX6" fmla="*/ 1801092 w 9628910"/>
                <a:gd name="connsiteY6" fmla="*/ 1939637 h 1944054"/>
                <a:gd name="connsiteX7" fmla="*/ 0 w 9628910"/>
                <a:gd name="connsiteY7" fmla="*/ 1884218 h 1944054"/>
                <a:gd name="connsiteX8" fmla="*/ 96983 w 9628910"/>
                <a:gd name="connsiteY8" fmla="*/ 0 h 1944054"/>
                <a:gd name="connsiteX0" fmla="*/ 96983 w 9628910"/>
                <a:gd name="connsiteY0" fmla="*/ 0 h 1939637"/>
                <a:gd name="connsiteX1" fmla="*/ 9615055 w 9628910"/>
                <a:gd name="connsiteY1" fmla="*/ 13854 h 1939637"/>
                <a:gd name="connsiteX2" fmla="*/ 9628910 w 9628910"/>
                <a:gd name="connsiteY2" fmla="*/ 1925782 h 1939637"/>
                <a:gd name="connsiteX3" fmla="*/ 5848426 w 9628910"/>
                <a:gd name="connsiteY3" fmla="*/ 1500709 h 1939637"/>
                <a:gd name="connsiteX4" fmla="*/ 5341431 w 9628910"/>
                <a:gd name="connsiteY4" fmla="*/ 1505726 h 1939637"/>
                <a:gd name="connsiteX5" fmla="*/ 1856509 w 9628910"/>
                <a:gd name="connsiteY5" fmla="*/ 1482436 h 1939637"/>
                <a:gd name="connsiteX6" fmla="*/ 1801092 w 9628910"/>
                <a:gd name="connsiteY6" fmla="*/ 1939637 h 1939637"/>
                <a:gd name="connsiteX7" fmla="*/ 0 w 9628910"/>
                <a:gd name="connsiteY7" fmla="*/ 1884218 h 1939637"/>
                <a:gd name="connsiteX8" fmla="*/ 96983 w 9628910"/>
                <a:gd name="connsiteY8" fmla="*/ 0 h 1939637"/>
                <a:gd name="connsiteX0" fmla="*/ 96983 w 9615055"/>
                <a:gd name="connsiteY0" fmla="*/ 0 h 1939637"/>
                <a:gd name="connsiteX1" fmla="*/ 9615055 w 9615055"/>
                <a:gd name="connsiteY1" fmla="*/ 13854 h 1939637"/>
                <a:gd name="connsiteX2" fmla="*/ 9545783 w 9615055"/>
                <a:gd name="connsiteY2" fmla="*/ 1510146 h 1939637"/>
                <a:gd name="connsiteX3" fmla="*/ 5848426 w 9615055"/>
                <a:gd name="connsiteY3" fmla="*/ 1500709 h 1939637"/>
                <a:gd name="connsiteX4" fmla="*/ 5341431 w 9615055"/>
                <a:gd name="connsiteY4" fmla="*/ 1505726 h 1939637"/>
                <a:gd name="connsiteX5" fmla="*/ 1856509 w 9615055"/>
                <a:gd name="connsiteY5" fmla="*/ 1482436 h 1939637"/>
                <a:gd name="connsiteX6" fmla="*/ 1801092 w 9615055"/>
                <a:gd name="connsiteY6" fmla="*/ 1939637 h 1939637"/>
                <a:gd name="connsiteX7" fmla="*/ 0 w 9615055"/>
                <a:gd name="connsiteY7" fmla="*/ 1884218 h 1939637"/>
                <a:gd name="connsiteX8" fmla="*/ 96983 w 9615055"/>
                <a:gd name="connsiteY8" fmla="*/ 0 h 1939637"/>
                <a:gd name="connsiteX0" fmla="*/ 96983 w 9615055"/>
                <a:gd name="connsiteY0" fmla="*/ 0 h 1939637"/>
                <a:gd name="connsiteX1" fmla="*/ 9615055 w 9615055"/>
                <a:gd name="connsiteY1" fmla="*/ 13854 h 1939637"/>
                <a:gd name="connsiteX2" fmla="*/ 9545783 w 9615055"/>
                <a:gd name="connsiteY2" fmla="*/ 1510146 h 1939637"/>
                <a:gd name="connsiteX3" fmla="*/ 5848426 w 9615055"/>
                <a:gd name="connsiteY3" fmla="*/ 1500709 h 1939637"/>
                <a:gd name="connsiteX4" fmla="*/ 5826340 w 9615055"/>
                <a:gd name="connsiteY4" fmla="*/ 1006963 h 1939637"/>
                <a:gd name="connsiteX5" fmla="*/ 1856509 w 9615055"/>
                <a:gd name="connsiteY5" fmla="*/ 1482436 h 1939637"/>
                <a:gd name="connsiteX6" fmla="*/ 1801092 w 9615055"/>
                <a:gd name="connsiteY6" fmla="*/ 1939637 h 1939637"/>
                <a:gd name="connsiteX7" fmla="*/ 0 w 9615055"/>
                <a:gd name="connsiteY7" fmla="*/ 1884218 h 1939637"/>
                <a:gd name="connsiteX8" fmla="*/ 96983 w 9615055"/>
                <a:gd name="connsiteY8" fmla="*/ 0 h 1939637"/>
                <a:gd name="connsiteX0" fmla="*/ 96983 w 9615055"/>
                <a:gd name="connsiteY0" fmla="*/ 0 h 1939637"/>
                <a:gd name="connsiteX1" fmla="*/ 9615055 w 9615055"/>
                <a:gd name="connsiteY1" fmla="*/ 13854 h 1939637"/>
                <a:gd name="connsiteX2" fmla="*/ 9545783 w 9615055"/>
                <a:gd name="connsiteY2" fmla="*/ 1510146 h 1939637"/>
                <a:gd name="connsiteX3" fmla="*/ 5848426 w 9615055"/>
                <a:gd name="connsiteY3" fmla="*/ 1500709 h 1939637"/>
                <a:gd name="connsiteX4" fmla="*/ 5826340 w 9615055"/>
                <a:gd name="connsiteY4" fmla="*/ 1006963 h 1939637"/>
                <a:gd name="connsiteX5" fmla="*/ 1856509 w 9615055"/>
                <a:gd name="connsiteY5" fmla="*/ 1066799 h 1939637"/>
                <a:gd name="connsiteX6" fmla="*/ 1801092 w 9615055"/>
                <a:gd name="connsiteY6" fmla="*/ 1939637 h 1939637"/>
                <a:gd name="connsiteX7" fmla="*/ 0 w 9615055"/>
                <a:gd name="connsiteY7" fmla="*/ 1884218 h 1939637"/>
                <a:gd name="connsiteX8" fmla="*/ 96983 w 9615055"/>
                <a:gd name="connsiteY8" fmla="*/ 0 h 1939637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848426 w 9615055"/>
                <a:gd name="connsiteY3" fmla="*/ 1500709 h 1884218"/>
                <a:gd name="connsiteX4" fmla="*/ 5826340 w 9615055"/>
                <a:gd name="connsiteY4" fmla="*/ 1006963 h 1884218"/>
                <a:gd name="connsiteX5" fmla="*/ 1856509 w 9615055"/>
                <a:gd name="connsiteY5" fmla="*/ 1066799 h 1884218"/>
                <a:gd name="connsiteX6" fmla="*/ 1814946 w 9615055"/>
                <a:gd name="connsiteY6" fmla="*/ 1814946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848426 w 9615055"/>
                <a:gd name="connsiteY3" fmla="*/ 1500709 h 1884218"/>
                <a:gd name="connsiteX4" fmla="*/ 5833928 w 9615055"/>
                <a:gd name="connsiteY4" fmla="*/ 1063876 h 1884218"/>
                <a:gd name="connsiteX5" fmla="*/ 1856509 w 9615055"/>
                <a:gd name="connsiteY5" fmla="*/ 1066799 h 1884218"/>
                <a:gd name="connsiteX6" fmla="*/ 1814946 w 9615055"/>
                <a:gd name="connsiteY6" fmla="*/ 1814946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787719 w 9615055"/>
                <a:gd name="connsiteY3" fmla="*/ 1504503 h 1884218"/>
                <a:gd name="connsiteX4" fmla="*/ 5833928 w 9615055"/>
                <a:gd name="connsiteY4" fmla="*/ 1063876 h 1884218"/>
                <a:gd name="connsiteX5" fmla="*/ 1856509 w 9615055"/>
                <a:gd name="connsiteY5" fmla="*/ 1066799 h 1884218"/>
                <a:gd name="connsiteX6" fmla="*/ 1814946 w 9615055"/>
                <a:gd name="connsiteY6" fmla="*/ 1814946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787719 w 9615055"/>
                <a:gd name="connsiteY3" fmla="*/ 1504503 h 1884218"/>
                <a:gd name="connsiteX4" fmla="*/ 5788397 w 9615055"/>
                <a:gd name="connsiteY4" fmla="*/ 1063876 h 1884218"/>
                <a:gd name="connsiteX5" fmla="*/ 1856509 w 9615055"/>
                <a:gd name="connsiteY5" fmla="*/ 1066799 h 1884218"/>
                <a:gd name="connsiteX6" fmla="*/ 1814946 w 9615055"/>
                <a:gd name="connsiteY6" fmla="*/ 1814946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787719 w 9615055"/>
                <a:gd name="connsiteY3" fmla="*/ 1504503 h 1884218"/>
                <a:gd name="connsiteX4" fmla="*/ 5792191 w 9615055"/>
                <a:gd name="connsiteY4" fmla="*/ 1060082 h 1884218"/>
                <a:gd name="connsiteX5" fmla="*/ 1856509 w 9615055"/>
                <a:gd name="connsiteY5" fmla="*/ 1066799 h 1884218"/>
                <a:gd name="connsiteX6" fmla="*/ 1814946 w 9615055"/>
                <a:gd name="connsiteY6" fmla="*/ 1814946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787719 w 9615055"/>
                <a:gd name="connsiteY3" fmla="*/ 1504503 h 1884218"/>
                <a:gd name="connsiteX4" fmla="*/ 5792191 w 9615055"/>
                <a:gd name="connsiteY4" fmla="*/ 1060082 h 1884218"/>
                <a:gd name="connsiteX5" fmla="*/ 1829949 w 9615055"/>
                <a:gd name="connsiteY5" fmla="*/ 1063004 h 1884218"/>
                <a:gd name="connsiteX6" fmla="*/ 1814946 w 9615055"/>
                <a:gd name="connsiteY6" fmla="*/ 1814946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787719 w 9615055"/>
                <a:gd name="connsiteY3" fmla="*/ 1504503 h 1884218"/>
                <a:gd name="connsiteX4" fmla="*/ 5792191 w 9615055"/>
                <a:gd name="connsiteY4" fmla="*/ 1060082 h 1884218"/>
                <a:gd name="connsiteX5" fmla="*/ 1829949 w 9615055"/>
                <a:gd name="connsiteY5" fmla="*/ 1063004 h 1884218"/>
                <a:gd name="connsiteX6" fmla="*/ 1837712 w 9615055"/>
                <a:gd name="connsiteY6" fmla="*/ 1814946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787719 w 9615055"/>
                <a:gd name="connsiteY3" fmla="*/ 1504503 h 1884218"/>
                <a:gd name="connsiteX4" fmla="*/ 5792191 w 9615055"/>
                <a:gd name="connsiteY4" fmla="*/ 1060082 h 1884218"/>
                <a:gd name="connsiteX5" fmla="*/ 1829949 w 9615055"/>
                <a:gd name="connsiteY5" fmla="*/ 1063004 h 1884218"/>
                <a:gd name="connsiteX6" fmla="*/ 1826330 w 9615055"/>
                <a:gd name="connsiteY6" fmla="*/ 1818740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  <a:gd name="connsiteX0" fmla="*/ 96983 w 9615055"/>
                <a:gd name="connsiteY0" fmla="*/ 0 h 1884218"/>
                <a:gd name="connsiteX1" fmla="*/ 9615055 w 9615055"/>
                <a:gd name="connsiteY1" fmla="*/ 13854 h 1884218"/>
                <a:gd name="connsiteX2" fmla="*/ 9545783 w 9615055"/>
                <a:gd name="connsiteY2" fmla="*/ 1510146 h 1884218"/>
                <a:gd name="connsiteX3" fmla="*/ 5787719 w 9615055"/>
                <a:gd name="connsiteY3" fmla="*/ 1504503 h 1884218"/>
                <a:gd name="connsiteX4" fmla="*/ 5792191 w 9615055"/>
                <a:gd name="connsiteY4" fmla="*/ 1060082 h 1884218"/>
                <a:gd name="connsiteX5" fmla="*/ 1829949 w 9615055"/>
                <a:gd name="connsiteY5" fmla="*/ 1063004 h 1884218"/>
                <a:gd name="connsiteX6" fmla="*/ 1826330 w 9615055"/>
                <a:gd name="connsiteY6" fmla="*/ 1818740 h 1884218"/>
                <a:gd name="connsiteX7" fmla="*/ 0 w 9615055"/>
                <a:gd name="connsiteY7" fmla="*/ 1884218 h 1884218"/>
                <a:gd name="connsiteX8" fmla="*/ 96983 w 9615055"/>
                <a:gd name="connsiteY8" fmla="*/ 0 h 188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15055" h="1884218">
                  <a:moveTo>
                    <a:pt x="96983" y="0"/>
                  </a:moveTo>
                  <a:lnTo>
                    <a:pt x="9615055" y="13854"/>
                  </a:lnTo>
                  <a:lnTo>
                    <a:pt x="9545783" y="1510146"/>
                  </a:lnTo>
                  <a:lnTo>
                    <a:pt x="5787719" y="1504503"/>
                  </a:lnTo>
                  <a:cubicBezTo>
                    <a:pt x="5789210" y="1356363"/>
                    <a:pt x="5790700" y="1208222"/>
                    <a:pt x="5792191" y="1060082"/>
                  </a:cubicBezTo>
                  <a:lnTo>
                    <a:pt x="1829949" y="1063004"/>
                  </a:lnTo>
                  <a:cubicBezTo>
                    <a:pt x="1832537" y="1313651"/>
                    <a:pt x="1835125" y="1571887"/>
                    <a:pt x="1826330" y="1818740"/>
                  </a:cubicBezTo>
                  <a:lnTo>
                    <a:pt x="0" y="1884218"/>
                  </a:lnTo>
                  <a:lnTo>
                    <a:pt x="96983" y="0"/>
                  </a:lnTo>
                  <a:close/>
                </a:path>
              </a:pathLst>
            </a:custGeom>
            <a:solidFill>
              <a:schemeClr val="bg1"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1CAB1DF-0C57-806A-8046-E6A872340794}"/>
                </a:ext>
              </a:extLst>
            </p:cNvPr>
            <p:cNvSpPr/>
            <p:nvPr/>
          </p:nvSpPr>
          <p:spPr>
            <a:xfrm>
              <a:off x="2299855" y="4764472"/>
              <a:ext cx="8118764" cy="1343892"/>
            </a:xfrm>
            <a:prstGeom prst="rect">
              <a:avLst/>
            </a:prstGeom>
            <a:solidFill>
              <a:schemeClr val="bg1">
                <a:alpha val="8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EC6DB529-D75A-4E2D-3D86-094A51C3AD85}"/>
                </a:ext>
              </a:extLst>
            </p:cNvPr>
            <p:cNvSpPr/>
            <p:nvPr/>
          </p:nvSpPr>
          <p:spPr>
            <a:xfrm flipV="1">
              <a:off x="900546" y="5915892"/>
              <a:ext cx="9531927" cy="942108"/>
            </a:xfrm>
            <a:custGeom>
              <a:avLst/>
              <a:gdLst>
                <a:gd name="connsiteX0" fmla="*/ 110837 w 9628909"/>
                <a:gd name="connsiteY0" fmla="*/ 0 h 1136073"/>
                <a:gd name="connsiteX1" fmla="*/ 9628909 w 9628909"/>
                <a:gd name="connsiteY1" fmla="*/ 13854 h 1136073"/>
                <a:gd name="connsiteX2" fmla="*/ 9628909 w 9628909"/>
                <a:gd name="connsiteY2" fmla="*/ 1122218 h 1136073"/>
                <a:gd name="connsiteX3" fmla="*/ 5334000 w 9628909"/>
                <a:gd name="connsiteY3" fmla="*/ 1136073 h 1136073"/>
                <a:gd name="connsiteX4" fmla="*/ 5320146 w 9628909"/>
                <a:gd name="connsiteY4" fmla="*/ 651163 h 1136073"/>
                <a:gd name="connsiteX5" fmla="*/ 1856509 w 9628909"/>
                <a:gd name="connsiteY5" fmla="*/ 651163 h 1136073"/>
                <a:gd name="connsiteX6" fmla="*/ 1870364 w 9628909"/>
                <a:gd name="connsiteY6" fmla="*/ 1122218 h 1136073"/>
                <a:gd name="connsiteX7" fmla="*/ 0 w 9628909"/>
                <a:gd name="connsiteY7" fmla="*/ 1080654 h 1136073"/>
                <a:gd name="connsiteX8" fmla="*/ 110837 w 9628909"/>
                <a:gd name="connsiteY8" fmla="*/ 0 h 1136073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20146 w 9628909"/>
                <a:gd name="connsiteY4" fmla="*/ 651163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375564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389418 w 9628909"/>
                <a:gd name="connsiteY3" fmla="*/ 1108364 h 1122218"/>
                <a:gd name="connsiteX4" fmla="*/ 5417128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417128 w 9628909"/>
                <a:gd name="connsiteY4" fmla="*/ 665017 h 1122218"/>
                <a:gd name="connsiteX5" fmla="*/ 1856509 w 9628909"/>
                <a:gd name="connsiteY5" fmla="*/ 651163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417128 w 9628909"/>
                <a:gd name="connsiteY4" fmla="*/ 6650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30982 w 9628909"/>
                <a:gd name="connsiteY3" fmla="*/ 1094510 h 1122218"/>
                <a:gd name="connsiteX4" fmla="*/ 5430982 w 9628909"/>
                <a:gd name="connsiteY4" fmla="*/ 2078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1122218 h 1122218"/>
                <a:gd name="connsiteX3" fmla="*/ 5417127 w 9628909"/>
                <a:gd name="connsiteY3" fmla="*/ 692728 h 1122218"/>
                <a:gd name="connsiteX4" fmla="*/ 5430982 w 9628909"/>
                <a:gd name="connsiteY4" fmla="*/ 2078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122218"/>
                <a:gd name="connsiteX1" fmla="*/ 9628909 w 9628909"/>
                <a:gd name="connsiteY1" fmla="*/ 13854 h 1122218"/>
                <a:gd name="connsiteX2" fmla="*/ 9628909 w 9628909"/>
                <a:gd name="connsiteY2" fmla="*/ 665018 h 1122218"/>
                <a:gd name="connsiteX3" fmla="*/ 5417127 w 9628909"/>
                <a:gd name="connsiteY3" fmla="*/ 692728 h 1122218"/>
                <a:gd name="connsiteX4" fmla="*/ 5430982 w 9628909"/>
                <a:gd name="connsiteY4" fmla="*/ 207817 h 1122218"/>
                <a:gd name="connsiteX5" fmla="*/ 1884218 w 9628909"/>
                <a:gd name="connsiteY5" fmla="*/ 138545 h 1122218"/>
                <a:gd name="connsiteX6" fmla="*/ 1870364 w 9628909"/>
                <a:gd name="connsiteY6" fmla="*/ 1122218 h 1122218"/>
                <a:gd name="connsiteX7" fmla="*/ 0 w 9628909"/>
                <a:gd name="connsiteY7" fmla="*/ 1080654 h 1122218"/>
                <a:gd name="connsiteX8" fmla="*/ 110837 w 9628909"/>
                <a:gd name="connsiteY8" fmla="*/ 0 h 1122218"/>
                <a:gd name="connsiteX0" fmla="*/ 110837 w 9628909"/>
                <a:gd name="connsiteY0" fmla="*/ 0 h 1080654"/>
                <a:gd name="connsiteX1" fmla="*/ 9628909 w 9628909"/>
                <a:gd name="connsiteY1" fmla="*/ 13854 h 1080654"/>
                <a:gd name="connsiteX2" fmla="*/ 9628909 w 9628909"/>
                <a:gd name="connsiteY2" fmla="*/ 665018 h 1080654"/>
                <a:gd name="connsiteX3" fmla="*/ 5417127 w 9628909"/>
                <a:gd name="connsiteY3" fmla="*/ 692728 h 1080654"/>
                <a:gd name="connsiteX4" fmla="*/ 5430982 w 9628909"/>
                <a:gd name="connsiteY4" fmla="*/ 207817 h 1080654"/>
                <a:gd name="connsiteX5" fmla="*/ 1884218 w 9628909"/>
                <a:gd name="connsiteY5" fmla="*/ 138545 h 1080654"/>
                <a:gd name="connsiteX6" fmla="*/ 1884219 w 9628909"/>
                <a:gd name="connsiteY6" fmla="*/ 665018 h 1080654"/>
                <a:gd name="connsiteX7" fmla="*/ 0 w 9628909"/>
                <a:gd name="connsiteY7" fmla="*/ 1080654 h 1080654"/>
                <a:gd name="connsiteX8" fmla="*/ 110837 w 9628909"/>
                <a:gd name="connsiteY8" fmla="*/ 0 h 1080654"/>
                <a:gd name="connsiteX0" fmla="*/ 69274 w 9587346"/>
                <a:gd name="connsiteY0" fmla="*/ 0 h 692728"/>
                <a:gd name="connsiteX1" fmla="*/ 9587346 w 9587346"/>
                <a:gd name="connsiteY1" fmla="*/ 13854 h 692728"/>
                <a:gd name="connsiteX2" fmla="*/ 9587346 w 9587346"/>
                <a:gd name="connsiteY2" fmla="*/ 665018 h 692728"/>
                <a:gd name="connsiteX3" fmla="*/ 5375564 w 9587346"/>
                <a:gd name="connsiteY3" fmla="*/ 692728 h 692728"/>
                <a:gd name="connsiteX4" fmla="*/ 5389419 w 9587346"/>
                <a:gd name="connsiteY4" fmla="*/ 207817 h 692728"/>
                <a:gd name="connsiteX5" fmla="*/ 1842655 w 9587346"/>
                <a:gd name="connsiteY5" fmla="*/ 138545 h 692728"/>
                <a:gd name="connsiteX6" fmla="*/ 1842656 w 9587346"/>
                <a:gd name="connsiteY6" fmla="*/ 665018 h 692728"/>
                <a:gd name="connsiteX7" fmla="*/ 0 w 9587346"/>
                <a:gd name="connsiteY7" fmla="*/ 526472 h 692728"/>
                <a:gd name="connsiteX8" fmla="*/ 69274 w 9587346"/>
                <a:gd name="connsiteY8" fmla="*/ 0 h 69272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87236 w 9531927"/>
                <a:gd name="connsiteY5" fmla="*/ 138545 h 942108"/>
                <a:gd name="connsiteX6" fmla="*/ 1787237 w 9531927"/>
                <a:gd name="connsiteY6" fmla="*/ 665018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87236 w 9531927"/>
                <a:gd name="connsiteY5" fmla="*/ 138545 h 942108"/>
                <a:gd name="connsiteX6" fmla="*/ 1759528 w 9531927"/>
                <a:gd name="connsiteY6" fmla="*/ 748145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87236 w 9531927"/>
                <a:gd name="connsiteY5" fmla="*/ 138545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320145 w 9531927"/>
                <a:gd name="connsiteY3" fmla="*/ 692728 h 942108"/>
                <a:gd name="connsiteX4" fmla="*/ 5334000 w 9531927"/>
                <a:gd name="connsiteY4" fmla="*/ 207817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289224 w 9531927"/>
                <a:gd name="connsiteY3" fmla="*/ 652972 h 942108"/>
                <a:gd name="connsiteX4" fmla="*/ 5334000 w 9531927"/>
                <a:gd name="connsiteY4" fmla="*/ 207817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289224 w 9531927"/>
                <a:gd name="connsiteY3" fmla="*/ 652972 h 942108"/>
                <a:gd name="connsiteX4" fmla="*/ 5298661 w 9531927"/>
                <a:gd name="connsiteY4" fmla="*/ 198982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289224 w 9531927"/>
                <a:gd name="connsiteY3" fmla="*/ 652972 h 942108"/>
                <a:gd name="connsiteX4" fmla="*/ 5728152 w 9531927"/>
                <a:gd name="connsiteY4" fmla="*/ 185128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  <a:gd name="connsiteX0" fmla="*/ 13855 w 9531927"/>
                <a:gd name="connsiteY0" fmla="*/ 0 h 942108"/>
                <a:gd name="connsiteX1" fmla="*/ 9531927 w 9531927"/>
                <a:gd name="connsiteY1" fmla="*/ 13854 h 942108"/>
                <a:gd name="connsiteX2" fmla="*/ 9531927 w 9531927"/>
                <a:gd name="connsiteY2" fmla="*/ 665018 h 942108"/>
                <a:gd name="connsiteX3" fmla="*/ 5760279 w 9531927"/>
                <a:gd name="connsiteY3" fmla="*/ 625263 h 942108"/>
                <a:gd name="connsiteX4" fmla="*/ 5728152 w 9531927"/>
                <a:gd name="connsiteY4" fmla="*/ 185128 h 942108"/>
                <a:gd name="connsiteX5" fmla="*/ 1717964 w 9531927"/>
                <a:gd name="connsiteY5" fmla="*/ 221672 h 942108"/>
                <a:gd name="connsiteX6" fmla="*/ 1759528 w 9531927"/>
                <a:gd name="connsiteY6" fmla="*/ 886691 h 942108"/>
                <a:gd name="connsiteX7" fmla="*/ 0 w 9531927"/>
                <a:gd name="connsiteY7" fmla="*/ 942108 h 942108"/>
                <a:gd name="connsiteX8" fmla="*/ 13855 w 9531927"/>
                <a:gd name="connsiteY8" fmla="*/ 0 h 94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1927" h="942108">
                  <a:moveTo>
                    <a:pt x="13855" y="0"/>
                  </a:moveTo>
                  <a:lnTo>
                    <a:pt x="9531927" y="13854"/>
                  </a:lnTo>
                  <a:lnTo>
                    <a:pt x="9531927" y="665018"/>
                  </a:lnTo>
                  <a:lnTo>
                    <a:pt x="5760279" y="625263"/>
                  </a:lnTo>
                  <a:lnTo>
                    <a:pt x="5728152" y="185128"/>
                  </a:lnTo>
                  <a:lnTo>
                    <a:pt x="1717964" y="221672"/>
                  </a:lnTo>
                  <a:cubicBezTo>
                    <a:pt x="1717964" y="397163"/>
                    <a:pt x="1759528" y="711200"/>
                    <a:pt x="1759528" y="886691"/>
                  </a:cubicBezTo>
                  <a:lnTo>
                    <a:pt x="0" y="9421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DA2B2D-DA59-D1C7-E50E-B644EB95B31D}"/>
              </a:ext>
            </a:extLst>
          </p:cNvPr>
          <p:cNvGrpSpPr/>
          <p:nvPr/>
        </p:nvGrpSpPr>
        <p:grpSpPr>
          <a:xfrm>
            <a:off x="2701635" y="4388439"/>
            <a:ext cx="3934692" cy="2261743"/>
            <a:chOff x="2701635" y="3903517"/>
            <a:chExt cx="3934692" cy="226174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93724A6-C0DD-3E84-80E1-02769FE4837B}"/>
                </a:ext>
              </a:extLst>
            </p:cNvPr>
            <p:cNvSpPr/>
            <p:nvPr/>
          </p:nvSpPr>
          <p:spPr>
            <a:xfrm>
              <a:off x="2701635" y="5791200"/>
              <a:ext cx="3934691" cy="3740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4824C5E-BDF9-0063-6C26-B719EF000DB8}"/>
                </a:ext>
              </a:extLst>
            </p:cNvPr>
            <p:cNvSpPr/>
            <p:nvPr/>
          </p:nvSpPr>
          <p:spPr>
            <a:xfrm>
              <a:off x="2715489" y="3903517"/>
              <a:ext cx="3920838" cy="34981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Up-Down Arrow 4">
              <a:extLst>
                <a:ext uri="{FF2B5EF4-FFF2-40B4-BE49-F238E27FC236}">
                  <a16:creationId xmlns:a16="http://schemas.microsoft.com/office/drawing/2014/main" id="{8B1498FB-A44D-73AB-3DA9-2F1924886E96}"/>
                </a:ext>
              </a:extLst>
            </p:cNvPr>
            <p:cNvSpPr/>
            <p:nvPr/>
          </p:nvSpPr>
          <p:spPr>
            <a:xfrm>
              <a:off x="4419600" y="4294897"/>
              <a:ext cx="346364" cy="1482448"/>
            </a:xfrm>
            <a:prstGeom prst="up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AB9605-72C3-DF7A-8235-DDAE771A93BB}"/>
                </a:ext>
              </a:extLst>
            </p:cNvPr>
            <p:cNvSpPr txBox="1"/>
            <p:nvPr/>
          </p:nvSpPr>
          <p:spPr>
            <a:xfrm>
              <a:off x="4045528" y="4807539"/>
              <a:ext cx="106606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797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22D2-C2F0-3B78-98F5-C7C480DD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257A-45AD-4F72-016B-1621AF32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1"/>
            <a:ext cx="10515600" cy="785924"/>
          </a:xfrm>
        </p:spPr>
        <p:txBody>
          <a:bodyPr>
            <a:normAutofit fontScale="90000"/>
          </a:bodyPr>
          <a:lstStyle/>
          <a:p>
            <a:r>
              <a:rPr lang="en" sz="4800" dirty="0"/>
              <a:t>Efficient Longest Prefix Matching with Tries</a:t>
            </a:r>
            <a:endParaRPr lang="en-US" sz="4800" dirty="0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F035A4A0-4F4C-5A68-824B-8BDB47F8F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65" y="833038"/>
            <a:ext cx="11752066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dirty="0">
                <a:latin typeface="+mn-lt"/>
              </a:rPr>
              <a:t>Is there a map data structure that supports efficient longest prefix match?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We can use a more obscure data structure: 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Tries</a:t>
            </a:r>
            <a:endParaRPr lang="en-US" dirty="0">
              <a:solidFill>
                <a:srgbClr val="C00000"/>
              </a:solidFill>
              <a:latin typeface="+mn-lt"/>
            </a:endParaRPr>
          </a:p>
          <a:p>
            <a:pPr marL="457200" lvl="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Idea: Spell out each key, one letter/digit at a time</a:t>
            </a:r>
          </a:p>
          <a:p>
            <a:pPr marL="457200" lvl="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 node is marked blue if walking from root to that node forms a valid key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3D139C-74B9-C048-2461-F49C1A70593D}"/>
              </a:ext>
            </a:extLst>
          </p:cNvPr>
          <p:cNvSpPr txBox="1"/>
          <p:nvPr/>
        </p:nvSpPr>
        <p:spPr>
          <a:xfrm>
            <a:off x="47509" y="2754837"/>
            <a:ext cx="455965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Longest prefix matching on a trie:</a:t>
            </a:r>
          </a:p>
          <a:p>
            <a:pPr marL="400050" lvl="0" indent="-285750" algn="l" rtl="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Start at the root, and spell out the word</a:t>
            </a:r>
          </a:p>
          <a:p>
            <a:pPr marL="400050" lvl="0" indent="-285750" algn="l" rtl="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Remember </a:t>
            </a:r>
            <a:r>
              <a:rPr lang="en-US" sz="2000" i="1" dirty="0">
                <a:solidFill>
                  <a:srgbClr val="C00000"/>
                </a:solidFill>
              </a:rPr>
              <a:t>most recent </a:t>
            </a:r>
            <a:r>
              <a:rPr lang="en-US" sz="2000" dirty="0"/>
              <a:t>(longest) key you see along the way</a:t>
            </a:r>
          </a:p>
          <a:p>
            <a:pPr marL="400050" lvl="0" indent="-285750" algn="l" rtl="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Stop when you're done, or fall off the tree. Return the longest key you saw</a:t>
            </a:r>
          </a:p>
          <a:p>
            <a:pPr marL="400050" lvl="0" indent="-285750"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" sz="2000" dirty="0"/>
              <a:t>If you finish spelling or fall off the tree without seeing any other prefix, the default is returned</a:t>
            </a:r>
            <a:endParaRPr lang="en-US" sz="20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1353E52-7E2F-1EBE-E7DF-6F6D305D80D0}"/>
              </a:ext>
            </a:extLst>
          </p:cNvPr>
          <p:cNvGrpSpPr/>
          <p:nvPr/>
        </p:nvGrpSpPr>
        <p:grpSpPr>
          <a:xfrm>
            <a:off x="4830210" y="3097900"/>
            <a:ext cx="7012265" cy="3540138"/>
            <a:chOff x="4830210" y="3097900"/>
            <a:chExt cx="7012265" cy="3540138"/>
          </a:xfrm>
        </p:grpSpPr>
        <p:sp>
          <p:nvSpPr>
            <p:cNvPr id="3" name="Google Shape;1172;p61">
              <a:extLst>
                <a:ext uri="{FF2B5EF4-FFF2-40B4-BE49-F238E27FC236}">
                  <a16:creationId xmlns:a16="http://schemas.microsoft.com/office/drawing/2014/main" id="{51884FCD-8E5D-BA73-D3C9-D42D26212229}"/>
                </a:ext>
              </a:extLst>
            </p:cNvPr>
            <p:cNvSpPr/>
            <p:nvPr/>
          </p:nvSpPr>
          <p:spPr>
            <a:xfrm>
              <a:off x="9734104" y="3476646"/>
              <a:ext cx="864297" cy="46436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" name="Google Shape;1173;p61">
              <a:extLst>
                <a:ext uri="{FF2B5EF4-FFF2-40B4-BE49-F238E27FC236}">
                  <a16:creationId xmlns:a16="http://schemas.microsoft.com/office/drawing/2014/main" id="{940D2237-E284-9D60-745D-BC448094729A}"/>
                </a:ext>
              </a:extLst>
            </p:cNvPr>
            <p:cNvSpPr/>
            <p:nvPr/>
          </p:nvSpPr>
          <p:spPr>
            <a:xfrm>
              <a:off x="8490029" y="4375654"/>
              <a:ext cx="864297" cy="464369"/>
            </a:xfrm>
            <a:prstGeom prst="ellipse">
              <a:avLst/>
            </a:prstGeom>
            <a:solidFill>
              <a:srgbClr val="CFE2F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0..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" name="Google Shape;1174;p61">
              <a:extLst>
                <a:ext uri="{FF2B5EF4-FFF2-40B4-BE49-F238E27FC236}">
                  <a16:creationId xmlns:a16="http://schemas.microsoft.com/office/drawing/2014/main" id="{C8959DBC-6684-5274-7FE4-504AC6826AA3}"/>
                </a:ext>
              </a:extLst>
            </p:cNvPr>
            <p:cNvSpPr/>
            <p:nvPr/>
          </p:nvSpPr>
          <p:spPr>
            <a:xfrm>
              <a:off x="10978178" y="4375654"/>
              <a:ext cx="864297" cy="46436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1..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3" name="Google Shape;1175;p61">
              <a:extLst>
                <a:ext uri="{FF2B5EF4-FFF2-40B4-BE49-F238E27FC236}">
                  <a16:creationId xmlns:a16="http://schemas.microsoft.com/office/drawing/2014/main" id="{0AA6BFD1-CA16-736D-F543-8A17F1CD03B9}"/>
                </a:ext>
              </a:extLst>
            </p:cNvPr>
            <p:cNvCxnSpPr>
              <a:stCxn id="3" idx="4"/>
              <a:endCxn id="4" idx="7"/>
            </p:cNvCxnSpPr>
            <p:nvPr/>
          </p:nvCxnSpPr>
          <p:spPr>
            <a:xfrm flipH="1">
              <a:off x="9227733" y="3941015"/>
              <a:ext cx="938519" cy="502595"/>
            </a:xfrm>
            <a:prstGeom prst="straightConnector1">
              <a:avLst/>
            </a:prstGeom>
            <a:noFill/>
            <a:ln w="3810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1176;p61">
              <a:extLst>
                <a:ext uri="{FF2B5EF4-FFF2-40B4-BE49-F238E27FC236}">
                  <a16:creationId xmlns:a16="http://schemas.microsoft.com/office/drawing/2014/main" id="{09CC1DC8-57CD-923F-1923-7A8B2E89D496}"/>
                </a:ext>
              </a:extLst>
            </p:cNvPr>
            <p:cNvCxnSpPr>
              <a:stCxn id="3" idx="4"/>
              <a:endCxn id="8" idx="1"/>
            </p:cNvCxnSpPr>
            <p:nvPr/>
          </p:nvCxnSpPr>
          <p:spPr>
            <a:xfrm>
              <a:off x="10166252" y="3941015"/>
              <a:ext cx="938519" cy="502595"/>
            </a:xfrm>
            <a:prstGeom prst="straightConnector1">
              <a:avLst/>
            </a:prstGeom>
            <a:noFill/>
            <a:ln w="38100" cap="flat" cmpd="sng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Google Shape;1177;p61">
              <a:extLst>
                <a:ext uri="{FF2B5EF4-FFF2-40B4-BE49-F238E27FC236}">
                  <a16:creationId xmlns:a16="http://schemas.microsoft.com/office/drawing/2014/main" id="{CED5CC3A-E4A4-C7D1-9CDD-95DCACCD8BE1}"/>
                </a:ext>
              </a:extLst>
            </p:cNvPr>
            <p:cNvSpPr/>
            <p:nvPr/>
          </p:nvSpPr>
          <p:spPr>
            <a:xfrm>
              <a:off x="7533049" y="5274661"/>
              <a:ext cx="864297" cy="46436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00.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6" name="Google Shape;1178;p61">
              <a:extLst>
                <a:ext uri="{FF2B5EF4-FFF2-40B4-BE49-F238E27FC236}">
                  <a16:creationId xmlns:a16="http://schemas.microsoft.com/office/drawing/2014/main" id="{53898CDA-5A64-83A1-24EE-2D0DA36A4FB8}"/>
                </a:ext>
              </a:extLst>
            </p:cNvPr>
            <p:cNvCxnSpPr>
              <a:stCxn id="4" idx="4"/>
              <a:endCxn id="25" idx="0"/>
            </p:cNvCxnSpPr>
            <p:nvPr/>
          </p:nvCxnSpPr>
          <p:spPr>
            <a:xfrm flipH="1">
              <a:off x="7965197" y="4840023"/>
              <a:ext cx="956981" cy="434638"/>
            </a:xfrm>
            <a:prstGeom prst="straightConnector1">
              <a:avLst/>
            </a:prstGeom>
            <a:noFill/>
            <a:ln w="3810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Google Shape;1179;p61">
              <a:extLst>
                <a:ext uri="{FF2B5EF4-FFF2-40B4-BE49-F238E27FC236}">
                  <a16:creationId xmlns:a16="http://schemas.microsoft.com/office/drawing/2014/main" id="{5E3EB044-2F99-19B1-2874-72766E55364F}"/>
                </a:ext>
              </a:extLst>
            </p:cNvPr>
            <p:cNvSpPr/>
            <p:nvPr/>
          </p:nvSpPr>
          <p:spPr>
            <a:xfrm>
              <a:off x="8011539" y="6173669"/>
              <a:ext cx="864297" cy="464369"/>
            </a:xfrm>
            <a:prstGeom prst="ellipse">
              <a:avLst/>
            </a:prstGeom>
            <a:solidFill>
              <a:srgbClr val="CFE2F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001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8" name="Google Shape;1180;p61">
              <a:extLst>
                <a:ext uri="{FF2B5EF4-FFF2-40B4-BE49-F238E27FC236}">
                  <a16:creationId xmlns:a16="http://schemas.microsoft.com/office/drawing/2014/main" id="{2FF64925-8B8F-0DEF-9EB2-D861E8581CFD}"/>
                </a:ext>
              </a:extLst>
            </p:cNvPr>
            <p:cNvCxnSpPr>
              <a:stCxn id="25" idx="4"/>
              <a:endCxn id="27" idx="0"/>
            </p:cNvCxnSpPr>
            <p:nvPr/>
          </p:nvCxnSpPr>
          <p:spPr>
            <a:xfrm>
              <a:off x="7965197" y="5739031"/>
              <a:ext cx="478490" cy="434638"/>
            </a:xfrm>
            <a:prstGeom prst="straightConnector1">
              <a:avLst/>
            </a:prstGeom>
            <a:noFill/>
            <a:ln w="3810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aphicFrame>
          <p:nvGraphicFramePr>
            <p:cNvPr id="29" name="Google Shape;1181;p61">
              <a:extLst>
                <a:ext uri="{FF2B5EF4-FFF2-40B4-BE49-F238E27FC236}">
                  <a16:creationId xmlns:a16="http://schemas.microsoft.com/office/drawing/2014/main" id="{A87F753E-27D0-F54D-E480-FBEF89A72BF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14818524"/>
                </p:ext>
              </p:extLst>
            </p:nvPr>
          </p:nvGraphicFramePr>
          <p:xfrm>
            <a:off x="5171085" y="4213495"/>
            <a:ext cx="2108400" cy="219432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1024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059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Key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00" marR="45700" marT="45700" marB="45700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Value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00" marR="45700" marT="45700" marB="45700" anchor="ctr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defTabSz="914400" rtl="0" eaLnBrk="1" latinLnBrk="0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 kern="1200" dirty="0">
                            <a:solidFill>
                              <a:srgbClr val="C0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800" kern="12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45700" marR="45700" marT="45700" marB="45700" anchor="ctr"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defTabSz="914400" rtl="0" eaLnBrk="1" latinLnBrk="0" hangingPunct="1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 kern="1200" dirty="0">
                            <a:solidFill>
                              <a:srgbClr val="C00000"/>
                            </a:solidFill>
                            <a:latin typeface="Consolas"/>
                            <a:ea typeface="Roboto"/>
                            <a:cs typeface="Roboto"/>
                            <a:sym typeface="Roboto"/>
                          </a:rPr>
                          <a:t>0</a:t>
                        </a:r>
                        <a:endParaRPr sz="1800" kern="1200" dirty="0">
                          <a:solidFill>
                            <a:srgbClr val="C00000"/>
                          </a:solidFill>
                          <a:latin typeface="Consolas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00" marR="45700" marT="45700" marB="45700" anchor="ctr"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620079069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0..</a:t>
                        </a:r>
                        <a:endParaRPr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45700" marR="45700" marT="45700" marB="45700" anchor="ctr"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1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00" marR="45700" marT="45700" marB="45700" anchor="ctr"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100</a:t>
                        </a:r>
                        <a:endParaRPr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45700" marR="45700" marT="45700" marB="45700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</a:t>
                        </a:r>
                        <a:endParaRPr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00" marR="45700" marT="45700" marB="45700" anchor="ctr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101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45700" marR="45700" marT="45700" marB="45700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3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00" marR="45700" marT="45700" marB="45700" anchor="ctr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001</a:t>
                        </a:r>
                        <a:endParaRPr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45700" marR="45700" marT="45700" marB="45700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4</a:t>
                        </a:r>
                        <a:endParaRPr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45700" marR="45700" marT="45700" marB="45700" anchor="ctr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sp>
          <p:nvSpPr>
            <p:cNvPr id="30" name="Google Shape;1182;p61">
              <a:extLst>
                <a:ext uri="{FF2B5EF4-FFF2-40B4-BE49-F238E27FC236}">
                  <a16:creationId xmlns:a16="http://schemas.microsoft.com/office/drawing/2014/main" id="{2C26059B-9649-E740-614D-8A85B79D67C6}"/>
                </a:ext>
              </a:extLst>
            </p:cNvPr>
            <p:cNvSpPr/>
            <p:nvPr/>
          </p:nvSpPr>
          <p:spPr>
            <a:xfrm>
              <a:off x="10021198" y="5274661"/>
              <a:ext cx="864297" cy="46436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10.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" name="Google Shape;1184;p61">
              <a:extLst>
                <a:ext uri="{FF2B5EF4-FFF2-40B4-BE49-F238E27FC236}">
                  <a16:creationId xmlns:a16="http://schemas.microsoft.com/office/drawing/2014/main" id="{7D6F65E8-230E-4116-AF44-6D05FDDCB01C}"/>
                </a:ext>
              </a:extLst>
            </p:cNvPr>
            <p:cNvSpPr/>
            <p:nvPr/>
          </p:nvSpPr>
          <p:spPr>
            <a:xfrm>
              <a:off x="9351312" y="6173669"/>
              <a:ext cx="864297" cy="464369"/>
            </a:xfrm>
            <a:prstGeom prst="ellipse">
              <a:avLst/>
            </a:prstGeom>
            <a:solidFill>
              <a:srgbClr val="CFE2F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" name="Google Shape;1185;p61">
              <a:extLst>
                <a:ext uri="{FF2B5EF4-FFF2-40B4-BE49-F238E27FC236}">
                  <a16:creationId xmlns:a16="http://schemas.microsoft.com/office/drawing/2014/main" id="{2FEFB120-3B4A-CDE8-C0E8-8AFFADA9BC69}"/>
                </a:ext>
              </a:extLst>
            </p:cNvPr>
            <p:cNvSpPr/>
            <p:nvPr/>
          </p:nvSpPr>
          <p:spPr>
            <a:xfrm>
              <a:off x="10691084" y="6173669"/>
              <a:ext cx="864297" cy="464369"/>
            </a:xfrm>
            <a:prstGeom prst="ellipse">
              <a:avLst/>
            </a:prstGeom>
            <a:solidFill>
              <a:srgbClr val="CFE2F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101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7" name="Google Shape;1186;p61">
              <a:extLst>
                <a:ext uri="{FF2B5EF4-FFF2-40B4-BE49-F238E27FC236}">
                  <a16:creationId xmlns:a16="http://schemas.microsoft.com/office/drawing/2014/main" id="{4BB6CDCD-19DA-1339-2831-416615F29266}"/>
                </a:ext>
              </a:extLst>
            </p:cNvPr>
            <p:cNvCxnSpPr>
              <a:stCxn id="30" idx="4"/>
              <a:endCxn id="34" idx="0"/>
            </p:cNvCxnSpPr>
            <p:nvPr/>
          </p:nvCxnSpPr>
          <p:spPr>
            <a:xfrm flipH="1">
              <a:off x="9783460" y="5739031"/>
              <a:ext cx="669886" cy="434638"/>
            </a:xfrm>
            <a:prstGeom prst="straightConnector1">
              <a:avLst/>
            </a:prstGeom>
            <a:noFill/>
            <a:ln w="38100" cap="flat" cmpd="sng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187;p61">
              <a:extLst>
                <a:ext uri="{FF2B5EF4-FFF2-40B4-BE49-F238E27FC236}">
                  <a16:creationId xmlns:a16="http://schemas.microsoft.com/office/drawing/2014/main" id="{4B9BC264-B2BC-5145-3A4A-8ECC008CAA72}"/>
                </a:ext>
              </a:extLst>
            </p:cNvPr>
            <p:cNvCxnSpPr>
              <a:stCxn id="30" idx="4"/>
              <a:endCxn id="36" idx="0"/>
            </p:cNvCxnSpPr>
            <p:nvPr/>
          </p:nvCxnSpPr>
          <p:spPr>
            <a:xfrm>
              <a:off x="10453346" y="5739031"/>
              <a:ext cx="669886" cy="434638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189;p61">
              <a:extLst>
                <a:ext uri="{FF2B5EF4-FFF2-40B4-BE49-F238E27FC236}">
                  <a16:creationId xmlns:a16="http://schemas.microsoft.com/office/drawing/2014/main" id="{432182AE-2948-C4F7-E357-6EFB40CFE1BF}"/>
                </a:ext>
              </a:extLst>
            </p:cNvPr>
            <p:cNvCxnSpPr>
              <a:stCxn id="8" idx="4"/>
              <a:endCxn id="30" idx="0"/>
            </p:cNvCxnSpPr>
            <p:nvPr/>
          </p:nvCxnSpPr>
          <p:spPr>
            <a:xfrm flipH="1">
              <a:off x="10453346" y="4840023"/>
              <a:ext cx="956981" cy="434638"/>
            </a:xfrm>
            <a:prstGeom prst="straightConnector1">
              <a:avLst/>
            </a:prstGeom>
            <a:noFill/>
            <a:ln w="38100" cap="flat" cmpd="sng">
              <a:solidFill>
                <a:schemeClr val="accent6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1190;p61">
              <a:extLst>
                <a:ext uri="{FF2B5EF4-FFF2-40B4-BE49-F238E27FC236}">
                  <a16:creationId xmlns:a16="http://schemas.microsoft.com/office/drawing/2014/main" id="{F4777097-4933-7B6C-031E-5A40F3D61CD7}"/>
                </a:ext>
              </a:extLst>
            </p:cNvPr>
            <p:cNvSpPr txBox="1"/>
            <p:nvPr/>
          </p:nvSpPr>
          <p:spPr>
            <a:xfrm>
              <a:off x="8875832" y="6209771"/>
              <a:ext cx="252432" cy="33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8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" name="Google Shape;1191;p61">
              <a:extLst>
                <a:ext uri="{FF2B5EF4-FFF2-40B4-BE49-F238E27FC236}">
                  <a16:creationId xmlns:a16="http://schemas.microsoft.com/office/drawing/2014/main" id="{E5A7EF9A-477B-9A48-0103-18B360B0F1BB}"/>
                </a:ext>
              </a:extLst>
            </p:cNvPr>
            <p:cNvSpPr txBox="1"/>
            <p:nvPr/>
          </p:nvSpPr>
          <p:spPr>
            <a:xfrm>
              <a:off x="10215604" y="6209771"/>
              <a:ext cx="252432" cy="33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" name="Google Shape;1192;p61">
              <a:extLst>
                <a:ext uri="{FF2B5EF4-FFF2-40B4-BE49-F238E27FC236}">
                  <a16:creationId xmlns:a16="http://schemas.microsoft.com/office/drawing/2014/main" id="{F2C22D0F-2E55-FD7F-E84E-8067458BB781}"/>
                </a:ext>
              </a:extLst>
            </p:cNvPr>
            <p:cNvSpPr txBox="1"/>
            <p:nvPr/>
          </p:nvSpPr>
          <p:spPr>
            <a:xfrm>
              <a:off x="11555377" y="6209771"/>
              <a:ext cx="252432" cy="33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" name="Google Shape;1194;p61">
              <a:extLst>
                <a:ext uri="{FF2B5EF4-FFF2-40B4-BE49-F238E27FC236}">
                  <a16:creationId xmlns:a16="http://schemas.microsoft.com/office/drawing/2014/main" id="{17D19089-82C1-1922-0564-C5AA020DFFF4}"/>
                </a:ext>
              </a:extLst>
            </p:cNvPr>
            <p:cNvSpPr txBox="1"/>
            <p:nvPr/>
          </p:nvSpPr>
          <p:spPr>
            <a:xfrm>
              <a:off x="9354322" y="4411755"/>
              <a:ext cx="252432" cy="33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" name="Google Shape;1195;p61">
              <a:extLst>
                <a:ext uri="{FF2B5EF4-FFF2-40B4-BE49-F238E27FC236}">
                  <a16:creationId xmlns:a16="http://schemas.microsoft.com/office/drawing/2014/main" id="{7F182518-D0DF-5AB8-0ACF-F8E706D06495}"/>
                </a:ext>
              </a:extLst>
            </p:cNvPr>
            <p:cNvSpPr txBox="1"/>
            <p:nvPr/>
          </p:nvSpPr>
          <p:spPr>
            <a:xfrm>
              <a:off x="4830210" y="3097900"/>
              <a:ext cx="4704435" cy="1061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" sz="1800" dirty="0">
                  <a:solidFill>
                    <a:schemeClr val="accent2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Longest prefix of </a:t>
              </a:r>
              <a:r>
                <a:rPr lang="en" sz="1800" dirty="0">
                  <a:solidFill>
                    <a:schemeClr val="accent2">
                      <a:lumMod val="75000"/>
                    </a:schemeClr>
                  </a:solidFill>
                  <a:latin typeface="Consolas"/>
                  <a:ea typeface="Consolas"/>
                  <a:cs typeface="Consolas"/>
                  <a:sym typeface="Consolas"/>
                </a:rPr>
                <a:t>00100</a:t>
              </a:r>
              <a:r>
                <a:rPr lang="en" sz="1800" dirty="0">
                  <a:solidFill>
                    <a:schemeClr val="accent2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 is </a:t>
              </a:r>
              <a:r>
                <a:rPr lang="en" sz="1800" dirty="0">
                  <a:solidFill>
                    <a:schemeClr val="accent2">
                      <a:lumMod val="75000"/>
                    </a:schemeClr>
                  </a:solidFill>
                  <a:latin typeface="Consolas"/>
                  <a:ea typeface="Consolas"/>
                  <a:cs typeface="Consolas"/>
                  <a:sym typeface="Consolas"/>
                </a:rPr>
                <a:t>001 </a:t>
              </a:r>
              <a:r>
                <a:rPr lang="en" sz="1800" dirty="0">
                  <a:solidFill>
                    <a:schemeClr val="accent2">
                      <a:lumMod val="75000"/>
                    </a:schemeClr>
                  </a:solidFill>
                  <a:latin typeface="Consolas"/>
                  <a:ea typeface="Consolas"/>
                  <a:cs typeface="Consolas"/>
                  <a:sym typeface="Wingdings" panose="05000000000000000000" pitchFamily="2" charset="2"/>
                </a:rPr>
                <a:t> Port 4</a:t>
              </a:r>
              <a:endParaRPr lang="en" dirty="0">
                <a:solidFill>
                  <a:schemeClr val="accent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spcAft>
                  <a:spcPts val="600"/>
                </a:spcAft>
              </a:pP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Longest prefix of 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onsolas"/>
                  <a:ea typeface="Consolas"/>
                  <a:cs typeface="Consolas"/>
                  <a:sym typeface="Consolas"/>
                </a:rPr>
                <a:t>10000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 is 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onsolas"/>
                  <a:ea typeface="Consolas"/>
                  <a:cs typeface="Consolas"/>
                  <a:sym typeface="Consolas"/>
                </a:rPr>
                <a:t>100 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onsolas"/>
                  <a:ea typeface="Consolas"/>
                  <a:cs typeface="Consolas"/>
                  <a:sym typeface="Wingdings" panose="05000000000000000000" pitchFamily="2" charset="2"/>
                </a:rPr>
                <a:t> Port 2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spcAft>
                  <a:spcPts val="600"/>
                </a:spcAft>
              </a:pPr>
              <a:r>
                <a:rPr lang="en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Longest prefix of </a:t>
              </a:r>
              <a:r>
                <a:rPr lang="en" dirty="0">
                  <a:solidFill>
                    <a:srgbClr val="C00000"/>
                  </a:solidFill>
                  <a:latin typeface="Consolas"/>
                  <a:ea typeface="Roboto"/>
                  <a:cs typeface="Roboto"/>
                  <a:sym typeface="Consolas"/>
                </a:rPr>
                <a:t>11</a:t>
              </a:r>
              <a:r>
                <a:rPr lang="en" dirty="0">
                  <a:solidFill>
                    <a:srgbClr val="C00000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r>
                <a:rPr lang="en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 is default </a:t>
              </a:r>
              <a:r>
                <a:rPr lang="en" dirty="0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Wingdings" panose="05000000000000000000" pitchFamily="2" charset="2"/>
                </a:rPr>
                <a:t> Port 0</a:t>
              </a:r>
              <a:endParaRPr lang="en-US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" name="Google Shape;1194;p61">
              <a:extLst>
                <a:ext uri="{FF2B5EF4-FFF2-40B4-BE49-F238E27FC236}">
                  <a16:creationId xmlns:a16="http://schemas.microsoft.com/office/drawing/2014/main" id="{2266D6B4-74A5-AC8E-C22E-D87102F5A17A}"/>
                </a:ext>
              </a:extLst>
            </p:cNvPr>
            <p:cNvSpPr txBox="1"/>
            <p:nvPr/>
          </p:nvSpPr>
          <p:spPr>
            <a:xfrm>
              <a:off x="10721114" y="3355929"/>
              <a:ext cx="252432" cy="33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25" tIns="27425" rIns="27425" bIns="27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8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7922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C273-FC35-A67C-4E17-D08885DE4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5AF9-7B4B-D8B8-6099-0520624BED73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E2D784B-2CBA-41D3-7E71-2B6471E6989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Packet Forwarding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Define the Routing Problem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Routing Protocol: Link State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456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99F9-3FFD-0294-BAD8-8ACCAF997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16220"/>
          </a:xfrm>
        </p:spPr>
        <p:txBody>
          <a:bodyPr/>
          <a:lstStyle/>
          <a:p>
            <a:r>
              <a:rPr lang="en-US" dirty="0"/>
              <a:t>Modeling the Network</a:t>
            </a:r>
          </a:p>
        </p:txBody>
      </p:sp>
      <p:sp>
        <p:nvSpPr>
          <p:cNvPr id="3" name="Google Shape;309;p33">
            <a:extLst>
              <a:ext uri="{FF2B5EF4-FFF2-40B4-BE49-F238E27FC236}">
                <a16:creationId xmlns:a16="http://schemas.microsoft.com/office/drawing/2014/main" id="{3B0AC44E-2BF2-458F-EAAC-FC0AD7CE0B28}"/>
              </a:ext>
            </a:extLst>
          </p:cNvPr>
          <p:cNvSpPr txBox="1">
            <a:spLocks/>
          </p:cNvSpPr>
          <p:nvPr/>
        </p:nvSpPr>
        <p:spPr>
          <a:xfrm>
            <a:off x="6808222" y="1004765"/>
            <a:ext cx="5340029" cy="28419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dirty="0"/>
              <a:t>We'll draw the network as a graph: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Each node represents a machine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Each edge represents a link. For now, assume every link is undirected and connects exactly 2 machines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Assume each machine is identified by a unique label (e.g., IP addr)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B50546-9AFE-EE56-BB66-425B33002A9F}"/>
              </a:ext>
            </a:extLst>
          </p:cNvPr>
          <p:cNvGrpSpPr/>
          <p:nvPr/>
        </p:nvGrpSpPr>
        <p:grpSpPr>
          <a:xfrm>
            <a:off x="3466482" y="3835599"/>
            <a:ext cx="8431985" cy="2885875"/>
            <a:chOff x="2597802" y="3850839"/>
            <a:chExt cx="8431985" cy="2885875"/>
          </a:xfrm>
        </p:grpSpPr>
        <p:sp>
          <p:nvSpPr>
            <p:cNvPr id="4" name="Google Shape;310;p33">
              <a:extLst>
                <a:ext uri="{FF2B5EF4-FFF2-40B4-BE49-F238E27FC236}">
                  <a16:creationId xmlns:a16="http://schemas.microsoft.com/office/drawing/2014/main" id="{D62C3EF1-8848-2DCA-8DD8-3909D9870FA2}"/>
                </a:ext>
              </a:extLst>
            </p:cNvPr>
            <p:cNvSpPr/>
            <p:nvPr/>
          </p:nvSpPr>
          <p:spPr>
            <a:xfrm>
              <a:off x="4433144" y="4663017"/>
              <a:ext cx="390303" cy="38886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" name="Google Shape;311;p33">
              <a:extLst>
                <a:ext uri="{FF2B5EF4-FFF2-40B4-BE49-F238E27FC236}">
                  <a16:creationId xmlns:a16="http://schemas.microsoft.com/office/drawing/2014/main" id="{41A5CFE4-8390-62C0-D894-D685FAADE4E2}"/>
                </a:ext>
              </a:extLst>
            </p:cNvPr>
            <p:cNvCxnSpPr>
              <a:stCxn id="4" idx="6"/>
              <a:endCxn id="24" idx="1"/>
            </p:cNvCxnSpPr>
            <p:nvPr/>
          </p:nvCxnSpPr>
          <p:spPr>
            <a:xfrm>
              <a:off x="4823448" y="4857448"/>
              <a:ext cx="861954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313;p33">
              <a:extLst>
                <a:ext uri="{FF2B5EF4-FFF2-40B4-BE49-F238E27FC236}">
                  <a16:creationId xmlns:a16="http://schemas.microsoft.com/office/drawing/2014/main" id="{D0FD14E0-EED0-6168-7108-056144D6E898}"/>
                </a:ext>
              </a:extLst>
            </p:cNvPr>
            <p:cNvSpPr/>
            <p:nvPr/>
          </p:nvSpPr>
          <p:spPr>
            <a:xfrm>
              <a:off x="7189765" y="3850839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" name="Google Shape;314;p33">
              <a:extLst>
                <a:ext uri="{FF2B5EF4-FFF2-40B4-BE49-F238E27FC236}">
                  <a16:creationId xmlns:a16="http://schemas.microsoft.com/office/drawing/2014/main" id="{B8BFC04A-30FF-C2A5-EF14-89E57F3E04B6}"/>
                </a:ext>
              </a:extLst>
            </p:cNvPr>
            <p:cNvCxnSpPr>
              <a:stCxn id="24" idx="3"/>
              <a:endCxn id="6" idx="1"/>
            </p:cNvCxnSpPr>
            <p:nvPr/>
          </p:nvCxnSpPr>
          <p:spPr>
            <a:xfrm rot="10800000" flipH="1">
              <a:off x="6075722" y="4045339"/>
              <a:ext cx="1114214" cy="81211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315;p33">
              <a:extLst>
                <a:ext uri="{FF2B5EF4-FFF2-40B4-BE49-F238E27FC236}">
                  <a16:creationId xmlns:a16="http://schemas.microsoft.com/office/drawing/2014/main" id="{1C078566-38DE-30C4-56B3-DFF1458893E2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6075722" y="4857448"/>
              <a:ext cx="1114214" cy="159638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317;p33">
              <a:extLst>
                <a:ext uri="{FF2B5EF4-FFF2-40B4-BE49-F238E27FC236}">
                  <a16:creationId xmlns:a16="http://schemas.microsoft.com/office/drawing/2014/main" id="{1B04FDB8-1B3F-F5C1-226A-EA91A8DEAAE6}"/>
                </a:ext>
              </a:extLst>
            </p:cNvPr>
            <p:cNvCxnSpPr>
              <a:stCxn id="6" idx="3"/>
              <a:endCxn id="26" idx="1"/>
            </p:cNvCxnSpPr>
            <p:nvPr/>
          </p:nvCxnSpPr>
          <p:spPr>
            <a:xfrm>
              <a:off x="7580068" y="4045270"/>
              <a:ext cx="1422348" cy="406055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319;p33">
              <a:extLst>
                <a:ext uri="{FF2B5EF4-FFF2-40B4-BE49-F238E27FC236}">
                  <a16:creationId xmlns:a16="http://schemas.microsoft.com/office/drawing/2014/main" id="{C32F95F5-FB45-5B9E-128F-315B8356C1E1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 rot="10800000" flipH="1">
              <a:off x="7580068" y="4451462"/>
              <a:ext cx="1422348" cy="565693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320;p33">
              <a:extLst>
                <a:ext uri="{FF2B5EF4-FFF2-40B4-BE49-F238E27FC236}">
                  <a16:creationId xmlns:a16="http://schemas.microsoft.com/office/drawing/2014/main" id="{31394F9D-319A-1E1E-0158-B58600514AE7}"/>
                </a:ext>
              </a:extLst>
            </p:cNvPr>
            <p:cNvSpPr/>
            <p:nvPr/>
          </p:nvSpPr>
          <p:spPr>
            <a:xfrm>
              <a:off x="8500192" y="5469703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R7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" name="Google Shape;321;p33">
              <a:extLst>
                <a:ext uri="{FF2B5EF4-FFF2-40B4-BE49-F238E27FC236}">
                  <a16:creationId xmlns:a16="http://schemas.microsoft.com/office/drawing/2014/main" id="{7787F14A-DCD7-4830-7CB7-063B5329F635}"/>
                </a:ext>
              </a:extLst>
            </p:cNvPr>
            <p:cNvCxnSpPr>
              <a:stCxn id="25" idx="3"/>
              <a:endCxn id="11" idx="1"/>
            </p:cNvCxnSpPr>
            <p:nvPr/>
          </p:nvCxnSpPr>
          <p:spPr>
            <a:xfrm>
              <a:off x="7580068" y="5017155"/>
              <a:ext cx="920295" cy="64715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Google Shape;322;p33">
              <a:extLst>
                <a:ext uri="{FF2B5EF4-FFF2-40B4-BE49-F238E27FC236}">
                  <a16:creationId xmlns:a16="http://schemas.microsoft.com/office/drawing/2014/main" id="{A603FB99-4A2E-7EEF-4EDE-164D055C49A1}"/>
                </a:ext>
              </a:extLst>
            </p:cNvPr>
            <p:cNvSpPr/>
            <p:nvPr/>
          </p:nvSpPr>
          <p:spPr>
            <a:xfrm>
              <a:off x="6514266" y="5818145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" name="Google Shape;323;p33">
              <a:extLst>
                <a:ext uri="{FF2B5EF4-FFF2-40B4-BE49-F238E27FC236}">
                  <a16:creationId xmlns:a16="http://schemas.microsoft.com/office/drawing/2014/main" id="{9EAC0133-3E6E-B5C2-CF7A-03AA1A699CA2}"/>
                </a:ext>
              </a:extLst>
            </p:cNvPr>
            <p:cNvCxnSpPr>
              <a:stCxn id="13" idx="3"/>
              <a:endCxn id="11" idx="1"/>
            </p:cNvCxnSpPr>
            <p:nvPr/>
          </p:nvCxnSpPr>
          <p:spPr>
            <a:xfrm rot="10800000" flipH="1">
              <a:off x="6904569" y="5664237"/>
              <a:ext cx="1595725" cy="3483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Google Shape;324;p33">
              <a:extLst>
                <a:ext uri="{FF2B5EF4-FFF2-40B4-BE49-F238E27FC236}">
                  <a16:creationId xmlns:a16="http://schemas.microsoft.com/office/drawing/2014/main" id="{885919AD-B6B8-3258-5429-8C383BF8D45E}"/>
                </a:ext>
              </a:extLst>
            </p:cNvPr>
            <p:cNvSpPr/>
            <p:nvPr/>
          </p:nvSpPr>
          <p:spPr>
            <a:xfrm>
              <a:off x="5503843" y="6024003"/>
              <a:ext cx="390303" cy="38886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" name="Google Shape;325;p33">
              <a:extLst>
                <a:ext uri="{FF2B5EF4-FFF2-40B4-BE49-F238E27FC236}">
                  <a16:creationId xmlns:a16="http://schemas.microsoft.com/office/drawing/2014/main" id="{DF7DE2C3-6C2A-4964-241D-38A91E27C28D}"/>
                </a:ext>
              </a:extLst>
            </p:cNvPr>
            <p:cNvCxnSpPr>
              <a:stCxn id="15" idx="6"/>
              <a:endCxn id="13" idx="1"/>
            </p:cNvCxnSpPr>
            <p:nvPr/>
          </p:nvCxnSpPr>
          <p:spPr>
            <a:xfrm rot="10800000" flipH="1">
              <a:off x="5894146" y="6012542"/>
              <a:ext cx="619966" cy="20589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326;p33">
              <a:extLst>
                <a:ext uri="{FF2B5EF4-FFF2-40B4-BE49-F238E27FC236}">
                  <a16:creationId xmlns:a16="http://schemas.microsoft.com/office/drawing/2014/main" id="{64E555A5-FB7D-367D-8FEE-9FB11C2DDE36}"/>
                </a:ext>
              </a:extLst>
            </p:cNvPr>
            <p:cNvCxnSpPr>
              <a:stCxn id="11" idx="2"/>
              <a:endCxn id="18" idx="0"/>
            </p:cNvCxnSpPr>
            <p:nvPr/>
          </p:nvCxnSpPr>
          <p:spPr>
            <a:xfrm flipH="1">
              <a:off x="8175213" y="5858566"/>
              <a:ext cx="520131" cy="48914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327;p33">
              <a:extLst>
                <a:ext uri="{FF2B5EF4-FFF2-40B4-BE49-F238E27FC236}">
                  <a16:creationId xmlns:a16="http://schemas.microsoft.com/office/drawing/2014/main" id="{0438FD38-3A59-7BD6-16D6-D34A1B2C2BDB}"/>
                </a:ext>
              </a:extLst>
            </p:cNvPr>
            <p:cNvSpPr/>
            <p:nvPr/>
          </p:nvSpPr>
          <p:spPr>
            <a:xfrm>
              <a:off x="7980164" y="6347851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R6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" name="Google Shape;328;p33">
              <a:extLst>
                <a:ext uri="{FF2B5EF4-FFF2-40B4-BE49-F238E27FC236}">
                  <a16:creationId xmlns:a16="http://schemas.microsoft.com/office/drawing/2014/main" id="{BF8710F8-1B65-7A2B-985D-DC61B85B38F4}"/>
                </a:ext>
              </a:extLst>
            </p:cNvPr>
            <p:cNvCxnSpPr>
              <a:stCxn id="27" idx="2"/>
              <a:endCxn id="18" idx="3"/>
            </p:cNvCxnSpPr>
            <p:nvPr/>
          </p:nvCxnSpPr>
          <p:spPr>
            <a:xfrm flipH="1">
              <a:off x="8370364" y="6207008"/>
              <a:ext cx="1369760" cy="33524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330;p33">
              <a:extLst>
                <a:ext uri="{FF2B5EF4-FFF2-40B4-BE49-F238E27FC236}">
                  <a16:creationId xmlns:a16="http://schemas.microsoft.com/office/drawing/2014/main" id="{66775A10-2133-BD6D-BB34-B327ECABFD65}"/>
                </a:ext>
              </a:extLst>
            </p:cNvPr>
            <p:cNvCxnSpPr>
              <a:stCxn id="26" idx="2"/>
              <a:endCxn id="27" idx="0"/>
            </p:cNvCxnSpPr>
            <p:nvPr/>
          </p:nvCxnSpPr>
          <p:spPr>
            <a:xfrm>
              <a:off x="9197739" y="4645825"/>
              <a:ext cx="542316" cy="117232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331;p33">
              <a:extLst>
                <a:ext uri="{FF2B5EF4-FFF2-40B4-BE49-F238E27FC236}">
                  <a16:creationId xmlns:a16="http://schemas.microsoft.com/office/drawing/2014/main" id="{5E702D7F-F493-373E-4FE4-15352A6BA6F9}"/>
                </a:ext>
              </a:extLst>
            </p:cNvPr>
            <p:cNvCxnSpPr>
              <a:stCxn id="28" idx="2"/>
              <a:endCxn id="27" idx="3"/>
            </p:cNvCxnSpPr>
            <p:nvPr/>
          </p:nvCxnSpPr>
          <p:spPr>
            <a:xfrm flipH="1">
              <a:off x="9935294" y="5768752"/>
              <a:ext cx="704190" cy="24396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333;p33">
              <a:extLst>
                <a:ext uri="{FF2B5EF4-FFF2-40B4-BE49-F238E27FC236}">
                  <a16:creationId xmlns:a16="http://schemas.microsoft.com/office/drawing/2014/main" id="{33263B47-7B08-AFBC-941A-699A664E8DB0}"/>
                </a:ext>
              </a:extLst>
            </p:cNvPr>
            <p:cNvSpPr/>
            <p:nvPr/>
          </p:nvSpPr>
          <p:spPr>
            <a:xfrm>
              <a:off x="10092237" y="4381773"/>
              <a:ext cx="390303" cy="38886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" name="Google Shape;334;p33">
              <a:extLst>
                <a:ext uri="{FF2B5EF4-FFF2-40B4-BE49-F238E27FC236}">
                  <a16:creationId xmlns:a16="http://schemas.microsoft.com/office/drawing/2014/main" id="{33A37336-5C7D-4225-35C0-5D522897BB25}"/>
                </a:ext>
              </a:extLst>
            </p:cNvPr>
            <p:cNvCxnSpPr>
              <a:stCxn id="22" idx="2"/>
              <a:endCxn id="26" idx="3"/>
            </p:cNvCxnSpPr>
            <p:nvPr/>
          </p:nvCxnSpPr>
          <p:spPr>
            <a:xfrm rot="10800000">
              <a:off x="9392977" y="4451359"/>
              <a:ext cx="699260" cy="124845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312;p33">
              <a:extLst>
                <a:ext uri="{FF2B5EF4-FFF2-40B4-BE49-F238E27FC236}">
                  <a16:creationId xmlns:a16="http://schemas.microsoft.com/office/drawing/2014/main" id="{D9C710F8-5772-3831-074E-56C7D6264452}"/>
                </a:ext>
              </a:extLst>
            </p:cNvPr>
            <p:cNvSpPr/>
            <p:nvPr/>
          </p:nvSpPr>
          <p:spPr>
            <a:xfrm>
              <a:off x="5685419" y="4663017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" name="Google Shape;316;p33">
              <a:extLst>
                <a:ext uri="{FF2B5EF4-FFF2-40B4-BE49-F238E27FC236}">
                  <a16:creationId xmlns:a16="http://schemas.microsoft.com/office/drawing/2014/main" id="{050C22FC-CD97-40D0-89B9-C313A699F1E6}"/>
                </a:ext>
              </a:extLst>
            </p:cNvPr>
            <p:cNvSpPr/>
            <p:nvPr/>
          </p:nvSpPr>
          <p:spPr>
            <a:xfrm>
              <a:off x="7189765" y="4822724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" name="Google Shape;318;p33">
              <a:extLst>
                <a:ext uri="{FF2B5EF4-FFF2-40B4-BE49-F238E27FC236}">
                  <a16:creationId xmlns:a16="http://schemas.microsoft.com/office/drawing/2014/main" id="{82F49652-D5A6-F9A5-FAF5-052813AA7BF6}"/>
                </a:ext>
              </a:extLst>
            </p:cNvPr>
            <p:cNvSpPr/>
            <p:nvPr/>
          </p:nvSpPr>
          <p:spPr>
            <a:xfrm>
              <a:off x="9002588" y="4256962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329;p33">
              <a:extLst>
                <a:ext uri="{FF2B5EF4-FFF2-40B4-BE49-F238E27FC236}">
                  <a16:creationId xmlns:a16="http://schemas.microsoft.com/office/drawing/2014/main" id="{A3BA05A8-F5CB-99BF-CB5B-5F5D5EF9B999}"/>
                </a:ext>
              </a:extLst>
            </p:cNvPr>
            <p:cNvSpPr/>
            <p:nvPr/>
          </p:nvSpPr>
          <p:spPr>
            <a:xfrm>
              <a:off x="9544973" y="5818145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R8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332;p33">
              <a:extLst>
                <a:ext uri="{FF2B5EF4-FFF2-40B4-BE49-F238E27FC236}">
                  <a16:creationId xmlns:a16="http://schemas.microsoft.com/office/drawing/2014/main" id="{B018848C-43C5-7FC4-1A6B-81B5C267485C}"/>
                </a:ext>
              </a:extLst>
            </p:cNvPr>
            <p:cNvSpPr/>
            <p:nvPr/>
          </p:nvSpPr>
          <p:spPr>
            <a:xfrm>
              <a:off x="10639484" y="5574321"/>
              <a:ext cx="390303" cy="38886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335;p33">
              <a:extLst>
                <a:ext uri="{FF2B5EF4-FFF2-40B4-BE49-F238E27FC236}">
                  <a16:creationId xmlns:a16="http://schemas.microsoft.com/office/drawing/2014/main" id="{D35E8F68-D922-9CBE-FA64-93E01019D409}"/>
                </a:ext>
              </a:extLst>
            </p:cNvPr>
            <p:cNvSpPr/>
            <p:nvPr/>
          </p:nvSpPr>
          <p:spPr>
            <a:xfrm>
              <a:off x="2597802" y="5617277"/>
              <a:ext cx="390303" cy="38886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336;p33">
              <a:extLst>
                <a:ext uri="{FF2B5EF4-FFF2-40B4-BE49-F238E27FC236}">
                  <a16:creationId xmlns:a16="http://schemas.microsoft.com/office/drawing/2014/main" id="{7C0F8C63-71D4-F7CB-FF29-3311828AFA98}"/>
                </a:ext>
              </a:extLst>
            </p:cNvPr>
            <p:cNvSpPr/>
            <p:nvPr/>
          </p:nvSpPr>
          <p:spPr>
            <a:xfrm>
              <a:off x="2597807" y="6153283"/>
              <a:ext cx="390303" cy="388863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" name="Google Shape;337;p33">
              <a:extLst>
                <a:ext uri="{FF2B5EF4-FFF2-40B4-BE49-F238E27FC236}">
                  <a16:creationId xmlns:a16="http://schemas.microsoft.com/office/drawing/2014/main" id="{5B6C7FF9-BD36-FA4F-1401-3B41A363F127}"/>
                </a:ext>
              </a:extLst>
            </p:cNvPr>
            <p:cNvSpPr txBox="1">
              <a:spLocks/>
            </p:cNvSpPr>
            <p:nvPr/>
          </p:nvSpPr>
          <p:spPr>
            <a:xfrm>
              <a:off x="3092460" y="5524077"/>
              <a:ext cx="1681181" cy="1172320"/>
            </a:xfrm>
            <a:prstGeom prst="rect">
              <a:avLst/>
            </a:prstGeom>
          </p:spPr>
          <p:txBody>
            <a:bodyPr spcFirstLastPara="1" wrap="square" lIns="0" tIns="0" rIns="0" bIns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600"/>
                </a:spcBef>
                <a:buFont typeface="Arial" panose="020B0604020202020204" pitchFamily="34" charset="0"/>
                <a:buNone/>
              </a:pPr>
              <a:r>
                <a:rPr lang="en-US" dirty="0"/>
                <a:t>= End host</a:t>
              </a:r>
            </a:p>
            <a:p>
              <a:pPr marL="0" indent="0">
                <a:spcBef>
                  <a:spcPts val="600"/>
                </a:spcBef>
                <a:buFont typeface="Arial" panose="020B0604020202020204" pitchFamily="34" charset="0"/>
                <a:buNone/>
              </a:pPr>
              <a:r>
                <a:rPr lang="en-US" dirty="0"/>
                <a:t>= Router</a:t>
              </a:r>
            </a:p>
          </p:txBody>
        </p:sp>
      </p:grpSp>
      <p:sp>
        <p:nvSpPr>
          <p:cNvPr id="33" name="Google Shape;297;p32">
            <a:extLst>
              <a:ext uri="{FF2B5EF4-FFF2-40B4-BE49-F238E27FC236}">
                <a16:creationId xmlns:a16="http://schemas.microsoft.com/office/drawing/2014/main" id="{584583BC-D5FE-A715-86D2-B11BF0D40CF3}"/>
              </a:ext>
            </a:extLst>
          </p:cNvPr>
          <p:cNvSpPr txBox="1">
            <a:spLocks/>
          </p:cNvSpPr>
          <p:nvPr/>
        </p:nvSpPr>
        <p:spPr>
          <a:xfrm>
            <a:off x="43748" y="961992"/>
            <a:ext cx="6412291" cy="40746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dirty="0"/>
              <a:t>Two types of machines on the network (</a:t>
            </a:r>
            <a:r>
              <a:rPr lang="en-US" sz="2200" i="1" dirty="0">
                <a:solidFill>
                  <a:srgbClr val="C00000"/>
                </a:solidFill>
              </a:rPr>
              <a:t>simplified</a:t>
            </a:r>
            <a:r>
              <a:rPr lang="en-US" sz="2200" dirty="0"/>
              <a:t>):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b="1" dirty="0"/>
              <a:t>End hosts</a:t>
            </a:r>
            <a:r>
              <a:rPr lang="en-US" sz="2200" dirty="0"/>
              <a:t> send and receive packets, to and from other end hosts.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Example: Your personal computer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End hosts don't forward intermediate packets.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200" b="1" dirty="0"/>
              <a:t>Routers</a:t>
            </a:r>
            <a:r>
              <a:rPr lang="en-US" sz="2200" dirty="0"/>
              <a:t> forward intermediate packets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Example: Your home router, heavy-duty router in a datacenter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For now, assume routers don't send and receive packets of their own</a:t>
            </a:r>
          </a:p>
        </p:txBody>
      </p:sp>
    </p:spTree>
    <p:extLst>
      <p:ext uri="{BB962C8B-B14F-4D97-AF65-F5344CB8AC3E}">
        <p14:creationId xmlns:p14="http://schemas.microsoft.com/office/powerpoint/2010/main" val="3850279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8C295-81F3-1722-003A-BA48275B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BEED-6912-C591-AE87-F6C0230E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73150"/>
          </a:xfrm>
        </p:spPr>
        <p:txBody>
          <a:bodyPr/>
          <a:lstStyle/>
          <a:p>
            <a:r>
              <a:rPr lang="en-US" dirty="0"/>
              <a:t>Modeling the Network</a:t>
            </a:r>
          </a:p>
        </p:txBody>
      </p:sp>
      <p:sp>
        <p:nvSpPr>
          <p:cNvPr id="3" name="Google Shape;309;p33">
            <a:extLst>
              <a:ext uri="{FF2B5EF4-FFF2-40B4-BE49-F238E27FC236}">
                <a16:creationId xmlns:a16="http://schemas.microsoft.com/office/drawing/2014/main" id="{E04E7878-3EC1-CA1E-830A-0AD9545A4AE0}"/>
              </a:ext>
            </a:extLst>
          </p:cNvPr>
          <p:cNvSpPr txBox="1">
            <a:spLocks/>
          </p:cNvSpPr>
          <p:nvPr/>
        </p:nvSpPr>
        <p:spPr>
          <a:xfrm>
            <a:off x="171451" y="1545198"/>
            <a:ext cx="8027670" cy="3903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/>
              <a:t>Packets</a:t>
            </a:r>
            <a:r>
              <a:rPr lang="en-US" sz="2400" dirty="0"/>
              <a:t> are the basic unit of data sent across the network.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Packets have a header with metadata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For now, we only care about the </a:t>
            </a:r>
            <a:r>
              <a:rPr lang="en-US" sz="2400" i="1" dirty="0">
                <a:solidFill>
                  <a:srgbClr val="C00000"/>
                </a:solidFill>
              </a:rPr>
              <a:t>source address </a:t>
            </a:r>
            <a:r>
              <a:rPr lang="en-US" sz="2400" dirty="0"/>
              <a:t>and </a:t>
            </a:r>
            <a:r>
              <a:rPr lang="en-US" sz="2400" i="1" dirty="0">
                <a:solidFill>
                  <a:srgbClr val="C00000"/>
                </a:solidFill>
              </a:rPr>
              <a:t>destination address </a:t>
            </a:r>
            <a:r>
              <a:rPr lang="en-US" sz="2400" dirty="0"/>
              <a:t>fields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Packets have a payload with the application data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Example: Website contents, image, etc.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Routing isn't concerned about the payload. It's just some sequence of 1s and 0s we have to forward</a:t>
            </a:r>
          </a:p>
        </p:txBody>
      </p:sp>
      <p:sp>
        <p:nvSpPr>
          <p:cNvPr id="33" name="Google Shape;344;p34">
            <a:extLst>
              <a:ext uri="{FF2B5EF4-FFF2-40B4-BE49-F238E27FC236}">
                <a16:creationId xmlns:a16="http://schemas.microsoft.com/office/drawing/2014/main" id="{938C8AA4-DD61-CD8F-7339-BF3557DF81AE}"/>
              </a:ext>
            </a:extLst>
          </p:cNvPr>
          <p:cNvSpPr/>
          <p:nvPr/>
        </p:nvSpPr>
        <p:spPr>
          <a:xfrm>
            <a:off x="8650450" y="1871725"/>
            <a:ext cx="3370100" cy="4945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 Address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5;p34">
            <a:extLst>
              <a:ext uri="{FF2B5EF4-FFF2-40B4-BE49-F238E27FC236}">
                <a16:creationId xmlns:a16="http://schemas.microsoft.com/office/drawing/2014/main" id="{ACBA46E5-65A7-C580-2F2A-E343CF2610AE}"/>
              </a:ext>
            </a:extLst>
          </p:cNvPr>
          <p:cNvSpPr/>
          <p:nvPr/>
        </p:nvSpPr>
        <p:spPr>
          <a:xfrm>
            <a:off x="8650450" y="2366225"/>
            <a:ext cx="3370100" cy="4943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Destination Address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46;p34">
            <a:extLst>
              <a:ext uri="{FF2B5EF4-FFF2-40B4-BE49-F238E27FC236}">
                <a16:creationId xmlns:a16="http://schemas.microsoft.com/office/drawing/2014/main" id="{7EE11DDA-31F7-190F-F24F-2CDC8DC58C24}"/>
              </a:ext>
            </a:extLst>
          </p:cNvPr>
          <p:cNvSpPr/>
          <p:nvPr/>
        </p:nvSpPr>
        <p:spPr>
          <a:xfrm>
            <a:off x="8650450" y="2860624"/>
            <a:ext cx="3370100" cy="2587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0948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CE5DF8-722E-5319-40C8-FF74277A2873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7239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Least-Cost Routing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E3833-7A36-DA91-BF6F-AE7FFA1D811A}"/>
              </a:ext>
            </a:extLst>
          </p:cNvPr>
          <p:cNvSpPr txBox="1"/>
          <p:nvPr/>
        </p:nvSpPr>
        <p:spPr>
          <a:xfrm>
            <a:off x="271754" y="1227269"/>
            <a:ext cx="6661631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What makes a routing solution </a:t>
            </a:r>
            <a:r>
              <a:rPr lang="en-US" sz="2200" b="1" i="1" dirty="0"/>
              <a:t>good</a:t>
            </a:r>
            <a:r>
              <a:rPr lang="en-US" sz="2200" dirty="0"/>
              <a:t>? Many different ways to define good, including: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Transmission delay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sz="2200" dirty="0"/>
              <a:t>Price cost</a:t>
            </a:r>
            <a:endParaRPr lang="en-US" sz="2200" dirty="0"/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Unreliability</a:t>
            </a:r>
          </a:p>
          <a:p>
            <a:pPr marL="342900" lvl="0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Bandwidth constraints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2200" b="1" dirty="0"/>
              <a:t>Least-cost routing</a:t>
            </a:r>
            <a:r>
              <a:rPr lang="en-US" sz="2200" dirty="0"/>
              <a:t>: Assign costs to every edge, and find paths with lowest cost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Cost depends on the metric the operator wants to minimize.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Costs can be arbitrary. Routing protocols don't care where the costs come from.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10F43CD-098E-1ADA-9A87-24C86555CF26}"/>
              </a:ext>
            </a:extLst>
          </p:cNvPr>
          <p:cNvGrpSpPr/>
          <p:nvPr/>
        </p:nvGrpSpPr>
        <p:grpSpPr>
          <a:xfrm>
            <a:off x="4610100" y="1844115"/>
            <a:ext cx="7505700" cy="3436545"/>
            <a:chOff x="2153450" y="2819475"/>
            <a:chExt cx="4816875" cy="2115075"/>
          </a:xfrm>
        </p:grpSpPr>
        <p:sp>
          <p:nvSpPr>
            <p:cNvPr id="7" name="Google Shape;1279;p68">
              <a:extLst>
                <a:ext uri="{FF2B5EF4-FFF2-40B4-BE49-F238E27FC236}">
                  <a16:creationId xmlns:a16="http://schemas.microsoft.com/office/drawing/2014/main" id="{928965DB-B6C6-1AB9-848E-63E3DD376600}"/>
                </a:ext>
              </a:extLst>
            </p:cNvPr>
            <p:cNvSpPr/>
            <p:nvPr/>
          </p:nvSpPr>
          <p:spPr>
            <a:xfrm>
              <a:off x="2153450" y="3414725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" name="Google Shape;1280;p68">
              <a:extLst>
                <a:ext uri="{FF2B5EF4-FFF2-40B4-BE49-F238E27FC236}">
                  <a16:creationId xmlns:a16="http://schemas.microsoft.com/office/drawing/2014/main" id="{7BCCADC8-61D1-318B-D163-64E105E8F826}"/>
                </a:ext>
              </a:extLst>
            </p:cNvPr>
            <p:cNvCxnSpPr>
              <a:stCxn id="7" idx="6"/>
              <a:endCxn id="27" idx="1"/>
            </p:cNvCxnSpPr>
            <p:nvPr/>
          </p:nvCxnSpPr>
          <p:spPr>
            <a:xfrm>
              <a:off x="2438450" y="3557225"/>
              <a:ext cx="62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282;p68">
              <a:extLst>
                <a:ext uri="{FF2B5EF4-FFF2-40B4-BE49-F238E27FC236}">
                  <a16:creationId xmlns:a16="http://schemas.microsoft.com/office/drawing/2014/main" id="{67B88D6D-5470-F957-B2FE-415DA79D90C2}"/>
                </a:ext>
              </a:extLst>
            </p:cNvPr>
            <p:cNvSpPr/>
            <p:nvPr/>
          </p:nvSpPr>
          <p:spPr>
            <a:xfrm>
              <a:off x="4166338" y="281947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" name="Google Shape;1283;p68">
              <a:extLst>
                <a:ext uri="{FF2B5EF4-FFF2-40B4-BE49-F238E27FC236}">
                  <a16:creationId xmlns:a16="http://schemas.microsoft.com/office/drawing/2014/main" id="{A437AD5F-1DD1-BDDC-9493-FB6B2C9619C4}"/>
                </a:ext>
              </a:extLst>
            </p:cNvPr>
            <p:cNvCxnSpPr>
              <a:stCxn id="27" idx="3"/>
              <a:endCxn id="9" idx="1"/>
            </p:cNvCxnSpPr>
            <p:nvPr/>
          </p:nvCxnSpPr>
          <p:spPr>
            <a:xfrm rot="10800000" flipH="1">
              <a:off x="3352863" y="2962025"/>
              <a:ext cx="813600" cy="59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284;p68">
              <a:extLst>
                <a:ext uri="{FF2B5EF4-FFF2-40B4-BE49-F238E27FC236}">
                  <a16:creationId xmlns:a16="http://schemas.microsoft.com/office/drawing/2014/main" id="{9C8ACCC8-C9E2-66AB-9B04-81DF0440E581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>
              <a:off x="3352863" y="3557225"/>
              <a:ext cx="813600" cy="11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86;p68">
              <a:extLst>
                <a:ext uri="{FF2B5EF4-FFF2-40B4-BE49-F238E27FC236}">
                  <a16:creationId xmlns:a16="http://schemas.microsoft.com/office/drawing/2014/main" id="{617E3A27-AFAE-4FDD-B52B-A3112CFF49C3}"/>
                </a:ext>
              </a:extLst>
            </p:cNvPr>
            <p:cNvCxnSpPr>
              <a:stCxn id="9" idx="3"/>
              <a:endCxn id="29" idx="1"/>
            </p:cNvCxnSpPr>
            <p:nvPr/>
          </p:nvCxnSpPr>
          <p:spPr>
            <a:xfrm>
              <a:off x="4451338" y="2961975"/>
              <a:ext cx="1038600" cy="297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288;p68">
              <a:extLst>
                <a:ext uri="{FF2B5EF4-FFF2-40B4-BE49-F238E27FC236}">
                  <a16:creationId xmlns:a16="http://schemas.microsoft.com/office/drawing/2014/main" id="{F84E8E8E-E666-A9C1-D2B6-7D1A3D956AB1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 rot="10800000" flipH="1">
              <a:off x="4451338" y="3259675"/>
              <a:ext cx="1038600" cy="41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289;p68">
              <a:extLst>
                <a:ext uri="{FF2B5EF4-FFF2-40B4-BE49-F238E27FC236}">
                  <a16:creationId xmlns:a16="http://schemas.microsoft.com/office/drawing/2014/main" id="{1324F5E0-0F75-4CA6-A782-AEACCA9C41A2}"/>
                </a:ext>
              </a:extLst>
            </p:cNvPr>
            <p:cNvSpPr/>
            <p:nvPr/>
          </p:nvSpPr>
          <p:spPr>
            <a:xfrm>
              <a:off x="5123213" y="40059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R7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" name="Google Shape;1290;p68">
              <a:extLst>
                <a:ext uri="{FF2B5EF4-FFF2-40B4-BE49-F238E27FC236}">
                  <a16:creationId xmlns:a16="http://schemas.microsoft.com/office/drawing/2014/main" id="{5EFDA5EB-8C17-7D11-49B6-74D9C6EC1869}"/>
                </a:ext>
              </a:extLst>
            </p:cNvPr>
            <p:cNvCxnSpPr>
              <a:stCxn id="28" idx="3"/>
              <a:endCxn id="14" idx="1"/>
            </p:cNvCxnSpPr>
            <p:nvPr/>
          </p:nvCxnSpPr>
          <p:spPr>
            <a:xfrm>
              <a:off x="4451338" y="3674275"/>
              <a:ext cx="672000" cy="474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Google Shape;1291;p68">
              <a:extLst>
                <a:ext uri="{FF2B5EF4-FFF2-40B4-BE49-F238E27FC236}">
                  <a16:creationId xmlns:a16="http://schemas.microsoft.com/office/drawing/2014/main" id="{503D2243-9484-FA81-FDF5-30D46079F679}"/>
                </a:ext>
              </a:extLst>
            </p:cNvPr>
            <p:cNvSpPr/>
            <p:nvPr/>
          </p:nvSpPr>
          <p:spPr>
            <a:xfrm>
              <a:off x="3673088" y="426132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" name="Google Shape;1292;p68">
              <a:extLst>
                <a:ext uri="{FF2B5EF4-FFF2-40B4-BE49-F238E27FC236}">
                  <a16:creationId xmlns:a16="http://schemas.microsoft.com/office/drawing/2014/main" id="{E6CC5F37-8E5E-DEAA-2EC6-13C8C0C9C4F8}"/>
                </a:ext>
              </a:extLst>
            </p:cNvPr>
            <p:cNvCxnSpPr>
              <a:stCxn id="16" idx="3"/>
              <a:endCxn id="14" idx="1"/>
            </p:cNvCxnSpPr>
            <p:nvPr/>
          </p:nvCxnSpPr>
          <p:spPr>
            <a:xfrm rot="10800000" flipH="1">
              <a:off x="3958088" y="4148525"/>
              <a:ext cx="1165200" cy="255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1293;p68">
              <a:extLst>
                <a:ext uri="{FF2B5EF4-FFF2-40B4-BE49-F238E27FC236}">
                  <a16:creationId xmlns:a16="http://schemas.microsoft.com/office/drawing/2014/main" id="{3EC2840D-A4B4-B25C-B15B-961551A081CD}"/>
                </a:ext>
              </a:extLst>
            </p:cNvPr>
            <p:cNvSpPr/>
            <p:nvPr/>
          </p:nvSpPr>
          <p:spPr>
            <a:xfrm>
              <a:off x="2935275" y="441220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" name="Google Shape;1294;p68">
              <a:extLst>
                <a:ext uri="{FF2B5EF4-FFF2-40B4-BE49-F238E27FC236}">
                  <a16:creationId xmlns:a16="http://schemas.microsoft.com/office/drawing/2014/main" id="{6AE1403E-26AE-759E-909C-F7453F3913B7}"/>
                </a:ext>
              </a:extLst>
            </p:cNvPr>
            <p:cNvCxnSpPr>
              <a:stCxn id="18" idx="6"/>
              <a:endCxn id="16" idx="1"/>
            </p:cNvCxnSpPr>
            <p:nvPr/>
          </p:nvCxnSpPr>
          <p:spPr>
            <a:xfrm rot="10800000" flipH="1">
              <a:off x="3220275" y="4403800"/>
              <a:ext cx="452700" cy="150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295;p68">
              <a:extLst>
                <a:ext uri="{FF2B5EF4-FFF2-40B4-BE49-F238E27FC236}">
                  <a16:creationId xmlns:a16="http://schemas.microsoft.com/office/drawing/2014/main" id="{240D5A5C-2694-EACA-21F9-20AF73C7F870}"/>
                </a:ext>
              </a:extLst>
            </p:cNvPr>
            <p:cNvCxnSpPr>
              <a:stCxn id="14" idx="2"/>
              <a:endCxn id="21" idx="0"/>
            </p:cNvCxnSpPr>
            <p:nvPr/>
          </p:nvCxnSpPr>
          <p:spPr>
            <a:xfrm flipH="1">
              <a:off x="4885913" y="4290950"/>
              <a:ext cx="379800" cy="358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Google Shape;1296;p68">
              <a:extLst>
                <a:ext uri="{FF2B5EF4-FFF2-40B4-BE49-F238E27FC236}">
                  <a16:creationId xmlns:a16="http://schemas.microsoft.com/office/drawing/2014/main" id="{224539DA-28CA-4BD0-2CD0-7DB1CB5F8452}"/>
                </a:ext>
              </a:extLst>
            </p:cNvPr>
            <p:cNvSpPr/>
            <p:nvPr/>
          </p:nvSpPr>
          <p:spPr>
            <a:xfrm>
              <a:off x="4743488" y="4649550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R6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" name="Google Shape;1297;p68">
              <a:extLst>
                <a:ext uri="{FF2B5EF4-FFF2-40B4-BE49-F238E27FC236}">
                  <a16:creationId xmlns:a16="http://schemas.microsoft.com/office/drawing/2014/main" id="{7C61034E-52AD-AA34-35C1-9B3236F01357}"/>
                </a:ext>
              </a:extLst>
            </p:cNvPr>
            <p:cNvCxnSpPr>
              <a:stCxn id="30" idx="2"/>
              <a:endCxn id="21" idx="3"/>
            </p:cNvCxnSpPr>
            <p:nvPr/>
          </p:nvCxnSpPr>
          <p:spPr>
            <a:xfrm flipH="1">
              <a:off x="5028413" y="4546325"/>
              <a:ext cx="1000200" cy="245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1299;p68">
              <a:extLst>
                <a:ext uri="{FF2B5EF4-FFF2-40B4-BE49-F238E27FC236}">
                  <a16:creationId xmlns:a16="http://schemas.microsoft.com/office/drawing/2014/main" id="{0BCE56E6-98EA-7610-BABD-E0BF27D18512}"/>
                </a:ext>
              </a:extLst>
            </p:cNvPr>
            <p:cNvCxnSpPr>
              <a:stCxn id="29" idx="2"/>
              <a:endCxn id="30" idx="0"/>
            </p:cNvCxnSpPr>
            <p:nvPr/>
          </p:nvCxnSpPr>
          <p:spPr>
            <a:xfrm>
              <a:off x="5632563" y="3402125"/>
              <a:ext cx="396000" cy="859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1300;p68">
              <a:extLst>
                <a:ext uri="{FF2B5EF4-FFF2-40B4-BE49-F238E27FC236}">
                  <a16:creationId xmlns:a16="http://schemas.microsoft.com/office/drawing/2014/main" id="{B6BBB5F4-D8E8-D9F2-162E-F4B60B34F1AD}"/>
                </a:ext>
              </a:extLst>
            </p:cNvPr>
            <p:cNvCxnSpPr>
              <a:stCxn id="31" idx="2"/>
              <a:endCxn id="30" idx="3"/>
            </p:cNvCxnSpPr>
            <p:nvPr/>
          </p:nvCxnSpPr>
          <p:spPr>
            <a:xfrm flipH="1">
              <a:off x="6171125" y="4225125"/>
              <a:ext cx="514200" cy="17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Google Shape;1302;p68">
              <a:extLst>
                <a:ext uri="{FF2B5EF4-FFF2-40B4-BE49-F238E27FC236}">
                  <a16:creationId xmlns:a16="http://schemas.microsoft.com/office/drawing/2014/main" id="{CB37B75C-5978-4195-3198-D2F1363DB975}"/>
                </a:ext>
              </a:extLst>
            </p:cNvPr>
            <p:cNvSpPr/>
            <p:nvPr/>
          </p:nvSpPr>
          <p:spPr>
            <a:xfrm>
              <a:off x="6285725" y="320860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6" name="Google Shape;1303;p68">
              <a:extLst>
                <a:ext uri="{FF2B5EF4-FFF2-40B4-BE49-F238E27FC236}">
                  <a16:creationId xmlns:a16="http://schemas.microsoft.com/office/drawing/2014/main" id="{42BC7693-0D77-E9C0-2445-22F0680BBED3}"/>
                </a:ext>
              </a:extLst>
            </p:cNvPr>
            <p:cNvCxnSpPr>
              <a:stCxn id="25" idx="2"/>
              <a:endCxn id="29" idx="3"/>
            </p:cNvCxnSpPr>
            <p:nvPr/>
          </p:nvCxnSpPr>
          <p:spPr>
            <a:xfrm rot="10800000">
              <a:off x="5775125" y="3259600"/>
              <a:ext cx="510600" cy="9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Google Shape;1281;p68">
              <a:extLst>
                <a:ext uri="{FF2B5EF4-FFF2-40B4-BE49-F238E27FC236}">
                  <a16:creationId xmlns:a16="http://schemas.microsoft.com/office/drawing/2014/main" id="{330E9B90-05CE-2952-53D2-A9EBB91CC722}"/>
                </a:ext>
              </a:extLst>
            </p:cNvPr>
            <p:cNvSpPr/>
            <p:nvPr/>
          </p:nvSpPr>
          <p:spPr>
            <a:xfrm>
              <a:off x="3067863" y="341472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" name="Google Shape;1285;p68">
              <a:extLst>
                <a:ext uri="{FF2B5EF4-FFF2-40B4-BE49-F238E27FC236}">
                  <a16:creationId xmlns:a16="http://schemas.microsoft.com/office/drawing/2014/main" id="{E3A7F81B-6BE0-151F-FF06-2B67630E82B8}"/>
                </a:ext>
              </a:extLst>
            </p:cNvPr>
            <p:cNvSpPr/>
            <p:nvPr/>
          </p:nvSpPr>
          <p:spPr>
            <a:xfrm>
              <a:off x="4166338" y="353177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" name="Google Shape;1287;p68">
              <a:extLst>
                <a:ext uri="{FF2B5EF4-FFF2-40B4-BE49-F238E27FC236}">
                  <a16:creationId xmlns:a16="http://schemas.microsoft.com/office/drawing/2014/main" id="{BC81D888-026C-F419-1E05-A5E90E04A135}"/>
                </a:ext>
              </a:extLst>
            </p:cNvPr>
            <p:cNvSpPr/>
            <p:nvPr/>
          </p:nvSpPr>
          <p:spPr>
            <a:xfrm>
              <a:off x="5490063" y="311712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1298;p68">
              <a:extLst>
                <a:ext uri="{FF2B5EF4-FFF2-40B4-BE49-F238E27FC236}">
                  <a16:creationId xmlns:a16="http://schemas.microsoft.com/office/drawing/2014/main" id="{85765CBB-A10F-E918-5EB4-2E4FBE80998E}"/>
                </a:ext>
              </a:extLst>
            </p:cNvPr>
            <p:cNvSpPr/>
            <p:nvPr/>
          </p:nvSpPr>
          <p:spPr>
            <a:xfrm>
              <a:off x="5886113" y="426132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R8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" name="Google Shape;1301;p68">
              <a:extLst>
                <a:ext uri="{FF2B5EF4-FFF2-40B4-BE49-F238E27FC236}">
                  <a16:creationId xmlns:a16="http://schemas.microsoft.com/office/drawing/2014/main" id="{1DF05B6C-1B1D-8D88-FF2C-FD31A0BCC918}"/>
                </a:ext>
              </a:extLst>
            </p:cNvPr>
            <p:cNvSpPr/>
            <p:nvPr/>
          </p:nvSpPr>
          <p:spPr>
            <a:xfrm>
              <a:off x="6685325" y="4082625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" name="Google Shape;1304;p68">
              <a:extLst>
                <a:ext uri="{FF2B5EF4-FFF2-40B4-BE49-F238E27FC236}">
                  <a16:creationId xmlns:a16="http://schemas.microsoft.com/office/drawing/2014/main" id="{9E27147D-DE23-F4FD-F809-BA4B21D2A5C9}"/>
                </a:ext>
              </a:extLst>
            </p:cNvPr>
            <p:cNvSpPr txBox="1"/>
            <p:nvPr/>
          </p:nvSpPr>
          <p:spPr>
            <a:xfrm>
              <a:off x="2684013" y="3351100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33" name="Google Shape;1305;p68">
              <a:extLst>
                <a:ext uri="{FF2B5EF4-FFF2-40B4-BE49-F238E27FC236}">
                  <a16:creationId xmlns:a16="http://schemas.microsoft.com/office/drawing/2014/main" id="{3641CDD1-5D98-0A3A-10B9-74E154452E78}"/>
                </a:ext>
              </a:extLst>
            </p:cNvPr>
            <p:cNvSpPr txBox="1"/>
            <p:nvPr/>
          </p:nvSpPr>
          <p:spPr>
            <a:xfrm>
              <a:off x="3668002" y="3044530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34" name="Google Shape;1306;p68">
              <a:extLst>
                <a:ext uri="{FF2B5EF4-FFF2-40B4-BE49-F238E27FC236}">
                  <a16:creationId xmlns:a16="http://schemas.microsoft.com/office/drawing/2014/main" id="{45FB033B-FDF0-F016-AA81-FBCBD3BD3A6A}"/>
                </a:ext>
              </a:extLst>
            </p:cNvPr>
            <p:cNvSpPr txBox="1"/>
            <p:nvPr/>
          </p:nvSpPr>
          <p:spPr>
            <a:xfrm>
              <a:off x="4885913" y="2854263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35" name="Google Shape;1307;p68">
              <a:extLst>
                <a:ext uri="{FF2B5EF4-FFF2-40B4-BE49-F238E27FC236}">
                  <a16:creationId xmlns:a16="http://schemas.microsoft.com/office/drawing/2014/main" id="{6AD9EBEA-07F3-FF5B-3475-9040D257E205}"/>
                </a:ext>
              </a:extLst>
            </p:cNvPr>
            <p:cNvSpPr txBox="1"/>
            <p:nvPr/>
          </p:nvSpPr>
          <p:spPr>
            <a:xfrm>
              <a:off x="5833175" y="3698500"/>
              <a:ext cx="220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/>
            </a:p>
          </p:txBody>
        </p:sp>
        <p:sp>
          <p:nvSpPr>
            <p:cNvPr id="36" name="Google Shape;1308;p68">
              <a:extLst>
                <a:ext uri="{FF2B5EF4-FFF2-40B4-BE49-F238E27FC236}">
                  <a16:creationId xmlns:a16="http://schemas.microsoft.com/office/drawing/2014/main" id="{ADFE328E-DB2A-F4B3-FA42-17D66655E765}"/>
                </a:ext>
              </a:extLst>
            </p:cNvPr>
            <p:cNvSpPr txBox="1"/>
            <p:nvPr/>
          </p:nvSpPr>
          <p:spPr>
            <a:xfrm>
              <a:off x="3377525" y="426132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37" name="Google Shape;1309;p68">
              <a:extLst>
                <a:ext uri="{FF2B5EF4-FFF2-40B4-BE49-F238E27FC236}">
                  <a16:creationId xmlns:a16="http://schemas.microsoft.com/office/drawing/2014/main" id="{ECF963E7-261A-C310-4F66-212FD67533E4}"/>
                </a:ext>
              </a:extLst>
            </p:cNvPr>
            <p:cNvSpPr txBox="1"/>
            <p:nvPr/>
          </p:nvSpPr>
          <p:spPr>
            <a:xfrm>
              <a:off x="3746438" y="360137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38" name="Google Shape;1310;p68">
              <a:extLst>
                <a:ext uri="{FF2B5EF4-FFF2-40B4-BE49-F238E27FC236}">
                  <a16:creationId xmlns:a16="http://schemas.microsoft.com/office/drawing/2014/main" id="{535E2C39-3524-09E8-2B30-19419105ECDA}"/>
                </a:ext>
              </a:extLst>
            </p:cNvPr>
            <p:cNvSpPr txBox="1"/>
            <p:nvPr/>
          </p:nvSpPr>
          <p:spPr>
            <a:xfrm>
              <a:off x="4816838" y="3751913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39" name="Google Shape;1311;p68">
              <a:extLst>
                <a:ext uri="{FF2B5EF4-FFF2-40B4-BE49-F238E27FC236}">
                  <a16:creationId xmlns:a16="http://schemas.microsoft.com/office/drawing/2014/main" id="{DAC34C5D-93FC-D9B8-98DE-91CAD6C1E05A}"/>
                </a:ext>
              </a:extLst>
            </p:cNvPr>
            <p:cNvSpPr txBox="1"/>
            <p:nvPr/>
          </p:nvSpPr>
          <p:spPr>
            <a:xfrm>
              <a:off x="4972800" y="3449513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40" name="Google Shape;1312;p68">
              <a:extLst>
                <a:ext uri="{FF2B5EF4-FFF2-40B4-BE49-F238E27FC236}">
                  <a16:creationId xmlns:a16="http://schemas.microsoft.com/office/drawing/2014/main" id="{075DEDFB-904F-BB49-02B5-145872FED25F}"/>
                </a:ext>
              </a:extLst>
            </p:cNvPr>
            <p:cNvSpPr txBox="1"/>
            <p:nvPr/>
          </p:nvSpPr>
          <p:spPr>
            <a:xfrm>
              <a:off x="5522075" y="4684338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41" name="Google Shape;1313;p68">
              <a:extLst>
                <a:ext uri="{FF2B5EF4-FFF2-40B4-BE49-F238E27FC236}">
                  <a16:creationId xmlns:a16="http://schemas.microsoft.com/office/drawing/2014/main" id="{C1B047E5-6957-F634-5D3F-5CC3FBCCD441}"/>
                </a:ext>
              </a:extLst>
            </p:cNvPr>
            <p:cNvSpPr txBox="1"/>
            <p:nvPr/>
          </p:nvSpPr>
          <p:spPr>
            <a:xfrm>
              <a:off x="4484050" y="4296113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dirty="0"/>
            </a:p>
          </p:txBody>
        </p:sp>
        <p:sp>
          <p:nvSpPr>
            <p:cNvPr id="42" name="Google Shape;1314;p68">
              <a:extLst>
                <a:ext uri="{FF2B5EF4-FFF2-40B4-BE49-F238E27FC236}">
                  <a16:creationId xmlns:a16="http://schemas.microsoft.com/office/drawing/2014/main" id="{A9720DB5-86A8-7C04-16B4-27D0BE8B9132}"/>
                </a:ext>
              </a:extLst>
            </p:cNvPr>
            <p:cNvSpPr txBox="1"/>
            <p:nvPr/>
          </p:nvSpPr>
          <p:spPr>
            <a:xfrm>
              <a:off x="6028563" y="3069663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43" name="Google Shape;1315;p68">
              <a:extLst>
                <a:ext uri="{FF2B5EF4-FFF2-40B4-BE49-F238E27FC236}">
                  <a16:creationId xmlns:a16="http://schemas.microsoft.com/office/drawing/2014/main" id="{064F0892-EDC6-443C-C65D-20094F48130D}"/>
                </a:ext>
              </a:extLst>
            </p:cNvPr>
            <p:cNvSpPr txBox="1"/>
            <p:nvPr/>
          </p:nvSpPr>
          <p:spPr>
            <a:xfrm>
              <a:off x="6406538" y="4330913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44" name="Google Shape;1316;p68">
              <a:extLst>
                <a:ext uri="{FF2B5EF4-FFF2-40B4-BE49-F238E27FC236}">
                  <a16:creationId xmlns:a16="http://schemas.microsoft.com/office/drawing/2014/main" id="{41213BA6-D599-6D82-8A83-EC66E9FD6ABD}"/>
                </a:ext>
              </a:extLst>
            </p:cNvPr>
            <p:cNvSpPr txBox="1"/>
            <p:nvPr/>
          </p:nvSpPr>
          <p:spPr>
            <a:xfrm>
              <a:off x="5090463" y="4446988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76927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2;p69">
            <a:extLst>
              <a:ext uri="{FF2B5EF4-FFF2-40B4-BE49-F238E27FC236}">
                <a16:creationId xmlns:a16="http://schemas.microsoft.com/office/drawing/2014/main" id="{6569A103-9DDB-B6C0-F6D2-82B9657E61A1}"/>
              </a:ext>
            </a:extLst>
          </p:cNvPr>
          <p:cNvSpPr txBox="1">
            <a:spLocks/>
          </p:cNvSpPr>
          <p:nvPr/>
        </p:nvSpPr>
        <p:spPr>
          <a:xfrm>
            <a:off x="866867" y="928478"/>
            <a:ext cx="10458265" cy="2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2400" dirty="0"/>
              <a:t>In least-cost routing, routers should forward packets such that they take the </a:t>
            </a:r>
            <a:r>
              <a:rPr lang="en-US" sz="2400" i="1" dirty="0">
                <a:solidFill>
                  <a:srgbClr val="C00000"/>
                </a:solidFill>
              </a:rPr>
              <a:t>lowest-cost path </a:t>
            </a:r>
            <a:r>
              <a:rPr lang="en-US" sz="2400" dirty="0"/>
              <a:t>to the destination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spcBef>
                <a:spcPts val="6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Example: If all costs are 1, the protocol finds paths with the fewest hops</a:t>
            </a:r>
          </a:p>
          <a:p>
            <a:pPr marL="457200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Usually, if edges are unlabeled, assume they have cost 1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5477A1B-337A-69B9-EF13-C651A80C7D0A}"/>
              </a:ext>
            </a:extLst>
          </p:cNvPr>
          <p:cNvGrpSpPr/>
          <p:nvPr/>
        </p:nvGrpSpPr>
        <p:grpSpPr>
          <a:xfrm>
            <a:off x="263891" y="3485909"/>
            <a:ext cx="11664217" cy="3295891"/>
            <a:chOff x="0" y="3562109"/>
            <a:chExt cx="11664217" cy="3295891"/>
          </a:xfrm>
        </p:grpSpPr>
        <p:sp>
          <p:nvSpPr>
            <p:cNvPr id="4" name="Google Shape;1323;p69">
              <a:extLst>
                <a:ext uri="{FF2B5EF4-FFF2-40B4-BE49-F238E27FC236}">
                  <a16:creationId xmlns:a16="http://schemas.microsoft.com/office/drawing/2014/main" id="{5DE8DA62-D2D9-5ADA-15CE-E825EAD0F804}"/>
                </a:ext>
              </a:extLst>
            </p:cNvPr>
            <p:cNvSpPr/>
            <p:nvPr/>
          </p:nvSpPr>
          <p:spPr>
            <a:xfrm>
              <a:off x="0" y="4714940"/>
              <a:ext cx="397813" cy="431184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" name="Google Shape;1324;p69">
              <a:extLst>
                <a:ext uri="{FF2B5EF4-FFF2-40B4-BE49-F238E27FC236}">
                  <a16:creationId xmlns:a16="http://schemas.microsoft.com/office/drawing/2014/main" id="{E0B0595A-855D-113D-18CF-620252D8E10C}"/>
                </a:ext>
              </a:extLst>
            </p:cNvPr>
            <p:cNvCxnSpPr>
              <a:stCxn id="4" idx="6"/>
              <a:endCxn id="7" idx="1"/>
            </p:cNvCxnSpPr>
            <p:nvPr/>
          </p:nvCxnSpPr>
          <p:spPr>
            <a:xfrm>
              <a:off x="397813" y="4930532"/>
              <a:ext cx="453088" cy="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1326;p69">
              <a:extLst>
                <a:ext uri="{FF2B5EF4-FFF2-40B4-BE49-F238E27FC236}">
                  <a16:creationId xmlns:a16="http://schemas.microsoft.com/office/drawing/2014/main" id="{D53F3C04-8605-1617-EB03-D2F0BB35C8F7}"/>
                </a:ext>
              </a:extLst>
            </p:cNvPr>
            <p:cNvSpPr txBox="1"/>
            <p:nvPr/>
          </p:nvSpPr>
          <p:spPr>
            <a:xfrm>
              <a:off x="527783" y="4613456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7" name="Google Shape;1325;p69">
              <a:extLst>
                <a:ext uri="{FF2B5EF4-FFF2-40B4-BE49-F238E27FC236}">
                  <a16:creationId xmlns:a16="http://schemas.microsoft.com/office/drawing/2014/main" id="{B1662985-888B-1598-0D34-A0ECF0749450}"/>
                </a:ext>
              </a:extLst>
            </p:cNvPr>
            <p:cNvSpPr/>
            <p:nvPr/>
          </p:nvSpPr>
          <p:spPr>
            <a:xfrm>
              <a:off x="850814" y="4714959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327;p69">
              <a:extLst>
                <a:ext uri="{FF2B5EF4-FFF2-40B4-BE49-F238E27FC236}">
                  <a16:creationId xmlns:a16="http://schemas.microsoft.com/office/drawing/2014/main" id="{A6D38D06-878E-7C1A-0760-9FA2E5F9E53A}"/>
                </a:ext>
              </a:extLst>
            </p:cNvPr>
            <p:cNvSpPr/>
            <p:nvPr/>
          </p:nvSpPr>
          <p:spPr>
            <a:xfrm>
              <a:off x="1914440" y="4138534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328;p69">
              <a:extLst>
                <a:ext uri="{FF2B5EF4-FFF2-40B4-BE49-F238E27FC236}">
                  <a16:creationId xmlns:a16="http://schemas.microsoft.com/office/drawing/2014/main" id="{BA91BD71-D816-4358-B450-EE18477F5F4F}"/>
                </a:ext>
              </a:extLst>
            </p:cNvPr>
            <p:cNvSpPr/>
            <p:nvPr/>
          </p:nvSpPr>
          <p:spPr>
            <a:xfrm>
              <a:off x="2978066" y="3562109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329;p69">
              <a:extLst>
                <a:ext uri="{FF2B5EF4-FFF2-40B4-BE49-F238E27FC236}">
                  <a16:creationId xmlns:a16="http://schemas.microsoft.com/office/drawing/2014/main" id="{B73790B4-D37F-D8ED-80B9-230800C21544}"/>
                </a:ext>
              </a:extLst>
            </p:cNvPr>
            <p:cNvSpPr/>
            <p:nvPr/>
          </p:nvSpPr>
          <p:spPr>
            <a:xfrm>
              <a:off x="2978066" y="5867808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1330;p69">
              <a:extLst>
                <a:ext uri="{FF2B5EF4-FFF2-40B4-BE49-F238E27FC236}">
                  <a16:creationId xmlns:a16="http://schemas.microsoft.com/office/drawing/2014/main" id="{D782ED9E-1E8F-1091-E40A-57FB078435A6}"/>
                </a:ext>
              </a:extLst>
            </p:cNvPr>
            <p:cNvSpPr/>
            <p:nvPr/>
          </p:nvSpPr>
          <p:spPr>
            <a:xfrm>
              <a:off x="4254417" y="4714959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" name="Google Shape;1331;p69">
              <a:extLst>
                <a:ext uri="{FF2B5EF4-FFF2-40B4-BE49-F238E27FC236}">
                  <a16:creationId xmlns:a16="http://schemas.microsoft.com/office/drawing/2014/main" id="{0F70290E-0441-F96B-06E6-C2F0A01F0316}"/>
                </a:ext>
              </a:extLst>
            </p:cNvPr>
            <p:cNvCxnSpPr>
              <a:endCxn id="9" idx="1"/>
            </p:cNvCxnSpPr>
            <p:nvPr/>
          </p:nvCxnSpPr>
          <p:spPr>
            <a:xfrm rot="10800000" flipH="1">
              <a:off x="2316859" y="3777701"/>
              <a:ext cx="661207" cy="442531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32;p69">
              <a:extLst>
                <a:ext uri="{FF2B5EF4-FFF2-40B4-BE49-F238E27FC236}">
                  <a16:creationId xmlns:a16="http://schemas.microsoft.com/office/drawing/2014/main" id="{99A0952D-0996-14C1-BDAD-CC3BF146461D}"/>
                </a:ext>
              </a:extLst>
            </p:cNvPr>
            <p:cNvCxnSpPr>
              <a:stCxn id="7" idx="3"/>
              <a:endCxn id="10" idx="1"/>
            </p:cNvCxnSpPr>
            <p:nvPr/>
          </p:nvCxnSpPr>
          <p:spPr>
            <a:xfrm>
              <a:off x="1248627" y="4930551"/>
              <a:ext cx="1729439" cy="115285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333;p69">
              <a:extLst>
                <a:ext uri="{FF2B5EF4-FFF2-40B4-BE49-F238E27FC236}">
                  <a16:creationId xmlns:a16="http://schemas.microsoft.com/office/drawing/2014/main" id="{124A74FA-7948-0DF4-9D83-B4F5CBE65FE7}"/>
                </a:ext>
              </a:extLst>
            </p:cNvPr>
            <p:cNvCxnSpPr>
              <a:stCxn id="10" idx="0"/>
              <a:endCxn id="9" idx="2"/>
            </p:cNvCxnSpPr>
            <p:nvPr/>
          </p:nvCxnSpPr>
          <p:spPr>
            <a:xfrm rot="10800000">
              <a:off x="3176973" y="3993293"/>
              <a:ext cx="0" cy="1874515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334;p69">
              <a:extLst>
                <a:ext uri="{FF2B5EF4-FFF2-40B4-BE49-F238E27FC236}">
                  <a16:creationId xmlns:a16="http://schemas.microsoft.com/office/drawing/2014/main" id="{D8ADA343-F5A0-1383-FB8B-5E74BCC947BE}"/>
                </a:ext>
              </a:extLst>
            </p:cNvPr>
            <p:cNvCxnSpPr>
              <a:stCxn id="11" idx="1"/>
              <a:endCxn id="9" idx="3"/>
            </p:cNvCxnSpPr>
            <p:nvPr/>
          </p:nvCxnSpPr>
          <p:spPr>
            <a:xfrm rot="10800000">
              <a:off x="3375879" y="3777701"/>
              <a:ext cx="878538" cy="115285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335;p69">
              <a:extLst>
                <a:ext uri="{FF2B5EF4-FFF2-40B4-BE49-F238E27FC236}">
                  <a16:creationId xmlns:a16="http://schemas.microsoft.com/office/drawing/2014/main" id="{EE61595A-6E07-A34D-0A59-614E496EEB3F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rot="10800000" flipH="1">
              <a:off x="3375879" y="4930551"/>
              <a:ext cx="878538" cy="115285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336;p69">
              <a:extLst>
                <a:ext uri="{FF2B5EF4-FFF2-40B4-BE49-F238E27FC236}">
                  <a16:creationId xmlns:a16="http://schemas.microsoft.com/office/drawing/2014/main" id="{F44F3E60-B733-19E9-93C5-0D1A98211D21}"/>
                </a:ext>
              </a:extLst>
            </p:cNvPr>
            <p:cNvCxnSpPr>
              <a:stCxn id="7" idx="3"/>
            </p:cNvCxnSpPr>
            <p:nvPr/>
          </p:nvCxnSpPr>
          <p:spPr>
            <a:xfrm rot="10800000" flipH="1">
              <a:off x="1248627" y="4485750"/>
              <a:ext cx="668326" cy="4448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337;p69">
              <a:extLst>
                <a:ext uri="{FF2B5EF4-FFF2-40B4-BE49-F238E27FC236}">
                  <a16:creationId xmlns:a16="http://schemas.microsoft.com/office/drawing/2014/main" id="{B0DBA59D-A882-B118-A375-617D1AEDF944}"/>
                </a:ext>
              </a:extLst>
            </p:cNvPr>
            <p:cNvCxnSpPr>
              <a:stCxn id="11" idx="3"/>
              <a:endCxn id="49" idx="2"/>
            </p:cNvCxnSpPr>
            <p:nvPr/>
          </p:nvCxnSpPr>
          <p:spPr>
            <a:xfrm>
              <a:off x="4652230" y="4930551"/>
              <a:ext cx="665813" cy="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" name="Google Shape;1339;p69">
              <a:extLst>
                <a:ext uri="{FF2B5EF4-FFF2-40B4-BE49-F238E27FC236}">
                  <a16:creationId xmlns:a16="http://schemas.microsoft.com/office/drawing/2014/main" id="{B58D632D-E96F-243C-B766-1CC48388EDE2}"/>
                </a:ext>
              </a:extLst>
            </p:cNvPr>
            <p:cNvSpPr txBox="1"/>
            <p:nvPr/>
          </p:nvSpPr>
          <p:spPr>
            <a:xfrm>
              <a:off x="4828062" y="4613456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0" name="Google Shape;1340;p69">
              <a:extLst>
                <a:ext uri="{FF2B5EF4-FFF2-40B4-BE49-F238E27FC236}">
                  <a16:creationId xmlns:a16="http://schemas.microsoft.com/office/drawing/2014/main" id="{858C4280-A2C0-AFAF-EA32-72C8A97AEEFB}"/>
                </a:ext>
              </a:extLst>
            </p:cNvPr>
            <p:cNvSpPr txBox="1"/>
            <p:nvPr/>
          </p:nvSpPr>
          <p:spPr>
            <a:xfrm>
              <a:off x="1486268" y="4339995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1" name="Google Shape;1341;p69">
              <a:extLst>
                <a:ext uri="{FF2B5EF4-FFF2-40B4-BE49-F238E27FC236}">
                  <a16:creationId xmlns:a16="http://schemas.microsoft.com/office/drawing/2014/main" id="{2E3EF9E4-54E6-1D74-6B95-F1B6659D45C7}"/>
                </a:ext>
              </a:extLst>
            </p:cNvPr>
            <p:cNvSpPr txBox="1"/>
            <p:nvPr/>
          </p:nvSpPr>
          <p:spPr>
            <a:xfrm>
              <a:off x="2453058" y="3667424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2" name="Google Shape;1342;p69">
              <a:extLst>
                <a:ext uri="{FF2B5EF4-FFF2-40B4-BE49-F238E27FC236}">
                  <a16:creationId xmlns:a16="http://schemas.microsoft.com/office/drawing/2014/main" id="{11E2F930-F5C8-36D1-0946-8C4E7736B037}"/>
                </a:ext>
              </a:extLst>
            </p:cNvPr>
            <p:cNvSpPr txBox="1"/>
            <p:nvPr/>
          </p:nvSpPr>
          <p:spPr>
            <a:xfrm>
              <a:off x="1945358" y="5541939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/>
            </a:p>
          </p:txBody>
        </p:sp>
        <p:sp>
          <p:nvSpPr>
            <p:cNvPr id="23" name="Google Shape;1343;p69">
              <a:extLst>
                <a:ext uri="{FF2B5EF4-FFF2-40B4-BE49-F238E27FC236}">
                  <a16:creationId xmlns:a16="http://schemas.microsoft.com/office/drawing/2014/main" id="{0AAAB00A-EB71-B743-28F9-71F7F2F4FD47}"/>
                </a:ext>
              </a:extLst>
            </p:cNvPr>
            <p:cNvSpPr txBox="1"/>
            <p:nvPr/>
          </p:nvSpPr>
          <p:spPr>
            <a:xfrm>
              <a:off x="3254381" y="4714974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4" name="Google Shape;1344;p69">
              <a:extLst>
                <a:ext uri="{FF2B5EF4-FFF2-40B4-BE49-F238E27FC236}">
                  <a16:creationId xmlns:a16="http://schemas.microsoft.com/office/drawing/2014/main" id="{E7CCEC83-A28F-0515-CB90-A55291D3E7F9}"/>
                </a:ext>
              </a:extLst>
            </p:cNvPr>
            <p:cNvSpPr txBox="1"/>
            <p:nvPr/>
          </p:nvSpPr>
          <p:spPr>
            <a:xfrm>
              <a:off x="3831549" y="5541939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5" name="Google Shape;1345;p69">
              <a:extLst>
                <a:ext uri="{FF2B5EF4-FFF2-40B4-BE49-F238E27FC236}">
                  <a16:creationId xmlns:a16="http://schemas.microsoft.com/office/drawing/2014/main" id="{371DBCDA-6E94-1031-A633-9B2B4E0CE7A2}"/>
                </a:ext>
              </a:extLst>
            </p:cNvPr>
            <p:cNvSpPr txBox="1"/>
            <p:nvPr/>
          </p:nvSpPr>
          <p:spPr>
            <a:xfrm>
              <a:off x="3831566" y="3993293"/>
              <a:ext cx="334163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/>
            </a:p>
          </p:txBody>
        </p:sp>
        <p:sp>
          <p:nvSpPr>
            <p:cNvPr id="26" name="Google Shape;1346;p69">
              <a:extLst>
                <a:ext uri="{FF2B5EF4-FFF2-40B4-BE49-F238E27FC236}">
                  <a16:creationId xmlns:a16="http://schemas.microsoft.com/office/drawing/2014/main" id="{9287A38B-6FA1-F198-766B-902A40556D7C}"/>
                </a:ext>
              </a:extLst>
            </p:cNvPr>
            <p:cNvSpPr/>
            <p:nvPr/>
          </p:nvSpPr>
          <p:spPr>
            <a:xfrm>
              <a:off x="5948414" y="4714940"/>
              <a:ext cx="397813" cy="431184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" name="Google Shape;1347;p69">
              <a:extLst>
                <a:ext uri="{FF2B5EF4-FFF2-40B4-BE49-F238E27FC236}">
                  <a16:creationId xmlns:a16="http://schemas.microsoft.com/office/drawing/2014/main" id="{08E928B6-8C34-5C16-A348-0236D3E5A50E}"/>
                </a:ext>
              </a:extLst>
            </p:cNvPr>
            <p:cNvCxnSpPr>
              <a:stCxn id="26" idx="6"/>
              <a:endCxn id="29" idx="1"/>
            </p:cNvCxnSpPr>
            <p:nvPr/>
          </p:nvCxnSpPr>
          <p:spPr>
            <a:xfrm>
              <a:off x="6346227" y="4930532"/>
              <a:ext cx="453088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Google Shape;1349;p69">
              <a:extLst>
                <a:ext uri="{FF2B5EF4-FFF2-40B4-BE49-F238E27FC236}">
                  <a16:creationId xmlns:a16="http://schemas.microsoft.com/office/drawing/2014/main" id="{350C740E-9691-8843-27EF-F16133473B1C}"/>
                </a:ext>
              </a:extLst>
            </p:cNvPr>
            <p:cNvSpPr txBox="1"/>
            <p:nvPr/>
          </p:nvSpPr>
          <p:spPr>
            <a:xfrm>
              <a:off x="6476197" y="4613456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" name="Google Shape;1348;p69">
              <a:extLst>
                <a:ext uri="{FF2B5EF4-FFF2-40B4-BE49-F238E27FC236}">
                  <a16:creationId xmlns:a16="http://schemas.microsoft.com/office/drawing/2014/main" id="{588DE530-2E2C-41D1-D745-FD945DD7988E}"/>
                </a:ext>
              </a:extLst>
            </p:cNvPr>
            <p:cNvSpPr/>
            <p:nvPr/>
          </p:nvSpPr>
          <p:spPr>
            <a:xfrm>
              <a:off x="6799228" y="4714959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" name="Google Shape;1350;p69">
              <a:extLst>
                <a:ext uri="{FF2B5EF4-FFF2-40B4-BE49-F238E27FC236}">
                  <a16:creationId xmlns:a16="http://schemas.microsoft.com/office/drawing/2014/main" id="{E43F2539-3B15-CFA9-30A1-FCADCE37CC86}"/>
                </a:ext>
              </a:extLst>
            </p:cNvPr>
            <p:cNvSpPr/>
            <p:nvPr/>
          </p:nvSpPr>
          <p:spPr>
            <a:xfrm>
              <a:off x="7862854" y="4138534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" name="Google Shape;1351;p69">
              <a:extLst>
                <a:ext uri="{FF2B5EF4-FFF2-40B4-BE49-F238E27FC236}">
                  <a16:creationId xmlns:a16="http://schemas.microsoft.com/office/drawing/2014/main" id="{0DDBA16A-B5C5-0100-F9A5-36D1158133F3}"/>
                </a:ext>
              </a:extLst>
            </p:cNvPr>
            <p:cNvSpPr/>
            <p:nvPr/>
          </p:nvSpPr>
          <p:spPr>
            <a:xfrm>
              <a:off x="8926480" y="3562109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" name="Google Shape;1352;p69">
              <a:extLst>
                <a:ext uri="{FF2B5EF4-FFF2-40B4-BE49-F238E27FC236}">
                  <a16:creationId xmlns:a16="http://schemas.microsoft.com/office/drawing/2014/main" id="{2637DBB2-F517-7D1A-937E-E1A1AEAA5845}"/>
                </a:ext>
              </a:extLst>
            </p:cNvPr>
            <p:cNvSpPr/>
            <p:nvPr/>
          </p:nvSpPr>
          <p:spPr>
            <a:xfrm>
              <a:off x="8926480" y="5867808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" name="Google Shape;1353;p69">
              <a:extLst>
                <a:ext uri="{FF2B5EF4-FFF2-40B4-BE49-F238E27FC236}">
                  <a16:creationId xmlns:a16="http://schemas.microsoft.com/office/drawing/2014/main" id="{F0517D98-9D96-8495-6BB9-4CA52EB329D0}"/>
                </a:ext>
              </a:extLst>
            </p:cNvPr>
            <p:cNvSpPr/>
            <p:nvPr/>
          </p:nvSpPr>
          <p:spPr>
            <a:xfrm>
              <a:off x="10202831" y="4714959"/>
              <a:ext cx="397813" cy="431184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" name="Google Shape;1354;p69">
              <a:extLst>
                <a:ext uri="{FF2B5EF4-FFF2-40B4-BE49-F238E27FC236}">
                  <a16:creationId xmlns:a16="http://schemas.microsoft.com/office/drawing/2014/main" id="{5DEE0715-65E6-E202-5AC2-0CA26CEAE515}"/>
                </a:ext>
              </a:extLst>
            </p:cNvPr>
            <p:cNvCxnSpPr>
              <a:endCxn id="31" idx="1"/>
            </p:cNvCxnSpPr>
            <p:nvPr/>
          </p:nvCxnSpPr>
          <p:spPr>
            <a:xfrm rot="10800000" flipH="1">
              <a:off x="8265273" y="3777701"/>
              <a:ext cx="661207" cy="442531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1355;p69">
              <a:extLst>
                <a:ext uri="{FF2B5EF4-FFF2-40B4-BE49-F238E27FC236}">
                  <a16:creationId xmlns:a16="http://schemas.microsoft.com/office/drawing/2014/main" id="{B2207F66-8F7D-C1DF-7085-55297564724D}"/>
                </a:ext>
              </a:extLst>
            </p:cNvPr>
            <p:cNvCxnSpPr>
              <a:stCxn id="29" idx="3"/>
              <a:endCxn id="32" idx="1"/>
            </p:cNvCxnSpPr>
            <p:nvPr/>
          </p:nvCxnSpPr>
          <p:spPr>
            <a:xfrm>
              <a:off x="7197041" y="4930551"/>
              <a:ext cx="1729439" cy="115285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1356;p69">
              <a:extLst>
                <a:ext uri="{FF2B5EF4-FFF2-40B4-BE49-F238E27FC236}">
                  <a16:creationId xmlns:a16="http://schemas.microsoft.com/office/drawing/2014/main" id="{9A24001D-CDD3-D35B-3EC1-AAC4C46B52AF}"/>
                </a:ext>
              </a:extLst>
            </p:cNvPr>
            <p:cNvCxnSpPr>
              <a:stCxn id="32" idx="0"/>
              <a:endCxn id="31" idx="2"/>
            </p:cNvCxnSpPr>
            <p:nvPr/>
          </p:nvCxnSpPr>
          <p:spPr>
            <a:xfrm rot="10800000">
              <a:off x="9125386" y="3993293"/>
              <a:ext cx="0" cy="1874515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1357;p69">
              <a:extLst>
                <a:ext uri="{FF2B5EF4-FFF2-40B4-BE49-F238E27FC236}">
                  <a16:creationId xmlns:a16="http://schemas.microsoft.com/office/drawing/2014/main" id="{0880E664-6071-822D-8B0C-5C9562781CE0}"/>
                </a:ext>
              </a:extLst>
            </p:cNvPr>
            <p:cNvCxnSpPr>
              <a:stCxn id="33" idx="1"/>
              <a:endCxn id="31" idx="3"/>
            </p:cNvCxnSpPr>
            <p:nvPr/>
          </p:nvCxnSpPr>
          <p:spPr>
            <a:xfrm rot="10800000">
              <a:off x="9324293" y="3777701"/>
              <a:ext cx="878538" cy="115285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1358;p69">
              <a:extLst>
                <a:ext uri="{FF2B5EF4-FFF2-40B4-BE49-F238E27FC236}">
                  <a16:creationId xmlns:a16="http://schemas.microsoft.com/office/drawing/2014/main" id="{9343A29F-C632-6805-AF29-4E3962CC5572}"/>
                </a:ext>
              </a:extLst>
            </p:cNvPr>
            <p:cNvCxnSpPr>
              <a:stCxn id="32" idx="3"/>
              <a:endCxn id="33" idx="1"/>
            </p:cNvCxnSpPr>
            <p:nvPr/>
          </p:nvCxnSpPr>
          <p:spPr>
            <a:xfrm rot="10800000" flipH="1">
              <a:off x="9324293" y="4930551"/>
              <a:ext cx="878538" cy="115285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1359;p69">
              <a:extLst>
                <a:ext uri="{FF2B5EF4-FFF2-40B4-BE49-F238E27FC236}">
                  <a16:creationId xmlns:a16="http://schemas.microsoft.com/office/drawing/2014/main" id="{C4E52E8A-77B3-6E24-5358-DE49E6962F95}"/>
                </a:ext>
              </a:extLst>
            </p:cNvPr>
            <p:cNvCxnSpPr>
              <a:stCxn id="29" idx="3"/>
            </p:cNvCxnSpPr>
            <p:nvPr/>
          </p:nvCxnSpPr>
          <p:spPr>
            <a:xfrm rot="10800000" flipH="1">
              <a:off x="7197041" y="4485750"/>
              <a:ext cx="668326" cy="4448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" name="Google Shape;1360;p69">
              <a:extLst>
                <a:ext uri="{FF2B5EF4-FFF2-40B4-BE49-F238E27FC236}">
                  <a16:creationId xmlns:a16="http://schemas.microsoft.com/office/drawing/2014/main" id="{9B7B5C39-C60D-AD71-E8D2-D56331F604A5}"/>
                </a:ext>
              </a:extLst>
            </p:cNvPr>
            <p:cNvSpPr/>
            <p:nvPr/>
          </p:nvSpPr>
          <p:spPr>
            <a:xfrm>
              <a:off x="11266404" y="4714940"/>
              <a:ext cx="397813" cy="431184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1" name="Google Shape;1361;p69">
              <a:extLst>
                <a:ext uri="{FF2B5EF4-FFF2-40B4-BE49-F238E27FC236}">
                  <a16:creationId xmlns:a16="http://schemas.microsoft.com/office/drawing/2014/main" id="{43DEB693-6652-E4C0-68E2-4F298028130C}"/>
                </a:ext>
              </a:extLst>
            </p:cNvPr>
            <p:cNvCxnSpPr>
              <a:stCxn id="33" idx="3"/>
              <a:endCxn id="40" idx="2"/>
            </p:cNvCxnSpPr>
            <p:nvPr/>
          </p:nvCxnSpPr>
          <p:spPr>
            <a:xfrm>
              <a:off x="10600644" y="4930551"/>
              <a:ext cx="665813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" name="Google Shape;1362;p69">
              <a:extLst>
                <a:ext uri="{FF2B5EF4-FFF2-40B4-BE49-F238E27FC236}">
                  <a16:creationId xmlns:a16="http://schemas.microsoft.com/office/drawing/2014/main" id="{6624D4A5-1DBB-4A0E-A57C-01B1DB031C1D}"/>
                </a:ext>
              </a:extLst>
            </p:cNvPr>
            <p:cNvSpPr txBox="1"/>
            <p:nvPr/>
          </p:nvSpPr>
          <p:spPr>
            <a:xfrm>
              <a:off x="10776476" y="4613456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3" name="Google Shape;1363;p69">
              <a:extLst>
                <a:ext uri="{FF2B5EF4-FFF2-40B4-BE49-F238E27FC236}">
                  <a16:creationId xmlns:a16="http://schemas.microsoft.com/office/drawing/2014/main" id="{71199DE6-4137-BF3E-F4CF-015782979B49}"/>
                </a:ext>
              </a:extLst>
            </p:cNvPr>
            <p:cNvSpPr txBox="1"/>
            <p:nvPr/>
          </p:nvSpPr>
          <p:spPr>
            <a:xfrm>
              <a:off x="7434682" y="4339995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4" name="Google Shape;1364;p69">
              <a:extLst>
                <a:ext uri="{FF2B5EF4-FFF2-40B4-BE49-F238E27FC236}">
                  <a16:creationId xmlns:a16="http://schemas.microsoft.com/office/drawing/2014/main" id="{B819F9FB-34EC-6408-67FB-A0F60B8D0399}"/>
                </a:ext>
              </a:extLst>
            </p:cNvPr>
            <p:cNvSpPr txBox="1"/>
            <p:nvPr/>
          </p:nvSpPr>
          <p:spPr>
            <a:xfrm>
              <a:off x="8401472" y="3667424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" name="Google Shape;1365;p69">
              <a:extLst>
                <a:ext uri="{FF2B5EF4-FFF2-40B4-BE49-F238E27FC236}">
                  <a16:creationId xmlns:a16="http://schemas.microsoft.com/office/drawing/2014/main" id="{F25ED0CF-766D-4BA0-57D2-B63DAE094AA7}"/>
                </a:ext>
              </a:extLst>
            </p:cNvPr>
            <p:cNvSpPr txBox="1"/>
            <p:nvPr/>
          </p:nvSpPr>
          <p:spPr>
            <a:xfrm>
              <a:off x="7893772" y="5541939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/>
            </a:p>
          </p:txBody>
        </p:sp>
        <p:sp>
          <p:nvSpPr>
            <p:cNvPr id="46" name="Google Shape;1366;p69">
              <a:extLst>
                <a:ext uri="{FF2B5EF4-FFF2-40B4-BE49-F238E27FC236}">
                  <a16:creationId xmlns:a16="http://schemas.microsoft.com/office/drawing/2014/main" id="{F8E1E966-6951-FCD0-3682-9233747B81FB}"/>
                </a:ext>
              </a:extLst>
            </p:cNvPr>
            <p:cNvSpPr txBox="1"/>
            <p:nvPr/>
          </p:nvSpPr>
          <p:spPr>
            <a:xfrm>
              <a:off x="9202795" y="4714974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47" name="Google Shape;1367;p69">
              <a:extLst>
                <a:ext uri="{FF2B5EF4-FFF2-40B4-BE49-F238E27FC236}">
                  <a16:creationId xmlns:a16="http://schemas.microsoft.com/office/drawing/2014/main" id="{1115F1D7-AF51-C1FB-C2CC-B9579F6ACC43}"/>
                </a:ext>
              </a:extLst>
            </p:cNvPr>
            <p:cNvSpPr txBox="1"/>
            <p:nvPr/>
          </p:nvSpPr>
          <p:spPr>
            <a:xfrm>
              <a:off x="9779963" y="5541939"/>
              <a:ext cx="193044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48" name="Google Shape;1368;p69">
              <a:extLst>
                <a:ext uri="{FF2B5EF4-FFF2-40B4-BE49-F238E27FC236}">
                  <a16:creationId xmlns:a16="http://schemas.microsoft.com/office/drawing/2014/main" id="{B907099C-34A4-D2F5-EEBD-9EC72E637ABB}"/>
                </a:ext>
              </a:extLst>
            </p:cNvPr>
            <p:cNvSpPr txBox="1"/>
            <p:nvPr/>
          </p:nvSpPr>
          <p:spPr>
            <a:xfrm>
              <a:off x="9779980" y="3993293"/>
              <a:ext cx="334163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" name="Google Shape;1338;p69">
              <a:extLst>
                <a:ext uri="{FF2B5EF4-FFF2-40B4-BE49-F238E27FC236}">
                  <a16:creationId xmlns:a16="http://schemas.microsoft.com/office/drawing/2014/main" id="{72AE16E5-266A-28E6-20EF-22904AE83170}"/>
                </a:ext>
              </a:extLst>
            </p:cNvPr>
            <p:cNvSpPr/>
            <p:nvPr/>
          </p:nvSpPr>
          <p:spPr>
            <a:xfrm>
              <a:off x="5317990" y="4714940"/>
              <a:ext cx="397813" cy="431184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" name="Google Shape;1369;p69">
              <a:extLst>
                <a:ext uri="{FF2B5EF4-FFF2-40B4-BE49-F238E27FC236}">
                  <a16:creationId xmlns:a16="http://schemas.microsoft.com/office/drawing/2014/main" id="{572857B2-7B61-8D53-4D40-DF1D7047454F}"/>
                </a:ext>
              </a:extLst>
            </p:cNvPr>
            <p:cNvSpPr txBox="1"/>
            <p:nvPr/>
          </p:nvSpPr>
          <p:spPr>
            <a:xfrm>
              <a:off x="1916971" y="6532116"/>
              <a:ext cx="1968546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A → B Cost = 7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51" name="Google Shape;1370;p69">
              <a:extLst>
                <a:ext uri="{FF2B5EF4-FFF2-40B4-BE49-F238E27FC236}">
                  <a16:creationId xmlns:a16="http://schemas.microsoft.com/office/drawing/2014/main" id="{ECC2740F-DE62-0EFA-F2E6-FFD1A01D2E09}"/>
                </a:ext>
              </a:extLst>
            </p:cNvPr>
            <p:cNvSpPr txBox="1"/>
            <p:nvPr/>
          </p:nvSpPr>
          <p:spPr>
            <a:xfrm>
              <a:off x="8004480" y="6532116"/>
              <a:ext cx="1968546" cy="3258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A → B Cost = 14</a:t>
              </a: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03" name="Title 1">
            <a:extLst>
              <a:ext uri="{FF2B5EF4-FFF2-40B4-BE49-F238E27FC236}">
                <a16:creationId xmlns:a16="http://schemas.microsoft.com/office/drawing/2014/main" id="{CE98392D-2204-C16B-3299-E421FFD0A2B4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7239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Least-Cost Routing</a:t>
            </a:r>
          </a:p>
        </p:txBody>
      </p:sp>
    </p:spTree>
    <p:extLst>
      <p:ext uri="{BB962C8B-B14F-4D97-AF65-F5344CB8AC3E}">
        <p14:creationId xmlns:p14="http://schemas.microsoft.com/office/powerpoint/2010/main" val="3994541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3849-4058-34A7-9570-5FC9422F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2;p69">
            <a:extLst>
              <a:ext uri="{FF2B5EF4-FFF2-40B4-BE49-F238E27FC236}">
                <a16:creationId xmlns:a16="http://schemas.microsoft.com/office/drawing/2014/main" id="{F21D758C-C014-69E8-4513-FCE56568D6B8}"/>
              </a:ext>
            </a:extLst>
          </p:cNvPr>
          <p:cNvSpPr txBox="1">
            <a:spLocks/>
          </p:cNvSpPr>
          <p:nvPr/>
        </p:nvSpPr>
        <p:spPr>
          <a:xfrm>
            <a:off x="156395" y="1171819"/>
            <a:ext cx="11879210" cy="43907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Where do costs come from?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Costs are local to a router. Each router knows the cost of its own links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In practice, generally configured by an operator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Properties of costs: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Costs are always positive integers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○"/>
            </a:pPr>
            <a:r>
              <a:rPr lang="en-US" dirty="0"/>
              <a:t>Consistent with almost any practical metric you'd use: bandwidth, delay, etc.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Usually, costs are symmetrical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○"/>
            </a:pPr>
            <a:r>
              <a:rPr lang="en-US" dirty="0"/>
              <a:t>A → B costs the same as B → A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○"/>
            </a:pPr>
            <a:r>
              <a:rPr lang="en-US" dirty="0"/>
              <a:t>Exceptions possible in theory (e.g. different upload/download bandwidth)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These two assumptions will simplify our routing protocols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94E0CD2E-38E0-A8E5-4396-30223D24530A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7239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Least-Cost Routing</a:t>
            </a:r>
          </a:p>
        </p:txBody>
      </p:sp>
    </p:spTree>
    <p:extLst>
      <p:ext uri="{BB962C8B-B14F-4D97-AF65-F5344CB8AC3E}">
        <p14:creationId xmlns:p14="http://schemas.microsoft.com/office/powerpoint/2010/main" val="852909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3;p49">
            <a:extLst>
              <a:ext uri="{FF2B5EF4-FFF2-40B4-BE49-F238E27FC236}">
                <a16:creationId xmlns:a16="http://schemas.microsoft.com/office/drawing/2014/main" id="{D1A63C23-A117-6920-B06E-64A30668B511}"/>
              </a:ext>
            </a:extLst>
          </p:cNvPr>
          <p:cNvSpPr txBox="1">
            <a:spLocks/>
          </p:cNvSpPr>
          <p:nvPr/>
        </p:nvSpPr>
        <p:spPr>
          <a:xfrm>
            <a:off x="1524000" y="55273"/>
            <a:ext cx="9144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Routing vs. Forwarding</a:t>
            </a:r>
          </a:p>
        </p:txBody>
      </p:sp>
      <p:sp>
        <p:nvSpPr>
          <p:cNvPr id="3" name="Google Shape;704;p49">
            <a:extLst>
              <a:ext uri="{FF2B5EF4-FFF2-40B4-BE49-F238E27FC236}">
                <a16:creationId xmlns:a16="http://schemas.microsoft.com/office/drawing/2014/main" id="{934AD20F-8936-2884-A04E-97C4139FCA45}"/>
              </a:ext>
            </a:extLst>
          </p:cNvPr>
          <p:cNvSpPr txBox="1">
            <a:spLocks/>
          </p:cNvSpPr>
          <p:nvPr/>
        </p:nvSpPr>
        <p:spPr>
          <a:xfrm>
            <a:off x="129750" y="822178"/>
            <a:ext cx="6073586" cy="3147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Forwarding: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Look up packet's destination in table, and send packet to neighbor.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Inherently </a:t>
            </a:r>
            <a:r>
              <a:rPr lang="en-US" sz="2400" i="1" dirty="0"/>
              <a:t>local</a:t>
            </a:r>
            <a:r>
              <a:rPr lang="en-US" sz="2400" dirty="0"/>
              <a:t>. Depends only on arriving packet and local table.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Occurs every time a packet arrives (nanoseconds)</a:t>
            </a:r>
          </a:p>
        </p:txBody>
      </p:sp>
      <p:sp>
        <p:nvSpPr>
          <p:cNvPr id="37" name="Google Shape;738;p49">
            <a:extLst>
              <a:ext uri="{FF2B5EF4-FFF2-40B4-BE49-F238E27FC236}">
                <a16:creationId xmlns:a16="http://schemas.microsoft.com/office/drawing/2014/main" id="{C578F95E-3C9A-42AF-4322-98A96C458FF1}"/>
              </a:ext>
            </a:extLst>
          </p:cNvPr>
          <p:cNvSpPr txBox="1">
            <a:spLocks/>
          </p:cNvSpPr>
          <p:nvPr/>
        </p:nvSpPr>
        <p:spPr>
          <a:xfrm>
            <a:off x="6391057" y="822178"/>
            <a:ext cx="5488122" cy="2999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Routing: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i="1" dirty="0">
                <a:solidFill>
                  <a:srgbClr val="C00000"/>
                </a:solidFill>
              </a:rPr>
              <a:t>Communicates</a:t>
            </a:r>
            <a:r>
              <a:rPr lang="en-US" sz="2400" dirty="0"/>
              <a:t> with other routers to determine how to populate tables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C00000"/>
                </a:solidFill>
              </a:rPr>
              <a:t>Inherently </a:t>
            </a:r>
            <a:r>
              <a:rPr lang="en-US" sz="2400" i="1" dirty="0">
                <a:solidFill>
                  <a:srgbClr val="C00000"/>
                </a:solidFill>
              </a:rPr>
              <a:t>global</a:t>
            </a:r>
            <a:r>
              <a:rPr lang="en-US" sz="2400" i="1" dirty="0"/>
              <a:t>:</a:t>
            </a:r>
            <a:r>
              <a:rPr lang="en-US" sz="2400" dirty="0"/>
              <a:t> Must know about all destinations, not just local ones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Occurs every time the network changes (e.g. a link fails)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A904DD9-E291-6D66-3C3F-B05314CE6B70}"/>
              </a:ext>
            </a:extLst>
          </p:cNvPr>
          <p:cNvGrpSpPr/>
          <p:nvPr/>
        </p:nvGrpSpPr>
        <p:grpSpPr>
          <a:xfrm>
            <a:off x="84660" y="4428346"/>
            <a:ext cx="5602993" cy="2259724"/>
            <a:chOff x="72222" y="4048577"/>
            <a:chExt cx="4600790" cy="1694128"/>
          </a:xfrm>
        </p:grpSpPr>
        <p:sp>
          <p:nvSpPr>
            <p:cNvPr id="4" name="Google Shape;705;p49">
              <a:extLst>
                <a:ext uri="{FF2B5EF4-FFF2-40B4-BE49-F238E27FC236}">
                  <a16:creationId xmlns:a16="http://schemas.microsoft.com/office/drawing/2014/main" id="{C1243529-8EB6-4C87-8B86-E09F669399CF}"/>
                </a:ext>
              </a:extLst>
            </p:cNvPr>
            <p:cNvSpPr/>
            <p:nvPr/>
          </p:nvSpPr>
          <p:spPr>
            <a:xfrm>
              <a:off x="477934" y="4446565"/>
              <a:ext cx="576900" cy="285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To: 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" name="Google Shape;706;p49">
              <a:extLst>
                <a:ext uri="{FF2B5EF4-FFF2-40B4-BE49-F238E27FC236}">
                  <a16:creationId xmlns:a16="http://schemas.microsoft.com/office/drawing/2014/main" id="{D883D068-A129-C189-1962-F565A0C2715D}"/>
                </a:ext>
              </a:extLst>
            </p:cNvPr>
            <p:cNvCxnSpPr>
              <a:endCxn id="7" idx="1"/>
            </p:cNvCxnSpPr>
            <p:nvPr/>
          </p:nvCxnSpPr>
          <p:spPr>
            <a:xfrm>
              <a:off x="477935" y="4809140"/>
              <a:ext cx="659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708;p49">
              <a:extLst>
                <a:ext uri="{FF2B5EF4-FFF2-40B4-BE49-F238E27FC236}">
                  <a16:creationId xmlns:a16="http://schemas.microsoft.com/office/drawing/2014/main" id="{6C736424-8C30-A79C-7305-E92A34E50456}"/>
                </a:ext>
              </a:extLst>
            </p:cNvPr>
            <p:cNvCxnSpPr>
              <a:stCxn id="7" idx="3"/>
            </p:cNvCxnSpPr>
            <p:nvPr/>
          </p:nvCxnSpPr>
          <p:spPr>
            <a:xfrm rot="10800000" flipH="1">
              <a:off x="1422035" y="4562240"/>
              <a:ext cx="921300" cy="246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707;p49">
              <a:extLst>
                <a:ext uri="{FF2B5EF4-FFF2-40B4-BE49-F238E27FC236}">
                  <a16:creationId xmlns:a16="http://schemas.microsoft.com/office/drawing/2014/main" id="{C9DDDF97-490C-0DAA-FA1C-44DDA90FC2A7}"/>
                </a:ext>
              </a:extLst>
            </p:cNvPr>
            <p:cNvSpPr/>
            <p:nvPr/>
          </p:nvSpPr>
          <p:spPr>
            <a:xfrm>
              <a:off x="1137035" y="4666640"/>
              <a:ext cx="285000" cy="2850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" name="Google Shape;709;p49">
              <a:extLst>
                <a:ext uri="{FF2B5EF4-FFF2-40B4-BE49-F238E27FC236}">
                  <a16:creationId xmlns:a16="http://schemas.microsoft.com/office/drawing/2014/main" id="{82B8AEAD-A29B-28CA-7608-8C5D10F8A011}"/>
                </a:ext>
              </a:extLst>
            </p:cNvPr>
            <p:cNvCxnSpPr/>
            <p:nvPr/>
          </p:nvCxnSpPr>
          <p:spPr>
            <a:xfrm rot="10800000" flipH="1">
              <a:off x="1759698" y="4532665"/>
              <a:ext cx="420600" cy="112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Google Shape;710;p49">
              <a:extLst>
                <a:ext uri="{FF2B5EF4-FFF2-40B4-BE49-F238E27FC236}">
                  <a16:creationId xmlns:a16="http://schemas.microsoft.com/office/drawing/2014/main" id="{F2DD1717-0BC4-CF1B-609A-4B442533E5A2}"/>
                </a:ext>
              </a:extLst>
            </p:cNvPr>
            <p:cNvCxnSpPr/>
            <p:nvPr/>
          </p:nvCxnSpPr>
          <p:spPr>
            <a:xfrm>
              <a:off x="72222" y="4809140"/>
              <a:ext cx="346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711;p49">
              <a:extLst>
                <a:ext uri="{FF2B5EF4-FFF2-40B4-BE49-F238E27FC236}">
                  <a16:creationId xmlns:a16="http://schemas.microsoft.com/office/drawing/2014/main" id="{C8B43BD8-52FD-D1DD-6C62-762C7ACB3F1F}"/>
                </a:ext>
              </a:extLst>
            </p:cNvPr>
            <p:cNvCxnSpPr/>
            <p:nvPr/>
          </p:nvCxnSpPr>
          <p:spPr>
            <a:xfrm rot="10800000" flipH="1">
              <a:off x="2398010" y="4449665"/>
              <a:ext cx="365100" cy="97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712;p49">
              <a:extLst>
                <a:ext uri="{FF2B5EF4-FFF2-40B4-BE49-F238E27FC236}">
                  <a16:creationId xmlns:a16="http://schemas.microsoft.com/office/drawing/2014/main" id="{2A4E3D6B-2570-DE17-D96D-8BEEBA457918}"/>
                </a:ext>
              </a:extLst>
            </p:cNvPr>
            <p:cNvCxnSpPr/>
            <p:nvPr/>
          </p:nvCxnSpPr>
          <p:spPr>
            <a:xfrm>
              <a:off x="2408410" y="5073440"/>
              <a:ext cx="324300" cy="87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713;p49">
              <a:extLst>
                <a:ext uri="{FF2B5EF4-FFF2-40B4-BE49-F238E27FC236}">
                  <a16:creationId xmlns:a16="http://schemas.microsoft.com/office/drawing/2014/main" id="{8A38304E-956D-E0A4-33ED-42D0B7509F59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1422035" y="4809140"/>
              <a:ext cx="921300" cy="246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aphicFrame>
          <p:nvGraphicFramePr>
            <p:cNvPr id="13" name="Google Shape;714;p49">
              <a:extLst>
                <a:ext uri="{FF2B5EF4-FFF2-40B4-BE49-F238E27FC236}">
                  <a16:creationId xmlns:a16="http://schemas.microsoft.com/office/drawing/2014/main" id="{F0AB8A38-AA88-05BC-6623-00AE13C430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43652792"/>
                </p:ext>
              </p:extLst>
            </p:nvPr>
          </p:nvGraphicFramePr>
          <p:xfrm>
            <a:off x="3122142" y="4048577"/>
            <a:ext cx="1550870" cy="12612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98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011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21925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R2's Table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Destination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Port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A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0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B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1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C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1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1219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</a:t>
                        </a:r>
                        <a:endParaRPr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2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14" name="Google Shape;715;p49">
              <a:extLst>
                <a:ext uri="{FF2B5EF4-FFF2-40B4-BE49-F238E27FC236}">
                  <a16:creationId xmlns:a16="http://schemas.microsoft.com/office/drawing/2014/main" id="{12EA1512-D975-371B-7E1A-21545F32E612}"/>
                </a:ext>
              </a:extLst>
            </p:cNvPr>
            <p:cNvSpPr txBox="1"/>
            <p:nvPr/>
          </p:nvSpPr>
          <p:spPr>
            <a:xfrm>
              <a:off x="1504235" y="4547465"/>
              <a:ext cx="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15" name="Google Shape;716;p49">
              <a:extLst>
                <a:ext uri="{FF2B5EF4-FFF2-40B4-BE49-F238E27FC236}">
                  <a16:creationId xmlns:a16="http://schemas.microsoft.com/office/drawing/2014/main" id="{FFDF8573-8383-A29E-00CD-5C7EE31CB628}"/>
                </a:ext>
              </a:extLst>
            </p:cNvPr>
            <p:cNvSpPr txBox="1"/>
            <p:nvPr/>
          </p:nvSpPr>
          <p:spPr>
            <a:xfrm>
              <a:off x="1504235" y="4875615"/>
              <a:ext cx="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16" name="Google Shape;717;p49">
              <a:extLst>
                <a:ext uri="{FF2B5EF4-FFF2-40B4-BE49-F238E27FC236}">
                  <a16:creationId xmlns:a16="http://schemas.microsoft.com/office/drawing/2014/main" id="{315E7EB7-2481-CF91-413E-D15EF3797AB8}"/>
                </a:ext>
              </a:extLst>
            </p:cNvPr>
            <p:cNvSpPr txBox="1"/>
            <p:nvPr/>
          </p:nvSpPr>
          <p:spPr>
            <a:xfrm>
              <a:off x="1008760" y="4840640"/>
              <a:ext cx="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/>
            </a:p>
          </p:txBody>
        </p:sp>
        <p:sp>
          <p:nvSpPr>
            <p:cNvPr id="35" name="Google Shape;736;p49">
              <a:extLst>
                <a:ext uri="{FF2B5EF4-FFF2-40B4-BE49-F238E27FC236}">
                  <a16:creationId xmlns:a16="http://schemas.microsoft.com/office/drawing/2014/main" id="{8C836849-F65B-2F9E-1492-5C002496B567}"/>
                </a:ext>
              </a:extLst>
            </p:cNvPr>
            <p:cNvSpPr txBox="1"/>
            <p:nvPr/>
          </p:nvSpPr>
          <p:spPr>
            <a:xfrm>
              <a:off x="523535" y="5446202"/>
              <a:ext cx="1770600" cy="2965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Forwarding is local</a:t>
              </a:r>
              <a:endParaRPr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8EBD0FF-86E4-0C2C-FDD1-BFDFA5622D34}"/>
              </a:ext>
            </a:extLst>
          </p:cNvPr>
          <p:cNvGrpSpPr/>
          <p:nvPr/>
        </p:nvGrpSpPr>
        <p:grpSpPr>
          <a:xfrm>
            <a:off x="6086658" y="3988603"/>
            <a:ext cx="5742194" cy="2699467"/>
            <a:chOff x="5832586" y="4263160"/>
            <a:chExt cx="3028200" cy="1999081"/>
          </a:xfrm>
        </p:grpSpPr>
        <p:sp>
          <p:nvSpPr>
            <p:cNvPr id="17" name="Google Shape;718;p49">
              <a:extLst>
                <a:ext uri="{FF2B5EF4-FFF2-40B4-BE49-F238E27FC236}">
                  <a16:creationId xmlns:a16="http://schemas.microsoft.com/office/drawing/2014/main" id="{9EF2034F-4C9D-975E-6D3D-6791DE0F10D6}"/>
                </a:ext>
              </a:extLst>
            </p:cNvPr>
            <p:cNvSpPr/>
            <p:nvPr/>
          </p:nvSpPr>
          <p:spPr>
            <a:xfrm>
              <a:off x="7204198" y="5184148"/>
              <a:ext cx="285000" cy="2850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719;p49">
              <a:extLst>
                <a:ext uri="{FF2B5EF4-FFF2-40B4-BE49-F238E27FC236}">
                  <a16:creationId xmlns:a16="http://schemas.microsoft.com/office/drawing/2014/main" id="{3E446FF1-7CE5-918B-ACD7-46870E0D4D71}"/>
                </a:ext>
              </a:extLst>
            </p:cNvPr>
            <p:cNvSpPr/>
            <p:nvPr/>
          </p:nvSpPr>
          <p:spPr>
            <a:xfrm>
              <a:off x="6518398" y="5184148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" name="Google Shape;720;p49">
              <a:extLst>
                <a:ext uri="{FF2B5EF4-FFF2-40B4-BE49-F238E27FC236}">
                  <a16:creationId xmlns:a16="http://schemas.microsoft.com/office/drawing/2014/main" id="{3DE2925C-AB2D-3AE2-218E-53A14DB855BF}"/>
                </a:ext>
              </a:extLst>
            </p:cNvPr>
            <p:cNvCxnSpPr>
              <a:stCxn id="18" idx="3"/>
              <a:endCxn id="17" idx="1"/>
            </p:cNvCxnSpPr>
            <p:nvPr/>
          </p:nvCxnSpPr>
          <p:spPr>
            <a:xfrm>
              <a:off x="6803398" y="5326648"/>
              <a:ext cx="400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721;p49">
              <a:extLst>
                <a:ext uri="{FF2B5EF4-FFF2-40B4-BE49-F238E27FC236}">
                  <a16:creationId xmlns:a16="http://schemas.microsoft.com/office/drawing/2014/main" id="{1DDDA5C8-9534-1C67-DD17-38F18EC814C3}"/>
                </a:ext>
              </a:extLst>
            </p:cNvPr>
            <p:cNvSpPr/>
            <p:nvPr/>
          </p:nvSpPr>
          <p:spPr>
            <a:xfrm>
              <a:off x="5832586" y="5184148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" name="Google Shape;722;p49">
              <a:extLst>
                <a:ext uri="{FF2B5EF4-FFF2-40B4-BE49-F238E27FC236}">
                  <a16:creationId xmlns:a16="http://schemas.microsoft.com/office/drawing/2014/main" id="{092ECC55-EDC9-06BD-6359-E42E46AF5FDF}"/>
                </a:ext>
              </a:extLst>
            </p:cNvPr>
            <p:cNvCxnSpPr>
              <a:stCxn id="20" idx="6"/>
              <a:endCxn id="18" idx="1"/>
            </p:cNvCxnSpPr>
            <p:nvPr/>
          </p:nvCxnSpPr>
          <p:spPr>
            <a:xfrm>
              <a:off x="6117586" y="5326648"/>
              <a:ext cx="400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Google Shape;723;p49">
              <a:extLst>
                <a:ext uri="{FF2B5EF4-FFF2-40B4-BE49-F238E27FC236}">
                  <a16:creationId xmlns:a16="http://schemas.microsoft.com/office/drawing/2014/main" id="{D0DCD2D9-E968-65AB-2368-8E3529770ED7}"/>
                </a:ext>
              </a:extLst>
            </p:cNvPr>
            <p:cNvSpPr/>
            <p:nvPr/>
          </p:nvSpPr>
          <p:spPr>
            <a:xfrm>
              <a:off x="7889998" y="4879348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" name="Google Shape;724;p49">
              <a:extLst>
                <a:ext uri="{FF2B5EF4-FFF2-40B4-BE49-F238E27FC236}">
                  <a16:creationId xmlns:a16="http://schemas.microsoft.com/office/drawing/2014/main" id="{9B9553ED-EAC5-E850-4AB9-3694E0011926}"/>
                </a:ext>
              </a:extLst>
            </p:cNvPr>
            <p:cNvSpPr/>
            <p:nvPr/>
          </p:nvSpPr>
          <p:spPr>
            <a:xfrm>
              <a:off x="7889998" y="5488948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" name="Google Shape;725;p49">
              <a:extLst>
                <a:ext uri="{FF2B5EF4-FFF2-40B4-BE49-F238E27FC236}">
                  <a16:creationId xmlns:a16="http://schemas.microsoft.com/office/drawing/2014/main" id="{795B5FB2-AA6B-9849-A0BA-7AF510B0F6F1}"/>
                </a:ext>
              </a:extLst>
            </p:cNvPr>
            <p:cNvCxnSpPr>
              <a:stCxn id="17" idx="3"/>
              <a:endCxn id="22" idx="1"/>
            </p:cNvCxnSpPr>
            <p:nvPr/>
          </p:nvCxnSpPr>
          <p:spPr>
            <a:xfrm rot="10800000" flipH="1">
              <a:off x="7489198" y="5021848"/>
              <a:ext cx="400800" cy="304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726;p49">
              <a:extLst>
                <a:ext uri="{FF2B5EF4-FFF2-40B4-BE49-F238E27FC236}">
                  <a16:creationId xmlns:a16="http://schemas.microsoft.com/office/drawing/2014/main" id="{C37D9442-F409-B200-4C1D-3BBC3FA6BACF}"/>
                </a:ext>
              </a:extLst>
            </p:cNvPr>
            <p:cNvCxnSpPr>
              <a:stCxn id="17" idx="3"/>
              <a:endCxn id="23" idx="1"/>
            </p:cNvCxnSpPr>
            <p:nvPr/>
          </p:nvCxnSpPr>
          <p:spPr>
            <a:xfrm>
              <a:off x="7489198" y="5326648"/>
              <a:ext cx="400800" cy="304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727;p49">
              <a:extLst>
                <a:ext uri="{FF2B5EF4-FFF2-40B4-BE49-F238E27FC236}">
                  <a16:creationId xmlns:a16="http://schemas.microsoft.com/office/drawing/2014/main" id="{2D54D619-0BD9-0839-34E4-1D31C4C41D56}"/>
                </a:ext>
              </a:extLst>
            </p:cNvPr>
            <p:cNvSpPr/>
            <p:nvPr/>
          </p:nvSpPr>
          <p:spPr>
            <a:xfrm>
              <a:off x="8575786" y="4707830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" name="Google Shape;728;p49">
              <a:extLst>
                <a:ext uri="{FF2B5EF4-FFF2-40B4-BE49-F238E27FC236}">
                  <a16:creationId xmlns:a16="http://schemas.microsoft.com/office/drawing/2014/main" id="{99EE7800-2C96-1898-08F5-B114C28B2DD5}"/>
                </a:ext>
              </a:extLst>
            </p:cNvPr>
            <p:cNvSpPr/>
            <p:nvPr/>
          </p:nvSpPr>
          <p:spPr>
            <a:xfrm>
              <a:off x="8575786" y="5045215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8" name="Google Shape;729;p49">
              <a:extLst>
                <a:ext uri="{FF2B5EF4-FFF2-40B4-BE49-F238E27FC236}">
                  <a16:creationId xmlns:a16="http://schemas.microsoft.com/office/drawing/2014/main" id="{42DC4ECF-9D2F-B23D-F777-BE12C36F3CF0}"/>
                </a:ext>
              </a:extLst>
            </p:cNvPr>
            <p:cNvCxnSpPr>
              <a:stCxn id="22" idx="3"/>
              <a:endCxn id="26" idx="2"/>
            </p:cNvCxnSpPr>
            <p:nvPr/>
          </p:nvCxnSpPr>
          <p:spPr>
            <a:xfrm rot="10800000" flipH="1">
              <a:off x="8174998" y="4850248"/>
              <a:ext cx="400800" cy="171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730;p49">
              <a:extLst>
                <a:ext uri="{FF2B5EF4-FFF2-40B4-BE49-F238E27FC236}">
                  <a16:creationId xmlns:a16="http://schemas.microsoft.com/office/drawing/2014/main" id="{4FC349F1-49D2-8E41-3653-9E8223FB41A8}"/>
                </a:ext>
              </a:extLst>
            </p:cNvPr>
            <p:cNvCxnSpPr>
              <a:stCxn id="22" idx="3"/>
              <a:endCxn id="27" idx="2"/>
            </p:cNvCxnSpPr>
            <p:nvPr/>
          </p:nvCxnSpPr>
          <p:spPr>
            <a:xfrm>
              <a:off x="8174998" y="5021848"/>
              <a:ext cx="400800" cy="165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" name="Google Shape;731;p49">
              <a:extLst>
                <a:ext uri="{FF2B5EF4-FFF2-40B4-BE49-F238E27FC236}">
                  <a16:creationId xmlns:a16="http://schemas.microsoft.com/office/drawing/2014/main" id="{21E90176-B773-75E8-257D-CA39F7E60BDB}"/>
                </a:ext>
              </a:extLst>
            </p:cNvPr>
            <p:cNvSpPr/>
            <p:nvPr/>
          </p:nvSpPr>
          <p:spPr>
            <a:xfrm>
              <a:off x="8575786" y="5486123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" name="Google Shape;732;p49">
              <a:extLst>
                <a:ext uri="{FF2B5EF4-FFF2-40B4-BE49-F238E27FC236}">
                  <a16:creationId xmlns:a16="http://schemas.microsoft.com/office/drawing/2014/main" id="{7BBCCCDF-0C83-ADBD-6E8C-302AEBEB9465}"/>
                </a:ext>
              </a:extLst>
            </p:cNvPr>
            <p:cNvCxnSpPr>
              <a:stCxn id="23" idx="3"/>
              <a:endCxn id="30" idx="2"/>
            </p:cNvCxnSpPr>
            <p:nvPr/>
          </p:nvCxnSpPr>
          <p:spPr>
            <a:xfrm rot="10800000" flipH="1">
              <a:off x="8174998" y="5628748"/>
              <a:ext cx="400800" cy="2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" name="Google Shape;733;p49">
              <a:extLst>
                <a:ext uri="{FF2B5EF4-FFF2-40B4-BE49-F238E27FC236}">
                  <a16:creationId xmlns:a16="http://schemas.microsoft.com/office/drawing/2014/main" id="{C78151A9-FCC4-339D-1AF7-6E787D8FED83}"/>
                </a:ext>
              </a:extLst>
            </p:cNvPr>
            <p:cNvSpPr txBox="1"/>
            <p:nvPr/>
          </p:nvSpPr>
          <p:spPr>
            <a:xfrm>
              <a:off x="7079073" y="5125148"/>
              <a:ext cx="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/>
            </a:p>
          </p:txBody>
        </p:sp>
        <p:sp>
          <p:nvSpPr>
            <p:cNvPr id="33" name="Google Shape;734;p49">
              <a:extLst>
                <a:ext uri="{FF2B5EF4-FFF2-40B4-BE49-F238E27FC236}">
                  <a16:creationId xmlns:a16="http://schemas.microsoft.com/office/drawing/2014/main" id="{A216B32C-A072-C7AB-10D6-6942F790BA5A}"/>
                </a:ext>
              </a:extLst>
            </p:cNvPr>
            <p:cNvSpPr txBox="1"/>
            <p:nvPr/>
          </p:nvSpPr>
          <p:spPr>
            <a:xfrm>
              <a:off x="7521812" y="4996535"/>
              <a:ext cx="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34" name="Google Shape;735;p49">
              <a:extLst>
                <a:ext uri="{FF2B5EF4-FFF2-40B4-BE49-F238E27FC236}">
                  <a16:creationId xmlns:a16="http://schemas.microsoft.com/office/drawing/2014/main" id="{050EE022-0B10-E10F-99B2-071074B58A8C}"/>
                </a:ext>
              </a:extLst>
            </p:cNvPr>
            <p:cNvSpPr txBox="1"/>
            <p:nvPr/>
          </p:nvSpPr>
          <p:spPr>
            <a:xfrm>
              <a:off x="7521812" y="5418460"/>
              <a:ext cx="9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36" name="Google Shape;737;p49">
              <a:extLst>
                <a:ext uri="{FF2B5EF4-FFF2-40B4-BE49-F238E27FC236}">
                  <a16:creationId xmlns:a16="http://schemas.microsoft.com/office/drawing/2014/main" id="{458DC6E5-B30B-83C8-F6A9-84FE66B03764}"/>
                </a:ext>
              </a:extLst>
            </p:cNvPr>
            <p:cNvSpPr txBox="1"/>
            <p:nvPr/>
          </p:nvSpPr>
          <p:spPr>
            <a:xfrm>
              <a:off x="6461398" y="5969360"/>
              <a:ext cx="1770600" cy="292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Routing is global</a:t>
              </a:r>
              <a:endParaRPr dirty="0"/>
            </a:p>
          </p:txBody>
        </p:sp>
        <p:sp>
          <p:nvSpPr>
            <p:cNvPr id="38" name="Google Shape;739;p49">
              <a:extLst>
                <a:ext uri="{FF2B5EF4-FFF2-40B4-BE49-F238E27FC236}">
                  <a16:creationId xmlns:a16="http://schemas.microsoft.com/office/drawing/2014/main" id="{074758FB-D76A-84A3-D96F-DC6C9AA7CA10}"/>
                </a:ext>
              </a:extLst>
            </p:cNvPr>
            <p:cNvSpPr/>
            <p:nvPr/>
          </p:nvSpPr>
          <p:spPr>
            <a:xfrm>
              <a:off x="7330498" y="4522500"/>
              <a:ext cx="1303200" cy="572200"/>
            </a:xfrm>
            <a:custGeom>
              <a:avLst/>
              <a:gdLst/>
              <a:ahLst/>
              <a:cxnLst/>
              <a:rect l="l" t="t" r="r" b="b"/>
              <a:pathLst>
                <a:path w="52128" h="22888" extrusionOk="0">
                  <a:moveTo>
                    <a:pt x="0" y="22888"/>
                  </a:moveTo>
                  <a:cubicBezTo>
                    <a:pt x="3060" y="19194"/>
                    <a:pt x="9669" y="3636"/>
                    <a:pt x="18357" y="721"/>
                  </a:cubicBezTo>
                  <a:cubicBezTo>
                    <a:pt x="27045" y="-2194"/>
                    <a:pt x="46500" y="4617"/>
                    <a:pt x="52128" y="5396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Google Shape;740;p49">
              <a:extLst>
                <a:ext uri="{FF2B5EF4-FFF2-40B4-BE49-F238E27FC236}">
                  <a16:creationId xmlns:a16="http://schemas.microsoft.com/office/drawing/2014/main" id="{7FDF5DF3-DC08-3BA1-E9AD-E4F14C88BD4D}"/>
                </a:ext>
              </a:extLst>
            </p:cNvPr>
            <p:cNvSpPr txBox="1"/>
            <p:nvPr/>
          </p:nvSpPr>
          <p:spPr>
            <a:xfrm>
              <a:off x="7343748" y="4263160"/>
              <a:ext cx="773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Not local!</a:t>
              </a:r>
              <a:endParaRPr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3340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C5E7-42C2-5270-C1A5-3A6EEBD0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DA47-AF23-9227-BE3E-79F5E333C322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2DF8E65-1BCF-77CF-E217-AA0491D09D7F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Packet Forwarding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the Routing Problem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Routing Protocol: Link State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679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CD445008-3DEC-E1F0-C1FC-364899E204D1}"/>
              </a:ext>
            </a:extLst>
          </p:cNvPr>
          <p:cNvSpPr txBox="1">
            <a:spLocks/>
          </p:cNvSpPr>
          <p:nvPr/>
        </p:nvSpPr>
        <p:spPr>
          <a:xfrm>
            <a:off x="762000" y="0"/>
            <a:ext cx="10668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Routing Protocols: Roadmap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00526-DAC7-092D-AAD9-26BE79C3E343}"/>
              </a:ext>
            </a:extLst>
          </p:cNvPr>
          <p:cNvSpPr txBox="1"/>
          <p:nvPr/>
        </p:nvSpPr>
        <p:spPr>
          <a:xfrm>
            <a:off x="762000" y="767545"/>
            <a:ext cx="10668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Routing protocols can be classified by: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200" i="1" dirty="0"/>
              <a:t>Where</a:t>
            </a:r>
            <a:r>
              <a:rPr lang="en-US" sz="2200" dirty="0"/>
              <a:t> they operate: </a:t>
            </a:r>
          </a:p>
          <a:p>
            <a:pPr marL="914400" lvl="1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200" dirty="0"/>
              <a:t>Intra-domain: routing packets within a local network</a:t>
            </a:r>
          </a:p>
          <a:p>
            <a:pPr marL="914400" lvl="1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200" dirty="0"/>
              <a:t>Inter-domain: routing packets across different networks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200" i="1" dirty="0"/>
              <a:t>How</a:t>
            </a:r>
            <a:r>
              <a:rPr lang="en-US" sz="2200" dirty="0"/>
              <a:t> they operate (Distance-vector, link-state, or path-vector)</a:t>
            </a:r>
          </a:p>
          <a:p>
            <a:pPr lvl="0" algn="l" rtl="0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Today, we'll look at </a:t>
            </a:r>
            <a:r>
              <a:rPr lang="en-US" sz="2200" b="1" dirty="0">
                <a:solidFill>
                  <a:srgbClr val="C00000"/>
                </a:solidFill>
              </a:rPr>
              <a:t>link-state</a:t>
            </a:r>
            <a:r>
              <a:rPr lang="en-US" sz="2200" dirty="0"/>
              <a:t> protocols</a:t>
            </a: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200" dirty="0"/>
              <a:t>Major examples:</a:t>
            </a:r>
          </a:p>
          <a:p>
            <a:pPr marL="914400" lvl="1" indent="-342900" algn="l" rtl="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200" dirty="0"/>
              <a:t>IS-IS (Intermediate System to Intermediate System)</a:t>
            </a:r>
          </a:p>
          <a:p>
            <a:pPr marL="914400" lvl="1" indent="-342900" algn="l" rtl="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200" dirty="0"/>
              <a:t>OSPF (Open Shortest Path First)</a:t>
            </a:r>
          </a:p>
        </p:txBody>
      </p:sp>
      <p:graphicFrame>
        <p:nvGraphicFramePr>
          <p:cNvPr id="8" name="Google Shape;187;p26">
            <a:extLst>
              <a:ext uri="{FF2B5EF4-FFF2-40B4-BE49-F238E27FC236}">
                <a16:creationId xmlns:a16="http://schemas.microsoft.com/office/drawing/2014/main" id="{C10B0AB5-16B0-76E3-1A3E-F65DCCF2C5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877140"/>
              </p:ext>
            </p:extLst>
          </p:nvPr>
        </p:nvGraphicFramePr>
        <p:xfrm>
          <a:off x="1112343" y="4972132"/>
          <a:ext cx="9967313" cy="1737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02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6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Intra-domain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(Interior Gateway Protocol)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Inter-domain</a:t>
                      </a:r>
                      <a:b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(Exterior Gateway Protocol)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Distance-vector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Routing Information Protocol (</a:t>
                      </a: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RIP)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Link-state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IS-IS, OSPF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Path-vector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–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BGP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619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8BCC-185B-B194-7069-12768CAF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9F5D2E10-A476-FDCE-B823-6B162EE9857A}"/>
              </a:ext>
            </a:extLst>
          </p:cNvPr>
          <p:cNvSpPr txBox="1">
            <a:spLocks/>
          </p:cNvSpPr>
          <p:nvPr/>
        </p:nvSpPr>
        <p:spPr>
          <a:xfrm>
            <a:off x="762000" y="0"/>
            <a:ext cx="10668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Link-State Protocols: Definition</a:t>
            </a:r>
            <a:endParaRPr lang="en-US" dirty="0"/>
          </a:p>
        </p:txBody>
      </p:sp>
      <p:sp>
        <p:nvSpPr>
          <p:cNvPr id="2" name="Google Shape;193;p27">
            <a:extLst>
              <a:ext uri="{FF2B5EF4-FFF2-40B4-BE49-F238E27FC236}">
                <a16:creationId xmlns:a16="http://schemas.microsoft.com/office/drawing/2014/main" id="{6CB78BA4-F43B-EE62-3D2A-9FB92A4013B4}"/>
              </a:ext>
            </a:extLst>
          </p:cNvPr>
          <p:cNvSpPr txBox="1">
            <a:spLocks/>
          </p:cNvSpPr>
          <p:nvPr/>
        </p:nvSpPr>
        <p:spPr>
          <a:xfrm>
            <a:off x="762000" y="800474"/>
            <a:ext cx="10668000" cy="2178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dirty="0"/>
              <a:t>Link-state protocols</a:t>
            </a:r>
            <a:r>
              <a:rPr lang="en-US" dirty="0"/>
              <a:t>: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Every router learns the full network graph.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Then, each router runs a shortest-path algorithm on the graph to populate the forwarding table.</a:t>
            </a:r>
          </a:p>
        </p:txBody>
      </p:sp>
      <p:sp>
        <p:nvSpPr>
          <p:cNvPr id="3" name="Google Shape;194;p27">
            <a:extLst>
              <a:ext uri="{FF2B5EF4-FFF2-40B4-BE49-F238E27FC236}">
                <a16:creationId xmlns:a16="http://schemas.microsoft.com/office/drawing/2014/main" id="{DF5D1E90-4E2E-B0CA-ECE4-304DE388ACB5}"/>
              </a:ext>
            </a:extLst>
          </p:cNvPr>
          <p:cNvSpPr txBox="1">
            <a:spLocks/>
          </p:cNvSpPr>
          <p:nvPr/>
        </p:nvSpPr>
        <p:spPr>
          <a:xfrm>
            <a:off x="6676856" y="3175178"/>
            <a:ext cx="4455000" cy="3386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2400" dirty="0"/>
              <a:t>Distance-vector:</a:t>
            </a:r>
          </a:p>
          <a:p>
            <a:pPr marL="457200" indent="-342900">
              <a:spcBef>
                <a:spcPts val="60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400" b="1" i="1" dirty="0"/>
              <a:t>Local data: </a:t>
            </a:r>
            <a:r>
              <a:rPr lang="en-US" sz="2400" dirty="0"/>
              <a:t>Each node only knows about part of the network.</a:t>
            </a:r>
            <a:endParaRPr lang="en-US" sz="2400" b="1" dirty="0"/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400" b="1" i="1" dirty="0"/>
              <a:t>Global (distributed) computation: </a:t>
            </a:r>
            <a:r>
              <a:rPr lang="en-US" sz="2400" dirty="0"/>
              <a:t>Each node computes part of the solution, working with other nodes.</a:t>
            </a:r>
          </a:p>
        </p:txBody>
      </p:sp>
      <p:sp>
        <p:nvSpPr>
          <p:cNvPr id="5" name="Google Shape;195;p27">
            <a:extLst>
              <a:ext uri="{FF2B5EF4-FFF2-40B4-BE49-F238E27FC236}">
                <a16:creationId xmlns:a16="http://schemas.microsoft.com/office/drawing/2014/main" id="{17E43581-59DB-834B-57CA-43081827937C}"/>
              </a:ext>
            </a:extLst>
          </p:cNvPr>
          <p:cNvSpPr txBox="1">
            <a:spLocks/>
          </p:cNvSpPr>
          <p:nvPr/>
        </p:nvSpPr>
        <p:spPr>
          <a:xfrm>
            <a:off x="762000" y="3175178"/>
            <a:ext cx="4983480" cy="26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Link-state: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i="1" dirty="0">
                <a:solidFill>
                  <a:srgbClr val="C00000"/>
                </a:solidFill>
              </a:rPr>
              <a:t>Global data: </a:t>
            </a:r>
            <a:r>
              <a:rPr lang="en-US" sz="2400" dirty="0"/>
              <a:t>Each node knows about the full network graph.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i="1" dirty="0">
                <a:solidFill>
                  <a:srgbClr val="C00000"/>
                </a:solidFill>
              </a:rPr>
              <a:t>Local computation: </a:t>
            </a:r>
            <a:r>
              <a:rPr lang="en-US" sz="2400" dirty="0"/>
              <a:t>Each node computes the full solution by itself.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318151-4E60-A9DF-7396-20D787B640D8}"/>
              </a:ext>
            </a:extLst>
          </p:cNvPr>
          <p:cNvGrpSpPr/>
          <p:nvPr/>
        </p:nvGrpSpPr>
        <p:grpSpPr>
          <a:xfrm>
            <a:off x="7107824" y="1107390"/>
            <a:ext cx="4032615" cy="422085"/>
            <a:chOff x="4974225" y="896175"/>
            <a:chExt cx="2915263" cy="215400"/>
          </a:xfrm>
        </p:grpSpPr>
        <p:cxnSp>
          <p:nvCxnSpPr>
            <p:cNvPr id="6" name="Google Shape;196;p27">
              <a:extLst>
                <a:ext uri="{FF2B5EF4-FFF2-40B4-BE49-F238E27FC236}">
                  <a16:creationId xmlns:a16="http://schemas.microsoft.com/office/drawing/2014/main" id="{D08B47DA-0727-8F1C-176B-1C7C55DFE4F6}"/>
                </a:ext>
              </a:extLst>
            </p:cNvPr>
            <p:cNvCxnSpPr/>
            <p:nvPr/>
          </p:nvCxnSpPr>
          <p:spPr>
            <a:xfrm flipH="1">
              <a:off x="4974225" y="996075"/>
              <a:ext cx="431400" cy="115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" name="Google Shape;197;p27">
              <a:extLst>
                <a:ext uri="{FF2B5EF4-FFF2-40B4-BE49-F238E27FC236}">
                  <a16:creationId xmlns:a16="http://schemas.microsoft.com/office/drawing/2014/main" id="{40B28696-A13E-E441-A3EE-0A507975F3D7}"/>
                </a:ext>
              </a:extLst>
            </p:cNvPr>
            <p:cNvSpPr txBox="1"/>
            <p:nvPr/>
          </p:nvSpPr>
          <p:spPr>
            <a:xfrm>
              <a:off x="5405625" y="896175"/>
              <a:ext cx="2483863" cy="172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How do routers learn this?</a:t>
              </a:r>
              <a:endParaRPr sz="22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B246CE-0FE9-9513-D1FB-3BABEC5DF4F9}"/>
              </a:ext>
            </a:extLst>
          </p:cNvPr>
          <p:cNvGrpSpPr/>
          <p:nvPr/>
        </p:nvGrpSpPr>
        <p:grpSpPr>
          <a:xfrm>
            <a:off x="6029683" y="2329950"/>
            <a:ext cx="4219214" cy="493051"/>
            <a:chOff x="4940025" y="1582875"/>
            <a:chExt cx="3035449" cy="240307"/>
          </a:xfrm>
        </p:grpSpPr>
        <p:cxnSp>
          <p:nvCxnSpPr>
            <p:cNvPr id="10" name="Google Shape;198;p27">
              <a:extLst>
                <a:ext uri="{FF2B5EF4-FFF2-40B4-BE49-F238E27FC236}">
                  <a16:creationId xmlns:a16="http://schemas.microsoft.com/office/drawing/2014/main" id="{F32A6869-9F6C-2DA1-A6BB-6E30BA6322B0}"/>
                </a:ext>
              </a:extLst>
            </p:cNvPr>
            <p:cNvCxnSpPr/>
            <p:nvPr/>
          </p:nvCxnSpPr>
          <p:spPr>
            <a:xfrm rot="10800000">
              <a:off x="4940025" y="1582875"/>
              <a:ext cx="465600" cy="175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" name="Google Shape;199;p27">
              <a:extLst>
                <a:ext uri="{FF2B5EF4-FFF2-40B4-BE49-F238E27FC236}">
                  <a16:creationId xmlns:a16="http://schemas.microsoft.com/office/drawing/2014/main" id="{56A0D174-AFE2-DDB7-A526-CC13A8076BCD}"/>
                </a:ext>
              </a:extLst>
            </p:cNvPr>
            <p:cNvSpPr txBox="1"/>
            <p:nvPr/>
          </p:nvSpPr>
          <p:spPr>
            <a:xfrm>
              <a:off x="5405624" y="1658175"/>
              <a:ext cx="2569850" cy="165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What algorithm do we run?</a:t>
              </a:r>
              <a:endParaRPr sz="22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1230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1FB1-E8A5-CA8A-E94C-635AC50EF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5;p28">
            <a:extLst>
              <a:ext uri="{FF2B5EF4-FFF2-40B4-BE49-F238E27FC236}">
                <a16:creationId xmlns:a16="http://schemas.microsoft.com/office/drawing/2014/main" id="{B8EFBE69-C2E3-9AFD-D64D-51C7C733B969}"/>
              </a:ext>
            </a:extLst>
          </p:cNvPr>
          <p:cNvSpPr txBox="1">
            <a:spLocks/>
          </p:cNvSpPr>
          <p:nvPr/>
        </p:nvSpPr>
        <p:spPr>
          <a:xfrm>
            <a:off x="762000" y="858148"/>
            <a:ext cx="10668000" cy="2895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Suppose R3 has learned the full network graph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We know all the links, their status (up or down?), and their costs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We know about all the destinations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dirty="0"/>
              <a:t>R3 can run a graph algorithm to compute paths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We can populate the forwarding table with the next-hop (in the computed path)</a:t>
            </a:r>
          </a:p>
        </p:txBody>
      </p:sp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2ECA82DA-1C59-CF81-72AC-1ABD089A4C96}"/>
              </a:ext>
            </a:extLst>
          </p:cNvPr>
          <p:cNvSpPr txBox="1">
            <a:spLocks/>
          </p:cNvSpPr>
          <p:nvPr/>
        </p:nvSpPr>
        <p:spPr>
          <a:xfrm>
            <a:off x="762000" y="0"/>
            <a:ext cx="10668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Link-State Protocols: Definition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5812EB-430D-A266-C3E9-94A97BA77538}"/>
              </a:ext>
            </a:extLst>
          </p:cNvPr>
          <p:cNvGrpSpPr/>
          <p:nvPr/>
        </p:nvGrpSpPr>
        <p:grpSpPr>
          <a:xfrm>
            <a:off x="7023915" y="1107391"/>
            <a:ext cx="4116525" cy="338554"/>
            <a:chOff x="4913565" y="896175"/>
            <a:chExt cx="2975923" cy="172772"/>
          </a:xfrm>
        </p:grpSpPr>
        <p:cxnSp>
          <p:nvCxnSpPr>
            <p:cNvPr id="6" name="Google Shape;196;p27">
              <a:extLst>
                <a:ext uri="{FF2B5EF4-FFF2-40B4-BE49-F238E27FC236}">
                  <a16:creationId xmlns:a16="http://schemas.microsoft.com/office/drawing/2014/main" id="{254298CF-336C-290D-17B3-D971F660E3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3565" y="927645"/>
              <a:ext cx="431400" cy="59973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" name="Google Shape;197;p27">
              <a:extLst>
                <a:ext uri="{FF2B5EF4-FFF2-40B4-BE49-F238E27FC236}">
                  <a16:creationId xmlns:a16="http://schemas.microsoft.com/office/drawing/2014/main" id="{25BD9B90-BDC8-3628-B07B-CE4A2CACFB02}"/>
                </a:ext>
              </a:extLst>
            </p:cNvPr>
            <p:cNvSpPr txBox="1"/>
            <p:nvPr/>
          </p:nvSpPr>
          <p:spPr>
            <a:xfrm>
              <a:off x="5405625" y="896175"/>
              <a:ext cx="2483863" cy="172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How do routers learn this?</a:t>
              </a:r>
              <a:endParaRPr sz="22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A57C106-B2BA-256E-2732-0718B64B8BD5}"/>
              </a:ext>
            </a:extLst>
          </p:cNvPr>
          <p:cNvGrpSpPr/>
          <p:nvPr/>
        </p:nvGrpSpPr>
        <p:grpSpPr>
          <a:xfrm>
            <a:off x="7107824" y="2309310"/>
            <a:ext cx="4597711" cy="338554"/>
            <a:chOff x="4667721" y="1658175"/>
            <a:chExt cx="3307753" cy="165007"/>
          </a:xfrm>
        </p:grpSpPr>
        <p:cxnSp>
          <p:nvCxnSpPr>
            <p:cNvPr id="10" name="Google Shape;198;p27">
              <a:extLst>
                <a:ext uri="{FF2B5EF4-FFF2-40B4-BE49-F238E27FC236}">
                  <a16:creationId xmlns:a16="http://schemas.microsoft.com/office/drawing/2014/main" id="{E8C08182-119E-8194-DE4B-D6411D1FAA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67721" y="1758075"/>
              <a:ext cx="737905" cy="19554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" name="Google Shape;199;p27">
              <a:extLst>
                <a:ext uri="{FF2B5EF4-FFF2-40B4-BE49-F238E27FC236}">
                  <a16:creationId xmlns:a16="http://schemas.microsoft.com/office/drawing/2014/main" id="{31D36731-7D88-31E5-9057-B0BEB2535A83}"/>
                </a:ext>
              </a:extLst>
            </p:cNvPr>
            <p:cNvSpPr txBox="1"/>
            <p:nvPr/>
          </p:nvSpPr>
          <p:spPr>
            <a:xfrm>
              <a:off x="5405624" y="1658175"/>
              <a:ext cx="2569850" cy="165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What algorithm do we run?</a:t>
              </a:r>
              <a:endParaRPr sz="22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FA086D-8CE8-4F54-04B4-32C38B37CB72}"/>
              </a:ext>
            </a:extLst>
          </p:cNvPr>
          <p:cNvGrpSpPr/>
          <p:nvPr/>
        </p:nvGrpSpPr>
        <p:grpSpPr>
          <a:xfrm>
            <a:off x="2243020" y="4121063"/>
            <a:ext cx="7705959" cy="2270322"/>
            <a:chOff x="3797414" y="4819935"/>
            <a:chExt cx="5418746" cy="1874860"/>
          </a:xfrm>
        </p:grpSpPr>
        <p:sp>
          <p:nvSpPr>
            <p:cNvPr id="8" name="Google Shape;206;p28">
              <a:extLst>
                <a:ext uri="{FF2B5EF4-FFF2-40B4-BE49-F238E27FC236}">
                  <a16:creationId xmlns:a16="http://schemas.microsoft.com/office/drawing/2014/main" id="{33694BFF-7BB0-F29D-3098-73F68E5C8669}"/>
                </a:ext>
              </a:extLst>
            </p:cNvPr>
            <p:cNvSpPr/>
            <p:nvPr/>
          </p:nvSpPr>
          <p:spPr>
            <a:xfrm>
              <a:off x="5730798" y="5581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207;p28">
              <a:extLst>
                <a:ext uri="{FF2B5EF4-FFF2-40B4-BE49-F238E27FC236}">
                  <a16:creationId xmlns:a16="http://schemas.microsoft.com/office/drawing/2014/main" id="{2C35F318-7385-C8D8-8DF1-B64D2A7B701F}"/>
                </a:ext>
              </a:extLst>
            </p:cNvPr>
            <p:cNvSpPr/>
            <p:nvPr/>
          </p:nvSpPr>
          <p:spPr>
            <a:xfrm>
              <a:off x="6492798" y="5200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208;p28">
              <a:extLst>
                <a:ext uri="{FF2B5EF4-FFF2-40B4-BE49-F238E27FC236}">
                  <a16:creationId xmlns:a16="http://schemas.microsoft.com/office/drawing/2014/main" id="{0F5B1745-6345-7A7A-8D01-9CB92A465CF2}"/>
                </a:ext>
              </a:extLst>
            </p:cNvPr>
            <p:cNvSpPr/>
            <p:nvPr/>
          </p:nvSpPr>
          <p:spPr>
            <a:xfrm>
              <a:off x="7254798" y="4819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209;p28">
              <a:extLst>
                <a:ext uri="{FF2B5EF4-FFF2-40B4-BE49-F238E27FC236}">
                  <a16:creationId xmlns:a16="http://schemas.microsoft.com/office/drawing/2014/main" id="{5E863EC9-0C39-CFAF-C205-455F5AB55DE7}"/>
                </a:ext>
              </a:extLst>
            </p:cNvPr>
            <p:cNvSpPr/>
            <p:nvPr/>
          </p:nvSpPr>
          <p:spPr>
            <a:xfrm>
              <a:off x="7254798" y="6343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210;p28">
              <a:extLst>
                <a:ext uri="{FF2B5EF4-FFF2-40B4-BE49-F238E27FC236}">
                  <a16:creationId xmlns:a16="http://schemas.microsoft.com/office/drawing/2014/main" id="{D788FB02-20F8-EEBC-EFBA-00D98380F537}"/>
                </a:ext>
              </a:extLst>
            </p:cNvPr>
            <p:cNvSpPr/>
            <p:nvPr/>
          </p:nvSpPr>
          <p:spPr>
            <a:xfrm>
              <a:off x="8169198" y="5581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" name="Google Shape;211;p28">
              <a:extLst>
                <a:ext uri="{FF2B5EF4-FFF2-40B4-BE49-F238E27FC236}">
                  <a16:creationId xmlns:a16="http://schemas.microsoft.com/office/drawing/2014/main" id="{797D7E8D-1027-43F8-4290-B71D05494EF9}"/>
                </a:ext>
              </a:extLst>
            </p:cNvPr>
            <p:cNvCxnSpPr>
              <a:endCxn id="15" idx="1"/>
            </p:cNvCxnSpPr>
            <p:nvPr/>
          </p:nvCxnSpPr>
          <p:spPr>
            <a:xfrm rot="10800000" flipH="1">
              <a:off x="6781098" y="4962435"/>
              <a:ext cx="473700" cy="2925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212;p28">
              <a:extLst>
                <a:ext uri="{FF2B5EF4-FFF2-40B4-BE49-F238E27FC236}">
                  <a16:creationId xmlns:a16="http://schemas.microsoft.com/office/drawing/2014/main" id="{CB5B916B-686D-7882-D5E2-3A75C3D0A462}"/>
                </a:ext>
              </a:extLst>
            </p:cNvPr>
            <p:cNvCxnSpPr>
              <a:stCxn id="8" idx="3"/>
              <a:endCxn id="16" idx="1"/>
            </p:cNvCxnSpPr>
            <p:nvPr/>
          </p:nvCxnSpPr>
          <p:spPr>
            <a:xfrm>
              <a:off x="6015798" y="5724435"/>
              <a:ext cx="1239000" cy="762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13;p28">
              <a:extLst>
                <a:ext uri="{FF2B5EF4-FFF2-40B4-BE49-F238E27FC236}">
                  <a16:creationId xmlns:a16="http://schemas.microsoft.com/office/drawing/2014/main" id="{E4482353-EB1D-5446-BA01-8845F4046D97}"/>
                </a:ext>
              </a:extLst>
            </p:cNvPr>
            <p:cNvCxnSpPr>
              <a:stCxn id="16" idx="0"/>
              <a:endCxn id="15" idx="2"/>
            </p:cNvCxnSpPr>
            <p:nvPr/>
          </p:nvCxnSpPr>
          <p:spPr>
            <a:xfrm rot="10800000">
              <a:off x="7397298" y="5104935"/>
              <a:ext cx="0" cy="12390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4;p28">
              <a:extLst>
                <a:ext uri="{FF2B5EF4-FFF2-40B4-BE49-F238E27FC236}">
                  <a16:creationId xmlns:a16="http://schemas.microsoft.com/office/drawing/2014/main" id="{38CE9FE7-A12A-680B-3BBF-9797D4011BAD}"/>
                </a:ext>
              </a:extLst>
            </p:cNvPr>
            <p:cNvCxnSpPr>
              <a:stCxn id="17" idx="1"/>
              <a:endCxn id="15" idx="3"/>
            </p:cNvCxnSpPr>
            <p:nvPr/>
          </p:nvCxnSpPr>
          <p:spPr>
            <a:xfrm rot="10800000">
              <a:off x="7539798" y="4962435"/>
              <a:ext cx="629400" cy="762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15;p28">
              <a:extLst>
                <a:ext uri="{FF2B5EF4-FFF2-40B4-BE49-F238E27FC236}">
                  <a16:creationId xmlns:a16="http://schemas.microsoft.com/office/drawing/2014/main" id="{7D72664B-A465-A609-3142-B3612BB22004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 rot="10800000" flipH="1">
              <a:off x="7539798" y="5724435"/>
              <a:ext cx="629400" cy="7620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16;p28">
              <a:extLst>
                <a:ext uri="{FF2B5EF4-FFF2-40B4-BE49-F238E27FC236}">
                  <a16:creationId xmlns:a16="http://schemas.microsoft.com/office/drawing/2014/main" id="{7F84A005-9155-BC04-ADE6-45976429975B}"/>
                </a:ext>
              </a:extLst>
            </p:cNvPr>
            <p:cNvCxnSpPr>
              <a:stCxn id="8" idx="3"/>
            </p:cNvCxnSpPr>
            <p:nvPr/>
          </p:nvCxnSpPr>
          <p:spPr>
            <a:xfrm rot="10800000" flipH="1">
              <a:off x="6015798" y="5430435"/>
              <a:ext cx="478800" cy="2940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17;p28">
              <a:extLst>
                <a:ext uri="{FF2B5EF4-FFF2-40B4-BE49-F238E27FC236}">
                  <a16:creationId xmlns:a16="http://schemas.microsoft.com/office/drawing/2014/main" id="{3CA0075D-EC33-E885-8546-4A4A2EC0AA81}"/>
                </a:ext>
              </a:extLst>
            </p:cNvPr>
            <p:cNvCxnSpPr>
              <a:stCxn id="17" idx="3"/>
              <a:endCxn id="32" idx="2"/>
            </p:cNvCxnSpPr>
            <p:nvPr/>
          </p:nvCxnSpPr>
          <p:spPr>
            <a:xfrm>
              <a:off x="8454198" y="5724435"/>
              <a:ext cx="477000" cy="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" name="Google Shape;219;p28">
              <a:extLst>
                <a:ext uri="{FF2B5EF4-FFF2-40B4-BE49-F238E27FC236}">
                  <a16:creationId xmlns:a16="http://schemas.microsoft.com/office/drawing/2014/main" id="{EAE25973-685F-9A22-0B4E-109D2A99FC64}"/>
                </a:ext>
              </a:extLst>
            </p:cNvPr>
            <p:cNvSpPr txBox="1"/>
            <p:nvPr/>
          </p:nvSpPr>
          <p:spPr>
            <a:xfrm>
              <a:off x="8580167" y="55148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6" name="Google Shape;220;p28">
              <a:extLst>
                <a:ext uri="{FF2B5EF4-FFF2-40B4-BE49-F238E27FC236}">
                  <a16:creationId xmlns:a16="http://schemas.microsoft.com/office/drawing/2014/main" id="{BE263EDE-5D60-8778-2D46-165FB4ABA50D}"/>
                </a:ext>
              </a:extLst>
            </p:cNvPr>
            <p:cNvSpPr txBox="1"/>
            <p:nvPr/>
          </p:nvSpPr>
          <p:spPr>
            <a:xfrm>
              <a:off x="6186048" y="533409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7" name="Google Shape;221;p28">
              <a:extLst>
                <a:ext uri="{FF2B5EF4-FFF2-40B4-BE49-F238E27FC236}">
                  <a16:creationId xmlns:a16="http://schemas.microsoft.com/office/drawing/2014/main" id="{95787208-DE6A-4E1B-66D1-1D31DC97D74B}"/>
                </a:ext>
              </a:extLst>
            </p:cNvPr>
            <p:cNvSpPr txBox="1"/>
            <p:nvPr/>
          </p:nvSpPr>
          <p:spPr>
            <a:xfrm>
              <a:off x="6878673" y="48895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8" name="Google Shape;222;p28">
              <a:extLst>
                <a:ext uri="{FF2B5EF4-FFF2-40B4-BE49-F238E27FC236}">
                  <a16:creationId xmlns:a16="http://schemas.microsoft.com/office/drawing/2014/main" id="{645F6E6A-B1A8-BB83-1A7E-6D092762FD69}"/>
                </a:ext>
              </a:extLst>
            </p:cNvPr>
            <p:cNvSpPr txBox="1"/>
            <p:nvPr/>
          </p:nvSpPr>
          <p:spPr>
            <a:xfrm>
              <a:off x="6514948" y="61285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/>
            </a:p>
          </p:txBody>
        </p:sp>
        <p:sp>
          <p:nvSpPr>
            <p:cNvPr id="29" name="Google Shape;223;p28">
              <a:extLst>
                <a:ext uri="{FF2B5EF4-FFF2-40B4-BE49-F238E27FC236}">
                  <a16:creationId xmlns:a16="http://schemas.microsoft.com/office/drawing/2014/main" id="{AFD829BC-315E-83BD-4B70-155188058FC1}"/>
                </a:ext>
              </a:extLst>
            </p:cNvPr>
            <p:cNvSpPr txBox="1"/>
            <p:nvPr/>
          </p:nvSpPr>
          <p:spPr>
            <a:xfrm>
              <a:off x="7452755" y="55819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30" name="Google Shape;224;p28">
              <a:extLst>
                <a:ext uri="{FF2B5EF4-FFF2-40B4-BE49-F238E27FC236}">
                  <a16:creationId xmlns:a16="http://schemas.microsoft.com/office/drawing/2014/main" id="{29623C97-80C2-0D6E-13CB-6E83D9043926}"/>
                </a:ext>
              </a:extLst>
            </p:cNvPr>
            <p:cNvSpPr txBox="1"/>
            <p:nvPr/>
          </p:nvSpPr>
          <p:spPr>
            <a:xfrm>
              <a:off x="7753693" y="5878132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31" name="Google Shape;225;p28">
              <a:extLst>
                <a:ext uri="{FF2B5EF4-FFF2-40B4-BE49-F238E27FC236}">
                  <a16:creationId xmlns:a16="http://schemas.microsoft.com/office/drawing/2014/main" id="{628DE517-914B-D39F-B1EA-94D61E446917}"/>
                </a:ext>
              </a:extLst>
            </p:cNvPr>
            <p:cNvSpPr txBox="1"/>
            <p:nvPr/>
          </p:nvSpPr>
          <p:spPr>
            <a:xfrm>
              <a:off x="7866260" y="5104935"/>
              <a:ext cx="239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/>
            </a:p>
          </p:txBody>
        </p:sp>
        <p:sp>
          <p:nvSpPr>
            <p:cNvPr id="32" name="Google Shape;218;p28">
              <a:extLst>
                <a:ext uri="{FF2B5EF4-FFF2-40B4-BE49-F238E27FC236}">
                  <a16:creationId xmlns:a16="http://schemas.microsoft.com/office/drawing/2014/main" id="{CCE441C1-5B63-DF5A-562D-E89EC74BF206}"/>
                </a:ext>
              </a:extLst>
            </p:cNvPr>
            <p:cNvSpPr/>
            <p:nvPr/>
          </p:nvSpPr>
          <p:spPr>
            <a:xfrm>
              <a:off x="8931160" y="5581923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" name="Google Shape;226;p28">
              <a:extLst>
                <a:ext uri="{FF2B5EF4-FFF2-40B4-BE49-F238E27FC236}">
                  <a16:creationId xmlns:a16="http://schemas.microsoft.com/office/drawing/2014/main" id="{A4A63187-4A3D-4A2E-32F3-96D90B3B106B}"/>
                </a:ext>
              </a:extLst>
            </p:cNvPr>
            <p:cNvSpPr/>
            <p:nvPr/>
          </p:nvSpPr>
          <p:spPr>
            <a:xfrm>
              <a:off x="8169210" y="6343923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" name="Google Shape;227;p28">
              <a:extLst>
                <a:ext uri="{FF2B5EF4-FFF2-40B4-BE49-F238E27FC236}">
                  <a16:creationId xmlns:a16="http://schemas.microsoft.com/office/drawing/2014/main" id="{A60A77B4-94CC-F6F6-38E0-2861CCF7384D}"/>
                </a:ext>
              </a:extLst>
            </p:cNvPr>
            <p:cNvCxnSpPr>
              <a:stCxn id="16" idx="3"/>
              <a:endCxn id="33" idx="2"/>
            </p:cNvCxnSpPr>
            <p:nvPr/>
          </p:nvCxnSpPr>
          <p:spPr>
            <a:xfrm>
              <a:off x="7539798" y="6486435"/>
              <a:ext cx="62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" name="Google Shape;228;p28">
              <a:extLst>
                <a:ext uri="{FF2B5EF4-FFF2-40B4-BE49-F238E27FC236}">
                  <a16:creationId xmlns:a16="http://schemas.microsoft.com/office/drawing/2014/main" id="{B25A10AC-1010-25B5-0F32-62D1B91E6B2F}"/>
                </a:ext>
              </a:extLst>
            </p:cNvPr>
            <p:cNvSpPr txBox="1"/>
            <p:nvPr/>
          </p:nvSpPr>
          <p:spPr>
            <a:xfrm>
              <a:off x="7830967" y="647939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graphicFrame>
          <p:nvGraphicFramePr>
            <p:cNvPr id="36" name="Google Shape;229;p28">
              <a:extLst>
                <a:ext uri="{FF2B5EF4-FFF2-40B4-BE49-F238E27FC236}">
                  <a16:creationId xmlns:a16="http://schemas.microsoft.com/office/drawing/2014/main" id="{C125B677-6CE1-67B3-28EC-8DB001794A4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75483963"/>
                </p:ext>
              </p:extLst>
            </p:nvPr>
          </p:nvGraphicFramePr>
          <p:xfrm>
            <a:off x="3797414" y="4973884"/>
            <a:ext cx="1889863" cy="1613211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405324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8223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4161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R3's Table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04161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Destination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Next Hop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72581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solidFill>
                              <a:srgbClr val="0000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A</a:t>
                        </a:r>
                        <a:endParaRPr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solidFill>
                              <a:srgbClr val="0000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R2</a:t>
                        </a:r>
                        <a:endParaRPr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72581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...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...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15091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4FAC-1F9B-2DDD-B824-DBAA876C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5;p28">
            <a:extLst>
              <a:ext uri="{FF2B5EF4-FFF2-40B4-BE49-F238E27FC236}">
                <a16:creationId xmlns:a16="http://schemas.microsoft.com/office/drawing/2014/main" id="{2D180297-644A-4794-591E-2F93813F960B}"/>
              </a:ext>
            </a:extLst>
          </p:cNvPr>
          <p:cNvSpPr txBox="1">
            <a:spLocks/>
          </p:cNvSpPr>
          <p:nvPr/>
        </p:nvSpPr>
        <p:spPr>
          <a:xfrm>
            <a:off x="181690" y="806327"/>
            <a:ext cx="10668000" cy="48901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What graph algorithm do we run to compute paths?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Any </a:t>
            </a:r>
            <a:r>
              <a:rPr lang="en-US" sz="2400" i="1" dirty="0">
                <a:solidFill>
                  <a:srgbClr val="C00000"/>
                </a:solidFill>
              </a:rPr>
              <a:t>single source shortest-path algorithm </a:t>
            </a:r>
            <a:r>
              <a:rPr lang="en-US" sz="2400" dirty="0"/>
              <a:t>will work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Need to find shortest paths from a single source (the router) to every host</a:t>
            </a: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Some possible choices: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Bellman-Ford (the original serial version)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b="1" dirty="0">
                <a:solidFill>
                  <a:srgbClr val="C00000"/>
                </a:solidFill>
              </a:rPr>
              <a:t>Dijkstra's algorithm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Breadth-first search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Parallel single-source shortest path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Dynamic shortest path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Approximate shortest path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etc.</a:t>
            </a:r>
          </a:p>
        </p:txBody>
      </p:sp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A23CF2E2-EC28-5AA4-2FDE-8F3359629351}"/>
              </a:ext>
            </a:extLst>
          </p:cNvPr>
          <p:cNvSpPr txBox="1">
            <a:spLocks/>
          </p:cNvSpPr>
          <p:nvPr/>
        </p:nvSpPr>
        <p:spPr>
          <a:xfrm>
            <a:off x="762000" y="0"/>
            <a:ext cx="10668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Link-State Algorithms</a:t>
            </a:r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E4B40C-DF03-FF94-4F30-4A14F1BF44D6}"/>
              </a:ext>
            </a:extLst>
          </p:cNvPr>
          <p:cNvGrpSpPr/>
          <p:nvPr/>
        </p:nvGrpSpPr>
        <p:grpSpPr>
          <a:xfrm>
            <a:off x="4391860" y="4420038"/>
            <a:ext cx="7705959" cy="2270322"/>
            <a:chOff x="3797414" y="4819935"/>
            <a:chExt cx="5418746" cy="1874860"/>
          </a:xfrm>
        </p:grpSpPr>
        <p:sp>
          <p:nvSpPr>
            <p:cNvPr id="8" name="Google Shape;206;p28">
              <a:extLst>
                <a:ext uri="{FF2B5EF4-FFF2-40B4-BE49-F238E27FC236}">
                  <a16:creationId xmlns:a16="http://schemas.microsoft.com/office/drawing/2014/main" id="{CE4EF282-76B1-8CD8-1AEC-AD3A81541BCC}"/>
                </a:ext>
              </a:extLst>
            </p:cNvPr>
            <p:cNvSpPr/>
            <p:nvPr/>
          </p:nvSpPr>
          <p:spPr>
            <a:xfrm>
              <a:off x="5730798" y="5581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207;p28">
              <a:extLst>
                <a:ext uri="{FF2B5EF4-FFF2-40B4-BE49-F238E27FC236}">
                  <a16:creationId xmlns:a16="http://schemas.microsoft.com/office/drawing/2014/main" id="{2BC63C84-2F16-AE58-F20B-24D5F85BB5A2}"/>
                </a:ext>
              </a:extLst>
            </p:cNvPr>
            <p:cNvSpPr/>
            <p:nvPr/>
          </p:nvSpPr>
          <p:spPr>
            <a:xfrm>
              <a:off x="6492798" y="5200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208;p28">
              <a:extLst>
                <a:ext uri="{FF2B5EF4-FFF2-40B4-BE49-F238E27FC236}">
                  <a16:creationId xmlns:a16="http://schemas.microsoft.com/office/drawing/2014/main" id="{3DBAB8D0-C079-8F70-DBF8-B1FC32BA239B}"/>
                </a:ext>
              </a:extLst>
            </p:cNvPr>
            <p:cNvSpPr/>
            <p:nvPr/>
          </p:nvSpPr>
          <p:spPr>
            <a:xfrm>
              <a:off x="7254798" y="4819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209;p28">
              <a:extLst>
                <a:ext uri="{FF2B5EF4-FFF2-40B4-BE49-F238E27FC236}">
                  <a16:creationId xmlns:a16="http://schemas.microsoft.com/office/drawing/2014/main" id="{BA230C51-FA3E-3C8E-7673-791B049EA012}"/>
                </a:ext>
              </a:extLst>
            </p:cNvPr>
            <p:cNvSpPr/>
            <p:nvPr/>
          </p:nvSpPr>
          <p:spPr>
            <a:xfrm>
              <a:off x="7254798" y="6343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R5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210;p28">
              <a:extLst>
                <a:ext uri="{FF2B5EF4-FFF2-40B4-BE49-F238E27FC236}">
                  <a16:creationId xmlns:a16="http://schemas.microsoft.com/office/drawing/2014/main" id="{B5901B50-D7D3-AE35-CEAC-D224AB04DC93}"/>
                </a:ext>
              </a:extLst>
            </p:cNvPr>
            <p:cNvSpPr/>
            <p:nvPr/>
          </p:nvSpPr>
          <p:spPr>
            <a:xfrm>
              <a:off x="8169198" y="5581935"/>
              <a:ext cx="285000" cy="285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" name="Google Shape;211;p28">
              <a:extLst>
                <a:ext uri="{FF2B5EF4-FFF2-40B4-BE49-F238E27FC236}">
                  <a16:creationId xmlns:a16="http://schemas.microsoft.com/office/drawing/2014/main" id="{3C06AD42-FC70-87BD-A70F-A82D7431EC0D}"/>
                </a:ext>
              </a:extLst>
            </p:cNvPr>
            <p:cNvCxnSpPr>
              <a:endCxn id="15" idx="1"/>
            </p:cNvCxnSpPr>
            <p:nvPr/>
          </p:nvCxnSpPr>
          <p:spPr>
            <a:xfrm rot="10800000" flipH="1">
              <a:off x="6781098" y="4962435"/>
              <a:ext cx="473700" cy="2925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212;p28">
              <a:extLst>
                <a:ext uri="{FF2B5EF4-FFF2-40B4-BE49-F238E27FC236}">
                  <a16:creationId xmlns:a16="http://schemas.microsoft.com/office/drawing/2014/main" id="{6F20F333-90E9-A0AE-C69C-B4A1D97467F1}"/>
                </a:ext>
              </a:extLst>
            </p:cNvPr>
            <p:cNvCxnSpPr>
              <a:stCxn id="8" idx="3"/>
              <a:endCxn id="16" idx="1"/>
            </p:cNvCxnSpPr>
            <p:nvPr/>
          </p:nvCxnSpPr>
          <p:spPr>
            <a:xfrm>
              <a:off x="6015798" y="5724435"/>
              <a:ext cx="1239000" cy="762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13;p28">
              <a:extLst>
                <a:ext uri="{FF2B5EF4-FFF2-40B4-BE49-F238E27FC236}">
                  <a16:creationId xmlns:a16="http://schemas.microsoft.com/office/drawing/2014/main" id="{D05C75E7-5078-2103-3974-42C422E4EC3A}"/>
                </a:ext>
              </a:extLst>
            </p:cNvPr>
            <p:cNvCxnSpPr>
              <a:stCxn id="16" idx="0"/>
              <a:endCxn id="15" idx="2"/>
            </p:cNvCxnSpPr>
            <p:nvPr/>
          </p:nvCxnSpPr>
          <p:spPr>
            <a:xfrm rot="10800000">
              <a:off x="7397298" y="5104935"/>
              <a:ext cx="0" cy="12390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4;p28">
              <a:extLst>
                <a:ext uri="{FF2B5EF4-FFF2-40B4-BE49-F238E27FC236}">
                  <a16:creationId xmlns:a16="http://schemas.microsoft.com/office/drawing/2014/main" id="{CDC06F91-BE49-764B-962A-D578BA79CB46}"/>
                </a:ext>
              </a:extLst>
            </p:cNvPr>
            <p:cNvCxnSpPr>
              <a:stCxn id="17" idx="1"/>
              <a:endCxn id="15" idx="3"/>
            </p:cNvCxnSpPr>
            <p:nvPr/>
          </p:nvCxnSpPr>
          <p:spPr>
            <a:xfrm rot="10800000">
              <a:off x="7539798" y="4962435"/>
              <a:ext cx="629400" cy="762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15;p28">
              <a:extLst>
                <a:ext uri="{FF2B5EF4-FFF2-40B4-BE49-F238E27FC236}">
                  <a16:creationId xmlns:a16="http://schemas.microsoft.com/office/drawing/2014/main" id="{2122B6EE-4A59-0184-7F26-7B4D2E995CD1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 rot="10800000" flipH="1">
              <a:off x="7539798" y="5724435"/>
              <a:ext cx="629400" cy="7620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16;p28">
              <a:extLst>
                <a:ext uri="{FF2B5EF4-FFF2-40B4-BE49-F238E27FC236}">
                  <a16:creationId xmlns:a16="http://schemas.microsoft.com/office/drawing/2014/main" id="{2EE078A5-1195-3C11-962A-C58D38FD5A88}"/>
                </a:ext>
              </a:extLst>
            </p:cNvPr>
            <p:cNvCxnSpPr>
              <a:stCxn id="8" idx="3"/>
            </p:cNvCxnSpPr>
            <p:nvPr/>
          </p:nvCxnSpPr>
          <p:spPr>
            <a:xfrm rot="10800000" flipH="1">
              <a:off x="6015798" y="5430435"/>
              <a:ext cx="478800" cy="2940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17;p28">
              <a:extLst>
                <a:ext uri="{FF2B5EF4-FFF2-40B4-BE49-F238E27FC236}">
                  <a16:creationId xmlns:a16="http://schemas.microsoft.com/office/drawing/2014/main" id="{ED6AEEAD-1284-1F26-DF3B-179759581D1C}"/>
                </a:ext>
              </a:extLst>
            </p:cNvPr>
            <p:cNvCxnSpPr>
              <a:stCxn id="17" idx="3"/>
              <a:endCxn id="32" idx="2"/>
            </p:cNvCxnSpPr>
            <p:nvPr/>
          </p:nvCxnSpPr>
          <p:spPr>
            <a:xfrm>
              <a:off x="8454198" y="5724435"/>
              <a:ext cx="477000" cy="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" name="Google Shape;219;p28">
              <a:extLst>
                <a:ext uri="{FF2B5EF4-FFF2-40B4-BE49-F238E27FC236}">
                  <a16:creationId xmlns:a16="http://schemas.microsoft.com/office/drawing/2014/main" id="{E4ED5449-4EEE-4993-B7CF-D582CEDC6C34}"/>
                </a:ext>
              </a:extLst>
            </p:cNvPr>
            <p:cNvSpPr txBox="1"/>
            <p:nvPr/>
          </p:nvSpPr>
          <p:spPr>
            <a:xfrm>
              <a:off x="8580167" y="55148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6" name="Google Shape;220;p28">
              <a:extLst>
                <a:ext uri="{FF2B5EF4-FFF2-40B4-BE49-F238E27FC236}">
                  <a16:creationId xmlns:a16="http://schemas.microsoft.com/office/drawing/2014/main" id="{3ADA7D8F-33DC-E03A-174C-95186F650295}"/>
                </a:ext>
              </a:extLst>
            </p:cNvPr>
            <p:cNvSpPr txBox="1"/>
            <p:nvPr/>
          </p:nvSpPr>
          <p:spPr>
            <a:xfrm>
              <a:off x="6186048" y="533409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7" name="Google Shape;221;p28">
              <a:extLst>
                <a:ext uri="{FF2B5EF4-FFF2-40B4-BE49-F238E27FC236}">
                  <a16:creationId xmlns:a16="http://schemas.microsoft.com/office/drawing/2014/main" id="{B74960C4-2BAA-FBA5-BA36-DF501923F261}"/>
                </a:ext>
              </a:extLst>
            </p:cNvPr>
            <p:cNvSpPr txBox="1"/>
            <p:nvPr/>
          </p:nvSpPr>
          <p:spPr>
            <a:xfrm>
              <a:off x="6878673" y="48895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28" name="Google Shape;222;p28">
              <a:extLst>
                <a:ext uri="{FF2B5EF4-FFF2-40B4-BE49-F238E27FC236}">
                  <a16:creationId xmlns:a16="http://schemas.microsoft.com/office/drawing/2014/main" id="{3A71E9FD-0BAE-3430-13AD-7E6237140FFD}"/>
                </a:ext>
              </a:extLst>
            </p:cNvPr>
            <p:cNvSpPr txBox="1"/>
            <p:nvPr/>
          </p:nvSpPr>
          <p:spPr>
            <a:xfrm>
              <a:off x="6514948" y="61285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/>
            </a:p>
          </p:txBody>
        </p:sp>
        <p:sp>
          <p:nvSpPr>
            <p:cNvPr id="29" name="Google Shape;223;p28">
              <a:extLst>
                <a:ext uri="{FF2B5EF4-FFF2-40B4-BE49-F238E27FC236}">
                  <a16:creationId xmlns:a16="http://schemas.microsoft.com/office/drawing/2014/main" id="{64BA189C-E1E1-CD22-E090-D7CD82761725}"/>
                </a:ext>
              </a:extLst>
            </p:cNvPr>
            <p:cNvSpPr txBox="1"/>
            <p:nvPr/>
          </p:nvSpPr>
          <p:spPr>
            <a:xfrm>
              <a:off x="7452755" y="558194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30" name="Google Shape;224;p28">
              <a:extLst>
                <a:ext uri="{FF2B5EF4-FFF2-40B4-BE49-F238E27FC236}">
                  <a16:creationId xmlns:a16="http://schemas.microsoft.com/office/drawing/2014/main" id="{CF2C4584-620D-A93D-F064-3EE6FEF26785}"/>
                </a:ext>
              </a:extLst>
            </p:cNvPr>
            <p:cNvSpPr txBox="1"/>
            <p:nvPr/>
          </p:nvSpPr>
          <p:spPr>
            <a:xfrm>
              <a:off x="7753693" y="5878132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0000FF"/>
                </a:solidFill>
              </a:endParaRPr>
            </a:p>
          </p:txBody>
        </p:sp>
        <p:sp>
          <p:nvSpPr>
            <p:cNvPr id="31" name="Google Shape;225;p28">
              <a:extLst>
                <a:ext uri="{FF2B5EF4-FFF2-40B4-BE49-F238E27FC236}">
                  <a16:creationId xmlns:a16="http://schemas.microsoft.com/office/drawing/2014/main" id="{5D60DCCE-6EA1-2F30-D105-032821E0E3A5}"/>
                </a:ext>
              </a:extLst>
            </p:cNvPr>
            <p:cNvSpPr txBox="1"/>
            <p:nvPr/>
          </p:nvSpPr>
          <p:spPr>
            <a:xfrm>
              <a:off x="7866260" y="5104935"/>
              <a:ext cx="239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/>
            </a:p>
          </p:txBody>
        </p:sp>
        <p:sp>
          <p:nvSpPr>
            <p:cNvPr id="32" name="Google Shape;218;p28">
              <a:extLst>
                <a:ext uri="{FF2B5EF4-FFF2-40B4-BE49-F238E27FC236}">
                  <a16:creationId xmlns:a16="http://schemas.microsoft.com/office/drawing/2014/main" id="{D8967B86-13A5-434C-CC31-AF93D9354F65}"/>
                </a:ext>
              </a:extLst>
            </p:cNvPr>
            <p:cNvSpPr/>
            <p:nvPr/>
          </p:nvSpPr>
          <p:spPr>
            <a:xfrm>
              <a:off x="8931160" y="5581923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" name="Google Shape;226;p28">
              <a:extLst>
                <a:ext uri="{FF2B5EF4-FFF2-40B4-BE49-F238E27FC236}">
                  <a16:creationId xmlns:a16="http://schemas.microsoft.com/office/drawing/2014/main" id="{82AEF2C0-1D36-AAEE-CAD9-4ED025BC4A10}"/>
                </a:ext>
              </a:extLst>
            </p:cNvPr>
            <p:cNvSpPr/>
            <p:nvPr/>
          </p:nvSpPr>
          <p:spPr>
            <a:xfrm>
              <a:off x="8169210" y="6343923"/>
              <a:ext cx="285000" cy="2850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4" name="Google Shape;227;p28">
              <a:extLst>
                <a:ext uri="{FF2B5EF4-FFF2-40B4-BE49-F238E27FC236}">
                  <a16:creationId xmlns:a16="http://schemas.microsoft.com/office/drawing/2014/main" id="{D5D5ABCB-1400-84C1-933A-7FC9465F06A8}"/>
                </a:ext>
              </a:extLst>
            </p:cNvPr>
            <p:cNvCxnSpPr>
              <a:stCxn id="16" idx="3"/>
              <a:endCxn id="33" idx="2"/>
            </p:cNvCxnSpPr>
            <p:nvPr/>
          </p:nvCxnSpPr>
          <p:spPr>
            <a:xfrm>
              <a:off x="7539798" y="6486435"/>
              <a:ext cx="629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" name="Google Shape;228;p28">
              <a:extLst>
                <a:ext uri="{FF2B5EF4-FFF2-40B4-BE49-F238E27FC236}">
                  <a16:creationId xmlns:a16="http://schemas.microsoft.com/office/drawing/2014/main" id="{DA56A9F0-7DB6-9FDE-8353-68F0B034A354}"/>
                </a:ext>
              </a:extLst>
            </p:cNvPr>
            <p:cNvSpPr txBox="1"/>
            <p:nvPr/>
          </p:nvSpPr>
          <p:spPr>
            <a:xfrm>
              <a:off x="7830967" y="6479395"/>
              <a:ext cx="138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graphicFrame>
          <p:nvGraphicFramePr>
            <p:cNvPr id="36" name="Google Shape;229;p28">
              <a:extLst>
                <a:ext uri="{FF2B5EF4-FFF2-40B4-BE49-F238E27FC236}">
                  <a16:creationId xmlns:a16="http://schemas.microsoft.com/office/drawing/2014/main" id="{A134877D-F2CB-0FC2-CCFC-9A4FCCFD83AE}"/>
                </a:ext>
              </a:extLst>
            </p:cNvPr>
            <p:cNvGraphicFramePr/>
            <p:nvPr/>
          </p:nvGraphicFramePr>
          <p:xfrm>
            <a:off x="3797414" y="4973884"/>
            <a:ext cx="1889863" cy="1613211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405324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8223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04161">
                  <a:tc gridSpan="2"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R3's Table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04161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Destination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20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Next Hop</a:t>
                        </a:r>
                        <a:endParaRPr sz="120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72581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solidFill>
                              <a:srgbClr val="0000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A</a:t>
                        </a:r>
                        <a:endParaRPr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>
                            <a:solidFill>
                              <a:srgbClr val="0000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R2</a:t>
                        </a:r>
                        <a:endParaRPr>
                          <a:solidFill>
                            <a:srgbClr val="00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72581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...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dirty="0">
                            <a:latin typeface="Roboto"/>
                            <a:ea typeface="Roboto"/>
                            <a:cs typeface="Roboto"/>
                            <a:sym typeface="Roboto"/>
                          </a:rPr>
                          <a:t>...</a:t>
                        </a:r>
                        <a:endParaRPr dirty="0">
                          <a:latin typeface="Roboto"/>
                          <a:ea typeface="Roboto"/>
                          <a:cs typeface="Roboto"/>
                          <a:sym typeface="Roboto"/>
                        </a:endParaRPr>
                      </a:p>
                    </a:txBody>
                    <a:tcPr marL="0" marR="0" marT="18275" marB="18275" anchor="ctr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45522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F0CD-4130-7C78-013A-99566452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4DA2A722-CF01-B6BC-00D3-978E763AAC6D}"/>
              </a:ext>
            </a:extLst>
          </p:cNvPr>
          <p:cNvSpPr txBox="1">
            <a:spLocks/>
          </p:cNvSpPr>
          <p:nvPr/>
        </p:nvSpPr>
        <p:spPr>
          <a:xfrm>
            <a:off x="762000" y="0"/>
            <a:ext cx="10668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Steps of Learning Network Graph</a:t>
            </a:r>
            <a:endParaRPr lang="en-US" dirty="0"/>
          </a:p>
        </p:txBody>
      </p:sp>
      <p:sp>
        <p:nvSpPr>
          <p:cNvPr id="2" name="Google Shape;303;p34">
            <a:extLst>
              <a:ext uri="{FF2B5EF4-FFF2-40B4-BE49-F238E27FC236}">
                <a16:creationId xmlns:a16="http://schemas.microsoft.com/office/drawing/2014/main" id="{66B615A4-8EA4-B205-6757-2A3B0CD37574}"/>
              </a:ext>
            </a:extLst>
          </p:cNvPr>
          <p:cNvSpPr txBox="1">
            <a:spLocks/>
          </p:cNvSpPr>
          <p:nvPr/>
        </p:nvSpPr>
        <p:spPr>
          <a:xfrm>
            <a:off x="762000" y="1004180"/>
            <a:ext cx="10668000" cy="3186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Link-state protocols: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Every router learns the full network graph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Step 1A: Discover my neighbors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Step 1B: Tell everybody about my neighbors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Clr>
                <a:srgbClr val="B7B7B7"/>
              </a:buClr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rgbClr val="B7B7B7"/>
                </a:solidFill>
              </a:rPr>
              <a:t>Then, each router runs a shortest-path algorithm on the graph to populate the forwarding table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E1DF059-2A94-BBBA-8B63-EC8CB4007104}"/>
              </a:ext>
            </a:extLst>
          </p:cNvPr>
          <p:cNvGrpSpPr/>
          <p:nvPr/>
        </p:nvGrpSpPr>
        <p:grpSpPr>
          <a:xfrm>
            <a:off x="7625985" y="1559115"/>
            <a:ext cx="4261216" cy="338554"/>
            <a:chOff x="4974225" y="896175"/>
            <a:chExt cx="3131838" cy="338554"/>
          </a:xfrm>
        </p:grpSpPr>
        <p:cxnSp>
          <p:nvCxnSpPr>
            <p:cNvPr id="3" name="Google Shape;304;p34">
              <a:extLst>
                <a:ext uri="{FF2B5EF4-FFF2-40B4-BE49-F238E27FC236}">
                  <a16:creationId xmlns:a16="http://schemas.microsoft.com/office/drawing/2014/main" id="{8EE6B37F-E1F6-2981-3162-C69EC3E66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74225" y="996075"/>
              <a:ext cx="431400" cy="115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" name="Google Shape;305;p34">
              <a:extLst>
                <a:ext uri="{FF2B5EF4-FFF2-40B4-BE49-F238E27FC236}">
                  <a16:creationId xmlns:a16="http://schemas.microsoft.com/office/drawing/2014/main" id="{5894C700-FDCC-57C3-B62E-AAA27E1B9F3E}"/>
                </a:ext>
              </a:extLst>
            </p:cNvPr>
            <p:cNvSpPr txBox="1"/>
            <p:nvPr/>
          </p:nvSpPr>
          <p:spPr>
            <a:xfrm>
              <a:off x="5481825" y="896175"/>
              <a:ext cx="262423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How do routers learn this?</a:t>
              </a:r>
              <a:endParaRPr sz="22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651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D436C-6A04-B707-7442-6B242177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484B6ECD-2744-0780-94ED-5FED6D5384F7}"/>
              </a:ext>
            </a:extLst>
          </p:cNvPr>
          <p:cNvSpPr txBox="1">
            <a:spLocks/>
          </p:cNvSpPr>
          <p:nvPr/>
        </p:nvSpPr>
        <p:spPr>
          <a:xfrm>
            <a:off x="266700" y="77431"/>
            <a:ext cx="116586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4000" dirty="0"/>
              <a:t>Steps of Learning Network Graph (1/2</a:t>
            </a:r>
            <a:r>
              <a:rPr lang="en-US" sz="4000" dirty="0"/>
              <a:t>): Learn Neighbors</a:t>
            </a:r>
          </a:p>
        </p:txBody>
      </p:sp>
      <p:sp>
        <p:nvSpPr>
          <p:cNvPr id="2" name="Google Shape;303;p34">
            <a:extLst>
              <a:ext uri="{FF2B5EF4-FFF2-40B4-BE49-F238E27FC236}">
                <a16:creationId xmlns:a16="http://schemas.microsoft.com/office/drawing/2014/main" id="{B10A80B3-67D3-EE69-57FE-2FECEA53748D}"/>
              </a:ext>
            </a:extLst>
          </p:cNvPr>
          <p:cNvSpPr txBox="1">
            <a:spLocks/>
          </p:cNvSpPr>
          <p:nvPr/>
        </p:nvSpPr>
        <p:spPr>
          <a:xfrm>
            <a:off x="762000" y="913542"/>
            <a:ext cx="10668000" cy="3186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How do we discover who is adjacent to us and their identity? Say hello!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Routers periodically send </a:t>
            </a:r>
            <a:r>
              <a:rPr lang="en-US" i="1" dirty="0"/>
              <a:t>hello</a:t>
            </a:r>
            <a:r>
              <a:rPr lang="en-US" dirty="0"/>
              <a:t> messages to their neighbors.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If they stop saying hello, assume that they disappeared.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dirty="0"/>
              <a:t>This helps us learn about our direct neighbors, but not the whole network.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Char char="○"/>
            </a:pPr>
            <a:r>
              <a:rPr lang="en-US" dirty="0"/>
              <a:t>R1 does not know about the rest of the network (e.g. R3).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ABEDDC-9513-3761-527C-D456EDB8727B}"/>
              </a:ext>
            </a:extLst>
          </p:cNvPr>
          <p:cNvGrpSpPr/>
          <p:nvPr/>
        </p:nvGrpSpPr>
        <p:grpSpPr>
          <a:xfrm>
            <a:off x="719807" y="4492534"/>
            <a:ext cx="10752385" cy="2082764"/>
            <a:chOff x="1096715" y="4697805"/>
            <a:chExt cx="8637250" cy="1645650"/>
          </a:xfrm>
        </p:grpSpPr>
        <p:cxnSp>
          <p:nvCxnSpPr>
            <p:cNvPr id="6" name="Google Shape;310;p35">
              <a:extLst>
                <a:ext uri="{FF2B5EF4-FFF2-40B4-BE49-F238E27FC236}">
                  <a16:creationId xmlns:a16="http://schemas.microsoft.com/office/drawing/2014/main" id="{D78447C4-D536-91A3-6177-BE17B0841E64}"/>
                </a:ext>
              </a:extLst>
            </p:cNvPr>
            <p:cNvCxnSpPr/>
            <p:nvPr/>
          </p:nvCxnSpPr>
          <p:spPr>
            <a:xfrm>
              <a:off x="6196985" y="5679530"/>
              <a:ext cx="1362300" cy="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7" name="Google Shape;311;p35">
              <a:extLst>
                <a:ext uri="{FF2B5EF4-FFF2-40B4-BE49-F238E27FC236}">
                  <a16:creationId xmlns:a16="http://schemas.microsoft.com/office/drawing/2014/main" id="{294A5E87-01BC-A615-5182-6354277F6099}"/>
                </a:ext>
              </a:extLst>
            </p:cNvPr>
            <p:cNvCxnSpPr>
              <a:stCxn id="14" idx="1"/>
              <a:endCxn id="13" idx="3"/>
            </p:cNvCxnSpPr>
            <p:nvPr/>
          </p:nvCxnSpPr>
          <p:spPr>
            <a:xfrm rot="10800000">
              <a:off x="3271828" y="5790205"/>
              <a:ext cx="2001000" cy="0"/>
            </a:xfrm>
            <a:prstGeom prst="straightConnector1">
              <a:avLst/>
            </a:prstGeom>
            <a:noFill/>
            <a:ln w="1905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314;p35">
              <a:extLst>
                <a:ext uri="{FF2B5EF4-FFF2-40B4-BE49-F238E27FC236}">
                  <a16:creationId xmlns:a16="http://schemas.microsoft.com/office/drawing/2014/main" id="{4AA47253-B43D-9D82-3B45-01D889B2FC42}"/>
                </a:ext>
              </a:extLst>
            </p:cNvPr>
            <p:cNvCxnSpPr>
              <a:stCxn id="15" idx="1"/>
              <a:endCxn id="14" idx="3"/>
            </p:cNvCxnSpPr>
            <p:nvPr/>
          </p:nvCxnSpPr>
          <p:spPr>
            <a:xfrm rot="10800000">
              <a:off x="5557828" y="5790205"/>
              <a:ext cx="2001000" cy="0"/>
            </a:xfrm>
            <a:prstGeom prst="straightConnector1">
              <a:avLst/>
            </a:prstGeom>
            <a:noFill/>
            <a:ln w="1905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316;p35">
              <a:extLst>
                <a:ext uri="{FF2B5EF4-FFF2-40B4-BE49-F238E27FC236}">
                  <a16:creationId xmlns:a16="http://schemas.microsoft.com/office/drawing/2014/main" id="{CA289D90-B1F9-48E5-F986-E2524E60C902}"/>
                </a:ext>
              </a:extLst>
            </p:cNvPr>
            <p:cNvCxnSpPr/>
            <p:nvPr/>
          </p:nvCxnSpPr>
          <p:spPr>
            <a:xfrm>
              <a:off x="3272215" y="5679530"/>
              <a:ext cx="1362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317;p35">
              <a:extLst>
                <a:ext uri="{FF2B5EF4-FFF2-40B4-BE49-F238E27FC236}">
                  <a16:creationId xmlns:a16="http://schemas.microsoft.com/office/drawing/2014/main" id="{C1DF0EBF-EC21-5D24-F0C2-5E132AB4DF69}"/>
                </a:ext>
              </a:extLst>
            </p:cNvPr>
            <p:cNvCxnSpPr/>
            <p:nvPr/>
          </p:nvCxnSpPr>
          <p:spPr>
            <a:xfrm>
              <a:off x="5557840" y="5908130"/>
              <a:ext cx="13623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318;p35">
              <a:extLst>
                <a:ext uri="{FF2B5EF4-FFF2-40B4-BE49-F238E27FC236}">
                  <a16:creationId xmlns:a16="http://schemas.microsoft.com/office/drawing/2014/main" id="{C9B696FC-E21B-C9AE-74BB-8D0FA07D0E88}"/>
                </a:ext>
              </a:extLst>
            </p:cNvPr>
            <p:cNvCxnSpPr/>
            <p:nvPr/>
          </p:nvCxnSpPr>
          <p:spPr>
            <a:xfrm>
              <a:off x="3910390" y="5908130"/>
              <a:ext cx="13623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3" name="Google Shape;313;p35">
              <a:extLst>
                <a:ext uri="{FF2B5EF4-FFF2-40B4-BE49-F238E27FC236}">
                  <a16:creationId xmlns:a16="http://schemas.microsoft.com/office/drawing/2014/main" id="{177A067C-8A62-6923-F15A-66FEB5E2DD54}"/>
                </a:ext>
              </a:extLst>
            </p:cNvPr>
            <p:cNvSpPr/>
            <p:nvPr/>
          </p:nvSpPr>
          <p:spPr>
            <a:xfrm>
              <a:off x="2986828" y="5647705"/>
              <a:ext cx="285000" cy="2850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" name="Google Shape;312;p35">
              <a:extLst>
                <a:ext uri="{FF2B5EF4-FFF2-40B4-BE49-F238E27FC236}">
                  <a16:creationId xmlns:a16="http://schemas.microsoft.com/office/drawing/2014/main" id="{F70C070A-101E-CE5E-E158-F092B6E63B35}"/>
                </a:ext>
              </a:extLst>
            </p:cNvPr>
            <p:cNvSpPr/>
            <p:nvPr/>
          </p:nvSpPr>
          <p:spPr>
            <a:xfrm>
              <a:off x="5272828" y="5647705"/>
              <a:ext cx="285000" cy="285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315;p35">
              <a:extLst>
                <a:ext uri="{FF2B5EF4-FFF2-40B4-BE49-F238E27FC236}">
                  <a16:creationId xmlns:a16="http://schemas.microsoft.com/office/drawing/2014/main" id="{2E31B09A-8FE4-0A3F-808A-BB1FDFDF9300}"/>
                </a:ext>
              </a:extLst>
            </p:cNvPr>
            <p:cNvSpPr/>
            <p:nvPr/>
          </p:nvSpPr>
          <p:spPr>
            <a:xfrm>
              <a:off x="7558828" y="5647705"/>
              <a:ext cx="285000" cy="2850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321;p35">
              <a:extLst>
                <a:ext uri="{FF2B5EF4-FFF2-40B4-BE49-F238E27FC236}">
                  <a16:creationId xmlns:a16="http://schemas.microsoft.com/office/drawing/2014/main" id="{7BAF005D-52F0-1B24-CEEC-EE512E03D4C5}"/>
                </a:ext>
              </a:extLst>
            </p:cNvPr>
            <p:cNvSpPr/>
            <p:nvPr/>
          </p:nvSpPr>
          <p:spPr>
            <a:xfrm>
              <a:off x="4045183" y="6026055"/>
              <a:ext cx="1182900" cy="317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Hello, I'm R2.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322;p35">
              <a:extLst>
                <a:ext uri="{FF2B5EF4-FFF2-40B4-BE49-F238E27FC236}">
                  <a16:creationId xmlns:a16="http://schemas.microsoft.com/office/drawing/2014/main" id="{203C8360-8B85-2F53-E35E-B5D7839EC201}"/>
                </a:ext>
              </a:extLst>
            </p:cNvPr>
            <p:cNvSpPr/>
            <p:nvPr/>
          </p:nvSpPr>
          <p:spPr>
            <a:xfrm>
              <a:off x="5602604" y="6026055"/>
              <a:ext cx="1182900" cy="317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Hello, I'm R2.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323;p35">
              <a:extLst>
                <a:ext uri="{FF2B5EF4-FFF2-40B4-BE49-F238E27FC236}">
                  <a16:creationId xmlns:a16="http://schemas.microsoft.com/office/drawing/2014/main" id="{88083F47-56E2-C33F-BD99-2C63F929145A}"/>
                </a:ext>
              </a:extLst>
            </p:cNvPr>
            <p:cNvSpPr/>
            <p:nvPr/>
          </p:nvSpPr>
          <p:spPr>
            <a:xfrm>
              <a:off x="3292358" y="5251464"/>
              <a:ext cx="1182900" cy="317400"/>
            </a:xfrm>
            <a:prstGeom prst="roundRect">
              <a:avLst>
                <a:gd name="adj" fmla="val 16667"/>
              </a:avLst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Hello, I'm R1.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324;p35">
              <a:extLst>
                <a:ext uri="{FF2B5EF4-FFF2-40B4-BE49-F238E27FC236}">
                  <a16:creationId xmlns:a16="http://schemas.microsoft.com/office/drawing/2014/main" id="{D2EECBCC-5A41-3775-FA56-920A7F21622B}"/>
                </a:ext>
              </a:extLst>
            </p:cNvPr>
            <p:cNvSpPr/>
            <p:nvPr/>
          </p:nvSpPr>
          <p:spPr>
            <a:xfrm>
              <a:off x="6340358" y="5251464"/>
              <a:ext cx="1182900" cy="3174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Hello, I'm R3.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325;p35">
              <a:extLst>
                <a:ext uri="{FF2B5EF4-FFF2-40B4-BE49-F238E27FC236}">
                  <a16:creationId xmlns:a16="http://schemas.microsoft.com/office/drawing/2014/main" id="{0E3FF928-3274-0DF7-A5D1-9BC4203FE423}"/>
                </a:ext>
              </a:extLst>
            </p:cNvPr>
            <p:cNvSpPr/>
            <p:nvPr/>
          </p:nvSpPr>
          <p:spPr>
            <a:xfrm>
              <a:off x="1096715" y="5824480"/>
              <a:ext cx="1591800" cy="393600"/>
            </a:xfrm>
            <a:prstGeom prst="wedgeRoundRectCallout">
              <a:avLst>
                <a:gd name="adj1" fmla="val 63705"/>
                <a:gd name="adj2" fmla="val -63237"/>
                <a:gd name="adj3" fmla="val 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My neighbor is R2.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326;p35">
              <a:extLst>
                <a:ext uri="{FF2B5EF4-FFF2-40B4-BE49-F238E27FC236}">
                  <a16:creationId xmlns:a16="http://schemas.microsoft.com/office/drawing/2014/main" id="{EB7F1349-EFE6-C374-69F7-6BE91BF32AA9}"/>
                </a:ext>
              </a:extLst>
            </p:cNvPr>
            <p:cNvSpPr/>
            <p:nvPr/>
          </p:nvSpPr>
          <p:spPr>
            <a:xfrm flipH="1">
              <a:off x="8142165" y="5824480"/>
              <a:ext cx="1591800" cy="393600"/>
            </a:xfrm>
            <a:prstGeom prst="wedgeRoundRectCallout">
              <a:avLst>
                <a:gd name="adj1" fmla="val 63705"/>
                <a:gd name="adj2" fmla="val -63237"/>
                <a:gd name="adj3" fmla="val 0"/>
              </a:avLst>
            </a:prstGeom>
            <a:noFill/>
            <a:ln w="9525" cap="flat" cmpd="sng">
              <a:solidFill>
                <a:srgbClr val="6AA8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My neighbor is R2.</a:t>
              </a:r>
              <a:endParaRPr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" name="Google Shape;327;p35">
              <a:extLst>
                <a:ext uri="{FF2B5EF4-FFF2-40B4-BE49-F238E27FC236}">
                  <a16:creationId xmlns:a16="http://schemas.microsoft.com/office/drawing/2014/main" id="{62032CB0-5BB2-5CA9-FD7C-BAFB6225EC18}"/>
                </a:ext>
              </a:extLst>
            </p:cNvPr>
            <p:cNvSpPr/>
            <p:nvPr/>
          </p:nvSpPr>
          <p:spPr>
            <a:xfrm flipH="1">
              <a:off x="4887865" y="4697805"/>
              <a:ext cx="1264500" cy="614100"/>
            </a:xfrm>
            <a:prstGeom prst="wedgeRoundRectCallout">
              <a:avLst>
                <a:gd name="adj1" fmla="val 9205"/>
                <a:gd name="adj2" fmla="val 89847"/>
                <a:gd name="adj3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My neighbors are R1 and R3.</a:t>
              </a:r>
              <a:endPara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1064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9F7F-DD47-B4E7-FAF7-979B80B0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DD747C6E-68BC-3762-D8D0-C31A2F22A4E2}"/>
              </a:ext>
            </a:extLst>
          </p:cNvPr>
          <p:cNvSpPr txBox="1">
            <a:spLocks/>
          </p:cNvSpPr>
          <p:nvPr/>
        </p:nvSpPr>
        <p:spPr>
          <a:xfrm>
            <a:off x="0" y="77431"/>
            <a:ext cx="12192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3300" dirty="0"/>
              <a:t>Steps of Learning Network Graph (2/2</a:t>
            </a:r>
            <a:r>
              <a:rPr lang="en-US" sz="3300" dirty="0"/>
              <a:t>): Propagate Neighbor Information</a:t>
            </a:r>
          </a:p>
        </p:txBody>
      </p:sp>
      <p:sp>
        <p:nvSpPr>
          <p:cNvPr id="2" name="Google Shape;303;p34">
            <a:extLst>
              <a:ext uri="{FF2B5EF4-FFF2-40B4-BE49-F238E27FC236}">
                <a16:creationId xmlns:a16="http://schemas.microsoft.com/office/drawing/2014/main" id="{4ADE801F-5DFB-0F93-BA46-152805C3B86E}"/>
              </a:ext>
            </a:extLst>
          </p:cNvPr>
          <p:cNvSpPr txBox="1">
            <a:spLocks/>
          </p:cNvSpPr>
          <p:nvPr/>
        </p:nvSpPr>
        <p:spPr>
          <a:xfrm>
            <a:off x="762000" y="913542"/>
            <a:ext cx="10668000" cy="3186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How do we learn about the rest of the network, beyond our neighbors?</a:t>
            </a:r>
          </a:p>
          <a:p>
            <a:pPr marL="457200" lvl="0" indent="-342900">
              <a:spcBef>
                <a:spcPts val="60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Solution: </a:t>
            </a:r>
            <a:r>
              <a:rPr lang="en-US" sz="2400" b="1" dirty="0"/>
              <a:t>Flood</a:t>
            </a:r>
            <a:r>
              <a:rPr lang="en-US" sz="2400" dirty="0"/>
              <a:t> information across the network.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When local information changes, send it to everyone.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SzPts val="1800"/>
              <a:buChar char="●"/>
            </a:pPr>
            <a:r>
              <a:rPr lang="en-US" sz="2400" dirty="0"/>
              <a:t>When you receive information from your neighbor, send it to everyone.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B87F87-0E8A-8513-6CF7-18B38B00DEF7}"/>
              </a:ext>
            </a:extLst>
          </p:cNvPr>
          <p:cNvGrpSpPr/>
          <p:nvPr/>
        </p:nvGrpSpPr>
        <p:grpSpPr>
          <a:xfrm>
            <a:off x="1162625" y="3491642"/>
            <a:ext cx="9866750" cy="3092896"/>
            <a:chOff x="1563250" y="2851562"/>
            <a:chExt cx="6789825" cy="1705030"/>
          </a:xfrm>
        </p:grpSpPr>
        <p:cxnSp>
          <p:nvCxnSpPr>
            <p:cNvPr id="3" name="Google Shape;334;p36">
              <a:extLst>
                <a:ext uri="{FF2B5EF4-FFF2-40B4-BE49-F238E27FC236}">
                  <a16:creationId xmlns:a16="http://schemas.microsoft.com/office/drawing/2014/main" id="{07B6BA9B-4E48-F12A-E672-1E1EB2BC6D1E}"/>
                </a:ext>
              </a:extLst>
            </p:cNvPr>
            <p:cNvCxnSpPr>
              <a:stCxn id="40" idx="1"/>
              <a:endCxn id="9" idx="3"/>
            </p:cNvCxnSpPr>
            <p:nvPr/>
          </p:nvCxnSpPr>
          <p:spPr>
            <a:xfrm rot="10800000">
              <a:off x="2418388" y="4159525"/>
              <a:ext cx="2001000" cy="0"/>
            </a:xfrm>
            <a:prstGeom prst="straightConnector1">
              <a:avLst/>
            </a:prstGeom>
            <a:noFill/>
            <a:ln w="1905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Google Shape;337;p36">
              <a:extLst>
                <a:ext uri="{FF2B5EF4-FFF2-40B4-BE49-F238E27FC236}">
                  <a16:creationId xmlns:a16="http://schemas.microsoft.com/office/drawing/2014/main" id="{AF03B971-E1C7-28CD-7B9D-37ABFFFE7182}"/>
                </a:ext>
              </a:extLst>
            </p:cNvPr>
            <p:cNvCxnSpPr>
              <a:stCxn id="49" idx="1"/>
              <a:endCxn id="40" idx="3"/>
            </p:cNvCxnSpPr>
            <p:nvPr/>
          </p:nvCxnSpPr>
          <p:spPr>
            <a:xfrm rot="10800000">
              <a:off x="4704388" y="4159525"/>
              <a:ext cx="2001000" cy="0"/>
            </a:xfrm>
            <a:prstGeom prst="straightConnector1">
              <a:avLst/>
            </a:prstGeom>
            <a:noFill/>
            <a:ln w="1905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336;p36">
              <a:extLst>
                <a:ext uri="{FF2B5EF4-FFF2-40B4-BE49-F238E27FC236}">
                  <a16:creationId xmlns:a16="http://schemas.microsoft.com/office/drawing/2014/main" id="{D69A996C-9BC7-298F-F0F7-96A92D9CB40B}"/>
                </a:ext>
              </a:extLst>
            </p:cNvPr>
            <p:cNvSpPr/>
            <p:nvPr/>
          </p:nvSpPr>
          <p:spPr>
            <a:xfrm>
              <a:off x="2133388" y="4017025"/>
              <a:ext cx="285000" cy="2850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4" name="Google Shape;339;p36">
              <a:extLst>
                <a:ext uri="{FF2B5EF4-FFF2-40B4-BE49-F238E27FC236}">
                  <a16:creationId xmlns:a16="http://schemas.microsoft.com/office/drawing/2014/main" id="{48CC36C9-CE0E-0C7D-78CD-EDBC0BF1398C}"/>
                </a:ext>
              </a:extLst>
            </p:cNvPr>
            <p:cNvGrpSpPr/>
            <p:nvPr/>
          </p:nvGrpSpPr>
          <p:grpSpPr>
            <a:xfrm>
              <a:off x="1563250" y="2851562"/>
              <a:ext cx="2217825" cy="1705030"/>
              <a:chOff x="1563250" y="2851562"/>
              <a:chExt cx="2217825" cy="1705030"/>
            </a:xfrm>
          </p:grpSpPr>
          <p:cxnSp>
            <p:nvCxnSpPr>
              <p:cNvPr id="25" name="Google Shape;340;p36">
                <a:extLst>
                  <a:ext uri="{FF2B5EF4-FFF2-40B4-BE49-F238E27FC236}">
                    <a16:creationId xmlns:a16="http://schemas.microsoft.com/office/drawing/2014/main" id="{B0E0673B-1969-2216-D4D8-26BAE29A6035}"/>
                  </a:ext>
                </a:extLst>
              </p:cNvPr>
              <p:cNvCxnSpPr/>
              <p:nvPr/>
            </p:nvCxnSpPr>
            <p:spPr>
              <a:xfrm flipH="1">
                <a:off x="1573722" y="4197314"/>
                <a:ext cx="564000" cy="151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6" name="Google Shape;341;p36">
                <a:extLst>
                  <a:ext uri="{FF2B5EF4-FFF2-40B4-BE49-F238E27FC236}">
                    <a16:creationId xmlns:a16="http://schemas.microsoft.com/office/drawing/2014/main" id="{B6839E2E-8B9D-B191-6E18-D737657D798E}"/>
                  </a:ext>
                </a:extLst>
              </p:cNvPr>
              <p:cNvCxnSpPr/>
              <p:nvPr/>
            </p:nvCxnSpPr>
            <p:spPr>
              <a:xfrm rot="10800000">
                <a:off x="1563250" y="4119439"/>
                <a:ext cx="570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7" name="Google Shape;342;p36">
                <a:extLst>
                  <a:ext uri="{FF2B5EF4-FFF2-40B4-BE49-F238E27FC236}">
                    <a16:creationId xmlns:a16="http://schemas.microsoft.com/office/drawing/2014/main" id="{B05798E0-7F20-CFC1-7644-513365A975C8}"/>
                  </a:ext>
                </a:extLst>
              </p:cNvPr>
              <p:cNvCxnSpPr/>
              <p:nvPr/>
            </p:nvCxnSpPr>
            <p:spPr>
              <a:xfrm rot="10800000">
                <a:off x="1580575" y="3934451"/>
                <a:ext cx="564000" cy="151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" name="Google Shape;343;p36">
                <a:extLst>
                  <a:ext uri="{FF2B5EF4-FFF2-40B4-BE49-F238E27FC236}">
                    <a16:creationId xmlns:a16="http://schemas.microsoft.com/office/drawing/2014/main" id="{FF2BE408-E380-8FA5-7CF6-A7CCB6458EA6}"/>
                  </a:ext>
                </a:extLst>
              </p:cNvPr>
              <p:cNvCxnSpPr/>
              <p:nvPr/>
            </p:nvCxnSpPr>
            <p:spPr>
              <a:xfrm rot="10800000" flipH="1">
                <a:off x="2418775" y="3726551"/>
                <a:ext cx="1340100" cy="359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9" name="Google Shape;344;p36">
                <a:extLst>
                  <a:ext uri="{FF2B5EF4-FFF2-40B4-BE49-F238E27FC236}">
                    <a16:creationId xmlns:a16="http://schemas.microsoft.com/office/drawing/2014/main" id="{A29E3079-8180-AA3E-DC65-3276D91F5DFF}"/>
                  </a:ext>
                </a:extLst>
              </p:cNvPr>
              <p:cNvCxnSpPr/>
              <p:nvPr/>
            </p:nvCxnSpPr>
            <p:spPr>
              <a:xfrm>
                <a:off x="2418775" y="4197492"/>
                <a:ext cx="1340100" cy="359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0" name="Google Shape;345;p36">
                <a:extLst>
                  <a:ext uri="{FF2B5EF4-FFF2-40B4-BE49-F238E27FC236}">
                    <a16:creationId xmlns:a16="http://schemas.microsoft.com/office/drawing/2014/main" id="{5C7E7518-4D6A-838B-D478-0425E3ED9BD8}"/>
                  </a:ext>
                </a:extLst>
              </p:cNvPr>
              <p:cNvCxnSpPr/>
              <p:nvPr/>
            </p:nvCxnSpPr>
            <p:spPr>
              <a:xfrm>
                <a:off x="2418775" y="4119439"/>
                <a:ext cx="1362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1" name="Google Shape;346;p36">
                <a:extLst>
                  <a:ext uri="{FF2B5EF4-FFF2-40B4-BE49-F238E27FC236}">
                    <a16:creationId xmlns:a16="http://schemas.microsoft.com/office/drawing/2014/main" id="{FAC77E8B-8970-E9F0-D4A9-BC784D9C6922}"/>
                  </a:ext>
                </a:extLst>
              </p:cNvPr>
              <p:cNvSpPr/>
              <p:nvPr/>
            </p:nvSpPr>
            <p:spPr>
              <a:xfrm>
                <a:off x="2362200" y="2851562"/>
                <a:ext cx="1182900" cy="841200"/>
              </a:xfrm>
              <a:prstGeom prst="roundRect">
                <a:avLst>
                  <a:gd name="adj" fmla="val 16667"/>
                </a:avLst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R1 and R2 are neighbors. Tell everyone!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2" name="Google Shape;347;p36">
              <a:extLst>
                <a:ext uri="{FF2B5EF4-FFF2-40B4-BE49-F238E27FC236}">
                  <a16:creationId xmlns:a16="http://schemas.microsoft.com/office/drawing/2014/main" id="{C0E174E2-A484-0B54-0FE2-CB12E45CC02F}"/>
                </a:ext>
              </a:extLst>
            </p:cNvPr>
            <p:cNvGrpSpPr/>
            <p:nvPr/>
          </p:nvGrpSpPr>
          <p:grpSpPr>
            <a:xfrm>
              <a:off x="3849250" y="2851562"/>
              <a:ext cx="2217825" cy="1705030"/>
              <a:chOff x="3849250" y="2851562"/>
              <a:chExt cx="2217825" cy="1705030"/>
            </a:xfrm>
          </p:grpSpPr>
          <p:cxnSp>
            <p:nvCxnSpPr>
              <p:cNvPr id="33" name="Google Shape;348;p36">
                <a:extLst>
                  <a:ext uri="{FF2B5EF4-FFF2-40B4-BE49-F238E27FC236}">
                    <a16:creationId xmlns:a16="http://schemas.microsoft.com/office/drawing/2014/main" id="{6A445CFD-EC09-13E4-1198-E244B02EB49C}"/>
                  </a:ext>
                </a:extLst>
              </p:cNvPr>
              <p:cNvCxnSpPr/>
              <p:nvPr/>
            </p:nvCxnSpPr>
            <p:spPr>
              <a:xfrm rot="10800000" flipH="1">
                <a:off x="4704775" y="3726551"/>
                <a:ext cx="1340100" cy="359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4" name="Google Shape;349;p36">
                <a:extLst>
                  <a:ext uri="{FF2B5EF4-FFF2-40B4-BE49-F238E27FC236}">
                    <a16:creationId xmlns:a16="http://schemas.microsoft.com/office/drawing/2014/main" id="{3DB1DE74-B47A-B789-BFAF-5AC004C442E9}"/>
                  </a:ext>
                </a:extLst>
              </p:cNvPr>
              <p:cNvCxnSpPr/>
              <p:nvPr/>
            </p:nvCxnSpPr>
            <p:spPr>
              <a:xfrm>
                <a:off x="4704775" y="4197492"/>
                <a:ext cx="1340100" cy="359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5" name="Google Shape;350;p36">
                <a:extLst>
                  <a:ext uri="{FF2B5EF4-FFF2-40B4-BE49-F238E27FC236}">
                    <a16:creationId xmlns:a16="http://schemas.microsoft.com/office/drawing/2014/main" id="{C0A6B5A9-A8C4-42CF-05EE-610800B3EC11}"/>
                  </a:ext>
                </a:extLst>
              </p:cNvPr>
              <p:cNvSpPr/>
              <p:nvPr/>
            </p:nvSpPr>
            <p:spPr>
              <a:xfrm>
                <a:off x="4648200" y="2851562"/>
                <a:ext cx="1182900" cy="841200"/>
              </a:xfrm>
              <a:prstGeom prst="roundRect">
                <a:avLst>
                  <a:gd name="adj" fmla="val 16667"/>
                </a:avLst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R1 and R2 are neighbors. Tell everyone!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36" name="Google Shape;351;p36">
                <a:extLst>
                  <a:ext uri="{FF2B5EF4-FFF2-40B4-BE49-F238E27FC236}">
                    <a16:creationId xmlns:a16="http://schemas.microsoft.com/office/drawing/2014/main" id="{7E002405-582A-0B9B-69F3-1AD05E2904DF}"/>
                  </a:ext>
                </a:extLst>
              </p:cNvPr>
              <p:cNvCxnSpPr/>
              <p:nvPr/>
            </p:nvCxnSpPr>
            <p:spPr>
              <a:xfrm>
                <a:off x="4704775" y="4119439"/>
                <a:ext cx="1362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7" name="Google Shape;352;p36">
                <a:extLst>
                  <a:ext uri="{FF2B5EF4-FFF2-40B4-BE49-F238E27FC236}">
                    <a16:creationId xmlns:a16="http://schemas.microsoft.com/office/drawing/2014/main" id="{75DEAEA8-154F-4971-8567-A99DC8629706}"/>
                  </a:ext>
                </a:extLst>
              </p:cNvPr>
              <p:cNvCxnSpPr/>
              <p:nvPr/>
            </p:nvCxnSpPr>
            <p:spPr>
              <a:xfrm flipH="1">
                <a:off x="3859722" y="4197314"/>
                <a:ext cx="564000" cy="151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8" name="Google Shape;353;p36">
                <a:extLst>
                  <a:ext uri="{FF2B5EF4-FFF2-40B4-BE49-F238E27FC236}">
                    <a16:creationId xmlns:a16="http://schemas.microsoft.com/office/drawing/2014/main" id="{1852528A-611B-DE7A-D6BC-70969210559C}"/>
                  </a:ext>
                </a:extLst>
              </p:cNvPr>
              <p:cNvCxnSpPr/>
              <p:nvPr/>
            </p:nvCxnSpPr>
            <p:spPr>
              <a:xfrm rot="10800000">
                <a:off x="3849250" y="4119439"/>
                <a:ext cx="570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9" name="Google Shape;354;p36">
                <a:extLst>
                  <a:ext uri="{FF2B5EF4-FFF2-40B4-BE49-F238E27FC236}">
                    <a16:creationId xmlns:a16="http://schemas.microsoft.com/office/drawing/2014/main" id="{B2DCD509-4B6A-AAB2-19E7-F6276C58C4C9}"/>
                  </a:ext>
                </a:extLst>
              </p:cNvPr>
              <p:cNvCxnSpPr/>
              <p:nvPr/>
            </p:nvCxnSpPr>
            <p:spPr>
              <a:xfrm rot="10800000">
                <a:off x="3866575" y="3934451"/>
                <a:ext cx="564000" cy="151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0" name="Google Shape;335;p36">
              <a:extLst>
                <a:ext uri="{FF2B5EF4-FFF2-40B4-BE49-F238E27FC236}">
                  <a16:creationId xmlns:a16="http://schemas.microsoft.com/office/drawing/2014/main" id="{DC5C3E67-C6CC-B8CC-6785-E8C426916638}"/>
                </a:ext>
              </a:extLst>
            </p:cNvPr>
            <p:cNvSpPr/>
            <p:nvPr/>
          </p:nvSpPr>
          <p:spPr>
            <a:xfrm>
              <a:off x="4419388" y="4017025"/>
              <a:ext cx="285000" cy="285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R2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1" name="Google Shape;355;p36">
              <a:extLst>
                <a:ext uri="{FF2B5EF4-FFF2-40B4-BE49-F238E27FC236}">
                  <a16:creationId xmlns:a16="http://schemas.microsoft.com/office/drawing/2014/main" id="{DD9EF042-E60E-18B7-F46D-D2960F60C3F0}"/>
                </a:ext>
              </a:extLst>
            </p:cNvPr>
            <p:cNvGrpSpPr/>
            <p:nvPr/>
          </p:nvGrpSpPr>
          <p:grpSpPr>
            <a:xfrm>
              <a:off x="6135250" y="2851562"/>
              <a:ext cx="2217825" cy="1705030"/>
              <a:chOff x="6135250" y="2851562"/>
              <a:chExt cx="2217825" cy="1705030"/>
            </a:xfrm>
          </p:grpSpPr>
          <p:cxnSp>
            <p:nvCxnSpPr>
              <p:cNvPr id="42" name="Google Shape;356;p36">
                <a:extLst>
                  <a:ext uri="{FF2B5EF4-FFF2-40B4-BE49-F238E27FC236}">
                    <a16:creationId xmlns:a16="http://schemas.microsoft.com/office/drawing/2014/main" id="{144BB853-641C-10AB-D4A8-B86A78D9E87D}"/>
                  </a:ext>
                </a:extLst>
              </p:cNvPr>
              <p:cNvCxnSpPr/>
              <p:nvPr/>
            </p:nvCxnSpPr>
            <p:spPr>
              <a:xfrm rot="10800000" flipH="1">
                <a:off x="6990775" y="3726551"/>
                <a:ext cx="1340100" cy="359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3" name="Google Shape;357;p36">
                <a:extLst>
                  <a:ext uri="{FF2B5EF4-FFF2-40B4-BE49-F238E27FC236}">
                    <a16:creationId xmlns:a16="http://schemas.microsoft.com/office/drawing/2014/main" id="{24848008-6018-8692-86EA-1FF1A0DAB611}"/>
                  </a:ext>
                </a:extLst>
              </p:cNvPr>
              <p:cNvCxnSpPr/>
              <p:nvPr/>
            </p:nvCxnSpPr>
            <p:spPr>
              <a:xfrm>
                <a:off x="6990775" y="4197492"/>
                <a:ext cx="1340100" cy="359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4" name="Google Shape;358;p36">
                <a:extLst>
                  <a:ext uri="{FF2B5EF4-FFF2-40B4-BE49-F238E27FC236}">
                    <a16:creationId xmlns:a16="http://schemas.microsoft.com/office/drawing/2014/main" id="{285EF520-6A51-B486-8550-AEE476EB1623}"/>
                  </a:ext>
                </a:extLst>
              </p:cNvPr>
              <p:cNvCxnSpPr/>
              <p:nvPr/>
            </p:nvCxnSpPr>
            <p:spPr>
              <a:xfrm>
                <a:off x="6990775" y="4119439"/>
                <a:ext cx="1362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5" name="Google Shape;359;p36">
                <a:extLst>
                  <a:ext uri="{FF2B5EF4-FFF2-40B4-BE49-F238E27FC236}">
                    <a16:creationId xmlns:a16="http://schemas.microsoft.com/office/drawing/2014/main" id="{3F81A59A-9D69-5B15-5806-CDD6A2324F26}"/>
                  </a:ext>
                </a:extLst>
              </p:cNvPr>
              <p:cNvSpPr/>
              <p:nvPr/>
            </p:nvSpPr>
            <p:spPr>
              <a:xfrm>
                <a:off x="6943025" y="2851562"/>
                <a:ext cx="1182900" cy="841200"/>
              </a:xfrm>
              <a:prstGeom prst="roundRect">
                <a:avLst>
                  <a:gd name="adj" fmla="val 16667"/>
                </a:avLst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R1 and R2 are neighbors. Tell everyone!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46" name="Google Shape;360;p36">
                <a:extLst>
                  <a:ext uri="{FF2B5EF4-FFF2-40B4-BE49-F238E27FC236}">
                    <a16:creationId xmlns:a16="http://schemas.microsoft.com/office/drawing/2014/main" id="{C04AF1FD-8396-B9EE-61DB-E23D70D8ABBA}"/>
                  </a:ext>
                </a:extLst>
              </p:cNvPr>
              <p:cNvCxnSpPr/>
              <p:nvPr/>
            </p:nvCxnSpPr>
            <p:spPr>
              <a:xfrm flipH="1">
                <a:off x="6145722" y="4197314"/>
                <a:ext cx="564000" cy="151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" name="Google Shape;361;p36">
                <a:extLst>
                  <a:ext uri="{FF2B5EF4-FFF2-40B4-BE49-F238E27FC236}">
                    <a16:creationId xmlns:a16="http://schemas.microsoft.com/office/drawing/2014/main" id="{F13E1007-EC23-90DF-5FB9-8AB19B7B3071}"/>
                  </a:ext>
                </a:extLst>
              </p:cNvPr>
              <p:cNvCxnSpPr/>
              <p:nvPr/>
            </p:nvCxnSpPr>
            <p:spPr>
              <a:xfrm rot="10800000">
                <a:off x="6135250" y="4119439"/>
                <a:ext cx="570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" name="Google Shape;362;p36">
                <a:extLst>
                  <a:ext uri="{FF2B5EF4-FFF2-40B4-BE49-F238E27FC236}">
                    <a16:creationId xmlns:a16="http://schemas.microsoft.com/office/drawing/2014/main" id="{607E8CFD-8CBC-88AC-8775-DF19C3EB3573}"/>
                  </a:ext>
                </a:extLst>
              </p:cNvPr>
              <p:cNvCxnSpPr/>
              <p:nvPr/>
            </p:nvCxnSpPr>
            <p:spPr>
              <a:xfrm rot="10800000">
                <a:off x="6152575" y="3934451"/>
                <a:ext cx="564000" cy="151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9" name="Google Shape;338;p36">
              <a:extLst>
                <a:ext uri="{FF2B5EF4-FFF2-40B4-BE49-F238E27FC236}">
                  <a16:creationId xmlns:a16="http://schemas.microsoft.com/office/drawing/2014/main" id="{047066DF-A5A7-B744-BA91-20AC1A943FFB}"/>
                </a:ext>
              </a:extLst>
            </p:cNvPr>
            <p:cNvSpPr/>
            <p:nvPr/>
          </p:nvSpPr>
          <p:spPr>
            <a:xfrm>
              <a:off x="6705388" y="4017025"/>
              <a:ext cx="285000" cy="2850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R3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1893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FE7B-B03E-A956-22CD-BD2A7F31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3;p49">
            <a:extLst>
              <a:ext uri="{FF2B5EF4-FFF2-40B4-BE49-F238E27FC236}">
                <a16:creationId xmlns:a16="http://schemas.microsoft.com/office/drawing/2014/main" id="{FAB339E6-B6B8-3E24-54F3-FF5E7B1849E9}"/>
              </a:ext>
            </a:extLst>
          </p:cNvPr>
          <p:cNvSpPr txBox="1">
            <a:spLocks/>
          </p:cNvSpPr>
          <p:nvPr/>
        </p:nvSpPr>
        <p:spPr>
          <a:xfrm>
            <a:off x="762000" y="0"/>
            <a:ext cx="10668000" cy="836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dirty="0"/>
              <a:t>Steps of Learning Network Graph</a:t>
            </a:r>
            <a:endParaRPr lang="en-US" dirty="0"/>
          </a:p>
        </p:txBody>
      </p:sp>
      <p:sp>
        <p:nvSpPr>
          <p:cNvPr id="2" name="Google Shape;303;p34">
            <a:extLst>
              <a:ext uri="{FF2B5EF4-FFF2-40B4-BE49-F238E27FC236}">
                <a16:creationId xmlns:a16="http://schemas.microsoft.com/office/drawing/2014/main" id="{44F84CC5-16A0-28DB-1A0F-36B0FDD925F7}"/>
              </a:ext>
            </a:extLst>
          </p:cNvPr>
          <p:cNvSpPr txBox="1">
            <a:spLocks/>
          </p:cNvSpPr>
          <p:nvPr/>
        </p:nvSpPr>
        <p:spPr>
          <a:xfrm>
            <a:off x="762000" y="1004180"/>
            <a:ext cx="10668000" cy="3186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Link-state protocols:</a:t>
            </a:r>
          </a:p>
          <a:p>
            <a:pPr marL="457200" indent="-342900">
              <a:spcBef>
                <a:spcPts val="600"/>
              </a:spcBef>
              <a:spcAft>
                <a:spcPts val="600"/>
              </a:spcAft>
              <a:buSzPts val="1800"/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rgbClr val="B7B7B7"/>
                </a:solidFill>
              </a:rPr>
              <a:t>Every router learns the full network graph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800" dirty="0">
                <a:solidFill>
                  <a:srgbClr val="B7B7B7"/>
                </a:solidFill>
              </a:rPr>
              <a:t>Step 1A: Discover my neighbors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800" dirty="0">
                <a:solidFill>
                  <a:srgbClr val="B7B7B7"/>
                </a:solidFill>
              </a:rPr>
              <a:t>Step 1B: Tell everybody about my neighbors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ts val="1800"/>
              <a:buFont typeface="Arial" panose="020B0604020202020204" pitchFamily="34" charset="0"/>
              <a:buAutoNum type="arabicPeriod"/>
            </a:pPr>
            <a:r>
              <a:rPr lang="en-US" dirty="0"/>
              <a:t>Then, each router runs a shortest-path algorithm on the graph to populate the forwarding table</a:t>
            </a:r>
          </a:p>
        </p:txBody>
      </p:sp>
    </p:spTree>
    <p:extLst>
      <p:ext uri="{BB962C8B-B14F-4D97-AF65-F5344CB8AC3E}">
        <p14:creationId xmlns:p14="http://schemas.microsoft.com/office/powerpoint/2010/main" val="2936983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</a:t>
            </a:r>
            <a:r>
              <a:rPr lang="en-US" altLang="zh-CN" b="0" dirty="0">
                <a:latin typeface="+mn-lt"/>
              </a:rPr>
              <a:t>Shortest Path </a:t>
            </a:r>
            <a:r>
              <a:rPr lang="en-US" b="0" dirty="0">
                <a:latin typeface="+mn-lt"/>
              </a:rPr>
              <a:t>Algorithm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Centralized: </a:t>
            </a:r>
            <a:r>
              <a:rPr lang="en-US" dirty="0"/>
              <a:t>network topology, link costs known to </a:t>
            </a:r>
            <a:r>
              <a:rPr lang="en-US" i="1" dirty="0"/>
              <a:t>all</a:t>
            </a:r>
            <a:r>
              <a:rPr lang="en-US" dirty="0"/>
              <a:t> nodes</a:t>
            </a:r>
          </a:p>
          <a:p>
            <a:pPr lvl="1">
              <a:buClrTx/>
            </a:pPr>
            <a:r>
              <a:rPr lang="en-US" dirty="0"/>
              <a:t>Accomplished via “</a:t>
            </a:r>
            <a:r>
              <a:rPr lang="en-US" altLang="ja-JP" dirty="0"/>
              <a:t>link state broadcast” </a:t>
            </a:r>
          </a:p>
          <a:p>
            <a:pPr lvl="1">
              <a:buClrTx/>
            </a:pPr>
            <a:r>
              <a:rPr lang="en-US" dirty="0"/>
              <a:t>All nodes have same info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/>
              <a:t>Computes least cost paths from one node (“</a:t>
            </a:r>
            <a:r>
              <a:rPr lang="en-US" altLang="ja-JP" dirty="0"/>
              <a:t>source”) to all other nodes</a:t>
            </a:r>
          </a:p>
          <a:p>
            <a:pPr lvl="1">
              <a:buClrTx/>
            </a:pPr>
            <a:r>
              <a:rPr lang="en-US" dirty="0"/>
              <a:t>Gives </a:t>
            </a:r>
            <a:r>
              <a:rPr lang="en-US" i="1" dirty="0">
                <a:solidFill>
                  <a:srgbClr val="C00000"/>
                </a:solidFill>
              </a:rPr>
              <a:t>forwarding table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that node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Iterative: </a:t>
            </a:r>
            <a:r>
              <a:rPr lang="en-US" dirty="0"/>
              <a:t>after </a:t>
            </a:r>
            <a:r>
              <a:rPr lang="en-US" i="1" dirty="0"/>
              <a:t>k</a:t>
            </a:r>
            <a:r>
              <a:rPr lang="en-US" dirty="0"/>
              <a:t> iterations, know least cost path to </a:t>
            </a:r>
            <a:r>
              <a:rPr lang="en-US" i="1" dirty="0"/>
              <a:t>k </a:t>
            </a:r>
            <a:r>
              <a:rPr lang="en-US" dirty="0"/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7284720" y="1266067"/>
            <a:ext cx="4441371" cy="4985415"/>
            <a:chOff x="7315200" y="1524000"/>
            <a:chExt cx="4441371" cy="4985415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i="1" dirty="0">
                  <a:solidFill>
                    <a:srgbClr val="000099"/>
                  </a:solidFill>
                </a:rPr>
                <a:t>c</a:t>
              </a:r>
              <a:r>
                <a:rPr lang="en-US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u="sng" dirty="0"/>
                <a:t>direct</a:t>
              </a:r>
              <a:r>
                <a:rPr lang="en-US" sz="2400" dirty="0"/>
                <a:t> link cost from node </a:t>
              </a:r>
              <a:r>
                <a:rPr lang="en-US" sz="2400" i="1" dirty="0"/>
                <a:t>x</a:t>
              </a:r>
              <a:r>
                <a:rPr lang="en-US" sz="2400" dirty="0"/>
                <a:t> to </a:t>
              </a:r>
              <a:r>
                <a:rPr lang="en-US" sz="2400" i="1" dirty="0"/>
                <a:t>y</a:t>
              </a:r>
              <a:r>
                <a:rPr lang="en-US" sz="24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i="1" dirty="0">
                  <a:solidFill>
                    <a:srgbClr val="000099"/>
                  </a:solidFill>
                </a:rPr>
                <a:t>D(v):</a:t>
              </a:r>
              <a:r>
                <a:rPr lang="en-US" sz="2400" i="1" dirty="0"/>
                <a:t> current</a:t>
              </a:r>
              <a:r>
                <a:rPr lang="en-US" sz="2400" dirty="0"/>
                <a:t> estimate of cost of least-cost-path from source to destination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i="1" dirty="0">
                  <a:solidFill>
                    <a:srgbClr val="000099"/>
                  </a:solidFill>
                </a:rPr>
                <a:t>p(v):</a:t>
              </a:r>
              <a:r>
                <a:rPr lang="en-US" sz="2400" i="1" dirty="0"/>
                <a:t> </a:t>
              </a:r>
              <a:r>
                <a:rPr lang="en-US" sz="2400" dirty="0"/>
                <a:t>predecessor node along path from source to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i="1" dirty="0">
                  <a:solidFill>
                    <a:srgbClr val="000099"/>
                  </a:solidFill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dirty="0"/>
                <a:t>set of nodes whose least-cost-path </a:t>
              </a:r>
              <a:r>
                <a:rPr lang="en-US" sz="2400" i="1" dirty="0"/>
                <a:t>definitively</a:t>
              </a:r>
              <a:r>
                <a:rPr lang="en-US" sz="2400" dirty="0"/>
                <a:t> known</a:t>
              </a:r>
            </a:p>
            <a:p>
              <a:pPr>
                <a:lnSpc>
                  <a:spcPct val="75000"/>
                </a:lnSpc>
                <a:spcAft>
                  <a:spcPts val="600"/>
                </a:spcAft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68061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9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dirty="0"/>
              <a:t>Dijkstra’s </a:t>
            </a:r>
            <a:r>
              <a:rPr lang="en-US" altLang="zh-CN" dirty="0"/>
              <a:t>Shortest Path </a:t>
            </a:r>
            <a:r>
              <a:rPr lang="en-US" dirty="0"/>
              <a:t>Algorithm</a:t>
            </a:r>
            <a:endParaRPr lang="en-US" b="0" dirty="0">
              <a:latin typeface="+mn-lt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n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2   </a:t>
            </a:r>
            <a:r>
              <a:rPr lang="en-US" i="1" dirty="0">
                <a:latin typeface="+mn-lt"/>
              </a:rPr>
              <a:t> 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= {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}    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600" dirty="0"/>
              <a:t>least cost path from u </a:t>
            </a:r>
            <a:r>
              <a:rPr lang="en-US" altLang="ja-JP" sz="1600" dirty="0"/>
              <a:t>to all other nodes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3    for all nodes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4      if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adjacent to 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            </a:t>
            </a:r>
            <a:r>
              <a:rPr lang="en-US" sz="1800" dirty="0">
                <a:latin typeface="+mn-lt"/>
              </a:rPr>
              <a:t>/* </a:t>
            </a:r>
            <a:r>
              <a:rPr lang="en-US" sz="1800" i="1" dirty="0">
                <a:latin typeface="+mn-lt"/>
              </a:rPr>
              <a:t>u </a:t>
            </a:r>
            <a:r>
              <a:rPr lang="en-US" sz="1800" dirty="0">
                <a:latin typeface="+mn-lt"/>
              </a:rPr>
              <a:t>initially</a:t>
            </a:r>
            <a:r>
              <a:rPr lang="en-US" sz="1800" i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knows direct-path-cost only to  direct neighbors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5          then </a:t>
            </a:r>
            <a:r>
              <a:rPr lang="en-US" i="1" dirty="0">
                <a:latin typeface="+mn-lt"/>
              </a:rPr>
              <a:t>D(v) = c</a:t>
            </a:r>
            <a:r>
              <a:rPr lang="en-US" i="1" baseline="-25000" dirty="0">
                <a:latin typeface="+mn-lt"/>
              </a:rPr>
              <a:t>u,v      </a:t>
            </a:r>
            <a:r>
              <a:rPr lang="en-US" sz="1800" baseline="-25000" dirty="0">
                <a:latin typeface="+mn-lt"/>
              </a:rPr>
              <a:t>             </a:t>
            </a:r>
            <a:r>
              <a:rPr lang="en-US" sz="1800" b="1" dirty="0">
                <a:solidFill>
                  <a:srgbClr val="C00000"/>
                </a:solidFill>
                <a:latin typeface="+mn-lt"/>
              </a:rPr>
              <a:t>/* but may not be </a:t>
            </a:r>
            <a:r>
              <a:rPr lang="en-US" sz="1800" b="1" i="1" dirty="0">
                <a:solidFill>
                  <a:srgbClr val="C00000"/>
                </a:solidFill>
                <a:latin typeface="+mn-lt"/>
              </a:rPr>
              <a:t>minimum</a:t>
            </a:r>
            <a:r>
              <a:rPr lang="en-US" sz="1800" b="1" dirty="0">
                <a:solidFill>
                  <a:srgbClr val="C00000"/>
                </a:solidFill>
                <a:latin typeface="+mn-lt"/>
              </a:rPr>
              <a:t> cost!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6      else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= </a:t>
            </a:r>
            <a:r>
              <a:rPr lang="en-US" dirty="0">
                <a:latin typeface="+mn-lt"/>
                <a:cs typeface="Arial" charset="0"/>
              </a:rPr>
              <a:t>∞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rgbClr val="0000A8"/>
                </a:solidFill>
                <a:latin typeface="+mn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Loop </a:t>
            </a:r>
            <a:endParaRPr lang="en-US" dirty="0">
              <a:solidFill>
                <a:srgbClr val="0000A8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9     </a:t>
            </a:r>
          </a:p>
          <a:p>
            <a:r>
              <a:rPr lang="en-US" dirty="0">
                <a:latin typeface="+mn-lt"/>
              </a:rPr>
              <a:t>10    </a:t>
            </a:r>
          </a:p>
          <a:p>
            <a:r>
              <a:rPr lang="en-US" dirty="0">
                <a:latin typeface="+mn-lt"/>
              </a:rPr>
              <a:t>11</a:t>
            </a:r>
          </a:p>
          <a:p>
            <a:r>
              <a:rPr lang="en-US" dirty="0">
                <a:latin typeface="+mn-lt"/>
              </a:rPr>
              <a:t>12</a:t>
            </a:r>
            <a:endParaRPr lang="en-US" b="1" dirty="0">
              <a:solidFill>
                <a:srgbClr val="CC0000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13</a:t>
            </a:r>
          </a:p>
          <a:p>
            <a:r>
              <a:rPr lang="en-US" dirty="0">
                <a:latin typeface="+mn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n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n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2" y="3546934"/>
            <a:ext cx="7751994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find a node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such that </a:t>
            </a:r>
            <a:r>
              <a:rPr lang="en-US" i="1" dirty="0">
                <a:latin typeface="+mn-lt"/>
              </a:rPr>
              <a:t>D(w) </a:t>
            </a:r>
            <a:r>
              <a:rPr lang="en-US" dirty="0">
                <a:latin typeface="+mn-lt"/>
              </a:rPr>
              <a:t>is a minimum </a:t>
            </a:r>
          </a:p>
          <a:p>
            <a:r>
              <a:rPr lang="en-US" dirty="0">
                <a:latin typeface="+mn-lt"/>
              </a:rPr>
              <a:t>add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update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for all</a:t>
            </a:r>
            <a:r>
              <a:rPr lang="en-US" i="1" dirty="0">
                <a:latin typeface="+mn-lt"/>
              </a:rPr>
              <a:t> v </a:t>
            </a:r>
            <a:r>
              <a:rPr lang="en-US" dirty="0">
                <a:latin typeface="+mn-lt"/>
              </a:rPr>
              <a:t>adjacent to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and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n-lt"/>
              </a:rPr>
              <a:t>     D(v) =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D(v),  D(w) + c</a:t>
            </a:r>
            <a:r>
              <a:rPr lang="en-US" b="1" i="1" baseline="-25000" dirty="0">
                <a:solidFill>
                  <a:srgbClr val="CC0000"/>
                </a:solidFill>
                <a:latin typeface="+mn-lt"/>
              </a:rPr>
              <a:t>w,v 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/* new least-path-cost to </a:t>
            </a:r>
            <a:r>
              <a:rPr lang="en-US" sz="2000" i="1" dirty="0">
                <a:latin typeface="+mn-lt"/>
              </a:rPr>
              <a:t>v </a:t>
            </a:r>
            <a:r>
              <a:rPr lang="en-US" sz="2000" dirty="0">
                <a:latin typeface="+mn-lt"/>
              </a:rPr>
              <a:t>is either old least-cost-path to</a:t>
            </a:r>
            <a:r>
              <a:rPr lang="en-US" sz="2000" i="1" dirty="0">
                <a:latin typeface="+mn-lt"/>
              </a:rPr>
              <a:t> v </a:t>
            </a:r>
            <a:r>
              <a:rPr lang="en-US" sz="2000" dirty="0">
                <a:latin typeface="+mn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least-cost-path to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plus direct-cost from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to </a:t>
            </a:r>
            <a:r>
              <a:rPr lang="en-US" sz="2000" i="1" dirty="0">
                <a:latin typeface="+mn-lt"/>
              </a:rPr>
              <a:t>v</a:t>
            </a:r>
            <a:r>
              <a:rPr lang="en-US" sz="2000" dirty="0">
                <a:latin typeface="+mn-lt"/>
              </a:rPr>
              <a:t> */ </a:t>
            </a:r>
          </a:p>
        </p:txBody>
      </p:sp>
    </p:spTree>
    <p:extLst>
      <p:ext uri="{BB962C8B-B14F-4D97-AF65-F5344CB8AC3E}">
        <p14:creationId xmlns:p14="http://schemas.microsoft.com/office/powerpoint/2010/main" val="21782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4413452" y="4056991"/>
            <a:ext cx="616508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Initialization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(step 0):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For all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adjacent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D(a) = c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u,a 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8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60C12B-CA9D-6543-A68D-C936C6CE5E54}"/>
              </a:ext>
            </a:extLst>
          </p:cNvPr>
          <p:cNvGrpSpPr/>
          <p:nvPr/>
        </p:nvGrpSpPr>
        <p:grpSpPr>
          <a:xfrm>
            <a:off x="3119488" y="1277257"/>
            <a:ext cx="4176312" cy="1355408"/>
            <a:chOff x="3119488" y="1277257"/>
            <a:chExt cx="4176312" cy="13554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BB51FE9-3B2A-5947-8D58-8E568A2FD108}"/>
                </a:ext>
              </a:extLst>
            </p:cNvPr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0BAB8D84-2299-D54C-8DF2-B7D547E53934}"/>
                </a:ext>
              </a:extLst>
            </p:cNvPr>
            <p:cNvCxnSpPr>
              <a:cxnSpLocks/>
              <a:stCxn id="169" idx="2"/>
              <a:endCxn id="171" idx="6"/>
            </p:cNvCxnSpPr>
            <p:nvPr/>
          </p:nvCxnSpPr>
          <p:spPr>
            <a:xfrm flipH="1">
              <a:off x="3421705" y="1478590"/>
              <a:ext cx="3423498" cy="1006309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36CD7A6-BFF0-864F-A9C0-5C593F3F14CE}"/>
                </a:ext>
              </a:extLst>
            </p:cNvPr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5CCCB9AC-87FA-C7E7-A1F2-749B21E4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61214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7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FE3D221-D37B-6E43-BD5C-9D85D700EE88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23ACA7E-7391-D44A-806F-75B7293D7DA7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3749D51-CECB-9D44-B018-F266EF41FC5F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449FB44A-FC51-6244-B19F-B77DE67800A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 Box 3">
            <a:extLst>
              <a:ext uri="{FF2B5EF4-FFF2-40B4-BE49-F238E27FC236}">
                <a16:creationId xmlns:a16="http://schemas.microsoft.com/office/drawing/2014/main" id="{54D4CD9F-2B44-4E41-8C1C-698D78A3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4FE5F7E-81B8-0042-A839-1B9EEAE596EE}"/>
              </a:ext>
            </a:extLst>
          </p:cNvPr>
          <p:cNvGrpSpPr/>
          <p:nvPr/>
        </p:nvGrpSpPr>
        <p:grpSpPr>
          <a:xfrm>
            <a:off x="6514034" y="5634994"/>
            <a:ext cx="5187639" cy="1034693"/>
            <a:chOff x="4625273" y="5620004"/>
            <a:chExt cx="5187639" cy="10346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EFA9DB6-36A1-8443-BC46-7E2E5C2CA3C9}"/>
                </a:ext>
              </a:extLst>
            </p:cNvPr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Text Box 3">
              <a:extLst>
                <a:ext uri="{FF2B5EF4-FFF2-40B4-BE49-F238E27FC236}">
                  <a16:creationId xmlns:a16="http://schemas.microsoft.com/office/drawing/2014/main" id="{350582EB-9CCF-9849-A56A-C61F6B12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49471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D(v) = min ( D(v),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x,v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min(2, 1+2) = 2 </a:t>
              </a:r>
            </a:p>
          </p:txBody>
        </p:sp>
        <p:sp>
          <p:nvSpPr>
            <p:cNvPr id="165" name="Text Box 3">
              <a:extLst>
                <a:ext uri="{FF2B5EF4-FFF2-40B4-BE49-F238E27FC236}">
                  <a16:creationId xmlns:a16="http://schemas.microsoft.com/office/drawing/2014/main" id="{6D23D369-4A04-F94C-80EB-D2103B646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(5, 1+3) = 4 </a:t>
              </a:r>
            </a:p>
          </p:txBody>
        </p:sp>
        <p:sp>
          <p:nvSpPr>
            <p:cNvPr id="166" name="Text Box 3">
              <a:extLst>
                <a:ext uri="{FF2B5EF4-FFF2-40B4-BE49-F238E27FC236}">
                  <a16:creationId xmlns:a16="http://schemas.microsoft.com/office/drawing/2014/main" id="{9A053085-7294-F842-BE4A-5164EBA43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7773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D(y) = min ( D(y), D(x)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x,y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min(inf,1+1) = 2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1D4041-E2D0-984B-A342-59B7AC5550DB}"/>
              </a:ext>
            </a:extLst>
          </p:cNvPr>
          <p:cNvGrpSpPr/>
          <p:nvPr/>
        </p:nvGrpSpPr>
        <p:grpSpPr>
          <a:xfrm>
            <a:off x="11325192" y="5891134"/>
            <a:ext cx="706683" cy="802632"/>
            <a:chOff x="11325192" y="5891134"/>
            <a:chExt cx="706683" cy="802632"/>
          </a:xfrm>
        </p:grpSpPr>
        <p:pic>
          <p:nvPicPr>
            <p:cNvPr id="8" name="Picture 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A37D52F4-FDE5-2845-8949-5A1C24B9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168" name="Picture 16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CE04A19A-A505-8C4A-BBEB-B8773FACE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  <p:sp>
        <p:nvSpPr>
          <p:cNvPr id="11" name="Title 5">
            <a:extLst>
              <a:ext uri="{FF2B5EF4-FFF2-40B4-BE49-F238E27FC236}">
                <a16:creationId xmlns:a16="http://schemas.microsoft.com/office/drawing/2014/main" id="{CB525DDE-CD4A-32CA-D311-736325E13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175144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Box 9">
            <a:extLst>
              <a:ext uri="{FF2B5EF4-FFF2-40B4-BE49-F238E27FC236}">
                <a16:creationId xmlns:a16="http://schemas.microsoft.com/office/drawing/2014/main" id="{65B395D1-ACAF-AB4A-A53B-728973E1F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4285" y="2301914"/>
            <a:ext cx="3786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charset="0"/>
                <a:ea typeface="ＭＳ Ｐゴシック" charset="0"/>
              </a:rPr>
              <a:t>∞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11" name="Text Box 8">
            <a:extLst>
              <a:ext uri="{FF2B5EF4-FFF2-40B4-BE49-F238E27FC236}">
                <a16:creationId xmlns:a16="http://schemas.microsoft.com/office/drawing/2014/main" id="{C4F3D1DE-8C63-AD4B-B1C0-FE339DA1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722" y="2260378"/>
            <a:ext cx="5261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2,x</a:t>
            </a:r>
          </a:p>
        </p:txBody>
      </p:sp>
      <p:sp>
        <p:nvSpPr>
          <p:cNvPr id="117" name="Text Box 6">
            <a:extLst>
              <a:ext uri="{FF2B5EF4-FFF2-40B4-BE49-F238E27FC236}">
                <a16:creationId xmlns:a16="http://schemas.microsoft.com/office/drawing/2014/main" id="{C9401439-4F9A-5245-B5D8-98F93D2D3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6247" y="2271953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</p:txBody>
      </p:sp>
      <p:sp>
        <p:nvSpPr>
          <p:cNvPr id="118" name="Text Box 5">
            <a:extLst>
              <a:ext uri="{FF2B5EF4-FFF2-40B4-BE49-F238E27FC236}">
                <a16:creationId xmlns:a16="http://schemas.microsoft.com/office/drawing/2014/main" id="{05199638-1656-3440-8601-484D6E8D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3633" y="2255616"/>
            <a:ext cx="540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2,u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52DFC02-823F-0242-A6A7-87C32B9FF392}"/>
              </a:ext>
            </a:extLst>
          </p:cNvPr>
          <p:cNvGrpSpPr/>
          <p:nvPr/>
        </p:nvGrpSpPr>
        <p:grpSpPr>
          <a:xfrm>
            <a:off x="3117557" y="1351723"/>
            <a:ext cx="5481203" cy="1572238"/>
            <a:chOff x="-1091379" y="187714"/>
            <a:chExt cx="5481203" cy="1572238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EFA519F-FE06-0A48-8A17-DA293779C4C4}"/>
                </a:ext>
              </a:extLst>
            </p:cNvPr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C8090F2C-8033-B647-B950-11726A728ED6}"/>
                </a:ext>
              </a:extLst>
            </p:cNvPr>
            <p:cNvCxnSpPr>
              <a:cxnSpLocks/>
              <a:stCxn id="206" idx="2"/>
              <a:endCxn id="208" idx="6"/>
            </p:cNvCxnSpPr>
            <p:nvPr/>
          </p:nvCxnSpPr>
          <p:spPr>
            <a:xfrm flipH="1">
              <a:off x="-789162" y="356054"/>
              <a:ext cx="4813441" cy="125613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5FE25E1-AB82-7F4C-9E98-117B763167D9}"/>
                </a:ext>
              </a:extLst>
            </p:cNvPr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DC1F592-D3EA-B141-B522-4F04B922D235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ECFC92F7-A385-9382-FB5E-3AE0C06F5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402443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20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B4A4D5E-EA3A-C342-BD4B-5D42FD84497D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9C4666A-0739-D747-9911-F956173AF6C0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E2FD13B-449B-A542-8297-BC85BC14FEA0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001580FF-6C15-794F-AB65-D39811DB8230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119" name="Text Box 3">
            <a:extLst>
              <a:ext uri="{FF2B5EF4-FFF2-40B4-BE49-F238E27FC236}">
                <a16:creationId xmlns:a16="http://schemas.microsoft.com/office/drawing/2014/main" id="{8F59C2A4-0007-4F40-B4AB-15442E39B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398422E-1EB1-DC4A-944E-B1DAB402E4DD}"/>
              </a:ext>
            </a:extLst>
          </p:cNvPr>
          <p:cNvGrpSpPr/>
          <p:nvPr/>
        </p:nvGrpSpPr>
        <p:grpSpPr>
          <a:xfrm>
            <a:off x="6497409" y="5402237"/>
            <a:ext cx="5187639" cy="1034693"/>
            <a:chOff x="4625273" y="5620004"/>
            <a:chExt cx="5187639" cy="1034693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601628C-73DE-794F-B777-3EE0738C013A}"/>
                </a:ext>
              </a:extLst>
            </p:cNvPr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Text Box 3">
              <a:extLst>
                <a:ext uri="{FF2B5EF4-FFF2-40B4-BE49-F238E27FC236}">
                  <a16:creationId xmlns:a16="http://schemas.microsoft.com/office/drawing/2014/main" id="{1244B68D-FA8E-C74C-924A-A43B38E7E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4" name="Text Box 3">
              <a:extLst>
                <a:ext uri="{FF2B5EF4-FFF2-40B4-BE49-F238E27FC236}">
                  <a16:creationId xmlns:a16="http://schemas.microsoft.com/office/drawing/2014/main" id="{A1525B23-46ED-3A4C-BC35-A13418697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763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D(y) + </a:t>
              </a:r>
              <a:r>
                <a:rPr kumimoji="0" lang="en-US" sz="200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c</a:t>
              </a:r>
              <a:r>
                <a:rPr lang="en-US" sz="2000" i="1" baseline="-25000" dirty="0">
                  <a:solidFill>
                    <a:prstClr val="black"/>
                  </a:solidFill>
                  <a:latin typeface="Calibri" panose="020F0502020204030204"/>
                </a:rPr>
                <a:t>y</a:t>
              </a:r>
              <a:r>
                <a:rPr kumimoji="0" lang="en-US" sz="200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2+1) = 3 </a:t>
              </a:r>
            </a:p>
          </p:txBody>
        </p:sp>
        <p:sp>
          <p:nvSpPr>
            <p:cNvPr id="215" name="Text Box 3">
              <a:extLst>
                <a:ext uri="{FF2B5EF4-FFF2-40B4-BE49-F238E27FC236}">
                  <a16:creationId xmlns:a16="http://schemas.microsoft.com/office/drawing/2014/main" id="{BFB54203-76D7-E14F-8811-A49D9AAE5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4375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D(y)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y,z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min(inf,2+2) = 4  </a:t>
              </a: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C32DC86-6E33-9543-9C89-8F3F1B0CEF86}"/>
              </a:ext>
            </a:extLst>
          </p:cNvPr>
          <p:cNvGrpSpPr/>
          <p:nvPr/>
        </p:nvGrpSpPr>
        <p:grpSpPr>
          <a:xfrm>
            <a:off x="11325192" y="5675005"/>
            <a:ext cx="706683" cy="802632"/>
            <a:chOff x="11325192" y="5891134"/>
            <a:chExt cx="706683" cy="802632"/>
          </a:xfrm>
        </p:grpSpPr>
        <p:pic>
          <p:nvPicPr>
            <p:cNvPr id="217" name="Picture 216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925DA252-1100-254E-886E-E31054C9C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218" name="Picture 21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01C56154-A60F-024F-BBFB-A6C93EE3F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349870A5-9F71-CB43-8128-DFD8B0AA58C1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D20EFDD0-5028-CEF2-DFA8-6DA8D412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247903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7430957-A0D6-EA4C-B6BF-820C3230276D}"/>
              </a:ext>
            </a:extLst>
          </p:cNvPr>
          <p:cNvGrpSpPr/>
          <p:nvPr/>
        </p:nvGrpSpPr>
        <p:grpSpPr>
          <a:xfrm>
            <a:off x="3109189" y="1355510"/>
            <a:ext cx="1542110" cy="1873826"/>
            <a:chOff x="3109189" y="1355510"/>
            <a:chExt cx="1542110" cy="1873826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015F7C7-310D-FD46-9C9C-A1683A72BDDD}"/>
                </a:ext>
              </a:extLst>
            </p:cNvPr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CB6EBC2E-EA66-0348-8BB3-7224B5E190A1}"/>
                </a:ext>
              </a:extLst>
            </p:cNvPr>
            <p:cNvCxnSpPr>
              <a:cxnSpLocks/>
              <a:stCxn id="207" idx="2"/>
              <a:endCxn id="219" idx="6"/>
            </p:cNvCxnSpPr>
            <p:nvPr/>
          </p:nvCxnSpPr>
          <p:spPr>
            <a:xfrm flipH="1">
              <a:off x="3411406" y="1503276"/>
              <a:ext cx="924797" cy="157829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79D32FBA-D726-A343-8DEE-BA9A2943F951}"/>
                </a:ext>
              </a:extLst>
            </p:cNvPr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52E9057B-6B98-BE42-AE62-4832BA11F8FB}"/>
              </a:ext>
            </a:extLst>
          </p:cNvPr>
          <p:cNvCxnSpPr>
            <a:cxnSpLocks/>
          </p:cNvCxnSpPr>
          <p:nvPr/>
        </p:nvCxnSpPr>
        <p:spPr>
          <a:xfrm flipV="1">
            <a:off x="1137745" y="5040040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5">
            <a:extLst>
              <a:ext uri="{FF2B5EF4-FFF2-40B4-BE49-F238E27FC236}">
                <a16:creationId xmlns:a16="http://schemas.microsoft.com/office/drawing/2014/main" id="{5E682B40-5C06-55F1-76F4-DE200E54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73517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2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BE35B4C-1AED-A841-AF80-60F24BC61CA4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91E4B38D-7546-F94C-8A43-DBD52AA7A376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39AB7A4-25A9-1A45-A7AC-64A8E69B1628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05BCE45-1F78-4A42-83C7-96D7950CC9C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CD703E57-0A32-2F40-B813-84CEA4FC5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F68506E-3C2C-FA41-9AFF-AC306C688A51}"/>
              </a:ext>
            </a:extLst>
          </p:cNvPr>
          <p:cNvGrpSpPr/>
          <p:nvPr/>
        </p:nvGrpSpPr>
        <p:grpSpPr>
          <a:xfrm>
            <a:off x="6497409" y="5402237"/>
            <a:ext cx="5183535" cy="749181"/>
            <a:chOff x="4625273" y="5620004"/>
            <a:chExt cx="5183535" cy="749181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78CF965-1E51-204E-87C1-40BC5F8B1953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A0BD265B-56BC-C648-9DAB-18969CF60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2" name="Text Box 3">
              <a:extLst>
                <a:ext uri="{FF2B5EF4-FFF2-40B4-BE49-F238E27FC236}">
                  <a16:creationId xmlns:a16="http://schemas.microsoft.com/office/drawing/2014/main" id="{E3E25232-20F1-B64B-98A3-BB2E6B5A6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835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D(w) = min ( D(w), D(v)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v,w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(3, 2+3) = 3 </a:t>
              </a:r>
            </a:p>
          </p:txBody>
        </p:sp>
      </p:grp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CB03B215-D4F4-B240-9C4C-7FD543D4FF60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20AF5BC3-D7A1-D27A-99D8-C062F030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227278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</a:t>
            </a:r>
            <a:r>
              <a:rPr lang="en-US" sz="2000" kern="0" dirty="0">
                <a:solidFill>
                  <a:srgbClr val="000000"/>
                </a:solidFill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01EBFD0-D4AD-9247-9D77-B94D622E1FAA}"/>
              </a:ext>
            </a:extLst>
          </p:cNvPr>
          <p:cNvGrpSpPr/>
          <p:nvPr/>
        </p:nvGrpSpPr>
        <p:grpSpPr>
          <a:xfrm>
            <a:off x="3082834" y="1345224"/>
            <a:ext cx="2890824" cy="2192195"/>
            <a:chOff x="1559224" y="-432243"/>
            <a:chExt cx="2890824" cy="2192195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746423EF-63DD-3343-9662-5B2931DA7273}"/>
                </a:ext>
              </a:extLst>
            </p:cNvPr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85760C0E-983E-B441-806E-22BCF64E7382}"/>
                </a:ext>
              </a:extLst>
            </p:cNvPr>
            <p:cNvCxnSpPr>
              <a:cxnSpLocks/>
              <a:stCxn id="216" idx="2"/>
              <a:endCxn id="223" idx="6"/>
            </p:cNvCxnSpPr>
            <p:nvPr/>
          </p:nvCxnSpPr>
          <p:spPr>
            <a:xfrm flipH="1">
              <a:off x="1861441" y="-284477"/>
              <a:ext cx="2273511" cy="189666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5D5E27BC-D759-D946-87D8-DD12082603F9}"/>
                </a:ext>
              </a:extLst>
            </p:cNvPr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983EAC5-E137-B845-8167-8FF621B46BC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D8FF3FE5-C566-63A1-34DC-08A5623D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237175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2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D55AC0E-D2D6-F941-9AA6-9306F9726C0A}"/>
              </a:ext>
            </a:extLst>
          </p:cNvPr>
          <p:cNvGrpSpPr/>
          <p:nvPr/>
        </p:nvGrpSpPr>
        <p:grpSpPr>
          <a:xfrm>
            <a:off x="4454071" y="3833590"/>
            <a:ext cx="1669144" cy="2786743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75F79124-CB88-0245-A13C-A9F8EF8B54A5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662265B-7333-144C-975B-222F0D3A4281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9ED63E9-B922-974A-A009-C20182AD3D17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6F3DAD70-4F0A-6440-969F-3CCEA1CA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B668A7-AFC7-C746-8D74-2C3BEE2C0C90}"/>
              </a:ext>
            </a:extLst>
          </p:cNvPr>
          <p:cNvGrpSpPr/>
          <p:nvPr/>
        </p:nvGrpSpPr>
        <p:grpSpPr>
          <a:xfrm>
            <a:off x="6497409" y="5402237"/>
            <a:ext cx="5103343" cy="749181"/>
            <a:chOff x="4625273" y="5620004"/>
            <a:chExt cx="5103343" cy="749181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75C3332E-25DC-5548-B18A-0DFEE9ABA6BC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Text Box 3">
              <a:extLst>
                <a:ext uri="{FF2B5EF4-FFF2-40B4-BE49-F238E27FC236}">
                  <a16:creationId xmlns:a16="http://schemas.microsoft.com/office/drawing/2014/main" id="{66CA504C-894E-9D46-958C-24EC91FC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818E7B6F-01C5-BD4D-81E3-08541D884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08895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D(z) = min ( D(z), D(w) + c</a:t>
              </a:r>
              <a:r>
                <a:rPr kumimoji="0" 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w,z 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</a:rPr>
                <a:t>) = min (4, 3+5) = 4 </a:t>
              </a:r>
            </a:p>
          </p:txBody>
        </p:sp>
      </p:grp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41F1CF94-F7B7-9947-B9CB-42D5664FC48B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35CEAA11-13FE-FFC7-A81B-F727B1C5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53522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A203BF5-54E3-A247-B525-DAD7C3FFFA30}"/>
              </a:ext>
            </a:extLst>
          </p:cNvPr>
          <p:cNvGrpSpPr/>
          <p:nvPr/>
        </p:nvGrpSpPr>
        <p:grpSpPr>
          <a:xfrm>
            <a:off x="3084763" y="1369564"/>
            <a:ext cx="6736985" cy="2493877"/>
            <a:chOff x="-2329870" y="-444558"/>
            <a:chExt cx="6736985" cy="2493877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EC7C9367-2990-6D43-A15C-2F5B4E8649C4}"/>
                </a:ext>
              </a:extLst>
            </p:cNvPr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F11A43D7-7771-3E49-94AA-7FB8202B3A43}"/>
                </a:ext>
              </a:extLst>
            </p:cNvPr>
            <p:cNvCxnSpPr>
              <a:cxnSpLocks/>
              <a:stCxn id="223" idx="2"/>
              <a:endCxn id="226" idx="6"/>
            </p:cNvCxnSpPr>
            <p:nvPr/>
          </p:nvCxnSpPr>
          <p:spPr>
            <a:xfrm flipH="1">
              <a:off x="-2027653" y="-296792"/>
              <a:ext cx="6119672" cy="219834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8F40879-FE48-7941-9529-6385E99DA5B8}"/>
                </a:ext>
              </a:extLst>
            </p:cNvPr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FF0B2969-0D91-644B-9FF5-3BB4F0D073E4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ABE8C73-6B5D-7F4B-AA15-26746F00DEF9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06DE7A90-9F0D-D309-F180-C1D926EC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245753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1" y="1633417"/>
            <a:ext cx="12955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465" y="3427169"/>
            <a:ext cx="12218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8 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Loop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9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265" y="3750132"/>
            <a:ext cx="586442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find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not in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such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D(a)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is a minimum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529" y="2025568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4322868" y="121203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5598013" y="1206430"/>
            <a:ext cx="44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6907883" y="1200825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8240903" y="1206795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9504473" y="1224340"/>
            <a:ext cx="325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644342" y="4117376"/>
            <a:ext cx="3571875" cy="2236788"/>
            <a:chOff x="3162" y="1071"/>
            <a:chExt cx="2250" cy="1409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1438"/>
              <a:ext cx="233" cy="252"/>
              <a:chOff x="2940" y="2425"/>
              <a:chExt cx="236" cy="252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2425"/>
                <a:ext cx="23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1118203" y="551429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837" y="2316864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576" y="260815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2017455" y="6020765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1170996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236" y="2930322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7173" y="3197610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034" y="3267919"/>
            <a:ext cx="602852" cy="30197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165" name="Text Box 3">
            <a:extLst>
              <a:ext uri="{FF2B5EF4-FFF2-40B4-BE49-F238E27FC236}">
                <a16:creationId xmlns:a16="http://schemas.microsoft.com/office/drawing/2014/main" id="{DDAD2418-A8D1-1A4C-9685-0ABBFA899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273" y="4882988"/>
            <a:ext cx="57670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update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D(b)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for all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b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adjacent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and not in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rPr>
              <a:t>'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    D(b) =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min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 ( D(b), D(a) + c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a,b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) 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502BE32-581E-614C-8C19-401954352B23}"/>
              </a:ext>
            </a:extLst>
          </p:cNvPr>
          <p:cNvCxnSpPr>
            <a:cxnSpLocks/>
          </p:cNvCxnSpPr>
          <p:nvPr/>
        </p:nvCxnSpPr>
        <p:spPr>
          <a:xfrm flipV="1">
            <a:off x="2879488" y="50053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7BAAF5DE-5EBE-1D41-BC0E-9C07EB3F9FC5}"/>
              </a:ext>
            </a:extLst>
          </p:cNvPr>
          <p:cNvCxnSpPr>
            <a:cxnSpLocks/>
          </p:cNvCxnSpPr>
          <p:nvPr/>
        </p:nvCxnSpPr>
        <p:spPr>
          <a:xfrm flipV="1">
            <a:off x="3059661" y="5610320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5">
            <a:extLst>
              <a:ext uri="{FF2B5EF4-FFF2-40B4-BE49-F238E27FC236}">
                <a16:creationId xmlns:a16="http://schemas.microsoft.com/office/drawing/2014/main" id="{89E8F90B-A397-6EAC-CF90-10F3D5D91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262100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5119"/>
            <a:chOff x="6731733" y="3986393"/>
            <a:chExt cx="4022768" cy="2585119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6207"/>
              <a:chOff x="9178724" y="1740531"/>
              <a:chExt cx="2423080" cy="207620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1463" y="2060295"/>
                <a:ext cx="405880" cy="1756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z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itle 5">
            <a:extLst>
              <a:ext uri="{FF2B5EF4-FFF2-40B4-BE49-F238E27FC236}">
                <a16:creationId xmlns:a16="http://schemas.microsoft.com/office/drawing/2014/main" id="{19A38141-4EA2-6DA9-2664-DD0A00DF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</p:spTree>
    <p:extLst>
      <p:ext uri="{BB962C8B-B14F-4D97-AF65-F5344CB8AC3E}">
        <p14:creationId xmlns:p14="http://schemas.microsoft.com/office/powerpoint/2010/main" val="134556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Discussion</a:t>
            </a: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739458" y="1447800"/>
            <a:ext cx="8709342" cy="2484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Algorithm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/>
              <a:t>n</a:t>
            </a:r>
            <a:r>
              <a:rPr lang="en-US" dirty="0"/>
              <a:t> nodes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Each of </a:t>
            </a:r>
            <a:r>
              <a:rPr lang="en-US" sz="2400" i="1" dirty="0"/>
              <a:t>n</a:t>
            </a:r>
            <a:r>
              <a:rPr lang="en-US" sz="2400" dirty="0"/>
              <a:t> iteration: need to check all nodes, </a:t>
            </a:r>
            <a:r>
              <a:rPr lang="en-US" sz="2400" i="1" dirty="0"/>
              <a:t>w</a:t>
            </a:r>
            <a:r>
              <a:rPr lang="en-US" sz="2400" dirty="0"/>
              <a:t>, not in </a:t>
            </a:r>
            <a:r>
              <a:rPr lang="en-US" sz="2400" i="1" dirty="0"/>
              <a:t>N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400" i="1" dirty="0"/>
              <a:t>n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+1)/2 comparisons: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complexity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More efficient implementations possible: O(</a:t>
            </a:r>
            <a:r>
              <a:rPr lang="en-US" sz="2400" i="1" dirty="0"/>
              <a:t>n</a:t>
            </a:r>
            <a:r>
              <a:rPr lang="en-US" sz="2400" dirty="0"/>
              <a:t>log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445" name="Rectangle 3">
            <a:extLst>
              <a:ext uri="{FF2B5EF4-FFF2-40B4-BE49-F238E27FC236}">
                <a16:creationId xmlns:a16="http://schemas.microsoft.com/office/drawing/2014/main" id="{37555C05-2A0C-8E42-A9BE-7ECBAF0D8C2D}"/>
              </a:ext>
            </a:extLst>
          </p:cNvPr>
          <p:cNvSpPr txBox="1">
            <a:spLocks noChangeArrowheads="1"/>
          </p:cNvSpPr>
          <p:nvPr/>
        </p:nvSpPr>
        <p:spPr>
          <a:xfrm>
            <a:off x="739458" y="3843020"/>
            <a:ext cx="11310302" cy="2832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Message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Each router must </a:t>
            </a:r>
            <a:r>
              <a:rPr lang="en-US" sz="2400" i="1" dirty="0">
                <a:solidFill>
                  <a:srgbClr val="0000A8"/>
                </a:solidFill>
              </a:rPr>
              <a:t>broadcast</a:t>
            </a:r>
            <a:r>
              <a:rPr lang="en-US" sz="2400" dirty="0"/>
              <a:t> its link state information to other </a:t>
            </a:r>
            <a:r>
              <a:rPr lang="en-US" sz="2400" i="1" dirty="0"/>
              <a:t>n</a:t>
            </a:r>
            <a:r>
              <a:rPr lang="en-US" sz="2400" dirty="0"/>
              <a:t> routers 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Efficient (and interesting!) broadcast algorithms: O(</a:t>
            </a:r>
            <a:r>
              <a:rPr lang="en-US" sz="2400" i="1" dirty="0"/>
              <a:t>n</a:t>
            </a:r>
            <a:r>
              <a:rPr lang="en-US" sz="2400" dirty="0"/>
              <a:t>) link crossings to disseminate a broadcast message from one source</a:t>
            </a:r>
          </a:p>
          <a:p>
            <a:pPr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Each router’s message crosses O(</a:t>
            </a:r>
            <a:r>
              <a:rPr lang="en-US" sz="2400" i="1" dirty="0"/>
              <a:t>n</a:t>
            </a:r>
            <a:r>
              <a:rPr lang="en-US" sz="2400" dirty="0"/>
              <a:t>) links: overall message complexity: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739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4377</TotalTime>
  <Words>5514</Words>
  <Application>Microsoft Office PowerPoint</Application>
  <PresentationFormat>Widescreen</PresentationFormat>
  <Paragraphs>1427</Paragraphs>
  <Slides>45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0" baseType="lpstr">
      <vt:lpstr>ＭＳ Ｐゴシック</vt:lpstr>
      <vt:lpstr>TimesLTPro-Roman</vt:lpstr>
      <vt:lpstr>Aptos</vt:lpstr>
      <vt:lpstr>Aptos Display</vt:lpstr>
      <vt:lpstr>Arial</vt:lpstr>
      <vt:lpstr>Calibri</vt:lpstr>
      <vt:lpstr>Comic Sans MS</vt:lpstr>
      <vt:lpstr>Consolas</vt:lpstr>
      <vt:lpstr>Courier New</vt:lpstr>
      <vt:lpstr>Gill Sans MT</vt:lpstr>
      <vt:lpstr>Roboto</vt:lpstr>
      <vt:lpstr>Tahoma</vt:lpstr>
      <vt:lpstr>Times</vt:lpstr>
      <vt:lpstr>Wingdings</vt:lpstr>
      <vt:lpstr>Office Theme</vt:lpstr>
      <vt:lpstr>CSC 3511 Security and Networking</vt:lpstr>
      <vt:lpstr>PowerPoint Presentation</vt:lpstr>
      <vt:lpstr>PowerPoint Presentation</vt:lpstr>
      <vt:lpstr>Switching fabrics</vt:lpstr>
      <vt:lpstr>Input Port Functions</vt:lpstr>
      <vt:lpstr>Output Port Queuing</vt:lpstr>
      <vt:lpstr>PowerPoint Presentation</vt:lpstr>
      <vt:lpstr>Efficient Forwarding</vt:lpstr>
      <vt:lpstr>Destination-based Forwarding</vt:lpstr>
      <vt:lpstr>Longest Prefix Matching</vt:lpstr>
      <vt:lpstr>Longest Prefix Matching</vt:lpstr>
      <vt:lpstr>Longest Prefix Matching</vt:lpstr>
      <vt:lpstr>Longest Prefix Matching</vt:lpstr>
      <vt:lpstr>Efficient Longest Prefix Matching with Tries</vt:lpstr>
      <vt:lpstr>PowerPoint Presentation</vt:lpstr>
      <vt:lpstr>Modeling the Network</vt:lpstr>
      <vt:lpstr>Modeling the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Dijkstra’s Shortest Path Algorithm</vt:lpstr>
      <vt:lpstr>Dijkstra’s Shortest Path Algorithm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547</cp:revision>
  <dcterms:created xsi:type="dcterms:W3CDTF">2025-09-03T22:06:31Z</dcterms:created>
  <dcterms:modified xsi:type="dcterms:W3CDTF">2025-10-02T03:55:03Z</dcterms:modified>
</cp:coreProperties>
</file>