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40"/>
  </p:notesMasterIdLst>
  <p:sldIdLst>
    <p:sldId id="505" r:id="rId6"/>
    <p:sldId id="1448" r:id="rId7"/>
    <p:sldId id="1438" r:id="rId8"/>
    <p:sldId id="1439" r:id="rId9"/>
    <p:sldId id="1440" r:id="rId10"/>
    <p:sldId id="1435" r:id="rId11"/>
    <p:sldId id="382" r:id="rId12"/>
    <p:sldId id="383" r:id="rId13"/>
    <p:sldId id="381" r:id="rId14"/>
    <p:sldId id="393" r:id="rId15"/>
    <p:sldId id="384" r:id="rId16"/>
    <p:sldId id="1436" r:id="rId17"/>
    <p:sldId id="385" r:id="rId18"/>
    <p:sldId id="394" r:id="rId19"/>
    <p:sldId id="395" r:id="rId20"/>
    <p:sldId id="397" r:id="rId21"/>
    <p:sldId id="1444" r:id="rId22"/>
    <p:sldId id="1445" r:id="rId23"/>
    <p:sldId id="1446" r:id="rId24"/>
    <p:sldId id="1452" r:id="rId25"/>
    <p:sldId id="1455" r:id="rId26"/>
    <p:sldId id="1456" r:id="rId27"/>
    <p:sldId id="1453" r:id="rId28"/>
    <p:sldId id="1454" r:id="rId29"/>
    <p:sldId id="1450" r:id="rId30"/>
    <p:sldId id="1449" r:id="rId31"/>
    <p:sldId id="1460" r:id="rId32"/>
    <p:sldId id="1443" r:id="rId33"/>
    <p:sldId id="403" r:id="rId34"/>
    <p:sldId id="1457" r:id="rId35"/>
    <p:sldId id="1458" r:id="rId36"/>
    <p:sldId id="407" r:id="rId37"/>
    <p:sldId id="1459" r:id="rId38"/>
    <p:sldId id="1441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C769"/>
    <a:srgbClr val="CAF7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8EBD3F-9E39-4E38-8A21-C66118C129EB}" v="1237" dt="2024-04-09T03:57:12.7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859" autoAdjust="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FCE17F-657B-4DAB-B6E1-E1803235A61E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7604F-8FC2-4427-83D4-5F1194BDB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9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g2c1e6637634_2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817" name="Google Shape;1817;g2c1e6637634_2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A stub resolver is a simple DNS client library built into the operating system that applications use to perform DNS lookups: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Accepts DNS queries from applications (like web browsers)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Formats DNS queries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Sends queries to a configured recursive resolver (DNS server)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Receives and returns responses to the application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0" dirty="0"/>
              <a:t>Handles basic caching</a:t>
            </a:r>
            <a:endParaRPr b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https://www.cloudflare.com/learning/dns/dns-cache-poisoning/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680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022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818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9: DNS uses UDP protocol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In fact:</a:t>
            </a:r>
          </a:p>
          <a:p>
            <a:r>
              <a:rPr lang="en-US" dirty="0"/>
              <a:t>UDP is used for most standard queries due to its speed and efficiency for small data packets;</a:t>
            </a:r>
          </a:p>
          <a:p>
            <a:r>
              <a:rPr lang="en-US" dirty="0"/>
              <a:t>TCP is used for larger, more complex tasks like zone transfers or when a UDP response is too large and gets truncated.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161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296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02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411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350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035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64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29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6C55B-41B0-992E-857A-1E32BDA4C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9ECC2-08BA-C2A4-CC07-AAB0CB1D9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1B5B1-9FEB-9098-B54D-5DA643F8A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70936-17BB-3780-E082-E9BAD2DB9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362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8528C-0641-C1BA-351A-006DD022B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F05F5-915E-24AC-811E-DC6DA64CD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494B4-3BF5-F092-0153-CFAA8E7DC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B374F-AFD0-1A11-6167-A179AF51C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3046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6A6D7-ABD9-67CC-856E-7E6339583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EE3C2-EB99-2B2E-624E-6E7A954AE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488288-A1FD-B4A3-118B-71207E409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D2443-596D-FE16-96A2-AF4A1FCFF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524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root's KSK signs the DNSKEY RRset (which contains both KSK and ZSK)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252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BA0BD-327D-E5AC-EF4F-C06EB4912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3F8509-5574-91B0-BD2B-5949D8CF8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E24F4-2C75-F7AD-5687-470C85002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root's KSK signs the DNSKEY RRset (which contains both KSK and ZSK)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5B0E9-040C-458F-7EAD-7A135A734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1601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711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edu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/SOA</a:t>
            </a:r>
            <a:r>
              <a:rPr lang="en-US" b="0" dirty="0"/>
              <a:t> refers to the SOA (Start of Authority) record for the 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edu</a:t>
            </a:r>
            <a:r>
              <a:rPr lang="en-US" b="0" dirty="0"/>
              <a:t> domain. It contains administrative information about a DNS zone, including: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Primary nameserver for the zone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Email address of the zone administrator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Serial number (version number for the zone file)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Refresh, retry, and expire timers for zone transfers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Minimum TTL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r>
              <a:rPr lang="en-US" b="0" dirty="0"/>
              <a:t>MSOE has not published DS records with the 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edu</a:t>
            </a:r>
            <a:r>
              <a:rPr lang="en-US" b="0" dirty="0"/>
              <a:t> registry, which means DNSSEC is not enabled for the domain, making it "insecure" in DNSSEC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832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7D5C9-E530-C625-0BDB-09BE85E46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A6335-CF35-A8AA-37F1-6AD818F7B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7ECC8-8211-67BD-CEC8-EC32DA896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9480E-0A52-ED13-0589-E8FC319B3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57604F-8FC2-4427-83D4-5F1194BDB86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44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1F696-A9CC-2F63-02B2-BC26FA7B1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54313A-6EEC-07BF-A185-50EC1398C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FE867-EA15-F349-591F-759ECA341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FC21-6417-4802-8517-CFB8A0482DF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B5030-C9AA-D00D-65C4-884789DD5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82992-9780-E8C4-5156-8601E42B4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124E-661C-4D93-9B95-9A1F943BA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64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0B939-518F-62E5-6EF3-F7A7ECC44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79BEF-E6B5-E763-72B6-9700CF22F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04CF2-70FF-D2C1-587B-8F63F628A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FC21-6417-4802-8517-CFB8A0482DF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4821A-6986-4F77-D016-22D7DFD9F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4130E-E153-CC92-134B-88709DA7F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124E-661C-4D93-9B95-9A1F943BA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34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92AE1-EF00-9E71-BCCC-6439967D8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2BB0D-EF09-BCB6-C78F-A8CDF1A69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6816C-D112-702D-C5EA-B8E8DCEB4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FC21-6417-4802-8517-CFB8A0482DF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6A2C3-1595-6FCF-06D4-04166463E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BF23B-1058-982A-5212-F4F3CDBD6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124E-661C-4D93-9B95-9A1F943BA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09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E532F-0AA7-0FE4-EDC0-EE77C545D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199A7-69A9-6F3B-47B0-D0F240C16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3F587D-052E-50F2-9184-337B05AB8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9B895-B5D4-5DC8-C536-BDF2E289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FC21-6417-4802-8517-CFB8A0482DF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A99F9-B767-92DF-6296-006BA2538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92918-EC4C-007C-3D99-5F191C988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124E-661C-4D93-9B95-9A1F943BA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87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4A80F-1D41-BED5-6306-EA45C5A29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230ED-CFED-A8F0-1255-83ACDECDB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58B8F-2D36-F0C2-A27A-C30BD0649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E3F8E-9A03-937E-B56C-381228BB95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A7B251-163F-9F52-A4EC-D26ADE3FE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AE87C3-7A11-3906-BF13-0678869A2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FC21-6417-4802-8517-CFB8A0482DF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D3A20A-1098-BBD2-FE5B-11FEA30D2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E484E0-AD60-EC63-9E7B-AE54D11F7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124E-661C-4D93-9B95-9A1F943BA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54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B5E2-F7FE-F6EC-B51B-0C1532447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C7103F-34AA-8B9F-CC2F-E4B0B35C8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FC21-6417-4802-8517-CFB8A0482DF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BAE60-9D79-404B-05F1-BB39061DC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CC69AD-EC13-AA87-7BE7-9463ED3D9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124E-661C-4D93-9B95-9A1F943BA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11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2A252F-0EA6-56F1-258A-523E284B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FC21-6417-4802-8517-CFB8A0482DF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648531-0A05-400C-A446-1521A9489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FF36F-5D65-3000-3A3E-7A0F72C32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124E-661C-4D93-9B95-9A1F943BA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91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0E408-A13A-3C3E-41DA-A24530C7E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DCF56-D14F-29CF-952F-3D9E999DF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2DAC9-30D4-9FBA-50BE-89AEE25EE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230CDC-7281-8B09-8DC4-35CD8D0A9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FC21-6417-4802-8517-CFB8A0482DF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11F3F-344D-5A16-5153-00CC31942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308C0-8F8C-7D7F-B8FF-C62DDC17D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124E-661C-4D93-9B95-9A1F943BA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523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01B2E-A933-DE0D-974C-1382D5742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6BF573-8CDB-B824-9769-316CE812F4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42D86-E8C4-5168-8757-4FCE4432B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A327D-9A23-6BAE-6834-E4454782A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FC21-6417-4802-8517-CFB8A0482DF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C0BC3-7B6C-13A4-7E78-14325E140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A1F68-46EC-6973-15C1-7546671A8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124E-661C-4D93-9B95-9A1F943BA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37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B4C0B-D0A2-3606-C2C0-BF661AD31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40375-D836-1D73-AC19-DF619BE54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84E08-002C-E5B8-FF1C-A5A004AC1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FC21-6417-4802-8517-CFB8A0482DF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CD392-04C7-FB07-D043-F627B899E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AD2FC-8908-B64A-FEE9-6E606503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124E-661C-4D93-9B95-9A1F943BA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48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DE544F-3AA8-32B5-E7A1-006DA1BDC6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BAE9D-5FC4-9D2E-C3A0-0BAF6C364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D9BE5-DB62-5816-E962-B2F1E9E5D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0FC21-6417-4802-8517-CFB8A0482DF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CD7D4-4611-B803-E390-71841CAD4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01BA3-5867-E11D-E75D-56904E7F1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124E-661C-4D93-9B95-9A1F943BA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42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53135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48642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86651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38326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67714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783635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56441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49469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363207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54526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805364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349612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- Optional">
  <p:cSld name="Caption - Optional">
    <p:bg>
      <p:bgPr>
        <a:solidFill>
          <a:srgbClr val="A4C2F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36933" y="3611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82800" y="6027700"/>
            <a:ext cx="1082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333">
                <a:solidFill>
                  <a:schemeClr val="dk2"/>
                </a:solidFill>
              </a:defRPr>
            </a:lvl1pPr>
            <a:lvl2pPr lvl="1" algn="r" rtl="0">
              <a:buNone/>
              <a:defRPr sz="1333">
                <a:solidFill>
                  <a:schemeClr val="dk2"/>
                </a:solidFill>
              </a:defRPr>
            </a:lvl2pPr>
            <a:lvl3pPr lvl="2" algn="r" rtl="0">
              <a:buNone/>
              <a:defRPr sz="1333">
                <a:solidFill>
                  <a:schemeClr val="dk2"/>
                </a:solidFill>
              </a:defRPr>
            </a:lvl3pPr>
            <a:lvl4pPr lvl="3" algn="r" rtl="0">
              <a:buNone/>
              <a:defRPr sz="1333">
                <a:solidFill>
                  <a:schemeClr val="dk2"/>
                </a:solidFill>
              </a:defRPr>
            </a:lvl4pPr>
            <a:lvl5pPr lvl="4" algn="r" rtl="0">
              <a:buNone/>
              <a:defRPr sz="1333">
                <a:solidFill>
                  <a:schemeClr val="dk2"/>
                </a:solidFill>
              </a:defRPr>
            </a:lvl5pPr>
            <a:lvl6pPr lvl="5" algn="r" rtl="0">
              <a:buNone/>
              <a:defRPr sz="1333">
                <a:solidFill>
                  <a:schemeClr val="dk2"/>
                </a:solidFill>
              </a:defRPr>
            </a:lvl6pPr>
            <a:lvl7pPr lvl="6" algn="r" rtl="0">
              <a:buNone/>
              <a:defRPr sz="1333">
                <a:solidFill>
                  <a:schemeClr val="dk2"/>
                </a:solidFill>
              </a:defRPr>
            </a:lvl7pPr>
            <a:lvl8pPr lvl="7" algn="r" rtl="0">
              <a:buNone/>
              <a:defRPr sz="1333">
                <a:solidFill>
                  <a:schemeClr val="dk2"/>
                </a:solidFill>
              </a:defRPr>
            </a:lvl8pPr>
            <a:lvl9pPr lvl="8" algn="r" rtl="0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206759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Optional">
  <p:cSld name="Title only - Optional">
    <p:bg>
      <p:bgPr>
        <a:solidFill>
          <a:srgbClr val="A4C2F4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136933" y="3611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386926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- Optional">
  <p:cSld name="One column text - Optional">
    <p:bg>
      <p:bgPr>
        <a:solidFill>
          <a:srgbClr val="A4C2F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36933" y="3611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264667" y="1662433"/>
            <a:ext cx="6856800" cy="50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61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483A84-3872-87EE-2693-AB450A30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05D02-BACA-E603-3028-D4D185713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9981F-58EC-3648-4C7A-2080744E9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10FC21-6417-4802-8517-CFB8A0482DF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76D77-A175-742E-AA42-79D10440B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F2FE7-4D8E-874D-158C-D47E684CB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CF124E-661C-4D93-9B95-9A1F943BA6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05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956644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cloudflare.com/1.1.1.1/encryption/dns-over-tl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hyperlink" Target="https://en.wikipedia.org/wiki/DNS_over_TLS" TargetMode="External"/><Relationship Id="rId4" Type="http://schemas.openxmlformats.org/officeDocument/2006/relationships/hyperlink" Target="https://learn.microsoft.com/en-us/troubleshoot/windows-server/networking/dns-works-on-tcp-and-ud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nic.cz/knot/knot-dns/-/tree/v3.5.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developers.cloudflare.com/1.1.1.1/encryption/dns-over-tls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nsviz.net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Domain_Name_System_Security_Extensions#Authenticating_NXDOMAIN_responses_and_NSEC" TargetMode="External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nsviz.net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5" Type="http://schemas.openxmlformats.org/officeDocument/2006/relationships/hyperlink" Target="http://www.msoe.edu/" TargetMode="External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64E1-5610-7CF5-A8AC-8AACF97CA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448" y="1122363"/>
            <a:ext cx="11119104" cy="2133599"/>
          </a:xfrm>
        </p:spPr>
        <p:txBody>
          <a:bodyPr/>
          <a:lstStyle/>
          <a:p>
            <a:r>
              <a:rPr lang="en-US" dirty="0"/>
              <a:t>CSC 3511 Security and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E7C23-6E8B-EC33-B311-21148E5DB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0325" y="3602039"/>
            <a:ext cx="9711350" cy="165576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Week 12, Lecture 2: DNS Security</a:t>
            </a:r>
          </a:p>
        </p:txBody>
      </p:sp>
    </p:spTree>
    <p:extLst>
      <p:ext uri="{BB962C8B-B14F-4D97-AF65-F5344CB8AC3E}">
        <p14:creationId xmlns:p14="http://schemas.microsoft.com/office/powerpoint/2010/main" val="129138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F5334-4EE9-0533-E65D-8230C01F6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4D22-1CA5-81CD-B3FC-95F84409D583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F021A76-9B75-7EC4-8E47-7A3D5AE5660F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Review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 over TLS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DNSSEC: Design Ideas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DNSSEC: Implementation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zh-CN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 Security: Summary</a:t>
            </a: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475" indent="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  <a:buNone/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591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140"/>
          <p:cNvSpPr txBox="1">
            <a:spLocks noGrp="1"/>
          </p:cNvSpPr>
          <p:nvPr>
            <p:ph type="title"/>
          </p:nvPr>
        </p:nvSpPr>
        <p:spPr>
          <a:xfrm>
            <a:off x="415600" y="14341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4400" dirty="0">
                <a:latin typeface="Aptos Display (Headings)"/>
              </a:rPr>
              <a:t>Week 3 Lecture 1: DNS</a:t>
            </a:r>
            <a:endParaRPr sz="4400" dirty="0">
              <a:latin typeface="Aptos Display (Headings)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EA8C154-A5DD-548F-90FA-A99ACE510555}"/>
              </a:ext>
            </a:extLst>
          </p:cNvPr>
          <p:cNvGrpSpPr/>
          <p:nvPr/>
        </p:nvGrpSpPr>
        <p:grpSpPr>
          <a:xfrm>
            <a:off x="5472439" y="860270"/>
            <a:ext cx="6408875" cy="759673"/>
            <a:chOff x="5204229" y="3944978"/>
            <a:chExt cx="6408875" cy="759673"/>
          </a:xfrm>
        </p:grpSpPr>
        <p:sp>
          <p:nvSpPr>
            <p:cNvPr id="3" name="Google Shape;126;p21">
              <a:extLst>
                <a:ext uri="{FF2B5EF4-FFF2-40B4-BE49-F238E27FC236}">
                  <a16:creationId xmlns:a16="http://schemas.microsoft.com/office/drawing/2014/main" id="{9D1A0516-0356-6531-35A3-BEADB2C13996}"/>
                </a:ext>
              </a:extLst>
            </p:cNvPr>
            <p:cNvSpPr txBox="1"/>
            <p:nvPr/>
          </p:nvSpPr>
          <p:spPr>
            <a:xfrm>
              <a:off x="9670604" y="4047578"/>
              <a:ext cx="1942500" cy="6570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 algn="ctr">
                <a:lnSpc>
                  <a:spcPct val="115000"/>
                </a:lnSpc>
                <a:spcAft>
                  <a:spcPts val="1200"/>
                </a:spcAft>
              </a:pPr>
              <a:r>
                <a:rPr lang="en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74.125.25.99</a:t>
              </a:r>
              <a:endParaRPr lang="en" dirty="0"/>
            </a:p>
          </p:txBody>
        </p:sp>
        <p:sp>
          <p:nvSpPr>
            <p:cNvPr id="5" name="Google Shape;127;p21">
              <a:extLst>
                <a:ext uri="{FF2B5EF4-FFF2-40B4-BE49-F238E27FC236}">
                  <a16:creationId xmlns:a16="http://schemas.microsoft.com/office/drawing/2014/main" id="{F5EEF4B1-BF21-C1CD-705E-DA98E1AF3A10}"/>
                </a:ext>
              </a:extLst>
            </p:cNvPr>
            <p:cNvSpPr txBox="1"/>
            <p:nvPr/>
          </p:nvSpPr>
          <p:spPr>
            <a:xfrm>
              <a:off x="5204229" y="4047578"/>
              <a:ext cx="2188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www.google.com</a:t>
              </a:r>
              <a:endParaRPr sz="1800" dirty="0"/>
            </a:p>
          </p:txBody>
        </p:sp>
        <p:cxnSp>
          <p:nvCxnSpPr>
            <p:cNvPr id="6" name="Google Shape;128;p21">
              <a:extLst>
                <a:ext uri="{FF2B5EF4-FFF2-40B4-BE49-F238E27FC236}">
                  <a16:creationId xmlns:a16="http://schemas.microsoft.com/office/drawing/2014/main" id="{BD9749B8-F177-8E23-2845-7A0D761E1254}"/>
                </a:ext>
              </a:extLst>
            </p:cNvPr>
            <p:cNvCxnSpPr>
              <a:cxnSpLocks/>
              <a:endCxn id="3" idx="1"/>
            </p:cNvCxnSpPr>
            <p:nvPr/>
          </p:nvCxnSpPr>
          <p:spPr>
            <a:xfrm>
              <a:off x="7393004" y="4278428"/>
              <a:ext cx="2277600" cy="1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" name="Google Shape;129;p21">
              <a:extLst>
                <a:ext uri="{FF2B5EF4-FFF2-40B4-BE49-F238E27FC236}">
                  <a16:creationId xmlns:a16="http://schemas.microsoft.com/office/drawing/2014/main" id="{FC163E74-908C-B2A3-CDB9-B8F013AB8087}"/>
                </a:ext>
              </a:extLst>
            </p:cNvPr>
            <p:cNvSpPr txBox="1"/>
            <p:nvPr/>
          </p:nvSpPr>
          <p:spPr>
            <a:xfrm>
              <a:off x="7392954" y="3944978"/>
              <a:ext cx="2229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DNS</a:t>
              </a:r>
              <a:endParaRPr/>
            </a:p>
          </p:txBody>
        </p:sp>
      </p:grpSp>
      <p:sp>
        <p:nvSpPr>
          <p:cNvPr id="23" name="Google Shape;73;p16">
            <a:extLst>
              <a:ext uri="{FF2B5EF4-FFF2-40B4-BE49-F238E27FC236}">
                <a16:creationId xmlns:a16="http://schemas.microsoft.com/office/drawing/2014/main" id="{6377A536-B4AF-ED8F-1CB8-AA9391989665}"/>
              </a:ext>
            </a:extLst>
          </p:cNvPr>
          <p:cNvSpPr txBox="1"/>
          <p:nvPr/>
        </p:nvSpPr>
        <p:spPr>
          <a:xfrm>
            <a:off x="7724825" y="3503074"/>
            <a:ext cx="1382004" cy="49256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. (root)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" name="Google Shape;74;p16">
            <a:extLst>
              <a:ext uri="{FF2B5EF4-FFF2-40B4-BE49-F238E27FC236}">
                <a16:creationId xmlns:a16="http://schemas.microsoft.com/office/drawing/2014/main" id="{D37BCC2A-7AAC-7BCB-6081-DAB7D905A818}"/>
              </a:ext>
            </a:extLst>
          </p:cNvPr>
          <p:cNvSpPr txBox="1"/>
          <p:nvPr/>
        </p:nvSpPr>
        <p:spPr>
          <a:xfrm>
            <a:off x="6222910" y="4313280"/>
            <a:ext cx="746088" cy="49256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ourier New"/>
                <a:ea typeface="Courier New"/>
                <a:cs typeface="Courier New"/>
                <a:sym typeface="Courier New"/>
              </a:rPr>
              <a:t>.edu</a:t>
            </a: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75;p16">
            <a:extLst>
              <a:ext uri="{FF2B5EF4-FFF2-40B4-BE49-F238E27FC236}">
                <a16:creationId xmlns:a16="http://schemas.microsoft.com/office/drawing/2014/main" id="{53F22154-0C04-1478-2887-B14D8EF0C334}"/>
              </a:ext>
            </a:extLst>
          </p:cNvPr>
          <p:cNvSpPr txBox="1"/>
          <p:nvPr/>
        </p:nvSpPr>
        <p:spPr>
          <a:xfrm>
            <a:off x="8042783" y="4313280"/>
            <a:ext cx="746088" cy="49256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org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76;p16">
            <a:extLst>
              <a:ext uri="{FF2B5EF4-FFF2-40B4-BE49-F238E27FC236}">
                <a16:creationId xmlns:a16="http://schemas.microsoft.com/office/drawing/2014/main" id="{FA11E613-4DD8-1C9A-3400-3B10A5DDE576}"/>
              </a:ext>
            </a:extLst>
          </p:cNvPr>
          <p:cNvSpPr txBox="1"/>
          <p:nvPr/>
        </p:nvSpPr>
        <p:spPr>
          <a:xfrm>
            <a:off x="9862655" y="4313280"/>
            <a:ext cx="746088" cy="49256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com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77;p16">
            <a:extLst>
              <a:ext uri="{FF2B5EF4-FFF2-40B4-BE49-F238E27FC236}">
                <a16:creationId xmlns:a16="http://schemas.microsoft.com/office/drawing/2014/main" id="{65A5D78A-EFC7-92E5-DC76-559F431795F8}"/>
              </a:ext>
            </a:extLst>
          </p:cNvPr>
          <p:cNvSpPr txBox="1"/>
          <p:nvPr/>
        </p:nvSpPr>
        <p:spPr>
          <a:xfrm>
            <a:off x="10608743" y="5123482"/>
            <a:ext cx="1292259" cy="49256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google.com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78;p16">
            <a:extLst>
              <a:ext uri="{FF2B5EF4-FFF2-40B4-BE49-F238E27FC236}">
                <a16:creationId xmlns:a16="http://schemas.microsoft.com/office/drawing/2014/main" id="{CB6FFA63-1A3E-E0A8-D98B-FFFBDD460E4F}"/>
              </a:ext>
            </a:extLst>
          </p:cNvPr>
          <p:cNvSpPr txBox="1"/>
          <p:nvPr/>
        </p:nvSpPr>
        <p:spPr>
          <a:xfrm>
            <a:off x="9160296" y="5123482"/>
            <a:ext cx="1292259" cy="49256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piazza.com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79;p16">
            <a:extLst>
              <a:ext uri="{FF2B5EF4-FFF2-40B4-BE49-F238E27FC236}">
                <a16:creationId xmlns:a16="http://schemas.microsoft.com/office/drawing/2014/main" id="{533319BD-C861-2E1B-FB13-AD58E36BAAEA}"/>
              </a:ext>
            </a:extLst>
          </p:cNvPr>
          <p:cNvSpPr txBox="1"/>
          <p:nvPr/>
        </p:nvSpPr>
        <p:spPr>
          <a:xfrm>
            <a:off x="7839322" y="5123482"/>
            <a:ext cx="1164674" cy="49256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ourier New"/>
                <a:ea typeface="Courier New"/>
                <a:cs typeface="Courier New"/>
                <a:sym typeface="Courier New"/>
              </a:rPr>
              <a:t>cs101.org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80;p16">
            <a:extLst>
              <a:ext uri="{FF2B5EF4-FFF2-40B4-BE49-F238E27FC236}">
                <a16:creationId xmlns:a16="http://schemas.microsoft.com/office/drawing/2014/main" id="{5602F96F-2B09-AF49-7DEC-3E655519F3F3}"/>
              </a:ext>
            </a:extLst>
          </p:cNvPr>
          <p:cNvSpPr txBox="1"/>
          <p:nvPr/>
        </p:nvSpPr>
        <p:spPr>
          <a:xfrm>
            <a:off x="6724627" y="5123482"/>
            <a:ext cx="958395" cy="49256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Courier New"/>
                <a:ea typeface="Courier New"/>
                <a:cs typeface="Courier New"/>
                <a:sym typeface="Courier New"/>
              </a:rPr>
              <a:t>mit.edu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81;p16">
            <a:extLst>
              <a:ext uri="{FF2B5EF4-FFF2-40B4-BE49-F238E27FC236}">
                <a16:creationId xmlns:a16="http://schemas.microsoft.com/office/drawing/2014/main" id="{AEA24C38-2C80-3686-E809-3CF401C7FE91}"/>
              </a:ext>
            </a:extLst>
          </p:cNvPr>
          <p:cNvSpPr txBox="1"/>
          <p:nvPr/>
        </p:nvSpPr>
        <p:spPr>
          <a:xfrm>
            <a:off x="5576249" y="5123482"/>
            <a:ext cx="992050" cy="49256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>
                <a:latin typeface="Courier New"/>
                <a:ea typeface="Courier New"/>
                <a:cs typeface="Courier New"/>
                <a:sym typeface="Courier New"/>
              </a:rPr>
              <a:t>msoe</a:t>
            </a:r>
            <a:r>
              <a:rPr lang="en" sz="1200" dirty="0">
                <a:latin typeface="Courier New"/>
                <a:ea typeface="Courier New"/>
                <a:cs typeface="Courier New"/>
                <a:sym typeface="Courier New"/>
              </a:rPr>
              <a:t>.edu</a:t>
            </a:r>
            <a:endParaRPr sz="12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82;p16">
            <a:extLst>
              <a:ext uri="{FF2B5EF4-FFF2-40B4-BE49-F238E27FC236}">
                <a16:creationId xmlns:a16="http://schemas.microsoft.com/office/drawing/2014/main" id="{76E132DA-67B1-D0DF-50C9-9471540FAB91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6595814" y="3995635"/>
            <a:ext cx="1820012" cy="3176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" name="Google Shape;83;p16">
            <a:extLst>
              <a:ext uri="{FF2B5EF4-FFF2-40B4-BE49-F238E27FC236}">
                <a16:creationId xmlns:a16="http://schemas.microsoft.com/office/drawing/2014/main" id="{78DB9E7C-3534-CE12-AA45-7E35C6F6E3CC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>
            <a:off x="8415827" y="3995635"/>
            <a:ext cx="0" cy="3176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Google Shape;84;p16">
            <a:extLst>
              <a:ext uri="{FF2B5EF4-FFF2-40B4-BE49-F238E27FC236}">
                <a16:creationId xmlns:a16="http://schemas.microsoft.com/office/drawing/2014/main" id="{E295B1C8-92DA-C465-F9DC-F283B54A6D3B}"/>
              </a:ext>
            </a:extLst>
          </p:cNvPr>
          <p:cNvCxnSpPr>
            <a:cxnSpLocks/>
            <a:stCxn id="23" idx="2"/>
            <a:endCxn id="26" idx="0"/>
          </p:cNvCxnSpPr>
          <p:nvPr/>
        </p:nvCxnSpPr>
        <p:spPr>
          <a:xfrm>
            <a:off x="8415827" y="3995635"/>
            <a:ext cx="1820012" cy="3176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" name="Google Shape;85;p16">
            <a:extLst>
              <a:ext uri="{FF2B5EF4-FFF2-40B4-BE49-F238E27FC236}">
                <a16:creationId xmlns:a16="http://schemas.microsoft.com/office/drawing/2014/main" id="{51D7B197-CCBC-A76C-3B50-CC9CEC778C24}"/>
              </a:ext>
            </a:extLst>
          </p:cNvPr>
          <p:cNvCxnSpPr>
            <a:cxnSpLocks/>
            <a:stCxn id="24" idx="2"/>
            <a:endCxn id="31" idx="0"/>
          </p:cNvCxnSpPr>
          <p:nvPr/>
        </p:nvCxnSpPr>
        <p:spPr>
          <a:xfrm flipH="1">
            <a:off x="6072274" y="4805841"/>
            <a:ext cx="523680" cy="31764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86;p16">
            <a:extLst>
              <a:ext uri="{FF2B5EF4-FFF2-40B4-BE49-F238E27FC236}">
                <a16:creationId xmlns:a16="http://schemas.microsoft.com/office/drawing/2014/main" id="{8C2E5B4C-857F-D773-8B77-743913B478D0}"/>
              </a:ext>
            </a:extLst>
          </p:cNvPr>
          <p:cNvCxnSpPr>
            <a:stCxn id="24" idx="2"/>
            <a:endCxn id="30" idx="0"/>
          </p:cNvCxnSpPr>
          <p:nvPr/>
        </p:nvCxnSpPr>
        <p:spPr>
          <a:xfrm>
            <a:off x="6595954" y="4805841"/>
            <a:ext cx="607787" cy="3176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87;p16">
            <a:extLst>
              <a:ext uri="{FF2B5EF4-FFF2-40B4-BE49-F238E27FC236}">
                <a16:creationId xmlns:a16="http://schemas.microsoft.com/office/drawing/2014/main" id="{BB43C70A-6AF3-C0C3-6120-D35F8BC3284D}"/>
              </a:ext>
            </a:extLst>
          </p:cNvPr>
          <p:cNvCxnSpPr>
            <a:stCxn id="25" idx="2"/>
            <a:endCxn id="29" idx="0"/>
          </p:cNvCxnSpPr>
          <p:nvPr/>
        </p:nvCxnSpPr>
        <p:spPr>
          <a:xfrm>
            <a:off x="8415827" y="4805841"/>
            <a:ext cx="5693" cy="3176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88;p16">
            <a:extLst>
              <a:ext uri="{FF2B5EF4-FFF2-40B4-BE49-F238E27FC236}">
                <a16:creationId xmlns:a16="http://schemas.microsoft.com/office/drawing/2014/main" id="{1CACF8A8-B629-27A7-DBE4-EEBE006A4D6D}"/>
              </a:ext>
            </a:extLst>
          </p:cNvPr>
          <p:cNvCxnSpPr>
            <a:stCxn id="26" idx="2"/>
            <a:endCxn id="28" idx="0"/>
          </p:cNvCxnSpPr>
          <p:nvPr/>
        </p:nvCxnSpPr>
        <p:spPr>
          <a:xfrm flipH="1">
            <a:off x="9806397" y="4805841"/>
            <a:ext cx="429302" cy="3176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" name="Google Shape;89;p16">
            <a:extLst>
              <a:ext uri="{FF2B5EF4-FFF2-40B4-BE49-F238E27FC236}">
                <a16:creationId xmlns:a16="http://schemas.microsoft.com/office/drawing/2014/main" id="{12133E81-2E17-3F0F-208F-8A12567B6037}"/>
              </a:ext>
            </a:extLst>
          </p:cNvPr>
          <p:cNvCxnSpPr>
            <a:stCxn id="26" idx="2"/>
            <a:endCxn id="27" idx="0"/>
          </p:cNvCxnSpPr>
          <p:nvPr/>
        </p:nvCxnSpPr>
        <p:spPr>
          <a:xfrm>
            <a:off x="10235699" y="4805841"/>
            <a:ext cx="1019341" cy="317612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18672F0-72D1-DA6B-E314-440564D425E8}"/>
              </a:ext>
            </a:extLst>
          </p:cNvPr>
          <p:cNvSpPr txBox="1"/>
          <p:nvPr/>
        </p:nvSpPr>
        <p:spPr>
          <a:xfrm>
            <a:off x="9474084" y="3518520"/>
            <a:ext cx="771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BF2818-CBBD-EC5F-B7C2-864D1495CC85}"/>
              </a:ext>
            </a:extLst>
          </p:cNvPr>
          <p:cNvSpPr txBox="1"/>
          <p:nvPr/>
        </p:nvSpPr>
        <p:spPr>
          <a:xfrm>
            <a:off x="10859576" y="4328727"/>
            <a:ext cx="65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TLD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41FBC7-6B75-FBB9-1C29-CBCC9FA8A1DF}"/>
              </a:ext>
            </a:extLst>
          </p:cNvPr>
          <p:cNvSpPr txBox="1"/>
          <p:nvPr/>
        </p:nvSpPr>
        <p:spPr>
          <a:xfrm>
            <a:off x="7527594" y="5651646"/>
            <a:ext cx="1835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Authoritative</a:t>
            </a:r>
          </a:p>
        </p:txBody>
      </p:sp>
      <p:grpSp>
        <p:nvGrpSpPr>
          <p:cNvPr id="59" name="Google Shape;487;p35">
            <a:extLst>
              <a:ext uri="{FF2B5EF4-FFF2-40B4-BE49-F238E27FC236}">
                <a16:creationId xmlns:a16="http://schemas.microsoft.com/office/drawing/2014/main" id="{E802887C-9380-3598-B9B4-0DCECE4AF3F4}"/>
              </a:ext>
            </a:extLst>
          </p:cNvPr>
          <p:cNvGrpSpPr/>
          <p:nvPr/>
        </p:nvGrpSpPr>
        <p:grpSpPr>
          <a:xfrm>
            <a:off x="1397747" y="3276833"/>
            <a:ext cx="410110" cy="762900"/>
            <a:chOff x="1047525" y="2049228"/>
            <a:chExt cx="410110" cy="762900"/>
          </a:xfrm>
        </p:grpSpPr>
        <p:cxnSp>
          <p:nvCxnSpPr>
            <p:cNvPr id="60" name="Google Shape;488;p35">
              <a:extLst>
                <a:ext uri="{FF2B5EF4-FFF2-40B4-BE49-F238E27FC236}">
                  <a16:creationId xmlns:a16="http://schemas.microsoft.com/office/drawing/2014/main" id="{4EE476E2-7AE5-B8FA-F66A-35F903B796A2}"/>
                </a:ext>
              </a:extLst>
            </p:cNvPr>
            <p:cNvCxnSpPr/>
            <p:nvPr/>
          </p:nvCxnSpPr>
          <p:spPr>
            <a:xfrm rot="10800000">
              <a:off x="1047525" y="2049228"/>
              <a:ext cx="0" cy="762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1" name="Google Shape;489;p35">
              <a:extLst>
                <a:ext uri="{FF2B5EF4-FFF2-40B4-BE49-F238E27FC236}">
                  <a16:creationId xmlns:a16="http://schemas.microsoft.com/office/drawing/2014/main" id="{45EBE4E2-2A5D-7270-F53C-B4ADCE11AEDA}"/>
                </a:ext>
              </a:extLst>
            </p:cNvPr>
            <p:cNvSpPr txBox="1"/>
            <p:nvPr/>
          </p:nvSpPr>
          <p:spPr>
            <a:xfrm>
              <a:off x="1047535" y="2174852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" name="Google Shape;450;p34">
            <a:extLst>
              <a:ext uri="{FF2B5EF4-FFF2-40B4-BE49-F238E27FC236}">
                <a16:creationId xmlns:a16="http://schemas.microsoft.com/office/drawing/2014/main" id="{2A5C849E-2DF8-DE32-A1DE-342E57E2807C}"/>
              </a:ext>
            </a:extLst>
          </p:cNvPr>
          <p:cNvGrpSpPr/>
          <p:nvPr/>
        </p:nvGrpSpPr>
        <p:grpSpPr>
          <a:xfrm>
            <a:off x="1932933" y="3489037"/>
            <a:ext cx="5683861" cy="2250430"/>
            <a:chOff x="1528696" y="2423720"/>
            <a:chExt cx="5683861" cy="2250430"/>
          </a:xfrm>
        </p:grpSpPr>
        <p:cxnSp>
          <p:nvCxnSpPr>
            <p:cNvPr id="63" name="Google Shape;451;p34">
              <a:extLst>
                <a:ext uri="{FF2B5EF4-FFF2-40B4-BE49-F238E27FC236}">
                  <a16:creationId xmlns:a16="http://schemas.microsoft.com/office/drawing/2014/main" id="{DC44A992-327C-E8EF-258D-3F76242B39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4325" y="2542148"/>
              <a:ext cx="5559032" cy="574005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92" name="Google Shape;452;p34">
              <a:extLst>
                <a:ext uri="{FF2B5EF4-FFF2-40B4-BE49-F238E27FC236}">
                  <a16:creationId xmlns:a16="http://schemas.microsoft.com/office/drawing/2014/main" id="{70686612-46DC-8BAE-C914-4DD2D13880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4325" y="2722260"/>
              <a:ext cx="5648232" cy="54854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793" name="Google Shape;453;p34">
              <a:extLst>
                <a:ext uri="{FF2B5EF4-FFF2-40B4-BE49-F238E27FC236}">
                  <a16:creationId xmlns:a16="http://schemas.microsoft.com/office/drawing/2014/main" id="{F1AD48E4-E835-CCA0-EF4B-97ECDEDA49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7603" y="3384743"/>
              <a:ext cx="4211070" cy="269162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94" name="Google Shape;454;p34">
              <a:extLst>
                <a:ext uri="{FF2B5EF4-FFF2-40B4-BE49-F238E27FC236}">
                  <a16:creationId xmlns:a16="http://schemas.microsoft.com/office/drawing/2014/main" id="{EDDF74BA-4333-CCE3-E5FC-ABB99DE7B4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8696" y="3543042"/>
              <a:ext cx="4183740" cy="246533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795" name="Google Shape;455;p34">
              <a:extLst>
                <a:ext uri="{FF2B5EF4-FFF2-40B4-BE49-F238E27FC236}">
                  <a16:creationId xmlns:a16="http://schemas.microsoft.com/office/drawing/2014/main" id="{46699C03-6F44-9DA0-329A-4F052D18FB7D}"/>
                </a:ext>
              </a:extLst>
            </p:cNvPr>
            <p:cNvCxnSpPr/>
            <p:nvPr/>
          </p:nvCxnSpPr>
          <p:spPr>
            <a:xfrm>
              <a:off x="1628275" y="4059050"/>
              <a:ext cx="3377100" cy="271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96" name="Google Shape;456;p34">
              <a:extLst>
                <a:ext uri="{FF2B5EF4-FFF2-40B4-BE49-F238E27FC236}">
                  <a16:creationId xmlns:a16="http://schemas.microsoft.com/office/drawing/2014/main" id="{C1DA7BE1-47AA-11B4-15A1-CA516384397A}"/>
                </a:ext>
              </a:extLst>
            </p:cNvPr>
            <p:cNvCxnSpPr/>
            <p:nvPr/>
          </p:nvCxnSpPr>
          <p:spPr>
            <a:xfrm>
              <a:off x="1528700" y="4180880"/>
              <a:ext cx="3377100" cy="271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1797" name="Google Shape;457;p34">
              <a:extLst>
                <a:ext uri="{FF2B5EF4-FFF2-40B4-BE49-F238E27FC236}">
                  <a16:creationId xmlns:a16="http://schemas.microsoft.com/office/drawing/2014/main" id="{74818782-B753-1B7D-FCD7-A43004D2DCBB}"/>
                </a:ext>
              </a:extLst>
            </p:cNvPr>
            <p:cNvSpPr txBox="1"/>
            <p:nvPr/>
          </p:nvSpPr>
          <p:spPr>
            <a:xfrm>
              <a:off x="3532997" y="3860291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8" name="Google Shape;458;p34">
              <a:extLst>
                <a:ext uri="{FF2B5EF4-FFF2-40B4-BE49-F238E27FC236}">
                  <a16:creationId xmlns:a16="http://schemas.microsoft.com/office/drawing/2014/main" id="{CD138E6C-1030-44A6-59D8-111851D8C110}"/>
                </a:ext>
              </a:extLst>
            </p:cNvPr>
            <p:cNvSpPr txBox="1"/>
            <p:nvPr/>
          </p:nvSpPr>
          <p:spPr>
            <a:xfrm>
              <a:off x="3505531" y="4277550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459;p34">
              <a:extLst>
                <a:ext uri="{FF2B5EF4-FFF2-40B4-BE49-F238E27FC236}">
                  <a16:creationId xmlns:a16="http://schemas.microsoft.com/office/drawing/2014/main" id="{C002A164-0395-4285-D3B6-6684388D7D20}"/>
                </a:ext>
              </a:extLst>
            </p:cNvPr>
            <p:cNvSpPr txBox="1"/>
            <p:nvPr/>
          </p:nvSpPr>
          <p:spPr>
            <a:xfrm>
              <a:off x="3677935" y="3193743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0" name="Google Shape;460;p34">
              <a:extLst>
                <a:ext uri="{FF2B5EF4-FFF2-40B4-BE49-F238E27FC236}">
                  <a16:creationId xmlns:a16="http://schemas.microsoft.com/office/drawing/2014/main" id="{6AB18B79-AE6D-875A-31DF-1B9B0A053357}"/>
                </a:ext>
              </a:extLst>
            </p:cNvPr>
            <p:cNvSpPr txBox="1"/>
            <p:nvPr/>
          </p:nvSpPr>
          <p:spPr>
            <a:xfrm>
              <a:off x="3730313" y="3612838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461;p34">
              <a:extLst>
                <a:ext uri="{FF2B5EF4-FFF2-40B4-BE49-F238E27FC236}">
                  <a16:creationId xmlns:a16="http://schemas.microsoft.com/office/drawing/2014/main" id="{EC233146-F3D5-99DD-17CC-0DB4D383689B}"/>
                </a:ext>
              </a:extLst>
            </p:cNvPr>
            <p:cNvSpPr txBox="1"/>
            <p:nvPr/>
          </p:nvSpPr>
          <p:spPr>
            <a:xfrm>
              <a:off x="3928768" y="2896695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2" name="Google Shape;462;p34">
              <a:extLst>
                <a:ext uri="{FF2B5EF4-FFF2-40B4-BE49-F238E27FC236}">
                  <a16:creationId xmlns:a16="http://schemas.microsoft.com/office/drawing/2014/main" id="{31923941-593E-8011-C15C-7EF60AA9C7DA}"/>
                </a:ext>
              </a:extLst>
            </p:cNvPr>
            <p:cNvSpPr txBox="1"/>
            <p:nvPr/>
          </p:nvSpPr>
          <p:spPr>
            <a:xfrm>
              <a:off x="3656980" y="2423720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3" name="Google Shape;418;p33">
            <a:extLst>
              <a:ext uri="{FF2B5EF4-FFF2-40B4-BE49-F238E27FC236}">
                <a16:creationId xmlns:a16="http://schemas.microsoft.com/office/drawing/2014/main" id="{933E8F12-FB21-0143-01B8-5DF2EB9AEAF1}"/>
              </a:ext>
            </a:extLst>
          </p:cNvPr>
          <p:cNvSpPr txBox="1"/>
          <p:nvPr/>
        </p:nvSpPr>
        <p:spPr>
          <a:xfrm>
            <a:off x="415600" y="2326827"/>
            <a:ext cx="1417320" cy="90543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Stub Resolver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(Laptop)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04" name="Google Shape;422;p33">
            <a:extLst>
              <a:ext uri="{FF2B5EF4-FFF2-40B4-BE49-F238E27FC236}">
                <a16:creationId xmlns:a16="http://schemas.microsoft.com/office/drawing/2014/main" id="{FC7525E5-1884-B64D-A2FC-30A2E67173AC}"/>
              </a:ext>
            </a:extLst>
          </p:cNvPr>
          <p:cNvGrpSpPr/>
          <p:nvPr/>
        </p:nvGrpSpPr>
        <p:grpSpPr>
          <a:xfrm>
            <a:off x="477860" y="3276832"/>
            <a:ext cx="410100" cy="762900"/>
            <a:chOff x="258935" y="2049228"/>
            <a:chExt cx="410100" cy="762900"/>
          </a:xfrm>
        </p:grpSpPr>
        <p:sp>
          <p:nvSpPr>
            <p:cNvPr id="1805" name="Google Shape;423;p33">
              <a:extLst>
                <a:ext uri="{FF2B5EF4-FFF2-40B4-BE49-F238E27FC236}">
                  <a16:creationId xmlns:a16="http://schemas.microsoft.com/office/drawing/2014/main" id="{02DE1609-E59F-E36F-D9C4-C37C662A3C3D}"/>
                </a:ext>
              </a:extLst>
            </p:cNvPr>
            <p:cNvSpPr txBox="1"/>
            <p:nvPr/>
          </p:nvSpPr>
          <p:spPr>
            <a:xfrm>
              <a:off x="258935" y="2174852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06" name="Google Shape;424;p33">
              <a:extLst>
                <a:ext uri="{FF2B5EF4-FFF2-40B4-BE49-F238E27FC236}">
                  <a16:creationId xmlns:a16="http://schemas.microsoft.com/office/drawing/2014/main" id="{01AA2CA5-8472-3495-9570-E66444CC6BA3}"/>
                </a:ext>
              </a:extLst>
            </p:cNvPr>
            <p:cNvCxnSpPr/>
            <p:nvPr/>
          </p:nvCxnSpPr>
          <p:spPr>
            <a:xfrm rot="10800000">
              <a:off x="530725" y="2049228"/>
              <a:ext cx="0" cy="762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</p:grpSp>
      <p:sp>
        <p:nvSpPr>
          <p:cNvPr id="1807" name="Google Shape;425;p33">
            <a:extLst>
              <a:ext uri="{FF2B5EF4-FFF2-40B4-BE49-F238E27FC236}">
                <a16:creationId xmlns:a16="http://schemas.microsoft.com/office/drawing/2014/main" id="{4B4AF7B7-F60D-F5C9-E6CE-26E00444878F}"/>
              </a:ext>
            </a:extLst>
          </p:cNvPr>
          <p:cNvSpPr txBox="1"/>
          <p:nvPr/>
        </p:nvSpPr>
        <p:spPr>
          <a:xfrm>
            <a:off x="415600" y="4084304"/>
            <a:ext cx="1417320" cy="1539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Recursive Resolver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Courier New"/>
                <a:ea typeface="Calibri"/>
                <a:cs typeface="Courier New"/>
                <a:sym typeface="Courier New"/>
              </a:rPr>
              <a:t>(Router)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14" name="Group 1813">
            <a:extLst>
              <a:ext uri="{FF2B5EF4-FFF2-40B4-BE49-F238E27FC236}">
                <a16:creationId xmlns:a16="http://schemas.microsoft.com/office/drawing/2014/main" id="{7B1E6F8D-670D-1998-A0BF-530989B11DE9}"/>
              </a:ext>
            </a:extLst>
          </p:cNvPr>
          <p:cNvGrpSpPr/>
          <p:nvPr/>
        </p:nvGrpSpPr>
        <p:grpSpPr>
          <a:xfrm>
            <a:off x="3903971" y="2010606"/>
            <a:ext cx="4114800" cy="1647676"/>
            <a:chOff x="5595991" y="1146320"/>
            <a:chExt cx="4114800" cy="1647676"/>
          </a:xfrm>
        </p:grpSpPr>
        <p:cxnSp>
          <p:nvCxnSpPr>
            <p:cNvPr id="1815" name="Google Shape;430;p34">
              <a:extLst>
                <a:ext uri="{FF2B5EF4-FFF2-40B4-BE49-F238E27FC236}">
                  <a16:creationId xmlns:a16="http://schemas.microsoft.com/office/drawing/2014/main" id="{C77DE783-68AC-8B1E-612E-56EC96B1DDCE}"/>
                </a:ext>
              </a:extLst>
            </p:cNvPr>
            <p:cNvCxnSpPr>
              <a:cxnSpLocks/>
              <a:stCxn id="1816" idx="2"/>
            </p:cNvCxnSpPr>
            <p:nvPr/>
          </p:nvCxnSpPr>
          <p:spPr>
            <a:xfrm>
              <a:off x="7653391" y="2152160"/>
              <a:ext cx="0" cy="641836"/>
            </a:xfrm>
            <a:prstGeom prst="straightConnector1">
              <a:avLst/>
            </a:pr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16" name="Google Shape;228;p26">
              <a:extLst>
                <a:ext uri="{FF2B5EF4-FFF2-40B4-BE49-F238E27FC236}">
                  <a16:creationId xmlns:a16="http://schemas.microsoft.com/office/drawing/2014/main" id="{BBF70F38-F5A9-47B1-8088-D89D6413B5F9}"/>
                </a:ext>
              </a:extLst>
            </p:cNvPr>
            <p:cNvSpPr txBox="1"/>
            <p:nvPr/>
          </p:nvSpPr>
          <p:spPr>
            <a:xfrm>
              <a:off x="5595991" y="1146320"/>
              <a:ext cx="4114800" cy="1005840"/>
            </a:xfrm>
            <a:prstGeom prst="rect">
              <a:avLst/>
            </a:prstGeom>
            <a:solidFill>
              <a:srgbClr val="FFAB4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DNS queries always start with a request to the root name server, which is responsible for all requests.</a:t>
              </a:r>
              <a:endParaRPr dirty="0"/>
            </a:p>
          </p:txBody>
        </p:sp>
      </p:grpSp>
      <p:grpSp>
        <p:nvGrpSpPr>
          <p:cNvPr id="1817" name="Group 1816">
            <a:extLst>
              <a:ext uri="{FF2B5EF4-FFF2-40B4-BE49-F238E27FC236}">
                <a16:creationId xmlns:a16="http://schemas.microsoft.com/office/drawing/2014/main" id="{6D16DCE8-EFC4-20DE-8411-F1AAE6E6D864}"/>
              </a:ext>
            </a:extLst>
          </p:cNvPr>
          <p:cNvGrpSpPr/>
          <p:nvPr/>
        </p:nvGrpSpPr>
        <p:grpSpPr>
          <a:xfrm>
            <a:off x="1463311" y="5492029"/>
            <a:ext cx="3946301" cy="1104387"/>
            <a:chOff x="2903284" y="5179977"/>
            <a:chExt cx="3946301" cy="1104387"/>
          </a:xfrm>
        </p:grpSpPr>
        <p:sp>
          <p:nvSpPr>
            <p:cNvPr id="1818" name="Google Shape;445;p34">
              <a:extLst>
                <a:ext uri="{FF2B5EF4-FFF2-40B4-BE49-F238E27FC236}">
                  <a16:creationId xmlns:a16="http://schemas.microsoft.com/office/drawing/2014/main" id="{6C173C3F-09CD-ACCD-AD7F-B1896D0EF118}"/>
                </a:ext>
              </a:extLst>
            </p:cNvPr>
            <p:cNvSpPr txBox="1"/>
            <p:nvPr/>
          </p:nvSpPr>
          <p:spPr>
            <a:xfrm>
              <a:off x="2903284" y="5545731"/>
              <a:ext cx="3946301" cy="738633"/>
            </a:xfrm>
            <a:prstGeom prst="rect">
              <a:avLst/>
            </a:prstGeom>
            <a:solidFill>
              <a:srgbClr val="FFAB4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The recursive resolver contacts all the name servers to answer the query</a:t>
              </a:r>
              <a:endParaRPr dirty="0"/>
            </a:p>
          </p:txBody>
        </p:sp>
        <p:cxnSp>
          <p:nvCxnSpPr>
            <p:cNvPr id="1820" name="Google Shape;430;p34">
              <a:extLst>
                <a:ext uri="{FF2B5EF4-FFF2-40B4-BE49-F238E27FC236}">
                  <a16:creationId xmlns:a16="http://schemas.microsoft.com/office/drawing/2014/main" id="{83CC95FD-D010-E8ED-00C3-E373D674D30F}"/>
                </a:ext>
              </a:extLst>
            </p:cNvPr>
            <p:cNvCxnSpPr>
              <a:cxnSpLocks/>
              <a:stCxn id="1818" idx="0"/>
            </p:cNvCxnSpPr>
            <p:nvPr/>
          </p:nvCxnSpPr>
          <p:spPr>
            <a:xfrm flipH="1" flipV="1">
              <a:off x="4876434" y="5179977"/>
              <a:ext cx="1" cy="365754"/>
            </a:xfrm>
            <a:prstGeom prst="straightConnector1">
              <a:avLst/>
            </a:prstGeom>
            <a:noFill/>
            <a:ln w="19050" cap="flat" cmpd="sng">
              <a:solidFill>
                <a:srgbClr val="E69138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9;p140">
            <a:extLst>
              <a:ext uri="{FF2B5EF4-FFF2-40B4-BE49-F238E27FC236}">
                <a16:creationId xmlns:a16="http://schemas.microsoft.com/office/drawing/2014/main" id="{A1BBD3EA-B48A-9405-9D84-E991AC006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3784"/>
            <a:ext cx="11360800" cy="8875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600" dirty="0">
                <a:latin typeface="Aptos Display (Headings)"/>
              </a:rPr>
              <a:t>Week 9 Lecture 1: DNS Cache Poisoning Attacks</a:t>
            </a:r>
            <a:endParaRPr sz="3600" dirty="0">
              <a:latin typeface="Aptos Display (Headings)"/>
            </a:endParaRPr>
          </a:p>
        </p:txBody>
      </p:sp>
      <p:sp>
        <p:nvSpPr>
          <p:cNvPr id="2" name="Google Shape;799;p65">
            <a:extLst>
              <a:ext uri="{FF2B5EF4-FFF2-40B4-BE49-F238E27FC236}">
                <a16:creationId xmlns:a16="http://schemas.microsoft.com/office/drawing/2014/main" id="{D7B3D715-7809-71DA-E759-979617F7D5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664" y="1359210"/>
            <a:ext cx="6621206" cy="46311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" sz="2200" b="1" dirty="0">
                <a:solidFill>
                  <a:srgbClr val="C00000"/>
                </a:solidFill>
                <a:latin typeface="Aptos" panose="020B0004020202020204" pitchFamily="34" charset="0"/>
              </a:rPr>
              <a:t>Cache poisoning attack: </a:t>
            </a:r>
          </a:p>
          <a:p>
            <a:pPr marL="457200" indent="-342900">
              <a:spcAft>
                <a:spcPts val="600"/>
              </a:spcAft>
              <a:buClrTx/>
            </a:pPr>
            <a:r>
              <a:rPr lang="en" sz="2200" dirty="0">
                <a:solidFill>
                  <a:schemeClr val="tx1"/>
                </a:solidFill>
                <a:latin typeface="Aptos" panose="020B0004020202020204" pitchFamily="34" charset="0"/>
              </a:rPr>
              <a:t>Returning a false information into the DNS cache</a:t>
            </a:r>
          </a:p>
          <a:p>
            <a:pPr marL="457200" indent="-342900">
              <a:spcAft>
                <a:spcPts val="600"/>
              </a:spcAft>
              <a:buClrTx/>
            </a:pPr>
            <a:r>
              <a:rPr lang="en" sz="2200" dirty="0">
                <a:solidFill>
                  <a:schemeClr val="tx1"/>
                </a:solidFill>
                <a:latin typeface="Aptos" panose="020B0004020202020204" pitchFamily="34" charset="0"/>
              </a:rPr>
              <a:t>The victim will cache the malicious records, “poisoning” it</a:t>
            </a:r>
          </a:p>
          <a:p>
            <a:pPr marL="457200" indent="-342900">
              <a:spcAft>
                <a:spcPts val="600"/>
              </a:spcAft>
              <a:buClrTx/>
            </a:pPr>
            <a:r>
              <a:rPr lang="en" sz="2200" dirty="0">
                <a:solidFill>
                  <a:schemeClr val="tx1"/>
                </a:solidFill>
                <a:latin typeface="Aptos" panose="020B0004020202020204" pitchFamily="34" charset="0"/>
              </a:rPr>
              <a:t>Later, </a:t>
            </a:r>
            <a:r>
              <a:rPr lang="en-US" sz="2200" dirty="0">
                <a:solidFill>
                  <a:schemeClr val="tx1"/>
                </a:solidFill>
                <a:latin typeface="Aptos" panose="020B0004020202020204" pitchFamily="34" charset="0"/>
              </a:rPr>
              <a:t>DNS queries return an incorrect response, and users are directed to the wrong websites</a:t>
            </a:r>
            <a:endParaRPr lang="en" sz="22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457200" indent="-342900">
              <a:spcAft>
                <a:spcPts val="600"/>
              </a:spcAft>
              <a:buClrTx/>
            </a:pP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Example: Supply a malicious record mapping the attacker’s IP address to a legitimate domain</a:t>
            </a:r>
          </a:p>
          <a:p>
            <a:pPr marL="1066784" lvl="2" indent="-342900">
              <a:spcAft>
                <a:spcPts val="600"/>
              </a:spcAft>
              <a:buClrTx/>
              <a:buSzPts val="1800"/>
              <a:buFont typeface="Arial"/>
              <a:buChar char="●"/>
            </a:pP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Now when the victim visits </a:t>
            </a: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  <a:sym typeface="Courier New"/>
              </a:rPr>
              <a:t>google.com</a:t>
            </a: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, they’ll actually be sending packets to the attacker (</a:t>
            </a:r>
            <a:r>
              <a:rPr lang="en-US" sz="2000" b="1" i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6.6.6.6</a:t>
            </a: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), who can launch the </a:t>
            </a:r>
            <a:r>
              <a:rPr lang="en-US" sz="2000" b="1" dirty="0">
                <a:solidFill>
                  <a:schemeClr val="tx1"/>
                </a:solidFill>
                <a:latin typeface="Aptos" panose="020B0004020202020204" pitchFamily="34" charset="0"/>
              </a:rPr>
              <a:t>MITM attack</a:t>
            </a:r>
            <a:r>
              <a:rPr lang="en-US" sz="2000" dirty="0">
                <a:solidFill>
                  <a:schemeClr val="tx1"/>
                </a:solidFill>
                <a:latin typeface="Aptos" panose="020B0004020202020204" pitchFamily="34" charset="0"/>
              </a:rPr>
              <a:t>!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CA21E93-D989-C3F1-B3AE-0A617C38B1D7}"/>
              </a:ext>
            </a:extLst>
          </p:cNvPr>
          <p:cNvGrpSpPr/>
          <p:nvPr/>
        </p:nvGrpSpPr>
        <p:grpSpPr>
          <a:xfrm>
            <a:off x="6522084" y="541747"/>
            <a:ext cx="5586260" cy="2887253"/>
            <a:chOff x="6522084" y="541747"/>
            <a:chExt cx="5586260" cy="288725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2F9A58D-1CD2-07D5-7AB4-DDE64CAB84F9}"/>
                </a:ext>
              </a:extLst>
            </p:cNvPr>
            <p:cNvGrpSpPr/>
            <p:nvPr/>
          </p:nvGrpSpPr>
          <p:grpSpPr>
            <a:xfrm>
              <a:off x="8017192" y="2540361"/>
              <a:ext cx="685800" cy="888639"/>
              <a:chOff x="7067550" y="2091546"/>
              <a:chExt cx="685800" cy="888639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17A835DC-E0C8-19CA-71CF-01D3B382BA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92315" y="2091546"/>
                <a:ext cx="640080" cy="709012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CA3D94D-5237-B5D7-59FD-FDA0418A8CFF}"/>
                  </a:ext>
                </a:extLst>
              </p:cNvPr>
              <p:cNvSpPr txBox="1"/>
              <p:nvPr/>
            </p:nvSpPr>
            <p:spPr>
              <a:xfrm>
                <a:off x="7067550" y="2733964"/>
                <a:ext cx="6858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/>
                  <a:t>Attacker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D36B9EA-2CBF-0708-17EB-429A77FB59C9}"/>
                </a:ext>
              </a:extLst>
            </p:cNvPr>
            <p:cNvGrpSpPr/>
            <p:nvPr/>
          </p:nvGrpSpPr>
          <p:grpSpPr>
            <a:xfrm>
              <a:off x="7774304" y="1112025"/>
              <a:ext cx="1171575" cy="994140"/>
              <a:chOff x="6182200" y="2971800"/>
              <a:chExt cx="1171575" cy="99414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CAA6738-CE0C-D99E-1DA1-27AEFFAFD22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34166"/>
              <a:stretch/>
            </p:blipFill>
            <p:spPr>
              <a:xfrm>
                <a:off x="6182200" y="2971800"/>
                <a:ext cx="1171575" cy="60198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D94A66-430B-6B95-86DF-6401CFDCFB06}"/>
                  </a:ext>
                </a:extLst>
              </p:cNvPr>
              <p:cNvSpPr txBox="1"/>
              <p:nvPr/>
            </p:nvSpPr>
            <p:spPr>
              <a:xfrm>
                <a:off x="6265067" y="3565830"/>
                <a:ext cx="10058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/>
                  <a:t>Recursive Resolver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B052199-C886-7306-DC78-D0E2A72EE14A}"/>
                </a:ext>
              </a:extLst>
            </p:cNvPr>
            <p:cNvGrpSpPr/>
            <p:nvPr/>
          </p:nvGrpSpPr>
          <p:grpSpPr>
            <a:xfrm>
              <a:off x="10936769" y="1112025"/>
              <a:ext cx="1171575" cy="994140"/>
              <a:chOff x="6182200" y="2971800"/>
              <a:chExt cx="1171575" cy="994140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3725B083-A007-B774-0F14-7217575312B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34166"/>
              <a:stretch/>
            </p:blipFill>
            <p:spPr>
              <a:xfrm>
                <a:off x="6182200" y="2971800"/>
                <a:ext cx="1171575" cy="601980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31CB930-A6DF-C18C-5B8A-B01A94A8270F}"/>
                  </a:ext>
                </a:extLst>
              </p:cNvPr>
              <p:cNvSpPr txBox="1"/>
              <p:nvPr/>
            </p:nvSpPr>
            <p:spPr>
              <a:xfrm>
                <a:off x="6265067" y="3565830"/>
                <a:ext cx="10058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/>
                  <a:t>Authoritative Name Server</a:t>
                </a:r>
              </a:p>
            </p:txBody>
          </p:sp>
        </p:grpSp>
        <p:cxnSp>
          <p:nvCxnSpPr>
            <p:cNvPr id="23" name="Connector: Curved 22">
              <a:extLst>
                <a:ext uri="{FF2B5EF4-FFF2-40B4-BE49-F238E27FC236}">
                  <a16:creationId xmlns:a16="http://schemas.microsoft.com/office/drawing/2014/main" id="{C02F21F4-141A-C9A0-E04C-2D4CFCF26DD8}"/>
                </a:ext>
              </a:extLst>
            </p:cNvPr>
            <p:cNvCxnSpPr>
              <a:stCxn id="10" idx="1"/>
              <a:endCxn id="16" idx="1"/>
            </p:cNvCxnSpPr>
            <p:nvPr/>
          </p:nvCxnSpPr>
          <p:spPr>
            <a:xfrm rot="10800000">
              <a:off x="7774305" y="1413015"/>
              <a:ext cx="267653" cy="1481852"/>
            </a:xfrm>
            <a:prstGeom prst="curvedConnector3">
              <a:avLst>
                <a:gd name="adj1" fmla="val 406524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: Curved 25">
              <a:extLst>
                <a:ext uri="{FF2B5EF4-FFF2-40B4-BE49-F238E27FC236}">
                  <a16:creationId xmlns:a16="http://schemas.microsoft.com/office/drawing/2014/main" id="{1D7F371F-371A-B40A-9396-CA0944E513C7}"/>
                </a:ext>
              </a:extLst>
            </p:cNvPr>
            <p:cNvCxnSpPr>
              <a:stCxn id="10" idx="3"/>
              <a:endCxn id="16" idx="3"/>
            </p:cNvCxnSpPr>
            <p:nvPr/>
          </p:nvCxnSpPr>
          <p:spPr>
            <a:xfrm flipV="1">
              <a:off x="8682037" y="1413015"/>
              <a:ext cx="263842" cy="1481852"/>
            </a:xfrm>
            <a:prstGeom prst="curvedConnector3">
              <a:avLst>
                <a:gd name="adj1" fmla="val 411914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Google Shape;216;p30">
              <a:extLst>
                <a:ext uri="{FF2B5EF4-FFF2-40B4-BE49-F238E27FC236}">
                  <a16:creationId xmlns:a16="http://schemas.microsoft.com/office/drawing/2014/main" id="{A4813E02-F46A-E483-971D-E1C06EA7DED7}"/>
                </a:ext>
              </a:extLst>
            </p:cNvPr>
            <p:cNvSpPr txBox="1"/>
            <p:nvPr/>
          </p:nvSpPr>
          <p:spPr>
            <a:xfrm>
              <a:off x="6522084" y="1926752"/>
              <a:ext cx="1754506" cy="524778"/>
            </a:xfrm>
            <a:prstGeom prst="rect">
              <a:avLst/>
            </a:prstGeom>
            <a:solidFill>
              <a:schemeClr val="bg1"/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FF0000"/>
                  </a:solidFill>
                </a:rPr>
                <a:t>What is the IP address of </a:t>
              </a:r>
              <a:r>
                <a:rPr lang="en" sz="1200" b="1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google.com</a:t>
              </a:r>
              <a:r>
                <a:rPr lang="en" sz="1200" dirty="0">
                  <a:solidFill>
                    <a:srgbClr val="FF0000"/>
                  </a:solidFill>
                </a:rPr>
                <a:t>?</a:t>
              </a:r>
              <a:endParaRPr sz="1200" dirty="0">
                <a:solidFill>
                  <a:srgbClr val="FF0000"/>
                </a:solidFill>
              </a:endParaRPr>
            </a:p>
          </p:txBody>
        </p:sp>
        <p:sp>
          <p:nvSpPr>
            <p:cNvPr id="29" name="Google Shape;216;p30">
              <a:extLst>
                <a:ext uri="{FF2B5EF4-FFF2-40B4-BE49-F238E27FC236}">
                  <a16:creationId xmlns:a16="http://schemas.microsoft.com/office/drawing/2014/main" id="{5E215F67-F279-0322-7962-3DCA1B9DD724}"/>
                </a:ext>
              </a:extLst>
            </p:cNvPr>
            <p:cNvSpPr txBox="1"/>
            <p:nvPr/>
          </p:nvSpPr>
          <p:spPr>
            <a:xfrm>
              <a:off x="8702992" y="1913547"/>
              <a:ext cx="1900716" cy="673148"/>
            </a:xfrm>
            <a:prstGeom prst="rect">
              <a:avLst/>
            </a:prstGeom>
            <a:solidFill>
              <a:schemeClr val="bg1"/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FF0000"/>
                  </a:solidFill>
                </a:rPr>
                <a:t>Hi, I am an authoritative name server. IP address is </a:t>
              </a:r>
              <a:r>
                <a:rPr lang="en" sz="1200" b="1" dirty="0">
                  <a:solidFill>
                    <a:srgbClr val="FF0000"/>
                  </a:solidFill>
                </a:rPr>
                <a:t>6.6.6.6</a:t>
              </a:r>
              <a:endParaRPr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30" name="Google Shape;216;p30">
              <a:extLst>
                <a:ext uri="{FF2B5EF4-FFF2-40B4-BE49-F238E27FC236}">
                  <a16:creationId xmlns:a16="http://schemas.microsoft.com/office/drawing/2014/main" id="{46766E59-3F80-6902-9237-9850DC4F7D9C}"/>
                </a:ext>
              </a:extLst>
            </p:cNvPr>
            <p:cNvSpPr txBox="1"/>
            <p:nvPr/>
          </p:nvSpPr>
          <p:spPr>
            <a:xfrm>
              <a:off x="8945879" y="541747"/>
              <a:ext cx="1900717" cy="497790"/>
            </a:xfrm>
            <a:prstGeom prst="rect">
              <a:avLst/>
            </a:prstGeom>
            <a:solidFill>
              <a:srgbClr val="FFAB4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What is the IP address of </a:t>
              </a:r>
              <a:r>
                <a:rPr lang="en" sz="1200" b="1">
                  <a:latin typeface="Courier New"/>
                  <a:ea typeface="Courier New"/>
                  <a:cs typeface="Courier New"/>
                  <a:sym typeface="Courier New"/>
                </a:rPr>
                <a:t>google.com</a:t>
              </a:r>
              <a:r>
                <a:rPr lang="en" sz="1200"/>
                <a:t>?</a:t>
              </a:r>
              <a:endParaRPr sz="120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3713A4A-D0CF-C582-EE7B-2831FD82578E}"/>
                </a:ext>
              </a:extLst>
            </p:cNvPr>
            <p:cNvCxnSpPr>
              <a:cxnSpLocks/>
            </p:cNvCxnSpPr>
            <p:nvPr/>
          </p:nvCxnSpPr>
          <p:spPr>
            <a:xfrm>
              <a:off x="9090660" y="1268684"/>
              <a:ext cx="184610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15C6DF0-90F8-0141-EF52-7198B90EB4E1}"/>
                </a:ext>
              </a:extLst>
            </p:cNvPr>
            <p:cNvCxnSpPr>
              <a:cxnSpLocks/>
              <a:stCxn id="20" idx="1"/>
            </p:cNvCxnSpPr>
            <p:nvPr/>
          </p:nvCxnSpPr>
          <p:spPr>
            <a:xfrm flipH="1">
              <a:off x="9570720" y="1413015"/>
              <a:ext cx="136604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Google Shape;219;p30">
              <a:extLst>
                <a:ext uri="{FF2B5EF4-FFF2-40B4-BE49-F238E27FC236}">
                  <a16:creationId xmlns:a16="http://schemas.microsoft.com/office/drawing/2014/main" id="{31C2C182-84C9-CC04-9E14-60F711B7B456}"/>
                </a:ext>
              </a:extLst>
            </p:cNvPr>
            <p:cNvSpPr txBox="1"/>
            <p:nvPr/>
          </p:nvSpPr>
          <p:spPr>
            <a:xfrm>
              <a:off x="9697516" y="1470012"/>
              <a:ext cx="1149080" cy="285091"/>
            </a:xfrm>
            <a:prstGeom prst="rect">
              <a:avLst/>
            </a:prstGeom>
            <a:solidFill>
              <a:srgbClr val="FFAB4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2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8.8.8.8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E10F512-3306-B273-169F-8911D7BC7288}"/>
              </a:ext>
            </a:extLst>
          </p:cNvPr>
          <p:cNvGrpSpPr/>
          <p:nvPr/>
        </p:nvGrpSpPr>
        <p:grpSpPr>
          <a:xfrm>
            <a:off x="7458992" y="3537285"/>
            <a:ext cx="4586804" cy="3168251"/>
            <a:chOff x="7687669" y="3689749"/>
            <a:chExt cx="4586804" cy="3168251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C2FCC74-8B0D-33CB-E835-18FA7CC36A15}"/>
                </a:ext>
              </a:extLst>
            </p:cNvPr>
            <p:cNvGrpSpPr/>
            <p:nvPr/>
          </p:nvGrpSpPr>
          <p:grpSpPr>
            <a:xfrm>
              <a:off x="10876761" y="4157805"/>
              <a:ext cx="1171575" cy="994140"/>
              <a:chOff x="6182200" y="2971800"/>
              <a:chExt cx="1171575" cy="994140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A5FBC873-658C-C6BB-0507-F6272560EE6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34166"/>
              <a:stretch/>
            </p:blipFill>
            <p:spPr>
              <a:xfrm>
                <a:off x="6182200" y="2971800"/>
                <a:ext cx="1171575" cy="601980"/>
              </a:xfrm>
              <a:prstGeom prst="rect">
                <a:avLst/>
              </a:prstGeom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26443B5-78F5-030C-8BA6-A382C20B8D8E}"/>
                  </a:ext>
                </a:extLst>
              </p:cNvPr>
              <p:cNvSpPr txBox="1"/>
              <p:nvPr/>
            </p:nvSpPr>
            <p:spPr>
              <a:xfrm>
                <a:off x="6265067" y="3565830"/>
                <a:ext cx="10058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/>
                  <a:t>Recursive Resolver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6FEBEBB-918D-7429-877E-2A6CEB061043}"/>
                </a:ext>
              </a:extLst>
            </p:cNvPr>
            <p:cNvGrpSpPr/>
            <p:nvPr/>
          </p:nvGrpSpPr>
          <p:grpSpPr>
            <a:xfrm>
              <a:off x="7888604" y="4104041"/>
              <a:ext cx="914400" cy="785788"/>
              <a:chOff x="8041957" y="4209555"/>
              <a:chExt cx="914400" cy="785788"/>
            </a:xfrm>
          </p:grpSpPr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6639A582-E7D3-1C75-A26D-B25FA5FEDF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41957" y="4209555"/>
                <a:ext cx="914400" cy="642938"/>
              </a:xfrm>
              <a:prstGeom prst="rect">
                <a:avLst/>
              </a:prstGeom>
            </p:spPr>
          </p:pic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ADDE21A-991A-6329-65A7-A053CC34D67E}"/>
                  </a:ext>
                </a:extLst>
              </p:cNvPr>
              <p:cNvSpPr txBox="1"/>
              <p:nvPr/>
            </p:nvSpPr>
            <p:spPr>
              <a:xfrm>
                <a:off x="8156257" y="4749122"/>
                <a:ext cx="68580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00"/>
                  <a:t>User</a:t>
                </a:r>
              </a:p>
            </p:txBody>
          </p:sp>
        </p:grpSp>
        <p:sp>
          <p:nvSpPr>
            <p:cNvPr id="49" name="Google Shape;216;p30">
              <a:extLst>
                <a:ext uri="{FF2B5EF4-FFF2-40B4-BE49-F238E27FC236}">
                  <a16:creationId xmlns:a16="http://schemas.microsoft.com/office/drawing/2014/main" id="{D0401456-8DC7-4855-B2C1-6C7BF31451F0}"/>
                </a:ext>
              </a:extLst>
            </p:cNvPr>
            <p:cNvSpPr txBox="1"/>
            <p:nvPr/>
          </p:nvSpPr>
          <p:spPr>
            <a:xfrm>
              <a:off x="8864996" y="3689749"/>
              <a:ext cx="1900717" cy="497790"/>
            </a:xfrm>
            <a:prstGeom prst="rect">
              <a:avLst/>
            </a:prstGeom>
            <a:solidFill>
              <a:srgbClr val="FFAB4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/>
                <a:t>What is the IP address of </a:t>
              </a:r>
              <a:r>
                <a:rPr lang="en" sz="1200" b="1" dirty="0">
                  <a:latin typeface="Courier New"/>
                  <a:ea typeface="Courier New"/>
                  <a:cs typeface="Courier New"/>
                  <a:sym typeface="Courier New"/>
                </a:rPr>
                <a:t>google.com</a:t>
              </a:r>
              <a:r>
                <a:rPr lang="en" sz="1200" dirty="0"/>
                <a:t>?</a:t>
              </a:r>
              <a:endParaRPr sz="1200" dirty="0"/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BF754B2F-47B5-2B83-2F65-797598831306}"/>
                </a:ext>
              </a:extLst>
            </p:cNvPr>
            <p:cNvCxnSpPr>
              <a:cxnSpLocks/>
            </p:cNvCxnSpPr>
            <p:nvPr/>
          </p:nvCxnSpPr>
          <p:spPr>
            <a:xfrm>
              <a:off x="8926911" y="4333188"/>
              <a:ext cx="184610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680B32F-D787-4D12-5EDF-118803C432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6911" y="4477519"/>
              <a:ext cx="1846109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Google Shape;219;p30">
              <a:extLst>
                <a:ext uri="{FF2B5EF4-FFF2-40B4-BE49-F238E27FC236}">
                  <a16:creationId xmlns:a16="http://schemas.microsoft.com/office/drawing/2014/main" id="{B760E6C0-0039-399A-780B-F8C94423242F}"/>
                </a:ext>
              </a:extLst>
            </p:cNvPr>
            <p:cNvSpPr txBox="1"/>
            <p:nvPr/>
          </p:nvSpPr>
          <p:spPr>
            <a:xfrm>
              <a:off x="9145904" y="4566944"/>
              <a:ext cx="1429000" cy="769891"/>
            </a:xfrm>
            <a:prstGeom prst="rect">
              <a:avLst/>
            </a:prstGeom>
            <a:solidFill>
              <a:srgbClr val="FFAB40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 dirty="0">
                  <a:solidFill>
                    <a:srgbClr val="C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6.6.6.6 (cached)</a:t>
              </a:r>
              <a:endParaRPr dirty="0">
                <a:solidFill>
                  <a:srgbClr val="C00000"/>
                </a:solidFill>
              </a:endParaRPr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E00A820A-F1B0-D888-7D1C-0436BA7CF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45741" y="6010275"/>
              <a:ext cx="1028700" cy="847725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1D4DAFF0-C55D-4D93-2F67-38FE07DD1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96776" y="5990370"/>
              <a:ext cx="1028700" cy="866775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CE9CB3F-29EE-0E23-8818-DA928DD36857}"/>
                </a:ext>
              </a:extLst>
            </p:cNvPr>
            <p:cNvSpPr txBox="1"/>
            <p:nvPr/>
          </p:nvSpPr>
          <p:spPr>
            <a:xfrm>
              <a:off x="7687669" y="5659725"/>
              <a:ext cx="13448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>
                  <a:solidFill>
                    <a:srgbClr val="FF0000"/>
                  </a:solidFill>
                </a:rPr>
                <a:t>Malicious website</a:t>
              </a:r>
            </a:p>
            <a:p>
              <a:pPr algn="ctr"/>
              <a:r>
                <a:rPr lang="en-US" sz="1000">
                  <a:solidFill>
                    <a:srgbClr val="FF0000"/>
                  </a:solidFill>
                </a:rPr>
                <a:t>IP address: 6.6.6.6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6AF3F73-4EEF-452E-D3D3-791931EF51F8}"/>
                </a:ext>
              </a:extLst>
            </p:cNvPr>
            <p:cNvSpPr txBox="1"/>
            <p:nvPr/>
          </p:nvSpPr>
          <p:spPr>
            <a:xfrm>
              <a:off x="10747779" y="5659725"/>
              <a:ext cx="15266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google.com</a:t>
              </a:r>
            </a:p>
            <a:p>
              <a:pPr algn="ctr"/>
              <a:r>
                <a:rPr lang="en-US" sz="1000"/>
                <a:t>IP address:8.8.8.8 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AD36ACA3-11FE-823D-2AD0-05F5F7ABB149}"/>
                </a:ext>
              </a:extLst>
            </p:cNvPr>
            <p:cNvCxnSpPr>
              <a:cxnSpLocks/>
              <a:stCxn id="43" idx="2"/>
              <a:endCxn id="58" idx="0"/>
            </p:cNvCxnSpPr>
            <p:nvPr/>
          </p:nvCxnSpPr>
          <p:spPr>
            <a:xfrm>
              <a:off x="8345804" y="4889829"/>
              <a:ext cx="14287" cy="76989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723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9;p140">
            <a:extLst>
              <a:ext uri="{FF2B5EF4-FFF2-40B4-BE49-F238E27FC236}">
                <a16:creationId xmlns:a16="http://schemas.microsoft.com/office/drawing/2014/main" id="{A1BBD3EA-B48A-9405-9D84-E991AC006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47634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>
                <a:latin typeface="Aptos Display (Headings)"/>
              </a:rPr>
              <a:t>Week 9 Lecture 1: </a:t>
            </a:r>
            <a:r>
              <a:rPr lang="en" sz="4400" dirty="0">
                <a:latin typeface="Aptos Display (Headings)"/>
              </a:rPr>
              <a:t>Kaminsky Attack</a:t>
            </a:r>
            <a:endParaRPr sz="4400" dirty="0">
              <a:latin typeface="Aptos Display (Headings)"/>
            </a:endParaRPr>
          </a:p>
        </p:txBody>
      </p:sp>
      <p:sp>
        <p:nvSpPr>
          <p:cNvPr id="5" name="Google Shape;134;p22">
            <a:extLst>
              <a:ext uri="{FF2B5EF4-FFF2-40B4-BE49-F238E27FC236}">
                <a16:creationId xmlns:a16="http://schemas.microsoft.com/office/drawing/2014/main" id="{BCB25148-7782-826F-A2D4-223D14C16520}"/>
              </a:ext>
            </a:extLst>
          </p:cNvPr>
          <p:cNvSpPr txBox="1"/>
          <p:nvPr/>
        </p:nvSpPr>
        <p:spPr>
          <a:xfrm>
            <a:off x="9595976" y="1748433"/>
            <a:ext cx="1238100" cy="364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rPr>
              <a:t>.</a:t>
            </a:r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(root)</a:t>
            </a:r>
            <a:endParaRPr dirty="0">
              <a:latin typeface="Courier New" panose="02070309020205020404" pitchFamily="49" charset="0"/>
              <a:ea typeface="Courier New"/>
              <a:cs typeface="Courier New" panose="02070309020205020404" pitchFamily="49" charset="0"/>
              <a:sym typeface="Courier New"/>
            </a:endParaRPr>
          </a:p>
        </p:txBody>
      </p:sp>
      <p:sp>
        <p:nvSpPr>
          <p:cNvPr id="6" name="Google Shape;135;p22">
            <a:extLst>
              <a:ext uri="{FF2B5EF4-FFF2-40B4-BE49-F238E27FC236}">
                <a16:creationId xmlns:a16="http://schemas.microsoft.com/office/drawing/2014/main" id="{7BA7CE88-EDFF-6E70-9B76-20C60612CDBE}"/>
              </a:ext>
            </a:extLst>
          </p:cNvPr>
          <p:cNvSpPr txBox="1"/>
          <p:nvPr/>
        </p:nvSpPr>
        <p:spPr>
          <a:xfrm>
            <a:off x="9957635" y="2760933"/>
            <a:ext cx="731520" cy="393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.com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36;p22">
            <a:extLst>
              <a:ext uri="{FF2B5EF4-FFF2-40B4-BE49-F238E27FC236}">
                <a16:creationId xmlns:a16="http://schemas.microsoft.com/office/drawing/2014/main" id="{DE3B42A2-9AE0-C962-629E-8695BD6817A8}"/>
              </a:ext>
            </a:extLst>
          </p:cNvPr>
          <p:cNvSpPr txBox="1"/>
          <p:nvPr/>
        </p:nvSpPr>
        <p:spPr>
          <a:xfrm>
            <a:off x="9627013" y="3685000"/>
            <a:ext cx="1385235" cy="393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latin typeface="Courier New"/>
                <a:ea typeface="Courier New"/>
                <a:cs typeface="Courier New"/>
                <a:sym typeface="Courier New"/>
              </a:rPr>
              <a:t>google.com</a:t>
            </a:r>
            <a:endParaRPr sz="1400"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137;p22">
            <a:extLst>
              <a:ext uri="{FF2B5EF4-FFF2-40B4-BE49-F238E27FC236}">
                <a16:creationId xmlns:a16="http://schemas.microsoft.com/office/drawing/2014/main" id="{9B852C69-8537-5A27-E608-2A26D35C26AA}"/>
              </a:ext>
            </a:extLst>
          </p:cNvPr>
          <p:cNvCxnSpPr>
            <a:cxnSpLocks/>
          </p:cNvCxnSpPr>
          <p:nvPr/>
        </p:nvCxnSpPr>
        <p:spPr>
          <a:xfrm>
            <a:off x="10316929" y="2106937"/>
            <a:ext cx="0" cy="65399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Google Shape;138;p22">
            <a:extLst>
              <a:ext uri="{FF2B5EF4-FFF2-40B4-BE49-F238E27FC236}">
                <a16:creationId xmlns:a16="http://schemas.microsoft.com/office/drawing/2014/main" id="{5DA6BE75-02DB-0719-9977-680149372588}"/>
              </a:ext>
            </a:extLst>
          </p:cNvPr>
          <p:cNvCxnSpPr>
            <a:cxnSpLocks/>
          </p:cNvCxnSpPr>
          <p:nvPr/>
        </p:nvCxnSpPr>
        <p:spPr>
          <a:xfrm>
            <a:off x="10316929" y="3154533"/>
            <a:ext cx="0" cy="51683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Google Shape;140;p22">
            <a:extLst>
              <a:ext uri="{FF2B5EF4-FFF2-40B4-BE49-F238E27FC236}">
                <a16:creationId xmlns:a16="http://schemas.microsoft.com/office/drawing/2014/main" id="{3F417A30-5618-9BD8-F831-46ADE325E3F2}"/>
              </a:ext>
            </a:extLst>
          </p:cNvPr>
          <p:cNvSpPr txBox="1"/>
          <p:nvPr/>
        </p:nvSpPr>
        <p:spPr>
          <a:xfrm>
            <a:off x="3770434" y="2145627"/>
            <a:ext cx="1424101" cy="1630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urier New" panose="02070309020205020404" pitchFamily="49" charset="0"/>
                <a:cs typeface="Courier New" panose="02070309020205020404" pitchFamily="49" charset="0"/>
              </a:rPr>
              <a:t>Victim Recursive Resolver</a:t>
            </a:r>
            <a:endParaRPr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Google Shape;844;p69">
            <a:extLst>
              <a:ext uri="{FF2B5EF4-FFF2-40B4-BE49-F238E27FC236}">
                <a16:creationId xmlns:a16="http://schemas.microsoft.com/office/drawing/2014/main" id="{FD730575-586C-03B9-ECEB-C0471A7132C4}"/>
              </a:ext>
            </a:extLst>
          </p:cNvPr>
          <p:cNvSpPr txBox="1"/>
          <p:nvPr/>
        </p:nvSpPr>
        <p:spPr>
          <a:xfrm>
            <a:off x="926029" y="3279471"/>
            <a:ext cx="1728956" cy="61211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Attacker’s </a:t>
            </a:r>
            <a:r>
              <a:rPr lang="en" b="1" dirty="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name server</a:t>
            </a:r>
            <a:endParaRPr b="1"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156;p22">
            <a:extLst>
              <a:ext uri="{FF2B5EF4-FFF2-40B4-BE49-F238E27FC236}">
                <a16:creationId xmlns:a16="http://schemas.microsoft.com/office/drawing/2014/main" id="{8481E6BE-859C-D1E5-E230-1118CF3BD473}"/>
              </a:ext>
            </a:extLst>
          </p:cNvPr>
          <p:cNvSpPr txBox="1"/>
          <p:nvPr/>
        </p:nvSpPr>
        <p:spPr>
          <a:xfrm>
            <a:off x="2969060" y="2113233"/>
            <a:ext cx="4101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dirty="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141;p22">
            <a:extLst>
              <a:ext uri="{FF2B5EF4-FFF2-40B4-BE49-F238E27FC236}">
                <a16:creationId xmlns:a16="http://schemas.microsoft.com/office/drawing/2014/main" id="{F67DE811-744D-AB1C-18F5-F53F96599F89}"/>
              </a:ext>
            </a:extLst>
          </p:cNvPr>
          <p:cNvCxnSpPr>
            <a:cxnSpLocks/>
          </p:cNvCxnSpPr>
          <p:nvPr/>
        </p:nvCxnSpPr>
        <p:spPr>
          <a:xfrm>
            <a:off x="2672790" y="2517364"/>
            <a:ext cx="1097643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" name="Google Shape;141;p22">
            <a:extLst>
              <a:ext uri="{FF2B5EF4-FFF2-40B4-BE49-F238E27FC236}">
                <a16:creationId xmlns:a16="http://schemas.microsoft.com/office/drawing/2014/main" id="{E78ECEB2-4C3D-AD02-4CCE-9EAFAD91C9C4}"/>
              </a:ext>
            </a:extLst>
          </p:cNvPr>
          <p:cNvCxnSpPr>
            <a:cxnSpLocks/>
          </p:cNvCxnSpPr>
          <p:nvPr/>
        </p:nvCxnSpPr>
        <p:spPr>
          <a:xfrm>
            <a:off x="2663887" y="3483750"/>
            <a:ext cx="1106546" cy="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" name="Google Shape;156;p22">
            <a:extLst>
              <a:ext uri="{FF2B5EF4-FFF2-40B4-BE49-F238E27FC236}">
                <a16:creationId xmlns:a16="http://schemas.microsoft.com/office/drawing/2014/main" id="{84D34E67-C0CC-731A-37A9-7DE919263473}"/>
              </a:ext>
            </a:extLst>
          </p:cNvPr>
          <p:cNvSpPr txBox="1"/>
          <p:nvPr/>
        </p:nvSpPr>
        <p:spPr>
          <a:xfrm>
            <a:off x="2893824" y="3106720"/>
            <a:ext cx="482766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C00000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2b</a:t>
            </a:r>
            <a:endParaRPr b="1" dirty="0">
              <a:solidFill>
                <a:srgbClr val="C00000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219;p30">
            <a:extLst>
              <a:ext uri="{FF2B5EF4-FFF2-40B4-BE49-F238E27FC236}">
                <a16:creationId xmlns:a16="http://schemas.microsoft.com/office/drawing/2014/main" id="{E99AF426-3332-0E34-9D92-B565C4D0F98F}"/>
              </a:ext>
            </a:extLst>
          </p:cNvPr>
          <p:cNvSpPr txBox="1"/>
          <p:nvPr/>
        </p:nvSpPr>
        <p:spPr>
          <a:xfrm>
            <a:off x="1467995" y="4127247"/>
            <a:ext cx="3334424" cy="1022831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Flood of forged answers with randomly guessed Query IDs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6" name="Google Shape;844;p69">
            <a:extLst>
              <a:ext uri="{FF2B5EF4-FFF2-40B4-BE49-F238E27FC236}">
                <a16:creationId xmlns:a16="http://schemas.microsoft.com/office/drawing/2014/main" id="{3B16E146-F2F4-29BD-79DA-4CB16F259B02}"/>
              </a:ext>
            </a:extLst>
          </p:cNvPr>
          <p:cNvSpPr txBox="1"/>
          <p:nvPr/>
        </p:nvSpPr>
        <p:spPr>
          <a:xfrm>
            <a:off x="926028" y="2184885"/>
            <a:ext cx="1728956" cy="66495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Attacker’s client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19;p30">
            <a:extLst>
              <a:ext uri="{FF2B5EF4-FFF2-40B4-BE49-F238E27FC236}">
                <a16:creationId xmlns:a16="http://schemas.microsoft.com/office/drawing/2014/main" id="{47A609E9-4A8A-4F16-29D0-54712D049EF0}"/>
              </a:ext>
            </a:extLst>
          </p:cNvPr>
          <p:cNvSpPr txBox="1"/>
          <p:nvPr/>
        </p:nvSpPr>
        <p:spPr>
          <a:xfrm>
            <a:off x="1347223" y="1307268"/>
            <a:ext cx="3739874" cy="692876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What is the IP address of </a:t>
            </a:r>
            <a:r>
              <a:rPr lang="en-US" b="1" dirty="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fake_photo.google.com</a:t>
            </a:r>
            <a:endParaRPr dirty="0">
              <a:solidFill>
                <a:srgbClr val="C00000"/>
              </a:solidFill>
            </a:endParaRPr>
          </a:p>
        </p:txBody>
      </p:sp>
      <p:cxnSp>
        <p:nvCxnSpPr>
          <p:cNvPr id="3" name="Google Shape;451;p34">
            <a:extLst>
              <a:ext uri="{FF2B5EF4-FFF2-40B4-BE49-F238E27FC236}">
                <a16:creationId xmlns:a16="http://schemas.microsoft.com/office/drawing/2014/main" id="{F89656B6-2ABD-6BD0-504D-B8EFDA483150}"/>
              </a:ext>
            </a:extLst>
          </p:cNvPr>
          <p:cNvCxnSpPr>
            <a:cxnSpLocks/>
          </p:cNvCxnSpPr>
          <p:nvPr/>
        </p:nvCxnSpPr>
        <p:spPr>
          <a:xfrm flipV="1">
            <a:off x="5268896" y="1824488"/>
            <a:ext cx="4210903" cy="692876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" name="Google Shape;452;p34">
            <a:extLst>
              <a:ext uri="{FF2B5EF4-FFF2-40B4-BE49-F238E27FC236}">
                <a16:creationId xmlns:a16="http://schemas.microsoft.com/office/drawing/2014/main" id="{7603A496-33D3-3A51-E814-3569A5AA26F0}"/>
              </a:ext>
            </a:extLst>
          </p:cNvPr>
          <p:cNvCxnSpPr>
            <a:cxnSpLocks/>
          </p:cNvCxnSpPr>
          <p:nvPr/>
        </p:nvCxnSpPr>
        <p:spPr>
          <a:xfrm flipV="1">
            <a:off x="5268896" y="1993386"/>
            <a:ext cx="4210903" cy="67862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9" name="Google Shape;453;p34">
            <a:extLst>
              <a:ext uri="{FF2B5EF4-FFF2-40B4-BE49-F238E27FC236}">
                <a16:creationId xmlns:a16="http://schemas.microsoft.com/office/drawing/2014/main" id="{E0A636A9-35AA-5280-86E6-4FA5C5173BC0}"/>
              </a:ext>
            </a:extLst>
          </p:cNvPr>
          <p:cNvCxnSpPr>
            <a:cxnSpLocks/>
          </p:cNvCxnSpPr>
          <p:nvPr/>
        </p:nvCxnSpPr>
        <p:spPr>
          <a:xfrm flipV="1">
            <a:off x="5312174" y="2746667"/>
            <a:ext cx="4167625" cy="30844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0" name="Google Shape;454;p34">
            <a:extLst>
              <a:ext uri="{FF2B5EF4-FFF2-40B4-BE49-F238E27FC236}">
                <a16:creationId xmlns:a16="http://schemas.microsoft.com/office/drawing/2014/main" id="{2156CDE0-6169-3D62-42D9-037A5A6A2607}"/>
              </a:ext>
            </a:extLst>
          </p:cNvPr>
          <p:cNvCxnSpPr>
            <a:cxnSpLocks/>
          </p:cNvCxnSpPr>
          <p:nvPr/>
        </p:nvCxnSpPr>
        <p:spPr>
          <a:xfrm flipV="1">
            <a:off x="5233267" y="2939393"/>
            <a:ext cx="4205539" cy="25139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5" name="Google Shape;455;p34">
            <a:extLst>
              <a:ext uri="{FF2B5EF4-FFF2-40B4-BE49-F238E27FC236}">
                <a16:creationId xmlns:a16="http://schemas.microsoft.com/office/drawing/2014/main" id="{F57F5BEA-88F5-6A39-D66C-2F13448834EA}"/>
              </a:ext>
            </a:extLst>
          </p:cNvPr>
          <p:cNvCxnSpPr>
            <a:cxnSpLocks/>
          </p:cNvCxnSpPr>
          <p:nvPr/>
        </p:nvCxnSpPr>
        <p:spPr>
          <a:xfrm>
            <a:off x="5332846" y="3460261"/>
            <a:ext cx="4155856" cy="30987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" name="Google Shape;456;p34">
            <a:extLst>
              <a:ext uri="{FF2B5EF4-FFF2-40B4-BE49-F238E27FC236}">
                <a16:creationId xmlns:a16="http://schemas.microsoft.com/office/drawing/2014/main" id="{7D93C5F3-29A5-729D-75D9-A9274E721A3B}"/>
              </a:ext>
            </a:extLst>
          </p:cNvPr>
          <p:cNvCxnSpPr>
            <a:cxnSpLocks/>
          </p:cNvCxnSpPr>
          <p:nvPr/>
        </p:nvCxnSpPr>
        <p:spPr>
          <a:xfrm>
            <a:off x="5233271" y="3582091"/>
            <a:ext cx="4205534" cy="345486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37" name="Google Shape;457;p34">
            <a:extLst>
              <a:ext uri="{FF2B5EF4-FFF2-40B4-BE49-F238E27FC236}">
                <a16:creationId xmlns:a16="http://schemas.microsoft.com/office/drawing/2014/main" id="{0339EF2C-19DD-9095-6D72-410E2B617789}"/>
              </a:ext>
            </a:extLst>
          </p:cNvPr>
          <p:cNvSpPr txBox="1"/>
          <p:nvPr/>
        </p:nvSpPr>
        <p:spPr>
          <a:xfrm>
            <a:off x="7237568" y="3261502"/>
            <a:ext cx="4101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458;p34">
            <a:extLst>
              <a:ext uri="{FF2B5EF4-FFF2-40B4-BE49-F238E27FC236}">
                <a16:creationId xmlns:a16="http://schemas.microsoft.com/office/drawing/2014/main" id="{12C3D2DB-3F71-547C-74D0-542E859AC613}"/>
              </a:ext>
            </a:extLst>
          </p:cNvPr>
          <p:cNvSpPr txBox="1"/>
          <p:nvPr/>
        </p:nvSpPr>
        <p:spPr>
          <a:xfrm>
            <a:off x="7210102" y="3678761"/>
            <a:ext cx="4101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459;p34">
            <a:extLst>
              <a:ext uri="{FF2B5EF4-FFF2-40B4-BE49-F238E27FC236}">
                <a16:creationId xmlns:a16="http://schemas.microsoft.com/office/drawing/2014/main" id="{D459AFC4-A55E-B424-C3DC-86EABC97111F}"/>
              </a:ext>
            </a:extLst>
          </p:cNvPr>
          <p:cNvSpPr txBox="1"/>
          <p:nvPr/>
        </p:nvSpPr>
        <p:spPr>
          <a:xfrm>
            <a:off x="7382506" y="2594954"/>
            <a:ext cx="4101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60;p34">
            <a:extLst>
              <a:ext uri="{FF2B5EF4-FFF2-40B4-BE49-F238E27FC236}">
                <a16:creationId xmlns:a16="http://schemas.microsoft.com/office/drawing/2014/main" id="{ED35982E-5B58-5C96-BC41-70B366DB269A}"/>
              </a:ext>
            </a:extLst>
          </p:cNvPr>
          <p:cNvSpPr txBox="1"/>
          <p:nvPr/>
        </p:nvSpPr>
        <p:spPr>
          <a:xfrm>
            <a:off x="7434884" y="3014049"/>
            <a:ext cx="4101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61;p34">
            <a:extLst>
              <a:ext uri="{FF2B5EF4-FFF2-40B4-BE49-F238E27FC236}">
                <a16:creationId xmlns:a16="http://schemas.microsoft.com/office/drawing/2014/main" id="{A72BAB1A-5CF6-9DCC-54F0-962626A1384B}"/>
              </a:ext>
            </a:extLst>
          </p:cNvPr>
          <p:cNvSpPr txBox="1"/>
          <p:nvPr/>
        </p:nvSpPr>
        <p:spPr>
          <a:xfrm>
            <a:off x="7404676" y="2215793"/>
            <a:ext cx="4101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62;p34">
            <a:extLst>
              <a:ext uri="{FF2B5EF4-FFF2-40B4-BE49-F238E27FC236}">
                <a16:creationId xmlns:a16="http://schemas.microsoft.com/office/drawing/2014/main" id="{917BDEAC-271A-22E7-CC7E-3642EA30857F}"/>
              </a:ext>
            </a:extLst>
          </p:cNvPr>
          <p:cNvSpPr txBox="1"/>
          <p:nvPr/>
        </p:nvSpPr>
        <p:spPr>
          <a:xfrm>
            <a:off x="7358663" y="1766899"/>
            <a:ext cx="4101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2a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173;p21">
            <a:extLst>
              <a:ext uri="{FF2B5EF4-FFF2-40B4-BE49-F238E27FC236}">
                <a16:creationId xmlns:a16="http://schemas.microsoft.com/office/drawing/2014/main" id="{1C665515-C6B7-2CD8-92FF-2EF62F3C31D4}"/>
              </a:ext>
            </a:extLst>
          </p:cNvPr>
          <p:cNvCxnSpPr>
            <a:cxnSpLocks/>
            <a:stCxn id="12" idx="1"/>
            <a:endCxn id="33" idx="2"/>
          </p:cNvCxnSpPr>
          <p:nvPr/>
        </p:nvCxnSpPr>
        <p:spPr>
          <a:xfrm flipH="1" flipV="1">
            <a:off x="3135207" y="5150078"/>
            <a:ext cx="1593195" cy="815825"/>
          </a:xfrm>
          <a:prstGeom prst="straightConnector1">
            <a:avLst/>
          </a:prstGeom>
          <a:noFill/>
          <a:ln w="57150" cap="flat" cmpd="sng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Google Shape;1167;p86">
            <a:extLst>
              <a:ext uri="{FF2B5EF4-FFF2-40B4-BE49-F238E27FC236}">
                <a16:creationId xmlns:a16="http://schemas.microsoft.com/office/drawing/2014/main" id="{51877BA7-B866-6B91-5935-3C555E4AB169}"/>
              </a:ext>
            </a:extLst>
          </p:cNvPr>
          <p:cNvSpPr txBox="1"/>
          <p:nvPr/>
        </p:nvSpPr>
        <p:spPr>
          <a:xfrm>
            <a:off x="4861203" y="4154155"/>
            <a:ext cx="5862802" cy="422099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“</a:t>
            </a:r>
            <a:r>
              <a:rPr lang="en" sz="1400" b="1" dirty="0">
                <a:latin typeface="Courier New"/>
                <a:ea typeface="Courier New"/>
                <a:cs typeface="Courier New"/>
                <a:sym typeface="Courier New"/>
              </a:rPr>
              <a:t>fake_photo.google.com </a:t>
            </a:r>
            <a:r>
              <a:rPr lang="en" sz="1400" b="1" dirty="0">
                <a:solidFill>
                  <a:srgbClr val="C00000"/>
                </a:solidFill>
              </a:rPr>
              <a:t>doesn’t exist</a:t>
            </a:r>
            <a:r>
              <a:rPr lang="en" sz="1400" dirty="0"/>
              <a:t>! </a:t>
            </a:r>
            <a:r>
              <a:rPr lang="en" sz="1400" dirty="0">
                <a:solidFill>
                  <a:schemeClr val="dk1"/>
                </a:solidFill>
              </a:rPr>
              <a:t>This response has ID </a:t>
            </a:r>
            <a:r>
              <a:rPr lang="en" sz="1400" b="1" dirty="0">
                <a:solidFill>
                  <a:schemeClr val="dk1"/>
                </a:solidFill>
              </a:rPr>
              <a:t>774</a:t>
            </a:r>
            <a:r>
              <a:rPr lang="en" sz="1400" dirty="0">
                <a:solidFill>
                  <a:schemeClr val="dk1"/>
                </a:solidFill>
              </a:rPr>
              <a:t>.”</a:t>
            </a:r>
            <a:endParaRPr sz="14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D6C696-CE5B-101D-935F-0CE1FFAF5711}"/>
              </a:ext>
            </a:extLst>
          </p:cNvPr>
          <p:cNvGrpSpPr/>
          <p:nvPr/>
        </p:nvGrpSpPr>
        <p:grpSpPr>
          <a:xfrm>
            <a:off x="6353265" y="4686670"/>
            <a:ext cx="5532060" cy="1957227"/>
            <a:chOff x="4803296" y="4855041"/>
            <a:chExt cx="5532060" cy="1957227"/>
          </a:xfrm>
        </p:grpSpPr>
        <p:sp>
          <p:nvSpPr>
            <p:cNvPr id="17" name="Google Shape;321;p25">
              <a:extLst>
                <a:ext uri="{FF2B5EF4-FFF2-40B4-BE49-F238E27FC236}">
                  <a16:creationId xmlns:a16="http://schemas.microsoft.com/office/drawing/2014/main" id="{51BCFC26-088D-297F-2265-EB6790B34E40}"/>
                </a:ext>
              </a:extLst>
            </p:cNvPr>
            <p:cNvSpPr txBox="1"/>
            <p:nvPr/>
          </p:nvSpPr>
          <p:spPr>
            <a:xfrm>
              <a:off x="4803296" y="5745251"/>
              <a:ext cx="5014627" cy="106701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</a:rPr>
                <a:t>“I don’t know. But I have delegated authority to the </a:t>
              </a:r>
              <a:r>
                <a:rPr lang="en" sz="12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fake1.google.com.</a:t>
              </a:r>
              <a:r>
                <a:rPr lang="en" sz="1200" dirty="0">
                  <a:solidFill>
                    <a:schemeClr val="dk1"/>
                  </a:solidFill>
                </a:rPr>
                <a:t> NS. This response has ID </a:t>
              </a:r>
              <a:r>
                <a:rPr lang="en" sz="1200" b="1" dirty="0">
                  <a:solidFill>
                    <a:schemeClr val="accent4">
                      <a:lumMod val="20000"/>
                      <a:lumOff val="80000"/>
                    </a:schemeClr>
                  </a:solidFill>
                </a:rPr>
                <a:t>812</a:t>
              </a:r>
              <a:r>
                <a:rPr lang="en" sz="1200" dirty="0">
                  <a:solidFill>
                    <a:schemeClr val="dk1"/>
                  </a:solidFill>
                </a:rPr>
                <a:t>.</a:t>
              </a:r>
              <a:endParaRPr sz="1200"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lang="en" sz="1200" dirty="0">
                <a:solidFill>
                  <a:schemeClr val="dk1"/>
                </a:solidFill>
              </a:endParaRPr>
            </a:p>
            <a:p>
              <a:pPr lvl="0">
                <a:buClr>
                  <a:schemeClr val="dk1"/>
                </a:buClr>
                <a:buSzPts val="1100"/>
              </a:pPr>
              <a:r>
                <a:rPr lang="en-US" sz="1200" b="1" dirty="0">
                  <a:solidFill>
                    <a:schemeClr val="dk1"/>
                  </a:solidFill>
                </a:rPr>
                <a:t>Authority: </a:t>
              </a:r>
              <a:r>
                <a:rPr lang="en" sz="12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fake1.google.com </a:t>
              </a:r>
              <a:r>
                <a:rPr lang="en-US" sz="1200" b="1" dirty="0">
                  <a:latin typeface="Courier New"/>
                  <a:cs typeface="Courier New"/>
                </a:rPr>
                <a:t>NS</a:t>
              </a:r>
              <a:r>
                <a:rPr lang="en-US" sz="1200" b="1" dirty="0">
                  <a:solidFill>
                    <a:srgbClr val="FF0000"/>
                  </a:solidFill>
                  <a:latin typeface="Courier New"/>
                  <a:cs typeface="Courier New"/>
                </a:rPr>
                <a:t> </a:t>
              </a:r>
              <a:r>
                <a:rPr lang="en-US" sz="1200" b="1" dirty="0">
                  <a:latin typeface="Courier New"/>
                  <a:cs typeface="Courier New"/>
                </a:rPr>
                <a:t>www.google.com </a:t>
              </a:r>
              <a:endParaRPr sz="1200" dirty="0">
                <a:solidFill>
                  <a:schemeClr val="dk1"/>
                </a:solidFill>
              </a:endParaRPr>
            </a:p>
            <a:p>
              <a:pPr lvl="0">
                <a:lnSpc>
                  <a:spcPct val="115000"/>
                </a:lnSpc>
              </a:pPr>
              <a:r>
                <a:rPr lang="en-US" sz="1200" b="1" dirty="0">
                  <a:solidFill>
                    <a:schemeClr val="dk1"/>
                  </a:solidFill>
                </a:rPr>
                <a:t>Additional: </a:t>
              </a:r>
              <a:r>
                <a:rPr lang="en-US" sz="1200" b="1" dirty="0">
                  <a:latin typeface="Courier New"/>
                  <a:cs typeface="Courier New"/>
                </a:rPr>
                <a:t>www.google.com. </a:t>
              </a:r>
              <a:r>
                <a:rPr lang="en-US" sz="1200" b="1" dirty="0">
                  <a:solidFill>
                    <a:schemeClr val="dk1"/>
                  </a:solidFill>
                  <a:latin typeface="Courier New"/>
                  <a:cs typeface="Courier New"/>
                </a:rPr>
                <a:t>A </a:t>
              </a:r>
              <a:r>
                <a:rPr lang="en-US" sz="1200" b="1" dirty="0">
                  <a:solidFill>
                    <a:srgbClr val="C00000"/>
                  </a:solidFill>
                  <a:latin typeface="Courier New"/>
                  <a:cs typeface="Courier New"/>
                </a:rPr>
                <a:t>6.6.6.6</a:t>
              </a:r>
              <a:r>
                <a:rPr lang="en-US" sz="1200" b="1" dirty="0">
                  <a:cs typeface="Courier New"/>
                </a:rPr>
                <a:t> ”</a:t>
              </a:r>
              <a:endParaRPr sz="1200" dirty="0"/>
            </a:p>
          </p:txBody>
        </p:sp>
        <p:sp>
          <p:nvSpPr>
            <p:cNvPr id="18" name="Google Shape;321;p25">
              <a:extLst>
                <a:ext uri="{FF2B5EF4-FFF2-40B4-BE49-F238E27FC236}">
                  <a16:creationId xmlns:a16="http://schemas.microsoft.com/office/drawing/2014/main" id="{7B8A3AA2-A49B-9CD7-7E9F-FFCAD65DEEF4}"/>
                </a:ext>
              </a:extLst>
            </p:cNvPr>
            <p:cNvSpPr txBox="1"/>
            <p:nvPr/>
          </p:nvSpPr>
          <p:spPr>
            <a:xfrm>
              <a:off x="5063089" y="5265496"/>
              <a:ext cx="5014627" cy="106701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</a:rPr>
                <a:t>“I don’t know. But I have delegated authority to the </a:t>
              </a:r>
              <a:r>
                <a:rPr lang="en" sz="12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fake1.google.com.</a:t>
              </a:r>
              <a:r>
                <a:rPr lang="en" sz="1200" dirty="0">
                  <a:solidFill>
                    <a:schemeClr val="dk1"/>
                  </a:solidFill>
                </a:rPr>
                <a:t> NS. This response has ID </a:t>
              </a:r>
              <a:r>
                <a:rPr lang="en" sz="1200" b="1" dirty="0">
                  <a:solidFill>
                    <a:schemeClr val="accent4">
                      <a:lumMod val="20000"/>
                      <a:lumOff val="80000"/>
                    </a:schemeClr>
                  </a:solidFill>
                </a:rPr>
                <a:t>673</a:t>
              </a:r>
              <a:r>
                <a:rPr lang="en" sz="1200" dirty="0">
                  <a:solidFill>
                    <a:schemeClr val="dk1"/>
                  </a:solidFill>
                </a:rPr>
                <a:t>.</a:t>
              </a:r>
              <a:endParaRPr sz="1200"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lang="en" sz="1200" dirty="0">
                <a:solidFill>
                  <a:schemeClr val="dk1"/>
                </a:solidFill>
              </a:endParaRPr>
            </a:p>
            <a:p>
              <a:pPr lvl="0">
                <a:buClr>
                  <a:schemeClr val="dk1"/>
                </a:buClr>
                <a:buSzPts val="1100"/>
              </a:pPr>
              <a:r>
                <a:rPr lang="en-US" sz="1200" b="1" dirty="0">
                  <a:solidFill>
                    <a:schemeClr val="dk1"/>
                  </a:solidFill>
                </a:rPr>
                <a:t>Authority: </a:t>
              </a:r>
              <a:r>
                <a:rPr lang="en" sz="12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fake1.google.com </a:t>
              </a:r>
              <a:r>
                <a:rPr lang="en-US" sz="1200" b="1" dirty="0">
                  <a:latin typeface="Courier New"/>
                  <a:cs typeface="Courier New"/>
                </a:rPr>
                <a:t>NS</a:t>
              </a:r>
              <a:r>
                <a:rPr lang="en-US" sz="1200" b="1" dirty="0">
                  <a:solidFill>
                    <a:srgbClr val="FF0000"/>
                  </a:solidFill>
                  <a:latin typeface="Courier New"/>
                  <a:cs typeface="Courier New"/>
                </a:rPr>
                <a:t> </a:t>
              </a:r>
              <a:r>
                <a:rPr lang="en-US" sz="1200" b="1" dirty="0">
                  <a:latin typeface="Courier New"/>
                  <a:cs typeface="Courier New"/>
                </a:rPr>
                <a:t>www.google.com </a:t>
              </a:r>
              <a:endParaRPr sz="1200" dirty="0">
                <a:solidFill>
                  <a:schemeClr val="dk1"/>
                </a:solidFill>
              </a:endParaRPr>
            </a:p>
            <a:p>
              <a:pPr lvl="0">
                <a:lnSpc>
                  <a:spcPct val="115000"/>
                </a:lnSpc>
              </a:pPr>
              <a:r>
                <a:rPr lang="en-US" sz="1200" b="1" dirty="0">
                  <a:solidFill>
                    <a:schemeClr val="dk1"/>
                  </a:solidFill>
                </a:rPr>
                <a:t>Additional: </a:t>
              </a:r>
              <a:r>
                <a:rPr lang="en-US" sz="1200" b="1" dirty="0">
                  <a:latin typeface="Courier New"/>
                  <a:cs typeface="Courier New"/>
                </a:rPr>
                <a:t>www.google.com. </a:t>
              </a:r>
              <a:r>
                <a:rPr lang="en-US" sz="1200" b="1" dirty="0">
                  <a:solidFill>
                    <a:schemeClr val="dk1"/>
                  </a:solidFill>
                  <a:latin typeface="Courier New"/>
                  <a:cs typeface="Courier New"/>
                </a:rPr>
                <a:t>A </a:t>
              </a:r>
              <a:r>
                <a:rPr lang="en-US" sz="1200" b="1" dirty="0">
                  <a:solidFill>
                    <a:srgbClr val="C00000"/>
                  </a:solidFill>
                  <a:latin typeface="Courier New"/>
                  <a:cs typeface="Courier New"/>
                </a:rPr>
                <a:t>6.6.6.6</a:t>
              </a:r>
              <a:r>
                <a:rPr lang="en-US" sz="1200" b="1" dirty="0">
                  <a:cs typeface="Courier New"/>
                </a:rPr>
                <a:t> ”</a:t>
              </a:r>
              <a:endParaRPr sz="1200" dirty="0"/>
            </a:p>
          </p:txBody>
        </p:sp>
        <p:sp>
          <p:nvSpPr>
            <p:cNvPr id="19" name="Google Shape;321;p25">
              <a:extLst>
                <a:ext uri="{FF2B5EF4-FFF2-40B4-BE49-F238E27FC236}">
                  <a16:creationId xmlns:a16="http://schemas.microsoft.com/office/drawing/2014/main" id="{DB77876C-659F-11F1-1950-A862CDF0B370}"/>
                </a:ext>
              </a:extLst>
            </p:cNvPr>
            <p:cNvSpPr txBox="1"/>
            <p:nvPr/>
          </p:nvSpPr>
          <p:spPr>
            <a:xfrm>
              <a:off x="5320729" y="4855041"/>
              <a:ext cx="5014627" cy="106701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</a:rPr>
                <a:t>“I don’t know. But I have delegated authority to the </a:t>
              </a:r>
              <a:r>
                <a:rPr lang="en" sz="12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fake1.google.com.</a:t>
              </a:r>
              <a:r>
                <a:rPr lang="en" sz="1200" dirty="0">
                  <a:solidFill>
                    <a:schemeClr val="dk1"/>
                  </a:solidFill>
                </a:rPr>
                <a:t> NS.   This response has ID </a:t>
              </a:r>
              <a:r>
                <a:rPr lang="en" sz="1200" b="1" dirty="0"/>
                <a:t>570.</a:t>
              </a:r>
              <a:endParaRPr sz="1200"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lang="en" sz="1200" dirty="0">
                <a:solidFill>
                  <a:schemeClr val="dk1"/>
                </a:solidFill>
              </a:endParaRPr>
            </a:p>
            <a:p>
              <a:pPr lvl="0">
                <a:buClr>
                  <a:schemeClr val="dk1"/>
                </a:buClr>
                <a:buSzPts val="1100"/>
              </a:pPr>
              <a:r>
                <a:rPr lang="en-US" sz="1200" b="1" dirty="0">
                  <a:solidFill>
                    <a:schemeClr val="dk1"/>
                  </a:solidFill>
                </a:rPr>
                <a:t>Authority: </a:t>
              </a:r>
              <a:r>
                <a:rPr lang="en" sz="1200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fake1.google.com </a:t>
              </a:r>
              <a:r>
                <a:rPr lang="en-US" sz="1200" b="1" dirty="0">
                  <a:latin typeface="Courier New"/>
                  <a:cs typeface="Courier New"/>
                </a:rPr>
                <a:t>NS</a:t>
              </a:r>
              <a:r>
                <a:rPr lang="en-US" sz="1200" b="1" dirty="0">
                  <a:solidFill>
                    <a:srgbClr val="FF0000"/>
                  </a:solidFill>
                  <a:latin typeface="Courier New"/>
                  <a:cs typeface="Courier New"/>
                </a:rPr>
                <a:t> </a:t>
              </a:r>
              <a:r>
                <a:rPr lang="en-US" sz="1200" b="1" dirty="0">
                  <a:latin typeface="Courier New"/>
                  <a:cs typeface="Courier New"/>
                </a:rPr>
                <a:t>www.google.com </a:t>
              </a:r>
              <a:endParaRPr sz="1200" dirty="0">
                <a:solidFill>
                  <a:schemeClr val="dk1"/>
                </a:solidFill>
              </a:endParaRPr>
            </a:p>
            <a:p>
              <a:pPr lvl="0">
                <a:lnSpc>
                  <a:spcPct val="115000"/>
                </a:lnSpc>
              </a:pPr>
              <a:r>
                <a:rPr lang="en-US" sz="1200" b="1" dirty="0">
                  <a:solidFill>
                    <a:schemeClr val="dk1"/>
                  </a:solidFill>
                </a:rPr>
                <a:t>Additional: </a:t>
              </a:r>
              <a:r>
                <a:rPr lang="en-US" sz="1200" b="1" dirty="0">
                  <a:latin typeface="Courier New"/>
                  <a:cs typeface="Courier New"/>
                </a:rPr>
                <a:t>www.google.com. </a:t>
              </a:r>
              <a:r>
                <a:rPr lang="en-US" sz="1200" b="1" dirty="0">
                  <a:solidFill>
                    <a:schemeClr val="dk1"/>
                  </a:solidFill>
                  <a:latin typeface="Courier New"/>
                  <a:cs typeface="Courier New"/>
                </a:rPr>
                <a:t>A </a:t>
              </a:r>
              <a:r>
                <a:rPr lang="en-US" sz="1200" b="1" dirty="0">
                  <a:solidFill>
                    <a:srgbClr val="C00000"/>
                  </a:solidFill>
                  <a:latin typeface="Courier New"/>
                  <a:cs typeface="Courier New"/>
                </a:rPr>
                <a:t>6.6.6.6</a:t>
              </a:r>
              <a:r>
                <a:rPr lang="en-US" sz="1200" b="1" dirty="0">
                  <a:cs typeface="Courier New"/>
                </a:rPr>
                <a:t> ”</a:t>
              </a:r>
              <a:endParaRPr sz="12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31D35C5-BED1-EACA-CA7D-2D5D775318D8}"/>
              </a:ext>
            </a:extLst>
          </p:cNvPr>
          <p:cNvGrpSpPr/>
          <p:nvPr/>
        </p:nvGrpSpPr>
        <p:grpSpPr>
          <a:xfrm>
            <a:off x="4728402" y="5121439"/>
            <a:ext cx="6422587" cy="1688927"/>
            <a:chOff x="4026274" y="5112416"/>
            <a:chExt cx="6422587" cy="1688927"/>
          </a:xfrm>
        </p:grpSpPr>
        <p:sp>
          <p:nvSpPr>
            <p:cNvPr id="12" name="Google Shape;321;p25">
              <a:extLst>
                <a:ext uri="{FF2B5EF4-FFF2-40B4-BE49-F238E27FC236}">
                  <a16:creationId xmlns:a16="http://schemas.microsoft.com/office/drawing/2014/main" id="{63914974-BA80-B5D9-8467-06EFCA5FB913}"/>
                </a:ext>
              </a:extLst>
            </p:cNvPr>
            <p:cNvSpPr txBox="1"/>
            <p:nvPr/>
          </p:nvSpPr>
          <p:spPr>
            <a:xfrm>
              <a:off x="4026274" y="5112416"/>
              <a:ext cx="6422587" cy="16889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</a:rPr>
                <a:t>“I don’t know. But I have delegated authority to the </a:t>
              </a:r>
              <a:r>
                <a:rPr lang="en-US" b="1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fake1.google.com</a:t>
              </a:r>
              <a:r>
                <a:rPr lang="en-US" dirty="0">
                  <a:solidFill>
                    <a:schemeClr val="dk1"/>
                  </a:solidFill>
                </a:rPr>
                <a:t> NS. This response has ID </a:t>
              </a:r>
              <a:r>
                <a:rPr lang="en-US" b="1" dirty="0">
                  <a:solidFill>
                    <a:srgbClr val="C00000"/>
                  </a:solidFill>
                </a:rPr>
                <a:t>774</a:t>
              </a:r>
              <a:r>
                <a:rPr lang="en-US" b="1" dirty="0">
                  <a:solidFill>
                    <a:schemeClr val="dk1"/>
                  </a:solidFill>
                </a:rPr>
                <a:t>.</a:t>
              </a:r>
              <a:endParaRPr lang="en-US"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lang="en-US" dirty="0">
                <a:solidFill>
                  <a:schemeClr val="dk1"/>
                </a:solidFill>
              </a:endParaRPr>
            </a:p>
            <a:p>
              <a:pPr lvl="0">
                <a:buClr>
                  <a:schemeClr val="dk1"/>
                </a:buClr>
                <a:buSzPts val="1100"/>
              </a:pPr>
              <a:r>
                <a:rPr lang="en-US" b="1" dirty="0">
                  <a:solidFill>
                    <a:srgbClr val="C00000"/>
                  </a:solidFill>
                </a:rPr>
                <a:t>Authority: </a:t>
              </a:r>
              <a:r>
                <a:rPr lang="en-US" b="1" dirty="0">
                  <a:solidFill>
                    <a:srgbClr val="C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fake1.google.com </a:t>
              </a:r>
              <a:r>
                <a:rPr lang="en-US" b="1" dirty="0">
                  <a:solidFill>
                    <a:srgbClr val="C00000"/>
                  </a:solidFill>
                  <a:latin typeface="Courier New"/>
                  <a:cs typeface="Courier New"/>
                </a:rPr>
                <a:t>NS www.google.com </a:t>
              </a:r>
              <a:endParaRPr lang="en-US" dirty="0">
                <a:solidFill>
                  <a:srgbClr val="C00000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dk1"/>
                  </a:solidFill>
                </a:rPr>
                <a:t>Additional: </a:t>
              </a:r>
              <a:r>
                <a:rPr lang="en-US" b="1" dirty="0">
                  <a:latin typeface="Courier New"/>
                  <a:cs typeface="Courier New"/>
                </a:rPr>
                <a:t>www.google.com </a:t>
              </a:r>
              <a:r>
                <a:rPr lang="en-US" b="1" dirty="0">
                  <a:solidFill>
                    <a:schemeClr val="dk1"/>
                  </a:solidFill>
                  <a:latin typeface="Courier New"/>
                  <a:cs typeface="Courier New"/>
                </a:rPr>
                <a:t>A </a:t>
              </a:r>
              <a:r>
                <a:rPr lang="en-US" b="1" dirty="0">
                  <a:solidFill>
                    <a:srgbClr val="C00000"/>
                  </a:solidFill>
                  <a:latin typeface="Courier New"/>
                  <a:cs typeface="Courier New"/>
                </a:rPr>
                <a:t>6.6.6.6</a:t>
              </a:r>
              <a:r>
                <a:rPr lang="en-US" b="1" dirty="0">
                  <a:cs typeface="Courier New"/>
                </a:rPr>
                <a:t>”</a:t>
              </a:r>
              <a:endParaRPr dirty="0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F75468A-5A09-BF45-8C83-6D3642B17667}"/>
                </a:ext>
              </a:extLst>
            </p:cNvPr>
            <p:cNvCxnSpPr>
              <a:cxnSpLocks/>
            </p:cNvCxnSpPr>
            <p:nvPr/>
          </p:nvCxnSpPr>
          <p:spPr>
            <a:xfrm>
              <a:off x="4026274" y="5849761"/>
              <a:ext cx="6378558" cy="0"/>
            </a:xfrm>
            <a:prstGeom prst="line">
              <a:avLst/>
            </a:prstGeom>
            <a:ln w="381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031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FDA46-17B5-C06A-14FB-592851FD4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66B9E-F145-8272-AC79-21A51531575B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241F881-9683-06E8-DC86-39A923184FA0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DNS over TLS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DNSSEC: Design Ideas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DNSSEC: Implementation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zh-CN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 Security: Summary</a:t>
            </a: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475" indent="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  <a:buNone/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897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9;p140">
            <a:extLst>
              <a:ext uri="{FF2B5EF4-FFF2-40B4-BE49-F238E27FC236}">
                <a16:creationId xmlns:a16="http://schemas.microsoft.com/office/drawing/2014/main" id="{A1BBD3EA-B48A-9405-9D84-E991AC006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815" y="143690"/>
            <a:ext cx="11112370" cy="88500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000" dirty="0">
                <a:latin typeface="Aptos Display (Headings)"/>
              </a:rPr>
              <a:t>Securing DNS Lookups: What do we Really Need?</a:t>
            </a:r>
            <a:endParaRPr sz="4000" dirty="0">
              <a:latin typeface="Aptos Display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5872B4-B8AE-63AF-94E7-EFD062FDD8C2}"/>
              </a:ext>
            </a:extLst>
          </p:cNvPr>
          <p:cNvSpPr txBox="1"/>
          <p:nvPr/>
        </p:nvSpPr>
        <p:spPr>
          <a:xfrm>
            <a:off x="165132" y="1028699"/>
            <a:ext cx="11861735" cy="574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ptos" panose="020B0004020202020204" pitchFamily="34" charset="0"/>
              </a:rPr>
              <a:t>We want </a:t>
            </a:r>
            <a:r>
              <a:rPr lang="en-US" sz="2400" b="1" i="1" dirty="0">
                <a:solidFill>
                  <a:srgbClr val="C00000"/>
                </a:solidFill>
                <a:latin typeface="Aptos" panose="020B0004020202020204" pitchFamily="34" charset="0"/>
              </a:rPr>
              <a:t>integrity</a:t>
            </a:r>
            <a:r>
              <a:rPr lang="en-US" sz="2400" dirty="0">
                <a:latin typeface="Aptos" panose="020B0004020202020204" pitchFamily="34" charset="0"/>
              </a:rPr>
              <a:t> on the response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Recall: Integrity means an attacker can’t tamper with the results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Prevent cache poisoning attacks through cryptographic verification</a:t>
            </a:r>
          </a:p>
          <a:p>
            <a:pPr>
              <a:spcAft>
                <a:spcPts val="600"/>
              </a:spcAft>
            </a:pPr>
            <a:endParaRPr lang="en-US" sz="2400" dirty="0"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Aptos" panose="020B0004020202020204" pitchFamily="34" charset="0"/>
              </a:rPr>
              <a:t>We want </a:t>
            </a:r>
            <a:r>
              <a:rPr lang="en-US" sz="2400" b="1" i="1" dirty="0">
                <a:solidFill>
                  <a:srgbClr val="C00000"/>
                </a:solidFill>
                <a:latin typeface="Aptos" panose="020B0004020202020204" pitchFamily="34" charset="0"/>
              </a:rPr>
              <a:t>authenticity</a:t>
            </a:r>
            <a:r>
              <a:rPr lang="en-US" sz="2400" dirty="0">
                <a:latin typeface="Aptos" panose="020B0004020202020204" pitchFamily="34" charset="0"/>
              </a:rPr>
              <a:t> on the response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Recall: Authenticity means verifying the response came from the legitimate DNS server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ptos" panose="020B0004020202020204" pitchFamily="34" charset="0"/>
              </a:rPr>
              <a:t>Mitigate Kaminsky attacks</a:t>
            </a:r>
            <a:r>
              <a:rPr lang="en-US" sz="2400" dirty="0">
                <a:latin typeface="Aptos" panose="020B0004020202020204" pitchFamily="34" charset="0"/>
              </a:rPr>
              <a:t> and MITM attacks</a:t>
            </a:r>
          </a:p>
          <a:p>
            <a:pPr>
              <a:spcAft>
                <a:spcPts val="600"/>
              </a:spcAft>
            </a:pPr>
            <a:endParaRPr lang="en-US" sz="2400" dirty="0"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Aptos" panose="020B0004020202020204" pitchFamily="34" charset="0"/>
              </a:rPr>
              <a:t>We do not need confidentiality on the response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DNS results are public: The attacker can always look up the results themselves!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Even if the attacker couldn’t see the DNS response, they can see which IP you connect to later (source and destination IPs are visible regardless, </a:t>
            </a:r>
            <a:r>
              <a:rPr lang="en-US" sz="2400" i="1" dirty="0">
                <a:solidFill>
                  <a:srgbClr val="C00000"/>
                </a:solidFill>
                <a:latin typeface="Aptos" panose="020B0004020202020204" pitchFamily="34" charset="0"/>
              </a:rPr>
              <a:t>really?</a:t>
            </a:r>
            <a:r>
              <a:rPr lang="en-US" sz="2400" dirty="0">
                <a:latin typeface="Aptos" panose="020B0004020202020204" pitchFamily="34" charset="0"/>
              </a:rPr>
              <a:t>)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DNS queries leak information about user activities to network observers</a:t>
            </a:r>
          </a:p>
        </p:txBody>
      </p:sp>
    </p:spTree>
    <p:extLst>
      <p:ext uri="{BB962C8B-B14F-4D97-AF65-F5344CB8AC3E}">
        <p14:creationId xmlns:p14="http://schemas.microsoft.com/office/powerpoint/2010/main" val="2309199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9;p140">
            <a:extLst>
              <a:ext uri="{FF2B5EF4-FFF2-40B4-BE49-F238E27FC236}">
                <a16:creationId xmlns:a16="http://schemas.microsoft.com/office/drawing/2014/main" id="{A1BBD3EA-B48A-9405-9D84-E991AC006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136641"/>
            <a:ext cx="11360800" cy="928165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400" dirty="0">
                <a:latin typeface="Aptos Display (Headings)"/>
              </a:rPr>
              <a:t>DNS over TLS</a:t>
            </a:r>
            <a:endParaRPr sz="4400" dirty="0">
              <a:latin typeface="Aptos Display (Headings)"/>
            </a:endParaRPr>
          </a:p>
        </p:txBody>
      </p:sp>
      <p:sp>
        <p:nvSpPr>
          <p:cNvPr id="2" name="Google Shape;133;p22">
            <a:extLst>
              <a:ext uri="{FF2B5EF4-FFF2-40B4-BE49-F238E27FC236}">
                <a16:creationId xmlns:a16="http://schemas.microsoft.com/office/drawing/2014/main" id="{5FEC7122-A0BB-82E3-F2C7-95B73566B1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413" y="1184733"/>
            <a:ext cx="7269167" cy="55366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lvl="0" indent="0" algn="l" rtl="0">
              <a:spcBef>
                <a:spcPts val="0"/>
              </a:spcBef>
              <a:spcAft>
                <a:spcPts val="600"/>
              </a:spcAft>
              <a:buClrTx/>
              <a:buSzPts val="1800"/>
              <a:buNone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  <a:hlinkClick r:id="rId3"/>
              </a:rPr>
              <a:t>DNS over TLS (DoT)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is one way to send DNS queries over an encrypted connection </a:t>
            </a:r>
          </a:p>
          <a:p>
            <a:pPr marL="114300" lvl="0" indent="0" algn="l" rtl="0">
              <a:spcBef>
                <a:spcPts val="0"/>
              </a:spcBef>
              <a:spcAft>
                <a:spcPts val="600"/>
              </a:spcAft>
              <a:buClrTx/>
              <a:buSzPts val="1800"/>
              <a:buNone/>
            </a:pPr>
            <a:endParaRPr lang="en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14300" lvl="0" indent="0" algn="l" rtl="0">
              <a:spcBef>
                <a:spcPts val="0"/>
              </a:spcBef>
              <a:spcAft>
                <a:spcPts val="600"/>
              </a:spcAft>
              <a:buClrTx/>
              <a:buSzPts val="1800"/>
              <a:buNone/>
            </a:pPr>
            <a:r>
              <a:rPr lang="en" sz="2400" dirty="0">
                <a:solidFill>
                  <a:schemeClr val="tx1"/>
                </a:solidFill>
                <a:latin typeface="Aptos" panose="020B0004020202020204" pitchFamily="34" charset="0"/>
              </a:rPr>
              <a:t>Idea: TLS is end-to-end secure, so let’s send all DNS requests and responses over TLS</a:t>
            </a:r>
          </a:p>
          <a:p>
            <a:pPr marL="457200" indent="-342900">
              <a:spcAft>
                <a:spcPts val="600"/>
              </a:spcAft>
              <a:buClrTx/>
            </a:pPr>
            <a:r>
              <a:rPr lang="en-US" sz="2333" dirty="0">
                <a:solidFill>
                  <a:schemeClr val="tx1"/>
                </a:solidFill>
                <a:latin typeface="Aptos" panose="020B0004020202020204" pitchFamily="34" charset="0"/>
              </a:rPr>
              <a:t>DNS traditionally uses UDP (port 53), but </a:t>
            </a:r>
            <a:r>
              <a:rPr lang="en-US" sz="2333" b="1" dirty="0">
                <a:solidFill>
                  <a:schemeClr val="tx1"/>
                </a:solidFill>
                <a:latin typeface="Aptos" panose="020B0004020202020204" pitchFamily="34" charset="0"/>
                <a:hlinkClick r:id="rId4"/>
              </a:rPr>
              <a:t>can use TCP</a:t>
            </a:r>
            <a:r>
              <a:rPr lang="en-US" sz="2333" dirty="0">
                <a:solidFill>
                  <a:schemeClr val="tx1"/>
                </a:solidFill>
                <a:latin typeface="Aptos" panose="020B0004020202020204" pitchFamily="34" charset="0"/>
              </a:rPr>
              <a:t>; DoT uses TLS over TCP (port 853)</a:t>
            </a:r>
          </a:p>
          <a:p>
            <a:pPr marL="457200" indent="-342900">
              <a:spcAft>
                <a:spcPts val="600"/>
              </a:spcAft>
              <a:buClrTx/>
            </a:pPr>
            <a:r>
              <a:rPr lang="en-US" sz="2333" dirty="0">
                <a:solidFill>
                  <a:schemeClr val="tx1"/>
                </a:solidFill>
                <a:latin typeface="Aptos" panose="020B0004020202020204" pitchFamily="34" charset="0"/>
              </a:rPr>
              <a:t>Two resolvers make a TLS connection; DoT encrypts the link between resolvers.</a:t>
            </a:r>
          </a:p>
          <a:p>
            <a:pPr marL="457200" indent="-342900">
              <a:spcAft>
                <a:spcPts val="600"/>
              </a:spcAft>
              <a:buClrTx/>
            </a:pPr>
            <a:r>
              <a:rPr lang="en-US" sz="2333" i="1" dirty="0">
                <a:solidFill>
                  <a:srgbClr val="C00000"/>
                </a:solidFill>
                <a:latin typeface="Aptos" panose="020B0004020202020204" pitchFamily="34" charset="0"/>
              </a:rPr>
              <a:t>Optional: </a:t>
            </a:r>
            <a:r>
              <a:rPr lang="en-US" sz="2333" i="1" dirty="0">
                <a:solidFill>
                  <a:schemeClr val="tx1"/>
                </a:solidFill>
                <a:latin typeface="Aptos" panose="020B0004020202020204" pitchFamily="34" charset="0"/>
              </a:rPr>
              <a:t>Recursive resolver </a:t>
            </a:r>
            <a:r>
              <a:rPr lang="en-US" sz="2333" i="1" dirty="0">
                <a:solidFill>
                  <a:srgbClr val="C00000"/>
                </a:solidFill>
                <a:latin typeface="Aptos" panose="020B0004020202020204" pitchFamily="34" charset="0"/>
              </a:rPr>
              <a:t>MAY</a:t>
            </a:r>
            <a:r>
              <a:rPr lang="en-US" sz="2333" i="1" dirty="0">
                <a:solidFill>
                  <a:schemeClr val="tx1"/>
                </a:solidFill>
                <a:latin typeface="Aptos" panose="020B0004020202020204" pitchFamily="34" charset="0"/>
              </a:rPr>
              <a:t> use DoT when querying authoritative servers (</a:t>
            </a:r>
            <a:r>
              <a:rPr lang="en-US" sz="2333" i="1" dirty="0">
                <a:solidFill>
                  <a:schemeClr val="tx1"/>
                </a:solidFill>
                <a:latin typeface="Aptos" panose="020B0004020202020204" pitchFamily="34" charset="0"/>
                <a:hlinkClick r:id="rId5"/>
              </a:rPr>
              <a:t>not widely deployed</a:t>
            </a:r>
            <a:r>
              <a:rPr lang="en-US" sz="2333" i="1" dirty="0">
                <a:solidFill>
                  <a:schemeClr val="tx1"/>
                </a:solidFill>
                <a:latin typeface="Aptos" panose="020B0004020202020204" pitchFamily="34" charset="0"/>
              </a:rPr>
              <a:t>)</a:t>
            </a:r>
            <a:r>
              <a:rPr lang="en-US" sz="2333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pPr marL="457200" indent="-342900">
              <a:spcAft>
                <a:spcPts val="600"/>
              </a:spcAft>
              <a:buClrTx/>
            </a:pPr>
            <a:endParaRPr lang="en-US" sz="2333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14300" indent="0">
              <a:spcAft>
                <a:spcPts val="600"/>
              </a:spcAft>
              <a:buClrTx/>
              <a:buNone/>
            </a:pPr>
            <a:r>
              <a:rPr lang="en-US" sz="2333" dirty="0">
                <a:solidFill>
                  <a:schemeClr val="tx1"/>
                </a:solidFill>
                <a:latin typeface="Aptos" panose="020B0004020202020204" pitchFamily="34" charset="0"/>
              </a:rPr>
              <a:t>Does DoT solve our problems?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65C60BE-78D5-FDEC-FB26-A76EC6C5165D}"/>
              </a:ext>
            </a:extLst>
          </p:cNvPr>
          <p:cNvGrpSpPr/>
          <p:nvPr/>
        </p:nvGrpSpPr>
        <p:grpSpPr>
          <a:xfrm>
            <a:off x="7752432" y="1958738"/>
            <a:ext cx="4170925" cy="3424625"/>
            <a:chOff x="7098005" y="1942410"/>
            <a:chExt cx="4170925" cy="3424625"/>
          </a:xfrm>
        </p:grpSpPr>
        <p:sp>
          <p:nvSpPr>
            <p:cNvPr id="5" name="Google Shape;134;p22">
              <a:extLst>
                <a:ext uri="{FF2B5EF4-FFF2-40B4-BE49-F238E27FC236}">
                  <a16:creationId xmlns:a16="http://schemas.microsoft.com/office/drawing/2014/main" id="{5E93074A-9EB5-0942-AECC-A92D333E5D2E}"/>
                </a:ext>
              </a:extLst>
            </p:cNvPr>
            <p:cNvSpPr txBox="1"/>
            <p:nvPr/>
          </p:nvSpPr>
          <p:spPr>
            <a:xfrm>
              <a:off x="10001730" y="2834083"/>
              <a:ext cx="1238100" cy="3648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urier New" panose="02070309020205020404" pitchFamily="49" charset="0"/>
                  <a:ea typeface="Courier New"/>
                  <a:cs typeface="Courier New" panose="02070309020205020404" pitchFamily="49" charset="0"/>
                  <a:sym typeface="Courier New"/>
                </a:rPr>
                <a:t>.</a:t>
              </a:r>
              <a:r>
                <a:rPr lang="en">
                  <a:latin typeface="Courier New" panose="02070309020205020404" pitchFamily="49" charset="0"/>
                  <a:cs typeface="Courier New" panose="02070309020205020404" pitchFamily="49" charset="0"/>
                </a:rPr>
                <a:t>(root)</a:t>
              </a:r>
              <a:endParaRPr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endParaRPr>
            </a:p>
          </p:txBody>
        </p:sp>
        <p:sp>
          <p:nvSpPr>
            <p:cNvPr id="6" name="Google Shape;135;p22">
              <a:extLst>
                <a:ext uri="{FF2B5EF4-FFF2-40B4-BE49-F238E27FC236}">
                  <a16:creationId xmlns:a16="http://schemas.microsoft.com/office/drawing/2014/main" id="{F57981B5-8EEE-57B9-6A4C-EA403B1846B6}"/>
                </a:ext>
              </a:extLst>
            </p:cNvPr>
            <p:cNvSpPr txBox="1"/>
            <p:nvPr/>
          </p:nvSpPr>
          <p:spPr>
            <a:xfrm>
              <a:off x="10255020" y="3852879"/>
              <a:ext cx="731520" cy="393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urier New"/>
                  <a:ea typeface="Courier New"/>
                  <a:cs typeface="Courier New"/>
                  <a:sym typeface="Courier New"/>
                </a:rPr>
                <a:t>.edu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36;p22">
              <a:extLst>
                <a:ext uri="{FF2B5EF4-FFF2-40B4-BE49-F238E27FC236}">
                  <a16:creationId xmlns:a16="http://schemas.microsoft.com/office/drawing/2014/main" id="{95E2091B-B2BF-B1AC-549B-FDC80770826D}"/>
                </a:ext>
              </a:extLst>
            </p:cNvPr>
            <p:cNvSpPr txBox="1"/>
            <p:nvPr/>
          </p:nvSpPr>
          <p:spPr>
            <a:xfrm>
              <a:off x="9972630" y="4763310"/>
              <a:ext cx="1296300" cy="393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Courier New"/>
                  <a:ea typeface="Courier New"/>
                  <a:cs typeface="Courier New"/>
                  <a:sym typeface="Courier New"/>
                </a:rPr>
                <a:t>msoe.edu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" name="Google Shape;137;p22">
              <a:extLst>
                <a:ext uri="{FF2B5EF4-FFF2-40B4-BE49-F238E27FC236}">
                  <a16:creationId xmlns:a16="http://schemas.microsoft.com/office/drawing/2014/main" id="{CA0201C9-4DC5-E4C6-31D0-8EA1BD48AC1C}"/>
                </a:ext>
              </a:extLst>
            </p:cNvPr>
            <p:cNvCxnSpPr>
              <a:stCxn id="5" idx="2"/>
              <a:endCxn id="6" idx="0"/>
            </p:cNvCxnSpPr>
            <p:nvPr/>
          </p:nvCxnSpPr>
          <p:spPr>
            <a:xfrm>
              <a:off x="10620780" y="3198883"/>
              <a:ext cx="0" cy="653996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138;p22">
              <a:extLst>
                <a:ext uri="{FF2B5EF4-FFF2-40B4-BE49-F238E27FC236}">
                  <a16:creationId xmlns:a16="http://schemas.microsoft.com/office/drawing/2014/main" id="{75378C3B-E782-85A0-89F7-505CC315B4D7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>
              <a:off x="10620780" y="4246479"/>
              <a:ext cx="0" cy="51683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" name="Google Shape;139;p22">
              <a:extLst>
                <a:ext uri="{FF2B5EF4-FFF2-40B4-BE49-F238E27FC236}">
                  <a16:creationId xmlns:a16="http://schemas.microsoft.com/office/drawing/2014/main" id="{ED1E7580-6754-0E5D-47F2-9F6398BAAA70}"/>
                </a:ext>
              </a:extLst>
            </p:cNvPr>
            <p:cNvSpPr txBox="1"/>
            <p:nvPr/>
          </p:nvSpPr>
          <p:spPr>
            <a:xfrm>
              <a:off x="7098005" y="1942410"/>
              <a:ext cx="1238100" cy="6543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Stub Resolver</a:t>
              </a:r>
              <a:endParaRPr dirty="0"/>
            </a:p>
          </p:txBody>
        </p:sp>
        <p:sp>
          <p:nvSpPr>
            <p:cNvPr id="11" name="Google Shape;140;p22">
              <a:extLst>
                <a:ext uri="{FF2B5EF4-FFF2-40B4-BE49-F238E27FC236}">
                  <a16:creationId xmlns:a16="http://schemas.microsoft.com/office/drawing/2014/main" id="{7153849A-76A7-CB0E-68E2-C6B94EC96A2B}"/>
                </a:ext>
              </a:extLst>
            </p:cNvPr>
            <p:cNvSpPr txBox="1"/>
            <p:nvPr/>
          </p:nvSpPr>
          <p:spPr>
            <a:xfrm>
              <a:off x="7102630" y="3448760"/>
              <a:ext cx="1238100" cy="16308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Recursive Resolver</a:t>
              </a:r>
              <a:endParaRPr dirty="0"/>
            </a:p>
          </p:txBody>
        </p:sp>
        <p:cxnSp>
          <p:nvCxnSpPr>
            <p:cNvPr id="12" name="Google Shape;141;p22">
              <a:extLst>
                <a:ext uri="{FF2B5EF4-FFF2-40B4-BE49-F238E27FC236}">
                  <a16:creationId xmlns:a16="http://schemas.microsoft.com/office/drawing/2014/main" id="{77C3C35F-1E87-1AE3-C207-BE42FC41E4E9}"/>
                </a:ext>
              </a:extLst>
            </p:cNvPr>
            <p:cNvCxnSpPr/>
            <p:nvPr/>
          </p:nvCxnSpPr>
          <p:spPr>
            <a:xfrm rot="10800000" flipH="1">
              <a:off x="8431905" y="2911310"/>
              <a:ext cx="1540800" cy="643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" name="Google Shape;142;p22">
              <a:extLst>
                <a:ext uri="{FF2B5EF4-FFF2-40B4-BE49-F238E27FC236}">
                  <a16:creationId xmlns:a16="http://schemas.microsoft.com/office/drawing/2014/main" id="{977615AE-A516-BDC0-EF72-7498B36FADBE}"/>
                </a:ext>
              </a:extLst>
            </p:cNvPr>
            <p:cNvCxnSpPr/>
            <p:nvPr/>
          </p:nvCxnSpPr>
          <p:spPr>
            <a:xfrm rot="10800000" flipH="1">
              <a:off x="8443029" y="3030210"/>
              <a:ext cx="1529700" cy="634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4" name="Google Shape;143;p22">
              <a:extLst>
                <a:ext uri="{FF2B5EF4-FFF2-40B4-BE49-F238E27FC236}">
                  <a16:creationId xmlns:a16="http://schemas.microsoft.com/office/drawing/2014/main" id="{15DD41AA-0DD2-1694-647F-97C03CB3B277}"/>
                </a:ext>
              </a:extLst>
            </p:cNvPr>
            <p:cNvCxnSpPr/>
            <p:nvPr/>
          </p:nvCxnSpPr>
          <p:spPr>
            <a:xfrm rot="10800000" flipH="1">
              <a:off x="8466428" y="4015073"/>
              <a:ext cx="1769700" cy="249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" name="Google Shape;144;p22">
              <a:extLst>
                <a:ext uri="{FF2B5EF4-FFF2-40B4-BE49-F238E27FC236}">
                  <a16:creationId xmlns:a16="http://schemas.microsoft.com/office/drawing/2014/main" id="{B6E8B7DE-44BC-D1E4-663F-E3B27AE367AF}"/>
                </a:ext>
              </a:extLst>
            </p:cNvPr>
            <p:cNvCxnSpPr/>
            <p:nvPr/>
          </p:nvCxnSpPr>
          <p:spPr>
            <a:xfrm rot="10800000" flipH="1">
              <a:off x="8471818" y="4156198"/>
              <a:ext cx="1769700" cy="249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6" name="Google Shape;145;p22">
              <a:extLst>
                <a:ext uri="{FF2B5EF4-FFF2-40B4-BE49-F238E27FC236}">
                  <a16:creationId xmlns:a16="http://schemas.microsoft.com/office/drawing/2014/main" id="{9A369157-D91A-1F6F-72C2-6B2CDA62A227}"/>
                </a:ext>
              </a:extLst>
            </p:cNvPr>
            <p:cNvCxnSpPr/>
            <p:nvPr/>
          </p:nvCxnSpPr>
          <p:spPr>
            <a:xfrm>
              <a:off x="8431718" y="4763310"/>
              <a:ext cx="1540800" cy="271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" name="Google Shape;146;p22">
              <a:extLst>
                <a:ext uri="{FF2B5EF4-FFF2-40B4-BE49-F238E27FC236}">
                  <a16:creationId xmlns:a16="http://schemas.microsoft.com/office/drawing/2014/main" id="{A3908DEC-F963-A803-2E0F-139957E2FDBF}"/>
                </a:ext>
              </a:extLst>
            </p:cNvPr>
            <p:cNvCxnSpPr/>
            <p:nvPr/>
          </p:nvCxnSpPr>
          <p:spPr>
            <a:xfrm>
              <a:off x="8386285" y="4885137"/>
              <a:ext cx="1540800" cy="271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18" name="Google Shape;147;p22">
              <a:extLst>
                <a:ext uri="{FF2B5EF4-FFF2-40B4-BE49-F238E27FC236}">
                  <a16:creationId xmlns:a16="http://schemas.microsoft.com/office/drawing/2014/main" id="{2EA89E88-7C50-AC3C-C50E-89FCA8C486EA}"/>
                </a:ext>
              </a:extLst>
            </p:cNvPr>
            <p:cNvSpPr txBox="1"/>
            <p:nvPr/>
          </p:nvSpPr>
          <p:spPr>
            <a:xfrm>
              <a:off x="8965364" y="4553176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48;p22">
              <a:extLst>
                <a:ext uri="{FF2B5EF4-FFF2-40B4-BE49-F238E27FC236}">
                  <a16:creationId xmlns:a16="http://schemas.microsoft.com/office/drawing/2014/main" id="{3437E0A0-B6A4-F137-E797-45581DDACD36}"/>
                </a:ext>
              </a:extLst>
            </p:cNvPr>
            <p:cNvSpPr txBox="1"/>
            <p:nvPr/>
          </p:nvSpPr>
          <p:spPr>
            <a:xfrm>
              <a:off x="8937898" y="4970435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49;p22">
              <a:extLst>
                <a:ext uri="{FF2B5EF4-FFF2-40B4-BE49-F238E27FC236}">
                  <a16:creationId xmlns:a16="http://schemas.microsoft.com/office/drawing/2014/main" id="{1E82A98E-AA1F-0671-310C-21FA7E1F0677}"/>
                </a:ext>
              </a:extLst>
            </p:cNvPr>
            <p:cNvSpPr txBox="1"/>
            <p:nvPr/>
          </p:nvSpPr>
          <p:spPr>
            <a:xfrm>
              <a:off x="9111993" y="3789091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50;p22">
              <a:extLst>
                <a:ext uri="{FF2B5EF4-FFF2-40B4-BE49-F238E27FC236}">
                  <a16:creationId xmlns:a16="http://schemas.microsoft.com/office/drawing/2014/main" id="{40577EF3-45E3-A7CA-E2F0-2F66C771A6AA}"/>
                </a:ext>
              </a:extLst>
            </p:cNvPr>
            <p:cNvSpPr txBox="1"/>
            <p:nvPr/>
          </p:nvSpPr>
          <p:spPr>
            <a:xfrm>
              <a:off x="9180456" y="4185673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51;p22">
              <a:extLst>
                <a:ext uri="{FF2B5EF4-FFF2-40B4-BE49-F238E27FC236}">
                  <a16:creationId xmlns:a16="http://schemas.microsoft.com/office/drawing/2014/main" id="{B2199BA7-E1E4-185F-7267-0CB3DC3156DB}"/>
                </a:ext>
              </a:extLst>
            </p:cNvPr>
            <p:cNvSpPr txBox="1"/>
            <p:nvPr/>
          </p:nvSpPr>
          <p:spPr>
            <a:xfrm>
              <a:off x="7160265" y="2766912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52;p22">
              <a:extLst>
                <a:ext uri="{FF2B5EF4-FFF2-40B4-BE49-F238E27FC236}">
                  <a16:creationId xmlns:a16="http://schemas.microsoft.com/office/drawing/2014/main" id="{E42493B3-DA04-4DD0-10BA-F51691D8AFD1}"/>
                </a:ext>
              </a:extLst>
            </p:cNvPr>
            <p:cNvSpPr txBox="1"/>
            <p:nvPr/>
          </p:nvSpPr>
          <p:spPr>
            <a:xfrm>
              <a:off x="8915072" y="3329692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" name="Google Shape;153;p22">
              <a:extLst>
                <a:ext uri="{FF2B5EF4-FFF2-40B4-BE49-F238E27FC236}">
                  <a16:creationId xmlns:a16="http://schemas.microsoft.com/office/drawing/2014/main" id="{9F39ECC0-190F-6380-3788-BCAAB6A2626D}"/>
                </a:ext>
              </a:extLst>
            </p:cNvPr>
            <p:cNvCxnSpPr/>
            <p:nvPr/>
          </p:nvCxnSpPr>
          <p:spPr>
            <a:xfrm rot="10800000">
              <a:off x="7948855" y="2641288"/>
              <a:ext cx="0" cy="762900"/>
            </a:xfrm>
            <a:prstGeom prst="straightConnector1">
              <a:avLst/>
            </a:prstGeom>
            <a:noFill/>
            <a:ln w="57150" cap="flat" cmpd="sng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" name="Google Shape;154;p22">
              <a:extLst>
                <a:ext uri="{FF2B5EF4-FFF2-40B4-BE49-F238E27FC236}">
                  <a16:creationId xmlns:a16="http://schemas.microsoft.com/office/drawing/2014/main" id="{0653AAA6-F443-4A2A-0EA3-D627E6F144A2}"/>
                </a:ext>
              </a:extLst>
            </p:cNvPr>
            <p:cNvCxnSpPr/>
            <p:nvPr/>
          </p:nvCxnSpPr>
          <p:spPr>
            <a:xfrm rot="10800000">
              <a:off x="7432055" y="2641288"/>
              <a:ext cx="0" cy="762900"/>
            </a:xfrm>
            <a:prstGeom prst="straightConnector1">
              <a:avLst/>
            </a:prstGeom>
            <a:noFill/>
            <a:ln w="57150" cap="flat" cmpd="sng">
              <a:solidFill>
                <a:srgbClr val="C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26" name="Google Shape;155;p22">
              <a:extLst>
                <a:ext uri="{FF2B5EF4-FFF2-40B4-BE49-F238E27FC236}">
                  <a16:creationId xmlns:a16="http://schemas.microsoft.com/office/drawing/2014/main" id="{E609A544-DBD8-7A2A-E032-D07539C02447}"/>
                </a:ext>
              </a:extLst>
            </p:cNvPr>
            <p:cNvSpPr txBox="1"/>
            <p:nvPr/>
          </p:nvSpPr>
          <p:spPr>
            <a:xfrm>
              <a:off x="7948865" y="2766912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56;p22">
              <a:extLst>
                <a:ext uri="{FF2B5EF4-FFF2-40B4-BE49-F238E27FC236}">
                  <a16:creationId xmlns:a16="http://schemas.microsoft.com/office/drawing/2014/main" id="{8C75EB98-65AD-98B0-D4F2-F264AAF8FA32}"/>
                </a:ext>
              </a:extLst>
            </p:cNvPr>
            <p:cNvSpPr txBox="1"/>
            <p:nvPr/>
          </p:nvSpPr>
          <p:spPr>
            <a:xfrm>
              <a:off x="8826347" y="2997567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0282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9;p140">
            <a:extLst>
              <a:ext uri="{FF2B5EF4-FFF2-40B4-BE49-F238E27FC236}">
                <a16:creationId xmlns:a16="http://schemas.microsoft.com/office/drawing/2014/main" id="{A1BBD3EA-B48A-9405-9D84-E991AC006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1783"/>
            <a:ext cx="11360800" cy="81153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400" dirty="0">
                <a:latin typeface="Aptos Display (Headings)"/>
              </a:rPr>
              <a:t>DNS over TLS: Issues</a:t>
            </a:r>
            <a:endParaRPr sz="4400" dirty="0">
              <a:latin typeface="Aptos Display (Headings)"/>
            </a:endParaRPr>
          </a:p>
        </p:txBody>
      </p:sp>
      <p:sp>
        <p:nvSpPr>
          <p:cNvPr id="2" name="Google Shape;163;p23">
            <a:extLst>
              <a:ext uri="{FF2B5EF4-FFF2-40B4-BE49-F238E27FC236}">
                <a16:creationId xmlns:a16="http://schemas.microsoft.com/office/drawing/2014/main" id="{5DDE7BF9-F4E3-650D-A529-A8DB785A14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4535" y="1159178"/>
            <a:ext cx="7594535" cy="54613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lvl="0" indent="0" algn="l" rtl="0">
              <a:spcBef>
                <a:spcPts val="0"/>
              </a:spcBef>
              <a:spcAft>
                <a:spcPts val="600"/>
              </a:spcAft>
              <a:buClrTx/>
              <a:buSzPct val="100000"/>
              <a:buNone/>
            </a:pPr>
            <a:r>
              <a:rPr lang="en" sz="2400" b="1" dirty="0">
                <a:solidFill>
                  <a:schemeClr val="tx1"/>
                </a:solidFill>
                <a:latin typeface="Aptos" panose="020B0004020202020204" pitchFamily="34" charset="0"/>
              </a:rPr>
              <a:t>Performance</a:t>
            </a:r>
            <a:r>
              <a:rPr lang="en" sz="2400" dirty="0">
                <a:solidFill>
                  <a:schemeClr val="tx1"/>
                </a:solidFill>
                <a:latin typeface="Aptos" panose="020B0004020202020204" pitchFamily="34" charset="0"/>
              </a:rPr>
              <a:t>: DNS needs to be lightweight and fast</a:t>
            </a:r>
          </a:p>
          <a:p>
            <a:pPr marL="457200" indent="-342900">
              <a:spcAft>
                <a:spcPts val="600"/>
              </a:spcAft>
              <a:buClrTx/>
              <a:buSzPct val="100000"/>
            </a:pPr>
            <a:r>
              <a:rPr lang="en" sz="2333" dirty="0">
                <a:solidFill>
                  <a:schemeClr val="tx1"/>
                </a:solidFill>
                <a:latin typeface="Aptos" panose="020B0004020202020204" pitchFamily="34" charset="0"/>
              </a:rPr>
              <a:t>Recall: TLS requires a long handshake</a:t>
            </a:r>
          </a:p>
          <a:p>
            <a:pPr marL="0" indent="0">
              <a:spcAft>
                <a:spcPts val="600"/>
              </a:spcAft>
              <a:buClrTx/>
              <a:buSzPct val="100000"/>
              <a:buNone/>
            </a:pPr>
            <a:endParaRPr sz="2333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14300" lvl="0" indent="0">
              <a:spcAft>
                <a:spcPts val="600"/>
              </a:spcAft>
              <a:buClrTx/>
              <a:buSzPct val="100000"/>
              <a:buNone/>
            </a:pPr>
            <a:r>
              <a:rPr lang="en" sz="2400" b="1" dirty="0">
                <a:solidFill>
                  <a:schemeClr val="tx1"/>
                </a:solidFill>
                <a:latin typeface="Aptos" panose="020B0004020202020204" pitchFamily="34" charset="0"/>
              </a:rPr>
              <a:t>Security</a:t>
            </a:r>
            <a:r>
              <a:rPr lang="en" sz="2400" dirty="0">
                <a:solidFill>
                  <a:schemeClr val="tx1"/>
                </a:solidFill>
                <a:latin typeface="Aptos" panose="020B0004020202020204" pitchFamily="34" charset="0"/>
              </a:rPr>
              <a:t>: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DoT only </a:t>
            </a:r>
            <a:r>
              <a:rPr lang="en-US" sz="2400" b="1" i="1" dirty="0">
                <a:solidFill>
                  <a:srgbClr val="C00000"/>
                </a:solidFill>
                <a:latin typeface="Aptos" panose="020B0004020202020204" pitchFamily="34" charset="0"/>
              </a:rPr>
              <a:t>secures the link</a:t>
            </a:r>
            <a:r>
              <a:rPr lang="en-US" sz="2400" dirty="0">
                <a:solidFill>
                  <a:srgbClr val="C00000"/>
                </a:solidFill>
                <a:latin typeface="Aptos" panose="020B0004020202020204" pitchFamily="34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between the stub resolver and the recursive resolver</a:t>
            </a:r>
            <a:endParaRPr lang="en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457200" indent="-342900">
              <a:spcAft>
                <a:spcPts val="600"/>
              </a:spcAft>
              <a:buClrTx/>
              <a:buSzPct val="100000"/>
            </a:pPr>
            <a:r>
              <a:rPr lang="en" sz="2333" dirty="0">
                <a:solidFill>
                  <a:schemeClr val="tx1"/>
                </a:solidFill>
                <a:latin typeface="Aptos" panose="020B0004020202020204" pitchFamily="34" charset="0"/>
              </a:rPr>
              <a:t>Malicious RR has full MITM capability</a:t>
            </a:r>
          </a:p>
          <a:p>
            <a:pPr marL="1066784" lvl="2" indent="-342900">
              <a:spcAft>
                <a:spcPts val="600"/>
              </a:spcAft>
              <a:buClrTx/>
              <a:buSzPct val="100000"/>
              <a:buFont typeface="Arial"/>
              <a:buChar char="●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Can modify any responses before encryption</a:t>
            </a:r>
            <a:endParaRPr lang="en" sz="2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457200" lvl="1" indent="-342900">
              <a:spcAft>
                <a:spcPts val="600"/>
              </a:spcAft>
              <a:buClrTx/>
              <a:buSzPct val="100000"/>
              <a:buFont typeface="Arial"/>
              <a:buChar char="●"/>
            </a:pPr>
            <a:r>
              <a:rPr lang="en" sz="2400" dirty="0">
                <a:solidFill>
                  <a:schemeClr val="tx1"/>
                </a:solidFill>
                <a:latin typeface="Aptos" panose="020B0004020202020204" pitchFamily="34" charset="0"/>
              </a:rPr>
              <a:t>User must trust their recursive resolver</a:t>
            </a:r>
          </a:p>
          <a:p>
            <a:pPr marL="0" indent="0">
              <a:spcAft>
                <a:spcPts val="600"/>
              </a:spcAft>
              <a:buClrTx/>
              <a:buSzPct val="100000"/>
              <a:buNone/>
            </a:pPr>
            <a:endParaRPr sz="2333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114300" lvl="0" indent="0" algn="l" rtl="0">
              <a:spcBef>
                <a:spcPts val="0"/>
              </a:spcBef>
              <a:spcAft>
                <a:spcPts val="600"/>
              </a:spcAft>
              <a:buClrTx/>
              <a:buSzPct val="100000"/>
              <a:buNone/>
            </a:pPr>
            <a:r>
              <a:rPr lang="en" sz="2400" b="1" dirty="0">
                <a:solidFill>
                  <a:schemeClr val="tx1"/>
                </a:solidFill>
                <a:latin typeface="Aptos" panose="020B0004020202020204" pitchFamily="34" charset="0"/>
              </a:rPr>
              <a:t>Security</a:t>
            </a:r>
            <a:r>
              <a:rPr lang="en" sz="2400" dirty="0">
                <a:solidFill>
                  <a:schemeClr val="tx1"/>
                </a:solidFill>
                <a:latin typeface="Aptos" panose="020B0004020202020204" pitchFamily="34" charset="0"/>
              </a:rPr>
              <a:t>: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DoT </a:t>
            </a:r>
            <a:r>
              <a:rPr lang="en-US" sz="2400" b="1" i="1" dirty="0">
                <a:solidFill>
                  <a:srgbClr val="C00000"/>
                </a:solidFill>
                <a:latin typeface="Aptos" panose="020B0004020202020204" pitchFamily="34" charset="0"/>
              </a:rPr>
              <a:t>doesn't authenticate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authoritative responses</a:t>
            </a:r>
          </a:p>
          <a:p>
            <a:pPr marL="457200" indent="-342900">
              <a:spcAft>
                <a:spcPts val="600"/>
              </a:spcAft>
              <a:buClrTx/>
              <a:buSzPct val="100000"/>
            </a:pPr>
            <a:r>
              <a:rPr lang="en-US" sz="2333" dirty="0">
                <a:solidFill>
                  <a:schemeClr val="tx1"/>
                </a:solidFill>
                <a:latin typeface="Aptos" panose="020B0004020202020204" pitchFamily="34" charset="0"/>
              </a:rPr>
              <a:t>Active attackers</a:t>
            </a:r>
            <a:r>
              <a:rPr lang="en" sz="2333" dirty="0">
                <a:solidFill>
                  <a:schemeClr val="tx1"/>
                </a:solidFill>
                <a:latin typeface="Aptos" panose="020B0004020202020204" pitchFamily="34" charset="0"/>
              </a:rPr>
              <a:t> can still poison the DNS cache</a:t>
            </a:r>
          </a:p>
          <a:p>
            <a:pPr marL="457200" indent="-342900">
              <a:spcAft>
                <a:spcPts val="600"/>
              </a:spcAft>
              <a:buClrTx/>
              <a:buSzPct val="100000"/>
            </a:pPr>
            <a:r>
              <a:rPr lang="en-US" sz="2333" dirty="0">
                <a:solidFill>
                  <a:schemeClr val="tx1"/>
                </a:solidFill>
                <a:latin typeface="Aptos" panose="020B0004020202020204" pitchFamily="34" charset="0"/>
              </a:rPr>
              <a:t>No cryptographic verification of DNS data</a:t>
            </a:r>
            <a:endParaRPr sz="2333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1CBCC92-EB66-0A15-D176-C410D7F4B45B}"/>
              </a:ext>
            </a:extLst>
          </p:cNvPr>
          <p:cNvGrpSpPr/>
          <p:nvPr/>
        </p:nvGrpSpPr>
        <p:grpSpPr>
          <a:xfrm>
            <a:off x="7752432" y="1958738"/>
            <a:ext cx="4170925" cy="3424625"/>
            <a:chOff x="7098005" y="1942410"/>
            <a:chExt cx="4170925" cy="3424625"/>
          </a:xfrm>
        </p:grpSpPr>
        <p:sp>
          <p:nvSpPr>
            <p:cNvPr id="5" name="Google Shape;134;p22">
              <a:extLst>
                <a:ext uri="{FF2B5EF4-FFF2-40B4-BE49-F238E27FC236}">
                  <a16:creationId xmlns:a16="http://schemas.microsoft.com/office/drawing/2014/main" id="{77E5F82B-EA3D-D7B4-B83C-3914D2811BAD}"/>
                </a:ext>
              </a:extLst>
            </p:cNvPr>
            <p:cNvSpPr txBox="1"/>
            <p:nvPr/>
          </p:nvSpPr>
          <p:spPr>
            <a:xfrm>
              <a:off x="10001730" y="2834083"/>
              <a:ext cx="1238100" cy="3648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urier New" panose="02070309020205020404" pitchFamily="49" charset="0"/>
                  <a:ea typeface="Courier New"/>
                  <a:cs typeface="Courier New" panose="02070309020205020404" pitchFamily="49" charset="0"/>
                  <a:sym typeface="Courier New"/>
                </a:rPr>
                <a:t>.</a:t>
              </a:r>
              <a:r>
                <a:rPr lang="en">
                  <a:latin typeface="Courier New" panose="02070309020205020404" pitchFamily="49" charset="0"/>
                  <a:cs typeface="Courier New" panose="02070309020205020404" pitchFamily="49" charset="0"/>
                </a:rPr>
                <a:t>(root)</a:t>
              </a:r>
              <a:endParaRPr>
                <a:latin typeface="Courier New" panose="02070309020205020404" pitchFamily="49" charset="0"/>
                <a:ea typeface="Courier New"/>
                <a:cs typeface="Courier New" panose="02070309020205020404" pitchFamily="49" charset="0"/>
                <a:sym typeface="Courier New"/>
              </a:endParaRPr>
            </a:p>
          </p:txBody>
        </p:sp>
        <p:sp>
          <p:nvSpPr>
            <p:cNvPr id="6" name="Google Shape;135;p22">
              <a:extLst>
                <a:ext uri="{FF2B5EF4-FFF2-40B4-BE49-F238E27FC236}">
                  <a16:creationId xmlns:a16="http://schemas.microsoft.com/office/drawing/2014/main" id="{955D5FF2-537E-EE0F-0274-83EB4273546F}"/>
                </a:ext>
              </a:extLst>
            </p:cNvPr>
            <p:cNvSpPr txBox="1"/>
            <p:nvPr/>
          </p:nvSpPr>
          <p:spPr>
            <a:xfrm>
              <a:off x="10255020" y="3852879"/>
              <a:ext cx="731520" cy="393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ourier New"/>
                  <a:ea typeface="Courier New"/>
                  <a:cs typeface="Courier New"/>
                  <a:sym typeface="Courier New"/>
                </a:rPr>
                <a:t>.edu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36;p22">
              <a:extLst>
                <a:ext uri="{FF2B5EF4-FFF2-40B4-BE49-F238E27FC236}">
                  <a16:creationId xmlns:a16="http://schemas.microsoft.com/office/drawing/2014/main" id="{BEFFB111-9FC7-EA3C-EB9D-AC1701A2A23E}"/>
                </a:ext>
              </a:extLst>
            </p:cNvPr>
            <p:cNvSpPr txBox="1"/>
            <p:nvPr/>
          </p:nvSpPr>
          <p:spPr>
            <a:xfrm>
              <a:off x="9972630" y="4763310"/>
              <a:ext cx="1296300" cy="3936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latin typeface="Courier New"/>
                  <a:ea typeface="Courier New"/>
                  <a:cs typeface="Courier New"/>
                  <a:sym typeface="Courier New"/>
                </a:rPr>
                <a:t>msoe.edu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" name="Google Shape;137;p22">
              <a:extLst>
                <a:ext uri="{FF2B5EF4-FFF2-40B4-BE49-F238E27FC236}">
                  <a16:creationId xmlns:a16="http://schemas.microsoft.com/office/drawing/2014/main" id="{12F3CB60-5BA4-B00B-1169-8B82D308B620}"/>
                </a:ext>
              </a:extLst>
            </p:cNvPr>
            <p:cNvCxnSpPr>
              <a:stCxn id="5" idx="2"/>
              <a:endCxn id="6" idx="0"/>
            </p:cNvCxnSpPr>
            <p:nvPr/>
          </p:nvCxnSpPr>
          <p:spPr>
            <a:xfrm>
              <a:off x="10620780" y="3198883"/>
              <a:ext cx="0" cy="653996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138;p22">
              <a:extLst>
                <a:ext uri="{FF2B5EF4-FFF2-40B4-BE49-F238E27FC236}">
                  <a16:creationId xmlns:a16="http://schemas.microsoft.com/office/drawing/2014/main" id="{D0A9026E-0FD6-53C0-DAE6-1940DEF077A5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>
              <a:off x="10620780" y="4246479"/>
              <a:ext cx="0" cy="516831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" name="Google Shape;139;p22">
              <a:extLst>
                <a:ext uri="{FF2B5EF4-FFF2-40B4-BE49-F238E27FC236}">
                  <a16:creationId xmlns:a16="http://schemas.microsoft.com/office/drawing/2014/main" id="{EB8447D3-5288-B375-2D1E-CD1A6ADD7C1B}"/>
                </a:ext>
              </a:extLst>
            </p:cNvPr>
            <p:cNvSpPr txBox="1"/>
            <p:nvPr/>
          </p:nvSpPr>
          <p:spPr>
            <a:xfrm>
              <a:off x="7098005" y="1942410"/>
              <a:ext cx="1238100" cy="6543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Stub Resolver</a:t>
              </a:r>
              <a:endParaRPr dirty="0"/>
            </a:p>
          </p:txBody>
        </p:sp>
        <p:sp>
          <p:nvSpPr>
            <p:cNvPr id="11" name="Google Shape;140;p22">
              <a:extLst>
                <a:ext uri="{FF2B5EF4-FFF2-40B4-BE49-F238E27FC236}">
                  <a16:creationId xmlns:a16="http://schemas.microsoft.com/office/drawing/2014/main" id="{1D07217E-F807-28AA-0D23-210B630030EF}"/>
                </a:ext>
              </a:extLst>
            </p:cNvPr>
            <p:cNvSpPr txBox="1"/>
            <p:nvPr/>
          </p:nvSpPr>
          <p:spPr>
            <a:xfrm>
              <a:off x="7102630" y="3448760"/>
              <a:ext cx="1238100" cy="16308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Recursive Resolver</a:t>
              </a:r>
              <a:endParaRPr dirty="0"/>
            </a:p>
          </p:txBody>
        </p:sp>
        <p:cxnSp>
          <p:nvCxnSpPr>
            <p:cNvPr id="12" name="Google Shape;141;p22">
              <a:extLst>
                <a:ext uri="{FF2B5EF4-FFF2-40B4-BE49-F238E27FC236}">
                  <a16:creationId xmlns:a16="http://schemas.microsoft.com/office/drawing/2014/main" id="{E1F639A7-F2DF-12A7-BF1B-F7182AD391A4}"/>
                </a:ext>
              </a:extLst>
            </p:cNvPr>
            <p:cNvCxnSpPr/>
            <p:nvPr/>
          </p:nvCxnSpPr>
          <p:spPr>
            <a:xfrm rot="10800000" flipH="1">
              <a:off x="8431905" y="2911310"/>
              <a:ext cx="1540800" cy="643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" name="Google Shape;142;p22">
              <a:extLst>
                <a:ext uri="{FF2B5EF4-FFF2-40B4-BE49-F238E27FC236}">
                  <a16:creationId xmlns:a16="http://schemas.microsoft.com/office/drawing/2014/main" id="{ED354A00-88DD-8D17-B4A1-18614CE867C4}"/>
                </a:ext>
              </a:extLst>
            </p:cNvPr>
            <p:cNvCxnSpPr/>
            <p:nvPr/>
          </p:nvCxnSpPr>
          <p:spPr>
            <a:xfrm rot="10800000" flipH="1">
              <a:off x="8443029" y="3030210"/>
              <a:ext cx="1529700" cy="634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4" name="Google Shape;143;p22">
              <a:extLst>
                <a:ext uri="{FF2B5EF4-FFF2-40B4-BE49-F238E27FC236}">
                  <a16:creationId xmlns:a16="http://schemas.microsoft.com/office/drawing/2014/main" id="{93CA0D77-E9D3-CE15-4F6A-20821C5885B7}"/>
                </a:ext>
              </a:extLst>
            </p:cNvPr>
            <p:cNvCxnSpPr/>
            <p:nvPr/>
          </p:nvCxnSpPr>
          <p:spPr>
            <a:xfrm rot="10800000" flipH="1">
              <a:off x="8466428" y="4015073"/>
              <a:ext cx="1769700" cy="249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" name="Google Shape;144;p22">
              <a:extLst>
                <a:ext uri="{FF2B5EF4-FFF2-40B4-BE49-F238E27FC236}">
                  <a16:creationId xmlns:a16="http://schemas.microsoft.com/office/drawing/2014/main" id="{20357A36-C3EE-A6FA-7DCD-970A63FF062F}"/>
                </a:ext>
              </a:extLst>
            </p:cNvPr>
            <p:cNvCxnSpPr/>
            <p:nvPr/>
          </p:nvCxnSpPr>
          <p:spPr>
            <a:xfrm rot="10800000" flipH="1">
              <a:off x="8471818" y="4156198"/>
              <a:ext cx="1769700" cy="249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cxnSp>
          <p:nvCxnSpPr>
            <p:cNvPr id="16" name="Google Shape;145;p22">
              <a:extLst>
                <a:ext uri="{FF2B5EF4-FFF2-40B4-BE49-F238E27FC236}">
                  <a16:creationId xmlns:a16="http://schemas.microsoft.com/office/drawing/2014/main" id="{BCBDA85D-399F-33AA-C15C-A4C4DC903BCF}"/>
                </a:ext>
              </a:extLst>
            </p:cNvPr>
            <p:cNvCxnSpPr/>
            <p:nvPr/>
          </p:nvCxnSpPr>
          <p:spPr>
            <a:xfrm>
              <a:off x="8431718" y="4763310"/>
              <a:ext cx="1540800" cy="271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" name="Google Shape;146;p22">
              <a:extLst>
                <a:ext uri="{FF2B5EF4-FFF2-40B4-BE49-F238E27FC236}">
                  <a16:creationId xmlns:a16="http://schemas.microsoft.com/office/drawing/2014/main" id="{BE458FCE-BFA2-6861-9E2E-C8D05AAC8B28}"/>
                </a:ext>
              </a:extLst>
            </p:cNvPr>
            <p:cNvCxnSpPr/>
            <p:nvPr/>
          </p:nvCxnSpPr>
          <p:spPr>
            <a:xfrm>
              <a:off x="8386285" y="4885137"/>
              <a:ext cx="1540800" cy="2718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18" name="Google Shape;147;p22">
              <a:extLst>
                <a:ext uri="{FF2B5EF4-FFF2-40B4-BE49-F238E27FC236}">
                  <a16:creationId xmlns:a16="http://schemas.microsoft.com/office/drawing/2014/main" id="{0E936BD4-7DEB-FE02-EC1C-2ECCEA7B5DA7}"/>
                </a:ext>
              </a:extLst>
            </p:cNvPr>
            <p:cNvSpPr txBox="1"/>
            <p:nvPr/>
          </p:nvSpPr>
          <p:spPr>
            <a:xfrm>
              <a:off x="8965364" y="4553176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48;p22">
              <a:extLst>
                <a:ext uri="{FF2B5EF4-FFF2-40B4-BE49-F238E27FC236}">
                  <a16:creationId xmlns:a16="http://schemas.microsoft.com/office/drawing/2014/main" id="{0E460A2E-6E00-AADF-36BC-CDA0B7629152}"/>
                </a:ext>
              </a:extLst>
            </p:cNvPr>
            <p:cNvSpPr txBox="1"/>
            <p:nvPr/>
          </p:nvSpPr>
          <p:spPr>
            <a:xfrm>
              <a:off x="8937898" y="4970435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49;p22">
              <a:extLst>
                <a:ext uri="{FF2B5EF4-FFF2-40B4-BE49-F238E27FC236}">
                  <a16:creationId xmlns:a16="http://schemas.microsoft.com/office/drawing/2014/main" id="{FA420E86-6CE6-19E8-A268-06EC476100A1}"/>
                </a:ext>
              </a:extLst>
            </p:cNvPr>
            <p:cNvSpPr txBox="1"/>
            <p:nvPr/>
          </p:nvSpPr>
          <p:spPr>
            <a:xfrm>
              <a:off x="9111993" y="3789091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150;p22">
              <a:extLst>
                <a:ext uri="{FF2B5EF4-FFF2-40B4-BE49-F238E27FC236}">
                  <a16:creationId xmlns:a16="http://schemas.microsoft.com/office/drawing/2014/main" id="{2C3A9918-75E0-CFBF-4013-4A20CA6994D4}"/>
                </a:ext>
              </a:extLst>
            </p:cNvPr>
            <p:cNvSpPr txBox="1"/>
            <p:nvPr/>
          </p:nvSpPr>
          <p:spPr>
            <a:xfrm>
              <a:off x="9180456" y="4185673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151;p22">
              <a:extLst>
                <a:ext uri="{FF2B5EF4-FFF2-40B4-BE49-F238E27FC236}">
                  <a16:creationId xmlns:a16="http://schemas.microsoft.com/office/drawing/2014/main" id="{F72171F3-1377-7D6B-B6FE-B2B960E84CC9}"/>
                </a:ext>
              </a:extLst>
            </p:cNvPr>
            <p:cNvSpPr txBox="1"/>
            <p:nvPr/>
          </p:nvSpPr>
          <p:spPr>
            <a:xfrm>
              <a:off x="7160265" y="2766912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152;p22">
              <a:extLst>
                <a:ext uri="{FF2B5EF4-FFF2-40B4-BE49-F238E27FC236}">
                  <a16:creationId xmlns:a16="http://schemas.microsoft.com/office/drawing/2014/main" id="{0AAA3E54-A5F8-E05C-3A56-F73D1965D5F3}"/>
                </a:ext>
              </a:extLst>
            </p:cNvPr>
            <p:cNvSpPr txBox="1"/>
            <p:nvPr/>
          </p:nvSpPr>
          <p:spPr>
            <a:xfrm>
              <a:off x="8915072" y="3329692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" name="Google Shape;153;p22">
              <a:extLst>
                <a:ext uri="{FF2B5EF4-FFF2-40B4-BE49-F238E27FC236}">
                  <a16:creationId xmlns:a16="http://schemas.microsoft.com/office/drawing/2014/main" id="{85FD177E-4877-EDA0-7B46-54F94F676A91}"/>
                </a:ext>
              </a:extLst>
            </p:cNvPr>
            <p:cNvCxnSpPr/>
            <p:nvPr/>
          </p:nvCxnSpPr>
          <p:spPr>
            <a:xfrm rot="10800000">
              <a:off x="7948855" y="2641288"/>
              <a:ext cx="0" cy="762900"/>
            </a:xfrm>
            <a:prstGeom prst="straightConnector1">
              <a:avLst/>
            </a:prstGeom>
            <a:noFill/>
            <a:ln w="57150" cap="flat" cmpd="sng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" name="Google Shape;154;p22">
              <a:extLst>
                <a:ext uri="{FF2B5EF4-FFF2-40B4-BE49-F238E27FC236}">
                  <a16:creationId xmlns:a16="http://schemas.microsoft.com/office/drawing/2014/main" id="{817DE9C6-5AE6-333F-1C3E-BD14A01923D0}"/>
                </a:ext>
              </a:extLst>
            </p:cNvPr>
            <p:cNvCxnSpPr/>
            <p:nvPr/>
          </p:nvCxnSpPr>
          <p:spPr>
            <a:xfrm rot="10800000">
              <a:off x="7432055" y="2641288"/>
              <a:ext cx="0" cy="762900"/>
            </a:xfrm>
            <a:prstGeom prst="straightConnector1">
              <a:avLst/>
            </a:prstGeom>
            <a:noFill/>
            <a:ln w="57150" cap="flat" cmpd="sng">
              <a:solidFill>
                <a:srgbClr val="C00000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26" name="Google Shape;155;p22">
              <a:extLst>
                <a:ext uri="{FF2B5EF4-FFF2-40B4-BE49-F238E27FC236}">
                  <a16:creationId xmlns:a16="http://schemas.microsoft.com/office/drawing/2014/main" id="{C2DCA491-A605-67E6-93EF-034A04F4920B}"/>
                </a:ext>
              </a:extLst>
            </p:cNvPr>
            <p:cNvSpPr txBox="1"/>
            <p:nvPr/>
          </p:nvSpPr>
          <p:spPr>
            <a:xfrm>
              <a:off x="7948865" y="2766912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b="1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156;p22">
              <a:extLst>
                <a:ext uri="{FF2B5EF4-FFF2-40B4-BE49-F238E27FC236}">
                  <a16:creationId xmlns:a16="http://schemas.microsoft.com/office/drawing/2014/main" id="{DD48ED44-DA95-A1C8-77ED-FB44225E33EF}"/>
                </a:ext>
              </a:extLst>
            </p:cNvPr>
            <p:cNvSpPr txBox="1"/>
            <p:nvPr/>
          </p:nvSpPr>
          <p:spPr>
            <a:xfrm>
              <a:off x="8826347" y="2997567"/>
              <a:ext cx="410100" cy="39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3690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9;p140">
            <a:extLst>
              <a:ext uri="{FF2B5EF4-FFF2-40B4-BE49-F238E27FC236}">
                <a16:creationId xmlns:a16="http://schemas.microsoft.com/office/drawing/2014/main" id="{A1BBD3EA-B48A-9405-9D84-E991AC006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62049"/>
            <a:ext cx="11360800" cy="93399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400" dirty="0">
                <a:latin typeface="Aptos Display (Headings)"/>
              </a:rPr>
              <a:t>DNS over TLS in Practice</a:t>
            </a:r>
            <a:endParaRPr sz="4400" dirty="0">
              <a:latin typeface="Aptos Display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68555-5730-B08B-BF1D-D75AD7DDDAD7}"/>
              </a:ext>
            </a:extLst>
          </p:cNvPr>
          <p:cNvSpPr txBox="1"/>
          <p:nvPr/>
        </p:nvSpPr>
        <p:spPr>
          <a:xfrm>
            <a:off x="354555" y="1238717"/>
            <a:ext cx="11482889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Implemented by Google and Cloudflare: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Google Public DNS (8.8.8.8): DoT available on port 853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Cloudflare (1.1.1.1): DoT available on port 853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Want to try DoT? Install </a:t>
            </a:r>
            <a:r>
              <a:rPr lang="en-US" sz="2200" dirty="0">
                <a:hlinkClick r:id="rId3"/>
              </a:rPr>
              <a:t>Knot DNS tools </a:t>
            </a:r>
            <a:r>
              <a:rPr lang="en-US" sz="2200" dirty="0"/>
              <a:t>on SEED VM and follow </a:t>
            </a:r>
            <a:r>
              <a:rPr lang="en-US" sz="2200" dirty="0">
                <a:hlinkClick r:id="rId4"/>
              </a:rPr>
              <a:t>Cloudflare tutorial</a:t>
            </a:r>
            <a:endParaRPr lang="en-US" sz="22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Benefits: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Prevents on-path tampering of DNS traffic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Modern networks minimize TLS overhead (TLS 1.3); The overhead is not a big deal.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Limitations: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Only defends against network attackers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Malicious recursive resolver can still poison responses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Does not </a:t>
            </a:r>
            <a:r>
              <a:rPr lang="en-US" sz="2200" dirty="0">
                <a:solidFill>
                  <a:srgbClr val="C00000"/>
                </a:solidFill>
              </a:rPr>
              <a:t>authenticate</a:t>
            </a:r>
            <a:r>
              <a:rPr lang="en-US" sz="2200" dirty="0"/>
              <a:t> DNS data from authoritative name servers</a:t>
            </a:r>
          </a:p>
          <a:p>
            <a:pPr>
              <a:spcAft>
                <a:spcPts val="600"/>
              </a:spcAft>
            </a:pPr>
            <a:endParaRPr lang="en-US" sz="2200" i="1" dirty="0">
              <a:solidFill>
                <a:srgbClr val="C0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2200" b="1" i="1" dirty="0">
                <a:solidFill>
                  <a:srgbClr val="C00000"/>
                </a:solidFill>
              </a:rPr>
              <a:t>DNS over TLS is not enough to fully secure DNS!</a:t>
            </a:r>
          </a:p>
        </p:txBody>
      </p:sp>
    </p:spTree>
    <p:extLst>
      <p:ext uri="{BB962C8B-B14F-4D97-AF65-F5344CB8AC3E}">
        <p14:creationId xmlns:p14="http://schemas.microsoft.com/office/powerpoint/2010/main" val="3253982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9;p140">
            <a:extLst>
              <a:ext uri="{FF2B5EF4-FFF2-40B4-BE49-F238E27FC236}">
                <a16:creationId xmlns:a16="http://schemas.microsoft.com/office/drawing/2014/main" id="{A1BBD3EA-B48A-9405-9D84-E991AC006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599" y="85134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000" dirty="0">
                <a:latin typeface="Aptos Display (Headings)"/>
              </a:rPr>
              <a:t>DNS over TLS: Object Security and Channel Security</a:t>
            </a:r>
            <a:endParaRPr sz="4000" dirty="0">
              <a:latin typeface="Aptos Display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3AA49C-AC2D-A6F0-48E4-48A1F61DA8EC}"/>
              </a:ext>
            </a:extLst>
          </p:cNvPr>
          <p:cNvSpPr txBox="1"/>
          <p:nvPr/>
        </p:nvSpPr>
        <p:spPr>
          <a:xfrm>
            <a:off x="596964" y="1041023"/>
            <a:ext cx="10998071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i="1" dirty="0">
                <a:solidFill>
                  <a:srgbClr val="C00000"/>
                </a:solidFill>
                <a:latin typeface="Aptos" panose="020B0004020202020204" pitchFamily="34" charset="0"/>
              </a:rPr>
              <a:t>Channel security: </a:t>
            </a:r>
            <a:r>
              <a:rPr lang="en-US" sz="2400" dirty="0">
                <a:latin typeface="Aptos" panose="020B0004020202020204" pitchFamily="34" charset="0"/>
              </a:rPr>
              <a:t>Securing the communication </a:t>
            </a:r>
            <a:r>
              <a:rPr lang="en-US" sz="2400" dirty="0">
                <a:solidFill>
                  <a:srgbClr val="C00000"/>
                </a:solidFill>
                <a:latin typeface="Aptos" panose="020B0004020202020204" pitchFamily="34" charset="0"/>
              </a:rPr>
              <a:t>channel</a:t>
            </a:r>
            <a:r>
              <a:rPr lang="en-US" sz="2400" dirty="0">
                <a:latin typeface="Aptos" panose="020B0004020202020204" pitchFamily="34" charset="0"/>
              </a:rPr>
              <a:t> between two end hosts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Provides confidentiality/integrity/authenticity/anonymity for data in transit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For example: TLS, VPN</a:t>
            </a:r>
          </a:p>
          <a:p>
            <a:pPr>
              <a:spcAft>
                <a:spcPts val="600"/>
              </a:spcAft>
            </a:pPr>
            <a:r>
              <a:rPr lang="en-US" sz="2400" b="1" i="1" dirty="0">
                <a:solidFill>
                  <a:srgbClr val="C00000"/>
                </a:solidFill>
                <a:latin typeface="Aptos" panose="020B0004020202020204" pitchFamily="34" charset="0"/>
              </a:rPr>
              <a:t>Object security: </a:t>
            </a:r>
            <a:r>
              <a:rPr lang="en-US" sz="2400" dirty="0">
                <a:latin typeface="Aptos" panose="020B0004020202020204" pitchFamily="34" charset="0"/>
              </a:rPr>
              <a:t>Securing the </a:t>
            </a:r>
            <a:r>
              <a:rPr lang="en-US" sz="2400" dirty="0">
                <a:solidFill>
                  <a:srgbClr val="C00000"/>
                </a:solidFill>
                <a:latin typeface="Aptos" panose="020B0004020202020204" pitchFamily="34" charset="0"/>
              </a:rPr>
              <a:t>data</a:t>
            </a:r>
            <a:r>
              <a:rPr lang="en-US" sz="2400" dirty="0">
                <a:latin typeface="Aptos" panose="020B0004020202020204" pitchFamily="34" charset="0"/>
              </a:rPr>
              <a:t> itself (in transit or in storage)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Data is encrypted/signed/verified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For example: Encryption, Digital Signature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000" dirty="0"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Aptos" panose="020B0004020202020204" pitchFamily="34" charset="0"/>
              </a:rPr>
              <a:t>Main problem of DNS over TLS: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DoT provides channel security (stub resolver and recursive resolver)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To fully secure DNS, we </a:t>
            </a:r>
            <a:r>
              <a:rPr lang="en-US" sz="2400" i="1" dirty="0">
                <a:solidFill>
                  <a:srgbClr val="C00000"/>
                </a:solidFill>
                <a:latin typeface="Aptos" panose="020B0004020202020204" pitchFamily="34" charset="0"/>
              </a:rPr>
              <a:t>need object security</a:t>
            </a:r>
            <a:r>
              <a:rPr lang="en-US" sz="2400" dirty="0">
                <a:latin typeface="Aptos" panose="020B0004020202020204" pitchFamily="34" charset="0"/>
              </a:rPr>
              <a:t>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Cryptographically sign DNS records at the source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Verify signatures at the user (stub resolver), regardless of intermediaries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This is what </a:t>
            </a:r>
            <a:r>
              <a:rPr lang="en-US" sz="2400" b="1" dirty="0">
                <a:solidFill>
                  <a:srgbClr val="C00000"/>
                </a:solidFill>
                <a:latin typeface="Aptos" panose="020B0004020202020204" pitchFamily="34" charset="0"/>
              </a:rPr>
              <a:t>DNSSEC</a:t>
            </a:r>
            <a:r>
              <a:rPr lang="en-US" sz="2400" dirty="0">
                <a:latin typeface="Aptos" panose="020B0004020202020204" pitchFamily="34" charset="0"/>
              </a:rPr>
              <a:t> provides</a:t>
            </a:r>
          </a:p>
        </p:txBody>
      </p:sp>
    </p:spTree>
    <p:extLst>
      <p:ext uri="{BB962C8B-B14F-4D97-AF65-F5344CB8AC3E}">
        <p14:creationId xmlns:p14="http://schemas.microsoft.com/office/powerpoint/2010/main" val="2523718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2D7E-6DD8-75F1-105E-CBDAB2C2F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D286C-C901-CBAF-57DF-4F86F6BDB705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795DDB3-F368-9DE6-031D-7D02D867953D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508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 over TLS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DNSSEC: Design Ideas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DNSSEC: Implementation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zh-CN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 Security: Summary</a:t>
            </a: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475" indent="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  <a:buNone/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529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9;p140">
            <a:extLst>
              <a:ext uri="{FF2B5EF4-FFF2-40B4-BE49-F238E27FC236}">
                <a16:creationId xmlns:a16="http://schemas.microsoft.com/office/drawing/2014/main" id="{A1BBD3EA-B48A-9405-9D84-E991AC006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33499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400" dirty="0">
                <a:latin typeface="Aptos Display (Headings)"/>
              </a:rPr>
              <a:t>DNSSEC</a:t>
            </a:r>
            <a:endParaRPr sz="4400" dirty="0">
              <a:latin typeface="Aptos Display (Headings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6E147C-89A3-764C-A530-413669ED8F29}"/>
              </a:ext>
            </a:extLst>
          </p:cNvPr>
          <p:cNvSpPr txBox="1"/>
          <p:nvPr/>
        </p:nvSpPr>
        <p:spPr>
          <a:xfrm>
            <a:off x="415600" y="1470770"/>
            <a:ext cx="11071550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396" indent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C00000"/>
                </a:solidFill>
                <a:latin typeface="Aptos" panose="020B0004020202020204" pitchFamily="34" charset="0"/>
              </a:rPr>
              <a:t>DNSSEC (DNS Security Extensions): </a:t>
            </a: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An extension of the DNS protocol that ensures integrity and authenticity on the results</a:t>
            </a:r>
          </a:p>
          <a:p>
            <a:pPr marL="495296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Designed to cryptographically prove that returned answers are correct</a:t>
            </a:r>
          </a:p>
          <a:p>
            <a:pPr marL="495296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Uses a hierarchical, distributed trust system to validate records</a:t>
            </a:r>
          </a:p>
          <a:p>
            <a:pPr marL="152396" indent="0">
              <a:spcAft>
                <a:spcPts val="600"/>
              </a:spcAft>
              <a:buNone/>
            </a:pPr>
            <a:endParaRPr lang="en-US" sz="2400" dirty="0">
              <a:latin typeface="Aptos" panose="020B0004020202020204" pitchFamily="34" charset="0"/>
            </a:endParaRPr>
          </a:p>
          <a:p>
            <a:pPr marL="152396" indent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DNSSEC is backwards-compatible</a:t>
            </a:r>
          </a:p>
          <a:p>
            <a:pPr marL="495296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Aptos" panose="020B0004020202020204" pitchFamily="34" charset="0"/>
              </a:rPr>
              <a:t>DNSSEC is built on top of ordinary DNS</a:t>
            </a:r>
          </a:p>
          <a:p>
            <a:pPr marL="495296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Some, but not all name servers support DNSSEC</a:t>
            </a:r>
          </a:p>
          <a:p>
            <a:pPr marL="152396" indent="0">
              <a:spcAft>
                <a:spcPts val="600"/>
              </a:spcAft>
              <a:buNone/>
            </a:pPr>
            <a:endParaRPr lang="en-US" altLang="zh-CN" sz="2400" dirty="0">
              <a:latin typeface="Aptos" panose="020B0004020202020204" pitchFamily="34" charset="0"/>
            </a:endParaRPr>
          </a:p>
          <a:p>
            <a:pPr marL="152396" indent="0">
              <a:spcAft>
                <a:spcPts val="600"/>
              </a:spcAft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Aptos" panose="020B0004020202020204" pitchFamily="34" charset="0"/>
              </a:rPr>
              <a:t>DNSSEC Visualization tool: </a:t>
            </a:r>
            <a:r>
              <a:rPr lang="en-US" sz="2400" dirty="0" err="1">
                <a:latin typeface="Aptos" panose="020B0004020202020204" pitchFamily="34" charset="0"/>
                <a:hlinkClick r:id="rId3"/>
              </a:rPr>
              <a:t>DNSViz</a:t>
            </a:r>
            <a:r>
              <a:rPr lang="en-US" sz="2400" dirty="0">
                <a:latin typeface="Aptos" panose="020B0004020202020204" pitchFamily="34" charset="0"/>
                <a:hlinkClick r:id="rId3"/>
              </a:rPr>
              <a:t> | A DNS visualization tool</a:t>
            </a:r>
            <a:endParaRPr lang="en-US" sz="2400" dirty="0">
              <a:latin typeface="Aptos" panose="020B0004020202020204" pitchFamily="34" charset="0"/>
            </a:endParaRPr>
          </a:p>
          <a:p>
            <a:pPr marL="152396" indent="0">
              <a:spcAft>
                <a:spcPts val="600"/>
              </a:spcAft>
              <a:buNone/>
            </a:pPr>
            <a:endParaRPr lang="en-US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340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9;p140">
            <a:extLst>
              <a:ext uri="{FF2B5EF4-FFF2-40B4-BE49-F238E27FC236}">
                <a16:creationId xmlns:a16="http://schemas.microsoft.com/office/drawing/2014/main" id="{A1BBD3EA-B48A-9405-9D84-E991AC006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176349"/>
            <a:ext cx="11360800" cy="89222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400" dirty="0">
                <a:latin typeface="Aptos Display (Headings)"/>
              </a:rPr>
              <a:t>DNSSEC </a:t>
            </a:r>
            <a:r>
              <a:rPr lang="en-US" altLang="zh-CN" sz="4400" dirty="0">
                <a:latin typeface="Aptos Display (Headings)"/>
              </a:rPr>
              <a:t>from Scratch: Let’s Build it Together</a:t>
            </a:r>
            <a:endParaRPr sz="4400" dirty="0">
              <a:latin typeface="Aptos Display (Headings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4D175A-B44D-30C8-A66C-A6D12EDA265D}"/>
              </a:ext>
            </a:extLst>
          </p:cNvPr>
          <p:cNvSpPr txBox="1"/>
          <p:nvPr/>
        </p:nvSpPr>
        <p:spPr>
          <a:xfrm>
            <a:off x="457831" y="1950320"/>
            <a:ext cx="11276338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i="1" dirty="0">
                <a:solidFill>
                  <a:srgbClr val="C00000"/>
                </a:solidFill>
                <a:latin typeface="Aptos" panose="020B0004020202020204" pitchFamily="34" charset="0"/>
              </a:rPr>
              <a:t>Question 1</a:t>
            </a:r>
            <a:r>
              <a:rPr lang="en-US" sz="2400" dirty="0">
                <a:solidFill>
                  <a:srgbClr val="C00000"/>
                </a:solidFill>
                <a:latin typeface="Aptos" panose="020B0004020202020204" pitchFamily="34" charset="0"/>
              </a:rPr>
              <a:t>:</a:t>
            </a:r>
            <a:r>
              <a:rPr lang="en-US" sz="2400" dirty="0">
                <a:latin typeface="Aptos" panose="020B0004020202020204" pitchFamily="34" charset="0"/>
              </a:rPr>
              <a:t> What kind of cryptographic primitive should we use to ensure integrity on the DNS records?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MACs (symmetric-key) or digital signatures (public-key)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Digital signatures are the best solution: We want everyone to be able to verify integrity (not just the people with the symmetric key)</a:t>
            </a:r>
          </a:p>
          <a:p>
            <a:pPr>
              <a:spcAft>
                <a:spcPts val="600"/>
              </a:spcAft>
            </a:pPr>
            <a:endParaRPr lang="en-US" sz="2400" dirty="0"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b="1" i="1" dirty="0">
                <a:solidFill>
                  <a:srgbClr val="C00000"/>
                </a:solidFill>
                <a:latin typeface="Aptos" panose="020B0004020202020204" pitchFamily="34" charset="0"/>
              </a:rPr>
              <a:t>Question 2: </a:t>
            </a:r>
            <a:r>
              <a:rPr lang="en-US" sz="2400" dirty="0">
                <a:latin typeface="Aptos" panose="020B0004020202020204" pitchFamily="34" charset="0"/>
              </a:rPr>
              <a:t>How do we ensure the returned record is authentic?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The name servers should sign the record with their private key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Users verify the record with the name servers’ public key</a:t>
            </a:r>
          </a:p>
        </p:txBody>
      </p:sp>
    </p:spTree>
    <p:extLst>
      <p:ext uri="{BB962C8B-B14F-4D97-AF65-F5344CB8AC3E}">
        <p14:creationId xmlns:p14="http://schemas.microsoft.com/office/powerpoint/2010/main" val="1480962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9;p140">
            <a:extLst>
              <a:ext uri="{FF2B5EF4-FFF2-40B4-BE49-F238E27FC236}">
                <a16:creationId xmlns:a16="http://schemas.microsoft.com/office/drawing/2014/main" id="{A1BBD3EA-B48A-9405-9D84-E991AC006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25720"/>
            <a:ext cx="11360800" cy="86870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400" dirty="0">
                <a:latin typeface="Aptos Display (Headings)"/>
              </a:rPr>
              <a:t>DNSSEC </a:t>
            </a:r>
            <a:r>
              <a:rPr lang="en-US" altLang="zh-CN" sz="4400" dirty="0">
                <a:latin typeface="Aptos Display (Headings)"/>
              </a:rPr>
              <a:t>from Scratch: Let’s Build it Together</a:t>
            </a:r>
            <a:endParaRPr sz="4400" dirty="0">
              <a:latin typeface="Aptos Display (Headings)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98E78B-A923-5F70-F207-CADCDBC30ED4}"/>
              </a:ext>
            </a:extLst>
          </p:cNvPr>
          <p:cNvGrpSpPr/>
          <p:nvPr/>
        </p:nvGrpSpPr>
        <p:grpSpPr>
          <a:xfrm>
            <a:off x="1772850" y="4805112"/>
            <a:ext cx="8646300" cy="1737360"/>
            <a:chOff x="1854407" y="4198474"/>
            <a:chExt cx="8646300" cy="1737360"/>
          </a:xfrm>
        </p:grpSpPr>
        <p:sp>
          <p:nvSpPr>
            <p:cNvPr id="2" name="Google Shape;212;p30">
              <a:extLst>
                <a:ext uri="{FF2B5EF4-FFF2-40B4-BE49-F238E27FC236}">
                  <a16:creationId xmlns:a16="http://schemas.microsoft.com/office/drawing/2014/main" id="{8B6315F0-B16D-B6E5-6554-9190B5425290}"/>
                </a:ext>
              </a:extLst>
            </p:cNvPr>
            <p:cNvSpPr txBox="1"/>
            <p:nvPr/>
          </p:nvSpPr>
          <p:spPr>
            <a:xfrm>
              <a:off x="1854407" y="4198474"/>
              <a:ext cx="1238100" cy="173736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Recursive Resolver</a:t>
              </a:r>
              <a:endParaRPr/>
            </a:p>
          </p:txBody>
        </p:sp>
        <p:sp>
          <p:nvSpPr>
            <p:cNvPr id="3" name="Google Shape;213;p30">
              <a:extLst>
                <a:ext uri="{FF2B5EF4-FFF2-40B4-BE49-F238E27FC236}">
                  <a16:creationId xmlns:a16="http://schemas.microsoft.com/office/drawing/2014/main" id="{9DA3D553-1E1D-68C8-7ADF-798A5D7A7A59}"/>
                </a:ext>
              </a:extLst>
            </p:cNvPr>
            <p:cNvSpPr txBox="1"/>
            <p:nvPr/>
          </p:nvSpPr>
          <p:spPr>
            <a:xfrm>
              <a:off x="8890907" y="4198474"/>
              <a:ext cx="1609800" cy="173736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latin typeface="Courier New"/>
                  <a:ea typeface="Courier New"/>
                  <a:cs typeface="Courier New"/>
                  <a:sym typeface="Courier New"/>
                </a:rPr>
                <a:t>msoe.edu</a:t>
              </a:r>
              <a:r>
                <a:rPr lang="en" dirty="0"/>
                <a:t> name server</a:t>
              </a:r>
              <a:endParaRPr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" name="Google Shape;214;p30">
              <a:extLst>
                <a:ext uri="{FF2B5EF4-FFF2-40B4-BE49-F238E27FC236}">
                  <a16:creationId xmlns:a16="http://schemas.microsoft.com/office/drawing/2014/main" id="{5E1EEC9E-CC8C-015E-396A-9415E445D092}"/>
                </a:ext>
              </a:extLst>
            </p:cNvPr>
            <p:cNvGrpSpPr/>
            <p:nvPr/>
          </p:nvGrpSpPr>
          <p:grpSpPr>
            <a:xfrm>
              <a:off x="3178407" y="4266087"/>
              <a:ext cx="5647186" cy="461212"/>
              <a:chOff x="1812250" y="3305838"/>
              <a:chExt cx="5647186" cy="461212"/>
            </a:xfrm>
          </p:grpSpPr>
          <p:cxnSp>
            <p:nvCxnSpPr>
              <p:cNvPr id="7" name="Google Shape;215;p30">
                <a:extLst>
                  <a:ext uri="{FF2B5EF4-FFF2-40B4-BE49-F238E27FC236}">
                    <a16:creationId xmlns:a16="http://schemas.microsoft.com/office/drawing/2014/main" id="{A7B10273-0909-DD86-D363-2C9E0BEED8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2250" y="3767050"/>
                <a:ext cx="5647186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sp>
            <p:nvSpPr>
              <p:cNvPr id="8" name="Google Shape;216;p30">
                <a:extLst>
                  <a:ext uri="{FF2B5EF4-FFF2-40B4-BE49-F238E27FC236}">
                    <a16:creationId xmlns:a16="http://schemas.microsoft.com/office/drawing/2014/main" id="{3BBFD6E2-4A6E-48EF-9F3C-6EBAC7C4B34E}"/>
                  </a:ext>
                </a:extLst>
              </p:cNvPr>
              <p:cNvSpPr txBox="1"/>
              <p:nvPr/>
            </p:nvSpPr>
            <p:spPr>
              <a:xfrm>
                <a:off x="2038350" y="3305838"/>
                <a:ext cx="5257800" cy="393600"/>
              </a:xfrm>
              <a:prstGeom prst="rect">
                <a:avLst/>
              </a:prstGeom>
              <a:solidFill>
                <a:srgbClr val="FFAB40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dirty="0"/>
                  <a:t>What is the IP address of </a:t>
                </a:r>
                <a:r>
                  <a:rPr lang="en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eecs.msoe.edu</a:t>
                </a:r>
                <a:r>
                  <a:rPr lang="en" sz="1600" dirty="0"/>
                  <a:t>?</a:t>
                </a:r>
                <a:endParaRPr sz="1600" dirty="0"/>
              </a:p>
            </p:txBody>
          </p:sp>
        </p:grpSp>
        <p:grpSp>
          <p:nvGrpSpPr>
            <p:cNvPr id="9" name="Google Shape;217;p30">
              <a:extLst>
                <a:ext uri="{FF2B5EF4-FFF2-40B4-BE49-F238E27FC236}">
                  <a16:creationId xmlns:a16="http://schemas.microsoft.com/office/drawing/2014/main" id="{A7E5EB28-A4C2-BC82-CF16-F784B2F90C1C}"/>
                </a:ext>
              </a:extLst>
            </p:cNvPr>
            <p:cNvGrpSpPr/>
            <p:nvPr/>
          </p:nvGrpSpPr>
          <p:grpSpPr>
            <a:xfrm>
              <a:off x="3177364" y="4955899"/>
              <a:ext cx="5647185" cy="973481"/>
              <a:chOff x="1811207" y="3995650"/>
              <a:chExt cx="5647185" cy="973481"/>
            </a:xfrm>
          </p:grpSpPr>
          <p:cxnSp>
            <p:nvCxnSpPr>
              <p:cNvPr id="10" name="Google Shape;218;p30">
                <a:extLst>
                  <a:ext uri="{FF2B5EF4-FFF2-40B4-BE49-F238E27FC236}">
                    <a16:creationId xmlns:a16="http://schemas.microsoft.com/office/drawing/2014/main" id="{AFDE80CB-F4DB-E2CF-699E-B5C998B33D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1207" y="3995650"/>
                <a:ext cx="5647185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1" name="Google Shape;219;p30">
                <a:extLst>
                  <a:ext uri="{FF2B5EF4-FFF2-40B4-BE49-F238E27FC236}">
                    <a16:creationId xmlns:a16="http://schemas.microsoft.com/office/drawing/2014/main" id="{84307D78-BB7F-4C2D-1895-19EA36B3E040}"/>
                  </a:ext>
                </a:extLst>
              </p:cNvPr>
              <p:cNvSpPr txBox="1"/>
              <p:nvPr/>
            </p:nvSpPr>
            <p:spPr>
              <a:xfrm>
                <a:off x="2020325" y="4053624"/>
                <a:ext cx="5275826" cy="915507"/>
              </a:xfrm>
              <a:prstGeom prst="rect">
                <a:avLst/>
              </a:prstGeom>
              <a:solidFill>
                <a:srgbClr val="FFAB40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600" dirty="0">
                    <a:solidFill>
                      <a:schemeClr val="dk1"/>
                    </a:solidFill>
                  </a:rPr>
                  <a:t>“The IP address of </a:t>
                </a:r>
                <a:r>
                  <a:rPr lang="en" sz="1600" b="1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dsac.msoe.edu</a:t>
                </a:r>
                <a:r>
                  <a:rPr lang="en" sz="1600" dirty="0">
                    <a:solidFill>
                      <a:schemeClr val="dk1"/>
                    </a:solidFill>
                  </a:rPr>
                  <a:t> is </a:t>
                </a:r>
                <a:r>
                  <a:rPr lang="en" sz="1600" b="1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24.175.3.1</a:t>
                </a:r>
                <a:r>
                  <a:rPr lang="en" sz="1600" dirty="0">
                    <a:solidFill>
                      <a:schemeClr val="dk1"/>
                    </a:solidFill>
                  </a:rPr>
                  <a:t>.”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dirty="0"/>
                  <a:t>Here is a </a:t>
                </a:r>
                <a:r>
                  <a:rPr lang="en" sz="1600" dirty="0">
                    <a:solidFill>
                      <a:srgbClr val="C00000"/>
                    </a:solidFill>
                  </a:rPr>
                  <a:t>signature</a:t>
                </a:r>
                <a:r>
                  <a:rPr lang="en" sz="1600" dirty="0"/>
                  <a:t> on the above record</a:t>
                </a:r>
                <a:endParaRPr sz="1600" dirty="0"/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dirty="0"/>
                  <a:t>Here is my </a:t>
                </a:r>
                <a:r>
                  <a:rPr lang="en" sz="1600" dirty="0">
                    <a:solidFill>
                      <a:srgbClr val="C00000"/>
                    </a:solidFill>
                  </a:rPr>
                  <a:t>public key </a:t>
                </a:r>
                <a:r>
                  <a:rPr lang="en" sz="1600" dirty="0"/>
                  <a:t>so you can verify the signature</a:t>
                </a:r>
                <a:endParaRPr sz="1600" dirty="0"/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00DCBDF-85AF-55DE-FD9A-1C6399DFD94E}"/>
              </a:ext>
            </a:extLst>
          </p:cNvPr>
          <p:cNvSpPr txBox="1"/>
          <p:nvPr/>
        </p:nvSpPr>
        <p:spPr>
          <a:xfrm>
            <a:off x="793602" y="1273498"/>
            <a:ext cx="10251594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i="1" dirty="0">
                <a:solidFill>
                  <a:srgbClr val="C00000"/>
                </a:solidFill>
                <a:latin typeface="Aptos" panose="020B0004020202020204" pitchFamily="34" charset="0"/>
              </a:rPr>
              <a:t>Question 3: </a:t>
            </a:r>
            <a:r>
              <a:rPr lang="en-US" sz="2400" dirty="0">
                <a:latin typeface="Aptos" panose="020B0004020202020204" pitchFamily="34" charset="0"/>
              </a:rPr>
              <a:t>What does the name server need to send in order to ensure authenticity and integrity on a record?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The DNS record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A signature over the record, signed with the name server’s private key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The name server’s public key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How do we make sure nobody tampered with the public key?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C00000"/>
                </a:solidFill>
                <a:latin typeface="Aptos" panose="020B0004020202020204" pitchFamily="34" charset="0"/>
              </a:rPr>
              <a:t>Chain of trust!  </a:t>
            </a:r>
            <a:r>
              <a:rPr lang="en-US" sz="2400" dirty="0">
                <a:latin typeface="Aptos" panose="020B0004020202020204" pitchFamily="34" charset="0"/>
              </a:rPr>
              <a:t>(but DNSSEC does not use PKI)</a:t>
            </a:r>
          </a:p>
        </p:txBody>
      </p:sp>
    </p:spTree>
    <p:extLst>
      <p:ext uri="{BB962C8B-B14F-4D97-AF65-F5344CB8AC3E}">
        <p14:creationId xmlns:p14="http://schemas.microsoft.com/office/powerpoint/2010/main" val="2975028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9;p140">
            <a:extLst>
              <a:ext uri="{FF2B5EF4-FFF2-40B4-BE49-F238E27FC236}">
                <a16:creationId xmlns:a16="http://schemas.microsoft.com/office/drawing/2014/main" id="{A1BBD3EA-B48A-9405-9D84-E991AC006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0642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400" dirty="0">
                <a:latin typeface="Aptos Display (Headings)"/>
              </a:rPr>
              <a:t>DNSSEC </a:t>
            </a:r>
            <a:r>
              <a:rPr lang="en-US" altLang="zh-CN" sz="4400" dirty="0">
                <a:latin typeface="Aptos Display (Headings)"/>
              </a:rPr>
              <a:t>from Scratch: Let’s Build it Together</a:t>
            </a:r>
            <a:endParaRPr sz="4400" dirty="0">
              <a:latin typeface="Aptos Display (Headings)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6771637-A7B1-0914-4805-E46477ECB3D8}"/>
              </a:ext>
            </a:extLst>
          </p:cNvPr>
          <p:cNvGrpSpPr/>
          <p:nvPr/>
        </p:nvGrpSpPr>
        <p:grpSpPr>
          <a:xfrm>
            <a:off x="1215935" y="4294419"/>
            <a:ext cx="9760128" cy="2357154"/>
            <a:chOff x="2215299" y="3746772"/>
            <a:chExt cx="7486071" cy="3326375"/>
          </a:xfrm>
        </p:grpSpPr>
        <p:sp>
          <p:nvSpPr>
            <p:cNvPr id="15" name="Google Shape;242;p32">
              <a:extLst>
                <a:ext uri="{FF2B5EF4-FFF2-40B4-BE49-F238E27FC236}">
                  <a16:creationId xmlns:a16="http://schemas.microsoft.com/office/drawing/2014/main" id="{E4896E81-5ABA-27F5-97C1-702DA22C7365}"/>
                </a:ext>
              </a:extLst>
            </p:cNvPr>
            <p:cNvSpPr txBox="1"/>
            <p:nvPr/>
          </p:nvSpPr>
          <p:spPr>
            <a:xfrm>
              <a:off x="2215299" y="3746772"/>
              <a:ext cx="1038647" cy="3326368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Recursive Resolver</a:t>
              </a:r>
              <a:endParaRPr/>
            </a:p>
          </p:txBody>
        </p:sp>
        <p:sp>
          <p:nvSpPr>
            <p:cNvPr id="16" name="Google Shape;243;p32">
              <a:extLst>
                <a:ext uri="{FF2B5EF4-FFF2-40B4-BE49-F238E27FC236}">
                  <a16:creationId xmlns:a16="http://schemas.microsoft.com/office/drawing/2014/main" id="{D2EC4EFE-6F84-F5D7-FFB8-D179E47D1022}"/>
                </a:ext>
              </a:extLst>
            </p:cNvPr>
            <p:cNvSpPr txBox="1"/>
            <p:nvPr/>
          </p:nvSpPr>
          <p:spPr>
            <a:xfrm>
              <a:off x="8463270" y="3746774"/>
              <a:ext cx="1238100" cy="3326373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.root </a:t>
              </a:r>
              <a:r>
                <a:rPr lang="en" dirty="0"/>
                <a:t>name server</a:t>
              </a:r>
              <a:endParaRPr dirty="0"/>
            </a:p>
          </p:txBody>
        </p:sp>
        <p:grpSp>
          <p:nvGrpSpPr>
            <p:cNvPr id="17" name="Google Shape;244;p32">
              <a:extLst>
                <a:ext uri="{FF2B5EF4-FFF2-40B4-BE49-F238E27FC236}">
                  <a16:creationId xmlns:a16="http://schemas.microsoft.com/office/drawing/2014/main" id="{28A35A25-EFEC-57C8-A9DB-47A03C959665}"/>
                </a:ext>
              </a:extLst>
            </p:cNvPr>
            <p:cNvGrpSpPr/>
            <p:nvPr/>
          </p:nvGrpSpPr>
          <p:grpSpPr>
            <a:xfrm>
              <a:off x="3420070" y="3746773"/>
              <a:ext cx="4932000" cy="637497"/>
              <a:chOff x="1812250" y="2672353"/>
              <a:chExt cx="4932000" cy="637497"/>
            </a:xfrm>
          </p:grpSpPr>
          <p:cxnSp>
            <p:nvCxnSpPr>
              <p:cNvPr id="18" name="Google Shape;245;p32">
                <a:extLst>
                  <a:ext uri="{FF2B5EF4-FFF2-40B4-BE49-F238E27FC236}">
                    <a16:creationId xmlns:a16="http://schemas.microsoft.com/office/drawing/2014/main" id="{72111A29-23FA-FFBB-B5F6-F8CE46AA8570}"/>
                  </a:ext>
                </a:extLst>
              </p:cNvPr>
              <p:cNvCxnSpPr/>
              <p:nvPr/>
            </p:nvCxnSpPr>
            <p:spPr>
              <a:xfrm rot="10800000">
                <a:off x="1812250" y="3309850"/>
                <a:ext cx="49320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sp>
            <p:nvSpPr>
              <p:cNvPr id="19" name="Google Shape;246;p32">
                <a:extLst>
                  <a:ext uri="{FF2B5EF4-FFF2-40B4-BE49-F238E27FC236}">
                    <a16:creationId xmlns:a16="http://schemas.microsoft.com/office/drawing/2014/main" id="{AF54665D-C079-91AD-52C5-1118D90B8610}"/>
                  </a:ext>
                </a:extLst>
              </p:cNvPr>
              <p:cNvSpPr txBox="1"/>
              <p:nvPr/>
            </p:nvSpPr>
            <p:spPr>
              <a:xfrm>
                <a:off x="2153349" y="2672353"/>
                <a:ext cx="4419301" cy="569887"/>
              </a:xfrm>
              <a:prstGeom prst="rect">
                <a:avLst/>
              </a:prstGeom>
              <a:solidFill>
                <a:srgbClr val="FFAB40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dirty="0"/>
                  <a:t>What is the IP address of </a:t>
                </a:r>
                <a:r>
                  <a:rPr lang="en" sz="1600" b="1" dirty="0">
                    <a:solidFill>
                      <a:srgbClr val="C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dsac.msoe.edu</a:t>
                </a:r>
                <a:r>
                  <a:rPr lang="en" sz="1600" dirty="0"/>
                  <a:t>?</a:t>
                </a:r>
                <a:endParaRPr sz="1600" dirty="0"/>
              </a:p>
            </p:txBody>
          </p:sp>
        </p:grpSp>
        <p:grpSp>
          <p:nvGrpSpPr>
            <p:cNvPr id="20" name="Google Shape;247;p32">
              <a:extLst>
                <a:ext uri="{FF2B5EF4-FFF2-40B4-BE49-F238E27FC236}">
                  <a16:creationId xmlns:a16="http://schemas.microsoft.com/office/drawing/2014/main" id="{4553873A-4F1E-9B29-1662-8D21F6144E52}"/>
                </a:ext>
              </a:extLst>
            </p:cNvPr>
            <p:cNvGrpSpPr/>
            <p:nvPr/>
          </p:nvGrpSpPr>
          <p:grpSpPr>
            <a:xfrm>
              <a:off x="3419027" y="4612870"/>
              <a:ext cx="4932000" cy="2460270"/>
              <a:chOff x="1811207" y="3538450"/>
              <a:chExt cx="4932000" cy="2460270"/>
            </a:xfrm>
          </p:grpSpPr>
          <p:cxnSp>
            <p:nvCxnSpPr>
              <p:cNvPr id="21" name="Google Shape;248;p32">
                <a:extLst>
                  <a:ext uri="{FF2B5EF4-FFF2-40B4-BE49-F238E27FC236}">
                    <a16:creationId xmlns:a16="http://schemas.microsoft.com/office/drawing/2014/main" id="{F613258A-0F54-6D0C-6798-DE0EC23E17A4}"/>
                  </a:ext>
                </a:extLst>
              </p:cNvPr>
              <p:cNvCxnSpPr/>
              <p:nvPr/>
            </p:nvCxnSpPr>
            <p:spPr>
              <a:xfrm rot="10800000">
                <a:off x="1811207" y="3538450"/>
                <a:ext cx="49320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22" name="Google Shape;249;p32">
                <a:extLst>
                  <a:ext uri="{FF2B5EF4-FFF2-40B4-BE49-F238E27FC236}">
                    <a16:creationId xmlns:a16="http://schemas.microsoft.com/office/drawing/2014/main" id="{174128A0-4D76-A6B8-DBB7-0E39BD03B068}"/>
                  </a:ext>
                </a:extLst>
              </p:cNvPr>
              <p:cNvSpPr txBox="1"/>
              <p:nvPr/>
            </p:nvSpPr>
            <p:spPr>
              <a:xfrm>
                <a:off x="2153348" y="3653387"/>
                <a:ext cx="4419301" cy="2345333"/>
              </a:xfrm>
              <a:prstGeom prst="rect">
                <a:avLst/>
              </a:prstGeom>
              <a:solidFill>
                <a:srgbClr val="FFAB40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dirty="0">
                    <a:solidFill>
                      <a:schemeClr val="dk1"/>
                    </a:solidFill>
                  </a:rPr>
                  <a:t>I don’t know, but you should ask the </a:t>
                </a:r>
                <a:r>
                  <a:rPr lang="en" sz="1600" b="1" dirty="0">
                    <a:solidFill>
                      <a:srgbClr val="C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.edu</a:t>
                </a:r>
                <a:r>
                  <a:rPr lang="en" sz="1600" dirty="0">
                    <a:solidFill>
                      <a:srgbClr val="C00000"/>
                    </a:solidFill>
                  </a:rPr>
                  <a:t> </a:t>
                </a:r>
                <a:r>
                  <a:rPr lang="en" sz="1600" dirty="0">
                    <a:solidFill>
                      <a:schemeClr val="dk1"/>
                    </a:solidFill>
                  </a:rPr>
                  <a:t>name server.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dirty="0">
                    <a:solidFill>
                      <a:schemeClr val="dk1"/>
                    </a:solidFill>
                  </a:rPr>
                  <a:t>Here is a signature on the the </a:t>
                </a:r>
                <a:r>
                  <a:rPr lang="en" sz="1600" b="1" dirty="0">
                    <a:solidFill>
                      <a:srgbClr val="C00000"/>
                    </a:solidFill>
                  </a:rPr>
                  <a:t>public key of the </a:t>
                </a:r>
                <a:r>
                  <a:rPr lang="en" sz="1600" b="1" dirty="0">
                    <a:solidFill>
                      <a:srgbClr val="C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.edu</a:t>
                </a:r>
                <a:r>
                  <a:rPr lang="en" sz="1600" b="1" dirty="0">
                    <a:solidFill>
                      <a:srgbClr val="C00000"/>
                    </a:solidFill>
                  </a:rPr>
                  <a:t> name servers</a:t>
                </a:r>
                <a:r>
                  <a:rPr lang="en" sz="1600" dirty="0">
                    <a:solidFill>
                      <a:schemeClr val="dk1"/>
                    </a:solidFill>
                  </a:rPr>
                  <a:t>. If you trust me, then now you trust them too.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dirty="0">
                    <a:solidFill>
                      <a:schemeClr val="dk1"/>
                    </a:solidFill>
                  </a:rPr>
                  <a:t>Here is my public key so you can verify the signature.</a:t>
                </a:r>
                <a:endParaRPr sz="1600" dirty="0"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B0F488E-0ACE-5007-A679-59E08C1D67B2}"/>
              </a:ext>
            </a:extLst>
          </p:cNvPr>
          <p:cNvSpPr txBox="1"/>
          <p:nvPr/>
        </p:nvSpPr>
        <p:spPr>
          <a:xfrm>
            <a:off x="319774" y="1285700"/>
            <a:ext cx="11552451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i="1" dirty="0">
                <a:solidFill>
                  <a:srgbClr val="C00000"/>
                </a:solidFill>
                <a:latin typeface="Aptos" panose="020B0004020202020204" pitchFamily="34" charset="0"/>
              </a:rPr>
              <a:t>Question 4: </a:t>
            </a:r>
            <a:r>
              <a:rPr lang="en-US" sz="2400" dirty="0">
                <a:latin typeface="Aptos" panose="020B0004020202020204" pitchFamily="34" charset="0"/>
              </a:rPr>
              <a:t>PKIs need a trust anchor. Who do we implicitly trust in DNSSEC?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We implicitly trust the top of the certificate hierarchy, which is the </a:t>
            </a:r>
            <a:r>
              <a:rPr lang="en-US" sz="2400" b="1" i="1" dirty="0">
                <a:solidFill>
                  <a:srgbClr val="C00000"/>
                </a:solidFill>
                <a:latin typeface="Aptos" panose="020B0004020202020204" pitchFamily="34" charset="0"/>
              </a:rPr>
              <a:t>root name server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The root name server’s public key (self-signed) is </a:t>
            </a:r>
            <a:r>
              <a:rPr lang="en-US" sz="2400" b="1" dirty="0">
                <a:solidFill>
                  <a:srgbClr val="C00000"/>
                </a:solidFill>
                <a:latin typeface="Aptos" panose="020B0004020202020204" pitchFamily="34" charset="0"/>
              </a:rPr>
              <a:t>hard-coded</a:t>
            </a:r>
            <a:r>
              <a:rPr lang="en-US" sz="2400" dirty="0">
                <a:latin typeface="Aptos" panose="020B0004020202020204" pitchFamily="34" charset="0"/>
              </a:rPr>
              <a:t> into resolvers</a:t>
            </a:r>
          </a:p>
          <a:p>
            <a:pPr>
              <a:spcAft>
                <a:spcPts val="600"/>
              </a:spcAft>
            </a:pPr>
            <a:r>
              <a:rPr lang="en-US" sz="2400" b="1" i="1" dirty="0">
                <a:solidFill>
                  <a:srgbClr val="C00000"/>
                </a:solidFill>
                <a:latin typeface="Aptos" panose="020B0004020202020204" pitchFamily="34" charset="0"/>
              </a:rPr>
              <a:t>Question 5: </a:t>
            </a:r>
            <a:r>
              <a:rPr lang="en-US" sz="2400" dirty="0">
                <a:latin typeface="Aptos" panose="020B0004020202020204" pitchFamily="34" charset="0"/>
              </a:rPr>
              <a:t>How does a name server </a:t>
            </a:r>
            <a:r>
              <a:rPr lang="en-US" sz="2400" i="1" dirty="0">
                <a:solidFill>
                  <a:srgbClr val="C00000"/>
                </a:solidFill>
                <a:latin typeface="Aptos" panose="020B0004020202020204" pitchFamily="34" charset="0"/>
              </a:rPr>
              <a:t>delegate</a:t>
            </a:r>
            <a:r>
              <a:rPr lang="en-US" sz="2400" dirty="0">
                <a:latin typeface="Aptos" panose="020B0004020202020204" pitchFamily="34" charset="0"/>
              </a:rPr>
              <a:t> trust to a child name server?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Just like in a certificate chain, the parent sign the child’s public key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If you trust the parent name server, then now you trust the child name server</a:t>
            </a:r>
          </a:p>
        </p:txBody>
      </p:sp>
    </p:spTree>
    <p:extLst>
      <p:ext uri="{BB962C8B-B14F-4D97-AF65-F5344CB8AC3E}">
        <p14:creationId xmlns:p14="http://schemas.microsoft.com/office/powerpoint/2010/main" val="3223136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316A9-E417-2362-F0A3-90FF21444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3CEE8-9C34-474D-07E1-BF7E81B9ACCC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B3E3F37-0BC0-BE58-5A21-C8D5887506DF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5088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 over TLS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DNSSEC: Design Ideas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DNSSEC: Implementation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zh-CN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 Security: Summary</a:t>
            </a: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947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19;p140">
            <a:extLst>
              <a:ext uri="{FF2B5EF4-FFF2-40B4-BE49-F238E27FC236}">
                <a16:creationId xmlns:a16="http://schemas.microsoft.com/office/drawing/2014/main" id="{2E1489BD-A9A6-E7FB-7964-FB1E35CBED5D}"/>
              </a:ext>
            </a:extLst>
          </p:cNvPr>
          <p:cNvSpPr txBox="1">
            <a:spLocks/>
          </p:cNvSpPr>
          <p:nvPr/>
        </p:nvSpPr>
        <p:spPr>
          <a:xfrm>
            <a:off x="415600" y="13055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kern="0" dirty="0">
                <a:latin typeface="Aptos Display (Headings)"/>
              </a:rPr>
              <a:t>Resource Record Sets (RRSETs)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970B22-2F3A-BF6A-BF70-366C35AB7036}"/>
              </a:ext>
            </a:extLst>
          </p:cNvPr>
          <p:cNvSpPr txBox="1"/>
          <p:nvPr/>
        </p:nvSpPr>
        <p:spPr>
          <a:xfrm>
            <a:off x="0" y="2847590"/>
            <a:ext cx="726524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ptos" panose="020B0004020202020204" pitchFamily="34" charset="0"/>
              </a:rPr>
              <a:t>In DNSSEC: A group of DNS records with the same name and type form a </a:t>
            </a:r>
            <a:r>
              <a:rPr lang="en-US" sz="2400" i="1" dirty="0">
                <a:latin typeface="Aptos" panose="020B0004020202020204" pitchFamily="34" charset="0"/>
              </a:rPr>
              <a:t>Resource Record Set </a:t>
            </a:r>
            <a:r>
              <a:rPr lang="en-US" sz="2400" dirty="0">
                <a:latin typeface="Aptos" panose="020B0004020202020204" pitchFamily="34" charset="0"/>
              </a:rPr>
              <a:t>(</a:t>
            </a:r>
            <a:r>
              <a:rPr lang="en-US" sz="2400" b="1" dirty="0">
                <a:solidFill>
                  <a:srgbClr val="C00000"/>
                </a:solidFill>
                <a:latin typeface="Aptos" panose="020B0004020202020204" pitchFamily="34" charset="0"/>
              </a:rPr>
              <a:t>RRset</a:t>
            </a:r>
            <a:r>
              <a:rPr lang="en-US" sz="2400" dirty="0">
                <a:latin typeface="Aptos" panose="020B0004020202020204" pitchFamily="34" charset="0"/>
              </a:rPr>
              <a:t>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Example: All the type AAAA records for a given domain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Example: </a:t>
            </a:r>
            <a:r>
              <a:rPr lang="en-US" sz="2200" i="1" dirty="0">
                <a:solidFill>
                  <a:srgbClr val="C00000"/>
                </a:solidFill>
                <a:latin typeface="Aptos" panose="020B0004020202020204" pitchFamily="34" charset="0"/>
              </a:rPr>
              <a:t>All the DNSKEY records 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9548CFC7-EB24-CAED-C7A0-50BB00FA8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101" y="1564754"/>
            <a:ext cx="8880019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0">
              <a:spcBef>
                <a:spcPct val="0"/>
              </a:spcBef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RR format: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name, [TTL], class, </a:t>
            </a:r>
            <a:r>
              <a:rPr lang="en-US" altLang="en-US" sz="2400" dirty="0">
                <a:solidFill>
                  <a:prstClr val="black"/>
                </a:solidFill>
                <a:latin typeface="Courier" pitchFamily="2" charset="0"/>
              </a:rPr>
              <a:t>type,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value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</a:t>
            </a:r>
          </a:p>
          <a:p>
            <a:pPr>
              <a:spcBef>
                <a:spcPct val="0"/>
              </a:spcBef>
              <a:defRPr/>
            </a:pPr>
            <a:r>
              <a:rPr lang="en-US" sz="2200" dirty="0">
                <a:solidFill>
                  <a:schemeClr val="accent2">
                    <a:lumMod val="75000"/>
                  </a:schemeClr>
                </a:solidFill>
              </a:rPr>
              <a:t>E.g.,:              </a:t>
            </a:r>
            <a:r>
              <a:rPr lang="en-US" sz="2200" dirty="0" err="1">
                <a:solidFill>
                  <a:schemeClr val="accent4">
                    <a:lumMod val="75000"/>
                  </a:schemeClr>
                </a:solidFill>
              </a:rPr>
              <a:t>edu</a:t>
            </a:r>
            <a:r>
              <a:rPr lang="en-US" sz="2200" dirty="0">
                <a:solidFill>
                  <a:schemeClr val="accent4">
                    <a:lumMod val="75000"/>
                  </a:schemeClr>
                </a:solidFill>
              </a:rPr>
              <a:t>.       172800     IN             NS       a.edu-servers.net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BFEDD7-C8AC-7B6C-484D-A92602CA652E}"/>
              </a:ext>
            </a:extLst>
          </p:cNvPr>
          <p:cNvSpPr txBox="1"/>
          <p:nvPr/>
        </p:nvSpPr>
        <p:spPr>
          <a:xfrm>
            <a:off x="415599" y="1034802"/>
            <a:ext cx="9169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Recall: A DNS resource record has a fixed format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E0352D-0CDA-FF86-FC8A-A8F57CAE4C43}"/>
              </a:ext>
            </a:extLst>
          </p:cNvPr>
          <p:cNvSpPr txBox="1"/>
          <p:nvPr/>
        </p:nvSpPr>
        <p:spPr>
          <a:xfrm>
            <a:off x="3916619" y="5185750"/>
            <a:ext cx="698066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>
                <a:latin typeface="Aptos" panose="020B0004020202020204" pitchFamily="34" charset="0"/>
              </a:rPr>
              <a:t>RRSETs</a:t>
            </a:r>
            <a:r>
              <a:rPr lang="en-US" sz="2400" dirty="0">
                <a:latin typeface="Aptos" panose="020B0004020202020204" pitchFamily="34" charset="0"/>
              </a:rPr>
              <a:t> will be useful for simplifying signatures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Instead of signing every record separately, </a:t>
            </a:r>
            <a:r>
              <a:rPr lang="en-US" altLang="zh-CN" sz="2400" dirty="0">
                <a:solidFill>
                  <a:srgbClr val="C00000"/>
                </a:solidFill>
                <a:latin typeface="Aptos" panose="020B0004020202020204" pitchFamily="34" charset="0"/>
              </a:rPr>
              <a:t>name server</a:t>
            </a:r>
            <a:r>
              <a:rPr lang="en-US" sz="2400" dirty="0">
                <a:solidFill>
                  <a:srgbClr val="C00000"/>
                </a:solidFill>
                <a:latin typeface="Aptos" panose="020B0004020202020204" pitchFamily="34" charset="0"/>
              </a:rPr>
              <a:t> can sign an entire RRset</a:t>
            </a:r>
            <a:r>
              <a:rPr lang="en-US" sz="2400" dirty="0">
                <a:latin typeface="Aptos" panose="020B0004020202020204" pitchFamily="34" charset="0"/>
              </a:rPr>
              <a:t> at once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424CA4-B046-1C46-14ED-AD0B91116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075" y="4509583"/>
            <a:ext cx="1915294" cy="23215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76DBF2-C1AE-C30D-45E9-CB01AD6C7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816" y="2494815"/>
            <a:ext cx="5225366" cy="251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019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19;p140">
            <a:extLst>
              <a:ext uri="{FF2B5EF4-FFF2-40B4-BE49-F238E27FC236}">
                <a16:creationId xmlns:a16="http://schemas.microsoft.com/office/drawing/2014/main" id="{BE272219-A166-C3B5-821C-3571E55353CA}"/>
              </a:ext>
            </a:extLst>
          </p:cNvPr>
          <p:cNvSpPr txBox="1">
            <a:spLocks/>
          </p:cNvSpPr>
          <p:nvPr/>
        </p:nvSpPr>
        <p:spPr>
          <a:xfrm>
            <a:off x="415600" y="230919"/>
            <a:ext cx="11360800" cy="92840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kern="0" dirty="0">
                <a:latin typeface="Aptos Display (Headings)"/>
              </a:rPr>
              <a:t>New DNSSEC Record Types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CFBC41-7BFC-ED5E-CBEB-54E06D0B54C5}"/>
              </a:ext>
            </a:extLst>
          </p:cNvPr>
          <p:cNvSpPr txBox="1"/>
          <p:nvPr/>
        </p:nvSpPr>
        <p:spPr>
          <a:xfrm>
            <a:off x="102734" y="1221844"/>
            <a:ext cx="11986532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Aptos" panose="020B0004020202020204" pitchFamily="34" charset="0"/>
              </a:rPr>
              <a:t>We need new record types to send cryptographic information in DNSSEC packets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DNSKEY: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Contains the name server’s </a:t>
            </a:r>
            <a:r>
              <a:rPr lang="en-US" sz="2000" dirty="0">
                <a:solidFill>
                  <a:srgbClr val="C00000"/>
                </a:solidFill>
                <a:latin typeface="Aptos" panose="020B0004020202020204" pitchFamily="34" charset="0"/>
              </a:rPr>
              <a:t>own public keys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DS (delegated signer): 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The parent signs the DS record to </a:t>
            </a:r>
            <a:r>
              <a:rPr lang="en-US" sz="2000" b="1" i="1" dirty="0">
                <a:solidFill>
                  <a:srgbClr val="C00000"/>
                </a:solidFill>
                <a:latin typeface="Aptos" panose="020B0004020202020204" pitchFamily="34" charset="0"/>
              </a:rPr>
              <a:t>delegate trust </a:t>
            </a:r>
            <a:r>
              <a:rPr lang="en-US" sz="2000" dirty="0">
                <a:latin typeface="Aptos" panose="020B0004020202020204" pitchFamily="34" charset="0"/>
              </a:rPr>
              <a:t>to child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Contains the</a:t>
            </a:r>
            <a:r>
              <a:rPr lang="en-US" sz="2000" dirty="0">
                <a:solidFill>
                  <a:srgbClr val="C00000"/>
                </a:solidFill>
                <a:latin typeface="Aptos" panose="020B0004020202020204" pitchFamily="34" charset="0"/>
              </a:rPr>
              <a:t> signer’s (owner’s) name</a:t>
            </a:r>
            <a:endParaRPr lang="en-US" sz="2000" dirty="0">
              <a:latin typeface="Aptos" panose="020B0004020202020204" pitchFamily="34" charset="0"/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Contains the </a:t>
            </a:r>
            <a:r>
              <a:rPr lang="en-US" sz="2000" dirty="0">
                <a:solidFill>
                  <a:srgbClr val="C00000"/>
                </a:solidFill>
                <a:latin typeface="Aptos" panose="020B0004020202020204" pitchFamily="34" charset="0"/>
              </a:rPr>
              <a:t>hash of child’s public keys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RRSIG (resource record signature):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Contain a </a:t>
            </a:r>
            <a:r>
              <a:rPr lang="en-US" sz="2000" b="1" dirty="0">
                <a:latin typeface="Aptos" panose="020B0004020202020204" pitchFamily="34" charset="0"/>
              </a:rPr>
              <a:t>Type Covered </a:t>
            </a:r>
            <a:r>
              <a:rPr lang="en-US" sz="2000" dirty="0">
                <a:latin typeface="Aptos" panose="020B0004020202020204" pitchFamily="34" charset="0"/>
              </a:rPr>
              <a:t>field that specifies which type of record it covers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RRSIG (covering DNSKEY): Contains a signature on DNSKEY records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RRSIG (covering DS): Contains a signature on DS records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RRSIG (covering A and AAAA): Contains a signature on resource records (sign an entire RRset )</a:t>
            </a:r>
          </a:p>
          <a:p>
            <a:pPr lvl="1">
              <a:spcAft>
                <a:spcPts val="600"/>
              </a:spcAft>
            </a:pPr>
            <a:endParaRPr lang="en-US" sz="1000" dirty="0">
              <a:latin typeface="Aptos" panose="020B0004020202020204" pitchFamily="34" charset="0"/>
            </a:endParaRPr>
          </a:p>
          <a:p>
            <a:pPr marL="0" lvl="1">
              <a:spcAft>
                <a:spcPts val="600"/>
              </a:spcAft>
            </a:pPr>
            <a:r>
              <a:rPr lang="en-US" sz="2200" i="1" dirty="0">
                <a:solidFill>
                  <a:srgbClr val="C00000"/>
                </a:solidFill>
                <a:latin typeface="Aptos" panose="020B0004020202020204" pitchFamily="34" charset="0"/>
              </a:rPr>
              <a:t>Note: DNSSEC requires a significant amount of metadata; the above description is oversimplified!</a:t>
            </a:r>
          </a:p>
        </p:txBody>
      </p:sp>
    </p:spTree>
    <p:extLst>
      <p:ext uri="{BB962C8B-B14F-4D97-AF65-F5344CB8AC3E}">
        <p14:creationId xmlns:p14="http://schemas.microsoft.com/office/powerpoint/2010/main" val="2652334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56DFD-3A7A-7245-EEF0-94D924EE7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9;p140">
            <a:extLst>
              <a:ext uri="{FF2B5EF4-FFF2-40B4-BE49-F238E27FC236}">
                <a16:creationId xmlns:a16="http://schemas.microsoft.com/office/drawing/2014/main" id="{4B3A75D0-5019-EF95-2922-F5399072F0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599" y="9212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400" dirty="0">
                <a:latin typeface="Aptos Display (Headings)"/>
              </a:rPr>
              <a:t>DNSSEC Lookup </a:t>
            </a:r>
            <a:r>
              <a:rPr lang="en-US" altLang="zh-CN" sz="4400" dirty="0">
                <a:latin typeface="Aptos Display (Headings)"/>
              </a:rPr>
              <a:t>Steps</a:t>
            </a:r>
            <a:endParaRPr sz="4400" dirty="0">
              <a:latin typeface="Aptos Display (Headings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37D78D-FD55-FF3E-5912-EFB45915625F}"/>
              </a:ext>
            </a:extLst>
          </p:cNvPr>
          <p:cNvSpPr txBox="1"/>
          <p:nvPr/>
        </p:nvSpPr>
        <p:spPr>
          <a:xfrm>
            <a:off x="675596" y="1322713"/>
            <a:ext cx="1084080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Recall: We implicitly trust the top of the certificate hierarchy, which is the </a:t>
            </a:r>
            <a:r>
              <a:rPr lang="en-US" sz="2000" b="1" i="1" dirty="0">
                <a:solidFill>
                  <a:srgbClr val="C00000"/>
                </a:solidFill>
                <a:latin typeface="Aptos" panose="020B0004020202020204" pitchFamily="34" charset="0"/>
              </a:rPr>
              <a:t>root name server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Recall: The root name server’s public key (self-signed) is </a:t>
            </a:r>
            <a:r>
              <a:rPr lang="en-US" sz="2000" b="1" dirty="0">
                <a:solidFill>
                  <a:srgbClr val="C00000"/>
                </a:solidFill>
                <a:latin typeface="Aptos" panose="020B0004020202020204" pitchFamily="34" charset="0"/>
              </a:rPr>
              <a:t>hard-coded</a:t>
            </a:r>
            <a:r>
              <a:rPr lang="en-US" sz="2000" dirty="0">
                <a:latin typeface="Aptos" panose="020B0004020202020204" pitchFamily="34" charset="0"/>
              </a:rPr>
              <a:t> into resolvers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EEFEBF3-0444-E20A-8B40-BA3B4591D7AF}"/>
              </a:ext>
            </a:extLst>
          </p:cNvPr>
          <p:cNvGrpSpPr/>
          <p:nvPr/>
        </p:nvGrpSpPr>
        <p:grpSpPr>
          <a:xfrm>
            <a:off x="1636485" y="2641834"/>
            <a:ext cx="8919028" cy="3924427"/>
            <a:chOff x="1623085" y="2445890"/>
            <a:chExt cx="8919028" cy="3924427"/>
          </a:xfrm>
        </p:grpSpPr>
        <p:sp>
          <p:nvSpPr>
            <p:cNvPr id="2" name="Google Shape;391;p49">
              <a:extLst>
                <a:ext uri="{FF2B5EF4-FFF2-40B4-BE49-F238E27FC236}">
                  <a16:creationId xmlns:a16="http://schemas.microsoft.com/office/drawing/2014/main" id="{5E5A22CA-962F-FBF2-AD70-F150346CC574}"/>
                </a:ext>
              </a:extLst>
            </p:cNvPr>
            <p:cNvSpPr txBox="1"/>
            <p:nvPr/>
          </p:nvSpPr>
          <p:spPr>
            <a:xfrm>
              <a:off x="1623085" y="2445890"/>
              <a:ext cx="1238100" cy="3924427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Recursive Resolver</a:t>
              </a:r>
              <a:endParaRPr dirty="0"/>
            </a:p>
          </p:txBody>
        </p:sp>
        <p:sp>
          <p:nvSpPr>
            <p:cNvPr id="5" name="Google Shape;392;p49">
              <a:extLst>
                <a:ext uri="{FF2B5EF4-FFF2-40B4-BE49-F238E27FC236}">
                  <a16:creationId xmlns:a16="http://schemas.microsoft.com/office/drawing/2014/main" id="{1DE822E4-B030-D904-3A7B-B7A35107EAC5}"/>
                </a:ext>
              </a:extLst>
            </p:cNvPr>
            <p:cNvSpPr txBox="1"/>
            <p:nvPr/>
          </p:nvSpPr>
          <p:spPr>
            <a:xfrm>
              <a:off x="8932313" y="2445890"/>
              <a:ext cx="1609800" cy="3924427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.root </a:t>
              </a:r>
              <a:r>
                <a:rPr lang="en-US" dirty="0"/>
                <a:t>name server</a:t>
              </a:r>
            </a:p>
          </p:txBody>
        </p:sp>
        <p:grpSp>
          <p:nvGrpSpPr>
            <p:cNvPr id="6" name="Google Shape;393;p49">
              <a:extLst>
                <a:ext uri="{FF2B5EF4-FFF2-40B4-BE49-F238E27FC236}">
                  <a16:creationId xmlns:a16="http://schemas.microsoft.com/office/drawing/2014/main" id="{05BA6DFE-92F0-890E-D807-9901A605DD56}"/>
                </a:ext>
              </a:extLst>
            </p:cNvPr>
            <p:cNvGrpSpPr/>
            <p:nvPr/>
          </p:nvGrpSpPr>
          <p:grpSpPr>
            <a:xfrm>
              <a:off x="2946035" y="2445892"/>
              <a:ext cx="5887722" cy="461212"/>
              <a:chOff x="1811200" y="1458013"/>
              <a:chExt cx="5887722" cy="461212"/>
            </a:xfrm>
          </p:grpSpPr>
          <p:cxnSp>
            <p:nvCxnSpPr>
              <p:cNvPr id="7" name="Google Shape;394;p49">
                <a:extLst>
                  <a:ext uri="{FF2B5EF4-FFF2-40B4-BE49-F238E27FC236}">
                    <a16:creationId xmlns:a16="http://schemas.microsoft.com/office/drawing/2014/main" id="{78FC1AC2-2AE5-5EC9-DE75-E2A80AF8EE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1200" y="1919225"/>
                <a:ext cx="5887722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sp>
            <p:nvSpPr>
              <p:cNvPr id="8" name="Google Shape;395;p49">
                <a:extLst>
                  <a:ext uri="{FF2B5EF4-FFF2-40B4-BE49-F238E27FC236}">
                    <a16:creationId xmlns:a16="http://schemas.microsoft.com/office/drawing/2014/main" id="{2C105046-900D-E6C4-6CC2-F496712CD17C}"/>
                  </a:ext>
                </a:extLst>
              </p:cNvPr>
              <p:cNvSpPr txBox="1"/>
              <p:nvPr/>
            </p:nvSpPr>
            <p:spPr>
              <a:xfrm>
                <a:off x="1891657" y="1458013"/>
                <a:ext cx="5740514" cy="393600"/>
              </a:xfrm>
              <a:prstGeom prst="rect">
                <a:avLst/>
              </a:prstGeom>
              <a:solidFill>
                <a:srgbClr val="FFAB40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dirty="0"/>
                  <a:t>What is the IP address of </a:t>
                </a:r>
                <a:r>
                  <a:rPr lang="en" sz="1600" b="1" dirty="0">
                    <a:solidFill>
                      <a:srgbClr val="C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dsac.msoe.edu</a:t>
                </a:r>
                <a:r>
                  <a:rPr lang="en" sz="1600" dirty="0"/>
                  <a:t>?</a:t>
                </a:r>
                <a:endParaRPr sz="1600" dirty="0"/>
              </a:p>
            </p:txBody>
          </p:sp>
        </p:grpSp>
        <p:grpSp>
          <p:nvGrpSpPr>
            <p:cNvPr id="9" name="Google Shape;396;p49">
              <a:extLst>
                <a:ext uri="{FF2B5EF4-FFF2-40B4-BE49-F238E27FC236}">
                  <a16:creationId xmlns:a16="http://schemas.microsoft.com/office/drawing/2014/main" id="{13173BE1-905C-DC3F-B108-39EA14125815}"/>
                </a:ext>
              </a:extLst>
            </p:cNvPr>
            <p:cNvGrpSpPr/>
            <p:nvPr/>
          </p:nvGrpSpPr>
          <p:grpSpPr>
            <a:xfrm>
              <a:off x="2946035" y="3365822"/>
              <a:ext cx="5874015" cy="3004495"/>
              <a:chOff x="1811200" y="2377943"/>
              <a:chExt cx="5874015" cy="3004495"/>
            </a:xfrm>
          </p:grpSpPr>
          <p:cxnSp>
            <p:nvCxnSpPr>
              <p:cNvPr id="10" name="Google Shape;397;p49">
                <a:extLst>
                  <a:ext uri="{FF2B5EF4-FFF2-40B4-BE49-F238E27FC236}">
                    <a16:creationId xmlns:a16="http://schemas.microsoft.com/office/drawing/2014/main" id="{DD0496EF-8F5C-6BC7-4D6C-5B02901822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1200" y="2377943"/>
                <a:ext cx="5874015" cy="7963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1" name="Google Shape;398;p49">
                <a:extLst>
                  <a:ext uri="{FF2B5EF4-FFF2-40B4-BE49-F238E27FC236}">
                    <a16:creationId xmlns:a16="http://schemas.microsoft.com/office/drawing/2014/main" id="{E29BBF82-6BD9-D9DA-8197-F14992CA4FAE}"/>
                  </a:ext>
                </a:extLst>
              </p:cNvPr>
              <p:cNvSpPr txBox="1"/>
              <p:nvPr/>
            </p:nvSpPr>
            <p:spPr>
              <a:xfrm>
                <a:off x="1891658" y="2489369"/>
                <a:ext cx="5740513" cy="2893069"/>
              </a:xfrm>
              <a:prstGeom prst="rect">
                <a:avLst/>
              </a:prstGeom>
              <a:solidFill>
                <a:srgbClr val="FFAB40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dirty="0">
                    <a:solidFill>
                      <a:schemeClr val="dk1"/>
                    </a:solidFill>
                  </a:rPr>
                  <a:t>I don’t know, but you should ask the </a:t>
                </a:r>
                <a:r>
                  <a:rPr lang="en" sz="1600" b="1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.edu</a:t>
                </a:r>
                <a:r>
                  <a:rPr lang="en" sz="1600" dirty="0">
                    <a:solidFill>
                      <a:schemeClr val="dk1"/>
                    </a:solidFill>
                  </a:rPr>
                  <a:t> name server.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457200" lvl="0" indent="-3048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Char char="●"/>
                </a:pPr>
                <a:r>
                  <a:rPr lang="en" sz="1600" dirty="0">
                    <a:solidFill>
                      <a:schemeClr val="dk1"/>
                    </a:solidFill>
                  </a:rPr>
                  <a:t>NS record: Domain of the </a:t>
                </a:r>
                <a:r>
                  <a:rPr lang="en" sz="1600" b="1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.edu</a:t>
                </a:r>
                <a:r>
                  <a:rPr lang="en" sz="1600" dirty="0">
                    <a:solidFill>
                      <a:schemeClr val="dk1"/>
                    </a:solidFill>
                  </a:rPr>
                  <a:t> name server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457200" lvl="0" indent="-3048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Char char="●"/>
                </a:pPr>
                <a:r>
                  <a:rPr lang="en" sz="1600" dirty="0">
                    <a:solidFill>
                      <a:schemeClr val="dk1"/>
                    </a:solidFill>
                  </a:rPr>
                  <a:t>A record: IP address of the </a:t>
                </a:r>
                <a:r>
                  <a:rPr lang="en" sz="1600" b="1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.edu</a:t>
                </a:r>
                <a:r>
                  <a:rPr lang="en" sz="1600" dirty="0">
                    <a:solidFill>
                      <a:schemeClr val="dk1"/>
                    </a:solidFill>
                  </a:rPr>
                  <a:t> name server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600" dirty="0">
                    <a:solidFill>
                      <a:schemeClr val="dk1"/>
                    </a:solidFill>
                  </a:rPr>
                  <a:t>Here is a signature on the public key of the </a:t>
                </a:r>
                <a:r>
                  <a:rPr lang="en" sz="1600" b="1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.edu</a:t>
                </a:r>
                <a:r>
                  <a:rPr lang="en" sz="1600" dirty="0">
                    <a:solidFill>
                      <a:schemeClr val="dk1"/>
                    </a:solidFill>
                  </a:rPr>
                  <a:t> name server. If you trust me, then now you trust them too.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457200" lvl="0" indent="-3048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Char char="●"/>
                </a:pPr>
                <a:r>
                  <a:rPr lang="en" sz="1600" b="1" i="1" dirty="0">
                    <a:solidFill>
                      <a:srgbClr val="C00000"/>
                    </a:solidFill>
                  </a:rPr>
                  <a:t>DS record</a:t>
                </a:r>
                <a:r>
                  <a:rPr lang="en" sz="1600" dirty="0">
                    <a:solidFill>
                      <a:schemeClr val="dk1"/>
                    </a:solidFill>
                  </a:rPr>
                  <a:t>: </a:t>
                </a:r>
                <a:r>
                  <a:rPr lang="en" sz="1600" b="1" dirty="0">
                    <a:solidFill>
                      <a:schemeClr val="dk1"/>
                    </a:solidFill>
                  </a:rPr>
                  <a:t>Hash</a:t>
                </a:r>
                <a:r>
                  <a:rPr lang="en" sz="1600" dirty="0">
                    <a:solidFill>
                      <a:schemeClr val="dk1"/>
                    </a:solidFill>
                  </a:rPr>
                  <a:t> of the </a:t>
                </a:r>
                <a:r>
                  <a:rPr lang="en" sz="1600" b="1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.edu</a:t>
                </a:r>
                <a:r>
                  <a:rPr lang="en" sz="1600" dirty="0">
                    <a:solidFill>
                      <a:schemeClr val="dk1"/>
                    </a:solidFill>
                  </a:rPr>
                  <a:t> name server’s public key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457200" lvl="0" indent="-3048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Char char="●"/>
                </a:pPr>
                <a:r>
                  <a:rPr lang="en" sz="1600" b="1" i="1" dirty="0">
                    <a:solidFill>
                      <a:srgbClr val="C00000"/>
                    </a:solidFill>
                  </a:rPr>
                  <a:t>RRSIG DS record</a:t>
                </a:r>
                <a:r>
                  <a:rPr lang="en" sz="1600" dirty="0">
                    <a:solidFill>
                      <a:schemeClr val="dk1"/>
                    </a:solidFill>
                  </a:rPr>
                  <a:t>: </a:t>
                </a:r>
                <a:r>
                  <a:rPr lang="en" sz="1600" b="1" dirty="0">
                    <a:solidFill>
                      <a:schemeClr val="dk1"/>
                    </a:solidFill>
                  </a:rPr>
                  <a:t>Signature</a:t>
                </a:r>
                <a:r>
                  <a:rPr lang="en" sz="1600" dirty="0">
                    <a:solidFill>
                      <a:schemeClr val="dk1"/>
                    </a:solidFill>
                  </a:rPr>
                  <a:t> on the DS record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600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600" dirty="0">
                    <a:solidFill>
                      <a:schemeClr val="dk1"/>
                    </a:solidFill>
                  </a:rPr>
                  <a:t>Here is my public key so you can verify the signature.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457200" lvl="0" indent="-3048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Char char="●"/>
                </a:pPr>
                <a:r>
                  <a:rPr lang="en" sz="1600" b="1" i="1" dirty="0">
                    <a:solidFill>
                      <a:srgbClr val="C00000"/>
                    </a:solidFill>
                  </a:rPr>
                  <a:t>DNSKEY record</a:t>
                </a:r>
                <a:r>
                  <a:rPr lang="en" sz="1600" dirty="0">
                    <a:solidFill>
                      <a:schemeClr val="dk1"/>
                    </a:solidFill>
                  </a:rPr>
                  <a:t>: The root name server’s public key</a:t>
                </a:r>
                <a:endParaRPr sz="1600" dirty="0">
                  <a:solidFill>
                    <a:schemeClr val="dk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3915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A8577-AE6A-2755-1BC0-1EA071A4B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9;p140">
            <a:extLst>
              <a:ext uri="{FF2B5EF4-FFF2-40B4-BE49-F238E27FC236}">
                <a16:creationId xmlns:a16="http://schemas.microsoft.com/office/drawing/2014/main" id="{E4416110-2C9B-2392-F445-FE666BFCDF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599" y="9212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400" dirty="0">
                <a:latin typeface="Aptos Display (Headings)"/>
              </a:rPr>
              <a:t>DNSSEC Lookup </a:t>
            </a:r>
            <a:r>
              <a:rPr lang="en-US" altLang="zh-CN" sz="4400" dirty="0">
                <a:latin typeface="Aptos Display (Headings)"/>
              </a:rPr>
              <a:t>Steps</a:t>
            </a:r>
            <a:endParaRPr sz="4400" dirty="0">
              <a:latin typeface="Aptos Display (Headings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2DCE6B-3BB7-61C1-FA4B-EBFC58A8B678}"/>
              </a:ext>
            </a:extLst>
          </p:cNvPr>
          <p:cNvSpPr txBox="1"/>
          <p:nvPr/>
        </p:nvSpPr>
        <p:spPr>
          <a:xfrm>
            <a:off x="675596" y="1322713"/>
            <a:ext cx="1084080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Recall: We implicitly trust the top of the certificate hierarchy, which is the </a:t>
            </a:r>
            <a:r>
              <a:rPr lang="en-US" sz="2000" b="1" i="1" dirty="0">
                <a:solidFill>
                  <a:srgbClr val="C00000"/>
                </a:solidFill>
                <a:latin typeface="Aptos" panose="020B0004020202020204" pitchFamily="34" charset="0"/>
              </a:rPr>
              <a:t>root name server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Recall: The root name server’s public key (self-signed) is </a:t>
            </a:r>
            <a:r>
              <a:rPr lang="en-US" sz="2000" b="1" dirty="0">
                <a:solidFill>
                  <a:srgbClr val="C00000"/>
                </a:solidFill>
                <a:latin typeface="Aptos" panose="020B0004020202020204" pitchFamily="34" charset="0"/>
              </a:rPr>
              <a:t>hard-coded</a:t>
            </a:r>
            <a:r>
              <a:rPr lang="en-US" sz="2000" dirty="0">
                <a:latin typeface="Aptos" panose="020B0004020202020204" pitchFamily="34" charset="0"/>
              </a:rPr>
              <a:t> into resolvers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5B35E3E-343A-63FF-EBC4-50AA128BEE96}"/>
              </a:ext>
            </a:extLst>
          </p:cNvPr>
          <p:cNvGrpSpPr/>
          <p:nvPr/>
        </p:nvGrpSpPr>
        <p:grpSpPr>
          <a:xfrm>
            <a:off x="1409783" y="2641833"/>
            <a:ext cx="9372430" cy="3955206"/>
            <a:chOff x="1623085" y="2445889"/>
            <a:chExt cx="9372430" cy="3955206"/>
          </a:xfrm>
        </p:grpSpPr>
        <p:sp>
          <p:nvSpPr>
            <p:cNvPr id="2" name="Google Shape;391;p49">
              <a:extLst>
                <a:ext uri="{FF2B5EF4-FFF2-40B4-BE49-F238E27FC236}">
                  <a16:creationId xmlns:a16="http://schemas.microsoft.com/office/drawing/2014/main" id="{B94C7F05-F4A0-1E49-127D-B84FB6DFAFEB}"/>
                </a:ext>
              </a:extLst>
            </p:cNvPr>
            <p:cNvSpPr txBox="1"/>
            <p:nvPr/>
          </p:nvSpPr>
          <p:spPr>
            <a:xfrm>
              <a:off x="1623085" y="2445890"/>
              <a:ext cx="1238100" cy="3924427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Recursive Resolver</a:t>
              </a:r>
              <a:endParaRPr dirty="0"/>
            </a:p>
          </p:txBody>
        </p:sp>
        <p:sp>
          <p:nvSpPr>
            <p:cNvPr id="5" name="Google Shape;392;p49">
              <a:extLst>
                <a:ext uri="{FF2B5EF4-FFF2-40B4-BE49-F238E27FC236}">
                  <a16:creationId xmlns:a16="http://schemas.microsoft.com/office/drawing/2014/main" id="{5D6A6B96-4D4E-588A-376F-3D8881FF148C}"/>
                </a:ext>
              </a:extLst>
            </p:cNvPr>
            <p:cNvSpPr txBox="1"/>
            <p:nvPr/>
          </p:nvSpPr>
          <p:spPr>
            <a:xfrm>
              <a:off x="9385715" y="2445889"/>
              <a:ext cx="1609800" cy="3924427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.</a:t>
              </a:r>
              <a:r>
                <a:rPr lang="en-US" b="1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edu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en-US" dirty="0"/>
                <a:t>name server</a:t>
              </a:r>
            </a:p>
          </p:txBody>
        </p:sp>
        <p:grpSp>
          <p:nvGrpSpPr>
            <p:cNvPr id="6" name="Google Shape;393;p49">
              <a:extLst>
                <a:ext uri="{FF2B5EF4-FFF2-40B4-BE49-F238E27FC236}">
                  <a16:creationId xmlns:a16="http://schemas.microsoft.com/office/drawing/2014/main" id="{2797F7D3-B7EF-5742-8F6E-890951CE4802}"/>
                </a:ext>
              </a:extLst>
            </p:cNvPr>
            <p:cNvGrpSpPr/>
            <p:nvPr/>
          </p:nvGrpSpPr>
          <p:grpSpPr>
            <a:xfrm>
              <a:off x="2946035" y="2445892"/>
              <a:ext cx="6347851" cy="461212"/>
              <a:chOff x="1811200" y="1458013"/>
              <a:chExt cx="6347851" cy="461212"/>
            </a:xfrm>
          </p:grpSpPr>
          <p:cxnSp>
            <p:nvCxnSpPr>
              <p:cNvPr id="7" name="Google Shape;394;p49">
                <a:extLst>
                  <a:ext uri="{FF2B5EF4-FFF2-40B4-BE49-F238E27FC236}">
                    <a16:creationId xmlns:a16="http://schemas.microsoft.com/office/drawing/2014/main" id="{9876205D-86C7-985A-995B-4D59822F9F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1200" y="1919225"/>
                <a:ext cx="6347851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sp>
            <p:nvSpPr>
              <p:cNvPr id="8" name="Google Shape;395;p49">
                <a:extLst>
                  <a:ext uri="{FF2B5EF4-FFF2-40B4-BE49-F238E27FC236}">
                    <a16:creationId xmlns:a16="http://schemas.microsoft.com/office/drawing/2014/main" id="{1717AE0D-2171-1576-0E7A-D52769F754E9}"/>
                  </a:ext>
                </a:extLst>
              </p:cNvPr>
              <p:cNvSpPr txBox="1"/>
              <p:nvPr/>
            </p:nvSpPr>
            <p:spPr>
              <a:xfrm>
                <a:off x="1891656" y="1458013"/>
                <a:ext cx="6193915" cy="393600"/>
              </a:xfrm>
              <a:prstGeom prst="rect">
                <a:avLst/>
              </a:prstGeom>
              <a:solidFill>
                <a:srgbClr val="FFAB40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dirty="0"/>
                  <a:t>What is the IP address of </a:t>
                </a:r>
                <a:r>
                  <a:rPr lang="en" sz="1600" b="1" dirty="0">
                    <a:solidFill>
                      <a:srgbClr val="C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dsac.msoe.edu</a:t>
                </a:r>
                <a:r>
                  <a:rPr lang="en" sz="1600" dirty="0"/>
                  <a:t>?</a:t>
                </a:r>
                <a:endParaRPr sz="1600" dirty="0"/>
              </a:p>
            </p:txBody>
          </p:sp>
        </p:grpSp>
        <p:grpSp>
          <p:nvGrpSpPr>
            <p:cNvPr id="9" name="Google Shape;396;p49">
              <a:extLst>
                <a:ext uri="{FF2B5EF4-FFF2-40B4-BE49-F238E27FC236}">
                  <a16:creationId xmlns:a16="http://schemas.microsoft.com/office/drawing/2014/main" id="{1EAADCC2-E97E-3347-8826-ADA6E8C63F69}"/>
                </a:ext>
              </a:extLst>
            </p:cNvPr>
            <p:cNvGrpSpPr/>
            <p:nvPr/>
          </p:nvGrpSpPr>
          <p:grpSpPr>
            <a:xfrm>
              <a:off x="2946035" y="3373785"/>
              <a:ext cx="6347851" cy="3027310"/>
              <a:chOff x="1811200" y="2385906"/>
              <a:chExt cx="6347851" cy="3027310"/>
            </a:xfrm>
          </p:grpSpPr>
          <p:cxnSp>
            <p:nvCxnSpPr>
              <p:cNvPr id="10" name="Google Shape;397;p49">
                <a:extLst>
                  <a:ext uri="{FF2B5EF4-FFF2-40B4-BE49-F238E27FC236}">
                    <a16:creationId xmlns:a16="http://schemas.microsoft.com/office/drawing/2014/main" id="{44BF3C7B-D347-8239-699B-6F34AD5E21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1200" y="2385906"/>
                <a:ext cx="6347851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1" name="Google Shape;398;p49">
                <a:extLst>
                  <a:ext uri="{FF2B5EF4-FFF2-40B4-BE49-F238E27FC236}">
                    <a16:creationId xmlns:a16="http://schemas.microsoft.com/office/drawing/2014/main" id="{9589837E-EF34-7CB4-93DB-1419BC3FF049}"/>
                  </a:ext>
                </a:extLst>
              </p:cNvPr>
              <p:cNvSpPr txBox="1"/>
              <p:nvPr/>
            </p:nvSpPr>
            <p:spPr>
              <a:xfrm>
                <a:off x="1891658" y="2489369"/>
                <a:ext cx="6193914" cy="2923847"/>
              </a:xfrm>
              <a:prstGeom prst="rect">
                <a:avLst/>
              </a:prstGeom>
              <a:solidFill>
                <a:srgbClr val="FFAB40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dirty="0">
                    <a:solidFill>
                      <a:schemeClr val="dk1"/>
                    </a:solidFill>
                  </a:rPr>
                  <a:t>I don’t know, but you should ask the </a:t>
                </a:r>
                <a:r>
                  <a:rPr lang="en" sz="1600" b="1" dirty="0">
                    <a:solidFill>
                      <a:schemeClr val="dk1"/>
                    </a:solidFill>
                    <a:latin typeface="Courier New"/>
                    <a:cs typeface="Courier New"/>
                  </a:rPr>
                  <a:t>msoe</a:t>
                </a:r>
                <a:r>
                  <a:rPr lang="en" sz="1600" b="1" dirty="0">
                    <a:solidFill>
                      <a:schemeClr val="dk1"/>
                    </a:solidFill>
                    <a:latin typeface="Courier New"/>
                    <a:cs typeface="Courier New"/>
                    <a:sym typeface="Courier New"/>
                  </a:rPr>
                  <a:t>.</a:t>
                </a:r>
                <a:r>
                  <a:rPr lang="en" sz="1600" b="1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edu</a:t>
                </a:r>
                <a:r>
                  <a:rPr lang="en" sz="1600" dirty="0">
                    <a:solidFill>
                      <a:schemeClr val="dk1"/>
                    </a:solidFill>
                  </a:rPr>
                  <a:t> name server.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457200" lvl="0" indent="-3048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Char char="●"/>
                </a:pPr>
                <a:r>
                  <a:rPr lang="en" sz="1600" dirty="0">
                    <a:solidFill>
                      <a:schemeClr val="dk1"/>
                    </a:solidFill>
                  </a:rPr>
                  <a:t>NS record: Domain of the </a:t>
                </a:r>
                <a:r>
                  <a:rPr lang="en" sz="1600" b="1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msoe.edu</a:t>
                </a:r>
                <a:r>
                  <a:rPr lang="en" sz="1600" dirty="0">
                    <a:solidFill>
                      <a:schemeClr val="dk1"/>
                    </a:solidFill>
                  </a:rPr>
                  <a:t> name server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457200" lvl="0" indent="-3048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Char char="●"/>
                </a:pPr>
                <a:r>
                  <a:rPr lang="en" sz="1600" dirty="0">
                    <a:solidFill>
                      <a:schemeClr val="dk1"/>
                    </a:solidFill>
                  </a:rPr>
                  <a:t>A record: IP address of the </a:t>
                </a:r>
                <a:r>
                  <a:rPr lang="en" sz="1600" b="1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msoe.edu</a:t>
                </a:r>
                <a:r>
                  <a:rPr lang="en" sz="1600" dirty="0">
                    <a:solidFill>
                      <a:schemeClr val="dk1"/>
                    </a:solidFill>
                  </a:rPr>
                  <a:t> name server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600" dirty="0">
                    <a:solidFill>
                      <a:schemeClr val="dk1"/>
                    </a:solidFill>
                  </a:rPr>
                  <a:t>Here is a signature on the public key of the </a:t>
                </a:r>
                <a:r>
                  <a:rPr lang="en" sz="1600" b="1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.edu</a:t>
                </a:r>
                <a:r>
                  <a:rPr lang="en" sz="1600" dirty="0">
                    <a:solidFill>
                      <a:schemeClr val="dk1"/>
                    </a:solidFill>
                  </a:rPr>
                  <a:t> name server. If you trust me, then now you trust them too.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457200" lvl="0" indent="-3048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Char char="●"/>
                </a:pPr>
                <a:r>
                  <a:rPr lang="en" sz="1600" b="1" i="1" dirty="0">
                    <a:solidFill>
                      <a:srgbClr val="C00000"/>
                    </a:solidFill>
                  </a:rPr>
                  <a:t>DS record</a:t>
                </a:r>
                <a:r>
                  <a:rPr lang="en" sz="1600" dirty="0">
                    <a:solidFill>
                      <a:schemeClr val="dk1"/>
                    </a:solidFill>
                  </a:rPr>
                  <a:t>: </a:t>
                </a:r>
                <a:r>
                  <a:rPr lang="en" sz="1600" b="1" dirty="0">
                    <a:solidFill>
                      <a:schemeClr val="dk1"/>
                    </a:solidFill>
                  </a:rPr>
                  <a:t>Hash</a:t>
                </a:r>
                <a:r>
                  <a:rPr lang="en" sz="1600" dirty="0">
                    <a:solidFill>
                      <a:schemeClr val="dk1"/>
                    </a:solidFill>
                  </a:rPr>
                  <a:t> of the </a:t>
                </a:r>
                <a:r>
                  <a:rPr lang="en" sz="1600" b="1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msoe.edu</a:t>
                </a:r>
                <a:r>
                  <a:rPr lang="en" sz="1600" dirty="0">
                    <a:solidFill>
                      <a:schemeClr val="dk1"/>
                    </a:solidFill>
                  </a:rPr>
                  <a:t> name server’s public key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457200" lvl="0" indent="-3048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Char char="●"/>
                </a:pPr>
                <a:r>
                  <a:rPr lang="en" sz="1600" b="1" i="1" dirty="0">
                    <a:solidFill>
                      <a:srgbClr val="C00000"/>
                    </a:solidFill>
                  </a:rPr>
                  <a:t>RRSIG DS record</a:t>
                </a:r>
                <a:r>
                  <a:rPr lang="en" sz="1600" dirty="0">
                    <a:solidFill>
                      <a:schemeClr val="dk1"/>
                    </a:solidFill>
                  </a:rPr>
                  <a:t>: </a:t>
                </a:r>
                <a:r>
                  <a:rPr lang="en" sz="1600" b="1" dirty="0">
                    <a:solidFill>
                      <a:schemeClr val="dk1"/>
                    </a:solidFill>
                  </a:rPr>
                  <a:t>Signature</a:t>
                </a:r>
                <a:r>
                  <a:rPr lang="en" sz="1600" dirty="0">
                    <a:solidFill>
                      <a:schemeClr val="dk1"/>
                    </a:solidFill>
                  </a:rPr>
                  <a:t> on the DS record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600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600" dirty="0">
                    <a:solidFill>
                      <a:schemeClr val="dk1"/>
                    </a:solidFill>
                  </a:rPr>
                  <a:t>Here is my public key so you can verify the signature.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457200" lvl="0" indent="-304800">
                  <a:buClr>
                    <a:schemeClr val="dk1"/>
                  </a:buClr>
                  <a:buSzPts val="1200"/>
                  <a:buChar char="●"/>
                </a:pPr>
                <a:r>
                  <a:rPr lang="en" sz="1600" b="1" i="1" dirty="0">
                    <a:solidFill>
                      <a:srgbClr val="C00000"/>
                    </a:solidFill>
                  </a:rPr>
                  <a:t>DNSKEY record</a:t>
                </a:r>
                <a:r>
                  <a:rPr lang="en" sz="1600" dirty="0">
                    <a:solidFill>
                      <a:schemeClr val="dk1"/>
                    </a:solidFill>
                  </a:rPr>
                  <a:t>: The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.edu</a:t>
                </a:r>
                <a:r>
                  <a:rPr lang="en" sz="1600" dirty="0">
                    <a:solidFill>
                      <a:schemeClr val="dk1"/>
                    </a:solidFill>
                  </a:rPr>
                  <a:t> name server’s public key</a:t>
                </a:r>
                <a:endParaRPr sz="1600" dirty="0">
                  <a:solidFill>
                    <a:schemeClr val="dk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02682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C493C-90EF-08C2-6A09-BA3EE81A7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9;p140">
            <a:extLst>
              <a:ext uri="{FF2B5EF4-FFF2-40B4-BE49-F238E27FC236}">
                <a16:creationId xmlns:a16="http://schemas.microsoft.com/office/drawing/2014/main" id="{88C6558F-E03B-FC13-27B5-C915A4C95B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599" y="9212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400" dirty="0">
                <a:latin typeface="Aptos Display (Headings)"/>
              </a:rPr>
              <a:t>DNSSEC Lookup </a:t>
            </a:r>
            <a:r>
              <a:rPr lang="en-US" altLang="zh-CN" sz="4400" dirty="0">
                <a:latin typeface="Aptos Display (Headings)"/>
              </a:rPr>
              <a:t>Steps</a:t>
            </a:r>
            <a:endParaRPr sz="4400" dirty="0">
              <a:latin typeface="Aptos Display (Headings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4203C-B168-C929-DEBA-6631848280AB}"/>
              </a:ext>
            </a:extLst>
          </p:cNvPr>
          <p:cNvSpPr txBox="1"/>
          <p:nvPr/>
        </p:nvSpPr>
        <p:spPr>
          <a:xfrm>
            <a:off x="675596" y="1322713"/>
            <a:ext cx="1084080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Recall: We implicitly trust the top of the certificate hierarchy, which is the </a:t>
            </a:r>
            <a:r>
              <a:rPr lang="en-US" sz="2000" b="1" i="1" dirty="0">
                <a:solidFill>
                  <a:srgbClr val="C00000"/>
                </a:solidFill>
                <a:latin typeface="Aptos" panose="020B0004020202020204" pitchFamily="34" charset="0"/>
              </a:rPr>
              <a:t>root name server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Recall: The root name server’s public key (self-signed) is </a:t>
            </a:r>
            <a:r>
              <a:rPr lang="en-US" sz="2000" b="1" dirty="0">
                <a:solidFill>
                  <a:srgbClr val="C00000"/>
                </a:solidFill>
                <a:latin typeface="Aptos" panose="020B0004020202020204" pitchFamily="34" charset="0"/>
              </a:rPr>
              <a:t>hard-coded</a:t>
            </a:r>
            <a:r>
              <a:rPr lang="en-US" sz="2000" dirty="0">
                <a:latin typeface="Aptos" panose="020B0004020202020204" pitchFamily="34" charset="0"/>
              </a:rPr>
              <a:t> into resolvers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9E8FFE-A758-A18D-34F2-239B31D3BB8F}"/>
              </a:ext>
            </a:extLst>
          </p:cNvPr>
          <p:cNvGrpSpPr/>
          <p:nvPr/>
        </p:nvGrpSpPr>
        <p:grpSpPr>
          <a:xfrm>
            <a:off x="1409783" y="2641833"/>
            <a:ext cx="9372430" cy="3924428"/>
            <a:chOff x="1623085" y="2445889"/>
            <a:chExt cx="9372430" cy="3924428"/>
          </a:xfrm>
        </p:grpSpPr>
        <p:sp>
          <p:nvSpPr>
            <p:cNvPr id="2" name="Google Shape;391;p49">
              <a:extLst>
                <a:ext uri="{FF2B5EF4-FFF2-40B4-BE49-F238E27FC236}">
                  <a16:creationId xmlns:a16="http://schemas.microsoft.com/office/drawing/2014/main" id="{EF5848C0-41DF-51B9-2626-CEDCA875522E}"/>
                </a:ext>
              </a:extLst>
            </p:cNvPr>
            <p:cNvSpPr txBox="1"/>
            <p:nvPr/>
          </p:nvSpPr>
          <p:spPr>
            <a:xfrm>
              <a:off x="1623085" y="2445890"/>
              <a:ext cx="1238100" cy="3924427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Recursive Resolver</a:t>
              </a:r>
              <a:endParaRPr dirty="0"/>
            </a:p>
          </p:txBody>
        </p:sp>
        <p:sp>
          <p:nvSpPr>
            <p:cNvPr id="5" name="Google Shape;392;p49">
              <a:extLst>
                <a:ext uri="{FF2B5EF4-FFF2-40B4-BE49-F238E27FC236}">
                  <a16:creationId xmlns:a16="http://schemas.microsoft.com/office/drawing/2014/main" id="{D14C8D68-12E7-D9CE-1800-1578AAAA3689}"/>
                </a:ext>
              </a:extLst>
            </p:cNvPr>
            <p:cNvSpPr txBox="1"/>
            <p:nvPr/>
          </p:nvSpPr>
          <p:spPr>
            <a:xfrm>
              <a:off x="9385715" y="2445889"/>
              <a:ext cx="1609800" cy="3924427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msoe.edu </a:t>
              </a:r>
              <a:r>
                <a:rPr lang="en-US" dirty="0"/>
                <a:t>name server</a:t>
              </a:r>
            </a:p>
          </p:txBody>
        </p:sp>
        <p:grpSp>
          <p:nvGrpSpPr>
            <p:cNvPr id="6" name="Google Shape;393;p49">
              <a:extLst>
                <a:ext uri="{FF2B5EF4-FFF2-40B4-BE49-F238E27FC236}">
                  <a16:creationId xmlns:a16="http://schemas.microsoft.com/office/drawing/2014/main" id="{6B2EBBFB-BF0F-861A-FC02-7B14A35236F9}"/>
                </a:ext>
              </a:extLst>
            </p:cNvPr>
            <p:cNvGrpSpPr/>
            <p:nvPr/>
          </p:nvGrpSpPr>
          <p:grpSpPr>
            <a:xfrm>
              <a:off x="2946035" y="2445892"/>
              <a:ext cx="6347851" cy="461212"/>
              <a:chOff x="1811200" y="1458013"/>
              <a:chExt cx="6347851" cy="461212"/>
            </a:xfrm>
          </p:grpSpPr>
          <p:cxnSp>
            <p:nvCxnSpPr>
              <p:cNvPr id="7" name="Google Shape;394;p49">
                <a:extLst>
                  <a:ext uri="{FF2B5EF4-FFF2-40B4-BE49-F238E27FC236}">
                    <a16:creationId xmlns:a16="http://schemas.microsoft.com/office/drawing/2014/main" id="{E9132AA0-005C-88F6-5D84-C0CB3FE68F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1200" y="1919225"/>
                <a:ext cx="6347851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sp>
            <p:nvSpPr>
              <p:cNvPr id="8" name="Google Shape;395;p49">
                <a:extLst>
                  <a:ext uri="{FF2B5EF4-FFF2-40B4-BE49-F238E27FC236}">
                    <a16:creationId xmlns:a16="http://schemas.microsoft.com/office/drawing/2014/main" id="{BC0A568C-F2D7-4F5C-13A5-6CCF7BB4C0FA}"/>
                  </a:ext>
                </a:extLst>
              </p:cNvPr>
              <p:cNvSpPr txBox="1"/>
              <p:nvPr/>
            </p:nvSpPr>
            <p:spPr>
              <a:xfrm>
                <a:off x="1891656" y="1458013"/>
                <a:ext cx="6193915" cy="393600"/>
              </a:xfrm>
              <a:prstGeom prst="rect">
                <a:avLst/>
              </a:prstGeom>
              <a:solidFill>
                <a:srgbClr val="FFAB40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dirty="0"/>
                  <a:t>What is the IP address of </a:t>
                </a:r>
                <a:r>
                  <a:rPr lang="en" sz="1600" b="1" dirty="0">
                    <a:solidFill>
                      <a:srgbClr val="C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dsac.msoe.edu</a:t>
                </a:r>
                <a:r>
                  <a:rPr lang="en" sz="1600" dirty="0"/>
                  <a:t>?</a:t>
                </a:r>
                <a:endParaRPr sz="1600" dirty="0"/>
              </a:p>
            </p:txBody>
          </p:sp>
        </p:grpSp>
        <p:grpSp>
          <p:nvGrpSpPr>
            <p:cNvPr id="9" name="Google Shape;396;p49">
              <a:extLst>
                <a:ext uri="{FF2B5EF4-FFF2-40B4-BE49-F238E27FC236}">
                  <a16:creationId xmlns:a16="http://schemas.microsoft.com/office/drawing/2014/main" id="{0A10B903-D800-2EEC-B675-D85709AA5EA6}"/>
                </a:ext>
              </a:extLst>
            </p:cNvPr>
            <p:cNvGrpSpPr/>
            <p:nvPr/>
          </p:nvGrpSpPr>
          <p:grpSpPr>
            <a:xfrm>
              <a:off x="2946035" y="3373785"/>
              <a:ext cx="6347851" cy="2288646"/>
              <a:chOff x="1811200" y="2385906"/>
              <a:chExt cx="6347851" cy="2288646"/>
            </a:xfrm>
          </p:grpSpPr>
          <p:cxnSp>
            <p:nvCxnSpPr>
              <p:cNvPr id="10" name="Google Shape;397;p49">
                <a:extLst>
                  <a:ext uri="{FF2B5EF4-FFF2-40B4-BE49-F238E27FC236}">
                    <a16:creationId xmlns:a16="http://schemas.microsoft.com/office/drawing/2014/main" id="{D26047A9-065D-E804-4D6B-B83B396DFBE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11200" y="2385906"/>
                <a:ext cx="6347851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1" name="Google Shape;398;p49">
                <a:extLst>
                  <a:ext uri="{FF2B5EF4-FFF2-40B4-BE49-F238E27FC236}">
                    <a16:creationId xmlns:a16="http://schemas.microsoft.com/office/drawing/2014/main" id="{B01D928D-F9D6-82A3-6C28-9EF904250A9E}"/>
                  </a:ext>
                </a:extLst>
              </p:cNvPr>
              <p:cNvSpPr txBox="1"/>
              <p:nvPr/>
            </p:nvSpPr>
            <p:spPr>
              <a:xfrm>
                <a:off x="1891658" y="2489369"/>
                <a:ext cx="6193914" cy="2185183"/>
              </a:xfrm>
              <a:prstGeom prst="rect">
                <a:avLst/>
              </a:prstGeom>
              <a:solidFill>
                <a:srgbClr val="FFAB40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457200" lvl="0" indent="-3048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Char char="●"/>
                </a:pPr>
                <a:r>
                  <a:rPr lang="en" sz="1600" dirty="0">
                    <a:solidFill>
                      <a:schemeClr val="dk1"/>
                    </a:solidFill>
                  </a:rPr>
                  <a:t>A record: IP address of the </a:t>
                </a:r>
                <a:r>
                  <a:rPr lang="en" sz="1600" b="1" dirty="0">
                    <a:solidFill>
                      <a:schemeClr val="dk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msoe.edu</a:t>
                </a:r>
                <a:r>
                  <a:rPr lang="en" sz="1600" dirty="0">
                    <a:solidFill>
                      <a:schemeClr val="dk1"/>
                    </a:solidFill>
                  </a:rPr>
                  <a:t> name server is 69.20.113.171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600" dirty="0">
                    <a:solidFill>
                      <a:schemeClr val="dk1"/>
                    </a:solidFill>
                  </a:rPr>
                  <a:t>Here is a signature on the above record.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457200" lvl="0" indent="-3048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Char char="●"/>
                </a:pPr>
                <a:r>
                  <a:rPr lang="en" sz="1600" b="1" i="1" dirty="0">
                    <a:solidFill>
                      <a:srgbClr val="C00000"/>
                    </a:solidFill>
                  </a:rPr>
                  <a:t>RRSIG A record</a:t>
                </a:r>
                <a:r>
                  <a:rPr lang="en" sz="1600" dirty="0">
                    <a:solidFill>
                      <a:schemeClr val="dk1"/>
                    </a:solidFill>
                  </a:rPr>
                  <a:t>: </a:t>
                </a:r>
                <a:r>
                  <a:rPr lang="en-US" sz="1600" b="1" dirty="0">
                    <a:solidFill>
                      <a:schemeClr val="dk1"/>
                    </a:solidFill>
                  </a:rPr>
                  <a:t>Signature on the A record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600" dirty="0">
                  <a:solidFill>
                    <a:schemeClr val="dk1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600" dirty="0">
                    <a:solidFill>
                      <a:schemeClr val="dk1"/>
                    </a:solidFill>
                  </a:rPr>
                  <a:t>Here is my public key so you can verify the signature.</a:t>
                </a:r>
                <a:endParaRPr sz="1600" dirty="0">
                  <a:solidFill>
                    <a:schemeClr val="dk1"/>
                  </a:solidFill>
                </a:endParaRPr>
              </a:p>
              <a:p>
                <a:pPr marL="457200" lvl="0" indent="-304800">
                  <a:buClr>
                    <a:schemeClr val="dk1"/>
                  </a:buClr>
                  <a:buSzPts val="1200"/>
                  <a:buChar char="●"/>
                </a:pPr>
                <a:r>
                  <a:rPr lang="en" sz="1600" b="1" i="1" dirty="0">
                    <a:solidFill>
                      <a:srgbClr val="C00000"/>
                    </a:solidFill>
                  </a:rPr>
                  <a:t>DNSKEY record</a:t>
                </a:r>
                <a:r>
                  <a:rPr lang="en" sz="1600" dirty="0">
                    <a:solidFill>
                      <a:schemeClr val="dk1"/>
                    </a:solidFill>
                  </a:rPr>
                  <a:t>: The 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msoe.edu</a:t>
                </a:r>
                <a:r>
                  <a:rPr lang="en" sz="1600" dirty="0">
                    <a:solidFill>
                      <a:schemeClr val="dk1"/>
                    </a:solidFill>
                  </a:rPr>
                  <a:t> name server’s public key</a:t>
                </a:r>
                <a:endParaRPr sz="1600" dirty="0">
                  <a:solidFill>
                    <a:schemeClr val="dk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28137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D4532-7548-354E-A9A5-133D454FB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19;p140">
            <a:extLst>
              <a:ext uri="{FF2B5EF4-FFF2-40B4-BE49-F238E27FC236}">
                <a16:creationId xmlns:a16="http://schemas.microsoft.com/office/drawing/2014/main" id="{B18292F7-937A-DCFD-624A-C0D4ED73567B}"/>
              </a:ext>
            </a:extLst>
          </p:cNvPr>
          <p:cNvSpPr txBox="1">
            <a:spLocks/>
          </p:cNvSpPr>
          <p:nvPr/>
        </p:nvSpPr>
        <p:spPr>
          <a:xfrm>
            <a:off x="415600" y="230919"/>
            <a:ext cx="11360800" cy="92840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kern="0" dirty="0">
                <a:latin typeface="Aptos Display (Headings)"/>
              </a:rPr>
              <a:t>New DNSSEC Keys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D57884-C41A-8697-AB3A-ECB172DA6AB5}"/>
              </a:ext>
            </a:extLst>
          </p:cNvPr>
          <p:cNvSpPr txBox="1"/>
          <p:nvPr/>
        </p:nvSpPr>
        <p:spPr>
          <a:xfrm>
            <a:off x="102734" y="1630058"/>
            <a:ext cx="1198653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i="1" dirty="0">
                <a:solidFill>
                  <a:srgbClr val="C00000"/>
                </a:solidFill>
                <a:latin typeface="Aptos" panose="020B0004020202020204" pitchFamily="34" charset="0"/>
              </a:rPr>
              <a:t>Problem 1: </a:t>
            </a:r>
            <a:r>
              <a:rPr lang="en-US" sz="2200" i="1" dirty="0">
                <a:latin typeface="Aptos" panose="020B0004020202020204" pitchFamily="34" charset="0"/>
              </a:rPr>
              <a:t>What if a name server wants to change its key pair?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A key change is necessary if, for example, an attacker steals the private key of a name server.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Option 1: Notify its parent name server; the parent change the DS record </a:t>
            </a:r>
            <a:endParaRPr lang="en-US" sz="2200" dirty="0">
              <a:latin typeface="Aptos" panose="020B0004020202020204" pitchFamily="34" charset="0"/>
              <a:sym typeface="Wingdings" panose="05000000000000000000" pitchFamily="2" charset="2"/>
            </a:endParaRP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  <a:sym typeface="Wingdings" panose="05000000000000000000" pitchFamily="2" charset="2"/>
              </a:rPr>
              <a:t>Synchronization and communication cost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  <a:sym typeface="Wingdings" panose="05000000000000000000" pitchFamily="2" charset="2"/>
              </a:rPr>
              <a:t>Time consuming and easily go wrong</a:t>
            </a:r>
          </a:p>
        </p:txBody>
      </p:sp>
    </p:spTree>
    <p:extLst>
      <p:ext uri="{BB962C8B-B14F-4D97-AF65-F5344CB8AC3E}">
        <p14:creationId xmlns:p14="http://schemas.microsoft.com/office/powerpoint/2010/main" val="763382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A5DC6-6FBB-8227-0325-EB9830E18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19;p140">
            <a:extLst>
              <a:ext uri="{FF2B5EF4-FFF2-40B4-BE49-F238E27FC236}">
                <a16:creationId xmlns:a16="http://schemas.microsoft.com/office/drawing/2014/main" id="{86F4CA6C-4F7F-7431-7F7F-6BF010A56602}"/>
              </a:ext>
            </a:extLst>
          </p:cNvPr>
          <p:cNvSpPr txBox="1">
            <a:spLocks/>
          </p:cNvSpPr>
          <p:nvPr/>
        </p:nvSpPr>
        <p:spPr>
          <a:xfrm>
            <a:off x="415600" y="142529"/>
            <a:ext cx="11360800" cy="92840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kern="0" dirty="0">
                <a:latin typeface="Aptos Display (Headings)"/>
              </a:rPr>
              <a:t>New DNSSEC Keys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627E3-2F7D-F7FE-FAD5-08C4C8F9E1A7}"/>
              </a:ext>
            </a:extLst>
          </p:cNvPr>
          <p:cNvSpPr txBox="1"/>
          <p:nvPr/>
        </p:nvSpPr>
        <p:spPr>
          <a:xfrm>
            <a:off x="279628" y="1070938"/>
            <a:ext cx="581637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dirty="0">
                <a:latin typeface="Aptos" panose="020B0004020202020204" pitchFamily="34" charset="0"/>
                <a:sym typeface="Wingdings" panose="05000000000000000000" pitchFamily="2" charset="2"/>
              </a:rPr>
              <a:t>Option 2: Each DNSSEC name server generates </a:t>
            </a:r>
            <a:r>
              <a:rPr lang="en-US" sz="2200" b="1" i="1" dirty="0">
                <a:latin typeface="Aptos" panose="020B0004020202020204" pitchFamily="34" charset="0"/>
                <a:sym typeface="Wingdings" panose="05000000000000000000" pitchFamily="2" charset="2"/>
              </a:rPr>
              <a:t>two public/private key pairs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>
                <a:solidFill>
                  <a:srgbClr val="C00000"/>
                </a:solidFill>
                <a:latin typeface="Aptos" panose="020B0004020202020204" pitchFamily="34" charset="0"/>
                <a:sym typeface="Wingdings" panose="05000000000000000000" pitchFamily="2" charset="2"/>
              </a:rPr>
              <a:t>Key signing key (KSK): </a:t>
            </a:r>
            <a:r>
              <a:rPr lang="en-US" sz="2000" dirty="0">
                <a:latin typeface="Aptos" panose="020B0004020202020204" pitchFamily="34" charset="0"/>
                <a:sym typeface="Wingdings" panose="05000000000000000000" pitchFamily="2" charset="2"/>
              </a:rPr>
              <a:t>sign the zone signing key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1" dirty="0">
                <a:solidFill>
                  <a:srgbClr val="C00000"/>
                </a:solidFill>
                <a:latin typeface="Aptos" panose="020B0004020202020204" pitchFamily="34" charset="0"/>
                <a:sym typeface="Wingdings" panose="05000000000000000000" pitchFamily="2" charset="2"/>
              </a:rPr>
              <a:t>Zone signing key (ZSK): </a:t>
            </a:r>
            <a:r>
              <a:rPr lang="en-US" sz="2000" dirty="0">
                <a:latin typeface="Aptos" panose="020B0004020202020204" pitchFamily="34" charset="0"/>
                <a:sym typeface="Wingdings" panose="05000000000000000000" pitchFamily="2" charset="2"/>
              </a:rPr>
              <a:t>sign everything else (e.g., RRset)</a:t>
            </a:r>
            <a:endParaRPr lang="en-US" sz="2000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940452-3EF9-C241-A33D-19A0E3ECA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665" y="1159328"/>
            <a:ext cx="5816372" cy="50919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5EBDDB-5920-605A-43F8-3D9D23030C2F}"/>
              </a:ext>
            </a:extLst>
          </p:cNvPr>
          <p:cNvSpPr txBox="1"/>
          <p:nvPr/>
        </p:nvSpPr>
        <p:spPr>
          <a:xfrm>
            <a:off x="279628" y="3237596"/>
            <a:ext cx="609463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latin typeface="Aptos" panose="020B0004020202020204" pitchFamily="34" charset="0"/>
              </a:rPr>
              <a:t>N</a:t>
            </a:r>
            <a:r>
              <a:rPr lang="en-US" sz="2000" b="0" i="0" dirty="0">
                <a:effectLst/>
                <a:latin typeface="Aptos" panose="020B0004020202020204" pitchFamily="34" charset="0"/>
              </a:rPr>
              <a:t>ame server sends: 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Aptos" panose="020B0004020202020204" pitchFamily="34" charset="0"/>
              </a:rPr>
              <a:t>The public KSK (endorsed by the parent)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altLang="zh-CN" sz="2000" b="0" i="0" dirty="0">
                <a:effectLst/>
                <a:latin typeface="Aptos" panose="020B0004020202020204" pitchFamily="34" charset="0"/>
              </a:rPr>
              <a:t>The p</a:t>
            </a:r>
            <a:r>
              <a:rPr lang="en-US" sz="2000" b="0" i="0" dirty="0">
                <a:effectLst/>
                <a:latin typeface="Aptos" panose="020B0004020202020204" pitchFamily="34" charset="0"/>
              </a:rPr>
              <a:t>ublic ZSK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b="0" i="0" dirty="0">
                <a:effectLst/>
                <a:latin typeface="Aptos" panose="020B0004020202020204" pitchFamily="34" charset="0"/>
              </a:rPr>
              <a:t>A signature on the public ZSK (signed by KSK)</a:t>
            </a:r>
            <a:endParaRPr lang="en-US" sz="2000" dirty="0"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000" b="0" i="0" dirty="0">
                <a:effectLst/>
                <a:latin typeface="Aptos" panose="020B0004020202020204" pitchFamily="34" charset="0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en-US" sz="2000" b="0" i="0" dirty="0">
                <a:effectLst/>
                <a:latin typeface="Aptos" panose="020B0004020202020204" pitchFamily="34" charset="0"/>
              </a:rPr>
              <a:t>The DNS resolver: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b="0" i="0" dirty="0">
                <a:effectLst/>
                <a:latin typeface="Aptos" panose="020B0004020202020204" pitchFamily="34" charset="0"/>
              </a:rPr>
              <a:t>Uses the public KSK to verify the signature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b="0" i="0" dirty="0">
                <a:effectLst/>
                <a:latin typeface="Aptos" panose="020B0004020202020204" pitchFamily="34" charset="0"/>
              </a:rPr>
              <a:t>Accepts the public ZSK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latin typeface="Aptos" panose="020B0004020202020204" pitchFamily="34" charset="0"/>
              </a:rPr>
              <a:t>Uses ZSK to v</a:t>
            </a:r>
            <a:r>
              <a:rPr lang="en-US" sz="2000" b="0" i="0" dirty="0">
                <a:effectLst/>
                <a:latin typeface="Aptos" panose="020B0004020202020204" pitchFamily="34" charset="0"/>
              </a:rPr>
              <a:t>erify RRSIG and accepts RRSET</a:t>
            </a:r>
          </a:p>
        </p:txBody>
      </p:sp>
    </p:spTree>
    <p:extLst>
      <p:ext uri="{BB962C8B-B14F-4D97-AF65-F5344CB8AC3E}">
        <p14:creationId xmlns:p14="http://schemas.microsoft.com/office/powerpoint/2010/main" val="41126083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25101-3BDB-408B-8312-89B9115E1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E848FE95-565D-D570-47C5-75B9DBB49C73}"/>
              </a:ext>
            </a:extLst>
          </p:cNvPr>
          <p:cNvGrpSpPr/>
          <p:nvPr/>
        </p:nvGrpSpPr>
        <p:grpSpPr>
          <a:xfrm>
            <a:off x="4988378" y="655656"/>
            <a:ext cx="7078434" cy="6075016"/>
            <a:chOff x="4988378" y="655656"/>
            <a:chExt cx="7078434" cy="607501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7F6940A-3DB8-7B33-645E-FD3617685EDA}"/>
                </a:ext>
              </a:extLst>
            </p:cNvPr>
            <p:cNvGrpSpPr/>
            <p:nvPr/>
          </p:nvGrpSpPr>
          <p:grpSpPr>
            <a:xfrm>
              <a:off x="5853789" y="1152525"/>
              <a:ext cx="6213018" cy="1020536"/>
              <a:chOff x="783771" y="334735"/>
              <a:chExt cx="6213018" cy="1020536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B4C6972-EE4E-5F06-6FA5-B8CBB6F7A428}"/>
                  </a:ext>
                </a:extLst>
              </p:cNvPr>
              <p:cNvSpPr/>
              <p:nvPr/>
            </p:nvSpPr>
            <p:spPr>
              <a:xfrm>
                <a:off x="783771" y="334735"/>
                <a:ext cx="4351568" cy="102053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[DNSKEY] Public KSK (Root KSK)</a:t>
                </a:r>
              </a:p>
              <a:p>
                <a:pPr marL="342900" indent="-342900"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[DNSKEY] Public ZSK</a:t>
                </a:r>
              </a:p>
              <a:p>
                <a:pPr marL="342900" indent="-342900"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[RRSIG] Signature on (2), signed by KSK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818764-1AB6-65D9-6E7A-672ADCF49CD1}"/>
                  </a:ext>
                </a:extLst>
              </p:cNvPr>
              <p:cNvSpPr txBox="1"/>
              <p:nvPr/>
            </p:nvSpPr>
            <p:spPr>
              <a:xfrm>
                <a:off x="5018312" y="660337"/>
                <a:ext cx="1978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Root, KSK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C02C6BD-CF7F-BC46-65A1-7157A24773EF}"/>
                </a:ext>
              </a:extLst>
            </p:cNvPr>
            <p:cNvGrpSpPr/>
            <p:nvPr/>
          </p:nvGrpSpPr>
          <p:grpSpPr>
            <a:xfrm>
              <a:off x="5853789" y="2243468"/>
              <a:ext cx="6213018" cy="702128"/>
              <a:chOff x="783772" y="1665514"/>
              <a:chExt cx="6213018" cy="70212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FCF7A65-3EC0-C1F1-F540-61B3B2D08125}"/>
                  </a:ext>
                </a:extLst>
              </p:cNvPr>
              <p:cNvSpPr/>
              <p:nvPr/>
            </p:nvSpPr>
            <p:spPr>
              <a:xfrm>
                <a:off x="783772" y="1665514"/>
                <a:ext cx="4351568" cy="70212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 startAt="4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[DS] Hash of (6. child’s public KSK)</a:t>
                </a:r>
              </a:p>
              <a:p>
                <a:pPr marL="342900" indent="-342900">
                  <a:buAutoNum type="arabicPeriod" startAt="4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[RRSIG] Signature on (4), signed by ZSK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CA5BEE-D183-391C-9170-38419FBB715B}"/>
                  </a:ext>
                </a:extLst>
              </p:cNvPr>
              <p:cNvSpPr txBox="1"/>
              <p:nvPr/>
            </p:nvSpPr>
            <p:spPr>
              <a:xfrm>
                <a:off x="5018312" y="1831912"/>
                <a:ext cx="19784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Root, ZSK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0344F7B-AD90-D135-FC94-758019AC10C0}"/>
                </a:ext>
              </a:extLst>
            </p:cNvPr>
            <p:cNvGrpSpPr/>
            <p:nvPr/>
          </p:nvGrpSpPr>
          <p:grpSpPr>
            <a:xfrm>
              <a:off x="5853787" y="3016003"/>
              <a:ext cx="6213020" cy="1020536"/>
              <a:chOff x="783770" y="2593520"/>
              <a:chExt cx="6213020" cy="1020536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1297442B-DA0D-AEB9-9CCB-F9B2145D0754}"/>
                  </a:ext>
                </a:extLst>
              </p:cNvPr>
              <p:cNvSpPr/>
              <p:nvPr/>
            </p:nvSpPr>
            <p:spPr>
              <a:xfrm>
                <a:off x="783770" y="2593520"/>
                <a:ext cx="4351568" cy="1020536"/>
              </a:xfrm>
              <a:prstGeom prst="rect">
                <a:avLst/>
              </a:prstGeom>
              <a:solidFill>
                <a:srgbClr val="CAF7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 startAt="6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[DNSKEY] Public KSK</a:t>
                </a:r>
              </a:p>
              <a:p>
                <a:pPr marL="342900" indent="-342900">
                  <a:buAutoNum type="arabicPeriod" startAt="6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[DNSKEY] Public ZSK</a:t>
                </a:r>
              </a:p>
              <a:p>
                <a:pPr marL="342900" indent="-342900">
                  <a:buAutoNum type="arabicPeriod" startAt="6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[RRSIG] Signature on (7), signed by KSK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77D542-1F12-3E47-4935-0C3E8861FE07}"/>
                  </a:ext>
                </a:extLst>
              </p:cNvPr>
              <p:cNvSpPr txBox="1"/>
              <p:nvPr/>
            </p:nvSpPr>
            <p:spPr>
              <a:xfrm>
                <a:off x="5018311" y="2919122"/>
                <a:ext cx="19784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.</a:t>
                </a:r>
                <a:r>
                  <a:rPr lang="en-US" dirty="0" err="1"/>
                  <a:t>edu</a:t>
                </a:r>
                <a:r>
                  <a:rPr lang="en-US" dirty="0"/>
                  <a:t>, KSK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7AB82CD-A00F-F696-C3BA-64049FB8EEE3}"/>
                </a:ext>
              </a:extLst>
            </p:cNvPr>
            <p:cNvGrpSpPr/>
            <p:nvPr/>
          </p:nvGrpSpPr>
          <p:grpSpPr>
            <a:xfrm>
              <a:off x="5853786" y="4106946"/>
              <a:ext cx="6213021" cy="702128"/>
              <a:chOff x="783770" y="3932464"/>
              <a:chExt cx="6213021" cy="70212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7C01ADD-1851-C935-003C-4C6AFB9D324D}"/>
                  </a:ext>
                </a:extLst>
              </p:cNvPr>
              <p:cNvSpPr/>
              <p:nvPr/>
            </p:nvSpPr>
            <p:spPr>
              <a:xfrm>
                <a:off x="783770" y="3932464"/>
                <a:ext cx="4351568" cy="702128"/>
              </a:xfrm>
              <a:prstGeom prst="rect">
                <a:avLst/>
              </a:prstGeom>
              <a:solidFill>
                <a:srgbClr val="76C7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 startAt="9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[DS] Hash of (11. child’s public KSK)</a:t>
                </a:r>
              </a:p>
              <a:p>
                <a:pPr marL="342900" indent="-342900">
                  <a:buAutoNum type="arabicPeriod" startAt="9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[RRSIG] Signature on (9), signed by ZSK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5B9584F-7A18-AD17-8A36-A295786C228B}"/>
                  </a:ext>
                </a:extLst>
              </p:cNvPr>
              <p:cNvSpPr txBox="1"/>
              <p:nvPr/>
            </p:nvSpPr>
            <p:spPr>
              <a:xfrm>
                <a:off x="5018313" y="4098862"/>
                <a:ext cx="19784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.</a:t>
                </a:r>
                <a:r>
                  <a:rPr lang="en-US" dirty="0" err="1"/>
                  <a:t>edu</a:t>
                </a:r>
                <a:r>
                  <a:rPr lang="en-US" dirty="0"/>
                  <a:t>, ZSK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68CD412-EEFA-B7CD-DF5E-102A1E57BCC1}"/>
                </a:ext>
              </a:extLst>
            </p:cNvPr>
            <p:cNvGrpSpPr/>
            <p:nvPr/>
          </p:nvGrpSpPr>
          <p:grpSpPr>
            <a:xfrm>
              <a:off x="5853787" y="4908540"/>
              <a:ext cx="6213025" cy="1020536"/>
              <a:chOff x="783766" y="4327556"/>
              <a:chExt cx="6213025" cy="1020536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38D15B7-0FB3-4ACA-C90C-7FEA8DBEE467}"/>
                  </a:ext>
                </a:extLst>
              </p:cNvPr>
              <p:cNvSpPr/>
              <p:nvPr/>
            </p:nvSpPr>
            <p:spPr>
              <a:xfrm>
                <a:off x="783766" y="4327556"/>
                <a:ext cx="4351567" cy="102053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 startAt="11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[DNSKEY] Public KSK</a:t>
                </a:r>
              </a:p>
              <a:p>
                <a:pPr marL="342900" indent="-342900">
                  <a:buAutoNum type="arabicPeriod" startAt="11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[DNSKEY] Public ZSK</a:t>
                </a:r>
              </a:p>
              <a:p>
                <a:pPr marL="342900" indent="-342900">
                  <a:buAutoNum type="arabicPeriod" startAt="11"/>
                </a:pPr>
                <a:r>
                  <a:rPr lang="en-US" sz="17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[RRSIG] Signature on (12), signed by KSK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C4F918-7F93-1618-AA72-96EA8B77F90A}"/>
                  </a:ext>
                </a:extLst>
              </p:cNvPr>
              <p:cNvSpPr txBox="1"/>
              <p:nvPr/>
            </p:nvSpPr>
            <p:spPr>
              <a:xfrm>
                <a:off x="5018310" y="4653158"/>
                <a:ext cx="19784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msoe.edu, KSK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1284AC3-A461-6095-1041-ADC40EAAFA30}"/>
                </a:ext>
              </a:extLst>
            </p:cNvPr>
            <p:cNvGrpSpPr/>
            <p:nvPr/>
          </p:nvGrpSpPr>
          <p:grpSpPr>
            <a:xfrm>
              <a:off x="5853785" y="6028544"/>
              <a:ext cx="6213024" cy="702128"/>
              <a:chOff x="783768" y="6012997"/>
              <a:chExt cx="6213024" cy="70212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12971F7-7018-52A7-AF3D-3F022F0E6F72}"/>
                  </a:ext>
                </a:extLst>
              </p:cNvPr>
              <p:cNvSpPr/>
              <p:nvPr/>
            </p:nvSpPr>
            <p:spPr>
              <a:xfrm>
                <a:off x="783768" y="6012997"/>
                <a:ext cx="4351567" cy="702128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 startAt="14"/>
                </a:pPr>
                <a:r>
                  <a:rPr lang="en-US" b="1" dirty="0">
                    <a:solidFill>
                      <a:srgbClr val="C00000"/>
                    </a:solidFill>
                    <a:latin typeface="Aptos" panose="020B0004020202020204" pitchFamily="34" charset="0"/>
                  </a:rPr>
                  <a:t>[A] Answer record</a:t>
                </a:r>
              </a:p>
              <a:p>
                <a:pPr marL="342900" indent="-342900">
                  <a:buAutoNum type="arabicPeriod" startAt="14"/>
                </a:pPr>
                <a:r>
                  <a:rPr lang="en-US" sz="17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[RRSIG] Signature on (14), signed by ZSK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F296A0-4FE7-86C7-62F1-28F77E4FB7C0}"/>
                  </a:ext>
                </a:extLst>
              </p:cNvPr>
              <p:cNvSpPr txBox="1"/>
              <p:nvPr/>
            </p:nvSpPr>
            <p:spPr>
              <a:xfrm>
                <a:off x="5018311" y="6179395"/>
                <a:ext cx="19784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msoe.edu, ZSK</a:t>
                </a:r>
              </a:p>
            </p:txBody>
          </p:sp>
        </p:grp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3EEF4A2-5B01-B371-1898-BB7E9A19F2E0}"/>
                </a:ext>
              </a:extLst>
            </p:cNvPr>
            <p:cNvSpPr/>
            <p:nvPr/>
          </p:nvSpPr>
          <p:spPr>
            <a:xfrm>
              <a:off x="4988378" y="897068"/>
              <a:ext cx="865407" cy="461665"/>
            </a:xfrm>
            <a:custGeom>
              <a:avLst/>
              <a:gdLst>
                <a:gd name="connsiteX0" fmla="*/ 1371600 w 1371600"/>
                <a:gd name="connsiteY0" fmla="*/ 669471 h 669471"/>
                <a:gd name="connsiteX1" fmla="*/ 0 w 1371600"/>
                <a:gd name="connsiteY1" fmla="*/ 367393 h 669471"/>
                <a:gd name="connsiteX2" fmla="*/ 1371600 w 1371600"/>
                <a:gd name="connsiteY2" fmla="*/ 0 h 669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600" h="669471">
                  <a:moveTo>
                    <a:pt x="1371600" y="669471"/>
                  </a:moveTo>
                  <a:cubicBezTo>
                    <a:pt x="685800" y="574221"/>
                    <a:pt x="0" y="478971"/>
                    <a:pt x="0" y="367393"/>
                  </a:cubicBezTo>
                  <a:cubicBezTo>
                    <a:pt x="0" y="255815"/>
                    <a:pt x="1152525" y="8164"/>
                    <a:pt x="1371600" y="0"/>
                  </a:cubicBezTo>
                </a:path>
              </a:pathLst>
            </a:cu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A1322F8-8253-3A53-32EB-3246E03A28F1}"/>
                </a:ext>
              </a:extLst>
            </p:cNvPr>
            <p:cNvSpPr/>
            <p:nvPr/>
          </p:nvSpPr>
          <p:spPr>
            <a:xfrm>
              <a:off x="4988378" y="2409867"/>
              <a:ext cx="865408" cy="837808"/>
            </a:xfrm>
            <a:custGeom>
              <a:avLst/>
              <a:gdLst>
                <a:gd name="connsiteX0" fmla="*/ 1371600 w 1371600"/>
                <a:gd name="connsiteY0" fmla="*/ 669471 h 669471"/>
                <a:gd name="connsiteX1" fmla="*/ 0 w 1371600"/>
                <a:gd name="connsiteY1" fmla="*/ 367393 h 669471"/>
                <a:gd name="connsiteX2" fmla="*/ 1371600 w 1371600"/>
                <a:gd name="connsiteY2" fmla="*/ 0 h 669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600" h="669471">
                  <a:moveTo>
                    <a:pt x="1371600" y="669471"/>
                  </a:moveTo>
                  <a:cubicBezTo>
                    <a:pt x="685800" y="574221"/>
                    <a:pt x="0" y="478971"/>
                    <a:pt x="0" y="367393"/>
                  </a:cubicBezTo>
                  <a:cubicBezTo>
                    <a:pt x="0" y="255815"/>
                    <a:pt x="1152525" y="8164"/>
                    <a:pt x="1371600" y="0"/>
                  </a:cubicBezTo>
                </a:path>
              </a:pathLst>
            </a:cu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518FDE2-4448-F067-9607-36B458DE3DC4}"/>
                </a:ext>
              </a:extLst>
            </p:cNvPr>
            <p:cNvSpPr/>
            <p:nvPr/>
          </p:nvSpPr>
          <p:spPr>
            <a:xfrm>
              <a:off x="4988378" y="4315138"/>
              <a:ext cx="865408" cy="837808"/>
            </a:xfrm>
            <a:custGeom>
              <a:avLst/>
              <a:gdLst>
                <a:gd name="connsiteX0" fmla="*/ 1371600 w 1371600"/>
                <a:gd name="connsiteY0" fmla="*/ 669471 h 669471"/>
                <a:gd name="connsiteX1" fmla="*/ 0 w 1371600"/>
                <a:gd name="connsiteY1" fmla="*/ 367393 h 669471"/>
                <a:gd name="connsiteX2" fmla="*/ 1371600 w 1371600"/>
                <a:gd name="connsiteY2" fmla="*/ 0 h 669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600" h="669471">
                  <a:moveTo>
                    <a:pt x="1371600" y="669471"/>
                  </a:moveTo>
                  <a:cubicBezTo>
                    <a:pt x="685800" y="574221"/>
                    <a:pt x="0" y="478971"/>
                    <a:pt x="0" y="367393"/>
                  </a:cubicBezTo>
                  <a:cubicBezTo>
                    <a:pt x="0" y="255815"/>
                    <a:pt x="1152525" y="8164"/>
                    <a:pt x="1371600" y="0"/>
                  </a:cubicBezTo>
                </a:path>
              </a:pathLst>
            </a:cu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EBDCF30-1B56-2265-A37F-12367C4136C0}"/>
                </a:ext>
              </a:extLst>
            </p:cNvPr>
            <p:cNvSpPr txBox="1"/>
            <p:nvPr/>
          </p:nvSpPr>
          <p:spPr>
            <a:xfrm>
              <a:off x="5853786" y="655656"/>
              <a:ext cx="57706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C00000"/>
                  </a:solidFill>
                  <a:latin typeface="Aptos" panose="020B0004020202020204" pitchFamily="34" charset="0"/>
                </a:rPr>
                <a:t>Trust anchor: root name server &amp; </a:t>
              </a:r>
              <a:r>
                <a:rPr lang="en-US" altLang="zh-CN" sz="2400" b="1" dirty="0">
                  <a:solidFill>
                    <a:srgbClr val="C00000"/>
                  </a:solidFill>
                  <a:latin typeface="Aptos" panose="020B0004020202020204" pitchFamily="34" charset="0"/>
                </a:rPr>
                <a:t>its KSK</a:t>
              </a:r>
              <a:endParaRPr lang="en-US" sz="2400" b="1" dirty="0">
                <a:solidFill>
                  <a:srgbClr val="C00000"/>
                </a:solidFill>
                <a:latin typeface="Aptos" panose="020B0004020202020204" pitchFamily="34" charset="0"/>
              </a:endParaRPr>
            </a:p>
          </p:txBody>
        </p:sp>
      </p:grpSp>
      <p:sp>
        <p:nvSpPr>
          <p:cNvPr id="69" name="Google Shape;1819;p140">
            <a:extLst>
              <a:ext uri="{FF2B5EF4-FFF2-40B4-BE49-F238E27FC236}">
                <a16:creationId xmlns:a16="http://schemas.microsoft.com/office/drawing/2014/main" id="{BAA4DE4A-E7B7-E5E4-8C73-5336F2553577}"/>
              </a:ext>
            </a:extLst>
          </p:cNvPr>
          <p:cNvSpPr txBox="1">
            <a:spLocks/>
          </p:cNvSpPr>
          <p:nvPr/>
        </p:nvSpPr>
        <p:spPr>
          <a:xfrm>
            <a:off x="415600" y="84816"/>
            <a:ext cx="11360800" cy="92840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kern="0" dirty="0">
                <a:latin typeface="Aptos Display (Headings)"/>
              </a:rPr>
              <a:t>DNSSEC: Trust Delegation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AF04988-B4E0-8E97-3BFB-BDF697EAF037}"/>
              </a:ext>
            </a:extLst>
          </p:cNvPr>
          <p:cNvSpPr txBox="1"/>
          <p:nvPr/>
        </p:nvSpPr>
        <p:spPr>
          <a:xfrm>
            <a:off x="271461" y="1358733"/>
            <a:ext cx="46135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KSK is the “parent” and the ZSK is the “child”; both within one name server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KSK endorses the ZSK by signing the public ZSK</a:t>
            </a:r>
            <a:endParaRPr lang="en-US" sz="2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Each color (blue, green, orange) represents a name server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The lighter shade represents records signed with the KSK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The darker shade represents records signed with the ZSK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4B9665-90CB-583C-0932-4761AC6B7649}"/>
              </a:ext>
            </a:extLst>
          </p:cNvPr>
          <p:cNvSpPr txBox="1"/>
          <p:nvPr/>
        </p:nvSpPr>
        <p:spPr>
          <a:xfrm>
            <a:off x="415600" y="5443768"/>
            <a:ext cx="487485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latin typeface="Aptos" panose="020B0004020202020204" pitchFamily="34" charset="0"/>
              </a:rPr>
              <a:t>DS (delegated signer): 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Contains the</a:t>
            </a:r>
            <a:r>
              <a:rPr lang="en-US" sz="2000" dirty="0">
                <a:solidFill>
                  <a:srgbClr val="C00000"/>
                </a:solidFill>
                <a:latin typeface="Aptos" panose="020B0004020202020204" pitchFamily="34" charset="0"/>
              </a:rPr>
              <a:t> signer’s (owner’s) name</a:t>
            </a:r>
            <a:endParaRPr lang="en-US" sz="20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Contains the </a:t>
            </a:r>
            <a:r>
              <a:rPr lang="en-US" sz="2000" dirty="0">
                <a:solidFill>
                  <a:srgbClr val="C00000"/>
                </a:solidFill>
                <a:latin typeface="Aptos" panose="020B0004020202020204" pitchFamily="34" charset="0"/>
              </a:rPr>
              <a:t>hash of child’s public keys </a:t>
            </a:r>
          </a:p>
        </p:txBody>
      </p:sp>
    </p:spTree>
    <p:extLst>
      <p:ext uri="{BB962C8B-B14F-4D97-AF65-F5344CB8AC3E}">
        <p14:creationId xmlns:p14="http://schemas.microsoft.com/office/powerpoint/2010/main" val="3893472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819;p140">
            <a:extLst>
              <a:ext uri="{FF2B5EF4-FFF2-40B4-BE49-F238E27FC236}">
                <a16:creationId xmlns:a16="http://schemas.microsoft.com/office/drawing/2014/main" id="{04AC48E3-8E3F-B55C-9E8C-1D1253612C95}"/>
              </a:ext>
            </a:extLst>
          </p:cNvPr>
          <p:cNvSpPr txBox="1">
            <a:spLocks/>
          </p:cNvSpPr>
          <p:nvPr/>
        </p:nvSpPr>
        <p:spPr>
          <a:xfrm>
            <a:off x="415600" y="84816"/>
            <a:ext cx="11360800" cy="92840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kern="0" dirty="0">
                <a:latin typeface="Aptos Display (Headings)"/>
              </a:rPr>
              <a:t>DNSSEC: Trust Delegation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22123C5-A4F9-9F15-1E8C-4C5A57467CC8}"/>
              </a:ext>
            </a:extLst>
          </p:cNvPr>
          <p:cNvSpPr txBox="1"/>
          <p:nvPr/>
        </p:nvSpPr>
        <p:spPr>
          <a:xfrm>
            <a:off x="82775" y="1183269"/>
            <a:ext cx="5120822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Verification process:</a:t>
            </a:r>
          </a:p>
          <a:p>
            <a:pPr marL="342900" indent="-342900" algn="l">
              <a:spcAft>
                <a:spcPts val="600"/>
              </a:spcAft>
              <a:buFont typeface="+mj-lt"/>
              <a:buAutoNum type="arabicPeriod"/>
            </a:pPr>
            <a:r>
              <a:rPr lang="en-U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Trust anchor: 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Root KSK is hard-coded in resolvers 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Root KSK signs </a:t>
            </a:r>
            <a:r>
              <a:rPr lang="en-US" sz="2000" b="1" i="0" dirty="0">
                <a:solidFill>
                  <a:srgbClr val="C00000"/>
                </a:solidFill>
                <a:effectLst/>
                <a:latin typeface="Aptos" panose="020B0004020202020204" pitchFamily="34" charset="0"/>
              </a:rPr>
              <a:t>DNSKEY</a:t>
            </a: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2000" b="1" i="0" dirty="0">
                <a:solidFill>
                  <a:srgbClr val="C00000"/>
                </a:solidFill>
                <a:effectLst/>
                <a:latin typeface="Aptos" panose="020B0004020202020204" pitchFamily="34" charset="0"/>
              </a:rPr>
              <a:t>RRset</a:t>
            </a:r>
            <a:r>
              <a:rPr lang="en-US" sz="2000" i="0" dirty="0">
                <a:effectLst/>
                <a:latin typeface="Aptos" panose="020B0004020202020204" pitchFamily="34" charset="0"/>
              </a:rPr>
              <a:t>, so we </a:t>
            </a: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can </a:t>
            </a:r>
            <a:r>
              <a:rPr lang="en-US" sz="2000" b="1" i="1" dirty="0">
                <a:solidFill>
                  <a:srgbClr val="C00000"/>
                </a:solidFill>
                <a:effectLst/>
                <a:latin typeface="Aptos" panose="020B0004020202020204" pitchFamily="34" charset="0"/>
              </a:rPr>
              <a:t>verify</a:t>
            </a: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 root’s </a:t>
            </a:r>
            <a:r>
              <a:rPr lang="en-US" sz="2000" b="1" i="0" dirty="0">
                <a:solidFill>
                  <a:srgbClr val="C00000"/>
                </a:solidFill>
                <a:effectLst/>
                <a:latin typeface="Aptos" panose="020B0004020202020204" pitchFamily="34" charset="0"/>
              </a:rPr>
              <a:t>ZSK</a:t>
            </a: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 </a:t>
            </a:r>
            <a:endParaRPr lang="en-US" sz="2000" b="1" i="0" dirty="0">
              <a:solidFill>
                <a:srgbClr val="C00000"/>
              </a:solidFill>
              <a:effectLst/>
              <a:latin typeface="Aptos" panose="020B0004020202020204" pitchFamily="34" charset="0"/>
            </a:endParaRP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C00000"/>
                </a:solidFill>
                <a:effectLst/>
                <a:latin typeface="Aptos" panose="020B0004020202020204" pitchFamily="34" charset="0"/>
              </a:rPr>
              <a:t>Dark blue: 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We trust the root’s ZSK. The root’s ZSK signs the hash of .edu’s KSK, so now we can </a:t>
            </a:r>
            <a:r>
              <a:rPr lang="en-US" sz="2000" b="1" i="1" dirty="0">
                <a:solidFill>
                  <a:srgbClr val="C00000"/>
                </a:solidFill>
                <a:effectLst/>
                <a:latin typeface="Aptos" panose="020B0004020202020204" pitchFamily="34" charset="0"/>
              </a:rPr>
              <a:t>verify</a:t>
            </a: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 .edu’s KSK.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en-US" sz="2000" b="1" i="1" dirty="0">
                <a:solidFill>
                  <a:srgbClr val="C00000"/>
                </a:solidFill>
                <a:latin typeface="Aptos" panose="020B0004020202020204" pitchFamily="34" charset="0"/>
              </a:rPr>
              <a:t>Note: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the root’s ZSK also signs its </a:t>
            </a:r>
            <a:r>
              <a:rPr lang="en-US" sz="2000" dirty="0">
                <a:solidFill>
                  <a:srgbClr val="C00000"/>
                </a:solidFill>
                <a:latin typeface="Aptos" panose="020B0004020202020204" pitchFamily="34" charset="0"/>
              </a:rPr>
              <a:t>own NS RRset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at the zone</a:t>
            </a:r>
            <a:endParaRPr lang="en-US" sz="2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ptos" panose="020B0004020202020204" pitchFamily="34" charset="0"/>
            </a:endParaRPr>
          </a:p>
          <a:p>
            <a:pPr marL="342900" indent="-342900" algn="l">
              <a:spcAft>
                <a:spcPts val="600"/>
              </a:spcAft>
              <a:buFont typeface="+mj-lt"/>
              <a:buAutoNum type="arabicPeriod" startAt="2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Steps 6-10</a:t>
            </a:r>
            <a:r>
              <a:rPr lang="en-U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: </a:t>
            </a: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Similar as steps 1-5.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AC454B-357C-C3D2-4ECB-169E6D6E57E8}"/>
              </a:ext>
            </a:extLst>
          </p:cNvPr>
          <p:cNvGrpSpPr/>
          <p:nvPr/>
        </p:nvGrpSpPr>
        <p:grpSpPr>
          <a:xfrm>
            <a:off x="4988378" y="655656"/>
            <a:ext cx="7078434" cy="6075016"/>
            <a:chOff x="4988378" y="655656"/>
            <a:chExt cx="7078434" cy="6075016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C8F7EC13-3FBC-7829-3A92-799F89861CE7}"/>
                </a:ext>
              </a:extLst>
            </p:cNvPr>
            <p:cNvGrpSpPr/>
            <p:nvPr/>
          </p:nvGrpSpPr>
          <p:grpSpPr>
            <a:xfrm>
              <a:off x="5853789" y="1152525"/>
              <a:ext cx="6213018" cy="1020536"/>
              <a:chOff x="783771" y="334735"/>
              <a:chExt cx="6213018" cy="1020536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B3710B06-8A03-C4C6-7705-FEE16A6DDA7D}"/>
                  </a:ext>
                </a:extLst>
              </p:cNvPr>
              <p:cNvSpPr/>
              <p:nvPr/>
            </p:nvSpPr>
            <p:spPr>
              <a:xfrm>
                <a:off x="783771" y="334735"/>
                <a:ext cx="4351568" cy="102053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[DNSKEY] Public KSK (Root KSK)</a:t>
                </a:r>
              </a:p>
              <a:p>
                <a:pPr marL="342900" indent="-342900"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[DNSKEY] Public ZSK</a:t>
                </a:r>
              </a:p>
              <a:p>
                <a:pPr marL="342900" indent="-342900"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[RRSIG] Signature on (2), signed by KSK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739F23FB-95D3-FEA5-ACA9-A5D1D02230AB}"/>
                  </a:ext>
                </a:extLst>
              </p:cNvPr>
              <p:cNvSpPr txBox="1"/>
              <p:nvPr/>
            </p:nvSpPr>
            <p:spPr>
              <a:xfrm>
                <a:off x="5018312" y="660337"/>
                <a:ext cx="1978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Root, KSK</a:t>
                </a: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85756955-47F8-FC6D-57D8-0E016787C75C}"/>
                </a:ext>
              </a:extLst>
            </p:cNvPr>
            <p:cNvGrpSpPr/>
            <p:nvPr/>
          </p:nvGrpSpPr>
          <p:grpSpPr>
            <a:xfrm>
              <a:off x="5853789" y="2243468"/>
              <a:ext cx="6213018" cy="702128"/>
              <a:chOff x="783772" y="1665514"/>
              <a:chExt cx="6213018" cy="702128"/>
            </a:xfrm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78876492-F5A8-7CEB-FCB4-CF8407DEDE51}"/>
                  </a:ext>
                </a:extLst>
              </p:cNvPr>
              <p:cNvSpPr/>
              <p:nvPr/>
            </p:nvSpPr>
            <p:spPr>
              <a:xfrm>
                <a:off x="783772" y="1665514"/>
                <a:ext cx="4351568" cy="70212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 startAt="4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[DS] Hash of (6. child’s public KSK)</a:t>
                </a:r>
              </a:p>
              <a:p>
                <a:pPr marL="342900" indent="-342900">
                  <a:buAutoNum type="arabicPeriod" startAt="4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[RRSIG] Signature on (4), signed by ZSK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F1DDFFB-FBC1-DF50-3FF3-AF8FD6DC60B9}"/>
                  </a:ext>
                </a:extLst>
              </p:cNvPr>
              <p:cNvSpPr txBox="1"/>
              <p:nvPr/>
            </p:nvSpPr>
            <p:spPr>
              <a:xfrm>
                <a:off x="5018312" y="1831912"/>
                <a:ext cx="19784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Root, ZSK</a:t>
                </a: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3B17EB4-A80B-0AE8-EB6B-E23212CF116F}"/>
                </a:ext>
              </a:extLst>
            </p:cNvPr>
            <p:cNvGrpSpPr/>
            <p:nvPr/>
          </p:nvGrpSpPr>
          <p:grpSpPr>
            <a:xfrm>
              <a:off x="5853787" y="3016003"/>
              <a:ext cx="6213020" cy="1020536"/>
              <a:chOff x="783770" y="2593520"/>
              <a:chExt cx="6213020" cy="1020536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3AB99EA4-9AEC-8DCF-E731-45D34ECF61F0}"/>
                  </a:ext>
                </a:extLst>
              </p:cNvPr>
              <p:cNvSpPr/>
              <p:nvPr/>
            </p:nvSpPr>
            <p:spPr>
              <a:xfrm>
                <a:off x="783770" y="2593520"/>
                <a:ext cx="4351568" cy="1020536"/>
              </a:xfrm>
              <a:prstGeom prst="rect">
                <a:avLst/>
              </a:prstGeom>
              <a:solidFill>
                <a:srgbClr val="CAF7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 startAt="6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[DNSKEY] Public KSK</a:t>
                </a:r>
              </a:p>
              <a:p>
                <a:pPr marL="342900" indent="-342900">
                  <a:buAutoNum type="arabicPeriod" startAt="6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[DNSKEY] Public ZSK</a:t>
                </a:r>
              </a:p>
              <a:p>
                <a:pPr marL="342900" indent="-342900">
                  <a:buAutoNum type="arabicPeriod" startAt="6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[RRSIG] Signature on (7), signed by KSK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4D6B0AA6-6A89-61C2-0531-CEE79F7B0F9C}"/>
                  </a:ext>
                </a:extLst>
              </p:cNvPr>
              <p:cNvSpPr txBox="1"/>
              <p:nvPr/>
            </p:nvSpPr>
            <p:spPr>
              <a:xfrm>
                <a:off x="5018311" y="2919122"/>
                <a:ext cx="19784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.</a:t>
                </a:r>
                <a:r>
                  <a:rPr lang="en-US" dirty="0" err="1"/>
                  <a:t>edu</a:t>
                </a:r>
                <a:r>
                  <a:rPr lang="en-US" dirty="0"/>
                  <a:t>, KSK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4C15E4E-1F34-897D-F604-2EF57C226B19}"/>
                </a:ext>
              </a:extLst>
            </p:cNvPr>
            <p:cNvGrpSpPr/>
            <p:nvPr/>
          </p:nvGrpSpPr>
          <p:grpSpPr>
            <a:xfrm>
              <a:off x="5853786" y="4106946"/>
              <a:ext cx="6213021" cy="702128"/>
              <a:chOff x="783770" y="3932464"/>
              <a:chExt cx="6213021" cy="702128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9EB2A544-2053-1CFA-9F7A-01D7F7D6F0F8}"/>
                  </a:ext>
                </a:extLst>
              </p:cNvPr>
              <p:cNvSpPr/>
              <p:nvPr/>
            </p:nvSpPr>
            <p:spPr>
              <a:xfrm>
                <a:off x="783770" y="3932464"/>
                <a:ext cx="4351568" cy="702128"/>
              </a:xfrm>
              <a:prstGeom prst="rect">
                <a:avLst/>
              </a:prstGeom>
              <a:solidFill>
                <a:srgbClr val="76C7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 startAt="9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[DS] Hash of (11. child’s public KSK)</a:t>
                </a:r>
              </a:p>
              <a:p>
                <a:pPr marL="342900" indent="-342900">
                  <a:buAutoNum type="arabicPeriod" startAt="9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[RRSIG] Signature on (9), signed by ZSK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C86E0B3-7337-0D4D-A6E2-B7B3BFEB34BC}"/>
                  </a:ext>
                </a:extLst>
              </p:cNvPr>
              <p:cNvSpPr txBox="1"/>
              <p:nvPr/>
            </p:nvSpPr>
            <p:spPr>
              <a:xfrm>
                <a:off x="5018313" y="4098862"/>
                <a:ext cx="19784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.</a:t>
                </a:r>
                <a:r>
                  <a:rPr lang="en-US" dirty="0" err="1"/>
                  <a:t>edu</a:t>
                </a:r>
                <a:r>
                  <a:rPr lang="en-US" dirty="0"/>
                  <a:t>, ZSK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1F6F9705-3369-E362-9546-F3179D441B0B}"/>
                </a:ext>
              </a:extLst>
            </p:cNvPr>
            <p:cNvGrpSpPr/>
            <p:nvPr/>
          </p:nvGrpSpPr>
          <p:grpSpPr>
            <a:xfrm>
              <a:off x="5853787" y="4908540"/>
              <a:ext cx="6213025" cy="1020536"/>
              <a:chOff x="783766" y="4327556"/>
              <a:chExt cx="6213025" cy="1020536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BD911D2D-97B5-91AC-4860-32D5BF9800F2}"/>
                  </a:ext>
                </a:extLst>
              </p:cNvPr>
              <p:cNvSpPr/>
              <p:nvPr/>
            </p:nvSpPr>
            <p:spPr>
              <a:xfrm>
                <a:off x="783766" y="4327556"/>
                <a:ext cx="4351567" cy="102053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 startAt="11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[DNSKEY] Public KSK</a:t>
                </a:r>
              </a:p>
              <a:p>
                <a:pPr marL="342900" indent="-342900">
                  <a:buAutoNum type="arabicPeriod" startAt="11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[DNSKEY] Public ZSK</a:t>
                </a:r>
              </a:p>
              <a:p>
                <a:pPr marL="342900" indent="-342900">
                  <a:buAutoNum type="arabicPeriod" startAt="11"/>
                </a:pPr>
                <a:r>
                  <a:rPr lang="en-US" sz="17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[RRSIG] Signature on (12), signed by KSK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0780EE5C-9D63-D904-422D-2EA8B415EB2D}"/>
                  </a:ext>
                </a:extLst>
              </p:cNvPr>
              <p:cNvSpPr txBox="1"/>
              <p:nvPr/>
            </p:nvSpPr>
            <p:spPr>
              <a:xfrm>
                <a:off x="5018310" y="4653158"/>
                <a:ext cx="19784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msoe.edu, KSK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7408560C-71C3-FEC7-9E42-9AA242ED5D71}"/>
                </a:ext>
              </a:extLst>
            </p:cNvPr>
            <p:cNvGrpSpPr/>
            <p:nvPr/>
          </p:nvGrpSpPr>
          <p:grpSpPr>
            <a:xfrm>
              <a:off x="5853785" y="6028544"/>
              <a:ext cx="6213024" cy="702128"/>
              <a:chOff x="783768" y="6012997"/>
              <a:chExt cx="6213024" cy="702128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DE6F95FA-51B7-1571-3636-17B1F45F9738}"/>
                  </a:ext>
                </a:extLst>
              </p:cNvPr>
              <p:cNvSpPr/>
              <p:nvPr/>
            </p:nvSpPr>
            <p:spPr>
              <a:xfrm>
                <a:off x="783768" y="6012997"/>
                <a:ext cx="4351567" cy="702128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 startAt="14"/>
                </a:pPr>
                <a:r>
                  <a:rPr lang="en-US" b="1" dirty="0">
                    <a:solidFill>
                      <a:srgbClr val="C00000"/>
                    </a:solidFill>
                    <a:latin typeface="Aptos" panose="020B0004020202020204" pitchFamily="34" charset="0"/>
                  </a:rPr>
                  <a:t>[A] Answer record</a:t>
                </a:r>
              </a:p>
              <a:p>
                <a:pPr marL="342900" indent="-342900">
                  <a:buAutoNum type="arabicPeriod" startAt="14"/>
                </a:pPr>
                <a:r>
                  <a:rPr lang="en-US" sz="17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[RRSIG] Signature on (14), signed by ZSK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1A45B0C-F320-44F3-EE72-6C52EA8F4A4E}"/>
                  </a:ext>
                </a:extLst>
              </p:cNvPr>
              <p:cNvSpPr txBox="1"/>
              <p:nvPr/>
            </p:nvSpPr>
            <p:spPr>
              <a:xfrm>
                <a:off x="5018311" y="6179395"/>
                <a:ext cx="19784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msoe.edu, ZSK</a:t>
                </a:r>
              </a:p>
            </p:txBody>
          </p:sp>
        </p:grp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9D50BCA-AA60-8A70-C18F-BD317A6B8683}"/>
                </a:ext>
              </a:extLst>
            </p:cNvPr>
            <p:cNvSpPr/>
            <p:nvPr/>
          </p:nvSpPr>
          <p:spPr>
            <a:xfrm>
              <a:off x="4988378" y="897068"/>
              <a:ext cx="865407" cy="461665"/>
            </a:xfrm>
            <a:custGeom>
              <a:avLst/>
              <a:gdLst>
                <a:gd name="connsiteX0" fmla="*/ 1371600 w 1371600"/>
                <a:gd name="connsiteY0" fmla="*/ 669471 h 669471"/>
                <a:gd name="connsiteX1" fmla="*/ 0 w 1371600"/>
                <a:gd name="connsiteY1" fmla="*/ 367393 h 669471"/>
                <a:gd name="connsiteX2" fmla="*/ 1371600 w 1371600"/>
                <a:gd name="connsiteY2" fmla="*/ 0 h 669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600" h="669471">
                  <a:moveTo>
                    <a:pt x="1371600" y="669471"/>
                  </a:moveTo>
                  <a:cubicBezTo>
                    <a:pt x="685800" y="574221"/>
                    <a:pt x="0" y="478971"/>
                    <a:pt x="0" y="367393"/>
                  </a:cubicBezTo>
                  <a:cubicBezTo>
                    <a:pt x="0" y="255815"/>
                    <a:pt x="1152525" y="8164"/>
                    <a:pt x="1371600" y="0"/>
                  </a:cubicBezTo>
                </a:path>
              </a:pathLst>
            </a:cu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E56C9D9-7B66-6B29-F8C0-CB1B59BE956E}"/>
                </a:ext>
              </a:extLst>
            </p:cNvPr>
            <p:cNvSpPr/>
            <p:nvPr/>
          </p:nvSpPr>
          <p:spPr>
            <a:xfrm>
              <a:off x="4988378" y="2409867"/>
              <a:ext cx="865408" cy="837808"/>
            </a:xfrm>
            <a:custGeom>
              <a:avLst/>
              <a:gdLst>
                <a:gd name="connsiteX0" fmla="*/ 1371600 w 1371600"/>
                <a:gd name="connsiteY0" fmla="*/ 669471 h 669471"/>
                <a:gd name="connsiteX1" fmla="*/ 0 w 1371600"/>
                <a:gd name="connsiteY1" fmla="*/ 367393 h 669471"/>
                <a:gd name="connsiteX2" fmla="*/ 1371600 w 1371600"/>
                <a:gd name="connsiteY2" fmla="*/ 0 h 669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600" h="669471">
                  <a:moveTo>
                    <a:pt x="1371600" y="669471"/>
                  </a:moveTo>
                  <a:cubicBezTo>
                    <a:pt x="685800" y="574221"/>
                    <a:pt x="0" y="478971"/>
                    <a:pt x="0" y="367393"/>
                  </a:cubicBezTo>
                  <a:cubicBezTo>
                    <a:pt x="0" y="255815"/>
                    <a:pt x="1152525" y="8164"/>
                    <a:pt x="1371600" y="0"/>
                  </a:cubicBezTo>
                </a:path>
              </a:pathLst>
            </a:cu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902B7BF-62AC-9751-3F08-6A87F8877C61}"/>
                </a:ext>
              </a:extLst>
            </p:cNvPr>
            <p:cNvSpPr/>
            <p:nvPr/>
          </p:nvSpPr>
          <p:spPr>
            <a:xfrm>
              <a:off x="4988378" y="4315138"/>
              <a:ext cx="865408" cy="837808"/>
            </a:xfrm>
            <a:custGeom>
              <a:avLst/>
              <a:gdLst>
                <a:gd name="connsiteX0" fmla="*/ 1371600 w 1371600"/>
                <a:gd name="connsiteY0" fmla="*/ 669471 h 669471"/>
                <a:gd name="connsiteX1" fmla="*/ 0 w 1371600"/>
                <a:gd name="connsiteY1" fmla="*/ 367393 h 669471"/>
                <a:gd name="connsiteX2" fmla="*/ 1371600 w 1371600"/>
                <a:gd name="connsiteY2" fmla="*/ 0 h 669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600" h="669471">
                  <a:moveTo>
                    <a:pt x="1371600" y="669471"/>
                  </a:moveTo>
                  <a:cubicBezTo>
                    <a:pt x="685800" y="574221"/>
                    <a:pt x="0" y="478971"/>
                    <a:pt x="0" y="367393"/>
                  </a:cubicBezTo>
                  <a:cubicBezTo>
                    <a:pt x="0" y="255815"/>
                    <a:pt x="1152525" y="8164"/>
                    <a:pt x="1371600" y="0"/>
                  </a:cubicBezTo>
                </a:path>
              </a:pathLst>
            </a:cu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C5FEBE3-9D3B-CCD3-D9EB-A1E608351937}"/>
                </a:ext>
              </a:extLst>
            </p:cNvPr>
            <p:cNvSpPr txBox="1"/>
            <p:nvPr/>
          </p:nvSpPr>
          <p:spPr>
            <a:xfrm>
              <a:off x="5853786" y="655656"/>
              <a:ext cx="57706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C00000"/>
                  </a:solidFill>
                  <a:latin typeface="Aptos" panose="020B0004020202020204" pitchFamily="34" charset="0"/>
                </a:rPr>
                <a:t>Trust anchor: root name server &amp; </a:t>
              </a:r>
              <a:r>
                <a:rPr lang="en-US" altLang="zh-CN" sz="2400" b="1" dirty="0">
                  <a:solidFill>
                    <a:srgbClr val="C00000"/>
                  </a:solidFill>
                  <a:latin typeface="Aptos" panose="020B0004020202020204" pitchFamily="34" charset="0"/>
                </a:rPr>
                <a:t>its KSK</a:t>
              </a:r>
              <a:endParaRPr lang="en-US" sz="2400" b="1" dirty="0">
                <a:solidFill>
                  <a:srgbClr val="C00000"/>
                </a:solidFill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252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5B53-611C-F1C1-907D-42DD0234A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819;p140">
            <a:extLst>
              <a:ext uri="{FF2B5EF4-FFF2-40B4-BE49-F238E27FC236}">
                <a16:creationId xmlns:a16="http://schemas.microsoft.com/office/drawing/2014/main" id="{E707AEA3-224E-94FE-DF68-E54F7106FCCD}"/>
              </a:ext>
            </a:extLst>
          </p:cNvPr>
          <p:cNvSpPr txBox="1">
            <a:spLocks/>
          </p:cNvSpPr>
          <p:nvPr/>
        </p:nvSpPr>
        <p:spPr>
          <a:xfrm>
            <a:off x="415600" y="84816"/>
            <a:ext cx="11360800" cy="92840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kern="0" dirty="0">
                <a:latin typeface="Aptos Display (Headings)"/>
              </a:rPr>
              <a:t>DNSSEC: Trust Delegation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4F7521A-13F4-828E-844D-5ACD963E77AC}"/>
              </a:ext>
            </a:extLst>
          </p:cNvPr>
          <p:cNvSpPr txBox="1"/>
          <p:nvPr/>
        </p:nvSpPr>
        <p:spPr>
          <a:xfrm>
            <a:off x="125193" y="1537012"/>
            <a:ext cx="5087830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Verification process: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 startAt="3"/>
            </a:pPr>
            <a:r>
              <a:rPr lang="en-US" sz="2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msoe.edu name server: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Light orange: We verify the msoe.edu’s KSK;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msoe</a:t>
            </a: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.edu’s KSK signs 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msoe</a:t>
            </a: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.edu’s ZSK;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S</a:t>
            </a: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o now we trust 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msoe</a:t>
            </a: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.edu’s ZSK (12-13).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Dark orange: We trust 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msoe</a:t>
            </a: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.edu’s ZSK. 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 msoe</a:t>
            </a: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.edu’s ZSK </a:t>
            </a:r>
            <a:r>
              <a:rPr lang="en-US" sz="2000" b="1" i="1" dirty="0">
                <a:solidFill>
                  <a:srgbClr val="C00000"/>
                </a:solidFill>
                <a:effectLst/>
                <a:latin typeface="Aptos" panose="020B0004020202020204" pitchFamily="34" charset="0"/>
              </a:rPr>
              <a:t>signs</a:t>
            </a: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2000" b="1" i="1" dirty="0">
                <a:solidFill>
                  <a:srgbClr val="C00000"/>
                </a:solidFill>
                <a:effectLst/>
                <a:latin typeface="Aptos" panose="020B0004020202020204" pitchFamily="34" charset="0"/>
              </a:rPr>
              <a:t>the</a:t>
            </a:r>
            <a:r>
              <a:rPr lang="en-US" sz="2000" b="0" i="0" dirty="0">
                <a:solidFill>
                  <a:srgbClr val="C00000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2000" b="1" i="1" dirty="0">
                <a:solidFill>
                  <a:srgbClr val="C00000"/>
                </a:solidFill>
                <a:effectLst/>
                <a:latin typeface="Aptos" panose="020B0004020202020204" pitchFamily="34" charset="0"/>
              </a:rPr>
              <a:t>type A answer records</a:t>
            </a: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ptos" panose="020B0004020202020204" pitchFamily="34" charset="0"/>
              </a:rPr>
              <a:t>, so we trust the final answer.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D1BAC76-A069-15B7-6550-F02C791060AD}"/>
              </a:ext>
            </a:extLst>
          </p:cNvPr>
          <p:cNvGrpSpPr/>
          <p:nvPr/>
        </p:nvGrpSpPr>
        <p:grpSpPr>
          <a:xfrm>
            <a:off x="4988378" y="655656"/>
            <a:ext cx="7078434" cy="6075016"/>
            <a:chOff x="4988378" y="655656"/>
            <a:chExt cx="7078434" cy="6075016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0E3D2D6D-3672-0E40-13A3-2829E2A059F1}"/>
                </a:ext>
              </a:extLst>
            </p:cNvPr>
            <p:cNvGrpSpPr/>
            <p:nvPr/>
          </p:nvGrpSpPr>
          <p:grpSpPr>
            <a:xfrm>
              <a:off x="5853789" y="1152525"/>
              <a:ext cx="6213018" cy="1020536"/>
              <a:chOff x="783771" y="334735"/>
              <a:chExt cx="6213018" cy="1020536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F58A6404-82F6-99BA-207F-D544A2579DD7}"/>
                  </a:ext>
                </a:extLst>
              </p:cNvPr>
              <p:cNvSpPr/>
              <p:nvPr/>
            </p:nvSpPr>
            <p:spPr>
              <a:xfrm>
                <a:off x="783771" y="334735"/>
                <a:ext cx="4351568" cy="102053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[DNSKEY] Public KSK (Root KSK)</a:t>
                </a:r>
              </a:p>
              <a:p>
                <a:pPr marL="342900" indent="-342900"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[DNSKEY] Public ZSK</a:t>
                </a:r>
              </a:p>
              <a:p>
                <a:pPr marL="342900" indent="-342900"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[RRSIG] Signature on (2), signed by KSK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C50090A-5FA4-6029-F9EE-8353C7C58BB2}"/>
                  </a:ext>
                </a:extLst>
              </p:cNvPr>
              <p:cNvSpPr txBox="1"/>
              <p:nvPr/>
            </p:nvSpPr>
            <p:spPr>
              <a:xfrm>
                <a:off x="5018312" y="660337"/>
                <a:ext cx="1978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Root, KSK</a:t>
                </a: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8B081F81-CC50-999F-8E1E-A62CC545A6EF}"/>
                </a:ext>
              </a:extLst>
            </p:cNvPr>
            <p:cNvGrpSpPr/>
            <p:nvPr/>
          </p:nvGrpSpPr>
          <p:grpSpPr>
            <a:xfrm>
              <a:off x="5853789" y="2243468"/>
              <a:ext cx="6213018" cy="702128"/>
              <a:chOff x="783772" y="1665514"/>
              <a:chExt cx="6213018" cy="702128"/>
            </a:xfrm>
          </p:grpSpPr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7AE9F3E2-483A-8BDA-8006-CE45CF25FDE4}"/>
                  </a:ext>
                </a:extLst>
              </p:cNvPr>
              <p:cNvSpPr/>
              <p:nvPr/>
            </p:nvSpPr>
            <p:spPr>
              <a:xfrm>
                <a:off x="783772" y="1665514"/>
                <a:ext cx="4351568" cy="70212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 startAt="4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[DS] Hash of (6. child’s public KSK)</a:t>
                </a:r>
              </a:p>
              <a:p>
                <a:pPr marL="342900" indent="-342900">
                  <a:buAutoNum type="arabicPeriod" startAt="4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[RRSIG] Signature on (4), signed by ZSK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917B969-F77A-98B1-0802-3BBAEE3B0F28}"/>
                  </a:ext>
                </a:extLst>
              </p:cNvPr>
              <p:cNvSpPr txBox="1"/>
              <p:nvPr/>
            </p:nvSpPr>
            <p:spPr>
              <a:xfrm>
                <a:off x="5018312" y="1831912"/>
                <a:ext cx="19784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Root, ZSK</a:t>
                </a: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CB628184-D6E6-8ED7-FA5F-90F201B4AC9A}"/>
                </a:ext>
              </a:extLst>
            </p:cNvPr>
            <p:cNvGrpSpPr/>
            <p:nvPr/>
          </p:nvGrpSpPr>
          <p:grpSpPr>
            <a:xfrm>
              <a:off x="5853787" y="3016003"/>
              <a:ext cx="6213020" cy="1020536"/>
              <a:chOff x="783770" y="2593520"/>
              <a:chExt cx="6213020" cy="1020536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085519F3-2727-07A3-AD7D-ABCC076C8321}"/>
                  </a:ext>
                </a:extLst>
              </p:cNvPr>
              <p:cNvSpPr/>
              <p:nvPr/>
            </p:nvSpPr>
            <p:spPr>
              <a:xfrm>
                <a:off x="783770" y="2593520"/>
                <a:ext cx="4351568" cy="1020536"/>
              </a:xfrm>
              <a:prstGeom prst="rect">
                <a:avLst/>
              </a:prstGeom>
              <a:solidFill>
                <a:srgbClr val="CAF7C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 startAt="6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[DNSKEY] Public KSK</a:t>
                </a:r>
              </a:p>
              <a:p>
                <a:pPr marL="342900" indent="-342900">
                  <a:buAutoNum type="arabicPeriod" startAt="6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[DNSKEY] Public ZSK</a:t>
                </a:r>
              </a:p>
              <a:p>
                <a:pPr marL="342900" indent="-342900">
                  <a:buAutoNum type="arabicPeriod" startAt="6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[RRSIG] Signature on (7), signed by KSK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4BD3953D-2E7F-5991-F324-919724ABA1F5}"/>
                  </a:ext>
                </a:extLst>
              </p:cNvPr>
              <p:cNvSpPr txBox="1"/>
              <p:nvPr/>
            </p:nvSpPr>
            <p:spPr>
              <a:xfrm>
                <a:off x="5018311" y="2919122"/>
                <a:ext cx="19784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.</a:t>
                </a:r>
                <a:r>
                  <a:rPr lang="en-US" dirty="0" err="1"/>
                  <a:t>edu</a:t>
                </a:r>
                <a:r>
                  <a:rPr lang="en-US" dirty="0"/>
                  <a:t>, KSK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8A533D7-627C-87EF-59B3-30D3F77A7290}"/>
                </a:ext>
              </a:extLst>
            </p:cNvPr>
            <p:cNvGrpSpPr/>
            <p:nvPr/>
          </p:nvGrpSpPr>
          <p:grpSpPr>
            <a:xfrm>
              <a:off x="5853786" y="4106946"/>
              <a:ext cx="6213021" cy="702128"/>
              <a:chOff x="783770" y="3932464"/>
              <a:chExt cx="6213021" cy="702128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021980B1-C411-5E9E-1835-D1160521ACAF}"/>
                  </a:ext>
                </a:extLst>
              </p:cNvPr>
              <p:cNvSpPr/>
              <p:nvPr/>
            </p:nvSpPr>
            <p:spPr>
              <a:xfrm>
                <a:off x="783770" y="3932464"/>
                <a:ext cx="4351568" cy="702128"/>
              </a:xfrm>
              <a:prstGeom prst="rect">
                <a:avLst/>
              </a:prstGeom>
              <a:solidFill>
                <a:srgbClr val="76C76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 startAt="9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[DS] Hash of (11. child’s public KSK)</a:t>
                </a:r>
              </a:p>
              <a:p>
                <a:pPr marL="342900" indent="-342900">
                  <a:buAutoNum type="arabicPeriod" startAt="9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[RRSIG] Signature on (9), signed by ZSK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2ECF502-1863-EF60-7C44-D81E011407A2}"/>
                  </a:ext>
                </a:extLst>
              </p:cNvPr>
              <p:cNvSpPr txBox="1"/>
              <p:nvPr/>
            </p:nvSpPr>
            <p:spPr>
              <a:xfrm>
                <a:off x="5018313" y="4098862"/>
                <a:ext cx="19784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.</a:t>
                </a:r>
                <a:r>
                  <a:rPr lang="en-US" dirty="0" err="1"/>
                  <a:t>edu</a:t>
                </a:r>
                <a:r>
                  <a:rPr lang="en-US" dirty="0"/>
                  <a:t>, ZSK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A38D25F2-72B6-088C-F852-4C3E503658DF}"/>
                </a:ext>
              </a:extLst>
            </p:cNvPr>
            <p:cNvGrpSpPr/>
            <p:nvPr/>
          </p:nvGrpSpPr>
          <p:grpSpPr>
            <a:xfrm>
              <a:off x="5853787" y="4908540"/>
              <a:ext cx="6213025" cy="1020536"/>
              <a:chOff x="783766" y="4327556"/>
              <a:chExt cx="6213025" cy="1020536"/>
            </a:xfrm>
          </p:grpSpPr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BF6C78B7-DC93-C3C8-5BBB-7528A69A5A28}"/>
                  </a:ext>
                </a:extLst>
              </p:cNvPr>
              <p:cNvSpPr/>
              <p:nvPr/>
            </p:nvSpPr>
            <p:spPr>
              <a:xfrm>
                <a:off x="783766" y="4327556"/>
                <a:ext cx="4351567" cy="102053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 startAt="11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[DNSKEY] Public KSK</a:t>
                </a:r>
              </a:p>
              <a:p>
                <a:pPr marL="342900" indent="-342900">
                  <a:buAutoNum type="arabicPeriod" startAt="11"/>
                </a:pP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[DNSKEY] Public ZSK</a:t>
                </a:r>
              </a:p>
              <a:p>
                <a:pPr marL="342900" indent="-342900">
                  <a:buAutoNum type="arabicPeriod" startAt="11"/>
                </a:pPr>
                <a:r>
                  <a:rPr lang="en-US" sz="17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[RRSIG] Signature on (12), signed by KSK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35463E2-6BDA-67BF-19EE-5512E89ADC1C}"/>
                  </a:ext>
                </a:extLst>
              </p:cNvPr>
              <p:cNvSpPr txBox="1"/>
              <p:nvPr/>
            </p:nvSpPr>
            <p:spPr>
              <a:xfrm>
                <a:off x="5018310" y="4653158"/>
                <a:ext cx="19784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msoe.edu, KSK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A9BF9137-527E-5171-DF9C-0E754C3A3625}"/>
                </a:ext>
              </a:extLst>
            </p:cNvPr>
            <p:cNvGrpSpPr/>
            <p:nvPr/>
          </p:nvGrpSpPr>
          <p:grpSpPr>
            <a:xfrm>
              <a:off x="5853785" y="6028544"/>
              <a:ext cx="6213024" cy="702128"/>
              <a:chOff x="783768" y="6012997"/>
              <a:chExt cx="6213024" cy="702128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5AA5381F-FCDD-8ED0-FB53-75D154A024A1}"/>
                  </a:ext>
                </a:extLst>
              </p:cNvPr>
              <p:cNvSpPr/>
              <p:nvPr/>
            </p:nvSpPr>
            <p:spPr>
              <a:xfrm>
                <a:off x="783768" y="6012997"/>
                <a:ext cx="4351567" cy="702128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+mj-lt"/>
                  <a:buAutoNum type="arabicPeriod" startAt="14"/>
                </a:pPr>
                <a:r>
                  <a:rPr lang="en-US" b="1" dirty="0">
                    <a:solidFill>
                      <a:srgbClr val="C00000"/>
                    </a:solidFill>
                    <a:latin typeface="Aptos" panose="020B0004020202020204" pitchFamily="34" charset="0"/>
                  </a:rPr>
                  <a:t>[A] Answer record</a:t>
                </a:r>
              </a:p>
              <a:p>
                <a:pPr marL="342900" indent="-342900">
                  <a:buAutoNum type="arabicPeriod" startAt="14"/>
                </a:pPr>
                <a:r>
                  <a:rPr lang="en-US" sz="17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[RRSIG] Signature on (14), signed by ZSK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A2F2529-B2C0-A0DA-06F9-71E434715C7E}"/>
                  </a:ext>
                </a:extLst>
              </p:cNvPr>
              <p:cNvSpPr txBox="1"/>
              <p:nvPr/>
            </p:nvSpPr>
            <p:spPr>
              <a:xfrm>
                <a:off x="5018311" y="6179395"/>
                <a:ext cx="19784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msoe.edu, ZSK</a:t>
                </a:r>
              </a:p>
            </p:txBody>
          </p:sp>
        </p:grp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9CCE5CB-3533-D39C-5001-15C21FE90B89}"/>
                </a:ext>
              </a:extLst>
            </p:cNvPr>
            <p:cNvSpPr/>
            <p:nvPr/>
          </p:nvSpPr>
          <p:spPr>
            <a:xfrm>
              <a:off x="4988378" y="897068"/>
              <a:ext cx="865407" cy="461665"/>
            </a:xfrm>
            <a:custGeom>
              <a:avLst/>
              <a:gdLst>
                <a:gd name="connsiteX0" fmla="*/ 1371600 w 1371600"/>
                <a:gd name="connsiteY0" fmla="*/ 669471 h 669471"/>
                <a:gd name="connsiteX1" fmla="*/ 0 w 1371600"/>
                <a:gd name="connsiteY1" fmla="*/ 367393 h 669471"/>
                <a:gd name="connsiteX2" fmla="*/ 1371600 w 1371600"/>
                <a:gd name="connsiteY2" fmla="*/ 0 h 669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600" h="669471">
                  <a:moveTo>
                    <a:pt x="1371600" y="669471"/>
                  </a:moveTo>
                  <a:cubicBezTo>
                    <a:pt x="685800" y="574221"/>
                    <a:pt x="0" y="478971"/>
                    <a:pt x="0" y="367393"/>
                  </a:cubicBezTo>
                  <a:cubicBezTo>
                    <a:pt x="0" y="255815"/>
                    <a:pt x="1152525" y="8164"/>
                    <a:pt x="1371600" y="0"/>
                  </a:cubicBezTo>
                </a:path>
              </a:pathLst>
            </a:cu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5D18666-AA7F-2B98-A408-30B19F18CD5C}"/>
                </a:ext>
              </a:extLst>
            </p:cNvPr>
            <p:cNvSpPr/>
            <p:nvPr/>
          </p:nvSpPr>
          <p:spPr>
            <a:xfrm>
              <a:off x="4988378" y="2409867"/>
              <a:ext cx="865408" cy="837808"/>
            </a:xfrm>
            <a:custGeom>
              <a:avLst/>
              <a:gdLst>
                <a:gd name="connsiteX0" fmla="*/ 1371600 w 1371600"/>
                <a:gd name="connsiteY0" fmla="*/ 669471 h 669471"/>
                <a:gd name="connsiteX1" fmla="*/ 0 w 1371600"/>
                <a:gd name="connsiteY1" fmla="*/ 367393 h 669471"/>
                <a:gd name="connsiteX2" fmla="*/ 1371600 w 1371600"/>
                <a:gd name="connsiteY2" fmla="*/ 0 h 669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600" h="669471">
                  <a:moveTo>
                    <a:pt x="1371600" y="669471"/>
                  </a:moveTo>
                  <a:cubicBezTo>
                    <a:pt x="685800" y="574221"/>
                    <a:pt x="0" y="478971"/>
                    <a:pt x="0" y="367393"/>
                  </a:cubicBezTo>
                  <a:cubicBezTo>
                    <a:pt x="0" y="255815"/>
                    <a:pt x="1152525" y="8164"/>
                    <a:pt x="1371600" y="0"/>
                  </a:cubicBezTo>
                </a:path>
              </a:pathLst>
            </a:cu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7008F1C-1A89-C682-A1A1-10FC94E18A6C}"/>
                </a:ext>
              </a:extLst>
            </p:cNvPr>
            <p:cNvSpPr/>
            <p:nvPr/>
          </p:nvSpPr>
          <p:spPr>
            <a:xfrm>
              <a:off x="4988378" y="4315138"/>
              <a:ext cx="865408" cy="837808"/>
            </a:xfrm>
            <a:custGeom>
              <a:avLst/>
              <a:gdLst>
                <a:gd name="connsiteX0" fmla="*/ 1371600 w 1371600"/>
                <a:gd name="connsiteY0" fmla="*/ 669471 h 669471"/>
                <a:gd name="connsiteX1" fmla="*/ 0 w 1371600"/>
                <a:gd name="connsiteY1" fmla="*/ 367393 h 669471"/>
                <a:gd name="connsiteX2" fmla="*/ 1371600 w 1371600"/>
                <a:gd name="connsiteY2" fmla="*/ 0 h 669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600" h="669471">
                  <a:moveTo>
                    <a:pt x="1371600" y="669471"/>
                  </a:moveTo>
                  <a:cubicBezTo>
                    <a:pt x="685800" y="574221"/>
                    <a:pt x="0" y="478971"/>
                    <a:pt x="0" y="367393"/>
                  </a:cubicBezTo>
                  <a:cubicBezTo>
                    <a:pt x="0" y="255815"/>
                    <a:pt x="1152525" y="8164"/>
                    <a:pt x="1371600" y="0"/>
                  </a:cubicBezTo>
                </a:path>
              </a:pathLst>
            </a:cu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CB6214D-5999-A327-3EA1-4BC1AC79736D}"/>
                </a:ext>
              </a:extLst>
            </p:cNvPr>
            <p:cNvSpPr txBox="1"/>
            <p:nvPr/>
          </p:nvSpPr>
          <p:spPr>
            <a:xfrm>
              <a:off x="5853786" y="655656"/>
              <a:ext cx="57706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C00000"/>
                  </a:solidFill>
                  <a:latin typeface="Aptos" panose="020B0004020202020204" pitchFamily="34" charset="0"/>
                </a:rPr>
                <a:t>Trust anchor: root name server &amp; </a:t>
              </a:r>
              <a:r>
                <a:rPr lang="en-US" altLang="zh-CN" sz="2400" b="1" dirty="0">
                  <a:solidFill>
                    <a:srgbClr val="C00000"/>
                  </a:solidFill>
                  <a:latin typeface="Aptos" panose="020B0004020202020204" pitchFamily="34" charset="0"/>
                </a:rPr>
                <a:t>its KSK</a:t>
              </a:r>
              <a:endParaRPr lang="en-US" sz="2400" b="1" dirty="0">
                <a:solidFill>
                  <a:srgbClr val="C00000"/>
                </a:solidFill>
                <a:latin typeface="Aptos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007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19;p140">
            <a:extLst>
              <a:ext uri="{FF2B5EF4-FFF2-40B4-BE49-F238E27FC236}">
                <a16:creationId xmlns:a16="http://schemas.microsoft.com/office/drawing/2014/main" id="{D3FBFFA2-63F4-7F64-E45F-852384FE0AA2}"/>
              </a:ext>
            </a:extLst>
          </p:cNvPr>
          <p:cNvSpPr txBox="1">
            <a:spLocks/>
          </p:cNvSpPr>
          <p:nvPr/>
        </p:nvSpPr>
        <p:spPr>
          <a:xfrm>
            <a:off x="415600" y="19267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kern="0" dirty="0">
                <a:latin typeface="Aptos Display (Headings)"/>
              </a:rPr>
              <a:t>DNSSEC: Offline Signature Generation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AABA0-740A-FF52-9595-6B02DC491D99}"/>
              </a:ext>
            </a:extLst>
          </p:cNvPr>
          <p:cNvSpPr txBox="1"/>
          <p:nvPr/>
        </p:nvSpPr>
        <p:spPr>
          <a:xfrm>
            <a:off x="335706" y="1404193"/>
            <a:ext cx="11520587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42900">
              <a:spcAft>
                <a:spcPts val="600"/>
              </a:spcAft>
            </a:pPr>
            <a:r>
              <a:rPr lang="en-US" sz="2200" b="1" i="1" dirty="0">
                <a:solidFill>
                  <a:srgbClr val="C00000"/>
                </a:solidFill>
                <a:latin typeface="Aptos" panose="020B0004020202020204" pitchFamily="34" charset="0"/>
              </a:rPr>
              <a:t>Problem 2: </a:t>
            </a:r>
            <a:r>
              <a:rPr lang="en-US" sz="2200" dirty="0">
                <a:solidFill>
                  <a:schemeClr val="tx1"/>
                </a:solidFill>
                <a:latin typeface="Aptos" panose="020B0004020202020204" pitchFamily="34" charset="0"/>
              </a:rPr>
              <a:t>DNS is designed to be fast and lightweight.</a:t>
            </a:r>
          </a:p>
          <a:p>
            <a:pPr marL="457200" lvl="0" indent="-342900">
              <a:spcAft>
                <a:spcPts val="600"/>
              </a:spcAft>
            </a:pPr>
            <a:r>
              <a:rPr lang="en-US" sz="2200" dirty="0">
                <a:latin typeface="Aptos" panose="020B0004020202020204" pitchFamily="34" charset="0"/>
              </a:rPr>
              <a:t>		           H</a:t>
            </a:r>
            <a:r>
              <a:rPr lang="en-US" sz="2200" dirty="0">
                <a:solidFill>
                  <a:schemeClr val="tx1"/>
                </a:solidFill>
                <a:latin typeface="Aptos" panose="020B0004020202020204" pitchFamily="34" charset="0"/>
              </a:rPr>
              <a:t>owever, </a:t>
            </a:r>
            <a:r>
              <a:rPr lang="en-US" sz="2200" dirty="0">
                <a:latin typeface="Aptos" panose="020B0004020202020204" pitchFamily="34" charset="0"/>
              </a:rPr>
              <a:t>p</a:t>
            </a:r>
            <a:r>
              <a:rPr lang="en-US" sz="2200" dirty="0">
                <a:solidFill>
                  <a:schemeClr val="tx1"/>
                </a:solidFill>
                <a:latin typeface="Aptos" panose="020B0004020202020204" pitchFamily="34" charset="0"/>
              </a:rPr>
              <a:t>ublic-key cryptography is slow!</a:t>
            </a:r>
          </a:p>
          <a:p>
            <a:pPr marL="457200" lvl="0" indent="-342900">
              <a:spcAft>
                <a:spcPts val="600"/>
              </a:spcAft>
            </a:pPr>
            <a:r>
              <a:rPr lang="en-US" sz="2200" b="1" i="1" dirty="0">
                <a:solidFill>
                  <a:srgbClr val="C00000"/>
                </a:solidFill>
                <a:latin typeface="Aptos" panose="020B0004020202020204" pitchFamily="34" charset="0"/>
              </a:rPr>
              <a:t>Solution: </a:t>
            </a:r>
            <a:r>
              <a:rPr lang="en-US" sz="2200" dirty="0">
                <a:solidFill>
                  <a:schemeClr val="tx1"/>
                </a:solidFill>
                <a:latin typeface="Aptos" panose="020B0004020202020204" pitchFamily="34" charset="0"/>
              </a:rPr>
              <a:t>Offline signatures </a:t>
            </a:r>
            <a:r>
              <a:rPr lang="en-US" sz="2200" dirty="0">
                <a:solidFill>
                  <a:schemeClr val="tx1"/>
                </a:solidFill>
                <a:latin typeface="Aptos" panose="020B0004020202020204" pitchFamily="34" charset="0"/>
                <a:sym typeface="Wingdings" panose="05000000000000000000" pitchFamily="2" charset="2"/>
              </a:rPr>
              <a:t></a:t>
            </a:r>
            <a:r>
              <a:rPr lang="en-US" sz="2200" dirty="0">
                <a:solidFill>
                  <a:schemeClr val="tx1"/>
                </a:solidFill>
                <a:latin typeface="Aptos" panose="020B0004020202020204" pitchFamily="34" charset="0"/>
              </a:rPr>
              <a:t> The name server computes signatures (for RRSET, DNSKEY) in advance; serves the signatures when they are needed</a:t>
            </a:r>
          </a:p>
          <a:p>
            <a:pPr marL="457200" lvl="0" indent="-342900">
              <a:spcAft>
                <a:spcPts val="600"/>
              </a:spcAft>
            </a:pPr>
            <a:endParaRPr lang="en-US" sz="10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457200" lvl="0" indent="-342900">
              <a:spcAft>
                <a:spcPts val="600"/>
              </a:spcAft>
            </a:pPr>
            <a:r>
              <a:rPr lang="en-US" sz="2200" dirty="0">
                <a:solidFill>
                  <a:schemeClr val="tx1"/>
                </a:solidFill>
                <a:latin typeface="Aptos" panose="020B0004020202020204" pitchFamily="34" charset="0"/>
              </a:rPr>
              <a:t>Benefit: Efficiency</a:t>
            </a:r>
          </a:p>
          <a:p>
            <a:pPr marL="4572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ptos" panose="020B0004020202020204" pitchFamily="34" charset="0"/>
              </a:rPr>
              <a:t>Generating a signature each time a user requests it is slow (and can lead to DoS attacks)</a:t>
            </a:r>
          </a:p>
          <a:p>
            <a:pPr marL="457200" lvl="0" indent="-342900">
              <a:spcAft>
                <a:spcPts val="600"/>
              </a:spcAft>
            </a:pPr>
            <a:r>
              <a:rPr lang="en-US" sz="2200" dirty="0">
                <a:solidFill>
                  <a:schemeClr val="tx1"/>
                </a:solidFill>
                <a:latin typeface="Aptos" panose="020B0004020202020204" pitchFamily="34" charset="0"/>
              </a:rPr>
              <a:t>Benefit: Availability and Security</a:t>
            </a:r>
          </a:p>
          <a:p>
            <a:pPr marL="4572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Redundancy: One secure signature generation system, and many mirrored name servers providing the same records and signatures</a:t>
            </a:r>
            <a:endParaRPr lang="en-US" sz="22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457200" lvl="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ptos" panose="020B0004020202020204" pitchFamily="34" charset="0"/>
              </a:rPr>
              <a:t>If the signature generation system is separate from the name server, compromising the name server is not enough!</a:t>
            </a:r>
          </a:p>
        </p:txBody>
      </p:sp>
    </p:spTree>
    <p:extLst>
      <p:ext uri="{BB962C8B-B14F-4D97-AF65-F5344CB8AC3E}">
        <p14:creationId xmlns:p14="http://schemas.microsoft.com/office/powerpoint/2010/main" val="21526323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9;p140">
            <a:extLst>
              <a:ext uri="{FF2B5EF4-FFF2-40B4-BE49-F238E27FC236}">
                <a16:creationId xmlns:a16="http://schemas.microsoft.com/office/drawing/2014/main" id="{A1BBD3EA-B48A-9405-9D84-E991AC006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7432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400" dirty="0">
                <a:latin typeface="Aptos Display (Headings)"/>
              </a:rPr>
              <a:t>DNSSEC: </a:t>
            </a:r>
            <a:r>
              <a:rPr lang="en" sz="4400" dirty="0"/>
              <a:t>Signing Non-Existent Domains</a:t>
            </a:r>
            <a:endParaRPr sz="4400" dirty="0">
              <a:latin typeface="Aptos Display (Headings)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183C1A-07F9-961A-6E28-1091EB837D4B}"/>
              </a:ext>
            </a:extLst>
          </p:cNvPr>
          <p:cNvSpPr txBox="1"/>
          <p:nvPr/>
        </p:nvSpPr>
        <p:spPr>
          <a:xfrm>
            <a:off x="340664" y="1565366"/>
            <a:ext cx="11510671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b="1" i="1" dirty="0">
                <a:solidFill>
                  <a:srgbClr val="C00000"/>
                </a:solidFill>
                <a:latin typeface="Aptos" panose="020B0004020202020204" pitchFamily="34" charset="0"/>
              </a:rPr>
              <a:t>Problem 3: </a:t>
            </a:r>
            <a:r>
              <a:rPr lang="en-US" sz="2200" dirty="0">
                <a:latin typeface="Aptos" panose="020B0004020202020204" pitchFamily="34" charset="0"/>
              </a:rPr>
              <a:t>What if the user queries for a domain that doesn’t exist?</a:t>
            </a:r>
          </a:p>
          <a:p>
            <a:pPr>
              <a:spcAft>
                <a:spcPts val="600"/>
              </a:spcAft>
            </a:pPr>
            <a:endParaRPr lang="en-US" sz="2200" dirty="0"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200" dirty="0">
                <a:latin typeface="Aptos" panose="020B0004020202020204" pitchFamily="34" charset="0"/>
              </a:rPr>
              <a:t>Option 1: Don’t authenticate nonexistent domain (NXDOMAIN) responses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Issue: If NXDOMAIN responses don’t have to be signed, the attacker can still </a:t>
            </a:r>
            <a:r>
              <a:rPr lang="en-US" sz="2200" b="1" i="1" dirty="0">
                <a:latin typeface="Aptos" panose="020B0004020202020204" pitchFamily="34" charset="0"/>
              </a:rPr>
              <a:t>spoof</a:t>
            </a:r>
            <a:r>
              <a:rPr lang="en-US" sz="2200" dirty="0">
                <a:latin typeface="Aptos" panose="020B0004020202020204" pitchFamily="34" charset="0"/>
              </a:rPr>
              <a:t> NXDOMAIN responses and cause denial-of-service (DoS)</a:t>
            </a:r>
          </a:p>
          <a:p>
            <a:pPr>
              <a:spcAft>
                <a:spcPts val="600"/>
              </a:spcAft>
            </a:pPr>
            <a:endParaRPr lang="en-US" sz="2200" dirty="0"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200" dirty="0">
                <a:latin typeface="Aptos" panose="020B0004020202020204" pitchFamily="34" charset="0"/>
              </a:rPr>
              <a:t>Option 2: Keep the private key in the name server, ask it signs NXDOMAIN responses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Issue: Signing in real time is slow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Issue: Name servers stores the private key, which is an issue if they are malicious or hacked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200" dirty="0">
                <a:latin typeface="Aptos" panose="020B0004020202020204" pitchFamily="34" charset="0"/>
              </a:rPr>
              <a:t>We need a way that can </a:t>
            </a:r>
            <a:r>
              <a:rPr lang="en-US" sz="2200" b="1" i="1" dirty="0">
                <a:solidFill>
                  <a:srgbClr val="C00000"/>
                </a:solidFill>
                <a:latin typeface="Aptos" panose="020B0004020202020204" pitchFamily="34" charset="0"/>
              </a:rPr>
              <a:t>prove that a domain doesn’t exist </a:t>
            </a:r>
            <a:r>
              <a:rPr lang="en-US" sz="2200" dirty="0">
                <a:latin typeface="Aptos" panose="020B0004020202020204" pitchFamily="34" charset="0"/>
              </a:rPr>
              <a:t>ahead of time</a:t>
            </a:r>
          </a:p>
        </p:txBody>
      </p:sp>
    </p:spTree>
    <p:extLst>
      <p:ext uri="{BB962C8B-B14F-4D97-AF65-F5344CB8AC3E}">
        <p14:creationId xmlns:p14="http://schemas.microsoft.com/office/powerpoint/2010/main" val="19087949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6739A-8211-3D01-69F8-C032283F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19;p140">
            <a:extLst>
              <a:ext uri="{FF2B5EF4-FFF2-40B4-BE49-F238E27FC236}">
                <a16:creationId xmlns:a16="http://schemas.microsoft.com/office/drawing/2014/main" id="{F4EA5FF3-3E8A-26DF-C668-22704CB557A3}"/>
              </a:ext>
            </a:extLst>
          </p:cNvPr>
          <p:cNvSpPr txBox="1">
            <a:spLocks/>
          </p:cNvSpPr>
          <p:nvPr/>
        </p:nvSpPr>
        <p:spPr>
          <a:xfrm>
            <a:off x="415600" y="27432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kern="0" dirty="0">
                <a:latin typeface="Aptos Display (Headings)"/>
              </a:rPr>
              <a:t>New DNSSEC Record Types: NSEC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B8AC4-10DD-0B0A-B7DB-F2766873E692}"/>
              </a:ext>
            </a:extLst>
          </p:cNvPr>
          <p:cNvSpPr txBox="1"/>
          <p:nvPr/>
        </p:nvSpPr>
        <p:spPr>
          <a:xfrm>
            <a:off x="415600" y="1611771"/>
            <a:ext cx="113608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NSEC (</a:t>
            </a:r>
            <a:r>
              <a:rPr lang="en-US" sz="2200" i="0" dirty="0">
                <a:solidFill>
                  <a:srgbClr val="222222"/>
                </a:solidFill>
                <a:effectLst/>
                <a:latin typeface="Aptos" panose="020B0004020202020204" pitchFamily="34" charset="0"/>
                <a:hlinkClick r:id="rId2"/>
              </a:rPr>
              <a:t>and NSEC3, and NSEC5</a:t>
            </a:r>
            <a:r>
              <a:rPr lang="en-US" sz="2200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)</a:t>
            </a:r>
            <a:r>
              <a:rPr lang="en-US" sz="2200" dirty="0">
                <a:solidFill>
                  <a:srgbClr val="222222"/>
                </a:solidFill>
                <a:latin typeface="Aptos" panose="020B0004020202020204" pitchFamily="34" charset="0"/>
              </a:rPr>
              <a:t>:</a:t>
            </a:r>
            <a:r>
              <a:rPr lang="en-US" sz="2200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 Prove nonexistence of a DNS record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2222"/>
                </a:solidFill>
                <a:latin typeface="Aptos" panose="020B0004020202020204" pitchFamily="34" charset="0"/>
              </a:rPr>
              <a:t>NSEC record: Next Secure Record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2222"/>
                </a:solidFill>
                <a:latin typeface="Aptos" panose="020B0004020202020204" pitchFamily="34" charset="0"/>
              </a:rPr>
              <a:t>Provide two adjacent domains </a:t>
            </a:r>
            <a:r>
              <a:rPr lang="en-US" sz="2200" dirty="0">
                <a:solidFill>
                  <a:srgbClr val="C00000"/>
                </a:solidFill>
                <a:latin typeface="Aptos" panose="020B0004020202020204" pitchFamily="34" charset="0"/>
              </a:rPr>
              <a:t>alphabetically</a:t>
            </a:r>
            <a:r>
              <a:rPr lang="en-US" sz="2200" dirty="0">
                <a:solidFill>
                  <a:srgbClr val="222222"/>
                </a:solidFill>
                <a:latin typeface="Aptos" panose="020B0004020202020204" pitchFamily="34" charset="0"/>
              </a:rPr>
              <a:t>, so that the resolver knows that no domain </a:t>
            </a:r>
            <a:r>
              <a:rPr lang="en-US" sz="2200" b="1" dirty="0">
                <a:solidFill>
                  <a:srgbClr val="C00000"/>
                </a:solidFill>
                <a:latin typeface="Aptos" panose="020B0004020202020204" pitchFamily="34" charset="0"/>
              </a:rPr>
              <a:t>in the middle </a:t>
            </a:r>
            <a:r>
              <a:rPr lang="en-US" sz="2200" dirty="0">
                <a:solidFill>
                  <a:srgbClr val="222222"/>
                </a:solidFill>
                <a:latin typeface="Aptos" panose="020B0004020202020204" pitchFamily="34" charset="0"/>
              </a:rPr>
              <a:t>exists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2222"/>
                </a:solidFill>
                <a:latin typeface="Aptos" panose="020B0004020202020204" pitchFamily="34" charset="0"/>
              </a:rPr>
              <a:t>For example, suppose a website has 3 subdomains (hostnames):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i="1" dirty="0">
                <a:solidFill>
                  <a:srgbClr val="222222"/>
                </a:solidFill>
                <a:latin typeface="Aptos" panose="020B0004020202020204" pitchFamily="34" charset="0"/>
              </a:rPr>
              <a:t>b.example.com</a:t>
            </a:r>
            <a:r>
              <a:rPr lang="en-US" sz="2200" dirty="0">
                <a:solidFill>
                  <a:srgbClr val="222222"/>
                </a:solidFill>
                <a:latin typeface="Aptos" panose="020B0004020202020204" pitchFamily="34" charset="0"/>
              </a:rPr>
              <a:t>		</a:t>
            </a:r>
            <a:r>
              <a:rPr lang="en-US" sz="2200" i="1" dirty="0">
                <a:solidFill>
                  <a:srgbClr val="222222"/>
                </a:solidFill>
                <a:latin typeface="Aptos" panose="020B0004020202020204" pitchFamily="34" charset="0"/>
              </a:rPr>
              <a:t>g.example.com </a:t>
            </a:r>
            <a:r>
              <a:rPr lang="en-US" sz="2200" dirty="0">
                <a:solidFill>
                  <a:srgbClr val="222222"/>
                </a:solidFill>
                <a:latin typeface="Aptos" panose="020B0004020202020204" pitchFamily="34" charset="0"/>
              </a:rPr>
              <a:t>	</a:t>
            </a:r>
            <a:r>
              <a:rPr lang="en-US" sz="2200" i="1" dirty="0">
                <a:solidFill>
                  <a:srgbClr val="222222"/>
                </a:solidFill>
                <a:latin typeface="Aptos" panose="020B0004020202020204" pitchFamily="34" charset="0"/>
              </a:rPr>
              <a:t>q.example.com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2222"/>
                </a:solidFill>
                <a:latin typeface="Aptos" panose="020B0004020202020204" pitchFamily="34" charset="0"/>
              </a:rPr>
              <a:t>Query for “</a:t>
            </a:r>
            <a:r>
              <a:rPr lang="en-US" sz="2200" b="1" i="1" dirty="0">
                <a:solidFill>
                  <a:srgbClr val="222222"/>
                </a:solidFill>
                <a:latin typeface="Aptos" panose="020B0004020202020204" pitchFamily="34" charset="0"/>
              </a:rPr>
              <a:t>c.example.com</a:t>
            </a:r>
            <a:r>
              <a:rPr lang="en-US" sz="2200" dirty="0">
                <a:solidFill>
                  <a:srgbClr val="222222"/>
                </a:solidFill>
                <a:latin typeface="Aptos" panose="020B0004020202020204" pitchFamily="34" charset="0"/>
              </a:rPr>
              <a:t>”, name server returns a </a:t>
            </a:r>
            <a:r>
              <a:rPr lang="en-US" sz="2200" b="1" dirty="0">
                <a:solidFill>
                  <a:srgbClr val="C00000"/>
                </a:solidFill>
                <a:latin typeface="Aptos" panose="020B0004020202020204" pitchFamily="34" charset="0"/>
              </a:rPr>
              <a:t>signed NSEC record</a:t>
            </a:r>
            <a:r>
              <a:rPr lang="en-US" sz="2200" dirty="0">
                <a:solidFill>
                  <a:srgbClr val="222222"/>
                </a:solidFill>
                <a:latin typeface="Aptos" panose="020B0004020202020204" pitchFamily="34" charset="0"/>
              </a:rPr>
              <a:t>: “No domains exist between </a:t>
            </a:r>
            <a:r>
              <a:rPr lang="en-US" sz="2200" i="1" dirty="0">
                <a:solidFill>
                  <a:srgbClr val="C00000"/>
                </a:solidFill>
                <a:latin typeface="Aptos" panose="020B0004020202020204" pitchFamily="34" charset="0"/>
              </a:rPr>
              <a:t>b.example.com </a:t>
            </a:r>
            <a:r>
              <a:rPr lang="en-US" sz="2200" dirty="0">
                <a:solidFill>
                  <a:srgbClr val="222222"/>
                </a:solidFill>
                <a:latin typeface="Aptos" panose="020B0004020202020204" pitchFamily="34" charset="0"/>
              </a:rPr>
              <a:t>and </a:t>
            </a:r>
            <a:r>
              <a:rPr lang="en-US" sz="2200" i="1" dirty="0">
                <a:solidFill>
                  <a:srgbClr val="C00000"/>
                </a:solidFill>
                <a:latin typeface="Aptos" panose="020B0004020202020204" pitchFamily="34" charset="0"/>
              </a:rPr>
              <a:t>g.example.com</a:t>
            </a:r>
            <a:r>
              <a:rPr lang="en-US" sz="2200" dirty="0">
                <a:solidFill>
                  <a:srgbClr val="222222"/>
                </a:solidFill>
                <a:latin typeface="Aptos" panose="020B0004020202020204" pitchFamily="34" charset="0"/>
              </a:rPr>
              <a:t>”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22222"/>
                </a:solidFill>
                <a:latin typeface="Aptos" panose="020B0004020202020204" pitchFamily="34" charset="0"/>
              </a:rPr>
              <a:t>Query for “</a:t>
            </a:r>
            <a:r>
              <a:rPr lang="en-US" sz="2200" b="1" i="1" dirty="0">
                <a:solidFill>
                  <a:srgbClr val="222222"/>
                </a:solidFill>
                <a:latin typeface="Aptos" panose="020B0004020202020204" pitchFamily="34" charset="0"/>
              </a:rPr>
              <a:t>x.example.com</a:t>
            </a:r>
            <a:r>
              <a:rPr lang="en-US" sz="2200" dirty="0">
                <a:solidFill>
                  <a:srgbClr val="222222"/>
                </a:solidFill>
                <a:latin typeface="Aptos" panose="020B0004020202020204" pitchFamily="34" charset="0"/>
              </a:rPr>
              <a:t>”, name server returns a </a:t>
            </a:r>
            <a:r>
              <a:rPr lang="en-US" sz="2200" b="1" dirty="0">
                <a:solidFill>
                  <a:srgbClr val="C00000"/>
                </a:solidFill>
                <a:latin typeface="Aptos" panose="020B0004020202020204" pitchFamily="34" charset="0"/>
              </a:rPr>
              <a:t>signed NSEC record</a:t>
            </a:r>
            <a:r>
              <a:rPr lang="en-US" sz="2200" dirty="0">
                <a:solidFill>
                  <a:srgbClr val="222222"/>
                </a:solidFill>
                <a:latin typeface="Aptos" panose="020B0004020202020204" pitchFamily="34" charset="0"/>
              </a:rPr>
              <a:t>: “No domains exist between </a:t>
            </a:r>
            <a:r>
              <a:rPr lang="en-US" sz="2200" i="1" dirty="0">
                <a:solidFill>
                  <a:srgbClr val="C00000"/>
                </a:solidFill>
                <a:latin typeface="Aptos" panose="020B0004020202020204" pitchFamily="34" charset="0"/>
              </a:rPr>
              <a:t>q.example.com </a:t>
            </a:r>
            <a:r>
              <a:rPr lang="en-US" sz="2200" dirty="0">
                <a:solidFill>
                  <a:srgbClr val="222222"/>
                </a:solidFill>
                <a:latin typeface="Aptos" panose="020B0004020202020204" pitchFamily="34" charset="0"/>
              </a:rPr>
              <a:t>and </a:t>
            </a:r>
            <a:r>
              <a:rPr lang="en-US" sz="2200" i="1" dirty="0">
                <a:solidFill>
                  <a:srgbClr val="C00000"/>
                </a:solidFill>
                <a:latin typeface="Aptos" panose="020B0004020202020204" pitchFamily="34" charset="0"/>
              </a:rPr>
              <a:t>b.example.com</a:t>
            </a:r>
            <a:r>
              <a:rPr lang="en-US" sz="2200" dirty="0">
                <a:solidFill>
                  <a:srgbClr val="222222"/>
                </a:solidFill>
                <a:latin typeface="Aptos" panose="020B0004020202020204" pitchFamily="34" charset="0"/>
              </a:rPr>
              <a:t>” (wrapping around from z to a)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222222"/>
              </a:solidFill>
              <a:latin typeface="Aptos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0036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CBCCE-5068-07E7-1F33-67A1DFBF7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D0574-BAF8-ECD1-94A0-316E8E6DF33B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389EF5C-DD13-6002-3266-1D860025BB31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 over TLS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DNSSEC: Design Ideas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DNSSEC: Implementation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zh-CN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DNS Security: Summary</a:t>
            </a:r>
            <a:endParaRPr lang="en-US" altLang="en-US" sz="36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7475" indent="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  <a:buNone/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2126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9;p140">
            <a:extLst>
              <a:ext uri="{FF2B5EF4-FFF2-40B4-BE49-F238E27FC236}">
                <a16:creationId xmlns:a16="http://schemas.microsoft.com/office/drawing/2014/main" id="{A1BBD3EA-B48A-9405-9D84-E991AC006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127362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400" dirty="0">
                <a:latin typeface="Aptos Display (Headings)"/>
              </a:rPr>
              <a:t>DNSSEC in Practice</a:t>
            </a:r>
            <a:endParaRPr sz="4400" dirty="0">
              <a:latin typeface="Aptos Display (Headings)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E58FF-1FFA-C501-D6A1-A868D83D3525}"/>
              </a:ext>
            </a:extLst>
          </p:cNvPr>
          <p:cNvSpPr txBox="1"/>
          <p:nvPr/>
        </p:nvSpPr>
        <p:spPr>
          <a:xfrm>
            <a:off x="579664" y="1118505"/>
            <a:ext cx="444953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396" indent="0">
              <a:spcAft>
                <a:spcPts val="600"/>
              </a:spcAft>
              <a:buNone/>
            </a:pPr>
            <a:r>
              <a:rPr lang="en-US" altLang="zh-CN" sz="2000" b="1" dirty="0">
                <a:solidFill>
                  <a:srgbClr val="C00000"/>
                </a:solidFill>
                <a:latin typeface="Aptos" panose="020B0004020202020204" pitchFamily="34" charset="0"/>
              </a:rPr>
              <a:t>DNSSEC Visualization tool: </a:t>
            </a:r>
          </a:p>
          <a:p>
            <a:pPr marL="152396" indent="0">
              <a:spcAft>
                <a:spcPts val="600"/>
              </a:spcAft>
              <a:buNone/>
            </a:pPr>
            <a:r>
              <a:rPr lang="en-US" sz="2000" dirty="0" err="1">
                <a:latin typeface="Aptos" panose="020B0004020202020204" pitchFamily="34" charset="0"/>
                <a:hlinkClick r:id="rId3"/>
              </a:rPr>
              <a:t>DNSViz</a:t>
            </a:r>
            <a:r>
              <a:rPr lang="en-US" sz="2000" dirty="0">
                <a:latin typeface="Aptos" panose="020B0004020202020204" pitchFamily="34" charset="0"/>
                <a:hlinkClick r:id="rId3"/>
              </a:rPr>
              <a:t> | A DNS visualization tool</a:t>
            </a:r>
            <a:endParaRPr lang="en-US" sz="2000" dirty="0">
              <a:latin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6C948F-31BF-F7F0-0FA8-1FBB6A5DD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607" y="899660"/>
            <a:ext cx="5370786" cy="59415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E4F0CF-7BD6-C389-6311-A429DD101115}"/>
              </a:ext>
            </a:extLst>
          </p:cNvPr>
          <p:cNvSpPr txBox="1"/>
          <p:nvPr/>
        </p:nvSpPr>
        <p:spPr>
          <a:xfrm>
            <a:off x="6096000" y="167687"/>
            <a:ext cx="60960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396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Aptos" panose="020B0004020202020204" pitchFamily="34" charset="0"/>
              </a:rPr>
              <a:t>DNSSEC lookup walkthrough (PowerShell): </a:t>
            </a:r>
          </a:p>
          <a:p>
            <a:pPr marL="152396" indent="0">
              <a:spcAft>
                <a:spcPts val="600"/>
              </a:spcAft>
              <a:buNone/>
            </a:pPr>
            <a:r>
              <a:rPr lang="en-US" sz="1800" dirty="0">
                <a:latin typeface="Aptos" panose="020B0004020202020204" pitchFamily="34" charset="0"/>
              </a:rPr>
              <a:t>$ dig +</a:t>
            </a:r>
            <a:r>
              <a:rPr lang="en-US" sz="1800" dirty="0" err="1">
                <a:latin typeface="Aptos" panose="020B0004020202020204" pitchFamily="34" charset="0"/>
              </a:rPr>
              <a:t>norecurse</a:t>
            </a:r>
            <a:r>
              <a:rPr lang="en-US" sz="1800" dirty="0">
                <a:latin typeface="Aptos" panose="020B0004020202020204" pitchFamily="34" charset="0"/>
              </a:rPr>
              <a:t> +</a:t>
            </a:r>
            <a:r>
              <a:rPr lang="en-US" sz="1800" dirty="0" err="1">
                <a:latin typeface="Aptos" panose="020B0004020202020204" pitchFamily="34" charset="0"/>
              </a:rPr>
              <a:t>dnssec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en-US" sz="1800" dirty="0">
                <a:latin typeface="Aptos" panose="020B0004020202020204" pitchFamily="34" charset="0"/>
                <a:hlinkClick r:id="rId5"/>
              </a:rPr>
              <a:t>www.msoe.edu</a:t>
            </a:r>
            <a:r>
              <a:rPr lang="en-US" sz="1800" dirty="0">
                <a:latin typeface="Aptos" panose="020B0004020202020204" pitchFamily="34" charset="0"/>
              </a:rPr>
              <a:t> “@198.41.0.4”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48E87E-B084-088A-FF9D-BCEBA884CD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69" y="1886534"/>
            <a:ext cx="4971031" cy="49546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CE30A4F-AFAC-1AC7-FAB8-4C672BFC4888}"/>
              </a:ext>
            </a:extLst>
          </p:cNvPr>
          <p:cNvSpPr/>
          <p:nvPr/>
        </p:nvSpPr>
        <p:spPr>
          <a:xfrm>
            <a:off x="8972550" y="4359729"/>
            <a:ext cx="840921" cy="54700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244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354DA-BB1F-8191-FF7E-F1C041A79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819;p140">
            <a:extLst>
              <a:ext uri="{FF2B5EF4-FFF2-40B4-BE49-F238E27FC236}">
                <a16:creationId xmlns:a16="http://schemas.microsoft.com/office/drawing/2014/main" id="{1E2BE327-AAF0-564D-CBFC-F653286C51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274320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400" dirty="0">
                <a:latin typeface="Aptos Display (Headings)"/>
              </a:rPr>
              <a:t>DNSSEC: Summary</a:t>
            </a:r>
            <a:endParaRPr sz="4400" dirty="0">
              <a:latin typeface="Aptos Display (Headings)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49F1A3-986A-BDE5-2F5B-F2A5D34B368F}"/>
              </a:ext>
            </a:extLst>
          </p:cNvPr>
          <p:cNvSpPr txBox="1"/>
          <p:nvPr/>
        </p:nvSpPr>
        <p:spPr>
          <a:xfrm>
            <a:off x="585107" y="1477966"/>
            <a:ext cx="1102178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b="1" i="1" dirty="0">
                <a:latin typeface="Aptos" panose="020B0004020202020204" pitchFamily="34" charset="0"/>
              </a:rPr>
              <a:t>DNSSEC: </a:t>
            </a:r>
            <a:r>
              <a:rPr lang="en-US" sz="2200" dirty="0">
                <a:latin typeface="Aptos" panose="020B0004020202020204" pitchFamily="34" charset="0"/>
              </a:rPr>
              <a:t>An extension of the DNS protocol that ensures integrity on the results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Provides object security (unlike DNS over TLS, which provides channel security)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Uses a hierarchical public key infrastructure to delegate trust from the trust anchor (root name server)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Uses signatures to cryptographically verify records</a:t>
            </a:r>
          </a:p>
          <a:p>
            <a:pPr>
              <a:spcAft>
                <a:spcPts val="600"/>
              </a:spcAft>
            </a:pPr>
            <a:endParaRPr lang="en-US" sz="2200" dirty="0"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200" b="1" i="1" dirty="0">
                <a:latin typeface="Aptos" panose="020B0004020202020204" pitchFamily="34" charset="0"/>
              </a:rPr>
              <a:t>DNSSEC Implementation: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Each name server replies with its public key (DNSKEY type record)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When delegating trust, each name server signs the public key of the next name server (DS and RRSIG type records)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When providing a final answer, the name server signs the final answer (RRSIG type)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Zones are split into key-signing keys and zone-signing keys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ptos" panose="020B0004020202020204" pitchFamily="34" charset="0"/>
              </a:rPr>
              <a:t>NSEC signs a message saying no domains exist alphabetically between two records</a:t>
            </a:r>
          </a:p>
        </p:txBody>
      </p:sp>
    </p:spTree>
    <p:extLst>
      <p:ext uri="{BB962C8B-B14F-4D97-AF65-F5344CB8AC3E}">
        <p14:creationId xmlns:p14="http://schemas.microsoft.com/office/powerpoint/2010/main" val="11328012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F12F84-E8E3-53EA-5A41-2C802E8CF57A}"/>
              </a:ext>
            </a:extLst>
          </p:cNvPr>
          <p:cNvSpPr txBox="1"/>
          <p:nvPr/>
        </p:nvSpPr>
        <p:spPr>
          <a:xfrm>
            <a:off x="696005" y="215384"/>
            <a:ext cx="92399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Aptos Display (Headings)"/>
              </a:rPr>
              <a:t>DNS Security Solutions: Comparison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90B0CC-2B78-AD9D-ED90-0B78E800DB0F}"/>
              </a:ext>
            </a:extLst>
          </p:cNvPr>
          <p:cNvSpPr txBox="1"/>
          <p:nvPr/>
        </p:nvSpPr>
        <p:spPr>
          <a:xfrm>
            <a:off x="6543163" y="2174810"/>
            <a:ext cx="5200311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b="1" dirty="0">
                <a:latin typeface="Aptos" panose="020B0004020202020204" pitchFamily="34" charset="0"/>
              </a:rPr>
              <a:t>DNSSEC: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rgbClr val="C00000"/>
                </a:solidFill>
                <a:latin typeface="Aptos" panose="020B0004020202020204" pitchFamily="34" charset="0"/>
              </a:rPr>
              <a:t>✓ Provides integrity and authenticity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rgbClr val="C00000"/>
                </a:solidFill>
                <a:latin typeface="Aptos" panose="020B0004020202020204" pitchFamily="34" charset="0"/>
              </a:rPr>
              <a:t>✓ Cryptographically verifies DNS data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rgbClr val="C00000"/>
                </a:solidFill>
                <a:latin typeface="Aptos" panose="020B0004020202020204" pitchFamily="34" charset="0"/>
              </a:rPr>
              <a:t>✓ Works with any </a:t>
            </a:r>
            <a:r>
              <a:rPr lang="en-US" altLang="zh-CN" sz="2200" dirty="0">
                <a:solidFill>
                  <a:srgbClr val="C00000"/>
                </a:solidFill>
                <a:latin typeface="Aptos" panose="020B0004020202020204" pitchFamily="34" charset="0"/>
              </a:rPr>
              <a:t>name server</a:t>
            </a:r>
            <a:endParaRPr lang="en-US" sz="2200" dirty="0">
              <a:solidFill>
                <a:srgbClr val="C00000"/>
              </a:solidFill>
              <a:latin typeface="Aptos" panose="020B00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200" dirty="0">
                <a:latin typeface="Aptos" panose="020B0004020202020204" pitchFamily="34" charset="0"/>
              </a:rPr>
              <a:t>✗ No confidentiality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latin typeface="Aptos" panose="020B0004020202020204" pitchFamily="34" charset="0"/>
              </a:rPr>
              <a:t>✗ Complex key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06B84F-BF1B-A236-BF8B-2341EB4746B5}"/>
              </a:ext>
            </a:extLst>
          </p:cNvPr>
          <p:cNvSpPr txBox="1"/>
          <p:nvPr/>
        </p:nvSpPr>
        <p:spPr>
          <a:xfrm>
            <a:off x="3048681" y="5546956"/>
            <a:ext cx="60946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ptos" panose="020B0004020202020204" pitchFamily="34" charset="0"/>
              </a:rPr>
              <a:t>DoT + DNSSEC: Best of both worlds!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46DDF-C09C-2C4C-D3F4-FB226BC1E1DB}"/>
              </a:ext>
            </a:extLst>
          </p:cNvPr>
          <p:cNvSpPr txBox="1"/>
          <p:nvPr/>
        </p:nvSpPr>
        <p:spPr>
          <a:xfrm>
            <a:off x="696005" y="2174810"/>
            <a:ext cx="5476195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b="1" dirty="0">
                <a:latin typeface="Aptos" panose="020B0004020202020204" pitchFamily="34" charset="0"/>
              </a:rPr>
              <a:t>DoT (DNS over TLS):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rgbClr val="C00000"/>
                </a:solidFill>
                <a:latin typeface="Aptos" panose="020B0004020202020204" pitchFamily="34" charset="0"/>
              </a:rPr>
              <a:t>✓ Provides confidentiality (privacy)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solidFill>
                  <a:srgbClr val="C00000"/>
                </a:solidFill>
                <a:latin typeface="Aptos" panose="020B0004020202020204" pitchFamily="34" charset="0"/>
              </a:rPr>
              <a:t>✓ Protects against on-path eavesdropping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latin typeface="Aptos" panose="020B0004020202020204" pitchFamily="34" charset="0"/>
              </a:rPr>
              <a:t>✗ Requires trust in recursive resolver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latin typeface="Aptos" panose="020B0004020202020204" pitchFamily="34" charset="0"/>
              </a:rPr>
              <a:t>✗ No authentication of DNS data</a:t>
            </a:r>
          </a:p>
          <a:p>
            <a:pPr>
              <a:spcAft>
                <a:spcPts val="600"/>
              </a:spcAft>
            </a:pPr>
            <a:endParaRPr lang="en-US" sz="2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700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5B6CBB86882542AB032FE548B4EA1A" ma:contentTypeVersion="10" ma:contentTypeDescription="Create a new document." ma:contentTypeScope="" ma:versionID="d6e8d08ee3c6b576d51a5320307b8ee1">
  <xsd:schema xmlns:xsd="http://www.w3.org/2001/XMLSchema" xmlns:xs="http://www.w3.org/2001/XMLSchema" xmlns:p="http://schemas.microsoft.com/office/2006/metadata/properties" xmlns:ns3="0e70c4a7-f69d-46c6-b829-90bba8c1b9c4" xmlns:ns4="e48512d0-ff1e-42a7-8f1f-8e24f6f961a5" targetNamespace="http://schemas.microsoft.com/office/2006/metadata/properties" ma:root="true" ma:fieldsID="723c920085a2c893ebecf65ec916eb42" ns3:_="" ns4:_="">
    <xsd:import namespace="0e70c4a7-f69d-46c6-b829-90bba8c1b9c4"/>
    <xsd:import namespace="e48512d0-ff1e-42a7-8f1f-8e24f6f961a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70c4a7-f69d-46c6-b829-90bba8c1b9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8512d0-ff1e-42a7-8f1f-8e24f6f961a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e70c4a7-f69d-46c6-b829-90bba8c1b9c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CBB6049-1B53-4462-9FDE-21A9C605AC1D}">
  <ds:schemaRefs>
    <ds:schemaRef ds:uri="0e70c4a7-f69d-46c6-b829-90bba8c1b9c4"/>
    <ds:schemaRef ds:uri="e48512d0-ff1e-42a7-8f1f-8e24f6f961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1465355-C6F0-4DF9-83CD-590B4B0EF542}">
  <ds:schemaRefs>
    <ds:schemaRef ds:uri="http://schemas.microsoft.com/office/2006/metadata/properties"/>
    <ds:schemaRef ds:uri="http://purl.org/dc/terms/"/>
    <ds:schemaRef ds:uri="http://purl.org/dc/elements/1.1/"/>
    <ds:schemaRef ds:uri="0e70c4a7-f69d-46c6-b829-90bba8c1b9c4"/>
    <ds:schemaRef ds:uri="http://schemas.openxmlformats.org/package/2006/metadata/core-properties"/>
    <ds:schemaRef ds:uri="e48512d0-ff1e-42a7-8f1f-8e24f6f961a5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F50F21E-194D-40F1-9CE6-6B0E264C6B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3335</TotalTime>
  <Words>4064</Words>
  <Application>Microsoft Office PowerPoint</Application>
  <PresentationFormat>Widescreen</PresentationFormat>
  <Paragraphs>535</Paragraphs>
  <Slides>34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Aptos Display (Headings)</vt:lpstr>
      <vt:lpstr>Courier</vt:lpstr>
      <vt:lpstr>Aptos</vt:lpstr>
      <vt:lpstr>Aptos Display</vt:lpstr>
      <vt:lpstr>Arial</vt:lpstr>
      <vt:lpstr>Calibri</vt:lpstr>
      <vt:lpstr>Courier New</vt:lpstr>
      <vt:lpstr>Office Theme</vt:lpstr>
      <vt:lpstr>Simple Light</vt:lpstr>
      <vt:lpstr>CSC 3511 Security and Networking</vt:lpstr>
      <vt:lpstr>PowerPoint Presentation</vt:lpstr>
      <vt:lpstr>Week 3 Lecture 1: DNS</vt:lpstr>
      <vt:lpstr>Week 9 Lecture 1: DNS Cache Poisoning Attacks</vt:lpstr>
      <vt:lpstr>Week 9 Lecture 1: Kaminsky Attack</vt:lpstr>
      <vt:lpstr>PowerPoint Presentation</vt:lpstr>
      <vt:lpstr>Securing DNS Lookups: What do we Really Need?</vt:lpstr>
      <vt:lpstr>DNS over TLS</vt:lpstr>
      <vt:lpstr>DNS over TLS: Issues</vt:lpstr>
      <vt:lpstr>DNS over TLS in Practice</vt:lpstr>
      <vt:lpstr>DNS over TLS: Object Security and Channel Security</vt:lpstr>
      <vt:lpstr>PowerPoint Presentation</vt:lpstr>
      <vt:lpstr>DNSSEC</vt:lpstr>
      <vt:lpstr>DNSSEC from Scratch: Let’s Build it Together</vt:lpstr>
      <vt:lpstr>DNSSEC from Scratch: Let’s Build it Together</vt:lpstr>
      <vt:lpstr>DNSSEC from Scratch: Let’s Build it Together</vt:lpstr>
      <vt:lpstr>PowerPoint Presentation</vt:lpstr>
      <vt:lpstr>PowerPoint Presentation</vt:lpstr>
      <vt:lpstr>PowerPoint Presentation</vt:lpstr>
      <vt:lpstr>DNSSEC Lookup Steps</vt:lpstr>
      <vt:lpstr>DNSSEC Lookup Steps</vt:lpstr>
      <vt:lpstr>DNSSEC Lookup 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DNSSEC: Signing Non-Existent Domains</vt:lpstr>
      <vt:lpstr>PowerPoint Presentation</vt:lpstr>
      <vt:lpstr>PowerPoint Presentation</vt:lpstr>
      <vt:lpstr>DNSSEC in Practice</vt:lpstr>
      <vt:lpstr>DNSSEC: 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DNS</dc:title>
  <dc:creator>Liao, Zhonghao [E CPE]</dc:creator>
  <cp:lastModifiedBy>Liao, Zhonghao</cp:lastModifiedBy>
  <cp:revision>231</cp:revision>
  <dcterms:created xsi:type="dcterms:W3CDTF">2024-04-02T16:03:09Z</dcterms:created>
  <dcterms:modified xsi:type="dcterms:W3CDTF">2025-11-20T17:38:48Z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0x010100EF5B6CBB86882542AB032FE548B4EA1A</vt:lpwstr>
  </property>
</Properties>
</file>