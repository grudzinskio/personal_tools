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1410" r:id="rId3"/>
    <p:sldId id="1411" r:id="rId4"/>
    <p:sldId id="1231" r:id="rId5"/>
    <p:sldId id="1412" r:id="rId6"/>
    <p:sldId id="1413" r:id="rId7"/>
    <p:sldId id="1414" r:id="rId8"/>
    <p:sldId id="1416" r:id="rId9"/>
    <p:sldId id="1417" r:id="rId10"/>
    <p:sldId id="1418" r:id="rId11"/>
    <p:sldId id="1419" r:id="rId12"/>
    <p:sldId id="1420" r:id="rId13"/>
    <p:sldId id="1421" r:id="rId14"/>
    <p:sldId id="1422" r:id="rId15"/>
    <p:sldId id="1415" r:id="rId16"/>
    <p:sldId id="1423" r:id="rId17"/>
    <p:sldId id="1424" r:id="rId18"/>
    <p:sldId id="1426" r:id="rId19"/>
    <p:sldId id="1427" r:id="rId20"/>
    <p:sldId id="1428" r:id="rId21"/>
    <p:sldId id="1429" r:id="rId22"/>
    <p:sldId id="1430" r:id="rId23"/>
    <p:sldId id="1431" r:id="rId24"/>
    <p:sldId id="1432" r:id="rId25"/>
    <p:sldId id="1433" r:id="rId26"/>
    <p:sldId id="1436" r:id="rId27"/>
    <p:sldId id="143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643" autoAdjust="0"/>
  </p:normalViewPr>
  <p:slideViewPr>
    <p:cSldViewPr snapToGrid="0">
      <p:cViewPr varScale="1">
        <p:scale>
          <a:sx n="76" d="100"/>
          <a:sy n="76" d="100"/>
        </p:scale>
        <p:origin x="2213" y="67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8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325D3-F1C7-4B36-A88F-5BFB155084BF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CB26F-7BF5-4DA6-BA18-A0B7008BF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89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IHL concrete examples: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IHL (Bin)	IHL value (Dec)	Calculation		Actual header length</a:t>
            </a:r>
            <a:br>
              <a:rPr lang="en-US" dirty="0"/>
            </a:br>
            <a:r>
              <a:rPr lang="en-US" dirty="0"/>
              <a:t>0101	5		5 × 4 bytes		</a:t>
            </a:r>
            <a:r>
              <a:rPr lang="en-US" b="0" dirty="0"/>
              <a:t>20 bytes (minimum, no options)</a:t>
            </a:r>
          </a:p>
          <a:p>
            <a:r>
              <a:rPr lang="en-US" b="0" dirty="0"/>
              <a:t>1010	10		10 × 4 bytes		40 bytes</a:t>
            </a:r>
          </a:p>
          <a:p>
            <a:pPr marL="228600" indent="-228600">
              <a:buAutoNum type="arabicPlain" startAt="1111"/>
            </a:pPr>
            <a:r>
              <a:rPr lang="en-US" b="0" dirty="0"/>
              <a:t>                15		15 × 4 bytes		60 bytes (maximum)</a:t>
            </a:r>
          </a:p>
          <a:p>
            <a:pPr marL="228600" indent="-228600">
              <a:buAutoNum type="arabicPlain" startAt="1111"/>
            </a:pPr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2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host typically uses one of these strategies:</a:t>
            </a:r>
          </a:p>
          <a:p>
            <a:pPr marL="228600" indent="-228600">
              <a:buAutoNum type="arabicPeriod"/>
            </a:pPr>
            <a:r>
              <a:rPr lang="en-US" dirty="0"/>
              <a:t>Simple counter (most common): </a:t>
            </a:r>
          </a:p>
          <a:p>
            <a:pPr marL="685800" lvl="1" indent="-228600">
              <a:buAutoNum type="arabicPeriod"/>
            </a:pPr>
            <a:r>
              <a:rPr lang="en-US" dirty="0"/>
              <a:t>Start at some value (often random); </a:t>
            </a:r>
          </a:p>
          <a:p>
            <a:pPr marL="685800" lvl="1" indent="-228600">
              <a:buAutoNum type="arabicPeriod"/>
            </a:pPr>
            <a:r>
              <a:rPr lang="en-US" dirty="0"/>
              <a:t>Increment by 1 for each packet sent; </a:t>
            </a:r>
          </a:p>
          <a:p>
            <a:pPr marL="685800" lvl="1" indent="-228600">
              <a:buAutoNum type="arabicPeriod"/>
            </a:pPr>
            <a:r>
              <a:rPr lang="en-US" dirty="0"/>
              <a:t>Wraps around at 65,535 (16 bits)</a:t>
            </a:r>
          </a:p>
          <a:p>
            <a:pPr marL="228600" indent="-228600">
              <a:buAutoNum type="arabicPeriod"/>
            </a:pPr>
            <a:r>
              <a:rPr lang="en-US" dirty="0"/>
              <a:t>Per-destination counter: </a:t>
            </a:r>
          </a:p>
          <a:p>
            <a:pPr marL="685800" lvl="1" indent="-228600">
              <a:buAutoNum type="arabicPeriod"/>
            </a:pPr>
            <a:r>
              <a:rPr lang="en-US" dirty="0"/>
              <a:t>Different counter for each destination </a:t>
            </a:r>
          </a:p>
          <a:p>
            <a:pPr marL="685800" lvl="1" indent="-228600">
              <a:buAutoNum type="arabicPeriod"/>
            </a:pPr>
            <a:r>
              <a:rPr lang="en-US" dirty="0"/>
              <a:t>Helps avoid ID conflicts</a:t>
            </a:r>
          </a:p>
          <a:p>
            <a:pPr marL="228600" lvl="0" indent="-228600">
              <a:buAutoNum type="arabicPeriod"/>
            </a:pPr>
            <a:r>
              <a:rPr lang="en-US" dirty="0"/>
              <a:t>Random (less common):</a:t>
            </a:r>
          </a:p>
          <a:p>
            <a:pPr marL="685800" lvl="1" indent="-228600">
              <a:buAutoNum type="arabicPeriod"/>
            </a:pPr>
            <a:r>
              <a:rPr lang="en-US" dirty="0"/>
              <a:t>Generate random ID for each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74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98F-B827-13AD-265C-514C2162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41564-4F01-3DA7-30A5-41B69602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C639-4AB9-F4D6-CFBA-209FE857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7A7F-9979-7B59-A463-DCEBBA95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0F76-7128-32CE-27E0-EA7B842C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79D5-059D-19DB-300F-B545C4C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1340-A1E9-7CE3-85EA-7F1CF2ED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81CF-4E42-18FC-F8CF-942C82B5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239-A774-E47F-618D-51D208E6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B347-A921-E0AB-5A62-7830ED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AE5C-05CB-8274-A918-075C19B6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43FC-A248-C72E-7C55-AF40C95C9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89F5-84BE-3CEF-33F5-F2CA26EE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C82B-F092-F737-C6EC-4508B148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E09F0-8AE5-6C3F-D940-15869CCF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2350-D4AF-4F3C-CEE2-B8734DE1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F635-D032-EB3F-AA91-8B6201523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6D8E9-1DD1-0647-572D-88AADC9B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C9E6-F832-C7D5-DD5F-43E7579F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2CA5-C7DE-C955-B48A-7E0F3888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908E-669F-CB28-260B-78354401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4474-5433-09FA-BE28-C0DC57B6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AD488-42FB-58FC-4155-0D56C39B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34D41-5957-DB0E-CB35-AC6249E0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25178-5D33-EBD1-4C79-986B42DA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3E2A5-4A98-031A-250D-CBFB1D93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BD9DE-6FA7-D067-18F3-C04BBCDB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D33E4-2E0D-1662-B7BF-20E78E7C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DC47E-1E21-2424-6A7B-315D8AA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A65-C705-E6A3-485D-408F56B8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69A2-CE3D-6E6E-685B-1FE020EA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84AF1-31C9-84AC-0250-05744141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3C2AA-F699-ED5D-9FBA-C19002E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332F3-879F-BB3B-698B-B2739723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113C-0FB8-0400-99D8-6F134830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B956-7068-44C2-B72A-60BB293D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8B4E-A384-E57E-E42B-8DF0137C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5B01-185E-04BB-14A7-B258CA51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228C-5F12-7AF1-FC9F-8C1032F39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1407C-424A-E815-0FAD-6132348E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F71BD-8573-007D-3858-3535CBA0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0FE8-99A5-4546-F000-62538D6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2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AFE-88EA-C3CA-5268-51CB9598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2BC8C-DCDC-6F3B-EC4D-AD7E7D77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F378A-43F4-65AF-61DB-1B261A99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5D82-7B33-82FC-4CC1-372A7E7A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8B4F-C700-D100-E550-F1A34A23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C4BE6-38EC-0ED9-64CD-D1DBED13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76C-A078-6711-FF3C-E68ACE03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0CDEF-7F11-C385-F99C-1D079A46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33E6-8B7A-63A7-4B43-936C9C06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FD48-7F8C-2C53-C6E5-51FBBC2B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E807-0A14-F9E7-D3C4-243C242B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3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52A6E-A9A4-3335-FD57-B09080704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A70CC-412C-59DD-E5F3-0B522209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2B3D-CE4D-9039-CF20-3EA5A25A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CD87-FDF1-2A7A-1BE7-FA7D6B71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DFF-8601-30EC-83EF-AD74CA7E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7597A-B7A8-059C-160C-EC7CE288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34A4-186E-5F01-1F5B-80DF3841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DDF5-E321-EF03-3E6D-64F457503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72AB9-64A1-45BC-9C9A-78E398D2F99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1B2B9-24D1-3FFE-9B16-BFA0BAC7B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9AEC6-3A77-F298-9C68-54B2F0065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4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X.25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6, Lecture 1: IP Header and IP Security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AEDC7-CF31-2F1C-D6CD-ECD2EFD8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3EF8-136D-1232-52F9-C7E666108528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2525F1-5E8E-BBFF-8759-00A7CD399EDA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IP(v4) Header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Security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8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5588D405-DD4D-A6D1-4A54-408C84513094}"/>
              </a:ext>
            </a:extLst>
          </p:cNvPr>
          <p:cNvSpPr txBox="1">
            <a:spLocks/>
          </p:cNvSpPr>
          <p:nvPr/>
        </p:nvSpPr>
        <p:spPr>
          <a:xfrm>
            <a:off x="869429" y="137652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IP Header Design Goals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2B8F7F0E-FD63-15CE-9CD9-F4FCD8E8641C}"/>
              </a:ext>
            </a:extLst>
          </p:cNvPr>
          <p:cNvSpPr txBox="1">
            <a:spLocks/>
          </p:cNvSpPr>
          <p:nvPr/>
        </p:nvSpPr>
        <p:spPr>
          <a:xfrm>
            <a:off x="804793" y="1163699"/>
            <a:ext cx="10517777" cy="5030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Think of the IP header as an interface: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Forwarding and routing: allows the source and intermediate routers to exchange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Data exchange: allows the source and destination to exchange information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Design goals: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Small: A larger IP header makes every single IP packet (IP datagram) larger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Simple: Routers have to process packets quickly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What fields are in the IP header?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It depends on what tasks IP needs to perform</a:t>
            </a:r>
          </a:p>
        </p:txBody>
      </p:sp>
    </p:spTree>
    <p:extLst>
      <p:ext uri="{BB962C8B-B14F-4D97-AF65-F5344CB8AC3E}">
        <p14:creationId xmlns:p14="http://schemas.microsoft.com/office/powerpoint/2010/main" val="116637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793" y="190760"/>
            <a:ext cx="11179629" cy="894622"/>
          </a:xfrm>
        </p:spPr>
        <p:txBody>
          <a:bodyPr/>
          <a:lstStyle/>
          <a:p>
            <a:r>
              <a:rPr lang="en-US" b="0">
                <a:latin typeface="+mn-lt"/>
              </a:rPr>
              <a:t>Introducing the IP Header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34054-BE9C-4A43-8306-0923F9B633E0}"/>
              </a:ext>
            </a:extLst>
          </p:cNvPr>
          <p:cNvSpPr txBox="1"/>
          <p:nvPr/>
        </p:nvSpPr>
        <p:spPr>
          <a:xfrm>
            <a:off x="6394607" y="1102046"/>
            <a:ext cx="541555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/>
              <a:t>Our goal: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Understand the fields in IP header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Understand the design choices in making this header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675275ED-471B-0FC0-2C62-2B2A3D8EED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4316857"/>
              </p:ext>
            </p:extLst>
          </p:nvPr>
        </p:nvGraphicFramePr>
        <p:xfrm>
          <a:off x="804793" y="3642766"/>
          <a:ext cx="9971360" cy="28956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490B62F-7A08-08CF-5B35-CCE735C71BF8}"/>
              </a:ext>
            </a:extLst>
          </p:cNvPr>
          <p:cNvGrpSpPr/>
          <p:nvPr/>
        </p:nvGrpSpPr>
        <p:grpSpPr>
          <a:xfrm>
            <a:off x="804791" y="3089883"/>
            <a:ext cx="9971359" cy="430887"/>
            <a:chOff x="4324123" y="1145724"/>
            <a:chExt cx="3935412" cy="430887"/>
          </a:xfrm>
        </p:grpSpPr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5F16FDD6-9469-EC11-6C75-445909D50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CD818E9C-FBD6-1B69-BF53-3D990CF65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A5E81DC0-A6D4-19F4-74CA-36C3681B6F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" name="Google Shape;685;p58">
            <a:extLst>
              <a:ext uri="{FF2B5EF4-FFF2-40B4-BE49-F238E27FC236}">
                <a16:creationId xmlns:a16="http://schemas.microsoft.com/office/drawing/2014/main" id="{5B747D07-DB29-5294-DF25-C73E811C5D10}"/>
              </a:ext>
            </a:extLst>
          </p:cNvPr>
          <p:cNvSpPr txBox="1"/>
          <p:nvPr/>
        </p:nvSpPr>
        <p:spPr>
          <a:xfrm rot="5400000">
            <a:off x="10309806" y="4650074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BE4224-556E-3E7A-B246-4CAE1E34F7F3}"/>
              </a:ext>
            </a:extLst>
          </p:cNvPr>
          <p:cNvCxnSpPr>
            <a:cxnSpLocks/>
          </p:cNvCxnSpPr>
          <p:nvPr/>
        </p:nvCxnSpPr>
        <p:spPr>
          <a:xfrm>
            <a:off x="10776150" y="3642766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9934FC-711C-1EFC-7BF2-DE3F47CE5F9C}"/>
              </a:ext>
            </a:extLst>
          </p:cNvPr>
          <p:cNvCxnSpPr>
            <a:cxnSpLocks/>
          </p:cNvCxnSpPr>
          <p:nvPr/>
        </p:nvCxnSpPr>
        <p:spPr>
          <a:xfrm>
            <a:off x="10776150" y="6119016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Google Shape;682;p58">
            <a:extLst>
              <a:ext uri="{FF2B5EF4-FFF2-40B4-BE49-F238E27FC236}">
                <a16:creationId xmlns:a16="http://schemas.microsoft.com/office/drawing/2014/main" id="{D56F332B-82C6-E0DB-6DA1-EAB5EF7B1AC0}"/>
              </a:ext>
            </a:extLst>
          </p:cNvPr>
          <p:cNvSpPr txBox="1"/>
          <p:nvPr/>
        </p:nvSpPr>
        <p:spPr>
          <a:xfrm>
            <a:off x="10776150" y="6076814"/>
            <a:ext cx="141585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IP Payload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B33E26-FA41-CE1A-42D1-A1271E2D8D39}"/>
              </a:ext>
            </a:extLst>
          </p:cNvPr>
          <p:cNvCxnSpPr>
            <a:cxnSpLocks/>
          </p:cNvCxnSpPr>
          <p:nvPr/>
        </p:nvCxnSpPr>
        <p:spPr>
          <a:xfrm>
            <a:off x="10776150" y="6519626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62A579-29DB-183A-6DC8-3CEFF6555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41924"/>
            <a:ext cx="6290632" cy="2291417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Font typeface="Wingdings" charset="2"/>
              <a:buNone/>
              <a:defRPr/>
            </a:pPr>
            <a:r>
              <a:rPr lang="en-US" sz="2000" b="1" i="1" dirty="0"/>
              <a:t>What IP does (functions):</a:t>
            </a:r>
          </a:p>
          <a:p>
            <a:pPr>
              <a:spcAft>
                <a:spcPts val="600"/>
              </a:spcAft>
              <a:defRPr/>
            </a:pPr>
            <a:r>
              <a:rPr lang="en-US" sz="2000" b="1" i="1" dirty="0"/>
              <a:t>Addressing</a:t>
            </a:r>
            <a:r>
              <a:rPr lang="en-US" sz="2000" dirty="0"/>
              <a:t>: IP addr, addr configuration &amp; translation</a:t>
            </a:r>
          </a:p>
          <a:p>
            <a:pPr>
              <a:spcAft>
                <a:spcPts val="600"/>
              </a:spcAft>
              <a:defRPr/>
            </a:pPr>
            <a:r>
              <a:rPr lang="en-US" sz="2000" b="1" i="1" dirty="0"/>
              <a:t>Encapsulation</a:t>
            </a:r>
            <a:r>
              <a:rPr lang="en-US" sz="2000" dirty="0"/>
              <a:t>: Wraps segments in IP datagrams</a:t>
            </a:r>
            <a:endParaRPr lang="en-US" sz="2000" i="1" dirty="0"/>
          </a:p>
          <a:p>
            <a:pPr>
              <a:spcAft>
                <a:spcPts val="600"/>
              </a:spcAft>
              <a:defRPr/>
            </a:pPr>
            <a:r>
              <a:rPr lang="en-US" sz="2000" b="1" i="1" dirty="0"/>
              <a:t>Forwarding</a:t>
            </a:r>
            <a:r>
              <a:rPr lang="en-US" sz="2000" dirty="0"/>
              <a:t>: Moves packets hop-by-hop</a:t>
            </a:r>
          </a:p>
          <a:p>
            <a:pPr>
              <a:spcAft>
                <a:spcPts val="600"/>
              </a:spcAft>
              <a:defRPr/>
            </a:pPr>
            <a:r>
              <a:rPr lang="en-US" sz="2000" i="1" dirty="0"/>
              <a:t>Fragmentation</a:t>
            </a:r>
            <a:r>
              <a:rPr lang="en-US" sz="2000" dirty="0"/>
              <a:t>: Breaks/reassembles packets</a:t>
            </a:r>
          </a:p>
        </p:txBody>
      </p:sp>
    </p:spTree>
    <p:extLst>
      <p:ext uri="{BB962C8B-B14F-4D97-AF65-F5344CB8AC3E}">
        <p14:creationId xmlns:p14="http://schemas.microsoft.com/office/powerpoint/2010/main" val="413739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187A-D9A8-F797-C91B-9A079AB16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1CBA63B3-AB72-5B87-CD3D-46EA5A339A38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IP Tasks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5FD2566D-A26A-E539-5016-6023BF7EAA38}"/>
              </a:ext>
            </a:extLst>
          </p:cNvPr>
          <p:cNvSpPr txBox="1">
            <a:spLocks/>
          </p:cNvSpPr>
          <p:nvPr/>
        </p:nvSpPr>
        <p:spPr>
          <a:xfrm>
            <a:off x="804793" y="1163699"/>
            <a:ext cx="10517777" cy="5030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IP functionality can be classified into 6 tasks. Some tasks are done by only routers or the destination host; Others are done by both: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Parse the packet (both router and destination)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Forward packet to the next hop (router only)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Tell the destination what to do next (destination only)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Send responses back to the source  (both router and destination)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Handle errors (both router and destination)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Specify any special packet handling (both router and destination)</a:t>
            </a:r>
          </a:p>
        </p:txBody>
      </p:sp>
    </p:spTree>
    <p:extLst>
      <p:ext uri="{BB962C8B-B14F-4D97-AF65-F5344CB8AC3E}">
        <p14:creationId xmlns:p14="http://schemas.microsoft.com/office/powerpoint/2010/main" val="2380221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345C-0AA4-401B-790F-03BE5EA5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2844E461-31CF-F8E2-4610-1B25A2307A2F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1: Parse the Packet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0794678C-F894-E4E0-0104-F6FB4677DD16}"/>
              </a:ext>
            </a:extLst>
          </p:cNvPr>
          <p:cNvSpPr txBox="1">
            <a:spLocks/>
          </p:cNvSpPr>
          <p:nvPr/>
        </p:nvSpPr>
        <p:spPr>
          <a:xfrm>
            <a:off x="-1" y="1166199"/>
            <a:ext cx="6844749" cy="18876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dirty="0"/>
              <a:t>Version: What version of IP?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Header length (Internet Header Length (IHL)):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A </a:t>
            </a:r>
            <a:r>
              <a:rPr lang="en-US" sz="2000" b="1" i="1" dirty="0">
                <a:solidFill>
                  <a:srgbClr val="C00000"/>
                </a:solidFill>
              </a:rPr>
              <a:t>4-bit</a:t>
            </a:r>
            <a:r>
              <a:rPr lang="en-US" sz="2000" dirty="0"/>
              <a:t> field called IHL that specifies the header length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Each value represents </a:t>
            </a:r>
            <a:r>
              <a:rPr lang="en-US" sz="2000" b="1" dirty="0"/>
              <a:t>4 bytes </a:t>
            </a:r>
            <a:r>
              <a:rPr lang="en-US" sz="2000" dirty="0"/>
              <a:t>instead of 1 byte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AB92473D-4DCF-3D4D-641C-9DC8494E0A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511299"/>
              </p:ext>
            </p:extLst>
          </p:nvPr>
        </p:nvGraphicFramePr>
        <p:xfrm>
          <a:off x="1110319" y="3002393"/>
          <a:ext cx="9971360" cy="4136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5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 b="1" dirty="0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A3DA6A7-3D8C-AB35-DEE9-C616BF5C98BC}"/>
              </a:ext>
            </a:extLst>
          </p:cNvPr>
          <p:cNvSpPr txBox="1"/>
          <p:nvPr/>
        </p:nvSpPr>
        <p:spPr>
          <a:xfrm>
            <a:off x="6685746" y="1166199"/>
            <a:ext cx="51757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Total length (measured in bytes):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Total Length = IP Header Length + IP Payload Length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Where does the packet end?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A6B8EF-0711-4530-9868-36A0B51F0B0B}"/>
              </a:ext>
            </a:extLst>
          </p:cNvPr>
          <p:cNvGrpSpPr/>
          <p:nvPr/>
        </p:nvGrpSpPr>
        <p:grpSpPr>
          <a:xfrm>
            <a:off x="0" y="3547532"/>
            <a:ext cx="6844748" cy="2474891"/>
            <a:chOff x="0" y="4383109"/>
            <a:chExt cx="6844748" cy="247489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45C1D12-BAA7-63DB-BDDE-11AE19666B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842" r="17874" b="11131"/>
            <a:stretch>
              <a:fillRect/>
            </a:stretch>
          </p:blipFill>
          <p:spPr bwMode="auto">
            <a:xfrm>
              <a:off x="0" y="4383109"/>
              <a:ext cx="6844748" cy="2474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6C0B0A3-E357-721A-6104-CFE9C07FE060}"/>
                </a:ext>
              </a:extLst>
            </p:cNvPr>
            <p:cNvSpPr/>
            <p:nvPr/>
          </p:nvSpPr>
          <p:spPr>
            <a:xfrm>
              <a:off x="238539" y="4523655"/>
              <a:ext cx="3200400" cy="412336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1CF93A7-9790-F965-4FE0-2E6A58F23CE1}"/>
                </a:ext>
              </a:extLst>
            </p:cNvPr>
            <p:cNvSpPr/>
            <p:nvPr/>
          </p:nvSpPr>
          <p:spPr>
            <a:xfrm>
              <a:off x="305214" y="5208217"/>
              <a:ext cx="6380532" cy="840157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FF87501-508E-C7DD-FAA7-9F9ADF453CF3}"/>
              </a:ext>
            </a:extLst>
          </p:cNvPr>
          <p:cNvSpPr txBox="1"/>
          <p:nvPr/>
        </p:nvSpPr>
        <p:spPr>
          <a:xfrm>
            <a:off x="7083287" y="3648895"/>
            <a:ext cx="510871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“Malformed Packet: IPv4”</a:t>
            </a:r>
            <a:r>
              <a:rPr lang="en-US" b="1" dirty="0"/>
              <a:t>:</a:t>
            </a:r>
          </a:p>
          <a:p>
            <a:r>
              <a:rPr lang="en-US" dirty="0"/>
              <a:t>Wireshark detected something wrong</a:t>
            </a:r>
            <a:endParaRPr lang="en-US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Packet capture error: Only part of the packet was captured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Network corruption: Packet was damaged in transit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Malicious packet: Deliberately crafted to be malformed, etc.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888ECD63-74A3-2AC4-690E-C805FED40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20" y="6056245"/>
            <a:ext cx="11413958" cy="775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healthy IP packet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you'd see something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ea typeface="var(--font-mono)"/>
              </a:rPr>
              <a:t>IHL: (0101) 20 bytes Total Length: 1500 bytes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ea typeface="var(--font-mono)"/>
                <a:sym typeface="Wingdings" panose="05000000000000000000" pitchFamily="2" charset="2"/>
              </a:rPr>
              <a:t>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ea typeface="var(--font-mono)"/>
              </a:rPr>
              <a:t> IP Payload: 1500 - 20 = 1480 bytes (TCP/UDP/ICMP data)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573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ED8D-115F-A9EB-46CB-67903D9A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73F2B34B-E5CE-E04E-BD19-81D7D71C3C62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2: Forward Packet to Next Hop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399E06C3-104A-0A4D-A4EB-84D94502A231}"/>
              </a:ext>
            </a:extLst>
          </p:cNvPr>
          <p:cNvSpPr txBox="1">
            <a:spLocks/>
          </p:cNvSpPr>
          <p:nvPr/>
        </p:nvSpPr>
        <p:spPr>
          <a:xfrm>
            <a:off x="804793" y="1163700"/>
            <a:ext cx="10517777" cy="1041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Destination </a:t>
            </a:r>
            <a:r>
              <a:rPr lang="en-US" sz="2400" b="1" dirty="0"/>
              <a:t>IP address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508BD544-9247-45CF-1698-0498B83E6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4097001"/>
              </p:ext>
            </p:extLst>
          </p:nvPr>
        </p:nvGraphicFramePr>
        <p:xfrm>
          <a:off x="804795" y="3429000"/>
          <a:ext cx="9971360" cy="28956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6AC848F-8DBA-708A-AC7E-7793D19AF665}"/>
              </a:ext>
            </a:extLst>
          </p:cNvPr>
          <p:cNvGrpSpPr/>
          <p:nvPr/>
        </p:nvGrpSpPr>
        <p:grpSpPr>
          <a:xfrm>
            <a:off x="804793" y="2876117"/>
            <a:ext cx="9971359" cy="430887"/>
            <a:chOff x="4324123" y="1145724"/>
            <a:chExt cx="3935412" cy="430887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CEEECA84-824F-46FC-DA2C-E116E36D0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694E9040-8927-02F1-89FE-FF768287C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C61D1E18-7146-6FDF-98F3-28FCBD6A82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" name="Google Shape;685;p58">
            <a:extLst>
              <a:ext uri="{FF2B5EF4-FFF2-40B4-BE49-F238E27FC236}">
                <a16:creationId xmlns:a16="http://schemas.microsoft.com/office/drawing/2014/main" id="{4846C067-5DCD-7DE0-0584-39DCC72B4596}"/>
              </a:ext>
            </a:extLst>
          </p:cNvPr>
          <p:cNvSpPr txBox="1"/>
          <p:nvPr/>
        </p:nvSpPr>
        <p:spPr>
          <a:xfrm rot="5400000">
            <a:off x="10309808" y="4436308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161594-DC69-FB84-5AD9-DAA9CB87DB32}"/>
              </a:ext>
            </a:extLst>
          </p:cNvPr>
          <p:cNvCxnSpPr>
            <a:cxnSpLocks/>
          </p:cNvCxnSpPr>
          <p:nvPr/>
        </p:nvCxnSpPr>
        <p:spPr>
          <a:xfrm>
            <a:off x="10776152" y="342900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4242FB-2A73-3C55-8013-A5D015F8ED6F}"/>
              </a:ext>
            </a:extLst>
          </p:cNvPr>
          <p:cNvCxnSpPr>
            <a:cxnSpLocks/>
          </p:cNvCxnSpPr>
          <p:nvPr/>
        </p:nvCxnSpPr>
        <p:spPr>
          <a:xfrm>
            <a:off x="10776152" y="590525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682;p58">
            <a:extLst>
              <a:ext uri="{FF2B5EF4-FFF2-40B4-BE49-F238E27FC236}">
                <a16:creationId xmlns:a16="http://schemas.microsoft.com/office/drawing/2014/main" id="{A3E2A1A2-89F2-CA02-83E9-C753882387A8}"/>
              </a:ext>
            </a:extLst>
          </p:cNvPr>
          <p:cNvSpPr txBox="1"/>
          <p:nvPr/>
        </p:nvSpPr>
        <p:spPr>
          <a:xfrm>
            <a:off x="10776152" y="5863048"/>
            <a:ext cx="141585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IP Payload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C4C9-3662-0DF7-5A27-067FD9DB57FC}"/>
              </a:ext>
            </a:extLst>
          </p:cNvPr>
          <p:cNvCxnSpPr>
            <a:cxnSpLocks/>
          </p:cNvCxnSpPr>
          <p:nvPr/>
        </p:nvCxnSpPr>
        <p:spPr>
          <a:xfrm>
            <a:off x="10776152" y="630586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954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32F3-46A6-A2C2-39D5-07C69E0D0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FC57DBE0-FDA4-3FB1-1F32-E2FA962FC17D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3: Tell Destination What to Do Next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DB8DAE7F-2C32-BDB2-AB5E-BD1DDA63AAD9}"/>
              </a:ext>
            </a:extLst>
          </p:cNvPr>
          <p:cNvSpPr txBox="1">
            <a:spLocks/>
          </p:cNvSpPr>
          <p:nvPr/>
        </p:nvSpPr>
        <p:spPr>
          <a:xfrm>
            <a:off x="209706" y="933559"/>
            <a:ext cx="5580767" cy="2259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Protocol field: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Identify the Layer 4 (Transport Layer) protocol to pass the payload to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List of IP protocol numbers: https://en.wikipedia.org/wiki/List_of_IP_protocol_numbers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7BAE0C2E-22D7-3CF3-9054-8471ED1CD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724068"/>
              </p:ext>
            </p:extLst>
          </p:nvPr>
        </p:nvGraphicFramePr>
        <p:xfrm>
          <a:off x="804793" y="3806649"/>
          <a:ext cx="9971360" cy="28956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 b="1" dirty="0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AAE9CE0-FE17-15A6-C457-3CFB8D2F46CB}"/>
              </a:ext>
            </a:extLst>
          </p:cNvPr>
          <p:cNvGrpSpPr/>
          <p:nvPr/>
        </p:nvGrpSpPr>
        <p:grpSpPr>
          <a:xfrm>
            <a:off x="804791" y="3253766"/>
            <a:ext cx="9971359" cy="430887"/>
            <a:chOff x="4324123" y="1145724"/>
            <a:chExt cx="3935412" cy="430887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1EF36E48-3C64-3820-954E-13694EB80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DC973546-D71D-CE8B-2CE5-876C06129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099E2092-7C8A-669E-178E-C4EB75CC49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" name="Google Shape;685;p58">
            <a:extLst>
              <a:ext uri="{FF2B5EF4-FFF2-40B4-BE49-F238E27FC236}">
                <a16:creationId xmlns:a16="http://schemas.microsoft.com/office/drawing/2014/main" id="{0B6A23F2-E9B0-D6F4-D5A7-FCCAB55B1DF0}"/>
              </a:ext>
            </a:extLst>
          </p:cNvPr>
          <p:cNvSpPr txBox="1"/>
          <p:nvPr/>
        </p:nvSpPr>
        <p:spPr>
          <a:xfrm rot="5400000">
            <a:off x="10309806" y="4813957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0E577D-8300-42CC-242F-8080F3A209DD}"/>
              </a:ext>
            </a:extLst>
          </p:cNvPr>
          <p:cNvCxnSpPr>
            <a:cxnSpLocks/>
          </p:cNvCxnSpPr>
          <p:nvPr/>
        </p:nvCxnSpPr>
        <p:spPr>
          <a:xfrm>
            <a:off x="10776150" y="3806649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F67F0B-BA83-A25E-2515-E18EB7651267}"/>
              </a:ext>
            </a:extLst>
          </p:cNvPr>
          <p:cNvCxnSpPr>
            <a:cxnSpLocks/>
          </p:cNvCxnSpPr>
          <p:nvPr/>
        </p:nvCxnSpPr>
        <p:spPr>
          <a:xfrm>
            <a:off x="10776150" y="6282899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682;p58">
            <a:extLst>
              <a:ext uri="{FF2B5EF4-FFF2-40B4-BE49-F238E27FC236}">
                <a16:creationId xmlns:a16="http://schemas.microsoft.com/office/drawing/2014/main" id="{00580241-4032-F13C-6651-BEB2435BFC54}"/>
              </a:ext>
            </a:extLst>
          </p:cNvPr>
          <p:cNvSpPr txBox="1"/>
          <p:nvPr/>
        </p:nvSpPr>
        <p:spPr>
          <a:xfrm>
            <a:off x="10776150" y="6240697"/>
            <a:ext cx="141585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IP Payload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8C4AEF-6443-CE20-0C1B-B9A6AFD65BA3}"/>
              </a:ext>
            </a:extLst>
          </p:cNvPr>
          <p:cNvCxnSpPr>
            <a:cxnSpLocks/>
          </p:cNvCxnSpPr>
          <p:nvPr/>
        </p:nvCxnSpPr>
        <p:spPr>
          <a:xfrm>
            <a:off x="10776150" y="6683509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90DE4CD-7209-559C-86A4-1FE8E6136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984"/>
          <a:stretch>
            <a:fillRect/>
          </a:stretch>
        </p:blipFill>
        <p:spPr>
          <a:xfrm>
            <a:off x="6447990" y="985850"/>
            <a:ext cx="4874580" cy="200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6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CE4F-FC7C-1B28-BB07-5E58154B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5811EB4-38F1-0E06-DF4C-9414E5A3D3A2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3: Tell Destination What to Do Next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CC8229FC-FDCA-F26E-4178-51E3C620FD03}"/>
              </a:ext>
            </a:extLst>
          </p:cNvPr>
          <p:cNvSpPr txBox="1">
            <a:spLocks/>
          </p:cNvSpPr>
          <p:nvPr/>
        </p:nvSpPr>
        <p:spPr>
          <a:xfrm>
            <a:off x="804793" y="1163700"/>
            <a:ext cx="10517777" cy="18876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We need to indicate which protocol should handle the packet next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i="1" dirty="0">
                <a:solidFill>
                  <a:srgbClr val="C00000"/>
                </a:solidFill>
              </a:rPr>
              <a:t>De-multiplexing</a:t>
            </a:r>
            <a:r>
              <a:rPr lang="en-US" sz="2400" dirty="0"/>
              <a:t>: Picking one of several possible Layer 4 protocols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3D05EC-593E-848C-0635-F760AB871C88}"/>
              </a:ext>
            </a:extLst>
          </p:cNvPr>
          <p:cNvGrpSpPr/>
          <p:nvPr/>
        </p:nvGrpSpPr>
        <p:grpSpPr>
          <a:xfrm>
            <a:off x="804793" y="2275828"/>
            <a:ext cx="10355593" cy="4500391"/>
            <a:chOff x="447875" y="1453888"/>
            <a:chExt cx="8118950" cy="3409087"/>
          </a:xfrm>
        </p:grpSpPr>
        <p:sp>
          <p:nvSpPr>
            <p:cNvPr id="14" name="Google Shape;1726;p79">
              <a:extLst>
                <a:ext uri="{FF2B5EF4-FFF2-40B4-BE49-F238E27FC236}">
                  <a16:creationId xmlns:a16="http://schemas.microsoft.com/office/drawing/2014/main" id="{F61E46C7-BE61-DD16-8904-EAE63C3F5B4B}"/>
                </a:ext>
              </a:extLst>
            </p:cNvPr>
            <p:cNvSpPr/>
            <p:nvPr/>
          </p:nvSpPr>
          <p:spPr>
            <a:xfrm>
              <a:off x="788075" y="1453900"/>
              <a:ext cx="1683900" cy="777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IP Header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727;p79">
              <a:extLst>
                <a:ext uri="{FF2B5EF4-FFF2-40B4-BE49-F238E27FC236}">
                  <a16:creationId xmlns:a16="http://schemas.microsoft.com/office/drawing/2014/main" id="{3B192C53-CB13-4FDB-5A46-8A876FED670C}"/>
                </a:ext>
              </a:extLst>
            </p:cNvPr>
            <p:cNvSpPr/>
            <p:nvPr/>
          </p:nvSpPr>
          <p:spPr>
            <a:xfrm>
              <a:off x="788075" y="2230850"/>
              <a:ext cx="1683900" cy="1728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IP Payload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1728;p79">
              <a:extLst>
                <a:ext uri="{FF2B5EF4-FFF2-40B4-BE49-F238E27FC236}">
                  <a16:creationId xmlns:a16="http://schemas.microsoft.com/office/drawing/2014/main" id="{0C217D67-63C8-B9FF-6639-1D8F33E7B49C}"/>
                </a:ext>
              </a:extLst>
            </p:cNvPr>
            <p:cNvSpPr txBox="1"/>
            <p:nvPr/>
          </p:nvSpPr>
          <p:spPr>
            <a:xfrm>
              <a:off x="447875" y="4093625"/>
              <a:ext cx="2364300" cy="769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Without the protocol field, we have no idea what to do with the bits in red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729;p79">
              <a:extLst>
                <a:ext uri="{FF2B5EF4-FFF2-40B4-BE49-F238E27FC236}">
                  <a16:creationId xmlns:a16="http://schemas.microsoft.com/office/drawing/2014/main" id="{6C40FC2A-057F-5E05-58FB-05509D0D7F01}"/>
                </a:ext>
              </a:extLst>
            </p:cNvPr>
            <p:cNvSpPr/>
            <p:nvPr/>
          </p:nvSpPr>
          <p:spPr>
            <a:xfrm>
              <a:off x="3418350" y="1453888"/>
              <a:ext cx="1683900" cy="777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IP Header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Protocol = 6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730;p79">
              <a:extLst>
                <a:ext uri="{FF2B5EF4-FFF2-40B4-BE49-F238E27FC236}">
                  <a16:creationId xmlns:a16="http://schemas.microsoft.com/office/drawing/2014/main" id="{2E8CB4A9-EF24-829D-A7DB-4E58DB7A5D3D}"/>
                </a:ext>
              </a:extLst>
            </p:cNvPr>
            <p:cNvSpPr/>
            <p:nvPr/>
          </p:nvSpPr>
          <p:spPr>
            <a:xfrm>
              <a:off x="3418350" y="2659797"/>
              <a:ext cx="1683900" cy="12990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TCP Payload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1731;p79">
              <a:extLst>
                <a:ext uri="{FF2B5EF4-FFF2-40B4-BE49-F238E27FC236}">
                  <a16:creationId xmlns:a16="http://schemas.microsoft.com/office/drawing/2014/main" id="{99EB33D3-B2C6-057D-BA22-7A54E17E2C0B}"/>
                </a:ext>
              </a:extLst>
            </p:cNvPr>
            <p:cNvSpPr txBox="1"/>
            <p:nvPr/>
          </p:nvSpPr>
          <p:spPr>
            <a:xfrm>
              <a:off x="2979300" y="4093625"/>
              <a:ext cx="2562000" cy="5595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If we see protocol = 6: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Pass the red bits to TCP code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1732;p79">
              <a:extLst>
                <a:ext uri="{FF2B5EF4-FFF2-40B4-BE49-F238E27FC236}">
                  <a16:creationId xmlns:a16="http://schemas.microsoft.com/office/drawing/2014/main" id="{4ED4C4DD-C6C4-581F-7201-F8DFF8FCC3E8}"/>
                </a:ext>
              </a:extLst>
            </p:cNvPr>
            <p:cNvSpPr/>
            <p:nvPr/>
          </p:nvSpPr>
          <p:spPr>
            <a:xfrm>
              <a:off x="6388825" y="1453888"/>
              <a:ext cx="1683900" cy="777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IP Header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Protocol = 17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1733;p79">
              <a:extLst>
                <a:ext uri="{FF2B5EF4-FFF2-40B4-BE49-F238E27FC236}">
                  <a16:creationId xmlns:a16="http://schemas.microsoft.com/office/drawing/2014/main" id="{2942D773-84D8-C1A8-1115-E37E5EF7D893}"/>
                </a:ext>
              </a:extLst>
            </p:cNvPr>
            <p:cNvSpPr/>
            <p:nvPr/>
          </p:nvSpPr>
          <p:spPr>
            <a:xfrm>
              <a:off x="6388825" y="2659797"/>
              <a:ext cx="1683900" cy="12990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UDP Payload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1734;p79">
              <a:extLst>
                <a:ext uri="{FF2B5EF4-FFF2-40B4-BE49-F238E27FC236}">
                  <a16:creationId xmlns:a16="http://schemas.microsoft.com/office/drawing/2014/main" id="{D983FD5A-D979-ED68-3639-D899C6864C19}"/>
                </a:ext>
              </a:extLst>
            </p:cNvPr>
            <p:cNvSpPr/>
            <p:nvPr/>
          </p:nvSpPr>
          <p:spPr>
            <a:xfrm>
              <a:off x="3418350" y="2230898"/>
              <a:ext cx="1683900" cy="429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TCP Header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1735;p79">
              <a:extLst>
                <a:ext uri="{FF2B5EF4-FFF2-40B4-BE49-F238E27FC236}">
                  <a16:creationId xmlns:a16="http://schemas.microsoft.com/office/drawing/2014/main" id="{7F7294D7-9EBB-419C-A8C0-A62AB591E5C8}"/>
                </a:ext>
              </a:extLst>
            </p:cNvPr>
            <p:cNvSpPr/>
            <p:nvPr/>
          </p:nvSpPr>
          <p:spPr>
            <a:xfrm>
              <a:off x="6388825" y="2230898"/>
              <a:ext cx="1683900" cy="429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UDP Header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Google Shape;1736;p79">
              <a:extLst>
                <a:ext uri="{FF2B5EF4-FFF2-40B4-BE49-F238E27FC236}">
                  <a16:creationId xmlns:a16="http://schemas.microsoft.com/office/drawing/2014/main" id="{3F55BDA1-2F4C-1C7E-44E8-67A536E6F8AD}"/>
                </a:ext>
              </a:extLst>
            </p:cNvPr>
            <p:cNvSpPr txBox="1"/>
            <p:nvPr/>
          </p:nvSpPr>
          <p:spPr>
            <a:xfrm>
              <a:off x="5894725" y="4093625"/>
              <a:ext cx="2672100" cy="5595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If we see protocol = 17: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Pass the red bits to UDP code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8746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0986-222F-03AB-9BFB-D6FEB411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34A003DA-6283-95F2-9FFB-4A3ACE56A04C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4: Send Response Back to Source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EEB1BD74-C31F-64AA-7B44-FB10B6887128}"/>
              </a:ext>
            </a:extLst>
          </p:cNvPr>
          <p:cNvSpPr txBox="1">
            <a:spLocks/>
          </p:cNvSpPr>
          <p:nvPr/>
        </p:nvSpPr>
        <p:spPr>
          <a:xfrm>
            <a:off x="804793" y="1163700"/>
            <a:ext cx="10517777" cy="18876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Source IP address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Note: We said both the router and destination might do this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router might want to send a response back to the source too</a:t>
            </a:r>
            <a:br>
              <a:rPr lang="en-US" sz="2400" dirty="0"/>
            </a:br>
            <a:r>
              <a:rPr lang="en-US" sz="2400" dirty="0"/>
              <a:t>(e.g. Ping 10.9.0.7 in Lab 5, an error occurs)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448BC2B4-7113-7FDE-85DC-A2F48D7150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8406464"/>
              </p:ext>
            </p:extLst>
          </p:nvPr>
        </p:nvGraphicFramePr>
        <p:xfrm>
          <a:off x="804793" y="3806649"/>
          <a:ext cx="9971360" cy="28956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kern="1200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 b="1" kern="1200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kern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 kern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F6C1BD9-1F73-ED0F-978E-4E91A0AD724C}"/>
              </a:ext>
            </a:extLst>
          </p:cNvPr>
          <p:cNvGrpSpPr/>
          <p:nvPr/>
        </p:nvGrpSpPr>
        <p:grpSpPr>
          <a:xfrm>
            <a:off x="804791" y="3253766"/>
            <a:ext cx="9971359" cy="430887"/>
            <a:chOff x="4324123" y="1145724"/>
            <a:chExt cx="3935412" cy="430887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3B060721-4773-CCE0-1AD5-26CCB3388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C223D329-BBD2-431C-1568-0DBA1A511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540D452F-F0CC-1C8D-C75A-5FAF3234A0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" name="Google Shape;685;p58">
            <a:extLst>
              <a:ext uri="{FF2B5EF4-FFF2-40B4-BE49-F238E27FC236}">
                <a16:creationId xmlns:a16="http://schemas.microsoft.com/office/drawing/2014/main" id="{6A577122-A23A-A029-B972-E3E4C1B01577}"/>
              </a:ext>
            </a:extLst>
          </p:cNvPr>
          <p:cNvSpPr txBox="1"/>
          <p:nvPr/>
        </p:nvSpPr>
        <p:spPr>
          <a:xfrm rot="5400000">
            <a:off x="10309806" y="4813957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B6A517-A03C-892B-9B82-C50F90EED5D3}"/>
              </a:ext>
            </a:extLst>
          </p:cNvPr>
          <p:cNvCxnSpPr>
            <a:cxnSpLocks/>
          </p:cNvCxnSpPr>
          <p:nvPr/>
        </p:nvCxnSpPr>
        <p:spPr>
          <a:xfrm>
            <a:off x="10776150" y="3806649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8D4E9E-B935-01F5-AA10-9CB874B7711D}"/>
              </a:ext>
            </a:extLst>
          </p:cNvPr>
          <p:cNvCxnSpPr>
            <a:cxnSpLocks/>
          </p:cNvCxnSpPr>
          <p:nvPr/>
        </p:nvCxnSpPr>
        <p:spPr>
          <a:xfrm>
            <a:off x="10776150" y="6282899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682;p58">
            <a:extLst>
              <a:ext uri="{FF2B5EF4-FFF2-40B4-BE49-F238E27FC236}">
                <a16:creationId xmlns:a16="http://schemas.microsoft.com/office/drawing/2014/main" id="{E0139842-6D7E-81F1-7D75-CBD20AAD9496}"/>
              </a:ext>
            </a:extLst>
          </p:cNvPr>
          <p:cNvSpPr txBox="1"/>
          <p:nvPr/>
        </p:nvSpPr>
        <p:spPr>
          <a:xfrm>
            <a:off x="10776150" y="6240697"/>
            <a:ext cx="141585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IP Payload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4AB5E8-2D3B-D780-D024-BB1BD20BF633}"/>
              </a:ext>
            </a:extLst>
          </p:cNvPr>
          <p:cNvCxnSpPr>
            <a:cxnSpLocks/>
          </p:cNvCxnSpPr>
          <p:nvPr/>
        </p:nvCxnSpPr>
        <p:spPr>
          <a:xfrm>
            <a:off x="10776150" y="6683509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0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97428-72D4-692B-4611-467D01F6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890C3905-4910-E9DB-3652-A82D89F253FA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5: Handle Errors - TTL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6C4E4AC7-658F-2F42-709C-EA6286A9C95C}"/>
              </a:ext>
            </a:extLst>
          </p:cNvPr>
          <p:cNvSpPr txBox="1">
            <a:spLocks/>
          </p:cNvSpPr>
          <p:nvPr/>
        </p:nvSpPr>
        <p:spPr>
          <a:xfrm>
            <a:off x="60460" y="1110989"/>
            <a:ext cx="6378440" cy="2132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dirty="0"/>
              <a:t>Problem: Forwarding errors (e.g., loops) cause packets to cycle indefinitely; Wastes bandwidth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dirty="0"/>
              <a:t>Time-to-live (TTL):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Specifies maximum number of hops a packet can take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TTL is decremented at every hop by the router.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2D468902-D47D-434B-3901-BD18933CAC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2498607"/>
              </p:ext>
            </p:extLst>
          </p:nvPr>
        </p:nvGraphicFramePr>
        <p:xfrm>
          <a:off x="804793" y="3910780"/>
          <a:ext cx="9971360" cy="28956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kern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 b="0" kern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kern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 kern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Google Shape;685;p58">
            <a:extLst>
              <a:ext uri="{FF2B5EF4-FFF2-40B4-BE49-F238E27FC236}">
                <a16:creationId xmlns:a16="http://schemas.microsoft.com/office/drawing/2014/main" id="{05D27CFF-7E5F-2FC9-CCA8-B306F88AFD24}"/>
              </a:ext>
            </a:extLst>
          </p:cNvPr>
          <p:cNvSpPr txBox="1"/>
          <p:nvPr/>
        </p:nvSpPr>
        <p:spPr>
          <a:xfrm rot="5400000">
            <a:off x="10309806" y="4918088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12AD45-56EB-A6EF-EBE2-8137A754D0CE}"/>
              </a:ext>
            </a:extLst>
          </p:cNvPr>
          <p:cNvCxnSpPr>
            <a:cxnSpLocks/>
          </p:cNvCxnSpPr>
          <p:nvPr/>
        </p:nvCxnSpPr>
        <p:spPr>
          <a:xfrm>
            <a:off x="10776150" y="391078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6AF8B4-0E88-C707-9F66-0A7B959D2CAB}"/>
              </a:ext>
            </a:extLst>
          </p:cNvPr>
          <p:cNvCxnSpPr>
            <a:cxnSpLocks/>
          </p:cNvCxnSpPr>
          <p:nvPr/>
        </p:nvCxnSpPr>
        <p:spPr>
          <a:xfrm>
            <a:off x="10776150" y="638703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682;p58">
            <a:extLst>
              <a:ext uri="{FF2B5EF4-FFF2-40B4-BE49-F238E27FC236}">
                <a16:creationId xmlns:a16="http://schemas.microsoft.com/office/drawing/2014/main" id="{4334FDD1-D859-83B3-D79C-5560A4253B3A}"/>
              </a:ext>
            </a:extLst>
          </p:cNvPr>
          <p:cNvSpPr txBox="1"/>
          <p:nvPr/>
        </p:nvSpPr>
        <p:spPr>
          <a:xfrm>
            <a:off x="10776150" y="6344828"/>
            <a:ext cx="141585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IP Payload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253CCC-5C98-51A8-3144-84A1887015ED}"/>
              </a:ext>
            </a:extLst>
          </p:cNvPr>
          <p:cNvCxnSpPr>
            <a:cxnSpLocks/>
          </p:cNvCxnSpPr>
          <p:nvPr/>
        </p:nvCxnSpPr>
        <p:spPr>
          <a:xfrm>
            <a:off x="10776150" y="678764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801DF3DC-1214-162E-2AC2-7370E8944C22}"/>
              </a:ext>
            </a:extLst>
          </p:cNvPr>
          <p:cNvGrpSpPr/>
          <p:nvPr/>
        </p:nvGrpSpPr>
        <p:grpSpPr>
          <a:xfrm>
            <a:off x="804791" y="3429000"/>
            <a:ext cx="9971359" cy="430887"/>
            <a:chOff x="4324123" y="1145724"/>
            <a:chExt cx="3935412" cy="430887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BBA10115-D866-5A19-6FC3-0F39D512C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907BDCC5-EFD5-B09A-5C43-4052237F4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89702941-4E54-E948-DBBA-A87DC12F71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08AE531-BDC1-B9FF-5A54-14357ECDE617}"/>
              </a:ext>
            </a:extLst>
          </p:cNvPr>
          <p:cNvSpPr txBox="1"/>
          <p:nvPr/>
        </p:nvSpPr>
        <p:spPr>
          <a:xfrm>
            <a:off x="6713220" y="1223554"/>
            <a:ext cx="531886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If router receives packet with TTL 1: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Router decrements TTL: 1 - 1 = 0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Router sees TTL = 0 after decrementing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Router </a:t>
            </a:r>
            <a:r>
              <a:rPr lang="en-US" sz="2000" b="1" i="1" dirty="0">
                <a:solidFill>
                  <a:srgbClr val="C00000"/>
                </a:solidFill>
              </a:rPr>
              <a:t>drops</a:t>
            </a:r>
            <a:r>
              <a:rPr lang="en-US" sz="2000" dirty="0"/>
              <a:t> the packet and </a:t>
            </a:r>
            <a:r>
              <a:rPr lang="en-US" sz="2000" b="1" i="1" dirty="0">
                <a:solidFill>
                  <a:srgbClr val="C00000"/>
                </a:solidFill>
              </a:rPr>
              <a:t>sends</a:t>
            </a:r>
            <a:r>
              <a:rPr lang="en-US" sz="2000" dirty="0"/>
              <a:t> ICMP “Time Exceeded” packet back to the source</a:t>
            </a:r>
          </a:p>
        </p:txBody>
      </p:sp>
    </p:spTree>
    <p:extLst>
      <p:ext uri="{BB962C8B-B14F-4D97-AF65-F5344CB8AC3E}">
        <p14:creationId xmlns:p14="http://schemas.microsoft.com/office/powerpoint/2010/main" val="529692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909B-5BB4-936D-3EFB-ACF71D68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BBA3537C-953B-82C3-0551-6D2ECB797F8F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5: Handle Errors - Checksum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33296473-A902-C3E3-4A6B-4B0145DCAC57}"/>
              </a:ext>
            </a:extLst>
          </p:cNvPr>
          <p:cNvSpPr txBox="1">
            <a:spLocks/>
          </p:cNvSpPr>
          <p:nvPr/>
        </p:nvSpPr>
        <p:spPr>
          <a:xfrm>
            <a:off x="869429" y="929967"/>
            <a:ext cx="9971361" cy="36939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b="1" i="1" dirty="0"/>
              <a:t>Problem</a:t>
            </a:r>
            <a:r>
              <a:rPr lang="en-US" sz="2000" dirty="0"/>
              <a:t>: The packet could get corrupted in transit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b="1" i="1" dirty="0">
                <a:solidFill>
                  <a:srgbClr val="C00000"/>
                </a:solidFill>
              </a:rPr>
              <a:t>Checksum</a:t>
            </a:r>
            <a:r>
              <a:rPr lang="en-US" sz="2000" dirty="0"/>
              <a:t>: Small number of bits used to verify that data hasn't been corrupted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The checksum is only computed on the </a:t>
            </a:r>
            <a:r>
              <a:rPr lang="en-US" sz="2000" b="1" dirty="0">
                <a:solidFill>
                  <a:srgbClr val="C00000"/>
                </a:solidFill>
              </a:rPr>
              <a:t>IP header</a:t>
            </a:r>
            <a:r>
              <a:rPr lang="en-US" sz="2000" dirty="0"/>
              <a:t>, not the payload (How does TCP/UDP calculate the checksum? </a:t>
            </a:r>
            <a:r>
              <a:rPr lang="en-US" sz="2000" dirty="0">
                <a:sym typeface="Wingdings" panose="05000000000000000000" pitchFamily="2" charset="2"/>
              </a:rPr>
              <a:t> including the pseudo-header, header, and </a:t>
            </a:r>
            <a:r>
              <a:rPr lang="en-US" sz="2000" i="1" dirty="0">
                <a:solidFill>
                  <a:srgbClr val="C00000"/>
                </a:solidFill>
                <a:sym typeface="Wingdings" panose="05000000000000000000" pitchFamily="2" charset="2"/>
              </a:rPr>
              <a:t>payload data</a:t>
            </a:r>
            <a:r>
              <a:rPr lang="en-US" sz="2000" dirty="0"/>
              <a:t>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IP header can't detect the payload being corrupted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Why this design? </a:t>
            </a:r>
            <a:r>
              <a:rPr lang="en-US" sz="2000" b="1" i="1" dirty="0">
                <a:solidFill>
                  <a:srgbClr val="C00000"/>
                </a:solidFill>
              </a:rPr>
              <a:t>End-to-end principle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/>
              <a:t> The payload should be checked by the end hosts, not intermediate routers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The checksum has to be updated at every router: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Why? Because the TTL changes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91CF5BA7-1EC0-1D52-62E3-A2C4F87A31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1651428"/>
              </p:ext>
            </p:extLst>
          </p:nvPr>
        </p:nvGraphicFramePr>
        <p:xfrm>
          <a:off x="869429" y="5400626"/>
          <a:ext cx="9971360" cy="124100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50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 b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28A6364-499A-57CB-E29C-F3F2D1DE706E}"/>
              </a:ext>
            </a:extLst>
          </p:cNvPr>
          <p:cNvGrpSpPr/>
          <p:nvPr/>
        </p:nvGrpSpPr>
        <p:grpSpPr>
          <a:xfrm>
            <a:off x="869430" y="4796823"/>
            <a:ext cx="9971359" cy="430887"/>
            <a:chOff x="4324123" y="1145724"/>
            <a:chExt cx="3935412" cy="430887"/>
          </a:xfrm>
        </p:grpSpPr>
        <p:sp>
          <p:nvSpPr>
            <p:cNvPr id="6" name="Text Box 11">
              <a:extLst>
                <a:ext uri="{FF2B5EF4-FFF2-40B4-BE49-F238E27FC236}">
                  <a16:creationId xmlns:a16="http://schemas.microsoft.com/office/drawing/2014/main" id="{C735C84B-FF4E-64D1-7D56-966A6FA37E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7" name="Line 12">
              <a:extLst>
                <a:ext uri="{FF2B5EF4-FFF2-40B4-BE49-F238E27FC236}">
                  <a16:creationId xmlns:a16="http://schemas.microsoft.com/office/drawing/2014/main" id="{A788983F-F579-0694-BAED-0AD2CF6E3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E715A24B-51A3-2C8B-7A1A-FA4025F165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397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8380C-66DF-637E-C7D0-CCA82DD2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2C40F9EA-B1D1-644C-62DE-F9065CB5B18C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5: Handle Errors - Fragmentation</a:t>
            </a:r>
            <a:endParaRPr lang="en-US">
              <a:latin typeface="+mn-lt"/>
            </a:endParaRPr>
          </a:p>
        </p:txBody>
      </p:sp>
      <p:sp>
        <p:nvSpPr>
          <p:cNvPr id="3" name="Google Shape;1692;p74">
            <a:extLst>
              <a:ext uri="{FF2B5EF4-FFF2-40B4-BE49-F238E27FC236}">
                <a16:creationId xmlns:a16="http://schemas.microsoft.com/office/drawing/2014/main" id="{581DE686-32BA-758F-32EA-C3DBCE0F1DC0}"/>
              </a:ext>
            </a:extLst>
          </p:cNvPr>
          <p:cNvSpPr txBox="1">
            <a:spLocks/>
          </p:cNvSpPr>
          <p:nvPr/>
        </p:nvSpPr>
        <p:spPr>
          <a:xfrm>
            <a:off x="310209" y="867361"/>
            <a:ext cx="11074559" cy="38877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i="1" dirty="0"/>
              <a:t>Problem</a:t>
            </a:r>
            <a:r>
              <a:rPr lang="en-US" sz="2400" dirty="0"/>
              <a:t>: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packet might be too large for a link: IPv4 total length field is 16 bits </a:t>
            </a:r>
            <a:r>
              <a:rPr lang="en-US" sz="2400" dirty="0">
                <a:sym typeface="Wingdings" panose="05000000000000000000" pitchFamily="2" charset="2"/>
              </a:rPr>
              <a:t> Maximum IP packet has 65,535 bytes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Every link has a Maximum Transmission Unit (</a:t>
            </a:r>
            <a:r>
              <a:rPr lang="en-US" sz="2400" dirty="0">
                <a:solidFill>
                  <a:srgbClr val="C00000"/>
                </a:solidFill>
              </a:rPr>
              <a:t>MTU</a:t>
            </a:r>
            <a:r>
              <a:rPr lang="en-US" sz="2400" dirty="0"/>
              <a:t>): Largest number of bits the link can carry as one unit. E.g., Ethernet has an MTU of 1500 bytes, some wide area networks (WANs), such as </a:t>
            </a:r>
            <a:r>
              <a:rPr lang="en-US" sz="2400" dirty="0">
                <a:hlinkClick r:id="rId2"/>
              </a:rPr>
              <a:t>X.25</a:t>
            </a:r>
            <a:r>
              <a:rPr lang="en-US" sz="2400" dirty="0"/>
              <a:t>, have an MTU of 576 bytes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Sender doesn't know the path (and MTU). If a packet size exceeds a link's MTU, the </a:t>
            </a:r>
            <a:r>
              <a:rPr lang="en-US" sz="2400" b="1" dirty="0"/>
              <a:t>router</a:t>
            </a:r>
            <a:r>
              <a:rPr lang="en-US" sz="2400" dirty="0"/>
              <a:t> must split the packet into multiple </a:t>
            </a:r>
            <a:r>
              <a:rPr lang="en-US" sz="2400" b="1" dirty="0">
                <a:solidFill>
                  <a:srgbClr val="C00000"/>
                </a:solidFill>
              </a:rPr>
              <a:t>fragments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Then, the receiver has to reassemble the fragments to recover the original packet</a:t>
            </a: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99A38A07-E10C-2F85-58FE-90A64B9F2B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00827"/>
              </p:ext>
            </p:extLst>
          </p:nvPr>
        </p:nvGraphicFramePr>
        <p:xfrm>
          <a:off x="869429" y="5400626"/>
          <a:ext cx="9971360" cy="124100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50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 b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 b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6C9D7F9-A66B-1DA0-EB3B-CAA9ED3DF200}"/>
              </a:ext>
            </a:extLst>
          </p:cNvPr>
          <p:cNvGrpSpPr/>
          <p:nvPr/>
        </p:nvGrpSpPr>
        <p:grpSpPr>
          <a:xfrm>
            <a:off x="869430" y="4862433"/>
            <a:ext cx="9971359" cy="430887"/>
            <a:chOff x="4324123" y="1145724"/>
            <a:chExt cx="3935412" cy="430887"/>
          </a:xfrm>
        </p:grpSpPr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DF2056FF-0521-E37A-8C4F-C205E5022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5B8A65C3-4B6D-C22E-1855-B2B80B94C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470A5EC4-EEE5-38F0-D891-88F1425DDF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1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654C6-6E27-980A-3247-CCDFE2B9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01CFF625-1A7A-BA6B-6DA3-BA346F904735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5: Handle Errors - Fragmentation</a:t>
            </a:r>
            <a:endParaRPr lang="en-US">
              <a:latin typeface="+mn-lt"/>
            </a:endParaRPr>
          </a:p>
        </p:txBody>
      </p:sp>
      <p:graphicFrame>
        <p:nvGraphicFramePr>
          <p:cNvPr id="4" name="Google Shape;1685;p73">
            <a:extLst>
              <a:ext uri="{FF2B5EF4-FFF2-40B4-BE49-F238E27FC236}">
                <a16:creationId xmlns:a16="http://schemas.microsoft.com/office/drawing/2014/main" id="{2D881CC0-A5B0-A706-4F4B-18B78D5500EA}"/>
              </a:ext>
            </a:extLst>
          </p:cNvPr>
          <p:cNvGraphicFramePr/>
          <p:nvPr/>
        </p:nvGraphicFramePr>
        <p:xfrm>
          <a:off x="869429" y="5400626"/>
          <a:ext cx="9971360" cy="124100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50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 b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 b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28E28D-C9A2-E0A6-1FF4-A4F6113F6593}"/>
              </a:ext>
            </a:extLst>
          </p:cNvPr>
          <p:cNvSpPr txBox="1"/>
          <p:nvPr/>
        </p:nvSpPr>
        <p:spPr>
          <a:xfrm>
            <a:off x="869428" y="958946"/>
            <a:ext cx="99713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ID:</a:t>
            </a:r>
            <a:r>
              <a:rPr lang="en-US" sz="2400" dirty="0"/>
              <a:t> Each fragment of the same packet has the same ID. The destination needs to know which fragments belong together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Flags</a:t>
            </a:r>
            <a:r>
              <a:rPr lang="en-US" sz="2400" dirty="0"/>
              <a:t> (3 bits, 1 bit unused):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DF: Don't Fragment. If this packet is too large, just </a:t>
            </a:r>
            <a:r>
              <a:rPr lang="en-US" sz="2400" b="1" dirty="0">
                <a:solidFill>
                  <a:srgbClr val="C00000"/>
                </a:solidFill>
              </a:rPr>
              <a:t>drop</a:t>
            </a:r>
            <a:r>
              <a:rPr lang="en-US" sz="2400" dirty="0"/>
              <a:t> it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MF: More Fragments. There's more data after this fragment</a:t>
            </a: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Offset:</a:t>
            </a:r>
            <a:r>
              <a:rPr lang="en-US" sz="2400" dirty="0"/>
              <a:t> 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Identifies which bytes of the original packet are in this fragment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Offset = (Position of fragment data in original packet) ÷ 8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A70F8F-92DF-9A20-665D-49DF39DF881A}"/>
              </a:ext>
            </a:extLst>
          </p:cNvPr>
          <p:cNvGrpSpPr/>
          <p:nvPr/>
        </p:nvGrpSpPr>
        <p:grpSpPr>
          <a:xfrm>
            <a:off x="869428" y="4820914"/>
            <a:ext cx="9971359" cy="430887"/>
            <a:chOff x="4324123" y="1145724"/>
            <a:chExt cx="3935412" cy="430887"/>
          </a:xfrm>
        </p:grpSpPr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38FD540C-75EA-3200-B00C-EAA46FAFA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17731C8E-AEF3-7FFF-A079-178C626FF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91AD5077-4B4F-2CA5-4C15-9DA830FC03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8449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D715F58-8FFA-8BF1-F2F8-45484A4CB412}"/>
              </a:ext>
            </a:extLst>
          </p:cNvPr>
          <p:cNvGrpSpPr/>
          <p:nvPr/>
        </p:nvGrpSpPr>
        <p:grpSpPr>
          <a:xfrm>
            <a:off x="257047" y="1455233"/>
            <a:ext cx="11662394" cy="5075812"/>
            <a:chOff x="169331" y="574700"/>
            <a:chExt cx="8811394" cy="4100095"/>
          </a:xfrm>
        </p:grpSpPr>
        <p:sp>
          <p:nvSpPr>
            <p:cNvPr id="2" name="Google Shape;1782;p86">
              <a:extLst>
                <a:ext uri="{FF2B5EF4-FFF2-40B4-BE49-F238E27FC236}">
                  <a16:creationId xmlns:a16="http://schemas.microsoft.com/office/drawing/2014/main" id="{D73ADA1D-D0EB-5297-400A-9DA50812A5FD}"/>
                </a:ext>
              </a:extLst>
            </p:cNvPr>
            <p:cNvSpPr/>
            <p:nvPr/>
          </p:nvSpPr>
          <p:spPr>
            <a:xfrm>
              <a:off x="3146850" y="574700"/>
              <a:ext cx="1330500" cy="10335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IP Header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ID: 25930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DF = F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, MF = F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Offset: 0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" name="Google Shape;1783;p86">
              <a:extLst>
                <a:ext uri="{FF2B5EF4-FFF2-40B4-BE49-F238E27FC236}">
                  <a16:creationId xmlns:a16="http://schemas.microsoft.com/office/drawing/2014/main" id="{98F7C5A8-4150-1F64-46D6-71AE27708A01}"/>
                </a:ext>
              </a:extLst>
            </p:cNvPr>
            <p:cNvSpPr/>
            <p:nvPr/>
          </p:nvSpPr>
          <p:spPr>
            <a:xfrm>
              <a:off x="181051" y="1918200"/>
              <a:ext cx="1330500" cy="10335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IP Header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ID: </a:t>
              </a:r>
              <a:r>
                <a:rPr lang="en" b="1">
                  <a:latin typeface="Roboto"/>
                  <a:ea typeface="Roboto"/>
                  <a:cs typeface="Roboto"/>
                  <a:sym typeface="Roboto"/>
                </a:rPr>
                <a:t>25930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DF = F, MF = </a:t>
              </a:r>
              <a:r>
                <a:rPr lang="en" b="1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Offset: </a:t>
              </a:r>
              <a:r>
                <a:rPr lang="en" b="1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" name="Google Shape;1784;p86">
              <a:extLst>
                <a:ext uri="{FF2B5EF4-FFF2-40B4-BE49-F238E27FC236}">
                  <a16:creationId xmlns:a16="http://schemas.microsoft.com/office/drawing/2014/main" id="{6DB4802F-A6EF-F1C7-5752-DF6066655686}"/>
                </a:ext>
              </a:extLst>
            </p:cNvPr>
            <p:cNvSpPr/>
            <p:nvPr/>
          </p:nvSpPr>
          <p:spPr>
            <a:xfrm>
              <a:off x="1511550" y="1918200"/>
              <a:ext cx="1495200" cy="10335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IP Payload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(Bytes 0~999)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" name="Google Shape;1785;p86">
              <a:extLst>
                <a:ext uri="{FF2B5EF4-FFF2-40B4-BE49-F238E27FC236}">
                  <a16:creationId xmlns:a16="http://schemas.microsoft.com/office/drawing/2014/main" id="{06714E4A-3940-52A5-DBD5-4CFF2A1F81ED}"/>
                </a:ext>
              </a:extLst>
            </p:cNvPr>
            <p:cNvSpPr/>
            <p:nvPr/>
          </p:nvSpPr>
          <p:spPr>
            <a:xfrm>
              <a:off x="4489655" y="1918200"/>
              <a:ext cx="1495200" cy="10335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IP Payload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(Bytes 1000~1999)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Google Shape;1786;p86">
              <a:extLst>
                <a:ext uri="{FF2B5EF4-FFF2-40B4-BE49-F238E27FC236}">
                  <a16:creationId xmlns:a16="http://schemas.microsoft.com/office/drawing/2014/main" id="{529FFE46-5BDB-93A8-1894-82D01BBFC9DF}"/>
                </a:ext>
              </a:extLst>
            </p:cNvPr>
            <p:cNvSpPr/>
            <p:nvPr/>
          </p:nvSpPr>
          <p:spPr>
            <a:xfrm>
              <a:off x="3159151" y="1918200"/>
              <a:ext cx="1330500" cy="10335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IP Header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ID: </a:t>
              </a:r>
              <a:r>
                <a:rPr lang="en" b="1">
                  <a:latin typeface="Roboto"/>
                  <a:ea typeface="Roboto"/>
                  <a:cs typeface="Roboto"/>
                  <a:sym typeface="Roboto"/>
                </a:rPr>
                <a:t>25930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DF = F, MF = </a:t>
              </a:r>
              <a:r>
                <a:rPr lang="en" b="1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Offset: </a:t>
              </a:r>
              <a:r>
                <a:rPr lang="en" b="1">
                  <a:latin typeface="Roboto"/>
                  <a:ea typeface="Roboto"/>
                  <a:cs typeface="Roboto"/>
                  <a:sym typeface="Roboto"/>
                </a:rPr>
                <a:t>125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787;p86">
              <a:extLst>
                <a:ext uri="{FF2B5EF4-FFF2-40B4-BE49-F238E27FC236}">
                  <a16:creationId xmlns:a16="http://schemas.microsoft.com/office/drawing/2014/main" id="{30A48E8C-9B72-8BCD-FEF0-20963D27462F}"/>
                </a:ext>
              </a:extLst>
            </p:cNvPr>
            <p:cNvSpPr/>
            <p:nvPr/>
          </p:nvSpPr>
          <p:spPr>
            <a:xfrm>
              <a:off x="7467760" y="1918200"/>
              <a:ext cx="1495200" cy="10335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IP Payload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(Bytes 2000~2999)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788;p86">
              <a:extLst>
                <a:ext uri="{FF2B5EF4-FFF2-40B4-BE49-F238E27FC236}">
                  <a16:creationId xmlns:a16="http://schemas.microsoft.com/office/drawing/2014/main" id="{065B0D6A-EF2A-271C-069B-2AEF074F8001}"/>
                </a:ext>
              </a:extLst>
            </p:cNvPr>
            <p:cNvSpPr/>
            <p:nvPr/>
          </p:nvSpPr>
          <p:spPr>
            <a:xfrm>
              <a:off x="6137251" y="1918200"/>
              <a:ext cx="1330500" cy="10335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IP Header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ID: </a:t>
              </a:r>
              <a:r>
                <a:rPr lang="en" b="1" dirty="0">
                  <a:latin typeface="Roboto"/>
                  <a:ea typeface="Roboto"/>
                  <a:cs typeface="Roboto"/>
                  <a:sym typeface="Roboto"/>
                </a:rPr>
                <a:t>25930</a:t>
              </a:r>
              <a:endParaRPr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DF = F, </a:t>
              </a:r>
              <a:r>
                <a:rPr lang="en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MF =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b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Offset: </a:t>
              </a:r>
              <a:r>
                <a:rPr lang="en" b="1" dirty="0">
                  <a:latin typeface="Roboto"/>
                  <a:ea typeface="Roboto"/>
                  <a:cs typeface="Roboto"/>
                  <a:sym typeface="Roboto"/>
                </a:rPr>
                <a:t>250</a:t>
              </a:r>
              <a:endParaRPr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789;p86">
              <a:extLst>
                <a:ext uri="{FF2B5EF4-FFF2-40B4-BE49-F238E27FC236}">
                  <a16:creationId xmlns:a16="http://schemas.microsoft.com/office/drawing/2014/main" id="{7FDDDDF2-3137-954D-FF39-C97141B2B9BA}"/>
                </a:ext>
              </a:extLst>
            </p:cNvPr>
            <p:cNvSpPr/>
            <p:nvPr/>
          </p:nvSpPr>
          <p:spPr>
            <a:xfrm>
              <a:off x="4477350" y="574700"/>
              <a:ext cx="4485600" cy="10335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IP Payload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(Bytes 0~2999)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" name="Google Shape;1790;p86">
              <a:extLst>
                <a:ext uri="{FF2B5EF4-FFF2-40B4-BE49-F238E27FC236}">
                  <a16:creationId xmlns:a16="http://schemas.microsoft.com/office/drawing/2014/main" id="{B83A2350-6681-2870-0D0C-F7A48C328B91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1364137" y="2610174"/>
              <a:ext cx="1873494" cy="970201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" name="Google Shape;1791;p86">
              <a:extLst>
                <a:ext uri="{FF2B5EF4-FFF2-40B4-BE49-F238E27FC236}">
                  <a16:creationId xmlns:a16="http://schemas.microsoft.com/office/drawing/2014/main" id="{3B2A2231-BDB8-72F5-A505-C4DA97BF9AF3}"/>
                </a:ext>
              </a:extLst>
            </p:cNvPr>
            <p:cNvSpPr txBox="1"/>
            <p:nvPr/>
          </p:nvSpPr>
          <p:spPr>
            <a:xfrm>
              <a:off x="2107388" y="3580375"/>
              <a:ext cx="2260483" cy="492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More Fragments = True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on all but the last fragment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" name="Google Shape;1792;p86">
              <a:extLst>
                <a:ext uri="{FF2B5EF4-FFF2-40B4-BE49-F238E27FC236}">
                  <a16:creationId xmlns:a16="http://schemas.microsoft.com/office/drawing/2014/main" id="{2A0CAD11-850C-B6DD-1335-B1EA0648652B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237630" y="2667476"/>
              <a:ext cx="1049407" cy="912899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" name="Google Shape;1793;p86">
              <a:extLst>
                <a:ext uri="{FF2B5EF4-FFF2-40B4-BE49-F238E27FC236}">
                  <a16:creationId xmlns:a16="http://schemas.microsoft.com/office/drawing/2014/main" id="{149CA2A6-24DB-4A49-836C-97DA3B19A9FA}"/>
                </a:ext>
              </a:extLst>
            </p:cNvPr>
            <p:cNvSpPr txBox="1"/>
            <p:nvPr/>
          </p:nvSpPr>
          <p:spPr>
            <a:xfrm>
              <a:off x="297750" y="953050"/>
              <a:ext cx="2070000" cy="492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Don't Fragment = False allows us to fragment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" name="Google Shape;1794;p86">
              <a:extLst>
                <a:ext uri="{FF2B5EF4-FFF2-40B4-BE49-F238E27FC236}">
                  <a16:creationId xmlns:a16="http://schemas.microsoft.com/office/drawing/2014/main" id="{378DFAA1-7554-67DC-2B81-8A1C1F2CF4D4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2367750" y="1196200"/>
              <a:ext cx="779100" cy="2972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Google Shape;1795;p86">
              <a:extLst>
                <a:ext uri="{FF2B5EF4-FFF2-40B4-BE49-F238E27FC236}">
                  <a16:creationId xmlns:a16="http://schemas.microsoft.com/office/drawing/2014/main" id="{E1CD9C85-11DD-E2FB-B10D-568148022D8E}"/>
                </a:ext>
              </a:extLst>
            </p:cNvPr>
            <p:cNvSpPr txBox="1"/>
            <p:nvPr/>
          </p:nvSpPr>
          <p:spPr>
            <a:xfrm>
              <a:off x="6961125" y="3989125"/>
              <a:ext cx="2019600" cy="492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More Fragments = False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on the last fragment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" name="Google Shape;1796;p86">
              <a:extLst>
                <a:ext uri="{FF2B5EF4-FFF2-40B4-BE49-F238E27FC236}">
                  <a16:creationId xmlns:a16="http://schemas.microsoft.com/office/drawing/2014/main" id="{33B35D65-818C-8E92-49C5-6A8140C250A5}"/>
                </a:ext>
              </a:extLst>
            </p:cNvPr>
            <p:cNvCxnSpPr>
              <a:stCxn id="15" idx="0"/>
            </p:cNvCxnSpPr>
            <p:nvPr/>
          </p:nvCxnSpPr>
          <p:spPr>
            <a:xfrm flipH="1" flipV="1">
              <a:off x="7274326" y="2678726"/>
              <a:ext cx="696599" cy="1310399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Google Shape;1797;p86">
              <a:extLst>
                <a:ext uri="{FF2B5EF4-FFF2-40B4-BE49-F238E27FC236}">
                  <a16:creationId xmlns:a16="http://schemas.microsoft.com/office/drawing/2014/main" id="{D82DBCFA-05DD-BF38-7E5D-4E85B9E72CDF}"/>
                </a:ext>
              </a:extLst>
            </p:cNvPr>
            <p:cNvSpPr txBox="1"/>
            <p:nvPr/>
          </p:nvSpPr>
          <p:spPr>
            <a:xfrm>
              <a:off x="4887675" y="3725150"/>
              <a:ext cx="1757700" cy="939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Offset measured in </a:t>
              </a:r>
              <a:r>
                <a:rPr lang="en" b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multiples of 8 bytes</a:t>
              </a: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 1000 / 8 = 125</a:t>
              </a:r>
              <a:b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2000 / 8 = 250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" name="Google Shape;1798;p86">
              <a:extLst>
                <a:ext uri="{FF2B5EF4-FFF2-40B4-BE49-F238E27FC236}">
                  <a16:creationId xmlns:a16="http://schemas.microsoft.com/office/drawing/2014/main" id="{CF4AAB2E-BF0B-C7D8-643F-5497C2FC5FC4}"/>
                </a:ext>
              </a:extLst>
            </p:cNvPr>
            <p:cNvCxnSpPr>
              <a:stCxn id="17" idx="0"/>
            </p:cNvCxnSpPr>
            <p:nvPr/>
          </p:nvCxnSpPr>
          <p:spPr>
            <a:xfrm flipH="1" flipV="1">
              <a:off x="4115325" y="2901351"/>
              <a:ext cx="1651200" cy="823799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1799;p86">
              <a:extLst>
                <a:ext uri="{FF2B5EF4-FFF2-40B4-BE49-F238E27FC236}">
                  <a16:creationId xmlns:a16="http://schemas.microsoft.com/office/drawing/2014/main" id="{D892CDE7-6E1B-1F83-D16B-268DA00CF96E}"/>
                </a:ext>
              </a:extLst>
            </p:cNvPr>
            <p:cNvCxnSpPr>
              <a:stCxn id="17" idx="0"/>
            </p:cNvCxnSpPr>
            <p:nvPr/>
          </p:nvCxnSpPr>
          <p:spPr>
            <a:xfrm flipV="1">
              <a:off x="5766525" y="2907351"/>
              <a:ext cx="805799" cy="817799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" name="Google Shape;1800;p86">
              <a:extLst>
                <a:ext uri="{FF2B5EF4-FFF2-40B4-BE49-F238E27FC236}">
                  <a16:creationId xmlns:a16="http://schemas.microsoft.com/office/drawing/2014/main" id="{E72381BF-6852-683D-82BC-C3FA2ED71869}"/>
                </a:ext>
              </a:extLst>
            </p:cNvPr>
            <p:cNvSpPr txBox="1"/>
            <p:nvPr/>
          </p:nvSpPr>
          <p:spPr>
            <a:xfrm>
              <a:off x="169331" y="4232275"/>
              <a:ext cx="1896600" cy="442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IP header size = 20 bytes, payload size = 1000 bytes </a:t>
              </a:r>
              <a:endParaRPr sz="16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1801;p86">
              <a:extLst>
                <a:ext uri="{FF2B5EF4-FFF2-40B4-BE49-F238E27FC236}">
                  <a16:creationId xmlns:a16="http://schemas.microsoft.com/office/drawing/2014/main" id="{03FD5064-4BFE-07B3-E83B-E96037227A2A}"/>
                </a:ext>
              </a:extLst>
            </p:cNvPr>
            <p:cNvSpPr txBox="1"/>
            <p:nvPr/>
          </p:nvSpPr>
          <p:spPr>
            <a:xfrm>
              <a:off x="181049" y="3278850"/>
              <a:ext cx="1917400" cy="71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Router assigns the same ID on each fragment of this packet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" name="Google Shape;1802;p86">
              <a:extLst>
                <a:ext uri="{FF2B5EF4-FFF2-40B4-BE49-F238E27FC236}">
                  <a16:creationId xmlns:a16="http://schemas.microsoft.com/office/drawing/2014/main" id="{903DB0C3-BF00-3C8B-B9AF-D6D1AE21964C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H="1" flipV="1">
              <a:off x="795000" y="2432850"/>
              <a:ext cx="344749" cy="8460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4" name="Title 5">
            <a:extLst>
              <a:ext uri="{FF2B5EF4-FFF2-40B4-BE49-F238E27FC236}">
                <a16:creationId xmlns:a16="http://schemas.microsoft.com/office/drawing/2014/main" id="{95A544A9-1B6E-CA47-C387-984D9E8E1A6D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5: Handle Errors - Fragmentation</a:t>
            </a:r>
            <a:endParaRPr lang="en-US">
              <a:latin typeface="+mn-lt"/>
            </a:endParaRPr>
          </a:p>
        </p:txBody>
      </p:sp>
      <p:sp>
        <p:nvSpPr>
          <p:cNvPr id="25" name="Google Shape;1793;p86">
            <a:extLst>
              <a:ext uri="{FF2B5EF4-FFF2-40B4-BE49-F238E27FC236}">
                <a16:creationId xmlns:a16="http://schemas.microsoft.com/office/drawing/2014/main" id="{78A6C14A-9BF7-3575-A006-0DFF80210640}"/>
              </a:ext>
            </a:extLst>
          </p:cNvPr>
          <p:cNvSpPr txBox="1"/>
          <p:nvPr/>
        </p:nvSpPr>
        <p:spPr>
          <a:xfrm>
            <a:off x="432450" y="1146086"/>
            <a:ext cx="2739766" cy="60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Source host assigns the ID, mandatory 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" name="Google Shape;1794;p86">
            <a:extLst>
              <a:ext uri="{FF2B5EF4-FFF2-40B4-BE49-F238E27FC236}">
                <a16:creationId xmlns:a16="http://schemas.microsoft.com/office/drawing/2014/main" id="{B46D7B51-A623-2ACF-396A-7EF601F88FDC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172216" y="1450778"/>
            <a:ext cx="1025751" cy="472843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92391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CB29-131F-BF51-4D19-31DBE152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B299E495-4700-C7ED-F326-FF768D2654E0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6: Specify Special Packet Handling</a:t>
            </a:r>
            <a:endParaRPr lang="en-US">
              <a:latin typeface="+mn-lt"/>
            </a:endParaRPr>
          </a:p>
        </p:txBody>
      </p:sp>
      <p:graphicFrame>
        <p:nvGraphicFramePr>
          <p:cNvPr id="25" name="Google Shape;1685;p73">
            <a:extLst>
              <a:ext uri="{FF2B5EF4-FFF2-40B4-BE49-F238E27FC236}">
                <a16:creationId xmlns:a16="http://schemas.microsoft.com/office/drawing/2014/main" id="{A3D95C9D-39EA-911E-8B40-C11B1B4EE9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2356455"/>
              </p:ext>
            </p:extLst>
          </p:nvPr>
        </p:nvGraphicFramePr>
        <p:xfrm>
          <a:off x="804793" y="3910780"/>
          <a:ext cx="9971360" cy="28956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6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 b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kern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 b="0" kern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kern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 kern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69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Google Shape;685;p58">
            <a:extLst>
              <a:ext uri="{FF2B5EF4-FFF2-40B4-BE49-F238E27FC236}">
                <a16:creationId xmlns:a16="http://schemas.microsoft.com/office/drawing/2014/main" id="{E5CCA5F9-1ECF-A211-7347-09B968A60B7C}"/>
              </a:ext>
            </a:extLst>
          </p:cNvPr>
          <p:cNvSpPr txBox="1"/>
          <p:nvPr/>
        </p:nvSpPr>
        <p:spPr>
          <a:xfrm rot="5400000">
            <a:off x="10309806" y="4918088"/>
            <a:ext cx="145891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 Header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FF7088-C83C-F932-5043-E9461B20CFA7}"/>
              </a:ext>
            </a:extLst>
          </p:cNvPr>
          <p:cNvCxnSpPr>
            <a:cxnSpLocks/>
          </p:cNvCxnSpPr>
          <p:nvPr/>
        </p:nvCxnSpPr>
        <p:spPr>
          <a:xfrm>
            <a:off x="10776150" y="391078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1CCDE1-BC81-2004-07B8-ABFE43ABA9F7}"/>
              </a:ext>
            </a:extLst>
          </p:cNvPr>
          <p:cNvCxnSpPr>
            <a:cxnSpLocks/>
          </p:cNvCxnSpPr>
          <p:nvPr/>
        </p:nvCxnSpPr>
        <p:spPr>
          <a:xfrm>
            <a:off x="10776150" y="638703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Google Shape;682;p58">
            <a:extLst>
              <a:ext uri="{FF2B5EF4-FFF2-40B4-BE49-F238E27FC236}">
                <a16:creationId xmlns:a16="http://schemas.microsoft.com/office/drawing/2014/main" id="{11F17330-38BD-E4FC-617F-CF016F216543}"/>
              </a:ext>
            </a:extLst>
          </p:cNvPr>
          <p:cNvSpPr txBox="1"/>
          <p:nvPr/>
        </p:nvSpPr>
        <p:spPr>
          <a:xfrm>
            <a:off x="10776150" y="6344828"/>
            <a:ext cx="141585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IP Payload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2486B9C-7676-7E74-559F-4F15A1AF77E5}"/>
              </a:ext>
            </a:extLst>
          </p:cNvPr>
          <p:cNvCxnSpPr>
            <a:cxnSpLocks/>
          </p:cNvCxnSpPr>
          <p:nvPr/>
        </p:nvCxnSpPr>
        <p:spPr>
          <a:xfrm>
            <a:off x="10776150" y="6787640"/>
            <a:ext cx="54800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987D2C-862A-DC67-819F-694B2A792DD1}"/>
              </a:ext>
            </a:extLst>
          </p:cNvPr>
          <p:cNvGrpSpPr/>
          <p:nvPr/>
        </p:nvGrpSpPr>
        <p:grpSpPr>
          <a:xfrm>
            <a:off x="804791" y="3429000"/>
            <a:ext cx="9971359" cy="430887"/>
            <a:chOff x="4324123" y="1145724"/>
            <a:chExt cx="3935412" cy="430887"/>
          </a:xfrm>
        </p:grpSpPr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F9A7FF3E-C4BC-1C18-A680-769FCB22D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0256" y="1145724"/>
              <a:ext cx="401233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</a:p>
          </p:txBody>
        </p:sp>
        <p:sp>
          <p:nvSpPr>
            <p:cNvPr id="33" name="Line 12">
              <a:extLst>
                <a:ext uri="{FF2B5EF4-FFF2-40B4-BE49-F238E27FC236}">
                  <a16:creationId xmlns:a16="http://schemas.microsoft.com/office/drawing/2014/main" id="{B2F4C1D1-991C-D4C0-0281-D060CE7D6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" name="Line 13">
              <a:extLst>
                <a:ext uri="{FF2B5EF4-FFF2-40B4-BE49-F238E27FC236}">
                  <a16:creationId xmlns:a16="http://schemas.microsoft.com/office/drawing/2014/main" id="{0252C06D-CBA2-48EA-5429-24BBB01AFB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B077CF5-DC55-2C60-BD7E-CB6C11B9F2E1}"/>
              </a:ext>
            </a:extLst>
          </p:cNvPr>
          <p:cNvSpPr txBox="1"/>
          <p:nvPr/>
        </p:nvSpPr>
        <p:spPr>
          <a:xfrm>
            <a:off x="422909" y="1785815"/>
            <a:ext cx="1159487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/>
              <a:t>Type of Service</a:t>
            </a:r>
            <a:r>
              <a:rPr lang="en-US" sz="2400" dirty="0"/>
              <a:t>: Treat packets differently depending on application / customer needs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Options</a:t>
            </a:r>
            <a:r>
              <a:rPr lang="en-US" sz="2400" dirty="0"/>
              <a:t>: Request advanced functionality for this packet</a:t>
            </a:r>
          </a:p>
        </p:txBody>
      </p:sp>
    </p:spTree>
    <p:extLst>
      <p:ext uri="{BB962C8B-B14F-4D97-AF65-F5344CB8AC3E}">
        <p14:creationId xmlns:p14="http://schemas.microsoft.com/office/powerpoint/2010/main" val="1702080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58F15-ABCB-4DCE-1B49-6EB8AAFF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520CAFF2-615C-CFF2-626D-361BD3F8B6CA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Task 6: Specify Special Packet Handling</a:t>
            </a:r>
            <a:endParaRPr lang="en-US">
              <a:latin typeface="+mn-lt"/>
            </a:endParaRPr>
          </a:p>
        </p:txBody>
      </p:sp>
      <p:graphicFrame>
        <p:nvGraphicFramePr>
          <p:cNvPr id="25" name="Google Shape;1685;p73">
            <a:extLst>
              <a:ext uri="{FF2B5EF4-FFF2-40B4-BE49-F238E27FC236}">
                <a16:creationId xmlns:a16="http://schemas.microsoft.com/office/drawing/2014/main" id="{6F842430-FCAD-5F3C-635B-76E6606A8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7427945"/>
              </p:ext>
            </p:extLst>
          </p:nvPr>
        </p:nvGraphicFramePr>
        <p:xfrm>
          <a:off x="686667" y="5203324"/>
          <a:ext cx="9971360" cy="16546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5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6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 b="1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……</a:t>
                      </a:r>
                      <a:endParaRPr sz="2200" b="1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C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 b="1" dirty="0">
                        <a:solidFill>
                          <a:srgbClr val="C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69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60861CB-16AC-99A1-D02F-D11117D57FE8}"/>
              </a:ext>
            </a:extLst>
          </p:cNvPr>
          <p:cNvSpPr txBox="1"/>
          <p:nvPr/>
        </p:nvSpPr>
        <p:spPr>
          <a:xfrm>
            <a:off x="256790" y="1295777"/>
            <a:ext cx="572086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Original idea: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Request different forms of delivery depending on these bits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Based on priority, delay, throughput, reliability, cost, etc.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These bits were frequently re-defined and never fully deployed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Only the notion of </a:t>
            </a:r>
            <a:r>
              <a:rPr lang="en-US" sz="2400" b="1" dirty="0"/>
              <a:t>priorities</a:t>
            </a:r>
            <a:r>
              <a:rPr lang="en-US" sz="2400" dirty="0"/>
              <a:t> remained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4DF8D-D526-AF9E-1A0A-DAF32C597243}"/>
              </a:ext>
            </a:extLst>
          </p:cNvPr>
          <p:cNvSpPr txBox="1"/>
          <p:nvPr/>
        </p:nvSpPr>
        <p:spPr>
          <a:xfrm>
            <a:off x="6095999" y="1295777"/>
            <a:ext cx="572086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Modern usage: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Request advanced functionality for this packet. For example: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Record Route: Tell me the path that this packet took (useful for diagnostics)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Source Route: Send the packet along the route I provide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Timestamp: Record when each router processes this packet</a:t>
            </a:r>
          </a:p>
        </p:txBody>
      </p:sp>
    </p:spTree>
    <p:extLst>
      <p:ext uri="{BB962C8B-B14F-4D97-AF65-F5344CB8AC3E}">
        <p14:creationId xmlns:p14="http://schemas.microsoft.com/office/powerpoint/2010/main" val="7619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478CB-E227-F72C-1951-145217B3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81F702F6-9DE2-8EEF-09BE-6A86B384A7D1}"/>
              </a:ext>
            </a:extLst>
          </p:cNvPr>
          <p:cNvSpPr txBox="1">
            <a:spLocks/>
          </p:cNvSpPr>
          <p:nvPr/>
        </p:nvSpPr>
        <p:spPr>
          <a:xfrm>
            <a:off x="869427" y="171322"/>
            <a:ext cx="10453141" cy="67961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 Header: Summary</a:t>
            </a:r>
            <a:endParaRPr lang="en-US" dirty="0">
              <a:latin typeface="+mn-lt"/>
            </a:endParaRPr>
          </a:p>
        </p:txBody>
      </p:sp>
      <p:graphicFrame>
        <p:nvGraphicFramePr>
          <p:cNvPr id="2" name="Google Shape;1827;p90">
            <a:extLst>
              <a:ext uri="{FF2B5EF4-FFF2-40B4-BE49-F238E27FC236}">
                <a16:creationId xmlns:a16="http://schemas.microsoft.com/office/drawing/2014/main" id="{000E8B6C-E57F-B8B8-1701-2E594D772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561504"/>
              </p:ext>
            </p:extLst>
          </p:nvPr>
        </p:nvGraphicFramePr>
        <p:xfrm>
          <a:off x="756447" y="3962933"/>
          <a:ext cx="10679105" cy="28950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3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4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4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58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 (4)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2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581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 (3)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 (13)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581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 (8)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 (16)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58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(32)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58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58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2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581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Google Shape;1828;p90">
            <a:extLst>
              <a:ext uri="{FF2B5EF4-FFF2-40B4-BE49-F238E27FC236}">
                <a16:creationId xmlns:a16="http://schemas.microsoft.com/office/drawing/2014/main" id="{4EFCCAE5-FB6E-3CF3-A5CD-E42634FBC768}"/>
              </a:ext>
            </a:extLst>
          </p:cNvPr>
          <p:cNvSpPr txBox="1">
            <a:spLocks/>
          </p:cNvSpPr>
          <p:nvPr/>
        </p:nvSpPr>
        <p:spPr>
          <a:xfrm>
            <a:off x="756446" y="850933"/>
            <a:ext cx="10679105" cy="2895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F4CCCC"/>
                </a:highlight>
              </a:rPr>
              <a:t>Parse the packet</a:t>
            </a:r>
            <a:r>
              <a:rPr lang="en-US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(both router and destination)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FCE5CD"/>
                </a:highlight>
              </a:rPr>
              <a:t>Forward packet to the next hop</a:t>
            </a:r>
            <a:r>
              <a:rPr lang="en-US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(router only)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D9EAD3"/>
                </a:highlight>
              </a:rPr>
              <a:t>Tell the destination what to do next</a:t>
            </a:r>
            <a:r>
              <a:rPr lang="en-US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(destination only)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Send responses back to the source  </a:t>
            </a:r>
            <a:r>
              <a:rPr lang="en-US" sz="2000" dirty="0">
                <a:solidFill>
                  <a:schemeClr val="accent3"/>
                </a:solidFill>
              </a:rPr>
              <a:t>(both router and destination)</a:t>
            </a:r>
            <a:endParaRPr lang="en-US" sz="20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C9DAF8"/>
                </a:highlight>
              </a:rPr>
              <a:t>Handle errors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(both router and destination)</a:t>
            </a:r>
            <a:endParaRPr lang="en-US" sz="20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highlight>
                  <a:srgbClr val="D9D2E9"/>
                </a:highlight>
              </a:rPr>
              <a:t>Specify any special packet handling</a:t>
            </a:r>
            <a:r>
              <a:rPr lang="en-US" dirty="0"/>
              <a:t> </a:t>
            </a:r>
            <a:r>
              <a:rPr lang="en-US" sz="2000" dirty="0">
                <a:solidFill>
                  <a:schemeClr val="accent3"/>
                </a:solidFill>
              </a:rPr>
              <a:t>(both router and destination)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4193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0ED1-9E5F-96AC-8141-4241D15B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083F-6757-748C-F36E-BD921A548DBC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A52D3C2-51A9-C082-9781-60CA58F58CB3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IP(v4) Header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IP Security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4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2E14-73AF-F1EF-6817-60223A09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015EB090-A198-B1FF-7529-9ECA751DB49E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Exploiting Source IP: Spoofing</a:t>
            </a:r>
            <a:endParaRPr lang="en-US">
              <a:latin typeface="+mn-lt"/>
            </a:endParaRPr>
          </a:p>
        </p:txBody>
      </p:sp>
      <p:sp>
        <p:nvSpPr>
          <p:cNvPr id="4" name="Google Shape;1913;p101">
            <a:extLst>
              <a:ext uri="{FF2B5EF4-FFF2-40B4-BE49-F238E27FC236}">
                <a16:creationId xmlns:a16="http://schemas.microsoft.com/office/drawing/2014/main" id="{155CC6E9-9FA6-E156-3044-F36962FDF74D}"/>
              </a:ext>
            </a:extLst>
          </p:cNvPr>
          <p:cNvSpPr txBox="1">
            <a:spLocks/>
          </p:cNvSpPr>
          <p:nvPr/>
        </p:nvSpPr>
        <p:spPr>
          <a:xfrm>
            <a:off x="323222" y="1311535"/>
            <a:ext cx="11545555" cy="4637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b="1" dirty="0"/>
              <a:t>Spoofing</a:t>
            </a:r>
            <a:r>
              <a:rPr lang="en-US" sz="2400" dirty="0"/>
              <a:t>: Lie about the source address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Attacker pretends to be somebody else and sends the packet.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Using spoofing to attack the impersonated user (Lab 5):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Attacker pretends to be Bob and sends a virus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Now Bob is wrongly blamed for sending the virus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Return traffic (e.g. angry messages) goes to Bob instead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Using spoofing to attack a destination: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Denial-of-service (DoS) attack: Overwhelm a service by flooding it with packets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Without spoofing: The service can block your source address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Spoofing makes DoS more effective: Server doesn't know which packets to block</a:t>
            </a:r>
          </a:p>
        </p:txBody>
      </p:sp>
    </p:spTree>
    <p:extLst>
      <p:ext uri="{BB962C8B-B14F-4D97-AF65-F5344CB8AC3E}">
        <p14:creationId xmlns:p14="http://schemas.microsoft.com/office/powerpoint/2010/main" val="3070840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E17B-28F7-A33D-F3A7-6954CA1B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50252AA1-64A6-6065-EB1A-8578AA9479D8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Exploiting Type of Service</a:t>
            </a:r>
            <a:endParaRPr lang="en-US">
              <a:latin typeface="+mn-lt"/>
            </a:endParaRPr>
          </a:p>
        </p:txBody>
      </p:sp>
      <p:sp>
        <p:nvSpPr>
          <p:cNvPr id="4" name="Google Shape;1913;p101">
            <a:extLst>
              <a:ext uri="{FF2B5EF4-FFF2-40B4-BE49-F238E27FC236}">
                <a16:creationId xmlns:a16="http://schemas.microsoft.com/office/drawing/2014/main" id="{9EB73E38-A052-F63F-1CA1-90C607448ABF}"/>
              </a:ext>
            </a:extLst>
          </p:cNvPr>
          <p:cNvSpPr txBox="1">
            <a:spLocks/>
          </p:cNvSpPr>
          <p:nvPr/>
        </p:nvSpPr>
        <p:spPr>
          <a:xfrm>
            <a:off x="869428" y="1271763"/>
            <a:ext cx="10453141" cy="4707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Recall type of service (</a:t>
            </a:r>
            <a:r>
              <a:rPr lang="en-US" sz="2400" dirty="0" err="1"/>
              <a:t>ToS</a:t>
            </a:r>
            <a:r>
              <a:rPr lang="en-US" sz="2400" dirty="0"/>
              <a:t>): Bits indicating priority of the packet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Attack: Prioritize your own traffic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If anybody can set </a:t>
            </a:r>
            <a:r>
              <a:rPr lang="en-US" sz="2400" dirty="0" err="1"/>
              <a:t>ToS</a:t>
            </a:r>
            <a:r>
              <a:rPr lang="en-US" sz="2400" dirty="0"/>
              <a:t> bits, attackers can make their own packets high-priority </a:t>
            </a:r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dirty="0"/>
              <a:t>Network prefers attacker traffic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Today, </a:t>
            </a:r>
            <a:r>
              <a:rPr lang="en-US" sz="2400" dirty="0" err="1"/>
              <a:t>ToS</a:t>
            </a:r>
            <a:r>
              <a:rPr lang="en-US" sz="2400" dirty="0"/>
              <a:t> bits are mostly set/used by operators, not end hosts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Attack: Use spoofing to make someone else pay for priority traffic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Suppose the network charges for high-priority traffic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Attacker sends a spoofed packet: "I am Bob and this packet is high-priority."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Network makes Bob pay for that packet</a:t>
            </a:r>
          </a:p>
        </p:txBody>
      </p:sp>
    </p:spTree>
    <p:extLst>
      <p:ext uri="{BB962C8B-B14F-4D97-AF65-F5344CB8AC3E}">
        <p14:creationId xmlns:p14="http://schemas.microsoft.com/office/powerpoint/2010/main" val="4004767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2031-0D98-B548-D729-A8247E36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22E025DC-8BEA-6F42-F89A-3E7AC6C5A7C3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Exploiting Fragmentation and Options</a:t>
            </a:r>
            <a:endParaRPr lang="en-US">
              <a:latin typeface="+mn-lt"/>
            </a:endParaRPr>
          </a:p>
        </p:txBody>
      </p:sp>
      <p:sp>
        <p:nvSpPr>
          <p:cNvPr id="4" name="Google Shape;1913;p101">
            <a:extLst>
              <a:ext uri="{FF2B5EF4-FFF2-40B4-BE49-F238E27FC236}">
                <a16:creationId xmlns:a16="http://schemas.microsoft.com/office/drawing/2014/main" id="{122395B6-B38B-1EC8-6648-472A5F86BEB6}"/>
              </a:ext>
            </a:extLst>
          </p:cNvPr>
          <p:cNvSpPr txBox="1">
            <a:spLocks/>
          </p:cNvSpPr>
          <p:nvPr/>
        </p:nvSpPr>
        <p:spPr>
          <a:xfrm>
            <a:off x="869429" y="1533020"/>
            <a:ext cx="10453141" cy="3038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Recall: Fragmentation and options are more work for the router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Denial-of-service (DoS) attack: Overwhelm routers by making them do more work. For example: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Fragmentation: Send large packets on purpose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Options: Send packets with complicated options on purpose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Defense: Routers often ignore options, or drop packets with options</a:t>
            </a:r>
          </a:p>
        </p:txBody>
      </p:sp>
    </p:spTree>
    <p:extLst>
      <p:ext uri="{BB962C8B-B14F-4D97-AF65-F5344CB8AC3E}">
        <p14:creationId xmlns:p14="http://schemas.microsoft.com/office/powerpoint/2010/main" val="3271821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E9CB-43DB-44A8-C3F5-FBF69EF0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22F081B6-0B4B-1363-F021-CFAF1F8BAD1C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Exploiting TTL: Traceroute</a:t>
            </a:r>
            <a:endParaRPr lang="en-US">
              <a:latin typeface="+mn-lt"/>
            </a:endParaRPr>
          </a:p>
        </p:txBody>
      </p:sp>
      <p:sp>
        <p:nvSpPr>
          <p:cNvPr id="4" name="Google Shape;1913;p101">
            <a:extLst>
              <a:ext uri="{FF2B5EF4-FFF2-40B4-BE49-F238E27FC236}">
                <a16:creationId xmlns:a16="http://schemas.microsoft.com/office/drawing/2014/main" id="{63D5644B-DD58-B5A5-745C-A864CC826E2B}"/>
              </a:ext>
            </a:extLst>
          </p:cNvPr>
          <p:cNvSpPr txBox="1">
            <a:spLocks/>
          </p:cNvSpPr>
          <p:nvPr/>
        </p:nvSpPr>
        <p:spPr>
          <a:xfrm>
            <a:off x="869428" y="971322"/>
            <a:ext cx="10453141" cy="2944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Traceroute: Exploiting the TTL to discover the path a packet travels along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You have done this in Lab 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Key idea: When TTL expires, the router sends back a "TTL Exceeded" error.</a:t>
            </a:r>
            <a:br>
              <a:rPr lang="en-US" sz="2400" dirty="0"/>
            </a:br>
            <a:r>
              <a:rPr lang="en-US" sz="2400" dirty="0"/>
              <a:t>This allows you to learn the identity one of the routers on the path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Basic approach: Send packets with TTL=1, TTL=2, TTL=3, etc.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In practice, not all routers respond with the "TTL Exceeded" message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9A87E1-AEA2-8ED5-EF63-640DEDD86D41}"/>
              </a:ext>
            </a:extLst>
          </p:cNvPr>
          <p:cNvGrpSpPr/>
          <p:nvPr/>
        </p:nvGrpSpPr>
        <p:grpSpPr>
          <a:xfrm>
            <a:off x="2758081" y="3715553"/>
            <a:ext cx="6675833" cy="2926080"/>
            <a:chOff x="2104100" y="2729500"/>
            <a:chExt cx="4174188" cy="2164650"/>
          </a:xfrm>
        </p:grpSpPr>
        <p:sp>
          <p:nvSpPr>
            <p:cNvPr id="2" name="Google Shape;1932;p104">
              <a:extLst>
                <a:ext uri="{FF2B5EF4-FFF2-40B4-BE49-F238E27FC236}">
                  <a16:creationId xmlns:a16="http://schemas.microsoft.com/office/drawing/2014/main" id="{533F9F71-8F23-FE27-6791-D432A7170D15}"/>
                </a:ext>
              </a:extLst>
            </p:cNvPr>
            <p:cNvSpPr/>
            <p:nvPr/>
          </p:nvSpPr>
          <p:spPr>
            <a:xfrm>
              <a:off x="318005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" name="Google Shape;1933;p104">
              <a:extLst>
                <a:ext uri="{FF2B5EF4-FFF2-40B4-BE49-F238E27FC236}">
                  <a16:creationId xmlns:a16="http://schemas.microsoft.com/office/drawing/2014/main" id="{283009A7-1856-F09B-8CC1-8AEDBE81CCD0}"/>
                </a:ext>
              </a:extLst>
            </p:cNvPr>
            <p:cNvSpPr/>
            <p:nvPr/>
          </p:nvSpPr>
          <p:spPr>
            <a:xfrm>
              <a:off x="411780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" name="Google Shape;1934;p104">
              <a:extLst>
                <a:ext uri="{FF2B5EF4-FFF2-40B4-BE49-F238E27FC236}">
                  <a16:creationId xmlns:a16="http://schemas.microsoft.com/office/drawing/2014/main" id="{D42E6426-6462-FC47-21E1-4A0DD406D0C3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346505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1935;p104">
              <a:extLst>
                <a:ext uri="{FF2B5EF4-FFF2-40B4-BE49-F238E27FC236}">
                  <a16:creationId xmlns:a16="http://schemas.microsoft.com/office/drawing/2014/main" id="{25EDD540-17A1-B306-FF5B-CAE123620127}"/>
                </a:ext>
              </a:extLst>
            </p:cNvPr>
            <p:cNvCxnSpPr>
              <a:stCxn id="3" idx="3"/>
            </p:cNvCxnSpPr>
            <p:nvPr/>
          </p:nvCxnSpPr>
          <p:spPr>
            <a:xfrm>
              <a:off x="440280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937;p104">
              <a:extLst>
                <a:ext uri="{FF2B5EF4-FFF2-40B4-BE49-F238E27FC236}">
                  <a16:creationId xmlns:a16="http://schemas.microsoft.com/office/drawing/2014/main" id="{03A423BF-BEF5-764D-0BDB-F13154DE1273}"/>
                </a:ext>
              </a:extLst>
            </p:cNvPr>
            <p:cNvSpPr/>
            <p:nvPr/>
          </p:nvSpPr>
          <p:spPr>
            <a:xfrm>
              <a:off x="505555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938;p104">
              <a:extLst>
                <a:ext uri="{FF2B5EF4-FFF2-40B4-BE49-F238E27FC236}">
                  <a16:creationId xmlns:a16="http://schemas.microsoft.com/office/drawing/2014/main" id="{76285F70-2325-6948-37FC-FA44D5C10DF1}"/>
                </a:ext>
              </a:extLst>
            </p:cNvPr>
            <p:cNvSpPr/>
            <p:nvPr/>
          </p:nvSpPr>
          <p:spPr>
            <a:xfrm>
              <a:off x="2242288" y="36545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" name="Google Shape;1939;p104">
              <a:extLst>
                <a:ext uri="{FF2B5EF4-FFF2-40B4-BE49-F238E27FC236}">
                  <a16:creationId xmlns:a16="http://schemas.microsoft.com/office/drawing/2014/main" id="{18AEFA4F-8470-6C2B-2082-B622C50B9E53}"/>
                </a:ext>
              </a:extLst>
            </p:cNvPr>
            <p:cNvCxnSpPr>
              <a:stCxn id="2" idx="1"/>
              <a:endCxn id="8" idx="6"/>
            </p:cNvCxnSpPr>
            <p:nvPr/>
          </p:nvCxnSpPr>
          <p:spPr>
            <a:xfrm rot="10800000">
              <a:off x="252725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940;p104">
              <a:extLst>
                <a:ext uri="{FF2B5EF4-FFF2-40B4-BE49-F238E27FC236}">
                  <a16:creationId xmlns:a16="http://schemas.microsoft.com/office/drawing/2014/main" id="{AC8CE63E-DD22-C7AB-18E1-78DC4307DE5A}"/>
                </a:ext>
              </a:extLst>
            </p:cNvPr>
            <p:cNvCxnSpPr>
              <a:stCxn id="11" idx="2"/>
              <a:endCxn id="7" idx="3"/>
            </p:cNvCxnSpPr>
            <p:nvPr/>
          </p:nvCxnSpPr>
          <p:spPr>
            <a:xfrm rot="10800000">
              <a:off x="5340488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941;p104">
              <a:extLst>
                <a:ext uri="{FF2B5EF4-FFF2-40B4-BE49-F238E27FC236}">
                  <a16:creationId xmlns:a16="http://schemas.microsoft.com/office/drawing/2014/main" id="{4FD5F7DD-47CC-068E-2596-D3488B8B2EA9}"/>
                </a:ext>
              </a:extLst>
            </p:cNvPr>
            <p:cNvSpPr/>
            <p:nvPr/>
          </p:nvSpPr>
          <p:spPr>
            <a:xfrm>
              <a:off x="5993288" y="36545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1942;p104">
              <a:extLst>
                <a:ext uri="{FF2B5EF4-FFF2-40B4-BE49-F238E27FC236}">
                  <a16:creationId xmlns:a16="http://schemas.microsoft.com/office/drawing/2014/main" id="{27898A72-10AC-97AE-9B34-7D7BF9FA0176}"/>
                </a:ext>
              </a:extLst>
            </p:cNvPr>
            <p:cNvSpPr/>
            <p:nvPr/>
          </p:nvSpPr>
          <p:spPr>
            <a:xfrm>
              <a:off x="2104100" y="2729500"/>
              <a:ext cx="1499100" cy="592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From: S     To: 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TTL = 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" name="Google Shape;1943;p104">
              <a:extLst>
                <a:ext uri="{FF2B5EF4-FFF2-40B4-BE49-F238E27FC236}">
                  <a16:creationId xmlns:a16="http://schemas.microsoft.com/office/drawing/2014/main" id="{389EDCA0-9054-E357-527F-582F5345779D}"/>
                </a:ext>
              </a:extLst>
            </p:cNvPr>
            <p:cNvCxnSpPr/>
            <p:nvPr/>
          </p:nvCxnSpPr>
          <p:spPr>
            <a:xfrm>
              <a:off x="2355500" y="3482625"/>
              <a:ext cx="996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Google Shape;1944;p104">
              <a:extLst>
                <a:ext uri="{FF2B5EF4-FFF2-40B4-BE49-F238E27FC236}">
                  <a16:creationId xmlns:a16="http://schemas.microsoft.com/office/drawing/2014/main" id="{11070E24-EC37-BC85-086C-8CCDFDDC5C3E}"/>
                </a:ext>
              </a:extLst>
            </p:cNvPr>
            <p:cNvCxnSpPr/>
            <p:nvPr/>
          </p:nvCxnSpPr>
          <p:spPr>
            <a:xfrm rot="10800000">
              <a:off x="2377700" y="4178700"/>
              <a:ext cx="951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Google Shape;1945;p104">
              <a:extLst>
                <a:ext uri="{FF2B5EF4-FFF2-40B4-BE49-F238E27FC236}">
                  <a16:creationId xmlns:a16="http://schemas.microsoft.com/office/drawing/2014/main" id="{AF1A49C4-1B66-C520-9BBB-0DA309D1373E}"/>
                </a:ext>
              </a:extLst>
            </p:cNvPr>
            <p:cNvSpPr/>
            <p:nvPr/>
          </p:nvSpPr>
          <p:spPr>
            <a:xfrm>
              <a:off x="2104100" y="4301650"/>
              <a:ext cx="1499100" cy="592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From: </a:t>
              </a: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    To: 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TTL Exceeded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6000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C2E1-D91B-AE61-358C-460AD790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577EA31A-5C12-4807-EBE4-4B4AE434551C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Exploiting TTL: Traceroute</a:t>
            </a:r>
            <a:endParaRPr lang="en-US">
              <a:latin typeface="+mn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8FF61F-1428-D61F-5F74-60CECD4B02EA}"/>
              </a:ext>
            </a:extLst>
          </p:cNvPr>
          <p:cNvGrpSpPr/>
          <p:nvPr/>
        </p:nvGrpSpPr>
        <p:grpSpPr>
          <a:xfrm>
            <a:off x="2758438" y="3715553"/>
            <a:ext cx="6675120" cy="2926080"/>
            <a:chOff x="2242288" y="2729500"/>
            <a:chExt cx="4036000" cy="2164650"/>
          </a:xfrm>
        </p:grpSpPr>
        <p:sp>
          <p:nvSpPr>
            <p:cNvPr id="17" name="Google Shape;1951;p105">
              <a:extLst>
                <a:ext uri="{FF2B5EF4-FFF2-40B4-BE49-F238E27FC236}">
                  <a16:creationId xmlns:a16="http://schemas.microsoft.com/office/drawing/2014/main" id="{5730EBE5-CBDC-F299-735A-8BE11B7B5DAA}"/>
                </a:ext>
              </a:extLst>
            </p:cNvPr>
            <p:cNvSpPr/>
            <p:nvPr/>
          </p:nvSpPr>
          <p:spPr>
            <a:xfrm>
              <a:off x="318005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952;p105">
              <a:extLst>
                <a:ext uri="{FF2B5EF4-FFF2-40B4-BE49-F238E27FC236}">
                  <a16:creationId xmlns:a16="http://schemas.microsoft.com/office/drawing/2014/main" id="{3072CD6E-1393-7565-2B7A-75CCE1C313E5}"/>
                </a:ext>
              </a:extLst>
            </p:cNvPr>
            <p:cNvSpPr/>
            <p:nvPr/>
          </p:nvSpPr>
          <p:spPr>
            <a:xfrm>
              <a:off x="411780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" name="Google Shape;1953;p105">
              <a:extLst>
                <a:ext uri="{FF2B5EF4-FFF2-40B4-BE49-F238E27FC236}">
                  <a16:creationId xmlns:a16="http://schemas.microsoft.com/office/drawing/2014/main" id="{CA9B442F-294B-8B5B-6D8D-4E92F29C95C2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>
              <a:off x="346505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954;p105">
              <a:extLst>
                <a:ext uri="{FF2B5EF4-FFF2-40B4-BE49-F238E27FC236}">
                  <a16:creationId xmlns:a16="http://schemas.microsoft.com/office/drawing/2014/main" id="{46BCC140-DBD5-45EF-816E-37E836E340E9}"/>
                </a:ext>
              </a:extLst>
            </p:cNvPr>
            <p:cNvCxnSpPr>
              <a:stCxn id="18" idx="3"/>
            </p:cNvCxnSpPr>
            <p:nvPr/>
          </p:nvCxnSpPr>
          <p:spPr>
            <a:xfrm>
              <a:off x="440280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1956;p105">
              <a:extLst>
                <a:ext uri="{FF2B5EF4-FFF2-40B4-BE49-F238E27FC236}">
                  <a16:creationId xmlns:a16="http://schemas.microsoft.com/office/drawing/2014/main" id="{862414DC-2AC6-113F-3F4C-0F739D49BE0B}"/>
                </a:ext>
              </a:extLst>
            </p:cNvPr>
            <p:cNvSpPr/>
            <p:nvPr/>
          </p:nvSpPr>
          <p:spPr>
            <a:xfrm>
              <a:off x="505555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1957;p105">
              <a:extLst>
                <a:ext uri="{FF2B5EF4-FFF2-40B4-BE49-F238E27FC236}">
                  <a16:creationId xmlns:a16="http://schemas.microsoft.com/office/drawing/2014/main" id="{F9D03611-62FF-9AF8-76E0-028396E5894B}"/>
                </a:ext>
              </a:extLst>
            </p:cNvPr>
            <p:cNvSpPr/>
            <p:nvPr/>
          </p:nvSpPr>
          <p:spPr>
            <a:xfrm>
              <a:off x="2242288" y="36545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" name="Google Shape;1958;p105">
              <a:extLst>
                <a:ext uri="{FF2B5EF4-FFF2-40B4-BE49-F238E27FC236}">
                  <a16:creationId xmlns:a16="http://schemas.microsoft.com/office/drawing/2014/main" id="{54568F49-FF3A-03DB-3D1C-168FFCF37769}"/>
                </a:ext>
              </a:extLst>
            </p:cNvPr>
            <p:cNvCxnSpPr>
              <a:stCxn id="17" idx="1"/>
              <a:endCxn id="22" idx="6"/>
            </p:cNvCxnSpPr>
            <p:nvPr/>
          </p:nvCxnSpPr>
          <p:spPr>
            <a:xfrm rot="10800000">
              <a:off x="252725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1959;p105">
              <a:extLst>
                <a:ext uri="{FF2B5EF4-FFF2-40B4-BE49-F238E27FC236}">
                  <a16:creationId xmlns:a16="http://schemas.microsoft.com/office/drawing/2014/main" id="{68BC0510-56C9-96B8-667B-F3CEE74E1E74}"/>
                </a:ext>
              </a:extLst>
            </p:cNvPr>
            <p:cNvCxnSpPr>
              <a:stCxn id="26" idx="2"/>
              <a:endCxn id="21" idx="3"/>
            </p:cNvCxnSpPr>
            <p:nvPr/>
          </p:nvCxnSpPr>
          <p:spPr>
            <a:xfrm rot="10800000">
              <a:off x="5340488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1960;p105">
              <a:extLst>
                <a:ext uri="{FF2B5EF4-FFF2-40B4-BE49-F238E27FC236}">
                  <a16:creationId xmlns:a16="http://schemas.microsoft.com/office/drawing/2014/main" id="{919EE0EF-3C39-45DF-DFD9-C25C1FA802E9}"/>
                </a:ext>
              </a:extLst>
            </p:cNvPr>
            <p:cNvSpPr/>
            <p:nvPr/>
          </p:nvSpPr>
          <p:spPr>
            <a:xfrm>
              <a:off x="5993288" y="36545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1961;p105">
              <a:extLst>
                <a:ext uri="{FF2B5EF4-FFF2-40B4-BE49-F238E27FC236}">
                  <a16:creationId xmlns:a16="http://schemas.microsoft.com/office/drawing/2014/main" id="{73064BF0-BED9-2DB0-BA86-3E214C4CE6AA}"/>
                </a:ext>
              </a:extLst>
            </p:cNvPr>
            <p:cNvSpPr/>
            <p:nvPr/>
          </p:nvSpPr>
          <p:spPr>
            <a:xfrm>
              <a:off x="2561300" y="2729500"/>
              <a:ext cx="1499100" cy="592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From: S     To: T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TTL = 2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" name="Google Shape;1962;p105">
              <a:extLst>
                <a:ext uri="{FF2B5EF4-FFF2-40B4-BE49-F238E27FC236}">
                  <a16:creationId xmlns:a16="http://schemas.microsoft.com/office/drawing/2014/main" id="{3B875242-6149-2EBA-1BBD-11709ED0D30B}"/>
                </a:ext>
              </a:extLst>
            </p:cNvPr>
            <p:cNvCxnSpPr/>
            <p:nvPr/>
          </p:nvCxnSpPr>
          <p:spPr>
            <a:xfrm>
              <a:off x="2355500" y="3482625"/>
              <a:ext cx="1899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Google Shape;1963;p105">
              <a:extLst>
                <a:ext uri="{FF2B5EF4-FFF2-40B4-BE49-F238E27FC236}">
                  <a16:creationId xmlns:a16="http://schemas.microsoft.com/office/drawing/2014/main" id="{8B169A90-AA1F-3506-1288-17CF46F5F637}"/>
                </a:ext>
              </a:extLst>
            </p:cNvPr>
            <p:cNvCxnSpPr/>
            <p:nvPr/>
          </p:nvCxnSpPr>
          <p:spPr>
            <a:xfrm rot="10800000">
              <a:off x="2397803" y="4178700"/>
              <a:ext cx="1814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" name="Google Shape;1964;p105">
              <a:extLst>
                <a:ext uri="{FF2B5EF4-FFF2-40B4-BE49-F238E27FC236}">
                  <a16:creationId xmlns:a16="http://schemas.microsoft.com/office/drawing/2014/main" id="{93B64A62-045C-2B06-DA08-8EA8F541268F}"/>
                </a:ext>
              </a:extLst>
            </p:cNvPr>
            <p:cNvSpPr/>
            <p:nvPr/>
          </p:nvSpPr>
          <p:spPr>
            <a:xfrm>
              <a:off x="2561300" y="4301650"/>
              <a:ext cx="1499100" cy="592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From: 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B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   To: 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TTL Exceeded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Google Shape;1913;p101">
            <a:extLst>
              <a:ext uri="{FF2B5EF4-FFF2-40B4-BE49-F238E27FC236}">
                <a16:creationId xmlns:a16="http://schemas.microsoft.com/office/drawing/2014/main" id="{C18C6043-3146-63E3-10E2-864D229C3853}"/>
              </a:ext>
            </a:extLst>
          </p:cNvPr>
          <p:cNvSpPr txBox="1">
            <a:spLocks/>
          </p:cNvSpPr>
          <p:nvPr/>
        </p:nvSpPr>
        <p:spPr>
          <a:xfrm>
            <a:off x="869428" y="971322"/>
            <a:ext cx="10453141" cy="2944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Traceroute: Exploiting the TTL to discover the path a packet travels along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You have done this in Lab 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Key idea: When TTL expires, the router sends back a "TTL Exceeded" error.</a:t>
            </a:r>
            <a:br>
              <a:rPr lang="en-US" sz="2400" dirty="0"/>
            </a:br>
            <a:r>
              <a:rPr lang="en-US" sz="2400" dirty="0"/>
              <a:t>This allows you to learn the identity one of the routers on the path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Basic approach: Send packets with TTL=1, TTL=2, TTL=3, etc.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In practice, not all routers respond with the "TTL Exceeded" message</a:t>
            </a:r>
          </a:p>
        </p:txBody>
      </p:sp>
    </p:spTree>
    <p:extLst>
      <p:ext uri="{BB962C8B-B14F-4D97-AF65-F5344CB8AC3E}">
        <p14:creationId xmlns:p14="http://schemas.microsoft.com/office/powerpoint/2010/main" val="1600789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C24EE-7D80-EEA7-BD9E-B7F8FFAB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1E305B92-09AB-0345-164E-668CDCDD8ADE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Exploiting TTL: Traceroute</a:t>
            </a:r>
            <a:endParaRPr lang="en-US">
              <a:latin typeface="+mn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E113CB-0424-C835-BF1A-DA590C633EBF}"/>
              </a:ext>
            </a:extLst>
          </p:cNvPr>
          <p:cNvGrpSpPr/>
          <p:nvPr/>
        </p:nvGrpSpPr>
        <p:grpSpPr>
          <a:xfrm>
            <a:off x="2758438" y="3715553"/>
            <a:ext cx="6675120" cy="2926080"/>
            <a:chOff x="2242288" y="2729500"/>
            <a:chExt cx="4036000" cy="2164650"/>
          </a:xfrm>
        </p:grpSpPr>
        <p:sp>
          <p:nvSpPr>
            <p:cNvPr id="17" name="Google Shape;1971;p106">
              <a:extLst>
                <a:ext uri="{FF2B5EF4-FFF2-40B4-BE49-F238E27FC236}">
                  <a16:creationId xmlns:a16="http://schemas.microsoft.com/office/drawing/2014/main" id="{5EE9CEF8-0421-1560-C13B-F222A9745462}"/>
                </a:ext>
              </a:extLst>
            </p:cNvPr>
            <p:cNvSpPr/>
            <p:nvPr/>
          </p:nvSpPr>
          <p:spPr>
            <a:xfrm>
              <a:off x="318005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972;p106">
              <a:extLst>
                <a:ext uri="{FF2B5EF4-FFF2-40B4-BE49-F238E27FC236}">
                  <a16:creationId xmlns:a16="http://schemas.microsoft.com/office/drawing/2014/main" id="{7862BE3B-9B16-D9C5-684C-048DE86D4A67}"/>
                </a:ext>
              </a:extLst>
            </p:cNvPr>
            <p:cNvSpPr/>
            <p:nvPr/>
          </p:nvSpPr>
          <p:spPr>
            <a:xfrm>
              <a:off x="411780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" name="Google Shape;1973;p106">
              <a:extLst>
                <a:ext uri="{FF2B5EF4-FFF2-40B4-BE49-F238E27FC236}">
                  <a16:creationId xmlns:a16="http://schemas.microsoft.com/office/drawing/2014/main" id="{78EC5D5C-CC76-2845-A7EA-42C73EE0F81B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>
              <a:off x="346505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974;p106">
              <a:extLst>
                <a:ext uri="{FF2B5EF4-FFF2-40B4-BE49-F238E27FC236}">
                  <a16:creationId xmlns:a16="http://schemas.microsoft.com/office/drawing/2014/main" id="{4FE978B8-C3DA-56B4-F1AC-A86964322609}"/>
                </a:ext>
              </a:extLst>
            </p:cNvPr>
            <p:cNvCxnSpPr>
              <a:stCxn id="18" idx="3"/>
            </p:cNvCxnSpPr>
            <p:nvPr/>
          </p:nvCxnSpPr>
          <p:spPr>
            <a:xfrm>
              <a:off x="440280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1976;p106">
              <a:extLst>
                <a:ext uri="{FF2B5EF4-FFF2-40B4-BE49-F238E27FC236}">
                  <a16:creationId xmlns:a16="http://schemas.microsoft.com/office/drawing/2014/main" id="{B0989745-68DE-D3ED-F0B6-D9E38BA4A75C}"/>
                </a:ext>
              </a:extLst>
            </p:cNvPr>
            <p:cNvSpPr/>
            <p:nvPr/>
          </p:nvSpPr>
          <p:spPr>
            <a:xfrm>
              <a:off x="5055553" y="3654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1977;p106">
              <a:extLst>
                <a:ext uri="{FF2B5EF4-FFF2-40B4-BE49-F238E27FC236}">
                  <a16:creationId xmlns:a16="http://schemas.microsoft.com/office/drawing/2014/main" id="{B238DEA5-8AEE-8EC7-ECC1-5FDCD5B1A58D}"/>
                </a:ext>
              </a:extLst>
            </p:cNvPr>
            <p:cNvSpPr/>
            <p:nvPr/>
          </p:nvSpPr>
          <p:spPr>
            <a:xfrm>
              <a:off x="2242288" y="36545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" name="Google Shape;1978;p106">
              <a:extLst>
                <a:ext uri="{FF2B5EF4-FFF2-40B4-BE49-F238E27FC236}">
                  <a16:creationId xmlns:a16="http://schemas.microsoft.com/office/drawing/2014/main" id="{D16A9656-D792-EF82-257F-F9FAD05055EE}"/>
                </a:ext>
              </a:extLst>
            </p:cNvPr>
            <p:cNvCxnSpPr>
              <a:stCxn id="17" idx="1"/>
              <a:endCxn id="22" idx="6"/>
            </p:cNvCxnSpPr>
            <p:nvPr/>
          </p:nvCxnSpPr>
          <p:spPr>
            <a:xfrm rot="10800000">
              <a:off x="2527253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1979;p106">
              <a:extLst>
                <a:ext uri="{FF2B5EF4-FFF2-40B4-BE49-F238E27FC236}">
                  <a16:creationId xmlns:a16="http://schemas.microsoft.com/office/drawing/2014/main" id="{27D939B9-AEDE-AAB3-D29B-A031A4BF886F}"/>
                </a:ext>
              </a:extLst>
            </p:cNvPr>
            <p:cNvCxnSpPr>
              <a:stCxn id="26" idx="2"/>
              <a:endCxn id="21" idx="3"/>
            </p:cNvCxnSpPr>
            <p:nvPr/>
          </p:nvCxnSpPr>
          <p:spPr>
            <a:xfrm rot="10800000">
              <a:off x="5340488" y="3797050"/>
              <a:ext cx="652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1980;p106">
              <a:extLst>
                <a:ext uri="{FF2B5EF4-FFF2-40B4-BE49-F238E27FC236}">
                  <a16:creationId xmlns:a16="http://schemas.microsoft.com/office/drawing/2014/main" id="{1894D01D-924C-30DA-CA21-79ECDCDDE031}"/>
                </a:ext>
              </a:extLst>
            </p:cNvPr>
            <p:cNvSpPr/>
            <p:nvPr/>
          </p:nvSpPr>
          <p:spPr>
            <a:xfrm>
              <a:off x="5993288" y="36545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1981;p106">
              <a:extLst>
                <a:ext uri="{FF2B5EF4-FFF2-40B4-BE49-F238E27FC236}">
                  <a16:creationId xmlns:a16="http://schemas.microsoft.com/office/drawing/2014/main" id="{2D94E370-2DEA-1FBD-B304-2EA7371ADADF}"/>
                </a:ext>
              </a:extLst>
            </p:cNvPr>
            <p:cNvSpPr/>
            <p:nvPr/>
          </p:nvSpPr>
          <p:spPr>
            <a:xfrm>
              <a:off x="3018500" y="2729500"/>
              <a:ext cx="1499100" cy="592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From: S     To: 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TTL = 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" name="Google Shape;1982;p106">
              <a:extLst>
                <a:ext uri="{FF2B5EF4-FFF2-40B4-BE49-F238E27FC236}">
                  <a16:creationId xmlns:a16="http://schemas.microsoft.com/office/drawing/2014/main" id="{EE7C774D-45B3-F2A2-2638-DC9D6EDFCBD2}"/>
                </a:ext>
              </a:extLst>
            </p:cNvPr>
            <p:cNvCxnSpPr/>
            <p:nvPr/>
          </p:nvCxnSpPr>
          <p:spPr>
            <a:xfrm>
              <a:off x="2355500" y="3482625"/>
              <a:ext cx="2832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Google Shape;1983;p106">
              <a:extLst>
                <a:ext uri="{FF2B5EF4-FFF2-40B4-BE49-F238E27FC236}">
                  <a16:creationId xmlns:a16="http://schemas.microsoft.com/office/drawing/2014/main" id="{498491F4-22B7-BCC7-96C1-30625B6397EA}"/>
                </a:ext>
              </a:extLst>
            </p:cNvPr>
            <p:cNvCxnSpPr/>
            <p:nvPr/>
          </p:nvCxnSpPr>
          <p:spPr>
            <a:xfrm rot="10800000">
              <a:off x="2418688" y="4178700"/>
              <a:ext cx="2706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" name="Google Shape;1984;p106">
              <a:extLst>
                <a:ext uri="{FF2B5EF4-FFF2-40B4-BE49-F238E27FC236}">
                  <a16:creationId xmlns:a16="http://schemas.microsoft.com/office/drawing/2014/main" id="{970E247A-6F01-C4D2-D721-C51C449D4C4B}"/>
                </a:ext>
              </a:extLst>
            </p:cNvPr>
            <p:cNvSpPr/>
            <p:nvPr/>
          </p:nvSpPr>
          <p:spPr>
            <a:xfrm>
              <a:off x="3018500" y="4301650"/>
              <a:ext cx="1499100" cy="592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From: 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C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   To: 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TTL Exceeded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Google Shape;1913;p101">
            <a:extLst>
              <a:ext uri="{FF2B5EF4-FFF2-40B4-BE49-F238E27FC236}">
                <a16:creationId xmlns:a16="http://schemas.microsoft.com/office/drawing/2014/main" id="{094B7F4B-8BCE-1664-610A-A91D94E32A0F}"/>
              </a:ext>
            </a:extLst>
          </p:cNvPr>
          <p:cNvSpPr txBox="1">
            <a:spLocks/>
          </p:cNvSpPr>
          <p:nvPr/>
        </p:nvSpPr>
        <p:spPr>
          <a:xfrm>
            <a:off x="869428" y="971322"/>
            <a:ext cx="10453141" cy="2944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Traceroute: Exploiting the TTL to discover the path a packet travels along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You have done this in Lab 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Key idea: When TTL expires, the router sends back a "TTL Exceeded" error.</a:t>
            </a:r>
            <a:br>
              <a:rPr lang="en-US" sz="2400" dirty="0"/>
            </a:br>
            <a:r>
              <a:rPr lang="en-US" sz="2400" dirty="0"/>
              <a:t>This allows you to learn the identity one of the routers on the path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Basic approach: Send packets with TTL=1, TTL=2, TTL=3, etc.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In practice, not all routers respond with the "TTL Exceeded" message</a:t>
            </a:r>
          </a:p>
        </p:txBody>
      </p:sp>
    </p:spTree>
    <p:extLst>
      <p:ext uri="{BB962C8B-B14F-4D97-AF65-F5344CB8AC3E}">
        <p14:creationId xmlns:p14="http://schemas.microsoft.com/office/powerpoint/2010/main" val="4240452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2979-C973-2280-DB28-97DE0E1A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064EFF29-424C-8BCD-6642-9C494E676750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Exploiting Other Fields?</a:t>
            </a:r>
            <a:endParaRPr lang="en-US">
              <a:latin typeface="+mn-lt"/>
            </a:endParaRPr>
          </a:p>
        </p:txBody>
      </p:sp>
      <p:sp>
        <p:nvSpPr>
          <p:cNvPr id="4" name="Google Shape;1913;p101">
            <a:extLst>
              <a:ext uri="{FF2B5EF4-FFF2-40B4-BE49-F238E27FC236}">
                <a16:creationId xmlns:a16="http://schemas.microsoft.com/office/drawing/2014/main" id="{8A4173DA-9CC3-B1F6-16FC-B09786E1AA4C}"/>
              </a:ext>
            </a:extLst>
          </p:cNvPr>
          <p:cNvSpPr txBox="1">
            <a:spLocks/>
          </p:cNvSpPr>
          <p:nvPr/>
        </p:nvSpPr>
        <p:spPr>
          <a:xfrm>
            <a:off x="869428" y="1633502"/>
            <a:ext cx="10453141" cy="3400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Exploiting protocol field?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protocol is set incorrectly, the next layer will find the packet malformed.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Exploiting checksum?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bad checksum causes the network to drop the packet.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These are not effective attacks.</a:t>
            </a:r>
          </a:p>
        </p:txBody>
      </p:sp>
    </p:spTree>
    <p:extLst>
      <p:ext uri="{BB962C8B-B14F-4D97-AF65-F5344CB8AC3E}">
        <p14:creationId xmlns:p14="http://schemas.microsoft.com/office/powerpoint/2010/main" val="1206517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7ABE-AA41-6F86-EEB1-8B26823B9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B6009F39-2F7B-35F9-605B-048E5456256B}"/>
              </a:ext>
            </a:extLst>
          </p:cNvPr>
          <p:cNvSpPr txBox="1">
            <a:spLocks/>
          </p:cNvSpPr>
          <p:nvPr/>
        </p:nvSpPr>
        <p:spPr>
          <a:xfrm>
            <a:off x="869429" y="216367"/>
            <a:ext cx="10453141" cy="894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/>
              <a:t>Summary of IP Attacks</a:t>
            </a:r>
            <a:endParaRPr lang="en-US">
              <a:latin typeface="+mn-lt"/>
            </a:endParaRPr>
          </a:p>
        </p:txBody>
      </p:sp>
      <p:sp>
        <p:nvSpPr>
          <p:cNvPr id="2" name="Google Shape;1997;p108">
            <a:extLst>
              <a:ext uri="{FF2B5EF4-FFF2-40B4-BE49-F238E27FC236}">
                <a16:creationId xmlns:a16="http://schemas.microsoft.com/office/drawing/2014/main" id="{28C2E8AC-C9D8-1DC5-A75A-D57345DFDF0A}"/>
              </a:ext>
            </a:extLst>
          </p:cNvPr>
          <p:cNvSpPr txBox="1">
            <a:spLocks/>
          </p:cNvSpPr>
          <p:nvPr/>
        </p:nvSpPr>
        <p:spPr>
          <a:xfrm>
            <a:off x="1641151" y="1045666"/>
            <a:ext cx="8909700" cy="23833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highlight>
                  <a:srgbClr val="F4CCCC"/>
                </a:highlight>
              </a:rPr>
              <a:t>Source IP address: Spoofing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highlight>
                  <a:srgbClr val="FCE5CD"/>
                </a:highlight>
              </a:rPr>
              <a:t>Type of service: Prioritize attacker traffic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highlight>
                  <a:srgbClr val="D9EAD3"/>
                </a:highlight>
              </a:rPr>
              <a:t>Fragmentation, Options: Denial-of-service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highlight>
                  <a:srgbClr val="C9DAF8"/>
                </a:highlight>
              </a:rPr>
              <a:t>TTL: Traceroute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highlight>
                  <a:srgbClr val="D9D9D9"/>
                </a:highlight>
              </a:rPr>
              <a:t>Protocol, Checksum: No apparent problems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3" name="Google Shape;1998;p108">
            <a:extLst>
              <a:ext uri="{FF2B5EF4-FFF2-40B4-BE49-F238E27FC236}">
                <a16:creationId xmlns:a16="http://schemas.microsoft.com/office/drawing/2014/main" id="{EC72A85D-D025-841D-06D3-2C74B62830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772814"/>
              </p:ext>
            </p:extLst>
          </p:nvPr>
        </p:nvGraphicFramePr>
        <p:xfrm>
          <a:off x="1641149" y="3546737"/>
          <a:ext cx="8909702" cy="331126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1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2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3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3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3249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Hdr len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Service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CE5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Length in Bytes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62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Fragment Offset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62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Protocol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 Checksum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62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62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Address (32 bits)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462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 (if any)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462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7425" marR="27425" marT="27425" marB="2742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258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4813</TotalTime>
  <Words>2939</Words>
  <Application>Microsoft Office PowerPoint</Application>
  <PresentationFormat>Widescreen</PresentationFormat>
  <Paragraphs>442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var(--font-mono)</vt:lpstr>
      <vt:lpstr>Aptos</vt:lpstr>
      <vt:lpstr>Aptos Display</vt:lpstr>
      <vt:lpstr>Arial</vt:lpstr>
      <vt:lpstr>Calibri</vt:lpstr>
      <vt:lpstr>Roboto</vt:lpstr>
      <vt:lpstr>Tahoma</vt:lpstr>
      <vt:lpstr>Wingdings</vt:lpstr>
      <vt:lpstr>Office Theme</vt:lpstr>
      <vt:lpstr>CSC 3511 Security and Networking</vt:lpstr>
      <vt:lpstr>PowerPoint Presentation</vt:lpstr>
      <vt:lpstr>PowerPoint Presentation</vt:lpstr>
      <vt:lpstr>Introducing the IP Header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659</cp:revision>
  <dcterms:created xsi:type="dcterms:W3CDTF">2025-09-03T22:06:31Z</dcterms:created>
  <dcterms:modified xsi:type="dcterms:W3CDTF">2025-10-05T19:08:07Z</dcterms:modified>
</cp:coreProperties>
</file>