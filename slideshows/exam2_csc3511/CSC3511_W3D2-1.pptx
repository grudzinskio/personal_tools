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257" r:id="rId2"/>
    <p:sldId id="1253" r:id="rId3"/>
    <p:sldId id="1206" r:id="rId4"/>
    <p:sldId id="1255" r:id="rId5"/>
    <p:sldId id="1154" r:id="rId6"/>
    <p:sldId id="1086" r:id="rId7"/>
    <p:sldId id="1049" r:id="rId8"/>
    <p:sldId id="1256" r:id="rId9"/>
    <p:sldId id="1161" r:id="rId10"/>
    <p:sldId id="1162" r:id="rId11"/>
    <p:sldId id="1164" r:id="rId12"/>
    <p:sldId id="1165" r:id="rId13"/>
    <p:sldId id="1166" r:id="rId14"/>
    <p:sldId id="1167" r:id="rId15"/>
    <p:sldId id="1058" r:id="rId16"/>
    <p:sldId id="1168" r:id="rId17"/>
    <p:sldId id="1169" r:id="rId18"/>
    <p:sldId id="1231" r:id="rId19"/>
    <p:sldId id="1232" r:id="rId20"/>
    <p:sldId id="1170" r:id="rId21"/>
    <p:sldId id="1171" r:id="rId22"/>
    <p:sldId id="1233" r:id="rId23"/>
    <p:sldId id="1234" r:id="rId24"/>
    <p:sldId id="1218" r:id="rId25"/>
    <p:sldId id="1226" r:id="rId26"/>
    <p:sldId id="1155" r:id="rId27"/>
    <p:sldId id="1221" r:id="rId28"/>
    <p:sldId id="1051" r:id="rId29"/>
    <p:sldId id="1052" r:id="rId30"/>
    <p:sldId id="1216"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9339" autoAdjust="0"/>
  </p:normalViewPr>
  <p:slideViewPr>
    <p:cSldViewPr snapToGrid="0">
      <p:cViewPr varScale="1">
        <p:scale>
          <a:sx n="85" d="100"/>
          <a:sy n="85" d="100"/>
        </p:scale>
        <p:origin x="1858"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95325D3-F1C7-4B36-A88F-5BFB155084BF}" type="datetimeFigureOut">
              <a:rPr lang="en-US" smtClean="0"/>
              <a:t>9/18/2025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DCB26F-7BF5-4DA6-BA18-A0B7008BFCA0}" type="slidenum">
              <a:rPr lang="en-US" smtClean="0"/>
              <a:t>‹#›</a:t>
            </a:fld>
            <a:endParaRPr lang="en-US"/>
          </a:p>
        </p:txBody>
      </p:sp>
    </p:spTree>
    <p:extLst>
      <p:ext uri="{BB962C8B-B14F-4D97-AF65-F5344CB8AC3E}">
        <p14:creationId xmlns:p14="http://schemas.microsoft.com/office/powerpoint/2010/main" val="18055507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46198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143544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308775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53694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15253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0" i="0" u="none" strike="noStrike" baseline="0" dirty="0">
                <a:latin typeface="TimesLTPro-Roman"/>
              </a:rPr>
              <a:t>DNS is an example of an application-layer protocol that typically uses UDP. When the DNS application in a host wants to make a query, it constructs a DNS query</a:t>
            </a:r>
          </a:p>
          <a:p>
            <a:pPr algn="l"/>
            <a:r>
              <a:rPr lang="en-US" sz="1800" b="0" i="0" u="none" strike="noStrike" baseline="0" dirty="0">
                <a:latin typeface="TimesLTPro-Roman"/>
              </a:rPr>
              <a:t>message and passes the message to UDP. The host-side UDP adds header fields to the message and passes the resulting segment to the network layer. The network layer encapsulates the UDP segment into a datagram and sends the datagram to a name server. The DNS application at the querying host then waits for a reply to its query. If it doesn’t receive a reply (possibly because the underlying network lost the query or the reply), it might try resending the query, try sending the query to another name server, or inform the invoking application that it can’t get a reply.</a:t>
            </a: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038696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67922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720575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UDP packet consists of the following fields:</a:t>
            </a:r>
          </a:p>
          <a:p>
            <a:pPr lvl="1">
              <a:buFont typeface="Arial" panose="020B0604020202020204" pitchFamily="34" charset="0"/>
              <a:buChar char="•"/>
            </a:pPr>
            <a:r>
              <a:rPr lang="en-US" b="1" dirty="0"/>
              <a:t>Source Port</a:t>
            </a:r>
            <a:r>
              <a:rPr lang="en-US" dirty="0"/>
              <a:t>: The port number of the sender.</a:t>
            </a:r>
          </a:p>
          <a:p>
            <a:pPr lvl="1">
              <a:buFont typeface="Arial" panose="020B0604020202020204" pitchFamily="34" charset="0"/>
              <a:buChar char="•"/>
            </a:pPr>
            <a:r>
              <a:rPr lang="en-US" b="1" dirty="0"/>
              <a:t>Destination Port</a:t>
            </a:r>
            <a:r>
              <a:rPr lang="en-US" dirty="0"/>
              <a:t>: The port number of the receiver.</a:t>
            </a:r>
          </a:p>
          <a:p>
            <a:pPr lvl="1">
              <a:buFont typeface="Arial" panose="020B0604020202020204" pitchFamily="34" charset="0"/>
              <a:buChar char="•"/>
            </a:pPr>
            <a:r>
              <a:rPr lang="en-US" b="1" dirty="0"/>
              <a:t>Length</a:t>
            </a:r>
            <a:r>
              <a:rPr lang="en-US" dirty="0"/>
              <a:t>: The total length of the UDP header and data.</a:t>
            </a:r>
          </a:p>
          <a:p>
            <a:pPr lvl="1">
              <a:buFont typeface="Arial" panose="020B0604020202020204" pitchFamily="34" charset="0"/>
              <a:buChar char="•"/>
            </a:pPr>
            <a:r>
              <a:rPr lang="en-US" b="1" dirty="0"/>
              <a:t>Checksum</a:t>
            </a:r>
            <a:r>
              <a:rPr lang="en-US" dirty="0"/>
              <a:t>: A 16-bit field used for error-checking the packet.</a:t>
            </a:r>
          </a:p>
          <a:p>
            <a:endParaRPr lang="en-US" b="1" dirty="0"/>
          </a:p>
          <a:p>
            <a:r>
              <a:rPr lang="en-US" dirty="0"/>
              <a:t>The </a:t>
            </a:r>
            <a:r>
              <a:rPr lang="en-US" b="1" dirty="0"/>
              <a:t>checksum</a:t>
            </a:r>
            <a:r>
              <a:rPr lang="en-US" dirty="0"/>
              <a:t> field is optional in UDP (but in practice, it’s often used). If the checksum is set to 0, it means the checksum feature is not being used. However, if a checksum is calculated, the receiver will use it to verify the integrity of the data.</a:t>
            </a:r>
            <a:endParaRPr lang="en-US" b="1"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740690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73817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524433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Wraparound</a:t>
            </a:r>
            <a:r>
              <a:rPr lang="en-US" dirty="0"/>
              <a:t> occurs when the sum of two 16-bit numbers exceeds 16 bits, producing a carryout from the most significant bit.</a:t>
            </a:r>
          </a:p>
          <a:p>
            <a:endParaRPr lang="en-US" dirty="0"/>
          </a:p>
          <a:p>
            <a:r>
              <a:rPr lang="en-US" dirty="0"/>
              <a:t>Instead of discarding this overflow, the </a:t>
            </a:r>
            <a:r>
              <a:rPr lang="en-US" b="1" dirty="0"/>
              <a:t>carryout</a:t>
            </a:r>
            <a:r>
              <a:rPr lang="en-US" dirty="0"/>
              <a:t> bit is added back into the least significant bit of the result. This is a feature of the Internet checksum algorithm to ensure that the result fits within the 16-bit space.</a:t>
            </a:r>
          </a:p>
          <a:p>
            <a:r>
              <a:rPr lang="en-US" dirty="0"/>
              <a:t>It’s important because the checksum algorithm works by continuously adding 16-bit words, and every time the sum overflows beyond 16 bits, that extra bit (the carry) is added back to the sum.</a:t>
            </a:r>
          </a:p>
          <a:p>
            <a:endParaRPr lang="en-US" dirty="0"/>
          </a:p>
          <a:p>
            <a:r>
              <a:rPr lang="en-US" dirty="0"/>
              <a:t>The one's complement is achieved by </a:t>
            </a:r>
            <a:r>
              <a:rPr lang="en-US" b="1" dirty="0"/>
              <a:t>flipping all the bits</a:t>
            </a:r>
            <a:r>
              <a:rPr lang="en-US" dirty="0"/>
              <a:t> (i.e., turning 1s into 0s and 0s into 1s).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480769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Protocol number</a:t>
            </a:r>
            <a:r>
              <a:rPr lang="en-US" dirty="0"/>
              <a:t>: Indicates this is a UDP packet (protocol number 17).</a:t>
            </a:r>
          </a:p>
          <a:p>
            <a:r>
              <a:rPr lang="en-US" dirty="0"/>
              <a:t>The pseudo-header is </a:t>
            </a:r>
            <a:r>
              <a:rPr lang="en-US" b="1" dirty="0"/>
              <a:t>not transmitted</a:t>
            </a:r>
            <a:r>
              <a:rPr lang="en-US" dirty="0"/>
              <a:t> but is used to calculate the checksum to ensure the data reaches the correct destination.</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583647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Protocol number</a:t>
            </a:r>
            <a:r>
              <a:rPr lang="en-US" dirty="0"/>
              <a:t>: Indicates this is a UDP packet (protocol number 17).</a:t>
            </a:r>
          </a:p>
          <a:p>
            <a:r>
              <a:rPr lang="en-US" dirty="0"/>
              <a:t>The pseudo-header is </a:t>
            </a:r>
            <a:r>
              <a:rPr lang="en-US" b="1" dirty="0"/>
              <a:t>not transmitted</a:t>
            </a:r>
            <a:r>
              <a:rPr lang="en-US" dirty="0"/>
              <a:t> but is used to calculate the checksum to ensure the data reaches the correct destination.</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926466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193389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8196527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Why IP Addresses Are Not in TCP/UDP Segments:</a:t>
            </a:r>
          </a:p>
          <a:p>
            <a:pPr>
              <a:buFont typeface="Arial" panose="020B0604020202020204" pitchFamily="34" charset="0"/>
              <a:buNone/>
            </a:pPr>
            <a:r>
              <a:rPr lang="en-US" b="1" dirty="0"/>
              <a:t>1. TCP and UDP</a:t>
            </a:r>
            <a:r>
              <a:rPr lang="en-US" dirty="0"/>
              <a:t> are concerned with process-to-process communication (using ports) and leave </a:t>
            </a:r>
            <a:r>
              <a:rPr lang="en-US" b="1" dirty="0"/>
              <a:t>host-to-host</a:t>
            </a:r>
            <a:r>
              <a:rPr lang="en-US" dirty="0"/>
              <a:t> communication (using IP addresses) to the </a:t>
            </a:r>
            <a:r>
              <a:rPr lang="en-US" b="1" dirty="0"/>
              <a:t>Network Layer (IP)</a:t>
            </a:r>
            <a:r>
              <a:rPr lang="en-US" dirty="0"/>
              <a:t>.</a:t>
            </a:r>
          </a:p>
          <a:p>
            <a:pPr>
              <a:buFont typeface="Arial" panose="020B0604020202020204" pitchFamily="34" charset="0"/>
              <a:buNone/>
            </a:pPr>
            <a:r>
              <a:rPr lang="en-US" b="1" dirty="0"/>
              <a:t>2. IP addresses</a:t>
            </a:r>
            <a:r>
              <a:rPr lang="en-US" dirty="0"/>
              <a:t> are added at the </a:t>
            </a:r>
            <a:r>
              <a:rPr lang="en-US" b="1" dirty="0"/>
              <a:t>Network Layer</a:t>
            </a:r>
            <a:r>
              <a:rPr lang="en-US" dirty="0"/>
              <a:t>, which is responsible for routing packets between devices across networks.</a:t>
            </a:r>
          </a:p>
          <a:p>
            <a:endParaRPr lang="en-US" b="1" dirty="0"/>
          </a:p>
          <a:p>
            <a:endParaRPr lang="en-US" b="1" dirty="0"/>
          </a:p>
          <a:p>
            <a:r>
              <a:rPr lang="en-US" b="1" dirty="0"/>
              <a:t>Layered Architecture in the TCP/IP Model:</a:t>
            </a:r>
          </a:p>
          <a:p>
            <a:r>
              <a:rPr lang="en-US" dirty="0"/>
              <a:t>In the TCP/IP model, there are several layers, each with a specific responsibility (The functions of each layer of the OSI model are similar to those of the TCP/IP model):</a:t>
            </a:r>
          </a:p>
          <a:p>
            <a:pPr>
              <a:buFont typeface="+mj-lt"/>
              <a:buAutoNum type="arabicPeriod"/>
            </a:pPr>
            <a:r>
              <a:rPr lang="en-US" b="1" dirty="0"/>
              <a:t> Application Layer - &gt; </a:t>
            </a:r>
            <a:r>
              <a:rPr lang="en-US" dirty="0"/>
              <a:t>generates the data (e.g., a web request): Handles data exchange between applications (e.g., HTTP, FTP).</a:t>
            </a:r>
          </a:p>
          <a:p>
            <a:pPr>
              <a:buFont typeface="+mj-lt"/>
              <a:buAutoNum type="arabicPeriod"/>
            </a:pPr>
            <a:r>
              <a:rPr lang="en-US" b="1" dirty="0"/>
              <a:t> Transport Layer -&gt; </a:t>
            </a:r>
            <a:r>
              <a:rPr lang="en-US" dirty="0"/>
              <a:t>encapsulates the data with the necessary transport information (e.g., ports, sequence numbers): Manages communication between processes (e.g., TCP, UDP).</a:t>
            </a:r>
          </a:p>
          <a:p>
            <a:pPr>
              <a:buFont typeface="+mj-lt"/>
              <a:buAutoNum type="arabicPeriod"/>
            </a:pPr>
            <a:r>
              <a:rPr lang="en-US" b="1" dirty="0"/>
              <a:t> Network Layer -&gt; </a:t>
            </a:r>
            <a:r>
              <a:rPr lang="en-US" dirty="0"/>
              <a:t>encapsulates the TCP or UDP segment with the </a:t>
            </a:r>
            <a:r>
              <a:rPr lang="en-US" b="1" dirty="0"/>
              <a:t>IP addresses</a:t>
            </a:r>
            <a:r>
              <a:rPr lang="en-US" dirty="0"/>
              <a:t> and routing information: Manages data transfer between hosts (e.g., IP addresses, routing).</a:t>
            </a:r>
          </a:p>
          <a:p>
            <a:pPr>
              <a:buFont typeface="+mj-lt"/>
              <a:buAutoNum type="arabicPeriod"/>
            </a:pPr>
            <a:r>
              <a:rPr lang="en-US" b="1" dirty="0"/>
              <a:t> Data Link Layer</a:t>
            </a:r>
            <a:r>
              <a:rPr lang="en-US" dirty="0"/>
              <a:t>: Manages data transfer within the same network (e.g., Ethernet, MAC addresses).</a:t>
            </a:r>
          </a:p>
          <a:p>
            <a:endParaRPr lang="en-US" b="1" dirty="0"/>
          </a:p>
          <a:p>
            <a:endParaRPr lang="en-US" b="1" dirty="0"/>
          </a:p>
          <a:p>
            <a:endParaRPr lang="en-US" b="1"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1775954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Note: Each application (Netflix, Skype, Apache HTTP Server) uses a unique port number, allowing them to communicate over the same IP address simultaneously,</a:t>
            </a:r>
            <a:r>
              <a:rPr lang="zh-CN" altLang="en-US" b="1" dirty="0"/>
              <a:t> </a:t>
            </a:r>
            <a:r>
              <a:rPr lang="en-US" altLang="zh-CN" b="1" dirty="0"/>
              <a:t>specifically</a:t>
            </a:r>
            <a:r>
              <a:rPr lang="zh-CN" altLang="en-US" b="1" dirty="0"/>
              <a:t>：</a:t>
            </a:r>
            <a:endParaRPr lang="en-US" altLang="zh-CN" b="1" dirty="0"/>
          </a:p>
          <a:p>
            <a:endParaRPr lang="en-US" b="1" dirty="0"/>
          </a:p>
          <a:p>
            <a:r>
              <a:rPr lang="en-US" b="1" dirty="0"/>
              <a:t>Multiplexing</a:t>
            </a:r>
            <a:r>
              <a:rPr lang="en-US" dirty="0"/>
              <a:t> (at the sender side) is the process of combining data from multiple applications or processes into a single stream for transmission over the network. This is done by adding </a:t>
            </a:r>
            <a:r>
              <a:rPr lang="en-US" b="1" dirty="0"/>
              <a:t>port numbers</a:t>
            </a:r>
            <a:r>
              <a:rPr lang="en-US" dirty="0"/>
              <a:t> to the segment headers, allowing the transport layer to distinguish which application sent the </a:t>
            </a:r>
            <a:r>
              <a:rPr lang="en-US"/>
              <a:t>data.</a:t>
            </a:r>
          </a:p>
          <a:p>
            <a:endParaRPr lang="en-US" dirty="0"/>
          </a:p>
          <a:p>
            <a:r>
              <a:rPr lang="en-US" b="1" dirty="0"/>
              <a:t>Demultiplexing</a:t>
            </a:r>
            <a:r>
              <a:rPr lang="en-US" dirty="0"/>
              <a:t> (at the receiver side) is the reverse process, where the Transport Layer reads the </a:t>
            </a:r>
            <a:r>
              <a:rPr lang="en-US" b="1" dirty="0"/>
              <a:t>port numbers</a:t>
            </a:r>
            <a:r>
              <a:rPr lang="en-US" dirty="0"/>
              <a:t> from the incoming segment and directs the data to the correct application. This ensures that even though multiple applications share the same IP address, they get their own data stream via port numbers.</a:t>
            </a:r>
          </a:p>
          <a:p>
            <a:pPr>
              <a:buFont typeface="Arial" panose="020B0604020202020204" pitchFamily="34" charset="0"/>
              <a:buChar char="•"/>
            </a:pPr>
            <a:r>
              <a:rPr lang="en-US" b="1" dirty="0"/>
              <a:t>TCP</a:t>
            </a:r>
            <a:r>
              <a:rPr lang="en-US" dirty="0"/>
              <a:t> and </a:t>
            </a:r>
            <a:r>
              <a:rPr lang="en-US" b="1" dirty="0"/>
              <a:t>UDP</a:t>
            </a:r>
            <a:r>
              <a:rPr lang="en-US" dirty="0"/>
              <a:t> handle this by using </a:t>
            </a:r>
            <a:r>
              <a:rPr lang="en-US" b="1" dirty="0"/>
              <a:t>source and destination port numbers</a:t>
            </a:r>
            <a:r>
              <a:rPr lang="en-US" dirty="0"/>
              <a:t> in their headers, which uniquely identify each communication endpoint at the application level.</a:t>
            </a:r>
          </a:p>
          <a:p>
            <a:endParaRPr lang="en-US" b="1" dirty="0"/>
          </a:p>
          <a:p>
            <a:endParaRPr lang="en-US" b="1"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5332020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9738417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9541455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0151376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3254051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5733330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3146227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demonstrating the concept of </a:t>
            </a:r>
            <a:r>
              <a:rPr lang="en-US" b="1" dirty="0"/>
              <a:t>connectionless demultiplexing</a:t>
            </a:r>
            <a:r>
              <a:rPr lang="en-US" dirty="0"/>
              <a:t> in the </a:t>
            </a:r>
            <a:r>
              <a:rPr lang="en-US" b="1" dirty="0"/>
              <a:t>UDP protocol</a:t>
            </a:r>
            <a:r>
              <a:rPr lang="en-US" dirty="0"/>
              <a:t>, where multiple applications on the same machine can receive data, even though the data is arriving through different ports or even the same port. It shows how UDP segments from different sources can be directed to the correct applications (P1, P3, P4) based on </a:t>
            </a:r>
            <a:r>
              <a:rPr lang="en-US" b="1" dirty="0"/>
              <a:t>port numbers</a:t>
            </a:r>
            <a:r>
              <a:rPr lang="en-US" dirty="0"/>
              <a:t>.</a:t>
            </a:r>
          </a:p>
          <a:p>
            <a:endParaRPr lang="en-US" dirty="0"/>
          </a:p>
          <a:p>
            <a:r>
              <a:rPr lang="en-US" dirty="0"/>
              <a:t>The UDP segments from different machines/applications (P3, P4) will be directed to same socket (the yellow block in the central machine) at receiving host.</a:t>
            </a:r>
          </a:p>
          <a:p>
            <a:endParaRPr lang="en-US" dirty="0"/>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953064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4C98F-B827-13AD-265C-514C216220B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AA41564-4F01-3DA7-30A5-41B696027D2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298C639-4AB9-F4D6-CFBA-209FE857A5B2}"/>
              </a:ext>
            </a:extLst>
          </p:cNvPr>
          <p:cNvSpPr>
            <a:spLocks noGrp="1"/>
          </p:cNvSpPr>
          <p:nvPr>
            <p:ph type="dt" sz="half" idx="10"/>
          </p:nvPr>
        </p:nvSpPr>
        <p:spPr/>
        <p:txBody>
          <a:bodyPr/>
          <a:lstStyle/>
          <a:p>
            <a:fld id="{40272AB9-64A1-45BC-9C9A-78E398D2F99B}" type="datetimeFigureOut">
              <a:rPr lang="en-US" smtClean="0"/>
              <a:t>9/18/2025</a:t>
            </a:fld>
            <a:endParaRPr lang="en-US"/>
          </a:p>
        </p:txBody>
      </p:sp>
      <p:sp>
        <p:nvSpPr>
          <p:cNvPr id="5" name="Footer Placeholder 4">
            <a:extLst>
              <a:ext uri="{FF2B5EF4-FFF2-40B4-BE49-F238E27FC236}">
                <a16:creationId xmlns:a16="http://schemas.microsoft.com/office/drawing/2014/main" id="{07777A7F-9979-7B59-A463-DCEBBA95BB8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9F0F76-7128-32CE-27E0-EA7B842C8520}"/>
              </a:ext>
            </a:extLst>
          </p:cNvPr>
          <p:cNvSpPr>
            <a:spLocks noGrp="1"/>
          </p:cNvSpPr>
          <p:nvPr>
            <p:ph type="sldNum" sz="quarter" idx="12"/>
          </p:nvPr>
        </p:nvSpPr>
        <p:spPr/>
        <p:txBody>
          <a:bodyPr/>
          <a:lstStyle/>
          <a:p>
            <a:fld id="{CF125542-7130-46B0-9D6D-1892C1FCB086}" type="slidenum">
              <a:rPr lang="en-US" smtClean="0"/>
              <a:t>‹#›</a:t>
            </a:fld>
            <a:endParaRPr lang="en-US"/>
          </a:p>
        </p:txBody>
      </p:sp>
    </p:spTree>
    <p:extLst>
      <p:ext uri="{BB962C8B-B14F-4D97-AF65-F5344CB8AC3E}">
        <p14:creationId xmlns:p14="http://schemas.microsoft.com/office/powerpoint/2010/main" val="7483645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0F79D5-059D-19DB-300F-B545C4C45FB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4D31340-A1E9-7CE3-85EA-7F1CF2ED7B7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0681CF-4E42-18FC-F8CF-942C82B56AA5}"/>
              </a:ext>
            </a:extLst>
          </p:cNvPr>
          <p:cNvSpPr>
            <a:spLocks noGrp="1"/>
          </p:cNvSpPr>
          <p:nvPr>
            <p:ph type="dt" sz="half" idx="10"/>
          </p:nvPr>
        </p:nvSpPr>
        <p:spPr/>
        <p:txBody>
          <a:bodyPr/>
          <a:lstStyle/>
          <a:p>
            <a:fld id="{40272AB9-64A1-45BC-9C9A-78E398D2F99B}" type="datetimeFigureOut">
              <a:rPr lang="en-US" smtClean="0"/>
              <a:t>9/18/2025</a:t>
            </a:fld>
            <a:endParaRPr lang="en-US"/>
          </a:p>
        </p:txBody>
      </p:sp>
      <p:sp>
        <p:nvSpPr>
          <p:cNvPr id="5" name="Footer Placeholder 4">
            <a:extLst>
              <a:ext uri="{FF2B5EF4-FFF2-40B4-BE49-F238E27FC236}">
                <a16:creationId xmlns:a16="http://schemas.microsoft.com/office/drawing/2014/main" id="{D62C2239-A774-E47F-618D-51D208E68E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14B347-A921-E0AB-5A62-7830EDC846C5}"/>
              </a:ext>
            </a:extLst>
          </p:cNvPr>
          <p:cNvSpPr>
            <a:spLocks noGrp="1"/>
          </p:cNvSpPr>
          <p:nvPr>
            <p:ph type="sldNum" sz="quarter" idx="12"/>
          </p:nvPr>
        </p:nvSpPr>
        <p:spPr/>
        <p:txBody>
          <a:bodyPr/>
          <a:lstStyle/>
          <a:p>
            <a:fld id="{CF125542-7130-46B0-9D6D-1892C1FCB086}" type="slidenum">
              <a:rPr lang="en-US" smtClean="0"/>
              <a:t>‹#›</a:t>
            </a:fld>
            <a:endParaRPr lang="en-US"/>
          </a:p>
        </p:txBody>
      </p:sp>
    </p:spTree>
    <p:extLst>
      <p:ext uri="{BB962C8B-B14F-4D97-AF65-F5344CB8AC3E}">
        <p14:creationId xmlns:p14="http://schemas.microsoft.com/office/powerpoint/2010/main" val="35521337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43AE5C-05CB-8274-A918-075C19B6A77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07643FC-A248-C72E-7C55-AF40C95C9EE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7FC89F5-84BE-3CEF-33F5-F2CA26EE8B32}"/>
              </a:ext>
            </a:extLst>
          </p:cNvPr>
          <p:cNvSpPr>
            <a:spLocks noGrp="1"/>
          </p:cNvSpPr>
          <p:nvPr>
            <p:ph type="dt" sz="half" idx="10"/>
          </p:nvPr>
        </p:nvSpPr>
        <p:spPr/>
        <p:txBody>
          <a:bodyPr/>
          <a:lstStyle/>
          <a:p>
            <a:fld id="{40272AB9-64A1-45BC-9C9A-78E398D2F99B}" type="datetimeFigureOut">
              <a:rPr lang="en-US" smtClean="0"/>
              <a:t>9/18/2025</a:t>
            </a:fld>
            <a:endParaRPr lang="en-US"/>
          </a:p>
        </p:txBody>
      </p:sp>
      <p:sp>
        <p:nvSpPr>
          <p:cNvPr id="5" name="Footer Placeholder 4">
            <a:extLst>
              <a:ext uri="{FF2B5EF4-FFF2-40B4-BE49-F238E27FC236}">
                <a16:creationId xmlns:a16="http://schemas.microsoft.com/office/drawing/2014/main" id="{144EC82B-F092-F737-C6EC-4508B148A6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8AE09F0-8AE5-6C3F-D940-15869CCF5AB3}"/>
              </a:ext>
            </a:extLst>
          </p:cNvPr>
          <p:cNvSpPr>
            <a:spLocks noGrp="1"/>
          </p:cNvSpPr>
          <p:nvPr>
            <p:ph type="sldNum" sz="quarter" idx="12"/>
          </p:nvPr>
        </p:nvSpPr>
        <p:spPr/>
        <p:txBody>
          <a:bodyPr/>
          <a:lstStyle/>
          <a:p>
            <a:fld id="{CF125542-7130-46B0-9D6D-1892C1FCB086}" type="slidenum">
              <a:rPr lang="en-US" smtClean="0"/>
              <a:t>‹#›</a:t>
            </a:fld>
            <a:endParaRPr lang="en-US"/>
          </a:p>
        </p:txBody>
      </p:sp>
    </p:spTree>
    <p:extLst>
      <p:ext uri="{BB962C8B-B14F-4D97-AF65-F5344CB8AC3E}">
        <p14:creationId xmlns:p14="http://schemas.microsoft.com/office/powerpoint/2010/main" val="3881122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602350-D4AF-4F3C-CEE2-B8734DE147E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423F635-D032-EB3F-AA91-8B6201523B0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5D6D8E9-1DD1-0647-572D-88AADC9B0E5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8ABC9E6-F832-C7D5-DD5F-43E7579F9B16}"/>
              </a:ext>
            </a:extLst>
          </p:cNvPr>
          <p:cNvSpPr>
            <a:spLocks noGrp="1"/>
          </p:cNvSpPr>
          <p:nvPr>
            <p:ph type="dt" sz="half" idx="10"/>
          </p:nvPr>
        </p:nvSpPr>
        <p:spPr/>
        <p:txBody>
          <a:bodyPr/>
          <a:lstStyle/>
          <a:p>
            <a:fld id="{40272AB9-64A1-45BC-9C9A-78E398D2F99B}" type="datetimeFigureOut">
              <a:rPr lang="en-US" smtClean="0"/>
              <a:t>9/18/2025</a:t>
            </a:fld>
            <a:endParaRPr lang="en-US"/>
          </a:p>
        </p:txBody>
      </p:sp>
      <p:sp>
        <p:nvSpPr>
          <p:cNvPr id="6" name="Footer Placeholder 5">
            <a:extLst>
              <a:ext uri="{FF2B5EF4-FFF2-40B4-BE49-F238E27FC236}">
                <a16:creationId xmlns:a16="http://schemas.microsoft.com/office/drawing/2014/main" id="{AF1C2CA5-C7DE-C955-B48A-7E0F3888C0F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3A8908E-669F-CB28-260B-78354401EF72}"/>
              </a:ext>
            </a:extLst>
          </p:cNvPr>
          <p:cNvSpPr>
            <a:spLocks noGrp="1"/>
          </p:cNvSpPr>
          <p:nvPr>
            <p:ph type="sldNum" sz="quarter" idx="12"/>
          </p:nvPr>
        </p:nvSpPr>
        <p:spPr/>
        <p:txBody>
          <a:bodyPr/>
          <a:lstStyle/>
          <a:p>
            <a:fld id="{CF125542-7130-46B0-9D6D-1892C1FCB086}" type="slidenum">
              <a:rPr lang="en-US" smtClean="0"/>
              <a:t>‹#›</a:t>
            </a:fld>
            <a:endParaRPr lang="en-US"/>
          </a:p>
        </p:txBody>
      </p:sp>
    </p:spTree>
    <p:extLst>
      <p:ext uri="{BB962C8B-B14F-4D97-AF65-F5344CB8AC3E}">
        <p14:creationId xmlns:p14="http://schemas.microsoft.com/office/powerpoint/2010/main" val="39618181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B24474-5433-09FA-BE28-C0DC57B6462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D4AD488-42FB-58FC-4155-0D56C39BE02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1634D41-5957-DB0E-CB35-AC6249E0A58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2425178-5D33-EBD1-4C79-986B42DAD05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8B3E2A5-4A98-031A-250D-CBFB1D93844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1FBD9DE-6FA7-D067-18F3-C04BBCDB0753}"/>
              </a:ext>
            </a:extLst>
          </p:cNvPr>
          <p:cNvSpPr>
            <a:spLocks noGrp="1"/>
          </p:cNvSpPr>
          <p:nvPr>
            <p:ph type="dt" sz="half" idx="10"/>
          </p:nvPr>
        </p:nvSpPr>
        <p:spPr/>
        <p:txBody>
          <a:bodyPr/>
          <a:lstStyle/>
          <a:p>
            <a:fld id="{40272AB9-64A1-45BC-9C9A-78E398D2F99B}" type="datetimeFigureOut">
              <a:rPr lang="en-US" smtClean="0"/>
              <a:t>9/18/2025</a:t>
            </a:fld>
            <a:endParaRPr lang="en-US"/>
          </a:p>
        </p:txBody>
      </p:sp>
      <p:sp>
        <p:nvSpPr>
          <p:cNvPr id="8" name="Footer Placeholder 7">
            <a:extLst>
              <a:ext uri="{FF2B5EF4-FFF2-40B4-BE49-F238E27FC236}">
                <a16:creationId xmlns:a16="http://schemas.microsoft.com/office/drawing/2014/main" id="{525D33E4-2E0D-1662-B7BF-20E78E7C805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1EDC47E-1E21-2424-6A7B-315D8AAFB6E4}"/>
              </a:ext>
            </a:extLst>
          </p:cNvPr>
          <p:cNvSpPr>
            <a:spLocks noGrp="1"/>
          </p:cNvSpPr>
          <p:nvPr>
            <p:ph type="sldNum" sz="quarter" idx="12"/>
          </p:nvPr>
        </p:nvSpPr>
        <p:spPr/>
        <p:txBody>
          <a:bodyPr/>
          <a:lstStyle/>
          <a:p>
            <a:fld id="{CF125542-7130-46B0-9D6D-1892C1FCB086}" type="slidenum">
              <a:rPr lang="en-US" smtClean="0"/>
              <a:t>‹#›</a:t>
            </a:fld>
            <a:endParaRPr lang="en-US"/>
          </a:p>
        </p:txBody>
      </p:sp>
    </p:spTree>
    <p:extLst>
      <p:ext uri="{BB962C8B-B14F-4D97-AF65-F5344CB8AC3E}">
        <p14:creationId xmlns:p14="http://schemas.microsoft.com/office/powerpoint/2010/main" val="30437523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BCA65-C705-E6A3-485D-408F56B8171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EF069A2-CE3D-6E6E-685B-1FE020EA8296}"/>
              </a:ext>
            </a:extLst>
          </p:cNvPr>
          <p:cNvSpPr>
            <a:spLocks noGrp="1"/>
          </p:cNvSpPr>
          <p:nvPr>
            <p:ph type="dt" sz="half" idx="10"/>
          </p:nvPr>
        </p:nvSpPr>
        <p:spPr/>
        <p:txBody>
          <a:bodyPr/>
          <a:lstStyle/>
          <a:p>
            <a:fld id="{40272AB9-64A1-45BC-9C9A-78E398D2F99B}" type="datetimeFigureOut">
              <a:rPr lang="en-US" smtClean="0"/>
              <a:t>9/18/2025</a:t>
            </a:fld>
            <a:endParaRPr lang="en-US"/>
          </a:p>
        </p:txBody>
      </p:sp>
      <p:sp>
        <p:nvSpPr>
          <p:cNvPr id="4" name="Footer Placeholder 3">
            <a:extLst>
              <a:ext uri="{FF2B5EF4-FFF2-40B4-BE49-F238E27FC236}">
                <a16:creationId xmlns:a16="http://schemas.microsoft.com/office/drawing/2014/main" id="{AF684AF1-31C9-84AC-0250-05744141CAE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C33C2AA-F699-ED5D-9FBA-C19002EBB900}"/>
              </a:ext>
            </a:extLst>
          </p:cNvPr>
          <p:cNvSpPr>
            <a:spLocks noGrp="1"/>
          </p:cNvSpPr>
          <p:nvPr>
            <p:ph type="sldNum" sz="quarter" idx="12"/>
          </p:nvPr>
        </p:nvSpPr>
        <p:spPr/>
        <p:txBody>
          <a:bodyPr/>
          <a:lstStyle/>
          <a:p>
            <a:fld id="{CF125542-7130-46B0-9D6D-1892C1FCB086}" type="slidenum">
              <a:rPr lang="en-US" smtClean="0"/>
              <a:t>‹#›</a:t>
            </a:fld>
            <a:endParaRPr lang="en-US"/>
          </a:p>
        </p:txBody>
      </p:sp>
    </p:spTree>
    <p:extLst>
      <p:ext uri="{BB962C8B-B14F-4D97-AF65-F5344CB8AC3E}">
        <p14:creationId xmlns:p14="http://schemas.microsoft.com/office/powerpoint/2010/main" val="27595632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30332F3-879F-BB3B-698B-B2739723538A}"/>
              </a:ext>
            </a:extLst>
          </p:cNvPr>
          <p:cNvSpPr>
            <a:spLocks noGrp="1"/>
          </p:cNvSpPr>
          <p:nvPr>
            <p:ph type="dt" sz="half" idx="10"/>
          </p:nvPr>
        </p:nvSpPr>
        <p:spPr/>
        <p:txBody>
          <a:bodyPr/>
          <a:lstStyle/>
          <a:p>
            <a:fld id="{40272AB9-64A1-45BC-9C9A-78E398D2F99B}" type="datetimeFigureOut">
              <a:rPr lang="en-US" smtClean="0"/>
              <a:t>9/18/2025</a:t>
            </a:fld>
            <a:endParaRPr lang="en-US"/>
          </a:p>
        </p:txBody>
      </p:sp>
      <p:sp>
        <p:nvSpPr>
          <p:cNvPr id="3" name="Footer Placeholder 2">
            <a:extLst>
              <a:ext uri="{FF2B5EF4-FFF2-40B4-BE49-F238E27FC236}">
                <a16:creationId xmlns:a16="http://schemas.microsoft.com/office/drawing/2014/main" id="{F72D113C-0FB8-0400-99D8-6F134830DDC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150B956-7068-44C2-B72A-60BB293DD6C3}"/>
              </a:ext>
            </a:extLst>
          </p:cNvPr>
          <p:cNvSpPr>
            <a:spLocks noGrp="1"/>
          </p:cNvSpPr>
          <p:nvPr>
            <p:ph type="sldNum" sz="quarter" idx="12"/>
          </p:nvPr>
        </p:nvSpPr>
        <p:spPr/>
        <p:txBody>
          <a:bodyPr/>
          <a:lstStyle/>
          <a:p>
            <a:fld id="{CF125542-7130-46B0-9D6D-1892C1FCB086}" type="slidenum">
              <a:rPr lang="en-US" smtClean="0"/>
              <a:t>‹#›</a:t>
            </a:fld>
            <a:endParaRPr lang="en-US"/>
          </a:p>
        </p:txBody>
      </p:sp>
    </p:spTree>
    <p:extLst>
      <p:ext uri="{BB962C8B-B14F-4D97-AF65-F5344CB8AC3E}">
        <p14:creationId xmlns:p14="http://schemas.microsoft.com/office/powerpoint/2010/main" val="30799932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FE8B4E-A384-E57E-E42B-8DF0137C303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5095B01-185E-04BB-14A7-B258CA51CA7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3B7228C-5F12-7AF1-FC9F-8C1032F39B2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361407C-424A-E815-0FAD-6132348EB71D}"/>
              </a:ext>
            </a:extLst>
          </p:cNvPr>
          <p:cNvSpPr>
            <a:spLocks noGrp="1"/>
          </p:cNvSpPr>
          <p:nvPr>
            <p:ph type="dt" sz="half" idx="10"/>
          </p:nvPr>
        </p:nvSpPr>
        <p:spPr/>
        <p:txBody>
          <a:bodyPr/>
          <a:lstStyle/>
          <a:p>
            <a:fld id="{40272AB9-64A1-45BC-9C9A-78E398D2F99B}" type="datetimeFigureOut">
              <a:rPr lang="en-US" smtClean="0"/>
              <a:t>9/18/2025</a:t>
            </a:fld>
            <a:endParaRPr lang="en-US"/>
          </a:p>
        </p:txBody>
      </p:sp>
      <p:sp>
        <p:nvSpPr>
          <p:cNvPr id="6" name="Footer Placeholder 5">
            <a:extLst>
              <a:ext uri="{FF2B5EF4-FFF2-40B4-BE49-F238E27FC236}">
                <a16:creationId xmlns:a16="http://schemas.microsoft.com/office/drawing/2014/main" id="{3ACF71BD-8573-007D-3858-3535CBA02C4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76C0FE8-99A5-4546-F000-62538D60DED5}"/>
              </a:ext>
            </a:extLst>
          </p:cNvPr>
          <p:cNvSpPr>
            <a:spLocks noGrp="1"/>
          </p:cNvSpPr>
          <p:nvPr>
            <p:ph type="sldNum" sz="quarter" idx="12"/>
          </p:nvPr>
        </p:nvSpPr>
        <p:spPr/>
        <p:txBody>
          <a:bodyPr/>
          <a:lstStyle/>
          <a:p>
            <a:fld id="{CF125542-7130-46B0-9D6D-1892C1FCB086}" type="slidenum">
              <a:rPr lang="en-US" smtClean="0"/>
              <a:t>‹#›</a:t>
            </a:fld>
            <a:endParaRPr lang="en-US"/>
          </a:p>
        </p:txBody>
      </p:sp>
    </p:spTree>
    <p:extLst>
      <p:ext uri="{BB962C8B-B14F-4D97-AF65-F5344CB8AC3E}">
        <p14:creationId xmlns:p14="http://schemas.microsoft.com/office/powerpoint/2010/main" val="24182244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EDCAFE-88EA-C3CA-5268-51CB9598004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A02BC8C-DCDC-6F3B-EC4D-AD7E7D77A75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F3F378A-43F4-65AF-61DB-1B261A99D13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B315D82-7B33-82FC-4CC1-372A7E7A8053}"/>
              </a:ext>
            </a:extLst>
          </p:cNvPr>
          <p:cNvSpPr>
            <a:spLocks noGrp="1"/>
          </p:cNvSpPr>
          <p:nvPr>
            <p:ph type="dt" sz="half" idx="10"/>
          </p:nvPr>
        </p:nvSpPr>
        <p:spPr/>
        <p:txBody>
          <a:bodyPr/>
          <a:lstStyle/>
          <a:p>
            <a:fld id="{40272AB9-64A1-45BC-9C9A-78E398D2F99B}" type="datetimeFigureOut">
              <a:rPr lang="en-US" smtClean="0"/>
              <a:t>9/18/2025</a:t>
            </a:fld>
            <a:endParaRPr lang="en-US"/>
          </a:p>
        </p:txBody>
      </p:sp>
      <p:sp>
        <p:nvSpPr>
          <p:cNvPr id="6" name="Footer Placeholder 5">
            <a:extLst>
              <a:ext uri="{FF2B5EF4-FFF2-40B4-BE49-F238E27FC236}">
                <a16:creationId xmlns:a16="http://schemas.microsoft.com/office/drawing/2014/main" id="{FE298B4F-C700-D100-E550-F1A34A2385F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F1C4BE6-38EC-0ED9-64CD-D1DBED13BB35}"/>
              </a:ext>
            </a:extLst>
          </p:cNvPr>
          <p:cNvSpPr>
            <a:spLocks noGrp="1"/>
          </p:cNvSpPr>
          <p:nvPr>
            <p:ph type="sldNum" sz="quarter" idx="12"/>
          </p:nvPr>
        </p:nvSpPr>
        <p:spPr/>
        <p:txBody>
          <a:bodyPr/>
          <a:lstStyle/>
          <a:p>
            <a:fld id="{CF125542-7130-46B0-9D6D-1892C1FCB086}" type="slidenum">
              <a:rPr lang="en-US" smtClean="0"/>
              <a:t>‹#›</a:t>
            </a:fld>
            <a:endParaRPr lang="en-US"/>
          </a:p>
        </p:txBody>
      </p:sp>
    </p:spTree>
    <p:extLst>
      <p:ext uri="{BB962C8B-B14F-4D97-AF65-F5344CB8AC3E}">
        <p14:creationId xmlns:p14="http://schemas.microsoft.com/office/powerpoint/2010/main" val="41740296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F2276C-A078-6711-FF3C-E68ACE035B7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4E0CDEF-7F11-C385-F99C-1D079A46699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1B133E6-8B7A-63A7-4B43-936C9C063E95}"/>
              </a:ext>
            </a:extLst>
          </p:cNvPr>
          <p:cNvSpPr>
            <a:spLocks noGrp="1"/>
          </p:cNvSpPr>
          <p:nvPr>
            <p:ph type="dt" sz="half" idx="10"/>
          </p:nvPr>
        </p:nvSpPr>
        <p:spPr/>
        <p:txBody>
          <a:bodyPr/>
          <a:lstStyle/>
          <a:p>
            <a:fld id="{40272AB9-64A1-45BC-9C9A-78E398D2F99B}" type="datetimeFigureOut">
              <a:rPr lang="en-US" smtClean="0"/>
              <a:t>9/18/2025</a:t>
            </a:fld>
            <a:endParaRPr lang="en-US"/>
          </a:p>
        </p:txBody>
      </p:sp>
      <p:sp>
        <p:nvSpPr>
          <p:cNvPr id="5" name="Footer Placeholder 4">
            <a:extLst>
              <a:ext uri="{FF2B5EF4-FFF2-40B4-BE49-F238E27FC236}">
                <a16:creationId xmlns:a16="http://schemas.microsoft.com/office/drawing/2014/main" id="{125BFD48-7F8C-2C53-C6E5-51FBBC2B9F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CF0E807-0A14-F9E7-D3C4-243C242BF739}"/>
              </a:ext>
            </a:extLst>
          </p:cNvPr>
          <p:cNvSpPr>
            <a:spLocks noGrp="1"/>
          </p:cNvSpPr>
          <p:nvPr>
            <p:ph type="sldNum" sz="quarter" idx="12"/>
          </p:nvPr>
        </p:nvSpPr>
        <p:spPr/>
        <p:txBody>
          <a:bodyPr/>
          <a:lstStyle/>
          <a:p>
            <a:fld id="{CF125542-7130-46B0-9D6D-1892C1FCB086}" type="slidenum">
              <a:rPr lang="en-US" smtClean="0"/>
              <a:t>‹#›</a:t>
            </a:fld>
            <a:endParaRPr lang="en-US"/>
          </a:p>
        </p:txBody>
      </p:sp>
    </p:spTree>
    <p:extLst>
      <p:ext uri="{BB962C8B-B14F-4D97-AF65-F5344CB8AC3E}">
        <p14:creationId xmlns:p14="http://schemas.microsoft.com/office/powerpoint/2010/main" val="11956372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2852A6E-A9A4-3335-FD57-B09080704F3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3BA70CC-412C-59DD-E5F3-0B5222096D0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A402B3D-CE4D-9039-CF20-3EA5A25A1B97}"/>
              </a:ext>
            </a:extLst>
          </p:cNvPr>
          <p:cNvSpPr>
            <a:spLocks noGrp="1"/>
          </p:cNvSpPr>
          <p:nvPr>
            <p:ph type="dt" sz="half" idx="10"/>
          </p:nvPr>
        </p:nvSpPr>
        <p:spPr/>
        <p:txBody>
          <a:bodyPr/>
          <a:lstStyle/>
          <a:p>
            <a:fld id="{40272AB9-64A1-45BC-9C9A-78E398D2F99B}" type="datetimeFigureOut">
              <a:rPr lang="en-US" smtClean="0"/>
              <a:t>9/18/2025</a:t>
            </a:fld>
            <a:endParaRPr lang="en-US"/>
          </a:p>
        </p:txBody>
      </p:sp>
      <p:sp>
        <p:nvSpPr>
          <p:cNvPr id="5" name="Footer Placeholder 4">
            <a:extLst>
              <a:ext uri="{FF2B5EF4-FFF2-40B4-BE49-F238E27FC236}">
                <a16:creationId xmlns:a16="http://schemas.microsoft.com/office/drawing/2014/main" id="{FCD8CD87-FDF1-2A7A-1BE7-FA7D6B712F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428DFF-8601-30EC-83EF-AD74CA7EE220}"/>
              </a:ext>
            </a:extLst>
          </p:cNvPr>
          <p:cNvSpPr>
            <a:spLocks noGrp="1"/>
          </p:cNvSpPr>
          <p:nvPr>
            <p:ph type="sldNum" sz="quarter" idx="12"/>
          </p:nvPr>
        </p:nvSpPr>
        <p:spPr/>
        <p:txBody>
          <a:bodyPr/>
          <a:lstStyle/>
          <a:p>
            <a:fld id="{CF125542-7130-46B0-9D6D-1892C1FCB086}" type="slidenum">
              <a:rPr lang="en-US" smtClean="0"/>
              <a:t>‹#›</a:t>
            </a:fld>
            <a:endParaRPr lang="en-US"/>
          </a:p>
        </p:txBody>
      </p:sp>
    </p:spTree>
    <p:extLst>
      <p:ext uri="{BB962C8B-B14F-4D97-AF65-F5344CB8AC3E}">
        <p14:creationId xmlns:p14="http://schemas.microsoft.com/office/powerpoint/2010/main" val="12163457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987597A-B7A8-059C-160C-EC7CE2886BF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B2534A4-186E-5F01-1F5B-80DF3841A50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ABDDF5-E321-EF03-3E6D-64F457503CD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0272AB9-64A1-45BC-9C9A-78E398D2F99B}" type="datetimeFigureOut">
              <a:rPr lang="en-US" smtClean="0"/>
              <a:t>9/18/2025</a:t>
            </a:fld>
            <a:endParaRPr lang="en-US"/>
          </a:p>
        </p:txBody>
      </p:sp>
      <p:sp>
        <p:nvSpPr>
          <p:cNvPr id="5" name="Footer Placeholder 4">
            <a:extLst>
              <a:ext uri="{FF2B5EF4-FFF2-40B4-BE49-F238E27FC236}">
                <a16:creationId xmlns:a16="http://schemas.microsoft.com/office/drawing/2014/main" id="{B231B2B9-24D1-3FFE-9B16-BFA0BAC7B40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E29AEC6-3A77-F298-9C68-54B2F006501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F125542-7130-46B0-9D6D-1892C1FCB086}" type="slidenum">
              <a:rPr lang="en-US" smtClean="0"/>
              <a:t>‹#›</a:t>
            </a:fld>
            <a:endParaRPr lang="en-US"/>
          </a:p>
        </p:txBody>
      </p:sp>
    </p:spTree>
    <p:extLst>
      <p:ext uri="{BB962C8B-B14F-4D97-AF65-F5344CB8AC3E}">
        <p14:creationId xmlns:p14="http://schemas.microsoft.com/office/powerpoint/2010/main" val="19286463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18" Type="http://schemas.openxmlformats.org/officeDocument/2006/relationships/image" Target="../media/image16.png"/><Relationship Id="rId3" Type="http://schemas.openxmlformats.org/officeDocument/2006/relationships/image" Target="../media/image1.png"/><Relationship Id="rId21" Type="http://schemas.openxmlformats.org/officeDocument/2006/relationships/image" Target="../media/image19.pn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15.png"/><Relationship Id="rId2" Type="http://schemas.openxmlformats.org/officeDocument/2006/relationships/notesSlide" Target="../notesSlides/notesSlide3.xml"/><Relationship Id="rId16" Type="http://schemas.openxmlformats.org/officeDocument/2006/relationships/image" Target="../media/image14.png"/><Relationship Id="rId20" Type="http://schemas.openxmlformats.org/officeDocument/2006/relationships/image" Target="../media/image18.png"/><Relationship Id="rId1" Type="http://schemas.openxmlformats.org/officeDocument/2006/relationships/slideLayout" Target="../slideLayouts/slideLayout4.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23" Type="http://schemas.openxmlformats.org/officeDocument/2006/relationships/image" Target="../media/image21.png"/><Relationship Id="rId10" Type="http://schemas.openxmlformats.org/officeDocument/2006/relationships/image" Target="../media/image8.png"/><Relationship Id="rId19" Type="http://schemas.openxmlformats.org/officeDocument/2006/relationships/image" Target="../media/image17.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 Id="rId22" Type="http://schemas.openxmlformats.org/officeDocument/2006/relationships/image" Target="../media/image2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hyperlink" Target="http://gaia.cs.umass.edu/kurose_ross/interactive/internet_checksum.php" TargetMode="External"/><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4.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jpeg"/></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0.xml"/><Relationship Id="rId1" Type="http://schemas.openxmlformats.org/officeDocument/2006/relationships/slideLayout" Target="../slideLayouts/slideLayout4.xml"/><Relationship Id="rId5" Type="http://schemas.openxmlformats.org/officeDocument/2006/relationships/image" Target="../media/image25.png"/><Relationship Id="rId4" Type="http://schemas.openxmlformats.org/officeDocument/2006/relationships/image" Target="../media/image26.png"/></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25.png"/><Relationship Id="rId2" Type="http://schemas.openxmlformats.org/officeDocument/2006/relationships/notesSlide" Target="../notesSlides/notesSlide21.xml"/><Relationship Id="rId1" Type="http://schemas.openxmlformats.org/officeDocument/2006/relationships/slideLayout" Target="../slideLayouts/slideLayout4.xml"/><Relationship Id="rId6" Type="http://schemas.openxmlformats.org/officeDocument/2006/relationships/image" Target="../media/image26.png"/><Relationship Id="rId5" Type="http://schemas.openxmlformats.org/officeDocument/2006/relationships/image" Target="../media/image24.jpeg"/><Relationship Id="rId4" Type="http://schemas.openxmlformats.org/officeDocument/2006/relationships/image" Target="../media/image27.png"/></Relationships>
</file>

<file path=ppt/slides/_rels/slide27.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2.png"/><Relationship Id="rId7" Type="http://schemas.openxmlformats.org/officeDocument/2006/relationships/image" Target="../media/image25.png"/><Relationship Id="rId2" Type="http://schemas.openxmlformats.org/officeDocument/2006/relationships/notesSlide" Target="../notesSlides/notesSlide22.xml"/><Relationship Id="rId1" Type="http://schemas.openxmlformats.org/officeDocument/2006/relationships/slideLayout" Target="../slideLayouts/slideLayout4.xml"/><Relationship Id="rId6" Type="http://schemas.openxmlformats.org/officeDocument/2006/relationships/image" Target="../media/image26.png"/><Relationship Id="rId5" Type="http://schemas.openxmlformats.org/officeDocument/2006/relationships/image" Target="../media/image24.jpeg"/><Relationship Id="rId4" Type="http://schemas.openxmlformats.org/officeDocument/2006/relationships/image" Target="../media/image27.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FA64E1-5610-7CF5-A8AC-8AACF97CA223}"/>
              </a:ext>
            </a:extLst>
          </p:cNvPr>
          <p:cNvSpPr>
            <a:spLocks noGrp="1"/>
          </p:cNvSpPr>
          <p:nvPr>
            <p:ph type="ctrTitle"/>
          </p:nvPr>
        </p:nvSpPr>
        <p:spPr>
          <a:xfrm>
            <a:off x="536448" y="1122363"/>
            <a:ext cx="11119104" cy="2133599"/>
          </a:xfrm>
        </p:spPr>
        <p:txBody>
          <a:bodyPr/>
          <a:lstStyle/>
          <a:p>
            <a:r>
              <a:rPr lang="en-US" dirty="0"/>
              <a:t>CSC 3511 Security and Networking</a:t>
            </a:r>
          </a:p>
        </p:txBody>
      </p:sp>
      <p:sp>
        <p:nvSpPr>
          <p:cNvPr id="3" name="Subtitle 2">
            <a:extLst>
              <a:ext uri="{FF2B5EF4-FFF2-40B4-BE49-F238E27FC236}">
                <a16:creationId xmlns:a16="http://schemas.microsoft.com/office/drawing/2014/main" id="{3A8E7C23-6E8B-EC33-B311-21148E5DBC8C}"/>
              </a:ext>
            </a:extLst>
          </p:cNvPr>
          <p:cNvSpPr>
            <a:spLocks noGrp="1"/>
          </p:cNvSpPr>
          <p:nvPr>
            <p:ph type="subTitle" idx="1"/>
          </p:nvPr>
        </p:nvSpPr>
        <p:spPr>
          <a:xfrm>
            <a:off x="1524000" y="3602039"/>
            <a:ext cx="9144000" cy="1655762"/>
          </a:xfrm>
        </p:spPr>
        <p:txBody>
          <a:bodyPr/>
          <a:lstStyle/>
          <a:p>
            <a:endParaRPr lang="en-US" dirty="0"/>
          </a:p>
          <a:p>
            <a:endParaRPr lang="en-US" dirty="0"/>
          </a:p>
          <a:p>
            <a:r>
              <a:rPr lang="en-US" dirty="0"/>
              <a:t>Week 3, Lecture 2: Transport Layer and UDP</a:t>
            </a:r>
          </a:p>
        </p:txBody>
      </p:sp>
    </p:spTree>
    <p:extLst>
      <p:ext uri="{BB962C8B-B14F-4D97-AF65-F5344CB8AC3E}">
        <p14:creationId xmlns:p14="http://schemas.microsoft.com/office/powerpoint/2010/main" val="12913817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47A72-44B2-732A-AAF8-60764CACA24C}"/>
              </a:ext>
            </a:extLst>
          </p:cNvPr>
          <p:cNvSpPr txBox="1">
            <a:spLocks/>
          </p:cNvSpPr>
          <p:nvPr/>
        </p:nvSpPr>
        <p:spPr>
          <a:xfrm>
            <a:off x="546662" y="152400"/>
            <a:ext cx="6551791" cy="1650991"/>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6000">
                <a:cs typeface="Calibri" panose="020F0502020204030204" pitchFamily="34" charset="0"/>
              </a:rPr>
              <a:t>Roadmap</a:t>
            </a:r>
            <a:endParaRPr lang="en-US" sz="6000" dirty="0"/>
          </a:p>
        </p:txBody>
      </p:sp>
      <p:sp>
        <p:nvSpPr>
          <p:cNvPr id="3" name="Rectangle 4">
            <a:extLst>
              <a:ext uri="{FF2B5EF4-FFF2-40B4-BE49-F238E27FC236}">
                <a16:creationId xmlns:a16="http://schemas.microsoft.com/office/drawing/2014/main" id="{33DEEBE4-E004-4154-1ED2-356727007087}"/>
              </a:ext>
            </a:extLst>
          </p:cNvPr>
          <p:cNvSpPr txBox="1">
            <a:spLocks noChangeArrowheads="1"/>
          </p:cNvSpPr>
          <p:nvPr/>
        </p:nvSpPr>
        <p:spPr>
          <a:xfrm>
            <a:off x="327703" y="1646990"/>
            <a:ext cx="11536594" cy="497839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03225" indent="-285750">
              <a:spcBef>
                <a:spcPts val="800"/>
              </a:spcBef>
              <a:spcAft>
                <a:spcPts val="600"/>
              </a:spcAft>
              <a:buClr>
                <a:schemeClr val="bg1">
                  <a:lumMod val="85000"/>
                </a:schemeClr>
              </a:buClr>
            </a:pPr>
            <a:r>
              <a:rPr lang="en-US" altLang="en-US" sz="3600" b="1" i="1" dirty="0">
                <a:latin typeface="Calibri" panose="020F0502020204030204" pitchFamily="34" charset="0"/>
                <a:cs typeface="Calibri" panose="020F0502020204030204" pitchFamily="34" charset="0"/>
              </a:rPr>
              <a:t>Transport-layer services overview</a:t>
            </a:r>
          </a:p>
          <a:p>
            <a:pPr marL="403225" indent="-285750">
              <a:spcBef>
                <a:spcPts val="800"/>
              </a:spcBef>
              <a:spcAft>
                <a:spcPts val="600"/>
              </a:spcAft>
              <a:buClr>
                <a:schemeClr val="bg1">
                  <a:lumMod val="85000"/>
                </a:schemeClr>
              </a:buClr>
            </a:pPr>
            <a:r>
              <a:rPr lang="en-US" altLang="en-US" sz="3600" i="1" dirty="0">
                <a:solidFill>
                  <a:schemeClr val="bg1">
                    <a:lumMod val="85000"/>
                  </a:schemeClr>
                </a:solidFill>
                <a:latin typeface="Calibri" panose="020F0502020204030204" pitchFamily="34" charset="0"/>
                <a:cs typeface="Calibri" panose="020F0502020204030204" pitchFamily="34" charset="0"/>
              </a:rPr>
              <a:t>Connectionless transport: UDP</a:t>
            </a:r>
          </a:p>
          <a:p>
            <a:pPr marL="403225" indent="-285750">
              <a:spcBef>
                <a:spcPts val="800"/>
              </a:spcBef>
              <a:spcAft>
                <a:spcPts val="600"/>
              </a:spcAft>
              <a:buClr>
                <a:schemeClr val="bg1">
                  <a:lumMod val="85000"/>
                </a:schemeClr>
              </a:buClr>
            </a:pPr>
            <a:endParaRPr lang="en-US" altLang="en-US" sz="3600" i="1" dirty="0">
              <a:solidFill>
                <a:schemeClr val="bg1">
                  <a:lumMod val="85000"/>
                </a:schemeClr>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7358474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02CD9-D258-3D81-4332-A4FAE0D0D16E}"/>
              </a:ext>
            </a:extLst>
          </p:cNvPr>
          <p:cNvSpPr>
            <a:spLocks noGrp="1"/>
          </p:cNvSpPr>
          <p:nvPr>
            <p:ph type="title"/>
          </p:nvPr>
        </p:nvSpPr>
        <p:spPr>
          <a:xfrm>
            <a:off x="900207" y="36780"/>
            <a:ext cx="10515600" cy="1325563"/>
          </a:xfrm>
        </p:spPr>
        <p:txBody>
          <a:bodyPr/>
          <a:lstStyle/>
          <a:p>
            <a:r>
              <a:rPr lang="en-US" dirty="0"/>
              <a:t>Internet Layer: Review</a:t>
            </a:r>
          </a:p>
        </p:txBody>
      </p:sp>
      <p:grpSp>
        <p:nvGrpSpPr>
          <p:cNvPr id="24" name="Group 23">
            <a:extLst>
              <a:ext uri="{FF2B5EF4-FFF2-40B4-BE49-F238E27FC236}">
                <a16:creationId xmlns:a16="http://schemas.microsoft.com/office/drawing/2014/main" id="{68575450-5536-257E-42AB-3803EC23D0CC}"/>
              </a:ext>
            </a:extLst>
          </p:cNvPr>
          <p:cNvGrpSpPr/>
          <p:nvPr/>
        </p:nvGrpSpPr>
        <p:grpSpPr>
          <a:xfrm>
            <a:off x="6158007" y="2006534"/>
            <a:ext cx="6373291" cy="3687766"/>
            <a:chOff x="667588" y="2990659"/>
            <a:chExt cx="6373291" cy="3687766"/>
          </a:xfrm>
        </p:grpSpPr>
        <p:sp>
          <p:nvSpPr>
            <p:cNvPr id="4" name="Google Shape;773;p56">
              <a:extLst>
                <a:ext uri="{FF2B5EF4-FFF2-40B4-BE49-F238E27FC236}">
                  <a16:creationId xmlns:a16="http://schemas.microsoft.com/office/drawing/2014/main" id="{09D6FF9E-6E86-2C68-6681-1E11CC66C31F}"/>
                </a:ext>
              </a:extLst>
            </p:cNvPr>
            <p:cNvSpPr/>
            <p:nvPr/>
          </p:nvSpPr>
          <p:spPr>
            <a:xfrm>
              <a:off x="1585438" y="6307325"/>
              <a:ext cx="1622400" cy="371100"/>
            </a:xfrm>
            <a:prstGeom prst="rect">
              <a:avLst/>
            </a:prstGeom>
            <a:solidFill>
              <a:srgbClr val="F4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Roboto"/>
                  <a:ea typeface="Roboto"/>
                  <a:cs typeface="Roboto"/>
                  <a:sym typeface="Roboto"/>
                </a:rPr>
                <a:t>Physical</a:t>
              </a:r>
              <a:endParaRPr dirty="0">
                <a:latin typeface="Roboto"/>
                <a:ea typeface="Roboto"/>
                <a:cs typeface="Roboto"/>
                <a:sym typeface="Roboto"/>
              </a:endParaRPr>
            </a:p>
          </p:txBody>
        </p:sp>
        <p:sp>
          <p:nvSpPr>
            <p:cNvPr id="5" name="Google Shape;774;p56">
              <a:extLst>
                <a:ext uri="{FF2B5EF4-FFF2-40B4-BE49-F238E27FC236}">
                  <a16:creationId xmlns:a16="http://schemas.microsoft.com/office/drawing/2014/main" id="{71EC6EA5-32A1-B4AF-441D-140DDBAF6CAD}"/>
                </a:ext>
              </a:extLst>
            </p:cNvPr>
            <p:cNvSpPr/>
            <p:nvPr/>
          </p:nvSpPr>
          <p:spPr>
            <a:xfrm>
              <a:off x="1585438" y="5478160"/>
              <a:ext cx="1622400" cy="371100"/>
            </a:xfrm>
            <a:prstGeom prst="rect">
              <a:avLst/>
            </a:prstGeom>
            <a:solidFill>
              <a:srgbClr val="FCE5C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Link</a:t>
              </a:r>
              <a:endParaRPr>
                <a:latin typeface="Roboto"/>
                <a:ea typeface="Roboto"/>
                <a:cs typeface="Roboto"/>
                <a:sym typeface="Roboto"/>
              </a:endParaRPr>
            </a:p>
          </p:txBody>
        </p:sp>
        <p:sp>
          <p:nvSpPr>
            <p:cNvPr id="6" name="Google Shape;775;p56">
              <a:extLst>
                <a:ext uri="{FF2B5EF4-FFF2-40B4-BE49-F238E27FC236}">
                  <a16:creationId xmlns:a16="http://schemas.microsoft.com/office/drawing/2014/main" id="{99E5490D-E875-D107-D563-97C9887A18CE}"/>
                </a:ext>
              </a:extLst>
            </p:cNvPr>
            <p:cNvSpPr/>
            <p:nvPr/>
          </p:nvSpPr>
          <p:spPr>
            <a:xfrm>
              <a:off x="1585438" y="4648993"/>
              <a:ext cx="1622400" cy="371100"/>
            </a:xfrm>
            <a:prstGeom prst="rect">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lvl="0" algn="ctr"/>
              <a:r>
                <a:rPr lang="en-US" dirty="0">
                  <a:latin typeface="Roboto"/>
                  <a:ea typeface="Roboto"/>
                  <a:cs typeface="Roboto"/>
                  <a:sym typeface="Roboto"/>
                </a:rPr>
                <a:t>Network</a:t>
              </a:r>
              <a:endParaRPr dirty="0">
                <a:latin typeface="Roboto"/>
                <a:ea typeface="Roboto"/>
                <a:cs typeface="Roboto"/>
                <a:sym typeface="Roboto"/>
              </a:endParaRPr>
            </a:p>
          </p:txBody>
        </p:sp>
        <p:cxnSp>
          <p:nvCxnSpPr>
            <p:cNvPr id="7" name="Google Shape;776;p56">
              <a:extLst>
                <a:ext uri="{FF2B5EF4-FFF2-40B4-BE49-F238E27FC236}">
                  <a16:creationId xmlns:a16="http://schemas.microsoft.com/office/drawing/2014/main" id="{2809B3E0-EE5F-03E5-0876-FC5CC314718E}"/>
                </a:ext>
              </a:extLst>
            </p:cNvPr>
            <p:cNvCxnSpPr>
              <a:stCxn id="5" idx="2"/>
              <a:endCxn id="4" idx="0"/>
            </p:cNvCxnSpPr>
            <p:nvPr/>
          </p:nvCxnSpPr>
          <p:spPr>
            <a:xfrm>
              <a:off x="2396638" y="5849260"/>
              <a:ext cx="0" cy="458065"/>
            </a:xfrm>
            <a:prstGeom prst="straightConnector1">
              <a:avLst/>
            </a:prstGeom>
            <a:noFill/>
            <a:ln w="9525" cap="flat" cmpd="sng">
              <a:solidFill>
                <a:schemeClr val="dk2"/>
              </a:solidFill>
              <a:prstDash val="solid"/>
              <a:round/>
              <a:headEnd type="triangle" w="med" len="med"/>
              <a:tailEnd type="triangle" w="med" len="med"/>
            </a:ln>
          </p:spPr>
        </p:cxnSp>
        <p:cxnSp>
          <p:nvCxnSpPr>
            <p:cNvPr id="8" name="Google Shape;777;p56">
              <a:extLst>
                <a:ext uri="{FF2B5EF4-FFF2-40B4-BE49-F238E27FC236}">
                  <a16:creationId xmlns:a16="http://schemas.microsoft.com/office/drawing/2014/main" id="{70F2AC55-8823-D071-1B06-E5549BF84B80}"/>
                </a:ext>
              </a:extLst>
            </p:cNvPr>
            <p:cNvCxnSpPr>
              <a:stCxn id="6" idx="2"/>
              <a:endCxn id="5" idx="0"/>
            </p:cNvCxnSpPr>
            <p:nvPr/>
          </p:nvCxnSpPr>
          <p:spPr>
            <a:xfrm>
              <a:off x="2396638" y="5020093"/>
              <a:ext cx="0" cy="458067"/>
            </a:xfrm>
            <a:prstGeom prst="straightConnector1">
              <a:avLst/>
            </a:prstGeom>
            <a:noFill/>
            <a:ln w="9525" cap="flat" cmpd="sng">
              <a:solidFill>
                <a:schemeClr val="dk2"/>
              </a:solidFill>
              <a:prstDash val="solid"/>
              <a:round/>
              <a:headEnd type="triangle" w="med" len="med"/>
              <a:tailEnd type="triangle" w="med" len="med"/>
            </a:ln>
          </p:spPr>
        </p:cxnSp>
        <p:sp>
          <p:nvSpPr>
            <p:cNvPr id="9" name="Google Shape;778;p56">
              <a:extLst>
                <a:ext uri="{FF2B5EF4-FFF2-40B4-BE49-F238E27FC236}">
                  <a16:creationId xmlns:a16="http://schemas.microsoft.com/office/drawing/2014/main" id="{F51BA448-4F68-7581-9944-B6256B6A7BC5}"/>
                </a:ext>
              </a:extLst>
            </p:cNvPr>
            <p:cNvSpPr txBox="1"/>
            <p:nvPr/>
          </p:nvSpPr>
          <p:spPr>
            <a:xfrm>
              <a:off x="667588" y="6303521"/>
              <a:ext cx="914400" cy="374904"/>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dirty="0">
                  <a:solidFill>
                    <a:schemeClr val="dk1"/>
                  </a:solidFill>
                  <a:latin typeface="Roboto"/>
                  <a:ea typeface="Roboto"/>
                  <a:cs typeface="Roboto"/>
                  <a:sym typeface="Roboto"/>
                </a:rPr>
                <a:t>Layer 1:</a:t>
              </a:r>
              <a:endParaRPr dirty="0">
                <a:solidFill>
                  <a:schemeClr val="dk1"/>
                </a:solidFill>
                <a:latin typeface="Roboto"/>
                <a:ea typeface="Roboto"/>
                <a:cs typeface="Roboto"/>
                <a:sym typeface="Roboto"/>
              </a:endParaRPr>
            </a:p>
          </p:txBody>
        </p:sp>
        <p:sp>
          <p:nvSpPr>
            <p:cNvPr id="10" name="Google Shape;779;p56">
              <a:extLst>
                <a:ext uri="{FF2B5EF4-FFF2-40B4-BE49-F238E27FC236}">
                  <a16:creationId xmlns:a16="http://schemas.microsoft.com/office/drawing/2014/main" id="{3424A297-D556-C16F-8061-E55B9EB1100D}"/>
                </a:ext>
              </a:extLst>
            </p:cNvPr>
            <p:cNvSpPr txBox="1"/>
            <p:nvPr/>
          </p:nvSpPr>
          <p:spPr>
            <a:xfrm>
              <a:off x="667588" y="5475485"/>
              <a:ext cx="914400" cy="374904"/>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a:solidFill>
                    <a:schemeClr val="dk1"/>
                  </a:solidFill>
                  <a:latin typeface="Roboto"/>
                  <a:ea typeface="Roboto"/>
                  <a:cs typeface="Roboto"/>
                  <a:sym typeface="Roboto"/>
                </a:rPr>
                <a:t>Layer 2:</a:t>
              </a:r>
              <a:endParaRPr>
                <a:solidFill>
                  <a:schemeClr val="dk1"/>
                </a:solidFill>
                <a:latin typeface="Roboto"/>
                <a:ea typeface="Roboto"/>
                <a:cs typeface="Roboto"/>
                <a:sym typeface="Roboto"/>
              </a:endParaRPr>
            </a:p>
          </p:txBody>
        </p:sp>
        <p:sp>
          <p:nvSpPr>
            <p:cNvPr id="11" name="Google Shape;780;p56">
              <a:extLst>
                <a:ext uri="{FF2B5EF4-FFF2-40B4-BE49-F238E27FC236}">
                  <a16:creationId xmlns:a16="http://schemas.microsoft.com/office/drawing/2014/main" id="{F5C087C5-D5F3-D945-2177-84C21CF6BA94}"/>
                </a:ext>
              </a:extLst>
            </p:cNvPr>
            <p:cNvSpPr txBox="1"/>
            <p:nvPr/>
          </p:nvSpPr>
          <p:spPr>
            <a:xfrm>
              <a:off x="667588" y="4647450"/>
              <a:ext cx="914400" cy="374904"/>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a:solidFill>
                    <a:schemeClr val="dk1"/>
                  </a:solidFill>
                  <a:latin typeface="Roboto"/>
                  <a:ea typeface="Roboto"/>
                  <a:cs typeface="Roboto"/>
                  <a:sym typeface="Roboto"/>
                </a:rPr>
                <a:t>Layer 3:</a:t>
              </a:r>
              <a:endParaRPr>
                <a:solidFill>
                  <a:schemeClr val="dk1"/>
                </a:solidFill>
                <a:latin typeface="Roboto"/>
                <a:ea typeface="Roboto"/>
                <a:cs typeface="Roboto"/>
                <a:sym typeface="Roboto"/>
              </a:endParaRPr>
            </a:p>
          </p:txBody>
        </p:sp>
        <p:sp>
          <p:nvSpPr>
            <p:cNvPr id="12" name="Google Shape;781;p56">
              <a:extLst>
                <a:ext uri="{FF2B5EF4-FFF2-40B4-BE49-F238E27FC236}">
                  <a16:creationId xmlns:a16="http://schemas.microsoft.com/office/drawing/2014/main" id="{8499C135-9224-2638-9851-6E64AD73BDA7}"/>
                </a:ext>
              </a:extLst>
            </p:cNvPr>
            <p:cNvSpPr txBox="1"/>
            <p:nvPr/>
          </p:nvSpPr>
          <p:spPr>
            <a:xfrm>
              <a:off x="3458946" y="6297713"/>
              <a:ext cx="2991729" cy="332385"/>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dirty="0">
                  <a:solidFill>
                    <a:schemeClr val="dk1"/>
                  </a:solidFill>
                  <a:latin typeface="Roboto"/>
                  <a:ea typeface="Roboto"/>
                  <a:cs typeface="Roboto"/>
                  <a:sym typeface="Roboto"/>
                </a:rPr>
                <a:t>Move bits across space</a:t>
              </a:r>
              <a:endParaRPr dirty="0">
                <a:solidFill>
                  <a:schemeClr val="dk1"/>
                </a:solidFill>
                <a:latin typeface="Roboto"/>
                <a:ea typeface="Roboto"/>
                <a:cs typeface="Roboto"/>
                <a:sym typeface="Roboto"/>
              </a:endParaRPr>
            </a:p>
          </p:txBody>
        </p:sp>
        <p:sp>
          <p:nvSpPr>
            <p:cNvPr id="13" name="Google Shape;782;p56">
              <a:extLst>
                <a:ext uri="{FF2B5EF4-FFF2-40B4-BE49-F238E27FC236}">
                  <a16:creationId xmlns:a16="http://schemas.microsoft.com/office/drawing/2014/main" id="{52A120B3-1B48-3BA1-6132-C703B58A2DB4}"/>
                </a:ext>
              </a:extLst>
            </p:cNvPr>
            <p:cNvSpPr txBox="1"/>
            <p:nvPr/>
          </p:nvSpPr>
          <p:spPr>
            <a:xfrm>
              <a:off x="3458946" y="5469515"/>
              <a:ext cx="3581933" cy="332385"/>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dirty="0">
                  <a:solidFill>
                    <a:schemeClr val="dk1"/>
                  </a:solidFill>
                  <a:latin typeface="Roboto"/>
                  <a:ea typeface="Roboto"/>
                  <a:cs typeface="Roboto"/>
                  <a:sym typeface="Roboto"/>
                </a:rPr>
                <a:t>Create links in a local network</a:t>
              </a:r>
              <a:endParaRPr dirty="0">
                <a:solidFill>
                  <a:schemeClr val="dk1"/>
                </a:solidFill>
                <a:latin typeface="Roboto"/>
                <a:ea typeface="Roboto"/>
                <a:cs typeface="Roboto"/>
                <a:sym typeface="Roboto"/>
              </a:endParaRPr>
            </a:p>
          </p:txBody>
        </p:sp>
        <p:sp>
          <p:nvSpPr>
            <p:cNvPr id="14" name="Google Shape;783;p56">
              <a:extLst>
                <a:ext uri="{FF2B5EF4-FFF2-40B4-BE49-F238E27FC236}">
                  <a16:creationId xmlns:a16="http://schemas.microsoft.com/office/drawing/2014/main" id="{07731BD5-81D9-79BF-01E3-506A051FA2B0}"/>
                </a:ext>
              </a:extLst>
            </p:cNvPr>
            <p:cNvSpPr txBox="1"/>
            <p:nvPr/>
          </p:nvSpPr>
          <p:spPr>
            <a:xfrm>
              <a:off x="3458946" y="4641317"/>
              <a:ext cx="3172277" cy="609383"/>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dirty="0">
                  <a:solidFill>
                    <a:schemeClr val="dk1"/>
                  </a:solidFill>
                  <a:latin typeface="Roboto"/>
                  <a:ea typeface="Roboto"/>
                  <a:cs typeface="Roboto"/>
                  <a:sym typeface="Roboto"/>
                </a:rPr>
                <a:t>Connect many local networks to form the Internet</a:t>
              </a:r>
              <a:endParaRPr dirty="0">
                <a:solidFill>
                  <a:schemeClr val="dk1"/>
                </a:solidFill>
                <a:latin typeface="Roboto"/>
                <a:ea typeface="Roboto"/>
                <a:cs typeface="Roboto"/>
                <a:sym typeface="Roboto"/>
              </a:endParaRPr>
            </a:p>
          </p:txBody>
        </p:sp>
        <p:sp>
          <p:nvSpPr>
            <p:cNvPr id="15" name="Google Shape;784;p56">
              <a:extLst>
                <a:ext uri="{FF2B5EF4-FFF2-40B4-BE49-F238E27FC236}">
                  <a16:creationId xmlns:a16="http://schemas.microsoft.com/office/drawing/2014/main" id="{1A5A0323-F65E-097E-2F2E-48B1AC09A08E}"/>
                </a:ext>
              </a:extLst>
            </p:cNvPr>
            <p:cNvSpPr/>
            <p:nvPr/>
          </p:nvSpPr>
          <p:spPr>
            <a:xfrm>
              <a:off x="1585438" y="3819826"/>
              <a:ext cx="1622400" cy="371100"/>
            </a:xfrm>
            <a:prstGeom prst="rect">
              <a:avLst/>
            </a:prstGeom>
            <a:solidFill>
              <a:srgbClr val="C9DAF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Roboto"/>
                  <a:ea typeface="Roboto"/>
                  <a:cs typeface="Roboto"/>
                  <a:sym typeface="Roboto"/>
                </a:rPr>
                <a:t>Transport</a:t>
              </a:r>
              <a:endParaRPr dirty="0">
                <a:latin typeface="Roboto"/>
                <a:ea typeface="Roboto"/>
                <a:cs typeface="Roboto"/>
                <a:sym typeface="Roboto"/>
              </a:endParaRPr>
            </a:p>
          </p:txBody>
        </p:sp>
        <p:cxnSp>
          <p:nvCxnSpPr>
            <p:cNvPr id="16" name="Google Shape;785;p56">
              <a:extLst>
                <a:ext uri="{FF2B5EF4-FFF2-40B4-BE49-F238E27FC236}">
                  <a16:creationId xmlns:a16="http://schemas.microsoft.com/office/drawing/2014/main" id="{716E716F-57A0-5002-EEBD-AE581F701B39}"/>
                </a:ext>
              </a:extLst>
            </p:cNvPr>
            <p:cNvCxnSpPr>
              <a:stCxn id="15" idx="2"/>
              <a:endCxn id="6" idx="0"/>
            </p:cNvCxnSpPr>
            <p:nvPr/>
          </p:nvCxnSpPr>
          <p:spPr>
            <a:xfrm>
              <a:off x="2396638" y="4190926"/>
              <a:ext cx="0" cy="458067"/>
            </a:xfrm>
            <a:prstGeom prst="straightConnector1">
              <a:avLst/>
            </a:prstGeom>
            <a:noFill/>
            <a:ln w="9525" cap="flat" cmpd="sng">
              <a:solidFill>
                <a:schemeClr val="dk2"/>
              </a:solidFill>
              <a:prstDash val="solid"/>
              <a:round/>
              <a:headEnd type="triangle" w="med" len="med"/>
              <a:tailEnd type="triangle" w="med" len="med"/>
            </a:ln>
          </p:spPr>
        </p:cxnSp>
        <p:sp>
          <p:nvSpPr>
            <p:cNvPr id="17" name="Google Shape;786;p56">
              <a:extLst>
                <a:ext uri="{FF2B5EF4-FFF2-40B4-BE49-F238E27FC236}">
                  <a16:creationId xmlns:a16="http://schemas.microsoft.com/office/drawing/2014/main" id="{C2FC967C-2A2B-76E0-36C1-EA2C3EA30B48}"/>
                </a:ext>
              </a:extLst>
            </p:cNvPr>
            <p:cNvSpPr txBox="1"/>
            <p:nvPr/>
          </p:nvSpPr>
          <p:spPr>
            <a:xfrm>
              <a:off x="667588" y="3819415"/>
              <a:ext cx="914400" cy="374904"/>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a:solidFill>
                    <a:schemeClr val="dk1"/>
                  </a:solidFill>
                  <a:latin typeface="Roboto"/>
                  <a:ea typeface="Roboto"/>
                  <a:cs typeface="Roboto"/>
                  <a:sym typeface="Roboto"/>
                </a:rPr>
                <a:t>Layer 4:</a:t>
              </a:r>
              <a:endParaRPr>
                <a:solidFill>
                  <a:schemeClr val="dk1"/>
                </a:solidFill>
                <a:latin typeface="Roboto"/>
                <a:ea typeface="Roboto"/>
                <a:cs typeface="Roboto"/>
                <a:sym typeface="Roboto"/>
              </a:endParaRPr>
            </a:p>
          </p:txBody>
        </p:sp>
        <p:sp>
          <p:nvSpPr>
            <p:cNvPr id="18" name="Google Shape;787;p56">
              <a:extLst>
                <a:ext uri="{FF2B5EF4-FFF2-40B4-BE49-F238E27FC236}">
                  <a16:creationId xmlns:a16="http://schemas.microsoft.com/office/drawing/2014/main" id="{1D48FA14-81CB-01C2-B054-9EA890487744}"/>
                </a:ext>
              </a:extLst>
            </p:cNvPr>
            <p:cNvSpPr txBox="1"/>
            <p:nvPr/>
          </p:nvSpPr>
          <p:spPr>
            <a:xfrm>
              <a:off x="3458946" y="3813119"/>
              <a:ext cx="3172277" cy="609383"/>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dirty="0">
                  <a:solidFill>
                    <a:schemeClr val="dk1"/>
                  </a:solidFill>
                  <a:latin typeface="Roboto"/>
                  <a:ea typeface="Roboto"/>
                  <a:cs typeface="Roboto"/>
                  <a:sym typeface="Roboto"/>
                </a:rPr>
                <a:t>Reliably deliver packets, forming connections</a:t>
              </a:r>
              <a:endParaRPr dirty="0">
                <a:solidFill>
                  <a:schemeClr val="dk1"/>
                </a:solidFill>
                <a:latin typeface="Roboto"/>
                <a:ea typeface="Roboto"/>
                <a:cs typeface="Roboto"/>
                <a:sym typeface="Roboto"/>
              </a:endParaRPr>
            </a:p>
          </p:txBody>
        </p:sp>
        <p:sp>
          <p:nvSpPr>
            <p:cNvPr id="19" name="Google Shape;788;p56">
              <a:extLst>
                <a:ext uri="{FF2B5EF4-FFF2-40B4-BE49-F238E27FC236}">
                  <a16:creationId xmlns:a16="http://schemas.microsoft.com/office/drawing/2014/main" id="{D92EDA97-18AE-75F8-F3DF-062AADC7CBAD}"/>
                </a:ext>
              </a:extLst>
            </p:cNvPr>
            <p:cNvSpPr/>
            <p:nvPr/>
          </p:nvSpPr>
          <p:spPr>
            <a:xfrm>
              <a:off x="1585438" y="2990659"/>
              <a:ext cx="1622400" cy="371100"/>
            </a:xfrm>
            <a:prstGeom prst="rect">
              <a:avLst/>
            </a:prstGeom>
            <a:solidFill>
              <a:srgbClr val="D9D2E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dirty="0">
                  <a:latin typeface="Roboto"/>
                  <a:ea typeface="Roboto"/>
                  <a:cs typeface="Roboto"/>
                  <a:sym typeface="Roboto"/>
                </a:rPr>
                <a:t>Application</a:t>
              </a:r>
              <a:endParaRPr b="1" dirty="0">
                <a:latin typeface="Roboto"/>
                <a:ea typeface="Roboto"/>
                <a:cs typeface="Roboto"/>
                <a:sym typeface="Roboto"/>
              </a:endParaRPr>
            </a:p>
          </p:txBody>
        </p:sp>
        <p:cxnSp>
          <p:nvCxnSpPr>
            <p:cNvPr id="20" name="Google Shape;789;p56">
              <a:extLst>
                <a:ext uri="{FF2B5EF4-FFF2-40B4-BE49-F238E27FC236}">
                  <a16:creationId xmlns:a16="http://schemas.microsoft.com/office/drawing/2014/main" id="{06D4ECDA-37F6-7F70-66A9-897C9F64A9E2}"/>
                </a:ext>
              </a:extLst>
            </p:cNvPr>
            <p:cNvCxnSpPr>
              <a:stCxn id="19" idx="2"/>
              <a:endCxn id="15" idx="0"/>
            </p:cNvCxnSpPr>
            <p:nvPr/>
          </p:nvCxnSpPr>
          <p:spPr>
            <a:xfrm>
              <a:off x="2396638" y="3361759"/>
              <a:ext cx="0" cy="458067"/>
            </a:xfrm>
            <a:prstGeom prst="straightConnector1">
              <a:avLst/>
            </a:prstGeom>
            <a:noFill/>
            <a:ln w="9525" cap="flat" cmpd="sng">
              <a:solidFill>
                <a:schemeClr val="dk2"/>
              </a:solidFill>
              <a:prstDash val="solid"/>
              <a:round/>
              <a:headEnd type="triangle" w="med" len="med"/>
              <a:tailEnd type="triangle" w="med" len="med"/>
            </a:ln>
          </p:spPr>
        </p:cxnSp>
        <p:sp>
          <p:nvSpPr>
            <p:cNvPr id="21" name="Google Shape;790;p56">
              <a:extLst>
                <a:ext uri="{FF2B5EF4-FFF2-40B4-BE49-F238E27FC236}">
                  <a16:creationId xmlns:a16="http://schemas.microsoft.com/office/drawing/2014/main" id="{79651667-CE46-EC6B-500F-F1A19C826185}"/>
                </a:ext>
              </a:extLst>
            </p:cNvPr>
            <p:cNvSpPr txBox="1"/>
            <p:nvPr/>
          </p:nvSpPr>
          <p:spPr>
            <a:xfrm>
              <a:off x="667588" y="2991380"/>
              <a:ext cx="914400" cy="332385"/>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dirty="0">
                  <a:solidFill>
                    <a:schemeClr val="dk1"/>
                  </a:solidFill>
                  <a:latin typeface="Roboto"/>
                  <a:ea typeface="Roboto"/>
                  <a:cs typeface="Roboto"/>
                  <a:sym typeface="Roboto"/>
                </a:rPr>
                <a:t>Layer 5:</a:t>
              </a:r>
              <a:endParaRPr dirty="0">
                <a:solidFill>
                  <a:schemeClr val="dk1"/>
                </a:solidFill>
                <a:latin typeface="Roboto"/>
                <a:ea typeface="Roboto"/>
                <a:cs typeface="Roboto"/>
                <a:sym typeface="Roboto"/>
              </a:endParaRPr>
            </a:p>
          </p:txBody>
        </p:sp>
        <p:sp>
          <p:nvSpPr>
            <p:cNvPr id="22" name="Google Shape;791;p56">
              <a:extLst>
                <a:ext uri="{FF2B5EF4-FFF2-40B4-BE49-F238E27FC236}">
                  <a16:creationId xmlns:a16="http://schemas.microsoft.com/office/drawing/2014/main" id="{6A778375-3147-2268-C624-E608A7EB7551}"/>
                </a:ext>
              </a:extLst>
            </p:cNvPr>
            <p:cNvSpPr txBox="1"/>
            <p:nvPr/>
          </p:nvSpPr>
          <p:spPr>
            <a:xfrm>
              <a:off x="3458947" y="2990659"/>
              <a:ext cx="3045639" cy="609383"/>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dirty="0">
                  <a:solidFill>
                    <a:schemeClr val="dk1"/>
                  </a:solidFill>
                  <a:latin typeface="Roboto"/>
                  <a:ea typeface="Roboto"/>
                  <a:cs typeface="Roboto"/>
                  <a:sym typeface="Roboto"/>
                </a:rPr>
                <a:t>Implement services on top of the Internet infrastructure</a:t>
              </a:r>
              <a:endParaRPr dirty="0">
                <a:solidFill>
                  <a:schemeClr val="dk1"/>
                </a:solidFill>
                <a:latin typeface="Roboto"/>
                <a:ea typeface="Roboto"/>
                <a:cs typeface="Roboto"/>
                <a:sym typeface="Roboto"/>
              </a:endParaRPr>
            </a:p>
          </p:txBody>
        </p:sp>
      </p:grpSp>
      <p:sp>
        <p:nvSpPr>
          <p:cNvPr id="26" name="Google Shape;172;p26">
            <a:extLst>
              <a:ext uri="{FF2B5EF4-FFF2-40B4-BE49-F238E27FC236}">
                <a16:creationId xmlns:a16="http://schemas.microsoft.com/office/drawing/2014/main" id="{7B08F0A1-0DBB-C470-0BDA-0AC4E55E90DD}"/>
              </a:ext>
            </a:extLst>
          </p:cNvPr>
          <p:cNvSpPr txBox="1">
            <a:spLocks/>
          </p:cNvSpPr>
          <p:nvPr/>
        </p:nvSpPr>
        <p:spPr>
          <a:xfrm>
            <a:off x="84461" y="1696583"/>
            <a:ext cx="5929087" cy="4530600"/>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spcAft>
                <a:spcPts val="600"/>
              </a:spcAft>
              <a:buFont typeface="Arial" panose="020B0604020202020204" pitchFamily="34" charset="0"/>
              <a:buNone/>
            </a:pPr>
            <a:r>
              <a:rPr lang="en-US" sz="2400" dirty="0"/>
              <a:t>Layer 3 (Network) gave us the ability to send packets anywhere on the Internet.</a:t>
            </a:r>
          </a:p>
          <a:p>
            <a:pPr marL="457200" indent="-342900">
              <a:spcBef>
                <a:spcPts val="600"/>
              </a:spcBef>
              <a:spcAft>
                <a:spcPts val="600"/>
              </a:spcAft>
              <a:buSzPts val="1800"/>
              <a:buFont typeface="Arial" panose="020B0604020202020204" pitchFamily="34" charset="0"/>
              <a:buChar char="●"/>
            </a:pPr>
            <a:r>
              <a:rPr lang="en-US" sz="2400" dirty="0"/>
              <a:t>Abstraction level: Packets individually sent through the network.</a:t>
            </a:r>
          </a:p>
          <a:p>
            <a:pPr marL="457200" indent="-342900">
              <a:spcBef>
                <a:spcPts val="0"/>
              </a:spcBef>
              <a:spcAft>
                <a:spcPts val="600"/>
              </a:spcAft>
              <a:buSzPts val="1800"/>
              <a:buFont typeface="Arial" panose="020B0604020202020204" pitchFamily="34" charset="0"/>
              <a:buChar char="●"/>
            </a:pPr>
            <a:r>
              <a:rPr lang="en-US" sz="2400" dirty="0"/>
              <a:t>Problem: IP offers </a:t>
            </a:r>
            <a:r>
              <a:rPr lang="en-US" sz="2400" b="1" i="1" dirty="0">
                <a:solidFill>
                  <a:srgbClr val="C00000"/>
                </a:solidFill>
              </a:rPr>
              <a:t>best-effort</a:t>
            </a:r>
            <a:r>
              <a:rPr lang="en-US" sz="2400" dirty="0"/>
              <a:t> delivery</a:t>
            </a:r>
          </a:p>
          <a:p>
            <a:pPr marL="914400" lvl="1" indent="-342900">
              <a:spcBef>
                <a:spcPts val="0"/>
              </a:spcBef>
              <a:spcAft>
                <a:spcPts val="600"/>
              </a:spcAft>
              <a:buSzPts val="1800"/>
              <a:buFont typeface="Arial" panose="020B0604020202020204" pitchFamily="34" charset="0"/>
              <a:buChar char="○"/>
            </a:pPr>
            <a:r>
              <a:rPr lang="en-US" dirty="0"/>
              <a:t>Packets can be </a:t>
            </a:r>
            <a:r>
              <a:rPr lang="en-US" dirty="0">
                <a:solidFill>
                  <a:srgbClr val="C00000"/>
                </a:solidFill>
              </a:rPr>
              <a:t>lost</a:t>
            </a:r>
            <a:r>
              <a:rPr lang="en-US" dirty="0"/>
              <a:t>, corrupted, reordered, </a:t>
            </a:r>
            <a:r>
              <a:rPr lang="en-US" dirty="0">
                <a:solidFill>
                  <a:srgbClr val="C00000"/>
                </a:solidFill>
              </a:rPr>
              <a:t>delayed</a:t>
            </a:r>
            <a:r>
              <a:rPr lang="en-US" dirty="0"/>
              <a:t>, or duplicated</a:t>
            </a:r>
          </a:p>
          <a:p>
            <a:pPr marL="457200" indent="-342900">
              <a:spcBef>
                <a:spcPts val="0"/>
              </a:spcBef>
              <a:spcAft>
                <a:spcPts val="600"/>
              </a:spcAft>
              <a:buSzPts val="1800"/>
              <a:buFont typeface="Arial" panose="020B0604020202020204" pitchFamily="34" charset="0"/>
              <a:buChar char="●"/>
            </a:pPr>
            <a:r>
              <a:rPr lang="en-US" sz="2400" dirty="0"/>
              <a:t>Problem: Applications don't want to think about packets and best-effort</a:t>
            </a:r>
          </a:p>
          <a:p>
            <a:pPr marL="914400" lvl="1" indent="-342900">
              <a:spcBef>
                <a:spcPts val="0"/>
              </a:spcBef>
              <a:spcAft>
                <a:spcPts val="600"/>
              </a:spcAft>
              <a:buSzPts val="1800"/>
              <a:buFont typeface="Arial" panose="020B0604020202020204" pitchFamily="34" charset="0"/>
              <a:buChar char="○"/>
            </a:pPr>
            <a:r>
              <a:rPr lang="en-US" dirty="0"/>
              <a:t>Programmers want to think in terms of a more convenient abstraction</a:t>
            </a:r>
          </a:p>
        </p:txBody>
      </p:sp>
    </p:spTree>
    <p:extLst>
      <p:ext uri="{BB962C8B-B14F-4D97-AF65-F5344CB8AC3E}">
        <p14:creationId xmlns:p14="http://schemas.microsoft.com/office/powerpoint/2010/main" val="26487936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F8255D-AD67-E14C-6CFF-347C376926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77704B-045D-599F-620E-1E7F932DAA8C}"/>
              </a:ext>
            </a:extLst>
          </p:cNvPr>
          <p:cNvSpPr>
            <a:spLocks noGrp="1"/>
          </p:cNvSpPr>
          <p:nvPr>
            <p:ph type="title"/>
          </p:nvPr>
        </p:nvSpPr>
        <p:spPr>
          <a:xfrm>
            <a:off x="900207" y="36780"/>
            <a:ext cx="10515600" cy="1325563"/>
          </a:xfrm>
        </p:spPr>
        <p:txBody>
          <a:bodyPr/>
          <a:lstStyle/>
          <a:p>
            <a:r>
              <a:rPr lang="en-US" dirty="0"/>
              <a:t>Transport Layer: Overview</a:t>
            </a:r>
          </a:p>
        </p:txBody>
      </p:sp>
      <p:grpSp>
        <p:nvGrpSpPr>
          <p:cNvPr id="24" name="Group 23">
            <a:extLst>
              <a:ext uri="{FF2B5EF4-FFF2-40B4-BE49-F238E27FC236}">
                <a16:creationId xmlns:a16="http://schemas.microsoft.com/office/drawing/2014/main" id="{115E8428-9EDB-838C-48A2-E5C25FEA7F2D}"/>
              </a:ext>
            </a:extLst>
          </p:cNvPr>
          <p:cNvGrpSpPr/>
          <p:nvPr/>
        </p:nvGrpSpPr>
        <p:grpSpPr>
          <a:xfrm>
            <a:off x="6158007" y="1585117"/>
            <a:ext cx="6373291" cy="3687766"/>
            <a:chOff x="667588" y="2990659"/>
            <a:chExt cx="6373291" cy="3687766"/>
          </a:xfrm>
        </p:grpSpPr>
        <p:sp>
          <p:nvSpPr>
            <p:cNvPr id="4" name="Google Shape;773;p56">
              <a:extLst>
                <a:ext uri="{FF2B5EF4-FFF2-40B4-BE49-F238E27FC236}">
                  <a16:creationId xmlns:a16="http://schemas.microsoft.com/office/drawing/2014/main" id="{0374B522-D6CF-9407-6FD9-22F179B1BAA3}"/>
                </a:ext>
              </a:extLst>
            </p:cNvPr>
            <p:cNvSpPr/>
            <p:nvPr/>
          </p:nvSpPr>
          <p:spPr>
            <a:xfrm>
              <a:off x="1585438" y="6307325"/>
              <a:ext cx="1622400" cy="371100"/>
            </a:xfrm>
            <a:prstGeom prst="rect">
              <a:avLst/>
            </a:prstGeom>
            <a:solidFill>
              <a:srgbClr val="F4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Physical</a:t>
              </a:r>
              <a:endParaRPr>
                <a:latin typeface="Roboto"/>
                <a:ea typeface="Roboto"/>
                <a:cs typeface="Roboto"/>
                <a:sym typeface="Roboto"/>
              </a:endParaRPr>
            </a:p>
          </p:txBody>
        </p:sp>
        <p:sp>
          <p:nvSpPr>
            <p:cNvPr id="5" name="Google Shape;774;p56">
              <a:extLst>
                <a:ext uri="{FF2B5EF4-FFF2-40B4-BE49-F238E27FC236}">
                  <a16:creationId xmlns:a16="http://schemas.microsoft.com/office/drawing/2014/main" id="{4D383A24-A706-4CD5-916D-07E7626D61B2}"/>
                </a:ext>
              </a:extLst>
            </p:cNvPr>
            <p:cNvSpPr/>
            <p:nvPr/>
          </p:nvSpPr>
          <p:spPr>
            <a:xfrm>
              <a:off x="1585438" y="5478160"/>
              <a:ext cx="1622400" cy="371100"/>
            </a:xfrm>
            <a:prstGeom prst="rect">
              <a:avLst/>
            </a:prstGeom>
            <a:solidFill>
              <a:srgbClr val="FCE5C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Link</a:t>
              </a:r>
              <a:endParaRPr>
                <a:latin typeface="Roboto"/>
                <a:ea typeface="Roboto"/>
                <a:cs typeface="Roboto"/>
                <a:sym typeface="Roboto"/>
              </a:endParaRPr>
            </a:p>
          </p:txBody>
        </p:sp>
        <p:sp>
          <p:nvSpPr>
            <p:cNvPr id="6" name="Google Shape;775;p56">
              <a:extLst>
                <a:ext uri="{FF2B5EF4-FFF2-40B4-BE49-F238E27FC236}">
                  <a16:creationId xmlns:a16="http://schemas.microsoft.com/office/drawing/2014/main" id="{513415CC-820F-A4A7-87FD-6DC28BEB04AF}"/>
                </a:ext>
              </a:extLst>
            </p:cNvPr>
            <p:cNvSpPr/>
            <p:nvPr/>
          </p:nvSpPr>
          <p:spPr>
            <a:xfrm>
              <a:off x="1585438" y="4648993"/>
              <a:ext cx="1622400" cy="371100"/>
            </a:xfrm>
            <a:prstGeom prst="rect">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lvl="0" algn="ctr"/>
              <a:r>
                <a:rPr lang="en-US" dirty="0">
                  <a:latin typeface="Roboto"/>
                  <a:ea typeface="Roboto"/>
                  <a:cs typeface="Roboto"/>
                  <a:sym typeface="Roboto"/>
                </a:rPr>
                <a:t>Network</a:t>
              </a:r>
              <a:endParaRPr dirty="0">
                <a:latin typeface="Roboto"/>
                <a:ea typeface="Roboto"/>
                <a:cs typeface="Roboto"/>
                <a:sym typeface="Roboto"/>
              </a:endParaRPr>
            </a:p>
          </p:txBody>
        </p:sp>
        <p:cxnSp>
          <p:nvCxnSpPr>
            <p:cNvPr id="7" name="Google Shape;776;p56">
              <a:extLst>
                <a:ext uri="{FF2B5EF4-FFF2-40B4-BE49-F238E27FC236}">
                  <a16:creationId xmlns:a16="http://schemas.microsoft.com/office/drawing/2014/main" id="{2021ABAF-B4E0-73BC-C040-EA5C1179BABA}"/>
                </a:ext>
              </a:extLst>
            </p:cNvPr>
            <p:cNvCxnSpPr>
              <a:stCxn id="5" idx="2"/>
              <a:endCxn id="4" idx="0"/>
            </p:cNvCxnSpPr>
            <p:nvPr/>
          </p:nvCxnSpPr>
          <p:spPr>
            <a:xfrm>
              <a:off x="2396638" y="5849260"/>
              <a:ext cx="0" cy="458065"/>
            </a:xfrm>
            <a:prstGeom prst="straightConnector1">
              <a:avLst/>
            </a:prstGeom>
            <a:noFill/>
            <a:ln w="9525" cap="flat" cmpd="sng">
              <a:solidFill>
                <a:schemeClr val="dk2"/>
              </a:solidFill>
              <a:prstDash val="solid"/>
              <a:round/>
              <a:headEnd type="triangle" w="med" len="med"/>
              <a:tailEnd type="triangle" w="med" len="med"/>
            </a:ln>
          </p:spPr>
        </p:cxnSp>
        <p:cxnSp>
          <p:nvCxnSpPr>
            <p:cNvPr id="8" name="Google Shape;777;p56">
              <a:extLst>
                <a:ext uri="{FF2B5EF4-FFF2-40B4-BE49-F238E27FC236}">
                  <a16:creationId xmlns:a16="http://schemas.microsoft.com/office/drawing/2014/main" id="{159612DF-7D03-1914-C6DE-7FB8AC36F7DA}"/>
                </a:ext>
              </a:extLst>
            </p:cNvPr>
            <p:cNvCxnSpPr>
              <a:stCxn id="6" idx="2"/>
              <a:endCxn id="5" idx="0"/>
            </p:cNvCxnSpPr>
            <p:nvPr/>
          </p:nvCxnSpPr>
          <p:spPr>
            <a:xfrm>
              <a:off x="2396638" y="5020093"/>
              <a:ext cx="0" cy="458067"/>
            </a:xfrm>
            <a:prstGeom prst="straightConnector1">
              <a:avLst/>
            </a:prstGeom>
            <a:noFill/>
            <a:ln w="9525" cap="flat" cmpd="sng">
              <a:solidFill>
                <a:schemeClr val="dk2"/>
              </a:solidFill>
              <a:prstDash val="solid"/>
              <a:round/>
              <a:headEnd type="triangle" w="med" len="med"/>
              <a:tailEnd type="triangle" w="med" len="med"/>
            </a:ln>
          </p:spPr>
        </p:cxnSp>
        <p:sp>
          <p:nvSpPr>
            <p:cNvPr id="9" name="Google Shape;778;p56">
              <a:extLst>
                <a:ext uri="{FF2B5EF4-FFF2-40B4-BE49-F238E27FC236}">
                  <a16:creationId xmlns:a16="http://schemas.microsoft.com/office/drawing/2014/main" id="{911BFFA5-1F5E-CECF-5F97-052D29F58CC2}"/>
                </a:ext>
              </a:extLst>
            </p:cNvPr>
            <p:cNvSpPr txBox="1"/>
            <p:nvPr/>
          </p:nvSpPr>
          <p:spPr>
            <a:xfrm>
              <a:off x="667588" y="6303521"/>
              <a:ext cx="914400" cy="374904"/>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dirty="0">
                  <a:solidFill>
                    <a:schemeClr val="dk1"/>
                  </a:solidFill>
                  <a:latin typeface="Roboto"/>
                  <a:ea typeface="Roboto"/>
                  <a:cs typeface="Roboto"/>
                  <a:sym typeface="Roboto"/>
                </a:rPr>
                <a:t>Layer 1:</a:t>
              </a:r>
              <a:endParaRPr dirty="0">
                <a:solidFill>
                  <a:schemeClr val="dk1"/>
                </a:solidFill>
                <a:latin typeface="Roboto"/>
                <a:ea typeface="Roboto"/>
                <a:cs typeface="Roboto"/>
                <a:sym typeface="Roboto"/>
              </a:endParaRPr>
            </a:p>
          </p:txBody>
        </p:sp>
        <p:sp>
          <p:nvSpPr>
            <p:cNvPr id="10" name="Google Shape;779;p56">
              <a:extLst>
                <a:ext uri="{FF2B5EF4-FFF2-40B4-BE49-F238E27FC236}">
                  <a16:creationId xmlns:a16="http://schemas.microsoft.com/office/drawing/2014/main" id="{991411F0-E45F-7A10-3EE1-EE085184BFA2}"/>
                </a:ext>
              </a:extLst>
            </p:cNvPr>
            <p:cNvSpPr txBox="1"/>
            <p:nvPr/>
          </p:nvSpPr>
          <p:spPr>
            <a:xfrm>
              <a:off x="667588" y="5475485"/>
              <a:ext cx="914400" cy="374904"/>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a:solidFill>
                    <a:schemeClr val="dk1"/>
                  </a:solidFill>
                  <a:latin typeface="Roboto"/>
                  <a:ea typeface="Roboto"/>
                  <a:cs typeface="Roboto"/>
                  <a:sym typeface="Roboto"/>
                </a:rPr>
                <a:t>Layer 2:</a:t>
              </a:r>
              <a:endParaRPr>
                <a:solidFill>
                  <a:schemeClr val="dk1"/>
                </a:solidFill>
                <a:latin typeface="Roboto"/>
                <a:ea typeface="Roboto"/>
                <a:cs typeface="Roboto"/>
                <a:sym typeface="Roboto"/>
              </a:endParaRPr>
            </a:p>
          </p:txBody>
        </p:sp>
        <p:sp>
          <p:nvSpPr>
            <p:cNvPr id="11" name="Google Shape;780;p56">
              <a:extLst>
                <a:ext uri="{FF2B5EF4-FFF2-40B4-BE49-F238E27FC236}">
                  <a16:creationId xmlns:a16="http://schemas.microsoft.com/office/drawing/2014/main" id="{E819BAC4-F1FE-7384-4256-3B00BD78808F}"/>
                </a:ext>
              </a:extLst>
            </p:cNvPr>
            <p:cNvSpPr txBox="1"/>
            <p:nvPr/>
          </p:nvSpPr>
          <p:spPr>
            <a:xfrm>
              <a:off x="667588" y="4647450"/>
              <a:ext cx="914400" cy="374904"/>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a:solidFill>
                    <a:schemeClr val="dk1"/>
                  </a:solidFill>
                  <a:latin typeface="Roboto"/>
                  <a:ea typeface="Roboto"/>
                  <a:cs typeface="Roboto"/>
                  <a:sym typeface="Roboto"/>
                </a:rPr>
                <a:t>Layer 3:</a:t>
              </a:r>
              <a:endParaRPr>
                <a:solidFill>
                  <a:schemeClr val="dk1"/>
                </a:solidFill>
                <a:latin typeface="Roboto"/>
                <a:ea typeface="Roboto"/>
                <a:cs typeface="Roboto"/>
                <a:sym typeface="Roboto"/>
              </a:endParaRPr>
            </a:p>
          </p:txBody>
        </p:sp>
        <p:sp>
          <p:nvSpPr>
            <p:cNvPr id="12" name="Google Shape;781;p56">
              <a:extLst>
                <a:ext uri="{FF2B5EF4-FFF2-40B4-BE49-F238E27FC236}">
                  <a16:creationId xmlns:a16="http://schemas.microsoft.com/office/drawing/2014/main" id="{D2EE9705-2835-006C-30C7-DB780B16349E}"/>
                </a:ext>
              </a:extLst>
            </p:cNvPr>
            <p:cNvSpPr txBox="1"/>
            <p:nvPr/>
          </p:nvSpPr>
          <p:spPr>
            <a:xfrm>
              <a:off x="3458946" y="6297713"/>
              <a:ext cx="2991729" cy="332385"/>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dirty="0">
                  <a:solidFill>
                    <a:schemeClr val="dk1"/>
                  </a:solidFill>
                  <a:latin typeface="Roboto"/>
                  <a:ea typeface="Roboto"/>
                  <a:cs typeface="Roboto"/>
                  <a:sym typeface="Roboto"/>
                </a:rPr>
                <a:t>Move bits across space</a:t>
              </a:r>
              <a:endParaRPr dirty="0">
                <a:solidFill>
                  <a:schemeClr val="dk1"/>
                </a:solidFill>
                <a:latin typeface="Roboto"/>
                <a:ea typeface="Roboto"/>
                <a:cs typeface="Roboto"/>
                <a:sym typeface="Roboto"/>
              </a:endParaRPr>
            </a:p>
          </p:txBody>
        </p:sp>
        <p:sp>
          <p:nvSpPr>
            <p:cNvPr id="13" name="Google Shape;782;p56">
              <a:extLst>
                <a:ext uri="{FF2B5EF4-FFF2-40B4-BE49-F238E27FC236}">
                  <a16:creationId xmlns:a16="http://schemas.microsoft.com/office/drawing/2014/main" id="{DD2E201B-C9C3-3D86-9F24-70A4778CDAC1}"/>
                </a:ext>
              </a:extLst>
            </p:cNvPr>
            <p:cNvSpPr txBox="1"/>
            <p:nvPr/>
          </p:nvSpPr>
          <p:spPr>
            <a:xfrm>
              <a:off x="3458946" y="5469515"/>
              <a:ext cx="3581933" cy="332385"/>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dirty="0">
                  <a:solidFill>
                    <a:schemeClr val="dk1"/>
                  </a:solidFill>
                  <a:latin typeface="Roboto"/>
                  <a:ea typeface="Roboto"/>
                  <a:cs typeface="Roboto"/>
                  <a:sym typeface="Roboto"/>
                </a:rPr>
                <a:t>Create links in a local network</a:t>
              </a:r>
              <a:endParaRPr dirty="0">
                <a:solidFill>
                  <a:schemeClr val="dk1"/>
                </a:solidFill>
                <a:latin typeface="Roboto"/>
                <a:ea typeface="Roboto"/>
                <a:cs typeface="Roboto"/>
                <a:sym typeface="Roboto"/>
              </a:endParaRPr>
            </a:p>
          </p:txBody>
        </p:sp>
        <p:sp>
          <p:nvSpPr>
            <p:cNvPr id="14" name="Google Shape;783;p56">
              <a:extLst>
                <a:ext uri="{FF2B5EF4-FFF2-40B4-BE49-F238E27FC236}">
                  <a16:creationId xmlns:a16="http://schemas.microsoft.com/office/drawing/2014/main" id="{5EA8321C-D500-BF6F-93B5-1556BC863FE0}"/>
                </a:ext>
              </a:extLst>
            </p:cNvPr>
            <p:cNvSpPr txBox="1"/>
            <p:nvPr/>
          </p:nvSpPr>
          <p:spPr>
            <a:xfrm>
              <a:off x="3458946" y="4641317"/>
              <a:ext cx="3172277" cy="609383"/>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dirty="0">
                  <a:solidFill>
                    <a:schemeClr val="dk1"/>
                  </a:solidFill>
                  <a:latin typeface="Roboto"/>
                  <a:ea typeface="Roboto"/>
                  <a:cs typeface="Roboto"/>
                  <a:sym typeface="Roboto"/>
                </a:rPr>
                <a:t>Connect many local networks to form the Internet</a:t>
              </a:r>
              <a:endParaRPr dirty="0">
                <a:solidFill>
                  <a:schemeClr val="dk1"/>
                </a:solidFill>
                <a:latin typeface="Roboto"/>
                <a:ea typeface="Roboto"/>
                <a:cs typeface="Roboto"/>
                <a:sym typeface="Roboto"/>
              </a:endParaRPr>
            </a:p>
          </p:txBody>
        </p:sp>
        <p:sp>
          <p:nvSpPr>
            <p:cNvPr id="15" name="Google Shape;784;p56">
              <a:extLst>
                <a:ext uri="{FF2B5EF4-FFF2-40B4-BE49-F238E27FC236}">
                  <a16:creationId xmlns:a16="http://schemas.microsoft.com/office/drawing/2014/main" id="{D771814D-69A8-033C-80DE-8A648F418081}"/>
                </a:ext>
              </a:extLst>
            </p:cNvPr>
            <p:cNvSpPr/>
            <p:nvPr/>
          </p:nvSpPr>
          <p:spPr>
            <a:xfrm>
              <a:off x="1585438" y="3819826"/>
              <a:ext cx="1622400" cy="371100"/>
            </a:xfrm>
            <a:prstGeom prst="rect">
              <a:avLst/>
            </a:prstGeom>
            <a:solidFill>
              <a:srgbClr val="C9DAF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Roboto"/>
                  <a:ea typeface="Roboto"/>
                  <a:cs typeface="Roboto"/>
                  <a:sym typeface="Roboto"/>
                </a:rPr>
                <a:t>Transport</a:t>
              </a:r>
              <a:endParaRPr dirty="0">
                <a:latin typeface="Roboto"/>
                <a:ea typeface="Roboto"/>
                <a:cs typeface="Roboto"/>
                <a:sym typeface="Roboto"/>
              </a:endParaRPr>
            </a:p>
          </p:txBody>
        </p:sp>
        <p:cxnSp>
          <p:nvCxnSpPr>
            <p:cNvPr id="16" name="Google Shape;785;p56">
              <a:extLst>
                <a:ext uri="{FF2B5EF4-FFF2-40B4-BE49-F238E27FC236}">
                  <a16:creationId xmlns:a16="http://schemas.microsoft.com/office/drawing/2014/main" id="{9D14640A-D899-3AD3-FC3C-7FA8F36B9D39}"/>
                </a:ext>
              </a:extLst>
            </p:cNvPr>
            <p:cNvCxnSpPr>
              <a:stCxn id="15" idx="2"/>
              <a:endCxn id="6" idx="0"/>
            </p:cNvCxnSpPr>
            <p:nvPr/>
          </p:nvCxnSpPr>
          <p:spPr>
            <a:xfrm>
              <a:off x="2396638" y="4190926"/>
              <a:ext cx="0" cy="458067"/>
            </a:xfrm>
            <a:prstGeom prst="straightConnector1">
              <a:avLst/>
            </a:prstGeom>
            <a:noFill/>
            <a:ln w="9525" cap="flat" cmpd="sng">
              <a:solidFill>
                <a:schemeClr val="dk2"/>
              </a:solidFill>
              <a:prstDash val="solid"/>
              <a:round/>
              <a:headEnd type="triangle" w="med" len="med"/>
              <a:tailEnd type="triangle" w="med" len="med"/>
            </a:ln>
          </p:spPr>
        </p:cxnSp>
        <p:sp>
          <p:nvSpPr>
            <p:cNvPr id="17" name="Google Shape;786;p56">
              <a:extLst>
                <a:ext uri="{FF2B5EF4-FFF2-40B4-BE49-F238E27FC236}">
                  <a16:creationId xmlns:a16="http://schemas.microsoft.com/office/drawing/2014/main" id="{3E4E26CB-0612-D904-4CD1-0701C2B71436}"/>
                </a:ext>
              </a:extLst>
            </p:cNvPr>
            <p:cNvSpPr txBox="1"/>
            <p:nvPr/>
          </p:nvSpPr>
          <p:spPr>
            <a:xfrm>
              <a:off x="667588" y="3819415"/>
              <a:ext cx="914400" cy="374904"/>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a:solidFill>
                    <a:schemeClr val="dk1"/>
                  </a:solidFill>
                  <a:latin typeface="Roboto"/>
                  <a:ea typeface="Roboto"/>
                  <a:cs typeface="Roboto"/>
                  <a:sym typeface="Roboto"/>
                </a:rPr>
                <a:t>Layer 4:</a:t>
              </a:r>
              <a:endParaRPr>
                <a:solidFill>
                  <a:schemeClr val="dk1"/>
                </a:solidFill>
                <a:latin typeface="Roboto"/>
                <a:ea typeface="Roboto"/>
                <a:cs typeface="Roboto"/>
                <a:sym typeface="Roboto"/>
              </a:endParaRPr>
            </a:p>
          </p:txBody>
        </p:sp>
        <p:sp>
          <p:nvSpPr>
            <p:cNvPr id="18" name="Google Shape;787;p56">
              <a:extLst>
                <a:ext uri="{FF2B5EF4-FFF2-40B4-BE49-F238E27FC236}">
                  <a16:creationId xmlns:a16="http://schemas.microsoft.com/office/drawing/2014/main" id="{B259DF05-5766-AC3C-6341-CE9BB5534642}"/>
                </a:ext>
              </a:extLst>
            </p:cNvPr>
            <p:cNvSpPr txBox="1"/>
            <p:nvPr/>
          </p:nvSpPr>
          <p:spPr>
            <a:xfrm>
              <a:off x="3458946" y="3813119"/>
              <a:ext cx="3172277" cy="609383"/>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dirty="0">
                  <a:solidFill>
                    <a:schemeClr val="dk1"/>
                  </a:solidFill>
                  <a:latin typeface="Roboto"/>
                  <a:ea typeface="Roboto"/>
                  <a:cs typeface="Roboto"/>
                  <a:sym typeface="Roboto"/>
                </a:rPr>
                <a:t>Reliably deliver packets, forming connections</a:t>
              </a:r>
              <a:endParaRPr dirty="0">
                <a:solidFill>
                  <a:schemeClr val="dk1"/>
                </a:solidFill>
                <a:latin typeface="Roboto"/>
                <a:ea typeface="Roboto"/>
                <a:cs typeface="Roboto"/>
                <a:sym typeface="Roboto"/>
              </a:endParaRPr>
            </a:p>
          </p:txBody>
        </p:sp>
        <p:sp>
          <p:nvSpPr>
            <p:cNvPr id="19" name="Google Shape;788;p56">
              <a:extLst>
                <a:ext uri="{FF2B5EF4-FFF2-40B4-BE49-F238E27FC236}">
                  <a16:creationId xmlns:a16="http://schemas.microsoft.com/office/drawing/2014/main" id="{100DC67B-BC42-0D12-27FD-996A692D56D6}"/>
                </a:ext>
              </a:extLst>
            </p:cNvPr>
            <p:cNvSpPr/>
            <p:nvPr/>
          </p:nvSpPr>
          <p:spPr>
            <a:xfrm>
              <a:off x="1585438" y="2990659"/>
              <a:ext cx="1622400" cy="371100"/>
            </a:xfrm>
            <a:prstGeom prst="rect">
              <a:avLst/>
            </a:prstGeom>
            <a:solidFill>
              <a:srgbClr val="D9D2E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dirty="0">
                  <a:latin typeface="Roboto"/>
                  <a:ea typeface="Roboto"/>
                  <a:cs typeface="Roboto"/>
                  <a:sym typeface="Roboto"/>
                </a:rPr>
                <a:t>Application</a:t>
              </a:r>
              <a:endParaRPr b="1" dirty="0">
                <a:latin typeface="Roboto"/>
                <a:ea typeface="Roboto"/>
                <a:cs typeface="Roboto"/>
                <a:sym typeface="Roboto"/>
              </a:endParaRPr>
            </a:p>
          </p:txBody>
        </p:sp>
        <p:cxnSp>
          <p:nvCxnSpPr>
            <p:cNvPr id="20" name="Google Shape;789;p56">
              <a:extLst>
                <a:ext uri="{FF2B5EF4-FFF2-40B4-BE49-F238E27FC236}">
                  <a16:creationId xmlns:a16="http://schemas.microsoft.com/office/drawing/2014/main" id="{EE0E472D-2AF1-7184-8E6C-505F03341E87}"/>
                </a:ext>
              </a:extLst>
            </p:cNvPr>
            <p:cNvCxnSpPr>
              <a:stCxn id="19" idx="2"/>
              <a:endCxn id="15" idx="0"/>
            </p:cNvCxnSpPr>
            <p:nvPr/>
          </p:nvCxnSpPr>
          <p:spPr>
            <a:xfrm>
              <a:off x="2396638" y="3361759"/>
              <a:ext cx="0" cy="458067"/>
            </a:xfrm>
            <a:prstGeom prst="straightConnector1">
              <a:avLst/>
            </a:prstGeom>
            <a:noFill/>
            <a:ln w="9525" cap="flat" cmpd="sng">
              <a:solidFill>
                <a:schemeClr val="dk2"/>
              </a:solidFill>
              <a:prstDash val="solid"/>
              <a:round/>
              <a:headEnd type="triangle" w="med" len="med"/>
              <a:tailEnd type="triangle" w="med" len="med"/>
            </a:ln>
          </p:spPr>
        </p:cxnSp>
        <p:sp>
          <p:nvSpPr>
            <p:cNvPr id="21" name="Google Shape;790;p56">
              <a:extLst>
                <a:ext uri="{FF2B5EF4-FFF2-40B4-BE49-F238E27FC236}">
                  <a16:creationId xmlns:a16="http://schemas.microsoft.com/office/drawing/2014/main" id="{90A877E3-45EB-210E-313E-2DC98552592F}"/>
                </a:ext>
              </a:extLst>
            </p:cNvPr>
            <p:cNvSpPr txBox="1"/>
            <p:nvPr/>
          </p:nvSpPr>
          <p:spPr>
            <a:xfrm>
              <a:off x="667588" y="2991380"/>
              <a:ext cx="914400" cy="332385"/>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dirty="0">
                  <a:solidFill>
                    <a:schemeClr val="dk1"/>
                  </a:solidFill>
                  <a:latin typeface="Roboto"/>
                  <a:ea typeface="Roboto"/>
                  <a:cs typeface="Roboto"/>
                  <a:sym typeface="Roboto"/>
                </a:rPr>
                <a:t>Layer 5:</a:t>
              </a:r>
              <a:endParaRPr dirty="0">
                <a:solidFill>
                  <a:schemeClr val="dk1"/>
                </a:solidFill>
                <a:latin typeface="Roboto"/>
                <a:ea typeface="Roboto"/>
                <a:cs typeface="Roboto"/>
                <a:sym typeface="Roboto"/>
              </a:endParaRPr>
            </a:p>
          </p:txBody>
        </p:sp>
        <p:sp>
          <p:nvSpPr>
            <p:cNvPr id="22" name="Google Shape;791;p56">
              <a:extLst>
                <a:ext uri="{FF2B5EF4-FFF2-40B4-BE49-F238E27FC236}">
                  <a16:creationId xmlns:a16="http://schemas.microsoft.com/office/drawing/2014/main" id="{F27ABB9E-3E56-6945-8C1C-7482C1B18776}"/>
                </a:ext>
              </a:extLst>
            </p:cNvPr>
            <p:cNvSpPr txBox="1"/>
            <p:nvPr/>
          </p:nvSpPr>
          <p:spPr>
            <a:xfrm>
              <a:off x="3458947" y="2990659"/>
              <a:ext cx="3045639" cy="609383"/>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dirty="0">
                  <a:solidFill>
                    <a:schemeClr val="dk1"/>
                  </a:solidFill>
                  <a:latin typeface="Roboto"/>
                  <a:ea typeface="Roboto"/>
                  <a:cs typeface="Roboto"/>
                  <a:sym typeface="Roboto"/>
                </a:rPr>
                <a:t>Implement services on top of the Internet infrastructure</a:t>
              </a:r>
              <a:endParaRPr dirty="0">
                <a:solidFill>
                  <a:schemeClr val="dk1"/>
                </a:solidFill>
                <a:latin typeface="Roboto"/>
                <a:ea typeface="Roboto"/>
                <a:cs typeface="Roboto"/>
                <a:sym typeface="Roboto"/>
              </a:endParaRPr>
            </a:p>
          </p:txBody>
        </p:sp>
      </p:grpSp>
      <p:sp>
        <p:nvSpPr>
          <p:cNvPr id="26" name="Google Shape;172;p26">
            <a:extLst>
              <a:ext uri="{FF2B5EF4-FFF2-40B4-BE49-F238E27FC236}">
                <a16:creationId xmlns:a16="http://schemas.microsoft.com/office/drawing/2014/main" id="{8FD01F8E-EEA0-4CC0-FF3A-DD95B5DBB7B9}"/>
              </a:ext>
            </a:extLst>
          </p:cNvPr>
          <p:cNvSpPr txBox="1">
            <a:spLocks/>
          </p:cNvSpPr>
          <p:nvPr/>
        </p:nvSpPr>
        <p:spPr>
          <a:xfrm>
            <a:off x="84462" y="1696331"/>
            <a:ext cx="5666220" cy="4256234"/>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spcAft>
                <a:spcPts val="600"/>
              </a:spcAft>
              <a:buFont typeface="Arial" panose="020B0604020202020204" pitchFamily="34" charset="0"/>
              <a:buNone/>
            </a:pPr>
            <a:r>
              <a:rPr lang="en-US" sz="2400" dirty="0"/>
              <a:t>Layer 4 (Transport) builds extra features on top of Layer 3</a:t>
            </a:r>
          </a:p>
          <a:p>
            <a:pPr marL="457200" indent="-342900">
              <a:spcBef>
                <a:spcPts val="600"/>
              </a:spcBef>
              <a:spcAft>
                <a:spcPts val="600"/>
              </a:spcAft>
              <a:buSzPts val="1800"/>
              <a:buFont typeface="Arial" panose="020B0604020202020204" pitchFamily="34" charset="0"/>
              <a:buChar char="●"/>
            </a:pPr>
            <a:r>
              <a:rPr lang="en-US" sz="2400" b="1" dirty="0"/>
              <a:t>TCP</a:t>
            </a:r>
            <a:r>
              <a:rPr lang="en-US" sz="2400" dirty="0"/>
              <a:t> (Transmission Control Protocol): Adds </a:t>
            </a:r>
            <a:r>
              <a:rPr lang="en-US" sz="2400" i="1" dirty="0"/>
              <a:t>de-multiplexing</a:t>
            </a:r>
            <a:r>
              <a:rPr lang="en-US" sz="2400" dirty="0"/>
              <a:t> and </a:t>
            </a:r>
            <a:r>
              <a:rPr lang="en-US" sz="2400" i="1" dirty="0"/>
              <a:t>reliability</a:t>
            </a:r>
            <a:endParaRPr lang="en-US" sz="2400" dirty="0"/>
          </a:p>
          <a:p>
            <a:pPr marL="457200" indent="-342900">
              <a:spcBef>
                <a:spcPts val="0"/>
              </a:spcBef>
              <a:spcAft>
                <a:spcPts val="600"/>
              </a:spcAft>
              <a:buSzPts val="1800"/>
              <a:buFont typeface="Arial" panose="020B0604020202020204" pitchFamily="34" charset="0"/>
              <a:buChar char="●"/>
            </a:pPr>
            <a:r>
              <a:rPr lang="en-US" sz="2400" b="1" dirty="0"/>
              <a:t>UDP</a:t>
            </a:r>
            <a:r>
              <a:rPr lang="en-US" sz="2400" dirty="0"/>
              <a:t> (User Datagram Protocol): Adds </a:t>
            </a:r>
            <a:r>
              <a:rPr lang="en-US" sz="2400" i="1" dirty="0"/>
              <a:t>de-multiplexing</a:t>
            </a:r>
            <a:r>
              <a:rPr lang="en-US" sz="2400" dirty="0"/>
              <a:t> only</a:t>
            </a:r>
          </a:p>
          <a:p>
            <a:pPr marL="457200" indent="-342900">
              <a:spcBef>
                <a:spcPts val="0"/>
              </a:spcBef>
              <a:spcAft>
                <a:spcPts val="600"/>
              </a:spcAft>
              <a:buSzPts val="1800"/>
              <a:buFont typeface="Arial" panose="020B0604020202020204" pitchFamily="34" charset="0"/>
              <a:buChar char="●"/>
            </a:pPr>
            <a:r>
              <a:rPr lang="en-US" sz="2400" dirty="0"/>
              <a:t>Both protocols provide a more useful abstraction to programmers</a:t>
            </a:r>
          </a:p>
          <a:p>
            <a:pPr marL="0" indent="0">
              <a:spcBef>
                <a:spcPts val="600"/>
              </a:spcBef>
              <a:spcAft>
                <a:spcPts val="600"/>
              </a:spcAft>
              <a:buFont typeface="Arial" panose="020B0604020202020204" pitchFamily="34" charset="0"/>
              <a:buNone/>
            </a:pPr>
            <a:r>
              <a:rPr lang="en-US" sz="2400" dirty="0"/>
              <a:t>Let's check out each of these features</a:t>
            </a:r>
          </a:p>
        </p:txBody>
      </p:sp>
    </p:spTree>
    <p:extLst>
      <p:ext uri="{BB962C8B-B14F-4D97-AF65-F5344CB8AC3E}">
        <p14:creationId xmlns:p14="http://schemas.microsoft.com/office/powerpoint/2010/main" val="30009656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8902B4EA-0158-774A-877D-888807F574B5}"/>
              </a:ext>
            </a:extLst>
          </p:cNvPr>
          <p:cNvGrpSpPr/>
          <p:nvPr/>
        </p:nvGrpSpPr>
        <p:grpSpPr>
          <a:xfrm>
            <a:off x="3028992" y="5736630"/>
            <a:ext cx="6866725" cy="1028731"/>
            <a:chOff x="2578811" y="4965666"/>
            <a:chExt cx="6866725" cy="1028731"/>
          </a:xfrm>
        </p:grpSpPr>
        <p:cxnSp>
          <p:nvCxnSpPr>
            <p:cNvPr id="128" name="Straight Connector 127">
              <a:extLst>
                <a:ext uri="{FF2B5EF4-FFF2-40B4-BE49-F238E27FC236}">
                  <a16:creationId xmlns:a16="http://schemas.microsoft.com/office/drawing/2014/main" id="{0763EEB6-87F6-D847-AD1E-3BFDCE6A9543}"/>
                </a:ext>
              </a:extLst>
            </p:cNvPr>
            <p:cNvCxnSpPr>
              <a:cxnSpLocks/>
            </p:cNvCxnSpPr>
            <p:nvPr/>
          </p:nvCxnSpPr>
          <p:spPr>
            <a:xfrm>
              <a:off x="2578811" y="5062556"/>
              <a:ext cx="1582832" cy="30261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 name="Group 5">
              <a:extLst>
                <a:ext uri="{FF2B5EF4-FFF2-40B4-BE49-F238E27FC236}">
                  <a16:creationId xmlns:a16="http://schemas.microsoft.com/office/drawing/2014/main" id="{09891B45-180E-B341-A7C6-D10A683BB102}"/>
                </a:ext>
              </a:extLst>
            </p:cNvPr>
            <p:cNvGrpSpPr/>
            <p:nvPr/>
          </p:nvGrpSpPr>
          <p:grpSpPr>
            <a:xfrm>
              <a:off x="4062521" y="4965666"/>
              <a:ext cx="5383015" cy="1028731"/>
              <a:chOff x="4062521" y="4965666"/>
              <a:chExt cx="5383015" cy="1028731"/>
            </a:xfrm>
          </p:grpSpPr>
          <p:cxnSp>
            <p:nvCxnSpPr>
              <p:cNvPr id="127" name="Straight Connector 126">
                <a:extLst>
                  <a:ext uri="{FF2B5EF4-FFF2-40B4-BE49-F238E27FC236}">
                    <a16:creationId xmlns:a16="http://schemas.microsoft.com/office/drawing/2014/main" id="{16BE7B71-3412-8546-BD1A-8BF76DC47254}"/>
                  </a:ext>
                </a:extLst>
              </p:cNvPr>
              <p:cNvCxnSpPr>
                <a:cxnSpLocks/>
              </p:cNvCxnSpPr>
              <p:nvPr/>
            </p:nvCxnSpPr>
            <p:spPr>
              <a:xfrm flipH="1">
                <a:off x="7972023" y="4973372"/>
                <a:ext cx="1473513" cy="47439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71" name="Freeform 296">
                <a:extLst>
                  <a:ext uri="{FF2B5EF4-FFF2-40B4-BE49-F238E27FC236}">
                    <a16:creationId xmlns:a16="http://schemas.microsoft.com/office/drawing/2014/main" id="{06DFDE96-5B04-984C-B72D-22D074DF3E82}"/>
                  </a:ext>
                </a:extLst>
              </p:cNvPr>
              <p:cNvSpPr>
                <a:spLocks/>
              </p:cNvSpPr>
              <p:nvPr/>
            </p:nvSpPr>
            <p:spPr bwMode="auto">
              <a:xfrm>
                <a:off x="4062521" y="4965666"/>
                <a:ext cx="4036903" cy="1028731"/>
              </a:xfrm>
              <a:custGeom>
                <a:avLst/>
                <a:gdLst>
                  <a:gd name="T0" fmla="*/ 2147483647 w 1877"/>
                  <a:gd name="T1" fmla="*/ 2147483647 h 917"/>
                  <a:gd name="T2" fmla="*/ 2147483647 w 1877"/>
                  <a:gd name="T3" fmla="*/ 2147483647 h 917"/>
                  <a:gd name="T4" fmla="*/ 2147483647 w 1877"/>
                  <a:gd name="T5" fmla="*/ 2147483647 h 917"/>
                  <a:gd name="T6" fmla="*/ 2147483647 w 1877"/>
                  <a:gd name="T7" fmla="*/ 2147483647 h 917"/>
                  <a:gd name="T8" fmla="*/ 2147483647 w 1877"/>
                  <a:gd name="T9" fmla="*/ 2147483647 h 917"/>
                  <a:gd name="T10" fmla="*/ 2147483647 w 1877"/>
                  <a:gd name="T11" fmla="*/ 2147483647 h 917"/>
                  <a:gd name="T12" fmla="*/ 2147483647 w 1877"/>
                  <a:gd name="T13" fmla="*/ 2147483647 h 917"/>
                  <a:gd name="T14" fmla="*/ 2147483647 w 1877"/>
                  <a:gd name="T15" fmla="*/ 2147483647 h 917"/>
                  <a:gd name="T16" fmla="*/ 2147483647 w 1877"/>
                  <a:gd name="T17" fmla="*/ 2147483647 h 917"/>
                  <a:gd name="T18" fmla="*/ 2147483647 w 1877"/>
                  <a:gd name="T19" fmla="*/ 2147483647 h 917"/>
                  <a:gd name="T20" fmla="*/ 2147483647 w 1877"/>
                  <a:gd name="T21" fmla="*/ 2147483647 h 917"/>
                  <a:gd name="T22" fmla="*/ 2147483647 w 1877"/>
                  <a:gd name="T23" fmla="*/ 2147483647 h 917"/>
                  <a:gd name="T24" fmla="*/ 2147483647 w 1877"/>
                  <a:gd name="T25" fmla="*/ 2147483647 h 917"/>
                  <a:gd name="T26" fmla="*/ 2147483647 w 1877"/>
                  <a:gd name="T27" fmla="*/ 2147483647 h 917"/>
                  <a:gd name="T28" fmla="*/ 2147483647 w 1877"/>
                  <a:gd name="T29" fmla="*/ 2147483647 h 917"/>
                  <a:gd name="T30" fmla="*/ 2147483647 w 1877"/>
                  <a:gd name="T31" fmla="*/ 2147483647 h 91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877"/>
                  <a:gd name="T49" fmla="*/ 0 h 917"/>
                  <a:gd name="T50" fmla="*/ 1877 w 1877"/>
                  <a:gd name="T51" fmla="*/ 917 h 91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877" h="91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9CDFF9"/>
              </a:solidFill>
              <a:ln>
                <a:noFill/>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800" b="0" i="0" u="none" strike="noStrike" kern="1200" cap="none" spc="0" normalizeH="0" baseline="0" noProof="0" dirty="0">
                    <a:ln>
                      <a:noFill/>
                    </a:ln>
                    <a:solidFill>
                      <a:srgbClr val="000000"/>
                    </a:solidFill>
                    <a:effectLst/>
                    <a:uLnTx/>
                    <a:uFillTx/>
                    <a:latin typeface="Calibri"/>
                    <a:ea typeface="ＭＳ Ｐゴシック" panose="020B0600070205080204" pitchFamily="34" charset="-128"/>
                    <a:cs typeface="Arial"/>
                  </a:rPr>
                  <a:t>             </a:t>
                </a:r>
              </a:p>
            </p:txBody>
          </p:sp>
        </p:grpSp>
      </p:grpSp>
      <p:sp>
        <p:nvSpPr>
          <p:cNvPr id="182" name="Freeform 103">
            <a:extLst>
              <a:ext uri="{FF2B5EF4-FFF2-40B4-BE49-F238E27FC236}">
                <a16:creationId xmlns:a16="http://schemas.microsoft.com/office/drawing/2014/main" id="{DEF6D5D3-E4DA-4B46-BBC5-93311E115D92}"/>
              </a:ext>
            </a:extLst>
          </p:cNvPr>
          <p:cNvSpPr>
            <a:spLocks/>
          </p:cNvSpPr>
          <p:nvPr/>
        </p:nvSpPr>
        <p:spPr bwMode="auto">
          <a:xfrm>
            <a:off x="10745193" y="2938436"/>
            <a:ext cx="890436" cy="2912558"/>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solidFill>
              <a:srgbClr val="DDDDDD"/>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3" name="Freeform 70">
            <a:extLst>
              <a:ext uri="{FF2B5EF4-FFF2-40B4-BE49-F238E27FC236}">
                <a16:creationId xmlns:a16="http://schemas.microsoft.com/office/drawing/2014/main" id="{4A88383C-61F9-1949-9D88-EC83EDA3F2B6}"/>
              </a:ext>
            </a:extLst>
          </p:cNvPr>
          <p:cNvSpPr>
            <a:spLocks/>
          </p:cNvSpPr>
          <p:nvPr/>
        </p:nvSpPr>
        <p:spPr bwMode="auto">
          <a:xfrm>
            <a:off x="1304530" y="3027619"/>
            <a:ext cx="846644" cy="2922199"/>
          </a:xfrm>
          <a:custGeom>
            <a:avLst/>
            <a:gdLst>
              <a:gd name="T0" fmla="*/ 0 w 348"/>
              <a:gd name="T1" fmla="*/ 2147483647 h 1312"/>
              <a:gd name="T2" fmla="*/ 2147483647 w 348"/>
              <a:gd name="T3" fmla="*/ 0 h 1312"/>
              <a:gd name="T4" fmla="*/ 2147483647 w 348"/>
              <a:gd name="T5" fmla="*/ 2147483647 h 1312"/>
              <a:gd name="T6" fmla="*/ 2147483647 w 348"/>
              <a:gd name="T7" fmla="*/ 2147483647 h 1312"/>
              <a:gd name="T8" fmla="*/ 0 w 348"/>
              <a:gd name="T9" fmla="*/ 2147483647 h 13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8" h="1312">
                <a:moveTo>
                  <a:pt x="0" y="1306"/>
                </a:moveTo>
                <a:lnTo>
                  <a:pt x="348" y="0"/>
                </a:lnTo>
                <a:lnTo>
                  <a:pt x="342" y="1258"/>
                </a:lnTo>
                <a:lnTo>
                  <a:pt x="180" y="1312"/>
                </a:lnTo>
                <a:lnTo>
                  <a:pt x="0" y="1306"/>
                </a:lnTo>
                <a:close/>
              </a:path>
            </a:pathLst>
          </a:custGeom>
          <a:gradFill rotWithShape="1">
            <a:gsLst>
              <a:gs pos="0">
                <a:srgbClr val="FFFFFF"/>
              </a:gs>
              <a:gs pos="100000">
                <a:srgbClr val="B2B2B2"/>
              </a:gs>
            </a:gsLst>
            <a:lin ang="0" scaled="1"/>
          </a:gradFill>
          <a:ln w="9525">
            <a:solidFill>
              <a:srgbClr val="DDDDDD"/>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222" name="Group 185">
            <a:extLst>
              <a:ext uri="{FF2B5EF4-FFF2-40B4-BE49-F238E27FC236}">
                <a16:creationId xmlns:a16="http://schemas.microsoft.com/office/drawing/2014/main" id="{7750F2FB-96FA-374A-AF56-26502EF04672}"/>
              </a:ext>
            </a:extLst>
          </p:cNvPr>
          <p:cNvGrpSpPr>
            <a:grpSpLocks/>
          </p:cNvGrpSpPr>
          <p:nvPr/>
        </p:nvGrpSpPr>
        <p:grpSpPr bwMode="auto">
          <a:xfrm>
            <a:off x="11405869" y="5017723"/>
            <a:ext cx="549832" cy="1070215"/>
            <a:chOff x="4140" y="429"/>
            <a:chExt cx="1425" cy="2396"/>
          </a:xfrm>
        </p:grpSpPr>
        <p:sp>
          <p:nvSpPr>
            <p:cNvPr id="223" name="Freeform 186">
              <a:extLst>
                <a:ext uri="{FF2B5EF4-FFF2-40B4-BE49-F238E27FC236}">
                  <a16:creationId xmlns:a16="http://schemas.microsoft.com/office/drawing/2014/main" id="{E441858B-A566-F746-B48C-912CA3020CC8}"/>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24" name="Rectangle 187">
              <a:extLst>
                <a:ext uri="{FF2B5EF4-FFF2-40B4-BE49-F238E27FC236}">
                  <a16:creationId xmlns:a16="http://schemas.microsoft.com/office/drawing/2014/main" id="{20003129-35A4-1E46-8065-8AF4C6403D57}"/>
                </a:ext>
              </a:extLst>
            </p:cNvPr>
            <p:cNvSpPr>
              <a:spLocks noChangeArrowheads="1"/>
            </p:cNvSpPr>
            <p:nvPr/>
          </p:nvSpPr>
          <p:spPr bwMode="auto">
            <a:xfrm>
              <a:off x="4203" y="429"/>
              <a:ext cx="1053" cy="2283"/>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25" name="Freeform 188">
              <a:extLst>
                <a:ext uri="{FF2B5EF4-FFF2-40B4-BE49-F238E27FC236}">
                  <a16:creationId xmlns:a16="http://schemas.microsoft.com/office/drawing/2014/main" id="{6F94D7AE-C4D1-AF4A-B970-086B7D245ACF}"/>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26" name="Freeform 189">
              <a:extLst>
                <a:ext uri="{FF2B5EF4-FFF2-40B4-BE49-F238E27FC236}">
                  <a16:creationId xmlns:a16="http://schemas.microsoft.com/office/drawing/2014/main" id="{EAFC03EF-54DF-8942-9852-25739DA158B4}"/>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27" name="Rectangle 190">
              <a:extLst>
                <a:ext uri="{FF2B5EF4-FFF2-40B4-BE49-F238E27FC236}">
                  <a16:creationId xmlns:a16="http://schemas.microsoft.com/office/drawing/2014/main" id="{2241F7B6-5281-A74E-8DCB-3BE3777E9369}"/>
                </a:ext>
              </a:extLst>
            </p:cNvPr>
            <p:cNvSpPr>
              <a:spLocks noChangeArrowheads="1"/>
            </p:cNvSpPr>
            <p:nvPr/>
          </p:nvSpPr>
          <p:spPr bwMode="auto">
            <a:xfrm>
              <a:off x="4209" y="693"/>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228" name="Group 191">
              <a:extLst>
                <a:ext uri="{FF2B5EF4-FFF2-40B4-BE49-F238E27FC236}">
                  <a16:creationId xmlns:a16="http://schemas.microsoft.com/office/drawing/2014/main" id="{02DB0249-6EBB-FF4B-B17F-CC771B255D00}"/>
                </a:ext>
              </a:extLst>
            </p:cNvPr>
            <p:cNvGrpSpPr>
              <a:grpSpLocks/>
            </p:cNvGrpSpPr>
            <p:nvPr/>
          </p:nvGrpSpPr>
          <p:grpSpPr bwMode="auto">
            <a:xfrm>
              <a:off x="4749" y="668"/>
              <a:ext cx="581" cy="145"/>
              <a:chOff x="614" y="2568"/>
              <a:chExt cx="725" cy="139"/>
            </a:xfrm>
          </p:grpSpPr>
          <p:sp>
            <p:nvSpPr>
              <p:cNvPr id="253" name="AutoShape 192">
                <a:extLst>
                  <a:ext uri="{FF2B5EF4-FFF2-40B4-BE49-F238E27FC236}">
                    <a16:creationId xmlns:a16="http://schemas.microsoft.com/office/drawing/2014/main" id="{BE55370E-BC12-1B42-9E3C-C950033EEF89}"/>
                  </a:ext>
                </a:extLst>
              </p:cNvPr>
              <p:cNvSpPr>
                <a:spLocks noChangeArrowheads="1"/>
              </p:cNvSpPr>
              <p:nvPr/>
            </p:nvSpPr>
            <p:spPr bwMode="auto">
              <a:xfrm>
                <a:off x="617" y="2567"/>
                <a:ext cx="724"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54" name="AutoShape 193">
                <a:extLst>
                  <a:ext uri="{FF2B5EF4-FFF2-40B4-BE49-F238E27FC236}">
                    <a16:creationId xmlns:a16="http://schemas.microsoft.com/office/drawing/2014/main" id="{1BBB99EB-2FFB-5942-9855-24BEE1C68997}"/>
                  </a:ext>
                </a:extLst>
              </p:cNvPr>
              <p:cNvSpPr>
                <a:spLocks noChangeArrowheads="1"/>
              </p:cNvSpPr>
              <p:nvPr/>
            </p:nvSpPr>
            <p:spPr bwMode="auto">
              <a:xfrm>
                <a:off x="633" y="2582"/>
                <a:ext cx="692"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229" name="Rectangle 194">
              <a:extLst>
                <a:ext uri="{FF2B5EF4-FFF2-40B4-BE49-F238E27FC236}">
                  <a16:creationId xmlns:a16="http://schemas.microsoft.com/office/drawing/2014/main" id="{9C5699FC-2B4E-BD46-B9CC-CA578E2EA709}"/>
                </a:ext>
              </a:extLst>
            </p:cNvPr>
            <p:cNvSpPr>
              <a:spLocks noChangeArrowheads="1"/>
            </p:cNvSpPr>
            <p:nvPr/>
          </p:nvSpPr>
          <p:spPr bwMode="auto">
            <a:xfrm>
              <a:off x="4222" y="1017"/>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230" name="Group 195">
              <a:extLst>
                <a:ext uri="{FF2B5EF4-FFF2-40B4-BE49-F238E27FC236}">
                  <a16:creationId xmlns:a16="http://schemas.microsoft.com/office/drawing/2014/main" id="{676615F3-A30A-9740-8080-AFEE6BAAEF98}"/>
                </a:ext>
              </a:extLst>
            </p:cNvPr>
            <p:cNvGrpSpPr>
              <a:grpSpLocks/>
            </p:cNvGrpSpPr>
            <p:nvPr/>
          </p:nvGrpSpPr>
          <p:grpSpPr bwMode="auto">
            <a:xfrm>
              <a:off x="4747" y="994"/>
              <a:ext cx="581" cy="134"/>
              <a:chOff x="614" y="2568"/>
              <a:chExt cx="725" cy="139"/>
            </a:xfrm>
          </p:grpSpPr>
          <p:sp>
            <p:nvSpPr>
              <p:cNvPr id="251" name="AutoShape 196">
                <a:extLst>
                  <a:ext uri="{FF2B5EF4-FFF2-40B4-BE49-F238E27FC236}">
                    <a16:creationId xmlns:a16="http://schemas.microsoft.com/office/drawing/2014/main" id="{D31569A0-2CDC-3B4B-B7FA-067BF2CB0D93}"/>
                  </a:ext>
                </a:extLst>
              </p:cNvPr>
              <p:cNvSpPr>
                <a:spLocks noChangeArrowheads="1"/>
              </p:cNvSpPr>
              <p:nvPr/>
            </p:nvSpPr>
            <p:spPr bwMode="auto">
              <a:xfrm>
                <a:off x="612" y="2570"/>
                <a:ext cx="724" cy="162"/>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52" name="AutoShape 197">
                <a:extLst>
                  <a:ext uri="{FF2B5EF4-FFF2-40B4-BE49-F238E27FC236}">
                    <a16:creationId xmlns:a16="http://schemas.microsoft.com/office/drawing/2014/main" id="{5D70C5E6-3DFB-1D45-8469-DE5EA96E13E8}"/>
                  </a:ext>
                </a:extLst>
              </p:cNvPr>
              <p:cNvSpPr>
                <a:spLocks noChangeArrowheads="1"/>
              </p:cNvSpPr>
              <p:nvPr/>
            </p:nvSpPr>
            <p:spPr bwMode="auto">
              <a:xfrm>
                <a:off x="628" y="2586"/>
                <a:ext cx="692"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231" name="Rectangle 198">
              <a:extLst>
                <a:ext uri="{FF2B5EF4-FFF2-40B4-BE49-F238E27FC236}">
                  <a16:creationId xmlns:a16="http://schemas.microsoft.com/office/drawing/2014/main" id="{AE060187-10EA-1F4E-AEDE-8C6C0E8358D2}"/>
                </a:ext>
              </a:extLst>
            </p:cNvPr>
            <p:cNvSpPr>
              <a:spLocks noChangeArrowheads="1"/>
            </p:cNvSpPr>
            <p:nvPr/>
          </p:nvSpPr>
          <p:spPr bwMode="auto">
            <a:xfrm>
              <a:off x="4216" y="1357"/>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32" name="Rectangle 199">
              <a:extLst>
                <a:ext uri="{FF2B5EF4-FFF2-40B4-BE49-F238E27FC236}">
                  <a16:creationId xmlns:a16="http://schemas.microsoft.com/office/drawing/2014/main" id="{32874526-51C0-C749-BDC8-3D9F62AFE767}"/>
                </a:ext>
              </a:extLst>
            </p:cNvPr>
            <p:cNvSpPr>
              <a:spLocks noChangeArrowheads="1"/>
            </p:cNvSpPr>
            <p:nvPr/>
          </p:nvSpPr>
          <p:spPr bwMode="auto">
            <a:xfrm>
              <a:off x="4228" y="1654"/>
              <a:ext cx="593"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233" name="Group 200">
              <a:extLst>
                <a:ext uri="{FF2B5EF4-FFF2-40B4-BE49-F238E27FC236}">
                  <a16:creationId xmlns:a16="http://schemas.microsoft.com/office/drawing/2014/main" id="{09E63F43-E74F-6045-A673-3756891EE94D}"/>
                </a:ext>
              </a:extLst>
            </p:cNvPr>
            <p:cNvGrpSpPr>
              <a:grpSpLocks/>
            </p:cNvGrpSpPr>
            <p:nvPr/>
          </p:nvGrpSpPr>
          <p:grpSpPr bwMode="auto">
            <a:xfrm>
              <a:off x="4735" y="1627"/>
              <a:ext cx="582" cy="151"/>
              <a:chOff x="614" y="2568"/>
              <a:chExt cx="725" cy="139"/>
            </a:xfrm>
          </p:grpSpPr>
          <p:sp>
            <p:nvSpPr>
              <p:cNvPr id="249" name="AutoShape 201">
                <a:extLst>
                  <a:ext uri="{FF2B5EF4-FFF2-40B4-BE49-F238E27FC236}">
                    <a16:creationId xmlns:a16="http://schemas.microsoft.com/office/drawing/2014/main" id="{0296B9BB-82CD-2A45-8E56-F4ACF6FCC028}"/>
                  </a:ext>
                </a:extLst>
              </p:cNvPr>
              <p:cNvSpPr>
                <a:spLocks noChangeArrowheads="1"/>
              </p:cNvSpPr>
              <p:nvPr/>
            </p:nvSpPr>
            <p:spPr bwMode="auto">
              <a:xfrm>
                <a:off x="611" y="2568"/>
                <a:ext cx="730" cy="139"/>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50" name="AutoShape 202">
                <a:extLst>
                  <a:ext uri="{FF2B5EF4-FFF2-40B4-BE49-F238E27FC236}">
                    <a16:creationId xmlns:a16="http://schemas.microsoft.com/office/drawing/2014/main" id="{DD3C3254-A817-B449-AE0F-31BEFF504A04}"/>
                  </a:ext>
                </a:extLst>
              </p:cNvPr>
              <p:cNvSpPr>
                <a:spLocks noChangeArrowheads="1"/>
              </p:cNvSpPr>
              <p:nvPr/>
            </p:nvSpPr>
            <p:spPr bwMode="auto">
              <a:xfrm>
                <a:off x="627" y="2583"/>
                <a:ext cx="699"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234" name="Freeform 203">
              <a:extLst>
                <a:ext uri="{FF2B5EF4-FFF2-40B4-BE49-F238E27FC236}">
                  <a16:creationId xmlns:a16="http://schemas.microsoft.com/office/drawing/2014/main" id="{D05041BE-8046-EB49-A23A-C7FEB06D9108}"/>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235" name="Group 204">
              <a:extLst>
                <a:ext uri="{FF2B5EF4-FFF2-40B4-BE49-F238E27FC236}">
                  <a16:creationId xmlns:a16="http://schemas.microsoft.com/office/drawing/2014/main" id="{BD1D997D-F690-4C4E-9473-F0433427C91F}"/>
                </a:ext>
              </a:extLst>
            </p:cNvPr>
            <p:cNvGrpSpPr>
              <a:grpSpLocks/>
            </p:cNvGrpSpPr>
            <p:nvPr/>
          </p:nvGrpSpPr>
          <p:grpSpPr bwMode="auto">
            <a:xfrm>
              <a:off x="4739" y="1327"/>
              <a:ext cx="582" cy="139"/>
              <a:chOff x="614" y="2568"/>
              <a:chExt cx="725" cy="139"/>
            </a:xfrm>
          </p:grpSpPr>
          <p:sp>
            <p:nvSpPr>
              <p:cNvPr id="247" name="AutoShape 205">
                <a:extLst>
                  <a:ext uri="{FF2B5EF4-FFF2-40B4-BE49-F238E27FC236}">
                    <a16:creationId xmlns:a16="http://schemas.microsoft.com/office/drawing/2014/main" id="{631C3D3D-8F7D-6F44-AD56-665A5242B691}"/>
                  </a:ext>
                </a:extLst>
              </p:cNvPr>
              <p:cNvSpPr>
                <a:spLocks noChangeArrowheads="1"/>
              </p:cNvSpPr>
              <p:nvPr/>
            </p:nvSpPr>
            <p:spPr bwMode="auto">
              <a:xfrm>
                <a:off x="614" y="2566"/>
                <a:ext cx="723"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48" name="AutoShape 206">
                <a:extLst>
                  <a:ext uri="{FF2B5EF4-FFF2-40B4-BE49-F238E27FC236}">
                    <a16:creationId xmlns:a16="http://schemas.microsoft.com/office/drawing/2014/main" id="{E7F87D38-4528-0F45-9911-B79B599D25FC}"/>
                  </a:ext>
                </a:extLst>
              </p:cNvPr>
              <p:cNvSpPr>
                <a:spLocks noChangeArrowheads="1"/>
              </p:cNvSpPr>
              <p:nvPr/>
            </p:nvSpPr>
            <p:spPr bwMode="auto">
              <a:xfrm>
                <a:off x="630" y="2582"/>
                <a:ext cx="691"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236" name="Rectangle 207">
              <a:extLst>
                <a:ext uri="{FF2B5EF4-FFF2-40B4-BE49-F238E27FC236}">
                  <a16:creationId xmlns:a16="http://schemas.microsoft.com/office/drawing/2014/main" id="{60B24777-81BE-BC42-AC64-6F2229E5FBE5}"/>
                </a:ext>
              </a:extLst>
            </p:cNvPr>
            <p:cNvSpPr>
              <a:spLocks noChangeArrowheads="1"/>
            </p:cNvSpPr>
            <p:nvPr/>
          </p:nvSpPr>
          <p:spPr bwMode="auto">
            <a:xfrm>
              <a:off x="5250" y="429"/>
              <a:ext cx="69" cy="2288"/>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37" name="Freeform 208">
              <a:extLst>
                <a:ext uri="{FF2B5EF4-FFF2-40B4-BE49-F238E27FC236}">
                  <a16:creationId xmlns:a16="http://schemas.microsoft.com/office/drawing/2014/main" id="{FD1049FD-ADAC-FC43-A186-6585ECAE4331}"/>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38" name="Freeform 209">
              <a:extLst>
                <a:ext uri="{FF2B5EF4-FFF2-40B4-BE49-F238E27FC236}">
                  <a16:creationId xmlns:a16="http://schemas.microsoft.com/office/drawing/2014/main" id="{A25585BA-2AFC-3047-B9D5-7CC45D5DBC49}"/>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39" name="Oval 210">
              <a:extLst>
                <a:ext uri="{FF2B5EF4-FFF2-40B4-BE49-F238E27FC236}">
                  <a16:creationId xmlns:a16="http://schemas.microsoft.com/office/drawing/2014/main" id="{78C608B6-FCB9-3F43-A504-D33DD77827D8}"/>
                </a:ext>
              </a:extLst>
            </p:cNvPr>
            <p:cNvSpPr>
              <a:spLocks noChangeArrowheads="1"/>
            </p:cNvSpPr>
            <p:nvPr/>
          </p:nvSpPr>
          <p:spPr bwMode="auto">
            <a:xfrm>
              <a:off x="5515" y="2609"/>
              <a:ext cx="50" cy="97"/>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40" name="Freeform 211">
              <a:extLst>
                <a:ext uri="{FF2B5EF4-FFF2-40B4-BE49-F238E27FC236}">
                  <a16:creationId xmlns:a16="http://schemas.microsoft.com/office/drawing/2014/main" id="{F24BE4FA-86B6-5840-8B76-BF70EF006A8E}"/>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41" name="AutoShape 212">
              <a:extLst>
                <a:ext uri="{FF2B5EF4-FFF2-40B4-BE49-F238E27FC236}">
                  <a16:creationId xmlns:a16="http://schemas.microsoft.com/office/drawing/2014/main" id="{22C6B4EC-00C6-BA43-95E2-370E8204DDA3}"/>
                </a:ext>
              </a:extLst>
            </p:cNvPr>
            <p:cNvSpPr>
              <a:spLocks noChangeArrowheads="1"/>
            </p:cNvSpPr>
            <p:nvPr/>
          </p:nvSpPr>
          <p:spPr bwMode="auto">
            <a:xfrm>
              <a:off x="4140" y="2679"/>
              <a:ext cx="1198"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42" name="AutoShape 213">
              <a:extLst>
                <a:ext uri="{FF2B5EF4-FFF2-40B4-BE49-F238E27FC236}">
                  <a16:creationId xmlns:a16="http://schemas.microsoft.com/office/drawing/2014/main" id="{7B9210ED-D802-C84E-8A67-93399801B5DA}"/>
                </a:ext>
              </a:extLst>
            </p:cNvPr>
            <p:cNvSpPr>
              <a:spLocks noChangeArrowheads="1"/>
            </p:cNvSpPr>
            <p:nvPr/>
          </p:nvSpPr>
          <p:spPr bwMode="auto">
            <a:xfrm>
              <a:off x="4203" y="2712"/>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43" name="Oval 214">
              <a:extLst>
                <a:ext uri="{FF2B5EF4-FFF2-40B4-BE49-F238E27FC236}">
                  <a16:creationId xmlns:a16="http://schemas.microsoft.com/office/drawing/2014/main" id="{552E77C8-7BFE-BF4D-8F0B-DF6513BE6459}"/>
                </a:ext>
              </a:extLst>
            </p:cNvPr>
            <p:cNvSpPr>
              <a:spLocks noChangeArrowheads="1"/>
            </p:cNvSpPr>
            <p:nvPr/>
          </p:nvSpPr>
          <p:spPr bwMode="auto">
            <a:xfrm>
              <a:off x="4310" y="2382"/>
              <a:ext cx="158" cy="146"/>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44" name="Oval 215">
              <a:extLst>
                <a:ext uri="{FF2B5EF4-FFF2-40B4-BE49-F238E27FC236}">
                  <a16:creationId xmlns:a16="http://schemas.microsoft.com/office/drawing/2014/main" id="{86496A7E-E21F-444D-B883-E410329FF242}"/>
                </a:ext>
              </a:extLst>
            </p:cNvPr>
            <p:cNvSpPr>
              <a:spLocks noChangeArrowheads="1"/>
            </p:cNvSpPr>
            <p:nvPr/>
          </p:nvSpPr>
          <p:spPr bwMode="auto">
            <a:xfrm>
              <a:off x="4487" y="2382"/>
              <a:ext cx="158" cy="146"/>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FF0000"/>
                </a:solidFill>
                <a:effectLst/>
                <a:uLnTx/>
                <a:uFillTx/>
                <a:latin typeface="Arial" charset="0"/>
                <a:ea typeface="ＭＳ Ｐゴシック" charset="0"/>
                <a:cs typeface="Arial" charset="0"/>
              </a:endParaRPr>
            </a:p>
          </p:txBody>
        </p:sp>
        <p:sp>
          <p:nvSpPr>
            <p:cNvPr id="245" name="Oval 216">
              <a:extLst>
                <a:ext uri="{FF2B5EF4-FFF2-40B4-BE49-F238E27FC236}">
                  <a16:creationId xmlns:a16="http://schemas.microsoft.com/office/drawing/2014/main" id="{555E4B0D-EDB2-D04B-B9AD-93FA92DDAA2D}"/>
                </a:ext>
              </a:extLst>
            </p:cNvPr>
            <p:cNvSpPr>
              <a:spLocks noChangeArrowheads="1"/>
            </p:cNvSpPr>
            <p:nvPr/>
          </p:nvSpPr>
          <p:spPr bwMode="auto">
            <a:xfrm>
              <a:off x="4663" y="2382"/>
              <a:ext cx="158" cy="140"/>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46" name="Rectangle 217">
              <a:extLst>
                <a:ext uri="{FF2B5EF4-FFF2-40B4-BE49-F238E27FC236}">
                  <a16:creationId xmlns:a16="http://schemas.microsoft.com/office/drawing/2014/main" id="{DE659B39-E72A-634A-A2AC-C4BA4DC9C619}"/>
                </a:ext>
              </a:extLst>
            </p:cNvPr>
            <p:cNvSpPr>
              <a:spLocks noChangeArrowheads="1"/>
            </p:cNvSpPr>
            <p:nvPr/>
          </p:nvSpPr>
          <p:spPr bwMode="auto">
            <a:xfrm>
              <a:off x="5061" y="1837"/>
              <a:ext cx="88" cy="761"/>
            </a:xfrm>
            <a:prstGeom prst="rect">
              <a:avLst/>
            </a:prstGeom>
            <a:solidFill>
              <a:srgbClr val="29292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grpSp>
        <p:nvGrpSpPr>
          <p:cNvPr id="3" name="Group 2">
            <a:extLst>
              <a:ext uri="{FF2B5EF4-FFF2-40B4-BE49-F238E27FC236}">
                <a16:creationId xmlns:a16="http://schemas.microsoft.com/office/drawing/2014/main" id="{64AFD9EC-1CA1-D34D-965E-2E8D95748C38}"/>
              </a:ext>
            </a:extLst>
          </p:cNvPr>
          <p:cNvGrpSpPr/>
          <p:nvPr/>
        </p:nvGrpSpPr>
        <p:grpSpPr>
          <a:xfrm>
            <a:off x="8960533" y="2849252"/>
            <a:ext cx="1946338" cy="2912558"/>
            <a:chOff x="8091785" y="2078288"/>
            <a:chExt cx="2364905" cy="2912558"/>
          </a:xfrm>
        </p:grpSpPr>
        <p:sp>
          <p:nvSpPr>
            <p:cNvPr id="145" name="Rectangle 23">
              <a:extLst>
                <a:ext uri="{FF2B5EF4-FFF2-40B4-BE49-F238E27FC236}">
                  <a16:creationId xmlns:a16="http://schemas.microsoft.com/office/drawing/2014/main" id="{F1314FFD-BA11-A042-BA84-1061E3729058}"/>
                </a:ext>
              </a:extLst>
            </p:cNvPr>
            <p:cNvSpPr>
              <a:spLocks noChangeArrowheads="1"/>
            </p:cNvSpPr>
            <p:nvPr/>
          </p:nvSpPr>
          <p:spPr bwMode="auto">
            <a:xfrm>
              <a:off x="8179440" y="2078288"/>
              <a:ext cx="2277250" cy="2799267"/>
            </a:xfrm>
            <a:prstGeom prst="rect">
              <a:avLst/>
            </a:prstGeom>
            <a:solidFill>
              <a:srgbClr val="000099"/>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46" name="Rectangle 24">
              <a:extLst>
                <a:ext uri="{FF2B5EF4-FFF2-40B4-BE49-F238E27FC236}">
                  <a16:creationId xmlns:a16="http://schemas.microsoft.com/office/drawing/2014/main" id="{89D8A59C-E128-B74A-B94F-06FAC9DB7326}"/>
                </a:ext>
              </a:extLst>
            </p:cNvPr>
            <p:cNvSpPr>
              <a:spLocks noChangeArrowheads="1"/>
            </p:cNvSpPr>
            <p:nvPr/>
          </p:nvSpPr>
          <p:spPr bwMode="auto">
            <a:xfrm>
              <a:off x="8091785" y="2167472"/>
              <a:ext cx="2254867" cy="2823374"/>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47" name="Line 25">
              <a:extLst>
                <a:ext uri="{FF2B5EF4-FFF2-40B4-BE49-F238E27FC236}">
                  <a16:creationId xmlns:a16="http://schemas.microsoft.com/office/drawing/2014/main" id="{B922FB1F-8B1A-1843-A740-29E910EB3E97}"/>
                </a:ext>
              </a:extLst>
            </p:cNvPr>
            <p:cNvSpPr>
              <a:spLocks noChangeShapeType="1"/>
            </p:cNvSpPr>
            <p:nvPr/>
          </p:nvSpPr>
          <p:spPr bwMode="auto">
            <a:xfrm>
              <a:off x="8108956" y="2749010"/>
              <a:ext cx="2238254" cy="4821"/>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49" name="Line 27">
              <a:extLst>
                <a:ext uri="{FF2B5EF4-FFF2-40B4-BE49-F238E27FC236}">
                  <a16:creationId xmlns:a16="http://schemas.microsoft.com/office/drawing/2014/main" id="{FF1A214D-FBCE-7342-8332-F3FA9C577B4A}"/>
                </a:ext>
              </a:extLst>
            </p:cNvPr>
            <p:cNvSpPr>
              <a:spLocks noChangeShapeType="1"/>
            </p:cNvSpPr>
            <p:nvPr/>
          </p:nvSpPr>
          <p:spPr bwMode="auto">
            <a:xfrm>
              <a:off x="8108201" y="3602458"/>
              <a:ext cx="2233387"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51" name="Text Box 26">
              <a:extLst>
                <a:ext uri="{FF2B5EF4-FFF2-40B4-BE49-F238E27FC236}">
                  <a16:creationId xmlns:a16="http://schemas.microsoft.com/office/drawing/2014/main" id="{50D62C6A-4C80-854F-A4B8-723E99A5A7F0}"/>
                </a:ext>
              </a:extLst>
            </p:cNvPr>
            <p:cNvSpPr txBox="1">
              <a:spLocks noChangeArrowheads="1"/>
            </p:cNvSpPr>
            <p:nvPr/>
          </p:nvSpPr>
          <p:spPr bwMode="auto">
            <a:xfrm>
              <a:off x="8218436" y="4533100"/>
              <a:ext cx="2019294" cy="44027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physical</a:t>
              </a:r>
            </a:p>
          </p:txBody>
        </p:sp>
        <p:sp>
          <p:nvSpPr>
            <p:cNvPr id="152" name="Text Box 26">
              <a:extLst>
                <a:ext uri="{FF2B5EF4-FFF2-40B4-BE49-F238E27FC236}">
                  <a16:creationId xmlns:a16="http://schemas.microsoft.com/office/drawing/2014/main" id="{A79D3A45-C33B-7046-9088-A02FAACCA14B}"/>
                </a:ext>
              </a:extLst>
            </p:cNvPr>
            <p:cNvSpPr txBox="1">
              <a:spLocks noChangeArrowheads="1"/>
            </p:cNvSpPr>
            <p:nvPr/>
          </p:nvSpPr>
          <p:spPr bwMode="auto">
            <a:xfrm>
              <a:off x="8218436" y="4088345"/>
              <a:ext cx="2019294" cy="44027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link</a:t>
              </a:r>
            </a:p>
          </p:txBody>
        </p:sp>
        <p:sp>
          <p:nvSpPr>
            <p:cNvPr id="153" name="Text Box 26">
              <a:extLst>
                <a:ext uri="{FF2B5EF4-FFF2-40B4-BE49-F238E27FC236}">
                  <a16:creationId xmlns:a16="http://schemas.microsoft.com/office/drawing/2014/main" id="{F3520259-D4C5-3340-8000-3B8C746A7797}"/>
                </a:ext>
              </a:extLst>
            </p:cNvPr>
            <p:cNvSpPr txBox="1">
              <a:spLocks noChangeArrowheads="1"/>
            </p:cNvSpPr>
            <p:nvPr/>
          </p:nvSpPr>
          <p:spPr bwMode="auto">
            <a:xfrm>
              <a:off x="8218436" y="3646079"/>
              <a:ext cx="2019294" cy="3988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network (IP)</a:t>
              </a:r>
            </a:p>
          </p:txBody>
        </p:sp>
        <p:sp>
          <p:nvSpPr>
            <p:cNvPr id="155" name="Line 27">
              <a:extLst>
                <a:ext uri="{FF2B5EF4-FFF2-40B4-BE49-F238E27FC236}">
                  <a16:creationId xmlns:a16="http://schemas.microsoft.com/office/drawing/2014/main" id="{E1326351-38D1-A440-A7B8-5079367D54AC}"/>
                </a:ext>
              </a:extLst>
            </p:cNvPr>
            <p:cNvSpPr>
              <a:spLocks noChangeShapeType="1"/>
            </p:cNvSpPr>
            <p:nvPr/>
          </p:nvSpPr>
          <p:spPr bwMode="auto">
            <a:xfrm>
              <a:off x="8116255" y="4074895"/>
              <a:ext cx="2233388"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56" name="Line 27">
              <a:extLst>
                <a:ext uri="{FF2B5EF4-FFF2-40B4-BE49-F238E27FC236}">
                  <a16:creationId xmlns:a16="http://schemas.microsoft.com/office/drawing/2014/main" id="{891B0B5D-A14D-1A40-B291-CC1A04A094FC}"/>
                </a:ext>
              </a:extLst>
            </p:cNvPr>
            <p:cNvSpPr>
              <a:spLocks noChangeShapeType="1"/>
            </p:cNvSpPr>
            <p:nvPr/>
          </p:nvSpPr>
          <p:spPr bwMode="auto">
            <a:xfrm>
              <a:off x="8111389" y="4528049"/>
              <a:ext cx="2233388"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74" name="Text Box 26">
              <a:extLst>
                <a:ext uri="{FF2B5EF4-FFF2-40B4-BE49-F238E27FC236}">
                  <a16:creationId xmlns:a16="http://schemas.microsoft.com/office/drawing/2014/main" id="{D8A757BB-1762-8B47-A046-060F718CBC6B}"/>
                </a:ext>
              </a:extLst>
            </p:cNvPr>
            <p:cNvSpPr txBox="1">
              <a:spLocks noChangeArrowheads="1"/>
            </p:cNvSpPr>
            <p:nvPr/>
          </p:nvSpPr>
          <p:spPr bwMode="auto">
            <a:xfrm>
              <a:off x="8179440" y="2284368"/>
              <a:ext cx="2019294" cy="3988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application</a:t>
              </a:r>
            </a:p>
          </p:txBody>
        </p:sp>
      </p:grpSp>
      <p:grpSp>
        <p:nvGrpSpPr>
          <p:cNvPr id="76" name="Group 75">
            <a:extLst>
              <a:ext uri="{FF2B5EF4-FFF2-40B4-BE49-F238E27FC236}">
                <a16:creationId xmlns:a16="http://schemas.microsoft.com/office/drawing/2014/main" id="{EA5C4C69-3F64-BA46-87DE-D8D9E085DAC9}"/>
              </a:ext>
            </a:extLst>
          </p:cNvPr>
          <p:cNvGrpSpPr/>
          <p:nvPr/>
        </p:nvGrpSpPr>
        <p:grpSpPr>
          <a:xfrm>
            <a:off x="2137951" y="2938436"/>
            <a:ext cx="2131701" cy="2912558"/>
            <a:chOff x="8091785" y="2078288"/>
            <a:chExt cx="2364905" cy="2912558"/>
          </a:xfrm>
        </p:grpSpPr>
        <p:sp>
          <p:nvSpPr>
            <p:cNvPr id="77" name="Rectangle 23">
              <a:extLst>
                <a:ext uri="{FF2B5EF4-FFF2-40B4-BE49-F238E27FC236}">
                  <a16:creationId xmlns:a16="http://schemas.microsoft.com/office/drawing/2014/main" id="{12A4D2D3-BB7A-1141-97E1-1746F6AB4244}"/>
                </a:ext>
              </a:extLst>
            </p:cNvPr>
            <p:cNvSpPr>
              <a:spLocks noChangeArrowheads="1"/>
            </p:cNvSpPr>
            <p:nvPr/>
          </p:nvSpPr>
          <p:spPr bwMode="auto">
            <a:xfrm>
              <a:off x="8179440" y="2078288"/>
              <a:ext cx="2277250" cy="2799267"/>
            </a:xfrm>
            <a:prstGeom prst="rect">
              <a:avLst/>
            </a:prstGeom>
            <a:solidFill>
              <a:srgbClr val="000099"/>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78" name="Rectangle 24">
              <a:extLst>
                <a:ext uri="{FF2B5EF4-FFF2-40B4-BE49-F238E27FC236}">
                  <a16:creationId xmlns:a16="http://schemas.microsoft.com/office/drawing/2014/main" id="{CC2D939F-B2EB-B142-B2EB-F35198972B0C}"/>
                </a:ext>
              </a:extLst>
            </p:cNvPr>
            <p:cNvSpPr>
              <a:spLocks noChangeArrowheads="1"/>
            </p:cNvSpPr>
            <p:nvPr/>
          </p:nvSpPr>
          <p:spPr bwMode="auto">
            <a:xfrm>
              <a:off x="8091785" y="2167472"/>
              <a:ext cx="2254867" cy="2823374"/>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79" name="Line 25">
              <a:extLst>
                <a:ext uri="{FF2B5EF4-FFF2-40B4-BE49-F238E27FC236}">
                  <a16:creationId xmlns:a16="http://schemas.microsoft.com/office/drawing/2014/main" id="{29206320-7227-5C45-BF48-477A94FE149F}"/>
                </a:ext>
              </a:extLst>
            </p:cNvPr>
            <p:cNvSpPr>
              <a:spLocks noChangeShapeType="1"/>
            </p:cNvSpPr>
            <p:nvPr/>
          </p:nvSpPr>
          <p:spPr bwMode="auto">
            <a:xfrm>
              <a:off x="8108956" y="2749010"/>
              <a:ext cx="2238254" cy="4821"/>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1" name="Line 27">
              <a:extLst>
                <a:ext uri="{FF2B5EF4-FFF2-40B4-BE49-F238E27FC236}">
                  <a16:creationId xmlns:a16="http://schemas.microsoft.com/office/drawing/2014/main" id="{7462DAE7-AE3D-CD41-8750-E700715A5202}"/>
                </a:ext>
              </a:extLst>
            </p:cNvPr>
            <p:cNvSpPr>
              <a:spLocks noChangeShapeType="1"/>
            </p:cNvSpPr>
            <p:nvPr/>
          </p:nvSpPr>
          <p:spPr bwMode="auto">
            <a:xfrm>
              <a:off x="8121121" y="3602458"/>
              <a:ext cx="2233388"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2" name="Text Box 26">
              <a:extLst>
                <a:ext uri="{FF2B5EF4-FFF2-40B4-BE49-F238E27FC236}">
                  <a16:creationId xmlns:a16="http://schemas.microsoft.com/office/drawing/2014/main" id="{B868290D-DE89-8749-A32C-C5FCE36D7556}"/>
                </a:ext>
              </a:extLst>
            </p:cNvPr>
            <p:cNvSpPr txBox="1">
              <a:spLocks noChangeArrowheads="1"/>
            </p:cNvSpPr>
            <p:nvPr/>
          </p:nvSpPr>
          <p:spPr bwMode="auto">
            <a:xfrm>
              <a:off x="8218436" y="4533100"/>
              <a:ext cx="2019294" cy="44027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physical</a:t>
              </a:r>
            </a:p>
          </p:txBody>
        </p:sp>
        <p:sp>
          <p:nvSpPr>
            <p:cNvPr id="83" name="Text Box 26">
              <a:extLst>
                <a:ext uri="{FF2B5EF4-FFF2-40B4-BE49-F238E27FC236}">
                  <a16:creationId xmlns:a16="http://schemas.microsoft.com/office/drawing/2014/main" id="{18546DEE-76AB-C744-936A-7F4DF63895D8}"/>
                </a:ext>
              </a:extLst>
            </p:cNvPr>
            <p:cNvSpPr txBox="1">
              <a:spLocks noChangeArrowheads="1"/>
            </p:cNvSpPr>
            <p:nvPr/>
          </p:nvSpPr>
          <p:spPr bwMode="auto">
            <a:xfrm>
              <a:off x="8218436" y="4088345"/>
              <a:ext cx="2019294" cy="44027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link</a:t>
              </a:r>
            </a:p>
          </p:txBody>
        </p:sp>
        <p:sp>
          <p:nvSpPr>
            <p:cNvPr id="84" name="Text Box 26">
              <a:extLst>
                <a:ext uri="{FF2B5EF4-FFF2-40B4-BE49-F238E27FC236}">
                  <a16:creationId xmlns:a16="http://schemas.microsoft.com/office/drawing/2014/main" id="{9DE3AC7C-D9B1-ED4C-B925-37B31767739C}"/>
                </a:ext>
              </a:extLst>
            </p:cNvPr>
            <p:cNvSpPr txBox="1">
              <a:spLocks noChangeArrowheads="1"/>
            </p:cNvSpPr>
            <p:nvPr/>
          </p:nvSpPr>
          <p:spPr bwMode="auto">
            <a:xfrm>
              <a:off x="8218436" y="3646079"/>
              <a:ext cx="2019294" cy="73744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network (IP)</a:t>
              </a:r>
            </a:p>
          </p:txBody>
        </p:sp>
        <p:sp>
          <p:nvSpPr>
            <p:cNvPr id="85" name="Line 27">
              <a:extLst>
                <a:ext uri="{FF2B5EF4-FFF2-40B4-BE49-F238E27FC236}">
                  <a16:creationId xmlns:a16="http://schemas.microsoft.com/office/drawing/2014/main" id="{266E1BE0-4561-9344-ACBD-29F42E90D9F3}"/>
                </a:ext>
              </a:extLst>
            </p:cNvPr>
            <p:cNvSpPr>
              <a:spLocks noChangeShapeType="1"/>
            </p:cNvSpPr>
            <p:nvPr/>
          </p:nvSpPr>
          <p:spPr bwMode="auto">
            <a:xfrm>
              <a:off x="8116255" y="4074895"/>
              <a:ext cx="2233388"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6" name="Line 27">
              <a:extLst>
                <a:ext uri="{FF2B5EF4-FFF2-40B4-BE49-F238E27FC236}">
                  <a16:creationId xmlns:a16="http://schemas.microsoft.com/office/drawing/2014/main" id="{3ED696C7-AECF-C14F-8CD8-7153D36CBC69}"/>
                </a:ext>
              </a:extLst>
            </p:cNvPr>
            <p:cNvSpPr>
              <a:spLocks noChangeShapeType="1"/>
            </p:cNvSpPr>
            <p:nvPr/>
          </p:nvSpPr>
          <p:spPr bwMode="auto">
            <a:xfrm>
              <a:off x="8111389" y="4528049"/>
              <a:ext cx="2233388"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7" name="Text Box 26">
              <a:extLst>
                <a:ext uri="{FF2B5EF4-FFF2-40B4-BE49-F238E27FC236}">
                  <a16:creationId xmlns:a16="http://schemas.microsoft.com/office/drawing/2014/main" id="{42139D70-AB44-E047-B37E-AABECE12201B}"/>
                </a:ext>
              </a:extLst>
            </p:cNvPr>
            <p:cNvSpPr txBox="1">
              <a:spLocks noChangeArrowheads="1"/>
            </p:cNvSpPr>
            <p:nvPr/>
          </p:nvSpPr>
          <p:spPr bwMode="auto">
            <a:xfrm>
              <a:off x="8179440" y="2284368"/>
              <a:ext cx="2019294" cy="3988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application</a:t>
              </a:r>
            </a:p>
          </p:txBody>
        </p:sp>
      </p:grpSp>
      <p:sp>
        <p:nvSpPr>
          <p:cNvPr id="129" name="Text Box 26">
            <a:extLst>
              <a:ext uri="{FF2B5EF4-FFF2-40B4-BE49-F238E27FC236}">
                <a16:creationId xmlns:a16="http://schemas.microsoft.com/office/drawing/2014/main" id="{BF5BF946-F5E7-1544-AF56-E534E43CF495}"/>
              </a:ext>
            </a:extLst>
          </p:cNvPr>
          <p:cNvSpPr txBox="1">
            <a:spLocks noChangeArrowheads="1"/>
          </p:cNvSpPr>
          <p:nvPr/>
        </p:nvSpPr>
        <p:spPr bwMode="auto">
          <a:xfrm>
            <a:off x="9182708" y="3764792"/>
            <a:ext cx="1401811" cy="3988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transport</a:t>
            </a:r>
          </a:p>
        </p:txBody>
      </p:sp>
      <p:grpSp>
        <p:nvGrpSpPr>
          <p:cNvPr id="93" name="Group 92">
            <a:extLst>
              <a:ext uri="{FF2B5EF4-FFF2-40B4-BE49-F238E27FC236}">
                <a16:creationId xmlns:a16="http://schemas.microsoft.com/office/drawing/2014/main" id="{EFA7BEBF-82FA-3440-93DD-AFB07D2DDF8D}"/>
              </a:ext>
            </a:extLst>
          </p:cNvPr>
          <p:cNvGrpSpPr/>
          <p:nvPr/>
        </p:nvGrpSpPr>
        <p:grpSpPr>
          <a:xfrm>
            <a:off x="950915" y="5714544"/>
            <a:ext cx="1026523" cy="597153"/>
            <a:chOff x="7493876" y="2774731"/>
            <a:chExt cx="1481958" cy="894622"/>
          </a:xfrm>
        </p:grpSpPr>
        <p:sp>
          <p:nvSpPr>
            <p:cNvPr id="107" name="Freeform 106">
              <a:extLst>
                <a:ext uri="{FF2B5EF4-FFF2-40B4-BE49-F238E27FC236}">
                  <a16:creationId xmlns:a16="http://schemas.microsoft.com/office/drawing/2014/main" id="{FD49C136-01B9-DB45-BCCD-F4E482387145}"/>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                   </a:t>
              </a:r>
            </a:p>
          </p:txBody>
        </p:sp>
        <p:sp>
          <p:nvSpPr>
            <p:cNvPr id="108" name="Oval 107">
              <a:extLst>
                <a:ext uri="{FF2B5EF4-FFF2-40B4-BE49-F238E27FC236}">
                  <a16:creationId xmlns:a16="http://schemas.microsoft.com/office/drawing/2014/main" id="{3DF9189A-C970-C34D-8402-F20083341C95}"/>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              </a:t>
              </a:r>
            </a:p>
          </p:txBody>
        </p:sp>
        <p:grpSp>
          <p:nvGrpSpPr>
            <p:cNvPr id="109" name="Group 108">
              <a:extLst>
                <a:ext uri="{FF2B5EF4-FFF2-40B4-BE49-F238E27FC236}">
                  <a16:creationId xmlns:a16="http://schemas.microsoft.com/office/drawing/2014/main" id="{51F5139E-A5EB-E64B-B1E6-C3669AE818C6}"/>
                </a:ext>
              </a:extLst>
            </p:cNvPr>
            <p:cNvGrpSpPr/>
            <p:nvPr/>
          </p:nvGrpSpPr>
          <p:grpSpPr>
            <a:xfrm>
              <a:off x="7713663" y="2848339"/>
              <a:ext cx="1042107" cy="425543"/>
              <a:chOff x="7786941" y="2884917"/>
              <a:chExt cx="897649" cy="353919"/>
            </a:xfrm>
          </p:grpSpPr>
          <p:sp>
            <p:nvSpPr>
              <p:cNvPr id="110" name="Freeform 109">
                <a:extLst>
                  <a:ext uri="{FF2B5EF4-FFF2-40B4-BE49-F238E27FC236}">
                    <a16:creationId xmlns:a16="http://schemas.microsoft.com/office/drawing/2014/main" id="{7F7CB1D2-0FD2-A14F-A399-1C2D3650F2EA}"/>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11" name="Freeform 110">
                <a:extLst>
                  <a:ext uri="{FF2B5EF4-FFF2-40B4-BE49-F238E27FC236}">
                    <a16:creationId xmlns:a16="http://schemas.microsoft.com/office/drawing/2014/main" id="{688C61D0-9947-2E41-89C2-D2B4591C1F38}"/>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12" name="Freeform 111">
                <a:extLst>
                  <a:ext uri="{FF2B5EF4-FFF2-40B4-BE49-F238E27FC236}">
                    <a16:creationId xmlns:a16="http://schemas.microsoft.com/office/drawing/2014/main" id="{ADE46CF5-DF22-8F48-87EF-A46F29E0F1A9}"/>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13" name="Freeform 112">
                <a:extLst>
                  <a:ext uri="{FF2B5EF4-FFF2-40B4-BE49-F238E27FC236}">
                    <a16:creationId xmlns:a16="http://schemas.microsoft.com/office/drawing/2014/main" id="{CEACF782-B549-1D4E-B840-69A6AFFE6A7F}"/>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grpSp>
      </p:grpSp>
      <p:sp>
        <p:nvSpPr>
          <p:cNvPr id="114" name="Title 1">
            <a:extLst>
              <a:ext uri="{FF2B5EF4-FFF2-40B4-BE49-F238E27FC236}">
                <a16:creationId xmlns:a16="http://schemas.microsoft.com/office/drawing/2014/main" id="{1464CB5C-96D6-3645-94B5-DB9FA70972D2}"/>
              </a:ext>
            </a:extLst>
          </p:cNvPr>
          <p:cNvSpPr>
            <a:spLocks noGrp="1"/>
          </p:cNvSpPr>
          <p:nvPr>
            <p:ph type="title"/>
          </p:nvPr>
        </p:nvSpPr>
        <p:spPr>
          <a:xfrm>
            <a:off x="798690" y="289325"/>
            <a:ext cx="11100625" cy="894622"/>
          </a:xfrm>
        </p:spPr>
        <p:txBody>
          <a:bodyPr>
            <a:normAutofit/>
          </a:bodyPr>
          <a:lstStyle/>
          <a:p>
            <a:r>
              <a:rPr lang="en-US" sz="4400" dirty="0"/>
              <a:t>Transport Layer Actions</a:t>
            </a:r>
          </a:p>
        </p:txBody>
      </p:sp>
      <p:grpSp>
        <p:nvGrpSpPr>
          <p:cNvPr id="115" name="Group 149">
            <a:extLst>
              <a:ext uri="{FF2B5EF4-FFF2-40B4-BE49-F238E27FC236}">
                <a16:creationId xmlns:a16="http://schemas.microsoft.com/office/drawing/2014/main" id="{D80894D4-838A-2B47-82E9-ED060F8608E9}"/>
              </a:ext>
            </a:extLst>
          </p:cNvPr>
          <p:cNvGrpSpPr>
            <a:grpSpLocks/>
          </p:cNvGrpSpPr>
          <p:nvPr/>
        </p:nvGrpSpPr>
        <p:grpSpPr bwMode="auto">
          <a:xfrm>
            <a:off x="2912388" y="3526987"/>
            <a:ext cx="412750" cy="158750"/>
            <a:chOff x="1287" y="2524"/>
            <a:chExt cx="260" cy="100"/>
          </a:xfrm>
        </p:grpSpPr>
        <p:sp>
          <p:nvSpPr>
            <p:cNvPr id="116" name="Rectangle 73">
              <a:extLst>
                <a:ext uri="{FF2B5EF4-FFF2-40B4-BE49-F238E27FC236}">
                  <a16:creationId xmlns:a16="http://schemas.microsoft.com/office/drawing/2014/main" id="{4F7EB976-F7A9-464D-96B7-3FE5D6F41C71}"/>
                </a:ext>
              </a:extLst>
            </p:cNvPr>
            <p:cNvSpPr>
              <a:spLocks noChangeArrowheads="1"/>
            </p:cNvSpPr>
            <p:nvPr/>
          </p:nvSpPr>
          <p:spPr bwMode="auto">
            <a:xfrm>
              <a:off x="1287" y="2524"/>
              <a:ext cx="260" cy="100"/>
            </a:xfrm>
            <a:prstGeom prst="rect">
              <a:avLst/>
            </a:prstGeom>
            <a:solidFill>
              <a:srgbClr val="FFFF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17" name="Rectangle 74">
              <a:extLst>
                <a:ext uri="{FF2B5EF4-FFF2-40B4-BE49-F238E27FC236}">
                  <a16:creationId xmlns:a16="http://schemas.microsoft.com/office/drawing/2014/main" id="{4368CF72-2B59-FB4B-92FA-68E13D10F3ED}"/>
                </a:ext>
              </a:extLst>
            </p:cNvPr>
            <p:cNvSpPr>
              <a:spLocks noChangeArrowheads="1"/>
            </p:cNvSpPr>
            <p:nvPr/>
          </p:nvSpPr>
          <p:spPr bwMode="auto">
            <a:xfrm>
              <a:off x="1338" y="2537"/>
              <a:ext cx="155" cy="76"/>
            </a:xfrm>
            <a:prstGeom prst="rect">
              <a:avLst/>
            </a:prstGeom>
            <a:solidFill>
              <a:srgbClr val="FFFFFF"/>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18" name="Rectangle 75">
              <a:extLst>
                <a:ext uri="{FF2B5EF4-FFF2-40B4-BE49-F238E27FC236}">
                  <a16:creationId xmlns:a16="http://schemas.microsoft.com/office/drawing/2014/main" id="{0D0AC942-AA10-F747-BEAC-52DAFF24DAB3}"/>
                </a:ext>
              </a:extLst>
            </p:cNvPr>
            <p:cNvSpPr>
              <a:spLocks noChangeArrowheads="1"/>
            </p:cNvSpPr>
            <p:nvPr/>
          </p:nvSpPr>
          <p:spPr bwMode="auto">
            <a:xfrm>
              <a:off x="1503" y="2582"/>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19" name="Rectangle 129">
              <a:extLst>
                <a:ext uri="{FF2B5EF4-FFF2-40B4-BE49-F238E27FC236}">
                  <a16:creationId xmlns:a16="http://schemas.microsoft.com/office/drawing/2014/main" id="{C51B66A9-7495-DF44-B4DE-37BC9E90E09B}"/>
                </a:ext>
              </a:extLst>
            </p:cNvPr>
            <p:cNvSpPr>
              <a:spLocks noChangeArrowheads="1"/>
            </p:cNvSpPr>
            <p:nvPr/>
          </p:nvSpPr>
          <p:spPr bwMode="auto">
            <a:xfrm>
              <a:off x="1298" y="2583"/>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grpSp>
        <p:nvGrpSpPr>
          <p:cNvPr id="120" name="Group 149">
            <a:extLst>
              <a:ext uri="{FF2B5EF4-FFF2-40B4-BE49-F238E27FC236}">
                <a16:creationId xmlns:a16="http://schemas.microsoft.com/office/drawing/2014/main" id="{B5F38E94-4EF7-1F4B-AAC4-BF50DC083CD9}"/>
              </a:ext>
            </a:extLst>
          </p:cNvPr>
          <p:cNvGrpSpPr>
            <a:grpSpLocks/>
          </p:cNvGrpSpPr>
          <p:nvPr/>
        </p:nvGrpSpPr>
        <p:grpSpPr bwMode="auto">
          <a:xfrm>
            <a:off x="10131325" y="3444574"/>
            <a:ext cx="412750" cy="158750"/>
            <a:chOff x="1287" y="2524"/>
            <a:chExt cx="260" cy="100"/>
          </a:xfrm>
        </p:grpSpPr>
        <p:sp>
          <p:nvSpPr>
            <p:cNvPr id="121" name="Rectangle 73">
              <a:extLst>
                <a:ext uri="{FF2B5EF4-FFF2-40B4-BE49-F238E27FC236}">
                  <a16:creationId xmlns:a16="http://schemas.microsoft.com/office/drawing/2014/main" id="{71D7BEDA-E8D6-9F4F-8EE3-D5290D9AF39D}"/>
                </a:ext>
              </a:extLst>
            </p:cNvPr>
            <p:cNvSpPr>
              <a:spLocks noChangeArrowheads="1"/>
            </p:cNvSpPr>
            <p:nvPr/>
          </p:nvSpPr>
          <p:spPr bwMode="auto">
            <a:xfrm>
              <a:off x="1287" y="2524"/>
              <a:ext cx="260" cy="100"/>
            </a:xfrm>
            <a:prstGeom prst="rect">
              <a:avLst/>
            </a:prstGeom>
            <a:solidFill>
              <a:srgbClr val="FFFF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22" name="Rectangle 74">
              <a:extLst>
                <a:ext uri="{FF2B5EF4-FFF2-40B4-BE49-F238E27FC236}">
                  <a16:creationId xmlns:a16="http://schemas.microsoft.com/office/drawing/2014/main" id="{D93A8064-E5FB-2844-9B3D-C598CCB67BDD}"/>
                </a:ext>
              </a:extLst>
            </p:cNvPr>
            <p:cNvSpPr>
              <a:spLocks noChangeArrowheads="1"/>
            </p:cNvSpPr>
            <p:nvPr/>
          </p:nvSpPr>
          <p:spPr bwMode="auto">
            <a:xfrm>
              <a:off x="1338" y="2537"/>
              <a:ext cx="155" cy="76"/>
            </a:xfrm>
            <a:prstGeom prst="rect">
              <a:avLst/>
            </a:prstGeom>
            <a:solidFill>
              <a:srgbClr val="FFFFFF"/>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23" name="Rectangle 75">
              <a:extLst>
                <a:ext uri="{FF2B5EF4-FFF2-40B4-BE49-F238E27FC236}">
                  <a16:creationId xmlns:a16="http://schemas.microsoft.com/office/drawing/2014/main" id="{DF7AA994-9DC7-8349-BB16-6DED06C89AC0}"/>
                </a:ext>
              </a:extLst>
            </p:cNvPr>
            <p:cNvSpPr>
              <a:spLocks noChangeArrowheads="1"/>
            </p:cNvSpPr>
            <p:nvPr/>
          </p:nvSpPr>
          <p:spPr bwMode="auto">
            <a:xfrm>
              <a:off x="1503" y="2582"/>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24" name="Rectangle 129">
              <a:extLst>
                <a:ext uri="{FF2B5EF4-FFF2-40B4-BE49-F238E27FC236}">
                  <a16:creationId xmlns:a16="http://schemas.microsoft.com/office/drawing/2014/main" id="{06FC6EA9-9071-D843-8C39-AFF854F3BEFC}"/>
                </a:ext>
              </a:extLst>
            </p:cNvPr>
            <p:cNvSpPr>
              <a:spLocks noChangeArrowheads="1"/>
            </p:cNvSpPr>
            <p:nvPr/>
          </p:nvSpPr>
          <p:spPr bwMode="auto">
            <a:xfrm>
              <a:off x="1298" y="2583"/>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2" name="TextBox 1">
            <a:extLst>
              <a:ext uri="{FF2B5EF4-FFF2-40B4-BE49-F238E27FC236}">
                <a16:creationId xmlns:a16="http://schemas.microsoft.com/office/drawing/2014/main" id="{6B2BB341-9BE1-8640-8E8B-7EC80706964E}"/>
              </a:ext>
            </a:extLst>
          </p:cNvPr>
          <p:cNvSpPr txBox="1"/>
          <p:nvPr/>
        </p:nvSpPr>
        <p:spPr>
          <a:xfrm>
            <a:off x="4662658" y="2601665"/>
            <a:ext cx="3898344"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Sender:</a:t>
            </a:r>
          </a:p>
          <a:p>
            <a:pPr marL="285750" marR="0" lvl="0" indent="-219075" algn="l" defTabSz="914400" rtl="0" eaLnBrk="1" fontAlgn="auto" latinLnBrk="0" hangingPunct="1">
              <a:lnSpc>
                <a:spcPct val="100000"/>
              </a:lnSpc>
              <a:spcBef>
                <a:spcPts val="0"/>
              </a:spcBef>
              <a:spcAft>
                <a:spcPts val="0"/>
              </a:spcAft>
              <a:buClr>
                <a:srgbClr val="0200A3"/>
              </a:buClr>
              <a:buSzTx/>
              <a:buFont typeface="Wingdings" pitchFamily="2" charset="2"/>
              <a:buChar char="§"/>
              <a:tabLst/>
              <a:defRPr/>
            </a:pPr>
            <a:endParaRPr kumimoji="0" lang="en-US" sz="2000" b="0" i="0" u="none" strike="noStrike" kern="1200" cap="none" spc="0" normalizeH="0" baseline="0" noProof="0" dirty="0">
              <a:ln>
                <a:noFill/>
              </a:ln>
              <a:solidFill>
                <a:prstClr val="black"/>
              </a:solidFill>
              <a:effectLst/>
              <a:uLnTx/>
              <a:uFillTx/>
              <a:latin typeface="Calibri"/>
              <a:ea typeface="+mn-ea"/>
              <a:cs typeface="+mn-cs"/>
            </a:endParaRPr>
          </a:p>
        </p:txBody>
      </p:sp>
      <p:sp>
        <p:nvSpPr>
          <p:cNvPr id="102" name="Rectangle 101">
            <a:extLst>
              <a:ext uri="{FF2B5EF4-FFF2-40B4-BE49-F238E27FC236}">
                <a16:creationId xmlns:a16="http://schemas.microsoft.com/office/drawing/2014/main" id="{6480FBEB-6DAE-6343-96A8-03D66CDE01DB}"/>
              </a:ext>
            </a:extLst>
          </p:cNvPr>
          <p:cNvSpPr/>
          <p:nvPr/>
        </p:nvSpPr>
        <p:spPr>
          <a:xfrm>
            <a:off x="8521327" y="2849251"/>
            <a:ext cx="2415414" cy="3369475"/>
          </a:xfrm>
          <a:prstGeom prst="rect">
            <a:avLst/>
          </a:prstGeom>
          <a:solidFill>
            <a:schemeClr val="bg1">
              <a:alpha val="8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grpSp>
        <p:nvGrpSpPr>
          <p:cNvPr id="88" name="Group 87">
            <a:extLst>
              <a:ext uri="{FF2B5EF4-FFF2-40B4-BE49-F238E27FC236}">
                <a16:creationId xmlns:a16="http://schemas.microsoft.com/office/drawing/2014/main" id="{CA134BD1-8CE1-DD46-92D0-46AEECA91934}"/>
              </a:ext>
            </a:extLst>
          </p:cNvPr>
          <p:cNvGrpSpPr/>
          <p:nvPr/>
        </p:nvGrpSpPr>
        <p:grpSpPr>
          <a:xfrm>
            <a:off x="9580345" y="3074070"/>
            <a:ext cx="1259074" cy="369332"/>
            <a:chOff x="8934916" y="2775692"/>
            <a:chExt cx="1259074" cy="369332"/>
          </a:xfrm>
        </p:grpSpPr>
        <p:sp>
          <p:nvSpPr>
            <p:cNvPr id="89" name="Rectangle 88">
              <a:extLst>
                <a:ext uri="{FF2B5EF4-FFF2-40B4-BE49-F238E27FC236}">
                  <a16:creationId xmlns:a16="http://schemas.microsoft.com/office/drawing/2014/main" id="{6A02A536-E595-E54F-85ED-50268229A5F1}"/>
                </a:ext>
              </a:extLst>
            </p:cNvPr>
            <p:cNvSpPr/>
            <p:nvPr/>
          </p:nvSpPr>
          <p:spPr>
            <a:xfrm>
              <a:off x="8964931" y="2842303"/>
              <a:ext cx="1140727" cy="246705"/>
            </a:xfrm>
            <a:prstGeom prst="rect">
              <a:avLst/>
            </a:prstGeom>
            <a:solidFill>
              <a:schemeClr val="bg1"/>
            </a:solid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90" name="TextBox 89">
              <a:extLst>
                <a:ext uri="{FF2B5EF4-FFF2-40B4-BE49-F238E27FC236}">
                  <a16:creationId xmlns:a16="http://schemas.microsoft.com/office/drawing/2014/main" id="{26EE5E72-5714-C64B-A3D2-C89CD03AFF69}"/>
                </a:ext>
              </a:extLst>
            </p:cNvPr>
            <p:cNvSpPr txBox="1"/>
            <p:nvPr/>
          </p:nvSpPr>
          <p:spPr>
            <a:xfrm>
              <a:off x="8934916" y="2775692"/>
              <a:ext cx="1259074"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app. msg</a:t>
              </a:r>
            </a:p>
          </p:txBody>
        </p:sp>
      </p:grpSp>
      <p:sp>
        <p:nvSpPr>
          <p:cNvPr id="91" name="TextBox 90">
            <a:extLst>
              <a:ext uri="{FF2B5EF4-FFF2-40B4-BE49-F238E27FC236}">
                <a16:creationId xmlns:a16="http://schemas.microsoft.com/office/drawing/2014/main" id="{44FC0E6A-CBE5-AC4B-BF65-426B6D4CBC72}"/>
              </a:ext>
            </a:extLst>
          </p:cNvPr>
          <p:cNvSpPr txBox="1"/>
          <p:nvPr/>
        </p:nvSpPr>
        <p:spPr>
          <a:xfrm>
            <a:off x="4841725" y="3096063"/>
            <a:ext cx="3825456" cy="722955"/>
          </a:xfrm>
          <a:prstGeom prst="rect">
            <a:avLst/>
          </a:prstGeom>
          <a:noFill/>
        </p:spPr>
        <p:txBody>
          <a:bodyPr wrap="square" rtlCol="0">
            <a:spAutoFit/>
          </a:bodyPr>
          <a:lstStyle/>
          <a:p>
            <a:pPr marL="409575" marR="0" lvl="0" indent="-342900" algn="l" defTabSz="914400" rtl="0" eaLnBrk="1" fontAlgn="auto" latinLnBrk="0" hangingPunct="1">
              <a:lnSpc>
                <a:spcPct val="85000"/>
              </a:lnSpc>
              <a:spcBef>
                <a:spcPts val="0"/>
              </a:spcBef>
              <a:spcAft>
                <a:spcPts val="0"/>
              </a:spcAft>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is passed an application-layer message</a:t>
            </a:r>
          </a:p>
        </p:txBody>
      </p:sp>
      <p:sp>
        <p:nvSpPr>
          <p:cNvPr id="94" name="TextBox 93">
            <a:extLst>
              <a:ext uri="{FF2B5EF4-FFF2-40B4-BE49-F238E27FC236}">
                <a16:creationId xmlns:a16="http://schemas.microsoft.com/office/drawing/2014/main" id="{D9421943-E484-5046-BEAC-6D59475EF6C3}"/>
              </a:ext>
            </a:extLst>
          </p:cNvPr>
          <p:cNvSpPr txBox="1"/>
          <p:nvPr/>
        </p:nvSpPr>
        <p:spPr>
          <a:xfrm>
            <a:off x="4838367" y="3761880"/>
            <a:ext cx="3825456" cy="722955"/>
          </a:xfrm>
          <a:prstGeom prst="rect">
            <a:avLst/>
          </a:prstGeom>
          <a:noFill/>
        </p:spPr>
        <p:txBody>
          <a:bodyPr wrap="square" rtlCol="0">
            <a:spAutoFit/>
          </a:bodyPr>
          <a:lstStyle/>
          <a:p>
            <a:pPr marL="409575" marR="0" lvl="0" indent="-342900" algn="l" defTabSz="914400" rtl="0" eaLnBrk="1" fontAlgn="auto" latinLnBrk="0" hangingPunct="1">
              <a:lnSpc>
                <a:spcPct val="85000"/>
              </a:lnSpc>
              <a:spcBef>
                <a:spcPts val="0"/>
              </a:spcBef>
              <a:spcAft>
                <a:spcPts val="0"/>
              </a:spcAft>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determines segment header fields values</a:t>
            </a:r>
          </a:p>
        </p:txBody>
      </p:sp>
      <p:sp>
        <p:nvSpPr>
          <p:cNvPr id="95" name="TextBox 94">
            <a:extLst>
              <a:ext uri="{FF2B5EF4-FFF2-40B4-BE49-F238E27FC236}">
                <a16:creationId xmlns:a16="http://schemas.microsoft.com/office/drawing/2014/main" id="{BFD6C411-175C-8D4E-9A66-3E03AAA9F0F9}"/>
              </a:ext>
            </a:extLst>
          </p:cNvPr>
          <p:cNvSpPr txBox="1"/>
          <p:nvPr/>
        </p:nvSpPr>
        <p:spPr>
          <a:xfrm>
            <a:off x="4826873" y="4363827"/>
            <a:ext cx="3825456" cy="461665"/>
          </a:xfrm>
          <a:prstGeom prst="rect">
            <a:avLst/>
          </a:prstGeom>
          <a:noFill/>
        </p:spPr>
        <p:txBody>
          <a:bodyPr wrap="square" rtlCol="0">
            <a:spAutoFit/>
          </a:bodyPr>
          <a:lstStyle/>
          <a:p>
            <a:pPr marL="409575" marR="0" lvl="0" indent="-342900" algn="l" defTabSz="914400" rtl="0" eaLnBrk="1" fontAlgn="auto" latinLnBrk="0" hangingPunct="1">
              <a:lnSpc>
                <a:spcPct val="100000"/>
              </a:lnSpc>
              <a:spcBef>
                <a:spcPts val="0"/>
              </a:spcBef>
              <a:spcAft>
                <a:spcPts val="0"/>
              </a:spcAft>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creates segment</a:t>
            </a:r>
          </a:p>
        </p:txBody>
      </p:sp>
      <p:sp>
        <p:nvSpPr>
          <p:cNvPr id="97" name="TextBox 96">
            <a:extLst>
              <a:ext uri="{FF2B5EF4-FFF2-40B4-BE49-F238E27FC236}">
                <a16:creationId xmlns:a16="http://schemas.microsoft.com/office/drawing/2014/main" id="{A88394C2-8FDA-8F48-B59B-B744ABBDA541}"/>
              </a:ext>
            </a:extLst>
          </p:cNvPr>
          <p:cNvSpPr txBox="1"/>
          <p:nvPr/>
        </p:nvSpPr>
        <p:spPr>
          <a:xfrm>
            <a:off x="4831550" y="4796127"/>
            <a:ext cx="3923508" cy="461665"/>
          </a:xfrm>
          <a:prstGeom prst="rect">
            <a:avLst/>
          </a:prstGeom>
          <a:noFill/>
        </p:spPr>
        <p:txBody>
          <a:bodyPr wrap="square" rtlCol="0">
            <a:spAutoFit/>
          </a:bodyPr>
          <a:lstStyle/>
          <a:p>
            <a:pPr marL="409575" marR="0" lvl="0" indent="-342900" algn="l" defTabSz="914400" rtl="0" eaLnBrk="1" fontAlgn="auto" latinLnBrk="0" hangingPunct="1">
              <a:lnSpc>
                <a:spcPct val="100000"/>
              </a:lnSpc>
              <a:spcBef>
                <a:spcPts val="0"/>
              </a:spcBef>
              <a:spcAft>
                <a:spcPts val="0"/>
              </a:spcAft>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passes segment to </a:t>
            </a:r>
            <a:r>
              <a:rPr lang="en-US" sz="2400" dirty="0">
                <a:solidFill>
                  <a:prstClr val="black"/>
                </a:solidFill>
                <a:latin typeface="Calibri"/>
              </a:rPr>
              <a:t>Layer 3</a:t>
            </a: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sp>
        <p:nvSpPr>
          <p:cNvPr id="131" name="Text Box 26">
            <a:extLst>
              <a:ext uri="{FF2B5EF4-FFF2-40B4-BE49-F238E27FC236}">
                <a16:creationId xmlns:a16="http://schemas.microsoft.com/office/drawing/2014/main" id="{82B22EF0-AE16-E34A-9DFF-15D46D5130BC}"/>
              </a:ext>
            </a:extLst>
          </p:cNvPr>
          <p:cNvSpPr txBox="1">
            <a:spLocks noChangeArrowheads="1"/>
          </p:cNvSpPr>
          <p:nvPr/>
        </p:nvSpPr>
        <p:spPr bwMode="auto">
          <a:xfrm>
            <a:off x="2394540" y="3857544"/>
            <a:ext cx="1535315" cy="3988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transport</a:t>
            </a:r>
          </a:p>
        </p:txBody>
      </p:sp>
      <p:sp>
        <p:nvSpPr>
          <p:cNvPr id="98" name="Rectangle 97">
            <a:extLst>
              <a:ext uri="{FF2B5EF4-FFF2-40B4-BE49-F238E27FC236}">
                <a16:creationId xmlns:a16="http://schemas.microsoft.com/office/drawing/2014/main" id="{EB709716-FAB0-AB45-BCAE-75F8CF2AEC09}"/>
              </a:ext>
            </a:extLst>
          </p:cNvPr>
          <p:cNvSpPr/>
          <p:nvPr/>
        </p:nvSpPr>
        <p:spPr>
          <a:xfrm>
            <a:off x="720962" y="2415156"/>
            <a:ext cx="3715697" cy="4052070"/>
          </a:xfrm>
          <a:prstGeom prst="rect">
            <a:avLst/>
          </a:prstGeom>
          <a:solidFill>
            <a:schemeClr val="bg1">
              <a:alpha val="8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grpSp>
        <p:nvGrpSpPr>
          <p:cNvPr id="106" name="Group 105">
            <a:extLst>
              <a:ext uri="{FF2B5EF4-FFF2-40B4-BE49-F238E27FC236}">
                <a16:creationId xmlns:a16="http://schemas.microsoft.com/office/drawing/2014/main" id="{73FB16D4-A4BA-C046-940D-43D50465EB6F}"/>
              </a:ext>
            </a:extLst>
          </p:cNvPr>
          <p:cNvGrpSpPr/>
          <p:nvPr/>
        </p:nvGrpSpPr>
        <p:grpSpPr>
          <a:xfrm>
            <a:off x="8923737" y="3763470"/>
            <a:ext cx="1259074" cy="338554"/>
            <a:chOff x="8964789" y="2639236"/>
            <a:chExt cx="1259074" cy="338554"/>
          </a:xfrm>
        </p:grpSpPr>
        <p:sp>
          <p:nvSpPr>
            <p:cNvPr id="125" name="Rectangle 124">
              <a:extLst>
                <a:ext uri="{FF2B5EF4-FFF2-40B4-BE49-F238E27FC236}">
                  <a16:creationId xmlns:a16="http://schemas.microsoft.com/office/drawing/2014/main" id="{CA58A03E-5455-0E40-8FB9-71E1E5E2CADE}"/>
                </a:ext>
              </a:extLst>
            </p:cNvPr>
            <p:cNvSpPr/>
            <p:nvPr/>
          </p:nvSpPr>
          <p:spPr>
            <a:xfrm>
              <a:off x="9032744" y="2707400"/>
              <a:ext cx="543189" cy="246705"/>
            </a:xfrm>
            <a:prstGeom prst="rect">
              <a:avLst/>
            </a:prstGeom>
            <a:solidFill>
              <a:schemeClr val="bg1"/>
            </a:solid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26" name="TextBox 125">
              <a:extLst>
                <a:ext uri="{FF2B5EF4-FFF2-40B4-BE49-F238E27FC236}">
                  <a16:creationId xmlns:a16="http://schemas.microsoft.com/office/drawing/2014/main" id="{97A208B0-D27E-5D40-B156-11CB7075B098}"/>
                </a:ext>
              </a:extLst>
            </p:cNvPr>
            <p:cNvSpPr txBox="1"/>
            <p:nvPr/>
          </p:nvSpPr>
          <p:spPr>
            <a:xfrm>
              <a:off x="8964789" y="2639236"/>
              <a:ext cx="1259074"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   T</a:t>
              </a:r>
              <a:r>
                <a:rPr kumimoji="0" lang="en-US" sz="1600" b="0" i="0" u="none" strike="noStrike" kern="1200" cap="none" spc="0" normalizeH="0" baseline="-25000" noProof="0" dirty="0">
                  <a:ln>
                    <a:noFill/>
                  </a:ln>
                  <a:solidFill>
                    <a:prstClr val="black"/>
                  </a:solidFill>
                  <a:effectLst/>
                  <a:uLnTx/>
                  <a:uFillTx/>
                  <a:latin typeface="Calibri"/>
                  <a:ea typeface="+mn-ea"/>
                  <a:cs typeface="+mn-cs"/>
                </a:rPr>
                <a:t>h</a:t>
              </a:r>
            </a:p>
          </p:txBody>
        </p:sp>
      </p:grpSp>
      <p:grpSp>
        <p:nvGrpSpPr>
          <p:cNvPr id="5" name="Group 4">
            <a:extLst>
              <a:ext uri="{FF2B5EF4-FFF2-40B4-BE49-F238E27FC236}">
                <a16:creationId xmlns:a16="http://schemas.microsoft.com/office/drawing/2014/main" id="{E73E5E98-A439-0647-8DF1-844937CD72A0}"/>
              </a:ext>
            </a:extLst>
          </p:cNvPr>
          <p:cNvGrpSpPr/>
          <p:nvPr/>
        </p:nvGrpSpPr>
        <p:grpSpPr>
          <a:xfrm>
            <a:off x="8999672" y="3770011"/>
            <a:ext cx="1818022" cy="369332"/>
            <a:chOff x="7863122" y="5632673"/>
            <a:chExt cx="1818022" cy="369332"/>
          </a:xfrm>
        </p:grpSpPr>
        <p:grpSp>
          <p:nvGrpSpPr>
            <p:cNvPr id="99" name="Group 98">
              <a:extLst>
                <a:ext uri="{FF2B5EF4-FFF2-40B4-BE49-F238E27FC236}">
                  <a16:creationId xmlns:a16="http://schemas.microsoft.com/office/drawing/2014/main" id="{39CCB6B2-1F81-ED45-AF48-A3187F0215CC}"/>
                </a:ext>
              </a:extLst>
            </p:cNvPr>
            <p:cNvGrpSpPr/>
            <p:nvPr/>
          </p:nvGrpSpPr>
          <p:grpSpPr>
            <a:xfrm>
              <a:off x="7863122" y="5638955"/>
              <a:ext cx="1259074" cy="338554"/>
              <a:chOff x="8964789" y="2648929"/>
              <a:chExt cx="1259074" cy="338554"/>
            </a:xfrm>
          </p:grpSpPr>
          <p:sp>
            <p:nvSpPr>
              <p:cNvPr id="100" name="Rectangle 99">
                <a:extLst>
                  <a:ext uri="{FF2B5EF4-FFF2-40B4-BE49-F238E27FC236}">
                    <a16:creationId xmlns:a16="http://schemas.microsoft.com/office/drawing/2014/main" id="{B77AF83C-DA1E-A642-9E78-5EEE36A0AD7E}"/>
                  </a:ext>
                </a:extLst>
              </p:cNvPr>
              <p:cNvSpPr/>
              <p:nvPr/>
            </p:nvSpPr>
            <p:spPr>
              <a:xfrm>
                <a:off x="9032744" y="2707400"/>
                <a:ext cx="543189" cy="246705"/>
              </a:xfrm>
              <a:prstGeom prst="rect">
                <a:avLst/>
              </a:prstGeom>
              <a:solidFill>
                <a:schemeClr val="bg1"/>
              </a:solid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01" name="TextBox 100">
                <a:extLst>
                  <a:ext uri="{FF2B5EF4-FFF2-40B4-BE49-F238E27FC236}">
                    <a16:creationId xmlns:a16="http://schemas.microsoft.com/office/drawing/2014/main" id="{AB8C9E1E-8C93-DA4B-813F-B38E4305D2BE}"/>
                  </a:ext>
                </a:extLst>
              </p:cNvPr>
              <p:cNvSpPr txBox="1"/>
              <p:nvPr/>
            </p:nvSpPr>
            <p:spPr>
              <a:xfrm>
                <a:off x="8964789" y="2648929"/>
                <a:ext cx="1259074"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   T</a:t>
                </a:r>
                <a:r>
                  <a:rPr kumimoji="0" lang="en-US" sz="1600" b="0" i="0" u="none" strike="noStrike" kern="1200" cap="none" spc="0" normalizeH="0" baseline="-25000" noProof="0" dirty="0">
                    <a:ln>
                      <a:noFill/>
                    </a:ln>
                    <a:solidFill>
                      <a:prstClr val="black"/>
                    </a:solidFill>
                    <a:effectLst/>
                    <a:uLnTx/>
                    <a:uFillTx/>
                    <a:latin typeface="Calibri"/>
                    <a:ea typeface="+mn-ea"/>
                    <a:cs typeface="+mn-cs"/>
                  </a:rPr>
                  <a:t>h</a:t>
                </a:r>
              </a:p>
            </p:txBody>
          </p:sp>
        </p:grpSp>
        <p:grpSp>
          <p:nvGrpSpPr>
            <p:cNvPr id="103" name="Group 102">
              <a:extLst>
                <a:ext uri="{FF2B5EF4-FFF2-40B4-BE49-F238E27FC236}">
                  <a16:creationId xmlns:a16="http://schemas.microsoft.com/office/drawing/2014/main" id="{8B56BF3A-3903-6343-9BD8-2E85489C092E}"/>
                </a:ext>
              </a:extLst>
            </p:cNvPr>
            <p:cNvGrpSpPr/>
            <p:nvPr/>
          </p:nvGrpSpPr>
          <p:grpSpPr>
            <a:xfrm>
              <a:off x="8422070" y="5632673"/>
              <a:ext cx="1259074" cy="369332"/>
              <a:chOff x="8934916" y="2778923"/>
              <a:chExt cx="1259074" cy="369332"/>
            </a:xfrm>
          </p:grpSpPr>
          <p:sp>
            <p:nvSpPr>
              <p:cNvPr id="104" name="Rectangle 103">
                <a:extLst>
                  <a:ext uri="{FF2B5EF4-FFF2-40B4-BE49-F238E27FC236}">
                    <a16:creationId xmlns:a16="http://schemas.microsoft.com/office/drawing/2014/main" id="{C0632306-DF2A-5145-82E2-F627C1E9171F}"/>
                  </a:ext>
                </a:extLst>
              </p:cNvPr>
              <p:cNvSpPr/>
              <p:nvPr/>
            </p:nvSpPr>
            <p:spPr>
              <a:xfrm>
                <a:off x="8964931" y="2842303"/>
                <a:ext cx="1140727" cy="246705"/>
              </a:xfrm>
              <a:prstGeom prst="rect">
                <a:avLst/>
              </a:prstGeom>
              <a:solidFill>
                <a:schemeClr val="bg1"/>
              </a:solid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05" name="TextBox 104">
                <a:extLst>
                  <a:ext uri="{FF2B5EF4-FFF2-40B4-BE49-F238E27FC236}">
                    <a16:creationId xmlns:a16="http://schemas.microsoft.com/office/drawing/2014/main" id="{E104975E-6986-5E45-89F2-36AAE86B3B12}"/>
                  </a:ext>
                </a:extLst>
              </p:cNvPr>
              <p:cNvSpPr txBox="1"/>
              <p:nvPr/>
            </p:nvSpPr>
            <p:spPr>
              <a:xfrm>
                <a:off x="8934916" y="2778923"/>
                <a:ext cx="1259074"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app. msg</a:t>
                </a:r>
              </a:p>
            </p:txBody>
          </p:sp>
        </p:grpSp>
      </p:grpSp>
      <p:sp>
        <p:nvSpPr>
          <p:cNvPr id="4" name="Rectangle 3">
            <a:extLst>
              <a:ext uri="{FF2B5EF4-FFF2-40B4-BE49-F238E27FC236}">
                <a16:creationId xmlns:a16="http://schemas.microsoft.com/office/drawing/2014/main" id="{518E4043-8A22-5863-4733-85754DA4F1EC}"/>
              </a:ext>
            </a:extLst>
          </p:cNvPr>
          <p:cNvSpPr txBox="1">
            <a:spLocks noChangeArrowheads="1"/>
          </p:cNvSpPr>
          <p:nvPr/>
        </p:nvSpPr>
        <p:spPr>
          <a:xfrm>
            <a:off x="465848" y="1108655"/>
            <a:ext cx="11260304" cy="136169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30175" marR="0" lvl="0" indent="0" algn="l" defTabSz="914400" rtl="0" eaLnBrk="1" fontAlgn="auto" latinLnBrk="0" hangingPunct="1">
              <a:lnSpc>
                <a:spcPct val="90000"/>
              </a:lnSpc>
              <a:spcBef>
                <a:spcPts val="1000"/>
              </a:spcBef>
              <a:spcAft>
                <a:spcPts val="0"/>
              </a:spcAft>
              <a:buClr>
                <a:srgbClr val="0000A3"/>
              </a:buClr>
              <a:buSzTx/>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Transport protocols actions in end systems:</a:t>
            </a:r>
          </a:p>
          <a:p>
            <a:pPr marL="695325" marR="0" lvl="1" indent="-231775" algn="l" defTabSz="914400" rtl="0" eaLnBrk="1" fontAlgn="auto" latinLnBrk="0" hangingPunct="1">
              <a:lnSpc>
                <a:spcPct val="90000"/>
              </a:lnSpc>
              <a:spcBef>
                <a:spcPts val="500"/>
              </a:spcBef>
              <a:spcAft>
                <a:spcPts val="0"/>
              </a:spcAft>
              <a:buClrTx/>
              <a:buSzTx/>
              <a:buFont typeface="Arial"/>
              <a:buChar char="•"/>
              <a:tabLst/>
              <a:defRPr/>
            </a:pPr>
            <a:r>
              <a:rPr kumimoji="0" lang="en-US" altLang="zh-CN" sz="2400" b="0" i="0" u="none" strike="noStrike" kern="1200" cap="none" spc="0" normalizeH="0" baseline="0" noProof="0" dirty="0">
                <a:ln>
                  <a:noFill/>
                </a:ln>
                <a:solidFill>
                  <a:prstClr val="black"/>
                </a:solidFill>
                <a:effectLst/>
                <a:uLnTx/>
                <a:uFillTx/>
                <a:latin typeface="Calibri" panose="020F0502020204030204"/>
                <a:ea typeface="+mn-ea"/>
                <a:cs typeface="+mn-cs"/>
              </a:rPr>
              <a:t>S</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ender: breaks application messages into </a:t>
            </a:r>
            <a:r>
              <a:rPr kumimoji="0" lang="en-US" sz="2400" b="0" i="1" u="none" strike="noStrike" kern="1200" cap="none" spc="0" normalizeH="0" baseline="0" noProof="0" dirty="0">
                <a:ln>
                  <a:noFill/>
                </a:ln>
                <a:solidFill>
                  <a:srgbClr val="CC0000"/>
                </a:solidFill>
                <a:effectLst/>
                <a:uLnTx/>
                <a:uFillTx/>
                <a:latin typeface="Calibri" panose="020F0502020204030204"/>
                <a:ea typeface="+mn-ea"/>
                <a:cs typeface="+mn-cs"/>
              </a:rPr>
              <a:t>segments</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passes to  network layer</a:t>
            </a:r>
          </a:p>
          <a:p>
            <a:pPr marL="695325" marR="0" lvl="1" indent="-231775"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Receiver: reassembles segments into messages, passes to application layer</a:t>
            </a:r>
          </a:p>
        </p:txBody>
      </p:sp>
    </p:spTree>
    <p:extLst>
      <p:ext uri="{BB962C8B-B14F-4D97-AF65-F5344CB8AC3E}">
        <p14:creationId xmlns:p14="http://schemas.microsoft.com/office/powerpoint/2010/main" val="3838335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2"/>
                                        </p:tgtEl>
                                        <p:attrNameLst>
                                          <p:attrName>style.visibility</p:attrName>
                                        </p:attrNameLst>
                                      </p:cBhvr>
                                      <p:to>
                                        <p:strVal val="visible"/>
                                      </p:to>
                                    </p:set>
                                    <p:animEffect transition="in" filter="dissolve">
                                      <p:cBhvr>
                                        <p:cTn id="7" dur="500"/>
                                        <p:tgtEl>
                                          <p:spTgt spid="10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88"/>
                                        </p:tgtEl>
                                        <p:attrNameLst>
                                          <p:attrName>style.visibility</p:attrName>
                                        </p:attrNameLst>
                                      </p:cBhvr>
                                      <p:to>
                                        <p:strVal val="visible"/>
                                      </p:to>
                                    </p:set>
                                    <p:animEffect transition="in" filter="dissolve">
                                      <p:cBhvr>
                                        <p:cTn id="12" dur="500"/>
                                        <p:tgtEl>
                                          <p:spTgt spid="88"/>
                                        </p:tgtEl>
                                      </p:cBhvr>
                                    </p:animEffect>
                                  </p:childTnLst>
                                </p:cTn>
                              </p:par>
                              <p:par>
                                <p:cTn id="13" presetID="0" presetClass="path" presetSubtype="0" accel="50000" decel="50000" fill="hold" nodeType="withEffect">
                                  <p:stCondLst>
                                    <p:cond delay="0"/>
                                  </p:stCondLst>
                                  <p:childTnLst>
                                    <p:animMotion origin="layout" path="M -6.25E-7 -1.48148E-6 L 0.00065 0.10139 " pathEditMode="relative" rAng="0" ptsTypes="AA">
                                      <p:cBhvr>
                                        <p:cTn id="14" dur="2000" fill="hold"/>
                                        <p:tgtEl>
                                          <p:spTgt spid="88"/>
                                        </p:tgtEl>
                                        <p:attrNameLst>
                                          <p:attrName>ppt_x</p:attrName>
                                          <p:attrName>ppt_y</p:attrName>
                                        </p:attrNameLst>
                                      </p:cBhvr>
                                      <p:rCtr x="26" y="5069"/>
                                    </p:animMotion>
                                  </p:childTnLst>
                                </p:cTn>
                              </p:par>
                              <p:par>
                                <p:cTn id="15" presetID="9" presetClass="entr" presetSubtype="0" fill="hold" grpId="0" nodeType="withEffect">
                                  <p:stCondLst>
                                    <p:cond delay="0"/>
                                  </p:stCondLst>
                                  <p:childTnLst>
                                    <p:set>
                                      <p:cBhvr>
                                        <p:cTn id="16" dur="1" fill="hold">
                                          <p:stCondLst>
                                            <p:cond delay="0"/>
                                          </p:stCondLst>
                                        </p:cTn>
                                        <p:tgtEl>
                                          <p:spTgt spid="91"/>
                                        </p:tgtEl>
                                        <p:attrNameLst>
                                          <p:attrName>style.visibility</p:attrName>
                                        </p:attrNameLst>
                                      </p:cBhvr>
                                      <p:to>
                                        <p:strVal val="visible"/>
                                      </p:to>
                                    </p:set>
                                    <p:animEffect transition="in" filter="dissolve">
                                      <p:cBhvr>
                                        <p:cTn id="17" dur="500"/>
                                        <p:tgtEl>
                                          <p:spTgt spid="91"/>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106"/>
                                        </p:tgtEl>
                                        <p:attrNameLst>
                                          <p:attrName>style.visibility</p:attrName>
                                        </p:attrNameLst>
                                      </p:cBhvr>
                                      <p:to>
                                        <p:strVal val="visible"/>
                                      </p:to>
                                    </p:set>
                                    <p:animEffect transition="in" filter="dissolve">
                                      <p:cBhvr>
                                        <p:cTn id="22" dur="500"/>
                                        <p:tgtEl>
                                          <p:spTgt spid="106"/>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94"/>
                                        </p:tgtEl>
                                        <p:attrNameLst>
                                          <p:attrName>style.visibility</p:attrName>
                                        </p:attrNameLst>
                                      </p:cBhvr>
                                      <p:to>
                                        <p:strVal val="visible"/>
                                      </p:to>
                                    </p:set>
                                    <p:animEffect transition="in" filter="dissolve">
                                      <p:cBhvr>
                                        <p:cTn id="25" dur="500"/>
                                        <p:tgtEl>
                                          <p:spTgt spid="94"/>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xit" presetSubtype="0" fill="hold" nodeType="clickEffect">
                                  <p:stCondLst>
                                    <p:cond delay="0"/>
                                  </p:stCondLst>
                                  <p:childTnLst>
                                    <p:animEffect transition="out" filter="dissolve">
                                      <p:cBhvr>
                                        <p:cTn id="29" dur="500"/>
                                        <p:tgtEl>
                                          <p:spTgt spid="106"/>
                                        </p:tgtEl>
                                      </p:cBhvr>
                                    </p:animEffect>
                                    <p:set>
                                      <p:cBhvr>
                                        <p:cTn id="30" dur="1" fill="hold">
                                          <p:stCondLst>
                                            <p:cond delay="499"/>
                                          </p:stCondLst>
                                        </p:cTn>
                                        <p:tgtEl>
                                          <p:spTgt spid="106"/>
                                        </p:tgtEl>
                                        <p:attrNameLst>
                                          <p:attrName>style.visibility</p:attrName>
                                        </p:attrNameLst>
                                      </p:cBhvr>
                                      <p:to>
                                        <p:strVal val="hidden"/>
                                      </p:to>
                                    </p:set>
                                  </p:childTnLst>
                                </p:cTn>
                              </p:par>
                              <p:par>
                                <p:cTn id="31" presetID="9" presetClass="exit" presetSubtype="0" fill="hold" nodeType="withEffect">
                                  <p:stCondLst>
                                    <p:cond delay="0"/>
                                  </p:stCondLst>
                                  <p:childTnLst>
                                    <p:animEffect transition="out" filter="dissolve">
                                      <p:cBhvr>
                                        <p:cTn id="32" dur="500"/>
                                        <p:tgtEl>
                                          <p:spTgt spid="88"/>
                                        </p:tgtEl>
                                      </p:cBhvr>
                                    </p:animEffect>
                                    <p:set>
                                      <p:cBhvr>
                                        <p:cTn id="33" dur="1" fill="hold">
                                          <p:stCondLst>
                                            <p:cond delay="499"/>
                                          </p:stCondLst>
                                        </p:cTn>
                                        <p:tgtEl>
                                          <p:spTgt spid="88"/>
                                        </p:tgtEl>
                                        <p:attrNameLst>
                                          <p:attrName>style.visibility</p:attrName>
                                        </p:attrNameLst>
                                      </p:cBhvr>
                                      <p:to>
                                        <p:strVal val="hidden"/>
                                      </p:to>
                                    </p:set>
                                  </p:childTnLst>
                                </p:cTn>
                              </p:par>
                            </p:childTnLst>
                          </p:cTn>
                        </p:par>
                        <p:par>
                          <p:cTn id="34" fill="hold">
                            <p:stCondLst>
                              <p:cond delay="500"/>
                            </p:stCondLst>
                            <p:childTnLst>
                              <p:par>
                                <p:cTn id="35" presetID="9" presetClass="entr" presetSubtype="0" fill="hold" nodeType="after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dissolve">
                                      <p:cBhvr>
                                        <p:cTn id="37" dur="500"/>
                                        <p:tgtEl>
                                          <p:spTgt spid="5"/>
                                        </p:tgtEl>
                                      </p:cBhvr>
                                    </p:animEffect>
                                  </p:childTnLst>
                                </p:cTn>
                              </p:par>
                              <p:par>
                                <p:cTn id="38" presetID="9" presetClass="entr" presetSubtype="0" fill="hold" grpId="0" nodeType="withEffect">
                                  <p:stCondLst>
                                    <p:cond delay="0"/>
                                  </p:stCondLst>
                                  <p:childTnLst>
                                    <p:set>
                                      <p:cBhvr>
                                        <p:cTn id="39" dur="1" fill="hold">
                                          <p:stCondLst>
                                            <p:cond delay="0"/>
                                          </p:stCondLst>
                                        </p:cTn>
                                        <p:tgtEl>
                                          <p:spTgt spid="95"/>
                                        </p:tgtEl>
                                        <p:attrNameLst>
                                          <p:attrName>style.visibility</p:attrName>
                                        </p:attrNameLst>
                                      </p:cBhvr>
                                      <p:to>
                                        <p:strVal val="visible"/>
                                      </p:to>
                                    </p:set>
                                    <p:animEffect transition="in" filter="dissolve">
                                      <p:cBhvr>
                                        <p:cTn id="40" dur="500"/>
                                        <p:tgtEl>
                                          <p:spTgt spid="95"/>
                                        </p:tgtEl>
                                      </p:cBhvr>
                                    </p:animEffect>
                                  </p:childTnLst>
                                </p:cTn>
                              </p:par>
                            </p:childTnLst>
                          </p:cTn>
                        </p:par>
                      </p:childTnLst>
                    </p:cTn>
                  </p:par>
                  <p:par>
                    <p:cTn id="41" fill="hold">
                      <p:stCondLst>
                        <p:cond delay="indefinite"/>
                      </p:stCondLst>
                      <p:childTnLst>
                        <p:par>
                          <p:cTn id="42" fill="hold">
                            <p:stCondLst>
                              <p:cond delay="0"/>
                            </p:stCondLst>
                            <p:childTnLst>
                              <p:par>
                                <p:cTn id="43" presetID="0" presetClass="path" presetSubtype="0" accel="50000" decel="50000" fill="hold" nodeType="clickEffect">
                                  <p:stCondLst>
                                    <p:cond delay="0"/>
                                  </p:stCondLst>
                                  <p:childTnLst>
                                    <p:animMotion origin="layout" path="M -1.25E-6 -3.7037E-7 L 0.00052 0.09306 " pathEditMode="relative" rAng="0" ptsTypes="AA">
                                      <p:cBhvr>
                                        <p:cTn id="44" dur="2000" fill="hold"/>
                                        <p:tgtEl>
                                          <p:spTgt spid="5"/>
                                        </p:tgtEl>
                                        <p:attrNameLst>
                                          <p:attrName>ppt_x</p:attrName>
                                          <p:attrName>ppt_y</p:attrName>
                                        </p:attrNameLst>
                                      </p:cBhvr>
                                      <p:rCtr x="26" y="4653"/>
                                    </p:animMotion>
                                  </p:childTnLst>
                                </p:cTn>
                              </p:par>
                              <p:par>
                                <p:cTn id="45" presetID="9" presetClass="entr" presetSubtype="0" fill="hold" grpId="0" nodeType="withEffect">
                                  <p:stCondLst>
                                    <p:cond delay="0"/>
                                  </p:stCondLst>
                                  <p:childTnLst>
                                    <p:set>
                                      <p:cBhvr>
                                        <p:cTn id="46" dur="1" fill="hold">
                                          <p:stCondLst>
                                            <p:cond delay="0"/>
                                          </p:stCondLst>
                                        </p:cTn>
                                        <p:tgtEl>
                                          <p:spTgt spid="97"/>
                                        </p:tgtEl>
                                        <p:attrNameLst>
                                          <p:attrName>style.visibility</p:attrName>
                                        </p:attrNameLst>
                                      </p:cBhvr>
                                      <p:to>
                                        <p:strVal val="visible"/>
                                      </p:to>
                                    </p:set>
                                    <p:animEffect transition="in" filter="dissolve">
                                      <p:cBhvr>
                                        <p:cTn id="47" dur="500"/>
                                        <p:tgtEl>
                                          <p:spTgt spid="97"/>
                                        </p:tgtEl>
                                      </p:cBhvr>
                                    </p:animEffect>
                                  </p:childTnLst>
                                </p:cTn>
                              </p:par>
                            </p:childTnLst>
                          </p:cTn>
                        </p:par>
                      </p:childTnLst>
                    </p:cTn>
                  </p:par>
                  <p:par>
                    <p:cTn id="48" fill="hold">
                      <p:stCondLst>
                        <p:cond delay="indefinite"/>
                      </p:stCondLst>
                      <p:childTnLst>
                        <p:par>
                          <p:cTn id="49" fill="hold">
                            <p:stCondLst>
                              <p:cond delay="0"/>
                            </p:stCondLst>
                            <p:childTnLst>
                              <p:par>
                                <p:cTn id="50" presetID="0" presetClass="path" presetSubtype="0" accel="50000" decel="50000" fill="hold" nodeType="clickEffect">
                                  <p:stCondLst>
                                    <p:cond delay="0"/>
                                  </p:stCondLst>
                                  <p:childTnLst>
                                    <p:animMotion origin="layout" path="M 0.00052 0.09306 C -0.00013 0.14931 -0.00091 0.20347 -0.00169 0.26181 L -0.11432 0.32593 L -0.43333 0.31991 C -0.47513 0.3044 -0.51719 0.27778 -0.55846 0.26366 " pathEditMode="relative" rAng="0" ptsTypes="AAAAA">
                                      <p:cBhvr>
                                        <p:cTn id="51" dur="2000" fill="hold"/>
                                        <p:tgtEl>
                                          <p:spTgt spid="5"/>
                                        </p:tgtEl>
                                        <p:attrNameLst>
                                          <p:attrName>ppt_x</p:attrName>
                                          <p:attrName>ppt_y</p:attrName>
                                        </p:attrNameLst>
                                      </p:cBhvr>
                                      <p:rCtr x="-27943" y="1164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 grpId="0" animBg="1"/>
      <p:bldP spid="91" grpId="0"/>
      <p:bldP spid="94" grpId="0"/>
      <p:bldP spid="95" grpId="0"/>
      <p:bldP spid="9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8902B4EA-0158-774A-877D-888807F574B5}"/>
              </a:ext>
            </a:extLst>
          </p:cNvPr>
          <p:cNvGrpSpPr/>
          <p:nvPr/>
        </p:nvGrpSpPr>
        <p:grpSpPr>
          <a:xfrm>
            <a:off x="2972606" y="5829269"/>
            <a:ext cx="6866725" cy="1028731"/>
            <a:chOff x="2578811" y="4965666"/>
            <a:chExt cx="6866725" cy="1028731"/>
          </a:xfrm>
        </p:grpSpPr>
        <p:cxnSp>
          <p:nvCxnSpPr>
            <p:cNvPr id="128" name="Straight Connector 127">
              <a:extLst>
                <a:ext uri="{FF2B5EF4-FFF2-40B4-BE49-F238E27FC236}">
                  <a16:creationId xmlns:a16="http://schemas.microsoft.com/office/drawing/2014/main" id="{0763EEB6-87F6-D847-AD1E-3BFDCE6A9543}"/>
                </a:ext>
              </a:extLst>
            </p:cNvPr>
            <p:cNvCxnSpPr>
              <a:cxnSpLocks/>
            </p:cNvCxnSpPr>
            <p:nvPr/>
          </p:nvCxnSpPr>
          <p:spPr>
            <a:xfrm>
              <a:off x="2578811" y="5062556"/>
              <a:ext cx="1582832" cy="30261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 name="Group 5">
              <a:extLst>
                <a:ext uri="{FF2B5EF4-FFF2-40B4-BE49-F238E27FC236}">
                  <a16:creationId xmlns:a16="http://schemas.microsoft.com/office/drawing/2014/main" id="{09891B45-180E-B341-A7C6-D10A683BB102}"/>
                </a:ext>
              </a:extLst>
            </p:cNvPr>
            <p:cNvGrpSpPr/>
            <p:nvPr/>
          </p:nvGrpSpPr>
          <p:grpSpPr>
            <a:xfrm>
              <a:off x="4062521" y="4965666"/>
              <a:ext cx="5383015" cy="1028731"/>
              <a:chOff x="4062521" y="4965666"/>
              <a:chExt cx="5383015" cy="1028731"/>
            </a:xfrm>
          </p:grpSpPr>
          <p:cxnSp>
            <p:nvCxnSpPr>
              <p:cNvPr id="127" name="Straight Connector 126">
                <a:extLst>
                  <a:ext uri="{FF2B5EF4-FFF2-40B4-BE49-F238E27FC236}">
                    <a16:creationId xmlns:a16="http://schemas.microsoft.com/office/drawing/2014/main" id="{16BE7B71-3412-8546-BD1A-8BF76DC47254}"/>
                  </a:ext>
                </a:extLst>
              </p:cNvPr>
              <p:cNvCxnSpPr>
                <a:cxnSpLocks/>
              </p:cNvCxnSpPr>
              <p:nvPr/>
            </p:nvCxnSpPr>
            <p:spPr>
              <a:xfrm flipH="1">
                <a:off x="7972023" y="4973372"/>
                <a:ext cx="1473513" cy="47439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71" name="Freeform 296">
                <a:extLst>
                  <a:ext uri="{FF2B5EF4-FFF2-40B4-BE49-F238E27FC236}">
                    <a16:creationId xmlns:a16="http://schemas.microsoft.com/office/drawing/2014/main" id="{06DFDE96-5B04-984C-B72D-22D074DF3E82}"/>
                  </a:ext>
                </a:extLst>
              </p:cNvPr>
              <p:cNvSpPr>
                <a:spLocks/>
              </p:cNvSpPr>
              <p:nvPr/>
            </p:nvSpPr>
            <p:spPr bwMode="auto">
              <a:xfrm>
                <a:off x="4062521" y="4965666"/>
                <a:ext cx="4036903" cy="1028731"/>
              </a:xfrm>
              <a:custGeom>
                <a:avLst/>
                <a:gdLst>
                  <a:gd name="T0" fmla="*/ 2147483647 w 1877"/>
                  <a:gd name="T1" fmla="*/ 2147483647 h 917"/>
                  <a:gd name="T2" fmla="*/ 2147483647 w 1877"/>
                  <a:gd name="T3" fmla="*/ 2147483647 h 917"/>
                  <a:gd name="T4" fmla="*/ 2147483647 w 1877"/>
                  <a:gd name="T5" fmla="*/ 2147483647 h 917"/>
                  <a:gd name="T6" fmla="*/ 2147483647 w 1877"/>
                  <a:gd name="T7" fmla="*/ 2147483647 h 917"/>
                  <a:gd name="T8" fmla="*/ 2147483647 w 1877"/>
                  <a:gd name="T9" fmla="*/ 2147483647 h 917"/>
                  <a:gd name="T10" fmla="*/ 2147483647 w 1877"/>
                  <a:gd name="T11" fmla="*/ 2147483647 h 917"/>
                  <a:gd name="T12" fmla="*/ 2147483647 w 1877"/>
                  <a:gd name="T13" fmla="*/ 2147483647 h 917"/>
                  <a:gd name="T14" fmla="*/ 2147483647 w 1877"/>
                  <a:gd name="T15" fmla="*/ 2147483647 h 917"/>
                  <a:gd name="T16" fmla="*/ 2147483647 w 1877"/>
                  <a:gd name="T17" fmla="*/ 2147483647 h 917"/>
                  <a:gd name="T18" fmla="*/ 2147483647 w 1877"/>
                  <a:gd name="T19" fmla="*/ 2147483647 h 917"/>
                  <a:gd name="T20" fmla="*/ 2147483647 w 1877"/>
                  <a:gd name="T21" fmla="*/ 2147483647 h 917"/>
                  <a:gd name="T22" fmla="*/ 2147483647 w 1877"/>
                  <a:gd name="T23" fmla="*/ 2147483647 h 917"/>
                  <a:gd name="T24" fmla="*/ 2147483647 w 1877"/>
                  <a:gd name="T25" fmla="*/ 2147483647 h 917"/>
                  <a:gd name="T26" fmla="*/ 2147483647 w 1877"/>
                  <a:gd name="T27" fmla="*/ 2147483647 h 917"/>
                  <a:gd name="T28" fmla="*/ 2147483647 w 1877"/>
                  <a:gd name="T29" fmla="*/ 2147483647 h 917"/>
                  <a:gd name="T30" fmla="*/ 2147483647 w 1877"/>
                  <a:gd name="T31" fmla="*/ 2147483647 h 91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877"/>
                  <a:gd name="T49" fmla="*/ 0 h 917"/>
                  <a:gd name="T50" fmla="*/ 1877 w 1877"/>
                  <a:gd name="T51" fmla="*/ 917 h 91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877" h="91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9CDFF9"/>
              </a:solidFill>
              <a:ln>
                <a:noFill/>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800" b="0" i="0" u="none" strike="noStrike" kern="1200" cap="none" spc="0" normalizeH="0" baseline="0" noProof="0" dirty="0">
                    <a:ln>
                      <a:noFill/>
                    </a:ln>
                    <a:solidFill>
                      <a:srgbClr val="000000"/>
                    </a:solidFill>
                    <a:effectLst/>
                    <a:uLnTx/>
                    <a:uFillTx/>
                    <a:latin typeface="Calibri"/>
                    <a:ea typeface="ＭＳ Ｐゴシック" panose="020B0600070205080204" pitchFamily="34" charset="-128"/>
                    <a:cs typeface="Arial"/>
                  </a:rPr>
                  <a:t>             </a:t>
                </a:r>
              </a:p>
            </p:txBody>
          </p:sp>
        </p:grpSp>
      </p:grpSp>
      <p:sp>
        <p:nvSpPr>
          <p:cNvPr id="182" name="Freeform 103">
            <a:extLst>
              <a:ext uri="{FF2B5EF4-FFF2-40B4-BE49-F238E27FC236}">
                <a16:creationId xmlns:a16="http://schemas.microsoft.com/office/drawing/2014/main" id="{DEF6D5D3-E4DA-4B46-BBC5-93311E115D92}"/>
              </a:ext>
            </a:extLst>
          </p:cNvPr>
          <p:cNvSpPr>
            <a:spLocks/>
          </p:cNvSpPr>
          <p:nvPr/>
        </p:nvSpPr>
        <p:spPr bwMode="auto">
          <a:xfrm>
            <a:off x="10688807" y="3031075"/>
            <a:ext cx="890436" cy="2912558"/>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solidFill>
              <a:srgbClr val="DDDDDD"/>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3" name="Freeform 70">
            <a:extLst>
              <a:ext uri="{FF2B5EF4-FFF2-40B4-BE49-F238E27FC236}">
                <a16:creationId xmlns:a16="http://schemas.microsoft.com/office/drawing/2014/main" id="{4A88383C-61F9-1949-9D88-EC83EDA3F2B6}"/>
              </a:ext>
            </a:extLst>
          </p:cNvPr>
          <p:cNvSpPr>
            <a:spLocks/>
          </p:cNvSpPr>
          <p:nvPr/>
        </p:nvSpPr>
        <p:spPr bwMode="auto">
          <a:xfrm>
            <a:off x="1248144" y="3120258"/>
            <a:ext cx="846644" cy="2922199"/>
          </a:xfrm>
          <a:custGeom>
            <a:avLst/>
            <a:gdLst>
              <a:gd name="T0" fmla="*/ 0 w 348"/>
              <a:gd name="T1" fmla="*/ 2147483647 h 1312"/>
              <a:gd name="T2" fmla="*/ 2147483647 w 348"/>
              <a:gd name="T3" fmla="*/ 0 h 1312"/>
              <a:gd name="T4" fmla="*/ 2147483647 w 348"/>
              <a:gd name="T5" fmla="*/ 2147483647 h 1312"/>
              <a:gd name="T6" fmla="*/ 2147483647 w 348"/>
              <a:gd name="T7" fmla="*/ 2147483647 h 1312"/>
              <a:gd name="T8" fmla="*/ 0 w 348"/>
              <a:gd name="T9" fmla="*/ 2147483647 h 13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8" h="1312">
                <a:moveTo>
                  <a:pt x="0" y="1306"/>
                </a:moveTo>
                <a:lnTo>
                  <a:pt x="348" y="0"/>
                </a:lnTo>
                <a:lnTo>
                  <a:pt x="342" y="1258"/>
                </a:lnTo>
                <a:lnTo>
                  <a:pt x="180" y="1312"/>
                </a:lnTo>
                <a:lnTo>
                  <a:pt x="0" y="1306"/>
                </a:lnTo>
                <a:close/>
              </a:path>
            </a:pathLst>
          </a:custGeom>
          <a:gradFill rotWithShape="1">
            <a:gsLst>
              <a:gs pos="0">
                <a:srgbClr val="FFFFFF"/>
              </a:gs>
              <a:gs pos="100000">
                <a:srgbClr val="B2B2B2"/>
              </a:gs>
            </a:gsLst>
            <a:lin ang="0" scaled="1"/>
          </a:gradFill>
          <a:ln w="9525">
            <a:solidFill>
              <a:srgbClr val="DDDDDD"/>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222" name="Group 185">
            <a:extLst>
              <a:ext uri="{FF2B5EF4-FFF2-40B4-BE49-F238E27FC236}">
                <a16:creationId xmlns:a16="http://schemas.microsoft.com/office/drawing/2014/main" id="{7750F2FB-96FA-374A-AF56-26502EF04672}"/>
              </a:ext>
            </a:extLst>
          </p:cNvPr>
          <p:cNvGrpSpPr>
            <a:grpSpLocks/>
          </p:cNvGrpSpPr>
          <p:nvPr/>
        </p:nvGrpSpPr>
        <p:grpSpPr bwMode="auto">
          <a:xfrm>
            <a:off x="11349483" y="5110362"/>
            <a:ext cx="549832" cy="1070215"/>
            <a:chOff x="4140" y="429"/>
            <a:chExt cx="1425" cy="2396"/>
          </a:xfrm>
        </p:grpSpPr>
        <p:sp>
          <p:nvSpPr>
            <p:cNvPr id="223" name="Freeform 186">
              <a:extLst>
                <a:ext uri="{FF2B5EF4-FFF2-40B4-BE49-F238E27FC236}">
                  <a16:creationId xmlns:a16="http://schemas.microsoft.com/office/drawing/2014/main" id="{E441858B-A566-F746-B48C-912CA3020CC8}"/>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24" name="Rectangle 187">
              <a:extLst>
                <a:ext uri="{FF2B5EF4-FFF2-40B4-BE49-F238E27FC236}">
                  <a16:creationId xmlns:a16="http://schemas.microsoft.com/office/drawing/2014/main" id="{20003129-35A4-1E46-8065-8AF4C6403D57}"/>
                </a:ext>
              </a:extLst>
            </p:cNvPr>
            <p:cNvSpPr>
              <a:spLocks noChangeArrowheads="1"/>
            </p:cNvSpPr>
            <p:nvPr/>
          </p:nvSpPr>
          <p:spPr bwMode="auto">
            <a:xfrm>
              <a:off x="4203" y="429"/>
              <a:ext cx="1053" cy="2283"/>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25" name="Freeform 188">
              <a:extLst>
                <a:ext uri="{FF2B5EF4-FFF2-40B4-BE49-F238E27FC236}">
                  <a16:creationId xmlns:a16="http://schemas.microsoft.com/office/drawing/2014/main" id="{6F94D7AE-C4D1-AF4A-B970-086B7D245ACF}"/>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26" name="Freeform 189">
              <a:extLst>
                <a:ext uri="{FF2B5EF4-FFF2-40B4-BE49-F238E27FC236}">
                  <a16:creationId xmlns:a16="http://schemas.microsoft.com/office/drawing/2014/main" id="{EAFC03EF-54DF-8942-9852-25739DA158B4}"/>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27" name="Rectangle 190">
              <a:extLst>
                <a:ext uri="{FF2B5EF4-FFF2-40B4-BE49-F238E27FC236}">
                  <a16:creationId xmlns:a16="http://schemas.microsoft.com/office/drawing/2014/main" id="{2241F7B6-5281-A74E-8DCB-3BE3777E9369}"/>
                </a:ext>
              </a:extLst>
            </p:cNvPr>
            <p:cNvSpPr>
              <a:spLocks noChangeArrowheads="1"/>
            </p:cNvSpPr>
            <p:nvPr/>
          </p:nvSpPr>
          <p:spPr bwMode="auto">
            <a:xfrm>
              <a:off x="4209" y="693"/>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228" name="Group 191">
              <a:extLst>
                <a:ext uri="{FF2B5EF4-FFF2-40B4-BE49-F238E27FC236}">
                  <a16:creationId xmlns:a16="http://schemas.microsoft.com/office/drawing/2014/main" id="{02DB0249-6EBB-FF4B-B17F-CC771B255D00}"/>
                </a:ext>
              </a:extLst>
            </p:cNvPr>
            <p:cNvGrpSpPr>
              <a:grpSpLocks/>
            </p:cNvGrpSpPr>
            <p:nvPr/>
          </p:nvGrpSpPr>
          <p:grpSpPr bwMode="auto">
            <a:xfrm>
              <a:off x="4749" y="668"/>
              <a:ext cx="581" cy="145"/>
              <a:chOff x="614" y="2568"/>
              <a:chExt cx="725" cy="139"/>
            </a:xfrm>
          </p:grpSpPr>
          <p:sp>
            <p:nvSpPr>
              <p:cNvPr id="253" name="AutoShape 192">
                <a:extLst>
                  <a:ext uri="{FF2B5EF4-FFF2-40B4-BE49-F238E27FC236}">
                    <a16:creationId xmlns:a16="http://schemas.microsoft.com/office/drawing/2014/main" id="{BE55370E-BC12-1B42-9E3C-C950033EEF89}"/>
                  </a:ext>
                </a:extLst>
              </p:cNvPr>
              <p:cNvSpPr>
                <a:spLocks noChangeArrowheads="1"/>
              </p:cNvSpPr>
              <p:nvPr/>
            </p:nvSpPr>
            <p:spPr bwMode="auto">
              <a:xfrm>
                <a:off x="617" y="2567"/>
                <a:ext cx="724"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54" name="AutoShape 193">
                <a:extLst>
                  <a:ext uri="{FF2B5EF4-FFF2-40B4-BE49-F238E27FC236}">
                    <a16:creationId xmlns:a16="http://schemas.microsoft.com/office/drawing/2014/main" id="{1BBB99EB-2FFB-5942-9855-24BEE1C68997}"/>
                  </a:ext>
                </a:extLst>
              </p:cNvPr>
              <p:cNvSpPr>
                <a:spLocks noChangeArrowheads="1"/>
              </p:cNvSpPr>
              <p:nvPr/>
            </p:nvSpPr>
            <p:spPr bwMode="auto">
              <a:xfrm>
                <a:off x="633" y="2582"/>
                <a:ext cx="692"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229" name="Rectangle 194">
              <a:extLst>
                <a:ext uri="{FF2B5EF4-FFF2-40B4-BE49-F238E27FC236}">
                  <a16:creationId xmlns:a16="http://schemas.microsoft.com/office/drawing/2014/main" id="{9C5699FC-2B4E-BD46-B9CC-CA578E2EA709}"/>
                </a:ext>
              </a:extLst>
            </p:cNvPr>
            <p:cNvSpPr>
              <a:spLocks noChangeArrowheads="1"/>
            </p:cNvSpPr>
            <p:nvPr/>
          </p:nvSpPr>
          <p:spPr bwMode="auto">
            <a:xfrm>
              <a:off x="4222" y="1017"/>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230" name="Group 195">
              <a:extLst>
                <a:ext uri="{FF2B5EF4-FFF2-40B4-BE49-F238E27FC236}">
                  <a16:creationId xmlns:a16="http://schemas.microsoft.com/office/drawing/2014/main" id="{676615F3-A30A-9740-8080-AFEE6BAAEF98}"/>
                </a:ext>
              </a:extLst>
            </p:cNvPr>
            <p:cNvGrpSpPr>
              <a:grpSpLocks/>
            </p:cNvGrpSpPr>
            <p:nvPr/>
          </p:nvGrpSpPr>
          <p:grpSpPr bwMode="auto">
            <a:xfrm>
              <a:off x="4747" y="994"/>
              <a:ext cx="581" cy="134"/>
              <a:chOff x="614" y="2568"/>
              <a:chExt cx="725" cy="139"/>
            </a:xfrm>
          </p:grpSpPr>
          <p:sp>
            <p:nvSpPr>
              <p:cNvPr id="251" name="AutoShape 196">
                <a:extLst>
                  <a:ext uri="{FF2B5EF4-FFF2-40B4-BE49-F238E27FC236}">
                    <a16:creationId xmlns:a16="http://schemas.microsoft.com/office/drawing/2014/main" id="{D31569A0-2CDC-3B4B-B7FA-067BF2CB0D93}"/>
                  </a:ext>
                </a:extLst>
              </p:cNvPr>
              <p:cNvSpPr>
                <a:spLocks noChangeArrowheads="1"/>
              </p:cNvSpPr>
              <p:nvPr/>
            </p:nvSpPr>
            <p:spPr bwMode="auto">
              <a:xfrm>
                <a:off x="612" y="2570"/>
                <a:ext cx="724" cy="162"/>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52" name="AutoShape 197">
                <a:extLst>
                  <a:ext uri="{FF2B5EF4-FFF2-40B4-BE49-F238E27FC236}">
                    <a16:creationId xmlns:a16="http://schemas.microsoft.com/office/drawing/2014/main" id="{5D70C5E6-3DFB-1D45-8469-DE5EA96E13E8}"/>
                  </a:ext>
                </a:extLst>
              </p:cNvPr>
              <p:cNvSpPr>
                <a:spLocks noChangeArrowheads="1"/>
              </p:cNvSpPr>
              <p:nvPr/>
            </p:nvSpPr>
            <p:spPr bwMode="auto">
              <a:xfrm>
                <a:off x="628" y="2586"/>
                <a:ext cx="692"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231" name="Rectangle 198">
              <a:extLst>
                <a:ext uri="{FF2B5EF4-FFF2-40B4-BE49-F238E27FC236}">
                  <a16:creationId xmlns:a16="http://schemas.microsoft.com/office/drawing/2014/main" id="{AE060187-10EA-1F4E-AEDE-8C6C0E8358D2}"/>
                </a:ext>
              </a:extLst>
            </p:cNvPr>
            <p:cNvSpPr>
              <a:spLocks noChangeArrowheads="1"/>
            </p:cNvSpPr>
            <p:nvPr/>
          </p:nvSpPr>
          <p:spPr bwMode="auto">
            <a:xfrm>
              <a:off x="4216" y="1357"/>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32" name="Rectangle 199">
              <a:extLst>
                <a:ext uri="{FF2B5EF4-FFF2-40B4-BE49-F238E27FC236}">
                  <a16:creationId xmlns:a16="http://schemas.microsoft.com/office/drawing/2014/main" id="{32874526-51C0-C749-BDC8-3D9F62AFE767}"/>
                </a:ext>
              </a:extLst>
            </p:cNvPr>
            <p:cNvSpPr>
              <a:spLocks noChangeArrowheads="1"/>
            </p:cNvSpPr>
            <p:nvPr/>
          </p:nvSpPr>
          <p:spPr bwMode="auto">
            <a:xfrm>
              <a:off x="4228" y="1654"/>
              <a:ext cx="593"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233" name="Group 200">
              <a:extLst>
                <a:ext uri="{FF2B5EF4-FFF2-40B4-BE49-F238E27FC236}">
                  <a16:creationId xmlns:a16="http://schemas.microsoft.com/office/drawing/2014/main" id="{09E63F43-E74F-6045-A673-3756891EE94D}"/>
                </a:ext>
              </a:extLst>
            </p:cNvPr>
            <p:cNvGrpSpPr>
              <a:grpSpLocks/>
            </p:cNvGrpSpPr>
            <p:nvPr/>
          </p:nvGrpSpPr>
          <p:grpSpPr bwMode="auto">
            <a:xfrm>
              <a:off x="4735" y="1627"/>
              <a:ext cx="582" cy="151"/>
              <a:chOff x="614" y="2568"/>
              <a:chExt cx="725" cy="139"/>
            </a:xfrm>
          </p:grpSpPr>
          <p:sp>
            <p:nvSpPr>
              <p:cNvPr id="249" name="AutoShape 201">
                <a:extLst>
                  <a:ext uri="{FF2B5EF4-FFF2-40B4-BE49-F238E27FC236}">
                    <a16:creationId xmlns:a16="http://schemas.microsoft.com/office/drawing/2014/main" id="{0296B9BB-82CD-2A45-8E56-F4ACF6FCC028}"/>
                  </a:ext>
                </a:extLst>
              </p:cNvPr>
              <p:cNvSpPr>
                <a:spLocks noChangeArrowheads="1"/>
              </p:cNvSpPr>
              <p:nvPr/>
            </p:nvSpPr>
            <p:spPr bwMode="auto">
              <a:xfrm>
                <a:off x="611" y="2568"/>
                <a:ext cx="730" cy="139"/>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50" name="AutoShape 202">
                <a:extLst>
                  <a:ext uri="{FF2B5EF4-FFF2-40B4-BE49-F238E27FC236}">
                    <a16:creationId xmlns:a16="http://schemas.microsoft.com/office/drawing/2014/main" id="{DD3C3254-A817-B449-AE0F-31BEFF504A04}"/>
                  </a:ext>
                </a:extLst>
              </p:cNvPr>
              <p:cNvSpPr>
                <a:spLocks noChangeArrowheads="1"/>
              </p:cNvSpPr>
              <p:nvPr/>
            </p:nvSpPr>
            <p:spPr bwMode="auto">
              <a:xfrm>
                <a:off x="627" y="2583"/>
                <a:ext cx="699"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234" name="Freeform 203">
              <a:extLst>
                <a:ext uri="{FF2B5EF4-FFF2-40B4-BE49-F238E27FC236}">
                  <a16:creationId xmlns:a16="http://schemas.microsoft.com/office/drawing/2014/main" id="{D05041BE-8046-EB49-A23A-C7FEB06D9108}"/>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235" name="Group 204">
              <a:extLst>
                <a:ext uri="{FF2B5EF4-FFF2-40B4-BE49-F238E27FC236}">
                  <a16:creationId xmlns:a16="http://schemas.microsoft.com/office/drawing/2014/main" id="{BD1D997D-F690-4C4E-9473-F0433427C91F}"/>
                </a:ext>
              </a:extLst>
            </p:cNvPr>
            <p:cNvGrpSpPr>
              <a:grpSpLocks/>
            </p:cNvGrpSpPr>
            <p:nvPr/>
          </p:nvGrpSpPr>
          <p:grpSpPr bwMode="auto">
            <a:xfrm>
              <a:off x="4739" y="1327"/>
              <a:ext cx="582" cy="139"/>
              <a:chOff x="614" y="2568"/>
              <a:chExt cx="725" cy="139"/>
            </a:xfrm>
          </p:grpSpPr>
          <p:sp>
            <p:nvSpPr>
              <p:cNvPr id="247" name="AutoShape 205">
                <a:extLst>
                  <a:ext uri="{FF2B5EF4-FFF2-40B4-BE49-F238E27FC236}">
                    <a16:creationId xmlns:a16="http://schemas.microsoft.com/office/drawing/2014/main" id="{631C3D3D-8F7D-6F44-AD56-665A5242B691}"/>
                  </a:ext>
                </a:extLst>
              </p:cNvPr>
              <p:cNvSpPr>
                <a:spLocks noChangeArrowheads="1"/>
              </p:cNvSpPr>
              <p:nvPr/>
            </p:nvSpPr>
            <p:spPr bwMode="auto">
              <a:xfrm>
                <a:off x="614" y="2566"/>
                <a:ext cx="723"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48" name="AutoShape 206">
                <a:extLst>
                  <a:ext uri="{FF2B5EF4-FFF2-40B4-BE49-F238E27FC236}">
                    <a16:creationId xmlns:a16="http://schemas.microsoft.com/office/drawing/2014/main" id="{E7F87D38-4528-0F45-9911-B79B599D25FC}"/>
                  </a:ext>
                </a:extLst>
              </p:cNvPr>
              <p:cNvSpPr>
                <a:spLocks noChangeArrowheads="1"/>
              </p:cNvSpPr>
              <p:nvPr/>
            </p:nvSpPr>
            <p:spPr bwMode="auto">
              <a:xfrm>
                <a:off x="630" y="2582"/>
                <a:ext cx="691"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236" name="Rectangle 207">
              <a:extLst>
                <a:ext uri="{FF2B5EF4-FFF2-40B4-BE49-F238E27FC236}">
                  <a16:creationId xmlns:a16="http://schemas.microsoft.com/office/drawing/2014/main" id="{60B24777-81BE-BC42-AC64-6F2229E5FBE5}"/>
                </a:ext>
              </a:extLst>
            </p:cNvPr>
            <p:cNvSpPr>
              <a:spLocks noChangeArrowheads="1"/>
            </p:cNvSpPr>
            <p:nvPr/>
          </p:nvSpPr>
          <p:spPr bwMode="auto">
            <a:xfrm>
              <a:off x="5250" y="429"/>
              <a:ext cx="69" cy="2288"/>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37" name="Freeform 208">
              <a:extLst>
                <a:ext uri="{FF2B5EF4-FFF2-40B4-BE49-F238E27FC236}">
                  <a16:creationId xmlns:a16="http://schemas.microsoft.com/office/drawing/2014/main" id="{FD1049FD-ADAC-FC43-A186-6585ECAE4331}"/>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38" name="Freeform 209">
              <a:extLst>
                <a:ext uri="{FF2B5EF4-FFF2-40B4-BE49-F238E27FC236}">
                  <a16:creationId xmlns:a16="http://schemas.microsoft.com/office/drawing/2014/main" id="{A25585BA-2AFC-3047-B9D5-7CC45D5DBC49}"/>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39" name="Oval 210">
              <a:extLst>
                <a:ext uri="{FF2B5EF4-FFF2-40B4-BE49-F238E27FC236}">
                  <a16:creationId xmlns:a16="http://schemas.microsoft.com/office/drawing/2014/main" id="{78C608B6-FCB9-3F43-A504-D33DD77827D8}"/>
                </a:ext>
              </a:extLst>
            </p:cNvPr>
            <p:cNvSpPr>
              <a:spLocks noChangeArrowheads="1"/>
            </p:cNvSpPr>
            <p:nvPr/>
          </p:nvSpPr>
          <p:spPr bwMode="auto">
            <a:xfrm>
              <a:off x="5515" y="2609"/>
              <a:ext cx="50" cy="97"/>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40" name="Freeform 211">
              <a:extLst>
                <a:ext uri="{FF2B5EF4-FFF2-40B4-BE49-F238E27FC236}">
                  <a16:creationId xmlns:a16="http://schemas.microsoft.com/office/drawing/2014/main" id="{F24BE4FA-86B6-5840-8B76-BF70EF006A8E}"/>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41" name="AutoShape 212">
              <a:extLst>
                <a:ext uri="{FF2B5EF4-FFF2-40B4-BE49-F238E27FC236}">
                  <a16:creationId xmlns:a16="http://schemas.microsoft.com/office/drawing/2014/main" id="{22C6B4EC-00C6-BA43-95E2-370E8204DDA3}"/>
                </a:ext>
              </a:extLst>
            </p:cNvPr>
            <p:cNvSpPr>
              <a:spLocks noChangeArrowheads="1"/>
            </p:cNvSpPr>
            <p:nvPr/>
          </p:nvSpPr>
          <p:spPr bwMode="auto">
            <a:xfrm>
              <a:off x="4140" y="2679"/>
              <a:ext cx="1198"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42" name="AutoShape 213">
              <a:extLst>
                <a:ext uri="{FF2B5EF4-FFF2-40B4-BE49-F238E27FC236}">
                  <a16:creationId xmlns:a16="http://schemas.microsoft.com/office/drawing/2014/main" id="{7B9210ED-D802-C84E-8A67-93399801B5DA}"/>
                </a:ext>
              </a:extLst>
            </p:cNvPr>
            <p:cNvSpPr>
              <a:spLocks noChangeArrowheads="1"/>
            </p:cNvSpPr>
            <p:nvPr/>
          </p:nvSpPr>
          <p:spPr bwMode="auto">
            <a:xfrm>
              <a:off x="4203" y="2712"/>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43" name="Oval 214">
              <a:extLst>
                <a:ext uri="{FF2B5EF4-FFF2-40B4-BE49-F238E27FC236}">
                  <a16:creationId xmlns:a16="http://schemas.microsoft.com/office/drawing/2014/main" id="{552E77C8-7BFE-BF4D-8F0B-DF6513BE6459}"/>
                </a:ext>
              </a:extLst>
            </p:cNvPr>
            <p:cNvSpPr>
              <a:spLocks noChangeArrowheads="1"/>
            </p:cNvSpPr>
            <p:nvPr/>
          </p:nvSpPr>
          <p:spPr bwMode="auto">
            <a:xfrm>
              <a:off x="4310" y="2382"/>
              <a:ext cx="158" cy="146"/>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44" name="Oval 215">
              <a:extLst>
                <a:ext uri="{FF2B5EF4-FFF2-40B4-BE49-F238E27FC236}">
                  <a16:creationId xmlns:a16="http://schemas.microsoft.com/office/drawing/2014/main" id="{86496A7E-E21F-444D-B883-E410329FF242}"/>
                </a:ext>
              </a:extLst>
            </p:cNvPr>
            <p:cNvSpPr>
              <a:spLocks noChangeArrowheads="1"/>
            </p:cNvSpPr>
            <p:nvPr/>
          </p:nvSpPr>
          <p:spPr bwMode="auto">
            <a:xfrm>
              <a:off x="4487" y="2382"/>
              <a:ext cx="158" cy="146"/>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FF0000"/>
                </a:solidFill>
                <a:effectLst/>
                <a:uLnTx/>
                <a:uFillTx/>
                <a:latin typeface="Arial" charset="0"/>
                <a:ea typeface="ＭＳ Ｐゴシック" charset="0"/>
                <a:cs typeface="Arial" charset="0"/>
              </a:endParaRPr>
            </a:p>
          </p:txBody>
        </p:sp>
        <p:sp>
          <p:nvSpPr>
            <p:cNvPr id="245" name="Oval 216">
              <a:extLst>
                <a:ext uri="{FF2B5EF4-FFF2-40B4-BE49-F238E27FC236}">
                  <a16:creationId xmlns:a16="http://schemas.microsoft.com/office/drawing/2014/main" id="{555E4B0D-EDB2-D04B-B9AD-93FA92DDAA2D}"/>
                </a:ext>
              </a:extLst>
            </p:cNvPr>
            <p:cNvSpPr>
              <a:spLocks noChangeArrowheads="1"/>
            </p:cNvSpPr>
            <p:nvPr/>
          </p:nvSpPr>
          <p:spPr bwMode="auto">
            <a:xfrm>
              <a:off x="4663" y="2382"/>
              <a:ext cx="158" cy="140"/>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46" name="Rectangle 217">
              <a:extLst>
                <a:ext uri="{FF2B5EF4-FFF2-40B4-BE49-F238E27FC236}">
                  <a16:creationId xmlns:a16="http://schemas.microsoft.com/office/drawing/2014/main" id="{DE659B39-E72A-634A-A2AC-C4BA4DC9C619}"/>
                </a:ext>
              </a:extLst>
            </p:cNvPr>
            <p:cNvSpPr>
              <a:spLocks noChangeArrowheads="1"/>
            </p:cNvSpPr>
            <p:nvPr/>
          </p:nvSpPr>
          <p:spPr bwMode="auto">
            <a:xfrm>
              <a:off x="5061" y="1837"/>
              <a:ext cx="88" cy="761"/>
            </a:xfrm>
            <a:prstGeom prst="rect">
              <a:avLst/>
            </a:prstGeom>
            <a:solidFill>
              <a:srgbClr val="29292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grpSp>
        <p:nvGrpSpPr>
          <p:cNvPr id="3" name="Group 2">
            <a:extLst>
              <a:ext uri="{FF2B5EF4-FFF2-40B4-BE49-F238E27FC236}">
                <a16:creationId xmlns:a16="http://schemas.microsoft.com/office/drawing/2014/main" id="{64AFD9EC-1CA1-D34D-965E-2E8D95748C38}"/>
              </a:ext>
            </a:extLst>
          </p:cNvPr>
          <p:cNvGrpSpPr/>
          <p:nvPr/>
        </p:nvGrpSpPr>
        <p:grpSpPr>
          <a:xfrm>
            <a:off x="8904147" y="2941891"/>
            <a:ext cx="1946338" cy="2912558"/>
            <a:chOff x="8091785" y="2078288"/>
            <a:chExt cx="2364905" cy="2912558"/>
          </a:xfrm>
        </p:grpSpPr>
        <p:sp>
          <p:nvSpPr>
            <p:cNvPr id="145" name="Rectangle 23">
              <a:extLst>
                <a:ext uri="{FF2B5EF4-FFF2-40B4-BE49-F238E27FC236}">
                  <a16:creationId xmlns:a16="http://schemas.microsoft.com/office/drawing/2014/main" id="{F1314FFD-BA11-A042-BA84-1061E3729058}"/>
                </a:ext>
              </a:extLst>
            </p:cNvPr>
            <p:cNvSpPr>
              <a:spLocks noChangeArrowheads="1"/>
            </p:cNvSpPr>
            <p:nvPr/>
          </p:nvSpPr>
          <p:spPr bwMode="auto">
            <a:xfrm>
              <a:off x="8179440" y="2078288"/>
              <a:ext cx="2277250" cy="2799267"/>
            </a:xfrm>
            <a:prstGeom prst="rect">
              <a:avLst/>
            </a:prstGeom>
            <a:solidFill>
              <a:srgbClr val="000099"/>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46" name="Rectangle 24">
              <a:extLst>
                <a:ext uri="{FF2B5EF4-FFF2-40B4-BE49-F238E27FC236}">
                  <a16:creationId xmlns:a16="http://schemas.microsoft.com/office/drawing/2014/main" id="{89D8A59C-E128-B74A-B94F-06FAC9DB7326}"/>
                </a:ext>
              </a:extLst>
            </p:cNvPr>
            <p:cNvSpPr>
              <a:spLocks noChangeArrowheads="1"/>
            </p:cNvSpPr>
            <p:nvPr/>
          </p:nvSpPr>
          <p:spPr bwMode="auto">
            <a:xfrm>
              <a:off x="8091785" y="2167472"/>
              <a:ext cx="2254867" cy="2823374"/>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47" name="Line 25">
              <a:extLst>
                <a:ext uri="{FF2B5EF4-FFF2-40B4-BE49-F238E27FC236}">
                  <a16:creationId xmlns:a16="http://schemas.microsoft.com/office/drawing/2014/main" id="{B922FB1F-8B1A-1843-A740-29E910EB3E97}"/>
                </a:ext>
              </a:extLst>
            </p:cNvPr>
            <p:cNvSpPr>
              <a:spLocks noChangeShapeType="1"/>
            </p:cNvSpPr>
            <p:nvPr/>
          </p:nvSpPr>
          <p:spPr bwMode="auto">
            <a:xfrm>
              <a:off x="8108956" y="2749010"/>
              <a:ext cx="2238254" cy="4821"/>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49" name="Line 27">
              <a:extLst>
                <a:ext uri="{FF2B5EF4-FFF2-40B4-BE49-F238E27FC236}">
                  <a16:creationId xmlns:a16="http://schemas.microsoft.com/office/drawing/2014/main" id="{FF1A214D-FBCE-7342-8332-F3FA9C577B4A}"/>
                </a:ext>
              </a:extLst>
            </p:cNvPr>
            <p:cNvSpPr>
              <a:spLocks noChangeShapeType="1"/>
            </p:cNvSpPr>
            <p:nvPr/>
          </p:nvSpPr>
          <p:spPr bwMode="auto">
            <a:xfrm>
              <a:off x="8108201" y="3602458"/>
              <a:ext cx="2233387"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51" name="Text Box 26">
              <a:extLst>
                <a:ext uri="{FF2B5EF4-FFF2-40B4-BE49-F238E27FC236}">
                  <a16:creationId xmlns:a16="http://schemas.microsoft.com/office/drawing/2014/main" id="{50D62C6A-4C80-854F-A4B8-723E99A5A7F0}"/>
                </a:ext>
              </a:extLst>
            </p:cNvPr>
            <p:cNvSpPr txBox="1">
              <a:spLocks noChangeArrowheads="1"/>
            </p:cNvSpPr>
            <p:nvPr/>
          </p:nvSpPr>
          <p:spPr bwMode="auto">
            <a:xfrm>
              <a:off x="8218436" y="4533100"/>
              <a:ext cx="2019294" cy="44027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physical</a:t>
              </a:r>
            </a:p>
          </p:txBody>
        </p:sp>
        <p:sp>
          <p:nvSpPr>
            <p:cNvPr id="152" name="Text Box 26">
              <a:extLst>
                <a:ext uri="{FF2B5EF4-FFF2-40B4-BE49-F238E27FC236}">
                  <a16:creationId xmlns:a16="http://schemas.microsoft.com/office/drawing/2014/main" id="{A79D3A45-C33B-7046-9088-A02FAACCA14B}"/>
                </a:ext>
              </a:extLst>
            </p:cNvPr>
            <p:cNvSpPr txBox="1">
              <a:spLocks noChangeArrowheads="1"/>
            </p:cNvSpPr>
            <p:nvPr/>
          </p:nvSpPr>
          <p:spPr bwMode="auto">
            <a:xfrm>
              <a:off x="8218436" y="4088345"/>
              <a:ext cx="2019294" cy="44027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link</a:t>
              </a:r>
            </a:p>
          </p:txBody>
        </p:sp>
        <p:sp>
          <p:nvSpPr>
            <p:cNvPr id="153" name="Text Box 26">
              <a:extLst>
                <a:ext uri="{FF2B5EF4-FFF2-40B4-BE49-F238E27FC236}">
                  <a16:creationId xmlns:a16="http://schemas.microsoft.com/office/drawing/2014/main" id="{F3520259-D4C5-3340-8000-3B8C746A7797}"/>
                </a:ext>
              </a:extLst>
            </p:cNvPr>
            <p:cNvSpPr txBox="1">
              <a:spLocks noChangeArrowheads="1"/>
            </p:cNvSpPr>
            <p:nvPr/>
          </p:nvSpPr>
          <p:spPr bwMode="auto">
            <a:xfrm>
              <a:off x="8218436" y="3646079"/>
              <a:ext cx="2019294" cy="3988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network (IP)</a:t>
              </a:r>
            </a:p>
          </p:txBody>
        </p:sp>
        <p:sp>
          <p:nvSpPr>
            <p:cNvPr id="155" name="Line 27">
              <a:extLst>
                <a:ext uri="{FF2B5EF4-FFF2-40B4-BE49-F238E27FC236}">
                  <a16:creationId xmlns:a16="http://schemas.microsoft.com/office/drawing/2014/main" id="{E1326351-38D1-A440-A7B8-5079367D54AC}"/>
                </a:ext>
              </a:extLst>
            </p:cNvPr>
            <p:cNvSpPr>
              <a:spLocks noChangeShapeType="1"/>
            </p:cNvSpPr>
            <p:nvPr/>
          </p:nvSpPr>
          <p:spPr bwMode="auto">
            <a:xfrm>
              <a:off x="8116255" y="4074895"/>
              <a:ext cx="2233388"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56" name="Line 27">
              <a:extLst>
                <a:ext uri="{FF2B5EF4-FFF2-40B4-BE49-F238E27FC236}">
                  <a16:creationId xmlns:a16="http://schemas.microsoft.com/office/drawing/2014/main" id="{891B0B5D-A14D-1A40-B291-CC1A04A094FC}"/>
                </a:ext>
              </a:extLst>
            </p:cNvPr>
            <p:cNvSpPr>
              <a:spLocks noChangeShapeType="1"/>
            </p:cNvSpPr>
            <p:nvPr/>
          </p:nvSpPr>
          <p:spPr bwMode="auto">
            <a:xfrm>
              <a:off x="8111389" y="4528049"/>
              <a:ext cx="2233388"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74" name="Text Box 26">
              <a:extLst>
                <a:ext uri="{FF2B5EF4-FFF2-40B4-BE49-F238E27FC236}">
                  <a16:creationId xmlns:a16="http://schemas.microsoft.com/office/drawing/2014/main" id="{D8A757BB-1762-8B47-A046-060F718CBC6B}"/>
                </a:ext>
              </a:extLst>
            </p:cNvPr>
            <p:cNvSpPr txBox="1">
              <a:spLocks noChangeArrowheads="1"/>
            </p:cNvSpPr>
            <p:nvPr/>
          </p:nvSpPr>
          <p:spPr bwMode="auto">
            <a:xfrm>
              <a:off x="8179440" y="2284368"/>
              <a:ext cx="2019294" cy="3988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application</a:t>
              </a:r>
            </a:p>
          </p:txBody>
        </p:sp>
      </p:grpSp>
      <p:grpSp>
        <p:nvGrpSpPr>
          <p:cNvPr id="76" name="Group 75">
            <a:extLst>
              <a:ext uri="{FF2B5EF4-FFF2-40B4-BE49-F238E27FC236}">
                <a16:creationId xmlns:a16="http://schemas.microsoft.com/office/drawing/2014/main" id="{EA5C4C69-3F64-BA46-87DE-D8D9E085DAC9}"/>
              </a:ext>
            </a:extLst>
          </p:cNvPr>
          <p:cNvGrpSpPr/>
          <p:nvPr/>
        </p:nvGrpSpPr>
        <p:grpSpPr>
          <a:xfrm>
            <a:off x="2081565" y="3031075"/>
            <a:ext cx="2131701" cy="2912558"/>
            <a:chOff x="8091785" y="2078288"/>
            <a:chExt cx="2364905" cy="2912558"/>
          </a:xfrm>
        </p:grpSpPr>
        <p:sp>
          <p:nvSpPr>
            <p:cNvPr id="77" name="Rectangle 23">
              <a:extLst>
                <a:ext uri="{FF2B5EF4-FFF2-40B4-BE49-F238E27FC236}">
                  <a16:creationId xmlns:a16="http://schemas.microsoft.com/office/drawing/2014/main" id="{12A4D2D3-BB7A-1141-97E1-1746F6AB4244}"/>
                </a:ext>
              </a:extLst>
            </p:cNvPr>
            <p:cNvSpPr>
              <a:spLocks noChangeArrowheads="1"/>
            </p:cNvSpPr>
            <p:nvPr/>
          </p:nvSpPr>
          <p:spPr bwMode="auto">
            <a:xfrm>
              <a:off x="8179440" y="2078288"/>
              <a:ext cx="2277250" cy="2799267"/>
            </a:xfrm>
            <a:prstGeom prst="rect">
              <a:avLst/>
            </a:prstGeom>
            <a:solidFill>
              <a:srgbClr val="000099"/>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78" name="Rectangle 24">
              <a:extLst>
                <a:ext uri="{FF2B5EF4-FFF2-40B4-BE49-F238E27FC236}">
                  <a16:creationId xmlns:a16="http://schemas.microsoft.com/office/drawing/2014/main" id="{CC2D939F-B2EB-B142-B2EB-F35198972B0C}"/>
                </a:ext>
              </a:extLst>
            </p:cNvPr>
            <p:cNvSpPr>
              <a:spLocks noChangeArrowheads="1"/>
            </p:cNvSpPr>
            <p:nvPr/>
          </p:nvSpPr>
          <p:spPr bwMode="auto">
            <a:xfrm>
              <a:off x="8091785" y="2167472"/>
              <a:ext cx="2254867" cy="2823374"/>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79" name="Line 25">
              <a:extLst>
                <a:ext uri="{FF2B5EF4-FFF2-40B4-BE49-F238E27FC236}">
                  <a16:creationId xmlns:a16="http://schemas.microsoft.com/office/drawing/2014/main" id="{29206320-7227-5C45-BF48-477A94FE149F}"/>
                </a:ext>
              </a:extLst>
            </p:cNvPr>
            <p:cNvSpPr>
              <a:spLocks noChangeShapeType="1"/>
            </p:cNvSpPr>
            <p:nvPr/>
          </p:nvSpPr>
          <p:spPr bwMode="auto">
            <a:xfrm>
              <a:off x="8108956" y="2749010"/>
              <a:ext cx="2238254" cy="4821"/>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1" name="Line 27">
              <a:extLst>
                <a:ext uri="{FF2B5EF4-FFF2-40B4-BE49-F238E27FC236}">
                  <a16:creationId xmlns:a16="http://schemas.microsoft.com/office/drawing/2014/main" id="{7462DAE7-AE3D-CD41-8750-E700715A5202}"/>
                </a:ext>
              </a:extLst>
            </p:cNvPr>
            <p:cNvSpPr>
              <a:spLocks noChangeShapeType="1"/>
            </p:cNvSpPr>
            <p:nvPr/>
          </p:nvSpPr>
          <p:spPr bwMode="auto">
            <a:xfrm>
              <a:off x="8121121" y="3602458"/>
              <a:ext cx="2233388"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2" name="Text Box 26">
              <a:extLst>
                <a:ext uri="{FF2B5EF4-FFF2-40B4-BE49-F238E27FC236}">
                  <a16:creationId xmlns:a16="http://schemas.microsoft.com/office/drawing/2014/main" id="{B868290D-DE89-8749-A32C-C5FCE36D7556}"/>
                </a:ext>
              </a:extLst>
            </p:cNvPr>
            <p:cNvSpPr txBox="1">
              <a:spLocks noChangeArrowheads="1"/>
            </p:cNvSpPr>
            <p:nvPr/>
          </p:nvSpPr>
          <p:spPr bwMode="auto">
            <a:xfrm>
              <a:off x="8218436" y="4533100"/>
              <a:ext cx="2019294" cy="44027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physical</a:t>
              </a:r>
            </a:p>
          </p:txBody>
        </p:sp>
        <p:sp>
          <p:nvSpPr>
            <p:cNvPr id="83" name="Text Box 26">
              <a:extLst>
                <a:ext uri="{FF2B5EF4-FFF2-40B4-BE49-F238E27FC236}">
                  <a16:creationId xmlns:a16="http://schemas.microsoft.com/office/drawing/2014/main" id="{18546DEE-76AB-C744-936A-7F4DF63895D8}"/>
                </a:ext>
              </a:extLst>
            </p:cNvPr>
            <p:cNvSpPr txBox="1">
              <a:spLocks noChangeArrowheads="1"/>
            </p:cNvSpPr>
            <p:nvPr/>
          </p:nvSpPr>
          <p:spPr bwMode="auto">
            <a:xfrm>
              <a:off x="8218436" y="4088345"/>
              <a:ext cx="2019294" cy="44027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link</a:t>
              </a:r>
            </a:p>
          </p:txBody>
        </p:sp>
        <p:sp>
          <p:nvSpPr>
            <p:cNvPr id="84" name="Text Box 26">
              <a:extLst>
                <a:ext uri="{FF2B5EF4-FFF2-40B4-BE49-F238E27FC236}">
                  <a16:creationId xmlns:a16="http://schemas.microsoft.com/office/drawing/2014/main" id="{9DE3AC7C-D9B1-ED4C-B925-37B31767739C}"/>
                </a:ext>
              </a:extLst>
            </p:cNvPr>
            <p:cNvSpPr txBox="1">
              <a:spLocks noChangeArrowheads="1"/>
            </p:cNvSpPr>
            <p:nvPr/>
          </p:nvSpPr>
          <p:spPr bwMode="auto">
            <a:xfrm>
              <a:off x="8218436" y="3646079"/>
              <a:ext cx="2019294" cy="73744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network (IP)</a:t>
              </a:r>
            </a:p>
          </p:txBody>
        </p:sp>
        <p:sp>
          <p:nvSpPr>
            <p:cNvPr id="85" name="Line 27">
              <a:extLst>
                <a:ext uri="{FF2B5EF4-FFF2-40B4-BE49-F238E27FC236}">
                  <a16:creationId xmlns:a16="http://schemas.microsoft.com/office/drawing/2014/main" id="{266E1BE0-4561-9344-ACBD-29F42E90D9F3}"/>
                </a:ext>
              </a:extLst>
            </p:cNvPr>
            <p:cNvSpPr>
              <a:spLocks noChangeShapeType="1"/>
            </p:cNvSpPr>
            <p:nvPr/>
          </p:nvSpPr>
          <p:spPr bwMode="auto">
            <a:xfrm>
              <a:off x="8116255" y="4074895"/>
              <a:ext cx="2233388"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6" name="Line 27">
              <a:extLst>
                <a:ext uri="{FF2B5EF4-FFF2-40B4-BE49-F238E27FC236}">
                  <a16:creationId xmlns:a16="http://schemas.microsoft.com/office/drawing/2014/main" id="{3ED696C7-AECF-C14F-8CD8-7153D36CBC69}"/>
                </a:ext>
              </a:extLst>
            </p:cNvPr>
            <p:cNvSpPr>
              <a:spLocks noChangeShapeType="1"/>
            </p:cNvSpPr>
            <p:nvPr/>
          </p:nvSpPr>
          <p:spPr bwMode="auto">
            <a:xfrm>
              <a:off x="8111389" y="4528049"/>
              <a:ext cx="2233388"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7" name="Text Box 26">
              <a:extLst>
                <a:ext uri="{FF2B5EF4-FFF2-40B4-BE49-F238E27FC236}">
                  <a16:creationId xmlns:a16="http://schemas.microsoft.com/office/drawing/2014/main" id="{42139D70-AB44-E047-B37E-AABECE12201B}"/>
                </a:ext>
              </a:extLst>
            </p:cNvPr>
            <p:cNvSpPr txBox="1">
              <a:spLocks noChangeArrowheads="1"/>
            </p:cNvSpPr>
            <p:nvPr/>
          </p:nvSpPr>
          <p:spPr bwMode="auto">
            <a:xfrm>
              <a:off x="8179440" y="2284368"/>
              <a:ext cx="2019294" cy="3988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application</a:t>
              </a:r>
            </a:p>
          </p:txBody>
        </p:sp>
      </p:grpSp>
      <p:sp>
        <p:nvSpPr>
          <p:cNvPr id="129" name="Text Box 26">
            <a:extLst>
              <a:ext uri="{FF2B5EF4-FFF2-40B4-BE49-F238E27FC236}">
                <a16:creationId xmlns:a16="http://schemas.microsoft.com/office/drawing/2014/main" id="{BF5BF946-F5E7-1544-AF56-E534E43CF495}"/>
              </a:ext>
            </a:extLst>
          </p:cNvPr>
          <p:cNvSpPr txBox="1">
            <a:spLocks noChangeArrowheads="1"/>
          </p:cNvSpPr>
          <p:nvPr/>
        </p:nvSpPr>
        <p:spPr bwMode="auto">
          <a:xfrm>
            <a:off x="9126322" y="3857431"/>
            <a:ext cx="1401811" cy="3988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transport</a:t>
            </a:r>
          </a:p>
        </p:txBody>
      </p:sp>
      <p:grpSp>
        <p:nvGrpSpPr>
          <p:cNvPr id="93" name="Group 92">
            <a:extLst>
              <a:ext uri="{FF2B5EF4-FFF2-40B4-BE49-F238E27FC236}">
                <a16:creationId xmlns:a16="http://schemas.microsoft.com/office/drawing/2014/main" id="{EFA7BEBF-82FA-3440-93DD-AFB07D2DDF8D}"/>
              </a:ext>
            </a:extLst>
          </p:cNvPr>
          <p:cNvGrpSpPr/>
          <p:nvPr/>
        </p:nvGrpSpPr>
        <p:grpSpPr>
          <a:xfrm>
            <a:off x="894529" y="5807183"/>
            <a:ext cx="1026523" cy="597153"/>
            <a:chOff x="7493876" y="2774731"/>
            <a:chExt cx="1481958" cy="894622"/>
          </a:xfrm>
        </p:grpSpPr>
        <p:sp>
          <p:nvSpPr>
            <p:cNvPr id="107" name="Freeform 106">
              <a:extLst>
                <a:ext uri="{FF2B5EF4-FFF2-40B4-BE49-F238E27FC236}">
                  <a16:creationId xmlns:a16="http://schemas.microsoft.com/office/drawing/2014/main" id="{FD49C136-01B9-DB45-BCCD-F4E482387145}"/>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                   </a:t>
              </a:r>
            </a:p>
          </p:txBody>
        </p:sp>
        <p:sp>
          <p:nvSpPr>
            <p:cNvPr id="108" name="Oval 107">
              <a:extLst>
                <a:ext uri="{FF2B5EF4-FFF2-40B4-BE49-F238E27FC236}">
                  <a16:creationId xmlns:a16="http://schemas.microsoft.com/office/drawing/2014/main" id="{3DF9189A-C970-C34D-8402-F20083341C95}"/>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              </a:t>
              </a:r>
            </a:p>
          </p:txBody>
        </p:sp>
        <p:grpSp>
          <p:nvGrpSpPr>
            <p:cNvPr id="109" name="Group 108">
              <a:extLst>
                <a:ext uri="{FF2B5EF4-FFF2-40B4-BE49-F238E27FC236}">
                  <a16:creationId xmlns:a16="http://schemas.microsoft.com/office/drawing/2014/main" id="{51F5139E-A5EB-E64B-B1E6-C3669AE818C6}"/>
                </a:ext>
              </a:extLst>
            </p:cNvPr>
            <p:cNvGrpSpPr/>
            <p:nvPr/>
          </p:nvGrpSpPr>
          <p:grpSpPr>
            <a:xfrm>
              <a:off x="7713663" y="2848339"/>
              <a:ext cx="1042107" cy="425543"/>
              <a:chOff x="7786941" y="2884917"/>
              <a:chExt cx="897649" cy="353919"/>
            </a:xfrm>
          </p:grpSpPr>
          <p:sp>
            <p:nvSpPr>
              <p:cNvPr id="110" name="Freeform 109">
                <a:extLst>
                  <a:ext uri="{FF2B5EF4-FFF2-40B4-BE49-F238E27FC236}">
                    <a16:creationId xmlns:a16="http://schemas.microsoft.com/office/drawing/2014/main" id="{7F7CB1D2-0FD2-A14F-A399-1C2D3650F2EA}"/>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11" name="Freeform 110">
                <a:extLst>
                  <a:ext uri="{FF2B5EF4-FFF2-40B4-BE49-F238E27FC236}">
                    <a16:creationId xmlns:a16="http://schemas.microsoft.com/office/drawing/2014/main" id="{688C61D0-9947-2E41-89C2-D2B4591C1F38}"/>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12" name="Freeform 111">
                <a:extLst>
                  <a:ext uri="{FF2B5EF4-FFF2-40B4-BE49-F238E27FC236}">
                    <a16:creationId xmlns:a16="http://schemas.microsoft.com/office/drawing/2014/main" id="{ADE46CF5-DF22-8F48-87EF-A46F29E0F1A9}"/>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13" name="Freeform 112">
                <a:extLst>
                  <a:ext uri="{FF2B5EF4-FFF2-40B4-BE49-F238E27FC236}">
                    <a16:creationId xmlns:a16="http://schemas.microsoft.com/office/drawing/2014/main" id="{CEACF782-B549-1D4E-B840-69A6AFFE6A7F}"/>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grpSp>
      </p:grpSp>
      <p:sp>
        <p:nvSpPr>
          <p:cNvPr id="114" name="Title 1">
            <a:extLst>
              <a:ext uri="{FF2B5EF4-FFF2-40B4-BE49-F238E27FC236}">
                <a16:creationId xmlns:a16="http://schemas.microsoft.com/office/drawing/2014/main" id="{1464CB5C-96D6-3645-94B5-DB9FA70972D2}"/>
              </a:ext>
            </a:extLst>
          </p:cNvPr>
          <p:cNvSpPr>
            <a:spLocks noGrp="1"/>
          </p:cNvSpPr>
          <p:nvPr>
            <p:ph type="title"/>
          </p:nvPr>
        </p:nvSpPr>
        <p:spPr>
          <a:xfrm>
            <a:off x="798690" y="289325"/>
            <a:ext cx="11100625" cy="894622"/>
          </a:xfrm>
        </p:spPr>
        <p:txBody>
          <a:bodyPr>
            <a:normAutofit/>
          </a:bodyPr>
          <a:lstStyle/>
          <a:p>
            <a:r>
              <a:rPr lang="en-US" sz="4400" dirty="0"/>
              <a:t>Transport Layer Actions</a:t>
            </a:r>
          </a:p>
        </p:txBody>
      </p:sp>
      <p:grpSp>
        <p:nvGrpSpPr>
          <p:cNvPr id="115" name="Group 149">
            <a:extLst>
              <a:ext uri="{FF2B5EF4-FFF2-40B4-BE49-F238E27FC236}">
                <a16:creationId xmlns:a16="http://schemas.microsoft.com/office/drawing/2014/main" id="{D80894D4-838A-2B47-82E9-ED060F8608E9}"/>
              </a:ext>
            </a:extLst>
          </p:cNvPr>
          <p:cNvGrpSpPr>
            <a:grpSpLocks/>
          </p:cNvGrpSpPr>
          <p:nvPr/>
        </p:nvGrpSpPr>
        <p:grpSpPr bwMode="auto">
          <a:xfrm>
            <a:off x="2856002" y="3619626"/>
            <a:ext cx="412750" cy="158750"/>
            <a:chOff x="1287" y="2524"/>
            <a:chExt cx="260" cy="100"/>
          </a:xfrm>
        </p:grpSpPr>
        <p:sp>
          <p:nvSpPr>
            <p:cNvPr id="116" name="Rectangle 73">
              <a:extLst>
                <a:ext uri="{FF2B5EF4-FFF2-40B4-BE49-F238E27FC236}">
                  <a16:creationId xmlns:a16="http://schemas.microsoft.com/office/drawing/2014/main" id="{4F7EB976-F7A9-464D-96B7-3FE5D6F41C71}"/>
                </a:ext>
              </a:extLst>
            </p:cNvPr>
            <p:cNvSpPr>
              <a:spLocks noChangeArrowheads="1"/>
            </p:cNvSpPr>
            <p:nvPr/>
          </p:nvSpPr>
          <p:spPr bwMode="auto">
            <a:xfrm>
              <a:off x="1287" y="2524"/>
              <a:ext cx="260" cy="100"/>
            </a:xfrm>
            <a:prstGeom prst="rect">
              <a:avLst/>
            </a:prstGeom>
            <a:solidFill>
              <a:srgbClr val="FFFF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17" name="Rectangle 74">
              <a:extLst>
                <a:ext uri="{FF2B5EF4-FFF2-40B4-BE49-F238E27FC236}">
                  <a16:creationId xmlns:a16="http://schemas.microsoft.com/office/drawing/2014/main" id="{4368CF72-2B59-FB4B-92FA-68E13D10F3ED}"/>
                </a:ext>
              </a:extLst>
            </p:cNvPr>
            <p:cNvSpPr>
              <a:spLocks noChangeArrowheads="1"/>
            </p:cNvSpPr>
            <p:nvPr/>
          </p:nvSpPr>
          <p:spPr bwMode="auto">
            <a:xfrm>
              <a:off x="1338" y="2537"/>
              <a:ext cx="155" cy="76"/>
            </a:xfrm>
            <a:prstGeom prst="rect">
              <a:avLst/>
            </a:prstGeom>
            <a:solidFill>
              <a:srgbClr val="FFFFFF"/>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18" name="Rectangle 75">
              <a:extLst>
                <a:ext uri="{FF2B5EF4-FFF2-40B4-BE49-F238E27FC236}">
                  <a16:creationId xmlns:a16="http://schemas.microsoft.com/office/drawing/2014/main" id="{0D0AC942-AA10-F747-BEAC-52DAFF24DAB3}"/>
                </a:ext>
              </a:extLst>
            </p:cNvPr>
            <p:cNvSpPr>
              <a:spLocks noChangeArrowheads="1"/>
            </p:cNvSpPr>
            <p:nvPr/>
          </p:nvSpPr>
          <p:spPr bwMode="auto">
            <a:xfrm>
              <a:off x="1503" y="2582"/>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19" name="Rectangle 129">
              <a:extLst>
                <a:ext uri="{FF2B5EF4-FFF2-40B4-BE49-F238E27FC236}">
                  <a16:creationId xmlns:a16="http://schemas.microsoft.com/office/drawing/2014/main" id="{C51B66A9-7495-DF44-B4DE-37BC9E90E09B}"/>
                </a:ext>
              </a:extLst>
            </p:cNvPr>
            <p:cNvSpPr>
              <a:spLocks noChangeArrowheads="1"/>
            </p:cNvSpPr>
            <p:nvPr/>
          </p:nvSpPr>
          <p:spPr bwMode="auto">
            <a:xfrm>
              <a:off x="1298" y="2583"/>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grpSp>
        <p:nvGrpSpPr>
          <p:cNvPr id="120" name="Group 149">
            <a:extLst>
              <a:ext uri="{FF2B5EF4-FFF2-40B4-BE49-F238E27FC236}">
                <a16:creationId xmlns:a16="http://schemas.microsoft.com/office/drawing/2014/main" id="{B5F38E94-4EF7-1F4B-AAC4-BF50DC083CD9}"/>
              </a:ext>
            </a:extLst>
          </p:cNvPr>
          <p:cNvGrpSpPr>
            <a:grpSpLocks/>
          </p:cNvGrpSpPr>
          <p:nvPr/>
        </p:nvGrpSpPr>
        <p:grpSpPr bwMode="auto">
          <a:xfrm>
            <a:off x="10074939" y="3537213"/>
            <a:ext cx="412750" cy="158750"/>
            <a:chOff x="1287" y="2524"/>
            <a:chExt cx="260" cy="100"/>
          </a:xfrm>
        </p:grpSpPr>
        <p:sp>
          <p:nvSpPr>
            <p:cNvPr id="121" name="Rectangle 73">
              <a:extLst>
                <a:ext uri="{FF2B5EF4-FFF2-40B4-BE49-F238E27FC236}">
                  <a16:creationId xmlns:a16="http://schemas.microsoft.com/office/drawing/2014/main" id="{71D7BEDA-E8D6-9F4F-8EE3-D5290D9AF39D}"/>
                </a:ext>
              </a:extLst>
            </p:cNvPr>
            <p:cNvSpPr>
              <a:spLocks noChangeArrowheads="1"/>
            </p:cNvSpPr>
            <p:nvPr/>
          </p:nvSpPr>
          <p:spPr bwMode="auto">
            <a:xfrm>
              <a:off x="1287" y="2524"/>
              <a:ext cx="260" cy="100"/>
            </a:xfrm>
            <a:prstGeom prst="rect">
              <a:avLst/>
            </a:prstGeom>
            <a:solidFill>
              <a:srgbClr val="FFFF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22" name="Rectangle 74">
              <a:extLst>
                <a:ext uri="{FF2B5EF4-FFF2-40B4-BE49-F238E27FC236}">
                  <a16:creationId xmlns:a16="http://schemas.microsoft.com/office/drawing/2014/main" id="{D93A8064-E5FB-2844-9B3D-C598CCB67BDD}"/>
                </a:ext>
              </a:extLst>
            </p:cNvPr>
            <p:cNvSpPr>
              <a:spLocks noChangeArrowheads="1"/>
            </p:cNvSpPr>
            <p:nvPr/>
          </p:nvSpPr>
          <p:spPr bwMode="auto">
            <a:xfrm>
              <a:off x="1338" y="2537"/>
              <a:ext cx="155" cy="76"/>
            </a:xfrm>
            <a:prstGeom prst="rect">
              <a:avLst/>
            </a:prstGeom>
            <a:solidFill>
              <a:srgbClr val="FFFFFF"/>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23" name="Rectangle 75">
              <a:extLst>
                <a:ext uri="{FF2B5EF4-FFF2-40B4-BE49-F238E27FC236}">
                  <a16:creationId xmlns:a16="http://schemas.microsoft.com/office/drawing/2014/main" id="{DF7AA994-9DC7-8349-BB16-6DED06C89AC0}"/>
                </a:ext>
              </a:extLst>
            </p:cNvPr>
            <p:cNvSpPr>
              <a:spLocks noChangeArrowheads="1"/>
            </p:cNvSpPr>
            <p:nvPr/>
          </p:nvSpPr>
          <p:spPr bwMode="auto">
            <a:xfrm>
              <a:off x="1503" y="2582"/>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24" name="Rectangle 129">
              <a:extLst>
                <a:ext uri="{FF2B5EF4-FFF2-40B4-BE49-F238E27FC236}">
                  <a16:creationId xmlns:a16="http://schemas.microsoft.com/office/drawing/2014/main" id="{06FC6EA9-9071-D843-8C39-AFF854F3BEFC}"/>
                </a:ext>
              </a:extLst>
            </p:cNvPr>
            <p:cNvSpPr>
              <a:spLocks noChangeArrowheads="1"/>
            </p:cNvSpPr>
            <p:nvPr/>
          </p:nvSpPr>
          <p:spPr bwMode="auto">
            <a:xfrm>
              <a:off x="1298" y="2583"/>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102" name="Rectangle 101">
            <a:extLst>
              <a:ext uri="{FF2B5EF4-FFF2-40B4-BE49-F238E27FC236}">
                <a16:creationId xmlns:a16="http://schemas.microsoft.com/office/drawing/2014/main" id="{6480FBEB-6DAE-6343-96A8-03D66CDE01DB}"/>
              </a:ext>
            </a:extLst>
          </p:cNvPr>
          <p:cNvSpPr/>
          <p:nvPr/>
        </p:nvSpPr>
        <p:spPr>
          <a:xfrm>
            <a:off x="8437343" y="2941890"/>
            <a:ext cx="2443011" cy="3369475"/>
          </a:xfrm>
          <a:prstGeom prst="rect">
            <a:avLst/>
          </a:prstGeom>
          <a:solidFill>
            <a:schemeClr val="bg1">
              <a:alpha val="8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31" name="Text Box 26">
            <a:extLst>
              <a:ext uri="{FF2B5EF4-FFF2-40B4-BE49-F238E27FC236}">
                <a16:creationId xmlns:a16="http://schemas.microsoft.com/office/drawing/2014/main" id="{82B22EF0-AE16-E34A-9DFF-15D46D5130BC}"/>
              </a:ext>
            </a:extLst>
          </p:cNvPr>
          <p:cNvSpPr txBox="1">
            <a:spLocks noChangeArrowheads="1"/>
          </p:cNvSpPr>
          <p:nvPr/>
        </p:nvSpPr>
        <p:spPr bwMode="auto">
          <a:xfrm>
            <a:off x="2338154" y="3950183"/>
            <a:ext cx="1535315" cy="3988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transport</a:t>
            </a:r>
          </a:p>
        </p:txBody>
      </p:sp>
      <p:sp>
        <p:nvSpPr>
          <p:cNvPr id="98" name="Rectangle 97">
            <a:extLst>
              <a:ext uri="{FF2B5EF4-FFF2-40B4-BE49-F238E27FC236}">
                <a16:creationId xmlns:a16="http://schemas.microsoft.com/office/drawing/2014/main" id="{EB709716-FAB0-AB45-BCAE-75F8CF2AEC09}"/>
              </a:ext>
            </a:extLst>
          </p:cNvPr>
          <p:cNvSpPr/>
          <p:nvPr/>
        </p:nvSpPr>
        <p:spPr>
          <a:xfrm>
            <a:off x="818804" y="2054989"/>
            <a:ext cx="3666301" cy="4459905"/>
          </a:xfrm>
          <a:prstGeom prst="rect">
            <a:avLst/>
          </a:prstGeom>
          <a:solidFill>
            <a:schemeClr val="bg1">
              <a:alpha val="8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grpSp>
        <p:nvGrpSpPr>
          <p:cNvPr id="184" name="Group 149">
            <a:extLst>
              <a:ext uri="{FF2B5EF4-FFF2-40B4-BE49-F238E27FC236}">
                <a16:creationId xmlns:a16="http://schemas.microsoft.com/office/drawing/2014/main" id="{63E54651-4A95-3749-9095-CA7015203D88}"/>
              </a:ext>
            </a:extLst>
          </p:cNvPr>
          <p:cNvGrpSpPr>
            <a:grpSpLocks/>
          </p:cNvGrpSpPr>
          <p:nvPr/>
        </p:nvGrpSpPr>
        <p:grpSpPr bwMode="auto">
          <a:xfrm>
            <a:off x="2856002" y="3619626"/>
            <a:ext cx="412750" cy="158750"/>
            <a:chOff x="1287" y="2524"/>
            <a:chExt cx="260" cy="100"/>
          </a:xfrm>
        </p:grpSpPr>
        <p:sp>
          <p:nvSpPr>
            <p:cNvPr id="185" name="Rectangle 73">
              <a:extLst>
                <a:ext uri="{FF2B5EF4-FFF2-40B4-BE49-F238E27FC236}">
                  <a16:creationId xmlns:a16="http://schemas.microsoft.com/office/drawing/2014/main" id="{280DAB38-0E9E-F34F-8F9A-9367D3F327F8}"/>
                </a:ext>
              </a:extLst>
            </p:cNvPr>
            <p:cNvSpPr>
              <a:spLocks noChangeArrowheads="1"/>
            </p:cNvSpPr>
            <p:nvPr/>
          </p:nvSpPr>
          <p:spPr bwMode="auto">
            <a:xfrm>
              <a:off x="1287" y="2524"/>
              <a:ext cx="260" cy="100"/>
            </a:xfrm>
            <a:prstGeom prst="rect">
              <a:avLst/>
            </a:prstGeom>
            <a:solidFill>
              <a:srgbClr val="FFFF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86" name="Rectangle 74">
              <a:extLst>
                <a:ext uri="{FF2B5EF4-FFF2-40B4-BE49-F238E27FC236}">
                  <a16:creationId xmlns:a16="http://schemas.microsoft.com/office/drawing/2014/main" id="{B4B3D106-96DD-1043-A6B0-160355FE6132}"/>
                </a:ext>
              </a:extLst>
            </p:cNvPr>
            <p:cNvSpPr>
              <a:spLocks noChangeArrowheads="1"/>
            </p:cNvSpPr>
            <p:nvPr/>
          </p:nvSpPr>
          <p:spPr bwMode="auto">
            <a:xfrm>
              <a:off x="1338" y="2537"/>
              <a:ext cx="155" cy="76"/>
            </a:xfrm>
            <a:prstGeom prst="rect">
              <a:avLst/>
            </a:prstGeom>
            <a:solidFill>
              <a:srgbClr val="FFFFFF"/>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87" name="Rectangle 75">
              <a:extLst>
                <a:ext uri="{FF2B5EF4-FFF2-40B4-BE49-F238E27FC236}">
                  <a16:creationId xmlns:a16="http://schemas.microsoft.com/office/drawing/2014/main" id="{C5BB7FFA-9E81-524A-AFF4-0278B5CB8669}"/>
                </a:ext>
              </a:extLst>
            </p:cNvPr>
            <p:cNvSpPr>
              <a:spLocks noChangeArrowheads="1"/>
            </p:cNvSpPr>
            <p:nvPr/>
          </p:nvSpPr>
          <p:spPr bwMode="auto">
            <a:xfrm>
              <a:off x="1503" y="2582"/>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88" name="Rectangle 129">
              <a:extLst>
                <a:ext uri="{FF2B5EF4-FFF2-40B4-BE49-F238E27FC236}">
                  <a16:creationId xmlns:a16="http://schemas.microsoft.com/office/drawing/2014/main" id="{25DAD60B-59D9-D343-8677-62E63FE488CE}"/>
                </a:ext>
              </a:extLst>
            </p:cNvPr>
            <p:cNvSpPr>
              <a:spLocks noChangeArrowheads="1"/>
            </p:cNvSpPr>
            <p:nvPr/>
          </p:nvSpPr>
          <p:spPr bwMode="auto">
            <a:xfrm>
              <a:off x="1298" y="2583"/>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189" name="TextBox 188">
            <a:extLst>
              <a:ext uri="{FF2B5EF4-FFF2-40B4-BE49-F238E27FC236}">
                <a16:creationId xmlns:a16="http://schemas.microsoft.com/office/drawing/2014/main" id="{5F1D59D2-8EB3-004A-9300-4BC4758C645B}"/>
              </a:ext>
            </a:extLst>
          </p:cNvPr>
          <p:cNvSpPr txBox="1"/>
          <p:nvPr/>
        </p:nvSpPr>
        <p:spPr>
          <a:xfrm>
            <a:off x="4606272" y="2694304"/>
            <a:ext cx="3898344"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Receiver:</a:t>
            </a:r>
          </a:p>
          <a:p>
            <a:pPr marL="285750" marR="0" lvl="0" indent="-219075" algn="l" defTabSz="914400" rtl="0" eaLnBrk="1" fontAlgn="auto" latinLnBrk="0" hangingPunct="1">
              <a:lnSpc>
                <a:spcPct val="100000"/>
              </a:lnSpc>
              <a:spcBef>
                <a:spcPts val="0"/>
              </a:spcBef>
              <a:spcAft>
                <a:spcPts val="0"/>
              </a:spcAft>
              <a:buClr>
                <a:srgbClr val="0200A3"/>
              </a:buClr>
              <a:buSzTx/>
              <a:buFont typeface="Wingdings" pitchFamily="2" charset="2"/>
              <a:buChar char="§"/>
              <a:tabLst/>
              <a:defRPr/>
            </a:pPr>
            <a:endParaRPr kumimoji="0" lang="en-US" sz="2000" b="0" i="0" u="none" strike="noStrike" kern="1200" cap="none" spc="0" normalizeH="0" baseline="0" noProof="0" dirty="0">
              <a:ln>
                <a:noFill/>
              </a:ln>
              <a:solidFill>
                <a:prstClr val="black"/>
              </a:solidFill>
              <a:effectLst/>
              <a:uLnTx/>
              <a:uFillTx/>
              <a:latin typeface="Calibri"/>
              <a:ea typeface="+mn-ea"/>
              <a:cs typeface="+mn-cs"/>
            </a:endParaRPr>
          </a:p>
        </p:txBody>
      </p:sp>
      <p:grpSp>
        <p:nvGrpSpPr>
          <p:cNvPr id="190" name="Group 189">
            <a:extLst>
              <a:ext uri="{FF2B5EF4-FFF2-40B4-BE49-F238E27FC236}">
                <a16:creationId xmlns:a16="http://schemas.microsoft.com/office/drawing/2014/main" id="{0695A34D-8B86-1543-9A29-0310FB2B9383}"/>
              </a:ext>
            </a:extLst>
          </p:cNvPr>
          <p:cNvGrpSpPr/>
          <p:nvPr/>
        </p:nvGrpSpPr>
        <p:grpSpPr>
          <a:xfrm>
            <a:off x="2749489" y="3952462"/>
            <a:ext cx="1259074" cy="369332"/>
            <a:chOff x="8934916" y="2775692"/>
            <a:chExt cx="1259074" cy="369332"/>
          </a:xfrm>
        </p:grpSpPr>
        <p:sp>
          <p:nvSpPr>
            <p:cNvPr id="191" name="Rectangle 190">
              <a:extLst>
                <a:ext uri="{FF2B5EF4-FFF2-40B4-BE49-F238E27FC236}">
                  <a16:creationId xmlns:a16="http://schemas.microsoft.com/office/drawing/2014/main" id="{91656D58-2006-444D-9DF3-929C2C3A9462}"/>
                </a:ext>
              </a:extLst>
            </p:cNvPr>
            <p:cNvSpPr/>
            <p:nvPr/>
          </p:nvSpPr>
          <p:spPr>
            <a:xfrm>
              <a:off x="8964931" y="2842303"/>
              <a:ext cx="1140727" cy="246705"/>
            </a:xfrm>
            <a:prstGeom prst="rect">
              <a:avLst/>
            </a:prstGeom>
            <a:solidFill>
              <a:schemeClr val="bg1"/>
            </a:solid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92" name="TextBox 191">
              <a:extLst>
                <a:ext uri="{FF2B5EF4-FFF2-40B4-BE49-F238E27FC236}">
                  <a16:creationId xmlns:a16="http://schemas.microsoft.com/office/drawing/2014/main" id="{EEC242EC-76E3-8842-966A-909D1964B0B8}"/>
                </a:ext>
              </a:extLst>
            </p:cNvPr>
            <p:cNvSpPr txBox="1"/>
            <p:nvPr/>
          </p:nvSpPr>
          <p:spPr>
            <a:xfrm>
              <a:off x="8934916" y="2775692"/>
              <a:ext cx="1259074"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app.  msg</a:t>
              </a:r>
            </a:p>
          </p:txBody>
        </p:sp>
      </p:grpSp>
      <p:sp>
        <p:nvSpPr>
          <p:cNvPr id="193" name="TextBox 192">
            <a:extLst>
              <a:ext uri="{FF2B5EF4-FFF2-40B4-BE49-F238E27FC236}">
                <a16:creationId xmlns:a16="http://schemas.microsoft.com/office/drawing/2014/main" id="{146FAE95-BF64-744E-B6D7-85AE3120C980}"/>
              </a:ext>
            </a:extLst>
          </p:cNvPr>
          <p:cNvSpPr txBox="1"/>
          <p:nvPr/>
        </p:nvSpPr>
        <p:spPr>
          <a:xfrm>
            <a:off x="4784836" y="3989512"/>
            <a:ext cx="3825456" cy="722955"/>
          </a:xfrm>
          <a:prstGeom prst="rect">
            <a:avLst/>
          </a:prstGeom>
          <a:noFill/>
        </p:spPr>
        <p:txBody>
          <a:bodyPr wrap="square" rtlCol="0">
            <a:spAutoFit/>
          </a:bodyPr>
          <a:lstStyle/>
          <a:p>
            <a:pPr marL="409575" marR="0" lvl="0" indent="-342900" algn="l" defTabSz="914400" rtl="0" eaLnBrk="1" fontAlgn="auto" latinLnBrk="0" hangingPunct="1">
              <a:lnSpc>
                <a:spcPct val="85000"/>
              </a:lnSpc>
              <a:spcBef>
                <a:spcPts val="0"/>
              </a:spcBef>
              <a:spcAft>
                <a:spcPts val="0"/>
              </a:spcAft>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extracts application-layer message</a:t>
            </a:r>
          </a:p>
        </p:txBody>
      </p:sp>
      <p:sp>
        <p:nvSpPr>
          <p:cNvPr id="194" name="TextBox 193">
            <a:extLst>
              <a:ext uri="{FF2B5EF4-FFF2-40B4-BE49-F238E27FC236}">
                <a16:creationId xmlns:a16="http://schemas.microsoft.com/office/drawing/2014/main" id="{1845376D-0F8D-7E40-9089-6FAE4370FEA0}"/>
              </a:ext>
            </a:extLst>
          </p:cNvPr>
          <p:cNvSpPr txBox="1"/>
          <p:nvPr/>
        </p:nvSpPr>
        <p:spPr>
          <a:xfrm>
            <a:off x="4782898" y="3598026"/>
            <a:ext cx="3825456" cy="409023"/>
          </a:xfrm>
          <a:prstGeom prst="rect">
            <a:avLst/>
          </a:prstGeom>
          <a:noFill/>
        </p:spPr>
        <p:txBody>
          <a:bodyPr wrap="square" rtlCol="0">
            <a:spAutoFit/>
          </a:bodyPr>
          <a:lstStyle/>
          <a:p>
            <a:pPr marL="409575" marR="0" lvl="0" indent="-342900" algn="l" defTabSz="914400" rtl="0" eaLnBrk="1" fontAlgn="auto" latinLnBrk="0" hangingPunct="1">
              <a:lnSpc>
                <a:spcPct val="85000"/>
              </a:lnSpc>
              <a:spcBef>
                <a:spcPts val="0"/>
              </a:spcBef>
              <a:spcAft>
                <a:spcPts val="0"/>
              </a:spcAft>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checks header values</a:t>
            </a:r>
          </a:p>
        </p:txBody>
      </p:sp>
      <p:sp>
        <p:nvSpPr>
          <p:cNvPr id="195" name="TextBox 194">
            <a:extLst>
              <a:ext uri="{FF2B5EF4-FFF2-40B4-BE49-F238E27FC236}">
                <a16:creationId xmlns:a16="http://schemas.microsoft.com/office/drawing/2014/main" id="{9BFC24B6-C127-6F4C-BCDC-A8E792032914}"/>
              </a:ext>
            </a:extLst>
          </p:cNvPr>
          <p:cNvSpPr txBox="1"/>
          <p:nvPr/>
        </p:nvSpPr>
        <p:spPr>
          <a:xfrm>
            <a:off x="4781898" y="3141733"/>
            <a:ext cx="3825456" cy="461665"/>
          </a:xfrm>
          <a:prstGeom prst="rect">
            <a:avLst/>
          </a:prstGeom>
          <a:noFill/>
        </p:spPr>
        <p:txBody>
          <a:bodyPr wrap="square" rtlCol="0">
            <a:spAutoFit/>
          </a:bodyPr>
          <a:lstStyle/>
          <a:p>
            <a:pPr marL="409575" marR="0" lvl="0" indent="-342900" algn="l" defTabSz="914400" rtl="0" eaLnBrk="1" fontAlgn="auto" latinLnBrk="0" hangingPunct="1">
              <a:lnSpc>
                <a:spcPct val="100000"/>
              </a:lnSpc>
              <a:spcBef>
                <a:spcPts val="0"/>
              </a:spcBef>
              <a:spcAft>
                <a:spcPts val="0"/>
              </a:spcAft>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receives segment from IP</a:t>
            </a:r>
          </a:p>
        </p:txBody>
      </p:sp>
      <p:grpSp>
        <p:nvGrpSpPr>
          <p:cNvPr id="196" name="Group 195">
            <a:extLst>
              <a:ext uri="{FF2B5EF4-FFF2-40B4-BE49-F238E27FC236}">
                <a16:creationId xmlns:a16="http://schemas.microsoft.com/office/drawing/2014/main" id="{48B83E4F-9A85-E449-9928-9D59A14EC074}"/>
              </a:ext>
            </a:extLst>
          </p:cNvPr>
          <p:cNvGrpSpPr/>
          <p:nvPr/>
        </p:nvGrpSpPr>
        <p:grpSpPr>
          <a:xfrm>
            <a:off x="2139532" y="5678551"/>
            <a:ext cx="1818022" cy="369332"/>
            <a:chOff x="7863122" y="5632673"/>
            <a:chExt cx="1818022" cy="369332"/>
          </a:xfrm>
        </p:grpSpPr>
        <p:grpSp>
          <p:nvGrpSpPr>
            <p:cNvPr id="197" name="Group 196">
              <a:extLst>
                <a:ext uri="{FF2B5EF4-FFF2-40B4-BE49-F238E27FC236}">
                  <a16:creationId xmlns:a16="http://schemas.microsoft.com/office/drawing/2014/main" id="{FD92661A-D54F-D249-95ED-0FF27E685E68}"/>
                </a:ext>
              </a:extLst>
            </p:cNvPr>
            <p:cNvGrpSpPr/>
            <p:nvPr/>
          </p:nvGrpSpPr>
          <p:grpSpPr>
            <a:xfrm>
              <a:off x="7863122" y="5638955"/>
              <a:ext cx="1259074" cy="338554"/>
              <a:chOff x="8964789" y="2648929"/>
              <a:chExt cx="1259074" cy="338554"/>
            </a:xfrm>
          </p:grpSpPr>
          <p:sp>
            <p:nvSpPr>
              <p:cNvPr id="201" name="Rectangle 200">
                <a:extLst>
                  <a:ext uri="{FF2B5EF4-FFF2-40B4-BE49-F238E27FC236}">
                    <a16:creationId xmlns:a16="http://schemas.microsoft.com/office/drawing/2014/main" id="{9FB9B2F8-7A2C-4D4A-9815-0AC06BE1D516}"/>
                  </a:ext>
                </a:extLst>
              </p:cNvPr>
              <p:cNvSpPr/>
              <p:nvPr/>
            </p:nvSpPr>
            <p:spPr>
              <a:xfrm>
                <a:off x="9032744" y="2707400"/>
                <a:ext cx="543189" cy="246705"/>
              </a:xfrm>
              <a:prstGeom prst="rect">
                <a:avLst/>
              </a:prstGeom>
              <a:solidFill>
                <a:schemeClr val="bg1"/>
              </a:solid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02" name="TextBox 201">
                <a:extLst>
                  <a:ext uri="{FF2B5EF4-FFF2-40B4-BE49-F238E27FC236}">
                    <a16:creationId xmlns:a16="http://schemas.microsoft.com/office/drawing/2014/main" id="{1C19CB13-59AD-3E40-AC4C-CF25CFC27E46}"/>
                  </a:ext>
                </a:extLst>
              </p:cNvPr>
              <p:cNvSpPr txBox="1"/>
              <p:nvPr/>
            </p:nvSpPr>
            <p:spPr>
              <a:xfrm>
                <a:off x="8964789" y="2648929"/>
                <a:ext cx="1259074"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   T</a:t>
                </a:r>
                <a:r>
                  <a:rPr kumimoji="0" lang="en-US" sz="1600" b="0" i="0" u="none" strike="noStrike" kern="1200" cap="none" spc="0" normalizeH="0" baseline="-25000" noProof="0" dirty="0">
                    <a:ln>
                      <a:noFill/>
                    </a:ln>
                    <a:solidFill>
                      <a:prstClr val="black"/>
                    </a:solidFill>
                    <a:effectLst/>
                    <a:uLnTx/>
                    <a:uFillTx/>
                    <a:latin typeface="Calibri"/>
                    <a:ea typeface="+mn-ea"/>
                    <a:cs typeface="+mn-cs"/>
                  </a:rPr>
                  <a:t>h</a:t>
                </a:r>
              </a:p>
            </p:txBody>
          </p:sp>
        </p:grpSp>
        <p:grpSp>
          <p:nvGrpSpPr>
            <p:cNvPr id="198" name="Group 197">
              <a:extLst>
                <a:ext uri="{FF2B5EF4-FFF2-40B4-BE49-F238E27FC236}">
                  <a16:creationId xmlns:a16="http://schemas.microsoft.com/office/drawing/2014/main" id="{69964EF5-DAF4-5A49-B8EB-E8A5D01CEAE7}"/>
                </a:ext>
              </a:extLst>
            </p:cNvPr>
            <p:cNvGrpSpPr/>
            <p:nvPr/>
          </p:nvGrpSpPr>
          <p:grpSpPr>
            <a:xfrm>
              <a:off x="8422070" y="5632673"/>
              <a:ext cx="1259074" cy="369332"/>
              <a:chOff x="8934916" y="2778923"/>
              <a:chExt cx="1259074" cy="369332"/>
            </a:xfrm>
          </p:grpSpPr>
          <p:sp>
            <p:nvSpPr>
              <p:cNvPr id="199" name="Rectangle 198">
                <a:extLst>
                  <a:ext uri="{FF2B5EF4-FFF2-40B4-BE49-F238E27FC236}">
                    <a16:creationId xmlns:a16="http://schemas.microsoft.com/office/drawing/2014/main" id="{1663F7BA-0DF3-D94B-9C74-3E86A6732DD0}"/>
                  </a:ext>
                </a:extLst>
              </p:cNvPr>
              <p:cNvSpPr/>
              <p:nvPr/>
            </p:nvSpPr>
            <p:spPr>
              <a:xfrm>
                <a:off x="8964931" y="2842303"/>
                <a:ext cx="1140727" cy="246705"/>
              </a:xfrm>
              <a:prstGeom prst="rect">
                <a:avLst/>
              </a:prstGeom>
              <a:solidFill>
                <a:schemeClr val="bg1"/>
              </a:solid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00" name="TextBox 199">
                <a:extLst>
                  <a:ext uri="{FF2B5EF4-FFF2-40B4-BE49-F238E27FC236}">
                    <a16:creationId xmlns:a16="http://schemas.microsoft.com/office/drawing/2014/main" id="{9FB939F0-C8E1-9645-8997-AFBC0BF0005F}"/>
                  </a:ext>
                </a:extLst>
              </p:cNvPr>
              <p:cNvSpPr txBox="1"/>
              <p:nvPr/>
            </p:nvSpPr>
            <p:spPr>
              <a:xfrm>
                <a:off x="8934916" y="2778923"/>
                <a:ext cx="1259074"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app. msg</a:t>
                </a:r>
              </a:p>
            </p:txBody>
          </p:sp>
        </p:grpSp>
      </p:grpSp>
      <p:sp>
        <p:nvSpPr>
          <p:cNvPr id="203" name="TextBox 202">
            <a:extLst>
              <a:ext uri="{FF2B5EF4-FFF2-40B4-BE49-F238E27FC236}">
                <a16:creationId xmlns:a16="http://schemas.microsoft.com/office/drawing/2014/main" id="{192B5ECF-BCF6-FB4F-96CB-B48F1BD83E0B}"/>
              </a:ext>
            </a:extLst>
          </p:cNvPr>
          <p:cNvSpPr txBox="1"/>
          <p:nvPr/>
        </p:nvSpPr>
        <p:spPr>
          <a:xfrm>
            <a:off x="4789657" y="4673332"/>
            <a:ext cx="3825456" cy="1036887"/>
          </a:xfrm>
          <a:prstGeom prst="rect">
            <a:avLst/>
          </a:prstGeom>
          <a:noFill/>
        </p:spPr>
        <p:txBody>
          <a:bodyPr wrap="square" rtlCol="0">
            <a:spAutoFit/>
          </a:bodyPr>
          <a:lstStyle/>
          <a:p>
            <a:pPr marL="409575" marR="0" lvl="0" indent="-342900" algn="l" defTabSz="914400" rtl="0" eaLnBrk="1" fontAlgn="auto" latinLnBrk="0" hangingPunct="1">
              <a:lnSpc>
                <a:spcPct val="85000"/>
              </a:lnSpc>
              <a:spcBef>
                <a:spcPts val="0"/>
              </a:spcBef>
              <a:spcAft>
                <a:spcPts val="0"/>
              </a:spcAft>
              <a:buSzTx/>
              <a:buFont typeface="Arial" panose="020B0604020202020204" pitchFamily="34" charset="0"/>
              <a:buChar char="•"/>
              <a:tabLst/>
              <a:defRPr/>
            </a:pPr>
            <a:r>
              <a:rPr kumimoji="0" lang="en-US" sz="2400" b="0" i="0" u="none" strike="noStrike" kern="1200" cap="none" spc="0" normalizeH="0" baseline="0" noProof="0" dirty="0">
                <a:ln>
                  <a:noFill/>
                </a:ln>
                <a:solidFill>
                  <a:srgbClr val="C00000"/>
                </a:solidFill>
                <a:effectLst/>
                <a:uLnTx/>
                <a:uFillTx/>
                <a:latin typeface="Calibri"/>
                <a:ea typeface="+mn-ea"/>
                <a:cs typeface="+mn-cs"/>
              </a:rPr>
              <a:t>demultiplexes</a:t>
            </a:r>
            <a:r>
              <a:rPr kumimoji="0" lang="en-US" sz="2400" b="0" i="0" u="none" strike="noStrike" kern="1200" cap="none" spc="0" normalizeH="0" baseline="0" noProof="0" dirty="0">
                <a:ln>
                  <a:noFill/>
                </a:ln>
                <a:solidFill>
                  <a:prstClr val="black"/>
                </a:solidFill>
                <a:effectLst/>
                <a:uLnTx/>
                <a:uFillTx/>
                <a:latin typeface="Calibri"/>
                <a:ea typeface="+mn-ea"/>
                <a:cs typeface="+mn-cs"/>
              </a:rPr>
              <a:t> message up to application via socket</a:t>
            </a:r>
          </a:p>
        </p:txBody>
      </p:sp>
      <p:sp>
        <p:nvSpPr>
          <p:cNvPr id="204" name="Oval 203">
            <a:extLst>
              <a:ext uri="{FF2B5EF4-FFF2-40B4-BE49-F238E27FC236}">
                <a16:creationId xmlns:a16="http://schemas.microsoft.com/office/drawing/2014/main" id="{6282913C-E44E-4C40-ADB1-A9BB2BFBFFD7}"/>
              </a:ext>
            </a:extLst>
          </p:cNvPr>
          <p:cNvSpPr/>
          <p:nvPr/>
        </p:nvSpPr>
        <p:spPr>
          <a:xfrm>
            <a:off x="2135162" y="3852764"/>
            <a:ext cx="763166" cy="541031"/>
          </a:xfrm>
          <a:prstGeom prst="ellipse">
            <a:avLst/>
          </a:prstGeom>
          <a:noFill/>
          <a:ln w="25400">
            <a:solidFill>
              <a:srgbClr val="CD000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4" name="Rectangle 3">
            <a:extLst>
              <a:ext uri="{FF2B5EF4-FFF2-40B4-BE49-F238E27FC236}">
                <a16:creationId xmlns:a16="http://schemas.microsoft.com/office/drawing/2014/main" id="{6FB13DFB-F1DF-8C2B-303B-DFCE5592F564}"/>
              </a:ext>
            </a:extLst>
          </p:cNvPr>
          <p:cNvSpPr txBox="1">
            <a:spLocks noChangeArrowheads="1"/>
          </p:cNvSpPr>
          <p:nvPr/>
        </p:nvSpPr>
        <p:spPr>
          <a:xfrm>
            <a:off x="465848" y="1108655"/>
            <a:ext cx="11260304" cy="136169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30175" marR="0" lvl="0" indent="0" algn="l" defTabSz="914400" rtl="0" eaLnBrk="1" fontAlgn="auto" latinLnBrk="0" hangingPunct="1">
              <a:lnSpc>
                <a:spcPct val="90000"/>
              </a:lnSpc>
              <a:spcBef>
                <a:spcPts val="1000"/>
              </a:spcBef>
              <a:spcAft>
                <a:spcPts val="0"/>
              </a:spcAft>
              <a:buClr>
                <a:srgbClr val="0000A3"/>
              </a:buClr>
              <a:buSzTx/>
              <a:buNone/>
              <a:tabLst/>
              <a:defRPr/>
            </a:pPr>
            <a:r>
              <a:rPr kumimoji="0" lang="en-US" altLang="zh-CN" sz="2800" b="0" i="0" u="none" strike="noStrike" kern="1200" cap="none" spc="0" normalizeH="0" baseline="0" noProof="0" dirty="0">
                <a:ln>
                  <a:noFill/>
                </a:ln>
                <a:solidFill>
                  <a:prstClr val="black"/>
                </a:solidFill>
                <a:effectLst/>
                <a:uLnTx/>
                <a:uFillTx/>
                <a:latin typeface="Calibri" panose="020F0502020204030204"/>
                <a:ea typeface="+mn-ea"/>
                <a:cs typeface="+mn-cs"/>
              </a:rPr>
              <a:t>T</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ransport protocols actions in end systems:</a:t>
            </a:r>
          </a:p>
          <a:p>
            <a:pPr marL="695325" marR="0" lvl="1" indent="-231775" algn="l" defTabSz="914400" rtl="0" eaLnBrk="1" fontAlgn="auto" latinLnBrk="0" hangingPunct="1">
              <a:lnSpc>
                <a:spcPct val="90000"/>
              </a:lnSpc>
              <a:spcBef>
                <a:spcPts val="500"/>
              </a:spcBef>
              <a:spcAft>
                <a:spcPts val="0"/>
              </a:spcAft>
              <a:buClrTx/>
              <a:buSzTx/>
              <a:buFont typeface="Arial"/>
              <a:buChar char="•"/>
              <a:tabLst/>
              <a:defRPr/>
            </a:pPr>
            <a:r>
              <a:rPr kumimoji="0" lang="en-US" altLang="zh-CN" sz="2400" b="0" i="0" u="none" strike="noStrike" kern="1200" cap="none" spc="0" normalizeH="0" baseline="0" noProof="0" dirty="0">
                <a:ln>
                  <a:noFill/>
                </a:ln>
                <a:solidFill>
                  <a:prstClr val="black"/>
                </a:solidFill>
                <a:effectLst/>
                <a:uLnTx/>
                <a:uFillTx/>
                <a:latin typeface="Calibri" panose="020F0502020204030204"/>
                <a:ea typeface="+mn-ea"/>
                <a:cs typeface="+mn-cs"/>
              </a:rPr>
              <a:t>S</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ender: breaks application messages into </a:t>
            </a:r>
            <a:r>
              <a:rPr kumimoji="0" lang="en-US" sz="2400" b="0" i="1" u="none" strike="noStrike" kern="1200" cap="none" spc="0" normalizeH="0" baseline="0" noProof="0" dirty="0">
                <a:ln>
                  <a:noFill/>
                </a:ln>
                <a:solidFill>
                  <a:srgbClr val="CC0000"/>
                </a:solidFill>
                <a:effectLst/>
                <a:uLnTx/>
                <a:uFillTx/>
                <a:latin typeface="Calibri" panose="020F0502020204030204"/>
                <a:ea typeface="+mn-ea"/>
                <a:cs typeface="+mn-cs"/>
              </a:rPr>
              <a:t>segments</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passes to  network layer</a:t>
            </a:r>
          </a:p>
          <a:p>
            <a:pPr marL="695325" marR="0" lvl="1" indent="-231775"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Receiver: reassembles segments into messages, passes to application layer</a:t>
            </a:r>
          </a:p>
        </p:txBody>
      </p:sp>
    </p:spTree>
    <p:extLst>
      <p:ext uri="{BB962C8B-B14F-4D97-AF65-F5344CB8AC3E}">
        <p14:creationId xmlns:p14="http://schemas.microsoft.com/office/powerpoint/2010/main" val="33705080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4.79167E-6 2.96296E-6 L 0.00039 -0.24931 " pathEditMode="relative" rAng="0" ptsTypes="AA">
                                      <p:cBhvr>
                                        <p:cTn id="6" dur="2000" fill="hold"/>
                                        <p:tgtEl>
                                          <p:spTgt spid="196"/>
                                        </p:tgtEl>
                                        <p:attrNameLst>
                                          <p:attrName>ppt_x</p:attrName>
                                          <p:attrName>ppt_y</p:attrName>
                                        </p:attrNameLst>
                                      </p:cBhvr>
                                      <p:rCtr x="443" y="-12870"/>
                                    </p:animMotion>
                                  </p:childTnLst>
                                </p:cTn>
                              </p:par>
                              <p:par>
                                <p:cTn id="7" presetID="9" presetClass="entr" presetSubtype="0" fill="hold" grpId="0" nodeType="withEffect">
                                  <p:stCondLst>
                                    <p:cond delay="0"/>
                                  </p:stCondLst>
                                  <p:childTnLst>
                                    <p:set>
                                      <p:cBhvr>
                                        <p:cTn id="8" dur="1" fill="hold">
                                          <p:stCondLst>
                                            <p:cond delay="0"/>
                                          </p:stCondLst>
                                        </p:cTn>
                                        <p:tgtEl>
                                          <p:spTgt spid="195"/>
                                        </p:tgtEl>
                                        <p:attrNameLst>
                                          <p:attrName>style.visibility</p:attrName>
                                        </p:attrNameLst>
                                      </p:cBhvr>
                                      <p:to>
                                        <p:strVal val="visible"/>
                                      </p:to>
                                    </p:set>
                                    <p:animEffect transition="in" filter="dissolve">
                                      <p:cBhvr>
                                        <p:cTn id="9" dur="500"/>
                                        <p:tgtEl>
                                          <p:spTgt spid="195"/>
                                        </p:tgtEl>
                                      </p:cBhvr>
                                    </p:animEffect>
                                  </p:childTnLst>
                                </p:cTn>
                              </p:par>
                            </p:childTnLst>
                          </p:cTn>
                        </p:par>
                      </p:childTnLst>
                    </p:cTn>
                  </p:par>
                  <p:par>
                    <p:cTn id="10" fill="hold">
                      <p:stCondLst>
                        <p:cond delay="indefinite"/>
                      </p:stCondLst>
                      <p:childTnLst>
                        <p:par>
                          <p:cTn id="11" fill="hold">
                            <p:stCondLst>
                              <p:cond delay="0"/>
                            </p:stCondLst>
                            <p:childTnLst>
                              <p:par>
                                <p:cTn id="12" presetID="9" presetClass="entr" presetSubtype="0" fill="hold" grpId="0" nodeType="clickEffect">
                                  <p:stCondLst>
                                    <p:cond delay="0"/>
                                  </p:stCondLst>
                                  <p:childTnLst>
                                    <p:set>
                                      <p:cBhvr>
                                        <p:cTn id="13" dur="1" fill="hold">
                                          <p:stCondLst>
                                            <p:cond delay="0"/>
                                          </p:stCondLst>
                                        </p:cTn>
                                        <p:tgtEl>
                                          <p:spTgt spid="204"/>
                                        </p:tgtEl>
                                        <p:attrNameLst>
                                          <p:attrName>style.visibility</p:attrName>
                                        </p:attrNameLst>
                                      </p:cBhvr>
                                      <p:to>
                                        <p:strVal val="visible"/>
                                      </p:to>
                                    </p:set>
                                    <p:animEffect transition="in" filter="dissolve">
                                      <p:cBhvr>
                                        <p:cTn id="14" dur="500"/>
                                        <p:tgtEl>
                                          <p:spTgt spid="204"/>
                                        </p:tgtEl>
                                      </p:cBhvr>
                                    </p:animEffect>
                                  </p:childTnLst>
                                </p:cTn>
                              </p:par>
                              <p:par>
                                <p:cTn id="15" presetID="9" presetClass="entr" presetSubtype="0" fill="hold" grpId="0" nodeType="withEffect">
                                  <p:stCondLst>
                                    <p:cond delay="0"/>
                                  </p:stCondLst>
                                  <p:childTnLst>
                                    <p:set>
                                      <p:cBhvr>
                                        <p:cTn id="16" dur="1" fill="hold">
                                          <p:stCondLst>
                                            <p:cond delay="0"/>
                                          </p:stCondLst>
                                        </p:cTn>
                                        <p:tgtEl>
                                          <p:spTgt spid="194"/>
                                        </p:tgtEl>
                                        <p:attrNameLst>
                                          <p:attrName>style.visibility</p:attrName>
                                        </p:attrNameLst>
                                      </p:cBhvr>
                                      <p:to>
                                        <p:strVal val="visible"/>
                                      </p:to>
                                    </p:set>
                                    <p:animEffect transition="in" filter="dissolve">
                                      <p:cBhvr>
                                        <p:cTn id="17" dur="500"/>
                                        <p:tgtEl>
                                          <p:spTgt spid="194"/>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xit" presetSubtype="0" fill="hold" nodeType="clickEffect">
                                  <p:stCondLst>
                                    <p:cond delay="0"/>
                                  </p:stCondLst>
                                  <p:childTnLst>
                                    <p:animEffect transition="out" filter="dissolve">
                                      <p:cBhvr>
                                        <p:cTn id="21" dur="500"/>
                                        <p:tgtEl>
                                          <p:spTgt spid="196"/>
                                        </p:tgtEl>
                                      </p:cBhvr>
                                    </p:animEffect>
                                    <p:set>
                                      <p:cBhvr>
                                        <p:cTn id="22" dur="1" fill="hold">
                                          <p:stCondLst>
                                            <p:cond delay="499"/>
                                          </p:stCondLst>
                                        </p:cTn>
                                        <p:tgtEl>
                                          <p:spTgt spid="196"/>
                                        </p:tgtEl>
                                        <p:attrNameLst>
                                          <p:attrName>style.visibility</p:attrName>
                                        </p:attrNameLst>
                                      </p:cBhvr>
                                      <p:to>
                                        <p:strVal val="hidden"/>
                                      </p:to>
                                    </p:set>
                                  </p:childTnLst>
                                </p:cTn>
                              </p:par>
                              <p:par>
                                <p:cTn id="23" presetID="9" presetClass="exit" presetSubtype="0" fill="hold" grpId="1" nodeType="withEffect">
                                  <p:stCondLst>
                                    <p:cond delay="0"/>
                                  </p:stCondLst>
                                  <p:childTnLst>
                                    <p:animEffect transition="out" filter="dissolve">
                                      <p:cBhvr>
                                        <p:cTn id="24" dur="500"/>
                                        <p:tgtEl>
                                          <p:spTgt spid="204"/>
                                        </p:tgtEl>
                                      </p:cBhvr>
                                    </p:animEffect>
                                    <p:set>
                                      <p:cBhvr>
                                        <p:cTn id="25" dur="1" fill="hold">
                                          <p:stCondLst>
                                            <p:cond delay="499"/>
                                          </p:stCondLst>
                                        </p:cTn>
                                        <p:tgtEl>
                                          <p:spTgt spid="204"/>
                                        </p:tgtEl>
                                        <p:attrNameLst>
                                          <p:attrName>style.visibility</p:attrName>
                                        </p:attrNameLst>
                                      </p:cBhvr>
                                      <p:to>
                                        <p:strVal val="hidden"/>
                                      </p:to>
                                    </p:set>
                                  </p:childTnLst>
                                </p:cTn>
                              </p:par>
                              <p:par>
                                <p:cTn id="26" presetID="9" presetClass="entr" presetSubtype="0" fill="hold" nodeType="withEffect">
                                  <p:stCondLst>
                                    <p:cond delay="0"/>
                                  </p:stCondLst>
                                  <p:childTnLst>
                                    <p:set>
                                      <p:cBhvr>
                                        <p:cTn id="27" dur="1" fill="hold">
                                          <p:stCondLst>
                                            <p:cond delay="0"/>
                                          </p:stCondLst>
                                        </p:cTn>
                                        <p:tgtEl>
                                          <p:spTgt spid="190"/>
                                        </p:tgtEl>
                                        <p:attrNameLst>
                                          <p:attrName>style.visibility</p:attrName>
                                        </p:attrNameLst>
                                      </p:cBhvr>
                                      <p:to>
                                        <p:strVal val="visible"/>
                                      </p:to>
                                    </p:set>
                                    <p:animEffect transition="in" filter="dissolve">
                                      <p:cBhvr>
                                        <p:cTn id="28" dur="500"/>
                                        <p:tgtEl>
                                          <p:spTgt spid="190"/>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193"/>
                                        </p:tgtEl>
                                        <p:attrNameLst>
                                          <p:attrName>style.visibility</p:attrName>
                                        </p:attrNameLst>
                                      </p:cBhvr>
                                      <p:to>
                                        <p:strVal val="visible"/>
                                      </p:to>
                                    </p:set>
                                    <p:animEffect transition="in" filter="dissolve">
                                      <p:cBhvr>
                                        <p:cTn id="31" dur="500"/>
                                        <p:tgtEl>
                                          <p:spTgt spid="193"/>
                                        </p:tgtEl>
                                      </p:cBhvr>
                                    </p:animEffect>
                                  </p:childTnLst>
                                </p:cTn>
                              </p:par>
                            </p:childTnLst>
                          </p:cTn>
                        </p:par>
                      </p:childTnLst>
                    </p:cTn>
                  </p:par>
                  <p:par>
                    <p:cTn id="32" fill="hold">
                      <p:stCondLst>
                        <p:cond delay="indefinite"/>
                      </p:stCondLst>
                      <p:childTnLst>
                        <p:par>
                          <p:cTn id="33" fill="hold">
                            <p:stCondLst>
                              <p:cond delay="0"/>
                            </p:stCondLst>
                            <p:childTnLst>
                              <p:par>
                                <p:cTn id="34" presetID="0" presetClass="path" presetSubtype="0" accel="50000" decel="50000" fill="hold" nodeType="clickEffect">
                                  <p:stCondLst>
                                    <p:cond delay="0"/>
                                  </p:stCondLst>
                                  <p:childTnLst>
                                    <p:animMotion origin="layout" path="M -1.66667E-6 -4.81481E-6 L 0.00013 -0.10763 " pathEditMode="relative" rAng="0" ptsTypes="AA">
                                      <p:cBhvr>
                                        <p:cTn id="35" dur="2000" fill="hold"/>
                                        <p:tgtEl>
                                          <p:spTgt spid="190"/>
                                        </p:tgtEl>
                                        <p:attrNameLst>
                                          <p:attrName>ppt_x</p:attrName>
                                          <p:attrName>ppt_y</p:attrName>
                                        </p:attrNameLst>
                                      </p:cBhvr>
                                      <p:rCtr x="0" y="-5394"/>
                                    </p:animMotion>
                                  </p:childTnLst>
                                </p:cTn>
                              </p:par>
                              <p:par>
                                <p:cTn id="36" presetID="9" presetClass="entr" presetSubtype="0" fill="hold" grpId="0" nodeType="withEffect">
                                  <p:stCondLst>
                                    <p:cond delay="0"/>
                                  </p:stCondLst>
                                  <p:childTnLst>
                                    <p:set>
                                      <p:cBhvr>
                                        <p:cTn id="37" dur="1" fill="hold">
                                          <p:stCondLst>
                                            <p:cond delay="0"/>
                                          </p:stCondLst>
                                        </p:cTn>
                                        <p:tgtEl>
                                          <p:spTgt spid="203"/>
                                        </p:tgtEl>
                                        <p:attrNameLst>
                                          <p:attrName>style.visibility</p:attrName>
                                        </p:attrNameLst>
                                      </p:cBhvr>
                                      <p:to>
                                        <p:strVal val="visible"/>
                                      </p:to>
                                    </p:set>
                                    <p:animEffect transition="in" filter="dissolve">
                                      <p:cBhvr>
                                        <p:cTn id="38" dur="500"/>
                                        <p:tgtEl>
                                          <p:spTgt spid="2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3" grpId="0"/>
      <p:bldP spid="194" grpId="0"/>
      <p:bldP spid="195" grpId="0"/>
      <p:bldP spid="203" grpId="0"/>
      <p:bldP spid="204" grpId="0" animBg="1"/>
      <p:bldP spid="204" grpId="1"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68711" y="259345"/>
            <a:ext cx="10515600" cy="894622"/>
          </a:xfrm>
        </p:spPr>
        <p:txBody>
          <a:bodyPr>
            <a:normAutofit/>
          </a:bodyPr>
          <a:lstStyle/>
          <a:p>
            <a:r>
              <a:rPr lang="en-US" sz="4800" dirty="0">
                <a:cs typeface="Calibri" panose="020F0502020204030204" pitchFamily="34" charset="0"/>
              </a:rPr>
              <a:t>Two principal Internet transport protocols</a:t>
            </a:r>
            <a:endParaRPr lang="en-US" sz="4800" dirty="0"/>
          </a:p>
        </p:txBody>
      </p:sp>
      <p:sp>
        <p:nvSpPr>
          <p:cNvPr id="10" name="Freeform 9">
            <a:extLst>
              <a:ext uri="{FF2B5EF4-FFF2-40B4-BE49-F238E27FC236}">
                <a16:creationId xmlns:a16="http://schemas.microsoft.com/office/drawing/2014/main" id="{7FC4FF92-130F-BB41-8C2E-AD6E35A5EFB3}"/>
              </a:ext>
            </a:extLst>
          </p:cNvPr>
          <p:cNvSpPr/>
          <p:nvPr/>
        </p:nvSpPr>
        <p:spPr>
          <a:xfrm>
            <a:off x="8985188" y="3065778"/>
            <a:ext cx="1124807" cy="1337915"/>
          </a:xfrm>
          <a:custGeom>
            <a:avLst/>
            <a:gdLst>
              <a:gd name="connsiteX0" fmla="*/ 434989 w 1523031"/>
              <a:gd name="connsiteY0" fmla="*/ 253346 h 1763594"/>
              <a:gd name="connsiteX1" fmla="*/ 488 w 1523031"/>
              <a:gd name="connsiteY1" fmla="*/ 921706 h 1763594"/>
              <a:gd name="connsiteX2" fmla="*/ 368142 w 1523031"/>
              <a:gd name="connsiteY2" fmla="*/ 1489812 h 1763594"/>
              <a:gd name="connsiteX3" fmla="*/ 1187008 w 1523031"/>
              <a:gd name="connsiteY3" fmla="*/ 1757156 h 1763594"/>
              <a:gd name="connsiteX4" fmla="*/ 1521239 w 1523031"/>
              <a:gd name="connsiteY4" fmla="*/ 1239177 h 1763594"/>
              <a:gd name="connsiteX5" fmla="*/ 1320700 w 1523031"/>
              <a:gd name="connsiteY5" fmla="*/ 654362 h 1763594"/>
              <a:gd name="connsiteX6" fmla="*/ 1337412 w 1523031"/>
              <a:gd name="connsiteY6" fmla="*/ 136383 h 1763594"/>
              <a:gd name="connsiteX7" fmla="*/ 1086739 w 1523031"/>
              <a:gd name="connsiteY7" fmla="*/ 2711 h 1763594"/>
              <a:gd name="connsiteX8" fmla="*/ 434989 w 1523031"/>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1086739 w 1537226"/>
              <a:gd name="connsiteY7" fmla="*/ 2711 h 1763594"/>
              <a:gd name="connsiteX8" fmla="*/ 434989 w 1537226"/>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839572 w 1537226"/>
              <a:gd name="connsiteY7" fmla="*/ 2711 h 1763594"/>
              <a:gd name="connsiteX8" fmla="*/ 434989 w 1537226"/>
              <a:gd name="connsiteY8" fmla="*/ 253346 h 1763594"/>
              <a:gd name="connsiteX0" fmla="*/ 360357 w 1536743"/>
              <a:gd name="connsiteY0" fmla="*/ 534641 h 1782088"/>
              <a:gd name="connsiteX1" fmla="*/ 5 w 1536743"/>
              <a:gd name="connsiteY1" fmla="*/ 940200 h 1782088"/>
              <a:gd name="connsiteX2" fmla="*/ 367659 w 1536743"/>
              <a:gd name="connsiteY2" fmla="*/ 1508306 h 1782088"/>
              <a:gd name="connsiteX3" fmla="*/ 1186525 w 1536743"/>
              <a:gd name="connsiteY3" fmla="*/ 1775650 h 1782088"/>
              <a:gd name="connsiteX4" fmla="*/ 1520756 w 1536743"/>
              <a:gd name="connsiteY4" fmla="*/ 1257671 h 1782088"/>
              <a:gd name="connsiteX5" fmla="*/ 1468515 w 1536743"/>
              <a:gd name="connsiteY5" fmla="*/ 672856 h 1782088"/>
              <a:gd name="connsiteX6" fmla="*/ 1336929 w 1536743"/>
              <a:gd name="connsiteY6" fmla="*/ 154877 h 1782088"/>
              <a:gd name="connsiteX7" fmla="*/ 839089 w 1536743"/>
              <a:gd name="connsiteY7" fmla="*/ 21205 h 1782088"/>
              <a:gd name="connsiteX8" fmla="*/ 360357 w 1536743"/>
              <a:gd name="connsiteY8" fmla="*/ 534641 h 1782088"/>
              <a:gd name="connsiteX0" fmla="*/ 360355 w 1536741"/>
              <a:gd name="connsiteY0" fmla="*/ 534641 h 1782088"/>
              <a:gd name="connsiteX1" fmla="*/ 3 w 1536741"/>
              <a:gd name="connsiteY1" fmla="*/ 940200 h 1782088"/>
              <a:gd name="connsiteX2" fmla="*/ 367657 w 1536741"/>
              <a:gd name="connsiteY2" fmla="*/ 1508306 h 1782088"/>
              <a:gd name="connsiteX3" fmla="*/ 1186523 w 1536741"/>
              <a:gd name="connsiteY3" fmla="*/ 1775650 h 1782088"/>
              <a:gd name="connsiteX4" fmla="*/ 1520754 w 1536741"/>
              <a:gd name="connsiteY4" fmla="*/ 1257671 h 1782088"/>
              <a:gd name="connsiteX5" fmla="*/ 1468513 w 1536741"/>
              <a:gd name="connsiteY5" fmla="*/ 672856 h 1782088"/>
              <a:gd name="connsiteX6" fmla="*/ 1336927 w 1536741"/>
              <a:gd name="connsiteY6" fmla="*/ 154877 h 1782088"/>
              <a:gd name="connsiteX7" fmla="*/ 839087 w 1536741"/>
              <a:gd name="connsiteY7" fmla="*/ 21205 h 1782088"/>
              <a:gd name="connsiteX8" fmla="*/ 360355 w 1536741"/>
              <a:gd name="connsiteY8" fmla="*/ 534641 h 1782088"/>
              <a:gd name="connsiteX0" fmla="*/ 382604 w 1558990"/>
              <a:gd name="connsiteY0" fmla="*/ 534641 h 1810599"/>
              <a:gd name="connsiteX1" fmla="*/ 22252 w 1558990"/>
              <a:gd name="connsiteY1" fmla="*/ 940200 h 1810599"/>
              <a:gd name="connsiteX2" fmla="*/ 167457 w 1558990"/>
              <a:gd name="connsiteY2" fmla="*/ 1672556 h 1810599"/>
              <a:gd name="connsiteX3" fmla="*/ 1208772 w 1558990"/>
              <a:gd name="connsiteY3" fmla="*/ 1775650 h 1810599"/>
              <a:gd name="connsiteX4" fmla="*/ 1543003 w 1558990"/>
              <a:gd name="connsiteY4" fmla="*/ 1257671 h 1810599"/>
              <a:gd name="connsiteX5" fmla="*/ 1490762 w 1558990"/>
              <a:gd name="connsiteY5" fmla="*/ 672856 h 1810599"/>
              <a:gd name="connsiteX6" fmla="*/ 1359176 w 1558990"/>
              <a:gd name="connsiteY6" fmla="*/ 154877 h 1810599"/>
              <a:gd name="connsiteX7" fmla="*/ 861336 w 1558990"/>
              <a:gd name="connsiteY7" fmla="*/ 21205 h 1810599"/>
              <a:gd name="connsiteX8" fmla="*/ 382604 w 1558990"/>
              <a:gd name="connsiteY8" fmla="*/ 534641 h 1810599"/>
              <a:gd name="connsiteX0" fmla="*/ 393458 w 1593840"/>
              <a:gd name="connsiteY0" fmla="*/ 534641 h 1793264"/>
              <a:gd name="connsiteX1" fmla="*/ 33106 w 1593840"/>
              <a:gd name="connsiteY1" fmla="*/ 940200 h 1793264"/>
              <a:gd name="connsiteX2" fmla="*/ 178311 w 1593840"/>
              <a:gd name="connsiteY2" fmla="*/ 1672556 h 1793264"/>
              <a:gd name="connsiteX3" fmla="*/ 1464139 w 1593840"/>
              <a:gd name="connsiteY3" fmla="*/ 1752440 h 1793264"/>
              <a:gd name="connsiteX4" fmla="*/ 1553857 w 1593840"/>
              <a:gd name="connsiteY4" fmla="*/ 1257671 h 1793264"/>
              <a:gd name="connsiteX5" fmla="*/ 1501616 w 1593840"/>
              <a:gd name="connsiteY5" fmla="*/ 672856 h 1793264"/>
              <a:gd name="connsiteX6" fmla="*/ 1370030 w 1593840"/>
              <a:gd name="connsiteY6" fmla="*/ 154877 h 1793264"/>
              <a:gd name="connsiteX7" fmla="*/ 872190 w 1593840"/>
              <a:gd name="connsiteY7" fmla="*/ 21205 h 1793264"/>
              <a:gd name="connsiteX8" fmla="*/ 393458 w 1593840"/>
              <a:gd name="connsiteY8" fmla="*/ 534641 h 1793264"/>
              <a:gd name="connsiteX0" fmla="*/ 393458 w 1566550"/>
              <a:gd name="connsiteY0" fmla="*/ 534641 h 1840341"/>
              <a:gd name="connsiteX1" fmla="*/ 33106 w 1566550"/>
              <a:gd name="connsiteY1" fmla="*/ 940200 h 1840341"/>
              <a:gd name="connsiteX2" fmla="*/ 178311 w 1566550"/>
              <a:gd name="connsiteY2" fmla="*/ 1672556 h 1840341"/>
              <a:gd name="connsiteX3" fmla="*/ 1464139 w 1566550"/>
              <a:gd name="connsiteY3" fmla="*/ 1752440 h 1840341"/>
              <a:gd name="connsiteX4" fmla="*/ 1553857 w 1566550"/>
              <a:gd name="connsiteY4" fmla="*/ 1257671 h 1840341"/>
              <a:gd name="connsiteX5" fmla="*/ 1501616 w 1566550"/>
              <a:gd name="connsiteY5" fmla="*/ 672856 h 1840341"/>
              <a:gd name="connsiteX6" fmla="*/ 1370030 w 1566550"/>
              <a:gd name="connsiteY6" fmla="*/ 154877 h 1840341"/>
              <a:gd name="connsiteX7" fmla="*/ 872190 w 1566550"/>
              <a:gd name="connsiteY7" fmla="*/ 21205 h 1840341"/>
              <a:gd name="connsiteX8" fmla="*/ 393458 w 1566550"/>
              <a:gd name="connsiteY8" fmla="*/ 534641 h 1840341"/>
              <a:gd name="connsiteX0" fmla="*/ 393458 w 1555557"/>
              <a:gd name="connsiteY0" fmla="*/ 534641 h 1787187"/>
              <a:gd name="connsiteX1" fmla="*/ 33106 w 1555557"/>
              <a:gd name="connsiteY1" fmla="*/ 940200 h 1787187"/>
              <a:gd name="connsiteX2" fmla="*/ 178311 w 1555557"/>
              <a:gd name="connsiteY2" fmla="*/ 1672556 h 1787187"/>
              <a:gd name="connsiteX3" fmla="*/ 1464139 w 1555557"/>
              <a:gd name="connsiteY3" fmla="*/ 1752440 h 1787187"/>
              <a:gd name="connsiteX4" fmla="*/ 1553857 w 1555557"/>
              <a:gd name="connsiteY4" fmla="*/ 1257671 h 1787187"/>
              <a:gd name="connsiteX5" fmla="*/ 1501616 w 1555557"/>
              <a:gd name="connsiteY5" fmla="*/ 672856 h 1787187"/>
              <a:gd name="connsiteX6" fmla="*/ 1370030 w 1555557"/>
              <a:gd name="connsiteY6" fmla="*/ 154877 h 1787187"/>
              <a:gd name="connsiteX7" fmla="*/ 872190 w 1555557"/>
              <a:gd name="connsiteY7" fmla="*/ 21205 h 1787187"/>
              <a:gd name="connsiteX8" fmla="*/ 393458 w 1555557"/>
              <a:gd name="connsiteY8" fmla="*/ 534641 h 1787187"/>
              <a:gd name="connsiteX0" fmla="*/ 401126 w 1664928"/>
              <a:gd name="connsiteY0" fmla="*/ 534641 h 1783934"/>
              <a:gd name="connsiteX1" fmla="*/ 40774 w 1664928"/>
              <a:gd name="connsiteY1" fmla="*/ 940200 h 1783934"/>
              <a:gd name="connsiteX2" fmla="*/ 185979 w 1664928"/>
              <a:gd name="connsiteY2" fmla="*/ 1672556 h 1783934"/>
              <a:gd name="connsiteX3" fmla="*/ 1618513 w 1664928"/>
              <a:gd name="connsiteY3" fmla="*/ 1747798 h 1783934"/>
              <a:gd name="connsiteX4" fmla="*/ 1561525 w 1664928"/>
              <a:gd name="connsiteY4" fmla="*/ 1257671 h 1783934"/>
              <a:gd name="connsiteX5" fmla="*/ 1509284 w 1664928"/>
              <a:gd name="connsiteY5" fmla="*/ 672856 h 1783934"/>
              <a:gd name="connsiteX6" fmla="*/ 1377698 w 1664928"/>
              <a:gd name="connsiteY6" fmla="*/ 154877 h 1783934"/>
              <a:gd name="connsiteX7" fmla="*/ 879858 w 1664928"/>
              <a:gd name="connsiteY7" fmla="*/ 21205 h 1783934"/>
              <a:gd name="connsiteX8" fmla="*/ 401126 w 1664928"/>
              <a:gd name="connsiteY8" fmla="*/ 534641 h 1783934"/>
              <a:gd name="connsiteX0" fmla="*/ 408119 w 1718774"/>
              <a:gd name="connsiteY0" fmla="*/ 534641 h 1826522"/>
              <a:gd name="connsiteX1" fmla="*/ 47767 w 1718774"/>
              <a:gd name="connsiteY1" fmla="*/ 940200 h 1826522"/>
              <a:gd name="connsiteX2" fmla="*/ 179001 w 1718774"/>
              <a:gd name="connsiteY2" fmla="*/ 1742186 h 1826522"/>
              <a:gd name="connsiteX3" fmla="*/ 1625506 w 1718774"/>
              <a:gd name="connsiteY3" fmla="*/ 1747798 h 1826522"/>
              <a:gd name="connsiteX4" fmla="*/ 1568518 w 1718774"/>
              <a:gd name="connsiteY4" fmla="*/ 1257671 h 1826522"/>
              <a:gd name="connsiteX5" fmla="*/ 1516277 w 1718774"/>
              <a:gd name="connsiteY5" fmla="*/ 672856 h 1826522"/>
              <a:gd name="connsiteX6" fmla="*/ 1384691 w 1718774"/>
              <a:gd name="connsiteY6" fmla="*/ 154877 h 1826522"/>
              <a:gd name="connsiteX7" fmla="*/ 886851 w 1718774"/>
              <a:gd name="connsiteY7" fmla="*/ 21205 h 1826522"/>
              <a:gd name="connsiteX8" fmla="*/ 408119 w 1718774"/>
              <a:gd name="connsiteY8" fmla="*/ 534641 h 1826522"/>
              <a:gd name="connsiteX0" fmla="*/ 477759 w 1796623"/>
              <a:gd name="connsiteY0" fmla="*/ 534641 h 1818043"/>
              <a:gd name="connsiteX1" fmla="*/ 117407 w 1796623"/>
              <a:gd name="connsiteY1" fmla="*/ 940200 h 1818043"/>
              <a:gd name="connsiteX2" fmla="*/ 136864 w 1796623"/>
              <a:gd name="connsiteY2" fmla="*/ 1728260 h 1818043"/>
              <a:gd name="connsiteX3" fmla="*/ 1695146 w 1796623"/>
              <a:gd name="connsiteY3" fmla="*/ 1747798 h 1818043"/>
              <a:gd name="connsiteX4" fmla="*/ 1638158 w 1796623"/>
              <a:gd name="connsiteY4" fmla="*/ 1257671 h 1818043"/>
              <a:gd name="connsiteX5" fmla="*/ 1585917 w 1796623"/>
              <a:gd name="connsiteY5" fmla="*/ 672856 h 1818043"/>
              <a:gd name="connsiteX6" fmla="*/ 1454331 w 1796623"/>
              <a:gd name="connsiteY6" fmla="*/ 154877 h 1818043"/>
              <a:gd name="connsiteX7" fmla="*/ 956491 w 1796623"/>
              <a:gd name="connsiteY7" fmla="*/ 21205 h 1818043"/>
              <a:gd name="connsiteX8" fmla="*/ 477759 w 1796623"/>
              <a:gd name="connsiteY8" fmla="*/ 534641 h 1818043"/>
              <a:gd name="connsiteX0" fmla="*/ 396783 w 1688820"/>
              <a:gd name="connsiteY0" fmla="*/ 534641 h 1815615"/>
              <a:gd name="connsiteX1" fmla="*/ 36431 w 1688820"/>
              <a:gd name="connsiteY1" fmla="*/ 940200 h 1815615"/>
              <a:gd name="connsiteX2" fmla="*/ 55888 w 1688820"/>
              <a:gd name="connsiteY2" fmla="*/ 1728260 h 1815615"/>
              <a:gd name="connsiteX3" fmla="*/ 421834 w 1688820"/>
              <a:gd name="connsiteY3" fmla="*/ 1798118 h 1815615"/>
              <a:gd name="connsiteX4" fmla="*/ 1614170 w 1688820"/>
              <a:gd name="connsiteY4" fmla="*/ 1747798 h 1815615"/>
              <a:gd name="connsiteX5" fmla="*/ 1557182 w 1688820"/>
              <a:gd name="connsiteY5" fmla="*/ 1257671 h 1815615"/>
              <a:gd name="connsiteX6" fmla="*/ 1504941 w 1688820"/>
              <a:gd name="connsiteY6" fmla="*/ 672856 h 1815615"/>
              <a:gd name="connsiteX7" fmla="*/ 1373355 w 1688820"/>
              <a:gd name="connsiteY7" fmla="*/ 154877 h 1815615"/>
              <a:gd name="connsiteX8" fmla="*/ 875515 w 1688820"/>
              <a:gd name="connsiteY8" fmla="*/ 21205 h 1815615"/>
              <a:gd name="connsiteX9" fmla="*/ 396783 w 1688820"/>
              <a:gd name="connsiteY9" fmla="*/ 534641 h 1815615"/>
              <a:gd name="connsiteX0" fmla="*/ 394951 w 1689541"/>
              <a:gd name="connsiteY0" fmla="*/ 534641 h 1877271"/>
              <a:gd name="connsiteX1" fmla="*/ 34599 w 1689541"/>
              <a:gd name="connsiteY1" fmla="*/ 940200 h 1877271"/>
              <a:gd name="connsiteX2" fmla="*/ 54056 w 1689541"/>
              <a:gd name="connsiteY2" fmla="*/ 1728260 h 1877271"/>
              <a:gd name="connsiteX3" fmla="*/ 385071 w 1689541"/>
              <a:gd name="connsiteY3" fmla="*/ 1877032 h 1877271"/>
              <a:gd name="connsiteX4" fmla="*/ 1612338 w 1689541"/>
              <a:gd name="connsiteY4" fmla="*/ 1747798 h 1877271"/>
              <a:gd name="connsiteX5" fmla="*/ 1555350 w 1689541"/>
              <a:gd name="connsiteY5" fmla="*/ 1257671 h 1877271"/>
              <a:gd name="connsiteX6" fmla="*/ 1503109 w 1689541"/>
              <a:gd name="connsiteY6" fmla="*/ 672856 h 1877271"/>
              <a:gd name="connsiteX7" fmla="*/ 1371523 w 1689541"/>
              <a:gd name="connsiteY7" fmla="*/ 154877 h 1877271"/>
              <a:gd name="connsiteX8" fmla="*/ 873683 w 1689541"/>
              <a:gd name="connsiteY8" fmla="*/ 21205 h 1877271"/>
              <a:gd name="connsiteX9" fmla="*/ 394951 w 1689541"/>
              <a:gd name="connsiteY9" fmla="*/ 534641 h 1877271"/>
              <a:gd name="connsiteX0" fmla="*/ 394949 w 1689541"/>
              <a:gd name="connsiteY0" fmla="*/ 534641 h 1877032"/>
              <a:gd name="connsiteX1" fmla="*/ 34597 w 1689541"/>
              <a:gd name="connsiteY1" fmla="*/ 940200 h 1877032"/>
              <a:gd name="connsiteX2" fmla="*/ 54054 w 1689541"/>
              <a:gd name="connsiteY2" fmla="*/ 1728260 h 1877032"/>
              <a:gd name="connsiteX3" fmla="*/ 385069 w 1689541"/>
              <a:gd name="connsiteY3" fmla="*/ 1877032 h 1877032"/>
              <a:gd name="connsiteX4" fmla="*/ 1612336 w 1689541"/>
              <a:gd name="connsiteY4" fmla="*/ 1747798 h 1877032"/>
              <a:gd name="connsiteX5" fmla="*/ 1555348 w 1689541"/>
              <a:gd name="connsiteY5" fmla="*/ 1257671 h 1877032"/>
              <a:gd name="connsiteX6" fmla="*/ 1503107 w 1689541"/>
              <a:gd name="connsiteY6" fmla="*/ 672856 h 1877032"/>
              <a:gd name="connsiteX7" fmla="*/ 1371521 w 1689541"/>
              <a:gd name="connsiteY7" fmla="*/ 154877 h 1877032"/>
              <a:gd name="connsiteX8" fmla="*/ 873681 w 1689541"/>
              <a:gd name="connsiteY8" fmla="*/ 21205 h 1877032"/>
              <a:gd name="connsiteX9" fmla="*/ 394949 w 1689541"/>
              <a:gd name="connsiteY9" fmla="*/ 534641 h 1877032"/>
              <a:gd name="connsiteX0" fmla="*/ 394949 w 1683795"/>
              <a:gd name="connsiteY0" fmla="*/ 534641 h 1877032"/>
              <a:gd name="connsiteX1" fmla="*/ 34597 w 1683795"/>
              <a:gd name="connsiteY1" fmla="*/ 940200 h 1877032"/>
              <a:gd name="connsiteX2" fmla="*/ 54054 w 1683795"/>
              <a:gd name="connsiteY2" fmla="*/ 1728260 h 1877032"/>
              <a:gd name="connsiteX3" fmla="*/ 385069 w 1683795"/>
              <a:gd name="connsiteY3" fmla="*/ 1877032 h 1877032"/>
              <a:gd name="connsiteX4" fmla="*/ 1605349 w 1683795"/>
              <a:gd name="connsiteY4" fmla="*/ 1798860 h 1877032"/>
              <a:gd name="connsiteX5" fmla="*/ 1555348 w 1683795"/>
              <a:gd name="connsiteY5" fmla="*/ 1257671 h 1877032"/>
              <a:gd name="connsiteX6" fmla="*/ 1503107 w 1683795"/>
              <a:gd name="connsiteY6" fmla="*/ 672856 h 1877032"/>
              <a:gd name="connsiteX7" fmla="*/ 1371521 w 1683795"/>
              <a:gd name="connsiteY7" fmla="*/ 154877 h 1877032"/>
              <a:gd name="connsiteX8" fmla="*/ 873681 w 1683795"/>
              <a:gd name="connsiteY8" fmla="*/ 21205 h 1877032"/>
              <a:gd name="connsiteX9" fmla="*/ 394949 w 1683795"/>
              <a:gd name="connsiteY9" fmla="*/ 534641 h 1877032"/>
              <a:gd name="connsiteX0" fmla="*/ 394949 w 1720794"/>
              <a:gd name="connsiteY0" fmla="*/ 534641 h 1877032"/>
              <a:gd name="connsiteX1" fmla="*/ 34597 w 1720794"/>
              <a:gd name="connsiteY1" fmla="*/ 940200 h 1877032"/>
              <a:gd name="connsiteX2" fmla="*/ 54054 w 1720794"/>
              <a:gd name="connsiteY2" fmla="*/ 1728260 h 1877032"/>
              <a:gd name="connsiteX3" fmla="*/ 385069 w 1720794"/>
              <a:gd name="connsiteY3" fmla="*/ 1877032 h 1877032"/>
              <a:gd name="connsiteX4" fmla="*/ 1605349 w 1720794"/>
              <a:gd name="connsiteY4" fmla="*/ 1798860 h 1877032"/>
              <a:gd name="connsiteX5" fmla="*/ 1555348 w 1720794"/>
              <a:gd name="connsiteY5" fmla="*/ 1257671 h 1877032"/>
              <a:gd name="connsiteX6" fmla="*/ 1503107 w 1720794"/>
              <a:gd name="connsiteY6" fmla="*/ 672856 h 1877032"/>
              <a:gd name="connsiteX7" fmla="*/ 1371521 w 1720794"/>
              <a:gd name="connsiteY7" fmla="*/ 154877 h 1877032"/>
              <a:gd name="connsiteX8" fmla="*/ 873681 w 1720794"/>
              <a:gd name="connsiteY8" fmla="*/ 21205 h 1877032"/>
              <a:gd name="connsiteX9" fmla="*/ 394949 w 1720794"/>
              <a:gd name="connsiteY9" fmla="*/ 534641 h 1877032"/>
              <a:gd name="connsiteX0" fmla="*/ 394949 w 1720794"/>
              <a:gd name="connsiteY0" fmla="*/ 534641 h 1877032"/>
              <a:gd name="connsiteX1" fmla="*/ 34597 w 1720794"/>
              <a:gd name="connsiteY1" fmla="*/ 940200 h 1877032"/>
              <a:gd name="connsiteX2" fmla="*/ 54054 w 1720794"/>
              <a:gd name="connsiteY2" fmla="*/ 1728260 h 1877032"/>
              <a:gd name="connsiteX3" fmla="*/ 385069 w 1720794"/>
              <a:gd name="connsiteY3" fmla="*/ 1877032 h 1877032"/>
              <a:gd name="connsiteX4" fmla="*/ 1605349 w 1720794"/>
              <a:gd name="connsiteY4" fmla="*/ 1798860 h 1877032"/>
              <a:gd name="connsiteX5" fmla="*/ 1555348 w 1720794"/>
              <a:gd name="connsiteY5" fmla="*/ 1257671 h 1877032"/>
              <a:gd name="connsiteX6" fmla="*/ 1503107 w 1720794"/>
              <a:gd name="connsiteY6" fmla="*/ 672856 h 1877032"/>
              <a:gd name="connsiteX7" fmla="*/ 1371521 w 1720794"/>
              <a:gd name="connsiteY7" fmla="*/ 154877 h 1877032"/>
              <a:gd name="connsiteX8" fmla="*/ 873681 w 1720794"/>
              <a:gd name="connsiteY8" fmla="*/ 21205 h 1877032"/>
              <a:gd name="connsiteX9" fmla="*/ 394949 w 1720794"/>
              <a:gd name="connsiteY9" fmla="*/ 534641 h 1877032"/>
              <a:gd name="connsiteX0" fmla="*/ 394949 w 1671512"/>
              <a:gd name="connsiteY0" fmla="*/ 534641 h 1877032"/>
              <a:gd name="connsiteX1" fmla="*/ 34597 w 1671512"/>
              <a:gd name="connsiteY1" fmla="*/ 940200 h 1877032"/>
              <a:gd name="connsiteX2" fmla="*/ 54054 w 1671512"/>
              <a:gd name="connsiteY2" fmla="*/ 1728260 h 1877032"/>
              <a:gd name="connsiteX3" fmla="*/ 385069 w 1671512"/>
              <a:gd name="connsiteY3" fmla="*/ 1877032 h 1877032"/>
              <a:gd name="connsiteX4" fmla="*/ 1605349 w 1671512"/>
              <a:gd name="connsiteY4" fmla="*/ 1798860 h 1877032"/>
              <a:gd name="connsiteX5" fmla="*/ 1555348 w 1671512"/>
              <a:gd name="connsiteY5" fmla="*/ 1257671 h 1877032"/>
              <a:gd name="connsiteX6" fmla="*/ 1503107 w 1671512"/>
              <a:gd name="connsiteY6" fmla="*/ 672856 h 1877032"/>
              <a:gd name="connsiteX7" fmla="*/ 1371521 w 1671512"/>
              <a:gd name="connsiteY7" fmla="*/ 154877 h 1877032"/>
              <a:gd name="connsiteX8" fmla="*/ 873681 w 1671512"/>
              <a:gd name="connsiteY8" fmla="*/ 21205 h 1877032"/>
              <a:gd name="connsiteX9" fmla="*/ 394949 w 1671512"/>
              <a:gd name="connsiteY9" fmla="*/ 534641 h 1877032"/>
              <a:gd name="connsiteX0" fmla="*/ 394949 w 1677296"/>
              <a:gd name="connsiteY0" fmla="*/ 534641 h 1877032"/>
              <a:gd name="connsiteX1" fmla="*/ 34597 w 1677296"/>
              <a:gd name="connsiteY1" fmla="*/ 940200 h 1877032"/>
              <a:gd name="connsiteX2" fmla="*/ 54054 w 1677296"/>
              <a:gd name="connsiteY2" fmla="*/ 1728260 h 1877032"/>
              <a:gd name="connsiteX3" fmla="*/ 385069 w 1677296"/>
              <a:gd name="connsiteY3" fmla="*/ 1877032 h 1877032"/>
              <a:gd name="connsiteX4" fmla="*/ 1612334 w 1677296"/>
              <a:gd name="connsiteY4" fmla="*/ 1840637 h 1877032"/>
              <a:gd name="connsiteX5" fmla="*/ 1555348 w 1677296"/>
              <a:gd name="connsiteY5" fmla="*/ 1257671 h 1877032"/>
              <a:gd name="connsiteX6" fmla="*/ 1503107 w 1677296"/>
              <a:gd name="connsiteY6" fmla="*/ 672856 h 1877032"/>
              <a:gd name="connsiteX7" fmla="*/ 1371521 w 1677296"/>
              <a:gd name="connsiteY7" fmla="*/ 154877 h 1877032"/>
              <a:gd name="connsiteX8" fmla="*/ 873681 w 1677296"/>
              <a:gd name="connsiteY8" fmla="*/ 21205 h 1877032"/>
              <a:gd name="connsiteX9" fmla="*/ 394949 w 1677296"/>
              <a:gd name="connsiteY9" fmla="*/ 534641 h 1877032"/>
              <a:gd name="connsiteX0" fmla="*/ 394949 w 1677298"/>
              <a:gd name="connsiteY0" fmla="*/ 534641 h 1877032"/>
              <a:gd name="connsiteX1" fmla="*/ 34597 w 1677298"/>
              <a:gd name="connsiteY1" fmla="*/ 940200 h 1877032"/>
              <a:gd name="connsiteX2" fmla="*/ 54054 w 1677298"/>
              <a:gd name="connsiteY2" fmla="*/ 1728260 h 1877032"/>
              <a:gd name="connsiteX3" fmla="*/ 385069 w 1677298"/>
              <a:gd name="connsiteY3" fmla="*/ 1877032 h 1877032"/>
              <a:gd name="connsiteX4" fmla="*/ 1612334 w 1677298"/>
              <a:gd name="connsiteY4" fmla="*/ 1840637 h 1877032"/>
              <a:gd name="connsiteX5" fmla="*/ 1555348 w 1677298"/>
              <a:gd name="connsiteY5" fmla="*/ 1257671 h 1877032"/>
              <a:gd name="connsiteX6" fmla="*/ 1503107 w 1677298"/>
              <a:gd name="connsiteY6" fmla="*/ 672856 h 1877032"/>
              <a:gd name="connsiteX7" fmla="*/ 1371521 w 1677298"/>
              <a:gd name="connsiteY7" fmla="*/ 154877 h 1877032"/>
              <a:gd name="connsiteX8" fmla="*/ 873681 w 1677298"/>
              <a:gd name="connsiteY8" fmla="*/ 21205 h 1877032"/>
              <a:gd name="connsiteX9" fmla="*/ 394949 w 1677298"/>
              <a:gd name="connsiteY9" fmla="*/ 534641 h 1877032"/>
              <a:gd name="connsiteX0" fmla="*/ 394949 w 1677296"/>
              <a:gd name="connsiteY0" fmla="*/ 534641 h 1904936"/>
              <a:gd name="connsiteX1" fmla="*/ 34597 w 1677296"/>
              <a:gd name="connsiteY1" fmla="*/ 940200 h 1904936"/>
              <a:gd name="connsiteX2" fmla="*/ 54054 w 1677296"/>
              <a:gd name="connsiteY2" fmla="*/ 1728260 h 1904936"/>
              <a:gd name="connsiteX3" fmla="*/ 385069 w 1677296"/>
              <a:gd name="connsiteY3" fmla="*/ 1877032 h 1904936"/>
              <a:gd name="connsiteX4" fmla="*/ 1612334 w 1677296"/>
              <a:gd name="connsiteY4" fmla="*/ 1840637 h 1904936"/>
              <a:gd name="connsiteX5" fmla="*/ 1555348 w 1677296"/>
              <a:gd name="connsiteY5" fmla="*/ 1257671 h 1904936"/>
              <a:gd name="connsiteX6" fmla="*/ 1503107 w 1677296"/>
              <a:gd name="connsiteY6" fmla="*/ 672856 h 1904936"/>
              <a:gd name="connsiteX7" fmla="*/ 1371521 w 1677296"/>
              <a:gd name="connsiteY7" fmla="*/ 154877 h 1904936"/>
              <a:gd name="connsiteX8" fmla="*/ 873681 w 1677296"/>
              <a:gd name="connsiteY8" fmla="*/ 21205 h 1904936"/>
              <a:gd name="connsiteX9" fmla="*/ 394949 w 1677296"/>
              <a:gd name="connsiteY9" fmla="*/ 534641 h 1904936"/>
              <a:gd name="connsiteX0" fmla="*/ 461539 w 1743887"/>
              <a:gd name="connsiteY0" fmla="*/ 534641 h 1904936"/>
              <a:gd name="connsiteX1" fmla="*/ 101187 w 1743887"/>
              <a:gd name="connsiteY1" fmla="*/ 940200 h 1904936"/>
              <a:gd name="connsiteX2" fmla="*/ 22840 w 1743887"/>
              <a:gd name="connsiteY2" fmla="*/ 1737812 h 1904936"/>
              <a:gd name="connsiteX3" fmla="*/ 451659 w 1743887"/>
              <a:gd name="connsiteY3" fmla="*/ 1877032 h 1904936"/>
              <a:gd name="connsiteX4" fmla="*/ 1678924 w 1743887"/>
              <a:gd name="connsiteY4" fmla="*/ 1840637 h 1904936"/>
              <a:gd name="connsiteX5" fmla="*/ 1621938 w 1743887"/>
              <a:gd name="connsiteY5" fmla="*/ 1257671 h 1904936"/>
              <a:gd name="connsiteX6" fmla="*/ 1569697 w 1743887"/>
              <a:gd name="connsiteY6" fmla="*/ 672856 h 1904936"/>
              <a:gd name="connsiteX7" fmla="*/ 1438111 w 1743887"/>
              <a:gd name="connsiteY7" fmla="*/ 154877 h 1904936"/>
              <a:gd name="connsiteX8" fmla="*/ 940271 w 1743887"/>
              <a:gd name="connsiteY8" fmla="*/ 21205 h 1904936"/>
              <a:gd name="connsiteX9" fmla="*/ 461539 w 1743887"/>
              <a:gd name="connsiteY9" fmla="*/ 534641 h 1904936"/>
              <a:gd name="connsiteX0" fmla="*/ 452050 w 1756359"/>
              <a:gd name="connsiteY0" fmla="*/ 534641 h 1891359"/>
              <a:gd name="connsiteX1" fmla="*/ 91698 w 1756359"/>
              <a:gd name="connsiteY1" fmla="*/ 940200 h 1891359"/>
              <a:gd name="connsiteX2" fmla="*/ 13351 w 1756359"/>
              <a:gd name="connsiteY2" fmla="*/ 1737812 h 1891359"/>
              <a:gd name="connsiteX3" fmla="*/ 309435 w 1756359"/>
              <a:gd name="connsiteY3" fmla="*/ 1891359 h 1891359"/>
              <a:gd name="connsiteX4" fmla="*/ 1669435 w 1756359"/>
              <a:gd name="connsiteY4" fmla="*/ 1840637 h 1891359"/>
              <a:gd name="connsiteX5" fmla="*/ 1612449 w 1756359"/>
              <a:gd name="connsiteY5" fmla="*/ 1257671 h 1891359"/>
              <a:gd name="connsiteX6" fmla="*/ 1560208 w 1756359"/>
              <a:gd name="connsiteY6" fmla="*/ 672856 h 1891359"/>
              <a:gd name="connsiteX7" fmla="*/ 1428622 w 1756359"/>
              <a:gd name="connsiteY7" fmla="*/ 154877 h 1891359"/>
              <a:gd name="connsiteX8" fmla="*/ 930782 w 1756359"/>
              <a:gd name="connsiteY8" fmla="*/ 21205 h 1891359"/>
              <a:gd name="connsiteX9" fmla="*/ 452050 w 1756359"/>
              <a:gd name="connsiteY9" fmla="*/ 534641 h 1891359"/>
              <a:gd name="connsiteX0" fmla="*/ 452050 w 1756257"/>
              <a:gd name="connsiteY0" fmla="*/ 534641 h 1891359"/>
              <a:gd name="connsiteX1" fmla="*/ 91698 w 1756257"/>
              <a:gd name="connsiteY1" fmla="*/ 940200 h 1891359"/>
              <a:gd name="connsiteX2" fmla="*/ 13351 w 1756257"/>
              <a:gd name="connsiteY2" fmla="*/ 1737812 h 1891359"/>
              <a:gd name="connsiteX3" fmla="*/ 309435 w 1756257"/>
              <a:gd name="connsiteY3" fmla="*/ 1891359 h 1891359"/>
              <a:gd name="connsiteX4" fmla="*/ 1669435 w 1756257"/>
              <a:gd name="connsiteY4" fmla="*/ 1840637 h 1891359"/>
              <a:gd name="connsiteX5" fmla="*/ 1612449 w 1756257"/>
              <a:gd name="connsiteY5" fmla="*/ 1257671 h 1891359"/>
              <a:gd name="connsiteX6" fmla="*/ 1563496 w 1756257"/>
              <a:gd name="connsiteY6" fmla="*/ 959631 h 1891359"/>
              <a:gd name="connsiteX7" fmla="*/ 1560208 w 1756257"/>
              <a:gd name="connsiteY7" fmla="*/ 672856 h 1891359"/>
              <a:gd name="connsiteX8" fmla="*/ 1428622 w 1756257"/>
              <a:gd name="connsiteY8" fmla="*/ 154877 h 1891359"/>
              <a:gd name="connsiteX9" fmla="*/ 930782 w 1756257"/>
              <a:gd name="connsiteY9" fmla="*/ 21205 h 1891359"/>
              <a:gd name="connsiteX10" fmla="*/ 452050 w 1756257"/>
              <a:gd name="connsiteY10" fmla="*/ 534641 h 1891359"/>
              <a:gd name="connsiteX0" fmla="*/ 452050 w 1764590"/>
              <a:gd name="connsiteY0" fmla="*/ 534641 h 1891359"/>
              <a:gd name="connsiteX1" fmla="*/ 91698 w 1764590"/>
              <a:gd name="connsiteY1" fmla="*/ 940200 h 1891359"/>
              <a:gd name="connsiteX2" fmla="*/ 13351 w 1764590"/>
              <a:gd name="connsiteY2" fmla="*/ 1737812 h 1891359"/>
              <a:gd name="connsiteX3" fmla="*/ 309435 w 1764590"/>
              <a:gd name="connsiteY3" fmla="*/ 1891359 h 1891359"/>
              <a:gd name="connsiteX4" fmla="*/ 1669435 w 1764590"/>
              <a:gd name="connsiteY4" fmla="*/ 1840637 h 1891359"/>
              <a:gd name="connsiteX5" fmla="*/ 1612449 w 1764590"/>
              <a:gd name="connsiteY5" fmla="*/ 1257671 h 1891359"/>
              <a:gd name="connsiteX6" fmla="*/ 1309780 w 1764590"/>
              <a:gd name="connsiteY6" fmla="*/ 1046341 h 1891359"/>
              <a:gd name="connsiteX7" fmla="*/ 1560208 w 1764590"/>
              <a:gd name="connsiteY7" fmla="*/ 672856 h 1891359"/>
              <a:gd name="connsiteX8" fmla="*/ 1428622 w 1764590"/>
              <a:gd name="connsiteY8" fmla="*/ 154877 h 1891359"/>
              <a:gd name="connsiteX9" fmla="*/ 930782 w 1764590"/>
              <a:gd name="connsiteY9" fmla="*/ 21205 h 1891359"/>
              <a:gd name="connsiteX10" fmla="*/ 452050 w 1764590"/>
              <a:gd name="connsiteY10" fmla="*/ 534641 h 1891359"/>
              <a:gd name="connsiteX0" fmla="*/ 452050 w 1764592"/>
              <a:gd name="connsiteY0" fmla="*/ 534641 h 1891359"/>
              <a:gd name="connsiteX1" fmla="*/ 91698 w 1764592"/>
              <a:gd name="connsiteY1" fmla="*/ 940200 h 1891359"/>
              <a:gd name="connsiteX2" fmla="*/ 13351 w 1764592"/>
              <a:gd name="connsiteY2" fmla="*/ 1737812 h 1891359"/>
              <a:gd name="connsiteX3" fmla="*/ 309435 w 1764592"/>
              <a:gd name="connsiteY3" fmla="*/ 1891359 h 1891359"/>
              <a:gd name="connsiteX4" fmla="*/ 1669435 w 1764592"/>
              <a:gd name="connsiteY4" fmla="*/ 1840637 h 1891359"/>
              <a:gd name="connsiteX5" fmla="*/ 1612449 w 1764592"/>
              <a:gd name="connsiteY5" fmla="*/ 1257671 h 1891359"/>
              <a:gd name="connsiteX6" fmla="*/ 1309780 w 1764592"/>
              <a:gd name="connsiteY6" fmla="*/ 1046341 h 1891359"/>
              <a:gd name="connsiteX7" fmla="*/ 1560208 w 1764592"/>
              <a:gd name="connsiteY7" fmla="*/ 672856 h 1891359"/>
              <a:gd name="connsiteX8" fmla="*/ 1428622 w 1764592"/>
              <a:gd name="connsiteY8" fmla="*/ 154877 h 1891359"/>
              <a:gd name="connsiteX9" fmla="*/ 930782 w 1764592"/>
              <a:gd name="connsiteY9" fmla="*/ 21205 h 1891359"/>
              <a:gd name="connsiteX10" fmla="*/ 452050 w 1764592"/>
              <a:gd name="connsiteY10" fmla="*/ 534641 h 1891359"/>
              <a:gd name="connsiteX0" fmla="*/ 452050 w 1764590"/>
              <a:gd name="connsiteY0" fmla="*/ 534641 h 1891359"/>
              <a:gd name="connsiteX1" fmla="*/ 91698 w 1764590"/>
              <a:gd name="connsiteY1" fmla="*/ 940200 h 1891359"/>
              <a:gd name="connsiteX2" fmla="*/ 13351 w 1764590"/>
              <a:gd name="connsiteY2" fmla="*/ 1737812 h 1891359"/>
              <a:gd name="connsiteX3" fmla="*/ 309435 w 1764590"/>
              <a:gd name="connsiteY3" fmla="*/ 1891359 h 1891359"/>
              <a:gd name="connsiteX4" fmla="*/ 1669435 w 1764590"/>
              <a:gd name="connsiteY4" fmla="*/ 1840637 h 1891359"/>
              <a:gd name="connsiteX5" fmla="*/ 1612449 w 1764590"/>
              <a:gd name="connsiteY5" fmla="*/ 1257671 h 1891359"/>
              <a:gd name="connsiteX6" fmla="*/ 1309780 w 1764590"/>
              <a:gd name="connsiteY6" fmla="*/ 1046341 h 1891359"/>
              <a:gd name="connsiteX7" fmla="*/ 1560208 w 1764590"/>
              <a:gd name="connsiteY7" fmla="*/ 672856 h 1891359"/>
              <a:gd name="connsiteX8" fmla="*/ 1428622 w 1764590"/>
              <a:gd name="connsiteY8" fmla="*/ 154877 h 1891359"/>
              <a:gd name="connsiteX9" fmla="*/ 930782 w 1764590"/>
              <a:gd name="connsiteY9" fmla="*/ 21205 h 1891359"/>
              <a:gd name="connsiteX10" fmla="*/ 452050 w 1764590"/>
              <a:gd name="connsiteY10" fmla="*/ 534641 h 1891359"/>
              <a:gd name="connsiteX0" fmla="*/ 452050 w 1792731"/>
              <a:gd name="connsiteY0" fmla="*/ 534641 h 1891359"/>
              <a:gd name="connsiteX1" fmla="*/ 91698 w 1792731"/>
              <a:gd name="connsiteY1" fmla="*/ 940200 h 1891359"/>
              <a:gd name="connsiteX2" fmla="*/ 13351 w 1792731"/>
              <a:gd name="connsiteY2" fmla="*/ 1737812 h 1891359"/>
              <a:gd name="connsiteX3" fmla="*/ 309435 w 1792731"/>
              <a:gd name="connsiteY3" fmla="*/ 1891359 h 1891359"/>
              <a:gd name="connsiteX4" fmla="*/ 1669435 w 1792731"/>
              <a:gd name="connsiteY4" fmla="*/ 1840637 h 1891359"/>
              <a:gd name="connsiteX5" fmla="*/ 1688563 w 1792731"/>
              <a:gd name="connsiteY5" fmla="*/ 1292355 h 1891359"/>
              <a:gd name="connsiteX6" fmla="*/ 1309780 w 1792731"/>
              <a:gd name="connsiteY6" fmla="*/ 1046341 h 1891359"/>
              <a:gd name="connsiteX7" fmla="*/ 1560208 w 1792731"/>
              <a:gd name="connsiteY7" fmla="*/ 672856 h 1891359"/>
              <a:gd name="connsiteX8" fmla="*/ 1428622 w 1792731"/>
              <a:gd name="connsiteY8" fmla="*/ 154877 h 1891359"/>
              <a:gd name="connsiteX9" fmla="*/ 930782 w 1792731"/>
              <a:gd name="connsiteY9" fmla="*/ 21205 h 1891359"/>
              <a:gd name="connsiteX10" fmla="*/ 452050 w 1792731"/>
              <a:gd name="connsiteY10" fmla="*/ 534641 h 1891359"/>
              <a:gd name="connsiteX0" fmla="*/ 452050 w 1814809"/>
              <a:gd name="connsiteY0" fmla="*/ 534641 h 1891359"/>
              <a:gd name="connsiteX1" fmla="*/ 91698 w 1814809"/>
              <a:gd name="connsiteY1" fmla="*/ 940200 h 1891359"/>
              <a:gd name="connsiteX2" fmla="*/ 13351 w 1814809"/>
              <a:gd name="connsiteY2" fmla="*/ 1737812 h 1891359"/>
              <a:gd name="connsiteX3" fmla="*/ 309435 w 1814809"/>
              <a:gd name="connsiteY3" fmla="*/ 1891359 h 1891359"/>
              <a:gd name="connsiteX4" fmla="*/ 1669435 w 1814809"/>
              <a:gd name="connsiteY4" fmla="*/ 1840637 h 1891359"/>
              <a:gd name="connsiteX5" fmla="*/ 1688563 w 1814809"/>
              <a:gd name="connsiteY5" fmla="*/ 1292355 h 1891359"/>
              <a:gd name="connsiteX6" fmla="*/ 1309780 w 1814809"/>
              <a:gd name="connsiteY6" fmla="*/ 1046341 h 1891359"/>
              <a:gd name="connsiteX7" fmla="*/ 1560208 w 1814809"/>
              <a:gd name="connsiteY7" fmla="*/ 672856 h 1891359"/>
              <a:gd name="connsiteX8" fmla="*/ 1428622 w 1814809"/>
              <a:gd name="connsiteY8" fmla="*/ 154877 h 1891359"/>
              <a:gd name="connsiteX9" fmla="*/ 930782 w 1814809"/>
              <a:gd name="connsiteY9" fmla="*/ 21205 h 1891359"/>
              <a:gd name="connsiteX10" fmla="*/ 452050 w 1814809"/>
              <a:gd name="connsiteY10" fmla="*/ 534641 h 1891359"/>
              <a:gd name="connsiteX0" fmla="*/ 452050 w 1814809"/>
              <a:gd name="connsiteY0" fmla="*/ 534641 h 1891359"/>
              <a:gd name="connsiteX1" fmla="*/ 91698 w 1814809"/>
              <a:gd name="connsiteY1" fmla="*/ 940200 h 1891359"/>
              <a:gd name="connsiteX2" fmla="*/ 13351 w 1814809"/>
              <a:gd name="connsiteY2" fmla="*/ 1737812 h 1891359"/>
              <a:gd name="connsiteX3" fmla="*/ 309435 w 1814809"/>
              <a:gd name="connsiteY3" fmla="*/ 1891359 h 1891359"/>
              <a:gd name="connsiteX4" fmla="*/ 1669435 w 1814809"/>
              <a:gd name="connsiteY4" fmla="*/ 1840637 h 1891359"/>
              <a:gd name="connsiteX5" fmla="*/ 1688563 w 1814809"/>
              <a:gd name="connsiteY5" fmla="*/ 1292355 h 1891359"/>
              <a:gd name="connsiteX6" fmla="*/ 1309780 w 1814809"/>
              <a:gd name="connsiteY6" fmla="*/ 1046341 h 1891359"/>
              <a:gd name="connsiteX7" fmla="*/ 1619996 w 1814809"/>
              <a:gd name="connsiteY7" fmla="*/ 526399 h 1891359"/>
              <a:gd name="connsiteX8" fmla="*/ 1428622 w 1814809"/>
              <a:gd name="connsiteY8" fmla="*/ 154877 h 1891359"/>
              <a:gd name="connsiteX9" fmla="*/ 930782 w 1814809"/>
              <a:gd name="connsiteY9" fmla="*/ 21205 h 1891359"/>
              <a:gd name="connsiteX10" fmla="*/ 452050 w 1814809"/>
              <a:gd name="connsiteY10" fmla="*/ 534641 h 1891359"/>
              <a:gd name="connsiteX0" fmla="*/ 452050 w 1814809"/>
              <a:gd name="connsiteY0" fmla="*/ 542872 h 1899590"/>
              <a:gd name="connsiteX1" fmla="*/ 91698 w 1814809"/>
              <a:gd name="connsiteY1" fmla="*/ 948431 h 1899590"/>
              <a:gd name="connsiteX2" fmla="*/ 13351 w 1814809"/>
              <a:gd name="connsiteY2" fmla="*/ 1746043 h 1899590"/>
              <a:gd name="connsiteX3" fmla="*/ 309435 w 1814809"/>
              <a:gd name="connsiteY3" fmla="*/ 1899590 h 1899590"/>
              <a:gd name="connsiteX4" fmla="*/ 1669435 w 1814809"/>
              <a:gd name="connsiteY4" fmla="*/ 1848868 h 1899590"/>
              <a:gd name="connsiteX5" fmla="*/ 1688563 w 1814809"/>
              <a:gd name="connsiteY5" fmla="*/ 1300586 h 1899590"/>
              <a:gd name="connsiteX6" fmla="*/ 1309780 w 1814809"/>
              <a:gd name="connsiteY6" fmla="*/ 1054572 h 1899590"/>
              <a:gd name="connsiteX7" fmla="*/ 1619996 w 1814809"/>
              <a:gd name="connsiteY7" fmla="*/ 534630 h 1899590"/>
              <a:gd name="connsiteX8" fmla="*/ 1488411 w 1814809"/>
              <a:gd name="connsiteY8" fmla="*/ 129049 h 1899590"/>
              <a:gd name="connsiteX9" fmla="*/ 930782 w 1814809"/>
              <a:gd name="connsiteY9" fmla="*/ 29436 h 1899590"/>
              <a:gd name="connsiteX10" fmla="*/ 452050 w 1814809"/>
              <a:gd name="connsiteY10" fmla="*/ 542872 h 1899590"/>
              <a:gd name="connsiteX0" fmla="*/ 452050 w 1814809"/>
              <a:gd name="connsiteY0" fmla="*/ 540513 h 1897231"/>
              <a:gd name="connsiteX1" fmla="*/ 91698 w 1814809"/>
              <a:gd name="connsiteY1" fmla="*/ 946072 h 1897231"/>
              <a:gd name="connsiteX2" fmla="*/ 13351 w 1814809"/>
              <a:gd name="connsiteY2" fmla="*/ 1743684 h 1897231"/>
              <a:gd name="connsiteX3" fmla="*/ 309435 w 1814809"/>
              <a:gd name="connsiteY3" fmla="*/ 1897231 h 1897231"/>
              <a:gd name="connsiteX4" fmla="*/ 1669435 w 1814809"/>
              <a:gd name="connsiteY4" fmla="*/ 1846509 h 1897231"/>
              <a:gd name="connsiteX5" fmla="*/ 1688563 w 1814809"/>
              <a:gd name="connsiteY5" fmla="*/ 1298227 h 1897231"/>
              <a:gd name="connsiteX6" fmla="*/ 1309780 w 1814809"/>
              <a:gd name="connsiteY6" fmla="*/ 1052213 h 1897231"/>
              <a:gd name="connsiteX7" fmla="*/ 1619996 w 1814809"/>
              <a:gd name="connsiteY7" fmla="*/ 532271 h 1897231"/>
              <a:gd name="connsiteX8" fmla="*/ 1488411 w 1814809"/>
              <a:gd name="connsiteY8" fmla="*/ 126690 h 1897231"/>
              <a:gd name="connsiteX9" fmla="*/ 930782 w 1814809"/>
              <a:gd name="connsiteY9" fmla="*/ 27077 h 1897231"/>
              <a:gd name="connsiteX10" fmla="*/ 452050 w 1814809"/>
              <a:gd name="connsiteY10" fmla="*/ 540513 h 1897231"/>
              <a:gd name="connsiteX0" fmla="*/ 452050 w 1814809"/>
              <a:gd name="connsiteY0" fmla="*/ 540513 h 1897231"/>
              <a:gd name="connsiteX1" fmla="*/ 91698 w 1814809"/>
              <a:gd name="connsiteY1" fmla="*/ 946072 h 1897231"/>
              <a:gd name="connsiteX2" fmla="*/ 13351 w 1814809"/>
              <a:gd name="connsiteY2" fmla="*/ 1743684 h 1897231"/>
              <a:gd name="connsiteX3" fmla="*/ 309435 w 1814809"/>
              <a:gd name="connsiteY3" fmla="*/ 1897231 h 1897231"/>
              <a:gd name="connsiteX4" fmla="*/ 1669435 w 1814809"/>
              <a:gd name="connsiteY4" fmla="*/ 1846509 h 1897231"/>
              <a:gd name="connsiteX5" fmla="*/ 1688563 w 1814809"/>
              <a:gd name="connsiteY5" fmla="*/ 1298227 h 1897231"/>
              <a:gd name="connsiteX6" fmla="*/ 1309780 w 1814809"/>
              <a:gd name="connsiteY6" fmla="*/ 1052213 h 1897231"/>
              <a:gd name="connsiteX7" fmla="*/ 1619996 w 1814809"/>
              <a:gd name="connsiteY7" fmla="*/ 532271 h 1897231"/>
              <a:gd name="connsiteX8" fmla="*/ 1488411 w 1814809"/>
              <a:gd name="connsiteY8" fmla="*/ 126690 h 1897231"/>
              <a:gd name="connsiteX9" fmla="*/ 930782 w 1814809"/>
              <a:gd name="connsiteY9" fmla="*/ 27077 h 1897231"/>
              <a:gd name="connsiteX10" fmla="*/ 452050 w 1814809"/>
              <a:gd name="connsiteY10" fmla="*/ 540513 h 1897231"/>
              <a:gd name="connsiteX0" fmla="*/ 288567 w 1811701"/>
              <a:gd name="connsiteY0" fmla="*/ 555674 h 1898251"/>
              <a:gd name="connsiteX1" fmla="*/ 88590 w 1811701"/>
              <a:gd name="connsiteY1" fmla="*/ 947092 h 1898251"/>
              <a:gd name="connsiteX2" fmla="*/ 10243 w 1811701"/>
              <a:gd name="connsiteY2" fmla="*/ 1744704 h 1898251"/>
              <a:gd name="connsiteX3" fmla="*/ 306327 w 1811701"/>
              <a:gd name="connsiteY3" fmla="*/ 1898251 h 1898251"/>
              <a:gd name="connsiteX4" fmla="*/ 1666327 w 1811701"/>
              <a:gd name="connsiteY4" fmla="*/ 1847529 h 1898251"/>
              <a:gd name="connsiteX5" fmla="*/ 1685455 w 1811701"/>
              <a:gd name="connsiteY5" fmla="*/ 1299247 h 1898251"/>
              <a:gd name="connsiteX6" fmla="*/ 1306672 w 1811701"/>
              <a:gd name="connsiteY6" fmla="*/ 1053233 h 1898251"/>
              <a:gd name="connsiteX7" fmla="*/ 1616888 w 1811701"/>
              <a:gd name="connsiteY7" fmla="*/ 533291 h 1898251"/>
              <a:gd name="connsiteX8" fmla="*/ 1485303 w 1811701"/>
              <a:gd name="connsiteY8" fmla="*/ 127710 h 1898251"/>
              <a:gd name="connsiteX9" fmla="*/ 927674 w 1811701"/>
              <a:gd name="connsiteY9" fmla="*/ 28097 h 1898251"/>
              <a:gd name="connsiteX10" fmla="*/ 288567 w 1811701"/>
              <a:gd name="connsiteY10" fmla="*/ 555674 h 1898251"/>
              <a:gd name="connsiteX0" fmla="*/ 288567 w 1811701"/>
              <a:gd name="connsiteY0" fmla="*/ 479828 h 1822405"/>
              <a:gd name="connsiteX1" fmla="*/ 88590 w 1811701"/>
              <a:gd name="connsiteY1" fmla="*/ 871246 h 1822405"/>
              <a:gd name="connsiteX2" fmla="*/ 10243 w 1811701"/>
              <a:gd name="connsiteY2" fmla="*/ 1668858 h 1822405"/>
              <a:gd name="connsiteX3" fmla="*/ 306327 w 1811701"/>
              <a:gd name="connsiteY3" fmla="*/ 1822405 h 1822405"/>
              <a:gd name="connsiteX4" fmla="*/ 1666327 w 1811701"/>
              <a:gd name="connsiteY4" fmla="*/ 1771683 h 1822405"/>
              <a:gd name="connsiteX5" fmla="*/ 1685455 w 1811701"/>
              <a:gd name="connsiteY5" fmla="*/ 1223401 h 1822405"/>
              <a:gd name="connsiteX6" fmla="*/ 1306672 w 1811701"/>
              <a:gd name="connsiteY6" fmla="*/ 977387 h 1822405"/>
              <a:gd name="connsiteX7" fmla="*/ 1616888 w 1811701"/>
              <a:gd name="connsiteY7" fmla="*/ 457445 h 1822405"/>
              <a:gd name="connsiteX8" fmla="*/ 1485303 w 1811701"/>
              <a:gd name="connsiteY8" fmla="*/ 51864 h 1822405"/>
              <a:gd name="connsiteX9" fmla="*/ 895599 w 1811701"/>
              <a:gd name="connsiteY9" fmla="*/ 79530 h 1822405"/>
              <a:gd name="connsiteX10" fmla="*/ 288567 w 1811701"/>
              <a:gd name="connsiteY10" fmla="*/ 479828 h 1822405"/>
              <a:gd name="connsiteX0" fmla="*/ 288567 w 1811701"/>
              <a:gd name="connsiteY0" fmla="*/ 419258 h 1761835"/>
              <a:gd name="connsiteX1" fmla="*/ 88590 w 1811701"/>
              <a:gd name="connsiteY1" fmla="*/ 810676 h 1761835"/>
              <a:gd name="connsiteX2" fmla="*/ 10243 w 1811701"/>
              <a:gd name="connsiteY2" fmla="*/ 1608288 h 1761835"/>
              <a:gd name="connsiteX3" fmla="*/ 306327 w 1811701"/>
              <a:gd name="connsiteY3" fmla="*/ 1761835 h 1761835"/>
              <a:gd name="connsiteX4" fmla="*/ 1666327 w 1811701"/>
              <a:gd name="connsiteY4" fmla="*/ 1711113 h 1761835"/>
              <a:gd name="connsiteX5" fmla="*/ 1685455 w 1811701"/>
              <a:gd name="connsiteY5" fmla="*/ 1162831 h 1761835"/>
              <a:gd name="connsiteX6" fmla="*/ 1306672 w 1811701"/>
              <a:gd name="connsiteY6" fmla="*/ 916817 h 1761835"/>
              <a:gd name="connsiteX7" fmla="*/ 1616888 w 1811701"/>
              <a:gd name="connsiteY7" fmla="*/ 396875 h 1761835"/>
              <a:gd name="connsiteX8" fmla="*/ 1373040 w 1811701"/>
              <a:gd name="connsiteY8" fmla="*/ 118574 h 1761835"/>
              <a:gd name="connsiteX9" fmla="*/ 895599 w 1811701"/>
              <a:gd name="connsiteY9" fmla="*/ 18960 h 1761835"/>
              <a:gd name="connsiteX10" fmla="*/ 288567 w 1811701"/>
              <a:gd name="connsiteY10" fmla="*/ 419258 h 1761835"/>
              <a:gd name="connsiteX0" fmla="*/ 288567 w 1811701"/>
              <a:gd name="connsiteY0" fmla="*/ 419258 h 1761835"/>
              <a:gd name="connsiteX1" fmla="*/ 88590 w 1811701"/>
              <a:gd name="connsiteY1" fmla="*/ 810676 h 1761835"/>
              <a:gd name="connsiteX2" fmla="*/ 10243 w 1811701"/>
              <a:gd name="connsiteY2" fmla="*/ 1608288 h 1761835"/>
              <a:gd name="connsiteX3" fmla="*/ 306327 w 1811701"/>
              <a:gd name="connsiteY3" fmla="*/ 1761835 h 1761835"/>
              <a:gd name="connsiteX4" fmla="*/ 1666327 w 1811701"/>
              <a:gd name="connsiteY4" fmla="*/ 1711113 h 1761835"/>
              <a:gd name="connsiteX5" fmla="*/ 1685455 w 1811701"/>
              <a:gd name="connsiteY5" fmla="*/ 1162831 h 1761835"/>
              <a:gd name="connsiteX6" fmla="*/ 1306672 w 1811701"/>
              <a:gd name="connsiteY6" fmla="*/ 916817 h 1761835"/>
              <a:gd name="connsiteX7" fmla="*/ 1584814 w 1811701"/>
              <a:gd name="connsiteY7" fmla="*/ 510012 h 1761835"/>
              <a:gd name="connsiteX8" fmla="*/ 1373040 w 1811701"/>
              <a:gd name="connsiteY8" fmla="*/ 118574 h 1761835"/>
              <a:gd name="connsiteX9" fmla="*/ 895599 w 1811701"/>
              <a:gd name="connsiteY9" fmla="*/ 18960 h 1761835"/>
              <a:gd name="connsiteX10" fmla="*/ 288567 w 1811701"/>
              <a:gd name="connsiteY10" fmla="*/ 419258 h 1761835"/>
              <a:gd name="connsiteX0" fmla="*/ 288567 w 1770444"/>
              <a:gd name="connsiteY0" fmla="*/ 419258 h 1761835"/>
              <a:gd name="connsiteX1" fmla="*/ 88590 w 1770444"/>
              <a:gd name="connsiteY1" fmla="*/ 810676 h 1761835"/>
              <a:gd name="connsiteX2" fmla="*/ 10243 w 1770444"/>
              <a:gd name="connsiteY2" fmla="*/ 1608288 h 1761835"/>
              <a:gd name="connsiteX3" fmla="*/ 306327 w 1770444"/>
              <a:gd name="connsiteY3" fmla="*/ 1761835 h 1761835"/>
              <a:gd name="connsiteX4" fmla="*/ 1666327 w 1770444"/>
              <a:gd name="connsiteY4" fmla="*/ 1711113 h 1761835"/>
              <a:gd name="connsiteX5" fmla="*/ 1589229 w 1770444"/>
              <a:gd name="connsiteY5" fmla="*/ 1176973 h 1761835"/>
              <a:gd name="connsiteX6" fmla="*/ 1306672 w 1770444"/>
              <a:gd name="connsiteY6" fmla="*/ 916817 h 1761835"/>
              <a:gd name="connsiteX7" fmla="*/ 1584814 w 1770444"/>
              <a:gd name="connsiteY7" fmla="*/ 510012 h 1761835"/>
              <a:gd name="connsiteX8" fmla="*/ 1373040 w 1770444"/>
              <a:gd name="connsiteY8" fmla="*/ 118574 h 1761835"/>
              <a:gd name="connsiteX9" fmla="*/ 895599 w 1770444"/>
              <a:gd name="connsiteY9" fmla="*/ 18960 h 1761835"/>
              <a:gd name="connsiteX10" fmla="*/ 288567 w 1770444"/>
              <a:gd name="connsiteY10" fmla="*/ 419258 h 1761835"/>
              <a:gd name="connsiteX0" fmla="*/ 288567 w 1592514"/>
              <a:gd name="connsiteY0" fmla="*/ 419258 h 1863058"/>
              <a:gd name="connsiteX1" fmla="*/ 88590 w 1592514"/>
              <a:gd name="connsiteY1" fmla="*/ 810676 h 1863058"/>
              <a:gd name="connsiteX2" fmla="*/ 10243 w 1592514"/>
              <a:gd name="connsiteY2" fmla="*/ 1608288 h 1863058"/>
              <a:gd name="connsiteX3" fmla="*/ 306327 w 1592514"/>
              <a:gd name="connsiteY3" fmla="*/ 1761835 h 1863058"/>
              <a:gd name="connsiteX4" fmla="*/ 1377650 w 1592514"/>
              <a:gd name="connsiteY4" fmla="*/ 1838393 h 1863058"/>
              <a:gd name="connsiteX5" fmla="*/ 1589229 w 1592514"/>
              <a:gd name="connsiteY5" fmla="*/ 1176973 h 1863058"/>
              <a:gd name="connsiteX6" fmla="*/ 1306672 w 1592514"/>
              <a:gd name="connsiteY6" fmla="*/ 916817 h 1863058"/>
              <a:gd name="connsiteX7" fmla="*/ 1584814 w 1592514"/>
              <a:gd name="connsiteY7" fmla="*/ 510012 h 1863058"/>
              <a:gd name="connsiteX8" fmla="*/ 1373040 w 1592514"/>
              <a:gd name="connsiteY8" fmla="*/ 118574 h 1863058"/>
              <a:gd name="connsiteX9" fmla="*/ 895599 w 1592514"/>
              <a:gd name="connsiteY9" fmla="*/ 18960 h 1863058"/>
              <a:gd name="connsiteX10" fmla="*/ 288567 w 1592514"/>
              <a:gd name="connsiteY10" fmla="*/ 419258 h 1863058"/>
              <a:gd name="connsiteX0" fmla="*/ 421322 w 1594935"/>
              <a:gd name="connsiteY0" fmla="*/ 616342 h 1876292"/>
              <a:gd name="connsiteX1" fmla="*/ 91011 w 1594935"/>
              <a:gd name="connsiteY1" fmla="*/ 823910 h 1876292"/>
              <a:gd name="connsiteX2" fmla="*/ 12664 w 1594935"/>
              <a:gd name="connsiteY2" fmla="*/ 1621522 h 1876292"/>
              <a:gd name="connsiteX3" fmla="*/ 308748 w 1594935"/>
              <a:gd name="connsiteY3" fmla="*/ 1775069 h 1876292"/>
              <a:gd name="connsiteX4" fmla="*/ 1380071 w 1594935"/>
              <a:gd name="connsiteY4" fmla="*/ 1851627 h 1876292"/>
              <a:gd name="connsiteX5" fmla="*/ 1591650 w 1594935"/>
              <a:gd name="connsiteY5" fmla="*/ 1190207 h 1876292"/>
              <a:gd name="connsiteX6" fmla="*/ 1309093 w 1594935"/>
              <a:gd name="connsiteY6" fmla="*/ 930051 h 1876292"/>
              <a:gd name="connsiteX7" fmla="*/ 1587235 w 1594935"/>
              <a:gd name="connsiteY7" fmla="*/ 523246 h 1876292"/>
              <a:gd name="connsiteX8" fmla="*/ 1375461 w 1594935"/>
              <a:gd name="connsiteY8" fmla="*/ 131808 h 1876292"/>
              <a:gd name="connsiteX9" fmla="*/ 898020 w 1594935"/>
              <a:gd name="connsiteY9" fmla="*/ 32194 h 1876292"/>
              <a:gd name="connsiteX10" fmla="*/ 421322 w 1594935"/>
              <a:gd name="connsiteY10" fmla="*/ 616342 h 1876292"/>
              <a:gd name="connsiteX0" fmla="*/ 413257 w 1586870"/>
              <a:gd name="connsiteY0" fmla="*/ 616342 h 1876292"/>
              <a:gd name="connsiteX1" fmla="*/ 140873 w 1586870"/>
              <a:gd name="connsiteY1" fmla="*/ 993617 h 1876292"/>
              <a:gd name="connsiteX2" fmla="*/ 4599 w 1586870"/>
              <a:gd name="connsiteY2" fmla="*/ 1621522 h 1876292"/>
              <a:gd name="connsiteX3" fmla="*/ 300683 w 1586870"/>
              <a:gd name="connsiteY3" fmla="*/ 1775069 h 1876292"/>
              <a:gd name="connsiteX4" fmla="*/ 1372006 w 1586870"/>
              <a:gd name="connsiteY4" fmla="*/ 1851627 h 1876292"/>
              <a:gd name="connsiteX5" fmla="*/ 1583585 w 1586870"/>
              <a:gd name="connsiteY5" fmla="*/ 1190207 h 1876292"/>
              <a:gd name="connsiteX6" fmla="*/ 1301028 w 1586870"/>
              <a:gd name="connsiteY6" fmla="*/ 930051 h 1876292"/>
              <a:gd name="connsiteX7" fmla="*/ 1579170 w 1586870"/>
              <a:gd name="connsiteY7" fmla="*/ 523246 h 1876292"/>
              <a:gd name="connsiteX8" fmla="*/ 1367396 w 1586870"/>
              <a:gd name="connsiteY8" fmla="*/ 131808 h 1876292"/>
              <a:gd name="connsiteX9" fmla="*/ 889955 w 1586870"/>
              <a:gd name="connsiteY9" fmla="*/ 32194 h 1876292"/>
              <a:gd name="connsiteX10" fmla="*/ 413257 w 1586870"/>
              <a:gd name="connsiteY10" fmla="*/ 616342 h 1876292"/>
              <a:gd name="connsiteX0" fmla="*/ 284962 w 1458575"/>
              <a:gd name="connsiteY0" fmla="*/ 616342 h 1908017"/>
              <a:gd name="connsiteX1" fmla="*/ 12578 w 1458575"/>
              <a:gd name="connsiteY1" fmla="*/ 993617 h 1908017"/>
              <a:gd name="connsiteX2" fmla="*/ 172388 w 1458575"/>
              <a:gd name="connsiteY2" fmla="*/ 1775069 h 1908017"/>
              <a:gd name="connsiteX3" fmla="*/ 1243711 w 1458575"/>
              <a:gd name="connsiteY3" fmla="*/ 1851627 h 1908017"/>
              <a:gd name="connsiteX4" fmla="*/ 1455290 w 1458575"/>
              <a:gd name="connsiteY4" fmla="*/ 1190207 h 1908017"/>
              <a:gd name="connsiteX5" fmla="*/ 1172733 w 1458575"/>
              <a:gd name="connsiteY5" fmla="*/ 930051 h 1908017"/>
              <a:gd name="connsiteX6" fmla="*/ 1450875 w 1458575"/>
              <a:gd name="connsiteY6" fmla="*/ 523246 h 1908017"/>
              <a:gd name="connsiteX7" fmla="*/ 1239101 w 1458575"/>
              <a:gd name="connsiteY7" fmla="*/ 131808 h 1908017"/>
              <a:gd name="connsiteX8" fmla="*/ 761660 w 1458575"/>
              <a:gd name="connsiteY8" fmla="*/ 32194 h 1908017"/>
              <a:gd name="connsiteX9" fmla="*/ 284962 w 1458575"/>
              <a:gd name="connsiteY9" fmla="*/ 616342 h 1908017"/>
              <a:gd name="connsiteX0" fmla="*/ 343858 w 1519131"/>
              <a:gd name="connsiteY0" fmla="*/ 616342 h 1885036"/>
              <a:gd name="connsiteX1" fmla="*/ 71474 w 1519131"/>
              <a:gd name="connsiteY1" fmla="*/ 993617 h 1885036"/>
              <a:gd name="connsiteX2" fmla="*/ 115432 w 1519131"/>
              <a:gd name="connsiteY2" fmla="*/ 1704358 h 1885036"/>
              <a:gd name="connsiteX3" fmla="*/ 1302607 w 1519131"/>
              <a:gd name="connsiteY3" fmla="*/ 1851627 h 1885036"/>
              <a:gd name="connsiteX4" fmla="*/ 1514186 w 1519131"/>
              <a:gd name="connsiteY4" fmla="*/ 1190207 h 1885036"/>
              <a:gd name="connsiteX5" fmla="*/ 1231629 w 1519131"/>
              <a:gd name="connsiteY5" fmla="*/ 930051 h 1885036"/>
              <a:gd name="connsiteX6" fmla="*/ 1509771 w 1519131"/>
              <a:gd name="connsiteY6" fmla="*/ 523246 h 1885036"/>
              <a:gd name="connsiteX7" fmla="*/ 1297997 w 1519131"/>
              <a:gd name="connsiteY7" fmla="*/ 131808 h 1885036"/>
              <a:gd name="connsiteX8" fmla="*/ 820556 w 1519131"/>
              <a:gd name="connsiteY8" fmla="*/ 32194 h 1885036"/>
              <a:gd name="connsiteX9" fmla="*/ 343858 w 1519131"/>
              <a:gd name="connsiteY9" fmla="*/ 616342 h 1885036"/>
              <a:gd name="connsiteX0" fmla="*/ 343858 w 1549812"/>
              <a:gd name="connsiteY0" fmla="*/ 616342 h 1800235"/>
              <a:gd name="connsiteX1" fmla="*/ 71474 w 1549812"/>
              <a:gd name="connsiteY1" fmla="*/ 993617 h 1800235"/>
              <a:gd name="connsiteX2" fmla="*/ 115432 w 1549812"/>
              <a:gd name="connsiteY2" fmla="*/ 1704358 h 1800235"/>
              <a:gd name="connsiteX3" fmla="*/ 1389496 w 1549812"/>
              <a:gd name="connsiteY3" fmla="*/ 1724347 h 1800235"/>
              <a:gd name="connsiteX4" fmla="*/ 1514186 w 1549812"/>
              <a:gd name="connsiteY4" fmla="*/ 1190207 h 1800235"/>
              <a:gd name="connsiteX5" fmla="*/ 1231629 w 1549812"/>
              <a:gd name="connsiteY5" fmla="*/ 930051 h 1800235"/>
              <a:gd name="connsiteX6" fmla="*/ 1509771 w 1549812"/>
              <a:gd name="connsiteY6" fmla="*/ 523246 h 1800235"/>
              <a:gd name="connsiteX7" fmla="*/ 1297997 w 1549812"/>
              <a:gd name="connsiteY7" fmla="*/ 131808 h 1800235"/>
              <a:gd name="connsiteX8" fmla="*/ 820556 w 1549812"/>
              <a:gd name="connsiteY8" fmla="*/ 32194 h 1800235"/>
              <a:gd name="connsiteX9" fmla="*/ 343858 w 1549812"/>
              <a:gd name="connsiteY9" fmla="*/ 616342 h 1800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49812" h="1800235">
                <a:moveTo>
                  <a:pt x="343858" y="616342"/>
                </a:moveTo>
                <a:cubicBezTo>
                  <a:pt x="219011" y="776579"/>
                  <a:pt x="109545" y="812281"/>
                  <a:pt x="71474" y="993617"/>
                </a:cubicBezTo>
                <a:cubicBezTo>
                  <a:pt x="33403" y="1174953"/>
                  <a:pt x="-89757" y="1561356"/>
                  <a:pt x="115432" y="1704358"/>
                </a:cubicBezTo>
                <a:cubicBezTo>
                  <a:pt x="320621" y="1847360"/>
                  <a:pt x="1156371" y="1810039"/>
                  <a:pt x="1389496" y="1724347"/>
                </a:cubicBezTo>
                <a:cubicBezTo>
                  <a:pt x="1622621" y="1638655"/>
                  <a:pt x="1540497" y="1322590"/>
                  <a:pt x="1514186" y="1190207"/>
                </a:cubicBezTo>
                <a:cubicBezTo>
                  <a:pt x="1487875" y="1057824"/>
                  <a:pt x="1240336" y="1148914"/>
                  <a:pt x="1231629" y="930051"/>
                </a:cubicBezTo>
                <a:cubicBezTo>
                  <a:pt x="1248292" y="693847"/>
                  <a:pt x="1498710" y="656286"/>
                  <a:pt x="1509771" y="523246"/>
                </a:cubicBezTo>
                <a:cubicBezTo>
                  <a:pt x="1520832" y="390206"/>
                  <a:pt x="1431655" y="305130"/>
                  <a:pt x="1297997" y="131808"/>
                </a:cubicBezTo>
                <a:cubicBezTo>
                  <a:pt x="1189251" y="36824"/>
                  <a:pt x="979579" y="-48562"/>
                  <a:pt x="820556" y="32194"/>
                </a:cubicBezTo>
                <a:cubicBezTo>
                  <a:pt x="661533" y="112950"/>
                  <a:pt x="468705" y="456105"/>
                  <a:pt x="343858" y="616342"/>
                </a:cubicBezTo>
                <a:close/>
              </a:path>
            </a:pathLst>
          </a:custGeom>
          <a:solidFill>
            <a:srgbClr val="9CDFF9"/>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1" name="Freeform 417">
            <a:extLst>
              <a:ext uri="{FF2B5EF4-FFF2-40B4-BE49-F238E27FC236}">
                <a16:creationId xmlns:a16="http://schemas.microsoft.com/office/drawing/2014/main" id="{86D46BE4-B0DC-6447-9B19-4A15963D6107}"/>
              </a:ext>
            </a:extLst>
          </p:cNvPr>
          <p:cNvSpPr>
            <a:spLocks/>
          </p:cNvSpPr>
          <p:nvPr/>
        </p:nvSpPr>
        <p:spPr bwMode="auto">
          <a:xfrm>
            <a:off x="7274076" y="1826035"/>
            <a:ext cx="1736725" cy="1317704"/>
          </a:xfrm>
          <a:custGeom>
            <a:avLst/>
            <a:gdLst>
              <a:gd name="T0" fmla="*/ 2147483646 w 1036"/>
              <a:gd name="T1" fmla="*/ 2147483646 h 675"/>
              <a:gd name="T2" fmla="*/ 2147483646 w 1036"/>
              <a:gd name="T3" fmla="*/ 2147483646 h 675"/>
              <a:gd name="T4" fmla="*/ 2147483646 w 1036"/>
              <a:gd name="T5" fmla="*/ 2147483646 h 675"/>
              <a:gd name="T6" fmla="*/ 2147483646 w 1036"/>
              <a:gd name="T7" fmla="*/ 2147483646 h 675"/>
              <a:gd name="T8" fmla="*/ 2147483646 w 1036"/>
              <a:gd name="T9" fmla="*/ 2147483646 h 675"/>
              <a:gd name="T10" fmla="*/ 2147483646 w 1036"/>
              <a:gd name="T11" fmla="*/ 2147483646 h 675"/>
              <a:gd name="T12" fmla="*/ 2147483646 w 1036"/>
              <a:gd name="T13" fmla="*/ 2147483646 h 675"/>
              <a:gd name="T14" fmla="*/ 2147483646 w 1036"/>
              <a:gd name="T15" fmla="*/ 2147483646 h 675"/>
              <a:gd name="T16" fmla="*/ 2147483646 w 1036"/>
              <a:gd name="T17" fmla="*/ 2147483646 h 675"/>
              <a:gd name="T18" fmla="*/ 2147483646 w 1036"/>
              <a:gd name="T19" fmla="*/ 2147483646 h 675"/>
              <a:gd name="T20" fmla="*/ 2147483646 w 1036"/>
              <a:gd name="T21" fmla="*/ 2147483646 h 675"/>
              <a:gd name="T22" fmla="*/ 2147483646 w 1036"/>
              <a:gd name="T23" fmla="*/ 2147483646 h 675"/>
              <a:gd name="T24" fmla="*/ 2147483646 w 1036"/>
              <a:gd name="T25" fmla="*/ 2147483646 h 675"/>
              <a:gd name="T26" fmla="*/ 2147483646 w 1036"/>
              <a:gd name="T27" fmla="*/ 2147483646 h 675"/>
              <a:gd name="T28" fmla="*/ 2147483646 w 1036"/>
              <a:gd name="T29" fmla="*/ 2147483646 h 675"/>
              <a:gd name="T30" fmla="*/ 2147483646 w 1036"/>
              <a:gd name="T31" fmla="*/ 2147483646 h 675"/>
              <a:gd name="T32" fmla="*/ 2147483646 w 1036"/>
              <a:gd name="T33" fmla="*/ 2147483646 h 675"/>
              <a:gd name="T34" fmla="*/ 2147483646 w 1036"/>
              <a:gd name="T35" fmla="*/ 2147483646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9CDFF9"/>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12" name="Group 418">
            <a:extLst>
              <a:ext uri="{FF2B5EF4-FFF2-40B4-BE49-F238E27FC236}">
                <a16:creationId xmlns:a16="http://schemas.microsoft.com/office/drawing/2014/main" id="{B6EA0447-3C72-2546-A182-B18B3204742F}"/>
              </a:ext>
            </a:extLst>
          </p:cNvPr>
          <p:cNvGrpSpPr>
            <a:grpSpLocks/>
          </p:cNvGrpSpPr>
          <p:nvPr/>
        </p:nvGrpSpPr>
        <p:grpSpPr bwMode="auto">
          <a:xfrm>
            <a:off x="7205350" y="3289251"/>
            <a:ext cx="1458912" cy="933450"/>
            <a:chOff x="2889" y="1631"/>
            <a:chExt cx="980" cy="743"/>
          </a:xfrm>
        </p:grpSpPr>
        <p:sp>
          <p:nvSpPr>
            <p:cNvPr id="13" name="Rectangle 419">
              <a:extLst>
                <a:ext uri="{FF2B5EF4-FFF2-40B4-BE49-F238E27FC236}">
                  <a16:creationId xmlns:a16="http://schemas.microsoft.com/office/drawing/2014/main" id="{BE021C30-4F59-6844-AF0D-B5AB853A3B1C}"/>
                </a:ext>
              </a:extLst>
            </p:cNvPr>
            <p:cNvSpPr>
              <a:spLocks noChangeArrowheads="1"/>
            </p:cNvSpPr>
            <p:nvPr/>
          </p:nvSpPr>
          <p:spPr bwMode="auto">
            <a:xfrm>
              <a:off x="3046" y="1841"/>
              <a:ext cx="663" cy="533"/>
            </a:xfrm>
            <a:prstGeom prst="rect">
              <a:avLst/>
            </a:prstGeom>
            <a:solidFill>
              <a:srgbClr val="9CDFF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4" name="AutoShape 420">
              <a:extLst>
                <a:ext uri="{FF2B5EF4-FFF2-40B4-BE49-F238E27FC236}">
                  <a16:creationId xmlns:a16="http://schemas.microsoft.com/office/drawing/2014/main" id="{27AA7BFA-EEE4-4140-B9E6-23FEE52ACCEA}"/>
                </a:ext>
              </a:extLst>
            </p:cNvPr>
            <p:cNvSpPr>
              <a:spLocks noChangeArrowheads="1"/>
            </p:cNvSpPr>
            <p:nvPr/>
          </p:nvSpPr>
          <p:spPr bwMode="auto">
            <a:xfrm>
              <a:off x="2889" y="1631"/>
              <a:ext cx="980" cy="253"/>
            </a:xfrm>
            <a:prstGeom prst="triangle">
              <a:avLst>
                <a:gd name="adj" fmla="val 50000"/>
              </a:avLst>
            </a:prstGeom>
            <a:solidFill>
              <a:srgbClr val="9CDFF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srgbClr val="00CCFF"/>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15" name="Freeform 427">
            <a:extLst>
              <a:ext uri="{FF2B5EF4-FFF2-40B4-BE49-F238E27FC236}">
                <a16:creationId xmlns:a16="http://schemas.microsoft.com/office/drawing/2014/main" id="{50383F63-A1BE-EE40-9A4A-9521B5B39A87}"/>
              </a:ext>
            </a:extLst>
          </p:cNvPr>
          <p:cNvSpPr>
            <a:spLocks/>
          </p:cNvSpPr>
          <p:nvPr/>
        </p:nvSpPr>
        <p:spPr bwMode="auto">
          <a:xfrm>
            <a:off x="7712401" y="4683134"/>
            <a:ext cx="3079750" cy="1665288"/>
          </a:xfrm>
          <a:custGeom>
            <a:avLst/>
            <a:gdLst>
              <a:gd name="T0" fmla="*/ 2147483646 w 1940"/>
              <a:gd name="T1" fmla="*/ 2147483646 h 1049"/>
              <a:gd name="T2" fmla="*/ 2147483646 w 1940"/>
              <a:gd name="T3" fmla="*/ 2147483646 h 1049"/>
              <a:gd name="T4" fmla="*/ 2147483646 w 1940"/>
              <a:gd name="T5" fmla="*/ 2147483646 h 1049"/>
              <a:gd name="T6" fmla="*/ 2147483646 w 1940"/>
              <a:gd name="T7" fmla="*/ 2147483646 h 1049"/>
              <a:gd name="T8" fmla="*/ 2147483646 w 1940"/>
              <a:gd name="T9" fmla="*/ 2147483646 h 1049"/>
              <a:gd name="T10" fmla="*/ 2147483646 w 1940"/>
              <a:gd name="T11" fmla="*/ 2147483646 h 1049"/>
              <a:gd name="T12" fmla="*/ 2147483646 w 1940"/>
              <a:gd name="T13" fmla="*/ 2147483646 h 1049"/>
              <a:gd name="T14" fmla="*/ 2147483646 w 1940"/>
              <a:gd name="T15" fmla="*/ 2147483646 h 1049"/>
              <a:gd name="T16" fmla="*/ 2147483646 w 1940"/>
              <a:gd name="T17" fmla="*/ 2147483646 h 1049"/>
              <a:gd name="T18" fmla="*/ 2147483646 w 1940"/>
              <a:gd name="T19" fmla="*/ 2147483646 h 1049"/>
              <a:gd name="T20" fmla="*/ 2147483646 w 1940"/>
              <a:gd name="T21" fmla="*/ 2147483646 h 1049"/>
              <a:gd name="T22" fmla="*/ 2147483646 w 1940"/>
              <a:gd name="T23" fmla="*/ 2147483646 h 1049"/>
              <a:gd name="T24" fmla="*/ 2147483646 w 1940"/>
              <a:gd name="T25" fmla="*/ 2147483646 h 1049"/>
              <a:gd name="T26" fmla="*/ 2147483646 w 1940"/>
              <a:gd name="T27" fmla="*/ 2147483646 h 1049"/>
              <a:gd name="T28" fmla="*/ 2147483646 w 1940"/>
              <a:gd name="T29" fmla="*/ 2147483646 h 1049"/>
              <a:gd name="T30" fmla="*/ 2147483646 w 1940"/>
              <a:gd name="T31" fmla="*/ 2147483646 h 104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940"/>
              <a:gd name="T49" fmla="*/ 0 h 1049"/>
              <a:gd name="T50" fmla="*/ 1940 w 1940"/>
              <a:gd name="T51" fmla="*/ 1049 h 104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940" h="1049">
                <a:moveTo>
                  <a:pt x="952" y="26"/>
                </a:moveTo>
                <a:cubicBezTo>
                  <a:pt x="867" y="45"/>
                  <a:pt x="832" y="118"/>
                  <a:pt x="755" y="125"/>
                </a:cubicBezTo>
                <a:cubicBezTo>
                  <a:pt x="678" y="132"/>
                  <a:pt x="587" y="72"/>
                  <a:pt x="488" y="68"/>
                </a:cubicBezTo>
                <a:cubicBezTo>
                  <a:pt x="389" y="64"/>
                  <a:pt x="237" y="48"/>
                  <a:pt x="158" y="101"/>
                </a:cubicBezTo>
                <a:cubicBezTo>
                  <a:pt x="79" y="154"/>
                  <a:pt x="28" y="298"/>
                  <a:pt x="14" y="389"/>
                </a:cubicBezTo>
                <a:cubicBezTo>
                  <a:pt x="0" y="480"/>
                  <a:pt x="25" y="595"/>
                  <a:pt x="71" y="648"/>
                </a:cubicBezTo>
                <a:cubicBezTo>
                  <a:pt x="117" y="701"/>
                  <a:pt x="205" y="665"/>
                  <a:pt x="288" y="706"/>
                </a:cubicBezTo>
                <a:cubicBezTo>
                  <a:pt x="371" y="747"/>
                  <a:pt x="450" y="842"/>
                  <a:pt x="568" y="893"/>
                </a:cubicBezTo>
                <a:cubicBezTo>
                  <a:pt x="686" y="944"/>
                  <a:pt x="852" y="991"/>
                  <a:pt x="996" y="1014"/>
                </a:cubicBezTo>
                <a:cubicBezTo>
                  <a:pt x="1140" y="1036"/>
                  <a:pt x="1309" y="1049"/>
                  <a:pt x="1433" y="1031"/>
                </a:cubicBezTo>
                <a:cubicBezTo>
                  <a:pt x="1557" y="1012"/>
                  <a:pt x="1657" y="960"/>
                  <a:pt x="1739" y="907"/>
                </a:cubicBezTo>
                <a:cubicBezTo>
                  <a:pt x="1821" y="855"/>
                  <a:pt x="1906" y="824"/>
                  <a:pt x="1923" y="714"/>
                </a:cubicBezTo>
                <a:cubicBezTo>
                  <a:pt x="1940" y="604"/>
                  <a:pt x="1898" y="350"/>
                  <a:pt x="1839" y="251"/>
                </a:cubicBezTo>
                <a:cubicBezTo>
                  <a:pt x="1780" y="151"/>
                  <a:pt x="1662" y="153"/>
                  <a:pt x="1566" y="114"/>
                </a:cubicBezTo>
                <a:cubicBezTo>
                  <a:pt x="1470" y="76"/>
                  <a:pt x="1365" y="30"/>
                  <a:pt x="1263" y="15"/>
                </a:cubicBezTo>
                <a:cubicBezTo>
                  <a:pt x="1161" y="0"/>
                  <a:pt x="1037" y="8"/>
                  <a:pt x="952" y="26"/>
                </a:cubicBezTo>
                <a:close/>
              </a:path>
            </a:pathLst>
          </a:custGeom>
          <a:solidFill>
            <a:srgbClr val="9CDFF9"/>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Box 580">
            <a:extLst>
              <a:ext uri="{FF2B5EF4-FFF2-40B4-BE49-F238E27FC236}">
                <a16:creationId xmlns:a16="http://schemas.microsoft.com/office/drawing/2014/main" id="{68F39DC6-82AA-494B-BF8C-3328A3504C38}"/>
              </a:ext>
            </a:extLst>
          </p:cNvPr>
          <p:cNvSpPr txBox="1">
            <a:spLocks noChangeArrowheads="1"/>
          </p:cNvSpPr>
          <p:nvPr/>
        </p:nvSpPr>
        <p:spPr bwMode="auto">
          <a:xfrm>
            <a:off x="7679274" y="1488461"/>
            <a:ext cx="133940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Calibri" panose="020F0502020204030204"/>
                <a:ea typeface="MS PGothic" panose="020B0600070205080204" pitchFamily="34" charset="-128"/>
                <a:cs typeface="Arial" panose="020B0604020202020204" pitchFamily="34" charset="0"/>
              </a:rPr>
              <a:t>mobile network</a:t>
            </a:r>
          </a:p>
        </p:txBody>
      </p:sp>
      <p:sp>
        <p:nvSpPr>
          <p:cNvPr id="17" name="Text Box 580">
            <a:extLst>
              <a:ext uri="{FF2B5EF4-FFF2-40B4-BE49-F238E27FC236}">
                <a16:creationId xmlns:a16="http://schemas.microsoft.com/office/drawing/2014/main" id="{4FAF1075-A726-A74C-A102-E55EF3041A0B}"/>
              </a:ext>
            </a:extLst>
          </p:cNvPr>
          <p:cNvSpPr txBox="1">
            <a:spLocks noChangeArrowheads="1"/>
          </p:cNvSpPr>
          <p:nvPr/>
        </p:nvSpPr>
        <p:spPr bwMode="auto">
          <a:xfrm>
            <a:off x="7330835" y="4191922"/>
            <a:ext cx="1955646" cy="268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Calibri" panose="020F0502020204030204"/>
                <a:ea typeface="MS PGothic" panose="020B0600070205080204" pitchFamily="34" charset="-128"/>
                <a:cs typeface="Arial" panose="020B0604020202020204" pitchFamily="34" charset="0"/>
              </a:rPr>
              <a:t>home network</a:t>
            </a:r>
          </a:p>
        </p:txBody>
      </p:sp>
      <p:sp>
        <p:nvSpPr>
          <p:cNvPr id="19" name="Text Box 580">
            <a:extLst>
              <a:ext uri="{FF2B5EF4-FFF2-40B4-BE49-F238E27FC236}">
                <a16:creationId xmlns:a16="http://schemas.microsoft.com/office/drawing/2014/main" id="{18D63BA9-A80C-3C4E-951E-EC3E6277A653}"/>
              </a:ext>
            </a:extLst>
          </p:cNvPr>
          <p:cNvSpPr txBox="1">
            <a:spLocks noChangeArrowheads="1"/>
          </p:cNvSpPr>
          <p:nvPr/>
        </p:nvSpPr>
        <p:spPr bwMode="auto">
          <a:xfrm>
            <a:off x="7306908" y="5779775"/>
            <a:ext cx="1195135" cy="44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Calibri" panose="020F0502020204030204"/>
                <a:ea typeface="MS PGothic" panose="020B0600070205080204" pitchFamily="34" charset="-128"/>
                <a:cs typeface="Arial" panose="020B0604020202020204" pitchFamily="34" charset="0"/>
              </a:rPr>
              <a:t>enterprise</a:t>
            </a:r>
          </a:p>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Calibri" panose="020F0502020204030204"/>
                <a:ea typeface="MS PGothic" panose="020B0600070205080204" pitchFamily="34" charset="-128"/>
                <a:cs typeface="Arial" panose="020B0604020202020204" pitchFamily="34" charset="0"/>
              </a:rPr>
              <a:t>          network</a:t>
            </a:r>
          </a:p>
        </p:txBody>
      </p:sp>
      <p:sp>
        <p:nvSpPr>
          <p:cNvPr id="20" name="Freeform 19">
            <a:extLst>
              <a:ext uri="{FF2B5EF4-FFF2-40B4-BE49-F238E27FC236}">
                <a16:creationId xmlns:a16="http://schemas.microsoft.com/office/drawing/2014/main" id="{21C1BA4F-9694-604C-B41C-E527BFD0B4FC}"/>
              </a:ext>
            </a:extLst>
          </p:cNvPr>
          <p:cNvSpPr/>
          <p:nvPr/>
        </p:nvSpPr>
        <p:spPr>
          <a:xfrm>
            <a:off x="10222146" y="3179540"/>
            <a:ext cx="1273167" cy="1935748"/>
          </a:xfrm>
          <a:custGeom>
            <a:avLst/>
            <a:gdLst>
              <a:gd name="connsiteX0" fmla="*/ 434989 w 1523031"/>
              <a:gd name="connsiteY0" fmla="*/ 253346 h 1763594"/>
              <a:gd name="connsiteX1" fmla="*/ 488 w 1523031"/>
              <a:gd name="connsiteY1" fmla="*/ 921706 h 1763594"/>
              <a:gd name="connsiteX2" fmla="*/ 368142 w 1523031"/>
              <a:gd name="connsiteY2" fmla="*/ 1489812 h 1763594"/>
              <a:gd name="connsiteX3" fmla="*/ 1187008 w 1523031"/>
              <a:gd name="connsiteY3" fmla="*/ 1757156 h 1763594"/>
              <a:gd name="connsiteX4" fmla="*/ 1521239 w 1523031"/>
              <a:gd name="connsiteY4" fmla="*/ 1239177 h 1763594"/>
              <a:gd name="connsiteX5" fmla="*/ 1320700 w 1523031"/>
              <a:gd name="connsiteY5" fmla="*/ 654362 h 1763594"/>
              <a:gd name="connsiteX6" fmla="*/ 1337412 w 1523031"/>
              <a:gd name="connsiteY6" fmla="*/ 136383 h 1763594"/>
              <a:gd name="connsiteX7" fmla="*/ 1086739 w 1523031"/>
              <a:gd name="connsiteY7" fmla="*/ 2711 h 1763594"/>
              <a:gd name="connsiteX8" fmla="*/ 434989 w 1523031"/>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1086739 w 1537226"/>
              <a:gd name="connsiteY7" fmla="*/ 2711 h 1763594"/>
              <a:gd name="connsiteX8" fmla="*/ 434989 w 1537226"/>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839572 w 1537226"/>
              <a:gd name="connsiteY7" fmla="*/ 2711 h 1763594"/>
              <a:gd name="connsiteX8" fmla="*/ 434989 w 1537226"/>
              <a:gd name="connsiteY8" fmla="*/ 253346 h 1763594"/>
              <a:gd name="connsiteX0" fmla="*/ 360357 w 1536743"/>
              <a:gd name="connsiteY0" fmla="*/ 534641 h 1782088"/>
              <a:gd name="connsiteX1" fmla="*/ 5 w 1536743"/>
              <a:gd name="connsiteY1" fmla="*/ 940200 h 1782088"/>
              <a:gd name="connsiteX2" fmla="*/ 367659 w 1536743"/>
              <a:gd name="connsiteY2" fmla="*/ 1508306 h 1782088"/>
              <a:gd name="connsiteX3" fmla="*/ 1186525 w 1536743"/>
              <a:gd name="connsiteY3" fmla="*/ 1775650 h 1782088"/>
              <a:gd name="connsiteX4" fmla="*/ 1520756 w 1536743"/>
              <a:gd name="connsiteY4" fmla="*/ 1257671 h 1782088"/>
              <a:gd name="connsiteX5" fmla="*/ 1468515 w 1536743"/>
              <a:gd name="connsiteY5" fmla="*/ 672856 h 1782088"/>
              <a:gd name="connsiteX6" fmla="*/ 1336929 w 1536743"/>
              <a:gd name="connsiteY6" fmla="*/ 154877 h 1782088"/>
              <a:gd name="connsiteX7" fmla="*/ 839089 w 1536743"/>
              <a:gd name="connsiteY7" fmla="*/ 21205 h 1782088"/>
              <a:gd name="connsiteX8" fmla="*/ 360357 w 1536743"/>
              <a:gd name="connsiteY8" fmla="*/ 534641 h 1782088"/>
              <a:gd name="connsiteX0" fmla="*/ 360355 w 1536741"/>
              <a:gd name="connsiteY0" fmla="*/ 534641 h 1782088"/>
              <a:gd name="connsiteX1" fmla="*/ 3 w 1536741"/>
              <a:gd name="connsiteY1" fmla="*/ 940200 h 1782088"/>
              <a:gd name="connsiteX2" fmla="*/ 367657 w 1536741"/>
              <a:gd name="connsiteY2" fmla="*/ 1508306 h 1782088"/>
              <a:gd name="connsiteX3" fmla="*/ 1186523 w 1536741"/>
              <a:gd name="connsiteY3" fmla="*/ 1775650 h 1782088"/>
              <a:gd name="connsiteX4" fmla="*/ 1520754 w 1536741"/>
              <a:gd name="connsiteY4" fmla="*/ 1257671 h 1782088"/>
              <a:gd name="connsiteX5" fmla="*/ 1468513 w 1536741"/>
              <a:gd name="connsiteY5" fmla="*/ 672856 h 1782088"/>
              <a:gd name="connsiteX6" fmla="*/ 1336927 w 1536741"/>
              <a:gd name="connsiteY6" fmla="*/ 154877 h 1782088"/>
              <a:gd name="connsiteX7" fmla="*/ 839087 w 1536741"/>
              <a:gd name="connsiteY7" fmla="*/ 21205 h 1782088"/>
              <a:gd name="connsiteX8" fmla="*/ 360355 w 1536741"/>
              <a:gd name="connsiteY8" fmla="*/ 534641 h 1782088"/>
              <a:gd name="connsiteX0" fmla="*/ 360355 w 1534770"/>
              <a:gd name="connsiteY0" fmla="*/ 553225 h 1800672"/>
              <a:gd name="connsiteX1" fmla="*/ 3 w 1534770"/>
              <a:gd name="connsiteY1" fmla="*/ 958784 h 1800672"/>
              <a:gd name="connsiteX2" fmla="*/ 367657 w 1534770"/>
              <a:gd name="connsiteY2" fmla="*/ 1526890 h 1800672"/>
              <a:gd name="connsiteX3" fmla="*/ 1186523 w 1534770"/>
              <a:gd name="connsiteY3" fmla="*/ 1794234 h 1800672"/>
              <a:gd name="connsiteX4" fmla="*/ 1520754 w 1534770"/>
              <a:gd name="connsiteY4" fmla="*/ 1276255 h 1800672"/>
              <a:gd name="connsiteX5" fmla="*/ 1468513 w 1534770"/>
              <a:gd name="connsiteY5" fmla="*/ 691440 h 1800672"/>
              <a:gd name="connsiteX6" fmla="*/ 1435794 w 1534770"/>
              <a:gd name="connsiteY6" fmla="*/ 107761 h 1800672"/>
              <a:gd name="connsiteX7" fmla="*/ 839087 w 1534770"/>
              <a:gd name="connsiteY7" fmla="*/ 39789 h 1800672"/>
              <a:gd name="connsiteX8" fmla="*/ 360355 w 1534770"/>
              <a:gd name="connsiteY8" fmla="*/ 553225 h 1800672"/>
              <a:gd name="connsiteX0" fmla="*/ 360355 w 1580585"/>
              <a:gd name="connsiteY0" fmla="*/ 553225 h 1880420"/>
              <a:gd name="connsiteX1" fmla="*/ 3 w 1580585"/>
              <a:gd name="connsiteY1" fmla="*/ 958784 h 1880420"/>
              <a:gd name="connsiteX2" fmla="*/ 367657 w 1580585"/>
              <a:gd name="connsiteY2" fmla="*/ 1526890 h 1880420"/>
              <a:gd name="connsiteX3" fmla="*/ 1186523 w 1580585"/>
              <a:gd name="connsiteY3" fmla="*/ 1794234 h 1880420"/>
              <a:gd name="connsiteX4" fmla="*/ 1570188 w 1580585"/>
              <a:gd name="connsiteY4" fmla="*/ 1785433 h 1880420"/>
              <a:gd name="connsiteX5" fmla="*/ 1468513 w 1580585"/>
              <a:gd name="connsiteY5" fmla="*/ 691440 h 1880420"/>
              <a:gd name="connsiteX6" fmla="*/ 1435794 w 1580585"/>
              <a:gd name="connsiteY6" fmla="*/ 107761 h 1880420"/>
              <a:gd name="connsiteX7" fmla="*/ 839087 w 1580585"/>
              <a:gd name="connsiteY7" fmla="*/ 39789 h 1880420"/>
              <a:gd name="connsiteX8" fmla="*/ 360355 w 1580585"/>
              <a:gd name="connsiteY8" fmla="*/ 553225 h 1880420"/>
              <a:gd name="connsiteX0" fmla="*/ 316588 w 1580732"/>
              <a:gd name="connsiteY0" fmla="*/ 359285 h 1867156"/>
              <a:gd name="connsiteX1" fmla="*/ 150 w 1580732"/>
              <a:gd name="connsiteY1" fmla="*/ 945520 h 1867156"/>
              <a:gd name="connsiteX2" fmla="*/ 367804 w 1580732"/>
              <a:gd name="connsiteY2" fmla="*/ 1513626 h 1867156"/>
              <a:gd name="connsiteX3" fmla="*/ 1186670 w 1580732"/>
              <a:gd name="connsiteY3" fmla="*/ 1780970 h 1867156"/>
              <a:gd name="connsiteX4" fmla="*/ 1570335 w 1580732"/>
              <a:gd name="connsiteY4" fmla="*/ 1772169 h 1867156"/>
              <a:gd name="connsiteX5" fmla="*/ 1468660 w 1580732"/>
              <a:gd name="connsiteY5" fmla="*/ 678176 h 1867156"/>
              <a:gd name="connsiteX6" fmla="*/ 1435941 w 1580732"/>
              <a:gd name="connsiteY6" fmla="*/ 94497 h 1867156"/>
              <a:gd name="connsiteX7" fmla="*/ 839234 w 1580732"/>
              <a:gd name="connsiteY7" fmla="*/ 26525 h 1867156"/>
              <a:gd name="connsiteX8" fmla="*/ 316588 w 1580732"/>
              <a:gd name="connsiteY8" fmla="*/ 359285 h 1867156"/>
              <a:gd name="connsiteX0" fmla="*/ 163575 w 1427719"/>
              <a:gd name="connsiteY0" fmla="*/ 359285 h 1867156"/>
              <a:gd name="connsiteX1" fmla="*/ 836 w 1427719"/>
              <a:gd name="connsiteY1" fmla="*/ 1076921 h 1867156"/>
              <a:gd name="connsiteX2" fmla="*/ 214791 w 1427719"/>
              <a:gd name="connsiteY2" fmla="*/ 1513626 h 1867156"/>
              <a:gd name="connsiteX3" fmla="*/ 1033657 w 1427719"/>
              <a:gd name="connsiteY3" fmla="*/ 1780970 h 1867156"/>
              <a:gd name="connsiteX4" fmla="*/ 1417322 w 1427719"/>
              <a:gd name="connsiteY4" fmla="*/ 1772169 h 1867156"/>
              <a:gd name="connsiteX5" fmla="*/ 1315647 w 1427719"/>
              <a:gd name="connsiteY5" fmla="*/ 678176 h 1867156"/>
              <a:gd name="connsiteX6" fmla="*/ 1282928 w 1427719"/>
              <a:gd name="connsiteY6" fmla="*/ 94497 h 1867156"/>
              <a:gd name="connsiteX7" fmla="*/ 686221 w 1427719"/>
              <a:gd name="connsiteY7" fmla="*/ 26525 h 1867156"/>
              <a:gd name="connsiteX8" fmla="*/ 163575 w 1427719"/>
              <a:gd name="connsiteY8" fmla="*/ 359285 h 1867156"/>
              <a:gd name="connsiteX0" fmla="*/ 163575 w 1426632"/>
              <a:gd name="connsiteY0" fmla="*/ 394322 h 1902193"/>
              <a:gd name="connsiteX1" fmla="*/ 836 w 1426632"/>
              <a:gd name="connsiteY1" fmla="*/ 1111958 h 1902193"/>
              <a:gd name="connsiteX2" fmla="*/ 214791 w 1426632"/>
              <a:gd name="connsiteY2" fmla="*/ 1548663 h 1902193"/>
              <a:gd name="connsiteX3" fmla="*/ 1033657 w 1426632"/>
              <a:gd name="connsiteY3" fmla="*/ 1816007 h 1902193"/>
              <a:gd name="connsiteX4" fmla="*/ 1417322 w 1426632"/>
              <a:gd name="connsiteY4" fmla="*/ 1807206 h 1902193"/>
              <a:gd name="connsiteX5" fmla="*/ 1315647 w 1426632"/>
              <a:gd name="connsiteY5" fmla="*/ 713213 h 1902193"/>
              <a:gd name="connsiteX6" fmla="*/ 1401843 w 1426632"/>
              <a:gd name="connsiteY6" fmla="*/ 63834 h 1902193"/>
              <a:gd name="connsiteX7" fmla="*/ 686221 w 1426632"/>
              <a:gd name="connsiteY7" fmla="*/ 61562 h 1902193"/>
              <a:gd name="connsiteX8" fmla="*/ 163575 w 1426632"/>
              <a:gd name="connsiteY8" fmla="*/ 394322 h 1902193"/>
              <a:gd name="connsiteX0" fmla="*/ 163575 w 1435249"/>
              <a:gd name="connsiteY0" fmla="*/ 394322 h 1885560"/>
              <a:gd name="connsiteX1" fmla="*/ 836 w 1435249"/>
              <a:gd name="connsiteY1" fmla="*/ 1111958 h 1885560"/>
              <a:gd name="connsiteX2" fmla="*/ 214791 w 1435249"/>
              <a:gd name="connsiteY2" fmla="*/ 1548663 h 1885560"/>
              <a:gd name="connsiteX3" fmla="*/ 1033657 w 1435249"/>
              <a:gd name="connsiteY3" fmla="*/ 1816007 h 1885560"/>
              <a:gd name="connsiteX4" fmla="*/ 1417322 w 1435249"/>
              <a:gd name="connsiteY4" fmla="*/ 1807206 h 1885560"/>
              <a:gd name="connsiteX5" fmla="*/ 1375103 w 1435249"/>
              <a:gd name="connsiteY5" fmla="*/ 943164 h 1885560"/>
              <a:gd name="connsiteX6" fmla="*/ 1401843 w 1435249"/>
              <a:gd name="connsiteY6" fmla="*/ 63834 h 1885560"/>
              <a:gd name="connsiteX7" fmla="*/ 686221 w 1435249"/>
              <a:gd name="connsiteY7" fmla="*/ 61562 h 1885560"/>
              <a:gd name="connsiteX8" fmla="*/ 163575 w 1435249"/>
              <a:gd name="connsiteY8" fmla="*/ 394322 h 1885560"/>
              <a:gd name="connsiteX0" fmla="*/ 128947 w 1438213"/>
              <a:gd name="connsiteY0" fmla="*/ 345176 h 1883146"/>
              <a:gd name="connsiteX1" fmla="*/ 3802 w 1438213"/>
              <a:gd name="connsiteY1" fmla="*/ 1109544 h 1883146"/>
              <a:gd name="connsiteX2" fmla="*/ 217757 w 1438213"/>
              <a:gd name="connsiteY2" fmla="*/ 1546249 h 1883146"/>
              <a:gd name="connsiteX3" fmla="*/ 1036623 w 1438213"/>
              <a:gd name="connsiteY3" fmla="*/ 1813593 h 1883146"/>
              <a:gd name="connsiteX4" fmla="*/ 1420288 w 1438213"/>
              <a:gd name="connsiteY4" fmla="*/ 1804792 h 1883146"/>
              <a:gd name="connsiteX5" fmla="*/ 1378069 w 1438213"/>
              <a:gd name="connsiteY5" fmla="*/ 940750 h 1883146"/>
              <a:gd name="connsiteX6" fmla="*/ 1404809 w 1438213"/>
              <a:gd name="connsiteY6" fmla="*/ 61420 h 1883146"/>
              <a:gd name="connsiteX7" fmla="*/ 689187 w 1438213"/>
              <a:gd name="connsiteY7" fmla="*/ 59148 h 1883146"/>
              <a:gd name="connsiteX8" fmla="*/ 128947 w 1438213"/>
              <a:gd name="connsiteY8" fmla="*/ 345176 h 1883146"/>
              <a:gd name="connsiteX0" fmla="*/ 126587 w 1435854"/>
              <a:gd name="connsiteY0" fmla="*/ 353278 h 1891248"/>
              <a:gd name="connsiteX1" fmla="*/ 1442 w 1435854"/>
              <a:gd name="connsiteY1" fmla="*/ 1117646 h 1891248"/>
              <a:gd name="connsiteX2" fmla="*/ 215397 w 1435854"/>
              <a:gd name="connsiteY2" fmla="*/ 1554351 h 1891248"/>
              <a:gd name="connsiteX3" fmla="*/ 1034263 w 1435854"/>
              <a:gd name="connsiteY3" fmla="*/ 1821695 h 1891248"/>
              <a:gd name="connsiteX4" fmla="*/ 1417928 w 1435854"/>
              <a:gd name="connsiteY4" fmla="*/ 1812894 h 1891248"/>
              <a:gd name="connsiteX5" fmla="*/ 1375709 w 1435854"/>
              <a:gd name="connsiteY5" fmla="*/ 948852 h 1891248"/>
              <a:gd name="connsiteX6" fmla="*/ 1402449 w 1435854"/>
              <a:gd name="connsiteY6" fmla="*/ 69522 h 1891248"/>
              <a:gd name="connsiteX7" fmla="*/ 221605 w 1435854"/>
              <a:gd name="connsiteY7" fmla="*/ 47778 h 1891248"/>
              <a:gd name="connsiteX8" fmla="*/ 126587 w 1435854"/>
              <a:gd name="connsiteY8" fmla="*/ 353278 h 1891248"/>
              <a:gd name="connsiteX0" fmla="*/ 35803 w 1453152"/>
              <a:gd name="connsiteY0" fmla="*/ 439993 h 1896181"/>
              <a:gd name="connsiteX1" fmla="*/ 18740 w 1453152"/>
              <a:gd name="connsiteY1" fmla="*/ 1122579 h 1896181"/>
              <a:gd name="connsiteX2" fmla="*/ 232695 w 1453152"/>
              <a:gd name="connsiteY2" fmla="*/ 1559284 h 1896181"/>
              <a:gd name="connsiteX3" fmla="*/ 1051561 w 1453152"/>
              <a:gd name="connsiteY3" fmla="*/ 1826628 h 1896181"/>
              <a:gd name="connsiteX4" fmla="*/ 1435226 w 1453152"/>
              <a:gd name="connsiteY4" fmla="*/ 1817827 h 1896181"/>
              <a:gd name="connsiteX5" fmla="*/ 1393007 w 1453152"/>
              <a:gd name="connsiteY5" fmla="*/ 953785 h 1896181"/>
              <a:gd name="connsiteX6" fmla="*/ 1419747 w 1453152"/>
              <a:gd name="connsiteY6" fmla="*/ 74455 h 1896181"/>
              <a:gd name="connsiteX7" fmla="*/ 238903 w 1453152"/>
              <a:gd name="connsiteY7" fmla="*/ 52711 h 1896181"/>
              <a:gd name="connsiteX8" fmla="*/ 35803 w 1453152"/>
              <a:gd name="connsiteY8" fmla="*/ 439993 h 1896181"/>
              <a:gd name="connsiteX0" fmla="*/ 35803 w 1447873"/>
              <a:gd name="connsiteY0" fmla="*/ 439993 h 1952840"/>
              <a:gd name="connsiteX1" fmla="*/ 18740 w 1447873"/>
              <a:gd name="connsiteY1" fmla="*/ 1122579 h 1952840"/>
              <a:gd name="connsiteX2" fmla="*/ 232695 w 1447873"/>
              <a:gd name="connsiteY2" fmla="*/ 1559284 h 1952840"/>
              <a:gd name="connsiteX3" fmla="*/ 1130848 w 1447873"/>
              <a:gd name="connsiteY3" fmla="*/ 1925181 h 1952840"/>
              <a:gd name="connsiteX4" fmla="*/ 1435226 w 1447873"/>
              <a:gd name="connsiteY4" fmla="*/ 1817827 h 1952840"/>
              <a:gd name="connsiteX5" fmla="*/ 1393007 w 1447873"/>
              <a:gd name="connsiteY5" fmla="*/ 953785 h 1952840"/>
              <a:gd name="connsiteX6" fmla="*/ 1419747 w 1447873"/>
              <a:gd name="connsiteY6" fmla="*/ 74455 h 1952840"/>
              <a:gd name="connsiteX7" fmla="*/ 238903 w 1447873"/>
              <a:gd name="connsiteY7" fmla="*/ 52711 h 1952840"/>
              <a:gd name="connsiteX8" fmla="*/ 35803 w 1447873"/>
              <a:gd name="connsiteY8" fmla="*/ 439993 h 1952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47873" h="1952840">
                <a:moveTo>
                  <a:pt x="35803" y="439993"/>
                </a:moveTo>
                <a:cubicBezTo>
                  <a:pt x="-891" y="618304"/>
                  <a:pt x="-14075" y="936031"/>
                  <a:pt x="18740" y="1122579"/>
                </a:cubicBezTo>
                <a:cubicBezTo>
                  <a:pt x="51555" y="1309127"/>
                  <a:pt x="47344" y="1425517"/>
                  <a:pt x="232695" y="1559284"/>
                </a:cubicBezTo>
                <a:cubicBezTo>
                  <a:pt x="418046" y="1693051"/>
                  <a:pt x="930426" y="1882091"/>
                  <a:pt x="1130848" y="1925181"/>
                </a:cubicBezTo>
                <a:cubicBezTo>
                  <a:pt x="1331270" y="1968271"/>
                  <a:pt x="1391533" y="1979726"/>
                  <a:pt x="1435226" y="1817827"/>
                </a:cubicBezTo>
                <a:cubicBezTo>
                  <a:pt x="1478919" y="1655928"/>
                  <a:pt x="1395587" y="1244347"/>
                  <a:pt x="1393007" y="953785"/>
                </a:cubicBezTo>
                <a:cubicBezTo>
                  <a:pt x="1390427" y="663223"/>
                  <a:pt x="1458740" y="183063"/>
                  <a:pt x="1419747" y="74455"/>
                </a:cubicBezTo>
                <a:cubicBezTo>
                  <a:pt x="1380754" y="-34153"/>
                  <a:pt x="469560" y="-8212"/>
                  <a:pt x="238903" y="52711"/>
                </a:cubicBezTo>
                <a:cubicBezTo>
                  <a:pt x="8246" y="113634"/>
                  <a:pt x="72497" y="261682"/>
                  <a:pt x="35803" y="439993"/>
                </a:cubicBezTo>
                <a:close/>
              </a:path>
            </a:pathLst>
          </a:custGeom>
          <a:gradFill flip="none" rotWithShape="1">
            <a:gsLst>
              <a:gs pos="0">
                <a:srgbClr val="9CDFF9"/>
              </a:gs>
              <a:gs pos="100000">
                <a:schemeClr val="bg1"/>
              </a:gs>
              <a:gs pos="59000">
                <a:schemeClr val="accent5">
                  <a:lumMod val="20000"/>
                  <a:lumOff val="80000"/>
                </a:schemeClr>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21" name="Group 20">
            <a:extLst>
              <a:ext uri="{FF2B5EF4-FFF2-40B4-BE49-F238E27FC236}">
                <a16:creationId xmlns:a16="http://schemas.microsoft.com/office/drawing/2014/main" id="{09D929D7-3426-7545-8640-DC8E2ED95FB9}"/>
              </a:ext>
            </a:extLst>
          </p:cNvPr>
          <p:cNvGrpSpPr/>
          <p:nvPr/>
        </p:nvGrpSpPr>
        <p:grpSpPr>
          <a:xfrm>
            <a:off x="10837700" y="3928050"/>
            <a:ext cx="687393" cy="721548"/>
            <a:chOff x="5203089" y="1751190"/>
            <a:chExt cx="858331" cy="662414"/>
          </a:xfrm>
        </p:grpSpPr>
        <p:sp>
          <p:nvSpPr>
            <p:cNvPr id="22" name="Freeform 21">
              <a:extLst>
                <a:ext uri="{FF2B5EF4-FFF2-40B4-BE49-F238E27FC236}">
                  <a16:creationId xmlns:a16="http://schemas.microsoft.com/office/drawing/2014/main" id="{32949C6B-70A2-0C41-96B1-4A94F8B7F80B}"/>
                </a:ext>
              </a:extLst>
            </p:cNvPr>
            <p:cNvSpPr/>
            <p:nvPr/>
          </p:nvSpPr>
          <p:spPr>
            <a:xfrm>
              <a:off x="5536769" y="1751190"/>
              <a:ext cx="524651" cy="662124"/>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 name="connsiteX0" fmla="*/ 3618 w 651290"/>
                <a:gd name="connsiteY0" fmla="*/ 593378 h 593378"/>
                <a:gd name="connsiteX1" fmla="*/ 0 w 651290"/>
                <a:gd name="connsiteY1" fmla="*/ 242416 h 593378"/>
                <a:gd name="connsiteX2" fmla="*/ 423338 w 651290"/>
                <a:gd name="connsiteY2" fmla="*/ 101308 h 593378"/>
                <a:gd name="connsiteX3" fmla="*/ 647672 w 651290"/>
                <a:gd name="connsiteY3" fmla="*/ 0 h 593378"/>
                <a:gd name="connsiteX4" fmla="*/ 651290 w 651290"/>
                <a:gd name="connsiteY4" fmla="*/ 593378 h 593378"/>
                <a:gd name="connsiteX5" fmla="*/ 3618 w 651290"/>
                <a:gd name="connsiteY5" fmla="*/ 593378 h 593378"/>
                <a:gd name="connsiteX0" fmla="*/ 3618 w 651290"/>
                <a:gd name="connsiteY0" fmla="*/ 662124 h 662124"/>
                <a:gd name="connsiteX1" fmla="*/ 0 w 651290"/>
                <a:gd name="connsiteY1" fmla="*/ 311162 h 662124"/>
                <a:gd name="connsiteX2" fmla="*/ 376300 w 651290"/>
                <a:gd name="connsiteY2" fmla="*/ 0 h 662124"/>
                <a:gd name="connsiteX3" fmla="*/ 647672 w 651290"/>
                <a:gd name="connsiteY3" fmla="*/ 68746 h 662124"/>
                <a:gd name="connsiteX4" fmla="*/ 651290 w 651290"/>
                <a:gd name="connsiteY4" fmla="*/ 662124 h 662124"/>
                <a:gd name="connsiteX5" fmla="*/ 3618 w 651290"/>
                <a:gd name="connsiteY5" fmla="*/ 662124 h 662124"/>
                <a:gd name="connsiteX0" fmla="*/ 0 w 647672"/>
                <a:gd name="connsiteY0" fmla="*/ 662124 h 662124"/>
                <a:gd name="connsiteX1" fmla="*/ 123021 w 647672"/>
                <a:gd name="connsiteY1" fmla="*/ 83217 h 662124"/>
                <a:gd name="connsiteX2" fmla="*/ 372682 w 647672"/>
                <a:gd name="connsiteY2" fmla="*/ 0 h 662124"/>
                <a:gd name="connsiteX3" fmla="*/ 644054 w 647672"/>
                <a:gd name="connsiteY3" fmla="*/ 68746 h 662124"/>
                <a:gd name="connsiteX4" fmla="*/ 647672 w 647672"/>
                <a:gd name="connsiteY4" fmla="*/ 662124 h 662124"/>
                <a:gd name="connsiteX5" fmla="*/ 0 w 647672"/>
                <a:gd name="connsiteY5" fmla="*/ 662124 h 662124"/>
                <a:gd name="connsiteX0" fmla="*/ 7238 w 524651"/>
                <a:gd name="connsiteY0" fmla="*/ 669360 h 669360"/>
                <a:gd name="connsiteX1" fmla="*/ 0 w 524651"/>
                <a:gd name="connsiteY1" fmla="*/ 83217 h 669360"/>
                <a:gd name="connsiteX2" fmla="*/ 249661 w 524651"/>
                <a:gd name="connsiteY2" fmla="*/ 0 h 669360"/>
                <a:gd name="connsiteX3" fmla="*/ 521033 w 524651"/>
                <a:gd name="connsiteY3" fmla="*/ 68746 h 669360"/>
                <a:gd name="connsiteX4" fmla="*/ 524651 w 524651"/>
                <a:gd name="connsiteY4" fmla="*/ 662124 h 669360"/>
                <a:gd name="connsiteX5" fmla="*/ 7238 w 524651"/>
                <a:gd name="connsiteY5" fmla="*/ 669360 h 669360"/>
                <a:gd name="connsiteX0" fmla="*/ 438 w 528706"/>
                <a:gd name="connsiteY0" fmla="*/ 665742 h 665742"/>
                <a:gd name="connsiteX1" fmla="*/ 4055 w 528706"/>
                <a:gd name="connsiteY1" fmla="*/ 83217 h 665742"/>
                <a:gd name="connsiteX2" fmla="*/ 253716 w 528706"/>
                <a:gd name="connsiteY2" fmla="*/ 0 h 665742"/>
                <a:gd name="connsiteX3" fmla="*/ 525088 w 528706"/>
                <a:gd name="connsiteY3" fmla="*/ 68746 h 665742"/>
                <a:gd name="connsiteX4" fmla="*/ 528706 w 528706"/>
                <a:gd name="connsiteY4" fmla="*/ 662124 h 665742"/>
                <a:gd name="connsiteX5" fmla="*/ 438 w 528706"/>
                <a:gd name="connsiteY5" fmla="*/ 665742 h 665742"/>
                <a:gd name="connsiteX0" fmla="*/ 155 w 546514"/>
                <a:gd name="connsiteY0" fmla="*/ 662124 h 662124"/>
                <a:gd name="connsiteX1" fmla="*/ 21863 w 546514"/>
                <a:gd name="connsiteY1" fmla="*/ 83217 h 662124"/>
                <a:gd name="connsiteX2" fmla="*/ 271524 w 546514"/>
                <a:gd name="connsiteY2" fmla="*/ 0 h 662124"/>
                <a:gd name="connsiteX3" fmla="*/ 542896 w 546514"/>
                <a:gd name="connsiteY3" fmla="*/ 68746 h 662124"/>
                <a:gd name="connsiteX4" fmla="*/ 546514 w 546514"/>
                <a:gd name="connsiteY4" fmla="*/ 662124 h 662124"/>
                <a:gd name="connsiteX5" fmla="*/ 155 w 546514"/>
                <a:gd name="connsiteY5" fmla="*/ 662124 h 662124"/>
                <a:gd name="connsiteX0" fmla="*/ 10856 w 524651"/>
                <a:gd name="connsiteY0" fmla="*/ 658506 h 662124"/>
                <a:gd name="connsiteX1" fmla="*/ 0 w 524651"/>
                <a:gd name="connsiteY1" fmla="*/ 83217 h 662124"/>
                <a:gd name="connsiteX2" fmla="*/ 249661 w 524651"/>
                <a:gd name="connsiteY2" fmla="*/ 0 h 662124"/>
                <a:gd name="connsiteX3" fmla="*/ 521033 w 524651"/>
                <a:gd name="connsiteY3" fmla="*/ 68746 h 662124"/>
                <a:gd name="connsiteX4" fmla="*/ 524651 w 524651"/>
                <a:gd name="connsiteY4" fmla="*/ 662124 h 662124"/>
                <a:gd name="connsiteX5" fmla="*/ 10856 w 524651"/>
                <a:gd name="connsiteY5" fmla="*/ 658506 h 662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4651" h="662124">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w="12700">
              <a:solidFill>
                <a:srgbClr val="0000A8"/>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3" name="Freeform 22">
              <a:extLst>
                <a:ext uri="{FF2B5EF4-FFF2-40B4-BE49-F238E27FC236}">
                  <a16:creationId xmlns:a16="http://schemas.microsoft.com/office/drawing/2014/main" id="{6A42A8C1-0A52-8944-BCD0-7C3E1000F6A9}"/>
                </a:ext>
              </a:extLst>
            </p:cNvPr>
            <p:cNvSpPr/>
            <p:nvPr/>
          </p:nvSpPr>
          <p:spPr>
            <a:xfrm>
              <a:off x="5203089" y="1921244"/>
              <a:ext cx="651290" cy="492070"/>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1290" h="492070">
                  <a:moveTo>
                    <a:pt x="3618" y="492070"/>
                  </a:moveTo>
                  <a:lnTo>
                    <a:pt x="0" y="141108"/>
                  </a:lnTo>
                  <a:lnTo>
                    <a:pt x="423338" y="0"/>
                  </a:lnTo>
                  <a:lnTo>
                    <a:pt x="647672" y="57891"/>
                  </a:lnTo>
                  <a:lnTo>
                    <a:pt x="651290" y="492070"/>
                  </a:lnTo>
                  <a:lnTo>
                    <a:pt x="3618" y="492070"/>
                  </a:lnTo>
                  <a:close/>
                </a:path>
              </a:pathLst>
            </a:custGeom>
            <a:solidFill>
              <a:srgbClr val="E0EBF1"/>
            </a:solidFill>
            <a:ln w="12700">
              <a:solidFill>
                <a:srgbClr val="0000A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cxnSp>
          <p:nvCxnSpPr>
            <p:cNvPr id="24" name="Straight Connector 23">
              <a:extLst>
                <a:ext uri="{FF2B5EF4-FFF2-40B4-BE49-F238E27FC236}">
                  <a16:creationId xmlns:a16="http://schemas.microsoft.com/office/drawing/2014/main" id="{3801E422-A8CB-5D4B-8A53-10BB1CC241B4}"/>
                </a:ext>
              </a:extLst>
            </p:cNvPr>
            <p:cNvCxnSpPr/>
            <p:nvPr/>
          </p:nvCxnSpPr>
          <p:spPr>
            <a:xfrm flipV="1">
              <a:off x="5270526" y="2029553"/>
              <a:ext cx="295249" cy="73468"/>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9A70776E-060B-774C-AF87-577276BCDEDB}"/>
                </a:ext>
              </a:extLst>
            </p:cNvPr>
            <p:cNvCxnSpPr/>
            <p:nvPr/>
          </p:nvCxnSpPr>
          <p:spPr>
            <a:xfrm flipV="1">
              <a:off x="5275406" y="2261710"/>
              <a:ext cx="290369" cy="16752"/>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04F15741-4E5D-2C40-AA55-B8A92FB5641B}"/>
                </a:ext>
              </a:extLst>
            </p:cNvPr>
            <p:cNvCxnSpPr/>
            <p:nvPr/>
          </p:nvCxnSpPr>
          <p:spPr>
            <a:xfrm flipV="1">
              <a:off x="5275406" y="2151772"/>
              <a:ext cx="290369" cy="48402"/>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CC116124-6B0D-0A48-9748-70E0EE10E0B8}"/>
                </a:ext>
              </a:extLst>
            </p:cNvPr>
            <p:cNvCxnSpPr/>
            <p:nvPr/>
          </p:nvCxnSpPr>
          <p:spPr>
            <a:xfrm>
              <a:off x="5270094" y="2354086"/>
              <a:ext cx="295681" cy="0"/>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41A80C21-FB20-4F42-A016-94A2E068D917}"/>
                </a:ext>
              </a:extLst>
            </p:cNvPr>
            <p:cNvCxnSpPr/>
            <p:nvPr/>
          </p:nvCxnSpPr>
          <p:spPr>
            <a:xfrm flipV="1">
              <a:off x="5950242" y="1866900"/>
              <a:ext cx="0" cy="465273"/>
            </a:xfrm>
            <a:prstGeom prst="line">
              <a:avLst/>
            </a:prstGeom>
            <a:ln w="44450">
              <a:solidFill>
                <a:schemeClr val="bg1"/>
              </a:solidFill>
              <a:prstDash val="sysDash"/>
            </a:ln>
            <a:effectLst/>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D96746B7-2DA8-C14F-A27C-643C5FAB1AF2}"/>
                </a:ext>
              </a:extLst>
            </p:cNvPr>
            <p:cNvCxnSpPr/>
            <p:nvPr/>
          </p:nvCxnSpPr>
          <p:spPr>
            <a:xfrm>
              <a:off x="5628589" y="1936750"/>
              <a:ext cx="0" cy="476854"/>
            </a:xfrm>
            <a:prstGeom prst="line">
              <a:avLst/>
            </a:prstGeom>
            <a:ln w="15875">
              <a:solidFill>
                <a:srgbClr val="0000A8"/>
              </a:solidFill>
            </a:ln>
            <a:effectLst/>
          </p:spPr>
          <p:style>
            <a:lnRef idx="2">
              <a:schemeClr val="accent1"/>
            </a:lnRef>
            <a:fillRef idx="0">
              <a:schemeClr val="accent1"/>
            </a:fillRef>
            <a:effectRef idx="1">
              <a:schemeClr val="accent1"/>
            </a:effectRef>
            <a:fontRef idx="minor">
              <a:schemeClr val="tx1"/>
            </a:fontRef>
          </p:style>
        </p:cxnSp>
      </p:grpSp>
      <p:grpSp>
        <p:nvGrpSpPr>
          <p:cNvPr id="30" name="Group 29">
            <a:extLst>
              <a:ext uri="{FF2B5EF4-FFF2-40B4-BE49-F238E27FC236}">
                <a16:creationId xmlns:a16="http://schemas.microsoft.com/office/drawing/2014/main" id="{02066780-DE5E-6740-8BBA-01C995D1619B}"/>
              </a:ext>
            </a:extLst>
          </p:cNvPr>
          <p:cNvGrpSpPr/>
          <p:nvPr/>
        </p:nvGrpSpPr>
        <p:grpSpPr>
          <a:xfrm>
            <a:off x="10771171" y="3194171"/>
            <a:ext cx="594613" cy="648336"/>
            <a:chOff x="5203089" y="1751190"/>
            <a:chExt cx="858331" cy="662414"/>
          </a:xfrm>
        </p:grpSpPr>
        <p:sp>
          <p:nvSpPr>
            <p:cNvPr id="31" name="Freeform 30">
              <a:extLst>
                <a:ext uri="{FF2B5EF4-FFF2-40B4-BE49-F238E27FC236}">
                  <a16:creationId xmlns:a16="http://schemas.microsoft.com/office/drawing/2014/main" id="{F49A9BF7-5D60-2C4D-AF1F-F5F5F46EB76B}"/>
                </a:ext>
              </a:extLst>
            </p:cNvPr>
            <p:cNvSpPr/>
            <p:nvPr/>
          </p:nvSpPr>
          <p:spPr>
            <a:xfrm>
              <a:off x="5536769" y="1751190"/>
              <a:ext cx="524651" cy="662124"/>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 name="connsiteX0" fmla="*/ 3618 w 651290"/>
                <a:gd name="connsiteY0" fmla="*/ 593378 h 593378"/>
                <a:gd name="connsiteX1" fmla="*/ 0 w 651290"/>
                <a:gd name="connsiteY1" fmla="*/ 242416 h 593378"/>
                <a:gd name="connsiteX2" fmla="*/ 423338 w 651290"/>
                <a:gd name="connsiteY2" fmla="*/ 101308 h 593378"/>
                <a:gd name="connsiteX3" fmla="*/ 647672 w 651290"/>
                <a:gd name="connsiteY3" fmla="*/ 0 h 593378"/>
                <a:gd name="connsiteX4" fmla="*/ 651290 w 651290"/>
                <a:gd name="connsiteY4" fmla="*/ 593378 h 593378"/>
                <a:gd name="connsiteX5" fmla="*/ 3618 w 651290"/>
                <a:gd name="connsiteY5" fmla="*/ 593378 h 593378"/>
                <a:gd name="connsiteX0" fmla="*/ 3618 w 651290"/>
                <a:gd name="connsiteY0" fmla="*/ 662124 h 662124"/>
                <a:gd name="connsiteX1" fmla="*/ 0 w 651290"/>
                <a:gd name="connsiteY1" fmla="*/ 311162 h 662124"/>
                <a:gd name="connsiteX2" fmla="*/ 376300 w 651290"/>
                <a:gd name="connsiteY2" fmla="*/ 0 h 662124"/>
                <a:gd name="connsiteX3" fmla="*/ 647672 w 651290"/>
                <a:gd name="connsiteY3" fmla="*/ 68746 h 662124"/>
                <a:gd name="connsiteX4" fmla="*/ 651290 w 651290"/>
                <a:gd name="connsiteY4" fmla="*/ 662124 h 662124"/>
                <a:gd name="connsiteX5" fmla="*/ 3618 w 651290"/>
                <a:gd name="connsiteY5" fmla="*/ 662124 h 662124"/>
                <a:gd name="connsiteX0" fmla="*/ 0 w 647672"/>
                <a:gd name="connsiteY0" fmla="*/ 662124 h 662124"/>
                <a:gd name="connsiteX1" fmla="*/ 123021 w 647672"/>
                <a:gd name="connsiteY1" fmla="*/ 83217 h 662124"/>
                <a:gd name="connsiteX2" fmla="*/ 372682 w 647672"/>
                <a:gd name="connsiteY2" fmla="*/ 0 h 662124"/>
                <a:gd name="connsiteX3" fmla="*/ 644054 w 647672"/>
                <a:gd name="connsiteY3" fmla="*/ 68746 h 662124"/>
                <a:gd name="connsiteX4" fmla="*/ 647672 w 647672"/>
                <a:gd name="connsiteY4" fmla="*/ 662124 h 662124"/>
                <a:gd name="connsiteX5" fmla="*/ 0 w 647672"/>
                <a:gd name="connsiteY5" fmla="*/ 662124 h 662124"/>
                <a:gd name="connsiteX0" fmla="*/ 7238 w 524651"/>
                <a:gd name="connsiteY0" fmla="*/ 669360 h 669360"/>
                <a:gd name="connsiteX1" fmla="*/ 0 w 524651"/>
                <a:gd name="connsiteY1" fmla="*/ 83217 h 669360"/>
                <a:gd name="connsiteX2" fmla="*/ 249661 w 524651"/>
                <a:gd name="connsiteY2" fmla="*/ 0 h 669360"/>
                <a:gd name="connsiteX3" fmla="*/ 521033 w 524651"/>
                <a:gd name="connsiteY3" fmla="*/ 68746 h 669360"/>
                <a:gd name="connsiteX4" fmla="*/ 524651 w 524651"/>
                <a:gd name="connsiteY4" fmla="*/ 662124 h 669360"/>
                <a:gd name="connsiteX5" fmla="*/ 7238 w 524651"/>
                <a:gd name="connsiteY5" fmla="*/ 669360 h 669360"/>
                <a:gd name="connsiteX0" fmla="*/ 438 w 528706"/>
                <a:gd name="connsiteY0" fmla="*/ 665742 h 665742"/>
                <a:gd name="connsiteX1" fmla="*/ 4055 w 528706"/>
                <a:gd name="connsiteY1" fmla="*/ 83217 h 665742"/>
                <a:gd name="connsiteX2" fmla="*/ 253716 w 528706"/>
                <a:gd name="connsiteY2" fmla="*/ 0 h 665742"/>
                <a:gd name="connsiteX3" fmla="*/ 525088 w 528706"/>
                <a:gd name="connsiteY3" fmla="*/ 68746 h 665742"/>
                <a:gd name="connsiteX4" fmla="*/ 528706 w 528706"/>
                <a:gd name="connsiteY4" fmla="*/ 662124 h 665742"/>
                <a:gd name="connsiteX5" fmla="*/ 438 w 528706"/>
                <a:gd name="connsiteY5" fmla="*/ 665742 h 665742"/>
                <a:gd name="connsiteX0" fmla="*/ 155 w 546514"/>
                <a:gd name="connsiteY0" fmla="*/ 662124 h 662124"/>
                <a:gd name="connsiteX1" fmla="*/ 21863 w 546514"/>
                <a:gd name="connsiteY1" fmla="*/ 83217 h 662124"/>
                <a:gd name="connsiteX2" fmla="*/ 271524 w 546514"/>
                <a:gd name="connsiteY2" fmla="*/ 0 h 662124"/>
                <a:gd name="connsiteX3" fmla="*/ 542896 w 546514"/>
                <a:gd name="connsiteY3" fmla="*/ 68746 h 662124"/>
                <a:gd name="connsiteX4" fmla="*/ 546514 w 546514"/>
                <a:gd name="connsiteY4" fmla="*/ 662124 h 662124"/>
                <a:gd name="connsiteX5" fmla="*/ 155 w 546514"/>
                <a:gd name="connsiteY5" fmla="*/ 662124 h 662124"/>
                <a:gd name="connsiteX0" fmla="*/ 10856 w 524651"/>
                <a:gd name="connsiteY0" fmla="*/ 658506 h 662124"/>
                <a:gd name="connsiteX1" fmla="*/ 0 w 524651"/>
                <a:gd name="connsiteY1" fmla="*/ 83217 h 662124"/>
                <a:gd name="connsiteX2" fmla="*/ 249661 w 524651"/>
                <a:gd name="connsiteY2" fmla="*/ 0 h 662124"/>
                <a:gd name="connsiteX3" fmla="*/ 521033 w 524651"/>
                <a:gd name="connsiteY3" fmla="*/ 68746 h 662124"/>
                <a:gd name="connsiteX4" fmla="*/ 524651 w 524651"/>
                <a:gd name="connsiteY4" fmla="*/ 662124 h 662124"/>
                <a:gd name="connsiteX5" fmla="*/ 10856 w 524651"/>
                <a:gd name="connsiteY5" fmla="*/ 658506 h 662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4651" h="662124">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w="12700">
              <a:solidFill>
                <a:srgbClr val="0000A8"/>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2" name="Freeform 31">
              <a:extLst>
                <a:ext uri="{FF2B5EF4-FFF2-40B4-BE49-F238E27FC236}">
                  <a16:creationId xmlns:a16="http://schemas.microsoft.com/office/drawing/2014/main" id="{F8935E55-D83F-F74C-A0C3-358E8FF3E7CE}"/>
                </a:ext>
              </a:extLst>
            </p:cNvPr>
            <p:cNvSpPr/>
            <p:nvPr/>
          </p:nvSpPr>
          <p:spPr>
            <a:xfrm>
              <a:off x="5203089" y="1921244"/>
              <a:ext cx="651290" cy="492070"/>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1290" h="492070">
                  <a:moveTo>
                    <a:pt x="3618" y="492070"/>
                  </a:moveTo>
                  <a:lnTo>
                    <a:pt x="0" y="141108"/>
                  </a:lnTo>
                  <a:lnTo>
                    <a:pt x="423338" y="0"/>
                  </a:lnTo>
                  <a:lnTo>
                    <a:pt x="647672" y="57891"/>
                  </a:lnTo>
                  <a:lnTo>
                    <a:pt x="651290" y="492070"/>
                  </a:lnTo>
                  <a:lnTo>
                    <a:pt x="3618" y="492070"/>
                  </a:lnTo>
                  <a:close/>
                </a:path>
              </a:pathLst>
            </a:custGeom>
            <a:solidFill>
              <a:srgbClr val="E0EBF1"/>
            </a:solidFill>
            <a:ln w="12700">
              <a:solidFill>
                <a:srgbClr val="0000A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cxnSp>
          <p:nvCxnSpPr>
            <p:cNvPr id="33" name="Straight Connector 32">
              <a:extLst>
                <a:ext uri="{FF2B5EF4-FFF2-40B4-BE49-F238E27FC236}">
                  <a16:creationId xmlns:a16="http://schemas.microsoft.com/office/drawing/2014/main" id="{3FFB49DC-1122-2D42-9C83-51C0E0469DF6}"/>
                </a:ext>
              </a:extLst>
            </p:cNvPr>
            <p:cNvCxnSpPr/>
            <p:nvPr/>
          </p:nvCxnSpPr>
          <p:spPr>
            <a:xfrm flipV="1">
              <a:off x="5270526" y="2029553"/>
              <a:ext cx="295249" cy="73468"/>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FB4DFA1B-BDC0-0547-BA3C-F5988DF09577}"/>
                </a:ext>
              </a:extLst>
            </p:cNvPr>
            <p:cNvCxnSpPr/>
            <p:nvPr/>
          </p:nvCxnSpPr>
          <p:spPr>
            <a:xfrm flipV="1">
              <a:off x="5275406" y="2261710"/>
              <a:ext cx="290369" cy="16752"/>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734898AC-622F-264A-9A7D-E5817715A6AD}"/>
                </a:ext>
              </a:extLst>
            </p:cNvPr>
            <p:cNvCxnSpPr/>
            <p:nvPr/>
          </p:nvCxnSpPr>
          <p:spPr>
            <a:xfrm flipV="1">
              <a:off x="5275406" y="2151772"/>
              <a:ext cx="290369" cy="48402"/>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B01C8AF5-125A-4746-96BD-BF09BC7DDE9B}"/>
                </a:ext>
              </a:extLst>
            </p:cNvPr>
            <p:cNvCxnSpPr/>
            <p:nvPr/>
          </p:nvCxnSpPr>
          <p:spPr>
            <a:xfrm>
              <a:off x="5270094" y="2354086"/>
              <a:ext cx="295681" cy="0"/>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53662089-AD1C-A64B-9B48-0369C502239D}"/>
                </a:ext>
              </a:extLst>
            </p:cNvPr>
            <p:cNvCxnSpPr/>
            <p:nvPr/>
          </p:nvCxnSpPr>
          <p:spPr>
            <a:xfrm flipV="1">
              <a:off x="5950242" y="1866900"/>
              <a:ext cx="0" cy="465273"/>
            </a:xfrm>
            <a:prstGeom prst="line">
              <a:avLst/>
            </a:prstGeom>
            <a:ln w="44450">
              <a:solidFill>
                <a:schemeClr val="bg1"/>
              </a:solidFill>
              <a:prstDash val="sysDash"/>
            </a:ln>
            <a:effectLst/>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B0D9A8F3-9F56-D642-96B2-51A352E9864D}"/>
                </a:ext>
              </a:extLst>
            </p:cNvPr>
            <p:cNvCxnSpPr/>
            <p:nvPr/>
          </p:nvCxnSpPr>
          <p:spPr>
            <a:xfrm>
              <a:off x="5628589" y="1936750"/>
              <a:ext cx="0" cy="476854"/>
            </a:xfrm>
            <a:prstGeom prst="line">
              <a:avLst/>
            </a:prstGeom>
            <a:ln w="15875">
              <a:solidFill>
                <a:srgbClr val="0000A8"/>
              </a:solidFill>
            </a:ln>
            <a:effectLst/>
          </p:spPr>
          <p:style>
            <a:lnRef idx="2">
              <a:schemeClr val="accent1"/>
            </a:lnRef>
            <a:fillRef idx="0">
              <a:schemeClr val="accent1"/>
            </a:fillRef>
            <a:effectRef idx="1">
              <a:schemeClr val="accent1"/>
            </a:effectRef>
            <a:fontRef idx="minor">
              <a:schemeClr val="tx1"/>
            </a:fontRef>
          </p:style>
        </p:cxnSp>
      </p:grpSp>
      <p:sp>
        <p:nvSpPr>
          <p:cNvPr id="39" name="Freeform 38">
            <a:extLst>
              <a:ext uri="{FF2B5EF4-FFF2-40B4-BE49-F238E27FC236}">
                <a16:creationId xmlns:a16="http://schemas.microsoft.com/office/drawing/2014/main" id="{717B1C14-4D36-EF4F-A926-BBBD98456BEE}"/>
              </a:ext>
            </a:extLst>
          </p:cNvPr>
          <p:cNvSpPr/>
          <p:nvPr/>
        </p:nvSpPr>
        <p:spPr>
          <a:xfrm>
            <a:off x="9540813" y="1782042"/>
            <a:ext cx="1497864" cy="1386455"/>
          </a:xfrm>
          <a:custGeom>
            <a:avLst/>
            <a:gdLst>
              <a:gd name="connsiteX0" fmla="*/ 434989 w 1523031"/>
              <a:gd name="connsiteY0" fmla="*/ 253346 h 1763594"/>
              <a:gd name="connsiteX1" fmla="*/ 488 w 1523031"/>
              <a:gd name="connsiteY1" fmla="*/ 921706 h 1763594"/>
              <a:gd name="connsiteX2" fmla="*/ 368142 w 1523031"/>
              <a:gd name="connsiteY2" fmla="*/ 1489812 h 1763594"/>
              <a:gd name="connsiteX3" fmla="*/ 1187008 w 1523031"/>
              <a:gd name="connsiteY3" fmla="*/ 1757156 h 1763594"/>
              <a:gd name="connsiteX4" fmla="*/ 1521239 w 1523031"/>
              <a:gd name="connsiteY4" fmla="*/ 1239177 h 1763594"/>
              <a:gd name="connsiteX5" fmla="*/ 1320700 w 1523031"/>
              <a:gd name="connsiteY5" fmla="*/ 654362 h 1763594"/>
              <a:gd name="connsiteX6" fmla="*/ 1337412 w 1523031"/>
              <a:gd name="connsiteY6" fmla="*/ 136383 h 1763594"/>
              <a:gd name="connsiteX7" fmla="*/ 1086739 w 1523031"/>
              <a:gd name="connsiteY7" fmla="*/ 2711 h 1763594"/>
              <a:gd name="connsiteX8" fmla="*/ 434989 w 1523031"/>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1086739 w 1537226"/>
              <a:gd name="connsiteY7" fmla="*/ 2711 h 1763594"/>
              <a:gd name="connsiteX8" fmla="*/ 434989 w 1537226"/>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839572 w 1537226"/>
              <a:gd name="connsiteY7" fmla="*/ 2711 h 1763594"/>
              <a:gd name="connsiteX8" fmla="*/ 434989 w 1537226"/>
              <a:gd name="connsiteY8" fmla="*/ 253346 h 1763594"/>
              <a:gd name="connsiteX0" fmla="*/ 360357 w 1536743"/>
              <a:gd name="connsiteY0" fmla="*/ 534641 h 1782088"/>
              <a:gd name="connsiteX1" fmla="*/ 5 w 1536743"/>
              <a:gd name="connsiteY1" fmla="*/ 940200 h 1782088"/>
              <a:gd name="connsiteX2" fmla="*/ 367659 w 1536743"/>
              <a:gd name="connsiteY2" fmla="*/ 1508306 h 1782088"/>
              <a:gd name="connsiteX3" fmla="*/ 1186525 w 1536743"/>
              <a:gd name="connsiteY3" fmla="*/ 1775650 h 1782088"/>
              <a:gd name="connsiteX4" fmla="*/ 1520756 w 1536743"/>
              <a:gd name="connsiteY4" fmla="*/ 1257671 h 1782088"/>
              <a:gd name="connsiteX5" fmla="*/ 1468515 w 1536743"/>
              <a:gd name="connsiteY5" fmla="*/ 672856 h 1782088"/>
              <a:gd name="connsiteX6" fmla="*/ 1336929 w 1536743"/>
              <a:gd name="connsiteY6" fmla="*/ 154877 h 1782088"/>
              <a:gd name="connsiteX7" fmla="*/ 839089 w 1536743"/>
              <a:gd name="connsiteY7" fmla="*/ 21205 h 1782088"/>
              <a:gd name="connsiteX8" fmla="*/ 360357 w 1536743"/>
              <a:gd name="connsiteY8" fmla="*/ 534641 h 1782088"/>
              <a:gd name="connsiteX0" fmla="*/ 360355 w 1536741"/>
              <a:gd name="connsiteY0" fmla="*/ 534641 h 1782088"/>
              <a:gd name="connsiteX1" fmla="*/ 3 w 1536741"/>
              <a:gd name="connsiteY1" fmla="*/ 940200 h 1782088"/>
              <a:gd name="connsiteX2" fmla="*/ 367657 w 1536741"/>
              <a:gd name="connsiteY2" fmla="*/ 1508306 h 1782088"/>
              <a:gd name="connsiteX3" fmla="*/ 1186523 w 1536741"/>
              <a:gd name="connsiteY3" fmla="*/ 1775650 h 1782088"/>
              <a:gd name="connsiteX4" fmla="*/ 1520754 w 1536741"/>
              <a:gd name="connsiteY4" fmla="*/ 1257671 h 1782088"/>
              <a:gd name="connsiteX5" fmla="*/ 1468513 w 1536741"/>
              <a:gd name="connsiteY5" fmla="*/ 672856 h 1782088"/>
              <a:gd name="connsiteX6" fmla="*/ 1336927 w 1536741"/>
              <a:gd name="connsiteY6" fmla="*/ 154877 h 1782088"/>
              <a:gd name="connsiteX7" fmla="*/ 839087 w 1536741"/>
              <a:gd name="connsiteY7" fmla="*/ 21205 h 1782088"/>
              <a:gd name="connsiteX8" fmla="*/ 360355 w 1536741"/>
              <a:gd name="connsiteY8" fmla="*/ 534641 h 1782088"/>
              <a:gd name="connsiteX0" fmla="*/ 360355 w 1494463"/>
              <a:gd name="connsiteY0" fmla="*/ 534641 h 1775651"/>
              <a:gd name="connsiteX1" fmla="*/ 3 w 1494463"/>
              <a:gd name="connsiteY1" fmla="*/ 940200 h 1775651"/>
              <a:gd name="connsiteX2" fmla="*/ 367657 w 1494463"/>
              <a:gd name="connsiteY2" fmla="*/ 1508306 h 1775651"/>
              <a:gd name="connsiteX3" fmla="*/ 1186523 w 1494463"/>
              <a:gd name="connsiteY3" fmla="*/ 1775650 h 1775651"/>
              <a:gd name="connsiteX4" fmla="*/ 1467465 w 1494463"/>
              <a:gd name="connsiteY4" fmla="*/ 1510813 h 1775651"/>
              <a:gd name="connsiteX5" fmla="*/ 1468513 w 1494463"/>
              <a:gd name="connsiteY5" fmla="*/ 672856 h 1775651"/>
              <a:gd name="connsiteX6" fmla="*/ 1336927 w 1494463"/>
              <a:gd name="connsiteY6" fmla="*/ 154877 h 1775651"/>
              <a:gd name="connsiteX7" fmla="*/ 839087 w 1494463"/>
              <a:gd name="connsiteY7" fmla="*/ 21205 h 1775651"/>
              <a:gd name="connsiteX8" fmla="*/ 360355 w 1494463"/>
              <a:gd name="connsiteY8" fmla="*/ 534641 h 1775651"/>
              <a:gd name="connsiteX0" fmla="*/ 360355 w 1491064"/>
              <a:gd name="connsiteY0" fmla="*/ 552327 h 1793337"/>
              <a:gd name="connsiteX1" fmla="*/ 3 w 1491064"/>
              <a:gd name="connsiteY1" fmla="*/ 957886 h 1793337"/>
              <a:gd name="connsiteX2" fmla="*/ 367657 w 1491064"/>
              <a:gd name="connsiteY2" fmla="*/ 1525992 h 1793337"/>
              <a:gd name="connsiteX3" fmla="*/ 1186523 w 1491064"/>
              <a:gd name="connsiteY3" fmla="*/ 1793336 h 1793337"/>
              <a:gd name="connsiteX4" fmla="*/ 1467465 w 1491064"/>
              <a:gd name="connsiteY4" fmla="*/ 1528499 h 1793337"/>
              <a:gd name="connsiteX5" fmla="*/ 1468513 w 1491064"/>
              <a:gd name="connsiteY5" fmla="*/ 690542 h 1793337"/>
              <a:gd name="connsiteX6" fmla="*/ 1407977 w 1491064"/>
              <a:gd name="connsiteY6" fmla="*/ 109278 h 1793337"/>
              <a:gd name="connsiteX7" fmla="*/ 839087 w 1491064"/>
              <a:gd name="connsiteY7" fmla="*/ 38891 h 1793337"/>
              <a:gd name="connsiteX8" fmla="*/ 360355 w 1491064"/>
              <a:gd name="connsiteY8" fmla="*/ 552327 h 1793337"/>
              <a:gd name="connsiteX0" fmla="*/ 360355 w 1502818"/>
              <a:gd name="connsiteY0" fmla="*/ 552327 h 1612281"/>
              <a:gd name="connsiteX1" fmla="*/ 3 w 1502818"/>
              <a:gd name="connsiteY1" fmla="*/ 957886 h 1612281"/>
              <a:gd name="connsiteX2" fmla="*/ 367657 w 1502818"/>
              <a:gd name="connsiteY2" fmla="*/ 1525992 h 1612281"/>
              <a:gd name="connsiteX3" fmla="*/ 1026659 w 1502818"/>
              <a:gd name="connsiteY3" fmla="*/ 1582385 h 1612281"/>
              <a:gd name="connsiteX4" fmla="*/ 1467465 w 1502818"/>
              <a:gd name="connsiteY4" fmla="*/ 1528499 h 1612281"/>
              <a:gd name="connsiteX5" fmla="*/ 1468513 w 1502818"/>
              <a:gd name="connsiteY5" fmla="*/ 690542 h 1612281"/>
              <a:gd name="connsiteX6" fmla="*/ 1407977 w 1502818"/>
              <a:gd name="connsiteY6" fmla="*/ 109278 h 1612281"/>
              <a:gd name="connsiteX7" fmla="*/ 839087 w 1502818"/>
              <a:gd name="connsiteY7" fmla="*/ 38891 h 1612281"/>
              <a:gd name="connsiteX8" fmla="*/ 360355 w 1502818"/>
              <a:gd name="connsiteY8" fmla="*/ 552327 h 1612281"/>
              <a:gd name="connsiteX0" fmla="*/ 360384 w 1502847"/>
              <a:gd name="connsiteY0" fmla="*/ 552327 h 1803602"/>
              <a:gd name="connsiteX1" fmla="*/ 32 w 1502847"/>
              <a:gd name="connsiteY1" fmla="*/ 957886 h 1803602"/>
              <a:gd name="connsiteX2" fmla="*/ 385448 w 1502847"/>
              <a:gd name="connsiteY2" fmla="*/ 1779134 h 1803602"/>
              <a:gd name="connsiteX3" fmla="*/ 1026688 w 1502847"/>
              <a:gd name="connsiteY3" fmla="*/ 1582385 h 1803602"/>
              <a:gd name="connsiteX4" fmla="*/ 1467494 w 1502847"/>
              <a:gd name="connsiteY4" fmla="*/ 1528499 h 1803602"/>
              <a:gd name="connsiteX5" fmla="*/ 1468542 w 1502847"/>
              <a:gd name="connsiteY5" fmla="*/ 690542 h 1803602"/>
              <a:gd name="connsiteX6" fmla="*/ 1408006 w 1502847"/>
              <a:gd name="connsiteY6" fmla="*/ 109278 h 1803602"/>
              <a:gd name="connsiteX7" fmla="*/ 839116 w 1502847"/>
              <a:gd name="connsiteY7" fmla="*/ 38891 h 1803602"/>
              <a:gd name="connsiteX8" fmla="*/ 360384 w 1502847"/>
              <a:gd name="connsiteY8" fmla="*/ 552327 h 1803602"/>
              <a:gd name="connsiteX0" fmla="*/ 360384 w 1502847"/>
              <a:gd name="connsiteY0" fmla="*/ 552327 h 1826319"/>
              <a:gd name="connsiteX1" fmla="*/ 32 w 1502847"/>
              <a:gd name="connsiteY1" fmla="*/ 957886 h 1826319"/>
              <a:gd name="connsiteX2" fmla="*/ 385448 w 1502847"/>
              <a:gd name="connsiteY2" fmla="*/ 1779134 h 1826319"/>
              <a:gd name="connsiteX3" fmla="*/ 1026688 w 1502847"/>
              <a:gd name="connsiteY3" fmla="*/ 1582385 h 1826319"/>
              <a:gd name="connsiteX4" fmla="*/ 1467494 w 1502847"/>
              <a:gd name="connsiteY4" fmla="*/ 1528499 h 1826319"/>
              <a:gd name="connsiteX5" fmla="*/ 1468542 w 1502847"/>
              <a:gd name="connsiteY5" fmla="*/ 690542 h 1826319"/>
              <a:gd name="connsiteX6" fmla="*/ 1408006 w 1502847"/>
              <a:gd name="connsiteY6" fmla="*/ 109278 h 1826319"/>
              <a:gd name="connsiteX7" fmla="*/ 839116 w 1502847"/>
              <a:gd name="connsiteY7" fmla="*/ 38891 h 1826319"/>
              <a:gd name="connsiteX8" fmla="*/ 360384 w 1502847"/>
              <a:gd name="connsiteY8" fmla="*/ 552327 h 1826319"/>
              <a:gd name="connsiteX0" fmla="*/ 289852 w 1503366"/>
              <a:gd name="connsiteY0" fmla="*/ 461730 h 1820101"/>
              <a:gd name="connsiteX1" fmla="*/ 551 w 1503366"/>
              <a:gd name="connsiteY1" fmla="*/ 951668 h 1820101"/>
              <a:gd name="connsiteX2" fmla="*/ 385967 w 1503366"/>
              <a:gd name="connsiteY2" fmla="*/ 1772916 h 1820101"/>
              <a:gd name="connsiteX3" fmla="*/ 1027207 w 1503366"/>
              <a:gd name="connsiteY3" fmla="*/ 1576167 h 1820101"/>
              <a:gd name="connsiteX4" fmla="*/ 1468013 w 1503366"/>
              <a:gd name="connsiteY4" fmla="*/ 1522281 h 1820101"/>
              <a:gd name="connsiteX5" fmla="*/ 1469061 w 1503366"/>
              <a:gd name="connsiteY5" fmla="*/ 684324 h 1820101"/>
              <a:gd name="connsiteX6" fmla="*/ 1408525 w 1503366"/>
              <a:gd name="connsiteY6" fmla="*/ 103060 h 1820101"/>
              <a:gd name="connsiteX7" fmla="*/ 839635 w 1503366"/>
              <a:gd name="connsiteY7" fmla="*/ 32673 h 1820101"/>
              <a:gd name="connsiteX8" fmla="*/ 289852 w 1503366"/>
              <a:gd name="connsiteY8" fmla="*/ 461730 h 1820101"/>
              <a:gd name="connsiteX0" fmla="*/ 293376 w 1506890"/>
              <a:gd name="connsiteY0" fmla="*/ 461730 h 1820101"/>
              <a:gd name="connsiteX1" fmla="*/ 4075 w 1506890"/>
              <a:gd name="connsiteY1" fmla="*/ 951668 h 1820101"/>
              <a:gd name="connsiteX2" fmla="*/ 389491 w 1506890"/>
              <a:gd name="connsiteY2" fmla="*/ 1772916 h 1820101"/>
              <a:gd name="connsiteX3" fmla="*/ 1030731 w 1506890"/>
              <a:gd name="connsiteY3" fmla="*/ 1576167 h 1820101"/>
              <a:gd name="connsiteX4" fmla="*/ 1471537 w 1506890"/>
              <a:gd name="connsiteY4" fmla="*/ 1522281 h 1820101"/>
              <a:gd name="connsiteX5" fmla="*/ 1472585 w 1506890"/>
              <a:gd name="connsiteY5" fmla="*/ 684324 h 1820101"/>
              <a:gd name="connsiteX6" fmla="*/ 1412049 w 1506890"/>
              <a:gd name="connsiteY6" fmla="*/ 103060 h 1820101"/>
              <a:gd name="connsiteX7" fmla="*/ 843159 w 1506890"/>
              <a:gd name="connsiteY7" fmla="*/ 32673 h 1820101"/>
              <a:gd name="connsiteX8" fmla="*/ 293376 w 1506890"/>
              <a:gd name="connsiteY8" fmla="*/ 461730 h 1820101"/>
              <a:gd name="connsiteX0" fmla="*/ 203955 w 1545103"/>
              <a:gd name="connsiteY0" fmla="*/ 206126 h 1802639"/>
              <a:gd name="connsiteX1" fmla="*/ 42288 w 1545103"/>
              <a:gd name="connsiteY1" fmla="*/ 934206 h 1802639"/>
              <a:gd name="connsiteX2" fmla="*/ 427704 w 1545103"/>
              <a:gd name="connsiteY2" fmla="*/ 1755454 h 1802639"/>
              <a:gd name="connsiteX3" fmla="*/ 1068944 w 1545103"/>
              <a:gd name="connsiteY3" fmla="*/ 1558705 h 1802639"/>
              <a:gd name="connsiteX4" fmla="*/ 1509750 w 1545103"/>
              <a:gd name="connsiteY4" fmla="*/ 1504819 h 1802639"/>
              <a:gd name="connsiteX5" fmla="*/ 1510798 w 1545103"/>
              <a:gd name="connsiteY5" fmla="*/ 666862 h 1802639"/>
              <a:gd name="connsiteX6" fmla="*/ 1450262 w 1545103"/>
              <a:gd name="connsiteY6" fmla="*/ 85598 h 1802639"/>
              <a:gd name="connsiteX7" fmla="*/ 881372 w 1545103"/>
              <a:gd name="connsiteY7" fmla="*/ 15211 h 1802639"/>
              <a:gd name="connsiteX8" fmla="*/ 203955 w 1545103"/>
              <a:gd name="connsiteY8" fmla="*/ 206126 h 1802639"/>
              <a:gd name="connsiteX0" fmla="*/ 147252 w 1634267"/>
              <a:gd name="connsiteY0" fmla="*/ 113266 h 1796376"/>
              <a:gd name="connsiteX1" fmla="*/ 131452 w 1634267"/>
              <a:gd name="connsiteY1" fmla="*/ 927943 h 1796376"/>
              <a:gd name="connsiteX2" fmla="*/ 516868 w 1634267"/>
              <a:gd name="connsiteY2" fmla="*/ 1749191 h 1796376"/>
              <a:gd name="connsiteX3" fmla="*/ 1158108 w 1634267"/>
              <a:gd name="connsiteY3" fmla="*/ 1552442 h 1796376"/>
              <a:gd name="connsiteX4" fmla="*/ 1598914 w 1634267"/>
              <a:gd name="connsiteY4" fmla="*/ 1498556 h 1796376"/>
              <a:gd name="connsiteX5" fmla="*/ 1599962 w 1634267"/>
              <a:gd name="connsiteY5" fmla="*/ 660599 h 1796376"/>
              <a:gd name="connsiteX6" fmla="*/ 1539426 w 1634267"/>
              <a:gd name="connsiteY6" fmla="*/ 79335 h 1796376"/>
              <a:gd name="connsiteX7" fmla="*/ 970536 w 1634267"/>
              <a:gd name="connsiteY7" fmla="*/ 8948 h 1796376"/>
              <a:gd name="connsiteX8" fmla="*/ 147252 w 1634267"/>
              <a:gd name="connsiteY8" fmla="*/ 113266 h 1796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34267" h="1796376">
                <a:moveTo>
                  <a:pt x="147252" y="113266"/>
                </a:moveTo>
                <a:cubicBezTo>
                  <a:pt x="-139307" y="245497"/>
                  <a:pt x="69849" y="655289"/>
                  <a:pt x="131452" y="927943"/>
                </a:cubicBezTo>
                <a:cubicBezTo>
                  <a:pt x="193055" y="1200597"/>
                  <a:pt x="345759" y="1645108"/>
                  <a:pt x="516868" y="1749191"/>
                </a:cubicBezTo>
                <a:cubicBezTo>
                  <a:pt x="687977" y="1853274"/>
                  <a:pt x="1013294" y="1784070"/>
                  <a:pt x="1158108" y="1552442"/>
                </a:cubicBezTo>
                <a:cubicBezTo>
                  <a:pt x="1302922" y="1320814"/>
                  <a:pt x="1525272" y="1647197"/>
                  <a:pt x="1598914" y="1498556"/>
                </a:cubicBezTo>
                <a:cubicBezTo>
                  <a:pt x="1672556" y="1349916"/>
                  <a:pt x="1609877" y="897136"/>
                  <a:pt x="1599962" y="660599"/>
                </a:cubicBezTo>
                <a:cubicBezTo>
                  <a:pt x="1590047" y="424062"/>
                  <a:pt x="1578419" y="187943"/>
                  <a:pt x="1539426" y="79335"/>
                </a:cubicBezTo>
                <a:cubicBezTo>
                  <a:pt x="1500433" y="-29273"/>
                  <a:pt x="1202565" y="3293"/>
                  <a:pt x="970536" y="8948"/>
                </a:cubicBezTo>
                <a:cubicBezTo>
                  <a:pt x="738507" y="14603"/>
                  <a:pt x="433811" y="-18965"/>
                  <a:pt x="147252" y="113266"/>
                </a:cubicBezTo>
                <a:close/>
              </a:path>
            </a:pathLst>
          </a:custGeom>
          <a:gradFill flip="none" rotWithShape="1">
            <a:gsLst>
              <a:gs pos="0">
                <a:srgbClr val="9CDFF9"/>
              </a:gs>
              <a:gs pos="100000">
                <a:schemeClr val="bg1"/>
              </a:gs>
              <a:gs pos="57000">
                <a:schemeClr val="accent5">
                  <a:lumMod val="20000"/>
                  <a:lumOff val="80000"/>
                </a:schemeClr>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0" name="TextBox 39">
            <a:extLst>
              <a:ext uri="{FF2B5EF4-FFF2-40B4-BE49-F238E27FC236}">
                <a16:creationId xmlns:a16="http://schemas.microsoft.com/office/drawing/2014/main" id="{E13F2107-1C9A-0C41-B24A-0671CC60D47A}"/>
              </a:ext>
            </a:extLst>
          </p:cNvPr>
          <p:cNvSpPr txBox="1"/>
          <p:nvPr/>
        </p:nvSpPr>
        <p:spPr>
          <a:xfrm>
            <a:off x="9427201" y="1851195"/>
            <a:ext cx="1725088" cy="286232"/>
          </a:xfrm>
          <a:prstGeom prst="rect">
            <a:avLst/>
          </a:prstGeom>
          <a:noFill/>
        </p:spPr>
        <p:txBody>
          <a:bodyPr wrap="none" rtlCol="0">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national or global ISP</a:t>
            </a:r>
          </a:p>
        </p:txBody>
      </p:sp>
      <p:sp>
        <p:nvSpPr>
          <p:cNvPr id="41" name="Rectangle 40">
            <a:extLst>
              <a:ext uri="{FF2B5EF4-FFF2-40B4-BE49-F238E27FC236}">
                <a16:creationId xmlns:a16="http://schemas.microsoft.com/office/drawing/2014/main" id="{4E6D405D-F88D-A643-A8DA-87BCB5348C5C}"/>
              </a:ext>
            </a:extLst>
          </p:cNvPr>
          <p:cNvSpPr/>
          <p:nvPr/>
        </p:nvSpPr>
        <p:spPr>
          <a:xfrm>
            <a:off x="9279068" y="3677908"/>
            <a:ext cx="305749" cy="197847"/>
          </a:xfrm>
          <a:prstGeom prst="rect">
            <a:avLst/>
          </a:prstGeom>
          <a:solidFill>
            <a:srgbClr val="9CD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2" name="TextBox 41">
            <a:extLst>
              <a:ext uri="{FF2B5EF4-FFF2-40B4-BE49-F238E27FC236}">
                <a16:creationId xmlns:a16="http://schemas.microsoft.com/office/drawing/2014/main" id="{ED05228A-100C-D643-BB8E-545E51741FBA}"/>
              </a:ext>
            </a:extLst>
          </p:cNvPr>
          <p:cNvSpPr txBox="1"/>
          <p:nvPr/>
        </p:nvSpPr>
        <p:spPr>
          <a:xfrm>
            <a:off x="8766162" y="3447919"/>
            <a:ext cx="1040639" cy="480131"/>
          </a:xfrm>
          <a:prstGeom prst="rect">
            <a:avLst/>
          </a:prstGeom>
          <a:noFill/>
        </p:spPr>
        <p:txBody>
          <a:bodyPr wrap="square" rtlCol="0">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local or regional ISP</a:t>
            </a:r>
          </a:p>
        </p:txBody>
      </p:sp>
      <p:sp>
        <p:nvSpPr>
          <p:cNvPr id="43" name="TextBox 42">
            <a:extLst>
              <a:ext uri="{FF2B5EF4-FFF2-40B4-BE49-F238E27FC236}">
                <a16:creationId xmlns:a16="http://schemas.microsoft.com/office/drawing/2014/main" id="{795F625F-E4CA-A14C-BDB7-680FDFE6EE1F}"/>
              </a:ext>
            </a:extLst>
          </p:cNvPr>
          <p:cNvSpPr txBox="1"/>
          <p:nvPr/>
        </p:nvSpPr>
        <p:spPr>
          <a:xfrm>
            <a:off x="10917767" y="4677937"/>
            <a:ext cx="813043" cy="383182"/>
          </a:xfrm>
          <a:prstGeom prst="rect">
            <a:avLst/>
          </a:prstGeom>
          <a:noFill/>
        </p:spPr>
        <p:txBody>
          <a:bodyPr wrap="none" rtlCol="0">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rPr>
              <a:t>datacenter </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rPr>
              <a:t>network</a:t>
            </a:r>
          </a:p>
        </p:txBody>
      </p:sp>
      <p:sp>
        <p:nvSpPr>
          <p:cNvPr id="44" name="TextBox 43">
            <a:extLst>
              <a:ext uri="{FF2B5EF4-FFF2-40B4-BE49-F238E27FC236}">
                <a16:creationId xmlns:a16="http://schemas.microsoft.com/office/drawing/2014/main" id="{75188F4C-A928-8F4F-9205-FD6C4D77CC8D}"/>
              </a:ext>
            </a:extLst>
          </p:cNvPr>
          <p:cNvSpPr txBox="1"/>
          <p:nvPr/>
        </p:nvSpPr>
        <p:spPr>
          <a:xfrm>
            <a:off x="10063018" y="4228248"/>
            <a:ext cx="843051" cy="674031"/>
          </a:xfrm>
          <a:prstGeom prst="rect">
            <a:avLst/>
          </a:prstGeom>
          <a:noFill/>
        </p:spPr>
        <p:txBody>
          <a:bodyPr wrap="none" rtlCol="0">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content </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provider </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network</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45" name="Straight Connector 44">
            <a:extLst>
              <a:ext uri="{FF2B5EF4-FFF2-40B4-BE49-F238E27FC236}">
                <a16:creationId xmlns:a16="http://schemas.microsoft.com/office/drawing/2014/main" id="{959284F2-2C3E-6B49-83BE-150EADA93824}"/>
              </a:ext>
            </a:extLst>
          </p:cNvPr>
          <p:cNvCxnSpPr>
            <a:cxnSpLocks/>
          </p:cNvCxnSpPr>
          <p:nvPr/>
        </p:nvCxnSpPr>
        <p:spPr>
          <a:xfrm flipH="1" flipV="1">
            <a:off x="10559920" y="3580125"/>
            <a:ext cx="412964" cy="6371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91AEFAB6-4248-8846-A79A-BF9D6164DE76}"/>
              </a:ext>
            </a:extLst>
          </p:cNvPr>
          <p:cNvCxnSpPr>
            <a:cxnSpLocks/>
          </p:cNvCxnSpPr>
          <p:nvPr/>
        </p:nvCxnSpPr>
        <p:spPr>
          <a:xfrm flipH="1" flipV="1">
            <a:off x="10660835" y="3640684"/>
            <a:ext cx="345866" cy="7389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ED0D3269-0EC2-2640-AC07-B881868275F8}"/>
              </a:ext>
            </a:extLst>
          </p:cNvPr>
          <p:cNvCxnSpPr>
            <a:cxnSpLocks/>
          </p:cNvCxnSpPr>
          <p:nvPr/>
        </p:nvCxnSpPr>
        <p:spPr>
          <a:xfrm flipV="1">
            <a:off x="10636897" y="3633421"/>
            <a:ext cx="335987" cy="39534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F63C34A0-4725-C44D-9514-4F74B2157D8C}"/>
              </a:ext>
            </a:extLst>
          </p:cNvPr>
          <p:cNvCxnSpPr>
            <a:cxnSpLocks/>
          </p:cNvCxnSpPr>
          <p:nvPr/>
        </p:nvCxnSpPr>
        <p:spPr>
          <a:xfrm flipH="1" flipV="1">
            <a:off x="10570774" y="3594896"/>
            <a:ext cx="1" cy="48574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DD0311E5-76D3-2C44-A6A8-22CB01ADCF02}"/>
              </a:ext>
            </a:extLst>
          </p:cNvPr>
          <p:cNvCxnSpPr>
            <a:cxnSpLocks/>
          </p:cNvCxnSpPr>
          <p:nvPr/>
        </p:nvCxnSpPr>
        <p:spPr>
          <a:xfrm flipH="1" flipV="1">
            <a:off x="10550620" y="4071642"/>
            <a:ext cx="508543" cy="34864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1939BF82-EFED-E140-BFC2-23D3688C2CB7}"/>
              </a:ext>
            </a:extLst>
          </p:cNvPr>
          <p:cNvCxnSpPr>
            <a:cxnSpLocks/>
          </p:cNvCxnSpPr>
          <p:nvPr/>
        </p:nvCxnSpPr>
        <p:spPr>
          <a:xfrm flipH="1">
            <a:off x="9895195" y="4087742"/>
            <a:ext cx="6554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56E47AF2-94A8-0243-8795-936020048815}"/>
              </a:ext>
            </a:extLst>
          </p:cNvPr>
          <p:cNvCxnSpPr>
            <a:cxnSpLocks/>
          </p:cNvCxnSpPr>
          <p:nvPr/>
        </p:nvCxnSpPr>
        <p:spPr>
          <a:xfrm flipH="1">
            <a:off x="9219616" y="4087742"/>
            <a:ext cx="6554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AD648A8C-238E-7045-A29E-EDD4DA54C3A4}"/>
              </a:ext>
            </a:extLst>
          </p:cNvPr>
          <p:cNvCxnSpPr>
            <a:cxnSpLocks/>
          </p:cNvCxnSpPr>
          <p:nvPr/>
        </p:nvCxnSpPr>
        <p:spPr>
          <a:xfrm flipH="1">
            <a:off x="9276868" y="3507672"/>
            <a:ext cx="382424" cy="5170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1F8AD327-3BC9-7D46-A7E7-D0F90B60A252}"/>
              </a:ext>
            </a:extLst>
          </p:cNvPr>
          <p:cNvCxnSpPr>
            <a:cxnSpLocks/>
          </p:cNvCxnSpPr>
          <p:nvPr/>
        </p:nvCxnSpPr>
        <p:spPr>
          <a:xfrm>
            <a:off x="9733069" y="3507672"/>
            <a:ext cx="0" cy="54029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217C26C3-84F1-C149-AC22-6F1EB6629DA9}"/>
              </a:ext>
            </a:extLst>
          </p:cNvPr>
          <p:cNvCxnSpPr/>
          <p:nvPr/>
        </p:nvCxnSpPr>
        <p:spPr>
          <a:xfrm>
            <a:off x="10137668" y="2754692"/>
            <a:ext cx="488174" cy="8393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E0F05EFE-FD3D-3C4D-8F4F-0AC6B112D1A2}"/>
              </a:ext>
            </a:extLst>
          </p:cNvPr>
          <p:cNvCxnSpPr>
            <a:cxnSpLocks/>
          </p:cNvCxnSpPr>
          <p:nvPr/>
        </p:nvCxnSpPr>
        <p:spPr>
          <a:xfrm flipH="1">
            <a:off x="9798719" y="2695013"/>
            <a:ext cx="380432" cy="694807"/>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grpSp>
        <p:nvGrpSpPr>
          <p:cNvPr id="56" name="Group 55">
            <a:extLst>
              <a:ext uri="{FF2B5EF4-FFF2-40B4-BE49-F238E27FC236}">
                <a16:creationId xmlns:a16="http://schemas.microsoft.com/office/drawing/2014/main" id="{CCC39A38-643E-1841-84E4-48B68DB2ED03}"/>
              </a:ext>
            </a:extLst>
          </p:cNvPr>
          <p:cNvGrpSpPr/>
          <p:nvPr/>
        </p:nvGrpSpPr>
        <p:grpSpPr>
          <a:xfrm>
            <a:off x="7562238" y="2127325"/>
            <a:ext cx="3578867" cy="3640283"/>
            <a:chOff x="7562238" y="2127325"/>
            <a:chExt cx="3578867" cy="3640283"/>
          </a:xfrm>
        </p:grpSpPr>
        <p:grpSp>
          <p:nvGrpSpPr>
            <p:cNvPr id="57" name="Group 56">
              <a:extLst>
                <a:ext uri="{FF2B5EF4-FFF2-40B4-BE49-F238E27FC236}">
                  <a16:creationId xmlns:a16="http://schemas.microsoft.com/office/drawing/2014/main" id="{479EF77B-B7F5-D441-A37D-7AC14D43B519}"/>
                </a:ext>
              </a:extLst>
            </p:cNvPr>
            <p:cNvGrpSpPr/>
            <p:nvPr/>
          </p:nvGrpSpPr>
          <p:grpSpPr>
            <a:xfrm>
              <a:off x="7857253" y="2127325"/>
              <a:ext cx="3283852" cy="3640283"/>
              <a:chOff x="7881336" y="2104198"/>
              <a:chExt cx="3283852" cy="3640283"/>
            </a:xfrm>
          </p:grpSpPr>
          <p:sp>
            <p:nvSpPr>
              <p:cNvPr id="62" name="Line 428">
                <a:extLst>
                  <a:ext uri="{FF2B5EF4-FFF2-40B4-BE49-F238E27FC236}">
                    <a16:creationId xmlns:a16="http://schemas.microsoft.com/office/drawing/2014/main" id="{16F1973E-A8F0-6E4E-9510-49D75998F4A8}"/>
                  </a:ext>
                </a:extLst>
              </p:cNvPr>
              <p:cNvSpPr>
                <a:spLocks noChangeShapeType="1"/>
              </p:cNvSpPr>
              <p:nvPr/>
            </p:nvSpPr>
            <p:spPr bwMode="auto">
              <a:xfrm rot="16200000" flipV="1">
                <a:off x="9813692" y="5228612"/>
                <a:ext cx="388062" cy="75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3" name="Line 430">
                <a:extLst>
                  <a:ext uri="{FF2B5EF4-FFF2-40B4-BE49-F238E27FC236}">
                    <a16:creationId xmlns:a16="http://schemas.microsoft.com/office/drawing/2014/main" id="{CAB72423-2D43-1046-869C-9EDAEA5E40C1}"/>
                  </a:ext>
                </a:extLst>
              </p:cNvPr>
              <p:cNvSpPr>
                <a:spLocks noChangeShapeType="1"/>
              </p:cNvSpPr>
              <p:nvPr/>
            </p:nvSpPr>
            <p:spPr bwMode="auto">
              <a:xfrm rot="16200000">
                <a:off x="10234009" y="5382159"/>
                <a:ext cx="0" cy="1143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4" name="Line 431">
                <a:extLst>
                  <a:ext uri="{FF2B5EF4-FFF2-40B4-BE49-F238E27FC236}">
                    <a16:creationId xmlns:a16="http://schemas.microsoft.com/office/drawing/2014/main" id="{99BD1088-D56F-3A42-8E44-483A32BEDA49}"/>
                  </a:ext>
                </a:extLst>
              </p:cNvPr>
              <p:cNvSpPr>
                <a:spLocks noChangeShapeType="1"/>
              </p:cNvSpPr>
              <p:nvPr/>
            </p:nvSpPr>
            <p:spPr bwMode="auto">
              <a:xfrm>
                <a:off x="9457042" y="4815390"/>
                <a:ext cx="524483" cy="2615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5" name="Line 432">
                <a:extLst>
                  <a:ext uri="{FF2B5EF4-FFF2-40B4-BE49-F238E27FC236}">
                    <a16:creationId xmlns:a16="http://schemas.microsoft.com/office/drawing/2014/main" id="{8A75CF99-7455-B74F-8BAD-3AD43E03F473}"/>
                  </a:ext>
                </a:extLst>
              </p:cNvPr>
              <p:cNvSpPr>
                <a:spLocks noChangeShapeType="1"/>
              </p:cNvSpPr>
              <p:nvPr/>
            </p:nvSpPr>
            <p:spPr bwMode="auto">
              <a:xfrm flipV="1">
                <a:off x="8874149" y="4815390"/>
                <a:ext cx="569255" cy="24626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6" name="Line 433">
                <a:extLst>
                  <a:ext uri="{FF2B5EF4-FFF2-40B4-BE49-F238E27FC236}">
                    <a16:creationId xmlns:a16="http://schemas.microsoft.com/office/drawing/2014/main" id="{FC542B29-675E-3D46-80C8-75565CBAE29A}"/>
                  </a:ext>
                </a:extLst>
              </p:cNvPr>
              <p:cNvSpPr>
                <a:spLocks noChangeShapeType="1"/>
              </p:cNvSpPr>
              <p:nvPr/>
            </p:nvSpPr>
            <p:spPr bwMode="auto">
              <a:xfrm flipV="1">
                <a:off x="8845827" y="5085749"/>
                <a:ext cx="103050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7" name="Line 435">
                <a:extLst>
                  <a:ext uri="{FF2B5EF4-FFF2-40B4-BE49-F238E27FC236}">
                    <a16:creationId xmlns:a16="http://schemas.microsoft.com/office/drawing/2014/main" id="{2B974C3D-5280-D849-8D04-7FDDEF66CF86}"/>
                  </a:ext>
                </a:extLst>
              </p:cNvPr>
              <p:cNvSpPr>
                <a:spLocks noChangeShapeType="1"/>
              </p:cNvSpPr>
              <p:nvPr/>
            </p:nvSpPr>
            <p:spPr bwMode="auto">
              <a:xfrm>
                <a:off x="8234290" y="5094207"/>
                <a:ext cx="226800" cy="127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8" name="Line 436">
                <a:extLst>
                  <a:ext uri="{FF2B5EF4-FFF2-40B4-BE49-F238E27FC236}">
                    <a16:creationId xmlns:a16="http://schemas.microsoft.com/office/drawing/2014/main" id="{05391238-AE6D-D14C-8C1F-CD07E40328C7}"/>
                  </a:ext>
                </a:extLst>
              </p:cNvPr>
              <p:cNvSpPr>
                <a:spLocks noChangeShapeType="1"/>
              </p:cNvSpPr>
              <p:nvPr/>
            </p:nvSpPr>
            <p:spPr bwMode="auto">
              <a:xfrm flipV="1">
                <a:off x="7972450" y="5267343"/>
                <a:ext cx="412750" cy="127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9" name="Line 439">
                <a:extLst>
                  <a:ext uri="{FF2B5EF4-FFF2-40B4-BE49-F238E27FC236}">
                    <a16:creationId xmlns:a16="http://schemas.microsoft.com/office/drawing/2014/main" id="{F0B33890-F38E-9948-851E-64C7E965F08B}"/>
                  </a:ext>
                </a:extLst>
              </p:cNvPr>
              <p:cNvSpPr>
                <a:spLocks noChangeShapeType="1"/>
              </p:cNvSpPr>
              <p:nvPr/>
            </p:nvSpPr>
            <p:spPr bwMode="auto">
              <a:xfrm flipH="1">
                <a:off x="8397900" y="5259125"/>
                <a:ext cx="68080" cy="2939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0" name="Line 440">
                <a:extLst>
                  <a:ext uri="{FF2B5EF4-FFF2-40B4-BE49-F238E27FC236}">
                    <a16:creationId xmlns:a16="http://schemas.microsoft.com/office/drawing/2014/main" id="{A6F6A7F9-E45C-124D-AC6C-F4101DAE4B5F}"/>
                  </a:ext>
                </a:extLst>
              </p:cNvPr>
              <p:cNvSpPr>
                <a:spLocks noChangeShapeType="1"/>
              </p:cNvSpPr>
              <p:nvPr/>
            </p:nvSpPr>
            <p:spPr bwMode="auto">
              <a:xfrm flipH="1" flipV="1">
                <a:off x="8512814" y="5284804"/>
                <a:ext cx="280374" cy="2698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1" name="Line 441">
                <a:extLst>
                  <a:ext uri="{FF2B5EF4-FFF2-40B4-BE49-F238E27FC236}">
                    <a16:creationId xmlns:a16="http://schemas.microsoft.com/office/drawing/2014/main" id="{AD8346D7-6C40-1348-A196-CC99EDB76C75}"/>
                  </a:ext>
                </a:extLst>
              </p:cNvPr>
              <p:cNvSpPr>
                <a:spLocks noChangeShapeType="1"/>
              </p:cNvSpPr>
              <p:nvPr/>
            </p:nvSpPr>
            <p:spPr bwMode="auto">
              <a:xfrm>
                <a:off x="8512814" y="5234921"/>
                <a:ext cx="914184" cy="4686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2" name="Line 443">
                <a:extLst>
                  <a:ext uri="{FF2B5EF4-FFF2-40B4-BE49-F238E27FC236}">
                    <a16:creationId xmlns:a16="http://schemas.microsoft.com/office/drawing/2014/main" id="{E2DA8AD7-F617-354E-B5AE-47F97541A8FA}"/>
                  </a:ext>
                </a:extLst>
              </p:cNvPr>
              <p:cNvSpPr>
                <a:spLocks noChangeShapeType="1"/>
              </p:cNvSpPr>
              <p:nvPr/>
            </p:nvSpPr>
            <p:spPr bwMode="auto">
              <a:xfrm>
                <a:off x="8271861" y="3806843"/>
                <a:ext cx="0" cy="1317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3" name="Line 449">
                <a:extLst>
                  <a:ext uri="{FF2B5EF4-FFF2-40B4-BE49-F238E27FC236}">
                    <a16:creationId xmlns:a16="http://schemas.microsoft.com/office/drawing/2014/main" id="{E873DD89-2DB7-304C-ADED-170F1F4E1A6A}"/>
                  </a:ext>
                </a:extLst>
              </p:cNvPr>
              <p:cNvSpPr>
                <a:spLocks noChangeShapeType="1"/>
              </p:cNvSpPr>
              <p:nvPr/>
            </p:nvSpPr>
            <p:spPr bwMode="auto">
              <a:xfrm flipV="1">
                <a:off x="7881336" y="4017980"/>
                <a:ext cx="168275" cy="31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4" name="Line 428">
                <a:extLst>
                  <a:ext uri="{FF2B5EF4-FFF2-40B4-BE49-F238E27FC236}">
                    <a16:creationId xmlns:a16="http://schemas.microsoft.com/office/drawing/2014/main" id="{56AC483A-3972-5540-9E9F-AE1FE256604E}"/>
                  </a:ext>
                </a:extLst>
              </p:cNvPr>
              <p:cNvSpPr>
                <a:spLocks noChangeShapeType="1"/>
              </p:cNvSpPr>
              <p:nvPr/>
            </p:nvSpPr>
            <p:spPr bwMode="auto">
              <a:xfrm rot="16200000" flipV="1">
                <a:off x="9909628" y="5560344"/>
                <a:ext cx="366793" cy="148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5" name="Line 440">
                <a:extLst>
                  <a:ext uri="{FF2B5EF4-FFF2-40B4-BE49-F238E27FC236}">
                    <a16:creationId xmlns:a16="http://schemas.microsoft.com/office/drawing/2014/main" id="{B0224379-0B0C-1343-B0E2-E62DFA482C03}"/>
                  </a:ext>
                </a:extLst>
              </p:cNvPr>
              <p:cNvSpPr>
                <a:spLocks noChangeShapeType="1"/>
              </p:cNvSpPr>
              <p:nvPr/>
            </p:nvSpPr>
            <p:spPr bwMode="auto">
              <a:xfrm flipV="1">
                <a:off x="8483508" y="5013435"/>
                <a:ext cx="404236" cy="20777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76" name="Straight Connector 75">
                <a:extLst>
                  <a:ext uri="{FF2B5EF4-FFF2-40B4-BE49-F238E27FC236}">
                    <a16:creationId xmlns:a16="http://schemas.microsoft.com/office/drawing/2014/main" id="{1DFBDA95-16CE-D146-A4C5-C45EDEC8D34E}"/>
                  </a:ext>
                </a:extLst>
              </p:cNvPr>
              <p:cNvCxnSpPr/>
              <p:nvPr/>
            </p:nvCxnSpPr>
            <p:spPr>
              <a:xfrm flipH="1">
                <a:off x="10124718" y="2146305"/>
                <a:ext cx="761467" cy="577355"/>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77" name="Straight Connector 76">
                <a:extLst>
                  <a:ext uri="{FF2B5EF4-FFF2-40B4-BE49-F238E27FC236}">
                    <a16:creationId xmlns:a16="http://schemas.microsoft.com/office/drawing/2014/main" id="{A282E722-916E-234E-AC0B-E2B36A0049E1}"/>
                  </a:ext>
                </a:extLst>
              </p:cNvPr>
              <p:cNvCxnSpPr/>
              <p:nvPr/>
            </p:nvCxnSpPr>
            <p:spPr>
              <a:xfrm flipH="1">
                <a:off x="10124718" y="2245186"/>
                <a:ext cx="3970" cy="518461"/>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78" name="Straight Connector 77">
                <a:extLst>
                  <a:ext uri="{FF2B5EF4-FFF2-40B4-BE49-F238E27FC236}">
                    <a16:creationId xmlns:a16="http://schemas.microsoft.com/office/drawing/2014/main" id="{F691F242-AF67-1B42-8D8E-F09C1EB27D39}"/>
                  </a:ext>
                </a:extLst>
              </p:cNvPr>
              <p:cNvCxnSpPr/>
              <p:nvPr/>
            </p:nvCxnSpPr>
            <p:spPr>
              <a:xfrm flipH="1">
                <a:off x="10696218" y="2177379"/>
                <a:ext cx="149360" cy="518461"/>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79" name="Straight Connector 78">
                <a:extLst>
                  <a:ext uri="{FF2B5EF4-FFF2-40B4-BE49-F238E27FC236}">
                    <a16:creationId xmlns:a16="http://schemas.microsoft.com/office/drawing/2014/main" id="{EFE49F46-6C78-A640-A53B-1F2DCAE49B5E}"/>
                  </a:ext>
                </a:extLst>
              </p:cNvPr>
              <p:cNvCxnSpPr/>
              <p:nvPr/>
            </p:nvCxnSpPr>
            <p:spPr>
              <a:xfrm flipH="1">
                <a:off x="10166249" y="2695840"/>
                <a:ext cx="574283" cy="27820"/>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80" name="Straight Connector 79">
                <a:extLst>
                  <a:ext uri="{FF2B5EF4-FFF2-40B4-BE49-F238E27FC236}">
                    <a16:creationId xmlns:a16="http://schemas.microsoft.com/office/drawing/2014/main" id="{81454C82-BE7E-874F-AA28-09F795395B3E}"/>
                  </a:ext>
                </a:extLst>
              </p:cNvPr>
              <p:cNvCxnSpPr/>
              <p:nvPr/>
            </p:nvCxnSpPr>
            <p:spPr>
              <a:xfrm flipH="1">
                <a:off x="10093625" y="2146305"/>
                <a:ext cx="788589" cy="98881"/>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81" name="Straight Connector 80">
                <a:extLst>
                  <a:ext uri="{FF2B5EF4-FFF2-40B4-BE49-F238E27FC236}">
                    <a16:creationId xmlns:a16="http://schemas.microsoft.com/office/drawing/2014/main" id="{42F00AE0-2163-514F-B52E-CFE0592CCF07}"/>
                  </a:ext>
                </a:extLst>
              </p:cNvPr>
              <p:cNvCxnSpPr/>
              <p:nvPr/>
            </p:nvCxnSpPr>
            <p:spPr>
              <a:xfrm flipH="1">
                <a:off x="10886186" y="2104198"/>
                <a:ext cx="279002" cy="42107"/>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82" name="Straight Connector 81">
                <a:extLst>
                  <a:ext uri="{FF2B5EF4-FFF2-40B4-BE49-F238E27FC236}">
                    <a16:creationId xmlns:a16="http://schemas.microsoft.com/office/drawing/2014/main" id="{9E38317B-7455-F04C-9FB3-A47169171585}"/>
                  </a:ext>
                </a:extLst>
              </p:cNvPr>
              <p:cNvCxnSpPr/>
              <p:nvPr/>
            </p:nvCxnSpPr>
            <p:spPr>
              <a:xfrm flipH="1" flipV="1">
                <a:off x="10706077" y="2695840"/>
                <a:ext cx="353541" cy="67807"/>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83" name="Straight Connector 82">
                <a:extLst>
                  <a:ext uri="{FF2B5EF4-FFF2-40B4-BE49-F238E27FC236}">
                    <a16:creationId xmlns:a16="http://schemas.microsoft.com/office/drawing/2014/main" id="{18CD097C-75DA-B84B-B03E-371F3044C3BB}"/>
                  </a:ext>
                </a:extLst>
              </p:cNvPr>
              <p:cNvCxnSpPr/>
              <p:nvPr/>
            </p:nvCxnSpPr>
            <p:spPr>
              <a:xfrm flipH="1">
                <a:off x="8793306" y="2245186"/>
                <a:ext cx="1300319" cy="606622"/>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4" name="Line 541">
                <a:extLst>
                  <a:ext uri="{FF2B5EF4-FFF2-40B4-BE49-F238E27FC236}">
                    <a16:creationId xmlns:a16="http://schemas.microsoft.com/office/drawing/2014/main" id="{3EE4D6D5-1F58-604E-926E-B12AF198F926}"/>
                  </a:ext>
                </a:extLst>
              </p:cNvPr>
              <p:cNvSpPr>
                <a:spLocks noChangeShapeType="1"/>
              </p:cNvSpPr>
              <p:nvPr/>
            </p:nvSpPr>
            <p:spPr bwMode="auto">
              <a:xfrm flipV="1">
                <a:off x="9402788" y="4090252"/>
                <a:ext cx="429324" cy="70560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5" name="Line 424">
                <a:extLst>
                  <a:ext uri="{FF2B5EF4-FFF2-40B4-BE49-F238E27FC236}">
                    <a16:creationId xmlns:a16="http://schemas.microsoft.com/office/drawing/2014/main" id="{69D11C97-9A2A-6F4A-BEC2-192440539BA8}"/>
                  </a:ext>
                </a:extLst>
              </p:cNvPr>
              <p:cNvSpPr>
                <a:spLocks noChangeShapeType="1"/>
              </p:cNvSpPr>
              <p:nvPr/>
            </p:nvSpPr>
            <p:spPr bwMode="auto">
              <a:xfrm flipV="1">
                <a:off x="8268637" y="4024329"/>
                <a:ext cx="969051" cy="31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pic>
          <p:nvPicPr>
            <p:cNvPr id="58" name="Picture 778" descr="antenna_radiation_stylized">
              <a:extLst>
                <a:ext uri="{FF2B5EF4-FFF2-40B4-BE49-F238E27FC236}">
                  <a16:creationId xmlns:a16="http://schemas.microsoft.com/office/drawing/2014/main" id="{AE641E33-5C90-9C48-B6C0-B2DA38E6B4B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62238" y="3813930"/>
              <a:ext cx="506412" cy="1060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 name="Picture 781" descr="antenna_radiation_stylized">
              <a:extLst>
                <a:ext uri="{FF2B5EF4-FFF2-40B4-BE49-F238E27FC236}">
                  <a16:creationId xmlns:a16="http://schemas.microsoft.com/office/drawing/2014/main" id="{58D0D77F-41BF-B141-99CC-7444770200B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42073" y="5480938"/>
              <a:ext cx="452014" cy="951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 name="Picture 799" descr="cell_tower_radiation copy">
              <a:extLst>
                <a:ext uri="{FF2B5EF4-FFF2-40B4-BE49-F238E27FC236}">
                  <a16:creationId xmlns:a16="http://schemas.microsoft.com/office/drawing/2014/main" id="{B93FCB1A-5588-5743-82CC-8E52ADEAD1E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80866" y="2158167"/>
              <a:ext cx="457200" cy="33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 name="Oval 800">
              <a:extLst>
                <a:ext uri="{FF2B5EF4-FFF2-40B4-BE49-F238E27FC236}">
                  <a16:creationId xmlns:a16="http://schemas.microsoft.com/office/drawing/2014/main" id="{029C7FDD-ABE9-EB40-A1C5-64FF9B2F936D}"/>
                </a:ext>
              </a:extLst>
            </p:cNvPr>
            <p:cNvSpPr>
              <a:spLocks noChangeArrowheads="1"/>
            </p:cNvSpPr>
            <p:nvPr/>
          </p:nvSpPr>
          <p:spPr bwMode="auto">
            <a:xfrm>
              <a:off x="8174541" y="2292995"/>
              <a:ext cx="52388" cy="49485"/>
            </a:xfrm>
            <a:prstGeom prst="ellipse">
              <a:avLst/>
            </a:prstGeom>
            <a:solidFill>
              <a:schemeClr val="tx2"/>
            </a:soli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86" name="Line 426">
            <a:extLst>
              <a:ext uri="{FF2B5EF4-FFF2-40B4-BE49-F238E27FC236}">
                <a16:creationId xmlns:a16="http://schemas.microsoft.com/office/drawing/2014/main" id="{390C81B6-E64F-6D4C-8D06-8F1804B7F591}"/>
              </a:ext>
            </a:extLst>
          </p:cNvPr>
          <p:cNvSpPr>
            <a:spLocks noChangeShapeType="1"/>
          </p:cNvSpPr>
          <p:nvPr/>
        </p:nvSpPr>
        <p:spPr bwMode="auto">
          <a:xfrm>
            <a:off x="8207860" y="2700359"/>
            <a:ext cx="227964" cy="17435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87" name="Group 783">
            <a:extLst>
              <a:ext uri="{FF2B5EF4-FFF2-40B4-BE49-F238E27FC236}">
                <a16:creationId xmlns:a16="http://schemas.microsoft.com/office/drawing/2014/main" id="{D14ED3CD-0929-5445-B9CD-FC1AEB08F0F0}"/>
              </a:ext>
            </a:extLst>
          </p:cNvPr>
          <p:cNvGrpSpPr>
            <a:grpSpLocks/>
          </p:cNvGrpSpPr>
          <p:nvPr/>
        </p:nvGrpSpPr>
        <p:grpSpPr bwMode="auto">
          <a:xfrm>
            <a:off x="8050698" y="2309376"/>
            <a:ext cx="298450" cy="464008"/>
            <a:chOff x="3130" y="3288"/>
            <a:chExt cx="410" cy="742"/>
          </a:xfrm>
        </p:grpSpPr>
        <p:sp>
          <p:nvSpPr>
            <p:cNvPr id="88" name="Line 270">
              <a:extLst>
                <a:ext uri="{FF2B5EF4-FFF2-40B4-BE49-F238E27FC236}">
                  <a16:creationId xmlns:a16="http://schemas.microsoft.com/office/drawing/2014/main" id="{7ABD4004-114C-724F-BAC3-6F9DA6DE1F0C}"/>
                </a:ext>
              </a:extLst>
            </p:cNvPr>
            <p:cNvSpPr>
              <a:spLocks noChangeShapeType="1"/>
            </p:cNvSpPr>
            <p:nvPr/>
          </p:nvSpPr>
          <p:spPr bwMode="auto">
            <a:xfrm flipH="1">
              <a:off x="3130" y="3288"/>
              <a:ext cx="205" cy="67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9" name="Line 271">
              <a:extLst>
                <a:ext uri="{FF2B5EF4-FFF2-40B4-BE49-F238E27FC236}">
                  <a16:creationId xmlns:a16="http://schemas.microsoft.com/office/drawing/2014/main" id="{1A244344-E514-B64F-9963-6369BD9BE1B3}"/>
                </a:ext>
              </a:extLst>
            </p:cNvPr>
            <p:cNvSpPr>
              <a:spLocks noChangeShapeType="1"/>
            </p:cNvSpPr>
            <p:nvPr/>
          </p:nvSpPr>
          <p:spPr bwMode="auto">
            <a:xfrm>
              <a:off x="3335" y="3288"/>
              <a:ext cx="205" cy="66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0" name="Line 272">
              <a:extLst>
                <a:ext uri="{FF2B5EF4-FFF2-40B4-BE49-F238E27FC236}">
                  <a16:creationId xmlns:a16="http://schemas.microsoft.com/office/drawing/2014/main" id="{EB3A4111-A6F1-154E-9274-6BFFCDBAB6AB}"/>
                </a:ext>
              </a:extLst>
            </p:cNvPr>
            <p:cNvSpPr>
              <a:spLocks noChangeShapeType="1"/>
            </p:cNvSpPr>
            <p:nvPr/>
          </p:nvSpPr>
          <p:spPr bwMode="auto">
            <a:xfrm>
              <a:off x="3130" y="3957"/>
              <a:ext cx="205" cy="7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1" name="Line 273">
              <a:extLst>
                <a:ext uri="{FF2B5EF4-FFF2-40B4-BE49-F238E27FC236}">
                  <a16:creationId xmlns:a16="http://schemas.microsoft.com/office/drawing/2014/main" id="{714583CC-4366-B448-8BCD-BEB3688ECA74}"/>
                </a:ext>
              </a:extLst>
            </p:cNvPr>
            <p:cNvSpPr>
              <a:spLocks noChangeShapeType="1"/>
            </p:cNvSpPr>
            <p:nvPr/>
          </p:nvSpPr>
          <p:spPr bwMode="auto">
            <a:xfrm flipH="1">
              <a:off x="3335" y="3957"/>
              <a:ext cx="205" cy="7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2" name="Line 274">
              <a:extLst>
                <a:ext uri="{FF2B5EF4-FFF2-40B4-BE49-F238E27FC236}">
                  <a16:creationId xmlns:a16="http://schemas.microsoft.com/office/drawing/2014/main" id="{06696B02-1354-964A-892D-7D1A072DD376}"/>
                </a:ext>
              </a:extLst>
            </p:cNvPr>
            <p:cNvSpPr>
              <a:spLocks noChangeShapeType="1"/>
            </p:cNvSpPr>
            <p:nvPr/>
          </p:nvSpPr>
          <p:spPr bwMode="auto">
            <a:xfrm>
              <a:off x="3335" y="3303"/>
              <a:ext cx="0" cy="72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3" name="Line 275">
              <a:extLst>
                <a:ext uri="{FF2B5EF4-FFF2-40B4-BE49-F238E27FC236}">
                  <a16:creationId xmlns:a16="http://schemas.microsoft.com/office/drawing/2014/main" id="{C744D6E3-66B2-4349-A4C7-A96CCC727200}"/>
                </a:ext>
              </a:extLst>
            </p:cNvPr>
            <p:cNvSpPr>
              <a:spLocks noChangeShapeType="1"/>
            </p:cNvSpPr>
            <p:nvPr/>
          </p:nvSpPr>
          <p:spPr bwMode="auto">
            <a:xfrm flipV="1">
              <a:off x="3130" y="3888"/>
              <a:ext cx="205" cy="7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4" name="Line 276">
              <a:extLst>
                <a:ext uri="{FF2B5EF4-FFF2-40B4-BE49-F238E27FC236}">
                  <a16:creationId xmlns:a16="http://schemas.microsoft.com/office/drawing/2014/main" id="{9AD49573-21B8-594C-A124-75FF6787F57A}"/>
                </a:ext>
              </a:extLst>
            </p:cNvPr>
            <p:cNvSpPr>
              <a:spLocks noChangeShapeType="1"/>
            </p:cNvSpPr>
            <p:nvPr/>
          </p:nvSpPr>
          <p:spPr bwMode="auto">
            <a:xfrm flipH="1" flipV="1">
              <a:off x="3335" y="3888"/>
              <a:ext cx="205" cy="6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5" name="Line 277">
              <a:extLst>
                <a:ext uri="{FF2B5EF4-FFF2-40B4-BE49-F238E27FC236}">
                  <a16:creationId xmlns:a16="http://schemas.microsoft.com/office/drawing/2014/main" id="{F5B9977B-7FCA-934E-8672-B6E02820BAA5}"/>
                </a:ext>
              </a:extLst>
            </p:cNvPr>
            <p:cNvSpPr>
              <a:spLocks noChangeShapeType="1"/>
            </p:cNvSpPr>
            <p:nvPr/>
          </p:nvSpPr>
          <p:spPr bwMode="auto">
            <a:xfrm>
              <a:off x="3217" y="3668"/>
              <a:ext cx="118"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6" name="Line 278">
              <a:extLst>
                <a:ext uri="{FF2B5EF4-FFF2-40B4-BE49-F238E27FC236}">
                  <a16:creationId xmlns:a16="http://schemas.microsoft.com/office/drawing/2014/main" id="{90BBE456-8113-E140-9697-13DE1099C425}"/>
                </a:ext>
              </a:extLst>
            </p:cNvPr>
            <p:cNvSpPr>
              <a:spLocks noChangeShapeType="1"/>
            </p:cNvSpPr>
            <p:nvPr/>
          </p:nvSpPr>
          <p:spPr bwMode="auto">
            <a:xfrm flipV="1">
              <a:off x="3335" y="3668"/>
              <a:ext cx="124"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7" name="Line 279">
              <a:extLst>
                <a:ext uri="{FF2B5EF4-FFF2-40B4-BE49-F238E27FC236}">
                  <a16:creationId xmlns:a16="http://schemas.microsoft.com/office/drawing/2014/main" id="{8B179862-B59B-0340-81D5-D6460EDA625B}"/>
                </a:ext>
              </a:extLst>
            </p:cNvPr>
            <p:cNvSpPr>
              <a:spLocks noChangeShapeType="1"/>
            </p:cNvSpPr>
            <p:nvPr/>
          </p:nvSpPr>
          <p:spPr bwMode="auto">
            <a:xfrm>
              <a:off x="3178" y="3766"/>
              <a:ext cx="152" cy="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8" name="Line 280">
              <a:extLst>
                <a:ext uri="{FF2B5EF4-FFF2-40B4-BE49-F238E27FC236}">
                  <a16:creationId xmlns:a16="http://schemas.microsoft.com/office/drawing/2014/main" id="{5E3E4AF0-3A1E-634F-B106-0E1BAE932630}"/>
                </a:ext>
              </a:extLst>
            </p:cNvPr>
            <p:cNvSpPr>
              <a:spLocks noChangeShapeType="1"/>
            </p:cNvSpPr>
            <p:nvPr/>
          </p:nvSpPr>
          <p:spPr bwMode="auto">
            <a:xfrm flipV="1">
              <a:off x="3335" y="3781"/>
              <a:ext cx="153" cy="6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9" name="Line 281">
              <a:extLst>
                <a:ext uri="{FF2B5EF4-FFF2-40B4-BE49-F238E27FC236}">
                  <a16:creationId xmlns:a16="http://schemas.microsoft.com/office/drawing/2014/main" id="{51EBD3A2-D943-F443-A868-FD6059B0D77A}"/>
                </a:ext>
              </a:extLst>
            </p:cNvPr>
            <p:cNvSpPr>
              <a:spLocks noChangeShapeType="1"/>
            </p:cNvSpPr>
            <p:nvPr/>
          </p:nvSpPr>
          <p:spPr bwMode="auto">
            <a:xfrm flipV="1">
              <a:off x="3335" y="3567"/>
              <a:ext cx="78" cy="2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0" name="Line 282">
              <a:extLst>
                <a:ext uri="{FF2B5EF4-FFF2-40B4-BE49-F238E27FC236}">
                  <a16:creationId xmlns:a16="http://schemas.microsoft.com/office/drawing/2014/main" id="{CE35DACD-3834-3A4F-BF5D-05FD16494C16}"/>
                </a:ext>
              </a:extLst>
            </p:cNvPr>
            <p:cNvSpPr>
              <a:spLocks noChangeShapeType="1"/>
            </p:cNvSpPr>
            <p:nvPr/>
          </p:nvSpPr>
          <p:spPr bwMode="auto">
            <a:xfrm flipV="1">
              <a:off x="3335" y="3428"/>
              <a:ext cx="49" cy="2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1" name="Line 283">
              <a:extLst>
                <a:ext uri="{FF2B5EF4-FFF2-40B4-BE49-F238E27FC236}">
                  <a16:creationId xmlns:a16="http://schemas.microsoft.com/office/drawing/2014/main" id="{F225C514-F00F-374D-A3A6-0E00BBF2ABD0}"/>
                </a:ext>
              </a:extLst>
            </p:cNvPr>
            <p:cNvSpPr>
              <a:spLocks noChangeShapeType="1"/>
            </p:cNvSpPr>
            <p:nvPr/>
          </p:nvSpPr>
          <p:spPr bwMode="auto">
            <a:xfrm>
              <a:off x="3247" y="3558"/>
              <a:ext cx="95" cy="3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2" name="Line 284">
              <a:extLst>
                <a:ext uri="{FF2B5EF4-FFF2-40B4-BE49-F238E27FC236}">
                  <a16:creationId xmlns:a16="http://schemas.microsoft.com/office/drawing/2014/main" id="{5AB5EE34-E853-4349-982D-7BA8A0223AA8}"/>
                </a:ext>
              </a:extLst>
            </p:cNvPr>
            <p:cNvSpPr>
              <a:spLocks noChangeShapeType="1"/>
            </p:cNvSpPr>
            <p:nvPr/>
          </p:nvSpPr>
          <p:spPr bwMode="auto">
            <a:xfrm>
              <a:off x="3289" y="3422"/>
              <a:ext cx="55" cy="3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pic>
        <p:nvPicPr>
          <p:cNvPr id="103" name="Picture 777" descr="access_point_stylized_small">
            <a:extLst>
              <a:ext uri="{FF2B5EF4-FFF2-40B4-BE49-F238E27FC236}">
                <a16:creationId xmlns:a16="http://schemas.microsoft.com/office/drawing/2014/main" id="{B5B19229-5990-4C46-B116-F6E2FC9344A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13882" y="3861899"/>
            <a:ext cx="370169" cy="3067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4" name="Picture 780" descr="access_point_stylized_small">
            <a:extLst>
              <a:ext uri="{FF2B5EF4-FFF2-40B4-BE49-F238E27FC236}">
                <a16:creationId xmlns:a16="http://schemas.microsoft.com/office/drawing/2014/main" id="{615B9139-7B73-FE46-A7A9-D06CDC313A8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290610" y="5524232"/>
            <a:ext cx="380935" cy="317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5" name="Group 104">
            <a:extLst>
              <a:ext uri="{FF2B5EF4-FFF2-40B4-BE49-F238E27FC236}">
                <a16:creationId xmlns:a16="http://schemas.microsoft.com/office/drawing/2014/main" id="{EEFE641A-589B-7942-BC31-34CA4265ECA8}"/>
              </a:ext>
            </a:extLst>
          </p:cNvPr>
          <p:cNvGrpSpPr/>
          <p:nvPr/>
        </p:nvGrpSpPr>
        <p:grpSpPr>
          <a:xfrm>
            <a:off x="9783558" y="4989983"/>
            <a:ext cx="393760" cy="218578"/>
            <a:chOff x="7493876" y="2774731"/>
            <a:chExt cx="1481958" cy="894622"/>
          </a:xfrm>
        </p:grpSpPr>
        <p:sp>
          <p:nvSpPr>
            <p:cNvPr id="106" name="Freeform 105">
              <a:extLst>
                <a:ext uri="{FF2B5EF4-FFF2-40B4-BE49-F238E27FC236}">
                  <a16:creationId xmlns:a16="http://schemas.microsoft.com/office/drawing/2014/main" id="{236DE3EE-811C-674F-9142-302E5E9C5593}"/>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07" name="Oval 106">
              <a:extLst>
                <a:ext uri="{FF2B5EF4-FFF2-40B4-BE49-F238E27FC236}">
                  <a16:creationId xmlns:a16="http://schemas.microsoft.com/office/drawing/2014/main" id="{1800B155-CF25-D24C-9B92-B08AAAB8313B}"/>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08" name="Group 107">
              <a:extLst>
                <a:ext uri="{FF2B5EF4-FFF2-40B4-BE49-F238E27FC236}">
                  <a16:creationId xmlns:a16="http://schemas.microsoft.com/office/drawing/2014/main" id="{B0AEF1A2-025A-BC41-A84F-2DC3E058332F}"/>
                </a:ext>
              </a:extLst>
            </p:cNvPr>
            <p:cNvGrpSpPr/>
            <p:nvPr/>
          </p:nvGrpSpPr>
          <p:grpSpPr>
            <a:xfrm>
              <a:off x="7713663" y="2848339"/>
              <a:ext cx="1042107" cy="425543"/>
              <a:chOff x="7786941" y="2884917"/>
              <a:chExt cx="897649" cy="353919"/>
            </a:xfrm>
          </p:grpSpPr>
          <p:sp>
            <p:nvSpPr>
              <p:cNvPr id="109" name="Freeform 108">
                <a:extLst>
                  <a:ext uri="{FF2B5EF4-FFF2-40B4-BE49-F238E27FC236}">
                    <a16:creationId xmlns:a16="http://schemas.microsoft.com/office/drawing/2014/main" id="{8D3F6F1A-FE14-8948-A78A-73AA88A44A7B}"/>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10" name="Freeform 109">
                <a:extLst>
                  <a:ext uri="{FF2B5EF4-FFF2-40B4-BE49-F238E27FC236}">
                    <a16:creationId xmlns:a16="http://schemas.microsoft.com/office/drawing/2014/main" id="{B90EE21A-C2A8-0D42-B6A5-6C7D12BEBF0A}"/>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11" name="Freeform 110">
                <a:extLst>
                  <a:ext uri="{FF2B5EF4-FFF2-40B4-BE49-F238E27FC236}">
                    <a16:creationId xmlns:a16="http://schemas.microsoft.com/office/drawing/2014/main" id="{8A5097ED-FFBF-4544-860B-3817BA811B2C}"/>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12" name="Freeform 111">
                <a:extLst>
                  <a:ext uri="{FF2B5EF4-FFF2-40B4-BE49-F238E27FC236}">
                    <a16:creationId xmlns:a16="http://schemas.microsoft.com/office/drawing/2014/main" id="{6DF62723-77FE-9247-98F5-987E793C56FB}"/>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113" name="Group 112">
            <a:extLst>
              <a:ext uri="{FF2B5EF4-FFF2-40B4-BE49-F238E27FC236}">
                <a16:creationId xmlns:a16="http://schemas.microsoft.com/office/drawing/2014/main" id="{827C4B55-0BAE-0949-8777-F3099C171813}"/>
              </a:ext>
            </a:extLst>
          </p:cNvPr>
          <p:cNvGrpSpPr/>
          <p:nvPr/>
        </p:nvGrpSpPr>
        <p:grpSpPr>
          <a:xfrm>
            <a:off x="9849365" y="5339037"/>
            <a:ext cx="309740" cy="190838"/>
            <a:chOff x="3668110" y="2448910"/>
            <a:chExt cx="3794234" cy="2165130"/>
          </a:xfrm>
        </p:grpSpPr>
        <p:sp>
          <p:nvSpPr>
            <p:cNvPr id="114" name="Rectangle 113">
              <a:extLst>
                <a:ext uri="{FF2B5EF4-FFF2-40B4-BE49-F238E27FC236}">
                  <a16:creationId xmlns:a16="http://schemas.microsoft.com/office/drawing/2014/main" id="{CEC32CAA-AFF2-A34D-8E74-D6E2F0308798}"/>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15" name="Freeform 114">
              <a:extLst>
                <a:ext uri="{FF2B5EF4-FFF2-40B4-BE49-F238E27FC236}">
                  <a16:creationId xmlns:a16="http://schemas.microsoft.com/office/drawing/2014/main" id="{A1675819-8BAA-AB4F-BBAA-A405C6E76216}"/>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116" name="Group 115">
              <a:extLst>
                <a:ext uri="{FF2B5EF4-FFF2-40B4-BE49-F238E27FC236}">
                  <a16:creationId xmlns:a16="http://schemas.microsoft.com/office/drawing/2014/main" id="{73F9E373-4875-744C-970D-E5EB77A5E340}"/>
                </a:ext>
              </a:extLst>
            </p:cNvPr>
            <p:cNvGrpSpPr/>
            <p:nvPr/>
          </p:nvGrpSpPr>
          <p:grpSpPr>
            <a:xfrm>
              <a:off x="3941378" y="2603243"/>
              <a:ext cx="3202061" cy="1066110"/>
              <a:chOff x="7939341" y="3037317"/>
              <a:chExt cx="897649" cy="353919"/>
            </a:xfrm>
          </p:grpSpPr>
          <p:sp>
            <p:nvSpPr>
              <p:cNvPr id="117" name="Freeform 116">
                <a:extLst>
                  <a:ext uri="{FF2B5EF4-FFF2-40B4-BE49-F238E27FC236}">
                    <a16:creationId xmlns:a16="http://schemas.microsoft.com/office/drawing/2014/main" id="{FFDA189D-222C-1443-856D-7A608CA88C95}"/>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18" name="Freeform 117">
                <a:extLst>
                  <a:ext uri="{FF2B5EF4-FFF2-40B4-BE49-F238E27FC236}">
                    <a16:creationId xmlns:a16="http://schemas.microsoft.com/office/drawing/2014/main" id="{642BB264-137D-E643-AE9B-8AA6D9E21B0C}"/>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19" name="Freeform 118">
                <a:extLst>
                  <a:ext uri="{FF2B5EF4-FFF2-40B4-BE49-F238E27FC236}">
                    <a16:creationId xmlns:a16="http://schemas.microsoft.com/office/drawing/2014/main" id="{786FF02A-1562-3745-ABB9-0D40C7DEF61E}"/>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0" name="Freeform 119">
                <a:extLst>
                  <a:ext uri="{FF2B5EF4-FFF2-40B4-BE49-F238E27FC236}">
                    <a16:creationId xmlns:a16="http://schemas.microsoft.com/office/drawing/2014/main" id="{DEC12CCB-8331-9F49-BF6A-94DF11B7CB19}"/>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121" name="Group 120">
            <a:extLst>
              <a:ext uri="{FF2B5EF4-FFF2-40B4-BE49-F238E27FC236}">
                <a16:creationId xmlns:a16="http://schemas.microsoft.com/office/drawing/2014/main" id="{9932E1A1-9866-4149-B71C-D56584CCE488}"/>
              </a:ext>
            </a:extLst>
          </p:cNvPr>
          <p:cNvGrpSpPr/>
          <p:nvPr/>
        </p:nvGrpSpPr>
        <p:grpSpPr>
          <a:xfrm>
            <a:off x="8676619" y="4967420"/>
            <a:ext cx="393760" cy="218578"/>
            <a:chOff x="7493876" y="2774731"/>
            <a:chExt cx="1481958" cy="894622"/>
          </a:xfrm>
        </p:grpSpPr>
        <p:sp>
          <p:nvSpPr>
            <p:cNvPr id="122" name="Freeform 121">
              <a:extLst>
                <a:ext uri="{FF2B5EF4-FFF2-40B4-BE49-F238E27FC236}">
                  <a16:creationId xmlns:a16="http://schemas.microsoft.com/office/drawing/2014/main" id="{A60DF978-36B3-2D47-A16A-0D97C01CAFE0}"/>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23" name="Oval 122">
              <a:extLst>
                <a:ext uri="{FF2B5EF4-FFF2-40B4-BE49-F238E27FC236}">
                  <a16:creationId xmlns:a16="http://schemas.microsoft.com/office/drawing/2014/main" id="{8656B286-5B4C-0D4F-9AF0-6A6CFC0099D8}"/>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24" name="Group 123">
              <a:extLst>
                <a:ext uri="{FF2B5EF4-FFF2-40B4-BE49-F238E27FC236}">
                  <a16:creationId xmlns:a16="http://schemas.microsoft.com/office/drawing/2014/main" id="{CE4349E7-CC12-8D4C-8CFA-829CDA082037}"/>
                </a:ext>
              </a:extLst>
            </p:cNvPr>
            <p:cNvGrpSpPr/>
            <p:nvPr/>
          </p:nvGrpSpPr>
          <p:grpSpPr>
            <a:xfrm>
              <a:off x="7713663" y="2848339"/>
              <a:ext cx="1042107" cy="425543"/>
              <a:chOff x="7786941" y="2884917"/>
              <a:chExt cx="897649" cy="353919"/>
            </a:xfrm>
          </p:grpSpPr>
          <p:sp>
            <p:nvSpPr>
              <p:cNvPr id="125" name="Freeform 124">
                <a:extLst>
                  <a:ext uri="{FF2B5EF4-FFF2-40B4-BE49-F238E27FC236}">
                    <a16:creationId xmlns:a16="http://schemas.microsoft.com/office/drawing/2014/main" id="{AD86C2F1-D4F0-7948-9E05-62E1C42CC8F0}"/>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6" name="Freeform 125">
                <a:extLst>
                  <a:ext uri="{FF2B5EF4-FFF2-40B4-BE49-F238E27FC236}">
                    <a16:creationId xmlns:a16="http://schemas.microsoft.com/office/drawing/2014/main" id="{6224715B-0FC5-9E49-B361-2A29A286F3CE}"/>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7" name="Freeform 126">
                <a:extLst>
                  <a:ext uri="{FF2B5EF4-FFF2-40B4-BE49-F238E27FC236}">
                    <a16:creationId xmlns:a16="http://schemas.microsoft.com/office/drawing/2014/main" id="{7CA2DA9C-2B13-214E-ACD2-0EA76BA83013}"/>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8" name="Freeform 127">
                <a:extLst>
                  <a:ext uri="{FF2B5EF4-FFF2-40B4-BE49-F238E27FC236}">
                    <a16:creationId xmlns:a16="http://schemas.microsoft.com/office/drawing/2014/main" id="{8C4A6B5C-46E6-5E4D-96C8-1C3F87F03876}"/>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129" name="Group 128">
            <a:extLst>
              <a:ext uri="{FF2B5EF4-FFF2-40B4-BE49-F238E27FC236}">
                <a16:creationId xmlns:a16="http://schemas.microsoft.com/office/drawing/2014/main" id="{0E1D7EA0-6DA2-8D43-8279-78C750CFC172}"/>
              </a:ext>
            </a:extLst>
          </p:cNvPr>
          <p:cNvGrpSpPr/>
          <p:nvPr/>
        </p:nvGrpSpPr>
        <p:grpSpPr>
          <a:xfrm>
            <a:off x="8311520" y="5194433"/>
            <a:ext cx="309740" cy="190838"/>
            <a:chOff x="3668110" y="2448910"/>
            <a:chExt cx="3794234" cy="2165130"/>
          </a:xfrm>
        </p:grpSpPr>
        <p:sp>
          <p:nvSpPr>
            <p:cNvPr id="130" name="Rectangle 129">
              <a:extLst>
                <a:ext uri="{FF2B5EF4-FFF2-40B4-BE49-F238E27FC236}">
                  <a16:creationId xmlns:a16="http://schemas.microsoft.com/office/drawing/2014/main" id="{3632348E-CBF0-8F4E-B1C0-FA5E7B140362}"/>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31" name="Freeform 130">
              <a:extLst>
                <a:ext uri="{FF2B5EF4-FFF2-40B4-BE49-F238E27FC236}">
                  <a16:creationId xmlns:a16="http://schemas.microsoft.com/office/drawing/2014/main" id="{9E6F91D8-1A83-2A42-AC0B-AD8F10B7EF35}"/>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132" name="Group 131">
              <a:extLst>
                <a:ext uri="{FF2B5EF4-FFF2-40B4-BE49-F238E27FC236}">
                  <a16:creationId xmlns:a16="http://schemas.microsoft.com/office/drawing/2014/main" id="{941E3EF0-51B2-C349-B41E-2A6C5F46D905}"/>
                </a:ext>
              </a:extLst>
            </p:cNvPr>
            <p:cNvGrpSpPr/>
            <p:nvPr/>
          </p:nvGrpSpPr>
          <p:grpSpPr>
            <a:xfrm>
              <a:off x="3941378" y="2603243"/>
              <a:ext cx="3202061" cy="1066110"/>
              <a:chOff x="7939341" y="3037317"/>
              <a:chExt cx="897649" cy="353919"/>
            </a:xfrm>
          </p:grpSpPr>
          <p:sp>
            <p:nvSpPr>
              <p:cNvPr id="133" name="Freeform 132">
                <a:extLst>
                  <a:ext uri="{FF2B5EF4-FFF2-40B4-BE49-F238E27FC236}">
                    <a16:creationId xmlns:a16="http://schemas.microsoft.com/office/drawing/2014/main" id="{C7403B7C-7FA1-3F40-B91E-B9311B3831C3}"/>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34" name="Freeform 133">
                <a:extLst>
                  <a:ext uri="{FF2B5EF4-FFF2-40B4-BE49-F238E27FC236}">
                    <a16:creationId xmlns:a16="http://schemas.microsoft.com/office/drawing/2014/main" id="{2456F695-074E-CC4D-8221-531E7EA3A74D}"/>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35" name="Freeform 134">
                <a:extLst>
                  <a:ext uri="{FF2B5EF4-FFF2-40B4-BE49-F238E27FC236}">
                    <a16:creationId xmlns:a16="http://schemas.microsoft.com/office/drawing/2014/main" id="{224A04C3-C296-1C4B-BBD4-CDE7083CB1D5}"/>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36" name="Freeform 135">
                <a:extLst>
                  <a:ext uri="{FF2B5EF4-FFF2-40B4-BE49-F238E27FC236}">
                    <a16:creationId xmlns:a16="http://schemas.microsoft.com/office/drawing/2014/main" id="{5BBAC641-21BF-8B45-BB54-F143F77A1556}"/>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137" name="Group 136">
            <a:extLst>
              <a:ext uri="{FF2B5EF4-FFF2-40B4-BE49-F238E27FC236}">
                <a16:creationId xmlns:a16="http://schemas.microsoft.com/office/drawing/2014/main" id="{93BC347E-C394-3042-B2F7-B3F23FAEAB95}"/>
              </a:ext>
            </a:extLst>
          </p:cNvPr>
          <p:cNvGrpSpPr/>
          <p:nvPr/>
        </p:nvGrpSpPr>
        <p:grpSpPr>
          <a:xfrm>
            <a:off x="8439827" y="2812309"/>
            <a:ext cx="353678" cy="168275"/>
            <a:chOff x="7493876" y="2774731"/>
            <a:chExt cx="1481958" cy="894622"/>
          </a:xfrm>
        </p:grpSpPr>
        <p:sp>
          <p:nvSpPr>
            <p:cNvPr id="138" name="Freeform 137">
              <a:extLst>
                <a:ext uri="{FF2B5EF4-FFF2-40B4-BE49-F238E27FC236}">
                  <a16:creationId xmlns:a16="http://schemas.microsoft.com/office/drawing/2014/main" id="{E2A87F28-E662-7843-88D6-0813EE7C9C70}"/>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39" name="Oval 138">
              <a:extLst>
                <a:ext uri="{FF2B5EF4-FFF2-40B4-BE49-F238E27FC236}">
                  <a16:creationId xmlns:a16="http://schemas.microsoft.com/office/drawing/2014/main" id="{7F5A88D5-7F33-C641-91D0-89A14D0320A3}"/>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40" name="Group 139">
              <a:extLst>
                <a:ext uri="{FF2B5EF4-FFF2-40B4-BE49-F238E27FC236}">
                  <a16:creationId xmlns:a16="http://schemas.microsoft.com/office/drawing/2014/main" id="{F27C385B-C23A-9D47-A881-792955281F4B}"/>
                </a:ext>
              </a:extLst>
            </p:cNvPr>
            <p:cNvGrpSpPr/>
            <p:nvPr/>
          </p:nvGrpSpPr>
          <p:grpSpPr>
            <a:xfrm>
              <a:off x="7713663" y="2848339"/>
              <a:ext cx="1042107" cy="425543"/>
              <a:chOff x="7786941" y="2884917"/>
              <a:chExt cx="897649" cy="353919"/>
            </a:xfrm>
          </p:grpSpPr>
          <p:sp>
            <p:nvSpPr>
              <p:cNvPr id="141" name="Freeform 140">
                <a:extLst>
                  <a:ext uri="{FF2B5EF4-FFF2-40B4-BE49-F238E27FC236}">
                    <a16:creationId xmlns:a16="http://schemas.microsoft.com/office/drawing/2014/main" id="{1AAAA0E5-7CFA-D644-ADAB-E7BF68F3D3B3}"/>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42" name="Freeform 141">
                <a:extLst>
                  <a:ext uri="{FF2B5EF4-FFF2-40B4-BE49-F238E27FC236}">
                    <a16:creationId xmlns:a16="http://schemas.microsoft.com/office/drawing/2014/main" id="{751DAA20-67FB-F046-A058-83AEFE0E26C0}"/>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43" name="Freeform 142">
                <a:extLst>
                  <a:ext uri="{FF2B5EF4-FFF2-40B4-BE49-F238E27FC236}">
                    <a16:creationId xmlns:a16="http://schemas.microsoft.com/office/drawing/2014/main" id="{0C03FD79-9BD7-DD42-AC59-6C4F96612ACE}"/>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44" name="Freeform 143">
                <a:extLst>
                  <a:ext uri="{FF2B5EF4-FFF2-40B4-BE49-F238E27FC236}">
                    <a16:creationId xmlns:a16="http://schemas.microsoft.com/office/drawing/2014/main" id="{A4610651-9548-304A-8A63-B930DF62228F}"/>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145" name="Group 144">
            <a:extLst>
              <a:ext uri="{FF2B5EF4-FFF2-40B4-BE49-F238E27FC236}">
                <a16:creationId xmlns:a16="http://schemas.microsoft.com/office/drawing/2014/main" id="{8ECEC947-F5C8-414B-A56E-EBE5DFFEDB1C}"/>
              </a:ext>
            </a:extLst>
          </p:cNvPr>
          <p:cNvGrpSpPr/>
          <p:nvPr/>
        </p:nvGrpSpPr>
        <p:grpSpPr>
          <a:xfrm>
            <a:off x="8050070" y="3965994"/>
            <a:ext cx="354986" cy="175668"/>
            <a:chOff x="7493876" y="2774731"/>
            <a:chExt cx="1481958" cy="894622"/>
          </a:xfrm>
        </p:grpSpPr>
        <p:sp>
          <p:nvSpPr>
            <p:cNvPr id="146" name="Freeform 145">
              <a:extLst>
                <a:ext uri="{FF2B5EF4-FFF2-40B4-BE49-F238E27FC236}">
                  <a16:creationId xmlns:a16="http://schemas.microsoft.com/office/drawing/2014/main" id="{86294923-1C02-5240-95DE-EA2186392E22}"/>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47" name="Oval 146">
              <a:extLst>
                <a:ext uri="{FF2B5EF4-FFF2-40B4-BE49-F238E27FC236}">
                  <a16:creationId xmlns:a16="http://schemas.microsoft.com/office/drawing/2014/main" id="{2AB3674D-1CCE-274D-BF8E-CEFECF766B32}"/>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48" name="Group 147">
              <a:extLst>
                <a:ext uri="{FF2B5EF4-FFF2-40B4-BE49-F238E27FC236}">
                  <a16:creationId xmlns:a16="http://schemas.microsoft.com/office/drawing/2014/main" id="{86166535-C584-C14C-9137-7498CC96E8FD}"/>
                </a:ext>
              </a:extLst>
            </p:cNvPr>
            <p:cNvGrpSpPr/>
            <p:nvPr/>
          </p:nvGrpSpPr>
          <p:grpSpPr>
            <a:xfrm>
              <a:off x="7713663" y="2848339"/>
              <a:ext cx="1042107" cy="425543"/>
              <a:chOff x="7786941" y="2884917"/>
              <a:chExt cx="897649" cy="353919"/>
            </a:xfrm>
          </p:grpSpPr>
          <p:sp>
            <p:nvSpPr>
              <p:cNvPr id="149" name="Freeform 148">
                <a:extLst>
                  <a:ext uri="{FF2B5EF4-FFF2-40B4-BE49-F238E27FC236}">
                    <a16:creationId xmlns:a16="http://schemas.microsoft.com/office/drawing/2014/main" id="{17514CA1-86B8-BA44-B4A0-0CEB1F62C266}"/>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0" name="Freeform 149">
                <a:extLst>
                  <a:ext uri="{FF2B5EF4-FFF2-40B4-BE49-F238E27FC236}">
                    <a16:creationId xmlns:a16="http://schemas.microsoft.com/office/drawing/2014/main" id="{8D28E726-BB5D-5644-9E9D-DEEB2E0B1FFC}"/>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1" name="Freeform 150">
                <a:extLst>
                  <a:ext uri="{FF2B5EF4-FFF2-40B4-BE49-F238E27FC236}">
                    <a16:creationId xmlns:a16="http://schemas.microsoft.com/office/drawing/2014/main" id="{BDE8E149-5BA9-CB4C-9AC6-1EED7308D871}"/>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2" name="Freeform 151">
                <a:extLst>
                  <a:ext uri="{FF2B5EF4-FFF2-40B4-BE49-F238E27FC236}">
                    <a16:creationId xmlns:a16="http://schemas.microsoft.com/office/drawing/2014/main" id="{BAF1B228-D777-8846-8B1B-6476F6C2AA6C}"/>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153" name="Group 152">
            <a:extLst>
              <a:ext uri="{FF2B5EF4-FFF2-40B4-BE49-F238E27FC236}">
                <a16:creationId xmlns:a16="http://schemas.microsoft.com/office/drawing/2014/main" id="{419BFD2C-DE5F-0C45-B636-6597FE43775F}"/>
              </a:ext>
            </a:extLst>
          </p:cNvPr>
          <p:cNvGrpSpPr/>
          <p:nvPr/>
        </p:nvGrpSpPr>
        <p:grpSpPr>
          <a:xfrm>
            <a:off x="10884085" y="3601365"/>
            <a:ext cx="170989" cy="97052"/>
            <a:chOff x="7493876" y="2774731"/>
            <a:chExt cx="1481958" cy="894622"/>
          </a:xfrm>
        </p:grpSpPr>
        <p:sp>
          <p:nvSpPr>
            <p:cNvPr id="154" name="Freeform 153">
              <a:extLst>
                <a:ext uri="{FF2B5EF4-FFF2-40B4-BE49-F238E27FC236}">
                  <a16:creationId xmlns:a16="http://schemas.microsoft.com/office/drawing/2014/main" id="{58D0A013-957C-4B4E-8B83-D6592094AC10}"/>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55" name="Oval 154">
              <a:extLst>
                <a:ext uri="{FF2B5EF4-FFF2-40B4-BE49-F238E27FC236}">
                  <a16:creationId xmlns:a16="http://schemas.microsoft.com/office/drawing/2014/main" id="{F7DC0323-148A-714F-A6FC-9ADB6FB12895}"/>
                </a:ext>
              </a:extLst>
            </p:cNvPr>
            <p:cNvSpPr/>
            <p:nvPr/>
          </p:nvSpPr>
          <p:spPr>
            <a:xfrm>
              <a:off x="7494729" y="2774731"/>
              <a:ext cx="1480163" cy="579140"/>
            </a:xfrm>
            <a:prstGeom prst="ellipse">
              <a:avLst/>
            </a:prstGeom>
            <a:solidFill>
              <a:srgbClr val="B8C2C9"/>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56" name="Group 155">
              <a:extLst>
                <a:ext uri="{FF2B5EF4-FFF2-40B4-BE49-F238E27FC236}">
                  <a16:creationId xmlns:a16="http://schemas.microsoft.com/office/drawing/2014/main" id="{2B6897F2-F6E6-A049-A1D9-17378B713B31}"/>
                </a:ext>
              </a:extLst>
            </p:cNvPr>
            <p:cNvGrpSpPr/>
            <p:nvPr/>
          </p:nvGrpSpPr>
          <p:grpSpPr>
            <a:xfrm>
              <a:off x="7713663" y="2848339"/>
              <a:ext cx="1042107" cy="425543"/>
              <a:chOff x="7786941" y="2884917"/>
              <a:chExt cx="897649" cy="353919"/>
            </a:xfrm>
          </p:grpSpPr>
          <p:sp>
            <p:nvSpPr>
              <p:cNvPr id="157" name="Freeform 156">
                <a:extLst>
                  <a:ext uri="{FF2B5EF4-FFF2-40B4-BE49-F238E27FC236}">
                    <a16:creationId xmlns:a16="http://schemas.microsoft.com/office/drawing/2014/main" id="{0F6ACC7A-4B31-AF42-A472-F972FEE81396}"/>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8" name="Freeform 157">
                <a:extLst>
                  <a:ext uri="{FF2B5EF4-FFF2-40B4-BE49-F238E27FC236}">
                    <a16:creationId xmlns:a16="http://schemas.microsoft.com/office/drawing/2014/main" id="{0CE6B10E-CA3E-D444-AB50-17DAB7CAD2C8}"/>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9" name="Freeform 158">
                <a:extLst>
                  <a:ext uri="{FF2B5EF4-FFF2-40B4-BE49-F238E27FC236}">
                    <a16:creationId xmlns:a16="http://schemas.microsoft.com/office/drawing/2014/main" id="{E3B2228D-5BAA-EC47-BEFB-CB31458923DB}"/>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60" name="Freeform 159">
                <a:extLst>
                  <a:ext uri="{FF2B5EF4-FFF2-40B4-BE49-F238E27FC236}">
                    <a16:creationId xmlns:a16="http://schemas.microsoft.com/office/drawing/2014/main" id="{B7729E0C-173F-C14A-AEF0-A4EC382A5215}"/>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161" name="Group 160">
            <a:extLst>
              <a:ext uri="{FF2B5EF4-FFF2-40B4-BE49-F238E27FC236}">
                <a16:creationId xmlns:a16="http://schemas.microsoft.com/office/drawing/2014/main" id="{0F65CB9E-D1E1-5348-9E59-69DA1CEF2123}"/>
              </a:ext>
            </a:extLst>
          </p:cNvPr>
          <p:cNvGrpSpPr/>
          <p:nvPr/>
        </p:nvGrpSpPr>
        <p:grpSpPr>
          <a:xfrm>
            <a:off x="10410609" y="3496138"/>
            <a:ext cx="353678" cy="198344"/>
            <a:chOff x="7493876" y="2774731"/>
            <a:chExt cx="1481958" cy="894622"/>
          </a:xfrm>
        </p:grpSpPr>
        <p:sp>
          <p:nvSpPr>
            <p:cNvPr id="162" name="Freeform 161">
              <a:extLst>
                <a:ext uri="{FF2B5EF4-FFF2-40B4-BE49-F238E27FC236}">
                  <a16:creationId xmlns:a16="http://schemas.microsoft.com/office/drawing/2014/main" id="{21DBEC0A-03A5-5849-AD80-43903CE8F98A}"/>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63" name="Oval 162">
              <a:extLst>
                <a:ext uri="{FF2B5EF4-FFF2-40B4-BE49-F238E27FC236}">
                  <a16:creationId xmlns:a16="http://schemas.microsoft.com/office/drawing/2014/main" id="{093155A2-B6DA-E04B-931F-EAE90D032943}"/>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64" name="Group 163">
              <a:extLst>
                <a:ext uri="{FF2B5EF4-FFF2-40B4-BE49-F238E27FC236}">
                  <a16:creationId xmlns:a16="http://schemas.microsoft.com/office/drawing/2014/main" id="{3931AF15-7062-194D-9D41-4344D0DE6CAC}"/>
                </a:ext>
              </a:extLst>
            </p:cNvPr>
            <p:cNvGrpSpPr/>
            <p:nvPr/>
          </p:nvGrpSpPr>
          <p:grpSpPr>
            <a:xfrm>
              <a:off x="7713663" y="2848339"/>
              <a:ext cx="1042107" cy="425543"/>
              <a:chOff x="7786941" y="2884917"/>
              <a:chExt cx="897649" cy="353919"/>
            </a:xfrm>
          </p:grpSpPr>
          <p:sp>
            <p:nvSpPr>
              <p:cNvPr id="165" name="Freeform 164">
                <a:extLst>
                  <a:ext uri="{FF2B5EF4-FFF2-40B4-BE49-F238E27FC236}">
                    <a16:creationId xmlns:a16="http://schemas.microsoft.com/office/drawing/2014/main" id="{FDC26AF1-24F2-5D45-AB87-61683E4E2529}"/>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66" name="Freeform 165">
                <a:extLst>
                  <a:ext uri="{FF2B5EF4-FFF2-40B4-BE49-F238E27FC236}">
                    <a16:creationId xmlns:a16="http://schemas.microsoft.com/office/drawing/2014/main" id="{4EC90C20-8D53-0646-9F93-F00306B71CA1}"/>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67" name="Freeform 166">
                <a:extLst>
                  <a:ext uri="{FF2B5EF4-FFF2-40B4-BE49-F238E27FC236}">
                    <a16:creationId xmlns:a16="http://schemas.microsoft.com/office/drawing/2014/main" id="{49493643-4525-FD45-A56C-AE765396C567}"/>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68" name="Freeform 167">
                <a:extLst>
                  <a:ext uri="{FF2B5EF4-FFF2-40B4-BE49-F238E27FC236}">
                    <a16:creationId xmlns:a16="http://schemas.microsoft.com/office/drawing/2014/main" id="{0824CC9D-76C8-2749-A791-F65C4F3ACA43}"/>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169" name="Group 168">
            <a:extLst>
              <a:ext uri="{FF2B5EF4-FFF2-40B4-BE49-F238E27FC236}">
                <a16:creationId xmlns:a16="http://schemas.microsoft.com/office/drawing/2014/main" id="{CFBE87F9-CE91-5943-9D77-D8B9227384AC}"/>
              </a:ext>
            </a:extLst>
          </p:cNvPr>
          <p:cNvGrpSpPr/>
          <p:nvPr/>
        </p:nvGrpSpPr>
        <p:grpSpPr>
          <a:xfrm>
            <a:off x="9948724" y="2202292"/>
            <a:ext cx="353678" cy="198344"/>
            <a:chOff x="7493876" y="2774731"/>
            <a:chExt cx="1481958" cy="894622"/>
          </a:xfrm>
        </p:grpSpPr>
        <p:sp>
          <p:nvSpPr>
            <p:cNvPr id="170" name="Freeform 169">
              <a:extLst>
                <a:ext uri="{FF2B5EF4-FFF2-40B4-BE49-F238E27FC236}">
                  <a16:creationId xmlns:a16="http://schemas.microsoft.com/office/drawing/2014/main" id="{4F167397-FDB8-4A4D-A599-63F4111F1811}"/>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71" name="Oval 170">
              <a:extLst>
                <a:ext uri="{FF2B5EF4-FFF2-40B4-BE49-F238E27FC236}">
                  <a16:creationId xmlns:a16="http://schemas.microsoft.com/office/drawing/2014/main" id="{08DCFDBA-4FB5-AE49-968D-A9F0C84D1CA6}"/>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72" name="Group 171">
              <a:extLst>
                <a:ext uri="{FF2B5EF4-FFF2-40B4-BE49-F238E27FC236}">
                  <a16:creationId xmlns:a16="http://schemas.microsoft.com/office/drawing/2014/main" id="{185146B5-C4CC-CF42-8938-46F3C689B49E}"/>
                </a:ext>
              </a:extLst>
            </p:cNvPr>
            <p:cNvGrpSpPr/>
            <p:nvPr/>
          </p:nvGrpSpPr>
          <p:grpSpPr>
            <a:xfrm>
              <a:off x="7713663" y="2848339"/>
              <a:ext cx="1042107" cy="425543"/>
              <a:chOff x="7786941" y="2884917"/>
              <a:chExt cx="897649" cy="353919"/>
            </a:xfrm>
          </p:grpSpPr>
          <p:sp>
            <p:nvSpPr>
              <p:cNvPr id="173" name="Freeform 172">
                <a:extLst>
                  <a:ext uri="{FF2B5EF4-FFF2-40B4-BE49-F238E27FC236}">
                    <a16:creationId xmlns:a16="http://schemas.microsoft.com/office/drawing/2014/main" id="{A7227274-32EF-074A-9791-2B53B212E4BB}"/>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74" name="Freeform 173">
                <a:extLst>
                  <a:ext uri="{FF2B5EF4-FFF2-40B4-BE49-F238E27FC236}">
                    <a16:creationId xmlns:a16="http://schemas.microsoft.com/office/drawing/2014/main" id="{201B35B0-4270-0A43-B1CB-1EA6DEBA0A34}"/>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75" name="Freeform 174">
                <a:extLst>
                  <a:ext uri="{FF2B5EF4-FFF2-40B4-BE49-F238E27FC236}">
                    <a16:creationId xmlns:a16="http://schemas.microsoft.com/office/drawing/2014/main" id="{F7956E94-C156-C749-894C-3962EFA64DC4}"/>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76" name="Freeform 175">
                <a:extLst>
                  <a:ext uri="{FF2B5EF4-FFF2-40B4-BE49-F238E27FC236}">
                    <a16:creationId xmlns:a16="http://schemas.microsoft.com/office/drawing/2014/main" id="{30545111-AB10-544C-A7FB-8905D7E84A0C}"/>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177" name="Group 176">
            <a:extLst>
              <a:ext uri="{FF2B5EF4-FFF2-40B4-BE49-F238E27FC236}">
                <a16:creationId xmlns:a16="http://schemas.microsoft.com/office/drawing/2014/main" id="{6D2B1BF7-15E3-B642-B1ED-14A585EC5A4E}"/>
              </a:ext>
            </a:extLst>
          </p:cNvPr>
          <p:cNvGrpSpPr/>
          <p:nvPr/>
        </p:nvGrpSpPr>
        <p:grpSpPr>
          <a:xfrm>
            <a:off x="10527214" y="2613367"/>
            <a:ext cx="353678" cy="198344"/>
            <a:chOff x="7493876" y="2774731"/>
            <a:chExt cx="1481958" cy="894622"/>
          </a:xfrm>
        </p:grpSpPr>
        <p:sp>
          <p:nvSpPr>
            <p:cNvPr id="178" name="Freeform 177">
              <a:extLst>
                <a:ext uri="{FF2B5EF4-FFF2-40B4-BE49-F238E27FC236}">
                  <a16:creationId xmlns:a16="http://schemas.microsoft.com/office/drawing/2014/main" id="{FC3BC896-EAF3-B44C-A223-0B61ADD448AF}"/>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79" name="Oval 178">
              <a:extLst>
                <a:ext uri="{FF2B5EF4-FFF2-40B4-BE49-F238E27FC236}">
                  <a16:creationId xmlns:a16="http://schemas.microsoft.com/office/drawing/2014/main" id="{A1FDE8F7-458E-F043-99FF-74BB3A940405}"/>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80" name="Group 179">
              <a:extLst>
                <a:ext uri="{FF2B5EF4-FFF2-40B4-BE49-F238E27FC236}">
                  <a16:creationId xmlns:a16="http://schemas.microsoft.com/office/drawing/2014/main" id="{FF87486C-C62D-A04E-BD6D-5E7B286D0987}"/>
                </a:ext>
              </a:extLst>
            </p:cNvPr>
            <p:cNvGrpSpPr/>
            <p:nvPr/>
          </p:nvGrpSpPr>
          <p:grpSpPr>
            <a:xfrm>
              <a:off x="7713663" y="2848339"/>
              <a:ext cx="1042107" cy="425543"/>
              <a:chOff x="7786941" y="2884917"/>
              <a:chExt cx="897649" cy="353919"/>
            </a:xfrm>
          </p:grpSpPr>
          <p:sp>
            <p:nvSpPr>
              <p:cNvPr id="181" name="Freeform 180">
                <a:extLst>
                  <a:ext uri="{FF2B5EF4-FFF2-40B4-BE49-F238E27FC236}">
                    <a16:creationId xmlns:a16="http://schemas.microsoft.com/office/drawing/2014/main" id="{DEDB6C40-CF6A-E547-8BC1-635D2DC438F1}"/>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2" name="Freeform 181">
                <a:extLst>
                  <a:ext uri="{FF2B5EF4-FFF2-40B4-BE49-F238E27FC236}">
                    <a16:creationId xmlns:a16="http://schemas.microsoft.com/office/drawing/2014/main" id="{B7776C1D-06CD-5245-AF82-92665409A005}"/>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3" name="Freeform 182">
                <a:extLst>
                  <a:ext uri="{FF2B5EF4-FFF2-40B4-BE49-F238E27FC236}">
                    <a16:creationId xmlns:a16="http://schemas.microsoft.com/office/drawing/2014/main" id="{2D893366-435F-C043-8ADD-35A96EC80B1E}"/>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4" name="Freeform 183">
                <a:extLst>
                  <a:ext uri="{FF2B5EF4-FFF2-40B4-BE49-F238E27FC236}">
                    <a16:creationId xmlns:a16="http://schemas.microsoft.com/office/drawing/2014/main" id="{5246B375-EFFF-874C-BA50-6516A502F0CE}"/>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185" name="Group 184">
            <a:extLst>
              <a:ext uri="{FF2B5EF4-FFF2-40B4-BE49-F238E27FC236}">
                <a16:creationId xmlns:a16="http://schemas.microsoft.com/office/drawing/2014/main" id="{F0711763-C567-4040-ABFB-F5C34597A154}"/>
              </a:ext>
            </a:extLst>
          </p:cNvPr>
          <p:cNvGrpSpPr/>
          <p:nvPr/>
        </p:nvGrpSpPr>
        <p:grpSpPr>
          <a:xfrm>
            <a:off x="10643825" y="2107963"/>
            <a:ext cx="353678" cy="198344"/>
            <a:chOff x="7493876" y="2774731"/>
            <a:chExt cx="1481958" cy="894622"/>
          </a:xfrm>
        </p:grpSpPr>
        <p:sp>
          <p:nvSpPr>
            <p:cNvPr id="186" name="Freeform 185">
              <a:extLst>
                <a:ext uri="{FF2B5EF4-FFF2-40B4-BE49-F238E27FC236}">
                  <a16:creationId xmlns:a16="http://schemas.microsoft.com/office/drawing/2014/main" id="{7F38627D-7A2B-A841-8C69-850F7253A2D4}"/>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87" name="Oval 186">
              <a:extLst>
                <a:ext uri="{FF2B5EF4-FFF2-40B4-BE49-F238E27FC236}">
                  <a16:creationId xmlns:a16="http://schemas.microsoft.com/office/drawing/2014/main" id="{8FB71122-C2F0-3B40-A94F-7E95B02A39D4}"/>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88" name="Group 187">
              <a:extLst>
                <a:ext uri="{FF2B5EF4-FFF2-40B4-BE49-F238E27FC236}">
                  <a16:creationId xmlns:a16="http://schemas.microsoft.com/office/drawing/2014/main" id="{3A5D9C3E-2D7E-A54F-9A93-7708DD147DB1}"/>
                </a:ext>
              </a:extLst>
            </p:cNvPr>
            <p:cNvGrpSpPr/>
            <p:nvPr/>
          </p:nvGrpSpPr>
          <p:grpSpPr>
            <a:xfrm>
              <a:off x="7713663" y="2848339"/>
              <a:ext cx="1042107" cy="425543"/>
              <a:chOff x="7786941" y="2884917"/>
              <a:chExt cx="897649" cy="353919"/>
            </a:xfrm>
          </p:grpSpPr>
          <p:sp>
            <p:nvSpPr>
              <p:cNvPr id="189" name="Freeform 188">
                <a:extLst>
                  <a:ext uri="{FF2B5EF4-FFF2-40B4-BE49-F238E27FC236}">
                    <a16:creationId xmlns:a16="http://schemas.microsoft.com/office/drawing/2014/main" id="{2B3C3A91-863F-E54F-BCBF-83530898F04D}"/>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0" name="Freeform 189">
                <a:extLst>
                  <a:ext uri="{FF2B5EF4-FFF2-40B4-BE49-F238E27FC236}">
                    <a16:creationId xmlns:a16="http://schemas.microsoft.com/office/drawing/2014/main" id="{E03CE2E4-33A0-7443-968B-028BF2FEAFC6}"/>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1" name="Freeform 190">
                <a:extLst>
                  <a:ext uri="{FF2B5EF4-FFF2-40B4-BE49-F238E27FC236}">
                    <a16:creationId xmlns:a16="http://schemas.microsoft.com/office/drawing/2014/main" id="{92376DD9-E3A6-0B4A-97CB-7FDA6023E448}"/>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2" name="Freeform 191">
                <a:extLst>
                  <a:ext uri="{FF2B5EF4-FFF2-40B4-BE49-F238E27FC236}">
                    <a16:creationId xmlns:a16="http://schemas.microsoft.com/office/drawing/2014/main" id="{18E42DD9-0888-4A41-A186-22087D773FCC}"/>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193" name="Group 192">
            <a:extLst>
              <a:ext uri="{FF2B5EF4-FFF2-40B4-BE49-F238E27FC236}">
                <a16:creationId xmlns:a16="http://schemas.microsoft.com/office/drawing/2014/main" id="{E38FF4C3-D0A2-D548-89C0-C35D3E53032F}"/>
              </a:ext>
            </a:extLst>
          </p:cNvPr>
          <p:cNvGrpSpPr/>
          <p:nvPr/>
        </p:nvGrpSpPr>
        <p:grpSpPr>
          <a:xfrm>
            <a:off x="9098788" y="3956624"/>
            <a:ext cx="367224" cy="240304"/>
            <a:chOff x="7493876" y="2774731"/>
            <a:chExt cx="1481958" cy="894622"/>
          </a:xfrm>
        </p:grpSpPr>
        <p:sp>
          <p:nvSpPr>
            <p:cNvPr id="194" name="Freeform 193">
              <a:extLst>
                <a:ext uri="{FF2B5EF4-FFF2-40B4-BE49-F238E27FC236}">
                  <a16:creationId xmlns:a16="http://schemas.microsoft.com/office/drawing/2014/main" id="{027716F5-6A2D-404B-ADB2-50CDACB02062}"/>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95" name="Oval 194">
              <a:extLst>
                <a:ext uri="{FF2B5EF4-FFF2-40B4-BE49-F238E27FC236}">
                  <a16:creationId xmlns:a16="http://schemas.microsoft.com/office/drawing/2014/main" id="{C3297389-072E-FE41-B64F-4D54440AB368}"/>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96" name="Group 195">
              <a:extLst>
                <a:ext uri="{FF2B5EF4-FFF2-40B4-BE49-F238E27FC236}">
                  <a16:creationId xmlns:a16="http://schemas.microsoft.com/office/drawing/2014/main" id="{36323224-311B-EE47-BE36-F2BE4EA6BC7F}"/>
                </a:ext>
              </a:extLst>
            </p:cNvPr>
            <p:cNvGrpSpPr/>
            <p:nvPr/>
          </p:nvGrpSpPr>
          <p:grpSpPr>
            <a:xfrm>
              <a:off x="7713663" y="2848339"/>
              <a:ext cx="1042107" cy="425543"/>
              <a:chOff x="7786941" y="2884917"/>
              <a:chExt cx="897649" cy="353919"/>
            </a:xfrm>
          </p:grpSpPr>
          <p:sp>
            <p:nvSpPr>
              <p:cNvPr id="197" name="Freeform 196">
                <a:extLst>
                  <a:ext uri="{FF2B5EF4-FFF2-40B4-BE49-F238E27FC236}">
                    <a16:creationId xmlns:a16="http://schemas.microsoft.com/office/drawing/2014/main" id="{BD802D6F-DAFD-DC41-83D1-DF0F4A2A7948}"/>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8" name="Freeform 197">
                <a:extLst>
                  <a:ext uri="{FF2B5EF4-FFF2-40B4-BE49-F238E27FC236}">
                    <a16:creationId xmlns:a16="http://schemas.microsoft.com/office/drawing/2014/main" id="{2CE211BA-1FF8-2548-A6C8-5CD1E12C3E1A}"/>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9" name="Freeform 198">
                <a:extLst>
                  <a:ext uri="{FF2B5EF4-FFF2-40B4-BE49-F238E27FC236}">
                    <a16:creationId xmlns:a16="http://schemas.microsoft.com/office/drawing/2014/main" id="{D363DDD6-C621-F146-B8DA-4A9DDE186BE0}"/>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00" name="Freeform 199">
                <a:extLst>
                  <a:ext uri="{FF2B5EF4-FFF2-40B4-BE49-F238E27FC236}">
                    <a16:creationId xmlns:a16="http://schemas.microsoft.com/office/drawing/2014/main" id="{BB3402A2-EE9C-A240-899D-8BDF14CF4322}"/>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201" name="Group 200">
            <a:extLst>
              <a:ext uri="{FF2B5EF4-FFF2-40B4-BE49-F238E27FC236}">
                <a16:creationId xmlns:a16="http://schemas.microsoft.com/office/drawing/2014/main" id="{F6C05161-17CC-4047-8DD1-B9901ECF6386}"/>
              </a:ext>
            </a:extLst>
          </p:cNvPr>
          <p:cNvGrpSpPr/>
          <p:nvPr/>
        </p:nvGrpSpPr>
        <p:grpSpPr>
          <a:xfrm>
            <a:off x="9980126" y="2661565"/>
            <a:ext cx="353678" cy="198344"/>
            <a:chOff x="7493876" y="2774731"/>
            <a:chExt cx="1481958" cy="894622"/>
          </a:xfrm>
        </p:grpSpPr>
        <p:sp>
          <p:nvSpPr>
            <p:cNvPr id="202" name="Freeform 201">
              <a:extLst>
                <a:ext uri="{FF2B5EF4-FFF2-40B4-BE49-F238E27FC236}">
                  <a16:creationId xmlns:a16="http://schemas.microsoft.com/office/drawing/2014/main" id="{947827F3-EDEA-7A42-9B1D-083327F8DECB}"/>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03" name="Oval 202">
              <a:extLst>
                <a:ext uri="{FF2B5EF4-FFF2-40B4-BE49-F238E27FC236}">
                  <a16:creationId xmlns:a16="http://schemas.microsoft.com/office/drawing/2014/main" id="{34CC4598-569C-8B40-92BA-1D2FBE3E50FD}"/>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204" name="Group 203">
              <a:extLst>
                <a:ext uri="{FF2B5EF4-FFF2-40B4-BE49-F238E27FC236}">
                  <a16:creationId xmlns:a16="http://schemas.microsoft.com/office/drawing/2014/main" id="{FC8B6594-03D2-024C-9EA4-C0C60D628F1D}"/>
                </a:ext>
              </a:extLst>
            </p:cNvPr>
            <p:cNvGrpSpPr/>
            <p:nvPr/>
          </p:nvGrpSpPr>
          <p:grpSpPr>
            <a:xfrm>
              <a:off x="7713663" y="2848339"/>
              <a:ext cx="1042107" cy="425543"/>
              <a:chOff x="7786941" y="2884917"/>
              <a:chExt cx="897649" cy="353919"/>
            </a:xfrm>
          </p:grpSpPr>
          <p:sp>
            <p:nvSpPr>
              <p:cNvPr id="205" name="Freeform 204">
                <a:extLst>
                  <a:ext uri="{FF2B5EF4-FFF2-40B4-BE49-F238E27FC236}">
                    <a16:creationId xmlns:a16="http://schemas.microsoft.com/office/drawing/2014/main" id="{1FDE0324-11E3-5145-88E9-DE61B49F2A38}"/>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06" name="Freeform 205">
                <a:extLst>
                  <a:ext uri="{FF2B5EF4-FFF2-40B4-BE49-F238E27FC236}">
                    <a16:creationId xmlns:a16="http://schemas.microsoft.com/office/drawing/2014/main" id="{C131568C-F5A3-DB44-94E2-7B887CDB2644}"/>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07" name="Freeform 206">
                <a:extLst>
                  <a:ext uri="{FF2B5EF4-FFF2-40B4-BE49-F238E27FC236}">
                    <a16:creationId xmlns:a16="http://schemas.microsoft.com/office/drawing/2014/main" id="{A7EDAE1E-6998-2048-ADF9-12AD17B25B30}"/>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08" name="Freeform 207">
                <a:extLst>
                  <a:ext uri="{FF2B5EF4-FFF2-40B4-BE49-F238E27FC236}">
                    <a16:creationId xmlns:a16="http://schemas.microsoft.com/office/drawing/2014/main" id="{8FC26428-BCB7-1047-B128-BD12A87F81FA}"/>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209" name="Group 208">
            <a:extLst>
              <a:ext uri="{FF2B5EF4-FFF2-40B4-BE49-F238E27FC236}">
                <a16:creationId xmlns:a16="http://schemas.microsoft.com/office/drawing/2014/main" id="{198EE3F8-E7C6-7742-BDAE-10EEB3BA9601}"/>
              </a:ext>
            </a:extLst>
          </p:cNvPr>
          <p:cNvGrpSpPr/>
          <p:nvPr/>
        </p:nvGrpSpPr>
        <p:grpSpPr>
          <a:xfrm>
            <a:off x="9497138" y="3394032"/>
            <a:ext cx="367224" cy="240304"/>
            <a:chOff x="7493876" y="2774731"/>
            <a:chExt cx="1481958" cy="894622"/>
          </a:xfrm>
        </p:grpSpPr>
        <p:sp>
          <p:nvSpPr>
            <p:cNvPr id="210" name="Freeform 209">
              <a:extLst>
                <a:ext uri="{FF2B5EF4-FFF2-40B4-BE49-F238E27FC236}">
                  <a16:creationId xmlns:a16="http://schemas.microsoft.com/office/drawing/2014/main" id="{7A2B8EB1-241A-C04E-9EA1-495DCDBCB17E}"/>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11" name="Oval 210">
              <a:extLst>
                <a:ext uri="{FF2B5EF4-FFF2-40B4-BE49-F238E27FC236}">
                  <a16:creationId xmlns:a16="http://schemas.microsoft.com/office/drawing/2014/main" id="{0B3245D7-5441-9648-A36A-661C2ACB5721}"/>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212" name="Group 211">
              <a:extLst>
                <a:ext uri="{FF2B5EF4-FFF2-40B4-BE49-F238E27FC236}">
                  <a16:creationId xmlns:a16="http://schemas.microsoft.com/office/drawing/2014/main" id="{86F28103-141B-154E-A362-409B3111D184}"/>
                </a:ext>
              </a:extLst>
            </p:cNvPr>
            <p:cNvGrpSpPr/>
            <p:nvPr/>
          </p:nvGrpSpPr>
          <p:grpSpPr>
            <a:xfrm>
              <a:off x="7713663" y="2848339"/>
              <a:ext cx="1042107" cy="425543"/>
              <a:chOff x="7786941" y="2884917"/>
              <a:chExt cx="897649" cy="353919"/>
            </a:xfrm>
          </p:grpSpPr>
          <p:sp>
            <p:nvSpPr>
              <p:cNvPr id="213" name="Freeform 212">
                <a:extLst>
                  <a:ext uri="{FF2B5EF4-FFF2-40B4-BE49-F238E27FC236}">
                    <a16:creationId xmlns:a16="http://schemas.microsoft.com/office/drawing/2014/main" id="{2F7A2BEC-77A9-6D41-8098-B64A792EA0B9}"/>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14" name="Freeform 213">
                <a:extLst>
                  <a:ext uri="{FF2B5EF4-FFF2-40B4-BE49-F238E27FC236}">
                    <a16:creationId xmlns:a16="http://schemas.microsoft.com/office/drawing/2014/main" id="{7DED57CD-47F8-9D45-9600-A0BEEC976821}"/>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15" name="Freeform 214">
                <a:extLst>
                  <a:ext uri="{FF2B5EF4-FFF2-40B4-BE49-F238E27FC236}">
                    <a16:creationId xmlns:a16="http://schemas.microsoft.com/office/drawing/2014/main" id="{210D30D1-E5F0-E44B-A795-D0F4E795F9A3}"/>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16" name="Freeform 215">
                <a:extLst>
                  <a:ext uri="{FF2B5EF4-FFF2-40B4-BE49-F238E27FC236}">
                    <a16:creationId xmlns:a16="http://schemas.microsoft.com/office/drawing/2014/main" id="{AC7488D5-7B56-8944-802F-C2691C362324}"/>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217" name="Group 216">
            <a:extLst>
              <a:ext uri="{FF2B5EF4-FFF2-40B4-BE49-F238E27FC236}">
                <a16:creationId xmlns:a16="http://schemas.microsoft.com/office/drawing/2014/main" id="{5123C752-3FFB-E84D-9E48-DBC9A9F48F37}"/>
              </a:ext>
            </a:extLst>
          </p:cNvPr>
          <p:cNvGrpSpPr/>
          <p:nvPr/>
        </p:nvGrpSpPr>
        <p:grpSpPr>
          <a:xfrm>
            <a:off x="9601554" y="3999763"/>
            <a:ext cx="367224" cy="240304"/>
            <a:chOff x="7493876" y="2774731"/>
            <a:chExt cx="1481958" cy="894622"/>
          </a:xfrm>
        </p:grpSpPr>
        <p:sp>
          <p:nvSpPr>
            <p:cNvPr id="218" name="Freeform 217">
              <a:extLst>
                <a:ext uri="{FF2B5EF4-FFF2-40B4-BE49-F238E27FC236}">
                  <a16:creationId xmlns:a16="http://schemas.microsoft.com/office/drawing/2014/main" id="{D524F684-301C-7542-A0A4-37573182739D}"/>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19" name="Oval 218">
              <a:extLst>
                <a:ext uri="{FF2B5EF4-FFF2-40B4-BE49-F238E27FC236}">
                  <a16:creationId xmlns:a16="http://schemas.microsoft.com/office/drawing/2014/main" id="{9BF20040-D9C8-B74E-BC0D-F15797752EA9}"/>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220" name="Group 219">
              <a:extLst>
                <a:ext uri="{FF2B5EF4-FFF2-40B4-BE49-F238E27FC236}">
                  <a16:creationId xmlns:a16="http://schemas.microsoft.com/office/drawing/2014/main" id="{79553B03-2EF0-1445-BD4E-875D98E58492}"/>
                </a:ext>
              </a:extLst>
            </p:cNvPr>
            <p:cNvGrpSpPr/>
            <p:nvPr/>
          </p:nvGrpSpPr>
          <p:grpSpPr>
            <a:xfrm>
              <a:off x="7713663" y="2848339"/>
              <a:ext cx="1042107" cy="425543"/>
              <a:chOff x="7786941" y="2884917"/>
              <a:chExt cx="897649" cy="353919"/>
            </a:xfrm>
          </p:grpSpPr>
          <p:sp>
            <p:nvSpPr>
              <p:cNvPr id="221" name="Freeform 220">
                <a:extLst>
                  <a:ext uri="{FF2B5EF4-FFF2-40B4-BE49-F238E27FC236}">
                    <a16:creationId xmlns:a16="http://schemas.microsoft.com/office/drawing/2014/main" id="{DAB927EA-DECF-FE4A-BE5D-802F016FB194}"/>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22" name="Freeform 221">
                <a:extLst>
                  <a:ext uri="{FF2B5EF4-FFF2-40B4-BE49-F238E27FC236}">
                    <a16:creationId xmlns:a16="http://schemas.microsoft.com/office/drawing/2014/main" id="{8F1EA0F6-ACA7-C443-A514-F770A3836883}"/>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23" name="Freeform 222">
                <a:extLst>
                  <a:ext uri="{FF2B5EF4-FFF2-40B4-BE49-F238E27FC236}">
                    <a16:creationId xmlns:a16="http://schemas.microsoft.com/office/drawing/2014/main" id="{2414339B-8AC7-2444-AC70-285A203D1160}"/>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24" name="Freeform 223">
                <a:extLst>
                  <a:ext uri="{FF2B5EF4-FFF2-40B4-BE49-F238E27FC236}">
                    <a16:creationId xmlns:a16="http://schemas.microsoft.com/office/drawing/2014/main" id="{AEF6DCDC-2F65-B349-B551-DC3FACF6D577}"/>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225" name="Group 224">
            <a:extLst>
              <a:ext uri="{FF2B5EF4-FFF2-40B4-BE49-F238E27FC236}">
                <a16:creationId xmlns:a16="http://schemas.microsoft.com/office/drawing/2014/main" id="{9F5D0807-95F5-B242-9940-2134E3CE864D}"/>
              </a:ext>
            </a:extLst>
          </p:cNvPr>
          <p:cNvGrpSpPr/>
          <p:nvPr/>
        </p:nvGrpSpPr>
        <p:grpSpPr>
          <a:xfrm>
            <a:off x="10375259" y="3992325"/>
            <a:ext cx="353678" cy="198344"/>
            <a:chOff x="7493876" y="2774731"/>
            <a:chExt cx="1481958" cy="894622"/>
          </a:xfrm>
        </p:grpSpPr>
        <p:sp>
          <p:nvSpPr>
            <p:cNvPr id="226" name="Freeform 225">
              <a:extLst>
                <a:ext uri="{FF2B5EF4-FFF2-40B4-BE49-F238E27FC236}">
                  <a16:creationId xmlns:a16="http://schemas.microsoft.com/office/drawing/2014/main" id="{65E7C622-0E2D-F247-B71E-DB43805F13C1}"/>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27" name="Oval 226">
              <a:extLst>
                <a:ext uri="{FF2B5EF4-FFF2-40B4-BE49-F238E27FC236}">
                  <a16:creationId xmlns:a16="http://schemas.microsoft.com/office/drawing/2014/main" id="{E1DDDBA8-9328-FF4B-A036-4A8C314BC34A}"/>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228" name="Group 227">
              <a:extLst>
                <a:ext uri="{FF2B5EF4-FFF2-40B4-BE49-F238E27FC236}">
                  <a16:creationId xmlns:a16="http://schemas.microsoft.com/office/drawing/2014/main" id="{FE4053D3-C37C-B247-AABC-ACB5431A3328}"/>
                </a:ext>
              </a:extLst>
            </p:cNvPr>
            <p:cNvGrpSpPr/>
            <p:nvPr/>
          </p:nvGrpSpPr>
          <p:grpSpPr>
            <a:xfrm>
              <a:off x="7713663" y="2848339"/>
              <a:ext cx="1042107" cy="425543"/>
              <a:chOff x="7786941" y="2884917"/>
              <a:chExt cx="897649" cy="353919"/>
            </a:xfrm>
          </p:grpSpPr>
          <p:sp>
            <p:nvSpPr>
              <p:cNvPr id="229" name="Freeform 228">
                <a:extLst>
                  <a:ext uri="{FF2B5EF4-FFF2-40B4-BE49-F238E27FC236}">
                    <a16:creationId xmlns:a16="http://schemas.microsoft.com/office/drawing/2014/main" id="{9B8C5BFF-F366-864D-9DDD-AD0F594855F9}"/>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30" name="Freeform 229">
                <a:extLst>
                  <a:ext uri="{FF2B5EF4-FFF2-40B4-BE49-F238E27FC236}">
                    <a16:creationId xmlns:a16="http://schemas.microsoft.com/office/drawing/2014/main" id="{E52E2636-7B29-8B4F-A9E7-0A019FB12336}"/>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31" name="Freeform 230">
                <a:extLst>
                  <a:ext uri="{FF2B5EF4-FFF2-40B4-BE49-F238E27FC236}">
                    <a16:creationId xmlns:a16="http://schemas.microsoft.com/office/drawing/2014/main" id="{81B96CBC-D09D-8A44-A7F4-460A6FE268AE}"/>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32" name="Freeform 231">
                <a:extLst>
                  <a:ext uri="{FF2B5EF4-FFF2-40B4-BE49-F238E27FC236}">
                    <a16:creationId xmlns:a16="http://schemas.microsoft.com/office/drawing/2014/main" id="{AB72586A-2BC3-AD40-8068-98E191DFFEF1}"/>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233" name="Group 232">
            <a:extLst>
              <a:ext uri="{FF2B5EF4-FFF2-40B4-BE49-F238E27FC236}">
                <a16:creationId xmlns:a16="http://schemas.microsoft.com/office/drawing/2014/main" id="{A8973B1E-A991-8E45-9FF7-7AF7F179E328}"/>
              </a:ext>
            </a:extLst>
          </p:cNvPr>
          <p:cNvGrpSpPr/>
          <p:nvPr/>
        </p:nvGrpSpPr>
        <p:grpSpPr>
          <a:xfrm>
            <a:off x="9247893" y="4775686"/>
            <a:ext cx="393760" cy="218578"/>
            <a:chOff x="7493876" y="2774731"/>
            <a:chExt cx="1481958" cy="894622"/>
          </a:xfrm>
        </p:grpSpPr>
        <p:sp>
          <p:nvSpPr>
            <p:cNvPr id="234" name="Freeform 233">
              <a:extLst>
                <a:ext uri="{FF2B5EF4-FFF2-40B4-BE49-F238E27FC236}">
                  <a16:creationId xmlns:a16="http://schemas.microsoft.com/office/drawing/2014/main" id="{5A098E30-A66F-FA4D-9EE8-C0C83DE6D506}"/>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35" name="Oval 234">
              <a:extLst>
                <a:ext uri="{FF2B5EF4-FFF2-40B4-BE49-F238E27FC236}">
                  <a16:creationId xmlns:a16="http://schemas.microsoft.com/office/drawing/2014/main" id="{051367D4-C1D9-AF45-9A24-031126A62943}"/>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236" name="Group 235">
              <a:extLst>
                <a:ext uri="{FF2B5EF4-FFF2-40B4-BE49-F238E27FC236}">
                  <a16:creationId xmlns:a16="http://schemas.microsoft.com/office/drawing/2014/main" id="{8C4167F2-26A6-0A41-9F23-581BB1D6E53B}"/>
                </a:ext>
              </a:extLst>
            </p:cNvPr>
            <p:cNvGrpSpPr/>
            <p:nvPr/>
          </p:nvGrpSpPr>
          <p:grpSpPr>
            <a:xfrm>
              <a:off x="7713663" y="2848339"/>
              <a:ext cx="1042107" cy="425543"/>
              <a:chOff x="7786941" y="2884917"/>
              <a:chExt cx="897649" cy="353919"/>
            </a:xfrm>
          </p:grpSpPr>
          <p:sp>
            <p:nvSpPr>
              <p:cNvPr id="237" name="Freeform 236">
                <a:extLst>
                  <a:ext uri="{FF2B5EF4-FFF2-40B4-BE49-F238E27FC236}">
                    <a16:creationId xmlns:a16="http://schemas.microsoft.com/office/drawing/2014/main" id="{8AABD328-91C1-C94D-8CB5-66F9CC0DC001}"/>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38" name="Freeform 237">
                <a:extLst>
                  <a:ext uri="{FF2B5EF4-FFF2-40B4-BE49-F238E27FC236}">
                    <a16:creationId xmlns:a16="http://schemas.microsoft.com/office/drawing/2014/main" id="{23CBCA43-9398-E043-A20B-00567B73DB89}"/>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39" name="Freeform 238">
                <a:extLst>
                  <a:ext uri="{FF2B5EF4-FFF2-40B4-BE49-F238E27FC236}">
                    <a16:creationId xmlns:a16="http://schemas.microsoft.com/office/drawing/2014/main" id="{06C3D6EF-A0CB-F34C-9C57-9FA040350289}"/>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40" name="Freeform 239">
                <a:extLst>
                  <a:ext uri="{FF2B5EF4-FFF2-40B4-BE49-F238E27FC236}">
                    <a16:creationId xmlns:a16="http://schemas.microsoft.com/office/drawing/2014/main" id="{66D08B47-1DCF-994C-84EE-6C7E588A1D24}"/>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241" name="Group 240">
            <a:extLst>
              <a:ext uri="{FF2B5EF4-FFF2-40B4-BE49-F238E27FC236}">
                <a16:creationId xmlns:a16="http://schemas.microsoft.com/office/drawing/2014/main" id="{23665DDF-4A56-E24C-9D9B-557EA2031298}"/>
              </a:ext>
            </a:extLst>
          </p:cNvPr>
          <p:cNvGrpSpPr/>
          <p:nvPr/>
        </p:nvGrpSpPr>
        <p:grpSpPr>
          <a:xfrm>
            <a:off x="10925982" y="4369125"/>
            <a:ext cx="228295" cy="120400"/>
            <a:chOff x="7493876" y="2774731"/>
            <a:chExt cx="1481958" cy="894622"/>
          </a:xfrm>
        </p:grpSpPr>
        <p:sp>
          <p:nvSpPr>
            <p:cNvPr id="242" name="Freeform 241">
              <a:extLst>
                <a:ext uri="{FF2B5EF4-FFF2-40B4-BE49-F238E27FC236}">
                  <a16:creationId xmlns:a16="http://schemas.microsoft.com/office/drawing/2014/main" id="{31441261-7107-C940-87CC-EC4FA053449C}"/>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43" name="Oval 242">
              <a:extLst>
                <a:ext uri="{FF2B5EF4-FFF2-40B4-BE49-F238E27FC236}">
                  <a16:creationId xmlns:a16="http://schemas.microsoft.com/office/drawing/2014/main" id="{5F5B546A-49AB-9042-B43E-5F11C688F25E}"/>
                </a:ext>
              </a:extLst>
            </p:cNvPr>
            <p:cNvSpPr/>
            <p:nvPr/>
          </p:nvSpPr>
          <p:spPr>
            <a:xfrm>
              <a:off x="7494729" y="2774731"/>
              <a:ext cx="1480163" cy="579140"/>
            </a:xfrm>
            <a:prstGeom prst="ellipse">
              <a:avLst/>
            </a:prstGeom>
            <a:solidFill>
              <a:srgbClr val="B8C2C9"/>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244" name="Group 243">
              <a:extLst>
                <a:ext uri="{FF2B5EF4-FFF2-40B4-BE49-F238E27FC236}">
                  <a16:creationId xmlns:a16="http://schemas.microsoft.com/office/drawing/2014/main" id="{E8DF2468-3557-AD4F-8E6A-2FD993E8CF5C}"/>
                </a:ext>
              </a:extLst>
            </p:cNvPr>
            <p:cNvGrpSpPr/>
            <p:nvPr/>
          </p:nvGrpSpPr>
          <p:grpSpPr>
            <a:xfrm>
              <a:off x="7713663" y="2848339"/>
              <a:ext cx="1042107" cy="425543"/>
              <a:chOff x="7786941" y="2884917"/>
              <a:chExt cx="897649" cy="353919"/>
            </a:xfrm>
          </p:grpSpPr>
          <p:sp>
            <p:nvSpPr>
              <p:cNvPr id="245" name="Freeform 244">
                <a:extLst>
                  <a:ext uri="{FF2B5EF4-FFF2-40B4-BE49-F238E27FC236}">
                    <a16:creationId xmlns:a16="http://schemas.microsoft.com/office/drawing/2014/main" id="{9E3ADAA4-12C2-404E-917C-5A2F54CCDF6B}"/>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46" name="Freeform 245">
                <a:extLst>
                  <a:ext uri="{FF2B5EF4-FFF2-40B4-BE49-F238E27FC236}">
                    <a16:creationId xmlns:a16="http://schemas.microsoft.com/office/drawing/2014/main" id="{7A728ED3-C05E-B44A-9C86-A753D22F76A6}"/>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47" name="Freeform 246">
                <a:extLst>
                  <a:ext uri="{FF2B5EF4-FFF2-40B4-BE49-F238E27FC236}">
                    <a16:creationId xmlns:a16="http://schemas.microsoft.com/office/drawing/2014/main" id="{63D4F443-59AA-0D4F-BA7D-32F6068E7994}"/>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48" name="Freeform 247">
                <a:extLst>
                  <a:ext uri="{FF2B5EF4-FFF2-40B4-BE49-F238E27FC236}">
                    <a16:creationId xmlns:a16="http://schemas.microsoft.com/office/drawing/2014/main" id="{205AEAD2-2A18-2D4A-91B3-368B52FA7C58}"/>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249" name="Group 248">
            <a:extLst>
              <a:ext uri="{FF2B5EF4-FFF2-40B4-BE49-F238E27FC236}">
                <a16:creationId xmlns:a16="http://schemas.microsoft.com/office/drawing/2014/main" id="{931C36A9-E761-0148-9032-D81ACCB48A29}"/>
              </a:ext>
            </a:extLst>
          </p:cNvPr>
          <p:cNvGrpSpPr/>
          <p:nvPr/>
        </p:nvGrpSpPr>
        <p:grpSpPr>
          <a:xfrm>
            <a:off x="7439074" y="2356613"/>
            <a:ext cx="534987" cy="407988"/>
            <a:chOff x="7432700" y="2327293"/>
            <a:chExt cx="534987" cy="407988"/>
          </a:xfrm>
        </p:grpSpPr>
        <p:pic>
          <p:nvPicPr>
            <p:cNvPr id="250" name="Picture 1017" descr="antenna_stylized">
              <a:extLst>
                <a:ext uri="{FF2B5EF4-FFF2-40B4-BE49-F238E27FC236}">
                  <a16:creationId xmlns:a16="http://schemas.microsoft.com/office/drawing/2014/main" id="{A1B3AFF0-514E-1142-A2F6-8BE3FF21744E}"/>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432700" y="2327293"/>
              <a:ext cx="530702" cy="223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1" name="Picture 1018" descr="laptop_keyboard">
              <a:extLst>
                <a:ext uri="{FF2B5EF4-FFF2-40B4-BE49-F238E27FC236}">
                  <a16:creationId xmlns:a16="http://schemas.microsoft.com/office/drawing/2014/main" id="{F72A8B16-D68A-BE43-A9DC-2099F128817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rot="109064" flipH="1">
              <a:off x="7458407" y="2575770"/>
              <a:ext cx="437221" cy="159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2" name="Freeform 1019">
              <a:extLst>
                <a:ext uri="{FF2B5EF4-FFF2-40B4-BE49-F238E27FC236}">
                  <a16:creationId xmlns:a16="http://schemas.microsoft.com/office/drawing/2014/main" id="{8BD550C1-DB66-1D43-B0FF-2194D6CE59D3}"/>
                </a:ext>
              </a:extLst>
            </p:cNvPr>
            <p:cNvSpPr>
              <a:spLocks/>
            </p:cNvSpPr>
            <p:nvPr/>
          </p:nvSpPr>
          <p:spPr bwMode="auto">
            <a:xfrm>
              <a:off x="7603304" y="2420984"/>
              <a:ext cx="351919" cy="208167"/>
            </a:xfrm>
            <a:custGeom>
              <a:avLst/>
              <a:gdLst>
                <a:gd name="T0" fmla="*/ 775798119 w 2982"/>
                <a:gd name="T1" fmla="*/ 0 h 2442"/>
                <a:gd name="T2" fmla="*/ 0 w 2982"/>
                <a:gd name="T3" fmla="*/ 211226083 h 2442"/>
                <a:gd name="T4" fmla="*/ 2147483646 w 2982"/>
                <a:gd name="T5" fmla="*/ 263880059 h 2442"/>
                <a:gd name="T6" fmla="*/ 2147483646 w 2982"/>
                <a:gd name="T7" fmla="*/ 52653891 h 2442"/>
                <a:gd name="T8" fmla="*/ 775798119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53" name="Picture 1020" descr="screen">
              <a:extLst>
                <a:ext uri="{FF2B5EF4-FFF2-40B4-BE49-F238E27FC236}">
                  <a16:creationId xmlns:a16="http://schemas.microsoft.com/office/drawing/2014/main" id="{5B7A4293-9090-2C47-A5F9-1484B3E8E43A}"/>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7620637" y="2426338"/>
              <a:ext cx="319785" cy="189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4" name="Freeform 1021">
              <a:extLst>
                <a:ext uri="{FF2B5EF4-FFF2-40B4-BE49-F238E27FC236}">
                  <a16:creationId xmlns:a16="http://schemas.microsoft.com/office/drawing/2014/main" id="{66A9E8A3-089D-144F-8C74-780D0252320C}"/>
                </a:ext>
              </a:extLst>
            </p:cNvPr>
            <p:cNvSpPr>
              <a:spLocks/>
            </p:cNvSpPr>
            <p:nvPr/>
          </p:nvSpPr>
          <p:spPr bwMode="auto">
            <a:xfrm>
              <a:off x="7667378" y="2414843"/>
              <a:ext cx="298167" cy="38736"/>
            </a:xfrm>
            <a:custGeom>
              <a:avLst/>
              <a:gdLst>
                <a:gd name="T0" fmla="*/ 193616298 w 2528"/>
                <a:gd name="T1" fmla="*/ 0 h 455"/>
                <a:gd name="T2" fmla="*/ 2147483646 w 2528"/>
                <a:gd name="T3" fmla="*/ 52445139 h 455"/>
                <a:gd name="T4" fmla="*/ 2147483646 w 2528"/>
                <a:gd name="T5" fmla="*/ 52445139 h 455"/>
                <a:gd name="T6" fmla="*/ 0 w 2528"/>
                <a:gd name="T7" fmla="*/ 52445139 h 455"/>
                <a:gd name="T8" fmla="*/ 193616298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5" name="Freeform 1022">
              <a:extLst>
                <a:ext uri="{FF2B5EF4-FFF2-40B4-BE49-F238E27FC236}">
                  <a16:creationId xmlns:a16="http://schemas.microsoft.com/office/drawing/2014/main" id="{2DEB5F56-4F04-4A4C-B2A9-7F75D7610902}"/>
                </a:ext>
              </a:extLst>
            </p:cNvPr>
            <p:cNvSpPr>
              <a:spLocks/>
            </p:cNvSpPr>
            <p:nvPr/>
          </p:nvSpPr>
          <p:spPr bwMode="auto">
            <a:xfrm>
              <a:off x="7600188" y="2414528"/>
              <a:ext cx="82770" cy="161243"/>
            </a:xfrm>
            <a:custGeom>
              <a:avLst/>
              <a:gdLst>
                <a:gd name="T0" fmla="*/ 773664160 w 702"/>
                <a:gd name="T1" fmla="*/ 0 h 1893"/>
                <a:gd name="T2" fmla="*/ 0 w 702"/>
                <a:gd name="T3" fmla="*/ 210739916 h 1893"/>
                <a:gd name="T4" fmla="*/ 193416040 w 702"/>
                <a:gd name="T5" fmla="*/ 210739916 h 1893"/>
                <a:gd name="T6" fmla="*/ 967080200 w 702"/>
                <a:gd name="T7" fmla="*/ 52529017 h 1893"/>
                <a:gd name="T8" fmla="*/ 773664160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6" name="Freeform 1023">
              <a:extLst>
                <a:ext uri="{FF2B5EF4-FFF2-40B4-BE49-F238E27FC236}">
                  <a16:creationId xmlns:a16="http://schemas.microsoft.com/office/drawing/2014/main" id="{264AB736-6181-DD49-9CF8-34CDC3C98A87}"/>
                </a:ext>
              </a:extLst>
            </p:cNvPr>
            <p:cNvSpPr>
              <a:spLocks/>
            </p:cNvSpPr>
            <p:nvPr/>
          </p:nvSpPr>
          <p:spPr bwMode="auto">
            <a:xfrm>
              <a:off x="7874205" y="2443344"/>
              <a:ext cx="89197" cy="186122"/>
            </a:xfrm>
            <a:custGeom>
              <a:avLst/>
              <a:gdLst>
                <a:gd name="T0" fmla="*/ 969024527 w 756"/>
                <a:gd name="T1" fmla="*/ 0 h 2184"/>
                <a:gd name="T2" fmla="*/ 193802074 w 756"/>
                <a:gd name="T3" fmla="*/ 263660221 h 2184"/>
                <a:gd name="T4" fmla="*/ 0 w 756"/>
                <a:gd name="T5" fmla="*/ 263660221 h 2184"/>
                <a:gd name="T6" fmla="*/ 775222454 w 756"/>
                <a:gd name="T7" fmla="*/ 52610059 h 2184"/>
                <a:gd name="T8" fmla="*/ 969024527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7" name="Freeform 1024">
              <a:extLst>
                <a:ext uri="{FF2B5EF4-FFF2-40B4-BE49-F238E27FC236}">
                  <a16:creationId xmlns:a16="http://schemas.microsoft.com/office/drawing/2014/main" id="{B30F467B-7CAE-E14D-A3A5-8BE8EC571FCC}"/>
                </a:ext>
              </a:extLst>
            </p:cNvPr>
            <p:cNvSpPr>
              <a:spLocks/>
            </p:cNvSpPr>
            <p:nvPr/>
          </p:nvSpPr>
          <p:spPr bwMode="auto">
            <a:xfrm>
              <a:off x="7599214" y="2567582"/>
              <a:ext cx="327185" cy="62828"/>
            </a:xfrm>
            <a:custGeom>
              <a:avLst/>
              <a:gdLst>
                <a:gd name="T0" fmla="*/ 193829444 w 2773"/>
                <a:gd name="T1" fmla="*/ 0 h 738"/>
                <a:gd name="T2" fmla="*/ 0 w 2773"/>
                <a:gd name="T3" fmla="*/ 52443587 h 738"/>
                <a:gd name="T4" fmla="*/ 2147483646 w 2773"/>
                <a:gd name="T5" fmla="*/ 104894411 h 738"/>
                <a:gd name="T6" fmla="*/ 2147483646 w 2773"/>
                <a:gd name="T7" fmla="*/ 52443587 h 738"/>
                <a:gd name="T8" fmla="*/ 193829444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8" name="Freeform 1025">
              <a:extLst>
                <a:ext uri="{FF2B5EF4-FFF2-40B4-BE49-F238E27FC236}">
                  <a16:creationId xmlns:a16="http://schemas.microsoft.com/office/drawing/2014/main" id="{714DEECF-C2B9-3646-8D8C-520B14AFF2A3}"/>
                </a:ext>
              </a:extLst>
            </p:cNvPr>
            <p:cNvSpPr>
              <a:spLocks/>
            </p:cNvSpPr>
            <p:nvPr/>
          </p:nvSpPr>
          <p:spPr bwMode="auto">
            <a:xfrm>
              <a:off x="7884138" y="2444918"/>
              <a:ext cx="83549" cy="186909"/>
            </a:xfrm>
            <a:custGeom>
              <a:avLst/>
              <a:gdLst>
                <a:gd name="T0" fmla="*/ 2147483646 w 637"/>
                <a:gd name="T1" fmla="*/ 0 h 1659"/>
                <a:gd name="T2" fmla="*/ 2147483646 w 637"/>
                <a:gd name="T3" fmla="*/ 0 h 1659"/>
                <a:gd name="T4" fmla="*/ 295581541 w 637"/>
                <a:gd name="T5" fmla="*/ 2147483646 h 1659"/>
                <a:gd name="T6" fmla="*/ 0 w 637"/>
                <a:gd name="T7" fmla="*/ 2147483646 h 1659"/>
                <a:gd name="T8" fmla="*/ 2147483646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9" name="Freeform 1026">
              <a:extLst>
                <a:ext uri="{FF2B5EF4-FFF2-40B4-BE49-F238E27FC236}">
                  <a16:creationId xmlns:a16="http://schemas.microsoft.com/office/drawing/2014/main" id="{434760BE-7A82-7348-8C26-8BB88B73F057}"/>
                </a:ext>
              </a:extLst>
            </p:cNvPr>
            <p:cNvSpPr>
              <a:spLocks/>
            </p:cNvSpPr>
            <p:nvPr/>
          </p:nvSpPr>
          <p:spPr bwMode="auto">
            <a:xfrm>
              <a:off x="7599603" y="2575928"/>
              <a:ext cx="290961" cy="62041"/>
            </a:xfrm>
            <a:custGeom>
              <a:avLst/>
              <a:gdLst>
                <a:gd name="T0" fmla="*/ 0 w 2216"/>
                <a:gd name="T1" fmla="*/ 0 h 550"/>
                <a:gd name="T2" fmla="*/ 296523134 w 2216"/>
                <a:gd name="T3" fmla="*/ 324379338 h 550"/>
                <a:gd name="T4" fmla="*/ 2147483646 w 2216"/>
                <a:gd name="T5" fmla="*/ 2147483646 h 550"/>
                <a:gd name="T6" fmla="*/ 2147483646 w 2216"/>
                <a:gd name="T7" fmla="*/ 2147483646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260" name="Group 1027">
              <a:extLst>
                <a:ext uri="{FF2B5EF4-FFF2-40B4-BE49-F238E27FC236}">
                  <a16:creationId xmlns:a16="http://schemas.microsoft.com/office/drawing/2014/main" id="{A3D737A2-33B2-B843-993D-3954163D2F8B}"/>
                </a:ext>
              </a:extLst>
            </p:cNvPr>
            <p:cNvGrpSpPr>
              <a:grpSpLocks/>
            </p:cNvGrpSpPr>
            <p:nvPr/>
          </p:nvGrpSpPr>
          <p:grpSpPr bwMode="auto">
            <a:xfrm>
              <a:off x="7594735" y="2642220"/>
              <a:ext cx="98740" cy="36846"/>
              <a:chOff x="1740" y="2642"/>
              <a:chExt cx="752" cy="327"/>
            </a:xfrm>
          </p:grpSpPr>
          <p:sp>
            <p:nvSpPr>
              <p:cNvPr id="267" name="Freeform 1028">
                <a:extLst>
                  <a:ext uri="{FF2B5EF4-FFF2-40B4-BE49-F238E27FC236}">
                    <a16:creationId xmlns:a16="http://schemas.microsoft.com/office/drawing/2014/main" id="{2B8D95DD-AA07-CA46-8938-5982463E0F58}"/>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8" name="Freeform 1029">
                <a:extLst>
                  <a:ext uri="{FF2B5EF4-FFF2-40B4-BE49-F238E27FC236}">
                    <a16:creationId xmlns:a16="http://schemas.microsoft.com/office/drawing/2014/main" id="{F36872DC-490B-E041-B789-63AE7E7ACD2E}"/>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9" name="Freeform 1030">
                <a:extLst>
                  <a:ext uri="{FF2B5EF4-FFF2-40B4-BE49-F238E27FC236}">
                    <a16:creationId xmlns:a16="http://schemas.microsoft.com/office/drawing/2014/main" id="{97C01B49-8BEB-1A42-A62D-556A20AEDCF4}"/>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0" name="Freeform 1031">
                <a:extLst>
                  <a:ext uri="{FF2B5EF4-FFF2-40B4-BE49-F238E27FC236}">
                    <a16:creationId xmlns:a16="http://schemas.microsoft.com/office/drawing/2014/main" id="{FDC4BA15-39D3-CD4E-97DA-6107F8C4DFF2}"/>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1" name="Freeform 1032">
                <a:extLst>
                  <a:ext uri="{FF2B5EF4-FFF2-40B4-BE49-F238E27FC236}">
                    <a16:creationId xmlns:a16="http://schemas.microsoft.com/office/drawing/2014/main" id="{B4ED9D93-7953-574C-B8DB-E31647E53850}"/>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2" name="Freeform 1033">
                <a:extLst>
                  <a:ext uri="{FF2B5EF4-FFF2-40B4-BE49-F238E27FC236}">
                    <a16:creationId xmlns:a16="http://schemas.microsoft.com/office/drawing/2014/main" id="{9040F4DE-59D9-0446-9953-D7CF4E6052CB}"/>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261" name="Freeform 1034">
              <a:extLst>
                <a:ext uri="{FF2B5EF4-FFF2-40B4-BE49-F238E27FC236}">
                  <a16:creationId xmlns:a16="http://schemas.microsoft.com/office/drawing/2014/main" id="{2C7F706E-3A83-E04B-96B6-0DFA0DD19559}"/>
                </a:ext>
              </a:extLst>
            </p:cNvPr>
            <p:cNvSpPr>
              <a:spLocks/>
            </p:cNvSpPr>
            <p:nvPr/>
          </p:nvSpPr>
          <p:spPr bwMode="auto">
            <a:xfrm>
              <a:off x="7763780" y="2647731"/>
              <a:ext cx="119578" cy="80936"/>
            </a:xfrm>
            <a:custGeom>
              <a:avLst/>
              <a:gdLst>
                <a:gd name="T0" fmla="*/ 213221464 w 990"/>
                <a:gd name="T1" fmla="*/ 1090686587 h 792"/>
                <a:gd name="T2" fmla="*/ 1915477586 w 990"/>
                <a:gd name="T3" fmla="*/ 0 h 792"/>
                <a:gd name="T4" fmla="*/ 1915477586 w 990"/>
                <a:gd name="T5" fmla="*/ 108859840 h 792"/>
                <a:gd name="T6" fmla="*/ 0 w 990"/>
                <a:gd name="T7" fmla="*/ 1090686587 h 792"/>
                <a:gd name="T8" fmla="*/ 213221464 w 990"/>
                <a:gd name="T9" fmla="*/ 1090686587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2" name="Freeform 1035">
              <a:extLst>
                <a:ext uri="{FF2B5EF4-FFF2-40B4-BE49-F238E27FC236}">
                  <a16:creationId xmlns:a16="http://schemas.microsoft.com/office/drawing/2014/main" id="{60E14294-2508-FB4A-AE0F-000AF5BCFC85}"/>
                </a:ext>
              </a:extLst>
            </p:cNvPr>
            <p:cNvSpPr>
              <a:spLocks/>
            </p:cNvSpPr>
            <p:nvPr/>
          </p:nvSpPr>
          <p:spPr bwMode="auto">
            <a:xfrm>
              <a:off x="7458602" y="2654187"/>
              <a:ext cx="305957" cy="73850"/>
            </a:xfrm>
            <a:custGeom>
              <a:avLst/>
              <a:gdLst>
                <a:gd name="T0" fmla="*/ 213486572 w 2532"/>
                <a:gd name="T1" fmla="*/ 0 h 723"/>
                <a:gd name="T2" fmla="*/ 213486572 w 2532"/>
                <a:gd name="T3" fmla="*/ 0 h 723"/>
                <a:gd name="T4" fmla="*/ 2147483646 w 2532"/>
                <a:gd name="T5" fmla="*/ 979380008 h 723"/>
                <a:gd name="T6" fmla="*/ 2147483646 w 2532"/>
                <a:gd name="T7" fmla="*/ 1088085165 h 723"/>
                <a:gd name="T8" fmla="*/ 0 w 2532"/>
                <a:gd name="T9" fmla="*/ 108705259 h 723"/>
                <a:gd name="T10" fmla="*/ 213486572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3" name="Freeform 1036">
              <a:extLst>
                <a:ext uri="{FF2B5EF4-FFF2-40B4-BE49-F238E27FC236}">
                  <a16:creationId xmlns:a16="http://schemas.microsoft.com/office/drawing/2014/main" id="{6816A6AE-0883-4D48-8DF3-05A4914E713B}"/>
                </a:ext>
              </a:extLst>
            </p:cNvPr>
            <p:cNvSpPr>
              <a:spLocks/>
            </p:cNvSpPr>
            <p:nvPr/>
          </p:nvSpPr>
          <p:spPr bwMode="auto">
            <a:xfrm>
              <a:off x="7458797" y="2640645"/>
              <a:ext cx="3311" cy="14959"/>
            </a:xfrm>
            <a:custGeom>
              <a:avLst/>
              <a:gdLst>
                <a:gd name="T0" fmla="*/ 262278191 w 26"/>
                <a:gd name="T1" fmla="*/ 107489981 h 147"/>
                <a:gd name="T2" fmla="*/ 262278191 w 26"/>
                <a:gd name="T3" fmla="*/ 214969480 h 147"/>
                <a:gd name="T4" fmla="*/ 0 w 26"/>
                <a:gd name="T5" fmla="*/ 214969480 h 147"/>
                <a:gd name="T6" fmla="*/ 262278191 w 26"/>
                <a:gd name="T7" fmla="*/ 0 h 147"/>
                <a:gd name="T8" fmla="*/ 262278191 w 26"/>
                <a:gd name="T9" fmla="*/ 10748998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4" name="Freeform 1037">
              <a:extLst>
                <a:ext uri="{FF2B5EF4-FFF2-40B4-BE49-F238E27FC236}">
                  <a16:creationId xmlns:a16="http://schemas.microsoft.com/office/drawing/2014/main" id="{0C4F2B5B-D9EF-F242-A282-CB6CB4D90EE9}"/>
                </a:ext>
              </a:extLst>
            </p:cNvPr>
            <p:cNvSpPr>
              <a:spLocks/>
            </p:cNvSpPr>
            <p:nvPr/>
          </p:nvSpPr>
          <p:spPr bwMode="auto">
            <a:xfrm>
              <a:off x="7458992" y="2579707"/>
              <a:ext cx="142170" cy="61883"/>
            </a:xfrm>
            <a:custGeom>
              <a:avLst/>
              <a:gdLst>
                <a:gd name="T0" fmla="*/ 2136125890 w 1176"/>
                <a:gd name="T1" fmla="*/ 0 h 606"/>
                <a:gd name="T2" fmla="*/ 0 w 1176"/>
                <a:gd name="T3" fmla="*/ 870000945 h 606"/>
                <a:gd name="T4" fmla="*/ 213789467 w 1176"/>
                <a:gd name="T5" fmla="*/ 870000945 h 606"/>
                <a:gd name="T6" fmla="*/ 2136125890 w 1176"/>
                <a:gd name="T7" fmla="*/ 108617123 h 606"/>
                <a:gd name="T8" fmla="*/ 2136125890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5" name="Freeform 1038">
              <a:extLst>
                <a:ext uri="{FF2B5EF4-FFF2-40B4-BE49-F238E27FC236}">
                  <a16:creationId xmlns:a16="http://schemas.microsoft.com/office/drawing/2014/main" id="{CA94116C-A643-F041-BE08-F16F1FF3EF9E}"/>
                </a:ext>
              </a:extLst>
            </p:cNvPr>
            <p:cNvSpPr>
              <a:spLocks/>
            </p:cNvSpPr>
            <p:nvPr/>
          </p:nvSpPr>
          <p:spPr bwMode="auto">
            <a:xfrm>
              <a:off x="7468535" y="2643795"/>
              <a:ext cx="290182" cy="71016"/>
            </a:xfrm>
            <a:custGeom>
              <a:avLst/>
              <a:gdLst>
                <a:gd name="T0" fmla="*/ 173112702 w 2532"/>
                <a:gd name="T1" fmla="*/ 0 h 723"/>
                <a:gd name="T2" fmla="*/ 173112702 w 2532"/>
                <a:gd name="T3" fmla="*/ 0 h 723"/>
                <a:gd name="T4" fmla="*/ 2069773885 w 2532"/>
                <a:gd name="T5" fmla="*/ 558173482 h 723"/>
                <a:gd name="T6" fmla="*/ 2069773885 w 2532"/>
                <a:gd name="T7" fmla="*/ 558173482 h 723"/>
                <a:gd name="T8" fmla="*/ 0 w 2532"/>
                <a:gd name="T9" fmla="*/ 92871346 h 723"/>
                <a:gd name="T10" fmla="*/ 173112702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6" name="Freeform 1039">
              <a:extLst>
                <a:ext uri="{FF2B5EF4-FFF2-40B4-BE49-F238E27FC236}">
                  <a16:creationId xmlns:a16="http://schemas.microsoft.com/office/drawing/2014/main" id="{EBBEB869-CEFF-3B4D-8790-DF10B6E9EDC0}"/>
                </a:ext>
              </a:extLst>
            </p:cNvPr>
            <p:cNvSpPr>
              <a:spLocks/>
            </p:cNvSpPr>
            <p:nvPr/>
          </p:nvSpPr>
          <p:spPr bwMode="auto">
            <a:xfrm flipV="1">
              <a:off x="7758327" y="2638756"/>
              <a:ext cx="118410" cy="73535"/>
            </a:xfrm>
            <a:custGeom>
              <a:avLst/>
              <a:gdLst>
                <a:gd name="T0" fmla="*/ 0 w 2532"/>
                <a:gd name="T1" fmla="*/ 0 h 723"/>
                <a:gd name="T2" fmla="*/ 0 w 2532"/>
                <a:gd name="T3" fmla="*/ 0 h 723"/>
                <a:gd name="T4" fmla="*/ 0 w 2532"/>
                <a:gd name="T5" fmla="*/ 962694895 h 723"/>
                <a:gd name="T6" fmla="*/ 0 w 2532"/>
                <a:gd name="T7" fmla="*/ 962694895 h 723"/>
                <a:gd name="T8" fmla="*/ 0 w 2532"/>
                <a:gd name="T9" fmla="*/ 107314314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273" name="Group 272">
            <a:extLst>
              <a:ext uri="{FF2B5EF4-FFF2-40B4-BE49-F238E27FC236}">
                <a16:creationId xmlns:a16="http://schemas.microsoft.com/office/drawing/2014/main" id="{7BE84195-0460-B24A-9BFA-64009B70F0D4}"/>
              </a:ext>
            </a:extLst>
          </p:cNvPr>
          <p:cNvGrpSpPr/>
          <p:nvPr/>
        </p:nvGrpSpPr>
        <p:grpSpPr>
          <a:xfrm>
            <a:off x="8637781" y="2319727"/>
            <a:ext cx="530702" cy="478009"/>
            <a:chOff x="8631407" y="2290407"/>
            <a:chExt cx="530702" cy="478009"/>
          </a:xfrm>
        </p:grpSpPr>
        <p:pic>
          <p:nvPicPr>
            <p:cNvPr id="274" name="Picture 568" descr="light2.png">
              <a:extLst>
                <a:ext uri="{FF2B5EF4-FFF2-40B4-BE49-F238E27FC236}">
                  <a16:creationId xmlns:a16="http://schemas.microsoft.com/office/drawing/2014/main" id="{9C2ABCA4-2AB6-604A-BAF1-3DCCB40F3CF6}"/>
                </a:ext>
              </a:extLst>
            </p:cNvPr>
            <p:cNvPicPr>
              <a:picLocks noChangeAspect="1"/>
            </p:cNvPicPr>
            <p:nvPr/>
          </p:nvPicPr>
          <p:blipFill>
            <a:blip r:embed="rId10">
              <a:extLst>
                <a:ext uri="{28A0092B-C50C-407E-A947-70E740481C1C}">
                  <a14:useLocalDpi xmlns:a14="http://schemas.microsoft.com/office/drawing/2010/main" val="0"/>
                </a:ext>
              </a:extLst>
            </a:blip>
            <a:srcRect/>
            <a:stretch>
              <a:fillRect/>
            </a:stretch>
          </p:blipFill>
          <p:spPr bwMode="auto">
            <a:xfrm flipH="1">
              <a:off x="8825293" y="2362969"/>
              <a:ext cx="92772" cy="405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5" name="Picture 1017" descr="antenna_stylized">
              <a:extLst>
                <a:ext uri="{FF2B5EF4-FFF2-40B4-BE49-F238E27FC236}">
                  <a16:creationId xmlns:a16="http://schemas.microsoft.com/office/drawing/2014/main" id="{650AA1D1-0ECD-3E4A-81DB-CC97A96B57C7}"/>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631407" y="2290407"/>
              <a:ext cx="530702" cy="223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76" name="Group 275">
            <a:extLst>
              <a:ext uri="{FF2B5EF4-FFF2-40B4-BE49-F238E27FC236}">
                <a16:creationId xmlns:a16="http://schemas.microsoft.com/office/drawing/2014/main" id="{EFF79B51-BA03-584F-A0CE-2E5C3CDBD9C8}"/>
              </a:ext>
            </a:extLst>
          </p:cNvPr>
          <p:cNvGrpSpPr/>
          <p:nvPr/>
        </p:nvGrpSpPr>
        <p:grpSpPr>
          <a:xfrm>
            <a:off x="8499539" y="2059124"/>
            <a:ext cx="849312" cy="226109"/>
            <a:chOff x="8493165" y="2029804"/>
            <a:chExt cx="849312" cy="226109"/>
          </a:xfrm>
        </p:grpSpPr>
        <p:pic>
          <p:nvPicPr>
            <p:cNvPr id="277" name="Picture 603" descr="car_icon_small">
              <a:extLst>
                <a:ext uri="{FF2B5EF4-FFF2-40B4-BE49-F238E27FC236}">
                  <a16:creationId xmlns:a16="http://schemas.microsoft.com/office/drawing/2014/main" id="{A16178BF-CE10-DF42-8C1F-E2AAFB94BBE9}"/>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493165" y="2087638"/>
              <a:ext cx="849312"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8" name="Picture 1017" descr="antenna_stylized">
              <a:extLst>
                <a:ext uri="{FF2B5EF4-FFF2-40B4-BE49-F238E27FC236}">
                  <a16:creationId xmlns:a16="http://schemas.microsoft.com/office/drawing/2014/main" id="{BF73CD36-5E1A-D143-A3EA-8721982417DE}"/>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704645" y="2029804"/>
              <a:ext cx="530702" cy="223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79" name="Group 278">
            <a:extLst>
              <a:ext uri="{FF2B5EF4-FFF2-40B4-BE49-F238E27FC236}">
                <a16:creationId xmlns:a16="http://schemas.microsoft.com/office/drawing/2014/main" id="{053CF7AA-EEE7-E849-8975-45A554C35F5B}"/>
              </a:ext>
            </a:extLst>
          </p:cNvPr>
          <p:cNvGrpSpPr/>
          <p:nvPr/>
        </p:nvGrpSpPr>
        <p:grpSpPr>
          <a:xfrm>
            <a:off x="7493518" y="3325424"/>
            <a:ext cx="857739" cy="583764"/>
            <a:chOff x="7487144" y="3296104"/>
            <a:chExt cx="857739" cy="583764"/>
          </a:xfrm>
        </p:grpSpPr>
        <p:grpSp>
          <p:nvGrpSpPr>
            <p:cNvPr id="280" name="Group 279">
              <a:extLst>
                <a:ext uri="{FF2B5EF4-FFF2-40B4-BE49-F238E27FC236}">
                  <a16:creationId xmlns:a16="http://schemas.microsoft.com/office/drawing/2014/main" id="{90508AE9-865D-844C-B2E1-CAED9E70CF88}"/>
                </a:ext>
              </a:extLst>
            </p:cNvPr>
            <p:cNvGrpSpPr/>
            <p:nvPr/>
          </p:nvGrpSpPr>
          <p:grpSpPr>
            <a:xfrm>
              <a:off x="7487144" y="3389820"/>
              <a:ext cx="350807" cy="305517"/>
              <a:chOff x="7487144" y="3389820"/>
              <a:chExt cx="350807" cy="305517"/>
            </a:xfrm>
          </p:grpSpPr>
          <p:pic>
            <p:nvPicPr>
              <p:cNvPr id="287" name="Picture 1115" descr="antenna_stylized">
                <a:extLst>
                  <a:ext uri="{FF2B5EF4-FFF2-40B4-BE49-F238E27FC236}">
                    <a16:creationId xmlns:a16="http://schemas.microsoft.com/office/drawing/2014/main" id="{AD910864-C9F4-C94B-9B97-60E50CF30ACE}"/>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487144" y="3389820"/>
                <a:ext cx="347997" cy="167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8" name="Picture 1116" descr="laptop_keyboard">
                <a:extLst>
                  <a:ext uri="{FF2B5EF4-FFF2-40B4-BE49-F238E27FC236}">
                    <a16:creationId xmlns:a16="http://schemas.microsoft.com/office/drawing/2014/main" id="{89C482D5-7199-3040-A39E-C983C7E76CD5}"/>
                  </a:ext>
                </a:extLst>
              </p:cNvPr>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rot="109064" flipH="1">
                <a:off x="7504001" y="3575889"/>
                <a:ext cx="286699" cy="119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9" name="Freeform 1117">
                <a:extLst>
                  <a:ext uri="{FF2B5EF4-FFF2-40B4-BE49-F238E27FC236}">
                    <a16:creationId xmlns:a16="http://schemas.microsoft.com/office/drawing/2014/main" id="{0D17FA05-6DB9-CE4E-8353-3DB3EF64CEF2}"/>
                  </a:ext>
                </a:extLst>
              </p:cNvPr>
              <p:cNvSpPr>
                <a:spLocks/>
              </p:cNvSpPr>
              <p:nvPr/>
            </p:nvSpPr>
            <p:spPr bwMode="auto">
              <a:xfrm>
                <a:off x="7599014" y="3459979"/>
                <a:ext cx="230764" cy="155883"/>
              </a:xfrm>
              <a:custGeom>
                <a:avLst/>
                <a:gdLst>
                  <a:gd name="T0" fmla="*/ 143665061 w 2982"/>
                  <a:gd name="T1" fmla="*/ 0 h 2442"/>
                  <a:gd name="T2" fmla="*/ 0 w 2982"/>
                  <a:gd name="T3" fmla="*/ 66329557 h 2442"/>
                  <a:gd name="T4" fmla="*/ 573719931 w 2982"/>
                  <a:gd name="T5" fmla="*/ 82975142 h 2442"/>
                  <a:gd name="T6" fmla="*/ 717384993 w 2982"/>
                  <a:gd name="T7" fmla="*/ 16645585 h 2442"/>
                  <a:gd name="T8" fmla="*/ 143665061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90" name="Picture 1118" descr="screen">
                <a:extLst>
                  <a:ext uri="{FF2B5EF4-FFF2-40B4-BE49-F238E27FC236}">
                    <a16:creationId xmlns:a16="http://schemas.microsoft.com/office/drawing/2014/main" id="{4A4B2A13-447B-ED4B-A13F-5489BEAC9BE3}"/>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610380" y="3463988"/>
                <a:ext cx="209692" cy="141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1" name="Freeform 1119">
                <a:extLst>
                  <a:ext uri="{FF2B5EF4-FFF2-40B4-BE49-F238E27FC236}">
                    <a16:creationId xmlns:a16="http://schemas.microsoft.com/office/drawing/2014/main" id="{02BC84AC-7149-BD45-BC93-E0DD4ADF91EE}"/>
                  </a:ext>
                </a:extLst>
              </p:cNvPr>
              <p:cNvSpPr>
                <a:spLocks/>
              </p:cNvSpPr>
              <p:nvPr/>
            </p:nvSpPr>
            <p:spPr bwMode="auto">
              <a:xfrm>
                <a:off x="7641029" y="3455381"/>
                <a:ext cx="195517" cy="29007"/>
              </a:xfrm>
              <a:custGeom>
                <a:avLst/>
                <a:gdLst>
                  <a:gd name="T0" fmla="*/ 35620212 w 2528"/>
                  <a:gd name="T1" fmla="*/ 0 h 455"/>
                  <a:gd name="T2" fmla="*/ 608343257 w 2528"/>
                  <a:gd name="T3" fmla="*/ 16582250 h 455"/>
                  <a:gd name="T4" fmla="*/ 572256449 w 2528"/>
                  <a:gd name="T5" fmla="*/ 16582250 h 455"/>
                  <a:gd name="T6" fmla="*/ 0 w 2528"/>
                  <a:gd name="T7" fmla="*/ 16582250 h 455"/>
                  <a:gd name="T8" fmla="*/ 35620212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2" name="Freeform 1120">
                <a:extLst>
                  <a:ext uri="{FF2B5EF4-FFF2-40B4-BE49-F238E27FC236}">
                    <a16:creationId xmlns:a16="http://schemas.microsoft.com/office/drawing/2014/main" id="{43377E2E-A43C-E048-A432-F337E7B5EE63}"/>
                  </a:ext>
                </a:extLst>
              </p:cNvPr>
              <p:cNvSpPr>
                <a:spLocks/>
              </p:cNvSpPr>
              <p:nvPr/>
            </p:nvSpPr>
            <p:spPr bwMode="auto">
              <a:xfrm>
                <a:off x="7596971" y="3455145"/>
                <a:ext cx="54275" cy="120745"/>
              </a:xfrm>
              <a:custGeom>
                <a:avLst/>
                <a:gdLst>
                  <a:gd name="T0" fmla="*/ 142804406 w 702"/>
                  <a:gd name="T1" fmla="*/ 0 h 1893"/>
                  <a:gd name="T2" fmla="*/ 0 w 702"/>
                  <a:gd name="T3" fmla="*/ 66174575 h 1893"/>
                  <a:gd name="T4" fmla="*/ 35584530 w 702"/>
                  <a:gd name="T5" fmla="*/ 66174575 h 1893"/>
                  <a:gd name="T6" fmla="*/ 178855222 w 702"/>
                  <a:gd name="T7" fmla="*/ 16607700 h 1893"/>
                  <a:gd name="T8" fmla="*/ 142804406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3" name="Freeform 1121">
                <a:extLst>
                  <a:ext uri="{FF2B5EF4-FFF2-40B4-BE49-F238E27FC236}">
                    <a16:creationId xmlns:a16="http://schemas.microsoft.com/office/drawing/2014/main" id="{268349DA-55F4-ED45-92D9-0389907B3CA7}"/>
                  </a:ext>
                </a:extLst>
              </p:cNvPr>
              <p:cNvSpPr>
                <a:spLocks/>
              </p:cNvSpPr>
              <p:nvPr/>
            </p:nvSpPr>
            <p:spPr bwMode="auto">
              <a:xfrm>
                <a:off x="7776652" y="3476723"/>
                <a:ext cx="58489" cy="139375"/>
              </a:xfrm>
              <a:custGeom>
                <a:avLst/>
                <a:gdLst>
                  <a:gd name="T0" fmla="*/ 179213623 w 756"/>
                  <a:gd name="T1" fmla="*/ 0 h 2184"/>
                  <a:gd name="T2" fmla="*/ 35656008 w 756"/>
                  <a:gd name="T3" fmla="*/ 82904513 h 2184"/>
                  <a:gd name="T4" fmla="*/ 0 w 756"/>
                  <a:gd name="T5" fmla="*/ 82904513 h 2184"/>
                  <a:gd name="T6" fmla="*/ 143090785 w 756"/>
                  <a:gd name="T7" fmla="*/ 16632211 h 2184"/>
                  <a:gd name="T8" fmla="*/ 179213623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4" name="Freeform 1122">
                <a:extLst>
                  <a:ext uri="{FF2B5EF4-FFF2-40B4-BE49-F238E27FC236}">
                    <a16:creationId xmlns:a16="http://schemas.microsoft.com/office/drawing/2014/main" id="{EB4B31C8-34A6-6D47-B6E1-260958CFBD6F}"/>
                  </a:ext>
                </a:extLst>
              </p:cNvPr>
              <p:cNvSpPr>
                <a:spLocks/>
              </p:cNvSpPr>
              <p:nvPr/>
            </p:nvSpPr>
            <p:spPr bwMode="auto">
              <a:xfrm>
                <a:off x="7596332" y="3569758"/>
                <a:ext cx="214545" cy="47048"/>
              </a:xfrm>
              <a:custGeom>
                <a:avLst/>
                <a:gdLst>
                  <a:gd name="T0" fmla="*/ 35658648 w 2773"/>
                  <a:gd name="T1" fmla="*/ 0 h 738"/>
                  <a:gd name="T2" fmla="*/ 0 w 2773"/>
                  <a:gd name="T3" fmla="*/ 16581742 h 738"/>
                  <a:gd name="T4" fmla="*/ 573357470 w 2773"/>
                  <a:gd name="T5" fmla="*/ 33163485 h 738"/>
                  <a:gd name="T6" fmla="*/ 573357470 w 2773"/>
                  <a:gd name="T7" fmla="*/ 16581742 h 738"/>
                  <a:gd name="T8" fmla="*/ 35658648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5" name="Freeform 1123">
                <a:extLst>
                  <a:ext uri="{FF2B5EF4-FFF2-40B4-BE49-F238E27FC236}">
                    <a16:creationId xmlns:a16="http://schemas.microsoft.com/office/drawing/2014/main" id="{91DE791A-C87B-7849-8B6A-CB3B398F112D}"/>
                  </a:ext>
                </a:extLst>
              </p:cNvPr>
              <p:cNvSpPr>
                <a:spLocks/>
              </p:cNvSpPr>
              <p:nvPr/>
            </p:nvSpPr>
            <p:spPr bwMode="auto">
              <a:xfrm>
                <a:off x="7783165" y="3477902"/>
                <a:ext cx="54786" cy="139965"/>
              </a:xfrm>
              <a:custGeom>
                <a:avLst/>
                <a:gdLst>
                  <a:gd name="T0" fmla="*/ 656550006 w 637"/>
                  <a:gd name="T1" fmla="*/ 0 h 1659"/>
                  <a:gd name="T2" fmla="*/ 656550006 w 637"/>
                  <a:gd name="T3" fmla="*/ 0 h 1659"/>
                  <a:gd name="T4" fmla="*/ 54716163 w 637"/>
                  <a:gd name="T5" fmla="*/ 2147483646 h 1659"/>
                  <a:gd name="T6" fmla="*/ 0 w 637"/>
                  <a:gd name="T7" fmla="*/ 2147483646 h 1659"/>
                  <a:gd name="T8" fmla="*/ 656550006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6" name="Freeform 1124">
                <a:extLst>
                  <a:ext uri="{FF2B5EF4-FFF2-40B4-BE49-F238E27FC236}">
                    <a16:creationId xmlns:a16="http://schemas.microsoft.com/office/drawing/2014/main" id="{A02AA6E2-5FD6-D14F-9923-83771333B1DB}"/>
                  </a:ext>
                </a:extLst>
              </p:cNvPr>
              <p:cNvSpPr>
                <a:spLocks/>
              </p:cNvSpPr>
              <p:nvPr/>
            </p:nvSpPr>
            <p:spPr bwMode="auto">
              <a:xfrm>
                <a:off x="7596588" y="3576007"/>
                <a:ext cx="190792" cy="46458"/>
              </a:xfrm>
              <a:custGeom>
                <a:avLst/>
                <a:gdLst>
                  <a:gd name="T0" fmla="*/ 0 w 2216"/>
                  <a:gd name="T1" fmla="*/ 0 h 550"/>
                  <a:gd name="T2" fmla="*/ 54884212 w 2216"/>
                  <a:gd name="T3" fmla="*/ 101852492 h 550"/>
                  <a:gd name="T4" fmla="*/ 2147483646 w 2216"/>
                  <a:gd name="T5" fmla="*/ 1017940055 h 550"/>
                  <a:gd name="T6" fmla="*/ 2147483646 w 2216"/>
                  <a:gd name="T7" fmla="*/ 865464562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297" name="Group 1125">
                <a:extLst>
                  <a:ext uri="{FF2B5EF4-FFF2-40B4-BE49-F238E27FC236}">
                    <a16:creationId xmlns:a16="http://schemas.microsoft.com/office/drawing/2014/main" id="{7117A071-F66A-A547-B2A3-FDEC23474639}"/>
                  </a:ext>
                </a:extLst>
              </p:cNvPr>
              <p:cNvGrpSpPr>
                <a:grpSpLocks/>
              </p:cNvGrpSpPr>
              <p:nvPr/>
            </p:nvGrpSpPr>
            <p:grpSpPr bwMode="auto">
              <a:xfrm>
                <a:off x="7593395" y="3625649"/>
                <a:ext cx="64747" cy="27592"/>
                <a:chOff x="1740" y="2642"/>
                <a:chExt cx="752" cy="327"/>
              </a:xfrm>
            </p:grpSpPr>
            <p:sp>
              <p:nvSpPr>
                <p:cNvPr id="304" name="Freeform 1126">
                  <a:extLst>
                    <a:ext uri="{FF2B5EF4-FFF2-40B4-BE49-F238E27FC236}">
                      <a16:creationId xmlns:a16="http://schemas.microsoft.com/office/drawing/2014/main" id="{C6A05ABF-09D5-204F-A863-798CDA488ABE}"/>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5" name="Freeform 1127">
                  <a:extLst>
                    <a:ext uri="{FF2B5EF4-FFF2-40B4-BE49-F238E27FC236}">
                      <a16:creationId xmlns:a16="http://schemas.microsoft.com/office/drawing/2014/main" id="{5CAC6B94-A95D-C842-8436-C6DF872191F5}"/>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6" name="Freeform 1128">
                  <a:extLst>
                    <a:ext uri="{FF2B5EF4-FFF2-40B4-BE49-F238E27FC236}">
                      <a16:creationId xmlns:a16="http://schemas.microsoft.com/office/drawing/2014/main" id="{A944E62C-7CE5-5840-927D-ABB2F8B5C22E}"/>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7" name="Freeform 1129">
                  <a:extLst>
                    <a:ext uri="{FF2B5EF4-FFF2-40B4-BE49-F238E27FC236}">
                      <a16:creationId xmlns:a16="http://schemas.microsoft.com/office/drawing/2014/main" id="{5E333F33-6B42-F449-BD09-5F8DBBA551CF}"/>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8" name="Freeform 1130">
                  <a:extLst>
                    <a:ext uri="{FF2B5EF4-FFF2-40B4-BE49-F238E27FC236}">
                      <a16:creationId xmlns:a16="http://schemas.microsoft.com/office/drawing/2014/main" id="{A3DB0786-C2BD-4E43-9012-01938AED5F19}"/>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9" name="Freeform 1131">
                  <a:extLst>
                    <a:ext uri="{FF2B5EF4-FFF2-40B4-BE49-F238E27FC236}">
                      <a16:creationId xmlns:a16="http://schemas.microsoft.com/office/drawing/2014/main" id="{36DD7204-13F9-8C4B-ADCB-9CEF387EE715}"/>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298" name="Freeform 1132">
                <a:extLst>
                  <a:ext uri="{FF2B5EF4-FFF2-40B4-BE49-F238E27FC236}">
                    <a16:creationId xmlns:a16="http://schemas.microsoft.com/office/drawing/2014/main" id="{8DD637FC-2617-F14C-8226-2FC83A2DC1C3}"/>
                  </a:ext>
                </a:extLst>
              </p:cNvPr>
              <p:cNvSpPr>
                <a:spLocks/>
              </p:cNvSpPr>
              <p:nvPr/>
            </p:nvSpPr>
            <p:spPr bwMode="auto">
              <a:xfrm>
                <a:off x="7704243" y="3629776"/>
                <a:ext cx="78411" cy="60608"/>
              </a:xfrm>
              <a:custGeom>
                <a:avLst/>
                <a:gdLst>
                  <a:gd name="T0" fmla="*/ 39250883 w 990"/>
                  <a:gd name="T1" fmla="*/ 342828616 h 792"/>
                  <a:gd name="T2" fmla="*/ 354255671 w 990"/>
                  <a:gd name="T3" fmla="*/ 0 h 792"/>
                  <a:gd name="T4" fmla="*/ 354255671 w 990"/>
                  <a:gd name="T5" fmla="*/ 34504242 h 792"/>
                  <a:gd name="T6" fmla="*/ 0 w 990"/>
                  <a:gd name="T7" fmla="*/ 342828616 h 792"/>
                  <a:gd name="T8" fmla="*/ 39250883 w 990"/>
                  <a:gd name="T9" fmla="*/ 342828616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9" name="Freeform 1133">
                <a:extLst>
                  <a:ext uri="{FF2B5EF4-FFF2-40B4-BE49-F238E27FC236}">
                    <a16:creationId xmlns:a16="http://schemas.microsoft.com/office/drawing/2014/main" id="{DD3D6FA8-3859-DC44-8888-8CB70CFB17F5}"/>
                  </a:ext>
                </a:extLst>
              </p:cNvPr>
              <p:cNvSpPr>
                <a:spLocks/>
              </p:cNvSpPr>
              <p:nvPr/>
            </p:nvSpPr>
            <p:spPr bwMode="auto">
              <a:xfrm>
                <a:off x="7504129" y="3634611"/>
                <a:ext cx="200625" cy="55302"/>
              </a:xfrm>
              <a:custGeom>
                <a:avLst/>
                <a:gdLst>
                  <a:gd name="T0" fmla="*/ 39302216 w 2532"/>
                  <a:gd name="T1" fmla="*/ 0 h 723"/>
                  <a:gd name="T2" fmla="*/ 39302216 w 2532"/>
                  <a:gd name="T3" fmla="*/ 0 h 723"/>
                  <a:gd name="T4" fmla="*/ 867084690 w 2532"/>
                  <a:gd name="T5" fmla="*/ 307891170 h 723"/>
                  <a:gd name="T6" fmla="*/ 867084690 w 2532"/>
                  <a:gd name="T7" fmla="*/ 342351506 h 723"/>
                  <a:gd name="T8" fmla="*/ 0 w 2532"/>
                  <a:gd name="T9" fmla="*/ 34009889 h 723"/>
                  <a:gd name="T10" fmla="*/ 39302216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0" name="Freeform 1134">
                <a:extLst>
                  <a:ext uri="{FF2B5EF4-FFF2-40B4-BE49-F238E27FC236}">
                    <a16:creationId xmlns:a16="http://schemas.microsoft.com/office/drawing/2014/main" id="{C236FB39-37F7-B848-9AD5-F22CFFE062B2}"/>
                  </a:ext>
                </a:extLst>
              </p:cNvPr>
              <p:cNvSpPr>
                <a:spLocks/>
              </p:cNvSpPr>
              <p:nvPr/>
            </p:nvSpPr>
            <p:spPr bwMode="auto">
              <a:xfrm>
                <a:off x="7504257" y="3624470"/>
                <a:ext cx="2171" cy="11202"/>
              </a:xfrm>
              <a:custGeom>
                <a:avLst/>
                <a:gdLst>
                  <a:gd name="T0" fmla="*/ 48903362 w 26"/>
                  <a:gd name="T1" fmla="*/ 33634500 h 147"/>
                  <a:gd name="T2" fmla="*/ 48903362 w 26"/>
                  <a:gd name="T3" fmla="*/ 67263209 h 147"/>
                  <a:gd name="T4" fmla="*/ 0 w 26"/>
                  <a:gd name="T5" fmla="*/ 67263209 h 147"/>
                  <a:gd name="T6" fmla="*/ 48903362 w 26"/>
                  <a:gd name="T7" fmla="*/ 0 h 147"/>
                  <a:gd name="T8" fmla="*/ 48903362 w 26"/>
                  <a:gd name="T9" fmla="*/ 33634500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1" name="Freeform 1135">
                <a:extLst>
                  <a:ext uri="{FF2B5EF4-FFF2-40B4-BE49-F238E27FC236}">
                    <a16:creationId xmlns:a16="http://schemas.microsoft.com/office/drawing/2014/main" id="{0FC27225-99A5-B741-A309-ECBEFBCA7E27}"/>
                  </a:ext>
                </a:extLst>
              </p:cNvPr>
              <p:cNvSpPr>
                <a:spLocks/>
              </p:cNvSpPr>
              <p:nvPr/>
            </p:nvSpPr>
            <p:spPr bwMode="auto">
              <a:xfrm>
                <a:off x="7504384" y="3578837"/>
                <a:ext cx="93225" cy="46340"/>
              </a:xfrm>
              <a:custGeom>
                <a:avLst/>
                <a:gdLst>
                  <a:gd name="T0" fmla="*/ 395043791 w 1176"/>
                  <a:gd name="T1" fmla="*/ 0 h 606"/>
                  <a:gd name="T2" fmla="*/ 0 w 1176"/>
                  <a:gd name="T3" fmla="*/ 273654982 h 606"/>
                  <a:gd name="T4" fmla="*/ 39357994 w 1176"/>
                  <a:gd name="T5" fmla="*/ 273654982 h 606"/>
                  <a:gd name="T6" fmla="*/ 395043791 w 1176"/>
                  <a:gd name="T7" fmla="*/ 33985420 h 606"/>
                  <a:gd name="T8" fmla="*/ 395043791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2" name="Freeform 1136">
                <a:extLst>
                  <a:ext uri="{FF2B5EF4-FFF2-40B4-BE49-F238E27FC236}">
                    <a16:creationId xmlns:a16="http://schemas.microsoft.com/office/drawing/2014/main" id="{E2FC0D41-6288-E741-A785-A83E6CED2AEA}"/>
                  </a:ext>
                </a:extLst>
              </p:cNvPr>
              <p:cNvSpPr>
                <a:spLocks/>
              </p:cNvSpPr>
              <p:nvPr/>
            </p:nvSpPr>
            <p:spPr bwMode="auto">
              <a:xfrm>
                <a:off x="7510642" y="3626829"/>
                <a:ext cx="190281" cy="53180"/>
              </a:xfrm>
              <a:custGeom>
                <a:avLst/>
                <a:gdLst>
                  <a:gd name="T0" fmla="*/ 31829833 w 2532"/>
                  <a:gd name="T1" fmla="*/ 0 h 723"/>
                  <a:gd name="T2" fmla="*/ 31829833 w 2532"/>
                  <a:gd name="T3" fmla="*/ 0 h 723"/>
                  <a:gd name="T4" fmla="*/ 382827787 w 2532"/>
                  <a:gd name="T5" fmla="*/ 175498781 h 723"/>
                  <a:gd name="T6" fmla="*/ 382827787 w 2532"/>
                  <a:gd name="T7" fmla="*/ 175498781 h 723"/>
                  <a:gd name="T8" fmla="*/ 0 w 2532"/>
                  <a:gd name="T9" fmla="*/ 29448186 h 723"/>
                  <a:gd name="T10" fmla="*/ 31829833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3" name="Freeform 1137">
                <a:extLst>
                  <a:ext uri="{FF2B5EF4-FFF2-40B4-BE49-F238E27FC236}">
                    <a16:creationId xmlns:a16="http://schemas.microsoft.com/office/drawing/2014/main" id="{CA6DB5BC-B521-B849-B156-91FAF531CEC8}"/>
                  </a:ext>
                </a:extLst>
              </p:cNvPr>
              <p:cNvSpPr>
                <a:spLocks/>
              </p:cNvSpPr>
              <p:nvPr/>
            </p:nvSpPr>
            <p:spPr bwMode="auto">
              <a:xfrm flipV="1">
                <a:off x="7700668" y="3623055"/>
                <a:ext cx="77645" cy="55066"/>
              </a:xfrm>
              <a:custGeom>
                <a:avLst/>
                <a:gdLst>
                  <a:gd name="T0" fmla="*/ 0 w 2532"/>
                  <a:gd name="T1" fmla="*/ 0 h 723"/>
                  <a:gd name="T2" fmla="*/ 0 w 2532"/>
                  <a:gd name="T3" fmla="*/ 0 h 723"/>
                  <a:gd name="T4" fmla="*/ 0 w 2532"/>
                  <a:gd name="T5" fmla="*/ 302641137 h 723"/>
                  <a:gd name="T6" fmla="*/ 0 w 2532"/>
                  <a:gd name="T7" fmla="*/ 302641137 h 723"/>
                  <a:gd name="T8" fmla="*/ 0 w 2532"/>
                  <a:gd name="T9" fmla="*/ 33575256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281" name="Group 1139">
              <a:extLst>
                <a:ext uri="{FF2B5EF4-FFF2-40B4-BE49-F238E27FC236}">
                  <a16:creationId xmlns:a16="http://schemas.microsoft.com/office/drawing/2014/main" id="{88F41A8A-CF3F-494E-9A2F-B26D7CA16434}"/>
                </a:ext>
              </a:extLst>
            </p:cNvPr>
            <p:cNvGrpSpPr>
              <a:grpSpLocks/>
            </p:cNvGrpSpPr>
            <p:nvPr/>
          </p:nvGrpSpPr>
          <p:grpSpPr bwMode="auto">
            <a:xfrm flipH="1">
              <a:off x="7985622" y="3537823"/>
              <a:ext cx="359261" cy="342045"/>
              <a:chOff x="2839" y="3501"/>
              <a:chExt cx="755" cy="803"/>
            </a:xfrm>
          </p:grpSpPr>
          <p:pic>
            <p:nvPicPr>
              <p:cNvPr id="285" name="Picture 1140" descr="desktop_computer_stylized_medium">
                <a:extLst>
                  <a:ext uri="{FF2B5EF4-FFF2-40B4-BE49-F238E27FC236}">
                    <a16:creationId xmlns:a16="http://schemas.microsoft.com/office/drawing/2014/main" id="{DF6CF23B-627F-354F-9A8F-4AC37674F07C}"/>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 name="Freeform 1141">
                <a:extLst>
                  <a:ext uri="{FF2B5EF4-FFF2-40B4-BE49-F238E27FC236}">
                    <a16:creationId xmlns:a16="http://schemas.microsoft.com/office/drawing/2014/main" id="{5B53917A-96FB-2B49-82B9-6BB3BB16C4AF}"/>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282" name="Group 281">
              <a:extLst>
                <a:ext uri="{FF2B5EF4-FFF2-40B4-BE49-F238E27FC236}">
                  <a16:creationId xmlns:a16="http://schemas.microsoft.com/office/drawing/2014/main" id="{685FF657-B3CE-E945-BB86-D18EC9B7226A}"/>
                </a:ext>
              </a:extLst>
            </p:cNvPr>
            <p:cNvGrpSpPr/>
            <p:nvPr/>
          </p:nvGrpSpPr>
          <p:grpSpPr>
            <a:xfrm>
              <a:off x="7797061" y="3296104"/>
              <a:ext cx="347997" cy="396620"/>
              <a:chOff x="7797061" y="3296104"/>
              <a:chExt cx="347997" cy="396620"/>
            </a:xfrm>
          </p:grpSpPr>
          <p:pic>
            <p:nvPicPr>
              <p:cNvPr id="283" name="Picture 571" descr="fridge2.png">
                <a:extLst>
                  <a:ext uri="{FF2B5EF4-FFF2-40B4-BE49-F238E27FC236}">
                    <a16:creationId xmlns:a16="http://schemas.microsoft.com/office/drawing/2014/main" id="{52D49911-07F8-3343-8A41-1B2AC79DBF22}"/>
                  </a:ext>
                </a:extLst>
              </p:cNvPr>
              <p:cNvPicPr>
                <a:picLocks noChangeAspect="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7896825" y="3355697"/>
                <a:ext cx="189578" cy="3370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4" name="Picture 1115" descr="antenna_stylized">
                <a:extLst>
                  <a:ext uri="{FF2B5EF4-FFF2-40B4-BE49-F238E27FC236}">
                    <a16:creationId xmlns:a16="http://schemas.microsoft.com/office/drawing/2014/main" id="{E5CB4C1D-6CCE-AD42-A805-75067034C0AF}"/>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797061" y="3296104"/>
                <a:ext cx="347997" cy="167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grpSp>
        <p:nvGrpSpPr>
          <p:cNvPr id="310" name="Group 309">
            <a:extLst>
              <a:ext uri="{FF2B5EF4-FFF2-40B4-BE49-F238E27FC236}">
                <a16:creationId xmlns:a16="http://schemas.microsoft.com/office/drawing/2014/main" id="{09017FE0-34A3-FC43-92EF-C44FBDE65EF6}"/>
              </a:ext>
            </a:extLst>
          </p:cNvPr>
          <p:cNvGrpSpPr/>
          <p:nvPr/>
        </p:nvGrpSpPr>
        <p:grpSpPr>
          <a:xfrm>
            <a:off x="11064947" y="3428485"/>
            <a:ext cx="518448" cy="1212242"/>
            <a:chOff x="11058573" y="3399165"/>
            <a:chExt cx="518448" cy="1212242"/>
          </a:xfrm>
        </p:grpSpPr>
        <p:grpSp>
          <p:nvGrpSpPr>
            <p:cNvPr id="311" name="Group 310">
              <a:extLst>
                <a:ext uri="{FF2B5EF4-FFF2-40B4-BE49-F238E27FC236}">
                  <a16:creationId xmlns:a16="http://schemas.microsoft.com/office/drawing/2014/main" id="{1D2297AB-8C1D-774F-89FF-8EBF734EB162}"/>
                </a:ext>
              </a:extLst>
            </p:cNvPr>
            <p:cNvGrpSpPr/>
            <p:nvPr/>
          </p:nvGrpSpPr>
          <p:grpSpPr>
            <a:xfrm>
              <a:off x="11087182" y="4159591"/>
              <a:ext cx="489839" cy="451816"/>
              <a:chOff x="5103720" y="2693365"/>
              <a:chExt cx="611650" cy="414788"/>
            </a:xfrm>
          </p:grpSpPr>
          <p:cxnSp>
            <p:nvCxnSpPr>
              <p:cNvPr id="318" name="Straight Connector 317">
                <a:extLst>
                  <a:ext uri="{FF2B5EF4-FFF2-40B4-BE49-F238E27FC236}">
                    <a16:creationId xmlns:a16="http://schemas.microsoft.com/office/drawing/2014/main" id="{8983DA81-C479-F849-AB06-EDCD924EF8B3}"/>
                  </a:ext>
                </a:extLst>
              </p:cNvPr>
              <p:cNvCxnSpPr/>
              <p:nvPr/>
            </p:nvCxnSpPr>
            <p:spPr>
              <a:xfrm>
                <a:off x="5103720" y="2914214"/>
                <a:ext cx="232559" cy="0"/>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grpSp>
            <p:nvGrpSpPr>
              <p:cNvPr id="319" name="Group 318">
                <a:extLst>
                  <a:ext uri="{FF2B5EF4-FFF2-40B4-BE49-F238E27FC236}">
                    <a16:creationId xmlns:a16="http://schemas.microsoft.com/office/drawing/2014/main" id="{B934C059-B2C0-5D4F-95BD-4B77D403B522}"/>
                  </a:ext>
                </a:extLst>
              </p:cNvPr>
              <p:cNvGrpSpPr/>
              <p:nvPr/>
            </p:nvGrpSpPr>
            <p:grpSpPr>
              <a:xfrm>
                <a:off x="5275406" y="2693365"/>
                <a:ext cx="439964" cy="414788"/>
                <a:chOff x="5275406" y="2711455"/>
                <a:chExt cx="452949" cy="405518"/>
              </a:xfrm>
            </p:grpSpPr>
            <p:pic>
              <p:nvPicPr>
                <p:cNvPr id="320" name="Picture 319" descr="server_rack.png">
                  <a:extLst>
                    <a:ext uri="{FF2B5EF4-FFF2-40B4-BE49-F238E27FC236}">
                      <a16:creationId xmlns:a16="http://schemas.microsoft.com/office/drawing/2014/main" id="{764A46D5-D344-3246-B4CA-E1BF2CFDEEF5}"/>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5537367" y="2770786"/>
                  <a:ext cx="190988" cy="313366"/>
                </a:xfrm>
                <a:prstGeom prst="rect">
                  <a:avLst/>
                </a:prstGeom>
              </p:spPr>
            </p:pic>
            <p:pic>
              <p:nvPicPr>
                <p:cNvPr id="321" name="Picture 320" descr="server_rack.png">
                  <a:extLst>
                    <a:ext uri="{FF2B5EF4-FFF2-40B4-BE49-F238E27FC236}">
                      <a16:creationId xmlns:a16="http://schemas.microsoft.com/office/drawing/2014/main" id="{90C1BE08-C428-E74E-B929-C6D1271BFE16}"/>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5275406" y="2764002"/>
                  <a:ext cx="190988" cy="313366"/>
                </a:xfrm>
                <a:prstGeom prst="rect">
                  <a:avLst/>
                </a:prstGeom>
              </p:spPr>
            </p:pic>
            <p:pic>
              <p:nvPicPr>
                <p:cNvPr id="322" name="Picture 321" descr="server_rack.png">
                  <a:extLst>
                    <a:ext uri="{FF2B5EF4-FFF2-40B4-BE49-F238E27FC236}">
                      <a16:creationId xmlns:a16="http://schemas.microsoft.com/office/drawing/2014/main" id="{35FFED4D-9863-0F4E-8222-435564693420}"/>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5385676" y="2711455"/>
                  <a:ext cx="247152" cy="405518"/>
                </a:xfrm>
                <a:prstGeom prst="rect">
                  <a:avLst/>
                </a:prstGeom>
              </p:spPr>
            </p:pic>
          </p:grpSp>
        </p:grpSp>
        <p:grpSp>
          <p:nvGrpSpPr>
            <p:cNvPr id="312" name="Group 311">
              <a:extLst>
                <a:ext uri="{FF2B5EF4-FFF2-40B4-BE49-F238E27FC236}">
                  <a16:creationId xmlns:a16="http://schemas.microsoft.com/office/drawing/2014/main" id="{57017C35-5A73-C341-95B3-2D62C8998FD7}"/>
                </a:ext>
              </a:extLst>
            </p:cNvPr>
            <p:cNvGrpSpPr/>
            <p:nvPr/>
          </p:nvGrpSpPr>
          <p:grpSpPr>
            <a:xfrm>
              <a:off x="11058573" y="3399165"/>
              <a:ext cx="423724" cy="405973"/>
              <a:chOff x="5103720" y="2693365"/>
              <a:chExt cx="611650" cy="414788"/>
            </a:xfrm>
          </p:grpSpPr>
          <p:cxnSp>
            <p:nvCxnSpPr>
              <p:cNvPr id="313" name="Straight Connector 312">
                <a:extLst>
                  <a:ext uri="{FF2B5EF4-FFF2-40B4-BE49-F238E27FC236}">
                    <a16:creationId xmlns:a16="http://schemas.microsoft.com/office/drawing/2014/main" id="{0B18831A-9F50-FF4A-B278-F70615A9BC25}"/>
                  </a:ext>
                </a:extLst>
              </p:cNvPr>
              <p:cNvCxnSpPr/>
              <p:nvPr/>
            </p:nvCxnSpPr>
            <p:spPr>
              <a:xfrm>
                <a:off x="5103720" y="2914214"/>
                <a:ext cx="232559" cy="0"/>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grpSp>
            <p:nvGrpSpPr>
              <p:cNvPr id="314" name="Group 313">
                <a:extLst>
                  <a:ext uri="{FF2B5EF4-FFF2-40B4-BE49-F238E27FC236}">
                    <a16:creationId xmlns:a16="http://schemas.microsoft.com/office/drawing/2014/main" id="{DFC7A0EC-A9C9-974E-928E-28DD6455D09A}"/>
                  </a:ext>
                </a:extLst>
              </p:cNvPr>
              <p:cNvGrpSpPr/>
              <p:nvPr/>
            </p:nvGrpSpPr>
            <p:grpSpPr>
              <a:xfrm>
                <a:off x="5275406" y="2693365"/>
                <a:ext cx="439964" cy="414788"/>
                <a:chOff x="5275406" y="2711455"/>
                <a:chExt cx="452949" cy="405518"/>
              </a:xfrm>
            </p:grpSpPr>
            <p:pic>
              <p:nvPicPr>
                <p:cNvPr id="315" name="Picture 314" descr="server_rack.png">
                  <a:extLst>
                    <a:ext uri="{FF2B5EF4-FFF2-40B4-BE49-F238E27FC236}">
                      <a16:creationId xmlns:a16="http://schemas.microsoft.com/office/drawing/2014/main" id="{E480D9A5-8FB7-3647-AB54-42D9700E6451}"/>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5537367" y="2770786"/>
                  <a:ext cx="190988" cy="313366"/>
                </a:xfrm>
                <a:prstGeom prst="rect">
                  <a:avLst/>
                </a:prstGeom>
              </p:spPr>
            </p:pic>
            <p:pic>
              <p:nvPicPr>
                <p:cNvPr id="316" name="Picture 315" descr="server_rack.png">
                  <a:extLst>
                    <a:ext uri="{FF2B5EF4-FFF2-40B4-BE49-F238E27FC236}">
                      <a16:creationId xmlns:a16="http://schemas.microsoft.com/office/drawing/2014/main" id="{C17EE074-02D0-4143-8ED9-E4D2205689F5}"/>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5275406" y="2764002"/>
                  <a:ext cx="190988" cy="313366"/>
                </a:xfrm>
                <a:prstGeom prst="rect">
                  <a:avLst/>
                </a:prstGeom>
              </p:spPr>
            </p:pic>
            <p:pic>
              <p:nvPicPr>
                <p:cNvPr id="317" name="Picture 316" descr="server_rack.png">
                  <a:extLst>
                    <a:ext uri="{FF2B5EF4-FFF2-40B4-BE49-F238E27FC236}">
                      <a16:creationId xmlns:a16="http://schemas.microsoft.com/office/drawing/2014/main" id="{589F8E4F-69B9-FA46-8D10-90FC7573C77E}"/>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5385676" y="2711455"/>
                  <a:ext cx="247152" cy="405518"/>
                </a:xfrm>
                <a:prstGeom prst="rect">
                  <a:avLst/>
                </a:prstGeom>
              </p:spPr>
            </p:pic>
          </p:grpSp>
        </p:grpSp>
      </p:grpSp>
      <p:grpSp>
        <p:nvGrpSpPr>
          <p:cNvPr id="356" name="Group 590">
            <a:extLst>
              <a:ext uri="{FF2B5EF4-FFF2-40B4-BE49-F238E27FC236}">
                <a16:creationId xmlns:a16="http://schemas.microsoft.com/office/drawing/2014/main" id="{002C44D5-1F60-7447-A1D2-6EE5F802021D}"/>
              </a:ext>
            </a:extLst>
          </p:cNvPr>
          <p:cNvGrpSpPr>
            <a:grpSpLocks/>
          </p:cNvGrpSpPr>
          <p:nvPr/>
        </p:nvGrpSpPr>
        <p:grpSpPr bwMode="auto">
          <a:xfrm flipH="1">
            <a:off x="7980855" y="4900161"/>
            <a:ext cx="345630" cy="320302"/>
            <a:chOff x="2839" y="3501"/>
            <a:chExt cx="755" cy="803"/>
          </a:xfrm>
        </p:grpSpPr>
        <p:pic>
          <p:nvPicPr>
            <p:cNvPr id="357" name="Picture 591" descr="desktop_computer_stylized_medium">
              <a:extLst>
                <a:ext uri="{FF2B5EF4-FFF2-40B4-BE49-F238E27FC236}">
                  <a16:creationId xmlns:a16="http://schemas.microsoft.com/office/drawing/2014/main" id="{7F433925-7699-B34E-88C0-C818C4963B38}"/>
                </a:ext>
              </a:extLst>
            </p:cNvPr>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 name="Freeform 592">
              <a:extLst>
                <a:ext uri="{FF2B5EF4-FFF2-40B4-BE49-F238E27FC236}">
                  <a16:creationId xmlns:a16="http://schemas.microsoft.com/office/drawing/2014/main" id="{0D0F51BD-6356-DE48-89F6-A645151C0C31}"/>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359" name="Group 1064">
            <a:extLst>
              <a:ext uri="{FF2B5EF4-FFF2-40B4-BE49-F238E27FC236}">
                <a16:creationId xmlns:a16="http://schemas.microsoft.com/office/drawing/2014/main" id="{CF2DB679-9CD3-5148-94F7-225CE8489122}"/>
              </a:ext>
            </a:extLst>
          </p:cNvPr>
          <p:cNvGrpSpPr>
            <a:grpSpLocks/>
          </p:cNvGrpSpPr>
          <p:nvPr/>
        </p:nvGrpSpPr>
        <p:grpSpPr bwMode="auto">
          <a:xfrm>
            <a:off x="9201681" y="5852809"/>
            <a:ext cx="310186" cy="307808"/>
            <a:chOff x="877" y="1008"/>
            <a:chExt cx="2747" cy="2591"/>
          </a:xfrm>
        </p:grpSpPr>
        <p:pic>
          <p:nvPicPr>
            <p:cNvPr id="360" name="Picture 1065" descr="antenna_stylized">
              <a:extLst>
                <a:ext uri="{FF2B5EF4-FFF2-40B4-BE49-F238E27FC236}">
                  <a16:creationId xmlns:a16="http://schemas.microsoft.com/office/drawing/2014/main" id="{9C0613C0-FBB7-284C-AA40-5548C7D21D6A}"/>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877" y="1008"/>
              <a:ext cx="2725" cy="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1" name="Picture 1066" descr="laptop_keyboard">
              <a:extLst>
                <a:ext uri="{FF2B5EF4-FFF2-40B4-BE49-F238E27FC236}">
                  <a16:creationId xmlns:a16="http://schemas.microsoft.com/office/drawing/2014/main" id="{4AC7E45E-9572-044A-9C56-FC7ECFA5552F}"/>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rot="109064" flipH="1">
              <a:off x="1009" y="2586"/>
              <a:ext cx="2245" cy="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2" name="Freeform 1067">
              <a:extLst>
                <a:ext uri="{FF2B5EF4-FFF2-40B4-BE49-F238E27FC236}">
                  <a16:creationId xmlns:a16="http://schemas.microsoft.com/office/drawing/2014/main" id="{F03C1D3B-84C4-D14D-85A1-78A65057D89D}"/>
                </a:ext>
              </a:extLst>
            </p:cNvPr>
            <p:cNvSpPr>
              <a:spLocks/>
            </p:cNvSpPr>
            <p:nvPr/>
          </p:nvSpPr>
          <p:spPr bwMode="auto">
            <a:xfrm>
              <a:off x="1753" y="1603"/>
              <a:ext cx="1807" cy="1322"/>
            </a:xfrm>
            <a:custGeom>
              <a:avLst/>
              <a:gdLst>
                <a:gd name="T0" fmla="*/ 1 w 2982"/>
                <a:gd name="T1" fmla="*/ 0 h 2442"/>
                <a:gd name="T2" fmla="*/ 0 w 2982"/>
                <a:gd name="T3" fmla="*/ 1 h 2442"/>
                <a:gd name="T4" fmla="*/ 2 w 2982"/>
                <a:gd name="T5" fmla="*/ 1 h 2442"/>
                <a:gd name="T6" fmla="*/ 2 w 2982"/>
                <a:gd name="T7" fmla="*/ 1 h 2442"/>
                <a:gd name="T8" fmla="*/ 1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63" name="Picture 1068" descr="screen">
              <a:extLst>
                <a:ext uri="{FF2B5EF4-FFF2-40B4-BE49-F238E27FC236}">
                  <a16:creationId xmlns:a16="http://schemas.microsoft.com/office/drawing/2014/main" id="{F1045CBD-A537-1447-9CC0-AA3BBA3EFD19}"/>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842" y="1637"/>
              <a:ext cx="1642" cy="1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4" name="Freeform 1069">
              <a:extLst>
                <a:ext uri="{FF2B5EF4-FFF2-40B4-BE49-F238E27FC236}">
                  <a16:creationId xmlns:a16="http://schemas.microsoft.com/office/drawing/2014/main" id="{76BB7C6D-EEEF-2649-B828-0A9E5351AEAE}"/>
                </a:ext>
              </a:extLst>
            </p:cNvPr>
            <p:cNvSpPr>
              <a:spLocks/>
            </p:cNvSpPr>
            <p:nvPr/>
          </p:nvSpPr>
          <p:spPr bwMode="auto">
            <a:xfrm>
              <a:off x="2082" y="1564"/>
              <a:ext cx="1531" cy="246"/>
            </a:xfrm>
            <a:custGeom>
              <a:avLst/>
              <a:gdLst>
                <a:gd name="T0" fmla="*/ 1 w 2528"/>
                <a:gd name="T1" fmla="*/ 0 h 455"/>
                <a:gd name="T2" fmla="*/ 2 w 2528"/>
                <a:gd name="T3" fmla="*/ 1 h 455"/>
                <a:gd name="T4" fmla="*/ 2 w 2528"/>
                <a:gd name="T5" fmla="*/ 1 h 455"/>
                <a:gd name="T6" fmla="*/ 0 w 2528"/>
                <a:gd name="T7" fmla="*/ 1 h 455"/>
                <a:gd name="T8" fmla="*/ 1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5" name="Freeform 1070">
              <a:extLst>
                <a:ext uri="{FF2B5EF4-FFF2-40B4-BE49-F238E27FC236}">
                  <a16:creationId xmlns:a16="http://schemas.microsoft.com/office/drawing/2014/main" id="{3EACCABC-F6A7-9342-BDAE-E9A2DF204C0A}"/>
                </a:ext>
              </a:extLst>
            </p:cNvPr>
            <p:cNvSpPr>
              <a:spLocks/>
            </p:cNvSpPr>
            <p:nvPr/>
          </p:nvSpPr>
          <p:spPr bwMode="auto">
            <a:xfrm>
              <a:off x="1737" y="1562"/>
              <a:ext cx="425" cy="1024"/>
            </a:xfrm>
            <a:custGeom>
              <a:avLst/>
              <a:gdLst>
                <a:gd name="T0" fmla="*/ 1 w 702"/>
                <a:gd name="T1" fmla="*/ 0 h 1893"/>
                <a:gd name="T2" fmla="*/ 0 w 702"/>
                <a:gd name="T3" fmla="*/ 1 h 1893"/>
                <a:gd name="T4" fmla="*/ 1 w 702"/>
                <a:gd name="T5" fmla="*/ 1 h 1893"/>
                <a:gd name="T6" fmla="*/ 1 w 702"/>
                <a:gd name="T7" fmla="*/ 1 h 1893"/>
                <a:gd name="T8" fmla="*/ 1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6" name="Freeform 1071">
              <a:extLst>
                <a:ext uri="{FF2B5EF4-FFF2-40B4-BE49-F238E27FC236}">
                  <a16:creationId xmlns:a16="http://schemas.microsoft.com/office/drawing/2014/main" id="{D720BF6A-08AA-AD41-9F98-FEEAF38FA2C7}"/>
                </a:ext>
              </a:extLst>
            </p:cNvPr>
            <p:cNvSpPr>
              <a:spLocks/>
            </p:cNvSpPr>
            <p:nvPr/>
          </p:nvSpPr>
          <p:spPr bwMode="auto">
            <a:xfrm>
              <a:off x="3144" y="1745"/>
              <a:ext cx="458" cy="1182"/>
            </a:xfrm>
            <a:custGeom>
              <a:avLst/>
              <a:gdLst>
                <a:gd name="T0" fmla="*/ 1 w 756"/>
                <a:gd name="T1" fmla="*/ 0 h 2184"/>
                <a:gd name="T2" fmla="*/ 1 w 756"/>
                <a:gd name="T3" fmla="*/ 1 h 2184"/>
                <a:gd name="T4" fmla="*/ 0 w 756"/>
                <a:gd name="T5" fmla="*/ 1 h 2184"/>
                <a:gd name="T6" fmla="*/ 1 w 756"/>
                <a:gd name="T7" fmla="*/ 1 h 2184"/>
                <a:gd name="T8" fmla="*/ 1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7" name="Freeform 1072">
              <a:extLst>
                <a:ext uri="{FF2B5EF4-FFF2-40B4-BE49-F238E27FC236}">
                  <a16:creationId xmlns:a16="http://schemas.microsoft.com/office/drawing/2014/main" id="{EBF545D7-85F7-654E-89B4-82A30829C94E}"/>
                </a:ext>
              </a:extLst>
            </p:cNvPr>
            <p:cNvSpPr>
              <a:spLocks/>
            </p:cNvSpPr>
            <p:nvPr/>
          </p:nvSpPr>
          <p:spPr bwMode="auto">
            <a:xfrm>
              <a:off x="1732" y="2534"/>
              <a:ext cx="1680" cy="399"/>
            </a:xfrm>
            <a:custGeom>
              <a:avLst/>
              <a:gdLst>
                <a:gd name="T0" fmla="*/ 1 w 2773"/>
                <a:gd name="T1" fmla="*/ 0 h 738"/>
                <a:gd name="T2" fmla="*/ 0 w 2773"/>
                <a:gd name="T3" fmla="*/ 1 h 738"/>
                <a:gd name="T4" fmla="*/ 2 w 2773"/>
                <a:gd name="T5" fmla="*/ 1 h 738"/>
                <a:gd name="T6" fmla="*/ 2 w 2773"/>
                <a:gd name="T7" fmla="*/ 1 h 738"/>
                <a:gd name="T8" fmla="*/ 1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8" name="Freeform 1073">
              <a:extLst>
                <a:ext uri="{FF2B5EF4-FFF2-40B4-BE49-F238E27FC236}">
                  <a16:creationId xmlns:a16="http://schemas.microsoft.com/office/drawing/2014/main" id="{6EF35D5A-3DBA-4D49-BA09-E93CEA361840}"/>
                </a:ext>
              </a:extLst>
            </p:cNvPr>
            <p:cNvSpPr>
              <a:spLocks/>
            </p:cNvSpPr>
            <p:nvPr/>
          </p:nvSpPr>
          <p:spPr bwMode="auto">
            <a:xfrm>
              <a:off x="3195" y="1755"/>
              <a:ext cx="429" cy="1187"/>
            </a:xfrm>
            <a:custGeom>
              <a:avLst/>
              <a:gdLst>
                <a:gd name="T0" fmla="*/ 2 w 637"/>
                <a:gd name="T1" fmla="*/ 0 h 1659"/>
                <a:gd name="T2" fmla="*/ 2 w 637"/>
                <a:gd name="T3" fmla="*/ 0 h 1659"/>
                <a:gd name="T4" fmla="*/ 1 w 637"/>
                <a:gd name="T5" fmla="*/ 15 h 1659"/>
                <a:gd name="T6" fmla="*/ 0 w 637"/>
                <a:gd name="T7" fmla="*/ 15 h 1659"/>
                <a:gd name="T8" fmla="*/ 2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9" name="Freeform 1074">
              <a:extLst>
                <a:ext uri="{FF2B5EF4-FFF2-40B4-BE49-F238E27FC236}">
                  <a16:creationId xmlns:a16="http://schemas.microsoft.com/office/drawing/2014/main" id="{B6F9A7A1-3455-6E4B-9C84-C9854E64B326}"/>
                </a:ext>
              </a:extLst>
            </p:cNvPr>
            <p:cNvSpPr>
              <a:spLocks/>
            </p:cNvSpPr>
            <p:nvPr/>
          </p:nvSpPr>
          <p:spPr bwMode="auto">
            <a:xfrm>
              <a:off x="1734" y="2587"/>
              <a:ext cx="1494" cy="394"/>
            </a:xfrm>
            <a:custGeom>
              <a:avLst/>
              <a:gdLst>
                <a:gd name="T0" fmla="*/ 0 w 2216"/>
                <a:gd name="T1" fmla="*/ 0 h 550"/>
                <a:gd name="T2" fmla="*/ 1 w 2216"/>
                <a:gd name="T3" fmla="*/ 1 h 550"/>
                <a:gd name="T4" fmla="*/ 9 w 2216"/>
                <a:gd name="T5" fmla="*/ 5 h 550"/>
                <a:gd name="T6" fmla="*/ 9 w 2216"/>
                <a:gd name="T7" fmla="*/ 4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370" name="Group 1075">
              <a:extLst>
                <a:ext uri="{FF2B5EF4-FFF2-40B4-BE49-F238E27FC236}">
                  <a16:creationId xmlns:a16="http://schemas.microsoft.com/office/drawing/2014/main" id="{EE846B91-FBCE-4D4F-98BC-92FA6506F511}"/>
                </a:ext>
              </a:extLst>
            </p:cNvPr>
            <p:cNvGrpSpPr>
              <a:grpSpLocks/>
            </p:cNvGrpSpPr>
            <p:nvPr/>
          </p:nvGrpSpPr>
          <p:grpSpPr bwMode="auto">
            <a:xfrm>
              <a:off x="1709" y="3008"/>
              <a:ext cx="507" cy="234"/>
              <a:chOff x="1740" y="2642"/>
              <a:chExt cx="752" cy="327"/>
            </a:xfrm>
          </p:grpSpPr>
          <p:sp>
            <p:nvSpPr>
              <p:cNvPr id="377" name="Freeform 1076">
                <a:extLst>
                  <a:ext uri="{FF2B5EF4-FFF2-40B4-BE49-F238E27FC236}">
                    <a16:creationId xmlns:a16="http://schemas.microsoft.com/office/drawing/2014/main" id="{446AF9FA-9A2B-6646-8305-E78C2A20B6D2}"/>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8" name="Freeform 1077">
                <a:extLst>
                  <a:ext uri="{FF2B5EF4-FFF2-40B4-BE49-F238E27FC236}">
                    <a16:creationId xmlns:a16="http://schemas.microsoft.com/office/drawing/2014/main" id="{032C23DF-A006-EC41-8986-D3A29EAAEE3A}"/>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9" name="Freeform 1078">
                <a:extLst>
                  <a:ext uri="{FF2B5EF4-FFF2-40B4-BE49-F238E27FC236}">
                    <a16:creationId xmlns:a16="http://schemas.microsoft.com/office/drawing/2014/main" id="{12058F0B-8516-DB42-97C6-166A9AB8DD4A}"/>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0" name="Freeform 1079">
                <a:extLst>
                  <a:ext uri="{FF2B5EF4-FFF2-40B4-BE49-F238E27FC236}">
                    <a16:creationId xmlns:a16="http://schemas.microsoft.com/office/drawing/2014/main" id="{E56484E4-7DE8-5D40-A604-ADBF9CAC6CD8}"/>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1" name="Freeform 1080">
                <a:extLst>
                  <a:ext uri="{FF2B5EF4-FFF2-40B4-BE49-F238E27FC236}">
                    <a16:creationId xmlns:a16="http://schemas.microsoft.com/office/drawing/2014/main" id="{F26D0989-3D25-C44A-99EB-C0C43C9CAD1A}"/>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2" name="Freeform 1081">
                <a:extLst>
                  <a:ext uri="{FF2B5EF4-FFF2-40B4-BE49-F238E27FC236}">
                    <a16:creationId xmlns:a16="http://schemas.microsoft.com/office/drawing/2014/main" id="{F72E0F31-1D88-144B-BBDB-07D0278D1933}"/>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371" name="Freeform 1082">
              <a:extLst>
                <a:ext uri="{FF2B5EF4-FFF2-40B4-BE49-F238E27FC236}">
                  <a16:creationId xmlns:a16="http://schemas.microsoft.com/office/drawing/2014/main" id="{ACBC1450-C521-8449-9515-C8DD92D56656}"/>
                </a:ext>
              </a:extLst>
            </p:cNvPr>
            <p:cNvSpPr>
              <a:spLocks/>
            </p:cNvSpPr>
            <p:nvPr/>
          </p:nvSpPr>
          <p:spPr bwMode="auto">
            <a:xfrm>
              <a:off x="2577" y="3043"/>
              <a:ext cx="614" cy="514"/>
            </a:xfrm>
            <a:custGeom>
              <a:avLst/>
              <a:gdLst>
                <a:gd name="T0" fmla="*/ 1 w 990"/>
                <a:gd name="T1" fmla="*/ 2 h 792"/>
                <a:gd name="T2" fmla="*/ 1 w 990"/>
                <a:gd name="T3" fmla="*/ 0 h 792"/>
                <a:gd name="T4" fmla="*/ 1 w 990"/>
                <a:gd name="T5" fmla="*/ 1 h 792"/>
                <a:gd name="T6" fmla="*/ 0 w 990"/>
                <a:gd name="T7" fmla="*/ 2 h 792"/>
                <a:gd name="T8" fmla="*/ 1 w 990"/>
                <a:gd name="T9" fmla="*/ 2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2" name="Freeform 1083">
              <a:extLst>
                <a:ext uri="{FF2B5EF4-FFF2-40B4-BE49-F238E27FC236}">
                  <a16:creationId xmlns:a16="http://schemas.microsoft.com/office/drawing/2014/main" id="{FF494D13-5944-0E4F-BD7D-0B76A1DAD742}"/>
                </a:ext>
              </a:extLst>
            </p:cNvPr>
            <p:cNvSpPr>
              <a:spLocks/>
            </p:cNvSpPr>
            <p:nvPr/>
          </p:nvSpPr>
          <p:spPr bwMode="auto">
            <a:xfrm>
              <a:off x="1010" y="3084"/>
              <a:ext cx="1571" cy="469"/>
            </a:xfrm>
            <a:custGeom>
              <a:avLst/>
              <a:gdLst>
                <a:gd name="T0" fmla="*/ 1 w 2532"/>
                <a:gd name="T1" fmla="*/ 0 h 723"/>
                <a:gd name="T2" fmla="*/ 1 w 2532"/>
                <a:gd name="T3" fmla="*/ 0 h 723"/>
                <a:gd name="T4" fmla="*/ 4 w 2532"/>
                <a:gd name="T5" fmla="*/ 2 h 723"/>
                <a:gd name="T6" fmla="*/ 4 w 2532"/>
                <a:gd name="T7" fmla="*/ 2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3" name="Freeform 1084">
              <a:extLst>
                <a:ext uri="{FF2B5EF4-FFF2-40B4-BE49-F238E27FC236}">
                  <a16:creationId xmlns:a16="http://schemas.microsoft.com/office/drawing/2014/main" id="{9558A80C-37DE-F248-8BD6-AB3D92B29761}"/>
                </a:ext>
              </a:extLst>
            </p:cNvPr>
            <p:cNvSpPr>
              <a:spLocks/>
            </p:cNvSpPr>
            <p:nvPr/>
          </p:nvSpPr>
          <p:spPr bwMode="auto">
            <a:xfrm>
              <a:off x="1011" y="2998"/>
              <a:ext cx="17" cy="95"/>
            </a:xfrm>
            <a:custGeom>
              <a:avLst/>
              <a:gdLst>
                <a:gd name="T0" fmla="*/ 1 w 26"/>
                <a:gd name="T1" fmla="*/ 1 h 147"/>
                <a:gd name="T2" fmla="*/ 1 w 26"/>
                <a:gd name="T3" fmla="*/ 1 h 147"/>
                <a:gd name="T4" fmla="*/ 0 w 26"/>
                <a:gd name="T5" fmla="*/ 1 h 147"/>
                <a:gd name="T6" fmla="*/ 1 w 26"/>
                <a:gd name="T7" fmla="*/ 0 h 147"/>
                <a:gd name="T8" fmla="*/ 1 w 26"/>
                <a:gd name="T9" fmla="*/ 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4" name="Freeform 1085">
              <a:extLst>
                <a:ext uri="{FF2B5EF4-FFF2-40B4-BE49-F238E27FC236}">
                  <a16:creationId xmlns:a16="http://schemas.microsoft.com/office/drawing/2014/main" id="{B4C7A048-5EFA-F841-8C13-E26E13A6AE63}"/>
                </a:ext>
              </a:extLst>
            </p:cNvPr>
            <p:cNvSpPr>
              <a:spLocks/>
            </p:cNvSpPr>
            <p:nvPr/>
          </p:nvSpPr>
          <p:spPr bwMode="auto">
            <a:xfrm>
              <a:off x="1012" y="2611"/>
              <a:ext cx="730" cy="393"/>
            </a:xfrm>
            <a:custGeom>
              <a:avLst/>
              <a:gdLst>
                <a:gd name="T0" fmla="*/ 1 w 1176"/>
                <a:gd name="T1" fmla="*/ 0 h 606"/>
                <a:gd name="T2" fmla="*/ 0 w 1176"/>
                <a:gd name="T3" fmla="*/ 1 h 606"/>
                <a:gd name="T4" fmla="*/ 1 w 1176"/>
                <a:gd name="T5" fmla="*/ 1 h 606"/>
                <a:gd name="T6" fmla="*/ 1 w 1176"/>
                <a:gd name="T7" fmla="*/ 1 h 606"/>
                <a:gd name="T8" fmla="*/ 1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5" name="Freeform 1086">
              <a:extLst>
                <a:ext uri="{FF2B5EF4-FFF2-40B4-BE49-F238E27FC236}">
                  <a16:creationId xmlns:a16="http://schemas.microsoft.com/office/drawing/2014/main" id="{AEB574AA-8683-A443-B9F7-0D254045C3FE}"/>
                </a:ext>
              </a:extLst>
            </p:cNvPr>
            <p:cNvSpPr>
              <a:spLocks/>
            </p:cNvSpPr>
            <p:nvPr/>
          </p:nvSpPr>
          <p:spPr bwMode="auto">
            <a:xfrm>
              <a:off x="1061" y="3018"/>
              <a:ext cx="1490" cy="451"/>
            </a:xfrm>
            <a:custGeom>
              <a:avLst/>
              <a:gdLst>
                <a:gd name="T0" fmla="*/ 1 w 2532"/>
                <a:gd name="T1" fmla="*/ 0 h 723"/>
                <a:gd name="T2" fmla="*/ 1 w 2532"/>
                <a:gd name="T3" fmla="*/ 0 h 723"/>
                <a:gd name="T4" fmla="*/ 1 w 2532"/>
                <a:gd name="T5" fmla="*/ 1 h 723"/>
                <a:gd name="T6" fmla="*/ 1 w 2532"/>
                <a:gd name="T7" fmla="*/ 1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6" name="Freeform 1087">
              <a:extLst>
                <a:ext uri="{FF2B5EF4-FFF2-40B4-BE49-F238E27FC236}">
                  <a16:creationId xmlns:a16="http://schemas.microsoft.com/office/drawing/2014/main" id="{F9C1D164-EACB-FA4C-A7B6-9E26AB4B776C}"/>
                </a:ext>
              </a:extLst>
            </p:cNvPr>
            <p:cNvSpPr>
              <a:spLocks/>
            </p:cNvSpPr>
            <p:nvPr/>
          </p:nvSpPr>
          <p:spPr bwMode="auto">
            <a:xfrm flipV="1">
              <a:off x="2549" y="2986"/>
              <a:ext cx="608" cy="467"/>
            </a:xfrm>
            <a:custGeom>
              <a:avLst/>
              <a:gdLst>
                <a:gd name="T0" fmla="*/ 0 w 2532"/>
                <a:gd name="T1" fmla="*/ 0 h 723"/>
                <a:gd name="T2" fmla="*/ 0 w 2532"/>
                <a:gd name="T3" fmla="*/ 0 h 723"/>
                <a:gd name="T4" fmla="*/ 0 w 2532"/>
                <a:gd name="T5" fmla="*/ 2 h 723"/>
                <a:gd name="T6" fmla="*/ 0 w 2532"/>
                <a:gd name="T7" fmla="*/ 2 h 723"/>
                <a:gd name="T8" fmla="*/ 0 w 2532"/>
                <a:gd name="T9" fmla="*/ 1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383" name="Group 590">
            <a:extLst>
              <a:ext uri="{FF2B5EF4-FFF2-40B4-BE49-F238E27FC236}">
                <a16:creationId xmlns:a16="http://schemas.microsoft.com/office/drawing/2014/main" id="{0E70B6A3-FE5E-A44E-9290-B5AD07E8CD4C}"/>
              </a:ext>
            </a:extLst>
          </p:cNvPr>
          <p:cNvGrpSpPr>
            <a:grpSpLocks/>
          </p:cNvGrpSpPr>
          <p:nvPr/>
        </p:nvGrpSpPr>
        <p:grpSpPr bwMode="auto">
          <a:xfrm flipH="1">
            <a:off x="8153909" y="5504657"/>
            <a:ext cx="345630" cy="320302"/>
            <a:chOff x="2839" y="3501"/>
            <a:chExt cx="755" cy="803"/>
          </a:xfrm>
        </p:grpSpPr>
        <p:pic>
          <p:nvPicPr>
            <p:cNvPr id="384" name="Picture 591" descr="desktop_computer_stylized_medium">
              <a:extLst>
                <a:ext uri="{FF2B5EF4-FFF2-40B4-BE49-F238E27FC236}">
                  <a16:creationId xmlns:a16="http://schemas.microsoft.com/office/drawing/2014/main" id="{F2BC7D5E-BF7D-1249-AFC8-B8B0E8165A3E}"/>
                </a:ext>
              </a:extLst>
            </p:cNvPr>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5" name="Freeform 592">
              <a:extLst>
                <a:ext uri="{FF2B5EF4-FFF2-40B4-BE49-F238E27FC236}">
                  <a16:creationId xmlns:a16="http://schemas.microsoft.com/office/drawing/2014/main" id="{5BDC8880-AD2D-4C4E-B14E-AAED9CDF1B48}"/>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386" name="Group 590">
            <a:extLst>
              <a:ext uri="{FF2B5EF4-FFF2-40B4-BE49-F238E27FC236}">
                <a16:creationId xmlns:a16="http://schemas.microsoft.com/office/drawing/2014/main" id="{F4D03415-B38F-5B44-9B13-ABF6FE4BB199}"/>
              </a:ext>
            </a:extLst>
          </p:cNvPr>
          <p:cNvGrpSpPr>
            <a:grpSpLocks/>
          </p:cNvGrpSpPr>
          <p:nvPr/>
        </p:nvGrpSpPr>
        <p:grpSpPr bwMode="auto">
          <a:xfrm flipH="1">
            <a:off x="8552134" y="5526130"/>
            <a:ext cx="345630" cy="320302"/>
            <a:chOff x="2839" y="3501"/>
            <a:chExt cx="755" cy="803"/>
          </a:xfrm>
        </p:grpSpPr>
        <p:pic>
          <p:nvPicPr>
            <p:cNvPr id="387" name="Picture 591" descr="desktop_computer_stylized_medium">
              <a:extLst>
                <a:ext uri="{FF2B5EF4-FFF2-40B4-BE49-F238E27FC236}">
                  <a16:creationId xmlns:a16="http://schemas.microsoft.com/office/drawing/2014/main" id="{32EA6117-AAC5-C94D-B49B-C43DF16E6002}"/>
                </a:ext>
              </a:extLst>
            </p:cNvPr>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8" name="Freeform 592">
              <a:extLst>
                <a:ext uri="{FF2B5EF4-FFF2-40B4-BE49-F238E27FC236}">
                  <a16:creationId xmlns:a16="http://schemas.microsoft.com/office/drawing/2014/main" id="{3508017E-8AA9-D647-891A-276887DA9B44}"/>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389" name="Group 1064">
            <a:extLst>
              <a:ext uri="{FF2B5EF4-FFF2-40B4-BE49-F238E27FC236}">
                <a16:creationId xmlns:a16="http://schemas.microsoft.com/office/drawing/2014/main" id="{8D491387-EBC3-2D40-9285-1F06C1D72E08}"/>
              </a:ext>
            </a:extLst>
          </p:cNvPr>
          <p:cNvGrpSpPr>
            <a:grpSpLocks/>
          </p:cNvGrpSpPr>
          <p:nvPr/>
        </p:nvGrpSpPr>
        <p:grpSpPr bwMode="auto">
          <a:xfrm>
            <a:off x="9534746" y="5795138"/>
            <a:ext cx="319264" cy="253379"/>
            <a:chOff x="877" y="1008"/>
            <a:chExt cx="2747" cy="2591"/>
          </a:xfrm>
        </p:grpSpPr>
        <p:pic>
          <p:nvPicPr>
            <p:cNvPr id="390" name="Picture 1065" descr="antenna_stylized">
              <a:extLst>
                <a:ext uri="{FF2B5EF4-FFF2-40B4-BE49-F238E27FC236}">
                  <a16:creationId xmlns:a16="http://schemas.microsoft.com/office/drawing/2014/main" id="{E1605A46-E7E7-DA4D-A7B1-3F2BF5D0E037}"/>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877" y="1008"/>
              <a:ext cx="2725" cy="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1" name="Picture 1066" descr="laptop_keyboard">
              <a:extLst>
                <a:ext uri="{FF2B5EF4-FFF2-40B4-BE49-F238E27FC236}">
                  <a16:creationId xmlns:a16="http://schemas.microsoft.com/office/drawing/2014/main" id="{E538A48B-7DCF-524B-8A59-631429692CBD}"/>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rot="109064" flipH="1">
              <a:off x="1009" y="2586"/>
              <a:ext cx="2245" cy="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2" name="Freeform 1067">
              <a:extLst>
                <a:ext uri="{FF2B5EF4-FFF2-40B4-BE49-F238E27FC236}">
                  <a16:creationId xmlns:a16="http://schemas.microsoft.com/office/drawing/2014/main" id="{0DF72841-010E-EF4C-BF8A-912117577CBB}"/>
                </a:ext>
              </a:extLst>
            </p:cNvPr>
            <p:cNvSpPr>
              <a:spLocks/>
            </p:cNvSpPr>
            <p:nvPr/>
          </p:nvSpPr>
          <p:spPr bwMode="auto">
            <a:xfrm>
              <a:off x="1753" y="1603"/>
              <a:ext cx="1807" cy="1322"/>
            </a:xfrm>
            <a:custGeom>
              <a:avLst/>
              <a:gdLst>
                <a:gd name="T0" fmla="*/ 1 w 2982"/>
                <a:gd name="T1" fmla="*/ 0 h 2442"/>
                <a:gd name="T2" fmla="*/ 0 w 2982"/>
                <a:gd name="T3" fmla="*/ 1 h 2442"/>
                <a:gd name="T4" fmla="*/ 2 w 2982"/>
                <a:gd name="T5" fmla="*/ 1 h 2442"/>
                <a:gd name="T6" fmla="*/ 2 w 2982"/>
                <a:gd name="T7" fmla="*/ 1 h 2442"/>
                <a:gd name="T8" fmla="*/ 1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93" name="Picture 1068" descr="screen">
              <a:extLst>
                <a:ext uri="{FF2B5EF4-FFF2-40B4-BE49-F238E27FC236}">
                  <a16:creationId xmlns:a16="http://schemas.microsoft.com/office/drawing/2014/main" id="{05FB75E6-02C0-C749-B8C1-6EE94751EFE8}"/>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842" y="1637"/>
              <a:ext cx="1642" cy="1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4" name="Freeform 1069">
              <a:extLst>
                <a:ext uri="{FF2B5EF4-FFF2-40B4-BE49-F238E27FC236}">
                  <a16:creationId xmlns:a16="http://schemas.microsoft.com/office/drawing/2014/main" id="{2C42E210-EA7A-7243-97B1-C77EE2476096}"/>
                </a:ext>
              </a:extLst>
            </p:cNvPr>
            <p:cNvSpPr>
              <a:spLocks/>
            </p:cNvSpPr>
            <p:nvPr/>
          </p:nvSpPr>
          <p:spPr bwMode="auto">
            <a:xfrm>
              <a:off x="2082" y="1564"/>
              <a:ext cx="1531" cy="246"/>
            </a:xfrm>
            <a:custGeom>
              <a:avLst/>
              <a:gdLst>
                <a:gd name="T0" fmla="*/ 1 w 2528"/>
                <a:gd name="T1" fmla="*/ 0 h 455"/>
                <a:gd name="T2" fmla="*/ 2 w 2528"/>
                <a:gd name="T3" fmla="*/ 1 h 455"/>
                <a:gd name="T4" fmla="*/ 2 w 2528"/>
                <a:gd name="T5" fmla="*/ 1 h 455"/>
                <a:gd name="T6" fmla="*/ 0 w 2528"/>
                <a:gd name="T7" fmla="*/ 1 h 455"/>
                <a:gd name="T8" fmla="*/ 1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5" name="Freeform 1070">
              <a:extLst>
                <a:ext uri="{FF2B5EF4-FFF2-40B4-BE49-F238E27FC236}">
                  <a16:creationId xmlns:a16="http://schemas.microsoft.com/office/drawing/2014/main" id="{020C16FB-B47C-5A40-8613-E3DA0F01335A}"/>
                </a:ext>
              </a:extLst>
            </p:cNvPr>
            <p:cNvSpPr>
              <a:spLocks/>
            </p:cNvSpPr>
            <p:nvPr/>
          </p:nvSpPr>
          <p:spPr bwMode="auto">
            <a:xfrm>
              <a:off x="1737" y="1562"/>
              <a:ext cx="425" cy="1024"/>
            </a:xfrm>
            <a:custGeom>
              <a:avLst/>
              <a:gdLst>
                <a:gd name="T0" fmla="*/ 1 w 702"/>
                <a:gd name="T1" fmla="*/ 0 h 1893"/>
                <a:gd name="T2" fmla="*/ 0 w 702"/>
                <a:gd name="T3" fmla="*/ 1 h 1893"/>
                <a:gd name="T4" fmla="*/ 1 w 702"/>
                <a:gd name="T5" fmla="*/ 1 h 1893"/>
                <a:gd name="T6" fmla="*/ 1 w 702"/>
                <a:gd name="T7" fmla="*/ 1 h 1893"/>
                <a:gd name="T8" fmla="*/ 1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6" name="Freeform 1071">
              <a:extLst>
                <a:ext uri="{FF2B5EF4-FFF2-40B4-BE49-F238E27FC236}">
                  <a16:creationId xmlns:a16="http://schemas.microsoft.com/office/drawing/2014/main" id="{B6AF1532-CB13-784D-8AF3-B5F865952BA8}"/>
                </a:ext>
              </a:extLst>
            </p:cNvPr>
            <p:cNvSpPr>
              <a:spLocks/>
            </p:cNvSpPr>
            <p:nvPr/>
          </p:nvSpPr>
          <p:spPr bwMode="auto">
            <a:xfrm>
              <a:off x="3144" y="1745"/>
              <a:ext cx="458" cy="1182"/>
            </a:xfrm>
            <a:custGeom>
              <a:avLst/>
              <a:gdLst>
                <a:gd name="T0" fmla="*/ 1 w 756"/>
                <a:gd name="T1" fmla="*/ 0 h 2184"/>
                <a:gd name="T2" fmla="*/ 1 w 756"/>
                <a:gd name="T3" fmla="*/ 1 h 2184"/>
                <a:gd name="T4" fmla="*/ 0 w 756"/>
                <a:gd name="T5" fmla="*/ 1 h 2184"/>
                <a:gd name="T6" fmla="*/ 1 w 756"/>
                <a:gd name="T7" fmla="*/ 1 h 2184"/>
                <a:gd name="T8" fmla="*/ 1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7" name="Freeform 1072">
              <a:extLst>
                <a:ext uri="{FF2B5EF4-FFF2-40B4-BE49-F238E27FC236}">
                  <a16:creationId xmlns:a16="http://schemas.microsoft.com/office/drawing/2014/main" id="{A71AE470-9F14-D044-93DB-3DCB5DBEBD96}"/>
                </a:ext>
              </a:extLst>
            </p:cNvPr>
            <p:cNvSpPr>
              <a:spLocks/>
            </p:cNvSpPr>
            <p:nvPr/>
          </p:nvSpPr>
          <p:spPr bwMode="auto">
            <a:xfrm>
              <a:off x="1732" y="2534"/>
              <a:ext cx="1680" cy="399"/>
            </a:xfrm>
            <a:custGeom>
              <a:avLst/>
              <a:gdLst>
                <a:gd name="T0" fmla="*/ 1 w 2773"/>
                <a:gd name="T1" fmla="*/ 0 h 738"/>
                <a:gd name="T2" fmla="*/ 0 w 2773"/>
                <a:gd name="T3" fmla="*/ 1 h 738"/>
                <a:gd name="T4" fmla="*/ 2 w 2773"/>
                <a:gd name="T5" fmla="*/ 1 h 738"/>
                <a:gd name="T6" fmla="*/ 2 w 2773"/>
                <a:gd name="T7" fmla="*/ 1 h 738"/>
                <a:gd name="T8" fmla="*/ 1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8" name="Freeform 1073">
              <a:extLst>
                <a:ext uri="{FF2B5EF4-FFF2-40B4-BE49-F238E27FC236}">
                  <a16:creationId xmlns:a16="http://schemas.microsoft.com/office/drawing/2014/main" id="{7753045D-9842-CC41-9B0D-EB58149EA7D3}"/>
                </a:ext>
              </a:extLst>
            </p:cNvPr>
            <p:cNvSpPr>
              <a:spLocks/>
            </p:cNvSpPr>
            <p:nvPr/>
          </p:nvSpPr>
          <p:spPr bwMode="auto">
            <a:xfrm>
              <a:off x="3195" y="1755"/>
              <a:ext cx="429" cy="1187"/>
            </a:xfrm>
            <a:custGeom>
              <a:avLst/>
              <a:gdLst>
                <a:gd name="T0" fmla="*/ 2 w 637"/>
                <a:gd name="T1" fmla="*/ 0 h 1659"/>
                <a:gd name="T2" fmla="*/ 2 w 637"/>
                <a:gd name="T3" fmla="*/ 0 h 1659"/>
                <a:gd name="T4" fmla="*/ 1 w 637"/>
                <a:gd name="T5" fmla="*/ 15 h 1659"/>
                <a:gd name="T6" fmla="*/ 0 w 637"/>
                <a:gd name="T7" fmla="*/ 15 h 1659"/>
                <a:gd name="T8" fmla="*/ 2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9" name="Freeform 1074">
              <a:extLst>
                <a:ext uri="{FF2B5EF4-FFF2-40B4-BE49-F238E27FC236}">
                  <a16:creationId xmlns:a16="http://schemas.microsoft.com/office/drawing/2014/main" id="{FB62560B-8A1D-1D4A-9C7F-3D1ED4E8CEDD}"/>
                </a:ext>
              </a:extLst>
            </p:cNvPr>
            <p:cNvSpPr>
              <a:spLocks/>
            </p:cNvSpPr>
            <p:nvPr/>
          </p:nvSpPr>
          <p:spPr bwMode="auto">
            <a:xfrm>
              <a:off x="1734" y="2587"/>
              <a:ext cx="1494" cy="394"/>
            </a:xfrm>
            <a:custGeom>
              <a:avLst/>
              <a:gdLst>
                <a:gd name="T0" fmla="*/ 0 w 2216"/>
                <a:gd name="T1" fmla="*/ 0 h 550"/>
                <a:gd name="T2" fmla="*/ 1 w 2216"/>
                <a:gd name="T3" fmla="*/ 1 h 550"/>
                <a:gd name="T4" fmla="*/ 9 w 2216"/>
                <a:gd name="T5" fmla="*/ 5 h 550"/>
                <a:gd name="T6" fmla="*/ 9 w 2216"/>
                <a:gd name="T7" fmla="*/ 4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400" name="Group 1075">
              <a:extLst>
                <a:ext uri="{FF2B5EF4-FFF2-40B4-BE49-F238E27FC236}">
                  <a16:creationId xmlns:a16="http://schemas.microsoft.com/office/drawing/2014/main" id="{954A64CB-1C45-324C-8CBE-16624C1A0B84}"/>
                </a:ext>
              </a:extLst>
            </p:cNvPr>
            <p:cNvGrpSpPr>
              <a:grpSpLocks/>
            </p:cNvGrpSpPr>
            <p:nvPr/>
          </p:nvGrpSpPr>
          <p:grpSpPr bwMode="auto">
            <a:xfrm>
              <a:off x="1709" y="3008"/>
              <a:ext cx="507" cy="234"/>
              <a:chOff x="1740" y="2642"/>
              <a:chExt cx="752" cy="327"/>
            </a:xfrm>
          </p:grpSpPr>
          <p:sp>
            <p:nvSpPr>
              <p:cNvPr id="407" name="Freeform 1076">
                <a:extLst>
                  <a:ext uri="{FF2B5EF4-FFF2-40B4-BE49-F238E27FC236}">
                    <a16:creationId xmlns:a16="http://schemas.microsoft.com/office/drawing/2014/main" id="{69DEB18E-BA65-9043-A426-C13F767151ED}"/>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8" name="Freeform 1077">
                <a:extLst>
                  <a:ext uri="{FF2B5EF4-FFF2-40B4-BE49-F238E27FC236}">
                    <a16:creationId xmlns:a16="http://schemas.microsoft.com/office/drawing/2014/main" id="{4DE24D51-7581-B14D-B3B6-84A687083206}"/>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9" name="Freeform 1078">
                <a:extLst>
                  <a:ext uri="{FF2B5EF4-FFF2-40B4-BE49-F238E27FC236}">
                    <a16:creationId xmlns:a16="http://schemas.microsoft.com/office/drawing/2014/main" id="{EFD736A0-861B-7C41-B7C6-101FA03763F8}"/>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10" name="Freeform 1079">
                <a:extLst>
                  <a:ext uri="{FF2B5EF4-FFF2-40B4-BE49-F238E27FC236}">
                    <a16:creationId xmlns:a16="http://schemas.microsoft.com/office/drawing/2014/main" id="{8BD7163E-D90B-7647-AEF5-5CECAFA59C37}"/>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11" name="Freeform 1080">
                <a:extLst>
                  <a:ext uri="{FF2B5EF4-FFF2-40B4-BE49-F238E27FC236}">
                    <a16:creationId xmlns:a16="http://schemas.microsoft.com/office/drawing/2014/main" id="{FC877D4D-D065-104D-8CA3-E0607A9B3F87}"/>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12" name="Freeform 1081">
                <a:extLst>
                  <a:ext uri="{FF2B5EF4-FFF2-40B4-BE49-F238E27FC236}">
                    <a16:creationId xmlns:a16="http://schemas.microsoft.com/office/drawing/2014/main" id="{BA9728F5-6BD1-104C-9953-C37CCA79F582}"/>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401" name="Freeform 1082">
              <a:extLst>
                <a:ext uri="{FF2B5EF4-FFF2-40B4-BE49-F238E27FC236}">
                  <a16:creationId xmlns:a16="http://schemas.microsoft.com/office/drawing/2014/main" id="{D3A627E4-20E1-094F-91E7-9E62C1D73A8B}"/>
                </a:ext>
              </a:extLst>
            </p:cNvPr>
            <p:cNvSpPr>
              <a:spLocks/>
            </p:cNvSpPr>
            <p:nvPr/>
          </p:nvSpPr>
          <p:spPr bwMode="auto">
            <a:xfrm>
              <a:off x="2577" y="3043"/>
              <a:ext cx="614" cy="514"/>
            </a:xfrm>
            <a:custGeom>
              <a:avLst/>
              <a:gdLst>
                <a:gd name="T0" fmla="*/ 1 w 990"/>
                <a:gd name="T1" fmla="*/ 2 h 792"/>
                <a:gd name="T2" fmla="*/ 1 w 990"/>
                <a:gd name="T3" fmla="*/ 0 h 792"/>
                <a:gd name="T4" fmla="*/ 1 w 990"/>
                <a:gd name="T5" fmla="*/ 1 h 792"/>
                <a:gd name="T6" fmla="*/ 0 w 990"/>
                <a:gd name="T7" fmla="*/ 2 h 792"/>
                <a:gd name="T8" fmla="*/ 1 w 990"/>
                <a:gd name="T9" fmla="*/ 2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2" name="Freeform 1083">
              <a:extLst>
                <a:ext uri="{FF2B5EF4-FFF2-40B4-BE49-F238E27FC236}">
                  <a16:creationId xmlns:a16="http://schemas.microsoft.com/office/drawing/2014/main" id="{DE5062C9-C70B-B74E-90B7-8B999FB4955F}"/>
                </a:ext>
              </a:extLst>
            </p:cNvPr>
            <p:cNvSpPr>
              <a:spLocks/>
            </p:cNvSpPr>
            <p:nvPr/>
          </p:nvSpPr>
          <p:spPr bwMode="auto">
            <a:xfrm>
              <a:off x="1010" y="3084"/>
              <a:ext cx="1571" cy="469"/>
            </a:xfrm>
            <a:custGeom>
              <a:avLst/>
              <a:gdLst>
                <a:gd name="T0" fmla="*/ 1 w 2532"/>
                <a:gd name="T1" fmla="*/ 0 h 723"/>
                <a:gd name="T2" fmla="*/ 1 w 2532"/>
                <a:gd name="T3" fmla="*/ 0 h 723"/>
                <a:gd name="T4" fmla="*/ 4 w 2532"/>
                <a:gd name="T5" fmla="*/ 2 h 723"/>
                <a:gd name="T6" fmla="*/ 4 w 2532"/>
                <a:gd name="T7" fmla="*/ 2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3" name="Freeform 1084">
              <a:extLst>
                <a:ext uri="{FF2B5EF4-FFF2-40B4-BE49-F238E27FC236}">
                  <a16:creationId xmlns:a16="http://schemas.microsoft.com/office/drawing/2014/main" id="{60A19E6B-9711-D44A-9A86-78531884592C}"/>
                </a:ext>
              </a:extLst>
            </p:cNvPr>
            <p:cNvSpPr>
              <a:spLocks/>
            </p:cNvSpPr>
            <p:nvPr/>
          </p:nvSpPr>
          <p:spPr bwMode="auto">
            <a:xfrm>
              <a:off x="1011" y="2998"/>
              <a:ext cx="17" cy="95"/>
            </a:xfrm>
            <a:custGeom>
              <a:avLst/>
              <a:gdLst>
                <a:gd name="T0" fmla="*/ 1 w 26"/>
                <a:gd name="T1" fmla="*/ 1 h 147"/>
                <a:gd name="T2" fmla="*/ 1 w 26"/>
                <a:gd name="T3" fmla="*/ 1 h 147"/>
                <a:gd name="T4" fmla="*/ 0 w 26"/>
                <a:gd name="T5" fmla="*/ 1 h 147"/>
                <a:gd name="T6" fmla="*/ 1 w 26"/>
                <a:gd name="T7" fmla="*/ 0 h 147"/>
                <a:gd name="T8" fmla="*/ 1 w 26"/>
                <a:gd name="T9" fmla="*/ 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4" name="Freeform 1085">
              <a:extLst>
                <a:ext uri="{FF2B5EF4-FFF2-40B4-BE49-F238E27FC236}">
                  <a16:creationId xmlns:a16="http://schemas.microsoft.com/office/drawing/2014/main" id="{DABF2084-7101-4A42-808E-03169821851D}"/>
                </a:ext>
              </a:extLst>
            </p:cNvPr>
            <p:cNvSpPr>
              <a:spLocks/>
            </p:cNvSpPr>
            <p:nvPr/>
          </p:nvSpPr>
          <p:spPr bwMode="auto">
            <a:xfrm>
              <a:off x="1012" y="2611"/>
              <a:ext cx="730" cy="393"/>
            </a:xfrm>
            <a:custGeom>
              <a:avLst/>
              <a:gdLst>
                <a:gd name="T0" fmla="*/ 1 w 1176"/>
                <a:gd name="T1" fmla="*/ 0 h 606"/>
                <a:gd name="T2" fmla="*/ 0 w 1176"/>
                <a:gd name="T3" fmla="*/ 1 h 606"/>
                <a:gd name="T4" fmla="*/ 1 w 1176"/>
                <a:gd name="T5" fmla="*/ 1 h 606"/>
                <a:gd name="T6" fmla="*/ 1 w 1176"/>
                <a:gd name="T7" fmla="*/ 1 h 606"/>
                <a:gd name="T8" fmla="*/ 1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5" name="Freeform 1086">
              <a:extLst>
                <a:ext uri="{FF2B5EF4-FFF2-40B4-BE49-F238E27FC236}">
                  <a16:creationId xmlns:a16="http://schemas.microsoft.com/office/drawing/2014/main" id="{3BECAB59-402D-C44C-8F0A-AC630F6F2AAC}"/>
                </a:ext>
              </a:extLst>
            </p:cNvPr>
            <p:cNvSpPr>
              <a:spLocks/>
            </p:cNvSpPr>
            <p:nvPr/>
          </p:nvSpPr>
          <p:spPr bwMode="auto">
            <a:xfrm>
              <a:off x="1061" y="3018"/>
              <a:ext cx="1490" cy="451"/>
            </a:xfrm>
            <a:custGeom>
              <a:avLst/>
              <a:gdLst>
                <a:gd name="T0" fmla="*/ 1 w 2532"/>
                <a:gd name="T1" fmla="*/ 0 h 723"/>
                <a:gd name="T2" fmla="*/ 1 w 2532"/>
                <a:gd name="T3" fmla="*/ 0 h 723"/>
                <a:gd name="T4" fmla="*/ 1 w 2532"/>
                <a:gd name="T5" fmla="*/ 1 h 723"/>
                <a:gd name="T6" fmla="*/ 1 w 2532"/>
                <a:gd name="T7" fmla="*/ 1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6" name="Freeform 1087">
              <a:extLst>
                <a:ext uri="{FF2B5EF4-FFF2-40B4-BE49-F238E27FC236}">
                  <a16:creationId xmlns:a16="http://schemas.microsoft.com/office/drawing/2014/main" id="{C431D1EA-39CA-5549-B407-D7CBF12DC371}"/>
                </a:ext>
              </a:extLst>
            </p:cNvPr>
            <p:cNvSpPr>
              <a:spLocks/>
            </p:cNvSpPr>
            <p:nvPr/>
          </p:nvSpPr>
          <p:spPr bwMode="auto">
            <a:xfrm flipV="1">
              <a:off x="2549" y="2986"/>
              <a:ext cx="608" cy="467"/>
            </a:xfrm>
            <a:custGeom>
              <a:avLst/>
              <a:gdLst>
                <a:gd name="T0" fmla="*/ 0 w 2532"/>
                <a:gd name="T1" fmla="*/ 0 h 723"/>
                <a:gd name="T2" fmla="*/ 0 w 2532"/>
                <a:gd name="T3" fmla="*/ 0 h 723"/>
                <a:gd name="T4" fmla="*/ 0 w 2532"/>
                <a:gd name="T5" fmla="*/ 2 h 723"/>
                <a:gd name="T6" fmla="*/ 0 w 2532"/>
                <a:gd name="T7" fmla="*/ 2 h 723"/>
                <a:gd name="T8" fmla="*/ 0 w 2532"/>
                <a:gd name="T9" fmla="*/ 1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413" name="Freeform 984">
            <a:extLst>
              <a:ext uri="{FF2B5EF4-FFF2-40B4-BE49-F238E27FC236}">
                <a16:creationId xmlns:a16="http://schemas.microsoft.com/office/drawing/2014/main" id="{EF28E360-D52F-294F-97A4-5B43A7D60CE3}"/>
              </a:ext>
            </a:extLst>
          </p:cNvPr>
          <p:cNvSpPr>
            <a:spLocks/>
          </p:cNvSpPr>
          <p:nvPr/>
        </p:nvSpPr>
        <p:spPr bwMode="auto">
          <a:xfrm>
            <a:off x="10153593" y="5636971"/>
            <a:ext cx="34049" cy="332924"/>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14" name="Freeform 986">
            <a:extLst>
              <a:ext uri="{FF2B5EF4-FFF2-40B4-BE49-F238E27FC236}">
                <a16:creationId xmlns:a16="http://schemas.microsoft.com/office/drawing/2014/main" id="{9D5E80B1-F637-9E4D-BFD5-5F5ADB827A42}"/>
              </a:ext>
            </a:extLst>
          </p:cNvPr>
          <p:cNvSpPr>
            <a:spLocks/>
          </p:cNvSpPr>
          <p:nvPr/>
        </p:nvSpPr>
        <p:spPr bwMode="auto">
          <a:xfrm>
            <a:off x="10159970" y="5656923"/>
            <a:ext cx="20333" cy="308020"/>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15" name="Freeform 987">
            <a:extLst>
              <a:ext uri="{FF2B5EF4-FFF2-40B4-BE49-F238E27FC236}">
                <a16:creationId xmlns:a16="http://schemas.microsoft.com/office/drawing/2014/main" id="{F21D56DB-F5E9-8D44-92D9-C4770361B950}"/>
              </a:ext>
            </a:extLst>
          </p:cNvPr>
          <p:cNvSpPr>
            <a:spLocks/>
          </p:cNvSpPr>
          <p:nvPr/>
        </p:nvSpPr>
        <p:spPr bwMode="auto">
          <a:xfrm>
            <a:off x="10155518" y="5812753"/>
            <a:ext cx="31643" cy="27525"/>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16" name="Rectangle 988">
            <a:extLst>
              <a:ext uri="{FF2B5EF4-FFF2-40B4-BE49-F238E27FC236}">
                <a16:creationId xmlns:a16="http://schemas.microsoft.com/office/drawing/2014/main" id="{0447DE90-707A-1F42-8981-9A87D22C1D1D}"/>
              </a:ext>
            </a:extLst>
          </p:cNvPr>
          <p:cNvSpPr>
            <a:spLocks noChangeArrowheads="1"/>
          </p:cNvSpPr>
          <p:nvPr/>
        </p:nvSpPr>
        <p:spPr bwMode="auto">
          <a:xfrm>
            <a:off x="10026299" y="5674399"/>
            <a:ext cx="71949" cy="6845"/>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417" name="Group 989">
            <a:extLst>
              <a:ext uri="{FF2B5EF4-FFF2-40B4-BE49-F238E27FC236}">
                <a16:creationId xmlns:a16="http://schemas.microsoft.com/office/drawing/2014/main" id="{A6C8AE16-7445-9845-8F83-A3F851D4F042}"/>
              </a:ext>
            </a:extLst>
          </p:cNvPr>
          <p:cNvGrpSpPr>
            <a:grpSpLocks/>
          </p:cNvGrpSpPr>
          <p:nvPr/>
        </p:nvGrpSpPr>
        <p:grpSpPr bwMode="auto">
          <a:xfrm>
            <a:off x="10091149" y="5671195"/>
            <a:ext cx="69903" cy="21117"/>
            <a:chOff x="614" y="2568"/>
            <a:chExt cx="725" cy="139"/>
          </a:xfrm>
        </p:grpSpPr>
        <p:sp>
          <p:nvSpPr>
            <p:cNvPr id="418" name="AutoShape 990">
              <a:extLst>
                <a:ext uri="{FF2B5EF4-FFF2-40B4-BE49-F238E27FC236}">
                  <a16:creationId xmlns:a16="http://schemas.microsoft.com/office/drawing/2014/main" id="{5E1B1032-2F46-EF4A-B472-E7BC9E83CB4B}"/>
                </a:ext>
              </a:extLst>
            </p:cNvPr>
            <p:cNvSpPr>
              <a:spLocks noChangeArrowheads="1"/>
            </p:cNvSpPr>
            <p:nvPr/>
          </p:nvSpPr>
          <p:spPr bwMode="auto">
            <a:xfrm>
              <a:off x="613" y="2566"/>
              <a:ext cx="721" cy="14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19" name="AutoShape 991">
              <a:extLst>
                <a:ext uri="{FF2B5EF4-FFF2-40B4-BE49-F238E27FC236}">
                  <a16:creationId xmlns:a16="http://schemas.microsoft.com/office/drawing/2014/main" id="{F24B042A-2483-8545-A723-0074F55A1DC8}"/>
                </a:ext>
              </a:extLst>
            </p:cNvPr>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20" name="Rectangle 992">
            <a:extLst>
              <a:ext uri="{FF2B5EF4-FFF2-40B4-BE49-F238E27FC236}">
                <a16:creationId xmlns:a16="http://schemas.microsoft.com/office/drawing/2014/main" id="{E881C066-69A3-D649-893B-A3C4CB9FAE81}"/>
              </a:ext>
            </a:extLst>
          </p:cNvPr>
          <p:cNvSpPr>
            <a:spLocks noChangeArrowheads="1"/>
          </p:cNvSpPr>
          <p:nvPr/>
        </p:nvSpPr>
        <p:spPr bwMode="auto">
          <a:xfrm>
            <a:off x="10027502" y="5722750"/>
            <a:ext cx="71949" cy="6845"/>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421" name="Group 993">
            <a:extLst>
              <a:ext uri="{FF2B5EF4-FFF2-40B4-BE49-F238E27FC236}">
                <a16:creationId xmlns:a16="http://schemas.microsoft.com/office/drawing/2014/main" id="{2B8081F4-DBFC-C442-BDEE-DF67BF3817BC}"/>
              </a:ext>
            </a:extLst>
          </p:cNvPr>
          <p:cNvGrpSpPr>
            <a:grpSpLocks/>
          </p:cNvGrpSpPr>
          <p:nvPr/>
        </p:nvGrpSpPr>
        <p:grpSpPr bwMode="auto">
          <a:xfrm>
            <a:off x="10090909" y="5718672"/>
            <a:ext cx="69903" cy="19515"/>
            <a:chOff x="614" y="2568"/>
            <a:chExt cx="725" cy="139"/>
          </a:xfrm>
        </p:grpSpPr>
        <p:sp>
          <p:nvSpPr>
            <p:cNvPr id="422" name="AutoShape 994">
              <a:extLst>
                <a:ext uri="{FF2B5EF4-FFF2-40B4-BE49-F238E27FC236}">
                  <a16:creationId xmlns:a16="http://schemas.microsoft.com/office/drawing/2014/main" id="{B9A9624E-B9DF-9A46-B31E-DD7EFD0F21E2}"/>
                </a:ext>
              </a:extLst>
            </p:cNvPr>
            <p:cNvSpPr>
              <a:spLocks noChangeArrowheads="1"/>
            </p:cNvSpPr>
            <p:nvPr/>
          </p:nvSpPr>
          <p:spPr bwMode="auto">
            <a:xfrm>
              <a:off x="615" y="2564"/>
              <a:ext cx="721"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23" name="AutoShape 995">
              <a:extLst>
                <a:ext uri="{FF2B5EF4-FFF2-40B4-BE49-F238E27FC236}">
                  <a16:creationId xmlns:a16="http://schemas.microsoft.com/office/drawing/2014/main" id="{642F554B-5A88-A44B-AAB6-61F7D5A17F6A}"/>
                </a:ext>
              </a:extLst>
            </p:cNvPr>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24" name="Rectangle 996">
            <a:extLst>
              <a:ext uri="{FF2B5EF4-FFF2-40B4-BE49-F238E27FC236}">
                <a16:creationId xmlns:a16="http://schemas.microsoft.com/office/drawing/2014/main" id="{2F7E8752-11E5-3642-90E6-5285D40EA469}"/>
              </a:ext>
            </a:extLst>
          </p:cNvPr>
          <p:cNvSpPr>
            <a:spLocks noChangeArrowheads="1"/>
          </p:cNvSpPr>
          <p:nvPr/>
        </p:nvSpPr>
        <p:spPr bwMode="auto">
          <a:xfrm>
            <a:off x="10027502" y="5771101"/>
            <a:ext cx="71949" cy="6845"/>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25" name="Rectangle 997">
            <a:extLst>
              <a:ext uri="{FF2B5EF4-FFF2-40B4-BE49-F238E27FC236}">
                <a16:creationId xmlns:a16="http://schemas.microsoft.com/office/drawing/2014/main" id="{C884D5C3-FF18-F04A-B4E2-7E02117C03FE}"/>
              </a:ext>
            </a:extLst>
          </p:cNvPr>
          <p:cNvSpPr>
            <a:spLocks noChangeArrowheads="1"/>
          </p:cNvSpPr>
          <p:nvPr/>
        </p:nvSpPr>
        <p:spPr bwMode="auto">
          <a:xfrm>
            <a:off x="10028705" y="5814938"/>
            <a:ext cx="71949" cy="6845"/>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426" name="Group 998">
            <a:extLst>
              <a:ext uri="{FF2B5EF4-FFF2-40B4-BE49-F238E27FC236}">
                <a16:creationId xmlns:a16="http://schemas.microsoft.com/office/drawing/2014/main" id="{D321F228-396F-C44B-AA64-15D0F1B6CEFB}"/>
              </a:ext>
            </a:extLst>
          </p:cNvPr>
          <p:cNvGrpSpPr>
            <a:grpSpLocks/>
          </p:cNvGrpSpPr>
          <p:nvPr/>
        </p:nvGrpSpPr>
        <p:grpSpPr bwMode="auto">
          <a:xfrm>
            <a:off x="10089465" y="5810860"/>
            <a:ext cx="70024" cy="21991"/>
            <a:chOff x="614" y="2568"/>
            <a:chExt cx="725" cy="139"/>
          </a:xfrm>
        </p:grpSpPr>
        <p:sp>
          <p:nvSpPr>
            <p:cNvPr id="427" name="AutoShape 999">
              <a:extLst>
                <a:ext uri="{FF2B5EF4-FFF2-40B4-BE49-F238E27FC236}">
                  <a16:creationId xmlns:a16="http://schemas.microsoft.com/office/drawing/2014/main" id="{849EBD72-C779-B442-B144-4C92B9E79F20}"/>
                </a:ext>
              </a:extLst>
            </p:cNvPr>
            <p:cNvSpPr>
              <a:spLocks noChangeArrowheads="1"/>
            </p:cNvSpPr>
            <p:nvPr/>
          </p:nvSpPr>
          <p:spPr bwMode="auto">
            <a:xfrm>
              <a:off x="618" y="2586"/>
              <a:ext cx="720" cy="12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28" name="AutoShape 1000">
              <a:extLst>
                <a:ext uri="{FF2B5EF4-FFF2-40B4-BE49-F238E27FC236}">
                  <a16:creationId xmlns:a16="http://schemas.microsoft.com/office/drawing/2014/main" id="{D93FB61F-FF29-F24D-8788-4165F508316D}"/>
                </a:ext>
              </a:extLst>
            </p:cNvPr>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29" name="Freeform 1001">
            <a:extLst>
              <a:ext uri="{FF2B5EF4-FFF2-40B4-BE49-F238E27FC236}">
                <a16:creationId xmlns:a16="http://schemas.microsoft.com/office/drawing/2014/main" id="{A40EEA2E-A801-414B-8FBC-BBC009ECE19B}"/>
              </a:ext>
            </a:extLst>
          </p:cNvPr>
          <p:cNvSpPr>
            <a:spLocks/>
          </p:cNvSpPr>
          <p:nvPr/>
        </p:nvSpPr>
        <p:spPr bwMode="auto">
          <a:xfrm>
            <a:off x="10156000" y="5771101"/>
            <a:ext cx="31643" cy="27380"/>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430" name="Group 1002">
            <a:extLst>
              <a:ext uri="{FF2B5EF4-FFF2-40B4-BE49-F238E27FC236}">
                <a16:creationId xmlns:a16="http://schemas.microsoft.com/office/drawing/2014/main" id="{F068EC4B-78B0-B24C-99A7-F96D6C86A2B9}"/>
              </a:ext>
            </a:extLst>
          </p:cNvPr>
          <p:cNvGrpSpPr>
            <a:grpSpLocks/>
          </p:cNvGrpSpPr>
          <p:nvPr/>
        </p:nvGrpSpPr>
        <p:grpSpPr bwMode="auto">
          <a:xfrm>
            <a:off x="10089946" y="5767169"/>
            <a:ext cx="70024" cy="20243"/>
            <a:chOff x="614" y="2568"/>
            <a:chExt cx="725" cy="139"/>
          </a:xfrm>
        </p:grpSpPr>
        <p:sp>
          <p:nvSpPr>
            <p:cNvPr id="431" name="AutoShape 1003">
              <a:extLst>
                <a:ext uri="{FF2B5EF4-FFF2-40B4-BE49-F238E27FC236}">
                  <a16:creationId xmlns:a16="http://schemas.microsoft.com/office/drawing/2014/main" id="{76307DFD-7DBD-DD4D-8615-A8A8D15D8233}"/>
                </a:ext>
              </a:extLst>
            </p:cNvPr>
            <p:cNvSpPr>
              <a:spLocks noChangeArrowheads="1"/>
            </p:cNvSpPr>
            <p:nvPr/>
          </p:nvSpPr>
          <p:spPr bwMode="auto">
            <a:xfrm>
              <a:off x="613" y="2571"/>
              <a:ext cx="732" cy="13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32" name="AutoShape 1004">
              <a:extLst>
                <a:ext uri="{FF2B5EF4-FFF2-40B4-BE49-F238E27FC236}">
                  <a16:creationId xmlns:a16="http://schemas.microsoft.com/office/drawing/2014/main" id="{B5EA7410-FCB5-3C42-A74F-F566ABFADDB8}"/>
                </a:ext>
              </a:extLst>
            </p:cNvPr>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33" name="Rectangle 1005">
            <a:extLst>
              <a:ext uri="{FF2B5EF4-FFF2-40B4-BE49-F238E27FC236}">
                <a16:creationId xmlns:a16="http://schemas.microsoft.com/office/drawing/2014/main" id="{10238275-C02A-F74A-A765-B593C055F724}"/>
              </a:ext>
            </a:extLst>
          </p:cNvPr>
          <p:cNvSpPr>
            <a:spLocks noChangeArrowheads="1"/>
          </p:cNvSpPr>
          <p:nvPr/>
        </p:nvSpPr>
        <p:spPr bwMode="auto">
          <a:xfrm>
            <a:off x="10150946" y="5636388"/>
            <a:ext cx="8422" cy="332778"/>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34" name="Freeform 1006">
            <a:extLst>
              <a:ext uri="{FF2B5EF4-FFF2-40B4-BE49-F238E27FC236}">
                <a16:creationId xmlns:a16="http://schemas.microsoft.com/office/drawing/2014/main" id="{81D6D301-6C77-C64B-B2D0-382D840AA7FC}"/>
              </a:ext>
            </a:extLst>
          </p:cNvPr>
          <p:cNvSpPr>
            <a:spLocks/>
          </p:cNvSpPr>
          <p:nvPr/>
        </p:nvSpPr>
        <p:spPr bwMode="auto">
          <a:xfrm>
            <a:off x="10158887" y="5720566"/>
            <a:ext cx="28515" cy="31020"/>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35" name="Freeform 1007">
            <a:extLst>
              <a:ext uri="{FF2B5EF4-FFF2-40B4-BE49-F238E27FC236}">
                <a16:creationId xmlns:a16="http://schemas.microsoft.com/office/drawing/2014/main" id="{6966CA35-6F7B-6C4F-AEE3-078FED56DF20}"/>
              </a:ext>
            </a:extLst>
          </p:cNvPr>
          <p:cNvSpPr>
            <a:spLocks/>
          </p:cNvSpPr>
          <p:nvPr/>
        </p:nvSpPr>
        <p:spPr bwMode="auto">
          <a:xfrm>
            <a:off x="10159248" y="5672943"/>
            <a:ext cx="29357" cy="34953"/>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36" name="Oval 1008">
            <a:extLst>
              <a:ext uri="{FF2B5EF4-FFF2-40B4-BE49-F238E27FC236}">
                <a16:creationId xmlns:a16="http://schemas.microsoft.com/office/drawing/2014/main" id="{2CFA9381-C4F6-8A4A-BCBB-312388656716}"/>
              </a:ext>
            </a:extLst>
          </p:cNvPr>
          <p:cNvSpPr>
            <a:spLocks noChangeArrowheads="1"/>
          </p:cNvSpPr>
          <p:nvPr/>
        </p:nvSpPr>
        <p:spPr bwMode="auto">
          <a:xfrm>
            <a:off x="10183311" y="5954166"/>
            <a:ext cx="6016" cy="1383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37" name="Freeform 1009">
            <a:extLst>
              <a:ext uri="{FF2B5EF4-FFF2-40B4-BE49-F238E27FC236}">
                <a16:creationId xmlns:a16="http://schemas.microsoft.com/office/drawing/2014/main" id="{B30AEBEB-78E1-754E-BA64-FEE706BFF392}"/>
              </a:ext>
            </a:extLst>
          </p:cNvPr>
          <p:cNvSpPr>
            <a:spLocks/>
          </p:cNvSpPr>
          <p:nvPr/>
        </p:nvSpPr>
        <p:spPr bwMode="auto">
          <a:xfrm>
            <a:off x="10157684" y="5954603"/>
            <a:ext cx="29477" cy="29127"/>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38" name="AutoShape 1010">
            <a:extLst>
              <a:ext uri="{FF2B5EF4-FFF2-40B4-BE49-F238E27FC236}">
                <a16:creationId xmlns:a16="http://schemas.microsoft.com/office/drawing/2014/main" id="{F2779901-7D8F-784A-8E8D-397036700A71}"/>
              </a:ext>
            </a:extLst>
          </p:cNvPr>
          <p:cNvSpPr>
            <a:spLocks noChangeArrowheads="1"/>
          </p:cNvSpPr>
          <p:nvPr/>
        </p:nvSpPr>
        <p:spPr bwMode="auto">
          <a:xfrm>
            <a:off x="10017877" y="5963487"/>
            <a:ext cx="143898" cy="21845"/>
          </a:xfrm>
          <a:prstGeom prst="roundRect">
            <a:avLst>
              <a:gd name="adj" fmla="val 50000"/>
            </a:avLst>
          </a:prstGeom>
          <a:solidFill>
            <a:srgbClr val="DDDDDD"/>
          </a:soli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39" name="AutoShape 1011">
            <a:extLst>
              <a:ext uri="{FF2B5EF4-FFF2-40B4-BE49-F238E27FC236}">
                <a16:creationId xmlns:a16="http://schemas.microsoft.com/office/drawing/2014/main" id="{87A8BD55-4166-4643-A7DA-52B9D36F3801}"/>
              </a:ext>
            </a:extLst>
          </p:cNvPr>
          <p:cNvSpPr>
            <a:spLocks noChangeArrowheads="1"/>
          </p:cNvSpPr>
          <p:nvPr/>
        </p:nvSpPr>
        <p:spPr bwMode="auto">
          <a:xfrm>
            <a:off x="10026299" y="5969166"/>
            <a:ext cx="128257" cy="11505"/>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40" name="Oval 1012">
            <a:extLst>
              <a:ext uri="{FF2B5EF4-FFF2-40B4-BE49-F238E27FC236}">
                <a16:creationId xmlns:a16="http://schemas.microsoft.com/office/drawing/2014/main" id="{0F991E83-25F4-2549-B34F-7A98472010D7}"/>
              </a:ext>
            </a:extLst>
          </p:cNvPr>
          <p:cNvSpPr>
            <a:spLocks noChangeArrowheads="1"/>
          </p:cNvSpPr>
          <p:nvPr/>
        </p:nvSpPr>
        <p:spPr bwMode="auto">
          <a:xfrm>
            <a:off x="10038210" y="5920815"/>
            <a:ext cx="19130" cy="20680"/>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41" name="Oval 1013">
            <a:extLst>
              <a:ext uri="{FF2B5EF4-FFF2-40B4-BE49-F238E27FC236}">
                <a16:creationId xmlns:a16="http://schemas.microsoft.com/office/drawing/2014/main" id="{01F6513A-F015-D94A-929C-75D48673F75A}"/>
              </a:ext>
            </a:extLst>
          </p:cNvPr>
          <p:cNvSpPr>
            <a:spLocks noChangeArrowheads="1"/>
          </p:cNvSpPr>
          <p:nvPr/>
        </p:nvSpPr>
        <p:spPr bwMode="auto">
          <a:xfrm>
            <a:off x="10059867" y="5920815"/>
            <a:ext cx="19130" cy="2068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altLang="en-US" sz="1800" b="0" i="0" u="none" strike="noStrike" kern="1200" cap="none" spc="0" normalizeH="0" baseline="0" noProof="0" dirty="0">
              <a:ln>
                <a:noFill/>
              </a:ln>
              <a:solidFill>
                <a:srgbClr val="FF0000"/>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42" name="Oval 1014">
            <a:extLst>
              <a:ext uri="{FF2B5EF4-FFF2-40B4-BE49-F238E27FC236}">
                <a16:creationId xmlns:a16="http://schemas.microsoft.com/office/drawing/2014/main" id="{DF2F1710-E7DF-7E48-A534-44E42CD00502}"/>
              </a:ext>
            </a:extLst>
          </p:cNvPr>
          <p:cNvSpPr>
            <a:spLocks noChangeArrowheads="1"/>
          </p:cNvSpPr>
          <p:nvPr/>
        </p:nvSpPr>
        <p:spPr bwMode="auto">
          <a:xfrm>
            <a:off x="10080201" y="5920815"/>
            <a:ext cx="19130" cy="20680"/>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43" name="Rectangle 1015">
            <a:extLst>
              <a:ext uri="{FF2B5EF4-FFF2-40B4-BE49-F238E27FC236}">
                <a16:creationId xmlns:a16="http://schemas.microsoft.com/office/drawing/2014/main" id="{328DCBC9-32E9-FD44-B2CF-3BC801D59B6C}"/>
              </a:ext>
            </a:extLst>
          </p:cNvPr>
          <p:cNvSpPr>
            <a:spLocks noChangeArrowheads="1"/>
          </p:cNvSpPr>
          <p:nvPr/>
        </p:nvSpPr>
        <p:spPr bwMode="auto">
          <a:xfrm>
            <a:off x="10129410" y="5841444"/>
            <a:ext cx="9625" cy="110538"/>
          </a:xfrm>
          <a:prstGeom prst="rect">
            <a:avLst/>
          </a:prstGeom>
          <a:solidFill>
            <a:srgbClr val="292929"/>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447" name="Group 590">
            <a:extLst>
              <a:ext uri="{FF2B5EF4-FFF2-40B4-BE49-F238E27FC236}">
                <a16:creationId xmlns:a16="http://schemas.microsoft.com/office/drawing/2014/main" id="{CCAB7625-FEE3-BB4A-97C1-EF1CC2679904}"/>
              </a:ext>
            </a:extLst>
          </p:cNvPr>
          <p:cNvGrpSpPr>
            <a:grpSpLocks/>
          </p:cNvGrpSpPr>
          <p:nvPr/>
        </p:nvGrpSpPr>
        <p:grpSpPr bwMode="auto">
          <a:xfrm flipH="1">
            <a:off x="7773981" y="5281060"/>
            <a:ext cx="345630" cy="320302"/>
            <a:chOff x="2839" y="3501"/>
            <a:chExt cx="755" cy="803"/>
          </a:xfrm>
        </p:grpSpPr>
        <p:pic>
          <p:nvPicPr>
            <p:cNvPr id="451" name="Picture 591" descr="desktop_computer_stylized_medium">
              <a:extLst>
                <a:ext uri="{FF2B5EF4-FFF2-40B4-BE49-F238E27FC236}">
                  <a16:creationId xmlns:a16="http://schemas.microsoft.com/office/drawing/2014/main" id="{FC71EB74-5BE7-7A48-B637-5058D8494691}"/>
                </a:ext>
              </a:extLst>
            </p:cNvPr>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2" name="Freeform 592">
              <a:extLst>
                <a:ext uri="{FF2B5EF4-FFF2-40B4-BE49-F238E27FC236}">
                  <a16:creationId xmlns:a16="http://schemas.microsoft.com/office/drawing/2014/main" id="{B9007CC0-7362-AE4E-9B5B-742E3046FEFC}"/>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444" name="Rectangle 443">
            <a:extLst>
              <a:ext uri="{FF2B5EF4-FFF2-40B4-BE49-F238E27FC236}">
                <a16:creationId xmlns:a16="http://schemas.microsoft.com/office/drawing/2014/main" id="{C47118FD-7A98-6943-B3A3-B578E5FB9F06}"/>
              </a:ext>
            </a:extLst>
          </p:cNvPr>
          <p:cNvSpPr/>
          <p:nvPr/>
        </p:nvSpPr>
        <p:spPr>
          <a:xfrm>
            <a:off x="6539916" y="1365914"/>
            <a:ext cx="5359400" cy="4954628"/>
          </a:xfrm>
          <a:prstGeom prst="rect">
            <a:avLst/>
          </a:prstGeom>
          <a:solidFill>
            <a:schemeClr val="bg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446" name="Group 652">
            <a:extLst>
              <a:ext uri="{FF2B5EF4-FFF2-40B4-BE49-F238E27FC236}">
                <a16:creationId xmlns:a16="http://schemas.microsoft.com/office/drawing/2014/main" id="{84B474B2-2AC4-EC40-9EA0-B5E48CE68CBD}"/>
              </a:ext>
            </a:extLst>
          </p:cNvPr>
          <p:cNvGrpSpPr>
            <a:grpSpLocks/>
          </p:cNvGrpSpPr>
          <p:nvPr/>
        </p:nvGrpSpPr>
        <p:grpSpPr bwMode="auto">
          <a:xfrm>
            <a:off x="7750224" y="1859725"/>
            <a:ext cx="415925" cy="385763"/>
            <a:chOff x="2751" y="1851"/>
            <a:chExt cx="462" cy="478"/>
          </a:xfrm>
        </p:grpSpPr>
        <p:pic>
          <p:nvPicPr>
            <p:cNvPr id="453" name="Picture 653" descr="iphone_stylized_small">
              <a:extLst>
                <a:ext uri="{FF2B5EF4-FFF2-40B4-BE49-F238E27FC236}">
                  <a16:creationId xmlns:a16="http://schemas.microsoft.com/office/drawing/2014/main" id="{34A94CEC-DE5F-E64D-A5B4-F04DB32319EA}"/>
                </a:ext>
              </a:extLst>
            </p:cNvPr>
            <p:cNvPicPr>
              <a:picLocks noChangeAspect="1" noChangeArrowheads="1"/>
            </p:cNvPicPr>
            <p:nvPr/>
          </p:nvPicPr>
          <p:blipFill>
            <a:blip r:embed="rId22" cstate="print">
              <a:extLst>
                <a:ext uri="{28A0092B-C50C-407E-A947-70E740481C1C}">
                  <a14:useLocalDpi xmlns:a14="http://schemas.microsoft.com/office/drawing/2010/main" val="0"/>
                </a:ext>
              </a:extLst>
            </a:blip>
            <a:srcRect/>
            <a:stretch>
              <a:fillRect/>
            </a:stretch>
          </p:blipFill>
          <p:spPr bwMode="auto">
            <a:xfrm>
              <a:off x="2928" y="1922"/>
              <a:ext cx="152"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4" name="Picture 654" descr="antenna_radiation_stylized">
              <a:extLst>
                <a:ext uri="{FF2B5EF4-FFF2-40B4-BE49-F238E27FC236}">
                  <a16:creationId xmlns:a16="http://schemas.microsoft.com/office/drawing/2014/main" id="{67C4AABE-F80E-F846-A0E8-D555DE64EBB1}"/>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2751" y="1851"/>
              <a:ext cx="462" cy="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49" name="Oval 448">
            <a:extLst>
              <a:ext uri="{FF2B5EF4-FFF2-40B4-BE49-F238E27FC236}">
                <a16:creationId xmlns:a16="http://schemas.microsoft.com/office/drawing/2014/main" id="{D57ABF6C-635D-8547-9D46-7AFB160876AA}"/>
              </a:ext>
            </a:extLst>
          </p:cNvPr>
          <p:cNvSpPr/>
          <p:nvPr/>
        </p:nvSpPr>
        <p:spPr>
          <a:xfrm>
            <a:off x="7680324" y="1814171"/>
            <a:ext cx="612303" cy="510069"/>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50" name="Oval 449">
            <a:extLst>
              <a:ext uri="{FF2B5EF4-FFF2-40B4-BE49-F238E27FC236}">
                <a16:creationId xmlns:a16="http://schemas.microsoft.com/office/drawing/2014/main" id="{2895CDC0-6EA0-564A-AFB6-E1E735A44F41}"/>
              </a:ext>
            </a:extLst>
          </p:cNvPr>
          <p:cNvSpPr/>
          <p:nvPr/>
        </p:nvSpPr>
        <p:spPr>
          <a:xfrm>
            <a:off x="9823450" y="5554772"/>
            <a:ext cx="612303" cy="510069"/>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63" name="Freeform 917">
            <a:extLst>
              <a:ext uri="{FF2B5EF4-FFF2-40B4-BE49-F238E27FC236}">
                <a16:creationId xmlns:a16="http://schemas.microsoft.com/office/drawing/2014/main" id="{ADACC4C8-123A-0642-ADC2-DC6E1D927429}"/>
              </a:ext>
            </a:extLst>
          </p:cNvPr>
          <p:cNvSpPr>
            <a:spLocks/>
          </p:cNvSpPr>
          <p:nvPr/>
        </p:nvSpPr>
        <p:spPr bwMode="auto">
          <a:xfrm>
            <a:off x="8005845" y="1190714"/>
            <a:ext cx="304800" cy="942975"/>
          </a:xfrm>
          <a:custGeom>
            <a:avLst/>
            <a:gdLst>
              <a:gd name="T0" fmla="*/ 0 w 192"/>
              <a:gd name="T1" fmla="*/ 594 h 594"/>
              <a:gd name="T2" fmla="*/ 192 w 192"/>
              <a:gd name="T3" fmla="*/ 0 h 594"/>
              <a:gd name="T4" fmla="*/ 192 w 192"/>
              <a:gd name="T5" fmla="*/ 515 h 594"/>
              <a:gd name="T6" fmla="*/ 0 w 192"/>
              <a:gd name="T7" fmla="*/ 594 h 594"/>
              <a:gd name="T8" fmla="*/ 0 60000 65536"/>
              <a:gd name="T9" fmla="*/ 0 60000 65536"/>
              <a:gd name="T10" fmla="*/ 0 60000 65536"/>
              <a:gd name="T11" fmla="*/ 0 60000 65536"/>
              <a:gd name="T12" fmla="*/ 0 w 192"/>
              <a:gd name="T13" fmla="*/ 0 h 594"/>
              <a:gd name="T14" fmla="*/ 192 w 192"/>
              <a:gd name="T15" fmla="*/ 594 h 594"/>
            </a:gdLst>
            <a:ahLst/>
            <a:cxnLst>
              <a:cxn ang="T8">
                <a:pos x="T0" y="T1"/>
              </a:cxn>
              <a:cxn ang="T9">
                <a:pos x="T2" y="T3"/>
              </a:cxn>
              <a:cxn ang="T10">
                <a:pos x="T4" y="T5"/>
              </a:cxn>
              <a:cxn ang="T11">
                <a:pos x="T6" y="T7"/>
              </a:cxn>
            </a:cxnLst>
            <a:rect l="T12" t="T13" r="T14" b="T15"/>
            <a:pathLst>
              <a:path w="192" h="594">
                <a:moveTo>
                  <a:pt x="0" y="594"/>
                </a:moveTo>
                <a:lnTo>
                  <a:pt x="192" y="0"/>
                </a:lnTo>
                <a:lnTo>
                  <a:pt x="192" y="515"/>
                </a:lnTo>
                <a:lnTo>
                  <a:pt x="0" y="594"/>
                </a:lnTo>
                <a:close/>
              </a:path>
            </a:pathLst>
          </a:custGeom>
          <a:gradFill rotWithShape="1">
            <a:gsLst>
              <a:gs pos="0">
                <a:schemeClr val="bg1"/>
              </a:gs>
              <a:gs pos="100000">
                <a:srgbClr val="CC000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7" name="Group 6">
            <a:extLst>
              <a:ext uri="{FF2B5EF4-FFF2-40B4-BE49-F238E27FC236}">
                <a16:creationId xmlns:a16="http://schemas.microsoft.com/office/drawing/2014/main" id="{6CFEE881-E73C-8C4D-A5ED-9848E08F428B}"/>
              </a:ext>
            </a:extLst>
          </p:cNvPr>
          <p:cNvGrpSpPr/>
          <p:nvPr/>
        </p:nvGrpSpPr>
        <p:grpSpPr>
          <a:xfrm>
            <a:off x="10288915" y="4742972"/>
            <a:ext cx="880622" cy="861812"/>
            <a:chOff x="10288915" y="4742972"/>
            <a:chExt cx="880622" cy="861812"/>
          </a:xfrm>
        </p:grpSpPr>
        <p:grpSp>
          <p:nvGrpSpPr>
            <p:cNvPr id="323" name="Group 950">
              <a:extLst>
                <a:ext uri="{FF2B5EF4-FFF2-40B4-BE49-F238E27FC236}">
                  <a16:creationId xmlns:a16="http://schemas.microsoft.com/office/drawing/2014/main" id="{BF16D25A-05F2-BD48-8851-FCCC3771B7E8}"/>
                </a:ext>
              </a:extLst>
            </p:cNvPr>
            <p:cNvGrpSpPr>
              <a:grpSpLocks/>
            </p:cNvGrpSpPr>
            <p:nvPr/>
          </p:nvGrpSpPr>
          <p:grpSpPr bwMode="auto">
            <a:xfrm>
              <a:off x="10288915" y="5273951"/>
              <a:ext cx="177192" cy="330833"/>
              <a:chOff x="4140" y="429"/>
              <a:chExt cx="1425" cy="2396"/>
            </a:xfrm>
          </p:grpSpPr>
          <p:sp>
            <p:nvSpPr>
              <p:cNvPr id="324" name="Freeform 951">
                <a:extLst>
                  <a:ext uri="{FF2B5EF4-FFF2-40B4-BE49-F238E27FC236}">
                    <a16:creationId xmlns:a16="http://schemas.microsoft.com/office/drawing/2014/main" id="{72C50429-8235-E440-B0F8-ADCFAC748511}"/>
                  </a:ext>
                </a:extLst>
              </p:cNvPr>
              <p:cNvSpPr>
                <a:spLocks/>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5" name="Rectangle 952">
                <a:extLst>
                  <a:ext uri="{FF2B5EF4-FFF2-40B4-BE49-F238E27FC236}">
                    <a16:creationId xmlns:a16="http://schemas.microsoft.com/office/drawing/2014/main" id="{C8289D20-20EF-CE4A-B82D-CC6F98B220CD}"/>
                  </a:ext>
                </a:extLst>
              </p:cNvPr>
              <p:cNvSpPr>
                <a:spLocks noChangeArrowheads="1"/>
              </p:cNvSpPr>
              <p:nvPr/>
            </p:nvSpPr>
            <p:spPr bwMode="auto">
              <a:xfrm>
                <a:off x="4210" y="429"/>
                <a:ext cx="1046"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26" name="Freeform 953">
                <a:extLst>
                  <a:ext uri="{FF2B5EF4-FFF2-40B4-BE49-F238E27FC236}">
                    <a16:creationId xmlns:a16="http://schemas.microsoft.com/office/drawing/2014/main" id="{512EE24C-2BC1-5A45-B541-28FAD55222BB}"/>
                  </a:ext>
                </a:extLst>
              </p:cNvPr>
              <p:cNvSpPr>
                <a:spLocks/>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7" name="Freeform 954">
                <a:extLst>
                  <a:ext uri="{FF2B5EF4-FFF2-40B4-BE49-F238E27FC236}">
                    <a16:creationId xmlns:a16="http://schemas.microsoft.com/office/drawing/2014/main" id="{CC26DF50-FD02-994D-80F7-4CD21CC31FDE}"/>
                  </a:ext>
                </a:extLst>
              </p:cNvPr>
              <p:cNvSpPr>
                <a:spLocks/>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8" name="Rectangle 955">
                <a:extLst>
                  <a:ext uri="{FF2B5EF4-FFF2-40B4-BE49-F238E27FC236}">
                    <a16:creationId xmlns:a16="http://schemas.microsoft.com/office/drawing/2014/main" id="{12D5F885-EEB6-EA49-8F16-8E65F7B568A3}"/>
                  </a:ext>
                </a:extLst>
              </p:cNvPr>
              <p:cNvSpPr>
                <a:spLocks noChangeArrowheads="1"/>
              </p:cNvSpPr>
              <p:nvPr/>
            </p:nvSpPr>
            <p:spPr bwMode="auto">
              <a:xfrm>
                <a:off x="4210" y="690"/>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329" name="Group 956">
                <a:extLst>
                  <a:ext uri="{FF2B5EF4-FFF2-40B4-BE49-F238E27FC236}">
                    <a16:creationId xmlns:a16="http://schemas.microsoft.com/office/drawing/2014/main" id="{4819CF1A-CAA2-2445-BACA-6333C67700FA}"/>
                  </a:ext>
                </a:extLst>
              </p:cNvPr>
              <p:cNvGrpSpPr>
                <a:grpSpLocks/>
              </p:cNvGrpSpPr>
              <p:nvPr/>
            </p:nvGrpSpPr>
            <p:grpSpPr bwMode="auto">
              <a:xfrm>
                <a:off x="4749" y="668"/>
                <a:ext cx="581" cy="145"/>
                <a:chOff x="614" y="2568"/>
                <a:chExt cx="725" cy="139"/>
              </a:xfrm>
            </p:grpSpPr>
            <p:sp>
              <p:nvSpPr>
                <p:cNvPr id="354" name="AutoShape 957">
                  <a:extLst>
                    <a:ext uri="{FF2B5EF4-FFF2-40B4-BE49-F238E27FC236}">
                      <a16:creationId xmlns:a16="http://schemas.microsoft.com/office/drawing/2014/main" id="{F403CAA7-7575-5B45-9B26-74060E67EDD8}"/>
                    </a:ext>
                  </a:extLst>
                </p:cNvPr>
                <p:cNvSpPr>
                  <a:spLocks noChangeArrowheads="1"/>
                </p:cNvSpPr>
                <p:nvPr/>
              </p:nvSpPr>
              <p:spPr bwMode="auto">
                <a:xfrm>
                  <a:off x="613" y="2566"/>
                  <a:ext cx="721" cy="14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55" name="AutoShape 958">
                  <a:extLst>
                    <a:ext uri="{FF2B5EF4-FFF2-40B4-BE49-F238E27FC236}">
                      <a16:creationId xmlns:a16="http://schemas.microsoft.com/office/drawing/2014/main" id="{E7C03107-B3D4-E74B-8026-51FC5FB4C97E}"/>
                    </a:ext>
                  </a:extLst>
                </p:cNvPr>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330" name="Rectangle 959">
                <a:extLst>
                  <a:ext uri="{FF2B5EF4-FFF2-40B4-BE49-F238E27FC236}">
                    <a16:creationId xmlns:a16="http://schemas.microsoft.com/office/drawing/2014/main" id="{8C82FD14-8B3E-4C45-BA2F-1D536922BBF8}"/>
                  </a:ext>
                </a:extLst>
              </p:cNvPr>
              <p:cNvSpPr>
                <a:spLocks noChangeArrowheads="1"/>
              </p:cNvSpPr>
              <p:nvPr/>
            </p:nvSpPr>
            <p:spPr bwMode="auto">
              <a:xfrm>
                <a:off x="4220" y="1022"/>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331" name="Group 960">
                <a:extLst>
                  <a:ext uri="{FF2B5EF4-FFF2-40B4-BE49-F238E27FC236}">
                    <a16:creationId xmlns:a16="http://schemas.microsoft.com/office/drawing/2014/main" id="{848EC42A-6B0F-D74E-99AF-9287D4319DF2}"/>
                  </a:ext>
                </a:extLst>
              </p:cNvPr>
              <p:cNvGrpSpPr>
                <a:grpSpLocks/>
              </p:cNvGrpSpPr>
              <p:nvPr/>
            </p:nvGrpSpPr>
            <p:grpSpPr bwMode="auto">
              <a:xfrm>
                <a:off x="4747" y="994"/>
                <a:ext cx="581" cy="134"/>
                <a:chOff x="614" y="2568"/>
                <a:chExt cx="725" cy="139"/>
              </a:xfrm>
            </p:grpSpPr>
            <p:sp>
              <p:nvSpPr>
                <p:cNvPr id="352" name="AutoShape 961">
                  <a:extLst>
                    <a:ext uri="{FF2B5EF4-FFF2-40B4-BE49-F238E27FC236}">
                      <a16:creationId xmlns:a16="http://schemas.microsoft.com/office/drawing/2014/main" id="{5837F05C-C8FD-5D48-B46A-FAF46F8F6D0B}"/>
                    </a:ext>
                  </a:extLst>
                </p:cNvPr>
                <p:cNvSpPr>
                  <a:spLocks noChangeArrowheads="1"/>
                </p:cNvSpPr>
                <p:nvPr/>
              </p:nvSpPr>
              <p:spPr bwMode="auto">
                <a:xfrm>
                  <a:off x="615" y="2564"/>
                  <a:ext cx="721"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53" name="AutoShape 962">
                  <a:extLst>
                    <a:ext uri="{FF2B5EF4-FFF2-40B4-BE49-F238E27FC236}">
                      <a16:creationId xmlns:a16="http://schemas.microsoft.com/office/drawing/2014/main" id="{85884ACD-1556-C049-9208-BBD38D4BCBC0}"/>
                    </a:ext>
                  </a:extLst>
                </p:cNvPr>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332" name="Rectangle 963">
                <a:extLst>
                  <a:ext uri="{FF2B5EF4-FFF2-40B4-BE49-F238E27FC236}">
                    <a16:creationId xmlns:a16="http://schemas.microsoft.com/office/drawing/2014/main" id="{BB3BDCEC-6ABC-7E44-B9C4-70680B6560C5}"/>
                  </a:ext>
                </a:extLst>
              </p:cNvPr>
              <p:cNvSpPr>
                <a:spLocks noChangeArrowheads="1"/>
              </p:cNvSpPr>
              <p:nvPr/>
            </p:nvSpPr>
            <p:spPr bwMode="auto">
              <a:xfrm>
                <a:off x="4220" y="1354"/>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33" name="Rectangle 964">
                <a:extLst>
                  <a:ext uri="{FF2B5EF4-FFF2-40B4-BE49-F238E27FC236}">
                    <a16:creationId xmlns:a16="http://schemas.microsoft.com/office/drawing/2014/main" id="{BF659529-BF75-D64D-A398-3F5F02E8D6F0}"/>
                  </a:ext>
                </a:extLst>
              </p:cNvPr>
              <p:cNvSpPr>
                <a:spLocks noChangeArrowheads="1"/>
              </p:cNvSpPr>
              <p:nvPr/>
            </p:nvSpPr>
            <p:spPr bwMode="auto">
              <a:xfrm>
                <a:off x="4230" y="1655"/>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334" name="Group 965">
                <a:extLst>
                  <a:ext uri="{FF2B5EF4-FFF2-40B4-BE49-F238E27FC236}">
                    <a16:creationId xmlns:a16="http://schemas.microsoft.com/office/drawing/2014/main" id="{08EED94E-296E-6944-AB01-4E0F74CF6006}"/>
                  </a:ext>
                </a:extLst>
              </p:cNvPr>
              <p:cNvGrpSpPr>
                <a:grpSpLocks/>
              </p:cNvGrpSpPr>
              <p:nvPr/>
            </p:nvGrpSpPr>
            <p:grpSpPr bwMode="auto">
              <a:xfrm>
                <a:off x="4735" y="1627"/>
                <a:ext cx="582" cy="151"/>
                <a:chOff x="614" y="2568"/>
                <a:chExt cx="725" cy="139"/>
              </a:xfrm>
            </p:grpSpPr>
            <p:sp>
              <p:nvSpPr>
                <p:cNvPr id="350" name="AutoShape 966">
                  <a:extLst>
                    <a:ext uri="{FF2B5EF4-FFF2-40B4-BE49-F238E27FC236}">
                      <a16:creationId xmlns:a16="http://schemas.microsoft.com/office/drawing/2014/main" id="{E45BC691-EDAB-5043-B974-6931BF4A1A74}"/>
                    </a:ext>
                  </a:extLst>
                </p:cNvPr>
                <p:cNvSpPr>
                  <a:spLocks noChangeArrowheads="1"/>
                </p:cNvSpPr>
                <p:nvPr/>
              </p:nvSpPr>
              <p:spPr bwMode="auto">
                <a:xfrm>
                  <a:off x="618" y="2586"/>
                  <a:ext cx="720" cy="12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51" name="AutoShape 967">
                  <a:extLst>
                    <a:ext uri="{FF2B5EF4-FFF2-40B4-BE49-F238E27FC236}">
                      <a16:creationId xmlns:a16="http://schemas.microsoft.com/office/drawing/2014/main" id="{BC4BCC73-0226-7344-A90F-A319311EB05E}"/>
                    </a:ext>
                  </a:extLst>
                </p:cNvPr>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335" name="Freeform 968">
                <a:extLst>
                  <a:ext uri="{FF2B5EF4-FFF2-40B4-BE49-F238E27FC236}">
                    <a16:creationId xmlns:a16="http://schemas.microsoft.com/office/drawing/2014/main" id="{4D3CB3E6-04E9-DD42-A1E2-B9CFDE5F4080}"/>
                  </a:ext>
                </a:extLst>
              </p:cNvPr>
              <p:cNvSpPr>
                <a:spLocks/>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336" name="Group 969">
                <a:extLst>
                  <a:ext uri="{FF2B5EF4-FFF2-40B4-BE49-F238E27FC236}">
                    <a16:creationId xmlns:a16="http://schemas.microsoft.com/office/drawing/2014/main" id="{D3A85C8F-5C9D-004C-BED1-826FD6B7538B}"/>
                  </a:ext>
                </a:extLst>
              </p:cNvPr>
              <p:cNvGrpSpPr>
                <a:grpSpLocks/>
              </p:cNvGrpSpPr>
              <p:nvPr/>
            </p:nvGrpSpPr>
            <p:grpSpPr bwMode="auto">
              <a:xfrm>
                <a:off x="4739" y="1327"/>
                <a:ext cx="582" cy="139"/>
                <a:chOff x="614" y="2568"/>
                <a:chExt cx="725" cy="139"/>
              </a:xfrm>
            </p:grpSpPr>
            <p:sp>
              <p:nvSpPr>
                <p:cNvPr id="348" name="AutoShape 970">
                  <a:extLst>
                    <a:ext uri="{FF2B5EF4-FFF2-40B4-BE49-F238E27FC236}">
                      <a16:creationId xmlns:a16="http://schemas.microsoft.com/office/drawing/2014/main" id="{61DC189F-D857-CE49-9706-A99AFD074139}"/>
                    </a:ext>
                  </a:extLst>
                </p:cNvPr>
                <p:cNvSpPr>
                  <a:spLocks noChangeArrowheads="1"/>
                </p:cNvSpPr>
                <p:nvPr/>
              </p:nvSpPr>
              <p:spPr bwMode="auto">
                <a:xfrm>
                  <a:off x="613" y="2571"/>
                  <a:ext cx="732" cy="13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49" name="AutoShape 971">
                  <a:extLst>
                    <a:ext uri="{FF2B5EF4-FFF2-40B4-BE49-F238E27FC236}">
                      <a16:creationId xmlns:a16="http://schemas.microsoft.com/office/drawing/2014/main" id="{8FED6611-7057-CD45-9474-CA215533CFCA}"/>
                    </a:ext>
                  </a:extLst>
                </p:cNvPr>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337" name="Rectangle 972">
                <a:extLst>
                  <a:ext uri="{FF2B5EF4-FFF2-40B4-BE49-F238E27FC236}">
                    <a16:creationId xmlns:a16="http://schemas.microsoft.com/office/drawing/2014/main" id="{043E3E2C-723D-CA49-8604-B8FA4FD29217}"/>
                  </a:ext>
                </a:extLst>
              </p:cNvPr>
              <p:cNvSpPr>
                <a:spLocks noChangeArrowheads="1"/>
              </p:cNvSpPr>
              <p:nvPr/>
            </p:nvSpPr>
            <p:spPr bwMode="auto">
              <a:xfrm>
                <a:off x="5246" y="429"/>
                <a:ext cx="70" cy="2285"/>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38" name="Freeform 973">
                <a:extLst>
                  <a:ext uri="{FF2B5EF4-FFF2-40B4-BE49-F238E27FC236}">
                    <a16:creationId xmlns:a16="http://schemas.microsoft.com/office/drawing/2014/main" id="{A7D59DBF-B240-2743-8F05-CD66521792A4}"/>
                  </a:ext>
                </a:extLst>
              </p:cNvPr>
              <p:cNvSpPr>
                <a:spLocks/>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9" name="Freeform 974">
                <a:extLst>
                  <a:ext uri="{FF2B5EF4-FFF2-40B4-BE49-F238E27FC236}">
                    <a16:creationId xmlns:a16="http://schemas.microsoft.com/office/drawing/2014/main" id="{782758E0-5FA1-2541-8957-4820DA264444}"/>
                  </a:ext>
                </a:extLst>
              </p:cNvPr>
              <p:cNvSpPr>
                <a:spLocks/>
              </p:cNvSpPr>
              <p:nvPr/>
            </p:nvSpPr>
            <p:spPr bwMode="auto">
              <a:xfrm>
                <a:off x="5315"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0" name="Oval 975">
                <a:extLst>
                  <a:ext uri="{FF2B5EF4-FFF2-40B4-BE49-F238E27FC236}">
                    <a16:creationId xmlns:a16="http://schemas.microsoft.com/office/drawing/2014/main" id="{E43434A9-1771-1841-B10D-00C68B13FB31}"/>
                  </a:ext>
                </a:extLst>
              </p:cNvPr>
              <p:cNvSpPr>
                <a:spLocks noChangeArrowheads="1"/>
              </p:cNvSpPr>
              <p:nvPr/>
            </p:nvSpPr>
            <p:spPr bwMode="auto">
              <a:xfrm>
                <a:off x="5515" y="2611"/>
                <a:ext cx="50" cy="9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41" name="Freeform 976">
                <a:extLst>
                  <a:ext uri="{FF2B5EF4-FFF2-40B4-BE49-F238E27FC236}">
                    <a16:creationId xmlns:a16="http://schemas.microsoft.com/office/drawing/2014/main" id="{7F3BC29B-77D4-0345-BC99-5EBDE5178647}"/>
                  </a:ext>
                </a:extLst>
              </p:cNvPr>
              <p:cNvSpPr>
                <a:spLocks/>
              </p:cNvSpPr>
              <p:nvPr/>
            </p:nvSpPr>
            <p:spPr bwMode="auto">
              <a:xfrm>
                <a:off x="5302" y="2614"/>
                <a:ext cx="245"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2" name="AutoShape 977">
                <a:extLst>
                  <a:ext uri="{FF2B5EF4-FFF2-40B4-BE49-F238E27FC236}">
                    <a16:creationId xmlns:a16="http://schemas.microsoft.com/office/drawing/2014/main" id="{AB8C4D5D-D558-0E48-B735-10A1700F94AB}"/>
                  </a:ext>
                </a:extLst>
              </p:cNvPr>
              <p:cNvSpPr>
                <a:spLocks noChangeArrowheads="1"/>
              </p:cNvSpPr>
              <p:nvPr/>
            </p:nvSpPr>
            <p:spPr bwMode="auto">
              <a:xfrm>
                <a:off x="4140" y="2675"/>
                <a:ext cx="1196" cy="150"/>
              </a:xfrm>
              <a:prstGeom prst="roundRect">
                <a:avLst>
                  <a:gd name="adj" fmla="val 50000"/>
                </a:avLst>
              </a:prstGeom>
              <a:solidFill>
                <a:srgbClr val="DDDDDD"/>
              </a:soli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43" name="AutoShape 978">
                <a:extLst>
                  <a:ext uri="{FF2B5EF4-FFF2-40B4-BE49-F238E27FC236}">
                    <a16:creationId xmlns:a16="http://schemas.microsoft.com/office/drawing/2014/main" id="{A52E34C3-2A4E-6E43-AEAD-80E9029E9F40}"/>
                  </a:ext>
                </a:extLst>
              </p:cNvPr>
              <p:cNvSpPr>
                <a:spLocks noChangeArrowheads="1"/>
              </p:cNvSpPr>
              <p:nvPr/>
            </p:nvSpPr>
            <p:spPr bwMode="auto">
              <a:xfrm>
                <a:off x="4210" y="2714"/>
                <a:ext cx="1066" cy="79"/>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44" name="Oval 979">
                <a:extLst>
                  <a:ext uri="{FF2B5EF4-FFF2-40B4-BE49-F238E27FC236}">
                    <a16:creationId xmlns:a16="http://schemas.microsoft.com/office/drawing/2014/main" id="{CF996EB8-B8AF-1645-81FB-5C4480FC1083}"/>
                  </a:ext>
                </a:extLst>
              </p:cNvPr>
              <p:cNvSpPr>
                <a:spLocks noChangeArrowheads="1"/>
              </p:cNvSpPr>
              <p:nvPr/>
            </p:nvSpPr>
            <p:spPr bwMode="auto">
              <a:xfrm>
                <a:off x="4309"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45" name="Oval 980">
                <a:extLst>
                  <a:ext uri="{FF2B5EF4-FFF2-40B4-BE49-F238E27FC236}">
                    <a16:creationId xmlns:a16="http://schemas.microsoft.com/office/drawing/2014/main" id="{6ABBF416-3D25-A54A-B9CB-9BC7B8D8BD14}"/>
                  </a:ext>
                </a:extLst>
              </p:cNvPr>
              <p:cNvSpPr>
                <a:spLocks noChangeArrowheads="1"/>
              </p:cNvSpPr>
              <p:nvPr/>
            </p:nvSpPr>
            <p:spPr bwMode="auto">
              <a:xfrm>
                <a:off x="4489" y="2382"/>
                <a:ext cx="159" cy="142"/>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altLang="en-US" sz="1800" b="0" i="0" u="none" strike="noStrike" kern="1200" cap="none" spc="0" normalizeH="0" baseline="0" noProof="0" dirty="0">
                  <a:ln>
                    <a:noFill/>
                  </a:ln>
                  <a:solidFill>
                    <a:srgbClr val="FF0000"/>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46" name="Oval 981">
                <a:extLst>
                  <a:ext uri="{FF2B5EF4-FFF2-40B4-BE49-F238E27FC236}">
                    <a16:creationId xmlns:a16="http://schemas.microsoft.com/office/drawing/2014/main" id="{BEBFB614-43B9-5A4B-8E5D-794244BE125E}"/>
                  </a:ext>
                </a:extLst>
              </p:cNvPr>
              <p:cNvSpPr>
                <a:spLocks noChangeArrowheads="1"/>
              </p:cNvSpPr>
              <p:nvPr/>
            </p:nvSpPr>
            <p:spPr bwMode="auto">
              <a:xfrm>
                <a:off x="4658"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47" name="Rectangle 982">
                <a:extLst>
                  <a:ext uri="{FF2B5EF4-FFF2-40B4-BE49-F238E27FC236}">
                    <a16:creationId xmlns:a16="http://schemas.microsoft.com/office/drawing/2014/main" id="{C5CE1C8E-4047-8540-B7FB-EBAB3DBC6460}"/>
                  </a:ext>
                </a:extLst>
              </p:cNvPr>
              <p:cNvSpPr>
                <a:spLocks noChangeArrowheads="1"/>
              </p:cNvSpPr>
              <p:nvPr/>
            </p:nvSpPr>
            <p:spPr bwMode="auto">
              <a:xfrm>
                <a:off x="5067" y="1837"/>
                <a:ext cx="80" cy="759"/>
              </a:xfrm>
              <a:prstGeom prst="rect">
                <a:avLst/>
              </a:prstGeom>
              <a:solidFill>
                <a:srgbClr val="292929"/>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65" name="Rectangle 227">
              <a:extLst>
                <a:ext uri="{FF2B5EF4-FFF2-40B4-BE49-F238E27FC236}">
                  <a16:creationId xmlns:a16="http://schemas.microsoft.com/office/drawing/2014/main" id="{DDE0D48B-5AA6-5340-937B-33FE1BA44B20}"/>
                </a:ext>
              </a:extLst>
            </p:cNvPr>
            <p:cNvSpPr>
              <a:spLocks noChangeArrowheads="1"/>
            </p:cNvSpPr>
            <p:nvPr/>
          </p:nvSpPr>
          <p:spPr bwMode="auto">
            <a:xfrm>
              <a:off x="10452186" y="4753064"/>
              <a:ext cx="676276" cy="776288"/>
            </a:xfrm>
            <a:prstGeom prst="rect">
              <a:avLst/>
            </a:prstGeom>
            <a:solidFill>
              <a:srgbClr val="0000A8"/>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466" name="Rectangle 228">
              <a:extLst>
                <a:ext uri="{FF2B5EF4-FFF2-40B4-BE49-F238E27FC236}">
                  <a16:creationId xmlns:a16="http://schemas.microsoft.com/office/drawing/2014/main" id="{AEBD2839-8A70-0849-9413-EA386C5B0A76}"/>
                </a:ext>
              </a:extLst>
            </p:cNvPr>
            <p:cNvSpPr>
              <a:spLocks noChangeArrowheads="1"/>
            </p:cNvSpPr>
            <p:nvPr/>
          </p:nvSpPr>
          <p:spPr bwMode="auto">
            <a:xfrm>
              <a:off x="10418848" y="4776877"/>
              <a:ext cx="690563" cy="800100"/>
            </a:xfrm>
            <a:prstGeom prst="rect">
              <a:avLst/>
            </a:prstGeom>
            <a:solidFill>
              <a:schemeClr val="bg1"/>
            </a:solidFill>
            <a:ln w="12700">
              <a:solidFill>
                <a:schemeClr val="tx1"/>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467" name="Rectangle 229">
              <a:extLst>
                <a:ext uri="{FF2B5EF4-FFF2-40B4-BE49-F238E27FC236}">
                  <a16:creationId xmlns:a16="http://schemas.microsoft.com/office/drawing/2014/main" id="{66D99AF7-74D7-B440-A1E0-2DC5D0A5EFA3}"/>
                </a:ext>
              </a:extLst>
            </p:cNvPr>
            <p:cNvSpPr>
              <a:spLocks noChangeArrowheads="1"/>
            </p:cNvSpPr>
            <p:nvPr/>
          </p:nvSpPr>
          <p:spPr bwMode="auto">
            <a:xfrm>
              <a:off x="10425991" y="4930726"/>
              <a:ext cx="676276" cy="186668"/>
            </a:xfrm>
            <a:prstGeom prst="rect">
              <a:avLst/>
            </a:prstGeom>
            <a:solidFill>
              <a:srgbClr val="C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468" name="Text Box 230">
              <a:extLst>
                <a:ext uri="{FF2B5EF4-FFF2-40B4-BE49-F238E27FC236}">
                  <a16:creationId xmlns:a16="http://schemas.microsoft.com/office/drawing/2014/main" id="{0C785C80-53AC-EA4E-992A-05BE1EFF5EBC}"/>
                </a:ext>
              </a:extLst>
            </p:cNvPr>
            <p:cNvSpPr txBox="1">
              <a:spLocks noChangeArrowheads="1"/>
            </p:cNvSpPr>
            <p:nvPr/>
          </p:nvSpPr>
          <p:spPr bwMode="auto">
            <a:xfrm>
              <a:off x="10355149" y="4742972"/>
              <a:ext cx="814388"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application</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white"/>
                  </a:solidFill>
                  <a:effectLst/>
                  <a:uLnTx/>
                  <a:uFillTx/>
                  <a:latin typeface="Arial" panose="020B0604020202020204" pitchFamily="34" charset="0"/>
                  <a:ea typeface="ＭＳ Ｐゴシック" panose="020B0600070205080204" pitchFamily="34" charset="-128"/>
                  <a:cs typeface="+mn-cs"/>
                </a:rPr>
                <a:t>transport</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network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data link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physical</a:t>
              </a: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469" name="Line 231">
              <a:extLst>
                <a:ext uri="{FF2B5EF4-FFF2-40B4-BE49-F238E27FC236}">
                  <a16:creationId xmlns:a16="http://schemas.microsoft.com/office/drawing/2014/main" id="{444422FC-4C08-2E49-AD0C-394B62D1B370}"/>
                </a:ext>
              </a:extLst>
            </p:cNvPr>
            <p:cNvSpPr>
              <a:spLocks noChangeShapeType="1"/>
            </p:cNvSpPr>
            <p:nvPr/>
          </p:nvSpPr>
          <p:spPr bwMode="auto">
            <a:xfrm>
              <a:off x="10418848" y="5119777"/>
              <a:ext cx="690563" cy="476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70" name="Line 232">
              <a:extLst>
                <a:ext uri="{FF2B5EF4-FFF2-40B4-BE49-F238E27FC236}">
                  <a16:creationId xmlns:a16="http://schemas.microsoft.com/office/drawing/2014/main" id="{D3DF9882-BA24-4148-9227-6803DB03F930}"/>
                </a:ext>
              </a:extLst>
            </p:cNvPr>
            <p:cNvSpPr>
              <a:spLocks noChangeShapeType="1"/>
            </p:cNvSpPr>
            <p:nvPr/>
          </p:nvSpPr>
          <p:spPr bwMode="auto">
            <a:xfrm>
              <a:off x="10428373" y="5257889"/>
              <a:ext cx="690563" cy="476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71" name="Line 233">
              <a:extLst>
                <a:ext uri="{FF2B5EF4-FFF2-40B4-BE49-F238E27FC236}">
                  <a16:creationId xmlns:a16="http://schemas.microsoft.com/office/drawing/2014/main" id="{238E9799-3D8B-F54E-BFBB-FE1237FADF63}"/>
                </a:ext>
              </a:extLst>
            </p:cNvPr>
            <p:cNvSpPr>
              <a:spLocks noChangeShapeType="1"/>
            </p:cNvSpPr>
            <p:nvPr/>
          </p:nvSpPr>
          <p:spPr bwMode="auto">
            <a:xfrm>
              <a:off x="10428373" y="5396002"/>
              <a:ext cx="690563" cy="476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472" name="Freeform 917">
            <a:extLst>
              <a:ext uri="{FF2B5EF4-FFF2-40B4-BE49-F238E27FC236}">
                <a16:creationId xmlns:a16="http://schemas.microsoft.com/office/drawing/2014/main" id="{831FA212-BCFB-1F40-96A0-1C871E9EF3AB}"/>
              </a:ext>
            </a:extLst>
          </p:cNvPr>
          <p:cNvSpPr>
            <a:spLocks/>
          </p:cNvSpPr>
          <p:nvPr/>
        </p:nvSpPr>
        <p:spPr bwMode="auto">
          <a:xfrm>
            <a:off x="10104523" y="4775289"/>
            <a:ext cx="304800" cy="942975"/>
          </a:xfrm>
          <a:custGeom>
            <a:avLst/>
            <a:gdLst>
              <a:gd name="T0" fmla="*/ 0 w 192"/>
              <a:gd name="T1" fmla="*/ 594 h 594"/>
              <a:gd name="T2" fmla="*/ 192 w 192"/>
              <a:gd name="T3" fmla="*/ 0 h 594"/>
              <a:gd name="T4" fmla="*/ 192 w 192"/>
              <a:gd name="T5" fmla="*/ 515 h 594"/>
              <a:gd name="T6" fmla="*/ 0 w 192"/>
              <a:gd name="T7" fmla="*/ 594 h 594"/>
              <a:gd name="T8" fmla="*/ 0 60000 65536"/>
              <a:gd name="T9" fmla="*/ 0 60000 65536"/>
              <a:gd name="T10" fmla="*/ 0 60000 65536"/>
              <a:gd name="T11" fmla="*/ 0 60000 65536"/>
              <a:gd name="T12" fmla="*/ 0 w 192"/>
              <a:gd name="T13" fmla="*/ 0 h 594"/>
              <a:gd name="T14" fmla="*/ 192 w 192"/>
              <a:gd name="T15" fmla="*/ 594 h 594"/>
            </a:gdLst>
            <a:ahLst/>
            <a:cxnLst>
              <a:cxn ang="T8">
                <a:pos x="T0" y="T1"/>
              </a:cxn>
              <a:cxn ang="T9">
                <a:pos x="T2" y="T3"/>
              </a:cxn>
              <a:cxn ang="T10">
                <a:pos x="T4" y="T5"/>
              </a:cxn>
              <a:cxn ang="T11">
                <a:pos x="T6" y="T7"/>
              </a:cxn>
            </a:cxnLst>
            <a:rect l="T12" t="T13" r="T14" b="T15"/>
            <a:pathLst>
              <a:path w="192" h="594">
                <a:moveTo>
                  <a:pt x="0" y="594"/>
                </a:moveTo>
                <a:lnTo>
                  <a:pt x="192" y="0"/>
                </a:lnTo>
                <a:lnTo>
                  <a:pt x="192" y="515"/>
                </a:lnTo>
                <a:lnTo>
                  <a:pt x="0" y="594"/>
                </a:lnTo>
                <a:close/>
              </a:path>
            </a:pathLst>
          </a:custGeom>
          <a:gradFill rotWithShape="1">
            <a:gsLst>
              <a:gs pos="0">
                <a:schemeClr val="bg1"/>
              </a:gs>
              <a:gs pos="100000">
                <a:srgbClr val="CC000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484" name="Group 950">
            <a:extLst>
              <a:ext uri="{FF2B5EF4-FFF2-40B4-BE49-F238E27FC236}">
                <a16:creationId xmlns:a16="http://schemas.microsoft.com/office/drawing/2014/main" id="{7CEBBAF6-579E-3943-B1EB-BB883618D6D9}"/>
              </a:ext>
            </a:extLst>
          </p:cNvPr>
          <p:cNvGrpSpPr>
            <a:grpSpLocks/>
          </p:cNvGrpSpPr>
          <p:nvPr/>
        </p:nvGrpSpPr>
        <p:grpSpPr bwMode="auto">
          <a:xfrm>
            <a:off x="10002508" y="5616400"/>
            <a:ext cx="214974" cy="403920"/>
            <a:chOff x="4140" y="429"/>
            <a:chExt cx="1425" cy="2396"/>
          </a:xfrm>
        </p:grpSpPr>
        <p:sp>
          <p:nvSpPr>
            <p:cNvPr id="485" name="Freeform 951">
              <a:extLst>
                <a:ext uri="{FF2B5EF4-FFF2-40B4-BE49-F238E27FC236}">
                  <a16:creationId xmlns:a16="http://schemas.microsoft.com/office/drawing/2014/main" id="{984581C6-7CED-A042-809F-11066F04B55E}"/>
                </a:ext>
              </a:extLst>
            </p:cNvPr>
            <p:cNvSpPr>
              <a:spLocks/>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86" name="Rectangle 952">
              <a:extLst>
                <a:ext uri="{FF2B5EF4-FFF2-40B4-BE49-F238E27FC236}">
                  <a16:creationId xmlns:a16="http://schemas.microsoft.com/office/drawing/2014/main" id="{0E0A78D4-7C3B-2143-AE69-FA504AD75E5E}"/>
                </a:ext>
              </a:extLst>
            </p:cNvPr>
            <p:cNvSpPr>
              <a:spLocks noChangeArrowheads="1"/>
            </p:cNvSpPr>
            <p:nvPr/>
          </p:nvSpPr>
          <p:spPr bwMode="auto">
            <a:xfrm>
              <a:off x="4210" y="429"/>
              <a:ext cx="1046"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87" name="Freeform 953">
              <a:extLst>
                <a:ext uri="{FF2B5EF4-FFF2-40B4-BE49-F238E27FC236}">
                  <a16:creationId xmlns:a16="http://schemas.microsoft.com/office/drawing/2014/main" id="{B0C7F238-A8B7-7443-8BA5-8939FF6B5572}"/>
                </a:ext>
              </a:extLst>
            </p:cNvPr>
            <p:cNvSpPr>
              <a:spLocks/>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88" name="Freeform 954">
              <a:extLst>
                <a:ext uri="{FF2B5EF4-FFF2-40B4-BE49-F238E27FC236}">
                  <a16:creationId xmlns:a16="http://schemas.microsoft.com/office/drawing/2014/main" id="{6F90FD17-11E4-EE4F-AF2F-7122C053E0C1}"/>
                </a:ext>
              </a:extLst>
            </p:cNvPr>
            <p:cNvSpPr>
              <a:spLocks/>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89" name="Rectangle 955">
              <a:extLst>
                <a:ext uri="{FF2B5EF4-FFF2-40B4-BE49-F238E27FC236}">
                  <a16:creationId xmlns:a16="http://schemas.microsoft.com/office/drawing/2014/main" id="{53A75298-B138-094F-9787-1B231F48063D}"/>
                </a:ext>
              </a:extLst>
            </p:cNvPr>
            <p:cNvSpPr>
              <a:spLocks noChangeArrowheads="1"/>
            </p:cNvSpPr>
            <p:nvPr/>
          </p:nvSpPr>
          <p:spPr bwMode="auto">
            <a:xfrm>
              <a:off x="4210" y="690"/>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490" name="Group 956">
              <a:extLst>
                <a:ext uri="{FF2B5EF4-FFF2-40B4-BE49-F238E27FC236}">
                  <a16:creationId xmlns:a16="http://schemas.microsoft.com/office/drawing/2014/main" id="{AD456B50-CD82-6F4C-9CF1-09ABBC571C85}"/>
                </a:ext>
              </a:extLst>
            </p:cNvPr>
            <p:cNvGrpSpPr>
              <a:grpSpLocks/>
            </p:cNvGrpSpPr>
            <p:nvPr/>
          </p:nvGrpSpPr>
          <p:grpSpPr bwMode="auto">
            <a:xfrm>
              <a:off x="4749" y="668"/>
              <a:ext cx="581" cy="145"/>
              <a:chOff x="614" y="2568"/>
              <a:chExt cx="725" cy="139"/>
            </a:xfrm>
          </p:grpSpPr>
          <p:sp>
            <p:nvSpPr>
              <p:cNvPr id="515" name="AutoShape 957">
                <a:extLst>
                  <a:ext uri="{FF2B5EF4-FFF2-40B4-BE49-F238E27FC236}">
                    <a16:creationId xmlns:a16="http://schemas.microsoft.com/office/drawing/2014/main" id="{4C074F81-A723-5F4E-9479-CE1CDCFBCB88}"/>
                  </a:ext>
                </a:extLst>
              </p:cNvPr>
              <p:cNvSpPr>
                <a:spLocks noChangeArrowheads="1"/>
              </p:cNvSpPr>
              <p:nvPr/>
            </p:nvSpPr>
            <p:spPr bwMode="auto">
              <a:xfrm>
                <a:off x="613" y="2566"/>
                <a:ext cx="721" cy="14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16" name="AutoShape 958">
                <a:extLst>
                  <a:ext uri="{FF2B5EF4-FFF2-40B4-BE49-F238E27FC236}">
                    <a16:creationId xmlns:a16="http://schemas.microsoft.com/office/drawing/2014/main" id="{4DE71513-1E1D-B644-992C-AE6AB0DB1197}"/>
                  </a:ext>
                </a:extLst>
              </p:cNvPr>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91" name="Rectangle 959">
              <a:extLst>
                <a:ext uri="{FF2B5EF4-FFF2-40B4-BE49-F238E27FC236}">
                  <a16:creationId xmlns:a16="http://schemas.microsoft.com/office/drawing/2014/main" id="{05D448DB-B3CB-C64D-8C4B-72D790DFFD42}"/>
                </a:ext>
              </a:extLst>
            </p:cNvPr>
            <p:cNvSpPr>
              <a:spLocks noChangeArrowheads="1"/>
            </p:cNvSpPr>
            <p:nvPr/>
          </p:nvSpPr>
          <p:spPr bwMode="auto">
            <a:xfrm>
              <a:off x="4220" y="1022"/>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492" name="Group 960">
              <a:extLst>
                <a:ext uri="{FF2B5EF4-FFF2-40B4-BE49-F238E27FC236}">
                  <a16:creationId xmlns:a16="http://schemas.microsoft.com/office/drawing/2014/main" id="{9CDEBDA5-A066-D749-B9E9-47DB05253D32}"/>
                </a:ext>
              </a:extLst>
            </p:cNvPr>
            <p:cNvGrpSpPr>
              <a:grpSpLocks/>
            </p:cNvGrpSpPr>
            <p:nvPr/>
          </p:nvGrpSpPr>
          <p:grpSpPr bwMode="auto">
            <a:xfrm>
              <a:off x="4747" y="994"/>
              <a:ext cx="581" cy="134"/>
              <a:chOff x="614" y="2568"/>
              <a:chExt cx="725" cy="139"/>
            </a:xfrm>
          </p:grpSpPr>
          <p:sp>
            <p:nvSpPr>
              <p:cNvPr id="513" name="AutoShape 961">
                <a:extLst>
                  <a:ext uri="{FF2B5EF4-FFF2-40B4-BE49-F238E27FC236}">
                    <a16:creationId xmlns:a16="http://schemas.microsoft.com/office/drawing/2014/main" id="{8E73CA32-EF58-EA45-A4FE-37E560EBE8C6}"/>
                  </a:ext>
                </a:extLst>
              </p:cNvPr>
              <p:cNvSpPr>
                <a:spLocks noChangeArrowheads="1"/>
              </p:cNvSpPr>
              <p:nvPr/>
            </p:nvSpPr>
            <p:spPr bwMode="auto">
              <a:xfrm>
                <a:off x="615" y="2564"/>
                <a:ext cx="721"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14" name="AutoShape 962">
                <a:extLst>
                  <a:ext uri="{FF2B5EF4-FFF2-40B4-BE49-F238E27FC236}">
                    <a16:creationId xmlns:a16="http://schemas.microsoft.com/office/drawing/2014/main" id="{2E2C05F9-1F42-CF46-83F8-339E874CF6FB}"/>
                  </a:ext>
                </a:extLst>
              </p:cNvPr>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93" name="Rectangle 963">
              <a:extLst>
                <a:ext uri="{FF2B5EF4-FFF2-40B4-BE49-F238E27FC236}">
                  <a16:creationId xmlns:a16="http://schemas.microsoft.com/office/drawing/2014/main" id="{D2B5715C-9E55-D04D-BD32-A700B9DCC1E1}"/>
                </a:ext>
              </a:extLst>
            </p:cNvPr>
            <p:cNvSpPr>
              <a:spLocks noChangeArrowheads="1"/>
            </p:cNvSpPr>
            <p:nvPr/>
          </p:nvSpPr>
          <p:spPr bwMode="auto">
            <a:xfrm>
              <a:off x="4220" y="1354"/>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94" name="Rectangle 964">
              <a:extLst>
                <a:ext uri="{FF2B5EF4-FFF2-40B4-BE49-F238E27FC236}">
                  <a16:creationId xmlns:a16="http://schemas.microsoft.com/office/drawing/2014/main" id="{3A8FF8A7-C248-1B42-80FA-051974D95224}"/>
                </a:ext>
              </a:extLst>
            </p:cNvPr>
            <p:cNvSpPr>
              <a:spLocks noChangeArrowheads="1"/>
            </p:cNvSpPr>
            <p:nvPr/>
          </p:nvSpPr>
          <p:spPr bwMode="auto">
            <a:xfrm>
              <a:off x="4230" y="1655"/>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495" name="Group 965">
              <a:extLst>
                <a:ext uri="{FF2B5EF4-FFF2-40B4-BE49-F238E27FC236}">
                  <a16:creationId xmlns:a16="http://schemas.microsoft.com/office/drawing/2014/main" id="{8E71E5B0-A3F5-D344-B255-99112EB195F7}"/>
                </a:ext>
              </a:extLst>
            </p:cNvPr>
            <p:cNvGrpSpPr>
              <a:grpSpLocks/>
            </p:cNvGrpSpPr>
            <p:nvPr/>
          </p:nvGrpSpPr>
          <p:grpSpPr bwMode="auto">
            <a:xfrm>
              <a:off x="4735" y="1627"/>
              <a:ext cx="582" cy="151"/>
              <a:chOff x="614" y="2568"/>
              <a:chExt cx="725" cy="139"/>
            </a:xfrm>
          </p:grpSpPr>
          <p:sp>
            <p:nvSpPr>
              <p:cNvPr id="511" name="AutoShape 966">
                <a:extLst>
                  <a:ext uri="{FF2B5EF4-FFF2-40B4-BE49-F238E27FC236}">
                    <a16:creationId xmlns:a16="http://schemas.microsoft.com/office/drawing/2014/main" id="{A2F22898-EA39-FB4D-B255-ABCB1B7C1663}"/>
                  </a:ext>
                </a:extLst>
              </p:cNvPr>
              <p:cNvSpPr>
                <a:spLocks noChangeArrowheads="1"/>
              </p:cNvSpPr>
              <p:nvPr/>
            </p:nvSpPr>
            <p:spPr bwMode="auto">
              <a:xfrm>
                <a:off x="618" y="2586"/>
                <a:ext cx="720" cy="12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12" name="AutoShape 967">
                <a:extLst>
                  <a:ext uri="{FF2B5EF4-FFF2-40B4-BE49-F238E27FC236}">
                    <a16:creationId xmlns:a16="http://schemas.microsoft.com/office/drawing/2014/main" id="{FBF034BA-270B-6F40-B57B-8A19ABF2818D}"/>
                  </a:ext>
                </a:extLst>
              </p:cNvPr>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96" name="Freeform 968">
              <a:extLst>
                <a:ext uri="{FF2B5EF4-FFF2-40B4-BE49-F238E27FC236}">
                  <a16:creationId xmlns:a16="http://schemas.microsoft.com/office/drawing/2014/main" id="{C6616798-D999-124B-8365-0FF6B1AC6B22}"/>
                </a:ext>
              </a:extLst>
            </p:cNvPr>
            <p:cNvSpPr>
              <a:spLocks/>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497" name="Group 969">
              <a:extLst>
                <a:ext uri="{FF2B5EF4-FFF2-40B4-BE49-F238E27FC236}">
                  <a16:creationId xmlns:a16="http://schemas.microsoft.com/office/drawing/2014/main" id="{0D2B7299-399C-9748-80B1-8B82EA570848}"/>
                </a:ext>
              </a:extLst>
            </p:cNvPr>
            <p:cNvGrpSpPr>
              <a:grpSpLocks/>
            </p:cNvGrpSpPr>
            <p:nvPr/>
          </p:nvGrpSpPr>
          <p:grpSpPr bwMode="auto">
            <a:xfrm>
              <a:off x="4739" y="1327"/>
              <a:ext cx="582" cy="139"/>
              <a:chOff x="614" y="2568"/>
              <a:chExt cx="725" cy="139"/>
            </a:xfrm>
          </p:grpSpPr>
          <p:sp>
            <p:nvSpPr>
              <p:cNvPr id="509" name="AutoShape 970">
                <a:extLst>
                  <a:ext uri="{FF2B5EF4-FFF2-40B4-BE49-F238E27FC236}">
                    <a16:creationId xmlns:a16="http://schemas.microsoft.com/office/drawing/2014/main" id="{791F8FFE-36CE-5D47-899C-7B6F5471D9AF}"/>
                  </a:ext>
                </a:extLst>
              </p:cNvPr>
              <p:cNvSpPr>
                <a:spLocks noChangeArrowheads="1"/>
              </p:cNvSpPr>
              <p:nvPr/>
            </p:nvSpPr>
            <p:spPr bwMode="auto">
              <a:xfrm>
                <a:off x="613" y="2571"/>
                <a:ext cx="732" cy="13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10" name="AutoShape 971">
                <a:extLst>
                  <a:ext uri="{FF2B5EF4-FFF2-40B4-BE49-F238E27FC236}">
                    <a16:creationId xmlns:a16="http://schemas.microsoft.com/office/drawing/2014/main" id="{96614370-C84C-644E-AF93-94853FD47AF1}"/>
                  </a:ext>
                </a:extLst>
              </p:cNvPr>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98" name="Rectangle 972">
              <a:extLst>
                <a:ext uri="{FF2B5EF4-FFF2-40B4-BE49-F238E27FC236}">
                  <a16:creationId xmlns:a16="http://schemas.microsoft.com/office/drawing/2014/main" id="{3024E21F-4580-974D-A923-DBF7106EF158}"/>
                </a:ext>
              </a:extLst>
            </p:cNvPr>
            <p:cNvSpPr>
              <a:spLocks noChangeArrowheads="1"/>
            </p:cNvSpPr>
            <p:nvPr/>
          </p:nvSpPr>
          <p:spPr bwMode="auto">
            <a:xfrm>
              <a:off x="5246" y="429"/>
              <a:ext cx="70" cy="2285"/>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99" name="Freeform 973">
              <a:extLst>
                <a:ext uri="{FF2B5EF4-FFF2-40B4-BE49-F238E27FC236}">
                  <a16:creationId xmlns:a16="http://schemas.microsoft.com/office/drawing/2014/main" id="{355CC750-A436-114A-B13D-15B18BE0099A}"/>
                </a:ext>
              </a:extLst>
            </p:cNvPr>
            <p:cNvSpPr>
              <a:spLocks/>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00" name="Freeform 974">
              <a:extLst>
                <a:ext uri="{FF2B5EF4-FFF2-40B4-BE49-F238E27FC236}">
                  <a16:creationId xmlns:a16="http://schemas.microsoft.com/office/drawing/2014/main" id="{D88AEB08-419C-994D-B9AF-2D260494D178}"/>
                </a:ext>
              </a:extLst>
            </p:cNvPr>
            <p:cNvSpPr>
              <a:spLocks/>
            </p:cNvSpPr>
            <p:nvPr/>
          </p:nvSpPr>
          <p:spPr bwMode="auto">
            <a:xfrm>
              <a:off x="5315"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01" name="Oval 975">
              <a:extLst>
                <a:ext uri="{FF2B5EF4-FFF2-40B4-BE49-F238E27FC236}">
                  <a16:creationId xmlns:a16="http://schemas.microsoft.com/office/drawing/2014/main" id="{A70DC3D0-7F41-FB4E-BF25-4A8051E0D90D}"/>
                </a:ext>
              </a:extLst>
            </p:cNvPr>
            <p:cNvSpPr>
              <a:spLocks noChangeArrowheads="1"/>
            </p:cNvSpPr>
            <p:nvPr/>
          </p:nvSpPr>
          <p:spPr bwMode="auto">
            <a:xfrm>
              <a:off x="5515" y="2611"/>
              <a:ext cx="50" cy="9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02" name="Freeform 976">
              <a:extLst>
                <a:ext uri="{FF2B5EF4-FFF2-40B4-BE49-F238E27FC236}">
                  <a16:creationId xmlns:a16="http://schemas.microsoft.com/office/drawing/2014/main" id="{00011472-61BE-7D4E-BF36-C4C4F0A5D727}"/>
                </a:ext>
              </a:extLst>
            </p:cNvPr>
            <p:cNvSpPr>
              <a:spLocks/>
            </p:cNvSpPr>
            <p:nvPr/>
          </p:nvSpPr>
          <p:spPr bwMode="auto">
            <a:xfrm>
              <a:off x="5302" y="2614"/>
              <a:ext cx="245"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03" name="AutoShape 977">
              <a:extLst>
                <a:ext uri="{FF2B5EF4-FFF2-40B4-BE49-F238E27FC236}">
                  <a16:creationId xmlns:a16="http://schemas.microsoft.com/office/drawing/2014/main" id="{369D2889-1BFC-A340-B67F-54F258D6F1F5}"/>
                </a:ext>
              </a:extLst>
            </p:cNvPr>
            <p:cNvSpPr>
              <a:spLocks noChangeArrowheads="1"/>
            </p:cNvSpPr>
            <p:nvPr/>
          </p:nvSpPr>
          <p:spPr bwMode="auto">
            <a:xfrm>
              <a:off x="4140" y="2675"/>
              <a:ext cx="1196" cy="150"/>
            </a:xfrm>
            <a:prstGeom prst="roundRect">
              <a:avLst>
                <a:gd name="adj" fmla="val 50000"/>
              </a:avLst>
            </a:prstGeom>
            <a:solidFill>
              <a:srgbClr val="DDDDDD"/>
            </a:soli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04" name="AutoShape 978">
              <a:extLst>
                <a:ext uri="{FF2B5EF4-FFF2-40B4-BE49-F238E27FC236}">
                  <a16:creationId xmlns:a16="http://schemas.microsoft.com/office/drawing/2014/main" id="{CEFA09E5-3186-4445-AD94-60C0E15196AC}"/>
                </a:ext>
              </a:extLst>
            </p:cNvPr>
            <p:cNvSpPr>
              <a:spLocks noChangeArrowheads="1"/>
            </p:cNvSpPr>
            <p:nvPr/>
          </p:nvSpPr>
          <p:spPr bwMode="auto">
            <a:xfrm>
              <a:off x="4210" y="2714"/>
              <a:ext cx="1066" cy="79"/>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05" name="Oval 979">
              <a:extLst>
                <a:ext uri="{FF2B5EF4-FFF2-40B4-BE49-F238E27FC236}">
                  <a16:creationId xmlns:a16="http://schemas.microsoft.com/office/drawing/2014/main" id="{9AFADA62-C3CB-594F-8048-88710642763B}"/>
                </a:ext>
              </a:extLst>
            </p:cNvPr>
            <p:cNvSpPr>
              <a:spLocks noChangeArrowheads="1"/>
            </p:cNvSpPr>
            <p:nvPr/>
          </p:nvSpPr>
          <p:spPr bwMode="auto">
            <a:xfrm>
              <a:off x="4309"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06" name="Oval 980">
              <a:extLst>
                <a:ext uri="{FF2B5EF4-FFF2-40B4-BE49-F238E27FC236}">
                  <a16:creationId xmlns:a16="http://schemas.microsoft.com/office/drawing/2014/main" id="{C82FFABC-4C4C-6243-9D2D-3C99FBC51814}"/>
                </a:ext>
              </a:extLst>
            </p:cNvPr>
            <p:cNvSpPr>
              <a:spLocks noChangeArrowheads="1"/>
            </p:cNvSpPr>
            <p:nvPr/>
          </p:nvSpPr>
          <p:spPr bwMode="auto">
            <a:xfrm>
              <a:off x="4489" y="2382"/>
              <a:ext cx="159" cy="142"/>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altLang="en-US" sz="1800" b="0" i="0" u="none" strike="noStrike" kern="1200" cap="none" spc="0" normalizeH="0" baseline="0" noProof="0" dirty="0">
                <a:ln>
                  <a:noFill/>
                </a:ln>
                <a:solidFill>
                  <a:srgbClr val="FF0000"/>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07" name="Oval 981">
              <a:extLst>
                <a:ext uri="{FF2B5EF4-FFF2-40B4-BE49-F238E27FC236}">
                  <a16:creationId xmlns:a16="http://schemas.microsoft.com/office/drawing/2014/main" id="{C0EFDD4D-FB5A-6D4E-97DD-CFA89D4A9696}"/>
                </a:ext>
              </a:extLst>
            </p:cNvPr>
            <p:cNvSpPr>
              <a:spLocks noChangeArrowheads="1"/>
            </p:cNvSpPr>
            <p:nvPr/>
          </p:nvSpPr>
          <p:spPr bwMode="auto">
            <a:xfrm>
              <a:off x="4658"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08" name="Rectangle 982">
              <a:extLst>
                <a:ext uri="{FF2B5EF4-FFF2-40B4-BE49-F238E27FC236}">
                  <a16:creationId xmlns:a16="http://schemas.microsoft.com/office/drawing/2014/main" id="{99A1B872-581F-BE49-AADF-3A6775C166D0}"/>
                </a:ext>
              </a:extLst>
            </p:cNvPr>
            <p:cNvSpPr>
              <a:spLocks noChangeArrowheads="1"/>
            </p:cNvSpPr>
            <p:nvPr/>
          </p:nvSpPr>
          <p:spPr bwMode="auto">
            <a:xfrm>
              <a:off x="5067" y="1837"/>
              <a:ext cx="80" cy="759"/>
            </a:xfrm>
            <a:prstGeom prst="rect">
              <a:avLst/>
            </a:prstGeom>
            <a:solidFill>
              <a:srgbClr val="292929"/>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grpSp>
        <p:nvGrpSpPr>
          <p:cNvPr id="8" name="Group 7">
            <a:extLst>
              <a:ext uri="{FF2B5EF4-FFF2-40B4-BE49-F238E27FC236}">
                <a16:creationId xmlns:a16="http://schemas.microsoft.com/office/drawing/2014/main" id="{677610FF-4F61-2C4A-A861-FC0ED9C69928}"/>
              </a:ext>
            </a:extLst>
          </p:cNvPr>
          <p:cNvGrpSpPr/>
          <p:nvPr/>
        </p:nvGrpSpPr>
        <p:grpSpPr>
          <a:xfrm>
            <a:off x="8252702" y="1137866"/>
            <a:ext cx="814388" cy="854075"/>
            <a:chOff x="9791027" y="656358"/>
            <a:chExt cx="814388" cy="854075"/>
          </a:xfrm>
        </p:grpSpPr>
        <p:sp>
          <p:nvSpPr>
            <p:cNvPr id="519" name="Rectangle 227">
              <a:extLst>
                <a:ext uri="{FF2B5EF4-FFF2-40B4-BE49-F238E27FC236}">
                  <a16:creationId xmlns:a16="http://schemas.microsoft.com/office/drawing/2014/main" id="{B61510CE-247E-1E43-BA4A-EC188AFE0CB8}"/>
                </a:ext>
              </a:extLst>
            </p:cNvPr>
            <p:cNvSpPr>
              <a:spLocks noChangeArrowheads="1"/>
            </p:cNvSpPr>
            <p:nvPr/>
          </p:nvSpPr>
          <p:spPr bwMode="auto">
            <a:xfrm>
              <a:off x="9888064" y="666450"/>
              <a:ext cx="676276" cy="776288"/>
            </a:xfrm>
            <a:prstGeom prst="rect">
              <a:avLst/>
            </a:prstGeom>
            <a:solidFill>
              <a:srgbClr val="0000A8"/>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20" name="Rectangle 228">
              <a:extLst>
                <a:ext uri="{FF2B5EF4-FFF2-40B4-BE49-F238E27FC236}">
                  <a16:creationId xmlns:a16="http://schemas.microsoft.com/office/drawing/2014/main" id="{4174338D-3A0E-9747-819D-0C19F4DF4AA8}"/>
                </a:ext>
              </a:extLst>
            </p:cNvPr>
            <p:cNvSpPr>
              <a:spLocks noChangeArrowheads="1"/>
            </p:cNvSpPr>
            <p:nvPr/>
          </p:nvSpPr>
          <p:spPr bwMode="auto">
            <a:xfrm>
              <a:off x="9854726" y="690263"/>
              <a:ext cx="690563" cy="800100"/>
            </a:xfrm>
            <a:prstGeom prst="rect">
              <a:avLst/>
            </a:prstGeom>
            <a:solidFill>
              <a:schemeClr val="bg1"/>
            </a:solidFill>
            <a:ln w="12700">
              <a:solidFill>
                <a:schemeClr val="tx1"/>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21" name="Rectangle 229">
              <a:extLst>
                <a:ext uri="{FF2B5EF4-FFF2-40B4-BE49-F238E27FC236}">
                  <a16:creationId xmlns:a16="http://schemas.microsoft.com/office/drawing/2014/main" id="{621AE13C-4ABC-334F-8206-4D5E08465C6E}"/>
                </a:ext>
              </a:extLst>
            </p:cNvPr>
            <p:cNvSpPr>
              <a:spLocks noChangeArrowheads="1"/>
            </p:cNvSpPr>
            <p:nvPr/>
          </p:nvSpPr>
          <p:spPr bwMode="auto">
            <a:xfrm>
              <a:off x="9861869" y="844112"/>
              <a:ext cx="676276" cy="186668"/>
            </a:xfrm>
            <a:prstGeom prst="rect">
              <a:avLst/>
            </a:prstGeom>
            <a:solidFill>
              <a:srgbClr val="C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22" name="Text Box 230">
              <a:extLst>
                <a:ext uri="{FF2B5EF4-FFF2-40B4-BE49-F238E27FC236}">
                  <a16:creationId xmlns:a16="http://schemas.microsoft.com/office/drawing/2014/main" id="{CA38D367-F86F-AB43-B21E-1EEE691D3D74}"/>
                </a:ext>
              </a:extLst>
            </p:cNvPr>
            <p:cNvSpPr txBox="1">
              <a:spLocks noChangeArrowheads="1"/>
            </p:cNvSpPr>
            <p:nvPr/>
          </p:nvSpPr>
          <p:spPr bwMode="auto">
            <a:xfrm>
              <a:off x="9791027" y="656358"/>
              <a:ext cx="814388"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application</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white"/>
                  </a:solidFill>
                  <a:effectLst/>
                  <a:uLnTx/>
                  <a:uFillTx/>
                  <a:latin typeface="Arial" panose="020B0604020202020204" pitchFamily="34" charset="0"/>
                  <a:ea typeface="ＭＳ Ｐゴシック" panose="020B0600070205080204" pitchFamily="34" charset="-128"/>
                  <a:cs typeface="+mn-cs"/>
                </a:rPr>
                <a:t>transport</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network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data link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physical</a:t>
              </a: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23" name="Line 231">
              <a:extLst>
                <a:ext uri="{FF2B5EF4-FFF2-40B4-BE49-F238E27FC236}">
                  <a16:creationId xmlns:a16="http://schemas.microsoft.com/office/drawing/2014/main" id="{A3474A7D-75ED-1D4F-BB1C-5BA4ECFE69E7}"/>
                </a:ext>
              </a:extLst>
            </p:cNvPr>
            <p:cNvSpPr>
              <a:spLocks noChangeShapeType="1"/>
            </p:cNvSpPr>
            <p:nvPr/>
          </p:nvSpPr>
          <p:spPr bwMode="auto">
            <a:xfrm>
              <a:off x="9854726" y="1033163"/>
              <a:ext cx="690563" cy="476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24" name="Line 232">
              <a:extLst>
                <a:ext uri="{FF2B5EF4-FFF2-40B4-BE49-F238E27FC236}">
                  <a16:creationId xmlns:a16="http://schemas.microsoft.com/office/drawing/2014/main" id="{79D6BFCD-0081-1543-8A02-CDC78B944799}"/>
                </a:ext>
              </a:extLst>
            </p:cNvPr>
            <p:cNvSpPr>
              <a:spLocks noChangeShapeType="1"/>
            </p:cNvSpPr>
            <p:nvPr/>
          </p:nvSpPr>
          <p:spPr bwMode="auto">
            <a:xfrm>
              <a:off x="9864251" y="1171275"/>
              <a:ext cx="690563" cy="476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25" name="Line 233">
              <a:extLst>
                <a:ext uri="{FF2B5EF4-FFF2-40B4-BE49-F238E27FC236}">
                  <a16:creationId xmlns:a16="http://schemas.microsoft.com/office/drawing/2014/main" id="{539E5FFB-197B-6F44-A1D2-C9A93359AB7C}"/>
                </a:ext>
              </a:extLst>
            </p:cNvPr>
            <p:cNvSpPr>
              <a:spLocks noChangeShapeType="1"/>
            </p:cNvSpPr>
            <p:nvPr/>
          </p:nvSpPr>
          <p:spPr bwMode="auto">
            <a:xfrm>
              <a:off x="9864251" y="1309388"/>
              <a:ext cx="690563" cy="476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558" name="Up-Down Arrow 557">
            <a:extLst>
              <a:ext uri="{FF2B5EF4-FFF2-40B4-BE49-F238E27FC236}">
                <a16:creationId xmlns:a16="http://schemas.microsoft.com/office/drawing/2014/main" id="{1F1264FF-C88C-CF4E-85AF-1CB82BE0554E}"/>
              </a:ext>
            </a:extLst>
          </p:cNvPr>
          <p:cNvSpPr/>
          <p:nvPr/>
        </p:nvSpPr>
        <p:spPr>
          <a:xfrm rot="19889198">
            <a:off x="9544123" y="1270072"/>
            <a:ext cx="626354" cy="3838406"/>
          </a:xfrm>
          <a:prstGeom prst="upDownArrow">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59" name="TextBox 558">
            <a:extLst>
              <a:ext uri="{FF2B5EF4-FFF2-40B4-BE49-F238E27FC236}">
                <a16:creationId xmlns:a16="http://schemas.microsoft.com/office/drawing/2014/main" id="{BDB4ECF5-2BA8-034C-9E12-98E6A9A3E77D}"/>
              </a:ext>
            </a:extLst>
          </p:cNvPr>
          <p:cNvSpPr txBox="1"/>
          <p:nvPr/>
        </p:nvSpPr>
        <p:spPr>
          <a:xfrm rot="3706861">
            <a:off x="8640694" y="3103268"/>
            <a:ext cx="255044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logical end-end transport</a:t>
            </a:r>
          </a:p>
        </p:txBody>
      </p:sp>
      <p:sp>
        <p:nvSpPr>
          <p:cNvPr id="517" name="Rectangle 3">
            <a:extLst>
              <a:ext uri="{FF2B5EF4-FFF2-40B4-BE49-F238E27FC236}">
                <a16:creationId xmlns:a16="http://schemas.microsoft.com/office/drawing/2014/main" id="{6893AA1C-B5CC-D446-9A4F-4636B0A87E22}"/>
              </a:ext>
            </a:extLst>
          </p:cNvPr>
          <p:cNvSpPr txBox="1">
            <a:spLocks noChangeArrowheads="1"/>
          </p:cNvSpPr>
          <p:nvPr/>
        </p:nvSpPr>
        <p:spPr>
          <a:xfrm>
            <a:off x="736738" y="1365914"/>
            <a:ext cx="6288757" cy="5492086"/>
          </a:xfrm>
          <a:prstGeom prst="rect">
            <a:avLst/>
          </a:prstGeom>
        </p:spPr>
        <p:txBody>
          <a:bodyPr vert="horz" lIns="91440" tIns="45720" rIns="91440" bIns="45720" rtlCol="0">
            <a:normAutofit fontScale="92500" lnSpcReduction="2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R="0" lvl="0" algn="l" defTabSz="914400" rtl="0" eaLnBrk="1" fontAlgn="auto" latinLnBrk="0" hangingPunct="1">
              <a:lnSpc>
                <a:spcPct val="100000"/>
              </a:lnSpc>
              <a:spcBef>
                <a:spcPts val="600"/>
              </a:spcBef>
              <a:spcAft>
                <a:spcPts val="600"/>
              </a:spcAft>
              <a:buClrTx/>
              <a:buSzTx/>
              <a:buFont typeface="Arial" panose="020B0604020202020204" pitchFamily="34" charset="0"/>
              <a:buChar char="•"/>
              <a:tabLst/>
              <a:defRPr/>
            </a:pPr>
            <a:r>
              <a:rPr kumimoji="0" lang="en-US" altLang="en-US" sz="3200" b="1" i="0" u="none" strike="noStrike" kern="1200" cap="none" spc="0" normalizeH="0" baseline="0" noProof="0" dirty="0">
                <a:ln>
                  <a:noFill/>
                </a:ln>
                <a:solidFill>
                  <a:srgbClr val="CD0004"/>
                </a:solidFill>
                <a:effectLst/>
                <a:uLnTx/>
                <a:uFillTx/>
                <a:latin typeface="Calibri" panose="020F0502020204030204"/>
                <a:ea typeface="ＭＳ Ｐゴシック" panose="020B0600070205080204" pitchFamily="34" charset="-128"/>
                <a:cs typeface="+mn-cs"/>
              </a:rPr>
              <a:t>TCP: </a:t>
            </a: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Transmission Control Protocol</a:t>
            </a:r>
          </a:p>
          <a:p>
            <a:pPr marR="0" lvl="1" algn="l" defTabSz="914400" rtl="0" eaLnBrk="1" fontAlgn="auto" latinLnBrk="0" hangingPunct="1">
              <a:lnSpc>
                <a:spcPct val="100000"/>
              </a:lnSpc>
              <a:spcBef>
                <a:spcPts val="600"/>
              </a:spcBef>
              <a:spcAft>
                <a:spcPts val="600"/>
              </a:spcAft>
              <a:buClrTx/>
              <a:buSzTx/>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Reliable, in-order delivery</a:t>
            </a:r>
          </a:p>
          <a:p>
            <a:pPr marR="0" lvl="1" algn="l" defTabSz="914400" rtl="0" eaLnBrk="1" fontAlgn="auto" latinLnBrk="0" hangingPunct="1">
              <a:lnSpc>
                <a:spcPct val="100000"/>
              </a:lnSpc>
              <a:spcBef>
                <a:spcPts val="600"/>
              </a:spcBef>
              <a:spcAft>
                <a:spcPts val="600"/>
              </a:spcAft>
              <a:buClrTx/>
              <a:buSzTx/>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Congestion control </a:t>
            </a:r>
          </a:p>
          <a:p>
            <a:pPr marR="0" lvl="1" algn="l" defTabSz="914400" rtl="0" eaLnBrk="1" fontAlgn="auto" latinLnBrk="0" hangingPunct="1">
              <a:lnSpc>
                <a:spcPct val="100000"/>
              </a:lnSpc>
              <a:spcBef>
                <a:spcPts val="400"/>
              </a:spcBef>
              <a:spcAft>
                <a:spcPts val="600"/>
              </a:spcAft>
              <a:buClrTx/>
              <a:buSzTx/>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Flow control</a:t>
            </a:r>
          </a:p>
          <a:p>
            <a:pPr marR="0" lvl="1" algn="l" defTabSz="914400" rtl="0" eaLnBrk="1" fontAlgn="auto" latinLnBrk="0" hangingPunct="1">
              <a:lnSpc>
                <a:spcPct val="100000"/>
              </a:lnSpc>
              <a:spcBef>
                <a:spcPts val="400"/>
              </a:spcBef>
              <a:spcAft>
                <a:spcPts val="600"/>
              </a:spcAft>
              <a:buClrTx/>
              <a:buSzTx/>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Connection setup</a:t>
            </a:r>
            <a:endPar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a:p>
            <a:pPr marR="0" lvl="0" algn="l" defTabSz="914400" rtl="0" eaLnBrk="1" fontAlgn="auto" latinLnBrk="0" hangingPunct="1">
              <a:lnSpc>
                <a:spcPct val="100000"/>
              </a:lnSpc>
              <a:spcBef>
                <a:spcPts val="600"/>
              </a:spcBef>
              <a:spcAft>
                <a:spcPts val="600"/>
              </a:spcAft>
              <a:buClrTx/>
              <a:buSzTx/>
              <a:buFont typeface="Arial" panose="020B0604020202020204" pitchFamily="34" charset="0"/>
              <a:buChar char="•"/>
              <a:tabLst/>
              <a:defRPr/>
            </a:pPr>
            <a:r>
              <a:rPr kumimoji="0" lang="en-US" altLang="en-US" sz="3200" b="1" i="0" u="none" strike="noStrike" kern="1200" cap="none" spc="0" normalizeH="0" baseline="0" noProof="0" dirty="0">
                <a:ln>
                  <a:noFill/>
                </a:ln>
                <a:solidFill>
                  <a:srgbClr val="CD0004"/>
                </a:solidFill>
                <a:effectLst/>
                <a:uLnTx/>
                <a:uFillTx/>
                <a:latin typeface="Calibri" panose="020F0502020204030204"/>
                <a:ea typeface="ＭＳ Ｐゴシック" panose="020B0600070205080204" pitchFamily="34" charset="-128"/>
                <a:cs typeface="+mn-cs"/>
              </a:rPr>
              <a:t>UDP: </a:t>
            </a: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User Datagram Protocol</a:t>
            </a:r>
          </a:p>
          <a:p>
            <a:pPr marL="930275" marR="0" lvl="1" indent="-457200" algn="l" defTabSz="914400" rtl="0" eaLnBrk="1" fontAlgn="auto" latinLnBrk="0" hangingPunct="1">
              <a:lnSpc>
                <a:spcPct val="100000"/>
              </a:lnSpc>
              <a:spcBef>
                <a:spcPts val="600"/>
              </a:spcBef>
              <a:spcAft>
                <a:spcPts val="600"/>
              </a:spcAft>
              <a:buClrTx/>
              <a:buSzTx/>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Unreliable, unordered delivery</a:t>
            </a:r>
          </a:p>
          <a:p>
            <a:pPr marL="930275" marR="0" lvl="1" indent="-457200" algn="l" defTabSz="914400" rtl="0" eaLnBrk="1" fontAlgn="auto" latinLnBrk="0" hangingPunct="1">
              <a:lnSpc>
                <a:spcPct val="100000"/>
              </a:lnSpc>
              <a:spcBef>
                <a:spcPts val="600"/>
              </a:spcBef>
              <a:spcAft>
                <a:spcPts val="600"/>
              </a:spcAft>
              <a:buClrTx/>
              <a:buSzTx/>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No-frills extension of “</a:t>
            </a:r>
            <a:r>
              <a:rPr kumimoji="0" lang="en-US" altLang="ja-JP"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best-effort” IP</a:t>
            </a:r>
          </a:p>
          <a:p>
            <a:pPr marR="0" lvl="0" algn="l" defTabSz="914400" rtl="0" eaLnBrk="1" fontAlgn="auto" latinLnBrk="0" hangingPunct="1">
              <a:lnSpc>
                <a:spcPct val="100000"/>
              </a:lnSpc>
              <a:spcBef>
                <a:spcPts val="600"/>
              </a:spcBef>
              <a:spcAft>
                <a:spcPts val="600"/>
              </a:spcAft>
              <a:buClrTx/>
              <a:buSzTx/>
              <a:buFont typeface="Arial" panose="020B0604020202020204" pitchFamily="34" charset="0"/>
              <a:buChar char="•"/>
              <a:tabLst/>
              <a:defRPr/>
            </a:pP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Services </a:t>
            </a:r>
            <a:r>
              <a:rPr kumimoji="0" lang="en-US" altLang="en-US" sz="3200" b="0" i="1"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not</a:t>
            </a: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available: </a:t>
            </a:r>
          </a:p>
          <a:p>
            <a:pPr marR="0" lvl="1" algn="l" defTabSz="914400" rtl="0" eaLnBrk="1" fontAlgn="auto" latinLnBrk="0" hangingPunct="1">
              <a:lnSpc>
                <a:spcPct val="100000"/>
              </a:lnSpc>
              <a:spcBef>
                <a:spcPts val="400"/>
              </a:spcBef>
              <a:spcAft>
                <a:spcPts val="600"/>
              </a:spcAft>
              <a:buClrTx/>
              <a:buSzTx/>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Delay guarantees</a:t>
            </a:r>
          </a:p>
          <a:p>
            <a:pPr marR="0" lvl="1" algn="l" defTabSz="914400" rtl="0" eaLnBrk="1" fontAlgn="auto" latinLnBrk="0" hangingPunct="1">
              <a:lnSpc>
                <a:spcPct val="100000"/>
              </a:lnSpc>
              <a:spcBef>
                <a:spcPts val="400"/>
              </a:spcBef>
              <a:spcAft>
                <a:spcPts val="600"/>
              </a:spcAft>
              <a:buClrTx/>
              <a:buSzTx/>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Bandwidth guarantees</a:t>
            </a:r>
            <a:endPar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Tree>
    <p:extLst>
      <p:ext uri="{BB962C8B-B14F-4D97-AF65-F5344CB8AC3E}">
        <p14:creationId xmlns:p14="http://schemas.microsoft.com/office/powerpoint/2010/main" val="25705286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17">
                                            <p:txEl>
                                              <p:pRg st="0" end="0"/>
                                            </p:txEl>
                                          </p:spTgt>
                                        </p:tgtEl>
                                        <p:attrNameLst>
                                          <p:attrName>style.visibility</p:attrName>
                                        </p:attrNameLst>
                                      </p:cBhvr>
                                      <p:to>
                                        <p:strVal val="visible"/>
                                      </p:to>
                                    </p:set>
                                    <p:animEffect transition="in" filter="dissolve">
                                      <p:cBhvr>
                                        <p:cTn id="7" dur="500"/>
                                        <p:tgtEl>
                                          <p:spTgt spid="517">
                                            <p:txEl>
                                              <p:pRg st="0" end="0"/>
                                            </p:txEl>
                                          </p:spTgt>
                                        </p:tgtEl>
                                      </p:cBhvr>
                                    </p:animEffect>
                                  </p:childTnLst>
                                </p:cTn>
                              </p:par>
                              <p:par>
                                <p:cTn id="8" presetID="9" presetClass="entr" presetSubtype="0" fill="hold" grpId="0" nodeType="withEffect">
                                  <p:stCondLst>
                                    <p:cond delay="0"/>
                                  </p:stCondLst>
                                  <p:childTnLst>
                                    <p:set>
                                      <p:cBhvr>
                                        <p:cTn id="9" dur="1" fill="hold">
                                          <p:stCondLst>
                                            <p:cond delay="0"/>
                                          </p:stCondLst>
                                        </p:cTn>
                                        <p:tgtEl>
                                          <p:spTgt spid="517">
                                            <p:txEl>
                                              <p:pRg st="1" end="1"/>
                                            </p:txEl>
                                          </p:spTgt>
                                        </p:tgtEl>
                                        <p:attrNameLst>
                                          <p:attrName>style.visibility</p:attrName>
                                        </p:attrNameLst>
                                      </p:cBhvr>
                                      <p:to>
                                        <p:strVal val="visible"/>
                                      </p:to>
                                    </p:set>
                                    <p:animEffect transition="in" filter="dissolve">
                                      <p:cBhvr>
                                        <p:cTn id="10" dur="500"/>
                                        <p:tgtEl>
                                          <p:spTgt spid="517">
                                            <p:txEl>
                                              <p:pRg st="1" end="1"/>
                                            </p:txEl>
                                          </p:spTgt>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517">
                                            <p:txEl>
                                              <p:pRg st="2" end="2"/>
                                            </p:txEl>
                                          </p:spTgt>
                                        </p:tgtEl>
                                        <p:attrNameLst>
                                          <p:attrName>style.visibility</p:attrName>
                                        </p:attrNameLst>
                                      </p:cBhvr>
                                      <p:to>
                                        <p:strVal val="visible"/>
                                      </p:to>
                                    </p:set>
                                    <p:animEffect transition="in" filter="dissolve">
                                      <p:cBhvr>
                                        <p:cTn id="13" dur="500"/>
                                        <p:tgtEl>
                                          <p:spTgt spid="517">
                                            <p:txEl>
                                              <p:pRg st="2" end="2"/>
                                            </p:txEl>
                                          </p:spTgt>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517">
                                            <p:txEl>
                                              <p:pRg st="3" end="3"/>
                                            </p:txEl>
                                          </p:spTgt>
                                        </p:tgtEl>
                                        <p:attrNameLst>
                                          <p:attrName>style.visibility</p:attrName>
                                        </p:attrNameLst>
                                      </p:cBhvr>
                                      <p:to>
                                        <p:strVal val="visible"/>
                                      </p:to>
                                    </p:set>
                                    <p:animEffect transition="in" filter="dissolve">
                                      <p:cBhvr>
                                        <p:cTn id="16" dur="500"/>
                                        <p:tgtEl>
                                          <p:spTgt spid="517">
                                            <p:txEl>
                                              <p:pRg st="3" end="3"/>
                                            </p:txEl>
                                          </p:spTgt>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517">
                                            <p:txEl>
                                              <p:pRg st="4" end="4"/>
                                            </p:txEl>
                                          </p:spTgt>
                                        </p:tgtEl>
                                        <p:attrNameLst>
                                          <p:attrName>style.visibility</p:attrName>
                                        </p:attrNameLst>
                                      </p:cBhvr>
                                      <p:to>
                                        <p:strVal val="visible"/>
                                      </p:to>
                                    </p:set>
                                    <p:animEffect transition="in" filter="dissolve">
                                      <p:cBhvr>
                                        <p:cTn id="19" dur="500"/>
                                        <p:tgtEl>
                                          <p:spTgt spid="517">
                                            <p:txEl>
                                              <p:pRg st="4" end="4"/>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grpId="0" nodeType="clickEffect">
                                  <p:stCondLst>
                                    <p:cond delay="0"/>
                                  </p:stCondLst>
                                  <p:childTnLst>
                                    <p:set>
                                      <p:cBhvr>
                                        <p:cTn id="23" dur="1" fill="hold">
                                          <p:stCondLst>
                                            <p:cond delay="0"/>
                                          </p:stCondLst>
                                        </p:cTn>
                                        <p:tgtEl>
                                          <p:spTgt spid="517">
                                            <p:txEl>
                                              <p:pRg st="5" end="5"/>
                                            </p:txEl>
                                          </p:spTgt>
                                        </p:tgtEl>
                                        <p:attrNameLst>
                                          <p:attrName>style.visibility</p:attrName>
                                        </p:attrNameLst>
                                      </p:cBhvr>
                                      <p:to>
                                        <p:strVal val="visible"/>
                                      </p:to>
                                    </p:set>
                                    <p:animEffect transition="in" filter="dissolve">
                                      <p:cBhvr>
                                        <p:cTn id="24" dur="500"/>
                                        <p:tgtEl>
                                          <p:spTgt spid="517">
                                            <p:txEl>
                                              <p:pRg st="5" end="5"/>
                                            </p:txEl>
                                          </p:spTgt>
                                        </p:tgtEl>
                                      </p:cBhvr>
                                    </p:animEffect>
                                  </p:childTnLst>
                                </p:cTn>
                              </p:par>
                              <p:par>
                                <p:cTn id="25" presetID="9" presetClass="entr" presetSubtype="0" fill="hold" grpId="0" nodeType="withEffect">
                                  <p:stCondLst>
                                    <p:cond delay="0"/>
                                  </p:stCondLst>
                                  <p:childTnLst>
                                    <p:set>
                                      <p:cBhvr>
                                        <p:cTn id="26" dur="1" fill="hold">
                                          <p:stCondLst>
                                            <p:cond delay="0"/>
                                          </p:stCondLst>
                                        </p:cTn>
                                        <p:tgtEl>
                                          <p:spTgt spid="517">
                                            <p:txEl>
                                              <p:pRg st="6" end="6"/>
                                            </p:txEl>
                                          </p:spTgt>
                                        </p:tgtEl>
                                        <p:attrNameLst>
                                          <p:attrName>style.visibility</p:attrName>
                                        </p:attrNameLst>
                                      </p:cBhvr>
                                      <p:to>
                                        <p:strVal val="visible"/>
                                      </p:to>
                                    </p:set>
                                    <p:animEffect transition="in" filter="dissolve">
                                      <p:cBhvr>
                                        <p:cTn id="27" dur="500"/>
                                        <p:tgtEl>
                                          <p:spTgt spid="517">
                                            <p:txEl>
                                              <p:pRg st="6" end="6"/>
                                            </p:txEl>
                                          </p:spTgt>
                                        </p:tgtEl>
                                      </p:cBhvr>
                                    </p:animEffect>
                                  </p:childTnLst>
                                </p:cTn>
                              </p:par>
                              <p:par>
                                <p:cTn id="28" presetID="9" presetClass="entr" presetSubtype="0" fill="hold" grpId="0" nodeType="withEffect">
                                  <p:stCondLst>
                                    <p:cond delay="0"/>
                                  </p:stCondLst>
                                  <p:childTnLst>
                                    <p:set>
                                      <p:cBhvr>
                                        <p:cTn id="29" dur="1" fill="hold">
                                          <p:stCondLst>
                                            <p:cond delay="0"/>
                                          </p:stCondLst>
                                        </p:cTn>
                                        <p:tgtEl>
                                          <p:spTgt spid="517">
                                            <p:txEl>
                                              <p:pRg st="7" end="7"/>
                                            </p:txEl>
                                          </p:spTgt>
                                        </p:tgtEl>
                                        <p:attrNameLst>
                                          <p:attrName>style.visibility</p:attrName>
                                        </p:attrNameLst>
                                      </p:cBhvr>
                                      <p:to>
                                        <p:strVal val="visible"/>
                                      </p:to>
                                    </p:set>
                                    <p:animEffect transition="in" filter="dissolve">
                                      <p:cBhvr>
                                        <p:cTn id="30" dur="500"/>
                                        <p:tgtEl>
                                          <p:spTgt spid="517">
                                            <p:txEl>
                                              <p:pRg st="7" end="7"/>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grpId="0" nodeType="clickEffect">
                                  <p:stCondLst>
                                    <p:cond delay="0"/>
                                  </p:stCondLst>
                                  <p:childTnLst>
                                    <p:set>
                                      <p:cBhvr>
                                        <p:cTn id="34" dur="1" fill="hold">
                                          <p:stCondLst>
                                            <p:cond delay="0"/>
                                          </p:stCondLst>
                                        </p:cTn>
                                        <p:tgtEl>
                                          <p:spTgt spid="517">
                                            <p:txEl>
                                              <p:pRg st="8" end="8"/>
                                            </p:txEl>
                                          </p:spTgt>
                                        </p:tgtEl>
                                        <p:attrNameLst>
                                          <p:attrName>style.visibility</p:attrName>
                                        </p:attrNameLst>
                                      </p:cBhvr>
                                      <p:to>
                                        <p:strVal val="visible"/>
                                      </p:to>
                                    </p:set>
                                    <p:animEffect transition="in" filter="dissolve">
                                      <p:cBhvr>
                                        <p:cTn id="35" dur="500"/>
                                        <p:tgtEl>
                                          <p:spTgt spid="517">
                                            <p:txEl>
                                              <p:pRg st="8" end="8"/>
                                            </p:txEl>
                                          </p:spTgt>
                                        </p:tgtEl>
                                      </p:cBhvr>
                                    </p:animEffect>
                                  </p:childTnLst>
                                </p:cTn>
                              </p:par>
                              <p:par>
                                <p:cTn id="36" presetID="9" presetClass="entr" presetSubtype="0" fill="hold" grpId="0" nodeType="withEffect">
                                  <p:stCondLst>
                                    <p:cond delay="0"/>
                                  </p:stCondLst>
                                  <p:childTnLst>
                                    <p:set>
                                      <p:cBhvr>
                                        <p:cTn id="37" dur="1" fill="hold">
                                          <p:stCondLst>
                                            <p:cond delay="0"/>
                                          </p:stCondLst>
                                        </p:cTn>
                                        <p:tgtEl>
                                          <p:spTgt spid="517">
                                            <p:txEl>
                                              <p:pRg st="9" end="9"/>
                                            </p:txEl>
                                          </p:spTgt>
                                        </p:tgtEl>
                                        <p:attrNameLst>
                                          <p:attrName>style.visibility</p:attrName>
                                        </p:attrNameLst>
                                      </p:cBhvr>
                                      <p:to>
                                        <p:strVal val="visible"/>
                                      </p:to>
                                    </p:set>
                                    <p:animEffect transition="in" filter="dissolve">
                                      <p:cBhvr>
                                        <p:cTn id="38" dur="500"/>
                                        <p:tgtEl>
                                          <p:spTgt spid="517">
                                            <p:txEl>
                                              <p:pRg st="9" end="9"/>
                                            </p:txEl>
                                          </p:spTgt>
                                        </p:tgtEl>
                                      </p:cBhvr>
                                    </p:animEffect>
                                  </p:childTnLst>
                                </p:cTn>
                              </p:par>
                              <p:par>
                                <p:cTn id="39" presetID="9" presetClass="entr" presetSubtype="0" fill="hold" grpId="0" nodeType="withEffect">
                                  <p:stCondLst>
                                    <p:cond delay="0"/>
                                  </p:stCondLst>
                                  <p:childTnLst>
                                    <p:set>
                                      <p:cBhvr>
                                        <p:cTn id="40" dur="1" fill="hold">
                                          <p:stCondLst>
                                            <p:cond delay="0"/>
                                          </p:stCondLst>
                                        </p:cTn>
                                        <p:tgtEl>
                                          <p:spTgt spid="517">
                                            <p:txEl>
                                              <p:pRg st="10" end="10"/>
                                            </p:txEl>
                                          </p:spTgt>
                                        </p:tgtEl>
                                        <p:attrNameLst>
                                          <p:attrName>style.visibility</p:attrName>
                                        </p:attrNameLst>
                                      </p:cBhvr>
                                      <p:to>
                                        <p:strVal val="visible"/>
                                      </p:to>
                                    </p:set>
                                    <p:animEffect transition="in" filter="dissolve">
                                      <p:cBhvr>
                                        <p:cTn id="41" dur="500"/>
                                        <p:tgtEl>
                                          <p:spTgt spid="517">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7"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2789A2-F830-D605-BEC8-4699FCB4AE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353887-6DC1-8417-68BC-7824617FCEDC}"/>
              </a:ext>
            </a:extLst>
          </p:cNvPr>
          <p:cNvSpPr txBox="1">
            <a:spLocks/>
          </p:cNvSpPr>
          <p:nvPr/>
        </p:nvSpPr>
        <p:spPr>
          <a:xfrm>
            <a:off x="546662" y="152400"/>
            <a:ext cx="6551791" cy="1650991"/>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6000">
                <a:cs typeface="Calibri" panose="020F0502020204030204" pitchFamily="34" charset="0"/>
              </a:rPr>
              <a:t>Roadmap</a:t>
            </a:r>
            <a:endParaRPr lang="en-US" sz="6000" dirty="0"/>
          </a:p>
        </p:txBody>
      </p:sp>
      <p:sp>
        <p:nvSpPr>
          <p:cNvPr id="3" name="Rectangle 4">
            <a:extLst>
              <a:ext uri="{FF2B5EF4-FFF2-40B4-BE49-F238E27FC236}">
                <a16:creationId xmlns:a16="http://schemas.microsoft.com/office/drawing/2014/main" id="{336D1DD2-74F1-4775-3E05-DA1F97E3FF95}"/>
              </a:ext>
            </a:extLst>
          </p:cNvPr>
          <p:cNvSpPr txBox="1">
            <a:spLocks noChangeArrowheads="1"/>
          </p:cNvSpPr>
          <p:nvPr/>
        </p:nvSpPr>
        <p:spPr>
          <a:xfrm>
            <a:off x="327703" y="1646990"/>
            <a:ext cx="11536594" cy="497839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03225" indent="-285750">
              <a:spcBef>
                <a:spcPts val="800"/>
              </a:spcBef>
              <a:spcAft>
                <a:spcPts val="600"/>
              </a:spcAft>
              <a:buClr>
                <a:schemeClr val="bg1">
                  <a:lumMod val="85000"/>
                </a:schemeClr>
              </a:buClr>
            </a:pPr>
            <a:r>
              <a:rPr lang="en-US" altLang="en-US" sz="3600" i="1" dirty="0">
                <a:solidFill>
                  <a:schemeClr val="bg1">
                    <a:lumMod val="85000"/>
                  </a:schemeClr>
                </a:solidFill>
                <a:latin typeface="Calibri" panose="020F0502020204030204" pitchFamily="34" charset="0"/>
                <a:cs typeface="Calibri" panose="020F0502020204030204" pitchFamily="34" charset="0"/>
              </a:rPr>
              <a:t>Transport-layer services overview</a:t>
            </a:r>
          </a:p>
          <a:p>
            <a:pPr marL="403225" indent="-285750">
              <a:spcBef>
                <a:spcPts val="800"/>
              </a:spcBef>
              <a:spcAft>
                <a:spcPts val="600"/>
              </a:spcAft>
              <a:buClr>
                <a:schemeClr val="bg1">
                  <a:lumMod val="85000"/>
                </a:schemeClr>
              </a:buClr>
            </a:pPr>
            <a:r>
              <a:rPr lang="en-US" altLang="en-US" sz="3600" b="1" i="1" dirty="0">
                <a:latin typeface="Calibri" panose="020F0502020204030204" pitchFamily="34" charset="0"/>
                <a:cs typeface="Calibri" panose="020F0502020204030204" pitchFamily="34" charset="0"/>
              </a:rPr>
              <a:t>Connectionless transport: UDP</a:t>
            </a:r>
          </a:p>
          <a:p>
            <a:pPr marL="403225" indent="-285750">
              <a:spcBef>
                <a:spcPts val="800"/>
              </a:spcBef>
              <a:spcAft>
                <a:spcPts val="600"/>
              </a:spcAft>
              <a:buClr>
                <a:schemeClr val="bg1">
                  <a:lumMod val="85000"/>
                </a:schemeClr>
              </a:buClr>
            </a:pPr>
            <a:endParaRPr lang="en-US" altLang="en-US" sz="3600" i="1" dirty="0">
              <a:solidFill>
                <a:schemeClr val="bg1">
                  <a:lumMod val="85000"/>
                </a:schemeClr>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716441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400" dirty="0"/>
              <a:t>UDP: User Datagram Protocol</a:t>
            </a:r>
          </a:p>
        </p:txBody>
      </p:sp>
      <p:sp>
        <p:nvSpPr>
          <p:cNvPr id="6" name="Rectangle 3">
            <a:extLst>
              <a:ext uri="{FF2B5EF4-FFF2-40B4-BE49-F238E27FC236}">
                <a16:creationId xmlns:a16="http://schemas.microsoft.com/office/drawing/2014/main" id="{C770DED9-87F6-FB46-A967-6223B68A3E96}"/>
              </a:ext>
            </a:extLst>
          </p:cNvPr>
          <p:cNvSpPr txBox="1">
            <a:spLocks noChangeArrowheads="1"/>
          </p:cNvSpPr>
          <p:nvPr/>
        </p:nvSpPr>
        <p:spPr>
          <a:xfrm>
            <a:off x="389787" y="1528553"/>
            <a:ext cx="5939295" cy="2927537"/>
          </a:xfrm>
          <a:prstGeom prst="rect">
            <a:avLst/>
          </a:prstGeom>
        </p:spPr>
        <p:txBody>
          <a:bodyPr vert="horz" lIns="91440" tIns="45720" rIns="91440" bIns="45720" rtlCol="0">
            <a:normAutofit fontScale="92500" lnSpcReduction="1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R="0" lvl="0" algn="l" defTabSz="914400" rtl="0" eaLnBrk="1" fontAlgn="auto" latinLnBrk="0" hangingPunct="1">
              <a:lnSpc>
                <a:spcPct val="90000"/>
              </a:lnSpc>
              <a:spcBef>
                <a:spcPts val="1000"/>
              </a:spcBef>
              <a:spcAft>
                <a:spcPts val="600"/>
              </a:spcAft>
              <a:buClrTx/>
              <a:buSzTx/>
              <a:buFont typeface="Arial" panose="020B0604020202020204" pitchFamily="34" charset="0"/>
              <a:buChar char="•"/>
              <a:tabLst/>
              <a:defRPr/>
            </a:pPr>
            <a:r>
              <a:rPr kumimoji="0" lang="en-US" altLang="ja-JP"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“no frills,” “bare bones” Internet transport protocol</a:t>
            </a:r>
          </a:p>
          <a:p>
            <a:pPr marR="0" lvl="0" algn="l" defTabSz="914400" rtl="0" eaLnBrk="1" fontAlgn="auto" latinLnBrk="0" hangingPunct="1">
              <a:lnSpc>
                <a:spcPct val="90000"/>
              </a:lnSpc>
              <a:spcBef>
                <a:spcPts val="1000"/>
              </a:spcBef>
              <a:spcAft>
                <a:spcPts val="600"/>
              </a:spcAft>
              <a:buClrTx/>
              <a:buSzTx/>
              <a:buFont typeface="Arial" panose="020B0604020202020204" pitchFamily="34" charset="0"/>
              <a:buChar char="•"/>
              <a:tabLst/>
              <a:defRPr/>
            </a:pPr>
            <a:r>
              <a:rPr kumimoji="0" lang="en-US" altLang="ja-JP"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“best effort” service, UDP segments may be:</a:t>
            </a:r>
          </a:p>
          <a:p>
            <a:pPr marL="1033463" marR="0" lvl="1" indent="-457200" algn="l" defTabSz="914400" rtl="0" eaLnBrk="1" fontAlgn="auto" latinLnBrk="0" hangingPunct="1">
              <a:lnSpc>
                <a:spcPct val="90000"/>
              </a:lnSpc>
              <a:spcBef>
                <a:spcPts val="500"/>
              </a:spcBef>
              <a:spcAft>
                <a:spcPts val="600"/>
              </a:spcAft>
              <a:buClrTx/>
              <a:buSzTx/>
              <a:tabLst/>
              <a:defRPr/>
            </a:pP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Lost</a:t>
            </a:r>
          </a:p>
          <a:p>
            <a:pPr marL="1033463" marR="0" lvl="1" indent="-457200" algn="l" defTabSz="914400" rtl="0" eaLnBrk="1" fontAlgn="auto" latinLnBrk="0" hangingPunct="1">
              <a:lnSpc>
                <a:spcPct val="90000"/>
              </a:lnSpc>
              <a:spcBef>
                <a:spcPts val="500"/>
              </a:spcBef>
              <a:spcAft>
                <a:spcPts val="600"/>
              </a:spcAft>
              <a:buClrTx/>
              <a:buSzTx/>
              <a:tabLst/>
              <a:defRPr/>
            </a:pP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Delivered out-of-order to app</a:t>
            </a:r>
          </a:p>
        </p:txBody>
      </p:sp>
      <p:grpSp>
        <p:nvGrpSpPr>
          <p:cNvPr id="8" name="Group 7">
            <a:extLst>
              <a:ext uri="{FF2B5EF4-FFF2-40B4-BE49-F238E27FC236}">
                <a16:creationId xmlns:a16="http://schemas.microsoft.com/office/drawing/2014/main" id="{82E8D3DA-F7E2-3144-9365-F468AE5A3F1F}"/>
              </a:ext>
            </a:extLst>
          </p:cNvPr>
          <p:cNvGrpSpPr/>
          <p:nvPr/>
        </p:nvGrpSpPr>
        <p:grpSpPr>
          <a:xfrm>
            <a:off x="6568225" y="1335368"/>
            <a:ext cx="5029004" cy="5014363"/>
            <a:chOff x="4979987" y="2821302"/>
            <a:chExt cx="6630121" cy="3829830"/>
          </a:xfrm>
        </p:grpSpPr>
        <p:sp>
          <p:nvSpPr>
            <p:cNvPr id="9" name="Rectangle 26">
              <a:extLst>
                <a:ext uri="{FF2B5EF4-FFF2-40B4-BE49-F238E27FC236}">
                  <a16:creationId xmlns:a16="http://schemas.microsoft.com/office/drawing/2014/main" id="{F9D9BC33-5F55-F54A-B992-1DDB07422224}"/>
                </a:ext>
              </a:extLst>
            </p:cNvPr>
            <p:cNvSpPr txBox="1">
              <a:spLocks noChangeArrowheads="1"/>
            </p:cNvSpPr>
            <p:nvPr/>
          </p:nvSpPr>
          <p:spPr bwMode="auto">
            <a:xfrm>
              <a:off x="5218112" y="3235273"/>
              <a:ext cx="6391996" cy="304482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marL="284163" indent="-284163" algn="l" rtl="0" eaLnBrk="0" fontAlgn="base" hangingPunct="0">
                <a:lnSpc>
                  <a:spcPct val="85000"/>
                </a:lnSpc>
                <a:spcBef>
                  <a:spcPct val="20000"/>
                </a:spcBef>
                <a:spcAft>
                  <a:spcPct val="0"/>
                </a:spcAft>
                <a:buClr>
                  <a:srgbClr val="000099"/>
                </a:buClr>
                <a:buSzPct val="100000"/>
                <a:buFont typeface="Wingdings" pitchFamily="2" charset="2"/>
                <a:buChar char="§"/>
                <a:defRPr sz="2800">
                  <a:solidFill>
                    <a:schemeClr val="tx1"/>
                  </a:solidFill>
                  <a:latin typeface="+mn-lt"/>
                  <a:ea typeface="ＭＳ Ｐゴシック" charset="0"/>
                  <a:cs typeface="ＭＳ Ｐゴシック" charset="0"/>
                </a:defRPr>
              </a:lvl1pPr>
              <a:lvl2pPr marL="687388" indent="-230188" algn="l" rtl="0" eaLnBrk="0" fontAlgn="base" hangingPunct="0">
                <a:lnSpc>
                  <a:spcPct val="85000"/>
                </a:lnSpc>
                <a:spcBef>
                  <a:spcPct val="20000"/>
                </a:spcBef>
                <a:spcAft>
                  <a:spcPct val="0"/>
                </a:spcAft>
                <a:buClr>
                  <a:srgbClr val="000099"/>
                </a:buClr>
                <a:buFont typeface="Arial" panose="020B0604020202020204" pitchFamily="34" charset="0"/>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18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18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18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1800">
                  <a:solidFill>
                    <a:schemeClr val="tx1"/>
                  </a:solidFill>
                  <a:latin typeface="Times New Roman" pitchFamily="-109" charset="0"/>
                </a:defRPr>
              </a:lvl9pPr>
            </a:lstStyle>
            <a:p>
              <a:pPr marR="0" lvl="0" algn="l" defTabSz="914400" rtl="0" eaLnBrk="0" fontAlgn="base" latinLnBrk="0" hangingPunct="0">
                <a:lnSpc>
                  <a:spcPct val="85000"/>
                </a:lnSpc>
                <a:spcBef>
                  <a:spcPct val="20000"/>
                </a:spcBef>
                <a:spcAft>
                  <a:spcPts val="600"/>
                </a:spcAft>
                <a:buClrTx/>
                <a:buSzPct val="100000"/>
                <a:buFont typeface="Arial" panose="020B0604020202020204" pitchFamily="34" charset="0"/>
                <a:buChar char="•"/>
                <a:tabLst/>
                <a:defRPr/>
              </a:pPr>
              <a:r>
                <a:rPr kumimoji="0" lang="en-US" altLang="zh-CN"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N</a:t>
              </a:r>
              <a:r>
                <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o connection establishment (which can add RTT delay)</a:t>
              </a:r>
            </a:p>
            <a:p>
              <a:pPr marR="0" lvl="0" algn="l" defTabSz="914400" rtl="0" eaLnBrk="0" fontAlgn="base" latinLnBrk="0" hangingPunct="0">
                <a:lnSpc>
                  <a:spcPct val="85000"/>
                </a:lnSpc>
                <a:spcBef>
                  <a:spcPct val="20000"/>
                </a:spcBef>
                <a:spcAft>
                  <a:spcPts val="600"/>
                </a:spcAft>
                <a:buClrTx/>
                <a:buSzPct val="100000"/>
                <a:buFont typeface="Arial" panose="020B0604020202020204" pitchFamily="34" charset="0"/>
                <a:buChar char="•"/>
                <a:tabLst/>
                <a:defRPr/>
              </a:pPr>
              <a:r>
                <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Simple: no connection state at sender, receiver</a:t>
              </a:r>
            </a:p>
            <a:p>
              <a:pPr marR="0" lvl="0" algn="l" defTabSz="914400" rtl="0" eaLnBrk="0" fontAlgn="base" latinLnBrk="0" hangingPunct="0">
                <a:lnSpc>
                  <a:spcPct val="85000"/>
                </a:lnSpc>
                <a:spcBef>
                  <a:spcPct val="20000"/>
                </a:spcBef>
                <a:spcAft>
                  <a:spcPts val="600"/>
                </a:spcAft>
                <a:buClrTx/>
                <a:buSzPct val="100000"/>
                <a:buFont typeface="Arial" panose="020B0604020202020204" pitchFamily="34" charset="0"/>
                <a:buChar char="•"/>
                <a:tabLst/>
                <a:defRPr/>
              </a:pPr>
              <a:r>
                <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Small header size</a:t>
              </a:r>
            </a:p>
            <a:p>
              <a:pPr marR="0" lvl="0" algn="l" defTabSz="914400" rtl="0" eaLnBrk="0" fontAlgn="base" latinLnBrk="0" hangingPunct="0">
                <a:lnSpc>
                  <a:spcPct val="85000"/>
                </a:lnSpc>
                <a:spcBef>
                  <a:spcPct val="20000"/>
                </a:spcBef>
                <a:spcAft>
                  <a:spcPts val="600"/>
                </a:spcAft>
                <a:buClrTx/>
                <a:buSzPct val="100000"/>
                <a:buFont typeface="Arial" panose="020B0604020202020204" pitchFamily="34" charset="0"/>
                <a:buChar char="•"/>
                <a:tabLst/>
                <a:defRPr/>
              </a:pPr>
              <a:r>
                <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No congestion control</a:t>
              </a:r>
            </a:p>
            <a:p>
              <a:pPr marL="746125" marR="0" lvl="1" indent="-342900" algn="l" defTabSz="914400" rtl="0" eaLnBrk="0" fontAlgn="base" latinLnBrk="0" hangingPunct="0">
                <a:lnSpc>
                  <a:spcPct val="85000"/>
                </a:lnSpc>
                <a:spcBef>
                  <a:spcPct val="20000"/>
                </a:spcBef>
                <a:spcAft>
                  <a:spcPts val="600"/>
                </a:spcAft>
                <a:buClrTx/>
                <a:buSzPct val="100000"/>
                <a:tabLst/>
                <a:defRPr/>
              </a:pPr>
              <a:r>
                <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UDP can blast away as fast as desired!</a:t>
              </a:r>
            </a:p>
            <a:p>
              <a:pPr marL="746125" marR="0" lvl="1" indent="-342900" algn="l" defTabSz="914400" rtl="0" eaLnBrk="0" fontAlgn="base" latinLnBrk="0" hangingPunct="0">
                <a:lnSpc>
                  <a:spcPct val="85000"/>
                </a:lnSpc>
                <a:spcBef>
                  <a:spcPct val="20000"/>
                </a:spcBef>
                <a:spcAft>
                  <a:spcPts val="600"/>
                </a:spcAft>
                <a:buClrTx/>
                <a:buSzPct val="100000"/>
                <a:tabLst/>
                <a:defRPr/>
              </a:pPr>
              <a:r>
                <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Can function in the face of congestion</a:t>
              </a:r>
            </a:p>
          </p:txBody>
        </p:sp>
        <p:sp>
          <p:nvSpPr>
            <p:cNvPr id="10" name="Rectangle 27">
              <a:extLst>
                <a:ext uri="{FF2B5EF4-FFF2-40B4-BE49-F238E27FC236}">
                  <a16:creationId xmlns:a16="http://schemas.microsoft.com/office/drawing/2014/main" id="{E3B96135-5F05-0D44-B7B9-9BD478D4E907}"/>
                </a:ext>
              </a:extLst>
            </p:cNvPr>
            <p:cNvSpPr>
              <a:spLocks noChangeArrowheads="1"/>
            </p:cNvSpPr>
            <p:nvPr/>
          </p:nvSpPr>
          <p:spPr bwMode="auto">
            <a:xfrm>
              <a:off x="4979987" y="2988017"/>
              <a:ext cx="6630121" cy="3663115"/>
            </a:xfrm>
            <a:prstGeom prst="rect">
              <a:avLst/>
            </a:prstGeom>
            <a:noFill/>
            <a:ln w="19050">
              <a:solidFill>
                <a:srgbClr val="CC0000"/>
              </a:solidFill>
              <a:miter lim="800000"/>
              <a:headEnd/>
              <a:tailEnd/>
            </a:ln>
            <a:effectLst/>
            <a:extLst>
              <a:ext uri="{909E8E84-426E-40dd-AFC4-6F175D3DCCD1}">
                <a14:hiddenFill xmlns="" xmlns:a14="http://schemas.microsoft.com/office/drawing/2010/main">
                  <a:solidFill>
                    <a:schemeClr val="bg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11" name="Text Box 28">
              <a:extLst>
                <a:ext uri="{FF2B5EF4-FFF2-40B4-BE49-F238E27FC236}">
                  <a16:creationId xmlns:a16="http://schemas.microsoft.com/office/drawing/2014/main" id="{3BFEAB49-E79F-FF40-AAAE-C9820F50289A}"/>
                </a:ext>
              </a:extLst>
            </p:cNvPr>
            <p:cNvSpPr txBox="1">
              <a:spLocks noChangeArrowheads="1"/>
            </p:cNvSpPr>
            <p:nvPr/>
          </p:nvSpPr>
          <p:spPr bwMode="auto">
            <a:xfrm>
              <a:off x="5124449" y="2821302"/>
              <a:ext cx="5102112" cy="378906"/>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80000"/>
                </a:lnSpc>
                <a:spcBef>
                  <a:spcPct val="20000"/>
                </a:spcBef>
                <a:spcAft>
                  <a:spcPct val="0"/>
                </a:spcAft>
                <a:buClr>
                  <a:srgbClr val="000099"/>
                </a:buClr>
                <a:buSzPct val="65000"/>
                <a:buFont typeface="Wingdings" charset="0"/>
                <a:buNone/>
                <a:tabLst/>
                <a:defRPr/>
              </a:pPr>
              <a:r>
                <a:rPr kumimoji="0" lang="en-US" sz="3200" b="0" i="0" u="none" strike="noStrike" kern="0" cap="none" spc="0" normalizeH="0" baseline="0" noProof="0" dirty="0">
                  <a:ln>
                    <a:noFill/>
                  </a:ln>
                  <a:solidFill>
                    <a:srgbClr val="CC0000"/>
                  </a:solidFill>
                  <a:effectLst/>
                  <a:uLnTx/>
                  <a:uFillTx/>
                  <a:latin typeface="Calibri" panose="020F0502020204030204"/>
                  <a:ea typeface="ＭＳ Ｐゴシック" charset="0"/>
                  <a:cs typeface="+mn-cs"/>
                </a:rPr>
                <a:t>Why is there a UDP?</a:t>
              </a:r>
              <a:endParaRPr kumimoji="0" lang="en-US" sz="18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grpSp>
      <p:sp>
        <p:nvSpPr>
          <p:cNvPr id="12" name="Rectangle 3">
            <a:extLst>
              <a:ext uri="{FF2B5EF4-FFF2-40B4-BE49-F238E27FC236}">
                <a16:creationId xmlns:a16="http://schemas.microsoft.com/office/drawing/2014/main" id="{B958CE44-F1A4-924D-8CEA-640B52DBA4DF}"/>
              </a:ext>
            </a:extLst>
          </p:cNvPr>
          <p:cNvSpPr txBox="1">
            <a:spLocks noChangeArrowheads="1"/>
          </p:cNvSpPr>
          <p:nvPr/>
        </p:nvSpPr>
        <p:spPr>
          <a:xfrm>
            <a:off x="389787" y="4456090"/>
            <a:ext cx="5550595" cy="2060359"/>
          </a:xfrm>
          <a:prstGeom prst="rect">
            <a:avLst/>
          </a:prstGeom>
        </p:spPr>
        <p:txBody>
          <a:bodyPr vert="horz" lIns="91440" tIns="45720" rIns="91440" bIns="45720" rtlCol="0">
            <a:normAutofit fontScale="92500" lnSpcReduction="2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84200" marR="0" lvl="0" indent="-457200" algn="l" defTabSz="914400" rtl="0" eaLnBrk="1" fontAlgn="auto" latinLnBrk="0" hangingPunct="1">
              <a:lnSpc>
                <a:spcPct val="90000"/>
              </a:lnSpc>
              <a:spcBef>
                <a:spcPts val="1000"/>
              </a:spcBef>
              <a:spcAft>
                <a:spcPts val="600"/>
              </a:spcAft>
              <a:buClrTx/>
              <a:buSzTx/>
              <a:buFont typeface="Arial" panose="020B0604020202020204" pitchFamily="34" charset="0"/>
              <a:buChar char="•"/>
              <a:tabLst/>
              <a:defRPr/>
            </a:pPr>
            <a:r>
              <a:rPr kumimoji="0" lang="en-US" altLang="en-US" sz="3200" b="0" i="1"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Connectionless:</a:t>
            </a:r>
            <a:endParaRPr kumimoji="0" lang="en-US" altLang="en-US" sz="3600" b="0" i="0"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endParaRPr>
          </a:p>
          <a:p>
            <a:pPr marR="0" lvl="1" algn="l" defTabSz="914400" rtl="0" eaLnBrk="1" fontAlgn="auto" latinLnBrk="0" hangingPunct="1">
              <a:lnSpc>
                <a:spcPct val="90000"/>
              </a:lnSpc>
              <a:spcBef>
                <a:spcPts val="500"/>
              </a:spcBef>
              <a:spcAft>
                <a:spcPts val="600"/>
              </a:spcAft>
              <a:buClrTx/>
              <a:buSzTx/>
              <a:tabLst/>
              <a:defRPr/>
            </a:pP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No </a:t>
            </a:r>
            <a:r>
              <a:rPr kumimoji="0" lang="en-US" altLang="en-US" sz="3200" b="0" i="0" u="none"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mn-cs"/>
              </a:rPr>
              <a:t>handshaking</a:t>
            </a: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between UDP sender, receiver</a:t>
            </a:r>
          </a:p>
          <a:p>
            <a:pPr marR="0" lvl="1" algn="l" defTabSz="914400" rtl="0" eaLnBrk="1" fontAlgn="auto" latinLnBrk="0" hangingPunct="1">
              <a:lnSpc>
                <a:spcPct val="90000"/>
              </a:lnSpc>
              <a:spcBef>
                <a:spcPts val="500"/>
              </a:spcBef>
              <a:spcAft>
                <a:spcPts val="600"/>
              </a:spcAft>
              <a:buClrTx/>
              <a:buSzTx/>
              <a:tabLst/>
              <a:defRPr/>
            </a:pP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Each UDP segment handled independently of others</a:t>
            </a:r>
          </a:p>
        </p:txBody>
      </p:sp>
    </p:spTree>
    <p:extLst>
      <p:ext uri="{BB962C8B-B14F-4D97-AF65-F5344CB8AC3E}">
        <p14:creationId xmlns:p14="http://schemas.microsoft.com/office/powerpoint/2010/main" val="379916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dissolv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dissolve">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400" dirty="0"/>
              <a:t>UDP: User Datagram Protocol</a:t>
            </a:r>
          </a:p>
        </p:txBody>
      </p:sp>
      <p:sp>
        <p:nvSpPr>
          <p:cNvPr id="7" name="Rectangle 9">
            <a:extLst>
              <a:ext uri="{FF2B5EF4-FFF2-40B4-BE49-F238E27FC236}">
                <a16:creationId xmlns:a16="http://schemas.microsoft.com/office/drawing/2014/main" id="{0EFE9DD4-40BF-D54C-B457-743C8EAA5EAF}"/>
              </a:ext>
            </a:extLst>
          </p:cNvPr>
          <p:cNvSpPr>
            <a:spLocks noChangeArrowheads="1"/>
          </p:cNvSpPr>
          <p:nvPr/>
        </p:nvSpPr>
        <p:spPr bwMode="auto">
          <a:xfrm>
            <a:off x="798690" y="1543058"/>
            <a:ext cx="11100625" cy="488877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457200" marR="0" lvl="0" indent="-457200" algn="l" defTabSz="914400" rtl="0" eaLnBrk="1" fontAlgn="auto" latinLnBrk="0" hangingPunct="1">
              <a:lnSpc>
                <a:spcPct val="85000"/>
              </a:lnSpc>
              <a:spcBef>
                <a:spcPct val="20000"/>
              </a:spcBef>
              <a:spcAft>
                <a:spcPts val="600"/>
              </a:spcAft>
              <a:buSzPct val="100000"/>
              <a:buFont typeface="Arial" panose="020B0604020202020204" pitchFamily="34" charset="0"/>
              <a:buChar char="•"/>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UDP use:</a:t>
            </a:r>
          </a:p>
          <a:p>
            <a:pPr marL="914400" marR="0" lvl="1" indent="-457200" algn="l" defTabSz="914400" rtl="0" eaLnBrk="1" fontAlgn="auto" latinLnBrk="0" hangingPunct="1">
              <a:lnSpc>
                <a:spcPct val="85000"/>
              </a:lnSpc>
              <a:spcBef>
                <a:spcPct val="20000"/>
              </a:spcBef>
              <a:spcAft>
                <a:spcPts val="600"/>
              </a:spcAft>
              <a:buSzTx/>
              <a:buFont typeface="Arial" panose="020B0604020202020204" pitchFamily="34" charset="0"/>
              <a:buChar char="•"/>
              <a:tabLst/>
              <a:defRPr/>
            </a:pPr>
            <a:r>
              <a:rPr kumimoji="0" lang="en-US" sz="2800" b="1"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streaming multimedia apps </a:t>
            </a:r>
            <a:r>
              <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(loss tolerant, rate sensitive)</a:t>
            </a:r>
          </a:p>
          <a:p>
            <a:pPr marL="914400" marR="0" lvl="1" indent="-457200" algn="l" defTabSz="914400" rtl="0" eaLnBrk="1" fontAlgn="auto" latinLnBrk="0" hangingPunct="1">
              <a:lnSpc>
                <a:spcPct val="85000"/>
              </a:lnSpc>
              <a:spcBef>
                <a:spcPct val="20000"/>
              </a:spcBef>
              <a:spcAft>
                <a:spcPts val="600"/>
              </a:spcAft>
              <a:buSzTx/>
              <a:buFont typeface="Arial" panose="020B0604020202020204" pitchFamily="34" charset="0"/>
              <a:buChar char="•"/>
              <a:tabLst/>
              <a:defRPr/>
            </a:pPr>
            <a:r>
              <a:rPr kumimoji="0" lang="en-US" sz="2800" b="1"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DNS</a:t>
            </a:r>
          </a:p>
          <a:p>
            <a:pPr marL="914400" marR="0" lvl="1" indent="-457200" algn="l" defTabSz="914400" rtl="0" eaLnBrk="1" fontAlgn="auto" latinLnBrk="0" hangingPunct="1">
              <a:lnSpc>
                <a:spcPct val="85000"/>
              </a:lnSpc>
              <a:spcBef>
                <a:spcPct val="20000"/>
              </a:spcBef>
              <a:spcAft>
                <a:spcPts val="600"/>
              </a:spcAft>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SNMP</a:t>
            </a:r>
          </a:p>
          <a:p>
            <a:pPr marL="914400" marR="0" lvl="1" indent="-457200" algn="l" defTabSz="914400" rtl="0" eaLnBrk="1" fontAlgn="auto" latinLnBrk="0" hangingPunct="1">
              <a:lnSpc>
                <a:spcPct val="85000"/>
              </a:lnSpc>
              <a:spcBef>
                <a:spcPct val="20000"/>
              </a:spcBef>
              <a:spcAft>
                <a:spcPts val="600"/>
              </a:spcAft>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HTTP/3</a:t>
            </a:r>
          </a:p>
          <a:p>
            <a:pPr marL="457200" marR="0" lvl="0" indent="-457200" algn="l" defTabSz="914400" rtl="0" eaLnBrk="1" fontAlgn="auto" latinLnBrk="0" hangingPunct="1">
              <a:lnSpc>
                <a:spcPct val="85000"/>
              </a:lnSpc>
              <a:spcBef>
                <a:spcPct val="20000"/>
              </a:spcBef>
              <a:spcAft>
                <a:spcPts val="600"/>
              </a:spcAft>
              <a:buSzPct val="100000"/>
              <a:buFont typeface="Arial" panose="020B0604020202020204" pitchFamily="34" charset="0"/>
              <a:buChar char="•"/>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If reliable transfer needed over UDP (e.g., HTTP/3): </a:t>
            </a:r>
          </a:p>
          <a:p>
            <a:pPr marL="914400" marR="0" lvl="1" indent="-457200" algn="l" defTabSz="914400" rtl="0" eaLnBrk="1" fontAlgn="auto" latinLnBrk="0" hangingPunct="1">
              <a:lnSpc>
                <a:spcPct val="85000"/>
              </a:lnSpc>
              <a:spcBef>
                <a:spcPct val="20000"/>
              </a:spcBef>
              <a:spcAft>
                <a:spcPts val="600"/>
              </a:spcAft>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Add needed reliability at application layer</a:t>
            </a:r>
          </a:p>
          <a:p>
            <a:pPr marL="914400" marR="0" lvl="1" indent="-457200" algn="l" defTabSz="914400" rtl="0" eaLnBrk="1" fontAlgn="auto" latinLnBrk="0" hangingPunct="1">
              <a:lnSpc>
                <a:spcPct val="85000"/>
              </a:lnSpc>
              <a:spcBef>
                <a:spcPct val="20000"/>
              </a:spcBef>
              <a:spcAft>
                <a:spcPts val="600"/>
              </a:spcAft>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Add congestion control at application layer</a:t>
            </a:r>
          </a:p>
        </p:txBody>
      </p:sp>
    </p:spTree>
    <p:extLst>
      <p:ext uri="{BB962C8B-B14F-4D97-AF65-F5344CB8AC3E}">
        <p14:creationId xmlns:p14="http://schemas.microsoft.com/office/powerpoint/2010/main" val="16643524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 name="Freeform 103">
            <a:extLst>
              <a:ext uri="{FF2B5EF4-FFF2-40B4-BE49-F238E27FC236}">
                <a16:creationId xmlns:a16="http://schemas.microsoft.com/office/drawing/2014/main" id="{DEF6D5D3-E4DA-4B46-BBC5-93311E115D92}"/>
              </a:ext>
            </a:extLst>
          </p:cNvPr>
          <p:cNvSpPr>
            <a:spLocks/>
          </p:cNvSpPr>
          <p:nvPr/>
        </p:nvSpPr>
        <p:spPr bwMode="auto">
          <a:xfrm>
            <a:off x="10295012" y="2167472"/>
            <a:ext cx="890436" cy="2912558"/>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solidFill>
              <a:srgbClr val="DDDDDD"/>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 name="TextBox 7">
            <a:extLst>
              <a:ext uri="{FF2B5EF4-FFF2-40B4-BE49-F238E27FC236}">
                <a16:creationId xmlns:a16="http://schemas.microsoft.com/office/drawing/2014/main" id="{95E1F04B-A3B3-534D-A252-A4AC29C657DE}"/>
              </a:ext>
            </a:extLst>
          </p:cNvPr>
          <p:cNvSpPr txBox="1"/>
          <p:nvPr/>
        </p:nvSpPr>
        <p:spPr>
          <a:xfrm>
            <a:off x="8481037" y="1538123"/>
            <a:ext cx="1684948"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DNS client</a:t>
            </a:r>
          </a:p>
        </p:txBody>
      </p:sp>
      <p:sp>
        <p:nvSpPr>
          <p:cNvPr id="263" name="TextBox 262">
            <a:extLst>
              <a:ext uri="{FF2B5EF4-FFF2-40B4-BE49-F238E27FC236}">
                <a16:creationId xmlns:a16="http://schemas.microsoft.com/office/drawing/2014/main" id="{DC4B02DA-C340-9945-87C2-952E1901FB43}"/>
              </a:ext>
            </a:extLst>
          </p:cNvPr>
          <p:cNvSpPr txBox="1"/>
          <p:nvPr/>
        </p:nvSpPr>
        <p:spPr>
          <a:xfrm>
            <a:off x="1935319" y="1662731"/>
            <a:ext cx="1793889"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800" b="0" i="0" u="none" strike="noStrike" kern="1200" cap="none" spc="0" normalizeH="0" baseline="0" noProof="0" dirty="0">
                <a:ln>
                  <a:noFill/>
                </a:ln>
                <a:solidFill>
                  <a:prstClr val="black"/>
                </a:solidFill>
                <a:effectLst/>
                <a:uLnTx/>
                <a:uFillTx/>
                <a:latin typeface="Calibri"/>
                <a:ea typeface="+mn-ea"/>
                <a:cs typeface="+mn-cs"/>
              </a:rPr>
              <a:t>DNS</a:t>
            </a:r>
            <a:r>
              <a:rPr kumimoji="0" lang="en-US" sz="2800" b="0" i="0" u="none" strike="noStrike" kern="1200" cap="none" spc="0" normalizeH="0" baseline="0" noProof="0" dirty="0">
                <a:ln>
                  <a:noFill/>
                </a:ln>
                <a:solidFill>
                  <a:prstClr val="black"/>
                </a:solidFill>
                <a:effectLst/>
                <a:uLnTx/>
                <a:uFillTx/>
                <a:latin typeface="Calibri"/>
                <a:ea typeface="+mn-ea"/>
                <a:cs typeface="+mn-cs"/>
              </a:rPr>
              <a:t> server</a:t>
            </a:r>
          </a:p>
        </p:txBody>
      </p:sp>
      <p:grpSp>
        <p:nvGrpSpPr>
          <p:cNvPr id="3" name="Group 2">
            <a:extLst>
              <a:ext uri="{FF2B5EF4-FFF2-40B4-BE49-F238E27FC236}">
                <a16:creationId xmlns:a16="http://schemas.microsoft.com/office/drawing/2014/main" id="{64AFD9EC-1CA1-D34D-965E-2E8D95748C38}"/>
              </a:ext>
            </a:extLst>
          </p:cNvPr>
          <p:cNvGrpSpPr/>
          <p:nvPr/>
        </p:nvGrpSpPr>
        <p:grpSpPr>
          <a:xfrm>
            <a:off x="8510352" y="2078288"/>
            <a:ext cx="1946338" cy="2912558"/>
            <a:chOff x="8091785" y="2078288"/>
            <a:chExt cx="2364905" cy="2912558"/>
          </a:xfrm>
        </p:grpSpPr>
        <p:sp>
          <p:nvSpPr>
            <p:cNvPr id="145" name="Rectangle 23">
              <a:extLst>
                <a:ext uri="{FF2B5EF4-FFF2-40B4-BE49-F238E27FC236}">
                  <a16:creationId xmlns:a16="http://schemas.microsoft.com/office/drawing/2014/main" id="{F1314FFD-BA11-A042-BA84-1061E3729058}"/>
                </a:ext>
              </a:extLst>
            </p:cNvPr>
            <p:cNvSpPr>
              <a:spLocks noChangeArrowheads="1"/>
            </p:cNvSpPr>
            <p:nvPr/>
          </p:nvSpPr>
          <p:spPr bwMode="auto">
            <a:xfrm>
              <a:off x="8179440" y="2078288"/>
              <a:ext cx="2277250" cy="2799267"/>
            </a:xfrm>
            <a:prstGeom prst="rect">
              <a:avLst/>
            </a:prstGeom>
            <a:solidFill>
              <a:srgbClr val="000099"/>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46" name="Rectangle 24">
              <a:extLst>
                <a:ext uri="{FF2B5EF4-FFF2-40B4-BE49-F238E27FC236}">
                  <a16:creationId xmlns:a16="http://schemas.microsoft.com/office/drawing/2014/main" id="{89D8A59C-E128-B74A-B94F-06FAC9DB7326}"/>
                </a:ext>
              </a:extLst>
            </p:cNvPr>
            <p:cNvSpPr>
              <a:spLocks noChangeArrowheads="1"/>
            </p:cNvSpPr>
            <p:nvPr/>
          </p:nvSpPr>
          <p:spPr bwMode="auto">
            <a:xfrm>
              <a:off x="8091785" y="2167472"/>
              <a:ext cx="2254867" cy="2823374"/>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47" name="Line 25">
              <a:extLst>
                <a:ext uri="{FF2B5EF4-FFF2-40B4-BE49-F238E27FC236}">
                  <a16:creationId xmlns:a16="http://schemas.microsoft.com/office/drawing/2014/main" id="{B922FB1F-8B1A-1843-A740-29E910EB3E97}"/>
                </a:ext>
              </a:extLst>
            </p:cNvPr>
            <p:cNvSpPr>
              <a:spLocks noChangeShapeType="1"/>
            </p:cNvSpPr>
            <p:nvPr/>
          </p:nvSpPr>
          <p:spPr bwMode="auto">
            <a:xfrm>
              <a:off x="8108956" y="2749010"/>
              <a:ext cx="2238254" cy="4821"/>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48" name="Text Box 26">
              <a:extLst>
                <a:ext uri="{FF2B5EF4-FFF2-40B4-BE49-F238E27FC236}">
                  <a16:creationId xmlns:a16="http://schemas.microsoft.com/office/drawing/2014/main" id="{BE3B5056-5F96-5946-AEC3-17140DB163F4}"/>
                </a:ext>
              </a:extLst>
            </p:cNvPr>
            <p:cNvSpPr txBox="1">
              <a:spLocks noChangeArrowheads="1"/>
            </p:cNvSpPr>
            <p:nvPr/>
          </p:nvSpPr>
          <p:spPr bwMode="auto">
            <a:xfrm>
              <a:off x="8376445" y="2832513"/>
              <a:ext cx="1703276" cy="73744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transport</a:t>
              </a:r>
            </a:p>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(UDP)</a:t>
              </a:r>
            </a:p>
          </p:txBody>
        </p:sp>
        <p:sp>
          <p:nvSpPr>
            <p:cNvPr id="149" name="Line 27">
              <a:extLst>
                <a:ext uri="{FF2B5EF4-FFF2-40B4-BE49-F238E27FC236}">
                  <a16:creationId xmlns:a16="http://schemas.microsoft.com/office/drawing/2014/main" id="{FF1A214D-FBCE-7342-8332-F3FA9C577B4A}"/>
                </a:ext>
              </a:extLst>
            </p:cNvPr>
            <p:cNvSpPr>
              <a:spLocks noChangeShapeType="1"/>
            </p:cNvSpPr>
            <p:nvPr/>
          </p:nvSpPr>
          <p:spPr bwMode="auto">
            <a:xfrm>
              <a:off x="8108201" y="3602458"/>
              <a:ext cx="2233387"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51" name="Text Box 26">
              <a:extLst>
                <a:ext uri="{FF2B5EF4-FFF2-40B4-BE49-F238E27FC236}">
                  <a16:creationId xmlns:a16="http://schemas.microsoft.com/office/drawing/2014/main" id="{50D62C6A-4C80-854F-A4B8-723E99A5A7F0}"/>
                </a:ext>
              </a:extLst>
            </p:cNvPr>
            <p:cNvSpPr txBox="1">
              <a:spLocks noChangeArrowheads="1"/>
            </p:cNvSpPr>
            <p:nvPr/>
          </p:nvSpPr>
          <p:spPr bwMode="auto">
            <a:xfrm>
              <a:off x="8218436" y="4533100"/>
              <a:ext cx="2019294" cy="44027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physical</a:t>
              </a:r>
            </a:p>
          </p:txBody>
        </p:sp>
        <p:sp>
          <p:nvSpPr>
            <p:cNvPr id="152" name="Text Box 26">
              <a:extLst>
                <a:ext uri="{FF2B5EF4-FFF2-40B4-BE49-F238E27FC236}">
                  <a16:creationId xmlns:a16="http://schemas.microsoft.com/office/drawing/2014/main" id="{A79D3A45-C33B-7046-9088-A02FAACCA14B}"/>
                </a:ext>
              </a:extLst>
            </p:cNvPr>
            <p:cNvSpPr txBox="1">
              <a:spLocks noChangeArrowheads="1"/>
            </p:cNvSpPr>
            <p:nvPr/>
          </p:nvSpPr>
          <p:spPr bwMode="auto">
            <a:xfrm>
              <a:off x="8218436" y="4088345"/>
              <a:ext cx="2019294" cy="44027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link</a:t>
              </a:r>
            </a:p>
          </p:txBody>
        </p:sp>
        <p:sp>
          <p:nvSpPr>
            <p:cNvPr id="153" name="Text Box 26">
              <a:extLst>
                <a:ext uri="{FF2B5EF4-FFF2-40B4-BE49-F238E27FC236}">
                  <a16:creationId xmlns:a16="http://schemas.microsoft.com/office/drawing/2014/main" id="{F3520259-D4C5-3340-8000-3B8C746A7797}"/>
                </a:ext>
              </a:extLst>
            </p:cNvPr>
            <p:cNvSpPr txBox="1">
              <a:spLocks noChangeArrowheads="1"/>
            </p:cNvSpPr>
            <p:nvPr/>
          </p:nvSpPr>
          <p:spPr bwMode="auto">
            <a:xfrm>
              <a:off x="8218436" y="3646079"/>
              <a:ext cx="2019294" cy="3988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network (IP)</a:t>
              </a:r>
            </a:p>
          </p:txBody>
        </p:sp>
        <p:sp>
          <p:nvSpPr>
            <p:cNvPr id="155" name="Line 27">
              <a:extLst>
                <a:ext uri="{FF2B5EF4-FFF2-40B4-BE49-F238E27FC236}">
                  <a16:creationId xmlns:a16="http://schemas.microsoft.com/office/drawing/2014/main" id="{E1326351-38D1-A440-A7B8-5079367D54AC}"/>
                </a:ext>
              </a:extLst>
            </p:cNvPr>
            <p:cNvSpPr>
              <a:spLocks noChangeShapeType="1"/>
            </p:cNvSpPr>
            <p:nvPr/>
          </p:nvSpPr>
          <p:spPr bwMode="auto">
            <a:xfrm>
              <a:off x="8116255" y="4074895"/>
              <a:ext cx="2233388"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56" name="Line 27">
              <a:extLst>
                <a:ext uri="{FF2B5EF4-FFF2-40B4-BE49-F238E27FC236}">
                  <a16:creationId xmlns:a16="http://schemas.microsoft.com/office/drawing/2014/main" id="{891B0B5D-A14D-1A40-B291-CC1A04A094FC}"/>
                </a:ext>
              </a:extLst>
            </p:cNvPr>
            <p:cNvSpPr>
              <a:spLocks noChangeShapeType="1"/>
            </p:cNvSpPr>
            <p:nvPr/>
          </p:nvSpPr>
          <p:spPr bwMode="auto">
            <a:xfrm>
              <a:off x="8111389" y="4528049"/>
              <a:ext cx="2233388"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74" name="Text Box 26">
              <a:extLst>
                <a:ext uri="{FF2B5EF4-FFF2-40B4-BE49-F238E27FC236}">
                  <a16:creationId xmlns:a16="http://schemas.microsoft.com/office/drawing/2014/main" id="{D8A757BB-1762-8B47-A046-060F718CBC6B}"/>
                </a:ext>
              </a:extLst>
            </p:cNvPr>
            <p:cNvSpPr txBox="1">
              <a:spLocks noChangeArrowheads="1"/>
            </p:cNvSpPr>
            <p:nvPr/>
          </p:nvSpPr>
          <p:spPr bwMode="auto">
            <a:xfrm>
              <a:off x="8179440" y="2284368"/>
              <a:ext cx="2019294" cy="3988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application</a:t>
              </a:r>
            </a:p>
          </p:txBody>
        </p:sp>
      </p:grpSp>
      <p:sp>
        <p:nvSpPr>
          <p:cNvPr id="114" name="Title 1">
            <a:extLst>
              <a:ext uri="{FF2B5EF4-FFF2-40B4-BE49-F238E27FC236}">
                <a16:creationId xmlns:a16="http://schemas.microsoft.com/office/drawing/2014/main" id="{1464CB5C-96D6-3645-94B5-DB9FA70972D2}"/>
              </a:ext>
            </a:extLst>
          </p:cNvPr>
          <p:cNvSpPr>
            <a:spLocks noGrp="1"/>
          </p:cNvSpPr>
          <p:nvPr>
            <p:ph type="title"/>
          </p:nvPr>
        </p:nvSpPr>
        <p:spPr>
          <a:xfrm>
            <a:off x="798690" y="289325"/>
            <a:ext cx="11100625" cy="894622"/>
          </a:xfrm>
        </p:spPr>
        <p:txBody>
          <a:bodyPr>
            <a:normAutofit/>
          </a:bodyPr>
          <a:lstStyle/>
          <a:p>
            <a:r>
              <a:rPr lang="en-US" sz="4400" dirty="0"/>
              <a:t>UDP: Transport Layer Actions</a:t>
            </a:r>
          </a:p>
        </p:txBody>
      </p:sp>
      <p:cxnSp>
        <p:nvCxnSpPr>
          <p:cNvPr id="10" name="Straight Connector 9">
            <a:extLst>
              <a:ext uri="{FF2B5EF4-FFF2-40B4-BE49-F238E27FC236}">
                <a16:creationId xmlns:a16="http://schemas.microsoft.com/office/drawing/2014/main" id="{19E97DC1-5C01-E843-A657-ADC5FEA14075}"/>
              </a:ext>
            </a:extLst>
          </p:cNvPr>
          <p:cNvCxnSpPr>
            <a:cxnSpLocks/>
            <a:stCxn id="151" idx="2"/>
          </p:cNvCxnSpPr>
          <p:nvPr/>
        </p:nvCxnSpPr>
        <p:spPr>
          <a:xfrm flipH="1">
            <a:off x="7972023" y="4973372"/>
            <a:ext cx="1473513" cy="47439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9C57AC1A-9B60-DC47-A97D-E9C39D845828}"/>
              </a:ext>
            </a:extLst>
          </p:cNvPr>
          <p:cNvCxnSpPr>
            <a:cxnSpLocks/>
          </p:cNvCxnSpPr>
          <p:nvPr/>
        </p:nvCxnSpPr>
        <p:spPr>
          <a:xfrm>
            <a:off x="2578811" y="5062556"/>
            <a:ext cx="1582832" cy="30261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71" name="Freeform 296">
            <a:extLst>
              <a:ext uri="{FF2B5EF4-FFF2-40B4-BE49-F238E27FC236}">
                <a16:creationId xmlns:a16="http://schemas.microsoft.com/office/drawing/2014/main" id="{06DFDE96-5B04-984C-B72D-22D074DF3E82}"/>
              </a:ext>
            </a:extLst>
          </p:cNvPr>
          <p:cNvSpPr>
            <a:spLocks/>
          </p:cNvSpPr>
          <p:nvPr/>
        </p:nvSpPr>
        <p:spPr bwMode="auto">
          <a:xfrm>
            <a:off x="4062521" y="4965666"/>
            <a:ext cx="4036903" cy="1028731"/>
          </a:xfrm>
          <a:custGeom>
            <a:avLst/>
            <a:gdLst>
              <a:gd name="T0" fmla="*/ 2147483647 w 1877"/>
              <a:gd name="T1" fmla="*/ 2147483647 h 917"/>
              <a:gd name="T2" fmla="*/ 2147483647 w 1877"/>
              <a:gd name="T3" fmla="*/ 2147483647 h 917"/>
              <a:gd name="T4" fmla="*/ 2147483647 w 1877"/>
              <a:gd name="T5" fmla="*/ 2147483647 h 917"/>
              <a:gd name="T6" fmla="*/ 2147483647 w 1877"/>
              <a:gd name="T7" fmla="*/ 2147483647 h 917"/>
              <a:gd name="T8" fmla="*/ 2147483647 w 1877"/>
              <a:gd name="T9" fmla="*/ 2147483647 h 917"/>
              <a:gd name="T10" fmla="*/ 2147483647 w 1877"/>
              <a:gd name="T11" fmla="*/ 2147483647 h 917"/>
              <a:gd name="T12" fmla="*/ 2147483647 w 1877"/>
              <a:gd name="T13" fmla="*/ 2147483647 h 917"/>
              <a:gd name="T14" fmla="*/ 2147483647 w 1877"/>
              <a:gd name="T15" fmla="*/ 2147483647 h 917"/>
              <a:gd name="T16" fmla="*/ 2147483647 w 1877"/>
              <a:gd name="T17" fmla="*/ 2147483647 h 917"/>
              <a:gd name="T18" fmla="*/ 2147483647 w 1877"/>
              <a:gd name="T19" fmla="*/ 2147483647 h 917"/>
              <a:gd name="T20" fmla="*/ 2147483647 w 1877"/>
              <a:gd name="T21" fmla="*/ 2147483647 h 917"/>
              <a:gd name="T22" fmla="*/ 2147483647 w 1877"/>
              <a:gd name="T23" fmla="*/ 2147483647 h 917"/>
              <a:gd name="T24" fmla="*/ 2147483647 w 1877"/>
              <a:gd name="T25" fmla="*/ 2147483647 h 917"/>
              <a:gd name="T26" fmla="*/ 2147483647 w 1877"/>
              <a:gd name="T27" fmla="*/ 2147483647 h 917"/>
              <a:gd name="T28" fmla="*/ 2147483647 w 1877"/>
              <a:gd name="T29" fmla="*/ 2147483647 h 917"/>
              <a:gd name="T30" fmla="*/ 2147483647 w 1877"/>
              <a:gd name="T31" fmla="*/ 2147483647 h 91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877"/>
              <a:gd name="T49" fmla="*/ 0 h 917"/>
              <a:gd name="T50" fmla="*/ 1877 w 1877"/>
              <a:gd name="T51" fmla="*/ 917 h 91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877" h="91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9CDFF9"/>
          </a:solidFill>
          <a:ln>
            <a:noFill/>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Calibri"/>
              <a:ea typeface="ＭＳ Ｐゴシック" panose="020B0600070205080204" pitchFamily="34" charset="-128"/>
              <a:cs typeface="Arial"/>
            </a:endParaRPr>
          </a:p>
        </p:txBody>
      </p:sp>
      <p:sp>
        <p:nvSpPr>
          <p:cNvPr id="163" name="Freeform 70">
            <a:extLst>
              <a:ext uri="{FF2B5EF4-FFF2-40B4-BE49-F238E27FC236}">
                <a16:creationId xmlns:a16="http://schemas.microsoft.com/office/drawing/2014/main" id="{93CF945F-B7C1-9B4F-9438-D2DF7708E687}"/>
              </a:ext>
            </a:extLst>
          </p:cNvPr>
          <p:cNvSpPr>
            <a:spLocks/>
          </p:cNvSpPr>
          <p:nvPr/>
        </p:nvSpPr>
        <p:spPr bwMode="auto">
          <a:xfrm>
            <a:off x="854349" y="2256655"/>
            <a:ext cx="846644" cy="2922199"/>
          </a:xfrm>
          <a:custGeom>
            <a:avLst/>
            <a:gdLst>
              <a:gd name="T0" fmla="*/ 0 w 348"/>
              <a:gd name="T1" fmla="*/ 2147483647 h 1312"/>
              <a:gd name="T2" fmla="*/ 2147483647 w 348"/>
              <a:gd name="T3" fmla="*/ 0 h 1312"/>
              <a:gd name="T4" fmla="*/ 2147483647 w 348"/>
              <a:gd name="T5" fmla="*/ 2147483647 h 1312"/>
              <a:gd name="T6" fmla="*/ 2147483647 w 348"/>
              <a:gd name="T7" fmla="*/ 2147483647 h 1312"/>
              <a:gd name="T8" fmla="*/ 0 w 348"/>
              <a:gd name="T9" fmla="*/ 2147483647 h 13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8" h="1312">
                <a:moveTo>
                  <a:pt x="0" y="1306"/>
                </a:moveTo>
                <a:lnTo>
                  <a:pt x="348" y="0"/>
                </a:lnTo>
                <a:lnTo>
                  <a:pt x="342" y="1258"/>
                </a:lnTo>
                <a:lnTo>
                  <a:pt x="180" y="1312"/>
                </a:lnTo>
                <a:lnTo>
                  <a:pt x="0" y="1306"/>
                </a:lnTo>
                <a:close/>
              </a:path>
            </a:pathLst>
          </a:custGeom>
          <a:gradFill rotWithShape="1">
            <a:gsLst>
              <a:gs pos="0">
                <a:srgbClr val="FFFFFF"/>
              </a:gs>
              <a:gs pos="100000">
                <a:srgbClr val="B2B2B2"/>
              </a:gs>
            </a:gsLst>
            <a:lin ang="0" scaled="1"/>
          </a:gradFill>
          <a:ln w="9525">
            <a:solidFill>
              <a:srgbClr val="DDDDDD"/>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164" name="Group 163">
            <a:extLst>
              <a:ext uri="{FF2B5EF4-FFF2-40B4-BE49-F238E27FC236}">
                <a16:creationId xmlns:a16="http://schemas.microsoft.com/office/drawing/2014/main" id="{AA415DCF-A2D2-344B-9A45-F3F58006C5EE}"/>
              </a:ext>
            </a:extLst>
          </p:cNvPr>
          <p:cNvGrpSpPr/>
          <p:nvPr/>
        </p:nvGrpSpPr>
        <p:grpSpPr>
          <a:xfrm>
            <a:off x="1687770" y="2167472"/>
            <a:ext cx="2131701" cy="2912558"/>
            <a:chOff x="8091785" y="2078288"/>
            <a:chExt cx="2364905" cy="2912558"/>
          </a:xfrm>
        </p:grpSpPr>
        <p:sp>
          <p:nvSpPr>
            <p:cNvPr id="165" name="Rectangle 23">
              <a:extLst>
                <a:ext uri="{FF2B5EF4-FFF2-40B4-BE49-F238E27FC236}">
                  <a16:creationId xmlns:a16="http://schemas.microsoft.com/office/drawing/2014/main" id="{20790EF2-7EC4-BF46-AE61-5F193F0894CD}"/>
                </a:ext>
              </a:extLst>
            </p:cNvPr>
            <p:cNvSpPr>
              <a:spLocks noChangeArrowheads="1"/>
            </p:cNvSpPr>
            <p:nvPr/>
          </p:nvSpPr>
          <p:spPr bwMode="auto">
            <a:xfrm>
              <a:off x="8179440" y="2078288"/>
              <a:ext cx="2277250" cy="2799267"/>
            </a:xfrm>
            <a:prstGeom prst="rect">
              <a:avLst/>
            </a:prstGeom>
            <a:solidFill>
              <a:srgbClr val="000099"/>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66" name="Rectangle 24">
              <a:extLst>
                <a:ext uri="{FF2B5EF4-FFF2-40B4-BE49-F238E27FC236}">
                  <a16:creationId xmlns:a16="http://schemas.microsoft.com/office/drawing/2014/main" id="{DF6E9285-B785-804B-BB24-0405637B9911}"/>
                </a:ext>
              </a:extLst>
            </p:cNvPr>
            <p:cNvSpPr>
              <a:spLocks noChangeArrowheads="1"/>
            </p:cNvSpPr>
            <p:nvPr/>
          </p:nvSpPr>
          <p:spPr bwMode="auto">
            <a:xfrm>
              <a:off x="8091785" y="2167472"/>
              <a:ext cx="2254867" cy="2823374"/>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67" name="Line 25">
              <a:extLst>
                <a:ext uri="{FF2B5EF4-FFF2-40B4-BE49-F238E27FC236}">
                  <a16:creationId xmlns:a16="http://schemas.microsoft.com/office/drawing/2014/main" id="{C2F7FFF2-43B5-A648-8DB9-1244002B1EED}"/>
                </a:ext>
              </a:extLst>
            </p:cNvPr>
            <p:cNvSpPr>
              <a:spLocks noChangeShapeType="1"/>
            </p:cNvSpPr>
            <p:nvPr/>
          </p:nvSpPr>
          <p:spPr bwMode="auto">
            <a:xfrm>
              <a:off x="8108956" y="2749010"/>
              <a:ext cx="2238254" cy="4821"/>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68" name="Text Box 26">
              <a:extLst>
                <a:ext uri="{FF2B5EF4-FFF2-40B4-BE49-F238E27FC236}">
                  <a16:creationId xmlns:a16="http://schemas.microsoft.com/office/drawing/2014/main" id="{38AC5752-2E10-AE4C-AE2E-F2F12589ABF6}"/>
                </a:ext>
              </a:extLst>
            </p:cNvPr>
            <p:cNvSpPr txBox="1">
              <a:spLocks noChangeArrowheads="1"/>
            </p:cNvSpPr>
            <p:nvPr/>
          </p:nvSpPr>
          <p:spPr bwMode="auto">
            <a:xfrm>
              <a:off x="8376445" y="2832513"/>
              <a:ext cx="1703276" cy="73744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transport</a:t>
              </a:r>
            </a:p>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(UDP)</a:t>
              </a:r>
            </a:p>
          </p:txBody>
        </p:sp>
        <p:sp>
          <p:nvSpPr>
            <p:cNvPr id="169" name="Line 27">
              <a:extLst>
                <a:ext uri="{FF2B5EF4-FFF2-40B4-BE49-F238E27FC236}">
                  <a16:creationId xmlns:a16="http://schemas.microsoft.com/office/drawing/2014/main" id="{E6411346-D908-6048-94E9-4C9C6A9C97BF}"/>
                </a:ext>
              </a:extLst>
            </p:cNvPr>
            <p:cNvSpPr>
              <a:spLocks noChangeShapeType="1"/>
            </p:cNvSpPr>
            <p:nvPr/>
          </p:nvSpPr>
          <p:spPr bwMode="auto">
            <a:xfrm>
              <a:off x="8121121" y="3602458"/>
              <a:ext cx="2233388"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0" name="Text Box 26">
              <a:extLst>
                <a:ext uri="{FF2B5EF4-FFF2-40B4-BE49-F238E27FC236}">
                  <a16:creationId xmlns:a16="http://schemas.microsoft.com/office/drawing/2014/main" id="{2BD45E5F-4032-7A44-91A7-D2ED37DE30B7}"/>
                </a:ext>
              </a:extLst>
            </p:cNvPr>
            <p:cNvSpPr txBox="1">
              <a:spLocks noChangeArrowheads="1"/>
            </p:cNvSpPr>
            <p:nvPr/>
          </p:nvSpPr>
          <p:spPr bwMode="auto">
            <a:xfrm>
              <a:off x="8218436" y="4533100"/>
              <a:ext cx="2019294" cy="44027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physical</a:t>
              </a:r>
            </a:p>
          </p:txBody>
        </p:sp>
        <p:sp>
          <p:nvSpPr>
            <p:cNvPr id="171" name="Text Box 26">
              <a:extLst>
                <a:ext uri="{FF2B5EF4-FFF2-40B4-BE49-F238E27FC236}">
                  <a16:creationId xmlns:a16="http://schemas.microsoft.com/office/drawing/2014/main" id="{067129BD-4E72-804E-9941-0CFB2ABB0A6B}"/>
                </a:ext>
              </a:extLst>
            </p:cNvPr>
            <p:cNvSpPr txBox="1">
              <a:spLocks noChangeArrowheads="1"/>
            </p:cNvSpPr>
            <p:nvPr/>
          </p:nvSpPr>
          <p:spPr bwMode="auto">
            <a:xfrm>
              <a:off x="8218436" y="4088345"/>
              <a:ext cx="2019294" cy="44027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link</a:t>
              </a:r>
            </a:p>
          </p:txBody>
        </p:sp>
        <p:sp>
          <p:nvSpPr>
            <p:cNvPr id="172" name="Text Box 26">
              <a:extLst>
                <a:ext uri="{FF2B5EF4-FFF2-40B4-BE49-F238E27FC236}">
                  <a16:creationId xmlns:a16="http://schemas.microsoft.com/office/drawing/2014/main" id="{586097BE-C9CD-2B44-A610-13D1A1572A56}"/>
                </a:ext>
              </a:extLst>
            </p:cNvPr>
            <p:cNvSpPr txBox="1">
              <a:spLocks noChangeArrowheads="1"/>
            </p:cNvSpPr>
            <p:nvPr/>
          </p:nvSpPr>
          <p:spPr bwMode="auto">
            <a:xfrm>
              <a:off x="8218436" y="3646079"/>
              <a:ext cx="2019294" cy="73744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network (IP)</a:t>
              </a:r>
            </a:p>
          </p:txBody>
        </p:sp>
        <p:sp>
          <p:nvSpPr>
            <p:cNvPr id="173" name="Line 27">
              <a:extLst>
                <a:ext uri="{FF2B5EF4-FFF2-40B4-BE49-F238E27FC236}">
                  <a16:creationId xmlns:a16="http://schemas.microsoft.com/office/drawing/2014/main" id="{9A1DE5DC-7E6A-4747-9541-02B87C77AC36}"/>
                </a:ext>
              </a:extLst>
            </p:cNvPr>
            <p:cNvSpPr>
              <a:spLocks noChangeShapeType="1"/>
            </p:cNvSpPr>
            <p:nvPr/>
          </p:nvSpPr>
          <p:spPr bwMode="auto">
            <a:xfrm>
              <a:off x="8116255" y="4074895"/>
              <a:ext cx="2233388"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4" name="Line 27">
              <a:extLst>
                <a:ext uri="{FF2B5EF4-FFF2-40B4-BE49-F238E27FC236}">
                  <a16:creationId xmlns:a16="http://schemas.microsoft.com/office/drawing/2014/main" id="{9B2D570F-120B-6D41-8FE2-002A2DC1204D}"/>
                </a:ext>
              </a:extLst>
            </p:cNvPr>
            <p:cNvSpPr>
              <a:spLocks noChangeShapeType="1"/>
            </p:cNvSpPr>
            <p:nvPr/>
          </p:nvSpPr>
          <p:spPr bwMode="auto">
            <a:xfrm>
              <a:off x="8111389" y="4528049"/>
              <a:ext cx="2233388"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5" name="Text Box 26">
              <a:extLst>
                <a:ext uri="{FF2B5EF4-FFF2-40B4-BE49-F238E27FC236}">
                  <a16:creationId xmlns:a16="http://schemas.microsoft.com/office/drawing/2014/main" id="{3C035217-7FD4-6C48-AB72-7561321B3669}"/>
                </a:ext>
              </a:extLst>
            </p:cNvPr>
            <p:cNvSpPr txBox="1">
              <a:spLocks noChangeArrowheads="1"/>
            </p:cNvSpPr>
            <p:nvPr/>
          </p:nvSpPr>
          <p:spPr bwMode="auto">
            <a:xfrm>
              <a:off x="8179440" y="2284368"/>
              <a:ext cx="2019294" cy="3988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application</a:t>
              </a:r>
            </a:p>
          </p:txBody>
        </p:sp>
      </p:grpSp>
      <p:grpSp>
        <p:nvGrpSpPr>
          <p:cNvPr id="197" name="Group 149">
            <a:extLst>
              <a:ext uri="{FF2B5EF4-FFF2-40B4-BE49-F238E27FC236}">
                <a16:creationId xmlns:a16="http://schemas.microsoft.com/office/drawing/2014/main" id="{1F890155-D0B7-364C-891D-EC128001048E}"/>
              </a:ext>
            </a:extLst>
          </p:cNvPr>
          <p:cNvGrpSpPr>
            <a:grpSpLocks/>
          </p:cNvGrpSpPr>
          <p:nvPr/>
        </p:nvGrpSpPr>
        <p:grpSpPr bwMode="auto">
          <a:xfrm>
            <a:off x="2462207" y="2756023"/>
            <a:ext cx="412750" cy="158750"/>
            <a:chOff x="1287" y="2524"/>
            <a:chExt cx="260" cy="100"/>
          </a:xfrm>
        </p:grpSpPr>
        <p:sp>
          <p:nvSpPr>
            <p:cNvPr id="198" name="Rectangle 73">
              <a:extLst>
                <a:ext uri="{FF2B5EF4-FFF2-40B4-BE49-F238E27FC236}">
                  <a16:creationId xmlns:a16="http://schemas.microsoft.com/office/drawing/2014/main" id="{590049C7-843C-1B4A-89F9-80D6028F7F02}"/>
                </a:ext>
              </a:extLst>
            </p:cNvPr>
            <p:cNvSpPr>
              <a:spLocks noChangeArrowheads="1"/>
            </p:cNvSpPr>
            <p:nvPr/>
          </p:nvSpPr>
          <p:spPr bwMode="auto">
            <a:xfrm>
              <a:off x="1287" y="2524"/>
              <a:ext cx="260" cy="100"/>
            </a:xfrm>
            <a:prstGeom prst="rect">
              <a:avLst/>
            </a:prstGeom>
            <a:solidFill>
              <a:srgbClr val="FFFF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99" name="Rectangle 74">
              <a:extLst>
                <a:ext uri="{FF2B5EF4-FFF2-40B4-BE49-F238E27FC236}">
                  <a16:creationId xmlns:a16="http://schemas.microsoft.com/office/drawing/2014/main" id="{060ED392-F3E2-5445-9D40-5D86C1A7E8FA}"/>
                </a:ext>
              </a:extLst>
            </p:cNvPr>
            <p:cNvSpPr>
              <a:spLocks noChangeArrowheads="1"/>
            </p:cNvSpPr>
            <p:nvPr/>
          </p:nvSpPr>
          <p:spPr bwMode="auto">
            <a:xfrm>
              <a:off x="1338" y="2537"/>
              <a:ext cx="155" cy="76"/>
            </a:xfrm>
            <a:prstGeom prst="rect">
              <a:avLst/>
            </a:prstGeom>
            <a:solidFill>
              <a:srgbClr val="FFFFFF"/>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00" name="Rectangle 75">
              <a:extLst>
                <a:ext uri="{FF2B5EF4-FFF2-40B4-BE49-F238E27FC236}">
                  <a16:creationId xmlns:a16="http://schemas.microsoft.com/office/drawing/2014/main" id="{33BE5C08-8C7C-7149-875A-3BD200DF748C}"/>
                </a:ext>
              </a:extLst>
            </p:cNvPr>
            <p:cNvSpPr>
              <a:spLocks noChangeArrowheads="1"/>
            </p:cNvSpPr>
            <p:nvPr/>
          </p:nvSpPr>
          <p:spPr bwMode="auto">
            <a:xfrm>
              <a:off x="1503" y="2582"/>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01" name="Rectangle 129">
              <a:extLst>
                <a:ext uri="{FF2B5EF4-FFF2-40B4-BE49-F238E27FC236}">
                  <a16:creationId xmlns:a16="http://schemas.microsoft.com/office/drawing/2014/main" id="{0140B062-405E-0A48-ABA2-65AE09DF9CCF}"/>
                </a:ext>
              </a:extLst>
            </p:cNvPr>
            <p:cNvSpPr>
              <a:spLocks noChangeArrowheads="1"/>
            </p:cNvSpPr>
            <p:nvPr/>
          </p:nvSpPr>
          <p:spPr bwMode="auto">
            <a:xfrm>
              <a:off x="1298" y="2583"/>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grpSp>
        <p:nvGrpSpPr>
          <p:cNvPr id="85" name="Group 149">
            <a:extLst>
              <a:ext uri="{FF2B5EF4-FFF2-40B4-BE49-F238E27FC236}">
                <a16:creationId xmlns:a16="http://schemas.microsoft.com/office/drawing/2014/main" id="{2BE2291A-54C4-114A-8062-D743A8CDF9EC}"/>
              </a:ext>
            </a:extLst>
          </p:cNvPr>
          <p:cNvGrpSpPr>
            <a:grpSpLocks/>
          </p:cNvGrpSpPr>
          <p:nvPr/>
        </p:nvGrpSpPr>
        <p:grpSpPr bwMode="auto">
          <a:xfrm>
            <a:off x="9681144" y="2673610"/>
            <a:ext cx="412750" cy="158750"/>
            <a:chOff x="1287" y="2524"/>
            <a:chExt cx="260" cy="100"/>
          </a:xfrm>
        </p:grpSpPr>
        <p:sp>
          <p:nvSpPr>
            <p:cNvPr id="86" name="Rectangle 73">
              <a:extLst>
                <a:ext uri="{FF2B5EF4-FFF2-40B4-BE49-F238E27FC236}">
                  <a16:creationId xmlns:a16="http://schemas.microsoft.com/office/drawing/2014/main" id="{A98E76A7-87AD-8242-988E-0E4DFC2782A9}"/>
                </a:ext>
              </a:extLst>
            </p:cNvPr>
            <p:cNvSpPr>
              <a:spLocks noChangeArrowheads="1"/>
            </p:cNvSpPr>
            <p:nvPr/>
          </p:nvSpPr>
          <p:spPr bwMode="auto">
            <a:xfrm>
              <a:off x="1287" y="2524"/>
              <a:ext cx="260" cy="100"/>
            </a:xfrm>
            <a:prstGeom prst="rect">
              <a:avLst/>
            </a:prstGeom>
            <a:solidFill>
              <a:srgbClr val="FFFF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87" name="Rectangle 74">
              <a:extLst>
                <a:ext uri="{FF2B5EF4-FFF2-40B4-BE49-F238E27FC236}">
                  <a16:creationId xmlns:a16="http://schemas.microsoft.com/office/drawing/2014/main" id="{05A0AED4-CB55-8B44-A573-91C3CC5195FE}"/>
                </a:ext>
              </a:extLst>
            </p:cNvPr>
            <p:cNvSpPr>
              <a:spLocks noChangeArrowheads="1"/>
            </p:cNvSpPr>
            <p:nvPr/>
          </p:nvSpPr>
          <p:spPr bwMode="auto">
            <a:xfrm>
              <a:off x="1338" y="2537"/>
              <a:ext cx="155" cy="76"/>
            </a:xfrm>
            <a:prstGeom prst="rect">
              <a:avLst/>
            </a:prstGeom>
            <a:solidFill>
              <a:srgbClr val="FFFFFF"/>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88" name="Rectangle 75">
              <a:extLst>
                <a:ext uri="{FF2B5EF4-FFF2-40B4-BE49-F238E27FC236}">
                  <a16:creationId xmlns:a16="http://schemas.microsoft.com/office/drawing/2014/main" id="{E473A3B0-4DB9-E148-95E3-5518DB468C96}"/>
                </a:ext>
              </a:extLst>
            </p:cNvPr>
            <p:cNvSpPr>
              <a:spLocks noChangeArrowheads="1"/>
            </p:cNvSpPr>
            <p:nvPr/>
          </p:nvSpPr>
          <p:spPr bwMode="auto">
            <a:xfrm>
              <a:off x="1503" y="2582"/>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89" name="Rectangle 129">
              <a:extLst>
                <a:ext uri="{FF2B5EF4-FFF2-40B4-BE49-F238E27FC236}">
                  <a16:creationId xmlns:a16="http://schemas.microsoft.com/office/drawing/2014/main" id="{E9ED0EE1-76D9-D04D-8893-5E36E5A75578}"/>
                </a:ext>
              </a:extLst>
            </p:cNvPr>
            <p:cNvSpPr>
              <a:spLocks noChangeArrowheads="1"/>
            </p:cNvSpPr>
            <p:nvPr/>
          </p:nvSpPr>
          <p:spPr bwMode="auto">
            <a:xfrm>
              <a:off x="1298" y="2583"/>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grpSp>
        <p:nvGrpSpPr>
          <p:cNvPr id="222" name="Group 185">
            <a:extLst>
              <a:ext uri="{FF2B5EF4-FFF2-40B4-BE49-F238E27FC236}">
                <a16:creationId xmlns:a16="http://schemas.microsoft.com/office/drawing/2014/main" id="{7750F2FB-96FA-374A-AF56-26502EF04672}"/>
              </a:ext>
            </a:extLst>
          </p:cNvPr>
          <p:cNvGrpSpPr>
            <a:grpSpLocks/>
          </p:cNvGrpSpPr>
          <p:nvPr/>
        </p:nvGrpSpPr>
        <p:grpSpPr bwMode="auto">
          <a:xfrm>
            <a:off x="763107" y="4127023"/>
            <a:ext cx="549832" cy="1070215"/>
            <a:chOff x="4140" y="429"/>
            <a:chExt cx="1425" cy="2396"/>
          </a:xfrm>
        </p:grpSpPr>
        <p:sp>
          <p:nvSpPr>
            <p:cNvPr id="223" name="Freeform 186">
              <a:extLst>
                <a:ext uri="{FF2B5EF4-FFF2-40B4-BE49-F238E27FC236}">
                  <a16:creationId xmlns:a16="http://schemas.microsoft.com/office/drawing/2014/main" id="{E441858B-A566-F746-B48C-912CA3020CC8}"/>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24" name="Rectangle 187">
              <a:extLst>
                <a:ext uri="{FF2B5EF4-FFF2-40B4-BE49-F238E27FC236}">
                  <a16:creationId xmlns:a16="http://schemas.microsoft.com/office/drawing/2014/main" id="{20003129-35A4-1E46-8065-8AF4C6403D57}"/>
                </a:ext>
              </a:extLst>
            </p:cNvPr>
            <p:cNvSpPr>
              <a:spLocks noChangeArrowheads="1"/>
            </p:cNvSpPr>
            <p:nvPr/>
          </p:nvSpPr>
          <p:spPr bwMode="auto">
            <a:xfrm>
              <a:off x="4203" y="429"/>
              <a:ext cx="1053" cy="2283"/>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25" name="Freeform 188">
              <a:extLst>
                <a:ext uri="{FF2B5EF4-FFF2-40B4-BE49-F238E27FC236}">
                  <a16:creationId xmlns:a16="http://schemas.microsoft.com/office/drawing/2014/main" id="{6F94D7AE-C4D1-AF4A-B970-086B7D245ACF}"/>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26" name="Freeform 189">
              <a:extLst>
                <a:ext uri="{FF2B5EF4-FFF2-40B4-BE49-F238E27FC236}">
                  <a16:creationId xmlns:a16="http://schemas.microsoft.com/office/drawing/2014/main" id="{EAFC03EF-54DF-8942-9852-25739DA158B4}"/>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27" name="Rectangle 190">
              <a:extLst>
                <a:ext uri="{FF2B5EF4-FFF2-40B4-BE49-F238E27FC236}">
                  <a16:creationId xmlns:a16="http://schemas.microsoft.com/office/drawing/2014/main" id="{2241F7B6-5281-A74E-8DCB-3BE3777E9369}"/>
                </a:ext>
              </a:extLst>
            </p:cNvPr>
            <p:cNvSpPr>
              <a:spLocks noChangeArrowheads="1"/>
            </p:cNvSpPr>
            <p:nvPr/>
          </p:nvSpPr>
          <p:spPr bwMode="auto">
            <a:xfrm>
              <a:off x="4209" y="693"/>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228" name="Group 191">
              <a:extLst>
                <a:ext uri="{FF2B5EF4-FFF2-40B4-BE49-F238E27FC236}">
                  <a16:creationId xmlns:a16="http://schemas.microsoft.com/office/drawing/2014/main" id="{02DB0249-6EBB-FF4B-B17F-CC771B255D00}"/>
                </a:ext>
              </a:extLst>
            </p:cNvPr>
            <p:cNvGrpSpPr>
              <a:grpSpLocks/>
            </p:cNvGrpSpPr>
            <p:nvPr/>
          </p:nvGrpSpPr>
          <p:grpSpPr bwMode="auto">
            <a:xfrm>
              <a:off x="4749" y="668"/>
              <a:ext cx="581" cy="145"/>
              <a:chOff x="614" y="2568"/>
              <a:chExt cx="725" cy="139"/>
            </a:xfrm>
          </p:grpSpPr>
          <p:sp>
            <p:nvSpPr>
              <p:cNvPr id="253" name="AutoShape 192">
                <a:extLst>
                  <a:ext uri="{FF2B5EF4-FFF2-40B4-BE49-F238E27FC236}">
                    <a16:creationId xmlns:a16="http://schemas.microsoft.com/office/drawing/2014/main" id="{BE55370E-BC12-1B42-9E3C-C950033EEF89}"/>
                  </a:ext>
                </a:extLst>
              </p:cNvPr>
              <p:cNvSpPr>
                <a:spLocks noChangeArrowheads="1"/>
              </p:cNvSpPr>
              <p:nvPr/>
            </p:nvSpPr>
            <p:spPr bwMode="auto">
              <a:xfrm>
                <a:off x="617" y="2567"/>
                <a:ext cx="724"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54" name="AutoShape 193">
                <a:extLst>
                  <a:ext uri="{FF2B5EF4-FFF2-40B4-BE49-F238E27FC236}">
                    <a16:creationId xmlns:a16="http://schemas.microsoft.com/office/drawing/2014/main" id="{1BBB99EB-2FFB-5942-9855-24BEE1C68997}"/>
                  </a:ext>
                </a:extLst>
              </p:cNvPr>
              <p:cNvSpPr>
                <a:spLocks noChangeArrowheads="1"/>
              </p:cNvSpPr>
              <p:nvPr/>
            </p:nvSpPr>
            <p:spPr bwMode="auto">
              <a:xfrm>
                <a:off x="633" y="2582"/>
                <a:ext cx="692"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229" name="Rectangle 194">
              <a:extLst>
                <a:ext uri="{FF2B5EF4-FFF2-40B4-BE49-F238E27FC236}">
                  <a16:creationId xmlns:a16="http://schemas.microsoft.com/office/drawing/2014/main" id="{9C5699FC-2B4E-BD46-B9CC-CA578E2EA709}"/>
                </a:ext>
              </a:extLst>
            </p:cNvPr>
            <p:cNvSpPr>
              <a:spLocks noChangeArrowheads="1"/>
            </p:cNvSpPr>
            <p:nvPr/>
          </p:nvSpPr>
          <p:spPr bwMode="auto">
            <a:xfrm>
              <a:off x="4222" y="1017"/>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230" name="Group 195">
              <a:extLst>
                <a:ext uri="{FF2B5EF4-FFF2-40B4-BE49-F238E27FC236}">
                  <a16:creationId xmlns:a16="http://schemas.microsoft.com/office/drawing/2014/main" id="{676615F3-A30A-9740-8080-AFEE6BAAEF98}"/>
                </a:ext>
              </a:extLst>
            </p:cNvPr>
            <p:cNvGrpSpPr>
              <a:grpSpLocks/>
            </p:cNvGrpSpPr>
            <p:nvPr/>
          </p:nvGrpSpPr>
          <p:grpSpPr bwMode="auto">
            <a:xfrm>
              <a:off x="4747" y="994"/>
              <a:ext cx="581" cy="134"/>
              <a:chOff x="614" y="2568"/>
              <a:chExt cx="725" cy="139"/>
            </a:xfrm>
          </p:grpSpPr>
          <p:sp>
            <p:nvSpPr>
              <p:cNvPr id="251" name="AutoShape 196">
                <a:extLst>
                  <a:ext uri="{FF2B5EF4-FFF2-40B4-BE49-F238E27FC236}">
                    <a16:creationId xmlns:a16="http://schemas.microsoft.com/office/drawing/2014/main" id="{D31569A0-2CDC-3B4B-B7FA-067BF2CB0D93}"/>
                  </a:ext>
                </a:extLst>
              </p:cNvPr>
              <p:cNvSpPr>
                <a:spLocks noChangeArrowheads="1"/>
              </p:cNvSpPr>
              <p:nvPr/>
            </p:nvSpPr>
            <p:spPr bwMode="auto">
              <a:xfrm>
                <a:off x="612" y="2570"/>
                <a:ext cx="724" cy="162"/>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52" name="AutoShape 197">
                <a:extLst>
                  <a:ext uri="{FF2B5EF4-FFF2-40B4-BE49-F238E27FC236}">
                    <a16:creationId xmlns:a16="http://schemas.microsoft.com/office/drawing/2014/main" id="{5D70C5E6-3DFB-1D45-8469-DE5EA96E13E8}"/>
                  </a:ext>
                </a:extLst>
              </p:cNvPr>
              <p:cNvSpPr>
                <a:spLocks noChangeArrowheads="1"/>
              </p:cNvSpPr>
              <p:nvPr/>
            </p:nvSpPr>
            <p:spPr bwMode="auto">
              <a:xfrm>
                <a:off x="628" y="2586"/>
                <a:ext cx="692"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231" name="Rectangle 198">
              <a:extLst>
                <a:ext uri="{FF2B5EF4-FFF2-40B4-BE49-F238E27FC236}">
                  <a16:creationId xmlns:a16="http://schemas.microsoft.com/office/drawing/2014/main" id="{AE060187-10EA-1F4E-AEDE-8C6C0E8358D2}"/>
                </a:ext>
              </a:extLst>
            </p:cNvPr>
            <p:cNvSpPr>
              <a:spLocks noChangeArrowheads="1"/>
            </p:cNvSpPr>
            <p:nvPr/>
          </p:nvSpPr>
          <p:spPr bwMode="auto">
            <a:xfrm>
              <a:off x="4216" y="1357"/>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32" name="Rectangle 199">
              <a:extLst>
                <a:ext uri="{FF2B5EF4-FFF2-40B4-BE49-F238E27FC236}">
                  <a16:creationId xmlns:a16="http://schemas.microsoft.com/office/drawing/2014/main" id="{32874526-51C0-C749-BDC8-3D9F62AFE767}"/>
                </a:ext>
              </a:extLst>
            </p:cNvPr>
            <p:cNvSpPr>
              <a:spLocks noChangeArrowheads="1"/>
            </p:cNvSpPr>
            <p:nvPr/>
          </p:nvSpPr>
          <p:spPr bwMode="auto">
            <a:xfrm>
              <a:off x="4228" y="1654"/>
              <a:ext cx="593"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233" name="Group 200">
              <a:extLst>
                <a:ext uri="{FF2B5EF4-FFF2-40B4-BE49-F238E27FC236}">
                  <a16:creationId xmlns:a16="http://schemas.microsoft.com/office/drawing/2014/main" id="{09E63F43-E74F-6045-A673-3756891EE94D}"/>
                </a:ext>
              </a:extLst>
            </p:cNvPr>
            <p:cNvGrpSpPr>
              <a:grpSpLocks/>
            </p:cNvGrpSpPr>
            <p:nvPr/>
          </p:nvGrpSpPr>
          <p:grpSpPr bwMode="auto">
            <a:xfrm>
              <a:off x="4735" y="1627"/>
              <a:ext cx="582" cy="151"/>
              <a:chOff x="614" y="2568"/>
              <a:chExt cx="725" cy="139"/>
            </a:xfrm>
          </p:grpSpPr>
          <p:sp>
            <p:nvSpPr>
              <p:cNvPr id="249" name="AutoShape 201">
                <a:extLst>
                  <a:ext uri="{FF2B5EF4-FFF2-40B4-BE49-F238E27FC236}">
                    <a16:creationId xmlns:a16="http://schemas.microsoft.com/office/drawing/2014/main" id="{0296B9BB-82CD-2A45-8E56-F4ACF6FCC028}"/>
                  </a:ext>
                </a:extLst>
              </p:cNvPr>
              <p:cNvSpPr>
                <a:spLocks noChangeArrowheads="1"/>
              </p:cNvSpPr>
              <p:nvPr/>
            </p:nvSpPr>
            <p:spPr bwMode="auto">
              <a:xfrm>
                <a:off x="611" y="2568"/>
                <a:ext cx="730" cy="139"/>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50" name="AutoShape 202">
                <a:extLst>
                  <a:ext uri="{FF2B5EF4-FFF2-40B4-BE49-F238E27FC236}">
                    <a16:creationId xmlns:a16="http://schemas.microsoft.com/office/drawing/2014/main" id="{DD3C3254-A817-B449-AE0F-31BEFF504A04}"/>
                  </a:ext>
                </a:extLst>
              </p:cNvPr>
              <p:cNvSpPr>
                <a:spLocks noChangeArrowheads="1"/>
              </p:cNvSpPr>
              <p:nvPr/>
            </p:nvSpPr>
            <p:spPr bwMode="auto">
              <a:xfrm>
                <a:off x="627" y="2583"/>
                <a:ext cx="699"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234" name="Freeform 203">
              <a:extLst>
                <a:ext uri="{FF2B5EF4-FFF2-40B4-BE49-F238E27FC236}">
                  <a16:creationId xmlns:a16="http://schemas.microsoft.com/office/drawing/2014/main" id="{D05041BE-8046-EB49-A23A-C7FEB06D9108}"/>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235" name="Group 204">
              <a:extLst>
                <a:ext uri="{FF2B5EF4-FFF2-40B4-BE49-F238E27FC236}">
                  <a16:creationId xmlns:a16="http://schemas.microsoft.com/office/drawing/2014/main" id="{BD1D997D-F690-4C4E-9473-F0433427C91F}"/>
                </a:ext>
              </a:extLst>
            </p:cNvPr>
            <p:cNvGrpSpPr>
              <a:grpSpLocks/>
            </p:cNvGrpSpPr>
            <p:nvPr/>
          </p:nvGrpSpPr>
          <p:grpSpPr bwMode="auto">
            <a:xfrm>
              <a:off x="4739" y="1327"/>
              <a:ext cx="582" cy="139"/>
              <a:chOff x="614" y="2568"/>
              <a:chExt cx="725" cy="139"/>
            </a:xfrm>
          </p:grpSpPr>
          <p:sp>
            <p:nvSpPr>
              <p:cNvPr id="247" name="AutoShape 205">
                <a:extLst>
                  <a:ext uri="{FF2B5EF4-FFF2-40B4-BE49-F238E27FC236}">
                    <a16:creationId xmlns:a16="http://schemas.microsoft.com/office/drawing/2014/main" id="{631C3D3D-8F7D-6F44-AD56-665A5242B691}"/>
                  </a:ext>
                </a:extLst>
              </p:cNvPr>
              <p:cNvSpPr>
                <a:spLocks noChangeArrowheads="1"/>
              </p:cNvSpPr>
              <p:nvPr/>
            </p:nvSpPr>
            <p:spPr bwMode="auto">
              <a:xfrm>
                <a:off x="614" y="2566"/>
                <a:ext cx="723"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48" name="AutoShape 206">
                <a:extLst>
                  <a:ext uri="{FF2B5EF4-FFF2-40B4-BE49-F238E27FC236}">
                    <a16:creationId xmlns:a16="http://schemas.microsoft.com/office/drawing/2014/main" id="{E7F87D38-4528-0F45-9911-B79B599D25FC}"/>
                  </a:ext>
                </a:extLst>
              </p:cNvPr>
              <p:cNvSpPr>
                <a:spLocks noChangeArrowheads="1"/>
              </p:cNvSpPr>
              <p:nvPr/>
            </p:nvSpPr>
            <p:spPr bwMode="auto">
              <a:xfrm>
                <a:off x="630" y="2582"/>
                <a:ext cx="691"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236" name="Rectangle 207">
              <a:extLst>
                <a:ext uri="{FF2B5EF4-FFF2-40B4-BE49-F238E27FC236}">
                  <a16:creationId xmlns:a16="http://schemas.microsoft.com/office/drawing/2014/main" id="{60B24777-81BE-BC42-AC64-6F2229E5FBE5}"/>
                </a:ext>
              </a:extLst>
            </p:cNvPr>
            <p:cNvSpPr>
              <a:spLocks noChangeArrowheads="1"/>
            </p:cNvSpPr>
            <p:nvPr/>
          </p:nvSpPr>
          <p:spPr bwMode="auto">
            <a:xfrm>
              <a:off x="5250" y="429"/>
              <a:ext cx="69" cy="2288"/>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37" name="Freeform 208">
              <a:extLst>
                <a:ext uri="{FF2B5EF4-FFF2-40B4-BE49-F238E27FC236}">
                  <a16:creationId xmlns:a16="http://schemas.microsoft.com/office/drawing/2014/main" id="{FD1049FD-ADAC-FC43-A186-6585ECAE4331}"/>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38" name="Freeform 209">
              <a:extLst>
                <a:ext uri="{FF2B5EF4-FFF2-40B4-BE49-F238E27FC236}">
                  <a16:creationId xmlns:a16="http://schemas.microsoft.com/office/drawing/2014/main" id="{A25585BA-2AFC-3047-B9D5-7CC45D5DBC49}"/>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39" name="Oval 210">
              <a:extLst>
                <a:ext uri="{FF2B5EF4-FFF2-40B4-BE49-F238E27FC236}">
                  <a16:creationId xmlns:a16="http://schemas.microsoft.com/office/drawing/2014/main" id="{78C608B6-FCB9-3F43-A504-D33DD77827D8}"/>
                </a:ext>
              </a:extLst>
            </p:cNvPr>
            <p:cNvSpPr>
              <a:spLocks noChangeArrowheads="1"/>
            </p:cNvSpPr>
            <p:nvPr/>
          </p:nvSpPr>
          <p:spPr bwMode="auto">
            <a:xfrm>
              <a:off x="5515" y="2609"/>
              <a:ext cx="50" cy="97"/>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40" name="Freeform 211">
              <a:extLst>
                <a:ext uri="{FF2B5EF4-FFF2-40B4-BE49-F238E27FC236}">
                  <a16:creationId xmlns:a16="http://schemas.microsoft.com/office/drawing/2014/main" id="{F24BE4FA-86B6-5840-8B76-BF70EF006A8E}"/>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41" name="AutoShape 212">
              <a:extLst>
                <a:ext uri="{FF2B5EF4-FFF2-40B4-BE49-F238E27FC236}">
                  <a16:creationId xmlns:a16="http://schemas.microsoft.com/office/drawing/2014/main" id="{22C6B4EC-00C6-BA43-95E2-370E8204DDA3}"/>
                </a:ext>
              </a:extLst>
            </p:cNvPr>
            <p:cNvSpPr>
              <a:spLocks noChangeArrowheads="1"/>
            </p:cNvSpPr>
            <p:nvPr/>
          </p:nvSpPr>
          <p:spPr bwMode="auto">
            <a:xfrm>
              <a:off x="4140" y="2679"/>
              <a:ext cx="1198"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42" name="AutoShape 213">
              <a:extLst>
                <a:ext uri="{FF2B5EF4-FFF2-40B4-BE49-F238E27FC236}">
                  <a16:creationId xmlns:a16="http://schemas.microsoft.com/office/drawing/2014/main" id="{7B9210ED-D802-C84E-8A67-93399801B5DA}"/>
                </a:ext>
              </a:extLst>
            </p:cNvPr>
            <p:cNvSpPr>
              <a:spLocks noChangeArrowheads="1"/>
            </p:cNvSpPr>
            <p:nvPr/>
          </p:nvSpPr>
          <p:spPr bwMode="auto">
            <a:xfrm>
              <a:off x="4203" y="2712"/>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43" name="Oval 214">
              <a:extLst>
                <a:ext uri="{FF2B5EF4-FFF2-40B4-BE49-F238E27FC236}">
                  <a16:creationId xmlns:a16="http://schemas.microsoft.com/office/drawing/2014/main" id="{552E77C8-7BFE-BF4D-8F0B-DF6513BE6459}"/>
                </a:ext>
              </a:extLst>
            </p:cNvPr>
            <p:cNvSpPr>
              <a:spLocks noChangeArrowheads="1"/>
            </p:cNvSpPr>
            <p:nvPr/>
          </p:nvSpPr>
          <p:spPr bwMode="auto">
            <a:xfrm>
              <a:off x="4310" y="2382"/>
              <a:ext cx="158" cy="146"/>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44" name="Oval 215">
              <a:extLst>
                <a:ext uri="{FF2B5EF4-FFF2-40B4-BE49-F238E27FC236}">
                  <a16:creationId xmlns:a16="http://schemas.microsoft.com/office/drawing/2014/main" id="{86496A7E-E21F-444D-B883-E410329FF242}"/>
                </a:ext>
              </a:extLst>
            </p:cNvPr>
            <p:cNvSpPr>
              <a:spLocks noChangeArrowheads="1"/>
            </p:cNvSpPr>
            <p:nvPr/>
          </p:nvSpPr>
          <p:spPr bwMode="auto">
            <a:xfrm>
              <a:off x="4487" y="2382"/>
              <a:ext cx="158" cy="146"/>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FF0000"/>
                </a:solidFill>
                <a:effectLst/>
                <a:uLnTx/>
                <a:uFillTx/>
                <a:latin typeface="Arial" charset="0"/>
                <a:ea typeface="ＭＳ Ｐゴシック" charset="0"/>
                <a:cs typeface="Arial" charset="0"/>
              </a:endParaRPr>
            </a:p>
          </p:txBody>
        </p:sp>
        <p:sp>
          <p:nvSpPr>
            <p:cNvPr id="245" name="Oval 216">
              <a:extLst>
                <a:ext uri="{FF2B5EF4-FFF2-40B4-BE49-F238E27FC236}">
                  <a16:creationId xmlns:a16="http://schemas.microsoft.com/office/drawing/2014/main" id="{555E4B0D-EDB2-D04B-B9AD-93FA92DDAA2D}"/>
                </a:ext>
              </a:extLst>
            </p:cNvPr>
            <p:cNvSpPr>
              <a:spLocks noChangeArrowheads="1"/>
            </p:cNvSpPr>
            <p:nvPr/>
          </p:nvSpPr>
          <p:spPr bwMode="auto">
            <a:xfrm>
              <a:off x="4663" y="2382"/>
              <a:ext cx="158" cy="140"/>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46" name="Rectangle 217">
              <a:extLst>
                <a:ext uri="{FF2B5EF4-FFF2-40B4-BE49-F238E27FC236}">
                  <a16:creationId xmlns:a16="http://schemas.microsoft.com/office/drawing/2014/main" id="{DE659B39-E72A-634A-A2AC-C4BA4DC9C619}"/>
                </a:ext>
              </a:extLst>
            </p:cNvPr>
            <p:cNvSpPr>
              <a:spLocks noChangeArrowheads="1"/>
            </p:cNvSpPr>
            <p:nvPr/>
          </p:nvSpPr>
          <p:spPr bwMode="auto">
            <a:xfrm>
              <a:off x="5061" y="1837"/>
              <a:ext cx="88" cy="761"/>
            </a:xfrm>
            <a:prstGeom prst="rect">
              <a:avLst/>
            </a:prstGeom>
            <a:solidFill>
              <a:srgbClr val="29292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grpSp>
        <p:nvGrpSpPr>
          <p:cNvPr id="2" name="Group 194">
            <a:extLst>
              <a:ext uri="{FF2B5EF4-FFF2-40B4-BE49-F238E27FC236}">
                <a16:creationId xmlns:a16="http://schemas.microsoft.com/office/drawing/2014/main" id="{934B8900-369E-3903-FE55-291ABA66110A}"/>
              </a:ext>
            </a:extLst>
          </p:cNvPr>
          <p:cNvGrpSpPr>
            <a:grpSpLocks/>
          </p:cNvGrpSpPr>
          <p:nvPr/>
        </p:nvGrpSpPr>
        <p:grpSpPr bwMode="auto">
          <a:xfrm>
            <a:off x="10486559" y="4239137"/>
            <a:ext cx="1357555" cy="1301355"/>
            <a:chOff x="-44" y="1473"/>
            <a:chExt cx="981" cy="1105"/>
          </a:xfrm>
        </p:grpSpPr>
        <p:pic>
          <p:nvPicPr>
            <p:cNvPr id="4" name="Picture 195" descr="desktop_computer_stylized_medium">
              <a:extLst>
                <a:ext uri="{FF2B5EF4-FFF2-40B4-BE49-F238E27FC236}">
                  <a16:creationId xmlns:a16="http://schemas.microsoft.com/office/drawing/2014/main" id="{7C980102-FBE8-8FDD-3155-A2CB400EB65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5" name="Freeform 196">
              <a:extLst>
                <a:ext uri="{FF2B5EF4-FFF2-40B4-BE49-F238E27FC236}">
                  <a16:creationId xmlns:a16="http://schemas.microsoft.com/office/drawing/2014/main" id="{DC54DDD6-3BA2-A61D-EC36-39194BCD7192}"/>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Tree>
    <p:extLst>
      <p:ext uri="{BB962C8B-B14F-4D97-AF65-F5344CB8AC3E}">
        <p14:creationId xmlns:p14="http://schemas.microsoft.com/office/powerpoint/2010/main" val="25934546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8902B4EA-0158-774A-877D-888807F574B5}"/>
              </a:ext>
            </a:extLst>
          </p:cNvPr>
          <p:cNvGrpSpPr/>
          <p:nvPr/>
        </p:nvGrpSpPr>
        <p:grpSpPr>
          <a:xfrm>
            <a:off x="2578811" y="4965666"/>
            <a:ext cx="6866725" cy="1028731"/>
            <a:chOff x="2578811" y="4965666"/>
            <a:chExt cx="6866725" cy="1028731"/>
          </a:xfrm>
        </p:grpSpPr>
        <p:cxnSp>
          <p:nvCxnSpPr>
            <p:cNvPr id="128" name="Straight Connector 127">
              <a:extLst>
                <a:ext uri="{FF2B5EF4-FFF2-40B4-BE49-F238E27FC236}">
                  <a16:creationId xmlns:a16="http://schemas.microsoft.com/office/drawing/2014/main" id="{0763EEB6-87F6-D847-AD1E-3BFDCE6A9543}"/>
                </a:ext>
              </a:extLst>
            </p:cNvPr>
            <p:cNvCxnSpPr>
              <a:cxnSpLocks/>
            </p:cNvCxnSpPr>
            <p:nvPr/>
          </p:nvCxnSpPr>
          <p:spPr>
            <a:xfrm>
              <a:off x="2578811" y="5062556"/>
              <a:ext cx="1582832" cy="30261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 name="Group 5">
              <a:extLst>
                <a:ext uri="{FF2B5EF4-FFF2-40B4-BE49-F238E27FC236}">
                  <a16:creationId xmlns:a16="http://schemas.microsoft.com/office/drawing/2014/main" id="{09891B45-180E-B341-A7C6-D10A683BB102}"/>
                </a:ext>
              </a:extLst>
            </p:cNvPr>
            <p:cNvGrpSpPr/>
            <p:nvPr/>
          </p:nvGrpSpPr>
          <p:grpSpPr>
            <a:xfrm>
              <a:off x="4062521" y="4965666"/>
              <a:ext cx="5383015" cy="1028731"/>
              <a:chOff x="4062521" y="4965666"/>
              <a:chExt cx="5383015" cy="1028731"/>
            </a:xfrm>
          </p:grpSpPr>
          <p:cxnSp>
            <p:nvCxnSpPr>
              <p:cNvPr id="127" name="Straight Connector 126">
                <a:extLst>
                  <a:ext uri="{FF2B5EF4-FFF2-40B4-BE49-F238E27FC236}">
                    <a16:creationId xmlns:a16="http://schemas.microsoft.com/office/drawing/2014/main" id="{16BE7B71-3412-8546-BD1A-8BF76DC47254}"/>
                  </a:ext>
                </a:extLst>
              </p:cNvPr>
              <p:cNvCxnSpPr>
                <a:cxnSpLocks/>
              </p:cNvCxnSpPr>
              <p:nvPr/>
            </p:nvCxnSpPr>
            <p:spPr>
              <a:xfrm flipH="1">
                <a:off x="7972023" y="4973372"/>
                <a:ext cx="1473513" cy="47439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71" name="Freeform 296">
                <a:extLst>
                  <a:ext uri="{FF2B5EF4-FFF2-40B4-BE49-F238E27FC236}">
                    <a16:creationId xmlns:a16="http://schemas.microsoft.com/office/drawing/2014/main" id="{06DFDE96-5B04-984C-B72D-22D074DF3E82}"/>
                  </a:ext>
                </a:extLst>
              </p:cNvPr>
              <p:cNvSpPr>
                <a:spLocks/>
              </p:cNvSpPr>
              <p:nvPr/>
            </p:nvSpPr>
            <p:spPr bwMode="auto">
              <a:xfrm>
                <a:off x="4062521" y="4965666"/>
                <a:ext cx="4036903" cy="1028731"/>
              </a:xfrm>
              <a:custGeom>
                <a:avLst/>
                <a:gdLst>
                  <a:gd name="T0" fmla="*/ 2147483647 w 1877"/>
                  <a:gd name="T1" fmla="*/ 2147483647 h 917"/>
                  <a:gd name="T2" fmla="*/ 2147483647 w 1877"/>
                  <a:gd name="T3" fmla="*/ 2147483647 h 917"/>
                  <a:gd name="T4" fmla="*/ 2147483647 w 1877"/>
                  <a:gd name="T5" fmla="*/ 2147483647 h 917"/>
                  <a:gd name="T6" fmla="*/ 2147483647 w 1877"/>
                  <a:gd name="T7" fmla="*/ 2147483647 h 917"/>
                  <a:gd name="T8" fmla="*/ 2147483647 w 1877"/>
                  <a:gd name="T9" fmla="*/ 2147483647 h 917"/>
                  <a:gd name="T10" fmla="*/ 2147483647 w 1877"/>
                  <a:gd name="T11" fmla="*/ 2147483647 h 917"/>
                  <a:gd name="T12" fmla="*/ 2147483647 w 1877"/>
                  <a:gd name="T13" fmla="*/ 2147483647 h 917"/>
                  <a:gd name="T14" fmla="*/ 2147483647 w 1877"/>
                  <a:gd name="T15" fmla="*/ 2147483647 h 917"/>
                  <a:gd name="T16" fmla="*/ 2147483647 w 1877"/>
                  <a:gd name="T17" fmla="*/ 2147483647 h 917"/>
                  <a:gd name="T18" fmla="*/ 2147483647 w 1877"/>
                  <a:gd name="T19" fmla="*/ 2147483647 h 917"/>
                  <a:gd name="T20" fmla="*/ 2147483647 w 1877"/>
                  <a:gd name="T21" fmla="*/ 2147483647 h 917"/>
                  <a:gd name="T22" fmla="*/ 2147483647 w 1877"/>
                  <a:gd name="T23" fmla="*/ 2147483647 h 917"/>
                  <a:gd name="T24" fmla="*/ 2147483647 w 1877"/>
                  <a:gd name="T25" fmla="*/ 2147483647 h 917"/>
                  <a:gd name="T26" fmla="*/ 2147483647 w 1877"/>
                  <a:gd name="T27" fmla="*/ 2147483647 h 917"/>
                  <a:gd name="T28" fmla="*/ 2147483647 w 1877"/>
                  <a:gd name="T29" fmla="*/ 2147483647 h 917"/>
                  <a:gd name="T30" fmla="*/ 2147483647 w 1877"/>
                  <a:gd name="T31" fmla="*/ 2147483647 h 91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877"/>
                  <a:gd name="T49" fmla="*/ 0 h 917"/>
                  <a:gd name="T50" fmla="*/ 1877 w 1877"/>
                  <a:gd name="T51" fmla="*/ 917 h 91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877" h="91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9CDFF9"/>
              </a:solidFill>
              <a:ln>
                <a:noFill/>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800" b="0" i="0" u="none" strike="noStrike" kern="1200" cap="none" spc="0" normalizeH="0" baseline="0" noProof="0" dirty="0">
                    <a:ln>
                      <a:noFill/>
                    </a:ln>
                    <a:solidFill>
                      <a:srgbClr val="000000"/>
                    </a:solidFill>
                    <a:effectLst/>
                    <a:uLnTx/>
                    <a:uFillTx/>
                    <a:latin typeface="Calibri"/>
                    <a:ea typeface="ＭＳ Ｐゴシック" panose="020B0600070205080204" pitchFamily="34" charset="-128"/>
                    <a:cs typeface="Arial"/>
                  </a:rPr>
                  <a:t>             </a:t>
                </a:r>
              </a:p>
            </p:txBody>
          </p:sp>
        </p:grpSp>
      </p:grpSp>
      <p:sp>
        <p:nvSpPr>
          <p:cNvPr id="182" name="Freeform 103">
            <a:extLst>
              <a:ext uri="{FF2B5EF4-FFF2-40B4-BE49-F238E27FC236}">
                <a16:creationId xmlns:a16="http://schemas.microsoft.com/office/drawing/2014/main" id="{DEF6D5D3-E4DA-4B46-BBC5-93311E115D92}"/>
              </a:ext>
            </a:extLst>
          </p:cNvPr>
          <p:cNvSpPr>
            <a:spLocks/>
          </p:cNvSpPr>
          <p:nvPr/>
        </p:nvSpPr>
        <p:spPr bwMode="auto">
          <a:xfrm>
            <a:off x="10295012" y="2167472"/>
            <a:ext cx="890436" cy="2912558"/>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solidFill>
              <a:srgbClr val="DDDDDD"/>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3" name="Freeform 70">
            <a:extLst>
              <a:ext uri="{FF2B5EF4-FFF2-40B4-BE49-F238E27FC236}">
                <a16:creationId xmlns:a16="http://schemas.microsoft.com/office/drawing/2014/main" id="{4A88383C-61F9-1949-9D88-EC83EDA3F2B6}"/>
              </a:ext>
            </a:extLst>
          </p:cNvPr>
          <p:cNvSpPr>
            <a:spLocks/>
          </p:cNvSpPr>
          <p:nvPr/>
        </p:nvSpPr>
        <p:spPr bwMode="auto">
          <a:xfrm>
            <a:off x="854349" y="2256655"/>
            <a:ext cx="846644" cy="2922199"/>
          </a:xfrm>
          <a:custGeom>
            <a:avLst/>
            <a:gdLst>
              <a:gd name="T0" fmla="*/ 0 w 348"/>
              <a:gd name="T1" fmla="*/ 2147483647 h 1312"/>
              <a:gd name="T2" fmla="*/ 2147483647 w 348"/>
              <a:gd name="T3" fmla="*/ 0 h 1312"/>
              <a:gd name="T4" fmla="*/ 2147483647 w 348"/>
              <a:gd name="T5" fmla="*/ 2147483647 h 1312"/>
              <a:gd name="T6" fmla="*/ 2147483647 w 348"/>
              <a:gd name="T7" fmla="*/ 2147483647 h 1312"/>
              <a:gd name="T8" fmla="*/ 0 w 348"/>
              <a:gd name="T9" fmla="*/ 2147483647 h 13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8" h="1312">
                <a:moveTo>
                  <a:pt x="0" y="1306"/>
                </a:moveTo>
                <a:lnTo>
                  <a:pt x="348" y="0"/>
                </a:lnTo>
                <a:lnTo>
                  <a:pt x="342" y="1258"/>
                </a:lnTo>
                <a:lnTo>
                  <a:pt x="180" y="1312"/>
                </a:lnTo>
                <a:lnTo>
                  <a:pt x="0" y="1306"/>
                </a:lnTo>
                <a:close/>
              </a:path>
            </a:pathLst>
          </a:custGeom>
          <a:gradFill rotWithShape="1">
            <a:gsLst>
              <a:gs pos="0">
                <a:srgbClr val="FFFFFF"/>
              </a:gs>
              <a:gs pos="100000">
                <a:srgbClr val="B2B2B2"/>
              </a:gs>
            </a:gsLst>
            <a:lin ang="0" scaled="1"/>
          </a:gradFill>
          <a:ln w="9525">
            <a:solidFill>
              <a:srgbClr val="DDDDDD"/>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 name="TextBox 7">
            <a:extLst>
              <a:ext uri="{FF2B5EF4-FFF2-40B4-BE49-F238E27FC236}">
                <a16:creationId xmlns:a16="http://schemas.microsoft.com/office/drawing/2014/main" id="{95E1F04B-A3B3-534D-A252-A4AC29C657DE}"/>
              </a:ext>
            </a:extLst>
          </p:cNvPr>
          <p:cNvSpPr txBox="1"/>
          <p:nvPr/>
        </p:nvSpPr>
        <p:spPr>
          <a:xfrm>
            <a:off x="8481037" y="1538123"/>
            <a:ext cx="1684948"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DNS client</a:t>
            </a:r>
          </a:p>
        </p:txBody>
      </p:sp>
      <p:sp>
        <p:nvSpPr>
          <p:cNvPr id="263" name="TextBox 262">
            <a:extLst>
              <a:ext uri="{FF2B5EF4-FFF2-40B4-BE49-F238E27FC236}">
                <a16:creationId xmlns:a16="http://schemas.microsoft.com/office/drawing/2014/main" id="{DC4B02DA-C340-9945-87C2-952E1901FB43}"/>
              </a:ext>
            </a:extLst>
          </p:cNvPr>
          <p:cNvSpPr txBox="1"/>
          <p:nvPr/>
        </p:nvSpPr>
        <p:spPr>
          <a:xfrm>
            <a:off x="1935319" y="1662731"/>
            <a:ext cx="1793889"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DNS server</a:t>
            </a:r>
          </a:p>
        </p:txBody>
      </p:sp>
      <p:grpSp>
        <p:nvGrpSpPr>
          <p:cNvPr id="3" name="Group 2">
            <a:extLst>
              <a:ext uri="{FF2B5EF4-FFF2-40B4-BE49-F238E27FC236}">
                <a16:creationId xmlns:a16="http://schemas.microsoft.com/office/drawing/2014/main" id="{64AFD9EC-1CA1-D34D-965E-2E8D95748C38}"/>
              </a:ext>
            </a:extLst>
          </p:cNvPr>
          <p:cNvGrpSpPr/>
          <p:nvPr/>
        </p:nvGrpSpPr>
        <p:grpSpPr>
          <a:xfrm>
            <a:off x="8510352" y="2078288"/>
            <a:ext cx="1946338" cy="2912558"/>
            <a:chOff x="8091785" y="2078288"/>
            <a:chExt cx="2364905" cy="2912558"/>
          </a:xfrm>
        </p:grpSpPr>
        <p:sp>
          <p:nvSpPr>
            <p:cNvPr id="145" name="Rectangle 23">
              <a:extLst>
                <a:ext uri="{FF2B5EF4-FFF2-40B4-BE49-F238E27FC236}">
                  <a16:creationId xmlns:a16="http://schemas.microsoft.com/office/drawing/2014/main" id="{F1314FFD-BA11-A042-BA84-1061E3729058}"/>
                </a:ext>
              </a:extLst>
            </p:cNvPr>
            <p:cNvSpPr>
              <a:spLocks noChangeArrowheads="1"/>
            </p:cNvSpPr>
            <p:nvPr/>
          </p:nvSpPr>
          <p:spPr bwMode="auto">
            <a:xfrm>
              <a:off x="8179440" y="2078288"/>
              <a:ext cx="2277250" cy="2799267"/>
            </a:xfrm>
            <a:prstGeom prst="rect">
              <a:avLst/>
            </a:prstGeom>
            <a:solidFill>
              <a:srgbClr val="000099"/>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46" name="Rectangle 24">
              <a:extLst>
                <a:ext uri="{FF2B5EF4-FFF2-40B4-BE49-F238E27FC236}">
                  <a16:creationId xmlns:a16="http://schemas.microsoft.com/office/drawing/2014/main" id="{89D8A59C-E128-B74A-B94F-06FAC9DB7326}"/>
                </a:ext>
              </a:extLst>
            </p:cNvPr>
            <p:cNvSpPr>
              <a:spLocks noChangeArrowheads="1"/>
            </p:cNvSpPr>
            <p:nvPr/>
          </p:nvSpPr>
          <p:spPr bwMode="auto">
            <a:xfrm>
              <a:off x="8091785" y="2167472"/>
              <a:ext cx="2254867" cy="2823374"/>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47" name="Line 25">
              <a:extLst>
                <a:ext uri="{FF2B5EF4-FFF2-40B4-BE49-F238E27FC236}">
                  <a16:creationId xmlns:a16="http://schemas.microsoft.com/office/drawing/2014/main" id="{B922FB1F-8B1A-1843-A740-29E910EB3E97}"/>
                </a:ext>
              </a:extLst>
            </p:cNvPr>
            <p:cNvSpPr>
              <a:spLocks noChangeShapeType="1"/>
            </p:cNvSpPr>
            <p:nvPr/>
          </p:nvSpPr>
          <p:spPr bwMode="auto">
            <a:xfrm>
              <a:off x="8108956" y="2749010"/>
              <a:ext cx="2238254" cy="4821"/>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48" name="Text Box 26">
              <a:extLst>
                <a:ext uri="{FF2B5EF4-FFF2-40B4-BE49-F238E27FC236}">
                  <a16:creationId xmlns:a16="http://schemas.microsoft.com/office/drawing/2014/main" id="{BE3B5056-5F96-5946-AEC3-17140DB163F4}"/>
                </a:ext>
              </a:extLst>
            </p:cNvPr>
            <p:cNvSpPr txBox="1">
              <a:spLocks noChangeArrowheads="1"/>
            </p:cNvSpPr>
            <p:nvPr/>
          </p:nvSpPr>
          <p:spPr bwMode="auto">
            <a:xfrm>
              <a:off x="8376445" y="2832513"/>
              <a:ext cx="1703276" cy="73744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transport</a:t>
              </a:r>
            </a:p>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(UDP)</a:t>
              </a:r>
            </a:p>
          </p:txBody>
        </p:sp>
        <p:sp>
          <p:nvSpPr>
            <p:cNvPr id="149" name="Line 27">
              <a:extLst>
                <a:ext uri="{FF2B5EF4-FFF2-40B4-BE49-F238E27FC236}">
                  <a16:creationId xmlns:a16="http://schemas.microsoft.com/office/drawing/2014/main" id="{FF1A214D-FBCE-7342-8332-F3FA9C577B4A}"/>
                </a:ext>
              </a:extLst>
            </p:cNvPr>
            <p:cNvSpPr>
              <a:spLocks noChangeShapeType="1"/>
            </p:cNvSpPr>
            <p:nvPr/>
          </p:nvSpPr>
          <p:spPr bwMode="auto">
            <a:xfrm>
              <a:off x="8108201" y="3602458"/>
              <a:ext cx="2233387"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51" name="Text Box 26">
              <a:extLst>
                <a:ext uri="{FF2B5EF4-FFF2-40B4-BE49-F238E27FC236}">
                  <a16:creationId xmlns:a16="http://schemas.microsoft.com/office/drawing/2014/main" id="{50D62C6A-4C80-854F-A4B8-723E99A5A7F0}"/>
                </a:ext>
              </a:extLst>
            </p:cNvPr>
            <p:cNvSpPr txBox="1">
              <a:spLocks noChangeArrowheads="1"/>
            </p:cNvSpPr>
            <p:nvPr/>
          </p:nvSpPr>
          <p:spPr bwMode="auto">
            <a:xfrm>
              <a:off x="8218436" y="4533100"/>
              <a:ext cx="2019294" cy="44027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physical</a:t>
              </a:r>
            </a:p>
          </p:txBody>
        </p:sp>
        <p:sp>
          <p:nvSpPr>
            <p:cNvPr id="152" name="Text Box 26">
              <a:extLst>
                <a:ext uri="{FF2B5EF4-FFF2-40B4-BE49-F238E27FC236}">
                  <a16:creationId xmlns:a16="http://schemas.microsoft.com/office/drawing/2014/main" id="{A79D3A45-C33B-7046-9088-A02FAACCA14B}"/>
                </a:ext>
              </a:extLst>
            </p:cNvPr>
            <p:cNvSpPr txBox="1">
              <a:spLocks noChangeArrowheads="1"/>
            </p:cNvSpPr>
            <p:nvPr/>
          </p:nvSpPr>
          <p:spPr bwMode="auto">
            <a:xfrm>
              <a:off x="8218436" y="4088345"/>
              <a:ext cx="2019294" cy="44027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link</a:t>
              </a:r>
            </a:p>
          </p:txBody>
        </p:sp>
        <p:sp>
          <p:nvSpPr>
            <p:cNvPr id="153" name="Text Box 26">
              <a:extLst>
                <a:ext uri="{FF2B5EF4-FFF2-40B4-BE49-F238E27FC236}">
                  <a16:creationId xmlns:a16="http://schemas.microsoft.com/office/drawing/2014/main" id="{F3520259-D4C5-3340-8000-3B8C746A7797}"/>
                </a:ext>
              </a:extLst>
            </p:cNvPr>
            <p:cNvSpPr txBox="1">
              <a:spLocks noChangeArrowheads="1"/>
            </p:cNvSpPr>
            <p:nvPr/>
          </p:nvSpPr>
          <p:spPr bwMode="auto">
            <a:xfrm>
              <a:off x="8218436" y="3646079"/>
              <a:ext cx="2019294" cy="3988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network (IP)</a:t>
              </a:r>
            </a:p>
          </p:txBody>
        </p:sp>
        <p:sp>
          <p:nvSpPr>
            <p:cNvPr id="155" name="Line 27">
              <a:extLst>
                <a:ext uri="{FF2B5EF4-FFF2-40B4-BE49-F238E27FC236}">
                  <a16:creationId xmlns:a16="http://schemas.microsoft.com/office/drawing/2014/main" id="{E1326351-38D1-A440-A7B8-5079367D54AC}"/>
                </a:ext>
              </a:extLst>
            </p:cNvPr>
            <p:cNvSpPr>
              <a:spLocks noChangeShapeType="1"/>
            </p:cNvSpPr>
            <p:nvPr/>
          </p:nvSpPr>
          <p:spPr bwMode="auto">
            <a:xfrm>
              <a:off x="8116255" y="4074895"/>
              <a:ext cx="2233388"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56" name="Line 27">
              <a:extLst>
                <a:ext uri="{FF2B5EF4-FFF2-40B4-BE49-F238E27FC236}">
                  <a16:creationId xmlns:a16="http://schemas.microsoft.com/office/drawing/2014/main" id="{891B0B5D-A14D-1A40-B291-CC1A04A094FC}"/>
                </a:ext>
              </a:extLst>
            </p:cNvPr>
            <p:cNvSpPr>
              <a:spLocks noChangeShapeType="1"/>
            </p:cNvSpPr>
            <p:nvPr/>
          </p:nvSpPr>
          <p:spPr bwMode="auto">
            <a:xfrm>
              <a:off x="8111389" y="4528049"/>
              <a:ext cx="2233388"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74" name="Text Box 26">
              <a:extLst>
                <a:ext uri="{FF2B5EF4-FFF2-40B4-BE49-F238E27FC236}">
                  <a16:creationId xmlns:a16="http://schemas.microsoft.com/office/drawing/2014/main" id="{D8A757BB-1762-8B47-A046-060F718CBC6B}"/>
                </a:ext>
              </a:extLst>
            </p:cNvPr>
            <p:cNvSpPr txBox="1">
              <a:spLocks noChangeArrowheads="1"/>
            </p:cNvSpPr>
            <p:nvPr/>
          </p:nvSpPr>
          <p:spPr bwMode="auto">
            <a:xfrm>
              <a:off x="8179440" y="2284368"/>
              <a:ext cx="2019294" cy="3988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application</a:t>
              </a:r>
            </a:p>
          </p:txBody>
        </p:sp>
      </p:grpSp>
      <p:grpSp>
        <p:nvGrpSpPr>
          <p:cNvPr id="76" name="Group 75">
            <a:extLst>
              <a:ext uri="{FF2B5EF4-FFF2-40B4-BE49-F238E27FC236}">
                <a16:creationId xmlns:a16="http://schemas.microsoft.com/office/drawing/2014/main" id="{EA5C4C69-3F64-BA46-87DE-D8D9E085DAC9}"/>
              </a:ext>
            </a:extLst>
          </p:cNvPr>
          <p:cNvGrpSpPr/>
          <p:nvPr/>
        </p:nvGrpSpPr>
        <p:grpSpPr>
          <a:xfrm>
            <a:off x="1687770" y="2167472"/>
            <a:ext cx="2131701" cy="2912558"/>
            <a:chOff x="8091785" y="2078288"/>
            <a:chExt cx="2364905" cy="2912558"/>
          </a:xfrm>
        </p:grpSpPr>
        <p:sp>
          <p:nvSpPr>
            <p:cNvPr id="77" name="Rectangle 23">
              <a:extLst>
                <a:ext uri="{FF2B5EF4-FFF2-40B4-BE49-F238E27FC236}">
                  <a16:creationId xmlns:a16="http://schemas.microsoft.com/office/drawing/2014/main" id="{12A4D2D3-BB7A-1141-97E1-1746F6AB4244}"/>
                </a:ext>
              </a:extLst>
            </p:cNvPr>
            <p:cNvSpPr>
              <a:spLocks noChangeArrowheads="1"/>
            </p:cNvSpPr>
            <p:nvPr/>
          </p:nvSpPr>
          <p:spPr bwMode="auto">
            <a:xfrm>
              <a:off x="8179440" y="2078288"/>
              <a:ext cx="2277250" cy="2799267"/>
            </a:xfrm>
            <a:prstGeom prst="rect">
              <a:avLst/>
            </a:prstGeom>
            <a:solidFill>
              <a:srgbClr val="000099"/>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78" name="Rectangle 24">
              <a:extLst>
                <a:ext uri="{FF2B5EF4-FFF2-40B4-BE49-F238E27FC236}">
                  <a16:creationId xmlns:a16="http://schemas.microsoft.com/office/drawing/2014/main" id="{CC2D939F-B2EB-B142-B2EB-F35198972B0C}"/>
                </a:ext>
              </a:extLst>
            </p:cNvPr>
            <p:cNvSpPr>
              <a:spLocks noChangeArrowheads="1"/>
            </p:cNvSpPr>
            <p:nvPr/>
          </p:nvSpPr>
          <p:spPr bwMode="auto">
            <a:xfrm>
              <a:off x="8091785" y="2167472"/>
              <a:ext cx="2254867" cy="2823374"/>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79" name="Line 25">
              <a:extLst>
                <a:ext uri="{FF2B5EF4-FFF2-40B4-BE49-F238E27FC236}">
                  <a16:creationId xmlns:a16="http://schemas.microsoft.com/office/drawing/2014/main" id="{29206320-7227-5C45-BF48-477A94FE149F}"/>
                </a:ext>
              </a:extLst>
            </p:cNvPr>
            <p:cNvSpPr>
              <a:spLocks noChangeShapeType="1"/>
            </p:cNvSpPr>
            <p:nvPr/>
          </p:nvSpPr>
          <p:spPr bwMode="auto">
            <a:xfrm>
              <a:off x="8108956" y="2749010"/>
              <a:ext cx="2238254" cy="4821"/>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0" name="Text Box 26">
              <a:extLst>
                <a:ext uri="{FF2B5EF4-FFF2-40B4-BE49-F238E27FC236}">
                  <a16:creationId xmlns:a16="http://schemas.microsoft.com/office/drawing/2014/main" id="{09388CA4-5912-3745-991A-9A3E60719DA7}"/>
                </a:ext>
              </a:extLst>
            </p:cNvPr>
            <p:cNvSpPr txBox="1">
              <a:spLocks noChangeArrowheads="1"/>
            </p:cNvSpPr>
            <p:nvPr/>
          </p:nvSpPr>
          <p:spPr bwMode="auto">
            <a:xfrm>
              <a:off x="8376445" y="2832513"/>
              <a:ext cx="1703276" cy="73744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transport</a:t>
              </a:r>
            </a:p>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(UDP)</a:t>
              </a:r>
            </a:p>
          </p:txBody>
        </p:sp>
        <p:sp>
          <p:nvSpPr>
            <p:cNvPr id="81" name="Line 27">
              <a:extLst>
                <a:ext uri="{FF2B5EF4-FFF2-40B4-BE49-F238E27FC236}">
                  <a16:creationId xmlns:a16="http://schemas.microsoft.com/office/drawing/2014/main" id="{7462DAE7-AE3D-CD41-8750-E700715A5202}"/>
                </a:ext>
              </a:extLst>
            </p:cNvPr>
            <p:cNvSpPr>
              <a:spLocks noChangeShapeType="1"/>
            </p:cNvSpPr>
            <p:nvPr/>
          </p:nvSpPr>
          <p:spPr bwMode="auto">
            <a:xfrm>
              <a:off x="8121121" y="3602458"/>
              <a:ext cx="2233388"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2" name="Text Box 26">
              <a:extLst>
                <a:ext uri="{FF2B5EF4-FFF2-40B4-BE49-F238E27FC236}">
                  <a16:creationId xmlns:a16="http://schemas.microsoft.com/office/drawing/2014/main" id="{B868290D-DE89-8749-A32C-C5FCE36D7556}"/>
                </a:ext>
              </a:extLst>
            </p:cNvPr>
            <p:cNvSpPr txBox="1">
              <a:spLocks noChangeArrowheads="1"/>
            </p:cNvSpPr>
            <p:nvPr/>
          </p:nvSpPr>
          <p:spPr bwMode="auto">
            <a:xfrm>
              <a:off x="8218436" y="4533100"/>
              <a:ext cx="2019294" cy="44027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physical</a:t>
              </a:r>
            </a:p>
          </p:txBody>
        </p:sp>
        <p:sp>
          <p:nvSpPr>
            <p:cNvPr id="83" name="Text Box 26">
              <a:extLst>
                <a:ext uri="{FF2B5EF4-FFF2-40B4-BE49-F238E27FC236}">
                  <a16:creationId xmlns:a16="http://schemas.microsoft.com/office/drawing/2014/main" id="{18546DEE-76AB-C744-936A-7F4DF63895D8}"/>
                </a:ext>
              </a:extLst>
            </p:cNvPr>
            <p:cNvSpPr txBox="1">
              <a:spLocks noChangeArrowheads="1"/>
            </p:cNvSpPr>
            <p:nvPr/>
          </p:nvSpPr>
          <p:spPr bwMode="auto">
            <a:xfrm>
              <a:off x="8218436" y="4088345"/>
              <a:ext cx="2019294" cy="44027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link</a:t>
              </a:r>
            </a:p>
          </p:txBody>
        </p:sp>
        <p:sp>
          <p:nvSpPr>
            <p:cNvPr id="84" name="Text Box 26">
              <a:extLst>
                <a:ext uri="{FF2B5EF4-FFF2-40B4-BE49-F238E27FC236}">
                  <a16:creationId xmlns:a16="http://schemas.microsoft.com/office/drawing/2014/main" id="{9DE3AC7C-D9B1-ED4C-B925-37B31767739C}"/>
                </a:ext>
              </a:extLst>
            </p:cNvPr>
            <p:cNvSpPr txBox="1">
              <a:spLocks noChangeArrowheads="1"/>
            </p:cNvSpPr>
            <p:nvPr/>
          </p:nvSpPr>
          <p:spPr bwMode="auto">
            <a:xfrm>
              <a:off x="8218436" y="3646079"/>
              <a:ext cx="2019294" cy="73744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network (IP)</a:t>
              </a:r>
            </a:p>
          </p:txBody>
        </p:sp>
        <p:sp>
          <p:nvSpPr>
            <p:cNvPr id="85" name="Line 27">
              <a:extLst>
                <a:ext uri="{FF2B5EF4-FFF2-40B4-BE49-F238E27FC236}">
                  <a16:creationId xmlns:a16="http://schemas.microsoft.com/office/drawing/2014/main" id="{266E1BE0-4561-9344-ACBD-29F42E90D9F3}"/>
                </a:ext>
              </a:extLst>
            </p:cNvPr>
            <p:cNvSpPr>
              <a:spLocks noChangeShapeType="1"/>
            </p:cNvSpPr>
            <p:nvPr/>
          </p:nvSpPr>
          <p:spPr bwMode="auto">
            <a:xfrm>
              <a:off x="8116255" y="4074895"/>
              <a:ext cx="2233388"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6" name="Line 27">
              <a:extLst>
                <a:ext uri="{FF2B5EF4-FFF2-40B4-BE49-F238E27FC236}">
                  <a16:creationId xmlns:a16="http://schemas.microsoft.com/office/drawing/2014/main" id="{3ED696C7-AECF-C14F-8CD8-7153D36CBC69}"/>
                </a:ext>
              </a:extLst>
            </p:cNvPr>
            <p:cNvSpPr>
              <a:spLocks noChangeShapeType="1"/>
            </p:cNvSpPr>
            <p:nvPr/>
          </p:nvSpPr>
          <p:spPr bwMode="auto">
            <a:xfrm>
              <a:off x="8111389" y="4528049"/>
              <a:ext cx="2233388"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7" name="Text Box 26">
              <a:extLst>
                <a:ext uri="{FF2B5EF4-FFF2-40B4-BE49-F238E27FC236}">
                  <a16:creationId xmlns:a16="http://schemas.microsoft.com/office/drawing/2014/main" id="{42139D70-AB44-E047-B37E-AABECE12201B}"/>
                </a:ext>
              </a:extLst>
            </p:cNvPr>
            <p:cNvSpPr txBox="1">
              <a:spLocks noChangeArrowheads="1"/>
            </p:cNvSpPr>
            <p:nvPr/>
          </p:nvSpPr>
          <p:spPr bwMode="auto">
            <a:xfrm>
              <a:off x="8179440" y="2284368"/>
              <a:ext cx="2019294" cy="3988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application</a:t>
              </a:r>
            </a:p>
          </p:txBody>
        </p:sp>
      </p:grpSp>
      <p:sp>
        <p:nvSpPr>
          <p:cNvPr id="114" name="Title 1">
            <a:extLst>
              <a:ext uri="{FF2B5EF4-FFF2-40B4-BE49-F238E27FC236}">
                <a16:creationId xmlns:a16="http://schemas.microsoft.com/office/drawing/2014/main" id="{1464CB5C-96D6-3645-94B5-DB9FA70972D2}"/>
              </a:ext>
            </a:extLst>
          </p:cNvPr>
          <p:cNvSpPr>
            <a:spLocks noGrp="1"/>
          </p:cNvSpPr>
          <p:nvPr>
            <p:ph type="title"/>
          </p:nvPr>
        </p:nvSpPr>
        <p:spPr>
          <a:xfrm>
            <a:off x="798690" y="289325"/>
            <a:ext cx="11100625" cy="894622"/>
          </a:xfrm>
        </p:spPr>
        <p:txBody>
          <a:bodyPr>
            <a:normAutofit/>
          </a:bodyPr>
          <a:lstStyle/>
          <a:p>
            <a:r>
              <a:rPr lang="en-US" sz="4400" dirty="0"/>
              <a:t>UDP: Transport Layer Actions</a:t>
            </a:r>
          </a:p>
        </p:txBody>
      </p:sp>
      <p:grpSp>
        <p:nvGrpSpPr>
          <p:cNvPr id="115" name="Group 149">
            <a:extLst>
              <a:ext uri="{FF2B5EF4-FFF2-40B4-BE49-F238E27FC236}">
                <a16:creationId xmlns:a16="http://schemas.microsoft.com/office/drawing/2014/main" id="{D80894D4-838A-2B47-82E9-ED060F8608E9}"/>
              </a:ext>
            </a:extLst>
          </p:cNvPr>
          <p:cNvGrpSpPr>
            <a:grpSpLocks/>
          </p:cNvGrpSpPr>
          <p:nvPr/>
        </p:nvGrpSpPr>
        <p:grpSpPr bwMode="auto">
          <a:xfrm>
            <a:off x="2462207" y="2756023"/>
            <a:ext cx="412750" cy="158750"/>
            <a:chOff x="1287" y="2524"/>
            <a:chExt cx="260" cy="100"/>
          </a:xfrm>
        </p:grpSpPr>
        <p:sp>
          <p:nvSpPr>
            <p:cNvPr id="116" name="Rectangle 73">
              <a:extLst>
                <a:ext uri="{FF2B5EF4-FFF2-40B4-BE49-F238E27FC236}">
                  <a16:creationId xmlns:a16="http://schemas.microsoft.com/office/drawing/2014/main" id="{4F7EB976-F7A9-464D-96B7-3FE5D6F41C71}"/>
                </a:ext>
              </a:extLst>
            </p:cNvPr>
            <p:cNvSpPr>
              <a:spLocks noChangeArrowheads="1"/>
            </p:cNvSpPr>
            <p:nvPr/>
          </p:nvSpPr>
          <p:spPr bwMode="auto">
            <a:xfrm>
              <a:off x="1287" y="2524"/>
              <a:ext cx="260" cy="100"/>
            </a:xfrm>
            <a:prstGeom prst="rect">
              <a:avLst/>
            </a:prstGeom>
            <a:solidFill>
              <a:srgbClr val="FFFF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17" name="Rectangle 74">
              <a:extLst>
                <a:ext uri="{FF2B5EF4-FFF2-40B4-BE49-F238E27FC236}">
                  <a16:creationId xmlns:a16="http://schemas.microsoft.com/office/drawing/2014/main" id="{4368CF72-2B59-FB4B-92FA-68E13D10F3ED}"/>
                </a:ext>
              </a:extLst>
            </p:cNvPr>
            <p:cNvSpPr>
              <a:spLocks noChangeArrowheads="1"/>
            </p:cNvSpPr>
            <p:nvPr/>
          </p:nvSpPr>
          <p:spPr bwMode="auto">
            <a:xfrm>
              <a:off x="1338" y="2537"/>
              <a:ext cx="155" cy="76"/>
            </a:xfrm>
            <a:prstGeom prst="rect">
              <a:avLst/>
            </a:prstGeom>
            <a:solidFill>
              <a:srgbClr val="FFFFFF"/>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18" name="Rectangle 75">
              <a:extLst>
                <a:ext uri="{FF2B5EF4-FFF2-40B4-BE49-F238E27FC236}">
                  <a16:creationId xmlns:a16="http://schemas.microsoft.com/office/drawing/2014/main" id="{0D0AC942-AA10-F747-BEAC-52DAFF24DAB3}"/>
                </a:ext>
              </a:extLst>
            </p:cNvPr>
            <p:cNvSpPr>
              <a:spLocks noChangeArrowheads="1"/>
            </p:cNvSpPr>
            <p:nvPr/>
          </p:nvSpPr>
          <p:spPr bwMode="auto">
            <a:xfrm>
              <a:off x="1503" y="2582"/>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19" name="Rectangle 129">
              <a:extLst>
                <a:ext uri="{FF2B5EF4-FFF2-40B4-BE49-F238E27FC236}">
                  <a16:creationId xmlns:a16="http://schemas.microsoft.com/office/drawing/2014/main" id="{C51B66A9-7495-DF44-B4DE-37BC9E90E09B}"/>
                </a:ext>
              </a:extLst>
            </p:cNvPr>
            <p:cNvSpPr>
              <a:spLocks noChangeArrowheads="1"/>
            </p:cNvSpPr>
            <p:nvPr/>
          </p:nvSpPr>
          <p:spPr bwMode="auto">
            <a:xfrm>
              <a:off x="1298" y="2583"/>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grpSp>
        <p:nvGrpSpPr>
          <p:cNvPr id="120" name="Group 149">
            <a:extLst>
              <a:ext uri="{FF2B5EF4-FFF2-40B4-BE49-F238E27FC236}">
                <a16:creationId xmlns:a16="http://schemas.microsoft.com/office/drawing/2014/main" id="{B5F38E94-4EF7-1F4B-AAC4-BF50DC083CD9}"/>
              </a:ext>
            </a:extLst>
          </p:cNvPr>
          <p:cNvGrpSpPr>
            <a:grpSpLocks/>
          </p:cNvGrpSpPr>
          <p:nvPr/>
        </p:nvGrpSpPr>
        <p:grpSpPr bwMode="auto">
          <a:xfrm>
            <a:off x="9681144" y="2673610"/>
            <a:ext cx="412750" cy="158750"/>
            <a:chOff x="1287" y="2524"/>
            <a:chExt cx="260" cy="100"/>
          </a:xfrm>
        </p:grpSpPr>
        <p:sp>
          <p:nvSpPr>
            <p:cNvPr id="121" name="Rectangle 73">
              <a:extLst>
                <a:ext uri="{FF2B5EF4-FFF2-40B4-BE49-F238E27FC236}">
                  <a16:creationId xmlns:a16="http://schemas.microsoft.com/office/drawing/2014/main" id="{71D7BEDA-E8D6-9F4F-8EE3-D5290D9AF39D}"/>
                </a:ext>
              </a:extLst>
            </p:cNvPr>
            <p:cNvSpPr>
              <a:spLocks noChangeArrowheads="1"/>
            </p:cNvSpPr>
            <p:nvPr/>
          </p:nvSpPr>
          <p:spPr bwMode="auto">
            <a:xfrm>
              <a:off x="1287" y="2524"/>
              <a:ext cx="260" cy="100"/>
            </a:xfrm>
            <a:prstGeom prst="rect">
              <a:avLst/>
            </a:prstGeom>
            <a:solidFill>
              <a:srgbClr val="FFFF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22" name="Rectangle 74">
              <a:extLst>
                <a:ext uri="{FF2B5EF4-FFF2-40B4-BE49-F238E27FC236}">
                  <a16:creationId xmlns:a16="http://schemas.microsoft.com/office/drawing/2014/main" id="{D93A8064-E5FB-2844-9B3D-C598CCB67BDD}"/>
                </a:ext>
              </a:extLst>
            </p:cNvPr>
            <p:cNvSpPr>
              <a:spLocks noChangeArrowheads="1"/>
            </p:cNvSpPr>
            <p:nvPr/>
          </p:nvSpPr>
          <p:spPr bwMode="auto">
            <a:xfrm>
              <a:off x="1338" y="2537"/>
              <a:ext cx="155" cy="76"/>
            </a:xfrm>
            <a:prstGeom prst="rect">
              <a:avLst/>
            </a:prstGeom>
            <a:solidFill>
              <a:srgbClr val="FFFFFF"/>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23" name="Rectangle 75">
              <a:extLst>
                <a:ext uri="{FF2B5EF4-FFF2-40B4-BE49-F238E27FC236}">
                  <a16:creationId xmlns:a16="http://schemas.microsoft.com/office/drawing/2014/main" id="{DF7AA994-9DC7-8349-BB16-6DED06C89AC0}"/>
                </a:ext>
              </a:extLst>
            </p:cNvPr>
            <p:cNvSpPr>
              <a:spLocks noChangeArrowheads="1"/>
            </p:cNvSpPr>
            <p:nvPr/>
          </p:nvSpPr>
          <p:spPr bwMode="auto">
            <a:xfrm>
              <a:off x="1503" y="2582"/>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24" name="Rectangle 129">
              <a:extLst>
                <a:ext uri="{FF2B5EF4-FFF2-40B4-BE49-F238E27FC236}">
                  <a16:creationId xmlns:a16="http://schemas.microsoft.com/office/drawing/2014/main" id="{06FC6EA9-9071-D843-8C39-AFF854F3BEFC}"/>
                </a:ext>
              </a:extLst>
            </p:cNvPr>
            <p:cNvSpPr>
              <a:spLocks noChangeArrowheads="1"/>
            </p:cNvSpPr>
            <p:nvPr/>
          </p:nvSpPr>
          <p:spPr bwMode="auto">
            <a:xfrm>
              <a:off x="1298" y="2583"/>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2" name="TextBox 1">
            <a:extLst>
              <a:ext uri="{FF2B5EF4-FFF2-40B4-BE49-F238E27FC236}">
                <a16:creationId xmlns:a16="http://schemas.microsoft.com/office/drawing/2014/main" id="{6B2BB341-9BE1-8640-8E8B-7EC80706964E}"/>
              </a:ext>
            </a:extLst>
          </p:cNvPr>
          <p:cNvSpPr txBox="1"/>
          <p:nvPr/>
        </p:nvSpPr>
        <p:spPr>
          <a:xfrm>
            <a:off x="4212477" y="1830701"/>
            <a:ext cx="3898344"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UDP sender actions:</a:t>
            </a:r>
          </a:p>
          <a:p>
            <a:pPr marL="285750" marR="0" lvl="0" indent="-219075" algn="l" defTabSz="914400" rtl="0" eaLnBrk="1" fontAlgn="auto" latinLnBrk="0" hangingPunct="1">
              <a:lnSpc>
                <a:spcPct val="100000"/>
              </a:lnSpc>
              <a:spcBef>
                <a:spcPts val="0"/>
              </a:spcBef>
              <a:spcAft>
                <a:spcPts val="0"/>
              </a:spcAft>
              <a:buClr>
                <a:srgbClr val="0200A3"/>
              </a:buClr>
              <a:buSzTx/>
              <a:buFont typeface="Wingdings" pitchFamily="2" charset="2"/>
              <a:buChar char="§"/>
              <a:tabLst/>
              <a:defRPr/>
            </a:pPr>
            <a:endParaRPr kumimoji="0" lang="en-US" sz="2000" b="0" i="0" u="none" strike="noStrike" kern="1200" cap="none" spc="0" normalizeH="0" baseline="0" noProof="0" dirty="0">
              <a:ln>
                <a:noFill/>
              </a:ln>
              <a:solidFill>
                <a:prstClr val="black"/>
              </a:solidFill>
              <a:effectLst/>
              <a:uLnTx/>
              <a:uFillTx/>
              <a:latin typeface="Calibri"/>
              <a:ea typeface="+mn-ea"/>
              <a:cs typeface="+mn-cs"/>
            </a:endParaRPr>
          </a:p>
        </p:txBody>
      </p:sp>
      <p:sp>
        <p:nvSpPr>
          <p:cNvPr id="102" name="Rectangle 101">
            <a:extLst>
              <a:ext uri="{FF2B5EF4-FFF2-40B4-BE49-F238E27FC236}">
                <a16:creationId xmlns:a16="http://schemas.microsoft.com/office/drawing/2014/main" id="{6480FBEB-6DAE-6343-96A8-03D66CDE01DB}"/>
              </a:ext>
            </a:extLst>
          </p:cNvPr>
          <p:cNvSpPr/>
          <p:nvPr/>
        </p:nvSpPr>
        <p:spPr>
          <a:xfrm>
            <a:off x="8502120" y="2078245"/>
            <a:ext cx="1986815" cy="2938360"/>
          </a:xfrm>
          <a:prstGeom prst="rect">
            <a:avLst/>
          </a:prstGeom>
          <a:solidFill>
            <a:schemeClr val="bg1">
              <a:alpha val="8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grpSp>
        <p:nvGrpSpPr>
          <p:cNvPr id="88" name="Group 87">
            <a:extLst>
              <a:ext uri="{FF2B5EF4-FFF2-40B4-BE49-F238E27FC236}">
                <a16:creationId xmlns:a16="http://schemas.microsoft.com/office/drawing/2014/main" id="{CA134BD1-8CE1-DD46-92D0-46AEECA91934}"/>
              </a:ext>
            </a:extLst>
          </p:cNvPr>
          <p:cNvGrpSpPr/>
          <p:nvPr/>
        </p:nvGrpSpPr>
        <p:grpSpPr>
          <a:xfrm>
            <a:off x="9130164" y="2303106"/>
            <a:ext cx="1259074" cy="369332"/>
            <a:chOff x="8934916" y="2775692"/>
            <a:chExt cx="1259074" cy="369332"/>
          </a:xfrm>
        </p:grpSpPr>
        <p:sp>
          <p:nvSpPr>
            <p:cNvPr id="89" name="Rectangle 88">
              <a:extLst>
                <a:ext uri="{FF2B5EF4-FFF2-40B4-BE49-F238E27FC236}">
                  <a16:creationId xmlns:a16="http://schemas.microsoft.com/office/drawing/2014/main" id="{6A02A536-E595-E54F-85ED-50268229A5F1}"/>
                </a:ext>
              </a:extLst>
            </p:cNvPr>
            <p:cNvSpPr/>
            <p:nvPr/>
          </p:nvSpPr>
          <p:spPr>
            <a:xfrm>
              <a:off x="8964931" y="2842303"/>
              <a:ext cx="1140727" cy="246705"/>
            </a:xfrm>
            <a:prstGeom prst="rect">
              <a:avLst/>
            </a:prstGeom>
            <a:solidFill>
              <a:schemeClr val="bg1"/>
            </a:solid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90" name="TextBox 89">
              <a:extLst>
                <a:ext uri="{FF2B5EF4-FFF2-40B4-BE49-F238E27FC236}">
                  <a16:creationId xmlns:a16="http://schemas.microsoft.com/office/drawing/2014/main" id="{26EE5E72-5714-C64B-A3D2-C89CD03AFF69}"/>
                </a:ext>
              </a:extLst>
            </p:cNvPr>
            <p:cNvSpPr txBox="1"/>
            <p:nvPr/>
          </p:nvSpPr>
          <p:spPr>
            <a:xfrm>
              <a:off x="8934916" y="2775692"/>
              <a:ext cx="1259074"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DNS msg</a:t>
              </a:r>
            </a:p>
          </p:txBody>
        </p:sp>
      </p:grpSp>
      <p:sp>
        <p:nvSpPr>
          <p:cNvPr id="91" name="TextBox 90">
            <a:extLst>
              <a:ext uri="{FF2B5EF4-FFF2-40B4-BE49-F238E27FC236}">
                <a16:creationId xmlns:a16="http://schemas.microsoft.com/office/drawing/2014/main" id="{44FC0E6A-CBE5-AC4B-BF65-426B6D4CBC72}"/>
              </a:ext>
            </a:extLst>
          </p:cNvPr>
          <p:cNvSpPr txBox="1"/>
          <p:nvPr/>
        </p:nvSpPr>
        <p:spPr>
          <a:xfrm>
            <a:off x="4391544" y="2325099"/>
            <a:ext cx="3825456" cy="722955"/>
          </a:xfrm>
          <a:prstGeom prst="rect">
            <a:avLst/>
          </a:prstGeom>
          <a:noFill/>
        </p:spPr>
        <p:txBody>
          <a:bodyPr wrap="square" rtlCol="0">
            <a:spAutoFit/>
          </a:bodyPr>
          <a:lstStyle/>
          <a:p>
            <a:pPr marL="409575" marR="0" lvl="0" indent="-342900" algn="l" defTabSz="914400" rtl="0" eaLnBrk="1" fontAlgn="auto" latinLnBrk="0" hangingPunct="1">
              <a:lnSpc>
                <a:spcPct val="85000"/>
              </a:lnSpc>
              <a:spcBef>
                <a:spcPts val="0"/>
              </a:spcBef>
              <a:spcAft>
                <a:spcPts val="0"/>
              </a:spcAft>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is passed an application-layer message</a:t>
            </a:r>
          </a:p>
        </p:txBody>
      </p:sp>
      <p:sp>
        <p:nvSpPr>
          <p:cNvPr id="94" name="TextBox 93">
            <a:extLst>
              <a:ext uri="{FF2B5EF4-FFF2-40B4-BE49-F238E27FC236}">
                <a16:creationId xmlns:a16="http://schemas.microsoft.com/office/drawing/2014/main" id="{D9421943-E484-5046-BEAC-6D59475EF6C3}"/>
              </a:ext>
            </a:extLst>
          </p:cNvPr>
          <p:cNvSpPr txBox="1"/>
          <p:nvPr/>
        </p:nvSpPr>
        <p:spPr>
          <a:xfrm>
            <a:off x="4388186" y="2990916"/>
            <a:ext cx="3825456" cy="722955"/>
          </a:xfrm>
          <a:prstGeom prst="rect">
            <a:avLst/>
          </a:prstGeom>
          <a:noFill/>
        </p:spPr>
        <p:txBody>
          <a:bodyPr wrap="square" rtlCol="0">
            <a:spAutoFit/>
          </a:bodyPr>
          <a:lstStyle/>
          <a:p>
            <a:pPr marL="409575" marR="0" lvl="0" indent="-342900" algn="l" defTabSz="914400" rtl="0" eaLnBrk="1" fontAlgn="auto" latinLnBrk="0" hangingPunct="1">
              <a:lnSpc>
                <a:spcPct val="85000"/>
              </a:lnSpc>
              <a:spcBef>
                <a:spcPts val="0"/>
              </a:spcBef>
              <a:spcAft>
                <a:spcPts val="0"/>
              </a:spcAft>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determines UDP segment header fields values</a:t>
            </a:r>
          </a:p>
        </p:txBody>
      </p:sp>
      <p:sp>
        <p:nvSpPr>
          <p:cNvPr id="95" name="TextBox 94">
            <a:extLst>
              <a:ext uri="{FF2B5EF4-FFF2-40B4-BE49-F238E27FC236}">
                <a16:creationId xmlns:a16="http://schemas.microsoft.com/office/drawing/2014/main" id="{BFD6C411-175C-8D4E-9A66-3E03AAA9F0F9}"/>
              </a:ext>
            </a:extLst>
          </p:cNvPr>
          <p:cNvSpPr txBox="1"/>
          <p:nvPr/>
        </p:nvSpPr>
        <p:spPr>
          <a:xfrm>
            <a:off x="4376692" y="3592863"/>
            <a:ext cx="3825456" cy="461665"/>
          </a:xfrm>
          <a:prstGeom prst="rect">
            <a:avLst/>
          </a:prstGeom>
          <a:noFill/>
        </p:spPr>
        <p:txBody>
          <a:bodyPr wrap="square" rtlCol="0">
            <a:spAutoFit/>
          </a:bodyPr>
          <a:lstStyle/>
          <a:p>
            <a:pPr marL="409575" marR="0" lvl="0" indent="-342900" algn="l" defTabSz="914400" rtl="0" eaLnBrk="1" fontAlgn="auto" latinLnBrk="0" hangingPunct="1">
              <a:lnSpc>
                <a:spcPct val="100000"/>
              </a:lnSpc>
              <a:spcBef>
                <a:spcPts val="0"/>
              </a:spcBef>
              <a:spcAft>
                <a:spcPts val="0"/>
              </a:spcAft>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creates UDP segment</a:t>
            </a:r>
          </a:p>
        </p:txBody>
      </p:sp>
      <p:sp>
        <p:nvSpPr>
          <p:cNvPr id="97" name="TextBox 96">
            <a:extLst>
              <a:ext uri="{FF2B5EF4-FFF2-40B4-BE49-F238E27FC236}">
                <a16:creationId xmlns:a16="http://schemas.microsoft.com/office/drawing/2014/main" id="{A88394C2-8FDA-8F48-B59B-B744ABBDA541}"/>
              </a:ext>
            </a:extLst>
          </p:cNvPr>
          <p:cNvSpPr txBox="1"/>
          <p:nvPr/>
        </p:nvSpPr>
        <p:spPr>
          <a:xfrm>
            <a:off x="4381369" y="4025163"/>
            <a:ext cx="3825456" cy="461665"/>
          </a:xfrm>
          <a:prstGeom prst="rect">
            <a:avLst/>
          </a:prstGeom>
          <a:noFill/>
        </p:spPr>
        <p:txBody>
          <a:bodyPr wrap="square" rtlCol="0">
            <a:spAutoFit/>
          </a:bodyPr>
          <a:lstStyle/>
          <a:p>
            <a:pPr marL="409575" marR="0" lvl="0" indent="-342900" algn="l" defTabSz="914400" rtl="0" eaLnBrk="1" fontAlgn="auto" latinLnBrk="0" hangingPunct="1">
              <a:lnSpc>
                <a:spcPct val="100000"/>
              </a:lnSpc>
              <a:spcBef>
                <a:spcPts val="0"/>
              </a:spcBef>
              <a:spcAft>
                <a:spcPts val="0"/>
              </a:spcAft>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passes segment to IP</a:t>
            </a:r>
          </a:p>
        </p:txBody>
      </p:sp>
      <p:grpSp>
        <p:nvGrpSpPr>
          <p:cNvPr id="106" name="Group 105">
            <a:extLst>
              <a:ext uri="{FF2B5EF4-FFF2-40B4-BE49-F238E27FC236}">
                <a16:creationId xmlns:a16="http://schemas.microsoft.com/office/drawing/2014/main" id="{73FB16D4-A4BA-C046-940D-43D50465EB6F}"/>
              </a:ext>
            </a:extLst>
          </p:cNvPr>
          <p:cNvGrpSpPr/>
          <p:nvPr/>
        </p:nvGrpSpPr>
        <p:grpSpPr>
          <a:xfrm>
            <a:off x="8473556" y="2992506"/>
            <a:ext cx="1259074" cy="338554"/>
            <a:chOff x="8964789" y="2639236"/>
            <a:chExt cx="1259074" cy="338554"/>
          </a:xfrm>
        </p:grpSpPr>
        <p:sp>
          <p:nvSpPr>
            <p:cNvPr id="125" name="Rectangle 124">
              <a:extLst>
                <a:ext uri="{FF2B5EF4-FFF2-40B4-BE49-F238E27FC236}">
                  <a16:creationId xmlns:a16="http://schemas.microsoft.com/office/drawing/2014/main" id="{CA58A03E-5455-0E40-8FB9-71E1E5E2CADE}"/>
                </a:ext>
              </a:extLst>
            </p:cNvPr>
            <p:cNvSpPr/>
            <p:nvPr/>
          </p:nvSpPr>
          <p:spPr>
            <a:xfrm>
              <a:off x="9032744" y="2707400"/>
              <a:ext cx="543189" cy="246705"/>
            </a:xfrm>
            <a:prstGeom prst="rect">
              <a:avLst/>
            </a:prstGeom>
            <a:solidFill>
              <a:schemeClr val="bg1"/>
            </a:solid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26" name="TextBox 125">
              <a:extLst>
                <a:ext uri="{FF2B5EF4-FFF2-40B4-BE49-F238E27FC236}">
                  <a16:creationId xmlns:a16="http://schemas.microsoft.com/office/drawing/2014/main" id="{97A208B0-D27E-5D40-B156-11CB7075B098}"/>
                </a:ext>
              </a:extLst>
            </p:cNvPr>
            <p:cNvSpPr txBox="1"/>
            <p:nvPr/>
          </p:nvSpPr>
          <p:spPr>
            <a:xfrm>
              <a:off x="8964789" y="2639236"/>
              <a:ext cx="1259074"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UDP</a:t>
              </a:r>
              <a:r>
                <a:rPr kumimoji="0" lang="en-US" sz="1600" b="0" i="0" u="none" strike="noStrike" kern="1200" cap="none" spc="0" normalizeH="0" baseline="-25000" noProof="0" dirty="0">
                  <a:ln>
                    <a:noFill/>
                  </a:ln>
                  <a:solidFill>
                    <a:prstClr val="black"/>
                  </a:solidFill>
                  <a:effectLst/>
                  <a:uLnTx/>
                  <a:uFillTx/>
                  <a:latin typeface="Calibri"/>
                  <a:ea typeface="+mn-ea"/>
                  <a:cs typeface="+mn-cs"/>
                </a:rPr>
                <a:t>h</a:t>
              </a:r>
            </a:p>
          </p:txBody>
        </p:sp>
      </p:grpSp>
      <p:grpSp>
        <p:nvGrpSpPr>
          <p:cNvPr id="5" name="Group 4">
            <a:extLst>
              <a:ext uri="{FF2B5EF4-FFF2-40B4-BE49-F238E27FC236}">
                <a16:creationId xmlns:a16="http://schemas.microsoft.com/office/drawing/2014/main" id="{E73E5E98-A439-0647-8DF1-844937CD72A0}"/>
              </a:ext>
            </a:extLst>
          </p:cNvPr>
          <p:cNvGrpSpPr/>
          <p:nvPr/>
        </p:nvGrpSpPr>
        <p:grpSpPr>
          <a:xfrm>
            <a:off x="8545052" y="3003638"/>
            <a:ext cx="1818022" cy="369332"/>
            <a:chOff x="7863122" y="5632673"/>
            <a:chExt cx="1818022" cy="369332"/>
          </a:xfrm>
        </p:grpSpPr>
        <p:grpSp>
          <p:nvGrpSpPr>
            <p:cNvPr id="99" name="Group 98">
              <a:extLst>
                <a:ext uri="{FF2B5EF4-FFF2-40B4-BE49-F238E27FC236}">
                  <a16:creationId xmlns:a16="http://schemas.microsoft.com/office/drawing/2014/main" id="{39CCB6B2-1F81-ED45-AF48-A3187F0215CC}"/>
                </a:ext>
              </a:extLst>
            </p:cNvPr>
            <p:cNvGrpSpPr/>
            <p:nvPr/>
          </p:nvGrpSpPr>
          <p:grpSpPr>
            <a:xfrm>
              <a:off x="7863122" y="5638955"/>
              <a:ext cx="1259074" cy="338554"/>
              <a:chOff x="8964789" y="2648929"/>
              <a:chExt cx="1259074" cy="338554"/>
            </a:xfrm>
          </p:grpSpPr>
          <p:sp>
            <p:nvSpPr>
              <p:cNvPr id="100" name="Rectangle 99">
                <a:extLst>
                  <a:ext uri="{FF2B5EF4-FFF2-40B4-BE49-F238E27FC236}">
                    <a16:creationId xmlns:a16="http://schemas.microsoft.com/office/drawing/2014/main" id="{B77AF83C-DA1E-A642-9E78-5EEE36A0AD7E}"/>
                  </a:ext>
                </a:extLst>
              </p:cNvPr>
              <p:cNvSpPr/>
              <p:nvPr/>
            </p:nvSpPr>
            <p:spPr>
              <a:xfrm>
                <a:off x="9032744" y="2707400"/>
                <a:ext cx="543189" cy="246705"/>
              </a:xfrm>
              <a:prstGeom prst="rect">
                <a:avLst/>
              </a:prstGeom>
              <a:solidFill>
                <a:schemeClr val="bg1"/>
              </a:solid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01" name="TextBox 100">
                <a:extLst>
                  <a:ext uri="{FF2B5EF4-FFF2-40B4-BE49-F238E27FC236}">
                    <a16:creationId xmlns:a16="http://schemas.microsoft.com/office/drawing/2014/main" id="{AB8C9E1E-8C93-DA4B-813F-B38E4305D2BE}"/>
                  </a:ext>
                </a:extLst>
              </p:cNvPr>
              <p:cNvSpPr txBox="1"/>
              <p:nvPr/>
            </p:nvSpPr>
            <p:spPr>
              <a:xfrm>
                <a:off x="8964789" y="2648929"/>
                <a:ext cx="1259074"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UDP</a:t>
                </a:r>
                <a:r>
                  <a:rPr kumimoji="0" lang="en-US" sz="1600" b="0" i="0" u="none" strike="noStrike" kern="1200" cap="none" spc="0" normalizeH="0" baseline="-25000" noProof="0" dirty="0">
                    <a:ln>
                      <a:noFill/>
                    </a:ln>
                    <a:solidFill>
                      <a:prstClr val="black"/>
                    </a:solidFill>
                    <a:effectLst/>
                    <a:uLnTx/>
                    <a:uFillTx/>
                    <a:latin typeface="Calibri"/>
                    <a:ea typeface="+mn-ea"/>
                    <a:cs typeface="+mn-cs"/>
                  </a:rPr>
                  <a:t>h</a:t>
                </a:r>
              </a:p>
            </p:txBody>
          </p:sp>
        </p:grpSp>
        <p:grpSp>
          <p:nvGrpSpPr>
            <p:cNvPr id="103" name="Group 102">
              <a:extLst>
                <a:ext uri="{FF2B5EF4-FFF2-40B4-BE49-F238E27FC236}">
                  <a16:creationId xmlns:a16="http://schemas.microsoft.com/office/drawing/2014/main" id="{8B56BF3A-3903-6343-9BD8-2E85489C092E}"/>
                </a:ext>
              </a:extLst>
            </p:cNvPr>
            <p:cNvGrpSpPr/>
            <p:nvPr/>
          </p:nvGrpSpPr>
          <p:grpSpPr>
            <a:xfrm>
              <a:off x="8422070" y="5632673"/>
              <a:ext cx="1259074" cy="369332"/>
              <a:chOff x="8934916" y="2778923"/>
              <a:chExt cx="1259074" cy="369332"/>
            </a:xfrm>
          </p:grpSpPr>
          <p:sp>
            <p:nvSpPr>
              <p:cNvPr id="104" name="Rectangle 103">
                <a:extLst>
                  <a:ext uri="{FF2B5EF4-FFF2-40B4-BE49-F238E27FC236}">
                    <a16:creationId xmlns:a16="http://schemas.microsoft.com/office/drawing/2014/main" id="{C0632306-DF2A-5145-82E2-F627C1E9171F}"/>
                  </a:ext>
                </a:extLst>
              </p:cNvPr>
              <p:cNvSpPr/>
              <p:nvPr/>
            </p:nvSpPr>
            <p:spPr>
              <a:xfrm>
                <a:off x="8964931" y="2842303"/>
                <a:ext cx="1140727" cy="246705"/>
              </a:xfrm>
              <a:prstGeom prst="rect">
                <a:avLst/>
              </a:prstGeom>
              <a:solidFill>
                <a:schemeClr val="bg1"/>
              </a:solid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05" name="TextBox 104">
                <a:extLst>
                  <a:ext uri="{FF2B5EF4-FFF2-40B4-BE49-F238E27FC236}">
                    <a16:creationId xmlns:a16="http://schemas.microsoft.com/office/drawing/2014/main" id="{E104975E-6986-5E45-89F2-36AAE86B3B12}"/>
                  </a:ext>
                </a:extLst>
              </p:cNvPr>
              <p:cNvSpPr txBox="1"/>
              <p:nvPr/>
            </p:nvSpPr>
            <p:spPr>
              <a:xfrm>
                <a:off x="8934916" y="2778923"/>
                <a:ext cx="1259074"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DNS msg</a:t>
                </a:r>
              </a:p>
            </p:txBody>
          </p:sp>
        </p:grpSp>
      </p:grpSp>
      <p:sp>
        <p:nvSpPr>
          <p:cNvPr id="9" name="Rectangle 8">
            <a:extLst>
              <a:ext uri="{FF2B5EF4-FFF2-40B4-BE49-F238E27FC236}">
                <a16:creationId xmlns:a16="http://schemas.microsoft.com/office/drawing/2014/main" id="{047FACDD-5B5F-3C4F-5D47-8A9E93DB9F7A}"/>
              </a:ext>
            </a:extLst>
          </p:cNvPr>
          <p:cNvSpPr/>
          <p:nvPr/>
        </p:nvSpPr>
        <p:spPr>
          <a:xfrm>
            <a:off x="1655121" y="2160335"/>
            <a:ext cx="2199790" cy="2938360"/>
          </a:xfrm>
          <a:prstGeom prst="rect">
            <a:avLst/>
          </a:prstGeom>
          <a:solidFill>
            <a:schemeClr val="bg1">
              <a:alpha val="8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grpSp>
        <p:nvGrpSpPr>
          <p:cNvPr id="10" name="Group 185">
            <a:extLst>
              <a:ext uri="{FF2B5EF4-FFF2-40B4-BE49-F238E27FC236}">
                <a16:creationId xmlns:a16="http://schemas.microsoft.com/office/drawing/2014/main" id="{ED6F2312-F820-8CE0-4564-FD1C70521483}"/>
              </a:ext>
            </a:extLst>
          </p:cNvPr>
          <p:cNvGrpSpPr>
            <a:grpSpLocks/>
          </p:cNvGrpSpPr>
          <p:nvPr/>
        </p:nvGrpSpPr>
        <p:grpSpPr bwMode="auto">
          <a:xfrm>
            <a:off x="703651" y="4192336"/>
            <a:ext cx="549832" cy="1070215"/>
            <a:chOff x="4140" y="429"/>
            <a:chExt cx="1425" cy="2396"/>
          </a:xfrm>
        </p:grpSpPr>
        <p:sp>
          <p:nvSpPr>
            <p:cNvPr id="11" name="Freeform 186">
              <a:extLst>
                <a:ext uri="{FF2B5EF4-FFF2-40B4-BE49-F238E27FC236}">
                  <a16:creationId xmlns:a16="http://schemas.microsoft.com/office/drawing/2014/main" id="{96CABD3B-2B20-C89D-4800-888F7A56B29B}"/>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2" name="Rectangle 187">
              <a:extLst>
                <a:ext uri="{FF2B5EF4-FFF2-40B4-BE49-F238E27FC236}">
                  <a16:creationId xmlns:a16="http://schemas.microsoft.com/office/drawing/2014/main" id="{6304679F-87DA-869F-34C7-E871BC96C88B}"/>
                </a:ext>
              </a:extLst>
            </p:cNvPr>
            <p:cNvSpPr>
              <a:spLocks noChangeArrowheads="1"/>
            </p:cNvSpPr>
            <p:nvPr/>
          </p:nvSpPr>
          <p:spPr bwMode="auto">
            <a:xfrm>
              <a:off x="4203" y="429"/>
              <a:ext cx="1053" cy="2283"/>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3" name="Freeform 188">
              <a:extLst>
                <a:ext uri="{FF2B5EF4-FFF2-40B4-BE49-F238E27FC236}">
                  <a16:creationId xmlns:a16="http://schemas.microsoft.com/office/drawing/2014/main" id="{E06E463C-A601-4770-DFEE-55EB76DD3E9B}"/>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4" name="Freeform 189">
              <a:extLst>
                <a:ext uri="{FF2B5EF4-FFF2-40B4-BE49-F238E27FC236}">
                  <a16:creationId xmlns:a16="http://schemas.microsoft.com/office/drawing/2014/main" id="{7F77D0BF-4127-063C-E18A-110C83A29FEB}"/>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5" name="Rectangle 190">
              <a:extLst>
                <a:ext uri="{FF2B5EF4-FFF2-40B4-BE49-F238E27FC236}">
                  <a16:creationId xmlns:a16="http://schemas.microsoft.com/office/drawing/2014/main" id="{6E17CC55-C053-18A4-BB03-6196F102C41D}"/>
                </a:ext>
              </a:extLst>
            </p:cNvPr>
            <p:cNvSpPr>
              <a:spLocks noChangeArrowheads="1"/>
            </p:cNvSpPr>
            <p:nvPr/>
          </p:nvSpPr>
          <p:spPr bwMode="auto">
            <a:xfrm>
              <a:off x="4209" y="693"/>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16" name="Group 191">
              <a:extLst>
                <a:ext uri="{FF2B5EF4-FFF2-40B4-BE49-F238E27FC236}">
                  <a16:creationId xmlns:a16="http://schemas.microsoft.com/office/drawing/2014/main" id="{46AA8D3E-C36D-72AE-BA46-1257CAF4EECA}"/>
                </a:ext>
              </a:extLst>
            </p:cNvPr>
            <p:cNvGrpSpPr>
              <a:grpSpLocks/>
            </p:cNvGrpSpPr>
            <p:nvPr/>
          </p:nvGrpSpPr>
          <p:grpSpPr bwMode="auto">
            <a:xfrm>
              <a:off x="4749" y="668"/>
              <a:ext cx="581" cy="145"/>
              <a:chOff x="614" y="2568"/>
              <a:chExt cx="725" cy="139"/>
            </a:xfrm>
          </p:grpSpPr>
          <p:sp>
            <p:nvSpPr>
              <p:cNvPr id="41" name="AutoShape 192">
                <a:extLst>
                  <a:ext uri="{FF2B5EF4-FFF2-40B4-BE49-F238E27FC236}">
                    <a16:creationId xmlns:a16="http://schemas.microsoft.com/office/drawing/2014/main" id="{BBCF40CA-331E-EC84-6037-84DF691CAF53}"/>
                  </a:ext>
                </a:extLst>
              </p:cNvPr>
              <p:cNvSpPr>
                <a:spLocks noChangeArrowheads="1"/>
              </p:cNvSpPr>
              <p:nvPr/>
            </p:nvSpPr>
            <p:spPr bwMode="auto">
              <a:xfrm>
                <a:off x="617" y="2567"/>
                <a:ext cx="724"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2" name="AutoShape 193">
                <a:extLst>
                  <a:ext uri="{FF2B5EF4-FFF2-40B4-BE49-F238E27FC236}">
                    <a16:creationId xmlns:a16="http://schemas.microsoft.com/office/drawing/2014/main" id="{A3690180-532B-BA19-4196-6CF6D35BE9EF}"/>
                  </a:ext>
                </a:extLst>
              </p:cNvPr>
              <p:cNvSpPr>
                <a:spLocks noChangeArrowheads="1"/>
              </p:cNvSpPr>
              <p:nvPr/>
            </p:nvSpPr>
            <p:spPr bwMode="auto">
              <a:xfrm>
                <a:off x="633" y="2582"/>
                <a:ext cx="692"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17" name="Rectangle 194">
              <a:extLst>
                <a:ext uri="{FF2B5EF4-FFF2-40B4-BE49-F238E27FC236}">
                  <a16:creationId xmlns:a16="http://schemas.microsoft.com/office/drawing/2014/main" id="{43602F18-1157-02EA-E01F-75A7738382E2}"/>
                </a:ext>
              </a:extLst>
            </p:cNvPr>
            <p:cNvSpPr>
              <a:spLocks noChangeArrowheads="1"/>
            </p:cNvSpPr>
            <p:nvPr/>
          </p:nvSpPr>
          <p:spPr bwMode="auto">
            <a:xfrm>
              <a:off x="4222" y="1017"/>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18" name="Group 195">
              <a:extLst>
                <a:ext uri="{FF2B5EF4-FFF2-40B4-BE49-F238E27FC236}">
                  <a16:creationId xmlns:a16="http://schemas.microsoft.com/office/drawing/2014/main" id="{30B1A759-218B-C72A-B3BB-8092B73E828D}"/>
                </a:ext>
              </a:extLst>
            </p:cNvPr>
            <p:cNvGrpSpPr>
              <a:grpSpLocks/>
            </p:cNvGrpSpPr>
            <p:nvPr/>
          </p:nvGrpSpPr>
          <p:grpSpPr bwMode="auto">
            <a:xfrm>
              <a:off x="4747" y="994"/>
              <a:ext cx="581" cy="134"/>
              <a:chOff x="614" y="2568"/>
              <a:chExt cx="725" cy="139"/>
            </a:xfrm>
          </p:grpSpPr>
          <p:sp>
            <p:nvSpPr>
              <p:cNvPr id="39" name="AutoShape 196">
                <a:extLst>
                  <a:ext uri="{FF2B5EF4-FFF2-40B4-BE49-F238E27FC236}">
                    <a16:creationId xmlns:a16="http://schemas.microsoft.com/office/drawing/2014/main" id="{BEB6098D-491D-B2FD-FFD6-8A2CD3491819}"/>
                  </a:ext>
                </a:extLst>
              </p:cNvPr>
              <p:cNvSpPr>
                <a:spLocks noChangeArrowheads="1"/>
              </p:cNvSpPr>
              <p:nvPr/>
            </p:nvSpPr>
            <p:spPr bwMode="auto">
              <a:xfrm>
                <a:off x="612" y="2570"/>
                <a:ext cx="724" cy="162"/>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0" name="AutoShape 197">
                <a:extLst>
                  <a:ext uri="{FF2B5EF4-FFF2-40B4-BE49-F238E27FC236}">
                    <a16:creationId xmlns:a16="http://schemas.microsoft.com/office/drawing/2014/main" id="{255E2C11-A479-2E64-DBAC-F74D7DDDD480}"/>
                  </a:ext>
                </a:extLst>
              </p:cNvPr>
              <p:cNvSpPr>
                <a:spLocks noChangeArrowheads="1"/>
              </p:cNvSpPr>
              <p:nvPr/>
            </p:nvSpPr>
            <p:spPr bwMode="auto">
              <a:xfrm>
                <a:off x="628" y="2586"/>
                <a:ext cx="692"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19" name="Rectangle 198">
              <a:extLst>
                <a:ext uri="{FF2B5EF4-FFF2-40B4-BE49-F238E27FC236}">
                  <a16:creationId xmlns:a16="http://schemas.microsoft.com/office/drawing/2014/main" id="{7FBFBEE4-414C-2F80-CFF3-1C1D7A9F32F1}"/>
                </a:ext>
              </a:extLst>
            </p:cNvPr>
            <p:cNvSpPr>
              <a:spLocks noChangeArrowheads="1"/>
            </p:cNvSpPr>
            <p:nvPr/>
          </p:nvSpPr>
          <p:spPr bwMode="auto">
            <a:xfrm>
              <a:off x="4216" y="1357"/>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0" name="Rectangle 199">
              <a:extLst>
                <a:ext uri="{FF2B5EF4-FFF2-40B4-BE49-F238E27FC236}">
                  <a16:creationId xmlns:a16="http://schemas.microsoft.com/office/drawing/2014/main" id="{FA82849D-AB37-AA0F-C5F0-53AEAECFDADA}"/>
                </a:ext>
              </a:extLst>
            </p:cNvPr>
            <p:cNvSpPr>
              <a:spLocks noChangeArrowheads="1"/>
            </p:cNvSpPr>
            <p:nvPr/>
          </p:nvSpPr>
          <p:spPr bwMode="auto">
            <a:xfrm>
              <a:off x="4228" y="1654"/>
              <a:ext cx="593"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21" name="Group 200">
              <a:extLst>
                <a:ext uri="{FF2B5EF4-FFF2-40B4-BE49-F238E27FC236}">
                  <a16:creationId xmlns:a16="http://schemas.microsoft.com/office/drawing/2014/main" id="{C65D4B6E-683E-A902-FC26-AD29590FEF80}"/>
                </a:ext>
              </a:extLst>
            </p:cNvPr>
            <p:cNvGrpSpPr>
              <a:grpSpLocks/>
            </p:cNvGrpSpPr>
            <p:nvPr/>
          </p:nvGrpSpPr>
          <p:grpSpPr bwMode="auto">
            <a:xfrm>
              <a:off x="4735" y="1627"/>
              <a:ext cx="582" cy="151"/>
              <a:chOff x="614" y="2568"/>
              <a:chExt cx="725" cy="139"/>
            </a:xfrm>
          </p:grpSpPr>
          <p:sp>
            <p:nvSpPr>
              <p:cNvPr id="37" name="AutoShape 201">
                <a:extLst>
                  <a:ext uri="{FF2B5EF4-FFF2-40B4-BE49-F238E27FC236}">
                    <a16:creationId xmlns:a16="http://schemas.microsoft.com/office/drawing/2014/main" id="{190996C5-2866-2764-1A0C-7DD6E81B0ED6}"/>
                  </a:ext>
                </a:extLst>
              </p:cNvPr>
              <p:cNvSpPr>
                <a:spLocks noChangeArrowheads="1"/>
              </p:cNvSpPr>
              <p:nvPr/>
            </p:nvSpPr>
            <p:spPr bwMode="auto">
              <a:xfrm>
                <a:off x="611" y="2568"/>
                <a:ext cx="730" cy="139"/>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8" name="AutoShape 202">
                <a:extLst>
                  <a:ext uri="{FF2B5EF4-FFF2-40B4-BE49-F238E27FC236}">
                    <a16:creationId xmlns:a16="http://schemas.microsoft.com/office/drawing/2014/main" id="{73915B22-4114-C7AA-AED3-3F59A8D8A2AB}"/>
                  </a:ext>
                </a:extLst>
              </p:cNvPr>
              <p:cNvSpPr>
                <a:spLocks noChangeArrowheads="1"/>
              </p:cNvSpPr>
              <p:nvPr/>
            </p:nvSpPr>
            <p:spPr bwMode="auto">
              <a:xfrm>
                <a:off x="627" y="2583"/>
                <a:ext cx="699"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22" name="Freeform 203">
              <a:extLst>
                <a:ext uri="{FF2B5EF4-FFF2-40B4-BE49-F238E27FC236}">
                  <a16:creationId xmlns:a16="http://schemas.microsoft.com/office/drawing/2014/main" id="{59B3350D-875B-DEB9-3429-E0FEAE289C39}"/>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23" name="Group 204">
              <a:extLst>
                <a:ext uri="{FF2B5EF4-FFF2-40B4-BE49-F238E27FC236}">
                  <a16:creationId xmlns:a16="http://schemas.microsoft.com/office/drawing/2014/main" id="{4131776E-09BD-B077-1637-B09C7AE28DA6}"/>
                </a:ext>
              </a:extLst>
            </p:cNvPr>
            <p:cNvGrpSpPr>
              <a:grpSpLocks/>
            </p:cNvGrpSpPr>
            <p:nvPr/>
          </p:nvGrpSpPr>
          <p:grpSpPr bwMode="auto">
            <a:xfrm>
              <a:off x="4739" y="1327"/>
              <a:ext cx="582" cy="139"/>
              <a:chOff x="614" y="2568"/>
              <a:chExt cx="725" cy="139"/>
            </a:xfrm>
          </p:grpSpPr>
          <p:sp>
            <p:nvSpPr>
              <p:cNvPr id="35" name="AutoShape 205">
                <a:extLst>
                  <a:ext uri="{FF2B5EF4-FFF2-40B4-BE49-F238E27FC236}">
                    <a16:creationId xmlns:a16="http://schemas.microsoft.com/office/drawing/2014/main" id="{0F82DC09-04ED-A41B-4B36-D133D35CF18D}"/>
                  </a:ext>
                </a:extLst>
              </p:cNvPr>
              <p:cNvSpPr>
                <a:spLocks noChangeArrowheads="1"/>
              </p:cNvSpPr>
              <p:nvPr/>
            </p:nvSpPr>
            <p:spPr bwMode="auto">
              <a:xfrm>
                <a:off x="614" y="2566"/>
                <a:ext cx="723"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6" name="AutoShape 206">
                <a:extLst>
                  <a:ext uri="{FF2B5EF4-FFF2-40B4-BE49-F238E27FC236}">
                    <a16:creationId xmlns:a16="http://schemas.microsoft.com/office/drawing/2014/main" id="{F5857190-DC76-79A0-4FA8-E188B6CE52C2}"/>
                  </a:ext>
                </a:extLst>
              </p:cNvPr>
              <p:cNvSpPr>
                <a:spLocks noChangeArrowheads="1"/>
              </p:cNvSpPr>
              <p:nvPr/>
            </p:nvSpPr>
            <p:spPr bwMode="auto">
              <a:xfrm>
                <a:off x="630" y="2582"/>
                <a:ext cx="691"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24" name="Rectangle 207">
              <a:extLst>
                <a:ext uri="{FF2B5EF4-FFF2-40B4-BE49-F238E27FC236}">
                  <a16:creationId xmlns:a16="http://schemas.microsoft.com/office/drawing/2014/main" id="{9BB706C0-3C81-574E-FB61-80814F3DB3E2}"/>
                </a:ext>
              </a:extLst>
            </p:cNvPr>
            <p:cNvSpPr>
              <a:spLocks noChangeArrowheads="1"/>
            </p:cNvSpPr>
            <p:nvPr/>
          </p:nvSpPr>
          <p:spPr bwMode="auto">
            <a:xfrm>
              <a:off x="5250" y="429"/>
              <a:ext cx="69" cy="2288"/>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5" name="Freeform 208">
              <a:extLst>
                <a:ext uri="{FF2B5EF4-FFF2-40B4-BE49-F238E27FC236}">
                  <a16:creationId xmlns:a16="http://schemas.microsoft.com/office/drawing/2014/main" id="{F4B00864-76BA-A79D-B1EE-DB019CD62AF3}"/>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6" name="Freeform 209">
              <a:extLst>
                <a:ext uri="{FF2B5EF4-FFF2-40B4-BE49-F238E27FC236}">
                  <a16:creationId xmlns:a16="http://schemas.microsoft.com/office/drawing/2014/main" id="{6DFA7B59-A5AC-628A-6013-76D4144C2B66}"/>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7" name="Oval 210">
              <a:extLst>
                <a:ext uri="{FF2B5EF4-FFF2-40B4-BE49-F238E27FC236}">
                  <a16:creationId xmlns:a16="http://schemas.microsoft.com/office/drawing/2014/main" id="{F1BD2ACC-E33E-9E59-D5CA-1914D244E2A4}"/>
                </a:ext>
              </a:extLst>
            </p:cNvPr>
            <p:cNvSpPr>
              <a:spLocks noChangeArrowheads="1"/>
            </p:cNvSpPr>
            <p:nvPr/>
          </p:nvSpPr>
          <p:spPr bwMode="auto">
            <a:xfrm>
              <a:off x="5515" y="2609"/>
              <a:ext cx="50" cy="97"/>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8" name="Freeform 211">
              <a:extLst>
                <a:ext uri="{FF2B5EF4-FFF2-40B4-BE49-F238E27FC236}">
                  <a16:creationId xmlns:a16="http://schemas.microsoft.com/office/drawing/2014/main" id="{4B3F8D8B-1E38-8BE6-5348-AF44941AF9B9}"/>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9" name="AutoShape 212">
              <a:extLst>
                <a:ext uri="{FF2B5EF4-FFF2-40B4-BE49-F238E27FC236}">
                  <a16:creationId xmlns:a16="http://schemas.microsoft.com/office/drawing/2014/main" id="{1FC228AD-1AA9-31FA-3A3C-8E627C6933B9}"/>
                </a:ext>
              </a:extLst>
            </p:cNvPr>
            <p:cNvSpPr>
              <a:spLocks noChangeArrowheads="1"/>
            </p:cNvSpPr>
            <p:nvPr/>
          </p:nvSpPr>
          <p:spPr bwMode="auto">
            <a:xfrm>
              <a:off x="4140" y="2679"/>
              <a:ext cx="1198"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0" name="AutoShape 213">
              <a:extLst>
                <a:ext uri="{FF2B5EF4-FFF2-40B4-BE49-F238E27FC236}">
                  <a16:creationId xmlns:a16="http://schemas.microsoft.com/office/drawing/2014/main" id="{15C456A2-8E6C-6E70-29B5-48EB94FD3226}"/>
                </a:ext>
              </a:extLst>
            </p:cNvPr>
            <p:cNvSpPr>
              <a:spLocks noChangeArrowheads="1"/>
            </p:cNvSpPr>
            <p:nvPr/>
          </p:nvSpPr>
          <p:spPr bwMode="auto">
            <a:xfrm>
              <a:off x="4203" y="2712"/>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1" name="Oval 214">
              <a:extLst>
                <a:ext uri="{FF2B5EF4-FFF2-40B4-BE49-F238E27FC236}">
                  <a16:creationId xmlns:a16="http://schemas.microsoft.com/office/drawing/2014/main" id="{5A79CAA1-06A6-4465-68D1-801E4DD4BEAC}"/>
                </a:ext>
              </a:extLst>
            </p:cNvPr>
            <p:cNvSpPr>
              <a:spLocks noChangeArrowheads="1"/>
            </p:cNvSpPr>
            <p:nvPr/>
          </p:nvSpPr>
          <p:spPr bwMode="auto">
            <a:xfrm>
              <a:off x="4310" y="2382"/>
              <a:ext cx="158" cy="146"/>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2" name="Oval 215">
              <a:extLst>
                <a:ext uri="{FF2B5EF4-FFF2-40B4-BE49-F238E27FC236}">
                  <a16:creationId xmlns:a16="http://schemas.microsoft.com/office/drawing/2014/main" id="{10A0404A-0608-4B43-E795-08BD3B2A8289}"/>
                </a:ext>
              </a:extLst>
            </p:cNvPr>
            <p:cNvSpPr>
              <a:spLocks noChangeArrowheads="1"/>
            </p:cNvSpPr>
            <p:nvPr/>
          </p:nvSpPr>
          <p:spPr bwMode="auto">
            <a:xfrm>
              <a:off x="4487" y="2382"/>
              <a:ext cx="158" cy="146"/>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FF0000"/>
                </a:solidFill>
                <a:effectLst/>
                <a:uLnTx/>
                <a:uFillTx/>
                <a:latin typeface="Arial" charset="0"/>
                <a:ea typeface="ＭＳ Ｐゴシック" charset="0"/>
                <a:cs typeface="Arial" charset="0"/>
              </a:endParaRPr>
            </a:p>
          </p:txBody>
        </p:sp>
        <p:sp>
          <p:nvSpPr>
            <p:cNvPr id="33" name="Oval 216">
              <a:extLst>
                <a:ext uri="{FF2B5EF4-FFF2-40B4-BE49-F238E27FC236}">
                  <a16:creationId xmlns:a16="http://schemas.microsoft.com/office/drawing/2014/main" id="{9F6D13B2-0E06-D776-6C1E-4A168869CECC}"/>
                </a:ext>
              </a:extLst>
            </p:cNvPr>
            <p:cNvSpPr>
              <a:spLocks noChangeArrowheads="1"/>
            </p:cNvSpPr>
            <p:nvPr/>
          </p:nvSpPr>
          <p:spPr bwMode="auto">
            <a:xfrm>
              <a:off x="4663" y="2382"/>
              <a:ext cx="158" cy="140"/>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4" name="Rectangle 217">
              <a:extLst>
                <a:ext uri="{FF2B5EF4-FFF2-40B4-BE49-F238E27FC236}">
                  <a16:creationId xmlns:a16="http://schemas.microsoft.com/office/drawing/2014/main" id="{9C9FFB04-B9B2-9FAA-E16A-6B2C3B8D4A7D}"/>
                </a:ext>
              </a:extLst>
            </p:cNvPr>
            <p:cNvSpPr>
              <a:spLocks noChangeArrowheads="1"/>
            </p:cNvSpPr>
            <p:nvPr/>
          </p:nvSpPr>
          <p:spPr bwMode="auto">
            <a:xfrm>
              <a:off x="5061" y="1837"/>
              <a:ext cx="88" cy="761"/>
            </a:xfrm>
            <a:prstGeom prst="rect">
              <a:avLst/>
            </a:prstGeom>
            <a:solidFill>
              <a:srgbClr val="29292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grpSp>
        <p:nvGrpSpPr>
          <p:cNvPr id="43" name="Group 194">
            <a:extLst>
              <a:ext uri="{FF2B5EF4-FFF2-40B4-BE49-F238E27FC236}">
                <a16:creationId xmlns:a16="http://schemas.microsoft.com/office/drawing/2014/main" id="{7694DC78-770C-01C2-F37A-A292FD907E75}"/>
              </a:ext>
            </a:extLst>
          </p:cNvPr>
          <p:cNvGrpSpPr>
            <a:grpSpLocks/>
          </p:cNvGrpSpPr>
          <p:nvPr/>
        </p:nvGrpSpPr>
        <p:grpSpPr bwMode="auto">
          <a:xfrm>
            <a:off x="10486559" y="4239137"/>
            <a:ext cx="1357555" cy="1301355"/>
            <a:chOff x="-44" y="1473"/>
            <a:chExt cx="981" cy="1105"/>
          </a:xfrm>
        </p:grpSpPr>
        <p:pic>
          <p:nvPicPr>
            <p:cNvPr id="44" name="Picture 195" descr="desktop_computer_stylized_medium">
              <a:extLst>
                <a:ext uri="{FF2B5EF4-FFF2-40B4-BE49-F238E27FC236}">
                  <a16:creationId xmlns:a16="http://schemas.microsoft.com/office/drawing/2014/main" id="{A3B25AFA-0A13-AE8E-0FDE-434A8DB2FB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45" name="Freeform 196">
              <a:extLst>
                <a:ext uri="{FF2B5EF4-FFF2-40B4-BE49-F238E27FC236}">
                  <a16:creationId xmlns:a16="http://schemas.microsoft.com/office/drawing/2014/main" id="{4FFE9FCC-B38F-A452-0E58-AF4F9154D477}"/>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Tree>
    <p:extLst>
      <p:ext uri="{BB962C8B-B14F-4D97-AF65-F5344CB8AC3E}">
        <p14:creationId xmlns:p14="http://schemas.microsoft.com/office/powerpoint/2010/main" val="22161099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88"/>
                                        </p:tgtEl>
                                        <p:attrNameLst>
                                          <p:attrName>style.visibility</p:attrName>
                                        </p:attrNameLst>
                                      </p:cBhvr>
                                      <p:to>
                                        <p:strVal val="visible"/>
                                      </p:to>
                                    </p:set>
                                    <p:animEffect transition="in" filter="dissolve">
                                      <p:cBhvr>
                                        <p:cTn id="7" dur="500"/>
                                        <p:tgtEl>
                                          <p:spTgt spid="88"/>
                                        </p:tgtEl>
                                      </p:cBhvr>
                                    </p:animEffect>
                                  </p:childTnLst>
                                </p:cTn>
                              </p:par>
                              <p:par>
                                <p:cTn id="8" presetID="0" presetClass="path" presetSubtype="0" accel="50000" decel="50000" fill="hold" nodeType="withEffect">
                                  <p:stCondLst>
                                    <p:cond delay="0"/>
                                  </p:stCondLst>
                                  <p:childTnLst>
                                    <p:animMotion origin="layout" path="M -6.25E-7 -1.48148E-6 L 0.00065 0.10139 " pathEditMode="relative" rAng="0" ptsTypes="AA">
                                      <p:cBhvr>
                                        <p:cTn id="9" dur="2000" fill="hold"/>
                                        <p:tgtEl>
                                          <p:spTgt spid="88"/>
                                        </p:tgtEl>
                                        <p:attrNameLst>
                                          <p:attrName>ppt_x</p:attrName>
                                          <p:attrName>ppt_y</p:attrName>
                                        </p:attrNameLst>
                                      </p:cBhvr>
                                      <p:rCtr x="26" y="5069"/>
                                    </p:animMotion>
                                  </p:childTnLst>
                                </p:cTn>
                              </p:par>
                              <p:par>
                                <p:cTn id="10" presetID="9" presetClass="entr" presetSubtype="0" fill="hold" grpId="0" nodeType="withEffect">
                                  <p:stCondLst>
                                    <p:cond delay="0"/>
                                  </p:stCondLst>
                                  <p:childTnLst>
                                    <p:set>
                                      <p:cBhvr>
                                        <p:cTn id="11" dur="1" fill="hold">
                                          <p:stCondLst>
                                            <p:cond delay="0"/>
                                          </p:stCondLst>
                                        </p:cTn>
                                        <p:tgtEl>
                                          <p:spTgt spid="91"/>
                                        </p:tgtEl>
                                        <p:attrNameLst>
                                          <p:attrName>style.visibility</p:attrName>
                                        </p:attrNameLst>
                                      </p:cBhvr>
                                      <p:to>
                                        <p:strVal val="visible"/>
                                      </p:to>
                                    </p:set>
                                    <p:animEffect transition="in" filter="dissolve">
                                      <p:cBhvr>
                                        <p:cTn id="12" dur="500"/>
                                        <p:tgtEl>
                                          <p:spTgt spid="91"/>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06"/>
                                        </p:tgtEl>
                                        <p:attrNameLst>
                                          <p:attrName>style.visibility</p:attrName>
                                        </p:attrNameLst>
                                      </p:cBhvr>
                                      <p:to>
                                        <p:strVal val="visible"/>
                                      </p:to>
                                    </p:set>
                                    <p:animEffect transition="in" filter="dissolve">
                                      <p:cBhvr>
                                        <p:cTn id="17" dur="500"/>
                                        <p:tgtEl>
                                          <p:spTgt spid="106"/>
                                        </p:tgtEl>
                                      </p:cBhvr>
                                    </p:animEffect>
                                  </p:childTnLst>
                                </p:cTn>
                              </p:par>
                              <p:par>
                                <p:cTn id="18" presetID="9" presetClass="entr" presetSubtype="0" fill="hold" grpId="0" nodeType="withEffect">
                                  <p:stCondLst>
                                    <p:cond delay="0"/>
                                  </p:stCondLst>
                                  <p:childTnLst>
                                    <p:set>
                                      <p:cBhvr>
                                        <p:cTn id="19" dur="1" fill="hold">
                                          <p:stCondLst>
                                            <p:cond delay="0"/>
                                          </p:stCondLst>
                                        </p:cTn>
                                        <p:tgtEl>
                                          <p:spTgt spid="94"/>
                                        </p:tgtEl>
                                        <p:attrNameLst>
                                          <p:attrName>style.visibility</p:attrName>
                                        </p:attrNameLst>
                                      </p:cBhvr>
                                      <p:to>
                                        <p:strVal val="visible"/>
                                      </p:to>
                                    </p:set>
                                    <p:animEffect transition="in" filter="dissolve">
                                      <p:cBhvr>
                                        <p:cTn id="20" dur="500"/>
                                        <p:tgtEl>
                                          <p:spTgt spid="94"/>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xit" presetSubtype="0" fill="hold" nodeType="clickEffect">
                                  <p:stCondLst>
                                    <p:cond delay="0"/>
                                  </p:stCondLst>
                                  <p:childTnLst>
                                    <p:animEffect transition="out" filter="dissolve">
                                      <p:cBhvr>
                                        <p:cTn id="24" dur="500"/>
                                        <p:tgtEl>
                                          <p:spTgt spid="106"/>
                                        </p:tgtEl>
                                      </p:cBhvr>
                                    </p:animEffect>
                                    <p:set>
                                      <p:cBhvr>
                                        <p:cTn id="25" dur="1" fill="hold">
                                          <p:stCondLst>
                                            <p:cond delay="499"/>
                                          </p:stCondLst>
                                        </p:cTn>
                                        <p:tgtEl>
                                          <p:spTgt spid="106"/>
                                        </p:tgtEl>
                                        <p:attrNameLst>
                                          <p:attrName>style.visibility</p:attrName>
                                        </p:attrNameLst>
                                      </p:cBhvr>
                                      <p:to>
                                        <p:strVal val="hidden"/>
                                      </p:to>
                                    </p:set>
                                  </p:childTnLst>
                                </p:cTn>
                              </p:par>
                              <p:par>
                                <p:cTn id="26" presetID="9" presetClass="exit" presetSubtype="0" fill="hold" nodeType="withEffect">
                                  <p:stCondLst>
                                    <p:cond delay="0"/>
                                  </p:stCondLst>
                                  <p:childTnLst>
                                    <p:animEffect transition="out" filter="dissolve">
                                      <p:cBhvr>
                                        <p:cTn id="27" dur="500"/>
                                        <p:tgtEl>
                                          <p:spTgt spid="88"/>
                                        </p:tgtEl>
                                      </p:cBhvr>
                                    </p:animEffect>
                                    <p:set>
                                      <p:cBhvr>
                                        <p:cTn id="28" dur="1" fill="hold">
                                          <p:stCondLst>
                                            <p:cond delay="499"/>
                                          </p:stCondLst>
                                        </p:cTn>
                                        <p:tgtEl>
                                          <p:spTgt spid="88"/>
                                        </p:tgtEl>
                                        <p:attrNameLst>
                                          <p:attrName>style.visibility</p:attrName>
                                        </p:attrNameLst>
                                      </p:cBhvr>
                                      <p:to>
                                        <p:strVal val="hidden"/>
                                      </p:to>
                                    </p:set>
                                  </p:childTnLst>
                                </p:cTn>
                              </p:par>
                            </p:childTnLst>
                          </p:cTn>
                        </p:par>
                        <p:par>
                          <p:cTn id="29" fill="hold">
                            <p:stCondLst>
                              <p:cond delay="500"/>
                            </p:stCondLst>
                            <p:childTnLst>
                              <p:par>
                                <p:cTn id="30" presetID="9" presetClass="entr" presetSubtype="0" fill="hold" nodeType="after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dissolve">
                                      <p:cBhvr>
                                        <p:cTn id="32" dur="500"/>
                                        <p:tgtEl>
                                          <p:spTgt spid="5"/>
                                        </p:tgtEl>
                                      </p:cBhvr>
                                    </p:animEffect>
                                  </p:childTnLst>
                                </p:cTn>
                              </p:par>
                              <p:par>
                                <p:cTn id="33" presetID="9" presetClass="entr" presetSubtype="0" fill="hold" grpId="0" nodeType="withEffect">
                                  <p:stCondLst>
                                    <p:cond delay="0"/>
                                  </p:stCondLst>
                                  <p:childTnLst>
                                    <p:set>
                                      <p:cBhvr>
                                        <p:cTn id="34" dur="1" fill="hold">
                                          <p:stCondLst>
                                            <p:cond delay="0"/>
                                          </p:stCondLst>
                                        </p:cTn>
                                        <p:tgtEl>
                                          <p:spTgt spid="95"/>
                                        </p:tgtEl>
                                        <p:attrNameLst>
                                          <p:attrName>style.visibility</p:attrName>
                                        </p:attrNameLst>
                                      </p:cBhvr>
                                      <p:to>
                                        <p:strVal val="visible"/>
                                      </p:to>
                                    </p:set>
                                    <p:animEffect transition="in" filter="dissolve">
                                      <p:cBhvr>
                                        <p:cTn id="35" dur="500"/>
                                        <p:tgtEl>
                                          <p:spTgt spid="95"/>
                                        </p:tgtEl>
                                      </p:cBhvr>
                                    </p:animEffect>
                                  </p:childTnLst>
                                </p:cTn>
                              </p:par>
                            </p:childTnLst>
                          </p:cTn>
                        </p:par>
                      </p:childTnLst>
                    </p:cTn>
                  </p:par>
                  <p:par>
                    <p:cTn id="36" fill="hold">
                      <p:stCondLst>
                        <p:cond delay="indefinite"/>
                      </p:stCondLst>
                      <p:childTnLst>
                        <p:par>
                          <p:cTn id="37" fill="hold">
                            <p:stCondLst>
                              <p:cond delay="0"/>
                            </p:stCondLst>
                            <p:childTnLst>
                              <p:par>
                                <p:cTn id="38" presetID="0" presetClass="path" presetSubtype="0" accel="50000" decel="50000" fill="hold" nodeType="clickEffect">
                                  <p:stCondLst>
                                    <p:cond delay="0"/>
                                  </p:stCondLst>
                                  <p:childTnLst>
                                    <p:animMotion origin="layout" path="M -6.25E-7 -4.81481E-6 L 0.00052 0.09306 " pathEditMode="relative" rAng="0" ptsTypes="AA">
                                      <p:cBhvr>
                                        <p:cTn id="39" dur="2000" fill="hold"/>
                                        <p:tgtEl>
                                          <p:spTgt spid="5"/>
                                        </p:tgtEl>
                                        <p:attrNameLst>
                                          <p:attrName>ppt_x</p:attrName>
                                          <p:attrName>ppt_y</p:attrName>
                                        </p:attrNameLst>
                                      </p:cBhvr>
                                      <p:rCtr x="26" y="4653"/>
                                    </p:animMotion>
                                  </p:childTnLst>
                                </p:cTn>
                              </p:par>
                              <p:par>
                                <p:cTn id="40" presetID="9" presetClass="entr" presetSubtype="0" fill="hold" grpId="0" nodeType="withEffect">
                                  <p:stCondLst>
                                    <p:cond delay="0"/>
                                  </p:stCondLst>
                                  <p:childTnLst>
                                    <p:set>
                                      <p:cBhvr>
                                        <p:cTn id="41" dur="1" fill="hold">
                                          <p:stCondLst>
                                            <p:cond delay="0"/>
                                          </p:stCondLst>
                                        </p:cTn>
                                        <p:tgtEl>
                                          <p:spTgt spid="97"/>
                                        </p:tgtEl>
                                        <p:attrNameLst>
                                          <p:attrName>style.visibility</p:attrName>
                                        </p:attrNameLst>
                                      </p:cBhvr>
                                      <p:to>
                                        <p:strVal val="visible"/>
                                      </p:to>
                                    </p:set>
                                    <p:animEffect transition="in" filter="dissolve">
                                      <p:cBhvr>
                                        <p:cTn id="42" dur="500"/>
                                        <p:tgtEl>
                                          <p:spTgt spid="97"/>
                                        </p:tgtEl>
                                      </p:cBhvr>
                                    </p:animEffect>
                                  </p:childTnLst>
                                </p:cTn>
                              </p:par>
                            </p:childTnLst>
                          </p:cTn>
                        </p:par>
                      </p:childTnLst>
                    </p:cTn>
                  </p:par>
                  <p:par>
                    <p:cTn id="43" fill="hold">
                      <p:stCondLst>
                        <p:cond delay="indefinite"/>
                      </p:stCondLst>
                      <p:childTnLst>
                        <p:par>
                          <p:cTn id="44" fill="hold">
                            <p:stCondLst>
                              <p:cond delay="0"/>
                            </p:stCondLst>
                            <p:childTnLst>
                              <p:par>
                                <p:cTn id="45" presetID="0" presetClass="path" presetSubtype="0" accel="50000" decel="50000" fill="hold" nodeType="clickEffect">
                                  <p:stCondLst>
                                    <p:cond delay="0"/>
                                  </p:stCondLst>
                                  <p:childTnLst>
                                    <p:animMotion origin="layout" path="M -6.25E-7 0.09098 L -0.00221 0.25996 L -0.11419 0.32385 L -0.4332 0.31806 L -0.55885 0.275 L -0.55885 0.275 " pathEditMode="relative" ptsTypes="AAAAAA">
                                      <p:cBhvr>
                                        <p:cTn id="46" dur="2000" fill="hold"/>
                                        <p:tgtEl>
                                          <p:spTgt spid="5"/>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 grpId="0"/>
      <p:bldP spid="94" grpId="0"/>
      <p:bldP spid="95" grpId="0"/>
      <p:bldP spid="9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 name="Freeform 103">
            <a:extLst>
              <a:ext uri="{FF2B5EF4-FFF2-40B4-BE49-F238E27FC236}">
                <a16:creationId xmlns:a16="http://schemas.microsoft.com/office/drawing/2014/main" id="{DEF6D5D3-E4DA-4B46-BBC5-93311E115D92}"/>
              </a:ext>
            </a:extLst>
          </p:cNvPr>
          <p:cNvSpPr>
            <a:spLocks/>
          </p:cNvSpPr>
          <p:nvPr/>
        </p:nvSpPr>
        <p:spPr bwMode="auto">
          <a:xfrm>
            <a:off x="10295012" y="2167472"/>
            <a:ext cx="890436" cy="2912558"/>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solidFill>
              <a:srgbClr val="DDDDDD"/>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3" name="Freeform 70">
            <a:extLst>
              <a:ext uri="{FF2B5EF4-FFF2-40B4-BE49-F238E27FC236}">
                <a16:creationId xmlns:a16="http://schemas.microsoft.com/office/drawing/2014/main" id="{4A88383C-61F9-1949-9D88-EC83EDA3F2B6}"/>
              </a:ext>
            </a:extLst>
          </p:cNvPr>
          <p:cNvSpPr>
            <a:spLocks/>
          </p:cNvSpPr>
          <p:nvPr/>
        </p:nvSpPr>
        <p:spPr bwMode="auto">
          <a:xfrm>
            <a:off x="854349" y="2256655"/>
            <a:ext cx="846644" cy="2922199"/>
          </a:xfrm>
          <a:custGeom>
            <a:avLst/>
            <a:gdLst>
              <a:gd name="T0" fmla="*/ 0 w 348"/>
              <a:gd name="T1" fmla="*/ 2147483647 h 1312"/>
              <a:gd name="T2" fmla="*/ 2147483647 w 348"/>
              <a:gd name="T3" fmla="*/ 0 h 1312"/>
              <a:gd name="T4" fmla="*/ 2147483647 w 348"/>
              <a:gd name="T5" fmla="*/ 2147483647 h 1312"/>
              <a:gd name="T6" fmla="*/ 2147483647 w 348"/>
              <a:gd name="T7" fmla="*/ 2147483647 h 1312"/>
              <a:gd name="T8" fmla="*/ 0 w 348"/>
              <a:gd name="T9" fmla="*/ 2147483647 h 13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8" h="1312">
                <a:moveTo>
                  <a:pt x="0" y="1306"/>
                </a:moveTo>
                <a:lnTo>
                  <a:pt x="348" y="0"/>
                </a:lnTo>
                <a:lnTo>
                  <a:pt x="342" y="1258"/>
                </a:lnTo>
                <a:lnTo>
                  <a:pt x="180" y="1312"/>
                </a:lnTo>
                <a:lnTo>
                  <a:pt x="0" y="1306"/>
                </a:lnTo>
                <a:close/>
              </a:path>
            </a:pathLst>
          </a:custGeom>
          <a:gradFill rotWithShape="1">
            <a:gsLst>
              <a:gs pos="0">
                <a:srgbClr val="FFFFFF"/>
              </a:gs>
              <a:gs pos="100000">
                <a:srgbClr val="B2B2B2"/>
              </a:gs>
            </a:gsLst>
            <a:lin ang="0" scaled="1"/>
          </a:gradFill>
          <a:ln w="9525">
            <a:solidFill>
              <a:srgbClr val="DDDDDD"/>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222" name="Group 185">
            <a:extLst>
              <a:ext uri="{FF2B5EF4-FFF2-40B4-BE49-F238E27FC236}">
                <a16:creationId xmlns:a16="http://schemas.microsoft.com/office/drawing/2014/main" id="{7750F2FB-96FA-374A-AF56-26502EF04672}"/>
              </a:ext>
            </a:extLst>
          </p:cNvPr>
          <p:cNvGrpSpPr>
            <a:grpSpLocks/>
          </p:cNvGrpSpPr>
          <p:nvPr/>
        </p:nvGrpSpPr>
        <p:grpSpPr bwMode="auto">
          <a:xfrm>
            <a:off x="670999" y="4350734"/>
            <a:ext cx="549832" cy="1070215"/>
            <a:chOff x="4140" y="429"/>
            <a:chExt cx="1425" cy="2396"/>
          </a:xfrm>
        </p:grpSpPr>
        <p:sp>
          <p:nvSpPr>
            <p:cNvPr id="223" name="Freeform 186">
              <a:extLst>
                <a:ext uri="{FF2B5EF4-FFF2-40B4-BE49-F238E27FC236}">
                  <a16:creationId xmlns:a16="http://schemas.microsoft.com/office/drawing/2014/main" id="{E441858B-A566-F746-B48C-912CA3020CC8}"/>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24" name="Rectangle 187">
              <a:extLst>
                <a:ext uri="{FF2B5EF4-FFF2-40B4-BE49-F238E27FC236}">
                  <a16:creationId xmlns:a16="http://schemas.microsoft.com/office/drawing/2014/main" id="{20003129-35A4-1E46-8065-8AF4C6403D57}"/>
                </a:ext>
              </a:extLst>
            </p:cNvPr>
            <p:cNvSpPr>
              <a:spLocks noChangeArrowheads="1"/>
            </p:cNvSpPr>
            <p:nvPr/>
          </p:nvSpPr>
          <p:spPr bwMode="auto">
            <a:xfrm>
              <a:off x="4203" y="429"/>
              <a:ext cx="1053" cy="2283"/>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25" name="Freeform 188">
              <a:extLst>
                <a:ext uri="{FF2B5EF4-FFF2-40B4-BE49-F238E27FC236}">
                  <a16:creationId xmlns:a16="http://schemas.microsoft.com/office/drawing/2014/main" id="{6F94D7AE-C4D1-AF4A-B970-086B7D245ACF}"/>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26" name="Freeform 189">
              <a:extLst>
                <a:ext uri="{FF2B5EF4-FFF2-40B4-BE49-F238E27FC236}">
                  <a16:creationId xmlns:a16="http://schemas.microsoft.com/office/drawing/2014/main" id="{EAFC03EF-54DF-8942-9852-25739DA158B4}"/>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27" name="Rectangle 190">
              <a:extLst>
                <a:ext uri="{FF2B5EF4-FFF2-40B4-BE49-F238E27FC236}">
                  <a16:creationId xmlns:a16="http://schemas.microsoft.com/office/drawing/2014/main" id="{2241F7B6-5281-A74E-8DCB-3BE3777E9369}"/>
                </a:ext>
              </a:extLst>
            </p:cNvPr>
            <p:cNvSpPr>
              <a:spLocks noChangeArrowheads="1"/>
            </p:cNvSpPr>
            <p:nvPr/>
          </p:nvSpPr>
          <p:spPr bwMode="auto">
            <a:xfrm>
              <a:off x="4209" y="693"/>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228" name="Group 191">
              <a:extLst>
                <a:ext uri="{FF2B5EF4-FFF2-40B4-BE49-F238E27FC236}">
                  <a16:creationId xmlns:a16="http://schemas.microsoft.com/office/drawing/2014/main" id="{02DB0249-6EBB-FF4B-B17F-CC771B255D00}"/>
                </a:ext>
              </a:extLst>
            </p:cNvPr>
            <p:cNvGrpSpPr>
              <a:grpSpLocks/>
            </p:cNvGrpSpPr>
            <p:nvPr/>
          </p:nvGrpSpPr>
          <p:grpSpPr bwMode="auto">
            <a:xfrm>
              <a:off x="4749" y="668"/>
              <a:ext cx="581" cy="145"/>
              <a:chOff x="614" y="2568"/>
              <a:chExt cx="725" cy="139"/>
            </a:xfrm>
          </p:grpSpPr>
          <p:sp>
            <p:nvSpPr>
              <p:cNvPr id="253" name="AutoShape 192">
                <a:extLst>
                  <a:ext uri="{FF2B5EF4-FFF2-40B4-BE49-F238E27FC236}">
                    <a16:creationId xmlns:a16="http://schemas.microsoft.com/office/drawing/2014/main" id="{BE55370E-BC12-1B42-9E3C-C950033EEF89}"/>
                  </a:ext>
                </a:extLst>
              </p:cNvPr>
              <p:cNvSpPr>
                <a:spLocks noChangeArrowheads="1"/>
              </p:cNvSpPr>
              <p:nvPr/>
            </p:nvSpPr>
            <p:spPr bwMode="auto">
              <a:xfrm>
                <a:off x="617" y="2567"/>
                <a:ext cx="724"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54" name="AutoShape 193">
                <a:extLst>
                  <a:ext uri="{FF2B5EF4-FFF2-40B4-BE49-F238E27FC236}">
                    <a16:creationId xmlns:a16="http://schemas.microsoft.com/office/drawing/2014/main" id="{1BBB99EB-2FFB-5942-9855-24BEE1C68997}"/>
                  </a:ext>
                </a:extLst>
              </p:cNvPr>
              <p:cNvSpPr>
                <a:spLocks noChangeArrowheads="1"/>
              </p:cNvSpPr>
              <p:nvPr/>
            </p:nvSpPr>
            <p:spPr bwMode="auto">
              <a:xfrm>
                <a:off x="633" y="2582"/>
                <a:ext cx="692"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229" name="Rectangle 194">
              <a:extLst>
                <a:ext uri="{FF2B5EF4-FFF2-40B4-BE49-F238E27FC236}">
                  <a16:creationId xmlns:a16="http://schemas.microsoft.com/office/drawing/2014/main" id="{9C5699FC-2B4E-BD46-B9CC-CA578E2EA709}"/>
                </a:ext>
              </a:extLst>
            </p:cNvPr>
            <p:cNvSpPr>
              <a:spLocks noChangeArrowheads="1"/>
            </p:cNvSpPr>
            <p:nvPr/>
          </p:nvSpPr>
          <p:spPr bwMode="auto">
            <a:xfrm>
              <a:off x="4222" y="1017"/>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230" name="Group 195">
              <a:extLst>
                <a:ext uri="{FF2B5EF4-FFF2-40B4-BE49-F238E27FC236}">
                  <a16:creationId xmlns:a16="http://schemas.microsoft.com/office/drawing/2014/main" id="{676615F3-A30A-9740-8080-AFEE6BAAEF98}"/>
                </a:ext>
              </a:extLst>
            </p:cNvPr>
            <p:cNvGrpSpPr>
              <a:grpSpLocks/>
            </p:cNvGrpSpPr>
            <p:nvPr/>
          </p:nvGrpSpPr>
          <p:grpSpPr bwMode="auto">
            <a:xfrm>
              <a:off x="4747" y="994"/>
              <a:ext cx="581" cy="134"/>
              <a:chOff x="614" y="2568"/>
              <a:chExt cx="725" cy="139"/>
            </a:xfrm>
          </p:grpSpPr>
          <p:sp>
            <p:nvSpPr>
              <p:cNvPr id="251" name="AutoShape 196">
                <a:extLst>
                  <a:ext uri="{FF2B5EF4-FFF2-40B4-BE49-F238E27FC236}">
                    <a16:creationId xmlns:a16="http://schemas.microsoft.com/office/drawing/2014/main" id="{D31569A0-2CDC-3B4B-B7FA-067BF2CB0D93}"/>
                  </a:ext>
                </a:extLst>
              </p:cNvPr>
              <p:cNvSpPr>
                <a:spLocks noChangeArrowheads="1"/>
              </p:cNvSpPr>
              <p:nvPr/>
            </p:nvSpPr>
            <p:spPr bwMode="auto">
              <a:xfrm>
                <a:off x="612" y="2570"/>
                <a:ext cx="724" cy="162"/>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52" name="AutoShape 197">
                <a:extLst>
                  <a:ext uri="{FF2B5EF4-FFF2-40B4-BE49-F238E27FC236}">
                    <a16:creationId xmlns:a16="http://schemas.microsoft.com/office/drawing/2014/main" id="{5D70C5E6-3DFB-1D45-8469-DE5EA96E13E8}"/>
                  </a:ext>
                </a:extLst>
              </p:cNvPr>
              <p:cNvSpPr>
                <a:spLocks noChangeArrowheads="1"/>
              </p:cNvSpPr>
              <p:nvPr/>
            </p:nvSpPr>
            <p:spPr bwMode="auto">
              <a:xfrm>
                <a:off x="628" y="2586"/>
                <a:ext cx="692"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231" name="Rectangle 198">
              <a:extLst>
                <a:ext uri="{FF2B5EF4-FFF2-40B4-BE49-F238E27FC236}">
                  <a16:creationId xmlns:a16="http://schemas.microsoft.com/office/drawing/2014/main" id="{AE060187-10EA-1F4E-AEDE-8C6C0E8358D2}"/>
                </a:ext>
              </a:extLst>
            </p:cNvPr>
            <p:cNvSpPr>
              <a:spLocks noChangeArrowheads="1"/>
            </p:cNvSpPr>
            <p:nvPr/>
          </p:nvSpPr>
          <p:spPr bwMode="auto">
            <a:xfrm>
              <a:off x="4216" y="1357"/>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32" name="Rectangle 199">
              <a:extLst>
                <a:ext uri="{FF2B5EF4-FFF2-40B4-BE49-F238E27FC236}">
                  <a16:creationId xmlns:a16="http://schemas.microsoft.com/office/drawing/2014/main" id="{32874526-51C0-C749-BDC8-3D9F62AFE767}"/>
                </a:ext>
              </a:extLst>
            </p:cNvPr>
            <p:cNvSpPr>
              <a:spLocks noChangeArrowheads="1"/>
            </p:cNvSpPr>
            <p:nvPr/>
          </p:nvSpPr>
          <p:spPr bwMode="auto">
            <a:xfrm>
              <a:off x="4228" y="1654"/>
              <a:ext cx="593"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233" name="Group 200">
              <a:extLst>
                <a:ext uri="{FF2B5EF4-FFF2-40B4-BE49-F238E27FC236}">
                  <a16:creationId xmlns:a16="http://schemas.microsoft.com/office/drawing/2014/main" id="{09E63F43-E74F-6045-A673-3756891EE94D}"/>
                </a:ext>
              </a:extLst>
            </p:cNvPr>
            <p:cNvGrpSpPr>
              <a:grpSpLocks/>
            </p:cNvGrpSpPr>
            <p:nvPr/>
          </p:nvGrpSpPr>
          <p:grpSpPr bwMode="auto">
            <a:xfrm>
              <a:off x="4735" y="1627"/>
              <a:ext cx="582" cy="151"/>
              <a:chOff x="614" y="2568"/>
              <a:chExt cx="725" cy="139"/>
            </a:xfrm>
          </p:grpSpPr>
          <p:sp>
            <p:nvSpPr>
              <p:cNvPr id="249" name="AutoShape 201">
                <a:extLst>
                  <a:ext uri="{FF2B5EF4-FFF2-40B4-BE49-F238E27FC236}">
                    <a16:creationId xmlns:a16="http://schemas.microsoft.com/office/drawing/2014/main" id="{0296B9BB-82CD-2A45-8E56-F4ACF6FCC028}"/>
                  </a:ext>
                </a:extLst>
              </p:cNvPr>
              <p:cNvSpPr>
                <a:spLocks noChangeArrowheads="1"/>
              </p:cNvSpPr>
              <p:nvPr/>
            </p:nvSpPr>
            <p:spPr bwMode="auto">
              <a:xfrm>
                <a:off x="611" y="2568"/>
                <a:ext cx="730" cy="139"/>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50" name="AutoShape 202">
                <a:extLst>
                  <a:ext uri="{FF2B5EF4-FFF2-40B4-BE49-F238E27FC236}">
                    <a16:creationId xmlns:a16="http://schemas.microsoft.com/office/drawing/2014/main" id="{DD3C3254-A817-B449-AE0F-31BEFF504A04}"/>
                  </a:ext>
                </a:extLst>
              </p:cNvPr>
              <p:cNvSpPr>
                <a:spLocks noChangeArrowheads="1"/>
              </p:cNvSpPr>
              <p:nvPr/>
            </p:nvSpPr>
            <p:spPr bwMode="auto">
              <a:xfrm>
                <a:off x="627" y="2583"/>
                <a:ext cx="699"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234" name="Freeform 203">
              <a:extLst>
                <a:ext uri="{FF2B5EF4-FFF2-40B4-BE49-F238E27FC236}">
                  <a16:creationId xmlns:a16="http://schemas.microsoft.com/office/drawing/2014/main" id="{D05041BE-8046-EB49-A23A-C7FEB06D9108}"/>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235" name="Group 204">
              <a:extLst>
                <a:ext uri="{FF2B5EF4-FFF2-40B4-BE49-F238E27FC236}">
                  <a16:creationId xmlns:a16="http://schemas.microsoft.com/office/drawing/2014/main" id="{BD1D997D-F690-4C4E-9473-F0433427C91F}"/>
                </a:ext>
              </a:extLst>
            </p:cNvPr>
            <p:cNvGrpSpPr>
              <a:grpSpLocks/>
            </p:cNvGrpSpPr>
            <p:nvPr/>
          </p:nvGrpSpPr>
          <p:grpSpPr bwMode="auto">
            <a:xfrm>
              <a:off x="4739" y="1327"/>
              <a:ext cx="582" cy="139"/>
              <a:chOff x="614" y="2568"/>
              <a:chExt cx="725" cy="139"/>
            </a:xfrm>
          </p:grpSpPr>
          <p:sp>
            <p:nvSpPr>
              <p:cNvPr id="247" name="AutoShape 205">
                <a:extLst>
                  <a:ext uri="{FF2B5EF4-FFF2-40B4-BE49-F238E27FC236}">
                    <a16:creationId xmlns:a16="http://schemas.microsoft.com/office/drawing/2014/main" id="{631C3D3D-8F7D-6F44-AD56-665A5242B691}"/>
                  </a:ext>
                </a:extLst>
              </p:cNvPr>
              <p:cNvSpPr>
                <a:spLocks noChangeArrowheads="1"/>
              </p:cNvSpPr>
              <p:nvPr/>
            </p:nvSpPr>
            <p:spPr bwMode="auto">
              <a:xfrm>
                <a:off x="614" y="2566"/>
                <a:ext cx="723"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48" name="AutoShape 206">
                <a:extLst>
                  <a:ext uri="{FF2B5EF4-FFF2-40B4-BE49-F238E27FC236}">
                    <a16:creationId xmlns:a16="http://schemas.microsoft.com/office/drawing/2014/main" id="{E7F87D38-4528-0F45-9911-B79B599D25FC}"/>
                  </a:ext>
                </a:extLst>
              </p:cNvPr>
              <p:cNvSpPr>
                <a:spLocks noChangeArrowheads="1"/>
              </p:cNvSpPr>
              <p:nvPr/>
            </p:nvSpPr>
            <p:spPr bwMode="auto">
              <a:xfrm>
                <a:off x="630" y="2582"/>
                <a:ext cx="691"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236" name="Rectangle 207">
              <a:extLst>
                <a:ext uri="{FF2B5EF4-FFF2-40B4-BE49-F238E27FC236}">
                  <a16:creationId xmlns:a16="http://schemas.microsoft.com/office/drawing/2014/main" id="{60B24777-81BE-BC42-AC64-6F2229E5FBE5}"/>
                </a:ext>
              </a:extLst>
            </p:cNvPr>
            <p:cNvSpPr>
              <a:spLocks noChangeArrowheads="1"/>
            </p:cNvSpPr>
            <p:nvPr/>
          </p:nvSpPr>
          <p:spPr bwMode="auto">
            <a:xfrm>
              <a:off x="5250" y="429"/>
              <a:ext cx="69" cy="2288"/>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37" name="Freeform 208">
              <a:extLst>
                <a:ext uri="{FF2B5EF4-FFF2-40B4-BE49-F238E27FC236}">
                  <a16:creationId xmlns:a16="http://schemas.microsoft.com/office/drawing/2014/main" id="{FD1049FD-ADAC-FC43-A186-6585ECAE4331}"/>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38" name="Freeform 209">
              <a:extLst>
                <a:ext uri="{FF2B5EF4-FFF2-40B4-BE49-F238E27FC236}">
                  <a16:creationId xmlns:a16="http://schemas.microsoft.com/office/drawing/2014/main" id="{A25585BA-2AFC-3047-B9D5-7CC45D5DBC49}"/>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39" name="Oval 210">
              <a:extLst>
                <a:ext uri="{FF2B5EF4-FFF2-40B4-BE49-F238E27FC236}">
                  <a16:creationId xmlns:a16="http://schemas.microsoft.com/office/drawing/2014/main" id="{78C608B6-FCB9-3F43-A504-D33DD77827D8}"/>
                </a:ext>
              </a:extLst>
            </p:cNvPr>
            <p:cNvSpPr>
              <a:spLocks noChangeArrowheads="1"/>
            </p:cNvSpPr>
            <p:nvPr/>
          </p:nvSpPr>
          <p:spPr bwMode="auto">
            <a:xfrm>
              <a:off x="5515" y="2609"/>
              <a:ext cx="50" cy="97"/>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40" name="Freeform 211">
              <a:extLst>
                <a:ext uri="{FF2B5EF4-FFF2-40B4-BE49-F238E27FC236}">
                  <a16:creationId xmlns:a16="http://schemas.microsoft.com/office/drawing/2014/main" id="{F24BE4FA-86B6-5840-8B76-BF70EF006A8E}"/>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41" name="AutoShape 212">
              <a:extLst>
                <a:ext uri="{FF2B5EF4-FFF2-40B4-BE49-F238E27FC236}">
                  <a16:creationId xmlns:a16="http://schemas.microsoft.com/office/drawing/2014/main" id="{22C6B4EC-00C6-BA43-95E2-370E8204DDA3}"/>
                </a:ext>
              </a:extLst>
            </p:cNvPr>
            <p:cNvSpPr>
              <a:spLocks noChangeArrowheads="1"/>
            </p:cNvSpPr>
            <p:nvPr/>
          </p:nvSpPr>
          <p:spPr bwMode="auto">
            <a:xfrm>
              <a:off x="4140" y="2679"/>
              <a:ext cx="1198"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42" name="AutoShape 213">
              <a:extLst>
                <a:ext uri="{FF2B5EF4-FFF2-40B4-BE49-F238E27FC236}">
                  <a16:creationId xmlns:a16="http://schemas.microsoft.com/office/drawing/2014/main" id="{7B9210ED-D802-C84E-8A67-93399801B5DA}"/>
                </a:ext>
              </a:extLst>
            </p:cNvPr>
            <p:cNvSpPr>
              <a:spLocks noChangeArrowheads="1"/>
            </p:cNvSpPr>
            <p:nvPr/>
          </p:nvSpPr>
          <p:spPr bwMode="auto">
            <a:xfrm>
              <a:off x="4203" y="2712"/>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43" name="Oval 214">
              <a:extLst>
                <a:ext uri="{FF2B5EF4-FFF2-40B4-BE49-F238E27FC236}">
                  <a16:creationId xmlns:a16="http://schemas.microsoft.com/office/drawing/2014/main" id="{552E77C8-7BFE-BF4D-8F0B-DF6513BE6459}"/>
                </a:ext>
              </a:extLst>
            </p:cNvPr>
            <p:cNvSpPr>
              <a:spLocks noChangeArrowheads="1"/>
            </p:cNvSpPr>
            <p:nvPr/>
          </p:nvSpPr>
          <p:spPr bwMode="auto">
            <a:xfrm>
              <a:off x="4310" y="2382"/>
              <a:ext cx="158" cy="146"/>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44" name="Oval 215">
              <a:extLst>
                <a:ext uri="{FF2B5EF4-FFF2-40B4-BE49-F238E27FC236}">
                  <a16:creationId xmlns:a16="http://schemas.microsoft.com/office/drawing/2014/main" id="{86496A7E-E21F-444D-B883-E410329FF242}"/>
                </a:ext>
              </a:extLst>
            </p:cNvPr>
            <p:cNvSpPr>
              <a:spLocks noChangeArrowheads="1"/>
            </p:cNvSpPr>
            <p:nvPr/>
          </p:nvSpPr>
          <p:spPr bwMode="auto">
            <a:xfrm>
              <a:off x="4487" y="2382"/>
              <a:ext cx="158" cy="146"/>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FF0000"/>
                </a:solidFill>
                <a:effectLst/>
                <a:uLnTx/>
                <a:uFillTx/>
                <a:latin typeface="Arial" charset="0"/>
                <a:ea typeface="ＭＳ Ｐゴシック" charset="0"/>
                <a:cs typeface="Arial" charset="0"/>
              </a:endParaRPr>
            </a:p>
          </p:txBody>
        </p:sp>
        <p:sp>
          <p:nvSpPr>
            <p:cNvPr id="245" name="Oval 216">
              <a:extLst>
                <a:ext uri="{FF2B5EF4-FFF2-40B4-BE49-F238E27FC236}">
                  <a16:creationId xmlns:a16="http://schemas.microsoft.com/office/drawing/2014/main" id="{555E4B0D-EDB2-D04B-B9AD-93FA92DDAA2D}"/>
                </a:ext>
              </a:extLst>
            </p:cNvPr>
            <p:cNvSpPr>
              <a:spLocks noChangeArrowheads="1"/>
            </p:cNvSpPr>
            <p:nvPr/>
          </p:nvSpPr>
          <p:spPr bwMode="auto">
            <a:xfrm>
              <a:off x="4663" y="2382"/>
              <a:ext cx="158" cy="140"/>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46" name="Rectangle 217">
              <a:extLst>
                <a:ext uri="{FF2B5EF4-FFF2-40B4-BE49-F238E27FC236}">
                  <a16:creationId xmlns:a16="http://schemas.microsoft.com/office/drawing/2014/main" id="{DE659B39-E72A-634A-A2AC-C4BA4DC9C619}"/>
                </a:ext>
              </a:extLst>
            </p:cNvPr>
            <p:cNvSpPr>
              <a:spLocks noChangeArrowheads="1"/>
            </p:cNvSpPr>
            <p:nvPr/>
          </p:nvSpPr>
          <p:spPr bwMode="auto">
            <a:xfrm>
              <a:off x="5061" y="1837"/>
              <a:ext cx="88" cy="761"/>
            </a:xfrm>
            <a:prstGeom prst="rect">
              <a:avLst/>
            </a:prstGeom>
            <a:solidFill>
              <a:srgbClr val="29292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8" name="TextBox 7">
            <a:extLst>
              <a:ext uri="{FF2B5EF4-FFF2-40B4-BE49-F238E27FC236}">
                <a16:creationId xmlns:a16="http://schemas.microsoft.com/office/drawing/2014/main" id="{95E1F04B-A3B3-534D-A252-A4AC29C657DE}"/>
              </a:ext>
            </a:extLst>
          </p:cNvPr>
          <p:cNvSpPr txBox="1"/>
          <p:nvPr/>
        </p:nvSpPr>
        <p:spPr>
          <a:xfrm>
            <a:off x="8481037" y="1538123"/>
            <a:ext cx="1684948"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DNS client</a:t>
            </a:r>
          </a:p>
        </p:txBody>
      </p:sp>
      <p:sp>
        <p:nvSpPr>
          <p:cNvPr id="263" name="TextBox 262">
            <a:extLst>
              <a:ext uri="{FF2B5EF4-FFF2-40B4-BE49-F238E27FC236}">
                <a16:creationId xmlns:a16="http://schemas.microsoft.com/office/drawing/2014/main" id="{DC4B02DA-C340-9945-87C2-952E1901FB43}"/>
              </a:ext>
            </a:extLst>
          </p:cNvPr>
          <p:cNvSpPr txBox="1"/>
          <p:nvPr/>
        </p:nvSpPr>
        <p:spPr>
          <a:xfrm>
            <a:off x="1935319" y="1662731"/>
            <a:ext cx="1793889"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dirty="0">
                <a:solidFill>
                  <a:prstClr val="black"/>
                </a:solidFill>
                <a:latin typeface="Calibri"/>
              </a:rPr>
              <a:t>DNS server</a:t>
            </a:r>
            <a:endParaRPr kumimoji="0" lang="en-US" sz="2800" b="0" i="0" u="none" strike="noStrike" kern="1200" cap="none" spc="0" normalizeH="0" baseline="0" noProof="0" dirty="0">
              <a:ln>
                <a:noFill/>
              </a:ln>
              <a:solidFill>
                <a:prstClr val="black"/>
              </a:solidFill>
              <a:effectLst/>
              <a:uLnTx/>
              <a:uFillTx/>
              <a:latin typeface="Calibri"/>
              <a:ea typeface="+mn-ea"/>
              <a:cs typeface="+mn-cs"/>
            </a:endParaRPr>
          </a:p>
        </p:txBody>
      </p:sp>
      <p:grpSp>
        <p:nvGrpSpPr>
          <p:cNvPr id="3" name="Group 2">
            <a:extLst>
              <a:ext uri="{FF2B5EF4-FFF2-40B4-BE49-F238E27FC236}">
                <a16:creationId xmlns:a16="http://schemas.microsoft.com/office/drawing/2014/main" id="{64AFD9EC-1CA1-D34D-965E-2E8D95748C38}"/>
              </a:ext>
            </a:extLst>
          </p:cNvPr>
          <p:cNvGrpSpPr/>
          <p:nvPr/>
        </p:nvGrpSpPr>
        <p:grpSpPr>
          <a:xfrm>
            <a:off x="8510352" y="2078288"/>
            <a:ext cx="1946338" cy="2912558"/>
            <a:chOff x="8091785" y="2078288"/>
            <a:chExt cx="2364905" cy="2912558"/>
          </a:xfrm>
        </p:grpSpPr>
        <p:sp>
          <p:nvSpPr>
            <p:cNvPr id="145" name="Rectangle 23">
              <a:extLst>
                <a:ext uri="{FF2B5EF4-FFF2-40B4-BE49-F238E27FC236}">
                  <a16:creationId xmlns:a16="http://schemas.microsoft.com/office/drawing/2014/main" id="{F1314FFD-BA11-A042-BA84-1061E3729058}"/>
                </a:ext>
              </a:extLst>
            </p:cNvPr>
            <p:cNvSpPr>
              <a:spLocks noChangeArrowheads="1"/>
            </p:cNvSpPr>
            <p:nvPr/>
          </p:nvSpPr>
          <p:spPr bwMode="auto">
            <a:xfrm>
              <a:off x="8179440" y="2078288"/>
              <a:ext cx="2277250" cy="2799267"/>
            </a:xfrm>
            <a:prstGeom prst="rect">
              <a:avLst/>
            </a:prstGeom>
            <a:solidFill>
              <a:srgbClr val="000099"/>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46" name="Rectangle 24">
              <a:extLst>
                <a:ext uri="{FF2B5EF4-FFF2-40B4-BE49-F238E27FC236}">
                  <a16:creationId xmlns:a16="http://schemas.microsoft.com/office/drawing/2014/main" id="{89D8A59C-E128-B74A-B94F-06FAC9DB7326}"/>
                </a:ext>
              </a:extLst>
            </p:cNvPr>
            <p:cNvSpPr>
              <a:spLocks noChangeArrowheads="1"/>
            </p:cNvSpPr>
            <p:nvPr/>
          </p:nvSpPr>
          <p:spPr bwMode="auto">
            <a:xfrm>
              <a:off x="8091785" y="2167472"/>
              <a:ext cx="2254867" cy="2823374"/>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47" name="Line 25">
              <a:extLst>
                <a:ext uri="{FF2B5EF4-FFF2-40B4-BE49-F238E27FC236}">
                  <a16:creationId xmlns:a16="http://schemas.microsoft.com/office/drawing/2014/main" id="{B922FB1F-8B1A-1843-A740-29E910EB3E97}"/>
                </a:ext>
              </a:extLst>
            </p:cNvPr>
            <p:cNvSpPr>
              <a:spLocks noChangeShapeType="1"/>
            </p:cNvSpPr>
            <p:nvPr/>
          </p:nvSpPr>
          <p:spPr bwMode="auto">
            <a:xfrm>
              <a:off x="8108956" y="2749010"/>
              <a:ext cx="2238254" cy="4821"/>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48" name="Text Box 26">
              <a:extLst>
                <a:ext uri="{FF2B5EF4-FFF2-40B4-BE49-F238E27FC236}">
                  <a16:creationId xmlns:a16="http://schemas.microsoft.com/office/drawing/2014/main" id="{BE3B5056-5F96-5946-AEC3-17140DB163F4}"/>
                </a:ext>
              </a:extLst>
            </p:cNvPr>
            <p:cNvSpPr txBox="1">
              <a:spLocks noChangeArrowheads="1"/>
            </p:cNvSpPr>
            <p:nvPr/>
          </p:nvSpPr>
          <p:spPr bwMode="auto">
            <a:xfrm>
              <a:off x="8376445" y="2832513"/>
              <a:ext cx="1703276" cy="73744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transport</a:t>
              </a:r>
            </a:p>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(UDP)</a:t>
              </a:r>
            </a:p>
          </p:txBody>
        </p:sp>
        <p:sp>
          <p:nvSpPr>
            <p:cNvPr id="149" name="Line 27">
              <a:extLst>
                <a:ext uri="{FF2B5EF4-FFF2-40B4-BE49-F238E27FC236}">
                  <a16:creationId xmlns:a16="http://schemas.microsoft.com/office/drawing/2014/main" id="{FF1A214D-FBCE-7342-8332-F3FA9C577B4A}"/>
                </a:ext>
              </a:extLst>
            </p:cNvPr>
            <p:cNvSpPr>
              <a:spLocks noChangeShapeType="1"/>
            </p:cNvSpPr>
            <p:nvPr/>
          </p:nvSpPr>
          <p:spPr bwMode="auto">
            <a:xfrm>
              <a:off x="8108201" y="3602458"/>
              <a:ext cx="2233387"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51" name="Text Box 26">
              <a:extLst>
                <a:ext uri="{FF2B5EF4-FFF2-40B4-BE49-F238E27FC236}">
                  <a16:creationId xmlns:a16="http://schemas.microsoft.com/office/drawing/2014/main" id="{50D62C6A-4C80-854F-A4B8-723E99A5A7F0}"/>
                </a:ext>
              </a:extLst>
            </p:cNvPr>
            <p:cNvSpPr txBox="1">
              <a:spLocks noChangeArrowheads="1"/>
            </p:cNvSpPr>
            <p:nvPr/>
          </p:nvSpPr>
          <p:spPr bwMode="auto">
            <a:xfrm>
              <a:off x="8218436" y="4533100"/>
              <a:ext cx="2019294" cy="44027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physical</a:t>
              </a:r>
            </a:p>
          </p:txBody>
        </p:sp>
        <p:sp>
          <p:nvSpPr>
            <p:cNvPr id="152" name="Text Box 26">
              <a:extLst>
                <a:ext uri="{FF2B5EF4-FFF2-40B4-BE49-F238E27FC236}">
                  <a16:creationId xmlns:a16="http://schemas.microsoft.com/office/drawing/2014/main" id="{A79D3A45-C33B-7046-9088-A02FAACCA14B}"/>
                </a:ext>
              </a:extLst>
            </p:cNvPr>
            <p:cNvSpPr txBox="1">
              <a:spLocks noChangeArrowheads="1"/>
            </p:cNvSpPr>
            <p:nvPr/>
          </p:nvSpPr>
          <p:spPr bwMode="auto">
            <a:xfrm>
              <a:off x="8218436" y="4088345"/>
              <a:ext cx="2019294" cy="44027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link</a:t>
              </a:r>
            </a:p>
          </p:txBody>
        </p:sp>
        <p:sp>
          <p:nvSpPr>
            <p:cNvPr id="153" name="Text Box 26">
              <a:extLst>
                <a:ext uri="{FF2B5EF4-FFF2-40B4-BE49-F238E27FC236}">
                  <a16:creationId xmlns:a16="http://schemas.microsoft.com/office/drawing/2014/main" id="{F3520259-D4C5-3340-8000-3B8C746A7797}"/>
                </a:ext>
              </a:extLst>
            </p:cNvPr>
            <p:cNvSpPr txBox="1">
              <a:spLocks noChangeArrowheads="1"/>
            </p:cNvSpPr>
            <p:nvPr/>
          </p:nvSpPr>
          <p:spPr bwMode="auto">
            <a:xfrm>
              <a:off x="8218436" y="3646079"/>
              <a:ext cx="2019294" cy="3988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network (IP)</a:t>
              </a:r>
            </a:p>
          </p:txBody>
        </p:sp>
        <p:sp>
          <p:nvSpPr>
            <p:cNvPr id="155" name="Line 27">
              <a:extLst>
                <a:ext uri="{FF2B5EF4-FFF2-40B4-BE49-F238E27FC236}">
                  <a16:creationId xmlns:a16="http://schemas.microsoft.com/office/drawing/2014/main" id="{E1326351-38D1-A440-A7B8-5079367D54AC}"/>
                </a:ext>
              </a:extLst>
            </p:cNvPr>
            <p:cNvSpPr>
              <a:spLocks noChangeShapeType="1"/>
            </p:cNvSpPr>
            <p:nvPr/>
          </p:nvSpPr>
          <p:spPr bwMode="auto">
            <a:xfrm>
              <a:off x="8116255" y="4074895"/>
              <a:ext cx="2233388"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56" name="Line 27">
              <a:extLst>
                <a:ext uri="{FF2B5EF4-FFF2-40B4-BE49-F238E27FC236}">
                  <a16:creationId xmlns:a16="http://schemas.microsoft.com/office/drawing/2014/main" id="{891B0B5D-A14D-1A40-B291-CC1A04A094FC}"/>
                </a:ext>
              </a:extLst>
            </p:cNvPr>
            <p:cNvSpPr>
              <a:spLocks noChangeShapeType="1"/>
            </p:cNvSpPr>
            <p:nvPr/>
          </p:nvSpPr>
          <p:spPr bwMode="auto">
            <a:xfrm>
              <a:off x="8111389" y="4528049"/>
              <a:ext cx="2233388"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74" name="Text Box 26">
              <a:extLst>
                <a:ext uri="{FF2B5EF4-FFF2-40B4-BE49-F238E27FC236}">
                  <a16:creationId xmlns:a16="http://schemas.microsoft.com/office/drawing/2014/main" id="{D8A757BB-1762-8B47-A046-060F718CBC6B}"/>
                </a:ext>
              </a:extLst>
            </p:cNvPr>
            <p:cNvSpPr txBox="1">
              <a:spLocks noChangeArrowheads="1"/>
            </p:cNvSpPr>
            <p:nvPr/>
          </p:nvSpPr>
          <p:spPr bwMode="auto">
            <a:xfrm>
              <a:off x="8179440" y="2284368"/>
              <a:ext cx="2019294" cy="3988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application</a:t>
              </a:r>
            </a:p>
          </p:txBody>
        </p:sp>
      </p:grpSp>
      <p:grpSp>
        <p:nvGrpSpPr>
          <p:cNvPr id="76" name="Group 75">
            <a:extLst>
              <a:ext uri="{FF2B5EF4-FFF2-40B4-BE49-F238E27FC236}">
                <a16:creationId xmlns:a16="http://schemas.microsoft.com/office/drawing/2014/main" id="{EA5C4C69-3F64-BA46-87DE-D8D9E085DAC9}"/>
              </a:ext>
            </a:extLst>
          </p:cNvPr>
          <p:cNvGrpSpPr/>
          <p:nvPr/>
        </p:nvGrpSpPr>
        <p:grpSpPr>
          <a:xfrm>
            <a:off x="1687770" y="2167472"/>
            <a:ext cx="2131701" cy="2912558"/>
            <a:chOff x="8091785" y="2078288"/>
            <a:chExt cx="2364905" cy="2912558"/>
          </a:xfrm>
        </p:grpSpPr>
        <p:sp>
          <p:nvSpPr>
            <p:cNvPr id="77" name="Rectangle 23">
              <a:extLst>
                <a:ext uri="{FF2B5EF4-FFF2-40B4-BE49-F238E27FC236}">
                  <a16:creationId xmlns:a16="http://schemas.microsoft.com/office/drawing/2014/main" id="{12A4D2D3-BB7A-1141-97E1-1746F6AB4244}"/>
                </a:ext>
              </a:extLst>
            </p:cNvPr>
            <p:cNvSpPr>
              <a:spLocks noChangeArrowheads="1"/>
            </p:cNvSpPr>
            <p:nvPr/>
          </p:nvSpPr>
          <p:spPr bwMode="auto">
            <a:xfrm>
              <a:off x="8179440" y="2078288"/>
              <a:ext cx="2277250" cy="2799267"/>
            </a:xfrm>
            <a:prstGeom prst="rect">
              <a:avLst/>
            </a:prstGeom>
            <a:solidFill>
              <a:srgbClr val="000099"/>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78" name="Rectangle 24">
              <a:extLst>
                <a:ext uri="{FF2B5EF4-FFF2-40B4-BE49-F238E27FC236}">
                  <a16:creationId xmlns:a16="http://schemas.microsoft.com/office/drawing/2014/main" id="{CC2D939F-B2EB-B142-B2EB-F35198972B0C}"/>
                </a:ext>
              </a:extLst>
            </p:cNvPr>
            <p:cNvSpPr>
              <a:spLocks noChangeArrowheads="1"/>
            </p:cNvSpPr>
            <p:nvPr/>
          </p:nvSpPr>
          <p:spPr bwMode="auto">
            <a:xfrm>
              <a:off x="8091785" y="2167472"/>
              <a:ext cx="2254867" cy="2823374"/>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79" name="Line 25">
              <a:extLst>
                <a:ext uri="{FF2B5EF4-FFF2-40B4-BE49-F238E27FC236}">
                  <a16:creationId xmlns:a16="http://schemas.microsoft.com/office/drawing/2014/main" id="{29206320-7227-5C45-BF48-477A94FE149F}"/>
                </a:ext>
              </a:extLst>
            </p:cNvPr>
            <p:cNvSpPr>
              <a:spLocks noChangeShapeType="1"/>
            </p:cNvSpPr>
            <p:nvPr/>
          </p:nvSpPr>
          <p:spPr bwMode="auto">
            <a:xfrm>
              <a:off x="8108956" y="2749010"/>
              <a:ext cx="2238254" cy="4821"/>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0" name="Text Box 26">
              <a:extLst>
                <a:ext uri="{FF2B5EF4-FFF2-40B4-BE49-F238E27FC236}">
                  <a16:creationId xmlns:a16="http://schemas.microsoft.com/office/drawing/2014/main" id="{09388CA4-5912-3745-991A-9A3E60719DA7}"/>
                </a:ext>
              </a:extLst>
            </p:cNvPr>
            <p:cNvSpPr txBox="1">
              <a:spLocks noChangeArrowheads="1"/>
            </p:cNvSpPr>
            <p:nvPr/>
          </p:nvSpPr>
          <p:spPr bwMode="auto">
            <a:xfrm>
              <a:off x="8376445" y="2832513"/>
              <a:ext cx="1703276" cy="73744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transport</a:t>
              </a:r>
            </a:p>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(UDP)</a:t>
              </a:r>
            </a:p>
          </p:txBody>
        </p:sp>
        <p:sp>
          <p:nvSpPr>
            <p:cNvPr id="81" name="Line 27">
              <a:extLst>
                <a:ext uri="{FF2B5EF4-FFF2-40B4-BE49-F238E27FC236}">
                  <a16:creationId xmlns:a16="http://schemas.microsoft.com/office/drawing/2014/main" id="{7462DAE7-AE3D-CD41-8750-E700715A5202}"/>
                </a:ext>
              </a:extLst>
            </p:cNvPr>
            <p:cNvSpPr>
              <a:spLocks noChangeShapeType="1"/>
            </p:cNvSpPr>
            <p:nvPr/>
          </p:nvSpPr>
          <p:spPr bwMode="auto">
            <a:xfrm>
              <a:off x="8121121" y="3602458"/>
              <a:ext cx="2233388"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2" name="Text Box 26">
              <a:extLst>
                <a:ext uri="{FF2B5EF4-FFF2-40B4-BE49-F238E27FC236}">
                  <a16:creationId xmlns:a16="http://schemas.microsoft.com/office/drawing/2014/main" id="{B868290D-DE89-8749-A32C-C5FCE36D7556}"/>
                </a:ext>
              </a:extLst>
            </p:cNvPr>
            <p:cNvSpPr txBox="1">
              <a:spLocks noChangeArrowheads="1"/>
            </p:cNvSpPr>
            <p:nvPr/>
          </p:nvSpPr>
          <p:spPr bwMode="auto">
            <a:xfrm>
              <a:off x="8218436" y="4533100"/>
              <a:ext cx="2019294" cy="44027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physical</a:t>
              </a:r>
            </a:p>
          </p:txBody>
        </p:sp>
        <p:sp>
          <p:nvSpPr>
            <p:cNvPr id="83" name="Text Box 26">
              <a:extLst>
                <a:ext uri="{FF2B5EF4-FFF2-40B4-BE49-F238E27FC236}">
                  <a16:creationId xmlns:a16="http://schemas.microsoft.com/office/drawing/2014/main" id="{18546DEE-76AB-C744-936A-7F4DF63895D8}"/>
                </a:ext>
              </a:extLst>
            </p:cNvPr>
            <p:cNvSpPr txBox="1">
              <a:spLocks noChangeArrowheads="1"/>
            </p:cNvSpPr>
            <p:nvPr/>
          </p:nvSpPr>
          <p:spPr bwMode="auto">
            <a:xfrm>
              <a:off x="8218436" y="4088345"/>
              <a:ext cx="2019294" cy="44027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link</a:t>
              </a:r>
            </a:p>
          </p:txBody>
        </p:sp>
        <p:sp>
          <p:nvSpPr>
            <p:cNvPr id="84" name="Text Box 26">
              <a:extLst>
                <a:ext uri="{FF2B5EF4-FFF2-40B4-BE49-F238E27FC236}">
                  <a16:creationId xmlns:a16="http://schemas.microsoft.com/office/drawing/2014/main" id="{9DE3AC7C-D9B1-ED4C-B925-37B31767739C}"/>
                </a:ext>
              </a:extLst>
            </p:cNvPr>
            <p:cNvSpPr txBox="1">
              <a:spLocks noChangeArrowheads="1"/>
            </p:cNvSpPr>
            <p:nvPr/>
          </p:nvSpPr>
          <p:spPr bwMode="auto">
            <a:xfrm>
              <a:off x="8218436" y="3646079"/>
              <a:ext cx="2019294" cy="73744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network (IP)</a:t>
              </a:r>
            </a:p>
          </p:txBody>
        </p:sp>
        <p:sp>
          <p:nvSpPr>
            <p:cNvPr id="85" name="Line 27">
              <a:extLst>
                <a:ext uri="{FF2B5EF4-FFF2-40B4-BE49-F238E27FC236}">
                  <a16:creationId xmlns:a16="http://schemas.microsoft.com/office/drawing/2014/main" id="{266E1BE0-4561-9344-ACBD-29F42E90D9F3}"/>
                </a:ext>
              </a:extLst>
            </p:cNvPr>
            <p:cNvSpPr>
              <a:spLocks noChangeShapeType="1"/>
            </p:cNvSpPr>
            <p:nvPr/>
          </p:nvSpPr>
          <p:spPr bwMode="auto">
            <a:xfrm>
              <a:off x="8116255" y="4074895"/>
              <a:ext cx="2233388"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6" name="Line 27">
              <a:extLst>
                <a:ext uri="{FF2B5EF4-FFF2-40B4-BE49-F238E27FC236}">
                  <a16:creationId xmlns:a16="http://schemas.microsoft.com/office/drawing/2014/main" id="{3ED696C7-AECF-C14F-8CD8-7153D36CBC69}"/>
                </a:ext>
              </a:extLst>
            </p:cNvPr>
            <p:cNvSpPr>
              <a:spLocks noChangeShapeType="1"/>
            </p:cNvSpPr>
            <p:nvPr/>
          </p:nvSpPr>
          <p:spPr bwMode="auto">
            <a:xfrm>
              <a:off x="8111389" y="4528049"/>
              <a:ext cx="2233388"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7" name="Text Box 26">
              <a:extLst>
                <a:ext uri="{FF2B5EF4-FFF2-40B4-BE49-F238E27FC236}">
                  <a16:creationId xmlns:a16="http://schemas.microsoft.com/office/drawing/2014/main" id="{42139D70-AB44-E047-B37E-AABECE12201B}"/>
                </a:ext>
              </a:extLst>
            </p:cNvPr>
            <p:cNvSpPr txBox="1">
              <a:spLocks noChangeArrowheads="1"/>
            </p:cNvSpPr>
            <p:nvPr/>
          </p:nvSpPr>
          <p:spPr bwMode="auto">
            <a:xfrm>
              <a:off x="8179440" y="2284368"/>
              <a:ext cx="2019294" cy="3988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application</a:t>
              </a:r>
            </a:p>
          </p:txBody>
        </p:sp>
      </p:grpSp>
      <p:sp>
        <p:nvSpPr>
          <p:cNvPr id="114" name="Title 1">
            <a:extLst>
              <a:ext uri="{FF2B5EF4-FFF2-40B4-BE49-F238E27FC236}">
                <a16:creationId xmlns:a16="http://schemas.microsoft.com/office/drawing/2014/main" id="{1464CB5C-96D6-3645-94B5-DB9FA70972D2}"/>
              </a:ext>
            </a:extLst>
          </p:cNvPr>
          <p:cNvSpPr>
            <a:spLocks noGrp="1"/>
          </p:cNvSpPr>
          <p:nvPr>
            <p:ph type="title"/>
          </p:nvPr>
        </p:nvSpPr>
        <p:spPr>
          <a:xfrm>
            <a:off x="798690" y="289325"/>
            <a:ext cx="11100625" cy="894622"/>
          </a:xfrm>
        </p:spPr>
        <p:txBody>
          <a:bodyPr>
            <a:normAutofit/>
          </a:bodyPr>
          <a:lstStyle/>
          <a:p>
            <a:r>
              <a:rPr lang="en-US" sz="4400" dirty="0"/>
              <a:t>UDP: Transport Layer Actions</a:t>
            </a:r>
          </a:p>
        </p:txBody>
      </p:sp>
      <p:grpSp>
        <p:nvGrpSpPr>
          <p:cNvPr id="115" name="Group 149">
            <a:extLst>
              <a:ext uri="{FF2B5EF4-FFF2-40B4-BE49-F238E27FC236}">
                <a16:creationId xmlns:a16="http://schemas.microsoft.com/office/drawing/2014/main" id="{D80894D4-838A-2B47-82E9-ED060F8608E9}"/>
              </a:ext>
            </a:extLst>
          </p:cNvPr>
          <p:cNvGrpSpPr>
            <a:grpSpLocks/>
          </p:cNvGrpSpPr>
          <p:nvPr/>
        </p:nvGrpSpPr>
        <p:grpSpPr bwMode="auto">
          <a:xfrm>
            <a:off x="2462207" y="2756023"/>
            <a:ext cx="412750" cy="158750"/>
            <a:chOff x="1287" y="2524"/>
            <a:chExt cx="260" cy="100"/>
          </a:xfrm>
        </p:grpSpPr>
        <p:sp>
          <p:nvSpPr>
            <p:cNvPr id="116" name="Rectangle 73">
              <a:extLst>
                <a:ext uri="{FF2B5EF4-FFF2-40B4-BE49-F238E27FC236}">
                  <a16:creationId xmlns:a16="http://schemas.microsoft.com/office/drawing/2014/main" id="{4F7EB976-F7A9-464D-96B7-3FE5D6F41C71}"/>
                </a:ext>
              </a:extLst>
            </p:cNvPr>
            <p:cNvSpPr>
              <a:spLocks noChangeArrowheads="1"/>
            </p:cNvSpPr>
            <p:nvPr/>
          </p:nvSpPr>
          <p:spPr bwMode="auto">
            <a:xfrm>
              <a:off x="1287" y="2524"/>
              <a:ext cx="260" cy="100"/>
            </a:xfrm>
            <a:prstGeom prst="rect">
              <a:avLst/>
            </a:prstGeom>
            <a:solidFill>
              <a:srgbClr val="FFFF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17" name="Rectangle 74">
              <a:extLst>
                <a:ext uri="{FF2B5EF4-FFF2-40B4-BE49-F238E27FC236}">
                  <a16:creationId xmlns:a16="http://schemas.microsoft.com/office/drawing/2014/main" id="{4368CF72-2B59-FB4B-92FA-68E13D10F3ED}"/>
                </a:ext>
              </a:extLst>
            </p:cNvPr>
            <p:cNvSpPr>
              <a:spLocks noChangeArrowheads="1"/>
            </p:cNvSpPr>
            <p:nvPr/>
          </p:nvSpPr>
          <p:spPr bwMode="auto">
            <a:xfrm>
              <a:off x="1338" y="2537"/>
              <a:ext cx="155" cy="76"/>
            </a:xfrm>
            <a:prstGeom prst="rect">
              <a:avLst/>
            </a:prstGeom>
            <a:solidFill>
              <a:srgbClr val="FFFFFF"/>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18" name="Rectangle 75">
              <a:extLst>
                <a:ext uri="{FF2B5EF4-FFF2-40B4-BE49-F238E27FC236}">
                  <a16:creationId xmlns:a16="http://schemas.microsoft.com/office/drawing/2014/main" id="{0D0AC942-AA10-F747-BEAC-52DAFF24DAB3}"/>
                </a:ext>
              </a:extLst>
            </p:cNvPr>
            <p:cNvSpPr>
              <a:spLocks noChangeArrowheads="1"/>
            </p:cNvSpPr>
            <p:nvPr/>
          </p:nvSpPr>
          <p:spPr bwMode="auto">
            <a:xfrm>
              <a:off x="1503" y="2582"/>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19" name="Rectangle 129">
              <a:extLst>
                <a:ext uri="{FF2B5EF4-FFF2-40B4-BE49-F238E27FC236}">
                  <a16:creationId xmlns:a16="http://schemas.microsoft.com/office/drawing/2014/main" id="{C51B66A9-7495-DF44-B4DE-37BC9E90E09B}"/>
                </a:ext>
              </a:extLst>
            </p:cNvPr>
            <p:cNvSpPr>
              <a:spLocks noChangeArrowheads="1"/>
            </p:cNvSpPr>
            <p:nvPr/>
          </p:nvSpPr>
          <p:spPr bwMode="auto">
            <a:xfrm>
              <a:off x="1298" y="2583"/>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grpSp>
        <p:nvGrpSpPr>
          <p:cNvPr id="120" name="Group 149">
            <a:extLst>
              <a:ext uri="{FF2B5EF4-FFF2-40B4-BE49-F238E27FC236}">
                <a16:creationId xmlns:a16="http://schemas.microsoft.com/office/drawing/2014/main" id="{B5F38E94-4EF7-1F4B-AAC4-BF50DC083CD9}"/>
              </a:ext>
            </a:extLst>
          </p:cNvPr>
          <p:cNvGrpSpPr>
            <a:grpSpLocks/>
          </p:cNvGrpSpPr>
          <p:nvPr/>
        </p:nvGrpSpPr>
        <p:grpSpPr bwMode="auto">
          <a:xfrm>
            <a:off x="9681144" y="2673610"/>
            <a:ext cx="412750" cy="158750"/>
            <a:chOff x="1287" y="2524"/>
            <a:chExt cx="260" cy="100"/>
          </a:xfrm>
        </p:grpSpPr>
        <p:sp>
          <p:nvSpPr>
            <p:cNvPr id="121" name="Rectangle 73">
              <a:extLst>
                <a:ext uri="{FF2B5EF4-FFF2-40B4-BE49-F238E27FC236}">
                  <a16:creationId xmlns:a16="http://schemas.microsoft.com/office/drawing/2014/main" id="{71D7BEDA-E8D6-9F4F-8EE3-D5290D9AF39D}"/>
                </a:ext>
              </a:extLst>
            </p:cNvPr>
            <p:cNvSpPr>
              <a:spLocks noChangeArrowheads="1"/>
            </p:cNvSpPr>
            <p:nvPr/>
          </p:nvSpPr>
          <p:spPr bwMode="auto">
            <a:xfrm>
              <a:off x="1287" y="2524"/>
              <a:ext cx="260" cy="100"/>
            </a:xfrm>
            <a:prstGeom prst="rect">
              <a:avLst/>
            </a:prstGeom>
            <a:solidFill>
              <a:srgbClr val="FFFF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22" name="Rectangle 74">
              <a:extLst>
                <a:ext uri="{FF2B5EF4-FFF2-40B4-BE49-F238E27FC236}">
                  <a16:creationId xmlns:a16="http://schemas.microsoft.com/office/drawing/2014/main" id="{D93A8064-E5FB-2844-9B3D-C598CCB67BDD}"/>
                </a:ext>
              </a:extLst>
            </p:cNvPr>
            <p:cNvSpPr>
              <a:spLocks noChangeArrowheads="1"/>
            </p:cNvSpPr>
            <p:nvPr/>
          </p:nvSpPr>
          <p:spPr bwMode="auto">
            <a:xfrm>
              <a:off x="1338" y="2537"/>
              <a:ext cx="155" cy="76"/>
            </a:xfrm>
            <a:prstGeom prst="rect">
              <a:avLst/>
            </a:prstGeom>
            <a:solidFill>
              <a:srgbClr val="FFFFFF"/>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23" name="Rectangle 75">
              <a:extLst>
                <a:ext uri="{FF2B5EF4-FFF2-40B4-BE49-F238E27FC236}">
                  <a16:creationId xmlns:a16="http://schemas.microsoft.com/office/drawing/2014/main" id="{DF7AA994-9DC7-8349-BB16-6DED06C89AC0}"/>
                </a:ext>
              </a:extLst>
            </p:cNvPr>
            <p:cNvSpPr>
              <a:spLocks noChangeArrowheads="1"/>
            </p:cNvSpPr>
            <p:nvPr/>
          </p:nvSpPr>
          <p:spPr bwMode="auto">
            <a:xfrm>
              <a:off x="1503" y="2582"/>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24" name="Rectangle 129">
              <a:extLst>
                <a:ext uri="{FF2B5EF4-FFF2-40B4-BE49-F238E27FC236}">
                  <a16:creationId xmlns:a16="http://schemas.microsoft.com/office/drawing/2014/main" id="{06FC6EA9-9071-D843-8C39-AFF854F3BEFC}"/>
                </a:ext>
              </a:extLst>
            </p:cNvPr>
            <p:cNvSpPr>
              <a:spLocks noChangeArrowheads="1"/>
            </p:cNvSpPr>
            <p:nvPr/>
          </p:nvSpPr>
          <p:spPr bwMode="auto">
            <a:xfrm>
              <a:off x="1298" y="2583"/>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2" name="TextBox 1">
            <a:extLst>
              <a:ext uri="{FF2B5EF4-FFF2-40B4-BE49-F238E27FC236}">
                <a16:creationId xmlns:a16="http://schemas.microsoft.com/office/drawing/2014/main" id="{6B2BB341-9BE1-8640-8E8B-7EC80706964E}"/>
              </a:ext>
            </a:extLst>
          </p:cNvPr>
          <p:cNvSpPr txBox="1"/>
          <p:nvPr/>
        </p:nvSpPr>
        <p:spPr>
          <a:xfrm>
            <a:off x="4212477" y="1830701"/>
            <a:ext cx="3898344"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UDP receiver actions:</a:t>
            </a:r>
          </a:p>
          <a:p>
            <a:pPr marL="285750" marR="0" lvl="0" indent="-219075" algn="l" defTabSz="914400" rtl="0" eaLnBrk="1" fontAlgn="auto" latinLnBrk="0" hangingPunct="1">
              <a:lnSpc>
                <a:spcPct val="100000"/>
              </a:lnSpc>
              <a:spcBef>
                <a:spcPts val="0"/>
              </a:spcBef>
              <a:spcAft>
                <a:spcPts val="0"/>
              </a:spcAft>
              <a:buClr>
                <a:srgbClr val="0200A3"/>
              </a:buClr>
              <a:buSzTx/>
              <a:buFont typeface="Wingdings" pitchFamily="2" charset="2"/>
              <a:buChar char="§"/>
              <a:tabLst/>
              <a:defRPr/>
            </a:pPr>
            <a:endParaRPr kumimoji="0" lang="en-US" sz="2000" b="0" i="0" u="none" strike="noStrike" kern="1200" cap="none" spc="0" normalizeH="0" baseline="0" noProof="0" dirty="0">
              <a:ln>
                <a:noFill/>
              </a:ln>
              <a:solidFill>
                <a:prstClr val="black"/>
              </a:solidFill>
              <a:effectLst/>
              <a:uLnTx/>
              <a:uFillTx/>
              <a:latin typeface="Calibri"/>
              <a:ea typeface="+mn-ea"/>
              <a:cs typeface="+mn-cs"/>
            </a:endParaRPr>
          </a:p>
        </p:txBody>
      </p:sp>
      <p:sp>
        <p:nvSpPr>
          <p:cNvPr id="102" name="Rectangle 101">
            <a:extLst>
              <a:ext uri="{FF2B5EF4-FFF2-40B4-BE49-F238E27FC236}">
                <a16:creationId xmlns:a16="http://schemas.microsoft.com/office/drawing/2014/main" id="{6480FBEB-6DAE-6343-96A8-03D66CDE01DB}"/>
              </a:ext>
            </a:extLst>
          </p:cNvPr>
          <p:cNvSpPr/>
          <p:nvPr/>
        </p:nvSpPr>
        <p:spPr>
          <a:xfrm>
            <a:off x="1655121" y="2160335"/>
            <a:ext cx="2199790" cy="2938360"/>
          </a:xfrm>
          <a:prstGeom prst="rect">
            <a:avLst/>
          </a:prstGeom>
          <a:solidFill>
            <a:schemeClr val="bg1">
              <a:alpha val="8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grpSp>
        <p:nvGrpSpPr>
          <p:cNvPr id="88" name="Group 87">
            <a:extLst>
              <a:ext uri="{FF2B5EF4-FFF2-40B4-BE49-F238E27FC236}">
                <a16:creationId xmlns:a16="http://schemas.microsoft.com/office/drawing/2014/main" id="{CA134BD1-8CE1-DD46-92D0-46AEECA91934}"/>
              </a:ext>
            </a:extLst>
          </p:cNvPr>
          <p:cNvGrpSpPr/>
          <p:nvPr/>
        </p:nvGrpSpPr>
        <p:grpSpPr>
          <a:xfrm>
            <a:off x="2355694" y="3088859"/>
            <a:ext cx="1259074" cy="369332"/>
            <a:chOff x="8934916" y="2775692"/>
            <a:chExt cx="1259074" cy="369332"/>
          </a:xfrm>
        </p:grpSpPr>
        <p:sp>
          <p:nvSpPr>
            <p:cNvPr id="89" name="Rectangle 88">
              <a:extLst>
                <a:ext uri="{FF2B5EF4-FFF2-40B4-BE49-F238E27FC236}">
                  <a16:creationId xmlns:a16="http://schemas.microsoft.com/office/drawing/2014/main" id="{6A02A536-E595-E54F-85ED-50268229A5F1}"/>
                </a:ext>
              </a:extLst>
            </p:cNvPr>
            <p:cNvSpPr/>
            <p:nvPr/>
          </p:nvSpPr>
          <p:spPr>
            <a:xfrm>
              <a:off x="8964931" y="2842303"/>
              <a:ext cx="1140727" cy="246705"/>
            </a:xfrm>
            <a:prstGeom prst="rect">
              <a:avLst/>
            </a:prstGeom>
            <a:solidFill>
              <a:schemeClr val="bg1"/>
            </a:solid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90" name="TextBox 89">
              <a:extLst>
                <a:ext uri="{FF2B5EF4-FFF2-40B4-BE49-F238E27FC236}">
                  <a16:creationId xmlns:a16="http://schemas.microsoft.com/office/drawing/2014/main" id="{26EE5E72-5714-C64B-A3D2-C89CD03AFF69}"/>
                </a:ext>
              </a:extLst>
            </p:cNvPr>
            <p:cNvSpPr txBox="1"/>
            <p:nvPr/>
          </p:nvSpPr>
          <p:spPr>
            <a:xfrm>
              <a:off x="8934916" y="2775692"/>
              <a:ext cx="1259074"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DNS msg</a:t>
              </a:r>
            </a:p>
          </p:txBody>
        </p:sp>
      </p:grpSp>
      <p:sp>
        <p:nvSpPr>
          <p:cNvPr id="91" name="TextBox 90">
            <a:extLst>
              <a:ext uri="{FF2B5EF4-FFF2-40B4-BE49-F238E27FC236}">
                <a16:creationId xmlns:a16="http://schemas.microsoft.com/office/drawing/2014/main" id="{44FC0E6A-CBE5-AC4B-BF65-426B6D4CBC72}"/>
              </a:ext>
            </a:extLst>
          </p:cNvPr>
          <p:cNvSpPr txBox="1"/>
          <p:nvPr/>
        </p:nvSpPr>
        <p:spPr>
          <a:xfrm>
            <a:off x="4380155" y="3324883"/>
            <a:ext cx="3825456" cy="722955"/>
          </a:xfrm>
          <a:prstGeom prst="rect">
            <a:avLst/>
          </a:prstGeom>
          <a:noFill/>
        </p:spPr>
        <p:txBody>
          <a:bodyPr wrap="square" rtlCol="0">
            <a:spAutoFit/>
          </a:bodyPr>
          <a:lstStyle/>
          <a:p>
            <a:pPr marL="409575" marR="0" lvl="0" indent="-342900" algn="l" defTabSz="914400" rtl="0" eaLnBrk="1" fontAlgn="auto" latinLnBrk="0" hangingPunct="1">
              <a:lnSpc>
                <a:spcPct val="85000"/>
              </a:lnSpc>
              <a:spcBef>
                <a:spcPts val="0"/>
              </a:spcBef>
              <a:spcAft>
                <a:spcPts val="0"/>
              </a:spcAft>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extracts application-layer message</a:t>
            </a:r>
          </a:p>
        </p:txBody>
      </p:sp>
      <p:sp>
        <p:nvSpPr>
          <p:cNvPr id="94" name="TextBox 93">
            <a:extLst>
              <a:ext uri="{FF2B5EF4-FFF2-40B4-BE49-F238E27FC236}">
                <a16:creationId xmlns:a16="http://schemas.microsoft.com/office/drawing/2014/main" id="{D9421943-E484-5046-BEAC-6D59475EF6C3}"/>
              </a:ext>
            </a:extLst>
          </p:cNvPr>
          <p:cNvSpPr txBox="1"/>
          <p:nvPr/>
        </p:nvSpPr>
        <p:spPr>
          <a:xfrm>
            <a:off x="4378217" y="2693557"/>
            <a:ext cx="3825456" cy="722955"/>
          </a:xfrm>
          <a:prstGeom prst="rect">
            <a:avLst/>
          </a:prstGeom>
          <a:noFill/>
        </p:spPr>
        <p:txBody>
          <a:bodyPr wrap="square" rtlCol="0">
            <a:spAutoFit/>
          </a:bodyPr>
          <a:lstStyle/>
          <a:p>
            <a:pPr marL="409575" marR="0" lvl="0" indent="-342900" algn="l" defTabSz="914400" rtl="0" eaLnBrk="1" fontAlgn="auto" latinLnBrk="0" hangingPunct="1">
              <a:lnSpc>
                <a:spcPct val="85000"/>
              </a:lnSpc>
              <a:spcBef>
                <a:spcPts val="0"/>
              </a:spcBef>
              <a:spcAft>
                <a:spcPts val="0"/>
              </a:spcAft>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checks UDP checksum header value</a:t>
            </a:r>
          </a:p>
        </p:txBody>
      </p:sp>
      <p:sp>
        <p:nvSpPr>
          <p:cNvPr id="97" name="TextBox 96">
            <a:extLst>
              <a:ext uri="{FF2B5EF4-FFF2-40B4-BE49-F238E27FC236}">
                <a16:creationId xmlns:a16="http://schemas.microsoft.com/office/drawing/2014/main" id="{A88394C2-8FDA-8F48-B59B-B744ABBDA541}"/>
              </a:ext>
            </a:extLst>
          </p:cNvPr>
          <p:cNvSpPr txBox="1"/>
          <p:nvPr/>
        </p:nvSpPr>
        <p:spPr>
          <a:xfrm>
            <a:off x="4388103" y="2278130"/>
            <a:ext cx="3825456" cy="461665"/>
          </a:xfrm>
          <a:prstGeom prst="rect">
            <a:avLst/>
          </a:prstGeom>
          <a:noFill/>
        </p:spPr>
        <p:txBody>
          <a:bodyPr wrap="square" rtlCol="0">
            <a:spAutoFit/>
          </a:bodyPr>
          <a:lstStyle/>
          <a:p>
            <a:pPr marL="409575" marR="0" lvl="0" indent="-342900" algn="l" defTabSz="914400" rtl="0" eaLnBrk="1" fontAlgn="auto" latinLnBrk="0" hangingPunct="1">
              <a:lnSpc>
                <a:spcPct val="100000"/>
              </a:lnSpc>
              <a:spcBef>
                <a:spcPts val="0"/>
              </a:spcBef>
              <a:spcAft>
                <a:spcPts val="0"/>
              </a:spcAft>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receives segment from IP</a:t>
            </a:r>
          </a:p>
        </p:txBody>
      </p:sp>
      <p:grpSp>
        <p:nvGrpSpPr>
          <p:cNvPr id="5" name="Group 4">
            <a:extLst>
              <a:ext uri="{FF2B5EF4-FFF2-40B4-BE49-F238E27FC236}">
                <a16:creationId xmlns:a16="http://schemas.microsoft.com/office/drawing/2014/main" id="{E73E5E98-A439-0647-8DF1-844937CD72A0}"/>
              </a:ext>
            </a:extLst>
          </p:cNvPr>
          <p:cNvGrpSpPr/>
          <p:nvPr/>
        </p:nvGrpSpPr>
        <p:grpSpPr>
          <a:xfrm>
            <a:off x="1795827" y="3762839"/>
            <a:ext cx="1818022" cy="369332"/>
            <a:chOff x="7863122" y="5632673"/>
            <a:chExt cx="1818022" cy="369332"/>
          </a:xfrm>
        </p:grpSpPr>
        <p:grpSp>
          <p:nvGrpSpPr>
            <p:cNvPr id="99" name="Group 98">
              <a:extLst>
                <a:ext uri="{FF2B5EF4-FFF2-40B4-BE49-F238E27FC236}">
                  <a16:creationId xmlns:a16="http://schemas.microsoft.com/office/drawing/2014/main" id="{39CCB6B2-1F81-ED45-AF48-A3187F0215CC}"/>
                </a:ext>
              </a:extLst>
            </p:cNvPr>
            <p:cNvGrpSpPr/>
            <p:nvPr/>
          </p:nvGrpSpPr>
          <p:grpSpPr>
            <a:xfrm>
              <a:off x="7863122" y="5638955"/>
              <a:ext cx="1259074" cy="338554"/>
              <a:chOff x="8964789" y="2648929"/>
              <a:chExt cx="1259074" cy="338554"/>
            </a:xfrm>
          </p:grpSpPr>
          <p:sp>
            <p:nvSpPr>
              <p:cNvPr id="100" name="Rectangle 99">
                <a:extLst>
                  <a:ext uri="{FF2B5EF4-FFF2-40B4-BE49-F238E27FC236}">
                    <a16:creationId xmlns:a16="http://schemas.microsoft.com/office/drawing/2014/main" id="{B77AF83C-DA1E-A642-9E78-5EEE36A0AD7E}"/>
                  </a:ext>
                </a:extLst>
              </p:cNvPr>
              <p:cNvSpPr/>
              <p:nvPr/>
            </p:nvSpPr>
            <p:spPr>
              <a:xfrm>
                <a:off x="9032744" y="2707400"/>
                <a:ext cx="543189" cy="246705"/>
              </a:xfrm>
              <a:prstGeom prst="rect">
                <a:avLst/>
              </a:prstGeom>
              <a:solidFill>
                <a:schemeClr val="bg1"/>
              </a:solid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01" name="TextBox 100">
                <a:extLst>
                  <a:ext uri="{FF2B5EF4-FFF2-40B4-BE49-F238E27FC236}">
                    <a16:creationId xmlns:a16="http://schemas.microsoft.com/office/drawing/2014/main" id="{AB8C9E1E-8C93-DA4B-813F-B38E4305D2BE}"/>
                  </a:ext>
                </a:extLst>
              </p:cNvPr>
              <p:cNvSpPr txBox="1"/>
              <p:nvPr/>
            </p:nvSpPr>
            <p:spPr>
              <a:xfrm>
                <a:off x="8964789" y="2648929"/>
                <a:ext cx="1259074"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UDP</a:t>
                </a:r>
                <a:r>
                  <a:rPr kumimoji="0" lang="en-US" sz="1600" b="0" i="0" u="none" strike="noStrike" kern="1200" cap="none" spc="0" normalizeH="0" baseline="-25000" noProof="0" dirty="0">
                    <a:ln>
                      <a:noFill/>
                    </a:ln>
                    <a:solidFill>
                      <a:prstClr val="black"/>
                    </a:solidFill>
                    <a:effectLst/>
                    <a:uLnTx/>
                    <a:uFillTx/>
                    <a:latin typeface="Calibri"/>
                    <a:ea typeface="+mn-ea"/>
                    <a:cs typeface="+mn-cs"/>
                  </a:rPr>
                  <a:t>h</a:t>
                </a:r>
              </a:p>
            </p:txBody>
          </p:sp>
        </p:grpSp>
        <p:grpSp>
          <p:nvGrpSpPr>
            <p:cNvPr id="103" name="Group 102">
              <a:extLst>
                <a:ext uri="{FF2B5EF4-FFF2-40B4-BE49-F238E27FC236}">
                  <a16:creationId xmlns:a16="http://schemas.microsoft.com/office/drawing/2014/main" id="{8B56BF3A-3903-6343-9BD8-2E85489C092E}"/>
                </a:ext>
              </a:extLst>
            </p:cNvPr>
            <p:cNvGrpSpPr/>
            <p:nvPr/>
          </p:nvGrpSpPr>
          <p:grpSpPr>
            <a:xfrm>
              <a:off x="8422070" y="5632673"/>
              <a:ext cx="1259074" cy="369332"/>
              <a:chOff x="8934916" y="2778923"/>
              <a:chExt cx="1259074" cy="369332"/>
            </a:xfrm>
          </p:grpSpPr>
          <p:sp>
            <p:nvSpPr>
              <p:cNvPr id="104" name="Rectangle 103">
                <a:extLst>
                  <a:ext uri="{FF2B5EF4-FFF2-40B4-BE49-F238E27FC236}">
                    <a16:creationId xmlns:a16="http://schemas.microsoft.com/office/drawing/2014/main" id="{C0632306-DF2A-5145-82E2-F627C1E9171F}"/>
                  </a:ext>
                </a:extLst>
              </p:cNvPr>
              <p:cNvSpPr/>
              <p:nvPr/>
            </p:nvSpPr>
            <p:spPr>
              <a:xfrm>
                <a:off x="8964931" y="2842303"/>
                <a:ext cx="1140727" cy="246705"/>
              </a:xfrm>
              <a:prstGeom prst="rect">
                <a:avLst/>
              </a:prstGeom>
              <a:solidFill>
                <a:schemeClr val="bg1"/>
              </a:solid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05" name="TextBox 104">
                <a:extLst>
                  <a:ext uri="{FF2B5EF4-FFF2-40B4-BE49-F238E27FC236}">
                    <a16:creationId xmlns:a16="http://schemas.microsoft.com/office/drawing/2014/main" id="{E104975E-6986-5E45-89F2-36AAE86B3B12}"/>
                  </a:ext>
                </a:extLst>
              </p:cNvPr>
              <p:cNvSpPr txBox="1"/>
              <p:nvPr/>
            </p:nvSpPr>
            <p:spPr>
              <a:xfrm>
                <a:off x="8934916" y="2778923"/>
                <a:ext cx="1259074"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DNS msg</a:t>
                </a:r>
              </a:p>
            </p:txBody>
          </p:sp>
        </p:grpSp>
      </p:grpSp>
      <p:sp>
        <p:nvSpPr>
          <p:cNvPr id="127" name="TextBox 126">
            <a:extLst>
              <a:ext uri="{FF2B5EF4-FFF2-40B4-BE49-F238E27FC236}">
                <a16:creationId xmlns:a16="http://schemas.microsoft.com/office/drawing/2014/main" id="{5F6FF1BE-CC44-0642-B5BA-79CC246557BD}"/>
              </a:ext>
            </a:extLst>
          </p:cNvPr>
          <p:cNvSpPr txBox="1"/>
          <p:nvPr/>
        </p:nvSpPr>
        <p:spPr>
          <a:xfrm>
            <a:off x="4379533" y="3932414"/>
            <a:ext cx="3825456" cy="1036887"/>
          </a:xfrm>
          <a:prstGeom prst="rect">
            <a:avLst/>
          </a:prstGeom>
          <a:noFill/>
        </p:spPr>
        <p:txBody>
          <a:bodyPr wrap="square" rtlCol="0">
            <a:spAutoFit/>
          </a:bodyPr>
          <a:lstStyle/>
          <a:p>
            <a:pPr marL="409575" marR="0" lvl="0" indent="-342900" algn="l" defTabSz="914400" rtl="0" eaLnBrk="1" fontAlgn="auto" latinLnBrk="0" hangingPunct="1">
              <a:lnSpc>
                <a:spcPct val="85000"/>
              </a:lnSpc>
              <a:spcBef>
                <a:spcPts val="0"/>
              </a:spcBef>
              <a:spcAft>
                <a:spcPts val="0"/>
              </a:spcAft>
              <a:buSzTx/>
              <a:buFont typeface="Arial" panose="020B0604020202020204" pitchFamily="34" charset="0"/>
              <a:buChar char="•"/>
              <a:tabLst/>
              <a:defRPr/>
            </a:pPr>
            <a:r>
              <a:rPr kumimoji="0" lang="en-US" sz="2400" b="0" i="0" u="none" strike="noStrike" kern="1200" cap="none" spc="0" normalizeH="0" baseline="0" noProof="0" dirty="0">
                <a:ln>
                  <a:noFill/>
                </a:ln>
                <a:solidFill>
                  <a:srgbClr val="FF0000"/>
                </a:solidFill>
                <a:effectLst/>
                <a:uLnTx/>
                <a:uFillTx/>
                <a:latin typeface="Calibri"/>
                <a:ea typeface="+mn-ea"/>
                <a:cs typeface="+mn-cs"/>
              </a:rPr>
              <a:t>demultiplexes</a:t>
            </a:r>
            <a:r>
              <a:rPr kumimoji="0" lang="en-US" sz="2400" b="0" i="0" u="none" strike="noStrike" kern="1200" cap="none" spc="0" normalizeH="0" baseline="0" noProof="0" dirty="0">
                <a:ln>
                  <a:noFill/>
                </a:ln>
                <a:solidFill>
                  <a:prstClr val="black"/>
                </a:solidFill>
                <a:effectLst/>
                <a:uLnTx/>
                <a:uFillTx/>
                <a:latin typeface="Calibri"/>
                <a:ea typeface="+mn-ea"/>
                <a:cs typeface="+mn-cs"/>
              </a:rPr>
              <a:t> message up to application via socket</a:t>
            </a:r>
          </a:p>
        </p:txBody>
      </p:sp>
      <p:sp>
        <p:nvSpPr>
          <p:cNvPr id="128" name="Rectangle 127">
            <a:extLst>
              <a:ext uri="{FF2B5EF4-FFF2-40B4-BE49-F238E27FC236}">
                <a16:creationId xmlns:a16="http://schemas.microsoft.com/office/drawing/2014/main" id="{279B4C12-D49E-4A40-9C38-F2E92ECDF43A}"/>
              </a:ext>
            </a:extLst>
          </p:cNvPr>
          <p:cNvSpPr/>
          <p:nvPr/>
        </p:nvSpPr>
        <p:spPr>
          <a:xfrm>
            <a:off x="8368272" y="2061343"/>
            <a:ext cx="3416536" cy="3302845"/>
          </a:xfrm>
          <a:prstGeom prst="rect">
            <a:avLst/>
          </a:prstGeom>
          <a:solidFill>
            <a:schemeClr val="bg1">
              <a:alpha val="8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4" name="Oval 3">
            <a:extLst>
              <a:ext uri="{FF2B5EF4-FFF2-40B4-BE49-F238E27FC236}">
                <a16:creationId xmlns:a16="http://schemas.microsoft.com/office/drawing/2014/main" id="{C0F72514-945E-EB40-9BEE-202BF670272C}"/>
              </a:ext>
            </a:extLst>
          </p:cNvPr>
          <p:cNvSpPr/>
          <p:nvPr/>
        </p:nvSpPr>
        <p:spPr>
          <a:xfrm>
            <a:off x="1741367" y="2989161"/>
            <a:ext cx="763166" cy="541031"/>
          </a:xfrm>
          <a:prstGeom prst="ellipse">
            <a:avLst/>
          </a:prstGeom>
          <a:noFill/>
          <a:ln w="25400">
            <a:solidFill>
              <a:srgbClr val="CD000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cxnSp>
        <p:nvCxnSpPr>
          <p:cNvPr id="129" name="Straight Connector 128">
            <a:extLst>
              <a:ext uri="{FF2B5EF4-FFF2-40B4-BE49-F238E27FC236}">
                <a16:creationId xmlns:a16="http://schemas.microsoft.com/office/drawing/2014/main" id="{55A91E20-BDA5-C441-B395-6979D211F34E}"/>
              </a:ext>
            </a:extLst>
          </p:cNvPr>
          <p:cNvCxnSpPr>
            <a:cxnSpLocks/>
          </p:cNvCxnSpPr>
          <p:nvPr/>
        </p:nvCxnSpPr>
        <p:spPr>
          <a:xfrm flipH="1">
            <a:off x="7972023" y="4973372"/>
            <a:ext cx="1473513" cy="47439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F8285317-4714-1541-BC02-BED132E59B23}"/>
              </a:ext>
            </a:extLst>
          </p:cNvPr>
          <p:cNvCxnSpPr>
            <a:cxnSpLocks/>
          </p:cNvCxnSpPr>
          <p:nvPr/>
        </p:nvCxnSpPr>
        <p:spPr>
          <a:xfrm>
            <a:off x="2578811" y="5062556"/>
            <a:ext cx="1582832" cy="30261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71" name="Freeform 296">
            <a:extLst>
              <a:ext uri="{FF2B5EF4-FFF2-40B4-BE49-F238E27FC236}">
                <a16:creationId xmlns:a16="http://schemas.microsoft.com/office/drawing/2014/main" id="{06DFDE96-5B04-984C-B72D-22D074DF3E82}"/>
              </a:ext>
            </a:extLst>
          </p:cNvPr>
          <p:cNvSpPr>
            <a:spLocks/>
          </p:cNvSpPr>
          <p:nvPr/>
        </p:nvSpPr>
        <p:spPr bwMode="auto">
          <a:xfrm>
            <a:off x="4062521" y="4965666"/>
            <a:ext cx="4036903" cy="1028731"/>
          </a:xfrm>
          <a:custGeom>
            <a:avLst/>
            <a:gdLst>
              <a:gd name="T0" fmla="*/ 2147483647 w 1877"/>
              <a:gd name="T1" fmla="*/ 2147483647 h 917"/>
              <a:gd name="T2" fmla="*/ 2147483647 w 1877"/>
              <a:gd name="T3" fmla="*/ 2147483647 h 917"/>
              <a:gd name="T4" fmla="*/ 2147483647 w 1877"/>
              <a:gd name="T5" fmla="*/ 2147483647 h 917"/>
              <a:gd name="T6" fmla="*/ 2147483647 w 1877"/>
              <a:gd name="T7" fmla="*/ 2147483647 h 917"/>
              <a:gd name="T8" fmla="*/ 2147483647 w 1877"/>
              <a:gd name="T9" fmla="*/ 2147483647 h 917"/>
              <a:gd name="T10" fmla="*/ 2147483647 w 1877"/>
              <a:gd name="T11" fmla="*/ 2147483647 h 917"/>
              <a:gd name="T12" fmla="*/ 2147483647 w 1877"/>
              <a:gd name="T13" fmla="*/ 2147483647 h 917"/>
              <a:gd name="T14" fmla="*/ 2147483647 w 1877"/>
              <a:gd name="T15" fmla="*/ 2147483647 h 917"/>
              <a:gd name="T16" fmla="*/ 2147483647 w 1877"/>
              <a:gd name="T17" fmla="*/ 2147483647 h 917"/>
              <a:gd name="T18" fmla="*/ 2147483647 w 1877"/>
              <a:gd name="T19" fmla="*/ 2147483647 h 917"/>
              <a:gd name="T20" fmla="*/ 2147483647 w 1877"/>
              <a:gd name="T21" fmla="*/ 2147483647 h 917"/>
              <a:gd name="T22" fmla="*/ 2147483647 w 1877"/>
              <a:gd name="T23" fmla="*/ 2147483647 h 917"/>
              <a:gd name="T24" fmla="*/ 2147483647 w 1877"/>
              <a:gd name="T25" fmla="*/ 2147483647 h 917"/>
              <a:gd name="T26" fmla="*/ 2147483647 w 1877"/>
              <a:gd name="T27" fmla="*/ 2147483647 h 917"/>
              <a:gd name="T28" fmla="*/ 2147483647 w 1877"/>
              <a:gd name="T29" fmla="*/ 2147483647 h 917"/>
              <a:gd name="T30" fmla="*/ 2147483647 w 1877"/>
              <a:gd name="T31" fmla="*/ 2147483647 h 91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877"/>
              <a:gd name="T49" fmla="*/ 0 h 917"/>
              <a:gd name="T50" fmla="*/ 1877 w 1877"/>
              <a:gd name="T51" fmla="*/ 917 h 91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877" h="91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9CDFF9"/>
          </a:solidFill>
          <a:ln>
            <a:noFill/>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Calibri"/>
              <a:ea typeface="ＭＳ Ｐゴシック" panose="020B0600070205080204" pitchFamily="34" charset="-128"/>
              <a:cs typeface="Arial"/>
            </a:endParaRPr>
          </a:p>
        </p:txBody>
      </p:sp>
      <p:grpSp>
        <p:nvGrpSpPr>
          <p:cNvPr id="6" name="Group 194">
            <a:extLst>
              <a:ext uri="{FF2B5EF4-FFF2-40B4-BE49-F238E27FC236}">
                <a16:creationId xmlns:a16="http://schemas.microsoft.com/office/drawing/2014/main" id="{B4AD431E-C0BF-A492-6546-23C5B38C24EA}"/>
              </a:ext>
            </a:extLst>
          </p:cNvPr>
          <p:cNvGrpSpPr>
            <a:grpSpLocks/>
          </p:cNvGrpSpPr>
          <p:nvPr/>
        </p:nvGrpSpPr>
        <p:grpSpPr bwMode="auto">
          <a:xfrm>
            <a:off x="10486559" y="4239137"/>
            <a:ext cx="1357555" cy="1301355"/>
            <a:chOff x="-44" y="1473"/>
            <a:chExt cx="981" cy="1105"/>
          </a:xfrm>
        </p:grpSpPr>
        <p:pic>
          <p:nvPicPr>
            <p:cNvPr id="7" name="Picture 195" descr="desktop_computer_stylized_medium">
              <a:extLst>
                <a:ext uri="{FF2B5EF4-FFF2-40B4-BE49-F238E27FC236}">
                  <a16:creationId xmlns:a16="http://schemas.microsoft.com/office/drawing/2014/main" id="{C0B7671C-F437-F880-D7F6-AD30816DD7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9" name="Freeform 196">
              <a:extLst>
                <a:ext uri="{FF2B5EF4-FFF2-40B4-BE49-F238E27FC236}">
                  <a16:creationId xmlns:a16="http://schemas.microsoft.com/office/drawing/2014/main" id="{2BEA3B69-54A4-A5D2-D5A4-53322F30CB17}"/>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Tree>
    <p:extLst>
      <p:ext uri="{BB962C8B-B14F-4D97-AF65-F5344CB8AC3E}">
        <p14:creationId xmlns:p14="http://schemas.microsoft.com/office/powerpoint/2010/main" val="33316435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0" presetClass="path" presetSubtype="0" accel="50000" decel="50000" fill="hold" nodeType="clickEffect">
                                  <p:stCondLst>
                                    <p:cond delay="0"/>
                                  </p:stCondLst>
                                  <p:childTnLst>
                                    <p:animMotion origin="layout" path="M 0.00014 -0.00208 L 0.00014 -0.09676 " pathEditMode="relative" rAng="0" ptsTypes="AA">
                                      <p:cBhvr>
                                        <p:cTn id="11" dur="2000" fill="hold"/>
                                        <p:tgtEl>
                                          <p:spTgt spid="5"/>
                                        </p:tgtEl>
                                        <p:attrNameLst>
                                          <p:attrName>ppt_x</p:attrName>
                                          <p:attrName>ppt_y</p:attrName>
                                        </p:attrNameLst>
                                      </p:cBhvr>
                                      <p:rCtr x="0" y="-4745"/>
                                    </p:animMotion>
                                  </p:childTnLst>
                                </p:cTn>
                              </p:par>
                              <p:par>
                                <p:cTn id="12" presetID="9" presetClass="entr" presetSubtype="0" fill="hold" grpId="0" nodeType="withEffect">
                                  <p:stCondLst>
                                    <p:cond delay="0"/>
                                  </p:stCondLst>
                                  <p:childTnLst>
                                    <p:set>
                                      <p:cBhvr>
                                        <p:cTn id="13" dur="1" fill="hold">
                                          <p:stCondLst>
                                            <p:cond delay="0"/>
                                          </p:stCondLst>
                                        </p:cTn>
                                        <p:tgtEl>
                                          <p:spTgt spid="97"/>
                                        </p:tgtEl>
                                        <p:attrNameLst>
                                          <p:attrName>style.visibility</p:attrName>
                                        </p:attrNameLst>
                                      </p:cBhvr>
                                      <p:to>
                                        <p:strVal val="visible"/>
                                      </p:to>
                                    </p:set>
                                    <p:animEffect transition="in" filter="dissolve">
                                      <p:cBhvr>
                                        <p:cTn id="14" dur="500"/>
                                        <p:tgtEl>
                                          <p:spTgt spid="97"/>
                                        </p:tgtEl>
                                      </p:cBhvr>
                                    </p:animEffect>
                                  </p:childTnLst>
                                </p:cTn>
                              </p:par>
                            </p:childTnLst>
                          </p:cTn>
                        </p:par>
                      </p:childTnLst>
                    </p:cTn>
                  </p:par>
                  <p:par>
                    <p:cTn id="15" fill="hold">
                      <p:stCondLst>
                        <p:cond delay="indefinite"/>
                      </p:stCondLst>
                      <p:childTnLst>
                        <p:par>
                          <p:cTn id="16" fill="hold">
                            <p:stCondLst>
                              <p:cond delay="0"/>
                            </p:stCondLst>
                            <p:childTnLst>
                              <p:par>
                                <p:cTn id="17" presetID="9"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dissolve">
                                      <p:cBhvr>
                                        <p:cTn id="19" dur="500"/>
                                        <p:tgtEl>
                                          <p:spTgt spid="4"/>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94"/>
                                        </p:tgtEl>
                                        <p:attrNameLst>
                                          <p:attrName>style.visibility</p:attrName>
                                        </p:attrNameLst>
                                      </p:cBhvr>
                                      <p:to>
                                        <p:strVal val="visible"/>
                                      </p:to>
                                    </p:set>
                                    <p:animEffect transition="in" filter="dissolve">
                                      <p:cBhvr>
                                        <p:cTn id="22" dur="500"/>
                                        <p:tgtEl>
                                          <p:spTgt spid="94"/>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xit" presetSubtype="0" fill="hold" nodeType="clickEffect">
                                  <p:stCondLst>
                                    <p:cond delay="0"/>
                                  </p:stCondLst>
                                  <p:childTnLst>
                                    <p:animEffect transition="out" filter="dissolve">
                                      <p:cBhvr>
                                        <p:cTn id="26" dur="500"/>
                                        <p:tgtEl>
                                          <p:spTgt spid="5"/>
                                        </p:tgtEl>
                                      </p:cBhvr>
                                    </p:animEffect>
                                    <p:set>
                                      <p:cBhvr>
                                        <p:cTn id="27" dur="1" fill="hold">
                                          <p:stCondLst>
                                            <p:cond delay="499"/>
                                          </p:stCondLst>
                                        </p:cTn>
                                        <p:tgtEl>
                                          <p:spTgt spid="5"/>
                                        </p:tgtEl>
                                        <p:attrNameLst>
                                          <p:attrName>style.visibility</p:attrName>
                                        </p:attrNameLst>
                                      </p:cBhvr>
                                      <p:to>
                                        <p:strVal val="hidden"/>
                                      </p:to>
                                    </p:set>
                                  </p:childTnLst>
                                </p:cTn>
                              </p:par>
                              <p:par>
                                <p:cTn id="28" presetID="9" presetClass="exit" presetSubtype="0" fill="hold" grpId="1" nodeType="withEffect">
                                  <p:stCondLst>
                                    <p:cond delay="0"/>
                                  </p:stCondLst>
                                  <p:childTnLst>
                                    <p:animEffect transition="out" filter="dissolve">
                                      <p:cBhvr>
                                        <p:cTn id="29" dur="500"/>
                                        <p:tgtEl>
                                          <p:spTgt spid="4"/>
                                        </p:tgtEl>
                                      </p:cBhvr>
                                    </p:animEffect>
                                    <p:set>
                                      <p:cBhvr>
                                        <p:cTn id="30" dur="1" fill="hold">
                                          <p:stCondLst>
                                            <p:cond delay="499"/>
                                          </p:stCondLst>
                                        </p:cTn>
                                        <p:tgtEl>
                                          <p:spTgt spid="4"/>
                                        </p:tgtEl>
                                        <p:attrNameLst>
                                          <p:attrName>style.visibility</p:attrName>
                                        </p:attrNameLst>
                                      </p:cBhvr>
                                      <p:to>
                                        <p:strVal val="hidden"/>
                                      </p:to>
                                    </p:set>
                                  </p:childTnLst>
                                </p:cTn>
                              </p:par>
                              <p:par>
                                <p:cTn id="31" presetID="9" presetClass="entr" presetSubtype="0" fill="hold" nodeType="withEffect">
                                  <p:stCondLst>
                                    <p:cond delay="0"/>
                                  </p:stCondLst>
                                  <p:childTnLst>
                                    <p:set>
                                      <p:cBhvr>
                                        <p:cTn id="32" dur="1" fill="hold">
                                          <p:stCondLst>
                                            <p:cond delay="0"/>
                                          </p:stCondLst>
                                        </p:cTn>
                                        <p:tgtEl>
                                          <p:spTgt spid="88"/>
                                        </p:tgtEl>
                                        <p:attrNameLst>
                                          <p:attrName>style.visibility</p:attrName>
                                        </p:attrNameLst>
                                      </p:cBhvr>
                                      <p:to>
                                        <p:strVal val="visible"/>
                                      </p:to>
                                    </p:set>
                                    <p:animEffect transition="in" filter="dissolve">
                                      <p:cBhvr>
                                        <p:cTn id="33" dur="500"/>
                                        <p:tgtEl>
                                          <p:spTgt spid="88"/>
                                        </p:tgtEl>
                                      </p:cBhvr>
                                    </p:animEffect>
                                  </p:childTnLst>
                                </p:cTn>
                              </p:par>
                              <p:par>
                                <p:cTn id="34" presetID="9" presetClass="entr" presetSubtype="0" fill="hold" grpId="0" nodeType="withEffect">
                                  <p:stCondLst>
                                    <p:cond delay="0"/>
                                  </p:stCondLst>
                                  <p:childTnLst>
                                    <p:set>
                                      <p:cBhvr>
                                        <p:cTn id="35" dur="1" fill="hold">
                                          <p:stCondLst>
                                            <p:cond delay="0"/>
                                          </p:stCondLst>
                                        </p:cTn>
                                        <p:tgtEl>
                                          <p:spTgt spid="91"/>
                                        </p:tgtEl>
                                        <p:attrNameLst>
                                          <p:attrName>style.visibility</p:attrName>
                                        </p:attrNameLst>
                                      </p:cBhvr>
                                      <p:to>
                                        <p:strVal val="visible"/>
                                      </p:to>
                                    </p:set>
                                    <p:animEffect transition="in" filter="dissolve">
                                      <p:cBhvr>
                                        <p:cTn id="36" dur="500"/>
                                        <p:tgtEl>
                                          <p:spTgt spid="91"/>
                                        </p:tgtEl>
                                      </p:cBhvr>
                                    </p:animEffect>
                                  </p:childTnLst>
                                </p:cTn>
                              </p:par>
                            </p:childTnLst>
                          </p:cTn>
                        </p:par>
                      </p:childTnLst>
                    </p:cTn>
                  </p:par>
                  <p:par>
                    <p:cTn id="37" fill="hold">
                      <p:stCondLst>
                        <p:cond delay="indefinite"/>
                      </p:stCondLst>
                      <p:childTnLst>
                        <p:par>
                          <p:cTn id="38" fill="hold">
                            <p:stCondLst>
                              <p:cond delay="0"/>
                            </p:stCondLst>
                            <p:childTnLst>
                              <p:par>
                                <p:cTn id="39" presetID="0" presetClass="path" presetSubtype="0" accel="50000" decel="50000" fill="hold" nodeType="clickEffect">
                                  <p:stCondLst>
                                    <p:cond delay="0"/>
                                  </p:stCondLst>
                                  <p:childTnLst>
                                    <p:animMotion origin="layout" path="M -1.66667E-6 -4.81481E-6 L 0.00013 -0.10763 " pathEditMode="relative" rAng="0" ptsTypes="AA">
                                      <p:cBhvr>
                                        <p:cTn id="40" dur="2000" fill="hold"/>
                                        <p:tgtEl>
                                          <p:spTgt spid="88"/>
                                        </p:tgtEl>
                                        <p:attrNameLst>
                                          <p:attrName>ppt_x</p:attrName>
                                          <p:attrName>ppt_y</p:attrName>
                                        </p:attrNameLst>
                                      </p:cBhvr>
                                      <p:rCtr x="0" y="-5394"/>
                                    </p:animMotion>
                                  </p:childTnLst>
                                </p:cTn>
                              </p:par>
                              <p:par>
                                <p:cTn id="41" presetID="9" presetClass="entr" presetSubtype="0" fill="hold" grpId="0" nodeType="withEffect">
                                  <p:stCondLst>
                                    <p:cond delay="0"/>
                                  </p:stCondLst>
                                  <p:childTnLst>
                                    <p:set>
                                      <p:cBhvr>
                                        <p:cTn id="42" dur="1" fill="hold">
                                          <p:stCondLst>
                                            <p:cond delay="0"/>
                                          </p:stCondLst>
                                        </p:cTn>
                                        <p:tgtEl>
                                          <p:spTgt spid="127"/>
                                        </p:tgtEl>
                                        <p:attrNameLst>
                                          <p:attrName>style.visibility</p:attrName>
                                        </p:attrNameLst>
                                      </p:cBhvr>
                                      <p:to>
                                        <p:strVal val="visible"/>
                                      </p:to>
                                    </p:set>
                                    <p:animEffect transition="in" filter="dissolve">
                                      <p:cBhvr>
                                        <p:cTn id="43" dur="500"/>
                                        <p:tgtEl>
                                          <p:spTgt spid="1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 grpId="0"/>
      <p:bldP spid="94" grpId="0"/>
      <p:bldP spid="97" grpId="0"/>
      <p:bldP spid="127" grpId="0"/>
      <p:bldP spid="4" grpId="0" animBg="1"/>
      <p:bldP spid="4" grpId="1"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400" dirty="0"/>
              <a:t>UDP segment </a:t>
            </a:r>
            <a:r>
              <a:rPr lang="en-US" dirty="0"/>
              <a:t>h</a:t>
            </a:r>
            <a:r>
              <a:rPr lang="en-US" sz="4400" dirty="0"/>
              <a:t>eader</a:t>
            </a:r>
          </a:p>
        </p:txBody>
      </p:sp>
      <p:sp>
        <p:nvSpPr>
          <p:cNvPr id="29" name="Rectangle 8">
            <a:extLst>
              <a:ext uri="{FF2B5EF4-FFF2-40B4-BE49-F238E27FC236}">
                <a16:creationId xmlns:a16="http://schemas.microsoft.com/office/drawing/2014/main" id="{F52AC6CB-EA5F-E34E-A84B-F6174293B55F}"/>
              </a:ext>
            </a:extLst>
          </p:cNvPr>
          <p:cNvSpPr>
            <a:spLocks noChangeArrowheads="1"/>
          </p:cNvSpPr>
          <p:nvPr/>
        </p:nvSpPr>
        <p:spPr bwMode="auto">
          <a:xfrm>
            <a:off x="3902299" y="2017713"/>
            <a:ext cx="3324225" cy="3200400"/>
          </a:xfrm>
          <a:prstGeom prst="rect">
            <a:avLst/>
          </a:prstGeom>
          <a:solidFill>
            <a:srgbClr val="FFFFFF"/>
          </a:solidFill>
          <a:ln w="349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imes New Roman" charset="0"/>
              <a:ea typeface="ＭＳ Ｐゴシック" charset="0"/>
              <a:cs typeface="+mn-cs"/>
            </a:endParaRPr>
          </a:p>
        </p:txBody>
      </p:sp>
      <p:sp>
        <p:nvSpPr>
          <p:cNvPr id="30" name="Text Box 9">
            <a:extLst>
              <a:ext uri="{FF2B5EF4-FFF2-40B4-BE49-F238E27FC236}">
                <a16:creationId xmlns:a16="http://schemas.microsoft.com/office/drawing/2014/main" id="{C8E7AF66-85A4-6B43-AFFD-45ABC0217297}"/>
              </a:ext>
            </a:extLst>
          </p:cNvPr>
          <p:cNvSpPr txBox="1">
            <a:spLocks noChangeArrowheads="1"/>
          </p:cNvSpPr>
          <p:nvPr/>
        </p:nvSpPr>
        <p:spPr bwMode="auto">
          <a:xfrm>
            <a:off x="3941987" y="2030413"/>
            <a:ext cx="1563687" cy="36671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source port #</a:t>
            </a: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1" name="Text Box 10">
            <a:extLst>
              <a:ext uri="{FF2B5EF4-FFF2-40B4-BE49-F238E27FC236}">
                <a16:creationId xmlns:a16="http://schemas.microsoft.com/office/drawing/2014/main" id="{2F2912E8-AD40-5541-9C73-5856C97AF53A}"/>
              </a:ext>
            </a:extLst>
          </p:cNvPr>
          <p:cNvSpPr txBox="1">
            <a:spLocks noChangeArrowheads="1"/>
          </p:cNvSpPr>
          <p:nvPr/>
        </p:nvSpPr>
        <p:spPr bwMode="auto">
          <a:xfrm>
            <a:off x="5727924" y="2030413"/>
            <a:ext cx="1328738" cy="36671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dest port #</a:t>
            </a:r>
          </a:p>
        </p:txBody>
      </p:sp>
      <p:sp>
        <p:nvSpPr>
          <p:cNvPr id="32" name="Line 11">
            <a:extLst>
              <a:ext uri="{FF2B5EF4-FFF2-40B4-BE49-F238E27FC236}">
                <a16:creationId xmlns:a16="http://schemas.microsoft.com/office/drawing/2014/main" id="{D9BFD291-F38C-E245-812B-D4A7B44A296C}"/>
              </a:ext>
            </a:extLst>
          </p:cNvPr>
          <p:cNvSpPr>
            <a:spLocks noChangeShapeType="1"/>
          </p:cNvSpPr>
          <p:nvPr/>
        </p:nvSpPr>
        <p:spPr bwMode="auto">
          <a:xfrm flipV="1">
            <a:off x="3892774" y="2417763"/>
            <a:ext cx="3328988" cy="0"/>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3" name="Line 12">
            <a:extLst>
              <a:ext uri="{FF2B5EF4-FFF2-40B4-BE49-F238E27FC236}">
                <a16:creationId xmlns:a16="http://schemas.microsoft.com/office/drawing/2014/main" id="{3CE7F4CE-E33B-FD4E-B07F-F5A9DE98853E}"/>
              </a:ext>
            </a:extLst>
          </p:cNvPr>
          <p:cNvSpPr>
            <a:spLocks noChangeShapeType="1"/>
          </p:cNvSpPr>
          <p:nvPr/>
        </p:nvSpPr>
        <p:spPr bwMode="auto">
          <a:xfrm flipV="1">
            <a:off x="3883249" y="2817813"/>
            <a:ext cx="3324225" cy="0"/>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4" name="Line 13">
            <a:extLst>
              <a:ext uri="{FF2B5EF4-FFF2-40B4-BE49-F238E27FC236}">
                <a16:creationId xmlns:a16="http://schemas.microsoft.com/office/drawing/2014/main" id="{F55DFF34-EECA-F046-9F88-B6CF84CB8E0C}"/>
              </a:ext>
            </a:extLst>
          </p:cNvPr>
          <p:cNvSpPr>
            <a:spLocks noChangeShapeType="1"/>
          </p:cNvSpPr>
          <p:nvPr/>
        </p:nvSpPr>
        <p:spPr bwMode="auto">
          <a:xfrm flipV="1">
            <a:off x="5540599" y="2017713"/>
            <a:ext cx="0" cy="395287"/>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5" name="Text Box 14">
            <a:extLst>
              <a:ext uri="{FF2B5EF4-FFF2-40B4-BE49-F238E27FC236}">
                <a16:creationId xmlns:a16="http://schemas.microsoft.com/office/drawing/2014/main" id="{99267DCE-8159-FC45-B743-B474F3D4558D}"/>
              </a:ext>
            </a:extLst>
          </p:cNvPr>
          <p:cNvSpPr txBox="1">
            <a:spLocks noChangeArrowheads="1"/>
          </p:cNvSpPr>
          <p:nvPr/>
        </p:nvSpPr>
        <p:spPr bwMode="auto">
          <a:xfrm>
            <a:off x="5048474" y="1552575"/>
            <a:ext cx="936625" cy="39687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000000"/>
                </a:solidFill>
                <a:effectLst/>
                <a:uLnTx/>
                <a:uFillTx/>
                <a:latin typeface="Tahoma" charset="0"/>
                <a:ea typeface="ＭＳ Ｐゴシック" charset="0"/>
                <a:cs typeface="+mn-cs"/>
              </a:rPr>
              <a:t>32 bits</a:t>
            </a:r>
          </a:p>
        </p:txBody>
      </p:sp>
      <p:sp>
        <p:nvSpPr>
          <p:cNvPr id="36" name="Line 15">
            <a:extLst>
              <a:ext uri="{FF2B5EF4-FFF2-40B4-BE49-F238E27FC236}">
                <a16:creationId xmlns:a16="http://schemas.microsoft.com/office/drawing/2014/main" id="{8D62C2C2-8FA0-A54C-8811-9A937D96CD04}"/>
              </a:ext>
            </a:extLst>
          </p:cNvPr>
          <p:cNvSpPr>
            <a:spLocks noChangeShapeType="1"/>
          </p:cNvSpPr>
          <p:nvPr/>
        </p:nvSpPr>
        <p:spPr bwMode="auto">
          <a:xfrm>
            <a:off x="5997799" y="1784350"/>
            <a:ext cx="1200150" cy="4763"/>
          </a:xfrm>
          <a:prstGeom prst="line">
            <a:avLst/>
          </a:prstGeom>
          <a:noFill/>
          <a:ln w="19050">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7" name="Line 16">
            <a:extLst>
              <a:ext uri="{FF2B5EF4-FFF2-40B4-BE49-F238E27FC236}">
                <a16:creationId xmlns:a16="http://schemas.microsoft.com/office/drawing/2014/main" id="{DE702B00-23E1-474A-9072-DDEE50F76714}"/>
              </a:ext>
            </a:extLst>
          </p:cNvPr>
          <p:cNvSpPr>
            <a:spLocks noChangeShapeType="1"/>
          </p:cNvSpPr>
          <p:nvPr/>
        </p:nvSpPr>
        <p:spPr bwMode="auto">
          <a:xfrm rot="10800000">
            <a:off x="3888012" y="1793875"/>
            <a:ext cx="1128712" cy="0"/>
          </a:xfrm>
          <a:prstGeom prst="line">
            <a:avLst/>
          </a:prstGeom>
          <a:noFill/>
          <a:ln w="19050">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8" name="Text Box 17">
            <a:extLst>
              <a:ext uri="{FF2B5EF4-FFF2-40B4-BE49-F238E27FC236}">
                <a16:creationId xmlns:a16="http://schemas.microsoft.com/office/drawing/2014/main" id="{7A899027-0169-0E41-A632-97B068C6DCF8}"/>
              </a:ext>
            </a:extLst>
          </p:cNvPr>
          <p:cNvSpPr txBox="1">
            <a:spLocks noChangeArrowheads="1"/>
          </p:cNvSpPr>
          <p:nvPr/>
        </p:nvSpPr>
        <p:spPr bwMode="auto">
          <a:xfrm>
            <a:off x="4745262" y="3376613"/>
            <a:ext cx="1389062" cy="100647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000000"/>
                </a:solidFill>
                <a:effectLst/>
                <a:uLnTx/>
                <a:uFillTx/>
                <a:latin typeface="Tahoma" charset="0"/>
                <a:ea typeface="ＭＳ Ｐゴシック" charset="0"/>
                <a:cs typeface="+mn-cs"/>
              </a:rPr>
              <a:t>application</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000000"/>
                </a:solidFill>
                <a:effectLst/>
                <a:uLnTx/>
                <a:uFillTx/>
                <a:latin typeface="Tahoma" charset="0"/>
                <a:ea typeface="ＭＳ Ｐゴシック" charset="0"/>
                <a:cs typeface="+mn-cs"/>
              </a:rPr>
              <a:t>data </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000000"/>
                </a:solidFill>
                <a:effectLst/>
                <a:uLnTx/>
                <a:uFillTx/>
                <a:latin typeface="Tahoma" charset="0"/>
                <a:ea typeface="ＭＳ Ｐゴシック" charset="0"/>
                <a:cs typeface="+mn-cs"/>
              </a:rPr>
              <a:t>(payload)</a:t>
            </a: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9" name="Text Box 19">
            <a:extLst>
              <a:ext uri="{FF2B5EF4-FFF2-40B4-BE49-F238E27FC236}">
                <a16:creationId xmlns:a16="http://schemas.microsoft.com/office/drawing/2014/main" id="{CD850B08-5706-0344-961A-224002B37BA6}"/>
              </a:ext>
            </a:extLst>
          </p:cNvPr>
          <p:cNvSpPr txBox="1">
            <a:spLocks noChangeArrowheads="1"/>
          </p:cNvSpPr>
          <p:nvPr/>
        </p:nvSpPr>
        <p:spPr bwMode="auto">
          <a:xfrm>
            <a:off x="4338862" y="5292725"/>
            <a:ext cx="2524125" cy="39687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000000"/>
                </a:solidFill>
                <a:effectLst/>
                <a:uLnTx/>
                <a:uFillTx/>
                <a:latin typeface="Tahoma" charset="0"/>
                <a:ea typeface="ＭＳ Ｐゴシック" charset="0"/>
                <a:cs typeface="+mn-cs"/>
              </a:rPr>
              <a:t>UDP segment format</a:t>
            </a: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0" name="Line 20">
            <a:extLst>
              <a:ext uri="{FF2B5EF4-FFF2-40B4-BE49-F238E27FC236}">
                <a16:creationId xmlns:a16="http://schemas.microsoft.com/office/drawing/2014/main" id="{23E18502-A4AB-B441-8247-C60D9AD14D77}"/>
              </a:ext>
            </a:extLst>
          </p:cNvPr>
          <p:cNvSpPr>
            <a:spLocks noChangeShapeType="1"/>
          </p:cNvSpPr>
          <p:nvPr/>
        </p:nvSpPr>
        <p:spPr bwMode="auto">
          <a:xfrm flipV="1">
            <a:off x="5540599" y="2427288"/>
            <a:ext cx="0" cy="395287"/>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1" name="Text Box 22">
            <a:extLst>
              <a:ext uri="{FF2B5EF4-FFF2-40B4-BE49-F238E27FC236}">
                <a16:creationId xmlns:a16="http://schemas.microsoft.com/office/drawing/2014/main" id="{7C44E6B5-339B-1741-B9C3-A1E3E37268B0}"/>
              </a:ext>
            </a:extLst>
          </p:cNvPr>
          <p:cNvSpPr txBox="1">
            <a:spLocks noChangeArrowheads="1"/>
          </p:cNvSpPr>
          <p:nvPr/>
        </p:nvSpPr>
        <p:spPr bwMode="auto">
          <a:xfrm>
            <a:off x="4284887" y="2420938"/>
            <a:ext cx="814387" cy="36671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length</a:t>
            </a: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2" name="Text Box 23">
            <a:extLst>
              <a:ext uri="{FF2B5EF4-FFF2-40B4-BE49-F238E27FC236}">
                <a16:creationId xmlns:a16="http://schemas.microsoft.com/office/drawing/2014/main" id="{47FFCC22-7372-6744-AEF8-0A8B78529255}"/>
              </a:ext>
            </a:extLst>
          </p:cNvPr>
          <p:cNvSpPr txBox="1">
            <a:spLocks noChangeArrowheads="1"/>
          </p:cNvSpPr>
          <p:nvPr/>
        </p:nvSpPr>
        <p:spPr bwMode="auto">
          <a:xfrm>
            <a:off x="5831112" y="2411413"/>
            <a:ext cx="1176337" cy="36671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checksum</a:t>
            </a: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3" name="Text Box 24">
            <a:extLst>
              <a:ext uri="{FF2B5EF4-FFF2-40B4-BE49-F238E27FC236}">
                <a16:creationId xmlns:a16="http://schemas.microsoft.com/office/drawing/2014/main" id="{485622D4-EF6A-C34A-A27B-A6B8F83BC672}"/>
              </a:ext>
            </a:extLst>
          </p:cNvPr>
          <p:cNvSpPr txBox="1">
            <a:spLocks noChangeArrowheads="1"/>
          </p:cNvSpPr>
          <p:nvPr/>
        </p:nvSpPr>
        <p:spPr bwMode="auto">
          <a:xfrm>
            <a:off x="7623398" y="3421856"/>
            <a:ext cx="2406650" cy="915987"/>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length, in bytes of UDP segment, including header</a:t>
            </a: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4" name="Line 25">
            <a:extLst>
              <a:ext uri="{FF2B5EF4-FFF2-40B4-BE49-F238E27FC236}">
                <a16:creationId xmlns:a16="http://schemas.microsoft.com/office/drawing/2014/main" id="{1D6A5808-0448-DB49-AF97-08E63607B4AB}"/>
              </a:ext>
            </a:extLst>
          </p:cNvPr>
          <p:cNvSpPr>
            <a:spLocks noChangeShapeType="1"/>
          </p:cNvSpPr>
          <p:nvPr/>
        </p:nvSpPr>
        <p:spPr bwMode="auto">
          <a:xfrm flipH="1" flipV="1">
            <a:off x="5142136" y="2597149"/>
            <a:ext cx="3113157" cy="1285397"/>
          </a:xfrm>
          <a:prstGeom prst="line">
            <a:avLst/>
          </a:prstGeom>
          <a:noFill/>
          <a:ln w="19050">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5" name="Oval 4">
            <a:extLst>
              <a:ext uri="{FF2B5EF4-FFF2-40B4-BE49-F238E27FC236}">
                <a16:creationId xmlns:a16="http://schemas.microsoft.com/office/drawing/2014/main" id="{2155F1E7-7CEF-EC4F-9C9D-C612D6BAA462}"/>
              </a:ext>
            </a:extLst>
          </p:cNvPr>
          <p:cNvSpPr/>
          <p:nvPr/>
        </p:nvSpPr>
        <p:spPr>
          <a:xfrm>
            <a:off x="3695142" y="1957213"/>
            <a:ext cx="2097870" cy="534469"/>
          </a:xfrm>
          <a:prstGeom prst="ellipse">
            <a:avLst/>
          </a:prstGeom>
          <a:noFill/>
          <a:ln w="31750">
            <a:solidFill>
              <a:srgbClr val="CD000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6" name="Oval 25">
            <a:extLst>
              <a:ext uri="{FF2B5EF4-FFF2-40B4-BE49-F238E27FC236}">
                <a16:creationId xmlns:a16="http://schemas.microsoft.com/office/drawing/2014/main" id="{BE69DAA7-4CE3-5A48-B429-6D40B6035291}"/>
              </a:ext>
            </a:extLst>
          </p:cNvPr>
          <p:cNvSpPr/>
          <p:nvPr/>
        </p:nvSpPr>
        <p:spPr>
          <a:xfrm>
            <a:off x="5331049" y="1955208"/>
            <a:ext cx="2097870" cy="534469"/>
          </a:xfrm>
          <a:prstGeom prst="ellipse">
            <a:avLst/>
          </a:prstGeom>
          <a:noFill/>
          <a:ln w="31750">
            <a:solidFill>
              <a:srgbClr val="CD000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7" name="Oval 26">
            <a:extLst>
              <a:ext uri="{FF2B5EF4-FFF2-40B4-BE49-F238E27FC236}">
                <a16:creationId xmlns:a16="http://schemas.microsoft.com/office/drawing/2014/main" id="{AF8B7A60-8E66-CD4B-B67F-657454C69C5D}"/>
              </a:ext>
            </a:extLst>
          </p:cNvPr>
          <p:cNvSpPr/>
          <p:nvPr/>
        </p:nvSpPr>
        <p:spPr>
          <a:xfrm>
            <a:off x="3657042" y="2362801"/>
            <a:ext cx="2097870" cy="534469"/>
          </a:xfrm>
          <a:prstGeom prst="ellipse">
            <a:avLst/>
          </a:prstGeom>
          <a:noFill/>
          <a:ln w="31750">
            <a:solidFill>
              <a:srgbClr val="CD000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48" name="Oval 47">
            <a:extLst>
              <a:ext uri="{FF2B5EF4-FFF2-40B4-BE49-F238E27FC236}">
                <a16:creationId xmlns:a16="http://schemas.microsoft.com/office/drawing/2014/main" id="{AE79E99F-83A4-EE4E-9BAB-1946BFD0A4A1}"/>
              </a:ext>
            </a:extLst>
          </p:cNvPr>
          <p:cNvSpPr/>
          <p:nvPr/>
        </p:nvSpPr>
        <p:spPr>
          <a:xfrm>
            <a:off x="5290176" y="2341229"/>
            <a:ext cx="2097870" cy="534469"/>
          </a:xfrm>
          <a:prstGeom prst="ellipse">
            <a:avLst/>
          </a:prstGeom>
          <a:noFill/>
          <a:ln w="31750">
            <a:solidFill>
              <a:srgbClr val="CD000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49" name="Oval 48">
            <a:extLst>
              <a:ext uri="{FF2B5EF4-FFF2-40B4-BE49-F238E27FC236}">
                <a16:creationId xmlns:a16="http://schemas.microsoft.com/office/drawing/2014/main" id="{2AA4BE2E-C7FD-E34F-9626-C89B0B4F43FB}"/>
              </a:ext>
            </a:extLst>
          </p:cNvPr>
          <p:cNvSpPr/>
          <p:nvPr/>
        </p:nvSpPr>
        <p:spPr>
          <a:xfrm>
            <a:off x="4386800" y="3148706"/>
            <a:ext cx="2097870" cy="1560711"/>
          </a:xfrm>
          <a:prstGeom prst="ellipse">
            <a:avLst/>
          </a:prstGeom>
          <a:noFill/>
          <a:ln w="31750">
            <a:solidFill>
              <a:srgbClr val="CD000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50" name="Line 25">
            <a:extLst>
              <a:ext uri="{FF2B5EF4-FFF2-40B4-BE49-F238E27FC236}">
                <a16:creationId xmlns:a16="http://schemas.microsoft.com/office/drawing/2014/main" id="{F10F9304-7E0A-6542-A023-9D119B25A076}"/>
              </a:ext>
            </a:extLst>
          </p:cNvPr>
          <p:cNvSpPr>
            <a:spLocks noChangeShapeType="1"/>
          </p:cNvSpPr>
          <p:nvPr/>
        </p:nvSpPr>
        <p:spPr bwMode="auto">
          <a:xfrm flipH="1" flipV="1">
            <a:off x="5915202" y="3972404"/>
            <a:ext cx="3113157" cy="1285397"/>
          </a:xfrm>
          <a:prstGeom prst="line">
            <a:avLst/>
          </a:prstGeom>
          <a:noFill/>
          <a:ln w="19050">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51" name="Text Box 24">
            <a:extLst>
              <a:ext uri="{FF2B5EF4-FFF2-40B4-BE49-F238E27FC236}">
                <a16:creationId xmlns:a16="http://schemas.microsoft.com/office/drawing/2014/main" id="{E81BCD01-79B1-A943-81E4-83B20B558C90}"/>
              </a:ext>
            </a:extLst>
          </p:cNvPr>
          <p:cNvSpPr txBox="1">
            <a:spLocks noChangeArrowheads="1"/>
          </p:cNvSpPr>
          <p:nvPr/>
        </p:nvSpPr>
        <p:spPr bwMode="auto">
          <a:xfrm>
            <a:off x="8032927" y="4969559"/>
            <a:ext cx="2406650" cy="646331"/>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data to/from application layer</a:t>
            </a: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Tree>
    <p:extLst>
      <p:ext uri="{BB962C8B-B14F-4D97-AF65-F5344CB8AC3E}">
        <p14:creationId xmlns:p14="http://schemas.microsoft.com/office/powerpoint/2010/main" val="42828577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par>
                                <p:cTn id="8" presetID="9" presetClass="entr" presetSubtype="0" fill="hold" grpId="0" nodeType="withEffect">
                                  <p:stCondLst>
                                    <p:cond delay="0"/>
                                  </p:stCondLst>
                                  <p:childTnLst>
                                    <p:set>
                                      <p:cBhvr>
                                        <p:cTn id="9" dur="1" fill="hold">
                                          <p:stCondLst>
                                            <p:cond delay="0"/>
                                          </p:stCondLst>
                                        </p:cTn>
                                        <p:tgtEl>
                                          <p:spTgt spid="26"/>
                                        </p:tgtEl>
                                        <p:attrNameLst>
                                          <p:attrName>style.visibility</p:attrName>
                                        </p:attrNameLst>
                                      </p:cBhvr>
                                      <p:to>
                                        <p:strVal val="visible"/>
                                      </p:to>
                                    </p:set>
                                    <p:animEffect transition="in" filter="dissolve">
                                      <p:cBhvr>
                                        <p:cTn id="10" dur="500"/>
                                        <p:tgtEl>
                                          <p:spTgt spid="26"/>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dissolve">
                                      <p:cBhvr>
                                        <p:cTn id="15" dur="500"/>
                                        <p:tgtEl>
                                          <p:spTgt spid="27"/>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44"/>
                                        </p:tgtEl>
                                        <p:attrNameLst>
                                          <p:attrName>style.visibility</p:attrName>
                                        </p:attrNameLst>
                                      </p:cBhvr>
                                      <p:to>
                                        <p:strVal val="visible"/>
                                      </p:to>
                                    </p:set>
                                    <p:animEffect transition="in" filter="dissolve">
                                      <p:cBhvr>
                                        <p:cTn id="18" dur="500"/>
                                        <p:tgtEl>
                                          <p:spTgt spid="44"/>
                                        </p:tgtEl>
                                      </p:cBhvr>
                                    </p:animEffect>
                                  </p:childTnLst>
                                </p:cTn>
                              </p:par>
                              <p:par>
                                <p:cTn id="19" presetID="9" presetClass="entr" presetSubtype="0" fill="hold" grpId="0" nodeType="withEffect">
                                  <p:stCondLst>
                                    <p:cond delay="0"/>
                                  </p:stCondLst>
                                  <p:childTnLst>
                                    <p:set>
                                      <p:cBhvr>
                                        <p:cTn id="20" dur="1" fill="hold">
                                          <p:stCondLst>
                                            <p:cond delay="0"/>
                                          </p:stCondLst>
                                        </p:cTn>
                                        <p:tgtEl>
                                          <p:spTgt spid="43"/>
                                        </p:tgtEl>
                                        <p:attrNameLst>
                                          <p:attrName>style.visibility</p:attrName>
                                        </p:attrNameLst>
                                      </p:cBhvr>
                                      <p:to>
                                        <p:strVal val="visible"/>
                                      </p:to>
                                    </p:set>
                                    <p:animEffect transition="in" filter="dissolve">
                                      <p:cBhvr>
                                        <p:cTn id="21" dur="500"/>
                                        <p:tgtEl>
                                          <p:spTgt spid="43"/>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49"/>
                                        </p:tgtEl>
                                        <p:attrNameLst>
                                          <p:attrName>style.visibility</p:attrName>
                                        </p:attrNameLst>
                                      </p:cBhvr>
                                      <p:to>
                                        <p:strVal val="visible"/>
                                      </p:to>
                                    </p:set>
                                    <p:animEffect transition="in" filter="dissolve">
                                      <p:cBhvr>
                                        <p:cTn id="26" dur="500"/>
                                        <p:tgtEl>
                                          <p:spTgt spid="49"/>
                                        </p:tgtEl>
                                      </p:cBhvr>
                                    </p:animEffect>
                                  </p:childTnLst>
                                </p:cTn>
                              </p:par>
                              <p:par>
                                <p:cTn id="27" presetID="9" presetClass="entr" presetSubtype="0" fill="hold" grpId="0" nodeType="withEffect">
                                  <p:stCondLst>
                                    <p:cond delay="0"/>
                                  </p:stCondLst>
                                  <p:childTnLst>
                                    <p:set>
                                      <p:cBhvr>
                                        <p:cTn id="28" dur="1" fill="hold">
                                          <p:stCondLst>
                                            <p:cond delay="0"/>
                                          </p:stCondLst>
                                        </p:cTn>
                                        <p:tgtEl>
                                          <p:spTgt spid="50"/>
                                        </p:tgtEl>
                                        <p:attrNameLst>
                                          <p:attrName>style.visibility</p:attrName>
                                        </p:attrNameLst>
                                      </p:cBhvr>
                                      <p:to>
                                        <p:strVal val="visible"/>
                                      </p:to>
                                    </p:set>
                                    <p:animEffect transition="in" filter="dissolve">
                                      <p:cBhvr>
                                        <p:cTn id="29" dur="500"/>
                                        <p:tgtEl>
                                          <p:spTgt spid="50"/>
                                        </p:tgtEl>
                                      </p:cBhvr>
                                    </p:animEffect>
                                  </p:childTnLst>
                                </p:cTn>
                              </p:par>
                              <p:par>
                                <p:cTn id="30" presetID="9" presetClass="entr" presetSubtype="0" fill="hold" grpId="0" nodeType="withEffect">
                                  <p:stCondLst>
                                    <p:cond delay="0"/>
                                  </p:stCondLst>
                                  <p:childTnLst>
                                    <p:set>
                                      <p:cBhvr>
                                        <p:cTn id="31" dur="1" fill="hold">
                                          <p:stCondLst>
                                            <p:cond delay="0"/>
                                          </p:stCondLst>
                                        </p:cTn>
                                        <p:tgtEl>
                                          <p:spTgt spid="51"/>
                                        </p:tgtEl>
                                        <p:attrNameLst>
                                          <p:attrName>style.visibility</p:attrName>
                                        </p:attrNameLst>
                                      </p:cBhvr>
                                      <p:to>
                                        <p:strVal val="visible"/>
                                      </p:to>
                                    </p:set>
                                    <p:animEffect transition="in" filter="dissolve">
                                      <p:cBhvr>
                                        <p:cTn id="32" dur="500"/>
                                        <p:tgtEl>
                                          <p:spTgt spid="51"/>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48"/>
                                        </p:tgtEl>
                                        <p:attrNameLst>
                                          <p:attrName>style.visibility</p:attrName>
                                        </p:attrNameLst>
                                      </p:cBhvr>
                                      <p:to>
                                        <p:strVal val="visible"/>
                                      </p:to>
                                    </p:set>
                                    <p:animEffect transition="in" filter="dissolve">
                                      <p:cBhvr>
                                        <p:cTn id="37"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P spid="44" grpId="0" animBg="1"/>
      <p:bldP spid="5" grpId="0" animBg="1"/>
      <p:bldP spid="26" grpId="0" animBg="1"/>
      <p:bldP spid="27" grpId="0" animBg="1"/>
      <p:bldP spid="48" grpId="0" animBg="1"/>
      <p:bldP spid="49" grpId="0" animBg="1"/>
      <p:bldP spid="50" grpId="0" animBg="1"/>
      <p:bldP spid="51"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400" dirty="0"/>
              <a:t>UDP checksum</a:t>
            </a:r>
          </a:p>
        </p:txBody>
      </p:sp>
      <p:sp>
        <p:nvSpPr>
          <p:cNvPr id="48" name="Rectangle 4">
            <a:extLst>
              <a:ext uri="{FF2B5EF4-FFF2-40B4-BE49-F238E27FC236}">
                <a16:creationId xmlns:a16="http://schemas.microsoft.com/office/drawing/2014/main" id="{673A6B1C-AEDF-5947-AFDF-9232983233A4}"/>
              </a:ext>
            </a:extLst>
          </p:cNvPr>
          <p:cNvSpPr txBox="1">
            <a:spLocks noChangeArrowheads="1"/>
          </p:cNvSpPr>
          <p:nvPr/>
        </p:nvSpPr>
        <p:spPr>
          <a:xfrm>
            <a:off x="1270863" y="2652793"/>
            <a:ext cx="10241312" cy="573438"/>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30175" marR="0" lvl="0" indent="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Transmitted:            5               6                11</a:t>
            </a:r>
          </a:p>
        </p:txBody>
      </p:sp>
      <p:sp>
        <p:nvSpPr>
          <p:cNvPr id="49" name="Rectangle 5">
            <a:extLst>
              <a:ext uri="{FF2B5EF4-FFF2-40B4-BE49-F238E27FC236}">
                <a16:creationId xmlns:a16="http://schemas.microsoft.com/office/drawing/2014/main" id="{F6F1E6ED-F1FB-7542-8156-6A1C186D48CB}"/>
              </a:ext>
            </a:extLst>
          </p:cNvPr>
          <p:cNvSpPr>
            <a:spLocks noChangeArrowheads="1"/>
          </p:cNvSpPr>
          <p:nvPr/>
        </p:nvSpPr>
        <p:spPr bwMode="auto">
          <a:xfrm>
            <a:off x="798690" y="1371219"/>
            <a:ext cx="11100624" cy="84772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lvl1pPr marL="342900" indent="-342900">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342900" marR="0" lvl="0" indent="-342900" algn="l" defTabSz="914400" rtl="0" eaLnBrk="1" fontAlgn="auto" latinLnBrk="0" hangingPunct="1">
              <a:lnSpc>
                <a:spcPct val="85000"/>
              </a:lnSpc>
              <a:spcBef>
                <a:spcPct val="20000"/>
              </a:spcBef>
              <a:spcAft>
                <a:spcPts val="0"/>
              </a:spcAft>
              <a:buClr>
                <a:srgbClr val="000099"/>
              </a:buClr>
              <a:buSzPct val="65000"/>
              <a:buFont typeface="Wingdings" pitchFamily="2" charset="2"/>
              <a:buNone/>
              <a:tabLst/>
              <a:defRPr/>
            </a:pPr>
            <a:r>
              <a:rPr kumimoji="0" lang="en-US" altLang="en-US" sz="3200" b="0" i="1"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Goal:</a:t>
            </a: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a:t>
            </a:r>
            <a:r>
              <a:rPr kumimoji="0" lang="en-US" altLang="en-US" sz="3200" b="1"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detect</a:t>
            </a: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a:t>
            </a:r>
            <a:r>
              <a:rPr kumimoji="0" lang="en-US" altLang="ja-JP"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errors (</a:t>
            </a:r>
            <a:r>
              <a:rPr kumimoji="0" lang="en-US" altLang="ja-JP" sz="3200" b="0" i="1"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i.e., </a:t>
            </a:r>
            <a:r>
              <a:rPr kumimoji="0" lang="en-US" altLang="ja-JP"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flipped bits) in transmitted segment</a:t>
            </a:r>
          </a:p>
          <a:p>
            <a:pPr marL="342900" marR="0" lvl="0" indent="-342900" algn="l" defTabSz="914400" rtl="0" eaLnBrk="1" fontAlgn="auto" latinLnBrk="0" hangingPunct="1">
              <a:lnSpc>
                <a:spcPct val="85000"/>
              </a:lnSpc>
              <a:spcBef>
                <a:spcPct val="20000"/>
              </a:spcBef>
              <a:spcAft>
                <a:spcPts val="0"/>
              </a:spcAft>
              <a:buClr>
                <a:srgbClr val="000099"/>
              </a:buClr>
              <a:buSzPct val="65000"/>
              <a:buFont typeface="Wingdings" pitchFamily="2" charset="2"/>
              <a:buChar char="v"/>
              <a:tabLst/>
              <a:defRPr/>
            </a:pPr>
            <a:endParaRPr kumimoji="0" lang="en-US" altLang="en-US" sz="2800" b="0" i="0" u="none" strike="noStrike" kern="1200" cap="none" spc="0" normalizeH="0" baseline="0" noProof="0" dirty="0">
              <a:ln>
                <a:noFill/>
              </a:ln>
              <a:solidFill>
                <a:prstClr val="black"/>
              </a:solidFill>
              <a:effectLst/>
              <a:uLnTx/>
              <a:uFillTx/>
              <a:latin typeface="Gill Sans MT" panose="020B0502020104020203" pitchFamily="34" charset="77"/>
              <a:ea typeface="ＭＳ Ｐゴシック" panose="020B0600070205080204" pitchFamily="34" charset="-128"/>
              <a:cs typeface="+mn-cs"/>
            </a:endParaRPr>
          </a:p>
        </p:txBody>
      </p:sp>
      <p:sp>
        <p:nvSpPr>
          <p:cNvPr id="6" name="Rectangle 4">
            <a:extLst>
              <a:ext uri="{FF2B5EF4-FFF2-40B4-BE49-F238E27FC236}">
                <a16:creationId xmlns:a16="http://schemas.microsoft.com/office/drawing/2014/main" id="{E6366BE9-1119-E949-B583-83377BE7B2FA}"/>
              </a:ext>
            </a:extLst>
          </p:cNvPr>
          <p:cNvSpPr txBox="1">
            <a:spLocks noChangeArrowheads="1"/>
          </p:cNvSpPr>
          <p:nvPr/>
        </p:nvSpPr>
        <p:spPr>
          <a:xfrm>
            <a:off x="1717730" y="4429929"/>
            <a:ext cx="10241312" cy="573438"/>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30175" marR="0" lvl="0" indent="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Received:            4               6                11</a:t>
            </a:r>
          </a:p>
        </p:txBody>
      </p:sp>
      <p:grpSp>
        <p:nvGrpSpPr>
          <p:cNvPr id="18" name="Group 17">
            <a:extLst>
              <a:ext uri="{FF2B5EF4-FFF2-40B4-BE49-F238E27FC236}">
                <a16:creationId xmlns:a16="http://schemas.microsoft.com/office/drawing/2014/main" id="{E83263DD-30EB-3A47-BB43-1008E7B8EB3B}"/>
              </a:ext>
            </a:extLst>
          </p:cNvPr>
          <p:cNvGrpSpPr/>
          <p:nvPr/>
        </p:nvGrpSpPr>
        <p:grpSpPr>
          <a:xfrm>
            <a:off x="3781587" y="2118101"/>
            <a:ext cx="3789990" cy="374499"/>
            <a:chOff x="3781587" y="2118101"/>
            <a:chExt cx="3789990" cy="374499"/>
          </a:xfrm>
        </p:grpSpPr>
        <p:sp>
          <p:nvSpPr>
            <p:cNvPr id="3" name="TextBox 2">
              <a:extLst>
                <a:ext uri="{FF2B5EF4-FFF2-40B4-BE49-F238E27FC236}">
                  <a16:creationId xmlns:a16="http://schemas.microsoft.com/office/drawing/2014/main" id="{875CCDE0-7CCA-374E-AAE6-7714B8510863}"/>
                </a:ext>
              </a:extLst>
            </p:cNvPr>
            <p:cNvSpPr txBox="1"/>
            <p:nvPr/>
          </p:nvSpPr>
          <p:spPr>
            <a:xfrm>
              <a:off x="3781587" y="2123268"/>
              <a:ext cx="121046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1</a:t>
              </a:r>
              <a:r>
                <a:rPr kumimoji="0" lang="en-US" sz="1800" b="0" i="0" u="none" strike="noStrike" kern="1200" cap="none" spc="0" normalizeH="0" baseline="30000" noProof="0" dirty="0">
                  <a:ln>
                    <a:noFill/>
                  </a:ln>
                  <a:solidFill>
                    <a:prstClr val="black"/>
                  </a:solidFill>
                  <a:effectLst/>
                  <a:uLnTx/>
                  <a:uFillTx/>
                  <a:latin typeface="Calibri"/>
                  <a:ea typeface="+mn-ea"/>
                  <a:cs typeface="+mn-cs"/>
                </a:rPr>
                <a:t>st</a:t>
              </a:r>
              <a:r>
                <a:rPr kumimoji="0" lang="en-US" sz="1800" b="0" i="0" u="none" strike="noStrike" kern="1200" cap="none" spc="0" normalizeH="0" baseline="0" noProof="0" dirty="0">
                  <a:ln>
                    <a:noFill/>
                  </a:ln>
                  <a:solidFill>
                    <a:prstClr val="black"/>
                  </a:solidFill>
                  <a:effectLst/>
                  <a:uLnTx/>
                  <a:uFillTx/>
                  <a:latin typeface="Calibri"/>
                  <a:ea typeface="+mn-ea"/>
                  <a:cs typeface="+mn-cs"/>
                </a:rPr>
                <a:t> number</a:t>
              </a:r>
            </a:p>
          </p:txBody>
        </p:sp>
        <p:sp>
          <p:nvSpPr>
            <p:cNvPr id="8" name="TextBox 7">
              <a:extLst>
                <a:ext uri="{FF2B5EF4-FFF2-40B4-BE49-F238E27FC236}">
                  <a16:creationId xmlns:a16="http://schemas.microsoft.com/office/drawing/2014/main" id="{AC036BB1-E12C-9F45-B7AC-A46C43550AB8}"/>
                </a:ext>
              </a:extLst>
            </p:cNvPr>
            <p:cNvSpPr txBox="1"/>
            <p:nvPr/>
          </p:nvSpPr>
          <p:spPr>
            <a:xfrm>
              <a:off x="5173851" y="2120685"/>
              <a:ext cx="126028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2</a:t>
              </a:r>
              <a:r>
                <a:rPr kumimoji="0" lang="en-US" sz="1800" b="0" i="0" u="none" strike="noStrike" kern="1200" cap="none" spc="0" normalizeH="0" baseline="30000" noProof="0" dirty="0">
                  <a:ln>
                    <a:noFill/>
                  </a:ln>
                  <a:solidFill>
                    <a:prstClr val="black"/>
                  </a:solidFill>
                  <a:effectLst/>
                  <a:uLnTx/>
                  <a:uFillTx/>
                  <a:latin typeface="Calibri"/>
                  <a:ea typeface="+mn-ea"/>
                  <a:cs typeface="+mn-cs"/>
                </a:rPr>
                <a:t>nd</a:t>
              </a:r>
              <a:r>
                <a:rPr kumimoji="0" lang="en-US" sz="1800" b="0" i="0" u="none" strike="noStrike" kern="1200" cap="none" spc="0" normalizeH="0" baseline="0" noProof="0" dirty="0">
                  <a:ln>
                    <a:noFill/>
                  </a:ln>
                  <a:solidFill>
                    <a:prstClr val="black"/>
                  </a:solidFill>
                  <a:effectLst/>
                  <a:uLnTx/>
                  <a:uFillTx/>
                  <a:latin typeface="Calibri"/>
                  <a:ea typeface="+mn-ea"/>
                  <a:cs typeface="+mn-cs"/>
                </a:rPr>
                <a:t> number</a:t>
              </a:r>
            </a:p>
          </p:txBody>
        </p:sp>
        <p:sp>
          <p:nvSpPr>
            <p:cNvPr id="9" name="TextBox 8">
              <a:extLst>
                <a:ext uri="{FF2B5EF4-FFF2-40B4-BE49-F238E27FC236}">
                  <a16:creationId xmlns:a16="http://schemas.microsoft.com/office/drawing/2014/main" id="{0EF766B9-0BC5-B243-8C87-21D6B656B474}"/>
                </a:ext>
              </a:extLst>
            </p:cNvPr>
            <p:cNvSpPr txBox="1"/>
            <p:nvPr/>
          </p:nvSpPr>
          <p:spPr>
            <a:xfrm>
              <a:off x="6938070" y="2118101"/>
              <a:ext cx="63350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 sum</a:t>
              </a:r>
            </a:p>
          </p:txBody>
        </p:sp>
      </p:grpSp>
      <p:sp>
        <p:nvSpPr>
          <p:cNvPr id="5" name="Down Arrow 4">
            <a:extLst>
              <a:ext uri="{FF2B5EF4-FFF2-40B4-BE49-F238E27FC236}">
                <a16:creationId xmlns:a16="http://schemas.microsoft.com/office/drawing/2014/main" id="{25D45AF0-1848-CC41-9B94-776A4F00467D}"/>
              </a:ext>
            </a:extLst>
          </p:cNvPr>
          <p:cNvSpPr/>
          <p:nvPr/>
        </p:nvSpPr>
        <p:spPr>
          <a:xfrm>
            <a:off x="5269424" y="3316637"/>
            <a:ext cx="1131376" cy="978408"/>
          </a:xfrm>
          <a:prstGeom prst="downArrow">
            <a:avLst/>
          </a:prstGeom>
          <a:gradFill>
            <a:gsLst>
              <a:gs pos="0">
                <a:schemeClr val="accent1">
                  <a:lumMod val="5000"/>
                  <a:lumOff val="95000"/>
                </a:schemeClr>
              </a:gs>
              <a:gs pos="55000">
                <a:srgbClr val="E47E9F"/>
              </a:gs>
              <a:gs pos="83000">
                <a:srgbClr val="CD0004"/>
              </a:gs>
              <a:gs pos="100000">
                <a:srgbClr val="C00000"/>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grpSp>
        <p:nvGrpSpPr>
          <p:cNvPr id="11" name="Group 10">
            <a:extLst>
              <a:ext uri="{FF2B5EF4-FFF2-40B4-BE49-F238E27FC236}">
                <a16:creationId xmlns:a16="http://schemas.microsoft.com/office/drawing/2014/main" id="{AED0B8C6-3F4F-D744-B0D5-012F7CCC8026}"/>
              </a:ext>
            </a:extLst>
          </p:cNvPr>
          <p:cNvGrpSpPr/>
          <p:nvPr/>
        </p:nvGrpSpPr>
        <p:grpSpPr>
          <a:xfrm>
            <a:off x="4005390" y="4866468"/>
            <a:ext cx="2218236" cy="1079841"/>
            <a:chOff x="4005390" y="4866468"/>
            <a:chExt cx="2218236" cy="1079841"/>
          </a:xfrm>
        </p:grpSpPr>
        <p:sp>
          <p:nvSpPr>
            <p:cNvPr id="4" name="TextBox 3">
              <a:extLst>
                <a:ext uri="{FF2B5EF4-FFF2-40B4-BE49-F238E27FC236}">
                  <a16:creationId xmlns:a16="http://schemas.microsoft.com/office/drawing/2014/main" id="{80290089-A408-1F4D-AD89-57B6FA475BD4}"/>
                </a:ext>
              </a:extLst>
            </p:cNvPr>
            <p:cNvSpPr txBox="1"/>
            <p:nvPr/>
          </p:nvSpPr>
          <p:spPr>
            <a:xfrm>
              <a:off x="4005390" y="5238423"/>
              <a:ext cx="2218236" cy="707886"/>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receiver-computed </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checksum</a:t>
              </a:r>
            </a:p>
          </p:txBody>
        </p:sp>
        <p:sp>
          <p:nvSpPr>
            <p:cNvPr id="7" name="Right Brace 6">
              <a:extLst>
                <a:ext uri="{FF2B5EF4-FFF2-40B4-BE49-F238E27FC236}">
                  <a16:creationId xmlns:a16="http://schemas.microsoft.com/office/drawing/2014/main" id="{70805D62-6F2B-1F49-A297-2C93A181F097}"/>
                </a:ext>
              </a:extLst>
            </p:cNvPr>
            <p:cNvSpPr/>
            <p:nvPr/>
          </p:nvSpPr>
          <p:spPr>
            <a:xfrm rot="5400000">
              <a:off x="5005953" y="4107051"/>
              <a:ext cx="302449" cy="1821283"/>
            </a:xfrm>
            <a:prstGeom prst="rightBrace">
              <a:avLst/>
            </a:prstGeom>
            <a:ln w="3810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grpSp>
      <p:grpSp>
        <p:nvGrpSpPr>
          <p:cNvPr id="13" name="Group 12">
            <a:extLst>
              <a:ext uri="{FF2B5EF4-FFF2-40B4-BE49-F238E27FC236}">
                <a16:creationId xmlns:a16="http://schemas.microsoft.com/office/drawing/2014/main" id="{5499C2F8-4129-1B44-8C70-BBDF08BD1536}"/>
              </a:ext>
            </a:extLst>
          </p:cNvPr>
          <p:cNvGrpSpPr/>
          <p:nvPr/>
        </p:nvGrpSpPr>
        <p:grpSpPr>
          <a:xfrm>
            <a:off x="6880470" y="4879385"/>
            <a:ext cx="2604945" cy="1064342"/>
            <a:chOff x="6880470" y="4879385"/>
            <a:chExt cx="2604945" cy="1064342"/>
          </a:xfrm>
        </p:grpSpPr>
        <p:sp>
          <p:nvSpPr>
            <p:cNvPr id="12" name="TextBox 11">
              <a:extLst>
                <a:ext uri="{FF2B5EF4-FFF2-40B4-BE49-F238E27FC236}">
                  <a16:creationId xmlns:a16="http://schemas.microsoft.com/office/drawing/2014/main" id="{D9DCA310-B7D2-5B47-90B9-563B10E091FB}"/>
                </a:ext>
              </a:extLst>
            </p:cNvPr>
            <p:cNvSpPr txBox="1"/>
            <p:nvPr/>
          </p:nvSpPr>
          <p:spPr>
            <a:xfrm>
              <a:off x="6880470" y="5235841"/>
              <a:ext cx="2604945"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sender-computed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checksum (as received)</a:t>
              </a:r>
            </a:p>
          </p:txBody>
        </p:sp>
        <p:sp>
          <p:nvSpPr>
            <p:cNvPr id="15" name="Right Brace 14">
              <a:extLst>
                <a:ext uri="{FF2B5EF4-FFF2-40B4-BE49-F238E27FC236}">
                  <a16:creationId xmlns:a16="http://schemas.microsoft.com/office/drawing/2014/main" id="{DA615DF0-68E8-EC4F-807E-D486A3197601}"/>
                </a:ext>
              </a:extLst>
            </p:cNvPr>
            <p:cNvSpPr/>
            <p:nvPr/>
          </p:nvSpPr>
          <p:spPr>
            <a:xfrm rot="5400000">
              <a:off x="7219627" y="4631412"/>
              <a:ext cx="266054" cy="761999"/>
            </a:xfrm>
            <a:prstGeom prst="rightBrace">
              <a:avLst/>
            </a:prstGeom>
            <a:ln w="3810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grpSp>
      <p:grpSp>
        <p:nvGrpSpPr>
          <p:cNvPr id="17" name="Group 16">
            <a:extLst>
              <a:ext uri="{FF2B5EF4-FFF2-40B4-BE49-F238E27FC236}">
                <a16:creationId xmlns:a16="http://schemas.microsoft.com/office/drawing/2014/main" id="{5F01925F-F602-844A-BEF4-A6395DF560AD}"/>
              </a:ext>
            </a:extLst>
          </p:cNvPr>
          <p:cNvGrpSpPr/>
          <p:nvPr/>
        </p:nvGrpSpPr>
        <p:grpSpPr>
          <a:xfrm>
            <a:off x="6121831" y="5201334"/>
            <a:ext cx="821411" cy="1346699"/>
            <a:chOff x="6121831" y="5201334"/>
            <a:chExt cx="821411" cy="1346699"/>
          </a:xfrm>
        </p:grpSpPr>
        <p:pic>
          <p:nvPicPr>
            <p:cNvPr id="1026" name="Picture 2" descr="Image result for error">
              <a:extLst>
                <a:ext uri="{FF2B5EF4-FFF2-40B4-BE49-F238E27FC236}">
                  <a16:creationId xmlns:a16="http://schemas.microsoft.com/office/drawing/2014/main" id="{0F8C0CDD-8B63-9A4B-B799-33D82D530B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21831" y="5782776"/>
              <a:ext cx="821411" cy="765257"/>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10916598-558E-9245-AD24-594E54348A33}"/>
                </a:ext>
              </a:extLst>
            </p:cNvPr>
            <p:cNvSpPr txBox="1"/>
            <p:nvPr/>
          </p:nvSpPr>
          <p:spPr>
            <a:xfrm>
              <a:off x="6307811" y="5201334"/>
              <a:ext cx="413896"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CD0004"/>
                  </a:solidFill>
                  <a:effectLst/>
                  <a:uLnTx/>
                  <a:uFillTx/>
                  <a:latin typeface="Calibri"/>
                  <a:ea typeface="+mn-ea"/>
                  <a:cs typeface="+mn-cs"/>
                </a:rPr>
                <a:t>=</a:t>
              </a:r>
            </a:p>
          </p:txBody>
        </p:sp>
        <p:cxnSp>
          <p:nvCxnSpPr>
            <p:cNvPr id="16" name="Straight Connector 15">
              <a:extLst>
                <a:ext uri="{FF2B5EF4-FFF2-40B4-BE49-F238E27FC236}">
                  <a16:creationId xmlns:a16="http://schemas.microsoft.com/office/drawing/2014/main" id="{33E17EE6-50CC-C042-BC48-5E6E3B972272}"/>
                </a:ext>
              </a:extLst>
            </p:cNvPr>
            <p:cNvCxnSpPr/>
            <p:nvPr/>
          </p:nvCxnSpPr>
          <p:spPr>
            <a:xfrm flipH="1">
              <a:off x="6460174" y="5418195"/>
              <a:ext cx="108488" cy="247973"/>
            </a:xfrm>
            <a:prstGeom prst="line">
              <a:avLst/>
            </a:prstGeom>
            <a:ln w="31750">
              <a:solidFill>
                <a:srgbClr val="CD0004"/>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694913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dissolve">
                                      <p:cBhvr>
                                        <p:cTn id="7" dur="500"/>
                                        <p:tgtEl>
                                          <p:spTgt spid="18"/>
                                        </p:tgtEl>
                                      </p:cBhvr>
                                    </p:animEffect>
                                  </p:childTnLst>
                                </p:cTn>
                              </p:par>
                              <p:par>
                                <p:cTn id="8" presetID="9" presetClass="entr" presetSubtype="0" fill="hold" grpId="0" nodeType="withEffect">
                                  <p:stCondLst>
                                    <p:cond delay="0"/>
                                  </p:stCondLst>
                                  <p:childTnLst>
                                    <p:set>
                                      <p:cBhvr>
                                        <p:cTn id="9" dur="1" fill="hold">
                                          <p:stCondLst>
                                            <p:cond delay="0"/>
                                          </p:stCondLst>
                                        </p:cTn>
                                        <p:tgtEl>
                                          <p:spTgt spid="48"/>
                                        </p:tgtEl>
                                        <p:attrNameLst>
                                          <p:attrName>style.visibility</p:attrName>
                                        </p:attrNameLst>
                                      </p:cBhvr>
                                      <p:to>
                                        <p:strVal val="visible"/>
                                      </p:to>
                                    </p:set>
                                    <p:animEffect transition="in" filter="dissolve">
                                      <p:cBhvr>
                                        <p:cTn id="10" dur="500"/>
                                        <p:tgtEl>
                                          <p:spTgt spid="48"/>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up)">
                                      <p:cBhvr>
                                        <p:cTn id="15" dur="500"/>
                                        <p:tgtEl>
                                          <p:spTgt spid="5"/>
                                        </p:tgtEl>
                                      </p:cBhvr>
                                    </p:animEffect>
                                  </p:childTnLst>
                                </p:cTn>
                              </p:par>
                            </p:childTnLst>
                          </p:cTn>
                        </p:par>
                        <p:par>
                          <p:cTn id="16" fill="hold">
                            <p:stCondLst>
                              <p:cond delay="500"/>
                            </p:stCondLst>
                            <p:childTnLst>
                              <p:par>
                                <p:cTn id="17" presetID="9" presetClass="entr" presetSubtype="0" fill="hold" grpId="0" nodeType="after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dissolve">
                                      <p:cBhvr>
                                        <p:cTn id="19" dur="500"/>
                                        <p:tgtEl>
                                          <p:spTgt spid="6"/>
                                        </p:tgtEl>
                                      </p:cBhvr>
                                    </p:animEffect>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nodeType="click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dissolve">
                                      <p:cBhvr>
                                        <p:cTn id="24" dur="1000"/>
                                        <p:tgtEl>
                                          <p:spTgt spid="11"/>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nodeType="click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dissolve">
                                      <p:cBhvr>
                                        <p:cTn id="29" dur="10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nodeType="click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dissolve">
                                      <p:cBhvr>
                                        <p:cTn id="34"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p:bldP spid="6" grpId="0"/>
      <p:bldP spid="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400" dirty="0"/>
              <a:t>Internet checksum</a:t>
            </a:r>
          </a:p>
        </p:txBody>
      </p:sp>
      <p:sp>
        <p:nvSpPr>
          <p:cNvPr id="27" name="Rectangle 3">
            <a:extLst>
              <a:ext uri="{FF2B5EF4-FFF2-40B4-BE49-F238E27FC236}">
                <a16:creationId xmlns:a16="http://schemas.microsoft.com/office/drawing/2014/main" id="{31698387-9861-714A-B5A0-B2C8BE36CD3A}"/>
              </a:ext>
            </a:extLst>
          </p:cNvPr>
          <p:cNvSpPr txBox="1">
            <a:spLocks noChangeArrowheads="1"/>
          </p:cNvSpPr>
          <p:nvPr/>
        </p:nvSpPr>
        <p:spPr>
          <a:xfrm>
            <a:off x="990599" y="2218943"/>
            <a:ext cx="4662055" cy="4478069"/>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700" marR="0" lvl="0" indent="0" algn="l" defTabSz="914400" rtl="0" eaLnBrk="1" fontAlgn="auto" latinLnBrk="0" hangingPunct="1">
              <a:lnSpc>
                <a:spcPct val="70000"/>
              </a:lnSpc>
              <a:spcBef>
                <a:spcPts val="1000"/>
              </a:spcBef>
              <a:spcAft>
                <a:spcPts val="600"/>
              </a:spcAft>
              <a:buClr>
                <a:srgbClr val="0000A3"/>
              </a:buClr>
              <a:buSzTx/>
              <a:buFont typeface="Wingdings" pitchFamily="2" charset="2"/>
              <a:buNone/>
              <a:tabLst/>
              <a:defRPr/>
            </a:pPr>
            <a:r>
              <a:rPr kumimoji="0" lang="en-US" altLang="en-US" sz="3200" b="0" i="0"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sender:</a:t>
            </a:r>
          </a:p>
          <a:p>
            <a:pPr marR="0" lvl="0" algn="l" defTabSz="914400" rtl="0" eaLnBrk="1" fontAlgn="auto" latinLnBrk="0" hangingPunct="1">
              <a:lnSpc>
                <a:spcPct val="80000"/>
              </a:lnSpc>
              <a:spcBef>
                <a:spcPts val="1000"/>
              </a:spcBef>
              <a:spcAft>
                <a:spcPts val="600"/>
              </a:spcAft>
              <a:buClrTx/>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Treat contents of UDP segment </a:t>
            </a: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(including UDP header fields and IP addresses) </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as sequence of 16-bit integers</a:t>
            </a:r>
          </a:p>
          <a:p>
            <a:pPr marR="0" lvl="0" algn="l" defTabSz="914400" rtl="0" eaLnBrk="1" fontAlgn="auto" latinLnBrk="0" hangingPunct="1">
              <a:lnSpc>
                <a:spcPct val="80000"/>
              </a:lnSpc>
              <a:spcBef>
                <a:spcPts val="1000"/>
              </a:spcBef>
              <a:spcAft>
                <a:spcPts val="600"/>
              </a:spcAft>
              <a:buClrTx/>
              <a:buSzTx/>
              <a:buFont typeface="Arial" panose="020B0604020202020204" pitchFamily="34" charset="0"/>
              <a:buChar char="•"/>
              <a:tabLst/>
              <a:defRPr/>
            </a:pPr>
            <a:r>
              <a:rPr kumimoji="0" lang="en-US" altLang="en-US" sz="2800" b="0" i="0" u="none"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mn-cs"/>
              </a:rPr>
              <a:t>Checksum: </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addition </a:t>
            </a: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(one’</a:t>
            </a:r>
            <a:r>
              <a:rPr kumimoji="0" lang="en-US" altLang="ja-JP"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 complement sum)</a:t>
            </a:r>
            <a:r>
              <a:rPr kumimoji="0" lang="en-US" altLang="ja-JP"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of segment content</a:t>
            </a:r>
          </a:p>
          <a:p>
            <a:pPr marR="0" lvl="0" algn="l" defTabSz="914400" rtl="0" eaLnBrk="1" fontAlgn="auto" latinLnBrk="0" hangingPunct="1">
              <a:lnSpc>
                <a:spcPct val="80000"/>
              </a:lnSpc>
              <a:spcBef>
                <a:spcPts val="1000"/>
              </a:spcBef>
              <a:spcAft>
                <a:spcPts val="600"/>
              </a:spcAft>
              <a:buClrTx/>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Checksum value put into UDP checksum field</a:t>
            </a:r>
          </a:p>
          <a:p>
            <a:pPr marL="352425" marR="0" lvl="0" indent="-222250" algn="l" defTabSz="914400" rtl="0" eaLnBrk="1" fontAlgn="auto" latinLnBrk="0" hangingPunct="1">
              <a:lnSpc>
                <a:spcPct val="70000"/>
              </a:lnSpc>
              <a:spcBef>
                <a:spcPts val="1000"/>
              </a:spcBef>
              <a:spcAft>
                <a:spcPts val="600"/>
              </a:spcAft>
              <a:buClr>
                <a:srgbClr val="0000A3"/>
              </a:buClr>
              <a:buSzTx/>
              <a:buFont typeface="Wingdings" pitchFamily="2" charset="2"/>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a:p>
            <a:pPr marL="352425" marR="0" lvl="0" indent="-222250" algn="l" defTabSz="914400" rtl="0" eaLnBrk="1" fontAlgn="auto" latinLnBrk="0" hangingPunct="1">
              <a:lnSpc>
                <a:spcPct val="70000"/>
              </a:lnSpc>
              <a:spcBef>
                <a:spcPts val="1000"/>
              </a:spcBef>
              <a:spcAft>
                <a:spcPts val="600"/>
              </a:spcAft>
              <a:buClr>
                <a:srgbClr val="0000A3"/>
              </a:buClr>
              <a:buSzTx/>
              <a:buFont typeface="Wingdings" pitchFamily="2" charset="2"/>
              <a:buChar char="§"/>
              <a:tabLst/>
              <a:defRPr/>
            </a:pPr>
            <a:endPar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48" name="Rectangle 4">
            <a:extLst>
              <a:ext uri="{FF2B5EF4-FFF2-40B4-BE49-F238E27FC236}">
                <a16:creationId xmlns:a16="http://schemas.microsoft.com/office/drawing/2014/main" id="{673A6B1C-AEDF-5947-AFDF-9232983233A4}"/>
              </a:ext>
            </a:extLst>
          </p:cNvPr>
          <p:cNvSpPr txBox="1">
            <a:spLocks noChangeArrowheads="1"/>
          </p:cNvSpPr>
          <p:nvPr/>
        </p:nvSpPr>
        <p:spPr>
          <a:xfrm>
            <a:off x="5767820" y="2132890"/>
            <a:ext cx="5728855" cy="4082476"/>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600"/>
              </a:spcAft>
              <a:buClr>
                <a:srgbClr val="0000A3"/>
              </a:buClr>
              <a:buSzTx/>
              <a:buFont typeface="Wingdings" pitchFamily="2" charset="2"/>
              <a:buNone/>
              <a:tabLst/>
              <a:defRPr/>
            </a:pPr>
            <a:r>
              <a:rPr kumimoji="0" lang="en-US" altLang="en-US" sz="3200" b="0" i="0"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receiver</a:t>
            </a:r>
            <a:r>
              <a:rPr kumimoji="0" lang="en-US" altLang="en-US" sz="3500" b="0" i="0"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a:t>
            </a:r>
          </a:p>
          <a:p>
            <a:pPr marR="0" lvl="0" algn="l" defTabSz="914400" rtl="0" eaLnBrk="1" fontAlgn="auto" latinLnBrk="0" hangingPunct="1">
              <a:lnSpc>
                <a:spcPct val="90000"/>
              </a:lnSpc>
              <a:spcBef>
                <a:spcPts val="1000"/>
              </a:spcBef>
              <a:spcAft>
                <a:spcPts val="600"/>
              </a:spcAft>
              <a:buClrTx/>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Compute checksum of received segment</a:t>
            </a:r>
          </a:p>
          <a:p>
            <a:pPr marR="0" lvl="0" algn="l" defTabSz="914400" rtl="0" eaLnBrk="1" fontAlgn="auto" latinLnBrk="0" hangingPunct="1">
              <a:lnSpc>
                <a:spcPct val="90000"/>
              </a:lnSpc>
              <a:spcBef>
                <a:spcPts val="1000"/>
              </a:spcBef>
              <a:spcAft>
                <a:spcPts val="600"/>
              </a:spcAft>
              <a:buClrTx/>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Check if computed checksum equals checksum field value:</a:t>
            </a:r>
          </a:p>
          <a:p>
            <a:pPr marR="0" lvl="1" algn="l" defTabSz="914400" rtl="0" eaLnBrk="1" fontAlgn="auto" latinLnBrk="0" hangingPunct="1">
              <a:lnSpc>
                <a:spcPct val="90000"/>
              </a:lnSpc>
              <a:spcBef>
                <a:spcPts val="500"/>
              </a:spcBef>
              <a:spcAft>
                <a:spcPts val="600"/>
              </a:spcAft>
              <a:buClrTx/>
              <a:buSzTx/>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not equal - error detected</a:t>
            </a:r>
          </a:p>
          <a:p>
            <a:pPr marR="0" lvl="1" algn="l" defTabSz="914400" rtl="0" eaLnBrk="1" fontAlgn="auto" latinLnBrk="0" hangingPunct="1">
              <a:lnSpc>
                <a:spcPct val="90000"/>
              </a:lnSpc>
              <a:spcBef>
                <a:spcPts val="500"/>
              </a:spcBef>
              <a:spcAft>
                <a:spcPts val="600"/>
              </a:spcAft>
              <a:buClrTx/>
              <a:buSzTx/>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equal - no error detected. </a:t>
            </a:r>
            <a:r>
              <a:rPr kumimoji="0" lang="en-US" altLang="en-US" sz="2400" b="0" i="1"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But maybe errors nonetheless?</a:t>
            </a: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More later ….</a:t>
            </a:r>
          </a:p>
          <a:p>
            <a:pPr marL="352425" marR="0" lvl="0" indent="-222250" algn="l" defTabSz="914400" rtl="0" eaLnBrk="1" fontAlgn="auto" latinLnBrk="0" hangingPunct="1">
              <a:lnSpc>
                <a:spcPct val="90000"/>
              </a:lnSpc>
              <a:spcBef>
                <a:spcPts val="1000"/>
              </a:spcBef>
              <a:spcAft>
                <a:spcPts val="600"/>
              </a:spcAft>
              <a:buClr>
                <a:srgbClr val="0000A3"/>
              </a:buClr>
              <a:buSzTx/>
              <a:buFont typeface="Wingdings" pitchFamily="2" charset="2"/>
              <a:buChar char="§"/>
              <a:tabLst/>
              <a:defRPr/>
            </a:pPr>
            <a:endPar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49" name="Rectangle 5">
            <a:extLst>
              <a:ext uri="{FF2B5EF4-FFF2-40B4-BE49-F238E27FC236}">
                <a16:creationId xmlns:a16="http://schemas.microsoft.com/office/drawing/2014/main" id="{F6F1E6ED-F1FB-7542-8156-6A1C186D48CB}"/>
              </a:ext>
            </a:extLst>
          </p:cNvPr>
          <p:cNvSpPr>
            <a:spLocks noChangeArrowheads="1"/>
          </p:cNvSpPr>
          <p:nvPr/>
        </p:nvSpPr>
        <p:spPr bwMode="auto">
          <a:xfrm>
            <a:off x="798690" y="1371219"/>
            <a:ext cx="11100624" cy="84772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lvl1pPr marL="342900" indent="-342900">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342900" marR="0" lvl="0" indent="-342900" algn="l" defTabSz="914400" rtl="0" eaLnBrk="1" fontAlgn="auto" latinLnBrk="0" hangingPunct="1">
              <a:lnSpc>
                <a:spcPct val="85000"/>
              </a:lnSpc>
              <a:spcBef>
                <a:spcPct val="20000"/>
              </a:spcBef>
              <a:spcAft>
                <a:spcPts val="0"/>
              </a:spcAft>
              <a:buClr>
                <a:srgbClr val="000099"/>
              </a:buClr>
              <a:buSzPct val="65000"/>
              <a:buFont typeface="Wingdings" pitchFamily="2" charset="2"/>
              <a:buNone/>
              <a:tabLst/>
              <a:defRPr/>
            </a:pPr>
            <a:r>
              <a:rPr kumimoji="0" lang="en-US" altLang="en-US" sz="3200" b="0" i="1"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Goal:</a:t>
            </a: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detect </a:t>
            </a:r>
            <a:r>
              <a:rPr kumimoji="0" lang="en-US" altLang="ja-JP"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errors (</a:t>
            </a:r>
            <a:r>
              <a:rPr kumimoji="0" lang="en-US" altLang="ja-JP" sz="3200" b="0" i="1"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i.e., </a:t>
            </a:r>
            <a:r>
              <a:rPr kumimoji="0" lang="en-US" altLang="ja-JP"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flipped bits) in transmitted segment</a:t>
            </a:r>
          </a:p>
          <a:p>
            <a:pPr marL="342900" marR="0" lvl="0" indent="-342900" algn="l" defTabSz="914400" rtl="0" eaLnBrk="1" fontAlgn="auto" latinLnBrk="0" hangingPunct="1">
              <a:lnSpc>
                <a:spcPct val="85000"/>
              </a:lnSpc>
              <a:spcBef>
                <a:spcPct val="20000"/>
              </a:spcBef>
              <a:spcAft>
                <a:spcPts val="0"/>
              </a:spcAft>
              <a:buClr>
                <a:srgbClr val="000099"/>
              </a:buClr>
              <a:buSzPct val="65000"/>
              <a:buFont typeface="Wingdings" pitchFamily="2" charset="2"/>
              <a:buChar char="v"/>
              <a:tabLst/>
              <a:defRPr/>
            </a:pPr>
            <a:endParaRPr kumimoji="0" lang="en-US" altLang="en-US" sz="2800" b="0" i="0" u="none" strike="noStrike" kern="1200" cap="none" spc="0" normalizeH="0" baseline="0" noProof="0" dirty="0">
              <a:ln>
                <a:noFill/>
              </a:ln>
              <a:solidFill>
                <a:prstClr val="black"/>
              </a:solidFill>
              <a:effectLst/>
              <a:uLnTx/>
              <a:uFillTx/>
              <a:latin typeface="Gill Sans MT" panose="020B0502020104020203" pitchFamily="34" charset="77"/>
              <a:ea typeface="ＭＳ Ｐゴシック" panose="020B0600070205080204" pitchFamily="34" charset="-128"/>
              <a:cs typeface="+mn-cs"/>
            </a:endParaRPr>
          </a:p>
        </p:txBody>
      </p:sp>
    </p:spTree>
    <p:extLst>
      <p:ext uri="{BB962C8B-B14F-4D97-AF65-F5344CB8AC3E}">
        <p14:creationId xmlns:p14="http://schemas.microsoft.com/office/powerpoint/2010/main" val="1211972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dissolve">
                                      <p:cBhvr>
                                        <p:cTn id="7"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400" dirty="0"/>
              <a:t>Internet checksum: an example</a:t>
            </a:r>
          </a:p>
        </p:txBody>
      </p:sp>
      <p:sp>
        <p:nvSpPr>
          <p:cNvPr id="7" name="Rectangle 3">
            <a:extLst>
              <a:ext uri="{FF2B5EF4-FFF2-40B4-BE49-F238E27FC236}">
                <a16:creationId xmlns:a16="http://schemas.microsoft.com/office/drawing/2014/main" id="{7C7658E3-6D58-8445-A9E1-703A91A67575}"/>
              </a:ext>
            </a:extLst>
          </p:cNvPr>
          <p:cNvSpPr txBox="1">
            <a:spLocks noChangeArrowheads="1"/>
          </p:cNvSpPr>
          <p:nvPr/>
        </p:nvSpPr>
        <p:spPr>
          <a:xfrm>
            <a:off x="1215441" y="1452111"/>
            <a:ext cx="7772400" cy="274320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33363" marR="0" lvl="0" indent="-233363" algn="l" defTabSz="914400" rtl="0" eaLnBrk="1" fontAlgn="auto" latinLnBrk="0" hangingPunct="1">
              <a:lnSpc>
                <a:spcPct val="130000"/>
              </a:lnSpc>
              <a:spcBef>
                <a:spcPts val="1000"/>
              </a:spcBef>
              <a:spcAft>
                <a:spcPts val="0"/>
              </a:spcAft>
              <a:buClr>
                <a:srgbClr val="0000A3"/>
              </a:buClr>
              <a:buSzTx/>
              <a:buFont typeface="Wingdings" charset="0"/>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example: add two 16-bit integers</a:t>
            </a:r>
          </a:p>
        </p:txBody>
      </p:sp>
      <p:sp>
        <p:nvSpPr>
          <p:cNvPr id="9" name="Line 5">
            <a:extLst>
              <a:ext uri="{FF2B5EF4-FFF2-40B4-BE49-F238E27FC236}">
                <a16:creationId xmlns:a16="http://schemas.microsoft.com/office/drawing/2014/main" id="{763B3A78-1E2C-5A4B-AA3C-267B38DDCC5E}"/>
              </a:ext>
            </a:extLst>
          </p:cNvPr>
          <p:cNvSpPr>
            <a:spLocks noChangeShapeType="1"/>
          </p:cNvSpPr>
          <p:nvPr/>
        </p:nvSpPr>
        <p:spPr bwMode="auto">
          <a:xfrm flipH="1">
            <a:off x="2466391" y="3069774"/>
            <a:ext cx="6477000" cy="0"/>
          </a:xfrm>
          <a:prstGeom prst="line">
            <a:avLst/>
          </a:prstGeom>
          <a:noFill/>
          <a:ln w="12700">
            <a:solidFill>
              <a:schemeClr val="tx1"/>
            </a:solidFill>
            <a:round/>
            <a:headEnd type="none" w="sm"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12" name="Text Box 8">
            <a:extLst>
              <a:ext uri="{FF2B5EF4-FFF2-40B4-BE49-F238E27FC236}">
                <a16:creationId xmlns:a16="http://schemas.microsoft.com/office/drawing/2014/main" id="{5EB760DD-5067-0241-ACCB-6E4282E949DB}"/>
              </a:ext>
            </a:extLst>
          </p:cNvPr>
          <p:cNvSpPr txBox="1">
            <a:spLocks noChangeArrowheads="1"/>
          </p:cNvSpPr>
          <p:nvPr/>
        </p:nvSpPr>
        <p:spPr bwMode="auto">
          <a:xfrm>
            <a:off x="1777296" y="3862762"/>
            <a:ext cx="636587" cy="39687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type="none" w="sm" len="me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sum</a:t>
            </a:r>
          </a:p>
        </p:txBody>
      </p:sp>
      <p:sp>
        <p:nvSpPr>
          <p:cNvPr id="13" name="Text Box 9">
            <a:extLst>
              <a:ext uri="{FF2B5EF4-FFF2-40B4-BE49-F238E27FC236}">
                <a16:creationId xmlns:a16="http://schemas.microsoft.com/office/drawing/2014/main" id="{D58D347C-3618-AD46-999E-771E7BB4EFFB}"/>
              </a:ext>
            </a:extLst>
          </p:cNvPr>
          <p:cNvSpPr txBox="1">
            <a:spLocks noChangeArrowheads="1"/>
          </p:cNvSpPr>
          <p:nvPr/>
        </p:nvSpPr>
        <p:spPr bwMode="auto">
          <a:xfrm>
            <a:off x="1192843" y="4300504"/>
            <a:ext cx="3444276" cy="707886"/>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type="none" w="sm" len="me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checksum</a:t>
            </a:r>
          </a:p>
          <a:p>
            <a:pPr lvl="0">
              <a:defRPr/>
            </a:pPr>
            <a:r>
              <a:rPr lang="en-US" sz="2000" dirty="0">
                <a:solidFill>
                  <a:prstClr val="black"/>
                </a:solidFill>
                <a:latin typeface="Calibri" panose="020F0502020204030204"/>
              </a:rPr>
              <a:t>(one’s complement of the sum)</a:t>
            </a:r>
            <a:endPar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p:txBody>
      </p:sp>
      <p:sp>
        <p:nvSpPr>
          <p:cNvPr id="16" name="Text Box 15">
            <a:extLst>
              <a:ext uri="{FF2B5EF4-FFF2-40B4-BE49-F238E27FC236}">
                <a16:creationId xmlns:a16="http://schemas.microsoft.com/office/drawing/2014/main" id="{228BD91C-645B-7B49-B807-EF571877C7E5}"/>
              </a:ext>
            </a:extLst>
          </p:cNvPr>
          <p:cNvSpPr txBox="1">
            <a:spLocks noChangeArrowheads="1"/>
          </p:cNvSpPr>
          <p:nvPr/>
        </p:nvSpPr>
        <p:spPr bwMode="auto">
          <a:xfrm>
            <a:off x="916633" y="5300221"/>
            <a:ext cx="10367961" cy="72295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85000"/>
              </a:lnSpc>
              <a:spcBef>
                <a:spcPct val="20000"/>
              </a:spcBef>
              <a:spcAft>
                <a:spcPts val="0"/>
              </a:spcAft>
              <a:buClr>
                <a:srgbClr val="000099"/>
              </a:buClr>
              <a:buSzPct val="65000"/>
              <a:buFont typeface="Wingdings" charset="0"/>
              <a:buNone/>
              <a:tabLst/>
              <a:defRPr/>
            </a:pPr>
            <a:r>
              <a:rPr kumimoji="0" lang="en-US" sz="2400" b="0" i="1"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Note:</a:t>
            </a:r>
            <a:r>
              <a:rPr kumimoji="0" lang="en-US" sz="2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 when adding numbers, a carryout from the most significant bit needs to be added to the result</a:t>
            </a:r>
          </a:p>
        </p:txBody>
      </p:sp>
      <p:sp>
        <p:nvSpPr>
          <p:cNvPr id="17" name="TextBox 1">
            <a:extLst>
              <a:ext uri="{FF2B5EF4-FFF2-40B4-BE49-F238E27FC236}">
                <a16:creationId xmlns:a16="http://schemas.microsoft.com/office/drawing/2014/main" id="{898A9607-38BF-9544-B70F-067CC64A39AE}"/>
              </a:ext>
            </a:extLst>
          </p:cNvPr>
          <p:cNvSpPr txBox="1">
            <a:spLocks noChangeArrowheads="1"/>
          </p:cNvSpPr>
          <p:nvPr/>
        </p:nvSpPr>
        <p:spPr bwMode="auto">
          <a:xfrm>
            <a:off x="850466" y="6260898"/>
            <a:ext cx="985722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lvl="0">
              <a:defRPr/>
            </a:pPr>
            <a:r>
              <a:rPr kumimoji="0" lang="en-US" altLang="en-US" sz="1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 Check out the online interactive exercises for more examples: </a:t>
            </a:r>
            <a:r>
              <a:rPr lang="en-US" altLang="en-US" sz="1400" dirty="0">
                <a:solidFill>
                  <a:prstClr val="black"/>
                </a:solidFill>
                <a:latin typeface="Arial" panose="020B0604020202020204" pitchFamily="34" charset="0"/>
                <a:hlinkClick r:id="rId3"/>
              </a:rPr>
              <a:t>http://gaia.cs.umass.edu/kurose_ross/interactive/internet_checksum.php</a:t>
            </a:r>
            <a:r>
              <a:rPr lang="en-US" altLang="en-US" sz="1400" dirty="0">
                <a:solidFill>
                  <a:prstClr val="black"/>
                </a:solidFill>
                <a:latin typeface="Arial" panose="020B0604020202020204" pitchFamily="34" charset="0"/>
              </a:rPr>
              <a:t> </a:t>
            </a:r>
            <a:endParaRPr kumimoji="0" lang="en-US" altLang="en-US" sz="12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4" name="TextBox 3">
            <a:extLst>
              <a:ext uri="{FF2B5EF4-FFF2-40B4-BE49-F238E27FC236}">
                <a16:creationId xmlns:a16="http://schemas.microsoft.com/office/drawing/2014/main" id="{55CFACF2-9C75-D845-963C-B6B5F2FFE843}"/>
              </a:ext>
            </a:extLst>
          </p:cNvPr>
          <p:cNvSpPr txBox="1"/>
          <p:nvPr/>
        </p:nvSpPr>
        <p:spPr>
          <a:xfrm>
            <a:off x="2863959" y="2205031"/>
            <a:ext cx="5899372"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ourier" pitchFamily="2" charset="0"/>
                <a:ea typeface="+mn-ea"/>
                <a:cs typeface="+mn-cs"/>
              </a:rPr>
              <a:t>1 1 1 0 0 1 1 0 0 1 1 0 0 1 1 0</a:t>
            </a:r>
          </a:p>
        </p:txBody>
      </p:sp>
      <p:sp>
        <p:nvSpPr>
          <p:cNvPr id="19" name="TextBox 18">
            <a:extLst>
              <a:ext uri="{FF2B5EF4-FFF2-40B4-BE49-F238E27FC236}">
                <a16:creationId xmlns:a16="http://schemas.microsoft.com/office/drawing/2014/main" id="{A0134F71-DAF2-4A4A-8007-D61D5E84A131}"/>
              </a:ext>
            </a:extLst>
          </p:cNvPr>
          <p:cNvSpPr txBox="1"/>
          <p:nvPr/>
        </p:nvSpPr>
        <p:spPr>
          <a:xfrm>
            <a:off x="2868710" y="2580910"/>
            <a:ext cx="5899372"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ourier" pitchFamily="2" charset="0"/>
                <a:ea typeface="+mn-ea"/>
                <a:cs typeface="+mn-cs"/>
              </a:rPr>
              <a:t>1 1 0 1 0 1 0 1 0 1 0 1 0 1 0 1</a:t>
            </a:r>
          </a:p>
        </p:txBody>
      </p:sp>
      <p:sp>
        <p:nvSpPr>
          <p:cNvPr id="20" name="TextBox 19">
            <a:extLst>
              <a:ext uri="{FF2B5EF4-FFF2-40B4-BE49-F238E27FC236}">
                <a16:creationId xmlns:a16="http://schemas.microsoft.com/office/drawing/2014/main" id="{890C7D96-F575-4046-84E4-2FDF9898E9B2}"/>
              </a:ext>
            </a:extLst>
          </p:cNvPr>
          <p:cNvSpPr txBox="1"/>
          <p:nvPr/>
        </p:nvSpPr>
        <p:spPr>
          <a:xfrm>
            <a:off x="2501968" y="3194702"/>
            <a:ext cx="6268063"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ourier" pitchFamily="2" charset="0"/>
                <a:ea typeface="+mn-ea"/>
                <a:cs typeface="+mn-cs"/>
              </a:rPr>
              <a:t>1 1 0 1 1 1 0 1 1 1 0 1 1 1 0 1 1</a:t>
            </a:r>
          </a:p>
        </p:txBody>
      </p:sp>
      <p:sp>
        <p:nvSpPr>
          <p:cNvPr id="10" name="Oval 6">
            <a:extLst>
              <a:ext uri="{FF2B5EF4-FFF2-40B4-BE49-F238E27FC236}">
                <a16:creationId xmlns:a16="http://schemas.microsoft.com/office/drawing/2014/main" id="{23B7D25F-DD2D-6943-A612-1B140865E470}"/>
              </a:ext>
            </a:extLst>
          </p:cNvPr>
          <p:cNvSpPr>
            <a:spLocks noChangeArrowheads="1"/>
          </p:cNvSpPr>
          <p:nvPr/>
        </p:nvSpPr>
        <p:spPr bwMode="auto">
          <a:xfrm>
            <a:off x="2516833" y="3264149"/>
            <a:ext cx="304800" cy="304800"/>
          </a:xfrm>
          <a:prstGeom prst="ellipse">
            <a:avLst/>
          </a:prstGeom>
          <a:noFill/>
          <a:ln w="9525">
            <a:solidFill>
              <a:srgbClr val="FF0000"/>
            </a:solidFill>
            <a:round/>
            <a:headEnd type="none" w="sm" len="med"/>
            <a:tailEnd/>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11" name="Text Box 7">
            <a:extLst>
              <a:ext uri="{FF2B5EF4-FFF2-40B4-BE49-F238E27FC236}">
                <a16:creationId xmlns:a16="http://schemas.microsoft.com/office/drawing/2014/main" id="{02C19D06-A871-3D4E-A141-88A98E4A3180}"/>
              </a:ext>
            </a:extLst>
          </p:cNvPr>
          <p:cNvSpPr txBox="1">
            <a:spLocks noChangeArrowheads="1"/>
          </p:cNvSpPr>
          <p:nvPr/>
        </p:nvSpPr>
        <p:spPr bwMode="auto">
          <a:xfrm>
            <a:off x="916633" y="3201536"/>
            <a:ext cx="1559401" cy="707886"/>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type="none" w="sm" len="me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wraparound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solidFill>
                  <a:prstClr val="black"/>
                </a:solidFill>
                <a:latin typeface="Calibri" panose="020F0502020204030204"/>
              </a:rPr>
              <a:t>(carryout bit)</a:t>
            </a:r>
            <a:endPar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p:txBody>
      </p:sp>
      <p:sp>
        <p:nvSpPr>
          <p:cNvPr id="14" name="Line 10">
            <a:extLst>
              <a:ext uri="{FF2B5EF4-FFF2-40B4-BE49-F238E27FC236}">
                <a16:creationId xmlns:a16="http://schemas.microsoft.com/office/drawing/2014/main" id="{D9BAD80C-425E-F145-9700-2D18230226CD}"/>
              </a:ext>
            </a:extLst>
          </p:cNvPr>
          <p:cNvSpPr>
            <a:spLocks noChangeShapeType="1"/>
          </p:cNvSpPr>
          <p:nvPr/>
        </p:nvSpPr>
        <p:spPr bwMode="auto">
          <a:xfrm flipH="1">
            <a:off x="2440633" y="3788911"/>
            <a:ext cx="6477000" cy="0"/>
          </a:xfrm>
          <a:prstGeom prst="line">
            <a:avLst/>
          </a:prstGeom>
          <a:noFill/>
          <a:ln w="12700">
            <a:solidFill>
              <a:schemeClr val="tx1"/>
            </a:solidFill>
            <a:round/>
            <a:headEnd type="none" w="sm"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15" name="Freeform 11">
            <a:extLst>
              <a:ext uri="{FF2B5EF4-FFF2-40B4-BE49-F238E27FC236}">
                <a16:creationId xmlns:a16="http://schemas.microsoft.com/office/drawing/2014/main" id="{5AD71209-A9E2-794D-88A1-4B84AF2607D1}"/>
              </a:ext>
            </a:extLst>
          </p:cNvPr>
          <p:cNvSpPr>
            <a:spLocks/>
          </p:cNvSpPr>
          <p:nvPr/>
        </p:nvSpPr>
        <p:spPr bwMode="auto">
          <a:xfrm>
            <a:off x="2669233" y="3576532"/>
            <a:ext cx="5795540" cy="95077"/>
          </a:xfrm>
          <a:custGeom>
            <a:avLst/>
            <a:gdLst>
              <a:gd name="T0" fmla="*/ 0 w 3788"/>
              <a:gd name="T1" fmla="*/ 0 h 58"/>
              <a:gd name="T2" fmla="*/ 0 w 3788"/>
              <a:gd name="T3" fmla="*/ 2147483647 h 58"/>
              <a:gd name="T4" fmla="*/ 2147483647 w 3788"/>
              <a:gd name="T5" fmla="*/ 2147483647 h 58"/>
              <a:gd name="T6" fmla="*/ 0 60000 65536"/>
              <a:gd name="T7" fmla="*/ 0 60000 65536"/>
              <a:gd name="T8" fmla="*/ 0 60000 65536"/>
            </a:gdLst>
            <a:ahLst/>
            <a:cxnLst>
              <a:cxn ang="T6">
                <a:pos x="T0" y="T1"/>
              </a:cxn>
              <a:cxn ang="T7">
                <a:pos x="T2" y="T3"/>
              </a:cxn>
              <a:cxn ang="T8">
                <a:pos x="T4" y="T5"/>
              </a:cxn>
            </a:cxnLst>
            <a:rect l="0" t="0" r="r" b="b"/>
            <a:pathLst>
              <a:path w="3788" h="58">
                <a:moveTo>
                  <a:pt x="0" y="0"/>
                </a:moveTo>
                <a:lnTo>
                  <a:pt x="0" y="58"/>
                </a:lnTo>
                <a:lnTo>
                  <a:pt x="3788" y="58"/>
                </a:lnTo>
              </a:path>
            </a:pathLst>
          </a:custGeom>
          <a:noFill/>
          <a:ln w="9525" cap="flat" cmpd="sng">
            <a:solidFill>
              <a:srgbClr val="FF0000"/>
            </a:solidFill>
            <a:prstDash val="solid"/>
            <a:round/>
            <a:headEnd type="none" w="sm" len="med"/>
            <a:tailEnd type="stealth"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Box 20">
            <a:extLst>
              <a:ext uri="{FF2B5EF4-FFF2-40B4-BE49-F238E27FC236}">
                <a16:creationId xmlns:a16="http://schemas.microsoft.com/office/drawing/2014/main" id="{C9994788-E9D3-5D40-89C2-5666242ECA9E}"/>
              </a:ext>
            </a:extLst>
          </p:cNvPr>
          <p:cNvSpPr txBox="1"/>
          <p:nvPr/>
        </p:nvSpPr>
        <p:spPr>
          <a:xfrm>
            <a:off x="2475478" y="3863610"/>
            <a:ext cx="6268063"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ourier" pitchFamily="2" charset="0"/>
                <a:ea typeface="+mn-ea"/>
                <a:cs typeface="+mn-cs"/>
              </a:rPr>
              <a:t>  1 0 1 1 1 0 1 1 1 0 1 1 1 1 0 0</a:t>
            </a:r>
          </a:p>
        </p:txBody>
      </p:sp>
      <p:sp>
        <p:nvSpPr>
          <p:cNvPr id="22" name="TextBox 21">
            <a:extLst>
              <a:ext uri="{FF2B5EF4-FFF2-40B4-BE49-F238E27FC236}">
                <a16:creationId xmlns:a16="http://schemas.microsoft.com/office/drawing/2014/main" id="{6DDD65BC-0FF7-354F-9157-61D155DA77EA}"/>
              </a:ext>
            </a:extLst>
          </p:cNvPr>
          <p:cNvSpPr txBox="1"/>
          <p:nvPr/>
        </p:nvSpPr>
        <p:spPr>
          <a:xfrm>
            <a:off x="2505831" y="4287924"/>
            <a:ext cx="6268063"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ourier" pitchFamily="2" charset="0"/>
                <a:ea typeface="+mn-ea"/>
                <a:cs typeface="+mn-cs"/>
              </a:rPr>
              <a:t>  0 1 0 0 0 1 0 0 0 1 0 0 0 0 1 1</a:t>
            </a:r>
          </a:p>
        </p:txBody>
      </p:sp>
      <p:sp>
        <p:nvSpPr>
          <p:cNvPr id="5" name="TextBox 4">
            <a:extLst>
              <a:ext uri="{FF2B5EF4-FFF2-40B4-BE49-F238E27FC236}">
                <a16:creationId xmlns:a16="http://schemas.microsoft.com/office/drawing/2014/main" id="{A4AD4ED4-A2F3-655E-3836-1E15AC3C1F07}"/>
              </a:ext>
            </a:extLst>
          </p:cNvPr>
          <p:cNvSpPr txBox="1"/>
          <p:nvPr/>
        </p:nvSpPr>
        <p:spPr>
          <a:xfrm>
            <a:off x="9110656" y="2986092"/>
            <a:ext cx="2955838" cy="1200329"/>
          </a:xfrm>
          <a:prstGeom prst="rect">
            <a:avLst/>
          </a:prstGeom>
          <a:noFill/>
        </p:spPr>
        <p:txBody>
          <a:bodyPr wrap="square">
            <a:spAutoFit/>
          </a:bodyPr>
          <a:lstStyle/>
          <a:p>
            <a:pPr>
              <a:spcAft>
                <a:spcPts val="600"/>
              </a:spcAft>
            </a:pPr>
            <a:r>
              <a:rPr lang="en-US" sz="2400" dirty="0"/>
              <a:t>The </a:t>
            </a:r>
            <a:r>
              <a:rPr lang="en-US" sz="2400" b="1" dirty="0">
                <a:solidFill>
                  <a:srgbClr val="C00000"/>
                </a:solidFill>
              </a:rPr>
              <a:t>carryout</a:t>
            </a:r>
            <a:r>
              <a:rPr lang="en-US" sz="2400" dirty="0"/>
              <a:t> bit is added back into the LSB of the result</a:t>
            </a:r>
          </a:p>
        </p:txBody>
      </p:sp>
    </p:spTree>
    <p:extLst>
      <p:ext uri="{BB962C8B-B14F-4D97-AF65-F5344CB8AC3E}">
        <p14:creationId xmlns:p14="http://schemas.microsoft.com/office/powerpoint/2010/main" val="22279723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dissolve">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dissolve">
                                      <p:cBhvr>
                                        <p:cTn id="12" dur="500"/>
                                        <p:tgtEl>
                                          <p:spTgt spid="11"/>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dissolve">
                                      <p:cBhvr>
                                        <p:cTn id="15" dur="500"/>
                                        <p:tgtEl>
                                          <p:spTgt spid="10"/>
                                        </p:tgtEl>
                                      </p:cBhvr>
                                    </p:animEffect>
                                  </p:childTnLst>
                                </p:cTn>
                              </p:par>
                            </p:childTnLst>
                          </p:cTn>
                        </p:par>
                        <p:par>
                          <p:cTn id="16" fill="hold">
                            <p:stCondLst>
                              <p:cond delay="500"/>
                            </p:stCondLst>
                            <p:childTnLst>
                              <p:par>
                                <p:cTn id="17" presetID="22" presetClass="entr" presetSubtype="8" fill="hold" grpId="0" nodeType="afterEffect">
                                  <p:stCondLst>
                                    <p:cond delay="500"/>
                                  </p:stCondLst>
                                  <p:childTnLst>
                                    <p:set>
                                      <p:cBhvr>
                                        <p:cTn id="18" dur="1" fill="hold">
                                          <p:stCondLst>
                                            <p:cond delay="0"/>
                                          </p:stCondLst>
                                        </p:cTn>
                                        <p:tgtEl>
                                          <p:spTgt spid="15"/>
                                        </p:tgtEl>
                                        <p:attrNameLst>
                                          <p:attrName>style.visibility</p:attrName>
                                        </p:attrNameLst>
                                      </p:cBhvr>
                                      <p:to>
                                        <p:strVal val="visible"/>
                                      </p:to>
                                    </p:set>
                                    <p:animEffect transition="in" filter="wipe(left)">
                                      <p:cBhvr>
                                        <p:cTn id="19" dur="500"/>
                                        <p:tgtEl>
                                          <p:spTgt spid="15"/>
                                        </p:tgtEl>
                                      </p:cBhvr>
                                    </p:animEffect>
                                  </p:childTnLst>
                                </p:cTn>
                              </p:par>
                            </p:childTnLst>
                          </p:cTn>
                        </p:par>
                        <p:par>
                          <p:cTn id="20" fill="hold">
                            <p:stCondLst>
                              <p:cond delay="1500"/>
                            </p:stCondLst>
                            <p:childTnLst>
                              <p:par>
                                <p:cTn id="21" presetID="9" presetClass="entr" presetSubtype="0" fill="hold" grpId="0" nodeType="afterEffect">
                                  <p:stCondLst>
                                    <p:cond delay="500"/>
                                  </p:stCondLst>
                                  <p:childTnLst>
                                    <p:set>
                                      <p:cBhvr>
                                        <p:cTn id="22" dur="1" fill="hold">
                                          <p:stCondLst>
                                            <p:cond delay="0"/>
                                          </p:stCondLst>
                                        </p:cTn>
                                        <p:tgtEl>
                                          <p:spTgt spid="14"/>
                                        </p:tgtEl>
                                        <p:attrNameLst>
                                          <p:attrName>style.visibility</p:attrName>
                                        </p:attrNameLst>
                                      </p:cBhvr>
                                      <p:to>
                                        <p:strVal val="visible"/>
                                      </p:to>
                                    </p:set>
                                    <p:animEffect transition="in" filter="dissolve">
                                      <p:cBhvr>
                                        <p:cTn id="23" dur="500"/>
                                        <p:tgtEl>
                                          <p:spTgt spid="14"/>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dissolve">
                                      <p:cBhvr>
                                        <p:cTn id="26" dur="500"/>
                                        <p:tgtEl>
                                          <p:spTgt spid="16"/>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dissolve">
                                      <p:cBhvr>
                                        <p:cTn id="31" dur="500"/>
                                        <p:tgtEl>
                                          <p:spTgt spid="21"/>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dissolve">
                                      <p:cBhvr>
                                        <p:cTn id="34" dur="500"/>
                                        <p:tgtEl>
                                          <p:spTgt spid="12"/>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grpId="0" nodeType="clickEffect">
                                  <p:stCondLst>
                                    <p:cond delay="0"/>
                                  </p:stCondLst>
                                  <p:childTnLst>
                                    <p:set>
                                      <p:cBhvr>
                                        <p:cTn id="38" dur="1" fill="hold">
                                          <p:stCondLst>
                                            <p:cond delay="0"/>
                                          </p:stCondLst>
                                        </p:cTn>
                                        <p:tgtEl>
                                          <p:spTgt spid="22"/>
                                        </p:tgtEl>
                                        <p:attrNameLst>
                                          <p:attrName>style.visibility</p:attrName>
                                        </p:attrNameLst>
                                      </p:cBhvr>
                                      <p:to>
                                        <p:strVal val="visible"/>
                                      </p:to>
                                    </p:set>
                                    <p:animEffect transition="in" filter="dissolve">
                                      <p:cBhvr>
                                        <p:cTn id="39" dur="500"/>
                                        <p:tgtEl>
                                          <p:spTgt spid="22"/>
                                        </p:tgtEl>
                                      </p:cBhvr>
                                    </p:animEffect>
                                  </p:childTnLst>
                                </p:cTn>
                              </p:par>
                              <p:par>
                                <p:cTn id="40" presetID="9" presetClass="entr" presetSubtype="0" fill="hold" grpId="0" nodeType="with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dissolve">
                                      <p:cBhvr>
                                        <p:cTn id="4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6" grpId="0"/>
      <p:bldP spid="20" grpId="0"/>
      <p:bldP spid="10" grpId="0" animBg="1"/>
      <p:bldP spid="11" grpId="0"/>
      <p:bldP spid="14" grpId="0" animBg="1"/>
      <p:bldP spid="15" grpId="0" animBg="1"/>
      <p:bldP spid="21" grpId="0"/>
      <p:bldP spid="2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400" dirty="0"/>
              <a:t>UDP Checksum Calculation at the Sender</a:t>
            </a:r>
          </a:p>
        </p:txBody>
      </p:sp>
      <p:sp>
        <p:nvSpPr>
          <p:cNvPr id="3" name="Rectangle 3">
            <a:extLst>
              <a:ext uri="{FF2B5EF4-FFF2-40B4-BE49-F238E27FC236}">
                <a16:creationId xmlns:a16="http://schemas.microsoft.com/office/drawing/2014/main" id="{F97E0AC9-764D-0256-855B-2332FA985EF5}"/>
              </a:ext>
            </a:extLst>
          </p:cNvPr>
          <p:cNvSpPr txBox="1">
            <a:spLocks noChangeArrowheads="1"/>
          </p:cNvSpPr>
          <p:nvPr/>
        </p:nvSpPr>
        <p:spPr>
          <a:xfrm>
            <a:off x="146342" y="1366059"/>
            <a:ext cx="11899315" cy="4991154"/>
          </a:xfrm>
          <a:prstGeom prst="rect">
            <a:avLst/>
          </a:prstGeom>
        </p:spPr>
        <p:txBody>
          <a:bodyPr vert="horz" lIns="91440" tIns="45720" rIns="91440" bIns="45720" rtlCol="0">
            <a:normAutofit lnSpcReduction="1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R="0" lvl="0" algn="l" defTabSz="914400" rtl="0" eaLnBrk="1" fontAlgn="auto" latinLnBrk="0" hangingPunct="1">
              <a:lnSpc>
                <a:spcPct val="80000"/>
              </a:lnSpc>
              <a:spcBef>
                <a:spcPts val="1000"/>
              </a:spcBef>
              <a:spcAft>
                <a:spcPts val="600"/>
              </a:spcAft>
              <a:buClrTx/>
              <a:buSzTx/>
              <a:buFont typeface="Arial" panose="020B0604020202020204" pitchFamily="34" charset="0"/>
              <a:buChar char="•"/>
              <a:tabLst/>
              <a:defRPr/>
            </a:pPr>
            <a:r>
              <a:rPr lang="en-US" altLang="en-US" sz="3200" dirty="0">
                <a:solidFill>
                  <a:prstClr val="black"/>
                </a:solidFill>
                <a:latin typeface="Calibri"/>
              </a:rPr>
              <a:t>Prepare the UDP packet:</a:t>
            </a:r>
          </a:p>
          <a:p>
            <a:pPr lvl="1">
              <a:lnSpc>
                <a:spcPct val="80000"/>
              </a:lnSpc>
              <a:spcAft>
                <a:spcPts val="600"/>
              </a:spcAft>
              <a:buClrTx/>
              <a:defRPr/>
            </a:pPr>
            <a:r>
              <a:rPr lang="en-US" altLang="en-US" sz="2800" dirty="0">
                <a:solidFill>
                  <a:prstClr val="black"/>
                </a:solidFill>
                <a:latin typeface="Calibri"/>
              </a:rPr>
              <a:t>Header fields: source port, destination port, checksum (initialized as 0)</a:t>
            </a:r>
          </a:p>
          <a:p>
            <a:pPr lvl="1">
              <a:lnSpc>
                <a:spcPct val="80000"/>
              </a:lnSpc>
              <a:spcAft>
                <a:spcPts val="600"/>
              </a:spcAft>
              <a:buClrTx/>
              <a:defRPr/>
            </a:pPr>
            <a:r>
              <a:rPr lang="en-US" altLang="en-US" sz="2800" dirty="0">
                <a:solidFill>
                  <a:prstClr val="black"/>
                </a:solidFill>
                <a:latin typeface="Calibri"/>
              </a:rPr>
              <a:t>Data: The actual payload being sent (e.g., DNS query).</a:t>
            </a:r>
          </a:p>
          <a:p>
            <a:pPr>
              <a:lnSpc>
                <a:spcPct val="80000"/>
              </a:lnSpc>
              <a:spcAft>
                <a:spcPts val="600"/>
              </a:spcAft>
              <a:buClrTx/>
              <a:buFont typeface="Arial" panose="020B0604020202020204" pitchFamily="34" charset="0"/>
              <a:buChar char="•"/>
              <a:defRPr/>
            </a:pPr>
            <a:r>
              <a:rPr lang="en-US" altLang="en-US" sz="3200" dirty="0">
                <a:solidFill>
                  <a:prstClr val="black"/>
                </a:solidFill>
                <a:latin typeface="Calibri"/>
              </a:rPr>
              <a:t>Create the pseudo-header:</a:t>
            </a:r>
          </a:p>
          <a:p>
            <a:pPr lvl="1">
              <a:lnSpc>
                <a:spcPct val="80000"/>
              </a:lnSpc>
              <a:spcAft>
                <a:spcPts val="600"/>
              </a:spcAft>
              <a:buClrTx/>
              <a:defRPr/>
            </a:pPr>
            <a:r>
              <a:rPr lang="en-US" altLang="en-US" sz="2800" dirty="0">
                <a:solidFill>
                  <a:prstClr val="black"/>
                </a:solidFill>
                <a:latin typeface="Calibri"/>
              </a:rPr>
              <a:t>Source IP, destination IP, protocol number (17 for UDP), total length (header &amp; data)</a:t>
            </a:r>
          </a:p>
          <a:p>
            <a:pPr>
              <a:lnSpc>
                <a:spcPct val="80000"/>
              </a:lnSpc>
              <a:spcAft>
                <a:spcPts val="600"/>
              </a:spcAft>
              <a:buClrTx/>
              <a:buFont typeface="Arial" panose="020B0604020202020204" pitchFamily="34" charset="0"/>
              <a:buChar char="•"/>
              <a:defRPr/>
            </a:pPr>
            <a:r>
              <a:rPr lang="en-US" altLang="en-US" sz="3200" dirty="0">
                <a:solidFill>
                  <a:prstClr val="black"/>
                </a:solidFill>
                <a:latin typeface="Calibri"/>
              </a:rPr>
              <a:t>Compute &amp; insert checksum:</a:t>
            </a:r>
          </a:p>
          <a:p>
            <a:pPr lvl="1">
              <a:lnSpc>
                <a:spcPct val="80000"/>
              </a:lnSpc>
              <a:spcAft>
                <a:spcPts val="600"/>
              </a:spcAft>
              <a:buClrTx/>
              <a:defRPr/>
            </a:pPr>
            <a:r>
              <a:rPr lang="en-US" altLang="en-US" sz="2800" dirty="0">
                <a:solidFill>
                  <a:prstClr val="black"/>
                </a:solidFill>
                <a:latin typeface="Calibri"/>
              </a:rPr>
              <a:t>Concatenate pseudo-header, UDP header, and data as a unified structure</a:t>
            </a:r>
          </a:p>
          <a:p>
            <a:pPr lvl="1">
              <a:lnSpc>
                <a:spcPct val="80000"/>
              </a:lnSpc>
              <a:spcAft>
                <a:spcPts val="600"/>
              </a:spcAft>
              <a:buClrTx/>
              <a:defRPr/>
            </a:pPr>
            <a:r>
              <a:rPr lang="en-US" altLang="en-US" sz="2800" dirty="0">
                <a:solidFill>
                  <a:prstClr val="black"/>
                </a:solidFill>
                <a:latin typeface="Calibri"/>
              </a:rPr>
              <a:t>Interpret the above structure as 16-bit integers to compute the checksum</a:t>
            </a:r>
          </a:p>
          <a:p>
            <a:pPr lvl="1">
              <a:lnSpc>
                <a:spcPct val="80000"/>
              </a:lnSpc>
              <a:spcAft>
                <a:spcPts val="600"/>
              </a:spcAft>
              <a:buClrTx/>
              <a:defRPr/>
            </a:pPr>
            <a:r>
              <a:rPr lang="en-US" altLang="en-US" sz="2800" dirty="0">
                <a:solidFill>
                  <a:prstClr val="black"/>
                </a:solidFill>
                <a:latin typeface="Calibri"/>
              </a:rPr>
              <a:t>Insert the checksum into the UDP header</a:t>
            </a:r>
          </a:p>
          <a:p>
            <a:pPr lvl="1">
              <a:lnSpc>
                <a:spcPct val="80000"/>
              </a:lnSpc>
              <a:spcAft>
                <a:spcPts val="600"/>
              </a:spcAft>
              <a:buClrTx/>
              <a:defRPr/>
            </a:pPr>
            <a:r>
              <a:rPr lang="en-US" altLang="en-US" sz="2800" dirty="0">
                <a:solidFill>
                  <a:srgbClr val="C00000"/>
                </a:solidFill>
                <a:latin typeface="Calibri"/>
              </a:rPr>
              <a:t>A special case</a:t>
            </a:r>
            <a:r>
              <a:rPr lang="en-US" altLang="en-US" sz="2800" dirty="0">
                <a:solidFill>
                  <a:prstClr val="black"/>
                </a:solidFill>
                <a:latin typeface="Calibri"/>
              </a:rPr>
              <a:t>: if the computed checksum is zero; it’s transmitted as 0xFFFF</a:t>
            </a:r>
          </a:p>
          <a:p>
            <a:pPr marR="0" lvl="0" algn="l" defTabSz="914400" rtl="0" eaLnBrk="1" fontAlgn="auto" latinLnBrk="0" hangingPunct="1">
              <a:lnSpc>
                <a:spcPct val="70000"/>
              </a:lnSpc>
              <a:spcBef>
                <a:spcPts val="1000"/>
              </a:spcBef>
              <a:spcAft>
                <a:spcPts val="600"/>
              </a:spcAft>
              <a:buClrTx/>
              <a:buSzTx/>
              <a:buFont typeface="Arial" panose="020B0604020202020204" pitchFamily="34" charset="0"/>
              <a:buChar char="•"/>
              <a:tabLst/>
              <a:defRPr/>
            </a:pPr>
            <a:endPar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Tree>
    <p:extLst>
      <p:ext uri="{BB962C8B-B14F-4D97-AF65-F5344CB8AC3E}">
        <p14:creationId xmlns:p14="http://schemas.microsoft.com/office/powerpoint/2010/main" val="18635325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400" dirty="0"/>
              <a:t>UDP Checksum Verification at the Receiver</a:t>
            </a:r>
          </a:p>
        </p:txBody>
      </p:sp>
      <p:sp>
        <p:nvSpPr>
          <p:cNvPr id="3" name="Rectangle 3">
            <a:extLst>
              <a:ext uri="{FF2B5EF4-FFF2-40B4-BE49-F238E27FC236}">
                <a16:creationId xmlns:a16="http://schemas.microsoft.com/office/drawing/2014/main" id="{F97E0AC9-764D-0256-855B-2332FA985EF5}"/>
              </a:ext>
            </a:extLst>
          </p:cNvPr>
          <p:cNvSpPr txBox="1">
            <a:spLocks noChangeArrowheads="1"/>
          </p:cNvSpPr>
          <p:nvPr/>
        </p:nvSpPr>
        <p:spPr>
          <a:xfrm>
            <a:off x="0" y="1357094"/>
            <a:ext cx="12192000" cy="4991154"/>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R="0" lvl="0" algn="l" defTabSz="914400" rtl="0" eaLnBrk="1" fontAlgn="auto" latinLnBrk="0" hangingPunct="1">
              <a:lnSpc>
                <a:spcPct val="80000"/>
              </a:lnSpc>
              <a:spcBef>
                <a:spcPts val="1000"/>
              </a:spcBef>
              <a:spcAft>
                <a:spcPts val="600"/>
              </a:spcAft>
              <a:buClrTx/>
              <a:buSzTx/>
              <a:buFont typeface="Arial" panose="020B0604020202020204" pitchFamily="34" charset="0"/>
              <a:buChar char="•"/>
              <a:tabLst/>
              <a:defRPr/>
            </a:pPr>
            <a:r>
              <a:rPr lang="en-US" altLang="en-US" sz="3200" dirty="0">
                <a:solidFill>
                  <a:prstClr val="black"/>
                </a:solidFill>
                <a:latin typeface="Calibri"/>
              </a:rPr>
              <a:t>Receive the UDP packet:</a:t>
            </a:r>
          </a:p>
          <a:p>
            <a:pPr lvl="1">
              <a:lnSpc>
                <a:spcPct val="80000"/>
              </a:lnSpc>
              <a:spcAft>
                <a:spcPts val="600"/>
              </a:spcAft>
              <a:buClrTx/>
              <a:defRPr/>
            </a:pPr>
            <a:r>
              <a:rPr lang="en-US" altLang="en-US" sz="2800" dirty="0">
                <a:solidFill>
                  <a:prstClr val="black"/>
                </a:solidFill>
                <a:latin typeface="Calibri"/>
              </a:rPr>
              <a:t>Extract source port, destination port, length, checksum, and payload data</a:t>
            </a:r>
          </a:p>
          <a:p>
            <a:pPr>
              <a:lnSpc>
                <a:spcPct val="80000"/>
              </a:lnSpc>
              <a:spcAft>
                <a:spcPts val="600"/>
              </a:spcAft>
              <a:buClrTx/>
              <a:buFont typeface="Arial" panose="020B0604020202020204" pitchFamily="34" charset="0"/>
              <a:buChar char="•"/>
              <a:defRPr/>
            </a:pPr>
            <a:r>
              <a:rPr lang="en-US" altLang="en-US" sz="3200" dirty="0">
                <a:solidFill>
                  <a:prstClr val="black"/>
                </a:solidFill>
                <a:latin typeface="Calibri"/>
              </a:rPr>
              <a:t>Rebuild the pseudo-header:</a:t>
            </a:r>
          </a:p>
          <a:p>
            <a:pPr lvl="1">
              <a:lnSpc>
                <a:spcPct val="80000"/>
              </a:lnSpc>
              <a:spcAft>
                <a:spcPts val="600"/>
              </a:spcAft>
              <a:buClrTx/>
              <a:defRPr/>
            </a:pPr>
            <a:r>
              <a:rPr lang="en-US" altLang="en-US" sz="2800" dirty="0">
                <a:solidFill>
                  <a:prstClr val="black"/>
                </a:solidFill>
                <a:latin typeface="Calibri"/>
              </a:rPr>
              <a:t>Source IP, destination IP, protocol number (17), total length (header &amp; data)</a:t>
            </a:r>
          </a:p>
          <a:p>
            <a:pPr>
              <a:lnSpc>
                <a:spcPct val="80000"/>
              </a:lnSpc>
              <a:spcAft>
                <a:spcPts val="600"/>
              </a:spcAft>
              <a:buClrTx/>
              <a:buFont typeface="Arial" panose="020B0604020202020204" pitchFamily="34" charset="0"/>
              <a:buChar char="•"/>
              <a:defRPr/>
            </a:pPr>
            <a:r>
              <a:rPr lang="en-US" altLang="en-US" sz="3200" dirty="0">
                <a:solidFill>
                  <a:prstClr val="black"/>
                </a:solidFill>
                <a:latin typeface="Calibri"/>
              </a:rPr>
              <a:t>Verify checksum:</a:t>
            </a:r>
          </a:p>
          <a:p>
            <a:pPr lvl="1">
              <a:lnSpc>
                <a:spcPct val="80000"/>
              </a:lnSpc>
              <a:spcAft>
                <a:spcPts val="600"/>
              </a:spcAft>
              <a:buClrTx/>
              <a:defRPr/>
            </a:pPr>
            <a:r>
              <a:rPr lang="en-US" altLang="en-US" sz="2800" dirty="0">
                <a:solidFill>
                  <a:prstClr val="black"/>
                </a:solidFill>
                <a:latin typeface="Calibri"/>
              </a:rPr>
              <a:t>Re-create the same structure as the sender for checksum verification</a:t>
            </a:r>
          </a:p>
          <a:p>
            <a:pPr lvl="1">
              <a:lnSpc>
                <a:spcPct val="80000"/>
              </a:lnSpc>
              <a:spcAft>
                <a:spcPts val="600"/>
              </a:spcAft>
              <a:buClrTx/>
              <a:defRPr/>
            </a:pPr>
            <a:r>
              <a:rPr lang="en-US" altLang="en-US" sz="2800" dirty="0">
                <a:solidFill>
                  <a:prstClr val="black"/>
                </a:solidFill>
                <a:latin typeface="Calibri"/>
              </a:rPr>
              <a:t>Verify checksum: all 16-bit words, </a:t>
            </a:r>
            <a:r>
              <a:rPr lang="en-US" altLang="en-US" sz="2800" b="1" dirty="0">
                <a:solidFill>
                  <a:srgbClr val="C00000"/>
                </a:solidFill>
                <a:latin typeface="Calibri"/>
              </a:rPr>
              <a:t>including the received checksum</a:t>
            </a:r>
          </a:p>
          <a:p>
            <a:pPr lvl="1">
              <a:lnSpc>
                <a:spcPct val="80000"/>
              </a:lnSpc>
              <a:spcAft>
                <a:spcPts val="600"/>
              </a:spcAft>
              <a:buClrTx/>
              <a:defRPr/>
            </a:pPr>
            <a:r>
              <a:rPr lang="en-US" altLang="en-US" sz="2800" dirty="0">
                <a:solidFill>
                  <a:prstClr val="black"/>
                </a:solidFill>
                <a:latin typeface="Calibri"/>
              </a:rPr>
              <a:t>Apply wraparound to carry out bits (same as sender)</a:t>
            </a:r>
          </a:p>
          <a:p>
            <a:pPr lvl="1">
              <a:lnSpc>
                <a:spcPct val="80000"/>
              </a:lnSpc>
              <a:spcAft>
                <a:spcPts val="600"/>
              </a:spcAft>
              <a:buClrTx/>
              <a:defRPr/>
            </a:pPr>
            <a:r>
              <a:rPr lang="en-US" altLang="en-US" sz="2800" dirty="0">
                <a:solidFill>
                  <a:prstClr val="black"/>
                </a:solidFill>
                <a:latin typeface="Calibri"/>
              </a:rPr>
              <a:t>Verify if the result is all 1s (1111 1111 1111 1111)</a:t>
            </a:r>
          </a:p>
        </p:txBody>
      </p:sp>
    </p:spTree>
    <p:extLst>
      <p:ext uri="{BB962C8B-B14F-4D97-AF65-F5344CB8AC3E}">
        <p14:creationId xmlns:p14="http://schemas.microsoft.com/office/powerpoint/2010/main" val="42923079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400" dirty="0"/>
              <a:t>Internet checksum: weak protection!</a:t>
            </a:r>
          </a:p>
        </p:txBody>
      </p:sp>
      <p:sp>
        <p:nvSpPr>
          <p:cNvPr id="7" name="Rectangle 3">
            <a:extLst>
              <a:ext uri="{FF2B5EF4-FFF2-40B4-BE49-F238E27FC236}">
                <a16:creationId xmlns:a16="http://schemas.microsoft.com/office/drawing/2014/main" id="{7C7658E3-6D58-8445-A9E1-703A91A67575}"/>
              </a:ext>
            </a:extLst>
          </p:cNvPr>
          <p:cNvSpPr txBox="1">
            <a:spLocks noChangeArrowheads="1"/>
          </p:cNvSpPr>
          <p:nvPr/>
        </p:nvSpPr>
        <p:spPr>
          <a:xfrm>
            <a:off x="1215441" y="1452111"/>
            <a:ext cx="7772400" cy="274320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33363" marR="0" lvl="0" indent="-233363" algn="l" defTabSz="914400" rtl="0" eaLnBrk="1" fontAlgn="auto" latinLnBrk="0" hangingPunct="1">
              <a:lnSpc>
                <a:spcPct val="130000"/>
              </a:lnSpc>
              <a:spcBef>
                <a:spcPts val="1000"/>
              </a:spcBef>
              <a:spcAft>
                <a:spcPts val="0"/>
              </a:spcAft>
              <a:buClr>
                <a:srgbClr val="0000A3"/>
              </a:buClr>
              <a:buSzTx/>
              <a:buFont typeface="Wingdings" charset="0"/>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example: add two 16-bit integers</a:t>
            </a:r>
          </a:p>
        </p:txBody>
      </p:sp>
      <p:sp>
        <p:nvSpPr>
          <p:cNvPr id="9" name="Line 5">
            <a:extLst>
              <a:ext uri="{FF2B5EF4-FFF2-40B4-BE49-F238E27FC236}">
                <a16:creationId xmlns:a16="http://schemas.microsoft.com/office/drawing/2014/main" id="{763B3A78-1E2C-5A4B-AA3C-267B38DDCC5E}"/>
              </a:ext>
            </a:extLst>
          </p:cNvPr>
          <p:cNvSpPr>
            <a:spLocks noChangeShapeType="1"/>
          </p:cNvSpPr>
          <p:nvPr/>
        </p:nvSpPr>
        <p:spPr bwMode="auto">
          <a:xfrm flipH="1">
            <a:off x="2466391" y="3069774"/>
            <a:ext cx="6477000" cy="0"/>
          </a:xfrm>
          <a:prstGeom prst="line">
            <a:avLst/>
          </a:prstGeom>
          <a:noFill/>
          <a:ln w="12700">
            <a:solidFill>
              <a:schemeClr val="tx1"/>
            </a:solidFill>
            <a:round/>
            <a:headEnd type="none" w="sm"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12" name="Text Box 8">
            <a:extLst>
              <a:ext uri="{FF2B5EF4-FFF2-40B4-BE49-F238E27FC236}">
                <a16:creationId xmlns:a16="http://schemas.microsoft.com/office/drawing/2014/main" id="{5EB760DD-5067-0241-ACCB-6E4282E949DB}"/>
              </a:ext>
            </a:extLst>
          </p:cNvPr>
          <p:cNvSpPr txBox="1">
            <a:spLocks noChangeArrowheads="1"/>
          </p:cNvSpPr>
          <p:nvPr/>
        </p:nvSpPr>
        <p:spPr bwMode="auto">
          <a:xfrm>
            <a:off x="1777296" y="3862762"/>
            <a:ext cx="636587" cy="39687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type="none" w="sm" len="me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sum</a:t>
            </a:r>
          </a:p>
        </p:txBody>
      </p:sp>
      <p:sp>
        <p:nvSpPr>
          <p:cNvPr id="13" name="Text Box 9">
            <a:extLst>
              <a:ext uri="{FF2B5EF4-FFF2-40B4-BE49-F238E27FC236}">
                <a16:creationId xmlns:a16="http://schemas.microsoft.com/office/drawing/2014/main" id="{D58D347C-3618-AD46-999E-771E7BB4EFFB}"/>
              </a:ext>
            </a:extLst>
          </p:cNvPr>
          <p:cNvSpPr txBox="1">
            <a:spLocks noChangeArrowheads="1"/>
          </p:cNvSpPr>
          <p:nvPr/>
        </p:nvSpPr>
        <p:spPr bwMode="auto">
          <a:xfrm>
            <a:off x="1192843" y="4300504"/>
            <a:ext cx="1221040" cy="40011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type="none" w="sm" len="me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checksum</a:t>
            </a:r>
          </a:p>
        </p:txBody>
      </p:sp>
      <p:sp>
        <p:nvSpPr>
          <p:cNvPr id="4" name="TextBox 3">
            <a:extLst>
              <a:ext uri="{FF2B5EF4-FFF2-40B4-BE49-F238E27FC236}">
                <a16:creationId xmlns:a16="http://schemas.microsoft.com/office/drawing/2014/main" id="{55CFACF2-9C75-D845-963C-B6B5F2FFE843}"/>
              </a:ext>
            </a:extLst>
          </p:cNvPr>
          <p:cNvSpPr txBox="1"/>
          <p:nvPr/>
        </p:nvSpPr>
        <p:spPr>
          <a:xfrm>
            <a:off x="2863959" y="2205031"/>
            <a:ext cx="5899372"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ourier" pitchFamily="2" charset="0"/>
                <a:ea typeface="+mn-ea"/>
                <a:cs typeface="+mn-cs"/>
              </a:rPr>
              <a:t>1 1 1 0 0 1 1 0 0 1 1 0 0 1 1 0</a:t>
            </a:r>
          </a:p>
        </p:txBody>
      </p:sp>
      <p:sp>
        <p:nvSpPr>
          <p:cNvPr id="19" name="TextBox 18">
            <a:extLst>
              <a:ext uri="{FF2B5EF4-FFF2-40B4-BE49-F238E27FC236}">
                <a16:creationId xmlns:a16="http://schemas.microsoft.com/office/drawing/2014/main" id="{A0134F71-DAF2-4A4A-8007-D61D5E84A131}"/>
              </a:ext>
            </a:extLst>
          </p:cNvPr>
          <p:cNvSpPr txBox="1"/>
          <p:nvPr/>
        </p:nvSpPr>
        <p:spPr>
          <a:xfrm>
            <a:off x="2868710" y="2580910"/>
            <a:ext cx="5899372"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ourier" pitchFamily="2" charset="0"/>
                <a:ea typeface="+mn-ea"/>
                <a:cs typeface="+mn-cs"/>
              </a:rPr>
              <a:t>1 1 0 1 0 1 0 1 0 1 0 1 0 1 0 1</a:t>
            </a:r>
          </a:p>
        </p:txBody>
      </p:sp>
      <p:sp>
        <p:nvSpPr>
          <p:cNvPr id="20" name="TextBox 19">
            <a:extLst>
              <a:ext uri="{FF2B5EF4-FFF2-40B4-BE49-F238E27FC236}">
                <a16:creationId xmlns:a16="http://schemas.microsoft.com/office/drawing/2014/main" id="{890C7D96-F575-4046-84E4-2FDF9898E9B2}"/>
              </a:ext>
            </a:extLst>
          </p:cNvPr>
          <p:cNvSpPr txBox="1"/>
          <p:nvPr/>
        </p:nvSpPr>
        <p:spPr>
          <a:xfrm>
            <a:off x="2501968" y="3194702"/>
            <a:ext cx="6268063"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ourier" pitchFamily="2" charset="0"/>
                <a:ea typeface="+mn-ea"/>
                <a:cs typeface="+mn-cs"/>
              </a:rPr>
              <a:t>1 1 0 1 1 1 0 1 1 1 0 1 1 1 0 1 1</a:t>
            </a:r>
          </a:p>
        </p:txBody>
      </p:sp>
      <p:grpSp>
        <p:nvGrpSpPr>
          <p:cNvPr id="5" name="Group 4">
            <a:extLst>
              <a:ext uri="{FF2B5EF4-FFF2-40B4-BE49-F238E27FC236}">
                <a16:creationId xmlns:a16="http://schemas.microsoft.com/office/drawing/2014/main" id="{5970902B-ACCE-A04E-88F8-76E3A68380F6}"/>
              </a:ext>
            </a:extLst>
          </p:cNvPr>
          <p:cNvGrpSpPr/>
          <p:nvPr/>
        </p:nvGrpSpPr>
        <p:grpSpPr>
          <a:xfrm>
            <a:off x="942391" y="3201536"/>
            <a:ext cx="8001000" cy="1123739"/>
            <a:chOff x="942391" y="3201536"/>
            <a:chExt cx="8001000" cy="1123739"/>
          </a:xfrm>
        </p:grpSpPr>
        <p:sp>
          <p:nvSpPr>
            <p:cNvPr id="10" name="Oval 6">
              <a:extLst>
                <a:ext uri="{FF2B5EF4-FFF2-40B4-BE49-F238E27FC236}">
                  <a16:creationId xmlns:a16="http://schemas.microsoft.com/office/drawing/2014/main" id="{23B7D25F-DD2D-6943-A612-1B140865E470}"/>
                </a:ext>
              </a:extLst>
            </p:cNvPr>
            <p:cNvSpPr>
              <a:spLocks noChangeArrowheads="1"/>
            </p:cNvSpPr>
            <p:nvPr/>
          </p:nvSpPr>
          <p:spPr bwMode="auto">
            <a:xfrm>
              <a:off x="2542591" y="3264149"/>
              <a:ext cx="304800" cy="304800"/>
            </a:xfrm>
            <a:prstGeom prst="ellipse">
              <a:avLst/>
            </a:prstGeom>
            <a:noFill/>
            <a:ln w="9525">
              <a:solidFill>
                <a:srgbClr val="FF0000"/>
              </a:solidFill>
              <a:round/>
              <a:headEnd type="none" w="sm" len="med"/>
              <a:tailEnd/>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11" name="Text Box 7">
              <a:extLst>
                <a:ext uri="{FF2B5EF4-FFF2-40B4-BE49-F238E27FC236}">
                  <a16:creationId xmlns:a16="http://schemas.microsoft.com/office/drawing/2014/main" id="{02C19D06-A871-3D4E-A141-88A98E4A3180}"/>
                </a:ext>
              </a:extLst>
            </p:cNvPr>
            <p:cNvSpPr txBox="1">
              <a:spLocks noChangeArrowheads="1"/>
            </p:cNvSpPr>
            <p:nvPr/>
          </p:nvSpPr>
          <p:spPr bwMode="auto">
            <a:xfrm>
              <a:off x="942391" y="3201536"/>
              <a:ext cx="1457707" cy="40011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type="none" w="sm" len="me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wraparound</a:t>
              </a:r>
            </a:p>
          </p:txBody>
        </p:sp>
        <p:sp>
          <p:nvSpPr>
            <p:cNvPr id="14" name="Line 10">
              <a:extLst>
                <a:ext uri="{FF2B5EF4-FFF2-40B4-BE49-F238E27FC236}">
                  <a16:creationId xmlns:a16="http://schemas.microsoft.com/office/drawing/2014/main" id="{D9BAD80C-425E-F145-9700-2D18230226CD}"/>
                </a:ext>
              </a:extLst>
            </p:cNvPr>
            <p:cNvSpPr>
              <a:spLocks noChangeShapeType="1"/>
            </p:cNvSpPr>
            <p:nvPr/>
          </p:nvSpPr>
          <p:spPr bwMode="auto">
            <a:xfrm flipH="1">
              <a:off x="2466391" y="3788911"/>
              <a:ext cx="6477000" cy="0"/>
            </a:xfrm>
            <a:prstGeom prst="line">
              <a:avLst/>
            </a:prstGeom>
            <a:noFill/>
            <a:ln w="12700">
              <a:solidFill>
                <a:schemeClr val="tx1"/>
              </a:solidFill>
              <a:round/>
              <a:headEnd type="none" w="sm"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15" name="Freeform 11">
              <a:extLst>
                <a:ext uri="{FF2B5EF4-FFF2-40B4-BE49-F238E27FC236}">
                  <a16:creationId xmlns:a16="http://schemas.microsoft.com/office/drawing/2014/main" id="{5AD71209-A9E2-794D-88A1-4B84AF2607D1}"/>
                </a:ext>
              </a:extLst>
            </p:cNvPr>
            <p:cNvSpPr>
              <a:spLocks/>
            </p:cNvSpPr>
            <p:nvPr/>
          </p:nvSpPr>
          <p:spPr bwMode="auto">
            <a:xfrm>
              <a:off x="2694991" y="3576532"/>
              <a:ext cx="5795540" cy="95077"/>
            </a:xfrm>
            <a:custGeom>
              <a:avLst/>
              <a:gdLst>
                <a:gd name="T0" fmla="*/ 0 w 3788"/>
                <a:gd name="T1" fmla="*/ 0 h 58"/>
                <a:gd name="T2" fmla="*/ 0 w 3788"/>
                <a:gd name="T3" fmla="*/ 2147483647 h 58"/>
                <a:gd name="T4" fmla="*/ 2147483647 w 3788"/>
                <a:gd name="T5" fmla="*/ 2147483647 h 58"/>
                <a:gd name="T6" fmla="*/ 0 60000 65536"/>
                <a:gd name="T7" fmla="*/ 0 60000 65536"/>
                <a:gd name="T8" fmla="*/ 0 60000 65536"/>
              </a:gdLst>
              <a:ahLst/>
              <a:cxnLst>
                <a:cxn ang="T6">
                  <a:pos x="T0" y="T1"/>
                </a:cxn>
                <a:cxn ang="T7">
                  <a:pos x="T2" y="T3"/>
                </a:cxn>
                <a:cxn ang="T8">
                  <a:pos x="T4" y="T5"/>
                </a:cxn>
              </a:cxnLst>
              <a:rect l="0" t="0" r="r" b="b"/>
              <a:pathLst>
                <a:path w="3788" h="58">
                  <a:moveTo>
                    <a:pt x="0" y="0"/>
                  </a:moveTo>
                  <a:lnTo>
                    <a:pt x="0" y="58"/>
                  </a:lnTo>
                  <a:lnTo>
                    <a:pt x="3788" y="58"/>
                  </a:lnTo>
                </a:path>
              </a:pathLst>
            </a:custGeom>
            <a:noFill/>
            <a:ln w="9525" cap="flat" cmpd="sng">
              <a:solidFill>
                <a:srgbClr val="FF0000"/>
              </a:solidFill>
              <a:prstDash val="solid"/>
              <a:round/>
              <a:headEnd type="none" w="sm" len="med"/>
              <a:tailEnd type="stealth"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Box 20">
              <a:extLst>
                <a:ext uri="{FF2B5EF4-FFF2-40B4-BE49-F238E27FC236}">
                  <a16:creationId xmlns:a16="http://schemas.microsoft.com/office/drawing/2014/main" id="{C9994788-E9D3-5D40-89C2-5666242ECA9E}"/>
                </a:ext>
              </a:extLst>
            </p:cNvPr>
            <p:cNvSpPr txBox="1"/>
            <p:nvPr/>
          </p:nvSpPr>
          <p:spPr>
            <a:xfrm>
              <a:off x="2501236" y="3863610"/>
              <a:ext cx="6268063"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ourier" pitchFamily="2" charset="0"/>
                  <a:ea typeface="+mn-ea"/>
                  <a:cs typeface="+mn-cs"/>
                </a:rPr>
                <a:t>  1 0 1 1 1 0 1 1 1 0 1 1 1 1 0 0</a:t>
              </a:r>
            </a:p>
          </p:txBody>
        </p:sp>
      </p:grpSp>
      <p:sp>
        <p:nvSpPr>
          <p:cNvPr id="22" name="TextBox 21">
            <a:extLst>
              <a:ext uri="{FF2B5EF4-FFF2-40B4-BE49-F238E27FC236}">
                <a16:creationId xmlns:a16="http://schemas.microsoft.com/office/drawing/2014/main" id="{6DDD65BC-0FF7-354F-9157-61D155DA77EA}"/>
              </a:ext>
            </a:extLst>
          </p:cNvPr>
          <p:cNvSpPr txBox="1"/>
          <p:nvPr/>
        </p:nvSpPr>
        <p:spPr>
          <a:xfrm>
            <a:off x="2505831" y="4287924"/>
            <a:ext cx="6268063"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ourier" pitchFamily="2" charset="0"/>
                <a:ea typeface="+mn-ea"/>
                <a:cs typeface="+mn-cs"/>
              </a:rPr>
              <a:t>  0 1 0 0 0 1 0 0 0 1 0 0 0 0 1 1</a:t>
            </a:r>
          </a:p>
        </p:txBody>
      </p:sp>
      <p:grpSp>
        <p:nvGrpSpPr>
          <p:cNvPr id="25" name="Group 24">
            <a:extLst>
              <a:ext uri="{FF2B5EF4-FFF2-40B4-BE49-F238E27FC236}">
                <a16:creationId xmlns:a16="http://schemas.microsoft.com/office/drawing/2014/main" id="{68762320-BD6D-C948-B1B7-DB283C97C3F4}"/>
              </a:ext>
            </a:extLst>
          </p:cNvPr>
          <p:cNvGrpSpPr/>
          <p:nvPr/>
        </p:nvGrpSpPr>
        <p:grpSpPr>
          <a:xfrm>
            <a:off x="7895417" y="1927511"/>
            <a:ext cx="2249559" cy="712515"/>
            <a:chOff x="9436187" y="4862446"/>
            <a:chExt cx="2249559" cy="712515"/>
          </a:xfrm>
        </p:grpSpPr>
        <p:sp>
          <p:nvSpPr>
            <p:cNvPr id="6" name="Oval 5">
              <a:extLst>
                <a:ext uri="{FF2B5EF4-FFF2-40B4-BE49-F238E27FC236}">
                  <a16:creationId xmlns:a16="http://schemas.microsoft.com/office/drawing/2014/main" id="{284FB029-4B65-2048-954A-3FF0EC7EB970}"/>
                </a:ext>
              </a:extLst>
            </p:cNvPr>
            <p:cNvSpPr/>
            <p:nvPr/>
          </p:nvSpPr>
          <p:spPr>
            <a:xfrm>
              <a:off x="9436187" y="5113295"/>
              <a:ext cx="802095" cy="461666"/>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cxnSp>
          <p:nvCxnSpPr>
            <p:cNvPr id="18" name="Straight Arrow Connector 17">
              <a:extLst>
                <a:ext uri="{FF2B5EF4-FFF2-40B4-BE49-F238E27FC236}">
                  <a16:creationId xmlns:a16="http://schemas.microsoft.com/office/drawing/2014/main" id="{776E060C-7039-6D4E-922A-B4F2B25FA505}"/>
                </a:ext>
              </a:extLst>
            </p:cNvPr>
            <p:cNvCxnSpPr>
              <a:cxnSpLocks/>
            </p:cNvCxnSpPr>
            <p:nvPr/>
          </p:nvCxnSpPr>
          <p:spPr>
            <a:xfrm flipV="1">
              <a:off x="10238282" y="5111429"/>
              <a:ext cx="546739" cy="212682"/>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CEDC7E60-52B8-E24C-AD91-442CF1A81D58}"/>
                </a:ext>
              </a:extLst>
            </p:cNvPr>
            <p:cNvSpPr txBox="1"/>
            <p:nvPr/>
          </p:nvSpPr>
          <p:spPr>
            <a:xfrm>
              <a:off x="10395008" y="4862446"/>
              <a:ext cx="129073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ourier" pitchFamily="2" charset="0"/>
                  <a:ea typeface="+mn-ea"/>
                  <a:cs typeface="+mn-cs"/>
                </a:rPr>
                <a:t>  0 1 </a:t>
              </a:r>
            </a:p>
          </p:txBody>
        </p:sp>
      </p:grpSp>
      <p:grpSp>
        <p:nvGrpSpPr>
          <p:cNvPr id="26" name="Group 25">
            <a:extLst>
              <a:ext uri="{FF2B5EF4-FFF2-40B4-BE49-F238E27FC236}">
                <a16:creationId xmlns:a16="http://schemas.microsoft.com/office/drawing/2014/main" id="{F267688F-D990-804C-9C00-CC1C467BE801}"/>
              </a:ext>
            </a:extLst>
          </p:cNvPr>
          <p:cNvGrpSpPr/>
          <p:nvPr/>
        </p:nvGrpSpPr>
        <p:grpSpPr>
          <a:xfrm>
            <a:off x="7910407" y="2289202"/>
            <a:ext cx="2249559" cy="712515"/>
            <a:chOff x="9436187" y="4862446"/>
            <a:chExt cx="2249559" cy="712515"/>
          </a:xfrm>
        </p:grpSpPr>
        <p:sp>
          <p:nvSpPr>
            <p:cNvPr id="27" name="Oval 26">
              <a:extLst>
                <a:ext uri="{FF2B5EF4-FFF2-40B4-BE49-F238E27FC236}">
                  <a16:creationId xmlns:a16="http://schemas.microsoft.com/office/drawing/2014/main" id="{7C22365B-07EC-4545-B454-E8C0FAD379FA}"/>
                </a:ext>
              </a:extLst>
            </p:cNvPr>
            <p:cNvSpPr/>
            <p:nvPr/>
          </p:nvSpPr>
          <p:spPr>
            <a:xfrm>
              <a:off x="9436187" y="5113295"/>
              <a:ext cx="802095" cy="461666"/>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cxnSp>
          <p:nvCxnSpPr>
            <p:cNvPr id="28" name="Straight Arrow Connector 27">
              <a:extLst>
                <a:ext uri="{FF2B5EF4-FFF2-40B4-BE49-F238E27FC236}">
                  <a16:creationId xmlns:a16="http://schemas.microsoft.com/office/drawing/2014/main" id="{3D4A8702-0D2D-8243-9C39-DC082DD83FD6}"/>
                </a:ext>
              </a:extLst>
            </p:cNvPr>
            <p:cNvCxnSpPr>
              <a:cxnSpLocks/>
            </p:cNvCxnSpPr>
            <p:nvPr/>
          </p:nvCxnSpPr>
          <p:spPr>
            <a:xfrm flipV="1">
              <a:off x="10238282" y="5111429"/>
              <a:ext cx="546739" cy="212682"/>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7EE21CCB-6730-9040-AA0C-B91C9765D0AC}"/>
                </a:ext>
              </a:extLst>
            </p:cNvPr>
            <p:cNvSpPr txBox="1"/>
            <p:nvPr/>
          </p:nvSpPr>
          <p:spPr>
            <a:xfrm>
              <a:off x="10395008" y="4862446"/>
              <a:ext cx="129073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ourier" pitchFamily="2" charset="0"/>
                  <a:ea typeface="+mn-ea"/>
                  <a:cs typeface="+mn-cs"/>
                </a:rPr>
                <a:t>  1 0 </a:t>
              </a:r>
            </a:p>
          </p:txBody>
        </p:sp>
      </p:grpSp>
      <p:grpSp>
        <p:nvGrpSpPr>
          <p:cNvPr id="33" name="Group 32">
            <a:extLst>
              <a:ext uri="{FF2B5EF4-FFF2-40B4-BE49-F238E27FC236}">
                <a16:creationId xmlns:a16="http://schemas.microsoft.com/office/drawing/2014/main" id="{99699F57-48BE-454E-800A-4CC5A118241E}"/>
              </a:ext>
            </a:extLst>
          </p:cNvPr>
          <p:cNvGrpSpPr/>
          <p:nvPr/>
        </p:nvGrpSpPr>
        <p:grpSpPr>
          <a:xfrm>
            <a:off x="8933167" y="3121843"/>
            <a:ext cx="2729496" cy="1754326"/>
            <a:chOff x="8933167" y="3121843"/>
            <a:chExt cx="2729496" cy="1754326"/>
          </a:xfrm>
        </p:grpSpPr>
        <p:sp>
          <p:nvSpPr>
            <p:cNvPr id="31" name="Right Brace 30">
              <a:extLst>
                <a:ext uri="{FF2B5EF4-FFF2-40B4-BE49-F238E27FC236}">
                  <a16:creationId xmlns:a16="http://schemas.microsoft.com/office/drawing/2014/main" id="{BC6D80E3-4974-474B-9338-024650CB8A51}"/>
                </a:ext>
              </a:extLst>
            </p:cNvPr>
            <p:cNvSpPr/>
            <p:nvPr/>
          </p:nvSpPr>
          <p:spPr>
            <a:xfrm>
              <a:off x="8933167" y="3244723"/>
              <a:ext cx="247697" cy="1504855"/>
            </a:xfrm>
            <a:prstGeom prst="rightBrace">
              <a:avLst/>
            </a:prstGeom>
            <a:ln w="28575">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32" name="TextBox 31">
              <a:extLst>
                <a:ext uri="{FF2B5EF4-FFF2-40B4-BE49-F238E27FC236}">
                  <a16:creationId xmlns:a16="http://schemas.microsoft.com/office/drawing/2014/main" id="{3F87D51E-FE73-0B41-A199-876E1DAEB87D}"/>
                </a:ext>
              </a:extLst>
            </p:cNvPr>
            <p:cNvSpPr txBox="1"/>
            <p:nvPr/>
          </p:nvSpPr>
          <p:spPr>
            <a:xfrm>
              <a:off x="9259241" y="3121843"/>
              <a:ext cx="2403422" cy="1754326"/>
            </a:xfrm>
            <a:prstGeom prst="rect">
              <a:avLst/>
            </a:prstGeom>
            <a:noFill/>
          </p:spPr>
          <p:txBody>
            <a:bodyPr wrap="square" rtlCol="0">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Even though numbers have changed (bit flips), </a:t>
              </a:r>
              <a:r>
                <a:rPr kumimoji="0" lang="en-US" sz="2400" b="0" i="1" u="none" strike="noStrike" kern="1200" cap="none" spc="0" normalizeH="0" baseline="0" noProof="0" dirty="0">
                  <a:ln>
                    <a:noFill/>
                  </a:ln>
                  <a:solidFill>
                    <a:srgbClr val="C00000"/>
                  </a:solidFill>
                  <a:effectLst/>
                  <a:uLnTx/>
                  <a:uFillTx/>
                  <a:latin typeface="Calibri"/>
                  <a:ea typeface="+mn-ea"/>
                  <a:cs typeface="+mn-cs"/>
                </a:rPr>
                <a:t>no</a:t>
              </a:r>
              <a:r>
                <a:rPr kumimoji="0" lang="en-US" sz="2400" b="0" i="0" u="none" strike="noStrike" kern="1200" cap="none" spc="0" normalizeH="0" baseline="0" noProof="0" dirty="0">
                  <a:ln>
                    <a:noFill/>
                  </a:ln>
                  <a:solidFill>
                    <a:prstClr val="black"/>
                  </a:solidFill>
                  <a:effectLst/>
                  <a:uLnTx/>
                  <a:uFillTx/>
                  <a:latin typeface="Calibri"/>
                  <a:ea typeface="+mn-ea"/>
                  <a:cs typeface="+mn-cs"/>
                </a:rPr>
                <a:t> change in checksum!</a:t>
              </a:r>
            </a:p>
          </p:txBody>
        </p:sp>
      </p:grpSp>
    </p:spTree>
    <p:extLst>
      <p:ext uri="{BB962C8B-B14F-4D97-AF65-F5344CB8AC3E}">
        <p14:creationId xmlns:p14="http://schemas.microsoft.com/office/powerpoint/2010/main" val="11953872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dissolve">
                                      <p:cBhvr>
                                        <p:cTn id="7" dur="5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dissolve">
                                      <p:cBhvr>
                                        <p:cTn id="12" dur="5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3"/>
                                        </p:tgtEl>
                                        <p:attrNameLst>
                                          <p:attrName>style.visibility</p:attrName>
                                        </p:attrNameLst>
                                      </p:cBhvr>
                                      <p:to>
                                        <p:strVal val="visible"/>
                                      </p:to>
                                    </p:set>
                                    <p:animEffect transition="in" filter="dissolve">
                                      <p:cBhvr>
                                        <p:cTn id="17"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662184" y="196879"/>
            <a:ext cx="11100625" cy="1206442"/>
          </a:xfrm>
        </p:spPr>
        <p:txBody>
          <a:bodyPr>
            <a:normAutofit/>
          </a:bodyPr>
          <a:lstStyle/>
          <a:p>
            <a:r>
              <a:rPr lang="en-US" sz="5400" b="0" dirty="0"/>
              <a:t>Summary</a:t>
            </a:r>
            <a:r>
              <a:rPr lang="en-US" sz="4800" b="0" dirty="0"/>
              <a:t>: UDP</a:t>
            </a:r>
          </a:p>
        </p:txBody>
      </p:sp>
      <p:sp>
        <p:nvSpPr>
          <p:cNvPr id="128" name="Rectangle 3">
            <a:extLst>
              <a:ext uri="{FF2B5EF4-FFF2-40B4-BE49-F238E27FC236}">
                <a16:creationId xmlns:a16="http://schemas.microsoft.com/office/drawing/2014/main" id="{2C2F9B28-FDD9-B047-936F-1DE26AECFD6E}"/>
              </a:ext>
            </a:extLst>
          </p:cNvPr>
          <p:cNvSpPr txBox="1">
            <a:spLocks noChangeArrowheads="1"/>
          </p:cNvSpPr>
          <p:nvPr/>
        </p:nvSpPr>
        <p:spPr>
          <a:xfrm>
            <a:off x="525681" y="1403321"/>
            <a:ext cx="11373633" cy="5247933"/>
          </a:xfrm>
          <a:prstGeom prst="rect">
            <a:avLst/>
          </a:prstGeom>
        </p:spPr>
        <p:txBody>
          <a:bodyPr vert="horz" lIns="91440" tIns="45720" rIns="91440" bIns="45720" rtlCol="0">
            <a:no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81025" marR="0" lvl="0" indent="-4572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3200" b="0" i="0" u="none" strike="noStrike" kern="1200" cap="none" spc="0" normalizeH="0" baseline="0" noProof="0" dirty="0">
                <a:ln>
                  <a:noFill/>
                </a:ln>
                <a:solidFill>
                  <a:prstClr val="black"/>
                </a:solidFill>
                <a:effectLst/>
                <a:uLnTx/>
                <a:uFillTx/>
                <a:latin typeface="Calibri"/>
                <a:ea typeface="+mn-ea"/>
                <a:cs typeface="+mn-cs"/>
              </a:rPr>
              <a:t>“no frills” protocol: </a:t>
            </a:r>
          </a:p>
          <a:p>
            <a:pPr marL="923925" marR="0" lvl="1" indent="-457200" algn="l" defTabSz="914400" rtl="0" eaLnBrk="1" fontAlgn="auto" latinLnBrk="0" hangingPunct="1">
              <a:lnSpc>
                <a:spcPct val="90000"/>
              </a:lnSpc>
              <a:spcBef>
                <a:spcPts val="1000"/>
              </a:spcBef>
              <a:spcAft>
                <a:spcPts val="0"/>
              </a:spcAft>
              <a:buClrTx/>
              <a:buSzTx/>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Segments may be lost, delivered out of order</a:t>
            </a:r>
          </a:p>
          <a:p>
            <a:pPr marL="923925" marR="0" lvl="1" indent="-457200" algn="l" defTabSz="914400" rtl="0" eaLnBrk="1" fontAlgn="auto" latinLnBrk="0" hangingPunct="1">
              <a:lnSpc>
                <a:spcPct val="90000"/>
              </a:lnSpc>
              <a:spcBef>
                <a:spcPts val="1000"/>
              </a:spcBef>
              <a:spcAft>
                <a:spcPts val="0"/>
              </a:spcAft>
              <a:buClrTx/>
              <a:buSzTx/>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Best effort service: “send and hope for the best”</a:t>
            </a:r>
          </a:p>
          <a:p>
            <a:pPr marL="581025" marR="0" lvl="0" indent="-4572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3200" b="0" i="0" u="none" strike="noStrike" kern="1200" cap="none" spc="0" normalizeH="0" baseline="0" noProof="0" dirty="0">
                <a:ln>
                  <a:noFill/>
                </a:ln>
                <a:solidFill>
                  <a:prstClr val="black"/>
                </a:solidFill>
                <a:effectLst/>
                <a:uLnTx/>
                <a:uFillTx/>
                <a:latin typeface="Calibri"/>
                <a:ea typeface="+mn-ea"/>
                <a:cs typeface="+mn-cs"/>
              </a:rPr>
              <a:t>UDP has its plusses:</a:t>
            </a:r>
          </a:p>
          <a:p>
            <a:pPr marL="923925" marR="0" lvl="1" indent="-457200" algn="l" defTabSz="914400" rtl="0" eaLnBrk="1" fontAlgn="auto" latinLnBrk="0" hangingPunct="1">
              <a:lnSpc>
                <a:spcPct val="90000"/>
              </a:lnSpc>
              <a:spcBef>
                <a:spcPts val="1000"/>
              </a:spcBef>
              <a:spcAft>
                <a:spcPts val="0"/>
              </a:spcAft>
              <a:buClrTx/>
              <a:buSzTx/>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No setup/handshaking needed (no RTT incurred)</a:t>
            </a:r>
          </a:p>
          <a:p>
            <a:pPr marL="923925" marR="0" lvl="1" indent="-457200" algn="l" defTabSz="914400" rtl="0" eaLnBrk="1" fontAlgn="auto" latinLnBrk="0" hangingPunct="1">
              <a:lnSpc>
                <a:spcPct val="90000"/>
              </a:lnSpc>
              <a:spcBef>
                <a:spcPts val="1000"/>
              </a:spcBef>
              <a:spcAft>
                <a:spcPts val="0"/>
              </a:spcAft>
              <a:buClrTx/>
              <a:buSzTx/>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Can function when network service is compromised</a:t>
            </a:r>
          </a:p>
          <a:p>
            <a:pPr marL="923925" marR="0" lvl="1" indent="-457200" algn="l" defTabSz="914400" rtl="0" eaLnBrk="1" fontAlgn="auto" latinLnBrk="0" hangingPunct="1">
              <a:lnSpc>
                <a:spcPct val="90000"/>
              </a:lnSpc>
              <a:spcBef>
                <a:spcPts val="1000"/>
              </a:spcBef>
              <a:spcAft>
                <a:spcPts val="0"/>
              </a:spcAft>
              <a:buClrTx/>
              <a:buSzTx/>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Helps with reliability (checksum)</a:t>
            </a:r>
          </a:p>
          <a:p>
            <a:pPr marL="581025" marR="0" lvl="0" indent="-4572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3200" b="0" i="0" u="none" strike="noStrike" kern="1200" cap="none" spc="0" normalizeH="0" baseline="0" noProof="0" dirty="0">
                <a:ln>
                  <a:noFill/>
                </a:ln>
                <a:solidFill>
                  <a:prstClr val="black"/>
                </a:solidFill>
                <a:effectLst/>
                <a:uLnTx/>
                <a:uFillTx/>
                <a:latin typeface="Calibri"/>
                <a:ea typeface="+mn-ea"/>
                <a:cs typeface="+mn-cs"/>
              </a:rPr>
              <a:t>Build additional functionality on top of UDP in application layer (e.g., HTTP/3)</a:t>
            </a: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4802452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28">
                                            <p:txEl>
                                              <p:pRg st="0" end="0"/>
                                            </p:txEl>
                                          </p:spTgt>
                                        </p:tgtEl>
                                        <p:attrNameLst>
                                          <p:attrName>style.visibility</p:attrName>
                                        </p:attrNameLst>
                                      </p:cBhvr>
                                      <p:to>
                                        <p:strVal val="visible"/>
                                      </p:to>
                                    </p:set>
                                    <p:animEffect transition="in" filter="dissolve">
                                      <p:cBhvr>
                                        <p:cTn id="7" dur="500"/>
                                        <p:tgtEl>
                                          <p:spTgt spid="128">
                                            <p:txEl>
                                              <p:pRg st="0" end="0"/>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128">
                                            <p:txEl>
                                              <p:pRg st="1" end="1"/>
                                            </p:txEl>
                                          </p:spTgt>
                                        </p:tgtEl>
                                        <p:attrNameLst>
                                          <p:attrName>style.visibility</p:attrName>
                                        </p:attrNameLst>
                                      </p:cBhvr>
                                      <p:to>
                                        <p:strVal val="visible"/>
                                      </p:to>
                                    </p:set>
                                    <p:animEffect transition="in" filter="dissolve">
                                      <p:cBhvr>
                                        <p:cTn id="10" dur="500"/>
                                        <p:tgtEl>
                                          <p:spTgt spid="128">
                                            <p:txEl>
                                              <p:pRg st="1" end="1"/>
                                            </p:txEl>
                                          </p:spTgt>
                                        </p:tgtEl>
                                      </p:cBhvr>
                                    </p:animEffect>
                                  </p:childTnLst>
                                </p:cTn>
                              </p:par>
                              <p:par>
                                <p:cTn id="11" presetID="9" presetClass="entr" presetSubtype="0" fill="hold" nodeType="withEffect">
                                  <p:stCondLst>
                                    <p:cond delay="0"/>
                                  </p:stCondLst>
                                  <p:childTnLst>
                                    <p:set>
                                      <p:cBhvr>
                                        <p:cTn id="12" dur="1" fill="hold">
                                          <p:stCondLst>
                                            <p:cond delay="0"/>
                                          </p:stCondLst>
                                        </p:cTn>
                                        <p:tgtEl>
                                          <p:spTgt spid="128">
                                            <p:txEl>
                                              <p:pRg st="2" end="2"/>
                                            </p:txEl>
                                          </p:spTgt>
                                        </p:tgtEl>
                                        <p:attrNameLst>
                                          <p:attrName>style.visibility</p:attrName>
                                        </p:attrNameLst>
                                      </p:cBhvr>
                                      <p:to>
                                        <p:strVal val="visible"/>
                                      </p:to>
                                    </p:set>
                                    <p:animEffect transition="in" filter="dissolve">
                                      <p:cBhvr>
                                        <p:cTn id="13" dur="500"/>
                                        <p:tgtEl>
                                          <p:spTgt spid="128">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nodeType="clickEffect">
                                  <p:stCondLst>
                                    <p:cond delay="0"/>
                                  </p:stCondLst>
                                  <p:childTnLst>
                                    <p:set>
                                      <p:cBhvr>
                                        <p:cTn id="17" dur="1" fill="hold">
                                          <p:stCondLst>
                                            <p:cond delay="0"/>
                                          </p:stCondLst>
                                        </p:cTn>
                                        <p:tgtEl>
                                          <p:spTgt spid="128">
                                            <p:txEl>
                                              <p:pRg st="3" end="3"/>
                                            </p:txEl>
                                          </p:spTgt>
                                        </p:tgtEl>
                                        <p:attrNameLst>
                                          <p:attrName>style.visibility</p:attrName>
                                        </p:attrNameLst>
                                      </p:cBhvr>
                                      <p:to>
                                        <p:strVal val="visible"/>
                                      </p:to>
                                    </p:set>
                                    <p:animEffect transition="in" filter="dissolve">
                                      <p:cBhvr>
                                        <p:cTn id="18" dur="500"/>
                                        <p:tgtEl>
                                          <p:spTgt spid="128">
                                            <p:txEl>
                                              <p:pRg st="3" end="3"/>
                                            </p:txEl>
                                          </p:spTgt>
                                        </p:tgtEl>
                                      </p:cBhvr>
                                    </p:animEffect>
                                  </p:childTnLst>
                                </p:cTn>
                              </p:par>
                              <p:par>
                                <p:cTn id="19" presetID="9" presetClass="entr" presetSubtype="0" fill="hold" nodeType="withEffect">
                                  <p:stCondLst>
                                    <p:cond delay="0"/>
                                  </p:stCondLst>
                                  <p:childTnLst>
                                    <p:set>
                                      <p:cBhvr>
                                        <p:cTn id="20" dur="1" fill="hold">
                                          <p:stCondLst>
                                            <p:cond delay="0"/>
                                          </p:stCondLst>
                                        </p:cTn>
                                        <p:tgtEl>
                                          <p:spTgt spid="128">
                                            <p:txEl>
                                              <p:pRg st="4" end="4"/>
                                            </p:txEl>
                                          </p:spTgt>
                                        </p:tgtEl>
                                        <p:attrNameLst>
                                          <p:attrName>style.visibility</p:attrName>
                                        </p:attrNameLst>
                                      </p:cBhvr>
                                      <p:to>
                                        <p:strVal val="visible"/>
                                      </p:to>
                                    </p:set>
                                    <p:animEffect transition="in" filter="dissolve">
                                      <p:cBhvr>
                                        <p:cTn id="21" dur="500"/>
                                        <p:tgtEl>
                                          <p:spTgt spid="128">
                                            <p:txEl>
                                              <p:pRg st="4" end="4"/>
                                            </p:txEl>
                                          </p:spTgt>
                                        </p:tgtEl>
                                      </p:cBhvr>
                                    </p:animEffect>
                                  </p:childTnLst>
                                </p:cTn>
                              </p:par>
                              <p:par>
                                <p:cTn id="22" presetID="9" presetClass="entr" presetSubtype="0" fill="hold" nodeType="withEffect">
                                  <p:stCondLst>
                                    <p:cond delay="0"/>
                                  </p:stCondLst>
                                  <p:childTnLst>
                                    <p:set>
                                      <p:cBhvr>
                                        <p:cTn id="23" dur="1" fill="hold">
                                          <p:stCondLst>
                                            <p:cond delay="0"/>
                                          </p:stCondLst>
                                        </p:cTn>
                                        <p:tgtEl>
                                          <p:spTgt spid="128">
                                            <p:txEl>
                                              <p:pRg st="5" end="5"/>
                                            </p:txEl>
                                          </p:spTgt>
                                        </p:tgtEl>
                                        <p:attrNameLst>
                                          <p:attrName>style.visibility</p:attrName>
                                        </p:attrNameLst>
                                      </p:cBhvr>
                                      <p:to>
                                        <p:strVal val="visible"/>
                                      </p:to>
                                    </p:set>
                                    <p:animEffect transition="in" filter="dissolve">
                                      <p:cBhvr>
                                        <p:cTn id="24" dur="500"/>
                                        <p:tgtEl>
                                          <p:spTgt spid="128">
                                            <p:txEl>
                                              <p:pRg st="5" end="5"/>
                                            </p:txEl>
                                          </p:spTgt>
                                        </p:tgtEl>
                                      </p:cBhvr>
                                    </p:animEffect>
                                  </p:childTnLst>
                                </p:cTn>
                              </p:par>
                              <p:par>
                                <p:cTn id="25" presetID="9" presetClass="entr" presetSubtype="0" fill="hold" nodeType="withEffect">
                                  <p:stCondLst>
                                    <p:cond delay="0"/>
                                  </p:stCondLst>
                                  <p:childTnLst>
                                    <p:set>
                                      <p:cBhvr>
                                        <p:cTn id="26" dur="1" fill="hold">
                                          <p:stCondLst>
                                            <p:cond delay="0"/>
                                          </p:stCondLst>
                                        </p:cTn>
                                        <p:tgtEl>
                                          <p:spTgt spid="128">
                                            <p:txEl>
                                              <p:pRg st="6" end="6"/>
                                            </p:txEl>
                                          </p:spTgt>
                                        </p:tgtEl>
                                        <p:attrNameLst>
                                          <p:attrName>style.visibility</p:attrName>
                                        </p:attrNameLst>
                                      </p:cBhvr>
                                      <p:to>
                                        <p:strVal val="visible"/>
                                      </p:to>
                                    </p:set>
                                    <p:animEffect transition="in" filter="dissolve">
                                      <p:cBhvr>
                                        <p:cTn id="27" dur="500"/>
                                        <p:tgtEl>
                                          <p:spTgt spid="128">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128">
                                            <p:txEl>
                                              <p:pRg st="7" end="7"/>
                                            </p:txEl>
                                          </p:spTgt>
                                        </p:tgtEl>
                                        <p:attrNameLst>
                                          <p:attrName>style.visibility</p:attrName>
                                        </p:attrNameLst>
                                      </p:cBhvr>
                                      <p:to>
                                        <p:strVal val="visible"/>
                                      </p:to>
                                    </p:set>
                                    <p:animEffect transition="in" filter="dissolve">
                                      <p:cBhvr>
                                        <p:cTn id="32" dur="500"/>
                                        <p:tgtEl>
                                          <p:spTgt spid="128">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fontScale="90000"/>
          </a:bodyPr>
          <a:lstStyle/>
          <a:p>
            <a:r>
              <a:rPr lang="en-US" sz="4400" dirty="0"/>
              <a:t>Challenge question 1: </a:t>
            </a:r>
            <a:r>
              <a:rPr lang="en-US" dirty="0"/>
              <a:t>Where is the IP Address in a UDP Segment?</a:t>
            </a:r>
            <a:endParaRPr lang="en-US" sz="4400" dirty="0"/>
          </a:p>
        </p:txBody>
      </p:sp>
      <p:sp>
        <p:nvSpPr>
          <p:cNvPr id="29" name="Rectangle 8">
            <a:extLst>
              <a:ext uri="{FF2B5EF4-FFF2-40B4-BE49-F238E27FC236}">
                <a16:creationId xmlns:a16="http://schemas.microsoft.com/office/drawing/2014/main" id="{F52AC6CB-EA5F-E34E-A84B-F6174293B55F}"/>
              </a:ext>
            </a:extLst>
          </p:cNvPr>
          <p:cNvSpPr>
            <a:spLocks noChangeArrowheads="1"/>
          </p:cNvSpPr>
          <p:nvPr/>
        </p:nvSpPr>
        <p:spPr bwMode="auto">
          <a:xfrm>
            <a:off x="3902299" y="2017713"/>
            <a:ext cx="3324225" cy="3200400"/>
          </a:xfrm>
          <a:prstGeom prst="rect">
            <a:avLst/>
          </a:prstGeom>
          <a:solidFill>
            <a:srgbClr val="FFFFFF"/>
          </a:solidFill>
          <a:ln w="349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imes New Roman" charset="0"/>
              <a:ea typeface="ＭＳ Ｐゴシック" charset="0"/>
              <a:cs typeface="+mn-cs"/>
            </a:endParaRPr>
          </a:p>
        </p:txBody>
      </p:sp>
      <p:sp>
        <p:nvSpPr>
          <p:cNvPr id="30" name="Text Box 9">
            <a:extLst>
              <a:ext uri="{FF2B5EF4-FFF2-40B4-BE49-F238E27FC236}">
                <a16:creationId xmlns:a16="http://schemas.microsoft.com/office/drawing/2014/main" id="{C8E7AF66-85A4-6B43-AFFD-45ABC0217297}"/>
              </a:ext>
            </a:extLst>
          </p:cNvPr>
          <p:cNvSpPr txBox="1">
            <a:spLocks noChangeArrowheads="1"/>
          </p:cNvSpPr>
          <p:nvPr/>
        </p:nvSpPr>
        <p:spPr bwMode="auto">
          <a:xfrm>
            <a:off x="3941987" y="2030413"/>
            <a:ext cx="1563687" cy="36671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source port #</a:t>
            </a: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1" name="Text Box 10">
            <a:extLst>
              <a:ext uri="{FF2B5EF4-FFF2-40B4-BE49-F238E27FC236}">
                <a16:creationId xmlns:a16="http://schemas.microsoft.com/office/drawing/2014/main" id="{2F2912E8-AD40-5541-9C73-5856C97AF53A}"/>
              </a:ext>
            </a:extLst>
          </p:cNvPr>
          <p:cNvSpPr txBox="1">
            <a:spLocks noChangeArrowheads="1"/>
          </p:cNvSpPr>
          <p:nvPr/>
        </p:nvSpPr>
        <p:spPr bwMode="auto">
          <a:xfrm>
            <a:off x="5727924" y="2030413"/>
            <a:ext cx="1328738" cy="36671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dest port #</a:t>
            </a:r>
          </a:p>
        </p:txBody>
      </p:sp>
      <p:sp>
        <p:nvSpPr>
          <p:cNvPr id="32" name="Line 11">
            <a:extLst>
              <a:ext uri="{FF2B5EF4-FFF2-40B4-BE49-F238E27FC236}">
                <a16:creationId xmlns:a16="http://schemas.microsoft.com/office/drawing/2014/main" id="{D9BFD291-F38C-E245-812B-D4A7B44A296C}"/>
              </a:ext>
            </a:extLst>
          </p:cNvPr>
          <p:cNvSpPr>
            <a:spLocks noChangeShapeType="1"/>
          </p:cNvSpPr>
          <p:nvPr/>
        </p:nvSpPr>
        <p:spPr bwMode="auto">
          <a:xfrm flipV="1">
            <a:off x="3892774" y="2417763"/>
            <a:ext cx="3328988" cy="0"/>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3" name="Line 12">
            <a:extLst>
              <a:ext uri="{FF2B5EF4-FFF2-40B4-BE49-F238E27FC236}">
                <a16:creationId xmlns:a16="http://schemas.microsoft.com/office/drawing/2014/main" id="{3CE7F4CE-E33B-FD4E-B07F-F5A9DE98853E}"/>
              </a:ext>
            </a:extLst>
          </p:cNvPr>
          <p:cNvSpPr>
            <a:spLocks noChangeShapeType="1"/>
          </p:cNvSpPr>
          <p:nvPr/>
        </p:nvSpPr>
        <p:spPr bwMode="auto">
          <a:xfrm flipV="1">
            <a:off x="3883249" y="2817813"/>
            <a:ext cx="3324225" cy="0"/>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4" name="Line 13">
            <a:extLst>
              <a:ext uri="{FF2B5EF4-FFF2-40B4-BE49-F238E27FC236}">
                <a16:creationId xmlns:a16="http://schemas.microsoft.com/office/drawing/2014/main" id="{F55DFF34-EECA-F046-9F88-B6CF84CB8E0C}"/>
              </a:ext>
            </a:extLst>
          </p:cNvPr>
          <p:cNvSpPr>
            <a:spLocks noChangeShapeType="1"/>
          </p:cNvSpPr>
          <p:nvPr/>
        </p:nvSpPr>
        <p:spPr bwMode="auto">
          <a:xfrm flipV="1">
            <a:off x="5540599" y="2017713"/>
            <a:ext cx="0" cy="395287"/>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5" name="Text Box 14">
            <a:extLst>
              <a:ext uri="{FF2B5EF4-FFF2-40B4-BE49-F238E27FC236}">
                <a16:creationId xmlns:a16="http://schemas.microsoft.com/office/drawing/2014/main" id="{99267DCE-8159-FC45-B743-B474F3D4558D}"/>
              </a:ext>
            </a:extLst>
          </p:cNvPr>
          <p:cNvSpPr txBox="1">
            <a:spLocks noChangeArrowheads="1"/>
          </p:cNvSpPr>
          <p:nvPr/>
        </p:nvSpPr>
        <p:spPr bwMode="auto">
          <a:xfrm>
            <a:off x="5048474" y="1552575"/>
            <a:ext cx="936625" cy="39687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000000"/>
                </a:solidFill>
                <a:effectLst/>
                <a:uLnTx/>
                <a:uFillTx/>
                <a:latin typeface="Tahoma" charset="0"/>
                <a:ea typeface="ＭＳ Ｐゴシック" charset="0"/>
                <a:cs typeface="+mn-cs"/>
              </a:rPr>
              <a:t>32 bits</a:t>
            </a:r>
          </a:p>
        </p:txBody>
      </p:sp>
      <p:sp>
        <p:nvSpPr>
          <p:cNvPr id="36" name="Line 15">
            <a:extLst>
              <a:ext uri="{FF2B5EF4-FFF2-40B4-BE49-F238E27FC236}">
                <a16:creationId xmlns:a16="http://schemas.microsoft.com/office/drawing/2014/main" id="{8D62C2C2-8FA0-A54C-8811-9A937D96CD04}"/>
              </a:ext>
            </a:extLst>
          </p:cNvPr>
          <p:cNvSpPr>
            <a:spLocks noChangeShapeType="1"/>
          </p:cNvSpPr>
          <p:nvPr/>
        </p:nvSpPr>
        <p:spPr bwMode="auto">
          <a:xfrm>
            <a:off x="5997799" y="1784350"/>
            <a:ext cx="1200150" cy="4763"/>
          </a:xfrm>
          <a:prstGeom prst="line">
            <a:avLst/>
          </a:prstGeom>
          <a:noFill/>
          <a:ln w="19050">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7" name="Line 16">
            <a:extLst>
              <a:ext uri="{FF2B5EF4-FFF2-40B4-BE49-F238E27FC236}">
                <a16:creationId xmlns:a16="http://schemas.microsoft.com/office/drawing/2014/main" id="{DE702B00-23E1-474A-9072-DDEE50F76714}"/>
              </a:ext>
            </a:extLst>
          </p:cNvPr>
          <p:cNvSpPr>
            <a:spLocks noChangeShapeType="1"/>
          </p:cNvSpPr>
          <p:nvPr/>
        </p:nvSpPr>
        <p:spPr bwMode="auto">
          <a:xfrm rot="10800000">
            <a:off x="3888012" y="1793875"/>
            <a:ext cx="1128712" cy="0"/>
          </a:xfrm>
          <a:prstGeom prst="line">
            <a:avLst/>
          </a:prstGeom>
          <a:noFill/>
          <a:ln w="19050">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8" name="Text Box 17">
            <a:extLst>
              <a:ext uri="{FF2B5EF4-FFF2-40B4-BE49-F238E27FC236}">
                <a16:creationId xmlns:a16="http://schemas.microsoft.com/office/drawing/2014/main" id="{7A899027-0169-0E41-A632-97B068C6DCF8}"/>
              </a:ext>
            </a:extLst>
          </p:cNvPr>
          <p:cNvSpPr txBox="1">
            <a:spLocks noChangeArrowheads="1"/>
          </p:cNvSpPr>
          <p:nvPr/>
        </p:nvSpPr>
        <p:spPr bwMode="auto">
          <a:xfrm>
            <a:off x="4745262" y="3376613"/>
            <a:ext cx="1389062" cy="100647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000000"/>
                </a:solidFill>
                <a:effectLst/>
                <a:uLnTx/>
                <a:uFillTx/>
                <a:latin typeface="Tahoma" charset="0"/>
                <a:ea typeface="ＭＳ Ｐゴシック" charset="0"/>
                <a:cs typeface="+mn-cs"/>
              </a:rPr>
              <a:t>application</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000000"/>
                </a:solidFill>
                <a:effectLst/>
                <a:uLnTx/>
                <a:uFillTx/>
                <a:latin typeface="Tahoma" charset="0"/>
                <a:ea typeface="ＭＳ Ｐゴシック" charset="0"/>
                <a:cs typeface="+mn-cs"/>
              </a:rPr>
              <a:t>data </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000000"/>
                </a:solidFill>
                <a:effectLst/>
                <a:uLnTx/>
                <a:uFillTx/>
                <a:latin typeface="Tahoma" charset="0"/>
                <a:ea typeface="ＭＳ Ｐゴシック" charset="0"/>
                <a:cs typeface="+mn-cs"/>
              </a:rPr>
              <a:t>(payload)</a:t>
            </a: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9" name="Text Box 19">
            <a:extLst>
              <a:ext uri="{FF2B5EF4-FFF2-40B4-BE49-F238E27FC236}">
                <a16:creationId xmlns:a16="http://schemas.microsoft.com/office/drawing/2014/main" id="{CD850B08-5706-0344-961A-224002B37BA6}"/>
              </a:ext>
            </a:extLst>
          </p:cNvPr>
          <p:cNvSpPr txBox="1">
            <a:spLocks noChangeArrowheads="1"/>
          </p:cNvSpPr>
          <p:nvPr/>
        </p:nvSpPr>
        <p:spPr bwMode="auto">
          <a:xfrm>
            <a:off x="4338862" y="5292725"/>
            <a:ext cx="2524125" cy="39687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000000"/>
                </a:solidFill>
                <a:effectLst/>
                <a:uLnTx/>
                <a:uFillTx/>
                <a:latin typeface="Tahoma" charset="0"/>
                <a:ea typeface="ＭＳ Ｐゴシック" charset="0"/>
                <a:cs typeface="+mn-cs"/>
              </a:rPr>
              <a:t>UDP segment format</a:t>
            </a: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0" name="Line 20">
            <a:extLst>
              <a:ext uri="{FF2B5EF4-FFF2-40B4-BE49-F238E27FC236}">
                <a16:creationId xmlns:a16="http://schemas.microsoft.com/office/drawing/2014/main" id="{23E18502-A4AB-B441-8247-C60D9AD14D77}"/>
              </a:ext>
            </a:extLst>
          </p:cNvPr>
          <p:cNvSpPr>
            <a:spLocks noChangeShapeType="1"/>
          </p:cNvSpPr>
          <p:nvPr/>
        </p:nvSpPr>
        <p:spPr bwMode="auto">
          <a:xfrm flipV="1">
            <a:off x="5540599" y="2427288"/>
            <a:ext cx="0" cy="395287"/>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1" name="Text Box 22">
            <a:extLst>
              <a:ext uri="{FF2B5EF4-FFF2-40B4-BE49-F238E27FC236}">
                <a16:creationId xmlns:a16="http://schemas.microsoft.com/office/drawing/2014/main" id="{7C44E6B5-339B-1741-B9C3-A1E3E37268B0}"/>
              </a:ext>
            </a:extLst>
          </p:cNvPr>
          <p:cNvSpPr txBox="1">
            <a:spLocks noChangeArrowheads="1"/>
          </p:cNvSpPr>
          <p:nvPr/>
        </p:nvSpPr>
        <p:spPr bwMode="auto">
          <a:xfrm>
            <a:off x="4284887" y="2420938"/>
            <a:ext cx="814387" cy="36671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length</a:t>
            </a: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2" name="Text Box 23">
            <a:extLst>
              <a:ext uri="{FF2B5EF4-FFF2-40B4-BE49-F238E27FC236}">
                <a16:creationId xmlns:a16="http://schemas.microsoft.com/office/drawing/2014/main" id="{47FFCC22-7372-6744-AEF8-0A8B78529255}"/>
              </a:ext>
            </a:extLst>
          </p:cNvPr>
          <p:cNvSpPr txBox="1">
            <a:spLocks noChangeArrowheads="1"/>
          </p:cNvSpPr>
          <p:nvPr/>
        </p:nvSpPr>
        <p:spPr bwMode="auto">
          <a:xfrm>
            <a:off x="5831112" y="2411413"/>
            <a:ext cx="1176337" cy="36671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checksum</a:t>
            </a: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3" name="Text Box 24">
            <a:extLst>
              <a:ext uri="{FF2B5EF4-FFF2-40B4-BE49-F238E27FC236}">
                <a16:creationId xmlns:a16="http://schemas.microsoft.com/office/drawing/2014/main" id="{485622D4-EF6A-C34A-A27B-A6B8F83BC672}"/>
              </a:ext>
            </a:extLst>
          </p:cNvPr>
          <p:cNvSpPr txBox="1">
            <a:spLocks noChangeArrowheads="1"/>
          </p:cNvSpPr>
          <p:nvPr/>
        </p:nvSpPr>
        <p:spPr bwMode="auto">
          <a:xfrm>
            <a:off x="7623398" y="3421856"/>
            <a:ext cx="2406650" cy="915987"/>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length, in bytes of UDP segment, including header</a:t>
            </a: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4" name="Line 25">
            <a:extLst>
              <a:ext uri="{FF2B5EF4-FFF2-40B4-BE49-F238E27FC236}">
                <a16:creationId xmlns:a16="http://schemas.microsoft.com/office/drawing/2014/main" id="{1D6A5808-0448-DB49-AF97-08E63607B4AB}"/>
              </a:ext>
            </a:extLst>
          </p:cNvPr>
          <p:cNvSpPr>
            <a:spLocks noChangeShapeType="1"/>
          </p:cNvSpPr>
          <p:nvPr/>
        </p:nvSpPr>
        <p:spPr bwMode="auto">
          <a:xfrm flipH="1" flipV="1">
            <a:off x="5142136" y="2597149"/>
            <a:ext cx="3113157" cy="1285397"/>
          </a:xfrm>
          <a:prstGeom prst="line">
            <a:avLst/>
          </a:prstGeom>
          <a:noFill/>
          <a:ln w="19050">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5" name="Oval 4">
            <a:extLst>
              <a:ext uri="{FF2B5EF4-FFF2-40B4-BE49-F238E27FC236}">
                <a16:creationId xmlns:a16="http://schemas.microsoft.com/office/drawing/2014/main" id="{2155F1E7-7CEF-EC4F-9C9D-C612D6BAA462}"/>
              </a:ext>
            </a:extLst>
          </p:cNvPr>
          <p:cNvSpPr/>
          <p:nvPr/>
        </p:nvSpPr>
        <p:spPr>
          <a:xfrm>
            <a:off x="3695142" y="1957213"/>
            <a:ext cx="2097870" cy="534469"/>
          </a:xfrm>
          <a:prstGeom prst="ellipse">
            <a:avLst/>
          </a:prstGeom>
          <a:noFill/>
          <a:ln w="31750">
            <a:solidFill>
              <a:srgbClr val="CD000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6" name="Oval 25">
            <a:extLst>
              <a:ext uri="{FF2B5EF4-FFF2-40B4-BE49-F238E27FC236}">
                <a16:creationId xmlns:a16="http://schemas.microsoft.com/office/drawing/2014/main" id="{BE69DAA7-4CE3-5A48-B429-6D40B6035291}"/>
              </a:ext>
            </a:extLst>
          </p:cNvPr>
          <p:cNvSpPr/>
          <p:nvPr/>
        </p:nvSpPr>
        <p:spPr>
          <a:xfrm>
            <a:off x="5331049" y="1955208"/>
            <a:ext cx="2097870" cy="534469"/>
          </a:xfrm>
          <a:prstGeom prst="ellipse">
            <a:avLst/>
          </a:prstGeom>
          <a:noFill/>
          <a:ln w="31750">
            <a:solidFill>
              <a:srgbClr val="CD000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7" name="Oval 26">
            <a:extLst>
              <a:ext uri="{FF2B5EF4-FFF2-40B4-BE49-F238E27FC236}">
                <a16:creationId xmlns:a16="http://schemas.microsoft.com/office/drawing/2014/main" id="{AF8B7A60-8E66-CD4B-B67F-657454C69C5D}"/>
              </a:ext>
            </a:extLst>
          </p:cNvPr>
          <p:cNvSpPr/>
          <p:nvPr/>
        </p:nvSpPr>
        <p:spPr>
          <a:xfrm>
            <a:off x="3657042" y="2362801"/>
            <a:ext cx="2097870" cy="534469"/>
          </a:xfrm>
          <a:prstGeom prst="ellipse">
            <a:avLst/>
          </a:prstGeom>
          <a:noFill/>
          <a:ln w="31750">
            <a:solidFill>
              <a:srgbClr val="CD000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48" name="Oval 47">
            <a:extLst>
              <a:ext uri="{FF2B5EF4-FFF2-40B4-BE49-F238E27FC236}">
                <a16:creationId xmlns:a16="http://schemas.microsoft.com/office/drawing/2014/main" id="{AE79E99F-83A4-EE4E-9BAB-1946BFD0A4A1}"/>
              </a:ext>
            </a:extLst>
          </p:cNvPr>
          <p:cNvSpPr/>
          <p:nvPr/>
        </p:nvSpPr>
        <p:spPr>
          <a:xfrm>
            <a:off x="5290176" y="2341229"/>
            <a:ext cx="2097870" cy="534469"/>
          </a:xfrm>
          <a:prstGeom prst="ellipse">
            <a:avLst/>
          </a:prstGeom>
          <a:noFill/>
          <a:ln w="31750">
            <a:solidFill>
              <a:srgbClr val="CD000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49" name="Oval 48">
            <a:extLst>
              <a:ext uri="{FF2B5EF4-FFF2-40B4-BE49-F238E27FC236}">
                <a16:creationId xmlns:a16="http://schemas.microsoft.com/office/drawing/2014/main" id="{2AA4BE2E-C7FD-E34F-9626-C89B0B4F43FB}"/>
              </a:ext>
            </a:extLst>
          </p:cNvPr>
          <p:cNvSpPr/>
          <p:nvPr/>
        </p:nvSpPr>
        <p:spPr>
          <a:xfrm>
            <a:off x="4386800" y="3148706"/>
            <a:ext cx="2097870" cy="1560711"/>
          </a:xfrm>
          <a:prstGeom prst="ellipse">
            <a:avLst/>
          </a:prstGeom>
          <a:noFill/>
          <a:ln w="31750">
            <a:solidFill>
              <a:srgbClr val="CD000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50" name="Line 25">
            <a:extLst>
              <a:ext uri="{FF2B5EF4-FFF2-40B4-BE49-F238E27FC236}">
                <a16:creationId xmlns:a16="http://schemas.microsoft.com/office/drawing/2014/main" id="{F10F9304-7E0A-6542-A023-9D119B25A076}"/>
              </a:ext>
            </a:extLst>
          </p:cNvPr>
          <p:cNvSpPr>
            <a:spLocks noChangeShapeType="1"/>
          </p:cNvSpPr>
          <p:nvPr/>
        </p:nvSpPr>
        <p:spPr bwMode="auto">
          <a:xfrm flipH="1" flipV="1">
            <a:off x="5915202" y="3972404"/>
            <a:ext cx="3113157" cy="1285397"/>
          </a:xfrm>
          <a:prstGeom prst="line">
            <a:avLst/>
          </a:prstGeom>
          <a:noFill/>
          <a:ln w="19050">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51" name="Text Box 24">
            <a:extLst>
              <a:ext uri="{FF2B5EF4-FFF2-40B4-BE49-F238E27FC236}">
                <a16:creationId xmlns:a16="http://schemas.microsoft.com/office/drawing/2014/main" id="{E81BCD01-79B1-A943-81E4-83B20B558C90}"/>
              </a:ext>
            </a:extLst>
          </p:cNvPr>
          <p:cNvSpPr txBox="1">
            <a:spLocks noChangeArrowheads="1"/>
          </p:cNvSpPr>
          <p:nvPr/>
        </p:nvSpPr>
        <p:spPr bwMode="auto">
          <a:xfrm>
            <a:off x="8032927" y="4969559"/>
            <a:ext cx="2406650" cy="646331"/>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data to/from application layer</a:t>
            </a: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Tree>
    <p:extLst>
      <p:ext uri="{BB962C8B-B14F-4D97-AF65-F5344CB8AC3E}">
        <p14:creationId xmlns:p14="http://schemas.microsoft.com/office/powerpoint/2010/main" val="6441476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par>
                                <p:cTn id="8" presetID="9" presetClass="entr" presetSubtype="0" fill="hold" grpId="0" nodeType="withEffect">
                                  <p:stCondLst>
                                    <p:cond delay="0"/>
                                  </p:stCondLst>
                                  <p:childTnLst>
                                    <p:set>
                                      <p:cBhvr>
                                        <p:cTn id="9" dur="1" fill="hold">
                                          <p:stCondLst>
                                            <p:cond delay="0"/>
                                          </p:stCondLst>
                                        </p:cTn>
                                        <p:tgtEl>
                                          <p:spTgt spid="26"/>
                                        </p:tgtEl>
                                        <p:attrNameLst>
                                          <p:attrName>style.visibility</p:attrName>
                                        </p:attrNameLst>
                                      </p:cBhvr>
                                      <p:to>
                                        <p:strVal val="visible"/>
                                      </p:to>
                                    </p:set>
                                    <p:animEffect transition="in" filter="dissolve">
                                      <p:cBhvr>
                                        <p:cTn id="10" dur="500"/>
                                        <p:tgtEl>
                                          <p:spTgt spid="26"/>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dissolve">
                                      <p:cBhvr>
                                        <p:cTn id="15" dur="500"/>
                                        <p:tgtEl>
                                          <p:spTgt spid="27"/>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44"/>
                                        </p:tgtEl>
                                        <p:attrNameLst>
                                          <p:attrName>style.visibility</p:attrName>
                                        </p:attrNameLst>
                                      </p:cBhvr>
                                      <p:to>
                                        <p:strVal val="visible"/>
                                      </p:to>
                                    </p:set>
                                    <p:animEffect transition="in" filter="dissolve">
                                      <p:cBhvr>
                                        <p:cTn id="18" dur="500"/>
                                        <p:tgtEl>
                                          <p:spTgt spid="44"/>
                                        </p:tgtEl>
                                      </p:cBhvr>
                                    </p:animEffect>
                                  </p:childTnLst>
                                </p:cTn>
                              </p:par>
                              <p:par>
                                <p:cTn id="19" presetID="9" presetClass="entr" presetSubtype="0" fill="hold" grpId="0" nodeType="withEffect">
                                  <p:stCondLst>
                                    <p:cond delay="0"/>
                                  </p:stCondLst>
                                  <p:childTnLst>
                                    <p:set>
                                      <p:cBhvr>
                                        <p:cTn id="20" dur="1" fill="hold">
                                          <p:stCondLst>
                                            <p:cond delay="0"/>
                                          </p:stCondLst>
                                        </p:cTn>
                                        <p:tgtEl>
                                          <p:spTgt spid="43"/>
                                        </p:tgtEl>
                                        <p:attrNameLst>
                                          <p:attrName>style.visibility</p:attrName>
                                        </p:attrNameLst>
                                      </p:cBhvr>
                                      <p:to>
                                        <p:strVal val="visible"/>
                                      </p:to>
                                    </p:set>
                                    <p:animEffect transition="in" filter="dissolve">
                                      <p:cBhvr>
                                        <p:cTn id="21" dur="500"/>
                                        <p:tgtEl>
                                          <p:spTgt spid="43"/>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49"/>
                                        </p:tgtEl>
                                        <p:attrNameLst>
                                          <p:attrName>style.visibility</p:attrName>
                                        </p:attrNameLst>
                                      </p:cBhvr>
                                      <p:to>
                                        <p:strVal val="visible"/>
                                      </p:to>
                                    </p:set>
                                    <p:animEffect transition="in" filter="dissolve">
                                      <p:cBhvr>
                                        <p:cTn id="26" dur="500"/>
                                        <p:tgtEl>
                                          <p:spTgt spid="49"/>
                                        </p:tgtEl>
                                      </p:cBhvr>
                                    </p:animEffect>
                                  </p:childTnLst>
                                </p:cTn>
                              </p:par>
                              <p:par>
                                <p:cTn id="27" presetID="9" presetClass="entr" presetSubtype="0" fill="hold" grpId="0" nodeType="withEffect">
                                  <p:stCondLst>
                                    <p:cond delay="0"/>
                                  </p:stCondLst>
                                  <p:childTnLst>
                                    <p:set>
                                      <p:cBhvr>
                                        <p:cTn id="28" dur="1" fill="hold">
                                          <p:stCondLst>
                                            <p:cond delay="0"/>
                                          </p:stCondLst>
                                        </p:cTn>
                                        <p:tgtEl>
                                          <p:spTgt spid="50"/>
                                        </p:tgtEl>
                                        <p:attrNameLst>
                                          <p:attrName>style.visibility</p:attrName>
                                        </p:attrNameLst>
                                      </p:cBhvr>
                                      <p:to>
                                        <p:strVal val="visible"/>
                                      </p:to>
                                    </p:set>
                                    <p:animEffect transition="in" filter="dissolve">
                                      <p:cBhvr>
                                        <p:cTn id="29" dur="500"/>
                                        <p:tgtEl>
                                          <p:spTgt spid="50"/>
                                        </p:tgtEl>
                                      </p:cBhvr>
                                    </p:animEffect>
                                  </p:childTnLst>
                                </p:cTn>
                              </p:par>
                              <p:par>
                                <p:cTn id="30" presetID="9" presetClass="entr" presetSubtype="0" fill="hold" grpId="0" nodeType="withEffect">
                                  <p:stCondLst>
                                    <p:cond delay="0"/>
                                  </p:stCondLst>
                                  <p:childTnLst>
                                    <p:set>
                                      <p:cBhvr>
                                        <p:cTn id="31" dur="1" fill="hold">
                                          <p:stCondLst>
                                            <p:cond delay="0"/>
                                          </p:stCondLst>
                                        </p:cTn>
                                        <p:tgtEl>
                                          <p:spTgt spid="51"/>
                                        </p:tgtEl>
                                        <p:attrNameLst>
                                          <p:attrName>style.visibility</p:attrName>
                                        </p:attrNameLst>
                                      </p:cBhvr>
                                      <p:to>
                                        <p:strVal val="visible"/>
                                      </p:to>
                                    </p:set>
                                    <p:animEffect transition="in" filter="dissolve">
                                      <p:cBhvr>
                                        <p:cTn id="32" dur="500"/>
                                        <p:tgtEl>
                                          <p:spTgt spid="51"/>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48"/>
                                        </p:tgtEl>
                                        <p:attrNameLst>
                                          <p:attrName>style.visibility</p:attrName>
                                        </p:attrNameLst>
                                      </p:cBhvr>
                                      <p:to>
                                        <p:strVal val="visible"/>
                                      </p:to>
                                    </p:set>
                                    <p:animEffect transition="in" filter="dissolve">
                                      <p:cBhvr>
                                        <p:cTn id="37"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P spid="44" grpId="0" animBg="1"/>
      <p:bldP spid="5" grpId="0" animBg="1"/>
      <p:bldP spid="26" grpId="0" animBg="1"/>
      <p:bldP spid="27" grpId="0" animBg="1"/>
      <p:bldP spid="48" grpId="0" animBg="1"/>
      <p:bldP spid="49" grpId="0" animBg="1"/>
      <p:bldP spid="50" grpId="0" animBg="1"/>
      <p:bldP spid="51"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284705" y="323994"/>
            <a:ext cx="11622589" cy="999116"/>
          </a:xfrm>
        </p:spPr>
        <p:txBody>
          <a:bodyPr>
            <a:noAutofit/>
          </a:bodyPr>
          <a:lstStyle/>
          <a:p>
            <a:r>
              <a:rPr lang="en-US" altLang="zh-CN" sz="3600" dirty="0"/>
              <a:t>Challenge</a:t>
            </a:r>
            <a:r>
              <a:rPr lang="en-US" sz="3600" dirty="0"/>
              <a:t> question 2: How does the computer know which incoming data packets belong to Netflix vs Skype vs Apache?</a:t>
            </a:r>
          </a:p>
        </p:txBody>
      </p:sp>
      <p:grpSp>
        <p:nvGrpSpPr>
          <p:cNvPr id="104" name="Group 179">
            <a:extLst>
              <a:ext uri="{FF2B5EF4-FFF2-40B4-BE49-F238E27FC236}">
                <a16:creationId xmlns:a16="http://schemas.microsoft.com/office/drawing/2014/main" id="{A2B44589-9FAE-36CC-F657-C6A5F759D62E}"/>
              </a:ext>
            </a:extLst>
          </p:cNvPr>
          <p:cNvGrpSpPr>
            <a:grpSpLocks/>
          </p:cNvGrpSpPr>
          <p:nvPr/>
        </p:nvGrpSpPr>
        <p:grpSpPr bwMode="auto">
          <a:xfrm>
            <a:off x="818543" y="5524614"/>
            <a:ext cx="1500885" cy="1254235"/>
            <a:chOff x="-44" y="1473"/>
            <a:chExt cx="981" cy="1105"/>
          </a:xfrm>
        </p:grpSpPr>
        <p:pic>
          <p:nvPicPr>
            <p:cNvPr id="105" name="Picture 180" descr="desktop_computer_stylized_medium">
              <a:extLst>
                <a:ext uri="{FF2B5EF4-FFF2-40B4-BE49-F238E27FC236}">
                  <a16:creationId xmlns:a16="http://schemas.microsoft.com/office/drawing/2014/main" id="{DA1527B1-A7BD-8D86-616A-103D463469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06" name="Freeform 181">
              <a:extLst>
                <a:ext uri="{FF2B5EF4-FFF2-40B4-BE49-F238E27FC236}">
                  <a16:creationId xmlns:a16="http://schemas.microsoft.com/office/drawing/2014/main" id="{404B7ABD-E14F-9CBE-B4CA-4FFA1AD9991F}"/>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149" name="Group 185">
            <a:extLst>
              <a:ext uri="{FF2B5EF4-FFF2-40B4-BE49-F238E27FC236}">
                <a16:creationId xmlns:a16="http://schemas.microsoft.com/office/drawing/2014/main" id="{6DD49C94-8A63-3CDE-B610-75150A0A2137}"/>
              </a:ext>
            </a:extLst>
          </p:cNvPr>
          <p:cNvGrpSpPr>
            <a:grpSpLocks/>
          </p:cNvGrpSpPr>
          <p:nvPr/>
        </p:nvGrpSpPr>
        <p:grpSpPr bwMode="auto">
          <a:xfrm>
            <a:off x="9575684" y="5358217"/>
            <a:ext cx="969704" cy="1409628"/>
            <a:chOff x="4140" y="429"/>
            <a:chExt cx="1425" cy="2396"/>
          </a:xfrm>
        </p:grpSpPr>
        <p:sp>
          <p:nvSpPr>
            <p:cNvPr id="150" name="Freeform 186">
              <a:extLst>
                <a:ext uri="{FF2B5EF4-FFF2-40B4-BE49-F238E27FC236}">
                  <a16:creationId xmlns:a16="http://schemas.microsoft.com/office/drawing/2014/main" id="{3569FE41-6356-2637-EA8D-B2DB168FC1BD}"/>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51" name="Rectangle 187">
              <a:extLst>
                <a:ext uri="{FF2B5EF4-FFF2-40B4-BE49-F238E27FC236}">
                  <a16:creationId xmlns:a16="http://schemas.microsoft.com/office/drawing/2014/main" id="{A645C388-0223-C331-70A3-D91D59FD03EB}"/>
                </a:ext>
              </a:extLst>
            </p:cNvPr>
            <p:cNvSpPr>
              <a:spLocks noChangeArrowheads="1"/>
            </p:cNvSpPr>
            <p:nvPr/>
          </p:nvSpPr>
          <p:spPr bwMode="auto">
            <a:xfrm>
              <a:off x="4203" y="429"/>
              <a:ext cx="1053" cy="2283"/>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52" name="Freeform 188">
              <a:extLst>
                <a:ext uri="{FF2B5EF4-FFF2-40B4-BE49-F238E27FC236}">
                  <a16:creationId xmlns:a16="http://schemas.microsoft.com/office/drawing/2014/main" id="{5E235C02-FA2E-5AAC-5258-113675BB0D73}"/>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53" name="Freeform 189">
              <a:extLst>
                <a:ext uri="{FF2B5EF4-FFF2-40B4-BE49-F238E27FC236}">
                  <a16:creationId xmlns:a16="http://schemas.microsoft.com/office/drawing/2014/main" id="{F6299259-105A-2473-7BC6-0ECFEBBA97B5}"/>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54" name="Rectangle 190">
              <a:extLst>
                <a:ext uri="{FF2B5EF4-FFF2-40B4-BE49-F238E27FC236}">
                  <a16:creationId xmlns:a16="http://schemas.microsoft.com/office/drawing/2014/main" id="{1F155CE7-CD94-B462-7D1C-28C9A8CBFA4E}"/>
                </a:ext>
              </a:extLst>
            </p:cNvPr>
            <p:cNvSpPr>
              <a:spLocks noChangeArrowheads="1"/>
            </p:cNvSpPr>
            <p:nvPr/>
          </p:nvSpPr>
          <p:spPr bwMode="auto">
            <a:xfrm>
              <a:off x="4209" y="693"/>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155" name="Group 191">
              <a:extLst>
                <a:ext uri="{FF2B5EF4-FFF2-40B4-BE49-F238E27FC236}">
                  <a16:creationId xmlns:a16="http://schemas.microsoft.com/office/drawing/2014/main" id="{0A78AD32-9E7C-53B5-EEB4-E70B81A3710E}"/>
                </a:ext>
              </a:extLst>
            </p:cNvPr>
            <p:cNvGrpSpPr>
              <a:grpSpLocks/>
            </p:cNvGrpSpPr>
            <p:nvPr/>
          </p:nvGrpSpPr>
          <p:grpSpPr bwMode="auto">
            <a:xfrm>
              <a:off x="4749" y="668"/>
              <a:ext cx="581" cy="145"/>
              <a:chOff x="614" y="2568"/>
              <a:chExt cx="725" cy="139"/>
            </a:xfrm>
          </p:grpSpPr>
          <p:sp>
            <p:nvSpPr>
              <p:cNvPr id="180" name="AutoShape 192">
                <a:extLst>
                  <a:ext uri="{FF2B5EF4-FFF2-40B4-BE49-F238E27FC236}">
                    <a16:creationId xmlns:a16="http://schemas.microsoft.com/office/drawing/2014/main" id="{E4203A91-41ED-5A95-50AE-303F1154FEF8}"/>
                  </a:ext>
                </a:extLst>
              </p:cNvPr>
              <p:cNvSpPr>
                <a:spLocks noChangeArrowheads="1"/>
              </p:cNvSpPr>
              <p:nvPr/>
            </p:nvSpPr>
            <p:spPr bwMode="auto">
              <a:xfrm>
                <a:off x="617" y="2567"/>
                <a:ext cx="724"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81" name="AutoShape 193">
                <a:extLst>
                  <a:ext uri="{FF2B5EF4-FFF2-40B4-BE49-F238E27FC236}">
                    <a16:creationId xmlns:a16="http://schemas.microsoft.com/office/drawing/2014/main" id="{C63C2A2D-7837-5445-98CF-E473CA0468B1}"/>
                  </a:ext>
                </a:extLst>
              </p:cNvPr>
              <p:cNvSpPr>
                <a:spLocks noChangeArrowheads="1"/>
              </p:cNvSpPr>
              <p:nvPr/>
            </p:nvSpPr>
            <p:spPr bwMode="auto">
              <a:xfrm>
                <a:off x="633" y="2582"/>
                <a:ext cx="692"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156" name="Rectangle 194">
              <a:extLst>
                <a:ext uri="{FF2B5EF4-FFF2-40B4-BE49-F238E27FC236}">
                  <a16:creationId xmlns:a16="http://schemas.microsoft.com/office/drawing/2014/main" id="{C4497B76-4C71-3808-1CCE-EDE8E6BB3093}"/>
                </a:ext>
              </a:extLst>
            </p:cNvPr>
            <p:cNvSpPr>
              <a:spLocks noChangeArrowheads="1"/>
            </p:cNvSpPr>
            <p:nvPr/>
          </p:nvSpPr>
          <p:spPr bwMode="auto">
            <a:xfrm>
              <a:off x="4222" y="1017"/>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157" name="Group 195">
              <a:extLst>
                <a:ext uri="{FF2B5EF4-FFF2-40B4-BE49-F238E27FC236}">
                  <a16:creationId xmlns:a16="http://schemas.microsoft.com/office/drawing/2014/main" id="{3C3A423B-B85A-A7F0-EB2E-7BA3E67AE909}"/>
                </a:ext>
              </a:extLst>
            </p:cNvPr>
            <p:cNvGrpSpPr>
              <a:grpSpLocks/>
            </p:cNvGrpSpPr>
            <p:nvPr/>
          </p:nvGrpSpPr>
          <p:grpSpPr bwMode="auto">
            <a:xfrm>
              <a:off x="4747" y="994"/>
              <a:ext cx="581" cy="134"/>
              <a:chOff x="614" y="2568"/>
              <a:chExt cx="725" cy="139"/>
            </a:xfrm>
          </p:grpSpPr>
          <p:sp>
            <p:nvSpPr>
              <p:cNvPr id="178" name="AutoShape 196">
                <a:extLst>
                  <a:ext uri="{FF2B5EF4-FFF2-40B4-BE49-F238E27FC236}">
                    <a16:creationId xmlns:a16="http://schemas.microsoft.com/office/drawing/2014/main" id="{1780237A-685F-4770-C505-B8330AEA3D51}"/>
                  </a:ext>
                </a:extLst>
              </p:cNvPr>
              <p:cNvSpPr>
                <a:spLocks noChangeArrowheads="1"/>
              </p:cNvSpPr>
              <p:nvPr/>
            </p:nvSpPr>
            <p:spPr bwMode="auto">
              <a:xfrm>
                <a:off x="612" y="2570"/>
                <a:ext cx="724" cy="162"/>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79" name="AutoShape 197">
                <a:extLst>
                  <a:ext uri="{FF2B5EF4-FFF2-40B4-BE49-F238E27FC236}">
                    <a16:creationId xmlns:a16="http://schemas.microsoft.com/office/drawing/2014/main" id="{095178BA-281A-FBAF-0171-126B66884F12}"/>
                  </a:ext>
                </a:extLst>
              </p:cNvPr>
              <p:cNvSpPr>
                <a:spLocks noChangeArrowheads="1"/>
              </p:cNvSpPr>
              <p:nvPr/>
            </p:nvSpPr>
            <p:spPr bwMode="auto">
              <a:xfrm>
                <a:off x="628" y="2586"/>
                <a:ext cx="692"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158" name="Rectangle 198">
              <a:extLst>
                <a:ext uri="{FF2B5EF4-FFF2-40B4-BE49-F238E27FC236}">
                  <a16:creationId xmlns:a16="http://schemas.microsoft.com/office/drawing/2014/main" id="{AFF3C879-BEC5-8ED0-1CB5-A33CD5FB60AD}"/>
                </a:ext>
              </a:extLst>
            </p:cNvPr>
            <p:cNvSpPr>
              <a:spLocks noChangeArrowheads="1"/>
            </p:cNvSpPr>
            <p:nvPr/>
          </p:nvSpPr>
          <p:spPr bwMode="auto">
            <a:xfrm>
              <a:off x="4216" y="1357"/>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59" name="Rectangle 199">
              <a:extLst>
                <a:ext uri="{FF2B5EF4-FFF2-40B4-BE49-F238E27FC236}">
                  <a16:creationId xmlns:a16="http://schemas.microsoft.com/office/drawing/2014/main" id="{E41E46E4-17EB-BEB6-0BFB-84478EB7D984}"/>
                </a:ext>
              </a:extLst>
            </p:cNvPr>
            <p:cNvSpPr>
              <a:spLocks noChangeArrowheads="1"/>
            </p:cNvSpPr>
            <p:nvPr/>
          </p:nvSpPr>
          <p:spPr bwMode="auto">
            <a:xfrm>
              <a:off x="4228" y="1654"/>
              <a:ext cx="593"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160" name="Group 200">
              <a:extLst>
                <a:ext uri="{FF2B5EF4-FFF2-40B4-BE49-F238E27FC236}">
                  <a16:creationId xmlns:a16="http://schemas.microsoft.com/office/drawing/2014/main" id="{1F09F9C1-7A84-3751-8F1F-02B5F8AD3393}"/>
                </a:ext>
              </a:extLst>
            </p:cNvPr>
            <p:cNvGrpSpPr>
              <a:grpSpLocks/>
            </p:cNvGrpSpPr>
            <p:nvPr/>
          </p:nvGrpSpPr>
          <p:grpSpPr bwMode="auto">
            <a:xfrm>
              <a:off x="4735" y="1627"/>
              <a:ext cx="582" cy="151"/>
              <a:chOff x="614" y="2568"/>
              <a:chExt cx="725" cy="139"/>
            </a:xfrm>
          </p:grpSpPr>
          <p:sp>
            <p:nvSpPr>
              <p:cNvPr id="176" name="AutoShape 201">
                <a:extLst>
                  <a:ext uri="{FF2B5EF4-FFF2-40B4-BE49-F238E27FC236}">
                    <a16:creationId xmlns:a16="http://schemas.microsoft.com/office/drawing/2014/main" id="{35A1D8BE-5F34-9EEA-A6D2-9A4760361826}"/>
                  </a:ext>
                </a:extLst>
              </p:cNvPr>
              <p:cNvSpPr>
                <a:spLocks noChangeArrowheads="1"/>
              </p:cNvSpPr>
              <p:nvPr/>
            </p:nvSpPr>
            <p:spPr bwMode="auto">
              <a:xfrm>
                <a:off x="611" y="2568"/>
                <a:ext cx="730" cy="139"/>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77" name="AutoShape 202">
                <a:extLst>
                  <a:ext uri="{FF2B5EF4-FFF2-40B4-BE49-F238E27FC236}">
                    <a16:creationId xmlns:a16="http://schemas.microsoft.com/office/drawing/2014/main" id="{0CFD3691-1F9A-BCEC-CF4C-EE68A3C779BA}"/>
                  </a:ext>
                </a:extLst>
              </p:cNvPr>
              <p:cNvSpPr>
                <a:spLocks noChangeArrowheads="1"/>
              </p:cNvSpPr>
              <p:nvPr/>
            </p:nvSpPr>
            <p:spPr bwMode="auto">
              <a:xfrm>
                <a:off x="627" y="2583"/>
                <a:ext cx="699"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161" name="Freeform 203">
              <a:extLst>
                <a:ext uri="{FF2B5EF4-FFF2-40B4-BE49-F238E27FC236}">
                  <a16:creationId xmlns:a16="http://schemas.microsoft.com/office/drawing/2014/main" id="{63EA989A-96B3-F935-F9D2-7DE396B324BB}"/>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162" name="Group 204">
              <a:extLst>
                <a:ext uri="{FF2B5EF4-FFF2-40B4-BE49-F238E27FC236}">
                  <a16:creationId xmlns:a16="http://schemas.microsoft.com/office/drawing/2014/main" id="{E56F9E59-8E67-63DD-5190-2F690E8634F5}"/>
                </a:ext>
              </a:extLst>
            </p:cNvPr>
            <p:cNvGrpSpPr>
              <a:grpSpLocks/>
            </p:cNvGrpSpPr>
            <p:nvPr/>
          </p:nvGrpSpPr>
          <p:grpSpPr bwMode="auto">
            <a:xfrm>
              <a:off x="4739" y="1327"/>
              <a:ext cx="582" cy="139"/>
              <a:chOff x="614" y="2568"/>
              <a:chExt cx="725" cy="139"/>
            </a:xfrm>
          </p:grpSpPr>
          <p:sp>
            <p:nvSpPr>
              <p:cNvPr id="174" name="AutoShape 205">
                <a:extLst>
                  <a:ext uri="{FF2B5EF4-FFF2-40B4-BE49-F238E27FC236}">
                    <a16:creationId xmlns:a16="http://schemas.microsoft.com/office/drawing/2014/main" id="{53168FF3-EBEC-DA2C-74A0-B0BA0710B67A}"/>
                  </a:ext>
                </a:extLst>
              </p:cNvPr>
              <p:cNvSpPr>
                <a:spLocks noChangeArrowheads="1"/>
              </p:cNvSpPr>
              <p:nvPr/>
            </p:nvSpPr>
            <p:spPr bwMode="auto">
              <a:xfrm>
                <a:off x="614" y="2566"/>
                <a:ext cx="723"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75" name="AutoShape 206">
                <a:extLst>
                  <a:ext uri="{FF2B5EF4-FFF2-40B4-BE49-F238E27FC236}">
                    <a16:creationId xmlns:a16="http://schemas.microsoft.com/office/drawing/2014/main" id="{AE4E8EDF-BDDD-9156-6C3F-135DB62DE3E2}"/>
                  </a:ext>
                </a:extLst>
              </p:cNvPr>
              <p:cNvSpPr>
                <a:spLocks noChangeArrowheads="1"/>
              </p:cNvSpPr>
              <p:nvPr/>
            </p:nvSpPr>
            <p:spPr bwMode="auto">
              <a:xfrm>
                <a:off x="630" y="2582"/>
                <a:ext cx="691"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163" name="Rectangle 207">
              <a:extLst>
                <a:ext uri="{FF2B5EF4-FFF2-40B4-BE49-F238E27FC236}">
                  <a16:creationId xmlns:a16="http://schemas.microsoft.com/office/drawing/2014/main" id="{54687741-71F3-433E-0FD3-17BC877F1342}"/>
                </a:ext>
              </a:extLst>
            </p:cNvPr>
            <p:cNvSpPr>
              <a:spLocks noChangeArrowheads="1"/>
            </p:cNvSpPr>
            <p:nvPr/>
          </p:nvSpPr>
          <p:spPr bwMode="auto">
            <a:xfrm>
              <a:off x="5250" y="429"/>
              <a:ext cx="69" cy="2288"/>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64" name="Freeform 208">
              <a:extLst>
                <a:ext uri="{FF2B5EF4-FFF2-40B4-BE49-F238E27FC236}">
                  <a16:creationId xmlns:a16="http://schemas.microsoft.com/office/drawing/2014/main" id="{C77CD7F1-EA79-8780-53E7-78DC4C9DAE8D}"/>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65" name="Freeform 209">
              <a:extLst>
                <a:ext uri="{FF2B5EF4-FFF2-40B4-BE49-F238E27FC236}">
                  <a16:creationId xmlns:a16="http://schemas.microsoft.com/office/drawing/2014/main" id="{75B0D1BF-7847-D964-86A2-76EF52AE2834}"/>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66" name="Oval 210">
              <a:extLst>
                <a:ext uri="{FF2B5EF4-FFF2-40B4-BE49-F238E27FC236}">
                  <a16:creationId xmlns:a16="http://schemas.microsoft.com/office/drawing/2014/main" id="{E40DECAF-5C3C-9BB4-22DA-2B1C702E47D7}"/>
                </a:ext>
              </a:extLst>
            </p:cNvPr>
            <p:cNvSpPr>
              <a:spLocks noChangeArrowheads="1"/>
            </p:cNvSpPr>
            <p:nvPr/>
          </p:nvSpPr>
          <p:spPr bwMode="auto">
            <a:xfrm>
              <a:off x="5515" y="2609"/>
              <a:ext cx="50" cy="97"/>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67" name="Freeform 211">
              <a:extLst>
                <a:ext uri="{FF2B5EF4-FFF2-40B4-BE49-F238E27FC236}">
                  <a16:creationId xmlns:a16="http://schemas.microsoft.com/office/drawing/2014/main" id="{E0BBE01C-6ACA-4AF3-E4C4-85356C02EA56}"/>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68" name="AutoShape 212">
              <a:extLst>
                <a:ext uri="{FF2B5EF4-FFF2-40B4-BE49-F238E27FC236}">
                  <a16:creationId xmlns:a16="http://schemas.microsoft.com/office/drawing/2014/main" id="{E2B941B1-2019-0AC7-654E-3222B1BE0804}"/>
                </a:ext>
              </a:extLst>
            </p:cNvPr>
            <p:cNvSpPr>
              <a:spLocks noChangeArrowheads="1"/>
            </p:cNvSpPr>
            <p:nvPr/>
          </p:nvSpPr>
          <p:spPr bwMode="auto">
            <a:xfrm>
              <a:off x="4140" y="2679"/>
              <a:ext cx="1198"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69" name="AutoShape 213">
              <a:extLst>
                <a:ext uri="{FF2B5EF4-FFF2-40B4-BE49-F238E27FC236}">
                  <a16:creationId xmlns:a16="http://schemas.microsoft.com/office/drawing/2014/main" id="{601D720D-E75E-3FF2-CBFB-FC3423E83C9C}"/>
                </a:ext>
              </a:extLst>
            </p:cNvPr>
            <p:cNvSpPr>
              <a:spLocks noChangeArrowheads="1"/>
            </p:cNvSpPr>
            <p:nvPr/>
          </p:nvSpPr>
          <p:spPr bwMode="auto">
            <a:xfrm>
              <a:off x="4203" y="2712"/>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70" name="Oval 214">
              <a:extLst>
                <a:ext uri="{FF2B5EF4-FFF2-40B4-BE49-F238E27FC236}">
                  <a16:creationId xmlns:a16="http://schemas.microsoft.com/office/drawing/2014/main" id="{AD014C3F-8E8E-5765-163A-073F5096B214}"/>
                </a:ext>
              </a:extLst>
            </p:cNvPr>
            <p:cNvSpPr>
              <a:spLocks noChangeArrowheads="1"/>
            </p:cNvSpPr>
            <p:nvPr/>
          </p:nvSpPr>
          <p:spPr bwMode="auto">
            <a:xfrm>
              <a:off x="4310" y="2382"/>
              <a:ext cx="158" cy="146"/>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71" name="Oval 215">
              <a:extLst>
                <a:ext uri="{FF2B5EF4-FFF2-40B4-BE49-F238E27FC236}">
                  <a16:creationId xmlns:a16="http://schemas.microsoft.com/office/drawing/2014/main" id="{12055844-355C-5BA3-5D14-1736FC2CF520}"/>
                </a:ext>
              </a:extLst>
            </p:cNvPr>
            <p:cNvSpPr>
              <a:spLocks noChangeArrowheads="1"/>
            </p:cNvSpPr>
            <p:nvPr/>
          </p:nvSpPr>
          <p:spPr bwMode="auto">
            <a:xfrm>
              <a:off x="4487" y="2382"/>
              <a:ext cx="158" cy="146"/>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FF0000"/>
                </a:solidFill>
                <a:effectLst/>
                <a:uLnTx/>
                <a:uFillTx/>
                <a:latin typeface="Arial" charset="0"/>
                <a:ea typeface="ＭＳ Ｐゴシック" charset="0"/>
                <a:cs typeface="Arial" charset="0"/>
              </a:endParaRPr>
            </a:p>
          </p:txBody>
        </p:sp>
        <p:sp>
          <p:nvSpPr>
            <p:cNvPr id="172" name="Oval 216">
              <a:extLst>
                <a:ext uri="{FF2B5EF4-FFF2-40B4-BE49-F238E27FC236}">
                  <a16:creationId xmlns:a16="http://schemas.microsoft.com/office/drawing/2014/main" id="{6A61F049-C83B-391D-6451-D7E88BEADB10}"/>
                </a:ext>
              </a:extLst>
            </p:cNvPr>
            <p:cNvSpPr>
              <a:spLocks noChangeArrowheads="1"/>
            </p:cNvSpPr>
            <p:nvPr/>
          </p:nvSpPr>
          <p:spPr bwMode="auto">
            <a:xfrm>
              <a:off x="4663" y="2382"/>
              <a:ext cx="158" cy="140"/>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73" name="Rectangle 217">
              <a:extLst>
                <a:ext uri="{FF2B5EF4-FFF2-40B4-BE49-F238E27FC236}">
                  <a16:creationId xmlns:a16="http://schemas.microsoft.com/office/drawing/2014/main" id="{FE3C8424-C7AD-4382-446D-586A8C2BD97F}"/>
                </a:ext>
              </a:extLst>
            </p:cNvPr>
            <p:cNvSpPr>
              <a:spLocks noChangeArrowheads="1"/>
            </p:cNvSpPr>
            <p:nvPr/>
          </p:nvSpPr>
          <p:spPr bwMode="auto">
            <a:xfrm>
              <a:off x="5061" y="1837"/>
              <a:ext cx="88" cy="761"/>
            </a:xfrm>
            <a:prstGeom prst="rect">
              <a:avLst/>
            </a:prstGeom>
            <a:solidFill>
              <a:srgbClr val="29292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pic>
        <p:nvPicPr>
          <p:cNvPr id="182" name="Picture 4" descr="Image result for apache web server logo">
            <a:extLst>
              <a:ext uri="{FF2B5EF4-FFF2-40B4-BE49-F238E27FC236}">
                <a16:creationId xmlns:a16="http://schemas.microsoft.com/office/drawing/2014/main" id="{76BBBFE4-AF44-B0F3-3C86-DA9A501E3FC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6619" y="3683472"/>
            <a:ext cx="2184731" cy="955305"/>
          </a:xfrm>
          <a:prstGeom prst="rect">
            <a:avLst/>
          </a:prstGeom>
          <a:noFill/>
          <a:extLst>
            <a:ext uri="{909E8E84-426E-40dd-AFC4-6F175D3DCCD1}">
              <a14:hiddenFill xmlns="" xmlns:a14="http://schemas.microsoft.com/office/drawing/2010/main">
                <a:solidFill>
                  <a:srgbClr val="FFFFFF"/>
                </a:solidFill>
              </a14:hiddenFill>
            </a:ext>
          </a:extLst>
        </p:spPr>
      </p:pic>
      <p:pic>
        <p:nvPicPr>
          <p:cNvPr id="183" name="Picture 10" descr="Image result for netflix logo png">
            <a:extLst>
              <a:ext uri="{FF2B5EF4-FFF2-40B4-BE49-F238E27FC236}">
                <a16:creationId xmlns:a16="http://schemas.microsoft.com/office/drawing/2014/main" id="{2324311A-0724-E75E-5646-965D7D2C061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39138" y="1806153"/>
            <a:ext cx="1059694" cy="590567"/>
          </a:xfrm>
          <a:prstGeom prst="rect">
            <a:avLst/>
          </a:prstGeom>
          <a:noFill/>
          <a:extLst>
            <a:ext uri="{909E8E84-426E-40dd-AFC4-6F175D3DCCD1}">
              <a14:hiddenFill xmlns="" xmlns:a14="http://schemas.microsoft.com/office/drawing/2010/main">
                <a:solidFill>
                  <a:srgbClr val="FFFFFF"/>
                </a:solidFill>
              </a14:hiddenFill>
            </a:ext>
          </a:extLst>
        </p:spPr>
      </p:pic>
      <p:pic>
        <p:nvPicPr>
          <p:cNvPr id="184" name="Picture 8" descr="Image result for skype logo">
            <a:extLst>
              <a:ext uri="{FF2B5EF4-FFF2-40B4-BE49-F238E27FC236}">
                <a16:creationId xmlns:a16="http://schemas.microsoft.com/office/drawing/2014/main" id="{1329B6C8-5213-4C4E-0513-524273B301B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72198" y="2836596"/>
            <a:ext cx="593575" cy="596651"/>
          </a:xfrm>
          <a:prstGeom prst="rect">
            <a:avLst/>
          </a:prstGeom>
          <a:noFill/>
          <a:extLst>
            <a:ext uri="{909E8E84-426E-40dd-AFC4-6F175D3DCCD1}">
              <a14:hiddenFill xmlns="" xmlns:a14="http://schemas.microsoft.com/office/drawing/2010/main">
                <a:solidFill>
                  <a:srgbClr val="FFFFFF"/>
                </a:solidFill>
              </a14:hiddenFill>
            </a:ext>
          </a:extLst>
        </p:spPr>
      </p:pic>
      <p:pic>
        <p:nvPicPr>
          <p:cNvPr id="185" name="Picture 4" descr="Image result for apache web server logo">
            <a:extLst>
              <a:ext uri="{FF2B5EF4-FFF2-40B4-BE49-F238E27FC236}">
                <a16:creationId xmlns:a16="http://schemas.microsoft.com/office/drawing/2014/main" id="{2B066D17-3D2D-DA1C-4EBC-4D8F314DD7D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94040" y="3678081"/>
            <a:ext cx="2184731" cy="955305"/>
          </a:xfrm>
          <a:prstGeom prst="rect">
            <a:avLst/>
          </a:prstGeom>
          <a:noFill/>
          <a:extLst>
            <a:ext uri="{909E8E84-426E-40dd-AFC4-6F175D3DCCD1}">
              <a14:hiddenFill xmlns="" xmlns:a14="http://schemas.microsoft.com/office/drawing/2010/main">
                <a:solidFill>
                  <a:srgbClr val="FFFFFF"/>
                </a:solidFill>
              </a14:hiddenFill>
            </a:ext>
          </a:extLst>
        </p:spPr>
      </p:pic>
      <p:pic>
        <p:nvPicPr>
          <p:cNvPr id="186" name="Picture 10" descr="Image result for netflix logo png">
            <a:extLst>
              <a:ext uri="{FF2B5EF4-FFF2-40B4-BE49-F238E27FC236}">
                <a16:creationId xmlns:a16="http://schemas.microsoft.com/office/drawing/2014/main" id="{577F7792-2E6B-414D-ED56-333408688F8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356559" y="1800762"/>
            <a:ext cx="1059694" cy="590567"/>
          </a:xfrm>
          <a:prstGeom prst="rect">
            <a:avLst/>
          </a:prstGeom>
          <a:noFill/>
          <a:extLst>
            <a:ext uri="{909E8E84-426E-40dd-AFC4-6F175D3DCCD1}">
              <a14:hiddenFill xmlns="" xmlns:a14="http://schemas.microsoft.com/office/drawing/2010/main">
                <a:solidFill>
                  <a:srgbClr val="FFFFFF"/>
                </a:solidFill>
              </a14:hiddenFill>
            </a:ext>
          </a:extLst>
        </p:spPr>
      </p:pic>
      <p:pic>
        <p:nvPicPr>
          <p:cNvPr id="187" name="Picture 8" descr="Image result for skype logo">
            <a:extLst>
              <a:ext uri="{FF2B5EF4-FFF2-40B4-BE49-F238E27FC236}">
                <a16:creationId xmlns:a16="http://schemas.microsoft.com/office/drawing/2014/main" id="{4E4561D9-2622-25A3-C1F6-3A3BE3E9E6C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591489" y="2840349"/>
            <a:ext cx="593575" cy="59665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93" name="Group 192">
            <a:extLst>
              <a:ext uri="{FF2B5EF4-FFF2-40B4-BE49-F238E27FC236}">
                <a16:creationId xmlns:a16="http://schemas.microsoft.com/office/drawing/2014/main" id="{E921C228-95E5-1FBA-CE49-CBB3CAFDF6F8}"/>
              </a:ext>
            </a:extLst>
          </p:cNvPr>
          <p:cNvGrpSpPr/>
          <p:nvPr/>
        </p:nvGrpSpPr>
        <p:grpSpPr>
          <a:xfrm>
            <a:off x="4134072" y="1806153"/>
            <a:ext cx="1062415" cy="2195872"/>
            <a:chOff x="4594559" y="2603094"/>
            <a:chExt cx="1062415" cy="2195872"/>
          </a:xfrm>
        </p:grpSpPr>
        <p:sp>
          <p:nvSpPr>
            <p:cNvPr id="188" name="Trapezoid 187">
              <a:extLst>
                <a:ext uri="{FF2B5EF4-FFF2-40B4-BE49-F238E27FC236}">
                  <a16:creationId xmlns:a16="http://schemas.microsoft.com/office/drawing/2014/main" id="{D4FB00D8-CE0D-0F65-943F-AD70524E1F27}"/>
                </a:ext>
              </a:extLst>
            </p:cNvPr>
            <p:cNvSpPr/>
            <p:nvPr/>
          </p:nvSpPr>
          <p:spPr>
            <a:xfrm rot="5400000">
              <a:off x="4260024" y="3402016"/>
              <a:ext cx="1734207" cy="1059693"/>
            </a:xfrm>
            <a:prstGeom prst="trapezoid">
              <a:avLst/>
            </a:prstGeom>
            <a:solidFill>
              <a:schemeClr val="accent6">
                <a:lumMod val="40000"/>
                <a:lumOff val="60000"/>
              </a:schemeClr>
            </a:solidFill>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89" name="TextBox 188">
              <a:extLst>
                <a:ext uri="{FF2B5EF4-FFF2-40B4-BE49-F238E27FC236}">
                  <a16:creationId xmlns:a16="http://schemas.microsoft.com/office/drawing/2014/main" id="{0ACC8FF9-9B87-4DEC-A7D9-2CCEAD5804DA}"/>
                </a:ext>
              </a:extLst>
            </p:cNvPr>
            <p:cNvSpPr txBox="1"/>
            <p:nvPr/>
          </p:nvSpPr>
          <p:spPr>
            <a:xfrm>
              <a:off x="4594559" y="2603094"/>
              <a:ext cx="1059693" cy="461665"/>
            </a:xfrm>
            <a:prstGeom prst="rect">
              <a:avLst/>
            </a:prstGeom>
            <a:noFill/>
          </p:spPr>
          <p:txBody>
            <a:bodyPr wrap="square" rtlCol="0">
              <a:spAutoFit/>
            </a:bodyPr>
            <a:lstStyle/>
            <a:p>
              <a:pPr algn="ctr"/>
              <a:r>
                <a:rPr lang="en-US" sz="2400" b="1" dirty="0"/>
                <a:t>MUX</a:t>
              </a:r>
            </a:p>
          </p:txBody>
        </p:sp>
      </p:grpSp>
      <p:grpSp>
        <p:nvGrpSpPr>
          <p:cNvPr id="192" name="Group 191">
            <a:extLst>
              <a:ext uri="{FF2B5EF4-FFF2-40B4-BE49-F238E27FC236}">
                <a16:creationId xmlns:a16="http://schemas.microsoft.com/office/drawing/2014/main" id="{7D0441F5-E808-164A-C6CD-DE05D35315E0}"/>
              </a:ext>
            </a:extLst>
          </p:cNvPr>
          <p:cNvGrpSpPr/>
          <p:nvPr/>
        </p:nvGrpSpPr>
        <p:grpSpPr>
          <a:xfrm>
            <a:off x="6258903" y="1796740"/>
            <a:ext cx="1268036" cy="2205285"/>
            <a:chOff x="6489530" y="2734540"/>
            <a:chExt cx="1268036" cy="2205285"/>
          </a:xfrm>
        </p:grpSpPr>
        <p:sp>
          <p:nvSpPr>
            <p:cNvPr id="190" name="Trapezoid 189">
              <a:extLst>
                <a:ext uri="{FF2B5EF4-FFF2-40B4-BE49-F238E27FC236}">
                  <a16:creationId xmlns:a16="http://schemas.microsoft.com/office/drawing/2014/main" id="{EF09C986-E999-3B92-7AB6-EDF692A4E531}"/>
                </a:ext>
              </a:extLst>
            </p:cNvPr>
            <p:cNvSpPr/>
            <p:nvPr/>
          </p:nvSpPr>
          <p:spPr>
            <a:xfrm rot="16200000">
              <a:off x="6256445" y="3542875"/>
              <a:ext cx="1734207" cy="1059693"/>
            </a:xfrm>
            <a:prstGeom prst="trapezoid">
              <a:avLst/>
            </a:prstGeom>
            <a:solidFill>
              <a:schemeClr val="accent6">
                <a:lumMod val="40000"/>
                <a:lumOff val="60000"/>
              </a:schemeClr>
            </a:solidFill>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91" name="TextBox 190">
              <a:extLst>
                <a:ext uri="{FF2B5EF4-FFF2-40B4-BE49-F238E27FC236}">
                  <a16:creationId xmlns:a16="http://schemas.microsoft.com/office/drawing/2014/main" id="{6A1FA0DF-F9A2-61DD-36C9-0333329F2CA0}"/>
                </a:ext>
              </a:extLst>
            </p:cNvPr>
            <p:cNvSpPr txBox="1"/>
            <p:nvPr/>
          </p:nvSpPr>
          <p:spPr>
            <a:xfrm>
              <a:off x="6489530" y="2734540"/>
              <a:ext cx="1268036" cy="461665"/>
            </a:xfrm>
            <a:prstGeom prst="rect">
              <a:avLst/>
            </a:prstGeom>
            <a:noFill/>
          </p:spPr>
          <p:txBody>
            <a:bodyPr wrap="square" rtlCol="0">
              <a:spAutoFit/>
            </a:bodyPr>
            <a:lstStyle/>
            <a:p>
              <a:pPr algn="ctr"/>
              <a:r>
                <a:rPr lang="en-US" sz="2400" b="1" dirty="0"/>
                <a:t>DEMUX</a:t>
              </a:r>
            </a:p>
          </p:txBody>
        </p:sp>
      </p:grpSp>
      <p:cxnSp>
        <p:nvCxnSpPr>
          <p:cNvPr id="195" name="Straight Connector 194">
            <a:extLst>
              <a:ext uri="{FF2B5EF4-FFF2-40B4-BE49-F238E27FC236}">
                <a16:creationId xmlns:a16="http://schemas.microsoft.com/office/drawing/2014/main" id="{A121D7E8-C2B7-9426-4DAF-3B524897575D}"/>
              </a:ext>
            </a:extLst>
          </p:cNvPr>
          <p:cNvCxnSpPr>
            <a:cxnSpLocks/>
            <a:stCxn id="188" idx="0"/>
            <a:endCxn id="190" idx="0"/>
          </p:cNvCxnSpPr>
          <p:nvPr/>
        </p:nvCxnSpPr>
        <p:spPr>
          <a:xfrm flipV="1">
            <a:off x="5196487" y="3134921"/>
            <a:ext cx="1166588" cy="1"/>
          </a:xfrm>
          <a:prstGeom prst="line">
            <a:avLst/>
          </a:prstGeom>
          <a:ln w="76200"/>
        </p:spPr>
        <p:style>
          <a:lnRef idx="1">
            <a:schemeClr val="dk1"/>
          </a:lnRef>
          <a:fillRef idx="0">
            <a:schemeClr val="dk1"/>
          </a:fillRef>
          <a:effectRef idx="0">
            <a:schemeClr val="dk1"/>
          </a:effectRef>
          <a:fontRef idx="minor">
            <a:schemeClr val="tx1"/>
          </a:fontRef>
        </p:style>
      </p:cxnSp>
      <p:cxnSp>
        <p:nvCxnSpPr>
          <p:cNvPr id="199" name="Straight Connector 198">
            <a:extLst>
              <a:ext uri="{FF2B5EF4-FFF2-40B4-BE49-F238E27FC236}">
                <a16:creationId xmlns:a16="http://schemas.microsoft.com/office/drawing/2014/main" id="{37D4368B-87F2-4694-21CF-30766E2A68A7}"/>
              </a:ext>
            </a:extLst>
          </p:cNvPr>
          <p:cNvCxnSpPr>
            <a:stCxn id="183" idx="3"/>
            <a:endCxn id="188" idx="2"/>
          </p:cNvCxnSpPr>
          <p:nvPr/>
        </p:nvCxnSpPr>
        <p:spPr>
          <a:xfrm>
            <a:off x="2098832" y="2101437"/>
            <a:ext cx="2037962" cy="1033485"/>
          </a:xfrm>
          <a:prstGeom prst="line">
            <a:avLst/>
          </a:prstGeom>
          <a:ln w="28575"/>
        </p:spPr>
        <p:style>
          <a:lnRef idx="1">
            <a:schemeClr val="dk1"/>
          </a:lnRef>
          <a:fillRef idx="0">
            <a:schemeClr val="dk1"/>
          </a:fillRef>
          <a:effectRef idx="0">
            <a:schemeClr val="dk1"/>
          </a:effectRef>
          <a:fontRef idx="minor">
            <a:schemeClr val="tx1"/>
          </a:fontRef>
        </p:style>
      </p:cxnSp>
      <p:cxnSp>
        <p:nvCxnSpPr>
          <p:cNvPr id="200" name="Straight Connector 199">
            <a:extLst>
              <a:ext uri="{FF2B5EF4-FFF2-40B4-BE49-F238E27FC236}">
                <a16:creationId xmlns:a16="http://schemas.microsoft.com/office/drawing/2014/main" id="{94398562-7953-C257-98EE-A9B3C35394BF}"/>
              </a:ext>
            </a:extLst>
          </p:cNvPr>
          <p:cNvCxnSpPr>
            <a:cxnSpLocks/>
            <a:stCxn id="184" idx="3"/>
            <a:endCxn id="188" idx="2"/>
          </p:cNvCxnSpPr>
          <p:nvPr/>
        </p:nvCxnSpPr>
        <p:spPr>
          <a:xfrm>
            <a:off x="1865773" y="3134922"/>
            <a:ext cx="2271021"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204" name="Straight Connector 203">
            <a:extLst>
              <a:ext uri="{FF2B5EF4-FFF2-40B4-BE49-F238E27FC236}">
                <a16:creationId xmlns:a16="http://schemas.microsoft.com/office/drawing/2014/main" id="{9EAB0664-5B43-20C5-ED33-D6B605E348BD}"/>
              </a:ext>
            </a:extLst>
          </p:cNvPr>
          <p:cNvCxnSpPr>
            <a:cxnSpLocks/>
            <a:stCxn id="182" idx="3"/>
            <a:endCxn id="188" idx="2"/>
          </p:cNvCxnSpPr>
          <p:nvPr/>
        </p:nvCxnSpPr>
        <p:spPr>
          <a:xfrm flipV="1">
            <a:off x="2661350" y="3134922"/>
            <a:ext cx="1475444" cy="1026203"/>
          </a:xfrm>
          <a:prstGeom prst="line">
            <a:avLst/>
          </a:prstGeom>
          <a:ln w="28575"/>
        </p:spPr>
        <p:style>
          <a:lnRef idx="1">
            <a:schemeClr val="dk1"/>
          </a:lnRef>
          <a:fillRef idx="0">
            <a:schemeClr val="dk1"/>
          </a:fillRef>
          <a:effectRef idx="0">
            <a:schemeClr val="dk1"/>
          </a:effectRef>
          <a:fontRef idx="minor">
            <a:schemeClr val="tx1"/>
          </a:fontRef>
        </p:style>
      </p:cxnSp>
      <p:cxnSp>
        <p:nvCxnSpPr>
          <p:cNvPr id="207" name="Straight Connector 206">
            <a:extLst>
              <a:ext uri="{FF2B5EF4-FFF2-40B4-BE49-F238E27FC236}">
                <a16:creationId xmlns:a16="http://schemas.microsoft.com/office/drawing/2014/main" id="{D225EB89-98BA-9EE6-D0BA-224D6099A8C2}"/>
              </a:ext>
            </a:extLst>
          </p:cNvPr>
          <p:cNvCxnSpPr>
            <a:cxnSpLocks/>
            <a:stCxn id="190" idx="2"/>
            <a:endCxn id="186" idx="1"/>
          </p:cNvCxnSpPr>
          <p:nvPr/>
        </p:nvCxnSpPr>
        <p:spPr>
          <a:xfrm flipV="1">
            <a:off x="7422768" y="2096046"/>
            <a:ext cx="1933791" cy="1038875"/>
          </a:xfrm>
          <a:prstGeom prst="line">
            <a:avLst/>
          </a:prstGeom>
          <a:ln w="28575"/>
        </p:spPr>
        <p:style>
          <a:lnRef idx="1">
            <a:schemeClr val="dk1"/>
          </a:lnRef>
          <a:fillRef idx="0">
            <a:schemeClr val="dk1"/>
          </a:fillRef>
          <a:effectRef idx="0">
            <a:schemeClr val="dk1"/>
          </a:effectRef>
          <a:fontRef idx="minor">
            <a:schemeClr val="tx1"/>
          </a:fontRef>
        </p:style>
      </p:cxnSp>
      <p:cxnSp>
        <p:nvCxnSpPr>
          <p:cNvPr id="210" name="Straight Connector 209">
            <a:extLst>
              <a:ext uri="{FF2B5EF4-FFF2-40B4-BE49-F238E27FC236}">
                <a16:creationId xmlns:a16="http://schemas.microsoft.com/office/drawing/2014/main" id="{7945EA4E-FB1D-DF49-0E47-2E6CDB611E6B}"/>
              </a:ext>
            </a:extLst>
          </p:cNvPr>
          <p:cNvCxnSpPr>
            <a:cxnSpLocks/>
            <a:stCxn id="190" idx="2"/>
            <a:endCxn id="187" idx="1"/>
          </p:cNvCxnSpPr>
          <p:nvPr/>
        </p:nvCxnSpPr>
        <p:spPr>
          <a:xfrm>
            <a:off x="7422768" y="3134921"/>
            <a:ext cx="2168721" cy="3754"/>
          </a:xfrm>
          <a:prstGeom prst="line">
            <a:avLst/>
          </a:prstGeom>
          <a:ln w="28575"/>
        </p:spPr>
        <p:style>
          <a:lnRef idx="1">
            <a:schemeClr val="dk1"/>
          </a:lnRef>
          <a:fillRef idx="0">
            <a:schemeClr val="dk1"/>
          </a:fillRef>
          <a:effectRef idx="0">
            <a:schemeClr val="dk1"/>
          </a:effectRef>
          <a:fontRef idx="minor">
            <a:schemeClr val="tx1"/>
          </a:fontRef>
        </p:style>
      </p:cxnSp>
      <p:cxnSp>
        <p:nvCxnSpPr>
          <p:cNvPr id="214" name="Straight Connector 213">
            <a:extLst>
              <a:ext uri="{FF2B5EF4-FFF2-40B4-BE49-F238E27FC236}">
                <a16:creationId xmlns:a16="http://schemas.microsoft.com/office/drawing/2014/main" id="{446222E4-5019-5849-10D9-FD126ADE5A6F}"/>
              </a:ext>
            </a:extLst>
          </p:cNvPr>
          <p:cNvCxnSpPr>
            <a:cxnSpLocks/>
            <a:stCxn id="190" idx="2"/>
            <a:endCxn id="185" idx="1"/>
          </p:cNvCxnSpPr>
          <p:nvPr/>
        </p:nvCxnSpPr>
        <p:spPr>
          <a:xfrm>
            <a:off x="7422768" y="3134921"/>
            <a:ext cx="1371272" cy="1020813"/>
          </a:xfrm>
          <a:prstGeom prst="line">
            <a:avLst/>
          </a:prstGeom>
          <a:ln w="28575"/>
        </p:spPr>
        <p:style>
          <a:lnRef idx="1">
            <a:schemeClr val="dk1"/>
          </a:lnRef>
          <a:fillRef idx="0">
            <a:schemeClr val="dk1"/>
          </a:fillRef>
          <a:effectRef idx="0">
            <a:schemeClr val="dk1"/>
          </a:effectRef>
          <a:fontRef idx="minor">
            <a:schemeClr val="tx1"/>
          </a:fontRef>
        </p:style>
      </p:cxnSp>
      <p:sp>
        <p:nvSpPr>
          <p:cNvPr id="197" name="Rectangle 196">
            <a:extLst>
              <a:ext uri="{FF2B5EF4-FFF2-40B4-BE49-F238E27FC236}">
                <a16:creationId xmlns:a16="http://schemas.microsoft.com/office/drawing/2014/main" id="{DF5546D8-DB8A-0E4B-4A0F-AC88EF113DE9}"/>
              </a:ext>
            </a:extLst>
          </p:cNvPr>
          <p:cNvSpPr/>
          <p:nvPr/>
        </p:nvSpPr>
        <p:spPr>
          <a:xfrm>
            <a:off x="2873430" y="1597245"/>
            <a:ext cx="5685680" cy="2800264"/>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3581100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9025"/>
            <a:ext cx="11100625" cy="894622"/>
          </a:xfrm>
        </p:spPr>
        <p:txBody>
          <a:bodyPr>
            <a:normAutofit/>
          </a:bodyPr>
          <a:lstStyle/>
          <a:p>
            <a:r>
              <a:rPr lang="en-US" sz="4400" dirty="0"/>
              <a:t>Multiplexing/demultiplexing</a:t>
            </a:r>
          </a:p>
        </p:txBody>
      </p:sp>
      <p:sp>
        <p:nvSpPr>
          <p:cNvPr id="132" name="Freeform 157">
            <a:extLst>
              <a:ext uri="{FF2B5EF4-FFF2-40B4-BE49-F238E27FC236}">
                <a16:creationId xmlns:a16="http://schemas.microsoft.com/office/drawing/2014/main" id="{511A693F-4BF3-344C-BDC6-28BAA983976E}"/>
              </a:ext>
            </a:extLst>
          </p:cNvPr>
          <p:cNvSpPr>
            <a:spLocks/>
          </p:cNvSpPr>
          <p:nvPr/>
        </p:nvSpPr>
        <p:spPr bwMode="auto">
          <a:xfrm>
            <a:off x="4648818" y="3193690"/>
            <a:ext cx="552450" cy="2082800"/>
          </a:xfrm>
          <a:custGeom>
            <a:avLst/>
            <a:gdLst>
              <a:gd name="T0" fmla="*/ 0 w 348"/>
              <a:gd name="T1" fmla="*/ 2147483647 h 1312"/>
              <a:gd name="T2" fmla="*/ 2147483647 w 348"/>
              <a:gd name="T3" fmla="*/ 0 h 1312"/>
              <a:gd name="T4" fmla="*/ 2147483647 w 348"/>
              <a:gd name="T5" fmla="*/ 2147483647 h 1312"/>
              <a:gd name="T6" fmla="*/ 2147483647 w 348"/>
              <a:gd name="T7" fmla="*/ 2147483647 h 1312"/>
              <a:gd name="T8" fmla="*/ 0 w 348"/>
              <a:gd name="T9" fmla="*/ 2147483647 h 13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8" h="1312">
                <a:moveTo>
                  <a:pt x="0" y="1306"/>
                </a:moveTo>
                <a:lnTo>
                  <a:pt x="348" y="0"/>
                </a:lnTo>
                <a:lnTo>
                  <a:pt x="342" y="1258"/>
                </a:lnTo>
                <a:lnTo>
                  <a:pt x="180" y="1312"/>
                </a:lnTo>
                <a:lnTo>
                  <a:pt x="0" y="1306"/>
                </a:lnTo>
                <a:close/>
              </a:path>
            </a:pathLst>
          </a:custGeom>
          <a:gradFill rotWithShape="1">
            <a:gsLst>
              <a:gs pos="0">
                <a:srgbClr val="FFFFFF"/>
              </a:gs>
              <a:gs pos="100000">
                <a:srgbClr val="B2B2B2"/>
              </a:gs>
            </a:gsLst>
            <a:lin ang="0" scaled="1"/>
          </a:gradFill>
          <a:ln w="9525">
            <a:solidFill>
              <a:srgbClr val="DDDDDD"/>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33" name="Text Box 37">
            <a:extLst>
              <a:ext uri="{FF2B5EF4-FFF2-40B4-BE49-F238E27FC236}">
                <a16:creationId xmlns:a16="http://schemas.microsoft.com/office/drawing/2014/main" id="{4EEECEF7-BD4D-FD41-9A84-F2FC20AA2A09}"/>
              </a:ext>
            </a:extLst>
          </p:cNvPr>
          <p:cNvSpPr txBox="1">
            <a:spLocks noChangeArrowheads="1"/>
          </p:cNvSpPr>
          <p:nvPr/>
        </p:nvSpPr>
        <p:spPr bwMode="auto">
          <a:xfrm>
            <a:off x="9889155" y="4119203"/>
            <a:ext cx="895350" cy="33655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Arial" charset="0"/>
                <a:ea typeface="ＭＳ Ｐゴシック" charset="0"/>
                <a:cs typeface="+mn-cs"/>
              </a:rPr>
              <a:t>process</a:t>
            </a:r>
          </a:p>
        </p:txBody>
      </p:sp>
      <p:sp>
        <p:nvSpPr>
          <p:cNvPr id="134" name="Text Box 38">
            <a:extLst>
              <a:ext uri="{FF2B5EF4-FFF2-40B4-BE49-F238E27FC236}">
                <a16:creationId xmlns:a16="http://schemas.microsoft.com/office/drawing/2014/main" id="{FC061EBE-026B-F943-BBD5-748F965BF879}"/>
              </a:ext>
            </a:extLst>
          </p:cNvPr>
          <p:cNvSpPr txBox="1">
            <a:spLocks noChangeArrowheads="1"/>
          </p:cNvSpPr>
          <p:nvPr/>
        </p:nvSpPr>
        <p:spPr bwMode="auto">
          <a:xfrm>
            <a:off x="9863755" y="3717565"/>
            <a:ext cx="755650" cy="33655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socket</a:t>
            </a:r>
          </a:p>
        </p:txBody>
      </p:sp>
      <p:grpSp>
        <p:nvGrpSpPr>
          <p:cNvPr id="5" name="Group 4">
            <a:extLst>
              <a:ext uri="{FF2B5EF4-FFF2-40B4-BE49-F238E27FC236}">
                <a16:creationId xmlns:a16="http://schemas.microsoft.com/office/drawing/2014/main" id="{D5AFC3DE-B7EF-9945-9B42-A8FE2028B2CF}"/>
              </a:ext>
            </a:extLst>
          </p:cNvPr>
          <p:cNvGrpSpPr/>
          <p:nvPr/>
        </p:nvGrpSpPr>
        <p:grpSpPr>
          <a:xfrm>
            <a:off x="6556994" y="1275989"/>
            <a:ext cx="4836316" cy="1639889"/>
            <a:chOff x="7016607" y="1655043"/>
            <a:chExt cx="4836316" cy="1639889"/>
          </a:xfrm>
        </p:grpSpPr>
        <p:sp>
          <p:nvSpPr>
            <p:cNvPr id="4" name="Rectangle 3">
              <a:extLst>
                <a:ext uri="{FF2B5EF4-FFF2-40B4-BE49-F238E27FC236}">
                  <a16:creationId xmlns:a16="http://schemas.microsoft.com/office/drawing/2014/main" id="{25BAE722-1B29-F74D-B90E-AAE0C7FE9C2E}"/>
                </a:ext>
              </a:extLst>
            </p:cNvPr>
            <p:cNvSpPr/>
            <p:nvPr/>
          </p:nvSpPr>
          <p:spPr>
            <a:xfrm>
              <a:off x="7016607" y="1945555"/>
              <a:ext cx="4508220" cy="1251692"/>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135" name="Group 177">
              <a:extLst>
                <a:ext uri="{FF2B5EF4-FFF2-40B4-BE49-F238E27FC236}">
                  <a16:creationId xmlns:a16="http://schemas.microsoft.com/office/drawing/2014/main" id="{0626849A-4E21-EE42-AD9A-55F4D52F11FC}"/>
                </a:ext>
              </a:extLst>
            </p:cNvPr>
            <p:cNvGrpSpPr>
              <a:grpSpLocks/>
            </p:cNvGrpSpPr>
            <p:nvPr/>
          </p:nvGrpSpPr>
          <p:grpSpPr bwMode="auto">
            <a:xfrm>
              <a:off x="7172972" y="1655043"/>
              <a:ext cx="4679951" cy="1639889"/>
              <a:chOff x="2899" y="903"/>
              <a:chExt cx="2948" cy="1033"/>
            </a:xfrm>
          </p:grpSpPr>
          <p:sp>
            <p:nvSpPr>
              <p:cNvPr id="136" name="Rectangle 41">
                <a:extLst>
                  <a:ext uri="{FF2B5EF4-FFF2-40B4-BE49-F238E27FC236}">
                    <a16:creationId xmlns:a16="http://schemas.microsoft.com/office/drawing/2014/main" id="{1C592E58-CF36-1C40-A0FA-08F6B84985C4}"/>
                  </a:ext>
                </a:extLst>
              </p:cNvPr>
              <p:cNvSpPr>
                <a:spLocks noChangeArrowheads="1"/>
              </p:cNvSpPr>
              <p:nvPr/>
            </p:nvSpPr>
            <p:spPr bwMode="auto">
              <a:xfrm>
                <a:off x="2955" y="1148"/>
                <a:ext cx="2892" cy="788"/>
              </a:xfrm>
              <a:prstGeom prst="rect">
                <a:avLst/>
              </a:prstGeom>
              <a:noFill/>
              <a:ln w="19050">
                <a:noFill/>
                <a:miter lim="800000"/>
                <a:headEnd/>
                <a:tailEn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8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use header info to deliver</a:t>
                </a:r>
              </a:p>
              <a:p>
                <a:pPr marL="0" marR="0" lvl="0" indent="0" algn="l" defTabSz="914400" rtl="0" eaLnBrk="0" fontAlgn="base" latinLnBrk="0" hangingPunct="0">
                  <a:lnSpc>
                    <a:spcPct val="8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received segments to correct </a:t>
                </a:r>
              </a:p>
              <a:p>
                <a:pPr marL="0" marR="0" lvl="0" indent="0" algn="l" defTabSz="914400" rtl="0" eaLnBrk="0" fontAlgn="base" latinLnBrk="0" hangingPunct="0">
                  <a:lnSpc>
                    <a:spcPct val="8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socket</a:t>
                </a:r>
              </a:p>
            </p:txBody>
          </p:sp>
          <p:grpSp>
            <p:nvGrpSpPr>
              <p:cNvPr id="137" name="Group 42">
                <a:extLst>
                  <a:ext uri="{FF2B5EF4-FFF2-40B4-BE49-F238E27FC236}">
                    <a16:creationId xmlns:a16="http://schemas.microsoft.com/office/drawing/2014/main" id="{4D9CEE39-3F97-1346-9C27-5F6F930F2A8E}"/>
                  </a:ext>
                </a:extLst>
              </p:cNvPr>
              <p:cNvGrpSpPr>
                <a:grpSpLocks/>
              </p:cNvGrpSpPr>
              <p:nvPr/>
            </p:nvGrpSpPr>
            <p:grpSpPr bwMode="auto">
              <a:xfrm>
                <a:off x="2899" y="903"/>
                <a:ext cx="2553" cy="348"/>
                <a:chOff x="905" y="3594"/>
                <a:chExt cx="2049" cy="348"/>
              </a:xfrm>
            </p:grpSpPr>
            <p:sp>
              <p:nvSpPr>
                <p:cNvPr id="138" name="Rectangle 43">
                  <a:extLst>
                    <a:ext uri="{FF2B5EF4-FFF2-40B4-BE49-F238E27FC236}">
                      <a16:creationId xmlns:a16="http://schemas.microsoft.com/office/drawing/2014/main" id="{8DE7A6B0-1014-184E-9108-23C65807C202}"/>
                    </a:ext>
                  </a:extLst>
                </p:cNvPr>
                <p:cNvSpPr>
                  <a:spLocks noChangeArrowheads="1"/>
                </p:cNvSpPr>
                <p:nvPr/>
              </p:nvSpPr>
              <p:spPr bwMode="auto">
                <a:xfrm>
                  <a:off x="1422" y="3732"/>
                  <a:ext cx="1002" cy="210"/>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139" name="Text Box 44">
                  <a:extLst>
                    <a:ext uri="{FF2B5EF4-FFF2-40B4-BE49-F238E27FC236}">
                      <a16:creationId xmlns:a16="http://schemas.microsoft.com/office/drawing/2014/main" id="{88457A8D-2DB2-C848-9B52-93F5252D0E1B}"/>
                    </a:ext>
                  </a:extLst>
                </p:cNvPr>
                <p:cNvSpPr txBox="1">
                  <a:spLocks noChangeArrowheads="1"/>
                </p:cNvSpPr>
                <p:nvPr/>
              </p:nvSpPr>
              <p:spPr bwMode="auto">
                <a:xfrm>
                  <a:off x="905" y="3594"/>
                  <a:ext cx="2049" cy="330"/>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800" b="0" i="1" u="none" strike="noStrike" kern="0" cap="none" spc="0" normalizeH="0" baseline="0" noProof="0" dirty="0">
                      <a:ln>
                        <a:noFill/>
                      </a:ln>
                      <a:solidFill>
                        <a:srgbClr val="CC0000"/>
                      </a:solidFill>
                      <a:effectLst/>
                      <a:uLnTx/>
                      <a:uFillTx/>
                      <a:latin typeface="Calibri" panose="020F0502020204030204"/>
                      <a:ea typeface="ＭＳ Ｐゴシック" charset="0"/>
                      <a:cs typeface="+mn-cs"/>
                    </a:rPr>
                    <a:t>demultiplexing as receiver:</a:t>
                  </a:r>
                </a:p>
              </p:txBody>
            </p:sp>
          </p:grpSp>
        </p:grpSp>
      </p:grpSp>
      <p:grpSp>
        <p:nvGrpSpPr>
          <p:cNvPr id="140" name="Group 57">
            <a:extLst>
              <a:ext uri="{FF2B5EF4-FFF2-40B4-BE49-F238E27FC236}">
                <a16:creationId xmlns:a16="http://schemas.microsoft.com/office/drawing/2014/main" id="{AE84E6CF-C8B6-044E-92D9-9754C3253112}"/>
              </a:ext>
            </a:extLst>
          </p:cNvPr>
          <p:cNvGrpSpPr>
            <a:grpSpLocks/>
          </p:cNvGrpSpPr>
          <p:nvPr/>
        </p:nvGrpSpPr>
        <p:grpSpPr bwMode="auto">
          <a:xfrm>
            <a:off x="9363693" y="3792178"/>
            <a:ext cx="533400" cy="206375"/>
            <a:chOff x="344" y="1846"/>
            <a:chExt cx="336" cy="130"/>
          </a:xfrm>
        </p:grpSpPr>
        <p:sp>
          <p:nvSpPr>
            <p:cNvPr id="141" name="Rectangle 35">
              <a:extLst>
                <a:ext uri="{FF2B5EF4-FFF2-40B4-BE49-F238E27FC236}">
                  <a16:creationId xmlns:a16="http://schemas.microsoft.com/office/drawing/2014/main" id="{7D4B092F-0804-EE4A-94E0-8271C5100190}"/>
                </a:ext>
              </a:extLst>
            </p:cNvPr>
            <p:cNvSpPr>
              <a:spLocks noChangeArrowheads="1"/>
            </p:cNvSpPr>
            <p:nvPr/>
          </p:nvSpPr>
          <p:spPr bwMode="auto">
            <a:xfrm>
              <a:off x="344" y="1846"/>
              <a:ext cx="336" cy="130"/>
            </a:xfrm>
            <a:prstGeom prst="rect">
              <a:avLst/>
            </a:prstGeom>
            <a:solidFill>
              <a:srgbClr val="FFFF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42" name="Rectangle 54">
              <a:extLst>
                <a:ext uri="{FF2B5EF4-FFF2-40B4-BE49-F238E27FC236}">
                  <a16:creationId xmlns:a16="http://schemas.microsoft.com/office/drawing/2014/main" id="{8FBA6612-C2CB-7A4A-BDE1-C5A9430DFE88}"/>
                </a:ext>
              </a:extLst>
            </p:cNvPr>
            <p:cNvSpPr>
              <a:spLocks noChangeArrowheads="1"/>
            </p:cNvSpPr>
            <p:nvPr/>
          </p:nvSpPr>
          <p:spPr bwMode="auto">
            <a:xfrm>
              <a:off x="454" y="1863"/>
              <a:ext cx="110" cy="99"/>
            </a:xfrm>
            <a:prstGeom prst="rect">
              <a:avLst/>
            </a:prstGeom>
            <a:solidFill>
              <a:srgbClr val="FFFFFF"/>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43" name="Rectangle 55">
              <a:extLst>
                <a:ext uri="{FF2B5EF4-FFF2-40B4-BE49-F238E27FC236}">
                  <a16:creationId xmlns:a16="http://schemas.microsoft.com/office/drawing/2014/main" id="{CB6C4329-1870-6D47-94B8-AB8D08DC0029}"/>
                </a:ext>
              </a:extLst>
            </p:cNvPr>
            <p:cNvSpPr>
              <a:spLocks noChangeArrowheads="1"/>
            </p:cNvSpPr>
            <p:nvPr/>
          </p:nvSpPr>
          <p:spPr bwMode="auto">
            <a:xfrm>
              <a:off x="578" y="1921"/>
              <a:ext cx="29" cy="35"/>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44" name="Rectangle 56">
              <a:extLst>
                <a:ext uri="{FF2B5EF4-FFF2-40B4-BE49-F238E27FC236}">
                  <a16:creationId xmlns:a16="http://schemas.microsoft.com/office/drawing/2014/main" id="{7506EAD6-B400-9A41-8C08-BA08298518AB}"/>
                </a:ext>
              </a:extLst>
            </p:cNvPr>
            <p:cNvSpPr>
              <a:spLocks noChangeArrowheads="1"/>
            </p:cNvSpPr>
            <p:nvPr/>
          </p:nvSpPr>
          <p:spPr bwMode="auto">
            <a:xfrm>
              <a:off x="407" y="1922"/>
              <a:ext cx="29" cy="35"/>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145" name="Rectangle 23">
            <a:extLst>
              <a:ext uri="{FF2B5EF4-FFF2-40B4-BE49-F238E27FC236}">
                <a16:creationId xmlns:a16="http://schemas.microsoft.com/office/drawing/2014/main" id="{F1314FFD-BA11-A042-BA84-1061E3729058}"/>
              </a:ext>
            </a:extLst>
          </p:cNvPr>
          <p:cNvSpPr>
            <a:spLocks noChangeArrowheads="1"/>
          </p:cNvSpPr>
          <p:nvPr/>
        </p:nvSpPr>
        <p:spPr bwMode="auto">
          <a:xfrm>
            <a:off x="5196505" y="3244490"/>
            <a:ext cx="1497013" cy="1981200"/>
          </a:xfrm>
          <a:prstGeom prst="rect">
            <a:avLst/>
          </a:prstGeom>
          <a:solidFill>
            <a:srgbClr val="000099"/>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46" name="Rectangle 24">
            <a:extLst>
              <a:ext uri="{FF2B5EF4-FFF2-40B4-BE49-F238E27FC236}">
                <a16:creationId xmlns:a16="http://schemas.microsoft.com/office/drawing/2014/main" id="{89D8A59C-E128-B74A-B94F-06FAC9DB7326}"/>
              </a:ext>
            </a:extLst>
          </p:cNvPr>
          <p:cNvSpPr>
            <a:spLocks noChangeArrowheads="1"/>
          </p:cNvSpPr>
          <p:nvPr/>
        </p:nvSpPr>
        <p:spPr bwMode="auto">
          <a:xfrm>
            <a:off x="5161580" y="3298465"/>
            <a:ext cx="1473200" cy="1979613"/>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47" name="Line 25">
            <a:extLst>
              <a:ext uri="{FF2B5EF4-FFF2-40B4-BE49-F238E27FC236}">
                <a16:creationId xmlns:a16="http://schemas.microsoft.com/office/drawing/2014/main" id="{B922FB1F-8B1A-1843-A740-29E910EB3E97}"/>
              </a:ext>
            </a:extLst>
          </p:cNvPr>
          <p:cNvSpPr>
            <a:spLocks noChangeShapeType="1"/>
          </p:cNvSpPr>
          <p:nvPr/>
        </p:nvSpPr>
        <p:spPr bwMode="auto">
          <a:xfrm>
            <a:off x="5167930" y="4068403"/>
            <a:ext cx="1460500" cy="3175"/>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48" name="Text Box 26">
            <a:extLst>
              <a:ext uri="{FF2B5EF4-FFF2-40B4-BE49-F238E27FC236}">
                <a16:creationId xmlns:a16="http://schemas.microsoft.com/office/drawing/2014/main" id="{BE3B5056-5F96-5946-AEC3-17140DB163F4}"/>
              </a:ext>
            </a:extLst>
          </p:cNvPr>
          <p:cNvSpPr txBox="1">
            <a:spLocks noChangeArrowheads="1"/>
          </p:cNvSpPr>
          <p:nvPr/>
        </p:nvSpPr>
        <p:spPr bwMode="auto">
          <a:xfrm>
            <a:off x="5239368" y="4050940"/>
            <a:ext cx="1317625" cy="3254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transport</a:t>
            </a:r>
          </a:p>
        </p:txBody>
      </p:sp>
      <p:sp>
        <p:nvSpPr>
          <p:cNvPr id="149" name="Line 27">
            <a:extLst>
              <a:ext uri="{FF2B5EF4-FFF2-40B4-BE49-F238E27FC236}">
                <a16:creationId xmlns:a16="http://schemas.microsoft.com/office/drawing/2014/main" id="{FF1A214D-FBCE-7342-8332-F3FA9C577B4A}"/>
              </a:ext>
            </a:extLst>
          </p:cNvPr>
          <p:cNvSpPr>
            <a:spLocks noChangeShapeType="1"/>
          </p:cNvSpPr>
          <p:nvPr/>
        </p:nvSpPr>
        <p:spPr bwMode="auto">
          <a:xfrm>
            <a:off x="5169518" y="4385903"/>
            <a:ext cx="1457325" cy="0"/>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50" name="Text Box 26">
            <a:extLst>
              <a:ext uri="{FF2B5EF4-FFF2-40B4-BE49-F238E27FC236}">
                <a16:creationId xmlns:a16="http://schemas.microsoft.com/office/drawing/2014/main" id="{975D136A-FEFB-9E40-BA33-B33E91228F15}"/>
              </a:ext>
            </a:extLst>
          </p:cNvPr>
          <p:cNvSpPr txBox="1">
            <a:spLocks noChangeArrowheads="1"/>
          </p:cNvSpPr>
          <p:nvPr/>
        </p:nvSpPr>
        <p:spPr bwMode="auto">
          <a:xfrm>
            <a:off x="5236193" y="3265128"/>
            <a:ext cx="1317625" cy="3254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application</a:t>
            </a:r>
          </a:p>
        </p:txBody>
      </p:sp>
      <p:sp>
        <p:nvSpPr>
          <p:cNvPr id="151" name="Text Box 26">
            <a:extLst>
              <a:ext uri="{FF2B5EF4-FFF2-40B4-BE49-F238E27FC236}">
                <a16:creationId xmlns:a16="http://schemas.microsoft.com/office/drawing/2014/main" id="{50D62C6A-4C80-854F-A4B8-723E99A5A7F0}"/>
              </a:ext>
            </a:extLst>
          </p:cNvPr>
          <p:cNvSpPr txBox="1">
            <a:spLocks noChangeArrowheads="1"/>
          </p:cNvSpPr>
          <p:nvPr/>
        </p:nvSpPr>
        <p:spPr bwMode="auto">
          <a:xfrm>
            <a:off x="5233018" y="4955815"/>
            <a:ext cx="1317625" cy="3254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physical</a:t>
            </a:r>
          </a:p>
        </p:txBody>
      </p:sp>
      <p:sp>
        <p:nvSpPr>
          <p:cNvPr id="152" name="Text Box 26">
            <a:extLst>
              <a:ext uri="{FF2B5EF4-FFF2-40B4-BE49-F238E27FC236}">
                <a16:creationId xmlns:a16="http://schemas.microsoft.com/office/drawing/2014/main" id="{A79D3A45-C33B-7046-9088-A02FAACCA14B}"/>
              </a:ext>
            </a:extLst>
          </p:cNvPr>
          <p:cNvSpPr txBox="1">
            <a:spLocks noChangeArrowheads="1"/>
          </p:cNvSpPr>
          <p:nvPr/>
        </p:nvSpPr>
        <p:spPr bwMode="auto">
          <a:xfrm>
            <a:off x="5233018" y="4670065"/>
            <a:ext cx="1317625" cy="3254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link</a:t>
            </a:r>
          </a:p>
        </p:txBody>
      </p:sp>
      <p:sp>
        <p:nvSpPr>
          <p:cNvPr id="153" name="Text Box 26">
            <a:extLst>
              <a:ext uri="{FF2B5EF4-FFF2-40B4-BE49-F238E27FC236}">
                <a16:creationId xmlns:a16="http://schemas.microsoft.com/office/drawing/2014/main" id="{F3520259-D4C5-3340-8000-3B8C746A7797}"/>
              </a:ext>
            </a:extLst>
          </p:cNvPr>
          <p:cNvSpPr txBox="1">
            <a:spLocks noChangeArrowheads="1"/>
          </p:cNvSpPr>
          <p:nvPr/>
        </p:nvSpPr>
        <p:spPr bwMode="auto">
          <a:xfrm>
            <a:off x="5233018" y="4371615"/>
            <a:ext cx="1317625" cy="3254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network</a:t>
            </a:r>
          </a:p>
        </p:txBody>
      </p:sp>
      <p:sp>
        <p:nvSpPr>
          <p:cNvPr id="154" name="Oval 120">
            <a:extLst>
              <a:ext uri="{FF2B5EF4-FFF2-40B4-BE49-F238E27FC236}">
                <a16:creationId xmlns:a16="http://schemas.microsoft.com/office/drawing/2014/main" id="{A77294DB-DD97-F741-82FD-F8B94839A458}"/>
              </a:ext>
            </a:extLst>
          </p:cNvPr>
          <p:cNvSpPr>
            <a:spLocks noChangeArrowheads="1"/>
          </p:cNvSpPr>
          <p:nvPr/>
        </p:nvSpPr>
        <p:spPr bwMode="auto">
          <a:xfrm>
            <a:off x="5933105" y="3639778"/>
            <a:ext cx="598488" cy="304800"/>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P2</a:t>
            </a:r>
          </a:p>
        </p:txBody>
      </p:sp>
      <p:sp>
        <p:nvSpPr>
          <p:cNvPr id="155" name="Line 27">
            <a:extLst>
              <a:ext uri="{FF2B5EF4-FFF2-40B4-BE49-F238E27FC236}">
                <a16:creationId xmlns:a16="http://schemas.microsoft.com/office/drawing/2014/main" id="{E1326351-38D1-A440-A7B8-5079367D54AC}"/>
              </a:ext>
            </a:extLst>
          </p:cNvPr>
          <p:cNvSpPr>
            <a:spLocks noChangeShapeType="1"/>
          </p:cNvSpPr>
          <p:nvPr/>
        </p:nvSpPr>
        <p:spPr bwMode="auto">
          <a:xfrm>
            <a:off x="5166343" y="4697053"/>
            <a:ext cx="1457325" cy="0"/>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56" name="Line 27">
            <a:extLst>
              <a:ext uri="{FF2B5EF4-FFF2-40B4-BE49-F238E27FC236}">
                <a16:creationId xmlns:a16="http://schemas.microsoft.com/office/drawing/2014/main" id="{891B0B5D-A14D-1A40-B291-CC1A04A094FC}"/>
              </a:ext>
            </a:extLst>
          </p:cNvPr>
          <p:cNvSpPr>
            <a:spLocks noChangeShapeType="1"/>
          </p:cNvSpPr>
          <p:nvPr/>
        </p:nvSpPr>
        <p:spPr bwMode="auto">
          <a:xfrm>
            <a:off x="5163168" y="4995503"/>
            <a:ext cx="1457325" cy="0"/>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57" name="Oval 128">
            <a:extLst>
              <a:ext uri="{FF2B5EF4-FFF2-40B4-BE49-F238E27FC236}">
                <a16:creationId xmlns:a16="http://schemas.microsoft.com/office/drawing/2014/main" id="{AAD00A20-9526-2F4E-9C87-C3B249C8E909}"/>
              </a:ext>
            </a:extLst>
          </p:cNvPr>
          <p:cNvSpPr>
            <a:spLocks noChangeArrowheads="1"/>
          </p:cNvSpPr>
          <p:nvPr/>
        </p:nvSpPr>
        <p:spPr bwMode="auto">
          <a:xfrm>
            <a:off x="5228255" y="3639778"/>
            <a:ext cx="598488" cy="304800"/>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P1</a:t>
            </a:r>
          </a:p>
        </p:txBody>
      </p:sp>
      <p:grpSp>
        <p:nvGrpSpPr>
          <p:cNvPr id="158" name="Group 134">
            <a:extLst>
              <a:ext uri="{FF2B5EF4-FFF2-40B4-BE49-F238E27FC236}">
                <a16:creationId xmlns:a16="http://schemas.microsoft.com/office/drawing/2014/main" id="{015BC705-D8E3-EA41-A198-6A8DDB031BE2}"/>
              </a:ext>
            </a:extLst>
          </p:cNvPr>
          <p:cNvGrpSpPr>
            <a:grpSpLocks/>
          </p:cNvGrpSpPr>
          <p:nvPr/>
        </p:nvGrpSpPr>
        <p:grpSpPr bwMode="auto">
          <a:xfrm>
            <a:off x="6009305" y="3998553"/>
            <a:ext cx="412750" cy="158750"/>
            <a:chOff x="1383" y="2620"/>
            <a:chExt cx="260" cy="100"/>
          </a:xfrm>
        </p:grpSpPr>
        <p:sp>
          <p:nvSpPr>
            <p:cNvPr id="159" name="Rectangle 130">
              <a:extLst>
                <a:ext uri="{FF2B5EF4-FFF2-40B4-BE49-F238E27FC236}">
                  <a16:creationId xmlns:a16="http://schemas.microsoft.com/office/drawing/2014/main" id="{617E09BE-67A7-E846-8718-4C5F4E894E09}"/>
                </a:ext>
              </a:extLst>
            </p:cNvPr>
            <p:cNvSpPr>
              <a:spLocks noChangeArrowheads="1"/>
            </p:cNvSpPr>
            <p:nvPr/>
          </p:nvSpPr>
          <p:spPr bwMode="auto">
            <a:xfrm>
              <a:off x="1383" y="2620"/>
              <a:ext cx="260" cy="100"/>
            </a:xfrm>
            <a:prstGeom prst="rect">
              <a:avLst/>
            </a:prstGeom>
            <a:solidFill>
              <a:srgbClr val="FFFF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60" name="Rectangle 131">
              <a:extLst>
                <a:ext uri="{FF2B5EF4-FFF2-40B4-BE49-F238E27FC236}">
                  <a16:creationId xmlns:a16="http://schemas.microsoft.com/office/drawing/2014/main" id="{DAEC0345-B8B5-6942-9E07-837C51C11EAA}"/>
                </a:ext>
              </a:extLst>
            </p:cNvPr>
            <p:cNvSpPr>
              <a:spLocks noChangeArrowheads="1"/>
            </p:cNvSpPr>
            <p:nvPr/>
          </p:nvSpPr>
          <p:spPr bwMode="auto">
            <a:xfrm>
              <a:off x="1434" y="2633"/>
              <a:ext cx="155" cy="76"/>
            </a:xfrm>
            <a:prstGeom prst="rect">
              <a:avLst/>
            </a:prstGeom>
            <a:solidFill>
              <a:srgbClr val="FFFFFF"/>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61" name="Rectangle 132">
              <a:extLst>
                <a:ext uri="{FF2B5EF4-FFF2-40B4-BE49-F238E27FC236}">
                  <a16:creationId xmlns:a16="http://schemas.microsoft.com/office/drawing/2014/main" id="{CBC575E8-9188-C944-A373-1BE60CEDE448}"/>
                </a:ext>
              </a:extLst>
            </p:cNvPr>
            <p:cNvSpPr>
              <a:spLocks noChangeArrowheads="1"/>
            </p:cNvSpPr>
            <p:nvPr/>
          </p:nvSpPr>
          <p:spPr bwMode="auto">
            <a:xfrm>
              <a:off x="1599" y="2678"/>
              <a:ext cx="27" cy="27"/>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62" name="Rectangle 133">
              <a:extLst>
                <a:ext uri="{FF2B5EF4-FFF2-40B4-BE49-F238E27FC236}">
                  <a16:creationId xmlns:a16="http://schemas.microsoft.com/office/drawing/2014/main" id="{5CBAC889-4624-214B-8DD0-1C5D2121C35A}"/>
                </a:ext>
              </a:extLst>
            </p:cNvPr>
            <p:cNvSpPr>
              <a:spLocks noChangeArrowheads="1"/>
            </p:cNvSpPr>
            <p:nvPr/>
          </p:nvSpPr>
          <p:spPr bwMode="auto">
            <a:xfrm>
              <a:off x="1394" y="2679"/>
              <a:ext cx="27" cy="27"/>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grpSp>
        <p:nvGrpSpPr>
          <p:cNvPr id="163" name="Group 135">
            <a:extLst>
              <a:ext uri="{FF2B5EF4-FFF2-40B4-BE49-F238E27FC236}">
                <a16:creationId xmlns:a16="http://schemas.microsoft.com/office/drawing/2014/main" id="{E0C06B10-B8DE-5649-9DA7-1C38410338CA}"/>
              </a:ext>
            </a:extLst>
          </p:cNvPr>
          <p:cNvGrpSpPr>
            <a:grpSpLocks/>
          </p:cNvGrpSpPr>
          <p:nvPr/>
        </p:nvGrpSpPr>
        <p:grpSpPr bwMode="auto">
          <a:xfrm>
            <a:off x="5307630" y="3990615"/>
            <a:ext cx="412750" cy="158750"/>
            <a:chOff x="1383" y="2620"/>
            <a:chExt cx="260" cy="100"/>
          </a:xfrm>
        </p:grpSpPr>
        <p:sp>
          <p:nvSpPr>
            <p:cNvPr id="164" name="Rectangle 136">
              <a:extLst>
                <a:ext uri="{FF2B5EF4-FFF2-40B4-BE49-F238E27FC236}">
                  <a16:creationId xmlns:a16="http://schemas.microsoft.com/office/drawing/2014/main" id="{90DDD937-6604-0E4A-BC22-D30869333133}"/>
                </a:ext>
              </a:extLst>
            </p:cNvPr>
            <p:cNvSpPr>
              <a:spLocks noChangeArrowheads="1"/>
            </p:cNvSpPr>
            <p:nvPr/>
          </p:nvSpPr>
          <p:spPr bwMode="auto">
            <a:xfrm>
              <a:off x="1383" y="2620"/>
              <a:ext cx="260" cy="100"/>
            </a:xfrm>
            <a:prstGeom prst="rect">
              <a:avLst/>
            </a:prstGeom>
            <a:solidFill>
              <a:srgbClr val="FFFF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65" name="Rectangle 137">
              <a:extLst>
                <a:ext uri="{FF2B5EF4-FFF2-40B4-BE49-F238E27FC236}">
                  <a16:creationId xmlns:a16="http://schemas.microsoft.com/office/drawing/2014/main" id="{12ACDF7C-B3D8-9B4A-BD4A-D8CF4A028253}"/>
                </a:ext>
              </a:extLst>
            </p:cNvPr>
            <p:cNvSpPr>
              <a:spLocks noChangeArrowheads="1"/>
            </p:cNvSpPr>
            <p:nvPr/>
          </p:nvSpPr>
          <p:spPr bwMode="auto">
            <a:xfrm>
              <a:off x="1434" y="2633"/>
              <a:ext cx="155" cy="76"/>
            </a:xfrm>
            <a:prstGeom prst="rect">
              <a:avLst/>
            </a:prstGeom>
            <a:solidFill>
              <a:srgbClr val="FFFFFF"/>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66" name="Rectangle 138">
              <a:extLst>
                <a:ext uri="{FF2B5EF4-FFF2-40B4-BE49-F238E27FC236}">
                  <a16:creationId xmlns:a16="http://schemas.microsoft.com/office/drawing/2014/main" id="{BBABF61C-A52E-5440-86D9-57F0C4530FF0}"/>
                </a:ext>
              </a:extLst>
            </p:cNvPr>
            <p:cNvSpPr>
              <a:spLocks noChangeArrowheads="1"/>
            </p:cNvSpPr>
            <p:nvPr/>
          </p:nvSpPr>
          <p:spPr bwMode="auto">
            <a:xfrm>
              <a:off x="1599" y="2678"/>
              <a:ext cx="27" cy="27"/>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67" name="Rectangle 139">
              <a:extLst>
                <a:ext uri="{FF2B5EF4-FFF2-40B4-BE49-F238E27FC236}">
                  <a16:creationId xmlns:a16="http://schemas.microsoft.com/office/drawing/2014/main" id="{32461327-4600-6E4F-AB44-FD06E8C35B24}"/>
                </a:ext>
              </a:extLst>
            </p:cNvPr>
            <p:cNvSpPr>
              <a:spLocks noChangeArrowheads="1"/>
            </p:cNvSpPr>
            <p:nvPr/>
          </p:nvSpPr>
          <p:spPr bwMode="auto">
            <a:xfrm>
              <a:off x="1394" y="2679"/>
              <a:ext cx="27" cy="27"/>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170" name="Rectangle 23">
            <a:extLst>
              <a:ext uri="{FF2B5EF4-FFF2-40B4-BE49-F238E27FC236}">
                <a16:creationId xmlns:a16="http://schemas.microsoft.com/office/drawing/2014/main" id="{18A5F7E9-E597-8A49-8FBA-5EBCB6131519}"/>
              </a:ext>
            </a:extLst>
          </p:cNvPr>
          <p:cNvSpPr>
            <a:spLocks noChangeArrowheads="1"/>
          </p:cNvSpPr>
          <p:nvPr/>
        </p:nvSpPr>
        <p:spPr bwMode="auto">
          <a:xfrm>
            <a:off x="7458693" y="3614378"/>
            <a:ext cx="1296987" cy="1981200"/>
          </a:xfrm>
          <a:prstGeom prst="rect">
            <a:avLst/>
          </a:prstGeom>
          <a:solidFill>
            <a:srgbClr val="000099"/>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71" name="Rectangle 24">
            <a:extLst>
              <a:ext uri="{FF2B5EF4-FFF2-40B4-BE49-F238E27FC236}">
                <a16:creationId xmlns:a16="http://schemas.microsoft.com/office/drawing/2014/main" id="{5DFFE03C-FB1C-D742-84E9-52CBDDB98DB1}"/>
              </a:ext>
            </a:extLst>
          </p:cNvPr>
          <p:cNvSpPr>
            <a:spLocks noChangeArrowheads="1"/>
          </p:cNvSpPr>
          <p:nvPr/>
        </p:nvSpPr>
        <p:spPr bwMode="auto">
          <a:xfrm>
            <a:off x="7420593" y="3668353"/>
            <a:ext cx="1273175" cy="1979612"/>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72" name="Line 25">
            <a:extLst>
              <a:ext uri="{FF2B5EF4-FFF2-40B4-BE49-F238E27FC236}">
                <a16:creationId xmlns:a16="http://schemas.microsoft.com/office/drawing/2014/main" id="{5AD7BC14-F444-E745-8910-70D580A778B1}"/>
              </a:ext>
            </a:extLst>
          </p:cNvPr>
          <p:cNvSpPr>
            <a:spLocks noChangeShapeType="1"/>
          </p:cNvSpPr>
          <p:nvPr/>
        </p:nvSpPr>
        <p:spPr bwMode="auto">
          <a:xfrm>
            <a:off x="7430118" y="4428765"/>
            <a:ext cx="1263650" cy="3175"/>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3" name="Text Box 26">
            <a:extLst>
              <a:ext uri="{FF2B5EF4-FFF2-40B4-BE49-F238E27FC236}">
                <a16:creationId xmlns:a16="http://schemas.microsoft.com/office/drawing/2014/main" id="{1058B2AB-1EA8-1A46-9E03-D8FFDD9E541B}"/>
              </a:ext>
            </a:extLst>
          </p:cNvPr>
          <p:cNvSpPr txBox="1">
            <a:spLocks noChangeArrowheads="1"/>
          </p:cNvSpPr>
          <p:nvPr/>
        </p:nvSpPr>
        <p:spPr bwMode="auto">
          <a:xfrm>
            <a:off x="7387255" y="4411303"/>
            <a:ext cx="1317625" cy="3254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transport</a:t>
            </a:r>
          </a:p>
        </p:txBody>
      </p:sp>
      <p:sp>
        <p:nvSpPr>
          <p:cNvPr id="174" name="Line 27">
            <a:extLst>
              <a:ext uri="{FF2B5EF4-FFF2-40B4-BE49-F238E27FC236}">
                <a16:creationId xmlns:a16="http://schemas.microsoft.com/office/drawing/2014/main" id="{3A83CA24-DF84-F740-B870-F5C298378EA2}"/>
              </a:ext>
            </a:extLst>
          </p:cNvPr>
          <p:cNvSpPr>
            <a:spLocks noChangeShapeType="1"/>
          </p:cNvSpPr>
          <p:nvPr/>
        </p:nvSpPr>
        <p:spPr bwMode="auto">
          <a:xfrm>
            <a:off x="7438055" y="4749440"/>
            <a:ext cx="1263650" cy="3175"/>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5" name="Line 28">
            <a:extLst>
              <a:ext uri="{FF2B5EF4-FFF2-40B4-BE49-F238E27FC236}">
                <a16:creationId xmlns:a16="http://schemas.microsoft.com/office/drawing/2014/main" id="{1D5846CF-9A4C-784A-A5A4-98F8F1486DDE}"/>
              </a:ext>
            </a:extLst>
          </p:cNvPr>
          <p:cNvSpPr>
            <a:spLocks noChangeShapeType="1"/>
          </p:cNvSpPr>
          <p:nvPr/>
        </p:nvSpPr>
        <p:spPr bwMode="auto">
          <a:xfrm>
            <a:off x="7423768" y="5059003"/>
            <a:ext cx="1263650" cy="3175"/>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6" name="Line 29">
            <a:extLst>
              <a:ext uri="{FF2B5EF4-FFF2-40B4-BE49-F238E27FC236}">
                <a16:creationId xmlns:a16="http://schemas.microsoft.com/office/drawing/2014/main" id="{987AF988-33D7-A644-9737-1635D99E92DD}"/>
              </a:ext>
            </a:extLst>
          </p:cNvPr>
          <p:cNvSpPr>
            <a:spLocks noChangeShapeType="1"/>
          </p:cNvSpPr>
          <p:nvPr/>
        </p:nvSpPr>
        <p:spPr bwMode="auto">
          <a:xfrm>
            <a:off x="7423768" y="5344753"/>
            <a:ext cx="1263650" cy="3175"/>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7" name="Text Box 26">
            <a:extLst>
              <a:ext uri="{FF2B5EF4-FFF2-40B4-BE49-F238E27FC236}">
                <a16:creationId xmlns:a16="http://schemas.microsoft.com/office/drawing/2014/main" id="{DC53D19A-63B2-7141-9008-9BC3F678052E}"/>
              </a:ext>
            </a:extLst>
          </p:cNvPr>
          <p:cNvSpPr txBox="1">
            <a:spLocks noChangeArrowheads="1"/>
          </p:cNvSpPr>
          <p:nvPr/>
        </p:nvSpPr>
        <p:spPr bwMode="auto">
          <a:xfrm>
            <a:off x="7422180" y="3658828"/>
            <a:ext cx="1317625" cy="3254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application</a:t>
            </a:r>
          </a:p>
        </p:txBody>
      </p:sp>
      <p:sp>
        <p:nvSpPr>
          <p:cNvPr id="178" name="Text Box 26">
            <a:extLst>
              <a:ext uri="{FF2B5EF4-FFF2-40B4-BE49-F238E27FC236}">
                <a16:creationId xmlns:a16="http://schemas.microsoft.com/office/drawing/2014/main" id="{668FFB30-2FA6-AE41-99EF-4D74E37F3EF5}"/>
              </a:ext>
            </a:extLst>
          </p:cNvPr>
          <p:cNvSpPr txBox="1">
            <a:spLocks noChangeArrowheads="1"/>
          </p:cNvSpPr>
          <p:nvPr/>
        </p:nvSpPr>
        <p:spPr bwMode="auto">
          <a:xfrm>
            <a:off x="7377730" y="5316178"/>
            <a:ext cx="1317625" cy="3254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physical</a:t>
            </a:r>
          </a:p>
        </p:txBody>
      </p:sp>
      <p:sp>
        <p:nvSpPr>
          <p:cNvPr id="179" name="Text Box 26">
            <a:extLst>
              <a:ext uri="{FF2B5EF4-FFF2-40B4-BE49-F238E27FC236}">
                <a16:creationId xmlns:a16="http://schemas.microsoft.com/office/drawing/2014/main" id="{9646084A-4EA0-5345-8A3E-91D3475359E6}"/>
              </a:ext>
            </a:extLst>
          </p:cNvPr>
          <p:cNvSpPr txBox="1">
            <a:spLocks noChangeArrowheads="1"/>
          </p:cNvSpPr>
          <p:nvPr/>
        </p:nvSpPr>
        <p:spPr bwMode="auto">
          <a:xfrm>
            <a:off x="7396780" y="5030428"/>
            <a:ext cx="1317625" cy="3254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link</a:t>
            </a:r>
          </a:p>
        </p:txBody>
      </p:sp>
      <p:sp>
        <p:nvSpPr>
          <p:cNvPr id="180" name="Text Box 26">
            <a:extLst>
              <a:ext uri="{FF2B5EF4-FFF2-40B4-BE49-F238E27FC236}">
                <a16:creationId xmlns:a16="http://schemas.microsoft.com/office/drawing/2014/main" id="{9FDE009F-BD4C-6B4C-A66D-690533C0F57F}"/>
              </a:ext>
            </a:extLst>
          </p:cNvPr>
          <p:cNvSpPr txBox="1">
            <a:spLocks noChangeArrowheads="1"/>
          </p:cNvSpPr>
          <p:nvPr/>
        </p:nvSpPr>
        <p:spPr bwMode="auto">
          <a:xfrm>
            <a:off x="7387255" y="4735153"/>
            <a:ext cx="1317625" cy="3254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network</a:t>
            </a:r>
          </a:p>
        </p:txBody>
      </p:sp>
      <p:sp>
        <p:nvSpPr>
          <p:cNvPr id="181" name="Oval 101">
            <a:extLst>
              <a:ext uri="{FF2B5EF4-FFF2-40B4-BE49-F238E27FC236}">
                <a16:creationId xmlns:a16="http://schemas.microsoft.com/office/drawing/2014/main" id="{092F802C-72A1-EE41-9CEB-72883AD3F29F}"/>
              </a:ext>
            </a:extLst>
          </p:cNvPr>
          <p:cNvSpPr>
            <a:spLocks noChangeArrowheads="1"/>
          </p:cNvSpPr>
          <p:nvPr/>
        </p:nvSpPr>
        <p:spPr bwMode="auto">
          <a:xfrm>
            <a:off x="7757143" y="4000140"/>
            <a:ext cx="598487" cy="304800"/>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P4</a:t>
            </a:r>
          </a:p>
        </p:txBody>
      </p:sp>
      <p:sp>
        <p:nvSpPr>
          <p:cNvPr id="182" name="Freeform 103">
            <a:extLst>
              <a:ext uri="{FF2B5EF4-FFF2-40B4-BE49-F238E27FC236}">
                <a16:creationId xmlns:a16="http://schemas.microsoft.com/office/drawing/2014/main" id="{DEF6D5D3-E4DA-4B46-BBC5-93311E115D92}"/>
              </a:ext>
            </a:extLst>
          </p:cNvPr>
          <p:cNvSpPr>
            <a:spLocks/>
          </p:cNvSpPr>
          <p:nvPr/>
        </p:nvSpPr>
        <p:spPr bwMode="auto">
          <a:xfrm>
            <a:off x="8706468" y="3646128"/>
            <a:ext cx="581025" cy="2038350"/>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solidFill>
              <a:srgbClr val="DDDDDD"/>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3" name="Freeform 70">
            <a:extLst>
              <a:ext uri="{FF2B5EF4-FFF2-40B4-BE49-F238E27FC236}">
                <a16:creationId xmlns:a16="http://schemas.microsoft.com/office/drawing/2014/main" id="{4A88383C-61F9-1949-9D88-EC83EDA3F2B6}"/>
              </a:ext>
            </a:extLst>
          </p:cNvPr>
          <p:cNvSpPr>
            <a:spLocks/>
          </p:cNvSpPr>
          <p:nvPr/>
        </p:nvSpPr>
        <p:spPr bwMode="auto">
          <a:xfrm>
            <a:off x="2516805" y="3666765"/>
            <a:ext cx="552450" cy="2082800"/>
          </a:xfrm>
          <a:custGeom>
            <a:avLst/>
            <a:gdLst>
              <a:gd name="T0" fmla="*/ 0 w 348"/>
              <a:gd name="T1" fmla="*/ 2147483647 h 1312"/>
              <a:gd name="T2" fmla="*/ 2147483647 w 348"/>
              <a:gd name="T3" fmla="*/ 0 h 1312"/>
              <a:gd name="T4" fmla="*/ 2147483647 w 348"/>
              <a:gd name="T5" fmla="*/ 2147483647 h 1312"/>
              <a:gd name="T6" fmla="*/ 2147483647 w 348"/>
              <a:gd name="T7" fmla="*/ 2147483647 h 1312"/>
              <a:gd name="T8" fmla="*/ 0 w 348"/>
              <a:gd name="T9" fmla="*/ 2147483647 h 13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8" h="1312">
                <a:moveTo>
                  <a:pt x="0" y="1306"/>
                </a:moveTo>
                <a:lnTo>
                  <a:pt x="348" y="0"/>
                </a:lnTo>
                <a:lnTo>
                  <a:pt x="342" y="1258"/>
                </a:lnTo>
                <a:lnTo>
                  <a:pt x="180" y="1312"/>
                </a:lnTo>
                <a:lnTo>
                  <a:pt x="0" y="1306"/>
                </a:lnTo>
                <a:close/>
              </a:path>
            </a:pathLst>
          </a:custGeom>
          <a:gradFill rotWithShape="1">
            <a:gsLst>
              <a:gs pos="0">
                <a:srgbClr val="FFFFFF"/>
              </a:gs>
              <a:gs pos="100000">
                <a:srgbClr val="B2B2B2"/>
              </a:gs>
            </a:gsLst>
            <a:lin ang="0" scaled="1"/>
          </a:gradFill>
          <a:ln w="9525">
            <a:solidFill>
              <a:srgbClr val="DDDDDD"/>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4" name="Rectangle 23">
            <a:extLst>
              <a:ext uri="{FF2B5EF4-FFF2-40B4-BE49-F238E27FC236}">
                <a16:creationId xmlns:a16="http://schemas.microsoft.com/office/drawing/2014/main" id="{AC94A5E0-4794-4246-825A-61CE412794C5}"/>
              </a:ext>
            </a:extLst>
          </p:cNvPr>
          <p:cNvSpPr>
            <a:spLocks noChangeArrowheads="1"/>
          </p:cNvSpPr>
          <p:nvPr/>
        </p:nvSpPr>
        <p:spPr bwMode="auto">
          <a:xfrm>
            <a:off x="3113705" y="3622315"/>
            <a:ext cx="1296988" cy="1981200"/>
          </a:xfrm>
          <a:prstGeom prst="rect">
            <a:avLst/>
          </a:prstGeom>
          <a:solidFill>
            <a:srgbClr val="000099"/>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85" name="Rectangle 24">
            <a:extLst>
              <a:ext uri="{FF2B5EF4-FFF2-40B4-BE49-F238E27FC236}">
                <a16:creationId xmlns:a16="http://schemas.microsoft.com/office/drawing/2014/main" id="{6F8DDC46-C4B7-DF4E-8AF5-C602B6EAA1C4}"/>
              </a:ext>
            </a:extLst>
          </p:cNvPr>
          <p:cNvSpPr>
            <a:spLocks noChangeArrowheads="1"/>
          </p:cNvSpPr>
          <p:nvPr/>
        </p:nvSpPr>
        <p:spPr bwMode="auto">
          <a:xfrm>
            <a:off x="3075605" y="3676290"/>
            <a:ext cx="1273175" cy="1979613"/>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86" name="Line 25">
            <a:extLst>
              <a:ext uri="{FF2B5EF4-FFF2-40B4-BE49-F238E27FC236}">
                <a16:creationId xmlns:a16="http://schemas.microsoft.com/office/drawing/2014/main" id="{DBA82451-A905-D646-87C3-445C7FB42130}"/>
              </a:ext>
            </a:extLst>
          </p:cNvPr>
          <p:cNvSpPr>
            <a:spLocks noChangeShapeType="1"/>
          </p:cNvSpPr>
          <p:nvPr/>
        </p:nvSpPr>
        <p:spPr bwMode="auto">
          <a:xfrm>
            <a:off x="3085130" y="4436703"/>
            <a:ext cx="1263650" cy="3175"/>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7" name="Text Box 26">
            <a:extLst>
              <a:ext uri="{FF2B5EF4-FFF2-40B4-BE49-F238E27FC236}">
                <a16:creationId xmlns:a16="http://schemas.microsoft.com/office/drawing/2014/main" id="{20A57016-2D36-9945-9BC2-7F8B323410D1}"/>
              </a:ext>
            </a:extLst>
          </p:cNvPr>
          <p:cNvSpPr txBox="1">
            <a:spLocks noChangeArrowheads="1"/>
          </p:cNvSpPr>
          <p:nvPr/>
        </p:nvSpPr>
        <p:spPr bwMode="auto">
          <a:xfrm>
            <a:off x="3042268" y="4419240"/>
            <a:ext cx="1317625" cy="3254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transport</a:t>
            </a:r>
          </a:p>
        </p:txBody>
      </p:sp>
      <p:sp>
        <p:nvSpPr>
          <p:cNvPr id="188" name="Line 27">
            <a:extLst>
              <a:ext uri="{FF2B5EF4-FFF2-40B4-BE49-F238E27FC236}">
                <a16:creationId xmlns:a16="http://schemas.microsoft.com/office/drawing/2014/main" id="{C4DE758D-2140-4D46-8462-D030054EF893}"/>
              </a:ext>
            </a:extLst>
          </p:cNvPr>
          <p:cNvSpPr>
            <a:spLocks noChangeShapeType="1"/>
          </p:cNvSpPr>
          <p:nvPr/>
        </p:nvSpPr>
        <p:spPr bwMode="auto">
          <a:xfrm>
            <a:off x="3093068" y="4757378"/>
            <a:ext cx="1263650" cy="3175"/>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9" name="Line 28">
            <a:extLst>
              <a:ext uri="{FF2B5EF4-FFF2-40B4-BE49-F238E27FC236}">
                <a16:creationId xmlns:a16="http://schemas.microsoft.com/office/drawing/2014/main" id="{54E984A7-4546-6E49-B9F8-528EAF4E1F35}"/>
              </a:ext>
            </a:extLst>
          </p:cNvPr>
          <p:cNvSpPr>
            <a:spLocks noChangeShapeType="1"/>
          </p:cNvSpPr>
          <p:nvPr/>
        </p:nvSpPr>
        <p:spPr bwMode="auto">
          <a:xfrm>
            <a:off x="3078780" y="5066940"/>
            <a:ext cx="1263650" cy="3175"/>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90" name="Line 29">
            <a:extLst>
              <a:ext uri="{FF2B5EF4-FFF2-40B4-BE49-F238E27FC236}">
                <a16:creationId xmlns:a16="http://schemas.microsoft.com/office/drawing/2014/main" id="{85DE9E64-476F-6F4E-8BFA-3205F1E596F5}"/>
              </a:ext>
            </a:extLst>
          </p:cNvPr>
          <p:cNvSpPr>
            <a:spLocks noChangeShapeType="1"/>
          </p:cNvSpPr>
          <p:nvPr/>
        </p:nvSpPr>
        <p:spPr bwMode="auto">
          <a:xfrm>
            <a:off x="3078780" y="5352690"/>
            <a:ext cx="1263650" cy="3175"/>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91" name="Text Box 26">
            <a:extLst>
              <a:ext uri="{FF2B5EF4-FFF2-40B4-BE49-F238E27FC236}">
                <a16:creationId xmlns:a16="http://schemas.microsoft.com/office/drawing/2014/main" id="{A1B9282E-64F8-1442-8F95-7A9813CE8F60}"/>
              </a:ext>
            </a:extLst>
          </p:cNvPr>
          <p:cNvSpPr txBox="1">
            <a:spLocks noChangeArrowheads="1"/>
          </p:cNvSpPr>
          <p:nvPr/>
        </p:nvSpPr>
        <p:spPr bwMode="auto">
          <a:xfrm>
            <a:off x="3077193" y="3666765"/>
            <a:ext cx="1317625" cy="3254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application</a:t>
            </a:r>
          </a:p>
        </p:txBody>
      </p:sp>
      <p:sp>
        <p:nvSpPr>
          <p:cNvPr id="192" name="Text Box 26">
            <a:extLst>
              <a:ext uri="{FF2B5EF4-FFF2-40B4-BE49-F238E27FC236}">
                <a16:creationId xmlns:a16="http://schemas.microsoft.com/office/drawing/2014/main" id="{83782313-46E0-BE46-BEED-BDC4F6A04AD7}"/>
              </a:ext>
            </a:extLst>
          </p:cNvPr>
          <p:cNvSpPr txBox="1">
            <a:spLocks noChangeArrowheads="1"/>
          </p:cNvSpPr>
          <p:nvPr/>
        </p:nvSpPr>
        <p:spPr bwMode="auto">
          <a:xfrm>
            <a:off x="3032743" y="5324115"/>
            <a:ext cx="1317625" cy="3254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physical</a:t>
            </a:r>
          </a:p>
        </p:txBody>
      </p:sp>
      <p:sp>
        <p:nvSpPr>
          <p:cNvPr id="193" name="Text Box 26">
            <a:extLst>
              <a:ext uri="{FF2B5EF4-FFF2-40B4-BE49-F238E27FC236}">
                <a16:creationId xmlns:a16="http://schemas.microsoft.com/office/drawing/2014/main" id="{E3A71501-A89A-D249-84FB-20D98047A254}"/>
              </a:ext>
            </a:extLst>
          </p:cNvPr>
          <p:cNvSpPr txBox="1">
            <a:spLocks noChangeArrowheads="1"/>
          </p:cNvSpPr>
          <p:nvPr/>
        </p:nvSpPr>
        <p:spPr bwMode="auto">
          <a:xfrm>
            <a:off x="3051793" y="5038365"/>
            <a:ext cx="1317625" cy="3254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link</a:t>
            </a:r>
          </a:p>
        </p:txBody>
      </p:sp>
      <p:sp>
        <p:nvSpPr>
          <p:cNvPr id="194" name="Text Box 26">
            <a:extLst>
              <a:ext uri="{FF2B5EF4-FFF2-40B4-BE49-F238E27FC236}">
                <a16:creationId xmlns:a16="http://schemas.microsoft.com/office/drawing/2014/main" id="{6C7F0039-C145-9D4F-92E4-1AF9B0406DA4}"/>
              </a:ext>
            </a:extLst>
          </p:cNvPr>
          <p:cNvSpPr txBox="1">
            <a:spLocks noChangeArrowheads="1"/>
          </p:cNvSpPr>
          <p:nvPr/>
        </p:nvSpPr>
        <p:spPr bwMode="auto">
          <a:xfrm>
            <a:off x="3042268" y="4743090"/>
            <a:ext cx="1317625" cy="3254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network</a:t>
            </a:r>
          </a:p>
        </p:txBody>
      </p:sp>
      <p:sp>
        <p:nvSpPr>
          <p:cNvPr id="195" name="Oval 23">
            <a:extLst>
              <a:ext uri="{FF2B5EF4-FFF2-40B4-BE49-F238E27FC236}">
                <a16:creationId xmlns:a16="http://schemas.microsoft.com/office/drawing/2014/main" id="{34D7692A-81D8-4D48-8FE7-F92A1F47470B}"/>
              </a:ext>
            </a:extLst>
          </p:cNvPr>
          <p:cNvSpPr>
            <a:spLocks noChangeArrowheads="1"/>
          </p:cNvSpPr>
          <p:nvPr/>
        </p:nvSpPr>
        <p:spPr bwMode="auto">
          <a:xfrm>
            <a:off x="3412155" y="4008078"/>
            <a:ext cx="598488" cy="304800"/>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P3</a:t>
            </a:r>
          </a:p>
        </p:txBody>
      </p:sp>
      <p:grpSp>
        <p:nvGrpSpPr>
          <p:cNvPr id="196" name="Group 149">
            <a:extLst>
              <a:ext uri="{FF2B5EF4-FFF2-40B4-BE49-F238E27FC236}">
                <a16:creationId xmlns:a16="http://schemas.microsoft.com/office/drawing/2014/main" id="{21881EDC-E749-4F46-8C1C-B44DD21BA9AD}"/>
              </a:ext>
            </a:extLst>
          </p:cNvPr>
          <p:cNvGrpSpPr>
            <a:grpSpLocks/>
          </p:cNvGrpSpPr>
          <p:nvPr/>
        </p:nvGrpSpPr>
        <p:grpSpPr bwMode="auto">
          <a:xfrm>
            <a:off x="3502643" y="4346215"/>
            <a:ext cx="412750" cy="158750"/>
            <a:chOff x="1287" y="2524"/>
            <a:chExt cx="260" cy="100"/>
          </a:xfrm>
        </p:grpSpPr>
        <p:sp>
          <p:nvSpPr>
            <p:cNvPr id="197" name="Rectangle 73">
              <a:extLst>
                <a:ext uri="{FF2B5EF4-FFF2-40B4-BE49-F238E27FC236}">
                  <a16:creationId xmlns:a16="http://schemas.microsoft.com/office/drawing/2014/main" id="{F3D0248D-63A0-3447-AD45-C92BA38B9971}"/>
                </a:ext>
              </a:extLst>
            </p:cNvPr>
            <p:cNvSpPr>
              <a:spLocks noChangeArrowheads="1"/>
            </p:cNvSpPr>
            <p:nvPr/>
          </p:nvSpPr>
          <p:spPr bwMode="auto">
            <a:xfrm>
              <a:off x="1287" y="2524"/>
              <a:ext cx="260" cy="100"/>
            </a:xfrm>
            <a:prstGeom prst="rect">
              <a:avLst/>
            </a:prstGeom>
            <a:solidFill>
              <a:srgbClr val="FFFF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98" name="Rectangle 74">
              <a:extLst>
                <a:ext uri="{FF2B5EF4-FFF2-40B4-BE49-F238E27FC236}">
                  <a16:creationId xmlns:a16="http://schemas.microsoft.com/office/drawing/2014/main" id="{A8C44BD4-B473-EA48-B1D2-4212120DE72C}"/>
                </a:ext>
              </a:extLst>
            </p:cNvPr>
            <p:cNvSpPr>
              <a:spLocks noChangeArrowheads="1"/>
            </p:cNvSpPr>
            <p:nvPr/>
          </p:nvSpPr>
          <p:spPr bwMode="auto">
            <a:xfrm>
              <a:off x="1338" y="2537"/>
              <a:ext cx="155" cy="76"/>
            </a:xfrm>
            <a:prstGeom prst="rect">
              <a:avLst/>
            </a:prstGeom>
            <a:solidFill>
              <a:srgbClr val="FFFFFF"/>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99" name="Rectangle 75">
              <a:extLst>
                <a:ext uri="{FF2B5EF4-FFF2-40B4-BE49-F238E27FC236}">
                  <a16:creationId xmlns:a16="http://schemas.microsoft.com/office/drawing/2014/main" id="{08B6F9A7-9AD7-B040-B431-D7898B467262}"/>
                </a:ext>
              </a:extLst>
            </p:cNvPr>
            <p:cNvSpPr>
              <a:spLocks noChangeArrowheads="1"/>
            </p:cNvSpPr>
            <p:nvPr/>
          </p:nvSpPr>
          <p:spPr bwMode="auto">
            <a:xfrm>
              <a:off x="1503" y="2582"/>
              <a:ext cx="27" cy="27"/>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00" name="Rectangle 129">
              <a:extLst>
                <a:ext uri="{FF2B5EF4-FFF2-40B4-BE49-F238E27FC236}">
                  <a16:creationId xmlns:a16="http://schemas.microsoft.com/office/drawing/2014/main" id="{310C322C-F672-7946-BD16-DA4CE50EE19B}"/>
                </a:ext>
              </a:extLst>
            </p:cNvPr>
            <p:cNvSpPr>
              <a:spLocks noChangeArrowheads="1"/>
            </p:cNvSpPr>
            <p:nvPr/>
          </p:nvSpPr>
          <p:spPr bwMode="auto">
            <a:xfrm>
              <a:off x="1298" y="2583"/>
              <a:ext cx="27" cy="27"/>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grpSp>
        <p:nvGrpSpPr>
          <p:cNvPr id="201" name="Group 150">
            <a:extLst>
              <a:ext uri="{FF2B5EF4-FFF2-40B4-BE49-F238E27FC236}">
                <a16:creationId xmlns:a16="http://schemas.microsoft.com/office/drawing/2014/main" id="{C5660C67-80CE-084B-8B8D-F5CCCDA73638}"/>
              </a:ext>
            </a:extLst>
          </p:cNvPr>
          <p:cNvGrpSpPr>
            <a:grpSpLocks/>
          </p:cNvGrpSpPr>
          <p:nvPr/>
        </p:nvGrpSpPr>
        <p:grpSpPr bwMode="auto">
          <a:xfrm>
            <a:off x="7842868" y="4344628"/>
            <a:ext cx="412750" cy="158750"/>
            <a:chOff x="1287" y="2524"/>
            <a:chExt cx="260" cy="100"/>
          </a:xfrm>
        </p:grpSpPr>
        <p:sp>
          <p:nvSpPr>
            <p:cNvPr id="202" name="Rectangle 151">
              <a:extLst>
                <a:ext uri="{FF2B5EF4-FFF2-40B4-BE49-F238E27FC236}">
                  <a16:creationId xmlns:a16="http://schemas.microsoft.com/office/drawing/2014/main" id="{E39443DC-01F4-7A42-BC3B-BD48B19524D4}"/>
                </a:ext>
              </a:extLst>
            </p:cNvPr>
            <p:cNvSpPr>
              <a:spLocks noChangeArrowheads="1"/>
            </p:cNvSpPr>
            <p:nvPr/>
          </p:nvSpPr>
          <p:spPr bwMode="auto">
            <a:xfrm>
              <a:off x="1287" y="2524"/>
              <a:ext cx="260" cy="100"/>
            </a:xfrm>
            <a:prstGeom prst="rect">
              <a:avLst/>
            </a:prstGeom>
            <a:solidFill>
              <a:srgbClr val="FFFF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03" name="Rectangle 152">
              <a:extLst>
                <a:ext uri="{FF2B5EF4-FFF2-40B4-BE49-F238E27FC236}">
                  <a16:creationId xmlns:a16="http://schemas.microsoft.com/office/drawing/2014/main" id="{810BA023-C5B8-434B-9FF4-507BAFBB2551}"/>
                </a:ext>
              </a:extLst>
            </p:cNvPr>
            <p:cNvSpPr>
              <a:spLocks noChangeArrowheads="1"/>
            </p:cNvSpPr>
            <p:nvPr/>
          </p:nvSpPr>
          <p:spPr bwMode="auto">
            <a:xfrm>
              <a:off x="1338" y="2537"/>
              <a:ext cx="155" cy="76"/>
            </a:xfrm>
            <a:prstGeom prst="rect">
              <a:avLst/>
            </a:prstGeom>
            <a:solidFill>
              <a:srgbClr val="FFFFFF"/>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04" name="Rectangle 153">
              <a:extLst>
                <a:ext uri="{FF2B5EF4-FFF2-40B4-BE49-F238E27FC236}">
                  <a16:creationId xmlns:a16="http://schemas.microsoft.com/office/drawing/2014/main" id="{48739CB2-AA1C-8B4E-8D0B-CFBBB2A4F3F2}"/>
                </a:ext>
              </a:extLst>
            </p:cNvPr>
            <p:cNvSpPr>
              <a:spLocks noChangeArrowheads="1"/>
            </p:cNvSpPr>
            <p:nvPr/>
          </p:nvSpPr>
          <p:spPr bwMode="auto">
            <a:xfrm>
              <a:off x="1503" y="2582"/>
              <a:ext cx="27" cy="27"/>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05" name="Rectangle 154">
              <a:extLst>
                <a:ext uri="{FF2B5EF4-FFF2-40B4-BE49-F238E27FC236}">
                  <a16:creationId xmlns:a16="http://schemas.microsoft.com/office/drawing/2014/main" id="{435BB581-5D52-C345-BA75-358EC9A4374C}"/>
                </a:ext>
              </a:extLst>
            </p:cNvPr>
            <p:cNvSpPr>
              <a:spLocks noChangeArrowheads="1"/>
            </p:cNvSpPr>
            <p:nvPr/>
          </p:nvSpPr>
          <p:spPr bwMode="auto">
            <a:xfrm>
              <a:off x="1298" y="2583"/>
              <a:ext cx="27" cy="27"/>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206" name="Freeform 146">
            <a:extLst>
              <a:ext uri="{FF2B5EF4-FFF2-40B4-BE49-F238E27FC236}">
                <a16:creationId xmlns:a16="http://schemas.microsoft.com/office/drawing/2014/main" id="{8EB20ED3-9276-204C-BA00-A485E0531DD2}"/>
              </a:ext>
            </a:extLst>
          </p:cNvPr>
          <p:cNvSpPr>
            <a:spLocks/>
          </p:cNvSpPr>
          <p:nvPr/>
        </p:nvSpPr>
        <p:spPr bwMode="auto">
          <a:xfrm>
            <a:off x="5890243" y="4046178"/>
            <a:ext cx="2173287" cy="1989137"/>
          </a:xfrm>
          <a:custGeom>
            <a:avLst/>
            <a:gdLst>
              <a:gd name="T0" fmla="*/ 2147483647 w 1369"/>
              <a:gd name="T1" fmla="*/ 2147483647 h 1253"/>
              <a:gd name="T2" fmla="*/ 2147483647 w 1369"/>
              <a:gd name="T3" fmla="*/ 2147483647 h 1253"/>
              <a:gd name="T4" fmla="*/ 2147483647 w 1369"/>
              <a:gd name="T5" fmla="*/ 2147483647 h 1253"/>
              <a:gd name="T6" fmla="*/ 0 w 1369"/>
              <a:gd name="T7" fmla="*/ 2147483647 h 1253"/>
              <a:gd name="T8" fmla="*/ 2147483647 w 1369"/>
              <a:gd name="T9" fmla="*/ 0 h 125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9" h="1253">
                <a:moveTo>
                  <a:pt x="1369" y="216"/>
                </a:moveTo>
                <a:lnTo>
                  <a:pt x="1362" y="1252"/>
                </a:lnTo>
                <a:lnTo>
                  <a:pt x="16" y="1253"/>
                </a:lnTo>
                <a:lnTo>
                  <a:pt x="0" y="121"/>
                </a:lnTo>
                <a:lnTo>
                  <a:pt x="191" y="0"/>
                </a:lnTo>
              </a:path>
            </a:pathLst>
          </a:custGeom>
          <a:noFill/>
          <a:ln w="19050" cap="flat" cmpd="sng">
            <a:solidFill>
              <a:srgbClr val="000099"/>
            </a:solidFill>
            <a:prstDash val="solid"/>
            <a:round/>
            <a:headEnd type="none" w="med" len="med"/>
            <a:tailEnd type="triangl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07" name="Freeform 147">
            <a:extLst>
              <a:ext uri="{FF2B5EF4-FFF2-40B4-BE49-F238E27FC236}">
                <a16:creationId xmlns:a16="http://schemas.microsoft.com/office/drawing/2014/main" id="{911482D4-C931-F64A-A760-F208DA9E7FB6}"/>
              </a:ext>
            </a:extLst>
          </p:cNvPr>
          <p:cNvSpPr>
            <a:spLocks/>
          </p:cNvSpPr>
          <p:nvPr/>
        </p:nvSpPr>
        <p:spPr bwMode="auto">
          <a:xfrm>
            <a:off x="6009305" y="4077928"/>
            <a:ext cx="1984375" cy="1876425"/>
          </a:xfrm>
          <a:custGeom>
            <a:avLst/>
            <a:gdLst>
              <a:gd name="T0" fmla="*/ 2147483647 w 1250"/>
              <a:gd name="T1" fmla="*/ 2147483647 h 1182"/>
              <a:gd name="T2" fmla="*/ 2147483647 w 1250"/>
              <a:gd name="T3" fmla="*/ 2147483647 h 1182"/>
              <a:gd name="T4" fmla="*/ 2147483647 w 1250"/>
              <a:gd name="T5" fmla="*/ 2147483647 h 1182"/>
              <a:gd name="T6" fmla="*/ 0 w 1250"/>
              <a:gd name="T7" fmla="*/ 2147483647 h 1182"/>
              <a:gd name="T8" fmla="*/ 2147483647 w 1250"/>
              <a:gd name="T9" fmla="*/ 0 h 118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50" h="1182">
                <a:moveTo>
                  <a:pt x="1250" y="190"/>
                </a:moveTo>
                <a:lnTo>
                  <a:pt x="1244" y="1182"/>
                </a:lnTo>
                <a:lnTo>
                  <a:pt x="19" y="1181"/>
                </a:lnTo>
                <a:lnTo>
                  <a:pt x="0" y="155"/>
                </a:lnTo>
                <a:lnTo>
                  <a:pt x="171" y="0"/>
                </a:lnTo>
              </a:path>
            </a:pathLst>
          </a:custGeom>
          <a:noFill/>
          <a:ln w="19050" cap="flat" cmpd="sng">
            <a:solidFill>
              <a:srgbClr val="000099"/>
            </a:solidFill>
            <a:prstDash val="solid"/>
            <a:round/>
            <a:headEnd type="triangl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08" name="Oval 36">
            <a:extLst>
              <a:ext uri="{FF2B5EF4-FFF2-40B4-BE49-F238E27FC236}">
                <a16:creationId xmlns:a16="http://schemas.microsoft.com/office/drawing/2014/main" id="{6C459D77-5631-504A-9CB0-A48BD9C61B3E}"/>
              </a:ext>
            </a:extLst>
          </p:cNvPr>
          <p:cNvSpPr>
            <a:spLocks noChangeArrowheads="1"/>
          </p:cNvSpPr>
          <p:nvPr/>
        </p:nvSpPr>
        <p:spPr bwMode="auto">
          <a:xfrm>
            <a:off x="9349405" y="4157303"/>
            <a:ext cx="598488" cy="304800"/>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Comic Sans MS" charset="0"/>
              <a:ea typeface="ＭＳ Ｐゴシック" charset="0"/>
              <a:cs typeface="+mn-cs"/>
            </a:endParaRPr>
          </a:p>
        </p:txBody>
      </p:sp>
      <p:grpSp>
        <p:nvGrpSpPr>
          <p:cNvPr id="8" name="Group 7"/>
          <p:cNvGrpSpPr/>
          <p:nvPr/>
        </p:nvGrpSpPr>
        <p:grpSpPr>
          <a:xfrm>
            <a:off x="5601318" y="4284277"/>
            <a:ext cx="555332" cy="71510"/>
            <a:chOff x="1420065" y="5012608"/>
            <a:chExt cx="555332" cy="71510"/>
          </a:xfrm>
        </p:grpSpPr>
        <p:sp>
          <p:nvSpPr>
            <p:cNvPr id="210" name="Oval 166">
              <a:extLst>
                <a:ext uri="{FF2B5EF4-FFF2-40B4-BE49-F238E27FC236}">
                  <a16:creationId xmlns:a16="http://schemas.microsoft.com/office/drawing/2014/main" id="{ADD1825C-C7DB-6844-A3DF-BCF2BA1F0533}"/>
                </a:ext>
              </a:extLst>
            </p:cNvPr>
            <p:cNvSpPr>
              <a:spLocks noChangeArrowheads="1"/>
            </p:cNvSpPr>
            <p:nvPr/>
          </p:nvSpPr>
          <p:spPr bwMode="auto">
            <a:xfrm>
              <a:off x="1420065" y="5012608"/>
              <a:ext cx="196850" cy="69850"/>
            </a:xfrm>
            <a:prstGeom prst="ellipse">
              <a:avLst/>
            </a:prstGeom>
            <a:noFill/>
            <a:ln w="28575">
              <a:solidFill>
                <a:srgbClr val="CC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211" name="Oval 167">
              <a:extLst>
                <a:ext uri="{FF2B5EF4-FFF2-40B4-BE49-F238E27FC236}">
                  <a16:creationId xmlns:a16="http://schemas.microsoft.com/office/drawing/2014/main" id="{0600B33C-3B3C-0646-85DB-B042B7A87603}"/>
                </a:ext>
              </a:extLst>
            </p:cNvPr>
            <p:cNvSpPr>
              <a:spLocks noChangeArrowheads="1"/>
            </p:cNvSpPr>
            <p:nvPr/>
          </p:nvSpPr>
          <p:spPr bwMode="auto">
            <a:xfrm>
              <a:off x="1778547" y="5014268"/>
              <a:ext cx="196850" cy="69850"/>
            </a:xfrm>
            <a:prstGeom prst="ellipse">
              <a:avLst/>
            </a:prstGeom>
            <a:noFill/>
            <a:ln w="28575">
              <a:solidFill>
                <a:srgbClr val="CC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212" name="Freeform 168">
            <a:extLst>
              <a:ext uri="{FF2B5EF4-FFF2-40B4-BE49-F238E27FC236}">
                <a16:creationId xmlns:a16="http://schemas.microsoft.com/office/drawing/2014/main" id="{202E5E96-F7A0-1448-90F0-6A79F4073978}"/>
              </a:ext>
            </a:extLst>
          </p:cNvPr>
          <p:cNvSpPr>
            <a:spLocks/>
          </p:cNvSpPr>
          <p:nvPr/>
        </p:nvSpPr>
        <p:spPr bwMode="auto">
          <a:xfrm>
            <a:off x="4852017" y="2896828"/>
            <a:ext cx="688975" cy="1435100"/>
          </a:xfrm>
          <a:custGeom>
            <a:avLst/>
            <a:gdLst>
              <a:gd name="T0" fmla="*/ 434 w 434"/>
              <a:gd name="T1" fmla="*/ 904 h 904"/>
              <a:gd name="T2" fmla="*/ 2 w 434"/>
              <a:gd name="T3" fmla="*/ 902 h 904"/>
              <a:gd name="T4" fmla="*/ 0 w 434"/>
              <a:gd name="T5" fmla="*/ 0 h 904"/>
              <a:gd name="T6" fmla="*/ 0 60000 65536"/>
              <a:gd name="T7" fmla="*/ 0 60000 65536"/>
              <a:gd name="T8" fmla="*/ 0 60000 65536"/>
            </a:gdLst>
            <a:ahLst/>
            <a:cxnLst>
              <a:cxn ang="T6">
                <a:pos x="T0" y="T1"/>
              </a:cxn>
              <a:cxn ang="T7">
                <a:pos x="T2" y="T3"/>
              </a:cxn>
              <a:cxn ang="T8">
                <a:pos x="T4" y="T5"/>
              </a:cxn>
            </a:cxnLst>
            <a:rect l="0" t="0" r="r" b="b"/>
            <a:pathLst>
              <a:path w="434" h="904">
                <a:moveTo>
                  <a:pt x="434" y="904"/>
                </a:moveTo>
                <a:lnTo>
                  <a:pt x="2" y="902"/>
                </a:lnTo>
                <a:lnTo>
                  <a:pt x="0" y="0"/>
                </a:lnTo>
              </a:path>
            </a:pathLst>
          </a:custGeom>
          <a:noFill/>
          <a:ln w="19050" cap="flat" cmpd="sng">
            <a:solidFill>
              <a:srgbClr val="CC0000"/>
            </a:solidFill>
            <a:prstDash val="solid"/>
            <a:round/>
            <a:headEnd type="triangl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213" name="Group 172">
            <a:extLst>
              <a:ext uri="{FF2B5EF4-FFF2-40B4-BE49-F238E27FC236}">
                <a16:creationId xmlns:a16="http://schemas.microsoft.com/office/drawing/2014/main" id="{A2D29F5F-484F-7547-9B9A-8974E37BD10F}"/>
              </a:ext>
            </a:extLst>
          </p:cNvPr>
          <p:cNvGrpSpPr>
            <a:grpSpLocks/>
          </p:cNvGrpSpPr>
          <p:nvPr/>
        </p:nvGrpSpPr>
        <p:grpSpPr bwMode="auto">
          <a:xfrm>
            <a:off x="5752130" y="2860315"/>
            <a:ext cx="1047750" cy="1441450"/>
            <a:chOff x="2432" y="1758"/>
            <a:chExt cx="660" cy="908"/>
          </a:xfrm>
        </p:grpSpPr>
        <p:sp>
          <p:nvSpPr>
            <p:cNvPr id="214" name="Oval 170">
              <a:extLst>
                <a:ext uri="{FF2B5EF4-FFF2-40B4-BE49-F238E27FC236}">
                  <a16:creationId xmlns:a16="http://schemas.microsoft.com/office/drawing/2014/main" id="{E03C7F13-7247-C24D-85C2-723A1405F160}"/>
                </a:ext>
              </a:extLst>
            </p:cNvPr>
            <p:cNvSpPr>
              <a:spLocks noChangeArrowheads="1"/>
            </p:cNvSpPr>
            <p:nvPr/>
          </p:nvSpPr>
          <p:spPr bwMode="auto">
            <a:xfrm>
              <a:off x="2432" y="2564"/>
              <a:ext cx="144" cy="102"/>
            </a:xfrm>
            <a:prstGeom prst="ellipse">
              <a:avLst/>
            </a:prstGeom>
            <a:noFill/>
            <a:ln w="28575">
              <a:solidFill>
                <a:srgbClr val="CC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215" name="Freeform 171">
              <a:extLst>
                <a:ext uri="{FF2B5EF4-FFF2-40B4-BE49-F238E27FC236}">
                  <a16:creationId xmlns:a16="http://schemas.microsoft.com/office/drawing/2014/main" id="{9BC6BA8A-16A3-F446-97F4-76774828464D}"/>
                </a:ext>
              </a:extLst>
            </p:cNvPr>
            <p:cNvSpPr>
              <a:spLocks/>
            </p:cNvSpPr>
            <p:nvPr/>
          </p:nvSpPr>
          <p:spPr bwMode="auto">
            <a:xfrm>
              <a:off x="2506" y="1758"/>
              <a:ext cx="586" cy="810"/>
            </a:xfrm>
            <a:custGeom>
              <a:avLst/>
              <a:gdLst>
                <a:gd name="T0" fmla="*/ 0 w 586"/>
                <a:gd name="T1" fmla="*/ 810 h 810"/>
                <a:gd name="T2" fmla="*/ 2 w 586"/>
                <a:gd name="T3" fmla="*/ 808 h 810"/>
                <a:gd name="T4" fmla="*/ 2 w 586"/>
                <a:gd name="T5" fmla="*/ 170 h 810"/>
                <a:gd name="T6" fmla="*/ 586 w 586"/>
                <a:gd name="T7" fmla="*/ 0 h 81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86" h="810">
                  <a:moveTo>
                    <a:pt x="0" y="810"/>
                  </a:moveTo>
                  <a:lnTo>
                    <a:pt x="2" y="808"/>
                  </a:lnTo>
                  <a:lnTo>
                    <a:pt x="2" y="170"/>
                  </a:lnTo>
                  <a:lnTo>
                    <a:pt x="586" y="0"/>
                  </a:lnTo>
                </a:path>
              </a:pathLst>
            </a:custGeom>
            <a:noFill/>
            <a:ln w="12700" cap="flat" cmpd="sng">
              <a:solidFill>
                <a:srgbClr val="CC0000"/>
              </a:solidFill>
              <a:prstDash val="solid"/>
              <a:round/>
              <a:headEnd type="triangl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216" name="Group 179">
            <a:extLst>
              <a:ext uri="{FF2B5EF4-FFF2-40B4-BE49-F238E27FC236}">
                <a16:creationId xmlns:a16="http://schemas.microsoft.com/office/drawing/2014/main" id="{D0DD382B-DAC3-2346-B02D-B07D99212014}"/>
              </a:ext>
            </a:extLst>
          </p:cNvPr>
          <p:cNvGrpSpPr>
            <a:grpSpLocks/>
          </p:cNvGrpSpPr>
          <p:nvPr/>
        </p:nvGrpSpPr>
        <p:grpSpPr bwMode="auto">
          <a:xfrm>
            <a:off x="2051668" y="5176478"/>
            <a:ext cx="800100" cy="828675"/>
            <a:chOff x="-44" y="1473"/>
            <a:chExt cx="981" cy="1105"/>
          </a:xfrm>
        </p:grpSpPr>
        <p:pic>
          <p:nvPicPr>
            <p:cNvPr id="217" name="Picture 180" descr="desktop_computer_stylized_medium">
              <a:extLst>
                <a:ext uri="{FF2B5EF4-FFF2-40B4-BE49-F238E27FC236}">
                  <a16:creationId xmlns:a16="http://schemas.microsoft.com/office/drawing/2014/main" id="{DED124CB-DBF2-BA4A-A3F5-D0D2EE27E0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18" name="Freeform 181">
              <a:extLst>
                <a:ext uri="{FF2B5EF4-FFF2-40B4-BE49-F238E27FC236}">
                  <a16:creationId xmlns:a16="http://schemas.microsoft.com/office/drawing/2014/main" id="{45C70753-F80F-0E44-A5BE-EA6A01030121}"/>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219" name="Group 182">
            <a:extLst>
              <a:ext uri="{FF2B5EF4-FFF2-40B4-BE49-F238E27FC236}">
                <a16:creationId xmlns:a16="http://schemas.microsoft.com/office/drawing/2014/main" id="{8C1F52F1-3DCD-D94D-B922-F8CEBAB5F0B4}"/>
              </a:ext>
            </a:extLst>
          </p:cNvPr>
          <p:cNvGrpSpPr>
            <a:grpSpLocks/>
          </p:cNvGrpSpPr>
          <p:nvPr/>
        </p:nvGrpSpPr>
        <p:grpSpPr bwMode="auto">
          <a:xfrm flipH="1">
            <a:off x="9033493" y="5090753"/>
            <a:ext cx="788987" cy="782637"/>
            <a:chOff x="-44" y="1473"/>
            <a:chExt cx="981" cy="1105"/>
          </a:xfrm>
        </p:grpSpPr>
        <p:pic>
          <p:nvPicPr>
            <p:cNvPr id="220" name="Picture 183" descr="desktop_computer_stylized_medium">
              <a:extLst>
                <a:ext uri="{FF2B5EF4-FFF2-40B4-BE49-F238E27FC236}">
                  <a16:creationId xmlns:a16="http://schemas.microsoft.com/office/drawing/2014/main" id="{E6083DB7-3B07-6F40-9810-0033E2E06F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21" name="Freeform 184">
              <a:extLst>
                <a:ext uri="{FF2B5EF4-FFF2-40B4-BE49-F238E27FC236}">
                  <a16:creationId xmlns:a16="http://schemas.microsoft.com/office/drawing/2014/main" id="{28CB0DC7-F192-5840-BCC3-B9D662106044}"/>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222" name="Group 185">
            <a:extLst>
              <a:ext uri="{FF2B5EF4-FFF2-40B4-BE49-F238E27FC236}">
                <a16:creationId xmlns:a16="http://schemas.microsoft.com/office/drawing/2014/main" id="{7750F2FB-96FA-374A-AF56-26502EF04672}"/>
              </a:ext>
            </a:extLst>
          </p:cNvPr>
          <p:cNvGrpSpPr>
            <a:grpSpLocks/>
          </p:cNvGrpSpPr>
          <p:nvPr/>
        </p:nvGrpSpPr>
        <p:grpSpPr bwMode="auto">
          <a:xfrm>
            <a:off x="4623418" y="4676415"/>
            <a:ext cx="358775" cy="704850"/>
            <a:chOff x="4140" y="429"/>
            <a:chExt cx="1425" cy="2396"/>
          </a:xfrm>
        </p:grpSpPr>
        <p:sp>
          <p:nvSpPr>
            <p:cNvPr id="223" name="Freeform 186">
              <a:extLst>
                <a:ext uri="{FF2B5EF4-FFF2-40B4-BE49-F238E27FC236}">
                  <a16:creationId xmlns:a16="http://schemas.microsoft.com/office/drawing/2014/main" id="{E441858B-A566-F746-B48C-912CA3020CC8}"/>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24" name="Rectangle 187">
              <a:extLst>
                <a:ext uri="{FF2B5EF4-FFF2-40B4-BE49-F238E27FC236}">
                  <a16:creationId xmlns:a16="http://schemas.microsoft.com/office/drawing/2014/main" id="{20003129-35A4-1E46-8065-8AF4C6403D57}"/>
                </a:ext>
              </a:extLst>
            </p:cNvPr>
            <p:cNvSpPr>
              <a:spLocks noChangeArrowheads="1"/>
            </p:cNvSpPr>
            <p:nvPr/>
          </p:nvSpPr>
          <p:spPr bwMode="auto">
            <a:xfrm>
              <a:off x="4203" y="429"/>
              <a:ext cx="1053" cy="2283"/>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25" name="Freeform 188">
              <a:extLst>
                <a:ext uri="{FF2B5EF4-FFF2-40B4-BE49-F238E27FC236}">
                  <a16:creationId xmlns:a16="http://schemas.microsoft.com/office/drawing/2014/main" id="{6F94D7AE-C4D1-AF4A-B970-086B7D245ACF}"/>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26" name="Freeform 189">
              <a:extLst>
                <a:ext uri="{FF2B5EF4-FFF2-40B4-BE49-F238E27FC236}">
                  <a16:creationId xmlns:a16="http://schemas.microsoft.com/office/drawing/2014/main" id="{EAFC03EF-54DF-8942-9852-25739DA158B4}"/>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27" name="Rectangle 190">
              <a:extLst>
                <a:ext uri="{FF2B5EF4-FFF2-40B4-BE49-F238E27FC236}">
                  <a16:creationId xmlns:a16="http://schemas.microsoft.com/office/drawing/2014/main" id="{2241F7B6-5281-A74E-8DCB-3BE3777E9369}"/>
                </a:ext>
              </a:extLst>
            </p:cNvPr>
            <p:cNvSpPr>
              <a:spLocks noChangeArrowheads="1"/>
            </p:cNvSpPr>
            <p:nvPr/>
          </p:nvSpPr>
          <p:spPr bwMode="auto">
            <a:xfrm>
              <a:off x="4209" y="693"/>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228" name="Group 191">
              <a:extLst>
                <a:ext uri="{FF2B5EF4-FFF2-40B4-BE49-F238E27FC236}">
                  <a16:creationId xmlns:a16="http://schemas.microsoft.com/office/drawing/2014/main" id="{02DB0249-6EBB-FF4B-B17F-CC771B255D00}"/>
                </a:ext>
              </a:extLst>
            </p:cNvPr>
            <p:cNvGrpSpPr>
              <a:grpSpLocks/>
            </p:cNvGrpSpPr>
            <p:nvPr/>
          </p:nvGrpSpPr>
          <p:grpSpPr bwMode="auto">
            <a:xfrm>
              <a:off x="4749" y="668"/>
              <a:ext cx="581" cy="145"/>
              <a:chOff x="614" y="2568"/>
              <a:chExt cx="725" cy="139"/>
            </a:xfrm>
          </p:grpSpPr>
          <p:sp>
            <p:nvSpPr>
              <p:cNvPr id="253" name="AutoShape 192">
                <a:extLst>
                  <a:ext uri="{FF2B5EF4-FFF2-40B4-BE49-F238E27FC236}">
                    <a16:creationId xmlns:a16="http://schemas.microsoft.com/office/drawing/2014/main" id="{BE55370E-BC12-1B42-9E3C-C950033EEF89}"/>
                  </a:ext>
                </a:extLst>
              </p:cNvPr>
              <p:cNvSpPr>
                <a:spLocks noChangeArrowheads="1"/>
              </p:cNvSpPr>
              <p:nvPr/>
            </p:nvSpPr>
            <p:spPr bwMode="auto">
              <a:xfrm>
                <a:off x="617" y="2567"/>
                <a:ext cx="724"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54" name="AutoShape 193">
                <a:extLst>
                  <a:ext uri="{FF2B5EF4-FFF2-40B4-BE49-F238E27FC236}">
                    <a16:creationId xmlns:a16="http://schemas.microsoft.com/office/drawing/2014/main" id="{1BBB99EB-2FFB-5942-9855-24BEE1C68997}"/>
                  </a:ext>
                </a:extLst>
              </p:cNvPr>
              <p:cNvSpPr>
                <a:spLocks noChangeArrowheads="1"/>
              </p:cNvSpPr>
              <p:nvPr/>
            </p:nvSpPr>
            <p:spPr bwMode="auto">
              <a:xfrm>
                <a:off x="633" y="2582"/>
                <a:ext cx="692"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229" name="Rectangle 194">
              <a:extLst>
                <a:ext uri="{FF2B5EF4-FFF2-40B4-BE49-F238E27FC236}">
                  <a16:creationId xmlns:a16="http://schemas.microsoft.com/office/drawing/2014/main" id="{9C5699FC-2B4E-BD46-B9CC-CA578E2EA709}"/>
                </a:ext>
              </a:extLst>
            </p:cNvPr>
            <p:cNvSpPr>
              <a:spLocks noChangeArrowheads="1"/>
            </p:cNvSpPr>
            <p:nvPr/>
          </p:nvSpPr>
          <p:spPr bwMode="auto">
            <a:xfrm>
              <a:off x="4222" y="1017"/>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230" name="Group 195">
              <a:extLst>
                <a:ext uri="{FF2B5EF4-FFF2-40B4-BE49-F238E27FC236}">
                  <a16:creationId xmlns:a16="http://schemas.microsoft.com/office/drawing/2014/main" id="{676615F3-A30A-9740-8080-AFEE6BAAEF98}"/>
                </a:ext>
              </a:extLst>
            </p:cNvPr>
            <p:cNvGrpSpPr>
              <a:grpSpLocks/>
            </p:cNvGrpSpPr>
            <p:nvPr/>
          </p:nvGrpSpPr>
          <p:grpSpPr bwMode="auto">
            <a:xfrm>
              <a:off x="4747" y="994"/>
              <a:ext cx="581" cy="134"/>
              <a:chOff x="614" y="2568"/>
              <a:chExt cx="725" cy="139"/>
            </a:xfrm>
          </p:grpSpPr>
          <p:sp>
            <p:nvSpPr>
              <p:cNvPr id="251" name="AutoShape 196">
                <a:extLst>
                  <a:ext uri="{FF2B5EF4-FFF2-40B4-BE49-F238E27FC236}">
                    <a16:creationId xmlns:a16="http://schemas.microsoft.com/office/drawing/2014/main" id="{D31569A0-2CDC-3B4B-B7FA-067BF2CB0D93}"/>
                  </a:ext>
                </a:extLst>
              </p:cNvPr>
              <p:cNvSpPr>
                <a:spLocks noChangeArrowheads="1"/>
              </p:cNvSpPr>
              <p:nvPr/>
            </p:nvSpPr>
            <p:spPr bwMode="auto">
              <a:xfrm>
                <a:off x="612" y="2570"/>
                <a:ext cx="724" cy="162"/>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52" name="AutoShape 197">
                <a:extLst>
                  <a:ext uri="{FF2B5EF4-FFF2-40B4-BE49-F238E27FC236}">
                    <a16:creationId xmlns:a16="http://schemas.microsoft.com/office/drawing/2014/main" id="{5D70C5E6-3DFB-1D45-8469-DE5EA96E13E8}"/>
                  </a:ext>
                </a:extLst>
              </p:cNvPr>
              <p:cNvSpPr>
                <a:spLocks noChangeArrowheads="1"/>
              </p:cNvSpPr>
              <p:nvPr/>
            </p:nvSpPr>
            <p:spPr bwMode="auto">
              <a:xfrm>
                <a:off x="628" y="2586"/>
                <a:ext cx="692"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231" name="Rectangle 198">
              <a:extLst>
                <a:ext uri="{FF2B5EF4-FFF2-40B4-BE49-F238E27FC236}">
                  <a16:creationId xmlns:a16="http://schemas.microsoft.com/office/drawing/2014/main" id="{AE060187-10EA-1F4E-AEDE-8C6C0E8358D2}"/>
                </a:ext>
              </a:extLst>
            </p:cNvPr>
            <p:cNvSpPr>
              <a:spLocks noChangeArrowheads="1"/>
            </p:cNvSpPr>
            <p:nvPr/>
          </p:nvSpPr>
          <p:spPr bwMode="auto">
            <a:xfrm>
              <a:off x="4216" y="1357"/>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32" name="Rectangle 199">
              <a:extLst>
                <a:ext uri="{FF2B5EF4-FFF2-40B4-BE49-F238E27FC236}">
                  <a16:creationId xmlns:a16="http://schemas.microsoft.com/office/drawing/2014/main" id="{32874526-51C0-C749-BDC8-3D9F62AFE767}"/>
                </a:ext>
              </a:extLst>
            </p:cNvPr>
            <p:cNvSpPr>
              <a:spLocks noChangeArrowheads="1"/>
            </p:cNvSpPr>
            <p:nvPr/>
          </p:nvSpPr>
          <p:spPr bwMode="auto">
            <a:xfrm>
              <a:off x="4228" y="1654"/>
              <a:ext cx="593"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233" name="Group 200">
              <a:extLst>
                <a:ext uri="{FF2B5EF4-FFF2-40B4-BE49-F238E27FC236}">
                  <a16:creationId xmlns:a16="http://schemas.microsoft.com/office/drawing/2014/main" id="{09E63F43-E74F-6045-A673-3756891EE94D}"/>
                </a:ext>
              </a:extLst>
            </p:cNvPr>
            <p:cNvGrpSpPr>
              <a:grpSpLocks/>
            </p:cNvGrpSpPr>
            <p:nvPr/>
          </p:nvGrpSpPr>
          <p:grpSpPr bwMode="auto">
            <a:xfrm>
              <a:off x="4735" y="1627"/>
              <a:ext cx="582" cy="151"/>
              <a:chOff x="614" y="2568"/>
              <a:chExt cx="725" cy="139"/>
            </a:xfrm>
          </p:grpSpPr>
          <p:sp>
            <p:nvSpPr>
              <p:cNvPr id="249" name="AutoShape 201">
                <a:extLst>
                  <a:ext uri="{FF2B5EF4-FFF2-40B4-BE49-F238E27FC236}">
                    <a16:creationId xmlns:a16="http://schemas.microsoft.com/office/drawing/2014/main" id="{0296B9BB-82CD-2A45-8E56-F4ACF6FCC028}"/>
                  </a:ext>
                </a:extLst>
              </p:cNvPr>
              <p:cNvSpPr>
                <a:spLocks noChangeArrowheads="1"/>
              </p:cNvSpPr>
              <p:nvPr/>
            </p:nvSpPr>
            <p:spPr bwMode="auto">
              <a:xfrm>
                <a:off x="611" y="2568"/>
                <a:ext cx="730" cy="139"/>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50" name="AutoShape 202">
                <a:extLst>
                  <a:ext uri="{FF2B5EF4-FFF2-40B4-BE49-F238E27FC236}">
                    <a16:creationId xmlns:a16="http://schemas.microsoft.com/office/drawing/2014/main" id="{DD3C3254-A817-B449-AE0F-31BEFF504A04}"/>
                  </a:ext>
                </a:extLst>
              </p:cNvPr>
              <p:cNvSpPr>
                <a:spLocks noChangeArrowheads="1"/>
              </p:cNvSpPr>
              <p:nvPr/>
            </p:nvSpPr>
            <p:spPr bwMode="auto">
              <a:xfrm>
                <a:off x="627" y="2583"/>
                <a:ext cx="699"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234" name="Freeform 203">
              <a:extLst>
                <a:ext uri="{FF2B5EF4-FFF2-40B4-BE49-F238E27FC236}">
                  <a16:creationId xmlns:a16="http://schemas.microsoft.com/office/drawing/2014/main" id="{D05041BE-8046-EB49-A23A-C7FEB06D9108}"/>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235" name="Group 204">
              <a:extLst>
                <a:ext uri="{FF2B5EF4-FFF2-40B4-BE49-F238E27FC236}">
                  <a16:creationId xmlns:a16="http://schemas.microsoft.com/office/drawing/2014/main" id="{BD1D997D-F690-4C4E-9473-F0433427C91F}"/>
                </a:ext>
              </a:extLst>
            </p:cNvPr>
            <p:cNvGrpSpPr>
              <a:grpSpLocks/>
            </p:cNvGrpSpPr>
            <p:nvPr/>
          </p:nvGrpSpPr>
          <p:grpSpPr bwMode="auto">
            <a:xfrm>
              <a:off x="4739" y="1327"/>
              <a:ext cx="582" cy="139"/>
              <a:chOff x="614" y="2568"/>
              <a:chExt cx="725" cy="139"/>
            </a:xfrm>
          </p:grpSpPr>
          <p:sp>
            <p:nvSpPr>
              <p:cNvPr id="247" name="AutoShape 205">
                <a:extLst>
                  <a:ext uri="{FF2B5EF4-FFF2-40B4-BE49-F238E27FC236}">
                    <a16:creationId xmlns:a16="http://schemas.microsoft.com/office/drawing/2014/main" id="{631C3D3D-8F7D-6F44-AD56-665A5242B691}"/>
                  </a:ext>
                </a:extLst>
              </p:cNvPr>
              <p:cNvSpPr>
                <a:spLocks noChangeArrowheads="1"/>
              </p:cNvSpPr>
              <p:nvPr/>
            </p:nvSpPr>
            <p:spPr bwMode="auto">
              <a:xfrm>
                <a:off x="614" y="2566"/>
                <a:ext cx="723"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48" name="AutoShape 206">
                <a:extLst>
                  <a:ext uri="{FF2B5EF4-FFF2-40B4-BE49-F238E27FC236}">
                    <a16:creationId xmlns:a16="http://schemas.microsoft.com/office/drawing/2014/main" id="{E7F87D38-4528-0F45-9911-B79B599D25FC}"/>
                  </a:ext>
                </a:extLst>
              </p:cNvPr>
              <p:cNvSpPr>
                <a:spLocks noChangeArrowheads="1"/>
              </p:cNvSpPr>
              <p:nvPr/>
            </p:nvSpPr>
            <p:spPr bwMode="auto">
              <a:xfrm>
                <a:off x="630" y="2582"/>
                <a:ext cx="691"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236" name="Rectangle 207">
              <a:extLst>
                <a:ext uri="{FF2B5EF4-FFF2-40B4-BE49-F238E27FC236}">
                  <a16:creationId xmlns:a16="http://schemas.microsoft.com/office/drawing/2014/main" id="{60B24777-81BE-BC42-AC64-6F2229E5FBE5}"/>
                </a:ext>
              </a:extLst>
            </p:cNvPr>
            <p:cNvSpPr>
              <a:spLocks noChangeArrowheads="1"/>
            </p:cNvSpPr>
            <p:nvPr/>
          </p:nvSpPr>
          <p:spPr bwMode="auto">
            <a:xfrm>
              <a:off x="5250" y="429"/>
              <a:ext cx="69" cy="2288"/>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37" name="Freeform 208">
              <a:extLst>
                <a:ext uri="{FF2B5EF4-FFF2-40B4-BE49-F238E27FC236}">
                  <a16:creationId xmlns:a16="http://schemas.microsoft.com/office/drawing/2014/main" id="{FD1049FD-ADAC-FC43-A186-6585ECAE4331}"/>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38" name="Freeform 209">
              <a:extLst>
                <a:ext uri="{FF2B5EF4-FFF2-40B4-BE49-F238E27FC236}">
                  <a16:creationId xmlns:a16="http://schemas.microsoft.com/office/drawing/2014/main" id="{A25585BA-2AFC-3047-B9D5-7CC45D5DBC49}"/>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39" name="Oval 210">
              <a:extLst>
                <a:ext uri="{FF2B5EF4-FFF2-40B4-BE49-F238E27FC236}">
                  <a16:creationId xmlns:a16="http://schemas.microsoft.com/office/drawing/2014/main" id="{78C608B6-FCB9-3F43-A504-D33DD77827D8}"/>
                </a:ext>
              </a:extLst>
            </p:cNvPr>
            <p:cNvSpPr>
              <a:spLocks noChangeArrowheads="1"/>
            </p:cNvSpPr>
            <p:nvPr/>
          </p:nvSpPr>
          <p:spPr bwMode="auto">
            <a:xfrm>
              <a:off x="5515" y="2609"/>
              <a:ext cx="50" cy="97"/>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40" name="Freeform 211">
              <a:extLst>
                <a:ext uri="{FF2B5EF4-FFF2-40B4-BE49-F238E27FC236}">
                  <a16:creationId xmlns:a16="http://schemas.microsoft.com/office/drawing/2014/main" id="{F24BE4FA-86B6-5840-8B76-BF70EF006A8E}"/>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41" name="AutoShape 212">
              <a:extLst>
                <a:ext uri="{FF2B5EF4-FFF2-40B4-BE49-F238E27FC236}">
                  <a16:creationId xmlns:a16="http://schemas.microsoft.com/office/drawing/2014/main" id="{22C6B4EC-00C6-BA43-95E2-370E8204DDA3}"/>
                </a:ext>
              </a:extLst>
            </p:cNvPr>
            <p:cNvSpPr>
              <a:spLocks noChangeArrowheads="1"/>
            </p:cNvSpPr>
            <p:nvPr/>
          </p:nvSpPr>
          <p:spPr bwMode="auto">
            <a:xfrm>
              <a:off x="4140" y="2679"/>
              <a:ext cx="1198"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42" name="AutoShape 213">
              <a:extLst>
                <a:ext uri="{FF2B5EF4-FFF2-40B4-BE49-F238E27FC236}">
                  <a16:creationId xmlns:a16="http://schemas.microsoft.com/office/drawing/2014/main" id="{7B9210ED-D802-C84E-8A67-93399801B5DA}"/>
                </a:ext>
              </a:extLst>
            </p:cNvPr>
            <p:cNvSpPr>
              <a:spLocks noChangeArrowheads="1"/>
            </p:cNvSpPr>
            <p:nvPr/>
          </p:nvSpPr>
          <p:spPr bwMode="auto">
            <a:xfrm>
              <a:off x="4203" y="2712"/>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43" name="Oval 214">
              <a:extLst>
                <a:ext uri="{FF2B5EF4-FFF2-40B4-BE49-F238E27FC236}">
                  <a16:creationId xmlns:a16="http://schemas.microsoft.com/office/drawing/2014/main" id="{552E77C8-7BFE-BF4D-8F0B-DF6513BE6459}"/>
                </a:ext>
              </a:extLst>
            </p:cNvPr>
            <p:cNvSpPr>
              <a:spLocks noChangeArrowheads="1"/>
            </p:cNvSpPr>
            <p:nvPr/>
          </p:nvSpPr>
          <p:spPr bwMode="auto">
            <a:xfrm>
              <a:off x="4310" y="2382"/>
              <a:ext cx="158" cy="146"/>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44" name="Oval 215">
              <a:extLst>
                <a:ext uri="{FF2B5EF4-FFF2-40B4-BE49-F238E27FC236}">
                  <a16:creationId xmlns:a16="http://schemas.microsoft.com/office/drawing/2014/main" id="{86496A7E-E21F-444D-B883-E410329FF242}"/>
                </a:ext>
              </a:extLst>
            </p:cNvPr>
            <p:cNvSpPr>
              <a:spLocks noChangeArrowheads="1"/>
            </p:cNvSpPr>
            <p:nvPr/>
          </p:nvSpPr>
          <p:spPr bwMode="auto">
            <a:xfrm>
              <a:off x="4487" y="2382"/>
              <a:ext cx="158" cy="146"/>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0000"/>
                </a:solidFill>
                <a:effectLst/>
                <a:uLnTx/>
                <a:uFillTx/>
                <a:latin typeface="Arial" charset="0"/>
                <a:ea typeface="ＭＳ Ｐゴシック" charset="0"/>
                <a:cs typeface="Arial" charset="0"/>
              </a:endParaRPr>
            </a:p>
          </p:txBody>
        </p:sp>
        <p:sp>
          <p:nvSpPr>
            <p:cNvPr id="245" name="Oval 216">
              <a:extLst>
                <a:ext uri="{FF2B5EF4-FFF2-40B4-BE49-F238E27FC236}">
                  <a16:creationId xmlns:a16="http://schemas.microsoft.com/office/drawing/2014/main" id="{555E4B0D-EDB2-D04B-B9AD-93FA92DDAA2D}"/>
                </a:ext>
              </a:extLst>
            </p:cNvPr>
            <p:cNvSpPr>
              <a:spLocks noChangeArrowheads="1"/>
            </p:cNvSpPr>
            <p:nvPr/>
          </p:nvSpPr>
          <p:spPr bwMode="auto">
            <a:xfrm>
              <a:off x="4663" y="2382"/>
              <a:ext cx="158" cy="140"/>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46" name="Rectangle 217">
              <a:extLst>
                <a:ext uri="{FF2B5EF4-FFF2-40B4-BE49-F238E27FC236}">
                  <a16:creationId xmlns:a16="http://schemas.microsoft.com/office/drawing/2014/main" id="{DE659B39-E72A-634A-A2AC-C4BA4DC9C619}"/>
                </a:ext>
              </a:extLst>
            </p:cNvPr>
            <p:cNvSpPr>
              <a:spLocks noChangeArrowheads="1"/>
            </p:cNvSpPr>
            <p:nvPr/>
          </p:nvSpPr>
          <p:spPr bwMode="auto">
            <a:xfrm>
              <a:off x="5061" y="1837"/>
              <a:ext cx="88" cy="761"/>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grpSp>
        <p:nvGrpSpPr>
          <p:cNvPr id="255" name="Group 176">
            <a:extLst>
              <a:ext uri="{FF2B5EF4-FFF2-40B4-BE49-F238E27FC236}">
                <a16:creationId xmlns:a16="http://schemas.microsoft.com/office/drawing/2014/main" id="{A688A9DA-2CE4-9245-B0CF-12C3AB6DA03D}"/>
              </a:ext>
            </a:extLst>
          </p:cNvPr>
          <p:cNvGrpSpPr>
            <a:grpSpLocks/>
          </p:cNvGrpSpPr>
          <p:nvPr/>
        </p:nvGrpSpPr>
        <p:grpSpPr bwMode="auto">
          <a:xfrm>
            <a:off x="723475" y="1183947"/>
            <a:ext cx="4826032" cy="1719654"/>
            <a:chOff x="5" y="727"/>
            <a:chExt cx="2460" cy="1047"/>
          </a:xfrm>
        </p:grpSpPr>
        <p:sp>
          <p:nvSpPr>
            <p:cNvPr id="256" name="Text Box 45">
              <a:extLst>
                <a:ext uri="{FF2B5EF4-FFF2-40B4-BE49-F238E27FC236}">
                  <a16:creationId xmlns:a16="http://schemas.microsoft.com/office/drawing/2014/main" id="{08227C49-D6DA-834A-88D1-4F61E7C3A2C1}"/>
                </a:ext>
              </a:extLst>
            </p:cNvPr>
            <p:cNvSpPr txBox="1">
              <a:spLocks noChangeArrowheads="1"/>
            </p:cNvSpPr>
            <p:nvPr/>
          </p:nvSpPr>
          <p:spPr bwMode="auto">
            <a:xfrm>
              <a:off x="133" y="1101"/>
              <a:ext cx="2332" cy="621"/>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handle data from multiple</a:t>
              </a:r>
            </a:p>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sockets, add transport header (later used for demultiplexing)</a:t>
              </a:r>
            </a:p>
          </p:txBody>
        </p:sp>
        <p:sp>
          <p:nvSpPr>
            <p:cNvPr id="257" name="Rectangle 46">
              <a:extLst>
                <a:ext uri="{FF2B5EF4-FFF2-40B4-BE49-F238E27FC236}">
                  <a16:creationId xmlns:a16="http://schemas.microsoft.com/office/drawing/2014/main" id="{3B2C1C25-63A3-9D42-A34A-56DE5B3AC226}"/>
                </a:ext>
              </a:extLst>
            </p:cNvPr>
            <p:cNvSpPr>
              <a:spLocks noChangeArrowheads="1"/>
            </p:cNvSpPr>
            <p:nvPr/>
          </p:nvSpPr>
          <p:spPr bwMode="auto">
            <a:xfrm>
              <a:off x="5" y="901"/>
              <a:ext cx="2298" cy="873"/>
            </a:xfrm>
            <a:prstGeom prst="rect">
              <a:avLst/>
            </a:prstGeom>
            <a:noFill/>
            <a:ln w="19050">
              <a:solidFill>
                <a:srgbClr val="CC0000"/>
              </a:solidFill>
              <a:miter lim="800000"/>
              <a:headEnd/>
              <a:tailEn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p:txBody>
        </p:sp>
        <p:grpSp>
          <p:nvGrpSpPr>
            <p:cNvPr id="258" name="Group 47">
              <a:extLst>
                <a:ext uri="{FF2B5EF4-FFF2-40B4-BE49-F238E27FC236}">
                  <a16:creationId xmlns:a16="http://schemas.microsoft.com/office/drawing/2014/main" id="{9141C6D7-5B52-C14E-B286-0BE1FAEACCB8}"/>
                </a:ext>
              </a:extLst>
            </p:cNvPr>
            <p:cNvGrpSpPr>
              <a:grpSpLocks/>
            </p:cNvGrpSpPr>
            <p:nvPr/>
          </p:nvGrpSpPr>
          <p:grpSpPr bwMode="auto">
            <a:xfrm>
              <a:off x="91" y="727"/>
              <a:ext cx="1854" cy="375"/>
              <a:chOff x="869" y="3567"/>
              <a:chExt cx="1780" cy="375"/>
            </a:xfrm>
          </p:grpSpPr>
          <p:sp>
            <p:nvSpPr>
              <p:cNvPr id="259" name="Rectangle 48">
                <a:extLst>
                  <a:ext uri="{FF2B5EF4-FFF2-40B4-BE49-F238E27FC236}">
                    <a16:creationId xmlns:a16="http://schemas.microsoft.com/office/drawing/2014/main" id="{9B8AF1CA-3C6F-F243-9464-0DF4CA71C4FF}"/>
                  </a:ext>
                </a:extLst>
              </p:cNvPr>
              <p:cNvSpPr>
                <a:spLocks noChangeArrowheads="1"/>
              </p:cNvSpPr>
              <p:nvPr/>
            </p:nvSpPr>
            <p:spPr bwMode="auto">
              <a:xfrm>
                <a:off x="1422" y="3732"/>
                <a:ext cx="1006" cy="210"/>
              </a:xfrm>
              <a:prstGeom prst="rect">
                <a:avLst/>
              </a:prstGeom>
              <a:solidFill>
                <a:schemeClr val="bg1"/>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p:txBody>
          </p:sp>
          <p:sp>
            <p:nvSpPr>
              <p:cNvPr id="260" name="Text Box 49">
                <a:extLst>
                  <a:ext uri="{FF2B5EF4-FFF2-40B4-BE49-F238E27FC236}">
                    <a16:creationId xmlns:a16="http://schemas.microsoft.com/office/drawing/2014/main" id="{70A5AF43-DDA0-2A40-9B92-B39F358268CD}"/>
                  </a:ext>
                </a:extLst>
              </p:cNvPr>
              <p:cNvSpPr txBox="1">
                <a:spLocks noChangeArrowheads="1"/>
              </p:cNvSpPr>
              <p:nvPr/>
            </p:nvSpPr>
            <p:spPr bwMode="auto">
              <a:xfrm>
                <a:off x="869" y="3567"/>
                <a:ext cx="1780" cy="330"/>
              </a:xfrm>
              <a:prstGeom prst="rect">
                <a:avLst/>
              </a:prstGeom>
              <a:solidFill>
                <a:schemeClr val="bg1"/>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1" u="none" strike="noStrike" kern="1200" cap="none" spc="0" normalizeH="0" baseline="0" noProof="0" dirty="0">
                    <a:ln>
                      <a:noFill/>
                    </a:ln>
                    <a:solidFill>
                      <a:srgbClr val="CC0000"/>
                    </a:solidFill>
                    <a:effectLst/>
                    <a:uLnTx/>
                    <a:uFillTx/>
                    <a:latin typeface="Calibri" panose="020F0502020204030204"/>
                    <a:ea typeface="ＭＳ Ｐゴシック" charset="0"/>
                    <a:cs typeface="+mn-cs"/>
                  </a:rPr>
                  <a:t>multiplexing as sender:</a:t>
                </a:r>
              </a:p>
            </p:txBody>
          </p:sp>
        </p:grpSp>
      </p:grpSp>
      <p:sp>
        <p:nvSpPr>
          <p:cNvPr id="169" name="Freeform 142">
            <a:extLst>
              <a:ext uri="{FF2B5EF4-FFF2-40B4-BE49-F238E27FC236}">
                <a16:creationId xmlns:a16="http://schemas.microsoft.com/office/drawing/2014/main" id="{9633E13F-8D02-CA4B-A3EB-E64D4EB42802}"/>
              </a:ext>
            </a:extLst>
          </p:cNvPr>
          <p:cNvSpPr>
            <a:spLocks/>
          </p:cNvSpPr>
          <p:nvPr/>
        </p:nvSpPr>
        <p:spPr bwMode="auto">
          <a:xfrm>
            <a:off x="3739180" y="4079515"/>
            <a:ext cx="1962150" cy="1897063"/>
          </a:xfrm>
          <a:custGeom>
            <a:avLst/>
            <a:gdLst>
              <a:gd name="T0" fmla="*/ 0 w 1236"/>
              <a:gd name="T1" fmla="*/ 2147483647 h 1195"/>
              <a:gd name="T2" fmla="*/ 2147483647 w 1236"/>
              <a:gd name="T3" fmla="*/ 2147483647 h 1195"/>
              <a:gd name="T4" fmla="*/ 2147483647 w 1236"/>
              <a:gd name="T5" fmla="*/ 2147483647 h 1195"/>
              <a:gd name="T6" fmla="*/ 2147483647 w 1236"/>
              <a:gd name="T7" fmla="*/ 2147483647 h 1195"/>
              <a:gd name="T8" fmla="*/ 2147483647 w 1236"/>
              <a:gd name="T9" fmla="*/ 0 h 119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36" h="1195">
                <a:moveTo>
                  <a:pt x="0" y="202"/>
                </a:moveTo>
                <a:lnTo>
                  <a:pt x="6" y="1194"/>
                </a:lnTo>
                <a:lnTo>
                  <a:pt x="1236" y="1195"/>
                </a:lnTo>
                <a:lnTo>
                  <a:pt x="1227" y="150"/>
                </a:lnTo>
                <a:lnTo>
                  <a:pt x="1069" y="0"/>
                </a:lnTo>
              </a:path>
            </a:pathLst>
          </a:custGeom>
          <a:noFill/>
          <a:ln w="19050" cap="flat" cmpd="sng">
            <a:solidFill>
              <a:srgbClr val="000099"/>
            </a:solidFill>
            <a:prstDash val="solid"/>
            <a:round/>
            <a:headEnd type="triangl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68" name="Freeform 141">
            <a:extLst>
              <a:ext uri="{FF2B5EF4-FFF2-40B4-BE49-F238E27FC236}">
                <a16:creationId xmlns:a16="http://schemas.microsoft.com/office/drawing/2014/main" id="{68E70704-F4BA-164C-AD06-3859E25D67E2}"/>
              </a:ext>
            </a:extLst>
          </p:cNvPr>
          <p:cNvSpPr>
            <a:spLocks/>
          </p:cNvSpPr>
          <p:nvPr/>
        </p:nvSpPr>
        <p:spPr bwMode="auto">
          <a:xfrm>
            <a:off x="3675680" y="4054115"/>
            <a:ext cx="2160588" cy="1989138"/>
          </a:xfrm>
          <a:custGeom>
            <a:avLst/>
            <a:gdLst>
              <a:gd name="T0" fmla="*/ 0 w 1361"/>
              <a:gd name="T1" fmla="*/ 2147483647 h 1253"/>
              <a:gd name="T2" fmla="*/ 2147483647 w 1361"/>
              <a:gd name="T3" fmla="*/ 2147483647 h 1253"/>
              <a:gd name="T4" fmla="*/ 2147483647 w 1361"/>
              <a:gd name="T5" fmla="*/ 2147483647 h 1253"/>
              <a:gd name="T6" fmla="*/ 2147483647 w 1361"/>
              <a:gd name="T7" fmla="*/ 2147483647 h 1253"/>
              <a:gd name="T8" fmla="*/ 2147483647 w 1361"/>
              <a:gd name="T9" fmla="*/ 2147483647 h 1253"/>
              <a:gd name="T10" fmla="*/ 2147483647 w 1361"/>
              <a:gd name="T11" fmla="*/ 0 h 125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361" h="1253">
                <a:moveTo>
                  <a:pt x="0" y="216"/>
                </a:moveTo>
                <a:lnTo>
                  <a:pt x="7" y="1252"/>
                </a:lnTo>
                <a:lnTo>
                  <a:pt x="1320" y="1253"/>
                </a:lnTo>
                <a:lnTo>
                  <a:pt x="1361" y="1252"/>
                </a:lnTo>
                <a:lnTo>
                  <a:pt x="1353" y="114"/>
                </a:lnTo>
                <a:lnTo>
                  <a:pt x="1178" y="0"/>
                </a:lnTo>
              </a:path>
            </a:pathLst>
          </a:custGeom>
          <a:noFill/>
          <a:ln w="19050" cap="flat" cmpd="sng">
            <a:solidFill>
              <a:srgbClr val="000099"/>
            </a:solidFill>
            <a:prstDash val="solid"/>
            <a:round/>
            <a:headEnd type="none" w="med" len="med"/>
            <a:tailEnd type="triangl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7" name="Group 6"/>
          <p:cNvGrpSpPr/>
          <p:nvPr/>
        </p:nvGrpSpPr>
        <p:grpSpPr>
          <a:xfrm>
            <a:off x="3991327" y="3942701"/>
            <a:ext cx="3748969" cy="114880"/>
            <a:chOff x="4450940" y="4321755"/>
            <a:chExt cx="3748969" cy="114880"/>
          </a:xfrm>
        </p:grpSpPr>
        <p:sp>
          <p:nvSpPr>
            <p:cNvPr id="6" name="Left-Right Arrow 5"/>
            <p:cNvSpPr/>
            <p:nvPr/>
          </p:nvSpPr>
          <p:spPr>
            <a:xfrm rot="20821812">
              <a:off x="4450940" y="4321755"/>
              <a:ext cx="1216152" cy="99004"/>
            </a:xfrm>
            <a:prstGeom prst="leftRightArrow">
              <a:avLst/>
            </a:prstGeom>
            <a:solidFill>
              <a:srgbClr val="000090"/>
            </a:solidFill>
            <a:ln>
              <a:solidFill>
                <a:srgbClr val="00009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61" name="Left-Right Arrow 260"/>
            <p:cNvSpPr/>
            <p:nvPr/>
          </p:nvSpPr>
          <p:spPr>
            <a:xfrm rot="778188" flipV="1">
              <a:off x="6983757" y="4337631"/>
              <a:ext cx="1216152" cy="99004"/>
            </a:xfrm>
            <a:prstGeom prst="leftRightArrow">
              <a:avLst/>
            </a:prstGeom>
            <a:solidFill>
              <a:srgbClr val="000090"/>
            </a:solidFill>
            <a:ln>
              <a:solidFill>
                <a:srgbClr val="00009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grpSp>
    </p:spTree>
    <p:extLst>
      <p:ext uri="{BB962C8B-B14F-4D97-AF65-F5344CB8AC3E}">
        <p14:creationId xmlns:p14="http://schemas.microsoft.com/office/powerpoint/2010/main" val="3014452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xit" presetSubtype="0" fill="hold" nodeType="clickEffect">
                                  <p:stCondLst>
                                    <p:cond delay="0"/>
                                  </p:stCondLst>
                                  <p:childTnLst>
                                    <p:animEffect transition="out" filter="dissolve">
                                      <p:cBhvr>
                                        <p:cTn id="11" dur="500"/>
                                        <p:tgtEl>
                                          <p:spTgt spid="7"/>
                                        </p:tgtEl>
                                      </p:cBhvr>
                                    </p:animEffect>
                                    <p:set>
                                      <p:cBhvr>
                                        <p:cTn id="12" dur="1" fill="hold">
                                          <p:stCondLst>
                                            <p:cond delay="499"/>
                                          </p:stCondLst>
                                        </p:cTn>
                                        <p:tgtEl>
                                          <p:spTgt spid="7"/>
                                        </p:tgtEl>
                                        <p:attrNameLst>
                                          <p:attrName>style.visibility</p:attrName>
                                        </p:attrNameLst>
                                      </p:cBhvr>
                                      <p:to>
                                        <p:strVal val="hidden"/>
                                      </p:to>
                                    </p:set>
                                  </p:childTnLst>
                                </p:cTn>
                              </p:par>
                              <p:par>
                                <p:cTn id="13" presetID="9" presetClass="entr" presetSubtype="0" fill="hold" nodeType="withEffect">
                                  <p:stCondLst>
                                    <p:cond delay="0"/>
                                  </p:stCondLst>
                                  <p:childTnLst>
                                    <p:set>
                                      <p:cBhvr>
                                        <p:cTn id="14" dur="1" fill="hold">
                                          <p:stCondLst>
                                            <p:cond delay="0"/>
                                          </p:stCondLst>
                                        </p:cTn>
                                        <p:tgtEl>
                                          <p:spTgt spid="255"/>
                                        </p:tgtEl>
                                        <p:attrNameLst>
                                          <p:attrName>style.visibility</p:attrName>
                                        </p:attrNameLst>
                                      </p:cBhvr>
                                      <p:to>
                                        <p:strVal val="visible"/>
                                      </p:to>
                                    </p:set>
                                    <p:animEffect transition="in" filter="dissolve">
                                      <p:cBhvr>
                                        <p:cTn id="15" dur="500"/>
                                        <p:tgtEl>
                                          <p:spTgt spid="255"/>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212"/>
                                        </p:tgtEl>
                                        <p:attrNameLst>
                                          <p:attrName>style.visibility</p:attrName>
                                        </p:attrNameLst>
                                      </p:cBhvr>
                                      <p:to>
                                        <p:strVal val="visible"/>
                                      </p:to>
                                    </p:set>
                                    <p:animEffect transition="in" filter="dissolve">
                                      <p:cBhvr>
                                        <p:cTn id="18" dur="500"/>
                                        <p:tgtEl>
                                          <p:spTgt spid="212"/>
                                        </p:tgtEl>
                                      </p:cBhvr>
                                    </p:animEffect>
                                  </p:childTnLst>
                                </p:cTn>
                              </p:par>
                              <p:par>
                                <p:cTn id="19" presetID="9" presetClass="entr" presetSubtype="0" fill="hold"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dissolve">
                                      <p:cBhvr>
                                        <p:cTn id="21" dur="500"/>
                                        <p:tgtEl>
                                          <p:spTgt spid="8"/>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13"/>
                                        </p:tgtEl>
                                        <p:attrNameLst>
                                          <p:attrName>style.visibility</p:attrName>
                                        </p:attrNameLst>
                                      </p:cBhvr>
                                      <p:to>
                                        <p:strVal val="visible"/>
                                      </p:to>
                                    </p:set>
                                  </p:childTnLst>
                                </p:cTn>
                              </p:par>
                              <p:par>
                                <p:cTn id="26" presetID="9" presetClass="entr" presetSubtype="0" fill="hold" nodeType="with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dissolve">
                                      <p:cBhvr>
                                        <p:cTn id="28" dur="500"/>
                                        <p:tgtEl>
                                          <p:spTgt spid="5"/>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168"/>
                                        </p:tgtEl>
                                        <p:attrNameLst>
                                          <p:attrName>style.visibility</p:attrName>
                                        </p:attrNameLst>
                                      </p:cBhvr>
                                      <p:to>
                                        <p:strVal val="visible"/>
                                      </p:to>
                                    </p:set>
                                    <p:animEffect transition="in" filter="dissolve">
                                      <p:cBhvr>
                                        <p:cTn id="31" dur="500"/>
                                        <p:tgtEl>
                                          <p:spTgt spid="168"/>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206"/>
                                        </p:tgtEl>
                                        <p:attrNameLst>
                                          <p:attrName>style.visibility</p:attrName>
                                        </p:attrNameLst>
                                      </p:cBhvr>
                                      <p:to>
                                        <p:strVal val="visible"/>
                                      </p:to>
                                    </p:set>
                                    <p:animEffect transition="in" filter="dissolve">
                                      <p:cBhvr>
                                        <p:cTn id="34" dur="500"/>
                                        <p:tgtEl>
                                          <p:spTgt spid="206"/>
                                        </p:tgtEl>
                                      </p:cBhvr>
                                    </p:animEffect>
                                  </p:childTnLst>
                                </p:cTn>
                              </p:par>
                              <p:par>
                                <p:cTn id="35" presetID="9" presetClass="exit" presetSubtype="0" fill="hold" grpId="0" nodeType="withEffect">
                                  <p:stCondLst>
                                    <p:cond delay="0"/>
                                  </p:stCondLst>
                                  <p:childTnLst>
                                    <p:animEffect transition="out" filter="dissolve">
                                      <p:cBhvr>
                                        <p:cTn id="36" dur="500"/>
                                        <p:tgtEl>
                                          <p:spTgt spid="169"/>
                                        </p:tgtEl>
                                      </p:cBhvr>
                                    </p:animEffect>
                                    <p:set>
                                      <p:cBhvr>
                                        <p:cTn id="37" dur="1" fill="hold">
                                          <p:stCondLst>
                                            <p:cond delay="499"/>
                                          </p:stCondLst>
                                        </p:cTn>
                                        <p:tgtEl>
                                          <p:spTgt spid="169"/>
                                        </p:tgtEl>
                                        <p:attrNameLst>
                                          <p:attrName>style.visibility</p:attrName>
                                        </p:attrNameLst>
                                      </p:cBhvr>
                                      <p:to>
                                        <p:strVal val="hidden"/>
                                      </p:to>
                                    </p:set>
                                  </p:childTnLst>
                                </p:cTn>
                              </p:par>
                              <p:par>
                                <p:cTn id="38" presetID="9" presetClass="exit" presetSubtype="0" fill="hold" nodeType="withEffect">
                                  <p:stCondLst>
                                    <p:cond delay="0"/>
                                  </p:stCondLst>
                                  <p:childTnLst>
                                    <p:animEffect transition="out" filter="dissolve">
                                      <p:cBhvr>
                                        <p:cTn id="39" dur="500"/>
                                        <p:tgtEl>
                                          <p:spTgt spid="8"/>
                                        </p:tgtEl>
                                      </p:cBhvr>
                                    </p:animEffect>
                                    <p:set>
                                      <p:cBhvr>
                                        <p:cTn id="40" dur="1" fill="hold">
                                          <p:stCondLst>
                                            <p:cond delay="499"/>
                                          </p:stCondLst>
                                        </p:cTn>
                                        <p:tgtEl>
                                          <p:spTgt spid="8"/>
                                        </p:tgtEl>
                                        <p:attrNameLst>
                                          <p:attrName>style.visibility</p:attrName>
                                        </p:attrNameLst>
                                      </p:cBhvr>
                                      <p:to>
                                        <p:strVal val="hidden"/>
                                      </p:to>
                                    </p:set>
                                  </p:childTnLst>
                                </p:cTn>
                              </p:par>
                              <p:par>
                                <p:cTn id="41" presetID="9" presetClass="exit" presetSubtype="0" fill="hold" grpId="1" nodeType="withEffect">
                                  <p:stCondLst>
                                    <p:cond delay="0"/>
                                  </p:stCondLst>
                                  <p:childTnLst>
                                    <p:animEffect transition="out" filter="dissolve">
                                      <p:cBhvr>
                                        <p:cTn id="42" dur="500"/>
                                        <p:tgtEl>
                                          <p:spTgt spid="212"/>
                                        </p:tgtEl>
                                      </p:cBhvr>
                                    </p:animEffect>
                                    <p:set>
                                      <p:cBhvr>
                                        <p:cTn id="43" dur="1" fill="hold">
                                          <p:stCondLst>
                                            <p:cond delay="499"/>
                                          </p:stCondLst>
                                        </p:cTn>
                                        <p:tgtEl>
                                          <p:spTgt spid="212"/>
                                        </p:tgtEl>
                                        <p:attrNameLst>
                                          <p:attrName>style.visibility</p:attrName>
                                        </p:attrNameLst>
                                      </p:cBhvr>
                                      <p:to>
                                        <p:strVal val="hidden"/>
                                      </p:to>
                                    </p:set>
                                  </p:childTnLst>
                                </p:cTn>
                              </p:par>
                              <p:par>
                                <p:cTn id="44" presetID="9" presetClass="exit" presetSubtype="0" fill="hold" nodeType="withEffect">
                                  <p:stCondLst>
                                    <p:cond delay="0"/>
                                  </p:stCondLst>
                                  <p:childTnLst>
                                    <p:animEffect transition="out" filter="dissolve">
                                      <p:cBhvr>
                                        <p:cTn id="45" dur="500"/>
                                        <p:tgtEl>
                                          <p:spTgt spid="255"/>
                                        </p:tgtEl>
                                      </p:cBhvr>
                                    </p:animEffect>
                                    <p:set>
                                      <p:cBhvr>
                                        <p:cTn id="46" dur="1" fill="hold">
                                          <p:stCondLst>
                                            <p:cond delay="499"/>
                                          </p:stCondLst>
                                        </p:cTn>
                                        <p:tgtEl>
                                          <p:spTgt spid="255"/>
                                        </p:tgtEl>
                                        <p:attrNameLst>
                                          <p:attrName>style.visibility</p:attrName>
                                        </p:attrNameLst>
                                      </p:cBhvr>
                                      <p:to>
                                        <p:strVal val="hidden"/>
                                      </p:to>
                                    </p:set>
                                  </p:childTnLst>
                                </p:cTn>
                              </p:par>
                              <p:par>
                                <p:cTn id="47" presetID="9" presetClass="exit" presetSubtype="0" fill="hold" grpId="0" nodeType="withEffect">
                                  <p:stCondLst>
                                    <p:cond delay="0"/>
                                  </p:stCondLst>
                                  <p:childTnLst>
                                    <p:animEffect transition="out" filter="dissolve">
                                      <p:cBhvr>
                                        <p:cTn id="48" dur="500"/>
                                        <p:tgtEl>
                                          <p:spTgt spid="207"/>
                                        </p:tgtEl>
                                      </p:cBhvr>
                                    </p:animEffect>
                                    <p:set>
                                      <p:cBhvr>
                                        <p:cTn id="49" dur="1" fill="hold">
                                          <p:stCondLst>
                                            <p:cond delay="499"/>
                                          </p:stCondLst>
                                        </p:cTn>
                                        <p:tgtEl>
                                          <p:spTgt spid="20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6" grpId="0" animBg="1"/>
      <p:bldP spid="207" grpId="0" animBg="1"/>
      <p:bldP spid="212" grpId="0" animBg="1"/>
      <p:bldP spid="212" grpId="1" animBg="1"/>
      <p:bldP spid="169" grpId="0" animBg="1"/>
      <p:bldP spid="168"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2194000" y="3311397"/>
            <a:ext cx="648720" cy="641384"/>
          </a:xfrm>
          <a:prstGeom prst="ellipse">
            <a:avLst/>
          </a:prstGeom>
          <a:solidFill>
            <a:schemeClr val="bg1"/>
          </a:solidFill>
          <a:ln w="28575">
            <a:solidFill>
              <a:srgbClr val="00009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5" name="Straight Arrow Connector 4"/>
          <p:cNvCxnSpPr/>
          <p:nvPr/>
        </p:nvCxnSpPr>
        <p:spPr>
          <a:xfrm flipV="1">
            <a:off x="2491141" y="4004093"/>
            <a:ext cx="0" cy="799504"/>
          </a:xfrm>
          <a:prstGeom prst="straightConnector1">
            <a:avLst/>
          </a:prstGeom>
          <a:ln w="41275">
            <a:solidFill>
              <a:schemeClr val="tx1"/>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93" name="Straight Arrow Connector 92"/>
          <p:cNvCxnSpPr/>
          <p:nvPr/>
        </p:nvCxnSpPr>
        <p:spPr>
          <a:xfrm flipH="1" flipV="1">
            <a:off x="1514082" y="2562492"/>
            <a:ext cx="679918" cy="682403"/>
          </a:xfrm>
          <a:prstGeom prst="straightConnector1">
            <a:avLst/>
          </a:prstGeom>
          <a:ln w="41275">
            <a:solidFill>
              <a:schemeClr val="tx1"/>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95" name="Straight Arrow Connector 94"/>
          <p:cNvCxnSpPr/>
          <p:nvPr/>
        </p:nvCxnSpPr>
        <p:spPr>
          <a:xfrm flipV="1">
            <a:off x="2842720" y="2567146"/>
            <a:ext cx="679918" cy="682403"/>
          </a:xfrm>
          <a:prstGeom prst="straightConnector1">
            <a:avLst/>
          </a:prstGeom>
          <a:ln w="41275">
            <a:solidFill>
              <a:schemeClr val="tx1"/>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96" name="Straight Arrow Connector 95"/>
          <p:cNvCxnSpPr/>
          <p:nvPr/>
        </p:nvCxnSpPr>
        <p:spPr>
          <a:xfrm flipV="1">
            <a:off x="2487126" y="2359639"/>
            <a:ext cx="0" cy="799504"/>
          </a:xfrm>
          <a:prstGeom prst="straightConnector1">
            <a:avLst/>
          </a:prstGeom>
          <a:ln w="41275">
            <a:solidFill>
              <a:schemeClr val="tx1"/>
            </a:solidFill>
            <a:headEnd type="triangle"/>
            <a:tailEnd type="none"/>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1378407" y="5084262"/>
            <a:ext cx="2245527" cy="584776"/>
          </a:xfrm>
          <a:prstGeom prst="rect">
            <a:avLst/>
          </a:prstGeom>
          <a:noFill/>
        </p:spPr>
        <p:txBody>
          <a:bodyPr wrap="none" rtlCol="0">
            <a:spAutoFit/>
          </a:bodyPr>
          <a:lstStyle/>
          <a:p>
            <a:r>
              <a:rPr lang="en-US" sz="3200" dirty="0"/>
              <a:t>multiplexing</a:t>
            </a:r>
          </a:p>
        </p:txBody>
      </p:sp>
      <p:grpSp>
        <p:nvGrpSpPr>
          <p:cNvPr id="3" name="Group 2"/>
          <p:cNvGrpSpPr/>
          <p:nvPr/>
        </p:nvGrpSpPr>
        <p:grpSpPr>
          <a:xfrm>
            <a:off x="601318" y="1620912"/>
            <a:ext cx="4710462" cy="2780838"/>
            <a:chOff x="3726482" y="1134776"/>
            <a:chExt cx="4710462" cy="2780838"/>
          </a:xfrm>
        </p:grpSpPr>
        <p:pic>
          <p:nvPicPr>
            <p:cNvPr id="261" name="Picture 2" descr="Image result for firefox logo">
              <a:extLst>
                <a:ext uri="{FF2B5EF4-FFF2-40B4-BE49-F238E27FC236}">
                  <a16:creationId xmlns:a16="http://schemas.microsoft.com/office/drawing/2014/main" id="{51A92539-D075-5644-9056-10960E5147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16466" y="1134776"/>
              <a:ext cx="593575" cy="550669"/>
            </a:xfrm>
            <a:prstGeom prst="rect">
              <a:avLst/>
            </a:prstGeom>
            <a:noFill/>
            <a:extLst>
              <a:ext uri="{909E8E84-426E-40dd-AFC4-6F175D3DCCD1}">
                <a14:hiddenFill xmlns="" xmlns:a14="http://schemas.microsoft.com/office/drawing/2010/main">
                  <a:solidFill>
                    <a:srgbClr val="FFFFFF"/>
                  </a:solidFill>
                </a14:hiddenFill>
              </a:ext>
            </a:extLst>
          </p:spPr>
        </p:pic>
        <p:pic>
          <p:nvPicPr>
            <p:cNvPr id="1032" name="Picture 8" descr="Image result for skype logo">
              <a:extLst>
                <a:ext uri="{FF2B5EF4-FFF2-40B4-BE49-F238E27FC236}">
                  <a16:creationId xmlns:a16="http://schemas.microsoft.com/office/drawing/2014/main" id="{44A9474D-942F-134E-B292-6ADA4675334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84338" y="1410111"/>
              <a:ext cx="593575" cy="596651"/>
            </a:xfrm>
            <a:prstGeom prst="rect">
              <a:avLst/>
            </a:prstGeom>
            <a:noFill/>
            <a:extLst>
              <a:ext uri="{909E8E84-426E-40dd-AFC4-6F175D3DCCD1}">
                <a14:hiddenFill xmlns="" xmlns:a14="http://schemas.microsoft.com/office/drawing/2010/main">
                  <a:solidFill>
                    <a:srgbClr val="FFFFFF"/>
                  </a:solidFill>
                </a14:hiddenFill>
              </a:ext>
            </a:extLst>
          </p:spPr>
        </p:pic>
        <p:pic>
          <p:nvPicPr>
            <p:cNvPr id="1034" name="Picture 10" descr="Image result for netflix logo png">
              <a:extLst>
                <a:ext uri="{FF2B5EF4-FFF2-40B4-BE49-F238E27FC236}">
                  <a16:creationId xmlns:a16="http://schemas.microsoft.com/office/drawing/2014/main" id="{9F652FAF-7820-6141-9F34-FDF8AEACBE0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42637" y="1485789"/>
              <a:ext cx="1059694" cy="590567"/>
            </a:xfrm>
            <a:prstGeom prst="rect">
              <a:avLst/>
            </a:prstGeom>
            <a:noFill/>
            <a:extLst>
              <a:ext uri="{909E8E84-426E-40dd-AFC4-6F175D3DCCD1}">
                <a14:hiddenFill xmlns="" xmlns:a14="http://schemas.microsoft.com/office/drawing/2010/main">
                  <a:solidFill>
                    <a:srgbClr val="FFFFFF"/>
                  </a:solidFill>
                </a14:hiddenFill>
              </a:ext>
            </a:extLst>
          </p:spPr>
        </p:pic>
        <p:cxnSp>
          <p:nvCxnSpPr>
            <p:cNvPr id="13" name="Straight Connector 12"/>
            <p:cNvCxnSpPr/>
            <p:nvPr/>
          </p:nvCxnSpPr>
          <p:spPr>
            <a:xfrm>
              <a:off x="3726482" y="3915614"/>
              <a:ext cx="3925557" cy="0"/>
            </a:xfrm>
            <a:prstGeom prst="line">
              <a:avLst/>
            </a:prstGeom>
            <a:ln w="25400">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102" name="Straight Connector 101"/>
            <p:cNvCxnSpPr/>
            <p:nvPr/>
          </p:nvCxnSpPr>
          <p:spPr>
            <a:xfrm>
              <a:off x="3726482" y="2464553"/>
              <a:ext cx="4499617" cy="0"/>
            </a:xfrm>
            <a:prstGeom prst="line">
              <a:avLst/>
            </a:prstGeom>
            <a:ln w="25400">
              <a:solidFill>
                <a:schemeClr val="tx1"/>
              </a:solidFill>
              <a:prstDash val="dash"/>
            </a:ln>
          </p:spPr>
          <p:style>
            <a:lnRef idx="2">
              <a:schemeClr val="accent1"/>
            </a:lnRef>
            <a:fillRef idx="0">
              <a:schemeClr val="accent1"/>
            </a:fillRef>
            <a:effectRef idx="1">
              <a:schemeClr val="accent1"/>
            </a:effectRef>
            <a:fontRef idx="minor">
              <a:schemeClr val="tx1"/>
            </a:fontRef>
          </p:style>
        </p:cxnSp>
        <p:sp>
          <p:nvSpPr>
            <p:cNvPr id="104" name="TextBox 103"/>
            <p:cNvSpPr txBox="1"/>
            <p:nvPr/>
          </p:nvSpPr>
          <p:spPr>
            <a:xfrm>
              <a:off x="6867133" y="2931106"/>
              <a:ext cx="1358966" cy="461665"/>
            </a:xfrm>
            <a:prstGeom prst="rect">
              <a:avLst/>
            </a:prstGeom>
            <a:noFill/>
          </p:spPr>
          <p:txBody>
            <a:bodyPr wrap="none" rtlCol="0">
              <a:spAutoFit/>
            </a:bodyPr>
            <a:lstStyle/>
            <a:p>
              <a:r>
                <a:rPr lang="en-US" sz="2400" dirty="0"/>
                <a:t>transport</a:t>
              </a:r>
              <a:endParaRPr lang="en-US" sz="3200" dirty="0"/>
            </a:p>
          </p:txBody>
        </p:sp>
        <p:sp>
          <p:nvSpPr>
            <p:cNvPr id="105" name="TextBox 104"/>
            <p:cNvSpPr txBox="1"/>
            <p:nvPr/>
          </p:nvSpPr>
          <p:spPr>
            <a:xfrm>
              <a:off x="6867133" y="2025176"/>
              <a:ext cx="1569811" cy="461665"/>
            </a:xfrm>
            <a:prstGeom prst="rect">
              <a:avLst/>
            </a:prstGeom>
            <a:noFill/>
          </p:spPr>
          <p:txBody>
            <a:bodyPr wrap="none" rtlCol="0">
              <a:spAutoFit/>
            </a:bodyPr>
            <a:lstStyle/>
            <a:p>
              <a:r>
                <a:rPr lang="en-US" sz="2400" dirty="0"/>
                <a:t>application</a:t>
              </a:r>
              <a:endParaRPr lang="en-US" sz="3200" dirty="0"/>
            </a:p>
          </p:txBody>
        </p:sp>
      </p:grpSp>
      <p:grpSp>
        <p:nvGrpSpPr>
          <p:cNvPr id="4" name="Group 3">
            <a:extLst>
              <a:ext uri="{FF2B5EF4-FFF2-40B4-BE49-F238E27FC236}">
                <a16:creationId xmlns:a16="http://schemas.microsoft.com/office/drawing/2014/main" id="{81CBD44B-A4D7-88F9-E4DA-C20B1C206A14}"/>
              </a:ext>
            </a:extLst>
          </p:cNvPr>
          <p:cNvGrpSpPr/>
          <p:nvPr/>
        </p:nvGrpSpPr>
        <p:grpSpPr>
          <a:xfrm>
            <a:off x="6566622" y="1624011"/>
            <a:ext cx="4710462" cy="4048126"/>
            <a:chOff x="3726482" y="1134776"/>
            <a:chExt cx="4710462" cy="4048126"/>
          </a:xfrm>
        </p:grpSpPr>
        <p:sp>
          <p:nvSpPr>
            <p:cNvPr id="6" name="Oval 5"/>
            <p:cNvSpPr/>
            <p:nvPr/>
          </p:nvSpPr>
          <p:spPr>
            <a:xfrm>
              <a:off x="5319164" y="2825261"/>
              <a:ext cx="648720" cy="641384"/>
            </a:xfrm>
            <a:prstGeom prst="ellipse">
              <a:avLst/>
            </a:prstGeom>
            <a:solidFill>
              <a:schemeClr val="bg1"/>
            </a:solidFill>
            <a:ln w="28575">
              <a:solidFill>
                <a:srgbClr val="00009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7" name="Straight Arrow Connector 6"/>
            <p:cNvCxnSpPr/>
            <p:nvPr/>
          </p:nvCxnSpPr>
          <p:spPr>
            <a:xfrm flipV="1">
              <a:off x="5616305" y="3517957"/>
              <a:ext cx="0" cy="799504"/>
            </a:xfrm>
            <a:prstGeom prst="straightConnector1">
              <a:avLst/>
            </a:prstGeom>
            <a:ln w="4127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428699" y="2758759"/>
              <a:ext cx="422361" cy="707886"/>
            </a:xfrm>
            <a:prstGeom prst="rect">
              <a:avLst/>
            </a:prstGeom>
            <a:noFill/>
          </p:spPr>
          <p:txBody>
            <a:bodyPr wrap="none" rtlCol="0">
              <a:spAutoFit/>
            </a:bodyPr>
            <a:lstStyle/>
            <a:p>
              <a:r>
                <a:rPr lang="en-US" sz="4000" b="1" dirty="0"/>
                <a:t>?</a:t>
              </a:r>
            </a:p>
          </p:txBody>
        </p:sp>
        <p:cxnSp>
          <p:nvCxnSpPr>
            <p:cNvPr id="9" name="Straight Arrow Connector 8"/>
            <p:cNvCxnSpPr/>
            <p:nvPr/>
          </p:nvCxnSpPr>
          <p:spPr>
            <a:xfrm flipH="1" flipV="1">
              <a:off x="4639246" y="2076356"/>
              <a:ext cx="679918" cy="682403"/>
            </a:xfrm>
            <a:prstGeom prst="straightConnector1">
              <a:avLst/>
            </a:prstGeom>
            <a:ln w="412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0" name="Straight Arrow Connector 9"/>
            <p:cNvCxnSpPr/>
            <p:nvPr/>
          </p:nvCxnSpPr>
          <p:spPr>
            <a:xfrm flipV="1">
              <a:off x="5967884" y="2081010"/>
              <a:ext cx="679918" cy="682403"/>
            </a:xfrm>
            <a:prstGeom prst="straightConnector1">
              <a:avLst/>
            </a:prstGeom>
            <a:ln w="412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p:cNvCxnSpPr/>
            <p:nvPr/>
          </p:nvCxnSpPr>
          <p:spPr>
            <a:xfrm flipV="1">
              <a:off x="5612290" y="1873503"/>
              <a:ext cx="0" cy="799504"/>
            </a:xfrm>
            <a:prstGeom prst="straightConnector1">
              <a:avLst/>
            </a:prstGeom>
            <a:ln w="4127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216816" y="4598126"/>
              <a:ext cx="2790948" cy="584776"/>
            </a:xfrm>
            <a:prstGeom prst="rect">
              <a:avLst/>
            </a:prstGeom>
            <a:noFill/>
          </p:spPr>
          <p:txBody>
            <a:bodyPr wrap="none" rtlCol="0">
              <a:spAutoFit/>
            </a:bodyPr>
            <a:lstStyle/>
            <a:p>
              <a:r>
                <a:rPr lang="en-US" sz="3200" dirty="0"/>
                <a:t>de-multiplexing</a:t>
              </a:r>
            </a:p>
          </p:txBody>
        </p:sp>
        <p:grpSp>
          <p:nvGrpSpPr>
            <p:cNvPr id="15" name="Group 14"/>
            <p:cNvGrpSpPr/>
            <p:nvPr/>
          </p:nvGrpSpPr>
          <p:grpSpPr>
            <a:xfrm>
              <a:off x="3726482" y="1134776"/>
              <a:ext cx="4710462" cy="2780838"/>
              <a:chOff x="3726482" y="1134776"/>
              <a:chExt cx="4710462" cy="2780838"/>
            </a:xfrm>
          </p:grpSpPr>
          <p:pic>
            <p:nvPicPr>
              <p:cNvPr id="16" name="Picture 2" descr="Image result for firefox logo">
                <a:extLst>
                  <a:ext uri="{FF2B5EF4-FFF2-40B4-BE49-F238E27FC236}">
                    <a16:creationId xmlns:a16="http://schemas.microsoft.com/office/drawing/2014/main" id="{51A92539-D075-5644-9056-10960E5147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16466" y="1134776"/>
                <a:ext cx="593575" cy="550669"/>
              </a:xfrm>
              <a:prstGeom prst="rect">
                <a:avLst/>
              </a:prstGeom>
              <a:noFill/>
              <a:extLst>
                <a:ext uri="{909E8E84-426E-40dd-AFC4-6F175D3DCCD1}">
                  <a14:hiddenFill xmlns="" xmlns:a14="http://schemas.microsoft.com/office/drawing/2010/main">
                    <a:solidFill>
                      <a:srgbClr val="FFFFFF"/>
                    </a:solidFill>
                  </a14:hiddenFill>
                </a:ext>
              </a:extLst>
            </p:spPr>
          </p:pic>
          <p:pic>
            <p:nvPicPr>
              <p:cNvPr id="17" name="Picture 8" descr="Image result for skype logo">
                <a:extLst>
                  <a:ext uri="{FF2B5EF4-FFF2-40B4-BE49-F238E27FC236}">
                    <a16:creationId xmlns:a16="http://schemas.microsoft.com/office/drawing/2014/main" id="{44A9474D-942F-134E-B292-6ADA4675334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84338" y="1410111"/>
                <a:ext cx="593575" cy="596651"/>
              </a:xfrm>
              <a:prstGeom prst="rect">
                <a:avLst/>
              </a:prstGeom>
              <a:noFill/>
              <a:extLst>
                <a:ext uri="{909E8E84-426E-40dd-AFC4-6F175D3DCCD1}">
                  <a14:hiddenFill xmlns="" xmlns:a14="http://schemas.microsoft.com/office/drawing/2010/main">
                    <a:solidFill>
                      <a:srgbClr val="FFFFFF"/>
                    </a:solidFill>
                  </a14:hiddenFill>
                </a:ext>
              </a:extLst>
            </p:spPr>
          </p:pic>
          <p:pic>
            <p:nvPicPr>
              <p:cNvPr id="18" name="Picture 10" descr="Image result for netflix logo png">
                <a:extLst>
                  <a:ext uri="{FF2B5EF4-FFF2-40B4-BE49-F238E27FC236}">
                    <a16:creationId xmlns:a16="http://schemas.microsoft.com/office/drawing/2014/main" id="{9F652FAF-7820-6141-9F34-FDF8AEACBE0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42637" y="1485789"/>
                <a:ext cx="1059694" cy="590567"/>
              </a:xfrm>
              <a:prstGeom prst="rect">
                <a:avLst/>
              </a:prstGeom>
              <a:noFill/>
              <a:extLst>
                <a:ext uri="{909E8E84-426E-40dd-AFC4-6F175D3DCCD1}">
                  <a14:hiddenFill xmlns="" xmlns:a14="http://schemas.microsoft.com/office/drawing/2010/main">
                    <a:solidFill>
                      <a:srgbClr val="FFFFFF"/>
                    </a:solidFill>
                  </a14:hiddenFill>
                </a:ext>
              </a:extLst>
            </p:spPr>
          </p:pic>
          <p:cxnSp>
            <p:nvCxnSpPr>
              <p:cNvPr id="19" name="Straight Connector 18"/>
              <p:cNvCxnSpPr/>
              <p:nvPr/>
            </p:nvCxnSpPr>
            <p:spPr>
              <a:xfrm>
                <a:off x="3726482" y="3915614"/>
                <a:ext cx="3925557" cy="0"/>
              </a:xfrm>
              <a:prstGeom prst="line">
                <a:avLst/>
              </a:prstGeom>
              <a:ln w="25400">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3726482" y="2464553"/>
                <a:ext cx="4499617" cy="0"/>
              </a:xfrm>
              <a:prstGeom prst="line">
                <a:avLst/>
              </a:prstGeom>
              <a:ln w="25400">
                <a:solidFill>
                  <a:schemeClr val="tx1"/>
                </a:solidFill>
                <a:prstDash val="dash"/>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867133" y="2931106"/>
                <a:ext cx="1358966" cy="461665"/>
              </a:xfrm>
              <a:prstGeom prst="rect">
                <a:avLst/>
              </a:prstGeom>
              <a:noFill/>
            </p:spPr>
            <p:txBody>
              <a:bodyPr wrap="none" rtlCol="0">
                <a:spAutoFit/>
              </a:bodyPr>
              <a:lstStyle/>
              <a:p>
                <a:r>
                  <a:rPr lang="en-US" sz="2400" dirty="0"/>
                  <a:t>transport</a:t>
                </a:r>
                <a:endParaRPr lang="en-US" sz="3200" dirty="0"/>
              </a:p>
            </p:txBody>
          </p:sp>
          <p:sp>
            <p:nvSpPr>
              <p:cNvPr id="22" name="TextBox 21"/>
              <p:cNvSpPr txBox="1"/>
              <p:nvPr/>
            </p:nvSpPr>
            <p:spPr>
              <a:xfrm>
                <a:off x="6867133" y="2025176"/>
                <a:ext cx="1569811" cy="461665"/>
              </a:xfrm>
              <a:prstGeom prst="rect">
                <a:avLst/>
              </a:prstGeom>
              <a:noFill/>
            </p:spPr>
            <p:txBody>
              <a:bodyPr wrap="none" rtlCol="0">
                <a:spAutoFit/>
              </a:bodyPr>
              <a:lstStyle/>
              <a:p>
                <a:r>
                  <a:rPr lang="en-US" sz="2400" dirty="0"/>
                  <a:t>application</a:t>
                </a:r>
                <a:endParaRPr lang="en-US" sz="3200" dirty="0"/>
              </a:p>
            </p:txBody>
          </p:sp>
        </p:grpSp>
      </p:grpSp>
      <p:sp>
        <p:nvSpPr>
          <p:cNvPr id="23" name="Title 1">
            <a:extLst>
              <a:ext uri="{FF2B5EF4-FFF2-40B4-BE49-F238E27FC236}">
                <a16:creationId xmlns:a16="http://schemas.microsoft.com/office/drawing/2014/main" id="{5762FDC5-681C-F679-621E-52236221D656}"/>
              </a:ext>
            </a:extLst>
          </p:cNvPr>
          <p:cNvSpPr>
            <a:spLocks noGrp="1"/>
          </p:cNvSpPr>
          <p:nvPr>
            <p:ph type="title"/>
          </p:nvPr>
        </p:nvSpPr>
        <p:spPr>
          <a:xfrm>
            <a:off x="798690" y="9025"/>
            <a:ext cx="11100625" cy="894622"/>
          </a:xfrm>
        </p:spPr>
        <p:txBody>
          <a:bodyPr>
            <a:normAutofit/>
          </a:bodyPr>
          <a:lstStyle/>
          <a:p>
            <a:r>
              <a:rPr lang="en-US" sz="4400" dirty="0"/>
              <a:t>Multiplexing/demultiplexing</a:t>
            </a:r>
          </a:p>
        </p:txBody>
      </p:sp>
    </p:spTree>
    <p:extLst>
      <p:ext uri="{BB962C8B-B14F-4D97-AF65-F5344CB8AC3E}">
        <p14:creationId xmlns:p14="http://schemas.microsoft.com/office/powerpoint/2010/main" val="2262739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08AF567B-A744-BF46-B80D-389C2E4393B6}"/>
              </a:ext>
            </a:extLst>
          </p:cNvPr>
          <p:cNvGrpSpPr/>
          <p:nvPr/>
        </p:nvGrpSpPr>
        <p:grpSpPr>
          <a:xfrm>
            <a:off x="141514" y="827314"/>
            <a:ext cx="11908971" cy="4739615"/>
            <a:chOff x="2511281" y="3262667"/>
            <a:chExt cx="7770812" cy="3121540"/>
          </a:xfrm>
        </p:grpSpPr>
        <p:sp>
          <p:nvSpPr>
            <p:cNvPr id="132" name="Freeform 157">
              <a:extLst>
                <a:ext uri="{FF2B5EF4-FFF2-40B4-BE49-F238E27FC236}">
                  <a16:creationId xmlns:a16="http://schemas.microsoft.com/office/drawing/2014/main" id="{511A693F-4BF3-344C-BDC6-28BAA983976E}"/>
                </a:ext>
              </a:extLst>
            </p:cNvPr>
            <p:cNvSpPr>
              <a:spLocks/>
            </p:cNvSpPr>
            <p:nvPr/>
          </p:nvSpPr>
          <p:spPr bwMode="auto">
            <a:xfrm>
              <a:off x="5108431" y="3572744"/>
              <a:ext cx="552450" cy="2082800"/>
            </a:xfrm>
            <a:custGeom>
              <a:avLst/>
              <a:gdLst>
                <a:gd name="T0" fmla="*/ 0 w 348"/>
                <a:gd name="T1" fmla="*/ 2147483647 h 1312"/>
                <a:gd name="T2" fmla="*/ 2147483647 w 348"/>
                <a:gd name="T3" fmla="*/ 0 h 1312"/>
                <a:gd name="T4" fmla="*/ 2147483647 w 348"/>
                <a:gd name="T5" fmla="*/ 2147483647 h 1312"/>
                <a:gd name="T6" fmla="*/ 2147483647 w 348"/>
                <a:gd name="T7" fmla="*/ 2147483647 h 1312"/>
                <a:gd name="T8" fmla="*/ 0 w 348"/>
                <a:gd name="T9" fmla="*/ 2147483647 h 13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8" h="1312">
                  <a:moveTo>
                    <a:pt x="0" y="1306"/>
                  </a:moveTo>
                  <a:lnTo>
                    <a:pt x="348" y="0"/>
                  </a:lnTo>
                  <a:lnTo>
                    <a:pt x="342" y="1258"/>
                  </a:lnTo>
                  <a:lnTo>
                    <a:pt x="180" y="1312"/>
                  </a:lnTo>
                  <a:lnTo>
                    <a:pt x="0" y="1306"/>
                  </a:lnTo>
                  <a:close/>
                </a:path>
              </a:pathLst>
            </a:custGeom>
            <a:gradFill rotWithShape="1">
              <a:gsLst>
                <a:gs pos="0">
                  <a:srgbClr val="FFFFFF"/>
                </a:gs>
                <a:gs pos="100000">
                  <a:srgbClr val="B2B2B2"/>
                </a:gs>
              </a:gsLst>
              <a:lin ang="0" scaled="1"/>
            </a:gradFill>
            <a:ln w="9525">
              <a:solidFill>
                <a:srgbClr val="DDDDDD"/>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45" name="Rectangle 23">
              <a:extLst>
                <a:ext uri="{FF2B5EF4-FFF2-40B4-BE49-F238E27FC236}">
                  <a16:creationId xmlns:a16="http://schemas.microsoft.com/office/drawing/2014/main" id="{F1314FFD-BA11-A042-BA84-1061E3729058}"/>
                </a:ext>
              </a:extLst>
            </p:cNvPr>
            <p:cNvSpPr>
              <a:spLocks noChangeArrowheads="1"/>
            </p:cNvSpPr>
            <p:nvPr/>
          </p:nvSpPr>
          <p:spPr bwMode="auto">
            <a:xfrm>
              <a:off x="5656118" y="3623544"/>
              <a:ext cx="1497013" cy="1981200"/>
            </a:xfrm>
            <a:prstGeom prst="rect">
              <a:avLst/>
            </a:prstGeom>
            <a:solidFill>
              <a:srgbClr val="000099"/>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46" name="Rectangle 24">
              <a:extLst>
                <a:ext uri="{FF2B5EF4-FFF2-40B4-BE49-F238E27FC236}">
                  <a16:creationId xmlns:a16="http://schemas.microsoft.com/office/drawing/2014/main" id="{89D8A59C-E128-B74A-B94F-06FAC9DB7326}"/>
                </a:ext>
              </a:extLst>
            </p:cNvPr>
            <p:cNvSpPr>
              <a:spLocks noChangeArrowheads="1"/>
            </p:cNvSpPr>
            <p:nvPr/>
          </p:nvSpPr>
          <p:spPr bwMode="auto">
            <a:xfrm>
              <a:off x="5621193" y="3677519"/>
              <a:ext cx="1473200" cy="1979613"/>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47" name="Line 25">
              <a:extLst>
                <a:ext uri="{FF2B5EF4-FFF2-40B4-BE49-F238E27FC236}">
                  <a16:creationId xmlns:a16="http://schemas.microsoft.com/office/drawing/2014/main" id="{B922FB1F-8B1A-1843-A740-29E910EB3E97}"/>
                </a:ext>
              </a:extLst>
            </p:cNvPr>
            <p:cNvSpPr>
              <a:spLocks noChangeShapeType="1"/>
            </p:cNvSpPr>
            <p:nvPr/>
          </p:nvSpPr>
          <p:spPr bwMode="auto">
            <a:xfrm>
              <a:off x="5627543" y="4447457"/>
              <a:ext cx="1460500" cy="3175"/>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48" name="Text Box 26">
              <a:extLst>
                <a:ext uri="{FF2B5EF4-FFF2-40B4-BE49-F238E27FC236}">
                  <a16:creationId xmlns:a16="http://schemas.microsoft.com/office/drawing/2014/main" id="{BE3B5056-5F96-5946-AEC3-17140DB163F4}"/>
                </a:ext>
              </a:extLst>
            </p:cNvPr>
            <p:cNvSpPr txBox="1">
              <a:spLocks noChangeArrowheads="1"/>
            </p:cNvSpPr>
            <p:nvPr/>
          </p:nvSpPr>
          <p:spPr bwMode="auto">
            <a:xfrm>
              <a:off x="5698981" y="4480178"/>
              <a:ext cx="1317625" cy="28996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transport</a:t>
              </a:r>
            </a:p>
          </p:txBody>
        </p:sp>
        <p:sp>
          <p:nvSpPr>
            <p:cNvPr id="149" name="Line 27">
              <a:extLst>
                <a:ext uri="{FF2B5EF4-FFF2-40B4-BE49-F238E27FC236}">
                  <a16:creationId xmlns:a16="http://schemas.microsoft.com/office/drawing/2014/main" id="{FF1A214D-FBCE-7342-8332-F3FA9C577B4A}"/>
                </a:ext>
              </a:extLst>
            </p:cNvPr>
            <p:cNvSpPr>
              <a:spLocks noChangeShapeType="1"/>
            </p:cNvSpPr>
            <p:nvPr/>
          </p:nvSpPr>
          <p:spPr bwMode="auto">
            <a:xfrm>
              <a:off x="5629131" y="4764957"/>
              <a:ext cx="1457325" cy="0"/>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51" name="Text Box 26">
              <a:extLst>
                <a:ext uri="{FF2B5EF4-FFF2-40B4-BE49-F238E27FC236}">
                  <a16:creationId xmlns:a16="http://schemas.microsoft.com/office/drawing/2014/main" id="{50D62C6A-4C80-854F-A4B8-723E99A5A7F0}"/>
                </a:ext>
              </a:extLst>
            </p:cNvPr>
            <p:cNvSpPr txBox="1">
              <a:spLocks noChangeArrowheads="1"/>
            </p:cNvSpPr>
            <p:nvPr/>
          </p:nvSpPr>
          <p:spPr bwMode="auto">
            <a:xfrm>
              <a:off x="5692631" y="5377884"/>
              <a:ext cx="1317625" cy="28996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physical</a:t>
              </a:r>
            </a:p>
          </p:txBody>
        </p:sp>
        <p:sp>
          <p:nvSpPr>
            <p:cNvPr id="152" name="Text Box 26">
              <a:extLst>
                <a:ext uri="{FF2B5EF4-FFF2-40B4-BE49-F238E27FC236}">
                  <a16:creationId xmlns:a16="http://schemas.microsoft.com/office/drawing/2014/main" id="{A79D3A45-C33B-7046-9088-A02FAACCA14B}"/>
                </a:ext>
              </a:extLst>
            </p:cNvPr>
            <p:cNvSpPr txBox="1">
              <a:spLocks noChangeArrowheads="1"/>
            </p:cNvSpPr>
            <p:nvPr/>
          </p:nvSpPr>
          <p:spPr bwMode="auto">
            <a:xfrm>
              <a:off x="5692631" y="5084965"/>
              <a:ext cx="1317625" cy="28996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link</a:t>
              </a:r>
            </a:p>
          </p:txBody>
        </p:sp>
        <p:sp>
          <p:nvSpPr>
            <p:cNvPr id="153" name="Text Box 26">
              <a:extLst>
                <a:ext uri="{FF2B5EF4-FFF2-40B4-BE49-F238E27FC236}">
                  <a16:creationId xmlns:a16="http://schemas.microsoft.com/office/drawing/2014/main" id="{F3520259-D4C5-3340-8000-3B8C746A7797}"/>
                </a:ext>
              </a:extLst>
            </p:cNvPr>
            <p:cNvSpPr txBox="1">
              <a:spLocks noChangeArrowheads="1"/>
            </p:cNvSpPr>
            <p:nvPr/>
          </p:nvSpPr>
          <p:spPr bwMode="auto">
            <a:xfrm>
              <a:off x="5692631" y="4793686"/>
              <a:ext cx="1317625" cy="28996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network</a:t>
              </a:r>
            </a:p>
          </p:txBody>
        </p:sp>
        <p:sp>
          <p:nvSpPr>
            <p:cNvPr id="155" name="Line 27">
              <a:extLst>
                <a:ext uri="{FF2B5EF4-FFF2-40B4-BE49-F238E27FC236}">
                  <a16:creationId xmlns:a16="http://schemas.microsoft.com/office/drawing/2014/main" id="{E1326351-38D1-A440-A7B8-5079367D54AC}"/>
                </a:ext>
              </a:extLst>
            </p:cNvPr>
            <p:cNvSpPr>
              <a:spLocks noChangeShapeType="1"/>
            </p:cNvSpPr>
            <p:nvPr/>
          </p:nvSpPr>
          <p:spPr bwMode="auto">
            <a:xfrm>
              <a:off x="5625956" y="5076107"/>
              <a:ext cx="1457325" cy="0"/>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56" name="Line 27">
              <a:extLst>
                <a:ext uri="{FF2B5EF4-FFF2-40B4-BE49-F238E27FC236}">
                  <a16:creationId xmlns:a16="http://schemas.microsoft.com/office/drawing/2014/main" id="{891B0B5D-A14D-1A40-B291-CC1A04A094FC}"/>
                </a:ext>
              </a:extLst>
            </p:cNvPr>
            <p:cNvSpPr>
              <a:spLocks noChangeShapeType="1"/>
            </p:cNvSpPr>
            <p:nvPr/>
          </p:nvSpPr>
          <p:spPr bwMode="auto">
            <a:xfrm>
              <a:off x="5622781" y="5374557"/>
              <a:ext cx="1457325" cy="0"/>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0" name="Rectangle 23">
              <a:extLst>
                <a:ext uri="{FF2B5EF4-FFF2-40B4-BE49-F238E27FC236}">
                  <a16:creationId xmlns:a16="http://schemas.microsoft.com/office/drawing/2014/main" id="{18A5F7E9-E597-8A49-8FBA-5EBCB6131519}"/>
                </a:ext>
              </a:extLst>
            </p:cNvPr>
            <p:cNvSpPr>
              <a:spLocks noChangeArrowheads="1"/>
            </p:cNvSpPr>
            <p:nvPr/>
          </p:nvSpPr>
          <p:spPr bwMode="auto">
            <a:xfrm>
              <a:off x="7918306" y="3993432"/>
              <a:ext cx="1296987" cy="1981200"/>
            </a:xfrm>
            <a:prstGeom prst="rect">
              <a:avLst/>
            </a:prstGeom>
            <a:solidFill>
              <a:srgbClr val="000099"/>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71" name="Rectangle 24">
              <a:extLst>
                <a:ext uri="{FF2B5EF4-FFF2-40B4-BE49-F238E27FC236}">
                  <a16:creationId xmlns:a16="http://schemas.microsoft.com/office/drawing/2014/main" id="{5DFFE03C-FB1C-D742-84E9-52CBDDB98DB1}"/>
                </a:ext>
              </a:extLst>
            </p:cNvPr>
            <p:cNvSpPr>
              <a:spLocks noChangeArrowheads="1"/>
            </p:cNvSpPr>
            <p:nvPr/>
          </p:nvSpPr>
          <p:spPr bwMode="auto">
            <a:xfrm>
              <a:off x="7880206" y="4047407"/>
              <a:ext cx="1273175" cy="1979612"/>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72" name="Line 25">
              <a:extLst>
                <a:ext uri="{FF2B5EF4-FFF2-40B4-BE49-F238E27FC236}">
                  <a16:creationId xmlns:a16="http://schemas.microsoft.com/office/drawing/2014/main" id="{5AD7BC14-F444-E745-8910-70D580A778B1}"/>
                </a:ext>
              </a:extLst>
            </p:cNvPr>
            <p:cNvSpPr>
              <a:spLocks noChangeShapeType="1"/>
            </p:cNvSpPr>
            <p:nvPr/>
          </p:nvSpPr>
          <p:spPr bwMode="auto">
            <a:xfrm>
              <a:off x="7889731" y="4807819"/>
              <a:ext cx="1263650" cy="3175"/>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3" name="Text Box 26">
              <a:extLst>
                <a:ext uri="{FF2B5EF4-FFF2-40B4-BE49-F238E27FC236}">
                  <a16:creationId xmlns:a16="http://schemas.microsoft.com/office/drawing/2014/main" id="{1058B2AB-1EA8-1A46-9E03-D8FFDD9E541B}"/>
                </a:ext>
              </a:extLst>
            </p:cNvPr>
            <p:cNvSpPr txBox="1">
              <a:spLocks noChangeArrowheads="1"/>
            </p:cNvSpPr>
            <p:nvPr/>
          </p:nvSpPr>
          <p:spPr bwMode="auto">
            <a:xfrm>
              <a:off x="7846868" y="4833372"/>
              <a:ext cx="1317625" cy="28996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transport</a:t>
              </a:r>
            </a:p>
          </p:txBody>
        </p:sp>
        <p:sp>
          <p:nvSpPr>
            <p:cNvPr id="174" name="Line 27">
              <a:extLst>
                <a:ext uri="{FF2B5EF4-FFF2-40B4-BE49-F238E27FC236}">
                  <a16:creationId xmlns:a16="http://schemas.microsoft.com/office/drawing/2014/main" id="{3A83CA24-DF84-F740-B870-F5C298378EA2}"/>
                </a:ext>
              </a:extLst>
            </p:cNvPr>
            <p:cNvSpPr>
              <a:spLocks noChangeShapeType="1"/>
            </p:cNvSpPr>
            <p:nvPr/>
          </p:nvSpPr>
          <p:spPr bwMode="auto">
            <a:xfrm>
              <a:off x="7897668" y="5128494"/>
              <a:ext cx="1263650" cy="3175"/>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5" name="Line 28">
              <a:extLst>
                <a:ext uri="{FF2B5EF4-FFF2-40B4-BE49-F238E27FC236}">
                  <a16:creationId xmlns:a16="http://schemas.microsoft.com/office/drawing/2014/main" id="{1D5846CF-9A4C-784A-A5A4-98F8F1486DDE}"/>
                </a:ext>
              </a:extLst>
            </p:cNvPr>
            <p:cNvSpPr>
              <a:spLocks noChangeShapeType="1"/>
            </p:cNvSpPr>
            <p:nvPr/>
          </p:nvSpPr>
          <p:spPr bwMode="auto">
            <a:xfrm>
              <a:off x="7883381" y="5438057"/>
              <a:ext cx="1263650" cy="3175"/>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6" name="Line 29">
              <a:extLst>
                <a:ext uri="{FF2B5EF4-FFF2-40B4-BE49-F238E27FC236}">
                  <a16:creationId xmlns:a16="http://schemas.microsoft.com/office/drawing/2014/main" id="{987AF988-33D7-A644-9737-1635D99E92DD}"/>
                </a:ext>
              </a:extLst>
            </p:cNvPr>
            <p:cNvSpPr>
              <a:spLocks noChangeShapeType="1"/>
            </p:cNvSpPr>
            <p:nvPr/>
          </p:nvSpPr>
          <p:spPr bwMode="auto">
            <a:xfrm>
              <a:off x="7883381" y="5723807"/>
              <a:ext cx="1263650" cy="3175"/>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7" name="Text Box 26">
              <a:extLst>
                <a:ext uri="{FF2B5EF4-FFF2-40B4-BE49-F238E27FC236}">
                  <a16:creationId xmlns:a16="http://schemas.microsoft.com/office/drawing/2014/main" id="{DC53D19A-63B2-7141-9008-9BC3F678052E}"/>
                </a:ext>
              </a:extLst>
            </p:cNvPr>
            <p:cNvSpPr txBox="1">
              <a:spLocks noChangeArrowheads="1"/>
            </p:cNvSpPr>
            <p:nvPr/>
          </p:nvSpPr>
          <p:spPr bwMode="auto">
            <a:xfrm>
              <a:off x="7881793" y="4037882"/>
              <a:ext cx="1317625" cy="28996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application</a:t>
              </a:r>
            </a:p>
          </p:txBody>
        </p:sp>
        <p:sp>
          <p:nvSpPr>
            <p:cNvPr id="178" name="Text Box 26">
              <a:extLst>
                <a:ext uri="{FF2B5EF4-FFF2-40B4-BE49-F238E27FC236}">
                  <a16:creationId xmlns:a16="http://schemas.microsoft.com/office/drawing/2014/main" id="{668FFB30-2FA6-AE41-99EF-4D74E37F3EF5}"/>
                </a:ext>
              </a:extLst>
            </p:cNvPr>
            <p:cNvSpPr txBox="1">
              <a:spLocks noChangeArrowheads="1"/>
            </p:cNvSpPr>
            <p:nvPr/>
          </p:nvSpPr>
          <p:spPr bwMode="auto">
            <a:xfrm>
              <a:off x="7837343" y="5745416"/>
              <a:ext cx="1317625" cy="28996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physical</a:t>
              </a:r>
            </a:p>
          </p:txBody>
        </p:sp>
        <p:sp>
          <p:nvSpPr>
            <p:cNvPr id="179" name="Text Box 26">
              <a:extLst>
                <a:ext uri="{FF2B5EF4-FFF2-40B4-BE49-F238E27FC236}">
                  <a16:creationId xmlns:a16="http://schemas.microsoft.com/office/drawing/2014/main" id="{9646084A-4EA0-5345-8A3E-91D3475359E6}"/>
                </a:ext>
              </a:extLst>
            </p:cNvPr>
            <p:cNvSpPr txBox="1">
              <a:spLocks noChangeArrowheads="1"/>
            </p:cNvSpPr>
            <p:nvPr/>
          </p:nvSpPr>
          <p:spPr bwMode="auto">
            <a:xfrm>
              <a:off x="7849290" y="5438159"/>
              <a:ext cx="1317625" cy="28996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link</a:t>
              </a:r>
            </a:p>
          </p:txBody>
        </p:sp>
        <p:sp>
          <p:nvSpPr>
            <p:cNvPr id="180" name="Text Box 26">
              <a:extLst>
                <a:ext uri="{FF2B5EF4-FFF2-40B4-BE49-F238E27FC236}">
                  <a16:creationId xmlns:a16="http://schemas.microsoft.com/office/drawing/2014/main" id="{9FDE009F-BD4C-6B4C-A66D-690533C0F57F}"/>
                </a:ext>
              </a:extLst>
            </p:cNvPr>
            <p:cNvSpPr txBox="1">
              <a:spLocks noChangeArrowheads="1"/>
            </p:cNvSpPr>
            <p:nvPr/>
          </p:nvSpPr>
          <p:spPr bwMode="auto">
            <a:xfrm>
              <a:off x="7846868" y="5150053"/>
              <a:ext cx="1317625" cy="28996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network</a:t>
              </a:r>
            </a:p>
          </p:txBody>
        </p:sp>
        <p:sp>
          <p:nvSpPr>
            <p:cNvPr id="182" name="Freeform 103">
              <a:extLst>
                <a:ext uri="{FF2B5EF4-FFF2-40B4-BE49-F238E27FC236}">
                  <a16:creationId xmlns:a16="http://schemas.microsoft.com/office/drawing/2014/main" id="{DEF6D5D3-E4DA-4B46-BBC5-93311E115D92}"/>
                </a:ext>
              </a:extLst>
            </p:cNvPr>
            <p:cNvSpPr>
              <a:spLocks/>
            </p:cNvSpPr>
            <p:nvPr/>
          </p:nvSpPr>
          <p:spPr bwMode="auto">
            <a:xfrm>
              <a:off x="9166081" y="4025182"/>
              <a:ext cx="581025" cy="2038350"/>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solidFill>
                <a:srgbClr val="DDDDDD"/>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3" name="Freeform 70">
              <a:extLst>
                <a:ext uri="{FF2B5EF4-FFF2-40B4-BE49-F238E27FC236}">
                  <a16:creationId xmlns:a16="http://schemas.microsoft.com/office/drawing/2014/main" id="{4A88383C-61F9-1949-9D88-EC83EDA3F2B6}"/>
                </a:ext>
              </a:extLst>
            </p:cNvPr>
            <p:cNvSpPr>
              <a:spLocks/>
            </p:cNvSpPr>
            <p:nvPr/>
          </p:nvSpPr>
          <p:spPr bwMode="auto">
            <a:xfrm>
              <a:off x="2976418" y="4045819"/>
              <a:ext cx="552450" cy="2082800"/>
            </a:xfrm>
            <a:custGeom>
              <a:avLst/>
              <a:gdLst>
                <a:gd name="T0" fmla="*/ 0 w 348"/>
                <a:gd name="T1" fmla="*/ 2147483647 h 1312"/>
                <a:gd name="T2" fmla="*/ 2147483647 w 348"/>
                <a:gd name="T3" fmla="*/ 0 h 1312"/>
                <a:gd name="T4" fmla="*/ 2147483647 w 348"/>
                <a:gd name="T5" fmla="*/ 2147483647 h 1312"/>
                <a:gd name="T6" fmla="*/ 2147483647 w 348"/>
                <a:gd name="T7" fmla="*/ 2147483647 h 1312"/>
                <a:gd name="T8" fmla="*/ 0 w 348"/>
                <a:gd name="T9" fmla="*/ 2147483647 h 13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8" h="1312">
                  <a:moveTo>
                    <a:pt x="0" y="1306"/>
                  </a:moveTo>
                  <a:lnTo>
                    <a:pt x="348" y="0"/>
                  </a:lnTo>
                  <a:lnTo>
                    <a:pt x="342" y="1258"/>
                  </a:lnTo>
                  <a:lnTo>
                    <a:pt x="180" y="1312"/>
                  </a:lnTo>
                  <a:lnTo>
                    <a:pt x="0" y="1306"/>
                  </a:lnTo>
                  <a:close/>
                </a:path>
              </a:pathLst>
            </a:custGeom>
            <a:gradFill rotWithShape="1">
              <a:gsLst>
                <a:gs pos="0">
                  <a:srgbClr val="FFFFFF"/>
                </a:gs>
                <a:gs pos="100000">
                  <a:srgbClr val="B2B2B2"/>
                </a:gs>
              </a:gsLst>
              <a:lin ang="0" scaled="1"/>
            </a:gradFill>
            <a:ln w="9525">
              <a:solidFill>
                <a:srgbClr val="DDDDDD"/>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4" name="Rectangle 23">
              <a:extLst>
                <a:ext uri="{FF2B5EF4-FFF2-40B4-BE49-F238E27FC236}">
                  <a16:creationId xmlns:a16="http://schemas.microsoft.com/office/drawing/2014/main" id="{AC94A5E0-4794-4246-825A-61CE412794C5}"/>
                </a:ext>
              </a:extLst>
            </p:cNvPr>
            <p:cNvSpPr>
              <a:spLocks noChangeArrowheads="1"/>
            </p:cNvSpPr>
            <p:nvPr/>
          </p:nvSpPr>
          <p:spPr bwMode="auto">
            <a:xfrm>
              <a:off x="3573318" y="4001369"/>
              <a:ext cx="1296988" cy="1981200"/>
            </a:xfrm>
            <a:prstGeom prst="rect">
              <a:avLst/>
            </a:prstGeom>
            <a:solidFill>
              <a:srgbClr val="000099"/>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85" name="Rectangle 24">
              <a:extLst>
                <a:ext uri="{FF2B5EF4-FFF2-40B4-BE49-F238E27FC236}">
                  <a16:creationId xmlns:a16="http://schemas.microsoft.com/office/drawing/2014/main" id="{6F8DDC46-C4B7-DF4E-8AF5-C602B6EAA1C4}"/>
                </a:ext>
              </a:extLst>
            </p:cNvPr>
            <p:cNvSpPr>
              <a:spLocks noChangeArrowheads="1"/>
            </p:cNvSpPr>
            <p:nvPr/>
          </p:nvSpPr>
          <p:spPr bwMode="auto">
            <a:xfrm>
              <a:off x="3535218" y="4055344"/>
              <a:ext cx="1273175" cy="1979613"/>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86" name="Line 25">
              <a:extLst>
                <a:ext uri="{FF2B5EF4-FFF2-40B4-BE49-F238E27FC236}">
                  <a16:creationId xmlns:a16="http://schemas.microsoft.com/office/drawing/2014/main" id="{DBA82451-A905-D646-87C3-445C7FB42130}"/>
                </a:ext>
              </a:extLst>
            </p:cNvPr>
            <p:cNvSpPr>
              <a:spLocks noChangeShapeType="1"/>
            </p:cNvSpPr>
            <p:nvPr/>
          </p:nvSpPr>
          <p:spPr bwMode="auto">
            <a:xfrm>
              <a:off x="3544743" y="4815757"/>
              <a:ext cx="1263650" cy="3175"/>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7" name="Text Box 26">
              <a:extLst>
                <a:ext uri="{FF2B5EF4-FFF2-40B4-BE49-F238E27FC236}">
                  <a16:creationId xmlns:a16="http://schemas.microsoft.com/office/drawing/2014/main" id="{20A57016-2D36-9945-9BC2-7F8B323410D1}"/>
                </a:ext>
              </a:extLst>
            </p:cNvPr>
            <p:cNvSpPr txBox="1">
              <a:spLocks noChangeArrowheads="1"/>
            </p:cNvSpPr>
            <p:nvPr/>
          </p:nvSpPr>
          <p:spPr bwMode="auto">
            <a:xfrm>
              <a:off x="3501881" y="4841309"/>
              <a:ext cx="1317625" cy="28996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transport</a:t>
              </a:r>
            </a:p>
          </p:txBody>
        </p:sp>
        <p:sp>
          <p:nvSpPr>
            <p:cNvPr id="188" name="Line 27">
              <a:extLst>
                <a:ext uri="{FF2B5EF4-FFF2-40B4-BE49-F238E27FC236}">
                  <a16:creationId xmlns:a16="http://schemas.microsoft.com/office/drawing/2014/main" id="{C4DE758D-2140-4D46-8462-D030054EF893}"/>
                </a:ext>
              </a:extLst>
            </p:cNvPr>
            <p:cNvSpPr>
              <a:spLocks noChangeShapeType="1"/>
            </p:cNvSpPr>
            <p:nvPr/>
          </p:nvSpPr>
          <p:spPr bwMode="auto">
            <a:xfrm>
              <a:off x="3552681" y="5136432"/>
              <a:ext cx="1263650" cy="3175"/>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9" name="Line 28">
              <a:extLst>
                <a:ext uri="{FF2B5EF4-FFF2-40B4-BE49-F238E27FC236}">
                  <a16:creationId xmlns:a16="http://schemas.microsoft.com/office/drawing/2014/main" id="{54E984A7-4546-6E49-B9F8-528EAF4E1F35}"/>
                </a:ext>
              </a:extLst>
            </p:cNvPr>
            <p:cNvSpPr>
              <a:spLocks noChangeShapeType="1"/>
            </p:cNvSpPr>
            <p:nvPr/>
          </p:nvSpPr>
          <p:spPr bwMode="auto">
            <a:xfrm>
              <a:off x="3538393" y="5445994"/>
              <a:ext cx="1263650" cy="3175"/>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90" name="Line 29">
              <a:extLst>
                <a:ext uri="{FF2B5EF4-FFF2-40B4-BE49-F238E27FC236}">
                  <a16:creationId xmlns:a16="http://schemas.microsoft.com/office/drawing/2014/main" id="{85DE9E64-476F-6F4E-8BFA-3205F1E596F5}"/>
                </a:ext>
              </a:extLst>
            </p:cNvPr>
            <p:cNvSpPr>
              <a:spLocks noChangeShapeType="1"/>
            </p:cNvSpPr>
            <p:nvPr/>
          </p:nvSpPr>
          <p:spPr bwMode="auto">
            <a:xfrm>
              <a:off x="3538393" y="5731744"/>
              <a:ext cx="1263650" cy="3175"/>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91" name="Text Box 26">
              <a:extLst>
                <a:ext uri="{FF2B5EF4-FFF2-40B4-BE49-F238E27FC236}">
                  <a16:creationId xmlns:a16="http://schemas.microsoft.com/office/drawing/2014/main" id="{A1B9282E-64F8-1442-8F95-7A9813CE8F60}"/>
                </a:ext>
              </a:extLst>
            </p:cNvPr>
            <p:cNvSpPr txBox="1">
              <a:spLocks noChangeArrowheads="1"/>
            </p:cNvSpPr>
            <p:nvPr/>
          </p:nvSpPr>
          <p:spPr bwMode="auto">
            <a:xfrm>
              <a:off x="3536806" y="4045819"/>
              <a:ext cx="1317625" cy="28996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application</a:t>
              </a:r>
            </a:p>
          </p:txBody>
        </p:sp>
        <p:sp>
          <p:nvSpPr>
            <p:cNvPr id="192" name="Text Box 26">
              <a:extLst>
                <a:ext uri="{FF2B5EF4-FFF2-40B4-BE49-F238E27FC236}">
                  <a16:creationId xmlns:a16="http://schemas.microsoft.com/office/drawing/2014/main" id="{83782313-46E0-BE46-BEED-BDC4F6A04AD7}"/>
                </a:ext>
              </a:extLst>
            </p:cNvPr>
            <p:cNvSpPr txBox="1">
              <a:spLocks noChangeArrowheads="1"/>
            </p:cNvSpPr>
            <p:nvPr/>
          </p:nvSpPr>
          <p:spPr bwMode="auto">
            <a:xfrm>
              <a:off x="3492356" y="5746184"/>
              <a:ext cx="1317625" cy="28996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physical</a:t>
              </a:r>
            </a:p>
          </p:txBody>
        </p:sp>
        <p:sp>
          <p:nvSpPr>
            <p:cNvPr id="193" name="Text Box 26">
              <a:extLst>
                <a:ext uri="{FF2B5EF4-FFF2-40B4-BE49-F238E27FC236}">
                  <a16:creationId xmlns:a16="http://schemas.microsoft.com/office/drawing/2014/main" id="{E3A71501-A89A-D249-84FB-20D98047A254}"/>
                </a:ext>
              </a:extLst>
            </p:cNvPr>
            <p:cNvSpPr txBox="1">
              <a:spLocks noChangeArrowheads="1"/>
            </p:cNvSpPr>
            <p:nvPr/>
          </p:nvSpPr>
          <p:spPr bwMode="auto">
            <a:xfrm>
              <a:off x="3511406" y="5453266"/>
              <a:ext cx="1317625" cy="28996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link</a:t>
              </a:r>
            </a:p>
          </p:txBody>
        </p:sp>
        <p:sp>
          <p:nvSpPr>
            <p:cNvPr id="194" name="Text Box 26">
              <a:extLst>
                <a:ext uri="{FF2B5EF4-FFF2-40B4-BE49-F238E27FC236}">
                  <a16:creationId xmlns:a16="http://schemas.microsoft.com/office/drawing/2014/main" id="{6C7F0039-C145-9D4F-92E4-1AF9B0406DA4}"/>
                </a:ext>
              </a:extLst>
            </p:cNvPr>
            <p:cNvSpPr txBox="1">
              <a:spLocks noChangeArrowheads="1"/>
            </p:cNvSpPr>
            <p:nvPr/>
          </p:nvSpPr>
          <p:spPr bwMode="auto">
            <a:xfrm>
              <a:off x="3501881" y="5157990"/>
              <a:ext cx="1317625" cy="28996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network</a:t>
              </a:r>
            </a:p>
          </p:txBody>
        </p:sp>
        <p:grpSp>
          <p:nvGrpSpPr>
            <p:cNvPr id="216" name="Group 179">
              <a:extLst>
                <a:ext uri="{FF2B5EF4-FFF2-40B4-BE49-F238E27FC236}">
                  <a16:creationId xmlns:a16="http://schemas.microsoft.com/office/drawing/2014/main" id="{D0DD382B-DAC3-2346-B02D-B07D99212014}"/>
                </a:ext>
              </a:extLst>
            </p:cNvPr>
            <p:cNvGrpSpPr>
              <a:grpSpLocks/>
            </p:cNvGrpSpPr>
            <p:nvPr/>
          </p:nvGrpSpPr>
          <p:grpSpPr bwMode="auto">
            <a:xfrm>
              <a:off x="2511281" y="5555532"/>
              <a:ext cx="800100" cy="828675"/>
              <a:chOff x="-44" y="1473"/>
              <a:chExt cx="981" cy="1105"/>
            </a:xfrm>
          </p:grpSpPr>
          <p:pic>
            <p:nvPicPr>
              <p:cNvPr id="217" name="Picture 180" descr="desktop_computer_stylized_medium">
                <a:extLst>
                  <a:ext uri="{FF2B5EF4-FFF2-40B4-BE49-F238E27FC236}">
                    <a16:creationId xmlns:a16="http://schemas.microsoft.com/office/drawing/2014/main" id="{DED124CB-DBF2-BA4A-A3F5-D0D2EE27E0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18" name="Freeform 181">
                <a:extLst>
                  <a:ext uri="{FF2B5EF4-FFF2-40B4-BE49-F238E27FC236}">
                    <a16:creationId xmlns:a16="http://schemas.microsoft.com/office/drawing/2014/main" id="{45C70753-F80F-0E44-A5BE-EA6A01030121}"/>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219" name="Group 182">
              <a:extLst>
                <a:ext uri="{FF2B5EF4-FFF2-40B4-BE49-F238E27FC236}">
                  <a16:creationId xmlns:a16="http://schemas.microsoft.com/office/drawing/2014/main" id="{8C1F52F1-3DCD-D94D-B922-F8CEBAB5F0B4}"/>
                </a:ext>
              </a:extLst>
            </p:cNvPr>
            <p:cNvGrpSpPr>
              <a:grpSpLocks/>
            </p:cNvGrpSpPr>
            <p:nvPr/>
          </p:nvGrpSpPr>
          <p:grpSpPr bwMode="auto">
            <a:xfrm flipH="1">
              <a:off x="9493106" y="5469807"/>
              <a:ext cx="788987" cy="782637"/>
              <a:chOff x="-44" y="1473"/>
              <a:chExt cx="981" cy="1105"/>
            </a:xfrm>
          </p:grpSpPr>
          <p:pic>
            <p:nvPicPr>
              <p:cNvPr id="220" name="Picture 183" descr="desktop_computer_stylized_medium">
                <a:extLst>
                  <a:ext uri="{FF2B5EF4-FFF2-40B4-BE49-F238E27FC236}">
                    <a16:creationId xmlns:a16="http://schemas.microsoft.com/office/drawing/2014/main" id="{E6083DB7-3B07-6F40-9810-0033E2E06F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21" name="Freeform 184">
                <a:extLst>
                  <a:ext uri="{FF2B5EF4-FFF2-40B4-BE49-F238E27FC236}">
                    <a16:creationId xmlns:a16="http://schemas.microsoft.com/office/drawing/2014/main" id="{28CB0DC7-F192-5840-BCC3-B9D662106044}"/>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222" name="Group 185">
              <a:extLst>
                <a:ext uri="{FF2B5EF4-FFF2-40B4-BE49-F238E27FC236}">
                  <a16:creationId xmlns:a16="http://schemas.microsoft.com/office/drawing/2014/main" id="{7750F2FB-96FA-374A-AF56-26502EF04672}"/>
                </a:ext>
              </a:extLst>
            </p:cNvPr>
            <p:cNvGrpSpPr>
              <a:grpSpLocks/>
            </p:cNvGrpSpPr>
            <p:nvPr/>
          </p:nvGrpSpPr>
          <p:grpSpPr bwMode="auto">
            <a:xfrm>
              <a:off x="5083031" y="5055469"/>
              <a:ext cx="358775" cy="704850"/>
              <a:chOff x="4140" y="429"/>
              <a:chExt cx="1425" cy="2396"/>
            </a:xfrm>
          </p:grpSpPr>
          <p:sp>
            <p:nvSpPr>
              <p:cNvPr id="223" name="Freeform 186">
                <a:extLst>
                  <a:ext uri="{FF2B5EF4-FFF2-40B4-BE49-F238E27FC236}">
                    <a16:creationId xmlns:a16="http://schemas.microsoft.com/office/drawing/2014/main" id="{E441858B-A566-F746-B48C-912CA3020CC8}"/>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24" name="Rectangle 187">
                <a:extLst>
                  <a:ext uri="{FF2B5EF4-FFF2-40B4-BE49-F238E27FC236}">
                    <a16:creationId xmlns:a16="http://schemas.microsoft.com/office/drawing/2014/main" id="{20003129-35A4-1E46-8065-8AF4C6403D57}"/>
                  </a:ext>
                </a:extLst>
              </p:cNvPr>
              <p:cNvSpPr>
                <a:spLocks noChangeArrowheads="1"/>
              </p:cNvSpPr>
              <p:nvPr/>
            </p:nvSpPr>
            <p:spPr bwMode="auto">
              <a:xfrm>
                <a:off x="4203" y="429"/>
                <a:ext cx="1053" cy="2283"/>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25" name="Freeform 188">
                <a:extLst>
                  <a:ext uri="{FF2B5EF4-FFF2-40B4-BE49-F238E27FC236}">
                    <a16:creationId xmlns:a16="http://schemas.microsoft.com/office/drawing/2014/main" id="{6F94D7AE-C4D1-AF4A-B970-086B7D245ACF}"/>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26" name="Freeform 189">
                <a:extLst>
                  <a:ext uri="{FF2B5EF4-FFF2-40B4-BE49-F238E27FC236}">
                    <a16:creationId xmlns:a16="http://schemas.microsoft.com/office/drawing/2014/main" id="{EAFC03EF-54DF-8942-9852-25739DA158B4}"/>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27" name="Rectangle 190">
                <a:extLst>
                  <a:ext uri="{FF2B5EF4-FFF2-40B4-BE49-F238E27FC236}">
                    <a16:creationId xmlns:a16="http://schemas.microsoft.com/office/drawing/2014/main" id="{2241F7B6-5281-A74E-8DCB-3BE3777E9369}"/>
                  </a:ext>
                </a:extLst>
              </p:cNvPr>
              <p:cNvSpPr>
                <a:spLocks noChangeArrowheads="1"/>
              </p:cNvSpPr>
              <p:nvPr/>
            </p:nvSpPr>
            <p:spPr bwMode="auto">
              <a:xfrm>
                <a:off x="4209" y="693"/>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228" name="Group 191">
                <a:extLst>
                  <a:ext uri="{FF2B5EF4-FFF2-40B4-BE49-F238E27FC236}">
                    <a16:creationId xmlns:a16="http://schemas.microsoft.com/office/drawing/2014/main" id="{02DB0249-6EBB-FF4B-B17F-CC771B255D00}"/>
                  </a:ext>
                </a:extLst>
              </p:cNvPr>
              <p:cNvGrpSpPr>
                <a:grpSpLocks/>
              </p:cNvGrpSpPr>
              <p:nvPr/>
            </p:nvGrpSpPr>
            <p:grpSpPr bwMode="auto">
              <a:xfrm>
                <a:off x="4749" y="668"/>
                <a:ext cx="581" cy="145"/>
                <a:chOff x="614" y="2568"/>
                <a:chExt cx="725" cy="139"/>
              </a:xfrm>
            </p:grpSpPr>
            <p:sp>
              <p:nvSpPr>
                <p:cNvPr id="253" name="AutoShape 192">
                  <a:extLst>
                    <a:ext uri="{FF2B5EF4-FFF2-40B4-BE49-F238E27FC236}">
                      <a16:creationId xmlns:a16="http://schemas.microsoft.com/office/drawing/2014/main" id="{BE55370E-BC12-1B42-9E3C-C950033EEF89}"/>
                    </a:ext>
                  </a:extLst>
                </p:cNvPr>
                <p:cNvSpPr>
                  <a:spLocks noChangeArrowheads="1"/>
                </p:cNvSpPr>
                <p:nvPr/>
              </p:nvSpPr>
              <p:spPr bwMode="auto">
                <a:xfrm>
                  <a:off x="617" y="2567"/>
                  <a:ext cx="724"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54" name="AutoShape 193">
                  <a:extLst>
                    <a:ext uri="{FF2B5EF4-FFF2-40B4-BE49-F238E27FC236}">
                      <a16:creationId xmlns:a16="http://schemas.microsoft.com/office/drawing/2014/main" id="{1BBB99EB-2FFB-5942-9855-24BEE1C68997}"/>
                    </a:ext>
                  </a:extLst>
                </p:cNvPr>
                <p:cNvSpPr>
                  <a:spLocks noChangeArrowheads="1"/>
                </p:cNvSpPr>
                <p:nvPr/>
              </p:nvSpPr>
              <p:spPr bwMode="auto">
                <a:xfrm>
                  <a:off x="633" y="2582"/>
                  <a:ext cx="692"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229" name="Rectangle 194">
                <a:extLst>
                  <a:ext uri="{FF2B5EF4-FFF2-40B4-BE49-F238E27FC236}">
                    <a16:creationId xmlns:a16="http://schemas.microsoft.com/office/drawing/2014/main" id="{9C5699FC-2B4E-BD46-B9CC-CA578E2EA709}"/>
                  </a:ext>
                </a:extLst>
              </p:cNvPr>
              <p:cNvSpPr>
                <a:spLocks noChangeArrowheads="1"/>
              </p:cNvSpPr>
              <p:nvPr/>
            </p:nvSpPr>
            <p:spPr bwMode="auto">
              <a:xfrm>
                <a:off x="4222" y="1017"/>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230" name="Group 195">
                <a:extLst>
                  <a:ext uri="{FF2B5EF4-FFF2-40B4-BE49-F238E27FC236}">
                    <a16:creationId xmlns:a16="http://schemas.microsoft.com/office/drawing/2014/main" id="{676615F3-A30A-9740-8080-AFEE6BAAEF98}"/>
                  </a:ext>
                </a:extLst>
              </p:cNvPr>
              <p:cNvGrpSpPr>
                <a:grpSpLocks/>
              </p:cNvGrpSpPr>
              <p:nvPr/>
            </p:nvGrpSpPr>
            <p:grpSpPr bwMode="auto">
              <a:xfrm>
                <a:off x="4747" y="994"/>
                <a:ext cx="581" cy="134"/>
                <a:chOff x="614" y="2568"/>
                <a:chExt cx="725" cy="139"/>
              </a:xfrm>
            </p:grpSpPr>
            <p:sp>
              <p:nvSpPr>
                <p:cNvPr id="251" name="AutoShape 196">
                  <a:extLst>
                    <a:ext uri="{FF2B5EF4-FFF2-40B4-BE49-F238E27FC236}">
                      <a16:creationId xmlns:a16="http://schemas.microsoft.com/office/drawing/2014/main" id="{D31569A0-2CDC-3B4B-B7FA-067BF2CB0D93}"/>
                    </a:ext>
                  </a:extLst>
                </p:cNvPr>
                <p:cNvSpPr>
                  <a:spLocks noChangeArrowheads="1"/>
                </p:cNvSpPr>
                <p:nvPr/>
              </p:nvSpPr>
              <p:spPr bwMode="auto">
                <a:xfrm>
                  <a:off x="612" y="2570"/>
                  <a:ext cx="724" cy="162"/>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52" name="AutoShape 197">
                  <a:extLst>
                    <a:ext uri="{FF2B5EF4-FFF2-40B4-BE49-F238E27FC236}">
                      <a16:creationId xmlns:a16="http://schemas.microsoft.com/office/drawing/2014/main" id="{5D70C5E6-3DFB-1D45-8469-DE5EA96E13E8}"/>
                    </a:ext>
                  </a:extLst>
                </p:cNvPr>
                <p:cNvSpPr>
                  <a:spLocks noChangeArrowheads="1"/>
                </p:cNvSpPr>
                <p:nvPr/>
              </p:nvSpPr>
              <p:spPr bwMode="auto">
                <a:xfrm>
                  <a:off x="628" y="2586"/>
                  <a:ext cx="692"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231" name="Rectangle 198">
                <a:extLst>
                  <a:ext uri="{FF2B5EF4-FFF2-40B4-BE49-F238E27FC236}">
                    <a16:creationId xmlns:a16="http://schemas.microsoft.com/office/drawing/2014/main" id="{AE060187-10EA-1F4E-AEDE-8C6C0E8358D2}"/>
                  </a:ext>
                </a:extLst>
              </p:cNvPr>
              <p:cNvSpPr>
                <a:spLocks noChangeArrowheads="1"/>
              </p:cNvSpPr>
              <p:nvPr/>
            </p:nvSpPr>
            <p:spPr bwMode="auto">
              <a:xfrm>
                <a:off x="4216" y="1357"/>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32" name="Rectangle 199">
                <a:extLst>
                  <a:ext uri="{FF2B5EF4-FFF2-40B4-BE49-F238E27FC236}">
                    <a16:creationId xmlns:a16="http://schemas.microsoft.com/office/drawing/2014/main" id="{32874526-51C0-C749-BDC8-3D9F62AFE767}"/>
                  </a:ext>
                </a:extLst>
              </p:cNvPr>
              <p:cNvSpPr>
                <a:spLocks noChangeArrowheads="1"/>
              </p:cNvSpPr>
              <p:nvPr/>
            </p:nvSpPr>
            <p:spPr bwMode="auto">
              <a:xfrm>
                <a:off x="4228" y="1654"/>
                <a:ext cx="593"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233" name="Group 200">
                <a:extLst>
                  <a:ext uri="{FF2B5EF4-FFF2-40B4-BE49-F238E27FC236}">
                    <a16:creationId xmlns:a16="http://schemas.microsoft.com/office/drawing/2014/main" id="{09E63F43-E74F-6045-A673-3756891EE94D}"/>
                  </a:ext>
                </a:extLst>
              </p:cNvPr>
              <p:cNvGrpSpPr>
                <a:grpSpLocks/>
              </p:cNvGrpSpPr>
              <p:nvPr/>
            </p:nvGrpSpPr>
            <p:grpSpPr bwMode="auto">
              <a:xfrm>
                <a:off x="4735" y="1627"/>
                <a:ext cx="582" cy="151"/>
                <a:chOff x="614" y="2568"/>
                <a:chExt cx="725" cy="139"/>
              </a:xfrm>
            </p:grpSpPr>
            <p:sp>
              <p:nvSpPr>
                <p:cNvPr id="249" name="AutoShape 201">
                  <a:extLst>
                    <a:ext uri="{FF2B5EF4-FFF2-40B4-BE49-F238E27FC236}">
                      <a16:creationId xmlns:a16="http://schemas.microsoft.com/office/drawing/2014/main" id="{0296B9BB-82CD-2A45-8E56-F4ACF6FCC028}"/>
                    </a:ext>
                  </a:extLst>
                </p:cNvPr>
                <p:cNvSpPr>
                  <a:spLocks noChangeArrowheads="1"/>
                </p:cNvSpPr>
                <p:nvPr/>
              </p:nvSpPr>
              <p:spPr bwMode="auto">
                <a:xfrm>
                  <a:off x="611" y="2568"/>
                  <a:ext cx="730" cy="139"/>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50" name="AutoShape 202">
                  <a:extLst>
                    <a:ext uri="{FF2B5EF4-FFF2-40B4-BE49-F238E27FC236}">
                      <a16:creationId xmlns:a16="http://schemas.microsoft.com/office/drawing/2014/main" id="{DD3C3254-A817-B449-AE0F-31BEFF504A04}"/>
                    </a:ext>
                  </a:extLst>
                </p:cNvPr>
                <p:cNvSpPr>
                  <a:spLocks noChangeArrowheads="1"/>
                </p:cNvSpPr>
                <p:nvPr/>
              </p:nvSpPr>
              <p:spPr bwMode="auto">
                <a:xfrm>
                  <a:off x="627" y="2583"/>
                  <a:ext cx="699"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234" name="Freeform 203">
                <a:extLst>
                  <a:ext uri="{FF2B5EF4-FFF2-40B4-BE49-F238E27FC236}">
                    <a16:creationId xmlns:a16="http://schemas.microsoft.com/office/drawing/2014/main" id="{D05041BE-8046-EB49-A23A-C7FEB06D9108}"/>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235" name="Group 204">
                <a:extLst>
                  <a:ext uri="{FF2B5EF4-FFF2-40B4-BE49-F238E27FC236}">
                    <a16:creationId xmlns:a16="http://schemas.microsoft.com/office/drawing/2014/main" id="{BD1D997D-F690-4C4E-9473-F0433427C91F}"/>
                  </a:ext>
                </a:extLst>
              </p:cNvPr>
              <p:cNvGrpSpPr>
                <a:grpSpLocks/>
              </p:cNvGrpSpPr>
              <p:nvPr/>
            </p:nvGrpSpPr>
            <p:grpSpPr bwMode="auto">
              <a:xfrm>
                <a:off x="4739" y="1327"/>
                <a:ext cx="582" cy="139"/>
                <a:chOff x="614" y="2568"/>
                <a:chExt cx="725" cy="139"/>
              </a:xfrm>
            </p:grpSpPr>
            <p:sp>
              <p:nvSpPr>
                <p:cNvPr id="247" name="AutoShape 205">
                  <a:extLst>
                    <a:ext uri="{FF2B5EF4-FFF2-40B4-BE49-F238E27FC236}">
                      <a16:creationId xmlns:a16="http://schemas.microsoft.com/office/drawing/2014/main" id="{631C3D3D-8F7D-6F44-AD56-665A5242B691}"/>
                    </a:ext>
                  </a:extLst>
                </p:cNvPr>
                <p:cNvSpPr>
                  <a:spLocks noChangeArrowheads="1"/>
                </p:cNvSpPr>
                <p:nvPr/>
              </p:nvSpPr>
              <p:spPr bwMode="auto">
                <a:xfrm>
                  <a:off x="614" y="2566"/>
                  <a:ext cx="723"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48" name="AutoShape 206">
                  <a:extLst>
                    <a:ext uri="{FF2B5EF4-FFF2-40B4-BE49-F238E27FC236}">
                      <a16:creationId xmlns:a16="http://schemas.microsoft.com/office/drawing/2014/main" id="{E7F87D38-4528-0F45-9911-B79B599D25FC}"/>
                    </a:ext>
                  </a:extLst>
                </p:cNvPr>
                <p:cNvSpPr>
                  <a:spLocks noChangeArrowheads="1"/>
                </p:cNvSpPr>
                <p:nvPr/>
              </p:nvSpPr>
              <p:spPr bwMode="auto">
                <a:xfrm>
                  <a:off x="630" y="2582"/>
                  <a:ext cx="691"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236" name="Rectangle 207">
                <a:extLst>
                  <a:ext uri="{FF2B5EF4-FFF2-40B4-BE49-F238E27FC236}">
                    <a16:creationId xmlns:a16="http://schemas.microsoft.com/office/drawing/2014/main" id="{60B24777-81BE-BC42-AC64-6F2229E5FBE5}"/>
                  </a:ext>
                </a:extLst>
              </p:cNvPr>
              <p:cNvSpPr>
                <a:spLocks noChangeArrowheads="1"/>
              </p:cNvSpPr>
              <p:nvPr/>
            </p:nvSpPr>
            <p:spPr bwMode="auto">
              <a:xfrm>
                <a:off x="5250" y="429"/>
                <a:ext cx="69" cy="2288"/>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37" name="Freeform 208">
                <a:extLst>
                  <a:ext uri="{FF2B5EF4-FFF2-40B4-BE49-F238E27FC236}">
                    <a16:creationId xmlns:a16="http://schemas.microsoft.com/office/drawing/2014/main" id="{FD1049FD-ADAC-FC43-A186-6585ECAE4331}"/>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38" name="Freeform 209">
                <a:extLst>
                  <a:ext uri="{FF2B5EF4-FFF2-40B4-BE49-F238E27FC236}">
                    <a16:creationId xmlns:a16="http://schemas.microsoft.com/office/drawing/2014/main" id="{A25585BA-2AFC-3047-B9D5-7CC45D5DBC49}"/>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39" name="Oval 210">
                <a:extLst>
                  <a:ext uri="{FF2B5EF4-FFF2-40B4-BE49-F238E27FC236}">
                    <a16:creationId xmlns:a16="http://schemas.microsoft.com/office/drawing/2014/main" id="{78C608B6-FCB9-3F43-A504-D33DD77827D8}"/>
                  </a:ext>
                </a:extLst>
              </p:cNvPr>
              <p:cNvSpPr>
                <a:spLocks noChangeArrowheads="1"/>
              </p:cNvSpPr>
              <p:nvPr/>
            </p:nvSpPr>
            <p:spPr bwMode="auto">
              <a:xfrm>
                <a:off x="5515" y="2609"/>
                <a:ext cx="50" cy="97"/>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40" name="Freeform 211">
                <a:extLst>
                  <a:ext uri="{FF2B5EF4-FFF2-40B4-BE49-F238E27FC236}">
                    <a16:creationId xmlns:a16="http://schemas.microsoft.com/office/drawing/2014/main" id="{F24BE4FA-86B6-5840-8B76-BF70EF006A8E}"/>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41" name="AutoShape 212">
                <a:extLst>
                  <a:ext uri="{FF2B5EF4-FFF2-40B4-BE49-F238E27FC236}">
                    <a16:creationId xmlns:a16="http://schemas.microsoft.com/office/drawing/2014/main" id="{22C6B4EC-00C6-BA43-95E2-370E8204DDA3}"/>
                  </a:ext>
                </a:extLst>
              </p:cNvPr>
              <p:cNvSpPr>
                <a:spLocks noChangeArrowheads="1"/>
              </p:cNvSpPr>
              <p:nvPr/>
            </p:nvSpPr>
            <p:spPr bwMode="auto">
              <a:xfrm>
                <a:off x="4140" y="2679"/>
                <a:ext cx="1198"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42" name="AutoShape 213">
                <a:extLst>
                  <a:ext uri="{FF2B5EF4-FFF2-40B4-BE49-F238E27FC236}">
                    <a16:creationId xmlns:a16="http://schemas.microsoft.com/office/drawing/2014/main" id="{7B9210ED-D802-C84E-8A67-93399801B5DA}"/>
                  </a:ext>
                </a:extLst>
              </p:cNvPr>
              <p:cNvSpPr>
                <a:spLocks noChangeArrowheads="1"/>
              </p:cNvSpPr>
              <p:nvPr/>
            </p:nvSpPr>
            <p:spPr bwMode="auto">
              <a:xfrm>
                <a:off x="4203" y="2712"/>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43" name="Oval 214">
                <a:extLst>
                  <a:ext uri="{FF2B5EF4-FFF2-40B4-BE49-F238E27FC236}">
                    <a16:creationId xmlns:a16="http://schemas.microsoft.com/office/drawing/2014/main" id="{552E77C8-7BFE-BF4D-8F0B-DF6513BE6459}"/>
                  </a:ext>
                </a:extLst>
              </p:cNvPr>
              <p:cNvSpPr>
                <a:spLocks noChangeArrowheads="1"/>
              </p:cNvSpPr>
              <p:nvPr/>
            </p:nvSpPr>
            <p:spPr bwMode="auto">
              <a:xfrm>
                <a:off x="4310" y="2382"/>
                <a:ext cx="158" cy="146"/>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44" name="Oval 215">
                <a:extLst>
                  <a:ext uri="{FF2B5EF4-FFF2-40B4-BE49-F238E27FC236}">
                    <a16:creationId xmlns:a16="http://schemas.microsoft.com/office/drawing/2014/main" id="{86496A7E-E21F-444D-B883-E410329FF242}"/>
                  </a:ext>
                </a:extLst>
              </p:cNvPr>
              <p:cNvSpPr>
                <a:spLocks noChangeArrowheads="1"/>
              </p:cNvSpPr>
              <p:nvPr/>
            </p:nvSpPr>
            <p:spPr bwMode="auto">
              <a:xfrm>
                <a:off x="4487" y="2382"/>
                <a:ext cx="158" cy="146"/>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FF0000"/>
                  </a:solidFill>
                  <a:effectLst/>
                  <a:uLnTx/>
                  <a:uFillTx/>
                  <a:latin typeface="Arial" charset="0"/>
                  <a:ea typeface="ＭＳ Ｐゴシック" charset="0"/>
                  <a:cs typeface="Arial" charset="0"/>
                </a:endParaRPr>
              </a:p>
            </p:txBody>
          </p:sp>
          <p:sp>
            <p:nvSpPr>
              <p:cNvPr id="245" name="Oval 216">
                <a:extLst>
                  <a:ext uri="{FF2B5EF4-FFF2-40B4-BE49-F238E27FC236}">
                    <a16:creationId xmlns:a16="http://schemas.microsoft.com/office/drawing/2014/main" id="{555E4B0D-EDB2-D04B-B9AD-93FA92DDAA2D}"/>
                  </a:ext>
                </a:extLst>
              </p:cNvPr>
              <p:cNvSpPr>
                <a:spLocks noChangeArrowheads="1"/>
              </p:cNvSpPr>
              <p:nvPr/>
            </p:nvSpPr>
            <p:spPr bwMode="auto">
              <a:xfrm>
                <a:off x="4663" y="2382"/>
                <a:ext cx="158" cy="140"/>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46" name="Rectangle 217">
                <a:extLst>
                  <a:ext uri="{FF2B5EF4-FFF2-40B4-BE49-F238E27FC236}">
                    <a16:creationId xmlns:a16="http://schemas.microsoft.com/office/drawing/2014/main" id="{DE659B39-E72A-634A-A2AC-C4BA4DC9C619}"/>
                  </a:ext>
                </a:extLst>
              </p:cNvPr>
              <p:cNvSpPr>
                <a:spLocks noChangeArrowheads="1"/>
              </p:cNvSpPr>
              <p:nvPr/>
            </p:nvSpPr>
            <p:spPr bwMode="auto">
              <a:xfrm>
                <a:off x="5061" y="1837"/>
                <a:ext cx="88" cy="761"/>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pic>
          <p:nvPicPr>
            <p:cNvPr id="261" name="Picture 2" descr="Image result for firefox logo">
              <a:extLst>
                <a:ext uri="{FF2B5EF4-FFF2-40B4-BE49-F238E27FC236}">
                  <a16:creationId xmlns:a16="http://schemas.microsoft.com/office/drawing/2014/main" id="{51A92539-D075-5644-9056-10960E51478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26336" y="4363319"/>
              <a:ext cx="387318" cy="362674"/>
            </a:xfrm>
            <a:prstGeom prst="rect">
              <a:avLst/>
            </a:prstGeom>
            <a:noFill/>
            <a:extLst>
              <a:ext uri="{909E8E84-426E-40dd-AFC4-6F175D3DCCD1}">
                <a14:hiddenFill xmlns:a14="http://schemas.microsoft.com/office/drawing/2010/main" xmlns="">
                  <a:solidFill>
                    <a:srgbClr val="FFFFFF"/>
                  </a:solidFill>
                </a14:hiddenFill>
              </a:ext>
            </a:extLst>
          </p:spPr>
        </p:pic>
        <p:sp>
          <p:nvSpPr>
            <p:cNvPr id="8" name="TextBox 7">
              <a:extLst>
                <a:ext uri="{FF2B5EF4-FFF2-40B4-BE49-F238E27FC236}">
                  <a16:creationId xmlns:a16="http://schemas.microsoft.com/office/drawing/2014/main" id="{95E1F04B-A3B3-534D-A252-A4AC29C657DE}"/>
                </a:ext>
              </a:extLst>
            </p:cNvPr>
            <p:cNvSpPr txBox="1"/>
            <p:nvPr/>
          </p:nvSpPr>
          <p:spPr>
            <a:xfrm>
              <a:off x="5723493" y="3262667"/>
              <a:ext cx="1265812" cy="3803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HTTP server</a:t>
              </a:r>
            </a:p>
          </p:txBody>
        </p:sp>
        <p:pic>
          <p:nvPicPr>
            <p:cNvPr id="1028" name="Picture 4" descr="Image result for apache web server logo">
              <a:extLst>
                <a:ext uri="{FF2B5EF4-FFF2-40B4-BE49-F238E27FC236}">
                  <a16:creationId xmlns:a16="http://schemas.microsoft.com/office/drawing/2014/main" id="{2DA3452A-DE33-3D41-95D5-C755A419154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49399" y="3712220"/>
              <a:ext cx="1425575" cy="629170"/>
            </a:xfrm>
            <a:prstGeom prst="rect">
              <a:avLst/>
            </a:prstGeom>
            <a:noFill/>
            <a:extLst>
              <a:ext uri="{909E8E84-426E-40dd-AFC4-6F175D3DCCD1}">
                <a14:hiddenFill xmlns:a14="http://schemas.microsoft.com/office/drawing/2010/main" xmlns="">
                  <a:solidFill>
                    <a:srgbClr val="FFFFFF"/>
                  </a:solidFill>
                </a14:hiddenFill>
              </a:ext>
            </a:extLst>
          </p:spPr>
        </p:pic>
        <p:pic>
          <p:nvPicPr>
            <p:cNvPr id="262" name="Picture 2" descr="Image result for firefox logo">
              <a:extLst>
                <a:ext uri="{FF2B5EF4-FFF2-40B4-BE49-F238E27FC236}">
                  <a16:creationId xmlns:a16="http://schemas.microsoft.com/office/drawing/2014/main" id="{E576EC8B-3CC8-044B-BD3B-8A4342C698D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57699" y="4326644"/>
              <a:ext cx="387318" cy="362674"/>
            </a:xfrm>
            <a:prstGeom prst="rect">
              <a:avLst/>
            </a:prstGeom>
            <a:noFill/>
            <a:extLst>
              <a:ext uri="{909E8E84-426E-40dd-AFC4-6F175D3DCCD1}">
                <a14:hiddenFill xmlns:a14="http://schemas.microsoft.com/office/drawing/2010/main" xmlns="">
                  <a:solidFill>
                    <a:srgbClr val="FFFFFF"/>
                  </a:solidFill>
                </a14:hiddenFill>
              </a:ext>
            </a:extLst>
          </p:spPr>
        </p:pic>
        <p:pic>
          <p:nvPicPr>
            <p:cNvPr id="1032" name="Picture 8" descr="Image result for skype logo">
              <a:extLst>
                <a:ext uri="{FF2B5EF4-FFF2-40B4-BE49-F238E27FC236}">
                  <a16:creationId xmlns:a16="http://schemas.microsoft.com/office/drawing/2014/main" id="{44A9474D-942F-134E-B292-6ADA4675334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74515" y="4091654"/>
              <a:ext cx="387318" cy="392958"/>
            </a:xfrm>
            <a:prstGeom prst="rect">
              <a:avLst/>
            </a:prstGeom>
            <a:noFill/>
            <a:extLst>
              <a:ext uri="{909E8E84-426E-40dd-AFC4-6F175D3DCCD1}">
                <a14:hiddenFill xmlns:a14="http://schemas.microsoft.com/office/drawing/2010/main" xmlns="">
                  <a:solidFill>
                    <a:srgbClr val="FFFFFF"/>
                  </a:solidFill>
                </a14:hiddenFill>
              </a:ext>
            </a:extLst>
          </p:spPr>
        </p:pic>
        <p:sp>
          <p:nvSpPr>
            <p:cNvPr id="263" name="TextBox 262">
              <a:extLst>
                <a:ext uri="{FF2B5EF4-FFF2-40B4-BE49-F238E27FC236}">
                  <a16:creationId xmlns:a16="http://schemas.microsoft.com/office/drawing/2014/main" id="{DC4B02DA-C340-9945-87C2-952E1901FB43}"/>
                </a:ext>
              </a:extLst>
            </p:cNvPr>
            <p:cNvSpPr txBox="1"/>
            <p:nvPr/>
          </p:nvSpPr>
          <p:spPr>
            <a:xfrm>
              <a:off x="3822815" y="3627317"/>
              <a:ext cx="642362" cy="3803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client</a:t>
              </a:r>
            </a:p>
          </p:txBody>
        </p:sp>
        <p:pic>
          <p:nvPicPr>
            <p:cNvPr id="1034" name="Picture 10" descr="Image result for netflix logo png">
              <a:extLst>
                <a:ext uri="{FF2B5EF4-FFF2-40B4-BE49-F238E27FC236}">
                  <a16:creationId xmlns:a16="http://schemas.microsoft.com/office/drawing/2014/main" id="{9F652FAF-7820-6141-9F34-FDF8AEACBE0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32599" y="4424842"/>
              <a:ext cx="691469" cy="388951"/>
            </a:xfrm>
            <a:prstGeom prst="rect">
              <a:avLst/>
            </a:prstGeom>
            <a:noFill/>
            <a:extLst>
              <a:ext uri="{909E8E84-426E-40dd-AFC4-6F175D3DCCD1}">
                <a14:hiddenFill xmlns:a14="http://schemas.microsoft.com/office/drawing/2010/main" xmlns="">
                  <a:solidFill>
                    <a:srgbClr val="FFFFFF"/>
                  </a:solidFill>
                </a14:hiddenFill>
              </a:ext>
            </a:extLst>
          </p:spPr>
        </p:pic>
      </p:grpSp>
      <p:sp>
        <p:nvSpPr>
          <p:cNvPr id="271" name="Freeform 296">
            <a:extLst>
              <a:ext uri="{FF2B5EF4-FFF2-40B4-BE49-F238E27FC236}">
                <a16:creationId xmlns:a16="http://schemas.microsoft.com/office/drawing/2014/main" id="{06DFDE96-5B04-984C-B72D-22D074DF3E82}"/>
              </a:ext>
            </a:extLst>
          </p:cNvPr>
          <p:cNvSpPr>
            <a:spLocks/>
          </p:cNvSpPr>
          <p:nvPr/>
        </p:nvSpPr>
        <p:spPr bwMode="auto">
          <a:xfrm>
            <a:off x="4356586" y="4965666"/>
            <a:ext cx="3127375" cy="1498600"/>
          </a:xfrm>
          <a:custGeom>
            <a:avLst/>
            <a:gdLst>
              <a:gd name="T0" fmla="*/ 2147483647 w 1877"/>
              <a:gd name="T1" fmla="*/ 2147483647 h 917"/>
              <a:gd name="T2" fmla="*/ 2147483647 w 1877"/>
              <a:gd name="T3" fmla="*/ 2147483647 h 917"/>
              <a:gd name="T4" fmla="*/ 2147483647 w 1877"/>
              <a:gd name="T5" fmla="*/ 2147483647 h 917"/>
              <a:gd name="T6" fmla="*/ 2147483647 w 1877"/>
              <a:gd name="T7" fmla="*/ 2147483647 h 917"/>
              <a:gd name="T8" fmla="*/ 2147483647 w 1877"/>
              <a:gd name="T9" fmla="*/ 2147483647 h 917"/>
              <a:gd name="T10" fmla="*/ 2147483647 w 1877"/>
              <a:gd name="T11" fmla="*/ 2147483647 h 917"/>
              <a:gd name="T12" fmla="*/ 2147483647 w 1877"/>
              <a:gd name="T13" fmla="*/ 2147483647 h 917"/>
              <a:gd name="T14" fmla="*/ 2147483647 w 1877"/>
              <a:gd name="T15" fmla="*/ 2147483647 h 917"/>
              <a:gd name="T16" fmla="*/ 2147483647 w 1877"/>
              <a:gd name="T17" fmla="*/ 2147483647 h 917"/>
              <a:gd name="T18" fmla="*/ 2147483647 w 1877"/>
              <a:gd name="T19" fmla="*/ 2147483647 h 917"/>
              <a:gd name="T20" fmla="*/ 2147483647 w 1877"/>
              <a:gd name="T21" fmla="*/ 2147483647 h 917"/>
              <a:gd name="T22" fmla="*/ 2147483647 w 1877"/>
              <a:gd name="T23" fmla="*/ 2147483647 h 917"/>
              <a:gd name="T24" fmla="*/ 2147483647 w 1877"/>
              <a:gd name="T25" fmla="*/ 2147483647 h 917"/>
              <a:gd name="T26" fmla="*/ 2147483647 w 1877"/>
              <a:gd name="T27" fmla="*/ 2147483647 h 917"/>
              <a:gd name="T28" fmla="*/ 2147483647 w 1877"/>
              <a:gd name="T29" fmla="*/ 2147483647 h 917"/>
              <a:gd name="T30" fmla="*/ 2147483647 w 1877"/>
              <a:gd name="T31" fmla="*/ 2147483647 h 91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877"/>
              <a:gd name="T49" fmla="*/ 0 h 917"/>
              <a:gd name="T50" fmla="*/ 1877 w 1877"/>
              <a:gd name="T51" fmla="*/ 917 h 91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877" h="91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9CDFF9"/>
          </a:solidFill>
          <a:ln>
            <a:noFill/>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Calibri"/>
              <a:ea typeface="ＭＳ Ｐゴシック" panose="020B0600070205080204" pitchFamily="34" charset="-128"/>
              <a:cs typeface="Arial"/>
            </a:endParaRPr>
          </a:p>
        </p:txBody>
      </p:sp>
      <p:sp>
        <p:nvSpPr>
          <p:cNvPr id="11" name="Rectangle 10">
            <a:extLst>
              <a:ext uri="{FF2B5EF4-FFF2-40B4-BE49-F238E27FC236}">
                <a16:creationId xmlns:a16="http://schemas.microsoft.com/office/drawing/2014/main" id="{CC19030B-5BD3-114F-B249-57401BFC96FB}"/>
              </a:ext>
            </a:extLst>
          </p:cNvPr>
          <p:cNvSpPr/>
          <p:nvPr/>
        </p:nvSpPr>
        <p:spPr>
          <a:xfrm>
            <a:off x="4944218" y="2675931"/>
            <a:ext cx="2194145" cy="1745839"/>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cxnSp>
        <p:nvCxnSpPr>
          <p:cNvPr id="101" name="Straight Connector 100">
            <a:extLst>
              <a:ext uri="{FF2B5EF4-FFF2-40B4-BE49-F238E27FC236}">
                <a16:creationId xmlns:a16="http://schemas.microsoft.com/office/drawing/2014/main" id="{80C9D10E-5651-A74C-93AC-3C99ACEB97DA}"/>
              </a:ext>
            </a:extLst>
          </p:cNvPr>
          <p:cNvCxnSpPr>
            <a:cxnSpLocks/>
          </p:cNvCxnSpPr>
          <p:nvPr/>
        </p:nvCxnSpPr>
        <p:spPr>
          <a:xfrm flipV="1">
            <a:off x="3204457" y="2995594"/>
            <a:ext cx="0" cy="2502331"/>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grpSp>
        <p:nvGrpSpPr>
          <p:cNvPr id="7" name="Group 6">
            <a:extLst>
              <a:ext uri="{FF2B5EF4-FFF2-40B4-BE49-F238E27FC236}">
                <a16:creationId xmlns:a16="http://schemas.microsoft.com/office/drawing/2014/main" id="{7480C6A1-B418-BAFF-0A9B-DF3373520BD3}"/>
              </a:ext>
            </a:extLst>
          </p:cNvPr>
          <p:cNvGrpSpPr/>
          <p:nvPr/>
        </p:nvGrpSpPr>
        <p:grpSpPr>
          <a:xfrm>
            <a:off x="5844802" y="2291678"/>
            <a:ext cx="1108206" cy="369332"/>
            <a:chOff x="5844802" y="2291678"/>
            <a:chExt cx="1108206" cy="369332"/>
          </a:xfrm>
        </p:grpSpPr>
        <p:sp>
          <p:nvSpPr>
            <p:cNvPr id="98" name="Rectangle 97">
              <a:extLst>
                <a:ext uri="{FF2B5EF4-FFF2-40B4-BE49-F238E27FC236}">
                  <a16:creationId xmlns:a16="http://schemas.microsoft.com/office/drawing/2014/main" id="{4FFEBBBB-2623-A645-BE22-49AB28379D36}"/>
                </a:ext>
              </a:extLst>
            </p:cNvPr>
            <p:cNvSpPr/>
            <p:nvPr/>
          </p:nvSpPr>
          <p:spPr>
            <a:xfrm>
              <a:off x="5864224" y="2340021"/>
              <a:ext cx="1063879" cy="266167"/>
            </a:xfrm>
            <a:prstGeom prst="rect">
              <a:avLst/>
            </a:prstGeom>
            <a:solidFill>
              <a:schemeClr val="bg1"/>
            </a:solid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99" name="TextBox 98">
              <a:extLst>
                <a:ext uri="{FF2B5EF4-FFF2-40B4-BE49-F238E27FC236}">
                  <a16:creationId xmlns:a16="http://schemas.microsoft.com/office/drawing/2014/main" id="{BE6AB7BA-7EC8-0044-B495-B5FBC9F37B18}"/>
                </a:ext>
              </a:extLst>
            </p:cNvPr>
            <p:cNvSpPr txBox="1"/>
            <p:nvPr/>
          </p:nvSpPr>
          <p:spPr>
            <a:xfrm>
              <a:off x="5844802" y="2291678"/>
              <a:ext cx="110820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HTTP msg</a:t>
              </a:r>
            </a:p>
          </p:txBody>
        </p:sp>
      </p:grpSp>
      <p:cxnSp>
        <p:nvCxnSpPr>
          <p:cNvPr id="104" name="Straight Connector 103">
            <a:extLst>
              <a:ext uri="{FF2B5EF4-FFF2-40B4-BE49-F238E27FC236}">
                <a16:creationId xmlns:a16="http://schemas.microsoft.com/office/drawing/2014/main" id="{8F458F2E-0B98-1741-9C0D-ECC805BD8799}"/>
              </a:ext>
            </a:extLst>
          </p:cNvPr>
          <p:cNvCxnSpPr>
            <a:cxnSpLocks/>
          </p:cNvCxnSpPr>
          <p:nvPr/>
        </p:nvCxnSpPr>
        <p:spPr>
          <a:xfrm>
            <a:off x="7011397" y="2484139"/>
            <a:ext cx="0" cy="3013786"/>
          </a:xfrm>
          <a:prstGeom prst="line">
            <a:avLst/>
          </a:prstGeom>
          <a:ln w="44450"/>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143591F4-8564-6A44-BC41-A0C901C7BC9C}"/>
              </a:ext>
            </a:extLst>
          </p:cNvPr>
          <p:cNvCxnSpPr>
            <a:cxnSpLocks/>
          </p:cNvCxnSpPr>
          <p:nvPr/>
        </p:nvCxnSpPr>
        <p:spPr>
          <a:xfrm>
            <a:off x="3184573" y="5478673"/>
            <a:ext cx="3851736" cy="0"/>
          </a:xfrm>
          <a:prstGeom prst="line">
            <a:avLst/>
          </a:prstGeom>
          <a:ln w="44450"/>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D8F1E19D-C79D-0399-56EA-1548EEA2BB22}"/>
              </a:ext>
            </a:extLst>
          </p:cNvPr>
          <p:cNvGrpSpPr/>
          <p:nvPr/>
        </p:nvGrpSpPr>
        <p:grpSpPr>
          <a:xfrm>
            <a:off x="5528837" y="2685375"/>
            <a:ext cx="1404036" cy="384588"/>
            <a:chOff x="8597346" y="692270"/>
            <a:chExt cx="1404036" cy="384588"/>
          </a:xfrm>
        </p:grpSpPr>
        <p:sp>
          <p:nvSpPr>
            <p:cNvPr id="12" name="Rectangle 11">
              <a:extLst>
                <a:ext uri="{FF2B5EF4-FFF2-40B4-BE49-F238E27FC236}">
                  <a16:creationId xmlns:a16="http://schemas.microsoft.com/office/drawing/2014/main" id="{545E4894-255A-88E4-2AC9-82A2C51C90CE}"/>
                </a:ext>
              </a:extLst>
            </p:cNvPr>
            <p:cNvSpPr/>
            <p:nvPr/>
          </p:nvSpPr>
          <p:spPr>
            <a:xfrm>
              <a:off x="8597936" y="756182"/>
              <a:ext cx="1403446" cy="266167"/>
            </a:xfrm>
            <a:prstGeom prst="rect">
              <a:avLst/>
            </a:prstGeom>
            <a:solidFill>
              <a:schemeClr val="bg1"/>
            </a:solid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3" name="TextBox 12">
              <a:extLst>
                <a:ext uri="{FF2B5EF4-FFF2-40B4-BE49-F238E27FC236}">
                  <a16:creationId xmlns:a16="http://schemas.microsoft.com/office/drawing/2014/main" id="{F8C4C298-170E-3D5D-F527-651548E2EB19}"/>
                </a:ext>
              </a:extLst>
            </p:cNvPr>
            <p:cNvSpPr txBox="1"/>
            <p:nvPr/>
          </p:nvSpPr>
          <p:spPr>
            <a:xfrm>
              <a:off x="8893175" y="707526"/>
              <a:ext cx="110820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HTTP msg</a:t>
              </a:r>
            </a:p>
          </p:txBody>
        </p:sp>
        <p:sp>
          <p:nvSpPr>
            <p:cNvPr id="14" name="TextBox 13">
              <a:extLst>
                <a:ext uri="{FF2B5EF4-FFF2-40B4-BE49-F238E27FC236}">
                  <a16:creationId xmlns:a16="http://schemas.microsoft.com/office/drawing/2014/main" id="{4315BD13-0EBF-E48C-A912-8A2018D96B53}"/>
                </a:ext>
              </a:extLst>
            </p:cNvPr>
            <p:cNvSpPr txBox="1"/>
            <p:nvPr/>
          </p:nvSpPr>
          <p:spPr>
            <a:xfrm>
              <a:off x="8597346" y="692270"/>
              <a:ext cx="38023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H</a:t>
              </a:r>
              <a:r>
                <a:rPr kumimoji="0" lang="en-US" sz="1800" b="0" i="0" u="none" strike="noStrike" kern="1200" cap="none" spc="0" normalizeH="0" baseline="-25000" noProof="0" dirty="0">
                  <a:ln>
                    <a:noFill/>
                  </a:ln>
                  <a:solidFill>
                    <a:prstClr val="black"/>
                  </a:solidFill>
                  <a:effectLst/>
                  <a:uLnTx/>
                  <a:uFillTx/>
                  <a:latin typeface="Calibri"/>
                  <a:ea typeface="+mn-ea"/>
                  <a:cs typeface="+mn-cs"/>
                </a:rPr>
                <a:t>t</a:t>
              </a:r>
            </a:p>
          </p:txBody>
        </p:sp>
      </p:grpSp>
      <p:grpSp>
        <p:nvGrpSpPr>
          <p:cNvPr id="21" name="Group 20">
            <a:extLst>
              <a:ext uri="{FF2B5EF4-FFF2-40B4-BE49-F238E27FC236}">
                <a16:creationId xmlns:a16="http://schemas.microsoft.com/office/drawing/2014/main" id="{BD8A7E22-A105-49C5-2F08-CFBB2A4F7EB3}"/>
              </a:ext>
            </a:extLst>
          </p:cNvPr>
          <p:cNvGrpSpPr/>
          <p:nvPr/>
        </p:nvGrpSpPr>
        <p:grpSpPr>
          <a:xfrm>
            <a:off x="5272320" y="3145339"/>
            <a:ext cx="1651423" cy="389371"/>
            <a:chOff x="8349959" y="687487"/>
            <a:chExt cx="1651423" cy="389371"/>
          </a:xfrm>
        </p:grpSpPr>
        <p:sp>
          <p:nvSpPr>
            <p:cNvPr id="22" name="Rectangle 21">
              <a:extLst>
                <a:ext uri="{FF2B5EF4-FFF2-40B4-BE49-F238E27FC236}">
                  <a16:creationId xmlns:a16="http://schemas.microsoft.com/office/drawing/2014/main" id="{C55FC8CA-9850-2897-FDF7-32850A59AD47}"/>
                </a:ext>
              </a:extLst>
            </p:cNvPr>
            <p:cNvSpPr/>
            <p:nvPr/>
          </p:nvSpPr>
          <p:spPr>
            <a:xfrm>
              <a:off x="8369532" y="756182"/>
              <a:ext cx="1631850" cy="266167"/>
            </a:xfrm>
            <a:prstGeom prst="rect">
              <a:avLst/>
            </a:prstGeom>
            <a:solidFill>
              <a:schemeClr val="bg1"/>
            </a:solid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3" name="TextBox 22">
              <a:extLst>
                <a:ext uri="{FF2B5EF4-FFF2-40B4-BE49-F238E27FC236}">
                  <a16:creationId xmlns:a16="http://schemas.microsoft.com/office/drawing/2014/main" id="{AA67C767-1F5A-6342-E5A6-3154E7B6B339}"/>
                </a:ext>
              </a:extLst>
            </p:cNvPr>
            <p:cNvSpPr txBox="1"/>
            <p:nvPr/>
          </p:nvSpPr>
          <p:spPr>
            <a:xfrm>
              <a:off x="8893175" y="707526"/>
              <a:ext cx="110820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HTTP msg</a:t>
              </a:r>
            </a:p>
          </p:txBody>
        </p:sp>
        <p:sp>
          <p:nvSpPr>
            <p:cNvPr id="24" name="TextBox 23">
              <a:extLst>
                <a:ext uri="{FF2B5EF4-FFF2-40B4-BE49-F238E27FC236}">
                  <a16:creationId xmlns:a16="http://schemas.microsoft.com/office/drawing/2014/main" id="{4121B5BB-BA6A-F414-E84E-3101842ACD4B}"/>
                </a:ext>
              </a:extLst>
            </p:cNvPr>
            <p:cNvSpPr txBox="1"/>
            <p:nvPr/>
          </p:nvSpPr>
          <p:spPr>
            <a:xfrm>
              <a:off x="8593764" y="690692"/>
              <a:ext cx="38023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H</a:t>
              </a:r>
              <a:r>
                <a:rPr kumimoji="0" lang="en-US" sz="1800" b="0" i="0" u="none" strike="noStrike" kern="1200" cap="none" spc="0" normalizeH="0" baseline="-25000" noProof="0" dirty="0">
                  <a:ln>
                    <a:noFill/>
                  </a:ln>
                  <a:solidFill>
                    <a:prstClr val="black"/>
                  </a:solidFill>
                  <a:effectLst/>
                  <a:uLnTx/>
                  <a:uFillTx/>
                  <a:latin typeface="Calibri"/>
                  <a:ea typeface="+mn-ea"/>
                  <a:cs typeface="+mn-cs"/>
                </a:rPr>
                <a:t>t</a:t>
              </a:r>
            </a:p>
          </p:txBody>
        </p:sp>
        <p:sp>
          <p:nvSpPr>
            <p:cNvPr id="25" name="TextBox 24">
              <a:extLst>
                <a:ext uri="{FF2B5EF4-FFF2-40B4-BE49-F238E27FC236}">
                  <a16:creationId xmlns:a16="http://schemas.microsoft.com/office/drawing/2014/main" id="{D0750AC3-5B88-E099-CDDB-3E6C13E05DE3}"/>
                </a:ext>
              </a:extLst>
            </p:cNvPr>
            <p:cNvSpPr txBox="1"/>
            <p:nvPr/>
          </p:nvSpPr>
          <p:spPr>
            <a:xfrm>
              <a:off x="8349959" y="687487"/>
              <a:ext cx="40908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H</a:t>
              </a:r>
              <a:r>
                <a:rPr kumimoji="0" lang="en-US" sz="1800" b="0" i="0" u="none" strike="noStrike" kern="1200" cap="none" spc="0" normalizeH="0" baseline="-25000" noProof="0" dirty="0">
                  <a:ln>
                    <a:noFill/>
                  </a:ln>
                  <a:solidFill>
                    <a:prstClr val="black"/>
                  </a:solidFill>
                  <a:effectLst/>
                  <a:uLnTx/>
                  <a:uFillTx/>
                  <a:latin typeface="Calibri"/>
                  <a:ea typeface="+mn-ea"/>
                  <a:cs typeface="+mn-cs"/>
                </a:rPr>
                <a:t>n</a:t>
              </a:r>
            </a:p>
          </p:txBody>
        </p:sp>
      </p:grpSp>
      <p:grpSp>
        <p:nvGrpSpPr>
          <p:cNvPr id="31" name="Group 30">
            <a:extLst>
              <a:ext uri="{FF2B5EF4-FFF2-40B4-BE49-F238E27FC236}">
                <a16:creationId xmlns:a16="http://schemas.microsoft.com/office/drawing/2014/main" id="{6CF77B7B-CAA6-5EE4-F51C-9FA3BA7AE0EA}"/>
              </a:ext>
            </a:extLst>
          </p:cNvPr>
          <p:cNvGrpSpPr/>
          <p:nvPr/>
        </p:nvGrpSpPr>
        <p:grpSpPr>
          <a:xfrm>
            <a:off x="4107096" y="5561831"/>
            <a:ext cx="1651423" cy="389371"/>
            <a:chOff x="8349959" y="687487"/>
            <a:chExt cx="1651423" cy="389371"/>
          </a:xfrm>
        </p:grpSpPr>
        <p:sp>
          <p:nvSpPr>
            <p:cNvPr id="32" name="Rectangle 31">
              <a:extLst>
                <a:ext uri="{FF2B5EF4-FFF2-40B4-BE49-F238E27FC236}">
                  <a16:creationId xmlns:a16="http://schemas.microsoft.com/office/drawing/2014/main" id="{362B2F3C-1A2C-22DE-11C6-35EF01FB4964}"/>
                </a:ext>
              </a:extLst>
            </p:cNvPr>
            <p:cNvSpPr/>
            <p:nvPr/>
          </p:nvSpPr>
          <p:spPr>
            <a:xfrm>
              <a:off x="8369532" y="756182"/>
              <a:ext cx="1631850" cy="266167"/>
            </a:xfrm>
            <a:prstGeom prst="rect">
              <a:avLst/>
            </a:prstGeom>
            <a:solidFill>
              <a:schemeClr val="bg1"/>
            </a:solid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33" name="TextBox 32">
              <a:extLst>
                <a:ext uri="{FF2B5EF4-FFF2-40B4-BE49-F238E27FC236}">
                  <a16:creationId xmlns:a16="http://schemas.microsoft.com/office/drawing/2014/main" id="{63BA422A-055D-83BF-7614-2A6490E1E42A}"/>
                </a:ext>
              </a:extLst>
            </p:cNvPr>
            <p:cNvSpPr txBox="1"/>
            <p:nvPr/>
          </p:nvSpPr>
          <p:spPr>
            <a:xfrm>
              <a:off x="8893175" y="707526"/>
              <a:ext cx="110820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HTTP msg</a:t>
              </a:r>
            </a:p>
          </p:txBody>
        </p:sp>
        <p:sp>
          <p:nvSpPr>
            <p:cNvPr id="34" name="TextBox 33">
              <a:extLst>
                <a:ext uri="{FF2B5EF4-FFF2-40B4-BE49-F238E27FC236}">
                  <a16:creationId xmlns:a16="http://schemas.microsoft.com/office/drawing/2014/main" id="{847F086F-8EE5-B65B-F3AD-B90AC3BAA993}"/>
                </a:ext>
              </a:extLst>
            </p:cNvPr>
            <p:cNvSpPr txBox="1"/>
            <p:nvPr/>
          </p:nvSpPr>
          <p:spPr>
            <a:xfrm>
              <a:off x="8593764" y="690692"/>
              <a:ext cx="38023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H</a:t>
              </a:r>
              <a:r>
                <a:rPr kumimoji="0" lang="en-US" sz="1800" b="0" i="0" u="none" strike="noStrike" kern="1200" cap="none" spc="0" normalizeH="0" baseline="-25000" noProof="0" dirty="0">
                  <a:ln>
                    <a:noFill/>
                  </a:ln>
                  <a:solidFill>
                    <a:prstClr val="black"/>
                  </a:solidFill>
                  <a:effectLst/>
                  <a:uLnTx/>
                  <a:uFillTx/>
                  <a:latin typeface="Calibri"/>
                  <a:ea typeface="+mn-ea"/>
                  <a:cs typeface="+mn-cs"/>
                </a:rPr>
                <a:t>t</a:t>
              </a:r>
            </a:p>
          </p:txBody>
        </p:sp>
        <p:sp>
          <p:nvSpPr>
            <p:cNvPr id="35" name="TextBox 34">
              <a:extLst>
                <a:ext uri="{FF2B5EF4-FFF2-40B4-BE49-F238E27FC236}">
                  <a16:creationId xmlns:a16="http://schemas.microsoft.com/office/drawing/2014/main" id="{A767B5E6-9B62-1E9F-8ECC-7C6440F2D722}"/>
                </a:ext>
              </a:extLst>
            </p:cNvPr>
            <p:cNvSpPr txBox="1"/>
            <p:nvPr/>
          </p:nvSpPr>
          <p:spPr>
            <a:xfrm>
              <a:off x="8349959" y="687487"/>
              <a:ext cx="40908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H</a:t>
              </a:r>
              <a:r>
                <a:rPr kumimoji="0" lang="en-US" sz="1800" b="0" i="0" u="none" strike="noStrike" kern="1200" cap="none" spc="0" normalizeH="0" baseline="-25000" noProof="0" dirty="0">
                  <a:ln>
                    <a:noFill/>
                  </a:ln>
                  <a:solidFill>
                    <a:prstClr val="black"/>
                  </a:solidFill>
                  <a:effectLst/>
                  <a:uLnTx/>
                  <a:uFillTx/>
                  <a:latin typeface="Calibri"/>
                  <a:ea typeface="+mn-ea"/>
                  <a:cs typeface="+mn-cs"/>
                </a:rPr>
                <a:t>n</a:t>
              </a:r>
            </a:p>
          </p:txBody>
        </p:sp>
      </p:grpSp>
      <p:cxnSp>
        <p:nvCxnSpPr>
          <p:cNvPr id="36" name="Straight Connector 35">
            <a:extLst>
              <a:ext uri="{FF2B5EF4-FFF2-40B4-BE49-F238E27FC236}">
                <a16:creationId xmlns:a16="http://schemas.microsoft.com/office/drawing/2014/main" id="{C50FCAC8-2BD7-5831-502D-460A2985C4FB}"/>
              </a:ext>
            </a:extLst>
          </p:cNvPr>
          <p:cNvCxnSpPr>
            <a:cxnSpLocks/>
          </p:cNvCxnSpPr>
          <p:nvPr/>
        </p:nvCxnSpPr>
        <p:spPr>
          <a:xfrm>
            <a:off x="3184573" y="5478673"/>
            <a:ext cx="3851736" cy="0"/>
          </a:xfrm>
          <a:prstGeom prst="line">
            <a:avLst/>
          </a:prstGeom>
          <a:ln w="44450"/>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3B86B99E-8B69-2971-9DBA-1E90AD4CFFA5}"/>
              </a:ext>
            </a:extLst>
          </p:cNvPr>
          <p:cNvCxnSpPr/>
          <p:nvPr/>
        </p:nvCxnSpPr>
        <p:spPr>
          <a:xfrm flipH="1">
            <a:off x="3701909" y="5774614"/>
            <a:ext cx="300263"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grpSp>
        <p:nvGrpSpPr>
          <p:cNvPr id="38" name="Group 37">
            <a:extLst>
              <a:ext uri="{FF2B5EF4-FFF2-40B4-BE49-F238E27FC236}">
                <a16:creationId xmlns:a16="http://schemas.microsoft.com/office/drawing/2014/main" id="{0F2BD8D8-9D10-8B19-1C62-4230F283322B}"/>
              </a:ext>
            </a:extLst>
          </p:cNvPr>
          <p:cNvGrpSpPr/>
          <p:nvPr/>
        </p:nvGrpSpPr>
        <p:grpSpPr>
          <a:xfrm>
            <a:off x="1825736" y="3693979"/>
            <a:ext cx="1651423" cy="389371"/>
            <a:chOff x="8349959" y="687487"/>
            <a:chExt cx="1651423" cy="389371"/>
          </a:xfrm>
        </p:grpSpPr>
        <p:sp>
          <p:nvSpPr>
            <p:cNvPr id="39" name="Rectangle 38">
              <a:extLst>
                <a:ext uri="{FF2B5EF4-FFF2-40B4-BE49-F238E27FC236}">
                  <a16:creationId xmlns:a16="http://schemas.microsoft.com/office/drawing/2014/main" id="{C37143D8-5E22-4921-A36A-DE7F809ACE66}"/>
                </a:ext>
              </a:extLst>
            </p:cNvPr>
            <p:cNvSpPr/>
            <p:nvPr/>
          </p:nvSpPr>
          <p:spPr>
            <a:xfrm>
              <a:off x="8369532" y="756182"/>
              <a:ext cx="1631850" cy="266167"/>
            </a:xfrm>
            <a:prstGeom prst="rect">
              <a:avLst/>
            </a:prstGeom>
            <a:solidFill>
              <a:schemeClr val="bg1"/>
            </a:solid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40" name="TextBox 39">
              <a:extLst>
                <a:ext uri="{FF2B5EF4-FFF2-40B4-BE49-F238E27FC236}">
                  <a16:creationId xmlns:a16="http://schemas.microsoft.com/office/drawing/2014/main" id="{82C57A99-F5E8-A08D-D8C0-7C5182504E89}"/>
                </a:ext>
              </a:extLst>
            </p:cNvPr>
            <p:cNvSpPr txBox="1"/>
            <p:nvPr/>
          </p:nvSpPr>
          <p:spPr>
            <a:xfrm>
              <a:off x="8893175" y="707526"/>
              <a:ext cx="110820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HTTP msg</a:t>
              </a:r>
            </a:p>
          </p:txBody>
        </p:sp>
        <p:sp>
          <p:nvSpPr>
            <p:cNvPr id="41" name="TextBox 40">
              <a:extLst>
                <a:ext uri="{FF2B5EF4-FFF2-40B4-BE49-F238E27FC236}">
                  <a16:creationId xmlns:a16="http://schemas.microsoft.com/office/drawing/2014/main" id="{F5073EDC-3591-CB08-2DDA-368C690C6706}"/>
                </a:ext>
              </a:extLst>
            </p:cNvPr>
            <p:cNvSpPr txBox="1"/>
            <p:nvPr/>
          </p:nvSpPr>
          <p:spPr>
            <a:xfrm>
              <a:off x="8593764" y="690692"/>
              <a:ext cx="38023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H</a:t>
              </a:r>
              <a:r>
                <a:rPr kumimoji="0" lang="en-US" sz="1800" b="0" i="0" u="none" strike="noStrike" kern="1200" cap="none" spc="0" normalizeH="0" baseline="-25000" noProof="0" dirty="0">
                  <a:ln>
                    <a:noFill/>
                  </a:ln>
                  <a:solidFill>
                    <a:prstClr val="black"/>
                  </a:solidFill>
                  <a:effectLst/>
                  <a:uLnTx/>
                  <a:uFillTx/>
                  <a:latin typeface="Calibri"/>
                  <a:ea typeface="+mn-ea"/>
                  <a:cs typeface="+mn-cs"/>
                </a:rPr>
                <a:t>t</a:t>
              </a:r>
            </a:p>
          </p:txBody>
        </p:sp>
        <p:sp>
          <p:nvSpPr>
            <p:cNvPr id="42" name="TextBox 41">
              <a:extLst>
                <a:ext uri="{FF2B5EF4-FFF2-40B4-BE49-F238E27FC236}">
                  <a16:creationId xmlns:a16="http://schemas.microsoft.com/office/drawing/2014/main" id="{C979AAC8-CBF1-2DA6-B365-73E019AA038B}"/>
                </a:ext>
              </a:extLst>
            </p:cNvPr>
            <p:cNvSpPr txBox="1"/>
            <p:nvPr/>
          </p:nvSpPr>
          <p:spPr>
            <a:xfrm>
              <a:off x="8349959" y="687487"/>
              <a:ext cx="40908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H</a:t>
              </a:r>
              <a:r>
                <a:rPr kumimoji="0" lang="en-US" sz="1800" b="0" i="0" u="none" strike="noStrike" kern="1200" cap="none" spc="0" normalizeH="0" baseline="-25000" noProof="0" dirty="0">
                  <a:ln>
                    <a:noFill/>
                  </a:ln>
                  <a:solidFill>
                    <a:prstClr val="black"/>
                  </a:solidFill>
                  <a:effectLst/>
                  <a:uLnTx/>
                  <a:uFillTx/>
                  <a:latin typeface="Calibri"/>
                  <a:ea typeface="+mn-ea"/>
                  <a:cs typeface="+mn-cs"/>
                </a:rPr>
                <a:t>n</a:t>
              </a:r>
            </a:p>
          </p:txBody>
        </p:sp>
      </p:grpSp>
    </p:spTree>
    <p:extLst>
      <p:ext uri="{BB962C8B-B14F-4D97-AF65-F5344CB8AC3E}">
        <p14:creationId xmlns:p14="http://schemas.microsoft.com/office/powerpoint/2010/main" val="31405326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xit" presetSubtype="0" fill="hold" nodeType="clickEffect">
                                  <p:stCondLst>
                                    <p:cond delay="0"/>
                                  </p:stCondLst>
                                  <p:childTnLst>
                                    <p:animEffect transition="out" filter="dissolve">
                                      <p:cBhvr>
                                        <p:cTn id="6" dur="500"/>
                                        <p:tgtEl>
                                          <p:spTgt spid="7"/>
                                        </p:tgtEl>
                                      </p:cBhvr>
                                    </p:animEffect>
                                    <p:set>
                                      <p:cBhvr>
                                        <p:cTn id="7" dur="1" fill="hold">
                                          <p:stCondLst>
                                            <p:cond delay="499"/>
                                          </p:stCondLst>
                                        </p:cTn>
                                        <p:tgtEl>
                                          <p:spTgt spid="7"/>
                                        </p:tgtEl>
                                        <p:attrNameLst>
                                          <p:attrName>style.visibility</p:attrName>
                                        </p:attrNameLst>
                                      </p:cBhvr>
                                      <p:to>
                                        <p:strVal val="hidden"/>
                                      </p:to>
                                    </p:set>
                                  </p:childTnLst>
                                </p:cTn>
                              </p:par>
                              <p:par>
                                <p:cTn id="8" presetID="9"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dissolve">
                                      <p:cBhvr>
                                        <p:cTn id="10" dur="5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xit" presetSubtype="0" fill="hold" nodeType="clickEffect">
                                  <p:stCondLst>
                                    <p:cond delay="0"/>
                                  </p:stCondLst>
                                  <p:childTnLst>
                                    <p:animEffect transition="out" filter="dissolve">
                                      <p:cBhvr>
                                        <p:cTn id="14" dur="500"/>
                                        <p:tgtEl>
                                          <p:spTgt spid="10"/>
                                        </p:tgtEl>
                                      </p:cBhvr>
                                    </p:animEffect>
                                    <p:set>
                                      <p:cBhvr>
                                        <p:cTn id="15" dur="1" fill="hold">
                                          <p:stCondLst>
                                            <p:cond delay="499"/>
                                          </p:stCondLst>
                                        </p:cTn>
                                        <p:tgtEl>
                                          <p:spTgt spid="10"/>
                                        </p:tgtEl>
                                        <p:attrNameLst>
                                          <p:attrName>style.visibility</p:attrName>
                                        </p:attrNameLst>
                                      </p:cBhvr>
                                      <p:to>
                                        <p:strVal val="hidden"/>
                                      </p:to>
                                    </p:set>
                                  </p:childTnLst>
                                </p:cTn>
                              </p:par>
                              <p:par>
                                <p:cTn id="16" presetID="9" presetClass="entr" presetSubtype="0" fill="hold"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dissolve">
                                      <p:cBhvr>
                                        <p:cTn id="18" dur="500"/>
                                        <p:tgtEl>
                                          <p:spTgt spid="21"/>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xit" presetSubtype="0" fill="hold" nodeType="clickEffect">
                                  <p:stCondLst>
                                    <p:cond delay="0"/>
                                  </p:stCondLst>
                                  <p:childTnLst>
                                    <p:animEffect transition="out" filter="dissolve">
                                      <p:cBhvr>
                                        <p:cTn id="22" dur="500"/>
                                        <p:tgtEl>
                                          <p:spTgt spid="21"/>
                                        </p:tgtEl>
                                      </p:cBhvr>
                                    </p:animEffect>
                                    <p:set>
                                      <p:cBhvr>
                                        <p:cTn id="23" dur="1" fill="hold">
                                          <p:stCondLst>
                                            <p:cond delay="499"/>
                                          </p:stCondLst>
                                        </p:cTn>
                                        <p:tgtEl>
                                          <p:spTgt spid="21"/>
                                        </p:tgtEl>
                                        <p:attrNameLst>
                                          <p:attrName>style.visibility</p:attrName>
                                        </p:attrNameLst>
                                      </p:cBhvr>
                                      <p:to>
                                        <p:strVal val="hidden"/>
                                      </p:to>
                                    </p:set>
                                  </p:childTnLst>
                                </p:cTn>
                              </p:par>
                            </p:childTnLst>
                          </p:cTn>
                        </p:par>
                        <p:par>
                          <p:cTn id="24" fill="hold">
                            <p:stCondLst>
                              <p:cond delay="500"/>
                            </p:stCondLst>
                            <p:childTnLst>
                              <p:par>
                                <p:cTn id="25" presetID="22" presetClass="entr" presetSubtype="2" fill="hold" nodeType="afterEffect">
                                  <p:stCondLst>
                                    <p:cond delay="0"/>
                                  </p:stCondLst>
                                  <p:childTnLst>
                                    <p:set>
                                      <p:cBhvr>
                                        <p:cTn id="26" dur="1" fill="hold">
                                          <p:stCondLst>
                                            <p:cond delay="0"/>
                                          </p:stCondLst>
                                        </p:cTn>
                                        <p:tgtEl>
                                          <p:spTgt spid="31"/>
                                        </p:tgtEl>
                                        <p:attrNameLst>
                                          <p:attrName>style.visibility</p:attrName>
                                        </p:attrNameLst>
                                      </p:cBhvr>
                                      <p:to>
                                        <p:strVal val="visible"/>
                                      </p:to>
                                    </p:set>
                                    <p:animEffect transition="in" filter="wipe(right)">
                                      <p:cBhvr>
                                        <p:cTn id="27" dur="500"/>
                                        <p:tgtEl>
                                          <p:spTgt spid="31"/>
                                        </p:tgtEl>
                                      </p:cBhvr>
                                    </p:animEffect>
                                  </p:childTnLst>
                                </p:cTn>
                              </p:par>
                            </p:childTnLst>
                          </p:cTn>
                        </p:par>
                        <p:par>
                          <p:cTn id="28" fill="hold">
                            <p:stCondLst>
                              <p:cond delay="1000"/>
                            </p:stCondLst>
                            <p:childTnLst>
                              <p:par>
                                <p:cTn id="29" presetID="22" presetClass="entr" presetSubtype="2" fill="hold" nodeType="afterEffect">
                                  <p:stCondLst>
                                    <p:cond delay="0"/>
                                  </p:stCondLst>
                                  <p:childTnLst>
                                    <p:set>
                                      <p:cBhvr>
                                        <p:cTn id="30" dur="1" fill="hold">
                                          <p:stCondLst>
                                            <p:cond delay="0"/>
                                          </p:stCondLst>
                                        </p:cTn>
                                        <p:tgtEl>
                                          <p:spTgt spid="37"/>
                                        </p:tgtEl>
                                        <p:attrNameLst>
                                          <p:attrName>style.visibility</p:attrName>
                                        </p:attrNameLst>
                                      </p:cBhvr>
                                      <p:to>
                                        <p:strVal val="visible"/>
                                      </p:to>
                                    </p:set>
                                    <p:animEffect transition="in" filter="wipe(right)">
                                      <p:cBhvr>
                                        <p:cTn id="31" dur="500"/>
                                        <p:tgtEl>
                                          <p:spTgt spid="37"/>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xit" presetSubtype="0" fill="hold" nodeType="clickEffect">
                                  <p:stCondLst>
                                    <p:cond delay="0"/>
                                  </p:stCondLst>
                                  <p:childTnLst>
                                    <p:animEffect transition="out" filter="dissolve">
                                      <p:cBhvr>
                                        <p:cTn id="35" dur="500"/>
                                        <p:tgtEl>
                                          <p:spTgt spid="31"/>
                                        </p:tgtEl>
                                      </p:cBhvr>
                                    </p:animEffect>
                                    <p:set>
                                      <p:cBhvr>
                                        <p:cTn id="36" dur="1" fill="hold">
                                          <p:stCondLst>
                                            <p:cond delay="499"/>
                                          </p:stCondLst>
                                        </p:cTn>
                                        <p:tgtEl>
                                          <p:spTgt spid="31"/>
                                        </p:tgtEl>
                                        <p:attrNameLst>
                                          <p:attrName>style.visibility</p:attrName>
                                        </p:attrNameLst>
                                      </p:cBhvr>
                                      <p:to>
                                        <p:strVal val="hidden"/>
                                      </p:to>
                                    </p:set>
                                  </p:childTnLst>
                                </p:cTn>
                              </p:par>
                              <p:par>
                                <p:cTn id="37" presetID="9" presetClass="exit" presetSubtype="0" fill="hold" nodeType="withEffect">
                                  <p:stCondLst>
                                    <p:cond delay="0"/>
                                  </p:stCondLst>
                                  <p:childTnLst>
                                    <p:animEffect transition="out" filter="dissolve">
                                      <p:cBhvr>
                                        <p:cTn id="38" dur="500"/>
                                        <p:tgtEl>
                                          <p:spTgt spid="37"/>
                                        </p:tgtEl>
                                      </p:cBhvr>
                                    </p:animEffect>
                                    <p:set>
                                      <p:cBhvr>
                                        <p:cTn id="39" dur="1" fill="hold">
                                          <p:stCondLst>
                                            <p:cond delay="499"/>
                                          </p:stCondLst>
                                        </p:cTn>
                                        <p:tgtEl>
                                          <p:spTgt spid="37"/>
                                        </p:tgtEl>
                                        <p:attrNameLst>
                                          <p:attrName>style.visibility</p:attrName>
                                        </p:attrNameLst>
                                      </p:cBhvr>
                                      <p:to>
                                        <p:strVal val="hidden"/>
                                      </p:to>
                                    </p:set>
                                  </p:childTnLst>
                                </p:cTn>
                              </p:par>
                              <p:par>
                                <p:cTn id="40" presetID="9" presetClass="entr" presetSubtype="0" fill="hold" nodeType="withEffect">
                                  <p:stCondLst>
                                    <p:cond delay="0"/>
                                  </p:stCondLst>
                                  <p:childTnLst>
                                    <p:set>
                                      <p:cBhvr>
                                        <p:cTn id="41" dur="1" fill="hold">
                                          <p:stCondLst>
                                            <p:cond delay="0"/>
                                          </p:stCondLst>
                                        </p:cTn>
                                        <p:tgtEl>
                                          <p:spTgt spid="38"/>
                                        </p:tgtEl>
                                        <p:attrNameLst>
                                          <p:attrName>style.visibility</p:attrName>
                                        </p:attrNameLst>
                                      </p:cBhvr>
                                      <p:to>
                                        <p:strVal val="visible"/>
                                      </p:to>
                                    </p:set>
                                    <p:animEffect transition="in" filter="dissolve">
                                      <p:cBhvr>
                                        <p:cTn id="42"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08AF567B-A744-BF46-B80D-389C2E4393B6}"/>
              </a:ext>
            </a:extLst>
          </p:cNvPr>
          <p:cNvGrpSpPr/>
          <p:nvPr/>
        </p:nvGrpSpPr>
        <p:grpSpPr>
          <a:xfrm>
            <a:off x="141514" y="1298122"/>
            <a:ext cx="11908971" cy="4268807"/>
            <a:chOff x="2511281" y="3572744"/>
            <a:chExt cx="7770812" cy="2811463"/>
          </a:xfrm>
        </p:grpSpPr>
        <p:sp>
          <p:nvSpPr>
            <p:cNvPr id="132" name="Freeform 157">
              <a:extLst>
                <a:ext uri="{FF2B5EF4-FFF2-40B4-BE49-F238E27FC236}">
                  <a16:creationId xmlns:a16="http://schemas.microsoft.com/office/drawing/2014/main" id="{511A693F-4BF3-344C-BDC6-28BAA983976E}"/>
                </a:ext>
              </a:extLst>
            </p:cNvPr>
            <p:cNvSpPr>
              <a:spLocks/>
            </p:cNvSpPr>
            <p:nvPr/>
          </p:nvSpPr>
          <p:spPr bwMode="auto">
            <a:xfrm>
              <a:off x="5108431" y="3572744"/>
              <a:ext cx="552450" cy="2082800"/>
            </a:xfrm>
            <a:custGeom>
              <a:avLst/>
              <a:gdLst>
                <a:gd name="T0" fmla="*/ 0 w 348"/>
                <a:gd name="T1" fmla="*/ 2147483647 h 1312"/>
                <a:gd name="T2" fmla="*/ 2147483647 w 348"/>
                <a:gd name="T3" fmla="*/ 0 h 1312"/>
                <a:gd name="T4" fmla="*/ 2147483647 w 348"/>
                <a:gd name="T5" fmla="*/ 2147483647 h 1312"/>
                <a:gd name="T6" fmla="*/ 2147483647 w 348"/>
                <a:gd name="T7" fmla="*/ 2147483647 h 1312"/>
                <a:gd name="T8" fmla="*/ 0 w 348"/>
                <a:gd name="T9" fmla="*/ 2147483647 h 13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8" h="1312">
                  <a:moveTo>
                    <a:pt x="0" y="1306"/>
                  </a:moveTo>
                  <a:lnTo>
                    <a:pt x="348" y="0"/>
                  </a:lnTo>
                  <a:lnTo>
                    <a:pt x="342" y="1258"/>
                  </a:lnTo>
                  <a:lnTo>
                    <a:pt x="180" y="1312"/>
                  </a:lnTo>
                  <a:lnTo>
                    <a:pt x="0" y="1306"/>
                  </a:lnTo>
                  <a:close/>
                </a:path>
              </a:pathLst>
            </a:custGeom>
            <a:gradFill rotWithShape="1">
              <a:gsLst>
                <a:gs pos="0">
                  <a:srgbClr val="FFFFFF"/>
                </a:gs>
                <a:gs pos="100000">
                  <a:srgbClr val="B2B2B2"/>
                </a:gs>
              </a:gsLst>
              <a:lin ang="0" scaled="1"/>
            </a:gradFill>
            <a:ln w="9525">
              <a:solidFill>
                <a:srgbClr val="DDDDDD"/>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45" name="Rectangle 23">
              <a:extLst>
                <a:ext uri="{FF2B5EF4-FFF2-40B4-BE49-F238E27FC236}">
                  <a16:creationId xmlns:a16="http://schemas.microsoft.com/office/drawing/2014/main" id="{F1314FFD-BA11-A042-BA84-1061E3729058}"/>
                </a:ext>
              </a:extLst>
            </p:cNvPr>
            <p:cNvSpPr>
              <a:spLocks noChangeArrowheads="1"/>
            </p:cNvSpPr>
            <p:nvPr/>
          </p:nvSpPr>
          <p:spPr bwMode="auto">
            <a:xfrm>
              <a:off x="5656118" y="3623544"/>
              <a:ext cx="1497013" cy="1981200"/>
            </a:xfrm>
            <a:prstGeom prst="rect">
              <a:avLst/>
            </a:prstGeom>
            <a:solidFill>
              <a:srgbClr val="000099"/>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46" name="Rectangle 24">
              <a:extLst>
                <a:ext uri="{FF2B5EF4-FFF2-40B4-BE49-F238E27FC236}">
                  <a16:creationId xmlns:a16="http://schemas.microsoft.com/office/drawing/2014/main" id="{89D8A59C-E128-B74A-B94F-06FAC9DB7326}"/>
                </a:ext>
              </a:extLst>
            </p:cNvPr>
            <p:cNvSpPr>
              <a:spLocks noChangeArrowheads="1"/>
            </p:cNvSpPr>
            <p:nvPr/>
          </p:nvSpPr>
          <p:spPr bwMode="auto">
            <a:xfrm>
              <a:off x="5621193" y="3677519"/>
              <a:ext cx="1473200" cy="1979613"/>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47" name="Line 25">
              <a:extLst>
                <a:ext uri="{FF2B5EF4-FFF2-40B4-BE49-F238E27FC236}">
                  <a16:creationId xmlns:a16="http://schemas.microsoft.com/office/drawing/2014/main" id="{B922FB1F-8B1A-1843-A740-29E910EB3E97}"/>
                </a:ext>
              </a:extLst>
            </p:cNvPr>
            <p:cNvSpPr>
              <a:spLocks noChangeShapeType="1"/>
            </p:cNvSpPr>
            <p:nvPr/>
          </p:nvSpPr>
          <p:spPr bwMode="auto">
            <a:xfrm>
              <a:off x="5627543" y="4447457"/>
              <a:ext cx="146050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48" name="Text Box 26">
              <a:extLst>
                <a:ext uri="{FF2B5EF4-FFF2-40B4-BE49-F238E27FC236}">
                  <a16:creationId xmlns:a16="http://schemas.microsoft.com/office/drawing/2014/main" id="{BE3B5056-5F96-5946-AEC3-17140DB163F4}"/>
                </a:ext>
              </a:extLst>
            </p:cNvPr>
            <p:cNvSpPr txBox="1">
              <a:spLocks noChangeArrowheads="1"/>
            </p:cNvSpPr>
            <p:nvPr/>
          </p:nvSpPr>
          <p:spPr bwMode="auto">
            <a:xfrm>
              <a:off x="5698981" y="4480178"/>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transport</a:t>
              </a:r>
            </a:p>
          </p:txBody>
        </p:sp>
        <p:sp>
          <p:nvSpPr>
            <p:cNvPr id="149" name="Line 27">
              <a:extLst>
                <a:ext uri="{FF2B5EF4-FFF2-40B4-BE49-F238E27FC236}">
                  <a16:creationId xmlns:a16="http://schemas.microsoft.com/office/drawing/2014/main" id="{FF1A214D-FBCE-7342-8332-F3FA9C577B4A}"/>
                </a:ext>
              </a:extLst>
            </p:cNvPr>
            <p:cNvSpPr>
              <a:spLocks noChangeShapeType="1"/>
            </p:cNvSpPr>
            <p:nvPr/>
          </p:nvSpPr>
          <p:spPr bwMode="auto">
            <a:xfrm>
              <a:off x="5629131" y="4764957"/>
              <a:ext cx="1457325"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51" name="Text Box 26">
              <a:extLst>
                <a:ext uri="{FF2B5EF4-FFF2-40B4-BE49-F238E27FC236}">
                  <a16:creationId xmlns:a16="http://schemas.microsoft.com/office/drawing/2014/main" id="{50D62C6A-4C80-854F-A4B8-723E99A5A7F0}"/>
                </a:ext>
              </a:extLst>
            </p:cNvPr>
            <p:cNvSpPr txBox="1">
              <a:spLocks noChangeArrowheads="1"/>
            </p:cNvSpPr>
            <p:nvPr/>
          </p:nvSpPr>
          <p:spPr bwMode="auto">
            <a:xfrm>
              <a:off x="5692631" y="5377884"/>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physical</a:t>
              </a:r>
            </a:p>
          </p:txBody>
        </p:sp>
        <p:sp>
          <p:nvSpPr>
            <p:cNvPr id="152" name="Text Box 26">
              <a:extLst>
                <a:ext uri="{FF2B5EF4-FFF2-40B4-BE49-F238E27FC236}">
                  <a16:creationId xmlns:a16="http://schemas.microsoft.com/office/drawing/2014/main" id="{A79D3A45-C33B-7046-9088-A02FAACCA14B}"/>
                </a:ext>
              </a:extLst>
            </p:cNvPr>
            <p:cNvSpPr txBox="1">
              <a:spLocks noChangeArrowheads="1"/>
            </p:cNvSpPr>
            <p:nvPr/>
          </p:nvSpPr>
          <p:spPr bwMode="auto">
            <a:xfrm>
              <a:off x="5692631" y="5084965"/>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link</a:t>
              </a:r>
            </a:p>
          </p:txBody>
        </p:sp>
        <p:sp>
          <p:nvSpPr>
            <p:cNvPr id="153" name="Text Box 26">
              <a:extLst>
                <a:ext uri="{FF2B5EF4-FFF2-40B4-BE49-F238E27FC236}">
                  <a16:creationId xmlns:a16="http://schemas.microsoft.com/office/drawing/2014/main" id="{F3520259-D4C5-3340-8000-3B8C746A7797}"/>
                </a:ext>
              </a:extLst>
            </p:cNvPr>
            <p:cNvSpPr txBox="1">
              <a:spLocks noChangeArrowheads="1"/>
            </p:cNvSpPr>
            <p:nvPr/>
          </p:nvSpPr>
          <p:spPr bwMode="auto">
            <a:xfrm>
              <a:off x="5692631" y="4793686"/>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network</a:t>
              </a:r>
            </a:p>
          </p:txBody>
        </p:sp>
        <p:sp>
          <p:nvSpPr>
            <p:cNvPr id="155" name="Line 27">
              <a:extLst>
                <a:ext uri="{FF2B5EF4-FFF2-40B4-BE49-F238E27FC236}">
                  <a16:creationId xmlns:a16="http://schemas.microsoft.com/office/drawing/2014/main" id="{E1326351-38D1-A440-A7B8-5079367D54AC}"/>
                </a:ext>
              </a:extLst>
            </p:cNvPr>
            <p:cNvSpPr>
              <a:spLocks noChangeShapeType="1"/>
            </p:cNvSpPr>
            <p:nvPr/>
          </p:nvSpPr>
          <p:spPr bwMode="auto">
            <a:xfrm>
              <a:off x="5625956" y="5076107"/>
              <a:ext cx="1457325"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56" name="Line 27">
              <a:extLst>
                <a:ext uri="{FF2B5EF4-FFF2-40B4-BE49-F238E27FC236}">
                  <a16:creationId xmlns:a16="http://schemas.microsoft.com/office/drawing/2014/main" id="{891B0B5D-A14D-1A40-B291-CC1A04A094FC}"/>
                </a:ext>
              </a:extLst>
            </p:cNvPr>
            <p:cNvSpPr>
              <a:spLocks noChangeShapeType="1"/>
            </p:cNvSpPr>
            <p:nvPr/>
          </p:nvSpPr>
          <p:spPr bwMode="auto">
            <a:xfrm>
              <a:off x="5622781" y="5374557"/>
              <a:ext cx="1457325"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0" name="Rectangle 23">
              <a:extLst>
                <a:ext uri="{FF2B5EF4-FFF2-40B4-BE49-F238E27FC236}">
                  <a16:creationId xmlns:a16="http://schemas.microsoft.com/office/drawing/2014/main" id="{18A5F7E9-E597-8A49-8FBA-5EBCB6131519}"/>
                </a:ext>
              </a:extLst>
            </p:cNvPr>
            <p:cNvSpPr>
              <a:spLocks noChangeArrowheads="1"/>
            </p:cNvSpPr>
            <p:nvPr/>
          </p:nvSpPr>
          <p:spPr bwMode="auto">
            <a:xfrm>
              <a:off x="7918306" y="3993432"/>
              <a:ext cx="1296987" cy="1981200"/>
            </a:xfrm>
            <a:prstGeom prst="rect">
              <a:avLst/>
            </a:prstGeom>
            <a:solidFill>
              <a:srgbClr val="000099"/>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71" name="Rectangle 24">
              <a:extLst>
                <a:ext uri="{FF2B5EF4-FFF2-40B4-BE49-F238E27FC236}">
                  <a16:creationId xmlns:a16="http://schemas.microsoft.com/office/drawing/2014/main" id="{5DFFE03C-FB1C-D742-84E9-52CBDDB98DB1}"/>
                </a:ext>
              </a:extLst>
            </p:cNvPr>
            <p:cNvSpPr>
              <a:spLocks noChangeArrowheads="1"/>
            </p:cNvSpPr>
            <p:nvPr/>
          </p:nvSpPr>
          <p:spPr bwMode="auto">
            <a:xfrm>
              <a:off x="7880206" y="4047407"/>
              <a:ext cx="1273175" cy="1979612"/>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72" name="Line 25">
              <a:extLst>
                <a:ext uri="{FF2B5EF4-FFF2-40B4-BE49-F238E27FC236}">
                  <a16:creationId xmlns:a16="http://schemas.microsoft.com/office/drawing/2014/main" id="{5AD7BC14-F444-E745-8910-70D580A778B1}"/>
                </a:ext>
              </a:extLst>
            </p:cNvPr>
            <p:cNvSpPr>
              <a:spLocks noChangeShapeType="1"/>
            </p:cNvSpPr>
            <p:nvPr/>
          </p:nvSpPr>
          <p:spPr bwMode="auto">
            <a:xfrm>
              <a:off x="7889731" y="4807819"/>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3" name="Text Box 26">
              <a:extLst>
                <a:ext uri="{FF2B5EF4-FFF2-40B4-BE49-F238E27FC236}">
                  <a16:creationId xmlns:a16="http://schemas.microsoft.com/office/drawing/2014/main" id="{1058B2AB-1EA8-1A46-9E03-D8FFDD9E541B}"/>
                </a:ext>
              </a:extLst>
            </p:cNvPr>
            <p:cNvSpPr txBox="1">
              <a:spLocks noChangeArrowheads="1"/>
            </p:cNvSpPr>
            <p:nvPr/>
          </p:nvSpPr>
          <p:spPr bwMode="auto">
            <a:xfrm>
              <a:off x="7846868" y="4833372"/>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transport</a:t>
              </a:r>
            </a:p>
          </p:txBody>
        </p:sp>
        <p:sp>
          <p:nvSpPr>
            <p:cNvPr id="174" name="Line 27">
              <a:extLst>
                <a:ext uri="{FF2B5EF4-FFF2-40B4-BE49-F238E27FC236}">
                  <a16:creationId xmlns:a16="http://schemas.microsoft.com/office/drawing/2014/main" id="{3A83CA24-DF84-F740-B870-F5C298378EA2}"/>
                </a:ext>
              </a:extLst>
            </p:cNvPr>
            <p:cNvSpPr>
              <a:spLocks noChangeShapeType="1"/>
            </p:cNvSpPr>
            <p:nvPr/>
          </p:nvSpPr>
          <p:spPr bwMode="auto">
            <a:xfrm>
              <a:off x="7897668" y="5128494"/>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5" name="Line 28">
              <a:extLst>
                <a:ext uri="{FF2B5EF4-FFF2-40B4-BE49-F238E27FC236}">
                  <a16:creationId xmlns:a16="http://schemas.microsoft.com/office/drawing/2014/main" id="{1D5846CF-9A4C-784A-A5A4-98F8F1486DDE}"/>
                </a:ext>
              </a:extLst>
            </p:cNvPr>
            <p:cNvSpPr>
              <a:spLocks noChangeShapeType="1"/>
            </p:cNvSpPr>
            <p:nvPr/>
          </p:nvSpPr>
          <p:spPr bwMode="auto">
            <a:xfrm>
              <a:off x="7883381" y="5438057"/>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6" name="Line 29">
              <a:extLst>
                <a:ext uri="{FF2B5EF4-FFF2-40B4-BE49-F238E27FC236}">
                  <a16:creationId xmlns:a16="http://schemas.microsoft.com/office/drawing/2014/main" id="{987AF988-33D7-A644-9737-1635D99E92DD}"/>
                </a:ext>
              </a:extLst>
            </p:cNvPr>
            <p:cNvSpPr>
              <a:spLocks noChangeShapeType="1"/>
            </p:cNvSpPr>
            <p:nvPr/>
          </p:nvSpPr>
          <p:spPr bwMode="auto">
            <a:xfrm>
              <a:off x="7883381" y="5723807"/>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7" name="Text Box 26">
              <a:extLst>
                <a:ext uri="{FF2B5EF4-FFF2-40B4-BE49-F238E27FC236}">
                  <a16:creationId xmlns:a16="http://schemas.microsoft.com/office/drawing/2014/main" id="{DC53D19A-63B2-7141-9008-9BC3F678052E}"/>
                </a:ext>
              </a:extLst>
            </p:cNvPr>
            <p:cNvSpPr txBox="1">
              <a:spLocks noChangeArrowheads="1"/>
            </p:cNvSpPr>
            <p:nvPr/>
          </p:nvSpPr>
          <p:spPr bwMode="auto">
            <a:xfrm>
              <a:off x="7881793" y="4037882"/>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application</a:t>
              </a:r>
            </a:p>
          </p:txBody>
        </p:sp>
        <p:sp>
          <p:nvSpPr>
            <p:cNvPr id="178" name="Text Box 26">
              <a:extLst>
                <a:ext uri="{FF2B5EF4-FFF2-40B4-BE49-F238E27FC236}">
                  <a16:creationId xmlns:a16="http://schemas.microsoft.com/office/drawing/2014/main" id="{668FFB30-2FA6-AE41-99EF-4D74E37F3EF5}"/>
                </a:ext>
              </a:extLst>
            </p:cNvPr>
            <p:cNvSpPr txBox="1">
              <a:spLocks noChangeArrowheads="1"/>
            </p:cNvSpPr>
            <p:nvPr/>
          </p:nvSpPr>
          <p:spPr bwMode="auto">
            <a:xfrm>
              <a:off x="7837343" y="5745416"/>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physical</a:t>
              </a:r>
            </a:p>
          </p:txBody>
        </p:sp>
        <p:sp>
          <p:nvSpPr>
            <p:cNvPr id="179" name="Text Box 26">
              <a:extLst>
                <a:ext uri="{FF2B5EF4-FFF2-40B4-BE49-F238E27FC236}">
                  <a16:creationId xmlns:a16="http://schemas.microsoft.com/office/drawing/2014/main" id="{9646084A-4EA0-5345-8A3E-91D3475359E6}"/>
                </a:ext>
              </a:extLst>
            </p:cNvPr>
            <p:cNvSpPr txBox="1">
              <a:spLocks noChangeArrowheads="1"/>
            </p:cNvSpPr>
            <p:nvPr/>
          </p:nvSpPr>
          <p:spPr bwMode="auto">
            <a:xfrm>
              <a:off x="7849290" y="5438159"/>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link</a:t>
              </a:r>
            </a:p>
          </p:txBody>
        </p:sp>
        <p:sp>
          <p:nvSpPr>
            <p:cNvPr id="180" name="Text Box 26">
              <a:extLst>
                <a:ext uri="{FF2B5EF4-FFF2-40B4-BE49-F238E27FC236}">
                  <a16:creationId xmlns:a16="http://schemas.microsoft.com/office/drawing/2014/main" id="{9FDE009F-BD4C-6B4C-A66D-690533C0F57F}"/>
                </a:ext>
              </a:extLst>
            </p:cNvPr>
            <p:cNvSpPr txBox="1">
              <a:spLocks noChangeArrowheads="1"/>
            </p:cNvSpPr>
            <p:nvPr/>
          </p:nvSpPr>
          <p:spPr bwMode="auto">
            <a:xfrm>
              <a:off x="7846868" y="5150053"/>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network</a:t>
              </a:r>
            </a:p>
          </p:txBody>
        </p:sp>
        <p:sp>
          <p:nvSpPr>
            <p:cNvPr id="182" name="Freeform 103">
              <a:extLst>
                <a:ext uri="{FF2B5EF4-FFF2-40B4-BE49-F238E27FC236}">
                  <a16:creationId xmlns:a16="http://schemas.microsoft.com/office/drawing/2014/main" id="{DEF6D5D3-E4DA-4B46-BBC5-93311E115D92}"/>
                </a:ext>
              </a:extLst>
            </p:cNvPr>
            <p:cNvSpPr>
              <a:spLocks/>
            </p:cNvSpPr>
            <p:nvPr/>
          </p:nvSpPr>
          <p:spPr bwMode="auto">
            <a:xfrm>
              <a:off x="9166081" y="4025182"/>
              <a:ext cx="581025" cy="2038350"/>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solidFill>
                <a:srgbClr val="DDDDDD"/>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3" name="Freeform 70">
              <a:extLst>
                <a:ext uri="{FF2B5EF4-FFF2-40B4-BE49-F238E27FC236}">
                  <a16:creationId xmlns:a16="http://schemas.microsoft.com/office/drawing/2014/main" id="{4A88383C-61F9-1949-9D88-EC83EDA3F2B6}"/>
                </a:ext>
              </a:extLst>
            </p:cNvPr>
            <p:cNvSpPr>
              <a:spLocks/>
            </p:cNvSpPr>
            <p:nvPr/>
          </p:nvSpPr>
          <p:spPr bwMode="auto">
            <a:xfrm>
              <a:off x="2976418" y="4045819"/>
              <a:ext cx="552450" cy="2082800"/>
            </a:xfrm>
            <a:custGeom>
              <a:avLst/>
              <a:gdLst>
                <a:gd name="T0" fmla="*/ 0 w 348"/>
                <a:gd name="T1" fmla="*/ 2147483647 h 1312"/>
                <a:gd name="T2" fmla="*/ 2147483647 w 348"/>
                <a:gd name="T3" fmla="*/ 0 h 1312"/>
                <a:gd name="T4" fmla="*/ 2147483647 w 348"/>
                <a:gd name="T5" fmla="*/ 2147483647 h 1312"/>
                <a:gd name="T6" fmla="*/ 2147483647 w 348"/>
                <a:gd name="T7" fmla="*/ 2147483647 h 1312"/>
                <a:gd name="T8" fmla="*/ 0 w 348"/>
                <a:gd name="T9" fmla="*/ 2147483647 h 13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8" h="1312">
                  <a:moveTo>
                    <a:pt x="0" y="1306"/>
                  </a:moveTo>
                  <a:lnTo>
                    <a:pt x="348" y="0"/>
                  </a:lnTo>
                  <a:lnTo>
                    <a:pt x="342" y="1258"/>
                  </a:lnTo>
                  <a:lnTo>
                    <a:pt x="180" y="1312"/>
                  </a:lnTo>
                  <a:lnTo>
                    <a:pt x="0" y="1306"/>
                  </a:lnTo>
                  <a:close/>
                </a:path>
              </a:pathLst>
            </a:custGeom>
            <a:gradFill rotWithShape="1">
              <a:gsLst>
                <a:gs pos="0">
                  <a:srgbClr val="FFFFFF"/>
                </a:gs>
                <a:gs pos="100000">
                  <a:srgbClr val="B2B2B2"/>
                </a:gs>
              </a:gsLst>
              <a:lin ang="0" scaled="1"/>
            </a:gradFill>
            <a:ln w="9525">
              <a:solidFill>
                <a:srgbClr val="DDDDDD"/>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4" name="Rectangle 23">
              <a:extLst>
                <a:ext uri="{FF2B5EF4-FFF2-40B4-BE49-F238E27FC236}">
                  <a16:creationId xmlns:a16="http://schemas.microsoft.com/office/drawing/2014/main" id="{AC94A5E0-4794-4246-825A-61CE412794C5}"/>
                </a:ext>
              </a:extLst>
            </p:cNvPr>
            <p:cNvSpPr>
              <a:spLocks noChangeArrowheads="1"/>
            </p:cNvSpPr>
            <p:nvPr/>
          </p:nvSpPr>
          <p:spPr bwMode="auto">
            <a:xfrm>
              <a:off x="3573318" y="4001369"/>
              <a:ext cx="1296988" cy="1981200"/>
            </a:xfrm>
            <a:prstGeom prst="rect">
              <a:avLst/>
            </a:prstGeom>
            <a:solidFill>
              <a:srgbClr val="000099"/>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85" name="Rectangle 24">
              <a:extLst>
                <a:ext uri="{FF2B5EF4-FFF2-40B4-BE49-F238E27FC236}">
                  <a16:creationId xmlns:a16="http://schemas.microsoft.com/office/drawing/2014/main" id="{6F8DDC46-C4B7-DF4E-8AF5-C602B6EAA1C4}"/>
                </a:ext>
              </a:extLst>
            </p:cNvPr>
            <p:cNvSpPr>
              <a:spLocks noChangeArrowheads="1"/>
            </p:cNvSpPr>
            <p:nvPr/>
          </p:nvSpPr>
          <p:spPr bwMode="auto">
            <a:xfrm>
              <a:off x="3535218" y="4055344"/>
              <a:ext cx="1273175" cy="1979613"/>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86" name="Line 25">
              <a:extLst>
                <a:ext uri="{FF2B5EF4-FFF2-40B4-BE49-F238E27FC236}">
                  <a16:creationId xmlns:a16="http://schemas.microsoft.com/office/drawing/2014/main" id="{DBA82451-A905-D646-87C3-445C7FB42130}"/>
                </a:ext>
              </a:extLst>
            </p:cNvPr>
            <p:cNvSpPr>
              <a:spLocks noChangeShapeType="1"/>
            </p:cNvSpPr>
            <p:nvPr/>
          </p:nvSpPr>
          <p:spPr bwMode="auto">
            <a:xfrm>
              <a:off x="3544743" y="4815757"/>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7" name="Text Box 26">
              <a:extLst>
                <a:ext uri="{FF2B5EF4-FFF2-40B4-BE49-F238E27FC236}">
                  <a16:creationId xmlns:a16="http://schemas.microsoft.com/office/drawing/2014/main" id="{20A57016-2D36-9945-9BC2-7F8B323410D1}"/>
                </a:ext>
              </a:extLst>
            </p:cNvPr>
            <p:cNvSpPr txBox="1">
              <a:spLocks noChangeArrowheads="1"/>
            </p:cNvSpPr>
            <p:nvPr/>
          </p:nvSpPr>
          <p:spPr bwMode="auto">
            <a:xfrm>
              <a:off x="3501881" y="4841309"/>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transport</a:t>
              </a:r>
            </a:p>
          </p:txBody>
        </p:sp>
        <p:sp>
          <p:nvSpPr>
            <p:cNvPr id="188" name="Line 27">
              <a:extLst>
                <a:ext uri="{FF2B5EF4-FFF2-40B4-BE49-F238E27FC236}">
                  <a16:creationId xmlns:a16="http://schemas.microsoft.com/office/drawing/2014/main" id="{C4DE758D-2140-4D46-8462-D030054EF893}"/>
                </a:ext>
              </a:extLst>
            </p:cNvPr>
            <p:cNvSpPr>
              <a:spLocks noChangeShapeType="1"/>
            </p:cNvSpPr>
            <p:nvPr/>
          </p:nvSpPr>
          <p:spPr bwMode="auto">
            <a:xfrm>
              <a:off x="3552681" y="5136432"/>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9" name="Line 28">
              <a:extLst>
                <a:ext uri="{FF2B5EF4-FFF2-40B4-BE49-F238E27FC236}">
                  <a16:creationId xmlns:a16="http://schemas.microsoft.com/office/drawing/2014/main" id="{54E984A7-4546-6E49-B9F8-528EAF4E1F35}"/>
                </a:ext>
              </a:extLst>
            </p:cNvPr>
            <p:cNvSpPr>
              <a:spLocks noChangeShapeType="1"/>
            </p:cNvSpPr>
            <p:nvPr/>
          </p:nvSpPr>
          <p:spPr bwMode="auto">
            <a:xfrm>
              <a:off x="3538393" y="5445994"/>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90" name="Line 29">
              <a:extLst>
                <a:ext uri="{FF2B5EF4-FFF2-40B4-BE49-F238E27FC236}">
                  <a16:creationId xmlns:a16="http://schemas.microsoft.com/office/drawing/2014/main" id="{85DE9E64-476F-6F4E-8BFA-3205F1E596F5}"/>
                </a:ext>
              </a:extLst>
            </p:cNvPr>
            <p:cNvSpPr>
              <a:spLocks noChangeShapeType="1"/>
            </p:cNvSpPr>
            <p:nvPr/>
          </p:nvSpPr>
          <p:spPr bwMode="auto">
            <a:xfrm>
              <a:off x="3538393" y="5731744"/>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91" name="Text Box 26">
              <a:extLst>
                <a:ext uri="{FF2B5EF4-FFF2-40B4-BE49-F238E27FC236}">
                  <a16:creationId xmlns:a16="http://schemas.microsoft.com/office/drawing/2014/main" id="{A1B9282E-64F8-1442-8F95-7A9813CE8F60}"/>
                </a:ext>
              </a:extLst>
            </p:cNvPr>
            <p:cNvSpPr txBox="1">
              <a:spLocks noChangeArrowheads="1"/>
            </p:cNvSpPr>
            <p:nvPr/>
          </p:nvSpPr>
          <p:spPr bwMode="auto">
            <a:xfrm>
              <a:off x="3536806" y="4045819"/>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application</a:t>
              </a:r>
            </a:p>
          </p:txBody>
        </p:sp>
        <p:sp>
          <p:nvSpPr>
            <p:cNvPr id="192" name="Text Box 26">
              <a:extLst>
                <a:ext uri="{FF2B5EF4-FFF2-40B4-BE49-F238E27FC236}">
                  <a16:creationId xmlns:a16="http://schemas.microsoft.com/office/drawing/2014/main" id="{83782313-46E0-BE46-BEED-BDC4F6A04AD7}"/>
                </a:ext>
              </a:extLst>
            </p:cNvPr>
            <p:cNvSpPr txBox="1">
              <a:spLocks noChangeArrowheads="1"/>
            </p:cNvSpPr>
            <p:nvPr/>
          </p:nvSpPr>
          <p:spPr bwMode="auto">
            <a:xfrm>
              <a:off x="3492356" y="5746184"/>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physical</a:t>
              </a:r>
            </a:p>
          </p:txBody>
        </p:sp>
        <p:sp>
          <p:nvSpPr>
            <p:cNvPr id="193" name="Text Box 26">
              <a:extLst>
                <a:ext uri="{FF2B5EF4-FFF2-40B4-BE49-F238E27FC236}">
                  <a16:creationId xmlns:a16="http://schemas.microsoft.com/office/drawing/2014/main" id="{E3A71501-A89A-D249-84FB-20D98047A254}"/>
                </a:ext>
              </a:extLst>
            </p:cNvPr>
            <p:cNvSpPr txBox="1">
              <a:spLocks noChangeArrowheads="1"/>
            </p:cNvSpPr>
            <p:nvPr/>
          </p:nvSpPr>
          <p:spPr bwMode="auto">
            <a:xfrm>
              <a:off x="3511406" y="5453266"/>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link</a:t>
              </a:r>
            </a:p>
          </p:txBody>
        </p:sp>
        <p:sp>
          <p:nvSpPr>
            <p:cNvPr id="194" name="Text Box 26">
              <a:extLst>
                <a:ext uri="{FF2B5EF4-FFF2-40B4-BE49-F238E27FC236}">
                  <a16:creationId xmlns:a16="http://schemas.microsoft.com/office/drawing/2014/main" id="{6C7F0039-C145-9D4F-92E4-1AF9B0406DA4}"/>
                </a:ext>
              </a:extLst>
            </p:cNvPr>
            <p:cNvSpPr txBox="1">
              <a:spLocks noChangeArrowheads="1"/>
            </p:cNvSpPr>
            <p:nvPr/>
          </p:nvSpPr>
          <p:spPr bwMode="auto">
            <a:xfrm>
              <a:off x="3501881" y="5157990"/>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network</a:t>
              </a:r>
            </a:p>
          </p:txBody>
        </p:sp>
        <p:grpSp>
          <p:nvGrpSpPr>
            <p:cNvPr id="216" name="Group 179">
              <a:extLst>
                <a:ext uri="{FF2B5EF4-FFF2-40B4-BE49-F238E27FC236}">
                  <a16:creationId xmlns:a16="http://schemas.microsoft.com/office/drawing/2014/main" id="{D0DD382B-DAC3-2346-B02D-B07D99212014}"/>
                </a:ext>
              </a:extLst>
            </p:cNvPr>
            <p:cNvGrpSpPr>
              <a:grpSpLocks/>
            </p:cNvGrpSpPr>
            <p:nvPr/>
          </p:nvGrpSpPr>
          <p:grpSpPr bwMode="auto">
            <a:xfrm>
              <a:off x="2511281" y="5555532"/>
              <a:ext cx="800100" cy="828675"/>
              <a:chOff x="-44" y="1473"/>
              <a:chExt cx="981" cy="1105"/>
            </a:xfrm>
          </p:grpSpPr>
          <p:pic>
            <p:nvPicPr>
              <p:cNvPr id="217" name="Picture 180" descr="desktop_computer_stylized_medium">
                <a:extLst>
                  <a:ext uri="{FF2B5EF4-FFF2-40B4-BE49-F238E27FC236}">
                    <a16:creationId xmlns:a16="http://schemas.microsoft.com/office/drawing/2014/main" id="{DED124CB-DBF2-BA4A-A3F5-D0D2EE27E0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18" name="Freeform 181">
                <a:extLst>
                  <a:ext uri="{FF2B5EF4-FFF2-40B4-BE49-F238E27FC236}">
                    <a16:creationId xmlns:a16="http://schemas.microsoft.com/office/drawing/2014/main" id="{45C70753-F80F-0E44-A5BE-EA6A01030121}"/>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219" name="Group 182">
              <a:extLst>
                <a:ext uri="{FF2B5EF4-FFF2-40B4-BE49-F238E27FC236}">
                  <a16:creationId xmlns:a16="http://schemas.microsoft.com/office/drawing/2014/main" id="{8C1F52F1-3DCD-D94D-B922-F8CEBAB5F0B4}"/>
                </a:ext>
              </a:extLst>
            </p:cNvPr>
            <p:cNvGrpSpPr>
              <a:grpSpLocks/>
            </p:cNvGrpSpPr>
            <p:nvPr/>
          </p:nvGrpSpPr>
          <p:grpSpPr bwMode="auto">
            <a:xfrm flipH="1">
              <a:off x="9493106" y="5469807"/>
              <a:ext cx="788987" cy="782637"/>
              <a:chOff x="-44" y="1473"/>
              <a:chExt cx="981" cy="1105"/>
            </a:xfrm>
          </p:grpSpPr>
          <p:pic>
            <p:nvPicPr>
              <p:cNvPr id="220" name="Picture 183" descr="desktop_computer_stylized_medium">
                <a:extLst>
                  <a:ext uri="{FF2B5EF4-FFF2-40B4-BE49-F238E27FC236}">
                    <a16:creationId xmlns:a16="http://schemas.microsoft.com/office/drawing/2014/main" id="{E6083DB7-3B07-6F40-9810-0033E2E06F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21" name="Freeform 184">
                <a:extLst>
                  <a:ext uri="{FF2B5EF4-FFF2-40B4-BE49-F238E27FC236}">
                    <a16:creationId xmlns:a16="http://schemas.microsoft.com/office/drawing/2014/main" id="{28CB0DC7-F192-5840-BCC3-B9D662106044}"/>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222" name="Group 185">
              <a:extLst>
                <a:ext uri="{FF2B5EF4-FFF2-40B4-BE49-F238E27FC236}">
                  <a16:creationId xmlns:a16="http://schemas.microsoft.com/office/drawing/2014/main" id="{7750F2FB-96FA-374A-AF56-26502EF04672}"/>
                </a:ext>
              </a:extLst>
            </p:cNvPr>
            <p:cNvGrpSpPr>
              <a:grpSpLocks/>
            </p:cNvGrpSpPr>
            <p:nvPr/>
          </p:nvGrpSpPr>
          <p:grpSpPr bwMode="auto">
            <a:xfrm>
              <a:off x="5083031" y="5055469"/>
              <a:ext cx="358775" cy="704850"/>
              <a:chOff x="4140" y="429"/>
              <a:chExt cx="1425" cy="2396"/>
            </a:xfrm>
          </p:grpSpPr>
          <p:sp>
            <p:nvSpPr>
              <p:cNvPr id="223" name="Freeform 186">
                <a:extLst>
                  <a:ext uri="{FF2B5EF4-FFF2-40B4-BE49-F238E27FC236}">
                    <a16:creationId xmlns:a16="http://schemas.microsoft.com/office/drawing/2014/main" id="{E441858B-A566-F746-B48C-912CA3020CC8}"/>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24" name="Rectangle 187">
                <a:extLst>
                  <a:ext uri="{FF2B5EF4-FFF2-40B4-BE49-F238E27FC236}">
                    <a16:creationId xmlns:a16="http://schemas.microsoft.com/office/drawing/2014/main" id="{20003129-35A4-1E46-8065-8AF4C6403D57}"/>
                  </a:ext>
                </a:extLst>
              </p:cNvPr>
              <p:cNvSpPr>
                <a:spLocks noChangeArrowheads="1"/>
              </p:cNvSpPr>
              <p:nvPr/>
            </p:nvSpPr>
            <p:spPr bwMode="auto">
              <a:xfrm>
                <a:off x="4203" y="429"/>
                <a:ext cx="1053" cy="2283"/>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25" name="Freeform 188">
                <a:extLst>
                  <a:ext uri="{FF2B5EF4-FFF2-40B4-BE49-F238E27FC236}">
                    <a16:creationId xmlns:a16="http://schemas.microsoft.com/office/drawing/2014/main" id="{6F94D7AE-C4D1-AF4A-B970-086B7D245ACF}"/>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26" name="Freeform 189">
                <a:extLst>
                  <a:ext uri="{FF2B5EF4-FFF2-40B4-BE49-F238E27FC236}">
                    <a16:creationId xmlns:a16="http://schemas.microsoft.com/office/drawing/2014/main" id="{EAFC03EF-54DF-8942-9852-25739DA158B4}"/>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27" name="Rectangle 190">
                <a:extLst>
                  <a:ext uri="{FF2B5EF4-FFF2-40B4-BE49-F238E27FC236}">
                    <a16:creationId xmlns:a16="http://schemas.microsoft.com/office/drawing/2014/main" id="{2241F7B6-5281-A74E-8DCB-3BE3777E9369}"/>
                  </a:ext>
                </a:extLst>
              </p:cNvPr>
              <p:cNvSpPr>
                <a:spLocks noChangeArrowheads="1"/>
              </p:cNvSpPr>
              <p:nvPr/>
            </p:nvSpPr>
            <p:spPr bwMode="auto">
              <a:xfrm>
                <a:off x="4209" y="693"/>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228" name="Group 191">
                <a:extLst>
                  <a:ext uri="{FF2B5EF4-FFF2-40B4-BE49-F238E27FC236}">
                    <a16:creationId xmlns:a16="http://schemas.microsoft.com/office/drawing/2014/main" id="{02DB0249-6EBB-FF4B-B17F-CC771B255D00}"/>
                  </a:ext>
                </a:extLst>
              </p:cNvPr>
              <p:cNvGrpSpPr>
                <a:grpSpLocks/>
              </p:cNvGrpSpPr>
              <p:nvPr/>
            </p:nvGrpSpPr>
            <p:grpSpPr bwMode="auto">
              <a:xfrm>
                <a:off x="4749" y="668"/>
                <a:ext cx="581" cy="145"/>
                <a:chOff x="614" y="2568"/>
                <a:chExt cx="725" cy="139"/>
              </a:xfrm>
            </p:grpSpPr>
            <p:sp>
              <p:nvSpPr>
                <p:cNvPr id="253" name="AutoShape 192">
                  <a:extLst>
                    <a:ext uri="{FF2B5EF4-FFF2-40B4-BE49-F238E27FC236}">
                      <a16:creationId xmlns:a16="http://schemas.microsoft.com/office/drawing/2014/main" id="{BE55370E-BC12-1B42-9E3C-C950033EEF89}"/>
                    </a:ext>
                  </a:extLst>
                </p:cNvPr>
                <p:cNvSpPr>
                  <a:spLocks noChangeArrowheads="1"/>
                </p:cNvSpPr>
                <p:nvPr/>
              </p:nvSpPr>
              <p:spPr bwMode="auto">
                <a:xfrm>
                  <a:off x="617" y="2567"/>
                  <a:ext cx="724"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54" name="AutoShape 193">
                  <a:extLst>
                    <a:ext uri="{FF2B5EF4-FFF2-40B4-BE49-F238E27FC236}">
                      <a16:creationId xmlns:a16="http://schemas.microsoft.com/office/drawing/2014/main" id="{1BBB99EB-2FFB-5942-9855-24BEE1C68997}"/>
                    </a:ext>
                  </a:extLst>
                </p:cNvPr>
                <p:cNvSpPr>
                  <a:spLocks noChangeArrowheads="1"/>
                </p:cNvSpPr>
                <p:nvPr/>
              </p:nvSpPr>
              <p:spPr bwMode="auto">
                <a:xfrm>
                  <a:off x="633" y="2582"/>
                  <a:ext cx="692"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229" name="Rectangle 194">
                <a:extLst>
                  <a:ext uri="{FF2B5EF4-FFF2-40B4-BE49-F238E27FC236}">
                    <a16:creationId xmlns:a16="http://schemas.microsoft.com/office/drawing/2014/main" id="{9C5699FC-2B4E-BD46-B9CC-CA578E2EA709}"/>
                  </a:ext>
                </a:extLst>
              </p:cNvPr>
              <p:cNvSpPr>
                <a:spLocks noChangeArrowheads="1"/>
              </p:cNvSpPr>
              <p:nvPr/>
            </p:nvSpPr>
            <p:spPr bwMode="auto">
              <a:xfrm>
                <a:off x="4222" y="1017"/>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230" name="Group 195">
                <a:extLst>
                  <a:ext uri="{FF2B5EF4-FFF2-40B4-BE49-F238E27FC236}">
                    <a16:creationId xmlns:a16="http://schemas.microsoft.com/office/drawing/2014/main" id="{676615F3-A30A-9740-8080-AFEE6BAAEF98}"/>
                  </a:ext>
                </a:extLst>
              </p:cNvPr>
              <p:cNvGrpSpPr>
                <a:grpSpLocks/>
              </p:cNvGrpSpPr>
              <p:nvPr/>
            </p:nvGrpSpPr>
            <p:grpSpPr bwMode="auto">
              <a:xfrm>
                <a:off x="4747" y="994"/>
                <a:ext cx="581" cy="134"/>
                <a:chOff x="614" y="2568"/>
                <a:chExt cx="725" cy="139"/>
              </a:xfrm>
            </p:grpSpPr>
            <p:sp>
              <p:nvSpPr>
                <p:cNvPr id="251" name="AutoShape 196">
                  <a:extLst>
                    <a:ext uri="{FF2B5EF4-FFF2-40B4-BE49-F238E27FC236}">
                      <a16:creationId xmlns:a16="http://schemas.microsoft.com/office/drawing/2014/main" id="{D31569A0-2CDC-3B4B-B7FA-067BF2CB0D93}"/>
                    </a:ext>
                  </a:extLst>
                </p:cNvPr>
                <p:cNvSpPr>
                  <a:spLocks noChangeArrowheads="1"/>
                </p:cNvSpPr>
                <p:nvPr/>
              </p:nvSpPr>
              <p:spPr bwMode="auto">
                <a:xfrm>
                  <a:off x="612" y="2570"/>
                  <a:ext cx="724" cy="162"/>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52" name="AutoShape 197">
                  <a:extLst>
                    <a:ext uri="{FF2B5EF4-FFF2-40B4-BE49-F238E27FC236}">
                      <a16:creationId xmlns:a16="http://schemas.microsoft.com/office/drawing/2014/main" id="{5D70C5E6-3DFB-1D45-8469-DE5EA96E13E8}"/>
                    </a:ext>
                  </a:extLst>
                </p:cNvPr>
                <p:cNvSpPr>
                  <a:spLocks noChangeArrowheads="1"/>
                </p:cNvSpPr>
                <p:nvPr/>
              </p:nvSpPr>
              <p:spPr bwMode="auto">
                <a:xfrm>
                  <a:off x="628" y="2586"/>
                  <a:ext cx="692"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231" name="Rectangle 198">
                <a:extLst>
                  <a:ext uri="{FF2B5EF4-FFF2-40B4-BE49-F238E27FC236}">
                    <a16:creationId xmlns:a16="http://schemas.microsoft.com/office/drawing/2014/main" id="{AE060187-10EA-1F4E-AEDE-8C6C0E8358D2}"/>
                  </a:ext>
                </a:extLst>
              </p:cNvPr>
              <p:cNvSpPr>
                <a:spLocks noChangeArrowheads="1"/>
              </p:cNvSpPr>
              <p:nvPr/>
            </p:nvSpPr>
            <p:spPr bwMode="auto">
              <a:xfrm>
                <a:off x="4216" y="1357"/>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32" name="Rectangle 199">
                <a:extLst>
                  <a:ext uri="{FF2B5EF4-FFF2-40B4-BE49-F238E27FC236}">
                    <a16:creationId xmlns:a16="http://schemas.microsoft.com/office/drawing/2014/main" id="{32874526-51C0-C749-BDC8-3D9F62AFE767}"/>
                  </a:ext>
                </a:extLst>
              </p:cNvPr>
              <p:cNvSpPr>
                <a:spLocks noChangeArrowheads="1"/>
              </p:cNvSpPr>
              <p:nvPr/>
            </p:nvSpPr>
            <p:spPr bwMode="auto">
              <a:xfrm>
                <a:off x="4228" y="1654"/>
                <a:ext cx="593"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233" name="Group 200">
                <a:extLst>
                  <a:ext uri="{FF2B5EF4-FFF2-40B4-BE49-F238E27FC236}">
                    <a16:creationId xmlns:a16="http://schemas.microsoft.com/office/drawing/2014/main" id="{09E63F43-E74F-6045-A673-3756891EE94D}"/>
                  </a:ext>
                </a:extLst>
              </p:cNvPr>
              <p:cNvGrpSpPr>
                <a:grpSpLocks/>
              </p:cNvGrpSpPr>
              <p:nvPr/>
            </p:nvGrpSpPr>
            <p:grpSpPr bwMode="auto">
              <a:xfrm>
                <a:off x="4735" y="1627"/>
                <a:ext cx="582" cy="151"/>
                <a:chOff x="614" y="2568"/>
                <a:chExt cx="725" cy="139"/>
              </a:xfrm>
            </p:grpSpPr>
            <p:sp>
              <p:nvSpPr>
                <p:cNvPr id="249" name="AutoShape 201">
                  <a:extLst>
                    <a:ext uri="{FF2B5EF4-FFF2-40B4-BE49-F238E27FC236}">
                      <a16:creationId xmlns:a16="http://schemas.microsoft.com/office/drawing/2014/main" id="{0296B9BB-82CD-2A45-8E56-F4ACF6FCC028}"/>
                    </a:ext>
                  </a:extLst>
                </p:cNvPr>
                <p:cNvSpPr>
                  <a:spLocks noChangeArrowheads="1"/>
                </p:cNvSpPr>
                <p:nvPr/>
              </p:nvSpPr>
              <p:spPr bwMode="auto">
                <a:xfrm>
                  <a:off x="611" y="2568"/>
                  <a:ext cx="730" cy="139"/>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50" name="AutoShape 202">
                  <a:extLst>
                    <a:ext uri="{FF2B5EF4-FFF2-40B4-BE49-F238E27FC236}">
                      <a16:creationId xmlns:a16="http://schemas.microsoft.com/office/drawing/2014/main" id="{DD3C3254-A817-B449-AE0F-31BEFF504A04}"/>
                    </a:ext>
                  </a:extLst>
                </p:cNvPr>
                <p:cNvSpPr>
                  <a:spLocks noChangeArrowheads="1"/>
                </p:cNvSpPr>
                <p:nvPr/>
              </p:nvSpPr>
              <p:spPr bwMode="auto">
                <a:xfrm>
                  <a:off x="627" y="2583"/>
                  <a:ext cx="699"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234" name="Freeform 203">
                <a:extLst>
                  <a:ext uri="{FF2B5EF4-FFF2-40B4-BE49-F238E27FC236}">
                    <a16:creationId xmlns:a16="http://schemas.microsoft.com/office/drawing/2014/main" id="{D05041BE-8046-EB49-A23A-C7FEB06D9108}"/>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235" name="Group 204">
                <a:extLst>
                  <a:ext uri="{FF2B5EF4-FFF2-40B4-BE49-F238E27FC236}">
                    <a16:creationId xmlns:a16="http://schemas.microsoft.com/office/drawing/2014/main" id="{BD1D997D-F690-4C4E-9473-F0433427C91F}"/>
                  </a:ext>
                </a:extLst>
              </p:cNvPr>
              <p:cNvGrpSpPr>
                <a:grpSpLocks/>
              </p:cNvGrpSpPr>
              <p:nvPr/>
            </p:nvGrpSpPr>
            <p:grpSpPr bwMode="auto">
              <a:xfrm>
                <a:off x="4739" y="1327"/>
                <a:ext cx="582" cy="139"/>
                <a:chOff x="614" y="2568"/>
                <a:chExt cx="725" cy="139"/>
              </a:xfrm>
            </p:grpSpPr>
            <p:sp>
              <p:nvSpPr>
                <p:cNvPr id="247" name="AutoShape 205">
                  <a:extLst>
                    <a:ext uri="{FF2B5EF4-FFF2-40B4-BE49-F238E27FC236}">
                      <a16:creationId xmlns:a16="http://schemas.microsoft.com/office/drawing/2014/main" id="{631C3D3D-8F7D-6F44-AD56-665A5242B691}"/>
                    </a:ext>
                  </a:extLst>
                </p:cNvPr>
                <p:cNvSpPr>
                  <a:spLocks noChangeArrowheads="1"/>
                </p:cNvSpPr>
                <p:nvPr/>
              </p:nvSpPr>
              <p:spPr bwMode="auto">
                <a:xfrm>
                  <a:off x="614" y="2566"/>
                  <a:ext cx="723"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48" name="AutoShape 206">
                  <a:extLst>
                    <a:ext uri="{FF2B5EF4-FFF2-40B4-BE49-F238E27FC236}">
                      <a16:creationId xmlns:a16="http://schemas.microsoft.com/office/drawing/2014/main" id="{E7F87D38-4528-0F45-9911-B79B599D25FC}"/>
                    </a:ext>
                  </a:extLst>
                </p:cNvPr>
                <p:cNvSpPr>
                  <a:spLocks noChangeArrowheads="1"/>
                </p:cNvSpPr>
                <p:nvPr/>
              </p:nvSpPr>
              <p:spPr bwMode="auto">
                <a:xfrm>
                  <a:off x="630" y="2582"/>
                  <a:ext cx="691"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236" name="Rectangle 207">
                <a:extLst>
                  <a:ext uri="{FF2B5EF4-FFF2-40B4-BE49-F238E27FC236}">
                    <a16:creationId xmlns:a16="http://schemas.microsoft.com/office/drawing/2014/main" id="{60B24777-81BE-BC42-AC64-6F2229E5FBE5}"/>
                  </a:ext>
                </a:extLst>
              </p:cNvPr>
              <p:cNvSpPr>
                <a:spLocks noChangeArrowheads="1"/>
              </p:cNvSpPr>
              <p:nvPr/>
            </p:nvSpPr>
            <p:spPr bwMode="auto">
              <a:xfrm>
                <a:off x="5250" y="429"/>
                <a:ext cx="69" cy="2288"/>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37" name="Freeform 208">
                <a:extLst>
                  <a:ext uri="{FF2B5EF4-FFF2-40B4-BE49-F238E27FC236}">
                    <a16:creationId xmlns:a16="http://schemas.microsoft.com/office/drawing/2014/main" id="{FD1049FD-ADAC-FC43-A186-6585ECAE4331}"/>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38" name="Freeform 209">
                <a:extLst>
                  <a:ext uri="{FF2B5EF4-FFF2-40B4-BE49-F238E27FC236}">
                    <a16:creationId xmlns:a16="http://schemas.microsoft.com/office/drawing/2014/main" id="{A25585BA-2AFC-3047-B9D5-7CC45D5DBC49}"/>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39" name="Oval 210">
                <a:extLst>
                  <a:ext uri="{FF2B5EF4-FFF2-40B4-BE49-F238E27FC236}">
                    <a16:creationId xmlns:a16="http://schemas.microsoft.com/office/drawing/2014/main" id="{78C608B6-FCB9-3F43-A504-D33DD77827D8}"/>
                  </a:ext>
                </a:extLst>
              </p:cNvPr>
              <p:cNvSpPr>
                <a:spLocks noChangeArrowheads="1"/>
              </p:cNvSpPr>
              <p:nvPr/>
            </p:nvSpPr>
            <p:spPr bwMode="auto">
              <a:xfrm>
                <a:off x="5515" y="2609"/>
                <a:ext cx="50" cy="97"/>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40" name="Freeform 211">
                <a:extLst>
                  <a:ext uri="{FF2B5EF4-FFF2-40B4-BE49-F238E27FC236}">
                    <a16:creationId xmlns:a16="http://schemas.microsoft.com/office/drawing/2014/main" id="{F24BE4FA-86B6-5840-8B76-BF70EF006A8E}"/>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41" name="AutoShape 212">
                <a:extLst>
                  <a:ext uri="{FF2B5EF4-FFF2-40B4-BE49-F238E27FC236}">
                    <a16:creationId xmlns:a16="http://schemas.microsoft.com/office/drawing/2014/main" id="{22C6B4EC-00C6-BA43-95E2-370E8204DDA3}"/>
                  </a:ext>
                </a:extLst>
              </p:cNvPr>
              <p:cNvSpPr>
                <a:spLocks noChangeArrowheads="1"/>
              </p:cNvSpPr>
              <p:nvPr/>
            </p:nvSpPr>
            <p:spPr bwMode="auto">
              <a:xfrm>
                <a:off x="4140" y="2679"/>
                <a:ext cx="1198"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42" name="AutoShape 213">
                <a:extLst>
                  <a:ext uri="{FF2B5EF4-FFF2-40B4-BE49-F238E27FC236}">
                    <a16:creationId xmlns:a16="http://schemas.microsoft.com/office/drawing/2014/main" id="{7B9210ED-D802-C84E-8A67-93399801B5DA}"/>
                  </a:ext>
                </a:extLst>
              </p:cNvPr>
              <p:cNvSpPr>
                <a:spLocks noChangeArrowheads="1"/>
              </p:cNvSpPr>
              <p:nvPr/>
            </p:nvSpPr>
            <p:spPr bwMode="auto">
              <a:xfrm>
                <a:off x="4203" y="2712"/>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43" name="Oval 214">
                <a:extLst>
                  <a:ext uri="{FF2B5EF4-FFF2-40B4-BE49-F238E27FC236}">
                    <a16:creationId xmlns:a16="http://schemas.microsoft.com/office/drawing/2014/main" id="{552E77C8-7BFE-BF4D-8F0B-DF6513BE6459}"/>
                  </a:ext>
                </a:extLst>
              </p:cNvPr>
              <p:cNvSpPr>
                <a:spLocks noChangeArrowheads="1"/>
              </p:cNvSpPr>
              <p:nvPr/>
            </p:nvSpPr>
            <p:spPr bwMode="auto">
              <a:xfrm>
                <a:off x="4310" y="2382"/>
                <a:ext cx="158" cy="146"/>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44" name="Oval 215">
                <a:extLst>
                  <a:ext uri="{FF2B5EF4-FFF2-40B4-BE49-F238E27FC236}">
                    <a16:creationId xmlns:a16="http://schemas.microsoft.com/office/drawing/2014/main" id="{86496A7E-E21F-444D-B883-E410329FF242}"/>
                  </a:ext>
                </a:extLst>
              </p:cNvPr>
              <p:cNvSpPr>
                <a:spLocks noChangeArrowheads="1"/>
              </p:cNvSpPr>
              <p:nvPr/>
            </p:nvSpPr>
            <p:spPr bwMode="auto">
              <a:xfrm>
                <a:off x="4487" y="2382"/>
                <a:ext cx="158" cy="146"/>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FF0000"/>
                  </a:solidFill>
                  <a:effectLst/>
                  <a:uLnTx/>
                  <a:uFillTx/>
                  <a:latin typeface="Arial" charset="0"/>
                  <a:ea typeface="ＭＳ Ｐゴシック" charset="0"/>
                  <a:cs typeface="Arial" charset="0"/>
                </a:endParaRPr>
              </a:p>
            </p:txBody>
          </p:sp>
          <p:sp>
            <p:nvSpPr>
              <p:cNvPr id="245" name="Oval 216">
                <a:extLst>
                  <a:ext uri="{FF2B5EF4-FFF2-40B4-BE49-F238E27FC236}">
                    <a16:creationId xmlns:a16="http://schemas.microsoft.com/office/drawing/2014/main" id="{555E4B0D-EDB2-D04B-B9AD-93FA92DDAA2D}"/>
                  </a:ext>
                </a:extLst>
              </p:cNvPr>
              <p:cNvSpPr>
                <a:spLocks noChangeArrowheads="1"/>
              </p:cNvSpPr>
              <p:nvPr/>
            </p:nvSpPr>
            <p:spPr bwMode="auto">
              <a:xfrm>
                <a:off x="4663" y="2382"/>
                <a:ext cx="158" cy="140"/>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46" name="Rectangle 217">
                <a:extLst>
                  <a:ext uri="{FF2B5EF4-FFF2-40B4-BE49-F238E27FC236}">
                    <a16:creationId xmlns:a16="http://schemas.microsoft.com/office/drawing/2014/main" id="{DE659B39-E72A-634A-A2AC-C4BA4DC9C619}"/>
                  </a:ext>
                </a:extLst>
              </p:cNvPr>
              <p:cNvSpPr>
                <a:spLocks noChangeArrowheads="1"/>
              </p:cNvSpPr>
              <p:nvPr/>
            </p:nvSpPr>
            <p:spPr bwMode="auto">
              <a:xfrm>
                <a:off x="5061" y="1837"/>
                <a:ext cx="88" cy="761"/>
              </a:xfrm>
              <a:prstGeom prst="rect">
                <a:avLst/>
              </a:prstGeom>
              <a:solidFill>
                <a:srgbClr val="29292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pic>
          <p:nvPicPr>
            <p:cNvPr id="261" name="Picture 2" descr="Image result for firefox logo">
              <a:extLst>
                <a:ext uri="{FF2B5EF4-FFF2-40B4-BE49-F238E27FC236}">
                  <a16:creationId xmlns:a16="http://schemas.microsoft.com/office/drawing/2014/main" id="{51A92539-D075-5644-9056-10960E51478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26336" y="4363319"/>
              <a:ext cx="387318" cy="362674"/>
            </a:xfrm>
            <a:prstGeom prst="rect">
              <a:avLst/>
            </a:prstGeom>
            <a:noFill/>
            <a:extLst>
              <a:ext uri="{909E8E84-426E-40dd-AFC4-6F175D3DCCD1}">
                <a14:hiddenFill xmlns="" xmlns:a14="http://schemas.microsoft.com/office/drawing/2010/main">
                  <a:solidFill>
                    <a:srgbClr val="FFFFFF"/>
                  </a:solidFill>
                </a14:hiddenFill>
              </a:ext>
            </a:extLst>
          </p:spPr>
        </p:pic>
        <p:pic>
          <p:nvPicPr>
            <p:cNvPr id="1028" name="Picture 4" descr="Image result for apache web server logo">
              <a:extLst>
                <a:ext uri="{FF2B5EF4-FFF2-40B4-BE49-F238E27FC236}">
                  <a16:creationId xmlns:a16="http://schemas.microsoft.com/office/drawing/2014/main" id="{2DA3452A-DE33-3D41-95D5-C755A419154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49399" y="3712220"/>
              <a:ext cx="1425575" cy="629170"/>
            </a:xfrm>
            <a:prstGeom prst="rect">
              <a:avLst/>
            </a:prstGeom>
            <a:noFill/>
            <a:extLst>
              <a:ext uri="{909E8E84-426E-40dd-AFC4-6F175D3DCCD1}">
                <a14:hiddenFill xmlns="" xmlns:a14="http://schemas.microsoft.com/office/drawing/2010/main">
                  <a:solidFill>
                    <a:srgbClr val="FFFFFF"/>
                  </a:solidFill>
                </a14:hiddenFill>
              </a:ext>
            </a:extLst>
          </p:spPr>
        </p:pic>
        <p:pic>
          <p:nvPicPr>
            <p:cNvPr id="262" name="Picture 2" descr="Image result for firefox logo">
              <a:extLst>
                <a:ext uri="{FF2B5EF4-FFF2-40B4-BE49-F238E27FC236}">
                  <a16:creationId xmlns:a16="http://schemas.microsoft.com/office/drawing/2014/main" id="{E576EC8B-3CC8-044B-BD3B-8A4342C698D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57699" y="4326644"/>
              <a:ext cx="387318" cy="362674"/>
            </a:xfrm>
            <a:prstGeom prst="rect">
              <a:avLst/>
            </a:prstGeom>
            <a:noFill/>
            <a:extLst>
              <a:ext uri="{909E8E84-426E-40dd-AFC4-6F175D3DCCD1}">
                <a14:hiddenFill xmlns="" xmlns:a14="http://schemas.microsoft.com/office/drawing/2010/main">
                  <a:solidFill>
                    <a:srgbClr val="FFFFFF"/>
                  </a:solidFill>
                </a14:hiddenFill>
              </a:ext>
            </a:extLst>
          </p:spPr>
        </p:pic>
        <p:pic>
          <p:nvPicPr>
            <p:cNvPr id="1032" name="Picture 8" descr="Image result for skype logo">
              <a:extLst>
                <a:ext uri="{FF2B5EF4-FFF2-40B4-BE49-F238E27FC236}">
                  <a16:creationId xmlns:a16="http://schemas.microsoft.com/office/drawing/2014/main" id="{44A9474D-942F-134E-B292-6ADA4675334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74515" y="4091654"/>
              <a:ext cx="387318" cy="392958"/>
            </a:xfrm>
            <a:prstGeom prst="rect">
              <a:avLst/>
            </a:prstGeom>
            <a:noFill/>
            <a:extLst>
              <a:ext uri="{909E8E84-426E-40dd-AFC4-6F175D3DCCD1}">
                <a14:hiddenFill xmlns="" xmlns:a14="http://schemas.microsoft.com/office/drawing/2010/main">
                  <a:solidFill>
                    <a:srgbClr val="FFFFFF"/>
                  </a:solidFill>
                </a14:hiddenFill>
              </a:ext>
            </a:extLst>
          </p:spPr>
        </p:pic>
        <p:sp>
          <p:nvSpPr>
            <p:cNvPr id="263" name="TextBox 262">
              <a:extLst>
                <a:ext uri="{FF2B5EF4-FFF2-40B4-BE49-F238E27FC236}">
                  <a16:creationId xmlns:a16="http://schemas.microsoft.com/office/drawing/2014/main" id="{DC4B02DA-C340-9945-87C2-952E1901FB43}"/>
                </a:ext>
              </a:extLst>
            </p:cNvPr>
            <p:cNvSpPr txBox="1"/>
            <p:nvPr/>
          </p:nvSpPr>
          <p:spPr>
            <a:xfrm>
              <a:off x="3822815" y="3627317"/>
              <a:ext cx="642362" cy="3803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client</a:t>
              </a:r>
            </a:p>
          </p:txBody>
        </p:sp>
        <p:pic>
          <p:nvPicPr>
            <p:cNvPr id="1034" name="Picture 10" descr="Image result for netflix logo png">
              <a:extLst>
                <a:ext uri="{FF2B5EF4-FFF2-40B4-BE49-F238E27FC236}">
                  <a16:creationId xmlns:a16="http://schemas.microsoft.com/office/drawing/2014/main" id="{9F652FAF-7820-6141-9F34-FDF8AEACBE0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32599" y="4424842"/>
              <a:ext cx="691469" cy="388951"/>
            </a:xfrm>
            <a:prstGeom prst="rect">
              <a:avLst/>
            </a:prstGeom>
            <a:noFill/>
            <a:extLst>
              <a:ext uri="{909E8E84-426E-40dd-AFC4-6F175D3DCCD1}">
                <a14:hiddenFill xmlns="" xmlns:a14="http://schemas.microsoft.com/office/drawing/2010/main">
                  <a:solidFill>
                    <a:srgbClr val="FFFFFF"/>
                  </a:solidFill>
                </a14:hiddenFill>
              </a:ext>
            </a:extLst>
          </p:spPr>
        </p:pic>
      </p:grpSp>
      <p:sp>
        <p:nvSpPr>
          <p:cNvPr id="271" name="Freeform 296">
            <a:extLst>
              <a:ext uri="{FF2B5EF4-FFF2-40B4-BE49-F238E27FC236}">
                <a16:creationId xmlns:a16="http://schemas.microsoft.com/office/drawing/2014/main" id="{06DFDE96-5B04-984C-B72D-22D074DF3E82}"/>
              </a:ext>
            </a:extLst>
          </p:cNvPr>
          <p:cNvSpPr>
            <a:spLocks/>
          </p:cNvSpPr>
          <p:nvPr/>
        </p:nvSpPr>
        <p:spPr bwMode="auto">
          <a:xfrm>
            <a:off x="4356586" y="4965666"/>
            <a:ext cx="3127375" cy="1498600"/>
          </a:xfrm>
          <a:custGeom>
            <a:avLst/>
            <a:gdLst>
              <a:gd name="T0" fmla="*/ 2147483647 w 1877"/>
              <a:gd name="T1" fmla="*/ 2147483647 h 917"/>
              <a:gd name="T2" fmla="*/ 2147483647 w 1877"/>
              <a:gd name="T3" fmla="*/ 2147483647 h 917"/>
              <a:gd name="T4" fmla="*/ 2147483647 w 1877"/>
              <a:gd name="T5" fmla="*/ 2147483647 h 917"/>
              <a:gd name="T6" fmla="*/ 2147483647 w 1877"/>
              <a:gd name="T7" fmla="*/ 2147483647 h 917"/>
              <a:gd name="T8" fmla="*/ 2147483647 w 1877"/>
              <a:gd name="T9" fmla="*/ 2147483647 h 917"/>
              <a:gd name="T10" fmla="*/ 2147483647 w 1877"/>
              <a:gd name="T11" fmla="*/ 2147483647 h 917"/>
              <a:gd name="T12" fmla="*/ 2147483647 w 1877"/>
              <a:gd name="T13" fmla="*/ 2147483647 h 917"/>
              <a:gd name="T14" fmla="*/ 2147483647 w 1877"/>
              <a:gd name="T15" fmla="*/ 2147483647 h 917"/>
              <a:gd name="T16" fmla="*/ 2147483647 w 1877"/>
              <a:gd name="T17" fmla="*/ 2147483647 h 917"/>
              <a:gd name="T18" fmla="*/ 2147483647 w 1877"/>
              <a:gd name="T19" fmla="*/ 2147483647 h 917"/>
              <a:gd name="T20" fmla="*/ 2147483647 w 1877"/>
              <a:gd name="T21" fmla="*/ 2147483647 h 917"/>
              <a:gd name="T22" fmla="*/ 2147483647 w 1877"/>
              <a:gd name="T23" fmla="*/ 2147483647 h 917"/>
              <a:gd name="T24" fmla="*/ 2147483647 w 1877"/>
              <a:gd name="T25" fmla="*/ 2147483647 h 917"/>
              <a:gd name="T26" fmla="*/ 2147483647 w 1877"/>
              <a:gd name="T27" fmla="*/ 2147483647 h 917"/>
              <a:gd name="T28" fmla="*/ 2147483647 w 1877"/>
              <a:gd name="T29" fmla="*/ 2147483647 h 917"/>
              <a:gd name="T30" fmla="*/ 2147483647 w 1877"/>
              <a:gd name="T31" fmla="*/ 2147483647 h 91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877"/>
              <a:gd name="T49" fmla="*/ 0 h 917"/>
              <a:gd name="T50" fmla="*/ 1877 w 1877"/>
              <a:gd name="T51" fmla="*/ 917 h 91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877" h="91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9CDFF9"/>
          </a:solidFill>
          <a:ln>
            <a:noFill/>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Calibri"/>
              <a:ea typeface="ＭＳ Ｐゴシック" panose="020B0600070205080204" pitchFamily="34" charset="-128"/>
              <a:cs typeface="Arial"/>
            </a:endParaRPr>
          </a:p>
        </p:txBody>
      </p:sp>
      <p:sp>
        <p:nvSpPr>
          <p:cNvPr id="11" name="Rectangle 10">
            <a:extLst>
              <a:ext uri="{FF2B5EF4-FFF2-40B4-BE49-F238E27FC236}">
                <a16:creationId xmlns:a16="http://schemas.microsoft.com/office/drawing/2014/main" id="{CC19030B-5BD3-114F-B249-57401BFC96FB}"/>
              </a:ext>
            </a:extLst>
          </p:cNvPr>
          <p:cNvSpPr/>
          <p:nvPr/>
        </p:nvSpPr>
        <p:spPr>
          <a:xfrm>
            <a:off x="4944218" y="2675931"/>
            <a:ext cx="2194145" cy="1745839"/>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cxnSp>
        <p:nvCxnSpPr>
          <p:cNvPr id="101" name="Straight Connector 100">
            <a:extLst>
              <a:ext uri="{FF2B5EF4-FFF2-40B4-BE49-F238E27FC236}">
                <a16:creationId xmlns:a16="http://schemas.microsoft.com/office/drawing/2014/main" id="{80C9D10E-5651-A74C-93AC-3C99ACEB97DA}"/>
              </a:ext>
            </a:extLst>
          </p:cNvPr>
          <p:cNvCxnSpPr>
            <a:cxnSpLocks/>
          </p:cNvCxnSpPr>
          <p:nvPr/>
        </p:nvCxnSpPr>
        <p:spPr>
          <a:xfrm flipV="1">
            <a:off x="3204457" y="2995594"/>
            <a:ext cx="0" cy="2502331"/>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grpSp>
        <p:nvGrpSpPr>
          <p:cNvPr id="89" name="Group 88">
            <a:extLst>
              <a:ext uri="{FF2B5EF4-FFF2-40B4-BE49-F238E27FC236}">
                <a16:creationId xmlns:a16="http://schemas.microsoft.com/office/drawing/2014/main" id="{55BCE33F-AF9C-9244-A84E-ABFE39D35FDD}"/>
              </a:ext>
            </a:extLst>
          </p:cNvPr>
          <p:cNvGrpSpPr/>
          <p:nvPr/>
        </p:nvGrpSpPr>
        <p:grpSpPr>
          <a:xfrm>
            <a:off x="5525255" y="2683797"/>
            <a:ext cx="1407618" cy="386166"/>
            <a:chOff x="8593764" y="690692"/>
            <a:chExt cx="1407618" cy="386166"/>
          </a:xfrm>
        </p:grpSpPr>
        <p:sp>
          <p:nvSpPr>
            <p:cNvPr id="90" name="Rectangle 89">
              <a:extLst>
                <a:ext uri="{FF2B5EF4-FFF2-40B4-BE49-F238E27FC236}">
                  <a16:creationId xmlns:a16="http://schemas.microsoft.com/office/drawing/2014/main" id="{3181679B-461D-F54E-B35C-1F26F43C0389}"/>
                </a:ext>
              </a:extLst>
            </p:cNvPr>
            <p:cNvSpPr/>
            <p:nvPr/>
          </p:nvSpPr>
          <p:spPr>
            <a:xfrm>
              <a:off x="8597936" y="756182"/>
              <a:ext cx="1403446" cy="26616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91" name="TextBox 90">
              <a:extLst>
                <a:ext uri="{FF2B5EF4-FFF2-40B4-BE49-F238E27FC236}">
                  <a16:creationId xmlns:a16="http://schemas.microsoft.com/office/drawing/2014/main" id="{3C8C24D3-DD36-2249-9CAB-AD499E2FCA24}"/>
                </a:ext>
              </a:extLst>
            </p:cNvPr>
            <p:cNvSpPr txBox="1"/>
            <p:nvPr/>
          </p:nvSpPr>
          <p:spPr>
            <a:xfrm>
              <a:off x="8893175" y="707526"/>
              <a:ext cx="110820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HTTP msg</a:t>
              </a:r>
            </a:p>
          </p:txBody>
        </p:sp>
        <p:sp>
          <p:nvSpPr>
            <p:cNvPr id="92" name="TextBox 91">
              <a:extLst>
                <a:ext uri="{FF2B5EF4-FFF2-40B4-BE49-F238E27FC236}">
                  <a16:creationId xmlns:a16="http://schemas.microsoft.com/office/drawing/2014/main" id="{A5E8010F-AACF-1444-9E25-B05D5044AA5A}"/>
                </a:ext>
              </a:extLst>
            </p:cNvPr>
            <p:cNvSpPr txBox="1"/>
            <p:nvPr/>
          </p:nvSpPr>
          <p:spPr>
            <a:xfrm>
              <a:off x="8593764" y="690692"/>
              <a:ext cx="38023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H</a:t>
              </a:r>
              <a:r>
                <a:rPr kumimoji="0" lang="en-US" sz="1800" b="0" i="0" u="none" strike="noStrike" kern="1200" cap="none" spc="0" normalizeH="0" baseline="-25000" noProof="0" dirty="0">
                  <a:ln>
                    <a:noFill/>
                  </a:ln>
                  <a:solidFill>
                    <a:prstClr val="black"/>
                  </a:solidFill>
                  <a:effectLst/>
                  <a:uLnTx/>
                  <a:uFillTx/>
                  <a:latin typeface="Calibri"/>
                  <a:ea typeface="+mn-ea"/>
                  <a:cs typeface="+mn-cs"/>
                </a:rPr>
                <a:t>t</a:t>
              </a:r>
            </a:p>
          </p:txBody>
        </p:sp>
      </p:grpSp>
      <p:sp>
        <p:nvSpPr>
          <p:cNvPr id="98" name="Rectangle 97">
            <a:extLst>
              <a:ext uri="{FF2B5EF4-FFF2-40B4-BE49-F238E27FC236}">
                <a16:creationId xmlns:a16="http://schemas.microsoft.com/office/drawing/2014/main" id="{4FFEBBBB-2623-A645-BE22-49AB28379D36}"/>
              </a:ext>
            </a:extLst>
          </p:cNvPr>
          <p:cNvSpPr/>
          <p:nvPr/>
        </p:nvSpPr>
        <p:spPr>
          <a:xfrm>
            <a:off x="5864224" y="2340021"/>
            <a:ext cx="1063879" cy="26616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99" name="TextBox 98">
            <a:extLst>
              <a:ext uri="{FF2B5EF4-FFF2-40B4-BE49-F238E27FC236}">
                <a16:creationId xmlns:a16="http://schemas.microsoft.com/office/drawing/2014/main" id="{BE6AB7BA-7EC8-0044-B495-B5FBC9F37B18}"/>
              </a:ext>
            </a:extLst>
          </p:cNvPr>
          <p:cNvSpPr txBox="1"/>
          <p:nvPr/>
        </p:nvSpPr>
        <p:spPr>
          <a:xfrm>
            <a:off x="5819897" y="2291365"/>
            <a:ext cx="110820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HTTP msg</a:t>
            </a:r>
          </a:p>
        </p:txBody>
      </p:sp>
      <p:cxnSp>
        <p:nvCxnSpPr>
          <p:cNvPr id="104" name="Straight Connector 103">
            <a:extLst>
              <a:ext uri="{FF2B5EF4-FFF2-40B4-BE49-F238E27FC236}">
                <a16:creationId xmlns:a16="http://schemas.microsoft.com/office/drawing/2014/main" id="{8F458F2E-0B98-1741-9C0D-ECC805BD8799}"/>
              </a:ext>
            </a:extLst>
          </p:cNvPr>
          <p:cNvCxnSpPr>
            <a:cxnSpLocks/>
          </p:cNvCxnSpPr>
          <p:nvPr/>
        </p:nvCxnSpPr>
        <p:spPr>
          <a:xfrm>
            <a:off x="7011397" y="2484139"/>
            <a:ext cx="0" cy="3013786"/>
          </a:xfrm>
          <a:prstGeom prst="line">
            <a:avLst/>
          </a:prstGeom>
          <a:ln w="44450"/>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143591F4-8564-6A44-BC41-A0C901C7BC9C}"/>
              </a:ext>
            </a:extLst>
          </p:cNvPr>
          <p:cNvCxnSpPr>
            <a:cxnSpLocks/>
          </p:cNvCxnSpPr>
          <p:nvPr/>
        </p:nvCxnSpPr>
        <p:spPr>
          <a:xfrm>
            <a:off x="3184573" y="5478673"/>
            <a:ext cx="3851736" cy="0"/>
          </a:xfrm>
          <a:prstGeom prst="line">
            <a:avLst/>
          </a:prstGeom>
          <a:ln w="44450"/>
        </p:spPr>
        <p:style>
          <a:lnRef idx="1">
            <a:schemeClr val="accent1"/>
          </a:lnRef>
          <a:fillRef idx="0">
            <a:schemeClr val="accent1"/>
          </a:fillRef>
          <a:effectRef idx="0">
            <a:schemeClr val="accent1"/>
          </a:effectRef>
          <a:fontRef idx="minor">
            <a:schemeClr val="tx1"/>
          </a:fontRef>
        </p:style>
      </p:cxnSp>
      <p:sp>
        <p:nvSpPr>
          <p:cNvPr id="100" name="Rectangle 99">
            <a:extLst>
              <a:ext uri="{FF2B5EF4-FFF2-40B4-BE49-F238E27FC236}">
                <a16:creationId xmlns:a16="http://schemas.microsoft.com/office/drawing/2014/main" id="{7E44E6E3-ED5F-EA46-A3F3-2FC71EED50CF}"/>
              </a:ext>
            </a:extLst>
          </p:cNvPr>
          <p:cNvSpPr/>
          <p:nvPr/>
        </p:nvSpPr>
        <p:spPr>
          <a:xfrm>
            <a:off x="5864224" y="2291365"/>
            <a:ext cx="1063879" cy="300547"/>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02" name="Rectangle 101">
            <a:extLst>
              <a:ext uri="{FF2B5EF4-FFF2-40B4-BE49-F238E27FC236}">
                <a16:creationId xmlns:a16="http://schemas.microsoft.com/office/drawing/2014/main" id="{33F974F9-F1CB-EB4F-9996-B0CAF21D948C}"/>
              </a:ext>
            </a:extLst>
          </p:cNvPr>
          <p:cNvSpPr/>
          <p:nvPr/>
        </p:nvSpPr>
        <p:spPr>
          <a:xfrm>
            <a:off x="5474955" y="2744519"/>
            <a:ext cx="1478052" cy="284266"/>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06" name="Rectangle 105">
            <a:extLst>
              <a:ext uri="{FF2B5EF4-FFF2-40B4-BE49-F238E27FC236}">
                <a16:creationId xmlns:a16="http://schemas.microsoft.com/office/drawing/2014/main" id="{6B048DEA-97AB-1F43-8741-12645B01C3F5}"/>
              </a:ext>
            </a:extLst>
          </p:cNvPr>
          <p:cNvSpPr/>
          <p:nvPr/>
        </p:nvSpPr>
        <p:spPr>
          <a:xfrm>
            <a:off x="1776642" y="3222226"/>
            <a:ext cx="1824687" cy="1745839"/>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grpSp>
        <p:nvGrpSpPr>
          <p:cNvPr id="107" name="Group 106">
            <a:extLst>
              <a:ext uri="{FF2B5EF4-FFF2-40B4-BE49-F238E27FC236}">
                <a16:creationId xmlns:a16="http://schemas.microsoft.com/office/drawing/2014/main" id="{A739BD94-0F47-854B-9CF2-AB21F1755B7E}"/>
              </a:ext>
            </a:extLst>
          </p:cNvPr>
          <p:cNvGrpSpPr/>
          <p:nvPr/>
        </p:nvGrpSpPr>
        <p:grpSpPr>
          <a:xfrm>
            <a:off x="3073015" y="2669125"/>
            <a:ext cx="1108206" cy="369332"/>
            <a:chOff x="8893175" y="707526"/>
            <a:chExt cx="1108206" cy="369332"/>
          </a:xfrm>
        </p:grpSpPr>
        <p:sp>
          <p:nvSpPr>
            <p:cNvPr id="108" name="Rectangle 107">
              <a:extLst>
                <a:ext uri="{FF2B5EF4-FFF2-40B4-BE49-F238E27FC236}">
                  <a16:creationId xmlns:a16="http://schemas.microsoft.com/office/drawing/2014/main" id="{74E14681-F8C2-E943-9036-9B66F8026102}"/>
                </a:ext>
              </a:extLst>
            </p:cNvPr>
            <p:cNvSpPr/>
            <p:nvPr/>
          </p:nvSpPr>
          <p:spPr>
            <a:xfrm>
              <a:off x="8934834" y="756182"/>
              <a:ext cx="1066547" cy="266167"/>
            </a:xfrm>
            <a:prstGeom prst="rect">
              <a:avLst/>
            </a:prstGeom>
            <a:solidFill>
              <a:schemeClr val="bg1"/>
            </a:solid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09" name="TextBox 108">
              <a:extLst>
                <a:ext uri="{FF2B5EF4-FFF2-40B4-BE49-F238E27FC236}">
                  <a16:creationId xmlns:a16="http://schemas.microsoft.com/office/drawing/2014/main" id="{9FE05029-2B07-9140-B651-352A9EE32350}"/>
                </a:ext>
              </a:extLst>
            </p:cNvPr>
            <p:cNvSpPr txBox="1"/>
            <p:nvPr/>
          </p:nvSpPr>
          <p:spPr>
            <a:xfrm>
              <a:off x="8893175" y="707526"/>
              <a:ext cx="110820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HTTP msg</a:t>
              </a:r>
            </a:p>
          </p:txBody>
        </p:sp>
      </p:grpSp>
      <p:pic>
        <p:nvPicPr>
          <p:cNvPr id="111" name="Picture 8" descr="Image result for blue question mark icon">
            <a:extLst>
              <a:ext uri="{FF2B5EF4-FFF2-40B4-BE49-F238E27FC236}">
                <a16:creationId xmlns:a16="http://schemas.microsoft.com/office/drawing/2014/main" id="{7A8F5C24-D5BC-6046-A8A9-E43B225E498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78355" y="104889"/>
            <a:ext cx="1624375" cy="1624375"/>
          </a:xfrm>
          <a:prstGeom prst="rect">
            <a:avLst/>
          </a:prstGeom>
          <a:noFill/>
          <a:extLst>
            <a:ext uri="{909E8E84-426E-40dd-AFC4-6F175D3DCCD1}">
              <a14:hiddenFill xmlns:a14="http://schemas.microsoft.com/office/drawing/2010/main" xmlns="">
                <a:solidFill>
                  <a:srgbClr val="FFFFFF"/>
                </a:solidFill>
              </a14:hiddenFill>
            </a:ext>
          </a:extLst>
        </p:spPr>
      </p:pic>
      <p:sp>
        <p:nvSpPr>
          <p:cNvPr id="2" name="TextBox 1">
            <a:extLst>
              <a:ext uri="{FF2B5EF4-FFF2-40B4-BE49-F238E27FC236}">
                <a16:creationId xmlns:a16="http://schemas.microsoft.com/office/drawing/2014/main" id="{EC617D77-5487-F243-B8B2-CF4CA1D7049C}"/>
              </a:ext>
            </a:extLst>
          </p:cNvPr>
          <p:cNvSpPr txBox="1"/>
          <p:nvPr/>
        </p:nvSpPr>
        <p:spPr>
          <a:xfrm>
            <a:off x="2209800" y="266700"/>
            <a:ext cx="9664700" cy="828047"/>
          </a:xfrm>
          <a:prstGeom prst="rect">
            <a:avLst/>
          </a:prstGeom>
          <a:noFill/>
        </p:spPr>
        <p:txBody>
          <a:bodyPr wrap="square" rtlCol="0">
            <a:spAutoFit/>
          </a:bodyPr>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n-US" sz="2800" b="0" i="1" u="none" strike="noStrike" kern="1200" cap="none" spc="0" normalizeH="0" baseline="0" noProof="0" dirty="0">
                <a:ln>
                  <a:noFill/>
                </a:ln>
                <a:solidFill>
                  <a:srgbClr val="C00000"/>
                </a:solidFill>
                <a:effectLst/>
                <a:uLnTx/>
                <a:uFillTx/>
                <a:latin typeface="Calibri" panose="020F0502020204030204"/>
                <a:ea typeface="+mn-ea"/>
                <a:cs typeface="+mn-cs"/>
              </a:rPr>
              <a:t>Q: how did transport layer know to deliver message to Firefox browser process rather than Netflix process or Skype process?</a:t>
            </a:r>
          </a:p>
        </p:txBody>
      </p:sp>
    </p:spTree>
    <p:extLst>
      <p:ext uri="{BB962C8B-B14F-4D97-AF65-F5344CB8AC3E}">
        <p14:creationId xmlns:p14="http://schemas.microsoft.com/office/powerpoint/2010/main" val="7656496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2000"/>
                                  </p:stCondLst>
                                  <p:childTnLst>
                                    <p:set>
                                      <p:cBhvr>
                                        <p:cTn id="6" dur="1" fill="hold">
                                          <p:stCondLst>
                                            <p:cond delay="0"/>
                                          </p:stCondLst>
                                        </p:cTn>
                                        <p:tgtEl>
                                          <p:spTgt spid="111"/>
                                        </p:tgtEl>
                                        <p:attrNameLst>
                                          <p:attrName>style.visibility</p:attrName>
                                        </p:attrNameLst>
                                      </p:cBhvr>
                                      <p:to>
                                        <p:strVal val="visible"/>
                                      </p:to>
                                    </p:set>
                                    <p:animEffect transition="in" filter="dissolve">
                                      <p:cBhvr>
                                        <p:cTn id="7" dur="1000"/>
                                        <p:tgtEl>
                                          <p:spTgt spid="111"/>
                                        </p:tgtEl>
                                      </p:cBhvr>
                                    </p:animEffect>
                                  </p:childTnLst>
                                </p:cTn>
                              </p:par>
                            </p:childTnLst>
                          </p:cTn>
                        </p:par>
                        <p:par>
                          <p:cTn id="8" fill="hold">
                            <p:stCondLst>
                              <p:cond delay="3000"/>
                            </p:stCondLst>
                            <p:childTnLst>
                              <p:par>
                                <p:cTn id="9" presetID="9" presetClass="entr" presetSubtype="0"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dissolve">
                                      <p:cBhvr>
                                        <p:cTn id="1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400" dirty="0"/>
              <a:t>How demultiplexing </a:t>
            </a:r>
            <a:r>
              <a:rPr lang="en-US" dirty="0"/>
              <a:t>w</a:t>
            </a:r>
            <a:r>
              <a:rPr lang="en-US" sz="4400" dirty="0"/>
              <a:t>orks</a:t>
            </a:r>
          </a:p>
        </p:txBody>
      </p:sp>
      <p:sp>
        <p:nvSpPr>
          <p:cNvPr id="277" name="Rectangle 23">
            <a:extLst>
              <a:ext uri="{FF2B5EF4-FFF2-40B4-BE49-F238E27FC236}">
                <a16:creationId xmlns:a16="http://schemas.microsoft.com/office/drawing/2014/main" id="{0F916DA5-15D2-0A42-8C9B-01DCE4B192B4}"/>
              </a:ext>
            </a:extLst>
          </p:cNvPr>
          <p:cNvSpPr txBox="1">
            <a:spLocks noChangeArrowheads="1"/>
          </p:cNvSpPr>
          <p:nvPr/>
        </p:nvSpPr>
        <p:spPr bwMode="auto">
          <a:xfrm>
            <a:off x="261257" y="1565761"/>
            <a:ext cx="6695868" cy="447178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284163" indent="-284163" algn="l" rtl="0" eaLnBrk="0" fontAlgn="base" hangingPunct="0">
              <a:lnSpc>
                <a:spcPct val="85000"/>
              </a:lnSpc>
              <a:spcBef>
                <a:spcPct val="20000"/>
              </a:spcBef>
              <a:spcAft>
                <a:spcPct val="0"/>
              </a:spcAft>
              <a:buClr>
                <a:srgbClr val="000099"/>
              </a:buClr>
              <a:buSzPct val="100000"/>
              <a:buFont typeface="Wingdings" pitchFamily="2" charset="2"/>
              <a:buChar char="§"/>
              <a:defRPr sz="2800">
                <a:solidFill>
                  <a:schemeClr val="tx1"/>
                </a:solidFill>
                <a:latin typeface="+mn-lt"/>
                <a:ea typeface="ＭＳ Ｐゴシック" charset="0"/>
                <a:cs typeface="ＭＳ Ｐゴシック" charset="0"/>
              </a:defRPr>
            </a:lvl1pPr>
            <a:lvl2pPr marL="687388" indent="-230188" algn="l" rtl="0" eaLnBrk="0" fontAlgn="base" hangingPunct="0">
              <a:lnSpc>
                <a:spcPct val="85000"/>
              </a:lnSpc>
              <a:spcBef>
                <a:spcPct val="20000"/>
              </a:spcBef>
              <a:spcAft>
                <a:spcPct val="0"/>
              </a:spcAft>
              <a:buClr>
                <a:srgbClr val="000099"/>
              </a:buClr>
              <a:buFont typeface="Arial" panose="020B0604020202020204" pitchFamily="34" charset="0"/>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18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18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18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1800">
                <a:solidFill>
                  <a:schemeClr val="tx1"/>
                </a:solidFill>
                <a:latin typeface="Times New Roman" pitchFamily="-109" charset="0"/>
              </a:defRPr>
            </a:lvl9pPr>
          </a:lstStyle>
          <a:p>
            <a:pPr marR="0" lvl="0" algn="l" defTabSz="914400" rtl="0" eaLnBrk="0" fontAlgn="base" latinLnBrk="0" hangingPunct="0">
              <a:lnSpc>
                <a:spcPct val="85000"/>
              </a:lnSpc>
              <a:spcBef>
                <a:spcPct val="20000"/>
              </a:spcBef>
              <a:spcAft>
                <a:spcPct val="0"/>
              </a:spcAft>
              <a:buClrTx/>
              <a:buSzPct val="100000"/>
              <a:buFont typeface="Arial" panose="020B0604020202020204" pitchFamily="34" charset="0"/>
              <a:buChar char="•"/>
              <a:tabLst/>
              <a:defRPr/>
            </a:pPr>
            <a:r>
              <a:rPr lang="en-US" sz="3200" kern="0" dirty="0">
                <a:solidFill>
                  <a:srgbClr val="000000"/>
                </a:solidFill>
                <a:latin typeface="Calibri" panose="020F0502020204030204"/>
                <a:cs typeface="+mn-cs"/>
              </a:rPr>
              <a:t>R</a:t>
            </a:r>
            <a:r>
              <a:rPr kumimoji="0" lang="en-US" sz="3200" b="0" i="0" u="none" strike="noStrike" kern="0" cap="none" spc="0" normalizeH="0" baseline="0" noProof="0" dirty="0" err="1">
                <a:ln>
                  <a:noFill/>
                </a:ln>
                <a:solidFill>
                  <a:srgbClr val="000000"/>
                </a:solidFill>
                <a:effectLst/>
                <a:uLnTx/>
                <a:uFillTx/>
                <a:latin typeface="Calibri" panose="020F0502020204030204"/>
                <a:ea typeface="ＭＳ Ｐゴシック" charset="0"/>
                <a:cs typeface="+mn-cs"/>
              </a:rPr>
              <a:t>eceiving</a:t>
            </a:r>
            <a:r>
              <a:rPr kumimoji="0" lang="en-US" sz="32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 host receives IP datagrams:</a:t>
            </a:r>
          </a:p>
          <a:p>
            <a:pPr marR="0" lvl="1" algn="l" defTabSz="914400" rtl="0" eaLnBrk="0" fontAlgn="base" latinLnBrk="0" hangingPunct="0">
              <a:lnSpc>
                <a:spcPct val="85000"/>
              </a:lnSpc>
              <a:spcBef>
                <a:spcPct val="20000"/>
              </a:spcBef>
              <a:spcAft>
                <a:spcPct val="0"/>
              </a:spcAft>
              <a:buClrTx/>
              <a:buSzTx/>
              <a:tabLst/>
              <a:defRPr/>
            </a:pPr>
            <a:r>
              <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Each datagram has source IP address, destination IP address</a:t>
            </a:r>
          </a:p>
          <a:p>
            <a:pPr marR="0" lvl="1" algn="l" defTabSz="914400" rtl="0" eaLnBrk="0" fontAlgn="base" latinLnBrk="0" hangingPunct="0">
              <a:lnSpc>
                <a:spcPct val="85000"/>
              </a:lnSpc>
              <a:spcBef>
                <a:spcPct val="20000"/>
              </a:spcBef>
              <a:spcAft>
                <a:spcPct val="0"/>
              </a:spcAft>
              <a:buClrTx/>
              <a:buSzTx/>
              <a:tabLst/>
              <a:defRPr/>
            </a:pPr>
            <a:r>
              <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Each datagram carries one transport-layer segment</a:t>
            </a:r>
          </a:p>
          <a:p>
            <a:pPr marR="0" lvl="1" algn="l" defTabSz="914400" rtl="0" eaLnBrk="0" fontAlgn="base" latinLnBrk="0" hangingPunct="0">
              <a:lnSpc>
                <a:spcPct val="85000"/>
              </a:lnSpc>
              <a:spcBef>
                <a:spcPct val="20000"/>
              </a:spcBef>
              <a:spcAft>
                <a:spcPct val="0"/>
              </a:spcAft>
              <a:buClrTx/>
              <a:buSzTx/>
              <a:tabLst/>
              <a:defRPr/>
            </a:pPr>
            <a:r>
              <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Each segment has source, destination port number </a:t>
            </a:r>
          </a:p>
          <a:p>
            <a:pPr marR="0" lvl="0" algn="l" defTabSz="914400" rtl="0" eaLnBrk="0" fontAlgn="base" latinLnBrk="0" hangingPunct="0">
              <a:lnSpc>
                <a:spcPct val="85000"/>
              </a:lnSpc>
              <a:spcBef>
                <a:spcPct val="20000"/>
              </a:spcBef>
              <a:spcAft>
                <a:spcPct val="0"/>
              </a:spcAft>
              <a:buClrTx/>
              <a:buSzPct val="100000"/>
              <a:buFont typeface="Arial" panose="020B0604020202020204" pitchFamily="34" charset="0"/>
              <a:buChar char="•"/>
              <a:tabLst/>
              <a:defRPr/>
            </a:pPr>
            <a:r>
              <a:rPr kumimoji="0" lang="en-US" sz="32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Receiving host uses </a:t>
            </a:r>
            <a:r>
              <a:rPr kumimoji="0" lang="en-US" sz="3200" b="0" i="1" u="none" strike="noStrike" kern="0" cap="none" spc="0" normalizeH="0" baseline="0" noProof="0" dirty="0">
                <a:ln>
                  <a:noFill/>
                </a:ln>
                <a:solidFill>
                  <a:srgbClr val="CC0000"/>
                </a:solidFill>
                <a:effectLst/>
                <a:uLnTx/>
                <a:uFillTx/>
                <a:latin typeface="Calibri" panose="020F0502020204030204"/>
                <a:ea typeface="ＭＳ Ｐゴシック" charset="0"/>
                <a:cs typeface="+mn-cs"/>
              </a:rPr>
              <a:t>IP addresses &amp; port numbers</a:t>
            </a:r>
            <a:r>
              <a:rPr kumimoji="0" lang="en-US" sz="32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 to direct segment to appropriate socket</a:t>
            </a:r>
          </a:p>
        </p:txBody>
      </p:sp>
      <p:grpSp>
        <p:nvGrpSpPr>
          <p:cNvPr id="5" name="Group 4"/>
          <p:cNvGrpSpPr/>
          <p:nvPr/>
        </p:nvGrpSpPr>
        <p:grpSpPr>
          <a:xfrm>
            <a:off x="7543216" y="1704452"/>
            <a:ext cx="3414712" cy="4121150"/>
            <a:chOff x="7543216" y="1704452"/>
            <a:chExt cx="3414712" cy="4121150"/>
          </a:xfrm>
        </p:grpSpPr>
        <p:sp>
          <p:nvSpPr>
            <p:cNvPr id="275" name="Rectangle 75">
              <a:extLst>
                <a:ext uri="{FF2B5EF4-FFF2-40B4-BE49-F238E27FC236}">
                  <a16:creationId xmlns:a16="http://schemas.microsoft.com/office/drawing/2014/main" id="{FCCA66F1-5923-DC45-83A7-1942BA80E808}"/>
                </a:ext>
              </a:extLst>
            </p:cNvPr>
            <p:cNvSpPr>
              <a:spLocks noChangeArrowheads="1"/>
            </p:cNvSpPr>
            <p:nvPr/>
          </p:nvSpPr>
          <p:spPr bwMode="auto">
            <a:xfrm>
              <a:off x="7633703" y="2048939"/>
              <a:ext cx="3324225" cy="3200400"/>
            </a:xfrm>
            <a:prstGeom prst="rect">
              <a:avLst/>
            </a:prstGeom>
            <a:solidFill>
              <a:srgbClr val="000099"/>
            </a:solidFill>
            <a:ln>
              <a:noFill/>
            </a:ln>
            <a:effectLst/>
            <a:extLst>
              <a:ext uri="{91240B29-F687-4f45-9708-019B960494DF}">
                <a14:hiddenLine xmlns:a14="http://schemas.microsoft.com/office/drawing/2010/main" xmlns="" w="1905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276" name="Rectangle 65">
              <a:extLst>
                <a:ext uri="{FF2B5EF4-FFF2-40B4-BE49-F238E27FC236}">
                  <a16:creationId xmlns:a16="http://schemas.microsoft.com/office/drawing/2014/main" id="{325B2818-1D14-0544-87D5-B34939698E97}"/>
                </a:ext>
              </a:extLst>
            </p:cNvPr>
            <p:cNvSpPr>
              <a:spLocks noChangeArrowheads="1"/>
            </p:cNvSpPr>
            <p:nvPr/>
          </p:nvSpPr>
          <p:spPr bwMode="auto">
            <a:xfrm>
              <a:off x="7557503" y="2144189"/>
              <a:ext cx="3324225" cy="3200400"/>
            </a:xfrm>
            <a:prstGeom prst="rect">
              <a:avLst/>
            </a:prstGeom>
            <a:solidFill>
              <a:srgbClr val="FFFFFF"/>
            </a:solidFill>
            <a:ln w="19050">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78" name="Text Box 63">
              <a:extLst>
                <a:ext uri="{FF2B5EF4-FFF2-40B4-BE49-F238E27FC236}">
                  <a16:creationId xmlns:a16="http://schemas.microsoft.com/office/drawing/2014/main" id="{0308811F-F83C-684C-9A70-7056E7030121}"/>
                </a:ext>
              </a:extLst>
            </p:cNvPr>
            <p:cNvSpPr txBox="1">
              <a:spLocks noChangeArrowheads="1"/>
            </p:cNvSpPr>
            <p:nvPr/>
          </p:nvSpPr>
          <p:spPr bwMode="auto">
            <a:xfrm>
              <a:off x="7597191" y="2156889"/>
              <a:ext cx="1563687" cy="366713"/>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CC0000"/>
                  </a:solidFill>
                  <a:effectLst/>
                  <a:uLnTx/>
                  <a:uFillTx/>
                  <a:latin typeface="Tahoma" charset="0"/>
                  <a:ea typeface="ＭＳ Ｐゴシック" charset="0"/>
                  <a:cs typeface="+mn-cs"/>
                </a:rPr>
                <a:t>source port #</a:t>
              </a:r>
              <a:endParaRPr kumimoji="0" lang="en-US" sz="2400" b="0" i="0" u="none" strike="noStrike" kern="0" cap="none" spc="0" normalizeH="0" baseline="0" noProof="0" dirty="0">
                <a:ln>
                  <a:noFill/>
                </a:ln>
                <a:solidFill>
                  <a:srgbClr val="CC0000"/>
                </a:solidFill>
                <a:effectLst/>
                <a:uLnTx/>
                <a:uFillTx/>
                <a:latin typeface="Tahoma" charset="0"/>
                <a:ea typeface="ＭＳ Ｐゴシック" charset="0"/>
                <a:cs typeface="+mn-cs"/>
              </a:endParaRPr>
            </a:p>
          </p:txBody>
        </p:sp>
        <p:sp>
          <p:nvSpPr>
            <p:cNvPr id="279" name="Text Box 64">
              <a:extLst>
                <a:ext uri="{FF2B5EF4-FFF2-40B4-BE49-F238E27FC236}">
                  <a16:creationId xmlns:a16="http://schemas.microsoft.com/office/drawing/2014/main" id="{DFDB1254-258A-D74F-9312-2F08048EE0A6}"/>
                </a:ext>
              </a:extLst>
            </p:cNvPr>
            <p:cNvSpPr txBox="1">
              <a:spLocks noChangeArrowheads="1"/>
            </p:cNvSpPr>
            <p:nvPr/>
          </p:nvSpPr>
          <p:spPr bwMode="auto">
            <a:xfrm>
              <a:off x="9383128" y="2156889"/>
              <a:ext cx="1328738" cy="366713"/>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CC0000"/>
                  </a:solidFill>
                  <a:effectLst/>
                  <a:uLnTx/>
                  <a:uFillTx/>
                  <a:latin typeface="Tahoma" charset="0"/>
                  <a:ea typeface="ＭＳ Ｐゴシック" charset="0"/>
                  <a:cs typeface="+mn-cs"/>
                </a:rPr>
                <a:t>dest port #</a:t>
              </a:r>
              <a:endParaRPr kumimoji="0" lang="en-US" sz="2400" b="0" i="0" u="none" strike="noStrike" kern="0" cap="none" spc="0" normalizeH="0" baseline="0" noProof="0" dirty="0">
                <a:ln>
                  <a:noFill/>
                </a:ln>
                <a:solidFill>
                  <a:srgbClr val="CC0000"/>
                </a:solidFill>
                <a:effectLst/>
                <a:uLnTx/>
                <a:uFillTx/>
                <a:latin typeface="Tahoma" charset="0"/>
                <a:ea typeface="ＭＳ Ｐゴシック" charset="0"/>
                <a:cs typeface="+mn-cs"/>
              </a:endParaRPr>
            </a:p>
          </p:txBody>
        </p:sp>
        <p:sp>
          <p:nvSpPr>
            <p:cNvPr id="280" name="Line 66">
              <a:extLst>
                <a:ext uri="{FF2B5EF4-FFF2-40B4-BE49-F238E27FC236}">
                  <a16:creationId xmlns:a16="http://schemas.microsoft.com/office/drawing/2014/main" id="{7758F487-6FB2-F34B-84F0-976833827475}"/>
                </a:ext>
              </a:extLst>
            </p:cNvPr>
            <p:cNvSpPr>
              <a:spLocks noChangeShapeType="1"/>
            </p:cNvSpPr>
            <p:nvPr/>
          </p:nvSpPr>
          <p:spPr bwMode="auto">
            <a:xfrm flipV="1">
              <a:off x="7547978" y="2544239"/>
              <a:ext cx="3328988" cy="0"/>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81" name="Line 68">
              <a:extLst>
                <a:ext uri="{FF2B5EF4-FFF2-40B4-BE49-F238E27FC236}">
                  <a16:creationId xmlns:a16="http://schemas.microsoft.com/office/drawing/2014/main" id="{A9895192-7D02-2F4C-B006-EAE3FEF5F7A4}"/>
                </a:ext>
              </a:extLst>
            </p:cNvPr>
            <p:cNvSpPr>
              <a:spLocks noChangeShapeType="1"/>
            </p:cNvSpPr>
            <p:nvPr/>
          </p:nvSpPr>
          <p:spPr bwMode="auto">
            <a:xfrm flipV="1">
              <a:off x="7557503" y="3534839"/>
              <a:ext cx="3324225" cy="0"/>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82" name="Line 69">
              <a:extLst>
                <a:ext uri="{FF2B5EF4-FFF2-40B4-BE49-F238E27FC236}">
                  <a16:creationId xmlns:a16="http://schemas.microsoft.com/office/drawing/2014/main" id="{7ABA37B1-9C1B-8F43-9F10-44126FAB2D3C}"/>
                </a:ext>
              </a:extLst>
            </p:cNvPr>
            <p:cNvSpPr>
              <a:spLocks noChangeShapeType="1"/>
            </p:cNvSpPr>
            <p:nvPr/>
          </p:nvSpPr>
          <p:spPr bwMode="auto">
            <a:xfrm flipV="1">
              <a:off x="9195803" y="2144189"/>
              <a:ext cx="0" cy="395288"/>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83" name="Text Box 70">
              <a:extLst>
                <a:ext uri="{FF2B5EF4-FFF2-40B4-BE49-F238E27FC236}">
                  <a16:creationId xmlns:a16="http://schemas.microsoft.com/office/drawing/2014/main" id="{B3C9350B-DCA6-5E4A-91AA-5C2AD14EC263}"/>
                </a:ext>
              </a:extLst>
            </p:cNvPr>
            <p:cNvSpPr txBox="1">
              <a:spLocks noChangeArrowheads="1"/>
            </p:cNvSpPr>
            <p:nvPr/>
          </p:nvSpPr>
          <p:spPr bwMode="auto">
            <a:xfrm>
              <a:off x="8740191" y="1704452"/>
              <a:ext cx="863600" cy="366712"/>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32 bits</a:t>
              </a: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84" name="Line 71">
              <a:extLst>
                <a:ext uri="{FF2B5EF4-FFF2-40B4-BE49-F238E27FC236}">
                  <a16:creationId xmlns:a16="http://schemas.microsoft.com/office/drawing/2014/main" id="{D16D54C4-5717-9E46-AA93-1E6BB3430444}"/>
                </a:ext>
              </a:extLst>
            </p:cNvPr>
            <p:cNvSpPr>
              <a:spLocks noChangeShapeType="1"/>
            </p:cNvSpPr>
            <p:nvPr/>
          </p:nvSpPr>
          <p:spPr bwMode="auto">
            <a:xfrm>
              <a:off x="9653003" y="1910827"/>
              <a:ext cx="1200150" cy="4762"/>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85" name="Line 72">
              <a:extLst>
                <a:ext uri="{FF2B5EF4-FFF2-40B4-BE49-F238E27FC236}">
                  <a16:creationId xmlns:a16="http://schemas.microsoft.com/office/drawing/2014/main" id="{332269D9-54A4-6446-BBAD-BD3F06A73E96}"/>
                </a:ext>
              </a:extLst>
            </p:cNvPr>
            <p:cNvSpPr>
              <a:spLocks noChangeShapeType="1"/>
            </p:cNvSpPr>
            <p:nvPr/>
          </p:nvSpPr>
          <p:spPr bwMode="auto">
            <a:xfrm rot="10800000">
              <a:off x="7543216" y="1920352"/>
              <a:ext cx="1128712" cy="0"/>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86" name="Text Box 73">
              <a:extLst>
                <a:ext uri="{FF2B5EF4-FFF2-40B4-BE49-F238E27FC236}">
                  <a16:creationId xmlns:a16="http://schemas.microsoft.com/office/drawing/2014/main" id="{8F7D97AE-E89E-684A-9571-5959DA8E3347}"/>
                </a:ext>
              </a:extLst>
            </p:cNvPr>
            <p:cNvSpPr txBox="1">
              <a:spLocks noChangeArrowheads="1"/>
            </p:cNvSpPr>
            <p:nvPr/>
          </p:nvSpPr>
          <p:spPr bwMode="auto">
            <a:xfrm>
              <a:off x="8451266" y="3865039"/>
              <a:ext cx="1389062" cy="1006475"/>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000000"/>
                  </a:solidFill>
                  <a:effectLst/>
                  <a:uLnTx/>
                  <a:uFillTx/>
                  <a:latin typeface="Tahoma" charset="0"/>
                  <a:ea typeface="ＭＳ Ｐゴシック" charset="0"/>
                  <a:cs typeface="+mn-cs"/>
                </a:rPr>
                <a:t>application</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000000"/>
                  </a:solidFill>
                  <a:effectLst/>
                  <a:uLnTx/>
                  <a:uFillTx/>
                  <a:latin typeface="Tahoma" charset="0"/>
                  <a:ea typeface="ＭＳ Ｐゴシック" charset="0"/>
                  <a:cs typeface="+mn-cs"/>
                </a:rPr>
                <a:t>data </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000000"/>
                  </a:solidFill>
                  <a:effectLst/>
                  <a:uLnTx/>
                  <a:uFillTx/>
                  <a:latin typeface="Tahoma" charset="0"/>
                  <a:ea typeface="ＭＳ Ｐゴシック" charset="0"/>
                  <a:cs typeface="+mn-cs"/>
                </a:rPr>
                <a:t>(payload)</a:t>
              </a: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87" name="Text Box 74">
              <a:extLst>
                <a:ext uri="{FF2B5EF4-FFF2-40B4-BE49-F238E27FC236}">
                  <a16:creationId xmlns:a16="http://schemas.microsoft.com/office/drawing/2014/main" id="{A5362E3E-8643-6A43-A4FE-BD56FF4F0BD3}"/>
                </a:ext>
              </a:extLst>
            </p:cNvPr>
            <p:cNvSpPr txBox="1">
              <a:spLocks noChangeArrowheads="1"/>
            </p:cNvSpPr>
            <p:nvPr/>
          </p:nvSpPr>
          <p:spPr bwMode="auto">
            <a:xfrm>
              <a:off x="8067091" y="2898252"/>
              <a:ext cx="2290762" cy="396875"/>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000000"/>
                  </a:solidFill>
                  <a:effectLst/>
                  <a:uLnTx/>
                  <a:uFillTx/>
                  <a:latin typeface="Tahoma" charset="0"/>
                  <a:ea typeface="ＭＳ Ｐゴシック" charset="0"/>
                  <a:cs typeface="+mn-cs"/>
                </a:rPr>
                <a:t>other header fields</a:t>
              </a: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88" name="Text Box 76">
              <a:extLst>
                <a:ext uri="{FF2B5EF4-FFF2-40B4-BE49-F238E27FC236}">
                  <a16:creationId xmlns:a16="http://schemas.microsoft.com/office/drawing/2014/main" id="{2FE71CF3-191A-C44F-839C-1CF4D7DFFAA5}"/>
                </a:ext>
              </a:extLst>
            </p:cNvPr>
            <p:cNvSpPr txBox="1">
              <a:spLocks noChangeArrowheads="1"/>
            </p:cNvSpPr>
            <p:nvPr/>
          </p:nvSpPr>
          <p:spPr bwMode="auto">
            <a:xfrm>
              <a:off x="7770228" y="5428727"/>
              <a:ext cx="3060700" cy="396875"/>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000000"/>
                  </a:solidFill>
                  <a:effectLst/>
                  <a:uLnTx/>
                  <a:uFillTx/>
                  <a:latin typeface="Tahoma" charset="0"/>
                  <a:ea typeface="ＭＳ Ｐゴシック" charset="0"/>
                  <a:cs typeface="+mn-cs"/>
                </a:rPr>
                <a:t>TCP/UDP segment format</a:t>
              </a: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4" name="Oval 3"/>
          <p:cNvSpPr/>
          <p:nvPr/>
        </p:nvSpPr>
        <p:spPr>
          <a:xfrm>
            <a:off x="7299923" y="1976355"/>
            <a:ext cx="2083205" cy="689091"/>
          </a:xfrm>
          <a:prstGeom prst="ellipse">
            <a:avLst/>
          </a:prstGeom>
          <a:noFill/>
          <a:ln w="38100">
            <a:solidFill>
              <a:srgbClr val="CD0004"/>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9" name="Oval 18"/>
          <p:cNvSpPr/>
          <p:nvPr/>
        </p:nvSpPr>
        <p:spPr>
          <a:xfrm>
            <a:off x="9014727" y="1985006"/>
            <a:ext cx="2083205" cy="689091"/>
          </a:xfrm>
          <a:prstGeom prst="ellipse">
            <a:avLst/>
          </a:prstGeom>
          <a:noFill/>
          <a:ln w="38100">
            <a:solidFill>
              <a:srgbClr val="CD0004"/>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38505494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dissolv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dissolve">
                                      <p:cBhvr>
                                        <p:cTn id="1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9"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400" dirty="0"/>
              <a:t>Connectionless demultiplexing</a:t>
            </a:r>
          </a:p>
        </p:txBody>
      </p:sp>
      <p:sp>
        <p:nvSpPr>
          <p:cNvPr id="18" name="Rectangle 3">
            <a:extLst>
              <a:ext uri="{FF2B5EF4-FFF2-40B4-BE49-F238E27FC236}">
                <a16:creationId xmlns:a16="http://schemas.microsoft.com/office/drawing/2014/main" id="{5E258CE6-39AA-994E-A005-93DEFB62A33E}"/>
              </a:ext>
            </a:extLst>
          </p:cNvPr>
          <p:cNvSpPr txBox="1">
            <a:spLocks noChangeArrowheads="1"/>
          </p:cNvSpPr>
          <p:nvPr/>
        </p:nvSpPr>
        <p:spPr>
          <a:xfrm>
            <a:off x="137786" y="1183947"/>
            <a:ext cx="6413325" cy="2676537"/>
          </a:xfrm>
          <a:prstGeom prst="rect">
            <a:avLst/>
          </a:prstGeom>
        </p:spPr>
        <p:txBody>
          <a:bodyPr vert="horz" lIns="91440" tIns="45720" rIns="91440" bIns="45720" rtlCol="0">
            <a:normAutofit fontScale="77500" lnSpcReduction="2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7150" marR="0" lvl="0" indent="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sz="3500" b="0" i="1" u="none" strike="noStrike" kern="1200" cap="none" spc="0" normalizeH="0" baseline="0" noProof="0" dirty="0">
                <a:ln>
                  <a:noFill/>
                </a:ln>
                <a:solidFill>
                  <a:prstClr val="black"/>
                </a:solidFill>
                <a:effectLst/>
                <a:uLnTx/>
                <a:uFillTx/>
                <a:latin typeface="Calibri" panose="020F0502020204030204"/>
                <a:ea typeface="+mn-ea"/>
                <a:cs typeface="+mn-cs"/>
              </a:rPr>
              <a:t>Recall:</a:t>
            </a:r>
            <a:r>
              <a:rPr kumimoji="0" lang="en-US" sz="35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514350" marR="0" lvl="0" indent="-4572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3500" b="0" i="0" u="none" strike="noStrike" kern="1200" cap="none" spc="0" normalizeH="0" baseline="0" noProof="0" dirty="0">
                <a:ln>
                  <a:noFill/>
                </a:ln>
                <a:solidFill>
                  <a:prstClr val="black"/>
                </a:solidFill>
                <a:effectLst/>
                <a:uLnTx/>
                <a:uFillTx/>
                <a:latin typeface="Calibri" panose="020F0502020204030204"/>
                <a:ea typeface="+mn-ea"/>
                <a:cs typeface="+mn-cs"/>
              </a:rPr>
              <a:t>When creating socket, must specify </a:t>
            </a:r>
            <a:r>
              <a:rPr kumimoji="0" lang="en-US" sz="3500" b="0" i="1" u="none" strike="noStrike" kern="1200" cap="none" spc="0" normalizeH="0" baseline="0" noProof="0" dirty="0">
                <a:ln>
                  <a:noFill/>
                </a:ln>
                <a:solidFill>
                  <a:srgbClr val="CD0004"/>
                </a:solidFill>
                <a:effectLst/>
                <a:uLnTx/>
                <a:uFillTx/>
                <a:latin typeface="Calibri" panose="020F0502020204030204"/>
                <a:ea typeface="+mn-ea"/>
                <a:cs typeface="+mn-cs"/>
              </a:rPr>
              <a:t>host-local </a:t>
            </a:r>
            <a:r>
              <a:rPr kumimoji="0" lang="en-US" sz="3500" b="0" i="0" u="none" strike="noStrike" kern="1200" cap="none" spc="0" normalizeH="0" baseline="0" noProof="0" dirty="0">
                <a:ln>
                  <a:noFill/>
                </a:ln>
                <a:solidFill>
                  <a:prstClr val="black"/>
                </a:solidFill>
                <a:effectLst/>
                <a:uLnTx/>
                <a:uFillTx/>
                <a:latin typeface="Calibri" panose="020F0502020204030204"/>
                <a:ea typeface="+mn-ea"/>
                <a:cs typeface="+mn-cs"/>
              </a:rPr>
              <a:t>port #:</a:t>
            </a:r>
          </a:p>
          <a:p>
            <a:pPr marL="57150" marR="0" lvl="0" indent="0" algn="l" defTabSz="914400" rtl="0" eaLnBrk="1" fontAlgn="auto" latinLnBrk="0" hangingPunct="1">
              <a:lnSpc>
                <a:spcPct val="90000"/>
              </a:lnSpc>
              <a:spcBef>
                <a:spcPts val="1000"/>
              </a:spcBef>
              <a:spcAft>
                <a:spcPts val="0"/>
              </a:spcAft>
              <a:buClrTx/>
              <a:buSzTx/>
              <a:buNone/>
              <a:tabLst/>
              <a:defRPr/>
            </a:pPr>
            <a:endParaRPr kumimoji="0" lang="en-US" sz="35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lvl="0" indent="0">
              <a:lnSpc>
                <a:spcPts val="2800"/>
              </a:lnSpc>
              <a:spcBef>
                <a:spcPts val="0"/>
              </a:spcBef>
              <a:buClrTx/>
              <a:buNone/>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    </a:t>
            </a:r>
            <a:r>
              <a:rPr lang="en-US" altLang="en-US" sz="2600" dirty="0" err="1">
                <a:solidFill>
                  <a:prstClr val="black"/>
                </a:solidFill>
                <a:latin typeface="Arial" panose="020B0604020202020204" pitchFamily="34" charset="0"/>
                <a:ea typeface="ＭＳ Ｐゴシック" panose="020B0600070205080204" pitchFamily="34" charset="-128"/>
              </a:rPr>
              <a:t>serverSocket</a:t>
            </a:r>
            <a:r>
              <a:rPr lang="en-US" altLang="en-US" sz="2600" dirty="0">
                <a:solidFill>
                  <a:prstClr val="black"/>
                </a:solidFill>
                <a:latin typeface="Arial" panose="020B0604020202020204" pitchFamily="34" charset="0"/>
                <a:ea typeface="ＭＳ Ｐゴシック" panose="020B0600070205080204" pitchFamily="34" charset="-128"/>
              </a:rPr>
              <a:t> = socket(</a:t>
            </a:r>
            <a:r>
              <a:rPr lang="en-US" altLang="en-US" sz="2600" dirty="0">
                <a:solidFill>
                  <a:srgbClr val="C00000"/>
                </a:solidFill>
                <a:latin typeface="Arial" panose="020B0604020202020204" pitchFamily="34" charset="0"/>
                <a:ea typeface="ＭＳ Ｐゴシック" panose="020B0600070205080204" pitchFamily="34" charset="-128"/>
              </a:rPr>
              <a:t>AF_INET</a:t>
            </a:r>
            <a:r>
              <a:rPr lang="en-US" altLang="en-US" sz="2600" dirty="0">
                <a:solidFill>
                  <a:prstClr val="black"/>
                </a:solidFill>
                <a:latin typeface="Arial" panose="020B0604020202020204" pitchFamily="34" charset="0"/>
                <a:ea typeface="ＭＳ Ｐゴシック" panose="020B0600070205080204" pitchFamily="34" charset="-128"/>
              </a:rPr>
              <a:t>, </a:t>
            </a:r>
            <a:r>
              <a:rPr lang="en-US" altLang="en-US" sz="2600" dirty="0">
                <a:solidFill>
                  <a:srgbClr val="C00000"/>
                </a:solidFill>
                <a:latin typeface="Arial" panose="020B0604020202020204" pitchFamily="34" charset="0"/>
                <a:ea typeface="ＭＳ Ｐゴシック" panose="020B0600070205080204" pitchFamily="34" charset="-128"/>
              </a:rPr>
              <a:t>SOCK_DGRAM</a:t>
            </a:r>
            <a:r>
              <a:rPr lang="en-US" altLang="en-US" sz="2600" dirty="0">
                <a:solidFill>
                  <a:prstClr val="black"/>
                </a:solidFill>
                <a:latin typeface="Arial" panose="020B0604020202020204" pitchFamily="34" charset="0"/>
                <a:ea typeface="ＭＳ Ｐゴシック" panose="020B0600070205080204" pitchFamily="34" charset="-128"/>
              </a:rPr>
              <a:t>)</a:t>
            </a:r>
          </a:p>
          <a:p>
            <a:pPr marL="0" lvl="0" indent="0">
              <a:lnSpc>
                <a:spcPts val="2800"/>
              </a:lnSpc>
              <a:spcBef>
                <a:spcPts val="0"/>
              </a:spcBef>
              <a:buClrTx/>
              <a:buNone/>
              <a:defRPr/>
            </a:pPr>
            <a:r>
              <a:rPr lang="en-US" altLang="en-US" sz="2600" dirty="0">
                <a:solidFill>
                  <a:prstClr val="black"/>
                </a:solidFill>
                <a:latin typeface="Arial" panose="020B0604020202020204" pitchFamily="34" charset="0"/>
                <a:ea typeface="ＭＳ Ｐゴシック" panose="020B0600070205080204" pitchFamily="34" charset="-128"/>
              </a:rPr>
              <a:t>   </a:t>
            </a:r>
            <a:r>
              <a:rPr lang="en-US" altLang="en-US" sz="2600" dirty="0" err="1">
                <a:solidFill>
                  <a:prstClr val="black"/>
                </a:solidFill>
                <a:latin typeface="Arial" panose="020B0604020202020204" pitchFamily="34" charset="0"/>
                <a:ea typeface="ＭＳ Ｐゴシック" panose="020B0600070205080204" pitchFamily="34" charset="-128"/>
              </a:rPr>
              <a:t>serverSocket.bind</a:t>
            </a:r>
            <a:r>
              <a:rPr lang="en-US" altLang="en-US" sz="2600" dirty="0">
                <a:solidFill>
                  <a:srgbClr val="000099"/>
                </a:solidFill>
                <a:latin typeface="Arial" panose="020B0604020202020204" pitchFamily="34" charset="0"/>
                <a:ea typeface="ＭＳ Ｐゴシック" panose="020B0600070205080204" pitchFamily="34" charset="-128"/>
              </a:rPr>
              <a:t>((</a:t>
            </a:r>
            <a:r>
              <a:rPr lang="fr-FR" altLang="en-US" sz="2600" dirty="0">
                <a:solidFill>
                  <a:srgbClr val="000099"/>
                </a:solidFill>
                <a:latin typeface="Arial" panose="020B0604020202020204" pitchFamily="34" charset="0"/>
                <a:ea typeface="ＭＳ Ｐゴシック" panose="020B0600070205080204" pitchFamily="34" charset="-128"/>
              </a:rPr>
              <a:t>''</a:t>
            </a:r>
            <a:r>
              <a:rPr lang="en-US" altLang="en-US" sz="2600" dirty="0">
                <a:solidFill>
                  <a:srgbClr val="000099"/>
                </a:solidFill>
                <a:latin typeface="Arial" panose="020B0604020202020204" pitchFamily="34" charset="0"/>
                <a:ea typeface="ＭＳ Ｐゴシック" panose="020B0600070205080204" pitchFamily="34" charset="-128"/>
              </a:rPr>
              <a:t>, </a:t>
            </a:r>
            <a:r>
              <a:rPr lang="en-US" altLang="en-US" sz="2600" dirty="0" err="1">
                <a:solidFill>
                  <a:srgbClr val="000099"/>
                </a:solidFill>
                <a:latin typeface="Arial" panose="020B0604020202020204" pitchFamily="34" charset="0"/>
                <a:ea typeface="ＭＳ Ｐゴシック" panose="020B0600070205080204" pitchFamily="34" charset="-128"/>
              </a:rPr>
              <a:t>serverPort</a:t>
            </a:r>
            <a:r>
              <a:rPr lang="en-US" altLang="en-US" sz="2600" dirty="0">
                <a:solidFill>
                  <a:srgbClr val="000099"/>
                </a:solidFill>
                <a:latin typeface="Arial" panose="020B0604020202020204" pitchFamily="34" charset="0"/>
                <a:ea typeface="ＭＳ Ｐゴシック" panose="020B0600070205080204" pitchFamily="34" charset="-128"/>
              </a:rPr>
              <a:t>))</a:t>
            </a:r>
          </a:p>
          <a:p>
            <a:pPr marL="347663" marR="0" lvl="0" indent="-290513" algn="l" defTabSz="914400" rtl="0" eaLnBrk="1" fontAlgn="auto" latinLnBrk="0" hangingPunct="1">
              <a:lnSpc>
                <a:spcPct val="90000"/>
              </a:lnSpc>
              <a:spcBef>
                <a:spcPts val="1000"/>
              </a:spcBef>
              <a:spcAft>
                <a:spcPts val="0"/>
              </a:spcAft>
              <a:buClr>
                <a:srgbClr val="0000A3"/>
              </a:buClr>
              <a:buSzTx/>
              <a:buFont typeface="Wingdings" charset="0"/>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Rectangle 105">
            <a:extLst>
              <a:ext uri="{FF2B5EF4-FFF2-40B4-BE49-F238E27FC236}">
                <a16:creationId xmlns:a16="http://schemas.microsoft.com/office/drawing/2014/main" id="{86EE0BD4-F2E4-AA4C-ABE7-69DA3D493545}"/>
              </a:ext>
            </a:extLst>
          </p:cNvPr>
          <p:cNvSpPr txBox="1">
            <a:spLocks noChangeArrowheads="1"/>
          </p:cNvSpPr>
          <p:nvPr/>
        </p:nvSpPr>
        <p:spPr>
          <a:xfrm>
            <a:off x="6774662" y="1514612"/>
            <a:ext cx="4894407" cy="2368550"/>
          </a:xfrm>
          <a:prstGeom prst="rect">
            <a:avLst/>
          </a:prstGeom>
        </p:spPr>
        <p:txBody>
          <a:bodyPr vert="horz" lIns="91440" tIns="45720" rIns="91440" bIns="45720" rtlCol="0">
            <a:normAutofit fontScale="92500" lnSpcReduction="1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30175" marR="0" lvl="0" indent="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When receiving host receives </a:t>
            </a:r>
            <a:r>
              <a:rPr kumimoji="0" lang="en-US" sz="3200" b="0" i="1" u="none" strike="noStrike" kern="1200" cap="none" spc="0" normalizeH="0" baseline="0" noProof="0" dirty="0">
                <a:ln>
                  <a:noFill/>
                </a:ln>
                <a:solidFill>
                  <a:prstClr val="black"/>
                </a:solidFill>
                <a:effectLst/>
                <a:uLnTx/>
                <a:uFillTx/>
                <a:latin typeface="Calibri" panose="020F0502020204030204"/>
                <a:ea typeface="+mn-ea"/>
                <a:cs typeface="+mn-cs"/>
              </a:rPr>
              <a:t>UDP </a:t>
            </a: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segment:</a:t>
            </a:r>
          </a:p>
          <a:p>
            <a:pPr marL="695325" marR="0" lvl="1" indent="-231775" algn="l" defTabSz="914400" rtl="0" eaLnBrk="1" fontAlgn="auto" latinLnBrk="0" hangingPunct="1">
              <a:lnSpc>
                <a:spcPct val="90000"/>
              </a:lnSpc>
              <a:spcBef>
                <a:spcPts val="500"/>
              </a:spcBef>
              <a:spcAft>
                <a:spcPts val="0"/>
              </a:spcAft>
              <a:buClrTx/>
              <a:buSzTx/>
              <a:buFont typeface="Arial"/>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Checks destination port # in segment</a:t>
            </a:r>
          </a:p>
          <a:p>
            <a:pPr marL="695325" marR="0" lvl="1" indent="-231775" algn="l" defTabSz="914400" rtl="0" eaLnBrk="1" fontAlgn="auto" latinLnBrk="0" hangingPunct="1">
              <a:lnSpc>
                <a:spcPct val="90000"/>
              </a:lnSpc>
              <a:spcBef>
                <a:spcPts val="500"/>
              </a:spcBef>
              <a:spcAft>
                <a:spcPts val="0"/>
              </a:spcAft>
              <a:buClrTx/>
              <a:buSzTx/>
              <a:buFont typeface="Arial"/>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Directs UDP segment to socket with that port #</a:t>
            </a:r>
          </a:p>
        </p:txBody>
      </p:sp>
      <p:sp>
        <p:nvSpPr>
          <p:cNvPr id="20" name="Rectangle 108">
            <a:extLst>
              <a:ext uri="{FF2B5EF4-FFF2-40B4-BE49-F238E27FC236}">
                <a16:creationId xmlns:a16="http://schemas.microsoft.com/office/drawing/2014/main" id="{D64D1D76-B139-F94A-A00F-C768B6656938}"/>
              </a:ext>
            </a:extLst>
          </p:cNvPr>
          <p:cNvSpPr>
            <a:spLocks noChangeArrowheads="1"/>
          </p:cNvSpPr>
          <p:nvPr/>
        </p:nvSpPr>
        <p:spPr bwMode="auto">
          <a:xfrm>
            <a:off x="137786" y="3133005"/>
            <a:ext cx="5431574" cy="362466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400050" marR="0" lvl="0" indent="-342900" algn="l" defTabSz="914400" rtl="0" eaLnBrk="1" fontAlgn="auto" latinLnBrk="0" hangingPunct="1">
              <a:lnSpc>
                <a:spcPct val="85000"/>
              </a:lnSpc>
              <a:spcBef>
                <a:spcPct val="20000"/>
              </a:spcBef>
              <a:spcAft>
                <a:spcPts val="0"/>
              </a:spcAft>
              <a:buSzPct val="65000"/>
              <a:buFont typeface="Arial" panose="020B0604020202020204" pitchFamily="34" charset="0"/>
              <a:buChar char="•"/>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a:p>
            <a:pPr marL="457200" marR="0" lvl="0" indent="-457200" algn="l" defTabSz="914400" rtl="0" eaLnBrk="1" fontAlgn="auto" latinLnBrk="0" hangingPunct="1">
              <a:lnSpc>
                <a:spcPct val="85000"/>
              </a:lnSpc>
              <a:spcBef>
                <a:spcPct val="20000"/>
              </a:spcBef>
              <a:spcAft>
                <a:spcPts val="0"/>
              </a:spcAft>
              <a:buSzPct val="100000"/>
              <a:buFont typeface="Arial" panose="020B0604020202020204" pitchFamily="34" charset="0"/>
              <a:buChar char="•"/>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When creating datagram to send into UDP socket, must specify</a:t>
            </a:r>
          </a:p>
          <a:p>
            <a:pPr marL="1076325" marR="0" lvl="1" indent="-457200" algn="l" defTabSz="914400" rtl="0" eaLnBrk="1" fontAlgn="auto" latinLnBrk="0" hangingPunct="1">
              <a:lnSpc>
                <a:spcPct val="85000"/>
              </a:lnSpc>
              <a:spcBef>
                <a:spcPct val="20000"/>
              </a:spcBef>
              <a:spcAft>
                <a:spcPts val="0"/>
              </a:spcAft>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Destination IP address</a:t>
            </a:r>
          </a:p>
          <a:p>
            <a:pPr marL="1076325" marR="0" lvl="1" indent="-457200" algn="l" defTabSz="914400" rtl="0" eaLnBrk="1" fontAlgn="auto" latinLnBrk="0" hangingPunct="1">
              <a:lnSpc>
                <a:spcPct val="85000"/>
              </a:lnSpc>
              <a:spcBef>
                <a:spcPct val="20000"/>
              </a:spcBef>
              <a:spcAft>
                <a:spcPts val="0"/>
              </a:spcAft>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Destination port #</a:t>
            </a:r>
          </a:p>
          <a:p>
            <a:pPr marL="619125" marR="0" lvl="1" algn="l" defTabSz="914400" rtl="0" eaLnBrk="1" fontAlgn="auto" latinLnBrk="0" hangingPunct="1">
              <a:lnSpc>
                <a:spcPct val="85000"/>
              </a:lnSpc>
              <a:spcBef>
                <a:spcPct val="20000"/>
              </a:spcBef>
              <a:spcAft>
                <a:spcPts val="0"/>
              </a:spcAft>
              <a:buSzTx/>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a:p>
            <a:pPr marL="619125" lvl="1">
              <a:lnSpc>
                <a:spcPct val="85000"/>
              </a:lnSpc>
              <a:spcBef>
                <a:spcPct val="20000"/>
              </a:spcBef>
              <a:defRPr/>
            </a:pPr>
            <a:r>
              <a:rPr lang="en-US" altLang="en-US" sz="2000" dirty="0" err="1">
                <a:solidFill>
                  <a:prstClr val="black"/>
                </a:solidFill>
                <a:latin typeface="Arial" panose="020B0604020202020204" pitchFamily="34" charset="0"/>
                <a:ea typeface="ＭＳ Ｐゴシック" panose="020B0600070205080204" pitchFamily="34" charset="-128"/>
              </a:rPr>
              <a:t>clientSocket.sendto</a:t>
            </a:r>
            <a:r>
              <a:rPr lang="en-US" altLang="en-US" sz="2000" dirty="0">
                <a:solidFill>
                  <a:prstClr val="black"/>
                </a:solidFill>
                <a:latin typeface="Arial" panose="020B0604020202020204" pitchFamily="34" charset="0"/>
                <a:ea typeface="ＭＳ Ｐゴシック" panose="020B0600070205080204" pitchFamily="34" charset="-128"/>
              </a:rPr>
              <a:t>(</a:t>
            </a:r>
            <a:r>
              <a:rPr lang="en-US" altLang="en-US" sz="2000" dirty="0" err="1">
                <a:solidFill>
                  <a:prstClr val="black"/>
                </a:solidFill>
                <a:latin typeface="Arial" panose="020B0604020202020204" pitchFamily="34" charset="0"/>
                <a:ea typeface="ＭＳ Ｐゴシック" panose="020B0600070205080204" pitchFamily="34" charset="-128"/>
              </a:rPr>
              <a:t>message.</a:t>
            </a:r>
            <a:r>
              <a:rPr lang="en-US" altLang="en-US" sz="2000" dirty="0" err="1">
                <a:latin typeface="Arial" panose="020B0604020202020204" pitchFamily="34" charset="0"/>
                <a:ea typeface="ＭＳ Ｐゴシック" panose="020B0600070205080204" pitchFamily="34" charset="-128"/>
              </a:rPr>
              <a:t>encode</a:t>
            </a:r>
            <a:r>
              <a:rPr lang="en-US" altLang="en-US" sz="2000" dirty="0">
                <a:solidFill>
                  <a:prstClr val="black"/>
                </a:solidFill>
                <a:latin typeface="Arial" panose="020B0604020202020204" pitchFamily="34" charset="0"/>
                <a:ea typeface="ＭＳ Ｐゴシック" panose="020B0600070205080204" pitchFamily="34" charset="-128"/>
              </a:rPr>
              <a:t>(), (</a:t>
            </a:r>
            <a:r>
              <a:rPr lang="en-US" altLang="en-US" sz="2000" dirty="0" err="1">
                <a:solidFill>
                  <a:srgbClr val="000099"/>
                </a:solidFill>
                <a:latin typeface="Arial" panose="020B0604020202020204" pitchFamily="34" charset="0"/>
                <a:ea typeface="ＭＳ Ｐゴシック" panose="020B0600070205080204" pitchFamily="34" charset="-128"/>
              </a:rPr>
              <a:t>serverName</a:t>
            </a:r>
            <a:r>
              <a:rPr lang="en-US" altLang="en-US" sz="2000" dirty="0">
                <a:solidFill>
                  <a:srgbClr val="000099"/>
                </a:solidFill>
                <a:latin typeface="Arial" panose="020B0604020202020204" pitchFamily="34" charset="0"/>
                <a:ea typeface="ＭＳ Ｐゴシック" panose="020B0600070205080204" pitchFamily="34" charset="-128"/>
              </a:rPr>
              <a:t>, </a:t>
            </a:r>
            <a:r>
              <a:rPr lang="en-US" altLang="en-US" sz="2000" dirty="0" err="1">
                <a:solidFill>
                  <a:srgbClr val="000099"/>
                </a:solidFill>
                <a:latin typeface="Arial" panose="020B0604020202020204" pitchFamily="34" charset="0"/>
                <a:ea typeface="ＭＳ Ｐゴシック" panose="020B0600070205080204" pitchFamily="34" charset="-128"/>
              </a:rPr>
              <a:t>serverPort</a:t>
            </a:r>
            <a:r>
              <a:rPr lang="en-US" altLang="en-US" sz="2000" dirty="0">
                <a:solidFill>
                  <a:prstClr val="black"/>
                </a:solidFill>
                <a:latin typeface="Arial" panose="020B0604020202020204" pitchFamily="34" charset="0"/>
                <a:ea typeface="ＭＳ Ｐゴシック" panose="020B0600070205080204" pitchFamily="34" charset="-128"/>
              </a:rPr>
              <a:t>))</a:t>
            </a:r>
          </a:p>
          <a:p>
            <a:pPr marL="1076325" marR="0" lvl="1" indent="-457200" algn="l" defTabSz="914400" rtl="0" eaLnBrk="1" fontAlgn="auto" latinLnBrk="0" hangingPunct="1">
              <a:lnSpc>
                <a:spcPct val="85000"/>
              </a:lnSpc>
              <a:spcBef>
                <a:spcPct val="20000"/>
              </a:spcBef>
              <a:spcAft>
                <a:spcPts val="0"/>
              </a:spcAft>
              <a:buSzTx/>
              <a:buFont typeface="Arial" panose="020B0604020202020204" pitchFamily="34" charset="0"/>
              <a:buChar char="•"/>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p:txBody>
      </p:sp>
      <p:sp>
        <p:nvSpPr>
          <p:cNvPr id="21" name="Rectangle 111">
            <a:extLst>
              <a:ext uri="{FF2B5EF4-FFF2-40B4-BE49-F238E27FC236}">
                <a16:creationId xmlns:a16="http://schemas.microsoft.com/office/drawing/2014/main" id="{1D23ED05-24C1-E24F-9A5D-E84D26B5270D}"/>
              </a:ext>
            </a:extLst>
          </p:cNvPr>
          <p:cNvSpPr>
            <a:spLocks noChangeArrowheads="1"/>
          </p:cNvSpPr>
          <p:nvPr/>
        </p:nvSpPr>
        <p:spPr bwMode="auto">
          <a:xfrm>
            <a:off x="6349002" y="4420787"/>
            <a:ext cx="5188153" cy="233688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auto" latinLnBrk="0" hangingPunct="1">
              <a:lnSpc>
                <a:spcPct val="90000"/>
              </a:lnSpc>
              <a:spcBef>
                <a:spcPct val="20000"/>
              </a:spcBef>
              <a:spcAft>
                <a:spcPts val="0"/>
              </a:spcAft>
              <a:buClr>
                <a:srgbClr val="000099"/>
              </a:buClr>
              <a:buSzPct val="65000"/>
              <a:buFont typeface="Wingdings" charset="0"/>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IP/UDP datagrams with </a:t>
            </a:r>
            <a:r>
              <a:rPr kumimoji="0" lang="en-US" sz="2800" b="0" i="1" u="none" strike="noStrike" kern="1200" cap="none" spc="0" normalizeH="0" baseline="0" noProof="0" dirty="0">
                <a:ln>
                  <a:noFill/>
                </a:ln>
                <a:solidFill>
                  <a:srgbClr val="CC0000"/>
                </a:solidFill>
                <a:effectLst/>
                <a:uLnTx/>
                <a:uFillTx/>
                <a:latin typeface="Calibri" panose="020F0502020204030204"/>
                <a:ea typeface="ＭＳ Ｐゴシック" charset="0"/>
                <a:cs typeface="+mn-cs"/>
              </a:rPr>
              <a:t>same dest. port #,</a:t>
            </a:r>
            <a:r>
              <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 but different source IP addresses and/or source port numbers will be directed to </a:t>
            </a:r>
            <a:r>
              <a:rPr kumimoji="0" lang="en-US" sz="2800" b="0" i="1" u="none" strike="noStrike" kern="1200" cap="none" spc="0" normalizeH="0" baseline="0" noProof="0" dirty="0">
                <a:ln>
                  <a:noFill/>
                </a:ln>
                <a:solidFill>
                  <a:srgbClr val="CC0000"/>
                </a:solidFill>
                <a:effectLst/>
                <a:uLnTx/>
                <a:uFillTx/>
                <a:latin typeface="Calibri" panose="020F0502020204030204"/>
                <a:ea typeface="ＭＳ Ｐゴシック" charset="0"/>
                <a:cs typeface="+mn-cs"/>
              </a:rPr>
              <a:t>same socket </a:t>
            </a:r>
            <a:r>
              <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at receiving host</a:t>
            </a:r>
          </a:p>
        </p:txBody>
      </p:sp>
      <p:sp>
        <p:nvSpPr>
          <p:cNvPr id="23" name="AutoShape 113">
            <a:extLst>
              <a:ext uri="{FF2B5EF4-FFF2-40B4-BE49-F238E27FC236}">
                <a16:creationId xmlns:a16="http://schemas.microsoft.com/office/drawing/2014/main" id="{AE0FE900-8538-8F4F-BD27-2C9A09F232E9}"/>
              </a:ext>
            </a:extLst>
          </p:cNvPr>
          <p:cNvSpPr>
            <a:spLocks noChangeArrowheads="1"/>
          </p:cNvSpPr>
          <p:nvPr/>
        </p:nvSpPr>
        <p:spPr bwMode="auto">
          <a:xfrm rot="5400000">
            <a:off x="8662884" y="3896801"/>
            <a:ext cx="560388" cy="311150"/>
          </a:xfrm>
          <a:prstGeom prst="rightArrow">
            <a:avLst>
              <a:gd name="adj1" fmla="val 50000"/>
              <a:gd name="adj2" fmla="val 45026"/>
            </a:avLst>
          </a:prstGeom>
          <a:solidFill>
            <a:srgbClr val="CC0000"/>
          </a:solidFill>
          <a:ln w="9525">
            <a:solidFill>
              <a:srgbClr val="CC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p:txBody>
      </p:sp>
      <p:sp>
        <p:nvSpPr>
          <p:cNvPr id="4" name="Oval 3">
            <a:extLst>
              <a:ext uri="{FF2B5EF4-FFF2-40B4-BE49-F238E27FC236}">
                <a16:creationId xmlns:a16="http://schemas.microsoft.com/office/drawing/2014/main" id="{7E32E731-A5B9-B44F-853B-A87FFA65AAE0}"/>
              </a:ext>
            </a:extLst>
          </p:cNvPr>
          <p:cNvSpPr/>
          <p:nvPr/>
        </p:nvSpPr>
        <p:spPr>
          <a:xfrm>
            <a:off x="2749110" y="2828537"/>
            <a:ext cx="1559844" cy="809594"/>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15389303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dissolve">
                                      <p:cBhvr>
                                        <p:cTn id="12" dur="500"/>
                                        <p:tgtEl>
                                          <p:spTgt spid="20"/>
                                        </p:tgtEl>
                                      </p:cBhvr>
                                    </p:animEffect>
                                  </p:childTnLst>
                                </p:cTn>
                              </p:par>
                              <p:par>
                                <p:cTn id="13" presetID="9" presetClass="exit" presetSubtype="0" fill="hold" grpId="1" nodeType="withEffect">
                                  <p:stCondLst>
                                    <p:cond delay="0"/>
                                  </p:stCondLst>
                                  <p:childTnLst>
                                    <p:animEffect transition="out" filter="dissolve">
                                      <p:cBhvr>
                                        <p:cTn id="14" dur="500"/>
                                        <p:tgtEl>
                                          <p:spTgt spid="4"/>
                                        </p:tgtEl>
                                      </p:cBhvr>
                                    </p:animEffect>
                                    <p:set>
                                      <p:cBhvr>
                                        <p:cTn id="15" dur="1" fill="hold">
                                          <p:stCondLst>
                                            <p:cond delay="499"/>
                                          </p:stCondLst>
                                        </p:cTn>
                                        <p:tgtEl>
                                          <p:spTgt spid="4"/>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19"/>
                                        </p:tgtEl>
                                        <p:attrNameLst>
                                          <p:attrName>style.visibility</p:attrName>
                                        </p:attrNameLst>
                                      </p:cBhvr>
                                      <p:to>
                                        <p:strVal val="visible"/>
                                      </p:to>
                                    </p:set>
                                    <p:animEffect transition="in" filter="dissolve">
                                      <p:cBhvr>
                                        <p:cTn id="20" dur="500"/>
                                        <p:tgtEl>
                                          <p:spTgt spid="19"/>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dissolve">
                                      <p:cBhvr>
                                        <p:cTn id="25" dur="500"/>
                                        <p:tgtEl>
                                          <p:spTgt spid="21"/>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animEffect transition="in" filter="dissolve">
                                      <p:cBhvr>
                                        <p:cTn id="28"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p:bldP spid="21" grpId="0"/>
      <p:bldP spid="23" grpId="0" animBg="1"/>
      <p:bldP spid="4" grpId="0" animBg="1"/>
      <p:bldP spid="4" grpId="1"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Freeform 89">
            <a:extLst>
              <a:ext uri="{FF2B5EF4-FFF2-40B4-BE49-F238E27FC236}">
                <a16:creationId xmlns:a16="http://schemas.microsoft.com/office/drawing/2014/main" id="{28FDDD2F-FD14-B643-A369-43EE4030BEDB}"/>
              </a:ext>
            </a:extLst>
          </p:cNvPr>
          <p:cNvSpPr>
            <a:spLocks/>
          </p:cNvSpPr>
          <p:nvPr/>
        </p:nvSpPr>
        <p:spPr bwMode="auto">
          <a:xfrm>
            <a:off x="3759900" y="2549367"/>
            <a:ext cx="552450" cy="2082800"/>
          </a:xfrm>
          <a:custGeom>
            <a:avLst/>
            <a:gdLst>
              <a:gd name="T0" fmla="*/ 0 w 348"/>
              <a:gd name="T1" fmla="*/ 2147483647 h 1312"/>
              <a:gd name="T2" fmla="*/ 2147483647 w 348"/>
              <a:gd name="T3" fmla="*/ 0 h 1312"/>
              <a:gd name="T4" fmla="*/ 2147483647 w 348"/>
              <a:gd name="T5" fmla="*/ 2147483647 h 1312"/>
              <a:gd name="T6" fmla="*/ 2147483647 w 348"/>
              <a:gd name="T7" fmla="*/ 2147483647 h 1312"/>
              <a:gd name="T8" fmla="*/ 0 w 348"/>
              <a:gd name="T9" fmla="*/ 2147483647 h 13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8" h="1312">
                <a:moveTo>
                  <a:pt x="0" y="1306"/>
                </a:moveTo>
                <a:lnTo>
                  <a:pt x="348" y="0"/>
                </a:lnTo>
                <a:lnTo>
                  <a:pt x="342" y="1258"/>
                </a:lnTo>
                <a:lnTo>
                  <a:pt x="180" y="1312"/>
                </a:lnTo>
                <a:lnTo>
                  <a:pt x="0" y="1306"/>
                </a:lnTo>
                <a:close/>
              </a:path>
            </a:pathLst>
          </a:custGeom>
          <a:gradFill rotWithShape="1">
            <a:gsLst>
              <a:gs pos="0">
                <a:schemeClr val="bg1">
                  <a:lumMod val="95000"/>
                </a:schemeClr>
              </a:gs>
              <a:gs pos="100000">
                <a:srgbClr val="B2B2B2"/>
              </a:gs>
            </a:gsLst>
            <a:lin ang="0" scaled="1"/>
          </a:gradFill>
          <a:ln w="9525">
            <a:no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40" name="Freeform 97">
            <a:extLst>
              <a:ext uri="{FF2B5EF4-FFF2-40B4-BE49-F238E27FC236}">
                <a16:creationId xmlns:a16="http://schemas.microsoft.com/office/drawing/2014/main" id="{64DF8D3E-75B9-8F40-BCD6-78530C047B4F}"/>
              </a:ext>
            </a:extLst>
          </p:cNvPr>
          <p:cNvSpPr>
            <a:spLocks/>
          </p:cNvSpPr>
          <p:nvPr/>
        </p:nvSpPr>
        <p:spPr bwMode="auto">
          <a:xfrm>
            <a:off x="1038038" y="2854167"/>
            <a:ext cx="397763" cy="2143904"/>
          </a:xfrm>
          <a:custGeom>
            <a:avLst/>
            <a:gdLst>
              <a:gd name="T0" fmla="*/ 2147483647 w 290"/>
              <a:gd name="T1" fmla="*/ 2147483647 h 1382"/>
              <a:gd name="T2" fmla="*/ 0 w 290"/>
              <a:gd name="T3" fmla="*/ 2147483647 h 1382"/>
              <a:gd name="T4" fmla="*/ 2147483647 w 290"/>
              <a:gd name="T5" fmla="*/ 0 h 1382"/>
              <a:gd name="T6" fmla="*/ 2147483647 w 290"/>
              <a:gd name="T7" fmla="*/ 2147483647 h 1382"/>
              <a:gd name="T8" fmla="*/ 2147483647 w 290"/>
              <a:gd name="T9" fmla="*/ 2147483647 h 1382"/>
              <a:gd name="T10" fmla="*/ 2147483647 w 290"/>
              <a:gd name="T11" fmla="*/ 2147483647 h 1382"/>
              <a:gd name="T12" fmla="*/ 0 60000 65536"/>
              <a:gd name="T13" fmla="*/ 0 60000 65536"/>
              <a:gd name="T14" fmla="*/ 0 60000 65536"/>
              <a:gd name="T15" fmla="*/ 0 60000 65536"/>
              <a:gd name="T16" fmla="*/ 0 60000 65536"/>
              <a:gd name="T17" fmla="*/ 0 60000 65536"/>
              <a:gd name="connsiteX0" fmla="*/ 517 w 10000"/>
              <a:gd name="connsiteY0" fmla="*/ 10000 h 10000"/>
              <a:gd name="connsiteX1" fmla="*/ 0 w 10000"/>
              <a:gd name="connsiteY1" fmla="*/ 9841 h 10000"/>
              <a:gd name="connsiteX2" fmla="*/ 10000 w 10000"/>
              <a:gd name="connsiteY2" fmla="*/ 0 h 10000"/>
              <a:gd name="connsiteX3" fmla="*/ 9793 w 10000"/>
              <a:gd name="connsiteY3" fmla="*/ 9103 h 10000"/>
              <a:gd name="connsiteX4" fmla="*/ 517 w 10000"/>
              <a:gd name="connsiteY4" fmla="*/ 10000 h 10000"/>
              <a:gd name="connsiteX0" fmla="*/ 0 w 9483"/>
              <a:gd name="connsiteY0" fmla="*/ 10000 h 10000"/>
              <a:gd name="connsiteX1" fmla="*/ 843 w 9483"/>
              <a:gd name="connsiteY1" fmla="*/ 8128 h 10000"/>
              <a:gd name="connsiteX2" fmla="*/ 9483 w 9483"/>
              <a:gd name="connsiteY2" fmla="*/ 0 h 10000"/>
              <a:gd name="connsiteX3" fmla="*/ 9276 w 9483"/>
              <a:gd name="connsiteY3" fmla="*/ 9103 h 10000"/>
              <a:gd name="connsiteX4" fmla="*/ 0 w 9483"/>
              <a:gd name="connsiteY4" fmla="*/ 10000 h 10000"/>
              <a:gd name="connsiteX0" fmla="*/ 2554 w 9111"/>
              <a:gd name="connsiteY0" fmla="*/ 9772 h 9772"/>
              <a:gd name="connsiteX1" fmla="*/ 0 w 9111"/>
              <a:gd name="connsiteY1" fmla="*/ 8128 h 9772"/>
              <a:gd name="connsiteX2" fmla="*/ 9111 w 9111"/>
              <a:gd name="connsiteY2" fmla="*/ 0 h 9772"/>
              <a:gd name="connsiteX3" fmla="*/ 8893 w 9111"/>
              <a:gd name="connsiteY3" fmla="*/ 9103 h 9772"/>
              <a:gd name="connsiteX4" fmla="*/ 2554 w 9111"/>
              <a:gd name="connsiteY4" fmla="*/ 9772 h 97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1" h="9772">
                <a:moveTo>
                  <a:pt x="2554" y="9772"/>
                </a:moveTo>
                <a:lnTo>
                  <a:pt x="0" y="8128"/>
                </a:lnTo>
                <a:lnTo>
                  <a:pt x="9111" y="0"/>
                </a:lnTo>
                <a:cubicBezTo>
                  <a:pt x="9038" y="3034"/>
                  <a:pt x="8966" y="6069"/>
                  <a:pt x="8893" y="9103"/>
                </a:cubicBezTo>
                <a:lnTo>
                  <a:pt x="2554" y="9772"/>
                </a:lnTo>
                <a:close/>
              </a:path>
            </a:pathLst>
          </a:custGeom>
          <a:gradFill rotWithShape="1">
            <a:gsLst>
              <a:gs pos="0">
                <a:schemeClr val="bg1">
                  <a:lumMod val="95000"/>
                </a:schemeClr>
              </a:gs>
              <a:gs pos="100000">
                <a:srgbClr val="B2B2B2"/>
              </a:gs>
            </a:gsLst>
            <a:lin ang="0" scaled="1"/>
          </a:gradFill>
          <a:ln w="9525">
            <a:no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7" name="Freeform 154">
            <a:extLst>
              <a:ext uri="{FF2B5EF4-FFF2-40B4-BE49-F238E27FC236}">
                <a16:creationId xmlns:a16="http://schemas.microsoft.com/office/drawing/2014/main" id="{3380745A-BF26-D24C-8ACE-76BF4A51F666}"/>
              </a:ext>
            </a:extLst>
          </p:cNvPr>
          <p:cNvSpPr>
            <a:spLocks/>
          </p:cNvSpPr>
          <p:nvPr/>
        </p:nvSpPr>
        <p:spPr bwMode="auto">
          <a:xfrm>
            <a:off x="8547800" y="2858929"/>
            <a:ext cx="430060" cy="2171151"/>
          </a:xfrm>
          <a:custGeom>
            <a:avLst/>
            <a:gdLst>
              <a:gd name="T0" fmla="*/ 2147483647 w 318"/>
              <a:gd name="T1" fmla="*/ 2147483647 h 1344"/>
              <a:gd name="T2" fmla="*/ 2147483647 w 318"/>
              <a:gd name="T3" fmla="*/ 0 h 1344"/>
              <a:gd name="T4" fmla="*/ 0 w 318"/>
              <a:gd name="T5" fmla="*/ 2147483647 h 1344"/>
              <a:gd name="T6" fmla="*/ 2147483647 w 318"/>
              <a:gd name="T7" fmla="*/ 2147483647 h 1344"/>
              <a:gd name="T8" fmla="*/ 2147483647 w 318"/>
              <a:gd name="T9" fmla="*/ 2147483647 h 1344"/>
              <a:gd name="T10" fmla="*/ 0 60000 65536"/>
              <a:gd name="T11" fmla="*/ 0 60000 65536"/>
              <a:gd name="T12" fmla="*/ 0 60000 65536"/>
              <a:gd name="T13" fmla="*/ 0 60000 65536"/>
              <a:gd name="T14" fmla="*/ 0 60000 65536"/>
              <a:gd name="connsiteX0" fmla="*/ 10000 w 10000"/>
              <a:gd name="connsiteY0" fmla="*/ 10000 h 10176"/>
              <a:gd name="connsiteX1" fmla="*/ 377 w 10000"/>
              <a:gd name="connsiteY1" fmla="*/ 0 h 10176"/>
              <a:gd name="connsiteX2" fmla="*/ 0 w 10000"/>
              <a:gd name="connsiteY2" fmla="*/ 9107 h 10176"/>
              <a:gd name="connsiteX3" fmla="*/ 8519 w 10000"/>
              <a:gd name="connsiteY3" fmla="*/ 10176 h 10176"/>
              <a:gd name="connsiteX4" fmla="*/ 10000 w 10000"/>
              <a:gd name="connsiteY4" fmla="*/ 10000 h 10176"/>
              <a:gd name="connsiteX0" fmla="*/ 7767 w 8519"/>
              <a:gd name="connsiteY0" fmla="*/ 8356 h 10176"/>
              <a:gd name="connsiteX1" fmla="*/ 377 w 8519"/>
              <a:gd name="connsiteY1" fmla="*/ 0 h 10176"/>
              <a:gd name="connsiteX2" fmla="*/ 0 w 8519"/>
              <a:gd name="connsiteY2" fmla="*/ 9107 h 10176"/>
              <a:gd name="connsiteX3" fmla="*/ 8519 w 8519"/>
              <a:gd name="connsiteY3" fmla="*/ 10176 h 10176"/>
              <a:gd name="connsiteX4" fmla="*/ 7767 w 8519"/>
              <a:gd name="connsiteY4" fmla="*/ 8356 h 101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19" h="10176">
                <a:moveTo>
                  <a:pt x="7767" y="8356"/>
                </a:moveTo>
                <a:lnTo>
                  <a:pt x="377" y="0"/>
                </a:lnTo>
                <a:cubicBezTo>
                  <a:pt x="251" y="3036"/>
                  <a:pt x="126" y="6071"/>
                  <a:pt x="0" y="9107"/>
                </a:cubicBezTo>
                <a:lnTo>
                  <a:pt x="8519" y="10176"/>
                </a:lnTo>
                <a:lnTo>
                  <a:pt x="7767" y="8356"/>
                </a:lnTo>
                <a:close/>
              </a:path>
            </a:pathLst>
          </a:custGeom>
          <a:gradFill rotWithShape="1">
            <a:gsLst>
              <a:gs pos="0">
                <a:srgbClr val="B2B2B2"/>
              </a:gs>
              <a:gs pos="100000">
                <a:schemeClr val="bg1">
                  <a:lumMod val="95000"/>
                </a:schemeClr>
              </a:gs>
            </a:gsLst>
            <a:lin ang="0" scaled="1"/>
          </a:gradFill>
          <a:ln w="9525">
            <a:no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42" name="Rectangle 24">
            <a:extLst>
              <a:ext uri="{FF2B5EF4-FFF2-40B4-BE49-F238E27FC236}">
                <a16:creationId xmlns:a16="http://schemas.microsoft.com/office/drawing/2014/main" id="{F331F96E-BFA3-B949-B96F-DCA5E9AF3F44}"/>
              </a:ext>
            </a:extLst>
          </p:cNvPr>
          <p:cNvSpPr>
            <a:spLocks noChangeArrowheads="1"/>
          </p:cNvSpPr>
          <p:nvPr/>
        </p:nvSpPr>
        <p:spPr bwMode="auto">
          <a:xfrm>
            <a:off x="1442150" y="2874804"/>
            <a:ext cx="1273175" cy="1979613"/>
          </a:xfrm>
          <a:prstGeom prst="rect">
            <a:avLst/>
          </a:prstGeom>
          <a:solidFill>
            <a:srgbClr val="FFFFFF"/>
          </a:solidFill>
          <a:ln w="28575">
            <a:solidFill>
              <a:srgbClr val="000000"/>
            </a:solidFill>
            <a:miter lim="800000"/>
            <a:headEnd/>
            <a:tailEnd/>
          </a:ln>
          <a:effectLst>
            <a:outerShdw blurRad="50800" dist="38100" dir="18900000" algn="bl" rotWithShape="0">
              <a:prstClr val="black">
                <a:alpha val="40000"/>
              </a:prstClr>
            </a:outerShdw>
          </a:effec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43" name="Line 25">
            <a:extLst>
              <a:ext uri="{FF2B5EF4-FFF2-40B4-BE49-F238E27FC236}">
                <a16:creationId xmlns:a16="http://schemas.microsoft.com/office/drawing/2014/main" id="{2EFF90D8-8133-E042-BB15-B540A8DAEE38}"/>
              </a:ext>
            </a:extLst>
          </p:cNvPr>
          <p:cNvSpPr>
            <a:spLocks noChangeShapeType="1"/>
          </p:cNvSpPr>
          <p:nvPr/>
        </p:nvSpPr>
        <p:spPr bwMode="auto">
          <a:xfrm>
            <a:off x="1451675" y="3635217"/>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44" name="Text Box 26">
            <a:extLst>
              <a:ext uri="{FF2B5EF4-FFF2-40B4-BE49-F238E27FC236}">
                <a16:creationId xmlns:a16="http://schemas.microsoft.com/office/drawing/2014/main" id="{53A1C5C8-02A4-B440-B555-BBEB69595759}"/>
              </a:ext>
            </a:extLst>
          </p:cNvPr>
          <p:cNvSpPr txBox="1">
            <a:spLocks noChangeArrowheads="1"/>
          </p:cNvSpPr>
          <p:nvPr/>
        </p:nvSpPr>
        <p:spPr bwMode="auto">
          <a:xfrm>
            <a:off x="1408812" y="3617754"/>
            <a:ext cx="1317625" cy="3254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transport</a:t>
            </a:r>
          </a:p>
        </p:txBody>
      </p:sp>
      <p:sp>
        <p:nvSpPr>
          <p:cNvPr id="145" name="Line 27">
            <a:extLst>
              <a:ext uri="{FF2B5EF4-FFF2-40B4-BE49-F238E27FC236}">
                <a16:creationId xmlns:a16="http://schemas.microsoft.com/office/drawing/2014/main" id="{E1E8AAE6-A7CD-924F-8779-9257D875BE82}"/>
              </a:ext>
            </a:extLst>
          </p:cNvPr>
          <p:cNvSpPr>
            <a:spLocks noChangeShapeType="1"/>
          </p:cNvSpPr>
          <p:nvPr/>
        </p:nvSpPr>
        <p:spPr bwMode="auto">
          <a:xfrm>
            <a:off x="1459612" y="3955892"/>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46" name="Line 28">
            <a:extLst>
              <a:ext uri="{FF2B5EF4-FFF2-40B4-BE49-F238E27FC236}">
                <a16:creationId xmlns:a16="http://schemas.microsoft.com/office/drawing/2014/main" id="{CA7EEA54-B56E-2B48-9F82-BCDEC7D39BF8}"/>
              </a:ext>
            </a:extLst>
          </p:cNvPr>
          <p:cNvSpPr>
            <a:spLocks noChangeShapeType="1"/>
          </p:cNvSpPr>
          <p:nvPr/>
        </p:nvSpPr>
        <p:spPr bwMode="auto">
          <a:xfrm>
            <a:off x="1445325" y="4265454"/>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47" name="Line 29">
            <a:extLst>
              <a:ext uri="{FF2B5EF4-FFF2-40B4-BE49-F238E27FC236}">
                <a16:creationId xmlns:a16="http://schemas.microsoft.com/office/drawing/2014/main" id="{73328B79-CBD4-B041-B159-E3286EADBC62}"/>
              </a:ext>
            </a:extLst>
          </p:cNvPr>
          <p:cNvSpPr>
            <a:spLocks noChangeShapeType="1"/>
          </p:cNvSpPr>
          <p:nvPr/>
        </p:nvSpPr>
        <p:spPr bwMode="auto">
          <a:xfrm>
            <a:off x="1445325" y="4551204"/>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48" name="Text Box 26">
            <a:extLst>
              <a:ext uri="{FF2B5EF4-FFF2-40B4-BE49-F238E27FC236}">
                <a16:creationId xmlns:a16="http://schemas.microsoft.com/office/drawing/2014/main" id="{3062900D-4135-244C-9B1F-EE7CC03B0254}"/>
              </a:ext>
            </a:extLst>
          </p:cNvPr>
          <p:cNvSpPr txBox="1">
            <a:spLocks noChangeArrowheads="1"/>
          </p:cNvSpPr>
          <p:nvPr/>
        </p:nvSpPr>
        <p:spPr bwMode="auto">
          <a:xfrm>
            <a:off x="1443737" y="2865279"/>
            <a:ext cx="1317625" cy="3254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application</a:t>
            </a:r>
          </a:p>
        </p:txBody>
      </p:sp>
      <p:sp>
        <p:nvSpPr>
          <p:cNvPr id="149" name="Text Box 26">
            <a:extLst>
              <a:ext uri="{FF2B5EF4-FFF2-40B4-BE49-F238E27FC236}">
                <a16:creationId xmlns:a16="http://schemas.microsoft.com/office/drawing/2014/main" id="{F09CC3DB-2FE1-524D-8CDC-16023843D213}"/>
              </a:ext>
            </a:extLst>
          </p:cNvPr>
          <p:cNvSpPr txBox="1">
            <a:spLocks noChangeArrowheads="1"/>
          </p:cNvSpPr>
          <p:nvPr/>
        </p:nvSpPr>
        <p:spPr bwMode="auto">
          <a:xfrm>
            <a:off x="1399287" y="4522629"/>
            <a:ext cx="1317625" cy="3254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physical</a:t>
            </a:r>
          </a:p>
        </p:txBody>
      </p:sp>
      <p:sp>
        <p:nvSpPr>
          <p:cNvPr id="150" name="Text Box 26">
            <a:extLst>
              <a:ext uri="{FF2B5EF4-FFF2-40B4-BE49-F238E27FC236}">
                <a16:creationId xmlns:a16="http://schemas.microsoft.com/office/drawing/2014/main" id="{11BEC4C2-90AF-3642-B6AA-A63B2A81DFAF}"/>
              </a:ext>
            </a:extLst>
          </p:cNvPr>
          <p:cNvSpPr txBox="1">
            <a:spLocks noChangeArrowheads="1"/>
          </p:cNvSpPr>
          <p:nvPr/>
        </p:nvSpPr>
        <p:spPr bwMode="auto">
          <a:xfrm>
            <a:off x="1418337" y="4236879"/>
            <a:ext cx="1317625" cy="3254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link</a:t>
            </a:r>
          </a:p>
        </p:txBody>
      </p:sp>
      <p:sp>
        <p:nvSpPr>
          <p:cNvPr id="151" name="Text Box 26">
            <a:extLst>
              <a:ext uri="{FF2B5EF4-FFF2-40B4-BE49-F238E27FC236}">
                <a16:creationId xmlns:a16="http://schemas.microsoft.com/office/drawing/2014/main" id="{0727B177-EE8F-9E43-B808-DF3EFBDC0328}"/>
              </a:ext>
            </a:extLst>
          </p:cNvPr>
          <p:cNvSpPr txBox="1">
            <a:spLocks noChangeArrowheads="1"/>
          </p:cNvSpPr>
          <p:nvPr/>
        </p:nvSpPr>
        <p:spPr bwMode="auto">
          <a:xfrm>
            <a:off x="1408812" y="3941604"/>
            <a:ext cx="1317625" cy="3254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network</a:t>
            </a:r>
          </a:p>
        </p:txBody>
      </p:sp>
      <p:sp>
        <p:nvSpPr>
          <p:cNvPr id="152" name="Oval 110">
            <a:extLst>
              <a:ext uri="{FF2B5EF4-FFF2-40B4-BE49-F238E27FC236}">
                <a16:creationId xmlns:a16="http://schemas.microsoft.com/office/drawing/2014/main" id="{4FA9CEB5-639E-E640-8612-6A0B009F2759}"/>
              </a:ext>
            </a:extLst>
          </p:cNvPr>
          <p:cNvSpPr>
            <a:spLocks noChangeArrowheads="1"/>
          </p:cNvSpPr>
          <p:nvPr/>
        </p:nvSpPr>
        <p:spPr bwMode="auto">
          <a:xfrm>
            <a:off x="1778700" y="3151029"/>
            <a:ext cx="598487" cy="304800"/>
          </a:xfrm>
          <a:prstGeom prst="ellipse">
            <a:avLst/>
          </a:prstGeom>
          <a:solidFill>
            <a:srgbClr val="CCFFFF"/>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charset="0"/>
                <a:ea typeface="ＭＳ Ｐゴシック" charset="0"/>
                <a:cs typeface="+mn-cs"/>
              </a:rPr>
              <a:t>P3</a:t>
            </a:r>
          </a:p>
        </p:txBody>
      </p:sp>
      <p:grpSp>
        <p:nvGrpSpPr>
          <p:cNvPr id="153" name="Group 111">
            <a:extLst>
              <a:ext uri="{FF2B5EF4-FFF2-40B4-BE49-F238E27FC236}">
                <a16:creationId xmlns:a16="http://schemas.microsoft.com/office/drawing/2014/main" id="{2D14C00E-16C9-D747-9CCE-229E757B8227}"/>
              </a:ext>
            </a:extLst>
          </p:cNvPr>
          <p:cNvGrpSpPr>
            <a:grpSpLocks/>
          </p:cNvGrpSpPr>
          <p:nvPr/>
        </p:nvGrpSpPr>
        <p:grpSpPr bwMode="auto">
          <a:xfrm>
            <a:off x="1746950" y="3474879"/>
            <a:ext cx="620712" cy="228600"/>
            <a:chOff x="1287" y="2524"/>
            <a:chExt cx="260" cy="100"/>
          </a:xfrm>
        </p:grpSpPr>
        <p:sp>
          <p:nvSpPr>
            <p:cNvPr id="154" name="Rectangle 112">
              <a:extLst>
                <a:ext uri="{FF2B5EF4-FFF2-40B4-BE49-F238E27FC236}">
                  <a16:creationId xmlns:a16="http://schemas.microsoft.com/office/drawing/2014/main" id="{3540F8E1-1FDC-E24A-98FB-7869060F66B9}"/>
                </a:ext>
              </a:extLst>
            </p:cNvPr>
            <p:cNvSpPr>
              <a:spLocks noChangeArrowheads="1"/>
            </p:cNvSpPr>
            <p:nvPr/>
          </p:nvSpPr>
          <p:spPr bwMode="auto">
            <a:xfrm>
              <a:off x="1287" y="2524"/>
              <a:ext cx="260" cy="100"/>
            </a:xfrm>
            <a:prstGeom prst="rect">
              <a:avLst/>
            </a:prstGeom>
            <a:solidFill>
              <a:srgbClr val="FFFF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55" name="Rectangle 113">
              <a:extLst>
                <a:ext uri="{FF2B5EF4-FFF2-40B4-BE49-F238E27FC236}">
                  <a16:creationId xmlns:a16="http://schemas.microsoft.com/office/drawing/2014/main" id="{054ED091-B9B7-3540-A7FD-87F3C3C14D7F}"/>
                </a:ext>
              </a:extLst>
            </p:cNvPr>
            <p:cNvSpPr>
              <a:spLocks noChangeArrowheads="1"/>
            </p:cNvSpPr>
            <p:nvPr/>
          </p:nvSpPr>
          <p:spPr bwMode="auto">
            <a:xfrm>
              <a:off x="1338" y="2537"/>
              <a:ext cx="155" cy="76"/>
            </a:xfrm>
            <a:prstGeom prst="rect">
              <a:avLst/>
            </a:prstGeom>
            <a:solidFill>
              <a:srgbClr val="FFFFFF"/>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56" name="Rectangle 114">
              <a:extLst>
                <a:ext uri="{FF2B5EF4-FFF2-40B4-BE49-F238E27FC236}">
                  <a16:creationId xmlns:a16="http://schemas.microsoft.com/office/drawing/2014/main" id="{380957E5-07F4-134E-B56E-1EC9D1C841A1}"/>
                </a:ext>
              </a:extLst>
            </p:cNvPr>
            <p:cNvSpPr>
              <a:spLocks noChangeArrowheads="1"/>
            </p:cNvSpPr>
            <p:nvPr/>
          </p:nvSpPr>
          <p:spPr bwMode="auto">
            <a:xfrm>
              <a:off x="1503" y="2582"/>
              <a:ext cx="27" cy="26"/>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57" name="Rectangle 115">
              <a:extLst>
                <a:ext uri="{FF2B5EF4-FFF2-40B4-BE49-F238E27FC236}">
                  <a16:creationId xmlns:a16="http://schemas.microsoft.com/office/drawing/2014/main" id="{35B79E71-94E3-544D-ADB2-B31B6EA8EC32}"/>
                </a:ext>
              </a:extLst>
            </p:cNvPr>
            <p:cNvSpPr>
              <a:spLocks noChangeArrowheads="1"/>
            </p:cNvSpPr>
            <p:nvPr/>
          </p:nvSpPr>
          <p:spPr bwMode="auto">
            <a:xfrm>
              <a:off x="1298" y="2583"/>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159" name="Rectangle 24">
            <a:extLst>
              <a:ext uri="{FF2B5EF4-FFF2-40B4-BE49-F238E27FC236}">
                <a16:creationId xmlns:a16="http://schemas.microsoft.com/office/drawing/2014/main" id="{043A00F1-55AA-3943-A4DB-B6F911EC93DC}"/>
              </a:ext>
            </a:extLst>
          </p:cNvPr>
          <p:cNvSpPr>
            <a:spLocks noChangeArrowheads="1"/>
          </p:cNvSpPr>
          <p:nvPr/>
        </p:nvSpPr>
        <p:spPr bwMode="auto">
          <a:xfrm>
            <a:off x="4272662" y="2641442"/>
            <a:ext cx="1473200" cy="1979612"/>
          </a:xfrm>
          <a:prstGeom prst="rect">
            <a:avLst/>
          </a:prstGeom>
          <a:solidFill>
            <a:srgbClr val="FFFFFF"/>
          </a:solidFill>
          <a:ln w="28575">
            <a:solidFill>
              <a:srgbClr val="000000"/>
            </a:solidFill>
            <a:miter lim="800000"/>
            <a:headEnd/>
            <a:tailEnd/>
          </a:ln>
          <a:effectLst>
            <a:outerShdw blurRad="50800" dist="38100" dir="18900000" algn="bl" rotWithShape="0">
              <a:prstClr val="black">
                <a:alpha val="40000"/>
              </a:prstClr>
            </a:outerShdw>
          </a:effec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60" name="Line 25">
            <a:extLst>
              <a:ext uri="{FF2B5EF4-FFF2-40B4-BE49-F238E27FC236}">
                <a16:creationId xmlns:a16="http://schemas.microsoft.com/office/drawing/2014/main" id="{97882FBC-8DAC-564D-B4C8-8B618C94ED21}"/>
              </a:ext>
            </a:extLst>
          </p:cNvPr>
          <p:cNvSpPr>
            <a:spLocks noChangeShapeType="1"/>
          </p:cNvSpPr>
          <p:nvPr/>
        </p:nvSpPr>
        <p:spPr bwMode="auto">
          <a:xfrm>
            <a:off x="4279012" y="3411379"/>
            <a:ext cx="146050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61" name="Text Box 26">
            <a:extLst>
              <a:ext uri="{FF2B5EF4-FFF2-40B4-BE49-F238E27FC236}">
                <a16:creationId xmlns:a16="http://schemas.microsoft.com/office/drawing/2014/main" id="{6533FADA-08A6-274F-99DA-B76CD13186B6}"/>
              </a:ext>
            </a:extLst>
          </p:cNvPr>
          <p:cNvSpPr txBox="1">
            <a:spLocks noChangeArrowheads="1"/>
          </p:cNvSpPr>
          <p:nvPr/>
        </p:nvSpPr>
        <p:spPr bwMode="auto">
          <a:xfrm>
            <a:off x="4350450" y="3393917"/>
            <a:ext cx="1317625" cy="3254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transport</a:t>
            </a:r>
          </a:p>
        </p:txBody>
      </p:sp>
      <p:sp>
        <p:nvSpPr>
          <p:cNvPr id="162" name="Line 27">
            <a:extLst>
              <a:ext uri="{FF2B5EF4-FFF2-40B4-BE49-F238E27FC236}">
                <a16:creationId xmlns:a16="http://schemas.microsoft.com/office/drawing/2014/main" id="{59739078-AC3B-BB43-A01C-5156C6AC1069}"/>
              </a:ext>
            </a:extLst>
          </p:cNvPr>
          <p:cNvSpPr>
            <a:spLocks noChangeShapeType="1"/>
          </p:cNvSpPr>
          <p:nvPr/>
        </p:nvSpPr>
        <p:spPr bwMode="auto">
          <a:xfrm>
            <a:off x="4280600" y="3728879"/>
            <a:ext cx="1457325"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63" name="Text Box 26">
            <a:extLst>
              <a:ext uri="{FF2B5EF4-FFF2-40B4-BE49-F238E27FC236}">
                <a16:creationId xmlns:a16="http://schemas.microsoft.com/office/drawing/2014/main" id="{78720604-E3E1-AA4C-8564-8B884DC18870}"/>
              </a:ext>
            </a:extLst>
          </p:cNvPr>
          <p:cNvSpPr txBox="1">
            <a:spLocks noChangeArrowheads="1"/>
          </p:cNvSpPr>
          <p:nvPr/>
        </p:nvSpPr>
        <p:spPr bwMode="auto">
          <a:xfrm>
            <a:off x="4347275" y="2608104"/>
            <a:ext cx="1317625" cy="3254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application</a:t>
            </a:r>
          </a:p>
        </p:txBody>
      </p:sp>
      <p:sp>
        <p:nvSpPr>
          <p:cNvPr id="164" name="Text Box 26">
            <a:extLst>
              <a:ext uri="{FF2B5EF4-FFF2-40B4-BE49-F238E27FC236}">
                <a16:creationId xmlns:a16="http://schemas.microsoft.com/office/drawing/2014/main" id="{0FE55F8B-E56B-8B4C-8A35-D5894CB5AA54}"/>
              </a:ext>
            </a:extLst>
          </p:cNvPr>
          <p:cNvSpPr txBox="1">
            <a:spLocks noChangeArrowheads="1"/>
          </p:cNvSpPr>
          <p:nvPr/>
        </p:nvSpPr>
        <p:spPr bwMode="auto">
          <a:xfrm>
            <a:off x="4344100" y="4298792"/>
            <a:ext cx="1317625" cy="3254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physical</a:t>
            </a:r>
          </a:p>
        </p:txBody>
      </p:sp>
      <p:sp>
        <p:nvSpPr>
          <p:cNvPr id="165" name="Text Box 26">
            <a:extLst>
              <a:ext uri="{FF2B5EF4-FFF2-40B4-BE49-F238E27FC236}">
                <a16:creationId xmlns:a16="http://schemas.microsoft.com/office/drawing/2014/main" id="{3CBEC5FD-FC48-0B44-A978-2775A463A9BB}"/>
              </a:ext>
            </a:extLst>
          </p:cNvPr>
          <p:cNvSpPr txBox="1">
            <a:spLocks noChangeArrowheads="1"/>
          </p:cNvSpPr>
          <p:nvPr/>
        </p:nvSpPr>
        <p:spPr bwMode="auto">
          <a:xfrm>
            <a:off x="4344100" y="4013042"/>
            <a:ext cx="1317625" cy="3254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link</a:t>
            </a:r>
          </a:p>
        </p:txBody>
      </p:sp>
      <p:sp>
        <p:nvSpPr>
          <p:cNvPr id="166" name="Text Box 26">
            <a:extLst>
              <a:ext uri="{FF2B5EF4-FFF2-40B4-BE49-F238E27FC236}">
                <a16:creationId xmlns:a16="http://schemas.microsoft.com/office/drawing/2014/main" id="{36939330-E1D8-DD43-8326-8E30CD151A67}"/>
              </a:ext>
            </a:extLst>
          </p:cNvPr>
          <p:cNvSpPr txBox="1">
            <a:spLocks noChangeArrowheads="1"/>
          </p:cNvSpPr>
          <p:nvPr/>
        </p:nvSpPr>
        <p:spPr bwMode="auto">
          <a:xfrm>
            <a:off x="4344100" y="3714592"/>
            <a:ext cx="1317625" cy="3254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network</a:t>
            </a:r>
          </a:p>
        </p:txBody>
      </p:sp>
      <p:sp>
        <p:nvSpPr>
          <p:cNvPr id="167" name="Line 27">
            <a:extLst>
              <a:ext uri="{FF2B5EF4-FFF2-40B4-BE49-F238E27FC236}">
                <a16:creationId xmlns:a16="http://schemas.microsoft.com/office/drawing/2014/main" id="{8F676BB3-CB93-FC44-95E3-71A593E11393}"/>
              </a:ext>
            </a:extLst>
          </p:cNvPr>
          <p:cNvSpPr>
            <a:spLocks noChangeShapeType="1"/>
          </p:cNvSpPr>
          <p:nvPr/>
        </p:nvSpPr>
        <p:spPr bwMode="auto">
          <a:xfrm>
            <a:off x="4277425" y="4040029"/>
            <a:ext cx="1457325"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68" name="Line 27">
            <a:extLst>
              <a:ext uri="{FF2B5EF4-FFF2-40B4-BE49-F238E27FC236}">
                <a16:creationId xmlns:a16="http://schemas.microsoft.com/office/drawing/2014/main" id="{3257C166-E64A-3645-B552-FD16B4D71AEB}"/>
              </a:ext>
            </a:extLst>
          </p:cNvPr>
          <p:cNvSpPr>
            <a:spLocks noChangeShapeType="1"/>
          </p:cNvSpPr>
          <p:nvPr/>
        </p:nvSpPr>
        <p:spPr bwMode="auto">
          <a:xfrm>
            <a:off x="4274250" y="4338479"/>
            <a:ext cx="1457325"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69" name="Oval 128">
            <a:extLst>
              <a:ext uri="{FF2B5EF4-FFF2-40B4-BE49-F238E27FC236}">
                <a16:creationId xmlns:a16="http://schemas.microsoft.com/office/drawing/2014/main" id="{65AB5E7C-E09E-3141-92D4-FB563873BAA1}"/>
              </a:ext>
            </a:extLst>
          </p:cNvPr>
          <p:cNvSpPr>
            <a:spLocks noChangeArrowheads="1"/>
          </p:cNvSpPr>
          <p:nvPr/>
        </p:nvSpPr>
        <p:spPr bwMode="auto">
          <a:xfrm>
            <a:off x="4691762" y="2947829"/>
            <a:ext cx="598488" cy="304800"/>
          </a:xfrm>
          <a:prstGeom prst="ellipse">
            <a:avLst/>
          </a:prstGeom>
          <a:solidFill>
            <a:srgbClr val="CCFFFF"/>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charset="0"/>
                <a:ea typeface="ＭＳ Ｐゴシック" charset="0"/>
                <a:cs typeface="+mn-cs"/>
              </a:rPr>
              <a:t>P1</a:t>
            </a:r>
          </a:p>
        </p:txBody>
      </p:sp>
      <p:grpSp>
        <p:nvGrpSpPr>
          <p:cNvPr id="170" name="Group 134">
            <a:extLst>
              <a:ext uri="{FF2B5EF4-FFF2-40B4-BE49-F238E27FC236}">
                <a16:creationId xmlns:a16="http://schemas.microsoft.com/office/drawing/2014/main" id="{00BF5763-3E40-E147-ACE8-5ED526226DDB}"/>
              </a:ext>
            </a:extLst>
          </p:cNvPr>
          <p:cNvGrpSpPr>
            <a:grpSpLocks/>
          </p:cNvGrpSpPr>
          <p:nvPr/>
        </p:nvGrpSpPr>
        <p:grpSpPr bwMode="auto">
          <a:xfrm>
            <a:off x="4563175" y="3263742"/>
            <a:ext cx="887412" cy="228600"/>
            <a:chOff x="1383" y="2620"/>
            <a:chExt cx="260" cy="100"/>
          </a:xfrm>
        </p:grpSpPr>
        <p:sp>
          <p:nvSpPr>
            <p:cNvPr id="171" name="Rectangle 135">
              <a:extLst>
                <a:ext uri="{FF2B5EF4-FFF2-40B4-BE49-F238E27FC236}">
                  <a16:creationId xmlns:a16="http://schemas.microsoft.com/office/drawing/2014/main" id="{CDC340F8-E46E-7E41-8E35-64383D0A17F3}"/>
                </a:ext>
              </a:extLst>
            </p:cNvPr>
            <p:cNvSpPr>
              <a:spLocks noChangeArrowheads="1"/>
            </p:cNvSpPr>
            <p:nvPr/>
          </p:nvSpPr>
          <p:spPr bwMode="auto">
            <a:xfrm>
              <a:off x="1383" y="2620"/>
              <a:ext cx="260" cy="100"/>
            </a:xfrm>
            <a:prstGeom prst="rect">
              <a:avLst/>
            </a:prstGeom>
            <a:solidFill>
              <a:srgbClr val="FFFF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72" name="Rectangle 136">
              <a:extLst>
                <a:ext uri="{FF2B5EF4-FFF2-40B4-BE49-F238E27FC236}">
                  <a16:creationId xmlns:a16="http://schemas.microsoft.com/office/drawing/2014/main" id="{CEB2486C-9B9D-0C40-80F1-0DB2CBB3DFB8}"/>
                </a:ext>
              </a:extLst>
            </p:cNvPr>
            <p:cNvSpPr>
              <a:spLocks noChangeArrowheads="1"/>
            </p:cNvSpPr>
            <p:nvPr/>
          </p:nvSpPr>
          <p:spPr bwMode="auto">
            <a:xfrm>
              <a:off x="1434" y="2633"/>
              <a:ext cx="155" cy="76"/>
            </a:xfrm>
            <a:prstGeom prst="rect">
              <a:avLst/>
            </a:prstGeom>
            <a:solidFill>
              <a:srgbClr val="FFFFFF"/>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73" name="Rectangle 137">
              <a:extLst>
                <a:ext uri="{FF2B5EF4-FFF2-40B4-BE49-F238E27FC236}">
                  <a16:creationId xmlns:a16="http://schemas.microsoft.com/office/drawing/2014/main" id="{1376AAC2-B46A-1E4A-9BBE-A4B572F451E5}"/>
                </a:ext>
              </a:extLst>
            </p:cNvPr>
            <p:cNvSpPr>
              <a:spLocks noChangeArrowheads="1"/>
            </p:cNvSpPr>
            <p:nvPr/>
          </p:nvSpPr>
          <p:spPr bwMode="auto">
            <a:xfrm>
              <a:off x="1599" y="2678"/>
              <a:ext cx="27" cy="26"/>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74" name="Rectangle 138">
              <a:extLst>
                <a:ext uri="{FF2B5EF4-FFF2-40B4-BE49-F238E27FC236}">
                  <a16:creationId xmlns:a16="http://schemas.microsoft.com/office/drawing/2014/main" id="{D0F29441-9D82-0744-927B-FB9235C641D8}"/>
                </a:ext>
              </a:extLst>
            </p:cNvPr>
            <p:cNvSpPr>
              <a:spLocks noChangeArrowheads="1"/>
            </p:cNvSpPr>
            <p:nvPr/>
          </p:nvSpPr>
          <p:spPr bwMode="auto">
            <a:xfrm>
              <a:off x="1394" y="2679"/>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176" name="Rectangle 24">
            <a:extLst>
              <a:ext uri="{FF2B5EF4-FFF2-40B4-BE49-F238E27FC236}">
                <a16:creationId xmlns:a16="http://schemas.microsoft.com/office/drawing/2014/main" id="{7B52E473-BC4F-2546-8F23-4292A3FB8917}"/>
              </a:ext>
            </a:extLst>
          </p:cNvPr>
          <p:cNvSpPr>
            <a:spLocks noChangeArrowheads="1"/>
          </p:cNvSpPr>
          <p:nvPr/>
        </p:nvSpPr>
        <p:spPr bwMode="auto">
          <a:xfrm>
            <a:off x="7276212" y="2866867"/>
            <a:ext cx="1273175" cy="1979612"/>
          </a:xfrm>
          <a:prstGeom prst="rect">
            <a:avLst/>
          </a:prstGeom>
          <a:solidFill>
            <a:srgbClr val="FFFFFF"/>
          </a:solidFill>
          <a:ln w="28575">
            <a:solidFill>
              <a:srgbClr val="000000"/>
            </a:solidFill>
            <a:miter lim="800000"/>
            <a:headEnd/>
            <a:tailEnd/>
          </a:ln>
          <a:effectLst>
            <a:outerShdw blurRad="50800" dist="38100" dir="13500000" algn="br" rotWithShape="0">
              <a:prstClr val="black">
                <a:alpha val="40000"/>
              </a:prstClr>
            </a:outerShdw>
          </a:effec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77" name="Line 25">
            <a:extLst>
              <a:ext uri="{FF2B5EF4-FFF2-40B4-BE49-F238E27FC236}">
                <a16:creationId xmlns:a16="http://schemas.microsoft.com/office/drawing/2014/main" id="{803956DE-2FA5-4140-9507-22E455660033}"/>
              </a:ext>
            </a:extLst>
          </p:cNvPr>
          <p:cNvSpPr>
            <a:spLocks noChangeShapeType="1"/>
          </p:cNvSpPr>
          <p:nvPr/>
        </p:nvSpPr>
        <p:spPr bwMode="auto">
          <a:xfrm>
            <a:off x="7285737" y="3627279"/>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8" name="Text Box 26">
            <a:extLst>
              <a:ext uri="{FF2B5EF4-FFF2-40B4-BE49-F238E27FC236}">
                <a16:creationId xmlns:a16="http://schemas.microsoft.com/office/drawing/2014/main" id="{47E3A0E5-1B3A-834F-8B2A-507EC67A3628}"/>
              </a:ext>
            </a:extLst>
          </p:cNvPr>
          <p:cNvSpPr txBox="1">
            <a:spLocks noChangeArrowheads="1"/>
          </p:cNvSpPr>
          <p:nvPr/>
        </p:nvSpPr>
        <p:spPr bwMode="auto">
          <a:xfrm>
            <a:off x="7242875" y="3609817"/>
            <a:ext cx="1317625" cy="3254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transport</a:t>
            </a:r>
          </a:p>
        </p:txBody>
      </p:sp>
      <p:sp>
        <p:nvSpPr>
          <p:cNvPr id="179" name="Line 27">
            <a:extLst>
              <a:ext uri="{FF2B5EF4-FFF2-40B4-BE49-F238E27FC236}">
                <a16:creationId xmlns:a16="http://schemas.microsoft.com/office/drawing/2014/main" id="{24C8311A-F267-2B40-8506-DF30931D127F}"/>
              </a:ext>
            </a:extLst>
          </p:cNvPr>
          <p:cNvSpPr>
            <a:spLocks noChangeShapeType="1"/>
          </p:cNvSpPr>
          <p:nvPr/>
        </p:nvSpPr>
        <p:spPr bwMode="auto">
          <a:xfrm>
            <a:off x="7293675" y="3947954"/>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0" name="Line 28">
            <a:extLst>
              <a:ext uri="{FF2B5EF4-FFF2-40B4-BE49-F238E27FC236}">
                <a16:creationId xmlns:a16="http://schemas.microsoft.com/office/drawing/2014/main" id="{90B576E6-B5C3-E047-92FE-7535DC86865B}"/>
              </a:ext>
            </a:extLst>
          </p:cNvPr>
          <p:cNvSpPr>
            <a:spLocks noChangeShapeType="1"/>
          </p:cNvSpPr>
          <p:nvPr/>
        </p:nvSpPr>
        <p:spPr bwMode="auto">
          <a:xfrm>
            <a:off x="7279387" y="4257517"/>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1" name="Line 29">
            <a:extLst>
              <a:ext uri="{FF2B5EF4-FFF2-40B4-BE49-F238E27FC236}">
                <a16:creationId xmlns:a16="http://schemas.microsoft.com/office/drawing/2014/main" id="{DE510BC2-1C0A-3D45-B7F0-09B9A2AFDE5D}"/>
              </a:ext>
            </a:extLst>
          </p:cNvPr>
          <p:cNvSpPr>
            <a:spLocks noChangeShapeType="1"/>
          </p:cNvSpPr>
          <p:nvPr/>
        </p:nvSpPr>
        <p:spPr bwMode="auto">
          <a:xfrm>
            <a:off x="7279387" y="4543267"/>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2" name="Text Box 26">
            <a:extLst>
              <a:ext uri="{FF2B5EF4-FFF2-40B4-BE49-F238E27FC236}">
                <a16:creationId xmlns:a16="http://schemas.microsoft.com/office/drawing/2014/main" id="{DDAE1A42-ED4F-654B-87D0-169CF6BB1331}"/>
              </a:ext>
            </a:extLst>
          </p:cNvPr>
          <p:cNvSpPr txBox="1">
            <a:spLocks noChangeArrowheads="1"/>
          </p:cNvSpPr>
          <p:nvPr/>
        </p:nvSpPr>
        <p:spPr bwMode="auto">
          <a:xfrm>
            <a:off x="7277800" y="2857342"/>
            <a:ext cx="1317625" cy="3254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application</a:t>
            </a:r>
          </a:p>
        </p:txBody>
      </p:sp>
      <p:sp>
        <p:nvSpPr>
          <p:cNvPr id="183" name="Text Box 26">
            <a:extLst>
              <a:ext uri="{FF2B5EF4-FFF2-40B4-BE49-F238E27FC236}">
                <a16:creationId xmlns:a16="http://schemas.microsoft.com/office/drawing/2014/main" id="{7A014FEE-D35D-4D4E-A6F2-B759C9BE8A46}"/>
              </a:ext>
            </a:extLst>
          </p:cNvPr>
          <p:cNvSpPr txBox="1">
            <a:spLocks noChangeArrowheads="1"/>
          </p:cNvSpPr>
          <p:nvPr/>
        </p:nvSpPr>
        <p:spPr bwMode="auto">
          <a:xfrm>
            <a:off x="7233350" y="4514692"/>
            <a:ext cx="1317625" cy="3254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physical</a:t>
            </a:r>
          </a:p>
        </p:txBody>
      </p:sp>
      <p:sp>
        <p:nvSpPr>
          <p:cNvPr id="184" name="Text Box 26">
            <a:extLst>
              <a:ext uri="{FF2B5EF4-FFF2-40B4-BE49-F238E27FC236}">
                <a16:creationId xmlns:a16="http://schemas.microsoft.com/office/drawing/2014/main" id="{7B48DF71-7962-E445-ACB0-EE3318149C71}"/>
              </a:ext>
            </a:extLst>
          </p:cNvPr>
          <p:cNvSpPr txBox="1">
            <a:spLocks noChangeArrowheads="1"/>
          </p:cNvSpPr>
          <p:nvPr/>
        </p:nvSpPr>
        <p:spPr bwMode="auto">
          <a:xfrm>
            <a:off x="7252400" y="4228942"/>
            <a:ext cx="1317625" cy="3254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link</a:t>
            </a:r>
          </a:p>
        </p:txBody>
      </p:sp>
      <p:sp>
        <p:nvSpPr>
          <p:cNvPr id="185" name="Text Box 26">
            <a:extLst>
              <a:ext uri="{FF2B5EF4-FFF2-40B4-BE49-F238E27FC236}">
                <a16:creationId xmlns:a16="http://schemas.microsoft.com/office/drawing/2014/main" id="{35F89933-4707-5D4A-921A-EC7B51E40D15}"/>
              </a:ext>
            </a:extLst>
          </p:cNvPr>
          <p:cNvSpPr txBox="1">
            <a:spLocks noChangeArrowheads="1"/>
          </p:cNvSpPr>
          <p:nvPr/>
        </p:nvSpPr>
        <p:spPr bwMode="auto">
          <a:xfrm>
            <a:off x="7242875" y="3933667"/>
            <a:ext cx="1317625" cy="3254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network</a:t>
            </a:r>
          </a:p>
        </p:txBody>
      </p:sp>
      <p:sp>
        <p:nvSpPr>
          <p:cNvPr id="186" name="Oval 153">
            <a:extLst>
              <a:ext uri="{FF2B5EF4-FFF2-40B4-BE49-F238E27FC236}">
                <a16:creationId xmlns:a16="http://schemas.microsoft.com/office/drawing/2014/main" id="{215E7B91-C0B7-B74C-B6E7-B5818A2553F2}"/>
              </a:ext>
            </a:extLst>
          </p:cNvPr>
          <p:cNvSpPr>
            <a:spLocks noChangeArrowheads="1"/>
          </p:cNvSpPr>
          <p:nvPr/>
        </p:nvSpPr>
        <p:spPr bwMode="auto">
          <a:xfrm>
            <a:off x="7612762" y="3165317"/>
            <a:ext cx="598488" cy="304800"/>
          </a:xfrm>
          <a:prstGeom prst="ellipse">
            <a:avLst/>
          </a:prstGeom>
          <a:solidFill>
            <a:srgbClr val="CCFFFF"/>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charset="0"/>
                <a:ea typeface="ＭＳ Ｐゴシック" charset="0"/>
                <a:cs typeface="+mn-cs"/>
              </a:rPr>
              <a:t>P4</a:t>
            </a:r>
          </a:p>
        </p:txBody>
      </p:sp>
      <p:grpSp>
        <p:nvGrpSpPr>
          <p:cNvPr id="188" name="Group 156">
            <a:extLst>
              <a:ext uri="{FF2B5EF4-FFF2-40B4-BE49-F238E27FC236}">
                <a16:creationId xmlns:a16="http://schemas.microsoft.com/office/drawing/2014/main" id="{4260C82D-FA4B-EA40-B99D-03E56D50D1BA}"/>
              </a:ext>
            </a:extLst>
          </p:cNvPr>
          <p:cNvGrpSpPr>
            <a:grpSpLocks/>
          </p:cNvGrpSpPr>
          <p:nvPr/>
        </p:nvGrpSpPr>
        <p:grpSpPr bwMode="auto">
          <a:xfrm>
            <a:off x="7606412" y="3497104"/>
            <a:ext cx="620713" cy="204788"/>
            <a:chOff x="1287" y="2524"/>
            <a:chExt cx="260" cy="100"/>
          </a:xfrm>
        </p:grpSpPr>
        <p:sp>
          <p:nvSpPr>
            <p:cNvPr id="189" name="Rectangle 157">
              <a:extLst>
                <a:ext uri="{FF2B5EF4-FFF2-40B4-BE49-F238E27FC236}">
                  <a16:creationId xmlns:a16="http://schemas.microsoft.com/office/drawing/2014/main" id="{3C55969E-575D-4843-85A0-C9288C89A71A}"/>
                </a:ext>
              </a:extLst>
            </p:cNvPr>
            <p:cNvSpPr>
              <a:spLocks noChangeArrowheads="1"/>
            </p:cNvSpPr>
            <p:nvPr/>
          </p:nvSpPr>
          <p:spPr bwMode="auto">
            <a:xfrm>
              <a:off x="1287" y="2524"/>
              <a:ext cx="260" cy="100"/>
            </a:xfrm>
            <a:prstGeom prst="rect">
              <a:avLst/>
            </a:prstGeom>
            <a:solidFill>
              <a:srgbClr val="FFFF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90" name="Rectangle 158">
              <a:extLst>
                <a:ext uri="{FF2B5EF4-FFF2-40B4-BE49-F238E27FC236}">
                  <a16:creationId xmlns:a16="http://schemas.microsoft.com/office/drawing/2014/main" id="{1D81D694-BFCE-CD4C-8B46-411E3E05EFAC}"/>
                </a:ext>
              </a:extLst>
            </p:cNvPr>
            <p:cNvSpPr>
              <a:spLocks noChangeArrowheads="1"/>
            </p:cNvSpPr>
            <p:nvPr/>
          </p:nvSpPr>
          <p:spPr bwMode="auto">
            <a:xfrm>
              <a:off x="1338" y="2537"/>
              <a:ext cx="155" cy="76"/>
            </a:xfrm>
            <a:prstGeom prst="rect">
              <a:avLst/>
            </a:prstGeom>
            <a:solidFill>
              <a:srgbClr val="FFFFFF"/>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91" name="Rectangle 159">
              <a:extLst>
                <a:ext uri="{FF2B5EF4-FFF2-40B4-BE49-F238E27FC236}">
                  <a16:creationId xmlns:a16="http://schemas.microsoft.com/office/drawing/2014/main" id="{1E24AC3B-00C1-CD43-B2CA-0A3FFEF53694}"/>
                </a:ext>
              </a:extLst>
            </p:cNvPr>
            <p:cNvSpPr>
              <a:spLocks noChangeArrowheads="1"/>
            </p:cNvSpPr>
            <p:nvPr/>
          </p:nvSpPr>
          <p:spPr bwMode="auto">
            <a:xfrm>
              <a:off x="1503" y="2582"/>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92" name="Rectangle 160">
              <a:extLst>
                <a:ext uri="{FF2B5EF4-FFF2-40B4-BE49-F238E27FC236}">
                  <a16:creationId xmlns:a16="http://schemas.microsoft.com/office/drawing/2014/main" id="{9B3524D6-8B31-5B45-AE62-56D9DEC06C91}"/>
                </a:ext>
              </a:extLst>
            </p:cNvPr>
            <p:cNvSpPr>
              <a:spLocks noChangeArrowheads="1"/>
            </p:cNvSpPr>
            <p:nvPr/>
          </p:nvSpPr>
          <p:spPr bwMode="auto">
            <a:xfrm>
              <a:off x="1298" y="2583"/>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194" name="Rectangle 174">
            <a:extLst>
              <a:ext uri="{FF2B5EF4-FFF2-40B4-BE49-F238E27FC236}">
                <a16:creationId xmlns:a16="http://schemas.microsoft.com/office/drawing/2014/main" id="{4C60141B-5E00-944A-9D60-A427659E8698}"/>
              </a:ext>
            </a:extLst>
          </p:cNvPr>
          <p:cNvSpPr>
            <a:spLocks noChangeArrowheads="1"/>
          </p:cNvSpPr>
          <p:nvPr/>
        </p:nvSpPr>
        <p:spPr bwMode="auto">
          <a:xfrm>
            <a:off x="214969" y="1979527"/>
            <a:ext cx="3906061" cy="96284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115888" lvl="0" indent="-115888" eaLnBrk="0" fontAlgn="base" hangingPunct="0">
              <a:lnSpc>
                <a:spcPct val="85000"/>
              </a:lnSpc>
              <a:spcBef>
                <a:spcPct val="20000"/>
              </a:spcBef>
              <a:spcAft>
                <a:spcPct val="0"/>
              </a:spcAft>
              <a:buClr>
                <a:srgbClr val="000099"/>
              </a:buClr>
              <a:buSzPct val="65000"/>
              <a:defRPr/>
            </a:pPr>
            <a:r>
              <a:rPr lang="en-US" sz="1600" b="1" dirty="0">
                <a:solidFill>
                  <a:srgbClr val="000000"/>
                </a:solidFill>
                <a:latin typeface="Courier New" charset="0"/>
                <a:ea typeface="ＭＳ Ｐゴシック" charset="0"/>
              </a:rPr>
              <a:t>mySocket = socket(AF_INET,SOCK_DGRAM)</a:t>
            </a:r>
          </a:p>
          <a:p>
            <a:pPr marL="115888" lvl="0" indent="-115888" eaLnBrk="0" fontAlgn="base" hangingPunct="0">
              <a:lnSpc>
                <a:spcPct val="85000"/>
              </a:lnSpc>
              <a:spcBef>
                <a:spcPct val="20000"/>
              </a:spcBef>
              <a:spcAft>
                <a:spcPct val="0"/>
              </a:spcAft>
              <a:buClr>
                <a:srgbClr val="000099"/>
              </a:buClr>
              <a:buSzPct val="65000"/>
              <a:defRPr/>
            </a:pPr>
            <a:r>
              <a:rPr lang="en-US" sz="1600" b="1" dirty="0">
                <a:solidFill>
                  <a:srgbClr val="000000"/>
                </a:solidFill>
                <a:latin typeface="Courier New" charset="0"/>
                <a:ea typeface="ＭＳ Ｐゴシック" charset="0"/>
              </a:rPr>
              <a:t>mySocket.bind(myaddr,</a:t>
            </a:r>
            <a:r>
              <a:rPr lang="en-US" sz="1600" b="1" dirty="0">
                <a:solidFill>
                  <a:srgbClr val="C00000"/>
                </a:solidFill>
                <a:latin typeface="Courier New" charset="0"/>
                <a:ea typeface="ＭＳ Ｐゴシック" charset="0"/>
              </a:rPr>
              <a:t>9157</a:t>
            </a:r>
            <a:r>
              <a:rPr lang="en-US" sz="1600" b="1" dirty="0">
                <a:solidFill>
                  <a:srgbClr val="000000"/>
                </a:solidFill>
                <a:latin typeface="Courier New" charset="0"/>
                <a:ea typeface="ＭＳ Ｐゴシック" charset="0"/>
              </a:rPr>
              <a:t>);</a:t>
            </a:r>
          </a:p>
          <a:p>
            <a:pPr marL="115888" marR="0" lvl="0" indent="-115888" algn="l" defTabSz="914400" rtl="0" eaLnBrk="0" fontAlgn="base" latinLnBrk="0" hangingPunct="0">
              <a:lnSpc>
                <a:spcPct val="85000"/>
              </a:lnSpc>
              <a:spcBef>
                <a:spcPct val="20000"/>
              </a:spcBef>
              <a:spcAft>
                <a:spcPct val="0"/>
              </a:spcAft>
              <a:buClr>
                <a:srgbClr val="000099"/>
              </a:buClr>
              <a:buSzPct val="65000"/>
              <a:buFont typeface="Wingdings" charset="0"/>
              <a:buNone/>
              <a:tabLst/>
              <a:defRPr/>
            </a:pPr>
            <a:endParaRPr kumimoji="0" lang="en-US" sz="2000" b="0" i="0" u="none" strike="noStrike" kern="1200" cap="none" spc="0" normalizeH="0" baseline="0" noProof="0" dirty="0">
              <a:ln>
                <a:noFill/>
              </a:ln>
              <a:solidFill>
                <a:srgbClr val="000000"/>
              </a:solidFill>
              <a:effectLst/>
              <a:uLnTx/>
              <a:uFillTx/>
              <a:latin typeface="Courier New" charset="0"/>
              <a:ea typeface="ＭＳ Ｐゴシック" charset="0"/>
              <a:cs typeface="+mn-cs"/>
            </a:endParaRPr>
          </a:p>
        </p:txBody>
      </p:sp>
      <p:sp>
        <p:nvSpPr>
          <p:cNvPr id="195" name="Line 177">
            <a:extLst>
              <a:ext uri="{FF2B5EF4-FFF2-40B4-BE49-F238E27FC236}">
                <a16:creationId xmlns:a16="http://schemas.microsoft.com/office/drawing/2014/main" id="{3415A4E4-A8D6-0A45-87D5-0E83D0C0F914}"/>
              </a:ext>
            </a:extLst>
          </p:cNvPr>
          <p:cNvSpPr>
            <a:spLocks noChangeShapeType="1"/>
          </p:cNvSpPr>
          <p:nvPr/>
        </p:nvSpPr>
        <p:spPr bwMode="auto">
          <a:xfrm>
            <a:off x="1983487" y="3578067"/>
            <a:ext cx="0" cy="2176462"/>
          </a:xfrm>
          <a:prstGeom prst="line">
            <a:avLst/>
          </a:prstGeom>
          <a:noFill/>
          <a:ln w="19050">
            <a:solidFill>
              <a:srgbClr val="CC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96" name="Line 178">
            <a:extLst>
              <a:ext uri="{FF2B5EF4-FFF2-40B4-BE49-F238E27FC236}">
                <a16:creationId xmlns:a16="http://schemas.microsoft.com/office/drawing/2014/main" id="{A9D1D210-F533-114F-8A39-1FAA948B33D4}"/>
              </a:ext>
            </a:extLst>
          </p:cNvPr>
          <p:cNvSpPr>
            <a:spLocks noChangeShapeType="1"/>
          </p:cNvSpPr>
          <p:nvPr/>
        </p:nvSpPr>
        <p:spPr bwMode="auto">
          <a:xfrm>
            <a:off x="4914012" y="3336767"/>
            <a:ext cx="12700" cy="2408237"/>
          </a:xfrm>
          <a:prstGeom prst="line">
            <a:avLst/>
          </a:prstGeom>
          <a:noFill/>
          <a:ln w="19050">
            <a:solidFill>
              <a:srgbClr val="CC0000"/>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97" name="Line 180">
            <a:extLst>
              <a:ext uri="{FF2B5EF4-FFF2-40B4-BE49-F238E27FC236}">
                <a16:creationId xmlns:a16="http://schemas.microsoft.com/office/drawing/2014/main" id="{6B5344BE-1CCC-B340-996D-3B09BDFBBE3A}"/>
              </a:ext>
            </a:extLst>
          </p:cNvPr>
          <p:cNvSpPr>
            <a:spLocks noChangeShapeType="1"/>
          </p:cNvSpPr>
          <p:nvPr/>
        </p:nvSpPr>
        <p:spPr bwMode="auto">
          <a:xfrm>
            <a:off x="1983487" y="5737067"/>
            <a:ext cx="2936875" cy="0"/>
          </a:xfrm>
          <a:prstGeom prst="line">
            <a:avLst/>
          </a:prstGeom>
          <a:noFill/>
          <a:ln w="19050">
            <a:solidFill>
              <a:srgbClr val="CC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98" name="Line 181">
            <a:extLst>
              <a:ext uri="{FF2B5EF4-FFF2-40B4-BE49-F238E27FC236}">
                <a16:creationId xmlns:a16="http://schemas.microsoft.com/office/drawing/2014/main" id="{75872309-2BFC-8644-8732-E37B001E22A7}"/>
              </a:ext>
            </a:extLst>
          </p:cNvPr>
          <p:cNvSpPr>
            <a:spLocks noChangeShapeType="1"/>
          </p:cNvSpPr>
          <p:nvPr/>
        </p:nvSpPr>
        <p:spPr bwMode="auto">
          <a:xfrm>
            <a:off x="4790187" y="3349467"/>
            <a:ext cx="0" cy="2246312"/>
          </a:xfrm>
          <a:prstGeom prst="line">
            <a:avLst/>
          </a:prstGeom>
          <a:noFill/>
          <a:ln w="19050">
            <a:solidFill>
              <a:srgbClr val="CC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99" name="Line 182">
            <a:extLst>
              <a:ext uri="{FF2B5EF4-FFF2-40B4-BE49-F238E27FC236}">
                <a16:creationId xmlns:a16="http://schemas.microsoft.com/office/drawing/2014/main" id="{ED8FED43-69D8-CD40-86EB-26FB24C6EABD}"/>
              </a:ext>
            </a:extLst>
          </p:cNvPr>
          <p:cNvSpPr>
            <a:spLocks noChangeShapeType="1"/>
          </p:cNvSpPr>
          <p:nvPr/>
        </p:nvSpPr>
        <p:spPr bwMode="auto">
          <a:xfrm>
            <a:off x="2091437" y="5578317"/>
            <a:ext cx="2740025" cy="0"/>
          </a:xfrm>
          <a:prstGeom prst="line">
            <a:avLst/>
          </a:prstGeom>
          <a:noFill/>
          <a:ln w="19050">
            <a:solidFill>
              <a:srgbClr val="CC0000"/>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200" name="Line 183">
            <a:extLst>
              <a:ext uri="{FF2B5EF4-FFF2-40B4-BE49-F238E27FC236}">
                <a16:creationId xmlns:a16="http://schemas.microsoft.com/office/drawing/2014/main" id="{4E77B951-325F-9646-965F-1E9415527950}"/>
              </a:ext>
            </a:extLst>
          </p:cNvPr>
          <p:cNvSpPr>
            <a:spLocks noChangeShapeType="1"/>
          </p:cNvSpPr>
          <p:nvPr/>
        </p:nvSpPr>
        <p:spPr bwMode="auto">
          <a:xfrm>
            <a:off x="2085087" y="3565367"/>
            <a:ext cx="12700" cy="2017712"/>
          </a:xfrm>
          <a:prstGeom prst="line">
            <a:avLst/>
          </a:prstGeom>
          <a:noFill/>
          <a:ln w="19050">
            <a:solidFill>
              <a:srgbClr val="CC0000"/>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201" name="Line 184">
            <a:extLst>
              <a:ext uri="{FF2B5EF4-FFF2-40B4-BE49-F238E27FC236}">
                <a16:creationId xmlns:a16="http://schemas.microsoft.com/office/drawing/2014/main" id="{DE96BAA3-92F8-8647-B475-DC04328C350D}"/>
              </a:ext>
            </a:extLst>
          </p:cNvPr>
          <p:cNvSpPr>
            <a:spLocks noChangeShapeType="1"/>
          </p:cNvSpPr>
          <p:nvPr/>
        </p:nvSpPr>
        <p:spPr bwMode="auto">
          <a:xfrm>
            <a:off x="7993762" y="3616167"/>
            <a:ext cx="0" cy="2176462"/>
          </a:xfrm>
          <a:prstGeom prst="line">
            <a:avLst/>
          </a:prstGeom>
          <a:noFill/>
          <a:ln w="19050">
            <a:solidFill>
              <a:srgbClr val="CC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202" name="Line 185">
            <a:extLst>
              <a:ext uri="{FF2B5EF4-FFF2-40B4-BE49-F238E27FC236}">
                <a16:creationId xmlns:a16="http://schemas.microsoft.com/office/drawing/2014/main" id="{98C53D0E-36E0-9746-B2E0-7A179BBFF854}"/>
              </a:ext>
            </a:extLst>
          </p:cNvPr>
          <p:cNvSpPr>
            <a:spLocks noChangeShapeType="1"/>
          </p:cNvSpPr>
          <p:nvPr/>
        </p:nvSpPr>
        <p:spPr bwMode="auto">
          <a:xfrm>
            <a:off x="7876287" y="3584417"/>
            <a:ext cx="12700" cy="2017712"/>
          </a:xfrm>
          <a:prstGeom prst="line">
            <a:avLst/>
          </a:prstGeom>
          <a:noFill/>
          <a:ln w="19050">
            <a:solidFill>
              <a:srgbClr val="CC0000"/>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203" name="Line 186">
            <a:extLst>
              <a:ext uri="{FF2B5EF4-FFF2-40B4-BE49-F238E27FC236}">
                <a16:creationId xmlns:a16="http://schemas.microsoft.com/office/drawing/2014/main" id="{5CF7BEF4-FCF9-5245-97E3-9295F72ABEAF}"/>
              </a:ext>
            </a:extLst>
          </p:cNvPr>
          <p:cNvSpPr>
            <a:spLocks noChangeShapeType="1"/>
          </p:cNvSpPr>
          <p:nvPr/>
        </p:nvSpPr>
        <p:spPr bwMode="auto">
          <a:xfrm>
            <a:off x="5056887" y="3355817"/>
            <a:ext cx="12700" cy="2408237"/>
          </a:xfrm>
          <a:prstGeom prst="line">
            <a:avLst/>
          </a:prstGeom>
          <a:noFill/>
          <a:ln w="19050">
            <a:solidFill>
              <a:srgbClr val="CC0000"/>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204" name="Line 187">
            <a:extLst>
              <a:ext uri="{FF2B5EF4-FFF2-40B4-BE49-F238E27FC236}">
                <a16:creationId xmlns:a16="http://schemas.microsoft.com/office/drawing/2014/main" id="{2FEDDAA8-4D5A-F644-8D9D-D75448B5AB9C}"/>
              </a:ext>
            </a:extLst>
          </p:cNvPr>
          <p:cNvSpPr>
            <a:spLocks noChangeShapeType="1"/>
          </p:cNvSpPr>
          <p:nvPr/>
        </p:nvSpPr>
        <p:spPr bwMode="auto">
          <a:xfrm>
            <a:off x="5190237" y="3368517"/>
            <a:ext cx="0" cy="2246312"/>
          </a:xfrm>
          <a:prstGeom prst="line">
            <a:avLst/>
          </a:prstGeom>
          <a:noFill/>
          <a:ln w="19050">
            <a:solidFill>
              <a:srgbClr val="CC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205" name="Line 188">
            <a:extLst>
              <a:ext uri="{FF2B5EF4-FFF2-40B4-BE49-F238E27FC236}">
                <a16:creationId xmlns:a16="http://schemas.microsoft.com/office/drawing/2014/main" id="{785832B0-11E2-7D42-892F-39130A9455CB}"/>
              </a:ext>
            </a:extLst>
          </p:cNvPr>
          <p:cNvSpPr>
            <a:spLocks noChangeShapeType="1"/>
          </p:cNvSpPr>
          <p:nvPr/>
        </p:nvSpPr>
        <p:spPr bwMode="auto">
          <a:xfrm>
            <a:off x="5079112" y="5756117"/>
            <a:ext cx="2936875" cy="0"/>
          </a:xfrm>
          <a:prstGeom prst="line">
            <a:avLst/>
          </a:prstGeom>
          <a:noFill/>
          <a:ln w="19050">
            <a:solidFill>
              <a:srgbClr val="CC0000"/>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206" name="Line 189">
            <a:extLst>
              <a:ext uri="{FF2B5EF4-FFF2-40B4-BE49-F238E27FC236}">
                <a16:creationId xmlns:a16="http://schemas.microsoft.com/office/drawing/2014/main" id="{CB7F98CB-6143-EE46-9171-A611901AA528}"/>
              </a:ext>
            </a:extLst>
          </p:cNvPr>
          <p:cNvSpPr>
            <a:spLocks noChangeShapeType="1"/>
          </p:cNvSpPr>
          <p:nvPr/>
        </p:nvSpPr>
        <p:spPr bwMode="auto">
          <a:xfrm>
            <a:off x="5164837" y="5587842"/>
            <a:ext cx="2740025" cy="0"/>
          </a:xfrm>
          <a:prstGeom prst="line">
            <a:avLst/>
          </a:prstGeom>
          <a:noFill/>
          <a:ln w="19050">
            <a:solidFill>
              <a:srgbClr val="CC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207" name="Group 196">
            <a:extLst>
              <a:ext uri="{FF2B5EF4-FFF2-40B4-BE49-F238E27FC236}">
                <a16:creationId xmlns:a16="http://schemas.microsoft.com/office/drawing/2014/main" id="{3B303B9E-D7B6-B44F-B2C6-EAF4FBBE0075}"/>
              </a:ext>
            </a:extLst>
          </p:cNvPr>
          <p:cNvGrpSpPr>
            <a:grpSpLocks/>
          </p:cNvGrpSpPr>
          <p:nvPr/>
        </p:nvGrpSpPr>
        <p:grpSpPr bwMode="auto">
          <a:xfrm>
            <a:off x="1686625" y="5837083"/>
            <a:ext cx="1658938" cy="657226"/>
            <a:chOff x="1309" y="3697"/>
            <a:chExt cx="1045" cy="414"/>
          </a:xfrm>
        </p:grpSpPr>
        <p:sp>
          <p:nvSpPr>
            <p:cNvPr id="208" name="Rectangle 193">
              <a:extLst>
                <a:ext uri="{FF2B5EF4-FFF2-40B4-BE49-F238E27FC236}">
                  <a16:creationId xmlns:a16="http://schemas.microsoft.com/office/drawing/2014/main" id="{5E867730-FF86-E94C-84E9-3C3B7F8650AF}"/>
                </a:ext>
              </a:extLst>
            </p:cNvPr>
            <p:cNvSpPr>
              <a:spLocks noChangeArrowheads="1"/>
            </p:cNvSpPr>
            <p:nvPr/>
          </p:nvSpPr>
          <p:spPr bwMode="auto">
            <a:xfrm>
              <a:off x="1553" y="3697"/>
              <a:ext cx="678" cy="138"/>
            </a:xfrm>
            <a:prstGeom prst="rect">
              <a:avLst/>
            </a:prstGeom>
            <a:solidFill>
              <a:srgbClr val="3C6CDF"/>
            </a:solidFill>
            <a:ln w="9525">
              <a:solidFill>
                <a:srgbClr val="000000"/>
              </a:solidFill>
              <a:miter lim="800000"/>
              <a:headEnd/>
              <a:tailEnd/>
            </a:ln>
            <a:effectLst>
              <a:outerShdw blurRad="50800" dist="38100" dir="18900000" algn="bl" rotWithShape="0">
                <a:prstClr val="black">
                  <a:alpha val="40000"/>
                </a:prstClr>
              </a:outerShdw>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09" name="Line 194">
              <a:extLst>
                <a:ext uri="{FF2B5EF4-FFF2-40B4-BE49-F238E27FC236}">
                  <a16:creationId xmlns:a16="http://schemas.microsoft.com/office/drawing/2014/main" id="{DCB14944-9918-094E-A124-FFAF2CCC01E8}"/>
                </a:ext>
              </a:extLst>
            </p:cNvPr>
            <p:cNvSpPr>
              <a:spLocks noChangeShapeType="1"/>
            </p:cNvSpPr>
            <p:nvPr/>
          </p:nvSpPr>
          <p:spPr bwMode="auto">
            <a:xfrm flipV="1">
              <a:off x="2179" y="3770"/>
              <a:ext cx="175" cy="0"/>
            </a:xfrm>
            <a:prstGeom prst="line">
              <a:avLst/>
            </a:prstGeom>
            <a:noFill/>
            <a:ln w="38100">
              <a:solidFill>
                <a:srgbClr val="CC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10" name="Text Box 195">
              <a:extLst>
                <a:ext uri="{FF2B5EF4-FFF2-40B4-BE49-F238E27FC236}">
                  <a16:creationId xmlns:a16="http://schemas.microsoft.com/office/drawing/2014/main" id="{7F105679-9AE1-A34E-A646-23B52D1B8449}"/>
                </a:ext>
              </a:extLst>
            </p:cNvPr>
            <p:cNvSpPr txBox="1">
              <a:spLocks noChangeArrowheads="1"/>
            </p:cNvSpPr>
            <p:nvPr/>
          </p:nvSpPr>
          <p:spPr bwMode="auto">
            <a:xfrm>
              <a:off x="1309" y="3822"/>
              <a:ext cx="1003" cy="28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85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source port: 9157</a:t>
              </a:r>
            </a:p>
            <a:p>
              <a:pPr marL="0" marR="0" lvl="0" indent="0" algn="r" defTabSz="914400" rtl="0" eaLnBrk="0" fontAlgn="base" latinLnBrk="0" hangingPunct="0">
                <a:lnSpc>
                  <a:spcPct val="85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dest port: 6428</a:t>
              </a:r>
            </a:p>
          </p:txBody>
        </p:sp>
      </p:grpSp>
      <p:grpSp>
        <p:nvGrpSpPr>
          <p:cNvPr id="211" name="Group 201">
            <a:extLst>
              <a:ext uri="{FF2B5EF4-FFF2-40B4-BE49-F238E27FC236}">
                <a16:creationId xmlns:a16="http://schemas.microsoft.com/office/drawing/2014/main" id="{C26B3BDC-40D0-554B-BF75-79BA0C664254}"/>
              </a:ext>
            </a:extLst>
          </p:cNvPr>
          <p:cNvGrpSpPr>
            <a:grpSpLocks/>
          </p:cNvGrpSpPr>
          <p:nvPr/>
        </p:nvGrpSpPr>
        <p:grpSpPr bwMode="auto">
          <a:xfrm>
            <a:off x="2999488" y="4960783"/>
            <a:ext cx="1706563" cy="657226"/>
            <a:chOff x="2741" y="3750"/>
            <a:chExt cx="1075" cy="414"/>
          </a:xfrm>
        </p:grpSpPr>
        <p:sp>
          <p:nvSpPr>
            <p:cNvPr id="212" name="Rectangle 198">
              <a:extLst>
                <a:ext uri="{FF2B5EF4-FFF2-40B4-BE49-F238E27FC236}">
                  <a16:creationId xmlns:a16="http://schemas.microsoft.com/office/drawing/2014/main" id="{2AEC7827-74B2-8F4D-A5B2-46F174C8BC7A}"/>
                </a:ext>
              </a:extLst>
            </p:cNvPr>
            <p:cNvSpPr>
              <a:spLocks noChangeArrowheads="1"/>
            </p:cNvSpPr>
            <p:nvPr/>
          </p:nvSpPr>
          <p:spPr bwMode="auto">
            <a:xfrm>
              <a:off x="2859" y="3750"/>
              <a:ext cx="678" cy="138"/>
            </a:xfrm>
            <a:prstGeom prst="rect">
              <a:avLst/>
            </a:prstGeom>
            <a:solidFill>
              <a:srgbClr val="3C6CDF"/>
            </a:solidFill>
            <a:ln w="9525">
              <a:solidFill>
                <a:srgbClr val="000000"/>
              </a:solidFill>
              <a:miter lim="800000"/>
              <a:headEnd/>
              <a:tailEnd/>
            </a:ln>
            <a:effectLst>
              <a:outerShdw blurRad="50800" dist="38100" dir="18900000" algn="bl" rotWithShape="0">
                <a:prstClr val="black">
                  <a:alpha val="40000"/>
                </a:prstClr>
              </a:outerShdw>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13" name="Line 199">
              <a:extLst>
                <a:ext uri="{FF2B5EF4-FFF2-40B4-BE49-F238E27FC236}">
                  <a16:creationId xmlns:a16="http://schemas.microsoft.com/office/drawing/2014/main" id="{51BE463B-088F-174F-AFA2-906D7DEE343D}"/>
                </a:ext>
              </a:extLst>
            </p:cNvPr>
            <p:cNvSpPr>
              <a:spLocks noChangeShapeType="1"/>
            </p:cNvSpPr>
            <p:nvPr/>
          </p:nvSpPr>
          <p:spPr bwMode="auto">
            <a:xfrm flipV="1">
              <a:off x="2741" y="3837"/>
              <a:ext cx="175" cy="0"/>
            </a:xfrm>
            <a:prstGeom prst="line">
              <a:avLst/>
            </a:prstGeom>
            <a:noFill/>
            <a:ln w="38100">
              <a:solidFill>
                <a:srgbClr val="CC0000"/>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14" name="Text Box 200">
              <a:extLst>
                <a:ext uri="{FF2B5EF4-FFF2-40B4-BE49-F238E27FC236}">
                  <a16:creationId xmlns:a16="http://schemas.microsoft.com/office/drawing/2014/main" id="{0F6793CB-ABA9-534D-B627-3241E60849A0}"/>
                </a:ext>
              </a:extLst>
            </p:cNvPr>
            <p:cNvSpPr txBox="1">
              <a:spLocks noChangeArrowheads="1"/>
            </p:cNvSpPr>
            <p:nvPr/>
          </p:nvSpPr>
          <p:spPr bwMode="auto">
            <a:xfrm>
              <a:off x="2813" y="3875"/>
              <a:ext cx="1003" cy="28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85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source port: 6428</a:t>
              </a:r>
            </a:p>
            <a:p>
              <a:pPr marL="0" marR="0" lvl="0" indent="0" algn="l" defTabSz="914400" rtl="0" eaLnBrk="0" fontAlgn="base" latinLnBrk="0" hangingPunct="0">
                <a:lnSpc>
                  <a:spcPct val="85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dest port: 9157</a:t>
              </a:r>
            </a:p>
          </p:txBody>
        </p:sp>
      </p:grpSp>
      <p:grpSp>
        <p:nvGrpSpPr>
          <p:cNvPr id="215" name="Group 202">
            <a:extLst>
              <a:ext uri="{FF2B5EF4-FFF2-40B4-BE49-F238E27FC236}">
                <a16:creationId xmlns:a16="http://schemas.microsoft.com/office/drawing/2014/main" id="{2BA0D7D3-1E9F-874D-9578-106CF426BDAB}"/>
              </a:ext>
            </a:extLst>
          </p:cNvPr>
          <p:cNvGrpSpPr>
            <a:grpSpLocks/>
          </p:cNvGrpSpPr>
          <p:nvPr/>
        </p:nvGrpSpPr>
        <p:grpSpPr bwMode="auto">
          <a:xfrm>
            <a:off x="6023675" y="4960779"/>
            <a:ext cx="1341437" cy="652463"/>
            <a:chOff x="1509" y="3697"/>
            <a:chExt cx="845" cy="411"/>
          </a:xfrm>
        </p:grpSpPr>
        <p:sp>
          <p:nvSpPr>
            <p:cNvPr id="216" name="Rectangle 203">
              <a:extLst>
                <a:ext uri="{FF2B5EF4-FFF2-40B4-BE49-F238E27FC236}">
                  <a16:creationId xmlns:a16="http://schemas.microsoft.com/office/drawing/2014/main" id="{B2A9891A-642F-6D49-A890-0C106C26FAD8}"/>
                </a:ext>
              </a:extLst>
            </p:cNvPr>
            <p:cNvSpPr>
              <a:spLocks noChangeArrowheads="1"/>
            </p:cNvSpPr>
            <p:nvPr/>
          </p:nvSpPr>
          <p:spPr bwMode="auto">
            <a:xfrm>
              <a:off x="1553" y="3697"/>
              <a:ext cx="678" cy="138"/>
            </a:xfrm>
            <a:prstGeom prst="rect">
              <a:avLst/>
            </a:prstGeom>
            <a:solidFill>
              <a:srgbClr val="3C6CDF"/>
            </a:solidFill>
            <a:ln w="9525">
              <a:solidFill>
                <a:srgbClr val="000000"/>
              </a:solidFill>
              <a:miter lim="800000"/>
              <a:headEnd/>
              <a:tailEnd/>
            </a:ln>
            <a:effectLst>
              <a:outerShdw blurRad="50800" dist="38100" dir="13500000" algn="br" rotWithShape="0">
                <a:prstClr val="black">
                  <a:alpha val="40000"/>
                </a:prstClr>
              </a:outerShdw>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17" name="Line 204">
              <a:extLst>
                <a:ext uri="{FF2B5EF4-FFF2-40B4-BE49-F238E27FC236}">
                  <a16:creationId xmlns:a16="http://schemas.microsoft.com/office/drawing/2014/main" id="{521F25C6-A7B0-BD43-AB39-10E85195A07C}"/>
                </a:ext>
              </a:extLst>
            </p:cNvPr>
            <p:cNvSpPr>
              <a:spLocks noChangeShapeType="1"/>
            </p:cNvSpPr>
            <p:nvPr/>
          </p:nvSpPr>
          <p:spPr bwMode="auto">
            <a:xfrm flipV="1">
              <a:off x="2179" y="3770"/>
              <a:ext cx="175" cy="0"/>
            </a:xfrm>
            <a:prstGeom prst="line">
              <a:avLst/>
            </a:prstGeom>
            <a:noFill/>
            <a:ln w="38100">
              <a:solidFill>
                <a:srgbClr val="CC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18" name="Text Box 205">
              <a:extLst>
                <a:ext uri="{FF2B5EF4-FFF2-40B4-BE49-F238E27FC236}">
                  <a16:creationId xmlns:a16="http://schemas.microsoft.com/office/drawing/2014/main" id="{A375B067-6627-F24A-ADAA-564841EB89F9}"/>
                </a:ext>
              </a:extLst>
            </p:cNvPr>
            <p:cNvSpPr txBox="1">
              <a:spLocks noChangeArrowheads="1"/>
            </p:cNvSpPr>
            <p:nvPr/>
          </p:nvSpPr>
          <p:spPr bwMode="auto">
            <a:xfrm>
              <a:off x="1509" y="3822"/>
              <a:ext cx="803" cy="28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85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source port: ?</a:t>
              </a:r>
            </a:p>
            <a:p>
              <a:pPr marL="0" marR="0" lvl="0" indent="0" algn="r" defTabSz="914400" rtl="0" eaLnBrk="0" fontAlgn="base" latinLnBrk="0" hangingPunct="0">
                <a:lnSpc>
                  <a:spcPct val="85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dest port: ?</a:t>
              </a:r>
            </a:p>
          </p:txBody>
        </p:sp>
      </p:grpSp>
      <p:grpSp>
        <p:nvGrpSpPr>
          <p:cNvPr id="219" name="Group 206">
            <a:extLst>
              <a:ext uri="{FF2B5EF4-FFF2-40B4-BE49-F238E27FC236}">
                <a16:creationId xmlns:a16="http://schemas.microsoft.com/office/drawing/2014/main" id="{B5181A21-D7E7-3E42-9344-472D54222757}"/>
              </a:ext>
            </a:extLst>
          </p:cNvPr>
          <p:cNvGrpSpPr>
            <a:grpSpLocks/>
          </p:cNvGrpSpPr>
          <p:nvPr/>
        </p:nvGrpSpPr>
        <p:grpSpPr bwMode="auto">
          <a:xfrm>
            <a:off x="5264850" y="5814854"/>
            <a:ext cx="1389062" cy="652463"/>
            <a:chOff x="2741" y="3750"/>
            <a:chExt cx="875" cy="411"/>
          </a:xfrm>
        </p:grpSpPr>
        <p:sp>
          <p:nvSpPr>
            <p:cNvPr id="220" name="Rectangle 207">
              <a:extLst>
                <a:ext uri="{FF2B5EF4-FFF2-40B4-BE49-F238E27FC236}">
                  <a16:creationId xmlns:a16="http://schemas.microsoft.com/office/drawing/2014/main" id="{92ECB27B-35D3-E94B-A9F9-6AB2E4D0E9A5}"/>
                </a:ext>
              </a:extLst>
            </p:cNvPr>
            <p:cNvSpPr>
              <a:spLocks noChangeArrowheads="1"/>
            </p:cNvSpPr>
            <p:nvPr/>
          </p:nvSpPr>
          <p:spPr bwMode="auto">
            <a:xfrm>
              <a:off x="2859" y="3750"/>
              <a:ext cx="678" cy="138"/>
            </a:xfrm>
            <a:prstGeom prst="rect">
              <a:avLst/>
            </a:prstGeom>
            <a:solidFill>
              <a:srgbClr val="3C6CDF"/>
            </a:solidFill>
            <a:ln w="9525">
              <a:solidFill>
                <a:srgbClr val="000000"/>
              </a:solidFill>
              <a:miter lim="800000"/>
              <a:headEnd/>
              <a:tailEnd/>
            </a:ln>
            <a:effectLst>
              <a:outerShdw blurRad="50800" dist="38100" dir="13500000" algn="br" rotWithShape="0">
                <a:prstClr val="black">
                  <a:alpha val="40000"/>
                </a:prstClr>
              </a:outerShdw>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21" name="Line 208">
              <a:extLst>
                <a:ext uri="{FF2B5EF4-FFF2-40B4-BE49-F238E27FC236}">
                  <a16:creationId xmlns:a16="http://schemas.microsoft.com/office/drawing/2014/main" id="{7683B80C-70E1-9C44-94AD-C7C88A9E0CA6}"/>
                </a:ext>
              </a:extLst>
            </p:cNvPr>
            <p:cNvSpPr>
              <a:spLocks noChangeShapeType="1"/>
            </p:cNvSpPr>
            <p:nvPr/>
          </p:nvSpPr>
          <p:spPr bwMode="auto">
            <a:xfrm flipV="1">
              <a:off x="2741" y="3837"/>
              <a:ext cx="175" cy="0"/>
            </a:xfrm>
            <a:prstGeom prst="line">
              <a:avLst/>
            </a:prstGeom>
            <a:noFill/>
            <a:ln w="38100">
              <a:solidFill>
                <a:srgbClr val="CC0000"/>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22" name="Text Box 209">
              <a:extLst>
                <a:ext uri="{FF2B5EF4-FFF2-40B4-BE49-F238E27FC236}">
                  <a16:creationId xmlns:a16="http://schemas.microsoft.com/office/drawing/2014/main" id="{A346B1BA-6406-6F45-9B45-BAB032C59481}"/>
                </a:ext>
              </a:extLst>
            </p:cNvPr>
            <p:cNvSpPr txBox="1">
              <a:spLocks noChangeArrowheads="1"/>
            </p:cNvSpPr>
            <p:nvPr/>
          </p:nvSpPr>
          <p:spPr bwMode="auto">
            <a:xfrm>
              <a:off x="2813" y="3875"/>
              <a:ext cx="803" cy="28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85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source port: ?</a:t>
              </a:r>
            </a:p>
            <a:p>
              <a:pPr marL="0" marR="0" lvl="0" indent="0" algn="l" defTabSz="914400" rtl="0" eaLnBrk="0" fontAlgn="base" latinLnBrk="0" hangingPunct="0">
                <a:lnSpc>
                  <a:spcPct val="85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dest port: ?</a:t>
              </a:r>
            </a:p>
          </p:txBody>
        </p:sp>
      </p:grpSp>
      <p:grpSp>
        <p:nvGrpSpPr>
          <p:cNvPr id="223" name="Group 214">
            <a:extLst>
              <a:ext uri="{FF2B5EF4-FFF2-40B4-BE49-F238E27FC236}">
                <a16:creationId xmlns:a16="http://schemas.microsoft.com/office/drawing/2014/main" id="{E39C7ED5-8B2C-DE4F-80CB-990D1AA7B49F}"/>
              </a:ext>
            </a:extLst>
          </p:cNvPr>
          <p:cNvGrpSpPr>
            <a:grpSpLocks/>
          </p:cNvGrpSpPr>
          <p:nvPr/>
        </p:nvGrpSpPr>
        <p:grpSpPr bwMode="auto">
          <a:xfrm>
            <a:off x="570612" y="4452779"/>
            <a:ext cx="711200" cy="669925"/>
            <a:chOff x="-44" y="1473"/>
            <a:chExt cx="981" cy="1105"/>
          </a:xfrm>
        </p:grpSpPr>
        <p:pic>
          <p:nvPicPr>
            <p:cNvPr id="224" name="Picture 215" descr="desktop_computer_stylized_medium">
              <a:extLst>
                <a:ext uri="{FF2B5EF4-FFF2-40B4-BE49-F238E27FC236}">
                  <a16:creationId xmlns:a16="http://schemas.microsoft.com/office/drawing/2014/main" id="{E6F7AF8C-6139-A44A-B799-9DB1A49382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25" name="Freeform 216">
              <a:extLst>
                <a:ext uri="{FF2B5EF4-FFF2-40B4-BE49-F238E27FC236}">
                  <a16:creationId xmlns:a16="http://schemas.microsoft.com/office/drawing/2014/main" id="{E7BE33D7-3BA9-1847-9AD9-95F7E1DEA0D8}"/>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226" name="Group 217">
            <a:extLst>
              <a:ext uri="{FF2B5EF4-FFF2-40B4-BE49-F238E27FC236}">
                <a16:creationId xmlns:a16="http://schemas.microsoft.com/office/drawing/2014/main" id="{ECE9DF28-DF72-7544-9229-870F2565D5F7}"/>
              </a:ext>
            </a:extLst>
          </p:cNvPr>
          <p:cNvGrpSpPr>
            <a:grpSpLocks/>
          </p:cNvGrpSpPr>
          <p:nvPr/>
        </p:nvGrpSpPr>
        <p:grpSpPr bwMode="auto">
          <a:xfrm flipH="1">
            <a:off x="8839900" y="4576604"/>
            <a:ext cx="711200" cy="669925"/>
            <a:chOff x="-44" y="1473"/>
            <a:chExt cx="981" cy="1105"/>
          </a:xfrm>
        </p:grpSpPr>
        <p:pic>
          <p:nvPicPr>
            <p:cNvPr id="227" name="Picture 218" descr="desktop_computer_stylized_medium">
              <a:extLst>
                <a:ext uri="{FF2B5EF4-FFF2-40B4-BE49-F238E27FC236}">
                  <a16:creationId xmlns:a16="http://schemas.microsoft.com/office/drawing/2014/main" id="{AAE1CD7B-71E4-DA44-B3BA-A6BCDDB83A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28" name="Freeform 219">
              <a:extLst>
                <a:ext uri="{FF2B5EF4-FFF2-40B4-BE49-F238E27FC236}">
                  <a16:creationId xmlns:a16="http://schemas.microsoft.com/office/drawing/2014/main" id="{E273E05C-F934-1B44-AA55-C146C99BC60F}"/>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229" name="Group 220">
            <a:extLst>
              <a:ext uri="{FF2B5EF4-FFF2-40B4-BE49-F238E27FC236}">
                <a16:creationId xmlns:a16="http://schemas.microsoft.com/office/drawing/2014/main" id="{4338C4B1-DA10-CF42-9E12-96B6998CDA7B}"/>
              </a:ext>
            </a:extLst>
          </p:cNvPr>
          <p:cNvGrpSpPr>
            <a:grpSpLocks/>
          </p:cNvGrpSpPr>
          <p:nvPr/>
        </p:nvGrpSpPr>
        <p:grpSpPr bwMode="auto">
          <a:xfrm>
            <a:off x="3663062" y="3974942"/>
            <a:ext cx="358775" cy="704850"/>
            <a:chOff x="4140" y="429"/>
            <a:chExt cx="1425" cy="2396"/>
          </a:xfrm>
        </p:grpSpPr>
        <p:sp>
          <p:nvSpPr>
            <p:cNvPr id="230" name="Freeform 221">
              <a:extLst>
                <a:ext uri="{FF2B5EF4-FFF2-40B4-BE49-F238E27FC236}">
                  <a16:creationId xmlns:a16="http://schemas.microsoft.com/office/drawing/2014/main" id="{72E2375B-D2CD-524D-99CC-9AA1332B0E2C}"/>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31" name="Rectangle 222">
              <a:extLst>
                <a:ext uri="{FF2B5EF4-FFF2-40B4-BE49-F238E27FC236}">
                  <a16:creationId xmlns:a16="http://schemas.microsoft.com/office/drawing/2014/main" id="{9A46A85F-576F-5549-8CE1-4D6375E6E22B}"/>
                </a:ext>
              </a:extLst>
            </p:cNvPr>
            <p:cNvSpPr>
              <a:spLocks noChangeArrowheads="1"/>
            </p:cNvSpPr>
            <p:nvPr/>
          </p:nvSpPr>
          <p:spPr bwMode="auto">
            <a:xfrm>
              <a:off x="4203" y="429"/>
              <a:ext cx="1053" cy="2283"/>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32" name="Freeform 223">
              <a:extLst>
                <a:ext uri="{FF2B5EF4-FFF2-40B4-BE49-F238E27FC236}">
                  <a16:creationId xmlns:a16="http://schemas.microsoft.com/office/drawing/2014/main" id="{2AC2D8E6-5479-B547-832A-A4D633663DE8}"/>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33" name="Freeform 224">
              <a:extLst>
                <a:ext uri="{FF2B5EF4-FFF2-40B4-BE49-F238E27FC236}">
                  <a16:creationId xmlns:a16="http://schemas.microsoft.com/office/drawing/2014/main" id="{F5154C64-E9B4-9B4B-ADCB-BF7CEFAA6EDD}"/>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34" name="Rectangle 225">
              <a:extLst>
                <a:ext uri="{FF2B5EF4-FFF2-40B4-BE49-F238E27FC236}">
                  <a16:creationId xmlns:a16="http://schemas.microsoft.com/office/drawing/2014/main" id="{20BD3C08-A36B-8C47-A9E1-98E61BCD2361}"/>
                </a:ext>
              </a:extLst>
            </p:cNvPr>
            <p:cNvSpPr>
              <a:spLocks noChangeArrowheads="1"/>
            </p:cNvSpPr>
            <p:nvPr/>
          </p:nvSpPr>
          <p:spPr bwMode="auto">
            <a:xfrm>
              <a:off x="4209" y="693"/>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235" name="Group 226">
              <a:extLst>
                <a:ext uri="{FF2B5EF4-FFF2-40B4-BE49-F238E27FC236}">
                  <a16:creationId xmlns:a16="http://schemas.microsoft.com/office/drawing/2014/main" id="{BA9CB11E-6522-2A4E-B926-6BB8F2D61B29}"/>
                </a:ext>
              </a:extLst>
            </p:cNvPr>
            <p:cNvGrpSpPr>
              <a:grpSpLocks/>
            </p:cNvGrpSpPr>
            <p:nvPr/>
          </p:nvGrpSpPr>
          <p:grpSpPr bwMode="auto">
            <a:xfrm>
              <a:off x="4749" y="668"/>
              <a:ext cx="581" cy="145"/>
              <a:chOff x="614" y="2568"/>
              <a:chExt cx="725" cy="139"/>
            </a:xfrm>
          </p:grpSpPr>
          <p:sp>
            <p:nvSpPr>
              <p:cNvPr id="260" name="AutoShape 227">
                <a:extLst>
                  <a:ext uri="{FF2B5EF4-FFF2-40B4-BE49-F238E27FC236}">
                    <a16:creationId xmlns:a16="http://schemas.microsoft.com/office/drawing/2014/main" id="{A66F61C7-D146-2444-9233-EEEFDA6DB534}"/>
                  </a:ext>
                </a:extLst>
              </p:cNvPr>
              <p:cNvSpPr>
                <a:spLocks noChangeArrowheads="1"/>
              </p:cNvSpPr>
              <p:nvPr/>
            </p:nvSpPr>
            <p:spPr bwMode="auto">
              <a:xfrm>
                <a:off x="617" y="2567"/>
                <a:ext cx="724"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61" name="AutoShape 228">
                <a:extLst>
                  <a:ext uri="{FF2B5EF4-FFF2-40B4-BE49-F238E27FC236}">
                    <a16:creationId xmlns:a16="http://schemas.microsoft.com/office/drawing/2014/main" id="{C237943C-1D9E-C340-92B4-E279FE5EB9A1}"/>
                  </a:ext>
                </a:extLst>
              </p:cNvPr>
              <p:cNvSpPr>
                <a:spLocks noChangeArrowheads="1"/>
              </p:cNvSpPr>
              <p:nvPr/>
            </p:nvSpPr>
            <p:spPr bwMode="auto">
              <a:xfrm>
                <a:off x="633" y="2582"/>
                <a:ext cx="692"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236" name="Rectangle 229">
              <a:extLst>
                <a:ext uri="{FF2B5EF4-FFF2-40B4-BE49-F238E27FC236}">
                  <a16:creationId xmlns:a16="http://schemas.microsoft.com/office/drawing/2014/main" id="{C81D6CA2-B425-4946-AE7A-8E40C0836516}"/>
                </a:ext>
              </a:extLst>
            </p:cNvPr>
            <p:cNvSpPr>
              <a:spLocks noChangeArrowheads="1"/>
            </p:cNvSpPr>
            <p:nvPr/>
          </p:nvSpPr>
          <p:spPr bwMode="auto">
            <a:xfrm>
              <a:off x="4222" y="1017"/>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237" name="Group 230">
              <a:extLst>
                <a:ext uri="{FF2B5EF4-FFF2-40B4-BE49-F238E27FC236}">
                  <a16:creationId xmlns:a16="http://schemas.microsoft.com/office/drawing/2014/main" id="{E1CF8BC0-EDFE-2A4B-A9FD-D7352BEF920B}"/>
                </a:ext>
              </a:extLst>
            </p:cNvPr>
            <p:cNvGrpSpPr>
              <a:grpSpLocks/>
            </p:cNvGrpSpPr>
            <p:nvPr/>
          </p:nvGrpSpPr>
          <p:grpSpPr bwMode="auto">
            <a:xfrm>
              <a:off x="4747" y="994"/>
              <a:ext cx="581" cy="134"/>
              <a:chOff x="614" y="2568"/>
              <a:chExt cx="725" cy="139"/>
            </a:xfrm>
          </p:grpSpPr>
          <p:sp>
            <p:nvSpPr>
              <p:cNvPr id="258" name="AutoShape 231">
                <a:extLst>
                  <a:ext uri="{FF2B5EF4-FFF2-40B4-BE49-F238E27FC236}">
                    <a16:creationId xmlns:a16="http://schemas.microsoft.com/office/drawing/2014/main" id="{0A9026E3-01D2-A044-85D9-3C22E36B944E}"/>
                  </a:ext>
                </a:extLst>
              </p:cNvPr>
              <p:cNvSpPr>
                <a:spLocks noChangeArrowheads="1"/>
              </p:cNvSpPr>
              <p:nvPr/>
            </p:nvSpPr>
            <p:spPr bwMode="auto">
              <a:xfrm>
                <a:off x="612" y="2570"/>
                <a:ext cx="724" cy="162"/>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59" name="AutoShape 232">
                <a:extLst>
                  <a:ext uri="{FF2B5EF4-FFF2-40B4-BE49-F238E27FC236}">
                    <a16:creationId xmlns:a16="http://schemas.microsoft.com/office/drawing/2014/main" id="{89380DF0-55D0-544B-ABE2-D6ADD8851B2B}"/>
                  </a:ext>
                </a:extLst>
              </p:cNvPr>
              <p:cNvSpPr>
                <a:spLocks noChangeArrowheads="1"/>
              </p:cNvSpPr>
              <p:nvPr/>
            </p:nvSpPr>
            <p:spPr bwMode="auto">
              <a:xfrm>
                <a:off x="628" y="2586"/>
                <a:ext cx="692"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238" name="Rectangle 233">
              <a:extLst>
                <a:ext uri="{FF2B5EF4-FFF2-40B4-BE49-F238E27FC236}">
                  <a16:creationId xmlns:a16="http://schemas.microsoft.com/office/drawing/2014/main" id="{DF34371F-6EF2-844A-9475-6B8ECC1E25C3}"/>
                </a:ext>
              </a:extLst>
            </p:cNvPr>
            <p:cNvSpPr>
              <a:spLocks noChangeArrowheads="1"/>
            </p:cNvSpPr>
            <p:nvPr/>
          </p:nvSpPr>
          <p:spPr bwMode="auto">
            <a:xfrm>
              <a:off x="4216" y="1357"/>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39" name="Rectangle 234">
              <a:extLst>
                <a:ext uri="{FF2B5EF4-FFF2-40B4-BE49-F238E27FC236}">
                  <a16:creationId xmlns:a16="http://schemas.microsoft.com/office/drawing/2014/main" id="{7BF59601-B231-7F4D-B6B7-74CA58AE9412}"/>
                </a:ext>
              </a:extLst>
            </p:cNvPr>
            <p:cNvSpPr>
              <a:spLocks noChangeArrowheads="1"/>
            </p:cNvSpPr>
            <p:nvPr/>
          </p:nvSpPr>
          <p:spPr bwMode="auto">
            <a:xfrm>
              <a:off x="4228" y="1654"/>
              <a:ext cx="593"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240" name="Group 235">
              <a:extLst>
                <a:ext uri="{FF2B5EF4-FFF2-40B4-BE49-F238E27FC236}">
                  <a16:creationId xmlns:a16="http://schemas.microsoft.com/office/drawing/2014/main" id="{653CAD17-3E1A-0A44-BF50-DB027FAD871F}"/>
                </a:ext>
              </a:extLst>
            </p:cNvPr>
            <p:cNvGrpSpPr>
              <a:grpSpLocks/>
            </p:cNvGrpSpPr>
            <p:nvPr/>
          </p:nvGrpSpPr>
          <p:grpSpPr bwMode="auto">
            <a:xfrm>
              <a:off x="4735" y="1627"/>
              <a:ext cx="582" cy="151"/>
              <a:chOff x="614" y="2568"/>
              <a:chExt cx="725" cy="139"/>
            </a:xfrm>
          </p:grpSpPr>
          <p:sp>
            <p:nvSpPr>
              <p:cNvPr id="256" name="AutoShape 236">
                <a:extLst>
                  <a:ext uri="{FF2B5EF4-FFF2-40B4-BE49-F238E27FC236}">
                    <a16:creationId xmlns:a16="http://schemas.microsoft.com/office/drawing/2014/main" id="{2AB347AE-B389-704D-8A3A-F1B0478B7030}"/>
                  </a:ext>
                </a:extLst>
              </p:cNvPr>
              <p:cNvSpPr>
                <a:spLocks noChangeArrowheads="1"/>
              </p:cNvSpPr>
              <p:nvPr/>
            </p:nvSpPr>
            <p:spPr bwMode="auto">
              <a:xfrm>
                <a:off x="611" y="2568"/>
                <a:ext cx="730" cy="139"/>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57" name="AutoShape 237">
                <a:extLst>
                  <a:ext uri="{FF2B5EF4-FFF2-40B4-BE49-F238E27FC236}">
                    <a16:creationId xmlns:a16="http://schemas.microsoft.com/office/drawing/2014/main" id="{F96FEA1E-5620-D24E-93C8-5E69D78BD082}"/>
                  </a:ext>
                </a:extLst>
              </p:cNvPr>
              <p:cNvSpPr>
                <a:spLocks noChangeArrowheads="1"/>
              </p:cNvSpPr>
              <p:nvPr/>
            </p:nvSpPr>
            <p:spPr bwMode="auto">
              <a:xfrm>
                <a:off x="627" y="2583"/>
                <a:ext cx="699"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241" name="Freeform 238">
              <a:extLst>
                <a:ext uri="{FF2B5EF4-FFF2-40B4-BE49-F238E27FC236}">
                  <a16:creationId xmlns:a16="http://schemas.microsoft.com/office/drawing/2014/main" id="{84910C8E-8844-DE49-A1A3-762F8BB12AFA}"/>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242" name="Group 239">
              <a:extLst>
                <a:ext uri="{FF2B5EF4-FFF2-40B4-BE49-F238E27FC236}">
                  <a16:creationId xmlns:a16="http://schemas.microsoft.com/office/drawing/2014/main" id="{BBBD2321-95AE-9C40-B018-8ECE1F278C87}"/>
                </a:ext>
              </a:extLst>
            </p:cNvPr>
            <p:cNvGrpSpPr>
              <a:grpSpLocks/>
            </p:cNvGrpSpPr>
            <p:nvPr/>
          </p:nvGrpSpPr>
          <p:grpSpPr bwMode="auto">
            <a:xfrm>
              <a:off x="4739" y="1327"/>
              <a:ext cx="582" cy="139"/>
              <a:chOff x="614" y="2568"/>
              <a:chExt cx="725" cy="139"/>
            </a:xfrm>
          </p:grpSpPr>
          <p:sp>
            <p:nvSpPr>
              <p:cNvPr id="254" name="AutoShape 240">
                <a:extLst>
                  <a:ext uri="{FF2B5EF4-FFF2-40B4-BE49-F238E27FC236}">
                    <a16:creationId xmlns:a16="http://schemas.microsoft.com/office/drawing/2014/main" id="{5F0A8B0F-BFF3-D645-8BC2-E03084A73592}"/>
                  </a:ext>
                </a:extLst>
              </p:cNvPr>
              <p:cNvSpPr>
                <a:spLocks noChangeArrowheads="1"/>
              </p:cNvSpPr>
              <p:nvPr/>
            </p:nvSpPr>
            <p:spPr bwMode="auto">
              <a:xfrm>
                <a:off x="614" y="2566"/>
                <a:ext cx="723"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55" name="AutoShape 241">
                <a:extLst>
                  <a:ext uri="{FF2B5EF4-FFF2-40B4-BE49-F238E27FC236}">
                    <a16:creationId xmlns:a16="http://schemas.microsoft.com/office/drawing/2014/main" id="{F04409C4-53CF-1E47-924D-AAE899D78D5A}"/>
                  </a:ext>
                </a:extLst>
              </p:cNvPr>
              <p:cNvSpPr>
                <a:spLocks noChangeArrowheads="1"/>
              </p:cNvSpPr>
              <p:nvPr/>
            </p:nvSpPr>
            <p:spPr bwMode="auto">
              <a:xfrm>
                <a:off x="630" y="2582"/>
                <a:ext cx="691"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243" name="Rectangle 242">
              <a:extLst>
                <a:ext uri="{FF2B5EF4-FFF2-40B4-BE49-F238E27FC236}">
                  <a16:creationId xmlns:a16="http://schemas.microsoft.com/office/drawing/2014/main" id="{B79FB686-7827-8648-B573-39D9BD56AEA5}"/>
                </a:ext>
              </a:extLst>
            </p:cNvPr>
            <p:cNvSpPr>
              <a:spLocks noChangeArrowheads="1"/>
            </p:cNvSpPr>
            <p:nvPr/>
          </p:nvSpPr>
          <p:spPr bwMode="auto">
            <a:xfrm>
              <a:off x="5250" y="429"/>
              <a:ext cx="69" cy="2288"/>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44" name="Freeform 243">
              <a:extLst>
                <a:ext uri="{FF2B5EF4-FFF2-40B4-BE49-F238E27FC236}">
                  <a16:creationId xmlns:a16="http://schemas.microsoft.com/office/drawing/2014/main" id="{FDD2EBD5-F1D6-1A40-89DB-A8C30D93187D}"/>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45" name="Freeform 244">
              <a:extLst>
                <a:ext uri="{FF2B5EF4-FFF2-40B4-BE49-F238E27FC236}">
                  <a16:creationId xmlns:a16="http://schemas.microsoft.com/office/drawing/2014/main" id="{CE0C4D67-AE5D-BA4D-8695-DB491DDD2F0B}"/>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46" name="Oval 245">
              <a:extLst>
                <a:ext uri="{FF2B5EF4-FFF2-40B4-BE49-F238E27FC236}">
                  <a16:creationId xmlns:a16="http://schemas.microsoft.com/office/drawing/2014/main" id="{F37BD5E1-82F5-4442-A0E8-832E39193FEE}"/>
                </a:ext>
              </a:extLst>
            </p:cNvPr>
            <p:cNvSpPr>
              <a:spLocks noChangeArrowheads="1"/>
            </p:cNvSpPr>
            <p:nvPr/>
          </p:nvSpPr>
          <p:spPr bwMode="auto">
            <a:xfrm>
              <a:off x="5515" y="2609"/>
              <a:ext cx="50" cy="97"/>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47" name="Freeform 246">
              <a:extLst>
                <a:ext uri="{FF2B5EF4-FFF2-40B4-BE49-F238E27FC236}">
                  <a16:creationId xmlns:a16="http://schemas.microsoft.com/office/drawing/2014/main" id="{65CB1E0E-0881-3D44-874F-DFDC02FDDF75}"/>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48" name="AutoShape 247">
              <a:extLst>
                <a:ext uri="{FF2B5EF4-FFF2-40B4-BE49-F238E27FC236}">
                  <a16:creationId xmlns:a16="http://schemas.microsoft.com/office/drawing/2014/main" id="{6DADA001-6CFD-B446-972E-A78724803E36}"/>
                </a:ext>
              </a:extLst>
            </p:cNvPr>
            <p:cNvSpPr>
              <a:spLocks noChangeArrowheads="1"/>
            </p:cNvSpPr>
            <p:nvPr/>
          </p:nvSpPr>
          <p:spPr bwMode="auto">
            <a:xfrm>
              <a:off x="4140" y="2679"/>
              <a:ext cx="1198"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49" name="AutoShape 248">
              <a:extLst>
                <a:ext uri="{FF2B5EF4-FFF2-40B4-BE49-F238E27FC236}">
                  <a16:creationId xmlns:a16="http://schemas.microsoft.com/office/drawing/2014/main" id="{3A9F1280-193F-A148-B533-A4E2BCD4EE1D}"/>
                </a:ext>
              </a:extLst>
            </p:cNvPr>
            <p:cNvSpPr>
              <a:spLocks noChangeArrowheads="1"/>
            </p:cNvSpPr>
            <p:nvPr/>
          </p:nvSpPr>
          <p:spPr bwMode="auto">
            <a:xfrm>
              <a:off x="4203" y="2712"/>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50" name="Oval 249">
              <a:extLst>
                <a:ext uri="{FF2B5EF4-FFF2-40B4-BE49-F238E27FC236}">
                  <a16:creationId xmlns:a16="http://schemas.microsoft.com/office/drawing/2014/main" id="{64151D18-1A99-BB43-8662-5409F09FC644}"/>
                </a:ext>
              </a:extLst>
            </p:cNvPr>
            <p:cNvSpPr>
              <a:spLocks noChangeArrowheads="1"/>
            </p:cNvSpPr>
            <p:nvPr/>
          </p:nvSpPr>
          <p:spPr bwMode="auto">
            <a:xfrm>
              <a:off x="4310" y="2382"/>
              <a:ext cx="158" cy="146"/>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51" name="Oval 250">
              <a:extLst>
                <a:ext uri="{FF2B5EF4-FFF2-40B4-BE49-F238E27FC236}">
                  <a16:creationId xmlns:a16="http://schemas.microsoft.com/office/drawing/2014/main" id="{86E3B505-373D-FA41-AC57-224E553E6727}"/>
                </a:ext>
              </a:extLst>
            </p:cNvPr>
            <p:cNvSpPr>
              <a:spLocks noChangeArrowheads="1"/>
            </p:cNvSpPr>
            <p:nvPr/>
          </p:nvSpPr>
          <p:spPr bwMode="auto">
            <a:xfrm>
              <a:off x="4487" y="2382"/>
              <a:ext cx="158" cy="146"/>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0000"/>
                </a:solidFill>
                <a:effectLst/>
                <a:uLnTx/>
                <a:uFillTx/>
                <a:latin typeface="Arial" charset="0"/>
                <a:ea typeface="ＭＳ Ｐゴシック" charset="0"/>
                <a:cs typeface="Arial" charset="0"/>
              </a:endParaRPr>
            </a:p>
          </p:txBody>
        </p:sp>
        <p:sp>
          <p:nvSpPr>
            <p:cNvPr id="252" name="Oval 251">
              <a:extLst>
                <a:ext uri="{FF2B5EF4-FFF2-40B4-BE49-F238E27FC236}">
                  <a16:creationId xmlns:a16="http://schemas.microsoft.com/office/drawing/2014/main" id="{3E492A9C-D2EF-444F-9F40-D87F1FF8E812}"/>
                </a:ext>
              </a:extLst>
            </p:cNvPr>
            <p:cNvSpPr>
              <a:spLocks noChangeArrowheads="1"/>
            </p:cNvSpPr>
            <p:nvPr/>
          </p:nvSpPr>
          <p:spPr bwMode="auto">
            <a:xfrm>
              <a:off x="4663" y="2382"/>
              <a:ext cx="158" cy="140"/>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53" name="Rectangle 252">
              <a:extLst>
                <a:ext uri="{FF2B5EF4-FFF2-40B4-BE49-F238E27FC236}">
                  <a16:creationId xmlns:a16="http://schemas.microsoft.com/office/drawing/2014/main" id="{B30ABD37-057E-DC41-B1A5-29A2C4236031}"/>
                </a:ext>
              </a:extLst>
            </p:cNvPr>
            <p:cNvSpPr>
              <a:spLocks noChangeArrowheads="1"/>
            </p:cNvSpPr>
            <p:nvPr/>
          </p:nvSpPr>
          <p:spPr bwMode="auto">
            <a:xfrm>
              <a:off x="5061" y="1837"/>
              <a:ext cx="88" cy="761"/>
            </a:xfrm>
            <a:prstGeom prst="rect">
              <a:avLst/>
            </a:prstGeom>
            <a:solidFill>
              <a:srgbClr val="29292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5" name="TextBox 4">
            <a:extLst>
              <a:ext uri="{FF2B5EF4-FFF2-40B4-BE49-F238E27FC236}">
                <a16:creationId xmlns:a16="http://schemas.microsoft.com/office/drawing/2014/main" id="{8F71DBCB-192B-CC42-80BF-FB60B27D1133}"/>
              </a:ext>
            </a:extLst>
          </p:cNvPr>
          <p:cNvSpPr txBox="1"/>
          <p:nvPr/>
        </p:nvSpPr>
        <p:spPr>
          <a:xfrm>
            <a:off x="2454855" y="5768595"/>
            <a:ext cx="317716" cy="369332"/>
          </a:xfrm>
          <a:prstGeom prst="rect">
            <a:avLst/>
          </a:prstGeom>
          <a:noFill/>
        </p:spPr>
        <p:txBody>
          <a:bodyPr wrap="none" rtlCol="0">
            <a:spAutoFit/>
          </a:bodyPr>
          <a:lstStyle/>
          <a:p>
            <a:r>
              <a:rPr lang="en-US" dirty="0">
                <a:solidFill>
                  <a:schemeClr val="bg1"/>
                </a:solidFill>
              </a:rPr>
              <a:t>A</a:t>
            </a:r>
          </a:p>
        </p:txBody>
      </p:sp>
      <p:sp>
        <p:nvSpPr>
          <p:cNvPr id="131" name="TextBox 130">
            <a:extLst>
              <a:ext uri="{FF2B5EF4-FFF2-40B4-BE49-F238E27FC236}">
                <a16:creationId xmlns:a16="http://schemas.microsoft.com/office/drawing/2014/main" id="{B7AFE08E-CB17-6F42-9518-20370F3483F4}"/>
              </a:ext>
            </a:extLst>
          </p:cNvPr>
          <p:cNvSpPr txBox="1"/>
          <p:nvPr/>
        </p:nvSpPr>
        <p:spPr>
          <a:xfrm>
            <a:off x="3583300" y="4893579"/>
            <a:ext cx="317716" cy="369332"/>
          </a:xfrm>
          <a:prstGeom prst="rect">
            <a:avLst/>
          </a:prstGeom>
          <a:noFill/>
        </p:spPr>
        <p:txBody>
          <a:bodyPr wrap="none" rtlCol="0">
            <a:spAutoFit/>
          </a:bodyPr>
          <a:lstStyle/>
          <a:p>
            <a:r>
              <a:rPr lang="en-US" dirty="0">
                <a:solidFill>
                  <a:schemeClr val="bg1"/>
                </a:solidFill>
              </a:rPr>
              <a:t>B</a:t>
            </a:r>
          </a:p>
        </p:txBody>
      </p:sp>
      <p:sp>
        <p:nvSpPr>
          <p:cNvPr id="132" name="TextBox 131">
            <a:extLst>
              <a:ext uri="{FF2B5EF4-FFF2-40B4-BE49-F238E27FC236}">
                <a16:creationId xmlns:a16="http://schemas.microsoft.com/office/drawing/2014/main" id="{4D37FF6A-48D3-AE49-82AD-DF5CE9A2542A}"/>
              </a:ext>
            </a:extLst>
          </p:cNvPr>
          <p:cNvSpPr txBox="1"/>
          <p:nvPr/>
        </p:nvSpPr>
        <p:spPr>
          <a:xfrm>
            <a:off x="5862451" y="5744622"/>
            <a:ext cx="317716" cy="369332"/>
          </a:xfrm>
          <a:prstGeom prst="rect">
            <a:avLst/>
          </a:prstGeom>
          <a:noFill/>
        </p:spPr>
        <p:txBody>
          <a:bodyPr wrap="none" rtlCol="0">
            <a:spAutoFit/>
          </a:bodyPr>
          <a:lstStyle/>
          <a:p>
            <a:r>
              <a:rPr lang="en-US" dirty="0">
                <a:solidFill>
                  <a:schemeClr val="bg1"/>
                </a:solidFill>
              </a:rPr>
              <a:t>C</a:t>
            </a:r>
          </a:p>
        </p:txBody>
      </p:sp>
      <p:sp>
        <p:nvSpPr>
          <p:cNvPr id="133" name="TextBox 132">
            <a:extLst>
              <a:ext uri="{FF2B5EF4-FFF2-40B4-BE49-F238E27FC236}">
                <a16:creationId xmlns:a16="http://schemas.microsoft.com/office/drawing/2014/main" id="{5C3F8F57-1EC3-A444-90B5-A9967EAA485D}"/>
              </a:ext>
            </a:extLst>
          </p:cNvPr>
          <p:cNvSpPr txBox="1"/>
          <p:nvPr/>
        </p:nvSpPr>
        <p:spPr>
          <a:xfrm>
            <a:off x="6456640" y="4890155"/>
            <a:ext cx="327334" cy="369332"/>
          </a:xfrm>
          <a:prstGeom prst="rect">
            <a:avLst/>
          </a:prstGeom>
          <a:noFill/>
        </p:spPr>
        <p:txBody>
          <a:bodyPr wrap="none" rtlCol="0">
            <a:spAutoFit/>
          </a:bodyPr>
          <a:lstStyle/>
          <a:p>
            <a:r>
              <a:rPr lang="en-US" dirty="0">
                <a:solidFill>
                  <a:schemeClr val="bg1"/>
                </a:solidFill>
              </a:rPr>
              <a:t>D</a:t>
            </a:r>
          </a:p>
        </p:txBody>
      </p:sp>
      <p:sp>
        <p:nvSpPr>
          <p:cNvPr id="127" name="Rectangle 174">
            <a:extLst>
              <a:ext uri="{FF2B5EF4-FFF2-40B4-BE49-F238E27FC236}">
                <a16:creationId xmlns:a16="http://schemas.microsoft.com/office/drawing/2014/main" id="{F1B64B39-C299-EC44-8493-F36F1F2A8CD8}"/>
              </a:ext>
            </a:extLst>
          </p:cNvPr>
          <p:cNvSpPr>
            <a:spLocks noChangeArrowheads="1"/>
          </p:cNvSpPr>
          <p:nvPr/>
        </p:nvSpPr>
        <p:spPr bwMode="auto">
          <a:xfrm>
            <a:off x="6535694" y="2038937"/>
            <a:ext cx="3906061" cy="96284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115888" lvl="0" indent="-115888" eaLnBrk="0" fontAlgn="base" hangingPunct="0">
              <a:lnSpc>
                <a:spcPct val="85000"/>
              </a:lnSpc>
              <a:spcBef>
                <a:spcPct val="20000"/>
              </a:spcBef>
              <a:spcAft>
                <a:spcPct val="0"/>
              </a:spcAft>
              <a:buClr>
                <a:srgbClr val="000099"/>
              </a:buClr>
              <a:buSzPct val="65000"/>
              <a:defRPr/>
            </a:pPr>
            <a:r>
              <a:rPr lang="en-US" sz="1600" b="1" dirty="0">
                <a:solidFill>
                  <a:srgbClr val="000000"/>
                </a:solidFill>
                <a:latin typeface="Courier New" charset="0"/>
                <a:ea typeface="ＭＳ Ｐゴシック" charset="0"/>
              </a:rPr>
              <a:t>mySocket = socket(AF_INET,SOCK_DGRAM)</a:t>
            </a:r>
          </a:p>
          <a:p>
            <a:pPr marL="115888" lvl="0" indent="-115888" eaLnBrk="0" fontAlgn="base" hangingPunct="0">
              <a:lnSpc>
                <a:spcPct val="85000"/>
              </a:lnSpc>
              <a:spcBef>
                <a:spcPct val="20000"/>
              </a:spcBef>
              <a:spcAft>
                <a:spcPct val="0"/>
              </a:spcAft>
              <a:buClr>
                <a:srgbClr val="000099"/>
              </a:buClr>
              <a:buSzPct val="65000"/>
              <a:defRPr/>
            </a:pPr>
            <a:r>
              <a:rPr lang="en-US" sz="1600" b="1" dirty="0">
                <a:solidFill>
                  <a:srgbClr val="000000"/>
                </a:solidFill>
                <a:latin typeface="Courier New" charset="0"/>
                <a:ea typeface="ＭＳ Ｐゴシック" charset="0"/>
              </a:rPr>
              <a:t>mySocket.bind(myaddr,</a:t>
            </a:r>
            <a:r>
              <a:rPr lang="en-US" sz="1600" b="1" dirty="0">
                <a:solidFill>
                  <a:srgbClr val="C00000"/>
                </a:solidFill>
                <a:latin typeface="Courier New" charset="0"/>
                <a:ea typeface="ＭＳ Ｐゴシック" charset="0"/>
              </a:rPr>
              <a:t>5775</a:t>
            </a:r>
            <a:r>
              <a:rPr lang="en-US" sz="1600" b="1" dirty="0">
                <a:solidFill>
                  <a:srgbClr val="000000"/>
                </a:solidFill>
                <a:latin typeface="Courier New" charset="0"/>
                <a:ea typeface="ＭＳ Ｐゴシック" charset="0"/>
              </a:rPr>
              <a:t>);</a:t>
            </a:r>
          </a:p>
          <a:p>
            <a:pPr marL="115888" marR="0" lvl="0" indent="-115888" algn="l" defTabSz="914400" rtl="0" eaLnBrk="0" fontAlgn="base" latinLnBrk="0" hangingPunct="0">
              <a:lnSpc>
                <a:spcPct val="85000"/>
              </a:lnSpc>
              <a:spcBef>
                <a:spcPct val="20000"/>
              </a:spcBef>
              <a:spcAft>
                <a:spcPct val="0"/>
              </a:spcAft>
              <a:buClr>
                <a:srgbClr val="000099"/>
              </a:buClr>
              <a:buSzPct val="65000"/>
              <a:buFont typeface="Wingdings" charset="0"/>
              <a:buNone/>
              <a:tabLst/>
              <a:defRPr/>
            </a:pPr>
            <a:endParaRPr kumimoji="0" lang="en-US" sz="2000" b="0" i="0" u="none" strike="noStrike" kern="1200" cap="none" spc="0" normalizeH="0" baseline="0" noProof="0" dirty="0">
              <a:ln>
                <a:noFill/>
              </a:ln>
              <a:solidFill>
                <a:srgbClr val="000000"/>
              </a:solidFill>
              <a:effectLst/>
              <a:uLnTx/>
              <a:uFillTx/>
              <a:latin typeface="Courier New" charset="0"/>
              <a:ea typeface="ＭＳ Ｐゴシック" charset="0"/>
              <a:cs typeface="+mn-cs"/>
            </a:endParaRPr>
          </a:p>
        </p:txBody>
      </p:sp>
      <p:sp>
        <p:nvSpPr>
          <p:cNvPr id="128" name="Rectangle 174">
            <a:extLst>
              <a:ext uri="{FF2B5EF4-FFF2-40B4-BE49-F238E27FC236}">
                <a16:creationId xmlns:a16="http://schemas.microsoft.com/office/drawing/2014/main" id="{821B066F-1D54-9842-8B91-6EFC02EED78C}"/>
              </a:ext>
            </a:extLst>
          </p:cNvPr>
          <p:cNvSpPr>
            <a:spLocks noChangeArrowheads="1"/>
          </p:cNvSpPr>
          <p:nvPr/>
        </p:nvSpPr>
        <p:spPr bwMode="auto">
          <a:xfrm>
            <a:off x="3123483" y="1183947"/>
            <a:ext cx="3906061" cy="96284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115888" lvl="0" indent="-115888" eaLnBrk="0" fontAlgn="base" hangingPunct="0">
              <a:lnSpc>
                <a:spcPct val="85000"/>
              </a:lnSpc>
              <a:spcBef>
                <a:spcPct val="20000"/>
              </a:spcBef>
              <a:spcAft>
                <a:spcPct val="0"/>
              </a:spcAft>
              <a:buClr>
                <a:srgbClr val="000099"/>
              </a:buClr>
              <a:buSzPct val="65000"/>
              <a:defRPr/>
            </a:pPr>
            <a:r>
              <a:rPr lang="en-US" sz="1600" b="1" dirty="0">
                <a:solidFill>
                  <a:srgbClr val="000000"/>
                </a:solidFill>
                <a:latin typeface="Courier New" charset="0"/>
                <a:ea typeface="ＭＳ Ｐゴシック" charset="0"/>
              </a:rPr>
              <a:t>mySocket = socket(AF_INET,SOCK_DGRAM)</a:t>
            </a:r>
          </a:p>
          <a:p>
            <a:pPr marL="115888" lvl="0" indent="-115888" eaLnBrk="0" fontAlgn="base" hangingPunct="0">
              <a:lnSpc>
                <a:spcPct val="85000"/>
              </a:lnSpc>
              <a:spcBef>
                <a:spcPct val="20000"/>
              </a:spcBef>
              <a:spcAft>
                <a:spcPct val="0"/>
              </a:spcAft>
              <a:buClr>
                <a:srgbClr val="000099"/>
              </a:buClr>
              <a:buSzPct val="65000"/>
              <a:defRPr/>
            </a:pPr>
            <a:r>
              <a:rPr lang="en-US" sz="1600" b="1" dirty="0">
                <a:solidFill>
                  <a:srgbClr val="000000"/>
                </a:solidFill>
                <a:latin typeface="Courier New" charset="0"/>
                <a:ea typeface="ＭＳ Ｐゴシック" charset="0"/>
              </a:rPr>
              <a:t>mySocket.bind(myaddr,</a:t>
            </a:r>
            <a:r>
              <a:rPr lang="en-US" sz="1600" b="1" dirty="0">
                <a:solidFill>
                  <a:srgbClr val="C00000"/>
                </a:solidFill>
                <a:latin typeface="Courier New" charset="0"/>
                <a:ea typeface="ＭＳ Ｐゴシック" charset="0"/>
              </a:rPr>
              <a:t>6428</a:t>
            </a:r>
            <a:r>
              <a:rPr lang="en-US" sz="1600" b="1" dirty="0">
                <a:solidFill>
                  <a:srgbClr val="000000"/>
                </a:solidFill>
                <a:latin typeface="Courier New" charset="0"/>
                <a:ea typeface="ＭＳ Ｐゴシック" charset="0"/>
              </a:rPr>
              <a:t>);</a:t>
            </a:r>
          </a:p>
          <a:p>
            <a:pPr marL="115888" marR="0" lvl="0" indent="-115888" algn="l" defTabSz="914400" rtl="0" eaLnBrk="0" fontAlgn="base" latinLnBrk="0" hangingPunct="0">
              <a:lnSpc>
                <a:spcPct val="85000"/>
              </a:lnSpc>
              <a:spcBef>
                <a:spcPct val="20000"/>
              </a:spcBef>
              <a:spcAft>
                <a:spcPct val="0"/>
              </a:spcAft>
              <a:buClr>
                <a:srgbClr val="000099"/>
              </a:buClr>
              <a:buSzPct val="65000"/>
              <a:buFont typeface="Wingdings" charset="0"/>
              <a:buNone/>
              <a:tabLst/>
              <a:defRPr/>
            </a:pPr>
            <a:endParaRPr kumimoji="0" lang="en-US" sz="2000" b="0" i="0" u="none" strike="noStrike" kern="1200" cap="none" spc="0" normalizeH="0" baseline="0" noProof="0" dirty="0">
              <a:ln>
                <a:noFill/>
              </a:ln>
              <a:solidFill>
                <a:srgbClr val="000000"/>
              </a:solidFill>
              <a:effectLst/>
              <a:uLnTx/>
              <a:uFillTx/>
              <a:latin typeface="Courier New" charset="0"/>
              <a:ea typeface="ＭＳ Ｐゴシック" charset="0"/>
              <a:cs typeface="+mn-cs"/>
            </a:endParaRPr>
          </a:p>
        </p:txBody>
      </p:sp>
      <p:sp>
        <p:nvSpPr>
          <p:cNvPr id="129" name="Title 1">
            <a:extLst>
              <a:ext uri="{FF2B5EF4-FFF2-40B4-BE49-F238E27FC236}">
                <a16:creationId xmlns:a16="http://schemas.microsoft.com/office/drawing/2014/main" id="{8F00F9B4-0BB2-B845-92FC-6EB603238F78}"/>
              </a:ext>
            </a:extLst>
          </p:cNvPr>
          <p:cNvSpPr>
            <a:spLocks noGrp="1"/>
          </p:cNvSpPr>
          <p:nvPr>
            <p:ph type="title"/>
          </p:nvPr>
        </p:nvSpPr>
        <p:spPr>
          <a:xfrm>
            <a:off x="798690" y="289325"/>
            <a:ext cx="11100625" cy="894622"/>
          </a:xfrm>
        </p:spPr>
        <p:txBody>
          <a:bodyPr>
            <a:normAutofit/>
          </a:bodyPr>
          <a:lstStyle/>
          <a:p>
            <a:r>
              <a:rPr lang="en-US" sz="4400" dirty="0"/>
              <a:t>Connectionless demultiplexing: an example</a:t>
            </a:r>
          </a:p>
        </p:txBody>
      </p:sp>
      <p:sp>
        <p:nvSpPr>
          <p:cNvPr id="4" name="TextBox 3">
            <a:extLst>
              <a:ext uri="{FF2B5EF4-FFF2-40B4-BE49-F238E27FC236}">
                <a16:creationId xmlns:a16="http://schemas.microsoft.com/office/drawing/2014/main" id="{CA83ADB0-FA5D-C4F4-8D66-C26E40E5FD7E}"/>
              </a:ext>
            </a:extLst>
          </p:cNvPr>
          <p:cNvSpPr txBox="1"/>
          <p:nvPr/>
        </p:nvSpPr>
        <p:spPr>
          <a:xfrm>
            <a:off x="9428023" y="3034347"/>
            <a:ext cx="2608730" cy="2462213"/>
          </a:xfrm>
          <a:prstGeom prst="rect">
            <a:avLst/>
          </a:prstGeom>
          <a:noFill/>
        </p:spPr>
        <p:txBody>
          <a:bodyPr wrap="square">
            <a:spAutoFit/>
          </a:bodyPr>
          <a:lstStyle/>
          <a:p>
            <a:pPr>
              <a:spcAft>
                <a:spcPts val="600"/>
              </a:spcAft>
            </a:pPr>
            <a:r>
              <a:rPr lang="en-US" sz="2200" dirty="0"/>
              <a:t>UDP demultiplexing uses only the </a:t>
            </a:r>
            <a:r>
              <a:rPr lang="en-US" sz="2200" b="1" dirty="0"/>
              <a:t>destination port</a:t>
            </a:r>
            <a:r>
              <a:rPr lang="en-US" sz="2200" dirty="0"/>
              <a:t> to route packets to the correct socket, regardless of source IP/port</a:t>
            </a:r>
          </a:p>
        </p:txBody>
      </p:sp>
    </p:spTree>
    <p:extLst>
      <p:ext uri="{BB962C8B-B14F-4D97-AF65-F5344CB8AC3E}">
        <p14:creationId xmlns:p14="http://schemas.microsoft.com/office/powerpoint/2010/main" val="20439929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53"/>
                                        </p:tgtEl>
                                        <p:attrNameLst>
                                          <p:attrName>style.visibility</p:attrName>
                                        </p:attrNameLst>
                                      </p:cBhvr>
                                      <p:to>
                                        <p:strVal val="visible"/>
                                      </p:to>
                                    </p:set>
                                    <p:animEffect transition="in" filter="dissolve">
                                      <p:cBhvr>
                                        <p:cTn id="7" dur="500"/>
                                        <p:tgtEl>
                                          <p:spTgt spid="153"/>
                                        </p:tgtEl>
                                      </p:cBhvr>
                                    </p:animEffect>
                                  </p:childTnLst>
                                </p:cTn>
                              </p:par>
                              <p:par>
                                <p:cTn id="8" presetID="9" presetClass="entr" presetSubtype="0" fill="hold" grpId="0" nodeType="withEffect">
                                  <p:stCondLst>
                                    <p:cond delay="0"/>
                                  </p:stCondLst>
                                  <p:childTnLst>
                                    <p:set>
                                      <p:cBhvr>
                                        <p:cTn id="9" dur="1" fill="hold">
                                          <p:stCondLst>
                                            <p:cond delay="0"/>
                                          </p:stCondLst>
                                        </p:cTn>
                                        <p:tgtEl>
                                          <p:spTgt spid="194"/>
                                        </p:tgtEl>
                                        <p:attrNameLst>
                                          <p:attrName>style.visibility</p:attrName>
                                        </p:attrNameLst>
                                      </p:cBhvr>
                                      <p:to>
                                        <p:strVal val="visible"/>
                                      </p:to>
                                    </p:set>
                                    <p:animEffect transition="in" filter="dissolve">
                                      <p:cBhvr>
                                        <p:cTn id="10" dur="500"/>
                                        <p:tgtEl>
                                          <p:spTgt spid="194"/>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188"/>
                                        </p:tgtEl>
                                        <p:attrNameLst>
                                          <p:attrName>style.visibility</p:attrName>
                                        </p:attrNameLst>
                                      </p:cBhvr>
                                      <p:to>
                                        <p:strVal val="visible"/>
                                      </p:to>
                                    </p:set>
                                    <p:animEffect transition="in" filter="dissolve">
                                      <p:cBhvr>
                                        <p:cTn id="15" dur="500"/>
                                        <p:tgtEl>
                                          <p:spTgt spid="188"/>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127"/>
                                        </p:tgtEl>
                                        <p:attrNameLst>
                                          <p:attrName>style.visibility</p:attrName>
                                        </p:attrNameLst>
                                      </p:cBhvr>
                                      <p:to>
                                        <p:strVal val="visible"/>
                                      </p:to>
                                    </p:set>
                                    <p:animEffect transition="in" filter="dissolve">
                                      <p:cBhvr>
                                        <p:cTn id="18" dur="500"/>
                                        <p:tgtEl>
                                          <p:spTgt spid="127"/>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nodeType="clickEffect">
                                  <p:stCondLst>
                                    <p:cond delay="0"/>
                                  </p:stCondLst>
                                  <p:childTnLst>
                                    <p:set>
                                      <p:cBhvr>
                                        <p:cTn id="22" dur="1" fill="hold">
                                          <p:stCondLst>
                                            <p:cond delay="0"/>
                                          </p:stCondLst>
                                        </p:cTn>
                                        <p:tgtEl>
                                          <p:spTgt spid="170"/>
                                        </p:tgtEl>
                                        <p:attrNameLst>
                                          <p:attrName>style.visibility</p:attrName>
                                        </p:attrNameLst>
                                      </p:cBhvr>
                                      <p:to>
                                        <p:strVal val="visible"/>
                                      </p:to>
                                    </p:set>
                                    <p:animEffect transition="in" filter="dissolve">
                                      <p:cBhvr>
                                        <p:cTn id="23" dur="500"/>
                                        <p:tgtEl>
                                          <p:spTgt spid="170"/>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128"/>
                                        </p:tgtEl>
                                        <p:attrNameLst>
                                          <p:attrName>style.visibility</p:attrName>
                                        </p:attrNameLst>
                                      </p:cBhvr>
                                      <p:to>
                                        <p:strVal val="visible"/>
                                      </p:to>
                                    </p:set>
                                    <p:animEffect transition="in" filter="dissolve">
                                      <p:cBhvr>
                                        <p:cTn id="26" dur="500"/>
                                        <p:tgtEl>
                                          <p:spTgt spid="128"/>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nodeType="clickEffect">
                                  <p:stCondLst>
                                    <p:cond delay="0"/>
                                  </p:stCondLst>
                                  <p:childTnLst>
                                    <p:set>
                                      <p:cBhvr>
                                        <p:cTn id="30" dur="1" fill="hold">
                                          <p:stCondLst>
                                            <p:cond delay="0"/>
                                          </p:stCondLst>
                                        </p:cTn>
                                        <p:tgtEl>
                                          <p:spTgt spid="195"/>
                                        </p:tgtEl>
                                        <p:attrNameLst>
                                          <p:attrName>style.visibility</p:attrName>
                                        </p:attrNameLst>
                                      </p:cBhvr>
                                      <p:to>
                                        <p:strVal val="visible"/>
                                      </p:to>
                                    </p:set>
                                    <p:animEffect transition="in" filter="wipe(up)">
                                      <p:cBhvr>
                                        <p:cTn id="31" dur="500"/>
                                        <p:tgtEl>
                                          <p:spTgt spid="195"/>
                                        </p:tgtEl>
                                      </p:cBhvr>
                                    </p:animEffect>
                                  </p:childTnLst>
                                </p:cTn>
                              </p:par>
                            </p:childTnLst>
                          </p:cTn>
                        </p:par>
                        <p:par>
                          <p:cTn id="32" fill="hold">
                            <p:stCondLst>
                              <p:cond delay="500"/>
                            </p:stCondLst>
                            <p:childTnLst>
                              <p:par>
                                <p:cTn id="33" presetID="22" presetClass="entr" presetSubtype="8" fill="hold" nodeType="afterEffect">
                                  <p:stCondLst>
                                    <p:cond delay="0"/>
                                  </p:stCondLst>
                                  <p:childTnLst>
                                    <p:set>
                                      <p:cBhvr>
                                        <p:cTn id="34" dur="1" fill="hold">
                                          <p:stCondLst>
                                            <p:cond delay="0"/>
                                          </p:stCondLst>
                                        </p:cTn>
                                        <p:tgtEl>
                                          <p:spTgt spid="197"/>
                                        </p:tgtEl>
                                        <p:attrNameLst>
                                          <p:attrName>style.visibility</p:attrName>
                                        </p:attrNameLst>
                                      </p:cBhvr>
                                      <p:to>
                                        <p:strVal val="visible"/>
                                      </p:to>
                                    </p:set>
                                    <p:animEffect transition="in" filter="wipe(left)">
                                      <p:cBhvr>
                                        <p:cTn id="35" dur="500"/>
                                        <p:tgtEl>
                                          <p:spTgt spid="197"/>
                                        </p:tgtEl>
                                      </p:cBhvr>
                                    </p:animEffect>
                                  </p:childTnLst>
                                </p:cTn>
                              </p:par>
                              <p:par>
                                <p:cTn id="36" presetID="22" presetClass="entr" presetSubtype="8" fill="hold" nodeType="withEffect">
                                  <p:stCondLst>
                                    <p:cond delay="0"/>
                                  </p:stCondLst>
                                  <p:childTnLst>
                                    <p:set>
                                      <p:cBhvr>
                                        <p:cTn id="37" dur="1" fill="hold">
                                          <p:stCondLst>
                                            <p:cond delay="0"/>
                                          </p:stCondLst>
                                        </p:cTn>
                                        <p:tgtEl>
                                          <p:spTgt spid="207"/>
                                        </p:tgtEl>
                                        <p:attrNameLst>
                                          <p:attrName>style.visibility</p:attrName>
                                        </p:attrNameLst>
                                      </p:cBhvr>
                                      <p:to>
                                        <p:strVal val="visible"/>
                                      </p:to>
                                    </p:set>
                                    <p:animEffect transition="in" filter="wipe(left)">
                                      <p:cBhvr>
                                        <p:cTn id="38" dur="500"/>
                                        <p:tgtEl>
                                          <p:spTgt spid="207"/>
                                        </p:tgtEl>
                                      </p:cBhvr>
                                    </p:animEffect>
                                  </p:childTnLst>
                                </p:cTn>
                              </p:par>
                            </p:childTnLst>
                          </p:cTn>
                        </p:par>
                        <p:par>
                          <p:cTn id="39" fill="hold">
                            <p:stCondLst>
                              <p:cond delay="1000"/>
                            </p:stCondLst>
                            <p:childTnLst>
                              <p:par>
                                <p:cTn id="40" presetID="22" presetClass="entr" presetSubtype="4" fill="hold" nodeType="afterEffect">
                                  <p:stCondLst>
                                    <p:cond delay="0"/>
                                  </p:stCondLst>
                                  <p:childTnLst>
                                    <p:set>
                                      <p:cBhvr>
                                        <p:cTn id="41" dur="1" fill="hold">
                                          <p:stCondLst>
                                            <p:cond delay="0"/>
                                          </p:stCondLst>
                                        </p:cTn>
                                        <p:tgtEl>
                                          <p:spTgt spid="196"/>
                                        </p:tgtEl>
                                        <p:attrNameLst>
                                          <p:attrName>style.visibility</p:attrName>
                                        </p:attrNameLst>
                                      </p:cBhvr>
                                      <p:to>
                                        <p:strVal val="visible"/>
                                      </p:to>
                                    </p:set>
                                    <p:animEffect transition="in" filter="wipe(down)">
                                      <p:cBhvr>
                                        <p:cTn id="42" dur="500"/>
                                        <p:tgtEl>
                                          <p:spTgt spid="196"/>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nodeType="clickEffect">
                                  <p:stCondLst>
                                    <p:cond delay="0"/>
                                  </p:stCondLst>
                                  <p:childTnLst>
                                    <p:set>
                                      <p:cBhvr>
                                        <p:cTn id="46" dur="1" fill="hold">
                                          <p:stCondLst>
                                            <p:cond delay="0"/>
                                          </p:stCondLst>
                                        </p:cTn>
                                        <p:tgtEl>
                                          <p:spTgt spid="198"/>
                                        </p:tgtEl>
                                        <p:attrNameLst>
                                          <p:attrName>style.visibility</p:attrName>
                                        </p:attrNameLst>
                                      </p:cBhvr>
                                      <p:to>
                                        <p:strVal val="visible"/>
                                      </p:to>
                                    </p:set>
                                    <p:animEffect transition="in" filter="wipe(up)">
                                      <p:cBhvr>
                                        <p:cTn id="47" dur="500"/>
                                        <p:tgtEl>
                                          <p:spTgt spid="198"/>
                                        </p:tgtEl>
                                      </p:cBhvr>
                                    </p:animEffect>
                                  </p:childTnLst>
                                </p:cTn>
                              </p:par>
                            </p:childTnLst>
                          </p:cTn>
                        </p:par>
                        <p:par>
                          <p:cTn id="48" fill="hold">
                            <p:stCondLst>
                              <p:cond delay="500"/>
                            </p:stCondLst>
                            <p:childTnLst>
                              <p:par>
                                <p:cTn id="49" presetID="22" presetClass="entr" presetSubtype="2" fill="hold" nodeType="afterEffect">
                                  <p:stCondLst>
                                    <p:cond delay="0"/>
                                  </p:stCondLst>
                                  <p:childTnLst>
                                    <p:set>
                                      <p:cBhvr>
                                        <p:cTn id="50" dur="1" fill="hold">
                                          <p:stCondLst>
                                            <p:cond delay="0"/>
                                          </p:stCondLst>
                                        </p:cTn>
                                        <p:tgtEl>
                                          <p:spTgt spid="199"/>
                                        </p:tgtEl>
                                        <p:attrNameLst>
                                          <p:attrName>style.visibility</p:attrName>
                                        </p:attrNameLst>
                                      </p:cBhvr>
                                      <p:to>
                                        <p:strVal val="visible"/>
                                      </p:to>
                                    </p:set>
                                    <p:animEffect transition="in" filter="wipe(right)">
                                      <p:cBhvr>
                                        <p:cTn id="51" dur="500"/>
                                        <p:tgtEl>
                                          <p:spTgt spid="199"/>
                                        </p:tgtEl>
                                      </p:cBhvr>
                                    </p:animEffect>
                                  </p:childTnLst>
                                </p:cTn>
                              </p:par>
                              <p:par>
                                <p:cTn id="52" presetID="22" presetClass="entr" presetSubtype="2" fill="hold" nodeType="withEffect">
                                  <p:stCondLst>
                                    <p:cond delay="0"/>
                                  </p:stCondLst>
                                  <p:childTnLst>
                                    <p:set>
                                      <p:cBhvr>
                                        <p:cTn id="53" dur="1" fill="hold">
                                          <p:stCondLst>
                                            <p:cond delay="0"/>
                                          </p:stCondLst>
                                        </p:cTn>
                                        <p:tgtEl>
                                          <p:spTgt spid="211"/>
                                        </p:tgtEl>
                                        <p:attrNameLst>
                                          <p:attrName>style.visibility</p:attrName>
                                        </p:attrNameLst>
                                      </p:cBhvr>
                                      <p:to>
                                        <p:strVal val="visible"/>
                                      </p:to>
                                    </p:set>
                                    <p:animEffect transition="in" filter="wipe(right)">
                                      <p:cBhvr>
                                        <p:cTn id="54" dur="500"/>
                                        <p:tgtEl>
                                          <p:spTgt spid="211"/>
                                        </p:tgtEl>
                                      </p:cBhvr>
                                    </p:animEffect>
                                  </p:childTnLst>
                                </p:cTn>
                              </p:par>
                            </p:childTnLst>
                          </p:cTn>
                        </p:par>
                        <p:par>
                          <p:cTn id="55" fill="hold">
                            <p:stCondLst>
                              <p:cond delay="1000"/>
                            </p:stCondLst>
                            <p:childTnLst>
                              <p:par>
                                <p:cTn id="56" presetID="22" presetClass="entr" presetSubtype="4" fill="hold" nodeType="afterEffect">
                                  <p:stCondLst>
                                    <p:cond delay="0"/>
                                  </p:stCondLst>
                                  <p:childTnLst>
                                    <p:set>
                                      <p:cBhvr>
                                        <p:cTn id="57" dur="1" fill="hold">
                                          <p:stCondLst>
                                            <p:cond delay="0"/>
                                          </p:stCondLst>
                                        </p:cTn>
                                        <p:tgtEl>
                                          <p:spTgt spid="200"/>
                                        </p:tgtEl>
                                        <p:attrNameLst>
                                          <p:attrName>style.visibility</p:attrName>
                                        </p:attrNameLst>
                                      </p:cBhvr>
                                      <p:to>
                                        <p:strVal val="visible"/>
                                      </p:to>
                                    </p:set>
                                    <p:animEffect transition="in" filter="wipe(down)">
                                      <p:cBhvr>
                                        <p:cTn id="58" dur="500"/>
                                        <p:tgtEl>
                                          <p:spTgt spid="200"/>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1" fill="hold" nodeType="clickEffect">
                                  <p:stCondLst>
                                    <p:cond delay="0"/>
                                  </p:stCondLst>
                                  <p:childTnLst>
                                    <p:set>
                                      <p:cBhvr>
                                        <p:cTn id="62" dur="1" fill="hold">
                                          <p:stCondLst>
                                            <p:cond delay="0"/>
                                          </p:stCondLst>
                                        </p:cTn>
                                        <p:tgtEl>
                                          <p:spTgt spid="204"/>
                                        </p:tgtEl>
                                        <p:attrNameLst>
                                          <p:attrName>style.visibility</p:attrName>
                                        </p:attrNameLst>
                                      </p:cBhvr>
                                      <p:to>
                                        <p:strVal val="visible"/>
                                      </p:to>
                                    </p:set>
                                    <p:animEffect transition="in" filter="wipe(up)">
                                      <p:cBhvr>
                                        <p:cTn id="63" dur="500"/>
                                        <p:tgtEl>
                                          <p:spTgt spid="204"/>
                                        </p:tgtEl>
                                      </p:cBhvr>
                                    </p:animEffect>
                                  </p:childTnLst>
                                </p:cTn>
                              </p:par>
                            </p:childTnLst>
                          </p:cTn>
                        </p:par>
                        <p:par>
                          <p:cTn id="64" fill="hold">
                            <p:stCondLst>
                              <p:cond delay="500"/>
                            </p:stCondLst>
                            <p:childTnLst>
                              <p:par>
                                <p:cTn id="65" presetID="22" presetClass="entr" presetSubtype="8" fill="hold" nodeType="afterEffect">
                                  <p:stCondLst>
                                    <p:cond delay="0"/>
                                  </p:stCondLst>
                                  <p:childTnLst>
                                    <p:set>
                                      <p:cBhvr>
                                        <p:cTn id="66" dur="1" fill="hold">
                                          <p:stCondLst>
                                            <p:cond delay="0"/>
                                          </p:stCondLst>
                                        </p:cTn>
                                        <p:tgtEl>
                                          <p:spTgt spid="206"/>
                                        </p:tgtEl>
                                        <p:attrNameLst>
                                          <p:attrName>style.visibility</p:attrName>
                                        </p:attrNameLst>
                                      </p:cBhvr>
                                      <p:to>
                                        <p:strVal val="visible"/>
                                      </p:to>
                                    </p:set>
                                    <p:animEffect transition="in" filter="wipe(left)">
                                      <p:cBhvr>
                                        <p:cTn id="67" dur="500"/>
                                        <p:tgtEl>
                                          <p:spTgt spid="206"/>
                                        </p:tgtEl>
                                      </p:cBhvr>
                                    </p:animEffect>
                                  </p:childTnLst>
                                </p:cTn>
                              </p:par>
                              <p:par>
                                <p:cTn id="68" presetID="22" presetClass="entr" presetSubtype="8" fill="hold" nodeType="withEffect">
                                  <p:stCondLst>
                                    <p:cond delay="0"/>
                                  </p:stCondLst>
                                  <p:childTnLst>
                                    <p:set>
                                      <p:cBhvr>
                                        <p:cTn id="69" dur="1" fill="hold">
                                          <p:stCondLst>
                                            <p:cond delay="0"/>
                                          </p:stCondLst>
                                        </p:cTn>
                                        <p:tgtEl>
                                          <p:spTgt spid="215"/>
                                        </p:tgtEl>
                                        <p:attrNameLst>
                                          <p:attrName>style.visibility</p:attrName>
                                        </p:attrNameLst>
                                      </p:cBhvr>
                                      <p:to>
                                        <p:strVal val="visible"/>
                                      </p:to>
                                    </p:set>
                                    <p:animEffect transition="in" filter="wipe(left)">
                                      <p:cBhvr>
                                        <p:cTn id="70" dur="500"/>
                                        <p:tgtEl>
                                          <p:spTgt spid="215"/>
                                        </p:tgtEl>
                                      </p:cBhvr>
                                    </p:animEffect>
                                  </p:childTnLst>
                                </p:cTn>
                              </p:par>
                            </p:childTnLst>
                          </p:cTn>
                        </p:par>
                        <p:par>
                          <p:cTn id="71" fill="hold">
                            <p:stCondLst>
                              <p:cond delay="1000"/>
                            </p:stCondLst>
                            <p:childTnLst>
                              <p:par>
                                <p:cTn id="72" presetID="22" presetClass="entr" presetSubtype="4" fill="hold" nodeType="afterEffect">
                                  <p:stCondLst>
                                    <p:cond delay="0"/>
                                  </p:stCondLst>
                                  <p:childTnLst>
                                    <p:set>
                                      <p:cBhvr>
                                        <p:cTn id="73" dur="1" fill="hold">
                                          <p:stCondLst>
                                            <p:cond delay="0"/>
                                          </p:stCondLst>
                                        </p:cTn>
                                        <p:tgtEl>
                                          <p:spTgt spid="202"/>
                                        </p:tgtEl>
                                        <p:attrNameLst>
                                          <p:attrName>style.visibility</p:attrName>
                                        </p:attrNameLst>
                                      </p:cBhvr>
                                      <p:to>
                                        <p:strVal val="visible"/>
                                      </p:to>
                                    </p:set>
                                    <p:animEffect transition="in" filter="wipe(down)">
                                      <p:cBhvr>
                                        <p:cTn id="74" dur="500"/>
                                        <p:tgtEl>
                                          <p:spTgt spid="202"/>
                                        </p:tgtEl>
                                      </p:cBhvr>
                                    </p:animEffect>
                                  </p:childTnLst>
                                </p:cTn>
                              </p:par>
                            </p:childTnLst>
                          </p:cTn>
                        </p:par>
                        <p:par>
                          <p:cTn id="75" fill="hold">
                            <p:stCondLst>
                              <p:cond delay="1500"/>
                            </p:stCondLst>
                            <p:childTnLst>
                              <p:par>
                                <p:cTn id="76" presetID="22" presetClass="entr" presetSubtype="1" fill="hold" nodeType="afterEffect">
                                  <p:stCondLst>
                                    <p:cond delay="0"/>
                                  </p:stCondLst>
                                  <p:childTnLst>
                                    <p:set>
                                      <p:cBhvr>
                                        <p:cTn id="77" dur="1" fill="hold">
                                          <p:stCondLst>
                                            <p:cond delay="0"/>
                                          </p:stCondLst>
                                        </p:cTn>
                                        <p:tgtEl>
                                          <p:spTgt spid="201"/>
                                        </p:tgtEl>
                                        <p:attrNameLst>
                                          <p:attrName>style.visibility</p:attrName>
                                        </p:attrNameLst>
                                      </p:cBhvr>
                                      <p:to>
                                        <p:strVal val="visible"/>
                                      </p:to>
                                    </p:set>
                                    <p:animEffect transition="in" filter="wipe(up)">
                                      <p:cBhvr>
                                        <p:cTn id="78" dur="500"/>
                                        <p:tgtEl>
                                          <p:spTgt spid="201"/>
                                        </p:tgtEl>
                                      </p:cBhvr>
                                    </p:animEffect>
                                  </p:childTnLst>
                                </p:cTn>
                              </p:par>
                            </p:childTnLst>
                          </p:cTn>
                        </p:par>
                        <p:par>
                          <p:cTn id="79" fill="hold">
                            <p:stCondLst>
                              <p:cond delay="2000"/>
                            </p:stCondLst>
                            <p:childTnLst>
                              <p:par>
                                <p:cTn id="80" presetID="22" presetClass="entr" presetSubtype="2" fill="hold" nodeType="afterEffect">
                                  <p:stCondLst>
                                    <p:cond delay="0"/>
                                  </p:stCondLst>
                                  <p:childTnLst>
                                    <p:set>
                                      <p:cBhvr>
                                        <p:cTn id="81" dur="1" fill="hold">
                                          <p:stCondLst>
                                            <p:cond delay="0"/>
                                          </p:stCondLst>
                                        </p:cTn>
                                        <p:tgtEl>
                                          <p:spTgt spid="205"/>
                                        </p:tgtEl>
                                        <p:attrNameLst>
                                          <p:attrName>style.visibility</p:attrName>
                                        </p:attrNameLst>
                                      </p:cBhvr>
                                      <p:to>
                                        <p:strVal val="visible"/>
                                      </p:to>
                                    </p:set>
                                    <p:animEffect transition="in" filter="wipe(right)">
                                      <p:cBhvr>
                                        <p:cTn id="82" dur="500"/>
                                        <p:tgtEl>
                                          <p:spTgt spid="205"/>
                                        </p:tgtEl>
                                      </p:cBhvr>
                                    </p:animEffect>
                                  </p:childTnLst>
                                </p:cTn>
                              </p:par>
                              <p:par>
                                <p:cTn id="83" presetID="22" presetClass="entr" presetSubtype="2" fill="hold" nodeType="withEffect">
                                  <p:stCondLst>
                                    <p:cond delay="0"/>
                                  </p:stCondLst>
                                  <p:childTnLst>
                                    <p:set>
                                      <p:cBhvr>
                                        <p:cTn id="84" dur="1" fill="hold">
                                          <p:stCondLst>
                                            <p:cond delay="0"/>
                                          </p:stCondLst>
                                        </p:cTn>
                                        <p:tgtEl>
                                          <p:spTgt spid="219"/>
                                        </p:tgtEl>
                                        <p:attrNameLst>
                                          <p:attrName>style.visibility</p:attrName>
                                        </p:attrNameLst>
                                      </p:cBhvr>
                                      <p:to>
                                        <p:strVal val="visible"/>
                                      </p:to>
                                    </p:set>
                                    <p:animEffect transition="in" filter="wipe(right)">
                                      <p:cBhvr>
                                        <p:cTn id="85" dur="500"/>
                                        <p:tgtEl>
                                          <p:spTgt spid="219"/>
                                        </p:tgtEl>
                                      </p:cBhvr>
                                    </p:animEffect>
                                  </p:childTnLst>
                                </p:cTn>
                              </p:par>
                            </p:childTnLst>
                          </p:cTn>
                        </p:par>
                        <p:par>
                          <p:cTn id="86" fill="hold">
                            <p:stCondLst>
                              <p:cond delay="2500"/>
                            </p:stCondLst>
                            <p:childTnLst>
                              <p:par>
                                <p:cTn id="87" presetID="22" presetClass="entr" presetSubtype="4" fill="hold" nodeType="afterEffect">
                                  <p:stCondLst>
                                    <p:cond delay="0"/>
                                  </p:stCondLst>
                                  <p:childTnLst>
                                    <p:set>
                                      <p:cBhvr>
                                        <p:cTn id="88" dur="1" fill="hold">
                                          <p:stCondLst>
                                            <p:cond delay="0"/>
                                          </p:stCondLst>
                                        </p:cTn>
                                        <p:tgtEl>
                                          <p:spTgt spid="203"/>
                                        </p:tgtEl>
                                        <p:attrNameLst>
                                          <p:attrName>style.visibility</p:attrName>
                                        </p:attrNameLst>
                                      </p:cBhvr>
                                      <p:to>
                                        <p:strVal val="visible"/>
                                      </p:to>
                                    </p:set>
                                    <p:animEffect transition="in" filter="wipe(down)">
                                      <p:cBhvr>
                                        <p:cTn id="89" dur="500"/>
                                        <p:tgtEl>
                                          <p:spTgt spid="2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 grpId="0"/>
      <p:bldP spid="127" grpId="0"/>
      <p:bldP spid="128"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697</TotalTime>
  <Words>3076</Words>
  <Application>Microsoft Office PowerPoint</Application>
  <PresentationFormat>Widescreen</PresentationFormat>
  <Paragraphs>583</Paragraphs>
  <Slides>30</Slides>
  <Notes>25</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30</vt:i4>
      </vt:variant>
    </vt:vector>
  </HeadingPairs>
  <TitlesOfParts>
    <vt:vector size="44" baseType="lpstr">
      <vt:lpstr>Courier</vt:lpstr>
      <vt:lpstr>TimesLTPro-Roman</vt:lpstr>
      <vt:lpstr>Aptos</vt:lpstr>
      <vt:lpstr>Aptos Display</vt:lpstr>
      <vt:lpstr>Arial</vt:lpstr>
      <vt:lpstr>Calibri</vt:lpstr>
      <vt:lpstr>Comic Sans MS</vt:lpstr>
      <vt:lpstr>Courier New</vt:lpstr>
      <vt:lpstr>Gill Sans MT</vt:lpstr>
      <vt:lpstr>Roboto</vt:lpstr>
      <vt:lpstr>Tahoma</vt:lpstr>
      <vt:lpstr>Times New Roman</vt:lpstr>
      <vt:lpstr>Wingdings</vt:lpstr>
      <vt:lpstr>Office Theme</vt:lpstr>
      <vt:lpstr>CSC 3511 Security and Networking</vt:lpstr>
      <vt:lpstr>PowerPoint Presentation</vt:lpstr>
      <vt:lpstr>Internet Layer: Review</vt:lpstr>
      <vt:lpstr>Transport Layer: Overview</vt:lpstr>
      <vt:lpstr>Transport Layer Actions</vt:lpstr>
      <vt:lpstr>Transport Layer Actions</vt:lpstr>
      <vt:lpstr>Two principal Internet transport protocols</vt:lpstr>
      <vt:lpstr>PowerPoint Presentation</vt:lpstr>
      <vt:lpstr>UDP: User Datagram Protocol</vt:lpstr>
      <vt:lpstr>UDP: User Datagram Protocol</vt:lpstr>
      <vt:lpstr>UDP: Transport Layer Actions</vt:lpstr>
      <vt:lpstr>UDP: Transport Layer Actions</vt:lpstr>
      <vt:lpstr>UDP: Transport Layer Actions</vt:lpstr>
      <vt:lpstr>UDP segment header</vt:lpstr>
      <vt:lpstr>UDP checksum</vt:lpstr>
      <vt:lpstr>Internet checksum</vt:lpstr>
      <vt:lpstr>Internet checksum: an example</vt:lpstr>
      <vt:lpstr>UDP Checksum Calculation at the Sender</vt:lpstr>
      <vt:lpstr>UDP Checksum Verification at the Receiver</vt:lpstr>
      <vt:lpstr>Internet checksum: weak protection!</vt:lpstr>
      <vt:lpstr>Summary: UDP</vt:lpstr>
      <vt:lpstr>Challenge question 1: Where is the IP Address in a UDP Segment?</vt:lpstr>
      <vt:lpstr>Challenge question 2: How does the computer know which incoming data packets belong to Netflix vs Skype vs Apache?</vt:lpstr>
      <vt:lpstr>Multiplexing/demultiplexing</vt:lpstr>
      <vt:lpstr>Multiplexing/demultiplexing</vt:lpstr>
      <vt:lpstr>PowerPoint Presentation</vt:lpstr>
      <vt:lpstr>PowerPoint Presentation</vt:lpstr>
      <vt:lpstr>How demultiplexing works</vt:lpstr>
      <vt:lpstr>Connectionless demultiplexing</vt:lpstr>
      <vt:lpstr>Connectionless demultiplexing: an example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Liao, Zhonghao</dc:creator>
  <cp:lastModifiedBy>Liao, Zhonghao</cp:lastModifiedBy>
  <cp:revision>196</cp:revision>
  <dcterms:created xsi:type="dcterms:W3CDTF">2025-09-03T22:06:31Z</dcterms:created>
  <dcterms:modified xsi:type="dcterms:W3CDTF">2025-09-18T05:58:15Z</dcterms:modified>
</cp:coreProperties>
</file>