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505" r:id="rId2"/>
    <p:sldId id="1435" r:id="rId3"/>
    <p:sldId id="257" r:id="rId4"/>
    <p:sldId id="258" r:id="rId5"/>
    <p:sldId id="259" r:id="rId6"/>
    <p:sldId id="1436" r:id="rId7"/>
    <p:sldId id="260" r:id="rId8"/>
    <p:sldId id="261" r:id="rId9"/>
    <p:sldId id="262" r:id="rId10"/>
    <p:sldId id="263" r:id="rId11"/>
    <p:sldId id="319" r:id="rId12"/>
    <p:sldId id="264" r:id="rId13"/>
    <p:sldId id="265" r:id="rId14"/>
    <p:sldId id="266" r:id="rId15"/>
    <p:sldId id="267" r:id="rId16"/>
    <p:sldId id="321" r:id="rId17"/>
    <p:sldId id="1438" r:id="rId18"/>
    <p:sldId id="268" r:id="rId19"/>
    <p:sldId id="269" r:id="rId20"/>
    <p:sldId id="270" r:id="rId21"/>
    <p:sldId id="271" r:id="rId22"/>
    <p:sldId id="272" r:id="rId23"/>
    <p:sldId id="1437" r:id="rId24"/>
    <p:sldId id="323" r:id="rId25"/>
    <p:sldId id="322" r:id="rId26"/>
    <p:sldId id="324" r:id="rId27"/>
    <p:sldId id="325" r:id="rId28"/>
    <p:sldId id="327" r:id="rId29"/>
    <p:sldId id="320" r:id="rId30"/>
    <p:sldId id="1439" r:id="rId31"/>
    <p:sldId id="326" r:id="rId32"/>
    <p:sldId id="32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58" autoAdjust="0"/>
    <p:restoredTop sz="66344" autoAdjust="0"/>
  </p:normalViewPr>
  <p:slideViewPr>
    <p:cSldViewPr snapToGrid="0">
      <p:cViewPr varScale="1">
        <p:scale>
          <a:sx n="66" d="100"/>
          <a:sy n="66" d="100"/>
        </p:scale>
        <p:origin x="11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9EA63-885E-4EB8-879A-527FAB29153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35AAC-7370-4508-BC8A-A8FB0FFD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2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Mitigate SYN flood attacks: https://www.cloudflare.com/learning/ddos/syn-flood-ddos-attack/ </a:t>
            </a:r>
          </a:p>
          <a:p>
            <a:endParaRPr lang="en-US" dirty="0"/>
          </a:p>
          <a:p>
            <a:r>
              <a:rPr lang="en-US" dirty="0"/>
              <a:t>Mitigate TCP sequence prediction attacks: https://www.linkedin.com/advice/3/how-can-you-prevent-tcp-sequence-number-prediction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22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b="0" dirty="0"/>
              <a:t>TLS operates on top of TCP, leveraging </a:t>
            </a:r>
            <a:r>
              <a:rPr lang="en-US" dirty="0"/>
              <a:t>its reliable byte-stream abstraction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726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660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The Cipher Spec typically includes: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Encryption Algorithm; For example: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0" dirty="0"/>
              <a:t>AES in GCM or CBC mode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0" dirty="0"/>
              <a:t>ChaCha20-Poly1305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0" dirty="0"/>
              <a:t>The key size (e.g., 128-bit, 256-bit) may also be specified.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Message Authentication Code (MAC) Algorithm; For example:</a:t>
            </a:r>
          </a:p>
          <a:p>
            <a:pPr lvl="1">
              <a:buFont typeface="+mj-lt"/>
              <a:buAutoNum type="arabicPeriod"/>
            </a:pPr>
            <a:r>
              <a:rPr lang="en-US" b="0" dirty="0"/>
              <a:t>    HMAC with SHA-256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b="0" dirty="0"/>
              <a:t>HMAC with SHA-512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Key Exchange Algorithm; For example:</a:t>
            </a:r>
          </a:p>
          <a:p>
            <a:pPr lvl="1">
              <a:buFont typeface="+mj-lt"/>
              <a:buAutoNum type="arabicPeriod"/>
            </a:pPr>
            <a:r>
              <a:rPr lang="en-US" b="0" dirty="0"/>
              <a:t> RSA (deprecated in TLS 1.3)</a:t>
            </a:r>
          </a:p>
          <a:p>
            <a:pPr lvl="1">
              <a:buFont typeface="+mj-lt"/>
              <a:buAutoNum type="arabicPeriod"/>
            </a:pPr>
            <a:r>
              <a:rPr lang="en-US" b="0" dirty="0"/>
              <a:t>Diffie-Hellman (DHE or ECDHE for elliptic curve variants)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Compression Method (Optional):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Specifies whether the data will be compressed before encryption.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Compression is typically disabled in modern TLS due to security risks (e.g., CRIME attack).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69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712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15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Cryptographic Hash Functions to instantiate a PRNG: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cryptographic hash function (e.g., SHA-512) can be used as a PRNG by repeatedly hashing a seed and using parts of the output as random numbers.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Process: Start with a seed (𝑆). Compute 𝑅1=Hash(𝑆), 𝑅2=Hash(𝑅1), and so 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Advantages: Output is highly unpredictable without knowing the seed. Suitable for cryptographic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7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MAC-then-Encrypt (</a:t>
            </a:r>
            <a:r>
              <a:rPr lang="en-US" dirty="0" err="1"/>
              <a:t>MtE</a:t>
            </a:r>
            <a:r>
              <a:rPr lang="en-US" dirty="0"/>
              <a:t>):</a:t>
            </a:r>
          </a:p>
          <a:p>
            <a:pPr marL="228600" indent="-228600">
              <a:buAutoNum type="arabicPeriod"/>
            </a:pPr>
            <a:r>
              <a:rPr lang="en-US" dirty="0"/>
              <a:t>Compute MAC over the plaintext: tag T = MAC(</a:t>
            </a:r>
            <a:r>
              <a:rPr lang="en-US" dirty="0" err="1"/>
              <a:t>mac_key</a:t>
            </a:r>
            <a:r>
              <a:rPr lang="en-US" dirty="0"/>
              <a:t>, plaintext)</a:t>
            </a:r>
          </a:p>
          <a:p>
            <a:pPr marL="228600" indent="-228600">
              <a:buAutoNum type="arabicPeriod"/>
            </a:pPr>
            <a:r>
              <a:rPr lang="en-US" dirty="0"/>
              <a:t>Encrypt both plaintext and MAC: ciphertext C = Encrypt(</a:t>
            </a:r>
            <a:r>
              <a:rPr lang="en-US" dirty="0" err="1"/>
              <a:t>enc_key</a:t>
            </a:r>
            <a:r>
              <a:rPr lang="en-US" dirty="0"/>
              <a:t>, plaintext || tag)</a:t>
            </a:r>
          </a:p>
          <a:p>
            <a:endParaRPr lang="en-US" dirty="0"/>
          </a:p>
          <a:p>
            <a:r>
              <a:rPr lang="en-US" dirty="0"/>
              <a:t>Encrypt-then-MAC (</a:t>
            </a:r>
            <a:r>
              <a:rPr lang="en-US" dirty="0" err="1"/>
              <a:t>EtM</a:t>
            </a:r>
            <a:r>
              <a:rPr lang="en-US" dirty="0"/>
              <a:t>):</a:t>
            </a:r>
          </a:p>
          <a:p>
            <a:pPr marL="228600" indent="-228600">
              <a:buAutoNum type="arabicPeriod"/>
            </a:pPr>
            <a:r>
              <a:rPr lang="en-US" dirty="0"/>
              <a:t>Encrypt the plaintext: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ciphertext C = Encrypt(</a:t>
            </a:r>
            <a:r>
              <a:rPr lang="en-US" dirty="0" err="1"/>
              <a:t>enc_key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plaintext)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dirty="0"/>
              <a:t>Compute MAC over the ciphertext: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tag T = MAC(</a:t>
            </a:r>
            <a:r>
              <a:rPr lang="en-US" dirty="0" err="1"/>
              <a:t>mac_key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ciphertext)</a:t>
            </a:r>
            <a:r>
              <a:rPr lang="en-US" dirty="0"/>
              <a:t> </a:t>
            </a:r>
          </a:p>
          <a:p>
            <a:pPr marL="228600" indent="-228600">
              <a:buAutoNum type="arabicPeriod"/>
            </a:pPr>
            <a:r>
              <a:rPr lang="en-US" dirty="0"/>
              <a:t>Send both: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 || 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EtM</a:t>
            </a:r>
            <a:r>
              <a:rPr lang="en-US" dirty="0"/>
              <a:t> is better: verify authenticity before decrypting; </a:t>
            </a:r>
            <a:r>
              <a:rPr lang="en-US" dirty="0" err="1"/>
              <a:t>EtM</a:t>
            </a:r>
            <a:r>
              <a:rPr lang="en-US" dirty="0"/>
              <a:t> has been proven to provide authenticated encryption when using secure components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TLS header includes fields such as the content type, protocol version, and length of the payload:</a:t>
            </a:r>
            <a:br>
              <a:rPr lang="en-US" dirty="0"/>
            </a:br>
            <a:br>
              <a:rPr lang="en-US" b="0" dirty="0"/>
            </a:br>
            <a:r>
              <a:rPr lang="en-US" b="0" dirty="0"/>
              <a:t>Fields in the TLS Header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Content Type:</a:t>
            </a:r>
          </a:p>
          <a:p>
            <a:pPr lvl="1">
              <a:buFont typeface="+mj-lt"/>
              <a:buAutoNum type="arabicPeriod"/>
            </a:pPr>
            <a:r>
              <a:rPr lang="en-US" b="0" dirty="0"/>
              <a:t>This field specifies the type of data contained in the TLS record.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0" dirty="0"/>
              <a:t>22 (Handshake): Indicates that the record contains handshake messages.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0" dirty="0"/>
              <a:t>23 (Application Data): Indicates that the record contains encrypted application data.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0" dirty="0"/>
              <a:t>20 (Change Cipher Spec): Indicates a Change Cipher Spec message.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This allows the recipient to differentiate between record types and handle them accordingly.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Protocol Version: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Specifies the version of the TLS protocol being used.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Examples: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0" dirty="0"/>
              <a:t>0x0303: Indicates TLS 1.2.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0" dirty="0"/>
              <a:t>0x0304: Indicates TLS 1.3.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This ensures compatibility between the client and server, as older versions may have different structures or vulnerabilities.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Length of the Payload: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Specifies the size (in bytes) of the payload carried by the record (excluding the header itself).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This field ensures that the recipient knows how much data to read and process.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Maximum length: 16 KB (as per the TLS specification).</a:t>
            </a:r>
          </a:p>
          <a:p>
            <a:endParaRPr lang="en-US" b="0" dirty="0"/>
          </a:p>
          <a:p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61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Applications invoke </a:t>
            </a:r>
            <a:r>
              <a:rPr lang="en-US" sz="1200" i="1" dirty="0" err="1"/>
              <a:t>SSL_write</a:t>
            </a:r>
            <a:r>
              <a:rPr lang="en-US" sz="1200" i="1" dirty="0"/>
              <a:t>() (a function written in C)</a:t>
            </a:r>
            <a:r>
              <a:rPr lang="en-US" sz="1200" dirty="0"/>
              <a:t>to send data over TLS.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ssl_write</a:t>
            </a:r>
            <a:r>
              <a:rPr lang="en-US" dirty="0"/>
              <a:t>() function is part of the OpenSSL library and is used to send data securely over a TLS/SSL connection.</a:t>
            </a:r>
            <a:endParaRPr lang="en-US" sz="1200" dirty="0"/>
          </a:p>
          <a:p>
            <a:r>
              <a:rPr lang="en-US" sz="1200" dirty="0"/>
              <a:t>This API breaks data into blocks and generates MAC for each block before encrypting the block</a:t>
            </a:r>
          </a:p>
          <a:p>
            <a:r>
              <a:rPr lang="en-US" sz="1200" dirty="0"/>
              <a:t>TLS puts the encrypted block into the payload field of the TLS record, and gives it to the transport layer for transmission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062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In the TLS protocol, a record number is a unique identifier assigned to each record (or message) exchanged between the client and the server during a session. Its purpose is to ensure that messages are not replayed or reordered by attackers.</a:t>
            </a:r>
          </a:p>
          <a:p>
            <a:endParaRPr lang="en-US" b="0" dirty="0"/>
          </a:p>
          <a:p>
            <a:r>
              <a:rPr lang="en-US" b="0" dirty="0"/>
              <a:t>Key features of record numbers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 Uniqueness: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Each record within a TLS session has a unique record number.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Replay attacks can be detected because a repeated record number indicates a retransmitted message.</a:t>
            </a:r>
          </a:p>
          <a:p>
            <a:pPr>
              <a:buFont typeface="+mj-lt"/>
              <a:buAutoNum type="arabicPeriod"/>
            </a:pPr>
            <a:r>
              <a:rPr lang="en-US" b="0" dirty="0"/>
              <a:t> Different from TCP Sequence Numbers: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Record Numbers: Operate at the TLS layer and are encrypted.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0" dirty="0"/>
              <a:t>TCP Sequence Numbers: Operate at the Transport layer, are unencrypted, and ensure in-order delivery and retransmissions.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38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your interest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11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TLS Change Cipher Spec (CCS) message: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A protocol message that signals: "Starting now, I'm using the encrypted mode"</a:t>
            </a:r>
          </a:p>
          <a:p>
            <a:r>
              <a:rPr lang="en-US" dirty="0"/>
              <a:t>2. Marks the transition from plaintext/old cipher to new cipher suite</a:t>
            </a:r>
          </a:p>
          <a:p>
            <a:r>
              <a:rPr lang="en-US" dirty="0"/>
              <a:t>3. When it’s sent:</a:t>
            </a:r>
          </a:p>
          <a:p>
            <a:pPr lvl="1"/>
            <a:r>
              <a:rPr lang="en-US" dirty="0"/>
              <a:t>TLS 1.2 and earlier: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Sent by both client and server during handshake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Comes after key exchange, before Finished message</a:t>
            </a:r>
          </a:p>
          <a:p>
            <a:pPr lvl="1"/>
            <a:endParaRPr lang="en-US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dirty="0"/>
              <a:t>TLS 1.3: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Removed! No longer exists as a separate message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Encryption starts immediately after key exchange (cleaner design)</a:t>
            </a:r>
          </a:p>
          <a:p>
            <a:r>
              <a:rPr lang="en-US" dirty="0"/>
              <a:t>4. Security 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CCS itself is not encrypted (it can't be, as it signals when encryption starts)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Was exploited in attacks like CCS Injection attack (CVE-2014-0224)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18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89AA-7597-27E6-4B3B-165FD3811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A250F-C38B-8C9E-643A-C388525BB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440C6-A366-34E5-0395-C5FC04FA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092B-0D35-CF9C-BFD1-3C0A4242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4963-FAD9-7042-D3F6-1D4BFA6D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38FB-4672-84D6-9ECF-2582DAE6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6A606-632B-0D99-676A-75C74652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C205-B633-6210-6B52-CF27907E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5BA43-1D84-ECFF-F89C-11FF7AFF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C79E1-62C4-76DF-524D-8AFF3321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A5D0-102E-A4AB-E12C-D0EF8006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1E2F9-7F11-DA53-9500-714C9CD5C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758D-FDCC-1CBC-A227-8C629BDD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4290-B339-3A27-B1A2-360BA543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E67AE-D729-DFD1-9FCC-D3379969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8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1D9D-86AA-1DA0-6F52-CE87D96B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0483-B2C1-19A3-C03D-41171D726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B85F0-0D4F-659B-B6E8-07E9ED34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6A22F-64C6-7444-0C21-99A54DB9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4B0F6-B65C-5EF3-2CE5-CF72001D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24BF5-7203-64E6-7BB9-0B183F3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F6B1-44FB-BE0C-62B6-DF2C89F1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74C3B-3EAC-2D57-6B7D-C428083F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ED756-5EC1-9E6E-2BC5-3BD2EF61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6FB6D-80D4-9AFB-52E5-49F352291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248CB-1C8C-92EB-376F-3A8B02393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DB157-3765-A591-B7E4-81438D2B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3FA94-EC48-6267-BCB9-CE7CCD34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7736C-66C9-366B-DBBA-FED46BA3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9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F6F1-C4B2-D0B2-7AFB-9F4D5554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85612-43F3-6319-EA18-DBF8D841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04F2A-69D3-2069-9FD6-109D75C7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843D0-3C88-8FF5-00FC-63CCF3E5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0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D0ED8-2BC1-E058-3233-2CB55A61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DD15B-52EA-8639-D650-17638EDA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C276E-2FF3-F7DF-E56A-D8557FF8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8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F77B-DF7F-1039-2FDE-3CAA47CF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EC513-2670-001B-1398-A757B74AD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87C18-8AFD-76F8-5A13-D63EF126C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F9F44-C0C9-762C-D3B7-8E9A4E67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3F5E-A0F4-990A-3099-D31971ED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DAA0A-0BFF-05A3-C830-DE2AA697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9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785E-4CD0-1356-B10D-89EB55A9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7B4AD-E4CD-FB43-7A4B-5DAD73EB1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929ED-DDDC-9046-162C-D396D5127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C0AC9-AF9C-496B-BFCB-2E47C55E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6D13E-3922-C306-EBBA-33294AEA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149A6-CDA4-763B-5509-DA48E0C1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C605-88D4-0F9C-4F60-310EE2E3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DE074-2B08-5145-AF9B-B16BFC605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F8A8-94C3-7EA4-D45D-28A79090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A773-C714-281A-5613-9B053EDD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27342-3B72-1BDA-2FAE-1B9F8EE3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36272-B555-A18A-4E91-55A0DA4C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AACA-DE2A-45E4-D950-C827C61C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C5816-E40E-64C9-39E4-531EA142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02264-0757-4D19-477B-631B634B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4A300-0194-C143-7967-600097FE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7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A8022-576D-E637-28F0-3184AB87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BE467-9BFE-6AAE-001A-754EE5BD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78178-8C14-256C-5E72-2D76BBCB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ACD41-E2C3-4974-BF21-7012DD283AB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2F6E3-A01E-6FEB-F4E0-DC31DE4F9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900C8-10FC-D739-7E8D-A2939CC9D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Pseudorandom_number_generato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ecurity.stackexchange.com/questions/55667/tls-sequence-numbe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uthenticated_encryptio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325" y="3602039"/>
            <a:ext cx="9711350" cy="165576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12, Lecture 1: Transport Layer Security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FDA46-17B5-C06A-14FB-592851FD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66B9E-F145-8272-AC79-21A51531575B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41F881-9683-06E8-DC86-39A923184FA0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Transport Layer Security (TLS)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 Handshake Protocol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TLS: Security Guarantees and Summary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TLS: Application (HTTPS)</a:t>
            </a:r>
          </a:p>
          <a:p>
            <a:pPr marL="117475" indent="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  <a:buNone/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389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3F862A7-BF6A-CCDA-AA13-99B7BD3AF8E1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99697"/>
            <a:ext cx="10515600" cy="861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Recap: TCP and UDP</a:t>
            </a:r>
          </a:p>
        </p:txBody>
      </p:sp>
      <p:sp>
        <p:nvSpPr>
          <p:cNvPr id="2" name="Google Shape;70;p16">
            <a:extLst>
              <a:ext uri="{FF2B5EF4-FFF2-40B4-BE49-F238E27FC236}">
                <a16:creationId xmlns:a16="http://schemas.microsoft.com/office/drawing/2014/main" id="{229CE9FA-B89E-F7EE-05B5-0A91C4042716}"/>
              </a:ext>
            </a:extLst>
          </p:cNvPr>
          <p:cNvSpPr txBox="1">
            <a:spLocks/>
          </p:cNvSpPr>
          <p:nvPr/>
        </p:nvSpPr>
        <p:spPr>
          <a:xfrm>
            <a:off x="517184" y="1359415"/>
            <a:ext cx="11157631" cy="529888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b="1" dirty="0"/>
              <a:t>Transmission Control Protocol (TCP): </a:t>
            </a:r>
            <a:r>
              <a:rPr lang="en-US" dirty="0"/>
              <a:t>Reliably sending packets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Provides reliability, ordering, and byte stream abstraction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3-way handshake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Packet’s sequence number and ACK number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Flow control and congestion control</a:t>
            </a:r>
          </a:p>
          <a:p>
            <a:pPr marL="571500" lvl="1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sz="1100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C00000"/>
                </a:solidFill>
              </a:rPr>
              <a:t>Attack: </a:t>
            </a:r>
            <a:r>
              <a:rPr lang="en-US" dirty="0"/>
              <a:t>TCP DoS attack by launching a SYN Flooding attack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C00000"/>
                </a:solidFill>
              </a:rPr>
              <a:t>Attack: </a:t>
            </a:r>
            <a:r>
              <a:rPr lang="en-US" dirty="0"/>
              <a:t>TCP reset attack by injecting TCP Reset (RST) packets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Blind attacks must guess the client’s or server’s sequence numbers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C00000"/>
                </a:solidFill>
              </a:rPr>
              <a:t>Attack: </a:t>
            </a:r>
            <a:r>
              <a:rPr lang="en-US" dirty="0"/>
              <a:t>TCP session hijacking attack through data injection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Blind attacks must guess the client’s or server’s sequence numbers</a:t>
            </a:r>
          </a:p>
          <a:p>
            <a:pPr marL="1028700" lvl="2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/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b="1" dirty="0"/>
              <a:t>User Datagram Protocol (UDP): </a:t>
            </a:r>
            <a:r>
              <a:rPr lang="en-US" dirty="0"/>
              <a:t>Non-reliably sending packets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No reliability or ordering, only datagram abstraction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Similar injection and spoofing attacks as TCP, but easier</a:t>
            </a:r>
          </a:p>
        </p:txBody>
      </p:sp>
    </p:spTree>
    <p:extLst>
      <p:ext uri="{BB962C8B-B14F-4D97-AF65-F5344CB8AC3E}">
        <p14:creationId xmlns:p14="http://schemas.microsoft.com/office/powerpoint/2010/main" val="250660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DF9CC-7D64-7449-3843-A8943E59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772"/>
            <a:ext cx="10515600" cy="890919"/>
          </a:xfrm>
        </p:spPr>
        <p:txBody>
          <a:bodyPr/>
          <a:lstStyle/>
          <a:p>
            <a:r>
              <a:rPr lang="en-US" dirty="0"/>
              <a:t>Transport Layer Security (TLS) </a:t>
            </a:r>
          </a:p>
        </p:txBody>
      </p:sp>
      <p:sp>
        <p:nvSpPr>
          <p:cNvPr id="4" name="Google Shape;85;p18">
            <a:extLst>
              <a:ext uri="{FF2B5EF4-FFF2-40B4-BE49-F238E27FC236}">
                <a16:creationId xmlns:a16="http://schemas.microsoft.com/office/drawing/2014/main" id="{A284DC39-3631-2D48-F09C-E88FE83E1704}"/>
              </a:ext>
            </a:extLst>
          </p:cNvPr>
          <p:cNvSpPr txBox="1">
            <a:spLocks/>
          </p:cNvSpPr>
          <p:nvPr/>
        </p:nvSpPr>
        <p:spPr>
          <a:xfrm>
            <a:off x="100483" y="1489053"/>
            <a:ext cx="8937191" cy="52181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TLS</a:t>
            </a:r>
            <a:r>
              <a:rPr lang="en-US" dirty="0"/>
              <a:t> (</a:t>
            </a:r>
            <a:r>
              <a:rPr lang="en-US" b="1" dirty="0"/>
              <a:t>Transport Layer Security</a:t>
            </a:r>
            <a:r>
              <a:rPr lang="en-US" dirty="0"/>
              <a:t>): A protocol for creating a secure communication channel over the Internet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Replaces </a:t>
            </a:r>
            <a:r>
              <a:rPr lang="en-US" b="1" dirty="0"/>
              <a:t>SSL</a:t>
            </a:r>
            <a:r>
              <a:rPr lang="en-US" dirty="0"/>
              <a:t> (</a:t>
            </a:r>
            <a:r>
              <a:rPr lang="en-US" b="1" dirty="0"/>
              <a:t>Secure Sockets Layer</a:t>
            </a:r>
            <a:r>
              <a:rPr lang="en-US" dirty="0"/>
              <a:t>), which is an older version of the protocol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TLS is built on top of TCP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Relies upon</a:t>
            </a:r>
            <a:r>
              <a:rPr lang="en-US" dirty="0"/>
              <a:t>: Byte stream abstraction between the client and the server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Provides</a:t>
            </a:r>
            <a:r>
              <a:rPr lang="en-US" dirty="0"/>
              <a:t>: Byte stream abstraction between the client and the server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abstraction appears the same to the end client, but TLS provides </a:t>
            </a:r>
            <a:r>
              <a:rPr lang="en-US" dirty="0">
                <a:solidFill>
                  <a:srgbClr val="C00000"/>
                </a:solidFill>
              </a:rPr>
              <a:t>confidentiality,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integrity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(server) authenticity</a:t>
            </a:r>
            <a:r>
              <a:rPr lang="en-US" dirty="0"/>
              <a:t>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3367D10-E11E-6292-1384-268A6164AD3F}"/>
              </a:ext>
            </a:extLst>
          </p:cNvPr>
          <p:cNvGrpSpPr/>
          <p:nvPr/>
        </p:nvGrpSpPr>
        <p:grpSpPr>
          <a:xfrm>
            <a:off x="9672454" y="1833893"/>
            <a:ext cx="2194560" cy="3782233"/>
            <a:chOff x="9012697" y="2157984"/>
            <a:chExt cx="2194560" cy="3782233"/>
          </a:xfrm>
        </p:grpSpPr>
        <p:sp>
          <p:nvSpPr>
            <p:cNvPr id="5" name="Google Shape;87;p18">
              <a:extLst>
                <a:ext uri="{FF2B5EF4-FFF2-40B4-BE49-F238E27FC236}">
                  <a16:creationId xmlns:a16="http://schemas.microsoft.com/office/drawing/2014/main" id="{968FFEAA-6CBA-52C4-1AA5-06D5F535A876}"/>
                </a:ext>
              </a:extLst>
            </p:cNvPr>
            <p:cNvSpPr/>
            <p:nvPr/>
          </p:nvSpPr>
          <p:spPr>
            <a:xfrm>
              <a:off x="9012697" y="2804703"/>
              <a:ext cx="2194560" cy="548640"/>
            </a:xfrm>
            <a:prstGeom prst="rect">
              <a:avLst/>
            </a:prstGeom>
            <a:solidFill>
              <a:srgbClr val="93C47D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/>
                <a:t>TLS</a:t>
              </a:r>
              <a:endParaRPr sz="2200" b="1"/>
            </a:p>
          </p:txBody>
        </p:sp>
        <p:sp>
          <p:nvSpPr>
            <p:cNvPr id="6" name="Google Shape;88;p18">
              <a:extLst>
                <a:ext uri="{FF2B5EF4-FFF2-40B4-BE49-F238E27FC236}">
                  <a16:creationId xmlns:a16="http://schemas.microsoft.com/office/drawing/2014/main" id="{143F1EAF-240D-4E53-F9A5-5B35285B31D2}"/>
                </a:ext>
              </a:extLst>
            </p:cNvPr>
            <p:cNvSpPr/>
            <p:nvPr/>
          </p:nvSpPr>
          <p:spPr>
            <a:xfrm>
              <a:off x="9012697" y="3451422"/>
              <a:ext cx="2194560" cy="548640"/>
            </a:xfrm>
            <a:prstGeom prst="rect">
              <a:avLst/>
            </a:prstGeom>
            <a:solidFill>
              <a:srgbClr val="F1C23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/>
                <a:t>Transport</a:t>
              </a:r>
              <a:endParaRPr sz="2200" b="1" dirty="0"/>
            </a:p>
          </p:txBody>
        </p:sp>
        <p:sp>
          <p:nvSpPr>
            <p:cNvPr id="7" name="Google Shape;89;p18">
              <a:extLst>
                <a:ext uri="{FF2B5EF4-FFF2-40B4-BE49-F238E27FC236}">
                  <a16:creationId xmlns:a16="http://schemas.microsoft.com/office/drawing/2014/main" id="{EA3AC7D7-404E-6CE9-AF98-5198B6B54524}"/>
                </a:ext>
              </a:extLst>
            </p:cNvPr>
            <p:cNvSpPr/>
            <p:nvPr/>
          </p:nvSpPr>
          <p:spPr>
            <a:xfrm>
              <a:off x="9012697" y="4098141"/>
              <a:ext cx="2194560" cy="548640"/>
            </a:xfrm>
            <a:prstGeom prst="rect">
              <a:avLst/>
            </a:prstGeom>
            <a:solidFill>
              <a:srgbClr val="F1C23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/>
                <a:t>Network</a:t>
              </a:r>
              <a:endParaRPr sz="2200" b="1" dirty="0"/>
            </a:p>
          </p:txBody>
        </p:sp>
        <p:sp>
          <p:nvSpPr>
            <p:cNvPr id="8" name="Google Shape;90;p18">
              <a:extLst>
                <a:ext uri="{FF2B5EF4-FFF2-40B4-BE49-F238E27FC236}">
                  <a16:creationId xmlns:a16="http://schemas.microsoft.com/office/drawing/2014/main" id="{015FEE97-5EB0-A822-1B0E-21640987DBBF}"/>
                </a:ext>
              </a:extLst>
            </p:cNvPr>
            <p:cNvSpPr/>
            <p:nvPr/>
          </p:nvSpPr>
          <p:spPr>
            <a:xfrm>
              <a:off x="9012697" y="4744860"/>
              <a:ext cx="2194560" cy="548640"/>
            </a:xfrm>
            <a:prstGeom prst="rect">
              <a:avLst/>
            </a:prstGeom>
            <a:solidFill>
              <a:srgbClr val="B4A7D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/>
                <a:t>Link</a:t>
              </a:r>
              <a:endParaRPr sz="2200" b="1" dirty="0"/>
            </a:p>
          </p:txBody>
        </p:sp>
        <p:sp>
          <p:nvSpPr>
            <p:cNvPr id="9" name="Google Shape;91;p18">
              <a:extLst>
                <a:ext uri="{FF2B5EF4-FFF2-40B4-BE49-F238E27FC236}">
                  <a16:creationId xmlns:a16="http://schemas.microsoft.com/office/drawing/2014/main" id="{7C5E04B6-82E5-2DCF-DD3A-80338CC8C50C}"/>
                </a:ext>
              </a:extLst>
            </p:cNvPr>
            <p:cNvSpPr/>
            <p:nvPr/>
          </p:nvSpPr>
          <p:spPr>
            <a:xfrm>
              <a:off x="9012697" y="5391577"/>
              <a:ext cx="2194560" cy="548640"/>
            </a:xfrm>
            <a:prstGeom prst="rect">
              <a:avLst/>
            </a:prstGeom>
            <a:solidFill>
              <a:srgbClr val="B4A7D6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/>
                <a:t>Physical</a:t>
              </a:r>
              <a:endParaRPr sz="2200" b="1" dirty="0"/>
            </a:p>
          </p:txBody>
        </p:sp>
        <p:sp>
          <p:nvSpPr>
            <p:cNvPr id="10" name="Google Shape;97;p18">
              <a:extLst>
                <a:ext uri="{FF2B5EF4-FFF2-40B4-BE49-F238E27FC236}">
                  <a16:creationId xmlns:a16="http://schemas.microsoft.com/office/drawing/2014/main" id="{B033AF89-CB55-3CBB-EA8F-6D0FBBE14159}"/>
                </a:ext>
              </a:extLst>
            </p:cNvPr>
            <p:cNvSpPr/>
            <p:nvPr/>
          </p:nvSpPr>
          <p:spPr>
            <a:xfrm>
              <a:off x="9012697" y="2157984"/>
              <a:ext cx="2194560" cy="548640"/>
            </a:xfrm>
            <a:prstGeom prst="rect">
              <a:avLst/>
            </a:prstGeom>
            <a:solidFill>
              <a:srgbClr val="F1C232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/>
                <a:t>Application</a:t>
              </a:r>
              <a:endParaRPr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0944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D271F-4C61-05F6-C919-CB01051D5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7566"/>
            <a:ext cx="10515600" cy="937549"/>
          </a:xfrm>
        </p:spPr>
        <p:txBody>
          <a:bodyPr/>
          <a:lstStyle/>
          <a:p>
            <a:r>
              <a:rPr lang="en" dirty="0"/>
              <a:t>Secure Internet Communication: Goals of TLS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C9261-ADCD-A2DA-19D5-C13E9F44959F}"/>
              </a:ext>
            </a:extLst>
          </p:cNvPr>
          <p:cNvSpPr txBox="1"/>
          <p:nvPr/>
        </p:nvSpPr>
        <p:spPr>
          <a:xfrm>
            <a:off x="838198" y="1535781"/>
            <a:ext cx="1051560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C00000"/>
                </a:solidFill>
              </a:rPr>
              <a:t>Confidentiality</a:t>
            </a:r>
            <a:r>
              <a:rPr lang="en-US" sz="2400" dirty="0"/>
              <a:t>: Ensure that attackers cannot read your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Symmetric encryption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Protects against eavesdropping</a:t>
            </a:r>
          </a:p>
          <a:p>
            <a:endParaRPr lang="en-US" sz="1000" dirty="0"/>
          </a:p>
          <a:p>
            <a:r>
              <a:rPr lang="en-US" sz="2400" b="1" i="1" dirty="0">
                <a:solidFill>
                  <a:srgbClr val="C00000"/>
                </a:solidFill>
              </a:rPr>
              <a:t>Integrity</a:t>
            </a:r>
            <a:r>
              <a:rPr lang="en-US" sz="2400" dirty="0"/>
              <a:t>: Ensure that attackers cannot tamper with your traffic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HMAC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Prevent replay attacks </a:t>
            </a:r>
            <a:r>
              <a:rPr lang="en-US" sz="2400" dirty="0">
                <a:sym typeface="Wingdings" panose="05000000000000000000" pitchFamily="2" charset="2"/>
              </a:rPr>
              <a:t> </a:t>
            </a:r>
            <a:r>
              <a:rPr lang="en-US" sz="2400" dirty="0"/>
              <a:t>The attacker records encrypted traffic and then replays it to the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Example: Replaying a packet that sends “Pay $10 to Mallory”</a:t>
            </a:r>
          </a:p>
          <a:p>
            <a:endParaRPr lang="en-US" sz="1000" dirty="0"/>
          </a:p>
          <a:p>
            <a:r>
              <a:rPr lang="en-US" sz="2400" b="1" i="1" dirty="0">
                <a:solidFill>
                  <a:srgbClr val="C00000"/>
                </a:solidFill>
              </a:rPr>
              <a:t>Authenticity</a:t>
            </a:r>
            <a:r>
              <a:rPr lang="en-US" sz="2400" dirty="0"/>
              <a:t>: Make sure you’re talking to the legitimate server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Asymmetric encryption/Digital signature &amp; Certificate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Defend against an attacker impersonating the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Prevents man-in-the-middle (MITM) attacks</a:t>
            </a:r>
          </a:p>
        </p:txBody>
      </p:sp>
    </p:spTree>
    <p:extLst>
      <p:ext uri="{BB962C8B-B14F-4D97-AF65-F5344CB8AC3E}">
        <p14:creationId xmlns:p14="http://schemas.microsoft.com/office/powerpoint/2010/main" val="479485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854B-FADB-81A3-8A1B-1B600B74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8BBD-4312-A9A9-9820-62EC415A1AD1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4FB7CAE-3B50-BCF0-02E3-F94F2C8E5600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Transport Layer Security (TLS)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TLS Handshake Protocol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TLS: Security Guarantees and Summary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TLS: Application (HTTPS)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223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12725-AEC8-8317-1EEB-46AABBFC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70"/>
            <a:ext cx="10515600" cy="1144523"/>
          </a:xfrm>
        </p:spPr>
        <p:txBody>
          <a:bodyPr/>
          <a:lstStyle/>
          <a:p>
            <a:r>
              <a:rPr lang="en" dirty="0"/>
              <a:t>TLS Handshake Step 1: Exchange Hellos</a:t>
            </a:r>
            <a:endParaRPr lang="en-US" dirty="0"/>
          </a:p>
        </p:txBody>
      </p:sp>
      <p:sp>
        <p:nvSpPr>
          <p:cNvPr id="4" name="Google Shape;120;p21">
            <a:extLst>
              <a:ext uri="{FF2B5EF4-FFF2-40B4-BE49-F238E27FC236}">
                <a16:creationId xmlns:a16="http://schemas.microsoft.com/office/drawing/2014/main" id="{FB1D877B-94CF-9897-CA45-B798C466F7FF}"/>
              </a:ext>
            </a:extLst>
          </p:cNvPr>
          <p:cNvSpPr txBox="1">
            <a:spLocks/>
          </p:cNvSpPr>
          <p:nvPr/>
        </p:nvSpPr>
        <p:spPr>
          <a:xfrm>
            <a:off x="399805" y="1382052"/>
            <a:ext cx="7809863" cy="512107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Assume an underlying TCP connection has already been formed; Use TLS 1.2 as an example.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The client sends </a:t>
            </a:r>
            <a:r>
              <a:rPr lang="en-US" sz="2400" b="1" dirty="0" err="1"/>
              <a:t>ClientHello</a:t>
            </a:r>
            <a:r>
              <a:rPr lang="en-US" sz="2400" dirty="0"/>
              <a:t> with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 256-bit random number </a:t>
            </a:r>
            <a:r>
              <a:rPr lang="en-US" b="1" i="1" dirty="0">
                <a:solidFill>
                  <a:srgbClr val="C00000"/>
                </a:solidFill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</a:rPr>
              <a:t>C</a:t>
            </a:r>
            <a:r>
              <a:rPr lang="en-US" dirty="0"/>
              <a:t> (“client random”)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 </a:t>
            </a:r>
            <a:r>
              <a:rPr lang="en-US" b="1" i="1" dirty="0"/>
              <a:t>list</a:t>
            </a:r>
            <a:r>
              <a:rPr lang="en-US" dirty="0"/>
              <a:t> of supported cryptographic algorithms (Cipher Spec)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The server sends </a:t>
            </a:r>
            <a:r>
              <a:rPr lang="en-US" sz="2400" b="1" dirty="0" err="1"/>
              <a:t>ServerHello</a:t>
            </a:r>
            <a:r>
              <a:rPr lang="en-US" sz="2400" dirty="0"/>
              <a:t> with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 256-bit random number </a:t>
            </a:r>
            <a:r>
              <a:rPr lang="en-US" b="1" i="1" dirty="0">
                <a:solidFill>
                  <a:srgbClr val="C00000"/>
                </a:solidFill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</a:rPr>
              <a:t>S</a:t>
            </a:r>
            <a:r>
              <a:rPr lang="en-US" dirty="0"/>
              <a:t> (“server random”)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algorithms to use (chosen from the client’s list)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b="1" i="1" dirty="0">
                <a:solidFill>
                  <a:srgbClr val="C00000"/>
                </a:solidFill>
              </a:rPr>
              <a:t>R</a:t>
            </a:r>
            <a:r>
              <a:rPr lang="en-US" sz="2400" b="1" i="1" baseline="-25000" dirty="0">
                <a:solidFill>
                  <a:srgbClr val="C00000"/>
                </a:solidFill>
              </a:rPr>
              <a:t>C</a:t>
            </a:r>
            <a:r>
              <a:rPr lang="en-US" sz="2400" dirty="0"/>
              <a:t> and </a:t>
            </a:r>
            <a:r>
              <a:rPr lang="en-US" sz="2400" b="1" i="1" dirty="0">
                <a:solidFill>
                  <a:srgbClr val="C00000"/>
                </a:solidFill>
              </a:rPr>
              <a:t>R</a:t>
            </a:r>
            <a:r>
              <a:rPr lang="en-US" sz="2400" b="1" i="1" baseline="-25000" dirty="0">
                <a:solidFill>
                  <a:srgbClr val="C00000"/>
                </a:solidFill>
              </a:rPr>
              <a:t>S</a:t>
            </a:r>
            <a:r>
              <a:rPr lang="en-US" sz="2400" dirty="0"/>
              <a:t> prevent replay attacks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i="1" dirty="0">
                <a:solidFill>
                  <a:srgbClr val="C00000"/>
                </a:solidFill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</a:rPr>
              <a:t>C  </a:t>
            </a:r>
            <a:r>
              <a:rPr lang="en-US" dirty="0"/>
              <a:t>and </a:t>
            </a:r>
            <a:r>
              <a:rPr lang="en-US" b="1" i="1" dirty="0">
                <a:solidFill>
                  <a:srgbClr val="C00000"/>
                </a:solidFill>
              </a:rPr>
              <a:t>R</a:t>
            </a:r>
            <a:r>
              <a:rPr lang="en-US" b="1" i="1" baseline="-25000" dirty="0">
                <a:solidFill>
                  <a:srgbClr val="C00000"/>
                </a:solidFill>
              </a:rPr>
              <a:t>S</a:t>
            </a:r>
            <a:r>
              <a:rPr lang="en-US" dirty="0"/>
              <a:t> are </a:t>
            </a:r>
            <a:r>
              <a:rPr lang="en-US" dirty="0">
                <a:solidFill>
                  <a:srgbClr val="C00000"/>
                </a:solidFill>
              </a:rPr>
              <a:t>randomly</a:t>
            </a:r>
            <a:r>
              <a:rPr lang="en-US" dirty="0"/>
              <a:t> chosen for every handshake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This guarantees that two handshakes will never be exactly identical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21BB5B-CDA4-2F9A-8F8E-384CB5773E89}"/>
              </a:ext>
            </a:extLst>
          </p:cNvPr>
          <p:cNvGrpSpPr/>
          <p:nvPr/>
        </p:nvGrpSpPr>
        <p:grpSpPr>
          <a:xfrm>
            <a:off x="8503920" y="2011680"/>
            <a:ext cx="3288275" cy="3881700"/>
            <a:chOff x="8487878" y="1946274"/>
            <a:chExt cx="3288275" cy="3881700"/>
          </a:xfrm>
        </p:grpSpPr>
        <p:cxnSp>
          <p:nvCxnSpPr>
            <p:cNvPr id="5" name="Google Shape;121;p21">
              <a:extLst>
                <a:ext uri="{FF2B5EF4-FFF2-40B4-BE49-F238E27FC236}">
                  <a16:creationId xmlns:a16="http://schemas.microsoft.com/office/drawing/2014/main" id="{D1DB0B8A-25E2-8CD6-05FC-3830C6EC3AEB}"/>
                </a:ext>
              </a:extLst>
            </p:cNvPr>
            <p:cNvCxnSpPr/>
            <p:nvPr/>
          </p:nvCxnSpPr>
          <p:spPr>
            <a:xfrm>
              <a:off x="8631503" y="2346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122;p21">
              <a:extLst>
                <a:ext uri="{FF2B5EF4-FFF2-40B4-BE49-F238E27FC236}">
                  <a16:creationId xmlns:a16="http://schemas.microsoft.com/office/drawing/2014/main" id="{8DEE343E-D242-A813-ABEB-CA04A9D8B621}"/>
                </a:ext>
              </a:extLst>
            </p:cNvPr>
            <p:cNvCxnSpPr/>
            <p:nvPr/>
          </p:nvCxnSpPr>
          <p:spPr>
            <a:xfrm>
              <a:off x="11670253" y="2346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123;p21">
              <a:extLst>
                <a:ext uri="{FF2B5EF4-FFF2-40B4-BE49-F238E27FC236}">
                  <a16:creationId xmlns:a16="http://schemas.microsoft.com/office/drawing/2014/main" id="{B9787161-4427-106A-FC6E-8A06FF3025CC}"/>
                </a:ext>
              </a:extLst>
            </p:cNvPr>
            <p:cNvSpPr txBox="1"/>
            <p:nvPr/>
          </p:nvSpPr>
          <p:spPr>
            <a:xfrm>
              <a:off x="8487878" y="1946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sp>
          <p:nvSpPr>
            <p:cNvPr id="8" name="Google Shape;124;p21">
              <a:extLst>
                <a:ext uri="{FF2B5EF4-FFF2-40B4-BE49-F238E27FC236}">
                  <a16:creationId xmlns:a16="http://schemas.microsoft.com/office/drawing/2014/main" id="{8891E69E-3FDD-962C-44AE-490BA51026CC}"/>
                </a:ext>
              </a:extLst>
            </p:cNvPr>
            <p:cNvSpPr txBox="1"/>
            <p:nvPr/>
          </p:nvSpPr>
          <p:spPr>
            <a:xfrm>
              <a:off x="10838953" y="1946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sp>
          <p:nvSpPr>
            <p:cNvPr id="9" name="Google Shape;125;p21">
              <a:extLst>
                <a:ext uri="{FF2B5EF4-FFF2-40B4-BE49-F238E27FC236}">
                  <a16:creationId xmlns:a16="http://schemas.microsoft.com/office/drawing/2014/main" id="{063A7416-6297-0ECD-19AD-3282F977B1AE}"/>
                </a:ext>
              </a:extLst>
            </p:cNvPr>
            <p:cNvSpPr txBox="1"/>
            <p:nvPr/>
          </p:nvSpPr>
          <p:spPr>
            <a:xfrm rot="-523651" flipH="1">
              <a:off x="8710625" y="281840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ServerHello</a:t>
              </a:r>
              <a:endParaRPr/>
            </a:p>
          </p:txBody>
        </p:sp>
        <p:sp>
          <p:nvSpPr>
            <p:cNvPr id="10" name="Google Shape;126;p21">
              <a:extLst>
                <a:ext uri="{FF2B5EF4-FFF2-40B4-BE49-F238E27FC236}">
                  <a16:creationId xmlns:a16="http://schemas.microsoft.com/office/drawing/2014/main" id="{4367B323-D8D9-371F-F6DF-ED5915555EFD}"/>
                </a:ext>
              </a:extLst>
            </p:cNvPr>
            <p:cNvSpPr txBox="1"/>
            <p:nvPr/>
          </p:nvSpPr>
          <p:spPr>
            <a:xfrm rot="512024">
              <a:off x="8723284" y="2303045"/>
              <a:ext cx="2866739" cy="4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ClientHello</a:t>
              </a:r>
              <a:endParaRPr/>
            </a:p>
          </p:txBody>
        </p:sp>
        <p:cxnSp>
          <p:nvCxnSpPr>
            <p:cNvPr id="11" name="Google Shape;127;p21">
              <a:extLst>
                <a:ext uri="{FF2B5EF4-FFF2-40B4-BE49-F238E27FC236}">
                  <a16:creationId xmlns:a16="http://schemas.microsoft.com/office/drawing/2014/main" id="{6E49F2BF-247B-5867-5C9A-DEE1C2C4A684}"/>
                </a:ext>
              </a:extLst>
            </p:cNvPr>
            <p:cNvCxnSpPr/>
            <p:nvPr/>
          </p:nvCxnSpPr>
          <p:spPr>
            <a:xfrm>
              <a:off x="8697903" y="24312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128;p21">
              <a:extLst>
                <a:ext uri="{FF2B5EF4-FFF2-40B4-BE49-F238E27FC236}">
                  <a16:creationId xmlns:a16="http://schemas.microsoft.com/office/drawing/2014/main" id="{924A1920-941F-5B6D-3E9A-E021744527FF}"/>
                </a:ext>
              </a:extLst>
            </p:cNvPr>
            <p:cNvCxnSpPr/>
            <p:nvPr/>
          </p:nvCxnSpPr>
          <p:spPr>
            <a:xfrm flipH="1">
              <a:off x="8724053" y="294653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972098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F331-F5A1-6564-DF47-652CEAE7F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" dirty="0"/>
              <a:t>TLS Handshake Step 2: Certificate</a:t>
            </a:r>
            <a:endParaRPr lang="en-US" dirty="0"/>
          </a:p>
        </p:txBody>
      </p:sp>
      <p:sp>
        <p:nvSpPr>
          <p:cNvPr id="4" name="Google Shape;135;p22">
            <a:extLst>
              <a:ext uri="{FF2B5EF4-FFF2-40B4-BE49-F238E27FC236}">
                <a16:creationId xmlns:a16="http://schemas.microsoft.com/office/drawing/2014/main" id="{A348EAB7-263A-772C-D3D5-88CDAEB94F44}"/>
              </a:ext>
            </a:extLst>
          </p:cNvPr>
          <p:cNvSpPr txBox="1">
            <a:spLocks/>
          </p:cNvSpPr>
          <p:nvPr/>
        </p:nvSpPr>
        <p:spPr>
          <a:xfrm>
            <a:off x="399805" y="1529100"/>
            <a:ext cx="7705879" cy="477810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server sends its certificate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Recall certificates: The server’s </a:t>
            </a:r>
            <a:r>
              <a:rPr lang="en-US" b="1" dirty="0"/>
              <a:t>identity</a:t>
            </a:r>
            <a:r>
              <a:rPr lang="en-US" dirty="0"/>
              <a:t> and </a:t>
            </a:r>
            <a:r>
              <a:rPr lang="en-US" b="1" dirty="0"/>
              <a:t>public key (</a:t>
            </a:r>
            <a:r>
              <a:rPr lang="en" i="1" dirty="0">
                <a:solidFill>
                  <a:srgbClr val="C00000"/>
                </a:solidFill>
              </a:rPr>
              <a:t>PK</a:t>
            </a:r>
            <a:r>
              <a:rPr lang="en" baseline="-25000" dirty="0">
                <a:solidFill>
                  <a:srgbClr val="C00000"/>
                </a:solidFill>
              </a:rPr>
              <a:t>server</a:t>
            </a:r>
            <a:r>
              <a:rPr lang="en-US" b="1" dirty="0"/>
              <a:t>)</a:t>
            </a:r>
            <a:r>
              <a:rPr lang="en-US" dirty="0"/>
              <a:t>, signed by a trusted certificate authority (CA)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validates the certificate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Verify the signature in the certificate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now knows the server’s public key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is </a:t>
            </a:r>
            <a:r>
              <a:rPr lang="en-US" dirty="0">
                <a:solidFill>
                  <a:srgbClr val="C00000"/>
                </a:solidFill>
              </a:rPr>
              <a:t>not yet sure </a:t>
            </a:r>
            <a:r>
              <a:rPr lang="en-US" dirty="0"/>
              <a:t>that they are talking to the legitimate server (not an impersonator)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Recall: Certificates are public. Anyone can provide a certificate for anybody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3840D22-0B7B-B2F1-2E7B-DC173B604BF8}"/>
              </a:ext>
            </a:extLst>
          </p:cNvPr>
          <p:cNvGrpSpPr/>
          <p:nvPr/>
        </p:nvGrpSpPr>
        <p:grpSpPr>
          <a:xfrm>
            <a:off x="8503920" y="2011680"/>
            <a:ext cx="3288275" cy="3881700"/>
            <a:chOff x="7875410" y="2106085"/>
            <a:chExt cx="3288275" cy="3881700"/>
          </a:xfrm>
        </p:grpSpPr>
        <p:cxnSp>
          <p:nvCxnSpPr>
            <p:cNvPr id="5" name="Google Shape;136;p22">
              <a:extLst>
                <a:ext uri="{FF2B5EF4-FFF2-40B4-BE49-F238E27FC236}">
                  <a16:creationId xmlns:a16="http://schemas.microsoft.com/office/drawing/2014/main" id="{C10668A3-C501-9BA9-286B-DD80C8E0BB6C}"/>
                </a:ext>
              </a:extLst>
            </p:cNvPr>
            <p:cNvCxnSpPr/>
            <p:nvPr/>
          </p:nvCxnSpPr>
          <p:spPr>
            <a:xfrm>
              <a:off x="8019035" y="2506285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137;p22">
              <a:extLst>
                <a:ext uri="{FF2B5EF4-FFF2-40B4-BE49-F238E27FC236}">
                  <a16:creationId xmlns:a16="http://schemas.microsoft.com/office/drawing/2014/main" id="{54F425CF-0F91-C720-2923-7A1BDD86523F}"/>
                </a:ext>
              </a:extLst>
            </p:cNvPr>
            <p:cNvCxnSpPr/>
            <p:nvPr/>
          </p:nvCxnSpPr>
          <p:spPr>
            <a:xfrm>
              <a:off x="11057785" y="2506285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138;p22">
              <a:extLst>
                <a:ext uri="{FF2B5EF4-FFF2-40B4-BE49-F238E27FC236}">
                  <a16:creationId xmlns:a16="http://schemas.microsoft.com/office/drawing/2014/main" id="{90EC0C7F-7832-21DE-C680-A466E63E55BE}"/>
                </a:ext>
              </a:extLst>
            </p:cNvPr>
            <p:cNvSpPr txBox="1"/>
            <p:nvPr/>
          </p:nvSpPr>
          <p:spPr>
            <a:xfrm>
              <a:off x="7875410" y="2106085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sp>
          <p:nvSpPr>
            <p:cNvPr id="8" name="Google Shape;139;p22">
              <a:extLst>
                <a:ext uri="{FF2B5EF4-FFF2-40B4-BE49-F238E27FC236}">
                  <a16:creationId xmlns:a16="http://schemas.microsoft.com/office/drawing/2014/main" id="{8EA5C5C6-47FC-A62B-F2C2-E509D33C86E4}"/>
                </a:ext>
              </a:extLst>
            </p:cNvPr>
            <p:cNvSpPr txBox="1"/>
            <p:nvPr/>
          </p:nvSpPr>
          <p:spPr>
            <a:xfrm>
              <a:off x="10226485" y="2106085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sp>
          <p:nvSpPr>
            <p:cNvPr id="9" name="Google Shape;140;p22">
              <a:extLst>
                <a:ext uri="{FF2B5EF4-FFF2-40B4-BE49-F238E27FC236}">
                  <a16:creationId xmlns:a16="http://schemas.microsoft.com/office/drawing/2014/main" id="{CC52B389-BC03-A149-B84C-C3294D848166}"/>
                </a:ext>
              </a:extLst>
            </p:cNvPr>
            <p:cNvSpPr txBox="1"/>
            <p:nvPr/>
          </p:nvSpPr>
          <p:spPr>
            <a:xfrm rot="-523651" flipH="1">
              <a:off x="8098157" y="2978217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ServerHello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10" name="Google Shape;141;p22">
              <a:extLst>
                <a:ext uri="{FF2B5EF4-FFF2-40B4-BE49-F238E27FC236}">
                  <a16:creationId xmlns:a16="http://schemas.microsoft.com/office/drawing/2014/main" id="{A21FF58C-2362-A528-F1A1-A1ABD85C8832}"/>
                </a:ext>
              </a:extLst>
            </p:cNvPr>
            <p:cNvSpPr txBox="1"/>
            <p:nvPr/>
          </p:nvSpPr>
          <p:spPr>
            <a:xfrm rot="512024">
              <a:off x="8110816" y="2462856"/>
              <a:ext cx="2866739" cy="4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ClientHello</a:t>
              </a:r>
              <a:endParaRPr>
                <a:solidFill>
                  <a:srgbClr val="B7B7B7"/>
                </a:solidFill>
              </a:endParaRPr>
            </a:p>
          </p:txBody>
        </p:sp>
        <p:cxnSp>
          <p:nvCxnSpPr>
            <p:cNvPr id="11" name="Google Shape;142;p22">
              <a:extLst>
                <a:ext uri="{FF2B5EF4-FFF2-40B4-BE49-F238E27FC236}">
                  <a16:creationId xmlns:a16="http://schemas.microsoft.com/office/drawing/2014/main" id="{32221178-9533-F75B-AB4A-88AC7F96199A}"/>
                </a:ext>
              </a:extLst>
            </p:cNvPr>
            <p:cNvCxnSpPr/>
            <p:nvPr/>
          </p:nvCxnSpPr>
          <p:spPr>
            <a:xfrm>
              <a:off x="8085435" y="2591098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143;p22">
              <a:extLst>
                <a:ext uri="{FF2B5EF4-FFF2-40B4-BE49-F238E27FC236}">
                  <a16:creationId xmlns:a16="http://schemas.microsoft.com/office/drawing/2014/main" id="{7647A416-0E74-106A-39B9-4090754C9460}"/>
                </a:ext>
              </a:extLst>
            </p:cNvPr>
            <p:cNvCxnSpPr/>
            <p:nvPr/>
          </p:nvCxnSpPr>
          <p:spPr>
            <a:xfrm flipH="1">
              <a:off x="8111585" y="3106347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144;p22">
              <a:extLst>
                <a:ext uri="{FF2B5EF4-FFF2-40B4-BE49-F238E27FC236}">
                  <a16:creationId xmlns:a16="http://schemas.microsoft.com/office/drawing/2014/main" id="{7F70FB24-E892-0A73-A253-2726F41F15F9}"/>
                </a:ext>
              </a:extLst>
            </p:cNvPr>
            <p:cNvCxnSpPr/>
            <p:nvPr/>
          </p:nvCxnSpPr>
          <p:spPr>
            <a:xfrm flipH="1">
              <a:off x="8144335" y="3530097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145;p22">
              <a:extLst>
                <a:ext uri="{FF2B5EF4-FFF2-40B4-BE49-F238E27FC236}">
                  <a16:creationId xmlns:a16="http://schemas.microsoft.com/office/drawing/2014/main" id="{1484AA32-2335-31BD-C38A-30A5729042BD}"/>
                </a:ext>
              </a:extLst>
            </p:cNvPr>
            <p:cNvSpPr txBox="1"/>
            <p:nvPr/>
          </p:nvSpPr>
          <p:spPr>
            <a:xfrm rot="-523651" flipH="1">
              <a:off x="8130907" y="3401967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Certificate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97688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00221-20EC-E33B-FF15-5BF2B1A45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620"/>
            <a:ext cx="10515600" cy="992916"/>
          </a:xfrm>
        </p:spPr>
        <p:txBody>
          <a:bodyPr/>
          <a:lstStyle/>
          <a:p>
            <a:r>
              <a:rPr lang="en" dirty="0"/>
              <a:t>TLS Handshake Step 3: Premaster Secret</a:t>
            </a:r>
            <a:endParaRPr lang="en-US" dirty="0"/>
          </a:p>
        </p:txBody>
      </p:sp>
      <p:sp>
        <p:nvSpPr>
          <p:cNvPr id="6" name="Google Shape;154;p23">
            <a:extLst>
              <a:ext uri="{FF2B5EF4-FFF2-40B4-BE49-F238E27FC236}">
                <a16:creationId xmlns:a16="http://schemas.microsoft.com/office/drawing/2014/main" id="{84650307-0BBF-B26C-F825-31735892575E}"/>
              </a:ext>
            </a:extLst>
          </p:cNvPr>
          <p:cNvSpPr txBox="1">
            <a:spLocks/>
          </p:cNvSpPr>
          <p:nvPr/>
        </p:nvSpPr>
        <p:spPr>
          <a:xfrm>
            <a:off x="195078" y="1266826"/>
            <a:ext cx="8209692" cy="549973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This step has two main purposes</a:t>
            </a:r>
          </a:p>
          <a:p>
            <a:pPr marL="1085850" lvl="1" indent="-51435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dirty="0"/>
              <a:t>Make sure the client is talking to the </a:t>
            </a:r>
            <a:r>
              <a:rPr lang="en-US" b="1" i="1" dirty="0">
                <a:solidFill>
                  <a:srgbClr val="C00000"/>
                </a:solidFill>
              </a:rPr>
              <a:t>legitimate server </a:t>
            </a:r>
            <a:r>
              <a:rPr lang="en-US" dirty="0"/>
              <a:t>(not an impersonator)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The attacker can collect legitimate certificates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The server must </a:t>
            </a:r>
            <a:r>
              <a:rPr lang="en-US" sz="2200" dirty="0">
                <a:solidFill>
                  <a:srgbClr val="C00000"/>
                </a:solidFill>
              </a:rPr>
              <a:t>prove</a:t>
            </a:r>
            <a:r>
              <a:rPr lang="en-US" sz="2200" dirty="0"/>
              <a:t> that it owns the private key corresponding to the public key in the certificate</a:t>
            </a:r>
          </a:p>
          <a:p>
            <a:pPr marL="1028700" lvl="1" indent="-457200"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dirty="0"/>
              <a:t>Give the client and server </a:t>
            </a:r>
            <a:r>
              <a:rPr lang="en-US" b="1" i="1" dirty="0">
                <a:solidFill>
                  <a:srgbClr val="C00000"/>
                </a:solidFill>
              </a:rPr>
              <a:t>a shared secret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An attacker should not be able to learn the secret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200" dirty="0"/>
              <a:t>This will help the client and the server secure messages later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Two approaches to sharing a premaster secret: RSA or Diffie-Hellman (DHE)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E89549-E9D1-7135-9409-181FF2CE245A}"/>
              </a:ext>
            </a:extLst>
          </p:cNvPr>
          <p:cNvGrpSpPr/>
          <p:nvPr/>
        </p:nvGrpSpPr>
        <p:grpSpPr>
          <a:xfrm>
            <a:off x="8503920" y="2011680"/>
            <a:ext cx="3288275" cy="3881700"/>
            <a:chOff x="8065525" y="2301157"/>
            <a:chExt cx="3288275" cy="3881700"/>
          </a:xfrm>
        </p:grpSpPr>
        <p:sp>
          <p:nvSpPr>
            <p:cNvPr id="4" name="Google Shape;150;p23">
              <a:extLst>
                <a:ext uri="{FF2B5EF4-FFF2-40B4-BE49-F238E27FC236}">
                  <a16:creationId xmlns:a16="http://schemas.microsoft.com/office/drawing/2014/main" id="{2F0D8619-B5FA-2D2C-1889-BB3A30ECB39F}"/>
                </a:ext>
              </a:extLst>
            </p:cNvPr>
            <p:cNvSpPr txBox="1"/>
            <p:nvPr/>
          </p:nvSpPr>
          <p:spPr>
            <a:xfrm rot="-523651" flipH="1">
              <a:off x="8288272" y="3173289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ServerHello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5" name="Google Shape;151;p23">
              <a:extLst>
                <a:ext uri="{FF2B5EF4-FFF2-40B4-BE49-F238E27FC236}">
                  <a16:creationId xmlns:a16="http://schemas.microsoft.com/office/drawing/2014/main" id="{DCF095B2-F090-1E58-7278-E67577587E55}"/>
                </a:ext>
              </a:extLst>
            </p:cNvPr>
            <p:cNvSpPr txBox="1"/>
            <p:nvPr/>
          </p:nvSpPr>
          <p:spPr>
            <a:xfrm rot="512024">
              <a:off x="8300931" y="2657928"/>
              <a:ext cx="2866739" cy="4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ClientHello</a:t>
              </a:r>
              <a:endParaRPr>
                <a:solidFill>
                  <a:srgbClr val="B7B7B7"/>
                </a:solidFill>
              </a:endParaRPr>
            </a:p>
          </p:txBody>
        </p:sp>
        <p:cxnSp>
          <p:nvCxnSpPr>
            <p:cNvPr id="7" name="Google Shape;155;p23">
              <a:extLst>
                <a:ext uri="{FF2B5EF4-FFF2-40B4-BE49-F238E27FC236}">
                  <a16:creationId xmlns:a16="http://schemas.microsoft.com/office/drawing/2014/main" id="{4A26EB09-AB4A-5DCE-F835-1CFBF476DA98}"/>
                </a:ext>
              </a:extLst>
            </p:cNvPr>
            <p:cNvCxnSpPr/>
            <p:nvPr/>
          </p:nvCxnSpPr>
          <p:spPr>
            <a:xfrm>
              <a:off x="8209150" y="2701357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56;p23">
              <a:extLst>
                <a:ext uri="{FF2B5EF4-FFF2-40B4-BE49-F238E27FC236}">
                  <a16:creationId xmlns:a16="http://schemas.microsoft.com/office/drawing/2014/main" id="{FED55741-E790-7213-CAFE-139BB01A4243}"/>
                </a:ext>
              </a:extLst>
            </p:cNvPr>
            <p:cNvCxnSpPr/>
            <p:nvPr/>
          </p:nvCxnSpPr>
          <p:spPr>
            <a:xfrm>
              <a:off x="11247900" y="2701357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57;p23">
              <a:extLst>
                <a:ext uri="{FF2B5EF4-FFF2-40B4-BE49-F238E27FC236}">
                  <a16:creationId xmlns:a16="http://schemas.microsoft.com/office/drawing/2014/main" id="{BBDC5594-72D1-6EE1-B173-3D8DA839AAA1}"/>
                </a:ext>
              </a:extLst>
            </p:cNvPr>
            <p:cNvSpPr txBox="1"/>
            <p:nvPr/>
          </p:nvSpPr>
          <p:spPr>
            <a:xfrm>
              <a:off x="8065525" y="2301157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sp>
          <p:nvSpPr>
            <p:cNvPr id="10" name="Google Shape;158;p23">
              <a:extLst>
                <a:ext uri="{FF2B5EF4-FFF2-40B4-BE49-F238E27FC236}">
                  <a16:creationId xmlns:a16="http://schemas.microsoft.com/office/drawing/2014/main" id="{7BAA838D-7C2E-C0E0-9F4B-30305C33C548}"/>
                </a:ext>
              </a:extLst>
            </p:cNvPr>
            <p:cNvSpPr txBox="1"/>
            <p:nvPr/>
          </p:nvSpPr>
          <p:spPr>
            <a:xfrm>
              <a:off x="10416600" y="2301157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cxnSp>
          <p:nvCxnSpPr>
            <p:cNvPr id="11" name="Google Shape;159;p23">
              <a:extLst>
                <a:ext uri="{FF2B5EF4-FFF2-40B4-BE49-F238E27FC236}">
                  <a16:creationId xmlns:a16="http://schemas.microsoft.com/office/drawing/2014/main" id="{05063148-1BBF-2B71-34A1-BD77445108D8}"/>
                </a:ext>
              </a:extLst>
            </p:cNvPr>
            <p:cNvCxnSpPr/>
            <p:nvPr/>
          </p:nvCxnSpPr>
          <p:spPr>
            <a:xfrm>
              <a:off x="8275550" y="2786170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160;p23">
              <a:extLst>
                <a:ext uri="{FF2B5EF4-FFF2-40B4-BE49-F238E27FC236}">
                  <a16:creationId xmlns:a16="http://schemas.microsoft.com/office/drawing/2014/main" id="{0423A5CD-798C-ABB8-2E30-D29F16C1313B}"/>
                </a:ext>
              </a:extLst>
            </p:cNvPr>
            <p:cNvCxnSpPr/>
            <p:nvPr/>
          </p:nvCxnSpPr>
          <p:spPr>
            <a:xfrm flipH="1">
              <a:off x="8301700" y="3301419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161;p23">
              <a:extLst>
                <a:ext uri="{FF2B5EF4-FFF2-40B4-BE49-F238E27FC236}">
                  <a16:creationId xmlns:a16="http://schemas.microsoft.com/office/drawing/2014/main" id="{F1E80425-310E-14C4-5578-12B5F43A4412}"/>
                </a:ext>
              </a:extLst>
            </p:cNvPr>
            <p:cNvCxnSpPr/>
            <p:nvPr/>
          </p:nvCxnSpPr>
          <p:spPr>
            <a:xfrm flipH="1">
              <a:off x="8334450" y="3725169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162;p23">
              <a:extLst>
                <a:ext uri="{FF2B5EF4-FFF2-40B4-BE49-F238E27FC236}">
                  <a16:creationId xmlns:a16="http://schemas.microsoft.com/office/drawing/2014/main" id="{3E53351C-DCE1-A302-222C-F3F48C16BD2D}"/>
                </a:ext>
              </a:extLst>
            </p:cNvPr>
            <p:cNvSpPr txBox="1"/>
            <p:nvPr/>
          </p:nvSpPr>
          <p:spPr>
            <a:xfrm rot="-523651" flipH="1">
              <a:off x="8321022" y="3597039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Certificate</a:t>
              </a:r>
              <a:endParaRPr dirty="0">
                <a:solidFill>
                  <a:srgbClr val="B7B7B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4808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CD67-371E-8748-F300-0CF41DCE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68" y="92479"/>
            <a:ext cx="10951464" cy="1064015"/>
          </a:xfrm>
        </p:spPr>
        <p:txBody>
          <a:bodyPr/>
          <a:lstStyle/>
          <a:p>
            <a:r>
              <a:rPr lang="en" dirty="0"/>
              <a:t>TLS Handshake Step 3: Premaster Secret (RSA)</a:t>
            </a:r>
            <a:endParaRPr lang="en-US" dirty="0"/>
          </a:p>
        </p:txBody>
      </p:sp>
      <p:sp>
        <p:nvSpPr>
          <p:cNvPr id="6" name="Google Shape;171;p24">
            <a:extLst>
              <a:ext uri="{FF2B5EF4-FFF2-40B4-BE49-F238E27FC236}">
                <a16:creationId xmlns:a16="http://schemas.microsoft.com/office/drawing/2014/main" id="{CBD8DDCE-28A5-FEC1-9400-5A3E9B763936}"/>
              </a:ext>
            </a:extLst>
          </p:cNvPr>
          <p:cNvSpPr txBox="1">
            <a:spLocks/>
          </p:cNvSpPr>
          <p:nvPr/>
        </p:nvSpPr>
        <p:spPr>
          <a:xfrm>
            <a:off x="399805" y="1334193"/>
            <a:ext cx="7749785" cy="543132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randomly generates a </a:t>
            </a:r>
            <a:r>
              <a:rPr lang="en-US" b="1" dirty="0">
                <a:solidFill>
                  <a:srgbClr val="C00000"/>
                </a:solidFill>
              </a:rPr>
              <a:t>premaster secret</a:t>
            </a:r>
            <a:r>
              <a:rPr lang="en-US" dirty="0">
                <a:solidFill>
                  <a:srgbClr val="C00000"/>
                </a:solidFill>
              </a:rPr>
              <a:t> (</a:t>
            </a:r>
            <a:r>
              <a:rPr lang="en-US" b="1" i="1" dirty="0">
                <a:solidFill>
                  <a:srgbClr val="C00000"/>
                </a:solidFill>
              </a:rPr>
              <a:t>PS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encrypts </a:t>
            </a:r>
            <a:r>
              <a:rPr lang="en-US" i="1" dirty="0">
                <a:solidFill>
                  <a:srgbClr val="C00000"/>
                </a:solidFill>
              </a:rPr>
              <a:t>PS</a:t>
            </a:r>
            <a:r>
              <a:rPr lang="en-US" dirty="0"/>
              <a:t> with the </a:t>
            </a:r>
            <a:r>
              <a:rPr lang="en-US" i="1" dirty="0">
                <a:solidFill>
                  <a:srgbClr val="C00000"/>
                </a:solidFill>
              </a:rPr>
              <a:t>server’s public key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and sends it to the server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knows the server’s public key from the certificate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server decrypts the premaster secret </a:t>
            </a:r>
            <a:r>
              <a:rPr lang="en-US" i="1" dirty="0">
                <a:solidFill>
                  <a:srgbClr val="C00000"/>
                </a:solidFill>
              </a:rPr>
              <a:t>PS</a:t>
            </a: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and server now share a secret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Recall RSA encryption: Nobody except the legitimate server can decrypt the premaster secret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>
                <a:solidFill>
                  <a:srgbClr val="C00000"/>
                </a:solidFill>
              </a:rPr>
              <a:t>Proves</a:t>
            </a:r>
            <a:r>
              <a:rPr lang="en-US" dirty="0"/>
              <a:t> that the server owns the private key (otherwise, it could not decrypt </a:t>
            </a:r>
            <a:r>
              <a:rPr lang="en-US" i="1" dirty="0"/>
              <a:t>PS</a:t>
            </a:r>
            <a:r>
              <a:rPr lang="en-US" dirty="0"/>
              <a:t>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23A1964-FD27-C263-EA41-B562330B01AC}"/>
              </a:ext>
            </a:extLst>
          </p:cNvPr>
          <p:cNvGrpSpPr/>
          <p:nvPr/>
        </p:nvGrpSpPr>
        <p:grpSpPr>
          <a:xfrm>
            <a:off x="8503920" y="2011680"/>
            <a:ext cx="3288275" cy="3881700"/>
            <a:chOff x="8065525" y="2152274"/>
            <a:chExt cx="3288275" cy="3881700"/>
          </a:xfrm>
        </p:grpSpPr>
        <p:sp>
          <p:nvSpPr>
            <p:cNvPr id="4" name="Google Shape;167;p24">
              <a:extLst>
                <a:ext uri="{FF2B5EF4-FFF2-40B4-BE49-F238E27FC236}">
                  <a16:creationId xmlns:a16="http://schemas.microsoft.com/office/drawing/2014/main" id="{1F53D331-4CFF-78D0-2116-8F4CF75EED73}"/>
                </a:ext>
              </a:extLst>
            </p:cNvPr>
            <p:cNvSpPr txBox="1"/>
            <p:nvPr/>
          </p:nvSpPr>
          <p:spPr>
            <a:xfrm rot="-523651" flipH="1">
              <a:off x="8288272" y="302440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ServerHello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5" name="Google Shape;168;p24">
              <a:extLst>
                <a:ext uri="{FF2B5EF4-FFF2-40B4-BE49-F238E27FC236}">
                  <a16:creationId xmlns:a16="http://schemas.microsoft.com/office/drawing/2014/main" id="{59786A2B-F0FE-384F-FF16-91C92649D462}"/>
                </a:ext>
              </a:extLst>
            </p:cNvPr>
            <p:cNvSpPr txBox="1"/>
            <p:nvPr/>
          </p:nvSpPr>
          <p:spPr>
            <a:xfrm rot="512024">
              <a:off x="8300931" y="2509045"/>
              <a:ext cx="2866739" cy="4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ClientHello</a:t>
              </a:r>
              <a:endParaRPr dirty="0">
                <a:solidFill>
                  <a:srgbClr val="B7B7B7"/>
                </a:solidFill>
              </a:endParaRPr>
            </a:p>
          </p:txBody>
        </p:sp>
        <p:cxnSp>
          <p:nvCxnSpPr>
            <p:cNvPr id="7" name="Google Shape;172;p24">
              <a:extLst>
                <a:ext uri="{FF2B5EF4-FFF2-40B4-BE49-F238E27FC236}">
                  <a16:creationId xmlns:a16="http://schemas.microsoft.com/office/drawing/2014/main" id="{A1F96FC7-C2DF-1BB0-CF8F-409063E5AE9E}"/>
                </a:ext>
              </a:extLst>
            </p:cNvPr>
            <p:cNvCxnSpPr/>
            <p:nvPr/>
          </p:nvCxnSpPr>
          <p:spPr>
            <a:xfrm>
              <a:off x="8209150" y="2552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73;p24">
              <a:extLst>
                <a:ext uri="{FF2B5EF4-FFF2-40B4-BE49-F238E27FC236}">
                  <a16:creationId xmlns:a16="http://schemas.microsoft.com/office/drawing/2014/main" id="{C166B8AA-5E9E-F5D3-53AC-8987737D3F67}"/>
                </a:ext>
              </a:extLst>
            </p:cNvPr>
            <p:cNvCxnSpPr/>
            <p:nvPr/>
          </p:nvCxnSpPr>
          <p:spPr>
            <a:xfrm>
              <a:off x="11247900" y="2552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74;p24">
              <a:extLst>
                <a:ext uri="{FF2B5EF4-FFF2-40B4-BE49-F238E27FC236}">
                  <a16:creationId xmlns:a16="http://schemas.microsoft.com/office/drawing/2014/main" id="{4D4E77D6-2DE3-699D-6401-8DD46A91F524}"/>
                </a:ext>
              </a:extLst>
            </p:cNvPr>
            <p:cNvSpPr txBox="1"/>
            <p:nvPr/>
          </p:nvSpPr>
          <p:spPr>
            <a:xfrm>
              <a:off x="8065525" y="2152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Client</a:t>
              </a:r>
              <a:endParaRPr dirty="0"/>
            </a:p>
          </p:txBody>
        </p:sp>
        <p:sp>
          <p:nvSpPr>
            <p:cNvPr id="10" name="Google Shape;175;p24">
              <a:extLst>
                <a:ext uri="{FF2B5EF4-FFF2-40B4-BE49-F238E27FC236}">
                  <a16:creationId xmlns:a16="http://schemas.microsoft.com/office/drawing/2014/main" id="{76A64177-FD2D-6E26-EAA4-0FEAE5335D8E}"/>
                </a:ext>
              </a:extLst>
            </p:cNvPr>
            <p:cNvSpPr txBox="1"/>
            <p:nvPr/>
          </p:nvSpPr>
          <p:spPr>
            <a:xfrm>
              <a:off x="10416600" y="2152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cxnSp>
          <p:nvCxnSpPr>
            <p:cNvPr id="11" name="Google Shape;176;p24">
              <a:extLst>
                <a:ext uri="{FF2B5EF4-FFF2-40B4-BE49-F238E27FC236}">
                  <a16:creationId xmlns:a16="http://schemas.microsoft.com/office/drawing/2014/main" id="{03C6E973-DC6C-87DF-AE63-A1F89B0E66F9}"/>
                </a:ext>
              </a:extLst>
            </p:cNvPr>
            <p:cNvCxnSpPr/>
            <p:nvPr/>
          </p:nvCxnSpPr>
          <p:spPr>
            <a:xfrm>
              <a:off x="8275550" y="26372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177;p24">
              <a:extLst>
                <a:ext uri="{FF2B5EF4-FFF2-40B4-BE49-F238E27FC236}">
                  <a16:creationId xmlns:a16="http://schemas.microsoft.com/office/drawing/2014/main" id="{E7FA502B-AB21-CA54-6B5C-83739D3D07EB}"/>
                </a:ext>
              </a:extLst>
            </p:cNvPr>
            <p:cNvCxnSpPr/>
            <p:nvPr/>
          </p:nvCxnSpPr>
          <p:spPr>
            <a:xfrm flipH="1">
              <a:off x="8301700" y="315253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178;p24">
              <a:extLst>
                <a:ext uri="{FF2B5EF4-FFF2-40B4-BE49-F238E27FC236}">
                  <a16:creationId xmlns:a16="http://schemas.microsoft.com/office/drawing/2014/main" id="{E414C353-67C8-00E8-DE88-0E915B5D392F}"/>
                </a:ext>
              </a:extLst>
            </p:cNvPr>
            <p:cNvCxnSpPr/>
            <p:nvPr/>
          </p:nvCxnSpPr>
          <p:spPr>
            <a:xfrm flipH="1">
              <a:off x="8334450" y="357628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179;p24">
              <a:extLst>
                <a:ext uri="{FF2B5EF4-FFF2-40B4-BE49-F238E27FC236}">
                  <a16:creationId xmlns:a16="http://schemas.microsoft.com/office/drawing/2014/main" id="{92991C28-851C-E1F7-9AE0-87A5CCED31B5}"/>
                </a:ext>
              </a:extLst>
            </p:cNvPr>
            <p:cNvSpPr txBox="1"/>
            <p:nvPr/>
          </p:nvSpPr>
          <p:spPr>
            <a:xfrm rot="-523651" flipH="1">
              <a:off x="8321022" y="344815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Certificate</a:t>
              </a:r>
              <a:endParaRPr>
                <a:solidFill>
                  <a:srgbClr val="B7B7B7"/>
                </a:solidFill>
              </a:endParaRPr>
            </a:p>
          </p:txBody>
        </p:sp>
        <p:cxnSp>
          <p:nvCxnSpPr>
            <p:cNvPr id="15" name="Google Shape;180;p24">
              <a:extLst>
                <a:ext uri="{FF2B5EF4-FFF2-40B4-BE49-F238E27FC236}">
                  <a16:creationId xmlns:a16="http://schemas.microsoft.com/office/drawing/2014/main" id="{D3593CAF-8644-E977-47D2-42F987D7648D}"/>
                </a:ext>
              </a:extLst>
            </p:cNvPr>
            <p:cNvCxnSpPr/>
            <p:nvPr/>
          </p:nvCxnSpPr>
          <p:spPr>
            <a:xfrm>
              <a:off x="8275550" y="42374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" name="Google Shape;181;p24">
              <a:extLst>
                <a:ext uri="{FF2B5EF4-FFF2-40B4-BE49-F238E27FC236}">
                  <a16:creationId xmlns:a16="http://schemas.microsoft.com/office/drawing/2014/main" id="{68E778E3-021E-F394-20D8-370A9381E24F}"/>
                </a:ext>
              </a:extLst>
            </p:cNvPr>
            <p:cNvSpPr txBox="1"/>
            <p:nvPr/>
          </p:nvSpPr>
          <p:spPr>
            <a:xfrm rot="512024">
              <a:off x="8300931" y="4047718"/>
              <a:ext cx="2866739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{</a:t>
              </a:r>
              <a:r>
                <a:rPr lang="en" sz="2200" i="1" dirty="0"/>
                <a:t>PS</a:t>
              </a:r>
              <a:r>
                <a:rPr lang="en" sz="2200" dirty="0"/>
                <a:t>}</a:t>
              </a:r>
              <a:r>
                <a:rPr lang="en" sz="1600" i="1" dirty="0"/>
                <a:t>PK</a:t>
              </a:r>
              <a:r>
                <a:rPr lang="en" sz="1200" dirty="0"/>
                <a:t>server</a:t>
              </a:r>
              <a:endParaRPr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16675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087C-F848-15E0-AD46-44E355451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712"/>
            <a:ext cx="10515600" cy="917465"/>
          </a:xfrm>
        </p:spPr>
        <p:txBody>
          <a:bodyPr>
            <a:normAutofit/>
          </a:bodyPr>
          <a:lstStyle/>
          <a:p>
            <a:r>
              <a:rPr lang="en" sz="4000" dirty="0"/>
              <a:t>Recap: Diffie-Hellman Key Exchange</a:t>
            </a:r>
            <a:endParaRPr lang="en-US" sz="4000" dirty="0"/>
          </a:p>
        </p:txBody>
      </p:sp>
      <p:sp>
        <p:nvSpPr>
          <p:cNvPr id="4" name="Google Shape;130;p25">
            <a:extLst>
              <a:ext uri="{FF2B5EF4-FFF2-40B4-BE49-F238E27FC236}">
                <a16:creationId xmlns:a16="http://schemas.microsoft.com/office/drawing/2014/main" id="{7C7F58DC-2C9A-BB5E-9729-0841FAD24543}"/>
              </a:ext>
            </a:extLst>
          </p:cNvPr>
          <p:cNvSpPr/>
          <p:nvPr/>
        </p:nvSpPr>
        <p:spPr>
          <a:xfrm>
            <a:off x="1717769" y="3547930"/>
            <a:ext cx="1466700" cy="280725"/>
          </a:xfrm>
          <a:custGeom>
            <a:avLst/>
            <a:gdLst/>
            <a:ahLst/>
            <a:cxnLst/>
            <a:rect l="l" t="t" r="r" b="b"/>
            <a:pathLst>
              <a:path w="58668" h="11229" extrusionOk="0">
                <a:moveTo>
                  <a:pt x="0" y="11229"/>
                </a:moveTo>
                <a:lnTo>
                  <a:pt x="58668" y="11229"/>
                </a:lnTo>
                <a:lnTo>
                  <a:pt x="58668" y="0"/>
                </a:ln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lstStyle/>
          <a:p>
            <a:endParaRPr lang="en-US" sz="2200"/>
          </a:p>
        </p:txBody>
      </p:sp>
      <p:cxnSp>
        <p:nvCxnSpPr>
          <p:cNvPr id="6" name="Google Shape;133;p25">
            <a:extLst>
              <a:ext uri="{FF2B5EF4-FFF2-40B4-BE49-F238E27FC236}">
                <a16:creationId xmlns:a16="http://schemas.microsoft.com/office/drawing/2014/main" id="{5266E531-345C-A8EC-2C4C-17653D7C39AD}"/>
              </a:ext>
            </a:extLst>
          </p:cNvPr>
          <p:cNvCxnSpPr/>
          <p:nvPr/>
        </p:nvCxnSpPr>
        <p:spPr>
          <a:xfrm>
            <a:off x="4835547" y="2296421"/>
            <a:ext cx="0" cy="330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134;p25">
            <a:extLst>
              <a:ext uri="{FF2B5EF4-FFF2-40B4-BE49-F238E27FC236}">
                <a16:creationId xmlns:a16="http://schemas.microsoft.com/office/drawing/2014/main" id="{D520ECF3-6936-1905-BBEF-FBCD1E2BB7DD}"/>
              </a:ext>
            </a:extLst>
          </p:cNvPr>
          <p:cNvCxnSpPr/>
          <p:nvPr/>
        </p:nvCxnSpPr>
        <p:spPr>
          <a:xfrm>
            <a:off x="7456822" y="2296421"/>
            <a:ext cx="0" cy="330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135;p25">
            <a:extLst>
              <a:ext uri="{FF2B5EF4-FFF2-40B4-BE49-F238E27FC236}">
                <a16:creationId xmlns:a16="http://schemas.microsoft.com/office/drawing/2014/main" id="{0F464DC3-0B3B-6534-806B-45B4CAEEFB4E}"/>
              </a:ext>
            </a:extLst>
          </p:cNvPr>
          <p:cNvSpPr txBox="1"/>
          <p:nvPr/>
        </p:nvSpPr>
        <p:spPr>
          <a:xfrm>
            <a:off x="2735573" y="1715797"/>
            <a:ext cx="810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Alice</a:t>
            </a:r>
            <a:endParaRPr sz="2200" dirty="0"/>
          </a:p>
        </p:txBody>
      </p:sp>
      <p:sp>
        <p:nvSpPr>
          <p:cNvPr id="9" name="Google Shape;136;p25">
            <a:extLst>
              <a:ext uri="{FF2B5EF4-FFF2-40B4-BE49-F238E27FC236}">
                <a16:creationId xmlns:a16="http://schemas.microsoft.com/office/drawing/2014/main" id="{B4FD92A9-C7AF-BFF8-D112-9A1A25EC5BC9}"/>
              </a:ext>
            </a:extLst>
          </p:cNvPr>
          <p:cNvSpPr txBox="1"/>
          <p:nvPr/>
        </p:nvSpPr>
        <p:spPr>
          <a:xfrm>
            <a:off x="5740723" y="2296421"/>
            <a:ext cx="8109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Mallory</a:t>
            </a:r>
            <a:endParaRPr sz="22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137;p25">
            <a:extLst>
              <a:ext uri="{FF2B5EF4-FFF2-40B4-BE49-F238E27FC236}">
                <a16:creationId xmlns:a16="http://schemas.microsoft.com/office/drawing/2014/main" id="{3ED9B7E5-42EE-3008-D1B8-5B8B85F06C6A}"/>
              </a:ext>
            </a:extLst>
          </p:cNvPr>
          <p:cNvSpPr txBox="1"/>
          <p:nvPr/>
        </p:nvSpPr>
        <p:spPr>
          <a:xfrm>
            <a:off x="8895719" y="1712238"/>
            <a:ext cx="810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Bob</a:t>
            </a:r>
            <a:endParaRPr sz="2200" dirty="0"/>
          </a:p>
        </p:txBody>
      </p:sp>
      <p:sp>
        <p:nvSpPr>
          <p:cNvPr id="11" name="Google Shape;138;p25">
            <a:extLst>
              <a:ext uri="{FF2B5EF4-FFF2-40B4-BE49-F238E27FC236}">
                <a16:creationId xmlns:a16="http://schemas.microsoft.com/office/drawing/2014/main" id="{C15A0AB9-D6B1-7B07-3ACB-3FC72BDF298A}"/>
              </a:ext>
            </a:extLst>
          </p:cNvPr>
          <p:cNvSpPr txBox="1"/>
          <p:nvPr/>
        </p:nvSpPr>
        <p:spPr>
          <a:xfrm>
            <a:off x="1455017" y="2382120"/>
            <a:ext cx="338328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Generate </a:t>
            </a:r>
            <a:r>
              <a:rPr lang="en" sz="2200" i="1" dirty="0">
                <a:solidFill>
                  <a:srgbClr val="E69138"/>
                </a:solidFill>
              </a:rPr>
              <a:t>a</a:t>
            </a:r>
            <a:endParaRPr sz="2200" i="1" dirty="0">
              <a:solidFill>
                <a:srgbClr val="E69138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Calculate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E69138"/>
                </a:solidFill>
              </a:rPr>
              <a:t>a</a:t>
            </a:r>
            <a:r>
              <a:rPr lang="en" sz="2200" dirty="0"/>
              <a:t> mod </a:t>
            </a:r>
            <a:r>
              <a:rPr lang="en" sz="2200" i="1" dirty="0"/>
              <a:t>p</a:t>
            </a:r>
            <a:endParaRPr sz="2200"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Receive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1155CC"/>
                </a:solidFill>
              </a:rPr>
              <a:t>b</a:t>
            </a:r>
            <a:r>
              <a:rPr lang="en" sz="2200" dirty="0"/>
              <a:t> mod </a:t>
            </a:r>
            <a:r>
              <a:rPr lang="en" sz="2200" i="1" dirty="0"/>
              <a:t>p</a:t>
            </a:r>
            <a:endParaRPr sz="2200"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Calculate (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1155CC"/>
                </a:solidFill>
              </a:rPr>
              <a:t>b</a:t>
            </a:r>
            <a:r>
              <a:rPr lang="en" sz="2200" dirty="0"/>
              <a:t>)</a:t>
            </a:r>
            <a:r>
              <a:rPr lang="en" sz="2200" i="1" baseline="30000" dirty="0">
                <a:solidFill>
                  <a:srgbClr val="E69138"/>
                </a:solidFill>
              </a:rPr>
              <a:t>a</a:t>
            </a:r>
            <a:r>
              <a:rPr lang="en" sz="2200" dirty="0"/>
              <a:t> mod </a:t>
            </a:r>
            <a:r>
              <a:rPr lang="en" sz="2200" i="1" dirty="0"/>
              <a:t>p</a:t>
            </a:r>
            <a:endParaRPr sz="2200" i="1" dirty="0"/>
          </a:p>
        </p:txBody>
      </p:sp>
      <p:sp>
        <p:nvSpPr>
          <p:cNvPr id="12" name="Google Shape;139;p25">
            <a:extLst>
              <a:ext uri="{FF2B5EF4-FFF2-40B4-BE49-F238E27FC236}">
                <a16:creationId xmlns:a16="http://schemas.microsoft.com/office/drawing/2014/main" id="{4FA80B9B-AF4F-622E-8C44-1C53CC308E28}"/>
              </a:ext>
            </a:extLst>
          </p:cNvPr>
          <p:cNvSpPr txBox="1"/>
          <p:nvPr/>
        </p:nvSpPr>
        <p:spPr>
          <a:xfrm>
            <a:off x="7609529" y="2382120"/>
            <a:ext cx="3383280" cy="289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Generate </a:t>
            </a:r>
            <a:r>
              <a:rPr lang="en" sz="2200" i="1" dirty="0">
                <a:solidFill>
                  <a:srgbClr val="1155CC"/>
                </a:solidFill>
              </a:rPr>
              <a:t>b</a:t>
            </a:r>
            <a:endParaRPr sz="2200" i="1" dirty="0">
              <a:solidFill>
                <a:srgbClr val="1155CC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Calculate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1155CC"/>
                </a:solidFill>
              </a:rPr>
              <a:t>b</a:t>
            </a:r>
            <a:r>
              <a:rPr lang="en" sz="2200" dirty="0"/>
              <a:t> mod </a:t>
            </a:r>
            <a:r>
              <a:rPr lang="en" sz="2200" i="1" dirty="0"/>
              <a:t>p</a:t>
            </a:r>
            <a:endParaRPr lang="en-US" sz="2200"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Receive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E69138"/>
                </a:solidFill>
              </a:rPr>
              <a:t>a</a:t>
            </a:r>
            <a:r>
              <a:rPr lang="en" sz="2200" dirty="0"/>
              <a:t> mod </a:t>
            </a:r>
            <a:r>
              <a:rPr lang="en" sz="2200" i="1" dirty="0"/>
              <a:t>p</a:t>
            </a:r>
            <a:endParaRPr sz="2200"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Calculate (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E69138"/>
                </a:solidFill>
              </a:rPr>
              <a:t>a</a:t>
            </a:r>
            <a:r>
              <a:rPr lang="en" sz="2200" dirty="0"/>
              <a:t>)</a:t>
            </a:r>
            <a:r>
              <a:rPr lang="en" sz="2200" i="1" baseline="30000" dirty="0">
                <a:solidFill>
                  <a:srgbClr val="1155CC"/>
                </a:solidFill>
              </a:rPr>
              <a:t>b</a:t>
            </a:r>
            <a:r>
              <a:rPr lang="en" sz="2200" dirty="0"/>
              <a:t> mod </a:t>
            </a:r>
            <a:r>
              <a:rPr lang="en" sz="2200" i="1" dirty="0"/>
              <a:t>p</a:t>
            </a:r>
            <a:endParaRPr sz="2200" i="1" dirty="0"/>
          </a:p>
        </p:txBody>
      </p:sp>
      <p:grpSp>
        <p:nvGrpSpPr>
          <p:cNvPr id="13" name="Google Shape;140;p25">
            <a:extLst>
              <a:ext uri="{FF2B5EF4-FFF2-40B4-BE49-F238E27FC236}">
                <a16:creationId xmlns:a16="http://schemas.microsoft.com/office/drawing/2014/main" id="{32C0B9B8-E573-DD29-DD2E-DE4DCFB66070}"/>
              </a:ext>
            </a:extLst>
          </p:cNvPr>
          <p:cNvGrpSpPr/>
          <p:nvPr/>
        </p:nvGrpSpPr>
        <p:grpSpPr>
          <a:xfrm>
            <a:off x="4529092" y="3250077"/>
            <a:ext cx="3333000" cy="1034575"/>
            <a:chOff x="2961600" y="2321275"/>
            <a:chExt cx="3333000" cy="1034575"/>
          </a:xfrm>
        </p:grpSpPr>
        <p:cxnSp>
          <p:nvCxnSpPr>
            <p:cNvPr id="14" name="Google Shape;141;p25">
              <a:extLst>
                <a:ext uri="{FF2B5EF4-FFF2-40B4-BE49-F238E27FC236}">
                  <a16:creationId xmlns:a16="http://schemas.microsoft.com/office/drawing/2014/main" id="{307CBDA7-776D-5587-BB4B-298C3DFEBDFC}"/>
                </a:ext>
              </a:extLst>
            </p:cNvPr>
            <p:cNvCxnSpPr/>
            <p:nvPr/>
          </p:nvCxnSpPr>
          <p:spPr>
            <a:xfrm>
              <a:off x="2961600" y="2544650"/>
              <a:ext cx="3333000" cy="81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Google Shape;142;p25">
              <a:extLst>
                <a:ext uri="{FF2B5EF4-FFF2-40B4-BE49-F238E27FC236}">
                  <a16:creationId xmlns:a16="http://schemas.microsoft.com/office/drawing/2014/main" id="{66A37D21-21A6-BC0C-B7C7-169C572868C4}"/>
                </a:ext>
              </a:extLst>
            </p:cNvPr>
            <p:cNvSpPr txBox="1"/>
            <p:nvPr/>
          </p:nvSpPr>
          <p:spPr>
            <a:xfrm>
              <a:off x="3448324" y="2321275"/>
              <a:ext cx="680825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i="1" dirty="0"/>
                <a:t>g</a:t>
              </a:r>
              <a:r>
                <a:rPr lang="en" sz="2200" i="1" baseline="30000" dirty="0">
                  <a:solidFill>
                    <a:srgbClr val="E69138"/>
                  </a:solidFill>
                </a:rPr>
                <a:t>a</a:t>
              </a:r>
              <a:endParaRPr sz="2200" i="1" baseline="30000" dirty="0">
                <a:solidFill>
                  <a:srgbClr val="E6913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6" name="Google Shape;143;p25">
            <a:extLst>
              <a:ext uri="{FF2B5EF4-FFF2-40B4-BE49-F238E27FC236}">
                <a16:creationId xmlns:a16="http://schemas.microsoft.com/office/drawing/2014/main" id="{5550B7EA-7692-A3CF-689B-975C78D821AD}"/>
              </a:ext>
            </a:extLst>
          </p:cNvPr>
          <p:cNvGrpSpPr/>
          <p:nvPr/>
        </p:nvGrpSpPr>
        <p:grpSpPr>
          <a:xfrm>
            <a:off x="4449138" y="3285853"/>
            <a:ext cx="3403500" cy="1005175"/>
            <a:chOff x="2891100" y="2321275"/>
            <a:chExt cx="3403500" cy="1005175"/>
          </a:xfrm>
        </p:grpSpPr>
        <p:cxnSp>
          <p:nvCxnSpPr>
            <p:cNvPr id="17" name="Google Shape;144;p25">
              <a:extLst>
                <a:ext uri="{FF2B5EF4-FFF2-40B4-BE49-F238E27FC236}">
                  <a16:creationId xmlns:a16="http://schemas.microsoft.com/office/drawing/2014/main" id="{FBF27C17-1C2D-0D65-8558-9B5A5EE6BD21}"/>
                </a:ext>
              </a:extLst>
            </p:cNvPr>
            <p:cNvCxnSpPr/>
            <p:nvPr/>
          </p:nvCxnSpPr>
          <p:spPr>
            <a:xfrm flipH="1">
              <a:off x="2891100" y="2544650"/>
              <a:ext cx="3403500" cy="7818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" name="Google Shape;145;p25">
              <a:extLst>
                <a:ext uri="{FF2B5EF4-FFF2-40B4-BE49-F238E27FC236}">
                  <a16:creationId xmlns:a16="http://schemas.microsoft.com/office/drawing/2014/main" id="{A9C9B63F-2B88-2758-66C8-3CEB280EED89}"/>
                </a:ext>
              </a:extLst>
            </p:cNvPr>
            <p:cNvSpPr txBox="1"/>
            <p:nvPr/>
          </p:nvSpPr>
          <p:spPr>
            <a:xfrm>
              <a:off x="5293675" y="2321275"/>
              <a:ext cx="599674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i="1" dirty="0"/>
                <a:t>g</a:t>
              </a:r>
              <a:r>
                <a:rPr lang="en" sz="2200" i="1" baseline="30000" dirty="0">
                  <a:solidFill>
                    <a:srgbClr val="1155CC"/>
                  </a:solidFill>
                </a:rPr>
                <a:t>b</a:t>
              </a:r>
              <a:endParaRPr sz="2200" i="1" baseline="30000" dirty="0">
                <a:solidFill>
                  <a:srgbClr val="1155CC"/>
                </a:solidFill>
              </a:endParaRPr>
            </a:p>
          </p:txBody>
        </p:sp>
      </p:grpSp>
      <p:sp>
        <p:nvSpPr>
          <p:cNvPr id="19" name="Google Shape;146;p25">
            <a:extLst>
              <a:ext uri="{FF2B5EF4-FFF2-40B4-BE49-F238E27FC236}">
                <a16:creationId xmlns:a16="http://schemas.microsoft.com/office/drawing/2014/main" id="{BB7B6C18-23ED-01FA-BB12-2141426E0054}"/>
              </a:ext>
            </a:extLst>
          </p:cNvPr>
          <p:cNvSpPr txBox="1"/>
          <p:nvPr/>
        </p:nvSpPr>
        <p:spPr>
          <a:xfrm>
            <a:off x="2210463" y="5418322"/>
            <a:ext cx="1861121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1" dirty="0">
                <a:solidFill>
                  <a:srgbClr val="E69138"/>
                </a:solidFill>
              </a:rPr>
              <a:t>a</a:t>
            </a:r>
            <a:r>
              <a:rPr lang="en" sz="2200" dirty="0"/>
              <a:t>,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E69138"/>
                </a:solidFill>
              </a:rPr>
              <a:t>a</a:t>
            </a:r>
            <a:r>
              <a:rPr lang="en" sz="2200" dirty="0"/>
              <a:t>,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1155CC"/>
                </a:solidFill>
              </a:rPr>
              <a:t>b</a:t>
            </a:r>
            <a:r>
              <a:rPr lang="en" sz="2200" dirty="0"/>
              <a:t> ⇒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E69138"/>
                </a:solidFill>
              </a:rPr>
              <a:t>a</a:t>
            </a:r>
            <a:r>
              <a:rPr lang="en" sz="2200" i="1" baseline="30000" dirty="0">
                <a:solidFill>
                  <a:srgbClr val="1155CC"/>
                </a:solidFill>
              </a:rPr>
              <a:t>b</a:t>
            </a:r>
            <a:endParaRPr sz="2200" i="1" baseline="30000" dirty="0">
              <a:solidFill>
                <a:srgbClr val="1155CC"/>
              </a:solidFill>
            </a:endParaRPr>
          </a:p>
        </p:txBody>
      </p:sp>
      <p:sp>
        <p:nvSpPr>
          <p:cNvPr id="20" name="Google Shape;147;p25">
            <a:extLst>
              <a:ext uri="{FF2B5EF4-FFF2-40B4-BE49-F238E27FC236}">
                <a16:creationId xmlns:a16="http://schemas.microsoft.com/office/drawing/2014/main" id="{32138584-7386-67E0-5ABE-FDB1CEFCD8D8}"/>
              </a:ext>
            </a:extLst>
          </p:cNvPr>
          <p:cNvSpPr txBox="1"/>
          <p:nvPr/>
        </p:nvSpPr>
        <p:spPr>
          <a:xfrm>
            <a:off x="7852638" y="5421881"/>
            <a:ext cx="2419877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i="1" dirty="0">
                <a:solidFill>
                  <a:srgbClr val="1155CC"/>
                </a:solidFill>
              </a:rPr>
              <a:t>b</a:t>
            </a:r>
            <a:r>
              <a:rPr lang="en" sz="2200" dirty="0"/>
              <a:t>,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E69138"/>
                </a:solidFill>
              </a:rPr>
              <a:t>a</a:t>
            </a:r>
            <a:r>
              <a:rPr lang="en" sz="2200" dirty="0"/>
              <a:t>,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1155CC"/>
                </a:solidFill>
              </a:rPr>
              <a:t>b</a:t>
            </a:r>
            <a:r>
              <a:rPr lang="en" sz="2200" dirty="0"/>
              <a:t> ⇒ </a:t>
            </a:r>
            <a:r>
              <a:rPr lang="en" sz="2200" i="1" dirty="0"/>
              <a:t>g</a:t>
            </a:r>
            <a:r>
              <a:rPr lang="en" sz="2200" i="1" baseline="30000" dirty="0">
                <a:solidFill>
                  <a:srgbClr val="E69138"/>
                </a:solidFill>
              </a:rPr>
              <a:t>a</a:t>
            </a:r>
            <a:r>
              <a:rPr lang="en" sz="2200" i="1" baseline="30000" dirty="0">
                <a:solidFill>
                  <a:srgbClr val="1155CC"/>
                </a:solidFill>
              </a:rPr>
              <a:t>b</a:t>
            </a:r>
            <a:endParaRPr sz="2200" i="1" baseline="30000" dirty="0">
              <a:solidFill>
                <a:srgbClr val="1155CC"/>
              </a:solidFill>
            </a:endParaRPr>
          </a:p>
        </p:txBody>
      </p:sp>
      <p:grpSp>
        <p:nvGrpSpPr>
          <p:cNvPr id="21" name="Google Shape;148;p25">
            <a:extLst>
              <a:ext uri="{FF2B5EF4-FFF2-40B4-BE49-F238E27FC236}">
                <a16:creationId xmlns:a16="http://schemas.microsoft.com/office/drawing/2014/main" id="{942C3303-D2F0-FDE1-2B1D-9ECAE067EE0F}"/>
              </a:ext>
            </a:extLst>
          </p:cNvPr>
          <p:cNvGrpSpPr/>
          <p:nvPr/>
        </p:nvGrpSpPr>
        <p:grpSpPr>
          <a:xfrm>
            <a:off x="5393172" y="5434553"/>
            <a:ext cx="1547700" cy="523190"/>
            <a:chOff x="3760750" y="4003125"/>
            <a:chExt cx="1547700" cy="523190"/>
          </a:xfrm>
        </p:grpSpPr>
        <p:sp>
          <p:nvSpPr>
            <p:cNvPr id="22" name="Google Shape;149;p25">
              <a:extLst>
                <a:ext uri="{FF2B5EF4-FFF2-40B4-BE49-F238E27FC236}">
                  <a16:creationId xmlns:a16="http://schemas.microsoft.com/office/drawing/2014/main" id="{78145968-5A3E-C917-1EDA-6A60198AD304}"/>
                </a:ext>
              </a:extLst>
            </p:cNvPr>
            <p:cNvSpPr txBox="1"/>
            <p:nvPr/>
          </p:nvSpPr>
          <p:spPr>
            <a:xfrm>
              <a:off x="3760750" y="4003125"/>
              <a:ext cx="1547700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i="1" dirty="0"/>
                <a:t>g</a:t>
              </a:r>
              <a:r>
                <a:rPr lang="en" sz="2200" i="1" baseline="30000" dirty="0">
                  <a:solidFill>
                    <a:srgbClr val="E69138"/>
                  </a:solidFill>
                </a:rPr>
                <a:t>a</a:t>
              </a:r>
              <a:r>
                <a:rPr lang="en" sz="2200" dirty="0"/>
                <a:t>, </a:t>
              </a:r>
              <a:r>
                <a:rPr lang="en" sz="2200" i="1" dirty="0"/>
                <a:t>g</a:t>
              </a:r>
              <a:r>
                <a:rPr lang="en" sz="2200" i="1" baseline="30000" dirty="0">
                  <a:solidFill>
                    <a:srgbClr val="1155CC"/>
                  </a:solidFill>
                </a:rPr>
                <a:t>b</a:t>
              </a:r>
              <a:r>
                <a:rPr lang="en" sz="2200" dirty="0"/>
                <a:t> ⇒ </a:t>
              </a:r>
              <a:r>
                <a:rPr lang="en" sz="2200" i="1" dirty="0"/>
                <a:t>g</a:t>
              </a:r>
              <a:r>
                <a:rPr lang="en" sz="2200" i="1" baseline="30000" dirty="0">
                  <a:solidFill>
                    <a:srgbClr val="E69138"/>
                  </a:solidFill>
                </a:rPr>
                <a:t>a</a:t>
              </a:r>
              <a:r>
                <a:rPr lang="en" sz="2200" i="1" baseline="30000" dirty="0">
                  <a:solidFill>
                    <a:srgbClr val="1155CC"/>
                  </a:solidFill>
                </a:rPr>
                <a:t>b</a:t>
              </a:r>
              <a:endParaRPr sz="2200" i="1" baseline="30000" dirty="0">
                <a:solidFill>
                  <a:srgbClr val="1155CC"/>
                </a:solidFill>
              </a:endParaRPr>
            </a:p>
          </p:txBody>
        </p:sp>
        <p:cxnSp>
          <p:nvCxnSpPr>
            <p:cNvPr id="23" name="Google Shape;150;p25">
              <a:extLst>
                <a:ext uri="{FF2B5EF4-FFF2-40B4-BE49-F238E27FC236}">
                  <a16:creationId xmlns:a16="http://schemas.microsoft.com/office/drawing/2014/main" id="{9F47232B-426D-C3E4-2FA2-80B01BC25E2A}"/>
                </a:ext>
              </a:extLst>
            </p:cNvPr>
            <p:cNvCxnSpPr/>
            <p:nvPr/>
          </p:nvCxnSpPr>
          <p:spPr>
            <a:xfrm rot="10800000" flipH="1">
              <a:off x="4532463" y="4136925"/>
              <a:ext cx="161400" cy="155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" name="Google Shape;151;p25">
            <a:extLst>
              <a:ext uri="{FF2B5EF4-FFF2-40B4-BE49-F238E27FC236}">
                <a16:creationId xmlns:a16="http://schemas.microsoft.com/office/drawing/2014/main" id="{8C481B88-1465-A902-EBC3-74ADC0ED4527}"/>
              </a:ext>
            </a:extLst>
          </p:cNvPr>
          <p:cNvSpPr txBox="1"/>
          <p:nvPr/>
        </p:nvSpPr>
        <p:spPr>
          <a:xfrm>
            <a:off x="5652702" y="1673489"/>
            <a:ext cx="8109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Eve</a:t>
            </a:r>
            <a:endParaRPr sz="2200" dirty="0"/>
          </a:p>
        </p:txBody>
      </p:sp>
      <p:sp>
        <p:nvSpPr>
          <p:cNvPr id="25" name="Google Shape;152;p25">
            <a:extLst>
              <a:ext uri="{FF2B5EF4-FFF2-40B4-BE49-F238E27FC236}">
                <a16:creationId xmlns:a16="http://schemas.microsoft.com/office/drawing/2014/main" id="{36B3F2BB-29DF-D333-C66C-E1782768B4BE}"/>
              </a:ext>
            </a:extLst>
          </p:cNvPr>
          <p:cNvSpPr txBox="1"/>
          <p:nvPr/>
        </p:nvSpPr>
        <p:spPr>
          <a:xfrm>
            <a:off x="5130011" y="909825"/>
            <a:ext cx="1856283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Public: </a:t>
            </a:r>
            <a:r>
              <a:rPr lang="en" sz="2200" i="1" dirty="0"/>
              <a:t>g</a:t>
            </a:r>
            <a:r>
              <a:rPr lang="en" sz="2200" dirty="0"/>
              <a:t>, </a:t>
            </a:r>
            <a:r>
              <a:rPr lang="en" sz="2200" i="1" dirty="0"/>
              <a:t>p</a:t>
            </a:r>
            <a:endParaRPr sz="2200" i="1" dirty="0"/>
          </a:p>
        </p:txBody>
      </p:sp>
      <p:sp>
        <p:nvSpPr>
          <p:cNvPr id="26" name="Google Shape;153;p25">
            <a:extLst>
              <a:ext uri="{FF2B5EF4-FFF2-40B4-BE49-F238E27FC236}">
                <a16:creationId xmlns:a16="http://schemas.microsoft.com/office/drawing/2014/main" id="{C0F41AD5-9CC2-F5A4-537F-8627892B4D12}"/>
              </a:ext>
            </a:extLst>
          </p:cNvPr>
          <p:cNvSpPr txBox="1"/>
          <p:nvPr/>
        </p:nvSpPr>
        <p:spPr>
          <a:xfrm>
            <a:off x="1087265" y="5944538"/>
            <a:ext cx="4157702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/>
              <a:t>Shared symmetric key is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/>
              <a:t>K=</a:t>
            </a:r>
            <a:r>
              <a:rPr lang="en" sz="2200" b="1" i="1" dirty="0">
                <a:solidFill>
                  <a:schemeClr val="dk1"/>
                </a:solidFill>
              </a:rPr>
              <a:t>g</a:t>
            </a:r>
            <a:r>
              <a:rPr lang="en" sz="2200" b="1" i="1" baseline="30000" dirty="0">
                <a:solidFill>
                  <a:srgbClr val="E69138"/>
                </a:solidFill>
              </a:rPr>
              <a:t>a</a:t>
            </a:r>
            <a:r>
              <a:rPr lang="en" sz="2200" b="1" i="1" baseline="30000" dirty="0">
                <a:solidFill>
                  <a:srgbClr val="1155CC"/>
                </a:solidFill>
              </a:rPr>
              <a:t>b</a:t>
            </a:r>
            <a:endParaRPr sz="2200" b="1" dirty="0"/>
          </a:p>
        </p:txBody>
      </p:sp>
      <p:sp>
        <p:nvSpPr>
          <p:cNvPr id="29" name="Google Shape;156;p25">
            <a:extLst>
              <a:ext uri="{FF2B5EF4-FFF2-40B4-BE49-F238E27FC236}">
                <a16:creationId xmlns:a16="http://schemas.microsoft.com/office/drawing/2014/main" id="{EF1060B0-25B4-5AF7-A753-9A64E3B8304F}"/>
              </a:ext>
            </a:extLst>
          </p:cNvPr>
          <p:cNvSpPr txBox="1"/>
          <p:nvPr/>
        </p:nvSpPr>
        <p:spPr>
          <a:xfrm>
            <a:off x="310966" y="2482940"/>
            <a:ext cx="1611704" cy="523190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Private</a:t>
            </a:r>
            <a:endParaRPr sz="2200" dirty="0"/>
          </a:p>
        </p:txBody>
      </p:sp>
      <p:cxnSp>
        <p:nvCxnSpPr>
          <p:cNvPr id="30" name="Google Shape;157;p25">
            <a:extLst>
              <a:ext uri="{FF2B5EF4-FFF2-40B4-BE49-F238E27FC236}">
                <a16:creationId xmlns:a16="http://schemas.microsoft.com/office/drawing/2014/main" id="{FEA67CF6-A943-17C4-4B69-04112DF12240}"/>
              </a:ext>
            </a:extLst>
          </p:cNvPr>
          <p:cNvCxnSpPr>
            <a:cxnSpLocks/>
          </p:cNvCxnSpPr>
          <p:nvPr/>
        </p:nvCxnSpPr>
        <p:spPr>
          <a:xfrm flipV="1">
            <a:off x="1949397" y="2617071"/>
            <a:ext cx="393900" cy="58495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" name="Google Shape;158;p25">
            <a:extLst>
              <a:ext uri="{FF2B5EF4-FFF2-40B4-BE49-F238E27FC236}">
                <a16:creationId xmlns:a16="http://schemas.microsoft.com/office/drawing/2014/main" id="{151A0BA4-50F3-7F70-7C5A-151A6CA5C138}"/>
              </a:ext>
            </a:extLst>
          </p:cNvPr>
          <p:cNvSpPr txBox="1"/>
          <p:nvPr/>
        </p:nvSpPr>
        <p:spPr>
          <a:xfrm>
            <a:off x="338328" y="3505770"/>
            <a:ext cx="1535504" cy="523190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Public</a:t>
            </a:r>
            <a:endParaRPr sz="2200" dirty="0"/>
          </a:p>
        </p:txBody>
      </p:sp>
      <p:sp>
        <p:nvSpPr>
          <p:cNvPr id="33" name="Google Shape;160;p25">
            <a:extLst>
              <a:ext uri="{FF2B5EF4-FFF2-40B4-BE49-F238E27FC236}">
                <a16:creationId xmlns:a16="http://schemas.microsoft.com/office/drawing/2014/main" id="{99F8ED63-3582-9B27-00DB-620F104874B0}"/>
              </a:ext>
            </a:extLst>
          </p:cNvPr>
          <p:cNvSpPr txBox="1"/>
          <p:nvPr/>
        </p:nvSpPr>
        <p:spPr>
          <a:xfrm>
            <a:off x="7177065" y="5888421"/>
            <a:ext cx="4157703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/>
              <a:t>Shared symmetric key is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/>
              <a:t>K=</a:t>
            </a:r>
            <a:r>
              <a:rPr lang="en" sz="2200" b="1" i="1" dirty="0">
                <a:solidFill>
                  <a:schemeClr val="dk1"/>
                </a:solidFill>
              </a:rPr>
              <a:t>g</a:t>
            </a:r>
            <a:r>
              <a:rPr lang="en" sz="2200" b="1" i="1" baseline="30000" dirty="0">
                <a:solidFill>
                  <a:srgbClr val="E69138"/>
                </a:solidFill>
              </a:rPr>
              <a:t>a</a:t>
            </a:r>
            <a:r>
              <a:rPr lang="en" sz="2200" b="1" i="1" baseline="30000" dirty="0">
                <a:solidFill>
                  <a:srgbClr val="1155CC"/>
                </a:solidFill>
              </a:rPr>
              <a:t>b</a:t>
            </a:r>
            <a:endParaRPr sz="2200" b="1" dirty="0"/>
          </a:p>
        </p:txBody>
      </p:sp>
    </p:spTree>
    <p:extLst>
      <p:ext uri="{BB962C8B-B14F-4D97-AF65-F5344CB8AC3E}">
        <p14:creationId xmlns:p14="http://schemas.microsoft.com/office/powerpoint/2010/main" val="460016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B40F3-DD22-016A-C809-A0C53BE63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405" y="151482"/>
            <a:ext cx="11021189" cy="821106"/>
          </a:xfrm>
        </p:spPr>
        <p:txBody>
          <a:bodyPr/>
          <a:lstStyle/>
          <a:p>
            <a:r>
              <a:rPr lang="en" dirty="0"/>
              <a:t>TLS Handshake Step 3: Premaster Secret (DHE)</a:t>
            </a:r>
            <a:endParaRPr lang="en-US" dirty="0"/>
          </a:p>
        </p:txBody>
      </p:sp>
      <p:sp>
        <p:nvSpPr>
          <p:cNvPr id="6" name="Google Shape;190;p25">
            <a:extLst>
              <a:ext uri="{FF2B5EF4-FFF2-40B4-BE49-F238E27FC236}">
                <a16:creationId xmlns:a16="http://schemas.microsoft.com/office/drawing/2014/main" id="{E5342638-0EF0-72A7-8BE9-1ACF05C854F9}"/>
              </a:ext>
            </a:extLst>
          </p:cNvPr>
          <p:cNvSpPr txBox="1">
            <a:spLocks/>
          </p:cNvSpPr>
          <p:nvPr/>
        </p:nvSpPr>
        <p:spPr>
          <a:xfrm>
            <a:off x="123827" y="1339362"/>
            <a:ext cx="7809798" cy="543877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server generates a secret </a:t>
            </a:r>
            <a:r>
              <a:rPr lang="en-US" i="1" dirty="0"/>
              <a:t>a</a:t>
            </a:r>
            <a:r>
              <a:rPr lang="en-US" dirty="0"/>
              <a:t> and computes </a:t>
            </a:r>
            <a:r>
              <a:rPr lang="en-US" i="1" dirty="0"/>
              <a:t>g</a:t>
            </a:r>
            <a:r>
              <a:rPr lang="en-US" i="1" baseline="30000" dirty="0"/>
              <a:t>a</a:t>
            </a:r>
            <a:r>
              <a:rPr lang="en-US" dirty="0"/>
              <a:t> mod </a:t>
            </a:r>
            <a:r>
              <a:rPr lang="en-US" i="1" dirty="0"/>
              <a:t>p</a:t>
            </a: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server </a:t>
            </a:r>
            <a:r>
              <a:rPr lang="en-US" b="1" dirty="0"/>
              <a:t>signs</a:t>
            </a:r>
            <a:r>
              <a:rPr lang="en-US" dirty="0"/>
              <a:t> </a:t>
            </a:r>
            <a:r>
              <a:rPr lang="en-US" i="1" dirty="0"/>
              <a:t>g</a:t>
            </a:r>
            <a:r>
              <a:rPr lang="en-US" i="1" baseline="30000" dirty="0"/>
              <a:t>a</a:t>
            </a:r>
            <a:r>
              <a:rPr lang="en-US" dirty="0"/>
              <a:t> mod </a:t>
            </a:r>
            <a:r>
              <a:rPr lang="en-US" i="1" dirty="0"/>
              <a:t>p</a:t>
            </a:r>
            <a:r>
              <a:rPr lang="en-US" dirty="0"/>
              <a:t> with its private key (</a:t>
            </a:r>
            <a:r>
              <a:rPr lang="en" sz="2400" i="1" dirty="0">
                <a:solidFill>
                  <a:srgbClr val="C00000"/>
                </a:solidFill>
              </a:rPr>
              <a:t>SK</a:t>
            </a:r>
            <a:r>
              <a:rPr lang="en" sz="2000" baseline="-25000" dirty="0">
                <a:solidFill>
                  <a:srgbClr val="C00000"/>
                </a:solidFill>
              </a:rPr>
              <a:t>server</a:t>
            </a:r>
            <a:r>
              <a:rPr lang="en-US" dirty="0"/>
              <a:t>) and sends the message and signature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verifies the signature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altLang="zh-CN" i="1" dirty="0">
                <a:solidFill>
                  <a:srgbClr val="C00000"/>
                </a:solidFill>
              </a:rPr>
              <a:t>PKI and chain of certificates</a:t>
            </a:r>
            <a:endParaRPr lang="en-US" i="1" dirty="0">
              <a:solidFill>
                <a:srgbClr val="C00000"/>
              </a:solidFill>
            </a:endParaRP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Proves that the server owns the private key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generates a secret </a:t>
            </a:r>
            <a:r>
              <a:rPr lang="en-US" i="1" dirty="0"/>
              <a:t>b</a:t>
            </a:r>
            <a:r>
              <a:rPr lang="en-US" dirty="0"/>
              <a:t> and computes </a:t>
            </a:r>
            <a:r>
              <a:rPr lang="en-US" i="1" dirty="0" err="1"/>
              <a:t>g</a:t>
            </a:r>
            <a:r>
              <a:rPr lang="en-US" i="1" baseline="30000" dirty="0" err="1"/>
              <a:t>b</a:t>
            </a:r>
            <a:r>
              <a:rPr lang="en-US" dirty="0"/>
              <a:t> mod </a:t>
            </a:r>
            <a:r>
              <a:rPr lang="en-US" i="1" dirty="0"/>
              <a:t>p</a:t>
            </a:r>
            <a:endParaRPr lang="en-US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and server now share a </a:t>
            </a:r>
            <a:r>
              <a:rPr lang="en-US" b="1" dirty="0">
                <a:solidFill>
                  <a:srgbClr val="C00000"/>
                </a:solidFill>
              </a:rPr>
              <a:t>premaster secret (PS)</a:t>
            </a:r>
            <a:r>
              <a:rPr lang="en-US" dirty="0"/>
              <a:t>: </a:t>
            </a:r>
            <a:r>
              <a:rPr lang="en-US" i="1" dirty="0"/>
              <a:t>g</a:t>
            </a:r>
            <a:r>
              <a:rPr lang="en-US" i="1" baseline="30000" dirty="0"/>
              <a:t>ab</a:t>
            </a:r>
            <a:r>
              <a:rPr lang="en-US" dirty="0"/>
              <a:t> mod </a:t>
            </a:r>
            <a:r>
              <a:rPr lang="en-US" i="1" dirty="0"/>
              <a:t>p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Recall Diffie-Hellman: an attacker cannot compute </a:t>
            </a:r>
            <a:r>
              <a:rPr lang="en-US" i="1" dirty="0"/>
              <a:t>g</a:t>
            </a:r>
            <a:r>
              <a:rPr lang="en-US" i="1" baseline="30000" dirty="0"/>
              <a:t>ab</a:t>
            </a:r>
            <a:r>
              <a:rPr lang="en-US" dirty="0"/>
              <a:t> mod </a:t>
            </a:r>
            <a:r>
              <a:rPr lang="en-US" i="1" dirty="0"/>
              <a:t>p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EE33EF-CA08-178E-BF1D-8DB8FEF94D72}"/>
              </a:ext>
            </a:extLst>
          </p:cNvPr>
          <p:cNvGrpSpPr/>
          <p:nvPr/>
        </p:nvGrpSpPr>
        <p:grpSpPr>
          <a:xfrm>
            <a:off x="8391749" y="1685860"/>
            <a:ext cx="3676424" cy="4253399"/>
            <a:chOff x="7890313" y="2152274"/>
            <a:chExt cx="3676424" cy="4253399"/>
          </a:xfrm>
        </p:grpSpPr>
        <p:sp>
          <p:nvSpPr>
            <p:cNvPr id="4" name="Google Shape;186;p25">
              <a:extLst>
                <a:ext uri="{FF2B5EF4-FFF2-40B4-BE49-F238E27FC236}">
                  <a16:creationId xmlns:a16="http://schemas.microsoft.com/office/drawing/2014/main" id="{65370E9C-3B13-E3B1-7AD5-8109CD6D9767}"/>
                </a:ext>
              </a:extLst>
            </p:cNvPr>
            <p:cNvSpPr txBox="1"/>
            <p:nvPr/>
          </p:nvSpPr>
          <p:spPr>
            <a:xfrm rot="-523651" flipH="1">
              <a:off x="8288272" y="302440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ServerHello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5" name="Google Shape;187;p25">
              <a:extLst>
                <a:ext uri="{FF2B5EF4-FFF2-40B4-BE49-F238E27FC236}">
                  <a16:creationId xmlns:a16="http://schemas.microsoft.com/office/drawing/2014/main" id="{FC770F92-63BA-2775-34D6-6C9263B6C821}"/>
                </a:ext>
              </a:extLst>
            </p:cNvPr>
            <p:cNvSpPr txBox="1"/>
            <p:nvPr/>
          </p:nvSpPr>
          <p:spPr>
            <a:xfrm rot="512024">
              <a:off x="8300931" y="2509045"/>
              <a:ext cx="2866739" cy="4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ClientHello</a:t>
              </a:r>
              <a:endParaRPr>
                <a:solidFill>
                  <a:srgbClr val="B7B7B7"/>
                </a:solidFill>
              </a:endParaRPr>
            </a:p>
          </p:txBody>
        </p:sp>
        <p:cxnSp>
          <p:nvCxnSpPr>
            <p:cNvPr id="7" name="Google Shape;191;p25">
              <a:extLst>
                <a:ext uri="{FF2B5EF4-FFF2-40B4-BE49-F238E27FC236}">
                  <a16:creationId xmlns:a16="http://schemas.microsoft.com/office/drawing/2014/main" id="{66023FBC-50BB-9DC6-BD45-145B964D231D}"/>
                </a:ext>
              </a:extLst>
            </p:cNvPr>
            <p:cNvCxnSpPr/>
            <p:nvPr/>
          </p:nvCxnSpPr>
          <p:spPr>
            <a:xfrm>
              <a:off x="8209150" y="2552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" name="Google Shape;192;p25">
              <a:extLst>
                <a:ext uri="{FF2B5EF4-FFF2-40B4-BE49-F238E27FC236}">
                  <a16:creationId xmlns:a16="http://schemas.microsoft.com/office/drawing/2014/main" id="{C268EAE7-DCF5-2AD8-8A63-8CF5CD2D4244}"/>
                </a:ext>
              </a:extLst>
            </p:cNvPr>
            <p:cNvCxnSpPr/>
            <p:nvPr/>
          </p:nvCxnSpPr>
          <p:spPr>
            <a:xfrm>
              <a:off x="11247900" y="2552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" name="Google Shape;193;p25">
              <a:extLst>
                <a:ext uri="{FF2B5EF4-FFF2-40B4-BE49-F238E27FC236}">
                  <a16:creationId xmlns:a16="http://schemas.microsoft.com/office/drawing/2014/main" id="{2FC46147-A628-9169-92F1-AD8D5C395A66}"/>
                </a:ext>
              </a:extLst>
            </p:cNvPr>
            <p:cNvSpPr txBox="1"/>
            <p:nvPr/>
          </p:nvSpPr>
          <p:spPr>
            <a:xfrm>
              <a:off x="8065525" y="2152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sp>
          <p:nvSpPr>
            <p:cNvPr id="10" name="Google Shape;194;p25">
              <a:extLst>
                <a:ext uri="{FF2B5EF4-FFF2-40B4-BE49-F238E27FC236}">
                  <a16:creationId xmlns:a16="http://schemas.microsoft.com/office/drawing/2014/main" id="{CC91930D-4FBC-E8D9-3821-D6FE4F3F4336}"/>
                </a:ext>
              </a:extLst>
            </p:cNvPr>
            <p:cNvSpPr txBox="1"/>
            <p:nvPr/>
          </p:nvSpPr>
          <p:spPr>
            <a:xfrm>
              <a:off x="10416600" y="2152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cxnSp>
          <p:nvCxnSpPr>
            <p:cNvPr id="11" name="Google Shape;195;p25">
              <a:extLst>
                <a:ext uri="{FF2B5EF4-FFF2-40B4-BE49-F238E27FC236}">
                  <a16:creationId xmlns:a16="http://schemas.microsoft.com/office/drawing/2014/main" id="{5FCAB575-A386-7680-CAE8-4E6B89EDA5F5}"/>
                </a:ext>
              </a:extLst>
            </p:cNvPr>
            <p:cNvCxnSpPr/>
            <p:nvPr/>
          </p:nvCxnSpPr>
          <p:spPr>
            <a:xfrm>
              <a:off x="8275550" y="26372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Google Shape;196;p25">
              <a:extLst>
                <a:ext uri="{FF2B5EF4-FFF2-40B4-BE49-F238E27FC236}">
                  <a16:creationId xmlns:a16="http://schemas.microsoft.com/office/drawing/2014/main" id="{2906CC5C-8541-22AA-AC12-32222CFEEA32}"/>
                </a:ext>
              </a:extLst>
            </p:cNvPr>
            <p:cNvCxnSpPr/>
            <p:nvPr/>
          </p:nvCxnSpPr>
          <p:spPr>
            <a:xfrm flipH="1">
              <a:off x="8301700" y="315253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Google Shape;197;p25">
              <a:extLst>
                <a:ext uri="{FF2B5EF4-FFF2-40B4-BE49-F238E27FC236}">
                  <a16:creationId xmlns:a16="http://schemas.microsoft.com/office/drawing/2014/main" id="{F0FE1408-49D3-5080-58B1-1661BA79A779}"/>
                </a:ext>
              </a:extLst>
            </p:cNvPr>
            <p:cNvCxnSpPr/>
            <p:nvPr/>
          </p:nvCxnSpPr>
          <p:spPr>
            <a:xfrm flipH="1">
              <a:off x="8334450" y="357628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198;p25">
              <a:extLst>
                <a:ext uri="{FF2B5EF4-FFF2-40B4-BE49-F238E27FC236}">
                  <a16:creationId xmlns:a16="http://schemas.microsoft.com/office/drawing/2014/main" id="{AE4A3AEA-D875-C20C-1F3D-E48E05865979}"/>
                </a:ext>
              </a:extLst>
            </p:cNvPr>
            <p:cNvSpPr txBox="1"/>
            <p:nvPr/>
          </p:nvSpPr>
          <p:spPr>
            <a:xfrm rot="21076349" flipH="1">
              <a:off x="8321022" y="344815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Certificate</a:t>
              </a:r>
              <a:endParaRPr dirty="0">
                <a:solidFill>
                  <a:srgbClr val="B7B7B7"/>
                </a:solidFill>
              </a:endParaRPr>
            </a:p>
          </p:txBody>
        </p:sp>
        <p:cxnSp>
          <p:nvCxnSpPr>
            <p:cNvPr id="15" name="Google Shape;199;p25">
              <a:extLst>
                <a:ext uri="{FF2B5EF4-FFF2-40B4-BE49-F238E27FC236}">
                  <a16:creationId xmlns:a16="http://schemas.microsoft.com/office/drawing/2014/main" id="{08A2C0AD-C581-987F-DC19-B35897A4D12F}"/>
                </a:ext>
              </a:extLst>
            </p:cNvPr>
            <p:cNvCxnSpPr/>
            <p:nvPr/>
          </p:nvCxnSpPr>
          <p:spPr>
            <a:xfrm flipH="1">
              <a:off x="8301700" y="399073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" name="Google Shape;200;p25">
              <a:extLst>
                <a:ext uri="{FF2B5EF4-FFF2-40B4-BE49-F238E27FC236}">
                  <a16:creationId xmlns:a16="http://schemas.microsoft.com/office/drawing/2014/main" id="{8BDD80B6-E6A7-7EAD-D8C8-5ED0C20AA437}"/>
                </a:ext>
              </a:extLst>
            </p:cNvPr>
            <p:cNvSpPr txBox="1"/>
            <p:nvPr/>
          </p:nvSpPr>
          <p:spPr>
            <a:xfrm rot="-523651" flipH="1">
              <a:off x="8288272" y="3801117"/>
              <a:ext cx="2803562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{</a:t>
              </a:r>
              <a:r>
                <a:rPr lang="en" sz="2200" i="1" dirty="0"/>
                <a:t>g</a:t>
              </a:r>
              <a:r>
                <a:rPr lang="en" sz="2200" i="1" baseline="30000" dirty="0"/>
                <a:t>a</a:t>
              </a:r>
              <a:r>
                <a:rPr lang="en" sz="2200" dirty="0"/>
                <a:t> mod </a:t>
              </a:r>
              <a:r>
                <a:rPr lang="en" sz="2200" i="1" dirty="0"/>
                <a:t>p</a:t>
              </a:r>
              <a:r>
                <a:rPr lang="en" sz="2200" dirty="0"/>
                <a:t>}</a:t>
              </a:r>
              <a:r>
                <a:rPr lang="en" sz="1600" i="1" dirty="0">
                  <a:solidFill>
                    <a:srgbClr val="C00000"/>
                  </a:solidFill>
                </a:rPr>
                <a:t>SK</a:t>
              </a:r>
              <a:r>
                <a:rPr lang="en" sz="1600" baseline="30000" dirty="0">
                  <a:solidFill>
                    <a:srgbClr val="C00000"/>
                  </a:solidFill>
                </a:rPr>
                <a:t>-1</a:t>
              </a:r>
              <a:r>
                <a:rPr lang="en" sz="1200" dirty="0">
                  <a:solidFill>
                    <a:srgbClr val="C00000"/>
                  </a:solidFill>
                </a:rPr>
                <a:t>server</a:t>
              </a:r>
              <a:endParaRPr sz="1200" dirty="0">
                <a:solidFill>
                  <a:srgbClr val="C00000"/>
                </a:solidFill>
              </a:endParaRPr>
            </a:p>
          </p:txBody>
        </p:sp>
        <p:cxnSp>
          <p:nvCxnSpPr>
            <p:cNvPr id="17" name="Google Shape;201;p25">
              <a:extLst>
                <a:ext uri="{FF2B5EF4-FFF2-40B4-BE49-F238E27FC236}">
                  <a16:creationId xmlns:a16="http://schemas.microsoft.com/office/drawing/2014/main" id="{DED5CC15-B604-410F-53FC-371918042F1E}"/>
                </a:ext>
              </a:extLst>
            </p:cNvPr>
            <p:cNvCxnSpPr/>
            <p:nvPr/>
          </p:nvCxnSpPr>
          <p:spPr>
            <a:xfrm>
              <a:off x="8275550" y="45422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" name="Google Shape;202;p25">
              <a:extLst>
                <a:ext uri="{FF2B5EF4-FFF2-40B4-BE49-F238E27FC236}">
                  <a16:creationId xmlns:a16="http://schemas.microsoft.com/office/drawing/2014/main" id="{63127C09-CF76-E10E-594C-2A07CDD21635}"/>
                </a:ext>
              </a:extLst>
            </p:cNvPr>
            <p:cNvSpPr txBox="1"/>
            <p:nvPr/>
          </p:nvSpPr>
          <p:spPr>
            <a:xfrm rot="512024">
              <a:off x="8300931" y="4352517"/>
              <a:ext cx="2866739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i="1" dirty="0">
                  <a:solidFill>
                    <a:schemeClr val="dk1"/>
                  </a:solidFill>
                </a:rPr>
                <a:t>g</a:t>
              </a:r>
              <a:r>
                <a:rPr lang="en" sz="2200" i="1" baseline="30000" dirty="0">
                  <a:solidFill>
                    <a:schemeClr val="dk1"/>
                  </a:solidFill>
                </a:rPr>
                <a:t>b</a:t>
              </a:r>
              <a:r>
                <a:rPr lang="en" sz="2200" dirty="0">
                  <a:solidFill>
                    <a:schemeClr val="dk1"/>
                  </a:solidFill>
                </a:rPr>
                <a:t> mod </a:t>
              </a:r>
              <a:r>
                <a:rPr lang="en" sz="2200" i="1" dirty="0">
                  <a:solidFill>
                    <a:schemeClr val="dk1"/>
                  </a:solidFill>
                </a:rPr>
                <a:t>p</a:t>
              </a:r>
              <a:endParaRPr sz="2200" i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48A522F-C3CE-9416-932A-1579F5048096}"/>
                </a:ext>
              </a:extLst>
            </p:cNvPr>
            <p:cNvSpPr txBox="1"/>
            <p:nvPr/>
          </p:nvSpPr>
          <p:spPr>
            <a:xfrm>
              <a:off x="7890313" y="6036341"/>
              <a:ext cx="6376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>
                <a:spcBef>
                  <a:spcPts val="0"/>
                </a:spcBef>
                <a:spcAft>
                  <a:spcPts val="600"/>
                </a:spcAft>
                <a:buSzPts val="1800"/>
              </a:pPr>
              <a:r>
                <a:rPr lang="en-US" b="1" i="1" dirty="0">
                  <a:solidFill>
                    <a:srgbClr val="C00000"/>
                  </a:solidFill>
                </a:rPr>
                <a:t>g</a:t>
              </a:r>
              <a:r>
                <a:rPr lang="en-US" b="1" i="1" baseline="30000" dirty="0">
                  <a:solidFill>
                    <a:srgbClr val="C00000"/>
                  </a:solidFill>
                </a:rPr>
                <a:t>ab</a:t>
              </a:r>
              <a:endParaRPr lang="en-US" b="1" i="1" dirty="0">
                <a:solidFill>
                  <a:srgbClr val="C00000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EB93824-DEC0-F9EE-FF71-4E364FC515C7}"/>
                </a:ext>
              </a:extLst>
            </p:cNvPr>
            <p:cNvSpPr txBox="1"/>
            <p:nvPr/>
          </p:nvSpPr>
          <p:spPr>
            <a:xfrm>
              <a:off x="10929063" y="6033974"/>
              <a:ext cx="6376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>
                <a:spcBef>
                  <a:spcPts val="0"/>
                </a:spcBef>
                <a:spcAft>
                  <a:spcPts val="600"/>
                </a:spcAft>
                <a:buSzPts val="1800"/>
              </a:pPr>
              <a:r>
                <a:rPr lang="en-US" b="1" i="1" dirty="0">
                  <a:solidFill>
                    <a:srgbClr val="C00000"/>
                  </a:solidFill>
                </a:rPr>
                <a:t>g</a:t>
              </a:r>
              <a:r>
                <a:rPr lang="en-US" b="1" i="1" baseline="30000" dirty="0">
                  <a:solidFill>
                    <a:srgbClr val="C00000"/>
                  </a:solidFill>
                </a:rPr>
                <a:t>ab</a:t>
              </a:r>
              <a:endParaRPr lang="en-US" b="1" i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075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BB3D0-250F-4427-A241-410DDBC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44" y="100295"/>
            <a:ext cx="11183112" cy="881692"/>
          </a:xfrm>
        </p:spPr>
        <p:txBody>
          <a:bodyPr/>
          <a:lstStyle/>
          <a:p>
            <a:r>
              <a:rPr lang="en" dirty="0"/>
              <a:t>TLS Handshake Step 4: Derive Symmetric Keys</a:t>
            </a:r>
            <a:endParaRPr lang="en-US" dirty="0"/>
          </a:p>
        </p:txBody>
      </p:sp>
      <p:sp>
        <p:nvSpPr>
          <p:cNvPr id="5" name="Google Shape;212;p26">
            <a:extLst>
              <a:ext uri="{FF2B5EF4-FFF2-40B4-BE49-F238E27FC236}">
                <a16:creationId xmlns:a16="http://schemas.microsoft.com/office/drawing/2014/main" id="{FE7A42EF-8FFF-BF09-993E-C9AF60CDC9D8}"/>
              </a:ext>
            </a:extLst>
          </p:cNvPr>
          <p:cNvSpPr txBox="1">
            <a:spLocks/>
          </p:cNvSpPr>
          <p:nvPr/>
        </p:nvSpPr>
        <p:spPr>
          <a:xfrm>
            <a:off x="227642" y="1420155"/>
            <a:ext cx="8226528" cy="519721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server and client each derive symmetric keys from random numbers </a:t>
            </a:r>
            <a:r>
              <a:rPr lang="en-US" i="1" dirty="0">
                <a:solidFill>
                  <a:srgbClr val="C00000"/>
                </a:solidFill>
              </a:rPr>
              <a:t>R</a:t>
            </a:r>
            <a:r>
              <a:rPr lang="en-US" sz="1200" i="1" dirty="0">
                <a:solidFill>
                  <a:srgbClr val="C00000"/>
                </a:solidFill>
              </a:rPr>
              <a:t>C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i="1" dirty="0">
                <a:solidFill>
                  <a:srgbClr val="C00000"/>
                </a:solidFill>
              </a:rPr>
              <a:t>R</a:t>
            </a:r>
            <a:r>
              <a:rPr lang="en-US" sz="1200" i="1" dirty="0">
                <a:solidFill>
                  <a:srgbClr val="C00000"/>
                </a:solidFill>
              </a:rPr>
              <a:t>S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/>
              <a:t>and premaster secret </a:t>
            </a:r>
            <a:r>
              <a:rPr lang="en-US" i="1" dirty="0">
                <a:solidFill>
                  <a:srgbClr val="C00000"/>
                </a:solidFill>
              </a:rPr>
              <a:t>PS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Usually derived by seeding a </a:t>
            </a:r>
            <a:r>
              <a:rPr lang="en-US" b="1" dirty="0">
                <a:hlinkClick r:id="rId3"/>
              </a:rPr>
              <a:t>PRNG</a:t>
            </a:r>
            <a:r>
              <a:rPr lang="en-US" dirty="0"/>
              <a:t> (reproducible random numbers) with the three values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Changing any of the values results in different symmetric keys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Four symmetric keys are derived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i="1" dirty="0"/>
              <a:t>C</a:t>
            </a:r>
            <a:r>
              <a:rPr lang="en-US" sz="2000" i="1" baseline="-25000" dirty="0"/>
              <a:t>C</a:t>
            </a:r>
            <a:r>
              <a:rPr lang="en-US" dirty="0"/>
              <a:t>: For encrypting </a:t>
            </a:r>
            <a:r>
              <a:rPr lang="en-US" b="1" i="1" dirty="0"/>
              <a:t>client-to-server</a:t>
            </a:r>
            <a:r>
              <a:rPr lang="en-US" dirty="0"/>
              <a:t> messages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i="1" dirty="0"/>
              <a:t>C</a:t>
            </a:r>
            <a:r>
              <a:rPr lang="en-US" sz="2000" i="1" baseline="-25000" dirty="0"/>
              <a:t>S</a:t>
            </a:r>
            <a:r>
              <a:rPr lang="en-US" dirty="0"/>
              <a:t>: For encrypting </a:t>
            </a:r>
            <a:r>
              <a:rPr lang="en-US" b="1" i="1" dirty="0"/>
              <a:t>server-to-client</a:t>
            </a:r>
            <a:r>
              <a:rPr lang="en-US" dirty="0"/>
              <a:t> messages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i="1" dirty="0"/>
              <a:t>I</a:t>
            </a:r>
            <a:r>
              <a:rPr lang="en-US" sz="1800" i="1" dirty="0"/>
              <a:t>C</a:t>
            </a:r>
            <a:r>
              <a:rPr lang="en-US" dirty="0"/>
              <a:t>: For </a:t>
            </a:r>
            <a:r>
              <a:rPr lang="en-US" dirty="0" err="1"/>
              <a:t>MACing</a:t>
            </a:r>
            <a:r>
              <a:rPr lang="en-US" dirty="0"/>
              <a:t> </a:t>
            </a:r>
            <a:r>
              <a:rPr lang="en-US" b="1" i="1" dirty="0"/>
              <a:t>client-to-server</a:t>
            </a:r>
            <a:r>
              <a:rPr lang="en-US" dirty="0"/>
              <a:t> messages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i="1" dirty="0"/>
              <a:t>I</a:t>
            </a:r>
            <a:r>
              <a:rPr lang="en-US" sz="1800" i="1" dirty="0"/>
              <a:t>S</a:t>
            </a:r>
            <a:r>
              <a:rPr lang="en-US" dirty="0"/>
              <a:t>: For </a:t>
            </a:r>
            <a:r>
              <a:rPr lang="en-US" dirty="0" err="1"/>
              <a:t>MACing</a:t>
            </a:r>
            <a:r>
              <a:rPr lang="en-US" dirty="0"/>
              <a:t> </a:t>
            </a:r>
            <a:r>
              <a:rPr lang="en-US" b="1" i="1" dirty="0"/>
              <a:t>server-to-client</a:t>
            </a:r>
            <a:r>
              <a:rPr lang="en-US" dirty="0"/>
              <a:t> messages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Note: Both client and server know all four keys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F80B0D-F131-588B-3786-0E3C107912DB}"/>
              </a:ext>
            </a:extLst>
          </p:cNvPr>
          <p:cNvGrpSpPr/>
          <p:nvPr/>
        </p:nvGrpSpPr>
        <p:grpSpPr>
          <a:xfrm>
            <a:off x="8503920" y="2011680"/>
            <a:ext cx="3288275" cy="3881700"/>
            <a:chOff x="8065525" y="2069509"/>
            <a:chExt cx="3288275" cy="3881700"/>
          </a:xfrm>
        </p:grpSpPr>
        <p:sp>
          <p:nvSpPr>
            <p:cNvPr id="6" name="Google Shape;207;p26">
              <a:extLst>
                <a:ext uri="{FF2B5EF4-FFF2-40B4-BE49-F238E27FC236}">
                  <a16:creationId xmlns:a16="http://schemas.microsoft.com/office/drawing/2014/main" id="{FC3215D4-8C8E-70F6-8318-042263B05C10}"/>
                </a:ext>
              </a:extLst>
            </p:cNvPr>
            <p:cNvSpPr/>
            <p:nvPr/>
          </p:nvSpPr>
          <p:spPr>
            <a:xfrm>
              <a:off x="8267225" y="4139784"/>
              <a:ext cx="2922600" cy="6459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8;p26">
              <a:extLst>
                <a:ext uri="{FF2B5EF4-FFF2-40B4-BE49-F238E27FC236}">
                  <a16:creationId xmlns:a16="http://schemas.microsoft.com/office/drawing/2014/main" id="{234C601D-7F22-26C9-2308-5046DAA3EF14}"/>
                </a:ext>
              </a:extLst>
            </p:cNvPr>
            <p:cNvSpPr/>
            <p:nvPr/>
          </p:nvSpPr>
          <p:spPr>
            <a:xfrm>
              <a:off x="8275550" y="2511934"/>
              <a:ext cx="2922600" cy="13380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" name="Google Shape;211;p26">
              <a:extLst>
                <a:ext uri="{FF2B5EF4-FFF2-40B4-BE49-F238E27FC236}">
                  <a16:creationId xmlns:a16="http://schemas.microsoft.com/office/drawing/2014/main" id="{D70FCC04-8522-5D29-D692-F766F3F80323}"/>
                </a:ext>
              </a:extLst>
            </p:cNvPr>
            <p:cNvCxnSpPr/>
            <p:nvPr/>
          </p:nvCxnSpPr>
          <p:spPr>
            <a:xfrm>
              <a:off x="8209150" y="2469709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Google Shape;213;p26">
              <a:extLst>
                <a:ext uri="{FF2B5EF4-FFF2-40B4-BE49-F238E27FC236}">
                  <a16:creationId xmlns:a16="http://schemas.microsoft.com/office/drawing/2014/main" id="{4B910CB6-DECE-7E07-C7EF-E233F57598E4}"/>
                </a:ext>
              </a:extLst>
            </p:cNvPr>
            <p:cNvCxnSpPr/>
            <p:nvPr/>
          </p:nvCxnSpPr>
          <p:spPr>
            <a:xfrm>
              <a:off x="11247900" y="2469709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" name="Google Shape;214;p26">
              <a:extLst>
                <a:ext uri="{FF2B5EF4-FFF2-40B4-BE49-F238E27FC236}">
                  <a16:creationId xmlns:a16="http://schemas.microsoft.com/office/drawing/2014/main" id="{B004BABC-9724-76D1-B6E5-8F4245686029}"/>
                </a:ext>
              </a:extLst>
            </p:cNvPr>
            <p:cNvSpPr txBox="1"/>
            <p:nvPr/>
          </p:nvSpPr>
          <p:spPr>
            <a:xfrm>
              <a:off x="8065525" y="2069509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sp>
          <p:nvSpPr>
            <p:cNvPr id="11" name="Google Shape;215;p26">
              <a:extLst>
                <a:ext uri="{FF2B5EF4-FFF2-40B4-BE49-F238E27FC236}">
                  <a16:creationId xmlns:a16="http://schemas.microsoft.com/office/drawing/2014/main" id="{11E84C03-0022-9362-F935-158DAD87F6F2}"/>
                </a:ext>
              </a:extLst>
            </p:cNvPr>
            <p:cNvSpPr txBox="1"/>
            <p:nvPr/>
          </p:nvSpPr>
          <p:spPr>
            <a:xfrm>
              <a:off x="10416600" y="2069509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cxnSp>
          <p:nvCxnSpPr>
            <p:cNvPr id="12" name="Google Shape;216;p26">
              <a:extLst>
                <a:ext uri="{FF2B5EF4-FFF2-40B4-BE49-F238E27FC236}">
                  <a16:creationId xmlns:a16="http://schemas.microsoft.com/office/drawing/2014/main" id="{503B3BF5-85B6-70E2-D76E-1658B06624AB}"/>
                </a:ext>
              </a:extLst>
            </p:cNvPr>
            <p:cNvCxnSpPr/>
            <p:nvPr/>
          </p:nvCxnSpPr>
          <p:spPr>
            <a:xfrm flipH="1">
              <a:off x="8301700" y="2764971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" name="Google Shape;217;p26">
              <a:extLst>
                <a:ext uri="{FF2B5EF4-FFF2-40B4-BE49-F238E27FC236}">
                  <a16:creationId xmlns:a16="http://schemas.microsoft.com/office/drawing/2014/main" id="{356736CE-C4AC-76B8-3234-FAD6C7162AFE}"/>
                </a:ext>
              </a:extLst>
            </p:cNvPr>
            <p:cNvSpPr txBox="1"/>
            <p:nvPr/>
          </p:nvSpPr>
          <p:spPr>
            <a:xfrm rot="-523651" flipH="1">
              <a:off x="8288272" y="2606129"/>
              <a:ext cx="2803562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{</a:t>
              </a:r>
              <a:r>
                <a:rPr lang="en" i="1" dirty="0">
                  <a:solidFill>
                    <a:srgbClr val="B7B7B7"/>
                  </a:solidFill>
                </a:rPr>
                <a:t>g</a:t>
              </a:r>
              <a:r>
                <a:rPr lang="en" i="1" baseline="30000" dirty="0">
                  <a:solidFill>
                    <a:srgbClr val="B7B7B7"/>
                  </a:solidFill>
                </a:rPr>
                <a:t>a</a:t>
              </a:r>
              <a:r>
                <a:rPr lang="en" dirty="0">
                  <a:solidFill>
                    <a:srgbClr val="B7B7B7"/>
                  </a:solidFill>
                </a:rPr>
                <a:t> mod </a:t>
              </a:r>
              <a:r>
                <a:rPr lang="en" i="1" dirty="0">
                  <a:solidFill>
                    <a:srgbClr val="B7B7B7"/>
                  </a:solidFill>
                </a:rPr>
                <a:t>p</a:t>
              </a:r>
              <a:r>
                <a:rPr lang="en" dirty="0">
                  <a:solidFill>
                    <a:srgbClr val="B7B7B7"/>
                  </a:solidFill>
                </a:rPr>
                <a:t>}</a:t>
              </a:r>
              <a:r>
                <a:rPr lang="en" sz="1000" i="1" dirty="0">
                  <a:solidFill>
                    <a:srgbClr val="B7B7B7"/>
                  </a:solidFill>
                </a:rPr>
                <a:t>SK</a:t>
              </a:r>
              <a:r>
                <a:rPr lang="en" sz="1000" baseline="30000" dirty="0">
                  <a:solidFill>
                    <a:srgbClr val="B7B7B7"/>
                  </a:solidFill>
                </a:rPr>
                <a:t>-1</a:t>
              </a:r>
              <a:r>
                <a:rPr lang="en" sz="600" dirty="0">
                  <a:solidFill>
                    <a:srgbClr val="B7B7B7"/>
                  </a:solidFill>
                </a:rPr>
                <a:t>server</a:t>
              </a:r>
              <a:endParaRPr sz="600" dirty="0">
                <a:solidFill>
                  <a:srgbClr val="B7B7B7"/>
                </a:solidFill>
              </a:endParaRPr>
            </a:p>
          </p:txBody>
        </p:sp>
        <p:cxnSp>
          <p:nvCxnSpPr>
            <p:cNvPr id="14" name="Google Shape;218;p26">
              <a:extLst>
                <a:ext uri="{FF2B5EF4-FFF2-40B4-BE49-F238E27FC236}">
                  <a16:creationId xmlns:a16="http://schemas.microsoft.com/office/drawing/2014/main" id="{AB0418A6-2A7D-47C2-D9E4-222237431CFC}"/>
                </a:ext>
              </a:extLst>
            </p:cNvPr>
            <p:cNvCxnSpPr/>
            <p:nvPr/>
          </p:nvCxnSpPr>
          <p:spPr>
            <a:xfrm>
              <a:off x="8275550" y="3316522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Google Shape;219;p26">
              <a:extLst>
                <a:ext uri="{FF2B5EF4-FFF2-40B4-BE49-F238E27FC236}">
                  <a16:creationId xmlns:a16="http://schemas.microsoft.com/office/drawing/2014/main" id="{C453654F-AB94-1F36-8DDA-BC1A2D16D55C}"/>
                </a:ext>
              </a:extLst>
            </p:cNvPr>
            <p:cNvSpPr txBox="1"/>
            <p:nvPr/>
          </p:nvSpPr>
          <p:spPr>
            <a:xfrm rot="512024">
              <a:off x="8300931" y="3188280"/>
              <a:ext cx="2866739" cy="4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i="1">
                  <a:solidFill>
                    <a:srgbClr val="B7B7B7"/>
                  </a:solidFill>
                </a:rPr>
                <a:t>g</a:t>
              </a:r>
              <a:r>
                <a:rPr lang="en" i="1" baseline="30000">
                  <a:solidFill>
                    <a:srgbClr val="B7B7B7"/>
                  </a:solidFill>
                </a:rPr>
                <a:t>b</a:t>
              </a:r>
              <a:r>
                <a:rPr lang="en">
                  <a:solidFill>
                    <a:srgbClr val="B7B7B7"/>
                  </a:solidFill>
                </a:rPr>
                <a:t> mod </a:t>
              </a:r>
              <a:r>
                <a:rPr lang="en" i="1">
                  <a:solidFill>
                    <a:srgbClr val="B7B7B7"/>
                  </a:solidFill>
                </a:rPr>
                <a:t>p</a:t>
              </a:r>
              <a:endParaRPr i="1">
                <a:solidFill>
                  <a:srgbClr val="B7B7B7"/>
                </a:solidFill>
              </a:endParaRPr>
            </a:p>
          </p:txBody>
        </p:sp>
        <p:cxnSp>
          <p:nvCxnSpPr>
            <p:cNvPr id="16" name="Google Shape;220;p26">
              <a:extLst>
                <a:ext uri="{FF2B5EF4-FFF2-40B4-BE49-F238E27FC236}">
                  <a16:creationId xmlns:a16="http://schemas.microsoft.com/office/drawing/2014/main" id="{AD709921-75A1-6B8F-203D-E3E7C3AFA60C}"/>
                </a:ext>
              </a:extLst>
            </p:cNvPr>
            <p:cNvCxnSpPr/>
            <p:nvPr/>
          </p:nvCxnSpPr>
          <p:spPr>
            <a:xfrm>
              <a:off x="8275550" y="4230922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Google Shape;221;p26">
              <a:extLst>
                <a:ext uri="{FF2B5EF4-FFF2-40B4-BE49-F238E27FC236}">
                  <a16:creationId xmlns:a16="http://schemas.microsoft.com/office/drawing/2014/main" id="{D88C16BD-1EEC-41F7-C45F-9E3344A80A14}"/>
                </a:ext>
              </a:extLst>
            </p:cNvPr>
            <p:cNvSpPr txBox="1"/>
            <p:nvPr/>
          </p:nvSpPr>
          <p:spPr>
            <a:xfrm rot="512024">
              <a:off x="8300931" y="4071930"/>
              <a:ext cx="286673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{</a:t>
              </a:r>
              <a:r>
                <a:rPr lang="en" i="1" dirty="0">
                  <a:solidFill>
                    <a:srgbClr val="B7B7B7"/>
                  </a:solidFill>
                </a:rPr>
                <a:t>PS</a:t>
              </a:r>
              <a:r>
                <a:rPr lang="en" dirty="0">
                  <a:solidFill>
                    <a:srgbClr val="B7B7B7"/>
                  </a:solidFill>
                </a:rPr>
                <a:t>}</a:t>
              </a:r>
              <a:r>
                <a:rPr lang="en" sz="1000" i="1" dirty="0">
                  <a:solidFill>
                    <a:srgbClr val="B7B7B7"/>
                  </a:solidFill>
                </a:rPr>
                <a:t>PK</a:t>
              </a:r>
              <a:r>
                <a:rPr lang="en" sz="600" dirty="0">
                  <a:solidFill>
                    <a:srgbClr val="B7B7B7"/>
                  </a:solidFill>
                </a:rPr>
                <a:t>server</a:t>
              </a:r>
              <a:endParaRPr sz="600" dirty="0">
                <a:solidFill>
                  <a:srgbClr val="B7B7B7"/>
                </a:solidFill>
              </a:endParaRPr>
            </a:p>
          </p:txBody>
        </p:sp>
        <p:sp>
          <p:nvSpPr>
            <p:cNvPr id="18" name="Google Shape;222;p26">
              <a:extLst>
                <a:ext uri="{FF2B5EF4-FFF2-40B4-BE49-F238E27FC236}">
                  <a16:creationId xmlns:a16="http://schemas.microsoft.com/office/drawing/2014/main" id="{6ABB7766-DB11-0A3F-5F6C-042BB5276F61}"/>
                </a:ext>
              </a:extLst>
            </p:cNvPr>
            <p:cNvSpPr txBox="1"/>
            <p:nvPr/>
          </p:nvSpPr>
          <p:spPr>
            <a:xfrm>
              <a:off x="8267225" y="3792484"/>
              <a:ext cx="2931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or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19" name="Google Shape;223;p26">
              <a:extLst>
                <a:ext uri="{FF2B5EF4-FFF2-40B4-BE49-F238E27FC236}">
                  <a16:creationId xmlns:a16="http://schemas.microsoft.com/office/drawing/2014/main" id="{441652DF-1841-5A16-1305-F15E6472F248}"/>
                </a:ext>
              </a:extLst>
            </p:cNvPr>
            <p:cNvSpPr txBox="1"/>
            <p:nvPr/>
          </p:nvSpPr>
          <p:spPr>
            <a:xfrm>
              <a:off x="8209150" y="4966109"/>
              <a:ext cx="1220600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Compute keys</a:t>
              </a:r>
              <a:endParaRPr dirty="0"/>
            </a:p>
          </p:txBody>
        </p:sp>
        <p:sp>
          <p:nvSpPr>
            <p:cNvPr id="20" name="Google Shape;224;p26">
              <a:extLst>
                <a:ext uri="{FF2B5EF4-FFF2-40B4-BE49-F238E27FC236}">
                  <a16:creationId xmlns:a16="http://schemas.microsoft.com/office/drawing/2014/main" id="{89F5D6E9-3918-E179-8F7E-C42181C5A7F6}"/>
                </a:ext>
              </a:extLst>
            </p:cNvPr>
            <p:cNvSpPr txBox="1"/>
            <p:nvPr/>
          </p:nvSpPr>
          <p:spPr>
            <a:xfrm>
              <a:off x="10027301" y="4964159"/>
              <a:ext cx="1154199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Compute keys</a:t>
              </a: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720935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8B76-07C5-0EFE-796F-2BF204B15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800"/>
            <a:ext cx="10515600" cy="881925"/>
          </a:xfrm>
        </p:spPr>
        <p:txBody>
          <a:bodyPr/>
          <a:lstStyle/>
          <a:p>
            <a:r>
              <a:rPr lang="en" dirty="0"/>
              <a:t>TLS Handshake Step 5: Exchange MACs</a:t>
            </a:r>
            <a:endParaRPr lang="en-US" dirty="0"/>
          </a:p>
        </p:txBody>
      </p:sp>
      <p:sp>
        <p:nvSpPr>
          <p:cNvPr id="4" name="Google Shape;232;p27">
            <a:extLst>
              <a:ext uri="{FF2B5EF4-FFF2-40B4-BE49-F238E27FC236}">
                <a16:creationId xmlns:a16="http://schemas.microsoft.com/office/drawing/2014/main" id="{796B9634-8D47-14A0-A5F0-D85BD977B9B0}"/>
              </a:ext>
            </a:extLst>
          </p:cNvPr>
          <p:cNvSpPr txBox="1">
            <a:spLocks/>
          </p:cNvSpPr>
          <p:nvPr/>
        </p:nvSpPr>
        <p:spPr>
          <a:xfrm>
            <a:off x="315051" y="1403386"/>
            <a:ext cx="7533518" cy="517881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server and client exchange MACs on </a:t>
            </a:r>
            <a:r>
              <a:rPr lang="en-US" dirty="0">
                <a:solidFill>
                  <a:srgbClr val="C00000"/>
                </a:solidFill>
              </a:rPr>
              <a:t>all the messages</a:t>
            </a:r>
            <a:r>
              <a:rPr lang="en-US" dirty="0"/>
              <a:t> of the handshake so far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Recall MACs: Any tampering on the handshake will be detected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Not to be confused with MAC addresses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Why Do We Need This Step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Ensures message integrity &amp; Validates key agreement: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Verifying that no tampering occurred during the handshake process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Synchronization: 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Confirming that both the client and server agree on the handshake messages and cryptographic parameters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E23AEB8-5C63-BFF9-E661-43B42DF260D2}"/>
              </a:ext>
            </a:extLst>
          </p:cNvPr>
          <p:cNvGrpSpPr/>
          <p:nvPr/>
        </p:nvGrpSpPr>
        <p:grpSpPr>
          <a:xfrm>
            <a:off x="8503920" y="2011680"/>
            <a:ext cx="3288275" cy="3881700"/>
            <a:chOff x="8065525" y="1929576"/>
            <a:chExt cx="3288275" cy="3881700"/>
          </a:xfrm>
        </p:grpSpPr>
        <p:cxnSp>
          <p:nvCxnSpPr>
            <p:cNvPr id="5" name="Google Shape;231;p27">
              <a:extLst>
                <a:ext uri="{FF2B5EF4-FFF2-40B4-BE49-F238E27FC236}">
                  <a16:creationId xmlns:a16="http://schemas.microsoft.com/office/drawing/2014/main" id="{7775D34F-E54E-19B5-3DCE-689239C06160}"/>
                </a:ext>
              </a:extLst>
            </p:cNvPr>
            <p:cNvCxnSpPr/>
            <p:nvPr/>
          </p:nvCxnSpPr>
          <p:spPr>
            <a:xfrm>
              <a:off x="8209150" y="2329776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233;p27">
              <a:extLst>
                <a:ext uri="{FF2B5EF4-FFF2-40B4-BE49-F238E27FC236}">
                  <a16:creationId xmlns:a16="http://schemas.microsoft.com/office/drawing/2014/main" id="{876419EE-17D2-830E-3AC1-569C3E38736F}"/>
                </a:ext>
              </a:extLst>
            </p:cNvPr>
            <p:cNvCxnSpPr/>
            <p:nvPr/>
          </p:nvCxnSpPr>
          <p:spPr>
            <a:xfrm>
              <a:off x="11247900" y="2329776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234;p27">
              <a:extLst>
                <a:ext uri="{FF2B5EF4-FFF2-40B4-BE49-F238E27FC236}">
                  <a16:creationId xmlns:a16="http://schemas.microsoft.com/office/drawing/2014/main" id="{1DE42131-1764-402D-5370-26F11AFC0724}"/>
                </a:ext>
              </a:extLst>
            </p:cNvPr>
            <p:cNvSpPr txBox="1"/>
            <p:nvPr/>
          </p:nvSpPr>
          <p:spPr>
            <a:xfrm>
              <a:off x="8065525" y="1929576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sp>
          <p:nvSpPr>
            <p:cNvPr id="8" name="Google Shape;235;p27">
              <a:extLst>
                <a:ext uri="{FF2B5EF4-FFF2-40B4-BE49-F238E27FC236}">
                  <a16:creationId xmlns:a16="http://schemas.microsoft.com/office/drawing/2014/main" id="{D021533B-4AFC-95EE-22FD-1C163F7C8949}"/>
                </a:ext>
              </a:extLst>
            </p:cNvPr>
            <p:cNvSpPr txBox="1"/>
            <p:nvPr/>
          </p:nvSpPr>
          <p:spPr>
            <a:xfrm>
              <a:off x="10416600" y="1929576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sp>
          <p:nvSpPr>
            <p:cNvPr id="9" name="Google Shape;236;p27">
              <a:extLst>
                <a:ext uri="{FF2B5EF4-FFF2-40B4-BE49-F238E27FC236}">
                  <a16:creationId xmlns:a16="http://schemas.microsoft.com/office/drawing/2014/main" id="{14CCCAEA-5FDF-41C0-6D67-B73734D81826}"/>
                </a:ext>
              </a:extLst>
            </p:cNvPr>
            <p:cNvSpPr txBox="1"/>
            <p:nvPr/>
          </p:nvSpPr>
          <p:spPr>
            <a:xfrm>
              <a:off x="8242350" y="2331726"/>
              <a:ext cx="1241576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Compute keys</a:t>
              </a:r>
              <a:endParaRPr dirty="0">
                <a:solidFill>
                  <a:srgbClr val="B7B7B7"/>
                </a:solidFill>
              </a:endParaRPr>
            </a:p>
          </p:txBody>
        </p:sp>
        <p:sp>
          <p:nvSpPr>
            <p:cNvPr id="10" name="Google Shape;237;p27">
              <a:extLst>
                <a:ext uri="{FF2B5EF4-FFF2-40B4-BE49-F238E27FC236}">
                  <a16:creationId xmlns:a16="http://schemas.microsoft.com/office/drawing/2014/main" id="{BBE58DAE-C2DD-67B0-AACE-5AEFB912E849}"/>
                </a:ext>
              </a:extLst>
            </p:cNvPr>
            <p:cNvSpPr txBox="1"/>
            <p:nvPr/>
          </p:nvSpPr>
          <p:spPr>
            <a:xfrm>
              <a:off x="9973124" y="2329776"/>
              <a:ext cx="1241576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Compute keys</a:t>
              </a:r>
              <a:endParaRPr dirty="0">
                <a:solidFill>
                  <a:srgbClr val="B7B7B7"/>
                </a:solidFill>
              </a:endParaRPr>
            </a:p>
          </p:txBody>
        </p:sp>
        <p:cxnSp>
          <p:nvCxnSpPr>
            <p:cNvPr id="11" name="Google Shape;238;p27">
              <a:extLst>
                <a:ext uri="{FF2B5EF4-FFF2-40B4-BE49-F238E27FC236}">
                  <a16:creationId xmlns:a16="http://schemas.microsoft.com/office/drawing/2014/main" id="{D3B94D53-4B80-322F-1909-5AC1B51481FF}"/>
                </a:ext>
              </a:extLst>
            </p:cNvPr>
            <p:cNvCxnSpPr/>
            <p:nvPr/>
          </p:nvCxnSpPr>
          <p:spPr>
            <a:xfrm>
              <a:off x="8275550" y="3176589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" name="Google Shape;239;p27">
              <a:extLst>
                <a:ext uri="{FF2B5EF4-FFF2-40B4-BE49-F238E27FC236}">
                  <a16:creationId xmlns:a16="http://schemas.microsoft.com/office/drawing/2014/main" id="{4FF8ECBB-F39F-35A8-7C72-42ABF44A2171}"/>
                </a:ext>
              </a:extLst>
            </p:cNvPr>
            <p:cNvSpPr txBox="1"/>
            <p:nvPr/>
          </p:nvSpPr>
          <p:spPr>
            <a:xfrm rot="512024">
              <a:off x="8300931" y="3017597"/>
              <a:ext cx="286673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MAC(</a:t>
              </a:r>
              <a:r>
                <a:rPr lang="en" i="1" dirty="0"/>
                <a:t>I</a:t>
              </a:r>
              <a:r>
                <a:rPr lang="en" sz="900" i="1" dirty="0"/>
                <a:t>C</a:t>
              </a:r>
              <a:r>
                <a:rPr lang="en" dirty="0"/>
                <a:t>, steps 1-4)</a:t>
              </a:r>
              <a:endParaRPr dirty="0"/>
            </a:p>
          </p:txBody>
        </p:sp>
        <p:cxnSp>
          <p:nvCxnSpPr>
            <p:cNvPr id="13" name="Google Shape;240;p27">
              <a:extLst>
                <a:ext uri="{FF2B5EF4-FFF2-40B4-BE49-F238E27FC236}">
                  <a16:creationId xmlns:a16="http://schemas.microsoft.com/office/drawing/2014/main" id="{FC91147B-E36C-17E6-57FA-6605003718ED}"/>
                </a:ext>
              </a:extLst>
            </p:cNvPr>
            <p:cNvCxnSpPr/>
            <p:nvPr/>
          </p:nvCxnSpPr>
          <p:spPr>
            <a:xfrm flipH="1">
              <a:off x="8301700" y="3691838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241;p27">
              <a:extLst>
                <a:ext uri="{FF2B5EF4-FFF2-40B4-BE49-F238E27FC236}">
                  <a16:creationId xmlns:a16="http://schemas.microsoft.com/office/drawing/2014/main" id="{A7ED10FF-3C95-7070-A0AD-4F7CC8172D64}"/>
                </a:ext>
              </a:extLst>
            </p:cNvPr>
            <p:cNvSpPr txBox="1"/>
            <p:nvPr/>
          </p:nvSpPr>
          <p:spPr>
            <a:xfrm rot="-523651" flipH="1">
              <a:off x="8288272" y="3563708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MAC(</a:t>
              </a:r>
              <a:r>
                <a:rPr lang="en" i="1"/>
                <a:t>I</a:t>
              </a:r>
              <a:r>
                <a:rPr lang="en" sz="900" i="1"/>
                <a:t>S</a:t>
              </a:r>
              <a:r>
                <a:rPr lang="en"/>
                <a:t>, steps 1-4)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83722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7FF37-DBD6-C54B-93B5-19AB3C87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71"/>
            <a:ext cx="10515600" cy="881925"/>
          </a:xfrm>
        </p:spPr>
        <p:txBody>
          <a:bodyPr/>
          <a:lstStyle/>
          <a:p>
            <a:r>
              <a:rPr lang="en" dirty="0"/>
              <a:t>TLS Handshake Step 6: Send Messages</a:t>
            </a:r>
            <a:endParaRPr lang="en-US" dirty="0"/>
          </a:p>
        </p:txBody>
      </p:sp>
      <p:sp>
        <p:nvSpPr>
          <p:cNvPr id="4" name="Google Shape;249;p28">
            <a:extLst>
              <a:ext uri="{FF2B5EF4-FFF2-40B4-BE49-F238E27FC236}">
                <a16:creationId xmlns:a16="http://schemas.microsoft.com/office/drawing/2014/main" id="{473C04DF-0496-90DF-6CB2-40833BA2A199}"/>
              </a:ext>
            </a:extLst>
          </p:cNvPr>
          <p:cNvSpPr txBox="1">
            <a:spLocks/>
          </p:cNvSpPr>
          <p:nvPr/>
        </p:nvSpPr>
        <p:spPr>
          <a:xfrm>
            <a:off x="95597" y="1077767"/>
            <a:ext cx="8548452" cy="420543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Messages can now be sent securely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Encrypted </a:t>
            </a:r>
            <a:r>
              <a:rPr lang="en-US" b="1" dirty="0">
                <a:solidFill>
                  <a:srgbClr val="C00000"/>
                </a:solidFill>
              </a:rPr>
              <a:t>AND</a:t>
            </a:r>
            <a:r>
              <a:rPr lang="en-US" dirty="0"/>
              <a:t> </a:t>
            </a:r>
            <a:r>
              <a:rPr lang="en-US" dirty="0" err="1"/>
              <a:t>MAC’d</a:t>
            </a:r>
            <a:endParaRPr lang="en-US" dirty="0"/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Note: TLS (</a:t>
            </a:r>
            <a:r>
              <a:rPr lang="en-US" i="1" dirty="0">
                <a:solidFill>
                  <a:srgbClr val="C00000"/>
                </a:solidFill>
              </a:rPr>
              <a:t>up to version 1.2</a:t>
            </a:r>
            <a:r>
              <a:rPr lang="en-US" dirty="0"/>
              <a:t>) uses MAC-then-encrypt, as shown in the right figure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Modern cryptographic best practices favor </a:t>
            </a:r>
            <a:r>
              <a:rPr lang="en-US" b="1" dirty="0">
                <a:solidFill>
                  <a:srgbClr val="C00000"/>
                </a:solidFill>
              </a:rPr>
              <a:t>Encrypt-then-MAC</a:t>
            </a:r>
            <a:r>
              <a:rPr lang="en-US" dirty="0"/>
              <a:t>, where the message is </a:t>
            </a:r>
            <a:r>
              <a:rPr lang="en-US" i="1" dirty="0">
                <a:solidFill>
                  <a:srgbClr val="C00000"/>
                </a:solidFill>
              </a:rPr>
              <a:t>first encrypted</a:t>
            </a:r>
            <a:r>
              <a:rPr lang="en-US" dirty="0"/>
              <a:t>, and the MAC is calculated over the </a:t>
            </a:r>
            <a:r>
              <a:rPr lang="en-US" i="1" dirty="0">
                <a:solidFill>
                  <a:srgbClr val="C00000"/>
                </a:solidFill>
              </a:rPr>
              <a:t>ciphertext</a:t>
            </a:r>
            <a:r>
              <a:rPr lang="en-US" dirty="0"/>
              <a:t>. Send ciphertext and MAC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This is generally considered more secure but is not used in earlier versions of TLS for legacy compatibility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45A0073-F670-B77B-D40A-BA012C7498F2}"/>
              </a:ext>
            </a:extLst>
          </p:cNvPr>
          <p:cNvGrpSpPr/>
          <p:nvPr/>
        </p:nvGrpSpPr>
        <p:grpSpPr>
          <a:xfrm>
            <a:off x="8693033" y="1232152"/>
            <a:ext cx="3288275" cy="3881700"/>
            <a:chOff x="8693033" y="1232152"/>
            <a:chExt cx="3288275" cy="3881700"/>
          </a:xfrm>
        </p:grpSpPr>
        <p:cxnSp>
          <p:nvCxnSpPr>
            <p:cNvPr id="5" name="Google Shape;248;p28">
              <a:extLst>
                <a:ext uri="{FF2B5EF4-FFF2-40B4-BE49-F238E27FC236}">
                  <a16:creationId xmlns:a16="http://schemas.microsoft.com/office/drawing/2014/main" id="{FB39F8E6-5062-253E-92F7-BAAA4BF4474E}"/>
                </a:ext>
              </a:extLst>
            </p:cNvPr>
            <p:cNvCxnSpPr/>
            <p:nvPr/>
          </p:nvCxnSpPr>
          <p:spPr>
            <a:xfrm>
              <a:off x="8836658" y="1632352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" name="Google Shape;250;p28">
              <a:extLst>
                <a:ext uri="{FF2B5EF4-FFF2-40B4-BE49-F238E27FC236}">
                  <a16:creationId xmlns:a16="http://schemas.microsoft.com/office/drawing/2014/main" id="{CB4B31D2-76D7-FDB2-C025-44A33BFC4449}"/>
                </a:ext>
              </a:extLst>
            </p:cNvPr>
            <p:cNvCxnSpPr/>
            <p:nvPr/>
          </p:nvCxnSpPr>
          <p:spPr>
            <a:xfrm>
              <a:off x="11875408" y="1632352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" name="Google Shape;251;p28">
              <a:extLst>
                <a:ext uri="{FF2B5EF4-FFF2-40B4-BE49-F238E27FC236}">
                  <a16:creationId xmlns:a16="http://schemas.microsoft.com/office/drawing/2014/main" id="{6EDEB513-E149-9020-4E3E-5B00AA2EF19A}"/>
                </a:ext>
              </a:extLst>
            </p:cNvPr>
            <p:cNvSpPr txBox="1"/>
            <p:nvPr/>
          </p:nvSpPr>
          <p:spPr>
            <a:xfrm>
              <a:off x="8693033" y="1232152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Client</a:t>
              </a:r>
              <a:endParaRPr dirty="0"/>
            </a:p>
          </p:txBody>
        </p:sp>
        <p:sp>
          <p:nvSpPr>
            <p:cNvPr id="8" name="Google Shape;252;p28">
              <a:extLst>
                <a:ext uri="{FF2B5EF4-FFF2-40B4-BE49-F238E27FC236}">
                  <a16:creationId xmlns:a16="http://schemas.microsoft.com/office/drawing/2014/main" id="{4EF81061-F902-81F3-3239-F613C53E5825}"/>
                </a:ext>
              </a:extLst>
            </p:cNvPr>
            <p:cNvSpPr txBox="1"/>
            <p:nvPr/>
          </p:nvSpPr>
          <p:spPr>
            <a:xfrm>
              <a:off x="11044108" y="1232152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sp>
          <p:nvSpPr>
            <p:cNvPr id="9" name="Google Shape;253;p28">
              <a:extLst>
                <a:ext uri="{FF2B5EF4-FFF2-40B4-BE49-F238E27FC236}">
                  <a16:creationId xmlns:a16="http://schemas.microsoft.com/office/drawing/2014/main" id="{9332F7B1-9D82-F02F-D8BF-2BA12A3076C8}"/>
                </a:ext>
              </a:extLst>
            </p:cNvPr>
            <p:cNvSpPr txBox="1"/>
            <p:nvPr/>
          </p:nvSpPr>
          <p:spPr>
            <a:xfrm>
              <a:off x="8869858" y="1634302"/>
              <a:ext cx="1241576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Compute keys</a:t>
              </a:r>
              <a:endParaRPr dirty="0">
                <a:solidFill>
                  <a:srgbClr val="B7B7B7"/>
                </a:solidFill>
              </a:endParaRPr>
            </a:p>
          </p:txBody>
        </p:sp>
        <p:sp>
          <p:nvSpPr>
            <p:cNvPr id="10" name="Google Shape;254;p28">
              <a:extLst>
                <a:ext uri="{FF2B5EF4-FFF2-40B4-BE49-F238E27FC236}">
                  <a16:creationId xmlns:a16="http://schemas.microsoft.com/office/drawing/2014/main" id="{A686D380-BB0E-970F-838B-C1C7456275A8}"/>
                </a:ext>
              </a:extLst>
            </p:cNvPr>
            <p:cNvSpPr txBox="1"/>
            <p:nvPr/>
          </p:nvSpPr>
          <p:spPr>
            <a:xfrm>
              <a:off x="10694983" y="1632352"/>
              <a:ext cx="1147225" cy="7386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Compute keys</a:t>
              </a:r>
              <a:endParaRPr dirty="0">
                <a:solidFill>
                  <a:srgbClr val="B7B7B7"/>
                </a:solidFill>
              </a:endParaRPr>
            </a:p>
          </p:txBody>
        </p:sp>
        <p:cxnSp>
          <p:nvCxnSpPr>
            <p:cNvPr id="11" name="Google Shape;255;p28">
              <a:extLst>
                <a:ext uri="{FF2B5EF4-FFF2-40B4-BE49-F238E27FC236}">
                  <a16:creationId xmlns:a16="http://schemas.microsoft.com/office/drawing/2014/main" id="{822593AD-650D-95B7-CD6D-4D8E91B795A1}"/>
                </a:ext>
              </a:extLst>
            </p:cNvPr>
            <p:cNvCxnSpPr/>
            <p:nvPr/>
          </p:nvCxnSpPr>
          <p:spPr>
            <a:xfrm>
              <a:off x="8903058" y="2479165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" name="Google Shape;256;p28">
              <a:extLst>
                <a:ext uri="{FF2B5EF4-FFF2-40B4-BE49-F238E27FC236}">
                  <a16:creationId xmlns:a16="http://schemas.microsoft.com/office/drawing/2014/main" id="{93E7E826-8273-280B-AD30-8EA051D232B3}"/>
                </a:ext>
              </a:extLst>
            </p:cNvPr>
            <p:cNvSpPr txBox="1"/>
            <p:nvPr/>
          </p:nvSpPr>
          <p:spPr>
            <a:xfrm rot="512024">
              <a:off x="8928439" y="2320173"/>
              <a:ext cx="286673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MAC(</a:t>
              </a:r>
              <a:r>
                <a:rPr lang="en" i="1" dirty="0">
                  <a:solidFill>
                    <a:srgbClr val="B7B7B7"/>
                  </a:solidFill>
                </a:rPr>
                <a:t>I</a:t>
              </a:r>
              <a:r>
                <a:rPr lang="en" sz="900" i="1" dirty="0">
                  <a:solidFill>
                    <a:srgbClr val="B7B7B7"/>
                  </a:solidFill>
                </a:rPr>
                <a:t>C</a:t>
              </a:r>
              <a:r>
                <a:rPr lang="en" dirty="0">
                  <a:solidFill>
                    <a:srgbClr val="B7B7B7"/>
                  </a:solidFill>
                </a:rPr>
                <a:t>, steps 1-4)</a:t>
              </a:r>
              <a:endParaRPr dirty="0">
                <a:solidFill>
                  <a:srgbClr val="B7B7B7"/>
                </a:solidFill>
              </a:endParaRPr>
            </a:p>
          </p:txBody>
        </p:sp>
        <p:cxnSp>
          <p:nvCxnSpPr>
            <p:cNvPr id="13" name="Google Shape;257;p28">
              <a:extLst>
                <a:ext uri="{FF2B5EF4-FFF2-40B4-BE49-F238E27FC236}">
                  <a16:creationId xmlns:a16="http://schemas.microsoft.com/office/drawing/2014/main" id="{4EBB9A2C-D4C5-ACE7-12FE-B110EF634056}"/>
                </a:ext>
              </a:extLst>
            </p:cNvPr>
            <p:cNvCxnSpPr/>
            <p:nvPr/>
          </p:nvCxnSpPr>
          <p:spPr>
            <a:xfrm flipH="1">
              <a:off x="8929208" y="2994414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" name="Google Shape;258;p28">
              <a:extLst>
                <a:ext uri="{FF2B5EF4-FFF2-40B4-BE49-F238E27FC236}">
                  <a16:creationId xmlns:a16="http://schemas.microsoft.com/office/drawing/2014/main" id="{B5231F61-8C91-EB25-3E0A-B850DCCAB237}"/>
                </a:ext>
              </a:extLst>
            </p:cNvPr>
            <p:cNvSpPr txBox="1"/>
            <p:nvPr/>
          </p:nvSpPr>
          <p:spPr>
            <a:xfrm rot="-523651" flipH="1">
              <a:off x="8915780" y="2866284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MAC(</a:t>
              </a:r>
              <a:r>
                <a:rPr lang="en" i="1">
                  <a:solidFill>
                    <a:srgbClr val="B7B7B7"/>
                  </a:solidFill>
                </a:rPr>
                <a:t>I</a:t>
              </a:r>
              <a:r>
                <a:rPr lang="en" sz="900" i="1">
                  <a:solidFill>
                    <a:srgbClr val="B7B7B7"/>
                  </a:solidFill>
                </a:rPr>
                <a:t>S</a:t>
              </a:r>
              <a:r>
                <a:rPr lang="en">
                  <a:solidFill>
                    <a:srgbClr val="B7B7B7"/>
                  </a:solidFill>
                </a:rPr>
                <a:t>, steps 1-4)</a:t>
              </a:r>
              <a:endParaRPr>
                <a:solidFill>
                  <a:srgbClr val="B7B7B7"/>
                </a:solidFill>
              </a:endParaRPr>
            </a:p>
          </p:txBody>
        </p:sp>
        <p:cxnSp>
          <p:nvCxnSpPr>
            <p:cNvPr id="15" name="Google Shape;259;p28">
              <a:extLst>
                <a:ext uri="{FF2B5EF4-FFF2-40B4-BE49-F238E27FC236}">
                  <a16:creationId xmlns:a16="http://schemas.microsoft.com/office/drawing/2014/main" id="{AF9478DF-ED6E-E839-FBB3-4F04F77A628A}"/>
                </a:ext>
              </a:extLst>
            </p:cNvPr>
            <p:cNvCxnSpPr/>
            <p:nvPr/>
          </p:nvCxnSpPr>
          <p:spPr>
            <a:xfrm>
              <a:off x="8903058" y="3622165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" name="Google Shape;260;p28">
              <a:extLst>
                <a:ext uri="{FF2B5EF4-FFF2-40B4-BE49-F238E27FC236}">
                  <a16:creationId xmlns:a16="http://schemas.microsoft.com/office/drawing/2014/main" id="{1078C84E-B4D7-B7D0-6D46-C25D0FEFEEA5}"/>
                </a:ext>
              </a:extLst>
            </p:cNvPr>
            <p:cNvSpPr txBox="1"/>
            <p:nvPr/>
          </p:nvSpPr>
          <p:spPr>
            <a:xfrm rot="512024">
              <a:off x="8928439" y="3463173"/>
              <a:ext cx="2866739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</a:rPr>
                <a:t>{</a:t>
              </a:r>
              <a:r>
                <a:rPr lang="en" i="1" dirty="0">
                  <a:solidFill>
                    <a:schemeClr val="dk1"/>
                  </a:solidFill>
                </a:rPr>
                <a:t>M ||</a:t>
              </a:r>
              <a:r>
                <a:rPr lang="en" dirty="0">
                  <a:solidFill>
                    <a:schemeClr val="dk1"/>
                  </a:solidFill>
                </a:rPr>
                <a:t> MAC(</a:t>
              </a:r>
              <a:r>
                <a:rPr lang="en" i="1" dirty="0">
                  <a:solidFill>
                    <a:schemeClr val="dk1"/>
                  </a:solidFill>
                </a:rPr>
                <a:t>I</a:t>
              </a:r>
              <a:r>
                <a:rPr lang="en" sz="900" i="1" dirty="0">
                  <a:solidFill>
                    <a:schemeClr val="dk1"/>
                  </a:solidFill>
                </a:rPr>
                <a:t>C</a:t>
              </a:r>
              <a:r>
                <a:rPr lang="en" dirty="0">
                  <a:solidFill>
                    <a:schemeClr val="dk1"/>
                  </a:solidFill>
                </a:rPr>
                <a:t>, </a:t>
              </a:r>
              <a:r>
                <a:rPr lang="en" i="1" dirty="0">
                  <a:solidFill>
                    <a:schemeClr val="dk1"/>
                  </a:solidFill>
                </a:rPr>
                <a:t>M</a:t>
              </a:r>
              <a:r>
                <a:rPr lang="en" dirty="0">
                  <a:solidFill>
                    <a:schemeClr val="dk1"/>
                  </a:solidFill>
                </a:rPr>
                <a:t>)}</a:t>
              </a:r>
              <a:r>
                <a:rPr lang="en" sz="900" i="1" dirty="0">
                  <a:solidFill>
                    <a:schemeClr val="dk1"/>
                  </a:solidFill>
                </a:rPr>
                <a:t>C</a:t>
              </a:r>
              <a:r>
                <a:rPr lang="en" sz="600" i="1" dirty="0">
                  <a:solidFill>
                    <a:schemeClr val="dk1"/>
                  </a:solidFill>
                </a:rPr>
                <a:t>C</a:t>
              </a:r>
              <a:endParaRPr sz="600" i="1" dirty="0">
                <a:solidFill>
                  <a:schemeClr val="dk1"/>
                </a:solidFill>
              </a:endParaRPr>
            </a:p>
          </p:txBody>
        </p:sp>
        <p:cxnSp>
          <p:nvCxnSpPr>
            <p:cNvPr id="17" name="Google Shape;261;p28">
              <a:extLst>
                <a:ext uri="{FF2B5EF4-FFF2-40B4-BE49-F238E27FC236}">
                  <a16:creationId xmlns:a16="http://schemas.microsoft.com/office/drawing/2014/main" id="{E0AE9FBA-9E99-A769-9DA0-444B84A3FAF4}"/>
                </a:ext>
              </a:extLst>
            </p:cNvPr>
            <p:cNvCxnSpPr/>
            <p:nvPr/>
          </p:nvCxnSpPr>
          <p:spPr>
            <a:xfrm flipH="1">
              <a:off x="8929208" y="4137414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" name="Google Shape;262;p28">
              <a:extLst>
                <a:ext uri="{FF2B5EF4-FFF2-40B4-BE49-F238E27FC236}">
                  <a16:creationId xmlns:a16="http://schemas.microsoft.com/office/drawing/2014/main" id="{07CECA5E-F7BA-79E1-512B-73F25FA25B82}"/>
                </a:ext>
              </a:extLst>
            </p:cNvPr>
            <p:cNvSpPr txBox="1"/>
            <p:nvPr/>
          </p:nvSpPr>
          <p:spPr>
            <a:xfrm rot="21076349" flipH="1">
              <a:off x="8915780" y="3978572"/>
              <a:ext cx="2803562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dk1"/>
                  </a:solidFill>
                </a:rPr>
                <a:t>{</a:t>
              </a:r>
              <a:r>
                <a:rPr lang="en" i="1" dirty="0">
                  <a:solidFill>
                    <a:schemeClr val="dk1"/>
                  </a:solidFill>
                </a:rPr>
                <a:t>M ||</a:t>
              </a:r>
              <a:r>
                <a:rPr lang="en" dirty="0">
                  <a:solidFill>
                    <a:schemeClr val="dk1"/>
                  </a:solidFill>
                </a:rPr>
                <a:t> MAC(</a:t>
              </a:r>
              <a:r>
                <a:rPr lang="en" i="1" dirty="0">
                  <a:solidFill>
                    <a:schemeClr val="dk1"/>
                  </a:solidFill>
                </a:rPr>
                <a:t>I</a:t>
              </a:r>
              <a:r>
                <a:rPr lang="en" sz="900" i="1" dirty="0">
                  <a:solidFill>
                    <a:schemeClr val="dk1"/>
                  </a:solidFill>
                </a:rPr>
                <a:t>S</a:t>
              </a:r>
              <a:r>
                <a:rPr lang="en" dirty="0">
                  <a:solidFill>
                    <a:schemeClr val="dk1"/>
                  </a:solidFill>
                </a:rPr>
                <a:t>, </a:t>
              </a:r>
              <a:r>
                <a:rPr lang="en" i="1" dirty="0">
                  <a:solidFill>
                    <a:schemeClr val="dk1"/>
                  </a:solidFill>
                </a:rPr>
                <a:t>M</a:t>
              </a:r>
              <a:r>
                <a:rPr lang="en" dirty="0">
                  <a:solidFill>
                    <a:schemeClr val="dk1"/>
                  </a:solidFill>
                </a:rPr>
                <a:t>)}</a:t>
              </a:r>
              <a:r>
                <a:rPr lang="en" sz="900" i="1" dirty="0">
                  <a:solidFill>
                    <a:schemeClr val="dk1"/>
                  </a:solidFill>
                </a:rPr>
                <a:t>C</a:t>
              </a:r>
              <a:r>
                <a:rPr lang="en" sz="600" i="1" dirty="0">
                  <a:solidFill>
                    <a:schemeClr val="dk1"/>
                  </a:solidFill>
                </a:rPr>
                <a:t>S</a:t>
              </a:r>
              <a:endParaRPr sz="1200" i="1" dirty="0"/>
            </a:p>
          </p:txBody>
        </p:sp>
      </p:grpSp>
      <p:pic>
        <p:nvPicPr>
          <p:cNvPr id="3" name="Picture 2" descr="Screen Clipping">
            <a:extLst>
              <a:ext uri="{FF2B5EF4-FFF2-40B4-BE49-F238E27FC236}">
                <a16:creationId xmlns:a16="http://schemas.microsoft.com/office/drawing/2014/main" id="{F4397D8D-3BEE-9161-4731-F1D924B3B2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026010"/>
            <a:ext cx="7682396" cy="150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53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A4EA-82F1-E943-FBF8-466E39AE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06886"/>
          </a:xfrm>
        </p:spPr>
        <p:txBody>
          <a:bodyPr/>
          <a:lstStyle/>
          <a:p>
            <a:r>
              <a:rPr lang="en-US" sz="4400" dirty="0"/>
              <a:t>Sending Data with the TLS Protocol</a:t>
            </a:r>
            <a:endParaRPr lang="en-US" dirty="0"/>
          </a:p>
        </p:txBody>
      </p:sp>
      <p:pic>
        <p:nvPicPr>
          <p:cNvPr id="4" name="Picture 3" descr="Screen Clipping">
            <a:extLst>
              <a:ext uri="{FF2B5EF4-FFF2-40B4-BE49-F238E27FC236}">
                <a16:creationId xmlns:a16="http://schemas.microsoft.com/office/drawing/2014/main" id="{481DA3C3-1FE4-76CB-2A9C-B0E050973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643" y="1006886"/>
            <a:ext cx="8464710" cy="4764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17BBFE-9668-0C9C-4868-3E64C8A61E9F}"/>
              </a:ext>
            </a:extLst>
          </p:cNvPr>
          <p:cNvSpPr txBox="1"/>
          <p:nvPr/>
        </p:nvSpPr>
        <p:spPr>
          <a:xfrm>
            <a:off x="1041243" y="5932044"/>
            <a:ext cx="1010951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200" b="1" dirty="0">
                <a:solidFill>
                  <a:srgbClr val="C00000"/>
                </a:solidFill>
              </a:rPr>
              <a:t>TCP Header</a:t>
            </a:r>
            <a:r>
              <a:rPr lang="en-US" sz="2200" dirty="0">
                <a:solidFill>
                  <a:srgbClr val="C00000"/>
                </a:solidFill>
              </a:rPr>
              <a:t>: </a:t>
            </a:r>
            <a:r>
              <a:rPr lang="en-US" sz="2200" dirty="0"/>
              <a:t>Contains transport-layer metadata (e.g., ports, sequence numbers)</a:t>
            </a:r>
            <a:endParaRPr lang="en-US" sz="2200" b="1" dirty="0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2200" b="1" dirty="0">
                <a:solidFill>
                  <a:srgbClr val="C00000"/>
                </a:solidFill>
              </a:rPr>
              <a:t>TCP Payload: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Includes the </a:t>
            </a:r>
            <a:r>
              <a:rPr lang="en-US" sz="2200" b="1" dirty="0">
                <a:solidFill>
                  <a:srgbClr val="C00000"/>
                </a:solidFill>
              </a:rPr>
              <a:t>TLS Header </a:t>
            </a:r>
            <a:r>
              <a:rPr lang="en-US" sz="2200" dirty="0"/>
              <a:t>(unencrypted) and the </a:t>
            </a:r>
            <a:r>
              <a:rPr lang="en-US" sz="2200" b="1" dirty="0">
                <a:solidFill>
                  <a:srgbClr val="C00000"/>
                </a:solidFill>
              </a:rPr>
              <a:t>Encrypted Data</a:t>
            </a:r>
            <a:endParaRPr lang="en-US" sz="2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527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DC732-F67A-8CFF-3B58-FAAD8CC04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16413-225D-B37C-0441-0B0FF5163A0D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76972DC-D300-FAE5-4CF0-3F71917A26FA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Transport Layer Security (TLS)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 Handshake Protocol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TLS: Security Guarantees and Summary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TLS: Application (HTTPS)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71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72F7E-540D-F772-ECB1-A6FD9D742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933"/>
            <a:ext cx="10515600" cy="965290"/>
          </a:xfrm>
        </p:spPr>
        <p:txBody>
          <a:bodyPr/>
          <a:lstStyle/>
          <a:p>
            <a:r>
              <a:rPr lang="en" dirty="0"/>
              <a:t>TLS: Talking to the Legitimate Server</a:t>
            </a:r>
            <a:endParaRPr lang="en-US" dirty="0"/>
          </a:p>
        </p:txBody>
      </p:sp>
      <p:sp>
        <p:nvSpPr>
          <p:cNvPr id="4" name="Google Shape;270;p29">
            <a:extLst>
              <a:ext uri="{FF2B5EF4-FFF2-40B4-BE49-F238E27FC236}">
                <a16:creationId xmlns:a16="http://schemas.microsoft.com/office/drawing/2014/main" id="{7EA6FEF9-CE18-67EC-85AC-85B5FA98E308}"/>
              </a:ext>
            </a:extLst>
          </p:cNvPr>
          <p:cNvSpPr txBox="1">
            <a:spLocks/>
          </p:cNvSpPr>
          <p:nvPr/>
        </p:nvSpPr>
        <p:spPr>
          <a:xfrm>
            <a:off x="222883" y="1690688"/>
            <a:ext cx="7544801" cy="494785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How can we be sure we are talking to the legitimate server (</a:t>
            </a:r>
            <a:r>
              <a:rPr lang="en-US" b="1" dirty="0">
                <a:solidFill>
                  <a:srgbClr val="C00000"/>
                </a:solidFill>
              </a:rPr>
              <a:t>server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authentication</a:t>
            </a:r>
            <a:r>
              <a:rPr lang="en-US" dirty="0"/>
              <a:t>)?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server sent its certificate, so we know the server’s public key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server proved that it owns the corresponding </a:t>
            </a:r>
            <a:r>
              <a:rPr lang="en-US" dirty="0">
                <a:solidFill>
                  <a:srgbClr val="C00000"/>
                </a:solidFill>
              </a:rPr>
              <a:t>private key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RSA: The server decrypted the PS</a:t>
            </a:r>
          </a:p>
          <a:p>
            <a:pPr marL="1371600" lvl="2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DHE: The server signed its half of the exchange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An attacker impersonating the server would not have the server’s private key (assuming they have not compromised the server)</a:t>
            </a:r>
          </a:p>
        </p:txBody>
      </p:sp>
      <p:cxnSp>
        <p:nvCxnSpPr>
          <p:cNvPr id="5" name="Google Shape;269;p29">
            <a:extLst>
              <a:ext uri="{FF2B5EF4-FFF2-40B4-BE49-F238E27FC236}">
                <a16:creationId xmlns:a16="http://schemas.microsoft.com/office/drawing/2014/main" id="{FDFD4700-4F42-4E9C-2627-D74FA151BDC2}"/>
              </a:ext>
            </a:extLst>
          </p:cNvPr>
          <p:cNvCxnSpPr/>
          <p:nvPr/>
        </p:nvCxnSpPr>
        <p:spPr>
          <a:xfrm>
            <a:off x="8288017" y="2557852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271;p29">
            <a:extLst>
              <a:ext uri="{FF2B5EF4-FFF2-40B4-BE49-F238E27FC236}">
                <a16:creationId xmlns:a16="http://schemas.microsoft.com/office/drawing/2014/main" id="{006F5126-55CC-1B51-D11C-A97C345E17FB}"/>
              </a:ext>
            </a:extLst>
          </p:cNvPr>
          <p:cNvCxnSpPr/>
          <p:nvPr/>
        </p:nvCxnSpPr>
        <p:spPr>
          <a:xfrm>
            <a:off x="11326767" y="2557852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272;p29">
            <a:extLst>
              <a:ext uri="{FF2B5EF4-FFF2-40B4-BE49-F238E27FC236}">
                <a16:creationId xmlns:a16="http://schemas.microsoft.com/office/drawing/2014/main" id="{350EADDC-B81C-76C4-4195-6036A71B5F4C}"/>
              </a:ext>
            </a:extLst>
          </p:cNvPr>
          <p:cNvSpPr txBox="1"/>
          <p:nvPr/>
        </p:nvSpPr>
        <p:spPr>
          <a:xfrm>
            <a:off x="8144392" y="2157652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8" name="Google Shape;273;p29">
            <a:extLst>
              <a:ext uri="{FF2B5EF4-FFF2-40B4-BE49-F238E27FC236}">
                <a16:creationId xmlns:a16="http://schemas.microsoft.com/office/drawing/2014/main" id="{ADD63930-FAAE-8F8D-1286-662CE2DBA8D7}"/>
              </a:ext>
            </a:extLst>
          </p:cNvPr>
          <p:cNvSpPr txBox="1"/>
          <p:nvPr/>
        </p:nvSpPr>
        <p:spPr>
          <a:xfrm>
            <a:off x="10495467" y="2157652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cxnSp>
        <p:nvCxnSpPr>
          <p:cNvPr id="9" name="Google Shape;274;p29">
            <a:extLst>
              <a:ext uri="{FF2B5EF4-FFF2-40B4-BE49-F238E27FC236}">
                <a16:creationId xmlns:a16="http://schemas.microsoft.com/office/drawing/2014/main" id="{2BD0716D-C76F-AC9E-073C-1DC1C9CBD592}"/>
              </a:ext>
            </a:extLst>
          </p:cNvPr>
          <p:cNvCxnSpPr/>
          <p:nvPr/>
        </p:nvCxnSpPr>
        <p:spPr>
          <a:xfrm>
            <a:off x="8354417" y="2566465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275;p29">
            <a:extLst>
              <a:ext uri="{FF2B5EF4-FFF2-40B4-BE49-F238E27FC236}">
                <a16:creationId xmlns:a16="http://schemas.microsoft.com/office/drawing/2014/main" id="{CB0D3B46-E94F-529F-8E0E-0F50ADA24BF2}"/>
              </a:ext>
            </a:extLst>
          </p:cNvPr>
          <p:cNvSpPr txBox="1"/>
          <p:nvPr/>
        </p:nvSpPr>
        <p:spPr>
          <a:xfrm rot="512024">
            <a:off x="8379798" y="2438223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ClientHello</a:t>
            </a:r>
            <a:endParaRPr/>
          </a:p>
        </p:txBody>
      </p:sp>
      <p:cxnSp>
        <p:nvCxnSpPr>
          <p:cNvPr id="11" name="Google Shape;276;p29">
            <a:extLst>
              <a:ext uri="{FF2B5EF4-FFF2-40B4-BE49-F238E27FC236}">
                <a16:creationId xmlns:a16="http://schemas.microsoft.com/office/drawing/2014/main" id="{8B8FE915-5B89-55F3-47CC-D7764DE41BDB}"/>
              </a:ext>
            </a:extLst>
          </p:cNvPr>
          <p:cNvCxnSpPr/>
          <p:nvPr/>
        </p:nvCxnSpPr>
        <p:spPr>
          <a:xfrm flipH="1">
            <a:off x="8380567" y="3081714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277;p29">
            <a:extLst>
              <a:ext uri="{FF2B5EF4-FFF2-40B4-BE49-F238E27FC236}">
                <a16:creationId xmlns:a16="http://schemas.microsoft.com/office/drawing/2014/main" id="{CEC9085E-8160-4A38-45B7-EA03466A705E}"/>
              </a:ext>
            </a:extLst>
          </p:cNvPr>
          <p:cNvSpPr txBox="1"/>
          <p:nvPr/>
        </p:nvSpPr>
        <p:spPr>
          <a:xfrm rot="-523651" flipH="1">
            <a:off x="8367139" y="2953584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ServerHello</a:t>
            </a:r>
            <a:endParaRPr/>
          </a:p>
        </p:txBody>
      </p:sp>
      <p:cxnSp>
        <p:nvCxnSpPr>
          <p:cNvPr id="13" name="Google Shape;278;p29">
            <a:extLst>
              <a:ext uri="{FF2B5EF4-FFF2-40B4-BE49-F238E27FC236}">
                <a16:creationId xmlns:a16="http://schemas.microsoft.com/office/drawing/2014/main" id="{DD0BEE22-B20A-A4BB-B185-658E466E9CAA}"/>
              </a:ext>
            </a:extLst>
          </p:cNvPr>
          <p:cNvCxnSpPr/>
          <p:nvPr/>
        </p:nvCxnSpPr>
        <p:spPr>
          <a:xfrm flipH="1">
            <a:off x="8413317" y="3429264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279;p29">
            <a:extLst>
              <a:ext uri="{FF2B5EF4-FFF2-40B4-BE49-F238E27FC236}">
                <a16:creationId xmlns:a16="http://schemas.microsoft.com/office/drawing/2014/main" id="{9D903B1A-F49D-1DE0-4E7F-C080158E32C1}"/>
              </a:ext>
            </a:extLst>
          </p:cNvPr>
          <p:cNvSpPr txBox="1"/>
          <p:nvPr/>
        </p:nvSpPr>
        <p:spPr>
          <a:xfrm rot="-523651" flipH="1">
            <a:off x="8399889" y="3301134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</a:t>
            </a:r>
            <a:endParaRPr/>
          </a:p>
        </p:txBody>
      </p:sp>
      <p:cxnSp>
        <p:nvCxnSpPr>
          <p:cNvPr id="15" name="Google Shape;280;p29">
            <a:extLst>
              <a:ext uri="{FF2B5EF4-FFF2-40B4-BE49-F238E27FC236}">
                <a16:creationId xmlns:a16="http://schemas.microsoft.com/office/drawing/2014/main" id="{D7656949-0456-9A79-5B0E-EA3165F31550}"/>
              </a:ext>
            </a:extLst>
          </p:cNvPr>
          <p:cNvCxnSpPr/>
          <p:nvPr/>
        </p:nvCxnSpPr>
        <p:spPr>
          <a:xfrm flipH="1">
            <a:off x="8380567" y="3767514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281;p29">
            <a:extLst>
              <a:ext uri="{FF2B5EF4-FFF2-40B4-BE49-F238E27FC236}">
                <a16:creationId xmlns:a16="http://schemas.microsoft.com/office/drawing/2014/main" id="{6E8ED6D4-C6A8-C85C-8F9F-4BA4027C0FD1}"/>
              </a:ext>
            </a:extLst>
          </p:cNvPr>
          <p:cNvSpPr txBox="1"/>
          <p:nvPr/>
        </p:nvSpPr>
        <p:spPr>
          <a:xfrm rot="-523651" flipH="1">
            <a:off x="8367139" y="3608672"/>
            <a:ext cx="280356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{</a:t>
            </a:r>
            <a:r>
              <a:rPr lang="en" i="1" dirty="0">
                <a:solidFill>
                  <a:srgbClr val="B7B7B7"/>
                </a:solidFill>
              </a:rPr>
              <a:t>g</a:t>
            </a:r>
            <a:r>
              <a:rPr lang="en" i="1" baseline="30000" dirty="0">
                <a:solidFill>
                  <a:srgbClr val="B7B7B7"/>
                </a:solidFill>
              </a:rPr>
              <a:t>a</a:t>
            </a:r>
            <a:r>
              <a:rPr lang="en" dirty="0">
                <a:solidFill>
                  <a:srgbClr val="B7B7B7"/>
                </a:solidFill>
              </a:rPr>
              <a:t> mod </a:t>
            </a:r>
            <a:r>
              <a:rPr lang="en" i="1" dirty="0">
                <a:solidFill>
                  <a:srgbClr val="B7B7B7"/>
                </a:solidFill>
              </a:rPr>
              <a:t>p</a:t>
            </a:r>
            <a:r>
              <a:rPr lang="en" dirty="0">
                <a:solidFill>
                  <a:srgbClr val="B7B7B7"/>
                </a:solidFill>
              </a:rPr>
              <a:t>}</a:t>
            </a:r>
            <a:r>
              <a:rPr lang="en" sz="1000" i="1" dirty="0">
                <a:solidFill>
                  <a:srgbClr val="B7B7B7"/>
                </a:solidFill>
              </a:rPr>
              <a:t>SK</a:t>
            </a:r>
            <a:r>
              <a:rPr lang="en" sz="1000" baseline="30000" dirty="0">
                <a:solidFill>
                  <a:srgbClr val="B7B7B7"/>
                </a:solidFill>
              </a:rPr>
              <a:t>-1</a:t>
            </a:r>
            <a:r>
              <a:rPr lang="en" sz="600" dirty="0">
                <a:solidFill>
                  <a:srgbClr val="B7B7B7"/>
                </a:solidFill>
              </a:rPr>
              <a:t>server</a:t>
            </a:r>
            <a:endParaRPr sz="600" dirty="0">
              <a:solidFill>
                <a:srgbClr val="B7B7B7"/>
              </a:solidFill>
            </a:endParaRPr>
          </a:p>
        </p:txBody>
      </p:sp>
      <p:cxnSp>
        <p:nvCxnSpPr>
          <p:cNvPr id="17" name="Google Shape;282;p29">
            <a:extLst>
              <a:ext uri="{FF2B5EF4-FFF2-40B4-BE49-F238E27FC236}">
                <a16:creationId xmlns:a16="http://schemas.microsoft.com/office/drawing/2014/main" id="{2A361C6B-64F7-798F-1D7C-629B394E2371}"/>
              </a:ext>
            </a:extLst>
          </p:cNvPr>
          <p:cNvCxnSpPr/>
          <p:nvPr/>
        </p:nvCxnSpPr>
        <p:spPr>
          <a:xfrm>
            <a:off x="8354417" y="4319065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283;p29">
            <a:extLst>
              <a:ext uri="{FF2B5EF4-FFF2-40B4-BE49-F238E27FC236}">
                <a16:creationId xmlns:a16="http://schemas.microsoft.com/office/drawing/2014/main" id="{455E3F3D-2E9B-B766-482C-B33CBB625E46}"/>
              </a:ext>
            </a:extLst>
          </p:cNvPr>
          <p:cNvSpPr txBox="1"/>
          <p:nvPr/>
        </p:nvSpPr>
        <p:spPr>
          <a:xfrm rot="512024">
            <a:off x="8379798" y="4190823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rgbClr val="B7B7B7"/>
                </a:solidFill>
              </a:rPr>
              <a:t>g</a:t>
            </a:r>
            <a:r>
              <a:rPr lang="en" i="1" baseline="30000">
                <a:solidFill>
                  <a:srgbClr val="B7B7B7"/>
                </a:solidFill>
              </a:rPr>
              <a:t>b</a:t>
            </a:r>
            <a:r>
              <a:rPr lang="en">
                <a:solidFill>
                  <a:srgbClr val="B7B7B7"/>
                </a:solidFill>
              </a:rPr>
              <a:t> mod </a:t>
            </a:r>
            <a:r>
              <a:rPr lang="en" i="1">
                <a:solidFill>
                  <a:srgbClr val="B7B7B7"/>
                </a:solidFill>
              </a:rPr>
              <a:t>p</a:t>
            </a:r>
            <a:endParaRPr i="1">
              <a:solidFill>
                <a:srgbClr val="B7B7B7"/>
              </a:solidFill>
            </a:endParaRPr>
          </a:p>
        </p:txBody>
      </p:sp>
      <p:cxnSp>
        <p:nvCxnSpPr>
          <p:cNvPr id="19" name="Google Shape;284;p29">
            <a:extLst>
              <a:ext uri="{FF2B5EF4-FFF2-40B4-BE49-F238E27FC236}">
                <a16:creationId xmlns:a16="http://schemas.microsoft.com/office/drawing/2014/main" id="{4D82A49F-D1AD-CD36-FD51-57DD78AF791C}"/>
              </a:ext>
            </a:extLst>
          </p:cNvPr>
          <p:cNvCxnSpPr/>
          <p:nvPr/>
        </p:nvCxnSpPr>
        <p:spPr>
          <a:xfrm>
            <a:off x="8354417" y="4700065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285;p29">
            <a:extLst>
              <a:ext uri="{FF2B5EF4-FFF2-40B4-BE49-F238E27FC236}">
                <a16:creationId xmlns:a16="http://schemas.microsoft.com/office/drawing/2014/main" id="{FFD20107-4FF9-0234-C79B-8A157A8CA5F7}"/>
              </a:ext>
            </a:extLst>
          </p:cNvPr>
          <p:cNvSpPr txBox="1"/>
          <p:nvPr/>
        </p:nvSpPr>
        <p:spPr>
          <a:xfrm rot="512024">
            <a:off x="8379798" y="4541073"/>
            <a:ext cx="286673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{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, MAC(</a:t>
            </a:r>
            <a:r>
              <a:rPr lang="en" i="1" dirty="0">
                <a:solidFill>
                  <a:schemeClr val="dk1"/>
                </a:solidFill>
              </a:rPr>
              <a:t>I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dirty="0">
                <a:solidFill>
                  <a:schemeClr val="dk1"/>
                </a:solidFill>
              </a:rPr>
              <a:t>, 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)}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sz="600" i="1" dirty="0">
                <a:solidFill>
                  <a:schemeClr val="dk1"/>
                </a:solidFill>
              </a:rPr>
              <a:t>C</a:t>
            </a:r>
            <a:endParaRPr sz="600" i="1" dirty="0">
              <a:solidFill>
                <a:schemeClr val="dk1"/>
              </a:solidFill>
            </a:endParaRPr>
          </a:p>
        </p:txBody>
      </p:sp>
      <p:cxnSp>
        <p:nvCxnSpPr>
          <p:cNvPr id="21" name="Google Shape;286;p29">
            <a:extLst>
              <a:ext uri="{FF2B5EF4-FFF2-40B4-BE49-F238E27FC236}">
                <a16:creationId xmlns:a16="http://schemas.microsoft.com/office/drawing/2014/main" id="{05D4ECEA-C23C-2F7A-1F1D-D1EC1C9D9E9E}"/>
              </a:ext>
            </a:extLst>
          </p:cNvPr>
          <p:cNvCxnSpPr/>
          <p:nvPr/>
        </p:nvCxnSpPr>
        <p:spPr>
          <a:xfrm flipH="1">
            <a:off x="8380567" y="5215314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287;p29">
            <a:extLst>
              <a:ext uri="{FF2B5EF4-FFF2-40B4-BE49-F238E27FC236}">
                <a16:creationId xmlns:a16="http://schemas.microsoft.com/office/drawing/2014/main" id="{E12098BD-6943-A0F6-7AFF-923D3124925F}"/>
              </a:ext>
            </a:extLst>
          </p:cNvPr>
          <p:cNvSpPr txBox="1"/>
          <p:nvPr/>
        </p:nvSpPr>
        <p:spPr>
          <a:xfrm rot="-523651" flipH="1">
            <a:off x="8367139" y="5087184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{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, MAC(</a:t>
            </a:r>
            <a:r>
              <a:rPr lang="en" i="1">
                <a:solidFill>
                  <a:schemeClr val="dk1"/>
                </a:solidFill>
              </a:rPr>
              <a:t>I</a:t>
            </a:r>
            <a:r>
              <a:rPr lang="en" sz="900" i="1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)}</a:t>
            </a:r>
            <a:r>
              <a:rPr lang="en" sz="900" i="1">
                <a:solidFill>
                  <a:schemeClr val="dk1"/>
                </a:solidFill>
              </a:rPr>
              <a:t>C</a:t>
            </a:r>
            <a:r>
              <a:rPr lang="en" sz="600" i="1">
                <a:solidFill>
                  <a:schemeClr val="dk1"/>
                </a:solidFill>
              </a:rPr>
              <a:t>S</a:t>
            </a:r>
            <a:endParaRPr sz="1200" i="1"/>
          </a:p>
        </p:txBody>
      </p:sp>
      <p:sp>
        <p:nvSpPr>
          <p:cNvPr id="23" name="Google Shape;288;p29">
            <a:extLst>
              <a:ext uri="{FF2B5EF4-FFF2-40B4-BE49-F238E27FC236}">
                <a16:creationId xmlns:a16="http://schemas.microsoft.com/office/drawing/2014/main" id="{AA84E7F9-1048-ADFF-A1CE-2DA25D2F00B8}"/>
              </a:ext>
            </a:extLst>
          </p:cNvPr>
          <p:cNvSpPr txBox="1"/>
          <p:nvPr/>
        </p:nvSpPr>
        <p:spPr>
          <a:xfrm>
            <a:off x="9822992" y="3946165"/>
            <a:ext cx="1417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</a:rPr>
              <a:t>Or RSA exchange</a:t>
            </a:r>
            <a:endParaRPr sz="1000">
              <a:solidFill>
                <a:srgbClr val="B7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164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8C798-6AC1-8C56-9C73-08BACE103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690"/>
            <a:ext cx="10515600" cy="874199"/>
          </a:xfrm>
        </p:spPr>
        <p:txBody>
          <a:bodyPr/>
          <a:lstStyle/>
          <a:p>
            <a:r>
              <a:rPr lang="en" dirty="0"/>
              <a:t>TLS: Securing Messages</a:t>
            </a:r>
            <a:endParaRPr lang="en-US" dirty="0"/>
          </a:p>
        </p:txBody>
      </p:sp>
      <p:sp>
        <p:nvSpPr>
          <p:cNvPr id="4" name="Google Shape;295;p30">
            <a:extLst>
              <a:ext uri="{FF2B5EF4-FFF2-40B4-BE49-F238E27FC236}">
                <a16:creationId xmlns:a16="http://schemas.microsoft.com/office/drawing/2014/main" id="{F75A4A3F-AD51-15B6-3420-C633A9E85CFC}"/>
              </a:ext>
            </a:extLst>
          </p:cNvPr>
          <p:cNvSpPr txBox="1">
            <a:spLocks/>
          </p:cNvSpPr>
          <p:nvPr/>
        </p:nvSpPr>
        <p:spPr>
          <a:xfrm>
            <a:off x="0" y="1487424"/>
            <a:ext cx="8624743" cy="525475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How can we be sure that network attackers can’t read or tamper with our messages?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attacker doesn’t know </a:t>
            </a:r>
            <a:r>
              <a:rPr lang="en-US" i="1" dirty="0">
                <a:solidFill>
                  <a:srgbClr val="C00000"/>
                </a:solidFill>
              </a:rPr>
              <a:t>PS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RSA: PS was encrypted with the server’s public key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DHE: An attacker cannot learn the Diffie-Hellman secret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symmetric keys are derived from PS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attacker doesn’t know the symmetric keys used to encrypt and MAC messages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Encryption and MACs provide </a:t>
            </a:r>
            <a:r>
              <a:rPr lang="en-US" dirty="0">
                <a:solidFill>
                  <a:srgbClr val="C00000"/>
                </a:solidFill>
              </a:rPr>
              <a:t>confidentiality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integrity</a:t>
            </a:r>
          </a:p>
        </p:txBody>
      </p:sp>
      <p:cxnSp>
        <p:nvCxnSpPr>
          <p:cNvPr id="5" name="Google Shape;296;p30">
            <a:extLst>
              <a:ext uri="{FF2B5EF4-FFF2-40B4-BE49-F238E27FC236}">
                <a16:creationId xmlns:a16="http://schemas.microsoft.com/office/drawing/2014/main" id="{32F1E58B-B681-668F-D298-F68C01700875}"/>
              </a:ext>
            </a:extLst>
          </p:cNvPr>
          <p:cNvCxnSpPr/>
          <p:nvPr/>
        </p:nvCxnSpPr>
        <p:spPr>
          <a:xfrm>
            <a:off x="8867518" y="2446369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297;p30">
            <a:extLst>
              <a:ext uri="{FF2B5EF4-FFF2-40B4-BE49-F238E27FC236}">
                <a16:creationId xmlns:a16="http://schemas.microsoft.com/office/drawing/2014/main" id="{2EB49B35-48AE-CA1C-4FCD-58948EDFECBE}"/>
              </a:ext>
            </a:extLst>
          </p:cNvPr>
          <p:cNvCxnSpPr/>
          <p:nvPr/>
        </p:nvCxnSpPr>
        <p:spPr>
          <a:xfrm>
            <a:off x="11906268" y="2446369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298;p30">
            <a:extLst>
              <a:ext uri="{FF2B5EF4-FFF2-40B4-BE49-F238E27FC236}">
                <a16:creationId xmlns:a16="http://schemas.microsoft.com/office/drawing/2014/main" id="{F3A25998-1327-392E-5A44-896CA160E521}"/>
              </a:ext>
            </a:extLst>
          </p:cNvPr>
          <p:cNvSpPr txBox="1"/>
          <p:nvPr/>
        </p:nvSpPr>
        <p:spPr>
          <a:xfrm>
            <a:off x="8723893" y="2046169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8" name="Google Shape;299;p30">
            <a:extLst>
              <a:ext uri="{FF2B5EF4-FFF2-40B4-BE49-F238E27FC236}">
                <a16:creationId xmlns:a16="http://schemas.microsoft.com/office/drawing/2014/main" id="{F512F4AF-C570-11DE-58AF-3E268DDBA774}"/>
              </a:ext>
            </a:extLst>
          </p:cNvPr>
          <p:cNvSpPr txBox="1"/>
          <p:nvPr/>
        </p:nvSpPr>
        <p:spPr>
          <a:xfrm>
            <a:off x="11074968" y="2046169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cxnSp>
        <p:nvCxnSpPr>
          <p:cNvPr id="9" name="Google Shape;300;p30">
            <a:extLst>
              <a:ext uri="{FF2B5EF4-FFF2-40B4-BE49-F238E27FC236}">
                <a16:creationId xmlns:a16="http://schemas.microsoft.com/office/drawing/2014/main" id="{5CB147BB-9806-E2BC-E66E-D242882DE74F}"/>
              </a:ext>
            </a:extLst>
          </p:cNvPr>
          <p:cNvCxnSpPr/>
          <p:nvPr/>
        </p:nvCxnSpPr>
        <p:spPr>
          <a:xfrm>
            <a:off x="8933918" y="2454982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301;p30">
            <a:extLst>
              <a:ext uri="{FF2B5EF4-FFF2-40B4-BE49-F238E27FC236}">
                <a16:creationId xmlns:a16="http://schemas.microsoft.com/office/drawing/2014/main" id="{0ADE94C7-7458-0003-30C1-A81E4E8318DC}"/>
              </a:ext>
            </a:extLst>
          </p:cNvPr>
          <p:cNvSpPr txBox="1"/>
          <p:nvPr/>
        </p:nvSpPr>
        <p:spPr>
          <a:xfrm rot="512024">
            <a:off x="8959299" y="2326740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ClientHello</a:t>
            </a:r>
            <a:endParaRPr/>
          </a:p>
        </p:txBody>
      </p:sp>
      <p:cxnSp>
        <p:nvCxnSpPr>
          <p:cNvPr id="11" name="Google Shape;302;p30">
            <a:extLst>
              <a:ext uri="{FF2B5EF4-FFF2-40B4-BE49-F238E27FC236}">
                <a16:creationId xmlns:a16="http://schemas.microsoft.com/office/drawing/2014/main" id="{2DE7501A-248D-D7AF-AEEC-74BE49E7A73E}"/>
              </a:ext>
            </a:extLst>
          </p:cNvPr>
          <p:cNvCxnSpPr/>
          <p:nvPr/>
        </p:nvCxnSpPr>
        <p:spPr>
          <a:xfrm flipH="1">
            <a:off x="8960068" y="2970231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303;p30">
            <a:extLst>
              <a:ext uri="{FF2B5EF4-FFF2-40B4-BE49-F238E27FC236}">
                <a16:creationId xmlns:a16="http://schemas.microsoft.com/office/drawing/2014/main" id="{4402EAC6-0198-D8A2-AB56-CC4636AD39BD}"/>
              </a:ext>
            </a:extLst>
          </p:cNvPr>
          <p:cNvSpPr txBox="1"/>
          <p:nvPr/>
        </p:nvSpPr>
        <p:spPr>
          <a:xfrm rot="-523651" flipH="1">
            <a:off x="8946640" y="2842101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ServerHello</a:t>
            </a:r>
            <a:endParaRPr/>
          </a:p>
        </p:txBody>
      </p:sp>
      <p:cxnSp>
        <p:nvCxnSpPr>
          <p:cNvPr id="13" name="Google Shape;304;p30">
            <a:extLst>
              <a:ext uri="{FF2B5EF4-FFF2-40B4-BE49-F238E27FC236}">
                <a16:creationId xmlns:a16="http://schemas.microsoft.com/office/drawing/2014/main" id="{FD5D72D8-84BC-4FE5-0314-F1E866F13ED2}"/>
              </a:ext>
            </a:extLst>
          </p:cNvPr>
          <p:cNvCxnSpPr/>
          <p:nvPr/>
        </p:nvCxnSpPr>
        <p:spPr>
          <a:xfrm flipH="1">
            <a:off x="8992818" y="3317781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305;p30">
            <a:extLst>
              <a:ext uri="{FF2B5EF4-FFF2-40B4-BE49-F238E27FC236}">
                <a16:creationId xmlns:a16="http://schemas.microsoft.com/office/drawing/2014/main" id="{ADF6AC3E-4EB7-FE9D-869F-51D01FA752C8}"/>
              </a:ext>
            </a:extLst>
          </p:cNvPr>
          <p:cNvSpPr txBox="1"/>
          <p:nvPr/>
        </p:nvSpPr>
        <p:spPr>
          <a:xfrm rot="-523651" flipH="1">
            <a:off x="8979390" y="3189651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</a:t>
            </a:r>
            <a:endParaRPr/>
          </a:p>
        </p:txBody>
      </p:sp>
      <p:cxnSp>
        <p:nvCxnSpPr>
          <p:cNvPr id="15" name="Google Shape;306;p30">
            <a:extLst>
              <a:ext uri="{FF2B5EF4-FFF2-40B4-BE49-F238E27FC236}">
                <a16:creationId xmlns:a16="http://schemas.microsoft.com/office/drawing/2014/main" id="{973FC772-47EF-A66A-CE7C-4D23337939F8}"/>
              </a:ext>
            </a:extLst>
          </p:cNvPr>
          <p:cNvCxnSpPr/>
          <p:nvPr/>
        </p:nvCxnSpPr>
        <p:spPr>
          <a:xfrm flipH="1">
            <a:off x="8960068" y="3656031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307;p30">
            <a:extLst>
              <a:ext uri="{FF2B5EF4-FFF2-40B4-BE49-F238E27FC236}">
                <a16:creationId xmlns:a16="http://schemas.microsoft.com/office/drawing/2014/main" id="{228577F4-9E1E-B6F9-F8B3-CB752B6DE6FD}"/>
              </a:ext>
            </a:extLst>
          </p:cNvPr>
          <p:cNvSpPr txBox="1"/>
          <p:nvPr/>
        </p:nvSpPr>
        <p:spPr>
          <a:xfrm rot="-523651" flipH="1">
            <a:off x="8946640" y="3497189"/>
            <a:ext cx="280356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{</a:t>
            </a:r>
            <a:r>
              <a:rPr lang="en" i="1" dirty="0">
                <a:solidFill>
                  <a:srgbClr val="B7B7B7"/>
                </a:solidFill>
              </a:rPr>
              <a:t>g</a:t>
            </a:r>
            <a:r>
              <a:rPr lang="en" i="1" baseline="30000" dirty="0">
                <a:solidFill>
                  <a:srgbClr val="B7B7B7"/>
                </a:solidFill>
              </a:rPr>
              <a:t>a</a:t>
            </a:r>
            <a:r>
              <a:rPr lang="en" dirty="0">
                <a:solidFill>
                  <a:srgbClr val="B7B7B7"/>
                </a:solidFill>
              </a:rPr>
              <a:t> mod </a:t>
            </a:r>
            <a:r>
              <a:rPr lang="en" i="1" dirty="0">
                <a:solidFill>
                  <a:srgbClr val="B7B7B7"/>
                </a:solidFill>
              </a:rPr>
              <a:t>p</a:t>
            </a:r>
            <a:r>
              <a:rPr lang="en" dirty="0">
                <a:solidFill>
                  <a:srgbClr val="B7B7B7"/>
                </a:solidFill>
              </a:rPr>
              <a:t>}</a:t>
            </a:r>
            <a:r>
              <a:rPr lang="en" sz="1000" i="1" dirty="0">
                <a:solidFill>
                  <a:srgbClr val="B7B7B7"/>
                </a:solidFill>
              </a:rPr>
              <a:t>SK</a:t>
            </a:r>
            <a:r>
              <a:rPr lang="en" sz="1000" baseline="30000" dirty="0">
                <a:solidFill>
                  <a:srgbClr val="B7B7B7"/>
                </a:solidFill>
              </a:rPr>
              <a:t>-1</a:t>
            </a:r>
            <a:r>
              <a:rPr lang="en" sz="600" dirty="0">
                <a:solidFill>
                  <a:srgbClr val="B7B7B7"/>
                </a:solidFill>
              </a:rPr>
              <a:t>server</a:t>
            </a:r>
            <a:endParaRPr sz="600" dirty="0">
              <a:solidFill>
                <a:srgbClr val="B7B7B7"/>
              </a:solidFill>
            </a:endParaRPr>
          </a:p>
        </p:txBody>
      </p:sp>
      <p:cxnSp>
        <p:nvCxnSpPr>
          <p:cNvPr id="17" name="Google Shape;308;p30">
            <a:extLst>
              <a:ext uri="{FF2B5EF4-FFF2-40B4-BE49-F238E27FC236}">
                <a16:creationId xmlns:a16="http://schemas.microsoft.com/office/drawing/2014/main" id="{D8F73104-FEB1-867D-581D-F8D7A98E70DC}"/>
              </a:ext>
            </a:extLst>
          </p:cNvPr>
          <p:cNvCxnSpPr/>
          <p:nvPr/>
        </p:nvCxnSpPr>
        <p:spPr>
          <a:xfrm>
            <a:off x="8933918" y="4207582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309;p30">
            <a:extLst>
              <a:ext uri="{FF2B5EF4-FFF2-40B4-BE49-F238E27FC236}">
                <a16:creationId xmlns:a16="http://schemas.microsoft.com/office/drawing/2014/main" id="{FF721E7F-8A24-ECA6-5B4B-61A4700D42FC}"/>
              </a:ext>
            </a:extLst>
          </p:cNvPr>
          <p:cNvSpPr txBox="1"/>
          <p:nvPr/>
        </p:nvSpPr>
        <p:spPr>
          <a:xfrm rot="512024">
            <a:off x="8959299" y="4079340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rgbClr val="B7B7B7"/>
                </a:solidFill>
              </a:rPr>
              <a:t>g</a:t>
            </a:r>
            <a:r>
              <a:rPr lang="en" i="1" baseline="30000">
                <a:solidFill>
                  <a:srgbClr val="B7B7B7"/>
                </a:solidFill>
              </a:rPr>
              <a:t>b</a:t>
            </a:r>
            <a:r>
              <a:rPr lang="en">
                <a:solidFill>
                  <a:srgbClr val="B7B7B7"/>
                </a:solidFill>
              </a:rPr>
              <a:t> mod </a:t>
            </a:r>
            <a:r>
              <a:rPr lang="en" i="1">
                <a:solidFill>
                  <a:srgbClr val="B7B7B7"/>
                </a:solidFill>
              </a:rPr>
              <a:t>p</a:t>
            </a:r>
            <a:endParaRPr i="1">
              <a:solidFill>
                <a:srgbClr val="B7B7B7"/>
              </a:solidFill>
            </a:endParaRPr>
          </a:p>
        </p:txBody>
      </p:sp>
      <p:cxnSp>
        <p:nvCxnSpPr>
          <p:cNvPr id="19" name="Google Shape;310;p30">
            <a:extLst>
              <a:ext uri="{FF2B5EF4-FFF2-40B4-BE49-F238E27FC236}">
                <a16:creationId xmlns:a16="http://schemas.microsoft.com/office/drawing/2014/main" id="{BDEDA908-8D22-88FB-7C0E-899801B58468}"/>
              </a:ext>
            </a:extLst>
          </p:cNvPr>
          <p:cNvCxnSpPr/>
          <p:nvPr/>
        </p:nvCxnSpPr>
        <p:spPr>
          <a:xfrm>
            <a:off x="8933918" y="4588582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311;p30">
            <a:extLst>
              <a:ext uri="{FF2B5EF4-FFF2-40B4-BE49-F238E27FC236}">
                <a16:creationId xmlns:a16="http://schemas.microsoft.com/office/drawing/2014/main" id="{19F75384-CF1A-ADA8-1951-ACF046AF4A8E}"/>
              </a:ext>
            </a:extLst>
          </p:cNvPr>
          <p:cNvSpPr txBox="1"/>
          <p:nvPr/>
        </p:nvSpPr>
        <p:spPr>
          <a:xfrm rot="512024">
            <a:off x="8959299" y="4429590"/>
            <a:ext cx="286673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{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, MAC(</a:t>
            </a:r>
            <a:r>
              <a:rPr lang="en" i="1" dirty="0">
                <a:solidFill>
                  <a:schemeClr val="dk1"/>
                </a:solidFill>
              </a:rPr>
              <a:t>I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dirty="0">
                <a:solidFill>
                  <a:schemeClr val="dk1"/>
                </a:solidFill>
              </a:rPr>
              <a:t>, 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)}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sz="600" i="1" dirty="0">
                <a:solidFill>
                  <a:schemeClr val="dk1"/>
                </a:solidFill>
              </a:rPr>
              <a:t>C</a:t>
            </a:r>
            <a:endParaRPr sz="600" i="1" dirty="0">
              <a:solidFill>
                <a:schemeClr val="dk1"/>
              </a:solidFill>
            </a:endParaRPr>
          </a:p>
        </p:txBody>
      </p:sp>
      <p:cxnSp>
        <p:nvCxnSpPr>
          <p:cNvPr id="21" name="Google Shape;312;p30">
            <a:extLst>
              <a:ext uri="{FF2B5EF4-FFF2-40B4-BE49-F238E27FC236}">
                <a16:creationId xmlns:a16="http://schemas.microsoft.com/office/drawing/2014/main" id="{7A0CD5AE-5C30-F9BD-5F1A-838F3A8A8EAA}"/>
              </a:ext>
            </a:extLst>
          </p:cNvPr>
          <p:cNvCxnSpPr/>
          <p:nvPr/>
        </p:nvCxnSpPr>
        <p:spPr>
          <a:xfrm flipH="1">
            <a:off x="8960068" y="5103831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313;p30">
            <a:extLst>
              <a:ext uri="{FF2B5EF4-FFF2-40B4-BE49-F238E27FC236}">
                <a16:creationId xmlns:a16="http://schemas.microsoft.com/office/drawing/2014/main" id="{400CDF54-669C-D2A2-0977-402CA0BF507A}"/>
              </a:ext>
            </a:extLst>
          </p:cNvPr>
          <p:cNvSpPr txBox="1"/>
          <p:nvPr/>
        </p:nvSpPr>
        <p:spPr>
          <a:xfrm rot="-523651" flipH="1">
            <a:off x="8946640" y="4975701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{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, MAC(</a:t>
            </a:r>
            <a:r>
              <a:rPr lang="en" i="1">
                <a:solidFill>
                  <a:schemeClr val="dk1"/>
                </a:solidFill>
              </a:rPr>
              <a:t>I</a:t>
            </a:r>
            <a:r>
              <a:rPr lang="en" sz="900" i="1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)}</a:t>
            </a:r>
            <a:r>
              <a:rPr lang="en" sz="900" i="1">
                <a:solidFill>
                  <a:schemeClr val="dk1"/>
                </a:solidFill>
              </a:rPr>
              <a:t>C</a:t>
            </a:r>
            <a:r>
              <a:rPr lang="en" sz="600" i="1">
                <a:solidFill>
                  <a:schemeClr val="dk1"/>
                </a:solidFill>
              </a:rPr>
              <a:t>S</a:t>
            </a:r>
            <a:endParaRPr sz="1200" i="1"/>
          </a:p>
        </p:txBody>
      </p:sp>
      <p:sp>
        <p:nvSpPr>
          <p:cNvPr id="23" name="Google Shape;314;p30">
            <a:extLst>
              <a:ext uri="{FF2B5EF4-FFF2-40B4-BE49-F238E27FC236}">
                <a16:creationId xmlns:a16="http://schemas.microsoft.com/office/drawing/2014/main" id="{E867BA43-4430-8681-7FBA-99418AB72668}"/>
              </a:ext>
            </a:extLst>
          </p:cNvPr>
          <p:cNvSpPr txBox="1"/>
          <p:nvPr/>
        </p:nvSpPr>
        <p:spPr>
          <a:xfrm>
            <a:off x="10402493" y="3834682"/>
            <a:ext cx="1417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</a:rPr>
              <a:t>Or RSA exchange</a:t>
            </a:r>
            <a:endParaRPr sz="1000">
              <a:solidFill>
                <a:srgbClr val="B7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985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96F1-4F1A-17FD-A762-DE5D85B01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542"/>
            <a:ext cx="10515600" cy="934690"/>
          </a:xfrm>
        </p:spPr>
        <p:txBody>
          <a:bodyPr/>
          <a:lstStyle/>
          <a:p>
            <a:r>
              <a:rPr lang="en" dirty="0"/>
              <a:t>TLS: Replay Attacks</a:t>
            </a:r>
            <a:endParaRPr lang="en-US" dirty="0"/>
          </a:p>
        </p:txBody>
      </p:sp>
      <p:sp>
        <p:nvSpPr>
          <p:cNvPr id="5" name="Google Shape;321;p31">
            <a:extLst>
              <a:ext uri="{FF2B5EF4-FFF2-40B4-BE49-F238E27FC236}">
                <a16:creationId xmlns:a16="http://schemas.microsoft.com/office/drawing/2014/main" id="{A189A45D-A982-D575-4022-E711C11219B2}"/>
              </a:ext>
            </a:extLst>
          </p:cNvPr>
          <p:cNvSpPr txBox="1">
            <a:spLocks/>
          </p:cNvSpPr>
          <p:nvPr/>
        </p:nvSpPr>
        <p:spPr>
          <a:xfrm>
            <a:off x="186160" y="1938943"/>
            <a:ext cx="8083171" cy="34815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How can we be sure that the attacker hasn’t </a:t>
            </a:r>
            <a:r>
              <a:rPr lang="en-US" dirty="0">
                <a:solidFill>
                  <a:srgbClr val="C00000"/>
                </a:solidFill>
              </a:rPr>
              <a:t>replayed</a:t>
            </a:r>
            <a:r>
              <a:rPr lang="en-US" dirty="0"/>
              <a:t> old encrypted messages from a </a:t>
            </a:r>
            <a:r>
              <a:rPr lang="en-US" b="1" i="1" dirty="0"/>
              <a:t>past</a:t>
            </a:r>
            <a:r>
              <a:rPr lang="en-US" dirty="0"/>
              <a:t> TLS connection?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Replaying a packet that sends “Pay $10 to Mallory”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Every handshake uses a </a:t>
            </a:r>
            <a:r>
              <a:rPr lang="en-US" dirty="0">
                <a:solidFill>
                  <a:srgbClr val="C00000"/>
                </a:solidFill>
              </a:rPr>
              <a:t>different</a:t>
            </a:r>
            <a:r>
              <a:rPr lang="en-US" dirty="0"/>
              <a:t> </a:t>
            </a:r>
            <a:r>
              <a:rPr lang="en-US" i="1" dirty="0"/>
              <a:t>R</a:t>
            </a:r>
            <a:r>
              <a:rPr lang="en-US" sz="1200" i="1" dirty="0"/>
              <a:t>C</a:t>
            </a:r>
            <a:r>
              <a:rPr lang="en-US" dirty="0"/>
              <a:t> and </a:t>
            </a:r>
            <a:r>
              <a:rPr lang="en-US" i="1" dirty="0"/>
              <a:t>R</a:t>
            </a:r>
            <a:r>
              <a:rPr lang="en-US" sz="1200" i="1" dirty="0"/>
              <a:t>S</a:t>
            </a:r>
            <a:endParaRPr lang="en-US" sz="1700" i="1" dirty="0"/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symmetric keys are derived from </a:t>
            </a:r>
            <a:r>
              <a:rPr lang="en-US" i="1" dirty="0"/>
              <a:t>R</a:t>
            </a:r>
            <a:r>
              <a:rPr lang="en-US" sz="1200" i="1" dirty="0"/>
              <a:t>C</a:t>
            </a:r>
            <a:r>
              <a:rPr lang="en-US" dirty="0"/>
              <a:t> and </a:t>
            </a:r>
            <a:r>
              <a:rPr lang="en-US" i="1" dirty="0"/>
              <a:t>R</a:t>
            </a:r>
            <a:r>
              <a:rPr lang="en-US" sz="1200" i="1" dirty="0"/>
              <a:t>S</a:t>
            </a:r>
            <a:endParaRPr lang="en-US" sz="1700" i="1" dirty="0"/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symmetric keys are different for every connection</a:t>
            </a:r>
          </a:p>
        </p:txBody>
      </p:sp>
      <p:cxnSp>
        <p:nvCxnSpPr>
          <p:cNvPr id="6" name="Google Shape;322;p31">
            <a:extLst>
              <a:ext uri="{FF2B5EF4-FFF2-40B4-BE49-F238E27FC236}">
                <a16:creationId xmlns:a16="http://schemas.microsoft.com/office/drawing/2014/main" id="{309365C4-DDD8-18F3-5DA2-2341FACB8A5E}"/>
              </a:ext>
            </a:extLst>
          </p:cNvPr>
          <p:cNvCxnSpPr/>
          <p:nvPr/>
        </p:nvCxnSpPr>
        <p:spPr>
          <a:xfrm>
            <a:off x="8735390" y="2075125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323;p31">
            <a:extLst>
              <a:ext uri="{FF2B5EF4-FFF2-40B4-BE49-F238E27FC236}">
                <a16:creationId xmlns:a16="http://schemas.microsoft.com/office/drawing/2014/main" id="{FF9F2953-83FF-C545-57AB-2A02060092D7}"/>
              </a:ext>
            </a:extLst>
          </p:cNvPr>
          <p:cNvCxnSpPr/>
          <p:nvPr/>
        </p:nvCxnSpPr>
        <p:spPr>
          <a:xfrm>
            <a:off x="11774140" y="2075125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324;p31">
            <a:extLst>
              <a:ext uri="{FF2B5EF4-FFF2-40B4-BE49-F238E27FC236}">
                <a16:creationId xmlns:a16="http://schemas.microsoft.com/office/drawing/2014/main" id="{67B11194-F121-434E-B03B-DAA410AFEADF}"/>
              </a:ext>
            </a:extLst>
          </p:cNvPr>
          <p:cNvSpPr txBox="1"/>
          <p:nvPr/>
        </p:nvSpPr>
        <p:spPr>
          <a:xfrm>
            <a:off x="8591765" y="1674925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9" name="Google Shape;325;p31">
            <a:extLst>
              <a:ext uri="{FF2B5EF4-FFF2-40B4-BE49-F238E27FC236}">
                <a16:creationId xmlns:a16="http://schemas.microsoft.com/office/drawing/2014/main" id="{FEA1B233-C57F-50E3-D37B-6A52D378CE81}"/>
              </a:ext>
            </a:extLst>
          </p:cNvPr>
          <p:cNvSpPr txBox="1"/>
          <p:nvPr/>
        </p:nvSpPr>
        <p:spPr>
          <a:xfrm>
            <a:off x="10942840" y="1674925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cxnSp>
        <p:nvCxnSpPr>
          <p:cNvPr id="10" name="Google Shape;326;p31">
            <a:extLst>
              <a:ext uri="{FF2B5EF4-FFF2-40B4-BE49-F238E27FC236}">
                <a16:creationId xmlns:a16="http://schemas.microsoft.com/office/drawing/2014/main" id="{FB3B38D1-C1BB-5944-78E9-D7AA3C251FBA}"/>
              </a:ext>
            </a:extLst>
          </p:cNvPr>
          <p:cNvCxnSpPr/>
          <p:nvPr/>
        </p:nvCxnSpPr>
        <p:spPr>
          <a:xfrm>
            <a:off x="8801790" y="2083738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327;p31">
            <a:extLst>
              <a:ext uri="{FF2B5EF4-FFF2-40B4-BE49-F238E27FC236}">
                <a16:creationId xmlns:a16="http://schemas.microsoft.com/office/drawing/2014/main" id="{04C5D756-5F5E-DEA4-0BA1-175198B4367A}"/>
              </a:ext>
            </a:extLst>
          </p:cNvPr>
          <p:cNvSpPr txBox="1"/>
          <p:nvPr/>
        </p:nvSpPr>
        <p:spPr>
          <a:xfrm rot="512024">
            <a:off x="8827171" y="1955496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ClientHello</a:t>
            </a:r>
            <a:endParaRPr/>
          </a:p>
        </p:txBody>
      </p:sp>
      <p:cxnSp>
        <p:nvCxnSpPr>
          <p:cNvPr id="12" name="Google Shape;328;p31">
            <a:extLst>
              <a:ext uri="{FF2B5EF4-FFF2-40B4-BE49-F238E27FC236}">
                <a16:creationId xmlns:a16="http://schemas.microsoft.com/office/drawing/2014/main" id="{DA8AF6B3-3184-D370-77DA-36FE3BAAADCF}"/>
              </a:ext>
            </a:extLst>
          </p:cNvPr>
          <p:cNvCxnSpPr/>
          <p:nvPr/>
        </p:nvCxnSpPr>
        <p:spPr>
          <a:xfrm flipH="1">
            <a:off x="8827940" y="2598987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329;p31">
            <a:extLst>
              <a:ext uri="{FF2B5EF4-FFF2-40B4-BE49-F238E27FC236}">
                <a16:creationId xmlns:a16="http://schemas.microsoft.com/office/drawing/2014/main" id="{56A1C5ED-6F89-2010-D800-5B13235570DF}"/>
              </a:ext>
            </a:extLst>
          </p:cNvPr>
          <p:cNvSpPr txBox="1"/>
          <p:nvPr/>
        </p:nvSpPr>
        <p:spPr>
          <a:xfrm rot="-523651" flipH="1">
            <a:off x="8814512" y="2470857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ServerHello</a:t>
            </a:r>
            <a:endParaRPr/>
          </a:p>
        </p:txBody>
      </p:sp>
      <p:cxnSp>
        <p:nvCxnSpPr>
          <p:cNvPr id="14" name="Google Shape;330;p31">
            <a:extLst>
              <a:ext uri="{FF2B5EF4-FFF2-40B4-BE49-F238E27FC236}">
                <a16:creationId xmlns:a16="http://schemas.microsoft.com/office/drawing/2014/main" id="{043FAF83-51F0-8B10-378E-2402310B1802}"/>
              </a:ext>
            </a:extLst>
          </p:cNvPr>
          <p:cNvCxnSpPr/>
          <p:nvPr/>
        </p:nvCxnSpPr>
        <p:spPr>
          <a:xfrm flipH="1">
            <a:off x="8860690" y="2946537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331;p31">
            <a:extLst>
              <a:ext uri="{FF2B5EF4-FFF2-40B4-BE49-F238E27FC236}">
                <a16:creationId xmlns:a16="http://schemas.microsoft.com/office/drawing/2014/main" id="{003DD3FA-41DF-A320-724D-411A81CF85BE}"/>
              </a:ext>
            </a:extLst>
          </p:cNvPr>
          <p:cNvSpPr txBox="1"/>
          <p:nvPr/>
        </p:nvSpPr>
        <p:spPr>
          <a:xfrm rot="-523651" flipH="1">
            <a:off x="8847262" y="2818407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</a:t>
            </a:r>
            <a:endParaRPr/>
          </a:p>
        </p:txBody>
      </p:sp>
      <p:cxnSp>
        <p:nvCxnSpPr>
          <p:cNvPr id="16" name="Google Shape;332;p31">
            <a:extLst>
              <a:ext uri="{FF2B5EF4-FFF2-40B4-BE49-F238E27FC236}">
                <a16:creationId xmlns:a16="http://schemas.microsoft.com/office/drawing/2014/main" id="{A97D0374-5780-10C1-4FA1-E69F3356DA76}"/>
              </a:ext>
            </a:extLst>
          </p:cNvPr>
          <p:cNvCxnSpPr/>
          <p:nvPr/>
        </p:nvCxnSpPr>
        <p:spPr>
          <a:xfrm flipH="1">
            <a:off x="8827940" y="3284787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333;p31">
            <a:extLst>
              <a:ext uri="{FF2B5EF4-FFF2-40B4-BE49-F238E27FC236}">
                <a16:creationId xmlns:a16="http://schemas.microsoft.com/office/drawing/2014/main" id="{289FAD0B-50C8-1053-C906-D2892A12DAB1}"/>
              </a:ext>
            </a:extLst>
          </p:cNvPr>
          <p:cNvSpPr txBox="1"/>
          <p:nvPr/>
        </p:nvSpPr>
        <p:spPr>
          <a:xfrm rot="-523651" flipH="1">
            <a:off x="8814512" y="3125945"/>
            <a:ext cx="280356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{</a:t>
            </a:r>
            <a:r>
              <a:rPr lang="en" i="1" dirty="0">
                <a:solidFill>
                  <a:srgbClr val="B7B7B7"/>
                </a:solidFill>
              </a:rPr>
              <a:t>g</a:t>
            </a:r>
            <a:r>
              <a:rPr lang="en" i="1" baseline="30000" dirty="0">
                <a:solidFill>
                  <a:srgbClr val="B7B7B7"/>
                </a:solidFill>
              </a:rPr>
              <a:t>a</a:t>
            </a:r>
            <a:r>
              <a:rPr lang="en" dirty="0">
                <a:solidFill>
                  <a:srgbClr val="B7B7B7"/>
                </a:solidFill>
              </a:rPr>
              <a:t> mod </a:t>
            </a:r>
            <a:r>
              <a:rPr lang="en" i="1" dirty="0">
                <a:solidFill>
                  <a:srgbClr val="B7B7B7"/>
                </a:solidFill>
              </a:rPr>
              <a:t>p</a:t>
            </a:r>
            <a:r>
              <a:rPr lang="en" dirty="0">
                <a:solidFill>
                  <a:srgbClr val="B7B7B7"/>
                </a:solidFill>
              </a:rPr>
              <a:t>}</a:t>
            </a:r>
            <a:r>
              <a:rPr lang="en" sz="1000" i="1" dirty="0">
                <a:solidFill>
                  <a:srgbClr val="B7B7B7"/>
                </a:solidFill>
              </a:rPr>
              <a:t>SK</a:t>
            </a:r>
            <a:r>
              <a:rPr lang="en" sz="1000" baseline="30000" dirty="0">
                <a:solidFill>
                  <a:srgbClr val="B7B7B7"/>
                </a:solidFill>
              </a:rPr>
              <a:t>-1</a:t>
            </a:r>
            <a:r>
              <a:rPr lang="en" sz="600" dirty="0">
                <a:solidFill>
                  <a:srgbClr val="B7B7B7"/>
                </a:solidFill>
              </a:rPr>
              <a:t>server</a:t>
            </a:r>
            <a:endParaRPr sz="600" dirty="0">
              <a:solidFill>
                <a:srgbClr val="B7B7B7"/>
              </a:solidFill>
            </a:endParaRPr>
          </a:p>
        </p:txBody>
      </p:sp>
      <p:cxnSp>
        <p:nvCxnSpPr>
          <p:cNvPr id="18" name="Google Shape;334;p31">
            <a:extLst>
              <a:ext uri="{FF2B5EF4-FFF2-40B4-BE49-F238E27FC236}">
                <a16:creationId xmlns:a16="http://schemas.microsoft.com/office/drawing/2014/main" id="{41B37CBF-75AD-1DFD-BB98-719522928177}"/>
              </a:ext>
            </a:extLst>
          </p:cNvPr>
          <p:cNvCxnSpPr/>
          <p:nvPr/>
        </p:nvCxnSpPr>
        <p:spPr>
          <a:xfrm>
            <a:off x="8801790" y="3836338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335;p31">
            <a:extLst>
              <a:ext uri="{FF2B5EF4-FFF2-40B4-BE49-F238E27FC236}">
                <a16:creationId xmlns:a16="http://schemas.microsoft.com/office/drawing/2014/main" id="{BFDB121B-B5F6-1EE2-4C52-E7E28C0F4485}"/>
              </a:ext>
            </a:extLst>
          </p:cNvPr>
          <p:cNvSpPr txBox="1"/>
          <p:nvPr/>
        </p:nvSpPr>
        <p:spPr>
          <a:xfrm rot="512024">
            <a:off x="8827171" y="3708096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rgbClr val="B7B7B7"/>
                </a:solidFill>
              </a:rPr>
              <a:t>g</a:t>
            </a:r>
            <a:r>
              <a:rPr lang="en" i="1" baseline="30000">
                <a:solidFill>
                  <a:srgbClr val="B7B7B7"/>
                </a:solidFill>
              </a:rPr>
              <a:t>b</a:t>
            </a:r>
            <a:r>
              <a:rPr lang="en">
                <a:solidFill>
                  <a:srgbClr val="B7B7B7"/>
                </a:solidFill>
              </a:rPr>
              <a:t> mod </a:t>
            </a:r>
            <a:r>
              <a:rPr lang="en" i="1">
                <a:solidFill>
                  <a:srgbClr val="B7B7B7"/>
                </a:solidFill>
              </a:rPr>
              <a:t>p</a:t>
            </a:r>
            <a:endParaRPr i="1">
              <a:solidFill>
                <a:srgbClr val="B7B7B7"/>
              </a:solidFill>
            </a:endParaRPr>
          </a:p>
        </p:txBody>
      </p:sp>
      <p:cxnSp>
        <p:nvCxnSpPr>
          <p:cNvPr id="20" name="Google Shape;336;p31">
            <a:extLst>
              <a:ext uri="{FF2B5EF4-FFF2-40B4-BE49-F238E27FC236}">
                <a16:creationId xmlns:a16="http://schemas.microsoft.com/office/drawing/2014/main" id="{26A4B293-00E4-EBC3-7607-A2A8A3771987}"/>
              </a:ext>
            </a:extLst>
          </p:cNvPr>
          <p:cNvCxnSpPr/>
          <p:nvPr/>
        </p:nvCxnSpPr>
        <p:spPr>
          <a:xfrm>
            <a:off x="8801790" y="4217338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337;p31">
            <a:extLst>
              <a:ext uri="{FF2B5EF4-FFF2-40B4-BE49-F238E27FC236}">
                <a16:creationId xmlns:a16="http://schemas.microsoft.com/office/drawing/2014/main" id="{00225F0A-992A-B76D-2D0A-FCA2E126D018}"/>
              </a:ext>
            </a:extLst>
          </p:cNvPr>
          <p:cNvSpPr txBox="1"/>
          <p:nvPr/>
        </p:nvSpPr>
        <p:spPr>
          <a:xfrm rot="512024">
            <a:off x="8827171" y="4058346"/>
            <a:ext cx="286673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{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, MAC(</a:t>
            </a:r>
            <a:r>
              <a:rPr lang="en" i="1" dirty="0">
                <a:solidFill>
                  <a:schemeClr val="dk1"/>
                </a:solidFill>
              </a:rPr>
              <a:t>I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dirty="0">
                <a:solidFill>
                  <a:schemeClr val="dk1"/>
                </a:solidFill>
              </a:rPr>
              <a:t>, 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)}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sz="600" i="1" dirty="0">
                <a:solidFill>
                  <a:schemeClr val="dk1"/>
                </a:solidFill>
              </a:rPr>
              <a:t>C</a:t>
            </a:r>
            <a:endParaRPr sz="600" i="1" dirty="0">
              <a:solidFill>
                <a:schemeClr val="dk1"/>
              </a:solidFill>
            </a:endParaRPr>
          </a:p>
        </p:txBody>
      </p:sp>
      <p:cxnSp>
        <p:nvCxnSpPr>
          <p:cNvPr id="22" name="Google Shape;338;p31">
            <a:extLst>
              <a:ext uri="{FF2B5EF4-FFF2-40B4-BE49-F238E27FC236}">
                <a16:creationId xmlns:a16="http://schemas.microsoft.com/office/drawing/2014/main" id="{F2A9C838-7F1C-0F29-02E9-018C346C2A4D}"/>
              </a:ext>
            </a:extLst>
          </p:cNvPr>
          <p:cNvCxnSpPr/>
          <p:nvPr/>
        </p:nvCxnSpPr>
        <p:spPr>
          <a:xfrm flipH="1">
            <a:off x="8827940" y="4732587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339;p31">
            <a:extLst>
              <a:ext uri="{FF2B5EF4-FFF2-40B4-BE49-F238E27FC236}">
                <a16:creationId xmlns:a16="http://schemas.microsoft.com/office/drawing/2014/main" id="{A61830ED-DE0B-564F-248B-DB78D250C0E2}"/>
              </a:ext>
            </a:extLst>
          </p:cNvPr>
          <p:cNvSpPr txBox="1"/>
          <p:nvPr/>
        </p:nvSpPr>
        <p:spPr>
          <a:xfrm rot="-523651" flipH="1">
            <a:off x="8814512" y="4604457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{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, MAC(</a:t>
            </a:r>
            <a:r>
              <a:rPr lang="en" i="1">
                <a:solidFill>
                  <a:schemeClr val="dk1"/>
                </a:solidFill>
              </a:rPr>
              <a:t>I</a:t>
            </a:r>
            <a:r>
              <a:rPr lang="en" sz="900" i="1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)}</a:t>
            </a:r>
            <a:r>
              <a:rPr lang="en" sz="900" i="1">
                <a:solidFill>
                  <a:schemeClr val="dk1"/>
                </a:solidFill>
              </a:rPr>
              <a:t>C</a:t>
            </a:r>
            <a:r>
              <a:rPr lang="en" sz="600" i="1">
                <a:solidFill>
                  <a:schemeClr val="dk1"/>
                </a:solidFill>
              </a:rPr>
              <a:t>S</a:t>
            </a:r>
            <a:endParaRPr sz="1200" i="1"/>
          </a:p>
        </p:txBody>
      </p:sp>
      <p:sp>
        <p:nvSpPr>
          <p:cNvPr id="24" name="Google Shape;340;p31">
            <a:extLst>
              <a:ext uri="{FF2B5EF4-FFF2-40B4-BE49-F238E27FC236}">
                <a16:creationId xmlns:a16="http://schemas.microsoft.com/office/drawing/2014/main" id="{B8D72227-E772-B2BC-2EBE-89189D91D1FC}"/>
              </a:ext>
            </a:extLst>
          </p:cNvPr>
          <p:cNvSpPr txBox="1"/>
          <p:nvPr/>
        </p:nvSpPr>
        <p:spPr>
          <a:xfrm>
            <a:off x="10270365" y="3463438"/>
            <a:ext cx="1417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</a:rPr>
              <a:t>Or RSA exchange</a:t>
            </a:r>
            <a:endParaRPr sz="1000">
              <a:solidFill>
                <a:srgbClr val="B7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060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ABD1-6B41-CC86-D1B8-D0F283B2F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5"/>
            <a:ext cx="10515600" cy="1325563"/>
          </a:xfrm>
        </p:spPr>
        <p:txBody>
          <a:bodyPr/>
          <a:lstStyle/>
          <a:p>
            <a:r>
              <a:rPr lang="en" dirty="0"/>
              <a:t>TLS: Replay Attacks</a:t>
            </a:r>
            <a:endParaRPr lang="en-US" dirty="0"/>
          </a:p>
        </p:txBody>
      </p:sp>
      <p:sp>
        <p:nvSpPr>
          <p:cNvPr id="4" name="Google Shape;347;p32">
            <a:extLst>
              <a:ext uri="{FF2B5EF4-FFF2-40B4-BE49-F238E27FC236}">
                <a16:creationId xmlns:a16="http://schemas.microsoft.com/office/drawing/2014/main" id="{1AC7104F-DE12-8007-0D12-96045AADB5BD}"/>
              </a:ext>
            </a:extLst>
          </p:cNvPr>
          <p:cNvSpPr txBox="1">
            <a:spLocks/>
          </p:cNvSpPr>
          <p:nvPr/>
        </p:nvSpPr>
        <p:spPr>
          <a:xfrm>
            <a:off x="604843" y="1432621"/>
            <a:ext cx="7350433" cy="4800407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How can we be sure that the attacker hasn’t replayed old messages from the </a:t>
            </a:r>
            <a:r>
              <a:rPr lang="en-US" b="1" i="1" dirty="0"/>
              <a:t>current</a:t>
            </a:r>
            <a:r>
              <a:rPr lang="en-US" dirty="0"/>
              <a:t> TLS connection?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Add </a:t>
            </a:r>
            <a:r>
              <a:rPr lang="en-US" b="1" dirty="0"/>
              <a:t>record numbers</a:t>
            </a:r>
            <a:r>
              <a:rPr lang="en-US" dirty="0"/>
              <a:t> (in the encrypted TLS message)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Every message uses a </a:t>
            </a:r>
            <a:r>
              <a:rPr lang="en-US" dirty="0">
                <a:solidFill>
                  <a:srgbClr val="C00000"/>
                </a:solidFill>
              </a:rPr>
              <a:t>unique</a:t>
            </a:r>
            <a:r>
              <a:rPr lang="en-US" dirty="0"/>
              <a:t> record number (used in </a:t>
            </a:r>
            <a:r>
              <a:rPr lang="en-US" dirty="0">
                <a:solidFill>
                  <a:srgbClr val="C00000"/>
                </a:solidFill>
              </a:rPr>
              <a:t>MAC calculation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not explicitly transmitted</a:t>
            </a:r>
            <a:r>
              <a:rPr lang="en-US" dirty="0"/>
              <a:t>)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If the attacker replays a message, the record number will be repeated</a:t>
            </a:r>
          </a:p>
          <a:p>
            <a:pPr marL="457200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TLS record numbers are not TCP sequence numbers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Record numbers are used for </a:t>
            </a:r>
            <a:r>
              <a:rPr lang="en-US" dirty="0">
                <a:solidFill>
                  <a:srgbClr val="C00000"/>
                </a:solidFill>
              </a:rPr>
              <a:t>security</a:t>
            </a:r>
            <a:r>
              <a:rPr lang="en-US" dirty="0"/>
              <a:t>: ensure M is not replayed or reordered by attackers</a:t>
            </a:r>
          </a:p>
          <a:p>
            <a:pPr marL="914400" lvl="1" indent="-342900">
              <a:spcBef>
                <a:spcPts val="0"/>
              </a:spcBef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Sequence numbers are used for </a:t>
            </a:r>
            <a:r>
              <a:rPr lang="en-US" dirty="0">
                <a:solidFill>
                  <a:srgbClr val="C00000"/>
                </a:solidFill>
              </a:rPr>
              <a:t>correctness</a:t>
            </a:r>
            <a:r>
              <a:rPr lang="en-US" dirty="0"/>
              <a:t>, in the layer below</a:t>
            </a:r>
          </a:p>
        </p:txBody>
      </p:sp>
      <p:cxnSp>
        <p:nvCxnSpPr>
          <p:cNvPr id="5" name="Google Shape;348;p32">
            <a:extLst>
              <a:ext uri="{FF2B5EF4-FFF2-40B4-BE49-F238E27FC236}">
                <a16:creationId xmlns:a16="http://schemas.microsoft.com/office/drawing/2014/main" id="{399DB47C-F509-B9A5-807D-A31EE9815254}"/>
              </a:ext>
            </a:extLst>
          </p:cNvPr>
          <p:cNvCxnSpPr/>
          <p:nvPr/>
        </p:nvCxnSpPr>
        <p:spPr>
          <a:xfrm>
            <a:off x="8376898" y="1980788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Google Shape;349;p32">
            <a:extLst>
              <a:ext uri="{FF2B5EF4-FFF2-40B4-BE49-F238E27FC236}">
                <a16:creationId xmlns:a16="http://schemas.microsoft.com/office/drawing/2014/main" id="{0DAAFE65-DCD7-9068-5751-B00678B3242B}"/>
              </a:ext>
            </a:extLst>
          </p:cNvPr>
          <p:cNvCxnSpPr/>
          <p:nvPr/>
        </p:nvCxnSpPr>
        <p:spPr>
          <a:xfrm>
            <a:off x="11415648" y="1980788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350;p32">
            <a:extLst>
              <a:ext uri="{FF2B5EF4-FFF2-40B4-BE49-F238E27FC236}">
                <a16:creationId xmlns:a16="http://schemas.microsoft.com/office/drawing/2014/main" id="{A2295127-A423-AD1F-0138-72DE873677DF}"/>
              </a:ext>
            </a:extLst>
          </p:cNvPr>
          <p:cNvSpPr txBox="1"/>
          <p:nvPr/>
        </p:nvSpPr>
        <p:spPr>
          <a:xfrm>
            <a:off x="8233273" y="1580588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8" name="Google Shape;351;p32">
            <a:extLst>
              <a:ext uri="{FF2B5EF4-FFF2-40B4-BE49-F238E27FC236}">
                <a16:creationId xmlns:a16="http://schemas.microsoft.com/office/drawing/2014/main" id="{00F01549-D660-27EF-47E0-EF9E15019E06}"/>
              </a:ext>
            </a:extLst>
          </p:cNvPr>
          <p:cNvSpPr txBox="1"/>
          <p:nvPr/>
        </p:nvSpPr>
        <p:spPr>
          <a:xfrm>
            <a:off x="10584348" y="1580588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cxnSp>
        <p:nvCxnSpPr>
          <p:cNvPr id="9" name="Google Shape;352;p32">
            <a:extLst>
              <a:ext uri="{FF2B5EF4-FFF2-40B4-BE49-F238E27FC236}">
                <a16:creationId xmlns:a16="http://schemas.microsoft.com/office/drawing/2014/main" id="{C9516D92-C70C-F620-718A-6B78F5752E8C}"/>
              </a:ext>
            </a:extLst>
          </p:cNvPr>
          <p:cNvCxnSpPr/>
          <p:nvPr/>
        </p:nvCxnSpPr>
        <p:spPr>
          <a:xfrm>
            <a:off x="8443298" y="1989401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353;p32">
            <a:extLst>
              <a:ext uri="{FF2B5EF4-FFF2-40B4-BE49-F238E27FC236}">
                <a16:creationId xmlns:a16="http://schemas.microsoft.com/office/drawing/2014/main" id="{4E3FEBC9-98C8-14B1-03ED-C08437273B4B}"/>
              </a:ext>
            </a:extLst>
          </p:cNvPr>
          <p:cNvSpPr txBox="1"/>
          <p:nvPr/>
        </p:nvSpPr>
        <p:spPr>
          <a:xfrm rot="512024">
            <a:off x="8468679" y="1861159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ClientHello</a:t>
            </a:r>
            <a:endParaRPr/>
          </a:p>
        </p:txBody>
      </p:sp>
      <p:cxnSp>
        <p:nvCxnSpPr>
          <p:cNvPr id="11" name="Google Shape;354;p32">
            <a:extLst>
              <a:ext uri="{FF2B5EF4-FFF2-40B4-BE49-F238E27FC236}">
                <a16:creationId xmlns:a16="http://schemas.microsoft.com/office/drawing/2014/main" id="{0DCACAB7-D7CD-71A6-F911-A67C823AD034}"/>
              </a:ext>
            </a:extLst>
          </p:cNvPr>
          <p:cNvCxnSpPr/>
          <p:nvPr/>
        </p:nvCxnSpPr>
        <p:spPr>
          <a:xfrm flipH="1">
            <a:off x="8469448" y="2504650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355;p32">
            <a:extLst>
              <a:ext uri="{FF2B5EF4-FFF2-40B4-BE49-F238E27FC236}">
                <a16:creationId xmlns:a16="http://schemas.microsoft.com/office/drawing/2014/main" id="{5DEBBDFA-ED19-7F6A-5129-88718991C680}"/>
              </a:ext>
            </a:extLst>
          </p:cNvPr>
          <p:cNvSpPr txBox="1"/>
          <p:nvPr/>
        </p:nvSpPr>
        <p:spPr>
          <a:xfrm rot="-523651" flipH="1">
            <a:off x="8456020" y="2376520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ServerHello</a:t>
            </a:r>
            <a:endParaRPr/>
          </a:p>
        </p:txBody>
      </p:sp>
      <p:cxnSp>
        <p:nvCxnSpPr>
          <p:cNvPr id="13" name="Google Shape;356;p32">
            <a:extLst>
              <a:ext uri="{FF2B5EF4-FFF2-40B4-BE49-F238E27FC236}">
                <a16:creationId xmlns:a16="http://schemas.microsoft.com/office/drawing/2014/main" id="{C2986F7B-0DFE-78C3-EFD7-3946BFE65044}"/>
              </a:ext>
            </a:extLst>
          </p:cNvPr>
          <p:cNvCxnSpPr/>
          <p:nvPr/>
        </p:nvCxnSpPr>
        <p:spPr>
          <a:xfrm flipH="1">
            <a:off x="8502198" y="2852200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357;p32">
            <a:extLst>
              <a:ext uri="{FF2B5EF4-FFF2-40B4-BE49-F238E27FC236}">
                <a16:creationId xmlns:a16="http://schemas.microsoft.com/office/drawing/2014/main" id="{BF663122-7AF7-10F7-900D-1DE0D700346E}"/>
              </a:ext>
            </a:extLst>
          </p:cNvPr>
          <p:cNvSpPr txBox="1"/>
          <p:nvPr/>
        </p:nvSpPr>
        <p:spPr>
          <a:xfrm rot="-523651" flipH="1">
            <a:off x="8488770" y="2724070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</a:t>
            </a:r>
            <a:endParaRPr/>
          </a:p>
        </p:txBody>
      </p:sp>
      <p:cxnSp>
        <p:nvCxnSpPr>
          <p:cNvPr id="15" name="Google Shape;358;p32">
            <a:extLst>
              <a:ext uri="{FF2B5EF4-FFF2-40B4-BE49-F238E27FC236}">
                <a16:creationId xmlns:a16="http://schemas.microsoft.com/office/drawing/2014/main" id="{FAF76335-EF08-706F-112D-3BC0B0724C5D}"/>
              </a:ext>
            </a:extLst>
          </p:cNvPr>
          <p:cNvCxnSpPr/>
          <p:nvPr/>
        </p:nvCxnSpPr>
        <p:spPr>
          <a:xfrm flipH="1">
            <a:off x="8469448" y="3190450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359;p32">
            <a:extLst>
              <a:ext uri="{FF2B5EF4-FFF2-40B4-BE49-F238E27FC236}">
                <a16:creationId xmlns:a16="http://schemas.microsoft.com/office/drawing/2014/main" id="{ACE6AE82-6669-BD12-9E29-43C6ECC1E954}"/>
              </a:ext>
            </a:extLst>
          </p:cNvPr>
          <p:cNvSpPr txBox="1"/>
          <p:nvPr/>
        </p:nvSpPr>
        <p:spPr>
          <a:xfrm rot="-523651" flipH="1">
            <a:off x="8456020" y="3031608"/>
            <a:ext cx="280356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{</a:t>
            </a:r>
            <a:r>
              <a:rPr lang="en" i="1" dirty="0">
                <a:solidFill>
                  <a:srgbClr val="B7B7B7"/>
                </a:solidFill>
              </a:rPr>
              <a:t>g</a:t>
            </a:r>
            <a:r>
              <a:rPr lang="en" i="1" baseline="30000" dirty="0">
                <a:solidFill>
                  <a:srgbClr val="B7B7B7"/>
                </a:solidFill>
              </a:rPr>
              <a:t>a</a:t>
            </a:r>
            <a:r>
              <a:rPr lang="en" dirty="0">
                <a:solidFill>
                  <a:srgbClr val="B7B7B7"/>
                </a:solidFill>
              </a:rPr>
              <a:t> mod </a:t>
            </a:r>
            <a:r>
              <a:rPr lang="en" i="1" dirty="0">
                <a:solidFill>
                  <a:srgbClr val="B7B7B7"/>
                </a:solidFill>
              </a:rPr>
              <a:t>p</a:t>
            </a:r>
            <a:r>
              <a:rPr lang="en" dirty="0">
                <a:solidFill>
                  <a:srgbClr val="B7B7B7"/>
                </a:solidFill>
              </a:rPr>
              <a:t>}</a:t>
            </a:r>
            <a:r>
              <a:rPr lang="en" sz="1000" i="1" dirty="0">
                <a:solidFill>
                  <a:srgbClr val="B7B7B7"/>
                </a:solidFill>
              </a:rPr>
              <a:t>SK</a:t>
            </a:r>
            <a:r>
              <a:rPr lang="en" sz="1000" baseline="30000" dirty="0">
                <a:solidFill>
                  <a:srgbClr val="B7B7B7"/>
                </a:solidFill>
              </a:rPr>
              <a:t>-1</a:t>
            </a:r>
            <a:r>
              <a:rPr lang="en" sz="600" dirty="0">
                <a:solidFill>
                  <a:srgbClr val="B7B7B7"/>
                </a:solidFill>
              </a:rPr>
              <a:t>server</a:t>
            </a:r>
            <a:endParaRPr sz="600" dirty="0">
              <a:solidFill>
                <a:srgbClr val="B7B7B7"/>
              </a:solidFill>
            </a:endParaRPr>
          </a:p>
        </p:txBody>
      </p:sp>
      <p:cxnSp>
        <p:nvCxnSpPr>
          <p:cNvPr id="17" name="Google Shape;360;p32">
            <a:extLst>
              <a:ext uri="{FF2B5EF4-FFF2-40B4-BE49-F238E27FC236}">
                <a16:creationId xmlns:a16="http://schemas.microsoft.com/office/drawing/2014/main" id="{41CB53AE-8DD7-F45D-ABB6-C2B251FB327D}"/>
              </a:ext>
            </a:extLst>
          </p:cNvPr>
          <p:cNvCxnSpPr/>
          <p:nvPr/>
        </p:nvCxnSpPr>
        <p:spPr>
          <a:xfrm>
            <a:off x="8443298" y="3742001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361;p32">
            <a:extLst>
              <a:ext uri="{FF2B5EF4-FFF2-40B4-BE49-F238E27FC236}">
                <a16:creationId xmlns:a16="http://schemas.microsoft.com/office/drawing/2014/main" id="{2E16004B-22D7-BE34-574E-DCCFD3A448C7}"/>
              </a:ext>
            </a:extLst>
          </p:cNvPr>
          <p:cNvSpPr txBox="1"/>
          <p:nvPr/>
        </p:nvSpPr>
        <p:spPr>
          <a:xfrm rot="512024">
            <a:off x="8468679" y="3613759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rgbClr val="B7B7B7"/>
                </a:solidFill>
              </a:rPr>
              <a:t>g</a:t>
            </a:r>
            <a:r>
              <a:rPr lang="en" i="1" baseline="30000">
                <a:solidFill>
                  <a:srgbClr val="B7B7B7"/>
                </a:solidFill>
              </a:rPr>
              <a:t>b</a:t>
            </a:r>
            <a:r>
              <a:rPr lang="en">
                <a:solidFill>
                  <a:srgbClr val="B7B7B7"/>
                </a:solidFill>
              </a:rPr>
              <a:t> mod </a:t>
            </a:r>
            <a:r>
              <a:rPr lang="en" i="1">
                <a:solidFill>
                  <a:srgbClr val="B7B7B7"/>
                </a:solidFill>
              </a:rPr>
              <a:t>p</a:t>
            </a:r>
            <a:endParaRPr i="1">
              <a:solidFill>
                <a:srgbClr val="B7B7B7"/>
              </a:solidFill>
            </a:endParaRPr>
          </a:p>
        </p:txBody>
      </p:sp>
      <p:cxnSp>
        <p:nvCxnSpPr>
          <p:cNvPr id="19" name="Google Shape;362;p32">
            <a:extLst>
              <a:ext uri="{FF2B5EF4-FFF2-40B4-BE49-F238E27FC236}">
                <a16:creationId xmlns:a16="http://schemas.microsoft.com/office/drawing/2014/main" id="{8EF38916-C9B9-DF5D-DC78-8D5BBD12EF0F}"/>
              </a:ext>
            </a:extLst>
          </p:cNvPr>
          <p:cNvCxnSpPr/>
          <p:nvPr/>
        </p:nvCxnSpPr>
        <p:spPr>
          <a:xfrm>
            <a:off x="8443298" y="4123001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" name="Google Shape;363;p32">
            <a:extLst>
              <a:ext uri="{FF2B5EF4-FFF2-40B4-BE49-F238E27FC236}">
                <a16:creationId xmlns:a16="http://schemas.microsoft.com/office/drawing/2014/main" id="{EFB4659B-9DCB-C73C-1C03-341EA743A0CB}"/>
              </a:ext>
            </a:extLst>
          </p:cNvPr>
          <p:cNvSpPr txBox="1"/>
          <p:nvPr/>
        </p:nvSpPr>
        <p:spPr>
          <a:xfrm rot="512024">
            <a:off x="8468679" y="3964009"/>
            <a:ext cx="286673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{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, MAC(</a:t>
            </a:r>
            <a:r>
              <a:rPr lang="en" i="1" dirty="0">
                <a:solidFill>
                  <a:schemeClr val="dk1"/>
                </a:solidFill>
              </a:rPr>
              <a:t>I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dirty="0">
                <a:solidFill>
                  <a:schemeClr val="dk1"/>
                </a:solidFill>
              </a:rPr>
              <a:t>, 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)}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sz="600" i="1" dirty="0">
                <a:solidFill>
                  <a:schemeClr val="dk1"/>
                </a:solidFill>
              </a:rPr>
              <a:t>C</a:t>
            </a:r>
            <a:endParaRPr sz="600" i="1" dirty="0">
              <a:solidFill>
                <a:schemeClr val="dk1"/>
              </a:solidFill>
            </a:endParaRPr>
          </a:p>
        </p:txBody>
      </p:sp>
      <p:cxnSp>
        <p:nvCxnSpPr>
          <p:cNvPr id="21" name="Google Shape;364;p32">
            <a:extLst>
              <a:ext uri="{FF2B5EF4-FFF2-40B4-BE49-F238E27FC236}">
                <a16:creationId xmlns:a16="http://schemas.microsoft.com/office/drawing/2014/main" id="{8B1CE774-FF84-679A-63F6-6C4429054B5A}"/>
              </a:ext>
            </a:extLst>
          </p:cNvPr>
          <p:cNvCxnSpPr/>
          <p:nvPr/>
        </p:nvCxnSpPr>
        <p:spPr>
          <a:xfrm flipH="1">
            <a:off x="8469448" y="4638250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" name="Google Shape;365;p32">
            <a:extLst>
              <a:ext uri="{FF2B5EF4-FFF2-40B4-BE49-F238E27FC236}">
                <a16:creationId xmlns:a16="http://schemas.microsoft.com/office/drawing/2014/main" id="{BBD3BB15-45F6-5308-3FA6-9F045695FCEA}"/>
              </a:ext>
            </a:extLst>
          </p:cNvPr>
          <p:cNvSpPr txBox="1"/>
          <p:nvPr/>
        </p:nvSpPr>
        <p:spPr>
          <a:xfrm rot="-523651" flipH="1">
            <a:off x="8456020" y="4510120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{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, MAC(</a:t>
            </a:r>
            <a:r>
              <a:rPr lang="en" i="1">
                <a:solidFill>
                  <a:schemeClr val="dk1"/>
                </a:solidFill>
              </a:rPr>
              <a:t>I</a:t>
            </a:r>
            <a:r>
              <a:rPr lang="en" sz="900" i="1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)}</a:t>
            </a:r>
            <a:r>
              <a:rPr lang="en" sz="900" i="1">
                <a:solidFill>
                  <a:schemeClr val="dk1"/>
                </a:solidFill>
              </a:rPr>
              <a:t>C</a:t>
            </a:r>
            <a:r>
              <a:rPr lang="en" sz="600" i="1">
                <a:solidFill>
                  <a:schemeClr val="dk1"/>
                </a:solidFill>
              </a:rPr>
              <a:t>S</a:t>
            </a:r>
            <a:endParaRPr sz="1200" i="1"/>
          </a:p>
        </p:txBody>
      </p:sp>
      <p:sp>
        <p:nvSpPr>
          <p:cNvPr id="23" name="Google Shape;366;p32">
            <a:extLst>
              <a:ext uri="{FF2B5EF4-FFF2-40B4-BE49-F238E27FC236}">
                <a16:creationId xmlns:a16="http://schemas.microsoft.com/office/drawing/2014/main" id="{A035F791-3E8A-82D4-9F51-32DC254E5431}"/>
              </a:ext>
            </a:extLst>
          </p:cNvPr>
          <p:cNvSpPr txBox="1"/>
          <p:nvPr/>
        </p:nvSpPr>
        <p:spPr>
          <a:xfrm>
            <a:off x="9911873" y="3369101"/>
            <a:ext cx="1417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B7B7B7"/>
                </a:solidFill>
              </a:rPr>
              <a:t>Or RSA exchange</a:t>
            </a:r>
            <a:endParaRPr sz="1000">
              <a:solidFill>
                <a:srgbClr val="B7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235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2B70-E381-D3E8-EB04-CBAAFAE7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5600" cy="875846"/>
          </a:xfrm>
        </p:spPr>
        <p:txBody>
          <a:bodyPr/>
          <a:lstStyle/>
          <a:p>
            <a:r>
              <a:rPr lang="en-US" dirty="0"/>
              <a:t>TLS: Forward Secrecy</a:t>
            </a:r>
          </a:p>
        </p:txBody>
      </p:sp>
      <p:sp>
        <p:nvSpPr>
          <p:cNvPr id="6" name="Google Shape;379;p34">
            <a:extLst>
              <a:ext uri="{FF2B5EF4-FFF2-40B4-BE49-F238E27FC236}">
                <a16:creationId xmlns:a16="http://schemas.microsoft.com/office/drawing/2014/main" id="{F83B1F7C-51AC-DB50-7004-0B97E3925480}"/>
              </a:ext>
            </a:extLst>
          </p:cNvPr>
          <p:cNvSpPr txBox="1">
            <a:spLocks/>
          </p:cNvSpPr>
          <p:nvPr/>
        </p:nvSpPr>
        <p:spPr>
          <a:xfrm>
            <a:off x="276497" y="1380027"/>
            <a:ext cx="11639005" cy="134179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Forward secrecy</a:t>
            </a:r>
            <a:r>
              <a:rPr lang="en-US" dirty="0"/>
              <a:t>: If an attacker records a connection now and compromises secret values later, they cannot compromise the recorded connection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1CA009-3431-A4F1-787A-BAC3EF88F149}"/>
              </a:ext>
            </a:extLst>
          </p:cNvPr>
          <p:cNvSpPr txBox="1"/>
          <p:nvPr/>
        </p:nvSpPr>
        <p:spPr>
          <a:xfrm>
            <a:off x="276497" y="2997406"/>
            <a:ext cx="609382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400" dirty="0"/>
              <a:t>RSA TLS: </a:t>
            </a:r>
            <a:r>
              <a:rPr lang="en-US" sz="2400" dirty="0">
                <a:solidFill>
                  <a:srgbClr val="C00000"/>
                </a:solidFill>
              </a:rPr>
              <a:t>No forward secrecy is guaranteed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The adversary can record </a:t>
            </a:r>
            <a:r>
              <a:rPr lang="en-US" sz="2400" b="1" i="1" dirty="0"/>
              <a:t>R</a:t>
            </a:r>
            <a:r>
              <a:rPr lang="en-US" sz="2000" b="1" i="1" dirty="0"/>
              <a:t>C</a:t>
            </a:r>
            <a:r>
              <a:rPr lang="en-US" sz="2400" dirty="0"/>
              <a:t>, </a:t>
            </a:r>
            <a:r>
              <a:rPr lang="en-US" sz="2400" b="1" i="1" dirty="0"/>
              <a:t>R</a:t>
            </a:r>
            <a:r>
              <a:rPr lang="en-US" sz="2000" b="1" i="1" dirty="0"/>
              <a:t>S</a:t>
            </a:r>
            <a:r>
              <a:rPr lang="en-US" sz="2400" dirty="0"/>
              <a:t>, and the encrypted </a:t>
            </a:r>
            <a:r>
              <a:rPr lang="en-US" sz="2400" b="1" i="1" dirty="0"/>
              <a:t>PS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If the adversary later compromises the </a:t>
            </a:r>
            <a:r>
              <a:rPr lang="en-US" sz="2400" dirty="0">
                <a:solidFill>
                  <a:srgbClr val="C00000"/>
                </a:solidFill>
              </a:rPr>
              <a:t>server’s private key</a:t>
            </a:r>
            <a:r>
              <a:rPr lang="en-US" sz="2400" dirty="0"/>
              <a:t>, they can decrypt </a:t>
            </a:r>
            <a:r>
              <a:rPr lang="en-US" sz="2400" b="1" i="1" dirty="0"/>
              <a:t>PS</a:t>
            </a:r>
            <a:r>
              <a:rPr lang="en-US" sz="2400" dirty="0"/>
              <a:t> and derive the keys!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64B1DE-8EF0-9704-BD85-5D8A028C63D1}"/>
              </a:ext>
            </a:extLst>
          </p:cNvPr>
          <p:cNvGrpSpPr/>
          <p:nvPr/>
        </p:nvGrpSpPr>
        <p:grpSpPr>
          <a:xfrm>
            <a:off x="8088670" y="2195325"/>
            <a:ext cx="3288275" cy="3881700"/>
            <a:chOff x="8065525" y="2152274"/>
            <a:chExt cx="3288275" cy="3881700"/>
          </a:xfrm>
        </p:grpSpPr>
        <p:sp>
          <p:nvSpPr>
            <p:cNvPr id="7" name="Google Shape;167;p24">
              <a:extLst>
                <a:ext uri="{FF2B5EF4-FFF2-40B4-BE49-F238E27FC236}">
                  <a16:creationId xmlns:a16="http://schemas.microsoft.com/office/drawing/2014/main" id="{9224A960-3C11-4173-A66F-C457C29FD36D}"/>
                </a:ext>
              </a:extLst>
            </p:cNvPr>
            <p:cNvSpPr txBox="1"/>
            <p:nvPr/>
          </p:nvSpPr>
          <p:spPr>
            <a:xfrm rot="-523651" flipH="1">
              <a:off x="8288272" y="302440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ServerHello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8" name="Google Shape;168;p24">
              <a:extLst>
                <a:ext uri="{FF2B5EF4-FFF2-40B4-BE49-F238E27FC236}">
                  <a16:creationId xmlns:a16="http://schemas.microsoft.com/office/drawing/2014/main" id="{CBD5C768-CADC-6C40-A1E8-5CBDB235C414}"/>
                </a:ext>
              </a:extLst>
            </p:cNvPr>
            <p:cNvSpPr txBox="1"/>
            <p:nvPr/>
          </p:nvSpPr>
          <p:spPr>
            <a:xfrm rot="512024">
              <a:off x="8300931" y="2509045"/>
              <a:ext cx="2866739" cy="4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ClientHello</a:t>
              </a:r>
              <a:endParaRPr dirty="0">
                <a:solidFill>
                  <a:srgbClr val="B7B7B7"/>
                </a:solidFill>
              </a:endParaRPr>
            </a:p>
          </p:txBody>
        </p:sp>
        <p:cxnSp>
          <p:nvCxnSpPr>
            <p:cNvPr id="9" name="Google Shape;172;p24">
              <a:extLst>
                <a:ext uri="{FF2B5EF4-FFF2-40B4-BE49-F238E27FC236}">
                  <a16:creationId xmlns:a16="http://schemas.microsoft.com/office/drawing/2014/main" id="{175BCEB0-55D9-62C9-6BC5-F0CB531A09B4}"/>
                </a:ext>
              </a:extLst>
            </p:cNvPr>
            <p:cNvCxnSpPr/>
            <p:nvPr/>
          </p:nvCxnSpPr>
          <p:spPr>
            <a:xfrm>
              <a:off x="8209150" y="2552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73;p24">
              <a:extLst>
                <a:ext uri="{FF2B5EF4-FFF2-40B4-BE49-F238E27FC236}">
                  <a16:creationId xmlns:a16="http://schemas.microsoft.com/office/drawing/2014/main" id="{6E527B0B-3084-446A-9FEC-0E65FE805EC9}"/>
                </a:ext>
              </a:extLst>
            </p:cNvPr>
            <p:cNvCxnSpPr/>
            <p:nvPr/>
          </p:nvCxnSpPr>
          <p:spPr>
            <a:xfrm>
              <a:off x="11247900" y="2552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74;p24">
              <a:extLst>
                <a:ext uri="{FF2B5EF4-FFF2-40B4-BE49-F238E27FC236}">
                  <a16:creationId xmlns:a16="http://schemas.microsoft.com/office/drawing/2014/main" id="{02D2011F-8601-9B9C-B114-74E35D7E7949}"/>
                </a:ext>
              </a:extLst>
            </p:cNvPr>
            <p:cNvSpPr txBox="1"/>
            <p:nvPr/>
          </p:nvSpPr>
          <p:spPr>
            <a:xfrm>
              <a:off x="8065525" y="2152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/>
                <a:t>Client</a:t>
              </a:r>
              <a:endParaRPr dirty="0"/>
            </a:p>
          </p:txBody>
        </p:sp>
        <p:sp>
          <p:nvSpPr>
            <p:cNvPr id="12" name="Google Shape;175;p24">
              <a:extLst>
                <a:ext uri="{FF2B5EF4-FFF2-40B4-BE49-F238E27FC236}">
                  <a16:creationId xmlns:a16="http://schemas.microsoft.com/office/drawing/2014/main" id="{73447B6E-C32B-88F4-FD97-0D58D768EAC7}"/>
                </a:ext>
              </a:extLst>
            </p:cNvPr>
            <p:cNvSpPr txBox="1"/>
            <p:nvPr/>
          </p:nvSpPr>
          <p:spPr>
            <a:xfrm>
              <a:off x="10416600" y="2152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cxnSp>
          <p:nvCxnSpPr>
            <p:cNvPr id="13" name="Google Shape;176;p24">
              <a:extLst>
                <a:ext uri="{FF2B5EF4-FFF2-40B4-BE49-F238E27FC236}">
                  <a16:creationId xmlns:a16="http://schemas.microsoft.com/office/drawing/2014/main" id="{E8EC4ADB-D521-54D1-1722-D03D979634E1}"/>
                </a:ext>
              </a:extLst>
            </p:cNvPr>
            <p:cNvCxnSpPr/>
            <p:nvPr/>
          </p:nvCxnSpPr>
          <p:spPr>
            <a:xfrm>
              <a:off x="8275550" y="26372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Google Shape;177;p24">
              <a:extLst>
                <a:ext uri="{FF2B5EF4-FFF2-40B4-BE49-F238E27FC236}">
                  <a16:creationId xmlns:a16="http://schemas.microsoft.com/office/drawing/2014/main" id="{7C92D897-6D17-CD53-7B2B-581CD8B59B13}"/>
                </a:ext>
              </a:extLst>
            </p:cNvPr>
            <p:cNvCxnSpPr/>
            <p:nvPr/>
          </p:nvCxnSpPr>
          <p:spPr>
            <a:xfrm flipH="1">
              <a:off x="8301700" y="315253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178;p24">
              <a:extLst>
                <a:ext uri="{FF2B5EF4-FFF2-40B4-BE49-F238E27FC236}">
                  <a16:creationId xmlns:a16="http://schemas.microsoft.com/office/drawing/2014/main" id="{241412F2-23D7-6C7C-BA28-E133235AC2EA}"/>
                </a:ext>
              </a:extLst>
            </p:cNvPr>
            <p:cNvCxnSpPr/>
            <p:nvPr/>
          </p:nvCxnSpPr>
          <p:spPr>
            <a:xfrm flipH="1">
              <a:off x="8334450" y="357628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" name="Google Shape;179;p24">
              <a:extLst>
                <a:ext uri="{FF2B5EF4-FFF2-40B4-BE49-F238E27FC236}">
                  <a16:creationId xmlns:a16="http://schemas.microsoft.com/office/drawing/2014/main" id="{60EECCD7-1CDB-BF76-CA2D-7B48687CD1A8}"/>
                </a:ext>
              </a:extLst>
            </p:cNvPr>
            <p:cNvSpPr txBox="1"/>
            <p:nvPr/>
          </p:nvSpPr>
          <p:spPr>
            <a:xfrm rot="-523651" flipH="1">
              <a:off x="8321022" y="344815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Certificate</a:t>
              </a:r>
              <a:endParaRPr>
                <a:solidFill>
                  <a:srgbClr val="B7B7B7"/>
                </a:solidFill>
              </a:endParaRPr>
            </a:p>
          </p:txBody>
        </p:sp>
        <p:cxnSp>
          <p:nvCxnSpPr>
            <p:cNvPr id="17" name="Google Shape;180;p24">
              <a:extLst>
                <a:ext uri="{FF2B5EF4-FFF2-40B4-BE49-F238E27FC236}">
                  <a16:creationId xmlns:a16="http://schemas.microsoft.com/office/drawing/2014/main" id="{AB885012-1D5F-9DAB-AF2D-1B113ACE5254}"/>
                </a:ext>
              </a:extLst>
            </p:cNvPr>
            <p:cNvCxnSpPr/>
            <p:nvPr/>
          </p:nvCxnSpPr>
          <p:spPr>
            <a:xfrm>
              <a:off x="8275550" y="42374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" name="Google Shape;181;p24">
              <a:extLst>
                <a:ext uri="{FF2B5EF4-FFF2-40B4-BE49-F238E27FC236}">
                  <a16:creationId xmlns:a16="http://schemas.microsoft.com/office/drawing/2014/main" id="{FFEAD887-D5AC-504D-BD7B-19F2E25DD889}"/>
                </a:ext>
              </a:extLst>
            </p:cNvPr>
            <p:cNvSpPr txBox="1"/>
            <p:nvPr/>
          </p:nvSpPr>
          <p:spPr>
            <a:xfrm rot="512024">
              <a:off x="8300931" y="4047718"/>
              <a:ext cx="2866739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{</a:t>
              </a:r>
              <a:r>
                <a:rPr lang="en" sz="2200" i="1" dirty="0"/>
                <a:t>PS</a:t>
              </a:r>
              <a:r>
                <a:rPr lang="en" sz="2200" dirty="0"/>
                <a:t>}</a:t>
              </a:r>
              <a:r>
                <a:rPr lang="en" sz="1600" i="1" dirty="0"/>
                <a:t>PK</a:t>
              </a:r>
              <a:r>
                <a:rPr lang="en" sz="1200" dirty="0"/>
                <a:t>server</a:t>
              </a:r>
              <a:endParaRPr sz="1200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168B2E87-835A-50F0-5B08-84B0C323D48E}"/>
              </a:ext>
            </a:extLst>
          </p:cNvPr>
          <p:cNvSpPr txBox="1">
            <a:spLocks/>
          </p:cNvSpPr>
          <p:nvPr/>
        </p:nvSpPr>
        <p:spPr>
          <a:xfrm>
            <a:off x="7273617" y="6144500"/>
            <a:ext cx="4918383" cy="650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1800" dirty="0">
                <a:latin typeface="+mn-lt"/>
              </a:rPr>
              <a:t>TLS Handshake Step 3: Premaster Secret (RSA)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56624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4625-A9E9-7D27-B517-9F848BFB8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1F56-DBDC-CFB3-D6CF-11D4DC89F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5600" cy="875846"/>
          </a:xfrm>
        </p:spPr>
        <p:txBody>
          <a:bodyPr/>
          <a:lstStyle/>
          <a:p>
            <a:r>
              <a:rPr lang="en-US" dirty="0"/>
              <a:t>TLS: Forward Secrecy</a:t>
            </a:r>
          </a:p>
        </p:txBody>
      </p:sp>
      <p:sp>
        <p:nvSpPr>
          <p:cNvPr id="6" name="Google Shape;379;p34">
            <a:extLst>
              <a:ext uri="{FF2B5EF4-FFF2-40B4-BE49-F238E27FC236}">
                <a16:creationId xmlns:a16="http://schemas.microsoft.com/office/drawing/2014/main" id="{8A2BA151-C843-CE5A-EADB-AE6F8914347E}"/>
              </a:ext>
            </a:extLst>
          </p:cNvPr>
          <p:cNvSpPr txBox="1">
            <a:spLocks/>
          </p:cNvSpPr>
          <p:nvPr/>
        </p:nvSpPr>
        <p:spPr>
          <a:xfrm>
            <a:off x="276497" y="1353208"/>
            <a:ext cx="11639005" cy="134179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Forward secrecy</a:t>
            </a:r>
            <a:r>
              <a:rPr lang="en-US" dirty="0"/>
              <a:t>: If an attacker records a connection now and compromises secret values later, they cannot compromise the recorded connection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AF462-ECCD-D047-7ED3-6EDB2A551D75}"/>
              </a:ext>
            </a:extLst>
          </p:cNvPr>
          <p:cNvSpPr txBox="1"/>
          <p:nvPr/>
        </p:nvSpPr>
        <p:spPr>
          <a:xfrm>
            <a:off x="276496" y="2943768"/>
            <a:ext cx="541890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>
              <a:spcBef>
                <a:spcPts val="0"/>
              </a:spcBef>
              <a:spcAft>
                <a:spcPts val="600"/>
              </a:spcAft>
              <a:buSzPts val="1800"/>
            </a:pPr>
            <a:r>
              <a:rPr lang="en-US" sz="2400" dirty="0"/>
              <a:t>DHE TLS: </a:t>
            </a:r>
            <a:r>
              <a:rPr lang="en-US" sz="2400" dirty="0">
                <a:solidFill>
                  <a:srgbClr val="C00000"/>
                </a:solidFill>
              </a:rPr>
              <a:t>Guaranteed forward secrecy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Diffie-Hellman provides forward secrecy: </a:t>
            </a:r>
            <a:r>
              <a:rPr lang="en-US" sz="2400" b="1" i="1" dirty="0">
                <a:solidFill>
                  <a:srgbClr val="C00000"/>
                </a:solidFill>
              </a:rPr>
              <a:t>g</a:t>
            </a:r>
            <a:r>
              <a:rPr lang="en-US" sz="2400" b="1" i="1" baseline="30000" dirty="0">
                <a:solidFill>
                  <a:srgbClr val="C00000"/>
                </a:solidFill>
              </a:rPr>
              <a:t>a</a:t>
            </a:r>
            <a:r>
              <a:rPr lang="en-US" sz="2400" b="1" dirty="0">
                <a:solidFill>
                  <a:srgbClr val="C00000"/>
                </a:solidFill>
              </a:rPr>
              <a:t> is deleted </a:t>
            </a:r>
            <a:r>
              <a:rPr lang="en-US" sz="2400" dirty="0"/>
              <a:t>after the TLS session is over</a:t>
            </a:r>
          </a:p>
          <a:p>
            <a:pPr marL="457200" indent="-342900"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z="2400" dirty="0"/>
              <a:t>Adversary can’t learn the keys, even if they later compromise the server’s private key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69C2FC-CC22-0957-F74C-70E3861AE460}"/>
              </a:ext>
            </a:extLst>
          </p:cNvPr>
          <p:cNvGrpSpPr/>
          <p:nvPr/>
        </p:nvGrpSpPr>
        <p:grpSpPr>
          <a:xfrm>
            <a:off x="7869234" y="2036294"/>
            <a:ext cx="3676424" cy="4253399"/>
            <a:chOff x="7890313" y="2152274"/>
            <a:chExt cx="3676424" cy="4253399"/>
          </a:xfrm>
        </p:grpSpPr>
        <p:sp>
          <p:nvSpPr>
            <p:cNvPr id="7" name="Google Shape;186;p25">
              <a:extLst>
                <a:ext uri="{FF2B5EF4-FFF2-40B4-BE49-F238E27FC236}">
                  <a16:creationId xmlns:a16="http://schemas.microsoft.com/office/drawing/2014/main" id="{3231E168-3B5E-7446-5ACF-087AE46B9055}"/>
                </a:ext>
              </a:extLst>
            </p:cNvPr>
            <p:cNvSpPr txBox="1"/>
            <p:nvPr/>
          </p:nvSpPr>
          <p:spPr>
            <a:xfrm rot="-523651" flipH="1">
              <a:off x="8288272" y="302440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ServerHello</a:t>
              </a:r>
              <a:endParaRPr>
                <a:solidFill>
                  <a:srgbClr val="B7B7B7"/>
                </a:solidFill>
              </a:endParaRPr>
            </a:p>
          </p:txBody>
        </p:sp>
        <p:sp>
          <p:nvSpPr>
            <p:cNvPr id="8" name="Google Shape;187;p25">
              <a:extLst>
                <a:ext uri="{FF2B5EF4-FFF2-40B4-BE49-F238E27FC236}">
                  <a16:creationId xmlns:a16="http://schemas.microsoft.com/office/drawing/2014/main" id="{6D88EB62-0146-35F6-F5F1-24B1CFF8E830}"/>
                </a:ext>
              </a:extLst>
            </p:cNvPr>
            <p:cNvSpPr txBox="1"/>
            <p:nvPr/>
          </p:nvSpPr>
          <p:spPr>
            <a:xfrm rot="512024">
              <a:off x="8300931" y="2509045"/>
              <a:ext cx="2866739" cy="4001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B7B7B7"/>
                  </a:solidFill>
                </a:rPr>
                <a:t>ClientHello</a:t>
              </a:r>
              <a:endParaRPr>
                <a:solidFill>
                  <a:srgbClr val="B7B7B7"/>
                </a:solidFill>
              </a:endParaRPr>
            </a:p>
          </p:txBody>
        </p:sp>
        <p:cxnSp>
          <p:nvCxnSpPr>
            <p:cNvPr id="9" name="Google Shape;191;p25">
              <a:extLst>
                <a:ext uri="{FF2B5EF4-FFF2-40B4-BE49-F238E27FC236}">
                  <a16:creationId xmlns:a16="http://schemas.microsoft.com/office/drawing/2014/main" id="{BAD59CD5-A0A0-D6DB-7794-3EB51839EC15}"/>
                </a:ext>
              </a:extLst>
            </p:cNvPr>
            <p:cNvCxnSpPr/>
            <p:nvPr/>
          </p:nvCxnSpPr>
          <p:spPr>
            <a:xfrm>
              <a:off x="8209150" y="2552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Google Shape;192;p25">
              <a:extLst>
                <a:ext uri="{FF2B5EF4-FFF2-40B4-BE49-F238E27FC236}">
                  <a16:creationId xmlns:a16="http://schemas.microsoft.com/office/drawing/2014/main" id="{E01FBE1C-BDD3-2E0A-0789-05F0375E0DED}"/>
                </a:ext>
              </a:extLst>
            </p:cNvPr>
            <p:cNvCxnSpPr/>
            <p:nvPr/>
          </p:nvCxnSpPr>
          <p:spPr>
            <a:xfrm>
              <a:off x="11247900" y="2552474"/>
              <a:ext cx="0" cy="34815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" name="Google Shape;193;p25">
              <a:extLst>
                <a:ext uri="{FF2B5EF4-FFF2-40B4-BE49-F238E27FC236}">
                  <a16:creationId xmlns:a16="http://schemas.microsoft.com/office/drawing/2014/main" id="{74EE59CC-231E-F1DF-CE51-FF20BD27F0B2}"/>
                </a:ext>
              </a:extLst>
            </p:cNvPr>
            <p:cNvSpPr txBox="1"/>
            <p:nvPr/>
          </p:nvSpPr>
          <p:spPr>
            <a:xfrm>
              <a:off x="8065525" y="2152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Client</a:t>
              </a:r>
              <a:endParaRPr/>
            </a:p>
          </p:txBody>
        </p:sp>
        <p:sp>
          <p:nvSpPr>
            <p:cNvPr id="12" name="Google Shape;194;p25">
              <a:extLst>
                <a:ext uri="{FF2B5EF4-FFF2-40B4-BE49-F238E27FC236}">
                  <a16:creationId xmlns:a16="http://schemas.microsoft.com/office/drawing/2014/main" id="{F61CEFE2-D013-9AA6-DE8C-88CA2F21CF39}"/>
                </a:ext>
              </a:extLst>
            </p:cNvPr>
            <p:cNvSpPr txBox="1"/>
            <p:nvPr/>
          </p:nvSpPr>
          <p:spPr>
            <a:xfrm>
              <a:off x="10416600" y="2152274"/>
              <a:ext cx="937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Server</a:t>
              </a:r>
              <a:endParaRPr/>
            </a:p>
          </p:txBody>
        </p:sp>
        <p:cxnSp>
          <p:nvCxnSpPr>
            <p:cNvPr id="13" name="Google Shape;195;p25">
              <a:extLst>
                <a:ext uri="{FF2B5EF4-FFF2-40B4-BE49-F238E27FC236}">
                  <a16:creationId xmlns:a16="http://schemas.microsoft.com/office/drawing/2014/main" id="{B5581E26-64E1-6386-C131-979FE7F42AE9}"/>
                </a:ext>
              </a:extLst>
            </p:cNvPr>
            <p:cNvCxnSpPr/>
            <p:nvPr/>
          </p:nvCxnSpPr>
          <p:spPr>
            <a:xfrm>
              <a:off x="8275550" y="26372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Google Shape;196;p25">
              <a:extLst>
                <a:ext uri="{FF2B5EF4-FFF2-40B4-BE49-F238E27FC236}">
                  <a16:creationId xmlns:a16="http://schemas.microsoft.com/office/drawing/2014/main" id="{E89E00A3-C888-C39C-C689-2E380C0993FF}"/>
                </a:ext>
              </a:extLst>
            </p:cNvPr>
            <p:cNvCxnSpPr/>
            <p:nvPr/>
          </p:nvCxnSpPr>
          <p:spPr>
            <a:xfrm flipH="1">
              <a:off x="8301700" y="315253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Google Shape;197;p25">
              <a:extLst>
                <a:ext uri="{FF2B5EF4-FFF2-40B4-BE49-F238E27FC236}">
                  <a16:creationId xmlns:a16="http://schemas.microsoft.com/office/drawing/2014/main" id="{10A7115C-3966-DABD-6BDA-EDF73393B7B2}"/>
                </a:ext>
              </a:extLst>
            </p:cNvPr>
            <p:cNvCxnSpPr/>
            <p:nvPr/>
          </p:nvCxnSpPr>
          <p:spPr>
            <a:xfrm flipH="1">
              <a:off x="8334450" y="357628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6" name="Google Shape;198;p25">
              <a:extLst>
                <a:ext uri="{FF2B5EF4-FFF2-40B4-BE49-F238E27FC236}">
                  <a16:creationId xmlns:a16="http://schemas.microsoft.com/office/drawing/2014/main" id="{A5F4E9F0-B7D3-1333-601F-C98D05E9D636}"/>
                </a:ext>
              </a:extLst>
            </p:cNvPr>
            <p:cNvSpPr txBox="1"/>
            <p:nvPr/>
          </p:nvSpPr>
          <p:spPr>
            <a:xfrm rot="21076349" flipH="1">
              <a:off x="8321022" y="3448156"/>
              <a:ext cx="2803562" cy="4002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B7B7B7"/>
                  </a:solidFill>
                </a:rPr>
                <a:t>Certificate</a:t>
              </a:r>
              <a:endParaRPr dirty="0">
                <a:solidFill>
                  <a:srgbClr val="B7B7B7"/>
                </a:solidFill>
              </a:endParaRPr>
            </a:p>
          </p:txBody>
        </p:sp>
        <p:cxnSp>
          <p:nvCxnSpPr>
            <p:cNvPr id="17" name="Google Shape;199;p25">
              <a:extLst>
                <a:ext uri="{FF2B5EF4-FFF2-40B4-BE49-F238E27FC236}">
                  <a16:creationId xmlns:a16="http://schemas.microsoft.com/office/drawing/2014/main" id="{4530F1B6-536C-75D7-1654-6A319AB6044E}"/>
                </a:ext>
              </a:extLst>
            </p:cNvPr>
            <p:cNvCxnSpPr/>
            <p:nvPr/>
          </p:nvCxnSpPr>
          <p:spPr>
            <a:xfrm flipH="1">
              <a:off x="8301700" y="3990736"/>
              <a:ext cx="28143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8" name="Google Shape;200;p25">
              <a:extLst>
                <a:ext uri="{FF2B5EF4-FFF2-40B4-BE49-F238E27FC236}">
                  <a16:creationId xmlns:a16="http://schemas.microsoft.com/office/drawing/2014/main" id="{BB800120-298D-73D4-4164-AFFE807C2BB4}"/>
                </a:ext>
              </a:extLst>
            </p:cNvPr>
            <p:cNvSpPr txBox="1"/>
            <p:nvPr/>
          </p:nvSpPr>
          <p:spPr>
            <a:xfrm rot="-523651" flipH="1">
              <a:off x="8288272" y="3801117"/>
              <a:ext cx="2803562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dirty="0"/>
                <a:t>{</a:t>
              </a:r>
              <a:r>
                <a:rPr lang="en" sz="2200" i="1" dirty="0"/>
                <a:t>g</a:t>
              </a:r>
              <a:r>
                <a:rPr lang="en" sz="2200" i="1" baseline="30000" dirty="0"/>
                <a:t>a</a:t>
              </a:r>
              <a:r>
                <a:rPr lang="en" sz="2200" dirty="0"/>
                <a:t> mod </a:t>
              </a:r>
              <a:r>
                <a:rPr lang="en" sz="2200" i="1" dirty="0"/>
                <a:t>p</a:t>
              </a:r>
              <a:r>
                <a:rPr lang="en" sz="2200" dirty="0"/>
                <a:t>}</a:t>
              </a:r>
              <a:r>
                <a:rPr lang="en" sz="1600" i="1" dirty="0">
                  <a:solidFill>
                    <a:srgbClr val="C00000"/>
                  </a:solidFill>
                </a:rPr>
                <a:t>SK</a:t>
              </a:r>
              <a:r>
                <a:rPr lang="en" sz="1600" baseline="30000" dirty="0">
                  <a:solidFill>
                    <a:srgbClr val="C00000"/>
                  </a:solidFill>
                </a:rPr>
                <a:t>-1</a:t>
              </a:r>
              <a:r>
                <a:rPr lang="en" sz="1200" dirty="0">
                  <a:solidFill>
                    <a:srgbClr val="C00000"/>
                  </a:solidFill>
                </a:rPr>
                <a:t>server</a:t>
              </a:r>
              <a:endParaRPr sz="1200" dirty="0">
                <a:solidFill>
                  <a:srgbClr val="C00000"/>
                </a:solidFill>
              </a:endParaRPr>
            </a:p>
          </p:txBody>
        </p:sp>
        <p:cxnSp>
          <p:nvCxnSpPr>
            <p:cNvPr id="19" name="Google Shape;201;p25">
              <a:extLst>
                <a:ext uri="{FF2B5EF4-FFF2-40B4-BE49-F238E27FC236}">
                  <a16:creationId xmlns:a16="http://schemas.microsoft.com/office/drawing/2014/main" id="{C50A685B-F814-FF29-DE00-1AEF8B6423BA}"/>
                </a:ext>
              </a:extLst>
            </p:cNvPr>
            <p:cNvCxnSpPr/>
            <p:nvPr/>
          </p:nvCxnSpPr>
          <p:spPr>
            <a:xfrm>
              <a:off x="8275550" y="4542287"/>
              <a:ext cx="2879400" cy="437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0" name="Google Shape;202;p25">
              <a:extLst>
                <a:ext uri="{FF2B5EF4-FFF2-40B4-BE49-F238E27FC236}">
                  <a16:creationId xmlns:a16="http://schemas.microsoft.com/office/drawing/2014/main" id="{6E27F6A2-12B8-29ED-1CDA-0FA0A098325F}"/>
                </a:ext>
              </a:extLst>
            </p:cNvPr>
            <p:cNvSpPr txBox="1"/>
            <p:nvPr/>
          </p:nvSpPr>
          <p:spPr>
            <a:xfrm rot="512024">
              <a:off x="8300931" y="4352517"/>
              <a:ext cx="2866739" cy="52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i="1" dirty="0">
                  <a:solidFill>
                    <a:schemeClr val="dk1"/>
                  </a:solidFill>
                </a:rPr>
                <a:t>g</a:t>
              </a:r>
              <a:r>
                <a:rPr lang="en" sz="2200" i="1" baseline="30000" dirty="0">
                  <a:solidFill>
                    <a:schemeClr val="dk1"/>
                  </a:solidFill>
                </a:rPr>
                <a:t>b</a:t>
              </a:r>
              <a:r>
                <a:rPr lang="en" sz="2200" dirty="0">
                  <a:solidFill>
                    <a:schemeClr val="dk1"/>
                  </a:solidFill>
                </a:rPr>
                <a:t> mod </a:t>
              </a:r>
              <a:r>
                <a:rPr lang="en" sz="2200" i="1" dirty="0">
                  <a:solidFill>
                    <a:schemeClr val="dk1"/>
                  </a:solidFill>
                </a:rPr>
                <a:t>p</a:t>
              </a:r>
              <a:endParaRPr sz="2200" i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063EB37-665E-E804-3DDE-4AA118A8C47F}"/>
                </a:ext>
              </a:extLst>
            </p:cNvPr>
            <p:cNvSpPr txBox="1"/>
            <p:nvPr/>
          </p:nvSpPr>
          <p:spPr>
            <a:xfrm>
              <a:off x="7890313" y="6036341"/>
              <a:ext cx="6376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>
                <a:spcBef>
                  <a:spcPts val="0"/>
                </a:spcBef>
                <a:spcAft>
                  <a:spcPts val="600"/>
                </a:spcAft>
                <a:buSzPts val="1800"/>
              </a:pPr>
              <a:r>
                <a:rPr lang="en-US" b="1" i="1" dirty="0">
                  <a:solidFill>
                    <a:srgbClr val="C00000"/>
                  </a:solidFill>
                </a:rPr>
                <a:t>g</a:t>
              </a:r>
              <a:r>
                <a:rPr lang="en-US" b="1" i="1" baseline="30000" dirty="0">
                  <a:solidFill>
                    <a:srgbClr val="C00000"/>
                  </a:solidFill>
                </a:rPr>
                <a:t>ab</a:t>
              </a:r>
              <a:endParaRPr lang="en-US" b="1" i="1" dirty="0">
                <a:solidFill>
                  <a:srgbClr val="C0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90FE84E-1764-51A7-6E42-17E6C7507951}"/>
                </a:ext>
              </a:extLst>
            </p:cNvPr>
            <p:cNvSpPr txBox="1"/>
            <p:nvPr/>
          </p:nvSpPr>
          <p:spPr>
            <a:xfrm>
              <a:off x="10929063" y="6033974"/>
              <a:ext cx="6376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>
                <a:spcBef>
                  <a:spcPts val="0"/>
                </a:spcBef>
                <a:spcAft>
                  <a:spcPts val="600"/>
                </a:spcAft>
                <a:buSzPts val="1800"/>
              </a:pPr>
              <a:r>
                <a:rPr lang="en-US" b="1" i="1" dirty="0">
                  <a:solidFill>
                    <a:srgbClr val="C00000"/>
                  </a:solidFill>
                </a:rPr>
                <a:t>g</a:t>
              </a:r>
              <a:r>
                <a:rPr lang="en-US" b="1" i="1" baseline="30000" dirty="0">
                  <a:solidFill>
                    <a:srgbClr val="C00000"/>
                  </a:solidFill>
                </a:rPr>
                <a:t>ab</a:t>
              </a:r>
              <a:endParaRPr lang="en-US" b="1" i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35600086-F842-26C2-56FB-728DE31610E0}"/>
              </a:ext>
            </a:extLst>
          </p:cNvPr>
          <p:cNvSpPr txBox="1">
            <a:spLocks/>
          </p:cNvSpPr>
          <p:nvPr/>
        </p:nvSpPr>
        <p:spPr>
          <a:xfrm>
            <a:off x="7219827" y="6208497"/>
            <a:ext cx="4898294" cy="5376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1800" dirty="0">
                <a:latin typeface="+mn-lt"/>
              </a:rPr>
              <a:t>TLS Handshake Step 3: Premaster Secret (DHE)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5741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F271-1879-6AC3-9167-005A2203E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955675"/>
          </a:xfrm>
        </p:spPr>
        <p:txBody>
          <a:bodyPr/>
          <a:lstStyle/>
          <a:p>
            <a:r>
              <a:rPr lang="en-US" dirty="0"/>
              <a:t>TLS Provides End-to-End Security</a:t>
            </a:r>
          </a:p>
        </p:txBody>
      </p:sp>
      <p:sp>
        <p:nvSpPr>
          <p:cNvPr id="4" name="Google Shape;408;p38">
            <a:extLst>
              <a:ext uri="{FF2B5EF4-FFF2-40B4-BE49-F238E27FC236}">
                <a16:creationId xmlns:a16="http://schemas.microsoft.com/office/drawing/2014/main" id="{287C9D9B-631D-6718-FD00-732405864AF5}"/>
              </a:ext>
            </a:extLst>
          </p:cNvPr>
          <p:cNvSpPr txBox="1">
            <a:spLocks/>
          </p:cNvSpPr>
          <p:nvPr/>
        </p:nvSpPr>
        <p:spPr>
          <a:xfrm>
            <a:off x="838200" y="1546199"/>
            <a:ext cx="10515600" cy="514987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TLS provides </a:t>
            </a:r>
            <a:r>
              <a:rPr lang="en-US" b="1" dirty="0"/>
              <a:t>end-to-end security</a:t>
            </a:r>
            <a:r>
              <a:rPr lang="en-US" dirty="0"/>
              <a:t>: Secure communication between the two endpoints, with no need to trust intermediaries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End-to-end security does not help if one of the endpoints is malicious (e.g. communicating with a malicious server)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Even if everybody between the client and the server is malicious, TLS provides a secure communication channel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Example: A local network attacker (on-path) tries to read our Wi-Fi session, but can’t read TLS messages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Example: A man-in-the-middle tries to inject TCP packets, but packets will be rejected because the MAC won’t be correct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Using TLS defends against most lower-level network attacks</a:t>
            </a:r>
          </a:p>
        </p:txBody>
      </p:sp>
    </p:spTree>
    <p:extLst>
      <p:ext uri="{BB962C8B-B14F-4D97-AF65-F5344CB8AC3E}">
        <p14:creationId xmlns:p14="http://schemas.microsoft.com/office/powerpoint/2010/main" val="1538111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306D-0A80-A805-90CD-D5FDBABF2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942975"/>
          </a:xfrm>
        </p:spPr>
        <p:txBody>
          <a:bodyPr/>
          <a:lstStyle/>
          <a:p>
            <a:r>
              <a:rPr lang="en-US" dirty="0"/>
              <a:t>TLS 1.3 Changes</a:t>
            </a:r>
          </a:p>
        </p:txBody>
      </p:sp>
      <p:sp>
        <p:nvSpPr>
          <p:cNvPr id="4" name="Google Shape;386;p35">
            <a:extLst>
              <a:ext uri="{FF2B5EF4-FFF2-40B4-BE49-F238E27FC236}">
                <a16:creationId xmlns:a16="http://schemas.microsoft.com/office/drawing/2014/main" id="{81004B7E-1802-1C60-5483-4CDCCEDCC89A}"/>
              </a:ext>
            </a:extLst>
          </p:cNvPr>
          <p:cNvSpPr txBox="1">
            <a:spLocks/>
          </p:cNvSpPr>
          <p:nvPr/>
        </p:nvSpPr>
        <p:spPr>
          <a:xfrm>
            <a:off x="412750" y="1409700"/>
            <a:ext cx="11366500" cy="4927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TLS 1.3</a:t>
            </a:r>
            <a:r>
              <a:rPr lang="en-US" dirty="0"/>
              <a:t>: The latest version of the TLS protocol (2018)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RSA no longer supported (only DHE)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Guarantees forward secrecy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Performance optimization: The client sends </a:t>
            </a:r>
            <a:r>
              <a:rPr lang="en-US" i="1" dirty="0" err="1"/>
              <a:t>g</a:t>
            </a:r>
            <a:r>
              <a:rPr lang="en-US" i="1" baseline="30000" dirty="0" err="1"/>
              <a:t>b</a:t>
            </a:r>
            <a:r>
              <a:rPr lang="en-US" dirty="0"/>
              <a:t> mod </a:t>
            </a:r>
            <a:r>
              <a:rPr lang="en-US" i="1" dirty="0"/>
              <a:t>p</a:t>
            </a:r>
            <a:r>
              <a:rPr lang="en-US" dirty="0"/>
              <a:t> in </a:t>
            </a:r>
            <a:r>
              <a:rPr lang="en-US" dirty="0" err="1"/>
              <a:t>ClientHello</a:t>
            </a:r>
            <a:endParaRPr lang="en-US" dirty="0"/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If the server agrees to use DHE, the server sends </a:t>
            </a:r>
            <a:r>
              <a:rPr lang="en-US" i="1" dirty="0"/>
              <a:t>g</a:t>
            </a:r>
            <a:r>
              <a:rPr lang="en-US" i="1" baseline="30000" dirty="0"/>
              <a:t>a</a:t>
            </a:r>
            <a:r>
              <a:rPr lang="en-US" dirty="0"/>
              <a:t> mod </a:t>
            </a:r>
            <a:r>
              <a:rPr lang="en-US" i="1" dirty="0"/>
              <a:t>p</a:t>
            </a:r>
            <a:r>
              <a:rPr lang="en-US" dirty="0"/>
              <a:t> (with signature) in </a:t>
            </a:r>
            <a:r>
              <a:rPr lang="en-US" dirty="0" err="1"/>
              <a:t>ServerHello</a:t>
            </a:r>
            <a:r>
              <a:rPr lang="en-US" dirty="0"/>
              <a:t> message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Potentially saves two messages later in the handshake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Only supports </a:t>
            </a:r>
            <a:r>
              <a:rPr lang="en-US" dirty="0">
                <a:hlinkClick r:id="rId3"/>
              </a:rPr>
              <a:t>AEAD</a:t>
            </a:r>
            <a:r>
              <a:rPr lang="en-US" dirty="0"/>
              <a:t> mode encryption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AEAD (authenticated encryption with additional data): a block cipher mode that guarantees confidentiality </a:t>
            </a:r>
            <a:r>
              <a:rPr lang="en-US" b="1" dirty="0"/>
              <a:t>and integrity </a:t>
            </a:r>
            <a:r>
              <a:rPr lang="en-US" dirty="0"/>
              <a:t>at the same time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Eliminates attacks associated with the insecure MAC-then-encrypt pattern</a:t>
            </a:r>
          </a:p>
        </p:txBody>
      </p:sp>
    </p:spTree>
    <p:extLst>
      <p:ext uri="{BB962C8B-B14F-4D97-AF65-F5344CB8AC3E}">
        <p14:creationId xmlns:p14="http://schemas.microsoft.com/office/powerpoint/2010/main" val="1133288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AD68-6DE7-3416-8E40-EC44B89B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20"/>
            <a:ext cx="10515600" cy="1150166"/>
          </a:xfrm>
        </p:spPr>
        <p:txBody>
          <a:bodyPr/>
          <a:lstStyle/>
          <a:p>
            <a:r>
              <a:rPr lang="en-US" dirty="0"/>
              <a:t>TLS Does Not Provide Anonymity</a:t>
            </a:r>
          </a:p>
        </p:txBody>
      </p:sp>
      <p:sp>
        <p:nvSpPr>
          <p:cNvPr id="4" name="Google Shape;415;p39">
            <a:extLst>
              <a:ext uri="{FF2B5EF4-FFF2-40B4-BE49-F238E27FC236}">
                <a16:creationId xmlns:a16="http://schemas.microsoft.com/office/drawing/2014/main" id="{A6978655-72DF-9FF6-02A0-B042DBD8BE54}"/>
              </a:ext>
            </a:extLst>
          </p:cNvPr>
          <p:cNvSpPr txBox="1">
            <a:spLocks/>
          </p:cNvSpPr>
          <p:nvPr/>
        </p:nvSpPr>
        <p:spPr>
          <a:xfrm>
            <a:off x="838200" y="1876018"/>
            <a:ext cx="10515600" cy="441483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Anonymity</a:t>
            </a:r>
            <a:r>
              <a:rPr lang="en-US" dirty="0"/>
              <a:t>: Hiding the client’s and server’s identities from attackers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An attacker can figure out who is communicating with TLS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certificate is sent during the TLS handshake, containing the server’s name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client may also indicate the name of the server in the </a:t>
            </a:r>
            <a:r>
              <a:rPr lang="en-US" dirty="0" err="1"/>
              <a:t>ClientHello</a:t>
            </a:r>
            <a:r>
              <a:rPr lang="en-US" dirty="0"/>
              <a:t> (called Server Name Indication, or SNI)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An attacker can see IP addresses and ports of the underlying IP and TCP protocols</a:t>
            </a:r>
          </a:p>
        </p:txBody>
      </p:sp>
    </p:spTree>
    <p:extLst>
      <p:ext uri="{BB962C8B-B14F-4D97-AF65-F5344CB8AC3E}">
        <p14:creationId xmlns:p14="http://schemas.microsoft.com/office/powerpoint/2010/main" val="2124650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508C-2DF4-A30A-4DE5-14F40B91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434"/>
            <a:ext cx="10515600" cy="1006475"/>
          </a:xfrm>
        </p:spPr>
        <p:txBody>
          <a:bodyPr/>
          <a:lstStyle/>
          <a:p>
            <a:r>
              <a:rPr lang="en-US" dirty="0"/>
              <a:t>TLS Does Not Provide Availability</a:t>
            </a:r>
          </a:p>
        </p:txBody>
      </p:sp>
      <p:sp>
        <p:nvSpPr>
          <p:cNvPr id="4" name="Google Shape;422;p40">
            <a:extLst>
              <a:ext uri="{FF2B5EF4-FFF2-40B4-BE49-F238E27FC236}">
                <a16:creationId xmlns:a16="http://schemas.microsoft.com/office/drawing/2014/main" id="{6215D395-1917-3DE7-938F-5ED38261782B}"/>
              </a:ext>
            </a:extLst>
          </p:cNvPr>
          <p:cNvSpPr txBox="1">
            <a:spLocks/>
          </p:cNvSpPr>
          <p:nvPr/>
        </p:nvSpPr>
        <p:spPr>
          <a:xfrm>
            <a:off x="838200" y="2069785"/>
            <a:ext cx="10515600" cy="44230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Availability</a:t>
            </a:r>
            <a:r>
              <a:rPr lang="en-US" dirty="0"/>
              <a:t>: Keeping the connection open in the face of attackers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An attacker can stop a TLS connection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MITM can drop encrypted TLS packets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On-path attacker can still do RST injection to abort the underlying TCP connection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Result: A TLS connection can still be censored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The censor can block TLS connections</a:t>
            </a:r>
          </a:p>
        </p:txBody>
      </p:sp>
    </p:spTree>
    <p:extLst>
      <p:ext uri="{BB962C8B-B14F-4D97-AF65-F5344CB8AC3E}">
        <p14:creationId xmlns:p14="http://schemas.microsoft.com/office/powerpoint/2010/main" val="2905326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B90E-8CC4-10EE-4EE1-264140F61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493"/>
            <a:ext cx="10515600" cy="1027387"/>
          </a:xfrm>
        </p:spPr>
        <p:txBody>
          <a:bodyPr/>
          <a:lstStyle/>
          <a:p>
            <a:r>
              <a:rPr lang="en" dirty="0"/>
              <a:t>TLS: Summary</a:t>
            </a:r>
            <a:endParaRPr lang="en-US" dirty="0"/>
          </a:p>
        </p:txBody>
      </p:sp>
      <p:sp>
        <p:nvSpPr>
          <p:cNvPr id="4" name="Google Shape;609;p63">
            <a:extLst>
              <a:ext uri="{FF2B5EF4-FFF2-40B4-BE49-F238E27FC236}">
                <a16:creationId xmlns:a16="http://schemas.microsoft.com/office/drawing/2014/main" id="{BB4D70A5-F7D2-A531-9353-BC90D18F1720}"/>
              </a:ext>
            </a:extLst>
          </p:cNvPr>
          <p:cNvSpPr txBox="1">
            <a:spLocks/>
          </p:cNvSpPr>
          <p:nvPr/>
        </p:nvSpPr>
        <p:spPr>
          <a:xfrm>
            <a:off x="276198" y="1405622"/>
            <a:ext cx="8465627" cy="536447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dirty="0"/>
              <a:t>TLS Handshake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Nonces make every handshake different (prevents replay attacks across connections)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Certificate proves server’s public key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trike="sngStrike" dirty="0">
                <a:solidFill>
                  <a:srgbClr val="C00000"/>
                </a:solidFill>
              </a:rPr>
              <a:t>RSA</a:t>
            </a:r>
            <a:r>
              <a:rPr lang="en-US" dirty="0"/>
              <a:t> or DHE proves that the server owns the private key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strike="sngStrike" dirty="0">
                <a:solidFill>
                  <a:srgbClr val="C00000"/>
                </a:solidFill>
              </a:rPr>
              <a:t>RSA</a:t>
            </a:r>
            <a:r>
              <a:rPr lang="en-US" dirty="0"/>
              <a:t> or DHE helps client and server agree on a shared secret key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MAC exchange ensures no one tampered with the handshake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Messages are sent with symmetric encryption and MACs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TLS record numbers prevent replay attacks within a connection</a:t>
            </a:r>
          </a:p>
        </p:txBody>
      </p:sp>
      <p:cxnSp>
        <p:nvCxnSpPr>
          <p:cNvPr id="6" name="Google Shape;611;p63">
            <a:extLst>
              <a:ext uri="{FF2B5EF4-FFF2-40B4-BE49-F238E27FC236}">
                <a16:creationId xmlns:a16="http://schemas.microsoft.com/office/drawing/2014/main" id="{F115F9FE-CB34-C998-6465-1420FCE03531}"/>
              </a:ext>
            </a:extLst>
          </p:cNvPr>
          <p:cNvCxnSpPr/>
          <p:nvPr/>
        </p:nvCxnSpPr>
        <p:spPr>
          <a:xfrm>
            <a:off x="8885451" y="2312452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Google Shape;612;p63">
            <a:extLst>
              <a:ext uri="{FF2B5EF4-FFF2-40B4-BE49-F238E27FC236}">
                <a16:creationId xmlns:a16="http://schemas.microsoft.com/office/drawing/2014/main" id="{10855367-9BC9-EA04-01F9-3B5C6A3A3623}"/>
              </a:ext>
            </a:extLst>
          </p:cNvPr>
          <p:cNvCxnSpPr/>
          <p:nvPr/>
        </p:nvCxnSpPr>
        <p:spPr>
          <a:xfrm>
            <a:off x="11924201" y="2312452"/>
            <a:ext cx="0" cy="3481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613;p63">
            <a:extLst>
              <a:ext uri="{FF2B5EF4-FFF2-40B4-BE49-F238E27FC236}">
                <a16:creationId xmlns:a16="http://schemas.microsoft.com/office/drawing/2014/main" id="{3FC11031-0EAC-292E-7353-DAF8E27BFBEA}"/>
              </a:ext>
            </a:extLst>
          </p:cNvPr>
          <p:cNvSpPr txBox="1"/>
          <p:nvPr/>
        </p:nvSpPr>
        <p:spPr>
          <a:xfrm>
            <a:off x="8741826" y="1912252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9" name="Google Shape;614;p63">
            <a:extLst>
              <a:ext uri="{FF2B5EF4-FFF2-40B4-BE49-F238E27FC236}">
                <a16:creationId xmlns:a16="http://schemas.microsoft.com/office/drawing/2014/main" id="{24C8F6B9-52F2-F4D7-82B3-F9C570DD5763}"/>
              </a:ext>
            </a:extLst>
          </p:cNvPr>
          <p:cNvSpPr txBox="1"/>
          <p:nvPr/>
        </p:nvSpPr>
        <p:spPr>
          <a:xfrm>
            <a:off x="11092901" y="1912252"/>
            <a:ext cx="937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</a:t>
            </a:r>
            <a:endParaRPr/>
          </a:p>
        </p:txBody>
      </p:sp>
      <p:cxnSp>
        <p:nvCxnSpPr>
          <p:cNvPr id="10" name="Google Shape;615;p63">
            <a:extLst>
              <a:ext uri="{FF2B5EF4-FFF2-40B4-BE49-F238E27FC236}">
                <a16:creationId xmlns:a16="http://schemas.microsoft.com/office/drawing/2014/main" id="{F1D84990-778F-D3C7-09E7-56906DE4F356}"/>
              </a:ext>
            </a:extLst>
          </p:cNvPr>
          <p:cNvCxnSpPr/>
          <p:nvPr/>
        </p:nvCxnSpPr>
        <p:spPr>
          <a:xfrm>
            <a:off x="8951851" y="2321065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616;p63">
            <a:extLst>
              <a:ext uri="{FF2B5EF4-FFF2-40B4-BE49-F238E27FC236}">
                <a16:creationId xmlns:a16="http://schemas.microsoft.com/office/drawing/2014/main" id="{80F1170D-BC38-036C-51F5-661371056F8F}"/>
              </a:ext>
            </a:extLst>
          </p:cNvPr>
          <p:cNvSpPr txBox="1"/>
          <p:nvPr/>
        </p:nvSpPr>
        <p:spPr>
          <a:xfrm rot="512024">
            <a:off x="8977232" y="2192823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ClientHello</a:t>
            </a:r>
            <a:endParaRPr/>
          </a:p>
        </p:txBody>
      </p:sp>
      <p:cxnSp>
        <p:nvCxnSpPr>
          <p:cNvPr id="12" name="Google Shape;617;p63">
            <a:extLst>
              <a:ext uri="{FF2B5EF4-FFF2-40B4-BE49-F238E27FC236}">
                <a16:creationId xmlns:a16="http://schemas.microsoft.com/office/drawing/2014/main" id="{61466840-C781-19C8-1835-DB6BEF4E40E1}"/>
              </a:ext>
            </a:extLst>
          </p:cNvPr>
          <p:cNvCxnSpPr/>
          <p:nvPr/>
        </p:nvCxnSpPr>
        <p:spPr>
          <a:xfrm flipH="1">
            <a:off x="8978001" y="2836314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618;p63">
            <a:extLst>
              <a:ext uri="{FF2B5EF4-FFF2-40B4-BE49-F238E27FC236}">
                <a16:creationId xmlns:a16="http://schemas.microsoft.com/office/drawing/2014/main" id="{AD36B496-95B8-4E64-D8C6-B734514F49AD}"/>
              </a:ext>
            </a:extLst>
          </p:cNvPr>
          <p:cNvSpPr txBox="1"/>
          <p:nvPr/>
        </p:nvSpPr>
        <p:spPr>
          <a:xfrm rot="21076349" flipH="1">
            <a:off x="8964573" y="2708184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ServerHello</a:t>
            </a:r>
            <a:endParaRPr/>
          </a:p>
        </p:txBody>
      </p:sp>
      <p:cxnSp>
        <p:nvCxnSpPr>
          <p:cNvPr id="14" name="Google Shape;619;p63">
            <a:extLst>
              <a:ext uri="{FF2B5EF4-FFF2-40B4-BE49-F238E27FC236}">
                <a16:creationId xmlns:a16="http://schemas.microsoft.com/office/drawing/2014/main" id="{D2027C1F-5656-2652-5A8F-0E018E0020BE}"/>
              </a:ext>
            </a:extLst>
          </p:cNvPr>
          <p:cNvCxnSpPr/>
          <p:nvPr/>
        </p:nvCxnSpPr>
        <p:spPr>
          <a:xfrm flipH="1">
            <a:off x="9010751" y="3183864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620;p63">
            <a:extLst>
              <a:ext uri="{FF2B5EF4-FFF2-40B4-BE49-F238E27FC236}">
                <a16:creationId xmlns:a16="http://schemas.microsoft.com/office/drawing/2014/main" id="{F796E1D4-CD02-BF87-C8D6-0237B28CA300}"/>
              </a:ext>
            </a:extLst>
          </p:cNvPr>
          <p:cNvSpPr txBox="1"/>
          <p:nvPr/>
        </p:nvSpPr>
        <p:spPr>
          <a:xfrm rot="21076349" flipH="1">
            <a:off x="8997323" y="3055734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Certificate</a:t>
            </a:r>
            <a:endParaRPr/>
          </a:p>
        </p:txBody>
      </p:sp>
      <p:cxnSp>
        <p:nvCxnSpPr>
          <p:cNvPr id="16" name="Google Shape;621;p63">
            <a:extLst>
              <a:ext uri="{FF2B5EF4-FFF2-40B4-BE49-F238E27FC236}">
                <a16:creationId xmlns:a16="http://schemas.microsoft.com/office/drawing/2014/main" id="{8801B188-C65D-DFBA-8FCB-C1D0BAA32AA3}"/>
              </a:ext>
            </a:extLst>
          </p:cNvPr>
          <p:cNvCxnSpPr/>
          <p:nvPr/>
        </p:nvCxnSpPr>
        <p:spPr>
          <a:xfrm flipH="1">
            <a:off x="8978001" y="3522114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622;p63">
            <a:extLst>
              <a:ext uri="{FF2B5EF4-FFF2-40B4-BE49-F238E27FC236}">
                <a16:creationId xmlns:a16="http://schemas.microsoft.com/office/drawing/2014/main" id="{4B57019E-7F97-868A-7484-1FCB7570F1E4}"/>
              </a:ext>
            </a:extLst>
          </p:cNvPr>
          <p:cNvSpPr txBox="1"/>
          <p:nvPr/>
        </p:nvSpPr>
        <p:spPr>
          <a:xfrm rot="21076349" flipH="1">
            <a:off x="8964573" y="3363272"/>
            <a:ext cx="2803562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B7B7B7"/>
                </a:solidFill>
              </a:rPr>
              <a:t>{</a:t>
            </a:r>
            <a:r>
              <a:rPr lang="en" i="1" dirty="0">
                <a:solidFill>
                  <a:srgbClr val="B7B7B7"/>
                </a:solidFill>
              </a:rPr>
              <a:t>g</a:t>
            </a:r>
            <a:r>
              <a:rPr lang="en" i="1" baseline="30000" dirty="0">
                <a:solidFill>
                  <a:srgbClr val="B7B7B7"/>
                </a:solidFill>
              </a:rPr>
              <a:t>a</a:t>
            </a:r>
            <a:r>
              <a:rPr lang="en" dirty="0">
                <a:solidFill>
                  <a:srgbClr val="B7B7B7"/>
                </a:solidFill>
              </a:rPr>
              <a:t> mod </a:t>
            </a:r>
            <a:r>
              <a:rPr lang="en" i="1" dirty="0">
                <a:solidFill>
                  <a:srgbClr val="B7B7B7"/>
                </a:solidFill>
              </a:rPr>
              <a:t>p</a:t>
            </a:r>
            <a:r>
              <a:rPr lang="en" dirty="0">
                <a:solidFill>
                  <a:srgbClr val="B7B7B7"/>
                </a:solidFill>
              </a:rPr>
              <a:t>}</a:t>
            </a:r>
            <a:r>
              <a:rPr lang="en" sz="1000" i="1" dirty="0">
                <a:solidFill>
                  <a:srgbClr val="B7B7B7"/>
                </a:solidFill>
              </a:rPr>
              <a:t>SK</a:t>
            </a:r>
            <a:r>
              <a:rPr lang="en" sz="1000" baseline="30000" dirty="0">
                <a:solidFill>
                  <a:srgbClr val="B7B7B7"/>
                </a:solidFill>
              </a:rPr>
              <a:t>-1</a:t>
            </a:r>
            <a:r>
              <a:rPr lang="en" sz="600" dirty="0">
                <a:solidFill>
                  <a:srgbClr val="B7B7B7"/>
                </a:solidFill>
              </a:rPr>
              <a:t>server</a:t>
            </a:r>
            <a:endParaRPr sz="600" dirty="0">
              <a:solidFill>
                <a:srgbClr val="B7B7B7"/>
              </a:solidFill>
            </a:endParaRPr>
          </a:p>
        </p:txBody>
      </p:sp>
      <p:cxnSp>
        <p:nvCxnSpPr>
          <p:cNvPr id="18" name="Google Shape;623;p63">
            <a:extLst>
              <a:ext uri="{FF2B5EF4-FFF2-40B4-BE49-F238E27FC236}">
                <a16:creationId xmlns:a16="http://schemas.microsoft.com/office/drawing/2014/main" id="{EA9CB372-393C-C944-8DE9-7CD1044A44DF}"/>
              </a:ext>
            </a:extLst>
          </p:cNvPr>
          <p:cNvCxnSpPr/>
          <p:nvPr/>
        </p:nvCxnSpPr>
        <p:spPr>
          <a:xfrm>
            <a:off x="8951851" y="4073665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" name="Google Shape;624;p63">
            <a:extLst>
              <a:ext uri="{FF2B5EF4-FFF2-40B4-BE49-F238E27FC236}">
                <a16:creationId xmlns:a16="http://schemas.microsoft.com/office/drawing/2014/main" id="{734B601B-C8D9-5C59-33BF-D7A7A9981804}"/>
              </a:ext>
            </a:extLst>
          </p:cNvPr>
          <p:cNvSpPr txBox="1"/>
          <p:nvPr/>
        </p:nvSpPr>
        <p:spPr>
          <a:xfrm rot="512024">
            <a:off x="8977232" y="3945423"/>
            <a:ext cx="2866739" cy="4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i="1">
                <a:solidFill>
                  <a:srgbClr val="B7B7B7"/>
                </a:solidFill>
              </a:rPr>
              <a:t>g</a:t>
            </a:r>
            <a:r>
              <a:rPr lang="en" i="1" baseline="30000">
                <a:solidFill>
                  <a:srgbClr val="B7B7B7"/>
                </a:solidFill>
              </a:rPr>
              <a:t>b</a:t>
            </a:r>
            <a:r>
              <a:rPr lang="en">
                <a:solidFill>
                  <a:srgbClr val="B7B7B7"/>
                </a:solidFill>
              </a:rPr>
              <a:t> mod </a:t>
            </a:r>
            <a:r>
              <a:rPr lang="en" i="1">
                <a:solidFill>
                  <a:srgbClr val="B7B7B7"/>
                </a:solidFill>
              </a:rPr>
              <a:t>p</a:t>
            </a:r>
            <a:endParaRPr i="1">
              <a:solidFill>
                <a:srgbClr val="B7B7B7"/>
              </a:solidFill>
            </a:endParaRPr>
          </a:p>
        </p:txBody>
      </p:sp>
      <p:cxnSp>
        <p:nvCxnSpPr>
          <p:cNvPr id="20" name="Google Shape;625;p63">
            <a:extLst>
              <a:ext uri="{FF2B5EF4-FFF2-40B4-BE49-F238E27FC236}">
                <a16:creationId xmlns:a16="http://schemas.microsoft.com/office/drawing/2014/main" id="{858A566D-6E67-E46C-CC0E-F4CBE2E53154}"/>
              </a:ext>
            </a:extLst>
          </p:cNvPr>
          <p:cNvCxnSpPr/>
          <p:nvPr/>
        </p:nvCxnSpPr>
        <p:spPr>
          <a:xfrm>
            <a:off x="8951851" y="4454665"/>
            <a:ext cx="28794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Google Shape;626;p63">
            <a:extLst>
              <a:ext uri="{FF2B5EF4-FFF2-40B4-BE49-F238E27FC236}">
                <a16:creationId xmlns:a16="http://schemas.microsoft.com/office/drawing/2014/main" id="{2D6B1323-E3B6-A540-083C-2E41D578414F}"/>
              </a:ext>
            </a:extLst>
          </p:cNvPr>
          <p:cNvSpPr txBox="1"/>
          <p:nvPr/>
        </p:nvSpPr>
        <p:spPr>
          <a:xfrm rot="512024">
            <a:off x="8977232" y="4295673"/>
            <a:ext cx="286673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{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, MAC(</a:t>
            </a:r>
            <a:r>
              <a:rPr lang="en" i="1" dirty="0">
                <a:solidFill>
                  <a:schemeClr val="dk1"/>
                </a:solidFill>
              </a:rPr>
              <a:t>I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dirty="0">
                <a:solidFill>
                  <a:schemeClr val="dk1"/>
                </a:solidFill>
              </a:rPr>
              <a:t>, </a:t>
            </a:r>
            <a:r>
              <a:rPr lang="en" i="1" dirty="0">
                <a:solidFill>
                  <a:schemeClr val="dk1"/>
                </a:solidFill>
              </a:rPr>
              <a:t>M</a:t>
            </a:r>
            <a:r>
              <a:rPr lang="en" dirty="0">
                <a:solidFill>
                  <a:schemeClr val="dk1"/>
                </a:solidFill>
              </a:rPr>
              <a:t>)}</a:t>
            </a:r>
            <a:r>
              <a:rPr lang="en" sz="900" i="1" dirty="0">
                <a:solidFill>
                  <a:schemeClr val="dk1"/>
                </a:solidFill>
              </a:rPr>
              <a:t>C</a:t>
            </a:r>
            <a:r>
              <a:rPr lang="en" sz="600" i="1" dirty="0">
                <a:solidFill>
                  <a:schemeClr val="dk1"/>
                </a:solidFill>
              </a:rPr>
              <a:t>C</a:t>
            </a:r>
            <a:endParaRPr sz="600" i="1" dirty="0">
              <a:solidFill>
                <a:schemeClr val="dk1"/>
              </a:solidFill>
            </a:endParaRPr>
          </a:p>
        </p:txBody>
      </p:sp>
      <p:cxnSp>
        <p:nvCxnSpPr>
          <p:cNvPr id="22" name="Google Shape;627;p63">
            <a:extLst>
              <a:ext uri="{FF2B5EF4-FFF2-40B4-BE49-F238E27FC236}">
                <a16:creationId xmlns:a16="http://schemas.microsoft.com/office/drawing/2014/main" id="{5A3B7CB1-427E-6C74-22FF-213E9608166B}"/>
              </a:ext>
            </a:extLst>
          </p:cNvPr>
          <p:cNvCxnSpPr/>
          <p:nvPr/>
        </p:nvCxnSpPr>
        <p:spPr>
          <a:xfrm flipH="1">
            <a:off x="8978001" y="4969914"/>
            <a:ext cx="2814300" cy="4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" name="Google Shape;628;p63">
            <a:extLst>
              <a:ext uri="{FF2B5EF4-FFF2-40B4-BE49-F238E27FC236}">
                <a16:creationId xmlns:a16="http://schemas.microsoft.com/office/drawing/2014/main" id="{658A3547-2F1F-24E2-69A0-561EA70FF654}"/>
              </a:ext>
            </a:extLst>
          </p:cNvPr>
          <p:cNvSpPr txBox="1"/>
          <p:nvPr/>
        </p:nvSpPr>
        <p:spPr>
          <a:xfrm rot="21076349" flipH="1">
            <a:off x="8964573" y="4841784"/>
            <a:ext cx="2803562" cy="400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{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, MAC(</a:t>
            </a:r>
            <a:r>
              <a:rPr lang="en" i="1">
                <a:solidFill>
                  <a:schemeClr val="dk1"/>
                </a:solidFill>
              </a:rPr>
              <a:t>I</a:t>
            </a:r>
            <a:r>
              <a:rPr lang="en" sz="900" i="1">
                <a:solidFill>
                  <a:schemeClr val="dk1"/>
                </a:solidFill>
              </a:rPr>
              <a:t>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 i="1">
                <a:solidFill>
                  <a:schemeClr val="dk1"/>
                </a:solidFill>
              </a:rPr>
              <a:t>M</a:t>
            </a:r>
            <a:r>
              <a:rPr lang="en">
                <a:solidFill>
                  <a:schemeClr val="dk1"/>
                </a:solidFill>
              </a:rPr>
              <a:t>)}</a:t>
            </a:r>
            <a:r>
              <a:rPr lang="en" sz="900" i="1">
                <a:solidFill>
                  <a:schemeClr val="dk1"/>
                </a:solidFill>
              </a:rPr>
              <a:t>C</a:t>
            </a:r>
            <a:r>
              <a:rPr lang="en" sz="600" i="1">
                <a:solidFill>
                  <a:schemeClr val="dk1"/>
                </a:solidFill>
              </a:rPr>
              <a:t>S</a:t>
            </a:r>
            <a:endParaRPr sz="1200" i="1"/>
          </a:p>
        </p:txBody>
      </p:sp>
      <p:sp>
        <p:nvSpPr>
          <p:cNvPr id="24" name="Google Shape;629;p63">
            <a:extLst>
              <a:ext uri="{FF2B5EF4-FFF2-40B4-BE49-F238E27FC236}">
                <a16:creationId xmlns:a16="http://schemas.microsoft.com/office/drawing/2014/main" id="{2D705AA6-759B-B0A9-9C88-A9F36A0EC90E}"/>
              </a:ext>
            </a:extLst>
          </p:cNvPr>
          <p:cNvSpPr txBox="1"/>
          <p:nvPr/>
        </p:nvSpPr>
        <p:spPr>
          <a:xfrm>
            <a:off x="10420426" y="3700765"/>
            <a:ext cx="1417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rgbClr val="B7B7B7"/>
                </a:solidFill>
              </a:rPr>
              <a:t>Or RSA exchange</a:t>
            </a:r>
            <a:endParaRPr sz="1000" dirty="0">
              <a:solidFill>
                <a:srgbClr val="B7B7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426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B38A-E943-63E3-570C-BBB5C297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634"/>
            <a:ext cx="10515600" cy="888909"/>
          </a:xfrm>
        </p:spPr>
        <p:txBody>
          <a:bodyPr/>
          <a:lstStyle/>
          <a:p>
            <a:r>
              <a:rPr lang="en-US" dirty="0"/>
              <a:t>TLS Handshake Protocol: Workflow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4938CD2-F1BF-C2D0-4C56-7D962A0F0D82}"/>
              </a:ext>
            </a:extLst>
          </p:cNvPr>
          <p:cNvGrpSpPr/>
          <p:nvPr/>
        </p:nvGrpSpPr>
        <p:grpSpPr>
          <a:xfrm>
            <a:off x="435677" y="1245662"/>
            <a:ext cx="8551319" cy="5219636"/>
            <a:chOff x="1820340" y="1206473"/>
            <a:chExt cx="8551319" cy="521963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ECEC037-5B45-FD9C-AC28-A5ED7BA34BC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3333" t="30001" r="22500" b="7333"/>
            <a:stretch/>
          </p:blipFill>
          <p:spPr>
            <a:xfrm>
              <a:off x="1820340" y="1206473"/>
              <a:ext cx="8551319" cy="52196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199C4FF-A25A-922F-0674-F0FBFB08B237}"/>
                </a:ext>
              </a:extLst>
            </p:cNvPr>
            <p:cNvSpPr/>
            <p:nvPr/>
          </p:nvSpPr>
          <p:spPr>
            <a:xfrm>
              <a:off x="4822371" y="4898571"/>
              <a:ext cx="2547257" cy="54864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9D4A13F-336B-7DFC-B209-B5F796281EFF}"/>
              </a:ext>
            </a:extLst>
          </p:cNvPr>
          <p:cNvSpPr txBox="1"/>
          <p:nvPr/>
        </p:nvSpPr>
        <p:spPr>
          <a:xfrm>
            <a:off x="9742215" y="4014430"/>
            <a:ext cx="22468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the slide notes at the bottom of this page for details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ED0514-FFE6-FF47-E9D9-C2D38BE751CD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5984965" y="4476095"/>
            <a:ext cx="3757250" cy="76211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2451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2CF6-7FA8-BCCF-EFCB-0757AA44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0DA58-9F44-DBF9-B74E-F095096E0F56}"/>
              </a:ext>
            </a:extLst>
          </p:cNvPr>
          <p:cNvSpPr txBox="1">
            <a:spLocks/>
          </p:cNvSpPr>
          <p:nvPr/>
        </p:nvSpPr>
        <p:spPr>
          <a:xfrm>
            <a:off x="546662" y="152400"/>
            <a:ext cx="6551791" cy="165099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6000">
                <a:cs typeface="Calibri" panose="020F0502020204030204" pitchFamily="34" charset="0"/>
              </a:rPr>
              <a:t>Roadmap</a:t>
            </a:r>
            <a:endParaRPr lang="en-US" sz="6000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BFEFC3C-9C5D-214F-0C4A-92D5934A4B94}"/>
              </a:ext>
            </a:extLst>
          </p:cNvPr>
          <p:cNvSpPr txBox="1">
            <a:spLocks noChangeArrowheads="1"/>
          </p:cNvSpPr>
          <p:nvPr/>
        </p:nvSpPr>
        <p:spPr>
          <a:xfrm>
            <a:off x="327703" y="1646990"/>
            <a:ext cx="11536594" cy="4978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Transport Layer Security (TLS)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 Handshake Protocol 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zh-CN" sz="3600" b="1" i="1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TLS: Security Guarantees and Summary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r>
              <a:rPr lang="en-US" altLang="en-US" sz="3600" b="1" i="1" dirty="0">
                <a:latin typeface="Calibri" panose="020F0502020204030204" pitchFamily="34" charset="0"/>
                <a:cs typeface="Calibri" panose="020F0502020204030204" pitchFamily="34" charset="0"/>
              </a:rPr>
              <a:t>TLS: Application (HTTPS)</a:t>
            </a:r>
          </a:p>
          <a:p>
            <a:pPr marL="403225" indent="-285750">
              <a:spcBef>
                <a:spcPts val="800"/>
              </a:spcBef>
              <a:spcAft>
                <a:spcPts val="600"/>
              </a:spcAft>
              <a:buClr>
                <a:schemeClr val="bg1">
                  <a:lumMod val="85000"/>
                </a:schemeClr>
              </a:buClr>
            </a:pPr>
            <a:endParaRPr lang="en-US" altLang="en-US" sz="3600" b="1" i="1" dirty="0">
              <a:solidFill>
                <a:schemeClr val="bg1">
                  <a:lumMod val="8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175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45698-48D6-D235-6012-9C5C670D7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497"/>
            <a:ext cx="10515600" cy="954224"/>
          </a:xfrm>
        </p:spPr>
        <p:txBody>
          <a:bodyPr/>
          <a:lstStyle/>
          <a:p>
            <a:r>
              <a:rPr lang="en-US" dirty="0"/>
              <a:t>TLS for Applications</a:t>
            </a:r>
          </a:p>
        </p:txBody>
      </p:sp>
      <p:sp>
        <p:nvSpPr>
          <p:cNvPr id="4" name="Google Shape;429;p41">
            <a:extLst>
              <a:ext uri="{FF2B5EF4-FFF2-40B4-BE49-F238E27FC236}">
                <a16:creationId xmlns:a16="http://schemas.microsoft.com/office/drawing/2014/main" id="{4CCF27C9-EFAC-A0CC-B0C3-A7A23B0554AC}"/>
              </a:ext>
            </a:extLst>
          </p:cNvPr>
          <p:cNvSpPr txBox="1">
            <a:spLocks/>
          </p:cNvSpPr>
          <p:nvPr/>
        </p:nvSpPr>
        <p:spPr>
          <a:xfrm>
            <a:off x="838200" y="1391830"/>
            <a:ext cx="10515600" cy="51004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r>
              <a:rPr lang="en-US" dirty="0">
                <a:solidFill>
                  <a:srgbClr val="C00000"/>
                </a:solidFill>
              </a:rPr>
              <a:t>TLS provides services to higher layers (the application layer)</a:t>
            </a:r>
          </a:p>
          <a:p>
            <a:pPr marL="114300" indent="0">
              <a:spcBef>
                <a:spcPts val="0"/>
              </a:spcBef>
              <a:spcAft>
                <a:spcPts val="600"/>
              </a:spcAft>
              <a:buSzPts val="1800"/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b="1" dirty="0"/>
              <a:t>HTTPS</a:t>
            </a:r>
            <a:r>
              <a:rPr lang="en-US" dirty="0"/>
              <a:t>: The HTTP protocol run over TLS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In contrast, HTTP runs over plain TCP, with no TLS added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Other secure application-layer protocols besides HTTPS exist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Pretty much anything that runs over TCP can also run over TLS, since the byte stream abstraction is maintained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Example: Email protocol can use the STARTTLS command to uses TLS to secure communications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TLS does not defend against application-layer vulnerabilities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Example: SQL injection, XSS, CSRF, and buffer overflow vulnerabilities in the application are still exploitable over TLS</a:t>
            </a:r>
          </a:p>
        </p:txBody>
      </p:sp>
    </p:spTree>
    <p:extLst>
      <p:ext uri="{BB962C8B-B14F-4D97-AF65-F5344CB8AC3E}">
        <p14:creationId xmlns:p14="http://schemas.microsoft.com/office/powerpoint/2010/main" val="364730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333C0-AB05-4CC0-D922-BFB2A7939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296"/>
            <a:ext cx="10515600" cy="810532"/>
          </a:xfrm>
        </p:spPr>
        <p:txBody>
          <a:bodyPr/>
          <a:lstStyle/>
          <a:p>
            <a:r>
              <a:rPr lang="en" dirty="0"/>
              <a:t>TLS in Browsers</a:t>
            </a:r>
            <a:endParaRPr lang="en-US" dirty="0"/>
          </a:p>
        </p:txBody>
      </p:sp>
      <p:sp>
        <p:nvSpPr>
          <p:cNvPr id="4" name="Google Shape;450;p43">
            <a:extLst>
              <a:ext uri="{FF2B5EF4-FFF2-40B4-BE49-F238E27FC236}">
                <a16:creationId xmlns:a16="http://schemas.microsoft.com/office/drawing/2014/main" id="{94BCC56E-39EF-4987-D2DD-396100724F0A}"/>
              </a:ext>
            </a:extLst>
          </p:cNvPr>
          <p:cNvSpPr txBox="1">
            <a:spLocks/>
          </p:cNvSpPr>
          <p:nvPr/>
        </p:nvSpPr>
        <p:spPr>
          <a:xfrm>
            <a:off x="838200" y="1009816"/>
            <a:ext cx="10515600" cy="3735658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Original design: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When your browser communicates with a server over TLS, your browser displays a lock icon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If TLS is not used, there is no lock icon</a:t>
            </a:r>
          </a:p>
          <a:p>
            <a:pPr marL="457200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What the lock icon means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Communication is </a:t>
            </a:r>
            <a:r>
              <a:rPr lang="en-US" dirty="0">
                <a:solidFill>
                  <a:srgbClr val="C00000"/>
                </a:solidFill>
              </a:rPr>
              <a:t>encrypted</a:t>
            </a:r>
            <a:r>
              <a:rPr lang="en-US" dirty="0"/>
              <a:t> (TLS guarantee)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You are talking to the </a:t>
            </a:r>
            <a:r>
              <a:rPr lang="en-US" dirty="0">
                <a:solidFill>
                  <a:srgbClr val="C00000"/>
                </a:solidFill>
              </a:rPr>
              <a:t>legitimate server </a:t>
            </a:r>
            <a:r>
              <a:rPr lang="en-US" dirty="0"/>
              <a:t>(TLS guarantee)</a:t>
            </a:r>
          </a:p>
          <a:p>
            <a:pPr marL="914400" lvl="1" indent="-342900">
              <a:spcBef>
                <a:spcPts val="0"/>
              </a:spcBef>
              <a:spcAft>
                <a:spcPts val="600"/>
              </a:spcAft>
              <a:buSzPts val="1800"/>
              <a:buFont typeface="Arial" panose="020B0604020202020204" pitchFamily="34" charset="0"/>
              <a:buChar char="●"/>
            </a:pPr>
            <a:r>
              <a:rPr lang="en-US" dirty="0"/>
              <a:t>Any external images or scripts are also fetched over TLS</a:t>
            </a:r>
          </a:p>
        </p:txBody>
      </p:sp>
      <p:sp>
        <p:nvSpPr>
          <p:cNvPr id="6" name="Google Shape;453;p43">
            <a:extLst>
              <a:ext uri="{FF2B5EF4-FFF2-40B4-BE49-F238E27FC236}">
                <a16:creationId xmlns:a16="http://schemas.microsoft.com/office/drawing/2014/main" id="{406F69D9-3C18-8A55-728A-5DE1D57F9C1E}"/>
              </a:ext>
            </a:extLst>
          </p:cNvPr>
          <p:cNvSpPr txBox="1"/>
          <p:nvPr/>
        </p:nvSpPr>
        <p:spPr>
          <a:xfrm>
            <a:off x="1340717" y="6105400"/>
            <a:ext cx="3833777" cy="461635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website uses HTTP: no lock icon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7" name="Google Shape;454;p43">
            <a:extLst>
              <a:ext uri="{FF2B5EF4-FFF2-40B4-BE49-F238E27FC236}">
                <a16:creationId xmlns:a16="http://schemas.microsoft.com/office/drawing/2014/main" id="{870FD6D4-27F1-626C-524F-22CFB615E0BF}"/>
              </a:ext>
            </a:extLst>
          </p:cNvPr>
          <p:cNvSpPr txBox="1"/>
          <p:nvPr/>
        </p:nvSpPr>
        <p:spPr>
          <a:xfrm>
            <a:off x="6187440" y="6105400"/>
            <a:ext cx="3833776" cy="461635"/>
          </a:xfrm>
          <a:prstGeom prst="rect">
            <a:avLst/>
          </a:prstGeom>
          <a:solidFill>
            <a:srgbClr val="FFAB4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website uses HTTPS: lock icon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74D130-805E-C048-A5A6-2FC11156A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13" y="4801462"/>
            <a:ext cx="3467584" cy="9050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A115B8-B8EA-FBF2-D334-F9EB813D3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484" y="4458515"/>
            <a:ext cx="2419688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0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2211</TotalTime>
  <Words>3538</Words>
  <Application>Microsoft Office PowerPoint</Application>
  <PresentationFormat>Widescreen</PresentationFormat>
  <Paragraphs>488</Paragraphs>
  <Slides>32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Lato</vt:lpstr>
      <vt:lpstr>Wingdings</vt:lpstr>
      <vt:lpstr>Office Theme</vt:lpstr>
      <vt:lpstr>CSC 3511 Security and Networking</vt:lpstr>
      <vt:lpstr>PowerPoint Presentation</vt:lpstr>
      <vt:lpstr>PowerPoint Presentation</vt:lpstr>
      <vt:lpstr>Transport Layer Security (TLS) </vt:lpstr>
      <vt:lpstr>Secure Internet Communication: Goals of TLS</vt:lpstr>
      <vt:lpstr>PowerPoint Presentation</vt:lpstr>
      <vt:lpstr>TLS Handshake Step 1: Exchange Hellos</vt:lpstr>
      <vt:lpstr>TLS Handshake Step 2: Certificate</vt:lpstr>
      <vt:lpstr>TLS Handshake Step 3: Premaster Secret</vt:lpstr>
      <vt:lpstr>TLS Handshake Step 3: Premaster Secret (RSA)</vt:lpstr>
      <vt:lpstr>Recap: Diffie-Hellman Key Exchange</vt:lpstr>
      <vt:lpstr>TLS Handshake Step 3: Premaster Secret (DHE)</vt:lpstr>
      <vt:lpstr>TLS Handshake Step 4: Derive Symmetric Keys</vt:lpstr>
      <vt:lpstr>TLS Handshake Step 5: Exchange MACs</vt:lpstr>
      <vt:lpstr>TLS Handshake Step 6: Send Messages</vt:lpstr>
      <vt:lpstr>Sending Data with the TLS Protocol</vt:lpstr>
      <vt:lpstr>PowerPoint Presentation</vt:lpstr>
      <vt:lpstr>TLS: Talking to the Legitimate Server</vt:lpstr>
      <vt:lpstr>TLS: Securing Messages</vt:lpstr>
      <vt:lpstr>TLS: Replay Attacks</vt:lpstr>
      <vt:lpstr>TLS: Replay Attacks</vt:lpstr>
      <vt:lpstr>TLS: Forward Secrecy</vt:lpstr>
      <vt:lpstr>TLS: Forward Secrecy</vt:lpstr>
      <vt:lpstr>TLS Provides End-to-End Security</vt:lpstr>
      <vt:lpstr>TLS 1.3 Changes</vt:lpstr>
      <vt:lpstr>TLS Does Not Provide Anonymity</vt:lpstr>
      <vt:lpstr>TLS Does Not Provide Availability</vt:lpstr>
      <vt:lpstr>TLS: Summary</vt:lpstr>
      <vt:lpstr>TLS Handshake Protocol: Workflow</vt:lpstr>
      <vt:lpstr>PowerPoint Presentation</vt:lpstr>
      <vt:lpstr>TLS for Applications</vt:lpstr>
      <vt:lpstr>TLS in Browsers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305</cp:revision>
  <dcterms:created xsi:type="dcterms:W3CDTF">2024-11-04T19:47:12Z</dcterms:created>
  <dcterms:modified xsi:type="dcterms:W3CDTF">2025-11-13T04:19:21Z</dcterms:modified>
</cp:coreProperties>
</file>